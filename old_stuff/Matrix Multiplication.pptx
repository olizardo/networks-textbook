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y="5143500" cx="9144000"/>
  <p:notesSz cx="6858000" cy="9144000"/>
  <p:embeddedFontLst>
    <p:embeddedFont>
      <p:font typeface="Josefin Slab"/>
      <p:regular r:id="rId86"/>
      <p:bold r:id="rId87"/>
      <p:italic r:id="rId88"/>
      <p:boldItalic r:id="rId89"/>
    </p:embeddedFont>
    <p:embeddedFont>
      <p:font typeface="Economica"/>
      <p:regular r:id="rId90"/>
      <p:bold r:id="rId91"/>
      <p:italic r:id="rId92"/>
      <p:boldItalic r:id="rId93"/>
    </p:embeddedFont>
    <p:embeddedFont>
      <p:font typeface="Oxygen"/>
      <p:regular r:id="rId94"/>
      <p:bold r:id="rId95"/>
    </p:embeddedFont>
    <p:embeddedFont>
      <p:font typeface="Roboto"/>
      <p:regular r:id="rId96"/>
      <p:bold r:id="rId97"/>
      <p:italic r:id="rId98"/>
      <p:boldItalic r:id="rId99"/>
    </p:embeddedFont>
    <p:embeddedFont>
      <p:font typeface="Habibi"/>
      <p:regular r:id="rId100"/>
    </p:embeddedFont>
    <p:embeddedFont>
      <p:font typeface="Open Sans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5E7F43-96AD-4B0F-9989-32A9D2E3BAC5}">
  <a:tblStyle styleId="{655E7F43-96AD-4B0F-9989-32A9D2E3BA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9EC1BC3-4D6D-472D-83A7-63EC92FAA5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4" Type="http://schemas.openxmlformats.org/officeDocument/2006/relationships/font" Target="fonts/OpenSans-bold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OpenSans-italic.fntdata"/><Relationship Id="rId102" Type="http://schemas.openxmlformats.org/officeDocument/2006/relationships/font" Target="fonts/OpenSans-bold.fntdata"/><Relationship Id="rId101" Type="http://schemas.openxmlformats.org/officeDocument/2006/relationships/font" Target="fonts/OpenSans-regular.fntdata"/><Relationship Id="rId100" Type="http://schemas.openxmlformats.org/officeDocument/2006/relationships/font" Target="fonts/Habibi-regular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Oxygen-bold.fntdata"/><Relationship Id="rId94" Type="http://schemas.openxmlformats.org/officeDocument/2006/relationships/font" Target="fonts/Oxygen-regular.fntdata"/><Relationship Id="rId97" Type="http://schemas.openxmlformats.org/officeDocument/2006/relationships/font" Target="fonts/Roboto-bold.fntdata"/><Relationship Id="rId96" Type="http://schemas.openxmlformats.org/officeDocument/2006/relationships/font" Target="fonts/Roboto-regular.fntdata"/><Relationship Id="rId11" Type="http://schemas.openxmlformats.org/officeDocument/2006/relationships/slide" Target="slides/slide5.xml"/><Relationship Id="rId99" Type="http://schemas.openxmlformats.org/officeDocument/2006/relationships/font" Target="fonts/Roboto-boldItalic.fntdata"/><Relationship Id="rId10" Type="http://schemas.openxmlformats.org/officeDocument/2006/relationships/slide" Target="slides/slide4.xml"/><Relationship Id="rId98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Economica-bold.fntdata"/><Relationship Id="rId90" Type="http://schemas.openxmlformats.org/officeDocument/2006/relationships/font" Target="fonts/Economica-regular.fntdata"/><Relationship Id="rId93" Type="http://schemas.openxmlformats.org/officeDocument/2006/relationships/font" Target="fonts/Economica-boldItalic.fntdata"/><Relationship Id="rId92" Type="http://schemas.openxmlformats.org/officeDocument/2006/relationships/font" Target="fonts/Economica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font" Target="fonts/JosefinSlab-regular.fntdata"/><Relationship Id="rId85" Type="http://schemas.openxmlformats.org/officeDocument/2006/relationships/slide" Target="slides/slide79.xml"/><Relationship Id="rId88" Type="http://schemas.openxmlformats.org/officeDocument/2006/relationships/font" Target="fonts/JosefinSlab-italic.fntdata"/><Relationship Id="rId87" Type="http://schemas.openxmlformats.org/officeDocument/2006/relationships/font" Target="fonts/JosefinSlab-bold.fntdata"/><Relationship Id="rId89" Type="http://schemas.openxmlformats.org/officeDocument/2006/relationships/font" Target="fonts/JosefinSlab-boldItalic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c65a572c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c65a572c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c65a572c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7c65a572c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c65a572c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c65a572c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c65a572c5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c65a572c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c65a572c5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c65a572c5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c65a572c5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c65a572c5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c65a572c5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c65a572c5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c65a572c5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c65a572c5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7c65a572c5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7c65a572c5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7c65a572c5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7c65a572c5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7c65a572c5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7c65a572c5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7c65a572c5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7c65a572c5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c65a572c5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c65a572c5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7c65a572c5_1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7c65a572c5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7c65a572c5_1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7c65a572c5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c65a572c5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c65a572c5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c65a572c5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c65a572c5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7c65a572c5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7c65a572c5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7c65a572c5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7c65a572c5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7c65a572c5_1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7c65a572c5_1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7c65a572c5_1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7c65a572c5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4f0f1025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4f0f1025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7c96cb18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7c96cb18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7c96cb181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7c96cb181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4e6184aacb_7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4e6184aacb_7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4dab6dad70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4dab6dad70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4dafdf22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4dafdf22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4dafdf22e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4dafdf22e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4da4ce06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4da4ce06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4da4ce06e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4da4ce06e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4da4ce06e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4da4ce06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4da4ce06e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4da4ce06e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4da4ce06e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4da4ce06e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4da4ce06e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4da4ce06e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4da4ce06e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4da4ce06e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4e6184aac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4e6184aac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4e6184aac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4e6184aac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4e6184aac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4e6184aac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4da4ce06e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4da4ce06e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4da4ce06e7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4da4ce06e7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4da4ce06e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4da4ce06e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4da4ce06e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4da4ce06e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4da4ce06e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4da4ce06e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4da4ce06e7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4da4ce06e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4da4ce06e7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4da4ce06e7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4da4ce06e7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4da4ce06e7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4da4ce06e7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4da4ce06e7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4da4ce06e7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4da4ce06e7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4e6184aa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4e6184aa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4da4ce06e7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4da4ce06e7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4e6184aacb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4e6184aacb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4dab6dad7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4dab6dad7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4dab6dad7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4dab6dad7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4dab6dad7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4dab6dad7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4dab6dad70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4dab6dad7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4dab6dad70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4dab6dad70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4dab6dad7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4dab6dad7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4dabeb3e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4dabeb3e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4e6184aacb_7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4e6184aacb_7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4e6184aacb_88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4e6184aacb_88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4e6184aacb_7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4e6184aacb_7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4e6184aacb_7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4e6184aacb_7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4e6184aacb_7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4e6184aacb_7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4e6184aacb_7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4e6184aacb_7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4e6184aacb_7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4e6184aacb_7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4e6184aacb_7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4e6184aacb_7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4e6184aacb_7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4e6184aacb_7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4e6184aacb_7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4e6184aacb_7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4e6184aacb_7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4e6184aacb_7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4e6184aacb_7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4e6184aacb_7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4e6184aacb_7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4e6184aacb_7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4e6184aacb_7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4e6184aacb_7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4e6184aacb_7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4e6184aacb_7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4e6184aacb_7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4e6184aacb_7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4e6184aacb_7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4e6184aacb_7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4e6184aacb_7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4e6184aacb_7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4e6184aacb_7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4e6184aacb_7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4e6184aacb_7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4e6184aacb_7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4e6184aacb_7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4e6184aacb_7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hyperlink" Target="https://matrix.reshish.com/multiplication.ph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hyperlink" Target="https://matrix.reshish.com/multiplication.php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hyperlink" Target="https://en.wikipedia.org/wiki/Peter_Blau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1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jpg"/><Relationship Id="rId4" Type="http://schemas.openxmlformats.org/officeDocument/2006/relationships/image" Target="../media/image27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26.jpg"/><Relationship Id="rId6" Type="http://schemas.openxmlformats.org/officeDocument/2006/relationships/hyperlink" Target="https://scholar.harvard.edu/pvmarsden/hom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jpg"/><Relationship Id="rId4" Type="http://schemas.openxmlformats.org/officeDocument/2006/relationships/hyperlink" Target="https://scholar.harvard.edu/pvmarsden/hom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311325" y="1225225"/>
            <a:ext cx="85206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Element-wise matrix multiplication</a:t>
            </a:r>
            <a:r>
              <a:rPr lang="en"/>
              <a:t>, also known as the </a:t>
            </a:r>
            <a:r>
              <a:rPr b="1" lang="en"/>
              <a:t>Hadamard product</a:t>
            </a:r>
            <a:r>
              <a:rPr lang="en"/>
              <a:t> (￮)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" name="Google Shape;109;p25"/>
          <p:cNvGraphicFramePr/>
          <p:nvPr/>
        </p:nvGraphicFramePr>
        <p:xfrm>
          <a:off x="1730250" y="3355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0" name="Google Shape;110;p25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1" name="Google Shape;111;p25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12" name="Google Shape;112;p25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3" name="Google Shape;113;p25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25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\circ B = (a_{ij} \times b_{ij})" id="117" name="Google Shape;117;p2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688" y="2404225"/>
            <a:ext cx="3114024" cy="4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23" name="Google Shape;123;p26"/>
          <p:cNvSpPr txBox="1"/>
          <p:nvPr>
            <p:ph idx="1" type="body"/>
          </p:nvPr>
        </p:nvSpPr>
        <p:spPr>
          <a:xfrm>
            <a:off x="311325" y="1225225"/>
            <a:ext cx="85206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multiplication proper</a:t>
            </a:r>
            <a:r>
              <a:rPr lang="en"/>
              <a:t> (✕)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</a:t>
            </a:r>
            <a:r>
              <a:rPr b="1" lang="en">
                <a:solidFill>
                  <a:srgbClr val="FF0000"/>
                </a:solidFill>
              </a:rPr>
              <a:t>conformable</a:t>
            </a:r>
            <a:r>
              <a:rPr lang="en"/>
              <a:t> matrices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matrices (e.g., </a:t>
            </a:r>
            <a:r>
              <a:rPr b="1" lang="en"/>
              <a:t>A</a:t>
            </a:r>
            <a:r>
              <a:rPr lang="en"/>
              <a:t> and </a:t>
            </a:r>
            <a:r>
              <a:rPr b="1" lang="en"/>
              <a:t>B</a:t>
            </a:r>
            <a:r>
              <a:rPr lang="en"/>
              <a:t>) are conformable if the </a:t>
            </a:r>
            <a:r>
              <a:rPr b="1" lang="en"/>
              <a:t>number of columns </a:t>
            </a:r>
            <a:r>
              <a:rPr lang="en"/>
              <a:t>of the </a:t>
            </a:r>
            <a:r>
              <a:rPr b="1" lang="en"/>
              <a:t>first</a:t>
            </a:r>
            <a:r>
              <a:rPr lang="en"/>
              <a:t> is the </a:t>
            </a:r>
            <a:r>
              <a:rPr b="1" lang="en"/>
              <a:t>same</a:t>
            </a:r>
            <a:r>
              <a:rPr lang="en"/>
              <a:t> as the </a:t>
            </a:r>
            <a:r>
              <a:rPr b="1" lang="en"/>
              <a:t>number of rows</a:t>
            </a:r>
            <a:r>
              <a:rPr lang="en"/>
              <a:t> of the </a:t>
            </a:r>
            <a:r>
              <a:rPr b="1" lang="en"/>
              <a:t>second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6"/>
          <p:cNvSpPr txBox="1"/>
          <p:nvPr/>
        </p:nvSpPr>
        <p:spPr>
          <a:xfrm>
            <a:off x="3105959" y="2529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1211450" y="3293825"/>
            <a:ext cx="20277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Number of Columns of the A matrix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6091900" y="3293825"/>
            <a:ext cx="18399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Number of Rows of the B matrix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6"/>
          <p:cNvSpPr/>
          <p:nvPr/>
        </p:nvSpPr>
        <p:spPr>
          <a:xfrm>
            <a:off x="4168950" y="2838800"/>
            <a:ext cx="168300" cy="19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6"/>
          <p:cNvSpPr/>
          <p:nvPr/>
        </p:nvSpPr>
        <p:spPr>
          <a:xfrm>
            <a:off x="4993950" y="2838800"/>
            <a:ext cx="168300" cy="19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6"/>
          <p:cNvCxnSpPr>
            <a:endCxn id="127" idx="4"/>
          </p:cNvCxnSpPr>
          <p:nvPr/>
        </p:nvCxnSpPr>
        <p:spPr>
          <a:xfrm flipH="1" rot="10800000">
            <a:off x="3239100" y="3036500"/>
            <a:ext cx="1014000" cy="712200"/>
          </a:xfrm>
          <a:prstGeom prst="bent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" name="Google Shape;130;p26"/>
          <p:cNvCxnSpPr>
            <a:stCxn id="126" idx="1"/>
            <a:endCxn id="128" idx="4"/>
          </p:cNvCxnSpPr>
          <p:nvPr/>
        </p:nvCxnSpPr>
        <p:spPr>
          <a:xfrm rot="10800000">
            <a:off x="5078200" y="3036575"/>
            <a:ext cx="1013700" cy="712200"/>
          </a:xfrm>
          <a:prstGeom prst="bent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37" name="Google Shape;137;p27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41" name="Google Shape;141;p27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" name="Google Shape;142;p27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3" name="Google Shape;143;p27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5" name="Google Shape;145;p27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6" name="Google Shape;146;p27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7" name="Google Shape;147;p27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7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60" name="Google Shape;160;p28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8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64" name="Google Shape;164;p28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5" name="Google Shape;165;p28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28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8" name="Google Shape;168;p28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9" name="Google Shape;169;p28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0" name="Google Shape;170;p28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8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8" name="Google Shape;178;p28"/>
          <p:cNvCxnSpPr>
            <a:stCxn id="177" idx="1"/>
            <a:endCxn id="163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8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0" name="Google Shape;180;p28"/>
          <p:cNvCxnSpPr>
            <a:stCxn id="179" idx="3"/>
            <a:endCxn id="176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87" name="Google Shape;187;p29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91" name="Google Shape;191;p29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2" name="Google Shape;192;p29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29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5" name="Google Shape;195;p29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6" name="Google Shape;196;p29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" name="Google Shape;197;p29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9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9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5" name="Google Shape;205;p29"/>
          <p:cNvCxnSpPr>
            <a:stCxn id="204" idx="1"/>
            <a:endCxn id="190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9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7" name="Google Shape;207;p29"/>
          <p:cNvCxnSpPr>
            <a:stCxn id="206" idx="3"/>
            <a:endCxn id="203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16" name="Google Shape;216;p30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0" name="Google Shape;220;p30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6" name="Google Shape;226;p30"/>
          <p:cNvCxnSpPr>
            <a:stCxn id="225" idx="1"/>
            <a:endCxn id="219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30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8" name="Google Shape;228;p30"/>
          <p:cNvCxnSpPr>
            <a:stCxn id="227" idx="3"/>
            <a:endCxn id="224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30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multiply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38" name="Google Shape;238;p31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31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5" name="Google Shape;245;p31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248" name="Google Shape;248;p31"/>
          <p:cNvSpPr txBox="1"/>
          <p:nvPr/>
        </p:nvSpPr>
        <p:spPr>
          <a:xfrm>
            <a:off x="2286600" y="2393400"/>
            <a:ext cx="1983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9" name="Google Shape;249;p31"/>
          <p:cNvCxnSpPr>
            <a:stCxn id="248" idx="0"/>
          </p:cNvCxnSpPr>
          <p:nvPr/>
        </p:nvCxnSpPr>
        <p:spPr>
          <a:xfrm rot="10800000">
            <a:off x="29100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55" name="Google Shape;2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6" name="Google Shape;256;p32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32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58" name="Google Shape;258;p32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" name="Google Shape;259;p32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62" name="Google Shape;262;p32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32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32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2"/>
          <p:cNvSpPr txBox="1"/>
          <p:nvPr/>
        </p:nvSpPr>
        <p:spPr>
          <a:xfrm>
            <a:off x="460775" y="2905750"/>
            <a:ext cx="39411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does it work?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For A X B: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The ij cell of the resulting matrix is given by the sum of the product of the corresponding cells of row i in A and column j of B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71" name="Google Shape;27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2" name="Google Shape;272;p33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p33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74" name="Google Shape;274;p33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33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78" name="Google Shape;278;p33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33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281" name="Google Shape;2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8" name="Google Shape;288;p34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34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90" name="Google Shape;290;p34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34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34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94" name="Google Shape;294;p34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5" name="Google Shape;295;p34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34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297" name="Google Shape;29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/>
          <p:nvPr/>
        </p:nvSpPr>
        <p:spPr>
          <a:xfrm>
            <a:off x="3244050" y="3083875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 txBox="1"/>
          <p:nvPr/>
        </p:nvSpPr>
        <p:spPr>
          <a:xfrm>
            <a:off x="322175" y="2605150"/>
            <a:ext cx="26880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(1 * 2) + (2 * 1) = 4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0" name="Google Shape;300;p34"/>
          <p:cNvCxnSpPr>
            <a:stCxn id="299" idx="3"/>
            <a:endCxn id="298" idx="1"/>
          </p:cNvCxnSpPr>
          <p:nvPr/>
        </p:nvCxnSpPr>
        <p:spPr>
          <a:xfrm>
            <a:off x="3010175" y="2804200"/>
            <a:ext cx="299100" cy="34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34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34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09" name="Google Shape;30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0" name="Google Shape;310;p35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35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12" name="Google Shape;312;p35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p35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14" name="Google Shape;314;p35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35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16" name="Google Shape;316;p35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{39EC1BC3-4D6D-472D-83A7-63EC92FAA5A7}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35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35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319" name="Google Shape;31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5"/>
          <p:cNvSpPr/>
          <p:nvPr/>
        </p:nvSpPr>
        <p:spPr>
          <a:xfrm>
            <a:off x="3244050" y="3429000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5"/>
          <p:cNvSpPr txBox="1"/>
          <p:nvPr/>
        </p:nvSpPr>
        <p:spPr>
          <a:xfrm>
            <a:off x="82250" y="2598288"/>
            <a:ext cx="2861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(3 * 2) + (4 * 1) = 10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2" name="Google Shape;322;p35"/>
          <p:cNvCxnSpPr>
            <a:stCxn id="321" idx="3"/>
            <a:endCxn id="320" idx="1"/>
          </p:cNvCxnSpPr>
          <p:nvPr/>
        </p:nvCxnSpPr>
        <p:spPr>
          <a:xfrm>
            <a:off x="2943350" y="2797338"/>
            <a:ext cx="366000" cy="69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35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35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5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31" name="Google Shape;3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6"/>
          <p:cNvSpPr txBox="1"/>
          <p:nvPr>
            <p:ph idx="1" type="body"/>
          </p:nvPr>
        </p:nvSpPr>
        <p:spPr>
          <a:xfrm>
            <a:off x="311700" y="1225225"/>
            <a:ext cx="4200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commutative!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≠ B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</a:t>
            </a:r>
            <a:r>
              <a:rPr lang="en"/>
              <a:t>can be defined but the reverse is no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Associative: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(A X B) X C = A X (B X 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Distributive over addition: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(B + C) = (A X B) + (A X C)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38" name="Google Shape;33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7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Square matrices of the same dimension can always be multiplied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square matrix</a:t>
            </a:r>
            <a:r>
              <a:rPr lang="en"/>
              <a:t> is one in which the row and column dimensions are of the same size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</a:t>
            </a:r>
            <a:r>
              <a:rPr b="1" lang="en"/>
              <a:t>adjacency matrices</a:t>
            </a:r>
            <a:r>
              <a:rPr lang="en"/>
              <a:t> are square matrices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take matrix </a:t>
            </a:r>
            <a:r>
              <a:rPr b="1" lang="en"/>
              <a:t>powers</a:t>
            </a:r>
            <a:r>
              <a:rPr lang="en"/>
              <a:t> by self-multiplication: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2</a:t>
            </a:r>
            <a:r>
              <a:rPr b="1" lang="en"/>
              <a:t> = A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3</a:t>
            </a:r>
            <a:r>
              <a:rPr b="1" lang="en"/>
              <a:t> = A X A X A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k</a:t>
            </a:r>
            <a:r>
              <a:rPr b="1" lang="en"/>
              <a:t> = A X A X A ....(k times) 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38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45" name="Google Shape;345;p38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8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47" name="Google Shape;347;p38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48" name="Google Shape;348;p38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49" name="Google Shape;349;p38"/>
          <p:cNvSpPr txBox="1"/>
          <p:nvPr/>
        </p:nvSpPr>
        <p:spPr>
          <a:xfrm>
            <a:off x="25998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0" name="Google Shape;350;p38"/>
          <p:cNvSpPr txBox="1"/>
          <p:nvPr/>
        </p:nvSpPr>
        <p:spPr>
          <a:xfrm>
            <a:off x="58080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351" name="Google Shape;35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527" y="1609505"/>
            <a:ext cx="2091450" cy="264153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8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39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58" name="Google Shape;358;p39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9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60" name="Google Shape;360;p39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61" name="Google Shape;361;p39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62" name="Google Shape;362;p39"/>
          <p:cNvSpPr txBox="1"/>
          <p:nvPr/>
        </p:nvSpPr>
        <p:spPr>
          <a:xfrm>
            <a:off x="25998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3" name="Google Shape;363;p39"/>
          <p:cNvSpPr txBox="1"/>
          <p:nvPr/>
        </p:nvSpPr>
        <p:spPr>
          <a:xfrm>
            <a:off x="5808088" y="262412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4" name="Google Shape;364;p39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365" name="Google Shape;365;p39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66" name="Google Shape;366;p39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40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74" name="Google Shape;374;p40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40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76" name="Google Shape;376;p40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77" name="Google Shape;377;p40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78" name="Google Shape;378;p40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9" name="Google Shape;379;p40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0" name="Google Shape;380;p40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second power of a network adjacency matrix?</a:t>
            </a:r>
            <a:endParaRPr/>
          </a:p>
        </p:txBody>
      </p:sp>
      <p:graphicFrame>
        <p:nvGraphicFramePr>
          <p:cNvPr id="381" name="Google Shape;381;p40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57E12"/>
                          </a:solidFill>
                        </a:rPr>
                        <a:t>1</a:t>
                      </a:r>
                      <a:endParaRPr b="1">
                        <a:solidFill>
                          <a:srgbClr val="257E12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82" name="Google Shape;382;p40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5" name="Google Shape;385;p40"/>
          <p:cNvSpPr txBox="1"/>
          <p:nvPr/>
        </p:nvSpPr>
        <p:spPr>
          <a:xfrm>
            <a:off x="4294000" y="1358250"/>
            <a:ext cx="4794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1500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1500">
                <a:latin typeface="Open Sans"/>
                <a:ea typeface="Open Sans"/>
                <a:cs typeface="Open Sans"/>
                <a:sym typeface="Open Sans"/>
              </a:rPr>
              <a:t>1, 3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 =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+ (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b="1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) = </a:t>
            </a:r>
            <a:r>
              <a:rPr b="1" lang="en" sz="1500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500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6" name="Google Shape;386;p40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To figure out which number goes in cell (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1,3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 of the target matrix we use the numbers from 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row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1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first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and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column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3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of the </a:t>
            </a:r>
            <a:r>
              <a:rPr b="1" lang="en" sz="16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second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matrix and do same for each of the 25 (i,j) cells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41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392" name="Google Shape;392;p41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41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394" name="Google Shape;394;p41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95" name="Google Shape;395;p41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96" name="Google Shape;396;p41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7" name="Google Shape;397;p41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" name="Google Shape;398;p41"/>
          <p:cNvSpPr txBox="1"/>
          <p:nvPr>
            <p:ph idx="1" type="body"/>
          </p:nvPr>
        </p:nvSpPr>
        <p:spPr>
          <a:xfrm>
            <a:off x="4716425" y="253250"/>
            <a:ext cx="43719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There is a one in the ij</a:t>
            </a:r>
            <a:r>
              <a:rPr baseline="30000" lang="en" sz="1800"/>
              <a:t>th </a:t>
            </a:r>
            <a:r>
              <a:rPr lang="en" sz="1800"/>
              <a:t>cell of the squared matrix if and j are connected by a walk of length 2!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399" name="Google Shape;399;p41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0" name="Google Shape;400;p41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1" name="Google Shape;401;p41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2" name="Google Shape;402;p41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3" name="Google Shape;403;p41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42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409" name="Google Shape;409;p42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42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11" name="Google Shape;411;p42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412" name="Google Shape;412;p42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3" name="Google Shape;413;p42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4" name="Google Shape;414;p42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5" name="Google Shape;415;p42"/>
          <p:cNvSpPr txBox="1"/>
          <p:nvPr>
            <p:ph idx="1" type="body"/>
          </p:nvPr>
        </p:nvSpPr>
        <p:spPr>
          <a:xfrm>
            <a:off x="4716425" y="253250"/>
            <a:ext cx="4371900" cy="14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There is a one in the ij of the squared matrix if and j are connected via a walk of length 2!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diagonal is the number of walks of length 2 that begin and end at that vertex which equals the number of links attached to that node!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416" name="Google Shape;416;p42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7" name="Google Shape;417;p42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4102949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9" name="Google Shape;419;p42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0" name="Google Shape;420;p42"/>
          <p:cNvSpPr txBox="1"/>
          <p:nvPr/>
        </p:nvSpPr>
        <p:spPr>
          <a:xfrm>
            <a:off x="1250850" y="4719775"/>
            <a:ext cx="6642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Here’s the result (check </a:t>
            </a:r>
            <a:r>
              <a:rPr b="1" lang="en" sz="1600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here</a:t>
            </a:r>
            <a:r>
              <a:rPr b="1" lang="en" sz="16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b="1" sz="16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43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426" name="Google Shape;426;p43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43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28" name="Google Shape;428;p43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29" name="Google Shape;429;p43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0" name="Google Shape;430;p43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1" name="Google Shape;431;p43"/>
          <p:cNvSpPr txBox="1"/>
          <p:nvPr>
            <p:ph idx="1" type="body"/>
          </p:nvPr>
        </p:nvSpPr>
        <p:spPr>
          <a:xfrm>
            <a:off x="4716425" y="253250"/>
            <a:ext cx="4371900" cy="10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if we take the third power of the adjacency matrix?</a:t>
            </a:r>
            <a:endParaRPr/>
          </a:p>
        </p:txBody>
      </p:sp>
      <p:sp>
        <p:nvSpPr>
          <p:cNvPr id="432" name="Google Shape;432;p43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433" name="Google Shape;433;p43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34" name="Google Shape;434;p43"/>
          <p:cNvSpPr txBox="1"/>
          <p:nvPr/>
        </p:nvSpPr>
        <p:spPr>
          <a:xfrm>
            <a:off x="4087574" y="4115100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435" name="Google Shape;43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527" y="1609505"/>
            <a:ext cx="2091450" cy="264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44"/>
          <p:cNvGrpSpPr/>
          <p:nvPr/>
        </p:nvGrpSpPr>
        <p:grpSpPr>
          <a:xfrm>
            <a:off x="1136562" y="86261"/>
            <a:ext cx="3490675" cy="1666802"/>
            <a:chOff x="5341625" y="1130086"/>
            <a:chExt cx="3490675" cy="1666802"/>
          </a:xfrm>
        </p:grpSpPr>
        <p:pic>
          <p:nvPicPr>
            <p:cNvPr id="441" name="Google Shape;441;p44"/>
            <p:cNvPicPr preferRelativeResize="0"/>
            <p:nvPr/>
          </p:nvPicPr>
          <p:blipFill rotWithShape="1">
            <a:blip r:embed="rId3">
              <a:alphaModFix/>
            </a:blip>
            <a:srcRect b="53299" l="1982" r="51491" t="22709"/>
            <a:stretch/>
          </p:blipFill>
          <p:spPr>
            <a:xfrm>
              <a:off x="5341625" y="1130086"/>
              <a:ext cx="3490675" cy="137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" name="Google Shape;442;p44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43" name="Google Shape;443;p44"/>
          <p:cNvGraphicFramePr/>
          <p:nvPr/>
        </p:nvGraphicFramePr>
        <p:xfrm>
          <a:off x="825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44" name="Google Shape;444;p44"/>
          <p:cNvSpPr txBox="1"/>
          <p:nvPr/>
        </p:nvSpPr>
        <p:spPr>
          <a:xfrm>
            <a:off x="25998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X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5" name="Google Shape;445;p44"/>
          <p:cNvSpPr txBox="1"/>
          <p:nvPr/>
        </p:nvSpPr>
        <p:spPr>
          <a:xfrm>
            <a:off x="5808088" y="2830075"/>
            <a:ext cx="564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xygen"/>
                <a:ea typeface="Oxygen"/>
                <a:cs typeface="Oxygen"/>
                <a:sym typeface="Oxygen"/>
              </a:rPr>
              <a:t>=</a:t>
            </a:r>
            <a:endParaRPr sz="4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6" name="Google Shape;446;p44"/>
          <p:cNvSpPr txBox="1"/>
          <p:nvPr>
            <p:ph idx="1" type="body"/>
          </p:nvPr>
        </p:nvSpPr>
        <p:spPr>
          <a:xfrm>
            <a:off x="4716425" y="253250"/>
            <a:ext cx="4371900" cy="13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have all walks of length 3 between every node!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keep on going until we reach N (the graph order)</a:t>
            </a:r>
            <a:endParaRPr/>
          </a:p>
        </p:txBody>
      </p:sp>
      <p:sp>
        <p:nvSpPr>
          <p:cNvPr id="447" name="Google Shape;447;p44"/>
          <p:cNvSpPr txBox="1"/>
          <p:nvPr/>
        </p:nvSpPr>
        <p:spPr>
          <a:xfrm>
            <a:off x="11365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448" name="Google Shape;448;p44"/>
          <p:cNvGraphicFramePr/>
          <p:nvPr/>
        </p:nvGraphicFramePr>
        <p:xfrm>
          <a:off x="3290713" y="175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49" name="Google Shape;449;p44"/>
          <p:cNvSpPr txBox="1"/>
          <p:nvPr/>
        </p:nvSpPr>
        <p:spPr>
          <a:xfrm>
            <a:off x="4087574" y="4115100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2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aphicFrame>
        <p:nvGraphicFramePr>
          <p:cNvPr id="450" name="Google Shape;450;p44"/>
          <p:cNvGraphicFramePr/>
          <p:nvPr/>
        </p:nvGraphicFramePr>
        <p:xfrm>
          <a:off x="6498913" y="174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51" name="Google Shape;451;p44"/>
          <p:cNvSpPr txBox="1"/>
          <p:nvPr/>
        </p:nvSpPr>
        <p:spPr>
          <a:xfrm>
            <a:off x="7295774" y="410747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r>
              <a:rPr baseline="30000" lang="en" sz="2400">
                <a:latin typeface="Oxygen"/>
                <a:ea typeface="Oxygen"/>
                <a:cs typeface="Oxygen"/>
                <a:sym typeface="Oxygen"/>
              </a:rPr>
              <a:t>3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5 x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45"/>
          <p:cNvGrpSpPr/>
          <p:nvPr/>
        </p:nvGrpSpPr>
        <p:grpSpPr>
          <a:xfrm>
            <a:off x="169900" y="3"/>
            <a:ext cx="3490675" cy="1219559"/>
            <a:chOff x="5341638" y="1577328"/>
            <a:chExt cx="3490675" cy="1219559"/>
          </a:xfrm>
        </p:grpSpPr>
        <p:pic>
          <p:nvPicPr>
            <p:cNvPr id="457" name="Google Shape;457;p45"/>
            <p:cNvPicPr preferRelativeResize="0"/>
            <p:nvPr/>
          </p:nvPicPr>
          <p:blipFill rotWithShape="1">
            <a:blip r:embed="rId3">
              <a:alphaModFix/>
            </a:blip>
            <a:srcRect b="53298" l="1982" r="51491" t="30517"/>
            <a:stretch/>
          </p:blipFill>
          <p:spPr>
            <a:xfrm>
              <a:off x="5341637" y="1577328"/>
              <a:ext cx="3490675" cy="92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4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459" name="Google Shape;459;p45"/>
          <p:cNvSpPr txBox="1"/>
          <p:nvPr>
            <p:ph idx="1" type="body"/>
          </p:nvPr>
        </p:nvSpPr>
        <p:spPr>
          <a:xfrm>
            <a:off x="829600" y="4184050"/>
            <a:ext cx="8231100" cy="8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Taking the k powers of an adjacency matrix </a:t>
            </a:r>
            <a:r>
              <a:rPr b="1" lang="en" sz="1800"/>
              <a:t>A</a:t>
            </a:r>
            <a:r>
              <a:rPr lang="en" sz="1800"/>
              <a:t> gives us a valued matrix </a:t>
            </a:r>
            <a:r>
              <a:rPr b="1" lang="en" sz="1800"/>
              <a:t>W</a:t>
            </a:r>
            <a:r>
              <a:rPr lang="en" sz="1800"/>
              <a:t>, where the </a:t>
            </a:r>
            <a:r>
              <a:rPr b="1" lang="en" sz="1800"/>
              <a:t>w</a:t>
            </a:r>
            <a:r>
              <a:rPr b="1" baseline="-25000" lang="en" sz="1800"/>
              <a:t>ij</a:t>
            </a:r>
            <a:r>
              <a:rPr lang="en" sz="1800"/>
              <a:t> is a measure of the multiple ways i can reach j via a walk of length k in the original matrix </a:t>
            </a:r>
            <a:endParaRPr sz="1800"/>
          </a:p>
        </p:txBody>
      </p:sp>
      <p:graphicFrame>
        <p:nvGraphicFramePr>
          <p:cNvPr id="460" name="Google Shape;460;p45"/>
          <p:cNvGraphicFramePr/>
          <p:nvPr/>
        </p:nvGraphicFramePr>
        <p:xfrm>
          <a:off x="719950" y="1341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61" name="Google Shape;461;p45"/>
          <p:cNvSpPr txBox="1"/>
          <p:nvPr/>
        </p:nvSpPr>
        <p:spPr>
          <a:xfrm>
            <a:off x="1516812" y="370382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W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k = 4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  <p:grpSp>
        <p:nvGrpSpPr>
          <p:cNvPr id="462" name="Google Shape;462;p45"/>
          <p:cNvGrpSpPr/>
          <p:nvPr/>
        </p:nvGrpSpPr>
        <p:grpSpPr>
          <a:xfrm>
            <a:off x="5307100" y="3"/>
            <a:ext cx="3490675" cy="1219559"/>
            <a:chOff x="5341638" y="1577328"/>
            <a:chExt cx="3490675" cy="1219559"/>
          </a:xfrm>
        </p:grpSpPr>
        <p:pic>
          <p:nvPicPr>
            <p:cNvPr id="463" name="Google Shape;463;p45"/>
            <p:cNvPicPr preferRelativeResize="0"/>
            <p:nvPr/>
          </p:nvPicPr>
          <p:blipFill rotWithShape="1">
            <a:blip r:embed="rId3">
              <a:alphaModFix/>
            </a:blip>
            <a:srcRect b="53298" l="1982" r="51491" t="30517"/>
            <a:stretch/>
          </p:blipFill>
          <p:spPr>
            <a:xfrm>
              <a:off x="5341637" y="1577328"/>
              <a:ext cx="3490675" cy="927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45"/>
            <p:cNvSpPr txBox="1"/>
            <p:nvPr/>
          </p:nvSpPr>
          <p:spPr>
            <a:xfrm>
              <a:off x="5859625" y="2504388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Economica"/>
                  <a:ea typeface="Economica"/>
                  <a:cs typeface="Economica"/>
                  <a:sym typeface="Economica"/>
                </a:rPr>
                <a:t>Undirected Graph</a:t>
              </a:r>
              <a:endParaRPr b="1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aphicFrame>
        <p:nvGraphicFramePr>
          <p:cNvPr id="465" name="Google Shape;465;p45"/>
          <p:cNvGraphicFramePr/>
          <p:nvPr/>
        </p:nvGraphicFramePr>
        <p:xfrm>
          <a:off x="5857150" y="1341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66" name="Google Shape;466;p45"/>
          <p:cNvSpPr txBox="1"/>
          <p:nvPr/>
        </p:nvSpPr>
        <p:spPr>
          <a:xfrm>
            <a:off x="6654012" y="3703825"/>
            <a:ext cx="938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W</a:t>
            </a:r>
            <a:r>
              <a:rPr baseline="-25000" lang="en" sz="2400">
                <a:latin typeface="Oxygen"/>
                <a:ea typeface="Oxygen"/>
                <a:cs typeface="Oxygen"/>
                <a:sym typeface="Oxygen"/>
              </a:rPr>
              <a:t>k = 5</a:t>
            </a:r>
            <a:endParaRPr baseline="-25000"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</a:t>
            </a:r>
            <a:endParaRPr/>
          </a:p>
        </p:txBody>
      </p:sp>
      <p:sp>
        <p:nvSpPr>
          <p:cNvPr id="472" name="Google Shape;472;p46"/>
          <p:cNvSpPr txBox="1"/>
          <p:nvPr/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Individual Level in Networks I</a:t>
            </a: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47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478" name="Google Shape;478;p47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47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7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81" name="Google Shape;481;p47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2" name="Google Shape;482;p47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483" name="Google Shape;483;p47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4" name="Google Shape;484;p47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7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86" name="Google Shape;486;p47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7" name="Google Shape;487;p47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488" name="Google Shape;488;p47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9" name="Google Shape;489;p47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7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91" name="Google Shape;491;p47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2" name="Google Shape;492;p47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493" name="Google Shape;493;p47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4" name="Google Shape;494;p47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7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96" name="Google Shape;496;p47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7" name="Google Shape;497;p47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498" name="Google Shape;498;p47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9" name="Google Shape;499;p47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7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01" name="Google Shape;501;p47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2" name="Google Shape;502;p47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503" name="Google Shape;503;p47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04" name="Google Shape;504;p47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05" name="Google Shape;505;p47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06" name="Google Shape;506;p47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07" name="Google Shape;507;p47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08" name="Google Shape;508;p47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09" name="Google Shape;509;p47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0" name="Google Shape;510;p47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1" name="Google Shape;511;p47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2" name="Google Shape;512;p47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3" name="Google Shape;513;p47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4" name="Google Shape;514;p47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5" name="Google Shape;515;p47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6" name="Google Shape;516;p47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7" name="Google Shape;517;p47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8" name="Google Shape;518;p47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19" name="Google Shape;519;p47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520" name="Google Shape;520;p47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1" name="Google Shape;521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4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527" name="Google Shape;527;p4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8" name="Google Shape;528;p4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30" name="Google Shape;530;p4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1" name="Google Shape;531;p4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532" name="Google Shape;532;p4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3" name="Google Shape;533;p4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35" name="Google Shape;535;p4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6" name="Google Shape;536;p4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537" name="Google Shape;537;p4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8" name="Google Shape;538;p4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40" name="Google Shape;540;p4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1" name="Google Shape;541;p4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542" name="Google Shape;542;p4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3" name="Google Shape;543;p4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45" name="Google Shape;545;p4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6" name="Google Shape;546;p4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547" name="Google Shape;547;p4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48" name="Google Shape;548;p4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49" name="Google Shape;549;p4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0" name="Google Shape;550;p4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1" name="Google Shape;551;p4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2" name="Google Shape;552;p4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3" name="Google Shape;553;p4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4" name="Google Shape;554;p4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5" name="Google Shape;555;p4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6" name="Google Shape;556;p4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7" name="Google Shape;557;p4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8" name="Google Shape;558;p4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59" name="Google Shape;559;p4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60" name="Google Shape;560;p4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61" name="Google Shape;561;p4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62" name="Google Shape;562;p4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563" name="Google Shape;563;p4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564" name="Google Shape;564;p4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565" name="Google Shape;565;p4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6" name="Google Shape;566;p4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568" name="Google Shape;568;p4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69" name="Google Shape;569;p48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0" name="Google Shape;57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571" name="Google Shape;571;p48"/>
          <p:cNvSpPr/>
          <p:nvPr/>
        </p:nvSpPr>
        <p:spPr>
          <a:xfrm>
            <a:off x="3707750" y="1206325"/>
            <a:ext cx="44850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Ego Networks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577" name="Google Shape;577;p49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8" name="Google Shape;578;p49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5401988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6648098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7576809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2" name="Google Shape;582;p49"/>
          <p:cNvSpPr/>
          <p:nvPr/>
        </p:nvSpPr>
        <p:spPr>
          <a:xfrm>
            <a:off x="5401988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6489398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4" name="Google Shape;584;p49"/>
          <p:cNvSpPr/>
          <p:nvPr/>
        </p:nvSpPr>
        <p:spPr>
          <a:xfrm>
            <a:off x="7576809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5" name="Google Shape;585;p49"/>
          <p:cNvSpPr/>
          <p:nvPr/>
        </p:nvSpPr>
        <p:spPr>
          <a:xfrm>
            <a:off x="4918063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6" name="Google Shape;586;p49"/>
          <p:cNvSpPr/>
          <p:nvPr/>
        </p:nvSpPr>
        <p:spPr>
          <a:xfrm>
            <a:off x="7836313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87" name="Google Shape;587;p49"/>
          <p:cNvCxnSpPr>
            <a:stCxn id="579" idx="3"/>
            <a:endCxn id="585" idx="0"/>
          </p:cNvCxnSpPr>
          <p:nvPr/>
        </p:nvCxnSpPr>
        <p:spPr>
          <a:xfrm flipH="1">
            <a:off x="5196385" y="1804683"/>
            <a:ext cx="287100" cy="698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9"/>
          <p:cNvCxnSpPr>
            <a:stCxn id="580" idx="3"/>
            <a:endCxn id="579" idx="6"/>
          </p:cNvCxnSpPr>
          <p:nvPr/>
        </p:nvCxnSpPr>
        <p:spPr>
          <a:xfrm flipH="1">
            <a:off x="5958596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9"/>
          <p:cNvCxnSpPr>
            <a:stCxn id="580" idx="3"/>
            <a:endCxn id="585" idx="0"/>
          </p:cNvCxnSpPr>
          <p:nvPr/>
        </p:nvCxnSpPr>
        <p:spPr>
          <a:xfrm flipH="1">
            <a:off x="5196296" y="1578441"/>
            <a:ext cx="1533300" cy="924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9"/>
          <p:cNvCxnSpPr>
            <a:stCxn id="580" idx="3"/>
            <a:endCxn id="582" idx="0"/>
          </p:cNvCxnSpPr>
          <p:nvPr/>
        </p:nvCxnSpPr>
        <p:spPr>
          <a:xfrm flipH="1">
            <a:off x="5680196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49"/>
          <p:cNvCxnSpPr>
            <a:stCxn id="585" idx="4"/>
            <a:endCxn id="582" idx="0"/>
          </p:cNvCxnSpPr>
          <p:nvPr/>
        </p:nvCxnSpPr>
        <p:spPr>
          <a:xfrm>
            <a:off x="5196313" y="3007993"/>
            <a:ext cx="4839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49"/>
          <p:cNvCxnSpPr>
            <a:stCxn id="584" idx="2"/>
            <a:endCxn id="583" idx="6"/>
          </p:cNvCxnSpPr>
          <p:nvPr/>
        </p:nvCxnSpPr>
        <p:spPr>
          <a:xfrm flipH="1">
            <a:off x="7045809" y="38847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9"/>
          <p:cNvCxnSpPr>
            <a:stCxn id="579" idx="4"/>
            <a:endCxn id="582" idx="0"/>
          </p:cNvCxnSpPr>
          <p:nvPr/>
        </p:nvCxnSpPr>
        <p:spPr>
          <a:xfrm>
            <a:off x="5680238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49"/>
          <p:cNvCxnSpPr>
            <a:stCxn id="583" idx="2"/>
            <a:endCxn id="582" idx="6"/>
          </p:cNvCxnSpPr>
          <p:nvPr/>
        </p:nvCxnSpPr>
        <p:spPr>
          <a:xfrm rot="10800000">
            <a:off x="5958398" y="38846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49"/>
          <p:cNvCxnSpPr>
            <a:stCxn id="586" idx="4"/>
            <a:endCxn id="584" idx="0"/>
          </p:cNvCxnSpPr>
          <p:nvPr/>
        </p:nvCxnSpPr>
        <p:spPr>
          <a:xfrm flipH="1">
            <a:off x="7855063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49"/>
          <p:cNvCxnSpPr>
            <a:stCxn id="579" idx="5"/>
            <a:endCxn id="578" idx="1"/>
          </p:cNvCxnSpPr>
          <p:nvPr/>
        </p:nvCxnSpPr>
        <p:spPr>
          <a:xfrm>
            <a:off x="5876990" y="18046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9"/>
          <p:cNvCxnSpPr>
            <a:stCxn id="585" idx="6"/>
            <a:endCxn id="578" idx="2"/>
          </p:cNvCxnSpPr>
          <p:nvPr/>
        </p:nvCxnSpPr>
        <p:spPr>
          <a:xfrm flipH="1" rot="10800000">
            <a:off x="5474563" y="2749993"/>
            <a:ext cx="9537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9"/>
          <p:cNvCxnSpPr>
            <a:stCxn id="578" idx="3"/>
            <a:endCxn id="582" idx="7"/>
          </p:cNvCxnSpPr>
          <p:nvPr/>
        </p:nvCxnSpPr>
        <p:spPr>
          <a:xfrm flipH="1">
            <a:off x="5876893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9"/>
          <p:cNvCxnSpPr>
            <a:stCxn id="578" idx="4"/>
            <a:endCxn id="583" idx="0"/>
          </p:cNvCxnSpPr>
          <p:nvPr/>
        </p:nvCxnSpPr>
        <p:spPr>
          <a:xfrm flipH="1">
            <a:off x="6767575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9"/>
          <p:cNvCxnSpPr>
            <a:stCxn id="578" idx="5"/>
            <a:endCxn id="584" idx="1"/>
          </p:cNvCxnSpPr>
          <p:nvPr/>
        </p:nvCxnSpPr>
        <p:spPr>
          <a:xfrm>
            <a:off x="7140757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9"/>
          <p:cNvCxnSpPr>
            <a:stCxn id="578" idx="6"/>
            <a:endCxn id="586" idx="2"/>
          </p:cNvCxnSpPr>
          <p:nvPr/>
        </p:nvCxnSpPr>
        <p:spPr>
          <a:xfrm>
            <a:off x="7263025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9"/>
          <p:cNvCxnSpPr>
            <a:stCxn id="578" idx="7"/>
            <a:endCxn id="581" idx="3"/>
          </p:cNvCxnSpPr>
          <p:nvPr/>
        </p:nvCxnSpPr>
        <p:spPr>
          <a:xfrm flipH="1" rot="10800000">
            <a:off x="7140757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49"/>
          <p:cNvCxnSpPr>
            <a:stCxn id="580" idx="4"/>
            <a:endCxn id="578" idx="0"/>
          </p:cNvCxnSpPr>
          <p:nvPr/>
        </p:nvCxnSpPr>
        <p:spPr>
          <a:xfrm flipH="1">
            <a:off x="6845648" y="16524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9"/>
          <p:cNvCxnSpPr>
            <a:stCxn id="586" idx="4"/>
            <a:endCxn id="582" idx="6"/>
          </p:cNvCxnSpPr>
          <p:nvPr/>
        </p:nvCxnSpPr>
        <p:spPr>
          <a:xfrm flipH="1">
            <a:off x="5958463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sp>
        <p:nvSpPr>
          <p:cNvPr id="610" name="Google Shape;610;p50"/>
          <p:cNvSpPr txBox="1"/>
          <p:nvPr>
            <p:ph idx="1" type="body"/>
          </p:nvPr>
        </p:nvSpPr>
        <p:spPr>
          <a:xfrm>
            <a:off x="311700" y="1225225"/>
            <a:ext cx="469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Ego-networks are organized by “layers”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“Closer” more intimate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“Farther” less intimate 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Closer layers are smaller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Farther layers are larger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relationships entails different “maintenance costs”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Cognitive/Emotional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Time/Energy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Costs determine the number of persons in each layer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0"/>
          <p:cNvSpPr/>
          <p:nvPr/>
        </p:nvSpPr>
        <p:spPr>
          <a:xfrm>
            <a:off x="5006625" y="976225"/>
            <a:ext cx="3972900" cy="38520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0"/>
          <p:cNvSpPr/>
          <p:nvPr/>
        </p:nvSpPr>
        <p:spPr>
          <a:xfrm>
            <a:off x="6585534" y="2586779"/>
            <a:ext cx="815100" cy="4749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3" name="Google Shape;613;p50"/>
          <p:cNvSpPr/>
          <p:nvPr/>
        </p:nvSpPr>
        <p:spPr>
          <a:xfrm>
            <a:off x="5561025" y="2081125"/>
            <a:ext cx="2864100" cy="2747100"/>
          </a:xfrm>
          <a:prstGeom prst="ellipse">
            <a:avLst/>
          </a:prstGeom>
          <a:solidFill>
            <a:srgbClr val="DD7E6B"/>
          </a:solidFill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0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0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616" name="Google Shape;616;p50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7" name="Google Shape;617;p50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8" name="Google Shape;618;p50"/>
          <p:cNvSpPr txBox="1"/>
          <p:nvPr/>
        </p:nvSpPr>
        <p:spPr>
          <a:xfrm>
            <a:off x="6159375" y="2438425"/>
            <a:ext cx="1667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Affinity </a:t>
            </a: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Group (45-50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9" name="Google Shape;619;p50"/>
          <p:cNvSpPr txBox="1"/>
          <p:nvPr/>
        </p:nvSpPr>
        <p:spPr>
          <a:xfrm>
            <a:off x="6088125" y="1480521"/>
            <a:ext cx="1809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  <a:latin typeface="Economica"/>
                <a:ea typeface="Economica"/>
                <a:cs typeface="Economica"/>
                <a:sym typeface="Economica"/>
              </a:rPr>
              <a:t>Active</a:t>
            </a:r>
            <a:r>
              <a:rPr b="1" lang="en">
                <a:solidFill>
                  <a:srgbClr val="FFFF00"/>
                </a:solidFill>
                <a:latin typeface="Economica"/>
                <a:ea typeface="Economica"/>
                <a:cs typeface="Economica"/>
                <a:sym typeface="Economica"/>
              </a:rPr>
              <a:t> Network(120-150)</a:t>
            </a:r>
            <a:endParaRPr b="1">
              <a:solidFill>
                <a:srgbClr val="FFFF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20" name="Google Shape;620;p50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621" name="Google Shape;621;p50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622" name="Google Shape;622;p50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23" name="Google Shape;623;p50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graphicFrame>
        <p:nvGraphicFramePr>
          <p:cNvPr id="629" name="Google Shape;629;p51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630" name="Google Shape;630;p51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631" name="Google Shape;631;p51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32" name="Google Shape;632;p51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633" name="Google Shape;633;p51"/>
          <p:cNvSpPr txBox="1"/>
          <p:nvPr>
            <p:ph idx="1" type="body"/>
          </p:nvPr>
        </p:nvSpPr>
        <p:spPr>
          <a:xfrm>
            <a:off x="311700" y="1225225"/>
            <a:ext cx="495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clique (~ 4 - 5)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most intimate kin and best friends you can rely on them for crises and emergencies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Sympathy group (~12 - 15)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 and good friends that can provide some services and that you interact with often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Affinity group (~ 45 - 50)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casual but still close friends, extended family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Active Network (~120 - 150)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number people that you know by face/name and interact with at least once a year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1"/>
          <p:cNvSpPr/>
          <p:nvPr/>
        </p:nvSpPr>
        <p:spPr>
          <a:xfrm>
            <a:off x="5006625" y="976225"/>
            <a:ext cx="3972900" cy="38520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1"/>
          <p:cNvSpPr/>
          <p:nvPr/>
        </p:nvSpPr>
        <p:spPr>
          <a:xfrm>
            <a:off x="6585534" y="2586779"/>
            <a:ext cx="815100" cy="4749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6" name="Google Shape;636;p51"/>
          <p:cNvSpPr/>
          <p:nvPr/>
        </p:nvSpPr>
        <p:spPr>
          <a:xfrm>
            <a:off x="5561025" y="2081125"/>
            <a:ext cx="2864100" cy="2747100"/>
          </a:xfrm>
          <a:prstGeom prst="ellipse">
            <a:avLst/>
          </a:prstGeom>
          <a:solidFill>
            <a:srgbClr val="DD7E6B"/>
          </a:solidFill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1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1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639" name="Google Shape;639;p51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40" name="Google Shape;640;p51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</a:t>
            </a: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41" name="Google Shape;641;p51"/>
          <p:cNvSpPr txBox="1"/>
          <p:nvPr/>
        </p:nvSpPr>
        <p:spPr>
          <a:xfrm>
            <a:off x="6159375" y="2438425"/>
            <a:ext cx="1667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Affinity</a:t>
            </a: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 Group (45-50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42" name="Google Shape;642;p51"/>
          <p:cNvSpPr txBox="1"/>
          <p:nvPr/>
        </p:nvSpPr>
        <p:spPr>
          <a:xfrm>
            <a:off x="6088125" y="1480521"/>
            <a:ext cx="1809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  <a:latin typeface="Economica"/>
                <a:ea typeface="Economica"/>
                <a:cs typeface="Economica"/>
                <a:sym typeface="Economica"/>
              </a:rPr>
              <a:t>Active Network(120-150)</a:t>
            </a:r>
            <a:endParaRPr b="1">
              <a:solidFill>
                <a:srgbClr val="FFFF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Social brain hypothesis</a:t>
            </a:r>
            <a:endParaRPr/>
          </a:p>
        </p:txBody>
      </p:sp>
      <p:sp>
        <p:nvSpPr>
          <p:cNvPr id="648" name="Google Shape;648;p52"/>
          <p:cNvSpPr txBox="1"/>
          <p:nvPr>
            <p:ph idx="1" type="body"/>
          </p:nvPr>
        </p:nvSpPr>
        <p:spPr>
          <a:xfrm>
            <a:off x="311700" y="1225225"/>
            <a:ext cx="4876200" cy="30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is your (human) head so big?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comparison to our closest primate ancestors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humans are very social animals!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Finding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Neocortex size scales with average group size for all primates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Explanation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brain is for keeping track of other people (among other things)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2"/>
          <p:cNvSpPr txBox="1"/>
          <p:nvPr/>
        </p:nvSpPr>
        <p:spPr>
          <a:xfrm>
            <a:off x="282650" y="4341925"/>
            <a:ext cx="796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Dunbar, R. I. M. (2003a, November 14). Evolution of the social brain. </a:t>
            </a:r>
            <a:r>
              <a:rPr i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, 302, 1160 –1161.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650" name="Google Shape;650;p52"/>
          <p:cNvPicPr preferRelativeResize="0"/>
          <p:nvPr/>
        </p:nvPicPr>
        <p:blipFill rotWithShape="1">
          <a:blip r:embed="rId3">
            <a:alphaModFix/>
          </a:blip>
          <a:srcRect b="4304" l="0" r="0" t="2733"/>
          <a:stretch/>
        </p:blipFill>
        <p:spPr>
          <a:xfrm>
            <a:off x="5470700" y="1128250"/>
            <a:ext cx="3127800" cy="30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656" name="Google Shape;656;p53"/>
          <p:cNvSpPr txBox="1"/>
          <p:nvPr>
            <p:ph idx="1" type="body"/>
          </p:nvPr>
        </p:nvSpPr>
        <p:spPr>
          <a:xfrm>
            <a:off x="311700" y="1225225"/>
            <a:ext cx="6576600" cy="29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composition</a:t>
            </a:r>
            <a:r>
              <a:rPr lang="en"/>
              <a:t> of your ego network is likely </a:t>
            </a:r>
            <a:r>
              <a:rPr b="1" lang="en"/>
              <a:t>biased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How</a:t>
            </a:r>
            <a:r>
              <a:rPr lang="en"/>
              <a:t> are your ego networks biased?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over-represented </a:t>
            </a:r>
            <a:r>
              <a:rPr lang="en"/>
              <a:t>in your ego-network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under-represented</a:t>
            </a:r>
            <a:r>
              <a:rPr lang="en"/>
              <a:t> in your ego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0000FF"/>
                </a:solidFill>
              </a:rPr>
              <a:t>over-represented</a:t>
            </a:r>
            <a:r>
              <a:rPr lang="en"/>
              <a:t> are more likely to be </a:t>
            </a:r>
            <a:r>
              <a:rPr b="1" lang="en">
                <a:solidFill>
                  <a:srgbClr val="0000FF"/>
                </a:solidFill>
              </a:rPr>
              <a:t>similar</a:t>
            </a:r>
            <a:r>
              <a:rPr lang="en"/>
              <a:t> to you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FF0000"/>
                </a:solidFill>
              </a:rPr>
              <a:t>under-represented</a:t>
            </a:r>
            <a:r>
              <a:rPr lang="en"/>
              <a:t> are more likely to be </a:t>
            </a:r>
            <a:r>
              <a:rPr b="1" lang="en">
                <a:solidFill>
                  <a:srgbClr val="FF0000"/>
                </a:solidFill>
              </a:rPr>
              <a:t>dissimilar</a:t>
            </a:r>
            <a:r>
              <a:rPr lang="en"/>
              <a:t> to you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last two things are the basis of </a:t>
            </a:r>
            <a:r>
              <a:rPr b="1" lang="en"/>
              <a:t>homophily*</a:t>
            </a:r>
            <a:endParaRPr b="1"/>
          </a:p>
        </p:txBody>
      </p:sp>
      <p:pic>
        <p:nvPicPr>
          <p:cNvPr id="657" name="Google Shape;65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3"/>
          <p:cNvSpPr txBox="1"/>
          <p:nvPr/>
        </p:nvSpPr>
        <p:spPr>
          <a:xfrm>
            <a:off x="311700" y="4370675"/>
            <a:ext cx="65766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*McPherson, M., Smith-Lovin, L., &amp; Cook, J. M. (2001). Birds of a feather: Homophily in social networks.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Annual Review of Sociology,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 27(1), 415-444.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664" name="Google Shape;664;p54"/>
          <p:cNvSpPr txBox="1"/>
          <p:nvPr>
            <p:ph idx="1" type="body"/>
          </p:nvPr>
        </p:nvSpPr>
        <p:spPr>
          <a:xfrm>
            <a:off x="311700" y="1225225"/>
            <a:ext cx="657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i="1" lang="en"/>
              <a:t>what</a:t>
            </a:r>
            <a:r>
              <a:rPr lang="en"/>
              <a:t> </a:t>
            </a:r>
            <a:r>
              <a:rPr i="1" lang="en"/>
              <a:t>ways</a:t>
            </a:r>
            <a:r>
              <a:rPr lang="en"/>
              <a:t> are your networks biased toward homophily?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According to pretty much any social distinction we can think of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Race/Ethnicity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Occupation/Income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what Peter Blau called </a:t>
            </a:r>
            <a:r>
              <a:rPr b="1" lang="en"/>
              <a:t>dimensions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association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of these are </a:t>
            </a:r>
            <a:r>
              <a:rPr b="1" lang="en"/>
              <a:t>categorical </a:t>
            </a:r>
            <a:r>
              <a:rPr lang="en"/>
              <a:t>(no inherent ordering)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race , gender or occupation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are </a:t>
            </a:r>
            <a:r>
              <a:rPr b="1" lang="en"/>
              <a:t>continuous </a:t>
            </a:r>
            <a:r>
              <a:rPr lang="en"/>
              <a:t>(inherent ordering)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age, education or income</a:t>
            </a:r>
            <a:endParaRPr/>
          </a:p>
          <a:p>
            <a:pPr indent="0" lvl="0" marL="18288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65" name="Google Shape;66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671" name="Google Shape;671;p55"/>
          <p:cNvSpPr txBox="1"/>
          <p:nvPr>
            <p:ph idx="1" type="body"/>
          </p:nvPr>
        </p:nvSpPr>
        <p:spPr>
          <a:xfrm>
            <a:off x="311700" y="1225225"/>
            <a:ext cx="54612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Why</a:t>
            </a:r>
            <a:r>
              <a:rPr lang="en"/>
              <a:t> are your ego networks biased toward homophily?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obvious</a:t>
            </a:r>
            <a:r>
              <a:rPr lang="en"/>
              <a:t> source of bias is what has been called* </a:t>
            </a:r>
            <a:r>
              <a:rPr b="1" lang="en"/>
              <a:t>choice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like to hang out with people who are similar to you (regardless)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non-obvious</a:t>
            </a:r>
            <a:r>
              <a:rPr lang="en"/>
              <a:t> source of bias is what has been called* </a:t>
            </a:r>
            <a:r>
              <a:rPr b="1" lang="en"/>
              <a:t>induced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The social context (nation, state, organization) where you reside determines the people who are available for you to hang out with</a:t>
            </a:r>
            <a:endParaRPr i="1"/>
          </a:p>
          <a:p>
            <a:pPr indent="0" lvl="0" marL="18288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PeterBlau.jpg" id="672" name="Google Shape;67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5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sp>
        <p:nvSpPr>
          <p:cNvPr id="674" name="Google Shape;674;p55"/>
          <p:cNvSpPr txBox="1"/>
          <p:nvPr/>
        </p:nvSpPr>
        <p:spPr>
          <a:xfrm>
            <a:off x="311700" y="4195050"/>
            <a:ext cx="60723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*McPherson, J. M., &amp; Smith-Lovin, L. (1987). Homophily in voluntary organizations: Status distance and the composition of face-to-face groups. </a:t>
            </a:r>
            <a:r>
              <a:rPr i="1"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American Sociological Review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, 370-379.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680" name="Google Shape;68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56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682" name="Google Shape;682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2" name="Google Shape;692;p56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693" name="Google Shape;693;p56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94" name="Google Shape;694;p5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5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6" name="Google Shape;696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7" name="Google Shape;697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8" name="Google Shape;698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99" name="Google Shape;699;p56"/>
            <p:cNvCxnSpPr>
              <a:stCxn id="694" idx="1"/>
              <a:endCxn id="695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56"/>
            <p:cNvCxnSpPr>
              <a:stCxn id="694" idx="0"/>
              <a:endCxn id="697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" name="Google Shape;701;p56"/>
            <p:cNvCxnSpPr>
              <a:stCxn id="694" idx="0"/>
              <a:endCxn id="696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2" name="Google Shape;702;p56"/>
            <p:cNvCxnSpPr>
              <a:stCxn id="698" idx="2"/>
              <a:endCxn id="694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03" name="Google Shape;703;p56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704" name="Google Shape;704;p56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5" name="Google Shape;705;p5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5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08" name="Google Shape;708;p56"/>
            <p:cNvCxnSpPr>
              <a:stCxn id="705" idx="1"/>
              <a:endCxn id="706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56"/>
            <p:cNvCxnSpPr>
              <a:stCxn id="705" idx="0"/>
              <a:endCxn id="710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56"/>
            <p:cNvCxnSpPr>
              <a:stCxn id="705" idx="0"/>
              <a:endCxn id="712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3" name="Google Shape;713;p56"/>
            <p:cNvCxnSpPr>
              <a:stCxn id="707" idx="2"/>
              <a:endCxn id="705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710" name="Google Shape;710;p5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2" name="Google Shape;712;p5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4" name="Google Shape;714;p56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15" name="Google Shape;715;p56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16" name="Google Shape;716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6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Your ego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23" name="Google Shape;723;p56"/>
          <p:cNvCxnSpPr>
            <a:stCxn id="722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4" name="Google Shape;724;p56"/>
          <p:cNvCxnSpPr>
            <a:stCxn id="722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56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World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7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World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31" name="Google Shape;731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732" name="Google Shape;7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7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734" name="Google Shape;73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7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1" name="Google Shape;751;p57"/>
          <p:cNvSpPr/>
          <p:nvPr/>
        </p:nvSpPr>
        <p:spPr>
          <a:xfrm>
            <a:off x="238075" y="2824400"/>
            <a:ext cx="2060700" cy="1899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34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238" y="32067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96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5" name="Google Shape;755;p57"/>
          <p:cNvCxnSpPr>
            <a:stCxn id="756" idx="1"/>
          </p:cNvCxnSpPr>
          <p:nvPr/>
        </p:nvCxnSpPr>
        <p:spPr>
          <a:xfrm rot="10800000">
            <a:off x="614200" y="3781025"/>
            <a:ext cx="4959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57"/>
          <p:cNvCxnSpPr>
            <a:stCxn id="756" idx="0"/>
            <a:endCxn id="753" idx="2"/>
          </p:cNvCxnSpPr>
          <p:nvPr/>
        </p:nvCxnSpPr>
        <p:spPr>
          <a:xfrm rot="10800000">
            <a:off x="1035625" y="3780987"/>
            <a:ext cx="2328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57"/>
          <p:cNvCxnSpPr>
            <a:stCxn id="756" idx="0"/>
            <a:endCxn id="752" idx="2"/>
          </p:cNvCxnSpPr>
          <p:nvPr/>
        </p:nvCxnSpPr>
        <p:spPr>
          <a:xfrm flipH="1" rot="10800000">
            <a:off x="1268425" y="3780987"/>
            <a:ext cx="2034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57"/>
          <p:cNvCxnSpPr>
            <a:stCxn id="754" idx="2"/>
            <a:endCxn id="756" idx="3"/>
          </p:cNvCxnSpPr>
          <p:nvPr/>
        </p:nvCxnSpPr>
        <p:spPr>
          <a:xfrm flipH="1">
            <a:off x="1426775" y="3781000"/>
            <a:ext cx="4812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6" name="Google Shape;75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100" y="4014087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0" name="Google Shape;760;p57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761" name="Google Shape;761;p57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2" name="Google Shape;762;p5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63" name="Google Shape;763;p57"/>
            <p:cNvCxnSpPr>
              <a:stCxn id="764" idx="1"/>
              <a:endCxn id="765" idx="2"/>
            </p:cNvCxnSpPr>
            <p:nvPr/>
          </p:nvCxnSpPr>
          <p:spPr>
            <a:xfrm rot="10800000">
              <a:off x="2776300" y="3908725"/>
              <a:ext cx="4878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57"/>
            <p:cNvCxnSpPr>
              <a:stCxn id="764" idx="0"/>
              <a:endCxn id="767" idx="2"/>
            </p:cNvCxnSpPr>
            <p:nvPr/>
          </p:nvCxnSpPr>
          <p:spPr>
            <a:xfrm rot="10800000">
              <a:off x="3193888" y="3908725"/>
              <a:ext cx="2649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8" name="Google Shape;768;p57"/>
            <p:cNvCxnSpPr>
              <a:stCxn id="764" idx="0"/>
              <a:endCxn id="769" idx="2"/>
            </p:cNvCxnSpPr>
            <p:nvPr/>
          </p:nvCxnSpPr>
          <p:spPr>
            <a:xfrm flipH="1" rot="10800000">
              <a:off x="3407475" y="3908725"/>
              <a:ext cx="204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p57"/>
            <p:cNvCxnSpPr>
              <a:stCxn id="762" idx="2"/>
              <a:endCxn id="764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71" name="Google Shape;771;p57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69" name="Google Shape;76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675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08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150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61" y="3206725"/>
            <a:ext cx="287138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7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Your ego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74" name="Google Shape;774;p57"/>
          <p:cNvCxnSpPr>
            <a:stCxn id="773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5" name="Google Shape;775;p57"/>
          <p:cNvCxnSpPr>
            <a:stCxn id="773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76" name="Google Shape;77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775" y="4014074"/>
            <a:ext cx="316650" cy="5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782" name="Google Shape;78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8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784" name="Google Shape;784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p58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795" name="Google Shape;795;p58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6" name="Google Shape;796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7" name="Google Shape;797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8" name="Google Shape;798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9" name="Google Shape;799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0" name="Google Shape;800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01" name="Google Shape;801;p58"/>
            <p:cNvCxnSpPr>
              <a:stCxn id="796" idx="1"/>
              <a:endCxn id="797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58"/>
            <p:cNvCxnSpPr>
              <a:stCxn id="796" idx="0"/>
              <a:endCxn id="799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58"/>
            <p:cNvCxnSpPr>
              <a:stCxn id="796" idx="0"/>
              <a:endCxn id="798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58"/>
            <p:cNvCxnSpPr>
              <a:stCxn id="800" idx="2"/>
              <a:endCxn id="796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5" name="Google Shape;805;p58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806" name="Google Shape;806;p58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8" name="Google Shape;808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9" name="Google Shape;809;p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0" name="Google Shape;810;p58"/>
            <p:cNvCxnSpPr>
              <a:stCxn id="807" idx="1"/>
              <a:endCxn id="808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1" name="Google Shape;811;p58"/>
            <p:cNvCxnSpPr>
              <a:stCxn id="807" idx="0"/>
              <a:endCxn id="812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3" name="Google Shape;813;p58"/>
            <p:cNvCxnSpPr>
              <a:stCxn id="807" idx="0"/>
              <a:endCxn id="814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5" name="Google Shape;815;p58"/>
            <p:cNvCxnSpPr>
              <a:stCxn id="809" idx="2"/>
              <a:endCxn id="807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812" name="Google Shape;812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6" name="Google Shape;81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2" name="Google Shape;822;p58"/>
          <p:cNvCxnSpPr>
            <a:stCxn id="823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58"/>
          <p:cNvCxnSpPr>
            <a:stCxn id="823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5" name="Google Shape;825;p58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World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26" name="Google Shape;826;p58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27" name="Google Shape;827;p58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Biased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28" name="Google Shape;828;p58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Your ego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834" name="Google Shape;834;p59"/>
          <p:cNvSpPr txBox="1"/>
          <p:nvPr>
            <p:ph idx="1" type="body"/>
          </p:nvPr>
        </p:nvSpPr>
        <p:spPr>
          <a:xfrm>
            <a:off x="311700" y="1225225"/>
            <a:ext cx="8520600" cy="16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categorical dimension divides the population into two or more groups: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Rule 1</a:t>
            </a:r>
            <a:r>
              <a:rPr lang="en"/>
              <a:t>:</a:t>
            </a:r>
            <a:r>
              <a:rPr i="1" lang="en"/>
              <a:t> Members of numerically smaller groups will be more likely to have relations with outgroup members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Rule 2</a:t>
            </a:r>
            <a:r>
              <a:rPr lang="en"/>
              <a:t>: </a:t>
            </a:r>
            <a:r>
              <a:rPr i="1" lang="en"/>
              <a:t>Members of numerically larger groups will be more likely to have relations with ingroup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group size effects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T_15.06.12.Interracial.png" id="835" name="Google Shape;835;p59"/>
          <p:cNvPicPr preferRelativeResize="0"/>
          <p:nvPr/>
        </p:nvPicPr>
        <p:blipFill rotWithShape="1">
          <a:blip r:embed="rId3">
            <a:alphaModFix/>
          </a:blip>
          <a:srcRect b="38169" l="-3713" r="0" t="2764"/>
          <a:stretch/>
        </p:blipFill>
        <p:spPr>
          <a:xfrm>
            <a:off x="5569875" y="2538950"/>
            <a:ext cx="3336500" cy="23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7175" y="2940625"/>
            <a:ext cx="3130483" cy="19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842" name="Google Shape;842;p60"/>
          <p:cNvSpPr txBox="1"/>
          <p:nvPr>
            <p:ph idx="1" type="body"/>
          </p:nvPr>
        </p:nvSpPr>
        <p:spPr>
          <a:xfrm>
            <a:off x="311700" y="1225225"/>
            <a:ext cx="8520600" cy="16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categorical dimension divides the population into two or more groups: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Rule 1</a:t>
            </a:r>
            <a:r>
              <a:rPr lang="en"/>
              <a:t>:</a:t>
            </a:r>
            <a:r>
              <a:rPr i="1" lang="en"/>
              <a:t> Members of numerically smaller groups will be more likely to have relations with outgroup members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Rule 2</a:t>
            </a:r>
            <a:r>
              <a:rPr lang="en"/>
              <a:t>: </a:t>
            </a:r>
            <a:r>
              <a:rPr i="1" lang="en"/>
              <a:t>Members of numerically larger groups will be more likely to have relations with ingroup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group size effects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3" name="Google Shape;84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175" y="2940625"/>
            <a:ext cx="3130483" cy="19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0"/>
          <p:cNvPicPr preferRelativeResize="0"/>
          <p:nvPr/>
        </p:nvPicPr>
        <p:blipFill rotWithShape="1">
          <a:blip r:embed="rId4">
            <a:alphaModFix/>
          </a:blip>
          <a:srcRect b="3802" l="3344" r="0" t="4371"/>
          <a:stretch/>
        </p:blipFill>
        <p:spPr>
          <a:xfrm>
            <a:off x="5406825" y="2428900"/>
            <a:ext cx="3425475" cy="21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0"/>
          <p:cNvSpPr txBox="1"/>
          <p:nvPr/>
        </p:nvSpPr>
        <p:spPr>
          <a:xfrm>
            <a:off x="4161600" y="4604350"/>
            <a:ext cx="4670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Source: Joyner, K. &amp; Kao, G. (2000). School racial composition and adolescent racial homophily. </a:t>
            </a:r>
            <a:r>
              <a:rPr i="1" lang="en" sz="1100">
                <a:solidFill>
                  <a:schemeClr val="dk1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Social Science Quarterly, 81,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810-825.</a:t>
            </a:r>
            <a:endParaRPr sz="11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851" name="Google Shape;851;p61"/>
          <p:cNvSpPr txBox="1"/>
          <p:nvPr>
            <p:ph idx="1" type="body"/>
          </p:nvPr>
        </p:nvSpPr>
        <p:spPr>
          <a:xfrm>
            <a:off x="311700" y="1225225"/>
            <a:ext cx="460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i="1" lang="en"/>
              <a:t>Rule 3: </a:t>
            </a:r>
            <a:endParaRPr i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Example: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U.S. there are systematic correlations between religion and race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Multiform Heterogeneity Effect: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biased by race will also be biased by religion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if people don’t have preferences religion of alter (or vice versa)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0040817_1.gif" id="852" name="Google Shape;85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573" y="1587425"/>
            <a:ext cx="3856725" cy="26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858" name="Google Shape;858;p62"/>
          <p:cNvSpPr txBox="1"/>
          <p:nvPr>
            <p:ph idx="1" type="body"/>
          </p:nvPr>
        </p:nvSpPr>
        <p:spPr>
          <a:xfrm>
            <a:off x="311700" y="1225225"/>
            <a:ext cx="526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applies to any </a:t>
            </a:r>
            <a:r>
              <a:rPr b="1" lang="en"/>
              <a:t>correlation</a:t>
            </a:r>
            <a:r>
              <a:rPr lang="en"/>
              <a:t> between dimensions of association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Categorical-Categorical </a:t>
            </a:r>
            <a:r>
              <a:rPr lang="en"/>
              <a:t>(e.g., Race and Religion)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Networks biased by religion will be biased by race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Categorical-Continuous</a:t>
            </a:r>
            <a:r>
              <a:rPr lang="en"/>
              <a:t>  (e.g., Race and Income)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Networks biased by race will be biased by income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Continuous-Continuous</a:t>
            </a:r>
            <a:r>
              <a:rPr lang="en"/>
              <a:t> (e.g., Age and Income)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Neworks biased by age will be biased by income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59" name="Google Shape;8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500" y="1361513"/>
            <a:ext cx="3257700" cy="2420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865" name="Google Shape;865;p63"/>
          <p:cNvSpPr txBox="1"/>
          <p:nvPr>
            <p:ph idx="1" type="body"/>
          </p:nvPr>
        </p:nvSpPr>
        <p:spPr>
          <a:xfrm>
            <a:off x="311700" y="1225225"/>
            <a:ext cx="556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observation: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social relations are organized around “circles,” or “common activities”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“foci” may themselves be a primary driver of which relations show up in people’s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“focus”?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 a social, psychological, legal, or physical entity around which joint activities are organized (e.g., workplaces, voluntary organizations, hangouts, families, etc.” (Feld 1981: 1016)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66" name="Google Shape;866;p63"/>
          <p:cNvPicPr preferRelativeResize="0"/>
          <p:nvPr/>
        </p:nvPicPr>
        <p:blipFill rotWithShape="1">
          <a:blip r:embed="rId3">
            <a:alphaModFix/>
          </a:blip>
          <a:srcRect b="8042" l="25470" r="25922" t="70152"/>
          <a:stretch/>
        </p:blipFill>
        <p:spPr>
          <a:xfrm>
            <a:off x="5878500" y="1379163"/>
            <a:ext cx="3069726" cy="23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872" name="Google Shape;872;p64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grpSp>
        <p:nvGrpSpPr>
          <p:cNvPr id="873" name="Google Shape;873;p64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874" name="Google Shape;874;p64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875" name="Google Shape;875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6" name="Google Shape;876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5974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7" name="Google Shape;877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2711" y="145077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8" name="Google Shape;878;p64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879" name="Google Shape;879;p64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880" name="Google Shape;880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1" name="Google Shape;881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83174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2" name="Google Shape;882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9911" y="1515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3" name="Google Shape;883;p64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884" name="Google Shape;884;p64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885" name="Google Shape;885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6" name="Google Shape;886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1811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7" name="Google Shape;887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8549" y="1593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8" name="Google Shape;888;p64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889" name="Google Shape;889;p64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890" name="Google Shape;890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91" name="Google Shape;89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711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199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64"/>
          <p:cNvCxnSpPr>
            <a:stCxn id="889" idx="0"/>
            <a:endCxn id="874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64"/>
          <p:cNvCxnSpPr>
            <a:stCxn id="889" idx="0"/>
            <a:endCxn id="879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64"/>
          <p:cNvCxnSpPr>
            <a:stCxn id="889" idx="0"/>
            <a:endCxn id="884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64"/>
          <p:cNvCxnSpPr>
            <a:stCxn id="889" idx="1"/>
            <a:endCxn id="891" idx="3"/>
          </p:cNvCxnSpPr>
          <p:nvPr/>
        </p:nvCxnSpPr>
        <p:spPr>
          <a:xfrm flipH="1">
            <a:off x="21208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64"/>
          <p:cNvCxnSpPr>
            <a:stCxn id="889" idx="2"/>
            <a:endCxn id="892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64"/>
          <p:cNvCxnSpPr>
            <a:stCxn id="889" idx="3"/>
            <a:endCxn id="893" idx="1"/>
          </p:cNvCxnSpPr>
          <p:nvPr/>
        </p:nvCxnSpPr>
        <p:spPr>
          <a:xfrm>
            <a:off x="35323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64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pic>
        <p:nvPicPr>
          <p:cNvPr id="901" name="Google Shape;90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grpSp>
        <p:nvGrpSpPr>
          <p:cNvPr id="907" name="Google Shape;907;p65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908" name="Google Shape;908;p65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909" name="Google Shape;909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0" name="Google Shape;910;p65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911" name="Google Shape;911;p65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912" name="Google Shape;912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3" name="Google Shape;913;p65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914" name="Google Shape;914;p65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915" name="Google Shape;915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6" name="Google Shape;916;p65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917" name="Google Shape;917;p65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918" name="Google Shape;918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19" name="Google Shape;91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0" name="Google Shape;920;p65"/>
          <p:cNvCxnSpPr>
            <a:stCxn id="917" idx="0"/>
            <a:endCxn id="908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65"/>
          <p:cNvCxnSpPr>
            <a:stCxn id="917" idx="0"/>
            <a:endCxn id="911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65"/>
          <p:cNvCxnSpPr>
            <a:stCxn id="917" idx="0"/>
            <a:endCxn id="914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65"/>
          <p:cNvCxnSpPr>
            <a:stCxn id="917" idx="1"/>
            <a:endCxn id="924" idx="3"/>
          </p:cNvCxnSpPr>
          <p:nvPr/>
        </p:nvCxnSpPr>
        <p:spPr>
          <a:xfrm flipH="1">
            <a:off x="21235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65"/>
          <p:cNvCxnSpPr>
            <a:stCxn id="917" idx="2"/>
            <a:endCxn id="919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65"/>
          <p:cNvCxnSpPr>
            <a:stCxn id="917" idx="3"/>
            <a:endCxn id="927" idx="1"/>
          </p:cNvCxnSpPr>
          <p:nvPr/>
        </p:nvCxnSpPr>
        <p:spPr>
          <a:xfrm>
            <a:off x="35323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4" name="Google Shape;92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6925" y="34388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8475" y="34388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9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0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95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700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138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90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65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sp>
        <p:nvSpPr>
          <p:cNvPr id="935" name="Google Shape;935;p65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936" name="Google Shape;93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942" name="Google Shape;942;p66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943" name="Google Shape;94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66"/>
          <p:cNvSpPr txBox="1"/>
          <p:nvPr>
            <p:ph idx="1" type="body"/>
          </p:nvPr>
        </p:nvSpPr>
        <p:spPr>
          <a:xfrm>
            <a:off x="311700" y="1225225"/>
            <a:ext cx="604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typical settings </a:t>
            </a:r>
            <a:r>
              <a:rPr lang="en"/>
              <a:t>within which you interact as reference for bias: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Feld Rule</a:t>
            </a:r>
            <a:r>
              <a:rPr lang="en"/>
              <a:t>: If the settings within which you interact are biased towards a particular categorical or continuous dimension of association your ego-network will reflect that bias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Feld referred to these settings as </a:t>
            </a:r>
            <a:r>
              <a:rPr b="1" lang="en"/>
              <a:t>social foci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Therefore, this is the called the </a:t>
            </a:r>
            <a:r>
              <a:rPr b="1" lang="en"/>
              <a:t>focus effect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Foci</a:t>
            </a:r>
            <a:r>
              <a:rPr b="1" i="1" lang="en"/>
              <a:t> </a:t>
            </a:r>
            <a:r>
              <a:rPr i="1" lang="en"/>
              <a:t>make homophily happen via segregation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Conversely,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Desegregated foci reduce homophily </a:t>
            </a:r>
            <a:endParaRPr i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950" name="Google Shape;950;p67"/>
          <p:cNvSpPr txBox="1"/>
          <p:nvPr>
            <p:ph idx="1" type="body"/>
          </p:nvPr>
        </p:nvSpPr>
        <p:spPr>
          <a:xfrm>
            <a:off x="311700" y="1225225"/>
            <a:ext cx="55668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suggests two new mechanisms for where ties come from: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951" name="Google Shape;951;p67"/>
          <p:cNvGrpSpPr/>
          <p:nvPr/>
        </p:nvGrpSpPr>
        <p:grpSpPr>
          <a:xfrm>
            <a:off x="1027590" y="2056524"/>
            <a:ext cx="4135005" cy="2753453"/>
            <a:chOff x="457300" y="1874050"/>
            <a:chExt cx="4519625" cy="3013850"/>
          </a:xfrm>
        </p:grpSpPr>
        <p:pic>
          <p:nvPicPr>
            <p:cNvPr id="952" name="Google Shape;952;p67"/>
            <p:cNvPicPr preferRelativeResize="0"/>
            <p:nvPr/>
          </p:nvPicPr>
          <p:blipFill rotWithShape="1">
            <a:blip r:embed="rId3">
              <a:alphaModFix/>
            </a:blip>
            <a:srcRect b="78822" l="19131" r="24569" t="10521"/>
            <a:stretch/>
          </p:blipFill>
          <p:spPr>
            <a:xfrm>
              <a:off x="457300" y="1874050"/>
              <a:ext cx="4199400" cy="115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" name="Google Shape;953;p67"/>
            <p:cNvSpPr txBox="1"/>
            <p:nvPr/>
          </p:nvSpPr>
          <p:spPr>
            <a:xfrm>
              <a:off x="777525" y="2968850"/>
              <a:ext cx="33726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circle to relation</a:t>
              </a:r>
              <a:endParaRPr/>
            </a:p>
          </p:txBody>
        </p:sp>
        <p:pic>
          <p:nvPicPr>
            <p:cNvPr id="954" name="Google Shape;954;p67"/>
            <p:cNvPicPr preferRelativeResize="0"/>
            <p:nvPr/>
          </p:nvPicPr>
          <p:blipFill rotWithShape="1">
            <a:blip r:embed="rId3">
              <a:alphaModFix/>
            </a:blip>
            <a:srcRect b="11530" l="26337" r="24518" t="79547"/>
            <a:stretch/>
          </p:blipFill>
          <p:spPr>
            <a:xfrm>
              <a:off x="549000" y="3378050"/>
              <a:ext cx="4164150" cy="110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5" name="Google Shape;955;p67"/>
            <p:cNvSpPr txBox="1"/>
            <p:nvPr/>
          </p:nvSpPr>
          <p:spPr>
            <a:xfrm>
              <a:off x="777525" y="4478700"/>
              <a:ext cx="41994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activity to relation</a:t>
              </a:r>
              <a:endParaRPr/>
            </a:p>
          </p:txBody>
        </p:sp>
      </p:grpSp>
      <p:sp>
        <p:nvSpPr>
          <p:cNvPr id="956" name="Google Shape;956;p67"/>
          <p:cNvSpPr/>
          <p:nvPr/>
        </p:nvSpPr>
        <p:spPr>
          <a:xfrm>
            <a:off x="6867750" y="26658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7" name="Google Shape;957;p67"/>
          <p:cNvSpPr/>
          <p:nvPr/>
        </p:nvSpPr>
        <p:spPr>
          <a:xfrm>
            <a:off x="5841613" y="1704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8" name="Google Shape;958;p67"/>
          <p:cNvSpPr/>
          <p:nvPr/>
        </p:nvSpPr>
        <p:spPr>
          <a:xfrm>
            <a:off x="7087723" y="14786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9" name="Google Shape;959;p67"/>
          <p:cNvSpPr/>
          <p:nvPr/>
        </p:nvSpPr>
        <p:spPr>
          <a:xfrm>
            <a:off x="8016434" y="19838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60" name="Google Shape;960;p67"/>
          <p:cNvSpPr/>
          <p:nvPr/>
        </p:nvSpPr>
        <p:spPr>
          <a:xfrm>
            <a:off x="5841613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61" name="Google Shape;961;p67"/>
          <p:cNvSpPr/>
          <p:nvPr/>
        </p:nvSpPr>
        <p:spPr>
          <a:xfrm>
            <a:off x="6929023" y="41791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62" name="Google Shape;962;p67"/>
          <p:cNvSpPr/>
          <p:nvPr/>
        </p:nvSpPr>
        <p:spPr>
          <a:xfrm>
            <a:off x="8016434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63" name="Google Shape;963;p67"/>
          <p:cNvSpPr/>
          <p:nvPr/>
        </p:nvSpPr>
        <p:spPr>
          <a:xfrm>
            <a:off x="5357538" y="28288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64" name="Google Shape;964;p67"/>
          <p:cNvSpPr/>
          <p:nvPr/>
        </p:nvSpPr>
        <p:spPr>
          <a:xfrm>
            <a:off x="8275938" y="28341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65" name="Google Shape;965;p67"/>
          <p:cNvCxnSpPr>
            <a:stCxn id="957" idx="3"/>
            <a:endCxn id="963" idx="0"/>
          </p:cNvCxnSpPr>
          <p:nvPr/>
        </p:nvCxnSpPr>
        <p:spPr>
          <a:xfrm flipH="1">
            <a:off x="5635710" y="2136083"/>
            <a:ext cx="287400" cy="692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67"/>
          <p:cNvCxnSpPr>
            <a:stCxn id="958" idx="3"/>
            <a:endCxn id="957" idx="6"/>
          </p:cNvCxnSpPr>
          <p:nvPr/>
        </p:nvCxnSpPr>
        <p:spPr>
          <a:xfrm flipH="1">
            <a:off x="6398221" y="19098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7"/>
          <p:cNvCxnSpPr>
            <a:stCxn id="958" idx="3"/>
            <a:endCxn id="963" idx="0"/>
          </p:cNvCxnSpPr>
          <p:nvPr/>
        </p:nvCxnSpPr>
        <p:spPr>
          <a:xfrm flipH="1">
            <a:off x="5635921" y="1909841"/>
            <a:ext cx="1533300" cy="919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7"/>
          <p:cNvCxnSpPr>
            <a:stCxn id="958" idx="3"/>
            <a:endCxn id="960" idx="0"/>
          </p:cNvCxnSpPr>
          <p:nvPr/>
        </p:nvCxnSpPr>
        <p:spPr>
          <a:xfrm flipH="1">
            <a:off x="6119821" y="19098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67"/>
          <p:cNvCxnSpPr>
            <a:stCxn id="963" idx="4"/>
            <a:endCxn id="960" idx="0"/>
          </p:cNvCxnSpPr>
          <p:nvPr/>
        </p:nvCxnSpPr>
        <p:spPr>
          <a:xfrm>
            <a:off x="5635788" y="3334093"/>
            <a:ext cx="484200" cy="629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67"/>
          <p:cNvCxnSpPr>
            <a:stCxn id="962" idx="2"/>
            <a:endCxn id="961" idx="6"/>
          </p:cNvCxnSpPr>
          <p:nvPr/>
        </p:nvCxnSpPr>
        <p:spPr>
          <a:xfrm flipH="1">
            <a:off x="7485434" y="42161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67"/>
          <p:cNvCxnSpPr>
            <a:stCxn id="957" idx="4"/>
            <a:endCxn id="960" idx="0"/>
          </p:cNvCxnSpPr>
          <p:nvPr/>
        </p:nvCxnSpPr>
        <p:spPr>
          <a:xfrm>
            <a:off x="6119863" y="22100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67"/>
          <p:cNvCxnSpPr>
            <a:stCxn id="961" idx="2"/>
            <a:endCxn id="960" idx="6"/>
          </p:cNvCxnSpPr>
          <p:nvPr/>
        </p:nvCxnSpPr>
        <p:spPr>
          <a:xfrm rot="10800000">
            <a:off x="6398023" y="42160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67"/>
          <p:cNvCxnSpPr>
            <a:stCxn id="964" idx="4"/>
            <a:endCxn id="962" idx="0"/>
          </p:cNvCxnSpPr>
          <p:nvPr/>
        </p:nvCxnSpPr>
        <p:spPr>
          <a:xfrm flipH="1">
            <a:off x="8294688" y="33393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67"/>
          <p:cNvCxnSpPr>
            <a:stCxn id="957" idx="5"/>
            <a:endCxn id="956" idx="1"/>
          </p:cNvCxnSpPr>
          <p:nvPr/>
        </p:nvCxnSpPr>
        <p:spPr>
          <a:xfrm>
            <a:off x="6316615" y="21360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67"/>
          <p:cNvCxnSpPr>
            <a:stCxn id="963" idx="6"/>
            <a:endCxn id="956" idx="2"/>
          </p:cNvCxnSpPr>
          <p:nvPr/>
        </p:nvCxnSpPr>
        <p:spPr>
          <a:xfrm>
            <a:off x="5914038" y="3081493"/>
            <a:ext cx="953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67"/>
          <p:cNvCxnSpPr>
            <a:stCxn id="956" idx="3"/>
            <a:endCxn id="960" idx="7"/>
          </p:cNvCxnSpPr>
          <p:nvPr/>
        </p:nvCxnSpPr>
        <p:spPr>
          <a:xfrm flipH="1">
            <a:off x="6316518" y="33754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67"/>
          <p:cNvCxnSpPr>
            <a:stCxn id="956" idx="4"/>
            <a:endCxn id="961" idx="0"/>
          </p:cNvCxnSpPr>
          <p:nvPr/>
        </p:nvCxnSpPr>
        <p:spPr>
          <a:xfrm flipH="1">
            <a:off x="7207200" y="34971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67"/>
          <p:cNvCxnSpPr>
            <a:stCxn id="956" idx="5"/>
            <a:endCxn id="962" idx="1"/>
          </p:cNvCxnSpPr>
          <p:nvPr/>
        </p:nvCxnSpPr>
        <p:spPr>
          <a:xfrm>
            <a:off x="7580382" y="33754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67"/>
          <p:cNvCxnSpPr>
            <a:stCxn id="956" idx="6"/>
            <a:endCxn id="964" idx="2"/>
          </p:cNvCxnSpPr>
          <p:nvPr/>
        </p:nvCxnSpPr>
        <p:spPr>
          <a:xfrm>
            <a:off x="7702650" y="30815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67"/>
          <p:cNvCxnSpPr>
            <a:stCxn id="956" idx="7"/>
            <a:endCxn id="959" idx="3"/>
          </p:cNvCxnSpPr>
          <p:nvPr/>
        </p:nvCxnSpPr>
        <p:spPr>
          <a:xfrm flipH="1" rot="10800000">
            <a:off x="7580382" y="24149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67"/>
          <p:cNvCxnSpPr>
            <a:stCxn id="958" idx="4"/>
            <a:endCxn id="956" idx="0"/>
          </p:cNvCxnSpPr>
          <p:nvPr/>
        </p:nvCxnSpPr>
        <p:spPr>
          <a:xfrm flipH="1">
            <a:off x="7285273" y="19838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67"/>
          <p:cNvCxnSpPr>
            <a:stCxn id="964" idx="4"/>
            <a:endCxn id="960" idx="6"/>
          </p:cNvCxnSpPr>
          <p:nvPr/>
        </p:nvCxnSpPr>
        <p:spPr>
          <a:xfrm flipH="1">
            <a:off x="6398088" y="33393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988" name="Google Shape;988;p68"/>
          <p:cNvSpPr txBox="1"/>
          <p:nvPr>
            <p:ph idx="1" type="body"/>
          </p:nvPr>
        </p:nvSpPr>
        <p:spPr>
          <a:xfrm>
            <a:off x="311700" y="1225225"/>
            <a:ext cx="491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vary around several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Constraint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Time and energy that they require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emerge from pre-existing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form clubs, participate in common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intersecting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“Cross-cutting” circles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at the ego-network level may be the result of constraining overlapping foci</a:t>
            </a:r>
            <a:endParaRPr/>
          </a:p>
        </p:txBody>
      </p:sp>
      <p:sp>
        <p:nvSpPr>
          <p:cNvPr id="989" name="Google Shape;989;p68"/>
          <p:cNvSpPr/>
          <p:nvPr/>
        </p:nvSpPr>
        <p:spPr>
          <a:xfrm>
            <a:off x="6867750" y="26658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0" name="Google Shape;990;p68"/>
          <p:cNvSpPr/>
          <p:nvPr/>
        </p:nvSpPr>
        <p:spPr>
          <a:xfrm>
            <a:off x="5841613" y="1704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1" name="Google Shape;991;p68"/>
          <p:cNvSpPr/>
          <p:nvPr/>
        </p:nvSpPr>
        <p:spPr>
          <a:xfrm>
            <a:off x="7087723" y="14786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2" name="Google Shape;992;p68"/>
          <p:cNvSpPr/>
          <p:nvPr/>
        </p:nvSpPr>
        <p:spPr>
          <a:xfrm>
            <a:off x="8016434" y="19838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3" name="Google Shape;993;p68"/>
          <p:cNvSpPr/>
          <p:nvPr/>
        </p:nvSpPr>
        <p:spPr>
          <a:xfrm>
            <a:off x="5841613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4" name="Google Shape;994;p68"/>
          <p:cNvSpPr/>
          <p:nvPr/>
        </p:nvSpPr>
        <p:spPr>
          <a:xfrm>
            <a:off x="6929023" y="41791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5" name="Google Shape;995;p68"/>
          <p:cNvSpPr/>
          <p:nvPr/>
        </p:nvSpPr>
        <p:spPr>
          <a:xfrm>
            <a:off x="8016434" y="39635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6" name="Google Shape;996;p68"/>
          <p:cNvSpPr/>
          <p:nvPr/>
        </p:nvSpPr>
        <p:spPr>
          <a:xfrm>
            <a:off x="5357538" y="28288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7" name="Google Shape;997;p68"/>
          <p:cNvSpPr/>
          <p:nvPr/>
        </p:nvSpPr>
        <p:spPr>
          <a:xfrm>
            <a:off x="8275938" y="28341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98" name="Google Shape;998;p68"/>
          <p:cNvCxnSpPr>
            <a:stCxn id="990" idx="3"/>
            <a:endCxn id="996" idx="0"/>
          </p:cNvCxnSpPr>
          <p:nvPr/>
        </p:nvCxnSpPr>
        <p:spPr>
          <a:xfrm flipH="1">
            <a:off x="5635710" y="2136083"/>
            <a:ext cx="287400" cy="692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68"/>
          <p:cNvCxnSpPr>
            <a:stCxn id="991" idx="3"/>
            <a:endCxn id="990" idx="6"/>
          </p:cNvCxnSpPr>
          <p:nvPr/>
        </p:nvCxnSpPr>
        <p:spPr>
          <a:xfrm flipH="1">
            <a:off x="6398221" y="19098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68"/>
          <p:cNvCxnSpPr>
            <a:stCxn id="991" idx="3"/>
            <a:endCxn id="996" idx="0"/>
          </p:cNvCxnSpPr>
          <p:nvPr/>
        </p:nvCxnSpPr>
        <p:spPr>
          <a:xfrm flipH="1">
            <a:off x="5635921" y="1909841"/>
            <a:ext cx="1533300" cy="919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68"/>
          <p:cNvCxnSpPr>
            <a:stCxn id="991" idx="3"/>
            <a:endCxn id="993" idx="0"/>
          </p:cNvCxnSpPr>
          <p:nvPr/>
        </p:nvCxnSpPr>
        <p:spPr>
          <a:xfrm flipH="1">
            <a:off x="6119821" y="19098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68"/>
          <p:cNvCxnSpPr>
            <a:stCxn id="996" idx="4"/>
            <a:endCxn id="993" idx="0"/>
          </p:cNvCxnSpPr>
          <p:nvPr/>
        </p:nvCxnSpPr>
        <p:spPr>
          <a:xfrm>
            <a:off x="5635788" y="3334093"/>
            <a:ext cx="484200" cy="629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68"/>
          <p:cNvCxnSpPr>
            <a:stCxn id="995" idx="2"/>
            <a:endCxn id="994" idx="6"/>
          </p:cNvCxnSpPr>
          <p:nvPr/>
        </p:nvCxnSpPr>
        <p:spPr>
          <a:xfrm flipH="1">
            <a:off x="7485434" y="42161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68"/>
          <p:cNvCxnSpPr>
            <a:stCxn id="990" idx="4"/>
            <a:endCxn id="993" idx="0"/>
          </p:cNvCxnSpPr>
          <p:nvPr/>
        </p:nvCxnSpPr>
        <p:spPr>
          <a:xfrm>
            <a:off x="6119863" y="22100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68"/>
          <p:cNvCxnSpPr>
            <a:stCxn id="994" idx="2"/>
            <a:endCxn id="993" idx="6"/>
          </p:cNvCxnSpPr>
          <p:nvPr/>
        </p:nvCxnSpPr>
        <p:spPr>
          <a:xfrm rot="10800000">
            <a:off x="6398023" y="42160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68"/>
          <p:cNvCxnSpPr>
            <a:stCxn id="997" idx="4"/>
            <a:endCxn id="995" idx="0"/>
          </p:cNvCxnSpPr>
          <p:nvPr/>
        </p:nvCxnSpPr>
        <p:spPr>
          <a:xfrm flipH="1">
            <a:off x="8294688" y="33393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68"/>
          <p:cNvCxnSpPr>
            <a:stCxn id="990" idx="5"/>
            <a:endCxn id="989" idx="1"/>
          </p:cNvCxnSpPr>
          <p:nvPr/>
        </p:nvCxnSpPr>
        <p:spPr>
          <a:xfrm>
            <a:off x="6316615" y="21360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68"/>
          <p:cNvCxnSpPr>
            <a:stCxn id="996" idx="6"/>
            <a:endCxn id="989" idx="2"/>
          </p:cNvCxnSpPr>
          <p:nvPr/>
        </p:nvCxnSpPr>
        <p:spPr>
          <a:xfrm>
            <a:off x="5914038" y="3081493"/>
            <a:ext cx="953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9" name="Google Shape;1009;p68"/>
          <p:cNvCxnSpPr>
            <a:stCxn id="989" idx="3"/>
            <a:endCxn id="993" idx="7"/>
          </p:cNvCxnSpPr>
          <p:nvPr/>
        </p:nvCxnSpPr>
        <p:spPr>
          <a:xfrm flipH="1">
            <a:off x="6316518" y="33754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68"/>
          <p:cNvCxnSpPr>
            <a:stCxn id="989" idx="4"/>
            <a:endCxn id="994" idx="0"/>
          </p:cNvCxnSpPr>
          <p:nvPr/>
        </p:nvCxnSpPr>
        <p:spPr>
          <a:xfrm flipH="1">
            <a:off x="7207200" y="34971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68"/>
          <p:cNvCxnSpPr>
            <a:stCxn id="989" idx="5"/>
            <a:endCxn id="995" idx="1"/>
          </p:cNvCxnSpPr>
          <p:nvPr/>
        </p:nvCxnSpPr>
        <p:spPr>
          <a:xfrm>
            <a:off x="7580382" y="33754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68"/>
          <p:cNvCxnSpPr>
            <a:stCxn id="989" idx="6"/>
            <a:endCxn id="997" idx="2"/>
          </p:cNvCxnSpPr>
          <p:nvPr/>
        </p:nvCxnSpPr>
        <p:spPr>
          <a:xfrm>
            <a:off x="7702650" y="30815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68"/>
          <p:cNvCxnSpPr>
            <a:stCxn id="989" idx="7"/>
            <a:endCxn id="992" idx="3"/>
          </p:cNvCxnSpPr>
          <p:nvPr/>
        </p:nvCxnSpPr>
        <p:spPr>
          <a:xfrm flipH="1" rot="10800000">
            <a:off x="7580382" y="24149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68"/>
          <p:cNvCxnSpPr>
            <a:stCxn id="991" idx="4"/>
            <a:endCxn id="989" idx="0"/>
          </p:cNvCxnSpPr>
          <p:nvPr/>
        </p:nvCxnSpPr>
        <p:spPr>
          <a:xfrm flipH="1">
            <a:off x="7285273" y="19838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68"/>
          <p:cNvCxnSpPr>
            <a:stCxn id="997" idx="4"/>
            <a:endCxn id="993" idx="6"/>
          </p:cNvCxnSpPr>
          <p:nvPr/>
        </p:nvCxnSpPr>
        <p:spPr>
          <a:xfrm flipH="1">
            <a:off x="6398088" y="33393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9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1021" name="Google Shape;1021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id="1022" name="Google Shape;102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2" name="Google Shape;1032;p69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1033" name="Google Shape;1033;p69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34" name="Google Shape;1034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35" name="Google Shape;1035;p69"/>
            <p:cNvCxnSpPr>
              <a:stCxn id="1034" idx="0"/>
              <a:endCxn id="1036" idx="2"/>
            </p:cNvCxnSpPr>
            <p:nvPr/>
          </p:nvCxnSpPr>
          <p:spPr>
            <a:xfrm rot="10800000">
              <a:off x="813430" y="3837525"/>
              <a:ext cx="2847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7" name="Google Shape;1037;p69"/>
            <p:cNvCxnSpPr>
              <a:stCxn id="1034" idx="0"/>
              <a:endCxn id="1038" idx="2"/>
            </p:cNvCxnSpPr>
            <p:nvPr/>
          </p:nvCxnSpPr>
          <p:spPr>
            <a:xfrm flipH="1" rot="10800000">
              <a:off x="1098130" y="3837525"/>
              <a:ext cx="2289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9" name="Google Shape;1039;p69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1040" name="Google Shape;1040;p69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1" name="Google Shape;1041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3" name="Google Shape;1043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44" name="Google Shape;1044;p69"/>
            <p:cNvCxnSpPr>
              <a:stCxn id="1041" idx="1"/>
              <a:endCxn id="1042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69"/>
            <p:cNvCxnSpPr>
              <a:stCxn id="1041" idx="0"/>
              <a:endCxn id="1046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7" name="Google Shape;1047;p69"/>
            <p:cNvCxnSpPr>
              <a:stCxn id="1041" idx="0"/>
              <a:endCxn id="1048" idx="2"/>
            </p:cNvCxnSpPr>
            <p:nvPr/>
          </p:nvCxnSpPr>
          <p:spPr>
            <a:xfrm flipH="1" rot="10800000">
              <a:off x="3407580" y="3908625"/>
              <a:ext cx="183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9" name="Google Shape;1049;p69"/>
            <p:cNvCxnSpPr>
              <a:stCxn id="1043" idx="2"/>
              <a:endCxn id="1041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046" name="Google Shape;1046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0" name="Google Shape;1050;p69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biased</a:t>
            </a:r>
            <a:endParaRPr/>
          </a:p>
        </p:txBody>
      </p:sp>
      <p:sp>
        <p:nvSpPr>
          <p:cNvPr id="1051" name="Google Shape;1051;p69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Biased</a:t>
            </a:r>
            <a:endParaRPr/>
          </a:p>
        </p:txBody>
      </p:sp>
      <p:pic>
        <p:nvPicPr>
          <p:cNvPr id="1052" name="Google Shape;105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69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1059" name="Google Shape;1059;p69"/>
          <p:cNvCxnSpPr>
            <a:stCxn id="1058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69"/>
          <p:cNvCxnSpPr>
            <a:stCxn id="1058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36" name="Google Shape;103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161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686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63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9"/>
          <p:cNvSpPr txBox="1"/>
          <p:nvPr/>
        </p:nvSpPr>
        <p:spPr>
          <a:xfrm>
            <a:off x="15923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</a:t>
            </a:r>
            <a:endParaRPr/>
          </a:p>
        </p:txBody>
      </p:sp>
      <p:sp>
        <p:nvSpPr>
          <p:cNvPr id="1062" name="Google Shape;1062;p69"/>
          <p:cNvSpPr txBox="1"/>
          <p:nvPr/>
        </p:nvSpPr>
        <p:spPr>
          <a:xfrm>
            <a:off x="31579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</a:t>
            </a:r>
            <a:endParaRPr/>
          </a:p>
        </p:txBody>
      </p:sp>
      <p:pic>
        <p:nvPicPr>
          <p:cNvPr id="1063" name="Google Shape;1063;p69"/>
          <p:cNvPicPr preferRelativeResize="0"/>
          <p:nvPr/>
        </p:nvPicPr>
        <p:blipFill rotWithShape="1">
          <a:blip r:embed="rId5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69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Peter Marsden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1070" name="Google Shape;1070;p70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pic>
        <p:nvPicPr>
          <p:cNvPr id="1071" name="Google Shape;1071;p70"/>
          <p:cNvPicPr preferRelativeResize="0"/>
          <p:nvPr/>
        </p:nvPicPr>
        <p:blipFill rotWithShape="1">
          <a:blip r:embed="rId3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70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V. Marsden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1078" name="Google Shape;1078;p71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sp>
        <p:nvSpPr>
          <p:cNvPr id="1079" name="Google Shape;1079;p71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080" name="Google Shape;1080;p71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081" name="Google Shape;1081;p71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71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71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71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71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71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71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8" name="Google Shape;1088;p71"/>
          <p:cNvCxnSpPr>
            <a:stCxn id="1080" idx="6"/>
            <a:endCxn id="1084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71"/>
          <p:cNvCxnSpPr>
            <a:stCxn id="1080" idx="6"/>
            <a:endCxn id="1087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71"/>
          <p:cNvCxnSpPr>
            <a:stCxn id="1079" idx="6"/>
            <a:endCxn id="1081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71"/>
          <p:cNvCxnSpPr>
            <a:stCxn id="1079" idx="6"/>
            <a:endCxn id="1082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71"/>
          <p:cNvCxnSpPr>
            <a:stCxn id="1079" idx="6"/>
            <a:endCxn id="1083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71"/>
          <p:cNvCxnSpPr>
            <a:stCxn id="1079" idx="6"/>
            <a:endCxn id="1084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71"/>
          <p:cNvCxnSpPr>
            <a:stCxn id="1079" idx="6"/>
            <a:endCxn id="1087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71"/>
          <p:cNvCxnSpPr>
            <a:stCxn id="1080" idx="6"/>
            <a:endCxn id="1086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71"/>
          <p:cNvCxnSpPr>
            <a:stCxn id="1080" idx="6"/>
            <a:endCxn id="1082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1102" name="Google Shape;1102;p72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103" name="Google Shape;1103;p72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104" name="Google Shape;1104;p72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72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72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72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72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72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72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1" name="Google Shape;1111;p72"/>
          <p:cNvCxnSpPr>
            <a:stCxn id="1103" idx="6"/>
            <a:endCxn id="1107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72"/>
          <p:cNvCxnSpPr>
            <a:stCxn id="1103" idx="6"/>
            <a:endCxn id="1110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72"/>
          <p:cNvCxnSpPr>
            <a:stCxn id="1102" idx="6"/>
            <a:endCxn id="1104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72"/>
          <p:cNvCxnSpPr>
            <a:stCxn id="1102" idx="6"/>
            <a:endCxn id="1105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72"/>
          <p:cNvCxnSpPr>
            <a:stCxn id="1102" idx="6"/>
            <a:endCxn id="1106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72"/>
          <p:cNvCxnSpPr>
            <a:stCxn id="1102" idx="6"/>
            <a:endCxn id="1107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72"/>
          <p:cNvCxnSpPr>
            <a:stCxn id="1102" idx="6"/>
            <a:endCxn id="1110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72"/>
          <p:cNvCxnSpPr>
            <a:stCxn id="1103" idx="6"/>
            <a:endCxn id="1109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72"/>
          <p:cNvCxnSpPr>
            <a:stCxn id="1103" idx="6"/>
            <a:endCxn id="1105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Screenshot 2017-10-12 at 08.42.45.png" id="1120" name="Google Shape;1120;p72"/>
          <p:cNvPicPr preferRelativeResize="0"/>
          <p:nvPr/>
        </p:nvPicPr>
        <p:blipFill rotWithShape="1">
          <a:blip r:embed="rId3">
            <a:alphaModFix/>
          </a:blip>
          <a:srcRect b="5666" l="22272" r="24023" t="25407"/>
          <a:stretch/>
        </p:blipFill>
        <p:spPr>
          <a:xfrm>
            <a:off x="949025" y="1103825"/>
            <a:ext cx="5082326" cy="36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126" name="Google Shape;1126;p73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27" name="Google Shape;1127;p73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28" name="Google Shape;1128;p73"/>
          <p:cNvSpPr/>
          <p:nvPr/>
        </p:nvSpPr>
        <p:spPr>
          <a:xfrm>
            <a:off x="5401988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29" name="Google Shape;1129;p73"/>
          <p:cNvSpPr/>
          <p:nvPr/>
        </p:nvSpPr>
        <p:spPr>
          <a:xfrm>
            <a:off x="6648098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0" name="Google Shape;1130;p73"/>
          <p:cNvSpPr/>
          <p:nvPr/>
        </p:nvSpPr>
        <p:spPr>
          <a:xfrm>
            <a:off x="7576809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1" name="Google Shape;1131;p73"/>
          <p:cNvSpPr/>
          <p:nvPr/>
        </p:nvSpPr>
        <p:spPr>
          <a:xfrm>
            <a:off x="5401988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2" name="Google Shape;1132;p73"/>
          <p:cNvSpPr/>
          <p:nvPr/>
        </p:nvSpPr>
        <p:spPr>
          <a:xfrm>
            <a:off x="6489398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3" name="Google Shape;1133;p73"/>
          <p:cNvSpPr/>
          <p:nvPr/>
        </p:nvSpPr>
        <p:spPr>
          <a:xfrm>
            <a:off x="7576809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4" name="Google Shape;1134;p73"/>
          <p:cNvSpPr/>
          <p:nvPr/>
        </p:nvSpPr>
        <p:spPr>
          <a:xfrm>
            <a:off x="4918063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35" name="Google Shape;1135;p73"/>
          <p:cNvSpPr/>
          <p:nvPr/>
        </p:nvSpPr>
        <p:spPr>
          <a:xfrm>
            <a:off x="7836313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36" name="Google Shape;1136;p73"/>
          <p:cNvCxnSpPr>
            <a:stCxn id="1128" idx="3"/>
            <a:endCxn id="1134" idx="0"/>
          </p:cNvCxnSpPr>
          <p:nvPr/>
        </p:nvCxnSpPr>
        <p:spPr>
          <a:xfrm flipH="1">
            <a:off x="5196385" y="1804683"/>
            <a:ext cx="287100" cy="698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73"/>
          <p:cNvCxnSpPr>
            <a:stCxn id="1129" idx="3"/>
            <a:endCxn id="1128" idx="6"/>
          </p:cNvCxnSpPr>
          <p:nvPr/>
        </p:nvCxnSpPr>
        <p:spPr>
          <a:xfrm flipH="1">
            <a:off x="5958596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73"/>
          <p:cNvCxnSpPr>
            <a:stCxn id="1129" idx="3"/>
            <a:endCxn id="1134" idx="0"/>
          </p:cNvCxnSpPr>
          <p:nvPr/>
        </p:nvCxnSpPr>
        <p:spPr>
          <a:xfrm flipH="1">
            <a:off x="5196296" y="1578441"/>
            <a:ext cx="1533300" cy="924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73"/>
          <p:cNvCxnSpPr>
            <a:stCxn id="1129" idx="3"/>
            <a:endCxn id="1131" idx="0"/>
          </p:cNvCxnSpPr>
          <p:nvPr/>
        </p:nvCxnSpPr>
        <p:spPr>
          <a:xfrm flipH="1">
            <a:off x="5680196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" name="Google Shape;1140;p73"/>
          <p:cNvCxnSpPr>
            <a:stCxn id="1134" idx="4"/>
            <a:endCxn id="1131" idx="0"/>
          </p:cNvCxnSpPr>
          <p:nvPr/>
        </p:nvCxnSpPr>
        <p:spPr>
          <a:xfrm>
            <a:off x="5196313" y="3007993"/>
            <a:ext cx="4839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1" name="Google Shape;1141;p73"/>
          <p:cNvCxnSpPr>
            <a:stCxn id="1133" idx="2"/>
            <a:endCxn id="1132" idx="6"/>
          </p:cNvCxnSpPr>
          <p:nvPr/>
        </p:nvCxnSpPr>
        <p:spPr>
          <a:xfrm flipH="1">
            <a:off x="7045809" y="38847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73"/>
          <p:cNvCxnSpPr>
            <a:stCxn id="1128" idx="4"/>
            <a:endCxn id="1131" idx="0"/>
          </p:cNvCxnSpPr>
          <p:nvPr/>
        </p:nvCxnSpPr>
        <p:spPr>
          <a:xfrm>
            <a:off x="5680238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73"/>
          <p:cNvCxnSpPr>
            <a:stCxn id="1132" idx="2"/>
            <a:endCxn id="1131" idx="6"/>
          </p:cNvCxnSpPr>
          <p:nvPr/>
        </p:nvCxnSpPr>
        <p:spPr>
          <a:xfrm rot="10800000">
            <a:off x="5958398" y="38846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73"/>
          <p:cNvCxnSpPr>
            <a:stCxn id="1135" idx="4"/>
            <a:endCxn id="1133" idx="0"/>
          </p:cNvCxnSpPr>
          <p:nvPr/>
        </p:nvCxnSpPr>
        <p:spPr>
          <a:xfrm flipH="1">
            <a:off x="7855063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73"/>
          <p:cNvCxnSpPr>
            <a:stCxn id="1128" idx="5"/>
            <a:endCxn id="1127" idx="1"/>
          </p:cNvCxnSpPr>
          <p:nvPr/>
        </p:nvCxnSpPr>
        <p:spPr>
          <a:xfrm>
            <a:off x="5876990" y="18046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73"/>
          <p:cNvCxnSpPr>
            <a:stCxn id="1134" idx="6"/>
            <a:endCxn id="1127" idx="2"/>
          </p:cNvCxnSpPr>
          <p:nvPr/>
        </p:nvCxnSpPr>
        <p:spPr>
          <a:xfrm flipH="1" rot="10800000">
            <a:off x="5474563" y="2749993"/>
            <a:ext cx="9537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73"/>
          <p:cNvCxnSpPr>
            <a:stCxn id="1127" idx="3"/>
            <a:endCxn id="1131" idx="7"/>
          </p:cNvCxnSpPr>
          <p:nvPr/>
        </p:nvCxnSpPr>
        <p:spPr>
          <a:xfrm flipH="1">
            <a:off x="5876893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73"/>
          <p:cNvCxnSpPr>
            <a:stCxn id="1127" idx="4"/>
            <a:endCxn id="1132" idx="0"/>
          </p:cNvCxnSpPr>
          <p:nvPr/>
        </p:nvCxnSpPr>
        <p:spPr>
          <a:xfrm flipH="1">
            <a:off x="6767575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73"/>
          <p:cNvCxnSpPr>
            <a:stCxn id="1127" idx="5"/>
            <a:endCxn id="1133" idx="1"/>
          </p:cNvCxnSpPr>
          <p:nvPr/>
        </p:nvCxnSpPr>
        <p:spPr>
          <a:xfrm>
            <a:off x="7140757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73"/>
          <p:cNvCxnSpPr>
            <a:stCxn id="1127" idx="6"/>
            <a:endCxn id="1135" idx="2"/>
          </p:cNvCxnSpPr>
          <p:nvPr/>
        </p:nvCxnSpPr>
        <p:spPr>
          <a:xfrm>
            <a:off x="7263025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73"/>
          <p:cNvCxnSpPr>
            <a:stCxn id="1127" idx="7"/>
            <a:endCxn id="1130" idx="3"/>
          </p:cNvCxnSpPr>
          <p:nvPr/>
        </p:nvCxnSpPr>
        <p:spPr>
          <a:xfrm flipH="1" rot="10800000">
            <a:off x="7140757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73"/>
          <p:cNvCxnSpPr>
            <a:stCxn id="1129" idx="4"/>
            <a:endCxn id="1127" idx="0"/>
          </p:cNvCxnSpPr>
          <p:nvPr/>
        </p:nvCxnSpPr>
        <p:spPr>
          <a:xfrm flipH="1">
            <a:off x="6845648" y="16524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73"/>
          <p:cNvCxnSpPr>
            <a:stCxn id="1135" idx="4"/>
            <a:endCxn id="1131" idx="6"/>
          </p:cNvCxnSpPr>
          <p:nvPr/>
        </p:nvCxnSpPr>
        <p:spPr>
          <a:xfrm flipH="1">
            <a:off x="5958463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159" name="Google Shape;1159;p74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ego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Size</a:t>
            </a:r>
            <a:r>
              <a:rPr lang="en"/>
              <a:t>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many total alters?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Diversity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Alters different from ego?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Composition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Prop. of certain types of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Clustering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 alters densely or loosely connected to one another?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0" name="Google Shape;1160;p74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1" name="Google Shape;1161;p74"/>
          <p:cNvSpPr/>
          <p:nvPr/>
        </p:nvSpPr>
        <p:spPr>
          <a:xfrm>
            <a:off x="5401988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2" name="Google Shape;1162;p74"/>
          <p:cNvSpPr/>
          <p:nvPr/>
        </p:nvSpPr>
        <p:spPr>
          <a:xfrm>
            <a:off x="6648098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3" name="Google Shape;1163;p74"/>
          <p:cNvSpPr/>
          <p:nvPr/>
        </p:nvSpPr>
        <p:spPr>
          <a:xfrm>
            <a:off x="7576809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4" name="Google Shape;1164;p74"/>
          <p:cNvSpPr/>
          <p:nvPr/>
        </p:nvSpPr>
        <p:spPr>
          <a:xfrm>
            <a:off x="5401988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5" name="Google Shape;1165;p74"/>
          <p:cNvSpPr/>
          <p:nvPr/>
        </p:nvSpPr>
        <p:spPr>
          <a:xfrm>
            <a:off x="6489398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6" name="Google Shape;1166;p74"/>
          <p:cNvSpPr/>
          <p:nvPr/>
        </p:nvSpPr>
        <p:spPr>
          <a:xfrm>
            <a:off x="7576809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7" name="Google Shape;1167;p74"/>
          <p:cNvSpPr/>
          <p:nvPr/>
        </p:nvSpPr>
        <p:spPr>
          <a:xfrm>
            <a:off x="4918063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8" name="Google Shape;1168;p74"/>
          <p:cNvSpPr/>
          <p:nvPr/>
        </p:nvSpPr>
        <p:spPr>
          <a:xfrm>
            <a:off x="7836313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69" name="Google Shape;1169;p74"/>
          <p:cNvCxnSpPr>
            <a:stCxn id="1161" idx="3"/>
            <a:endCxn id="1167" idx="0"/>
          </p:cNvCxnSpPr>
          <p:nvPr/>
        </p:nvCxnSpPr>
        <p:spPr>
          <a:xfrm flipH="1">
            <a:off x="5196385" y="1804683"/>
            <a:ext cx="287100" cy="698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74"/>
          <p:cNvCxnSpPr>
            <a:stCxn id="1162" idx="3"/>
            <a:endCxn id="1161" idx="6"/>
          </p:cNvCxnSpPr>
          <p:nvPr/>
        </p:nvCxnSpPr>
        <p:spPr>
          <a:xfrm flipH="1">
            <a:off x="5958596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74"/>
          <p:cNvCxnSpPr>
            <a:stCxn id="1162" idx="3"/>
            <a:endCxn id="1167" idx="0"/>
          </p:cNvCxnSpPr>
          <p:nvPr/>
        </p:nvCxnSpPr>
        <p:spPr>
          <a:xfrm flipH="1">
            <a:off x="5196296" y="1578441"/>
            <a:ext cx="1533300" cy="924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74"/>
          <p:cNvCxnSpPr>
            <a:stCxn id="1162" idx="3"/>
            <a:endCxn id="1164" idx="0"/>
          </p:cNvCxnSpPr>
          <p:nvPr/>
        </p:nvCxnSpPr>
        <p:spPr>
          <a:xfrm flipH="1">
            <a:off x="5680196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74"/>
          <p:cNvCxnSpPr>
            <a:stCxn id="1167" idx="4"/>
            <a:endCxn id="1164" idx="0"/>
          </p:cNvCxnSpPr>
          <p:nvPr/>
        </p:nvCxnSpPr>
        <p:spPr>
          <a:xfrm>
            <a:off x="5196313" y="3007993"/>
            <a:ext cx="4839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74"/>
          <p:cNvCxnSpPr>
            <a:stCxn id="1166" idx="2"/>
            <a:endCxn id="1165" idx="6"/>
          </p:cNvCxnSpPr>
          <p:nvPr/>
        </p:nvCxnSpPr>
        <p:spPr>
          <a:xfrm flipH="1">
            <a:off x="7045809" y="3884718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74"/>
          <p:cNvCxnSpPr>
            <a:stCxn id="1161" idx="4"/>
            <a:endCxn id="1164" idx="0"/>
          </p:cNvCxnSpPr>
          <p:nvPr/>
        </p:nvCxnSpPr>
        <p:spPr>
          <a:xfrm>
            <a:off x="5680238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74"/>
          <p:cNvCxnSpPr>
            <a:stCxn id="1165" idx="2"/>
            <a:endCxn id="1164" idx="6"/>
          </p:cNvCxnSpPr>
          <p:nvPr/>
        </p:nvCxnSpPr>
        <p:spPr>
          <a:xfrm rot="10800000">
            <a:off x="5958398" y="3884676"/>
            <a:ext cx="531000" cy="21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74"/>
          <p:cNvCxnSpPr>
            <a:stCxn id="1168" idx="4"/>
            <a:endCxn id="1166" idx="0"/>
          </p:cNvCxnSpPr>
          <p:nvPr/>
        </p:nvCxnSpPr>
        <p:spPr>
          <a:xfrm flipH="1">
            <a:off x="7855063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74"/>
          <p:cNvCxnSpPr>
            <a:stCxn id="1161" idx="5"/>
            <a:endCxn id="1160" idx="1"/>
          </p:cNvCxnSpPr>
          <p:nvPr/>
        </p:nvCxnSpPr>
        <p:spPr>
          <a:xfrm>
            <a:off x="5876990" y="18046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74"/>
          <p:cNvCxnSpPr>
            <a:stCxn id="1167" idx="6"/>
            <a:endCxn id="1160" idx="2"/>
          </p:cNvCxnSpPr>
          <p:nvPr/>
        </p:nvCxnSpPr>
        <p:spPr>
          <a:xfrm flipH="1" rot="10800000">
            <a:off x="5474563" y="2749993"/>
            <a:ext cx="9537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74"/>
          <p:cNvCxnSpPr>
            <a:stCxn id="1160" idx="3"/>
            <a:endCxn id="1164" idx="7"/>
          </p:cNvCxnSpPr>
          <p:nvPr/>
        </p:nvCxnSpPr>
        <p:spPr>
          <a:xfrm flipH="1">
            <a:off x="5876893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74"/>
          <p:cNvCxnSpPr>
            <a:stCxn id="1160" idx="4"/>
            <a:endCxn id="1165" idx="0"/>
          </p:cNvCxnSpPr>
          <p:nvPr/>
        </p:nvCxnSpPr>
        <p:spPr>
          <a:xfrm flipH="1">
            <a:off x="6767575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74"/>
          <p:cNvCxnSpPr>
            <a:stCxn id="1160" idx="5"/>
            <a:endCxn id="1166" idx="1"/>
          </p:cNvCxnSpPr>
          <p:nvPr/>
        </p:nvCxnSpPr>
        <p:spPr>
          <a:xfrm>
            <a:off x="7140757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74"/>
          <p:cNvCxnSpPr>
            <a:stCxn id="1160" idx="6"/>
            <a:endCxn id="1168" idx="2"/>
          </p:cNvCxnSpPr>
          <p:nvPr/>
        </p:nvCxnSpPr>
        <p:spPr>
          <a:xfrm>
            <a:off x="7263025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74"/>
          <p:cNvCxnSpPr>
            <a:stCxn id="1160" idx="7"/>
            <a:endCxn id="1163" idx="3"/>
          </p:cNvCxnSpPr>
          <p:nvPr/>
        </p:nvCxnSpPr>
        <p:spPr>
          <a:xfrm flipH="1" rot="10800000">
            <a:off x="7140757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74"/>
          <p:cNvCxnSpPr>
            <a:stCxn id="1162" idx="4"/>
            <a:endCxn id="1160" idx="0"/>
          </p:cNvCxnSpPr>
          <p:nvPr/>
        </p:nvCxnSpPr>
        <p:spPr>
          <a:xfrm flipH="1">
            <a:off x="6845648" y="16524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74"/>
          <p:cNvCxnSpPr>
            <a:stCxn id="1168" idx="4"/>
            <a:endCxn id="1164" idx="6"/>
          </p:cNvCxnSpPr>
          <p:nvPr/>
        </p:nvCxnSpPr>
        <p:spPr>
          <a:xfrm flipH="1">
            <a:off x="5958463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192" name="Google Shape;1192;p75"/>
          <p:cNvSpPr txBox="1"/>
          <p:nvPr>
            <p:ph idx="1" type="body"/>
          </p:nvPr>
        </p:nvSpPr>
        <p:spPr>
          <a:xfrm>
            <a:off x="311700" y="1225225"/>
            <a:ext cx="41610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ego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Size</a:t>
            </a:r>
            <a:r>
              <a:rPr lang="en"/>
              <a:t>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ego-alter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Diversity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Variation in alter attributes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Homophily/Heterophily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Ties to alter same/different from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Composition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Prop. of certain types of alter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Clustering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Density of alter-alter network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1193" name="Google Shape;1193;p75"/>
          <p:cNvGraphicFramePr/>
          <p:nvPr/>
        </p:nvGraphicFramePr>
        <p:xfrm>
          <a:off x="4501650" y="122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1100100"/>
                <a:gridCol w="1100100"/>
                <a:gridCol w="1100100"/>
                <a:gridCol w="1100100"/>
              </a:tblGrid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Measure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Ego-alter ties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Alter-Alter Ties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Attributes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Size</a:t>
                      </a:r>
                      <a:endParaRPr i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Diversity</a:t>
                      </a:r>
                      <a:endParaRPr i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Homophily</a:t>
                      </a:r>
                      <a:endParaRPr i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Composition</a:t>
                      </a:r>
                      <a:endParaRPr i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Clustering</a:t>
                      </a:r>
                      <a:endParaRPr i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1199" name="Google Shape;1199;p76"/>
          <p:cNvSpPr/>
          <p:nvPr/>
        </p:nvSpPr>
        <p:spPr>
          <a:xfrm>
            <a:off x="1777200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0" name="Google Shape;1200;p76"/>
          <p:cNvSpPr/>
          <p:nvPr/>
        </p:nvSpPr>
        <p:spPr>
          <a:xfrm>
            <a:off x="7510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1" name="Google Shape;1201;p76"/>
          <p:cNvSpPr/>
          <p:nvPr/>
        </p:nvSpPr>
        <p:spPr>
          <a:xfrm>
            <a:off x="19971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2" name="Google Shape;1202;p76"/>
          <p:cNvSpPr/>
          <p:nvPr/>
        </p:nvSpPr>
        <p:spPr>
          <a:xfrm>
            <a:off x="29258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3" name="Google Shape;1203;p76"/>
          <p:cNvSpPr/>
          <p:nvPr/>
        </p:nvSpPr>
        <p:spPr>
          <a:xfrm>
            <a:off x="7510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4" name="Google Shape;1204;p76"/>
          <p:cNvSpPr/>
          <p:nvPr/>
        </p:nvSpPr>
        <p:spPr>
          <a:xfrm>
            <a:off x="18384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5" name="Google Shape;1205;p76"/>
          <p:cNvSpPr/>
          <p:nvPr/>
        </p:nvSpPr>
        <p:spPr>
          <a:xfrm>
            <a:off x="29258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6" name="Google Shape;1206;p76"/>
          <p:cNvSpPr/>
          <p:nvPr/>
        </p:nvSpPr>
        <p:spPr>
          <a:xfrm>
            <a:off x="3116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07" name="Google Shape;1207;p76"/>
          <p:cNvSpPr/>
          <p:nvPr/>
        </p:nvSpPr>
        <p:spPr>
          <a:xfrm>
            <a:off x="31853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08" name="Google Shape;1208;p76"/>
          <p:cNvCxnSpPr>
            <a:stCxn id="1200" idx="3"/>
            <a:endCxn id="1206" idx="0"/>
          </p:cNvCxnSpPr>
          <p:nvPr/>
        </p:nvCxnSpPr>
        <p:spPr>
          <a:xfrm flipH="1">
            <a:off x="5898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76"/>
          <p:cNvCxnSpPr>
            <a:stCxn id="1201" idx="3"/>
            <a:endCxn id="1200" idx="6"/>
          </p:cNvCxnSpPr>
          <p:nvPr/>
        </p:nvCxnSpPr>
        <p:spPr>
          <a:xfrm flipH="1">
            <a:off x="13076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76"/>
          <p:cNvCxnSpPr>
            <a:stCxn id="1201" idx="3"/>
            <a:endCxn id="1206" idx="0"/>
          </p:cNvCxnSpPr>
          <p:nvPr/>
        </p:nvCxnSpPr>
        <p:spPr>
          <a:xfrm flipH="1">
            <a:off x="5900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76"/>
          <p:cNvCxnSpPr>
            <a:stCxn id="1201" idx="3"/>
            <a:endCxn id="1203" idx="0"/>
          </p:cNvCxnSpPr>
          <p:nvPr/>
        </p:nvCxnSpPr>
        <p:spPr>
          <a:xfrm flipH="1">
            <a:off x="10292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76"/>
          <p:cNvCxnSpPr>
            <a:stCxn id="1206" idx="4"/>
            <a:endCxn id="1203" idx="0"/>
          </p:cNvCxnSpPr>
          <p:nvPr/>
        </p:nvCxnSpPr>
        <p:spPr>
          <a:xfrm>
            <a:off x="5899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76"/>
          <p:cNvCxnSpPr>
            <a:stCxn id="1205" idx="2"/>
            <a:endCxn id="1204" idx="7"/>
          </p:cNvCxnSpPr>
          <p:nvPr/>
        </p:nvCxnSpPr>
        <p:spPr>
          <a:xfrm flipH="1">
            <a:off x="23135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4" name="Google Shape;1214;p76"/>
          <p:cNvCxnSpPr>
            <a:stCxn id="1200" idx="4"/>
            <a:endCxn id="1203" idx="0"/>
          </p:cNvCxnSpPr>
          <p:nvPr/>
        </p:nvCxnSpPr>
        <p:spPr>
          <a:xfrm>
            <a:off x="10293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76"/>
          <p:cNvCxnSpPr>
            <a:stCxn id="1204" idx="1"/>
            <a:endCxn id="1203" idx="6"/>
          </p:cNvCxnSpPr>
          <p:nvPr/>
        </p:nvCxnSpPr>
        <p:spPr>
          <a:xfrm rot="10800000">
            <a:off x="13076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76"/>
          <p:cNvCxnSpPr>
            <a:stCxn id="1207" idx="4"/>
            <a:endCxn id="1205" idx="0"/>
          </p:cNvCxnSpPr>
          <p:nvPr/>
        </p:nvCxnSpPr>
        <p:spPr>
          <a:xfrm flipH="1">
            <a:off x="32041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76"/>
          <p:cNvCxnSpPr>
            <a:stCxn id="1200" idx="5"/>
            <a:endCxn id="1199" idx="1"/>
          </p:cNvCxnSpPr>
          <p:nvPr/>
        </p:nvCxnSpPr>
        <p:spPr>
          <a:xfrm>
            <a:off x="1226065" y="1804683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76"/>
          <p:cNvCxnSpPr>
            <a:stCxn id="1206" idx="6"/>
            <a:endCxn id="1199" idx="2"/>
          </p:cNvCxnSpPr>
          <p:nvPr/>
        </p:nvCxnSpPr>
        <p:spPr>
          <a:xfrm flipH="1" rot="10800000">
            <a:off x="868188" y="2750068"/>
            <a:ext cx="909000" cy="22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76"/>
          <p:cNvCxnSpPr>
            <a:stCxn id="1199" idx="3"/>
            <a:endCxn id="1203" idx="7"/>
          </p:cNvCxnSpPr>
          <p:nvPr/>
        </p:nvCxnSpPr>
        <p:spPr>
          <a:xfrm flipH="1">
            <a:off x="1225968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76"/>
          <p:cNvCxnSpPr>
            <a:stCxn id="1199" idx="4"/>
            <a:endCxn id="1204" idx="0"/>
          </p:cNvCxnSpPr>
          <p:nvPr/>
        </p:nvCxnSpPr>
        <p:spPr>
          <a:xfrm flipH="1">
            <a:off x="2116650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76"/>
          <p:cNvCxnSpPr>
            <a:stCxn id="1199" idx="5"/>
            <a:endCxn id="1205" idx="1"/>
          </p:cNvCxnSpPr>
          <p:nvPr/>
        </p:nvCxnSpPr>
        <p:spPr>
          <a:xfrm>
            <a:off x="2489832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76"/>
          <p:cNvCxnSpPr>
            <a:stCxn id="1199" idx="6"/>
            <a:endCxn id="1207" idx="2"/>
          </p:cNvCxnSpPr>
          <p:nvPr/>
        </p:nvCxnSpPr>
        <p:spPr>
          <a:xfrm>
            <a:off x="2612100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76"/>
          <p:cNvCxnSpPr>
            <a:stCxn id="1199" idx="7"/>
            <a:endCxn id="1202" idx="3"/>
          </p:cNvCxnSpPr>
          <p:nvPr/>
        </p:nvCxnSpPr>
        <p:spPr>
          <a:xfrm flipH="1" rot="10800000">
            <a:off x="2489832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76"/>
          <p:cNvCxnSpPr>
            <a:stCxn id="1201" idx="4"/>
            <a:endCxn id="1199" idx="0"/>
          </p:cNvCxnSpPr>
          <p:nvPr/>
        </p:nvCxnSpPr>
        <p:spPr>
          <a:xfrm flipH="1">
            <a:off x="2194723" y="1652426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76"/>
          <p:cNvCxnSpPr>
            <a:stCxn id="1207" idx="4"/>
            <a:endCxn id="1203" idx="6"/>
          </p:cNvCxnSpPr>
          <p:nvPr/>
        </p:nvCxnSpPr>
        <p:spPr>
          <a:xfrm flipH="1">
            <a:off x="13075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26" name="Google Shape;1226;p76"/>
          <p:cNvGraphicFramePr/>
          <p:nvPr/>
        </p:nvGraphicFramePr>
        <p:xfrm>
          <a:off x="5378913" y="1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227" name="Google Shape;1227;p76"/>
          <p:cNvSpPr/>
          <p:nvPr/>
        </p:nvSpPr>
        <p:spPr>
          <a:xfrm>
            <a:off x="4223775" y="2516075"/>
            <a:ext cx="953700" cy="52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8" name="Google Shape;1228;p76"/>
          <p:cNvCxnSpPr>
            <a:stCxn id="1207" idx="4"/>
            <a:endCxn id="1204" idx="7"/>
          </p:cNvCxnSpPr>
          <p:nvPr/>
        </p:nvCxnSpPr>
        <p:spPr>
          <a:xfrm flipH="1">
            <a:off x="23134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1234" name="Google Shape;1234;p77"/>
          <p:cNvSpPr/>
          <p:nvPr/>
        </p:nvSpPr>
        <p:spPr>
          <a:xfrm>
            <a:off x="4223775" y="2516075"/>
            <a:ext cx="953700" cy="52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77"/>
          <p:cNvSpPr txBox="1"/>
          <p:nvPr/>
        </p:nvSpPr>
        <p:spPr>
          <a:xfrm>
            <a:off x="3741900" y="4271050"/>
            <a:ext cx="34803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Forget about Ego!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We only care about alter-alter edges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6" name="Google Shape;1236;p77"/>
          <p:cNvSpPr/>
          <p:nvPr/>
        </p:nvSpPr>
        <p:spPr>
          <a:xfrm>
            <a:off x="7510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37" name="Google Shape;1237;p77"/>
          <p:cNvSpPr/>
          <p:nvPr/>
        </p:nvSpPr>
        <p:spPr>
          <a:xfrm>
            <a:off x="19971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38" name="Google Shape;1238;p77"/>
          <p:cNvSpPr/>
          <p:nvPr/>
        </p:nvSpPr>
        <p:spPr>
          <a:xfrm>
            <a:off x="29258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39" name="Google Shape;1239;p77"/>
          <p:cNvSpPr/>
          <p:nvPr/>
        </p:nvSpPr>
        <p:spPr>
          <a:xfrm>
            <a:off x="7510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0" name="Google Shape;1240;p77"/>
          <p:cNvSpPr/>
          <p:nvPr/>
        </p:nvSpPr>
        <p:spPr>
          <a:xfrm>
            <a:off x="18384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1" name="Google Shape;1241;p77"/>
          <p:cNvSpPr/>
          <p:nvPr/>
        </p:nvSpPr>
        <p:spPr>
          <a:xfrm>
            <a:off x="29258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2" name="Google Shape;1242;p77"/>
          <p:cNvSpPr/>
          <p:nvPr/>
        </p:nvSpPr>
        <p:spPr>
          <a:xfrm>
            <a:off x="3116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3" name="Google Shape;1243;p77"/>
          <p:cNvSpPr/>
          <p:nvPr/>
        </p:nvSpPr>
        <p:spPr>
          <a:xfrm>
            <a:off x="31853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44" name="Google Shape;1244;p77"/>
          <p:cNvCxnSpPr>
            <a:stCxn id="1236" idx="3"/>
            <a:endCxn id="1242" idx="0"/>
          </p:cNvCxnSpPr>
          <p:nvPr/>
        </p:nvCxnSpPr>
        <p:spPr>
          <a:xfrm flipH="1">
            <a:off x="5898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p77"/>
          <p:cNvCxnSpPr>
            <a:stCxn id="1237" idx="3"/>
            <a:endCxn id="1236" idx="6"/>
          </p:cNvCxnSpPr>
          <p:nvPr/>
        </p:nvCxnSpPr>
        <p:spPr>
          <a:xfrm flipH="1">
            <a:off x="13076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6" name="Google Shape;1246;p77"/>
          <p:cNvCxnSpPr>
            <a:stCxn id="1237" idx="3"/>
            <a:endCxn id="1242" idx="0"/>
          </p:cNvCxnSpPr>
          <p:nvPr/>
        </p:nvCxnSpPr>
        <p:spPr>
          <a:xfrm flipH="1">
            <a:off x="5900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77"/>
          <p:cNvCxnSpPr>
            <a:stCxn id="1237" idx="3"/>
            <a:endCxn id="1239" idx="0"/>
          </p:cNvCxnSpPr>
          <p:nvPr/>
        </p:nvCxnSpPr>
        <p:spPr>
          <a:xfrm flipH="1">
            <a:off x="10292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77"/>
          <p:cNvCxnSpPr>
            <a:stCxn id="1242" idx="4"/>
            <a:endCxn id="1239" idx="0"/>
          </p:cNvCxnSpPr>
          <p:nvPr/>
        </p:nvCxnSpPr>
        <p:spPr>
          <a:xfrm>
            <a:off x="5899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77"/>
          <p:cNvCxnSpPr>
            <a:stCxn id="1241" idx="2"/>
            <a:endCxn id="1240" idx="7"/>
          </p:cNvCxnSpPr>
          <p:nvPr/>
        </p:nvCxnSpPr>
        <p:spPr>
          <a:xfrm flipH="1">
            <a:off x="23135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77"/>
          <p:cNvCxnSpPr>
            <a:stCxn id="1236" idx="4"/>
            <a:endCxn id="1239" idx="0"/>
          </p:cNvCxnSpPr>
          <p:nvPr/>
        </p:nvCxnSpPr>
        <p:spPr>
          <a:xfrm>
            <a:off x="10293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77"/>
          <p:cNvCxnSpPr>
            <a:stCxn id="1240" idx="1"/>
            <a:endCxn id="1239" idx="6"/>
          </p:cNvCxnSpPr>
          <p:nvPr/>
        </p:nvCxnSpPr>
        <p:spPr>
          <a:xfrm rot="10800000">
            <a:off x="13076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77"/>
          <p:cNvCxnSpPr>
            <a:stCxn id="1243" idx="4"/>
            <a:endCxn id="1241" idx="0"/>
          </p:cNvCxnSpPr>
          <p:nvPr/>
        </p:nvCxnSpPr>
        <p:spPr>
          <a:xfrm flipH="1">
            <a:off x="32041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77"/>
          <p:cNvCxnSpPr>
            <a:stCxn id="1243" idx="4"/>
            <a:endCxn id="1239" idx="6"/>
          </p:cNvCxnSpPr>
          <p:nvPr/>
        </p:nvCxnSpPr>
        <p:spPr>
          <a:xfrm flipH="1">
            <a:off x="13075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77"/>
          <p:cNvCxnSpPr>
            <a:stCxn id="1243" idx="4"/>
            <a:endCxn id="1240" idx="7"/>
          </p:cNvCxnSpPr>
          <p:nvPr/>
        </p:nvCxnSpPr>
        <p:spPr>
          <a:xfrm flipH="1">
            <a:off x="23134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55" name="Google Shape;1255;p77"/>
          <p:cNvGraphicFramePr/>
          <p:nvPr/>
        </p:nvGraphicFramePr>
        <p:xfrm>
          <a:off x="5378913" y="1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1261" name="Google Shape;1261;p78"/>
          <p:cNvSpPr/>
          <p:nvPr/>
        </p:nvSpPr>
        <p:spPr>
          <a:xfrm>
            <a:off x="4223775" y="2516075"/>
            <a:ext cx="953700" cy="52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78"/>
          <p:cNvSpPr txBox="1"/>
          <p:nvPr/>
        </p:nvSpPr>
        <p:spPr>
          <a:xfrm>
            <a:off x="3741900" y="4271050"/>
            <a:ext cx="34803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Forget about Ego!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We only care about alter-alter edges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63" name="Google Shape;1263;p78"/>
          <p:cNvSpPr/>
          <p:nvPr/>
        </p:nvSpPr>
        <p:spPr>
          <a:xfrm>
            <a:off x="7510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4" name="Google Shape;1264;p78"/>
          <p:cNvSpPr/>
          <p:nvPr/>
        </p:nvSpPr>
        <p:spPr>
          <a:xfrm>
            <a:off x="19971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5" name="Google Shape;1265;p78"/>
          <p:cNvSpPr/>
          <p:nvPr/>
        </p:nvSpPr>
        <p:spPr>
          <a:xfrm>
            <a:off x="29258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6" name="Google Shape;1266;p78"/>
          <p:cNvSpPr/>
          <p:nvPr/>
        </p:nvSpPr>
        <p:spPr>
          <a:xfrm>
            <a:off x="7510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7" name="Google Shape;1267;p78"/>
          <p:cNvSpPr/>
          <p:nvPr/>
        </p:nvSpPr>
        <p:spPr>
          <a:xfrm>
            <a:off x="18384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8" name="Google Shape;1268;p78"/>
          <p:cNvSpPr/>
          <p:nvPr/>
        </p:nvSpPr>
        <p:spPr>
          <a:xfrm>
            <a:off x="29258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69" name="Google Shape;1269;p78"/>
          <p:cNvSpPr/>
          <p:nvPr/>
        </p:nvSpPr>
        <p:spPr>
          <a:xfrm>
            <a:off x="3116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70" name="Google Shape;1270;p78"/>
          <p:cNvSpPr/>
          <p:nvPr/>
        </p:nvSpPr>
        <p:spPr>
          <a:xfrm>
            <a:off x="31853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71" name="Google Shape;1271;p78"/>
          <p:cNvCxnSpPr>
            <a:stCxn id="1263" idx="3"/>
            <a:endCxn id="1269" idx="0"/>
          </p:cNvCxnSpPr>
          <p:nvPr/>
        </p:nvCxnSpPr>
        <p:spPr>
          <a:xfrm flipH="1">
            <a:off x="5898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78"/>
          <p:cNvCxnSpPr>
            <a:stCxn id="1264" idx="3"/>
            <a:endCxn id="1263" idx="6"/>
          </p:cNvCxnSpPr>
          <p:nvPr/>
        </p:nvCxnSpPr>
        <p:spPr>
          <a:xfrm flipH="1">
            <a:off x="13076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3" name="Google Shape;1273;p78"/>
          <p:cNvCxnSpPr>
            <a:stCxn id="1264" idx="3"/>
            <a:endCxn id="1269" idx="0"/>
          </p:cNvCxnSpPr>
          <p:nvPr/>
        </p:nvCxnSpPr>
        <p:spPr>
          <a:xfrm flipH="1">
            <a:off x="5900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78"/>
          <p:cNvCxnSpPr>
            <a:stCxn id="1264" idx="3"/>
            <a:endCxn id="1266" idx="0"/>
          </p:cNvCxnSpPr>
          <p:nvPr/>
        </p:nvCxnSpPr>
        <p:spPr>
          <a:xfrm flipH="1">
            <a:off x="10292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78"/>
          <p:cNvCxnSpPr>
            <a:stCxn id="1269" idx="4"/>
            <a:endCxn id="1266" idx="0"/>
          </p:cNvCxnSpPr>
          <p:nvPr/>
        </p:nvCxnSpPr>
        <p:spPr>
          <a:xfrm>
            <a:off x="5899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78"/>
          <p:cNvCxnSpPr>
            <a:stCxn id="1268" idx="2"/>
            <a:endCxn id="1267" idx="7"/>
          </p:cNvCxnSpPr>
          <p:nvPr/>
        </p:nvCxnSpPr>
        <p:spPr>
          <a:xfrm flipH="1">
            <a:off x="23135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78"/>
          <p:cNvCxnSpPr>
            <a:stCxn id="1263" idx="4"/>
            <a:endCxn id="1266" idx="0"/>
          </p:cNvCxnSpPr>
          <p:nvPr/>
        </p:nvCxnSpPr>
        <p:spPr>
          <a:xfrm>
            <a:off x="10293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78"/>
          <p:cNvCxnSpPr>
            <a:stCxn id="1267" idx="1"/>
            <a:endCxn id="1266" idx="6"/>
          </p:cNvCxnSpPr>
          <p:nvPr/>
        </p:nvCxnSpPr>
        <p:spPr>
          <a:xfrm rot="10800000">
            <a:off x="13076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78"/>
          <p:cNvCxnSpPr>
            <a:stCxn id="1270" idx="4"/>
            <a:endCxn id="1268" idx="0"/>
          </p:cNvCxnSpPr>
          <p:nvPr/>
        </p:nvCxnSpPr>
        <p:spPr>
          <a:xfrm flipH="1">
            <a:off x="32041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78"/>
          <p:cNvCxnSpPr>
            <a:stCxn id="1270" idx="4"/>
            <a:endCxn id="1266" idx="6"/>
          </p:cNvCxnSpPr>
          <p:nvPr/>
        </p:nvCxnSpPr>
        <p:spPr>
          <a:xfrm flipH="1">
            <a:off x="13075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78"/>
          <p:cNvCxnSpPr>
            <a:stCxn id="1270" idx="4"/>
            <a:endCxn id="1267" idx="7"/>
          </p:cNvCxnSpPr>
          <p:nvPr/>
        </p:nvCxnSpPr>
        <p:spPr>
          <a:xfrm flipH="1">
            <a:off x="23134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82" name="Google Shape;1282;p78"/>
          <p:cNvGraphicFramePr/>
          <p:nvPr/>
        </p:nvGraphicFramePr>
        <p:xfrm>
          <a:off x="5378913" y="1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1288" name="Google Shape;1288;p79"/>
          <p:cNvSpPr/>
          <p:nvPr/>
        </p:nvSpPr>
        <p:spPr>
          <a:xfrm>
            <a:off x="4223775" y="2516075"/>
            <a:ext cx="953700" cy="52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79"/>
          <p:cNvSpPr txBox="1"/>
          <p:nvPr/>
        </p:nvSpPr>
        <p:spPr>
          <a:xfrm>
            <a:off x="3663750" y="4059550"/>
            <a:ext cx="34803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nodes?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= 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total links?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E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= 22/2 = 11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We only care about half! 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0" name="Google Shape;1290;p79"/>
          <p:cNvSpPr/>
          <p:nvPr/>
        </p:nvSpPr>
        <p:spPr>
          <a:xfrm>
            <a:off x="7510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1" name="Google Shape;1291;p79"/>
          <p:cNvSpPr/>
          <p:nvPr/>
        </p:nvSpPr>
        <p:spPr>
          <a:xfrm>
            <a:off x="19971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2" name="Google Shape;1292;p79"/>
          <p:cNvSpPr/>
          <p:nvPr/>
        </p:nvSpPr>
        <p:spPr>
          <a:xfrm>
            <a:off x="29258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3" name="Google Shape;1293;p79"/>
          <p:cNvSpPr/>
          <p:nvPr/>
        </p:nvSpPr>
        <p:spPr>
          <a:xfrm>
            <a:off x="7510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4" name="Google Shape;1294;p79"/>
          <p:cNvSpPr/>
          <p:nvPr/>
        </p:nvSpPr>
        <p:spPr>
          <a:xfrm>
            <a:off x="18384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5" name="Google Shape;1295;p79"/>
          <p:cNvSpPr/>
          <p:nvPr/>
        </p:nvSpPr>
        <p:spPr>
          <a:xfrm>
            <a:off x="29258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6" name="Google Shape;1296;p79"/>
          <p:cNvSpPr/>
          <p:nvPr/>
        </p:nvSpPr>
        <p:spPr>
          <a:xfrm>
            <a:off x="3116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97" name="Google Shape;1297;p79"/>
          <p:cNvSpPr/>
          <p:nvPr/>
        </p:nvSpPr>
        <p:spPr>
          <a:xfrm>
            <a:off x="31853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98" name="Google Shape;1298;p79"/>
          <p:cNvCxnSpPr>
            <a:stCxn id="1290" idx="3"/>
            <a:endCxn id="1296" idx="0"/>
          </p:cNvCxnSpPr>
          <p:nvPr/>
        </p:nvCxnSpPr>
        <p:spPr>
          <a:xfrm flipH="1">
            <a:off x="5898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79"/>
          <p:cNvCxnSpPr>
            <a:stCxn id="1291" idx="3"/>
            <a:endCxn id="1290" idx="6"/>
          </p:cNvCxnSpPr>
          <p:nvPr/>
        </p:nvCxnSpPr>
        <p:spPr>
          <a:xfrm flipH="1">
            <a:off x="13076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79"/>
          <p:cNvCxnSpPr>
            <a:stCxn id="1291" idx="3"/>
            <a:endCxn id="1296" idx="0"/>
          </p:cNvCxnSpPr>
          <p:nvPr/>
        </p:nvCxnSpPr>
        <p:spPr>
          <a:xfrm flipH="1">
            <a:off x="5900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79"/>
          <p:cNvCxnSpPr>
            <a:stCxn id="1291" idx="3"/>
            <a:endCxn id="1293" idx="0"/>
          </p:cNvCxnSpPr>
          <p:nvPr/>
        </p:nvCxnSpPr>
        <p:spPr>
          <a:xfrm flipH="1">
            <a:off x="10292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79"/>
          <p:cNvCxnSpPr>
            <a:stCxn id="1296" idx="4"/>
            <a:endCxn id="1293" idx="0"/>
          </p:cNvCxnSpPr>
          <p:nvPr/>
        </p:nvCxnSpPr>
        <p:spPr>
          <a:xfrm>
            <a:off x="5899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79"/>
          <p:cNvCxnSpPr>
            <a:stCxn id="1295" idx="2"/>
            <a:endCxn id="1294" idx="7"/>
          </p:cNvCxnSpPr>
          <p:nvPr/>
        </p:nvCxnSpPr>
        <p:spPr>
          <a:xfrm flipH="1">
            <a:off x="23135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79"/>
          <p:cNvCxnSpPr>
            <a:stCxn id="1290" idx="4"/>
            <a:endCxn id="1293" idx="0"/>
          </p:cNvCxnSpPr>
          <p:nvPr/>
        </p:nvCxnSpPr>
        <p:spPr>
          <a:xfrm>
            <a:off x="10293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79"/>
          <p:cNvCxnSpPr>
            <a:stCxn id="1294" idx="1"/>
            <a:endCxn id="1293" idx="6"/>
          </p:cNvCxnSpPr>
          <p:nvPr/>
        </p:nvCxnSpPr>
        <p:spPr>
          <a:xfrm rot="10800000">
            <a:off x="13076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6" name="Google Shape;1306;p79"/>
          <p:cNvCxnSpPr>
            <a:stCxn id="1297" idx="4"/>
            <a:endCxn id="1295" idx="0"/>
          </p:cNvCxnSpPr>
          <p:nvPr/>
        </p:nvCxnSpPr>
        <p:spPr>
          <a:xfrm flipH="1">
            <a:off x="32041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7" name="Google Shape;1307;p79"/>
          <p:cNvCxnSpPr>
            <a:stCxn id="1297" idx="4"/>
            <a:endCxn id="1293" idx="6"/>
          </p:cNvCxnSpPr>
          <p:nvPr/>
        </p:nvCxnSpPr>
        <p:spPr>
          <a:xfrm flipH="1">
            <a:off x="13075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p79"/>
          <p:cNvCxnSpPr>
            <a:stCxn id="1297" idx="4"/>
            <a:endCxn id="1294" idx="7"/>
          </p:cNvCxnSpPr>
          <p:nvPr/>
        </p:nvCxnSpPr>
        <p:spPr>
          <a:xfrm flipH="1">
            <a:off x="23134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09" name="Google Shape;1309;p79"/>
          <p:cNvGraphicFramePr/>
          <p:nvPr/>
        </p:nvGraphicFramePr>
        <p:xfrm>
          <a:off x="5378913" y="1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a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b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c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d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e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f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g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h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 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cxnSp>
        <p:nvCxnSpPr>
          <p:cNvPr id="1310" name="Google Shape;1310;p79"/>
          <p:cNvCxnSpPr/>
          <p:nvPr/>
        </p:nvCxnSpPr>
        <p:spPr>
          <a:xfrm>
            <a:off x="5526350" y="1547500"/>
            <a:ext cx="3050400" cy="2660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1316" name="Google Shape;1316;p80"/>
          <p:cNvSpPr/>
          <p:nvPr/>
        </p:nvSpPr>
        <p:spPr>
          <a:xfrm>
            <a:off x="4223775" y="2516075"/>
            <a:ext cx="953700" cy="52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80"/>
          <p:cNvSpPr txBox="1"/>
          <p:nvPr/>
        </p:nvSpPr>
        <p:spPr>
          <a:xfrm>
            <a:off x="3663750" y="4059550"/>
            <a:ext cx="49131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nodes? N = 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total links? E = 22/2 = 11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possible number of links? (N*(N - 1)/2 = (8*7)/2 = 28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8" name="Google Shape;1318;p80"/>
          <p:cNvSpPr/>
          <p:nvPr/>
        </p:nvSpPr>
        <p:spPr>
          <a:xfrm>
            <a:off x="7510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9" name="Google Shape;1319;p80"/>
          <p:cNvSpPr/>
          <p:nvPr/>
        </p:nvSpPr>
        <p:spPr>
          <a:xfrm>
            <a:off x="19971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0" name="Google Shape;1320;p80"/>
          <p:cNvSpPr/>
          <p:nvPr/>
        </p:nvSpPr>
        <p:spPr>
          <a:xfrm>
            <a:off x="29258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1" name="Google Shape;1321;p80"/>
          <p:cNvSpPr/>
          <p:nvPr/>
        </p:nvSpPr>
        <p:spPr>
          <a:xfrm>
            <a:off x="7510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2" name="Google Shape;1322;p80"/>
          <p:cNvSpPr/>
          <p:nvPr/>
        </p:nvSpPr>
        <p:spPr>
          <a:xfrm>
            <a:off x="18384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3" name="Google Shape;1323;p80"/>
          <p:cNvSpPr/>
          <p:nvPr/>
        </p:nvSpPr>
        <p:spPr>
          <a:xfrm>
            <a:off x="29258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4" name="Google Shape;1324;p80"/>
          <p:cNvSpPr/>
          <p:nvPr/>
        </p:nvSpPr>
        <p:spPr>
          <a:xfrm>
            <a:off x="3116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5" name="Google Shape;1325;p80"/>
          <p:cNvSpPr/>
          <p:nvPr/>
        </p:nvSpPr>
        <p:spPr>
          <a:xfrm>
            <a:off x="31853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26" name="Google Shape;1326;p80"/>
          <p:cNvCxnSpPr>
            <a:stCxn id="1318" idx="3"/>
            <a:endCxn id="1324" idx="0"/>
          </p:cNvCxnSpPr>
          <p:nvPr/>
        </p:nvCxnSpPr>
        <p:spPr>
          <a:xfrm flipH="1">
            <a:off x="5898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80"/>
          <p:cNvCxnSpPr>
            <a:stCxn id="1319" idx="3"/>
            <a:endCxn id="1318" idx="6"/>
          </p:cNvCxnSpPr>
          <p:nvPr/>
        </p:nvCxnSpPr>
        <p:spPr>
          <a:xfrm flipH="1">
            <a:off x="13076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80"/>
          <p:cNvCxnSpPr>
            <a:stCxn id="1319" idx="3"/>
            <a:endCxn id="1324" idx="0"/>
          </p:cNvCxnSpPr>
          <p:nvPr/>
        </p:nvCxnSpPr>
        <p:spPr>
          <a:xfrm flipH="1">
            <a:off x="5900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80"/>
          <p:cNvCxnSpPr>
            <a:stCxn id="1319" idx="3"/>
            <a:endCxn id="1321" idx="0"/>
          </p:cNvCxnSpPr>
          <p:nvPr/>
        </p:nvCxnSpPr>
        <p:spPr>
          <a:xfrm flipH="1">
            <a:off x="10292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80"/>
          <p:cNvCxnSpPr>
            <a:stCxn id="1324" idx="4"/>
            <a:endCxn id="1321" idx="0"/>
          </p:cNvCxnSpPr>
          <p:nvPr/>
        </p:nvCxnSpPr>
        <p:spPr>
          <a:xfrm>
            <a:off x="5899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80"/>
          <p:cNvCxnSpPr>
            <a:stCxn id="1323" idx="2"/>
            <a:endCxn id="1322" idx="7"/>
          </p:cNvCxnSpPr>
          <p:nvPr/>
        </p:nvCxnSpPr>
        <p:spPr>
          <a:xfrm flipH="1">
            <a:off x="23135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80"/>
          <p:cNvCxnSpPr>
            <a:stCxn id="1318" idx="4"/>
            <a:endCxn id="1321" idx="0"/>
          </p:cNvCxnSpPr>
          <p:nvPr/>
        </p:nvCxnSpPr>
        <p:spPr>
          <a:xfrm>
            <a:off x="10293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80"/>
          <p:cNvCxnSpPr>
            <a:stCxn id="1322" idx="1"/>
            <a:endCxn id="1321" idx="6"/>
          </p:cNvCxnSpPr>
          <p:nvPr/>
        </p:nvCxnSpPr>
        <p:spPr>
          <a:xfrm rot="10800000">
            <a:off x="13076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80"/>
          <p:cNvCxnSpPr>
            <a:stCxn id="1325" idx="4"/>
            <a:endCxn id="1323" idx="0"/>
          </p:cNvCxnSpPr>
          <p:nvPr/>
        </p:nvCxnSpPr>
        <p:spPr>
          <a:xfrm flipH="1">
            <a:off x="32041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p80"/>
          <p:cNvCxnSpPr>
            <a:stCxn id="1325" idx="4"/>
            <a:endCxn id="1321" idx="6"/>
          </p:cNvCxnSpPr>
          <p:nvPr/>
        </p:nvCxnSpPr>
        <p:spPr>
          <a:xfrm flipH="1">
            <a:off x="13075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80"/>
          <p:cNvCxnSpPr>
            <a:stCxn id="1325" idx="4"/>
            <a:endCxn id="1322" idx="7"/>
          </p:cNvCxnSpPr>
          <p:nvPr/>
        </p:nvCxnSpPr>
        <p:spPr>
          <a:xfrm flipH="1">
            <a:off x="23134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37" name="Google Shape;1337;p80"/>
          <p:cNvGraphicFramePr/>
          <p:nvPr/>
        </p:nvGraphicFramePr>
        <p:xfrm>
          <a:off x="5378913" y="1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a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b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c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d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e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f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g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h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 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cxnSp>
        <p:nvCxnSpPr>
          <p:cNvPr id="1338" name="Google Shape;1338;p80"/>
          <p:cNvCxnSpPr/>
          <p:nvPr/>
        </p:nvCxnSpPr>
        <p:spPr>
          <a:xfrm>
            <a:off x="5526350" y="1547500"/>
            <a:ext cx="3050400" cy="2660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1344" name="Google Shape;1344;p81"/>
          <p:cNvSpPr/>
          <p:nvPr/>
        </p:nvSpPr>
        <p:spPr>
          <a:xfrm>
            <a:off x="4223775" y="2516075"/>
            <a:ext cx="953700" cy="52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81"/>
          <p:cNvSpPr txBox="1"/>
          <p:nvPr/>
        </p:nvSpPr>
        <p:spPr>
          <a:xfrm>
            <a:off x="3663750" y="4059550"/>
            <a:ext cx="49131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nodes? N = 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total links? E = 22/2 = 11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many possible number of links? (N*(N - 1)/2 = (8*7)/2 = 28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46" name="Google Shape;1346;p81"/>
          <p:cNvSpPr/>
          <p:nvPr/>
        </p:nvSpPr>
        <p:spPr>
          <a:xfrm>
            <a:off x="7510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7" name="Google Shape;1347;p81"/>
          <p:cNvSpPr/>
          <p:nvPr/>
        </p:nvSpPr>
        <p:spPr>
          <a:xfrm>
            <a:off x="19971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8" name="Google Shape;1348;p81"/>
          <p:cNvSpPr/>
          <p:nvPr/>
        </p:nvSpPr>
        <p:spPr>
          <a:xfrm>
            <a:off x="29258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9" name="Google Shape;1349;p81"/>
          <p:cNvSpPr/>
          <p:nvPr/>
        </p:nvSpPr>
        <p:spPr>
          <a:xfrm>
            <a:off x="7510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0" name="Google Shape;1350;p81"/>
          <p:cNvSpPr/>
          <p:nvPr/>
        </p:nvSpPr>
        <p:spPr>
          <a:xfrm>
            <a:off x="18384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1" name="Google Shape;1351;p81"/>
          <p:cNvSpPr/>
          <p:nvPr/>
        </p:nvSpPr>
        <p:spPr>
          <a:xfrm>
            <a:off x="29258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2" name="Google Shape;1352;p81"/>
          <p:cNvSpPr/>
          <p:nvPr/>
        </p:nvSpPr>
        <p:spPr>
          <a:xfrm>
            <a:off x="3116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3" name="Google Shape;1353;p81"/>
          <p:cNvSpPr/>
          <p:nvPr/>
        </p:nvSpPr>
        <p:spPr>
          <a:xfrm>
            <a:off x="31853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54" name="Google Shape;1354;p81"/>
          <p:cNvCxnSpPr>
            <a:stCxn id="1346" idx="3"/>
            <a:endCxn id="1352" idx="0"/>
          </p:cNvCxnSpPr>
          <p:nvPr/>
        </p:nvCxnSpPr>
        <p:spPr>
          <a:xfrm flipH="1">
            <a:off x="5898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81"/>
          <p:cNvCxnSpPr>
            <a:stCxn id="1347" idx="3"/>
            <a:endCxn id="1346" idx="6"/>
          </p:cNvCxnSpPr>
          <p:nvPr/>
        </p:nvCxnSpPr>
        <p:spPr>
          <a:xfrm flipH="1">
            <a:off x="13076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81"/>
          <p:cNvCxnSpPr>
            <a:stCxn id="1347" idx="3"/>
            <a:endCxn id="1352" idx="0"/>
          </p:cNvCxnSpPr>
          <p:nvPr/>
        </p:nvCxnSpPr>
        <p:spPr>
          <a:xfrm flipH="1">
            <a:off x="5900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81"/>
          <p:cNvCxnSpPr>
            <a:stCxn id="1347" idx="3"/>
            <a:endCxn id="1349" idx="0"/>
          </p:cNvCxnSpPr>
          <p:nvPr/>
        </p:nvCxnSpPr>
        <p:spPr>
          <a:xfrm flipH="1">
            <a:off x="10292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81"/>
          <p:cNvCxnSpPr>
            <a:stCxn id="1352" idx="4"/>
            <a:endCxn id="1349" idx="0"/>
          </p:cNvCxnSpPr>
          <p:nvPr/>
        </p:nvCxnSpPr>
        <p:spPr>
          <a:xfrm>
            <a:off x="5899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81"/>
          <p:cNvCxnSpPr>
            <a:stCxn id="1351" idx="2"/>
            <a:endCxn id="1350" idx="7"/>
          </p:cNvCxnSpPr>
          <p:nvPr/>
        </p:nvCxnSpPr>
        <p:spPr>
          <a:xfrm flipH="1">
            <a:off x="23135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81"/>
          <p:cNvCxnSpPr>
            <a:stCxn id="1346" idx="4"/>
            <a:endCxn id="1349" idx="0"/>
          </p:cNvCxnSpPr>
          <p:nvPr/>
        </p:nvCxnSpPr>
        <p:spPr>
          <a:xfrm>
            <a:off x="10293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81"/>
          <p:cNvCxnSpPr>
            <a:stCxn id="1350" idx="1"/>
            <a:endCxn id="1349" idx="6"/>
          </p:cNvCxnSpPr>
          <p:nvPr/>
        </p:nvCxnSpPr>
        <p:spPr>
          <a:xfrm rot="10800000">
            <a:off x="13076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81"/>
          <p:cNvCxnSpPr>
            <a:stCxn id="1353" idx="4"/>
            <a:endCxn id="1351" idx="0"/>
          </p:cNvCxnSpPr>
          <p:nvPr/>
        </p:nvCxnSpPr>
        <p:spPr>
          <a:xfrm flipH="1">
            <a:off x="32041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81"/>
          <p:cNvCxnSpPr>
            <a:stCxn id="1353" idx="4"/>
            <a:endCxn id="1349" idx="6"/>
          </p:cNvCxnSpPr>
          <p:nvPr/>
        </p:nvCxnSpPr>
        <p:spPr>
          <a:xfrm flipH="1">
            <a:off x="13075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81"/>
          <p:cNvCxnSpPr>
            <a:stCxn id="1353" idx="4"/>
            <a:endCxn id="1350" idx="7"/>
          </p:cNvCxnSpPr>
          <p:nvPr/>
        </p:nvCxnSpPr>
        <p:spPr>
          <a:xfrm flipH="1">
            <a:off x="23134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65" name="Google Shape;1365;p81"/>
          <p:cNvGraphicFramePr/>
          <p:nvPr/>
        </p:nvGraphicFramePr>
        <p:xfrm>
          <a:off x="5378913" y="1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  <a:gridCol w="353025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a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b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c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d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e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f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g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h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0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</a:rPr>
                        <a:t>1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 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0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1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cxnSp>
        <p:nvCxnSpPr>
          <p:cNvPr id="1366" name="Google Shape;1366;p81"/>
          <p:cNvCxnSpPr/>
          <p:nvPr/>
        </p:nvCxnSpPr>
        <p:spPr>
          <a:xfrm>
            <a:off x="5526350" y="1547500"/>
            <a:ext cx="3050400" cy="2660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81"/>
          <p:cNvSpPr txBox="1"/>
          <p:nvPr/>
        </p:nvSpPr>
        <p:spPr>
          <a:xfrm>
            <a:off x="3741900" y="1187125"/>
            <a:ext cx="19899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=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E/(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N*(N - 1)/2)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= 11/28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22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22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0.39</a:t>
            </a:r>
            <a:endParaRPr b="1" sz="22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8" name="Google Shape;1368;p81"/>
          <p:cNvSpPr/>
          <p:nvPr/>
        </p:nvSpPr>
        <p:spPr>
          <a:xfrm>
            <a:off x="1777200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69" name="Google Shape;1369;p81"/>
          <p:cNvCxnSpPr>
            <a:endCxn id="1368" idx="1"/>
          </p:cNvCxnSpPr>
          <p:nvPr/>
        </p:nvCxnSpPr>
        <p:spPr>
          <a:xfrm>
            <a:off x="1225968" y="1804591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81"/>
          <p:cNvCxnSpPr>
            <a:endCxn id="1368" idx="2"/>
          </p:cNvCxnSpPr>
          <p:nvPr/>
        </p:nvCxnSpPr>
        <p:spPr>
          <a:xfrm flipH="1" rot="10800000">
            <a:off x="868200" y="2750100"/>
            <a:ext cx="909000" cy="22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81"/>
          <p:cNvCxnSpPr>
            <a:stCxn id="1368" idx="3"/>
          </p:cNvCxnSpPr>
          <p:nvPr/>
        </p:nvCxnSpPr>
        <p:spPr>
          <a:xfrm flipH="1">
            <a:off x="1225968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81"/>
          <p:cNvCxnSpPr>
            <a:stCxn id="1368" idx="4"/>
          </p:cNvCxnSpPr>
          <p:nvPr/>
        </p:nvCxnSpPr>
        <p:spPr>
          <a:xfrm flipH="1">
            <a:off x="2116650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81"/>
          <p:cNvCxnSpPr>
            <a:stCxn id="1368" idx="5"/>
          </p:cNvCxnSpPr>
          <p:nvPr/>
        </p:nvCxnSpPr>
        <p:spPr>
          <a:xfrm>
            <a:off x="2489832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81"/>
          <p:cNvCxnSpPr>
            <a:stCxn id="1368" idx="6"/>
          </p:cNvCxnSpPr>
          <p:nvPr/>
        </p:nvCxnSpPr>
        <p:spPr>
          <a:xfrm>
            <a:off x="2612100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81"/>
          <p:cNvCxnSpPr>
            <a:stCxn id="1368" idx="7"/>
          </p:cNvCxnSpPr>
          <p:nvPr/>
        </p:nvCxnSpPr>
        <p:spPr>
          <a:xfrm flipH="1" rot="10800000">
            <a:off x="2489832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81"/>
          <p:cNvCxnSpPr>
            <a:endCxn id="1368" idx="0"/>
          </p:cNvCxnSpPr>
          <p:nvPr/>
        </p:nvCxnSpPr>
        <p:spPr>
          <a:xfrm flipH="1">
            <a:off x="2194650" y="1652550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1382" name="Google Shape;1382;p82"/>
          <p:cNvSpPr/>
          <p:nvPr/>
        </p:nvSpPr>
        <p:spPr>
          <a:xfrm>
            <a:off x="576075" y="114721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3" name="Google Shape;1383;p82"/>
          <p:cNvSpPr/>
          <p:nvPr/>
        </p:nvSpPr>
        <p:spPr>
          <a:xfrm>
            <a:off x="576075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4" name="Google Shape;1384;p82"/>
          <p:cNvSpPr/>
          <p:nvPr/>
        </p:nvSpPr>
        <p:spPr>
          <a:xfrm>
            <a:off x="1541077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5" name="Google Shape;1385;p82"/>
          <p:cNvSpPr/>
          <p:nvPr/>
        </p:nvSpPr>
        <p:spPr>
          <a:xfrm>
            <a:off x="977501" y="1632586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6" name="Google Shape;1386;p82"/>
          <p:cNvSpPr/>
          <p:nvPr/>
        </p:nvSpPr>
        <p:spPr>
          <a:xfrm>
            <a:off x="1541071" y="1147214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87" name="Google Shape;1387;p82"/>
          <p:cNvCxnSpPr>
            <a:stCxn id="1386" idx="4"/>
            <a:endCxn id="1385" idx="7"/>
          </p:cNvCxnSpPr>
          <p:nvPr/>
        </p:nvCxnSpPr>
        <p:spPr>
          <a:xfrm flipH="1">
            <a:off x="1452571" y="1501214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82"/>
          <p:cNvCxnSpPr>
            <a:stCxn id="1382" idx="4"/>
            <a:endCxn id="1385" idx="1"/>
          </p:cNvCxnSpPr>
          <p:nvPr/>
        </p:nvCxnSpPr>
        <p:spPr>
          <a:xfrm>
            <a:off x="750975" y="1501213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9" name="Google Shape;1389;p82"/>
          <p:cNvCxnSpPr>
            <a:stCxn id="1383" idx="0"/>
            <a:endCxn id="1385" idx="3"/>
          </p:cNvCxnSpPr>
          <p:nvPr/>
        </p:nvCxnSpPr>
        <p:spPr>
          <a:xfrm flipH="1" rot="10800000">
            <a:off x="750975" y="2035073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0" name="Google Shape;1390;p82"/>
          <p:cNvCxnSpPr>
            <a:stCxn id="1385" idx="5"/>
            <a:endCxn id="1384" idx="0"/>
          </p:cNvCxnSpPr>
          <p:nvPr/>
        </p:nvCxnSpPr>
        <p:spPr>
          <a:xfrm>
            <a:off x="1452504" y="2035122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1" name="Google Shape;1391;p82"/>
          <p:cNvSpPr/>
          <p:nvPr/>
        </p:nvSpPr>
        <p:spPr>
          <a:xfrm>
            <a:off x="3837985" y="1177159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2" name="Google Shape;1392;p82"/>
          <p:cNvSpPr/>
          <p:nvPr/>
        </p:nvSpPr>
        <p:spPr>
          <a:xfrm>
            <a:off x="3837985" y="229631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3" name="Google Shape;1393;p82"/>
          <p:cNvSpPr/>
          <p:nvPr/>
        </p:nvSpPr>
        <p:spPr>
          <a:xfrm>
            <a:off x="4802986" y="229631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4" name="Google Shape;1394;p82"/>
          <p:cNvSpPr/>
          <p:nvPr/>
        </p:nvSpPr>
        <p:spPr>
          <a:xfrm>
            <a:off x="4239411" y="1662532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5" name="Google Shape;1395;p82"/>
          <p:cNvSpPr/>
          <p:nvPr/>
        </p:nvSpPr>
        <p:spPr>
          <a:xfrm>
            <a:off x="4802981" y="1177160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96" name="Google Shape;1396;p82"/>
          <p:cNvCxnSpPr>
            <a:stCxn id="1395" idx="4"/>
            <a:endCxn id="1394" idx="7"/>
          </p:cNvCxnSpPr>
          <p:nvPr/>
        </p:nvCxnSpPr>
        <p:spPr>
          <a:xfrm flipH="1">
            <a:off x="4714481" y="1531160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7" name="Google Shape;1397;p82"/>
          <p:cNvCxnSpPr>
            <a:stCxn id="1391" idx="4"/>
            <a:endCxn id="1394" idx="1"/>
          </p:cNvCxnSpPr>
          <p:nvPr/>
        </p:nvCxnSpPr>
        <p:spPr>
          <a:xfrm>
            <a:off x="4012885" y="1531159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8" name="Google Shape;1398;p82"/>
          <p:cNvCxnSpPr>
            <a:stCxn id="1392" idx="0"/>
            <a:endCxn id="1394" idx="3"/>
          </p:cNvCxnSpPr>
          <p:nvPr/>
        </p:nvCxnSpPr>
        <p:spPr>
          <a:xfrm flipH="1" rot="10800000">
            <a:off x="4012885" y="2065018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82"/>
          <p:cNvCxnSpPr>
            <a:stCxn id="1394" idx="5"/>
            <a:endCxn id="1393" idx="0"/>
          </p:cNvCxnSpPr>
          <p:nvPr/>
        </p:nvCxnSpPr>
        <p:spPr>
          <a:xfrm>
            <a:off x="4714413" y="2065068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0" name="Google Shape;1400;p82"/>
          <p:cNvSpPr/>
          <p:nvPr/>
        </p:nvSpPr>
        <p:spPr>
          <a:xfrm>
            <a:off x="6999769" y="114721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1" name="Google Shape;1401;p82"/>
          <p:cNvSpPr/>
          <p:nvPr/>
        </p:nvSpPr>
        <p:spPr>
          <a:xfrm>
            <a:off x="6999769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2" name="Google Shape;1402;p82"/>
          <p:cNvSpPr/>
          <p:nvPr/>
        </p:nvSpPr>
        <p:spPr>
          <a:xfrm>
            <a:off x="7964770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3" name="Google Shape;1403;p82"/>
          <p:cNvSpPr/>
          <p:nvPr/>
        </p:nvSpPr>
        <p:spPr>
          <a:xfrm>
            <a:off x="7401195" y="1632586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4" name="Google Shape;1404;p82"/>
          <p:cNvSpPr/>
          <p:nvPr/>
        </p:nvSpPr>
        <p:spPr>
          <a:xfrm>
            <a:off x="7964765" y="1147214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05" name="Google Shape;1405;p82"/>
          <p:cNvCxnSpPr>
            <a:stCxn id="1404" idx="4"/>
            <a:endCxn id="1403" idx="7"/>
          </p:cNvCxnSpPr>
          <p:nvPr/>
        </p:nvCxnSpPr>
        <p:spPr>
          <a:xfrm flipH="1">
            <a:off x="7876265" y="1501214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82"/>
          <p:cNvCxnSpPr>
            <a:stCxn id="1400" idx="4"/>
            <a:endCxn id="1403" idx="1"/>
          </p:cNvCxnSpPr>
          <p:nvPr/>
        </p:nvCxnSpPr>
        <p:spPr>
          <a:xfrm>
            <a:off x="7174669" y="1501213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82"/>
          <p:cNvCxnSpPr>
            <a:stCxn id="1401" idx="0"/>
            <a:endCxn id="1403" idx="3"/>
          </p:cNvCxnSpPr>
          <p:nvPr/>
        </p:nvCxnSpPr>
        <p:spPr>
          <a:xfrm flipH="1" rot="10800000">
            <a:off x="7174669" y="2035073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8" name="Google Shape;1408;p82"/>
          <p:cNvCxnSpPr>
            <a:stCxn id="1403" idx="5"/>
            <a:endCxn id="1402" idx="0"/>
          </p:cNvCxnSpPr>
          <p:nvPr/>
        </p:nvCxnSpPr>
        <p:spPr>
          <a:xfrm>
            <a:off x="7876198" y="2035122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09" name="Google Shape;1409;p82"/>
          <p:cNvGraphicFramePr/>
          <p:nvPr/>
        </p:nvGraphicFramePr>
        <p:xfrm>
          <a:off x="829688" y="289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248200"/>
                <a:gridCol w="248200"/>
                <a:gridCol w="248200"/>
                <a:gridCol w="248200"/>
                <a:gridCol w="248200"/>
              </a:tblGrid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a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b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c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d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 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10" name="Google Shape;1410;p82"/>
          <p:cNvGraphicFramePr/>
          <p:nvPr/>
        </p:nvGraphicFramePr>
        <p:xfrm>
          <a:off x="4069313" y="2954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248200"/>
                <a:gridCol w="248200"/>
                <a:gridCol w="248200"/>
                <a:gridCol w="248200"/>
                <a:gridCol w="248200"/>
              </a:tblGrid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a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b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c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d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 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11" name="Google Shape;1411;p82"/>
          <p:cNvGraphicFramePr/>
          <p:nvPr/>
        </p:nvGraphicFramePr>
        <p:xfrm>
          <a:off x="7231038" y="2922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{655E7F43-96AD-4B0F-9989-32A9D2E3BAC5}</a:tableStyleId>
              </a:tblPr>
              <a:tblGrid>
                <a:gridCol w="248200"/>
                <a:gridCol w="248200"/>
                <a:gridCol w="248200"/>
                <a:gridCol w="248200"/>
                <a:gridCol w="248200"/>
              </a:tblGrid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a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b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c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d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</a:t>
                      </a: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 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412" name="Google Shape;1412;p82"/>
          <p:cNvSpPr txBox="1"/>
          <p:nvPr/>
        </p:nvSpPr>
        <p:spPr>
          <a:xfrm>
            <a:off x="882150" y="4094613"/>
            <a:ext cx="12411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0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3" name="Google Shape;1413;p82"/>
          <p:cNvSpPr txBox="1"/>
          <p:nvPr/>
        </p:nvSpPr>
        <p:spPr>
          <a:xfrm>
            <a:off x="4144050" y="4143413"/>
            <a:ext cx="12411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0.5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4" name="Google Shape;1414;p82"/>
          <p:cNvSpPr txBox="1"/>
          <p:nvPr/>
        </p:nvSpPr>
        <p:spPr>
          <a:xfrm>
            <a:off x="7231000" y="4143413"/>
            <a:ext cx="12411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1.0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15" name="Google Shape;1415;p82"/>
          <p:cNvCxnSpPr>
            <a:stCxn id="1391" idx="4"/>
            <a:endCxn id="1392" idx="0"/>
          </p:cNvCxnSpPr>
          <p:nvPr/>
        </p:nvCxnSpPr>
        <p:spPr>
          <a:xfrm>
            <a:off x="4012885" y="1531159"/>
            <a:ext cx="0" cy="765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82"/>
          <p:cNvCxnSpPr>
            <a:stCxn id="1393" idx="2"/>
            <a:endCxn id="1392" idx="6"/>
          </p:cNvCxnSpPr>
          <p:nvPr/>
        </p:nvCxnSpPr>
        <p:spPr>
          <a:xfrm rot="10800000">
            <a:off x="4187686" y="2473318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7" name="Google Shape;1417;p82"/>
          <p:cNvCxnSpPr>
            <a:stCxn id="1395" idx="2"/>
            <a:endCxn id="1391" idx="6"/>
          </p:cNvCxnSpPr>
          <p:nvPr/>
        </p:nvCxnSpPr>
        <p:spPr>
          <a:xfrm rot="10800000">
            <a:off x="4187681" y="1354160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82"/>
          <p:cNvCxnSpPr>
            <a:stCxn id="1400" idx="4"/>
            <a:endCxn id="1401" idx="0"/>
          </p:cNvCxnSpPr>
          <p:nvPr/>
        </p:nvCxnSpPr>
        <p:spPr>
          <a:xfrm>
            <a:off x="7174669" y="1501213"/>
            <a:ext cx="0" cy="765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9" name="Google Shape;1419;p82"/>
          <p:cNvCxnSpPr>
            <a:stCxn id="1404" idx="2"/>
            <a:endCxn id="1400" idx="6"/>
          </p:cNvCxnSpPr>
          <p:nvPr/>
        </p:nvCxnSpPr>
        <p:spPr>
          <a:xfrm rot="10800000">
            <a:off x="7349465" y="1324214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0" name="Google Shape;1420;p82"/>
          <p:cNvCxnSpPr>
            <a:stCxn id="1404" idx="4"/>
            <a:endCxn id="1402" idx="0"/>
          </p:cNvCxnSpPr>
          <p:nvPr/>
        </p:nvCxnSpPr>
        <p:spPr>
          <a:xfrm>
            <a:off x="8139665" y="1501214"/>
            <a:ext cx="0" cy="765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82"/>
          <p:cNvCxnSpPr>
            <a:stCxn id="1402" idx="2"/>
            <a:endCxn id="1401" idx="6"/>
          </p:cNvCxnSpPr>
          <p:nvPr/>
        </p:nvCxnSpPr>
        <p:spPr>
          <a:xfrm rot="10800000">
            <a:off x="7349470" y="2443373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82"/>
          <p:cNvCxnSpPr>
            <a:stCxn id="1400" idx="2"/>
            <a:endCxn id="1402" idx="5"/>
          </p:cNvCxnSpPr>
          <p:nvPr/>
        </p:nvCxnSpPr>
        <p:spPr>
          <a:xfrm>
            <a:off x="6999769" y="1324213"/>
            <a:ext cx="1263600" cy="1244400"/>
          </a:xfrm>
          <a:prstGeom prst="curvedConnector4">
            <a:avLst>
              <a:gd fmla="val -30474" name="adj1"/>
              <a:gd fmla="val 122023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82"/>
          <p:cNvCxnSpPr>
            <a:stCxn id="1404" idx="6"/>
            <a:endCxn id="1401" idx="4"/>
          </p:cNvCxnSpPr>
          <p:nvPr/>
        </p:nvCxnSpPr>
        <p:spPr>
          <a:xfrm flipH="1">
            <a:off x="7174565" y="1324214"/>
            <a:ext cx="1140000" cy="1296300"/>
          </a:xfrm>
          <a:prstGeom prst="curvedConnector4">
            <a:avLst>
              <a:gd fmla="val -35523" name="adj1"/>
              <a:gd fmla="val 117148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4" name="Google Shape;1424;p82"/>
          <p:cNvSpPr txBox="1"/>
          <p:nvPr/>
        </p:nvSpPr>
        <p:spPr>
          <a:xfrm>
            <a:off x="218850" y="4681950"/>
            <a:ext cx="1995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Unclustered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25" name="Google Shape;1425;p82"/>
          <p:cNvCxnSpPr>
            <a:stCxn id="1424" idx="3"/>
            <a:endCxn id="1426" idx="1"/>
          </p:cNvCxnSpPr>
          <p:nvPr/>
        </p:nvCxnSpPr>
        <p:spPr>
          <a:xfrm>
            <a:off x="2214150" y="4828950"/>
            <a:ext cx="4873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26" name="Google Shape;1426;p82"/>
          <p:cNvSpPr txBox="1"/>
          <p:nvPr/>
        </p:nvSpPr>
        <p:spPr>
          <a:xfrm>
            <a:off x="7087504" y="4681950"/>
            <a:ext cx="1995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Clustered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EI Homophily Index</a:t>
            </a:r>
            <a:endParaRPr/>
          </a:p>
        </p:txBody>
      </p:sp>
      <p:sp>
        <p:nvSpPr>
          <p:cNvPr id="1432" name="Google Shape;1432;p83"/>
          <p:cNvSpPr/>
          <p:nvPr/>
        </p:nvSpPr>
        <p:spPr>
          <a:xfrm>
            <a:off x="702750" y="232308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33" name="Google Shape;1433;p83"/>
          <p:cNvSpPr/>
          <p:nvPr/>
        </p:nvSpPr>
        <p:spPr>
          <a:xfrm>
            <a:off x="702750" y="344224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34" name="Google Shape;1434;p83"/>
          <p:cNvSpPr/>
          <p:nvPr/>
        </p:nvSpPr>
        <p:spPr>
          <a:xfrm>
            <a:off x="1667752" y="344224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35" name="Google Shape;1435;p83"/>
          <p:cNvSpPr/>
          <p:nvPr/>
        </p:nvSpPr>
        <p:spPr>
          <a:xfrm>
            <a:off x="1104176" y="2808461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36" name="Google Shape;1436;p83"/>
          <p:cNvSpPr/>
          <p:nvPr/>
        </p:nvSpPr>
        <p:spPr>
          <a:xfrm>
            <a:off x="1667746" y="2323089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37" name="Google Shape;1437;p83"/>
          <p:cNvCxnSpPr>
            <a:stCxn id="1436" idx="4"/>
            <a:endCxn id="1435" idx="7"/>
          </p:cNvCxnSpPr>
          <p:nvPr/>
        </p:nvCxnSpPr>
        <p:spPr>
          <a:xfrm flipH="1">
            <a:off x="1579246" y="2677089"/>
            <a:ext cx="263400" cy="200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83"/>
          <p:cNvCxnSpPr>
            <a:stCxn id="1432" idx="4"/>
            <a:endCxn id="1435" idx="1"/>
          </p:cNvCxnSpPr>
          <p:nvPr/>
        </p:nvCxnSpPr>
        <p:spPr>
          <a:xfrm>
            <a:off x="877650" y="2677088"/>
            <a:ext cx="308100" cy="200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83"/>
          <p:cNvCxnSpPr>
            <a:stCxn id="1433" idx="0"/>
            <a:endCxn id="1435" idx="3"/>
          </p:cNvCxnSpPr>
          <p:nvPr/>
        </p:nvCxnSpPr>
        <p:spPr>
          <a:xfrm flipH="1" rot="10800000">
            <a:off x="877650" y="3210948"/>
            <a:ext cx="308100" cy="231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83"/>
          <p:cNvCxnSpPr>
            <a:stCxn id="1435" idx="5"/>
            <a:endCxn id="1434" idx="0"/>
          </p:cNvCxnSpPr>
          <p:nvPr/>
        </p:nvCxnSpPr>
        <p:spPr>
          <a:xfrm>
            <a:off x="1579179" y="3210997"/>
            <a:ext cx="263400" cy="231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1" name="Google Shape;1441;p83"/>
          <p:cNvSpPr/>
          <p:nvPr/>
        </p:nvSpPr>
        <p:spPr>
          <a:xfrm>
            <a:off x="3964660" y="2353034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2" name="Google Shape;1442;p83"/>
          <p:cNvSpPr/>
          <p:nvPr/>
        </p:nvSpPr>
        <p:spPr>
          <a:xfrm>
            <a:off x="3964660" y="347219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3" name="Google Shape;1443;p83"/>
          <p:cNvSpPr/>
          <p:nvPr/>
        </p:nvSpPr>
        <p:spPr>
          <a:xfrm>
            <a:off x="4929661" y="347219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4" name="Google Shape;1444;p83"/>
          <p:cNvSpPr/>
          <p:nvPr/>
        </p:nvSpPr>
        <p:spPr>
          <a:xfrm>
            <a:off x="4366086" y="2838407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45" name="Google Shape;1445;p83"/>
          <p:cNvSpPr/>
          <p:nvPr/>
        </p:nvSpPr>
        <p:spPr>
          <a:xfrm>
            <a:off x="4929656" y="2353035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46" name="Google Shape;1446;p83"/>
          <p:cNvCxnSpPr>
            <a:stCxn id="1445" idx="4"/>
            <a:endCxn id="1444" idx="7"/>
          </p:cNvCxnSpPr>
          <p:nvPr/>
        </p:nvCxnSpPr>
        <p:spPr>
          <a:xfrm flipH="1">
            <a:off x="4841156" y="2707035"/>
            <a:ext cx="263400" cy="200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83"/>
          <p:cNvCxnSpPr>
            <a:stCxn id="1441" idx="4"/>
            <a:endCxn id="1444" idx="1"/>
          </p:cNvCxnSpPr>
          <p:nvPr/>
        </p:nvCxnSpPr>
        <p:spPr>
          <a:xfrm>
            <a:off x="4139560" y="2707034"/>
            <a:ext cx="308100" cy="200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83"/>
          <p:cNvCxnSpPr>
            <a:stCxn id="1442" idx="0"/>
            <a:endCxn id="1444" idx="3"/>
          </p:cNvCxnSpPr>
          <p:nvPr/>
        </p:nvCxnSpPr>
        <p:spPr>
          <a:xfrm flipH="1" rot="10800000">
            <a:off x="4139560" y="3240893"/>
            <a:ext cx="308100" cy="23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83"/>
          <p:cNvCxnSpPr>
            <a:stCxn id="1444" idx="5"/>
            <a:endCxn id="1443" idx="0"/>
          </p:cNvCxnSpPr>
          <p:nvPr/>
        </p:nvCxnSpPr>
        <p:spPr>
          <a:xfrm>
            <a:off x="4841088" y="3240943"/>
            <a:ext cx="263400" cy="231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0" name="Google Shape;1450;p83"/>
          <p:cNvSpPr/>
          <p:nvPr/>
        </p:nvSpPr>
        <p:spPr>
          <a:xfrm>
            <a:off x="7126444" y="232308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51" name="Google Shape;1451;p83"/>
          <p:cNvSpPr/>
          <p:nvPr/>
        </p:nvSpPr>
        <p:spPr>
          <a:xfrm>
            <a:off x="7126444" y="344224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52" name="Google Shape;1452;p83"/>
          <p:cNvSpPr/>
          <p:nvPr/>
        </p:nvSpPr>
        <p:spPr>
          <a:xfrm>
            <a:off x="8091445" y="344224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53" name="Google Shape;1453;p83"/>
          <p:cNvSpPr/>
          <p:nvPr/>
        </p:nvSpPr>
        <p:spPr>
          <a:xfrm>
            <a:off x="7527870" y="2808461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54" name="Google Shape;1454;p83"/>
          <p:cNvSpPr/>
          <p:nvPr/>
        </p:nvSpPr>
        <p:spPr>
          <a:xfrm>
            <a:off x="8091440" y="2323089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55" name="Google Shape;1455;p83"/>
          <p:cNvCxnSpPr>
            <a:stCxn id="1454" idx="4"/>
            <a:endCxn id="1453" idx="7"/>
          </p:cNvCxnSpPr>
          <p:nvPr/>
        </p:nvCxnSpPr>
        <p:spPr>
          <a:xfrm flipH="1">
            <a:off x="8002940" y="2677089"/>
            <a:ext cx="263400" cy="200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83"/>
          <p:cNvCxnSpPr>
            <a:stCxn id="1450" idx="4"/>
            <a:endCxn id="1453" idx="1"/>
          </p:cNvCxnSpPr>
          <p:nvPr/>
        </p:nvCxnSpPr>
        <p:spPr>
          <a:xfrm>
            <a:off x="7301344" y="2677088"/>
            <a:ext cx="308100" cy="200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83"/>
          <p:cNvCxnSpPr>
            <a:stCxn id="1451" idx="0"/>
            <a:endCxn id="1453" idx="3"/>
          </p:cNvCxnSpPr>
          <p:nvPr/>
        </p:nvCxnSpPr>
        <p:spPr>
          <a:xfrm flipH="1" rot="10800000">
            <a:off x="7301344" y="3210948"/>
            <a:ext cx="308100" cy="23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83"/>
          <p:cNvCxnSpPr>
            <a:stCxn id="1453" idx="5"/>
            <a:endCxn id="1452" idx="0"/>
          </p:cNvCxnSpPr>
          <p:nvPr/>
        </p:nvCxnSpPr>
        <p:spPr>
          <a:xfrm>
            <a:off x="8002873" y="3210997"/>
            <a:ext cx="263400" cy="23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9" name="Google Shape;1459;p83"/>
          <p:cNvSpPr txBox="1"/>
          <p:nvPr/>
        </p:nvSpPr>
        <p:spPr>
          <a:xfrm>
            <a:off x="669100" y="4174050"/>
            <a:ext cx="1873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EI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(4-0) ÷ (4+0) = 1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EI = \frac{E - I}{E + I}" id="1460" name="Google Shape;1460;p8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25" y="1147225"/>
            <a:ext cx="2337750" cy="864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1" name="Google Shape;1461;p83"/>
          <p:cNvGrpSpPr/>
          <p:nvPr/>
        </p:nvGrpSpPr>
        <p:grpSpPr>
          <a:xfrm>
            <a:off x="3475450" y="1225150"/>
            <a:ext cx="2337750" cy="594000"/>
            <a:chOff x="6103500" y="1108550"/>
            <a:chExt cx="2337750" cy="594000"/>
          </a:xfrm>
        </p:grpSpPr>
        <p:sp>
          <p:nvSpPr>
            <p:cNvPr id="1462" name="Google Shape;1462;p83"/>
            <p:cNvSpPr/>
            <p:nvPr/>
          </p:nvSpPr>
          <p:spPr>
            <a:xfrm>
              <a:off x="6103500" y="1108550"/>
              <a:ext cx="2223300" cy="594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3" name="Google Shape;1463;p83"/>
            <p:cNvCxnSpPr>
              <a:endCxn id="1464" idx="1"/>
            </p:cNvCxnSpPr>
            <p:nvPr/>
          </p:nvCxnSpPr>
          <p:spPr>
            <a:xfrm flipH="1" rot="10800000">
              <a:off x="6261750" y="1262875"/>
              <a:ext cx="751200" cy="14100"/>
            </a:xfrm>
            <a:prstGeom prst="straightConnector1">
              <a:avLst/>
            </a:prstGeom>
            <a:noFill/>
            <a:ln cap="flat" cmpd="sng" w="762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" name="Google Shape;1465;p83"/>
            <p:cNvCxnSpPr>
              <a:endCxn id="1466" idx="1"/>
            </p:cNvCxnSpPr>
            <p:nvPr/>
          </p:nvCxnSpPr>
          <p:spPr>
            <a:xfrm flipH="1" rot="10800000">
              <a:off x="6240150" y="1496400"/>
              <a:ext cx="772800" cy="420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4" name="Google Shape;1464;p83"/>
            <p:cNvSpPr txBox="1"/>
            <p:nvPr/>
          </p:nvSpPr>
          <p:spPr>
            <a:xfrm>
              <a:off x="7012950" y="1147225"/>
              <a:ext cx="1428300" cy="2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Different </a:t>
              </a: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Race Tie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466" name="Google Shape;1466;p83"/>
            <p:cNvSpPr txBox="1"/>
            <p:nvPr/>
          </p:nvSpPr>
          <p:spPr>
            <a:xfrm>
              <a:off x="7012950" y="1380750"/>
              <a:ext cx="1428300" cy="2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Same </a:t>
              </a: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Race Tie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1467" name="Google Shape;1467;p83"/>
          <p:cNvSpPr txBox="1"/>
          <p:nvPr/>
        </p:nvSpPr>
        <p:spPr>
          <a:xfrm>
            <a:off x="3909425" y="4143425"/>
            <a:ext cx="1873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EI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(2-2) ÷ (2+ 2) = 0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8" name="Google Shape;1468;p83"/>
          <p:cNvSpPr txBox="1"/>
          <p:nvPr/>
        </p:nvSpPr>
        <p:spPr>
          <a:xfrm>
            <a:off x="6788275" y="4174050"/>
            <a:ext cx="2048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EI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(0 -4) ÷ (0 + 4) = -1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9" name="Google Shape;1469;p83"/>
          <p:cNvSpPr txBox="1"/>
          <p:nvPr/>
        </p:nvSpPr>
        <p:spPr>
          <a:xfrm>
            <a:off x="6506675" y="931650"/>
            <a:ext cx="23376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Difference in number of External Ties (E) to Internal Ties (I) </a:t>
            </a: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Divided</a:t>
            </a: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 by their Sum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0" name="Google Shape;1470;p83"/>
          <p:cNvSpPr txBox="1"/>
          <p:nvPr/>
        </p:nvSpPr>
        <p:spPr>
          <a:xfrm>
            <a:off x="663525" y="4578200"/>
            <a:ext cx="187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external ties, no internal ties</a:t>
            </a:r>
            <a:endParaRPr/>
          </a:p>
        </p:txBody>
      </p:sp>
      <p:sp>
        <p:nvSpPr>
          <p:cNvPr id="1471" name="Google Shape;1471;p83"/>
          <p:cNvSpPr txBox="1"/>
          <p:nvPr/>
        </p:nvSpPr>
        <p:spPr>
          <a:xfrm>
            <a:off x="3909425" y="4591375"/>
            <a:ext cx="187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e</a:t>
            </a:r>
            <a:r>
              <a:rPr lang="en"/>
              <a:t>xternal ties, and two internal ties</a:t>
            </a:r>
            <a:endParaRPr/>
          </a:p>
        </p:txBody>
      </p:sp>
      <p:sp>
        <p:nvSpPr>
          <p:cNvPr id="1472" name="Google Shape;1472;p83"/>
          <p:cNvSpPr txBox="1"/>
          <p:nvPr/>
        </p:nvSpPr>
        <p:spPr>
          <a:xfrm>
            <a:off x="6875725" y="4591375"/>
            <a:ext cx="187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r>
              <a:rPr lang="en"/>
              <a:t> external ties, and four internal ties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Blau’s Index of Heterogeneity (H)</a:t>
            </a:r>
            <a:endParaRPr/>
          </a:p>
        </p:txBody>
      </p:sp>
      <p:sp>
        <p:nvSpPr>
          <p:cNvPr id="1478" name="Google Shape;1478;p84"/>
          <p:cNvSpPr/>
          <p:nvPr/>
        </p:nvSpPr>
        <p:spPr>
          <a:xfrm>
            <a:off x="418325" y="229421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9" name="Google Shape;1479;p84"/>
          <p:cNvSpPr/>
          <p:nvPr/>
        </p:nvSpPr>
        <p:spPr>
          <a:xfrm>
            <a:off x="418325" y="3413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0" name="Google Shape;1480;p84"/>
          <p:cNvSpPr/>
          <p:nvPr/>
        </p:nvSpPr>
        <p:spPr>
          <a:xfrm>
            <a:off x="1383327" y="3413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1" name="Google Shape;1481;p84"/>
          <p:cNvSpPr/>
          <p:nvPr/>
        </p:nvSpPr>
        <p:spPr>
          <a:xfrm>
            <a:off x="819751" y="2779586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2" name="Google Shape;1482;p84"/>
          <p:cNvSpPr/>
          <p:nvPr/>
        </p:nvSpPr>
        <p:spPr>
          <a:xfrm>
            <a:off x="1383321" y="2294214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83" name="Google Shape;1483;p84"/>
          <p:cNvCxnSpPr>
            <a:stCxn id="1482" idx="4"/>
            <a:endCxn id="1481" idx="7"/>
          </p:cNvCxnSpPr>
          <p:nvPr/>
        </p:nvCxnSpPr>
        <p:spPr>
          <a:xfrm flipH="1">
            <a:off x="1294821" y="2648214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4" name="Google Shape;1484;p84"/>
          <p:cNvCxnSpPr>
            <a:stCxn id="1478" idx="4"/>
            <a:endCxn id="1481" idx="1"/>
          </p:cNvCxnSpPr>
          <p:nvPr/>
        </p:nvCxnSpPr>
        <p:spPr>
          <a:xfrm>
            <a:off x="593225" y="2648213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5" name="Google Shape;1485;p84"/>
          <p:cNvCxnSpPr>
            <a:stCxn id="1479" idx="0"/>
            <a:endCxn id="1481" idx="3"/>
          </p:cNvCxnSpPr>
          <p:nvPr/>
        </p:nvCxnSpPr>
        <p:spPr>
          <a:xfrm flipH="1" rot="10800000">
            <a:off x="593225" y="3182073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6" name="Google Shape;1486;p84"/>
          <p:cNvCxnSpPr>
            <a:stCxn id="1481" idx="5"/>
            <a:endCxn id="1480" idx="0"/>
          </p:cNvCxnSpPr>
          <p:nvPr/>
        </p:nvCxnSpPr>
        <p:spPr>
          <a:xfrm>
            <a:off x="1294754" y="3182122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84"/>
          <p:cNvSpPr/>
          <p:nvPr/>
        </p:nvSpPr>
        <p:spPr>
          <a:xfrm>
            <a:off x="2387622" y="2309621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8" name="Google Shape;1488;p84"/>
          <p:cNvSpPr/>
          <p:nvPr/>
        </p:nvSpPr>
        <p:spPr>
          <a:xfrm>
            <a:off x="2387622" y="3428781"/>
            <a:ext cx="349800" cy="354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9" name="Google Shape;1489;p84"/>
          <p:cNvSpPr/>
          <p:nvPr/>
        </p:nvSpPr>
        <p:spPr>
          <a:xfrm>
            <a:off x="3352624" y="3428781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0" name="Google Shape;1490;p84"/>
          <p:cNvSpPr/>
          <p:nvPr/>
        </p:nvSpPr>
        <p:spPr>
          <a:xfrm>
            <a:off x="2789048" y="2794995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1" name="Google Shape;1491;p84"/>
          <p:cNvSpPr/>
          <p:nvPr/>
        </p:nvSpPr>
        <p:spPr>
          <a:xfrm>
            <a:off x="3352618" y="230962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92" name="Google Shape;1492;p84"/>
          <p:cNvCxnSpPr>
            <a:stCxn id="1491" idx="4"/>
            <a:endCxn id="1490" idx="7"/>
          </p:cNvCxnSpPr>
          <p:nvPr/>
        </p:nvCxnSpPr>
        <p:spPr>
          <a:xfrm flipH="1">
            <a:off x="3264118" y="2663623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84"/>
          <p:cNvCxnSpPr>
            <a:stCxn id="1487" idx="4"/>
            <a:endCxn id="1490" idx="1"/>
          </p:cNvCxnSpPr>
          <p:nvPr/>
        </p:nvCxnSpPr>
        <p:spPr>
          <a:xfrm>
            <a:off x="2562522" y="2663621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84"/>
          <p:cNvCxnSpPr>
            <a:stCxn id="1488" idx="0"/>
            <a:endCxn id="1490" idx="3"/>
          </p:cNvCxnSpPr>
          <p:nvPr/>
        </p:nvCxnSpPr>
        <p:spPr>
          <a:xfrm flipH="1" rot="10800000">
            <a:off x="2562522" y="3197481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5" name="Google Shape;1495;p84"/>
          <p:cNvCxnSpPr>
            <a:stCxn id="1490" idx="5"/>
            <a:endCxn id="1489" idx="0"/>
          </p:cNvCxnSpPr>
          <p:nvPr/>
        </p:nvCxnSpPr>
        <p:spPr>
          <a:xfrm>
            <a:off x="3264051" y="3197531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6" name="Google Shape;1496;p84"/>
          <p:cNvSpPr/>
          <p:nvPr/>
        </p:nvSpPr>
        <p:spPr>
          <a:xfrm>
            <a:off x="4587244" y="2289213"/>
            <a:ext cx="349800" cy="3540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7" name="Google Shape;1497;p84"/>
          <p:cNvSpPr/>
          <p:nvPr/>
        </p:nvSpPr>
        <p:spPr>
          <a:xfrm>
            <a:off x="4587244" y="3408373"/>
            <a:ext cx="349800" cy="354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8" name="Google Shape;1498;p84"/>
          <p:cNvSpPr/>
          <p:nvPr/>
        </p:nvSpPr>
        <p:spPr>
          <a:xfrm>
            <a:off x="5552245" y="3408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9" name="Google Shape;1499;p84"/>
          <p:cNvSpPr/>
          <p:nvPr/>
        </p:nvSpPr>
        <p:spPr>
          <a:xfrm>
            <a:off x="4988670" y="2774586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0" name="Google Shape;1500;p84"/>
          <p:cNvSpPr/>
          <p:nvPr/>
        </p:nvSpPr>
        <p:spPr>
          <a:xfrm>
            <a:off x="5552240" y="2289214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01" name="Google Shape;1501;p84"/>
          <p:cNvCxnSpPr>
            <a:stCxn id="1500" idx="4"/>
            <a:endCxn id="1499" idx="7"/>
          </p:cNvCxnSpPr>
          <p:nvPr/>
        </p:nvCxnSpPr>
        <p:spPr>
          <a:xfrm flipH="1">
            <a:off x="5463740" y="2643214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84"/>
          <p:cNvCxnSpPr>
            <a:stCxn id="1496" idx="4"/>
            <a:endCxn id="1499" idx="1"/>
          </p:cNvCxnSpPr>
          <p:nvPr/>
        </p:nvCxnSpPr>
        <p:spPr>
          <a:xfrm>
            <a:off x="4762144" y="2643213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84"/>
          <p:cNvCxnSpPr>
            <a:stCxn id="1497" idx="0"/>
            <a:endCxn id="1499" idx="3"/>
          </p:cNvCxnSpPr>
          <p:nvPr/>
        </p:nvCxnSpPr>
        <p:spPr>
          <a:xfrm flipH="1" rot="10800000">
            <a:off x="4762144" y="3177073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84"/>
          <p:cNvCxnSpPr>
            <a:stCxn id="1499" idx="5"/>
            <a:endCxn id="1498" idx="0"/>
          </p:cNvCxnSpPr>
          <p:nvPr/>
        </p:nvCxnSpPr>
        <p:spPr>
          <a:xfrm>
            <a:off x="5463673" y="3177122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5" name="Google Shape;1505;p84"/>
          <p:cNvSpPr txBox="1"/>
          <p:nvPr/>
        </p:nvSpPr>
        <p:spPr>
          <a:xfrm>
            <a:off x="422125" y="3840214"/>
            <a:ext cx="13503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(4/4)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 1 - 1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1 - 1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H = 0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6" name="Google Shape;1506;p84"/>
          <p:cNvSpPr/>
          <p:nvPr/>
        </p:nvSpPr>
        <p:spPr>
          <a:xfrm>
            <a:off x="6914669" y="2276263"/>
            <a:ext cx="349800" cy="3540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7" name="Google Shape;1507;p84"/>
          <p:cNvSpPr/>
          <p:nvPr/>
        </p:nvSpPr>
        <p:spPr>
          <a:xfrm>
            <a:off x="6914669" y="3395423"/>
            <a:ext cx="349800" cy="354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8" name="Google Shape;1508;p84"/>
          <p:cNvSpPr/>
          <p:nvPr/>
        </p:nvSpPr>
        <p:spPr>
          <a:xfrm>
            <a:off x="7879670" y="339542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9" name="Google Shape;1509;p84"/>
          <p:cNvSpPr/>
          <p:nvPr/>
        </p:nvSpPr>
        <p:spPr>
          <a:xfrm>
            <a:off x="7316095" y="2761636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0" name="Google Shape;1510;p84"/>
          <p:cNvSpPr/>
          <p:nvPr/>
        </p:nvSpPr>
        <p:spPr>
          <a:xfrm>
            <a:off x="7879665" y="2276264"/>
            <a:ext cx="349800" cy="354000"/>
          </a:xfrm>
          <a:prstGeom prst="ellipse">
            <a:avLst/>
          </a:prstGeom>
          <a:solidFill>
            <a:srgbClr val="1155CC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11" name="Google Shape;1511;p84"/>
          <p:cNvCxnSpPr>
            <a:stCxn id="1510" idx="4"/>
            <a:endCxn id="1509" idx="7"/>
          </p:cNvCxnSpPr>
          <p:nvPr/>
        </p:nvCxnSpPr>
        <p:spPr>
          <a:xfrm flipH="1">
            <a:off x="7791165" y="2630264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2" name="Google Shape;1512;p84"/>
          <p:cNvCxnSpPr>
            <a:stCxn id="1506" idx="4"/>
            <a:endCxn id="1509" idx="1"/>
          </p:cNvCxnSpPr>
          <p:nvPr/>
        </p:nvCxnSpPr>
        <p:spPr>
          <a:xfrm>
            <a:off x="7089569" y="2630263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3" name="Google Shape;1513;p84"/>
          <p:cNvCxnSpPr>
            <a:stCxn id="1507" idx="0"/>
            <a:endCxn id="1509" idx="3"/>
          </p:cNvCxnSpPr>
          <p:nvPr/>
        </p:nvCxnSpPr>
        <p:spPr>
          <a:xfrm flipH="1" rot="10800000">
            <a:off x="7089569" y="3164123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4" name="Google Shape;1514;p84"/>
          <p:cNvCxnSpPr>
            <a:stCxn id="1509" idx="5"/>
            <a:endCxn id="1508" idx="0"/>
          </p:cNvCxnSpPr>
          <p:nvPr/>
        </p:nvCxnSpPr>
        <p:spPr>
          <a:xfrm>
            <a:off x="7791098" y="3164172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5" name="Google Shape;1515;p84"/>
          <p:cNvSpPr txBox="1"/>
          <p:nvPr/>
        </p:nvSpPr>
        <p:spPr>
          <a:xfrm>
            <a:off x="2189975" y="3840214"/>
            <a:ext cx="17481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[(¼)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(¾)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]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1 -(0.25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 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+ 0.75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)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(0.06 + 0.56)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H =  0.38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16" name="Google Shape;1516;p84"/>
          <p:cNvSpPr txBox="1"/>
          <p:nvPr/>
        </p:nvSpPr>
        <p:spPr>
          <a:xfrm>
            <a:off x="4143713" y="3785225"/>
            <a:ext cx="22464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[(¼)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(¼)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(½)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]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1 -(0.25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 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+ 0.25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+ 0.5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)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(0.06 + 0.06 + 0.25)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H = 0.63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17" name="Google Shape;1517;p84"/>
          <p:cNvSpPr txBox="1"/>
          <p:nvPr/>
        </p:nvSpPr>
        <p:spPr>
          <a:xfrm>
            <a:off x="6363250" y="3787675"/>
            <a:ext cx="27843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[(¼)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(¼)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(¼)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(¼)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]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1 -(0.25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 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+ 0.25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 + 0.25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  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+ 0.25</a:t>
            </a:r>
            <a:r>
              <a:rPr b="1" baseline="30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2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)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H = 1 - (0.06 + 0.06 + 0.06 + 0.06) 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H = 0.76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H = 1 - \sum_k p_k^2" id="1518" name="Google Shape;1518;p8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25" y="1244465"/>
            <a:ext cx="3280300" cy="643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9" name="Google Shape;1519;p84"/>
          <p:cNvGrpSpPr/>
          <p:nvPr/>
        </p:nvGrpSpPr>
        <p:grpSpPr>
          <a:xfrm>
            <a:off x="4024934" y="1082715"/>
            <a:ext cx="1094145" cy="887973"/>
            <a:chOff x="248500" y="1020725"/>
            <a:chExt cx="1478375" cy="1251900"/>
          </a:xfrm>
        </p:grpSpPr>
        <p:sp>
          <p:nvSpPr>
            <p:cNvPr id="1520" name="Google Shape;1520;p84"/>
            <p:cNvSpPr/>
            <p:nvPr/>
          </p:nvSpPr>
          <p:spPr>
            <a:xfrm>
              <a:off x="516077" y="1379922"/>
              <a:ext cx="194700" cy="194400"/>
            </a:xfrm>
            <a:prstGeom prst="ellipse">
              <a:avLst/>
            </a:prstGeom>
            <a:solidFill>
              <a:srgbClr val="38761D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endParaRPr>
            </a:p>
          </p:txBody>
        </p:sp>
        <p:sp>
          <p:nvSpPr>
            <p:cNvPr id="1521" name="Google Shape;1521;p84"/>
            <p:cNvSpPr/>
            <p:nvPr/>
          </p:nvSpPr>
          <p:spPr>
            <a:xfrm>
              <a:off x="516075" y="1633090"/>
              <a:ext cx="194700" cy="1944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endParaRPr>
            </a:p>
          </p:txBody>
        </p:sp>
        <p:sp>
          <p:nvSpPr>
            <p:cNvPr id="1522" name="Google Shape;1522;p84"/>
            <p:cNvSpPr/>
            <p:nvPr/>
          </p:nvSpPr>
          <p:spPr>
            <a:xfrm>
              <a:off x="516078" y="1101575"/>
              <a:ext cx="194700" cy="1944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endParaRPr>
            </a:p>
          </p:txBody>
        </p:sp>
        <p:sp>
          <p:nvSpPr>
            <p:cNvPr id="1523" name="Google Shape;1523;p84"/>
            <p:cNvSpPr/>
            <p:nvPr/>
          </p:nvSpPr>
          <p:spPr>
            <a:xfrm>
              <a:off x="516076" y="1886275"/>
              <a:ext cx="194700" cy="194400"/>
            </a:xfrm>
            <a:prstGeom prst="ellipse">
              <a:avLst/>
            </a:prstGeom>
            <a:solidFill>
              <a:srgbClr val="1155CC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endParaRPr>
            </a:p>
          </p:txBody>
        </p:sp>
        <p:sp>
          <p:nvSpPr>
            <p:cNvPr id="1524" name="Google Shape;1524;p84"/>
            <p:cNvSpPr txBox="1"/>
            <p:nvPr/>
          </p:nvSpPr>
          <p:spPr>
            <a:xfrm>
              <a:off x="710775" y="1098575"/>
              <a:ext cx="10161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White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525" name="Google Shape;1525;p84"/>
            <p:cNvSpPr txBox="1"/>
            <p:nvPr/>
          </p:nvSpPr>
          <p:spPr>
            <a:xfrm>
              <a:off x="710775" y="1364338"/>
              <a:ext cx="10161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Hispanic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526" name="Google Shape;1526;p84"/>
            <p:cNvSpPr txBox="1"/>
            <p:nvPr/>
          </p:nvSpPr>
          <p:spPr>
            <a:xfrm>
              <a:off x="710775" y="1625300"/>
              <a:ext cx="10161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Black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527" name="Google Shape;1527;p84"/>
            <p:cNvSpPr txBox="1"/>
            <p:nvPr/>
          </p:nvSpPr>
          <p:spPr>
            <a:xfrm>
              <a:off x="710775" y="1893200"/>
              <a:ext cx="10161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Asian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528" name="Google Shape;1528;p84"/>
            <p:cNvSpPr/>
            <p:nvPr/>
          </p:nvSpPr>
          <p:spPr>
            <a:xfrm>
              <a:off x="248500" y="1020725"/>
              <a:ext cx="1329900" cy="1251900"/>
            </a:xfrm>
            <a:prstGeom prst="rect">
              <a:avLst/>
            </a:prstGeom>
            <a:noFill/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9" name="Google Shape;1529;p84"/>
          <p:cNvSpPr txBox="1"/>
          <p:nvPr/>
        </p:nvSpPr>
        <p:spPr>
          <a:xfrm>
            <a:off x="6363250" y="1082725"/>
            <a:ext cx="23376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One minus the sum of squared proportions of alters from each group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ego networks</a:t>
            </a:r>
            <a:endParaRPr/>
          </a:p>
        </p:txBody>
      </p:sp>
      <p:sp>
        <p:nvSpPr>
          <p:cNvPr id="1535" name="Google Shape;1535;p85"/>
          <p:cNvSpPr txBox="1"/>
          <p:nvPr>
            <p:ph idx="1" type="body"/>
          </p:nvPr>
        </p:nvSpPr>
        <p:spPr>
          <a:xfrm>
            <a:off x="311700" y="1225225"/>
            <a:ext cx="480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relations (states)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Interpersonal sentiments and cognitions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acquaintanceship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Behavioral Social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85"/>
          <p:cNvSpPr/>
          <p:nvPr/>
        </p:nvSpPr>
        <p:spPr>
          <a:xfrm>
            <a:off x="58414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7" name="Google Shape;1537;p85"/>
          <p:cNvSpPr/>
          <p:nvPr/>
        </p:nvSpPr>
        <p:spPr>
          <a:xfrm>
            <a:off x="70875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8" name="Google Shape;1538;p85"/>
          <p:cNvSpPr/>
          <p:nvPr/>
        </p:nvSpPr>
        <p:spPr>
          <a:xfrm>
            <a:off x="80162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9" name="Google Shape;1539;p85"/>
          <p:cNvSpPr/>
          <p:nvPr/>
        </p:nvSpPr>
        <p:spPr>
          <a:xfrm>
            <a:off x="58414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0" name="Google Shape;1540;p85"/>
          <p:cNvSpPr/>
          <p:nvPr/>
        </p:nvSpPr>
        <p:spPr>
          <a:xfrm>
            <a:off x="69288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1" name="Google Shape;1541;p85"/>
          <p:cNvSpPr/>
          <p:nvPr/>
        </p:nvSpPr>
        <p:spPr>
          <a:xfrm>
            <a:off x="80162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2" name="Google Shape;1542;p85"/>
          <p:cNvSpPr/>
          <p:nvPr/>
        </p:nvSpPr>
        <p:spPr>
          <a:xfrm>
            <a:off x="54020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3" name="Google Shape;1543;p85"/>
          <p:cNvSpPr/>
          <p:nvPr/>
        </p:nvSpPr>
        <p:spPr>
          <a:xfrm>
            <a:off x="82757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44" name="Google Shape;1544;p85"/>
          <p:cNvCxnSpPr>
            <a:stCxn id="1536" idx="3"/>
            <a:endCxn id="1542" idx="0"/>
          </p:cNvCxnSpPr>
          <p:nvPr/>
        </p:nvCxnSpPr>
        <p:spPr>
          <a:xfrm flipH="1">
            <a:off x="56802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85"/>
          <p:cNvCxnSpPr>
            <a:stCxn id="1537" idx="3"/>
            <a:endCxn id="1536" idx="6"/>
          </p:cNvCxnSpPr>
          <p:nvPr/>
        </p:nvCxnSpPr>
        <p:spPr>
          <a:xfrm flipH="1">
            <a:off x="63980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85"/>
          <p:cNvCxnSpPr>
            <a:stCxn id="1537" idx="3"/>
            <a:endCxn id="1542" idx="0"/>
          </p:cNvCxnSpPr>
          <p:nvPr/>
        </p:nvCxnSpPr>
        <p:spPr>
          <a:xfrm flipH="1">
            <a:off x="56804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85"/>
          <p:cNvCxnSpPr>
            <a:stCxn id="1537" idx="3"/>
            <a:endCxn id="1539" idx="0"/>
          </p:cNvCxnSpPr>
          <p:nvPr/>
        </p:nvCxnSpPr>
        <p:spPr>
          <a:xfrm flipH="1">
            <a:off x="61196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85"/>
          <p:cNvCxnSpPr>
            <a:stCxn id="1542" idx="4"/>
            <a:endCxn id="1539" idx="0"/>
          </p:cNvCxnSpPr>
          <p:nvPr/>
        </p:nvCxnSpPr>
        <p:spPr>
          <a:xfrm>
            <a:off x="56803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85"/>
          <p:cNvCxnSpPr>
            <a:stCxn id="1541" idx="2"/>
            <a:endCxn id="1540" idx="7"/>
          </p:cNvCxnSpPr>
          <p:nvPr/>
        </p:nvCxnSpPr>
        <p:spPr>
          <a:xfrm flipH="1">
            <a:off x="74039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85"/>
          <p:cNvCxnSpPr>
            <a:stCxn id="1536" idx="4"/>
            <a:endCxn id="1539" idx="0"/>
          </p:cNvCxnSpPr>
          <p:nvPr/>
        </p:nvCxnSpPr>
        <p:spPr>
          <a:xfrm>
            <a:off x="61197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85"/>
          <p:cNvCxnSpPr>
            <a:stCxn id="1540" idx="1"/>
            <a:endCxn id="1539" idx="6"/>
          </p:cNvCxnSpPr>
          <p:nvPr/>
        </p:nvCxnSpPr>
        <p:spPr>
          <a:xfrm rot="10800000">
            <a:off x="63980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85"/>
          <p:cNvCxnSpPr>
            <a:stCxn id="1543" idx="4"/>
            <a:endCxn id="1541" idx="0"/>
          </p:cNvCxnSpPr>
          <p:nvPr/>
        </p:nvCxnSpPr>
        <p:spPr>
          <a:xfrm flipH="1">
            <a:off x="82945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85"/>
          <p:cNvCxnSpPr>
            <a:stCxn id="1543" idx="4"/>
            <a:endCxn id="1539" idx="6"/>
          </p:cNvCxnSpPr>
          <p:nvPr/>
        </p:nvCxnSpPr>
        <p:spPr>
          <a:xfrm flipH="1">
            <a:off x="63979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85"/>
          <p:cNvCxnSpPr>
            <a:stCxn id="1543" idx="4"/>
            <a:endCxn id="1540" idx="7"/>
          </p:cNvCxnSpPr>
          <p:nvPr/>
        </p:nvCxnSpPr>
        <p:spPr>
          <a:xfrm flipH="1">
            <a:off x="74038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5" name="Google Shape;1555;p85"/>
          <p:cNvSpPr/>
          <p:nvPr/>
        </p:nvSpPr>
        <p:spPr>
          <a:xfrm>
            <a:off x="6867600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56" name="Google Shape;1556;p85"/>
          <p:cNvCxnSpPr>
            <a:endCxn id="1555" idx="1"/>
          </p:cNvCxnSpPr>
          <p:nvPr/>
        </p:nvCxnSpPr>
        <p:spPr>
          <a:xfrm>
            <a:off x="6316368" y="1804591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85"/>
          <p:cNvCxnSpPr>
            <a:endCxn id="1555" idx="2"/>
          </p:cNvCxnSpPr>
          <p:nvPr/>
        </p:nvCxnSpPr>
        <p:spPr>
          <a:xfrm flipH="1" rot="10800000">
            <a:off x="5958600" y="2750100"/>
            <a:ext cx="909000" cy="22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8" name="Google Shape;1558;p85"/>
          <p:cNvCxnSpPr>
            <a:stCxn id="1555" idx="3"/>
          </p:cNvCxnSpPr>
          <p:nvPr/>
        </p:nvCxnSpPr>
        <p:spPr>
          <a:xfrm flipH="1">
            <a:off x="6316368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85"/>
          <p:cNvCxnSpPr>
            <a:stCxn id="1555" idx="4"/>
          </p:cNvCxnSpPr>
          <p:nvPr/>
        </p:nvCxnSpPr>
        <p:spPr>
          <a:xfrm flipH="1">
            <a:off x="7207050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85"/>
          <p:cNvCxnSpPr>
            <a:stCxn id="1555" idx="5"/>
          </p:cNvCxnSpPr>
          <p:nvPr/>
        </p:nvCxnSpPr>
        <p:spPr>
          <a:xfrm>
            <a:off x="7580232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1" name="Google Shape;1561;p85"/>
          <p:cNvCxnSpPr>
            <a:stCxn id="1555" idx="6"/>
          </p:cNvCxnSpPr>
          <p:nvPr/>
        </p:nvCxnSpPr>
        <p:spPr>
          <a:xfrm>
            <a:off x="7702500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85"/>
          <p:cNvCxnSpPr>
            <a:stCxn id="1555" idx="7"/>
          </p:cNvCxnSpPr>
          <p:nvPr/>
        </p:nvCxnSpPr>
        <p:spPr>
          <a:xfrm flipH="1" rot="10800000">
            <a:off x="7580232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3" name="Google Shape;1563;p85"/>
          <p:cNvCxnSpPr>
            <a:endCxn id="1555" idx="0"/>
          </p:cNvCxnSpPr>
          <p:nvPr/>
        </p:nvCxnSpPr>
        <p:spPr>
          <a:xfrm flipH="1">
            <a:off x="7285050" y="1652550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ego networks: Four steps</a:t>
            </a:r>
            <a:endParaRPr/>
          </a:p>
        </p:txBody>
      </p:sp>
      <p:sp>
        <p:nvSpPr>
          <p:cNvPr id="1569" name="Google Shape;1569;p86"/>
          <p:cNvSpPr txBox="1"/>
          <p:nvPr>
            <p:ph idx="1" type="body"/>
          </p:nvPr>
        </p:nvSpPr>
        <p:spPr>
          <a:xfrm>
            <a:off x="311700" y="1225225"/>
            <a:ext cx="480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Pick a type of relation you are interested in	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defines your </a:t>
            </a:r>
            <a:r>
              <a:rPr b="1" lang="en"/>
              <a:t>name generator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Pick a maximum number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5-20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Pick a set of altern and tie-level characteristics you are interested in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defines your </a:t>
            </a:r>
            <a:r>
              <a:rPr b="1" lang="en"/>
              <a:t>name interpreter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Collect information about relations between alters (optional)</a:t>
            </a:r>
            <a:endParaRPr/>
          </a:p>
        </p:txBody>
      </p:sp>
      <p:sp>
        <p:nvSpPr>
          <p:cNvPr id="1570" name="Google Shape;1570;p86"/>
          <p:cNvSpPr/>
          <p:nvPr/>
        </p:nvSpPr>
        <p:spPr>
          <a:xfrm>
            <a:off x="58414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1" name="Google Shape;1571;p86"/>
          <p:cNvSpPr/>
          <p:nvPr/>
        </p:nvSpPr>
        <p:spPr>
          <a:xfrm>
            <a:off x="70875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2" name="Google Shape;1572;p86"/>
          <p:cNvSpPr/>
          <p:nvPr/>
        </p:nvSpPr>
        <p:spPr>
          <a:xfrm>
            <a:off x="80162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3" name="Google Shape;1573;p86"/>
          <p:cNvSpPr/>
          <p:nvPr/>
        </p:nvSpPr>
        <p:spPr>
          <a:xfrm>
            <a:off x="58414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4" name="Google Shape;1574;p86"/>
          <p:cNvSpPr/>
          <p:nvPr/>
        </p:nvSpPr>
        <p:spPr>
          <a:xfrm>
            <a:off x="69288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5" name="Google Shape;1575;p86"/>
          <p:cNvSpPr/>
          <p:nvPr/>
        </p:nvSpPr>
        <p:spPr>
          <a:xfrm>
            <a:off x="80162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6" name="Google Shape;1576;p86"/>
          <p:cNvSpPr/>
          <p:nvPr/>
        </p:nvSpPr>
        <p:spPr>
          <a:xfrm>
            <a:off x="54020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77" name="Google Shape;1577;p86"/>
          <p:cNvSpPr/>
          <p:nvPr/>
        </p:nvSpPr>
        <p:spPr>
          <a:xfrm>
            <a:off x="82757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78" name="Google Shape;1578;p86"/>
          <p:cNvCxnSpPr>
            <a:stCxn id="1570" idx="3"/>
            <a:endCxn id="1576" idx="0"/>
          </p:cNvCxnSpPr>
          <p:nvPr/>
        </p:nvCxnSpPr>
        <p:spPr>
          <a:xfrm flipH="1">
            <a:off x="56802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86"/>
          <p:cNvCxnSpPr>
            <a:stCxn id="1571" idx="3"/>
            <a:endCxn id="1570" idx="6"/>
          </p:cNvCxnSpPr>
          <p:nvPr/>
        </p:nvCxnSpPr>
        <p:spPr>
          <a:xfrm flipH="1">
            <a:off x="63980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86"/>
          <p:cNvCxnSpPr>
            <a:stCxn id="1571" idx="3"/>
            <a:endCxn id="1576" idx="0"/>
          </p:cNvCxnSpPr>
          <p:nvPr/>
        </p:nvCxnSpPr>
        <p:spPr>
          <a:xfrm flipH="1">
            <a:off x="56804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86"/>
          <p:cNvCxnSpPr>
            <a:stCxn id="1571" idx="3"/>
            <a:endCxn id="1573" idx="0"/>
          </p:cNvCxnSpPr>
          <p:nvPr/>
        </p:nvCxnSpPr>
        <p:spPr>
          <a:xfrm flipH="1">
            <a:off x="61196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86"/>
          <p:cNvCxnSpPr>
            <a:stCxn id="1576" idx="4"/>
            <a:endCxn id="1573" idx="0"/>
          </p:cNvCxnSpPr>
          <p:nvPr/>
        </p:nvCxnSpPr>
        <p:spPr>
          <a:xfrm>
            <a:off x="56803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86"/>
          <p:cNvCxnSpPr>
            <a:stCxn id="1575" idx="2"/>
            <a:endCxn id="1574" idx="7"/>
          </p:cNvCxnSpPr>
          <p:nvPr/>
        </p:nvCxnSpPr>
        <p:spPr>
          <a:xfrm flipH="1">
            <a:off x="74039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86"/>
          <p:cNvCxnSpPr>
            <a:stCxn id="1570" idx="4"/>
            <a:endCxn id="1573" idx="0"/>
          </p:cNvCxnSpPr>
          <p:nvPr/>
        </p:nvCxnSpPr>
        <p:spPr>
          <a:xfrm>
            <a:off x="61197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86"/>
          <p:cNvCxnSpPr>
            <a:stCxn id="1574" idx="1"/>
            <a:endCxn id="1573" idx="6"/>
          </p:cNvCxnSpPr>
          <p:nvPr/>
        </p:nvCxnSpPr>
        <p:spPr>
          <a:xfrm rot="10800000">
            <a:off x="63980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86"/>
          <p:cNvCxnSpPr>
            <a:stCxn id="1577" idx="4"/>
            <a:endCxn id="1575" idx="0"/>
          </p:cNvCxnSpPr>
          <p:nvPr/>
        </p:nvCxnSpPr>
        <p:spPr>
          <a:xfrm flipH="1">
            <a:off x="82945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7" name="Google Shape;1587;p86"/>
          <p:cNvCxnSpPr>
            <a:stCxn id="1577" idx="4"/>
            <a:endCxn id="1573" idx="6"/>
          </p:cNvCxnSpPr>
          <p:nvPr/>
        </p:nvCxnSpPr>
        <p:spPr>
          <a:xfrm flipH="1">
            <a:off x="63979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8" name="Google Shape;1588;p86"/>
          <p:cNvCxnSpPr>
            <a:stCxn id="1577" idx="4"/>
            <a:endCxn id="1574" idx="7"/>
          </p:cNvCxnSpPr>
          <p:nvPr/>
        </p:nvCxnSpPr>
        <p:spPr>
          <a:xfrm flipH="1">
            <a:off x="74038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9" name="Google Shape;1589;p86"/>
          <p:cNvSpPr/>
          <p:nvPr/>
        </p:nvSpPr>
        <p:spPr>
          <a:xfrm>
            <a:off x="6867600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90" name="Google Shape;1590;p86"/>
          <p:cNvCxnSpPr>
            <a:endCxn id="1589" idx="1"/>
          </p:cNvCxnSpPr>
          <p:nvPr/>
        </p:nvCxnSpPr>
        <p:spPr>
          <a:xfrm>
            <a:off x="6316368" y="1804591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86"/>
          <p:cNvCxnSpPr>
            <a:endCxn id="1589" idx="2"/>
          </p:cNvCxnSpPr>
          <p:nvPr/>
        </p:nvCxnSpPr>
        <p:spPr>
          <a:xfrm flipH="1" rot="10800000">
            <a:off x="5958600" y="2750100"/>
            <a:ext cx="909000" cy="22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86"/>
          <p:cNvCxnSpPr>
            <a:stCxn id="1589" idx="3"/>
          </p:cNvCxnSpPr>
          <p:nvPr/>
        </p:nvCxnSpPr>
        <p:spPr>
          <a:xfrm flipH="1">
            <a:off x="6316368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86"/>
          <p:cNvCxnSpPr>
            <a:stCxn id="1589" idx="4"/>
          </p:cNvCxnSpPr>
          <p:nvPr/>
        </p:nvCxnSpPr>
        <p:spPr>
          <a:xfrm flipH="1">
            <a:off x="7207050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86"/>
          <p:cNvCxnSpPr>
            <a:stCxn id="1589" idx="5"/>
          </p:cNvCxnSpPr>
          <p:nvPr/>
        </p:nvCxnSpPr>
        <p:spPr>
          <a:xfrm>
            <a:off x="7580232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86"/>
          <p:cNvCxnSpPr>
            <a:stCxn id="1589" idx="6"/>
          </p:cNvCxnSpPr>
          <p:nvPr/>
        </p:nvCxnSpPr>
        <p:spPr>
          <a:xfrm>
            <a:off x="7702500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86"/>
          <p:cNvCxnSpPr>
            <a:stCxn id="1589" idx="7"/>
          </p:cNvCxnSpPr>
          <p:nvPr/>
        </p:nvCxnSpPr>
        <p:spPr>
          <a:xfrm flipH="1" rot="10800000">
            <a:off x="7580232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7" name="Google Shape;1597;p86"/>
          <p:cNvCxnSpPr>
            <a:endCxn id="1589" idx="0"/>
          </p:cNvCxnSpPr>
          <p:nvPr/>
        </p:nvCxnSpPr>
        <p:spPr>
          <a:xfrm flipH="1">
            <a:off x="7285050" y="1652550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generators: Four approaches</a:t>
            </a:r>
            <a:endParaRPr/>
          </a:p>
        </p:txBody>
      </p:sp>
      <p:sp>
        <p:nvSpPr>
          <p:cNvPr id="1603" name="Google Shape;1603;p87"/>
          <p:cNvSpPr txBox="1"/>
          <p:nvPr>
            <p:ph idx="1" type="body"/>
          </p:nvPr>
        </p:nvSpPr>
        <p:spPr>
          <a:xfrm>
            <a:off x="311700" y="1225225"/>
            <a:ext cx="480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Role-Relation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Neighbors, friends, kin, co-authors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Interaction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Frequency, duration of contact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Affective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Significant, close, enemies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Exchange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Information, favors, support, resources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Different approaches can produce ego-networks with different structural characteristics!</a:t>
            </a:r>
            <a:endParaRPr/>
          </a:p>
        </p:txBody>
      </p:sp>
      <p:sp>
        <p:nvSpPr>
          <p:cNvPr id="1604" name="Google Shape;1604;p87"/>
          <p:cNvSpPr/>
          <p:nvPr/>
        </p:nvSpPr>
        <p:spPr>
          <a:xfrm>
            <a:off x="58414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05" name="Google Shape;1605;p87"/>
          <p:cNvSpPr/>
          <p:nvPr/>
        </p:nvSpPr>
        <p:spPr>
          <a:xfrm>
            <a:off x="70875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06" name="Google Shape;1606;p87"/>
          <p:cNvSpPr/>
          <p:nvPr/>
        </p:nvSpPr>
        <p:spPr>
          <a:xfrm>
            <a:off x="80162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07" name="Google Shape;1607;p87"/>
          <p:cNvSpPr/>
          <p:nvPr/>
        </p:nvSpPr>
        <p:spPr>
          <a:xfrm>
            <a:off x="58414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08" name="Google Shape;1608;p87"/>
          <p:cNvSpPr/>
          <p:nvPr/>
        </p:nvSpPr>
        <p:spPr>
          <a:xfrm>
            <a:off x="69288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09" name="Google Shape;1609;p87"/>
          <p:cNvSpPr/>
          <p:nvPr/>
        </p:nvSpPr>
        <p:spPr>
          <a:xfrm>
            <a:off x="80162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10" name="Google Shape;1610;p87"/>
          <p:cNvSpPr/>
          <p:nvPr/>
        </p:nvSpPr>
        <p:spPr>
          <a:xfrm>
            <a:off x="54020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11" name="Google Shape;1611;p87"/>
          <p:cNvSpPr/>
          <p:nvPr/>
        </p:nvSpPr>
        <p:spPr>
          <a:xfrm>
            <a:off x="82757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12" name="Google Shape;1612;p87"/>
          <p:cNvCxnSpPr>
            <a:stCxn id="1604" idx="3"/>
            <a:endCxn id="1610" idx="0"/>
          </p:cNvCxnSpPr>
          <p:nvPr/>
        </p:nvCxnSpPr>
        <p:spPr>
          <a:xfrm flipH="1">
            <a:off x="56802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3" name="Google Shape;1613;p87"/>
          <p:cNvCxnSpPr>
            <a:stCxn id="1605" idx="3"/>
            <a:endCxn id="1604" idx="6"/>
          </p:cNvCxnSpPr>
          <p:nvPr/>
        </p:nvCxnSpPr>
        <p:spPr>
          <a:xfrm flipH="1">
            <a:off x="63980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87"/>
          <p:cNvCxnSpPr>
            <a:stCxn id="1605" idx="3"/>
            <a:endCxn id="1610" idx="0"/>
          </p:cNvCxnSpPr>
          <p:nvPr/>
        </p:nvCxnSpPr>
        <p:spPr>
          <a:xfrm flipH="1">
            <a:off x="56804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87"/>
          <p:cNvCxnSpPr>
            <a:stCxn id="1605" idx="3"/>
            <a:endCxn id="1607" idx="0"/>
          </p:cNvCxnSpPr>
          <p:nvPr/>
        </p:nvCxnSpPr>
        <p:spPr>
          <a:xfrm flipH="1">
            <a:off x="61196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87"/>
          <p:cNvCxnSpPr>
            <a:stCxn id="1610" idx="4"/>
            <a:endCxn id="1607" idx="0"/>
          </p:cNvCxnSpPr>
          <p:nvPr/>
        </p:nvCxnSpPr>
        <p:spPr>
          <a:xfrm>
            <a:off x="56803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87"/>
          <p:cNvCxnSpPr>
            <a:stCxn id="1609" idx="2"/>
            <a:endCxn id="1608" idx="7"/>
          </p:cNvCxnSpPr>
          <p:nvPr/>
        </p:nvCxnSpPr>
        <p:spPr>
          <a:xfrm flipH="1">
            <a:off x="74039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87"/>
          <p:cNvCxnSpPr>
            <a:stCxn id="1604" idx="4"/>
            <a:endCxn id="1607" idx="0"/>
          </p:cNvCxnSpPr>
          <p:nvPr/>
        </p:nvCxnSpPr>
        <p:spPr>
          <a:xfrm>
            <a:off x="61197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87"/>
          <p:cNvCxnSpPr>
            <a:stCxn id="1608" idx="1"/>
            <a:endCxn id="1607" idx="6"/>
          </p:cNvCxnSpPr>
          <p:nvPr/>
        </p:nvCxnSpPr>
        <p:spPr>
          <a:xfrm rot="10800000">
            <a:off x="63980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0" name="Google Shape;1620;p87"/>
          <p:cNvCxnSpPr>
            <a:stCxn id="1611" idx="4"/>
            <a:endCxn id="1609" idx="0"/>
          </p:cNvCxnSpPr>
          <p:nvPr/>
        </p:nvCxnSpPr>
        <p:spPr>
          <a:xfrm flipH="1">
            <a:off x="82945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1" name="Google Shape;1621;p87"/>
          <p:cNvCxnSpPr>
            <a:stCxn id="1611" idx="4"/>
            <a:endCxn id="1607" idx="6"/>
          </p:cNvCxnSpPr>
          <p:nvPr/>
        </p:nvCxnSpPr>
        <p:spPr>
          <a:xfrm flipH="1">
            <a:off x="63979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87"/>
          <p:cNvCxnSpPr>
            <a:stCxn id="1611" idx="4"/>
            <a:endCxn id="1608" idx="7"/>
          </p:cNvCxnSpPr>
          <p:nvPr/>
        </p:nvCxnSpPr>
        <p:spPr>
          <a:xfrm flipH="1">
            <a:off x="74038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3" name="Google Shape;1623;p87"/>
          <p:cNvSpPr/>
          <p:nvPr/>
        </p:nvSpPr>
        <p:spPr>
          <a:xfrm>
            <a:off x="6867600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24" name="Google Shape;1624;p87"/>
          <p:cNvCxnSpPr>
            <a:endCxn id="1623" idx="1"/>
          </p:cNvCxnSpPr>
          <p:nvPr/>
        </p:nvCxnSpPr>
        <p:spPr>
          <a:xfrm>
            <a:off x="6316368" y="1804591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87"/>
          <p:cNvCxnSpPr>
            <a:endCxn id="1623" idx="2"/>
          </p:cNvCxnSpPr>
          <p:nvPr/>
        </p:nvCxnSpPr>
        <p:spPr>
          <a:xfrm flipH="1" rot="10800000">
            <a:off x="5958600" y="2750100"/>
            <a:ext cx="909000" cy="22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87"/>
          <p:cNvCxnSpPr>
            <a:stCxn id="1623" idx="3"/>
          </p:cNvCxnSpPr>
          <p:nvPr/>
        </p:nvCxnSpPr>
        <p:spPr>
          <a:xfrm flipH="1">
            <a:off x="6316368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87"/>
          <p:cNvCxnSpPr>
            <a:stCxn id="1623" idx="4"/>
          </p:cNvCxnSpPr>
          <p:nvPr/>
        </p:nvCxnSpPr>
        <p:spPr>
          <a:xfrm flipH="1">
            <a:off x="7207050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87"/>
          <p:cNvCxnSpPr>
            <a:stCxn id="1623" idx="5"/>
          </p:cNvCxnSpPr>
          <p:nvPr/>
        </p:nvCxnSpPr>
        <p:spPr>
          <a:xfrm>
            <a:off x="7580232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87"/>
          <p:cNvCxnSpPr>
            <a:stCxn id="1623" idx="6"/>
          </p:cNvCxnSpPr>
          <p:nvPr/>
        </p:nvCxnSpPr>
        <p:spPr>
          <a:xfrm>
            <a:off x="7702500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87"/>
          <p:cNvCxnSpPr>
            <a:stCxn id="1623" idx="7"/>
          </p:cNvCxnSpPr>
          <p:nvPr/>
        </p:nvCxnSpPr>
        <p:spPr>
          <a:xfrm flipH="1" rot="10800000">
            <a:off x="7580232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87"/>
          <p:cNvCxnSpPr>
            <a:endCxn id="1623" idx="0"/>
          </p:cNvCxnSpPr>
          <p:nvPr/>
        </p:nvCxnSpPr>
        <p:spPr>
          <a:xfrm flipH="1">
            <a:off x="7285050" y="1652550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generators: Four approaches</a:t>
            </a:r>
            <a:endParaRPr/>
          </a:p>
        </p:txBody>
      </p:sp>
      <p:sp>
        <p:nvSpPr>
          <p:cNvPr id="1637" name="Google Shape;1637;p88"/>
          <p:cNvSpPr txBox="1"/>
          <p:nvPr>
            <p:ph idx="1" type="body"/>
          </p:nvPr>
        </p:nvSpPr>
        <p:spPr>
          <a:xfrm>
            <a:off x="311700" y="1225225"/>
            <a:ext cx="480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Role-Relation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“list the names of up to [X] [</a:t>
            </a:r>
            <a:r>
              <a:rPr i="1" lang="en">
                <a:solidFill>
                  <a:srgbClr val="FF0000"/>
                </a:solidFill>
              </a:rPr>
              <a:t>friends, co-workers, co-authors, pub-mates</a:t>
            </a:r>
            <a:r>
              <a:rPr i="1" lang="en"/>
              <a:t>, etc.]”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Interaction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“list the names of up to [X] of the people you most </a:t>
            </a:r>
            <a:r>
              <a:rPr i="1" lang="en">
                <a:solidFill>
                  <a:srgbClr val="FF0000"/>
                </a:solidFill>
              </a:rPr>
              <a:t>frequently interact </a:t>
            </a:r>
            <a:r>
              <a:rPr i="1" lang="en"/>
              <a:t>with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Affective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“list the names of up to [X] of the people you [</a:t>
            </a:r>
            <a:r>
              <a:rPr i="1" lang="en">
                <a:solidFill>
                  <a:srgbClr val="FF0000"/>
                </a:solidFill>
              </a:rPr>
              <a:t>feel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closest to, trust most, etc.</a:t>
            </a:r>
            <a:r>
              <a:rPr i="1" lang="en"/>
              <a:t>]”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Exchange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“list the names of up to [X] of the people you would go to for [</a:t>
            </a:r>
            <a:r>
              <a:rPr i="1" lang="en">
                <a:solidFill>
                  <a:srgbClr val="FF0000"/>
                </a:solidFill>
              </a:rPr>
              <a:t>advice, financial support, etc</a:t>
            </a:r>
            <a:r>
              <a:rPr i="1" lang="en"/>
              <a:t>.]</a:t>
            </a:r>
            <a:endParaRPr i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88"/>
          <p:cNvSpPr/>
          <p:nvPr/>
        </p:nvSpPr>
        <p:spPr>
          <a:xfrm>
            <a:off x="58414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39" name="Google Shape;1639;p88"/>
          <p:cNvSpPr/>
          <p:nvPr/>
        </p:nvSpPr>
        <p:spPr>
          <a:xfrm>
            <a:off x="70875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0" name="Google Shape;1640;p88"/>
          <p:cNvSpPr/>
          <p:nvPr/>
        </p:nvSpPr>
        <p:spPr>
          <a:xfrm>
            <a:off x="80162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1" name="Google Shape;1641;p88"/>
          <p:cNvSpPr/>
          <p:nvPr/>
        </p:nvSpPr>
        <p:spPr>
          <a:xfrm>
            <a:off x="58414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2" name="Google Shape;1642;p88"/>
          <p:cNvSpPr/>
          <p:nvPr/>
        </p:nvSpPr>
        <p:spPr>
          <a:xfrm>
            <a:off x="69288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3" name="Google Shape;1643;p88"/>
          <p:cNvSpPr/>
          <p:nvPr/>
        </p:nvSpPr>
        <p:spPr>
          <a:xfrm>
            <a:off x="80162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4" name="Google Shape;1644;p88"/>
          <p:cNvSpPr/>
          <p:nvPr/>
        </p:nvSpPr>
        <p:spPr>
          <a:xfrm>
            <a:off x="54020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45" name="Google Shape;1645;p88"/>
          <p:cNvSpPr/>
          <p:nvPr/>
        </p:nvSpPr>
        <p:spPr>
          <a:xfrm>
            <a:off x="82757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46" name="Google Shape;1646;p88"/>
          <p:cNvCxnSpPr>
            <a:stCxn id="1638" idx="3"/>
            <a:endCxn id="1644" idx="0"/>
          </p:cNvCxnSpPr>
          <p:nvPr/>
        </p:nvCxnSpPr>
        <p:spPr>
          <a:xfrm flipH="1">
            <a:off x="56802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7" name="Google Shape;1647;p88"/>
          <p:cNvCxnSpPr>
            <a:stCxn id="1639" idx="3"/>
            <a:endCxn id="1638" idx="6"/>
          </p:cNvCxnSpPr>
          <p:nvPr/>
        </p:nvCxnSpPr>
        <p:spPr>
          <a:xfrm flipH="1">
            <a:off x="63980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8" name="Google Shape;1648;p88"/>
          <p:cNvCxnSpPr>
            <a:stCxn id="1639" idx="3"/>
            <a:endCxn id="1644" idx="0"/>
          </p:cNvCxnSpPr>
          <p:nvPr/>
        </p:nvCxnSpPr>
        <p:spPr>
          <a:xfrm flipH="1">
            <a:off x="56804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88"/>
          <p:cNvCxnSpPr>
            <a:stCxn id="1639" idx="3"/>
            <a:endCxn id="1641" idx="0"/>
          </p:cNvCxnSpPr>
          <p:nvPr/>
        </p:nvCxnSpPr>
        <p:spPr>
          <a:xfrm flipH="1">
            <a:off x="61196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88"/>
          <p:cNvCxnSpPr>
            <a:stCxn id="1644" idx="4"/>
            <a:endCxn id="1641" idx="0"/>
          </p:cNvCxnSpPr>
          <p:nvPr/>
        </p:nvCxnSpPr>
        <p:spPr>
          <a:xfrm>
            <a:off x="56803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88"/>
          <p:cNvCxnSpPr>
            <a:stCxn id="1643" idx="2"/>
            <a:endCxn id="1642" idx="7"/>
          </p:cNvCxnSpPr>
          <p:nvPr/>
        </p:nvCxnSpPr>
        <p:spPr>
          <a:xfrm flipH="1">
            <a:off x="74039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88"/>
          <p:cNvCxnSpPr>
            <a:stCxn id="1638" idx="4"/>
            <a:endCxn id="1641" idx="0"/>
          </p:cNvCxnSpPr>
          <p:nvPr/>
        </p:nvCxnSpPr>
        <p:spPr>
          <a:xfrm>
            <a:off x="61197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88"/>
          <p:cNvCxnSpPr>
            <a:stCxn id="1642" idx="1"/>
            <a:endCxn id="1641" idx="6"/>
          </p:cNvCxnSpPr>
          <p:nvPr/>
        </p:nvCxnSpPr>
        <p:spPr>
          <a:xfrm rot="10800000">
            <a:off x="63980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88"/>
          <p:cNvCxnSpPr>
            <a:stCxn id="1645" idx="4"/>
            <a:endCxn id="1643" idx="0"/>
          </p:cNvCxnSpPr>
          <p:nvPr/>
        </p:nvCxnSpPr>
        <p:spPr>
          <a:xfrm flipH="1">
            <a:off x="82945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5" name="Google Shape;1655;p88"/>
          <p:cNvCxnSpPr>
            <a:stCxn id="1645" idx="4"/>
            <a:endCxn id="1641" idx="6"/>
          </p:cNvCxnSpPr>
          <p:nvPr/>
        </p:nvCxnSpPr>
        <p:spPr>
          <a:xfrm flipH="1">
            <a:off x="63979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88"/>
          <p:cNvCxnSpPr>
            <a:stCxn id="1645" idx="4"/>
            <a:endCxn id="1642" idx="7"/>
          </p:cNvCxnSpPr>
          <p:nvPr/>
        </p:nvCxnSpPr>
        <p:spPr>
          <a:xfrm flipH="1">
            <a:off x="74038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7" name="Google Shape;1657;p88"/>
          <p:cNvSpPr/>
          <p:nvPr/>
        </p:nvSpPr>
        <p:spPr>
          <a:xfrm>
            <a:off x="6867600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58" name="Google Shape;1658;p88"/>
          <p:cNvCxnSpPr>
            <a:endCxn id="1657" idx="1"/>
          </p:cNvCxnSpPr>
          <p:nvPr/>
        </p:nvCxnSpPr>
        <p:spPr>
          <a:xfrm>
            <a:off x="6316368" y="1804591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9" name="Google Shape;1659;p88"/>
          <p:cNvCxnSpPr>
            <a:endCxn id="1657" idx="2"/>
          </p:cNvCxnSpPr>
          <p:nvPr/>
        </p:nvCxnSpPr>
        <p:spPr>
          <a:xfrm flipH="1" rot="10800000">
            <a:off x="5958600" y="2750100"/>
            <a:ext cx="909000" cy="22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88"/>
          <p:cNvCxnSpPr>
            <a:stCxn id="1657" idx="3"/>
          </p:cNvCxnSpPr>
          <p:nvPr/>
        </p:nvCxnSpPr>
        <p:spPr>
          <a:xfrm flipH="1">
            <a:off x="6316368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88"/>
          <p:cNvCxnSpPr>
            <a:stCxn id="1657" idx="4"/>
          </p:cNvCxnSpPr>
          <p:nvPr/>
        </p:nvCxnSpPr>
        <p:spPr>
          <a:xfrm flipH="1">
            <a:off x="7207050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88"/>
          <p:cNvCxnSpPr>
            <a:stCxn id="1657" idx="5"/>
          </p:cNvCxnSpPr>
          <p:nvPr/>
        </p:nvCxnSpPr>
        <p:spPr>
          <a:xfrm>
            <a:off x="7580232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88"/>
          <p:cNvCxnSpPr>
            <a:stCxn id="1657" idx="6"/>
          </p:cNvCxnSpPr>
          <p:nvPr/>
        </p:nvCxnSpPr>
        <p:spPr>
          <a:xfrm>
            <a:off x="7702500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88"/>
          <p:cNvCxnSpPr>
            <a:stCxn id="1657" idx="7"/>
          </p:cNvCxnSpPr>
          <p:nvPr/>
        </p:nvCxnSpPr>
        <p:spPr>
          <a:xfrm flipH="1" rot="10800000">
            <a:off x="7580232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88"/>
          <p:cNvCxnSpPr>
            <a:endCxn id="1657" idx="0"/>
          </p:cNvCxnSpPr>
          <p:nvPr/>
        </p:nvCxnSpPr>
        <p:spPr>
          <a:xfrm flipH="1">
            <a:off x="7285050" y="1652550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generators: Four approaches</a:t>
            </a:r>
            <a:endParaRPr/>
          </a:p>
        </p:txBody>
      </p:sp>
      <p:sp>
        <p:nvSpPr>
          <p:cNvPr id="1671" name="Google Shape;1671;p89"/>
          <p:cNvSpPr txBox="1"/>
          <p:nvPr>
            <p:ph idx="1" type="body"/>
          </p:nvPr>
        </p:nvSpPr>
        <p:spPr>
          <a:xfrm>
            <a:off x="311700" y="1225225"/>
            <a:ext cx="480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Famous examples: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Wellman’s (1979) </a:t>
            </a:r>
            <a:r>
              <a:rPr i="1" lang="en"/>
              <a:t>East York Study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“Name the six persons outside your home that you feel closest to.”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Fischer’s (1982) </a:t>
            </a:r>
            <a:r>
              <a:rPr i="1" lang="en"/>
              <a:t>Northern California Communities Study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“Name all persons who would provide any of eight types of aid”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Marsden’s (1987) </a:t>
            </a:r>
            <a:r>
              <a:rPr i="1" lang="en"/>
              <a:t>General Social Survey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“Named all persons with whom you have discussed matters important to you”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89"/>
          <p:cNvSpPr/>
          <p:nvPr/>
        </p:nvSpPr>
        <p:spPr>
          <a:xfrm>
            <a:off x="5841463" y="1373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3" name="Google Shape;1673;p89"/>
          <p:cNvSpPr/>
          <p:nvPr/>
        </p:nvSpPr>
        <p:spPr>
          <a:xfrm>
            <a:off x="7087573" y="11472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4" name="Google Shape;1674;p89"/>
          <p:cNvSpPr/>
          <p:nvPr/>
        </p:nvSpPr>
        <p:spPr>
          <a:xfrm>
            <a:off x="8016284" y="16524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5" name="Google Shape;1675;p89"/>
          <p:cNvSpPr/>
          <p:nvPr/>
        </p:nvSpPr>
        <p:spPr>
          <a:xfrm>
            <a:off x="5841463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6" name="Google Shape;1676;p89"/>
          <p:cNvSpPr/>
          <p:nvPr/>
        </p:nvSpPr>
        <p:spPr>
          <a:xfrm>
            <a:off x="6928873" y="38477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7" name="Google Shape;1677;p89"/>
          <p:cNvSpPr/>
          <p:nvPr/>
        </p:nvSpPr>
        <p:spPr>
          <a:xfrm>
            <a:off x="8016284" y="3632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8" name="Google Shape;1678;p89"/>
          <p:cNvSpPr/>
          <p:nvPr/>
        </p:nvSpPr>
        <p:spPr>
          <a:xfrm>
            <a:off x="5402088" y="27254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679" name="Google Shape;1679;p89"/>
          <p:cNvSpPr/>
          <p:nvPr/>
        </p:nvSpPr>
        <p:spPr>
          <a:xfrm>
            <a:off x="8275788" y="2502793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80" name="Google Shape;1680;p89"/>
          <p:cNvCxnSpPr>
            <a:stCxn id="1672" idx="3"/>
            <a:endCxn id="1678" idx="0"/>
          </p:cNvCxnSpPr>
          <p:nvPr/>
        </p:nvCxnSpPr>
        <p:spPr>
          <a:xfrm flipH="1">
            <a:off x="5680260" y="1804683"/>
            <a:ext cx="242700" cy="920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89"/>
          <p:cNvCxnSpPr>
            <a:stCxn id="1673" idx="3"/>
            <a:endCxn id="1672" idx="6"/>
          </p:cNvCxnSpPr>
          <p:nvPr/>
        </p:nvCxnSpPr>
        <p:spPr>
          <a:xfrm flipH="1">
            <a:off x="6398071" y="1578441"/>
            <a:ext cx="771000" cy="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89"/>
          <p:cNvCxnSpPr>
            <a:stCxn id="1673" idx="3"/>
            <a:endCxn id="1678" idx="0"/>
          </p:cNvCxnSpPr>
          <p:nvPr/>
        </p:nvCxnSpPr>
        <p:spPr>
          <a:xfrm flipH="1">
            <a:off x="5680471" y="1578441"/>
            <a:ext cx="1488600" cy="114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89"/>
          <p:cNvCxnSpPr>
            <a:stCxn id="1673" idx="3"/>
            <a:endCxn id="1675" idx="0"/>
          </p:cNvCxnSpPr>
          <p:nvPr/>
        </p:nvCxnSpPr>
        <p:spPr>
          <a:xfrm flipH="1">
            <a:off x="6119671" y="1578441"/>
            <a:ext cx="1049400" cy="205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4" name="Google Shape;1684;p89"/>
          <p:cNvCxnSpPr>
            <a:stCxn id="1678" idx="4"/>
            <a:endCxn id="1675" idx="0"/>
          </p:cNvCxnSpPr>
          <p:nvPr/>
        </p:nvCxnSpPr>
        <p:spPr>
          <a:xfrm>
            <a:off x="5680338" y="3230668"/>
            <a:ext cx="439500" cy="40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5" name="Google Shape;1685;p89"/>
          <p:cNvCxnSpPr>
            <a:stCxn id="1677" idx="2"/>
            <a:endCxn id="1676" idx="7"/>
          </p:cNvCxnSpPr>
          <p:nvPr/>
        </p:nvCxnSpPr>
        <p:spPr>
          <a:xfrm flipH="1">
            <a:off x="7403984" y="3884718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6" name="Google Shape;1686;p89"/>
          <p:cNvCxnSpPr>
            <a:stCxn id="1672" idx="4"/>
            <a:endCxn id="1675" idx="0"/>
          </p:cNvCxnSpPr>
          <p:nvPr/>
        </p:nvCxnSpPr>
        <p:spPr>
          <a:xfrm>
            <a:off x="6119713" y="1878668"/>
            <a:ext cx="0" cy="175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7" name="Google Shape;1687;p89"/>
          <p:cNvCxnSpPr>
            <a:stCxn id="1676" idx="1"/>
            <a:endCxn id="1675" idx="6"/>
          </p:cNvCxnSpPr>
          <p:nvPr/>
        </p:nvCxnSpPr>
        <p:spPr>
          <a:xfrm rot="10800000">
            <a:off x="6398071" y="3884860"/>
            <a:ext cx="612300" cy="3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8" name="Google Shape;1688;p89"/>
          <p:cNvCxnSpPr>
            <a:stCxn id="1679" idx="4"/>
            <a:endCxn id="1677" idx="0"/>
          </p:cNvCxnSpPr>
          <p:nvPr/>
        </p:nvCxnSpPr>
        <p:spPr>
          <a:xfrm flipH="1">
            <a:off x="8294538" y="3007993"/>
            <a:ext cx="259500" cy="624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89"/>
          <p:cNvCxnSpPr>
            <a:stCxn id="1679" idx="4"/>
            <a:endCxn id="1675" idx="6"/>
          </p:cNvCxnSpPr>
          <p:nvPr/>
        </p:nvCxnSpPr>
        <p:spPr>
          <a:xfrm flipH="1">
            <a:off x="6397938" y="3007993"/>
            <a:ext cx="2156100" cy="87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0" name="Google Shape;1690;p89"/>
          <p:cNvCxnSpPr>
            <a:stCxn id="1679" idx="4"/>
            <a:endCxn id="1676" idx="7"/>
          </p:cNvCxnSpPr>
          <p:nvPr/>
        </p:nvCxnSpPr>
        <p:spPr>
          <a:xfrm flipH="1">
            <a:off x="7403838" y="3007993"/>
            <a:ext cx="1150200" cy="913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1" name="Google Shape;1691;p89"/>
          <p:cNvSpPr/>
          <p:nvPr/>
        </p:nvSpPr>
        <p:spPr>
          <a:xfrm>
            <a:off x="6867600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692" name="Google Shape;1692;p89"/>
          <p:cNvCxnSpPr>
            <a:endCxn id="1691" idx="1"/>
          </p:cNvCxnSpPr>
          <p:nvPr/>
        </p:nvCxnSpPr>
        <p:spPr>
          <a:xfrm>
            <a:off x="6316368" y="1804591"/>
            <a:ext cx="673500" cy="651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3" name="Google Shape;1693;p89"/>
          <p:cNvCxnSpPr>
            <a:endCxn id="1691" idx="2"/>
          </p:cNvCxnSpPr>
          <p:nvPr/>
        </p:nvCxnSpPr>
        <p:spPr>
          <a:xfrm flipH="1" rot="10800000">
            <a:off x="5958600" y="2750100"/>
            <a:ext cx="909000" cy="22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89"/>
          <p:cNvCxnSpPr>
            <a:stCxn id="1691" idx="3"/>
          </p:cNvCxnSpPr>
          <p:nvPr/>
        </p:nvCxnSpPr>
        <p:spPr>
          <a:xfrm flipH="1">
            <a:off x="6316368" y="3044009"/>
            <a:ext cx="673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89"/>
          <p:cNvCxnSpPr>
            <a:stCxn id="1691" idx="4"/>
          </p:cNvCxnSpPr>
          <p:nvPr/>
        </p:nvCxnSpPr>
        <p:spPr>
          <a:xfrm flipH="1">
            <a:off x="7207050" y="3165750"/>
            <a:ext cx="780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89"/>
          <p:cNvCxnSpPr>
            <a:stCxn id="1691" idx="5"/>
          </p:cNvCxnSpPr>
          <p:nvPr/>
        </p:nvCxnSpPr>
        <p:spPr>
          <a:xfrm>
            <a:off x="7580232" y="3044009"/>
            <a:ext cx="517500" cy="662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7" name="Google Shape;1697;p89"/>
          <p:cNvCxnSpPr>
            <a:stCxn id="1691" idx="6"/>
          </p:cNvCxnSpPr>
          <p:nvPr/>
        </p:nvCxnSpPr>
        <p:spPr>
          <a:xfrm>
            <a:off x="7702500" y="2750100"/>
            <a:ext cx="573300" cy="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8" name="Google Shape;1698;p89"/>
          <p:cNvCxnSpPr>
            <a:stCxn id="1691" idx="7"/>
          </p:cNvCxnSpPr>
          <p:nvPr/>
        </p:nvCxnSpPr>
        <p:spPr>
          <a:xfrm flipH="1" rot="10800000">
            <a:off x="7580232" y="2083591"/>
            <a:ext cx="517500" cy="37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89"/>
          <p:cNvCxnSpPr>
            <a:endCxn id="1691" idx="0"/>
          </p:cNvCxnSpPr>
          <p:nvPr/>
        </p:nvCxnSpPr>
        <p:spPr>
          <a:xfrm flipH="1">
            <a:off x="7285050" y="1652550"/>
            <a:ext cx="80700" cy="68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05" name="Google Shape;1705;p90"/>
          <p:cNvSpPr txBox="1"/>
          <p:nvPr>
            <p:ph idx="1" type="body"/>
          </p:nvPr>
        </p:nvSpPr>
        <p:spPr>
          <a:xfrm>
            <a:off x="311700" y="1225225"/>
            <a:ext cx="463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named</a:t>
            </a:r>
            <a:r>
              <a:rPr lang="en"/>
              <a:t> </a:t>
            </a:r>
            <a:r>
              <a:rPr b="1" lang="en"/>
              <a:t>alters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Socio-demographic characteristics of alter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Years of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Relationship to the organization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Religion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6" name="Google Shape;170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000" y="1182588"/>
            <a:ext cx="3889199" cy="3439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12" name="Google Shape;1712;p91"/>
          <p:cNvSpPr txBox="1"/>
          <p:nvPr>
            <p:ph idx="1" type="body"/>
          </p:nvPr>
        </p:nvSpPr>
        <p:spPr>
          <a:xfrm>
            <a:off x="311700" y="1225225"/>
            <a:ext cx="463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named</a:t>
            </a:r>
            <a:r>
              <a:rPr lang="en"/>
              <a:t> </a:t>
            </a:r>
            <a:r>
              <a:rPr b="1" lang="en"/>
              <a:t>alters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Socio-demographic characteristics of alter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Sex/Gender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Years of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Relationship to the organization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Religion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13" name="Google Shape;171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400" y="1299625"/>
            <a:ext cx="3889200" cy="3343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19" name="Google Shape;1719;p92"/>
          <p:cNvSpPr txBox="1"/>
          <p:nvPr>
            <p:ph idx="1" type="body"/>
          </p:nvPr>
        </p:nvSpPr>
        <p:spPr>
          <a:xfrm>
            <a:off x="311700" y="1225225"/>
            <a:ext cx="463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named</a:t>
            </a:r>
            <a:r>
              <a:rPr lang="en"/>
              <a:t> </a:t>
            </a:r>
            <a:r>
              <a:rPr b="1" lang="en"/>
              <a:t>alters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Socio-demographic characteristics of alter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Race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Years of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Relationship to the organization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Religion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20" name="Google Shape;172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400" y="1299625"/>
            <a:ext cx="3889202" cy="3318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26" name="Google Shape;1726;p93"/>
          <p:cNvSpPr txBox="1"/>
          <p:nvPr>
            <p:ph idx="1" type="body"/>
          </p:nvPr>
        </p:nvSpPr>
        <p:spPr>
          <a:xfrm>
            <a:off x="311700" y="1225225"/>
            <a:ext cx="463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named</a:t>
            </a:r>
            <a:r>
              <a:rPr lang="en"/>
              <a:t> </a:t>
            </a:r>
            <a:r>
              <a:rPr b="1" lang="en"/>
              <a:t>alters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Socio-demographic characteristics of alter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Years of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Relationship to the organization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Religion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27" name="Google Shape;172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400" y="1299625"/>
            <a:ext cx="3889200" cy="2953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33" name="Google Shape;1733;p94"/>
          <p:cNvSpPr txBox="1"/>
          <p:nvPr>
            <p:ph idx="1" type="body"/>
          </p:nvPr>
        </p:nvSpPr>
        <p:spPr>
          <a:xfrm>
            <a:off x="311700" y="1225225"/>
            <a:ext cx="463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elicited</a:t>
            </a:r>
            <a:r>
              <a:rPr lang="en"/>
              <a:t> </a:t>
            </a:r>
            <a:r>
              <a:rPr b="1" lang="en"/>
              <a:t>relations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Role-relations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Friends, co-workers, co-authors, pub-mates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Loving, exciting, significant, negative sentiments (difficult person)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Exchanges and Support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Advice, would go to for financial help, discuss important matters, etc.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34" name="Google Shape;173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000" y="1165975"/>
            <a:ext cx="3889199" cy="347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40" name="Google Shape;1740;p95"/>
          <p:cNvSpPr txBox="1"/>
          <p:nvPr>
            <p:ph idx="1" type="body"/>
          </p:nvPr>
        </p:nvSpPr>
        <p:spPr>
          <a:xfrm>
            <a:off x="311700" y="1225225"/>
            <a:ext cx="463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elicited</a:t>
            </a:r>
            <a:r>
              <a:rPr lang="en"/>
              <a:t> </a:t>
            </a:r>
            <a:r>
              <a:rPr b="1" lang="en"/>
              <a:t>relations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Role-relations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Friends, co-workers, co-authors, pub-mates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Sentiments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Closeness, negative sentiments (difficult person)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Exchanges and Support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Advice, would go to for financial help, discuss important matters, etc.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41" name="Google Shape;174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400" y="1299625"/>
            <a:ext cx="3889199" cy="3052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47" name="Google Shape;1747;p96"/>
          <p:cNvSpPr txBox="1"/>
          <p:nvPr>
            <p:ph idx="1" type="body"/>
          </p:nvPr>
        </p:nvSpPr>
        <p:spPr>
          <a:xfrm>
            <a:off x="311700" y="1225225"/>
            <a:ext cx="463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elicited</a:t>
            </a:r>
            <a:r>
              <a:rPr lang="en"/>
              <a:t> </a:t>
            </a:r>
            <a:r>
              <a:rPr b="1" lang="en"/>
              <a:t>relations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Role-relations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Friends, co-workers, co-authors, pub-mates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Sentiments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Closeness, negative sentiments (difficult person)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Exchanges and Support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Advice, would go to for financial help, discuss important matters, etc.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48" name="Google Shape;174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000" y="1056488"/>
            <a:ext cx="3709660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54" name="Google Shape;1754;p97"/>
          <p:cNvSpPr txBox="1"/>
          <p:nvPr>
            <p:ph idx="1" type="body"/>
          </p:nvPr>
        </p:nvSpPr>
        <p:spPr>
          <a:xfrm>
            <a:off x="311700" y="1225225"/>
            <a:ext cx="460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elicited</a:t>
            </a:r>
            <a:r>
              <a:rPr lang="en"/>
              <a:t> </a:t>
            </a:r>
            <a:r>
              <a:rPr b="1" lang="en"/>
              <a:t>relations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Relationship age or duration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Subjective similarity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“Cultural matching”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alter share tastes, attitudes, practices with ego?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55" name="Google Shape;175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600" y="1299625"/>
            <a:ext cx="3918001" cy="303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61" name="Google Shape;1761;p98"/>
          <p:cNvSpPr txBox="1"/>
          <p:nvPr>
            <p:ph idx="1" type="body"/>
          </p:nvPr>
        </p:nvSpPr>
        <p:spPr>
          <a:xfrm>
            <a:off x="311700" y="1225225"/>
            <a:ext cx="460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elicited</a:t>
            </a:r>
            <a:r>
              <a:rPr lang="en"/>
              <a:t> </a:t>
            </a:r>
            <a:r>
              <a:rPr b="1" lang="en"/>
              <a:t>relations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Relationship age or duration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Subjective similarity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“Cultural matching”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alter share tastes, attitudes, practices with ego?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62" name="Google Shape;176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200" y="1525163"/>
            <a:ext cx="3918001" cy="209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interpreters</a:t>
            </a:r>
            <a:endParaRPr/>
          </a:p>
        </p:txBody>
      </p:sp>
      <p:sp>
        <p:nvSpPr>
          <p:cNvPr id="1768" name="Google Shape;1768;p99"/>
          <p:cNvSpPr txBox="1"/>
          <p:nvPr>
            <p:ph idx="1" type="body"/>
          </p:nvPr>
        </p:nvSpPr>
        <p:spPr>
          <a:xfrm>
            <a:off x="311700" y="1225225"/>
            <a:ext cx="460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Follow up questions designed to get information on </a:t>
            </a:r>
            <a:r>
              <a:rPr b="1" lang="en"/>
              <a:t>elicited</a:t>
            </a:r>
            <a:r>
              <a:rPr lang="en"/>
              <a:t> </a:t>
            </a:r>
            <a:r>
              <a:rPr b="1" lang="en"/>
              <a:t>relations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Relationship age or duration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Subjective similarity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Similarities/Matching in Cultural Pursuits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alter share tastes, attitudes, practices with ego?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69" name="Google Shape;176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600" y="1299625"/>
            <a:ext cx="3918000" cy="303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Alternatives: Position Generators</a:t>
            </a:r>
            <a:endParaRPr/>
          </a:p>
        </p:txBody>
      </p:sp>
      <p:sp>
        <p:nvSpPr>
          <p:cNvPr id="1775" name="Google Shape;1775;p10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“Do you know anyone who is a/an….”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Lawyer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Doctor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Mechanic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Teacher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Secretary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Haridresser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Cook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Farmer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Mailman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Policeman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[...] And whatever other occupations you can imagine</a:t>
            </a:r>
            <a:endParaRPr i="1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Alternatives: Position Generators</a:t>
            </a:r>
            <a:endParaRPr/>
          </a:p>
        </p:txBody>
      </p:sp>
      <p:pic>
        <p:nvPicPr>
          <p:cNvPr id="1781" name="Google Shape;178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3346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Alternatives: Resource Generators</a:t>
            </a:r>
            <a:endParaRPr/>
          </a:p>
        </p:txBody>
      </p:sp>
      <p:sp>
        <p:nvSpPr>
          <p:cNvPr id="1787" name="Google Shape;1787;p10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“Do you know anyone who…”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Can repair a car, bike, etc. 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Is handy repairing household equipment 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Can speak and write a foreign language 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Can work with a personal computer 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Has good contacts with a newspaper, radio or TV station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Has knowledge about financial matters (taxes, subsidies)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Can give advice concerning a conflict at 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Can help when moving house (packing, lifting)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Can help with small jobs around the house (carpentering, painting)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[...] And whatever else you can imagine</a:t>
            </a:r>
            <a:endParaRPr i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Alternatives: Resource Generators</a:t>
            </a:r>
            <a:endParaRPr/>
          </a:p>
        </p:txBody>
      </p:sp>
      <p:pic>
        <p:nvPicPr>
          <p:cNvPr id="1793" name="Google Shape;179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413" y="1147225"/>
            <a:ext cx="6711179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