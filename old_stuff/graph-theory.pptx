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9144000"/>
  <p:notesSz cx="6858000" cy="9144000"/>
  <p:embeddedFontLst>
    <p:embeddedFont>
      <p:font typeface="Josefin Slab"/>
      <p:regular r:id="rId39"/>
      <p:bold r:id="rId40"/>
      <p:italic r:id="rId41"/>
      <p:boldItalic r:id="rId42"/>
    </p:embeddedFont>
    <p:embeddedFont>
      <p:font typeface="Junge"/>
      <p:regular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45ED5E-3CC2-4C9C-AC1B-EE0CEB144929}">
  <a:tblStyle styleId="{F345ED5E-3CC2-4C9C-AC1B-EE0CEB1449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osefinSlab-bold.fntdata"/><Relationship Id="rId20" Type="http://schemas.openxmlformats.org/officeDocument/2006/relationships/slide" Target="slides/slide15.xml"/><Relationship Id="rId42" Type="http://schemas.openxmlformats.org/officeDocument/2006/relationships/font" Target="fonts/JosefinSlab-boldItalic.fntdata"/><Relationship Id="rId41" Type="http://schemas.openxmlformats.org/officeDocument/2006/relationships/font" Target="fonts/JosefinSlab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Junge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JosefinSlab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8d1da84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g8d1da8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8d1da84b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8d1da84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8d1da84b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8d1da84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8d1da84b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8d1da84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8aed9d6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8aed9d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50f93cc6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50f93cc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50f93cc6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50f93cc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50f93cc6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50f93cc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50f93cc6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50f93cc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9eb949c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9eb949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8b01a563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8b01a56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b01a563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b01a56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50f93cc6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50f93cc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8b01a563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8b01a56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50ed30cf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50ed30cf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50ed30cf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50ed30c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8d1da84b_1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8d1da84b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8d1da84b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8d1da84b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8d1da84b_1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8d1da84b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8d1da84b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8d1da84b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8d1da84b_4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8d1da84b_4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50f93cc6_2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50f93cc6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50f93cc6_2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50f93cc6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50f93cc6_2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50f93cc6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9c60d6d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9c60d6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50f93cc6_2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50f93cc6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50ed30c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50ed30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50ed30cf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50ed30c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0ed30cf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0ed30cf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50ed30cf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50ed30cf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50ed30cf_3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50ed30cf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50ed30cf_3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50ed30cf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Relationship Id="rId4" Type="http://schemas.openxmlformats.org/officeDocument/2006/relationships/image" Target="../media/image3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jp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gif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gif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gif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gif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825" y="747124"/>
            <a:ext cx="7152350" cy="5363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"networks"</a:t>
            </a:r>
            <a:endParaRPr/>
          </a:p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57200" y="1600200"/>
            <a:ext cx="8107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Josefin Slab"/>
              <a:buChar char="●"/>
            </a:pP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The point is that the specification of processes occurring in networked systems (such as social systems)---so-called "network theory"--occurs in natural language and relies on substantive intuitions</a:t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Josefin Slab"/>
              <a:buChar char="○"/>
            </a:pPr>
            <a:r>
              <a:rPr lang="en" sz="18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The relevant "concepts" are by their nature "fuzzy" (e.g. Borgatti 2005, </a:t>
            </a:r>
            <a:r>
              <a:rPr i="1" lang="en" sz="18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Social Networks</a:t>
            </a:r>
            <a:r>
              <a:rPr lang="en" sz="18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 on centrality)</a:t>
            </a:r>
            <a:endParaRPr sz="18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Josefin Slab"/>
              <a:buChar char="●"/>
            </a:pP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Graph theory is a branch of mathematics and allows for the specification of "analogues" of fuzzy concepts stated in natural language in less ambiguous terms</a:t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Josefin Slab"/>
              <a:buChar char="○"/>
            </a:pPr>
            <a:r>
              <a:rPr lang="en" sz="18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However, the mapping from network theory to graph theory can be one to many (e.g. different conceptualizations of "centrality")</a:t>
            </a:r>
            <a:endParaRPr sz="18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Josefin Slab"/>
              <a:buChar char="○"/>
            </a:pPr>
            <a:r>
              <a:rPr lang="en" sz="18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This is </a:t>
            </a:r>
            <a:r>
              <a:rPr i="1" lang="en" sz="18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not </a:t>
            </a:r>
            <a:r>
              <a:rPr lang="en" sz="18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 "calculation" or "operationalization"</a:t>
            </a:r>
            <a:endParaRPr sz="18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Josefin Slab"/>
              <a:buChar char="●"/>
            </a:pP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Matrix algebra is a branch of mathematics that has an applied aspect</a:t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Josefin Slab"/>
              <a:buChar char="○"/>
            </a:pPr>
            <a:r>
              <a:rPr lang="en" sz="18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Linking graph theoretic concepts to their matrix representation allows for calculation and the development of "measures" and other metric representations of graph theoretic concepts</a:t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"networks"</a:t>
            </a:r>
            <a:endParaRPr/>
          </a:p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25650" y="1572025"/>
            <a:ext cx="8605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Font typeface="Josefin Slab"/>
              <a:buChar char="●"/>
            </a:pP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However, note that matrix representations are not </a:t>
            </a:r>
            <a:r>
              <a:rPr i="1" lang="en" sz="2000">
                <a:latin typeface="Josefin Slab"/>
                <a:ea typeface="Josefin Slab"/>
                <a:cs typeface="Josefin Slab"/>
                <a:sym typeface="Josefin Slab"/>
              </a:rPr>
              <a:t>direct</a:t>
            </a: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 operationalizations of networks</a:t>
            </a:r>
            <a:endParaRPr sz="2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Josefin Slab"/>
              <a:buAutoNum type="alphaLcPeriod"/>
            </a:pPr>
            <a:r>
              <a:rPr lang="en" sz="20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Instead, the matrix representation links to the </a:t>
            </a:r>
            <a:r>
              <a:rPr i="1" lang="en" sz="20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graph theoretic concept</a:t>
            </a:r>
            <a:endParaRPr sz="20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Josefin Slab"/>
              <a:buAutoNum type="alphaLcPeriod"/>
            </a:pPr>
            <a:r>
              <a:rPr lang="en" sz="20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The graph theoretic concept, in its turn is seen as the </a:t>
            </a:r>
            <a:r>
              <a:rPr b="1" lang="en" sz="20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analogue </a:t>
            </a:r>
            <a:r>
              <a:rPr lang="en" sz="20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of a process that occurs in "real" networks</a:t>
            </a:r>
            <a:endParaRPr sz="20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Josefin Slab"/>
              <a:buChar char="●"/>
            </a:pP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This can lead to a criterion useful in differentiating "network theory" from "network analysis"</a:t>
            </a:r>
            <a:endParaRPr sz="2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Josefin Slab"/>
              <a:buAutoNum type="alphaLcPeriod"/>
            </a:pPr>
            <a:r>
              <a:rPr i="1" lang="en" sz="2000" u="sng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Network Theory</a:t>
            </a:r>
            <a:r>
              <a:rPr i="1" lang="en" sz="20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 </a:t>
            </a:r>
            <a:r>
              <a:rPr lang="en" sz="20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consists in the (sometimes imaginative) </a:t>
            </a:r>
            <a:r>
              <a:rPr b="1" lang="en" sz="20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linking </a:t>
            </a:r>
            <a:r>
              <a:rPr lang="en" sz="20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of some really existing process in a networked system (such as a social system) to a </a:t>
            </a:r>
            <a:r>
              <a:rPr i="1" lang="en" sz="20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mathematical representation</a:t>
            </a:r>
            <a:r>
              <a:rPr lang="en" sz="20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 (usually but not exclusively, a graph-theoretic representation)</a:t>
            </a:r>
            <a:endParaRPr sz="20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Josefin Slab"/>
              <a:buAutoNum type="alphaLcPeriod"/>
            </a:pPr>
            <a:r>
              <a:rPr i="1" lang="en" sz="2000" u="sng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Network Analysis</a:t>
            </a:r>
            <a:r>
              <a:rPr lang="en" sz="20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 consists in proposing of </a:t>
            </a:r>
            <a:r>
              <a:rPr i="1" lang="en" sz="20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metric representations </a:t>
            </a:r>
            <a:r>
              <a:rPr lang="en" sz="20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of network-theoretic concepts (usually, but not exclusively, in terms of matrix-algebra) for purposes of:</a:t>
            </a:r>
            <a:endParaRPr sz="20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Font typeface="Josefin Slab"/>
              <a:buChar char="■"/>
            </a:pPr>
            <a:r>
              <a:rPr lang="en" sz="20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Calculation/Measurement</a:t>
            </a:r>
            <a:endParaRPr sz="2000">
              <a:solidFill>
                <a:schemeClr val="accent6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Font typeface="Josefin Slab"/>
              <a:buChar char="■"/>
            </a:pPr>
            <a:r>
              <a:rPr lang="en" sz="20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Operationalization in substantive research</a:t>
            </a:r>
            <a:endParaRPr sz="2000">
              <a:solidFill>
                <a:schemeClr val="accent6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FF"/>
              </a:solidFill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"networks"</a:t>
            </a:r>
            <a:endParaRPr/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228625" y="1539763"/>
            <a:ext cx="87651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This leads to some slippage in terminology:</a:t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42900" lvl="1" marL="914400" rtl="0" algn="l">
              <a:spcBef>
                <a:spcPts val="480"/>
              </a:spcBef>
              <a:spcAft>
                <a:spcPts val="0"/>
              </a:spcAft>
              <a:buSzPts val="1800"/>
              <a:buFont typeface="Josefin Slab"/>
              <a:buAutoNum type="alphaLcPeriod"/>
            </a:pPr>
            <a:r>
              <a:rPr lang="en" sz="18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Terms used to refer to </a:t>
            </a:r>
            <a:r>
              <a:rPr i="1" lang="en" sz="18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"real life" states or processes occurring in a networked system</a:t>
            </a:r>
            <a:endParaRPr i="1" sz="18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Font typeface="Josefin Slab"/>
              <a:buChar char="■"/>
            </a:pPr>
            <a:r>
              <a:rPr b="1"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Reciprocity </a:t>
            </a:r>
            <a:r>
              <a:rPr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in social relations</a:t>
            </a:r>
            <a:endParaRPr sz="1800">
              <a:solidFill>
                <a:schemeClr val="accent6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Font typeface="Josefin Slab"/>
              <a:buChar char="■"/>
            </a:pPr>
            <a:r>
              <a:rPr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The "</a:t>
            </a:r>
            <a:r>
              <a:rPr b="1"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popularity</a:t>
            </a:r>
            <a:r>
              <a:rPr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" or "</a:t>
            </a:r>
            <a:r>
              <a:rPr b="1"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expansiveness</a:t>
            </a:r>
            <a:r>
              <a:rPr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" of an actor's social relations</a:t>
            </a:r>
            <a:endParaRPr sz="1800">
              <a:solidFill>
                <a:schemeClr val="accent6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Josefin Slab"/>
              <a:buAutoNum type="alphaLcPeriod"/>
            </a:pPr>
            <a:r>
              <a:rPr lang="en" sz="18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Terms used to refer to the </a:t>
            </a:r>
            <a:r>
              <a:rPr i="1" lang="en" sz="18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graph-theoretic</a:t>
            </a:r>
            <a:r>
              <a:rPr lang="en" sz="18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 notion that is the </a:t>
            </a:r>
            <a:r>
              <a:rPr i="1" lang="en" sz="18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analogue </a:t>
            </a:r>
            <a:r>
              <a:rPr lang="en" sz="18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of that state or process</a:t>
            </a:r>
            <a:endParaRPr sz="18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Font typeface="Josefin Slab"/>
              <a:buChar char="■"/>
            </a:pPr>
            <a:r>
              <a:rPr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b="1"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presence of directed edge </a:t>
            </a:r>
            <a:r>
              <a:rPr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(arc) joining two vertices</a:t>
            </a:r>
            <a:endParaRPr sz="1800">
              <a:solidFill>
                <a:schemeClr val="accent6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Font typeface="Josefin Slab"/>
              <a:buChar char="■"/>
            </a:pPr>
            <a:r>
              <a:rPr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b="1"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cardinality of the set of edges</a:t>
            </a:r>
            <a:r>
              <a:rPr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 terminating or originating at at a given vertex</a:t>
            </a:r>
            <a:endParaRPr sz="1800">
              <a:solidFill>
                <a:schemeClr val="accent6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Josefin Slab"/>
              <a:buAutoNum type="alphaLcPeriod"/>
            </a:pPr>
            <a:r>
              <a:rPr lang="en" sz="18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Terms used to the </a:t>
            </a:r>
            <a:r>
              <a:rPr i="1" lang="en" sz="18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matrix algebraic representation</a:t>
            </a:r>
            <a:r>
              <a:rPr lang="en" sz="18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 of the </a:t>
            </a:r>
            <a:r>
              <a:rPr i="1" lang="en" sz="18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graph-theoretic analogue </a:t>
            </a:r>
            <a:r>
              <a:rPr lang="en" sz="18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of that state or process</a:t>
            </a:r>
            <a:endParaRPr sz="18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Font typeface="Josefin Slab"/>
              <a:buChar char="■"/>
            </a:pPr>
            <a:r>
              <a:rPr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Whether the </a:t>
            </a:r>
            <a:r>
              <a:rPr b="1"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product </a:t>
            </a:r>
            <a:r>
              <a:rPr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aseline="-25000"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ij </a:t>
            </a:r>
            <a:r>
              <a:rPr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x a</a:t>
            </a:r>
            <a:r>
              <a:rPr baseline="-25000"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ji</a:t>
            </a:r>
            <a:r>
              <a:rPr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 in the adjacency matrix is 1 (reciprocity) or 0 (non-reciprocity)</a:t>
            </a:r>
            <a:endParaRPr sz="1800">
              <a:solidFill>
                <a:schemeClr val="accent6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Font typeface="Josefin Slab"/>
              <a:buChar char="■"/>
            </a:pPr>
            <a:r>
              <a:rPr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b="1"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sum </a:t>
            </a:r>
            <a:r>
              <a:rPr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Σ</a:t>
            </a:r>
            <a:r>
              <a:rPr baseline="-25000"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j</a:t>
            </a:r>
            <a:r>
              <a:rPr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aseline="-25000"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ij</a:t>
            </a:r>
            <a:r>
              <a:rPr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 (outdegree) or the </a:t>
            </a:r>
            <a:r>
              <a:rPr b="1"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sum </a:t>
            </a:r>
            <a:r>
              <a:rPr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Σ</a:t>
            </a:r>
            <a:r>
              <a:rPr baseline="-25000"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aseline="-25000"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ij</a:t>
            </a:r>
            <a:r>
              <a:rPr lang="en" sz="18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 (indegree) in the adjacency matrix</a:t>
            </a:r>
            <a:endParaRPr sz="1800">
              <a:solidFill>
                <a:schemeClr val="accent6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Graph definition</a:t>
            </a:r>
            <a:endParaRPr/>
          </a:p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457200" y="1600200"/>
            <a:ext cx="8278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graph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(G)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is an abstract mathematical object (not a picture!) consisting of: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6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A set of </a:t>
            </a:r>
            <a:r>
              <a:rPr i="1" lang="en" sz="26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V</a:t>
            </a:r>
            <a:r>
              <a:rPr lang="en" sz="26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 vertices </a:t>
            </a:r>
            <a:r>
              <a:rPr i="1" lang="en" sz="26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V(G) </a:t>
            </a:r>
            <a:endParaRPr i="1" sz="26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{v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1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, v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, v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, v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4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, v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5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, v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6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, v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7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}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Also called nodes, actors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6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A set of E edges, </a:t>
            </a:r>
            <a:r>
              <a:rPr i="1" lang="en" sz="26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E(G) </a:t>
            </a:r>
            <a:endParaRPr sz="26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{v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1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v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, v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v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, v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v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4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, v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4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v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5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, v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4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v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6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, v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6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v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7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}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Also called links, ties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6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Such that </a:t>
            </a:r>
            <a:r>
              <a:rPr i="1" lang="en" sz="26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G = (V, E)</a:t>
            </a:r>
            <a:endParaRPr sz="26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60" name="Google Shape;6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9077" y="2691049"/>
            <a:ext cx="2516623" cy="278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Graph definition</a:t>
            </a:r>
            <a:endParaRPr/>
          </a:p>
        </p:txBody>
      </p:sp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457200" y="1600200"/>
            <a:ext cx="60630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914400" rtl="0" algn="l">
              <a:spcBef>
                <a:spcPts val="48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The cardinality (size) of the set V is usually denoted by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N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This is the </a:t>
            </a:r>
            <a:r>
              <a:rPr i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order </a:t>
            </a:r>
            <a:r>
              <a:rPr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of the graph</a:t>
            </a:r>
            <a:endParaRPr sz="22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The cardinality of the set E is usually denoted by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M</a:t>
            </a:r>
            <a:endParaRPr i="1"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i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size</a:t>
            </a:r>
            <a:r>
              <a:rPr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 of the graph is the </a:t>
            </a:r>
            <a:r>
              <a:rPr i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maximal </a:t>
            </a:r>
            <a:r>
              <a:rPr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number of edges (N(N-1))/2</a:t>
            </a:r>
            <a:endParaRPr sz="22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i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Density</a:t>
            </a:r>
            <a:r>
              <a:rPr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 (</a:t>
            </a:r>
            <a:r>
              <a:rPr i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d</a:t>
            </a:r>
            <a:r>
              <a:rPr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) of the graph is the ratio of the observed to the maximum number of edges</a:t>
            </a:r>
            <a:endParaRPr sz="22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complete </a:t>
            </a:r>
            <a:r>
              <a:rPr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graph has </a:t>
            </a:r>
            <a:r>
              <a:rPr i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d </a:t>
            </a:r>
            <a:r>
              <a:rPr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= 1</a:t>
            </a:r>
            <a:endParaRPr sz="22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Low density graphs are called </a:t>
            </a:r>
            <a:r>
              <a:rPr i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sparse</a:t>
            </a:r>
            <a:endParaRPr sz="22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67" name="Google Shape;6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9077" y="2691049"/>
            <a:ext cx="2516623" cy="278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Adjacency and Types of graphs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457200" y="1600200"/>
            <a:ext cx="4879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Two vertices in the same graph may be joined by an edge, in which case, they are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adjacent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Adjacent vertices are also called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neighbors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Graphs can either be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undirected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 and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directed 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Directed graphs are sometimes called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digraphs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8971" y="1600200"/>
            <a:ext cx="2277029" cy="2135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5900" y="3710400"/>
            <a:ext cx="33909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Edges and Arcs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57200" y="1600200"/>
            <a:ext cx="7932900" cy="31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Font typeface="Josefin Slab"/>
              <a:buChar char="●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In an undirected graph an edge joining vertices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u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,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v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 belonging to E, is denoted 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uv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Josefin Slab"/>
              <a:buChar char="●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When u = v, the edge is a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self-edge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 (also called reflexive, self-loop)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Josefin Slab"/>
              <a:buChar char="●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A set of edges joining the same vertices {u, v} are a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multiedge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Josefin Slab"/>
              <a:buChar char="●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In directed graphs an edge (arc) has an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origin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 and a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destination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Josefin Slab"/>
              <a:buChar char="●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An undirected graph with no self-edges or multi-edges is called a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simple graph</a:t>
            </a:r>
            <a:endParaRPr i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3831" y="4659362"/>
            <a:ext cx="4323338" cy="1927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Weighted Graphs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97358" y="1600200"/>
            <a:ext cx="5817000" cy="46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Often it is useful to associate numerical values with an edge </a:t>
            </a:r>
            <a:r>
              <a:rPr i="1" lang="en" sz="2400">
                <a:latin typeface="Josefin Slab"/>
                <a:ea typeface="Josefin Slab"/>
                <a:cs typeface="Josefin Slab"/>
                <a:sym typeface="Josefin Slab"/>
              </a:rPr>
              <a:t>uv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: This is called the </a:t>
            </a:r>
            <a:r>
              <a:rPr i="1" lang="en" sz="2400">
                <a:latin typeface="Josefin Slab"/>
                <a:ea typeface="Josefin Slab"/>
                <a:cs typeface="Josefin Slab"/>
                <a:sym typeface="Josefin Slab"/>
              </a:rPr>
              <a:t>edge weight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 (</a:t>
            </a:r>
            <a:r>
              <a:rPr i="1" lang="en" sz="2400">
                <a:latin typeface="Josefin Slab"/>
                <a:ea typeface="Josefin Slab"/>
                <a:cs typeface="Josefin Slab"/>
                <a:sym typeface="Josefin Slab"/>
              </a:rPr>
              <a:t>w</a:t>
            </a:r>
            <a:r>
              <a:rPr baseline="-25000" lang="en" sz="2400">
                <a:latin typeface="Josefin Slab"/>
                <a:ea typeface="Josefin Slab"/>
                <a:cs typeface="Josefin Slab"/>
                <a:sym typeface="Josefin Slab"/>
              </a:rPr>
              <a:t>uv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)</a:t>
            </a:r>
            <a:endParaRPr baseline="-25000"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This may be used to represent the "strength" of the relationship joining u and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v</a:t>
            </a:r>
            <a:endParaRPr i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Graphs that featured edge weights are called </a:t>
            </a:r>
            <a:r>
              <a:rPr i="1" lang="en" sz="2400">
                <a:latin typeface="Josefin Slab"/>
                <a:ea typeface="Josefin Slab"/>
                <a:cs typeface="Josefin Slab"/>
                <a:sym typeface="Josefin Slab"/>
              </a:rPr>
              <a:t>weighted (valued) graphs</a:t>
            </a:r>
            <a:endParaRPr i="1"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An "unweighted" graph is simply the special case of a weighted graph in which the weights are constrained to be either zero (0) or one (1)</a:t>
            </a:r>
            <a:endParaRPr i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4795" y="2967108"/>
            <a:ext cx="3036655" cy="1964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Vertex Degree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457200" y="1600200"/>
            <a:ext cx="8193900" cy="4971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600"/>
              </a:spcBef>
              <a:spcAft>
                <a:spcPts val="0"/>
              </a:spcAft>
              <a:buSzPts val="2800"/>
              <a:buFont typeface="Josefin Slab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degree 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of a vertex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d(v)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 in an undirected graph is the number of edges that have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v 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as their destination (origin) vertex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The set of neighbors of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v 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is denoted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N(v)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In a directed graph, the </a:t>
            </a:r>
            <a:r>
              <a:rPr b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outdegree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 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of vertex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v d</a:t>
            </a:r>
            <a:r>
              <a:rPr baseline="30000" i="1" lang="en" sz="2200">
                <a:latin typeface="Josefin Slab"/>
                <a:ea typeface="Josefin Slab"/>
                <a:cs typeface="Josefin Slab"/>
                <a:sym typeface="Josefin Slab"/>
              </a:rPr>
              <a:t>out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(v)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 is the number of edges that originate in v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In a directed graph, the </a:t>
            </a:r>
            <a:r>
              <a:rPr b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indegree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 of vertex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d</a:t>
            </a:r>
            <a:r>
              <a:rPr baseline="30000" i="1" lang="en" sz="2200">
                <a:latin typeface="Josefin Slab"/>
                <a:ea typeface="Josefin Slab"/>
                <a:cs typeface="Josefin Slab"/>
                <a:sym typeface="Josefin Slab"/>
              </a:rPr>
              <a:t>in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(v)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 is the number of edges that terminate in v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Degree may be considered an index of a node's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centrality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A variety of graph properties depend on degree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Mean degree = </a:t>
            </a:r>
            <a:r>
              <a:rPr lang="en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Σ</a:t>
            </a:r>
            <a:r>
              <a:rPr baseline="-25000" lang="en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d(v</a:t>
            </a:r>
            <a:r>
              <a:rPr baseline="-25000" lang="en" sz="2200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)/N = 2M/N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Graph Density = M/[N(N-1)/2] = 2M/[N(N-1)] = D/N-1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Degree in weighted graphs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457200" y="1600200"/>
            <a:ext cx="5590200" cy="4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600"/>
              </a:spcBef>
              <a:spcAft>
                <a:spcPts val="0"/>
              </a:spcAft>
              <a:buSzPts val="2800"/>
              <a:buFont typeface="Josefin Slab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In a weighted graph, the sum of the weights that have v as their origin is called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vertex strength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s(v)</a:t>
            </a:r>
            <a:endParaRPr i="1"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○"/>
            </a:pPr>
            <a:r>
              <a:rPr i="1" lang="en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s(v</a:t>
            </a:r>
            <a:r>
              <a:rPr baseline="-25000" i="1" lang="en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i="1" lang="en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) = </a:t>
            </a:r>
            <a:r>
              <a:rPr lang="en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Σ</a:t>
            </a:r>
            <a:r>
              <a:rPr baseline="-25000" lang="en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j in N(vi)</a:t>
            </a:r>
            <a:r>
              <a:rPr i="1" lang="en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w</a:t>
            </a:r>
            <a:r>
              <a:rPr baseline="-25000" i="1" lang="en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ij</a:t>
            </a:r>
            <a:endParaRPr baseline="-25000" i="1">
              <a:solidFill>
                <a:schemeClr val="accent6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In a weighted graph, we may also be interested in the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variance (inequality, dispersion, disparity) 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of the weights originating at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v</a:t>
            </a:r>
            <a:r>
              <a:rPr baseline="-25000" i="1" lang="en" sz="2600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endParaRPr baseline="-25000" i="1"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○"/>
            </a:pPr>
            <a:r>
              <a:rPr lang="en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var(v</a:t>
            </a:r>
            <a:r>
              <a:rPr baseline="-25000" lang="en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) = </a:t>
            </a:r>
            <a:r>
              <a:rPr lang="en" sz="20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Σ</a:t>
            </a:r>
            <a:r>
              <a:rPr baseline="-25000" lang="en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j in N(vi)</a:t>
            </a:r>
            <a:r>
              <a:rPr lang="en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 [w</a:t>
            </a:r>
            <a:r>
              <a:rPr baseline="-25000" lang="en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ij </a:t>
            </a:r>
            <a:r>
              <a:rPr lang="en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/ s(v</a:t>
            </a:r>
            <a:r>
              <a:rPr baseline="-25000" lang="en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)]</a:t>
            </a:r>
            <a:r>
              <a:rPr baseline="30000" lang="en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endParaRPr>
              <a:solidFill>
                <a:schemeClr val="accent6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4795" y="2967108"/>
            <a:ext cx="3036655" cy="1964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Multigraphs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457200" y="1600200"/>
            <a:ext cx="54270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both directed and undirected graphs, the same vertices may be joined by more than one distinct edge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Such graphs are called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multigraphs</a:t>
            </a:r>
            <a:endParaRPr i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social networks, multigraphs may be used to represent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multiplex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relationships (e.g. advisor and friend)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950" y="2383057"/>
            <a:ext cx="3401986" cy="3401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Hypergraphs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457200" y="1600200"/>
            <a:ext cx="56574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hypergraph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is a graph in which an edge can join more than two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types of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vertices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market transaction may join three parties, a buyer, a seller and an agent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hyperedge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e'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joins a subset v' of vertices from G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For instance, a hyperedge of size 3 that joins vertices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{u, w, v}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is denoted by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uwv</a:t>
            </a:r>
            <a:endParaRPr i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1579" y="2692741"/>
            <a:ext cx="3468096" cy="2962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 Matrix Representation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457200" y="1600200"/>
            <a:ext cx="8381100" cy="18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Mathematically, it is useful to represent a graph as an </a:t>
            </a:r>
            <a:r>
              <a:rPr i="1" lang="en" sz="2400">
                <a:latin typeface="Josefin Slab"/>
                <a:ea typeface="Josefin Slab"/>
                <a:cs typeface="Josefin Slab"/>
                <a:sym typeface="Josefin Slab"/>
              </a:rPr>
              <a:t>adjacency matrix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 (</a:t>
            </a:r>
            <a:r>
              <a:rPr b="1" lang="en" sz="24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) of dimensions N x N such that: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ij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= 1, if {i, j} belongs to 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ij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= 0 if {i, j} does not belong to 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9337" y="3261043"/>
            <a:ext cx="4505325" cy="3379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 Matrix Representation: Multi-edges and self-edges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457200" y="1600200"/>
            <a:ext cx="7843200" cy="49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In a network with no self-edges, the diagonals of the adjacency matrix are set to zero</a:t>
            </a:r>
            <a:endParaRPr sz="2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Multiedges can represented in adjacency matrix by the cardinality of the multiedge set linking two nodes</a:t>
            </a:r>
            <a:endParaRPr sz="2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0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Undirected graphs result in </a:t>
            </a:r>
            <a:r>
              <a:rPr i="1" lang="en" sz="20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symmetric </a:t>
            </a:r>
            <a:r>
              <a:rPr lang="en" sz="20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adjacency matrices</a:t>
            </a:r>
            <a:endParaRPr sz="2000">
              <a:solidFill>
                <a:schemeClr val="accent6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0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Digraphs result in </a:t>
            </a:r>
            <a:r>
              <a:rPr i="1" lang="en" sz="20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asymmetric </a:t>
            </a:r>
            <a:r>
              <a:rPr lang="en" sz="20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adjacency matrices</a:t>
            </a:r>
            <a:endParaRPr sz="2000">
              <a:solidFill>
                <a:schemeClr val="accent6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0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When self-edges are present and the graph is undirected they are represented by inserting a </a:t>
            </a:r>
            <a:r>
              <a:rPr b="1" lang="en" sz="20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2 </a:t>
            </a:r>
            <a:r>
              <a:rPr lang="en" sz="20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in the corresponding diagonal cell (Newman 2010: 112)</a:t>
            </a:r>
            <a:endParaRPr sz="2000">
              <a:solidFill>
                <a:schemeClr val="accent6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0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Weighted graphs can be represented by inserting the value of the edge-weight in the corresponding cell of the adjacency matrix</a:t>
            </a:r>
            <a:endParaRPr sz="2000">
              <a:solidFill>
                <a:schemeClr val="accent6"/>
              </a:solidFill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 Matrix Representation: The line graph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457200" y="1600200"/>
            <a:ext cx="8256900" cy="49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For any given graph G = (V, E) with N vertices and M Edges represented by adjacency matrix 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of dimensions N x N, we may obtain the corresponding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line graph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 (or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edge graph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) by: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Creating a graph L(G) represented by adjacency matrix 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B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, of dimensions M x M with: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B</a:t>
            </a:r>
            <a:r>
              <a:rPr baseline="-25000" lang="en" sz="2000">
                <a:latin typeface="Josefin Slab"/>
                <a:ea typeface="Josefin Slab"/>
                <a:cs typeface="Josefin Slab"/>
                <a:sym typeface="Josefin Slab"/>
              </a:rPr>
              <a:t>ij</a:t>
            </a: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 = 1 if e</a:t>
            </a:r>
            <a:r>
              <a:rPr baseline="-25000" lang="en" sz="2000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 and e</a:t>
            </a:r>
            <a:r>
              <a:rPr baseline="-25000" lang="en" sz="2000">
                <a:latin typeface="Josefin Slab"/>
                <a:ea typeface="Josefin Slab"/>
                <a:cs typeface="Josefin Slab"/>
                <a:sym typeface="Josefin Slab"/>
              </a:rPr>
              <a:t>j</a:t>
            </a: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 share a common vertex v</a:t>
            </a:r>
            <a:r>
              <a:rPr baseline="-25000" lang="en" sz="2000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endParaRPr baseline="-25000" sz="2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B</a:t>
            </a:r>
            <a:r>
              <a:rPr baseline="-25000" lang="en" sz="2000">
                <a:latin typeface="Josefin Slab"/>
                <a:ea typeface="Josefin Slab"/>
                <a:cs typeface="Josefin Slab"/>
                <a:sym typeface="Josefin Slab"/>
              </a:rPr>
              <a:t>ij</a:t>
            </a: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 = 0 if e</a:t>
            </a:r>
            <a:r>
              <a:rPr baseline="-25000" lang="en" sz="2000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 and e</a:t>
            </a:r>
            <a:r>
              <a:rPr baseline="-25000" lang="en" sz="2000">
                <a:latin typeface="Josefin Slab"/>
                <a:ea typeface="Josefin Slab"/>
                <a:cs typeface="Josefin Slab"/>
                <a:sym typeface="Josefin Slab"/>
              </a:rPr>
              <a:t>j</a:t>
            </a: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 do not share a common vertex</a:t>
            </a:r>
            <a:endParaRPr sz="20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0191" y="4281380"/>
            <a:ext cx="3690919" cy="2373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Incidence Matrix Representation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457200" y="1752600"/>
            <a:ext cx="57441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Directed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graphs may also be represented as an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incidence matrix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(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B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) of dimensions N x M such that: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B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ij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= -1, if v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is at the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origin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of e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j</a:t>
            </a:r>
            <a:endParaRPr baseline="-25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B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ij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= 1, if v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is at the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destination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of e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j</a:t>
            </a:r>
            <a:endParaRPr baseline="-25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B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ij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= 0, otherwise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7113" y="2113550"/>
            <a:ext cx="3406888" cy="2048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9150" y="4765000"/>
            <a:ext cx="5295751" cy="1737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Element-wise operations</a:t>
            </a:r>
            <a:endParaRPr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457200" y="1600200"/>
            <a:ext cx="32220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Josefin Slab"/>
              <a:buChar char="●"/>
            </a:pP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Matrix operations work on the elements of the matrix in particular ways.  To do so, the matrices must be </a:t>
            </a: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conformable</a:t>
            </a: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.  That means the </a:t>
            </a: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respective</a:t>
            </a: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 sizes allow the operation</a:t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Josefin Slab"/>
              <a:buChar char="●"/>
            </a:pP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For addition (+), subtraction (-), or elementwise multiplication (#), both matrices must have the same number of rows and columns</a:t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Josefin Slab"/>
              <a:buChar char="●"/>
            </a:pP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For these operations, the matrix value is the operation applied to the corresponding cell values</a:t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9200" y="2090953"/>
            <a:ext cx="5315847" cy="3986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The Transpose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457200" y="1600200"/>
            <a:ext cx="82104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25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i="1" lang="en" sz="25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transpose</a:t>
            </a:r>
            <a:r>
              <a:rPr lang="en" sz="25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 (' or </a:t>
            </a:r>
            <a:r>
              <a:rPr baseline="30000" lang="en" sz="25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T</a:t>
            </a:r>
            <a:r>
              <a:rPr lang="en" sz="25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) of a matrix reverses the row and column dimensions.</a:t>
            </a:r>
            <a:endParaRPr sz="25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1" lang="en" sz="25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aseline="-25000" lang="en" sz="25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ij</a:t>
            </a:r>
            <a:r>
              <a:rPr baseline="30000" lang="en" sz="25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T</a:t>
            </a:r>
            <a:r>
              <a:rPr lang="en" sz="25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= </a:t>
            </a:r>
            <a:r>
              <a:rPr b="1" lang="en" sz="25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aseline="-25000" lang="en" sz="25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ji</a:t>
            </a:r>
            <a:endParaRPr baseline="-25000" sz="25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25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So a M x N matrix becomes an N x M matrix</a:t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8" name="Google Shape;158;p26"/>
          <p:cNvGraphicFramePr/>
          <p:nvPr/>
        </p:nvGraphicFramePr>
        <p:xfrm>
          <a:off x="2605925" y="434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{F345ED5E-3CC2-4C9C-AC1B-EE0CEB144929}</a:tableStyleId>
              </a:tblPr>
              <a:tblGrid>
                <a:gridCol w="382850"/>
                <a:gridCol w="382850"/>
              </a:tblGrid>
              <a:tr h="26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a</a:t>
                      </a:r>
                      <a:endParaRPr sz="22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b</a:t>
                      </a:r>
                      <a:endParaRPr sz="22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26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</a:t>
                      </a:r>
                      <a:endParaRPr sz="22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e</a:t>
                      </a:r>
                      <a:endParaRPr sz="22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26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g</a:t>
                      </a:r>
                      <a:endParaRPr sz="22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h</a:t>
                      </a:r>
                      <a:endParaRPr sz="22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9" name="Google Shape;159;p26"/>
          <p:cNvSpPr/>
          <p:nvPr/>
        </p:nvSpPr>
        <p:spPr>
          <a:xfrm>
            <a:off x="3607500" y="4873700"/>
            <a:ext cx="1465500" cy="46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0" name="Google Shape;160;p26"/>
          <p:cNvGraphicFramePr/>
          <p:nvPr/>
        </p:nvGraphicFramePr>
        <p:xfrm>
          <a:off x="5358525" y="459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{F345ED5E-3CC2-4C9C-AC1B-EE0CEB144929}</a:tableStyleId>
              </a:tblPr>
              <a:tblGrid>
                <a:gridCol w="449550"/>
                <a:gridCol w="449550"/>
                <a:gridCol w="449550"/>
              </a:tblGrid>
              <a:tr h="41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a</a:t>
                      </a:r>
                      <a:endParaRPr sz="22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</a:t>
                      </a:r>
                      <a:endParaRPr sz="22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e</a:t>
                      </a:r>
                      <a:endParaRPr sz="22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41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b</a:t>
                      </a:r>
                      <a:endParaRPr sz="22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</a:t>
                      </a:r>
                      <a:endParaRPr sz="22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</a:t>
                      </a:r>
                      <a:endParaRPr sz="22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1" name="Google Shape;161;p26"/>
          <p:cNvSpPr txBox="1"/>
          <p:nvPr/>
        </p:nvSpPr>
        <p:spPr>
          <a:xfrm>
            <a:off x="2837150" y="3842350"/>
            <a:ext cx="450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endParaRPr b="1" sz="2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62" name="Google Shape;162;p26"/>
          <p:cNvSpPr txBox="1"/>
          <p:nvPr/>
        </p:nvSpPr>
        <p:spPr>
          <a:xfrm>
            <a:off x="5798000" y="3882000"/>
            <a:ext cx="6294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aseline="30000" lang="en" sz="2200">
                <a:latin typeface="Josefin Slab"/>
                <a:ea typeface="Josefin Slab"/>
                <a:cs typeface="Josefin Slab"/>
                <a:sym typeface="Josefin Slab"/>
              </a:rPr>
              <a:t>T</a:t>
            </a:r>
            <a:endParaRPr baseline="30000" sz="22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457200" y="1600200"/>
            <a:ext cx="82104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" sz="20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i="1" lang="en" sz="20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matrix multiplication </a:t>
            </a:r>
            <a:r>
              <a:rPr lang="en" sz="20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(x) of two matrices involves all elements of the matrix, and will often result in a matrix of new dimensions.</a:t>
            </a:r>
            <a:endParaRPr sz="20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lang="en" sz="20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In general, to be conformable, the </a:t>
            </a:r>
            <a:r>
              <a:rPr i="1" lang="en" sz="20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inner </a:t>
            </a:r>
            <a:r>
              <a:rPr lang="en" sz="20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dimensions (red) of both matrices must match. </a:t>
            </a:r>
            <a:endParaRPr sz="2000">
              <a:solidFill>
                <a:schemeClr val="accent6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lang="en" sz="20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The resulting matrix has the dimensions a x b, where a is the outer dimension (green) of the left multiplier and b is the outer dimension (blue) of the right multiplier.  So:</a:t>
            </a:r>
            <a:endParaRPr sz="2000">
              <a:solidFill>
                <a:schemeClr val="accent6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 		</a:t>
            </a:r>
            <a:endParaRPr b="1" baseline="-25000" sz="22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7"/>
          <p:cNvSpPr/>
          <p:nvPr/>
        </p:nvSpPr>
        <p:spPr>
          <a:xfrm rot="-5345394">
            <a:off x="2173916" y="4598542"/>
            <a:ext cx="377748" cy="760899"/>
          </a:xfrm>
          <a:prstGeom prst="leftBrace">
            <a:avLst>
              <a:gd fmla="val 8333" name="adj1"/>
              <a:gd fmla="val 54154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/>
          <p:nvPr/>
        </p:nvSpPr>
        <p:spPr>
          <a:xfrm rot="-5344590">
            <a:off x="1606236" y="4903103"/>
            <a:ext cx="1507696" cy="1282662"/>
          </a:xfrm>
          <a:prstGeom prst="leftBrace">
            <a:avLst>
              <a:gd fmla="val 8333" name="adj1"/>
              <a:gd fmla="val 54471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7"/>
          <p:cNvSpPr txBox="1"/>
          <p:nvPr/>
        </p:nvSpPr>
        <p:spPr>
          <a:xfrm>
            <a:off x="1725963" y="5103416"/>
            <a:ext cx="13152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Josefin Slab"/>
                <a:ea typeface="Josefin Slab"/>
                <a:cs typeface="Josefin Slab"/>
                <a:sym typeface="Josefin Slab"/>
              </a:rPr>
              <a:t>Inner dims. match</a:t>
            </a:r>
            <a:endParaRPr b="1" sz="1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1827290" y="6182750"/>
            <a:ext cx="11274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Josefin Slab"/>
                <a:ea typeface="Josefin Slab"/>
                <a:cs typeface="Josefin Slab"/>
                <a:sym typeface="Josefin Slab"/>
              </a:rPr>
              <a:t>Outer dims.</a:t>
            </a:r>
            <a:endParaRPr b="1" sz="1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1280934" y="4304766"/>
            <a:ext cx="2921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="1" baseline="-25000" lang="en" sz="22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baseline="-25000" lang="en" sz="2200">
                <a:latin typeface="Josefin Slab"/>
                <a:ea typeface="Josefin Slab"/>
                <a:cs typeface="Josefin Slab"/>
                <a:sym typeface="Josefin Slab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 x   B</a:t>
            </a:r>
            <a:r>
              <a:rPr b="1" baseline="-25000" lang="en" sz="2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baseline="-25000" lang="en" sz="2200">
                <a:latin typeface="Josefin Slab"/>
                <a:ea typeface="Josefin Slab"/>
                <a:cs typeface="Josefin Slab"/>
                <a:sym typeface="Josefin Slab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4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  = C</a:t>
            </a:r>
            <a:r>
              <a:rPr b="1" baseline="-25000" lang="en" sz="22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3 </a:t>
            </a:r>
            <a:r>
              <a:rPr baseline="-25000" lang="en" sz="2200">
                <a:latin typeface="Josefin Slab"/>
                <a:ea typeface="Josefin Slab"/>
                <a:cs typeface="Josefin Slab"/>
                <a:sym typeface="Josefin Slab"/>
              </a:rPr>
              <a:t>x </a:t>
            </a:r>
            <a:r>
              <a:rPr b="1" baseline="-25000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4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4890484" y="4304766"/>
            <a:ext cx="39081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="1" baseline="-25000" lang="en" sz="2200">
                <a:solidFill>
                  <a:schemeClr val="accent6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baseline="-25000" lang="en" sz="2200">
                <a:latin typeface="Josefin Slab"/>
                <a:ea typeface="Josefin Slab"/>
                <a:cs typeface="Josefin Slab"/>
                <a:sym typeface="Josefin Slab"/>
              </a:rPr>
              <a:t> x </a:t>
            </a:r>
            <a:r>
              <a:rPr b="1" baseline="-25000" lang="en" sz="2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 x   B</a:t>
            </a:r>
            <a:r>
              <a:rPr b="1" baseline="-25000" lang="en" sz="2200">
                <a:solidFill>
                  <a:srgbClr val="FF0000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baseline="-25000" lang="en" sz="2200">
                <a:latin typeface="Josefin Slab"/>
                <a:ea typeface="Josefin Slab"/>
                <a:cs typeface="Josefin Slab"/>
                <a:sym typeface="Josefin Slab"/>
              </a:rPr>
              <a:t> x </a:t>
            </a:r>
            <a:r>
              <a:rPr b="1" baseline="-25000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4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  = Not defined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75" name="Google Shape;175;p27"/>
          <p:cNvSpPr/>
          <p:nvPr/>
        </p:nvSpPr>
        <p:spPr>
          <a:xfrm rot="-5344964">
            <a:off x="5819971" y="4656038"/>
            <a:ext cx="449758" cy="732389"/>
          </a:xfrm>
          <a:prstGeom prst="leftBrace">
            <a:avLst>
              <a:gd fmla="val 8333" name="adj1"/>
              <a:gd fmla="val 5181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7"/>
          <p:cNvSpPr txBox="1"/>
          <p:nvPr/>
        </p:nvSpPr>
        <p:spPr>
          <a:xfrm>
            <a:off x="5063100" y="5174891"/>
            <a:ext cx="19635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Josefin Slab"/>
                <a:ea typeface="Josefin Slab"/>
                <a:cs typeface="Josefin Slab"/>
                <a:sym typeface="Josefin Slab"/>
              </a:rPr>
              <a:t>Inner dimensions do not match </a:t>
            </a:r>
            <a:endParaRPr b="1" sz="1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cxnSp>
        <p:nvCxnSpPr>
          <p:cNvPr id="177" name="Google Shape;177;p27"/>
          <p:cNvCxnSpPr>
            <a:stCxn id="172" idx="3"/>
          </p:cNvCxnSpPr>
          <p:nvPr/>
        </p:nvCxnSpPr>
        <p:spPr>
          <a:xfrm flipH="1" rot="10800000">
            <a:off x="2954690" y="4857050"/>
            <a:ext cx="887700" cy="147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graphicFrame>
        <p:nvGraphicFramePr>
          <p:cNvPr id="183" name="Google Shape;183;p28"/>
          <p:cNvGraphicFramePr/>
          <p:nvPr/>
        </p:nvGraphicFramePr>
        <p:xfrm>
          <a:off x="457200" y="176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{F345ED5E-3CC2-4C9C-AC1B-EE0CEB144929}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a</a:t>
                      </a:r>
                      <a:endParaRPr b="1" sz="18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b</a:t>
                      </a:r>
                      <a:endParaRPr b="1" sz="18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</a:t>
                      </a:r>
                      <a:endParaRPr b="1" sz="18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</a:t>
                      </a:r>
                      <a:endParaRPr b="1" sz="18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84" name="Google Shape;184;p28"/>
          <p:cNvGraphicFramePr/>
          <p:nvPr/>
        </p:nvGraphicFramePr>
        <p:xfrm>
          <a:off x="1766865" y="176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{F345ED5E-3CC2-4C9C-AC1B-EE0CEB144929}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e</a:t>
                      </a:r>
                      <a:endParaRPr b="1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</a:t>
                      </a:r>
                      <a:endParaRPr b="1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g</a:t>
                      </a:r>
                      <a:endParaRPr b="1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5" name="Google Shape;185;p28"/>
          <p:cNvSpPr txBox="1"/>
          <p:nvPr/>
        </p:nvSpPr>
        <p:spPr>
          <a:xfrm>
            <a:off x="1359265" y="1866775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186" name="Google Shape;186;p28"/>
          <p:cNvGraphicFramePr/>
          <p:nvPr/>
        </p:nvGraphicFramePr>
        <p:xfrm>
          <a:off x="3325690" y="176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{F345ED5E-3CC2-4C9C-AC1B-EE0CEB144929}</a:tableStyleId>
              </a:tblPr>
              <a:tblGrid>
                <a:gridCol w="927850"/>
                <a:gridCol w="815125"/>
              </a:tblGrid>
              <a:tr h="27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a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e+</a:t>
                      </a: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b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q</a:t>
                      </a:r>
                      <a:endParaRPr b="1" sz="18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a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f+</a:t>
                      </a: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b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h</a:t>
                      </a:r>
                      <a:endParaRPr b="1" sz="18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27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e+</a:t>
                      </a: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q</a:t>
                      </a:r>
                      <a:endParaRPr b="1" sz="18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f+</a:t>
                      </a: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h</a:t>
                      </a:r>
                      <a:endParaRPr b="1" sz="18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87" name="Google Shape;187;p28"/>
          <p:cNvGraphicFramePr/>
          <p:nvPr/>
        </p:nvGraphicFramePr>
        <p:xfrm>
          <a:off x="3770890" y="311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{F345ED5E-3CC2-4C9C-AC1B-EE0CEB144929}</a:tableStyleId>
              </a:tblPr>
              <a:tblGrid>
                <a:gridCol w="912950"/>
                <a:gridCol w="912950"/>
                <a:gridCol w="828400"/>
              </a:tblGrid>
              <a:tr h="438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a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g+</a:t>
                      </a: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b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j</a:t>
                      </a:r>
                      <a:endParaRPr b="1" sz="18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a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h+</a:t>
                      </a: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b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k</a:t>
                      </a:r>
                      <a:endParaRPr b="1" sz="18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a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i</a:t>
                      </a: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+ b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l</a:t>
                      </a:r>
                      <a:endParaRPr b="1" sz="18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438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g+</a:t>
                      </a: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j</a:t>
                      </a:r>
                      <a:endParaRPr b="1" sz="18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h+</a:t>
                      </a: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k</a:t>
                      </a:r>
                      <a:endParaRPr b="1" sz="18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i</a:t>
                      </a: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+ d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l</a:t>
                      </a:r>
                      <a:endParaRPr b="1" sz="18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27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e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g</a:t>
                      </a: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+f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j</a:t>
                      </a:r>
                      <a:endParaRPr b="1" sz="18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e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h</a:t>
                      </a: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+f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k</a:t>
                      </a:r>
                      <a:endParaRPr b="1" sz="18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e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i</a:t>
                      </a: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+ f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l</a:t>
                      </a:r>
                      <a:endParaRPr b="1" sz="18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88" name="Google Shape;188;p28"/>
          <p:cNvGraphicFramePr/>
          <p:nvPr/>
        </p:nvGraphicFramePr>
        <p:xfrm>
          <a:off x="528800" y="315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{F345ED5E-3CC2-4C9C-AC1B-EE0CEB144929}</a:tableStyleId>
              </a:tblPr>
              <a:tblGrid>
                <a:gridCol w="444500"/>
                <a:gridCol w="444500"/>
              </a:tblGrid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a</a:t>
                      </a:r>
                      <a:endParaRPr b="1" sz="18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b</a:t>
                      </a:r>
                      <a:endParaRPr b="1" sz="18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</a:t>
                      </a:r>
                      <a:endParaRPr b="1" sz="18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</a:t>
                      </a:r>
                      <a:endParaRPr b="1" sz="18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e</a:t>
                      </a:r>
                      <a:endParaRPr b="1" sz="18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</a:t>
                      </a:r>
                      <a:endParaRPr b="1" sz="18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89" name="Google Shape;189;p28"/>
          <p:cNvGraphicFramePr/>
          <p:nvPr/>
        </p:nvGraphicFramePr>
        <p:xfrm>
          <a:off x="2015065" y="3353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{F345ED5E-3CC2-4C9C-AC1B-EE0CEB144929}</a:tableStyleId>
              </a:tblPr>
              <a:tblGrid>
                <a:gridCol w="413625"/>
                <a:gridCol w="413625"/>
                <a:gridCol w="413625"/>
              </a:tblGrid>
              <a:tr h="221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g</a:t>
                      </a:r>
                      <a:endParaRPr b="1" sz="18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h</a:t>
                      </a:r>
                      <a:endParaRPr b="1" sz="18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i</a:t>
                      </a:r>
                      <a:endParaRPr b="1" sz="18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34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j </a:t>
                      </a:r>
                      <a:endParaRPr b="1" sz="18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k </a:t>
                      </a:r>
                      <a:endParaRPr b="1" sz="18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l</a:t>
                      </a:r>
                      <a:endParaRPr b="1" sz="18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0" name="Google Shape;190;p28"/>
          <p:cNvSpPr txBox="1"/>
          <p:nvPr/>
        </p:nvSpPr>
        <p:spPr>
          <a:xfrm>
            <a:off x="1509640" y="3457338"/>
            <a:ext cx="4452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91" name="Google Shape;191;p28"/>
          <p:cNvSpPr txBox="1"/>
          <p:nvPr/>
        </p:nvSpPr>
        <p:spPr>
          <a:xfrm>
            <a:off x="2810740" y="1850875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3325690" y="3441438"/>
            <a:ext cx="4452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=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528800" y="2566300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Josefin Slab"/>
                <a:ea typeface="Josefin Slab"/>
                <a:cs typeface="Josefin Slab"/>
                <a:sym typeface="Josefin Slab"/>
              </a:rPr>
              <a:t>2 x 2</a:t>
            </a:r>
            <a:endParaRPr b="1" sz="1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1894865" y="2566300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Josefin Slab"/>
                <a:ea typeface="Josefin Slab"/>
                <a:cs typeface="Josefin Slab"/>
                <a:sym typeface="Josefin Slab"/>
              </a:rPr>
              <a:t>2 x 2</a:t>
            </a:r>
            <a:endParaRPr b="1" sz="1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3706865" y="2566300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Josefin Slab"/>
                <a:ea typeface="Josefin Slab"/>
                <a:cs typeface="Josefin Slab"/>
                <a:sym typeface="Josefin Slab"/>
              </a:rPr>
              <a:t>2 x 2</a:t>
            </a:r>
            <a:endParaRPr b="1" sz="1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600400" y="44705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latin typeface="Josefin Slab"/>
                <a:ea typeface="Josefin Slab"/>
                <a:cs typeface="Josefin Slab"/>
                <a:sym typeface="Josefin Slab"/>
              </a:rPr>
              <a:t>2 x 2</a:t>
            </a:r>
            <a:endParaRPr b="1" sz="1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2262602" y="420112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Josefin Slab"/>
                <a:ea typeface="Josefin Slab"/>
                <a:cs typeface="Josefin Slab"/>
                <a:sym typeface="Josefin Slab"/>
              </a:rPr>
              <a:t>2 x 3</a:t>
            </a:r>
            <a:endParaRPr b="1" sz="1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4819090" y="4470575"/>
            <a:ext cx="7458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Josefin Slab"/>
                <a:ea typeface="Josefin Slab"/>
                <a:cs typeface="Josefin Slab"/>
                <a:sym typeface="Josefin Slab"/>
              </a:rPr>
              <a:t>3 x 3</a:t>
            </a:r>
            <a:endParaRPr b="1" sz="1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99" name="Google Shape;1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482" y="5016384"/>
            <a:ext cx="2175515" cy="64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5940" y="4971775"/>
            <a:ext cx="5515112" cy="73612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8"/>
          <p:cNvSpPr txBox="1"/>
          <p:nvPr/>
        </p:nvSpPr>
        <p:spPr>
          <a:xfrm>
            <a:off x="1230665" y="5816963"/>
            <a:ext cx="6435300" cy="7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Not commutative! A X B does not equal B X A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But Associative and Distributive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Powers</a:t>
            </a:r>
            <a:endParaRPr/>
          </a:p>
        </p:txBody>
      </p:sp>
      <p:sp>
        <p:nvSpPr>
          <p:cNvPr id="207" name="Google Shape;207;p2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 sz="26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The powers (square, cube, etc) of a matrix are just the matrix times itself that many times</a:t>
            </a:r>
            <a:endParaRPr sz="26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 sz="26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aseline="30000" lang="en" sz="26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lang="en" sz="26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 = </a:t>
            </a:r>
            <a:r>
              <a:rPr b="1" lang="en" sz="26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lang="en" sz="26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 x </a:t>
            </a:r>
            <a:r>
              <a:rPr b="1" lang="en" sz="26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lang="en" sz="26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 </a:t>
            </a:r>
            <a:endParaRPr sz="26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 sz="26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aseline="30000" lang="en" sz="26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lang="en" sz="26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 = </a:t>
            </a:r>
            <a:r>
              <a:rPr b="1" lang="en" sz="26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lang="en" sz="26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 x </a:t>
            </a:r>
            <a:r>
              <a:rPr b="1" lang="en" sz="26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lang="en" sz="26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 x </a:t>
            </a:r>
            <a:r>
              <a:rPr b="1" lang="en" sz="26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endParaRPr b="1" sz="26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aseline="30000" lang="en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=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 A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x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 A .... A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aseline="30000" lang="en">
                <a:latin typeface="Josefin Slab"/>
                <a:ea typeface="Josefin Slab"/>
                <a:cs typeface="Josefin Slab"/>
                <a:sym typeface="Josefin Slab"/>
              </a:rPr>
              <a:t>0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=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Where I is the I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dentity Matrix</a:t>
            </a:r>
            <a:endParaRPr i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208" name="Google Shape;208;p29"/>
          <p:cNvSpPr txBox="1"/>
          <p:nvPr/>
        </p:nvSpPr>
        <p:spPr>
          <a:xfrm>
            <a:off x="3513575" y="3814175"/>
            <a:ext cx="11181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Josefin Slab"/>
                <a:ea typeface="Josefin Slab"/>
                <a:cs typeface="Josefin Slab"/>
                <a:sym typeface="Josefin Slab"/>
              </a:rPr>
              <a:t>k times</a:t>
            </a:r>
            <a:endParaRPr b="1" i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09" name="Google Shape;20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463" y="4939088"/>
            <a:ext cx="6995746" cy="1357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Subgraphs</a:t>
            </a:r>
            <a:endParaRPr/>
          </a:p>
        </p:txBody>
      </p:sp>
      <p:sp>
        <p:nvSpPr>
          <p:cNvPr id="215" name="Google Shape;215;p30"/>
          <p:cNvSpPr txBox="1"/>
          <p:nvPr>
            <p:ph idx="1" type="body"/>
          </p:nvPr>
        </p:nvSpPr>
        <p:spPr>
          <a:xfrm>
            <a:off x="457200" y="1600200"/>
            <a:ext cx="8404200" cy="4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graph G' = (V', E') is a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subgraph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of a graph G iff: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V' is a subset of V and E' is a subset of 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Subgraphs may induced by either: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Sampling a group of vertices and the selecting the subset of edges that link them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Sampling a group of edges and the selecting of the vertices that are the destination (origin) of each edge.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For any given set of vertices V' and a given graph property , a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maximal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subgraph is a subgraph G' formed from V' such that there is no subgraph G'' whose vertices are a subset of V' and satisfy that same property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Walks, Trails, Paths</a:t>
            </a:r>
            <a:endParaRPr/>
          </a:p>
        </p:txBody>
      </p:sp>
      <p:sp>
        <p:nvSpPr>
          <p:cNvPr id="221" name="Google Shape;221;p31"/>
          <p:cNvSpPr txBox="1"/>
          <p:nvPr>
            <p:ph idx="1" type="body"/>
          </p:nvPr>
        </p:nvSpPr>
        <p:spPr>
          <a:xfrm>
            <a:off x="457200" y="1600200"/>
            <a:ext cx="6565200" cy="4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walk 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is an alternating sequence of vertices and edges {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u</a:t>
            </a:r>
            <a:r>
              <a:rPr baseline="-25000" i="1" lang="en" sz="2200">
                <a:latin typeface="Josefin Slab"/>
                <a:ea typeface="Josefin Slab"/>
                <a:cs typeface="Josefin Slab"/>
                <a:sym typeface="Josefin Slab"/>
              </a:rPr>
              <a:t>1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, e</a:t>
            </a:r>
            <a:r>
              <a:rPr baseline="-25000" i="1" lang="en" sz="2200">
                <a:latin typeface="Josefin Slab"/>
                <a:ea typeface="Josefin Slab"/>
                <a:cs typeface="Josefin Slab"/>
                <a:sym typeface="Josefin Slab"/>
              </a:rPr>
              <a:t>12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, u</a:t>
            </a:r>
            <a:r>
              <a:rPr baseline="-25000" i="1" lang="en" sz="2200"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, e</a:t>
            </a:r>
            <a:r>
              <a:rPr baseline="-25000" i="1" lang="en" sz="2200">
                <a:latin typeface="Josefin Slab"/>
                <a:ea typeface="Josefin Slab"/>
                <a:cs typeface="Josefin Slab"/>
                <a:sym typeface="Josefin Slab"/>
              </a:rPr>
              <a:t>23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, u</a:t>
            </a:r>
            <a:r>
              <a:rPr baseline="-25000" i="1" lang="en" sz="2200"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....u</a:t>
            </a:r>
            <a:r>
              <a:rPr baseline="-25000" i="1" lang="en" sz="2200">
                <a:latin typeface="Josefin Slab"/>
                <a:ea typeface="Josefin Slab"/>
                <a:cs typeface="Josefin Slab"/>
                <a:sym typeface="Josefin Slab"/>
              </a:rPr>
              <a:t>n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} starting with an origin vertex u</a:t>
            </a:r>
            <a:r>
              <a:rPr baseline="-25000" lang="en" sz="2200">
                <a:latin typeface="Josefin Slab"/>
                <a:ea typeface="Josefin Slab"/>
                <a:cs typeface="Josefin Slab"/>
                <a:sym typeface="Josefin Slab"/>
              </a:rPr>
              <a:t>1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 ending with a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destination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 vertex u</a:t>
            </a:r>
            <a:r>
              <a:rPr baseline="-25000" lang="en" sz="2200">
                <a:latin typeface="Josefin Slab"/>
                <a:ea typeface="Josefin Slab"/>
                <a:cs typeface="Josefin Slab"/>
                <a:sym typeface="Josefin Slab"/>
              </a:rPr>
              <a:t>n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 such that each vertex in the sequence (excluding the origin and destination vertices) is adjacent to the vertex the precedes it and the vertex that follows it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i="1" lang="en" sz="1800">
                <a:latin typeface="Josefin Slab"/>
                <a:ea typeface="Josefin Slab"/>
                <a:cs typeface="Josefin Slab"/>
                <a:sym typeface="Josefin Slab"/>
              </a:rPr>
              <a:t>length </a:t>
            </a: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of the walk is the number of edges contained in the sequence</a:t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The starting vertex is the </a:t>
            </a:r>
            <a:r>
              <a:rPr i="1" lang="en" sz="1800">
                <a:latin typeface="Josefin Slab"/>
                <a:ea typeface="Josefin Slab"/>
                <a:cs typeface="Josefin Slab"/>
                <a:sym typeface="Josefin Slab"/>
              </a:rPr>
              <a:t>origin </a:t>
            </a: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vertex and the end vertex is the </a:t>
            </a:r>
            <a:r>
              <a:rPr i="1" lang="en" sz="1800">
                <a:latin typeface="Josefin Slab"/>
                <a:ea typeface="Josefin Slab"/>
                <a:cs typeface="Josefin Slab"/>
                <a:sym typeface="Josefin Slab"/>
              </a:rPr>
              <a:t>destination </a:t>
            </a: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vertex.</a:t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Taking the powers of the adjacency matrix </a:t>
            </a: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aseline="30000" lang="en" sz="1800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 generates successive matrices where ij</a:t>
            </a:r>
            <a:r>
              <a:rPr baseline="30000" lang="en" sz="1800">
                <a:latin typeface="Josefin Slab"/>
                <a:ea typeface="Josefin Slab"/>
                <a:cs typeface="Josefin Slab"/>
                <a:sym typeface="Josefin Slab"/>
              </a:rPr>
              <a:t>th</a:t>
            </a: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 entry is the number of paths of length k between i and j</a:t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22" name="Google Shape;22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2600" y="4498763"/>
            <a:ext cx="190500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Walks, Trails, Paths</a:t>
            </a:r>
            <a:endParaRPr/>
          </a:p>
        </p:txBody>
      </p:sp>
      <p:sp>
        <p:nvSpPr>
          <p:cNvPr id="228" name="Google Shape;228;p32"/>
          <p:cNvSpPr txBox="1"/>
          <p:nvPr>
            <p:ph idx="1" type="body"/>
          </p:nvPr>
        </p:nvSpPr>
        <p:spPr>
          <a:xfrm>
            <a:off x="457200" y="1600200"/>
            <a:ext cx="6822000" cy="4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A walk is called a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trail 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if all edges appear only once in the sequence (no edge is traversed more than once)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A walk is called a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path 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if all edges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and 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all vertices appear only once in the sequence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All paths are trails and all trails are walks, but not every walk is a trail and not every trail is a path.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cycle 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is a path in which the origin and destination vertices are the same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In weighted graphs, the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path-weight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 is the sum of the weights corresponding to all of the edges contained in a path.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29" name="Google Shape;22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2600" y="4498763"/>
            <a:ext cx="190500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Shortest paths</a:t>
            </a:r>
            <a:endParaRPr/>
          </a:p>
        </p:txBody>
      </p:sp>
      <p:sp>
        <p:nvSpPr>
          <p:cNvPr id="235" name="Google Shape;235;p33"/>
          <p:cNvSpPr txBox="1"/>
          <p:nvPr>
            <p:ph idx="1" type="body"/>
          </p:nvPr>
        </p:nvSpPr>
        <p:spPr>
          <a:xfrm>
            <a:off x="457200" y="1600200"/>
            <a:ext cx="6672000" cy="4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600"/>
              </a:spcBef>
              <a:spcAft>
                <a:spcPts val="0"/>
              </a:spcAft>
              <a:buSzPts val="2800"/>
              <a:buChar char="●"/>
            </a:pP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Two paths are </a:t>
            </a:r>
            <a:r>
              <a:rPr i="1" lang="en" sz="2800">
                <a:latin typeface="Josefin Slab"/>
                <a:ea typeface="Josefin Slab"/>
                <a:cs typeface="Josefin Slab"/>
                <a:sym typeface="Josefin Slab"/>
              </a:rPr>
              <a:t>vertex-disjoint </a:t>
            </a: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if they share no vertices</a:t>
            </a:r>
            <a:endParaRPr sz="2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Two paths are </a:t>
            </a:r>
            <a:r>
              <a:rPr i="1" lang="en" sz="2800">
                <a:latin typeface="Josefin Slab"/>
                <a:ea typeface="Josefin Slab"/>
                <a:cs typeface="Josefin Slab"/>
                <a:sym typeface="Josefin Slab"/>
              </a:rPr>
              <a:t>edge-disjoint</a:t>
            </a: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 if they share no edges</a:t>
            </a:r>
            <a:endParaRPr sz="2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 sz="2800">
                <a:latin typeface="Josefin Slab"/>
                <a:ea typeface="Josefin Slab"/>
                <a:cs typeface="Josefin Slab"/>
                <a:sym typeface="Josefin Slab"/>
              </a:rPr>
              <a:t>geodesic (graph-theoretic distance) </a:t>
            </a: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is the </a:t>
            </a:r>
            <a:r>
              <a:rPr i="1" lang="en" sz="2800">
                <a:latin typeface="Josefin Slab"/>
                <a:ea typeface="Josefin Slab"/>
                <a:cs typeface="Josefin Slab"/>
                <a:sym typeface="Josefin Slab"/>
              </a:rPr>
              <a:t>shortest-path </a:t>
            </a: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between two distinct vertices</a:t>
            </a:r>
            <a:endParaRPr sz="2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May be represented as a pairwise matrix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D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, with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D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ij = geodesic distance between i and j</a:t>
            </a:r>
            <a:endParaRPr sz="2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36" name="Google Shape;23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2600" y="4498763"/>
            <a:ext cx="190500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Connectivity</a:t>
            </a:r>
            <a:endParaRPr/>
          </a:p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457200" y="1600200"/>
            <a:ext cx="3980100" cy="4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Font typeface="Josefin Slab"/>
              <a:buChar char="●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A graph is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connected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 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if there exists a (finite) path between each vertex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Josefin Slab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Otherwise the graph is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disconnected</a:t>
            </a:r>
            <a:endParaRPr b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Josefin Slab"/>
              <a:buChar char="●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maximal connected 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subgraph is called a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component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Josefin Slab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In a graph, the connected subgraph that contains the largest proportion of vertices is called the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giant component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43" name="Google Shape;24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7300" y="2417446"/>
            <a:ext cx="4648234" cy="3486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Cutpoints and Cutsets</a:t>
            </a:r>
            <a:endParaRPr/>
          </a:p>
        </p:txBody>
      </p:sp>
      <p:sp>
        <p:nvSpPr>
          <p:cNvPr id="249" name="Google Shape;249;p35"/>
          <p:cNvSpPr txBox="1"/>
          <p:nvPr>
            <p:ph idx="1" type="body"/>
          </p:nvPr>
        </p:nvSpPr>
        <p:spPr>
          <a:xfrm>
            <a:off x="457200" y="1600200"/>
            <a:ext cx="8452800" cy="28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600"/>
              </a:spcBef>
              <a:spcAft>
                <a:spcPts val="0"/>
              </a:spcAft>
              <a:buSzPts val="28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cutpoint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is a vertex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v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that would disconnect the graph upon removal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block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is subgraph G' that contains no cutpoints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cutset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is a set of vertices {v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1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, v,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,...v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n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} that would disconnect the graph upon removal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○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 sz="2400">
                <a:latin typeface="Josefin Slab"/>
                <a:ea typeface="Josefin Slab"/>
                <a:cs typeface="Josefin Slab"/>
                <a:sym typeface="Josefin Slab"/>
              </a:rPr>
              <a:t>minimal cutset 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is the smallest number of vertices n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whose removal would disconnect the graph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50" name="Google Shape;25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0637" y="4742290"/>
            <a:ext cx="3145927" cy="182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K-connectivity</a:t>
            </a:r>
            <a:endParaRPr/>
          </a:p>
        </p:txBody>
      </p:sp>
      <p:sp>
        <p:nvSpPr>
          <p:cNvPr id="256" name="Google Shape;256;p36"/>
          <p:cNvSpPr txBox="1"/>
          <p:nvPr>
            <p:ph idx="1" type="body"/>
          </p:nvPr>
        </p:nvSpPr>
        <p:spPr>
          <a:xfrm>
            <a:off x="457200" y="1600200"/>
            <a:ext cx="8452800" cy="28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600"/>
              </a:spcBef>
              <a:spcAft>
                <a:spcPts val="0"/>
              </a:spcAft>
              <a:buSzPts val="28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graph with a minimal cutset of size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, is said to be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-connected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k-connectivity of any two vertices {u, v} in graph G, is the number of vertices that must be removed to disconnect u and v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Thus, if it takes removing three nodes to disconnect two vertices, u and v are said to be three-connected.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57" name="Google Shape;2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0637" y="4742290"/>
            <a:ext cx="3145927" cy="182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Edge-connectivity</a:t>
            </a:r>
            <a:endParaRPr/>
          </a:p>
        </p:txBody>
      </p:sp>
      <p:sp>
        <p:nvSpPr>
          <p:cNvPr id="263" name="Google Shape;263;p37"/>
          <p:cNvSpPr txBox="1"/>
          <p:nvPr>
            <p:ph idx="1" type="body"/>
          </p:nvPr>
        </p:nvSpPr>
        <p:spPr>
          <a:xfrm>
            <a:off x="457200" y="1600200"/>
            <a:ext cx="8521800" cy="31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Font typeface="Josefin Slab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bridge 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is an edge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uv 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in graph G whose removal would disconnect the graph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Josefin Slab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edgecut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 is the set of edges E' whose removal would disconnect the graph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Font typeface="Josefin Slab"/>
              <a:buChar char="○"/>
            </a:pP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The edgecut for a pair of vertices u, v is defined in the same way</a:t>
            </a:r>
            <a:endParaRPr sz="2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Font typeface="Josefin Slab"/>
              <a:buChar char="○"/>
            </a:pP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i="1" lang="en" sz="2000">
                <a:latin typeface="Josefin Slab"/>
                <a:ea typeface="Josefin Slab"/>
                <a:cs typeface="Josefin Slab"/>
                <a:sym typeface="Josefin Slab"/>
              </a:rPr>
              <a:t>miminal edgecut </a:t>
            </a: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is the smallest number of edges </a:t>
            </a:r>
            <a:r>
              <a:rPr i="1" lang="en" sz="2000">
                <a:latin typeface="Josefin Slab"/>
                <a:ea typeface="Josefin Slab"/>
                <a:cs typeface="Josefin Slab"/>
                <a:sym typeface="Josefin Slab"/>
              </a:rPr>
              <a:t>m </a:t>
            </a: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whose removal would disconnect the graph</a:t>
            </a:r>
            <a:endParaRPr sz="2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Font typeface="Josefin Slab"/>
              <a:buChar char="○"/>
            </a:pP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i="1" lang="en" sz="2000">
                <a:latin typeface="Josefin Slab"/>
                <a:ea typeface="Josefin Slab"/>
                <a:cs typeface="Josefin Slab"/>
                <a:sym typeface="Josefin Slab"/>
              </a:rPr>
              <a:t>edge connectivity</a:t>
            </a: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 of a graph is the size of the minimal edgecut</a:t>
            </a:r>
            <a:endParaRPr sz="20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64" name="Google Shape;26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0637" y="4742290"/>
            <a:ext cx="3145927" cy="182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Menger's Theorem</a:t>
            </a:r>
            <a:endParaRPr/>
          </a:p>
        </p:txBody>
      </p:sp>
      <p:sp>
        <p:nvSpPr>
          <p:cNvPr id="270" name="Google Shape;270;p38"/>
          <p:cNvSpPr txBox="1"/>
          <p:nvPr>
            <p:ph idx="1" type="body"/>
          </p:nvPr>
        </p:nvSpPr>
        <p:spPr>
          <a:xfrm>
            <a:off x="457200" y="1600200"/>
            <a:ext cx="8452800" cy="28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600"/>
              </a:spcBef>
              <a:spcAft>
                <a:spcPts val="0"/>
              </a:spcAft>
              <a:buSzPts val="28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Menger's theorem states that for any pair of vertices u, v in a graph G: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edgecut that disconnects u and v is equal to the number of edge-disjoint paths that connect u and v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And, for any subgraph of a graph G: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k-connectivity of a subgraph is identical to the minimal number of edge-independent paths connecting any two vertices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71" name="Google Shape;27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0637" y="4742290"/>
            <a:ext cx="3145927" cy="182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Algebra: Eigenvectors and Eigenvalues</a:t>
            </a:r>
            <a:endParaRPr/>
          </a:p>
        </p:txBody>
      </p:sp>
      <p:sp>
        <p:nvSpPr>
          <p:cNvPr id="277" name="Google Shape;277;p39"/>
          <p:cNvSpPr txBox="1"/>
          <p:nvPr>
            <p:ph idx="1" type="body"/>
          </p:nvPr>
        </p:nvSpPr>
        <p:spPr>
          <a:xfrm>
            <a:off x="457200" y="1600200"/>
            <a:ext cx="4512300" cy="48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600"/>
              </a:spcBef>
              <a:spcAft>
                <a:spcPts val="0"/>
              </a:spcAft>
              <a:buSzPts val="28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For a square matrix A (such as an adjacency matrix) and eigenvector is a vector v, such that: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Av = Bv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Where B is a scalar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descr="img37.gif" id="278" name="Google Shape;27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1550" y="2700613"/>
            <a:ext cx="3975250" cy="2650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Algebra</a:t>
            </a:r>
            <a:r>
              <a:rPr lang="en"/>
              <a:t>: Eigenvectors and Eigenvalues</a:t>
            </a:r>
            <a:endParaRPr/>
          </a:p>
        </p:txBody>
      </p:sp>
      <p:sp>
        <p:nvSpPr>
          <p:cNvPr id="284" name="Google Shape;284;p40"/>
          <p:cNvSpPr txBox="1"/>
          <p:nvPr>
            <p:ph idx="1" type="body"/>
          </p:nvPr>
        </p:nvSpPr>
        <p:spPr>
          <a:xfrm>
            <a:off x="457200" y="1600200"/>
            <a:ext cx="8280600" cy="48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The Singular Value Decomposition (also called the spectral decomposition) of an N x N matrix A (such as an adjacency matrix) is a factorization of the form:</a:t>
            </a:r>
            <a:endParaRPr sz="2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A = UWV</a:t>
            </a:r>
            <a:endParaRPr sz="2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Where,</a:t>
            </a:r>
            <a:endParaRPr sz="2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W is an N x N diagonal matrix with each diagonal entry containing an eigenvalue of A</a:t>
            </a:r>
            <a:endParaRPr sz="2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U and V are N x N matrices, such that the i</a:t>
            </a:r>
            <a:r>
              <a:rPr baseline="30000" lang="en" sz="2000">
                <a:latin typeface="Josefin Slab"/>
                <a:ea typeface="Josefin Slab"/>
                <a:cs typeface="Josefin Slab"/>
                <a:sym typeface="Josefin Slab"/>
              </a:rPr>
              <a:t>th</a:t>
            </a: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 row(column) of U(V) is an eigenvector of A and the i</a:t>
            </a:r>
            <a:r>
              <a:rPr baseline="30000" lang="en" sz="2000">
                <a:latin typeface="Josefin Slab"/>
                <a:ea typeface="Josefin Slab"/>
                <a:cs typeface="Josefin Slab"/>
                <a:sym typeface="Josefin Slab"/>
              </a:rPr>
              <a:t>th</a:t>
            </a: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 diagonal entry of W is its corresponding eigenvalue</a:t>
            </a:r>
            <a:endParaRPr sz="2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U</a:t>
            </a:r>
            <a:r>
              <a:rPr baseline="-25000" lang="en" sz="2000">
                <a:latin typeface="Josefin Slab"/>
                <a:ea typeface="Josefin Slab"/>
                <a:cs typeface="Josefin Slab"/>
                <a:sym typeface="Josefin Slab"/>
              </a:rPr>
              <a:t>1</a:t>
            </a: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 x W</a:t>
            </a:r>
            <a:r>
              <a:rPr baseline="-25000" lang="en" sz="2000">
                <a:latin typeface="Josefin Slab"/>
                <a:ea typeface="Josefin Slab"/>
                <a:cs typeface="Josefin Slab"/>
                <a:sym typeface="Josefin Slab"/>
              </a:rPr>
              <a:t>11</a:t>
            </a: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 is the best (least squares) approximation of A</a:t>
            </a:r>
            <a:endParaRPr sz="20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