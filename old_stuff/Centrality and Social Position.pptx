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Economica"/>
      <p:regular r:id="rId47"/>
      <p:bold r:id="rId48"/>
      <p:italic r:id="rId49"/>
      <p:boldItalic r:id="rId50"/>
    </p:embeddedFont>
    <p:embeddedFont>
      <p:font typeface="Roboto"/>
      <p:regular r:id="rId51"/>
      <p:bold r:id="rId52"/>
      <p:italic r:id="rId53"/>
      <p:boldItalic r:id="rId54"/>
    </p:embeddedFont>
    <p:embeddedFont>
      <p:font typeface="Habibi"/>
      <p:regular r:id="rId55"/>
    </p:embeddedFont>
    <p:embeddedFont>
      <p:font typeface="Open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A8FFFF-8693-41D4-B03B-5302D857346D}">
  <a:tblStyle styleId="{81A8FFFF-8693-41D4-B03B-5302D85734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Economica-bold.fntdata"/><Relationship Id="rId47" Type="http://schemas.openxmlformats.org/officeDocument/2006/relationships/font" Target="fonts/Economica-regular.fntdata"/><Relationship Id="rId49" Type="http://schemas.openxmlformats.org/officeDocument/2006/relationships/font" Target="fonts/Economica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regular.fntdata"/><Relationship Id="rId50" Type="http://schemas.openxmlformats.org/officeDocument/2006/relationships/font" Target="fonts/Economica-boldItalic.fntdata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5.xml"/><Relationship Id="rId55" Type="http://schemas.openxmlformats.org/officeDocument/2006/relationships/font" Target="fonts/Habibi-regular.fntdata"/><Relationship Id="rId10" Type="http://schemas.openxmlformats.org/officeDocument/2006/relationships/slide" Target="slides/slide4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7.xml"/><Relationship Id="rId57" Type="http://schemas.openxmlformats.org/officeDocument/2006/relationships/font" Target="fonts/OpenSans-bold.fntdata"/><Relationship Id="rId12" Type="http://schemas.openxmlformats.org/officeDocument/2006/relationships/slide" Target="slides/slide6.xml"/><Relationship Id="rId56" Type="http://schemas.openxmlformats.org/officeDocument/2006/relationships/font" Target="fonts/OpenSans-regular.fntdata"/><Relationship Id="rId15" Type="http://schemas.openxmlformats.org/officeDocument/2006/relationships/slide" Target="slides/slide9.xml"/><Relationship Id="rId59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58" Type="http://schemas.openxmlformats.org/officeDocument/2006/relationships/font" Target="fonts/Ope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f111447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f111447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cdbf07a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cdbf07a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7cdbf07ad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7cdbf07ad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e0c13da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4e0c13da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4e0c13da6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4e0c13da6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4e0c13da6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4e0c13da6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e0c13da6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4e0c13da6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7cf2cdd6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7cf2cdd6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e0c13da6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4e0c13da6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7cf2cdd6f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7cf2cdd6f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4e0c13da6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4e0c13da6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7cf2cdd6f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7cf2cdd6f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4e0c13da6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4e0c13da6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4e0c13da6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4e0c13da6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4e0c13da62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4e0c13da6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4e0c13da62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4e0c13da62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4e0c13da6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4e0c13da6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4e0c13da62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4e0c13da62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4e0c13da62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4e0c13da62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7cf2cdd6fc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7cf2cdd6f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4e0c13da6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4e0c13da6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4e0c13da6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4e0c13da6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4e0c13da62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4e0c13da62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4e0c13da62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4e0c13da62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4e0c13da62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4e0c13da62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4e0c13da62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4e0c13da62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4e0c13da62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4e0c13da62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4e0c13da62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4e0c13da62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4e0c13da62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4e0c13da62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4e0c13da62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4e0c13da62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4e0c13da62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4e0c13da62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4e0c13da62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4e0c13da62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4e0c13da62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4e0c13da62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4e0c13da62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4e0c13da62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4e0c13da62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4e0c13da62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4e0c13da62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4e0c13da62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4e0c13da62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4e0c13da62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4e0c13da62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4e0c13da62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4e0c13da62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4e0c13da62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4e0c13da62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4e0c13da62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Level in Networks II</a:t>
            </a:r>
            <a:endParaRPr/>
          </a:p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 and Social Position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7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17" name="Google Shape;117;p27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" name="Google Shape;118;p27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7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0" name="Google Shape;120;p27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" name="Google Shape;121;p27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122" name="Google Shape;122;p27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" name="Google Shape;123;p27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7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5" name="Google Shape;125;p27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" name="Google Shape;126;p27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27" name="Google Shape;127;p27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" name="Google Shape;128;p27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7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0" name="Google Shape;130;p27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" name="Google Shape;131;p27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32" name="Google Shape;132;p27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27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7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5" name="Google Shape;135;p27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27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37" name="Google Shape;137;p27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" name="Google Shape;138;p27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7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0" name="Google Shape;140;p27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1" name="Google Shape;141;p27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42" name="Google Shape;142;p27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3" name="Google Shape;143;p27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4" name="Google Shape;144;p27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5" name="Google Shape;145;p27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6" name="Google Shape;146;p27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7" name="Google Shape;147;p27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8" name="Google Shape;148;p27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9" name="Google Shape;149;p27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0" name="Google Shape;150;p27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1" name="Google Shape;151;p27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2" name="Google Shape;152;p27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3" name="Google Shape;153;p27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4" name="Google Shape;154;p27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5" name="Google Shape;155;p27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6" name="Google Shape;156;p27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7" name="Google Shape;157;p27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8" name="Google Shape;158;p27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159" name="Google Shape;159;p27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28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66" name="Google Shape;166;p28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" name="Google Shape;167;p28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8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9" name="Google Shape;169;p28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0" name="Google Shape;170;p28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71" name="Google Shape;171;p28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28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8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4" name="Google Shape;174;p28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" name="Google Shape;175;p28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76" name="Google Shape;176;p28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" name="Google Shape;177;p28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8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9" name="Google Shape;179;p28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0" name="Google Shape;180;p28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81" name="Google Shape;181;p28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" name="Google Shape;182;p28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8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4" name="Google Shape;184;p28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5" name="Google Shape;185;p28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86" name="Google Shape;186;p28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7" name="Google Shape;187;p28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8" name="Google Shape;188;p28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9" name="Google Shape;189;p28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0" name="Google Shape;190;p28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1" name="Google Shape;191;p28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2" name="Google Shape;192;p28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3" name="Google Shape;193;p28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4" name="Google Shape;194;p28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5" name="Google Shape;195;p28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6" name="Google Shape;196;p28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7" name="Google Shape;197;p28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8" name="Google Shape;198;p28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9" name="Google Shape;199;p28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0" name="Google Shape;200;p28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1" name="Google Shape;201;p28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2" name="Google Shape;202;p28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203" name="Google Shape;203;p28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204" name="Google Shape;204;p28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5" name="Google Shape;205;p28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8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07" name="Google Shape;207;p28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8" name="Google Shape;208;p28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9" name="Google Shape;20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210" name="Google Shape;210;p28"/>
          <p:cNvSpPr/>
          <p:nvPr/>
        </p:nvSpPr>
        <p:spPr>
          <a:xfrm>
            <a:off x="3707750" y="1206325"/>
            <a:ext cx="44850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Centrality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What is it?</a:t>
            </a:r>
            <a:endParaRPr/>
          </a:p>
        </p:txBody>
      </p:sp>
      <p:sp>
        <p:nvSpPr>
          <p:cNvPr id="216" name="Google Shape;216;p29"/>
          <p:cNvSpPr txBox="1"/>
          <p:nvPr>
            <p:ph idx="1" type="body"/>
          </p:nvPr>
        </p:nvSpPr>
        <p:spPr>
          <a:xfrm>
            <a:off x="311700" y="1225225"/>
            <a:ext cx="488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Central</a:t>
            </a:r>
            <a:r>
              <a:rPr lang="en"/>
              <a:t> notion in network analysis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ill-defined conceptually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Intuitively, vertex-level index of </a:t>
            </a:r>
            <a:r>
              <a:rPr i="1" lang="en"/>
              <a:t>prominence</a:t>
            </a:r>
            <a:r>
              <a:rPr lang="en"/>
              <a:t> or </a:t>
            </a:r>
            <a:r>
              <a:rPr i="1" lang="en"/>
              <a:t>importance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Dozens and dozens of centrality have and continue to be proposed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agreement is that centrality is a </a:t>
            </a:r>
            <a:r>
              <a:rPr b="1" lang="en"/>
              <a:t>individual</a:t>
            </a:r>
            <a:r>
              <a:rPr b="1" lang="en"/>
              <a:t>-level</a:t>
            </a:r>
            <a:r>
              <a:rPr lang="en"/>
              <a:t> construct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Means that it is only </a:t>
            </a:r>
            <a:r>
              <a:rPr lang="en"/>
              <a:t>defined</a:t>
            </a:r>
            <a:r>
              <a:rPr lang="en"/>
              <a:t> for </a:t>
            </a:r>
            <a:r>
              <a:rPr b="1" lang="en"/>
              <a:t>vertices</a:t>
            </a:r>
            <a:endParaRPr b="1"/>
          </a:p>
        </p:txBody>
      </p:sp>
      <p:pic>
        <p:nvPicPr>
          <p:cNvPr descr="Ego_network.png" id="217" name="Google Shape;2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925" y="1079425"/>
            <a:ext cx="3759301" cy="3645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What is it?</a:t>
            </a:r>
            <a:endParaRPr/>
          </a:p>
        </p:txBody>
      </p:sp>
      <p:sp>
        <p:nvSpPr>
          <p:cNvPr id="223" name="Google Shape;223;p30"/>
          <p:cNvSpPr txBox="1"/>
          <p:nvPr>
            <p:ph idx="1" type="body"/>
          </p:nvPr>
        </p:nvSpPr>
        <p:spPr>
          <a:xfrm>
            <a:off x="311700" y="1225225"/>
            <a:ext cx="4768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</a:t>
            </a:r>
            <a:r>
              <a:rPr lang="en"/>
              <a:t>of (sometimes inconsistent) substantive interpretations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Autonomy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Control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Risk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Exposure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Influence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Belongingness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Brokerage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Independence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Power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Strategic Location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Ego_network.png" id="224" name="Google Shape;22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925" y="1079425"/>
            <a:ext cx="3759301" cy="3645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Centrality: From network concepts to measures</a:t>
            </a:r>
            <a:endParaRPr/>
          </a:p>
        </p:txBody>
      </p:sp>
      <p:grpSp>
        <p:nvGrpSpPr>
          <p:cNvPr id="230" name="Google Shape;230;p31"/>
          <p:cNvGrpSpPr/>
          <p:nvPr/>
        </p:nvGrpSpPr>
        <p:grpSpPr>
          <a:xfrm>
            <a:off x="628475" y="1427600"/>
            <a:ext cx="7887050" cy="2749200"/>
            <a:chOff x="311700" y="1328725"/>
            <a:chExt cx="7887050" cy="2749200"/>
          </a:xfrm>
        </p:grpSpPr>
        <p:sp>
          <p:nvSpPr>
            <p:cNvPr id="231" name="Google Shape;231;p31"/>
            <p:cNvSpPr/>
            <p:nvPr/>
          </p:nvSpPr>
          <p:spPr>
            <a:xfrm>
              <a:off x="311700" y="1328725"/>
              <a:ext cx="1864500" cy="2749200"/>
            </a:xfrm>
            <a:prstGeom prst="roundRect">
              <a:avLst>
                <a:gd fmla="val 16667" name="adj"/>
              </a:avLst>
            </a:prstGeom>
            <a:solidFill>
              <a:srgbClr val="CCA67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</a:rPr>
                <a:t>Some notion of prominence, importance, brokerage, being “in the middle of things,” being in a favorable exchange position, etc.</a:t>
              </a:r>
              <a:endParaRPr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232" name="Google Shape;232;p31"/>
            <p:cNvSpPr/>
            <p:nvPr/>
          </p:nvSpPr>
          <p:spPr>
            <a:xfrm>
              <a:off x="2786412" y="1328725"/>
              <a:ext cx="1864500" cy="2749200"/>
            </a:xfrm>
            <a:prstGeom prst="roundRect">
              <a:avLst>
                <a:gd fmla="val 16667" name="adj"/>
              </a:avLst>
            </a:prstGeom>
            <a:solidFill>
              <a:srgbClr val="CCA67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</a:rPr>
                <a:t>Translate the concept from natural language to the “language” of graph theory to develop a </a:t>
              </a:r>
              <a:r>
                <a:rPr b="1" lang="en" sz="1600">
                  <a:solidFill>
                    <a:srgbClr val="FFFFFF"/>
                  </a:solidFill>
                </a:rPr>
                <a:t>graph-theoretic concept</a:t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(</a:t>
              </a:r>
              <a:r>
                <a:rPr lang="en" sz="1600">
                  <a:solidFill>
                    <a:srgbClr val="FFFFFF"/>
                  </a:solidFill>
                </a:rPr>
                <a:t>e.g. points and lines)</a:t>
              </a:r>
              <a:endParaRPr sz="1600">
                <a:solidFill>
                  <a:srgbClr val="FFFFFF"/>
                </a:solidFill>
              </a:endParaRPr>
            </a:p>
          </p:txBody>
        </p:sp>
        <p:sp>
          <p:nvSpPr>
            <p:cNvPr id="233" name="Google Shape;233;p31"/>
            <p:cNvSpPr/>
            <p:nvPr/>
          </p:nvSpPr>
          <p:spPr>
            <a:xfrm>
              <a:off x="5261125" y="1328725"/>
              <a:ext cx="1864500" cy="2749200"/>
            </a:xfrm>
            <a:prstGeom prst="roundRect">
              <a:avLst>
                <a:gd fmla="val 16667" name="adj"/>
              </a:avLst>
            </a:prstGeom>
            <a:solidFill>
              <a:srgbClr val="CCA67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</a:rPr>
                <a:t>Link graph-theoretic concept to matrix algebra to develop a</a:t>
              </a:r>
              <a:r>
                <a:rPr b="1" lang="en">
                  <a:solidFill>
                    <a:srgbClr val="FFFFFF"/>
                  </a:solidFill>
                </a:rPr>
                <a:t> measure</a:t>
              </a:r>
              <a:r>
                <a:rPr lang="en">
                  <a:solidFill>
                    <a:srgbClr val="FFFFFF"/>
                  </a:solidFill>
                </a:rPr>
                <a:t> of originalconcept (e.g. matrix operations)</a:t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cxnSp>
          <p:nvCxnSpPr>
            <p:cNvPr id="234" name="Google Shape;234;p31"/>
            <p:cNvCxnSpPr>
              <a:stCxn id="231" idx="3"/>
              <a:endCxn id="232" idx="1"/>
            </p:cNvCxnSpPr>
            <p:nvPr/>
          </p:nvCxnSpPr>
          <p:spPr>
            <a:xfrm>
              <a:off x="2176200" y="2703325"/>
              <a:ext cx="610200" cy="0"/>
            </a:xfrm>
            <a:prstGeom prst="straightConnector1">
              <a:avLst/>
            </a:prstGeom>
            <a:noFill/>
            <a:ln cap="flat" cmpd="sng" w="38100">
              <a:solidFill>
                <a:srgbClr val="B7B7B7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5" name="Google Shape;235;p31"/>
            <p:cNvCxnSpPr>
              <a:stCxn id="232" idx="3"/>
              <a:endCxn id="233" idx="1"/>
            </p:cNvCxnSpPr>
            <p:nvPr/>
          </p:nvCxnSpPr>
          <p:spPr>
            <a:xfrm>
              <a:off x="4650912" y="2703325"/>
              <a:ext cx="610200" cy="0"/>
            </a:xfrm>
            <a:prstGeom prst="straightConnector1">
              <a:avLst/>
            </a:prstGeom>
            <a:noFill/>
            <a:ln cap="flat" cmpd="sng" w="38100">
              <a:solidFill>
                <a:srgbClr val="B7B7B7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6" name="Google Shape;236;p31"/>
            <p:cNvCxnSpPr>
              <a:stCxn id="233" idx="3"/>
              <a:endCxn id="237" idx="1"/>
            </p:cNvCxnSpPr>
            <p:nvPr/>
          </p:nvCxnSpPr>
          <p:spPr>
            <a:xfrm>
              <a:off x="7125625" y="2703325"/>
              <a:ext cx="610200" cy="0"/>
            </a:xfrm>
            <a:prstGeom prst="straightConnector1">
              <a:avLst/>
            </a:prstGeom>
            <a:noFill/>
            <a:ln cap="flat" cmpd="sng" w="38100">
              <a:solidFill>
                <a:srgbClr val="B7B7B7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7" name="Google Shape;237;p31"/>
            <p:cNvSpPr/>
            <p:nvPr/>
          </p:nvSpPr>
          <p:spPr>
            <a:xfrm>
              <a:off x="7735850" y="1328725"/>
              <a:ext cx="462900" cy="2749200"/>
            </a:xfrm>
            <a:prstGeom prst="roundRect">
              <a:avLst>
                <a:gd fmla="val 16667" name="adj"/>
              </a:avLst>
            </a:prstGeom>
            <a:solidFill>
              <a:srgbClr val="CCA67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V</a:t>
              </a:r>
              <a:r>
                <a:rPr b="1" baseline="-25000" lang="en" sz="1600">
                  <a:solidFill>
                    <a:srgbClr val="FFFFFF"/>
                  </a:solidFill>
                </a:rPr>
                <a:t>1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V</a:t>
              </a:r>
              <a:r>
                <a:rPr b="1" baseline="-25000" lang="en" sz="1600">
                  <a:solidFill>
                    <a:srgbClr val="FFFFFF"/>
                  </a:solidFill>
                </a:rPr>
                <a:t>2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V</a:t>
              </a:r>
              <a:r>
                <a:rPr b="1" baseline="-25000" lang="en" sz="1600">
                  <a:solidFill>
                    <a:srgbClr val="FFFFFF"/>
                  </a:solidFill>
                </a:rPr>
                <a:t>3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n" sz="1600">
                  <a:solidFill>
                    <a:srgbClr val="FFFFFF"/>
                  </a:solidFill>
                </a:rPr>
                <a:t>.</a:t>
              </a:r>
              <a:endParaRPr b="1" baseline="-25000" sz="16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</a:rPr>
                <a:t>V</a:t>
              </a:r>
              <a:r>
                <a:rPr b="1" baseline="-25000" lang="en" sz="1600">
                  <a:solidFill>
                    <a:srgbClr val="FFFFFF"/>
                  </a:solidFill>
                </a:rPr>
                <a:t>n</a:t>
              </a:r>
              <a:endParaRPr b="1" baseline="-25000" sz="1600">
                <a:solidFill>
                  <a:srgbClr val="FFFFFF"/>
                </a:solidFill>
              </a:endParaRPr>
            </a:p>
          </p:txBody>
        </p:sp>
      </p:grpSp>
      <p:sp>
        <p:nvSpPr>
          <p:cNvPr id="238" name="Google Shape;238;p31"/>
          <p:cNvSpPr txBox="1"/>
          <p:nvPr/>
        </p:nvSpPr>
        <p:spPr>
          <a:xfrm>
            <a:off x="5508025" y="4457175"/>
            <a:ext cx="3270600" cy="54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Result: A </a:t>
            </a:r>
            <a:r>
              <a:rPr b="1" lang="en">
                <a:solidFill>
                  <a:schemeClr val="dk1"/>
                </a:solidFill>
              </a:rPr>
              <a:t>ranking</a:t>
            </a:r>
            <a:r>
              <a:rPr lang="en">
                <a:solidFill>
                  <a:schemeClr val="dk1"/>
                </a:solidFill>
              </a:rPr>
              <a:t> of the nodes in the network based on centrality measure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39" name="Google Shape;239;p31"/>
          <p:cNvCxnSpPr>
            <a:stCxn id="238" idx="0"/>
            <a:endCxn id="237" idx="1"/>
          </p:cNvCxnSpPr>
          <p:nvPr/>
        </p:nvCxnSpPr>
        <p:spPr>
          <a:xfrm flipH="1" rot="10800000">
            <a:off x="7143325" y="2802075"/>
            <a:ext cx="909300" cy="165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C</a:t>
            </a:r>
            <a:r>
              <a:rPr baseline="-25000" lang="en"/>
              <a:t>d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245" name="Google Shape;245;p32"/>
          <p:cNvSpPr txBox="1"/>
          <p:nvPr>
            <p:ph idx="1" type="body"/>
          </p:nvPr>
        </p:nvSpPr>
        <p:spPr>
          <a:xfrm>
            <a:off x="311700" y="1225225"/>
            <a:ext cx="508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(local) centrality measure to compute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theory definition: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</a:t>
            </a:r>
            <a:r>
              <a:rPr b="1" lang="en"/>
              <a:t>edges</a:t>
            </a:r>
            <a:r>
              <a:rPr lang="en"/>
              <a:t> </a:t>
            </a:r>
            <a:r>
              <a:rPr b="1" lang="en"/>
              <a:t>incident</a:t>
            </a:r>
            <a:r>
              <a:rPr lang="en"/>
              <a:t> to a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undirected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by </a:t>
            </a:r>
            <a:r>
              <a:rPr b="1" lang="en"/>
              <a:t>either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</a:t>
            </a:r>
            <a:r>
              <a:rPr b="1" lang="en"/>
              <a:t>or</a:t>
            </a:r>
            <a:r>
              <a:rPr lang="en"/>
              <a:t> </a:t>
            </a:r>
            <a:r>
              <a:rPr b="1" lang="en"/>
              <a:t>column</a:t>
            </a:r>
            <a:r>
              <a:rPr lang="en"/>
              <a:t> </a:t>
            </a:r>
            <a:r>
              <a:rPr b="1" lang="en"/>
              <a:t>sum</a:t>
            </a:r>
            <a:r>
              <a:rPr lang="en"/>
              <a:t> vector of corresponding </a:t>
            </a:r>
            <a:r>
              <a:rPr b="1" lang="en"/>
              <a:t>adjacency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Outdegree</a:t>
            </a:r>
            <a:r>
              <a:rPr lang="en"/>
              <a:t> given by the </a:t>
            </a:r>
            <a:r>
              <a:rPr b="1" lang="en"/>
              <a:t>row</a:t>
            </a:r>
            <a:r>
              <a:rPr lang="en"/>
              <a:t> sum vector of corresponding </a:t>
            </a:r>
            <a:r>
              <a:rPr b="1" lang="en"/>
              <a:t>adjacency matrix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4100" y="398400"/>
            <a:ext cx="1957900" cy="666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32"/>
          <p:cNvGraphicFramePr/>
          <p:nvPr/>
        </p:nvGraphicFramePr>
        <p:xfrm>
          <a:off x="5875000" y="1713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48" name="Google Shape;248;p32"/>
          <p:cNvGraphicFramePr/>
          <p:nvPr/>
        </p:nvGraphicFramePr>
        <p:xfrm>
          <a:off x="8373113" y="2105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421425"/>
              </a:tblGrid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Node+degree+from+matrix+values.jpg" id="249" name="Google Shape;249;p32"/>
          <p:cNvPicPr preferRelativeResize="0"/>
          <p:nvPr/>
        </p:nvPicPr>
        <p:blipFill rotWithShape="1">
          <a:blip r:embed="rId4">
            <a:alphaModFix/>
          </a:blip>
          <a:srcRect b="63726" l="8696" r="64375" t="22123"/>
          <a:stretch/>
        </p:blipFill>
        <p:spPr>
          <a:xfrm>
            <a:off x="6316010" y="4067485"/>
            <a:ext cx="2037547" cy="802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2"/>
          <p:cNvPicPr preferRelativeResize="0"/>
          <p:nvPr/>
        </p:nvPicPr>
        <p:blipFill rotWithShape="1">
          <a:blip r:embed="rId5">
            <a:alphaModFix/>
          </a:blip>
          <a:srcRect b="54218" l="50926" r="2550" t="22708"/>
          <a:stretch/>
        </p:blipFill>
        <p:spPr>
          <a:xfrm>
            <a:off x="5584662" y="36473"/>
            <a:ext cx="3490675" cy="13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2"/>
          <p:cNvSpPr txBox="1"/>
          <p:nvPr/>
        </p:nvSpPr>
        <p:spPr>
          <a:xfrm>
            <a:off x="6102663" y="135817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C</a:t>
            </a:r>
            <a:r>
              <a:rPr baseline="-25000" lang="en"/>
              <a:t>d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257" name="Google Shape;257;p33"/>
          <p:cNvSpPr txBox="1"/>
          <p:nvPr>
            <p:ph idx="1" type="body"/>
          </p:nvPr>
        </p:nvSpPr>
        <p:spPr>
          <a:xfrm>
            <a:off x="311700" y="1225225"/>
            <a:ext cx="508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(local) centrality measure to compute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theory definition: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</a:t>
            </a:r>
            <a:r>
              <a:rPr b="1" lang="en"/>
              <a:t>edges</a:t>
            </a:r>
            <a:r>
              <a:rPr lang="en"/>
              <a:t> </a:t>
            </a:r>
            <a:r>
              <a:rPr b="1" lang="en"/>
              <a:t>incident</a:t>
            </a:r>
            <a:r>
              <a:rPr lang="en"/>
              <a:t> to a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undirected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by </a:t>
            </a:r>
            <a:r>
              <a:rPr b="1" lang="en"/>
              <a:t>either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</a:t>
            </a:r>
            <a:r>
              <a:rPr b="1" lang="en"/>
              <a:t>or</a:t>
            </a:r>
            <a:r>
              <a:rPr lang="en"/>
              <a:t> </a:t>
            </a:r>
            <a:r>
              <a:rPr b="1" lang="en"/>
              <a:t>column</a:t>
            </a:r>
            <a:r>
              <a:rPr lang="en"/>
              <a:t> </a:t>
            </a:r>
            <a:r>
              <a:rPr b="1" lang="en"/>
              <a:t>sum</a:t>
            </a:r>
            <a:r>
              <a:rPr lang="en"/>
              <a:t> vector of corresponding </a:t>
            </a:r>
            <a:r>
              <a:rPr b="1" lang="en"/>
              <a:t>adjacency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Outdegree</a:t>
            </a:r>
            <a:r>
              <a:rPr lang="en"/>
              <a:t> given by the </a:t>
            </a:r>
            <a:r>
              <a:rPr b="1" lang="en"/>
              <a:t>row</a:t>
            </a:r>
            <a:r>
              <a:rPr lang="en"/>
              <a:t> sum vector of corresponding </a:t>
            </a:r>
            <a:r>
              <a:rPr b="1" lang="en"/>
              <a:t>adjacency matrix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4100" y="398400"/>
            <a:ext cx="1957900" cy="666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9" name="Google Shape;259;p33"/>
          <p:cNvGraphicFramePr/>
          <p:nvPr/>
        </p:nvGraphicFramePr>
        <p:xfrm>
          <a:off x="5875000" y="1713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60" name="Google Shape;260;p33"/>
          <p:cNvSpPr/>
          <p:nvPr/>
        </p:nvSpPr>
        <p:spPr>
          <a:xfrm>
            <a:off x="6273438" y="2855888"/>
            <a:ext cx="2037600" cy="476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1" name="Google Shape;261;p33"/>
          <p:cNvGraphicFramePr/>
          <p:nvPr/>
        </p:nvGraphicFramePr>
        <p:xfrm>
          <a:off x="8373113" y="2105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421425"/>
              </a:tblGrid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descr="Node+degree+from+matrix+values.jpg" id="262" name="Google Shape;262;p33"/>
          <p:cNvPicPr preferRelativeResize="0"/>
          <p:nvPr/>
        </p:nvPicPr>
        <p:blipFill rotWithShape="1">
          <a:blip r:embed="rId4">
            <a:alphaModFix/>
          </a:blip>
          <a:srcRect b="63726" l="8696" r="64375" t="22123"/>
          <a:stretch/>
        </p:blipFill>
        <p:spPr>
          <a:xfrm>
            <a:off x="6316010" y="4067485"/>
            <a:ext cx="2037547" cy="802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3"/>
          <p:cNvPicPr preferRelativeResize="0"/>
          <p:nvPr/>
        </p:nvPicPr>
        <p:blipFill rotWithShape="1">
          <a:blip r:embed="rId5">
            <a:alphaModFix/>
          </a:blip>
          <a:srcRect b="54218" l="50926" r="2550" t="22708"/>
          <a:stretch/>
        </p:blipFill>
        <p:spPr>
          <a:xfrm>
            <a:off x="5584662" y="36473"/>
            <a:ext cx="3490675" cy="13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3"/>
          <p:cNvSpPr txBox="1"/>
          <p:nvPr/>
        </p:nvSpPr>
        <p:spPr>
          <a:xfrm>
            <a:off x="6102663" y="135817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5" name="Google Shape;265;p33"/>
          <p:cNvSpPr/>
          <p:nvPr/>
        </p:nvSpPr>
        <p:spPr>
          <a:xfrm>
            <a:off x="6887500" y="881775"/>
            <a:ext cx="544200" cy="414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C</a:t>
            </a:r>
            <a:r>
              <a:rPr baseline="-25000" lang="en"/>
              <a:t>d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pic>
        <p:nvPicPr>
          <p:cNvPr id="271" name="Google Shape;27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4100" y="398400"/>
            <a:ext cx="1957900" cy="666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2" name="Google Shape;272;p34"/>
          <p:cNvGraphicFramePr/>
          <p:nvPr/>
        </p:nvGraphicFramePr>
        <p:xfrm>
          <a:off x="5875000" y="1713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73" name="Google Shape;273;p34"/>
          <p:cNvGraphicFramePr/>
          <p:nvPr/>
        </p:nvGraphicFramePr>
        <p:xfrm>
          <a:off x="6273413" y="4129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407525"/>
                <a:gridCol w="407525"/>
                <a:gridCol w="407525"/>
                <a:gridCol w="407525"/>
                <a:gridCol w="4075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274" name="Google Shape;274;p34"/>
          <p:cNvPicPr preferRelativeResize="0"/>
          <p:nvPr/>
        </p:nvPicPr>
        <p:blipFill rotWithShape="1">
          <a:blip r:embed="rId4">
            <a:alphaModFix/>
          </a:blip>
          <a:srcRect b="54218" l="50926" r="2550" t="22708"/>
          <a:stretch/>
        </p:blipFill>
        <p:spPr>
          <a:xfrm>
            <a:off x="5584662" y="36473"/>
            <a:ext cx="3490675" cy="13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4"/>
          <p:cNvSpPr txBox="1"/>
          <p:nvPr/>
        </p:nvSpPr>
        <p:spPr>
          <a:xfrm>
            <a:off x="6102663" y="135817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Node+degree+from+matrix+values.jpg" id="276" name="Google Shape;276;p34"/>
          <p:cNvPicPr preferRelativeResize="0"/>
          <p:nvPr/>
        </p:nvPicPr>
        <p:blipFill rotWithShape="1">
          <a:blip r:embed="rId5">
            <a:alphaModFix/>
          </a:blip>
          <a:srcRect b="27043" l="8775" r="64077" t="59133"/>
          <a:stretch/>
        </p:blipFill>
        <p:spPr>
          <a:xfrm>
            <a:off x="3820837" y="4175675"/>
            <a:ext cx="2054150" cy="78447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311700" y="1225225"/>
            <a:ext cx="508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(local) centrality measure to compute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theory definition: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</a:t>
            </a:r>
            <a:r>
              <a:rPr b="1" lang="en"/>
              <a:t>edges</a:t>
            </a:r>
            <a:r>
              <a:rPr lang="en"/>
              <a:t> </a:t>
            </a:r>
            <a:r>
              <a:rPr b="1" lang="en"/>
              <a:t>incident</a:t>
            </a:r>
            <a:r>
              <a:rPr lang="en"/>
              <a:t> to a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undirected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by </a:t>
            </a:r>
            <a:r>
              <a:rPr b="1" lang="en"/>
              <a:t>either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</a:t>
            </a:r>
            <a:r>
              <a:rPr b="1" lang="en"/>
              <a:t>or</a:t>
            </a:r>
            <a:r>
              <a:rPr lang="en"/>
              <a:t> </a:t>
            </a:r>
            <a:r>
              <a:rPr b="1" lang="en"/>
              <a:t>column</a:t>
            </a:r>
            <a:r>
              <a:rPr lang="en"/>
              <a:t> </a:t>
            </a:r>
            <a:r>
              <a:rPr b="1" lang="en"/>
              <a:t>sum</a:t>
            </a:r>
            <a:r>
              <a:rPr lang="en"/>
              <a:t> vector of corresponding </a:t>
            </a:r>
            <a:r>
              <a:rPr b="1" lang="en"/>
              <a:t>adjacency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Indegree</a:t>
            </a:r>
            <a:r>
              <a:rPr lang="en"/>
              <a:t> given by the </a:t>
            </a:r>
            <a:r>
              <a:rPr b="1" lang="en"/>
              <a:t>column</a:t>
            </a:r>
            <a:r>
              <a:rPr lang="en"/>
              <a:t> sum vector of corresponding </a:t>
            </a:r>
            <a:r>
              <a:rPr b="1" lang="en"/>
              <a:t>adjacency matrix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C</a:t>
            </a:r>
            <a:r>
              <a:rPr baseline="-25000" lang="en"/>
              <a:t>d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pic>
        <p:nvPicPr>
          <p:cNvPr id="283" name="Google Shape;2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4100" y="398400"/>
            <a:ext cx="1957900" cy="666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4" name="Google Shape;284;p35"/>
          <p:cNvGraphicFramePr/>
          <p:nvPr/>
        </p:nvGraphicFramePr>
        <p:xfrm>
          <a:off x="5875000" y="1713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85" name="Google Shape;285;p35"/>
          <p:cNvSpPr/>
          <p:nvPr/>
        </p:nvSpPr>
        <p:spPr>
          <a:xfrm>
            <a:off x="6605011" y="2043078"/>
            <a:ext cx="560400" cy="202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6" name="Google Shape;286;p35"/>
          <p:cNvGraphicFramePr/>
          <p:nvPr/>
        </p:nvGraphicFramePr>
        <p:xfrm>
          <a:off x="6273413" y="4129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407525"/>
                <a:gridCol w="407525"/>
                <a:gridCol w="407525"/>
                <a:gridCol w="407525"/>
                <a:gridCol w="4075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287" name="Google Shape;287;p35"/>
          <p:cNvPicPr preferRelativeResize="0"/>
          <p:nvPr/>
        </p:nvPicPr>
        <p:blipFill rotWithShape="1">
          <a:blip r:embed="rId4">
            <a:alphaModFix/>
          </a:blip>
          <a:srcRect b="54218" l="50926" r="2550" t="22708"/>
          <a:stretch/>
        </p:blipFill>
        <p:spPr>
          <a:xfrm>
            <a:off x="5584662" y="36473"/>
            <a:ext cx="3490675" cy="13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5"/>
          <p:cNvSpPr txBox="1"/>
          <p:nvPr/>
        </p:nvSpPr>
        <p:spPr>
          <a:xfrm>
            <a:off x="6102663" y="135817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Node+degree+from+matrix+values.jpg" id="289" name="Google Shape;289;p35"/>
          <p:cNvPicPr preferRelativeResize="0"/>
          <p:nvPr/>
        </p:nvPicPr>
        <p:blipFill rotWithShape="1">
          <a:blip r:embed="rId5">
            <a:alphaModFix/>
          </a:blip>
          <a:srcRect b="27043" l="8775" r="64077" t="59133"/>
          <a:stretch/>
        </p:blipFill>
        <p:spPr>
          <a:xfrm>
            <a:off x="3820837" y="4175675"/>
            <a:ext cx="2054150" cy="78447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5"/>
          <p:cNvSpPr txBox="1"/>
          <p:nvPr>
            <p:ph idx="1" type="body"/>
          </p:nvPr>
        </p:nvSpPr>
        <p:spPr>
          <a:xfrm>
            <a:off x="311700" y="1225225"/>
            <a:ext cx="508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(local) centrality measure to compute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theory definition: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</a:t>
            </a:r>
            <a:r>
              <a:rPr b="1" lang="en"/>
              <a:t>edges</a:t>
            </a:r>
            <a:r>
              <a:rPr lang="en"/>
              <a:t> </a:t>
            </a:r>
            <a:r>
              <a:rPr b="1" lang="en"/>
              <a:t>incident</a:t>
            </a:r>
            <a:r>
              <a:rPr lang="en"/>
              <a:t> to a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undirected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by </a:t>
            </a:r>
            <a:r>
              <a:rPr b="1" lang="en"/>
              <a:t>either</a:t>
            </a:r>
            <a:r>
              <a:rPr lang="en"/>
              <a:t> </a:t>
            </a:r>
            <a:r>
              <a:rPr b="1" lang="en"/>
              <a:t>row</a:t>
            </a:r>
            <a:r>
              <a:rPr lang="en"/>
              <a:t> </a:t>
            </a:r>
            <a:r>
              <a:rPr b="1" lang="en"/>
              <a:t>or</a:t>
            </a:r>
            <a:r>
              <a:rPr lang="en"/>
              <a:t> </a:t>
            </a:r>
            <a:r>
              <a:rPr b="1" lang="en"/>
              <a:t>column</a:t>
            </a:r>
            <a:r>
              <a:rPr lang="en"/>
              <a:t> </a:t>
            </a:r>
            <a:r>
              <a:rPr b="1" lang="en"/>
              <a:t>sum</a:t>
            </a:r>
            <a:r>
              <a:rPr lang="en"/>
              <a:t> vector of corresponding </a:t>
            </a:r>
            <a:r>
              <a:rPr b="1" lang="en"/>
              <a:t>adjacency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directed</a:t>
            </a:r>
            <a:r>
              <a:rPr lang="en"/>
              <a:t>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Indegree</a:t>
            </a:r>
            <a:r>
              <a:rPr lang="en"/>
              <a:t> given by the </a:t>
            </a:r>
            <a:r>
              <a:rPr b="1" lang="en"/>
              <a:t>column</a:t>
            </a:r>
            <a:r>
              <a:rPr lang="en"/>
              <a:t> sum vector of corresponding </a:t>
            </a:r>
            <a:r>
              <a:rPr b="1" lang="en"/>
              <a:t>adjacency matrix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5"/>
          <p:cNvSpPr/>
          <p:nvPr/>
        </p:nvSpPr>
        <p:spPr>
          <a:xfrm>
            <a:off x="6360750" y="398400"/>
            <a:ext cx="544200" cy="396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" name="Google Shape;296;p36"/>
          <p:cNvGraphicFramePr/>
          <p:nvPr/>
        </p:nvGraphicFramePr>
        <p:xfrm>
          <a:off x="5875000" y="1713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97" name="Google Shape;29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K-path centrality C</a:t>
            </a:r>
            <a:r>
              <a:rPr baseline="-25000" lang="en"/>
              <a:t>k-path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298" name="Google Shape;298;p36"/>
          <p:cNvSpPr txBox="1"/>
          <p:nvPr>
            <p:ph idx="1" type="body"/>
          </p:nvPr>
        </p:nvSpPr>
        <p:spPr>
          <a:xfrm>
            <a:off x="311700" y="1225225"/>
            <a:ext cx="527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Sade (1989)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b="1" lang="en"/>
              <a:t>Social Network Concept:</a:t>
            </a:r>
            <a:r>
              <a:rPr lang="en"/>
              <a:t> How many people is a person indirectly connected to?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</a:t>
            </a:r>
            <a:r>
              <a:rPr lang="en"/>
              <a:t>: Sum of all paths of length </a:t>
            </a:r>
            <a:r>
              <a:rPr i="1" lang="en"/>
              <a:t>k</a:t>
            </a:r>
            <a:r>
              <a:rPr lang="en"/>
              <a:t> that have vertex v</a:t>
            </a:r>
            <a:r>
              <a:rPr baseline="-25000" lang="en"/>
              <a:t>i</a:t>
            </a:r>
            <a:r>
              <a:rPr lang="en"/>
              <a:t> as their first element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Matrix Procedure</a:t>
            </a:r>
            <a:r>
              <a:rPr lang="en"/>
              <a:t>: Take the </a:t>
            </a:r>
            <a:r>
              <a:rPr b="1" lang="en"/>
              <a:t>row</a:t>
            </a:r>
            <a:r>
              <a:rPr lang="en"/>
              <a:t> sum of matrix A</a:t>
            </a:r>
            <a:r>
              <a:rPr baseline="30000" lang="en"/>
              <a:t>k</a:t>
            </a:r>
            <a:r>
              <a:rPr lang="en"/>
              <a:t>, where A</a:t>
            </a:r>
            <a:r>
              <a:rPr baseline="30000" lang="en"/>
              <a:t>k</a:t>
            </a:r>
            <a:r>
              <a:rPr baseline="-25000" lang="en"/>
              <a:t>ij</a:t>
            </a:r>
            <a:r>
              <a:rPr lang="en"/>
              <a:t> is the number of paths of length k from i to j	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Generalization of degree centrality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centrality = 1-path centrality, since all entries in the adjacency matrix indicate a path of length 1 from i to j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99" name="Google Shape;299;p36"/>
          <p:cNvGraphicFramePr/>
          <p:nvPr/>
        </p:nvGraphicFramePr>
        <p:xfrm>
          <a:off x="8373113" y="2105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421425"/>
              </a:tblGrid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300" name="Google Shape;300;p36"/>
          <p:cNvPicPr preferRelativeResize="0"/>
          <p:nvPr/>
        </p:nvPicPr>
        <p:blipFill rotWithShape="1">
          <a:blip r:embed="rId3">
            <a:alphaModFix/>
          </a:blip>
          <a:srcRect b="54218" l="50926" r="2550" t="22708"/>
          <a:stretch/>
        </p:blipFill>
        <p:spPr>
          <a:xfrm>
            <a:off x="5584662" y="36473"/>
            <a:ext cx="3490675" cy="132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-path=\sum_jA^2_{ij}" id="301" name="Google Shape;301;p36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7738" y="4307300"/>
            <a:ext cx="3937624" cy="634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"/>
          <p:cNvSpPr/>
          <p:nvPr/>
        </p:nvSpPr>
        <p:spPr>
          <a:xfrm>
            <a:off x="6273438" y="2855888"/>
            <a:ext cx="2037600" cy="476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K-path centrality C</a:t>
            </a:r>
            <a:r>
              <a:rPr baseline="-25000" lang="en"/>
              <a:t>k-path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308" name="Google Shape;308;p37"/>
          <p:cNvSpPr txBox="1"/>
          <p:nvPr>
            <p:ph idx="1" type="body"/>
          </p:nvPr>
        </p:nvSpPr>
        <p:spPr>
          <a:xfrm>
            <a:off x="311700" y="1225225"/>
            <a:ext cx="527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Sade (1989)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b="1" lang="en"/>
              <a:t>Social Network Concept:</a:t>
            </a:r>
            <a:r>
              <a:rPr lang="en"/>
              <a:t> How many people is a person indirectly connected to?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</a:t>
            </a:r>
            <a:r>
              <a:rPr lang="en"/>
              <a:t>: Sum of all paths of length </a:t>
            </a:r>
            <a:r>
              <a:rPr i="1" lang="en"/>
              <a:t>k</a:t>
            </a:r>
            <a:r>
              <a:rPr lang="en"/>
              <a:t> that have vertex v</a:t>
            </a:r>
            <a:r>
              <a:rPr baseline="-25000" lang="en"/>
              <a:t>i</a:t>
            </a:r>
            <a:r>
              <a:rPr lang="en"/>
              <a:t> as their first element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Matrix Procedure</a:t>
            </a:r>
            <a:r>
              <a:rPr lang="en"/>
              <a:t>: Take the </a:t>
            </a:r>
            <a:r>
              <a:rPr b="1" lang="en"/>
              <a:t>row</a:t>
            </a:r>
            <a:r>
              <a:rPr lang="en"/>
              <a:t> sum of matrix A</a:t>
            </a:r>
            <a:r>
              <a:rPr baseline="30000" lang="en"/>
              <a:t>k</a:t>
            </a:r>
            <a:r>
              <a:rPr lang="en"/>
              <a:t>, where A</a:t>
            </a:r>
            <a:r>
              <a:rPr baseline="30000" lang="en"/>
              <a:t>k</a:t>
            </a:r>
            <a:r>
              <a:rPr baseline="-25000" lang="en"/>
              <a:t>ij</a:t>
            </a:r>
            <a:r>
              <a:rPr lang="en"/>
              <a:t> is the number of paths of length k from i to j	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Generalization of degree centrality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centrality = 1-path centrality, since all entries in the adjacency matrix indicate a path of length 1 from i to j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9" name="Google Shape;309;p37"/>
          <p:cNvGraphicFramePr/>
          <p:nvPr/>
        </p:nvGraphicFramePr>
        <p:xfrm>
          <a:off x="5875000" y="1713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310" name="Google Shape;310;p37"/>
          <p:cNvGraphicFramePr/>
          <p:nvPr/>
        </p:nvGraphicFramePr>
        <p:xfrm>
          <a:off x="8373113" y="2105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421425"/>
              </a:tblGrid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311" name="Google Shape;311;p37"/>
          <p:cNvPicPr preferRelativeResize="0"/>
          <p:nvPr/>
        </p:nvPicPr>
        <p:blipFill rotWithShape="1">
          <a:blip r:embed="rId3">
            <a:alphaModFix/>
          </a:blip>
          <a:srcRect b="54218" l="50926" r="2550" t="22708"/>
          <a:stretch/>
        </p:blipFill>
        <p:spPr>
          <a:xfrm>
            <a:off x="5584662" y="36473"/>
            <a:ext cx="3490675" cy="132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-path=\sum_jA^2_{ij}" id="312" name="Google Shape;312;p37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7738" y="4307300"/>
            <a:ext cx="3937624" cy="634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centrality measures and interpretations</a:t>
            </a:r>
            <a:endParaRPr/>
          </a:p>
        </p:txBody>
      </p:sp>
      <p:sp>
        <p:nvSpPr>
          <p:cNvPr id="318" name="Google Shape;318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well are nodes </a:t>
            </a:r>
            <a:r>
              <a:rPr b="1" lang="en"/>
              <a:t>directly</a:t>
            </a:r>
            <a:r>
              <a:rPr lang="en"/>
              <a:t> </a:t>
            </a:r>
            <a:r>
              <a:rPr b="1" lang="en"/>
              <a:t>connected </a:t>
            </a:r>
            <a:r>
              <a:rPr lang="en"/>
              <a:t>to others?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Degree, indegree, outdegree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</a:t>
            </a:r>
            <a:r>
              <a:rPr b="1" lang="en"/>
              <a:t>one-step</a:t>
            </a:r>
            <a:r>
              <a:rPr lang="en"/>
              <a:t> connection from a node to all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well are nodes </a:t>
            </a:r>
            <a:r>
              <a:rPr b="1" lang="en"/>
              <a:t>indirectly connected </a:t>
            </a:r>
            <a:r>
              <a:rPr lang="en"/>
              <a:t>to others?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K-path, closeness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paths of length k, or shortest paths from a node to all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well are nodes set as </a:t>
            </a:r>
            <a:r>
              <a:rPr b="1" lang="en"/>
              <a:t>intermediaries </a:t>
            </a:r>
            <a:r>
              <a:rPr lang="en"/>
              <a:t>between other nodes?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Betweenness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Prop. of shortest paths between all pairs of nodes including the focal node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well are nodes set as </a:t>
            </a:r>
            <a:r>
              <a:rPr b="1" lang="en"/>
              <a:t>influential of highly connected</a:t>
            </a:r>
            <a:r>
              <a:rPr lang="en"/>
              <a:t> others?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Eigenvector 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Node centrality is the average of the centrality of the other nodes they are directly and indirectly connected to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Betweenness C</a:t>
            </a:r>
            <a:r>
              <a:rPr baseline="-25000" lang="en"/>
              <a:t>between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324" name="Google Shape;324;p39"/>
          <p:cNvSpPr txBox="1"/>
          <p:nvPr>
            <p:ph idx="1" type="body"/>
          </p:nvPr>
        </p:nvSpPr>
        <p:spPr>
          <a:xfrm>
            <a:off x="311700" y="1225225"/>
            <a:ext cx="85542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Freeman (1977)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Social Network Concept: </a:t>
            </a:r>
            <a:r>
              <a:rPr lang="en"/>
              <a:t>What share of the entire network flow goes through  a given person?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concept:</a:t>
            </a:r>
            <a:r>
              <a:rPr lang="en"/>
              <a:t> Sum of of the </a:t>
            </a:r>
            <a:r>
              <a:rPr i="1" lang="en"/>
              <a:t>proportion</a:t>
            </a:r>
            <a:r>
              <a:rPr lang="en"/>
              <a:t> of shortest paths in the graph between all other pairs of vertices {v</a:t>
            </a:r>
            <a:r>
              <a:rPr baseline="-25000" lang="en"/>
              <a:t>j</a:t>
            </a:r>
            <a:r>
              <a:rPr lang="en"/>
              <a:t>, v</a:t>
            </a:r>
            <a:r>
              <a:rPr baseline="-25000" lang="en"/>
              <a:t>k</a:t>
            </a:r>
            <a:r>
              <a:rPr lang="en"/>
              <a:t>} that contain v</a:t>
            </a:r>
            <a:r>
              <a:rPr baseline="-25000" lang="en"/>
              <a:t>i </a:t>
            </a: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975" y="2957725"/>
            <a:ext cx="5242061" cy="18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9"/>
          <p:cNvSpPr txBox="1"/>
          <p:nvPr/>
        </p:nvSpPr>
        <p:spPr>
          <a:xfrm>
            <a:off x="5875100" y="2957725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7" name="Google Shape;327;p39"/>
          <p:cNvSpPr txBox="1"/>
          <p:nvPr/>
        </p:nvSpPr>
        <p:spPr>
          <a:xfrm>
            <a:off x="5378425" y="4467300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p39"/>
          <p:cNvSpPr txBox="1"/>
          <p:nvPr/>
        </p:nvSpPr>
        <p:spPr>
          <a:xfrm>
            <a:off x="6342825" y="2957725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Betweenness C</a:t>
            </a:r>
            <a:r>
              <a:rPr baseline="-25000" lang="en"/>
              <a:t>between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334" name="Google Shape;334;p40"/>
          <p:cNvSpPr txBox="1"/>
          <p:nvPr>
            <p:ph idx="1" type="body"/>
          </p:nvPr>
        </p:nvSpPr>
        <p:spPr>
          <a:xfrm>
            <a:off x="311700" y="1225225"/>
            <a:ext cx="85542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Freeman (1977)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Social Network Concept: </a:t>
            </a:r>
            <a:r>
              <a:rPr lang="en"/>
              <a:t>What share of the entire network flow goes through  a given person?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concept:</a:t>
            </a:r>
            <a:r>
              <a:rPr lang="en"/>
              <a:t> Sum of of the </a:t>
            </a:r>
            <a:r>
              <a:rPr i="1" lang="en"/>
              <a:t>proportion</a:t>
            </a:r>
            <a:r>
              <a:rPr lang="en"/>
              <a:t> of shortest paths in the graph between all other pairs of vertices {v</a:t>
            </a:r>
            <a:r>
              <a:rPr baseline="-25000" lang="en"/>
              <a:t>j</a:t>
            </a:r>
            <a:r>
              <a:rPr lang="en"/>
              <a:t>, v</a:t>
            </a:r>
            <a:r>
              <a:rPr baseline="-25000" lang="en"/>
              <a:t>k</a:t>
            </a:r>
            <a:r>
              <a:rPr lang="en"/>
              <a:t>} that contain v</a:t>
            </a:r>
            <a:r>
              <a:rPr baseline="-25000" lang="en"/>
              <a:t>i </a:t>
            </a:r>
            <a:r>
              <a:rPr lang="en"/>
              <a:t>	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975" y="2957725"/>
            <a:ext cx="5242061" cy="18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0"/>
          <p:cNvSpPr txBox="1"/>
          <p:nvPr/>
        </p:nvSpPr>
        <p:spPr>
          <a:xfrm>
            <a:off x="5875100" y="2957725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37" name="Google Shape;337;p40"/>
          <p:cNvCxnSpPr/>
          <p:nvPr/>
        </p:nvCxnSpPr>
        <p:spPr>
          <a:xfrm>
            <a:off x="4161975" y="3632325"/>
            <a:ext cx="1212000" cy="10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40"/>
          <p:cNvCxnSpPr/>
          <p:nvPr/>
        </p:nvCxnSpPr>
        <p:spPr>
          <a:xfrm flipH="1" rot="10800000">
            <a:off x="5600575" y="3464800"/>
            <a:ext cx="335100" cy="19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40"/>
          <p:cNvSpPr txBox="1"/>
          <p:nvPr/>
        </p:nvSpPr>
        <p:spPr>
          <a:xfrm>
            <a:off x="5378425" y="4467300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6342825" y="2957725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Betweenness C</a:t>
            </a:r>
            <a:r>
              <a:rPr baseline="-25000" lang="en"/>
              <a:t>between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346" name="Google Shape;346;p41"/>
          <p:cNvSpPr txBox="1"/>
          <p:nvPr>
            <p:ph idx="1" type="body"/>
          </p:nvPr>
        </p:nvSpPr>
        <p:spPr>
          <a:xfrm>
            <a:off x="311700" y="1225225"/>
            <a:ext cx="85542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Freeman (1977)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Social Network Concept: </a:t>
            </a:r>
            <a:r>
              <a:rPr lang="en"/>
              <a:t>What share of the entire network flow goes through  a given person?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concept:</a:t>
            </a:r>
            <a:r>
              <a:rPr lang="en"/>
              <a:t> Sum of of the </a:t>
            </a:r>
            <a:r>
              <a:rPr i="1" lang="en"/>
              <a:t>proportion</a:t>
            </a:r>
            <a:r>
              <a:rPr lang="en"/>
              <a:t> of shortest paths in the graph between all other pairs of vertices {v</a:t>
            </a:r>
            <a:r>
              <a:rPr baseline="-25000" lang="en"/>
              <a:t>j</a:t>
            </a:r>
            <a:r>
              <a:rPr lang="en"/>
              <a:t>, v</a:t>
            </a:r>
            <a:r>
              <a:rPr baseline="-25000" lang="en"/>
              <a:t>k</a:t>
            </a:r>
            <a:r>
              <a:rPr lang="en"/>
              <a:t>} that contain v</a:t>
            </a:r>
            <a:r>
              <a:rPr baseline="-25000" lang="en"/>
              <a:t>i </a:t>
            </a:r>
            <a:r>
              <a:rPr lang="en"/>
              <a:t>	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975" y="2957725"/>
            <a:ext cx="5242061" cy="18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1"/>
          <p:cNvSpPr txBox="1"/>
          <p:nvPr/>
        </p:nvSpPr>
        <p:spPr>
          <a:xfrm>
            <a:off x="5875100" y="2957725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49" name="Google Shape;349;p41"/>
          <p:cNvCxnSpPr/>
          <p:nvPr/>
        </p:nvCxnSpPr>
        <p:spPr>
          <a:xfrm>
            <a:off x="4161975" y="3632325"/>
            <a:ext cx="1212000" cy="10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41"/>
          <p:cNvCxnSpPr/>
          <p:nvPr/>
        </p:nvCxnSpPr>
        <p:spPr>
          <a:xfrm flipH="1" rot="10800000">
            <a:off x="5600575" y="3464800"/>
            <a:ext cx="335100" cy="19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41"/>
          <p:cNvSpPr txBox="1"/>
          <p:nvPr/>
        </p:nvSpPr>
        <p:spPr>
          <a:xfrm>
            <a:off x="2733225" y="4366575"/>
            <a:ext cx="26406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shortest path between A and C includes B!</a:t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52" name="Google Shape;352;p41"/>
          <p:cNvCxnSpPr>
            <a:stCxn id="351" idx="0"/>
          </p:cNvCxnSpPr>
          <p:nvPr/>
        </p:nvCxnSpPr>
        <p:spPr>
          <a:xfrm flipH="1" rot="10800000">
            <a:off x="4053525" y="3835575"/>
            <a:ext cx="948600" cy="531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" name="Google Shape;353;p41"/>
          <p:cNvSpPr txBox="1"/>
          <p:nvPr/>
        </p:nvSpPr>
        <p:spPr>
          <a:xfrm>
            <a:off x="5378425" y="4467300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41"/>
          <p:cNvSpPr txBox="1"/>
          <p:nvPr/>
        </p:nvSpPr>
        <p:spPr>
          <a:xfrm>
            <a:off x="6342825" y="2957725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Betweenness C</a:t>
            </a:r>
            <a:r>
              <a:rPr baseline="-25000" lang="en"/>
              <a:t>between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360" name="Google Shape;360;p42"/>
          <p:cNvSpPr txBox="1"/>
          <p:nvPr>
            <p:ph idx="1" type="body"/>
          </p:nvPr>
        </p:nvSpPr>
        <p:spPr>
          <a:xfrm>
            <a:off x="311700" y="1225225"/>
            <a:ext cx="85542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Freeman (1977)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Social Network Concept: </a:t>
            </a:r>
            <a:r>
              <a:rPr lang="en"/>
              <a:t>What share of the entire network flow goes through  a given person?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concept:</a:t>
            </a:r>
            <a:r>
              <a:rPr lang="en"/>
              <a:t> Sum of of the </a:t>
            </a:r>
            <a:r>
              <a:rPr i="1" lang="en"/>
              <a:t>proportion</a:t>
            </a:r>
            <a:r>
              <a:rPr lang="en"/>
              <a:t> of shortest paths in the graph between all other pairs of vertices {v</a:t>
            </a:r>
            <a:r>
              <a:rPr baseline="-25000" lang="en"/>
              <a:t>j</a:t>
            </a:r>
            <a:r>
              <a:rPr lang="en"/>
              <a:t>, v</a:t>
            </a:r>
            <a:r>
              <a:rPr baseline="-25000" lang="en"/>
              <a:t>k</a:t>
            </a:r>
            <a:r>
              <a:rPr lang="en"/>
              <a:t>} that contain v</a:t>
            </a:r>
            <a:r>
              <a:rPr baseline="-25000" lang="en"/>
              <a:t>i </a:t>
            </a:r>
            <a:r>
              <a:rPr lang="en"/>
              <a:t>	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61" name="Google Shape;36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975" y="2957725"/>
            <a:ext cx="5242061" cy="18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2"/>
          <p:cNvSpPr txBox="1"/>
          <p:nvPr/>
        </p:nvSpPr>
        <p:spPr>
          <a:xfrm>
            <a:off x="5875100" y="2957725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3" name="Google Shape;363;p42"/>
          <p:cNvCxnSpPr/>
          <p:nvPr/>
        </p:nvCxnSpPr>
        <p:spPr>
          <a:xfrm>
            <a:off x="4161975" y="3632325"/>
            <a:ext cx="1212000" cy="10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42"/>
          <p:cNvSpPr txBox="1"/>
          <p:nvPr/>
        </p:nvSpPr>
        <p:spPr>
          <a:xfrm>
            <a:off x="2733225" y="4366575"/>
            <a:ext cx="26406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shortest path between A and D also includes B!</a:t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5" name="Google Shape;365;p42"/>
          <p:cNvCxnSpPr>
            <a:stCxn id="364" idx="0"/>
          </p:cNvCxnSpPr>
          <p:nvPr/>
        </p:nvCxnSpPr>
        <p:spPr>
          <a:xfrm flipH="1" rot="10800000">
            <a:off x="4053525" y="3835575"/>
            <a:ext cx="948600" cy="531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" name="Google Shape;366;p42"/>
          <p:cNvSpPr txBox="1"/>
          <p:nvPr/>
        </p:nvSpPr>
        <p:spPr>
          <a:xfrm>
            <a:off x="5378425" y="4467300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7" name="Google Shape;367;p42"/>
          <p:cNvCxnSpPr/>
          <p:nvPr/>
        </p:nvCxnSpPr>
        <p:spPr>
          <a:xfrm>
            <a:off x="5491525" y="3865000"/>
            <a:ext cx="69000" cy="314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42"/>
          <p:cNvSpPr txBox="1"/>
          <p:nvPr/>
        </p:nvSpPr>
        <p:spPr>
          <a:xfrm>
            <a:off x="6342825" y="2957725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Betweenness C</a:t>
            </a:r>
            <a:r>
              <a:rPr baseline="-25000" lang="en"/>
              <a:t>between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374" name="Google Shape;374;p43"/>
          <p:cNvSpPr txBox="1"/>
          <p:nvPr>
            <p:ph idx="1" type="body"/>
          </p:nvPr>
        </p:nvSpPr>
        <p:spPr>
          <a:xfrm>
            <a:off x="311700" y="1225225"/>
            <a:ext cx="85542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Freeman (1977)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Social Network Concept: </a:t>
            </a:r>
            <a:r>
              <a:rPr lang="en"/>
              <a:t>What share of the entire network flow goes through  a given person?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concept:</a:t>
            </a:r>
            <a:r>
              <a:rPr lang="en"/>
              <a:t> Sum of of the </a:t>
            </a:r>
            <a:r>
              <a:rPr i="1" lang="en"/>
              <a:t>proportion</a:t>
            </a:r>
            <a:r>
              <a:rPr lang="en"/>
              <a:t> of shortest paths in the graph between all other pairs of vertices {v</a:t>
            </a:r>
            <a:r>
              <a:rPr baseline="-25000" lang="en"/>
              <a:t>j</a:t>
            </a:r>
            <a:r>
              <a:rPr lang="en"/>
              <a:t>, v</a:t>
            </a:r>
            <a:r>
              <a:rPr baseline="-25000" lang="en"/>
              <a:t>k</a:t>
            </a:r>
            <a:r>
              <a:rPr lang="en"/>
              <a:t>} that contain v</a:t>
            </a:r>
            <a:r>
              <a:rPr baseline="-25000" lang="en"/>
              <a:t>i </a:t>
            </a: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975" y="2957725"/>
            <a:ext cx="5242061" cy="188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6" name="Google Shape;376;p43"/>
          <p:cNvCxnSpPr/>
          <p:nvPr/>
        </p:nvCxnSpPr>
        <p:spPr>
          <a:xfrm>
            <a:off x="4161975" y="3632325"/>
            <a:ext cx="1212000" cy="10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43"/>
          <p:cNvCxnSpPr/>
          <p:nvPr/>
        </p:nvCxnSpPr>
        <p:spPr>
          <a:xfrm flipH="1" rot="10800000">
            <a:off x="5600575" y="3464800"/>
            <a:ext cx="335100" cy="19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43"/>
          <p:cNvSpPr txBox="1"/>
          <p:nvPr/>
        </p:nvSpPr>
        <p:spPr>
          <a:xfrm>
            <a:off x="2733225" y="4366575"/>
            <a:ext cx="26406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shortest path between A and E includes both B and C!</a:t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9" name="Google Shape;379;p43"/>
          <p:cNvCxnSpPr>
            <a:stCxn id="378" idx="0"/>
          </p:cNvCxnSpPr>
          <p:nvPr/>
        </p:nvCxnSpPr>
        <p:spPr>
          <a:xfrm flipH="1" rot="10800000">
            <a:off x="4053525" y="3835575"/>
            <a:ext cx="948600" cy="531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0" name="Google Shape;380;p43"/>
          <p:cNvSpPr txBox="1"/>
          <p:nvPr/>
        </p:nvSpPr>
        <p:spPr>
          <a:xfrm>
            <a:off x="5378425" y="4467300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81" name="Google Shape;381;p43"/>
          <p:cNvCxnSpPr/>
          <p:nvPr/>
        </p:nvCxnSpPr>
        <p:spPr>
          <a:xfrm>
            <a:off x="6170125" y="3392950"/>
            <a:ext cx="216300" cy="48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43"/>
          <p:cNvSpPr txBox="1"/>
          <p:nvPr/>
        </p:nvSpPr>
        <p:spPr>
          <a:xfrm>
            <a:off x="5875100" y="2957725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43"/>
          <p:cNvSpPr txBox="1"/>
          <p:nvPr/>
        </p:nvSpPr>
        <p:spPr>
          <a:xfrm>
            <a:off x="6342825" y="2957725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Betweenness C</a:t>
            </a:r>
            <a:r>
              <a:rPr baseline="-25000" lang="en"/>
              <a:t>between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sp>
        <p:nvSpPr>
          <p:cNvPr id="389" name="Google Shape;389;p44"/>
          <p:cNvSpPr txBox="1"/>
          <p:nvPr>
            <p:ph idx="1" type="body"/>
          </p:nvPr>
        </p:nvSpPr>
        <p:spPr>
          <a:xfrm>
            <a:off x="311700" y="1225225"/>
            <a:ext cx="85542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proposed by Freeman (1977)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Social Network Concept: </a:t>
            </a:r>
            <a:r>
              <a:rPr lang="en"/>
              <a:t>What share of the entire network flow goes through  a given person?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theoretic concept:</a:t>
            </a:r>
            <a:r>
              <a:rPr lang="en"/>
              <a:t> Sum of of the </a:t>
            </a:r>
            <a:r>
              <a:rPr i="1" lang="en"/>
              <a:t>proportion</a:t>
            </a:r>
            <a:r>
              <a:rPr lang="en"/>
              <a:t> of shortest paths in the graph between all other pairs of vertices {v</a:t>
            </a:r>
            <a:r>
              <a:rPr baseline="-25000" lang="en"/>
              <a:t>j</a:t>
            </a:r>
            <a:r>
              <a:rPr lang="en"/>
              <a:t>, v</a:t>
            </a:r>
            <a:r>
              <a:rPr baseline="-25000" lang="en"/>
              <a:t>k</a:t>
            </a:r>
            <a:r>
              <a:rPr lang="en"/>
              <a:t>} that contain v</a:t>
            </a:r>
            <a:r>
              <a:rPr baseline="-25000" lang="en"/>
              <a:t>i </a:t>
            </a:r>
            <a:r>
              <a:rPr lang="en"/>
              <a:t>	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betweenness actors can “broker” between different people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90" name="Google Shape;39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975" y="2957725"/>
            <a:ext cx="5242061" cy="188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44"/>
          <p:cNvCxnSpPr/>
          <p:nvPr/>
        </p:nvCxnSpPr>
        <p:spPr>
          <a:xfrm>
            <a:off x="4161975" y="3632325"/>
            <a:ext cx="1212000" cy="10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44"/>
          <p:cNvCxnSpPr/>
          <p:nvPr/>
        </p:nvCxnSpPr>
        <p:spPr>
          <a:xfrm flipH="1" rot="10800000">
            <a:off x="5600575" y="3464800"/>
            <a:ext cx="335100" cy="19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44"/>
          <p:cNvSpPr txBox="1"/>
          <p:nvPr/>
        </p:nvSpPr>
        <p:spPr>
          <a:xfrm>
            <a:off x="2733225" y="4366575"/>
            <a:ext cx="26406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shortest path between A and E includes both B and C!</a:t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94" name="Google Shape;394;p44"/>
          <p:cNvCxnSpPr>
            <a:stCxn id="393" idx="0"/>
          </p:cNvCxnSpPr>
          <p:nvPr/>
        </p:nvCxnSpPr>
        <p:spPr>
          <a:xfrm flipH="1" rot="10800000">
            <a:off x="4053525" y="3835575"/>
            <a:ext cx="948600" cy="531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44"/>
          <p:cNvSpPr txBox="1"/>
          <p:nvPr/>
        </p:nvSpPr>
        <p:spPr>
          <a:xfrm>
            <a:off x="5378425" y="4467300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96" name="Google Shape;396;p44"/>
          <p:cNvCxnSpPr/>
          <p:nvPr/>
        </p:nvCxnSpPr>
        <p:spPr>
          <a:xfrm>
            <a:off x="5491525" y="3865000"/>
            <a:ext cx="69000" cy="314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4"/>
          <p:cNvCxnSpPr/>
          <p:nvPr/>
        </p:nvCxnSpPr>
        <p:spPr>
          <a:xfrm>
            <a:off x="6170125" y="3392950"/>
            <a:ext cx="216300" cy="48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44"/>
          <p:cNvSpPr txBox="1"/>
          <p:nvPr/>
        </p:nvSpPr>
        <p:spPr>
          <a:xfrm>
            <a:off x="5875100" y="2957725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p44"/>
          <p:cNvSpPr txBox="1"/>
          <p:nvPr/>
        </p:nvSpPr>
        <p:spPr>
          <a:xfrm>
            <a:off x="6342825" y="2957725"/>
            <a:ext cx="35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Eigenvector Centrality</a:t>
            </a:r>
            <a:endParaRPr/>
          </a:p>
        </p:txBody>
      </p:sp>
      <p:sp>
        <p:nvSpPr>
          <p:cNvPr id="405" name="Google Shape;405;p45"/>
          <p:cNvSpPr txBox="1"/>
          <p:nvPr>
            <p:ph idx="1" type="body"/>
          </p:nvPr>
        </p:nvSpPr>
        <p:spPr>
          <a:xfrm>
            <a:off x="311700" y="1225225"/>
            <a:ext cx="4688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idea: A vertex is more central, the more central its neighbors 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Degree Centrality, each alter carries equal weight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if a person has friends who have lots of other friends versus a person whose friends have few friends?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 each vertex more “centrality points” when for links to central people!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06" name="Google Shape;40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875" y="1147225"/>
            <a:ext cx="3746113" cy="3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Eigenvector Centrality C</a:t>
            </a:r>
            <a:r>
              <a:rPr baseline="-25000" lang="en"/>
              <a:t>eigen</a:t>
            </a:r>
            <a:r>
              <a:rPr lang="en"/>
              <a:t>(v</a:t>
            </a:r>
            <a:r>
              <a:rPr baseline="-25000" lang="en"/>
              <a:t>i</a:t>
            </a:r>
            <a:r>
              <a:rPr lang="en"/>
              <a:t>)</a:t>
            </a:r>
            <a:endParaRPr/>
          </a:p>
        </p:txBody>
      </p:sp>
      <p:pic>
        <p:nvPicPr>
          <p:cNvPr descr="main-qimg-02f67872949caddbd062330d80aa3007" id="412" name="Google Shape;41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242" y="1147225"/>
            <a:ext cx="7145501" cy="369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social capital?</a:t>
            </a:r>
            <a:endParaRPr/>
          </a:p>
        </p:txBody>
      </p:sp>
      <p:sp>
        <p:nvSpPr>
          <p:cNvPr id="418" name="Google Shape;418;p47"/>
          <p:cNvSpPr txBox="1"/>
          <p:nvPr>
            <p:ph idx="1" type="body"/>
          </p:nvPr>
        </p:nvSpPr>
        <p:spPr>
          <a:xfrm>
            <a:off x="311700" y="1225225"/>
            <a:ext cx="5530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capital: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Benefits accrued as the result of your connections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People who are better connected do better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can you get from your connections?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Some benefits comes from strong, dense networks: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and emotional support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Trusting</a:t>
            </a:r>
            <a:r>
              <a:rPr lang="en"/>
              <a:t> somebody with an intimate secret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Companionship 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Having somebody to </a:t>
            </a:r>
            <a:r>
              <a:rPr b="1" lang="en"/>
              <a:t>hang out </a:t>
            </a:r>
            <a:r>
              <a:rPr lang="en"/>
              <a:t>with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Material support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knowing where to go in a time of </a:t>
            </a:r>
            <a:r>
              <a:rPr b="1" lang="en"/>
              <a:t>need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19" name="Google Shape;41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500" y="1771712"/>
            <a:ext cx="2989800" cy="226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social capital?</a:t>
            </a:r>
            <a:endParaRPr/>
          </a:p>
        </p:txBody>
      </p:sp>
      <p:sp>
        <p:nvSpPr>
          <p:cNvPr id="425" name="Google Shape;425;p48"/>
          <p:cNvSpPr txBox="1"/>
          <p:nvPr>
            <p:ph idx="1" type="body"/>
          </p:nvPr>
        </p:nvSpPr>
        <p:spPr>
          <a:xfrm>
            <a:off x="311700" y="1225225"/>
            <a:ext cx="5530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capital: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Benefits accrued as the result of your connections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People who are better connected do better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can you get from your connections?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Some benefits come weakly connected, diverse networks: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Novel information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Finding out about things that your close contacts might not know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 or cutting edge ideas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Combining different ideas into a new idea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 people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Being introduced to people who can help </a:t>
            </a:r>
            <a:endParaRPr/>
          </a:p>
        </p:txBody>
      </p:sp>
      <p:pic>
        <p:nvPicPr>
          <p:cNvPr id="426" name="Google Shape;42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500" y="1771712"/>
            <a:ext cx="2989800" cy="226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social capital?</a:t>
            </a:r>
            <a:endParaRPr/>
          </a:p>
        </p:txBody>
      </p:sp>
      <p:sp>
        <p:nvSpPr>
          <p:cNvPr id="432" name="Google Shape;432;p4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you get from your connections depends on how you are connected to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arguments: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Social capital as closure (Coleman 1990)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Having a core group of intimate friends who also know one another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Social capital as brokerage (Burt 2005: 4)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“Advantage created by a person’s location in a structure of relations”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Which one is the better form of capital?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Depends on what you want!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Here we will focus on the second: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Social capital from being a connector (or being connected to people who connect) between different worlds</a:t>
            </a:r>
            <a:endParaRPr i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Granovetter’s strength of weak ties theory</a:t>
            </a:r>
            <a:endParaRPr/>
          </a:p>
        </p:txBody>
      </p:sp>
      <p:sp>
        <p:nvSpPr>
          <p:cNvPr id="438" name="Google Shape;438;p50"/>
          <p:cNvSpPr txBox="1"/>
          <p:nvPr>
            <p:ph idx="1" type="body"/>
          </p:nvPr>
        </p:nvSpPr>
        <p:spPr>
          <a:xfrm>
            <a:off x="311700" y="1225225"/>
            <a:ext cx="5050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Granovetter-transitivity</a:t>
            </a:r>
            <a:r>
              <a:rPr lang="en"/>
              <a:t> (g-transitivity)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Rule 1</a:t>
            </a:r>
            <a:r>
              <a:rPr lang="en"/>
              <a:t>: if two people are strongly connected they are likely to have a lot of other friends in common </a:t>
            </a:r>
            <a:endParaRPr/>
          </a:p>
        </p:txBody>
      </p:sp>
      <p:grpSp>
        <p:nvGrpSpPr>
          <p:cNvPr id="439" name="Google Shape;439;p50"/>
          <p:cNvGrpSpPr/>
          <p:nvPr/>
        </p:nvGrpSpPr>
        <p:grpSpPr>
          <a:xfrm>
            <a:off x="5530698" y="1471890"/>
            <a:ext cx="3301598" cy="2860671"/>
            <a:chOff x="5842400" y="1989875"/>
            <a:chExt cx="2423725" cy="2017825"/>
          </a:xfrm>
        </p:grpSpPr>
        <p:sp>
          <p:nvSpPr>
            <p:cNvPr id="440" name="Google Shape;440;p50"/>
            <p:cNvSpPr/>
            <p:nvPr/>
          </p:nvSpPr>
          <p:spPr>
            <a:xfrm>
              <a:off x="5842400" y="3429000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</a:t>
              </a:r>
              <a:endParaRPr/>
            </a:p>
          </p:txBody>
        </p:sp>
        <p:sp>
          <p:nvSpPr>
            <p:cNvPr id="441" name="Google Shape;441;p50"/>
            <p:cNvSpPr/>
            <p:nvPr/>
          </p:nvSpPr>
          <p:spPr>
            <a:xfrm>
              <a:off x="7763925" y="3429000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cxnSp>
          <p:nvCxnSpPr>
            <p:cNvPr id="442" name="Google Shape;442;p50"/>
            <p:cNvCxnSpPr>
              <a:stCxn id="440" idx="6"/>
              <a:endCxn id="441" idx="2"/>
            </p:cNvCxnSpPr>
            <p:nvPr/>
          </p:nvCxnSpPr>
          <p:spPr>
            <a:xfrm>
              <a:off x="6344600" y="3663750"/>
              <a:ext cx="1419300" cy="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3" name="Google Shape;443;p50"/>
            <p:cNvSpPr txBox="1"/>
            <p:nvPr/>
          </p:nvSpPr>
          <p:spPr>
            <a:xfrm>
              <a:off x="6486700" y="3756600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Strong Tie</a:t>
              </a:r>
              <a:endParaRPr/>
            </a:p>
          </p:txBody>
        </p:sp>
        <p:sp>
          <p:nvSpPr>
            <p:cNvPr id="444" name="Google Shape;444;p50"/>
            <p:cNvSpPr/>
            <p:nvPr/>
          </p:nvSpPr>
          <p:spPr>
            <a:xfrm>
              <a:off x="6224500" y="2279938"/>
              <a:ext cx="262200" cy="2511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50"/>
            <p:cNvSpPr/>
            <p:nvPr/>
          </p:nvSpPr>
          <p:spPr>
            <a:xfrm>
              <a:off x="6848100" y="1989875"/>
              <a:ext cx="262200" cy="2511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50"/>
            <p:cNvSpPr/>
            <p:nvPr/>
          </p:nvSpPr>
          <p:spPr>
            <a:xfrm>
              <a:off x="7469150" y="2279925"/>
              <a:ext cx="262200" cy="2511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50"/>
            <p:cNvSpPr/>
            <p:nvPr/>
          </p:nvSpPr>
          <p:spPr>
            <a:xfrm>
              <a:off x="6923150" y="2958000"/>
              <a:ext cx="262200" cy="2511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8" name="Google Shape;448;p50"/>
            <p:cNvCxnSpPr>
              <a:stCxn id="440" idx="0"/>
              <a:endCxn id="444" idx="4"/>
            </p:cNvCxnSpPr>
            <p:nvPr/>
          </p:nvCxnSpPr>
          <p:spPr>
            <a:xfrm flipH="1" rot="10800000">
              <a:off x="6093500" y="2531100"/>
              <a:ext cx="262200" cy="89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50"/>
            <p:cNvCxnSpPr>
              <a:stCxn id="445" idx="5"/>
              <a:endCxn id="441" idx="0"/>
            </p:cNvCxnSpPr>
            <p:nvPr/>
          </p:nvCxnSpPr>
          <p:spPr>
            <a:xfrm>
              <a:off x="7071902" y="2204202"/>
              <a:ext cx="943200" cy="122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50"/>
            <p:cNvCxnSpPr>
              <a:stCxn id="447" idx="6"/>
              <a:endCxn id="441" idx="0"/>
            </p:cNvCxnSpPr>
            <p:nvPr/>
          </p:nvCxnSpPr>
          <p:spPr>
            <a:xfrm>
              <a:off x="7185350" y="3083550"/>
              <a:ext cx="829800" cy="34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50"/>
            <p:cNvCxnSpPr>
              <a:stCxn id="440" idx="0"/>
              <a:endCxn id="446" idx="3"/>
            </p:cNvCxnSpPr>
            <p:nvPr/>
          </p:nvCxnSpPr>
          <p:spPr>
            <a:xfrm flipH="1" rot="10800000">
              <a:off x="6093500" y="2494200"/>
              <a:ext cx="1413900" cy="934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50"/>
            <p:cNvCxnSpPr>
              <a:stCxn id="440" idx="0"/>
              <a:endCxn id="445" idx="3"/>
            </p:cNvCxnSpPr>
            <p:nvPr/>
          </p:nvCxnSpPr>
          <p:spPr>
            <a:xfrm flipH="1" rot="10800000">
              <a:off x="6093500" y="2204100"/>
              <a:ext cx="792900" cy="122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50"/>
            <p:cNvCxnSpPr>
              <a:stCxn id="440" idx="0"/>
              <a:endCxn id="447" idx="2"/>
            </p:cNvCxnSpPr>
            <p:nvPr/>
          </p:nvCxnSpPr>
          <p:spPr>
            <a:xfrm flipH="1" rot="10800000">
              <a:off x="6093500" y="3083700"/>
              <a:ext cx="829500" cy="34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50"/>
            <p:cNvCxnSpPr>
              <a:stCxn id="444" idx="5"/>
              <a:endCxn id="441" idx="0"/>
            </p:cNvCxnSpPr>
            <p:nvPr/>
          </p:nvCxnSpPr>
          <p:spPr>
            <a:xfrm>
              <a:off x="6448302" y="2494265"/>
              <a:ext cx="1566600" cy="934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50"/>
            <p:cNvCxnSpPr>
              <a:stCxn id="446" idx="4"/>
              <a:endCxn id="441" idx="0"/>
            </p:cNvCxnSpPr>
            <p:nvPr/>
          </p:nvCxnSpPr>
          <p:spPr>
            <a:xfrm>
              <a:off x="7600250" y="2531025"/>
              <a:ext cx="414900" cy="89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Granovetter’s strength of weak ties theory</a:t>
            </a:r>
            <a:endParaRPr/>
          </a:p>
        </p:txBody>
      </p:sp>
      <p:sp>
        <p:nvSpPr>
          <p:cNvPr id="461" name="Google Shape;461;p51"/>
          <p:cNvSpPr txBox="1"/>
          <p:nvPr>
            <p:ph idx="1" type="body"/>
          </p:nvPr>
        </p:nvSpPr>
        <p:spPr>
          <a:xfrm>
            <a:off x="311700" y="1225225"/>
            <a:ext cx="521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Granovetter-transitivity</a:t>
            </a:r>
            <a:r>
              <a:rPr lang="en"/>
              <a:t> (g-transitivity)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Rule 1</a:t>
            </a:r>
            <a:r>
              <a:rPr lang="en"/>
              <a:t>: if two people are strongly connected: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 are likely to have a lot of other friends in common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Rule 2: </a:t>
            </a:r>
            <a:r>
              <a:rPr lang="en"/>
              <a:t>if A and B have a strong tie and B and C have a strong tie: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There should be </a:t>
            </a:r>
            <a:r>
              <a:rPr b="1" lang="en"/>
              <a:t>at least</a:t>
            </a:r>
            <a:r>
              <a:rPr lang="en"/>
              <a:t> a weak tie between A and C </a:t>
            </a:r>
            <a:endParaRPr/>
          </a:p>
        </p:txBody>
      </p:sp>
      <p:grpSp>
        <p:nvGrpSpPr>
          <p:cNvPr id="462" name="Google Shape;462;p51"/>
          <p:cNvGrpSpPr/>
          <p:nvPr/>
        </p:nvGrpSpPr>
        <p:grpSpPr>
          <a:xfrm>
            <a:off x="5849158" y="1537434"/>
            <a:ext cx="2983154" cy="2729568"/>
            <a:chOff x="6285650" y="1749913"/>
            <a:chExt cx="2546657" cy="2304600"/>
          </a:xfrm>
        </p:grpSpPr>
        <p:sp>
          <p:nvSpPr>
            <p:cNvPr id="463" name="Google Shape;463;p51"/>
            <p:cNvSpPr/>
            <p:nvPr/>
          </p:nvSpPr>
          <p:spPr>
            <a:xfrm>
              <a:off x="6285650" y="34758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</a:t>
              </a:r>
              <a:endParaRPr/>
            </a:p>
          </p:txBody>
        </p:sp>
        <p:sp>
          <p:nvSpPr>
            <p:cNvPr id="464" name="Google Shape;464;p51"/>
            <p:cNvSpPr/>
            <p:nvPr/>
          </p:nvSpPr>
          <p:spPr>
            <a:xfrm>
              <a:off x="8207175" y="34758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cxnSp>
          <p:nvCxnSpPr>
            <p:cNvPr id="465" name="Google Shape;465;p51"/>
            <p:cNvCxnSpPr>
              <a:stCxn id="463" idx="6"/>
              <a:endCxn id="464" idx="2"/>
            </p:cNvCxnSpPr>
            <p:nvPr/>
          </p:nvCxnSpPr>
          <p:spPr>
            <a:xfrm>
              <a:off x="6787850" y="3710563"/>
              <a:ext cx="1419300" cy="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6" name="Google Shape;466;p51"/>
            <p:cNvSpPr txBox="1"/>
            <p:nvPr/>
          </p:nvSpPr>
          <p:spPr>
            <a:xfrm>
              <a:off x="6929950" y="3803413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Strong Tie</a:t>
              </a:r>
              <a:endParaRPr/>
            </a:p>
          </p:txBody>
        </p:sp>
        <p:sp>
          <p:nvSpPr>
            <p:cNvPr id="467" name="Google Shape;467;p51"/>
            <p:cNvSpPr/>
            <p:nvPr/>
          </p:nvSpPr>
          <p:spPr>
            <a:xfrm>
              <a:off x="8207175" y="17499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</a:t>
              </a:r>
              <a:endParaRPr/>
            </a:p>
          </p:txBody>
        </p:sp>
        <p:cxnSp>
          <p:nvCxnSpPr>
            <p:cNvPr id="468" name="Google Shape;468;p51"/>
            <p:cNvCxnSpPr>
              <a:stCxn id="467" idx="4"/>
              <a:endCxn id="464" idx="0"/>
            </p:cNvCxnSpPr>
            <p:nvPr/>
          </p:nvCxnSpPr>
          <p:spPr>
            <a:xfrm>
              <a:off x="8458275" y="2219413"/>
              <a:ext cx="0" cy="12564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9" name="Google Shape;469;p51"/>
            <p:cNvSpPr txBox="1"/>
            <p:nvPr/>
          </p:nvSpPr>
          <p:spPr>
            <a:xfrm rot="-5400913">
              <a:off x="8141557" y="2722066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Strong Tie</a:t>
              </a:r>
              <a:endParaRPr/>
            </a:p>
          </p:txBody>
        </p:sp>
        <p:cxnSp>
          <p:nvCxnSpPr>
            <p:cNvPr id="470" name="Google Shape;470;p51"/>
            <p:cNvCxnSpPr>
              <a:stCxn id="463" idx="7"/>
              <a:endCxn id="467" idx="3"/>
            </p:cNvCxnSpPr>
            <p:nvPr/>
          </p:nvCxnSpPr>
          <p:spPr>
            <a:xfrm flipH="1" rot="10800000">
              <a:off x="6714305" y="2150769"/>
              <a:ext cx="1566300" cy="1393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471" name="Google Shape;471;p51"/>
          <p:cNvSpPr txBox="1"/>
          <p:nvPr/>
        </p:nvSpPr>
        <p:spPr>
          <a:xfrm>
            <a:off x="5849150" y="1147225"/>
            <a:ext cx="2126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Good probability of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existing tie!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72" name="Google Shape;472;p51"/>
          <p:cNvCxnSpPr>
            <a:stCxn id="471" idx="2"/>
          </p:cNvCxnSpPr>
          <p:nvPr/>
        </p:nvCxnSpPr>
        <p:spPr>
          <a:xfrm>
            <a:off x="6912350" y="1860925"/>
            <a:ext cx="6600" cy="117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Granovetter’s strength of weak ties theory</a:t>
            </a:r>
            <a:endParaRPr/>
          </a:p>
        </p:txBody>
      </p:sp>
      <p:grpSp>
        <p:nvGrpSpPr>
          <p:cNvPr id="478" name="Google Shape;478;p52"/>
          <p:cNvGrpSpPr/>
          <p:nvPr/>
        </p:nvGrpSpPr>
        <p:grpSpPr>
          <a:xfrm>
            <a:off x="5791260" y="1520278"/>
            <a:ext cx="3040963" cy="2763907"/>
            <a:chOff x="6285650" y="1749913"/>
            <a:chExt cx="2546657" cy="2304600"/>
          </a:xfrm>
        </p:grpSpPr>
        <p:sp>
          <p:nvSpPr>
            <p:cNvPr id="479" name="Google Shape;479;p52"/>
            <p:cNvSpPr/>
            <p:nvPr/>
          </p:nvSpPr>
          <p:spPr>
            <a:xfrm>
              <a:off x="6285650" y="34758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</a:t>
              </a:r>
              <a:endParaRPr/>
            </a:p>
          </p:txBody>
        </p:sp>
        <p:sp>
          <p:nvSpPr>
            <p:cNvPr id="480" name="Google Shape;480;p52"/>
            <p:cNvSpPr/>
            <p:nvPr/>
          </p:nvSpPr>
          <p:spPr>
            <a:xfrm>
              <a:off x="8207175" y="34758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cxnSp>
          <p:nvCxnSpPr>
            <p:cNvPr id="481" name="Google Shape;481;p52"/>
            <p:cNvCxnSpPr>
              <a:stCxn id="479" idx="6"/>
              <a:endCxn id="480" idx="2"/>
            </p:cNvCxnSpPr>
            <p:nvPr/>
          </p:nvCxnSpPr>
          <p:spPr>
            <a:xfrm>
              <a:off x="6787850" y="3710563"/>
              <a:ext cx="1419300" cy="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2" name="Google Shape;482;p52"/>
            <p:cNvSpPr txBox="1"/>
            <p:nvPr/>
          </p:nvSpPr>
          <p:spPr>
            <a:xfrm>
              <a:off x="6929950" y="3803413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Similar</a:t>
              </a:r>
              <a:endParaRPr/>
            </a:p>
          </p:txBody>
        </p:sp>
        <p:sp>
          <p:nvSpPr>
            <p:cNvPr id="483" name="Google Shape;483;p52"/>
            <p:cNvSpPr/>
            <p:nvPr/>
          </p:nvSpPr>
          <p:spPr>
            <a:xfrm>
              <a:off x="8207175" y="17499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</a:t>
              </a:r>
              <a:endParaRPr/>
            </a:p>
          </p:txBody>
        </p:sp>
        <p:cxnSp>
          <p:nvCxnSpPr>
            <p:cNvPr id="484" name="Google Shape;484;p52"/>
            <p:cNvCxnSpPr>
              <a:stCxn id="483" idx="4"/>
              <a:endCxn id="480" idx="0"/>
            </p:cNvCxnSpPr>
            <p:nvPr/>
          </p:nvCxnSpPr>
          <p:spPr>
            <a:xfrm>
              <a:off x="8458275" y="2219413"/>
              <a:ext cx="0" cy="12564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5" name="Google Shape;485;p52"/>
            <p:cNvSpPr txBox="1"/>
            <p:nvPr/>
          </p:nvSpPr>
          <p:spPr>
            <a:xfrm rot="-5400913">
              <a:off x="8141557" y="2722066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Similar</a:t>
              </a:r>
              <a:endParaRPr/>
            </a:p>
          </p:txBody>
        </p:sp>
        <p:cxnSp>
          <p:nvCxnSpPr>
            <p:cNvPr id="486" name="Google Shape;486;p52"/>
            <p:cNvCxnSpPr>
              <a:stCxn id="479" idx="7"/>
              <a:endCxn id="483" idx="3"/>
            </p:cNvCxnSpPr>
            <p:nvPr/>
          </p:nvCxnSpPr>
          <p:spPr>
            <a:xfrm flipH="1" rot="10800000">
              <a:off x="6714305" y="2150769"/>
              <a:ext cx="1566300" cy="1393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487" name="Google Shape;487;p52"/>
            <p:cNvSpPr txBox="1"/>
            <p:nvPr/>
          </p:nvSpPr>
          <p:spPr>
            <a:xfrm rot="-2498053">
              <a:off x="6253166" y="2465347"/>
              <a:ext cx="2128173" cy="251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At least a little similar</a:t>
              </a:r>
              <a:endParaRPr/>
            </a:p>
          </p:txBody>
        </p:sp>
      </p:grpSp>
      <p:sp>
        <p:nvSpPr>
          <p:cNvPr id="488" name="Google Shape;488;p52"/>
          <p:cNvSpPr txBox="1"/>
          <p:nvPr>
            <p:ph idx="1" type="body"/>
          </p:nvPr>
        </p:nvSpPr>
        <p:spPr>
          <a:xfrm>
            <a:off x="311700" y="1225225"/>
            <a:ext cx="521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Granovetter-transitivity</a:t>
            </a:r>
            <a:r>
              <a:rPr lang="en"/>
              <a:t> (g-transitivity)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Rule 1</a:t>
            </a:r>
            <a:r>
              <a:rPr lang="en"/>
              <a:t>: if two people are strongly connected: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 are likely to have a lot of other friends in common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Rule 2: </a:t>
            </a:r>
            <a:r>
              <a:rPr lang="en"/>
              <a:t>if A and B have a strong tie and B and C have a strong tie: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There should be </a:t>
            </a:r>
            <a:r>
              <a:rPr b="1" lang="en"/>
              <a:t>at least</a:t>
            </a:r>
            <a:r>
              <a:rPr lang="en"/>
              <a:t> a weak tie between A and 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Reasons for g-transitivity: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Demographic similarity (homophily)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Shared foci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Propinquity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Granovetter’s strength of weak ties theory</a:t>
            </a:r>
            <a:endParaRPr/>
          </a:p>
        </p:txBody>
      </p:sp>
      <p:sp>
        <p:nvSpPr>
          <p:cNvPr id="494" name="Google Shape;494;p53"/>
          <p:cNvSpPr txBox="1"/>
          <p:nvPr>
            <p:ph idx="1" type="body"/>
          </p:nvPr>
        </p:nvSpPr>
        <p:spPr>
          <a:xfrm>
            <a:off x="311700" y="1225225"/>
            <a:ext cx="5050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1" lang="en"/>
              <a:t>Granovetter’s weak tie principle: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Weak ties allow for a violation of g-transitivity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You don’t have to be connected to the people who are connected to the people whom you only have a weak tie connection to</a:t>
            </a:r>
            <a:endParaRPr i="1"/>
          </a:p>
        </p:txBody>
      </p:sp>
      <p:grpSp>
        <p:nvGrpSpPr>
          <p:cNvPr id="495" name="Google Shape;495;p53"/>
          <p:cNvGrpSpPr/>
          <p:nvPr/>
        </p:nvGrpSpPr>
        <p:grpSpPr>
          <a:xfrm>
            <a:off x="5793348" y="1660889"/>
            <a:ext cx="2838504" cy="2603276"/>
            <a:chOff x="5996200" y="1761038"/>
            <a:chExt cx="2546657" cy="2304600"/>
          </a:xfrm>
        </p:grpSpPr>
        <p:sp>
          <p:nvSpPr>
            <p:cNvPr id="496" name="Google Shape;496;p53"/>
            <p:cNvSpPr/>
            <p:nvPr/>
          </p:nvSpPr>
          <p:spPr>
            <a:xfrm>
              <a:off x="5996200" y="3486938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</a:t>
              </a:r>
              <a:endParaRPr/>
            </a:p>
          </p:txBody>
        </p:sp>
        <p:sp>
          <p:nvSpPr>
            <p:cNvPr id="497" name="Google Shape;497;p53"/>
            <p:cNvSpPr/>
            <p:nvPr/>
          </p:nvSpPr>
          <p:spPr>
            <a:xfrm>
              <a:off x="7917725" y="3486938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cxnSp>
          <p:nvCxnSpPr>
            <p:cNvPr id="498" name="Google Shape;498;p53"/>
            <p:cNvCxnSpPr>
              <a:stCxn id="496" idx="6"/>
              <a:endCxn id="497" idx="2"/>
            </p:cNvCxnSpPr>
            <p:nvPr/>
          </p:nvCxnSpPr>
          <p:spPr>
            <a:xfrm>
              <a:off x="6498400" y="3721688"/>
              <a:ext cx="141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499" name="Google Shape;499;p53"/>
            <p:cNvSpPr txBox="1"/>
            <p:nvPr/>
          </p:nvSpPr>
          <p:spPr>
            <a:xfrm>
              <a:off x="6640500" y="3814538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Weak Tie</a:t>
              </a:r>
              <a:endParaRPr/>
            </a:p>
          </p:txBody>
        </p:sp>
        <p:sp>
          <p:nvSpPr>
            <p:cNvPr id="500" name="Google Shape;500;p53"/>
            <p:cNvSpPr/>
            <p:nvPr/>
          </p:nvSpPr>
          <p:spPr>
            <a:xfrm>
              <a:off x="7917725" y="1761038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</a:t>
              </a:r>
              <a:endParaRPr/>
            </a:p>
          </p:txBody>
        </p:sp>
        <p:cxnSp>
          <p:nvCxnSpPr>
            <p:cNvPr id="501" name="Google Shape;501;p53"/>
            <p:cNvCxnSpPr>
              <a:stCxn id="500" idx="4"/>
              <a:endCxn id="497" idx="0"/>
            </p:cNvCxnSpPr>
            <p:nvPr/>
          </p:nvCxnSpPr>
          <p:spPr>
            <a:xfrm>
              <a:off x="8168825" y="2230538"/>
              <a:ext cx="0" cy="12564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2" name="Google Shape;502;p53"/>
            <p:cNvSpPr txBox="1"/>
            <p:nvPr/>
          </p:nvSpPr>
          <p:spPr>
            <a:xfrm rot="-5400913">
              <a:off x="7852107" y="2733191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Strong Tie</a:t>
              </a:r>
              <a:endParaRPr/>
            </a:p>
          </p:txBody>
        </p:sp>
      </p:grpSp>
      <p:sp>
        <p:nvSpPr>
          <p:cNvPr id="503" name="Google Shape;503;p53"/>
          <p:cNvSpPr txBox="1"/>
          <p:nvPr/>
        </p:nvSpPr>
        <p:spPr>
          <a:xfrm>
            <a:off x="5849150" y="1147225"/>
            <a:ext cx="2126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Good probability of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no tie!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04" name="Google Shape;504;p53"/>
          <p:cNvCxnSpPr>
            <a:stCxn id="503" idx="2"/>
          </p:cNvCxnSpPr>
          <p:nvPr/>
        </p:nvCxnSpPr>
        <p:spPr>
          <a:xfrm>
            <a:off x="6912350" y="1860925"/>
            <a:ext cx="6600" cy="117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Strength of weak ties theory</a:t>
            </a:r>
            <a:endParaRPr/>
          </a:p>
        </p:txBody>
      </p:sp>
      <p:sp>
        <p:nvSpPr>
          <p:cNvPr id="510" name="Google Shape;510;p54"/>
          <p:cNvSpPr txBox="1"/>
          <p:nvPr>
            <p:ph idx="1" type="body"/>
          </p:nvPr>
        </p:nvSpPr>
        <p:spPr>
          <a:xfrm>
            <a:off x="311700" y="1225225"/>
            <a:ext cx="3739500" cy="32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of the g-transitivity principle to ego-network layers: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G-transitivity more likely to apply to </a:t>
            </a:r>
            <a:r>
              <a:rPr b="1" lang="en"/>
              <a:t>strong ties </a:t>
            </a:r>
            <a:r>
              <a:rPr lang="en"/>
              <a:t>in your </a:t>
            </a:r>
            <a:r>
              <a:rPr b="1" lang="en"/>
              <a:t>support clique </a:t>
            </a:r>
            <a:r>
              <a:rPr lang="en"/>
              <a:t>and </a:t>
            </a:r>
            <a:r>
              <a:rPr b="1" lang="en"/>
              <a:t>sympathy group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Weak ties</a:t>
            </a:r>
            <a:r>
              <a:rPr lang="en"/>
              <a:t> in you </a:t>
            </a:r>
            <a:r>
              <a:rPr b="1" lang="en"/>
              <a:t>active network </a:t>
            </a:r>
            <a:r>
              <a:rPr lang="en"/>
              <a:t>less likely to be connected to one another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Fig%2525201Strong-Weak%252520ties-701724.jpg" id="511" name="Google Shape;511;p54"/>
          <p:cNvPicPr preferRelativeResize="0"/>
          <p:nvPr/>
        </p:nvPicPr>
        <p:blipFill rotWithShape="1">
          <a:blip r:embed="rId3">
            <a:alphaModFix/>
          </a:blip>
          <a:srcRect b="0" l="0" r="12694" t="0"/>
          <a:stretch/>
        </p:blipFill>
        <p:spPr>
          <a:xfrm>
            <a:off x="5092925" y="1294088"/>
            <a:ext cx="3739375" cy="32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4"/>
          <p:cNvSpPr txBox="1"/>
          <p:nvPr/>
        </p:nvSpPr>
        <p:spPr>
          <a:xfrm>
            <a:off x="7336200" y="1190450"/>
            <a:ext cx="1496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G-transitive ties</a:t>
            </a:r>
            <a:endParaRPr/>
          </a:p>
        </p:txBody>
      </p:sp>
      <p:cxnSp>
        <p:nvCxnSpPr>
          <p:cNvPr id="513" name="Google Shape;513;p54"/>
          <p:cNvCxnSpPr>
            <a:stCxn id="512" idx="2"/>
          </p:cNvCxnSpPr>
          <p:nvPr/>
        </p:nvCxnSpPr>
        <p:spPr>
          <a:xfrm rot="5400000">
            <a:off x="6730200" y="1638500"/>
            <a:ext cx="1455300" cy="1252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4" name="Google Shape;514;p54"/>
          <p:cNvCxnSpPr>
            <a:stCxn id="512" idx="2"/>
          </p:cNvCxnSpPr>
          <p:nvPr/>
        </p:nvCxnSpPr>
        <p:spPr>
          <a:xfrm rot="5400000">
            <a:off x="7320900" y="1848500"/>
            <a:ext cx="1074600" cy="452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15" name="Google Shape;515;p54"/>
          <p:cNvSpPr/>
          <p:nvPr/>
        </p:nvSpPr>
        <p:spPr>
          <a:xfrm rot="-1688698">
            <a:off x="6288089" y="2489675"/>
            <a:ext cx="1883172" cy="795089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54"/>
          <p:cNvSpPr txBox="1"/>
          <p:nvPr/>
        </p:nvSpPr>
        <p:spPr>
          <a:xfrm>
            <a:off x="3393175" y="3890400"/>
            <a:ext cx="20355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G-transitivity violations</a:t>
            </a:r>
            <a:endParaRPr/>
          </a:p>
        </p:txBody>
      </p:sp>
      <p:sp>
        <p:nvSpPr>
          <p:cNvPr id="517" name="Google Shape;517;p54"/>
          <p:cNvSpPr/>
          <p:nvPr/>
        </p:nvSpPr>
        <p:spPr>
          <a:xfrm>
            <a:off x="5930725" y="2325338"/>
            <a:ext cx="369600" cy="346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4"/>
          <p:cNvSpPr/>
          <p:nvPr/>
        </p:nvSpPr>
        <p:spPr>
          <a:xfrm rot="-1208086">
            <a:off x="6450672" y="3449826"/>
            <a:ext cx="2459405" cy="811959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9" name="Google Shape;519;p54"/>
          <p:cNvCxnSpPr>
            <a:stCxn id="516" idx="2"/>
            <a:endCxn id="518" idx="4"/>
          </p:cNvCxnSpPr>
          <p:nvPr/>
        </p:nvCxnSpPr>
        <p:spPr>
          <a:xfrm flipH="1" rot="-5400000">
            <a:off x="6115225" y="2532900"/>
            <a:ext cx="600" cy="3409200"/>
          </a:xfrm>
          <a:prstGeom prst="bentConnector3">
            <a:avLst>
              <a:gd fmla="val 7105803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0" name="Google Shape;520;p54"/>
          <p:cNvCxnSpPr>
            <a:stCxn id="516" idx="0"/>
            <a:endCxn id="517" idx="4"/>
          </p:cNvCxnSpPr>
          <p:nvPr/>
        </p:nvCxnSpPr>
        <p:spPr>
          <a:xfrm rot="-5400000">
            <a:off x="4654075" y="2428950"/>
            <a:ext cx="1218300" cy="17046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Strength of weak ties theory</a:t>
            </a:r>
            <a:endParaRPr/>
          </a:p>
        </p:txBody>
      </p:sp>
      <p:sp>
        <p:nvSpPr>
          <p:cNvPr id="526" name="Google Shape;526;p55"/>
          <p:cNvSpPr txBox="1"/>
          <p:nvPr>
            <p:ph idx="1" type="body"/>
          </p:nvPr>
        </p:nvSpPr>
        <p:spPr>
          <a:xfrm>
            <a:off x="311700" y="1225225"/>
            <a:ext cx="4781100" cy="32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of the g-transitivity principle to ego-network layers: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 can function as </a:t>
            </a:r>
            <a:r>
              <a:rPr b="1" lang="en"/>
              <a:t>bridges</a:t>
            </a:r>
            <a:r>
              <a:rPr lang="en"/>
              <a:t> to parts of social structure to which you wouldn’t have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Absent weak ties: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will not have access to distant parts of the social system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Information will tend to be local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Will put you at a </a:t>
            </a:r>
            <a:r>
              <a:rPr b="1" lang="en"/>
              <a:t>disadvantage </a:t>
            </a:r>
            <a:r>
              <a:rPr lang="en"/>
              <a:t>when </a:t>
            </a:r>
            <a:r>
              <a:rPr b="1" lang="en"/>
              <a:t>novel </a:t>
            </a:r>
            <a:r>
              <a:rPr lang="en"/>
              <a:t>information is </a:t>
            </a:r>
            <a:r>
              <a:rPr b="1" lang="en"/>
              <a:t>valuable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Fig%2525201Strong-Weak%252520ties-701724.jpg" id="527" name="Google Shape;527;p55"/>
          <p:cNvPicPr preferRelativeResize="0"/>
          <p:nvPr/>
        </p:nvPicPr>
        <p:blipFill rotWithShape="1">
          <a:blip r:embed="rId3">
            <a:alphaModFix/>
          </a:blip>
          <a:srcRect b="0" l="0" r="12694" t="0"/>
          <a:stretch/>
        </p:blipFill>
        <p:spPr>
          <a:xfrm>
            <a:off x="5092925" y="1294088"/>
            <a:ext cx="3739375" cy="32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55"/>
          <p:cNvSpPr/>
          <p:nvPr/>
        </p:nvSpPr>
        <p:spPr>
          <a:xfrm rot="-1688698">
            <a:off x="6288089" y="2489675"/>
            <a:ext cx="1883172" cy="795089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5"/>
          <p:cNvSpPr/>
          <p:nvPr/>
        </p:nvSpPr>
        <p:spPr>
          <a:xfrm>
            <a:off x="5733200" y="2518813"/>
            <a:ext cx="369600" cy="346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5"/>
          <p:cNvSpPr/>
          <p:nvPr/>
        </p:nvSpPr>
        <p:spPr>
          <a:xfrm rot="-1208086">
            <a:off x="6450672" y="3449826"/>
            <a:ext cx="2459405" cy="811959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%2525201Strong-Weak%252520ties-701724.jpg" id="535" name="Google Shape;535;p56"/>
          <p:cNvPicPr preferRelativeResize="0"/>
          <p:nvPr/>
        </p:nvPicPr>
        <p:blipFill rotWithShape="1">
          <a:blip r:embed="rId3">
            <a:alphaModFix/>
          </a:blip>
          <a:srcRect b="0" l="0" r="12694" t="0"/>
          <a:stretch/>
        </p:blipFill>
        <p:spPr>
          <a:xfrm>
            <a:off x="5092925" y="1294088"/>
            <a:ext cx="3739375" cy="32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56"/>
          <p:cNvSpPr txBox="1"/>
          <p:nvPr/>
        </p:nvSpPr>
        <p:spPr>
          <a:xfrm>
            <a:off x="5858800" y="4441525"/>
            <a:ext cx="1105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Bridging tie</a:t>
            </a:r>
            <a:endParaRPr/>
          </a:p>
        </p:txBody>
      </p:sp>
      <p:sp>
        <p:nvSpPr>
          <p:cNvPr id="537" name="Google Shape;537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Strength of weak ties theory</a:t>
            </a:r>
            <a:endParaRPr/>
          </a:p>
        </p:txBody>
      </p:sp>
      <p:sp>
        <p:nvSpPr>
          <p:cNvPr id="538" name="Google Shape;538;p56"/>
          <p:cNvSpPr/>
          <p:nvPr/>
        </p:nvSpPr>
        <p:spPr>
          <a:xfrm>
            <a:off x="5776900" y="2418900"/>
            <a:ext cx="163800" cy="213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6"/>
          <p:cNvSpPr txBox="1"/>
          <p:nvPr/>
        </p:nvSpPr>
        <p:spPr>
          <a:xfrm>
            <a:off x="5259225" y="3192200"/>
            <a:ext cx="768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</a:t>
            </a:r>
            <a:endParaRPr/>
          </a:p>
        </p:txBody>
      </p:sp>
      <p:sp>
        <p:nvSpPr>
          <p:cNvPr id="540" name="Google Shape;540;p56"/>
          <p:cNvSpPr/>
          <p:nvPr/>
        </p:nvSpPr>
        <p:spPr>
          <a:xfrm>
            <a:off x="5813425" y="2178750"/>
            <a:ext cx="462600" cy="346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6"/>
          <p:cNvSpPr txBox="1"/>
          <p:nvPr/>
        </p:nvSpPr>
        <p:spPr>
          <a:xfrm>
            <a:off x="7759075" y="844400"/>
            <a:ext cx="11910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who may know something your close friends don’t know</a:t>
            </a:r>
            <a:endParaRPr/>
          </a:p>
        </p:txBody>
      </p:sp>
      <p:sp>
        <p:nvSpPr>
          <p:cNvPr id="542" name="Google Shape;542;p56"/>
          <p:cNvSpPr/>
          <p:nvPr/>
        </p:nvSpPr>
        <p:spPr>
          <a:xfrm>
            <a:off x="4508600" y="1795500"/>
            <a:ext cx="831000" cy="62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6"/>
          <p:cNvSpPr txBox="1"/>
          <p:nvPr>
            <p:ph idx="1" type="body"/>
          </p:nvPr>
        </p:nvSpPr>
        <p:spPr>
          <a:xfrm>
            <a:off x="311700" y="1225225"/>
            <a:ext cx="4781100" cy="32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of the g-transitivity principle to ego-network layers: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 can function as </a:t>
            </a:r>
            <a:r>
              <a:rPr b="1" lang="en"/>
              <a:t>bridges</a:t>
            </a:r>
            <a:r>
              <a:rPr lang="en"/>
              <a:t> to parts of social structure to which you wouldn’t have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Absent weak ties: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will not have access to distant parts of the social system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Information will tend to be local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Will put you at a </a:t>
            </a:r>
            <a:r>
              <a:rPr b="1" lang="en"/>
              <a:t>disadvantage </a:t>
            </a:r>
            <a:r>
              <a:rPr lang="en"/>
              <a:t>when </a:t>
            </a:r>
            <a:r>
              <a:rPr b="1" lang="en"/>
              <a:t>novel </a:t>
            </a:r>
            <a:r>
              <a:rPr lang="en"/>
              <a:t>information is </a:t>
            </a:r>
            <a:r>
              <a:rPr b="1" lang="en"/>
              <a:t>valuable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544" name="Google Shape;544;p56"/>
          <p:cNvCxnSpPr>
            <a:stCxn id="541" idx="1"/>
          </p:cNvCxnSpPr>
          <p:nvPr/>
        </p:nvCxnSpPr>
        <p:spPr>
          <a:xfrm flipH="1">
            <a:off x="5713375" y="1598300"/>
            <a:ext cx="2045700" cy="38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5" name="Google Shape;545;p56"/>
          <p:cNvCxnSpPr>
            <a:stCxn id="539" idx="0"/>
            <a:endCxn id="540" idx="4"/>
          </p:cNvCxnSpPr>
          <p:nvPr/>
        </p:nvCxnSpPr>
        <p:spPr>
          <a:xfrm flipH="1" rot="10800000">
            <a:off x="5643375" y="2525600"/>
            <a:ext cx="401400" cy="66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6" name="Google Shape;546;p56"/>
          <p:cNvCxnSpPr>
            <a:stCxn id="536" idx="0"/>
          </p:cNvCxnSpPr>
          <p:nvPr/>
        </p:nvCxnSpPr>
        <p:spPr>
          <a:xfrm flipH="1" rot="10800000">
            <a:off x="6411700" y="2659525"/>
            <a:ext cx="32400" cy="178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Getting a job</a:t>
            </a:r>
            <a:endParaRPr/>
          </a:p>
        </p:txBody>
      </p:sp>
      <p:sp>
        <p:nvSpPr>
          <p:cNvPr id="552" name="Google Shape;552;p57"/>
          <p:cNvSpPr txBox="1"/>
          <p:nvPr>
            <p:ph idx="1" type="body"/>
          </p:nvPr>
        </p:nvSpPr>
        <p:spPr>
          <a:xfrm>
            <a:off x="311700" y="1225225"/>
            <a:ext cx="5259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If social mobility (e.g. finding new job opportunities) depends on (new) information access: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having weak ties will be correlated with mobility and other forms of success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Contacts with whom you are weakly connected will be more likely to know something you don’t know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 help you insofar as they connect you to others with access to both information and resources </a:t>
            </a:r>
            <a:endParaRPr/>
          </a:p>
        </p:txBody>
      </p:sp>
      <p:pic>
        <p:nvPicPr>
          <p:cNvPr descr="granov2.gif" id="553" name="Google Shape;55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1000" y="1067738"/>
            <a:ext cx="3261300" cy="366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%2525201Strong-Weak%252520ties-701724.jpg" id="558" name="Google Shape;558;p58"/>
          <p:cNvPicPr preferRelativeResize="0"/>
          <p:nvPr/>
        </p:nvPicPr>
        <p:blipFill rotWithShape="1">
          <a:blip r:embed="rId3">
            <a:alphaModFix/>
          </a:blip>
          <a:srcRect b="0" l="0" r="12694" t="0"/>
          <a:stretch/>
        </p:blipFill>
        <p:spPr>
          <a:xfrm>
            <a:off x="5092925" y="1294088"/>
            <a:ext cx="3739375" cy="32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560" name="Google Shape;560;p58"/>
          <p:cNvSpPr txBox="1"/>
          <p:nvPr>
            <p:ph idx="1" type="body"/>
          </p:nvPr>
        </p:nvSpPr>
        <p:spPr>
          <a:xfrm>
            <a:off x="311700" y="1225225"/>
            <a:ext cx="42831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Strength of weak ties</a:t>
            </a:r>
            <a:r>
              <a:rPr lang="en"/>
              <a:t> theory is a theory about how you can connect to </a:t>
            </a:r>
            <a:r>
              <a:rPr b="1" lang="en"/>
              <a:t>brokers</a:t>
            </a:r>
            <a:r>
              <a:rPr lang="en"/>
              <a:t> by developing </a:t>
            </a:r>
            <a:r>
              <a:rPr b="1" lang="en"/>
              <a:t>bridging </a:t>
            </a:r>
            <a:r>
              <a:rPr lang="en"/>
              <a:t>ties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a theory of social capital as </a:t>
            </a:r>
            <a:r>
              <a:rPr b="1" lang="en"/>
              <a:t>information access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note that here the powerful person is the </a:t>
            </a:r>
            <a:r>
              <a:rPr b="1" lang="en"/>
              <a:t>broker</a:t>
            </a:r>
            <a:r>
              <a:rPr lang="en"/>
              <a:t> not </a:t>
            </a:r>
            <a:r>
              <a:rPr b="1" lang="en"/>
              <a:t>you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She controls the information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i="1" lang="en">
                <a:solidFill>
                  <a:srgbClr val="FF0000"/>
                </a:solidFill>
              </a:rPr>
              <a:t>What if you want to be the broker in control?</a:t>
            </a:r>
            <a:endParaRPr i="1">
              <a:solidFill>
                <a:srgbClr val="FF0000"/>
              </a:solidFill>
            </a:endParaRPr>
          </a:p>
        </p:txBody>
      </p:sp>
      <p:sp>
        <p:nvSpPr>
          <p:cNvPr id="561" name="Google Shape;561;p58"/>
          <p:cNvSpPr/>
          <p:nvPr/>
        </p:nvSpPr>
        <p:spPr>
          <a:xfrm>
            <a:off x="5776900" y="2418900"/>
            <a:ext cx="163800" cy="213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8"/>
          <p:cNvSpPr/>
          <p:nvPr/>
        </p:nvSpPr>
        <p:spPr>
          <a:xfrm>
            <a:off x="4508600" y="1795500"/>
            <a:ext cx="831000" cy="62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8"/>
          <p:cNvSpPr txBox="1"/>
          <p:nvPr/>
        </p:nvSpPr>
        <p:spPr>
          <a:xfrm>
            <a:off x="5858800" y="4441525"/>
            <a:ext cx="1105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Bridging tie</a:t>
            </a:r>
            <a:endParaRPr/>
          </a:p>
        </p:txBody>
      </p:sp>
      <p:sp>
        <p:nvSpPr>
          <p:cNvPr id="564" name="Google Shape;564;p58"/>
          <p:cNvSpPr/>
          <p:nvPr/>
        </p:nvSpPr>
        <p:spPr>
          <a:xfrm>
            <a:off x="5813425" y="2178750"/>
            <a:ext cx="462600" cy="346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8"/>
          <p:cNvSpPr txBox="1"/>
          <p:nvPr/>
        </p:nvSpPr>
        <p:spPr>
          <a:xfrm>
            <a:off x="7759075" y="844400"/>
            <a:ext cx="11910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who may know something your close friends don’t know</a:t>
            </a:r>
            <a:endParaRPr/>
          </a:p>
        </p:txBody>
      </p:sp>
      <p:cxnSp>
        <p:nvCxnSpPr>
          <p:cNvPr id="566" name="Google Shape;566;p58"/>
          <p:cNvCxnSpPr>
            <a:stCxn id="565" idx="1"/>
          </p:cNvCxnSpPr>
          <p:nvPr/>
        </p:nvCxnSpPr>
        <p:spPr>
          <a:xfrm flipH="1">
            <a:off x="5713375" y="1598300"/>
            <a:ext cx="2045700" cy="38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7" name="Google Shape;567;p58"/>
          <p:cNvCxnSpPr>
            <a:endCxn id="564" idx="4"/>
          </p:cNvCxnSpPr>
          <p:nvPr/>
        </p:nvCxnSpPr>
        <p:spPr>
          <a:xfrm flipH="1" rot="10800000">
            <a:off x="5643325" y="2525550"/>
            <a:ext cx="401400" cy="66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8" name="Google Shape;568;p58"/>
          <p:cNvCxnSpPr>
            <a:stCxn id="563" idx="0"/>
          </p:cNvCxnSpPr>
          <p:nvPr/>
        </p:nvCxnSpPr>
        <p:spPr>
          <a:xfrm flipH="1" rot="10800000">
            <a:off x="6411700" y="2659525"/>
            <a:ext cx="32400" cy="178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69" name="Google Shape;569;p58"/>
          <p:cNvSpPr txBox="1"/>
          <p:nvPr/>
        </p:nvSpPr>
        <p:spPr>
          <a:xfrm>
            <a:off x="5259225" y="3192200"/>
            <a:ext cx="768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575" name="Google Shape;575;p59"/>
          <p:cNvSpPr txBox="1"/>
          <p:nvPr>
            <p:ph idx="1" type="body"/>
          </p:nvPr>
        </p:nvSpPr>
        <p:spPr>
          <a:xfrm>
            <a:off x="311700" y="1225225"/>
            <a:ext cx="42831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Structural holes theory </a:t>
            </a:r>
            <a:r>
              <a:rPr lang="en"/>
              <a:t>is a theory about how to configure your network so that you </a:t>
            </a:r>
            <a:r>
              <a:rPr b="1" lang="en"/>
              <a:t>control</a:t>
            </a:r>
            <a:r>
              <a:rPr lang="en"/>
              <a:t> the information: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Others depend on </a:t>
            </a:r>
            <a:r>
              <a:rPr b="1" lang="en"/>
              <a:t>you</a:t>
            </a:r>
            <a:r>
              <a:rPr lang="en"/>
              <a:t> for access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maximize social capital when you occupy a position “in between” others</a:t>
            </a:r>
            <a:r>
              <a:rPr b="1" lang="en"/>
              <a:t>: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Violations of </a:t>
            </a:r>
            <a:r>
              <a:rPr b="1" lang="en"/>
              <a:t>g-transitivity </a:t>
            </a:r>
            <a:r>
              <a:rPr lang="en"/>
              <a:t>create “</a:t>
            </a:r>
            <a:r>
              <a:rPr b="1" lang="en"/>
              <a:t>holes</a:t>
            </a:r>
            <a:r>
              <a:rPr lang="en"/>
              <a:t>” in social structure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has the most social capital?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James or Robert?</a:t>
            </a:r>
            <a:endParaRPr/>
          </a:p>
        </p:txBody>
      </p:sp>
      <p:pic>
        <p:nvPicPr>
          <p:cNvPr id="576" name="Google Shape;57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4800" y="1373750"/>
            <a:ext cx="4244401" cy="3056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582" name="Google Shape;582;p60"/>
          <p:cNvSpPr txBox="1"/>
          <p:nvPr>
            <p:ph idx="1" type="body"/>
          </p:nvPr>
        </p:nvSpPr>
        <p:spPr>
          <a:xfrm>
            <a:off x="311700" y="1225225"/>
            <a:ext cx="42831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Structural holes in networks provide two kinds of benefits: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Passive exposure effect: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get to know what other people know (a la Granovetter)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Active control effect (Burt 1995):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</a:t>
            </a:r>
            <a:r>
              <a:rPr b="1" lang="en"/>
              <a:t>decide</a:t>
            </a:r>
            <a:r>
              <a:rPr lang="en"/>
              <a:t> whether some people know some things or not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</a:t>
            </a:r>
            <a:r>
              <a:rPr b="1" lang="en"/>
              <a:t>shape</a:t>
            </a:r>
            <a:r>
              <a:rPr lang="en"/>
              <a:t> the way other people perceive others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</a:t>
            </a:r>
            <a:r>
              <a:rPr b="1" lang="en"/>
              <a:t>play</a:t>
            </a:r>
            <a:r>
              <a:rPr lang="en"/>
              <a:t> people against one another</a:t>
            </a:r>
            <a:endParaRPr/>
          </a:p>
        </p:txBody>
      </p:sp>
      <p:pic>
        <p:nvPicPr>
          <p:cNvPr id="583" name="Google Shape;58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4800" y="1373750"/>
            <a:ext cx="4244401" cy="3056943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60"/>
          <p:cNvSpPr/>
          <p:nvPr/>
        </p:nvSpPr>
        <p:spPr>
          <a:xfrm>
            <a:off x="6497625" y="2620900"/>
            <a:ext cx="764400" cy="862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590" name="Google Shape;590;p61"/>
          <p:cNvSpPr txBox="1"/>
          <p:nvPr>
            <p:ph idx="1" type="body"/>
          </p:nvPr>
        </p:nvSpPr>
        <p:spPr>
          <a:xfrm>
            <a:off x="311700" y="1225225"/>
            <a:ext cx="42831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Structural holes rich networks provide two kinds of benefits: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Passive exposure effect: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get to know what other people know (a la Granovetter)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Active control effect (Burt 1995):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are less </a:t>
            </a:r>
            <a:r>
              <a:rPr b="1" lang="en"/>
              <a:t>bound</a:t>
            </a:r>
            <a:r>
              <a:rPr lang="en"/>
              <a:t> by the norms and expectations of any one group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are </a:t>
            </a:r>
            <a:r>
              <a:rPr b="1" lang="en"/>
              <a:t>free</a:t>
            </a:r>
            <a:r>
              <a:rPr lang="en"/>
              <a:t> to move across the social structure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 different things to different people</a:t>
            </a:r>
            <a:endParaRPr/>
          </a:p>
        </p:txBody>
      </p:sp>
      <p:pic>
        <p:nvPicPr>
          <p:cNvPr id="591" name="Google Shape;59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4800" y="1373750"/>
            <a:ext cx="4244401" cy="3056943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61"/>
          <p:cNvSpPr/>
          <p:nvPr/>
        </p:nvSpPr>
        <p:spPr>
          <a:xfrm>
            <a:off x="6497625" y="2620900"/>
            <a:ext cx="764400" cy="862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598" name="Google Shape;598;p62"/>
          <p:cNvSpPr txBox="1"/>
          <p:nvPr>
            <p:ph idx="1" type="body"/>
          </p:nvPr>
        </p:nvSpPr>
        <p:spPr>
          <a:xfrm>
            <a:off x="311700" y="1225225"/>
            <a:ext cx="42831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opposite of having structural holes is what Burt calls </a:t>
            </a:r>
            <a:r>
              <a:rPr b="1" lang="en"/>
              <a:t>Network Constraint</a:t>
            </a:r>
            <a:endParaRPr b="1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In a high constraint network: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Your contacts are connected to one another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are subject to the strong expectations of a single group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depend on others for information access</a:t>
            </a:r>
            <a:endParaRPr/>
          </a:p>
        </p:txBody>
      </p:sp>
      <p:pic>
        <p:nvPicPr>
          <p:cNvPr id="599" name="Google Shape;59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4800" y="1373750"/>
            <a:ext cx="4244401" cy="3056943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2"/>
          <p:cNvSpPr/>
          <p:nvPr/>
        </p:nvSpPr>
        <p:spPr>
          <a:xfrm>
            <a:off x="8168425" y="2336975"/>
            <a:ext cx="764400" cy="862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Coefficient</a:t>
            </a:r>
            <a:endParaRPr/>
          </a:p>
        </p:txBody>
      </p:sp>
      <p:sp>
        <p:nvSpPr>
          <p:cNvPr id="606" name="Google Shape;606;p63"/>
          <p:cNvSpPr/>
          <p:nvPr/>
        </p:nvSpPr>
        <p:spPr>
          <a:xfrm>
            <a:off x="576075" y="114721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07" name="Google Shape;607;p63"/>
          <p:cNvSpPr/>
          <p:nvPr/>
        </p:nvSpPr>
        <p:spPr>
          <a:xfrm>
            <a:off x="576075" y="226637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08" name="Google Shape;608;p63"/>
          <p:cNvSpPr/>
          <p:nvPr/>
        </p:nvSpPr>
        <p:spPr>
          <a:xfrm>
            <a:off x="1541077" y="226637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09" name="Google Shape;609;p63"/>
          <p:cNvSpPr/>
          <p:nvPr/>
        </p:nvSpPr>
        <p:spPr>
          <a:xfrm>
            <a:off x="977501" y="1632586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0" name="Google Shape;610;p63"/>
          <p:cNvSpPr/>
          <p:nvPr/>
        </p:nvSpPr>
        <p:spPr>
          <a:xfrm>
            <a:off x="1541071" y="1147214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611" name="Google Shape;611;p63"/>
          <p:cNvCxnSpPr>
            <a:stCxn id="610" idx="4"/>
            <a:endCxn id="609" idx="7"/>
          </p:cNvCxnSpPr>
          <p:nvPr/>
        </p:nvCxnSpPr>
        <p:spPr>
          <a:xfrm flipH="1">
            <a:off x="1452571" y="1501214"/>
            <a:ext cx="263400" cy="200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63"/>
          <p:cNvCxnSpPr>
            <a:stCxn id="606" idx="4"/>
            <a:endCxn id="609" idx="1"/>
          </p:cNvCxnSpPr>
          <p:nvPr/>
        </p:nvCxnSpPr>
        <p:spPr>
          <a:xfrm>
            <a:off x="750975" y="1501213"/>
            <a:ext cx="308100" cy="200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63"/>
          <p:cNvCxnSpPr>
            <a:stCxn id="607" idx="0"/>
            <a:endCxn id="609" idx="3"/>
          </p:cNvCxnSpPr>
          <p:nvPr/>
        </p:nvCxnSpPr>
        <p:spPr>
          <a:xfrm flipH="1" rot="10800000">
            <a:off x="750975" y="2035073"/>
            <a:ext cx="308100" cy="231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63"/>
          <p:cNvCxnSpPr>
            <a:stCxn id="609" idx="5"/>
            <a:endCxn id="608" idx="0"/>
          </p:cNvCxnSpPr>
          <p:nvPr/>
        </p:nvCxnSpPr>
        <p:spPr>
          <a:xfrm>
            <a:off x="1452504" y="2035122"/>
            <a:ext cx="263400" cy="231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63"/>
          <p:cNvSpPr/>
          <p:nvPr/>
        </p:nvSpPr>
        <p:spPr>
          <a:xfrm>
            <a:off x="3837985" y="1177159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6" name="Google Shape;616;p63"/>
          <p:cNvSpPr/>
          <p:nvPr/>
        </p:nvSpPr>
        <p:spPr>
          <a:xfrm>
            <a:off x="3837985" y="2296318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7" name="Google Shape;617;p63"/>
          <p:cNvSpPr/>
          <p:nvPr/>
        </p:nvSpPr>
        <p:spPr>
          <a:xfrm>
            <a:off x="4802986" y="2296318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8" name="Google Shape;618;p63"/>
          <p:cNvSpPr/>
          <p:nvPr/>
        </p:nvSpPr>
        <p:spPr>
          <a:xfrm>
            <a:off x="4239411" y="1662532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9" name="Google Shape;619;p63"/>
          <p:cNvSpPr/>
          <p:nvPr/>
        </p:nvSpPr>
        <p:spPr>
          <a:xfrm>
            <a:off x="4802981" y="1177160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620" name="Google Shape;620;p63"/>
          <p:cNvCxnSpPr>
            <a:stCxn id="619" idx="4"/>
            <a:endCxn id="618" idx="7"/>
          </p:cNvCxnSpPr>
          <p:nvPr/>
        </p:nvCxnSpPr>
        <p:spPr>
          <a:xfrm flipH="1">
            <a:off x="4714481" y="1531160"/>
            <a:ext cx="263400" cy="200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63"/>
          <p:cNvCxnSpPr>
            <a:stCxn id="615" idx="4"/>
            <a:endCxn id="618" idx="1"/>
          </p:cNvCxnSpPr>
          <p:nvPr/>
        </p:nvCxnSpPr>
        <p:spPr>
          <a:xfrm>
            <a:off x="4012885" y="1531159"/>
            <a:ext cx="308100" cy="200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63"/>
          <p:cNvCxnSpPr>
            <a:stCxn id="616" idx="0"/>
            <a:endCxn id="618" idx="3"/>
          </p:cNvCxnSpPr>
          <p:nvPr/>
        </p:nvCxnSpPr>
        <p:spPr>
          <a:xfrm flipH="1" rot="10800000">
            <a:off x="4012885" y="2065018"/>
            <a:ext cx="308100" cy="231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63"/>
          <p:cNvCxnSpPr>
            <a:stCxn id="618" idx="5"/>
            <a:endCxn id="617" idx="0"/>
          </p:cNvCxnSpPr>
          <p:nvPr/>
        </p:nvCxnSpPr>
        <p:spPr>
          <a:xfrm>
            <a:off x="4714413" y="2065068"/>
            <a:ext cx="263400" cy="231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63"/>
          <p:cNvSpPr/>
          <p:nvPr/>
        </p:nvSpPr>
        <p:spPr>
          <a:xfrm>
            <a:off x="6999769" y="114721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5" name="Google Shape;625;p63"/>
          <p:cNvSpPr/>
          <p:nvPr/>
        </p:nvSpPr>
        <p:spPr>
          <a:xfrm>
            <a:off x="6999769" y="226637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6" name="Google Shape;626;p63"/>
          <p:cNvSpPr/>
          <p:nvPr/>
        </p:nvSpPr>
        <p:spPr>
          <a:xfrm>
            <a:off x="7964770" y="2266373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7" name="Google Shape;627;p63"/>
          <p:cNvSpPr/>
          <p:nvPr/>
        </p:nvSpPr>
        <p:spPr>
          <a:xfrm>
            <a:off x="7401195" y="1632586"/>
            <a:ext cx="556500" cy="4716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8" name="Google Shape;628;p63"/>
          <p:cNvSpPr/>
          <p:nvPr/>
        </p:nvSpPr>
        <p:spPr>
          <a:xfrm>
            <a:off x="7964765" y="1147214"/>
            <a:ext cx="349800" cy="354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629" name="Google Shape;629;p63"/>
          <p:cNvCxnSpPr>
            <a:stCxn id="628" idx="4"/>
            <a:endCxn id="627" idx="7"/>
          </p:cNvCxnSpPr>
          <p:nvPr/>
        </p:nvCxnSpPr>
        <p:spPr>
          <a:xfrm flipH="1">
            <a:off x="7876265" y="1501214"/>
            <a:ext cx="263400" cy="200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63"/>
          <p:cNvCxnSpPr>
            <a:stCxn id="624" idx="4"/>
            <a:endCxn id="627" idx="1"/>
          </p:cNvCxnSpPr>
          <p:nvPr/>
        </p:nvCxnSpPr>
        <p:spPr>
          <a:xfrm>
            <a:off x="7174669" y="1501213"/>
            <a:ext cx="308100" cy="200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63"/>
          <p:cNvCxnSpPr>
            <a:stCxn id="625" idx="0"/>
            <a:endCxn id="627" idx="3"/>
          </p:cNvCxnSpPr>
          <p:nvPr/>
        </p:nvCxnSpPr>
        <p:spPr>
          <a:xfrm flipH="1" rot="10800000">
            <a:off x="7174669" y="2035073"/>
            <a:ext cx="308100" cy="231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63"/>
          <p:cNvCxnSpPr>
            <a:stCxn id="627" idx="5"/>
            <a:endCxn id="626" idx="0"/>
          </p:cNvCxnSpPr>
          <p:nvPr/>
        </p:nvCxnSpPr>
        <p:spPr>
          <a:xfrm>
            <a:off x="7876198" y="2035122"/>
            <a:ext cx="263400" cy="231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633" name="Google Shape;633;p63"/>
          <p:cNvGraphicFramePr/>
          <p:nvPr/>
        </p:nvGraphicFramePr>
        <p:xfrm>
          <a:off x="829688" y="2894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248200"/>
                <a:gridCol w="248200"/>
                <a:gridCol w="248200"/>
                <a:gridCol w="248200"/>
                <a:gridCol w="248200"/>
              </a:tblGrid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a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b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c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d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0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0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0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0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0 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0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634" name="Google Shape;634;p63"/>
          <p:cNvGraphicFramePr/>
          <p:nvPr/>
        </p:nvGraphicFramePr>
        <p:xfrm>
          <a:off x="4069313" y="2954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248200"/>
                <a:gridCol w="248200"/>
                <a:gridCol w="248200"/>
                <a:gridCol w="248200"/>
                <a:gridCol w="248200"/>
              </a:tblGrid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a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b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c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d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1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1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0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0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0 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1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635" name="Google Shape;635;p63"/>
          <p:cNvGraphicFramePr/>
          <p:nvPr/>
        </p:nvGraphicFramePr>
        <p:xfrm>
          <a:off x="7231038" y="2922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{81A8FFFF-8693-41D4-B03B-5302D857346D}</a:tableStyleId>
              </a:tblPr>
              <a:tblGrid>
                <a:gridCol w="248200"/>
                <a:gridCol w="248200"/>
                <a:gridCol w="248200"/>
                <a:gridCol w="248200"/>
                <a:gridCol w="248200"/>
              </a:tblGrid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a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b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c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d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1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1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B7B7B7"/>
                          </a:solidFill>
                        </a:rPr>
                        <a:t>1</a:t>
                      </a:r>
                      <a:endParaRPr sz="1200">
                        <a:solidFill>
                          <a:srgbClr val="B7B7B7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1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1 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CCCCCC"/>
                          </a:solidFill>
                        </a:rPr>
                        <a:t>1</a:t>
                      </a:r>
                      <a:endParaRPr sz="1200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23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636" name="Google Shape;636;p63"/>
          <p:cNvSpPr txBox="1"/>
          <p:nvPr/>
        </p:nvSpPr>
        <p:spPr>
          <a:xfrm>
            <a:off x="882150" y="4094613"/>
            <a:ext cx="12411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CC</a:t>
            </a:r>
            <a:r>
              <a:rPr b="1" baseline="-25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ego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= 0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37" name="Google Shape;637;p63"/>
          <p:cNvSpPr txBox="1"/>
          <p:nvPr/>
        </p:nvSpPr>
        <p:spPr>
          <a:xfrm>
            <a:off x="4144050" y="4143413"/>
            <a:ext cx="12411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CC</a:t>
            </a:r>
            <a:r>
              <a:rPr b="1" baseline="-25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ego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= 0.5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38" name="Google Shape;638;p63"/>
          <p:cNvSpPr txBox="1"/>
          <p:nvPr/>
        </p:nvSpPr>
        <p:spPr>
          <a:xfrm>
            <a:off x="7231000" y="4143413"/>
            <a:ext cx="12411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CC</a:t>
            </a:r>
            <a:r>
              <a:rPr b="1" baseline="-25000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ego</a:t>
            </a:r>
            <a:r>
              <a:rPr b="1" lang="en" sz="1800">
                <a:solidFill>
                  <a:srgbClr val="A61C00"/>
                </a:solidFill>
                <a:latin typeface="Economica"/>
                <a:ea typeface="Economica"/>
                <a:cs typeface="Economica"/>
                <a:sym typeface="Economica"/>
              </a:rPr>
              <a:t>= 1.0</a:t>
            </a:r>
            <a:endParaRPr b="1" sz="1800">
              <a:solidFill>
                <a:srgbClr val="A61C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39" name="Google Shape;639;p63"/>
          <p:cNvCxnSpPr>
            <a:stCxn id="615" idx="4"/>
            <a:endCxn id="616" idx="0"/>
          </p:cNvCxnSpPr>
          <p:nvPr/>
        </p:nvCxnSpPr>
        <p:spPr>
          <a:xfrm>
            <a:off x="4012885" y="1531159"/>
            <a:ext cx="0" cy="765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63"/>
          <p:cNvCxnSpPr>
            <a:stCxn id="617" idx="2"/>
            <a:endCxn id="616" idx="6"/>
          </p:cNvCxnSpPr>
          <p:nvPr/>
        </p:nvCxnSpPr>
        <p:spPr>
          <a:xfrm rot="10800000">
            <a:off x="4187686" y="2473318"/>
            <a:ext cx="6153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63"/>
          <p:cNvCxnSpPr>
            <a:stCxn id="619" idx="2"/>
            <a:endCxn id="615" idx="6"/>
          </p:cNvCxnSpPr>
          <p:nvPr/>
        </p:nvCxnSpPr>
        <p:spPr>
          <a:xfrm rot="10800000">
            <a:off x="4187681" y="1354160"/>
            <a:ext cx="6153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63"/>
          <p:cNvCxnSpPr>
            <a:stCxn id="624" idx="4"/>
            <a:endCxn id="625" idx="0"/>
          </p:cNvCxnSpPr>
          <p:nvPr/>
        </p:nvCxnSpPr>
        <p:spPr>
          <a:xfrm>
            <a:off x="7174669" y="1501213"/>
            <a:ext cx="0" cy="765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63"/>
          <p:cNvCxnSpPr>
            <a:stCxn id="628" idx="2"/>
            <a:endCxn id="624" idx="6"/>
          </p:cNvCxnSpPr>
          <p:nvPr/>
        </p:nvCxnSpPr>
        <p:spPr>
          <a:xfrm rot="10800000">
            <a:off x="7349465" y="1324214"/>
            <a:ext cx="6153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63"/>
          <p:cNvCxnSpPr>
            <a:stCxn id="628" idx="4"/>
            <a:endCxn id="626" idx="0"/>
          </p:cNvCxnSpPr>
          <p:nvPr/>
        </p:nvCxnSpPr>
        <p:spPr>
          <a:xfrm>
            <a:off x="8139665" y="1501214"/>
            <a:ext cx="0" cy="765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63"/>
          <p:cNvCxnSpPr>
            <a:stCxn id="626" idx="2"/>
            <a:endCxn id="625" idx="6"/>
          </p:cNvCxnSpPr>
          <p:nvPr/>
        </p:nvCxnSpPr>
        <p:spPr>
          <a:xfrm rot="10800000">
            <a:off x="7349470" y="2443373"/>
            <a:ext cx="6153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63"/>
          <p:cNvCxnSpPr>
            <a:stCxn id="624" idx="2"/>
            <a:endCxn id="626" idx="5"/>
          </p:cNvCxnSpPr>
          <p:nvPr/>
        </p:nvCxnSpPr>
        <p:spPr>
          <a:xfrm>
            <a:off x="6999769" y="1324213"/>
            <a:ext cx="1263600" cy="1244400"/>
          </a:xfrm>
          <a:prstGeom prst="curvedConnector4">
            <a:avLst>
              <a:gd fmla="val -30474" name="adj1"/>
              <a:gd fmla="val 122023" name="adj2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63"/>
          <p:cNvCxnSpPr>
            <a:stCxn id="628" idx="6"/>
            <a:endCxn id="625" idx="4"/>
          </p:cNvCxnSpPr>
          <p:nvPr/>
        </p:nvCxnSpPr>
        <p:spPr>
          <a:xfrm flipH="1">
            <a:off x="7174565" y="1324214"/>
            <a:ext cx="1140000" cy="1296300"/>
          </a:xfrm>
          <a:prstGeom prst="curvedConnector4">
            <a:avLst>
              <a:gd fmla="val -35523" name="adj1"/>
              <a:gd fmla="val 117148" name="adj2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8" name="Google Shape;648;p63"/>
          <p:cNvSpPr txBox="1"/>
          <p:nvPr/>
        </p:nvSpPr>
        <p:spPr>
          <a:xfrm>
            <a:off x="218850" y="4681950"/>
            <a:ext cx="19953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Unclustered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49" name="Google Shape;649;p63"/>
          <p:cNvCxnSpPr>
            <a:stCxn id="648" idx="3"/>
            <a:endCxn id="650" idx="1"/>
          </p:cNvCxnSpPr>
          <p:nvPr/>
        </p:nvCxnSpPr>
        <p:spPr>
          <a:xfrm>
            <a:off x="2214150" y="4828950"/>
            <a:ext cx="4873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650" name="Google Shape;650;p63"/>
          <p:cNvSpPr txBox="1"/>
          <p:nvPr/>
        </p:nvSpPr>
        <p:spPr>
          <a:xfrm>
            <a:off x="7087504" y="4681950"/>
            <a:ext cx="19953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Clustered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656" name="Google Shape;656;p64"/>
          <p:cNvSpPr txBox="1"/>
          <p:nvPr>
            <p:ph idx="1" type="body"/>
          </p:nvPr>
        </p:nvSpPr>
        <p:spPr>
          <a:xfrm>
            <a:off x="311700" y="1225225"/>
            <a:ext cx="8520600" cy="1383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Evidence for structural holes argument (Burt 2005):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corporate settings people who have networks rich in structural holes (low constraint):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Receive higher salaries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Get promoted faster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Receive better performance evaluations</a:t>
            </a:r>
            <a:endParaRPr/>
          </a:p>
          <a:p>
            <a:pPr indent="0" lvl="0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57" name="Google Shape;65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1327" y="2608225"/>
            <a:ext cx="5741349" cy="23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663" name="Google Shape;663;p65"/>
          <p:cNvSpPr txBox="1"/>
          <p:nvPr>
            <p:ph idx="1" type="body"/>
          </p:nvPr>
        </p:nvSpPr>
        <p:spPr>
          <a:xfrm>
            <a:off x="311700" y="1225225"/>
            <a:ext cx="4408200" cy="3589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Why do people located in between structural holes do better?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have better ideas (Burt 2005)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do they have better ideas?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can combine elements from different sources to create novel combinations</a:t>
            </a:r>
            <a:endParaRPr/>
          </a:p>
          <a:p>
            <a:pPr indent="0" lvl="0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64" name="Google Shape;664;p65"/>
          <p:cNvPicPr preferRelativeResize="0"/>
          <p:nvPr/>
        </p:nvPicPr>
        <p:blipFill rotWithShape="1">
          <a:blip r:embed="rId3">
            <a:alphaModFix/>
          </a:blip>
          <a:srcRect b="16269" l="15117" r="10561" t="16917"/>
          <a:stretch/>
        </p:blipFill>
        <p:spPr>
          <a:xfrm>
            <a:off x="4719900" y="1470438"/>
            <a:ext cx="4112400" cy="277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2000" y="3324096"/>
            <a:ext cx="1918750" cy="138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