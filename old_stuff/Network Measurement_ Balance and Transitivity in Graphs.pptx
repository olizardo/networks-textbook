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5143500" cx="9144000"/>
  <p:notesSz cx="6858000" cy="9144000"/>
  <p:embeddedFontLst>
    <p:embeddedFont>
      <p:font typeface="Economica"/>
      <p:regular r:id="rId28"/>
      <p:bold r:id="rId29"/>
      <p:italic r:id="rId30"/>
      <p:boldItalic r:id="rId31"/>
    </p:embeddedFont>
    <p:embeddedFont>
      <p:font typeface="Garamond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Economica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Economica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Economica-boldItalic.fntdata"/><Relationship Id="rId30" Type="http://schemas.openxmlformats.org/officeDocument/2006/relationships/font" Target="fonts/Economica-italic.fntdata"/><Relationship Id="rId11" Type="http://schemas.openxmlformats.org/officeDocument/2006/relationships/slide" Target="slides/slide7.xml"/><Relationship Id="rId33" Type="http://schemas.openxmlformats.org/officeDocument/2006/relationships/font" Target="fonts/Garamond-bold.fntdata"/><Relationship Id="rId10" Type="http://schemas.openxmlformats.org/officeDocument/2006/relationships/slide" Target="slides/slide6.xml"/><Relationship Id="rId32" Type="http://schemas.openxmlformats.org/officeDocument/2006/relationships/font" Target="fonts/Garamond-regular.fntdata"/><Relationship Id="rId13" Type="http://schemas.openxmlformats.org/officeDocument/2006/relationships/slide" Target="slides/slide9.xml"/><Relationship Id="rId35" Type="http://schemas.openxmlformats.org/officeDocument/2006/relationships/font" Target="fonts/Garamond-boldItalic.fntdata"/><Relationship Id="rId12" Type="http://schemas.openxmlformats.org/officeDocument/2006/relationships/slide" Target="slides/slide8.xml"/><Relationship Id="rId34" Type="http://schemas.openxmlformats.org/officeDocument/2006/relationships/font" Target="fonts/Garamond-italic.fntdata"/><Relationship Id="rId15" Type="http://schemas.openxmlformats.org/officeDocument/2006/relationships/slide" Target="slides/slide11.xml"/><Relationship Id="rId37" Type="http://schemas.openxmlformats.org/officeDocument/2006/relationships/font" Target="fonts/OpenSans-bold.fntdata"/><Relationship Id="rId14" Type="http://schemas.openxmlformats.org/officeDocument/2006/relationships/slide" Target="slides/slide10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3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12.xml"/><Relationship Id="rId38" Type="http://schemas.openxmlformats.org/officeDocument/2006/relationships/font" Target="fonts/OpenSans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652eeca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652eeca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76890945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76890945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768909453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768909453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652eeca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652eeca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7652eeca1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7652eeca1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768909453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768909453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768909453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768909453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768909453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768909453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68909453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68909453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768909453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768909453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7652eeca1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7652eeca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768909453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768909453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768909453_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768909453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768909453_2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768909453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768909453_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768909453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768909453_2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768909453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7652eeca1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7652eeca1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768909453_2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768909453_2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768909453_2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768909453_2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768909453_2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768909453_2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768909453_2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768909453_2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76890945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76890945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jpg"/><Relationship Id="rId4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937823"/>
            <a:ext cx="3054600" cy="204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Transitivity in Graphs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4896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Clustering</a:t>
            </a:r>
            <a:r>
              <a:rPr lang="en"/>
              <a:t> is the key index of triadic 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Akin to Mathematical transitivity; relation </a:t>
            </a:r>
            <a:r>
              <a:rPr b="1" lang="en"/>
              <a:t>R</a:t>
            </a:r>
            <a:r>
              <a:rPr lang="en"/>
              <a:t> is transitive iff: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="1" lang="en"/>
              <a:t>R</a:t>
            </a:r>
            <a:r>
              <a:rPr lang="en"/>
              <a:t>b, and b</a:t>
            </a:r>
            <a:r>
              <a:rPr b="1" lang="en"/>
              <a:t>R</a:t>
            </a:r>
            <a:r>
              <a:rPr lang="en"/>
              <a:t>c jointly imply a</a:t>
            </a:r>
            <a:r>
              <a:rPr b="1" lang="en"/>
              <a:t>R</a:t>
            </a:r>
            <a:r>
              <a:rPr lang="en"/>
              <a:t>c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Equality, Less than, Greater than, etc.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reasoning applies to social relationships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 rotWithShape="1">
          <a:blip r:embed="rId3">
            <a:alphaModFix/>
          </a:blip>
          <a:srcRect b="0" l="0" r="0" t="8257"/>
          <a:stretch/>
        </p:blipFill>
        <p:spPr>
          <a:xfrm>
            <a:off x="5259675" y="1327900"/>
            <a:ext cx="2905525" cy="314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r>
              <a:rPr lang="en"/>
              <a:t> (Global)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simple way to quantify the level of clustering in a whole network is to think of as a probability (Ophsal 2013)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this case, it is the conditional probability that (for any three vertices u, w, v):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If we observe the uw edge and the uv edge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We will also observe the wv edge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 that condition (i) defines a path of length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a way to quantify clustering in the whole network is simply to: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Count all of the paths of length two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Determine how many of them are closed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Divide the last quantity by the first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r>
              <a:rPr lang="en"/>
              <a:t> (Global)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simple way to quantify the level of transitivity in a whole network is to think of as a probability (Ophsal 2013)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this case, it is the conditional probability that (for any three vertices u, w, v):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If we observe the uw edge and the uv edge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We will also observe the wv edge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 that condition (i) defines a path of length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a way to quantify transitivity in the network is simply to: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shot 2017-09-26 at 07.11.56.png"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338" y="3372400"/>
            <a:ext cx="5172075" cy="10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r>
              <a:rPr lang="en"/>
              <a:t> (Local)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Local clustering is given by</a:t>
            </a:r>
            <a:r>
              <a:rPr lang="en"/>
              <a:t> the simple clustering coefficient at the ego-network level: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Where g</a:t>
            </a:r>
            <a:r>
              <a:rPr baseline="-25000" lang="en"/>
              <a:t>jk</a:t>
            </a:r>
            <a:r>
              <a:rPr lang="en"/>
              <a:t> = 1 if i's j</a:t>
            </a:r>
            <a:r>
              <a:rPr baseline="30000" lang="en"/>
              <a:t>th</a:t>
            </a:r>
            <a:r>
              <a:rPr lang="en"/>
              <a:t> neighbor is connected to her k</a:t>
            </a:r>
            <a:r>
              <a:rPr baseline="30000" lang="en"/>
              <a:t>th</a:t>
            </a:r>
            <a:r>
              <a:rPr lang="en"/>
              <a:t> neighbor, and k</a:t>
            </a:r>
            <a:r>
              <a:rPr baseline="-25000" lang="en"/>
              <a:t>i</a:t>
            </a:r>
            <a:r>
              <a:rPr lang="en"/>
              <a:t> is i's total number of neighbors.</a:t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5100" y="1691125"/>
            <a:ext cx="1715750" cy="939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17-09-26 at 07.23.55.png"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850" y="3394963"/>
            <a:ext cx="7534275" cy="8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r>
              <a:rPr lang="en"/>
              <a:t> (Local)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then characterize the global structure from the local by computing: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Average Clustering Coefficient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6214" y="2354236"/>
            <a:ext cx="1628707" cy="8798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17-09-26 at 07.23.55.png"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850" y="3394963"/>
            <a:ext cx="7534275" cy="8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Transitivity (Local)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225225"/>
            <a:ext cx="426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figure out the relationship between k</a:t>
            </a:r>
            <a:r>
              <a:rPr baseline="-25000" lang="en"/>
              <a:t>i</a:t>
            </a:r>
            <a:r>
              <a:rPr lang="en"/>
              <a:t> and C(k</a:t>
            </a:r>
            <a:r>
              <a:rPr baseline="-25000" lang="en"/>
              <a:t>i</a:t>
            </a:r>
            <a:r>
              <a:rPr lang="en"/>
              <a:t>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Vertex degree and the average clustering for vertices of degree 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Strong Negative dependence of C(k) on k may indicate that the network relies on hubs as connectors between disparate worlds.</a:t>
            </a:r>
            <a:endParaRPr/>
          </a:p>
        </p:txBody>
      </p:sp>
      <p:pic>
        <p:nvPicPr>
          <p:cNvPr descr="Tutorial01_03.png"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6300" y="1302475"/>
            <a:ext cx="4266000" cy="319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r>
              <a:rPr lang="en"/>
              <a:t> in weighted networks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is no agreed upon way to generalize the clustering coefficient to weighted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intuitive measure was first proposed by Barrat et al (2004)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</a:t>
            </a:r>
            <a:r>
              <a:rPr b="1" lang="en"/>
              <a:t>weighted local clustering coefficient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average of the average weights that i has with each neighbor (j, h) in a connected triplet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Ignores</a:t>
            </a:r>
            <a:r>
              <a:rPr lang="en"/>
              <a:t> the weight of the connection between the two neighbors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shot 2017-09-26 at 07.40.48.png" id="113" name="Google Shape;113;p20"/>
          <p:cNvPicPr preferRelativeResize="0"/>
          <p:nvPr/>
        </p:nvPicPr>
        <p:blipFill rotWithShape="1">
          <a:blip r:embed="rId3">
            <a:alphaModFix/>
          </a:blip>
          <a:srcRect b="10064" l="15903" r="7970" t="15058"/>
          <a:stretch/>
        </p:blipFill>
        <p:spPr>
          <a:xfrm>
            <a:off x="2382150" y="2563838"/>
            <a:ext cx="4379701" cy="87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r>
              <a:rPr lang="en"/>
              <a:t> in weighted networks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is no agreed upon way to generalize the clustering coefficient to weighted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Another intuitive proposal is Onnela et al’s (2005)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</a:t>
            </a:r>
            <a:r>
              <a:rPr b="1" lang="en"/>
              <a:t>average triangle intensity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the average geometric mean of the weights of the triangle centered on vertex i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Less sensitive to extreme values)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Does not ignore </a:t>
            </a:r>
            <a:r>
              <a:rPr lang="en"/>
              <a:t>the weight of the connection between the two neighbors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7212" y="2526248"/>
            <a:ext cx="4589574" cy="57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r>
              <a:rPr lang="en"/>
              <a:t> in weighted networks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225225"/>
            <a:ext cx="4193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Extending the notion of </a:t>
            </a:r>
            <a:r>
              <a:rPr b="1" lang="en"/>
              <a:t>global</a:t>
            </a:r>
            <a:r>
              <a:rPr lang="en"/>
              <a:t> clustering coefficient to the weighted case not straightforward (Opshal and Panzarasa 2009)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Want to keep an analogy with probability (0, 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Need to choose a metric for the value of a connected triple (ω)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Arithmetic mean of link weights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Geometric mean of link weights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Max/Min link weight</a:t>
            </a:r>
            <a:endParaRPr/>
          </a:p>
        </p:txBody>
      </p:sp>
      <p:pic>
        <p:nvPicPr>
          <p:cNvPr descr="Screenshot 2017-09-26 at 08.08.37.png"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5400" y="1821463"/>
            <a:ext cx="4333800" cy="2161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r>
              <a:rPr lang="en"/>
              <a:t> in weighted networks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225225"/>
            <a:ext cx="4667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Decide on a method to compute the value of a triplet (a three-some of connected vertices), such as the geometric means of the weights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Compute the value of all closed triplets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Divide (a) by the value all triplets: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C(a) = C(b) = 0.33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Cω,gm(a) = 0.44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Cω,gm(b) = 0.23</a:t>
            </a:r>
            <a:endParaRPr/>
          </a:p>
        </p:txBody>
      </p:sp>
      <p:grpSp>
        <p:nvGrpSpPr>
          <p:cNvPr id="134" name="Google Shape;134;p23"/>
          <p:cNvGrpSpPr/>
          <p:nvPr/>
        </p:nvGrpSpPr>
        <p:grpSpPr>
          <a:xfrm>
            <a:off x="5823980" y="1225167"/>
            <a:ext cx="1881874" cy="3354108"/>
            <a:chOff x="5601400" y="1225225"/>
            <a:chExt cx="2028100" cy="3551200"/>
          </a:xfrm>
        </p:grpSpPr>
        <p:pic>
          <p:nvPicPr>
            <p:cNvPr id="135" name="Google Shape;135;p23"/>
            <p:cNvPicPr preferRelativeResize="0"/>
            <p:nvPr/>
          </p:nvPicPr>
          <p:blipFill rotWithShape="1">
            <a:blip r:embed="rId3">
              <a:alphaModFix/>
            </a:blip>
            <a:srcRect b="0" l="0" r="50246" t="0"/>
            <a:stretch/>
          </p:blipFill>
          <p:spPr>
            <a:xfrm>
              <a:off x="5601400" y="1225225"/>
              <a:ext cx="2028100" cy="177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23"/>
            <p:cNvPicPr preferRelativeResize="0"/>
            <p:nvPr/>
          </p:nvPicPr>
          <p:blipFill rotWithShape="1">
            <a:blip r:embed="rId3">
              <a:alphaModFix/>
            </a:blip>
            <a:srcRect b="0" l="50246" r="0" t="0"/>
            <a:stretch/>
          </p:blipFill>
          <p:spPr>
            <a:xfrm>
              <a:off x="5601400" y="3000825"/>
              <a:ext cx="2028100" cy="1775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notion of clustering is dependent on the notion of “neighborhood” or 1-step connectivity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extend this “degree centrality” notion to two-mode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persons: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neighbors is number of 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groups: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neighbors is the number of people in a group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Same for “distance-2” neighbors: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persons, number of other persons reachable by virtue of belonging to a given number of groups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groups, number of other groups </a:t>
            </a:r>
            <a:r>
              <a:rPr lang="en"/>
              <a:t>reachable</a:t>
            </a:r>
            <a:r>
              <a:rPr lang="en"/>
              <a:t> by virtue of having a given number of people as members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Finding an analogue for the </a:t>
            </a:r>
            <a:r>
              <a:rPr b="1" lang="en"/>
              <a:t>local clustering coefficient</a:t>
            </a:r>
            <a:r>
              <a:rPr lang="en"/>
              <a:t> for each type of vertex (person or group) in two mode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First define a </a:t>
            </a:r>
            <a:r>
              <a:rPr b="1" lang="en"/>
              <a:t>pairwise clustering coefficient </a:t>
            </a:r>
            <a:r>
              <a:rPr lang="en"/>
              <a:t>between any two nodes cc.(u, v) which belong to the same set (persons or groups) is given by the intersection of their one-step neighborhood divided by their union: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5888" y="2740311"/>
            <a:ext cx="2092218" cy="590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113" y="3569575"/>
            <a:ext cx="7751762" cy="1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Finding an analogue for the </a:t>
            </a:r>
            <a:r>
              <a:rPr b="1" lang="en"/>
              <a:t>local clustering coefficient</a:t>
            </a:r>
            <a:r>
              <a:rPr lang="en"/>
              <a:t> for each type of vertex (person or group) in two mode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Second, take the </a:t>
            </a:r>
            <a:r>
              <a:rPr b="1" lang="en"/>
              <a:t>average pairwise clustering</a:t>
            </a:r>
            <a:r>
              <a:rPr lang="en"/>
              <a:t> of a given vertex’s distance-2 neighbors: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113" y="3569575"/>
            <a:ext cx="7751762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9038" y="2601631"/>
            <a:ext cx="2395200" cy="601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there is heterogeneity in the (top or bottom) degree, the standard intersection over union strategy to measure dyadic clustering may not be effective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likely that one node's neighborhood will be completely swamped by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that case using a </a:t>
            </a:r>
            <a:r>
              <a:rPr b="1" lang="en"/>
              <a:t>min or max pairwise clustering </a:t>
            </a:r>
            <a:r>
              <a:rPr lang="en"/>
              <a:t>might be more appropriate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		</a:t>
            </a:r>
            <a:endParaRPr/>
          </a:p>
        </p:txBody>
      </p:sp>
      <p:pic>
        <p:nvPicPr>
          <p:cNvPr id="165" name="Google Shape;16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113" y="3569575"/>
            <a:ext cx="7751762" cy="1009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27"/>
          <p:cNvGrpSpPr/>
          <p:nvPr/>
        </p:nvGrpSpPr>
        <p:grpSpPr>
          <a:xfrm>
            <a:off x="2239340" y="2910095"/>
            <a:ext cx="4665322" cy="495062"/>
            <a:chOff x="1083513" y="2778075"/>
            <a:chExt cx="6175963" cy="666750"/>
          </a:xfrm>
        </p:grpSpPr>
        <p:pic>
          <p:nvPicPr>
            <p:cNvPr id="167" name="Google Shape;167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430550" y="2778075"/>
              <a:ext cx="2828925" cy="666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2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83513" y="2778075"/>
              <a:ext cx="2790825" cy="666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follow a similar approach to define the average clustering for all person (↑) and group (↓) nodes: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Total two-mode network clustering: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113" y="3569575"/>
            <a:ext cx="7751762" cy="1009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" name="Google Shape;176;p28"/>
          <p:cNvGrpSpPr/>
          <p:nvPr/>
        </p:nvGrpSpPr>
        <p:grpSpPr>
          <a:xfrm>
            <a:off x="2217663" y="2025025"/>
            <a:ext cx="4708650" cy="666750"/>
            <a:chOff x="2146463" y="1973825"/>
            <a:chExt cx="4708650" cy="666750"/>
          </a:xfrm>
        </p:grpSpPr>
        <p:pic>
          <p:nvPicPr>
            <p:cNvPr id="177" name="Google Shape;177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146463" y="1973825"/>
              <a:ext cx="2085975" cy="666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50088" y="1973825"/>
              <a:ext cx="2105025" cy="666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9" name="Google Shape;179;p28"/>
          <p:cNvSpPr txBox="1"/>
          <p:nvPr/>
        </p:nvSpPr>
        <p:spPr>
          <a:xfrm>
            <a:off x="2415900" y="2977800"/>
            <a:ext cx="43122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cc(G) = (n↑cc.(↑) + n↓cc.(↓)) / (n↑n↓</a:t>
            </a:r>
            <a:r>
              <a:rPr lang="en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113" y="3569575"/>
            <a:ext cx="7751762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9"/>
          <p:cNvPicPr preferRelativeResize="0"/>
          <p:nvPr/>
        </p:nvPicPr>
        <p:blipFill rotWithShape="1">
          <a:blip r:embed="rId4">
            <a:alphaModFix/>
          </a:blip>
          <a:srcRect b="0" l="0" r="44809" t="15125"/>
          <a:stretch/>
        </p:blipFill>
        <p:spPr>
          <a:xfrm>
            <a:off x="1274525" y="1334225"/>
            <a:ext cx="5918199" cy="223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sp>
        <p:nvSpPr>
          <p:cNvPr id="193" name="Google Shape;193;p3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previous definition of clustering uses the average across person and group nodes: Global derived from local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what about a measure of </a:t>
            </a:r>
            <a:r>
              <a:rPr b="1" lang="en"/>
              <a:t>global clustering </a:t>
            </a:r>
            <a:r>
              <a:rPr lang="en"/>
              <a:t>for two modes?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get this by the analogy of “counting triangles” in the whole graph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Instead, we count "quadruplets" (four node sets with two nodes of each kind and least three edges)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cxnSp>
        <p:nvCxnSpPr>
          <p:cNvPr id="194" name="Google Shape;194;p30"/>
          <p:cNvCxnSpPr>
            <a:stCxn id="195" idx="2"/>
            <a:endCxn id="196" idx="6"/>
          </p:cNvCxnSpPr>
          <p:nvPr/>
        </p:nvCxnSpPr>
        <p:spPr>
          <a:xfrm rot="10800000">
            <a:off x="6099787" y="4296509"/>
            <a:ext cx="649200" cy="0"/>
          </a:xfrm>
          <a:prstGeom prst="straightConnector1">
            <a:avLst/>
          </a:prstGeom>
          <a:noFill/>
          <a:ln cap="rnd" cmpd="sng" w="38100">
            <a:solidFill>
              <a:srgbClr val="FF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197" name="Google Shape;197;p30"/>
          <p:cNvCxnSpPr/>
          <p:nvPr/>
        </p:nvCxnSpPr>
        <p:spPr>
          <a:xfrm rot="10800000">
            <a:off x="2387147" y="4328547"/>
            <a:ext cx="649200" cy="1200"/>
          </a:xfrm>
          <a:prstGeom prst="straightConnector1">
            <a:avLst/>
          </a:prstGeom>
          <a:noFill/>
          <a:ln cap="rnd" cmpd="sng" w="38100">
            <a:solidFill>
              <a:srgbClr val="FF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198" name="Google Shape;198;p30"/>
          <p:cNvCxnSpPr/>
          <p:nvPr/>
        </p:nvCxnSpPr>
        <p:spPr>
          <a:xfrm>
            <a:off x="2387168" y="3265483"/>
            <a:ext cx="649200" cy="0"/>
          </a:xfrm>
          <a:prstGeom prst="straightConnector1">
            <a:avLst/>
          </a:prstGeom>
          <a:noFill/>
          <a:ln cap="rnd" cmpd="sng" w="38100">
            <a:solidFill>
              <a:srgbClr val="228AFF"/>
            </a:solidFill>
            <a:prstDash val="solid"/>
            <a:miter lim="8000"/>
            <a:headEnd len="sm" w="sm" type="none"/>
            <a:tailEnd len="med" w="med" type="stealth"/>
          </a:ln>
        </p:spPr>
      </p:cxnSp>
      <p:sp>
        <p:nvSpPr>
          <p:cNvPr id="199" name="Google Shape;199;p30"/>
          <p:cNvSpPr/>
          <p:nvPr/>
        </p:nvSpPr>
        <p:spPr>
          <a:xfrm>
            <a:off x="1954383" y="3065412"/>
            <a:ext cx="432900" cy="400200"/>
          </a:xfrm>
          <a:prstGeom prst="flowChartConnector">
            <a:avLst/>
          </a:prstGeom>
          <a:solidFill>
            <a:srgbClr val="228AFF"/>
          </a:solidFill>
          <a:ln cap="rnd" cmpd="sng" w="25400">
            <a:solidFill>
              <a:srgbClr val="228A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0"/>
          <p:cNvSpPr/>
          <p:nvPr/>
        </p:nvSpPr>
        <p:spPr>
          <a:xfrm>
            <a:off x="3036347" y="4128288"/>
            <a:ext cx="432900" cy="400200"/>
          </a:xfrm>
          <a:prstGeom prst="flowChartConnector">
            <a:avLst/>
          </a:prstGeom>
          <a:solidFill>
            <a:srgbClr val="FF0000"/>
          </a:solidFill>
          <a:ln cap="rnd" cmpd="sng" w="254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0"/>
          <p:cNvSpPr/>
          <p:nvPr/>
        </p:nvSpPr>
        <p:spPr>
          <a:xfrm>
            <a:off x="1954383" y="4128288"/>
            <a:ext cx="432900" cy="400200"/>
          </a:xfrm>
          <a:prstGeom prst="flowChartConnector">
            <a:avLst/>
          </a:prstGeom>
          <a:solidFill>
            <a:srgbClr val="000000"/>
          </a:solidFill>
          <a:ln cap="rnd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0"/>
          <p:cNvSpPr/>
          <p:nvPr/>
        </p:nvSpPr>
        <p:spPr>
          <a:xfrm>
            <a:off x="3036347" y="3065412"/>
            <a:ext cx="432900" cy="400200"/>
          </a:xfrm>
          <a:prstGeom prst="flowChartConnector">
            <a:avLst/>
          </a:prstGeom>
          <a:solidFill>
            <a:srgbClr val="000000"/>
          </a:solidFill>
          <a:ln cap="rnd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3" name="Google Shape;203;p30"/>
          <p:cNvCxnSpPr/>
          <p:nvPr/>
        </p:nvCxnSpPr>
        <p:spPr>
          <a:xfrm rot="5400000">
            <a:off x="1839425" y="3796903"/>
            <a:ext cx="662700" cy="0"/>
          </a:xfrm>
          <a:prstGeom prst="straightConnector1">
            <a:avLst/>
          </a:prstGeom>
          <a:noFill/>
          <a:ln cap="rnd" cmpd="sng" w="38100">
            <a:solidFill>
              <a:srgbClr val="228AFF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204" name="Google Shape;204;p30"/>
          <p:cNvCxnSpPr/>
          <p:nvPr/>
        </p:nvCxnSpPr>
        <p:spPr>
          <a:xfrm rot="-5400000">
            <a:off x="2920637" y="3797576"/>
            <a:ext cx="662700" cy="1500"/>
          </a:xfrm>
          <a:prstGeom prst="straightConnector1">
            <a:avLst/>
          </a:prstGeom>
          <a:noFill/>
          <a:ln cap="rnd" cmpd="sng" w="38100">
            <a:solidFill>
              <a:srgbClr val="FF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sp>
        <p:nvSpPr>
          <p:cNvPr id="205" name="Google Shape;205;p30"/>
          <p:cNvSpPr txBox="1"/>
          <p:nvPr/>
        </p:nvSpPr>
        <p:spPr>
          <a:xfrm>
            <a:off x="2170775" y="3636457"/>
            <a:ext cx="993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Realized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30"/>
          <p:cNvCxnSpPr/>
          <p:nvPr/>
        </p:nvCxnSpPr>
        <p:spPr>
          <a:xfrm>
            <a:off x="6099809" y="3296127"/>
            <a:ext cx="649200" cy="1200"/>
          </a:xfrm>
          <a:prstGeom prst="straightConnector1">
            <a:avLst/>
          </a:prstGeom>
          <a:noFill/>
          <a:ln cap="rnd" cmpd="sng" w="38100">
            <a:solidFill>
              <a:srgbClr val="228AFF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207" name="Google Shape;207;p30"/>
          <p:cNvCxnSpPr>
            <a:stCxn id="195" idx="0"/>
            <a:endCxn id="208" idx="4"/>
          </p:cNvCxnSpPr>
          <p:nvPr/>
        </p:nvCxnSpPr>
        <p:spPr>
          <a:xfrm rot="10800000">
            <a:off x="6965437" y="3496109"/>
            <a:ext cx="0" cy="600300"/>
          </a:xfrm>
          <a:prstGeom prst="straightConnector1">
            <a:avLst/>
          </a:prstGeom>
          <a:noFill/>
          <a:ln cap="rnd" cmpd="sng" w="38100">
            <a:solidFill>
              <a:srgbClr val="EA9999">
                <a:alpha val="44710"/>
              </a:srgbClr>
            </a:solidFill>
            <a:prstDash val="solid"/>
            <a:miter lim="8000"/>
            <a:headEnd len="sm" w="sm" type="none"/>
            <a:tailEnd len="med" w="med" type="stealth"/>
          </a:ln>
        </p:spPr>
      </p:cxnSp>
      <p:sp>
        <p:nvSpPr>
          <p:cNvPr id="209" name="Google Shape;209;p30"/>
          <p:cNvSpPr/>
          <p:nvPr/>
        </p:nvSpPr>
        <p:spPr>
          <a:xfrm>
            <a:off x="5667023" y="3096056"/>
            <a:ext cx="432900" cy="400200"/>
          </a:xfrm>
          <a:prstGeom prst="flowChartConnector">
            <a:avLst/>
          </a:prstGeom>
          <a:solidFill>
            <a:srgbClr val="228AFF"/>
          </a:solidFill>
          <a:ln cap="rnd" cmpd="sng" w="25400">
            <a:solidFill>
              <a:srgbClr val="228A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0"/>
          <p:cNvSpPr/>
          <p:nvPr/>
        </p:nvSpPr>
        <p:spPr>
          <a:xfrm>
            <a:off x="6748987" y="4096409"/>
            <a:ext cx="432900" cy="400200"/>
          </a:xfrm>
          <a:prstGeom prst="flowChartConnector">
            <a:avLst/>
          </a:prstGeom>
          <a:solidFill>
            <a:srgbClr val="FF0000"/>
          </a:solidFill>
          <a:ln cap="rnd" cmpd="sng" w="254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0"/>
          <p:cNvSpPr/>
          <p:nvPr/>
        </p:nvSpPr>
        <p:spPr>
          <a:xfrm>
            <a:off x="5667023" y="4096409"/>
            <a:ext cx="432900" cy="400200"/>
          </a:xfrm>
          <a:prstGeom prst="flowChartConnector">
            <a:avLst/>
          </a:prstGeom>
          <a:solidFill>
            <a:srgbClr val="000000"/>
          </a:solidFill>
          <a:ln cap="rnd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0"/>
          <p:cNvSpPr/>
          <p:nvPr/>
        </p:nvSpPr>
        <p:spPr>
          <a:xfrm>
            <a:off x="6748987" y="3096056"/>
            <a:ext cx="432900" cy="400200"/>
          </a:xfrm>
          <a:prstGeom prst="flowChartConnector">
            <a:avLst/>
          </a:prstGeom>
          <a:solidFill>
            <a:srgbClr val="000000"/>
          </a:solidFill>
          <a:ln cap="rnd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0" name="Google Shape;210;p30"/>
          <p:cNvCxnSpPr/>
          <p:nvPr/>
        </p:nvCxnSpPr>
        <p:spPr>
          <a:xfrm rot="5400000">
            <a:off x="5581915" y="3796197"/>
            <a:ext cx="601500" cy="1500"/>
          </a:xfrm>
          <a:prstGeom prst="straightConnector1">
            <a:avLst/>
          </a:prstGeom>
          <a:noFill/>
          <a:ln cap="rnd" cmpd="sng" w="38100">
            <a:solidFill>
              <a:srgbClr val="228AFF"/>
            </a:solidFill>
            <a:prstDash val="solid"/>
            <a:miter lim="8000"/>
            <a:headEnd len="sm" w="sm" type="none"/>
            <a:tailEnd len="med" w="med" type="stealth"/>
          </a:ln>
        </p:spPr>
      </p:cxnSp>
      <p:sp>
        <p:nvSpPr>
          <p:cNvPr id="211" name="Google Shape;211;p30"/>
          <p:cNvSpPr txBox="1"/>
          <p:nvPr/>
        </p:nvSpPr>
        <p:spPr>
          <a:xfrm>
            <a:off x="7019478" y="3658754"/>
            <a:ext cx="270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r>
              <a:rPr b="1" i="0" lang="e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5975567" y="3635092"/>
            <a:ext cx="897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Possible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2985" y="3466375"/>
            <a:ext cx="1830322" cy="500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sp>
        <p:nvSpPr>
          <p:cNvPr id="219" name="Google Shape;219;p3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However, this last notion global clustering for two modes loses the analogy with the one mode case because it only looks at </a:t>
            </a:r>
            <a:r>
              <a:rPr i="1" lang="en"/>
              <a:t>pairs</a:t>
            </a:r>
            <a:r>
              <a:rPr lang="en"/>
              <a:t> of persons or groups at a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clustering is a triadic notion!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get this in two mode networks we need to look at 4-paths rather than 3-paths</a:t>
            </a:r>
            <a:endParaRPr/>
          </a:p>
        </p:txBody>
      </p:sp>
      <p:pic>
        <p:nvPicPr>
          <p:cNvPr descr="1-s2.0-S0378873311000360-gr3.jpg" id="220" name="Google Shape;220;p31"/>
          <p:cNvPicPr preferRelativeResize="0"/>
          <p:nvPr/>
        </p:nvPicPr>
        <p:blipFill rotWithShape="1">
          <a:blip r:embed="rId3">
            <a:alphaModFix/>
          </a:blip>
          <a:srcRect b="0" l="0" r="35363" t="0"/>
          <a:stretch/>
        </p:blipFill>
        <p:spPr>
          <a:xfrm>
            <a:off x="2370958" y="3140950"/>
            <a:ext cx="4402074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sp>
        <p:nvSpPr>
          <p:cNvPr id="226" name="Google Shape;226;p3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In the two mode a fourth path covers three-entities in the mode of the starting vertex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Person</a:t>
            </a:r>
            <a:r>
              <a:rPr lang="en"/>
              <a:t> -&gt; Group -&gt; </a:t>
            </a:r>
            <a:r>
              <a:rPr b="1" lang="en"/>
              <a:t>Person</a:t>
            </a:r>
            <a:r>
              <a:rPr lang="en"/>
              <a:t> -&gt; Group -&gt; </a:t>
            </a:r>
            <a:r>
              <a:rPr b="1" lang="en"/>
              <a:t>Person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Group</a:t>
            </a:r>
            <a:r>
              <a:rPr lang="en"/>
              <a:t> -&gt; Person -&gt; </a:t>
            </a:r>
            <a:r>
              <a:rPr b="1" lang="en"/>
              <a:t>Group</a:t>
            </a:r>
            <a:r>
              <a:rPr lang="en"/>
              <a:t> -&gt; Person -&gt; </a:t>
            </a:r>
            <a:r>
              <a:rPr b="1" lang="en"/>
              <a:t>Group</a:t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descr="1-s2.0-S0378873311000360-gr3.jpg" id="227" name="Google Shape;227;p32"/>
          <p:cNvPicPr preferRelativeResize="0"/>
          <p:nvPr/>
        </p:nvPicPr>
        <p:blipFill rotWithShape="1">
          <a:blip r:embed="rId3">
            <a:alphaModFix/>
          </a:blip>
          <a:srcRect b="0" l="0" r="35363" t="0"/>
          <a:stretch/>
        </p:blipFill>
        <p:spPr>
          <a:xfrm>
            <a:off x="2370958" y="3140950"/>
            <a:ext cx="4402074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sp>
        <p:nvSpPr>
          <p:cNvPr id="233" name="Google Shape;233;p3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That means every fourth path in the two-mode is a two-path in the one-mode projection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are open: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4 -&gt; C -&gt; 2 -&gt; A -&gt; 1 = 4 &lt;-&gt; 2 &lt;-&gt;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are closed: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1 -&gt; B -&gt; 3 -&gt; C -&gt; 2 = 1 &lt;-&gt; 3 &lt;-&gt; 2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descr="1-s2.0-S0378873311000360-gr3.jpg" id="234" name="Google Shape;234;p33"/>
          <p:cNvPicPr preferRelativeResize="0"/>
          <p:nvPr/>
        </p:nvPicPr>
        <p:blipFill rotWithShape="1">
          <a:blip r:embed="rId3">
            <a:alphaModFix/>
          </a:blip>
          <a:srcRect b="0" l="0" r="35363" t="0"/>
          <a:stretch/>
        </p:blipFill>
        <p:spPr>
          <a:xfrm>
            <a:off x="2370958" y="3140950"/>
            <a:ext cx="4402074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sp>
        <p:nvSpPr>
          <p:cNvPr id="240" name="Google Shape;240;p3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can also be used to define a new version of </a:t>
            </a:r>
            <a:r>
              <a:rPr b="1" lang="en"/>
              <a:t>local clustering in two modes</a:t>
            </a:r>
            <a:r>
              <a:rPr lang="en"/>
              <a:t>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Ratio of closed fourth paths centered on a node of a given type (person, group) that are closed in the projection to total number of fourth paths centered on that node:</a:t>
            </a:r>
            <a:endParaRPr/>
          </a:p>
        </p:txBody>
      </p:sp>
      <p:pic>
        <p:nvPicPr>
          <p:cNvPr descr="1-s2.0-S0378873311000360-gr3.jpg" id="241" name="Google Shape;241;p34"/>
          <p:cNvPicPr preferRelativeResize="0"/>
          <p:nvPr/>
        </p:nvPicPr>
        <p:blipFill rotWithShape="1">
          <a:blip r:embed="rId3">
            <a:alphaModFix/>
          </a:blip>
          <a:srcRect b="0" l="0" r="35363" t="0"/>
          <a:stretch/>
        </p:blipFill>
        <p:spPr>
          <a:xfrm>
            <a:off x="2370958" y="3140950"/>
            <a:ext cx="4402074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17-09-26 at 09.42.51.png" id="242" name="Google Shape;242;p34"/>
          <p:cNvPicPr preferRelativeResize="0"/>
          <p:nvPr/>
        </p:nvPicPr>
        <p:blipFill rotWithShape="1">
          <a:blip r:embed="rId4">
            <a:alphaModFix/>
          </a:blip>
          <a:srcRect b="23290" l="0" r="0" t="28778"/>
          <a:stretch/>
        </p:blipFill>
        <p:spPr>
          <a:xfrm>
            <a:off x="4706613" y="2523450"/>
            <a:ext cx="4077375" cy="48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 to two modes</a:t>
            </a:r>
            <a:endParaRPr/>
          </a:p>
        </p:txBody>
      </p:sp>
      <p:pic>
        <p:nvPicPr>
          <p:cNvPr descr="Screenshot 2017-09-26 at 09.48.27.png" id="248" name="Google Shape;24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375" y="1454200"/>
            <a:ext cx="8133252" cy="27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