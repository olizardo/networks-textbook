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Economica"/>
      <p:regular r:id="rId14"/>
      <p:bold r:id="rId15"/>
      <p:italic r:id="rId16"/>
      <p:bold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font" Target="fonts/Economica-bold.fntdata"/><Relationship Id="rId14" Type="http://schemas.openxmlformats.org/officeDocument/2006/relationships/font" Target="fonts/Economica-regular.fntdata"/><Relationship Id="rId17" Type="http://schemas.openxmlformats.org/officeDocument/2006/relationships/font" Target="fonts/Economica-boldItalic.fntdata"/><Relationship Id="rId16" Type="http://schemas.openxmlformats.org/officeDocument/2006/relationships/font" Target="fonts/Economica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5e0f90a54_0_0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5e0f90a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e0f90a54_0_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e0f90a5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e0f90a54_0_11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e0f90a5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= 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Rate = k*y     Prob of adopting increases the more people who have adopted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Why -   Threshold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e0f90a54_0_17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e0f90a5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5e0f90a54_0_23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5e0f90a5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5e0f90a54_0_29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5e0f90a5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e0f90a54_0_35:notes"/>
          <p:cNvSpPr/>
          <p:nvPr>
            <p:ph idx="2" type="sldImg"/>
          </p:nvPr>
        </p:nvSpPr>
        <p:spPr>
          <a:xfrm>
            <a:off x="38117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e0f90a54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Diffusion:  </a:t>
            </a:r>
            <a:br>
              <a:rPr lang="en"/>
            </a:br>
            <a:r>
              <a:rPr lang="en"/>
              <a:t>Contagion or Equivalence</a:t>
            </a:r>
            <a:endParaRPr/>
          </a:p>
        </p:txBody>
      </p:sp>
      <p:sp>
        <p:nvSpPr>
          <p:cNvPr id="108" name="Google Shape;108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Burt’s positional equivalence model</a:t>
            </a:r>
            <a:endParaRPr/>
          </a:p>
        </p:txBody>
      </p:sp>
      <p:sp>
        <p:nvSpPr>
          <p:cNvPr id="114" name="Google Shape;114;p2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Reanalysis of Coleman et. al. (1957, 1966) study of diffusion of a new drug, tetracycline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Coleman claimed that diffusion patterns indicative of contagion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Burt hypothesized that </a:t>
            </a:r>
            <a:r>
              <a:rPr b="1" lang="en"/>
              <a:t>structural equivalence</a:t>
            </a:r>
            <a:r>
              <a:rPr lang="en"/>
              <a:t> could explain diffusion pattern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Study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4 Illinois cities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130 (of 152, 85%) general practitioners, internists, pediatricians (and 4 specialists)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pharmacy records used to code when physician first prescribed tetracycline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network data from 2 name generators (advice and discuss) in physician surveys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Cohesion (influence) vs. Equivalence (similarity)</a:t>
            </a:r>
            <a:endParaRPr/>
          </a:p>
        </p:txBody>
      </p:sp>
      <p:sp>
        <p:nvSpPr>
          <p:cNvPr id="120" name="Google Shape;120;p27"/>
          <p:cNvSpPr txBox="1"/>
          <p:nvPr>
            <p:ph idx="1" type="body"/>
          </p:nvPr>
        </p:nvSpPr>
        <p:spPr>
          <a:xfrm>
            <a:off x="311700" y="1225215"/>
            <a:ext cx="5446200" cy="33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Equivalence (similar relations with same people) and Cohesion (via strong tie between ego and alter) predict diffusion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Cohesion but not Equivalence predicts restricted contagion (because of conflicting affiliations)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Equivalence predicts contagion via competition for status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Mechanisms: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proximity: can "see" alters behaviors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Cohesion:  communication, social proximity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Competition, relative standing: structural equivalence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2 similar physicians keeping up with each other</a:t>
            </a:r>
            <a:endParaRPr/>
          </a:p>
        </p:txBody>
      </p:sp>
      <p:pic>
        <p:nvPicPr>
          <p:cNvPr id="121" name="Google Shape;1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4775" y="1186234"/>
            <a:ext cx="2634770" cy="347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Diffusion or Contagion?</a:t>
            </a:r>
            <a:endParaRPr/>
          </a:p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3515525" y="1225215"/>
            <a:ext cx="5316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 = probability of adopting independently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= proportion who have adopted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(k) of adopting in each time period and for each person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not a function of exposure (p)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Contagion: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Equal probability of adopting (k) but also adoption a function of number of others who have adopted.</a:t>
            </a:r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147249"/>
            <a:ext cx="2883435" cy="3548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Cumulative Adoption Results</a:t>
            </a:r>
            <a:endParaRPr/>
          </a:p>
        </p:txBody>
      </p:sp>
      <p:sp>
        <p:nvSpPr>
          <p:cNvPr id="134" name="Google Shape;134;p29"/>
          <p:cNvSpPr txBox="1"/>
          <p:nvPr>
            <p:ph idx="1" type="body"/>
          </p:nvPr>
        </p:nvSpPr>
        <p:spPr>
          <a:xfrm>
            <a:off x="3694425" y="1225215"/>
            <a:ext cx="5137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Cohesion: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where ego adopts after alter adopts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by Structural Equivalence: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Adoption pattern when ego adopts after peers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both cases rate of adoption early on is higher than expected by contagion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is not the only process at 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early adoption rate indicative of diffusion without contagion</a:t>
            </a:r>
            <a:endParaRPr/>
          </a:p>
        </p:txBody>
      </p:sp>
      <p:pic>
        <p:nvPicPr>
          <p:cNvPr id="135" name="Google Shape;1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9" y="1147245"/>
            <a:ext cx="3044452" cy="3532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11700" y="2833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41" name="Google Shape;141;p30"/>
          <p:cNvSpPr txBox="1"/>
          <p:nvPr>
            <p:ph idx="1" type="body"/>
          </p:nvPr>
        </p:nvSpPr>
        <p:spPr>
          <a:xfrm>
            <a:off x="457200" y="1200150"/>
            <a:ext cx="3917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Cohesion: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Tie between ego and alter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Equivalence: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Euclidean distance between ego and alter (d</a:t>
            </a:r>
            <a:r>
              <a:rPr baseline="-25000" lang="en"/>
              <a:t>ij</a:t>
            </a:r>
            <a:r>
              <a:rPr lang="en"/>
              <a:t>), i.e. how similar their patterns of ties are to others in the network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30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404280"/>
            <a:ext cx="4414749" cy="299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</a:t>
            </a:r>
            <a:endParaRPr/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457200" y="1200150"/>
            <a:ext cx="39174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from regressions: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evidence of contagion from advisors and discussion partners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Strong evidence of diffusion between month in which peers adopted (structurally equivalent doctors) and ego adopting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Personal factors determined adoption, i.e. predisposition to adopt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Contagion independent of personal preference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31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404280"/>
            <a:ext cx="4414749" cy="299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Implications</a:t>
            </a:r>
            <a:endParaRPr/>
          </a:p>
        </p:txBody>
      </p:sp>
      <p:sp>
        <p:nvSpPr>
          <p:cNvPr id="155" name="Google Shape;155;p32"/>
          <p:cNvSpPr txBox="1"/>
          <p:nvPr>
            <p:ph idx="1" type="body"/>
          </p:nvPr>
        </p:nvSpPr>
        <p:spPr>
          <a:xfrm>
            <a:off x="311700" y="1225215"/>
            <a:ext cx="4105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Diffusion not via contagion (adjacency) but equivalence</a:t>
            </a:r>
            <a:endParaRPr/>
          </a:p>
          <a:p>
            <a:pPr indent="-317500" lvl="1" marL="914400" rtl="0" algn="l">
              <a:spcBef>
                <a:spcPts val="160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Why?  Relative standing competition.  Do not want to be a late adopter.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Heterogeneity in predisposition to adopt leads to critical mass needed to get diffusion by equivalence to take off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32"/>
          <p:cNvPicPr preferRelativeResize="0"/>
          <p:nvPr/>
        </p:nvPicPr>
        <p:blipFill rotWithShape="1">
          <a:blip r:embed="rId3">
            <a:alphaModFix/>
          </a:blip>
          <a:srcRect b="0" l="14693" r="10305" t="12709"/>
          <a:stretch/>
        </p:blipFill>
        <p:spPr>
          <a:xfrm>
            <a:off x="4374525" y="1404280"/>
            <a:ext cx="4414749" cy="2995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