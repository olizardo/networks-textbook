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Economica"/>
      <p:regular r:id="rId15"/>
      <p:bold r:id="rId16"/>
      <p:italic r:id="rId17"/>
      <p:boldItalic r:id="rId18"/>
    </p:embeddedFont>
    <p:embeddedFont>
      <p:font typeface="Open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bold.fntdata"/><Relationship Id="rId11" Type="http://schemas.openxmlformats.org/officeDocument/2006/relationships/slide" Target="slides/slide5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21" Type="http://schemas.openxmlformats.org/officeDocument/2006/relationships/font" Target="fonts/Open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Economica-regular.fntdata"/><Relationship Id="rId14" Type="http://schemas.openxmlformats.org/officeDocument/2006/relationships/slide" Target="slides/slide8.xml"/><Relationship Id="rId17" Type="http://schemas.openxmlformats.org/officeDocument/2006/relationships/font" Target="fonts/Economica-italic.fntdata"/><Relationship Id="rId16" Type="http://schemas.openxmlformats.org/officeDocument/2006/relationships/font" Target="fonts/Economica-bold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OpenSans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Economica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748595b44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748595b44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748595b44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748595b44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748595b44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d748595b44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748595b44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748595b44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748595b44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748595b44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748595b44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748595b44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748595b44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d748595b44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748595b44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d748595b44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Theories of Transitivity in Social Networks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Transitivity</a:t>
            </a:r>
            <a:endParaRPr/>
          </a:p>
        </p:txBody>
      </p:sp>
      <p:sp>
        <p:nvSpPr>
          <p:cNvPr id="116" name="Google Shape;116;p27"/>
          <p:cNvSpPr txBox="1"/>
          <p:nvPr>
            <p:ph idx="1" type="body"/>
          </p:nvPr>
        </p:nvSpPr>
        <p:spPr>
          <a:xfrm>
            <a:off x="311700" y="1225225"/>
            <a:ext cx="5050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Refers to the tendency in human social networks for open triads to transition into closed triads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Akin to Mathematical transitivity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Relation </a:t>
            </a:r>
            <a:r>
              <a:rPr b="1" lang="en"/>
              <a:t>R</a:t>
            </a:r>
            <a:r>
              <a:rPr lang="en"/>
              <a:t> is transitive iff: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</a:t>
            </a:r>
            <a:r>
              <a:rPr b="1" lang="en"/>
              <a:t>R</a:t>
            </a:r>
            <a:r>
              <a:rPr lang="en"/>
              <a:t>b, and b</a:t>
            </a:r>
            <a:r>
              <a:rPr b="1" lang="en"/>
              <a:t>R</a:t>
            </a:r>
            <a:r>
              <a:rPr lang="en"/>
              <a:t>c jointly imply a</a:t>
            </a:r>
            <a:r>
              <a:rPr b="1" lang="en"/>
              <a:t>R</a:t>
            </a:r>
            <a:r>
              <a:rPr lang="en"/>
              <a:t>c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Equality, Less than, Greater than, etc.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4 </a:t>
            </a:r>
            <a:r>
              <a:rPr b="1" lang="en"/>
              <a:t>&gt;</a:t>
            </a:r>
            <a:r>
              <a:rPr lang="en"/>
              <a:t> 3 &amp; 3 </a:t>
            </a:r>
            <a:r>
              <a:rPr b="1" lang="en"/>
              <a:t>&gt;</a:t>
            </a:r>
            <a:r>
              <a:rPr lang="en"/>
              <a:t> 2 then 4 </a:t>
            </a:r>
            <a:r>
              <a:rPr b="1" lang="en"/>
              <a:t>&gt;</a:t>
            </a:r>
            <a:r>
              <a:rPr lang="en"/>
              <a:t>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reasoning can apply to social relationships: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A is </a:t>
            </a:r>
            <a:r>
              <a:rPr b="1" lang="en"/>
              <a:t>friends </a:t>
            </a:r>
            <a:r>
              <a:rPr lang="en"/>
              <a:t>with B and B is </a:t>
            </a:r>
            <a:r>
              <a:rPr b="1" lang="en"/>
              <a:t>friends </a:t>
            </a:r>
            <a:r>
              <a:rPr lang="en"/>
              <a:t>with C then A is </a:t>
            </a:r>
            <a:r>
              <a:rPr b="1" lang="en"/>
              <a:t>friends </a:t>
            </a:r>
            <a:r>
              <a:rPr lang="en"/>
              <a:t>with C</a:t>
            </a:r>
            <a:endParaRPr/>
          </a:p>
        </p:txBody>
      </p:sp>
      <p:pic>
        <p:nvPicPr>
          <p:cNvPr id="117" name="Google Shape;117;p27"/>
          <p:cNvPicPr preferRelativeResize="0"/>
          <p:nvPr/>
        </p:nvPicPr>
        <p:blipFill rotWithShape="1">
          <a:blip r:embed="rId3">
            <a:alphaModFix/>
          </a:blip>
          <a:srcRect b="0" l="0" r="0" t="8257"/>
          <a:stretch/>
        </p:blipFill>
        <p:spPr>
          <a:xfrm>
            <a:off x="5362525" y="1147225"/>
            <a:ext cx="3469775" cy="376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3" name="Google Shape;123;p28"/>
          <p:cNvCxnSpPr>
            <a:stCxn id="122" idx="7"/>
            <a:endCxn id="124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28"/>
          <p:cNvCxnSpPr>
            <a:stCxn id="122" idx="5"/>
            <a:endCxn id="126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28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8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8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8" name="Google Shape;128;p28"/>
          <p:cNvCxnSpPr>
            <a:stCxn id="127" idx="7"/>
            <a:endCxn id="129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28"/>
          <p:cNvCxnSpPr>
            <a:stCxn id="127" idx="5"/>
            <a:endCxn id="131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" name="Google Shape;129;p28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8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2" name="Google Shape;132;p28"/>
          <p:cNvCxnSpPr>
            <a:stCxn id="131" idx="0"/>
            <a:endCxn id="129" idx="4"/>
          </p:cNvCxnSpPr>
          <p:nvPr/>
        </p:nvCxnSpPr>
        <p:spPr>
          <a:xfrm rot="10800000">
            <a:off x="8388663" y="3775275"/>
            <a:ext cx="0" cy="6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3" name="Google Shape;133;p28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4" name="Google Shape;134;p28"/>
          <p:cNvCxnSpPr>
            <a:stCxn id="133" idx="7"/>
            <a:endCxn id="135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28"/>
          <p:cNvCxnSpPr>
            <a:stCxn id="133" idx="5"/>
            <a:endCxn id="137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28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8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8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Psychological Pressure</a:t>
            </a:r>
            <a:endParaRPr/>
          </a:p>
        </p:txBody>
      </p:sp>
      <p:cxnSp>
        <p:nvCxnSpPr>
          <p:cNvPr id="139" name="Google Shape;139;p28"/>
          <p:cNvCxnSpPr>
            <a:stCxn id="138" idx="2"/>
            <a:endCxn id="133" idx="0"/>
          </p:cNvCxnSpPr>
          <p:nvPr/>
        </p:nvCxnSpPr>
        <p:spPr>
          <a:xfrm flipH="1">
            <a:off x="3992263" y="3310075"/>
            <a:ext cx="6000" cy="71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28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8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Theories of transitivity</a:t>
            </a:r>
            <a:endParaRPr/>
          </a:p>
        </p:txBody>
      </p:sp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Open triad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Ego feels psychological pressure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Ego relieves pressure by closing (e.g., introducing unconnected alters)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Ego-driven link formation</a:t>
            </a:r>
            <a:endParaRPr/>
          </a:p>
        </p:txBody>
      </p:sp>
      <p:sp>
        <p:nvSpPr>
          <p:cNvPr id="144" name="Google Shape;144;p28"/>
          <p:cNvSpPr/>
          <p:nvPr/>
        </p:nvSpPr>
        <p:spPr>
          <a:xfrm>
            <a:off x="5272325" y="4061925"/>
            <a:ext cx="181200" cy="172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" name="Google Shape;145;p28"/>
          <p:cNvCxnSpPr/>
          <p:nvPr/>
        </p:nvCxnSpPr>
        <p:spPr>
          <a:xfrm>
            <a:off x="4694413" y="3078025"/>
            <a:ext cx="759000" cy="1070400"/>
          </a:xfrm>
          <a:prstGeom prst="bentConnector3">
            <a:avLst>
              <a:gd fmla="val 13138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Theories of transitivity</a:t>
            </a:r>
            <a:endParaRPr/>
          </a:p>
        </p:txBody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Theory of Social Foci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Empty triad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Actors participates in common focus/joint activity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Closed triad (3-clique)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Context-driven link formation</a:t>
            </a:r>
            <a:endParaRPr/>
          </a:p>
        </p:txBody>
      </p:sp>
      <p:sp>
        <p:nvSpPr>
          <p:cNvPr id="152" name="Google Shape;152;p29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9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9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9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6" name="Google Shape;156;p29"/>
          <p:cNvCxnSpPr>
            <a:stCxn id="155" idx="7"/>
            <a:endCxn id="157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9"/>
          <p:cNvCxnSpPr>
            <a:stCxn id="155" idx="5"/>
            <a:endCxn id="159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29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9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" name="Google Shape;160;p29"/>
          <p:cNvCxnSpPr>
            <a:stCxn id="159" idx="0"/>
            <a:endCxn id="157" idx="4"/>
          </p:cNvCxnSpPr>
          <p:nvPr/>
        </p:nvCxnSpPr>
        <p:spPr>
          <a:xfrm rot="10800000">
            <a:off x="8388663" y="3775275"/>
            <a:ext cx="0" cy="6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1" name="Google Shape;161;p29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9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9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9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Foci</a:t>
            </a:r>
            <a:endParaRPr/>
          </a:p>
        </p:txBody>
      </p:sp>
      <p:cxnSp>
        <p:nvCxnSpPr>
          <p:cNvPr id="165" name="Google Shape;165;p29"/>
          <p:cNvCxnSpPr>
            <a:stCxn id="164" idx="2"/>
            <a:endCxn id="161" idx="0"/>
          </p:cNvCxnSpPr>
          <p:nvPr/>
        </p:nvCxnSpPr>
        <p:spPr>
          <a:xfrm flipH="1">
            <a:off x="3992263" y="3310075"/>
            <a:ext cx="6000" cy="71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6" name="Google Shape;166;p29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9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" name="Google Shape;168;p29"/>
          <p:cNvCxnSpPr>
            <a:stCxn id="164" idx="2"/>
            <a:endCxn id="162" idx="1"/>
          </p:cNvCxnSpPr>
          <p:nvPr/>
        </p:nvCxnSpPr>
        <p:spPr>
          <a:xfrm>
            <a:off x="3998263" y="3310075"/>
            <a:ext cx="1251900" cy="282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29"/>
          <p:cNvCxnSpPr>
            <a:stCxn id="164" idx="2"/>
            <a:endCxn id="163" idx="1"/>
          </p:cNvCxnSpPr>
          <p:nvPr/>
        </p:nvCxnSpPr>
        <p:spPr>
          <a:xfrm>
            <a:off x="3998263" y="3310075"/>
            <a:ext cx="1251900" cy="118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Theories of transitivity</a:t>
            </a:r>
            <a:endParaRPr/>
          </a:p>
        </p:txBody>
      </p:sp>
      <p:sp>
        <p:nvSpPr>
          <p:cNvPr id="175" name="Google Shape;175;p30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Strength of Weak Ties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Open triad with strong links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Depending on strength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 will either close or remain open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Strength-driven link formation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30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0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0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30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" name="Google Shape;180;p30"/>
          <p:cNvCxnSpPr>
            <a:stCxn id="179" idx="7"/>
            <a:endCxn id="181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30"/>
          <p:cNvCxnSpPr>
            <a:stCxn id="179" idx="5"/>
            <a:endCxn id="183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30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0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4" name="Google Shape;184;p30"/>
          <p:cNvCxnSpPr>
            <a:stCxn id="183" idx="0"/>
            <a:endCxn id="181" idx="4"/>
          </p:cNvCxnSpPr>
          <p:nvPr/>
        </p:nvCxnSpPr>
        <p:spPr>
          <a:xfrm rot="10800000">
            <a:off x="8388663" y="3775275"/>
            <a:ext cx="0" cy="6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5" name="Google Shape;185;p30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30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0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0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Strength Effect</a:t>
            </a:r>
            <a:endParaRPr/>
          </a:p>
        </p:txBody>
      </p:sp>
      <p:cxnSp>
        <p:nvCxnSpPr>
          <p:cNvPr id="189" name="Google Shape;189;p30"/>
          <p:cNvCxnSpPr>
            <a:stCxn id="188" idx="2"/>
          </p:cNvCxnSpPr>
          <p:nvPr/>
        </p:nvCxnSpPr>
        <p:spPr>
          <a:xfrm>
            <a:off x="3998263" y="3310075"/>
            <a:ext cx="613500" cy="57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" name="Google Shape;190;p30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0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2" name="Google Shape;192;p30"/>
          <p:cNvCxnSpPr>
            <a:stCxn id="188" idx="2"/>
          </p:cNvCxnSpPr>
          <p:nvPr/>
        </p:nvCxnSpPr>
        <p:spPr>
          <a:xfrm>
            <a:off x="3998263" y="3310075"/>
            <a:ext cx="748800" cy="114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3" name="Google Shape;193;p30"/>
          <p:cNvCxnSpPr>
            <a:stCxn id="176" idx="7"/>
            <a:endCxn id="177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30"/>
          <p:cNvCxnSpPr>
            <a:stCxn id="176" idx="5"/>
            <a:endCxn id="178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30"/>
          <p:cNvCxnSpPr>
            <a:stCxn id="185" idx="7"/>
            <a:endCxn id="186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30"/>
          <p:cNvCxnSpPr>
            <a:stCxn id="185" idx="5"/>
            <a:endCxn id="187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Theories of transitivity</a:t>
            </a:r>
            <a:endParaRPr/>
          </a:p>
        </p:txBody>
      </p:sp>
      <p:sp>
        <p:nvSpPr>
          <p:cNvPr id="202" name="Google Shape;202;p31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Strength of Weak Ties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Open triad with weak links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Depending on strength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 will either close or remain open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Open triads stay that way if the links are weak</a:t>
            </a:r>
            <a:endParaRPr/>
          </a:p>
        </p:txBody>
      </p:sp>
      <p:sp>
        <p:nvSpPr>
          <p:cNvPr id="203" name="Google Shape;203;p31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31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1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31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7" name="Google Shape;207;p31"/>
          <p:cNvCxnSpPr>
            <a:stCxn id="206" idx="7"/>
            <a:endCxn id="208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31"/>
          <p:cNvCxnSpPr>
            <a:stCxn id="206" idx="5"/>
            <a:endCxn id="210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08" name="Google Shape;208;p31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31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1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1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1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1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Weak Tie Effect</a:t>
            </a:r>
            <a:endParaRPr/>
          </a:p>
        </p:txBody>
      </p:sp>
      <p:cxnSp>
        <p:nvCxnSpPr>
          <p:cNvPr id="215" name="Google Shape;215;p31"/>
          <p:cNvCxnSpPr>
            <a:stCxn id="214" idx="2"/>
          </p:cNvCxnSpPr>
          <p:nvPr/>
        </p:nvCxnSpPr>
        <p:spPr>
          <a:xfrm>
            <a:off x="3998263" y="3310075"/>
            <a:ext cx="613500" cy="574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6" name="Google Shape;216;p31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1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8" name="Google Shape;218;p31"/>
          <p:cNvCxnSpPr>
            <a:stCxn id="214" idx="2"/>
          </p:cNvCxnSpPr>
          <p:nvPr/>
        </p:nvCxnSpPr>
        <p:spPr>
          <a:xfrm>
            <a:off x="3998263" y="3310075"/>
            <a:ext cx="748800" cy="1145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31"/>
          <p:cNvCxnSpPr>
            <a:stCxn id="203" idx="7"/>
            <a:endCxn id="204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31"/>
          <p:cNvCxnSpPr>
            <a:stCxn id="203" idx="5"/>
            <a:endCxn id="205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31"/>
          <p:cNvCxnSpPr>
            <a:stCxn id="211" idx="7"/>
            <a:endCxn id="212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22" name="Google Shape;222;p31"/>
          <p:cNvCxnSpPr>
            <a:stCxn id="211" idx="5"/>
            <a:endCxn id="213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8" name="Google Shape;228;p32"/>
          <p:cNvCxnSpPr>
            <a:stCxn id="227" idx="7"/>
            <a:endCxn id="229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32"/>
          <p:cNvCxnSpPr>
            <a:stCxn id="227" idx="5"/>
            <a:endCxn id="231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32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2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2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3" name="Google Shape;233;p32"/>
          <p:cNvCxnSpPr>
            <a:stCxn id="232" idx="7"/>
            <a:endCxn id="234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32"/>
          <p:cNvCxnSpPr>
            <a:stCxn id="232" idx="5"/>
            <a:endCxn id="236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4" name="Google Shape;234;p32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2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2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8" name="Google Shape;238;p32"/>
          <p:cNvCxnSpPr>
            <a:stCxn id="237" idx="7"/>
            <a:endCxn id="239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32"/>
          <p:cNvCxnSpPr>
            <a:stCxn id="237" idx="5"/>
            <a:endCxn id="241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9" name="Google Shape;239;p32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2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2"/>
          <p:cNvSpPr/>
          <p:nvPr/>
        </p:nvSpPr>
        <p:spPr>
          <a:xfrm>
            <a:off x="3302113" y="2845975"/>
            <a:ext cx="1392300" cy="4641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Ego works to keep open</a:t>
            </a:r>
            <a:endParaRPr/>
          </a:p>
        </p:txBody>
      </p:sp>
      <p:sp>
        <p:nvSpPr>
          <p:cNvPr id="243" name="Google Shape;243;p32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2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Theories of transitivity</a:t>
            </a:r>
            <a:endParaRPr/>
          </a:p>
        </p:txBody>
      </p:sp>
      <p:sp>
        <p:nvSpPr>
          <p:cNvPr id="246" name="Google Shape;246;p32"/>
          <p:cNvSpPr txBox="1"/>
          <p:nvPr>
            <p:ph idx="1" type="body"/>
          </p:nvPr>
        </p:nvSpPr>
        <p:spPr>
          <a:xfrm>
            <a:off x="311700" y="1225225"/>
            <a:ext cx="8520600" cy="15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Structural Holes Theory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Unbalanced triad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Ego gains control benefits from 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Ego works to keep it from closing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Ego-driven brokerage</a:t>
            </a:r>
            <a:endParaRPr/>
          </a:p>
        </p:txBody>
      </p:sp>
      <p:sp>
        <p:nvSpPr>
          <p:cNvPr id="247" name="Google Shape;247;p32"/>
          <p:cNvSpPr/>
          <p:nvPr/>
        </p:nvSpPr>
        <p:spPr>
          <a:xfrm>
            <a:off x="5272325" y="4061925"/>
            <a:ext cx="181200" cy="172800"/>
          </a:xfrm>
          <a:prstGeom prst="ellipse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8" name="Google Shape;248;p32"/>
          <p:cNvCxnSpPr>
            <a:stCxn id="237" idx="0"/>
            <a:endCxn id="242" idx="2"/>
          </p:cNvCxnSpPr>
          <p:nvPr/>
        </p:nvCxnSpPr>
        <p:spPr>
          <a:xfrm flipH="1" rot="10800000">
            <a:off x="3992325" y="3310150"/>
            <a:ext cx="6000" cy="71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32"/>
          <p:cNvCxnSpPr>
            <a:stCxn id="242" idx="3"/>
            <a:endCxn id="247" idx="6"/>
          </p:cNvCxnSpPr>
          <p:nvPr/>
        </p:nvCxnSpPr>
        <p:spPr>
          <a:xfrm>
            <a:off x="4694413" y="3078025"/>
            <a:ext cx="759000" cy="1070400"/>
          </a:xfrm>
          <a:prstGeom prst="bentConnector3">
            <a:avLst>
              <a:gd fmla="val 13138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Theories of transitivity</a:t>
            </a:r>
            <a:endParaRPr/>
          </a:p>
        </p:txBody>
      </p:sp>
      <p:sp>
        <p:nvSpPr>
          <p:cNvPr id="255" name="Google Shape;255;p33"/>
          <p:cNvSpPr txBox="1"/>
          <p:nvPr>
            <p:ph idx="1" type="body"/>
          </p:nvPr>
        </p:nvSpPr>
        <p:spPr>
          <a:xfrm>
            <a:off x="311700" y="1225225"/>
            <a:ext cx="8466900" cy="181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Simmelian Tie Theory: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Closed triad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Simmelian tie effect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Triad stays closed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Mechanism: Triads have “top-down” effects on the dyads that compose them</a:t>
            </a:r>
            <a:endParaRPr/>
          </a:p>
        </p:txBody>
      </p:sp>
      <p:sp>
        <p:nvSpPr>
          <p:cNvPr id="256" name="Google Shape;256;p33"/>
          <p:cNvSpPr/>
          <p:nvPr/>
        </p:nvSpPr>
        <p:spPr>
          <a:xfrm>
            <a:off x="3702925" y="3449625"/>
            <a:ext cx="2020500" cy="1401900"/>
          </a:xfrm>
          <a:prstGeom prst="rect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3"/>
          <p:cNvSpPr/>
          <p:nvPr/>
        </p:nvSpPr>
        <p:spPr>
          <a:xfrm>
            <a:off x="595738" y="3938900"/>
            <a:ext cx="319200" cy="290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8" name="Google Shape;258;p33"/>
          <p:cNvCxnSpPr>
            <a:stCxn id="257" idx="7"/>
            <a:endCxn id="259" idx="2"/>
          </p:cNvCxnSpPr>
          <p:nvPr/>
        </p:nvCxnSpPr>
        <p:spPr>
          <a:xfrm flipH="1" rot="10800000">
            <a:off x="868192" y="361178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33"/>
          <p:cNvCxnSpPr>
            <a:stCxn id="257" idx="5"/>
            <a:endCxn id="261" idx="2"/>
          </p:cNvCxnSpPr>
          <p:nvPr/>
        </p:nvCxnSpPr>
        <p:spPr>
          <a:xfrm>
            <a:off x="868192" y="418651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33"/>
          <p:cNvSpPr/>
          <p:nvPr/>
        </p:nvSpPr>
        <p:spPr>
          <a:xfrm>
            <a:off x="1966338" y="3466650"/>
            <a:ext cx="319200" cy="290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3"/>
          <p:cNvSpPr/>
          <p:nvPr/>
        </p:nvSpPr>
        <p:spPr>
          <a:xfrm>
            <a:off x="1966338" y="4374200"/>
            <a:ext cx="319200" cy="290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3"/>
          <p:cNvSpPr/>
          <p:nvPr/>
        </p:nvSpPr>
        <p:spPr>
          <a:xfrm>
            <a:off x="6858463" y="3957375"/>
            <a:ext cx="319200" cy="290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3" name="Google Shape;263;p33"/>
          <p:cNvCxnSpPr>
            <a:stCxn id="262" idx="7"/>
            <a:endCxn id="264" idx="2"/>
          </p:cNvCxnSpPr>
          <p:nvPr/>
        </p:nvCxnSpPr>
        <p:spPr>
          <a:xfrm flipH="1" rot="10800000">
            <a:off x="7130917" y="3630259"/>
            <a:ext cx="1098000" cy="3696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33"/>
          <p:cNvCxnSpPr>
            <a:stCxn id="262" idx="5"/>
            <a:endCxn id="266" idx="2"/>
          </p:cNvCxnSpPr>
          <p:nvPr/>
        </p:nvCxnSpPr>
        <p:spPr>
          <a:xfrm>
            <a:off x="7130917" y="4204991"/>
            <a:ext cx="1098000" cy="3327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33"/>
          <p:cNvSpPr/>
          <p:nvPr/>
        </p:nvSpPr>
        <p:spPr>
          <a:xfrm>
            <a:off x="8229063" y="3485125"/>
            <a:ext cx="319200" cy="290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3"/>
          <p:cNvSpPr/>
          <p:nvPr/>
        </p:nvSpPr>
        <p:spPr>
          <a:xfrm>
            <a:off x="8229063" y="4392675"/>
            <a:ext cx="319200" cy="290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7" name="Google Shape;267;p33"/>
          <p:cNvCxnSpPr>
            <a:stCxn id="266" idx="0"/>
            <a:endCxn id="264" idx="4"/>
          </p:cNvCxnSpPr>
          <p:nvPr/>
        </p:nvCxnSpPr>
        <p:spPr>
          <a:xfrm rot="10800000">
            <a:off x="8388663" y="3775275"/>
            <a:ext cx="0" cy="61740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" name="Google Shape;268;p33"/>
          <p:cNvSpPr/>
          <p:nvPr/>
        </p:nvSpPr>
        <p:spPr>
          <a:xfrm>
            <a:off x="3832725" y="4021750"/>
            <a:ext cx="319200" cy="290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9" name="Google Shape;269;p33"/>
          <p:cNvCxnSpPr>
            <a:stCxn id="268" idx="7"/>
            <a:endCxn id="270" idx="2"/>
          </p:cNvCxnSpPr>
          <p:nvPr/>
        </p:nvCxnSpPr>
        <p:spPr>
          <a:xfrm flipH="1" rot="10800000">
            <a:off x="4105179" y="3694634"/>
            <a:ext cx="1098000" cy="3696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" name="Google Shape;271;p33"/>
          <p:cNvCxnSpPr>
            <a:stCxn id="268" idx="5"/>
            <a:endCxn id="272" idx="2"/>
          </p:cNvCxnSpPr>
          <p:nvPr/>
        </p:nvCxnSpPr>
        <p:spPr>
          <a:xfrm>
            <a:off x="4105179" y="4269366"/>
            <a:ext cx="1098000" cy="332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33"/>
          <p:cNvSpPr/>
          <p:nvPr/>
        </p:nvSpPr>
        <p:spPr>
          <a:xfrm>
            <a:off x="5203325" y="3549500"/>
            <a:ext cx="319200" cy="290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3"/>
          <p:cNvSpPr/>
          <p:nvPr/>
        </p:nvSpPr>
        <p:spPr>
          <a:xfrm>
            <a:off x="5203325" y="4457050"/>
            <a:ext cx="319200" cy="290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3"/>
          <p:cNvSpPr/>
          <p:nvPr/>
        </p:nvSpPr>
        <p:spPr>
          <a:xfrm>
            <a:off x="2842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3"/>
          <p:cNvSpPr/>
          <p:nvPr/>
        </p:nvSpPr>
        <p:spPr>
          <a:xfrm>
            <a:off x="6079338" y="4000450"/>
            <a:ext cx="386700" cy="33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5" name="Google Shape;275;p33"/>
          <p:cNvCxnSpPr>
            <a:stCxn id="261" idx="0"/>
            <a:endCxn id="259" idx="4"/>
          </p:cNvCxnSpPr>
          <p:nvPr/>
        </p:nvCxnSpPr>
        <p:spPr>
          <a:xfrm rot="10800000">
            <a:off x="2125938" y="3756800"/>
            <a:ext cx="0" cy="617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33"/>
          <p:cNvCxnSpPr>
            <a:stCxn id="256" idx="2"/>
          </p:cNvCxnSpPr>
          <p:nvPr/>
        </p:nvCxnSpPr>
        <p:spPr>
          <a:xfrm flipH="1" rot="10800000">
            <a:off x="4713175" y="4503525"/>
            <a:ext cx="4800" cy="3480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" name="Google Shape;277;p33"/>
          <p:cNvCxnSpPr>
            <a:stCxn id="272" idx="0"/>
            <a:endCxn id="270" idx="4"/>
          </p:cNvCxnSpPr>
          <p:nvPr/>
        </p:nvCxnSpPr>
        <p:spPr>
          <a:xfrm rot="10800000">
            <a:off x="5362925" y="3839650"/>
            <a:ext cx="0" cy="6174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" name="Google Shape;278;p33"/>
          <p:cNvCxnSpPr>
            <a:stCxn id="256" idx="3"/>
          </p:cNvCxnSpPr>
          <p:nvPr/>
        </p:nvCxnSpPr>
        <p:spPr>
          <a:xfrm flipH="1">
            <a:off x="5394925" y="4150575"/>
            <a:ext cx="328500" cy="48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9" name="Google Shape;279;p33"/>
          <p:cNvCxnSpPr/>
          <p:nvPr/>
        </p:nvCxnSpPr>
        <p:spPr>
          <a:xfrm>
            <a:off x="4572000" y="3452425"/>
            <a:ext cx="126900" cy="4032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0" name="Google Shape;280;p33"/>
          <p:cNvCxnSpPr>
            <a:stCxn id="256" idx="2"/>
            <a:endCxn id="268" idx="4"/>
          </p:cNvCxnSpPr>
          <p:nvPr/>
        </p:nvCxnSpPr>
        <p:spPr>
          <a:xfrm rot="10800000">
            <a:off x="3992275" y="4311825"/>
            <a:ext cx="720900" cy="5397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1" name="Google Shape;281;p33"/>
          <p:cNvCxnSpPr>
            <a:stCxn id="256" idx="3"/>
            <a:endCxn id="272" idx="7"/>
          </p:cNvCxnSpPr>
          <p:nvPr/>
        </p:nvCxnSpPr>
        <p:spPr>
          <a:xfrm flipH="1">
            <a:off x="5475925" y="4150575"/>
            <a:ext cx="247500" cy="3489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2" name="Google Shape;282;p33"/>
          <p:cNvCxnSpPr>
            <a:endCxn id="270" idx="1"/>
          </p:cNvCxnSpPr>
          <p:nvPr/>
        </p:nvCxnSpPr>
        <p:spPr>
          <a:xfrm>
            <a:off x="4563071" y="3471684"/>
            <a:ext cx="687000" cy="120300"/>
          </a:xfrm>
          <a:prstGeom prst="straightConnector1">
            <a:avLst/>
          </a:prstGeom>
          <a:noFill/>
          <a:ln cap="flat" cmpd="sng" w="19050">
            <a:solidFill>
              <a:srgbClr val="B7B7B7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3" name="Google Shape;283;p33"/>
          <p:cNvSpPr/>
          <p:nvPr/>
        </p:nvSpPr>
        <p:spPr>
          <a:xfrm>
            <a:off x="3702925" y="2733125"/>
            <a:ext cx="2020500" cy="714000"/>
          </a:xfrm>
          <a:prstGeom prst="rect">
            <a:avLst/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actors work together to keep ties from dissolving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