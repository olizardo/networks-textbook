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Josefin Slab"/>
      <p:regular r:id="rId40"/>
      <p:bold r:id="rId41"/>
      <p:italic r:id="rId42"/>
      <p:boldItalic r:id="rId43"/>
    </p:embeddedFont>
    <p:embeddedFont>
      <p:font typeface="Economica"/>
      <p:regular r:id="rId44"/>
      <p:bold r:id="rId45"/>
      <p:italic r:id="rId46"/>
      <p:boldItalic r:id="rId47"/>
    </p:embeddedFont>
    <p:embeddedFont>
      <p:font typeface="Roboto"/>
      <p:regular r:id="rId48"/>
      <p:bold r:id="rId49"/>
      <p:italic r:id="rId50"/>
      <p:boldItalic r:id="rId51"/>
    </p:embeddedFont>
    <p:embeddedFont>
      <p:font typeface="Open Sans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994D1D-B55A-454A-A161-471EABB766F3}">
  <a:tblStyle styleId="{C4994D1D-B55A-454A-A161-471EABB766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osefinSlab-regular.fntdata"/><Relationship Id="rId42" Type="http://schemas.openxmlformats.org/officeDocument/2006/relationships/font" Target="fonts/JosefinSlab-italic.fntdata"/><Relationship Id="rId41" Type="http://schemas.openxmlformats.org/officeDocument/2006/relationships/font" Target="fonts/JosefinSlab-bold.fntdata"/><Relationship Id="rId44" Type="http://schemas.openxmlformats.org/officeDocument/2006/relationships/font" Target="fonts/Economica-regular.fntdata"/><Relationship Id="rId43" Type="http://schemas.openxmlformats.org/officeDocument/2006/relationships/font" Target="fonts/JosefinSlab-boldItalic.fntdata"/><Relationship Id="rId46" Type="http://schemas.openxmlformats.org/officeDocument/2006/relationships/font" Target="fonts/Economica-italic.fntdata"/><Relationship Id="rId45" Type="http://schemas.openxmlformats.org/officeDocument/2006/relationships/font" Target="fonts/Economica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regular.fntdata"/><Relationship Id="rId47" Type="http://schemas.openxmlformats.org/officeDocument/2006/relationships/font" Target="fonts/Economica-boldItalic.fntdata"/><Relationship Id="rId49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-boldItalic.fntdata"/><Relationship Id="rId50" Type="http://schemas.openxmlformats.org/officeDocument/2006/relationships/font" Target="fonts/Roboto-italic.fntdata"/><Relationship Id="rId53" Type="http://schemas.openxmlformats.org/officeDocument/2006/relationships/font" Target="fonts/OpenSans-bold.fntdata"/><Relationship Id="rId52" Type="http://schemas.openxmlformats.org/officeDocument/2006/relationships/font" Target="fonts/OpenSans-regular.fntdata"/><Relationship Id="rId11" Type="http://schemas.openxmlformats.org/officeDocument/2006/relationships/slide" Target="slides/slide6.xml"/><Relationship Id="rId55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54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fa22ea1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fa22ea1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7d40ea37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7d40ea37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7d40ea374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7d40ea374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4e2770f646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4e2770f646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4e2770f646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4e2770f646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e2770f646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4e2770f646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4e2770f646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4e2770f646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4e2770f646_0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4e2770f646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4e2770f646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4e2770f646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4e2770f646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4e2770f646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4e2770f646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4e2770f646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4e2770f646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4e2770f646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4e2770f646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4e2770f646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4e2770f646_0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4e2770f646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4e2770f646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4e2770f646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4e2770f646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4e2770f646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4e2770f646_0_7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4e2770f646_0_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4e2770f646_0_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4e2770f646_0_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4e2770f646_0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4e2770f646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4e2770f646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4e2770f646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4e2770f646_0_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4e2770f646_0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4e2770f646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4e2770f646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4e2770f646_0_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4e2770f646_0_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4e2770f646_0_9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4e2770f646_0_9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4e2770f646_0_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4e2770f646_0_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4e2770f646_0_9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4e2770f646_0_9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4e2770f646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4e2770f646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4e2770f6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4e2770f6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4e2770f64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4e2770f64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4e2770f64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4e2770f64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4e2770f646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4e2770f64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4e2770f646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4e2770f646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4e2770f646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4e2770f646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gif"/><Relationship Id="rId4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gif"/><Relationship Id="rId4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4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69" name="Google Shape;69;p14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0" name="Google Shape;70;p14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3" name="Google Shape;73;p14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74" name="Google Shape;74;p14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5" name="Google Shape;75;p14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4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77" name="Google Shape;77;p14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8" name="Google Shape;78;p14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79" name="Google Shape;79;p14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0" name="Google Shape;80;p14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82" name="Google Shape;82;p14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3" name="Google Shape;83;p14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84" name="Google Shape;84;p14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5" name="Google Shape;85;p14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4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87" name="Google Shape;87;p14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8" name="Google Shape;88;p14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89" name="Google Shape;89;p14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0" name="Google Shape;90;p14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4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92" name="Google Shape;92;p14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3" name="Google Shape;93;p14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94" name="Google Shape;94;p14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95" name="Google Shape;95;p14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96" name="Google Shape;96;p14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97" name="Google Shape;97;p14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98" name="Google Shape;98;p14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99" name="Google Shape;99;p14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00" name="Google Shape;100;p14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01" name="Google Shape;101;p14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02" name="Google Shape;102;p14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03" name="Google Shape;103;p14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04" name="Google Shape;104;p14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05" name="Google Shape;105;p14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06" name="Google Shape;106;p14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07" name="Google Shape;107;p14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08" name="Google Shape;108;p14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09" name="Google Shape;109;p14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10" name="Google Shape;110;p14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sp>
        <p:nvSpPr>
          <p:cNvPr id="111" name="Google Shape;111;p14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The first part of the course follows this 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2" name="Google Shape;112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5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118" name="Google Shape;118;p15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9" name="Google Shape;119;p15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21" name="Google Shape;121;p15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2" name="Google Shape;122;p15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123" name="Google Shape;123;p15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" name="Google Shape;124;p15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26" name="Google Shape;126;p15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7" name="Google Shape;127;p15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128" name="Google Shape;128;p15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" name="Google Shape;129;p15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5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31" name="Google Shape;131;p15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2" name="Google Shape;132;p15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133" name="Google Shape;133;p15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4" name="Google Shape;134;p15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5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36" name="Google Shape;136;p15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7" name="Google Shape;137;p15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138" name="Google Shape;138;p15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39" name="Google Shape;139;p15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0" name="Google Shape;140;p15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1" name="Google Shape;141;p15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2" name="Google Shape;142;p15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3" name="Google Shape;143;p15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4" name="Google Shape;144;p15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5" name="Google Shape;145;p15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6" name="Google Shape;146;p15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7" name="Google Shape;147;p15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8" name="Google Shape;148;p15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9" name="Google Shape;149;p15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0" name="Google Shape;150;p15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1" name="Google Shape;151;p15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2" name="Google Shape;152;p15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3" name="Google Shape;153;p15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4" name="Google Shape;154;p15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grpSp>
        <p:nvGrpSpPr>
          <p:cNvPr id="155" name="Google Shape;155;p15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156" name="Google Shape;156;p15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7" name="Google Shape;157;p15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5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59" name="Google Shape;159;p15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60" name="Google Shape;160;p15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The first part of the course follows this 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1" name="Google Shape;161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  <p:sp>
        <p:nvSpPr>
          <p:cNvPr id="162" name="Google Shape;162;p15"/>
          <p:cNvSpPr/>
          <p:nvPr/>
        </p:nvSpPr>
        <p:spPr>
          <a:xfrm>
            <a:off x="4766075" y="2115325"/>
            <a:ext cx="4196100" cy="1014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Triadic processes</a:t>
            </a:r>
            <a:endParaRPr/>
          </a:p>
        </p:txBody>
      </p:sp>
      <p:sp>
        <p:nvSpPr>
          <p:cNvPr id="168" name="Google Shape;1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Triadic configurations exhibit properties not reducible to (but still dependent on) dyadic processes (Simmel 1908)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"Simplest" configuration that exhibit "group" properties (e.g. factionalization, alliance formation, brokerage,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series of social network theories in rely on triadic processes: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Balance Theory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Granovetter's "Strength of Weak Ties" (SWT)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Simmelian Ties Theory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Holes (SH) Theory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alance theory</a:t>
            </a:r>
            <a:endParaRPr/>
          </a:p>
        </p:txBody>
      </p:sp>
      <p:sp>
        <p:nvSpPr>
          <p:cNvPr id="174" name="Google Shape;174;p17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Building blocks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(directed) relationships defined on those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example: Likes and Dislikes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181" name="Google Shape;181;p18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Considering triads containing directional arcs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key to balance theory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Solid</a:t>
            </a:r>
            <a:r>
              <a:rPr lang="en"/>
              <a:t> lines are positive sentiments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Null</a:t>
            </a:r>
            <a:r>
              <a:rPr lang="en"/>
              <a:t> (dashed) lines are negative sentiments</a:t>
            </a:r>
            <a:endParaRPr/>
          </a:p>
        </p:txBody>
      </p:sp>
      <p:pic>
        <p:nvPicPr>
          <p:cNvPr id="182" name="Google Shape;1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188" name="Google Shape;188;p19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balance theory, each vertex in the configuration is given a designation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Person (P):</a:t>
            </a:r>
            <a:r>
              <a:rPr lang="en"/>
              <a:t> "The individual whose behavior is being predicted by the theory" (Davis 1963: 445).</a:t>
            </a:r>
            <a:endParaRPr/>
          </a:p>
        </p:txBody>
      </p:sp>
      <p:pic>
        <p:nvPicPr>
          <p:cNvPr id="189" name="Google Shape;1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195" name="Google Shape;195;p20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balance theory, each vertex in the configuration is given a designation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Other (O): </a:t>
            </a:r>
            <a:r>
              <a:rPr lang="en"/>
              <a:t>An object (e.g another individual) towards which P is oriented.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alance theory</a:t>
            </a:r>
            <a:endParaRPr/>
          </a:p>
        </p:txBody>
      </p:sp>
      <p:sp>
        <p:nvSpPr>
          <p:cNvPr id="202" name="Google Shape;202;p21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balance theory, each vertex in the configuration is given a designation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Q:</a:t>
            </a:r>
            <a:r>
              <a:rPr lang="en"/>
              <a:t> A third object (a value, group or another individual) towards which P and O are oriented.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alance theory</a:t>
            </a:r>
            <a:endParaRPr/>
          </a:p>
        </p:txBody>
      </p:sp>
      <p:sp>
        <p:nvSpPr>
          <p:cNvPr id="209" name="Google Shape;209;p22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basic premise of the theory is that people are motivated to seek </a:t>
            </a:r>
            <a:r>
              <a:rPr b="1" lang="en"/>
              <a:t>balance </a:t>
            </a:r>
            <a:r>
              <a:rPr lang="en"/>
              <a:t>in the triadic configurations in which they are embedded.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16" name="Google Shape;216;p23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Positive</a:t>
            </a:r>
            <a:r>
              <a:rPr lang="en"/>
              <a:t> triads are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Negative</a:t>
            </a:r>
            <a:r>
              <a:rPr lang="en"/>
              <a:t> triads are imbalanced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alance theory</a:t>
            </a:r>
            <a:endParaRPr/>
          </a:p>
        </p:txBody>
      </p:sp>
      <p:graphicFrame>
        <p:nvGraphicFramePr>
          <p:cNvPr id="223" name="Google Shape;223;p24"/>
          <p:cNvGraphicFramePr/>
          <p:nvPr/>
        </p:nvGraphicFramePr>
        <p:xfrm>
          <a:off x="952475" y="114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{C4994D1D-B55A-454A-A161-471EABB766F3}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PQ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OQ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POQ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4" name="Google Shape;224;p24"/>
          <p:cNvSpPr/>
          <p:nvPr/>
        </p:nvSpPr>
        <p:spPr>
          <a:xfrm>
            <a:off x="1346800" y="19565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68D0C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/>
          <p:nvPr/>
        </p:nvSpPr>
        <p:spPr>
          <a:xfrm>
            <a:off x="3370125" y="19565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4"/>
          <p:cNvSpPr/>
          <p:nvPr/>
        </p:nvSpPr>
        <p:spPr>
          <a:xfrm>
            <a:off x="7472700" y="19274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257E12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4"/>
          <p:cNvSpPr/>
          <p:nvPr/>
        </p:nvSpPr>
        <p:spPr>
          <a:xfrm>
            <a:off x="7472700" y="2505138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257E12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4"/>
          <p:cNvSpPr/>
          <p:nvPr/>
        </p:nvSpPr>
        <p:spPr>
          <a:xfrm>
            <a:off x="6442675" y="1956525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6442675" y="2534238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4"/>
          <p:cNvSpPr/>
          <p:nvPr/>
        </p:nvSpPr>
        <p:spPr>
          <a:xfrm>
            <a:off x="6442675" y="3104875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4"/>
          <p:cNvSpPr/>
          <p:nvPr/>
        </p:nvSpPr>
        <p:spPr>
          <a:xfrm>
            <a:off x="6442675" y="3775625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4"/>
          <p:cNvSpPr/>
          <p:nvPr/>
        </p:nvSpPr>
        <p:spPr>
          <a:xfrm>
            <a:off x="2267225" y="195652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4"/>
          <p:cNvSpPr/>
          <p:nvPr/>
        </p:nvSpPr>
        <p:spPr>
          <a:xfrm>
            <a:off x="2267225" y="2534238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4"/>
          <p:cNvSpPr/>
          <p:nvPr/>
        </p:nvSpPr>
        <p:spPr>
          <a:xfrm>
            <a:off x="2267225" y="310487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4"/>
          <p:cNvSpPr/>
          <p:nvPr/>
        </p:nvSpPr>
        <p:spPr>
          <a:xfrm>
            <a:off x="2267225" y="377562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/>
          <p:nvPr/>
        </p:nvSpPr>
        <p:spPr>
          <a:xfrm>
            <a:off x="1281250" y="2527038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68D0C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/>
          <p:nvPr/>
        </p:nvSpPr>
        <p:spPr>
          <a:xfrm>
            <a:off x="3304575" y="3768425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4"/>
          <p:cNvSpPr/>
          <p:nvPr/>
        </p:nvSpPr>
        <p:spPr>
          <a:xfrm>
            <a:off x="4375500" y="189832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4"/>
          <p:cNvSpPr/>
          <p:nvPr/>
        </p:nvSpPr>
        <p:spPr>
          <a:xfrm>
            <a:off x="4375500" y="2476038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4"/>
          <p:cNvSpPr/>
          <p:nvPr/>
        </p:nvSpPr>
        <p:spPr>
          <a:xfrm>
            <a:off x="4375500" y="304667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4"/>
          <p:cNvSpPr/>
          <p:nvPr/>
        </p:nvSpPr>
        <p:spPr>
          <a:xfrm>
            <a:off x="4375500" y="371742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4"/>
          <p:cNvSpPr/>
          <p:nvPr/>
        </p:nvSpPr>
        <p:spPr>
          <a:xfrm>
            <a:off x="5456825" y="19274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4"/>
          <p:cNvSpPr/>
          <p:nvPr/>
        </p:nvSpPr>
        <p:spPr>
          <a:xfrm>
            <a:off x="7472700" y="3203038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257E12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4"/>
          <p:cNvSpPr/>
          <p:nvPr/>
        </p:nvSpPr>
        <p:spPr>
          <a:xfrm>
            <a:off x="7472700" y="37756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257E12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4"/>
          <p:cNvSpPr/>
          <p:nvPr/>
        </p:nvSpPr>
        <p:spPr>
          <a:xfrm>
            <a:off x="3304575" y="2556138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4"/>
          <p:cNvSpPr/>
          <p:nvPr/>
        </p:nvSpPr>
        <p:spPr>
          <a:xfrm>
            <a:off x="5456825" y="2563338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4"/>
          <p:cNvSpPr/>
          <p:nvPr/>
        </p:nvSpPr>
        <p:spPr>
          <a:xfrm>
            <a:off x="1281250" y="3195838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68D0C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4"/>
          <p:cNvSpPr/>
          <p:nvPr/>
        </p:nvSpPr>
        <p:spPr>
          <a:xfrm>
            <a:off x="1281250" y="38047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68D0C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4"/>
          <p:cNvSpPr/>
          <p:nvPr/>
        </p:nvSpPr>
        <p:spPr>
          <a:xfrm>
            <a:off x="3370125" y="3203038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4"/>
          <p:cNvSpPr/>
          <p:nvPr/>
        </p:nvSpPr>
        <p:spPr>
          <a:xfrm>
            <a:off x="5391275" y="3195838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4"/>
          <p:cNvSpPr/>
          <p:nvPr/>
        </p:nvSpPr>
        <p:spPr>
          <a:xfrm>
            <a:off x="5391275" y="3768425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alance theory</a:t>
            </a:r>
            <a:endParaRPr/>
          </a:p>
        </p:txBody>
      </p:sp>
      <p:sp>
        <p:nvSpPr>
          <p:cNvPr id="257" name="Google Shape;257;p25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reduces “tension” and is experienced as satisfactory (stable equilibrium)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alance theory</a:t>
            </a:r>
            <a:endParaRPr/>
          </a:p>
        </p:txBody>
      </p:sp>
      <p:sp>
        <p:nvSpPr>
          <p:cNvPr id="264" name="Google Shape;264;p26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Imbalance is experienced as tension and discomfort (unstable state) that must be resolved (balanced)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65" name="Google Shape;26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alance theory</a:t>
            </a:r>
            <a:endParaRPr/>
          </a:p>
        </p:txBody>
      </p:sp>
      <p:sp>
        <p:nvSpPr>
          <p:cNvPr id="271" name="Google Shape;271;p27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Imbalance is experienced as tension and discomfort (unstable state) that must be resolved (balanced)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72" name="Google Shape;27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250" y="2465425"/>
            <a:ext cx="3801500" cy="224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alance theory</a:t>
            </a:r>
            <a:endParaRPr/>
          </a:p>
        </p:txBody>
      </p:sp>
      <p:sp>
        <p:nvSpPr>
          <p:cNvPr id="278" name="Google Shape;278;p28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Imbalance is experienced as tension and discomfort (unstable state) that must be resolved (balanced)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250" y="2465425"/>
            <a:ext cx="3801500" cy="224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8"/>
          <p:cNvSpPr txBox="1"/>
          <p:nvPr/>
        </p:nvSpPr>
        <p:spPr>
          <a:xfrm>
            <a:off x="2533075" y="4118675"/>
            <a:ext cx="10926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You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81" name="Google Shape;281;p28"/>
          <p:cNvSpPr txBox="1"/>
          <p:nvPr/>
        </p:nvSpPr>
        <p:spPr>
          <a:xfrm>
            <a:off x="5095150" y="4118675"/>
            <a:ext cx="15468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Clint Eastwood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82" name="Google Shape;282;p28"/>
          <p:cNvSpPr txBox="1"/>
          <p:nvPr/>
        </p:nvSpPr>
        <p:spPr>
          <a:xfrm>
            <a:off x="3441900" y="2588800"/>
            <a:ext cx="18852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Republican Party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83" name="Google Shape;28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9175" y="2403350"/>
            <a:ext cx="2203756" cy="237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alance theory</a:t>
            </a:r>
            <a:endParaRPr/>
          </a:p>
        </p:txBody>
      </p:sp>
      <p:sp>
        <p:nvSpPr>
          <p:cNvPr id="289" name="Google Shape;289;p29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Imbalance is experienced as tension and discomfort (unstable state) that must be resolved (balanced)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90" name="Google Shape;29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250" y="2465425"/>
            <a:ext cx="3801500" cy="224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9"/>
          <p:cNvSpPr txBox="1"/>
          <p:nvPr/>
        </p:nvSpPr>
        <p:spPr>
          <a:xfrm>
            <a:off x="2533075" y="4118675"/>
            <a:ext cx="10926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You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92" name="Google Shape;292;p29"/>
          <p:cNvSpPr txBox="1"/>
          <p:nvPr/>
        </p:nvSpPr>
        <p:spPr>
          <a:xfrm>
            <a:off x="5095150" y="4118675"/>
            <a:ext cx="15468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Clint Eastwood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93" name="Google Shape;293;p29"/>
          <p:cNvSpPr txBox="1"/>
          <p:nvPr/>
        </p:nvSpPr>
        <p:spPr>
          <a:xfrm>
            <a:off x="3441900" y="2588800"/>
            <a:ext cx="18852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Republican Party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94" name="Google Shape;29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9175" y="2403350"/>
            <a:ext cx="2203756" cy="2373276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9"/>
          <p:cNvSpPr txBox="1"/>
          <p:nvPr/>
        </p:nvSpPr>
        <p:spPr>
          <a:xfrm>
            <a:off x="290350" y="2588800"/>
            <a:ext cx="24930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You either become a Republican and keep liking Clint Eastwood movies</a:t>
            </a:r>
            <a:endParaRPr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Or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Decide that Clint Eastwood was an overrated hack anyways!</a:t>
            </a:r>
            <a:endParaRPr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alance theory</a:t>
            </a:r>
            <a:endParaRPr/>
          </a:p>
        </p:txBody>
      </p:sp>
      <p:sp>
        <p:nvSpPr>
          <p:cNvPr id="301" name="Google Shape;301;p30"/>
          <p:cNvSpPr txBox="1"/>
          <p:nvPr>
            <p:ph idx="1" type="body"/>
          </p:nvPr>
        </p:nvSpPr>
        <p:spPr>
          <a:xfrm>
            <a:off x="311700" y="1225225"/>
            <a:ext cx="85206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"rules"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P likes O, and O likes Q, P likes Q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dislikes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O, and O 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 and O dislikes Q, P likes Q</a:t>
            </a:r>
            <a:endParaRPr/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325" y="2687725"/>
            <a:ext cx="3531340" cy="2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/>
          <p:nvPr/>
        </p:nvSpPr>
        <p:spPr>
          <a:xfrm>
            <a:off x="2745775" y="2687725"/>
            <a:ext cx="766500" cy="6768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alance theory</a:t>
            </a:r>
            <a:endParaRPr/>
          </a:p>
        </p:txBody>
      </p:sp>
      <p:sp>
        <p:nvSpPr>
          <p:cNvPr id="309" name="Google Shape;309;p31"/>
          <p:cNvSpPr txBox="1"/>
          <p:nvPr>
            <p:ph idx="1" type="body"/>
          </p:nvPr>
        </p:nvSpPr>
        <p:spPr>
          <a:xfrm>
            <a:off x="311700" y="1225225"/>
            <a:ext cx="85206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"rules"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likes Q, P 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P likes O, and O dislikes Q, P dislikes Q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O, and O 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 and O dislikes Q, P likes Q</a:t>
            </a:r>
            <a:endParaRPr/>
          </a:p>
        </p:txBody>
      </p:sp>
      <p:pic>
        <p:nvPicPr>
          <p:cNvPr id="310" name="Google Shape;31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325" y="2687725"/>
            <a:ext cx="3531340" cy="2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1"/>
          <p:cNvSpPr/>
          <p:nvPr/>
        </p:nvSpPr>
        <p:spPr>
          <a:xfrm>
            <a:off x="3681300" y="2687725"/>
            <a:ext cx="766500" cy="6768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alance theory</a:t>
            </a:r>
            <a:endParaRPr/>
          </a:p>
        </p:txBody>
      </p:sp>
      <p:sp>
        <p:nvSpPr>
          <p:cNvPr id="317" name="Google Shape;317;p32"/>
          <p:cNvSpPr txBox="1"/>
          <p:nvPr>
            <p:ph idx="1" type="body"/>
          </p:nvPr>
        </p:nvSpPr>
        <p:spPr>
          <a:xfrm>
            <a:off x="311700" y="1225225"/>
            <a:ext cx="85206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"rules"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likes Q, P 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dislikes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P dislikes O, and O likes Q, P dislikes Q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 and O dislikes Q, P likes Q</a:t>
            </a:r>
            <a:endParaRPr/>
          </a:p>
        </p:txBody>
      </p:sp>
      <p:pic>
        <p:nvPicPr>
          <p:cNvPr id="318" name="Google Shape;31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325" y="2687725"/>
            <a:ext cx="3531340" cy="2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2"/>
          <p:cNvSpPr/>
          <p:nvPr/>
        </p:nvSpPr>
        <p:spPr>
          <a:xfrm>
            <a:off x="4631100" y="2687725"/>
            <a:ext cx="766500" cy="6768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alance theory</a:t>
            </a:r>
            <a:endParaRPr/>
          </a:p>
        </p:txBody>
      </p:sp>
      <p:sp>
        <p:nvSpPr>
          <p:cNvPr id="325" name="Google Shape;325;p33"/>
          <p:cNvSpPr txBox="1"/>
          <p:nvPr>
            <p:ph idx="1" type="body"/>
          </p:nvPr>
        </p:nvSpPr>
        <p:spPr>
          <a:xfrm>
            <a:off x="311700" y="1225225"/>
            <a:ext cx="85206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"rules"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likes Q, P 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dislikes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O, and O 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P dislikes O and O dislikes Q, P likes Q</a:t>
            </a:r>
            <a:endParaRPr b="1"/>
          </a:p>
        </p:txBody>
      </p:sp>
      <p:pic>
        <p:nvPicPr>
          <p:cNvPr id="326" name="Google Shape;32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325" y="2687725"/>
            <a:ext cx="3531340" cy="2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3"/>
          <p:cNvSpPr/>
          <p:nvPr/>
        </p:nvSpPr>
        <p:spPr>
          <a:xfrm>
            <a:off x="5571175" y="2687725"/>
            <a:ext cx="766500" cy="6768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alance theory</a:t>
            </a:r>
            <a:endParaRPr/>
          </a:p>
        </p:txBody>
      </p:sp>
      <p:sp>
        <p:nvSpPr>
          <p:cNvPr id="333" name="Google Shape;333;p34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Considering relations of multiple others in relation to the same object can lead to more complex mixtures of balance and imbalance: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“cross-pressure” situation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334" name="Google Shape;334;p34"/>
          <p:cNvGrpSpPr/>
          <p:nvPr/>
        </p:nvGrpSpPr>
        <p:grpSpPr>
          <a:xfrm>
            <a:off x="2260837" y="2465425"/>
            <a:ext cx="4622334" cy="2286477"/>
            <a:chOff x="2174275" y="2339700"/>
            <a:chExt cx="4795450" cy="2412150"/>
          </a:xfrm>
        </p:grpSpPr>
        <p:grpSp>
          <p:nvGrpSpPr>
            <p:cNvPr id="335" name="Google Shape;335;p34"/>
            <p:cNvGrpSpPr/>
            <p:nvPr/>
          </p:nvGrpSpPr>
          <p:grpSpPr>
            <a:xfrm>
              <a:off x="2174275" y="2465425"/>
              <a:ext cx="4795450" cy="2286425"/>
              <a:chOff x="1788625" y="2465425"/>
              <a:chExt cx="4795450" cy="2286425"/>
            </a:xfrm>
          </p:grpSpPr>
          <p:pic>
            <p:nvPicPr>
              <p:cNvPr id="336" name="Google Shape;336;p34"/>
              <p:cNvPicPr preferRelativeResize="0"/>
              <p:nvPr/>
            </p:nvPicPr>
            <p:blipFill rotWithShape="1">
              <a:blip r:embed="rId3">
                <a:alphaModFix/>
              </a:blip>
              <a:srcRect b="0" l="1786" r="15144" t="0"/>
              <a:stretch/>
            </p:blipFill>
            <p:spPr>
              <a:xfrm>
                <a:off x="1788625" y="2465425"/>
                <a:ext cx="4795450" cy="2286425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37" name="Google Shape;337;p34"/>
              <p:cNvCxnSpPr/>
              <p:nvPr/>
            </p:nvCxnSpPr>
            <p:spPr>
              <a:xfrm>
                <a:off x="4127828" y="2800028"/>
                <a:ext cx="11100" cy="1148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8" name="Google Shape;338;p34"/>
              <p:cNvCxnSpPr/>
              <p:nvPr/>
            </p:nvCxnSpPr>
            <p:spPr>
              <a:xfrm>
                <a:off x="4271696" y="2810112"/>
                <a:ext cx="0" cy="1168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39" name="Google Shape;339;p34"/>
            <p:cNvSpPr txBox="1"/>
            <p:nvPr/>
          </p:nvSpPr>
          <p:spPr>
            <a:xfrm>
              <a:off x="4408725" y="2339700"/>
              <a:ext cx="367500" cy="34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700">
                  <a:latin typeface="Impact"/>
                  <a:ea typeface="Impact"/>
                  <a:cs typeface="Impact"/>
                  <a:sym typeface="Impact"/>
                </a:rPr>
                <a:t>Q</a:t>
              </a:r>
              <a:endParaRPr b="1" i="1" sz="1700">
                <a:latin typeface="Impact"/>
                <a:ea typeface="Impact"/>
                <a:cs typeface="Impact"/>
                <a:sym typeface="Impact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345" name="Google Shape;345;p35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Simmel’s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Triads are qualitatively different from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Dyads embedded in reciprocally strong triads are not the same as standalone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People in a standalone dyad are more “their own person”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Have more individuality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More potential for unresolved differences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People in an embedded (Simmelian) dyad can be “outvoted”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Hence more likely to conform to the “group”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Less individuality and autonomy</a:t>
            </a:r>
            <a:endParaRPr/>
          </a:p>
        </p:txBody>
      </p:sp>
      <p:sp>
        <p:nvSpPr>
          <p:cNvPr id="346" name="Google Shape;346;p35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7" name="Google Shape;347;p35"/>
          <p:cNvCxnSpPr>
            <a:stCxn id="346" idx="7"/>
            <a:endCxn id="348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35"/>
          <p:cNvCxnSpPr>
            <a:stCxn id="346" idx="5"/>
            <a:endCxn id="350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8" name="Google Shape;348;p35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5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1" name="Google Shape;351;p35"/>
          <p:cNvCxnSpPr>
            <a:stCxn id="350" idx="0"/>
            <a:endCxn id="348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" name="Google Shape;352;p35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3" name="Google Shape;353;p35"/>
          <p:cNvCxnSpPr>
            <a:stCxn id="346" idx="4"/>
            <a:endCxn id="352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359" name="Google Shape;359;p36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Simmel’s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Triads are qualitatively different from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Dyads embedded in reciprocally strong triads are not the same as standalone dyads</a:t>
            </a:r>
            <a:endParaRPr i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/>
              <a:t>People are “power-symmetric” in a standalone dyad: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either withdraws relationship dissolves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one ego is experiences “power-asymmetry” (dependence) in an a triad: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S/he can withdraw but the other two people still have a relationship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S/he loses the benefits of </a:t>
            </a:r>
            <a:r>
              <a:rPr b="1" lang="en"/>
              <a:t>two</a:t>
            </a:r>
            <a:r>
              <a:rPr lang="en"/>
              <a:t> relationships</a:t>
            </a:r>
            <a:endParaRPr/>
          </a:p>
          <a:p>
            <a: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other ego only loses </a:t>
            </a:r>
            <a:r>
              <a:rPr b="1" lang="en"/>
              <a:t>one</a:t>
            </a:r>
            <a:endParaRPr b="1"/>
          </a:p>
        </p:txBody>
      </p:sp>
      <p:sp>
        <p:nvSpPr>
          <p:cNvPr id="360" name="Google Shape;360;p36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1" name="Google Shape;361;p36"/>
          <p:cNvCxnSpPr>
            <a:stCxn id="360" idx="7"/>
            <a:endCxn id="362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36"/>
          <p:cNvCxnSpPr>
            <a:stCxn id="360" idx="5"/>
            <a:endCxn id="364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36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6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5" name="Google Shape;365;p36"/>
          <p:cNvCxnSpPr>
            <a:stCxn id="364" idx="0"/>
            <a:endCxn id="362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6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7" name="Google Shape;367;p36"/>
          <p:cNvCxnSpPr/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373" name="Google Shape;373;p37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Simmel’s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Triads are qualitatively different from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Dyads embedded in reciprocally strong triads are not the same as standalone dyads</a:t>
            </a:r>
            <a:endParaRPr i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/>
              <a:t>Explains why conflict is more difficult to settle in standalone dyads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Explains why sometimes </a:t>
            </a:r>
            <a:r>
              <a:rPr b="1" lang="en"/>
              <a:t>only </a:t>
            </a:r>
            <a:r>
              <a:rPr lang="en"/>
              <a:t>conflict resolution recourse is to turn the standalone dyad into a “temporary” Simmelian dyad: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Arbitration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Mediation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Research shows that third parties are useful in alleviating dyadic conflicts </a:t>
            </a:r>
            <a:endParaRPr/>
          </a:p>
        </p:txBody>
      </p:sp>
      <p:sp>
        <p:nvSpPr>
          <p:cNvPr id="374" name="Google Shape;374;p37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5" name="Google Shape;375;p37"/>
          <p:cNvCxnSpPr>
            <a:stCxn id="374" idx="7"/>
            <a:endCxn id="376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37"/>
          <p:cNvCxnSpPr>
            <a:stCxn id="374" idx="5"/>
            <a:endCxn id="378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6" name="Google Shape;376;p37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7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9" name="Google Shape;379;p37"/>
          <p:cNvCxnSpPr>
            <a:stCxn id="378" idx="0"/>
            <a:endCxn id="376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" name="Google Shape;380;p37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1" name="Google Shape;381;p37"/>
          <p:cNvCxnSpPr/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387" name="Google Shape;387;p38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Simmel’s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Triads are qualitatively different from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Dyads embedded in reciprocally strong triads are not the same as standalone dyads</a:t>
            </a:r>
            <a:endParaRPr i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/>
              <a:t>Networks with closed triads feature two (mutually exclusive) types of ties: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lang="en" u="sng">
                <a:solidFill>
                  <a:srgbClr val="FF0000"/>
                </a:solidFill>
              </a:rPr>
              <a:t>Simmelian ties</a:t>
            </a:r>
            <a:endParaRPr u="sng">
              <a:solidFill>
                <a:srgbClr val="FF0000"/>
              </a:solidFill>
            </a:endParaRPr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>
                <a:solidFill>
                  <a:srgbClr val="FF0000"/>
                </a:solidFill>
              </a:rPr>
              <a:t>Dyads embedded in triads</a:t>
            </a:r>
            <a:endParaRPr>
              <a:solidFill>
                <a:srgbClr val="FF0000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●"/>
            </a:pPr>
            <a:r>
              <a:rPr lang="en" u="sng">
                <a:solidFill>
                  <a:srgbClr val="0000FF"/>
                </a:solidFill>
              </a:rPr>
              <a:t>“Regular” (non-Simmelian) ties</a:t>
            </a:r>
            <a:endParaRPr u="sng">
              <a:solidFill>
                <a:srgbClr val="0000FF"/>
              </a:solidFill>
            </a:endParaRPr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lang="en">
                <a:solidFill>
                  <a:srgbClr val="0000FF"/>
                </a:solidFill>
              </a:rPr>
              <a:t>Stand alone dyads</a:t>
            </a:r>
            <a:endParaRPr>
              <a:solidFill>
                <a:srgbClr val="0000FF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Simmelian ties are more durable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Simmelian ties are stronger</a:t>
            </a:r>
            <a:endParaRPr>
              <a:solidFill>
                <a:srgbClr val="000000"/>
              </a:solidFill>
            </a:endParaRPr>
          </a:p>
          <a:p>
            <a:pPr indent="0" lvl="0" marL="13716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8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9" name="Google Shape;389;p38"/>
          <p:cNvCxnSpPr>
            <a:stCxn id="388" idx="7"/>
            <a:endCxn id="390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38"/>
          <p:cNvCxnSpPr>
            <a:stCxn id="388" idx="5"/>
            <a:endCxn id="392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" name="Google Shape;390;p38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8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3" name="Google Shape;393;p38"/>
          <p:cNvCxnSpPr>
            <a:stCxn id="392" idx="0"/>
            <a:endCxn id="390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4" name="Google Shape;394;p38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5" name="Google Shape;395;p38"/>
          <p:cNvCxnSpPr>
            <a:stCxn id="388" idx="4"/>
            <a:endCxn id="394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Triadic relations in networks</a:t>
            </a:r>
            <a:endParaRPr/>
          </a:p>
        </p:txBody>
      </p:sp>
      <p:sp>
        <p:nvSpPr>
          <p:cNvPr id="401" name="Google Shape;401;p39"/>
          <p:cNvSpPr txBox="1"/>
          <p:nvPr>
            <p:ph idx="1" type="body"/>
          </p:nvPr>
        </p:nvSpPr>
        <p:spPr>
          <a:xfrm>
            <a:off x="311700" y="1225225"/>
            <a:ext cx="8520600" cy="17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types of triads are there?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an </a:t>
            </a:r>
            <a:r>
              <a:rPr b="1" lang="en"/>
              <a:t>undirected graph: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Null (unconnected) triad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Connected pair + unconnected third party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Open triad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Closed triad</a:t>
            </a:r>
            <a:endParaRPr/>
          </a:p>
        </p:txBody>
      </p:sp>
      <p:pic>
        <p:nvPicPr>
          <p:cNvPr id="402" name="Google Shape;40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9713" y="2991925"/>
            <a:ext cx="6144570" cy="184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Transitivity</a:t>
            </a:r>
            <a:endParaRPr/>
          </a:p>
        </p:txBody>
      </p:sp>
      <p:sp>
        <p:nvSpPr>
          <p:cNvPr id="408" name="Google Shape;408;p40"/>
          <p:cNvSpPr txBox="1"/>
          <p:nvPr>
            <p:ph idx="1" type="body"/>
          </p:nvPr>
        </p:nvSpPr>
        <p:spPr>
          <a:xfrm>
            <a:off x="311700" y="1225225"/>
            <a:ext cx="5050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Refers to the tendency in human social networks for open triads to transition into closed triads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Akin to Mathematical transitivity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Relation </a:t>
            </a:r>
            <a:r>
              <a:rPr b="1" lang="en"/>
              <a:t>R</a:t>
            </a:r>
            <a:r>
              <a:rPr lang="en"/>
              <a:t> is transitive iff: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</a:t>
            </a:r>
            <a:r>
              <a:rPr b="1" lang="en"/>
              <a:t>R</a:t>
            </a:r>
            <a:r>
              <a:rPr lang="en"/>
              <a:t>b, and b</a:t>
            </a:r>
            <a:r>
              <a:rPr b="1" lang="en"/>
              <a:t>R</a:t>
            </a:r>
            <a:r>
              <a:rPr lang="en"/>
              <a:t>c jointly imply a</a:t>
            </a:r>
            <a:r>
              <a:rPr b="1" lang="en"/>
              <a:t>R</a:t>
            </a:r>
            <a:r>
              <a:rPr lang="en"/>
              <a:t>c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Equality, Less than, Greater than, etc.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4 </a:t>
            </a:r>
            <a:r>
              <a:rPr b="1" lang="en"/>
              <a:t>&gt;</a:t>
            </a:r>
            <a:r>
              <a:rPr lang="en"/>
              <a:t> 3 &amp; 3 </a:t>
            </a:r>
            <a:r>
              <a:rPr b="1" lang="en"/>
              <a:t>&gt;</a:t>
            </a:r>
            <a:r>
              <a:rPr lang="en"/>
              <a:t> 2 then 4 </a:t>
            </a:r>
            <a:r>
              <a:rPr b="1" lang="en"/>
              <a:t>&gt;</a:t>
            </a:r>
            <a:r>
              <a:rPr lang="en"/>
              <a:t>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reasoning can apply to social relationships: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A is </a:t>
            </a:r>
            <a:r>
              <a:rPr b="1" lang="en"/>
              <a:t>friends </a:t>
            </a:r>
            <a:r>
              <a:rPr lang="en"/>
              <a:t>with B and B is </a:t>
            </a:r>
            <a:r>
              <a:rPr b="1" lang="en"/>
              <a:t>friends </a:t>
            </a:r>
            <a:r>
              <a:rPr lang="en"/>
              <a:t>with C then A is </a:t>
            </a:r>
            <a:r>
              <a:rPr b="1" lang="en"/>
              <a:t>friends </a:t>
            </a:r>
            <a:r>
              <a:rPr lang="en"/>
              <a:t>with C</a:t>
            </a:r>
            <a:endParaRPr/>
          </a:p>
        </p:txBody>
      </p:sp>
      <p:pic>
        <p:nvPicPr>
          <p:cNvPr id="409" name="Google Shape;409;p40"/>
          <p:cNvPicPr preferRelativeResize="0"/>
          <p:nvPr/>
        </p:nvPicPr>
        <p:blipFill rotWithShape="1">
          <a:blip r:embed="rId3">
            <a:alphaModFix/>
          </a:blip>
          <a:srcRect b="0" l="0" r="0" t="8257"/>
          <a:stretch/>
        </p:blipFill>
        <p:spPr>
          <a:xfrm>
            <a:off x="5362525" y="1147225"/>
            <a:ext cx="3469775" cy="376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1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5" name="Google Shape;415;p41"/>
          <p:cNvCxnSpPr>
            <a:stCxn id="414" idx="7"/>
            <a:endCxn id="416" idx="2"/>
          </p:cNvCxnSpPr>
          <p:nvPr/>
        </p:nvCxnSpPr>
        <p:spPr>
          <a:xfrm flipH="1" rot="10800000">
            <a:off x="868192" y="361178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41"/>
          <p:cNvCxnSpPr>
            <a:stCxn id="414" idx="5"/>
            <a:endCxn id="418" idx="2"/>
          </p:cNvCxnSpPr>
          <p:nvPr/>
        </p:nvCxnSpPr>
        <p:spPr>
          <a:xfrm>
            <a:off x="868192" y="418651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41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1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1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0" name="Google Shape;420;p41"/>
          <p:cNvCxnSpPr>
            <a:stCxn id="419" idx="7"/>
            <a:endCxn id="421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41"/>
          <p:cNvCxnSpPr>
            <a:stCxn id="419" idx="5"/>
            <a:endCxn id="423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41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1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4" name="Google Shape;424;p41"/>
          <p:cNvCxnSpPr>
            <a:stCxn id="423" idx="0"/>
            <a:endCxn id="421" idx="4"/>
          </p:cNvCxnSpPr>
          <p:nvPr/>
        </p:nvCxnSpPr>
        <p:spPr>
          <a:xfrm rot="10800000">
            <a:off x="8388663" y="3775275"/>
            <a:ext cx="0" cy="6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" name="Google Shape;425;p41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6" name="Google Shape;426;p41"/>
          <p:cNvCxnSpPr>
            <a:stCxn id="425" idx="7"/>
            <a:endCxn id="427" idx="2"/>
          </p:cNvCxnSpPr>
          <p:nvPr/>
        </p:nvCxnSpPr>
        <p:spPr>
          <a:xfrm flipH="1" rot="10800000">
            <a:off x="4105179" y="369463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41"/>
          <p:cNvCxnSpPr>
            <a:stCxn id="425" idx="5"/>
            <a:endCxn id="429" idx="2"/>
          </p:cNvCxnSpPr>
          <p:nvPr/>
        </p:nvCxnSpPr>
        <p:spPr>
          <a:xfrm>
            <a:off x="4105179" y="426936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7" name="Google Shape;427;p41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1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1"/>
          <p:cNvSpPr/>
          <p:nvPr/>
        </p:nvSpPr>
        <p:spPr>
          <a:xfrm>
            <a:off x="3302113" y="2845975"/>
            <a:ext cx="1392300" cy="464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Psychological Pressure</a:t>
            </a:r>
            <a:endParaRPr/>
          </a:p>
        </p:txBody>
      </p:sp>
      <p:cxnSp>
        <p:nvCxnSpPr>
          <p:cNvPr id="431" name="Google Shape;431;p41"/>
          <p:cNvCxnSpPr>
            <a:stCxn id="430" idx="2"/>
            <a:endCxn id="425" idx="0"/>
          </p:cNvCxnSpPr>
          <p:nvPr/>
        </p:nvCxnSpPr>
        <p:spPr>
          <a:xfrm flipH="1">
            <a:off x="3992263" y="3310075"/>
            <a:ext cx="6000" cy="71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2" name="Google Shape;432;p41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1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Theories of transitivity</a:t>
            </a:r>
            <a:endParaRPr/>
          </a:p>
        </p:txBody>
      </p:sp>
      <p:sp>
        <p:nvSpPr>
          <p:cNvPr id="435" name="Google Shape;435;p41"/>
          <p:cNvSpPr txBox="1"/>
          <p:nvPr>
            <p:ph idx="1" type="body"/>
          </p:nvPr>
        </p:nvSpPr>
        <p:spPr>
          <a:xfrm>
            <a:off x="311700" y="1225225"/>
            <a:ext cx="8520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Open triad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Ego feels psychological pressure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Ego relieves pressure by closing (e.g., introducing unconnected alters)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Mechanism: Ego-driven link formation</a:t>
            </a:r>
            <a:endParaRPr/>
          </a:p>
        </p:txBody>
      </p:sp>
      <p:sp>
        <p:nvSpPr>
          <p:cNvPr id="436" name="Google Shape;436;p41"/>
          <p:cNvSpPr/>
          <p:nvPr/>
        </p:nvSpPr>
        <p:spPr>
          <a:xfrm>
            <a:off x="5272325" y="4061925"/>
            <a:ext cx="181200" cy="172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7" name="Google Shape;437;p41"/>
          <p:cNvCxnSpPr/>
          <p:nvPr/>
        </p:nvCxnSpPr>
        <p:spPr>
          <a:xfrm>
            <a:off x="4694413" y="3078025"/>
            <a:ext cx="759000" cy="1070400"/>
          </a:xfrm>
          <a:prstGeom prst="bentConnector3">
            <a:avLst>
              <a:gd fmla="val 13138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Theories of transitivity</a:t>
            </a:r>
            <a:endParaRPr/>
          </a:p>
        </p:txBody>
      </p:sp>
      <p:sp>
        <p:nvSpPr>
          <p:cNvPr id="443" name="Google Shape;443;p42"/>
          <p:cNvSpPr txBox="1"/>
          <p:nvPr>
            <p:ph idx="1" type="body"/>
          </p:nvPr>
        </p:nvSpPr>
        <p:spPr>
          <a:xfrm>
            <a:off x="311700" y="1225225"/>
            <a:ext cx="8520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Theory of Social Foci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Empty triad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Actors participates in common focus/joint activity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Closed triad (3-clique)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Mechanism: Context-driven link formation</a:t>
            </a:r>
            <a:endParaRPr/>
          </a:p>
        </p:txBody>
      </p:sp>
      <p:sp>
        <p:nvSpPr>
          <p:cNvPr id="444" name="Google Shape;444;p42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2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2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42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8" name="Google Shape;448;p42"/>
          <p:cNvCxnSpPr>
            <a:stCxn id="447" idx="7"/>
            <a:endCxn id="449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" name="Google Shape;450;p42"/>
          <p:cNvCxnSpPr>
            <a:stCxn id="447" idx="5"/>
            <a:endCxn id="451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" name="Google Shape;449;p42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42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2" name="Google Shape;452;p42"/>
          <p:cNvCxnSpPr>
            <a:stCxn id="451" idx="0"/>
            <a:endCxn id="449" idx="4"/>
          </p:cNvCxnSpPr>
          <p:nvPr/>
        </p:nvCxnSpPr>
        <p:spPr>
          <a:xfrm rot="10800000">
            <a:off x="8388663" y="3775275"/>
            <a:ext cx="0" cy="6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" name="Google Shape;453;p42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42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42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42"/>
          <p:cNvSpPr/>
          <p:nvPr/>
        </p:nvSpPr>
        <p:spPr>
          <a:xfrm>
            <a:off x="3302113" y="2845975"/>
            <a:ext cx="1392300" cy="464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Foci</a:t>
            </a:r>
            <a:endParaRPr/>
          </a:p>
        </p:txBody>
      </p:sp>
      <p:cxnSp>
        <p:nvCxnSpPr>
          <p:cNvPr id="457" name="Google Shape;457;p42"/>
          <p:cNvCxnSpPr>
            <a:stCxn id="456" idx="2"/>
            <a:endCxn id="453" idx="0"/>
          </p:cNvCxnSpPr>
          <p:nvPr/>
        </p:nvCxnSpPr>
        <p:spPr>
          <a:xfrm flipH="1">
            <a:off x="3992263" y="3310075"/>
            <a:ext cx="6000" cy="71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8" name="Google Shape;458;p42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42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0" name="Google Shape;460;p42"/>
          <p:cNvCxnSpPr>
            <a:stCxn id="456" idx="2"/>
            <a:endCxn id="454" idx="1"/>
          </p:cNvCxnSpPr>
          <p:nvPr/>
        </p:nvCxnSpPr>
        <p:spPr>
          <a:xfrm>
            <a:off x="3998263" y="3310075"/>
            <a:ext cx="1251900" cy="28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1" name="Google Shape;461;p42"/>
          <p:cNvCxnSpPr>
            <a:stCxn id="456" idx="2"/>
            <a:endCxn id="455" idx="1"/>
          </p:cNvCxnSpPr>
          <p:nvPr/>
        </p:nvCxnSpPr>
        <p:spPr>
          <a:xfrm>
            <a:off x="3998263" y="3310075"/>
            <a:ext cx="1251900" cy="118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Theories of transitivity</a:t>
            </a:r>
            <a:endParaRPr/>
          </a:p>
        </p:txBody>
      </p:sp>
      <p:sp>
        <p:nvSpPr>
          <p:cNvPr id="467" name="Google Shape;467;p43"/>
          <p:cNvSpPr txBox="1"/>
          <p:nvPr>
            <p:ph idx="1" type="body"/>
          </p:nvPr>
        </p:nvSpPr>
        <p:spPr>
          <a:xfrm>
            <a:off x="311700" y="1225225"/>
            <a:ext cx="8520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Strength of Weak Ties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Open triad with strong links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Depending on strength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 will either close or remain open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Mechanism: Strength-driven link formation</a:t>
            </a:r>
            <a:endParaRPr/>
          </a:p>
          <a:p>
            <a:pPr indent="0" lvl="0" marL="13716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3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43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3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3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2" name="Google Shape;472;p43"/>
          <p:cNvCxnSpPr>
            <a:stCxn id="471" idx="7"/>
            <a:endCxn id="473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4" name="Google Shape;474;p43"/>
          <p:cNvCxnSpPr>
            <a:stCxn id="471" idx="5"/>
            <a:endCxn id="475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3" name="Google Shape;473;p43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43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6" name="Google Shape;476;p43"/>
          <p:cNvCxnSpPr>
            <a:stCxn id="475" idx="0"/>
            <a:endCxn id="473" idx="4"/>
          </p:cNvCxnSpPr>
          <p:nvPr/>
        </p:nvCxnSpPr>
        <p:spPr>
          <a:xfrm rot="10800000">
            <a:off x="8388663" y="3775275"/>
            <a:ext cx="0" cy="6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77" name="Google Shape;477;p43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43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3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3"/>
          <p:cNvSpPr/>
          <p:nvPr/>
        </p:nvSpPr>
        <p:spPr>
          <a:xfrm>
            <a:off x="3302113" y="2845975"/>
            <a:ext cx="1392300" cy="464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Strength Effect</a:t>
            </a:r>
            <a:endParaRPr/>
          </a:p>
        </p:txBody>
      </p:sp>
      <p:cxnSp>
        <p:nvCxnSpPr>
          <p:cNvPr id="481" name="Google Shape;481;p43"/>
          <p:cNvCxnSpPr>
            <a:stCxn id="480" idx="2"/>
          </p:cNvCxnSpPr>
          <p:nvPr/>
        </p:nvCxnSpPr>
        <p:spPr>
          <a:xfrm>
            <a:off x="3998263" y="3310075"/>
            <a:ext cx="613500" cy="57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2" name="Google Shape;482;p43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3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4" name="Google Shape;484;p43"/>
          <p:cNvCxnSpPr>
            <a:stCxn id="480" idx="2"/>
          </p:cNvCxnSpPr>
          <p:nvPr/>
        </p:nvCxnSpPr>
        <p:spPr>
          <a:xfrm>
            <a:off x="3998263" y="3310075"/>
            <a:ext cx="748800" cy="114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5" name="Google Shape;485;p43"/>
          <p:cNvCxnSpPr>
            <a:stCxn id="468" idx="7"/>
            <a:endCxn id="469" idx="2"/>
          </p:cNvCxnSpPr>
          <p:nvPr/>
        </p:nvCxnSpPr>
        <p:spPr>
          <a:xfrm flipH="1" rot="10800000">
            <a:off x="868192" y="3611784"/>
            <a:ext cx="1098000" cy="369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43"/>
          <p:cNvCxnSpPr>
            <a:stCxn id="468" idx="5"/>
            <a:endCxn id="470" idx="2"/>
          </p:cNvCxnSpPr>
          <p:nvPr/>
        </p:nvCxnSpPr>
        <p:spPr>
          <a:xfrm>
            <a:off x="868192" y="4186516"/>
            <a:ext cx="1098000" cy="33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43"/>
          <p:cNvCxnSpPr>
            <a:stCxn id="477" idx="7"/>
            <a:endCxn id="478" idx="2"/>
          </p:cNvCxnSpPr>
          <p:nvPr/>
        </p:nvCxnSpPr>
        <p:spPr>
          <a:xfrm flipH="1" rot="10800000">
            <a:off x="4105179" y="3694634"/>
            <a:ext cx="1098000" cy="369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43"/>
          <p:cNvCxnSpPr>
            <a:stCxn id="477" idx="5"/>
            <a:endCxn id="479" idx="2"/>
          </p:cNvCxnSpPr>
          <p:nvPr/>
        </p:nvCxnSpPr>
        <p:spPr>
          <a:xfrm>
            <a:off x="4105179" y="4269366"/>
            <a:ext cx="1098000" cy="33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Theories of transitivity</a:t>
            </a:r>
            <a:endParaRPr/>
          </a:p>
        </p:txBody>
      </p:sp>
      <p:sp>
        <p:nvSpPr>
          <p:cNvPr id="494" name="Google Shape;494;p44"/>
          <p:cNvSpPr txBox="1"/>
          <p:nvPr>
            <p:ph idx="1" type="body"/>
          </p:nvPr>
        </p:nvSpPr>
        <p:spPr>
          <a:xfrm>
            <a:off x="311700" y="1225225"/>
            <a:ext cx="8520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Strength of Weak Ties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Open triad with weak links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Depending on strength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 will either close or remain open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Mechanism: Open triads stay that way if the links are weak</a:t>
            </a:r>
            <a:endParaRPr/>
          </a:p>
        </p:txBody>
      </p:sp>
      <p:sp>
        <p:nvSpPr>
          <p:cNvPr id="495" name="Google Shape;495;p44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44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44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44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9" name="Google Shape;499;p44"/>
          <p:cNvCxnSpPr>
            <a:stCxn id="498" idx="7"/>
            <a:endCxn id="500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44"/>
          <p:cNvCxnSpPr>
            <a:stCxn id="498" idx="5"/>
            <a:endCxn id="502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00" name="Google Shape;500;p44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44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4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44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4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4"/>
          <p:cNvSpPr/>
          <p:nvPr/>
        </p:nvSpPr>
        <p:spPr>
          <a:xfrm>
            <a:off x="3302113" y="2845975"/>
            <a:ext cx="1392300" cy="464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Weak Tie Effect</a:t>
            </a:r>
            <a:endParaRPr/>
          </a:p>
        </p:txBody>
      </p:sp>
      <p:cxnSp>
        <p:nvCxnSpPr>
          <p:cNvPr id="507" name="Google Shape;507;p44"/>
          <p:cNvCxnSpPr>
            <a:stCxn id="506" idx="2"/>
          </p:cNvCxnSpPr>
          <p:nvPr/>
        </p:nvCxnSpPr>
        <p:spPr>
          <a:xfrm>
            <a:off x="3998263" y="3310075"/>
            <a:ext cx="613500" cy="57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8" name="Google Shape;508;p44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44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0" name="Google Shape;510;p44"/>
          <p:cNvCxnSpPr>
            <a:stCxn id="506" idx="2"/>
          </p:cNvCxnSpPr>
          <p:nvPr/>
        </p:nvCxnSpPr>
        <p:spPr>
          <a:xfrm>
            <a:off x="3998263" y="3310075"/>
            <a:ext cx="748800" cy="114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1" name="Google Shape;511;p44"/>
          <p:cNvCxnSpPr>
            <a:stCxn id="495" idx="7"/>
            <a:endCxn id="496" idx="2"/>
          </p:cNvCxnSpPr>
          <p:nvPr/>
        </p:nvCxnSpPr>
        <p:spPr>
          <a:xfrm flipH="1" rot="10800000">
            <a:off x="868192" y="361178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44"/>
          <p:cNvCxnSpPr>
            <a:stCxn id="495" idx="5"/>
            <a:endCxn id="497" idx="2"/>
          </p:cNvCxnSpPr>
          <p:nvPr/>
        </p:nvCxnSpPr>
        <p:spPr>
          <a:xfrm>
            <a:off x="868192" y="418651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44"/>
          <p:cNvCxnSpPr>
            <a:stCxn id="503" idx="7"/>
            <a:endCxn id="504" idx="2"/>
          </p:cNvCxnSpPr>
          <p:nvPr/>
        </p:nvCxnSpPr>
        <p:spPr>
          <a:xfrm flipH="1" rot="10800000">
            <a:off x="4105179" y="369463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44"/>
          <p:cNvCxnSpPr>
            <a:stCxn id="503" idx="5"/>
            <a:endCxn id="505" idx="2"/>
          </p:cNvCxnSpPr>
          <p:nvPr/>
        </p:nvCxnSpPr>
        <p:spPr>
          <a:xfrm>
            <a:off x="4105179" y="426936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5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0" name="Google Shape;520;p45"/>
          <p:cNvCxnSpPr>
            <a:stCxn id="519" idx="7"/>
            <a:endCxn id="521" idx="2"/>
          </p:cNvCxnSpPr>
          <p:nvPr/>
        </p:nvCxnSpPr>
        <p:spPr>
          <a:xfrm flipH="1" rot="10800000">
            <a:off x="868192" y="361178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45"/>
          <p:cNvCxnSpPr>
            <a:stCxn id="519" idx="5"/>
            <a:endCxn id="523" idx="2"/>
          </p:cNvCxnSpPr>
          <p:nvPr/>
        </p:nvCxnSpPr>
        <p:spPr>
          <a:xfrm>
            <a:off x="868192" y="418651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1" name="Google Shape;521;p45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5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45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5" name="Google Shape;525;p45"/>
          <p:cNvCxnSpPr>
            <a:stCxn id="524" idx="7"/>
            <a:endCxn id="526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45"/>
          <p:cNvCxnSpPr>
            <a:stCxn id="524" idx="5"/>
            <a:endCxn id="528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6" name="Google Shape;526;p45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5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45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0" name="Google Shape;530;p45"/>
          <p:cNvCxnSpPr>
            <a:stCxn id="529" idx="7"/>
            <a:endCxn id="531" idx="2"/>
          </p:cNvCxnSpPr>
          <p:nvPr/>
        </p:nvCxnSpPr>
        <p:spPr>
          <a:xfrm flipH="1" rot="10800000">
            <a:off x="4105179" y="369463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45"/>
          <p:cNvCxnSpPr>
            <a:stCxn id="529" idx="5"/>
            <a:endCxn id="533" idx="2"/>
          </p:cNvCxnSpPr>
          <p:nvPr/>
        </p:nvCxnSpPr>
        <p:spPr>
          <a:xfrm>
            <a:off x="4105179" y="426936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1" name="Google Shape;531;p45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45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5"/>
          <p:cNvSpPr/>
          <p:nvPr/>
        </p:nvSpPr>
        <p:spPr>
          <a:xfrm>
            <a:off x="3302113" y="2845975"/>
            <a:ext cx="1392300" cy="464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works to keep open</a:t>
            </a:r>
            <a:endParaRPr/>
          </a:p>
        </p:txBody>
      </p:sp>
      <p:sp>
        <p:nvSpPr>
          <p:cNvPr id="535" name="Google Shape;535;p45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45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Theories of transitivity</a:t>
            </a:r>
            <a:endParaRPr/>
          </a:p>
        </p:txBody>
      </p:sp>
      <p:sp>
        <p:nvSpPr>
          <p:cNvPr id="538" name="Google Shape;538;p45"/>
          <p:cNvSpPr txBox="1"/>
          <p:nvPr>
            <p:ph idx="1" type="body"/>
          </p:nvPr>
        </p:nvSpPr>
        <p:spPr>
          <a:xfrm>
            <a:off x="311700" y="1225225"/>
            <a:ext cx="8520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Holes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Unbalanced triad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Ego gains control benefits from 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Ego works to keep it from closing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Mechanism: Ego-driven brokerage</a:t>
            </a:r>
            <a:endParaRPr/>
          </a:p>
        </p:txBody>
      </p:sp>
      <p:sp>
        <p:nvSpPr>
          <p:cNvPr id="539" name="Google Shape;539;p45"/>
          <p:cNvSpPr/>
          <p:nvPr/>
        </p:nvSpPr>
        <p:spPr>
          <a:xfrm>
            <a:off x="5272325" y="4061925"/>
            <a:ext cx="181200" cy="172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0" name="Google Shape;540;p45"/>
          <p:cNvCxnSpPr>
            <a:stCxn id="529" idx="0"/>
            <a:endCxn id="534" idx="2"/>
          </p:cNvCxnSpPr>
          <p:nvPr/>
        </p:nvCxnSpPr>
        <p:spPr>
          <a:xfrm flipH="1" rot="10800000">
            <a:off x="3992325" y="3310150"/>
            <a:ext cx="6000" cy="71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" name="Google Shape;541;p45"/>
          <p:cNvCxnSpPr>
            <a:stCxn id="534" idx="3"/>
            <a:endCxn id="539" idx="6"/>
          </p:cNvCxnSpPr>
          <p:nvPr/>
        </p:nvCxnSpPr>
        <p:spPr>
          <a:xfrm>
            <a:off x="4694413" y="3078025"/>
            <a:ext cx="759000" cy="1070400"/>
          </a:xfrm>
          <a:prstGeom prst="bentConnector3">
            <a:avLst>
              <a:gd fmla="val 13138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Theories </a:t>
            </a:r>
            <a:r>
              <a:rPr lang="en"/>
              <a:t>of transitivity</a:t>
            </a:r>
            <a:endParaRPr/>
          </a:p>
        </p:txBody>
      </p:sp>
      <p:sp>
        <p:nvSpPr>
          <p:cNvPr id="547" name="Google Shape;547;p46"/>
          <p:cNvSpPr txBox="1"/>
          <p:nvPr>
            <p:ph idx="1" type="body"/>
          </p:nvPr>
        </p:nvSpPr>
        <p:spPr>
          <a:xfrm>
            <a:off x="311700" y="1225225"/>
            <a:ext cx="8466900" cy="18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Simmelian Tie Theory: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Closed triad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Simmelian tie effect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 stays closed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Mechanism: </a:t>
            </a:r>
            <a:r>
              <a:rPr lang="en"/>
              <a:t>Triads have “top-down” effects on the dyads that compose them</a:t>
            </a:r>
            <a:endParaRPr/>
          </a:p>
        </p:txBody>
      </p:sp>
      <p:sp>
        <p:nvSpPr>
          <p:cNvPr id="548" name="Google Shape;548;p46"/>
          <p:cNvSpPr/>
          <p:nvPr/>
        </p:nvSpPr>
        <p:spPr>
          <a:xfrm>
            <a:off x="3702925" y="3449625"/>
            <a:ext cx="2020500" cy="14019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46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0" name="Google Shape;550;p46"/>
          <p:cNvCxnSpPr>
            <a:stCxn id="549" idx="7"/>
            <a:endCxn id="551" idx="2"/>
          </p:cNvCxnSpPr>
          <p:nvPr/>
        </p:nvCxnSpPr>
        <p:spPr>
          <a:xfrm flipH="1" rot="10800000">
            <a:off x="868192" y="361178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46"/>
          <p:cNvCxnSpPr>
            <a:stCxn id="549" idx="5"/>
            <a:endCxn id="553" idx="2"/>
          </p:cNvCxnSpPr>
          <p:nvPr/>
        </p:nvCxnSpPr>
        <p:spPr>
          <a:xfrm>
            <a:off x="868192" y="418651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1" name="Google Shape;551;p46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46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46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5" name="Google Shape;555;p46"/>
          <p:cNvCxnSpPr>
            <a:stCxn id="554" idx="7"/>
            <a:endCxn id="556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" name="Google Shape;557;p46"/>
          <p:cNvCxnSpPr>
            <a:stCxn id="554" idx="5"/>
            <a:endCxn id="558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6" name="Google Shape;556;p46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46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9" name="Google Shape;559;p46"/>
          <p:cNvCxnSpPr>
            <a:stCxn id="558" idx="0"/>
            <a:endCxn id="556" idx="4"/>
          </p:cNvCxnSpPr>
          <p:nvPr/>
        </p:nvCxnSpPr>
        <p:spPr>
          <a:xfrm rot="10800000">
            <a:off x="8388663" y="3775275"/>
            <a:ext cx="0" cy="6174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0" name="Google Shape;560;p46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1" name="Google Shape;561;p46"/>
          <p:cNvCxnSpPr>
            <a:stCxn id="560" idx="7"/>
            <a:endCxn id="562" idx="2"/>
          </p:cNvCxnSpPr>
          <p:nvPr/>
        </p:nvCxnSpPr>
        <p:spPr>
          <a:xfrm flipH="1" rot="10800000">
            <a:off x="4105179" y="369463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46"/>
          <p:cNvCxnSpPr>
            <a:stCxn id="560" idx="5"/>
            <a:endCxn id="564" idx="2"/>
          </p:cNvCxnSpPr>
          <p:nvPr/>
        </p:nvCxnSpPr>
        <p:spPr>
          <a:xfrm>
            <a:off x="4105179" y="426936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2" name="Google Shape;562;p46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46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46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6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7" name="Google Shape;567;p46"/>
          <p:cNvCxnSpPr>
            <a:stCxn id="553" idx="0"/>
            <a:endCxn id="551" idx="4"/>
          </p:cNvCxnSpPr>
          <p:nvPr/>
        </p:nvCxnSpPr>
        <p:spPr>
          <a:xfrm rot="10800000">
            <a:off x="2125938" y="3756800"/>
            <a:ext cx="0" cy="617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46"/>
          <p:cNvCxnSpPr>
            <a:stCxn id="548" idx="2"/>
          </p:cNvCxnSpPr>
          <p:nvPr/>
        </p:nvCxnSpPr>
        <p:spPr>
          <a:xfrm flipH="1" rot="10800000">
            <a:off x="4713175" y="4503525"/>
            <a:ext cx="4800" cy="348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9" name="Google Shape;569;p46"/>
          <p:cNvCxnSpPr>
            <a:stCxn id="564" idx="0"/>
            <a:endCxn id="562" idx="4"/>
          </p:cNvCxnSpPr>
          <p:nvPr/>
        </p:nvCxnSpPr>
        <p:spPr>
          <a:xfrm rot="10800000">
            <a:off x="5362925" y="3839650"/>
            <a:ext cx="0" cy="617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" name="Google Shape;570;p46"/>
          <p:cNvCxnSpPr>
            <a:stCxn id="548" idx="3"/>
          </p:cNvCxnSpPr>
          <p:nvPr/>
        </p:nvCxnSpPr>
        <p:spPr>
          <a:xfrm flipH="1">
            <a:off x="5394925" y="4150575"/>
            <a:ext cx="328500" cy="4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1" name="Google Shape;571;p46"/>
          <p:cNvCxnSpPr/>
          <p:nvPr/>
        </p:nvCxnSpPr>
        <p:spPr>
          <a:xfrm>
            <a:off x="4572000" y="3452425"/>
            <a:ext cx="126900" cy="403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2" name="Google Shape;572;p46"/>
          <p:cNvCxnSpPr>
            <a:stCxn id="548" idx="2"/>
            <a:endCxn id="560" idx="4"/>
          </p:cNvCxnSpPr>
          <p:nvPr/>
        </p:nvCxnSpPr>
        <p:spPr>
          <a:xfrm rot="10800000">
            <a:off x="3992275" y="4311825"/>
            <a:ext cx="720900" cy="539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3" name="Google Shape;573;p46"/>
          <p:cNvCxnSpPr>
            <a:stCxn id="548" idx="3"/>
            <a:endCxn id="564" idx="7"/>
          </p:cNvCxnSpPr>
          <p:nvPr/>
        </p:nvCxnSpPr>
        <p:spPr>
          <a:xfrm flipH="1">
            <a:off x="5475925" y="4150575"/>
            <a:ext cx="247500" cy="348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4" name="Google Shape;574;p46"/>
          <p:cNvCxnSpPr>
            <a:endCxn id="562" idx="1"/>
          </p:cNvCxnSpPr>
          <p:nvPr/>
        </p:nvCxnSpPr>
        <p:spPr>
          <a:xfrm>
            <a:off x="4563071" y="3471684"/>
            <a:ext cx="687000" cy="120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5" name="Google Shape;575;p46"/>
          <p:cNvSpPr/>
          <p:nvPr/>
        </p:nvSpPr>
        <p:spPr>
          <a:xfrm>
            <a:off x="3443099" y="2845975"/>
            <a:ext cx="2257800" cy="464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actors work together to keep ties from dissolving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