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9144000"/>
  <p:notesSz cx="6858000" cy="9144000"/>
  <p:embeddedFontLst>
    <p:embeddedFont>
      <p:font typeface="Josefin Slab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osefinSlab-regular.fntdata"/><Relationship Id="rId11" Type="http://schemas.openxmlformats.org/officeDocument/2006/relationships/slide" Target="slides/slide7.xml"/><Relationship Id="rId22" Type="http://schemas.openxmlformats.org/officeDocument/2006/relationships/font" Target="fonts/JosefinSlab-italic.fntdata"/><Relationship Id="rId10" Type="http://schemas.openxmlformats.org/officeDocument/2006/relationships/slide" Target="slides/slide6.xml"/><Relationship Id="rId21" Type="http://schemas.openxmlformats.org/officeDocument/2006/relationships/font" Target="fonts/JosefinSlab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JosefinSlab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72820cd2e_1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72820cd2e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72820cd2e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72820cd2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bcab1729_0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bcab1729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bcab1729_0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bcab1729_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72820cd2e_1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72820cd2e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bcab1729_0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bcab1729_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bcab1729_0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bcab1729_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bcab1729_0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bcab1729_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bcab1729_0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bcab1729_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bcab1729_0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bcab1729_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bcab1729_0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bcab1729_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bcab1729_0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bcab1729_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bcab1729_0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bcab1729_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bcab1729_0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bcab1729_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diffusion?</a:t>
            </a:r>
            <a:endParaRPr/>
          </a:p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b="1" lang="en"/>
              <a:t>Spread</a:t>
            </a:r>
            <a:r>
              <a:rPr lang="en"/>
              <a:t> of objects, ideas, information, concepts, fashions, tastes, practices etc. in a social network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Elements of diffusion: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i="1" lang="en"/>
              <a:t>Actors</a:t>
            </a:r>
            <a:endParaRPr i="1"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Usually people but also groups, organizations, etc.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i="1" lang="en"/>
              <a:t>Flow</a:t>
            </a:r>
            <a:r>
              <a:rPr lang="en"/>
              <a:t> 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</a:t>
            </a:r>
            <a:r>
              <a:rPr b="1" lang="en"/>
              <a:t>source</a:t>
            </a:r>
            <a:r>
              <a:rPr lang="en"/>
              <a:t> to </a:t>
            </a:r>
            <a:r>
              <a:rPr b="1" lang="en"/>
              <a:t>adopter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i="1" lang="en"/>
              <a:t>Mechanism</a:t>
            </a:r>
            <a:r>
              <a:rPr lang="en"/>
              <a:t> 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Imitation, influence, transfer, etc.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■"/>
            </a:pPr>
            <a:r>
              <a:rPr i="1" lang="en">
                <a:solidFill>
                  <a:srgbClr val="000000"/>
                </a:solidFill>
              </a:rPr>
              <a:t>Outcome</a:t>
            </a:r>
            <a:endParaRPr i="1"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Adoption, conversion, infection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Curve</a:t>
            </a:r>
            <a:endParaRPr/>
          </a:p>
        </p:txBody>
      </p:sp>
      <p:pic>
        <p:nvPicPr>
          <p:cNvPr id="42" name="Google Shape;4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8591" y="1677238"/>
            <a:ext cx="4275334" cy="423885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9"/>
          <p:cNvSpPr txBox="1"/>
          <p:nvPr/>
        </p:nvSpPr>
        <p:spPr>
          <a:xfrm>
            <a:off x="1127553" y="5857700"/>
            <a:ext cx="69846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Ryan, B. and N.C. Gross (1943) The Diffusion of Hybrid Seed Corn in Two Iowa Communities, </a:t>
            </a:r>
            <a:r>
              <a:rPr i="1"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Rural Sociolog</a:t>
            </a:r>
            <a:r>
              <a:rPr lang="en" sz="1800"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y, 8: 15-24.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Contagion Model  </a:t>
            </a:r>
            <a:br>
              <a:rPr lang="en"/>
            </a:br>
            <a:r>
              <a:rPr lang="en"/>
              <a:t>(Coleman, 1957, Martin 2009, p. 156)</a:t>
            </a:r>
            <a:endParaRPr/>
          </a:p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251200" y="1546475"/>
            <a:ext cx="51534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x = number of carriers</a:t>
            </a:r>
            <a:br>
              <a:rPr lang="en" sz="1600"/>
            </a:br>
            <a:r>
              <a:rPr lang="en" sz="1600"/>
              <a:t>N = number of people (vertices)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Probability that </a:t>
            </a:r>
            <a:r>
              <a:rPr i="1" lang="en" sz="1600"/>
              <a:t>i</a:t>
            </a:r>
            <a:r>
              <a:rPr lang="en" sz="1600"/>
              <a:t> will transmit O (some object) to </a:t>
            </a:r>
            <a:r>
              <a:rPr i="1" lang="en" sz="1600"/>
              <a:t>j</a:t>
            </a:r>
            <a:r>
              <a:rPr lang="en" sz="1600"/>
              <a:t> is a function of</a:t>
            </a:r>
            <a:endParaRPr sz="1600"/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i="1" lang="en" sz="1600"/>
              <a:t>p</a:t>
            </a:r>
            <a:r>
              <a:rPr lang="en" sz="1600"/>
              <a:t>:  probability that </a:t>
            </a:r>
            <a:r>
              <a:rPr i="1" lang="en" sz="1600"/>
              <a:t>i</a:t>
            </a:r>
            <a:r>
              <a:rPr lang="en" sz="1600"/>
              <a:t> and</a:t>
            </a:r>
            <a:r>
              <a:rPr i="1" lang="en" sz="1600"/>
              <a:t> j</a:t>
            </a:r>
            <a:r>
              <a:rPr lang="en" sz="1600"/>
              <a:t> will encounter each other (i.e. are adjacent, a</a:t>
            </a:r>
            <a:r>
              <a:rPr baseline="-25000" lang="en" sz="1600"/>
              <a:t>ij</a:t>
            </a:r>
            <a:r>
              <a:rPr lang="en" sz="1600"/>
              <a:t> = 1)</a:t>
            </a:r>
            <a:endParaRPr sz="1600"/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probability that </a:t>
            </a:r>
            <a:r>
              <a:rPr i="1" lang="en" sz="1600"/>
              <a:t>i</a:t>
            </a:r>
            <a:r>
              <a:rPr lang="en" sz="1600"/>
              <a:t> is a carrier given that j is not = x/(N-1)</a:t>
            </a:r>
            <a:endParaRPr sz="1600"/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probability that </a:t>
            </a:r>
            <a:r>
              <a:rPr i="1" lang="en" sz="1600"/>
              <a:t>j</a:t>
            </a:r>
            <a:r>
              <a:rPr lang="en" sz="1600"/>
              <a:t> is not a carrier = (N-x)/N</a:t>
            </a:r>
            <a:endParaRPr sz="1600"/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i="1" lang="en" sz="1600"/>
              <a:t>q</a:t>
            </a:r>
            <a:r>
              <a:rPr lang="en" sz="1600"/>
              <a:t>:  probability of transmission (susceptibility)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Number of transmissions in a time period is </a:t>
            </a:r>
            <a:endParaRPr sz="16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rgbClr val="FF0000"/>
                </a:solidFill>
              </a:rPr>
              <a:t>pq</a:t>
            </a:r>
            <a:r>
              <a:rPr lang="en" sz="1600">
                <a:solidFill>
                  <a:srgbClr val="FF0000"/>
                </a:solidFill>
              </a:rPr>
              <a:t>x(N-x)</a:t>
            </a:r>
            <a:endParaRPr sz="1600"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Martin: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contagion:  when </a:t>
            </a:r>
            <a:r>
              <a:rPr i="1" lang="en" sz="1600"/>
              <a:t>q</a:t>
            </a:r>
            <a:r>
              <a:rPr lang="en" sz="1600"/>
              <a:t> = 1  (open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diffusion (influence):  selective adoption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non-adjacent contagion  (peer pressure) :  </a:t>
            </a:r>
            <a:r>
              <a:rPr i="1" lang="en" sz="1600"/>
              <a:t>q</a:t>
            </a:r>
            <a:r>
              <a:rPr lang="en" sz="1600"/>
              <a:t> is a function of x</a:t>
            </a:r>
            <a:endParaRPr sz="1600"/>
          </a:p>
        </p:txBody>
      </p:sp>
      <p:pic>
        <p:nvPicPr>
          <p:cNvPr id="50" name="Google Shape;5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853469" y="2010848"/>
            <a:ext cx="2787608" cy="3503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Diffusion:  Issues and Questions	</a:t>
            </a:r>
            <a:endParaRPr/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Exposure (p) vs. susceptibility (q)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Structural equivalence vs. influence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Non-adjacent diffusion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Event timing (Moody) --&gt; probability of exposure (</a:t>
            </a:r>
            <a:r>
              <a:rPr i="1" lang="en" sz="2000"/>
              <a:t>p</a:t>
            </a:r>
            <a:r>
              <a:rPr lang="en" sz="2000"/>
              <a:t>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Distinguishing homophily vs influence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i="1" lang="en" sz="2000"/>
              <a:t>p</a:t>
            </a:r>
            <a:r>
              <a:rPr lang="en" sz="2000"/>
              <a:t> = Pr(A</a:t>
            </a:r>
            <a:r>
              <a:rPr baseline="-25000" lang="en" sz="2000"/>
              <a:t>ij</a:t>
            </a:r>
            <a:r>
              <a:rPr lang="en" sz="2000"/>
              <a:t>) = f(Q</a:t>
            </a:r>
            <a:r>
              <a:rPr baseline="-25000" lang="en" sz="2000"/>
              <a:t>i</a:t>
            </a:r>
            <a:r>
              <a:rPr lang="en" sz="2000"/>
              <a:t>, Q</a:t>
            </a:r>
            <a:r>
              <a:rPr baseline="-25000" lang="en" sz="2000"/>
              <a:t>j</a:t>
            </a:r>
            <a:r>
              <a:rPr lang="en" sz="2000"/>
              <a:t>, d</a:t>
            </a:r>
            <a:r>
              <a:rPr baseline="-25000" lang="en" sz="2000"/>
              <a:t>ij</a:t>
            </a:r>
            <a:r>
              <a:rPr lang="en" sz="2000"/>
              <a:t>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Determinants of exposure (</a:t>
            </a:r>
            <a:r>
              <a:rPr i="1" lang="en" sz="2000"/>
              <a:t>p</a:t>
            </a:r>
            <a:r>
              <a:rPr lang="en" sz="2000"/>
              <a:t>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network density  (ER random graph)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network structure:  isolates, clustering, path lengths, short cuts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network position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degree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concurrence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in vs. out degree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Broadcasting vs. network diffusion (viral marketing)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Broadcasting:  high </a:t>
            </a:r>
            <a:r>
              <a:rPr i="1" lang="en" sz="2000"/>
              <a:t>p</a:t>
            </a:r>
            <a:r>
              <a:rPr lang="en" sz="2000"/>
              <a:t>, low </a:t>
            </a:r>
            <a:r>
              <a:rPr i="1" lang="en" sz="2000"/>
              <a:t>q</a:t>
            </a:r>
            <a:endParaRPr i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Network diffusion:  low </a:t>
            </a:r>
            <a:r>
              <a:rPr i="1" lang="en" sz="2000"/>
              <a:t>p</a:t>
            </a:r>
            <a:r>
              <a:rPr lang="en" sz="2000"/>
              <a:t>, high </a:t>
            </a:r>
            <a:r>
              <a:rPr i="1" lang="en" sz="2000"/>
              <a:t>q</a:t>
            </a:r>
            <a:endParaRPr i="1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Cohesion (influence) vs. Structural Equivalence (similarity), Burt (1987)</a:t>
            </a:r>
            <a:endParaRPr/>
          </a:p>
        </p:txBody>
      </p:sp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Reanalysis of Colemen et. al. (1957, 1966) study of diffusion of a new drug, tetracycline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Coleman claimed that diffusion patterns indicative of contagion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Burt hypothesized that structural equivalence could explain diffusion pattern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Study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4 Illinois cities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130 (of 152, 85%) general practitioners, internists, pediatricians (and 4 specialists)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pharmacy records used to code when physician first prescribed tetracycline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network data from 2 name generators (advice and discuss) in physician surveys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Cohesion (influence) vs. Equivalence (similarity)</a:t>
            </a:r>
            <a:endParaRPr/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440374" y="1581529"/>
            <a:ext cx="4158300" cy="49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 sz="1800"/>
              <a:t>Both Equivalence (similar relations with same people) and Cohesion (via strong tie between ego and alter) predict diffusion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 sz="1800"/>
              <a:t>Cohesion but not Equivalence predicts restricted contagion (because of conflicting affiliations)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 sz="1800"/>
              <a:t>Equivalence predicts contagion via competition for status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  Mechanisms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Physical proximity: can "see" alters behaviors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Cohesion:  communication, social proximity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Competition, relative standing: structural equivalence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400"/>
              <a:t>2 similar physicians keeping up with each other</a:t>
            </a:r>
            <a:endParaRPr sz="1400"/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2252" y="1600200"/>
            <a:ext cx="3970748" cy="5232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or Contagion?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4560000" y="1578050"/>
            <a:ext cx="4303500" cy="49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k = probability of adopting independently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y = proportion who have not adopted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Diffusion:  Equal probability (k) of adopting in each time period and for each person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	not a function of exposure (p)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Contagion: Equal probability of adopting (k) but also adoption a function of number of others who have adopted.</a:t>
            </a:r>
            <a:endParaRPr sz="1800"/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607" y="1417645"/>
            <a:ext cx="3844580" cy="4731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Cumulative Adoption Results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617145" y="1618550"/>
            <a:ext cx="4069800" cy="49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Diffusion by Cohesion:  Adoption pattern when ego adopts after alter adopts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Diffusion by Struct. Equiv.:</a:t>
            </a:r>
            <a:br>
              <a:rPr lang="en" sz="1800"/>
            </a:br>
            <a:r>
              <a:rPr lang="en" sz="1800"/>
              <a:t>Adoption pattern when ego adopts after peers adopt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In both cases rate of adoption early on is higher than expected by contagion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Contagion is not the only process at work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High adoption rate early indicative of diffusion without contagion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384" y="1811270"/>
            <a:ext cx="4059270" cy="4710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457200" y="1600200"/>
            <a:ext cx="44268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Cohesion: Tie between ego and alter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Structural Equivalence:  Euclidian distance between ego and alter (d</a:t>
            </a:r>
            <a:r>
              <a:rPr baseline="-25000" lang="en" sz="1800"/>
              <a:t>ij</a:t>
            </a:r>
            <a:r>
              <a:rPr lang="en" sz="1800"/>
              <a:t>), i.e. how similar their patterns of ties are to others in the network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Results from regressions: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 evidence of contagion from advisors and discussion partners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strong evidence of diffusion between month in which peers adopted (structurally equivalent doctors) and ego adopting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personal factors determined adoption, i.e. predisposition to adopt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contagion independent of personal preference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	</a:t>
            </a:r>
            <a:endParaRPr sz="1800"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0218" y="2610499"/>
            <a:ext cx="4171694" cy="2702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457200" y="1586725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Diffusion not via contagion (adjacency) but equivalence</a:t>
            </a:r>
            <a:endParaRPr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 sz="3000"/>
              <a:t>Why?  Relative standing competition.  Do not want to be a late adopter.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Heterogeneity in predisposition to adopt leads to critical mass needed to get diffusion by equivalence to take off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Relationship Timing &amp; Diffusion (Moody, 2002)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Static Network:  Aggregated pattern of interaction events occurring over time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Diffusion is dynamic &amp; network is dynamic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ties can appear and disappear</a:t>
            </a:r>
            <a:endParaRPr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diffusion chain has a temporal ordering </a:t>
            </a:r>
            <a:endParaRPr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B --&gt; C, unless B is already "infected"</a:t>
            </a:r>
            <a:endParaRPr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So if A --&gt; B interaction (and transmission) occurs </a:t>
            </a:r>
            <a:r>
              <a:rPr i="1" lang="en" sz="1800"/>
              <a:t>after</a:t>
            </a:r>
            <a:r>
              <a:rPr lang="en" sz="1800"/>
              <a:t> B --&gt; C, then no diffusion from A --&gt; C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Centrality affects diffusion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If high degree actor "infected," then probability of many others being infected increases</a:t>
            </a:r>
            <a:endParaRPr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"Temporal" degree = concurrency</a:t>
            </a:r>
            <a:endParaRPr sz="18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 sz="1800"/>
              <a:t>e.g., number of concurrent sexual partners</a:t>
            </a:r>
            <a:endParaRPr sz="18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 sz="1800"/>
              <a:t>ties overlap in time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Time-Ordered Networks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430250" y="4242112"/>
            <a:ext cx="8229600" cy="22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start and end times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ignore times and you have a typical fully connected network graph (there is a possible path between any two vertices)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bring in times, and some paths disappear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 --&gt;  A exists, but not A --&gt; D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A-B concurrent with B-C, so A --&gt; C  and C --&gt; 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Diffusion paths:  sequences of edges in which each new edge follows the past edges in time </a:t>
            </a:r>
            <a:endParaRPr sz="1800"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212" y="1690829"/>
            <a:ext cx="4227627" cy="2595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Graph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494238" y="1574550"/>
            <a:ext cx="4098600" cy="48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Direct edges get 2 directed arcs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transmission can go both ways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e.g. B - D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Indirect paths --&gt;  directed arc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e.g., A - D, </a:t>
            </a:r>
            <a:br>
              <a:rPr lang="en" sz="2200"/>
            </a:br>
            <a:r>
              <a:rPr lang="en" sz="2200"/>
              <a:t>only arc D --&gt; A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Reachability (density of paths)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Static Network = 1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Temporal Network = .6</a:t>
            </a:r>
            <a:endParaRPr sz="2200"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6946" y="2493567"/>
            <a:ext cx="4677053" cy="2577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Reachability</a:t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636" y="700270"/>
            <a:ext cx="3927164" cy="562700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457200" y="1600200"/>
            <a:ext cx="39348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8 vertices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heavy lines are ties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timing noted on edges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indirect paths inside circle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Path graph indicates number of temporal paths between two vertices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Note asymmetry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Note non-transitivity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Note difference between 2 serial monogamy graph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1 change in relationship timing leads to big change in reachability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Implications for all measures of centrality that involve paths (e.g. betweeness, closeness)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and also brokerage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Revisited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Possibility of diffusion:  time-ordered path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Probability of diffusion:  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pairwise transmission probability  (q)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if q &lt; 1 then diffusion probability = f(number of paths, length of paths)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Diffusion is an emergent property	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depends on one's partner's future partner's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