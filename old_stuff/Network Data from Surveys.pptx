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Lst>
  <p:sldSz cy="5143500" cx="9144000"/>
  <p:notesSz cx="6858000" cy="9144000"/>
  <p:embeddedFontLst>
    <p:embeddedFont>
      <p:font typeface="Economica"/>
      <p:regular r:id="rId41"/>
      <p:bold r:id="rId42"/>
      <p:italic r:id="rId43"/>
      <p:boldItalic r:id="rId44"/>
    </p:embeddedFont>
    <p:embeddedFont>
      <p:font typeface="Open Sans"/>
      <p:regular r:id="rId45"/>
      <p:bold r:id="rId46"/>
      <p:italic r:id="rId47"/>
      <p:boldItalic r:id="rId4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20" Type="http://schemas.openxmlformats.org/officeDocument/2006/relationships/slide" Target="slides/slide16.xml"/><Relationship Id="rId42" Type="http://schemas.openxmlformats.org/officeDocument/2006/relationships/font" Target="fonts/Economica-bold.fntdata"/><Relationship Id="rId41" Type="http://schemas.openxmlformats.org/officeDocument/2006/relationships/font" Target="fonts/Economica-regular.fntdata"/><Relationship Id="rId22" Type="http://schemas.openxmlformats.org/officeDocument/2006/relationships/slide" Target="slides/slide18.xml"/><Relationship Id="rId44" Type="http://schemas.openxmlformats.org/officeDocument/2006/relationships/font" Target="fonts/Economica-boldItalic.fntdata"/><Relationship Id="rId21" Type="http://schemas.openxmlformats.org/officeDocument/2006/relationships/slide" Target="slides/slide17.xml"/><Relationship Id="rId43" Type="http://schemas.openxmlformats.org/officeDocument/2006/relationships/font" Target="fonts/Economica-italic.fntdata"/><Relationship Id="rId24" Type="http://schemas.openxmlformats.org/officeDocument/2006/relationships/slide" Target="slides/slide20.xml"/><Relationship Id="rId46" Type="http://schemas.openxmlformats.org/officeDocument/2006/relationships/font" Target="fonts/OpenSans-bold.fntdata"/><Relationship Id="rId23" Type="http://schemas.openxmlformats.org/officeDocument/2006/relationships/slide" Target="slides/slide19.xml"/><Relationship Id="rId45" Type="http://schemas.openxmlformats.org/officeDocument/2006/relationships/font" Target="fonts/OpenSans-regular.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48" Type="http://schemas.openxmlformats.org/officeDocument/2006/relationships/font" Target="fonts/OpenSans-boldItalic.fntdata"/><Relationship Id="rId25" Type="http://schemas.openxmlformats.org/officeDocument/2006/relationships/slide" Target="slides/slide21.xml"/><Relationship Id="rId47" Type="http://schemas.openxmlformats.org/officeDocument/2006/relationships/font" Target="fonts/OpenSans-italic.fntdata"/><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slide" Target="slides/slide29.xml"/><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35" Type="http://schemas.openxmlformats.org/officeDocument/2006/relationships/slide" Target="slides/slide31.xml"/><Relationship Id="rId12" Type="http://schemas.openxmlformats.org/officeDocument/2006/relationships/slide" Target="slides/slide8.xml"/><Relationship Id="rId34" Type="http://schemas.openxmlformats.org/officeDocument/2006/relationships/slide" Target="slides/slide30.xml"/><Relationship Id="rId15" Type="http://schemas.openxmlformats.org/officeDocument/2006/relationships/slide" Target="slides/slide11.xml"/><Relationship Id="rId37" Type="http://schemas.openxmlformats.org/officeDocument/2006/relationships/slide" Target="slides/slide33.xml"/><Relationship Id="rId14" Type="http://schemas.openxmlformats.org/officeDocument/2006/relationships/slide" Target="slides/slide10.xml"/><Relationship Id="rId36" Type="http://schemas.openxmlformats.org/officeDocument/2006/relationships/slide" Target="slides/slide32.xml"/><Relationship Id="rId17" Type="http://schemas.openxmlformats.org/officeDocument/2006/relationships/slide" Target="slides/slide13.xml"/><Relationship Id="rId39" Type="http://schemas.openxmlformats.org/officeDocument/2006/relationships/slide" Target="slides/slide35.xml"/><Relationship Id="rId16" Type="http://schemas.openxmlformats.org/officeDocument/2006/relationships/slide" Target="slides/slide12.xml"/><Relationship Id="rId38" Type="http://schemas.openxmlformats.org/officeDocument/2006/relationships/slide" Target="slides/slide34.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62a91e6449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62a91e6449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25fcf7abd1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25fcf7abd1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25fcf7abd1_0_1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25fcf7abd1_0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25fcf7abd1_0_1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25fcf7abd1_0_1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25fcf7abd1_0_1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25fcf7abd1_0_1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25fcf7abd1_0_1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25fcf7abd1_0_1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25fcf7abd1_0_1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25fcf7abd1_0_1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25fcf7abd1_0_1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25fcf7abd1_0_1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25fcf7abd1_0_2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25fcf7abd1_0_2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25fcf7abd1_0_2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25fcf7abd1_0_2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232a7d942_1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3232a7d942_1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232a7d942_1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3232a7d942_1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232a7d942_1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3232a7d942_1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232a7d942_1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3232a7d942_1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232a7d942_1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232a7d942_1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232a7d942_1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232a7d942_1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25fcf7abd1_0_2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25fcf7abd1_0_2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232a7d942_1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3232a7d942_1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3232a7d942_1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3232a7d942_1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25fcf7abd1_0_2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25fcf7abd1_0_2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25fcf7abd1_0_2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25fcf7abd1_0_2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25fcf7abd1_0_1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1" name="Google Shape;211;g25fcf7abd1_0_1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3232a7d94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3232a7d94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25fcf7abd1_0_1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25fcf7abd1_0_1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25fcf7abd1_0_1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9" name="Google Shape;229;g25fcf7abd1_0_1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3232a7d942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5" name="Google Shape;235;g3232a7d942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25fcf7abd1_0_1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1" name="Google Shape;241;g25fcf7abd1_0_1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3232a7d942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3232a7d942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3232a7d942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4" name="Google Shape;254;g3232a7d942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3232a7d942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1" name="Google Shape;261;g3232a7d942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3232a7d942_1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8" name="Google Shape;268;g3232a7d942_1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3232a7d942_1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g3232a7d942_1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25fcf7abd1_0_2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2" name="Google Shape;282;g25fcf7abd1_0_2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25fcf7abd1_0_1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8" name="Google Shape;288;g25fcf7abd1_0_1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25fcf7abd1_0_2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5" name="Google Shape;295;g25fcf7abd1_0_2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a:off x="2744013" y="756700"/>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1" name="Google Shape;11;p2"/>
          <p:cNvSpPr/>
          <p:nvPr/>
        </p:nvSpPr>
        <p:spPr>
          <a:xfrm rot="10800000">
            <a:off x="5318350" y="32667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2" name="Google Shape;12;p2"/>
          <p:cNvSpPr txBox="1"/>
          <p:nvPr>
            <p:ph type="ctrTitle"/>
          </p:nvPr>
        </p:nvSpPr>
        <p:spPr>
          <a:xfrm>
            <a:off x="3044700" y="1444255"/>
            <a:ext cx="3054600" cy="15372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a:lvl1pPr>
            <a:lvl2pPr lvl="1" algn="ctr">
              <a:spcBef>
                <a:spcPts val="0"/>
              </a:spcBef>
              <a:spcAft>
                <a:spcPts val="0"/>
              </a:spcAft>
              <a:buSzPts val="4200"/>
              <a:buNone/>
              <a:defRPr/>
            </a:lvl2pPr>
            <a:lvl3pPr lvl="2" algn="ctr">
              <a:spcBef>
                <a:spcPts val="0"/>
              </a:spcBef>
              <a:spcAft>
                <a:spcPts val="0"/>
              </a:spcAft>
              <a:buSzPts val="4200"/>
              <a:buNone/>
              <a:defRPr/>
            </a:lvl3pPr>
            <a:lvl4pPr lvl="3" algn="ctr">
              <a:spcBef>
                <a:spcPts val="0"/>
              </a:spcBef>
              <a:spcAft>
                <a:spcPts val="0"/>
              </a:spcAft>
              <a:buSzPts val="4200"/>
              <a:buNone/>
              <a:defRPr/>
            </a:lvl4pPr>
            <a:lvl5pPr lvl="4" algn="ctr">
              <a:spcBef>
                <a:spcPts val="0"/>
              </a:spcBef>
              <a:spcAft>
                <a:spcPts val="0"/>
              </a:spcAft>
              <a:buSzPts val="4200"/>
              <a:buNone/>
              <a:defRPr/>
            </a:lvl5pPr>
            <a:lvl6pPr lvl="5" algn="ctr">
              <a:spcBef>
                <a:spcPts val="0"/>
              </a:spcBef>
              <a:spcAft>
                <a:spcPts val="0"/>
              </a:spcAft>
              <a:buSzPts val="4200"/>
              <a:buNone/>
              <a:defRPr/>
            </a:lvl6pPr>
            <a:lvl7pPr lvl="6" algn="ctr">
              <a:spcBef>
                <a:spcPts val="0"/>
              </a:spcBef>
              <a:spcAft>
                <a:spcPts val="0"/>
              </a:spcAft>
              <a:buSzPts val="4200"/>
              <a:buNone/>
              <a:defRPr/>
            </a:lvl7pPr>
            <a:lvl8pPr lvl="7" algn="ctr">
              <a:spcBef>
                <a:spcPts val="0"/>
              </a:spcBef>
              <a:spcAft>
                <a:spcPts val="0"/>
              </a:spcAft>
              <a:buSzPts val="4200"/>
              <a:buNone/>
              <a:defRPr/>
            </a:lvl8pPr>
            <a:lvl9pPr lvl="8" algn="ctr">
              <a:spcBef>
                <a:spcPts val="0"/>
              </a:spcBef>
              <a:spcAft>
                <a:spcPts val="0"/>
              </a:spcAft>
              <a:buSzPts val="4200"/>
              <a:buNone/>
              <a:defRPr/>
            </a:lvl9pPr>
          </a:lstStyle>
          <a:p/>
        </p:txBody>
      </p:sp>
      <p:sp>
        <p:nvSpPr>
          <p:cNvPr id="13" name="Google Shape;13;p2"/>
          <p:cNvSpPr txBox="1"/>
          <p:nvPr>
            <p:ph idx="1" type="subTitle"/>
          </p:nvPr>
        </p:nvSpPr>
        <p:spPr>
          <a:xfrm>
            <a:off x="3044700" y="3116580"/>
            <a:ext cx="3054600" cy="7014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Font typeface="Economica"/>
              <a:buNone/>
              <a:defRPr sz="2100">
                <a:latin typeface="Economica"/>
                <a:ea typeface="Economica"/>
                <a:cs typeface="Economica"/>
                <a:sym typeface="Economica"/>
              </a:defRPr>
            </a:lvl1pPr>
            <a:lvl2pPr lvl="1" algn="ctr">
              <a:lnSpc>
                <a:spcPct val="100000"/>
              </a:lnSpc>
              <a:spcBef>
                <a:spcPts val="0"/>
              </a:spcBef>
              <a:spcAft>
                <a:spcPts val="0"/>
              </a:spcAft>
              <a:buSzPts val="2100"/>
              <a:buFont typeface="Economica"/>
              <a:buNone/>
              <a:defRPr sz="2100">
                <a:latin typeface="Economica"/>
                <a:ea typeface="Economica"/>
                <a:cs typeface="Economica"/>
                <a:sym typeface="Economica"/>
              </a:defRPr>
            </a:lvl2pPr>
            <a:lvl3pPr lvl="2" algn="ctr">
              <a:lnSpc>
                <a:spcPct val="100000"/>
              </a:lnSpc>
              <a:spcBef>
                <a:spcPts val="0"/>
              </a:spcBef>
              <a:spcAft>
                <a:spcPts val="0"/>
              </a:spcAft>
              <a:buSzPts val="2100"/>
              <a:buFont typeface="Economica"/>
              <a:buNone/>
              <a:defRPr sz="2100">
                <a:latin typeface="Economica"/>
                <a:ea typeface="Economica"/>
                <a:cs typeface="Economica"/>
                <a:sym typeface="Economica"/>
              </a:defRPr>
            </a:lvl3pPr>
            <a:lvl4pPr lvl="3" algn="ctr">
              <a:lnSpc>
                <a:spcPct val="100000"/>
              </a:lnSpc>
              <a:spcBef>
                <a:spcPts val="0"/>
              </a:spcBef>
              <a:spcAft>
                <a:spcPts val="0"/>
              </a:spcAft>
              <a:buSzPts val="2100"/>
              <a:buFont typeface="Economica"/>
              <a:buNone/>
              <a:defRPr sz="2100">
                <a:latin typeface="Economica"/>
                <a:ea typeface="Economica"/>
                <a:cs typeface="Economica"/>
                <a:sym typeface="Economica"/>
              </a:defRPr>
            </a:lvl4pPr>
            <a:lvl5pPr lvl="4" algn="ctr">
              <a:lnSpc>
                <a:spcPct val="100000"/>
              </a:lnSpc>
              <a:spcBef>
                <a:spcPts val="0"/>
              </a:spcBef>
              <a:spcAft>
                <a:spcPts val="0"/>
              </a:spcAft>
              <a:buSzPts val="2100"/>
              <a:buFont typeface="Economica"/>
              <a:buNone/>
              <a:defRPr sz="2100">
                <a:latin typeface="Economica"/>
                <a:ea typeface="Economica"/>
                <a:cs typeface="Economica"/>
                <a:sym typeface="Economica"/>
              </a:defRPr>
            </a:lvl5pPr>
            <a:lvl6pPr lvl="5" algn="ctr">
              <a:lnSpc>
                <a:spcPct val="100000"/>
              </a:lnSpc>
              <a:spcBef>
                <a:spcPts val="0"/>
              </a:spcBef>
              <a:spcAft>
                <a:spcPts val="0"/>
              </a:spcAft>
              <a:buSzPts val="2100"/>
              <a:buFont typeface="Economica"/>
              <a:buNone/>
              <a:defRPr sz="2100">
                <a:latin typeface="Economica"/>
                <a:ea typeface="Economica"/>
                <a:cs typeface="Economica"/>
                <a:sym typeface="Economica"/>
              </a:defRPr>
            </a:lvl6pPr>
            <a:lvl7pPr lvl="6" algn="ctr">
              <a:lnSpc>
                <a:spcPct val="100000"/>
              </a:lnSpc>
              <a:spcBef>
                <a:spcPts val="0"/>
              </a:spcBef>
              <a:spcAft>
                <a:spcPts val="0"/>
              </a:spcAft>
              <a:buSzPts val="2100"/>
              <a:buFont typeface="Economica"/>
              <a:buNone/>
              <a:defRPr sz="2100">
                <a:latin typeface="Economica"/>
                <a:ea typeface="Economica"/>
                <a:cs typeface="Economica"/>
                <a:sym typeface="Economica"/>
              </a:defRPr>
            </a:lvl7pPr>
            <a:lvl8pPr lvl="7" algn="ctr">
              <a:lnSpc>
                <a:spcPct val="100000"/>
              </a:lnSpc>
              <a:spcBef>
                <a:spcPts val="0"/>
              </a:spcBef>
              <a:spcAft>
                <a:spcPts val="0"/>
              </a:spcAft>
              <a:buSzPts val="2100"/>
              <a:buFont typeface="Economica"/>
              <a:buNone/>
              <a:defRPr sz="2100">
                <a:latin typeface="Economica"/>
                <a:ea typeface="Economica"/>
                <a:cs typeface="Economica"/>
                <a:sym typeface="Economica"/>
              </a:defRPr>
            </a:lvl8pPr>
            <a:lvl9pPr lvl="8" algn="ctr">
              <a:lnSpc>
                <a:spcPct val="100000"/>
              </a:lnSpc>
              <a:spcBef>
                <a:spcPts val="0"/>
              </a:spcBef>
              <a:spcAft>
                <a:spcPts val="0"/>
              </a:spcAft>
              <a:buSzPts val="2100"/>
              <a:buFont typeface="Economica"/>
              <a:buNone/>
              <a:defRPr sz="2100">
                <a:latin typeface="Economica"/>
                <a:ea typeface="Economica"/>
                <a:cs typeface="Economica"/>
                <a:sym typeface="Economica"/>
              </a:defRPr>
            </a:lvl9pPr>
          </a:lstStyle>
          <a:p/>
        </p:txBody>
      </p:sp>
      <p:sp>
        <p:nvSpPr>
          <p:cNvPr id="14" name="Google Shape;14;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p:nvPr/>
        </p:nvSpPr>
        <p:spPr>
          <a:xfrm flipH="1">
            <a:off x="7595938" y="4602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7" name="Google Shape;17;p3"/>
          <p:cNvSpPr/>
          <p:nvPr/>
        </p:nvSpPr>
        <p:spPr>
          <a:xfrm flipH="1" rot="10800000">
            <a:off x="466425" y="35583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8" name="Google Shape;18;p3"/>
          <p:cNvSpPr txBox="1"/>
          <p:nvPr>
            <p:ph type="title"/>
          </p:nvPr>
        </p:nvSpPr>
        <p:spPr>
          <a:xfrm>
            <a:off x="773700" y="1806450"/>
            <a:ext cx="7596600" cy="1530600"/>
          </a:xfrm>
          <a:prstGeom prst="rect">
            <a:avLst/>
          </a:prstGeom>
        </p:spPr>
        <p:txBody>
          <a:bodyPr anchorCtr="0" anchor="ctr" bIns="91425" lIns="91425" spcFirstLastPara="1" rIns="91425" wrap="square" tIns="91425">
            <a:noAutofit/>
          </a:bodyPr>
          <a:lstStyle>
            <a:lvl1pPr lvl="0" algn="ctr">
              <a:spcBef>
                <a:spcPts val="0"/>
              </a:spcBef>
              <a:spcAft>
                <a:spcPts val="0"/>
              </a:spcAft>
              <a:buSzPts val="4200"/>
              <a:buNone/>
              <a:defRPr/>
            </a:lvl1pPr>
            <a:lvl2pPr lvl="1" algn="ctr">
              <a:spcBef>
                <a:spcPts val="0"/>
              </a:spcBef>
              <a:spcAft>
                <a:spcPts val="0"/>
              </a:spcAft>
              <a:buSzPts val="4200"/>
              <a:buNone/>
              <a:defRPr/>
            </a:lvl2pPr>
            <a:lvl3pPr lvl="2" algn="ctr">
              <a:spcBef>
                <a:spcPts val="0"/>
              </a:spcBef>
              <a:spcAft>
                <a:spcPts val="0"/>
              </a:spcAft>
              <a:buSzPts val="4200"/>
              <a:buNone/>
              <a:defRPr/>
            </a:lvl3pPr>
            <a:lvl4pPr lvl="3" algn="ctr">
              <a:spcBef>
                <a:spcPts val="0"/>
              </a:spcBef>
              <a:spcAft>
                <a:spcPts val="0"/>
              </a:spcAft>
              <a:buSzPts val="4200"/>
              <a:buNone/>
              <a:defRPr/>
            </a:lvl4pPr>
            <a:lvl5pPr lvl="4" algn="ctr">
              <a:spcBef>
                <a:spcPts val="0"/>
              </a:spcBef>
              <a:spcAft>
                <a:spcPts val="0"/>
              </a:spcAft>
              <a:buSzPts val="4200"/>
              <a:buNone/>
              <a:defRPr/>
            </a:lvl5pPr>
            <a:lvl6pPr lvl="5" algn="ctr">
              <a:spcBef>
                <a:spcPts val="0"/>
              </a:spcBef>
              <a:spcAft>
                <a:spcPts val="0"/>
              </a:spcAft>
              <a:buSzPts val="4200"/>
              <a:buNone/>
              <a:defRPr/>
            </a:lvl6pPr>
            <a:lvl7pPr lvl="6" algn="ctr">
              <a:spcBef>
                <a:spcPts val="0"/>
              </a:spcBef>
              <a:spcAft>
                <a:spcPts val="0"/>
              </a:spcAft>
              <a:buSzPts val="4200"/>
              <a:buNone/>
              <a:defRPr/>
            </a:lvl7pPr>
            <a:lvl8pPr lvl="7" algn="ctr">
              <a:spcBef>
                <a:spcPts val="0"/>
              </a:spcBef>
              <a:spcAft>
                <a:spcPts val="0"/>
              </a:spcAft>
              <a:buSzPts val="4200"/>
              <a:buNone/>
              <a:defRPr/>
            </a:lvl8pPr>
            <a:lvl9pPr lvl="8" algn="ctr">
              <a:spcBef>
                <a:spcPts val="0"/>
              </a:spcBef>
              <a:spcAft>
                <a:spcPts val="0"/>
              </a:spcAft>
              <a:buSzPts val="4200"/>
              <a:buNone/>
              <a:defRPr/>
            </a:lvl9pPr>
          </a:lstStyle>
          <a:p/>
        </p:txBody>
      </p:sp>
      <p:sp>
        <p:nvSpPr>
          <p:cNvPr id="19" name="Google Shape;19;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sp>
        <p:nvSpPr>
          <p:cNvPr id="21" name="Google Shape;21;p4"/>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4"/>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23" name="Google Shape;23;p4"/>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24" name="Google Shape;24;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5" name="Shape 25"/>
        <p:cNvGrpSpPr/>
        <p:nvPr/>
      </p:nvGrpSpPr>
      <p:grpSpPr>
        <a:xfrm>
          <a:off x="0" y="0"/>
          <a:ext cx="0" cy="0"/>
          <a:chOff x="0" y="0"/>
          <a:chExt cx="0" cy="0"/>
        </a:xfrm>
      </p:grpSpPr>
      <p:sp>
        <p:nvSpPr>
          <p:cNvPr id="26" name="Google Shape;26;p5"/>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27" name="Google Shape;27;p5"/>
          <p:cNvSpPr txBox="1"/>
          <p:nvPr>
            <p:ph idx="1" type="body"/>
          </p:nvPr>
        </p:nvSpPr>
        <p:spPr>
          <a:xfrm>
            <a:off x="311700" y="1225225"/>
            <a:ext cx="3999900" cy="33540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8" name="Google Shape;28;p5"/>
          <p:cNvSpPr txBox="1"/>
          <p:nvPr>
            <p:ph idx="2" type="body"/>
          </p:nvPr>
        </p:nvSpPr>
        <p:spPr>
          <a:xfrm>
            <a:off x="4832400" y="1225225"/>
            <a:ext cx="3999900" cy="33540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9" name="Google Shape;29;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0" name="Shape 30"/>
        <p:cNvGrpSpPr/>
        <p:nvPr/>
      </p:nvGrpSpPr>
      <p:grpSpPr>
        <a:xfrm>
          <a:off x="0" y="0"/>
          <a:ext cx="0" cy="0"/>
          <a:chOff x="0" y="0"/>
          <a:chExt cx="0" cy="0"/>
        </a:xfrm>
      </p:grpSpPr>
      <p:sp>
        <p:nvSpPr>
          <p:cNvPr id="31" name="Google Shape;31;p6"/>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32" name="Google Shape;32;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3" name="Shape 33"/>
        <p:cNvGrpSpPr/>
        <p:nvPr/>
      </p:nvGrpSpPr>
      <p:grpSpPr>
        <a:xfrm>
          <a:off x="0" y="0"/>
          <a:ext cx="0" cy="0"/>
          <a:chOff x="0" y="0"/>
          <a:chExt cx="0" cy="0"/>
        </a:xfrm>
      </p:grpSpPr>
      <p:sp>
        <p:nvSpPr>
          <p:cNvPr id="34" name="Google Shape;34;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5" name="Google Shape;35;p7"/>
          <p:cNvSpPr txBox="1"/>
          <p:nvPr>
            <p:ph idx="1" type="body"/>
          </p:nvPr>
        </p:nvSpPr>
        <p:spPr>
          <a:xfrm>
            <a:off x="311700" y="1399400"/>
            <a:ext cx="2808000" cy="27849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6" name="Google Shape;36;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7" name="Shape 37"/>
        <p:cNvGrpSpPr/>
        <p:nvPr/>
      </p:nvGrpSpPr>
      <p:grpSpPr>
        <a:xfrm>
          <a:off x="0" y="0"/>
          <a:ext cx="0" cy="0"/>
          <a:chOff x="0" y="0"/>
          <a:chExt cx="0" cy="0"/>
        </a:xfrm>
      </p:grpSpPr>
      <p:sp>
        <p:nvSpPr>
          <p:cNvPr id="38" name="Google Shape;38;p8"/>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8"/>
          <p:cNvSpPr txBox="1"/>
          <p:nvPr>
            <p:ph type="title"/>
          </p:nvPr>
        </p:nvSpPr>
        <p:spPr>
          <a:xfrm>
            <a:off x="490250" y="450150"/>
            <a:ext cx="5878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40" name="Google Shape;40;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1" name="Shape 41"/>
        <p:cNvGrpSpPr/>
        <p:nvPr/>
      </p:nvGrpSpPr>
      <p:grpSpPr>
        <a:xfrm>
          <a:off x="0" y="0"/>
          <a:ext cx="0" cy="0"/>
          <a:chOff x="0" y="0"/>
          <a:chExt cx="0" cy="0"/>
        </a:xfrm>
      </p:grpSpPr>
      <p:sp>
        <p:nvSpPr>
          <p:cNvPr id="42" name="Google Shape;42;p9"/>
          <p:cNvSpPr/>
          <p:nvPr/>
        </p:nvSpPr>
        <p:spPr>
          <a:xfrm>
            <a:off x="4572000" y="-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3" name="Google Shape;43;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4" name="Google Shape;44;p9"/>
          <p:cNvSpPr txBox="1"/>
          <p:nvPr>
            <p:ph type="title"/>
          </p:nvPr>
        </p:nvSpPr>
        <p:spPr>
          <a:xfrm>
            <a:off x="265500" y="929275"/>
            <a:ext cx="4045200" cy="17862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lt2"/>
              </a:buClr>
              <a:buSzPts val="4200"/>
              <a:buNone/>
              <a:defRPr>
                <a:solidFill>
                  <a:schemeClr val="lt2"/>
                </a:solidFill>
              </a:defRPr>
            </a:lvl1pPr>
            <a:lvl2pPr lvl="1" algn="ctr">
              <a:spcBef>
                <a:spcPts val="0"/>
              </a:spcBef>
              <a:spcAft>
                <a:spcPts val="0"/>
              </a:spcAft>
              <a:buClr>
                <a:schemeClr val="lt2"/>
              </a:buClr>
              <a:buSzPts val="4200"/>
              <a:buNone/>
              <a:defRPr>
                <a:solidFill>
                  <a:schemeClr val="lt2"/>
                </a:solidFill>
              </a:defRPr>
            </a:lvl2pPr>
            <a:lvl3pPr lvl="2" algn="ctr">
              <a:spcBef>
                <a:spcPts val="0"/>
              </a:spcBef>
              <a:spcAft>
                <a:spcPts val="0"/>
              </a:spcAft>
              <a:buClr>
                <a:schemeClr val="lt2"/>
              </a:buClr>
              <a:buSzPts val="4200"/>
              <a:buNone/>
              <a:defRPr>
                <a:solidFill>
                  <a:schemeClr val="lt2"/>
                </a:solidFill>
              </a:defRPr>
            </a:lvl3pPr>
            <a:lvl4pPr lvl="3" algn="ctr">
              <a:spcBef>
                <a:spcPts val="0"/>
              </a:spcBef>
              <a:spcAft>
                <a:spcPts val="0"/>
              </a:spcAft>
              <a:buClr>
                <a:schemeClr val="lt2"/>
              </a:buClr>
              <a:buSzPts val="4200"/>
              <a:buNone/>
              <a:defRPr>
                <a:solidFill>
                  <a:schemeClr val="lt2"/>
                </a:solidFill>
              </a:defRPr>
            </a:lvl4pPr>
            <a:lvl5pPr lvl="4" algn="ctr">
              <a:spcBef>
                <a:spcPts val="0"/>
              </a:spcBef>
              <a:spcAft>
                <a:spcPts val="0"/>
              </a:spcAft>
              <a:buClr>
                <a:schemeClr val="lt2"/>
              </a:buClr>
              <a:buSzPts val="4200"/>
              <a:buNone/>
              <a:defRPr>
                <a:solidFill>
                  <a:schemeClr val="lt2"/>
                </a:solidFill>
              </a:defRPr>
            </a:lvl5pPr>
            <a:lvl6pPr lvl="5" algn="ctr">
              <a:spcBef>
                <a:spcPts val="0"/>
              </a:spcBef>
              <a:spcAft>
                <a:spcPts val="0"/>
              </a:spcAft>
              <a:buClr>
                <a:schemeClr val="lt2"/>
              </a:buClr>
              <a:buSzPts val="4200"/>
              <a:buNone/>
              <a:defRPr>
                <a:solidFill>
                  <a:schemeClr val="lt2"/>
                </a:solidFill>
              </a:defRPr>
            </a:lvl6pPr>
            <a:lvl7pPr lvl="6" algn="ctr">
              <a:spcBef>
                <a:spcPts val="0"/>
              </a:spcBef>
              <a:spcAft>
                <a:spcPts val="0"/>
              </a:spcAft>
              <a:buClr>
                <a:schemeClr val="lt2"/>
              </a:buClr>
              <a:buSzPts val="4200"/>
              <a:buNone/>
              <a:defRPr>
                <a:solidFill>
                  <a:schemeClr val="lt2"/>
                </a:solidFill>
              </a:defRPr>
            </a:lvl7pPr>
            <a:lvl8pPr lvl="7" algn="ctr">
              <a:spcBef>
                <a:spcPts val="0"/>
              </a:spcBef>
              <a:spcAft>
                <a:spcPts val="0"/>
              </a:spcAft>
              <a:buClr>
                <a:schemeClr val="lt2"/>
              </a:buClr>
              <a:buSzPts val="4200"/>
              <a:buNone/>
              <a:defRPr>
                <a:solidFill>
                  <a:schemeClr val="lt2"/>
                </a:solidFill>
              </a:defRPr>
            </a:lvl8pPr>
            <a:lvl9pPr lvl="8" algn="ctr">
              <a:spcBef>
                <a:spcPts val="0"/>
              </a:spcBef>
              <a:spcAft>
                <a:spcPts val="0"/>
              </a:spcAft>
              <a:buClr>
                <a:schemeClr val="lt2"/>
              </a:buClr>
              <a:buSzPts val="4200"/>
              <a:buNone/>
              <a:defRPr>
                <a:solidFill>
                  <a:schemeClr val="lt2"/>
                </a:solidFill>
              </a:defRPr>
            </a:lvl9pPr>
          </a:lstStyle>
          <a:p/>
        </p:txBody>
      </p:sp>
      <p:sp>
        <p:nvSpPr>
          <p:cNvPr id="45" name="Google Shape;45;p9"/>
          <p:cNvSpPr txBox="1"/>
          <p:nvPr>
            <p:ph idx="1" type="subTitle"/>
          </p:nvPr>
        </p:nvSpPr>
        <p:spPr>
          <a:xfrm>
            <a:off x="265500" y="2769001"/>
            <a:ext cx="4045200" cy="1574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400"/>
              <a:buFont typeface="Economica"/>
              <a:buNone/>
              <a:defRPr sz="2400">
                <a:latin typeface="Economica"/>
                <a:ea typeface="Economica"/>
                <a:cs typeface="Economica"/>
                <a:sym typeface="Economica"/>
              </a:defRPr>
            </a:lvl1pPr>
            <a:lvl2pPr lvl="1" algn="ctr">
              <a:lnSpc>
                <a:spcPct val="100000"/>
              </a:lnSpc>
              <a:spcBef>
                <a:spcPts val="0"/>
              </a:spcBef>
              <a:spcAft>
                <a:spcPts val="0"/>
              </a:spcAft>
              <a:buSzPts val="2400"/>
              <a:buFont typeface="Economica"/>
              <a:buNone/>
              <a:defRPr sz="2400">
                <a:latin typeface="Economica"/>
                <a:ea typeface="Economica"/>
                <a:cs typeface="Economica"/>
                <a:sym typeface="Economica"/>
              </a:defRPr>
            </a:lvl2pPr>
            <a:lvl3pPr lvl="2" algn="ctr">
              <a:lnSpc>
                <a:spcPct val="100000"/>
              </a:lnSpc>
              <a:spcBef>
                <a:spcPts val="0"/>
              </a:spcBef>
              <a:spcAft>
                <a:spcPts val="0"/>
              </a:spcAft>
              <a:buSzPts val="2400"/>
              <a:buFont typeface="Economica"/>
              <a:buNone/>
              <a:defRPr sz="2400">
                <a:latin typeface="Economica"/>
                <a:ea typeface="Economica"/>
                <a:cs typeface="Economica"/>
                <a:sym typeface="Economica"/>
              </a:defRPr>
            </a:lvl3pPr>
            <a:lvl4pPr lvl="3" algn="ctr">
              <a:lnSpc>
                <a:spcPct val="100000"/>
              </a:lnSpc>
              <a:spcBef>
                <a:spcPts val="0"/>
              </a:spcBef>
              <a:spcAft>
                <a:spcPts val="0"/>
              </a:spcAft>
              <a:buSzPts val="2400"/>
              <a:buFont typeface="Economica"/>
              <a:buNone/>
              <a:defRPr sz="2400">
                <a:latin typeface="Economica"/>
                <a:ea typeface="Economica"/>
                <a:cs typeface="Economica"/>
                <a:sym typeface="Economica"/>
              </a:defRPr>
            </a:lvl4pPr>
            <a:lvl5pPr lvl="4" algn="ctr">
              <a:lnSpc>
                <a:spcPct val="100000"/>
              </a:lnSpc>
              <a:spcBef>
                <a:spcPts val="0"/>
              </a:spcBef>
              <a:spcAft>
                <a:spcPts val="0"/>
              </a:spcAft>
              <a:buSzPts val="2400"/>
              <a:buFont typeface="Economica"/>
              <a:buNone/>
              <a:defRPr sz="2400">
                <a:latin typeface="Economica"/>
                <a:ea typeface="Economica"/>
                <a:cs typeface="Economica"/>
                <a:sym typeface="Economica"/>
              </a:defRPr>
            </a:lvl5pPr>
            <a:lvl6pPr lvl="5" algn="ctr">
              <a:lnSpc>
                <a:spcPct val="100000"/>
              </a:lnSpc>
              <a:spcBef>
                <a:spcPts val="0"/>
              </a:spcBef>
              <a:spcAft>
                <a:spcPts val="0"/>
              </a:spcAft>
              <a:buSzPts val="2400"/>
              <a:buFont typeface="Economica"/>
              <a:buNone/>
              <a:defRPr sz="2400">
                <a:latin typeface="Economica"/>
                <a:ea typeface="Economica"/>
                <a:cs typeface="Economica"/>
                <a:sym typeface="Economica"/>
              </a:defRPr>
            </a:lvl6pPr>
            <a:lvl7pPr lvl="6" algn="ctr">
              <a:lnSpc>
                <a:spcPct val="100000"/>
              </a:lnSpc>
              <a:spcBef>
                <a:spcPts val="0"/>
              </a:spcBef>
              <a:spcAft>
                <a:spcPts val="0"/>
              </a:spcAft>
              <a:buSzPts val="2400"/>
              <a:buFont typeface="Economica"/>
              <a:buNone/>
              <a:defRPr sz="2400">
                <a:latin typeface="Economica"/>
                <a:ea typeface="Economica"/>
                <a:cs typeface="Economica"/>
                <a:sym typeface="Economica"/>
              </a:defRPr>
            </a:lvl7pPr>
            <a:lvl8pPr lvl="7" algn="ctr">
              <a:lnSpc>
                <a:spcPct val="100000"/>
              </a:lnSpc>
              <a:spcBef>
                <a:spcPts val="0"/>
              </a:spcBef>
              <a:spcAft>
                <a:spcPts val="0"/>
              </a:spcAft>
              <a:buSzPts val="2400"/>
              <a:buFont typeface="Economica"/>
              <a:buNone/>
              <a:defRPr sz="2400">
                <a:latin typeface="Economica"/>
                <a:ea typeface="Economica"/>
                <a:cs typeface="Economica"/>
                <a:sym typeface="Economica"/>
              </a:defRPr>
            </a:lvl8pPr>
            <a:lvl9pPr lvl="8" algn="ctr">
              <a:lnSpc>
                <a:spcPct val="100000"/>
              </a:lnSpc>
              <a:spcBef>
                <a:spcPts val="0"/>
              </a:spcBef>
              <a:spcAft>
                <a:spcPts val="0"/>
              </a:spcAft>
              <a:buSzPts val="2400"/>
              <a:buFont typeface="Economica"/>
              <a:buNone/>
              <a:defRPr sz="2400">
                <a:latin typeface="Economica"/>
                <a:ea typeface="Economica"/>
                <a:cs typeface="Economica"/>
                <a:sym typeface="Economica"/>
              </a:defRPr>
            </a:lvl9pPr>
          </a:lstStyle>
          <a:p/>
        </p:txBody>
      </p:sp>
      <p:sp>
        <p:nvSpPr>
          <p:cNvPr id="46" name="Google Shape;46;p9"/>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1600"/>
              </a:spcBef>
              <a:spcAft>
                <a:spcPts val="0"/>
              </a:spcAft>
              <a:buClr>
                <a:schemeClr val="lt1"/>
              </a:buClr>
              <a:buSzPts val="1400"/>
              <a:buChar char="○"/>
              <a:defRPr>
                <a:solidFill>
                  <a:schemeClr val="lt1"/>
                </a:solidFill>
              </a:defRPr>
            </a:lvl2pPr>
            <a:lvl3pPr indent="-317500" lvl="2" marL="1371600">
              <a:spcBef>
                <a:spcPts val="1600"/>
              </a:spcBef>
              <a:spcAft>
                <a:spcPts val="0"/>
              </a:spcAft>
              <a:buClr>
                <a:schemeClr val="lt1"/>
              </a:buClr>
              <a:buSzPts val="1400"/>
              <a:buChar char="■"/>
              <a:defRPr>
                <a:solidFill>
                  <a:schemeClr val="lt1"/>
                </a:solidFill>
              </a:defRPr>
            </a:lvl3pPr>
            <a:lvl4pPr indent="-317500" lvl="3" marL="1828800">
              <a:spcBef>
                <a:spcPts val="1600"/>
              </a:spcBef>
              <a:spcAft>
                <a:spcPts val="0"/>
              </a:spcAft>
              <a:buClr>
                <a:schemeClr val="lt1"/>
              </a:buClr>
              <a:buSzPts val="1400"/>
              <a:buChar char="●"/>
              <a:defRPr>
                <a:solidFill>
                  <a:schemeClr val="lt1"/>
                </a:solidFill>
              </a:defRPr>
            </a:lvl4pPr>
            <a:lvl5pPr indent="-317500" lvl="4" marL="2286000">
              <a:spcBef>
                <a:spcPts val="1600"/>
              </a:spcBef>
              <a:spcAft>
                <a:spcPts val="0"/>
              </a:spcAft>
              <a:buClr>
                <a:schemeClr val="lt1"/>
              </a:buClr>
              <a:buSzPts val="1400"/>
              <a:buChar char="○"/>
              <a:defRPr>
                <a:solidFill>
                  <a:schemeClr val="lt1"/>
                </a:solidFill>
              </a:defRPr>
            </a:lvl5pPr>
            <a:lvl6pPr indent="-317500" lvl="5" marL="2743200">
              <a:spcBef>
                <a:spcPts val="1600"/>
              </a:spcBef>
              <a:spcAft>
                <a:spcPts val="0"/>
              </a:spcAft>
              <a:buClr>
                <a:schemeClr val="lt1"/>
              </a:buClr>
              <a:buSzPts val="1400"/>
              <a:buChar char="■"/>
              <a:defRPr>
                <a:solidFill>
                  <a:schemeClr val="lt1"/>
                </a:solidFill>
              </a:defRPr>
            </a:lvl6pPr>
            <a:lvl7pPr indent="-317500" lvl="6" marL="3200400">
              <a:spcBef>
                <a:spcPts val="1600"/>
              </a:spcBef>
              <a:spcAft>
                <a:spcPts val="0"/>
              </a:spcAft>
              <a:buClr>
                <a:schemeClr val="lt1"/>
              </a:buClr>
              <a:buSzPts val="1400"/>
              <a:buChar char="●"/>
              <a:defRPr>
                <a:solidFill>
                  <a:schemeClr val="lt1"/>
                </a:solidFill>
              </a:defRPr>
            </a:lvl7pPr>
            <a:lvl8pPr indent="-317500" lvl="7" marL="3657600">
              <a:spcBef>
                <a:spcPts val="1600"/>
              </a:spcBef>
              <a:spcAft>
                <a:spcPts val="0"/>
              </a:spcAft>
              <a:buClr>
                <a:schemeClr val="lt1"/>
              </a:buClr>
              <a:buSzPts val="1400"/>
              <a:buChar char="○"/>
              <a:defRPr>
                <a:solidFill>
                  <a:schemeClr val="lt1"/>
                </a:solidFill>
              </a:defRPr>
            </a:lvl8pPr>
            <a:lvl9pPr indent="-317500" lvl="8" marL="4114800">
              <a:spcBef>
                <a:spcPts val="1600"/>
              </a:spcBef>
              <a:spcAft>
                <a:spcPts val="1600"/>
              </a:spcAft>
              <a:buClr>
                <a:schemeClr val="lt1"/>
              </a:buClr>
              <a:buSzPts val="1400"/>
              <a:buChar char="■"/>
              <a:defRPr>
                <a:solidFill>
                  <a:schemeClr val="lt1"/>
                </a:solidFill>
              </a:defRPr>
            </a:lvl9pPr>
          </a:lstStyle>
          <a:p/>
        </p:txBody>
      </p:sp>
      <p:sp>
        <p:nvSpPr>
          <p:cNvPr id="47" name="Google Shape;47;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8" name="Shape 48"/>
        <p:cNvGrpSpPr/>
        <p:nvPr/>
      </p:nvGrpSpPr>
      <p:grpSpPr>
        <a:xfrm>
          <a:off x="0" y="0"/>
          <a:ext cx="0" cy="0"/>
          <a:chOff x="0" y="0"/>
          <a:chExt cx="0" cy="0"/>
        </a:xfrm>
      </p:grpSpPr>
      <p:sp>
        <p:nvSpPr>
          <p:cNvPr id="49" name="Google Shape;49;p10"/>
          <p:cNvSpPr txBox="1"/>
          <p:nvPr>
            <p:ph idx="1" type="body"/>
          </p:nvPr>
        </p:nvSpPr>
        <p:spPr>
          <a:xfrm>
            <a:off x="319500" y="4218925"/>
            <a:ext cx="5998800" cy="5988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2400"/>
              <a:buFont typeface="Economica"/>
              <a:buNone/>
              <a:defRPr sz="2400">
                <a:latin typeface="Economica"/>
                <a:ea typeface="Economica"/>
                <a:cs typeface="Economica"/>
                <a:sym typeface="Economica"/>
              </a:defRPr>
            </a:lvl1pPr>
          </a:lstStyle>
          <a:p/>
        </p:txBody>
      </p:sp>
      <p:sp>
        <p:nvSpPr>
          <p:cNvPr id="50" name="Google Shape;50;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1" name="Shape 51"/>
        <p:cNvGrpSpPr/>
        <p:nvPr/>
      </p:nvGrpSpPr>
      <p:grpSpPr>
        <a:xfrm>
          <a:off x="0" y="0"/>
          <a:ext cx="0" cy="0"/>
          <a:chOff x="0" y="0"/>
          <a:chExt cx="0" cy="0"/>
        </a:xfrm>
      </p:grpSpPr>
      <p:sp>
        <p:nvSpPr>
          <p:cNvPr id="52" name="Google Shape;52;p11"/>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11"/>
          <p:cNvSpPr txBox="1"/>
          <p:nvPr>
            <p:ph hasCustomPrompt="1" type="title"/>
          </p:nvPr>
        </p:nvSpPr>
        <p:spPr>
          <a:xfrm>
            <a:off x="311700" y="957125"/>
            <a:ext cx="8520600" cy="21288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2"/>
              </a:buClr>
              <a:buSzPts val="16000"/>
              <a:buNone/>
              <a:defRPr sz="16000">
                <a:solidFill>
                  <a:schemeClr val="lt2"/>
                </a:solidFill>
              </a:defRPr>
            </a:lvl1pPr>
            <a:lvl2pPr lvl="1" algn="ctr">
              <a:spcBef>
                <a:spcPts val="0"/>
              </a:spcBef>
              <a:spcAft>
                <a:spcPts val="0"/>
              </a:spcAft>
              <a:buClr>
                <a:schemeClr val="lt2"/>
              </a:buClr>
              <a:buSzPts val="16000"/>
              <a:buNone/>
              <a:defRPr sz="16000">
                <a:solidFill>
                  <a:schemeClr val="lt2"/>
                </a:solidFill>
              </a:defRPr>
            </a:lvl2pPr>
            <a:lvl3pPr lvl="2" algn="ctr">
              <a:spcBef>
                <a:spcPts val="0"/>
              </a:spcBef>
              <a:spcAft>
                <a:spcPts val="0"/>
              </a:spcAft>
              <a:buClr>
                <a:schemeClr val="lt2"/>
              </a:buClr>
              <a:buSzPts val="16000"/>
              <a:buNone/>
              <a:defRPr sz="16000">
                <a:solidFill>
                  <a:schemeClr val="lt2"/>
                </a:solidFill>
              </a:defRPr>
            </a:lvl3pPr>
            <a:lvl4pPr lvl="3" algn="ctr">
              <a:spcBef>
                <a:spcPts val="0"/>
              </a:spcBef>
              <a:spcAft>
                <a:spcPts val="0"/>
              </a:spcAft>
              <a:buClr>
                <a:schemeClr val="lt2"/>
              </a:buClr>
              <a:buSzPts val="16000"/>
              <a:buNone/>
              <a:defRPr sz="16000">
                <a:solidFill>
                  <a:schemeClr val="lt2"/>
                </a:solidFill>
              </a:defRPr>
            </a:lvl4pPr>
            <a:lvl5pPr lvl="4" algn="ctr">
              <a:spcBef>
                <a:spcPts val="0"/>
              </a:spcBef>
              <a:spcAft>
                <a:spcPts val="0"/>
              </a:spcAft>
              <a:buClr>
                <a:schemeClr val="lt2"/>
              </a:buClr>
              <a:buSzPts val="16000"/>
              <a:buNone/>
              <a:defRPr sz="16000">
                <a:solidFill>
                  <a:schemeClr val="lt2"/>
                </a:solidFill>
              </a:defRPr>
            </a:lvl5pPr>
            <a:lvl6pPr lvl="5" algn="ctr">
              <a:spcBef>
                <a:spcPts val="0"/>
              </a:spcBef>
              <a:spcAft>
                <a:spcPts val="0"/>
              </a:spcAft>
              <a:buClr>
                <a:schemeClr val="lt2"/>
              </a:buClr>
              <a:buSzPts val="16000"/>
              <a:buNone/>
              <a:defRPr sz="16000">
                <a:solidFill>
                  <a:schemeClr val="lt2"/>
                </a:solidFill>
              </a:defRPr>
            </a:lvl6pPr>
            <a:lvl7pPr lvl="6" algn="ctr">
              <a:spcBef>
                <a:spcPts val="0"/>
              </a:spcBef>
              <a:spcAft>
                <a:spcPts val="0"/>
              </a:spcAft>
              <a:buClr>
                <a:schemeClr val="lt2"/>
              </a:buClr>
              <a:buSzPts val="16000"/>
              <a:buNone/>
              <a:defRPr sz="16000">
                <a:solidFill>
                  <a:schemeClr val="lt2"/>
                </a:solidFill>
              </a:defRPr>
            </a:lvl7pPr>
            <a:lvl8pPr lvl="7" algn="ctr">
              <a:spcBef>
                <a:spcPts val="0"/>
              </a:spcBef>
              <a:spcAft>
                <a:spcPts val="0"/>
              </a:spcAft>
              <a:buClr>
                <a:schemeClr val="lt2"/>
              </a:buClr>
              <a:buSzPts val="16000"/>
              <a:buNone/>
              <a:defRPr sz="16000">
                <a:solidFill>
                  <a:schemeClr val="lt2"/>
                </a:solidFill>
              </a:defRPr>
            </a:lvl8pPr>
            <a:lvl9pPr lvl="8" algn="ctr">
              <a:spcBef>
                <a:spcPts val="0"/>
              </a:spcBef>
              <a:spcAft>
                <a:spcPts val="0"/>
              </a:spcAft>
              <a:buClr>
                <a:schemeClr val="lt2"/>
              </a:buClr>
              <a:buSzPts val="16000"/>
              <a:buNone/>
              <a:defRPr sz="16000">
                <a:solidFill>
                  <a:schemeClr val="lt2"/>
                </a:solidFill>
              </a:defRPr>
            </a:lvl9pPr>
          </a:lstStyle>
          <a:p>
            <a:r>
              <a:t>xx%</a:t>
            </a:r>
          </a:p>
        </p:txBody>
      </p:sp>
      <p:sp>
        <p:nvSpPr>
          <p:cNvPr id="54" name="Google Shape;54;p11"/>
          <p:cNvSpPr txBox="1"/>
          <p:nvPr>
            <p:ph idx="1" type="body"/>
          </p:nvPr>
        </p:nvSpPr>
        <p:spPr>
          <a:xfrm>
            <a:off x="311700" y="3162000"/>
            <a:ext cx="8520600" cy="10716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55" name="Google Shape;55;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lux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315925"/>
            <a:ext cx="8520600" cy="831300"/>
          </a:xfrm>
          <a:prstGeom prst="rect">
            <a:avLst/>
          </a:prstGeom>
          <a:noFill/>
          <a:ln>
            <a:noFill/>
          </a:ln>
        </p:spPr>
        <p:txBody>
          <a:bodyPr anchorCtr="0" anchor="b" bIns="91425" lIns="91425" spcFirstLastPara="1" rIns="91425" wrap="square" tIns="91425">
            <a:noAutofit/>
          </a:bodyPr>
          <a:lstStyle>
            <a:lvl1pPr lvl="0">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1pPr>
            <a:lvl2pPr lvl="1">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2pPr>
            <a:lvl3pPr lvl="2">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3pPr>
            <a:lvl4pPr lvl="3">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4pPr>
            <a:lvl5pPr lvl="4">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5pPr>
            <a:lvl6pPr lvl="5">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6pPr>
            <a:lvl7pPr lvl="6">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7pPr>
            <a:lvl8pPr lvl="7">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8pPr>
            <a:lvl9pPr lvl="8">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9pPr>
          </a:lstStyle>
          <a:p/>
        </p:txBody>
      </p:sp>
      <p:sp>
        <p:nvSpPr>
          <p:cNvPr id="7" name="Google Shape;7;p1"/>
          <p:cNvSpPr txBox="1"/>
          <p:nvPr>
            <p:ph idx="1" type="body"/>
          </p:nvPr>
        </p:nvSpPr>
        <p:spPr>
          <a:xfrm>
            <a:off x="311700" y="1225225"/>
            <a:ext cx="8520600" cy="33540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1"/>
              </a:buClr>
              <a:buSzPts val="1800"/>
              <a:buFont typeface="Open Sans"/>
              <a:buChar char="●"/>
              <a:defRPr sz="1800">
                <a:solidFill>
                  <a:schemeClr val="dk1"/>
                </a:solidFill>
                <a:latin typeface="Open Sans"/>
                <a:ea typeface="Open Sans"/>
                <a:cs typeface="Open Sans"/>
                <a:sym typeface="Open Sans"/>
              </a:defRPr>
            </a:lvl1pPr>
            <a:lvl2pPr indent="-317500" lvl="1" marL="9144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2pPr>
            <a:lvl3pPr indent="-317500" lvl="2" marL="13716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3pPr>
            <a:lvl4pPr indent="-317500" lvl="3" marL="18288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4pPr>
            <a:lvl5pPr indent="-317500" lvl="4" marL="22860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5pPr>
            <a:lvl6pPr indent="-317500" lvl="5" marL="27432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6pPr>
            <a:lvl7pPr indent="-317500" lvl="6" marL="32004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7pPr>
            <a:lvl8pPr indent="-317500" lvl="7" marL="36576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8pPr>
            <a:lvl9pPr indent="-317500" lvl="8" marL="4114800">
              <a:lnSpc>
                <a:spcPct val="115000"/>
              </a:lnSpc>
              <a:spcBef>
                <a:spcPts val="1600"/>
              </a:spcBef>
              <a:spcAft>
                <a:spcPts val="1600"/>
              </a:spcAft>
              <a:buClr>
                <a:schemeClr val="dk1"/>
              </a:buClr>
              <a:buSzPts val="1400"/>
              <a:buFont typeface="Open Sans"/>
              <a:buChar char="■"/>
              <a:defRPr>
                <a:solidFill>
                  <a:schemeClr val="dk1"/>
                </a:solidFill>
                <a:latin typeface="Open Sans"/>
                <a:ea typeface="Open Sans"/>
                <a:cs typeface="Open Sans"/>
                <a:sym typeface="Open Sans"/>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1"/>
                </a:solidFill>
                <a:latin typeface="Economica"/>
                <a:ea typeface="Economica"/>
                <a:cs typeface="Economica"/>
                <a:sym typeface="Economica"/>
              </a:defRPr>
            </a:lvl1pPr>
            <a:lvl2pPr lvl="1" algn="r">
              <a:buNone/>
              <a:defRPr sz="1000">
                <a:solidFill>
                  <a:schemeClr val="dk1"/>
                </a:solidFill>
                <a:latin typeface="Economica"/>
                <a:ea typeface="Economica"/>
                <a:cs typeface="Economica"/>
                <a:sym typeface="Economica"/>
              </a:defRPr>
            </a:lvl2pPr>
            <a:lvl3pPr lvl="2" algn="r">
              <a:buNone/>
              <a:defRPr sz="1000">
                <a:solidFill>
                  <a:schemeClr val="dk1"/>
                </a:solidFill>
                <a:latin typeface="Economica"/>
                <a:ea typeface="Economica"/>
                <a:cs typeface="Economica"/>
                <a:sym typeface="Economica"/>
              </a:defRPr>
            </a:lvl3pPr>
            <a:lvl4pPr lvl="3" algn="r">
              <a:buNone/>
              <a:defRPr sz="1000">
                <a:solidFill>
                  <a:schemeClr val="dk1"/>
                </a:solidFill>
                <a:latin typeface="Economica"/>
                <a:ea typeface="Economica"/>
                <a:cs typeface="Economica"/>
                <a:sym typeface="Economica"/>
              </a:defRPr>
            </a:lvl4pPr>
            <a:lvl5pPr lvl="4" algn="r">
              <a:buNone/>
              <a:defRPr sz="1000">
                <a:solidFill>
                  <a:schemeClr val="dk1"/>
                </a:solidFill>
                <a:latin typeface="Economica"/>
                <a:ea typeface="Economica"/>
                <a:cs typeface="Economica"/>
                <a:sym typeface="Economica"/>
              </a:defRPr>
            </a:lvl5pPr>
            <a:lvl6pPr lvl="5" algn="r">
              <a:buNone/>
              <a:defRPr sz="1000">
                <a:solidFill>
                  <a:schemeClr val="dk1"/>
                </a:solidFill>
                <a:latin typeface="Economica"/>
                <a:ea typeface="Economica"/>
                <a:cs typeface="Economica"/>
                <a:sym typeface="Economica"/>
              </a:defRPr>
            </a:lvl6pPr>
            <a:lvl7pPr lvl="6" algn="r">
              <a:buNone/>
              <a:defRPr sz="1000">
                <a:solidFill>
                  <a:schemeClr val="dk1"/>
                </a:solidFill>
                <a:latin typeface="Economica"/>
                <a:ea typeface="Economica"/>
                <a:cs typeface="Economica"/>
                <a:sym typeface="Economica"/>
              </a:defRPr>
            </a:lvl7pPr>
            <a:lvl8pPr lvl="7" algn="r">
              <a:buNone/>
              <a:defRPr sz="1000">
                <a:solidFill>
                  <a:schemeClr val="dk1"/>
                </a:solidFill>
                <a:latin typeface="Economica"/>
                <a:ea typeface="Economica"/>
                <a:cs typeface="Economica"/>
                <a:sym typeface="Economica"/>
              </a:defRPr>
            </a:lvl8pPr>
            <a:lvl9pPr lvl="8" algn="r">
              <a:buNone/>
              <a:defRPr sz="1000">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1.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1.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3"/>
          <p:cNvSpPr txBox="1"/>
          <p:nvPr>
            <p:ph type="ctrTitle"/>
          </p:nvPr>
        </p:nvSpPr>
        <p:spPr>
          <a:xfrm>
            <a:off x="3044700" y="1444255"/>
            <a:ext cx="3054600" cy="15372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Measuring Networks at the Individual Level</a:t>
            </a:r>
            <a:endParaRPr/>
          </a:p>
        </p:txBody>
      </p:sp>
      <p:sp>
        <p:nvSpPr>
          <p:cNvPr id="63" name="Google Shape;63;p13"/>
          <p:cNvSpPr txBox="1"/>
          <p:nvPr>
            <p:ph idx="1" type="subTitle"/>
          </p:nvPr>
        </p:nvSpPr>
        <p:spPr>
          <a:xfrm>
            <a:off x="3044700" y="3116580"/>
            <a:ext cx="3054600" cy="701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4"/>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Where does network data come from?</a:t>
            </a:r>
            <a:endParaRPr/>
          </a:p>
        </p:txBody>
      </p:sp>
      <p:sp>
        <p:nvSpPr>
          <p:cNvPr id="69" name="Google Shape;69;p14"/>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Surveys</a:t>
            </a:r>
            <a:endParaRPr/>
          </a:p>
          <a:p>
            <a:pPr indent="-317500" lvl="1" marL="914400" rtl="0" algn="l">
              <a:spcBef>
                <a:spcPts val="0"/>
              </a:spcBef>
              <a:spcAft>
                <a:spcPts val="0"/>
              </a:spcAft>
              <a:buSzPts val="1400"/>
              <a:buChar char="○"/>
            </a:pPr>
            <a:r>
              <a:rPr lang="en"/>
              <a:t>You </a:t>
            </a:r>
            <a:r>
              <a:rPr b="1" lang="en"/>
              <a:t>ask</a:t>
            </a:r>
            <a:r>
              <a:rPr lang="en"/>
              <a:t> people about their relations</a:t>
            </a:r>
            <a:endParaRPr/>
          </a:p>
          <a:p>
            <a:pPr indent="-317500" lvl="2" marL="1371600" rtl="0" algn="l">
              <a:spcBef>
                <a:spcPts val="0"/>
              </a:spcBef>
              <a:spcAft>
                <a:spcPts val="0"/>
              </a:spcAft>
              <a:buSzPts val="1400"/>
              <a:buChar char="■"/>
            </a:pPr>
            <a:r>
              <a:rPr lang="en"/>
              <a:t>Best approach for the collection of </a:t>
            </a:r>
            <a:r>
              <a:rPr b="1" lang="en"/>
              <a:t>ego network </a:t>
            </a:r>
            <a:r>
              <a:rPr lang="en"/>
              <a:t>data </a:t>
            </a:r>
            <a:endParaRPr/>
          </a:p>
          <a:p>
            <a:pPr indent="-317500" lvl="3" marL="1828800" rtl="0" algn="l">
              <a:spcBef>
                <a:spcPts val="0"/>
              </a:spcBef>
              <a:spcAft>
                <a:spcPts val="0"/>
              </a:spcAft>
              <a:buSzPts val="1400"/>
              <a:buChar char="●"/>
            </a:pPr>
            <a:r>
              <a:rPr lang="en"/>
              <a:t>Next class!</a:t>
            </a:r>
            <a:endParaRPr/>
          </a:p>
          <a:p>
            <a:pPr indent="-342900" lvl="0" marL="457200" marR="0" rtl="0" algn="l">
              <a:lnSpc>
                <a:spcPct val="115000"/>
              </a:lnSpc>
              <a:spcBef>
                <a:spcPts val="0"/>
              </a:spcBef>
              <a:spcAft>
                <a:spcPts val="0"/>
              </a:spcAft>
              <a:buClr>
                <a:schemeClr val="dk1"/>
              </a:buClr>
              <a:buSzPts val="1800"/>
              <a:buFont typeface="Open Sans"/>
              <a:buChar char="●"/>
            </a:pPr>
            <a:r>
              <a:rPr lang="en"/>
              <a:t>Direct Observation</a:t>
            </a:r>
            <a:endParaRPr/>
          </a:p>
          <a:p>
            <a:pPr indent="-317500" lvl="1" marL="914400" marR="0" rtl="0" algn="l">
              <a:lnSpc>
                <a:spcPct val="115000"/>
              </a:lnSpc>
              <a:spcBef>
                <a:spcPts val="0"/>
              </a:spcBef>
              <a:spcAft>
                <a:spcPts val="0"/>
              </a:spcAft>
              <a:buSzPts val="1400"/>
              <a:buChar char="○"/>
            </a:pPr>
            <a:r>
              <a:rPr lang="en"/>
              <a:t>You </a:t>
            </a:r>
            <a:r>
              <a:rPr b="1" lang="en"/>
              <a:t>go</a:t>
            </a:r>
            <a:r>
              <a:rPr lang="en"/>
              <a:t> to a site and </a:t>
            </a:r>
            <a:r>
              <a:rPr b="1" lang="en"/>
              <a:t>record</a:t>
            </a:r>
            <a:r>
              <a:rPr lang="en"/>
              <a:t> interactions between people</a:t>
            </a:r>
            <a:endParaRPr/>
          </a:p>
          <a:p>
            <a:pPr indent="-317500" lvl="2" marL="1371600" marR="0" rtl="0" algn="l">
              <a:lnSpc>
                <a:spcPct val="115000"/>
              </a:lnSpc>
              <a:spcBef>
                <a:spcPts val="0"/>
              </a:spcBef>
              <a:spcAft>
                <a:spcPts val="0"/>
              </a:spcAft>
              <a:buSzPts val="1400"/>
              <a:buChar char="■"/>
            </a:pPr>
            <a:r>
              <a:rPr lang="en"/>
              <a:t>Classrooms</a:t>
            </a:r>
            <a:endParaRPr/>
          </a:p>
          <a:p>
            <a:pPr indent="-317500" lvl="2" marL="1371600" marR="0" rtl="0" algn="l">
              <a:lnSpc>
                <a:spcPct val="115000"/>
              </a:lnSpc>
              <a:spcBef>
                <a:spcPts val="0"/>
              </a:spcBef>
              <a:spcAft>
                <a:spcPts val="0"/>
              </a:spcAft>
              <a:buSzPts val="1400"/>
              <a:buChar char="■"/>
            </a:pPr>
            <a:r>
              <a:rPr lang="en"/>
              <a:t>Neighborhoods</a:t>
            </a:r>
            <a:endParaRPr/>
          </a:p>
          <a:p>
            <a:pPr indent="-317500" lvl="2" marL="1371600" marR="0" rtl="0" algn="l">
              <a:lnSpc>
                <a:spcPct val="115000"/>
              </a:lnSpc>
              <a:spcBef>
                <a:spcPts val="0"/>
              </a:spcBef>
              <a:spcAft>
                <a:spcPts val="0"/>
              </a:spcAft>
              <a:buSzPts val="1400"/>
              <a:buChar char="■"/>
            </a:pPr>
            <a:r>
              <a:rPr lang="en"/>
              <a:t>Karate Club</a:t>
            </a:r>
            <a:endParaRPr/>
          </a:p>
          <a:p>
            <a:pPr indent="-317500" lvl="2" marL="1371600" marR="0" rtl="0" algn="l">
              <a:lnSpc>
                <a:spcPct val="115000"/>
              </a:lnSpc>
              <a:spcBef>
                <a:spcPts val="0"/>
              </a:spcBef>
              <a:spcAft>
                <a:spcPts val="0"/>
              </a:spcAft>
              <a:buSzPts val="1400"/>
              <a:buChar char="■"/>
            </a:pPr>
            <a:r>
              <a:rPr lang="en"/>
              <a:t>Monastery </a:t>
            </a:r>
            <a:endParaRPr/>
          </a:p>
          <a:p>
            <a:pPr indent="-317500" lvl="2" marL="1371600" marR="0" rtl="0" algn="l">
              <a:lnSpc>
                <a:spcPct val="115000"/>
              </a:lnSpc>
              <a:spcBef>
                <a:spcPts val="0"/>
              </a:spcBef>
              <a:spcAft>
                <a:spcPts val="0"/>
              </a:spcAft>
              <a:buSzPts val="1400"/>
              <a:buChar char="■"/>
            </a:pPr>
            <a:r>
              <a:rPr lang="en"/>
              <a:t>Frat House</a:t>
            </a:r>
            <a:endParaRPr/>
          </a:p>
          <a:p>
            <a:pPr indent="-317500" lvl="2" marL="1371600" marR="0" rtl="0" algn="l">
              <a:lnSpc>
                <a:spcPct val="115000"/>
              </a:lnSpc>
              <a:spcBef>
                <a:spcPts val="0"/>
              </a:spcBef>
              <a:spcAft>
                <a:spcPts val="0"/>
              </a:spcAft>
              <a:buSzPts val="1400"/>
              <a:buChar char="■"/>
            </a:pPr>
            <a:r>
              <a:rPr lang="en"/>
              <a:t>Beach?</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5"/>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Ego (personal) networks</a:t>
            </a:r>
            <a:endParaRPr/>
          </a:p>
        </p:txBody>
      </p:sp>
      <p:sp>
        <p:nvSpPr>
          <p:cNvPr id="75" name="Google Shape;75;p15"/>
          <p:cNvSpPr txBox="1"/>
          <p:nvPr>
            <p:ph idx="1" type="body"/>
          </p:nvPr>
        </p:nvSpPr>
        <p:spPr>
          <a:xfrm>
            <a:off x="311700" y="1225225"/>
            <a:ext cx="48474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Sometimes the best way to figure out who a person is connected to is to ask them!</a:t>
            </a:r>
            <a:endParaRPr/>
          </a:p>
          <a:p>
            <a:pPr indent="-317500" lvl="1" marL="914400" rtl="0" algn="l">
              <a:spcBef>
                <a:spcPts val="0"/>
              </a:spcBef>
              <a:spcAft>
                <a:spcPts val="0"/>
              </a:spcAft>
              <a:buSzPts val="1400"/>
              <a:buChar char="○"/>
            </a:pPr>
            <a:r>
              <a:rPr lang="en"/>
              <a:t>This yields personal (ego) networks</a:t>
            </a:r>
            <a:endParaRPr/>
          </a:p>
          <a:p>
            <a:pPr indent="-317500" lvl="1" marL="914400" rtl="0" algn="l">
              <a:spcBef>
                <a:spcPts val="0"/>
              </a:spcBef>
              <a:spcAft>
                <a:spcPts val="0"/>
              </a:spcAft>
              <a:buSzPts val="1400"/>
              <a:buChar char="○"/>
            </a:pPr>
            <a:r>
              <a:rPr lang="en"/>
              <a:t>Information on:</a:t>
            </a:r>
            <a:endParaRPr/>
          </a:p>
          <a:p>
            <a:pPr indent="-317500" lvl="2" marL="1371600" rtl="0" algn="l">
              <a:spcBef>
                <a:spcPts val="0"/>
              </a:spcBef>
              <a:spcAft>
                <a:spcPts val="0"/>
              </a:spcAft>
              <a:buSzPts val="1400"/>
              <a:buChar char="■"/>
            </a:pPr>
            <a:r>
              <a:rPr b="1" lang="en"/>
              <a:t>Ego</a:t>
            </a:r>
            <a:r>
              <a:rPr lang="en"/>
              <a:t> (the individuals)</a:t>
            </a:r>
            <a:endParaRPr/>
          </a:p>
          <a:p>
            <a:pPr indent="-317500" lvl="2" marL="1371600" rtl="0" algn="l">
              <a:spcBef>
                <a:spcPts val="0"/>
              </a:spcBef>
              <a:spcAft>
                <a:spcPts val="0"/>
              </a:spcAft>
              <a:buSzPts val="1400"/>
              <a:buChar char="■"/>
            </a:pPr>
            <a:r>
              <a:rPr lang="en"/>
              <a:t>Role, exchange, interaction </a:t>
            </a:r>
            <a:r>
              <a:rPr b="1" lang="en"/>
              <a:t>relations</a:t>
            </a:r>
            <a:r>
              <a:rPr lang="en"/>
              <a:t> between </a:t>
            </a:r>
            <a:r>
              <a:rPr b="1" lang="en"/>
              <a:t>ego</a:t>
            </a:r>
            <a:r>
              <a:rPr lang="en"/>
              <a:t> and a set of </a:t>
            </a:r>
            <a:r>
              <a:rPr b="1" lang="en"/>
              <a:t>alters</a:t>
            </a:r>
            <a:endParaRPr b="1"/>
          </a:p>
          <a:p>
            <a:pPr indent="-317500" lvl="2" marL="1371600" rtl="0" algn="l">
              <a:spcBef>
                <a:spcPts val="0"/>
              </a:spcBef>
              <a:spcAft>
                <a:spcPts val="0"/>
              </a:spcAft>
              <a:buSzPts val="1400"/>
              <a:buChar char="■"/>
            </a:pPr>
            <a:r>
              <a:rPr b="1" lang="en"/>
              <a:t>Relations among the alters</a:t>
            </a:r>
            <a:r>
              <a:rPr lang="en"/>
              <a:t> from the point of view of ego</a:t>
            </a:r>
            <a:endParaRPr/>
          </a:p>
          <a:p>
            <a:pPr indent="-317500" lvl="2" marL="1371600" rtl="0" algn="l">
              <a:spcBef>
                <a:spcPts val="0"/>
              </a:spcBef>
              <a:spcAft>
                <a:spcPts val="0"/>
              </a:spcAft>
              <a:buSzPts val="1400"/>
              <a:buChar char="■"/>
            </a:pPr>
            <a:r>
              <a:rPr lang="en"/>
              <a:t>Properties of each </a:t>
            </a:r>
            <a:r>
              <a:rPr b="1" lang="en"/>
              <a:t>relation</a:t>
            </a:r>
            <a:r>
              <a:rPr lang="en"/>
              <a:t> from the point of view of ego</a:t>
            </a:r>
            <a:endParaRPr/>
          </a:p>
        </p:txBody>
      </p:sp>
      <p:pic>
        <p:nvPicPr>
          <p:cNvPr id="76" name="Google Shape;76;p15"/>
          <p:cNvPicPr preferRelativeResize="0"/>
          <p:nvPr/>
        </p:nvPicPr>
        <p:blipFill>
          <a:blip r:embed="rId3">
            <a:alphaModFix/>
          </a:blip>
          <a:stretch>
            <a:fillRect/>
          </a:stretch>
        </p:blipFill>
        <p:spPr>
          <a:xfrm>
            <a:off x="5158951" y="1451024"/>
            <a:ext cx="3190300" cy="27592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6"/>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Types of ties in ego networks</a:t>
            </a:r>
            <a:endParaRPr/>
          </a:p>
        </p:txBody>
      </p:sp>
      <p:sp>
        <p:nvSpPr>
          <p:cNvPr id="82" name="Google Shape;82;p16"/>
          <p:cNvSpPr txBox="1"/>
          <p:nvPr>
            <p:ph idx="1" type="body"/>
          </p:nvPr>
        </p:nvSpPr>
        <p:spPr>
          <a:xfrm>
            <a:off x="311700" y="1225225"/>
            <a:ext cx="48027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Role relations (states)</a:t>
            </a:r>
            <a:endParaRPr/>
          </a:p>
          <a:p>
            <a:pPr indent="-317500" lvl="1" marL="914400" rtl="0" algn="l">
              <a:spcBef>
                <a:spcPts val="0"/>
              </a:spcBef>
              <a:spcAft>
                <a:spcPts val="0"/>
              </a:spcAft>
              <a:buSzPts val="1400"/>
              <a:buChar char="○"/>
            </a:pPr>
            <a:r>
              <a:rPr lang="en"/>
              <a:t>Friends, kin, business partners</a:t>
            </a:r>
            <a:endParaRPr/>
          </a:p>
          <a:p>
            <a:pPr indent="-342900" lvl="0" marL="457200" rtl="0" algn="l">
              <a:spcBef>
                <a:spcPts val="0"/>
              </a:spcBef>
              <a:spcAft>
                <a:spcPts val="0"/>
              </a:spcAft>
              <a:buSzPts val="1800"/>
              <a:buChar char="●"/>
            </a:pPr>
            <a:r>
              <a:rPr lang="en"/>
              <a:t>Interpersonal sentiments and cognitions</a:t>
            </a:r>
            <a:endParaRPr/>
          </a:p>
          <a:p>
            <a:pPr indent="-317500" lvl="1" marL="914400" rtl="0" algn="l">
              <a:spcBef>
                <a:spcPts val="0"/>
              </a:spcBef>
              <a:spcAft>
                <a:spcPts val="0"/>
              </a:spcAft>
              <a:buSzPts val="1400"/>
              <a:buChar char="○"/>
            </a:pPr>
            <a:r>
              <a:rPr lang="en"/>
              <a:t>Liking, trusting, acquaintanceship</a:t>
            </a:r>
            <a:endParaRPr/>
          </a:p>
          <a:p>
            <a:pPr indent="-342900" lvl="0" marL="457200" rtl="0" algn="l">
              <a:spcBef>
                <a:spcPts val="0"/>
              </a:spcBef>
              <a:spcAft>
                <a:spcPts val="0"/>
              </a:spcAft>
              <a:buSzPts val="1800"/>
              <a:buChar char="●"/>
            </a:pPr>
            <a:r>
              <a:rPr lang="en"/>
              <a:t>Behavioral Social Interactions</a:t>
            </a:r>
            <a:endParaRPr/>
          </a:p>
          <a:p>
            <a:pPr indent="-317500" lvl="1" marL="914400" rtl="0" algn="l">
              <a:spcBef>
                <a:spcPts val="0"/>
              </a:spcBef>
              <a:spcAft>
                <a:spcPts val="0"/>
              </a:spcAft>
              <a:buSzPts val="1400"/>
              <a:buChar char="○"/>
            </a:pPr>
            <a:r>
              <a:rPr lang="en"/>
              <a:t>Calling, texting, citing, supporting, resource exchange</a:t>
            </a:r>
            <a:endParaRPr/>
          </a:p>
          <a:p>
            <a:pPr indent="0" lvl="0" marL="0" marR="0" rtl="0" algn="l">
              <a:lnSpc>
                <a:spcPct val="115000"/>
              </a:lnSpc>
              <a:spcBef>
                <a:spcPts val="1600"/>
              </a:spcBef>
              <a:spcAft>
                <a:spcPts val="1600"/>
              </a:spcAft>
              <a:buNone/>
            </a:pPr>
            <a:r>
              <a:t/>
            </a:r>
            <a:endParaRPr/>
          </a:p>
        </p:txBody>
      </p:sp>
      <p:pic>
        <p:nvPicPr>
          <p:cNvPr id="83" name="Google Shape;83;p16"/>
          <p:cNvPicPr preferRelativeResize="0"/>
          <p:nvPr/>
        </p:nvPicPr>
        <p:blipFill>
          <a:blip r:embed="rId3">
            <a:alphaModFix/>
          </a:blip>
          <a:stretch>
            <a:fillRect/>
          </a:stretch>
        </p:blipFill>
        <p:spPr>
          <a:xfrm>
            <a:off x="5158951" y="1451024"/>
            <a:ext cx="3190300" cy="27592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7"/>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Measuring ego networks: Four steps</a:t>
            </a:r>
            <a:endParaRPr/>
          </a:p>
        </p:txBody>
      </p:sp>
      <p:sp>
        <p:nvSpPr>
          <p:cNvPr id="89" name="Google Shape;89;p17"/>
          <p:cNvSpPr txBox="1"/>
          <p:nvPr>
            <p:ph idx="1" type="body"/>
          </p:nvPr>
        </p:nvSpPr>
        <p:spPr>
          <a:xfrm>
            <a:off x="311700" y="1225225"/>
            <a:ext cx="4802700" cy="3354000"/>
          </a:xfrm>
          <a:prstGeom prst="rect">
            <a:avLst/>
          </a:prstGeom>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SzPts val="1800"/>
              <a:buAutoNum type="arabicPeriod"/>
            </a:pPr>
            <a:r>
              <a:rPr lang="en"/>
              <a:t>Pick a type of relation you are interested in	</a:t>
            </a:r>
            <a:endParaRPr/>
          </a:p>
          <a:p>
            <a:pPr indent="-317500" lvl="1" marL="914400" marR="0" rtl="0" algn="l">
              <a:lnSpc>
                <a:spcPct val="115000"/>
              </a:lnSpc>
              <a:spcBef>
                <a:spcPts val="0"/>
              </a:spcBef>
              <a:spcAft>
                <a:spcPts val="0"/>
              </a:spcAft>
              <a:buSzPts val="1400"/>
              <a:buChar char="○"/>
            </a:pPr>
            <a:r>
              <a:rPr lang="en"/>
              <a:t>This defines your </a:t>
            </a:r>
            <a:r>
              <a:rPr b="1" lang="en"/>
              <a:t>name generator</a:t>
            </a:r>
            <a:endParaRPr/>
          </a:p>
          <a:p>
            <a:pPr indent="-342900" lvl="0" marL="457200" marR="0" rtl="0" algn="l">
              <a:lnSpc>
                <a:spcPct val="115000"/>
              </a:lnSpc>
              <a:spcBef>
                <a:spcPts val="0"/>
              </a:spcBef>
              <a:spcAft>
                <a:spcPts val="0"/>
              </a:spcAft>
              <a:buSzPts val="1800"/>
              <a:buAutoNum type="arabicPeriod"/>
            </a:pPr>
            <a:r>
              <a:rPr lang="en"/>
              <a:t>Pick a maximum number </a:t>
            </a:r>
            <a:endParaRPr/>
          </a:p>
          <a:p>
            <a:pPr indent="-317500" lvl="1" marL="914400" marR="0" rtl="0" algn="l">
              <a:lnSpc>
                <a:spcPct val="115000"/>
              </a:lnSpc>
              <a:spcBef>
                <a:spcPts val="0"/>
              </a:spcBef>
              <a:spcAft>
                <a:spcPts val="0"/>
              </a:spcAft>
              <a:buSzPts val="1400"/>
              <a:buChar char="○"/>
            </a:pPr>
            <a:r>
              <a:rPr lang="en"/>
              <a:t>E.g. 5-20</a:t>
            </a:r>
            <a:endParaRPr/>
          </a:p>
          <a:p>
            <a:pPr indent="-342900" lvl="0" marL="457200" marR="0" rtl="0" algn="l">
              <a:lnSpc>
                <a:spcPct val="115000"/>
              </a:lnSpc>
              <a:spcBef>
                <a:spcPts val="0"/>
              </a:spcBef>
              <a:spcAft>
                <a:spcPts val="0"/>
              </a:spcAft>
              <a:buSzPts val="1800"/>
              <a:buAutoNum type="arabicPeriod"/>
            </a:pPr>
            <a:r>
              <a:rPr lang="en"/>
              <a:t>Pick a set of alter </a:t>
            </a:r>
            <a:r>
              <a:rPr lang="en"/>
              <a:t>and</a:t>
            </a:r>
            <a:r>
              <a:rPr lang="en"/>
              <a:t> tie-level characteristics you are inter</a:t>
            </a:r>
            <a:r>
              <a:rPr lang="en"/>
              <a:t>est</a:t>
            </a:r>
            <a:r>
              <a:rPr lang="en"/>
              <a:t>ed in</a:t>
            </a:r>
            <a:endParaRPr/>
          </a:p>
          <a:p>
            <a:pPr indent="-317500" lvl="1" marL="914400" marR="0" rtl="0" algn="l">
              <a:lnSpc>
                <a:spcPct val="115000"/>
              </a:lnSpc>
              <a:spcBef>
                <a:spcPts val="0"/>
              </a:spcBef>
              <a:spcAft>
                <a:spcPts val="0"/>
              </a:spcAft>
              <a:buSzPts val="1400"/>
              <a:buChar char="○"/>
            </a:pPr>
            <a:r>
              <a:rPr lang="en"/>
              <a:t>This defines your </a:t>
            </a:r>
            <a:r>
              <a:rPr b="1" lang="en"/>
              <a:t>name interpreter</a:t>
            </a:r>
            <a:endParaRPr b="1"/>
          </a:p>
          <a:p>
            <a:pPr indent="-342900" lvl="0" marL="457200" marR="0" rtl="0" algn="l">
              <a:lnSpc>
                <a:spcPct val="115000"/>
              </a:lnSpc>
              <a:spcBef>
                <a:spcPts val="0"/>
              </a:spcBef>
              <a:spcAft>
                <a:spcPts val="0"/>
              </a:spcAft>
              <a:buSzPts val="1800"/>
              <a:buAutoNum type="arabicPeriod"/>
            </a:pPr>
            <a:r>
              <a:rPr lang="en"/>
              <a:t>Collect information about relations between alters (optional)</a:t>
            </a:r>
            <a:endParaRPr/>
          </a:p>
        </p:txBody>
      </p:sp>
      <p:pic>
        <p:nvPicPr>
          <p:cNvPr id="90" name="Google Shape;90;p17"/>
          <p:cNvPicPr preferRelativeResize="0"/>
          <p:nvPr/>
        </p:nvPicPr>
        <p:blipFill>
          <a:blip r:embed="rId3">
            <a:alphaModFix/>
          </a:blip>
          <a:stretch>
            <a:fillRect/>
          </a:stretch>
        </p:blipFill>
        <p:spPr>
          <a:xfrm>
            <a:off x="5158951" y="1451024"/>
            <a:ext cx="3190300" cy="27592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8"/>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Name generators: Four approaches</a:t>
            </a:r>
            <a:endParaRPr/>
          </a:p>
        </p:txBody>
      </p:sp>
      <p:sp>
        <p:nvSpPr>
          <p:cNvPr id="96" name="Google Shape;96;p18"/>
          <p:cNvSpPr txBox="1"/>
          <p:nvPr>
            <p:ph idx="1" type="body"/>
          </p:nvPr>
        </p:nvSpPr>
        <p:spPr>
          <a:xfrm>
            <a:off x="311700" y="1225225"/>
            <a:ext cx="48027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AutoNum type="arabicPeriod"/>
            </a:pPr>
            <a:r>
              <a:rPr lang="en"/>
              <a:t>Role-Relation Approach</a:t>
            </a:r>
            <a:endParaRPr/>
          </a:p>
          <a:p>
            <a:pPr indent="-317500" lvl="1" marL="914400" rtl="0" algn="l">
              <a:spcBef>
                <a:spcPts val="0"/>
              </a:spcBef>
              <a:spcAft>
                <a:spcPts val="0"/>
              </a:spcAft>
              <a:buSzPts val="1400"/>
              <a:buChar char="○"/>
            </a:pPr>
            <a:r>
              <a:rPr lang="en"/>
              <a:t>Neighbors, friends, kin, co-authors</a:t>
            </a:r>
            <a:endParaRPr/>
          </a:p>
          <a:p>
            <a:pPr indent="-342900" lvl="0" marL="457200" rtl="0" algn="l">
              <a:spcBef>
                <a:spcPts val="0"/>
              </a:spcBef>
              <a:spcAft>
                <a:spcPts val="0"/>
              </a:spcAft>
              <a:buSzPts val="1800"/>
              <a:buAutoNum type="arabicPeriod"/>
            </a:pPr>
            <a:r>
              <a:rPr lang="en"/>
              <a:t>Interaction Approach</a:t>
            </a:r>
            <a:endParaRPr/>
          </a:p>
          <a:p>
            <a:pPr indent="-317500" lvl="1" marL="914400" rtl="0" algn="l">
              <a:spcBef>
                <a:spcPts val="0"/>
              </a:spcBef>
              <a:spcAft>
                <a:spcPts val="0"/>
              </a:spcAft>
              <a:buSzPts val="1400"/>
              <a:buChar char="○"/>
            </a:pPr>
            <a:r>
              <a:rPr lang="en"/>
              <a:t>Frequency, duration of contact</a:t>
            </a:r>
            <a:endParaRPr/>
          </a:p>
          <a:p>
            <a:pPr indent="-342900" lvl="0" marL="457200" rtl="0" algn="l">
              <a:spcBef>
                <a:spcPts val="0"/>
              </a:spcBef>
              <a:spcAft>
                <a:spcPts val="0"/>
              </a:spcAft>
              <a:buSzPts val="1800"/>
              <a:buAutoNum type="arabicPeriod"/>
            </a:pPr>
            <a:r>
              <a:rPr lang="en"/>
              <a:t>Affective Approach</a:t>
            </a:r>
            <a:endParaRPr/>
          </a:p>
          <a:p>
            <a:pPr indent="-317500" lvl="1" marL="914400" rtl="0" algn="l">
              <a:spcBef>
                <a:spcPts val="0"/>
              </a:spcBef>
              <a:spcAft>
                <a:spcPts val="0"/>
              </a:spcAft>
              <a:buSzPts val="1400"/>
              <a:buChar char="○"/>
            </a:pPr>
            <a:r>
              <a:rPr lang="en"/>
              <a:t>Significant, close, enemies</a:t>
            </a:r>
            <a:endParaRPr/>
          </a:p>
          <a:p>
            <a:pPr indent="-342900" lvl="0" marL="457200" rtl="0" algn="l">
              <a:spcBef>
                <a:spcPts val="0"/>
              </a:spcBef>
              <a:spcAft>
                <a:spcPts val="0"/>
              </a:spcAft>
              <a:buSzPts val="1800"/>
              <a:buAutoNum type="arabicPeriod"/>
            </a:pPr>
            <a:r>
              <a:rPr lang="en"/>
              <a:t>Exchange Approach</a:t>
            </a:r>
            <a:endParaRPr/>
          </a:p>
          <a:p>
            <a:pPr indent="-317500" lvl="1" marL="914400" rtl="0" algn="l">
              <a:spcBef>
                <a:spcPts val="0"/>
              </a:spcBef>
              <a:spcAft>
                <a:spcPts val="0"/>
              </a:spcAft>
              <a:buSzPts val="1400"/>
              <a:buChar char="○"/>
            </a:pPr>
            <a:r>
              <a:rPr lang="en"/>
              <a:t>Information, favors, support, resources</a:t>
            </a:r>
            <a:endParaRPr/>
          </a:p>
          <a:p>
            <a:pPr indent="-317500" lvl="2" marL="1371600" rtl="0" algn="l">
              <a:spcBef>
                <a:spcPts val="0"/>
              </a:spcBef>
              <a:spcAft>
                <a:spcPts val="0"/>
              </a:spcAft>
              <a:buSzPts val="1400"/>
              <a:buChar char="■"/>
            </a:pPr>
            <a:r>
              <a:rPr lang="en"/>
              <a:t>Different approaches can produce ego-networks with different structural characteristics!</a:t>
            </a:r>
            <a:endParaRPr/>
          </a:p>
        </p:txBody>
      </p:sp>
      <p:pic>
        <p:nvPicPr>
          <p:cNvPr id="97" name="Google Shape;97;p18"/>
          <p:cNvPicPr preferRelativeResize="0"/>
          <p:nvPr/>
        </p:nvPicPr>
        <p:blipFill>
          <a:blip r:embed="rId3">
            <a:alphaModFix/>
          </a:blip>
          <a:stretch>
            <a:fillRect/>
          </a:stretch>
        </p:blipFill>
        <p:spPr>
          <a:xfrm>
            <a:off x="5158951" y="1451024"/>
            <a:ext cx="3190300" cy="27592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9"/>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Name generators: Four approaches</a:t>
            </a:r>
            <a:endParaRPr/>
          </a:p>
        </p:txBody>
      </p:sp>
      <p:pic>
        <p:nvPicPr>
          <p:cNvPr id="103" name="Google Shape;103;p19"/>
          <p:cNvPicPr preferRelativeResize="0"/>
          <p:nvPr/>
        </p:nvPicPr>
        <p:blipFill>
          <a:blip r:embed="rId3">
            <a:alphaModFix/>
          </a:blip>
          <a:stretch>
            <a:fillRect/>
          </a:stretch>
        </p:blipFill>
        <p:spPr>
          <a:xfrm>
            <a:off x="5158951" y="1451024"/>
            <a:ext cx="3190300" cy="2759200"/>
          </a:xfrm>
          <a:prstGeom prst="rect">
            <a:avLst/>
          </a:prstGeom>
          <a:noFill/>
          <a:ln>
            <a:noFill/>
          </a:ln>
        </p:spPr>
      </p:pic>
      <p:sp>
        <p:nvSpPr>
          <p:cNvPr id="104" name="Google Shape;104;p19"/>
          <p:cNvSpPr txBox="1"/>
          <p:nvPr>
            <p:ph idx="1" type="body"/>
          </p:nvPr>
        </p:nvSpPr>
        <p:spPr>
          <a:xfrm>
            <a:off x="311700" y="1225225"/>
            <a:ext cx="48027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AutoNum type="arabicPeriod"/>
            </a:pPr>
            <a:r>
              <a:rPr lang="en"/>
              <a:t>Role-Relation Approach</a:t>
            </a:r>
            <a:endParaRPr/>
          </a:p>
          <a:p>
            <a:pPr indent="-317500" lvl="1" marL="914400" rtl="0" algn="l">
              <a:spcBef>
                <a:spcPts val="0"/>
              </a:spcBef>
              <a:spcAft>
                <a:spcPts val="0"/>
              </a:spcAft>
              <a:buSzPts val="1400"/>
              <a:buChar char="○"/>
            </a:pPr>
            <a:r>
              <a:rPr i="1" lang="en"/>
              <a:t>“list the names of up to [X] [</a:t>
            </a:r>
            <a:r>
              <a:rPr i="1" lang="en">
                <a:solidFill>
                  <a:srgbClr val="FF0000"/>
                </a:solidFill>
              </a:rPr>
              <a:t>friends, co-workers, co-authors, pub-mates</a:t>
            </a:r>
            <a:r>
              <a:rPr i="1" lang="en"/>
              <a:t>, etc.]”</a:t>
            </a:r>
            <a:endParaRPr i="1"/>
          </a:p>
          <a:p>
            <a:pPr indent="-342900" lvl="0" marL="457200" rtl="0" algn="l">
              <a:spcBef>
                <a:spcPts val="0"/>
              </a:spcBef>
              <a:spcAft>
                <a:spcPts val="0"/>
              </a:spcAft>
              <a:buSzPts val="1800"/>
              <a:buAutoNum type="arabicPeriod"/>
            </a:pPr>
            <a:r>
              <a:rPr lang="en"/>
              <a:t>Interaction Approach</a:t>
            </a:r>
            <a:endParaRPr/>
          </a:p>
          <a:p>
            <a:pPr indent="-317500" lvl="1" marL="914400" rtl="0" algn="l">
              <a:spcBef>
                <a:spcPts val="0"/>
              </a:spcBef>
              <a:spcAft>
                <a:spcPts val="0"/>
              </a:spcAft>
              <a:buSzPts val="1400"/>
              <a:buChar char="○"/>
            </a:pPr>
            <a:r>
              <a:rPr i="1" lang="en"/>
              <a:t>“list the names of up to [X] of the people you most </a:t>
            </a:r>
            <a:r>
              <a:rPr i="1" lang="en">
                <a:solidFill>
                  <a:srgbClr val="FF0000"/>
                </a:solidFill>
              </a:rPr>
              <a:t>frequently interact </a:t>
            </a:r>
            <a:r>
              <a:rPr i="1" lang="en"/>
              <a:t>with</a:t>
            </a:r>
            <a:endParaRPr i="1"/>
          </a:p>
          <a:p>
            <a:pPr indent="-342900" lvl="0" marL="457200" rtl="0" algn="l">
              <a:spcBef>
                <a:spcPts val="0"/>
              </a:spcBef>
              <a:spcAft>
                <a:spcPts val="0"/>
              </a:spcAft>
              <a:buSzPts val="1800"/>
              <a:buAutoNum type="arabicPeriod"/>
            </a:pPr>
            <a:r>
              <a:rPr lang="en"/>
              <a:t>Affective Approach</a:t>
            </a:r>
            <a:endParaRPr/>
          </a:p>
          <a:p>
            <a:pPr indent="-317500" lvl="1" marL="914400" rtl="0" algn="l">
              <a:spcBef>
                <a:spcPts val="0"/>
              </a:spcBef>
              <a:spcAft>
                <a:spcPts val="0"/>
              </a:spcAft>
              <a:buSzPts val="1400"/>
              <a:buChar char="○"/>
            </a:pPr>
            <a:r>
              <a:rPr i="1" lang="en"/>
              <a:t>“list the names of up to [X] of the people you [</a:t>
            </a:r>
            <a:r>
              <a:rPr i="1" lang="en">
                <a:solidFill>
                  <a:srgbClr val="FF0000"/>
                </a:solidFill>
              </a:rPr>
              <a:t>feel</a:t>
            </a:r>
            <a:r>
              <a:rPr i="1" lang="en"/>
              <a:t> </a:t>
            </a:r>
            <a:r>
              <a:rPr i="1" lang="en">
                <a:solidFill>
                  <a:srgbClr val="FF0000"/>
                </a:solidFill>
              </a:rPr>
              <a:t>closest to, trust most, etc.</a:t>
            </a:r>
            <a:r>
              <a:rPr i="1" lang="en"/>
              <a:t>]”</a:t>
            </a:r>
            <a:endParaRPr i="1"/>
          </a:p>
          <a:p>
            <a:pPr indent="-342900" lvl="0" marL="457200" rtl="0" algn="l">
              <a:spcBef>
                <a:spcPts val="0"/>
              </a:spcBef>
              <a:spcAft>
                <a:spcPts val="0"/>
              </a:spcAft>
              <a:buSzPts val="1800"/>
              <a:buAutoNum type="arabicPeriod"/>
            </a:pPr>
            <a:r>
              <a:rPr lang="en"/>
              <a:t>Exchange Approach</a:t>
            </a:r>
            <a:endParaRPr/>
          </a:p>
          <a:p>
            <a:pPr indent="-317500" lvl="1" marL="914400" rtl="0" algn="l">
              <a:spcBef>
                <a:spcPts val="0"/>
              </a:spcBef>
              <a:spcAft>
                <a:spcPts val="0"/>
              </a:spcAft>
              <a:buSzPts val="1400"/>
              <a:buChar char="○"/>
            </a:pPr>
            <a:r>
              <a:rPr i="1" lang="en"/>
              <a:t>“list the names of up to [X] of the people you would go to for [</a:t>
            </a:r>
            <a:r>
              <a:rPr i="1" lang="en">
                <a:solidFill>
                  <a:srgbClr val="FF0000"/>
                </a:solidFill>
              </a:rPr>
              <a:t>advice, financial support, etc</a:t>
            </a:r>
            <a:r>
              <a:rPr i="1" lang="en"/>
              <a:t>.]</a:t>
            </a:r>
            <a:endParaRPr i="1"/>
          </a:p>
          <a:p>
            <a:pPr indent="0" lvl="0" marL="457200" rtl="0" algn="l">
              <a:spcBef>
                <a:spcPts val="1600"/>
              </a:spcBef>
              <a:spcAft>
                <a:spcPts val="160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20"/>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Name generators: Four approaches</a:t>
            </a:r>
            <a:endParaRPr/>
          </a:p>
        </p:txBody>
      </p:sp>
      <p:pic>
        <p:nvPicPr>
          <p:cNvPr id="110" name="Google Shape;110;p20"/>
          <p:cNvPicPr preferRelativeResize="0"/>
          <p:nvPr/>
        </p:nvPicPr>
        <p:blipFill>
          <a:blip r:embed="rId3">
            <a:alphaModFix/>
          </a:blip>
          <a:stretch>
            <a:fillRect/>
          </a:stretch>
        </p:blipFill>
        <p:spPr>
          <a:xfrm>
            <a:off x="5158951" y="1451024"/>
            <a:ext cx="3190300" cy="2759200"/>
          </a:xfrm>
          <a:prstGeom prst="rect">
            <a:avLst/>
          </a:prstGeom>
          <a:noFill/>
          <a:ln>
            <a:noFill/>
          </a:ln>
        </p:spPr>
      </p:pic>
      <p:sp>
        <p:nvSpPr>
          <p:cNvPr id="111" name="Google Shape;111;p20"/>
          <p:cNvSpPr txBox="1"/>
          <p:nvPr>
            <p:ph idx="1" type="body"/>
          </p:nvPr>
        </p:nvSpPr>
        <p:spPr>
          <a:xfrm>
            <a:off x="311700" y="1225225"/>
            <a:ext cx="48027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Famous examples:</a:t>
            </a:r>
            <a:endParaRPr/>
          </a:p>
          <a:p>
            <a:pPr indent="-317500" lvl="1" marL="914400" rtl="0" algn="l">
              <a:spcBef>
                <a:spcPts val="0"/>
              </a:spcBef>
              <a:spcAft>
                <a:spcPts val="0"/>
              </a:spcAft>
              <a:buSzPts val="1400"/>
              <a:buChar char="○"/>
            </a:pPr>
            <a:r>
              <a:rPr lang="en"/>
              <a:t>Wellman’s (1979) </a:t>
            </a:r>
            <a:r>
              <a:rPr i="1" lang="en"/>
              <a:t>East York Study</a:t>
            </a:r>
            <a:r>
              <a:rPr lang="en"/>
              <a:t>:</a:t>
            </a:r>
            <a:endParaRPr/>
          </a:p>
          <a:p>
            <a:pPr indent="-317500" lvl="2" marL="1371600" rtl="0" algn="l">
              <a:spcBef>
                <a:spcPts val="0"/>
              </a:spcBef>
              <a:spcAft>
                <a:spcPts val="0"/>
              </a:spcAft>
              <a:buSzPts val="1400"/>
              <a:buChar char="■"/>
            </a:pPr>
            <a:r>
              <a:rPr lang="en"/>
              <a:t>“N</a:t>
            </a:r>
            <a:r>
              <a:rPr lang="en"/>
              <a:t>ame the six persons outside your home that you feel closest to.”</a:t>
            </a:r>
            <a:endParaRPr/>
          </a:p>
          <a:p>
            <a:pPr indent="-317500" lvl="1" marL="914400" rtl="0" algn="l">
              <a:spcBef>
                <a:spcPts val="0"/>
              </a:spcBef>
              <a:spcAft>
                <a:spcPts val="0"/>
              </a:spcAft>
              <a:buSzPts val="1400"/>
              <a:buChar char="○"/>
            </a:pPr>
            <a:r>
              <a:rPr lang="en"/>
              <a:t>Fischer’s (1982) </a:t>
            </a:r>
            <a:r>
              <a:rPr i="1" lang="en"/>
              <a:t>Northern California Communities Study</a:t>
            </a:r>
            <a:r>
              <a:rPr lang="en"/>
              <a:t>:</a:t>
            </a:r>
            <a:endParaRPr/>
          </a:p>
          <a:p>
            <a:pPr indent="-317500" lvl="2" marL="1371600" rtl="0" algn="l">
              <a:spcBef>
                <a:spcPts val="0"/>
              </a:spcBef>
              <a:spcAft>
                <a:spcPts val="0"/>
              </a:spcAft>
              <a:buSzPts val="1400"/>
              <a:buChar char="■"/>
            </a:pPr>
            <a:r>
              <a:rPr lang="en"/>
              <a:t>“Name all persons who would provide any of eight types of aid”</a:t>
            </a:r>
            <a:endParaRPr/>
          </a:p>
          <a:p>
            <a:pPr indent="-317500" lvl="1" marL="914400" rtl="0" algn="l">
              <a:spcBef>
                <a:spcPts val="0"/>
              </a:spcBef>
              <a:spcAft>
                <a:spcPts val="0"/>
              </a:spcAft>
              <a:buSzPts val="1400"/>
              <a:buChar char="○"/>
            </a:pPr>
            <a:r>
              <a:rPr lang="en"/>
              <a:t>Marsden’s (1987) </a:t>
            </a:r>
            <a:r>
              <a:rPr i="1" lang="en"/>
              <a:t>General Social Survey</a:t>
            </a:r>
            <a:r>
              <a:rPr lang="en"/>
              <a:t>:</a:t>
            </a:r>
            <a:endParaRPr/>
          </a:p>
          <a:p>
            <a:pPr indent="-317500" lvl="2" marL="1371600" rtl="0" algn="l">
              <a:spcBef>
                <a:spcPts val="0"/>
              </a:spcBef>
              <a:spcAft>
                <a:spcPts val="0"/>
              </a:spcAft>
              <a:buSzPts val="1400"/>
              <a:buChar char="■"/>
            </a:pPr>
            <a:r>
              <a:rPr lang="en"/>
              <a:t>“Named all persons with whom you have discussed matters important to you”</a:t>
            </a:r>
            <a:endParaRPr/>
          </a:p>
          <a:p>
            <a:pPr indent="0" lvl="0" marL="457200" rtl="0" algn="l">
              <a:spcBef>
                <a:spcPts val="1600"/>
              </a:spcBef>
              <a:spcAft>
                <a:spcPts val="160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1"/>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Name generators: Four approaches</a:t>
            </a:r>
            <a:endParaRPr/>
          </a:p>
        </p:txBody>
      </p:sp>
      <p:sp>
        <p:nvSpPr>
          <p:cNvPr id="117" name="Google Shape;117;p21"/>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Role-Relation Approach</a:t>
            </a:r>
            <a:endParaRPr/>
          </a:p>
          <a:p>
            <a:pPr indent="-317500" lvl="1" marL="914400" rtl="0" algn="l">
              <a:spcBef>
                <a:spcPts val="0"/>
              </a:spcBef>
              <a:spcAft>
                <a:spcPts val="0"/>
              </a:spcAft>
              <a:buSzPts val="1400"/>
              <a:buChar char="○"/>
            </a:pPr>
            <a:r>
              <a:rPr lang="en"/>
              <a:t>Problem: low reliability, cultural specificity issues, cross-respondent heterogeneity in label interpretation (what is a “friend”?)</a:t>
            </a:r>
            <a:endParaRPr/>
          </a:p>
          <a:p>
            <a:pPr indent="-342900" lvl="0" marL="457200" rtl="0" algn="l">
              <a:spcBef>
                <a:spcPts val="0"/>
              </a:spcBef>
              <a:spcAft>
                <a:spcPts val="0"/>
              </a:spcAft>
              <a:buSzPts val="1800"/>
              <a:buChar char="●"/>
            </a:pPr>
            <a:r>
              <a:rPr lang="en"/>
              <a:t>Interaction Approach</a:t>
            </a:r>
            <a:endParaRPr/>
          </a:p>
          <a:p>
            <a:pPr indent="-317500" lvl="1" marL="914400" rtl="0" algn="l">
              <a:spcBef>
                <a:spcPts val="0"/>
              </a:spcBef>
              <a:spcAft>
                <a:spcPts val="0"/>
              </a:spcAft>
              <a:buSzPts val="1400"/>
              <a:buChar char="○"/>
            </a:pPr>
            <a:r>
              <a:rPr lang="en"/>
              <a:t>Less validity issues than role-relations, but frequency does not equal importance/closeness (needs to be combined with other approaches)</a:t>
            </a:r>
            <a:endParaRPr/>
          </a:p>
          <a:p>
            <a:pPr indent="-342900" lvl="0" marL="457200" rtl="0" algn="l">
              <a:spcBef>
                <a:spcPts val="0"/>
              </a:spcBef>
              <a:spcAft>
                <a:spcPts val="0"/>
              </a:spcAft>
              <a:buSzPts val="1800"/>
              <a:buChar char="●"/>
            </a:pPr>
            <a:r>
              <a:rPr lang="en"/>
              <a:t>Affective Approach</a:t>
            </a:r>
            <a:endParaRPr/>
          </a:p>
          <a:p>
            <a:pPr indent="-317500" lvl="1" marL="914400" rtl="0" algn="l">
              <a:spcBef>
                <a:spcPts val="0"/>
              </a:spcBef>
              <a:spcAft>
                <a:spcPts val="0"/>
              </a:spcAft>
              <a:buSzPts val="1400"/>
              <a:buChar char="○"/>
            </a:pPr>
            <a:r>
              <a:rPr lang="en"/>
              <a:t>Same reliability issues as role-relation items but useful for eliciting strong or subjectively significant ties; elicits smaller networks</a:t>
            </a:r>
            <a:endParaRPr/>
          </a:p>
          <a:p>
            <a:pPr indent="-342900" lvl="0" marL="457200" rtl="0" algn="l">
              <a:spcBef>
                <a:spcPts val="0"/>
              </a:spcBef>
              <a:spcAft>
                <a:spcPts val="0"/>
              </a:spcAft>
              <a:buSzPts val="1800"/>
              <a:buChar char="●"/>
            </a:pPr>
            <a:r>
              <a:rPr lang="en"/>
              <a:t>Exchange Approach</a:t>
            </a:r>
            <a:endParaRPr/>
          </a:p>
          <a:p>
            <a:pPr indent="-317500" lvl="1" marL="914400" rtl="0" algn="l">
              <a:spcBef>
                <a:spcPts val="0"/>
              </a:spcBef>
              <a:spcAft>
                <a:spcPts val="0"/>
              </a:spcAft>
              <a:buSzPts val="1400"/>
              <a:buChar char="○"/>
            </a:pPr>
            <a:r>
              <a:rPr lang="en"/>
              <a:t>Less reliability problems, useful for social capital studies, but not appropriate for all purposes; can capture weak ties and larger number of alters</a:t>
            </a:r>
            <a:endParaRPr/>
          </a:p>
          <a:p>
            <a:pPr indent="0" lvl="0" marL="0" rtl="0" algn="l">
              <a:spcBef>
                <a:spcPts val="1600"/>
              </a:spcBef>
              <a:spcAft>
                <a:spcPts val="0"/>
              </a:spcAft>
              <a:buNone/>
            </a:pPr>
            <a:r>
              <a:t/>
            </a:r>
            <a:endParaRPr/>
          </a:p>
          <a:p>
            <a:pPr indent="0" lvl="0" marL="0" rtl="0" algn="l">
              <a:spcBef>
                <a:spcPts val="1600"/>
              </a:spcBef>
              <a:spcAft>
                <a:spcPts val="160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2"/>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Name generators: Four approaches</a:t>
            </a:r>
            <a:endParaRPr/>
          </a:p>
        </p:txBody>
      </p:sp>
      <p:sp>
        <p:nvSpPr>
          <p:cNvPr id="123" name="Google Shape;123;p22"/>
          <p:cNvSpPr txBox="1"/>
          <p:nvPr>
            <p:ph idx="1" type="body"/>
          </p:nvPr>
        </p:nvSpPr>
        <p:spPr>
          <a:xfrm>
            <a:off x="311700" y="1225225"/>
            <a:ext cx="38649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What’s the best approach?</a:t>
            </a:r>
            <a:endParaRPr/>
          </a:p>
          <a:p>
            <a:pPr indent="-317500" lvl="1" marL="914400" rtl="0" algn="l">
              <a:spcBef>
                <a:spcPts val="0"/>
              </a:spcBef>
              <a:spcAft>
                <a:spcPts val="0"/>
              </a:spcAft>
              <a:buSzPts val="1400"/>
              <a:buChar char="○"/>
            </a:pPr>
            <a:r>
              <a:rPr lang="en"/>
              <a:t>Kitts (2014) recommends a “most-neutral” criterion (e.g. interaction frequency) for eliciting names</a:t>
            </a:r>
            <a:endParaRPr/>
          </a:p>
          <a:p>
            <a:pPr indent="-317500" lvl="2" marL="1371600" rtl="0" algn="l">
              <a:spcBef>
                <a:spcPts val="0"/>
              </a:spcBef>
              <a:spcAft>
                <a:spcPts val="0"/>
              </a:spcAft>
              <a:buSzPts val="1400"/>
              <a:buChar char="■"/>
            </a:pPr>
            <a:r>
              <a:rPr lang="en"/>
              <a:t>Then use name interpreters to get a roles, exchanges, sentiments and so on</a:t>
            </a:r>
            <a:endParaRPr/>
          </a:p>
          <a:p>
            <a:pPr indent="-342900" lvl="0" marL="457200" rtl="0" algn="l">
              <a:spcBef>
                <a:spcPts val="0"/>
              </a:spcBef>
              <a:spcAft>
                <a:spcPts val="0"/>
              </a:spcAft>
              <a:buSzPts val="1800"/>
              <a:buChar char="●"/>
            </a:pPr>
            <a:r>
              <a:rPr lang="en"/>
              <a:t>Example:</a:t>
            </a:r>
            <a:endParaRPr/>
          </a:p>
          <a:p>
            <a:pPr indent="-317500" lvl="1" marL="914400" rtl="0" algn="l">
              <a:spcBef>
                <a:spcPts val="0"/>
              </a:spcBef>
              <a:spcAft>
                <a:spcPts val="0"/>
              </a:spcAft>
              <a:buSzPts val="1400"/>
              <a:buChar char="○"/>
            </a:pPr>
            <a:r>
              <a:rPr i="1" lang="en"/>
              <a:t>NetSense Study</a:t>
            </a:r>
            <a:endParaRPr i="1"/>
          </a:p>
          <a:p>
            <a:pPr indent="-317500" lvl="1" marL="914400" rtl="0" algn="l">
              <a:spcBef>
                <a:spcPts val="0"/>
              </a:spcBef>
              <a:spcAft>
                <a:spcPts val="0"/>
              </a:spcAft>
              <a:buSzPts val="1400"/>
              <a:buChar char="○"/>
            </a:pPr>
            <a:r>
              <a:rPr i="1" lang="en"/>
              <a:t>NetHealth Study</a:t>
            </a:r>
            <a:endParaRPr i="1"/>
          </a:p>
        </p:txBody>
      </p:sp>
      <p:pic>
        <p:nvPicPr>
          <p:cNvPr id="124" name="Google Shape;124;p22"/>
          <p:cNvPicPr preferRelativeResize="0"/>
          <p:nvPr/>
        </p:nvPicPr>
        <p:blipFill>
          <a:blip r:embed="rId3">
            <a:alphaModFix/>
          </a:blip>
          <a:stretch>
            <a:fillRect/>
          </a:stretch>
        </p:blipFill>
        <p:spPr>
          <a:xfrm>
            <a:off x="4176600" y="1220425"/>
            <a:ext cx="4810425" cy="270265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3"/>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Name interpreters</a:t>
            </a:r>
            <a:endParaRPr/>
          </a:p>
        </p:txBody>
      </p:sp>
      <p:sp>
        <p:nvSpPr>
          <p:cNvPr id="130" name="Google Shape;130;p23"/>
          <p:cNvSpPr txBox="1"/>
          <p:nvPr>
            <p:ph idx="1" type="body"/>
          </p:nvPr>
        </p:nvSpPr>
        <p:spPr>
          <a:xfrm>
            <a:off x="311700" y="1225225"/>
            <a:ext cx="46383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Follow up questions designed to get information on </a:t>
            </a:r>
            <a:r>
              <a:rPr b="1" lang="en"/>
              <a:t>named</a:t>
            </a:r>
            <a:r>
              <a:rPr lang="en"/>
              <a:t> </a:t>
            </a:r>
            <a:r>
              <a:rPr b="1" lang="en"/>
              <a:t>alters</a:t>
            </a:r>
            <a:endParaRPr b="1"/>
          </a:p>
          <a:p>
            <a:pPr indent="-317500" lvl="1" marL="914400" rtl="0" algn="l">
              <a:spcBef>
                <a:spcPts val="0"/>
              </a:spcBef>
              <a:spcAft>
                <a:spcPts val="0"/>
              </a:spcAft>
              <a:buSzPts val="1400"/>
              <a:buChar char="○"/>
            </a:pPr>
            <a:r>
              <a:rPr lang="en"/>
              <a:t>Socio-demographic characteristics of alter</a:t>
            </a:r>
            <a:endParaRPr/>
          </a:p>
          <a:p>
            <a:pPr indent="-317500" lvl="2" marL="1371600" rtl="0" algn="l">
              <a:spcBef>
                <a:spcPts val="0"/>
              </a:spcBef>
              <a:spcAft>
                <a:spcPts val="0"/>
              </a:spcAft>
              <a:buSzPts val="1400"/>
              <a:buChar char="■"/>
            </a:pPr>
            <a:r>
              <a:rPr lang="en"/>
              <a:t>Gender</a:t>
            </a:r>
            <a:endParaRPr/>
          </a:p>
          <a:p>
            <a:pPr indent="-317500" lvl="2" marL="1371600" rtl="0" algn="l">
              <a:spcBef>
                <a:spcPts val="0"/>
              </a:spcBef>
              <a:spcAft>
                <a:spcPts val="0"/>
              </a:spcAft>
              <a:buSzPts val="1400"/>
              <a:buChar char="■"/>
            </a:pPr>
            <a:r>
              <a:rPr lang="en"/>
              <a:t>Age</a:t>
            </a:r>
            <a:endParaRPr/>
          </a:p>
          <a:p>
            <a:pPr indent="-317500" lvl="2" marL="1371600" rtl="0" algn="l">
              <a:spcBef>
                <a:spcPts val="0"/>
              </a:spcBef>
              <a:spcAft>
                <a:spcPts val="0"/>
              </a:spcAft>
              <a:buSzPts val="1400"/>
              <a:buChar char="■"/>
            </a:pPr>
            <a:r>
              <a:rPr lang="en"/>
              <a:t>Race</a:t>
            </a:r>
            <a:endParaRPr/>
          </a:p>
          <a:p>
            <a:pPr indent="-317500" lvl="2" marL="1371600" rtl="0" algn="l">
              <a:spcBef>
                <a:spcPts val="0"/>
              </a:spcBef>
              <a:spcAft>
                <a:spcPts val="0"/>
              </a:spcAft>
              <a:buSzPts val="1400"/>
              <a:buChar char="■"/>
            </a:pPr>
            <a:r>
              <a:rPr lang="en"/>
              <a:t>Years of Education</a:t>
            </a:r>
            <a:endParaRPr/>
          </a:p>
          <a:p>
            <a:pPr indent="-317500" lvl="2" marL="1371600" rtl="0" algn="l">
              <a:spcBef>
                <a:spcPts val="0"/>
              </a:spcBef>
              <a:spcAft>
                <a:spcPts val="0"/>
              </a:spcAft>
              <a:buSzPts val="1400"/>
              <a:buChar char="■"/>
            </a:pPr>
            <a:r>
              <a:rPr b="1" lang="en"/>
              <a:t>Relationship to the organization</a:t>
            </a:r>
            <a:endParaRPr b="1"/>
          </a:p>
          <a:p>
            <a:pPr indent="-317500" lvl="2" marL="1371600" rtl="0" algn="l">
              <a:spcBef>
                <a:spcPts val="0"/>
              </a:spcBef>
              <a:spcAft>
                <a:spcPts val="0"/>
              </a:spcAft>
              <a:buSzPts val="1400"/>
              <a:buChar char="■"/>
            </a:pPr>
            <a:r>
              <a:rPr lang="en"/>
              <a:t>Religion</a:t>
            </a:r>
            <a:endParaRPr/>
          </a:p>
          <a:p>
            <a:pPr indent="-317500" lvl="2" marL="1371600" rtl="0" algn="l">
              <a:spcBef>
                <a:spcPts val="0"/>
              </a:spcBef>
              <a:spcAft>
                <a:spcPts val="0"/>
              </a:spcAft>
              <a:buSzPts val="1400"/>
              <a:buChar char="■"/>
            </a:pPr>
            <a:r>
              <a:rPr lang="en"/>
              <a:t>Etc.</a:t>
            </a:r>
            <a:endParaRPr/>
          </a:p>
          <a:p>
            <a:pPr indent="0" lvl="0" marL="0" marR="0" rtl="0" algn="l">
              <a:lnSpc>
                <a:spcPct val="115000"/>
              </a:lnSpc>
              <a:spcBef>
                <a:spcPts val="1600"/>
              </a:spcBef>
              <a:spcAft>
                <a:spcPts val="1600"/>
              </a:spcAft>
              <a:buNone/>
            </a:pPr>
            <a:r>
              <a:t/>
            </a:r>
            <a:endParaRPr/>
          </a:p>
        </p:txBody>
      </p:sp>
      <p:pic>
        <p:nvPicPr>
          <p:cNvPr id="131" name="Google Shape;131;p23"/>
          <p:cNvPicPr preferRelativeResize="0"/>
          <p:nvPr/>
        </p:nvPicPr>
        <p:blipFill>
          <a:blip r:embed="rId3">
            <a:alphaModFix/>
          </a:blip>
          <a:stretch>
            <a:fillRect/>
          </a:stretch>
        </p:blipFill>
        <p:spPr>
          <a:xfrm>
            <a:off x="4950000" y="1182588"/>
            <a:ext cx="3889199" cy="3439272"/>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4"/>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Name interpreters</a:t>
            </a:r>
            <a:endParaRPr/>
          </a:p>
        </p:txBody>
      </p:sp>
      <p:sp>
        <p:nvSpPr>
          <p:cNvPr id="137" name="Google Shape;137;p24"/>
          <p:cNvSpPr txBox="1"/>
          <p:nvPr>
            <p:ph idx="1" type="body"/>
          </p:nvPr>
        </p:nvSpPr>
        <p:spPr>
          <a:xfrm>
            <a:off x="311700" y="1225225"/>
            <a:ext cx="46383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Follow up questions designed to get information on </a:t>
            </a:r>
            <a:r>
              <a:rPr b="1" lang="en"/>
              <a:t>named</a:t>
            </a:r>
            <a:r>
              <a:rPr lang="en"/>
              <a:t> </a:t>
            </a:r>
            <a:r>
              <a:rPr b="1" lang="en"/>
              <a:t>alters</a:t>
            </a:r>
            <a:endParaRPr b="1"/>
          </a:p>
          <a:p>
            <a:pPr indent="-317500" lvl="1" marL="914400" rtl="0" algn="l">
              <a:spcBef>
                <a:spcPts val="0"/>
              </a:spcBef>
              <a:spcAft>
                <a:spcPts val="0"/>
              </a:spcAft>
              <a:buSzPts val="1400"/>
              <a:buChar char="○"/>
            </a:pPr>
            <a:r>
              <a:rPr lang="en"/>
              <a:t>Socio-demographic characteristics of alter</a:t>
            </a:r>
            <a:endParaRPr/>
          </a:p>
          <a:p>
            <a:pPr indent="-317500" lvl="2" marL="1371600" rtl="0" algn="l">
              <a:spcBef>
                <a:spcPts val="0"/>
              </a:spcBef>
              <a:spcAft>
                <a:spcPts val="0"/>
              </a:spcAft>
              <a:buSzPts val="1400"/>
              <a:buChar char="■"/>
            </a:pPr>
            <a:r>
              <a:rPr b="1" lang="en"/>
              <a:t>Sex/</a:t>
            </a:r>
            <a:r>
              <a:rPr b="1" lang="en"/>
              <a:t>Gender</a:t>
            </a:r>
            <a:endParaRPr b="1"/>
          </a:p>
          <a:p>
            <a:pPr indent="-317500" lvl="2" marL="1371600" rtl="0" algn="l">
              <a:spcBef>
                <a:spcPts val="0"/>
              </a:spcBef>
              <a:spcAft>
                <a:spcPts val="0"/>
              </a:spcAft>
              <a:buSzPts val="1400"/>
              <a:buChar char="■"/>
            </a:pPr>
            <a:r>
              <a:rPr lang="en"/>
              <a:t>Age</a:t>
            </a:r>
            <a:endParaRPr/>
          </a:p>
          <a:p>
            <a:pPr indent="-317500" lvl="2" marL="1371600" rtl="0" algn="l">
              <a:spcBef>
                <a:spcPts val="0"/>
              </a:spcBef>
              <a:spcAft>
                <a:spcPts val="0"/>
              </a:spcAft>
              <a:buSzPts val="1400"/>
              <a:buChar char="■"/>
            </a:pPr>
            <a:r>
              <a:rPr lang="en"/>
              <a:t>Race</a:t>
            </a:r>
            <a:endParaRPr/>
          </a:p>
          <a:p>
            <a:pPr indent="-317500" lvl="2" marL="1371600" rtl="0" algn="l">
              <a:spcBef>
                <a:spcPts val="0"/>
              </a:spcBef>
              <a:spcAft>
                <a:spcPts val="0"/>
              </a:spcAft>
              <a:buSzPts val="1400"/>
              <a:buChar char="■"/>
            </a:pPr>
            <a:r>
              <a:rPr lang="en"/>
              <a:t>Years of Education</a:t>
            </a:r>
            <a:endParaRPr/>
          </a:p>
          <a:p>
            <a:pPr indent="-317500" lvl="2" marL="1371600" rtl="0" algn="l">
              <a:spcBef>
                <a:spcPts val="0"/>
              </a:spcBef>
              <a:spcAft>
                <a:spcPts val="0"/>
              </a:spcAft>
              <a:buSzPts val="1400"/>
              <a:buChar char="■"/>
            </a:pPr>
            <a:r>
              <a:rPr lang="en"/>
              <a:t>Relationship to the organization</a:t>
            </a:r>
            <a:endParaRPr/>
          </a:p>
          <a:p>
            <a:pPr indent="-317500" lvl="2" marL="1371600" rtl="0" algn="l">
              <a:spcBef>
                <a:spcPts val="0"/>
              </a:spcBef>
              <a:spcAft>
                <a:spcPts val="0"/>
              </a:spcAft>
              <a:buSzPts val="1400"/>
              <a:buChar char="■"/>
            </a:pPr>
            <a:r>
              <a:rPr lang="en"/>
              <a:t>Religion</a:t>
            </a:r>
            <a:endParaRPr/>
          </a:p>
          <a:p>
            <a:pPr indent="-317500" lvl="2" marL="1371600" rtl="0" algn="l">
              <a:spcBef>
                <a:spcPts val="0"/>
              </a:spcBef>
              <a:spcAft>
                <a:spcPts val="0"/>
              </a:spcAft>
              <a:buSzPts val="1400"/>
              <a:buChar char="■"/>
            </a:pPr>
            <a:r>
              <a:rPr lang="en"/>
              <a:t>Etc.</a:t>
            </a:r>
            <a:endParaRPr/>
          </a:p>
          <a:p>
            <a:pPr indent="0" lvl="0" marL="0" marR="0" rtl="0" algn="l">
              <a:lnSpc>
                <a:spcPct val="115000"/>
              </a:lnSpc>
              <a:spcBef>
                <a:spcPts val="1600"/>
              </a:spcBef>
              <a:spcAft>
                <a:spcPts val="1600"/>
              </a:spcAft>
              <a:buNone/>
            </a:pPr>
            <a:r>
              <a:t/>
            </a:r>
            <a:endParaRPr/>
          </a:p>
        </p:txBody>
      </p:sp>
      <p:pic>
        <p:nvPicPr>
          <p:cNvPr id="138" name="Google Shape;138;p24"/>
          <p:cNvPicPr preferRelativeResize="0"/>
          <p:nvPr/>
        </p:nvPicPr>
        <p:blipFill>
          <a:blip r:embed="rId3">
            <a:alphaModFix/>
          </a:blip>
          <a:stretch>
            <a:fillRect/>
          </a:stretch>
        </p:blipFill>
        <p:spPr>
          <a:xfrm>
            <a:off x="5102400" y="1299625"/>
            <a:ext cx="3889200" cy="3343418"/>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5"/>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Name interpreters</a:t>
            </a:r>
            <a:endParaRPr/>
          </a:p>
        </p:txBody>
      </p:sp>
      <p:sp>
        <p:nvSpPr>
          <p:cNvPr id="144" name="Google Shape;144;p25"/>
          <p:cNvSpPr txBox="1"/>
          <p:nvPr>
            <p:ph idx="1" type="body"/>
          </p:nvPr>
        </p:nvSpPr>
        <p:spPr>
          <a:xfrm>
            <a:off x="311700" y="1225225"/>
            <a:ext cx="46383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Follow up questions designed to get information on </a:t>
            </a:r>
            <a:r>
              <a:rPr b="1" lang="en"/>
              <a:t>named</a:t>
            </a:r>
            <a:r>
              <a:rPr lang="en"/>
              <a:t> </a:t>
            </a:r>
            <a:r>
              <a:rPr b="1" lang="en"/>
              <a:t>alters</a:t>
            </a:r>
            <a:endParaRPr b="1"/>
          </a:p>
          <a:p>
            <a:pPr indent="-317500" lvl="1" marL="914400" rtl="0" algn="l">
              <a:spcBef>
                <a:spcPts val="0"/>
              </a:spcBef>
              <a:spcAft>
                <a:spcPts val="0"/>
              </a:spcAft>
              <a:buSzPts val="1400"/>
              <a:buChar char="○"/>
            </a:pPr>
            <a:r>
              <a:rPr lang="en"/>
              <a:t>Socio-demographic characteristics of alter</a:t>
            </a:r>
            <a:endParaRPr/>
          </a:p>
          <a:p>
            <a:pPr indent="-317500" lvl="2" marL="1371600" rtl="0" algn="l">
              <a:spcBef>
                <a:spcPts val="0"/>
              </a:spcBef>
              <a:spcAft>
                <a:spcPts val="0"/>
              </a:spcAft>
              <a:buSzPts val="1400"/>
              <a:buChar char="■"/>
            </a:pPr>
            <a:r>
              <a:rPr lang="en"/>
              <a:t>Gender</a:t>
            </a:r>
            <a:endParaRPr/>
          </a:p>
          <a:p>
            <a:pPr indent="-317500" lvl="2" marL="1371600" rtl="0" algn="l">
              <a:spcBef>
                <a:spcPts val="0"/>
              </a:spcBef>
              <a:spcAft>
                <a:spcPts val="0"/>
              </a:spcAft>
              <a:buSzPts val="1400"/>
              <a:buChar char="■"/>
            </a:pPr>
            <a:r>
              <a:rPr lang="en"/>
              <a:t>Age</a:t>
            </a:r>
            <a:endParaRPr/>
          </a:p>
          <a:p>
            <a:pPr indent="-317500" lvl="2" marL="1371600" rtl="0" algn="l">
              <a:spcBef>
                <a:spcPts val="0"/>
              </a:spcBef>
              <a:spcAft>
                <a:spcPts val="0"/>
              </a:spcAft>
              <a:buSzPts val="1400"/>
              <a:buChar char="■"/>
            </a:pPr>
            <a:r>
              <a:rPr b="1" lang="en"/>
              <a:t>Race</a:t>
            </a:r>
            <a:endParaRPr b="1"/>
          </a:p>
          <a:p>
            <a:pPr indent="-317500" lvl="2" marL="1371600" rtl="0" algn="l">
              <a:spcBef>
                <a:spcPts val="0"/>
              </a:spcBef>
              <a:spcAft>
                <a:spcPts val="0"/>
              </a:spcAft>
              <a:buSzPts val="1400"/>
              <a:buChar char="■"/>
            </a:pPr>
            <a:r>
              <a:rPr lang="en"/>
              <a:t>Years of Education</a:t>
            </a:r>
            <a:endParaRPr/>
          </a:p>
          <a:p>
            <a:pPr indent="-317500" lvl="2" marL="1371600" rtl="0" algn="l">
              <a:spcBef>
                <a:spcPts val="0"/>
              </a:spcBef>
              <a:spcAft>
                <a:spcPts val="0"/>
              </a:spcAft>
              <a:buSzPts val="1400"/>
              <a:buChar char="■"/>
            </a:pPr>
            <a:r>
              <a:rPr lang="en"/>
              <a:t>Relationship to the organization</a:t>
            </a:r>
            <a:endParaRPr/>
          </a:p>
          <a:p>
            <a:pPr indent="-317500" lvl="2" marL="1371600" rtl="0" algn="l">
              <a:spcBef>
                <a:spcPts val="0"/>
              </a:spcBef>
              <a:spcAft>
                <a:spcPts val="0"/>
              </a:spcAft>
              <a:buSzPts val="1400"/>
              <a:buChar char="■"/>
            </a:pPr>
            <a:r>
              <a:rPr lang="en"/>
              <a:t>Religion</a:t>
            </a:r>
            <a:endParaRPr/>
          </a:p>
          <a:p>
            <a:pPr indent="-317500" lvl="2" marL="1371600" rtl="0" algn="l">
              <a:spcBef>
                <a:spcPts val="0"/>
              </a:spcBef>
              <a:spcAft>
                <a:spcPts val="0"/>
              </a:spcAft>
              <a:buSzPts val="1400"/>
              <a:buChar char="■"/>
            </a:pPr>
            <a:r>
              <a:rPr lang="en"/>
              <a:t>Etc.</a:t>
            </a:r>
            <a:endParaRPr/>
          </a:p>
          <a:p>
            <a:pPr indent="0" lvl="0" marL="0" marR="0" rtl="0" algn="l">
              <a:lnSpc>
                <a:spcPct val="115000"/>
              </a:lnSpc>
              <a:spcBef>
                <a:spcPts val="1600"/>
              </a:spcBef>
              <a:spcAft>
                <a:spcPts val="1600"/>
              </a:spcAft>
              <a:buNone/>
            </a:pPr>
            <a:r>
              <a:t/>
            </a:r>
            <a:endParaRPr/>
          </a:p>
        </p:txBody>
      </p:sp>
      <p:pic>
        <p:nvPicPr>
          <p:cNvPr id="145" name="Google Shape;145;p25"/>
          <p:cNvPicPr preferRelativeResize="0"/>
          <p:nvPr/>
        </p:nvPicPr>
        <p:blipFill>
          <a:blip r:embed="rId3">
            <a:alphaModFix/>
          </a:blip>
          <a:stretch>
            <a:fillRect/>
          </a:stretch>
        </p:blipFill>
        <p:spPr>
          <a:xfrm>
            <a:off x="5102400" y="1299625"/>
            <a:ext cx="3889202" cy="3318168"/>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6"/>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Name interpreters</a:t>
            </a:r>
            <a:endParaRPr/>
          </a:p>
        </p:txBody>
      </p:sp>
      <p:sp>
        <p:nvSpPr>
          <p:cNvPr id="151" name="Google Shape;151;p26"/>
          <p:cNvSpPr txBox="1"/>
          <p:nvPr>
            <p:ph idx="1" type="body"/>
          </p:nvPr>
        </p:nvSpPr>
        <p:spPr>
          <a:xfrm>
            <a:off x="311700" y="1225225"/>
            <a:ext cx="46383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Follow up questions designed to get information on </a:t>
            </a:r>
            <a:r>
              <a:rPr b="1" lang="en"/>
              <a:t>named</a:t>
            </a:r>
            <a:r>
              <a:rPr lang="en"/>
              <a:t> </a:t>
            </a:r>
            <a:r>
              <a:rPr b="1" lang="en"/>
              <a:t>alters</a:t>
            </a:r>
            <a:endParaRPr b="1"/>
          </a:p>
          <a:p>
            <a:pPr indent="-317500" lvl="1" marL="914400" rtl="0" algn="l">
              <a:spcBef>
                <a:spcPts val="0"/>
              </a:spcBef>
              <a:spcAft>
                <a:spcPts val="0"/>
              </a:spcAft>
              <a:buSzPts val="1400"/>
              <a:buChar char="○"/>
            </a:pPr>
            <a:r>
              <a:rPr lang="en"/>
              <a:t>Socio-demographic characteristics of alter</a:t>
            </a:r>
            <a:endParaRPr/>
          </a:p>
          <a:p>
            <a:pPr indent="-317500" lvl="2" marL="1371600" rtl="0" algn="l">
              <a:spcBef>
                <a:spcPts val="0"/>
              </a:spcBef>
              <a:spcAft>
                <a:spcPts val="0"/>
              </a:spcAft>
              <a:buSzPts val="1400"/>
              <a:buChar char="■"/>
            </a:pPr>
            <a:r>
              <a:rPr lang="en"/>
              <a:t>Gender</a:t>
            </a:r>
            <a:endParaRPr/>
          </a:p>
          <a:p>
            <a:pPr indent="-317500" lvl="2" marL="1371600" rtl="0" algn="l">
              <a:spcBef>
                <a:spcPts val="0"/>
              </a:spcBef>
              <a:spcAft>
                <a:spcPts val="0"/>
              </a:spcAft>
              <a:buSzPts val="1400"/>
              <a:buChar char="■"/>
            </a:pPr>
            <a:r>
              <a:rPr lang="en"/>
              <a:t>Age</a:t>
            </a:r>
            <a:endParaRPr/>
          </a:p>
          <a:p>
            <a:pPr indent="-317500" lvl="2" marL="1371600" rtl="0" algn="l">
              <a:spcBef>
                <a:spcPts val="0"/>
              </a:spcBef>
              <a:spcAft>
                <a:spcPts val="0"/>
              </a:spcAft>
              <a:buSzPts val="1400"/>
              <a:buChar char="■"/>
            </a:pPr>
            <a:r>
              <a:rPr lang="en"/>
              <a:t>Race</a:t>
            </a:r>
            <a:endParaRPr/>
          </a:p>
          <a:p>
            <a:pPr indent="-317500" lvl="2" marL="1371600" rtl="0" algn="l">
              <a:spcBef>
                <a:spcPts val="0"/>
              </a:spcBef>
              <a:spcAft>
                <a:spcPts val="0"/>
              </a:spcAft>
              <a:buSzPts val="1400"/>
              <a:buChar char="■"/>
            </a:pPr>
            <a:r>
              <a:rPr lang="en"/>
              <a:t>Years of Education</a:t>
            </a:r>
            <a:endParaRPr/>
          </a:p>
          <a:p>
            <a:pPr indent="-317500" lvl="2" marL="1371600" rtl="0" algn="l">
              <a:spcBef>
                <a:spcPts val="0"/>
              </a:spcBef>
              <a:spcAft>
                <a:spcPts val="0"/>
              </a:spcAft>
              <a:buSzPts val="1400"/>
              <a:buChar char="■"/>
            </a:pPr>
            <a:r>
              <a:rPr lang="en"/>
              <a:t>Relationship to the organization</a:t>
            </a:r>
            <a:endParaRPr/>
          </a:p>
          <a:p>
            <a:pPr indent="-317500" lvl="2" marL="1371600" rtl="0" algn="l">
              <a:spcBef>
                <a:spcPts val="0"/>
              </a:spcBef>
              <a:spcAft>
                <a:spcPts val="0"/>
              </a:spcAft>
              <a:buSzPts val="1400"/>
              <a:buChar char="■"/>
            </a:pPr>
            <a:r>
              <a:rPr b="1" lang="en"/>
              <a:t>Religion</a:t>
            </a:r>
            <a:endParaRPr b="1"/>
          </a:p>
          <a:p>
            <a:pPr indent="-317500" lvl="2" marL="1371600" rtl="0" algn="l">
              <a:spcBef>
                <a:spcPts val="0"/>
              </a:spcBef>
              <a:spcAft>
                <a:spcPts val="0"/>
              </a:spcAft>
              <a:buSzPts val="1400"/>
              <a:buChar char="■"/>
            </a:pPr>
            <a:r>
              <a:rPr lang="en"/>
              <a:t>Etc.</a:t>
            </a:r>
            <a:endParaRPr/>
          </a:p>
          <a:p>
            <a:pPr indent="0" lvl="0" marL="0" marR="0" rtl="0" algn="l">
              <a:lnSpc>
                <a:spcPct val="115000"/>
              </a:lnSpc>
              <a:spcBef>
                <a:spcPts val="1600"/>
              </a:spcBef>
              <a:spcAft>
                <a:spcPts val="1600"/>
              </a:spcAft>
              <a:buNone/>
            </a:pPr>
            <a:r>
              <a:t/>
            </a:r>
            <a:endParaRPr/>
          </a:p>
        </p:txBody>
      </p:sp>
      <p:pic>
        <p:nvPicPr>
          <p:cNvPr id="152" name="Google Shape;152;p26"/>
          <p:cNvPicPr preferRelativeResize="0"/>
          <p:nvPr/>
        </p:nvPicPr>
        <p:blipFill>
          <a:blip r:embed="rId3">
            <a:alphaModFix/>
          </a:blip>
          <a:stretch>
            <a:fillRect/>
          </a:stretch>
        </p:blipFill>
        <p:spPr>
          <a:xfrm>
            <a:off x="5102400" y="1299625"/>
            <a:ext cx="3889200" cy="2953337"/>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7"/>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Name interpreters</a:t>
            </a:r>
            <a:endParaRPr/>
          </a:p>
        </p:txBody>
      </p:sp>
      <p:sp>
        <p:nvSpPr>
          <p:cNvPr id="158" name="Google Shape;158;p27"/>
          <p:cNvSpPr txBox="1"/>
          <p:nvPr>
            <p:ph idx="1" type="body"/>
          </p:nvPr>
        </p:nvSpPr>
        <p:spPr>
          <a:xfrm>
            <a:off x="311700" y="1225225"/>
            <a:ext cx="4638300" cy="3354000"/>
          </a:xfrm>
          <a:prstGeom prst="rect">
            <a:avLst/>
          </a:prstGeom>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Clr>
                <a:schemeClr val="dk1"/>
              </a:buClr>
              <a:buSzPts val="1800"/>
              <a:buFont typeface="Open Sans"/>
              <a:buChar char="●"/>
            </a:pPr>
            <a:r>
              <a:rPr lang="en"/>
              <a:t>Follow up questions designed to get information on </a:t>
            </a:r>
            <a:r>
              <a:rPr b="1" lang="en"/>
              <a:t>elicited</a:t>
            </a:r>
            <a:r>
              <a:rPr lang="en"/>
              <a:t> </a:t>
            </a:r>
            <a:r>
              <a:rPr b="1" lang="en"/>
              <a:t>relations</a:t>
            </a:r>
            <a:endParaRPr b="1"/>
          </a:p>
          <a:p>
            <a:pPr indent="-317500" lvl="1" marL="914400" rtl="0" algn="l">
              <a:spcBef>
                <a:spcPts val="0"/>
              </a:spcBef>
              <a:spcAft>
                <a:spcPts val="0"/>
              </a:spcAft>
              <a:buSzPts val="1400"/>
              <a:buChar char="○"/>
            </a:pPr>
            <a:r>
              <a:rPr b="1" lang="en"/>
              <a:t>Role-relations</a:t>
            </a:r>
            <a:endParaRPr b="1"/>
          </a:p>
          <a:p>
            <a:pPr indent="-317500" lvl="2" marL="1371600" rtl="0" algn="l">
              <a:spcBef>
                <a:spcPts val="0"/>
              </a:spcBef>
              <a:spcAft>
                <a:spcPts val="0"/>
              </a:spcAft>
              <a:buClr>
                <a:srgbClr val="000000"/>
              </a:buClr>
              <a:buSzPts val="1400"/>
              <a:buChar char="■"/>
            </a:pPr>
            <a:r>
              <a:rPr lang="en">
                <a:solidFill>
                  <a:srgbClr val="000000"/>
                </a:solidFill>
              </a:rPr>
              <a:t>Friends, co-workers, co-authors, pub-mates</a:t>
            </a:r>
            <a:endParaRPr>
              <a:solidFill>
                <a:srgbClr val="000000"/>
              </a:solidFill>
            </a:endParaRPr>
          </a:p>
          <a:p>
            <a:pPr indent="-317500" lvl="1" marL="914400" rtl="0" algn="l">
              <a:spcBef>
                <a:spcPts val="0"/>
              </a:spcBef>
              <a:spcAft>
                <a:spcPts val="0"/>
              </a:spcAft>
              <a:buSzPts val="1400"/>
              <a:buChar char="○"/>
            </a:pPr>
            <a:r>
              <a:rPr lang="en"/>
              <a:t>Sentiments</a:t>
            </a:r>
            <a:endParaRPr/>
          </a:p>
          <a:p>
            <a:pPr indent="-317500" lvl="2" marL="1371600" rtl="0" algn="l">
              <a:spcBef>
                <a:spcPts val="0"/>
              </a:spcBef>
              <a:spcAft>
                <a:spcPts val="0"/>
              </a:spcAft>
              <a:buSzPts val="1400"/>
              <a:buChar char="■"/>
            </a:pPr>
            <a:r>
              <a:rPr lang="en"/>
              <a:t>Loving, exciting, significant, negative sentiments (difficult person)</a:t>
            </a:r>
            <a:endParaRPr/>
          </a:p>
          <a:p>
            <a:pPr indent="-317500" lvl="1" marL="914400" rtl="0" algn="l">
              <a:spcBef>
                <a:spcPts val="0"/>
              </a:spcBef>
              <a:spcAft>
                <a:spcPts val="0"/>
              </a:spcAft>
              <a:buSzPts val="1400"/>
              <a:buChar char="○"/>
            </a:pPr>
            <a:r>
              <a:rPr lang="en"/>
              <a:t>Exchanges and Support</a:t>
            </a:r>
            <a:endParaRPr/>
          </a:p>
          <a:p>
            <a:pPr indent="-317500" lvl="2" marL="1371600" rtl="0" algn="l">
              <a:spcBef>
                <a:spcPts val="0"/>
              </a:spcBef>
              <a:spcAft>
                <a:spcPts val="0"/>
              </a:spcAft>
              <a:buSzPts val="1400"/>
              <a:buChar char="■"/>
            </a:pPr>
            <a:r>
              <a:rPr lang="en"/>
              <a:t>Advice, would go to for financial help, discuss important matters, etc. </a:t>
            </a:r>
            <a:endParaRPr/>
          </a:p>
          <a:p>
            <a:pPr indent="0" lvl="0" marL="457200" marR="0" rtl="0" algn="l">
              <a:lnSpc>
                <a:spcPct val="115000"/>
              </a:lnSpc>
              <a:spcBef>
                <a:spcPts val="1600"/>
              </a:spcBef>
              <a:spcAft>
                <a:spcPts val="1600"/>
              </a:spcAft>
              <a:buNone/>
            </a:pPr>
            <a:r>
              <a:t/>
            </a:r>
            <a:endParaRPr/>
          </a:p>
        </p:txBody>
      </p:sp>
      <p:pic>
        <p:nvPicPr>
          <p:cNvPr id="159" name="Google Shape;159;p27"/>
          <p:cNvPicPr preferRelativeResize="0"/>
          <p:nvPr/>
        </p:nvPicPr>
        <p:blipFill>
          <a:blip r:embed="rId3">
            <a:alphaModFix/>
          </a:blip>
          <a:stretch>
            <a:fillRect/>
          </a:stretch>
        </p:blipFill>
        <p:spPr>
          <a:xfrm>
            <a:off x="4950000" y="1165975"/>
            <a:ext cx="3889199" cy="3472499"/>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8"/>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Name interpreters</a:t>
            </a:r>
            <a:endParaRPr/>
          </a:p>
        </p:txBody>
      </p:sp>
      <p:sp>
        <p:nvSpPr>
          <p:cNvPr id="165" name="Google Shape;165;p28"/>
          <p:cNvSpPr txBox="1"/>
          <p:nvPr>
            <p:ph idx="1" type="body"/>
          </p:nvPr>
        </p:nvSpPr>
        <p:spPr>
          <a:xfrm>
            <a:off x="311700" y="1225225"/>
            <a:ext cx="4638300" cy="3354000"/>
          </a:xfrm>
          <a:prstGeom prst="rect">
            <a:avLst/>
          </a:prstGeom>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Clr>
                <a:schemeClr val="dk1"/>
              </a:buClr>
              <a:buSzPts val="1800"/>
              <a:buFont typeface="Open Sans"/>
              <a:buChar char="●"/>
            </a:pPr>
            <a:r>
              <a:rPr lang="en"/>
              <a:t>Follow up questions designed to get information on </a:t>
            </a:r>
            <a:r>
              <a:rPr b="1" lang="en"/>
              <a:t>elicited</a:t>
            </a:r>
            <a:r>
              <a:rPr lang="en"/>
              <a:t> </a:t>
            </a:r>
            <a:r>
              <a:rPr b="1" lang="en"/>
              <a:t>relations</a:t>
            </a:r>
            <a:endParaRPr b="1"/>
          </a:p>
          <a:p>
            <a:pPr indent="-317500" lvl="1" marL="914400" rtl="0" algn="l">
              <a:spcBef>
                <a:spcPts val="0"/>
              </a:spcBef>
              <a:spcAft>
                <a:spcPts val="0"/>
              </a:spcAft>
              <a:buSzPts val="1400"/>
              <a:buChar char="○"/>
            </a:pPr>
            <a:r>
              <a:rPr b="1" lang="en"/>
              <a:t>Role-relations</a:t>
            </a:r>
            <a:endParaRPr b="1"/>
          </a:p>
          <a:p>
            <a:pPr indent="-317500" lvl="2" marL="1371600" rtl="0" algn="l">
              <a:spcBef>
                <a:spcPts val="0"/>
              </a:spcBef>
              <a:spcAft>
                <a:spcPts val="0"/>
              </a:spcAft>
              <a:buClr>
                <a:srgbClr val="000000"/>
              </a:buClr>
              <a:buSzPts val="1400"/>
              <a:buChar char="■"/>
            </a:pPr>
            <a:r>
              <a:rPr lang="en">
                <a:solidFill>
                  <a:srgbClr val="000000"/>
                </a:solidFill>
              </a:rPr>
              <a:t>Friends, co-workers, co-authors, pub-mates</a:t>
            </a:r>
            <a:endParaRPr>
              <a:solidFill>
                <a:srgbClr val="000000"/>
              </a:solidFill>
            </a:endParaRPr>
          </a:p>
          <a:p>
            <a:pPr indent="-317500" lvl="1" marL="914400" rtl="0" algn="l">
              <a:spcBef>
                <a:spcPts val="0"/>
              </a:spcBef>
              <a:spcAft>
                <a:spcPts val="0"/>
              </a:spcAft>
              <a:buSzPts val="1400"/>
              <a:buChar char="○"/>
            </a:pPr>
            <a:r>
              <a:rPr b="1" lang="en"/>
              <a:t>Sentiments</a:t>
            </a:r>
            <a:endParaRPr b="1"/>
          </a:p>
          <a:p>
            <a:pPr indent="-317500" lvl="2" marL="1371600" rtl="0" algn="l">
              <a:spcBef>
                <a:spcPts val="0"/>
              </a:spcBef>
              <a:spcAft>
                <a:spcPts val="0"/>
              </a:spcAft>
              <a:buSzPts val="1400"/>
              <a:buChar char="■"/>
            </a:pPr>
            <a:r>
              <a:rPr lang="en"/>
              <a:t>Closeness, negative sentiments (difficult person)</a:t>
            </a:r>
            <a:endParaRPr/>
          </a:p>
          <a:p>
            <a:pPr indent="-317500" lvl="1" marL="914400" rtl="0" algn="l">
              <a:spcBef>
                <a:spcPts val="0"/>
              </a:spcBef>
              <a:spcAft>
                <a:spcPts val="0"/>
              </a:spcAft>
              <a:buSzPts val="1400"/>
              <a:buChar char="○"/>
            </a:pPr>
            <a:r>
              <a:rPr b="1" lang="en"/>
              <a:t>Exchanges and Support</a:t>
            </a:r>
            <a:endParaRPr b="1"/>
          </a:p>
          <a:p>
            <a:pPr indent="-317500" lvl="2" marL="1371600" rtl="0" algn="l">
              <a:spcBef>
                <a:spcPts val="0"/>
              </a:spcBef>
              <a:spcAft>
                <a:spcPts val="0"/>
              </a:spcAft>
              <a:buSzPts val="1400"/>
              <a:buChar char="■"/>
            </a:pPr>
            <a:r>
              <a:rPr lang="en"/>
              <a:t>Advice, would go to for financial help, discuss important matters, etc. </a:t>
            </a:r>
            <a:endParaRPr/>
          </a:p>
          <a:p>
            <a:pPr indent="0" lvl="0" marL="457200" marR="0" rtl="0" algn="l">
              <a:lnSpc>
                <a:spcPct val="115000"/>
              </a:lnSpc>
              <a:spcBef>
                <a:spcPts val="1600"/>
              </a:spcBef>
              <a:spcAft>
                <a:spcPts val="1600"/>
              </a:spcAft>
              <a:buNone/>
            </a:pPr>
            <a:r>
              <a:t/>
            </a:r>
            <a:endParaRPr/>
          </a:p>
        </p:txBody>
      </p:sp>
      <p:pic>
        <p:nvPicPr>
          <p:cNvPr id="166" name="Google Shape;166;p28"/>
          <p:cNvPicPr preferRelativeResize="0"/>
          <p:nvPr/>
        </p:nvPicPr>
        <p:blipFill>
          <a:blip r:embed="rId3">
            <a:alphaModFix/>
          </a:blip>
          <a:stretch>
            <a:fillRect/>
          </a:stretch>
        </p:blipFill>
        <p:spPr>
          <a:xfrm>
            <a:off x="5102400" y="1299625"/>
            <a:ext cx="3889199" cy="305233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9"/>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Name interpreters</a:t>
            </a:r>
            <a:endParaRPr/>
          </a:p>
        </p:txBody>
      </p:sp>
      <p:sp>
        <p:nvSpPr>
          <p:cNvPr id="172" name="Google Shape;172;p29"/>
          <p:cNvSpPr txBox="1"/>
          <p:nvPr>
            <p:ph idx="1" type="body"/>
          </p:nvPr>
        </p:nvSpPr>
        <p:spPr>
          <a:xfrm>
            <a:off x="311700" y="1225225"/>
            <a:ext cx="4638300" cy="3354000"/>
          </a:xfrm>
          <a:prstGeom prst="rect">
            <a:avLst/>
          </a:prstGeom>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Clr>
                <a:schemeClr val="dk1"/>
              </a:buClr>
              <a:buSzPts val="1800"/>
              <a:buFont typeface="Open Sans"/>
              <a:buChar char="●"/>
            </a:pPr>
            <a:r>
              <a:rPr lang="en"/>
              <a:t>Follow up questions designed to get information on </a:t>
            </a:r>
            <a:r>
              <a:rPr b="1" lang="en"/>
              <a:t>elicited</a:t>
            </a:r>
            <a:r>
              <a:rPr lang="en"/>
              <a:t> </a:t>
            </a:r>
            <a:r>
              <a:rPr b="1" lang="en"/>
              <a:t>relations</a:t>
            </a:r>
            <a:endParaRPr b="1"/>
          </a:p>
          <a:p>
            <a:pPr indent="-317500" lvl="1" marL="914400" rtl="0" algn="l">
              <a:spcBef>
                <a:spcPts val="0"/>
              </a:spcBef>
              <a:spcAft>
                <a:spcPts val="0"/>
              </a:spcAft>
              <a:buSzPts val="1400"/>
              <a:buChar char="○"/>
            </a:pPr>
            <a:r>
              <a:rPr b="1" lang="en"/>
              <a:t>Role-relations</a:t>
            </a:r>
            <a:endParaRPr b="1"/>
          </a:p>
          <a:p>
            <a:pPr indent="-317500" lvl="2" marL="1371600" rtl="0" algn="l">
              <a:spcBef>
                <a:spcPts val="0"/>
              </a:spcBef>
              <a:spcAft>
                <a:spcPts val="0"/>
              </a:spcAft>
              <a:buClr>
                <a:srgbClr val="000000"/>
              </a:buClr>
              <a:buSzPts val="1400"/>
              <a:buChar char="■"/>
            </a:pPr>
            <a:r>
              <a:rPr lang="en">
                <a:solidFill>
                  <a:srgbClr val="000000"/>
                </a:solidFill>
              </a:rPr>
              <a:t>Friends, co-workers, co-authors, pub-mates</a:t>
            </a:r>
            <a:endParaRPr>
              <a:solidFill>
                <a:srgbClr val="000000"/>
              </a:solidFill>
            </a:endParaRPr>
          </a:p>
          <a:p>
            <a:pPr indent="-317500" lvl="1" marL="914400" rtl="0" algn="l">
              <a:spcBef>
                <a:spcPts val="0"/>
              </a:spcBef>
              <a:spcAft>
                <a:spcPts val="0"/>
              </a:spcAft>
              <a:buSzPts val="1400"/>
              <a:buChar char="○"/>
            </a:pPr>
            <a:r>
              <a:rPr b="1" lang="en"/>
              <a:t>Sentiments</a:t>
            </a:r>
            <a:endParaRPr b="1"/>
          </a:p>
          <a:p>
            <a:pPr indent="-317500" lvl="2" marL="1371600" rtl="0" algn="l">
              <a:spcBef>
                <a:spcPts val="0"/>
              </a:spcBef>
              <a:spcAft>
                <a:spcPts val="0"/>
              </a:spcAft>
              <a:buSzPts val="1400"/>
              <a:buChar char="■"/>
            </a:pPr>
            <a:r>
              <a:rPr lang="en"/>
              <a:t>Closeness, negative sentiments (difficult person)</a:t>
            </a:r>
            <a:endParaRPr/>
          </a:p>
          <a:p>
            <a:pPr indent="-317500" lvl="1" marL="914400" rtl="0" algn="l">
              <a:spcBef>
                <a:spcPts val="0"/>
              </a:spcBef>
              <a:spcAft>
                <a:spcPts val="0"/>
              </a:spcAft>
              <a:buSzPts val="1400"/>
              <a:buChar char="○"/>
            </a:pPr>
            <a:r>
              <a:rPr b="1" lang="en"/>
              <a:t>Exchanges and Support</a:t>
            </a:r>
            <a:endParaRPr b="1"/>
          </a:p>
          <a:p>
            <a:pPr indent="-317500" lvl="2" marL="1371600" rtl="0" algn="l">
              <a:spcBef>
                <a:spcPts val="0"/>
              </a:spcBef>
              <a:spcAft>
                <a:spcPts val="0"/>
              </a:spcAft>
              <a:buSzPts val="1400"/>
              <a:buChar char="■"/>
            </a:pPr>
            <a:r>
              <a:rPr lang="en"/>
              <a:t>Advice, would go to for financial help, discuss important matters, etc. </a:t>
            </a:r>
            <a:endParaRPr/>
          </a:p>
          <a:p>
            <a:pPr indent="0" lvl="0" marL="457200" marR="0" rtl="0" algn="l">
              <a:lnSpc>
                <a:spcPct val="115000"/>
              </a:lnSpc>
              <a:spcBef>
                <a:spcPts val="1600"/>
              </a:spcBef>
              <a:spcAft>
                <a:spcPts val="1600"/>
              </a:spcAft>
              <a:buNone/>
            </a:pPr>
            <a:r>
              <a:t/>
            </a:r>
            <a:endParaRPr/>
          </a:p>
        </p:txBody>
      </p:sp>
      <p:pic>
        <p:nvPicPr>
          <p:cNvPr id="173" name="Google Shape;173;p29"/>
          <p:cNvPicPr preferRelativeResize="0"/>
          <p:nvPr/>
        </p:nvPicPr>
        <p:blipFill>
          <a:blip r:embed="rId3">
            <a:alphaModFix/>
          </a:blip>
          <a:stretch>
            <a:fillRect/>
          </a:stretch>
        </p:blipFill>
        <p:spPr>
          <a:xfrm>
            <a:off x="4950000" y="1056488"/>
            <a:ext cx="3709660" cy="3691476"/>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30"/>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Name interpreters</a:t>
            </a:r>
            <a:endParaRPr/>
          </a:p>
        </p:txBody>
      </p:sp>
      <p:sp>
        <p:nvSpPr>
          <p:cNvPr id="179" name="Google Shape;179;p30"/>
          <p:cNvSpPr txBox="1"/>
          <p:nvPr>
            <p:ph idx="1" type="body"/>
          </p:nvPr>
        </p:nvSpPr>
        <p:spPr>
          <a:xfrm>
            <a:off x="311700" y="1225225"/>
            <a:ext cx="4609500" cy="3354000"/>
          </a:xfrm>
          <a:prstGeom prst="rect">
            <a:avLst/>
          </a:prstGeom>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Clr>
                <a:schemeClr val="dk1"/>
              </a:buClr>
              <a:buSzPts val="1800"/>
              <a:buFont typeface="Open Sans"/>
              <a:buChar char="●"/>
            </a:pPr>
            <a:r>
              <a:rPr lang="en"/>
              <a:t>Follow up questions designed to get information on </a:t>
            </a:r>
            <a:r>
              <a:rPr b="1" lang="en"/>
              <a:t>elicited</a:t>
            </a:r>
            <a:r>
              <a:rPr lang="en"/>
              <a:t> </a:t>
            </a:r>
            <a:r>
              <a:rPr b="1" lang="en"/>
              <a:t>relations</a:t>
            </a:r>
            <a:endParaRPr b="1"/>
          </a:p>
          <a:p>
            <a:pPr indent="-317500" lvl="1" marL="914400" rtl="0" algn="l">
              <a:spcBef>
                <a:spcPts val="0"/>
              </a:spcBef>
              <a:spcAft>
                <a:spcPts val="0"/>
              </a:spcAft>
              <a:buSzPts val="1400"/>
              <a:buChar char="○"/>
            </a:pPr>
            <a:r>
              <a:rPr b="1" lang="en"/>
              <a:t>Relationship age or duration</a:t>
            </a:r>
            <a:endParaRPr b="1"/>
          </a:p>
          <a:p>
            <a:pPr indent="-317500" lvl="1" marL="914400" rtl="0" algn="l">
              <a:spcBef>
                <a:spcPts val="0"/>
              </a:spcBef>
              <a:spcAft>
                <a:spcPts val="0"/>
              </a:spcAft>
              <a:buSzPts val="1400"/>
              <a:buChar char="○"/>
            </a:pPr>
            <a:r>
              <a:rPr lang="en"/>
              <a:t>Subjective similarity</a:t>
            </a:r>
            <a:endParaRPr/>
          </a:p>
          <a:p>
            <a:pPr indent="-317500" lvl="1" marL="914400" rtl="0" algn="l">
              <a:spcBef>
                <a:spcPts val="0"/>
              </a:spcBef>
              <a:spcAft>
                <a:spcPts val="0"/>
              </a:spcAft>
              <a:buSzPts val="1400"/>
              <a:buChar char="○"/>
            </a:pPr>
            <a:r>
              <a:rPr lang="en"/>
              <a:t>“Cultural matching”</a:t>
            </a:r>
            <a:endParaRPr/>
          </a:p>
          <a:p>
            <a:pPr indent="-317500" lvl="2" marL="1371600" rtl="0" algn="l">
              <a:spcBef>
                <a:spcPts val="0"/>
              </a:spcBef>
              <a:spcAft>
                <a:spcPts val="0"/>
              </a:spcAft>
              <a:buSzPts val="1400"/>
              <a:buChar char="■"/>
            </a:pPr>
            <a:r>
              <a:rPr lang="en"/>
              <a:t>Does alter share tastes, attitudes, practices with ego?</a:t>
            </a:r>
            <a:endParaRPr/>
          </a:p>
          <a:p>
            <a:pPr indent="0" lvl="0" marL="457200" marR="0" rtl="0" algn="l">
              <a:lnSpc>
                <a:spcPct val="115000"/>
              </a:lnSpc>
              <a:spcBef>
                <a:spcPts val="1600"/>
              </a:spcBef>
              <a:spcAft>
                <a:spcPts val="1600"/>
              </a:spcAft>
              <a:buNone/>
            </a:pPr>
            <a:r>
              <a:t/>
            </a:r>
            <a:endParaRPr/>
          </a:p>
        </p:txBody>
      </p:sp>
      <p:pic>
        <p:nvPicPr>
          <p:cNvPr id="180" name="Google Shape;180;p30"/>
          <p:cNvPicPr preferRelativeResize="0"/>
          <p:nvPr/>
        </p:nvPicPr>
        <p:blipFill>
          <a:blip r:embed="rId3">
            <a:alphaModFix/>
          </a:blip>
          <a:stretch>
            <a:fillRect/>
          </a:stretch>
        </p:blipFill>
        <p:spPr>
          <a:xfrm>
            <a:off x="5073600" y="1299625"/>
            <a:ext cx="3918001" cy="303453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31"/>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Name interpreters</a:t>
            </a:r>
            <a:endParaRPr/>
          </a:p>
        </p:txBody>
      </p:sp>
      <p:sp>
        <p:nvSpPr>
          <p:cNvPr id="186" name="Google Shape;186;p31"/>
          <p:cNvSpPr txBox="1"/>
          <p:nvPr>
            <p:ph idx="1" type="body"/>
          </p:nvPr>
        </p:nvSpPr>
        <p:spPr>
          <a:xfrm>
            <a:off x="311700" y="1225225"/>
            <a:ext cx="4609500" cy="3354000"/>
          </a:xfrm>
          <a:prstGeom prst="rect">
            <a:avLst/>
          </a:prstGeom>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Clr>
                <a:schemeClr val="dk1"/>
              </a:buClr>
              <a:buSzPts val="1800"/>
              <a:buFont typeface="Open Sans"/>
              <a:buChar char="●"/>
            </a:pPr>
            <a:r>
              <a:rPr lang="en"/>
              <a:t>Follow up questions designed to get information on </a:t>
            </a:r>
            <a:r>
              <a:rPr b="1" lang="en"/>
              <a:t>elicited</a:t>
            </a:r>
            <a:r>
              <a:rPr lang="en"/>
              <a:t> </a:t>
            </a:r>
            <a:r>
              <a:rPr b="1" lang="en"/>
              <a:t>relations</a:t>
            </a:r>
            <a:endParaRPr b="1"/>
          </a:p>
          <a:p>
            <a:pPr indent="-317500" lvl="1" marL="914400" rtl="0" algn="l">
              <a:spcBef>
                <a:spcPts val="0"/>
              </a:spcBef>
              <a:spcAft>
                <a:spcPts val="0"/>
              </a:spcAft>
              <a:buSzPts val="1400"/>
              <a:buChar char="○"/>
            </a:pPr>
            <a:r>
              <a:rPr lang="en"/>
              <a:t>Relationship age or duration</a:t>
            </a:r>
            <a:endParaRPr/>
          </a:p>
          <a:p>
            <a:pPr indent="-317500" lvl="1" marL="914400" rtl="0" algn="l">
              <a:spcBef>
                <a:spcPts val="0"/>
              </a:spcBef>
              <a:spcAft>
                <a:spcPts val="0"/>
              </a:spcAft>
              <a:buSzPts val="1400"/>
              <a:buChar char="○"/>
            </a:pPr>
            <a:r>
              <a:rPr b="1" lang="en"/>
              <a:t>Subjective similarity</a:t>
            </a:r>
            <a:endParaRPr b="1"/>
          </a:p>
          <a:p>
            <a:pPr indent="-317500" lvl="1" marL="914400" rtl="0" algn="l">
              <a:spcBef>
                <a:spcPts val="0"/>
              </a:spcBef>
              <a:spcAft>
                <a:spcPts val="0"/>
              </a:spcAft>
              <a:buSzPts val="1400"/>
              <a:buChar char="○"/>
            </a:pPr>
            <a:r>
              <a:rPr lang="en"/>
              <a:t>“Cultural matching”</a:t>
            </a:r>
            <a:endParaRPr/>
          </a:p>
          <a:p>
            <a:pPr indent="-317500" lvl="2" marL="1371600" rtl="0" algn="l">
              <a:spcBef>
                <a:spcPts val="0"/>
              </a:spcBef>
              <a:spcAft>
                <a:spcPts val="0"/>
              </a:spcAft>
              <a:buSzPts val="1400"/>
              <a:buChar char="■"/>
            </a:pPr>
            <a:r>
              <a:rPr lang="en"/>
              <a:t>Does alter share tastes, attitudes, practices with ego?</a:t>
            </a:r>
            <a:endParaRPr/>
          </a:p>
          <a:p>
            <a:pPr indent="0" lvl="0" marL="457200" marR="0" rtl="0" algn="l">
              <a:lnSpc>
                <a:spcPct val="115000"/>
              </a:lnSpc>
              <a:spcBef>
                <a:spcPts val="1600"/>
              </a:spcBef>
              <a:spcAft>
                <a:spcPts val="1600"/>
              </a:spcAft>
              <a:buNone/>
            </a:pPr>
            <a:r>
              <a:t/>
            </a:r>
            <a:endParaRPr/>
          </a:p>
        </p:txBody>
      </p:sp>
      <p:pic>
        <p:nvPicPr>
          <p:cNvPr id="187" name="Google Shape;187;p31"/>
          <p:cNvPicPr preferRelativeResize="0"/>
          <p:nvPr/>
        </p:nvPicPr>
        <p:blipFill>
          <a:blip r:embed="rId3">
            <a:alphaModFix/>
          </a:blip>
          <a:stretch>
            <a:fillRect/>
          </a:stretch>
        </p:blipFill>
        <p:spPr>
          <a:xfrm>
            <a:off x="4921200" y="1525163"/>
            <a:ext cx="3918001" cy="2093178"/>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32"/>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Name interpreters</a:t>
            </a:r>
            <a:endParaRPr/>
          </a:p>
        </p:txBody>
      </p:sp>
      <p:sp>
        <p:nvSpPr>
          <p:cNvPr id="193" name="Google Shape;193;p32"/>
          <p:cNvSpPr txBox="1"/>
          <p:nvPr>
            <p:ph idx="1" type="body"/>
          </p:nvPr>
        </p:nvSpPr>
        <p:spPr>
          <a:xfrm>
            <a:off x="311700" y="1225225"/>
            <a:ext cx="4609500" cy="3354000"/>
          </a:xfrm>
          <a:prstGeom prst="rect">
            <a:avLst/>
          </a:prstGeom>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Clr>
                <a:schemeClr val="dk1"/>
              </a:buClr>
              <a:buSzPts val="1800"/>
              <a:buFont typeface="Open Sans"/>
              <a:buChar char="●"/>
            </a:pPr>
            <a:r>
              <a:rPr lang="en"/>
              <a:t>Follow up questions designed to get information on </a:t>
            </a:r>
            <a:r>
              <a:rPr b="1" lang="en"/>
              <a:t>elicited</a:t>
            </a:r>
            <a:r>
              <a:rPr lang="en"/>
              <a:t> </a:t>
            </a:r>
            <a:r>
              <a:rPr b="1" lang="en"/>
              <a:t>relations</a:t>
            </a:r>
            <a:endParaRPr b="1"/>
          </a:p>
          <a:p>
            <a:pPr indent="-317500" lvl="1" marL="914400" rtl="0" algn="l">
              <a:spcBef>
                <a:spcPts val="0"/>
              </a:spcBef>
              <a:spcAft>
                <a:spcPts val="0"/>
              </a:spcAft>
              <a:buSzPts val="1400"/>
              <a:buChar char="○"/>
            </a:pPr>
            <a:r>
              <a:rPr lang="en"/>
              <a:t>Relationship age or duration</a:t>
            </a:r>
            <a:endParaRPr/>
          </a:p>
          <a:p>
            <a:pPr indent="-317500" lvl="1" marL="914400" rtl="0" algn="l">
              <a:spcBef>
                <a:spcPts val="0"/>
              </a:spcBef>
              <a:spcAft>
                <a:spcPts val="0"/>
              </a:spcAft>
              <a:buSzPts val="1400"/>
              <a:buChar char="○"/>
            </a:pPr>
            <a:r>
              <a:rPr lang="en"/>
              <a:t>Subjective similarity</a:t>
            </a:r>
            <a:endParaRPr/>
          </a:p>
          <a:p>
            <a:pPr indent="-317500" lvl="1" marL="914400" rtl="0" algn="l">
              <a:spcBef>
                <a:spcPts val="0"/>
              </a:spcBef>
              <a:spcAft>
                <a:spcPts val="0"/>
              </a:spcAft>
              <a:buSzPts val="1400"/>
              <a:buChar char="○"/>
            </a:pPr>
            <a:r>
              <a:rPr b="1" lang="en"/>
              <a:t>Similarities/Matching in Cultural Pursuits</a:t>
            </a:r>
            <a:endParaRPr b="1"/>
          </a:p>
          <a:p>
            <a:pPr indent="-317500" lvl="2" marL="1371600" rtl="0" algn="l">
              <a:spcBef>
                <a:spcPts val="0"/>
              </a:spcBef>
              <a:spcAft>
                <a:spcPts val="0"/>
              </a:spcAft>
              <a:buSzPts val="1400"/>
              <a:buChar char="■"/>
            </a:pPr>
            <a:r>
              <a:rPr lang="en"/>
              <a:t>Does alter share tastes, attitudes, practices with ego?</a:t>
            </a:r>
            <a:endParaRPr/>
          </a:p>
          <a:p>
            <a:pPr indent="0" lvl="0" marL="457200" marR="0" rtl="0" algn="l">
              <a:lnSpc>
                <a:spcPct val="115000"/>
              </a:lnSpc>
              <a:spcBef>
                <a:spcPts val="1600"/>
              </a:spcBef>
              <a:spcAft>
                <a:spcPts val="1600"/>
              </a:spcAft>
              <a:buNone/>
            </a:pPr>
            <a:r>
              <a:t/>
            </a:r>
            <a:endParaRPr/>
          </a:p>
        </p:txBody>
      </p:sp>
      <p:pic>
        <p:nvPicPr>
          <p:cNvPr id="194" name="Google Shape;194;p32"/>
          <p:cNvPicPr preferRelativeResize="0"/>
          <p:nvPr/>
        </p:nvPicPr>
        <p:blipFill>
          <a:blip r:embed="rId3">
            <a:alphaModFix/>
          </a:blip>
          <a:stretch>
            <a:fillRect/>
          </a:stretch>
        </p:blipFill>
        <p:spPr>
          <a:xfrm>
            <a:off x="5073600" y="1299625"/>
            <a:ext cx="3918000" cy="303284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33"/>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Ego network metrics</a:t>
            </a:r>
            <a:endParaRPr/>
          </a:p>
        </p:txBody>
      </p:sp>
      <p:sp>
        <p:nvSpPr>
          <p:cNvPr id="200" name="Google Shape;200;p33"/>
          <p:cNvSpPr txBox="1"/>
          <p:nvPr>
            <p:ph idx="1" type="body"/>
          </p:nvPr>
        </p:nvSpPr>
        <p:spPr>
          <a:xfrm>
            <a:off x="311700" y="1225225"/>
            <a:ext cx="48474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Number of elicited contacts</a:t>
            </a:r>
            <a:r>
              <a:rPr lang="en"/>
              <a:t> 	</a:t>
            </a:r>
            <a:endParaRPr/>
          </a:p>
          <a:p>
            <a:pPr indent="-317500" lvl="1" marL="914400" rtl="0" algn="l">
              <a:spcBef>
                <a:spcPts val="0"/>
              </a:spcBef>
              <a:spcAft>
                <a:spcPts val="0"/>
              </a:spcAft>
              <a:buSzPts val="1400"/>
              <a:buChar char="○"/>
            </a:pPr>
            <a:r>
              <a:rPr lang="en"/>
              <a:t>Ego-Network Degree</a:t>
            </a:r>
            <a:endParaRPr/>
          </a:p>
          <a:p>
            <a:pPr indent="-342900" lvl="0" marL="457200" rtl="0" algn="l">
              <a:spcBef>
                <a:spcPts val="0"/>
              </a:spcBef>
              <a:spcAft>
                <a:spcPts val="0"/>
              </a:spcAft>
              <a:buSzPts val="1800"/>
              <a:buChar char="●"/>
            </a:pPr>
            <a:r>
              <a:rPr lang="en"/>
              <a:t>Contact diversity </a:t>
            </a:r>
            <a:endParaRPr/>
          </a:p>
          <a:p>
            <a:pPr indent="-317500" lvl="1" marL="914400" rtl="0" algn="l">
              <a:spcBef>
                <a:spcPts val="0"/>
              </a:spcBef>
              <a:spcAft>
                <a:spcPts val="0"/>
              </a:spcAft>
              <a:buSzPts val="1400"/>
              <a:buChar char="○"/>
            </a:pPr>
            <a:r>
              <a:rPr lang="en"/>
              <a:t>e.g. Std dev/entropy of alter age, race, etc.</a:t>
            </a:r>
            <a:endParaRPr/>
          </a:p>
          <a:p>
            <a:pPr indent="-317500" lvl="0" marL="457200" marR="0" rtl="0" algn="l">
              <a:lnSpc>
                <a:spcPct val="115000"/>
              </a:lnSpc>
              <a:spcBef>
                <a:spcPts val="0"/>
              </a:spcBef>
              <a:spcAft>
                <a:spcPts val="0"/>
              </a:spcAft>
              <a:buClr>
                <a:schemeClr val="dk1"/>
              </a:buClr>
              <a:buSzPts val="1400"/>
              <a:buFont typeface="Open Sans"/>
              <a:buChar char="●"/>
            </a:pPr>
            <a:r>
              <a:rPr lang="en"/>
              <a:t>Role relation composition </a:t>
            </a:r>
            <a:endParaRPr/>
          </a:p>
          <a:p>
            <a:pPr indent="-317500" lvl="1" marL="914400" rtl="0" algn="l">
              <a:spcBef>
                <a:spcPts val="0"/>
              </a:spcBef>
              <a:spcAft>
                <a:spcPts val="0"/>
              </a:spcAft>
              <a:buSzPts val="1400"/>
              <a:buChar char="○"/>
            </a:pPr>
            <a:r>
              <a:rPr lang="en"/>
              <a:t>e.g. Prop. Kin</a:t>
            </a:r>
            <a:endParaRPr/>
          </a:p>
          <a:p>
            <a:pPr indent="-342900" lvl="0" marL="457200" rtl="0" algn="l">
              <a:spcBef>
                <a:spcPts val="0"/>
              </a:spcBef>
              <a:spcAft>
                <a:spcPts val="0"/>
              </a:spcAft>
              <a:buSzPts val="1800"/>
              <a:buChar char="●"/>
            </a:pPr>
            <a:r>
              <a:rPr lang="en"/>
              <a:t>Homophily  </a:t>
            </a:r>
            <a:endParaRPr/>
          </a:p>
          <a:p>
            <a:pPr indent="-317500" lvl="1" marL="914400" rtl="0" algn="l">
              <a:spcBef>
                <a:spcPts val="0"/>
              </a:spcBef>
              <a:spcAft>
                <a:spcPts val="0"/>
              </a:spcAft>
              <a:buSzPts val="1400"/>
              <a:buChar char="○"/>
            </a:pPr>
            <a:r>
              <a:rPr lang="en"/>
              <a:t>E.g. prop. Same Gender</a:t>
            </a:r>
            <a:endParaRPr/>
          </a:p>
          <a:p>
            <a:pPr indent="-342900" lvl="0" marL="457200" rtl="0" algn="l">
              <a:spcBef>
                <a:spcPts val="0"/>
              </a:spcBef>
              <a:spcAft>
                <a:spcPts val="0"/>
              </a:spcAft>
              <a:buSzPts val="1800"/>
              <a:buChar char="●"/>
            </a:pPr>
            <a:r>
              <a:rPr lang="en"/>
              <a:t>Clustering  </a:t>
            </a:r>
            <a:endParaRPr/>
          </a:p>
          <a:p>
            <a:pPr indent="-317500" lvl="1" marL="914400" rtl="0" algn="l">
              <a:spcBef>
                <a:spcPts val="0"/>
              </a:spcBef>
              <a:spcAft>
                <a:spcPts val="0"/>
              </a:spcAft>
              <a:buSzPts val="1400"/>
              <a:buChar char="○"/>
            </a:pPr>
            <a:r>
              <a:rPr lang="en"/>
              <a:t>Alter subgraph density</a:t>
            </a:r>
            <a:endParaRPr/>
          </a:p>
          <a:p>
            <a:pPr indent="-342900" lvl="0" marL="457200" rtl="0" algn="l">
              <a:spcBef>
                <a:spcPts val="0"/>
              </a:spcBef>
              <a:spcAft>
                <a:spcPts val="0"/>
              </a:spcAft>
              <a:buSzPts val="1800"/>
              <a:buChar char="●"/>
            </a:pPr>
            <a:r>
              <a:rPr lang="en"/>
              <a:t>Tie strength</a:t>
            </a:r>
            <a:endParaRPr/>
          </a:p>
          <a:p>
            <a:pPr indent="-317500" lvl="1" marL="914400" rtl="0" algn="l">
              <a:spcBef>
                <a:spcPts val="0"/>
              </a:spcBef>
              <a:spcAft>
                <a:spcPts val="0"/>
              </a:spcAft>
              <a:buSzPts val="1400"/>
              <a:buChar char="○"/>
            </a:pPr>
            <a:r>
              <a:rPr lang="en"/>
              <a:t>e.g. average tie strength</a:t>
            </a:r>
            <a:endParaRPr/>
          </a:p>
        </p:txBody>
      </p:sp>
      <p:pic>
        <p:nvPicPr>
          <p:cNvPr id="201" name="Google Shape;201;p33"/>
          <p:cNvPicPr preferRelativeResize="0"/>
          <p:nvPr/>
        </p:nvPicPr>
        <p:blipFill>
          <a:blip r:embed="rId3">
            <a:alphaModFix/>
          </a:blip>
          <a:stretch>
            <a:fillRect/>
          </a:stretch>
        </p:blipFill>
        <p:spPr>
          <a:xfrm>
            <a:off x="5158951" y="1451024"/>
            <a:ext cx="3190300" cy="27592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34"/>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Ego network types</a:t>
            </a:r>
            <a:endParaRPr/>
          </a:p>
        </p:txBody>
      </p:sp>
      <p:sp>
        <p:nvSpPr>
          <p:cNvPr id="207" name="Google Shape;207;p34"/>
          <p:cNvSpPr txBox="1"/>
          <p:nvPr>
            <p:ph idx="1" type="body"/>
          </p:nvPr>
        </p:nvSpPr>
        <p:spPr>
          <a:xfrm>
            <a:off x="311700" y="1225225"/>
            <a:ext cx="48474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Number of elicited contacts 	</a:t>
            </a:r>
            <a:endParaRPr/>
          </a:p>
          <a:p>
            <a:pPr indent="-317500" lvl="1" marL="914400" rtl="0" algn="l">
              <a:spcBef>
                <a:spcPts val="0"/>
              </a:spcBef>
              <a:spcAft>
                <a:spcPts val="0"/>
              </a:spcAft>
              <a:buSzPts val="1400"/>
              <a:buChar char="○"/>
            </a:pPr>
            <a:r>
              <a:rPr lang="en"/>
              <a:t>Large vs. small</a:t>
            </a:r>
            <a:endParaRPr/>
          </a:p>
          <a:p>
            <a:pPr indent="-342900" lvl="0" marL="457200" rtl="0" algn="l">
              <a:spcBef>
                <a:spcPts val="0"/>
              </a:spcBef>
              <a:spcAft>
                <a:spcPts val="0"/>
              </a:spcAft>
              <a:buSzPts val="1800"/>
              <a:buChar char="●"/>
            </a:pPr>
            <a:r>
              <a:rPr lang="en"/>
              <a:t>Contact diversity </a:t>
            </a:r>
            <a:endParaRPr/>
          </a:p>
          <a:p>
            <a:pPr indent="-317500" lvl="1" marL="914400" rtl="0" algn="l">
              <a:spcBef>
                <a:spcPts val="0"/>
              </a:spcBef>
              <a:spcAft>
                <a:spcPts val="0"/>
              </a:spcAft>
              <a:buSzPts val="1400"/>
              <a:buChar char="○"/>
            </a:pPr>
            <a:r>
              <a:rPr lang="en"/>
              <a:t>Diverse vs. homogeneous</a:t>
            </a:r>
            <a:endParaRPr/>
          </a:p>
          <a:p>
            <a:pPr indent="-342900" lvl="0" marL="457200" rtl="0" algn="l">
              <a:spcBef>
                <a:spcPts val="0"/>
              </a:spcBef>
              <a:spcAft>
                <a:spcPts val="0"/>
              </a:spcAft>
              <a:buSzPts val="1800"/>
              <a:buChar char="●"/>
            </a:pPr>
            <a:r>
              <a:rPr lang="en"/>
              <a:t>Role relation composition </a:t>
            </a:r>
            <a:endParaRPr/>
          </a:p>
          <a:p>
            <a:pPr indent="-317500" lvl="1" marL="914400" rtl="0" algn="l">
              <a:spcBef>
                <a:spcPts val="0"/>
              </a:spcBef>
              <a:spcAft>
                <a:spcPts val="0"/>
              </a:spcAft>
              <a:buSzPts val="1400"/>
              <a:buChar char="○"/>
            </a:pPr>
            <a:r>
              <a:rPr lang="en"/>
              <a:t>Kin-heavy vs. friend-heavy</a:t>
            </a:r>
            <a:endParaRPr/>
          </a:p>
          <a:p>
            <a:pPr indent="-342900" lvl="0" marL="457200" rtl="0" algn="l">
              <a:spcBef>
                <a:spcPts val="0"/>
              </a:spcBef>
              <a:spcAft>
                <a:spcPts val="0"/>
              </a:spcAft>
              <a:buSzPts val="1800"/>
              <a:buChar char="●"/>
            </a:pPr>
            <a:r>
              <a:rPr lang="en"/>
              <a:t>Homophily</a:t>
            </a:r>
            <a:endParaRPr/>
          </a:p>
          <a:p>
            <a:pPr indent="-317500" lvl="1" marL="914400" rtl="0" algn="l">
              <a:spcBef>
                <a:spcPts val="0"/>
              </a:spcBef>
              <a:spcAft>
                <a:spcPts val="0"/>
              </a:spcAft>
              <a:buSzPts val="1400"/>
              <a:buChar char="○"/>
            </a:pPr>
            <a:r>
              <a:rPr lang="en"/>
              <a:t>Homophilous vs. heterophilous</a:t>
            </a:r>
            <a:endParaRPr/>
          </a:p>
          <a:p>
            <a:pPr indent="-342900" lvl="0" marL="457200" rtl="0" algn="l">
              <a:spcBef>
                <a:spcPts val="0"/>
              </a:spcBef>
              <a:spcAft>
                <a:spcPts val="0"/>
              </a:spcAft>
              <a:buSzPts val="1800"/>
              <a:buChar char="●"/>
            </a:pPr>
            <a:r>
              <a:rPr lang="en"/>
              <a:t>Clustering  </a:t>
            </a:r>
            <a:endParaRPr/>
          </a:p>
          <a:p>
            <a:pPr indent="-317500" lvl="1" marL="914400" rtl="0" algn="l">
              <a:spcBef>
                <a:spcPts val="0"/>
              </a:spcBef>
              <a:spcAft>
                <a:spcPts val="0"/>
              </a:spcAft>
              <a:buSzPts val="1400"/>
              <a:buChar char="○"/>
            </a:pPr>
            <a:r>
              <a:rPr lang="en"/>
              <a:t>“Clustered” vs. “open” </a:t>
            </a:r>
            <a:endParaRPr/>
          </a:p>
          <a:p>
            <a:pPr indent="-342900" lvl="0" marL="457200" rtl="0" algn="l">
              <a:spcBef>
                <a:spcPts val="0"/>
              </a:spcBef>
              <a:spcAft>
                <a:spcPts val="0"/>
              </a:spcAft>
              <a:buSzPts val="1800"/>
              <a:buChar char="●"/>
            </a:pPr>
            <a:r>
              <a:rPr lang="en"/>
              <a:t>Tie Strength</a:t>
            </a:r>
            <a:endParaRPr/>
          </a:p>
          <a:p>
            <a:pPr indent="-317500" lvl="1" marL="914400" rtl="0" algn="l">
              <a:spcBef>
                <a:spcPts val="0"/>
              </a:spcBef>
              <a:spcAft>
                <a:spcPts val="0"/>
              </a:spcAft>
              <a:buSzPts val="1400"/>
              <a:buChar char="○"/>
            </a:pPr>
            <a:r>
              <a:rPr lang="en"/>
              <a:t>Strong tie vs. weak tie heavy</a:t>
            </a:r>
            <a:endParaRPr/>
          </a:p>
          <a:p>
            <a:pPr indent="0" lvl="0" marL="914400" rtl="0" algn="l">
              <a:spcBef>
                <a:spcPts val="1600"/>
              </a:spcBef>
              <a:spcAft>
                <a:spcPts val="1600"/>
              </a:spcAft>
              <a:buNone/>
            </a:pPr>
            <a:r>
              <a:t/>
            </a:r>
            <a:endParaRPr/>
          </a:p>
        </p:txBody>
      </p:sp>
      <p:pic>
        <p:nvPicPr>
          <p:cNvPr id="208" name="Google Shape;208;p34"/>
          <p:cNvPicPr preferRelativeResize="0"/>
          <p:nvPr/>
        </p:nvPicPr>
        <p:blipFill>
          <a:blip r:embed="rId3">
            <a:alphaModFix/>
          </a:blip>
          <a:stretch>
            <a:fillRect/>
          </a:stretch>
        </p:blipFill>
        <p:spPr>
          <a:xfrm>
            <a:off x="5158951" y="1451024"/>
            <a:ext cx="3190300" cy="27592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35"/>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Alternatives: Position Generators</a:t>
            </a:r>
            <a:endParaRPr/>
          </a:p>
        </p:txBody>
      </p:sp>
      <p:sp>
        <p:nvSpPr>
          <p:cNvPr id="214" name="Google Shape;214;p35"/>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“Do you know anyone who is a/an….”</a:t>
            </a:r>
            <a:endParaRPr/>
          </a:p>
          <a:p>
            <a:pPr indent="-317500" lvl="1" marL="914400" rtl="0" algn="l">
              <a:spcBef>
                <a:spcPts val="0"/>
              </a:spcBef>
              <a:spcAft>
                <a:spcPts val="0"/>
              </a:spcAft>
              <a:buSzPts val="1400"/>
              <a:buChar char="○"/>
            </a:pPr>
            <a:r>
              <a:rPr i="1" lang="en"/>
              <a:t>Lawyer</a:t>
            </a:r>
            <a:endParaRPr i="1"/>
          </a:p>
          <a:p>
            <a:pPr indent="-317500" lvl="1" marL="914400" rtl="0" algn="l">
              <a:spcBef>
                <a:spcPts val="0"/>
              </a:spcBef>
              <a:spcAft>
                <a:spcPts val="0"/>
              </a:spcAft>
              <a:buSzPts val="1400"/>
              <a:buChar char="○"/>
            </a:pPr>
            <a:r>
              <a:rPr i="1" lang="en"/>
              <a:t>Doctor</a:t>
            </a:r>
            <a:endParaRPr i="1"/>
          </a:p>
          <a:p>
            <a:pPr indent="-317500" lvl="1" marL="914400" rtl="0" algn="l">
              <a:spcBef>
                <a:spcPts val="0"/>
              </a:spcBef>
              <a:spcAft>
                <a:spcPts val="0"/>
              </a:spcAft>
              <a:buSzPts val="1400"/>
              <a:buChar char="○"/>
            </a:pPr>
            <a:r>
              <a:rPr i="1" lang="en"/>
              <a:t>Mechanic</a:t>
            </a:r>
            <a:endParaRPr i="1"/>
          </a:p>
          <a:p>
            <a:pPr indent="-317500" lvl="1" marL="914400" rtl="0" algn="l">
              <a:spcBef>
                <a:spcPts val="0"/>
              </a:spcBef>
              <a:spcAft>
                <a:spcPts val="0"/>
              </a:spcAft>
              <a:buSzPts val="1400"/>
              <a:buChar char="○"/>
            </a:pPr>
            <a:r>
              <a:rPr i="1" lang="en"/>
              <a:t>Teacher</a:t>
            </a:r>
            <a:endParaRPr i="1"/>
          </a:p>
          <a:p>
            <a:pPr indent="-317500" lvl="1" marL="914400" rtl="0" algn="l">
              <a:spcBef>
                <a:spcPts val="0"/>
              </a:spcBef>
              <a:spcAft>
                <a:spcPts val="0"/>
              </a:spcAft>
              <a:buSzPts val="1400"/>
              <a:buChar char="○"/>
            </a:pPr>
            <a:r>
              <a:rPr i="1" lang="en"/>
              <a:t>Secretary</a:t>
            </a:r>
            <a:endParaRPr i="1"/>
          </a:p>
          <a:p>
            <a:pPr indent="-317500" lvl="1" marL="914400" rtl="0" algn="l">
              <a:spcBef>
                <a:spcPts val="0"/>
              </a:spcBef>
              <a:spcAft>
                <a:spcPts val="0"/>
              </a:spcAft>
              <a:buSzPts val="1400"/>
              <a:buChar char="○"/>
            </a:pPr>
            <a:r>
              <a:rPr i="1" lang="en"/>
              <a:t>Hairdresser</a:t>
            </a:r>
            <a:endParaRPr i="1"/>
          </a:p>
          <a:p>
            <a:pPr indent="-317500" lvl="1" marL="914400" rtl="0" algn="l">
              <a:spcBef>
                <a:spcPts val="0"/>
              </a:spcBef>
              <a:spcAft>
                <a:spcPts val="0"/>
              </a:spcAft>
              <a:buSzPts val="1400"/>
              <a:buChar char="○"/>
            </a:pPr>
            <a:r>
              <a:rPr i="1" lang="en"/>
              <a:t>Cook</a:t>
            </a:r>
            <a:endParaRPr i="1"/>
          </a:p>
          <a:p>
            <a:pPr indent="-317500" lvl="1" marL="914400" rtl="0" algn="l">
              <a:spcBef>
                <a:spcPts val="0"/>
              </a:spcBef>
              <a:spcAft>
                <a:spcPts val="0"/>
              </a:spcAft>
              <a:buSzPts val="1400"/>
              <a:buChar char="○"/>
            </a:pPr>
            <a:r>
              <a:rPr i="1" lang="en"/>
              <a:t>Farmer</a:t>
            </a:r>
            <a:endParaRPr i="1"/>
          </a:p>
          <a:p>
            <a:pPr indent="-317500" lvl="1" marL="914400" rtl="0" algn="l">
              <a:spcBef>
                <a:spcPts val="0"/>
              </a:spcBef>
              <a:spcAft>
                <a:spcPts val="0"/>
              </a:spcAft>
              <a:buSzPts val="1400"/>
              <a:buChar char="○"/>
            </a:pPr>
            <a:r>
              <a:rPr i="1" lang="en"/>
              <a:t>Mailman</a:t>
            </a:r>
            <a:endParaRPr i="1"/>
          </a:p>
          <a:p>
            <a:pPr indent="-317500" lvl="1" marL="914400" rtl="0" algn="l">
              <a:spcBef>
                <a:spcPts val="0"/>
              </a:spcBef>
              <a:spcAft>
                <a:spcPts val="0"/>
              </a:spcAft>
              <a:buSzPts val="1400"/>
              <a:buChar char="○"/>
            </a:pPr>
            <a:r>
              <a:rPr i="1" lang="en"/>
              <a:t>Policeman</a:t>
            </a:r>
            <a:endParaRPr i="1"/>
          </a:p>
          <a:p>
            <a:pPr indent="-317500" lvl="1" marL="914400" rtl="0" algn="l">
              <a:spcBef>
                <a:spcPts val="0"/>
              </a:spcBef>
              <a:spcAft>
                <a:spcPts val="0"/>
              </a:spcAft>
              <a:buSzPts val="1400"/>
              <a:buChar char="○"/>
            </a:pPr>
            <a:r>
              <a:rPr i="1" lang="en"/>
              <a:t>[...] And whatever other occupations you can imagine</a:t>
            </a:r>
            <a:endParaRPr i="1"/>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36"/>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Alternatives: Position Generators</a:t>
            </a:r>
            <a:endParaRPr/>
          </a:p>
        </p:txBody>
      </p:sp>
      <p:pic>
        <p:nvPicPr>
          <p:cNvPr id="220" name="Google Shape;220;p36"/>
          <p:cNvPicPr preferRelativeResize="0"/>
          <p:nvPr/>
        </p:nvPicPr>
        <p:blipFill>
          <a:blip r:embed="rId3">
            <a:alphaModFix/>
          </a:blip>
          <a:stretch>
            <a:fillRect/>
          </a:stretch>
        </p:blipFill>
        <p:spPr>
          <a:xfrm>
            <a:off x="152400" y="1299625"/>
            <a:ext cx="8839199" cy="3346823"/>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37"/>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Alternatives: Position Generators</a:t>
            </a:r>
            <a:endParaRPr/>
          </a:p>
        </p:txBody>
      </p:sp>
      <p:sp>
        <p:nvSpPr>
          <p:cNvPr id="226" name="Google Shape;226;p37"/>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Advantages:</a:t>
            </a:r>
            <a:endParaRPr/>
          </a:p>
          <a:p>
            <a:pPr indent="-317500" lvl="1" marL="914400" rtl="0" algn="l">
              <a:spcBef>
                <a:spcPts val="0"/>
              </a:spcBef>
              <a:spcAft>
                <a:spcPts val="0"/>
              </a:spcAft>
              <a:buSzPts val="1400"/>
              <a:buChar char="○"/>
            </a:pPr>
            <a:r>
              <a:rPr lang="en"/>
              <a:t>High criterion and face validity </a:t>
            </a:r>
            <a:endParaRPr/>
          </a:p>
          <a:p>
            <a:pPr indent="-317500" lvl="1" marL="914400" rtl="0" algn="l">
              <a:spcBef>
                <a:spcPts val="0"/>
              </a:spcBef>
              <a:spcAft>
                <a:spcPts val="0"/>
              </a:spcAft>
              <a:buSzPts val="1400"/>
              <a:buChar char="○"/>
            </a:pPr>
            <a:r>
              <a:rPr lang="en"/>
              <a:t>Quick and dirty (not lengthy)</a:t>
            </a:r>
            <a:endParaRPr/>
          </a:p>
          <a:p>
            <a:pPr indent="-317500" lvl="1" marL="914400" rtl="0" algn="l">
              <a:spcBef>
                <a:spcPts val="0"/>
              </a:spcBef>
              <a:spcAft>
                <a:spcPts val="0"/>
              </a:spcAft>
              <a:buSzPts val="1400"/>
              <a:buChar char="○"/>
            </a:pPr>
            <a:r>
              <a:rPr lang="en"/>
              <a:t>Occupational labels are easily understood by informants</a:t>
            </a:r>
            <a:endParaRPr/>
          </a:p>
          <a:p>
            <a:pPr indent="-317500" lvl="1" marL="914400" rtl="0" algn="l">
              <a:spcBef>
                <a:spcPts val="0"/>
              </a:spcBef>
              <a:spcAft>
                <a:spcPts val="0"/>
              </a:spcAft>
              <a:buSzPts val="1400"/>
              <a:buChar char="○"/>
            </a:pPr>
            <a:r>
              <a:rPr lang="en"/>
              <a:t>Easily standardized (occupational census codes)</a:t>
            </a:r>
            <a:endParaRPr/>
          </a:p>
          <a:p>
            <a:pPr indent="-317500" lvl="1" marL="914400" rtl="0" algn="l">
              <a:spcBef>
                <a:spcPts val="0"/>
              </a:spcBef>
              <a:spcAft>
                <a:spcPts val="0"/>
              </a:spcAft>
              <a:buSzPts val="1400"/>
              <a:buChar char="○"/>
            </a:pPr>
            <a:r>
              <a:rPr lang="en"/>
              <a:t>Captures lots of information with minimal strain</a:t>
            </a:r>
            <a:endParaRPr/>
          </a:p>
          <a:p>
            <a:pPr indent="-317500" lvl="1" marL="914400" rtl="0" algn="l">
              <a:spcBef>
                <a:spcPts val="0"/>
              </a:spcBef>
              <a:spcAft>
                <a:spcPts val="0"/>
              </a:spcAft>
              <a:buSzPts val="1400"/>
              <a:buChar char="○"/>
            </a:pPr>
            <a:r>
              <a:rPr lang="en"/>
              <a:t>Ideal for studies of social capital and access to resources </a:t>
            </a:r>
            <a:endParaRPr/>
          </a:p>
          <a:p>
            <a:pPr indent="-317500" lvl="1" marL="914400" rtl="0" algn="l">
              <a:spcBef>
                <a:spcPts val="0"/>
              </a:spcBef>
              <a:spcAft>
                <a:spcPts val="0"/>
              </a:spcAft>
              <a:buSzPts val="1400"/>
              <a:buChar char="○"/>
            </a:pPr>
            <a:r>
              <a:rPr lang="en"/>
              <a:t>Good measure of an individual's relational position in the occupational structure</a:t>
            </a:r>
            <a:endParaRPr/>
          </a:p>
          <a:p>
            <a:pPr indent="-317500" lvl="1" marL="914400" rtl="0" algn="l">
              <a:spcBef>
                <a:spcPts val="0"/>
              </a:spcBef>
              <a:spcAft>
                <a:spcPts val="0"/>
              </a:spcAft>
              <a:buSzPts val="1400"/>
              <a:buChar char="○"/>
            </a:pPr>
            <a:r>
              <a:rPr lang="en"/>
              <a:t>Can be followed by a “position interpreter” to collect data on tie linking ego to position</a:t>
            </a:r>
            <a:endParaRPr/>
          </a:p>
          <a:p>
            <a:pPr indent="-317500" lvl="1" marL="914400" rtl="0" algn="l">
              <a:spcBef>
                <a:spcPts val="0"/>
              </a:spcBef>
              <a:spcAft>
                <a:spcPts val="0"/>
              </a:spcAft>
              <a:buSzPts val="1400"/>
              <a:buChar char="○"/>
            </a:pPr>
            <a:r>
              <a:rPr lang="en"/>
              <a:t>Can be augmented by linking to objective information about each social position (e.g. average income, education, occupational prestige, etc.)</a:t>
            </a:r>
            <a:endParaRPr/>
          </a:p>
          <a:p>
            <a:pPr indent="-317500" lvl="1" marL="914400" rtl="0" algn="l">
              <a:spcBef>
                <a:spcPts val="0"/>
              </a:spcBef>
              <a:spcAft>
                <a:spcPts val="0"/>
              </a:spcAft>
              <a:buSzPts val="1400"/>
              <a:buChar char="○"/>
            </a:pPr>
            <a:r>
              <a:rPr lang="en"/>
              <a:t>Simple, intuitive metrics (e.g. number of positions accessed, prestige range, top rank, etc.)</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38"/>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Alternatives: Resource Generators</a:t>
            </a:r>
            <a:endParaRPr/>
          </a:p>
        </p:txBody>
      </p:sp>
      <p:sp>
        <p:nvSpPr>
          <p:cNvPr id="232" name="Google Shape;232;p38"/>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Clr>
                <a:schemeClr val="dk1"/>
              </a:buClr>
              <a:buSzPts val="1800"/>
              <a:buFont typeface="Open Sans"/>
              <a:buChar char="●"/>
            </a:pPr>
            <a:r>
              <a:rPr lang="en"/>
              <a:t>“Do you know anyone who…”</a:t>
            </a:r>
            <a:endParaRPr/>
          </a:p>
          <a:p>
            <a:pPr indent="-317500" lvl="1" marL="914400" rtl="0" algn="l">
              <a:spcBef>
                <a:spcPts val="0"/>
              </a:spcBef>
              <a:spcAft>
                <a:spcPts val="0"/>
              </a:spcAft>
              <a:buSzPts val="1400"/>
              <a:buChar char="○"/>
            </a:pPr>
            <a:r>
              <a:rPr i="1" lang="en"/>
              <a:t>Can repair a car, bike, etc. </a:t>
            </a:r>
            <a:endParaRPr i="1"/>
          </a:p>
          <a:p>
            <a:pPr indent="-317500" lvl="1" marL="914400" rtl="0" algn="l">
              <a:spcBef>
                <a:spcPts val="0"/>
              </a:spcBef>
              <a:spcAft>
                <a:spcPts val="0"/>
              </a:spcAft>
              <a:buSzPts val="1400"/>
              <a:buChar char="○"/>
            </a:pPr>
            <a:r>
              <a:rPr i="1" lang="en"/>
              <a:t>Is handy repairing household equipment </a:t>
            </a:r>
            <a:endParaRPr i="1"/>
          </a:p>
          <a:p>
            <a:pPr indent="-317500" lvl="1" marL="914400" rtl="0" algn="l">
              <a:spcBef>
                <a:spcPts val="0"/>
              </a:spcBef>
              <a:spcAft>
                <a:spcPts val="0"/>
              </a:spcAft>
              <a:buSzPts val="1400"/>
              <a:buChar char="○"/>
            </a:pPr>
            <a:r>
              <a:rPr i="1" lang="en"/>
              <a:t>Can speak and write a foreign language </a:t>
            </a:r>
            <a:endParaRPr i="1"/>
          </a:p>
          <a:p>
            <a:pPr indent="-317500" lvl="1" marL="914400" rtl="0" algn="l">
              <a:spcBef>
                <a:spcPts val="0"/>
              </a:spcBef>
              <a:spcAft>
                <a:spcPts val="0"/>
              </a:spcAft>
              <a:buSzPts val="1400"/>
              <a:buChar char="○"/>
            </a:pPr>
            <a:r>
              <a:rPr i="1" lang="en"/>
              <a:t>Can work with a personal computer </a:t>
            </a:r>
            <a:endParaRPr i="1"/>
          </a:p>
          <a:p>
            <a:pPr indent="-317500" lvl="1" marL="914400" rtl="0" algn="l">
              <a:spcBef>
                <a:spcPts val="0"/>
              </a:spcBef>
              <a:spcAft>
                <a:spcPts val="0"/>
              </a:spcAft>
              <a:buSzPts val="1400"/>
              <a:buChar char="○"/>
            </a:pPr>
            <a:r>
              <a:rPr i="1" lang="en"/>
              <a:t>Has good contacts with a newspaper, radio or TV station</a:t>
            </a:r>
            <a:endParaRPr i="1"/>
          </a:p>
          <a:p>
            <a:pPr indent="-317500" lvl="1" marL="914400" rtl="0" algn="l">
              <a:spcBef>
                <a:spcPts val="0"/>
              </a:spcBef>
              <a:spcAft>
                <a:spcPts val="0"/>
              </a:spcAft>
              <a:buSzPts val="1400"/>
              <a:buChar char="○"/>
            </a:pPr>
            <a:r>
              <a:rPr i="1" lang="en"/>
              <a:t>Has knowledge about financial matters (taxes, subsidies)</a:t>
            </a:r>
            <a:endParaRPr i="1"/>
          </a:p>
          <a:p>
            <a:pPr indent="-317500" lvl="1" marL="914400" rtl="0" algn="l">
              <a:spcBef>
                <a:spcPts val="0"/>
              </a:spcBef>
              <a:spcAft>
                <a:spcPts val="0"/>
              </a:spcAft>
              <a:buSzPts val="1400"/>
              <a:buChar char="○"/>
            </a:pPr>
            <a:r>
              <a:rPr i="1" lang="en"/>
              <a:t>Can give advice concerning a conflict at work</a:t>
            </a:r>
            <a:endParaRPr i="1"/>
          </a:p>
          <a:p>
            <a:pPr indent="-317500" lvl="1" marL="914400" rtl="0" algn="l">
              <a:spcBef>
                <a:spcPts val="0"/>
              </a:spcBef>
              <a:spcAft>
                <a:spcPts val="0"/>
              </a:spcAft>
              <a:buSzPts val="1400"/>
              <a:buChar char="○"/>
            </a:pPr>
            <a:r>
              <a:rPr i="1" lang="en"/>
              <a:t>Can help when moving house (packing, lifting)</a:t>
            </a:r>
            <a:endParaRPr i="1"/>
          </a:p>
          <a:p>
            <a:pPr indent="-317500" lvl="1" marL="914400" rtl="0" algn="l">
              <a:spcBef>
                <a:spcPts val="0"/>
              </a:spcBef>
              <a:spcAft>
                <a:spcPts val="0"/>
              </a:spcAft>
              <a:buSzPts val="1400"/>
              <a:buChar char="○"/>
            </a:pPr>
            <a:r>
              <a:rPr i="1" lang="en"/>
              <a:t>Can help with small jobs around the house (carpentering, painting)</a:t>
            </a:r>
            <a:endParaRPr i="1"/>
          </a:p>
          <a:p>
            <a:pPr indent="-317500" lvl="1" marL="914400" rtl="0" algn="l">
              <a:spcBef>
                <a:spcPts val="0"/>
              </a:spcBef>
              <a:spcAft>
                <a:spcPts val="0"/>
              </a:spcAft>
              <a:buSzPts val="1400"/>
              <a:buChar char="○"/>
            </a:pPr>
            <a:r>
              <a:rPr i="1" lang="en"/>
              <a:t>[...] And whatever else you can imagine</a:t>
            </a:r>
            <a:endParaRPr i="1"/>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39"/>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Alternatives: Resource Generators</a:t>
            </a:r>
            <a:endParaRPr/>
          </a:p>
        </p:txBody>
      </p:sp>
      <p:pic>
        <p:nvPicPr>
          <p:cNvPr id="238" name="Google Shape;238;p39"/>
          <p:cNvPicPr preferRelativeResize="0"/>
          <p:nvPr/>
        </p:nvPicPr>
        <p:blipFill>
          <a:blip r:embed="rId3">
            <a:alphaModFix/>
          </a:blip>
          <a:stretch>
            <a:fillRect/>
          </a:stretch>
        </p:blipFill>
        <p:spPr>
          <a:xfrm>
            <a:off x="1216413" y="1147225"/>
            <a:ext cx="6711179" cy="369147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40"/>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Alternatives: Resource Generators</a:t>
            </a:r>
            <a:endParaRPr/>
          </a:p>
        </p:txBody>
      </p:sp>
      <p:sp>
        <p:nvSpPr>
          <p:cNvPr id="244" name="Google Shape;244;p40"/>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Advantages:</a:t>
            </a:r>
            <a:endParaRPr/>
          </a:p>
          <a:p>
            <a:pPr indent="-317500" lvl="1" marL="914400" rtl="0" algn="l">
              <a:spcBef>
                <a:spcPts val="0"/>
              </a:spcBef>
              <a:spcAft>
                <a:spcPts val="0"/>
              </a:spcAft>
              <a:buSzPts val="1400"/>
              <a:buChar char="○"/>
            </a:pPr>
            <a:r>
              <a:rPr lang="en"/>
              <a:t>Combine the pragmatic virtues of the position generator with the specificity and breadth of coverage of the name generator.</a:t>
            </a:r>
            <a:endParaRPr/>
          </a:p>
          <a:p>
            <a:pPr indent="-317500" lvl="1" marL="914400" rtl="0" algn="l">
              <a:spcBef>
                <a:spcPts val="0"/>
              </a:spcBef>
              <a:spcAft>
                <a:spcPts val="0"/>
              </a:spcAft>
              <a:buSzPts val="1400"/>
              <a:buChar char="○"/>
            </a:pPr>
            <a:r>
              <a:rPr lang="en"/>
              <a:t>Can capture multiple dimensions of social support and connectivity at once</a:t>
            </a:r>
            <a:endParaRPr/>
          </a:p>
          <a:p>
            <a:pPr indent="-317500" lvl="1" marL="914400" rtl="0" algn="l">
              <a:spcBef>
                <a:spcPts val="0"/>
              </a:spcBef>
              <a:spcAft>
                <a:spcPts val="0"/>
              </a:spcAft>
              <a:buSzPts val="1400"/>
              <a:buChar char="○"/>
            </a:pPr>
            <a:r>
              <a:rPr lang="en"/>
              <a:t>Provides a way to potentially “standardize” measures of social capital in a population</a:t>
            </a:r>
            <a:endParaRPr/>
          </a:p>
          <a:p>
            <a:pPr indent="-317500" lvl="1" marL="914400" rtl="0" algn="l">
              <a:spcBef>
                <a:spcPts val="0"/>
              </a:spcBef>
              <a:spcAft>
                <a:spcPts val="0"/>
              </a:spcAft>
              <a:buSzPts val="1400"/>
              <a:buChar char="○"/>
            </a:pPr>
            <a:r>
              <a:rPr lang="en"/>
              <a:t>Covers several domains of life</a:t>
            </a:r>
            <a:endParaRPr/>
          </a:p>
          <a:p>
            <a:pPr indent="-317500" lvl="1" marL="914400" rtl="0" algn="l">
              <a:spcBef>
                <a:spcPts val="0"/>
              </a:spcBef>
              <a:spcAft>
                <a:spcPts val="0"/>
              </a:spcAft>
              <a:buSzPts val="1400"/>
              <a:buChar char="○"/>
            </a:pPr>
            <a:r>
              <a:rPr lang="en"/>
              <a:t>Simple, intuitive metrics (e.g. number of resources accessed, popularity of certain resources, range of resources, etc.)</a:t>
            </a:r>
            <a:endParaRPr/>
          </a:p>
          <a:p>
            <a:pPr indent="-317500" lvl="1" marL="914400" rtl="0" algn="l">
              <a:spcBef>
                <a:spcPts val="0"/>
              </a:spcBef>
              <a:spcAft>
                <a:spcPts val="0"/>
              </a:spcAft>
              <a:buSzPts val="1400"/>
              <a:buChar char="○"/>
            </a:pPr>
            <a:r>
              <a:rPr lang="en"/>
              <a:t>Capable of empirically linking resources to role-relations</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41"/>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Alternatives: Visual network scales</a:t>
            </a:r>
            <a:endParaRPr/>
          </a:p>
        </p:txBody>
      </p:sp>
      <p:sp>
        <p:nvSpPr>
          <p:cNvPr id="250" name="Google Shape;250;p41"/>
          <p:cNvSpPr txBox="1"/>
          <p:nvPr>
            <p:ph idx="1" type="body"/>
          </p:nvPr>
        </p:nvSpPr>
        <p:spPr>
          <a:xfrm>
            <a:off x="311700" y="1225225"/>
            <a:ext cx="44652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We may be interested in the ways individuals </a:t>
            </a:r>
            <a:r>
              <a:rPr b="1" lang="en"/>
              <a:t>perceive </a:t>
            </a:r>
            <a:r>
              <a:rPr lang="en"/>
              <a:t>their position in a social network</a:t>
            </a:r>
            <a:endParaRPr/>
          </a:p>
          <a:p>
            <a:pPr indent="-317500" lvl="1" marL="914400" rtl="0" algn="l">
              <a:spcBef>
                <a:spcPts val="0"/>
              </a:spcBef>
              <a:spcAft>
                <a:spcPts val="0"/>
              </a:spcAft>
              <a:buSzPts val="1400"/>
              <a:buChar char="○"/>
            </a:pPr>
            <a:r>
              <a:rPr b="1" lang="en"/>
              <a:t>Visual network scales</a:t>
            </a:r>
            <a:r>
              <a:rPr lang="en"/>
              <a:t> have been proposed as a viable method for this purpose</a:t>
            </a:r>
            <a:endParaRPr/>
          </a:p>
          <a:p>
            <a:pPr indent="-317500" lvl="1" marL="914400" rtl="0" algn="l">
              <a:spcBef>
                <a:spcPts val="0"/>
              </a:spcBef>
              <a:spcAft>
                <a:spcPts val="0"/>
              </a:spcAft>
              <a:buSzPts val="1400"/>
              <a:buChar char="○"/>
            </a:pPr>
            <a:r>
              <a:rPr lang="en"/>
              <a:t>The idea is to:</a:t>
            </a:r>
            <a:endParaRPr/>
          </a:p>
          <a:p>
            <a:pPr indent="-317500" lvl="2" marL="1371600" rtl="0" algn="l">
              <a:spcBef>
                <a:spcPts val="0"/>
              </a:spcBef>
              <a:spcAft>
                <a:spcPts val="0"/>
              </a:spcAft>
              <a:buSzPts val="1400"/>
              <a:buChar char="■"/>
            </a:pPr>
            <a:r>
              <a:rPr lang="en"/>
              <a:t>Present people with </a:t>
            </a:r>
            <a:r>
              <a:rPr b="1" lang="en"/>
              <a:t>idealized pictures</a:t>
            </a:r>
            <a:r>
              <a:rPr lang="en"/>
              <a:t> of certain network scenarios</a:t>
            </a:r>
            <a:endParaRPr/>
          </a:p>
          <a:p>
            <a:pPr indent="-317500" lvl="2" marL="1371600" rtl="0" algn="l">
              <a:spcBef>
                <a:spcPts val="0"/>
              </a:spcBef>
              <a:spcAft>
                <a:spcPts val="0"/>
              </a:spcAft>
              <a:buSzPts val="1400"/>
              <a:buChar char="■"/>
            </a:pPr>
            <a:r>
              <a:rPr lang="en"/>
              <a:t>Ask them to rate </a:t>
            </a:r>
            <a:r>
              <a:rPr b="1" lang="en"/>
              <a:t>how closely</a:t>
            </a:r>
            <a:r>
              <a:rPr lang="en"/>
              <a:t> their network resembles this scenario</a:t>
            </a:r>
            <a:endParaRPr/>
          </a:p>
        </p:txBody>
      </p:sp>
      <p:pic>
        <p:nvPicPr>
          <p:cNvPr id="251" name="Google Shape;251;p41"/>
          <p:cNvPicPr preferRelativeResize="0"/>
          <p:nvPr/>
        </p:nvPicPr>
        <p:blipFill>
          <a:blip r:embed="rId3">
            <a:alphaModFix/>
          </a:blip>
          <a:stretch>
            <a:fillRect/>
          </a:stretch>
        </p:blipFill>
        <p:spPr>
          <a:xfrm>
            <a:off x="4776900" y="1752100"/>
            <a:ext cx="4062300" cy="230025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42"/>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Alternatives: Visual network scales</a:t>
            </a:r>
            <a:endParaRPr/>
          </a:p>
        </p:txBody>
      </p:sp>
      <p:sp>
        <p:nvSpPr>
          <p:cNvPr id="257" name="Google Shape;257;p42"/>
          <p:cNvSpPr txBox="1"/>
          <p:nvPr>
            <p:ph idx="1" type="body"/>
          </p:nvPr>
        </p:nvSpPr>
        <p:spPr>
          <a:xfrm>
            <a:off x="311700" y="1225225"/>
            <a:ext cx="4465200" cy="3354000"/>
          </a:xfrm>
          <a:prstGeom prst="rect">
            <a:avLst/>
          </a:prstGeom>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Clr>
                <a:schemeClr val="dk1"/>
              </a:buClr>
              <a:buSzPts val="1800"/>
              <a:buFont typeface="Open Sans"/>
              <a:buChar char="●"/>
            </a:pPr>
            <a:r>
              <a:rPr lang="en"/>
              <a:t>For instance, we may be interested  in whether people think they live in </a:t>
            </a:r>
            <a:r>
              <a:rPr b="1" lang="en"/>
              <a:t>open</a:t>
            </a:r>
            <a:r>
              <a:rPr lang="en"/>
              <a:t> versus </a:t>
            </a:r>
            <a:r>
              <a:rPr b="1" lang="en"/>
              <a:t>clustered</a:t>
            </a:r>
            <a:r>
              <a:rPr lang="en"/>
              <a:t> worlds:</a:t>
            </a:r>
            <a:endParaRPr/>
          </a:p>
          <a:p>
            <a:pPr indent="-317500" lvl="1" marL="914400" marR="0" rtl="0" algn="l">
              <a:lnSpc>
                <a:spcPct val="115000"/>
              </a:lnSpc>
              <a:spcBef>
                <a:spcPts val="0"/>
              </a:spcBef>
              <a:spcAft>
                <a:spcPts val="0"/>
              </a:spcAft>
              <a:buSzPts val="1400"/>
              <a:buChar char="○"/>
            </a:pPr>
            <a:r>
              <a:rPr i="1" lang="en"/>
              <a:t>This question focuses on your perceptions of the degree of interconnectedness among your close friends at Notre Dame. In your opinion, which of the network diagrams below best approximates the degree of interconnectedness in your personal network of close friendships? Please make your selection by choosing one of the pictures.</a:t>
            </a:r>
            <a:endParaRPr i="1"/>
          </a:p>
        </p:txBody>
      </p:sp>
      <p:pic>
        <p:nvPicPr>
          <p:cNvPr id="258" name="Google Shape;258;p42"/>
          <p:cNvPicPr preferRelativeResize="0"/>
          <p:nvPr/>
        </p:nvPicPr>
        <p:blipFill>
          <a:blip r:embed="rId3">
            <a:alphaModFix/>
          </a:blip>
          <a:stretch>
            <a:fillRect/>
          </a:stretch>
        </p:blipFill>
        <p:spPr>
          <a:xfrm>
            <a:off x="4776900" y="1721063"/>
            <a:ext cx="4062301" cy="2362337"/>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43"/>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Alternatives: Visual network scales</a:t>
            </a:r>
            <a:endParaRPr/>
          </a:p>
        </p:txBody>
      </p:sp>
      <p:sp>
        <p:nvSpPr>
          <p:cNvPr id="264" name="Google Shape;264;p43"/>
          <p:cNvSpPr txBox="1"/>
          <p:nvPr>
            <p:ph idx="1" type="body"/>
          </p:nvPr>
        </p:nvSpPr>
        <p:spPr>
          <a:xfrm>
            <a:off x="311700" y="1225225"/>
            <a:ext cx="5150700" cy="3354000"/>
          </a:xfrm>
          <a:prstGeom prst="rect">
            <a:avLst/>
          </a:prstGeom>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Clr>
                <a:schemeClr val="dk1"/>
              </a:buClr>
              <a:buSzPts val="1800"/>
              <a:buFont typeface="Open Sans"/>
              <a:buChar char="●"/>
            </a:pPr>
            <a:r>
              <a:rPr lang="en"/>
              <a:t>For instance, we may be interested  in whether people think they are </a:t>
            </a:r>
            <a:r>
              <a:rPr b="1" lang="en"/>
              <a:t>bridges</a:t>
            </a:r>
            <a:r>
              <a:rPr b="1" lang="en"/>
              <a:t> </a:t>
            </a:r>
            <a:r>
              <a:rPr lang="en"/>
              <a:t>between different groups:</a:t>
            </a:r>
            <a:endParaRPr/>
          </a:p>
          <a:p>
            <a:pPr indent="-317500" lvl="1" marL="914400" marR="0" rtl="0" algn="l">
              <a:lnSpc>
                <a:spcPct val="115000"/>
              </a:lnSpc>
              <a:spcBef>
                <a:spcPts val="0"/>
              </a:spcBef>
              <a:spcAft>
                <a:spcPts val="0"/>
              </a:spcAft>
              <a:buSzPts val="1400"/>
              <a:buChar char="○"/>
            </a:pPr>
            <a:r>
              <a:rPr i="1" lang="en"/>
              <a:t> In the diagram below, there are two groups of people. The large circle that connects the two groups/cliques can be thought of as a bridge. Using the scale below, please rate the extent to which you think you occupy a bridging position in your personal network of close friendships at Notre Dame  i.e., the extent to which, like the "you circle," you are close friends with groups that otherwise lack close friendship relations with each other.</a:t>
            </a:r>
            <a:endParaRPr i="1"/>
          </a:p>
        </p:txBody>
      </p:sp>
      <p:pic>
        <p:nvPicPr>
          <p:cNvPr id="265" name="Google Shape;265;p43"/>
          <p:cNvPicPr preferRelativeResize="0"/>
          <p:nvPr/>
        </p:nvPicPr>
        <p:blipFill>
          <a:blip r:embed="rId3">
            <a:alphaModFix/>
          </a:blip>
          <a:stretch>
            <a:fillRect/>
          </a:stretch>
        </p:blipFill>
        <p:spPr>
          <a:xfrm>
            <a:off x="5462400" y="1430927"/>
            <a:ext cx="3439875" cy="294260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44"/>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Alternatives: Visual network scales</a:t>
            </a:r>
            <a:endParaRPr/>
          </a:p>
        </p:txBody>
      </p:sp>
      <p:sp>
        <p:nvSpPr>
          <p:cNvPr id="271" name="Google Shape;271;p44"/>
          <p:cNvSpPr txBox="1"/>
          <p:nvPr>
            <p:ph idx="1" type="body"/>
          </p:nvPr>
        </p:nvSpPr>
        <p:spPr>
          <a:xfrm>
            <a:off x="311700" y="1225225"/>
            <a:ext cx="4242000" cy="3354000"/>
          </a:xfrm>
          <a:prstGeom prst="rect">
            <a:avLst/>
          </a:prstGeom>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Clr>
                <a:schemeClr val="dk1"/>
              </a:buClr>
              <a:buSzPts val="1800"/>
              <a:buFont typeface="Open Sans"/>
              <a:buChar char="●"/>
            </a:pPr>
            <a:r>
              <a:rPr lang="en"/>
              <a:t>We may also be interested in perceptions of </a:t>
            </a:r>
            <a:r>
              <a:rPr b="1" lang="en"/>
              <a:t>social network position change</a:t>
            </a:r>
            <a:r>
              <a:rPr lang="en"/>
              <a:t> over time</a:t>
            </a:r>
            <a:r>
              <a:rPr lang="en"/>
              <a:t>:</a:t>
            </a:r>
            <a:endParaRPr/>
          </a:p>
          <a:p>
            <a:pPr indent="-317500" lvl="1" marL="914400" marR="0" rtl="0" algn="l">
              <a:lnSpc>
                <a:spcPct val="115000"/>
              </a:lnSpc>
              <a:spcBef>
                <a:spcPts val="0"/>
              </a:spcBef>
              <a:spcAft>
                <a:spcPts val="0"/>
              </a:spcAft>
              <a:buSzPts val="1400"/>
              <a:buChar char="○"/>
            </a:pPr>
            <a:r>
              <a:rPr i="1" lang="en"/>
              <a:t>This question focuses on your perceptions of the CHANGE in the number of bridging positions you occupy among your close friends at Notre Dame. In the diagram below, there are two groups/cliques of people. The large circle that connects the two groups/cliques can be thought of as a bridge.</a:t>
            </a:r>
            <a:endParaRPr i="1"/>
          </a:p>
        </p:txBody>
      </p:sp>
      <p:pic>
        <p:nvPicPr>
          <p:cNvPr id="272" name="Google Shape;272;p44"/>
          <p:cNvPicPr preferRelativeResize="0"/>
          <p:nvPr/>
        </p:nvPicPr>
        <p:blipFill>
          <a:blip r:embed="rId3">
            <a:alphaModFix/>
          </a:blip>
          <a:stretch>
            <a:fillRect/>
          </a:stretch>
        </p:blipFill>
        <p:spPr>
          <a:xfrm>
            <a:off x="4553700" y="1651475"/>
            <a:ext cx="4285500" cy="2501509"/>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45"/>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Alternatives: Visual network scales</a:t>
            </a:r>
            <a:endParaRPr/>
          </a:p>
        </p:txBody>
      </p:sp>
      <p:sp>
        <p:nvSpPr>
          <p:cNvPr id="278" name="Google Shape;278;p45"/>
          <p:cNvSpPr txBox="1"/>
          <p:nvPr>
            <p:ph idx="1" type="body"/>
          </p:nvPr>
        </p:nvSpPr>
        <p:spPr>
          <a:xfrm>
            <a:off x="311700" y="1225225"/>
            <a:ext cx="4242000" cy="3354000"/>
          </a:xfrm>
          <a:prstGeom prst="rect">
            <a:avLst/>
          </a:prstGeom>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Clr>
                <a:schemeClr val="dk1"/>
              </a:buClr>
              <a:buSzPts val="1800"/>
              <a:buFont typeface="Open Sans"/>
              <a:buChar char="●"/>
            </a:pPr>
            <a:r>
              <a:rPr lang="en"/>
              <a:t>We may also be interested in perceptions of </a:t>
            </a:r>
            <a:r>
              <a:rPr b="1" lang="en"/>
              <a:t>social network position change</a:t>
            </a:r>
            <a:r>
              <a:rPr lang="en"/>
              <a:t> over time:</a:t>
            </a:r>
            <a:endParaRPr/>
          </a:p>
          <a:p>
            <a:pPr indent="-317500" lvl="1" marL="914400" marR="0" rtl="0" algn="l">
              <a:lnSpc>
                <a:spcPct val="115000"/>
              </a:lnSpc>
              <a:spcBef>
                <a:spcPts val="0"/>
              </a:spcBef>
              <a:spcAft>
                <a:spcPts val="0"/>
              </a:spcAft>
              <a:buSzPts val="1400"/>
              <a:buChar char="○"/>
            </a:pPr>
            <a:r>
              <a:rPr i="1" lang="en"/>
              <a:t>The network diagram on the left represents a person on the periphery of the network. This person has close friends who themselves are not connected to many others. The network diagram on the right represents a person in the center of the network. This person has close friends who themselves are connected to many others.</a:t>
            </a:r>
            <a:endParaRPr i="1"/>
          </a:p>
        </p:txBody>
      </p:sp>
      <p:pic>
        <p:nvPicPr>
          <p:cNvPr id="279" name="Google Shape;279;p45"/>
          <p:cNvPicPr preferRelativeResize="0"/>
          <p:nvPr/>
        </p:nvPicPr>
        <p:blipFill>
          <a:blip r:embed="rId3">
            <a:alphaModFix/>
          </a:blip>
          <a:stretch>
            <a:fillRect/>
          </a:stretch>
        </p:blipFill>
        <p:spPr>
          <a:xfrm>
            <a:off x="4553700" y="1758450"/>
            <a:ext cx="4285499" cy="2287558"/>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46"/>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Name interpreters: Measuring Tie Strength</a:t>
            </a:r>
            <a:endParaRPr/>
          </a:p>
        </p:txBody>
      </p:sp>
      <p:sp>
        <p:nvSpPr>
          <p:cNvPr id="285" name="Google Shape;285;p46"/>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Most important tie-level measure for ego-networks is tie-strength:</a:t>
            </a:r>
            <a:endParaRPr/>
          </a:p>
          <a:p>
            <a:pPr indent="-317500" lvl="1" marL="914400" rtl="0" algn="l">
              <a:spcBef>
                <a:spcPts val="0"/>
              </a:spcBef>
              <a:spcAft>
                <a:spcPts val="0"/>
              </a:spcAft>
              <a:buSzPts val="1400"/>
              <a:buChar char="○"/>
            </a:pPr>
            <a:r>
              <a:rPr lang="en"/>
              <a:t>“The strength of a tie is a (probably linear) combination of the </a:t>
            </a:r>
            <a:r>
              <a:rPr b="1" lang="en"/>
              <a:t>amount of time</a:t>
            </a:r>
            <a:r>
              <a:rPr lang="en"/>
              <a:t>, the </a:t>
            </a:r>
            <a:r>
              <a:rPr b="1" lang="en"/>
              <a:t>emotional intensity</a:t>
            </a:r>
            <a:r>
              <a:rPr lang="en"/>
              <a:t>, the </a:t>
            </a:r>
            <a:r>
              <a:rPr b="1" lang="en"/>
              <a:t>intimacy</a:t>
            </a:r>
            <a:r>
              <a:rPr lang="en"/>
              <a:t> (mutual confiding), and the </a:t>
            </a:r>
            <a:r>
              <a:rPr b="1" lang="en"/>
              <a:t>reciprocal services </a:t>
            </a:r>
            <a:r>
              <a:rPr lang="en"/>
              <a:t>which characterize the tie” (Granovetter 1973, p. 1361).</a:t>
            </a:r>
            <a:endParaRPr/>
          </a:p>
          <a:p>
            <a:pPr indent="-317500" lvl="2" marL="1371600" rtl="0" algn="l">
              <a:spcBef>
                <a:spcPts val="0"/>
              </a:spcBef>
              <a:spcAft>
                <a:spcPts val="0"/>
              </a:spcAft>
              <a:buSzPts val="1400"/>
              <a:buChar char="■"/>
            </a:pPr>
            <a:r>
              <a:rPr lang="en"/>
              <a:t>Strong ties combine frequency, exchanges, and positive sentiments</a:t>
            </a:r>
            <a:endParaRPr/>
          </a:p>
          <a:p>
            <a:pPr indent="-342900" lvl="0" marL="457200" rtl="0" algn="l">
              <a:spcBef>
                <a:spcPts val="0"/>
              </a:spcBef>
              <a:spcAft>
                <a:spcPts val="0"/>
              </a:spcAft>
              <a:buSzPts val="1800"/>
              <a:buChar char="●"/>
            </a:pPr>
            <a:r>
              <a:rPr lang="en"/>
              <a:t>Note that most name-generators condition on or truncate the variance of strength in elicited ties</a:t>
            </a:r>
            <a:endParaRPr/>
          </a:p>
          <a:p>
            <a:pPr indent="-317500" lvl="1" marL="914400" rtl="0" algn="l">
              <a:spcBef>
                <a:spcPts val="0"/>
              </a:spcBef>
              <a:spcAft>
                <a:spcPts val="0"/>
              </a:spcAft>
              <a:buSzPts val="1400"/>
              <a:buChar char="○"/>
            </a:pPr>
            <a:r>
              <a:rPr lang="en"/>
              <a:t>Name generators are likely to elicit strong ties but not “weak ties”</a:t>
            </a:r>
            <a:endParaRPr/>
          </a:p>
          <a:p>
            <a:pPr indent="-317500" lvl="2" marL="1371600" rtl="0" algn="l">
              <a:spcBef>
                <a:spcPts val="0"/>
              </a:spcBef>
              <a:spcAft>
                <a:spcPts val="0"/>
              </a:spcAft>
              <a:buSzPts val="1400"/>
              <a:buChar char="■"/>
            </a:pPr>
            <a:r>
              <a:rPr lang="en"/>
              <a:t>You may get the most variance by conditioning on frequency and then creating additive scales combining emotional intensity, intimacy, and exchange support indicators</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47"/>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Measuring “social capital” in ego-networks</a:t>
            </a:r>
            <a:endParaRPr/>
          </a:p>
        </p:txBody>
      </p:sp>
      <p:pic>
        <p:nvPicPr>
          <p:cNvPr id="291" name="Google Shape;291;p47"/>
          <p:cNvPicPr preferRelativeResize="0"/>
          <p:nvPr/>
        </p:nvPicPr>
        <p:blipFill>
          <a:blip r:embed="rId3">
            <a:alphaModFix/>
          </a:blip>
          <a:stretch>
            <a:fillRect/>
          </a:stretch>
        </p:blipFill>
        <p:spPr>
          <a:xfrm>
            <a:off x="5158951" y="1451024"/>
            <a:ext cx="3190300" cy="2759200"/>
          </a:xfrm>
          <a:prstGeom prst="rect">
            <a:avLst/>
          </a:prstGeom>
          <a:noFill/>
          <a:ln>
            <a:noFill/>
          </a:ln>
        </p:spPr>
      </p:pic>
      <p:sp>
        <p:nvSpPr>
          <p:cNvPr id="292" name="Google Shape;292;p47"/>
          <p:cNvSpPr txBox="1"/>
          <p:nvPr>
            <p:ph idx="1" type="body"/>
          </p:nvPr>
        </p:nvSpPr>
        <p:spPr>
          <a:xfrm>
            <a:off x="311700" y="1225225"/>
            <a:ext cx="48027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Often we are interested in eliciting ego-networks to get a sense of how “well-connected” the person is</a:t>
            </a:r>
            <a:endParaRPr/>
          </a:p>
          <a:p>
            <a:pPr indent="-317500" lvl="1" marL="914400" rtl="0" algn="l">
              <a:spcBef>
                <a:spcPts val="0"/>
              </a:spcBef>
              <a:spcAft>
                <a:spcPts val="0"/>
              </a:spcAft>
              <a:buSzPts val="1400"/>
              <a:buChar char="○"/>
            </a:pPr>
            <a:r>
              <a:rPr lang="en"/>
              <a:t>One criterion for being well-connected is the extent to which a person can </a:t>
            </a:r>
            <a:r>
              <a:rPr i="1" lang="en"/>
              <a:t>potentially draw on resources embedded in relations</a:t>
            </a:r>
            <a:endParaRPr i="1"/>
          </a:p>
          <a:p>
            <a:pPr indent="-317500" lvl="2" marL="1371600" rtl="0" algn="l">
              <a:spcBef>
                <a:spcPts val="0"/>
              </a:spcBef>
              <a:spcAft>
                <a:spcPts val="0"/>
              </a:spcAft>
              <a:buSzPts val="1400"/>
              <a:buChar char="■"/>
            </a:pPr>
            <a:r>
              <a:rPr lang="en"/>
              <a:t>This is called “</a:t>
            </a:r>
            <a:r>
              <a:rPr b="1" lang="en"/>
              <a:t>social capital</a:t>
            </a:r>
            <a:r>
              <a:rPr lang="en"/>
              <a:t>”</a:t>
            </a:r>
            <a:endParaRPr/>
          </a:p>
          <a:p>
            <a:pPr indent="-317500" lvl="2" marL="1371600" rtl="0" algn="l">
              <a:spcBef>
                <a:spcPts val="0"/>
              </a:spcBef>
              <a:spcAft>
                <a:spcPts val="0"/>
              </a:spcAft>
              <a:buSzPts val="1400"/>
              <a:buChar char="■"/>
            </a:pPr>
            <a:r>
              <a:rPr lang="en"/>
              <a:t>Natural outgrowth of the exchange approach</a:t>
            </a:r>
            <a:endParaRPr/>
          </a:p>
          <a:p>
            <a:pPr indent="-317500" lvl="1" marL="914400" rtl="0" algn="l">
              <a:spcBef>
                <a:spcPts val="0"/>
              </a:spcBef>
              <a:spcAft>
                <a:spcPts val="0"/>
              </a:spcAft>
              <a:buSzPts val="1400"/>
              <a:buChar char="○"/>
            </a:pPr>
            <a:r>
              <a:rPr lang="en"/>
              <a:t>Invites a different measurement perspective</a:t>
            </a:r>
            <a:endParaRPr/>
          </a:p>
          <a:p>
            <a:pPr indent="0" lvl="0" marL="457200" rtl="0" algn="l">
              <a:spcBef>
                <a:spcPts val="1600"/>
              </a:spcBef>
              <a:spcAft>
                <a:spcPts val="1600"/>
              </a:spcAft>
              <a:buNone/>
            </a:pPr>
            <a:r>
              <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48"/>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Ego networks: Some propositions (Marsden 1987)</a:t>
            </a:r>
            <a:endParaRPr/>
          </a:p>
        </p:txBody>
      </p:sp>
      <p:sp>
        <p:nvSpPr>
          <p:cNvPr id="298" name="Google Shape;298;p48"/>
          <p:cNvSpPr txBox="1"/>
          <p:nvPr>
            <p:ph idx="1" type="body"/>
          </p:nvPr>
        </p:nvSpPr>
        <p:spPr>
          <a:xfrm>
            <a:off x="311700" y="1225225"/>
            <a:ext cx="4847400" cy="3354000"/>
          </a:xfrm>
          <a:prstGeom prst="rect">
            <a:avLst/>
          </a:prstGeom>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Clr>
                <a:schemeClr val="dk1"/>
              </a:buClr>
              <a:buSzPts val="1800"/>
              <a:buFont typeface="Open Sans"/>
              <a:buChar char="●"/>
            </a:pPr>
            <a:r>
              <a:rPr lang="en"/>
              <a:t>The larger the ego network:</a:t>
            </a:r>
            <a:endParaRPr/>
          </a:p>
          <a:p>
            <a:pPr indent="-317500" lvl="1" marL="914400" marR="0" rtl="0" algn="l">
              <a:lnSpc>
                <a:spcPct val="115000"/>
              </a:lnSpc>
              <a:spcBef>
                <a:spcPts val="0"/>
              </a:spcBef>
              <a:spcAft>
                <a:spcPts val="0"/>
              </a:spcAft>
              <a:buSzPts val="1400"/>
              <a:buChar char="○"/>
            </a:pPr>
            <a:r>
              <a:rPr lang="en"/>
              <a:t>The more diverse, less homophilous, more open</a:t>
            </a:r>
            <a:endParaRPr/>
          </a:p>
          <a:p>
            <a:pPr indent="-342900" lvl="0" marL="457200" marR="0" rtl="0" algn="l">
              <a:lnSpc>
                <a:spcPct val="115000"/>
              </a:lnSpc>
              <a:spcBef>
                <a:spcPts val="0"/>
              </a:spcBef>
              <a:spcAft>
                <a:spcPts val="0"/>
              </a:spcAft>
              <a:buSzPts val="1800"/>
              <a:buChar char="●"/>
            </a:pPr>
            <a:r>
              <a:rPr lang="en"/>
              <a:t>Smaller ego networks:</a:t>
            </a:r>
            <a:endParaRPr/>
          </a:p>
          <a:p>
            <a:pPr indent="-317500" lvl="1" marL="914400" marR="0" rtl="0" algn="l">
              <a:lnSpc>
                <a:spcPct val="115000"/>
              </a:lnSpc>
              <a:spcBef>
                <a:spcPts val="0"/>
              </a:spcBef>
              <a:spcAft>
                <a:spcPts val="0"/>
              </a:spcAft>
              <a:buSzPts val="1400"/>
              <a:buChar char="○"/>
            </a:pPr>
            <a:r>
              <a:rPr lang="en"/>
              <a:t>Tend to be more clustered , less diverse</a:t>
            </a:r>
            <a:endParaRPr/>
          </a:p>
          <a:p>
            <a:pPr indent="-342900" lvl="0" marL="457200" marR="0" rtl="0" algn="l">
              <a:lnSpc>
                <a:spcPct val="115000"/>
              </a:lnSpc>
              <a:spcBef>
                <a:spcPts val="0"/>
              </a:spcBef>
              <a:spcAft>
                <a:spcPts val="0"/>
              </a:spcAft>
              <a:buSzPts val="1800"/>
              <a:buChar char="●"/>
            </a:pPr>
            <a:r>
              <a:rPr lang="en"/>
              <a:t>The more diversity</a:t>
            </a:r>
            <a:endParaRPr/>
          </a:p>
          <a:p>
            <a:pPr indent="-317500" lvl="1" marL="914400" marR="0" rtl="0" algn="l">
              <a:lnSpc>
                <a:spcPct val="115000"/>
              </a:lnSpc>
              <a:spcBef>
                <a:spcPts val="0"/>
              </a:spcBef>
              <a:spcAft>
                <a:spcPts val="0"/>
              </a:spcAft>
              <a:buSzPts val="1400"/>
              <a:buChar char="○"/>
            </a:pPr>
            <a:r>
              <a:rPr lang="en"/>
              <a:t>Less homophily</a:t>
            </a:r>
            <a:endParaRPr/>
          </a:p>
          <a:p>
            <a:pPr indent="-342900" lvl="0" marL="457200" marR="0" rtl="0" algn="l">
              <a:lnSpc>
                <a:spcPct val="115000"/>
              </a:lnSpc>
              <a:spcBef>
                <a:spcPts val="0"/>
              </a:spcBef>
              <a:spcAft>
                <a:spcPts val="0"/>
              </a:spcAft>
              <a:buSzPts val="1800"/>
              <a:buChar char="●"/>
            </a:pPr>
            <a:r>
              <a:rPr lang="en"/>
              <a:t>The higher average tie strength</a:t>
            </a:r>
            <a:endParaRPr/>
          </a:p>
          <a:p>
            <a:pPr indent="-317500" lvl="1" marL="914400" marR="0" rtl="0" algn="l">
              <a:lnSpc>
                <a:spcPct val="115000"/>
              </a:lnSpc>
              <a:spcBef>
                <a:spcPts val="0"/>
              </a:spcBef>
              <a:spcAft>
                <a:spcPts val="0"/>
              </a:spcAft>
              <a:buSzPts val="1400"/>
              <a:buChar char="○"/>
            </a:pPr>
            <a:r>
              <a:rPr lang="en"/>
              <a:t>The more clustering, less diversity </a:t>
            </a:r>
            <a:endParaRPr/>
          </a:p>
          <a:p>
            <a:pPr indent="-342900" lvl="0" marL="457200" marR="0" rtl="0" algn="l">
              <a:lnSpc>
                <a:spcPct val="115000"/>
              </a:lnSpc>
              <a:spcBef>
                <a:spcPts val="0"/>
              </a:spcBef>
              <a:spcAft>
                <a:spcPts val="0"/>
              </a:spcAft>
              <a:buSzPts val="1800"/>
              <a:buChar char="●"/>
            </a:pPr>
            <a:r>
              <a:rPr lang="en"/>
              <a:t>The more proportion kin</a:t>
            </a:r>
            <a:endParaRPr/>
          </a:p>
          <a:p>
            <a:pPr indent="-317500" lvl="1" marL="914400" marR="0" rtl="0" algn="l">
              <a:lnSpc>
                <a:spcPct val="115000"/>
              </a:lnSpc>
              <a:spcBef>
                <a:spcPts val="0"/>
              </a:spcBef>
              <a:spcAft>
                <a:spcPts val="0"/>
              </a:spcAft>
              <a:buSzPts val="1400"/>
              <a:buChar char="○"/>
            </a:pPr>
            <a:r>
              <a:rPr lang="en"/>
              <a:t>The more homophily, less diversity, more clustering  </a:t>
            </a:r>
            <a:endParaRPr/>
          </a:p>
        </p:txBody>
      </p:sp>
      <p:pic>
        <p:nvPicPr>
          <p:cNvPr id="299" name="Google Shape;299;p48"/>
          <p:cNvPicPr preferRelativeResize="0"/>
          <p:nvPr/>
        </p:nvPicPr>
        <p:blipFill>
          <a:blip r:embed="rId3">
            <a:alphaModFix/>
          </a:blip>
          <a:stretch>
            <a:fillRect/>
          </a:stretch>
        </p:blipFill>
        <p:spPr>
          <a:xfrm>
            <a:off x="5158951" y="1451024"/>
            <a:ext cx="3190300" cy="27592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Luxe">
  <a:themeElements>
    <a:clrScheme name="Luxe">
      <a:dk1>
        <a:srgbClr val="000000"/>
      </a:dk1>
      <a:lt1>
        <a:srgbClr val="FFFFFF"/>
      </a:lt1>
      <a:dk2>
        <a:srgbClr val="B7B7B7"/>
      </a:dk2>
      <a:lt2>
        <a:srgbClr val="CCA677"/>
      </a:lt2>
      <a:accent1>
        <a:srgbClr val="5D4037"/>
      </a:accent1>
      <a:accent2>
        <a:srgbClr val="455A64"/>
      </a:accent2>
      <a:accent3>
        <a:srgbClr val="607D8B"/>
      </a:accent3>
      <a:accent4>
        <a:srgbClr val="78909C"/>
      </a:accent4>
      <a:accent5>
        <a:srgbClr val="57BB8A"/>
      </a:accent5>
      <a:accent6>
        <a:srgbClr val="DCE755"/>
      </a:accent6>
      <a:hlink>
        <a:srgbClr val="57BB8A"/>
      </a:hlink>
      <a:folHlink>
        <a:srgbClr val="57BB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