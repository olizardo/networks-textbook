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22.xml"/>
  <Override ContentType="application/vnd.openxmlformats-officedocument.presentationml.notesSlide+xml" PartName="/ppt/notesSlides/notesSlide311.xml"/>
  <Override ContentType="application/vnd.openxmlformats-officedocument.presentationml.notesSlide+xml" PartName="/ppt/notesSlides/notesSlide397.xml"/>
  <Override ContentType="application/vnd.openxmlformats-officedocument.presentationml.notesSlide+xml" PartName="/ppt/notesSlides/notesSlide125.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303.xml"/>
  <Override ContentType="application/vnd.openxmlformats-officedocument.presentationml.notesSlide+xml" PartName="/ppt/notesSlides/notesSlide389.xml"/>
  <Override ContentType="application/vnd.openxmlformats-officedocument.presentationml.notesSlide+xml" PartName="/ppt/notesSlides/notesSlide400.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390.xml"/>
  <Override ContentType="application/vnd.openxmlformats-officedocument.presentationml.notesSlide+xml" PartName="/ppt/notesSlides/notesSlide407.xml"/>
  <Override ContentType="application/vnd.openxmlformats-officedocument.presentationml.notesSlide+xml" PartName="/ppt/notesSlides/notesSlide196.xml"/>
  <Override ContentType="application/vnd.openxmlformats-officedocument.presentationml.notesSlide+xml" PartName="/ppt/notesSlides/notesSlide423.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141.xml"/>
  <Override ContentType="application/vnd.openxmlformats-officedocument.presentationml.notesSlide+xml" PartName="/ppt/notesSlides/notesSlide326.xml"/>
  <Override ContentType="application/vnd.openxmlformats-officedocument.presentationml.notesSlide+xml" PartName="/ppt/notesSlides/notesSlide110.xml"/>
  <Override ContentType="application/vnd.openxmlformats-officedocument.presentationml.notesSlide+xml" PartName="/ppt/notesSlides/notesSlide374.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358.xml"/>
  <Override ContentType="application/vnd.openxmlformats-officedocument.presentationml.notesSlide+xml" PartName="/ppt/notesSlides/notesSlide342.xml"/>
  <Override ContentType="application/vnd.openxmlformats-officedocument.presentationml.notesSlide+xml" PartName="/ppt/notesSlides/notesSlide270.xml"/>
  <Override ContentType="application/vnd.openxmlformats-officedocument.presentationml.notesSlide+xml" PartName="/ppt/notesSlides/notesSlide447.xml"/>
  <Override ContentType="application/vnd.openxmlformats-officedocument.presentationml.notesSlide+xml" PartName="/ppt/notesSlides/notesSlide439.xml"/>
  <Override ContentType="application/vnd.openxmlformats-officedocument.presentationml.notesSlide+xml" PartName="/ppt/notesSlides/notesSlide253.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01.xml"/>
  <Override ContentType="application/vnd.openxmlformats-officedocument.presentationml.notesSlide+xml" PartName="/ppt/notesSlides/notesSlide432.xml"/>
  <Override ContentType="application/vnd.openxmlformats-officedocument.presentationml.notesSlide+xml" PartName="/ppt/notesSlides/notesSlide95.xml"/>
  <Override ContentType="application/vnd.openxmlformats-officedocument.presentationml.notesSlide+xml" PartName="/ppt/notesSlides/notesSlide351.xml"/>
  <Override ContentType="application/vnd.openxmlformats-officedocument.presentationml.notesSlide+xml" PartName="/ppt/notesSlides/notesSlide319.xml"/>
  <Override ContentType="application/vnd.openxmlformats-officedocument.presentationml.notesSlide+xml" PartName="/ppt/notesSlides/notesSlide334.xml"/>
  <Override ContentType="application/vnd.openxmlformats-officedocument.presentationml.notesSlide+xml" PartName="/ppt/notesSlides/notesSlide349.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366.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415.xml"/>
  <Override ContentType="application/vnd.openxmlformats-officedocument.presentationml.notesSlide+xml" PartName="/ppt/notesSlides/notesSlide268.xml"/>
  <Override ContentType="application/vnd.openxmlformats-officedocument.presentationml.notesSlide+xml" PartName="/ppt/notesSlides/notesSlide302.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388.xml"/>
  <Override ContentType="application/vnd.openxmlformats-officedocument.presentationml.notesSlide+xml" PartName="/ppt/notesSlides/notesSlide223.xml"/>
  <Override ContentType="application/vnd.openxmlformats-officedocument.presentationml.notesSlide+xml" PartName="/ppt/notesSlides/notesSlide408.xml"/>
  <Override ContentType="application/vnd.openxmlformats-officedocument.presentationml.notesSlide+xml" PartName="/ppt/notesSlides/notesSlide1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134.xml"/>
  <Override ContentType="application/vnd.openxmlformats-officedocument.presentationml.notesSlide+xml" PartName="/ppt/notesSlides/notesSlide320.xml"/>
  <Override ContentType="application/vnd.openxmlformats-officedocument.presentationml.notesSlide+xml" PartName="/ppt/notesSlides/notesSlide246.xml"/>
  <Override ContentType="application/vnd.openxmlformats-officedocument.presentationml.notesSlide+xml" PartName="/ppt/notesSlides/notesSlide56.xml"/>
  <Override ContentType="application/vnd.openxmlformats-officedocument.presentationml.notesSlide+xml" PartName="/ppt/notesSlides/notesSlide195.xml"/>
  <Override ContentType="application/vnd.openxmlformats-officedocument.presentationml.notesSlide+xml" PartName="/ppt/notesSlides/notesSlide373.xml"/>
  <Override ContentType="application/vnd.openxmlformats-officedocument.presentationml.notesSlide+xml" PartName="/ppt/notesSlides/notesSlide391.xml"/>
  <Override ContentType="application/vnd.openxmlformats-officedocument.presentationml.notesSlide+xml" PartName="/ppt/notesSlides/notesSlide118.xml"/>
  <Override ContentType="application/vnd.openxmlformats-officedocument.presentationml.notesSlide+xml" PartName="/ppt/notesSlides/notesSlide140.xml"/>
  <Override ContentType="application/vnd.openxmlformats-officedocument.presentationml.notesSlide+xml" PartName="/ppt/notesSlides/notesSlide88.xml"/>
  <Override ContentType="application/vnd.openxmlformats-officedocument.presentationml.notesSlide+xml" PartName="/ppt/notesSlides/notesSlide357.xml"/>
  <Override ContentType="application/vnd.openxmlformats-officedocument.presentationml.notesSlide+xml" PartName="/ppt/notesSlides/notesSlide424.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341.xml"/>
  <Override ContentType="application/vnd.openxmlformats-officedocument.presentationml.notesSlide+xml" PartName="/ppt/notesSlides/notesSlide367.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414.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431.xml"/>
  <Override ContentType="application/vnd.openxmlformats-officedocument.presentationml.notesSlide+xml" PartName="/ppt/notesSlides/notesSlide190.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335.xml"/>
  <Override ContentType="application/vnd.openxmlformats-officedocument.presentationml.notesSlide+xml" PartName="/ppt/notesSlides/notesSlide318.xml"/>
  <Override ContentType="application/vnd.openxmlformats-officedocument.presentationml.notesSlide+xml" PartName="/ppt/notesSlides/notesSlide284.xml"/>
  <Override ContentType="application/vnd.openxmlformats-officedocument.presentationml.notesSlide+xml" PartName="/ppt/notesSlides/notesSlide352.xml"/>
  <Override ContentType="application/vnd.openxmlformats-officedocument.presentationml.notesSlide+xml" PartName="/ppt/notesSlides/notesSlide267.xml"/>
  <Override ContentType="application/vnd.openxmlformats-officedocument.presentationml.notesSlide+xml" PartName="/ppt/notesSlides/notesSlide429.xml"/>
  <Override ContentType="application/vnd.openxmlformats-officedocument.presentationml.notesSlide+xml" PartName="/ppt/notesSlides/notesSlide49.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446.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88.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409.xml"/>
  <Override ContentType="application/vnd.openxmlformats-officedocument.presentationml.notesSlide+xml" PartName="/ppt/notesSlides/notesSlide34.xml"/>
  <Override ContentType="application/vnd.openxmlformats-officedocument.presentationml.notesSlide+xml" PartName="/ppt/notesSlides/notesSlide417.xml"/>
  <Override ContentType="application/vnd.openxmlformats-officedocument.presentationml.notesSlide+xml" PartName="/ppt/notesSlides/notesSlide77.xml"/>
  <Override ContentType="application/vnd.openxmlformats-officedocument.presentationml.notesSlide+xml" PartName="/ppt/notesSlides/notesSlide372.xml"/>
  <Override ContentType="application/vnd.openxmlformats-officedocument.presentationml.notesSlide+xml" PartName="/ppt/notesSlides/notesSlide263.xml"/>
  <Override ContentType="application/vnd.openxmlformats-officedocument.presentationml.notesSlide+xml" PartName="/ppt/notesSlides/notesSlide437.xml"/>
  <Override ContentType="application/vnd.openxmlformats-officedocument.presentationml.notesSlide+xml" PartName="/ppt/notesSlides/notesSlide259.xml"/>
  <Override ContentType="application/vnd.openxmlformats-officedocument.presentationml.notesSlide+xml" PartName="/ppt/notesSlides/notesSlide166.xml"/>
  <Override ContentType="application/vnd.openxmlformats-officedocument.presentationml.notesSlide+xml" PartName="/ppt/notesSlides/notesSlide220.xml"/>
  <Override ContentType="application/vnd.openxmlformats-officedocument.presentationml.notesSlide+xml" PartName="/ppt/notesSlides/notesSlide178.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301.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344.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8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421.xml"/>
  <Override ContentType="application/vnd.openxmlformats-officedocument.presentationml.notesSlide+xml" PartName="/ppt/notesSlides/notesSlide430.xml"/>
  <Override ContentType="application/vnd.openxmlformats-officedocument.presentationml.notesSlide+xml" PartName="/ppt/notesSlides/notesSlide287.xml"/>
  <Override ContentType="application/vnd.openxmlformats-officedocument.presentationml.notesSlide+xml" PartName="/ppt/notesSlides/notesSlide392.xml"/>
  <Override ContentType="application/vnd.openxmlformats-officedocument.presentationml.notesSlide+xml" PartName="/ppt/notesSlides/notesSlide120.xml"/>
  <Override ContentType="application/vnd.openxmlformats-officedocument.presentationml.notesSlide+xml" PartName="/ppt/notesSlides/notesSlide308.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402.xml"/>
  <Override ContentType="application/vnd.openxmlformats-officedocument.presentationml.notesSlide+xml" PartName="/ppt/notesSlides/notesSlide445.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321.xml"/>
  <Override ContentType="application/vnd.openxmlformats-officedocument.presentationml.notesSlide+xml" PartName="/ppt/notesSlides/notesSlide364.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317.xml"/>
  <Override ContentType="application/vnd.openxmlformats-officedocument.presentationml.notesSlide+xml" PartName="/ppt/notesSlides/notesSlide336.xml"/>
  <Override ContentType="application/vnd.openxmlformats-officedocument.presentationml.notesSlide+xml" PartName="/ppt/notesSlides/notesSlide272.xml"/>
  <Override ContentType="application/vnd.openxmlformats-officedocument.presentationml.notesSlide+xml" PartName="/ppt/notesSlides/notesSlide379.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371.xml"/>
  <Override ContentType="application/vnd.openxmlformats-officedocument.presentationml.notesSlide+xml" PartName="/ppt/notesSlides/notesSlide215.xml"/>
  <Override ContentType="application/vnd.openxmlformats-officedocument.presentationml.notesSlide+xml" PartName="/ppt/notesSlides/notesSlide401.xml"/>
  <Override ContentType="application/vnd.openxmlformats-officedocument.presentationml.notesSlide+xml" PartName="/ppt/notesSlides/notesSlide444.xml"/>
  <Override ContentType="application/vnd.openxmlformats-officedocument.presentationml.notesSlide+xml" PartName="/ppt/notesSlides/notesSlide258.xml"/>
  <Override ContentType="application/vnd.openxmlformats-officedocument.presentationml.notesSlide+xml" PartName="/ppt/notesSlides/notesSlide292.xml"/>
  <Override ContentType="application/vnd.openxmlformats-officedocument.presentationml.notesSlide+xml" PartName="/ppt/notesSlides/notesSlide337.xml"/>
  <Override ContentType="application/vnd.openxmlformats-officedocument.presentationml.notesSlide+xml" PartName="/ppt/notesSlides/notesSlide108.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343.xml"/>
  <Override ContentType="application/vnd.openxmlformats-officedocument.presentationml.notesSlide+xml" PartName="/ppt/notesSlides/notesSlide300.xml"/>
  <Override ContentType="application/vnd.openxmlformats-officedocument.presentationml.notesSlide+xml" PartName="/ppt/notesSlides/notesSlide165.xml"/>
  <Override ContentType="application/vnd.openxmlformats-officedocument.presentationml.notesSlide+xml" PartName="/ppt/notesSlides/notesSlide386.xml"/>
  <Override ContentType="application/vnd.openxmlformats-officedocument.presentationml.notesSlide+xml" PartName="/ppt/notesSlides/notesSlide122.xml"/>
  <Override ContentType="application/vnd.openxmlformats-officedocument.presentationml.notesSlide+xml" PartName="/ppt/notesSlides/notesSlide264.xml"/>
  <Override ContentType="application/vnd.openxmlformats-officedocument.presentationml.notesSlide+xml" PartName="/ppt/notesSlides/notesSlide170.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36.xml"/>
  <Override ContentType="application/vnd.openxmlformats-officedocument.presentationml.notesSlide+xml" PartName="/ppt/notesSlides/notesSlide309.xml"/>
  <Override ContentType="application/vnd.openxmlformats-officedocument.presentationml.notesSlide+xml" PartName="/ppt/notesSlides/notesSlide359.xml"/>
  <Override ContentType="application/vnd.openxmlformats-officedocument.presentationml.notesSlide+xml" PartName="/ppt/notesSlides/notesSlide316.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200.xml"/>
  <Override ContentType="application/vnd.openxmlformats-officedocument.presentationml.notesSlide+xml" PartName="/ppt/notesSlides/notesSlide438.xml"/>
  <Override ContentType="application/vnd.openxmlformats-officedocument.presentationml.notesSlide+xml" PartName="/ppt/notesSlides/notesSlide350.xml"/>
  <Override ContentType="application/vnd.openxmlformats-officedocument.presentationml.notesSlide+xml" PartName="/ppt/notesSlides/notesSlide393.xml"/>
  <Override ContentType="application/vnd.openxmlformats-officedocument.presentationml.notesSlide+xml" PartName="/ppt/notesSlides/notesSlide209.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422.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365.xml"/>
  <Override ContentType="application/vnd.openxmlformats-officedocument.presentationml.notesSlide+xml" PartName="/ppt/notesSlides/notesSlide416.xml"/>
  <Override ContentType="application/vnd.openxmlformats-officedocument.presentationml.notesSlide+xml" PartName="/ppt/notesSlides/notesSlide237.xml"/>
  <Override ContentType="application/vnd.openxmlformats-officedocument.presentationml.notesSlide+xml" PartName="/ppt/notesSlides/notesSlide79.xml"/>
  <Override ContentType="application/vnd.openxmlformats-officedocument.presentationml.notesSlide+xml" PartName="/ppt/notesSlides/notesSlide450.xml"/>
  <Override ContentType="application/vnd.openxmlformats-officedocument.presentationml.notesSlide+xml" PartName="/ppt/notesSlides/notesSlide3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15.xml"/>
  <Override ContentType="application/vnd.openxmlformats-officedocument.presentationml.notesSlide+xml" PartName="/ppt/notesSlides/notesSlide158.xml"/>
  <Override ContentType="application/vnd.openxmlformats-officedocument.presentationml.notesSlide+xml" PartName="/ppt/notesSlides/notesSlide32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354.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443.xml"/>
  <Override ContentType="application/vnd.openxmlformats-officedocument.presentationml.notesSlide+xml" PartName="/ppt/notesSlides/notesSlide59.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338.xml"/>
  <Override ContentType="application/vnd.openxmlformats-officedocument.presentationml.notesSlide+xml" PartName="/ppt/notesSlides/notesSlide362.xml"/>
  <Override ContentType="application/vnd.openxmlformats-officedocument.presentationml.notesSlide+xml" PartName="/ppt/notesSlides/notesSlide91.xml"/>
  <Override ContentType="application/vnd.openxmlformats-officedocument.presentationml.notesSlide+xml" PartName="/ppt/notesSlides/notesSlide176.xml"/>
  <Override ContentType="application/vnd.openxmlformats-officedocument.presentationml.notesSlide+xml" PartName="/ppt/notesSlides/notesSlide451.xml"/>
  <Override ContentType="application/vnd.openxmlformats-officedocument.presentationml.notesSlide+xml" PartName="/ppt/notesSlides/notesSlide427.xml"/>
  <Override ContentType="application/vnd.openxmlformats-officedocument.presentationml.notesSlide+xml" PartName="/ppt/notesSlides/notesSlide435.xml"/>
  <Override ContentType="application/vnd.openxmlformats-officedocument.presentationml.notesSlide+xml" PartName="/ppt/notesSlides/notesSlide346.xml"/>
  <Override ContentType="application/vnd.openxmlformats-officedocument.presentationml.notesSlide+xml" PartName="/ppt/notesSlides/notesSlide369.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202.xml"/>
  <Override ContentType="application/vnd.openxmlformats-officedocument.presentationml.notesSlide+xml" PartName="/ppt/notesSlides/notesSlide137.xml"/>
  <Override ContentType="application/vnd.openxmlformats-officedocument.presentationml.notesSlide+xml" PartName="/ppt/notesSlides/notesSlide419.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53.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331.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377.xml"/>
  <Override ContentType="application/vnd.openxmlformats-officedocument.presentationml.notesSlide+xml" PartName="/ppt/notesSlides/notesSlide315.xml"/>
  <Override ContentType="application/vnd.openxmlformats-officedocument.presentationml.notesSlide+xml" PartName="/ppt/notesSlides/notesSlide129.xml"/>
  <Override ContentType="application/vnd.openxmlformats-officedocument.presentationml.notesSlide+xml" PartName="/ppt/notesSlides/notesSlide404.xml"/>
  <Override ContentType="application/vnd.openxmlformats-officedocument.presentationml.notesSlide+xml" PartName="/ppt/notesSlides/notesSlide394.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385.xml"/>
  <Override ContentType="application/vnd.openxmlformats-officedocument.presentationml.notesSlide+xml" PartName="/ppt/notesSlides/notesSlide144.xml"/>
  <Override ContentType="application/vnd.openxmlformats-officedocument.presentationml.notesSlide+xml" PartName="/ppt/notesSlides/notesSlide114.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306.xml"/>
  <Override ContentType="application/vnd.openxmlformats-officedocument.presentationml.notesSlide+xml" PartName="/ppt/notesSlides/notesSlide5.xml"/>
  <Override ContentType="application/vnd.openxmlformats-officedocument.presentationml.notesSlide+xml" PartName="/ppt/notesSlides/notesSlide323.xml"/>
  <Override ContentType="application/vnd.openxmlformats-officedocument.presentationml.notesSlide+xml" PartName="/ppt/notesSlides/notesSlide370.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329.xml"/>
  <Override ContentType="application/vnd.openxmlformats-officedocument.presentationml.notesSlide+xml" PartName="/ppt/notesSlides/notesSlide290.xml"/>
  <Override ContentType="application/vnd.openxmlformats-officedocument.presentationml.notesSlide+xml" PartName="/ppt/notesSlides/notesSlide418.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45.xml"/>
  <Override ContentType="application/vnd.openxmlformats-officedocument.presentationml.notesSlide+xml" PartName="/ppt/notesSlides/notesSlide442.xml"/>
  <Override ContentType="application/vnd.openxmlformats-officedocument.presentationml.notesSlide+xml" PartName="/ppt/notesSlides/notesSlide256.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363.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330.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152.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436.xml"/>
  <Override ContentType="application/vnd.openxmlformats-officedocument.presentationml.notesSlide+xml" PartName="/ppt/notesSlides/notesSlide167.xml"/>
  <Override ContentType="application/vnd.openxmlformats-officedocument.presentationml.notesSlide+xml" PartName="/ppt/notesSlides/notesSlide314.xml"/>
  <Override ContentType="application/vnd.openxmlformats-officedocument.presentationml.notesSlide+xml" PartName="/ppt/notesSlides/notesSlide27.xml"/>
  <Override ContentType="application/vnd.openxmlformats-officedocument.presentationml.notesSlide+xml" PartName="/ppt/notesSlides/notesSlide339.xml"/>
  <Override ContentType="application/vnd.openxmlformats-officedocument.presentationml.notesSlide+xml" PartName="/ppt/notesSlides/notesSlide251.xml"/>
  <Override ContentType="application/vnd.openxmlformats-officedocument.presentationml.notesSlide+xml" PartName="/ppt/notesSlides/notesSlide295.xml"/>
  <Override ContentType="application/vnd.openxmlformats-officedocument.presentationml.notesSlide+xml" PartName="/ppt/notesSlides/notesSlide384.xml"/>
  <Override ContentType="application/vnd.openxmlformats-officedocument.presentationml.notesSlide+xml" PartName="/ppt/notesSlides/notesSlide324.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218.xml"/>
  <Override ContentType="application/vnd.openxmlformats-officedocument.presentationml.notesSlide+xml" PartName="/ppt/notesSlides/notesSlide130.xml"/>
  <Override ContentType="application/vnd.openxmlformats-officedocument.presentationml.notesSlide+xml" PartName="/ppt/notesSlides/notesSlide307.xml"/>
  <Override ContentType="application/vnd.openxmlformats-officedocument.presentationml.notesSlide+xml" PartName="/ppt/notesSlides/notesSlide378.xml"/>
  <Override ContentType="application/vnd.openxmlformats-officedocument.presentationml.notesSlide+xml" PartName="/ppt/notesSlides/notesSlide395.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403.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20.xml"/>
  <Override ContentType="application/vnd.openxmlformats-officedocument.presentationml.notesSlide+xml" PartName="/ppt/notesSlides/notesSlide145.xml"/>
  <Override ContentType="application/vnd.openxmlformats-officedocument.presentationml.notesSlide+xml" PartName="/ppt/notesSlides/notesSlide83.xml"/>
  <Override ContentType="application/vnd.openxmlformats-officedocument.presentationml.notesSlide+xml" PartName="/ppt/notesSlides/notesSlide66.xml"/>
  <Override ContentType="application/vnd.openxmlformats-officedocument.presentationml.notesSlide+xml" PartName="/ppt/notesSlides/notesSlide3.xml"/>
  <Override ContentType="application/vnd.openxmlformats-officedocument.presentationml.notesSlide+xml" PartName="/ppt/notesSlides/notesSlide240.xml"/>
  <Override ContentType="application/vnd.openxmlformats-officedocument.presentationml.notesSlide+xml" PartName="/ppt/notesSlides/notesSlide425.xml"/>
  <Override ContentType="application/vnd.openxmlformats-officedocument.presentationml.notesSlide+xml" PartName="/ppt/notesSlides/notesSlide283.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380.xml"/>
  <Override ContentType="application/vnd.openxmlformats-officedocument.presentationml.notesSlide+xml" PartName="/ppt/notesSlides/notesSlide328.xml"/>
  <Override ContentType="application/vnd.openxmlformats-officedocument.presentationml.notesSlide+xml" PartName="/ppt/notesSlides/notesSlide360.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313.xml"/>
  <Override ContentType="application/vnd.openxmlformats-officedocument.presentationml.notesSlide+xml" PartName="/ppt/notesSlides/notesSlide399.xml"/>
  <Override ContentType="application/vnd.openxmlformats-officedocument.presentationml.notesSlide+xml" PartName="/ppt/notesSlides/notesSlide410.xml"/>
  <Override ContentType="application/vnd.openxmlformats-officedocument.presentationml.notesSlide+xml" PartName="/ppt/notesSlides/notesSlide69.xml"/>
  <Override ContentType="application/vnd.openxmlformats-officedocument.presentationml.notesSlide+xml" PartName="/ppt/notesSlides/notesSlide356.xml"/>
  <Override ContentType="application/vnd.openxmlformats-officedocument.presentationml.notesSlide+xml" PartName="/ppt/notesSlides/notesSlide26.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441.xml"/>
  <Override ContentType="application/vnd.openxmlformats-officedocument.presentationml.notesSlide+xml" PartName="/ppt/notesSlides/notesSlide227.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375.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332.xml"/>
  <Override ContentType="application/vnd.openxmlformats-officedocument.presentationml.notesSlide+xml" PartName="/ppt/notesSlides/notesSlide325.xml"/>
  <Override ContentType="application/vnd.openxmlformats-officedocument.presentationml.notesSlide+xml" PartName="/ppt/notesSlides/notesSlide368.xml"/>
  <Override ContentType="application/vnd.openxmlformats-officedocument.presentationml.notesSlide+xml" PartName="/ppt/notesSlides/notesSlide413.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74.xml"/>
  <Override ContentType="application/vnd.openxmlformats-officedocument.presentationml.notesSlide+xml" PartName="/ppt/notesSlides/notesSlide347.xml"/>
  <Override ContentType="application/vnd.openxmlformats-officedocument.presentationml.notesSlide+xml" PartName="/ppt/notesSlides/notesSlide304.xml"/>
  <Override ContentType="application/vnd.openxmlformats-officedocument.presentationml.notesSlide+xml" PartName="/ppt/notesSlides/notesSlide396.xml"/>
  <Override ContentType="application/vnd.openxmlformats-officedocument.presentationml.notesSlide+xml" PartName="/ppt/notesSlides/notesSlide310.xml"/>
  <Override ContentType="application/vnd.openxmlformats-officedocument.presentationml.notesSlide+xml" PartName="/ppt/notesSlides/notesSlide340.xml"/>
  <Override ContentType="application/vnd.openxmlformats-officedocument.presentationml.notesSlide+xml" PartName="/ppt/notesSlides/notesSlide353.xml"/>
  <Override ContentType="application/vnd.openxmlformats-officedocument.presentationml.notesSlide+xml" PartName="/ppt/notesSlides/notesSlide255.xml"/>
  <Override ContentType="application/vnd.openxmlformats-officedocument.presentationml.notesSlide+xml" PartName="/ppt/notesSlides/notesSlide428.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383.xml"/>
  <Override ContentType="application/vnd.openxmlformats-officedocument.presentationml.notesSlide+xml" PartName="/ppt/notesSlides/notesSlide282.xml"/>
  <Override ContentType="application/vnd.openxmlformats-officedocument.presentationml.notesSlide+xml" PartName="/ppt/notesSlides/notesSlide248.xml"/>
  <Override ContentType="application/vnd.openxmlformats-officedocument.presentationml.notesSlide+xml" PartName="/ppt/notesSlides/notesSlide43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355.xml"/>
  <Override ContentType="application/vnd.openxmlformats-officedocument.presentationml.notesSlide+xml" PartName="/ppt/notesSlides/notesSlide312.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381.xml"/>
  <Override ContentType="application/vnd.openxmlformats-officedocument.presentationml.notesSlide+xml" PartName="/ppt/notesSlides/notesSlide398.xml"/>
  <Override ContentType="application/vnd.openxmlformats-officedocument.presentationml.notesSlide+xml" PartName="/ppt/notesSlides/notesSlide426.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276.xml"/>
  <Override ContentType="application/vnd.openxmlformats-officedocument.presentationml.notesSlide+xml" PartName="/ppt/notesSlides/notesSlide233.xml"/>
  <Override ContentType="application/vnd.openxmlformats-officedocument.presentationml.notesSlide+xml" PartName="/ppt/notesSlides/notesSlide327.xml"/>
  <Override ContentType="application/vnd.openxmlformats-officedocument.presentationml.notesSlide+xml" PartName="/ppt/notesSlides/notesSlide440.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449.xml"/>
  <Override ContentType="application/vnd.openxmlformats-officedocument.presentationml.notesSlide+xml" PartName="/ppt/notesSlides/notesSlide361.xml"/>
  <Override ContentType="application/vnd.openxmlformats-officedocument.presentationml.notesSlide+xml" PartName="/ppt/notesSlides/notesSlide74.xml"/>
  <Override ContentType="application/vnd.openxmlformats-officedocument.presentationml.notesSlide+xml" PartName="/ppt/notesSlides/notesSlide197.xml"/>
  <Override ContentType="application/vnd.openxmlformats-officedocument.presentationml.notesSlide+xml" PartName="/ppt/notesSlides/notesSlide406.xml"/>
  <Override ContentType="application/vnd.openxmlformats-officedocument.presentationml.notesSlide+xml" PartName="/ppt/notesSlides/notesSlide154.xml"/>
  <Override ContentType="application/vnd.openxmlformats-officedocument.presentationml.notesSlide+xml" PartName="/ppt/notesSlides/notesSlide2.xml"/>
  <Override ContentType="application/vnd.openxmlformats-officedocument.presentationml.notesSlide+xml" PartName="/ppt/notesSlides/notesSlide411.xml"/>
  <Override ContentType="application/vnd.openxmlformats-officedocument.presentationml.notesSlide+xml" PartName="/ppt/notesSlides/notesSlide260.xml"/>
  <Override ContentType="application/vnd.openxmlformats-officedocument.presentationml.notesSlide+xml" PartName="/ppt/notesSlides/notesSlide448.xml"/>
  <Override ContentType="application/vnd.openxmlformats-officedocument.presentationml.notesSlide+xml" PartName="/ppt/notesSlides/notesSlide405.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412.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376.xml"/>
  <Override ContentType="application/vnd.openxmlformats-officedocument.presentationml.notesSlide+xml" PartName="/ppt/notesSlides/notesSlide333.xml"/>
  <Override ContentType="application/vnd.openxmlformats-officedocument.presentationml.notesSlide+xml" PartName="/ppt/notesSlides/notesSlide305.xml"/>
  <Override ContentType="application/vnd.openxmlformats-officedocument.presentationml.notesSlide+xml" PartName="/ppt/notesSlides/notesSlide297.xml"/>
  <Override ContentType="application/vnd.openxmlformats-officedocument.presentationml.notesSlide+xml" PartName="/ppt/notesSlides/notesSlide382.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132.xml"/>
  <Override ContentType="application/vnd.openxmlformats-officedocument.presentationml.notesSlide+xml" PartName="/ppt/notesSlides/notesSlide433.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175.xml"/>
  <Override ContentType="application/vnd.openxmlformats-officedocument.presentationml.notesSlide+xml" PartName="/ppt/notesSlides/notesSlide348.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350.xml"/>
  <Override ContentType="application/vnd.openxmlformats-officedocument.presentationml.slide+xml" PartName="/ppt/slides/slide35.xml"/>
  <Override ContentType="application/vnd.openxmlformats-officedocument.presentationml.slide+xml" PartName="/ppt/slides/slide334.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423.xml"/>
  <Override ContentType="application/vnd.openxmlformats-officedocument.presentationml.slide+xml" PartName="/ppt/slides/slide19.xml"/>
  <Override ContentType="application/vnd.openxmlformats-officedocument.presentationml.slide+xml" PartName="/ppt/slides/slide326.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342.xml"/>
  <Override ContentType="application/vnd.openxmlformats-officedocument.presentationml.slide+xml" PartName="/ppt/slides/slide431.xml"/>
  <Override ContentType="application/vnd.openxmlformats-officedocument.presentationml.slide+xml" PartName="/ppt/slides/slide156.xml"/>
  <Override ContentType="application/vnd.openxmlformats-officedocument.presentationml.slide+xml" PartName="/ppt/slides/slide438.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66.xml"/>
  <Override ContentType="application/vnd.openxmlformats-officedocument.presentationml.slide+xml" PartName="/ppt/slides/slide229.xml"/>
  <Override ContentType="application/vnd.openxmlformats-officedocument.presentationml.slide+xml" PartName="/ppt/slides/slide357.xml"/>
  <Override ContentType="application/vnd.openxmlformats-officedocument.presentationml.slide+xml" PartName="/ppt/slides/slide141.xml"/>
  <Override ContentType="application/vnd.openxmlformats-officedocument.presentationml.slide+xml" PartName="/ppt/slides/slide407.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400.xml"/>
  <Override ContentType="application/vnd.openxmlformats-officedocument.presentationml.slide+xml" PartName="/ppt/slides/slide214.xml"/>
  <Override ContentType="application/vnd.openxmlformats-officedocument.presentationml.slide+xml" PartName="/ppt/slides/slide206.xml"/>
  <Override ContentType="application/vnd.openxmlformats-officedocument.presentationml.slide+xml" PartName="/ppt/slides/slide381.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34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447.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415.xml"/>
  <Override ContentType="application/vnd.openxmlformats-officedocument.presentationml.slide+xml" PartName="/ppt/slides/slide74.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310.xml"/>
  <Override ContentType="application/vnd.openxmlformats-officedocument.presentationml.slide+xml" PartName="/ppt/slides/slide366.xml"/>
  <Override ContentType="application/vnd.openxmlformats-officedocument.presentationml.slide+xml" PartName="/ppt/slides/slide396.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333.xml"/>
  <Override ContentType="application/vnd.openxmlformats-officedocument.presentationml.slide+xml" PartName="/ppt/slides/slide309.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70.xml"/>
  <Override ContentType="application/vnd.openxmlformats-officedocument.presentationml.slide+xml" PartName="/ppt/slides/slide406.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343.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440.xml"/>
  <Override ContentType="application/vnd.openxmlformats-officedocument.presentationml.slide+xml" PartName="/ppt/slides/slide147.xml"/>
  <Override ContentType="application/vnd.openxmlformats-officedocument.presentationml.slide+xml" PartName="/ppt/slides/slide236.xml"/>
  <Override ContentType="application/vnd.openxmlformats-officedocument.presentationml.slide+xml" PartName="/ppt/slides/slide422.xml"/>
  <Override ContentType="application/vnd.openxmlformats-officedocument.presentationml.slide+xml" PartName="/ppt/slides/slide110.xml"/>
  <Override ContentType="application/vnd.openxmlformats-officedocument.presentationml.slide+xml" PartName="/ppt/slides/slide293.xml"/>
  <Override ContentType="application/vnd.openxmlformats-officedocument.presentationml.slide+xml" PartName="/ppt/slides/slide35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49.xml"/>
  <Override ContentType="application/vnd.openxmlformats-officedocument.presentationml.slide+xml" PartName="/ppt/slides/slide327.xml"/>
  <Override ContentType="application/vnd.openxmlformats-officedocument.presentationml.slide+xml" PartName="/ppt/slides/slide83.xml"/>
  <Override ContentType="application/vnd.openxmlformats-officedocument.presentationml.slide+xml" PartName="/ppt/slides/slide437.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401.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11.xml"/>
  <Override ContentType="application/vnd.openxmlformats-officedocument.presentationml.slide+xml" PartName="/ppt/slides/slide13.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416.xml"/>
  <Override ContentType="application/vnd.openxmlformats-officedocument.presentationml.slide+xml" PartName="/ppt/slides/slide269.xml"/>
  <Override ContentType="application/vnd.openxmlformats-officedocument.presentationml.slide+xml" PartName="/ppt/slides/slide1.xml"/>
  <Override ContentType="application/vnd.openxmlformats-officedocument.presentationml.slide+xml" PartName="/ppt/slides/slide365.xml"/>
  <Override ContentType="application/vnd.openxmlformats-officedocument.presentationml.slide+xml" PartName="/ppt/slides/slide28.xml"/>
  <Override ContentType="application/vnd.openxmlformats-officedocument.presentationml.slide+xml" PartName="/ppt/slides/slide382.xml"/>
  <Override ContentType="application/vnd.openxmlformats-officedocument.presentationml.slide+xml" PartName="/ppt/slides/slide397.xml"/>
  <Override ContentType="application/vnd.openxmlformats-officedocument.presentationml.slide+xml" PartName="/ppt/slides/slide200.xml"/>
  <Override ContentType="application/vnd.openxmlformats-officedocument.presentationml.slide+xml" PartName="/ppt/slides/slide348.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67.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324.xml"/>
  <Override ContentType="application/vnd.openxmlformats-officedocument.presentationml.slide+xml" PartName="/ppt/slides/slide174.xml"/>
  <Override ContentType="application/vnd.openxmlformats-officedocument.presentationml.slide+xml" PartName="/ppt/slides/slide360.xml"/>
  <Override ContentType="application/vnd.openxmlformats-officedocument.presentationml.slide+xml" PartName="/ppt/slides/slide219.xml"/>
  <Override ContentType="application/vnd.openxmlformats-officedocument.presentationml.slide+xml" PartName="/ppt/slides/slide405.xml"/>
  <Override ContentType="application/vnd.openxmlformats-officedocument.presentationml.slide+xml" PartName="/ppt/slides/slide359.xml"/>
  <Override ContentType="application/vnd.openxmlformats-officedocument.presentationml.slide+xml" PartName="/ppt/slides/slide316.xml"/>
  <Override ContentType="application/vnd.openxmlformats-officedocument.presentationml.slide+xml" PartName="/ppt/slides/slide448.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344.xml"/>
  <Override ContentType="application/vnd.openxmlformats-officedocument.presentationml.slide+xml" PartName="/ppt/slides/slide387.xml"/>
  <Override ContentType="application/vnd.openxmlformats-officedocument.presentationml.slide+xml" PartName="/ppt/slides/slide425.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75.xml"/>
  <Override ContentType="application/vnd.openxmlformats-officedocument.presentationml.slide+xml" PartName="/ppt/slides/slide332.xml"/>
  <Override ContentType="application/vnd.openxmlformats-officedocument.presentationml.slide+xml" PartName="/ppt/slides/slide251.xml"/>
  <Override ContentType="application/vnd.openxmlformats-officedocument.presentationml.slide+xml" PartName="/ppt/slides/slide301.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347.xml"/>
  <Override ContentType="application/vnd.openxmlformats-officedocument.presentationml.slide+xml" PartName="/ppt/slides/slide372.xml"/>
  <Override ContentType="application/vnd.openxmlformats-officedocument.presentationml.slide+xml" PartName="/ppt/slides/slide22.xml"/>
  <Override ContentType="application/vnd.openxmlformats-officedocument.presentationml.slide+xml" PartName="/ppt/slides/slide304.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410.xml"/>
  <Override ContentType="application/vnd.openxmlformats-officedocument.presentationml.slide+xml" PartName="/ppt/slides/slide72.xml"/>
  <Override ContentType="application/vnd.openxmlformats-officedocument.presentationml.slide+xml" PartName="/ppt/slides/slide29.xml"/>
  <Override ContentType="application/vnd.openxmlformats-officedocument.presentationml.slide+xml" PartName="/ppt/slides/slide319.xml"/>
  <Override ContentType="application/vnd.openxmlformats-officedocument.presentationml.slide+xml" PartName="/ppt/slides/slide417.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432.xml"/>
  <Override ContentType="application/vnd.openxmlformats-officedocument.presentationml.slide+xml" PartName="/ppt/slides/slide103.xml"/>
  <Override ContentType="application/vnd.openxmlformats-officedocument.presentationml.slide+xml" PartName="/ppt/slides/slide445.xml"/>
  <Override ContentType="application/vnd.openxmlformats-officedocument.presentationml.slide+xml" PartName="/ppt/slides/slide402.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139.xml"/>
  <Override ContentType="application/vnd.openxmlformats-officedocument.presentationml.slide+xml" PartName="/ppt/slides/slide325.xml"/>
  <Override ContentType="application/vnd.openxmlformats-officedocument.presentationml.slide+xml" PartName="/ppt/slides/slide430.xml"/>
  <Override ContentType="application/vnd.openxmlformats-officedocument.presentationml.slide+xml" PartName="/ppt/slides/slide317.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439.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351.xml"/>
  <Override ContentType="application/vnd.openxmlformats-officedocument.presentationml.slide+xml" PartName="/ppt/slides/slide368.xml"/>
  <Override ContentType="application/vnd.openxmlformats-officedocument.presentationml.slide+xml" PartName="/ppt/slides/slide394.xml"/>
  <Override ContentType="application/vnd.openxmlformats-officedocument.presentationml.slide+xml" PartName="/ppt/slides/slide331.xml"/>
  <Override ContentType="application/vnd.openxmlformats-officedocument.presentationml.slide+xml" PartName="/ppt/slides/slide280.xml"/>
  <Override ContentType="application/vnd.openxmlformats-officedocument.presentationml.slide+xml" PartName="/ppt/slides/slide374.xml"/>
  <Override ContentType="application/vnd.openxmlformats-officedocument.presentationml.slide+xml" PartName="/ppt/slides/slide345.xml"/>
  <Override ContentType="application/vnd.openxmlformats-officedocument.presentationml.slide+xml" PartName="/ppt/slides/slide302.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388.xml"/>
  <Override ContentType="application/vnd.openxmlformats-officedocument.presentationml.slide+xml" PartName="/ppt/slides/slide124.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424.xml"/>
  <Override ContentType="application/vnd.openxmlformats-officedocument.presentationml.slide+xml" PartName="/ppt/slides/slide194.xml"/>
  <Override ContentType="application/vnd.openxmlformats-officedocument.presentationml.slide+xml" PartName="/ppt/slides/slide380.xml"/>
  <Override ContentType="application/vnd.openxmlformats-officedocument.presentationml.slide+xml" PartName="/ppt/slides/slide151.xml"/>
  <Override ContentType="application/vnd.openxmlformats-officedocument.presentationml.slide+xml" PartName="/ppt/slides/slide339.xml"/>
  <Override ContentType="application/vnd.openxmlformats-officedocument.presentationml.slide+xml" PartName="/ppt/slides/slide224.xml"/>
  <Override ContentType="application/vnd.openxmlformats-officedocument.presentationml.slide+xml" PartName="/ppt/slides/slide330.xml"/>
  <Override ContentType="application/vnd.openxmlformats-officedocument.presentationml.slide+xml" PartName="/ppt/slides/slide267.xml"/>
  <Override ContentType="application/vnd.openxmlformats-officedocument.presentationml.slide+xml" PartName="/ppt/slides/slide373.xml"/>
  <Override ContentType="application/vnd.openxmlformats-officedocument.presentationml.slide+xml" PartName="/ppt/slides/slide389.xml"/>
  <Override ContentType="application/vnd.openxmlformats-officedocument.presentationml.slide+xml" PartName="/ppt/slides/slide21.xml"/>
  <Override ContentType="application/vnd.openxmlformats-officedocument.presentationml.slide+xml" PartName="/ppt/slides/slide346.xml"/>
  <Override ContentType="application/vnd.openxmlformats-officedocument.presentationml.slide+xml" PartName="/ppt/slides/slide303.xml"/>
  <Override ContentType="application/vnd.openxmlformats-officedocument.presentationml.slide+xml" PartName="/ppt/slides/slide64.xml"/>
  <Override ContentType="application/vnd.openxmlformats-officedocument.presentationml.slide+xml" PartName="/ppt/slides/slide418.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403.xml"/>
  <Override ContentType="application/vnd.openxmlformats-officedocument.presentationml.slide+xml" PartName="/ppt/slides/slide395.xml"/>
  <Override ContentType="application/vnd.openxmlformats-officedocument.presentationml.slide+xml" PartName="/ppt/slides/slide352.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318.xml"/>
  <Override ContentType="application/vnd.openxmlformats-officedocument.presentationml.slide+xml" PartName="/ppt/slides/slide230.xml"/>
  <Override ContentType="application/vnd.openxmlformats-officedocument.presentationml.slide+xml" PartName="/ppt/slides/slide273.xml"/>
  <Override ContentType="application/vnd.openxmlformats-officedocument.presentationml.slide+xml" PartName="/ppt/slides/slide446.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385.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5.xml"/>
  <Override ContentType="application/vnd.openxmlformats-officedocument.presentationml.slide+xml" PartName="/ppt/slides/slide369.xml"/>
  <Override ContentType="application/vnd.openxmlformats-officedocument.presentationml.slide+xml" PartName="/ppt/slides/slide393.xml"/>
  <Override ContentType="application/vnd.openxmlformats-officedocument.presentationml.slide+xml" PartName="/ppt/slides/slide377.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94.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233.xml"/>
  <Override ContentType="application/vnd.openxmlformats-officedocument.presentationml.slide+xml" PartName="/ppt/slides/slide362.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411.xml"/>
  <Override ContentType="application/vnd.openxmlformats-officedocument.presentationml.slide+xml" PartName="/ppt/slides/slide314.xml"/>
  <Override ContentType="application/vnd.openxmlformats-officedocument.presentationml.slide+xml" PartName="/ppt/slides/slide419.xml"/>
  <Override ContentType="application/vnd.openxmlformats-officedocument.presentationml.slide+xml" PartName="/ppt/slides/slide338.xml"/>
  <Override ContentType="application/vnd.openxmlformats-officedocument.presentationml.slide+xml" PartName="/ppt/slides/slide443.xml"/>
  <Override ContentType="application/vnd.openxmlformats-officedocument.presentationml.slide+xml" PartName="/ppt/slides/slide168.xml"/>
  <Override ContentType="application/vnd.openxmlformats-officedocument.presentationml.slide+xml" PartName="/ppt/slides/slide426.xml"/>
  <Override ContentType="application/vnd.openxmlformats-officedocument.presentationml.slide+xml" PartName="/ppt/slides/slide152.xml"/>
  <Override ContentType="application/vnd.openxmlformats-officedocument.presentationml.slide+xml" PartName="/ppt/slides/slide257.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306.xml"/>
  <Override ContentType="application/vnd.openxmlformats-officedocument.presentationml.slide+xml" PartName="/ppt/slides/slide272.xml"/>
  <Override ContentType="application/vnd.openxmlformats-officedocument.presentationml.slide+xml" PartName="/ppt/slides/slide323.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404.xml"/>
  <Override ContentType="application/vnd.openxmlformats-officedocument.presentationml.slide+xml" PartName="/ppt/slides/slide144.xml"/>
  <Override ContentType="application/vnd.openxmlformats-officedocument.presentationml.slide+xml" PartName="/ppt/slides/slide434.xml"/>
  <Override ContentType="application/vnd.openxmlformats-officedocument.presentationml.slide+xml" PartName="/ppt/slides/slide451.xml"/>
  <Override ContentType="application/vnd.openxmlformats-officedocument.presentationml.slide+xml" PartName="/ppt/slides/slide31.xml"/>
  <Override ContentType="application/vnd.openxmlformats-officedocument.presentationml.slide+xml" PartName="/ppt/slides/slide176.xml"/>
  <Override ContentType="application/vnd.openxmlformats-officedocument.presentationml.slide+xml" PartName="/ppt/slides/slide225.xml"/>
  <Override ContentType="application/vnd.openxmlformats-officedocument.presentationml.slide+xml" PartName="/ppt/slides/slide370.xml"/>
  <Override ContentType="application/vnd.openxmlformats-officedocument.presentationml.slide+xml" PartName="/ppt/slides/slide353.xml"/>
  <Override ContentType="application/vnd.openxmlformats-officedocument.presentationml.slide+xml" PartName="/ppt/slides/slide201.xml"/>
  <Override ContentType="application/vnd.openxmlformats-officedocument.presentationml.slide+xml" PartName="/ppt/slides/slide287.xml"/>
  <Override ContentType="application/vnd.openxmlformats-officedocument.presentationml.slide+xml" PartName="/ppt/slides/slide376.xml"/>
  <Override ContentType="application/vnd.openxmlformats-officedocument.presentationml.slide+xml" PartName="/ppt/slides/slide449.xml"/>
  <Override ContentType="application/vnd.openxmlformats-officedocument.presentationml.slide+xml" PartName="/ppt/slides/slide95.xml"/>
  <Override ContentType="application/vnd.openxmlformats-officedocument.presentationml.slide+xml" PartName="/ppt/slides/slide386.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297.xml"/>
  <Override ContentType="application/vnd.openxmlformats-officedocument.presentationml.slide+xml" PartName="/ppt/slides/slide122.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361.xml"/>
  <Override ContentType="application/vnd.openxmlformats-officedocument.presentationml.slide+xml" PartName="/ppt/slides/slide412.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300.xml"/>
  <Override ContentType="application/vnd.openxmlformats-officedocument.presentationml.slide+xml" PartName="/ppt/slides/slide315.xml"/>
  <Override ContentType="application/vnd.openxmlformats-officedocument.presentationml.slide+xml" PartName="/ppt/slides/slide392.xml"/>
  <Override ContentType="application/vnd.openxmlformats-officedocument.presentationml.slide+xml" PartName="/ppt/slides/slide282.xml"/>
  <Override ContentType="application/vnd.openxmlformats-officedocument.presentationml.slide+xml" PartName="/ppt/slides/slide216.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444.xml"/>
  <Override ContentType="application/vnd.openxmlformats-officedocument.presentationml.slide+xml" PartName="/ppt/slides/slide427.xml"/>
  <Override ContentType="application/vnd.openxmlformats-officedocument.presentationml.slide+xml" PartName="/ppt/slides/slide371.xml"/>
  <Override ContentType="application/vnd.openxmlformats-officedocument.presentationml.slide+xml" PartName="/ppt/slides/slide39.xml"/>
  <Override ContentType="application/vnd.openxmlformats-officedocument.presentationml.slide+xml" PartName="/ppt/slides/slide56.xml"/>
  <Override ContentType="application/vnd.openxmlformats-officedocument.presentationml.slide+xml" PartName="/ppt/slides/slide354.xml"/>
  <Override ContentType="application/vnd.openxmlformats-officedocument.presentationml.slide+xml" PartName="/ppt/slides/slide337.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43.xml"/>
  <Override ContentType="application/vnd.openxmlformats-officedocument.presentationml.slide+xml" PartName="/ppt/slides/slide433.xml"/>
  <Override ContentType="application/vnd.openxmlformats-officedocument.presentationml.slide+xml" PartName="/ppt/slides/slide450.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322.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09.xml"/>
  <Override ContentType="application/vnd.openxmlformats-officedocument.presentationml.slide+xml" PartName="/ppt/slides/slide305.xml"/>
  <Override ContentType="application/vnd.openxmlformats-officedocument.presentationml.slide+xml" PartName="/ppt/slides/slide243.xml"/>
  <Override ContentType="application/vnd.openxmlformats-officedocument.presentationml.slide+xml" PartName="/ppt/slides/slide158.xml"/>
  <Override ContentType="application/vnd.openxmlformats-officedocument.presentationml.slide+xml" PartName="/ppt/slides/slide308.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25.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413.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107.xml"/>
  <Override ContentType="application/vnd.openxmlformats-officedocument.presentationml.slide+xml" PartName="/ppt/slides/slide441.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391.xml"/>
  <Override ContentType="application/vnd.openxmlformats-officedocument.presentationml.slide+xml" PartName="/ppt/slides/slide328.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355.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312.xml"/>
  <Override ContentType="application/vnd.openxmlformats-officedocument.presentationml.slide+xml" PartName="/ppt/slides/slide398.xml"/>
  <Override ContentType="application/vnd.openxmlformats-officedocument.presentationml.slide+xml" PartName="/ppt/slides/slide240.xml"/>
  <Override ContentType="application/vnd.openxmlformats-officedocument.presentationml.slide+xml" PartName="/ppt/slides/slide436.xml"/>
  <Override ContentType="application/vnd.openxmlformats-officedocument.presentationml.slide+xml" PartName="/ppt/slides/slide185.xml"/>
  <Override ContentType="application/vnd.openxmlformats-officedocument.presentationml.slide+xml" PartName="/ppt/slides/slide142.xml"/>
  <Override ContentType="application/vnd.openxmlformats-officedocument.presentationml.slide+xml" PartName="/ppt/slides/slide135.xml"/>
  <Override ContentType="application/vnd.openxmlformats-officedocument.presentationml.slide+xml" PartName="/ppt/slides/slide321.xml"/>
  <Override ContentType="application/vnd.openxmlformats-officedocument.presentationml.slide+xml" PartName="/ppt/slides/slide178.xml"/>
  <Override ContentType="application/vnd.openxmlformats-officedocument.presentationml.slide+xml" PartName="/ppt/slides/slide364.xml"/>
  <Override ContentType="application/vnd.openxmlformats-officedocument.presentationml.slide+xml" PartName="/ppt/slides/slide409.xml"/>
  <Override ContentType="application/vnd.openxmlformats-officedocument.presentationml.slide+xml" PartName="/ppt/slides/slide379.xml"/>
  <Override ContentType="application/vnd.openxmlformats-officedocument.presentationml.slide+xml" PartName="/ppt/slides/slide212.xml"/>
  <Override ContentType="application/vnd.openxmlformats-officedocument.presentationml.slide+xml" PartName="/ppt/slides/slide336.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298.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42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428.xml"/>
  <Override ContentType="application/vnd.openxmlformats-officedocument.presentationml.slide+xml" PartName="/ppt/slides/slide383.xml"/>
  <Override ContentType="application/vnd.openxmlformats-officedocument.presentationml.slide+xml" PartName="/ppt/slides/slide208.xml"/>
  <Override ContentType="application/vnd.openxmlformats-officedocument.presentationml.slide+xml" PartName="/ppt/slides/slide340.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60.xml"/>
  <Override ContentType="application/vnd.openxmlformats-officedocument.presentationml.slide+xml" PartName="/ppt/slides/slide414.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384.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341.xml"/>
  <Override ContentType="application/vnd.openxmlformats-officedocument.presentationml.slide+xml" PartName="/ppt/slides/slide69.xml"/>
  <Override ContentType="application/vnd.openxmlformats-officedocument.presentationml.slide+xml" PartName="/ppt/slides/slide307.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408.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13.xml"/>
  <Override ContentType="application/vnd.openxmlformats-officedocument.presentationml.slide+xml" PartName="/ppt/slides/slide149.xml"/>
  <Override ContentType="application/vnd.openxmlformats-officedocument.presentationml.slide+xml" PartName="/ppt/slides/slide442.xml"/>
  <Override ContentType="application/vnd.openxmlformats-officedocument.presentationml.slide+xml" PartName="/ppt/slides/slide106.xml"/>
  <Override ContentType="application/vnd.openxmlformats-officedocument.presentationml.slide+xml" PartName="/ppt/slides/slide234.xml"/>
  <Override ContentType="application/vnd.openxmlformats-officedocument.presentationml.slide+xml" PartName="/ppt/slides/slide177.xml"/>
  <Override ContentType="application/vnd.openxmlformats-officedocument.presentationml.slide+xml" PartName="/ppt/slides/slide363.xml"/>
  <Override ContentType="application/vnd.openxmlformats-officedocument.presentationml.slide+xml" PartName="/ppt/slides/slide134.xml"/>
  <Override ContentType="application/vnd.openxmlformats-officedocument.presentationml.slide+xml" PartName="/ppt/slides/slide320.xml"/>
  <Override ContentType="application/vnd.openxmlformats-officedocument.presentationml.slide+xml" PartName="/ppt/slides/slide207.xml"/>
  <Override ContentType="application/vnd.openxmlformats-officedocument.presentationml.slide+xml" PartName="/ppt/slides/slide356.xml"/>
  <Override ContentType="application/vnd.openxmlformats-officedocument.presentationml.slide+xml" PartName="/ppt/slides/slide284.xml"/>
  <Override ContentType="application/vnd.openxmlformats-officedocument.presentationml.slide+xml" PartName="/ppt/slides/slide399.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390.xml"/>
  <Override ContentType="application/vnd.openxmlformats-officedocument.presentationml.slide+xml" PartName="/ppt/slides/slide81.xml"/>
  <Override ContentType="application/vnd.openxmlformats-officedocument.presentationml.slide+xml" PartName="/ppt/slides/slide435.xml"/>
  <Override ContentType="application/vnd.openxmlformats-officedocument.presentationml.slide+xml" PartName="/ppt/slides/slide329.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290.xml"/>
  <Override ContentType="application/vnd.openxmlformats-officedocument.presentationml.slide+xml" PartName="/ppt/slides/slide378.xml"/>
  <Override ContentType="application/vnd.openxmlformats-officedocument.presentationml.slide+xml" PartName="/ppt/slides/slide335.xml"/>
  <Override ContentType="application/vnd.openxmlformats-officedocument.presentationml.slide+xml" PartName="/ppt/slides/slide256.xml"/>
  <Override ContentType="application/vnd.openxmlformats-officedocument.presentationml.slide+xml" PartName="/ppt/slides/slide429.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42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Lst>
  <p:sldSz cy="5143500" cx="9144000"/>
  <p:notesSz cx="6858000" cy="9144000"/>
  <p:embeddedFontLst>
    <p:embeddedFont>
      <p:font typeface="Josefin Slab"/>
      <p:regular r:id="rId458"/>
      <p:bold r:id="rId459"/>
      <p:italic r:id="rId460"/>
      <p:boldItalic r:id="rId461"/>
    </p:embeddedFont>
    <p:embeddedFont>
      <p:font typeface="Economica"/>
      <p:regular r:id="rId462"/>
      <p:bold r:id="rId463"/>
      <p:italic r:id="rId464"/>
      <p:boldItalic r:id="rId465"/>
    </p:embeddedFont>
    <p:embeddedFont>
      <p:font typeface="Roboto"/>
      <p:regular r:id="rId466"/>
      <p:bold r:id="rId467"/>
      <p:italic r:id="rId468"/>
      <p:boldItalic r:id="rId469"/>
    </p:embeddedFont>
    <p:embeddedFont>
      <p:font typeface="Oxygen"/>
      <p:regular r:id="rId470"/>
      <p:bold r:id="rId471"/>
    </p:embeddedFont>
    <p:embeddedFont>
      <p:font typeface="Habibi"/>
      <p:regular r:id="rId472"/>
    </p:embeddedFont>
    <p:embeddedFont>
      <p:font typeface="Pacifico"/>
      <p:regular r:id="rId473"/>
    </p:embeddedFont>
    <p:embeddedFont>
      <p:font typeface="Comfortaa"/>
      <p:regular r:id="rId474"/>
      <p:bold r:id="rId475"/>
    </p:embeddedFont>
    <p:embeddedFont>
      <p:font typeface="Open Sans"/>
      <p:regular r:id="rId476"/>
      <p:bold r:id="rId477"/>
      <p:italic r:id="rId478"/>
      <p:boldItalic r:id="rId4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E59CC5-BFA2-4C44-9D40-4E4266A2D9C1}">
  <a:tblStyle styleId="{7DE59CC5-BFA2-4C44-9D40-4E4266A2D9C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DEDD61C-FC12-4F99-8BC0-93F9548867E3}"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90" Type="http://schemas.openxmlformats.org/officeDocument/2006/relationships/slide" Target="slides/slide184.xml"/><Relationship Id="rId194" Type="http://schemas.openxmlformats.org/officeDocument/2006/relationships/slide" Target="slides/slide188.xml"/><Relationship Id="rId193" Type="http://schemas.openxmlformats.org/officeDocument/2006/relationships/slide" Target="slides/slide187.xml"/><Relationship Id="rId192" Type="http://schemas.openxmlformats.org/officeDocument/2006/relationships/slide" Target="slides/slide186.xml"/><Relationship Id="rId191" Type="http://schemas.openxmlformats.org/officeDocument/2006/relationships/slide" Target="slides/slide185.xml"/><Relationship Id="rId187" Type="http://schemas.openxmlformats.org/officeDocument/2006/relationships/slide" Target="slides/slide181.xml"/><Relationship Id="rId186" Type="http://schemas.openxmlformats.org/officeDocument/2006/relationships/slide" Target="slides/slide180.xml"/><Relationship Id="rId185" Type="http://schemas.openxmlformats.org/officeDocument/2006/relationships/slide" Target="slides/slide179.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183" Type="http://schemas.openxmlformats.org/officeDocument/2006/relationships/slide" Target="slides/slide177.xml"/><Relationship Id="rId182" Type="http://schemas.openxmlformats.org/officeDocument/2006/relationships/slide" Target="slides/slide176.xml"/><Relationship Id="rId181" Type="http://schemas.openxmlformats.org/officeDocument/2006/relationships/slide" Target="slides/slide175.xml"/><Relationship Id="rId180" Type="http://schemas.openxmlformats.org/officeDocument/2006/relationships/slide" Target="slides/slide174.xml"/><Relationship Id="rId176" Type="http://schemas.openxmlformats.org/officeDocument/2006/relationships/slide" Target="slides/slide170.xml"/><Relationship Id="rId297" Type="http://schemas.openxmlformats.org/officeDocument/2006/relationships/slide" Target="slides/slide291.xml"/><Relationship Id="rId175" Type="http://schemas.openxmlformats.org/officeDocument/2006/relationships/slide" Target="slides/slide169.xml"/><Relationship Id="rId296" Type="http://schemas.openxmlformats.org/officeDocument/2006/relationships/slide" Target="slides/slide290.xml"/><Relationship Id="rId174" Type="http://schemas.openxmlformats.org/officeDocument/2006/relationships/slide" Target="slides/slide168.xml"/><Relationship Id="rId295" Type="http://schemas.openxmlformats.org/officeDocument/2006/relationships/slide" Target="slides/slide289.xml"/><Relationship Id="rId173" Type="http://schemas.openxmlformats.org/officeDocument/2006/relationships/slide" Target="slides/slide167.xml"/><Relationship Id="rId294" Type="http://schemas.openxmlformats.org/officeDocument/2006/relationships/slide" Target="slides/slide288.xml"/><Relationship Id="rId179" Type="http://schemas.openxmlformats.org/officeDocument/2006/relationships/slide" Target="slides/slide173.xml"/><Relationship Id="rId178" Type="http://schemas.openxmlformats.org/officeDocument/2006/relationships/slide" Target="slides/slide172.xml"/><Relationship Id="rId299" Type="http://schemas.openxmlformats.org/officeDocument/2006/relationships/slide" Target="slides/slide293.xml"/><Relationship Id="rId177" Type="http://schemas.openxmlformats.org/officeDocument/2006/relationships/slide" Target="slides/slide171.xml"/><Relationship Id="rId298" Type="http://schemas.openxmlformats.org/officeDocument/2006/relationships/slide" Target="slides/slide292.xml"/><Relationship Id="rId198" Type="http://schemas.openxmlformats.org/officeDocument/2006/relationships/slide" Target="slides/slide192.xml"/><Relationship Id="rId197" Type="http://schemas.openxmlformats.org/officeDocument/2006/relationships/slide" Target="slides/slide191.xml"/><Relationship Id="rId196" Type="http://schemas.openxmlformats.org/officeDocument/2006/relationships/slide" Target="slides/slide190.xml"/><Relationship Id="rId195" Type="http://schemas.openxmlformats.org/officeDocument/2006/relationships/slide" Target="slides/slide189.xml"/><Relationship Id="rId199" Type="http://schemas.openxmlformats.org/officeDocument/2006/relationships/slide" Target="slides/slide193.xml"/><Relationship Id="rId150" Type="http://schemas.openxmlformats.org/officeDocument/2006/relationships/slide" Target="slides/slide144.xml"/><Relationship Id="rId271" Type="http://schemas.openxmlformats.org/officeDocument/2006/relationships/slide" Target="slides/slide265.xml"/><Relationship Id="rId392" Type="http://schemas.openxmlformats.org/officeDocument/2006/relationships/slide" Target="slides/slide386.xml"/><Relationship Id="rId270" Type="http://schemas.openxmlformats.org/officeDocument/2006/relationships/slide" Target="slides/slide264.xml"/><Relationship Id="rId391" Type="http://schemas.openxmlformats.org/officeDocument/2006/relationships/slide" Target="slides/slide385.xml"/><Relationship Id="rId390" Type="http://schemas.openxmlformats.org/officeDocument/2006/relationships/slide" Target="slides/slide384.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385" Type="http://schemas.openxmlformats.org/officeDocument/2006/relationships/slide" Target="slides/slide379.xml"/><Relationship Id="rId142" Type="http://schemas.openxmlformats.org/officeDocument/2006/relationships/slide" Target="slides/slide136.xml"/><Relationship Id="rId263" Type="http://schemas.openxmlformats.org/officeDocument/2006/relationships/slide" Target="slides/slide257.xml"/><Relationship Id="rId384" Type="http://schemas.openxmlformats.org/officeDocument/2006/relationships/slide" Target="slides/slide378.xml"/><Relationship Id="rId141" Type="http://schemas.openxmlformats.org/officeDocument/2006/relationships/slide" Target="slides/slide135.xml"/><Relationship Id="rId262" Type="http://schemas.openxmlformats.org/officeDocument/2006/relationships/slide" Target="slides/slide256.xml"/><Relationship Id="rId383" Type="http://schemas.openxmlformats.org/officeDocument/2006/relationships/slide" Target="slides/slide377.xml"/><Relationship Id="rId140" Type="http://schemas.openxmlformats.org/officeDocument/2006/relationships/slide" Target="slides/slide134.xml"/><Relationship Id="rId261" Type="http://schemas.openxmlformats.org/officeDocument/2006/relationships/slide" Target="slides/slide255.xml"/><Relationship Id="rId382" Type="http://schemas.openxmlformats.org/officeDocument/2006/relationships/slide" Target="slides/slide376.xml"/><Relationship Id="rId5" Type="http://schemas.openxmlformats.org/officeDocument/2006/relationships/slideMaster" Target="slideMasters/slideMaster2.xml"/><Relationship Id="rId147" Type="http://schemas.openxmlformats.org/officeDocument/2006/relationships/slide" Target="slides/slide141.xml"/><Relationship Id="rId268" Type="http://schemas.openxmlformats.org/officeDocument/2006/relationships/slide" Target="slides/slide262.xml"/><Relationship Id="rId389" Type="http://schemas.openxmlformats.org/officeDocument/2006/relationships/slide" Target="slides/slide383.xml"/><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388" Type="http://schemas.openxmlformats.org/officeDocument/2006/relationships/slide" Target="slides/slide382.xml"/><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387" Type="http://schemas.openxmlformats.org/officeDocument/2006/relationships/slide" Target="slides/slide381.xml"/><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386" Type="http://schemas.openxmlformats.org/officeDocument/2006/relationships/slide" Target="slides/slide380.xml"/><Relationship Id="rId260" Type="http://schemas.openxmlformats.org/officeDocument/2006/relationships/slide" Target="slides/slide254.xml"/><Relationship Id="rId381" Type="http://schemas.openxmlformats.org/officeDocument/2006/relationships/slide" Target="slides/slide375.xml"/><Relationship Id="rId380" Type="http://schemas.openxmlformats.org/officeDocument/2006/relationships/slide" Target="slides/slide374.xml"/><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379" Type="http://schemas.openxmlformats.org/officeDocument/2006/relationships/slide" Target="slides/slide373.xml"/><Relationship Id="rId132" Type="http://schemas.openxmlformats.org/officeDocument/2006/relationships/slide" Target="slides/slide126.xml"/><Relationship Id="rId253" Type="http://schemas.openxmlformats.org/officeDocument/2006/relationships/slide" Target="slides/slide247.xml"/><Relationship Id="rId374" Type="http://schemas.openxmlformats.org/officeDocument/2006/relationships/slide" Target="slides/slide368.xml"/><Relationship Id="rId131" Type="http://schemas.openxmlformats.org/officeDocument/2006/relationships/slide" Target="slides/slide125.xml"/><Relationship Id="rId252" Type="http://schemas.openxmlformats.org/officeDocument/2006/relationships/slide" Target="slides/slide246.xml"/><Relationship Id="rId373" Type="http://schemas.openxmlformats.org/officeDocument/2006/relationships/slide" Target="slides/slide367.xml"/><Relationship Id="rId130" Type="http://schemas.openxmlformats.org/officeDocument/2006/relationships/slide" Target="slides/slide124.xml"/><Relationship Id="rId251" Type="http://schemas.openxmlformats.org/officeDocument/2006/relationships/slide" Target="slides/slide245.xml"/><Relationship Id="rId372" Type="http://schemas.openxmlformats.org/officeDocument/2006/relationships/slide" Target="slides/slide366.xml"/><Relationship Id="rId250" Type="http://schemas.openxmlformats.org/officeDocument/2006/relationships/slide" Target="slides/slide244.xml"/><Relationship Id="rId371" Type="http://schemas.openxmlformats.org/officeDocument/2006/relationships/slide" Target="slides/slide365.xml"/><Relationship Id="rId136" Type="http://schemas.openxmlformats.org/officeDocument/2006/relationships/slide" Target="slides/slide130.xml"/><Relationship Id="rId257" Type="http://schemas.openxmlformats.org/officeDocument/2006/relationships/slide" Target="slides/slide251.xml"/><Relationship Id="rId378" Type="http://schemas.openxmlformats.org/officeDocument/2006/relationships/slide" Target="slides/slide372.xml"/><Relationship Id="rId135" Type="http://schemas.openxmlformats.org/officeDocument/2006/relationships/slide" Target="slides/slide129.xml"/><Relationship Id="rId256" Type="http://schemas.openxmlformats.org/officeDocument/2006/relationships/slide" Target="slides/slide250.xml"/><Relationship Id="rId377" Type="http://schemas.openxmlformats.org/officeDocument/2006/relationships/slide" Target="slides/slide371.xml"/><Relationship Id="rId134" Type="http://schemas.openxmlformats.org/officeDocument/2006/relationships/slide" Target="slides/slide128.xml"/><Relationship Id="rId255" Type="http://schemas.openxmlformats.org/officeDocument/2006/relationships/slide" Target="slides/slide249.xml"/><Relationship Id="rId376" Type="http://schemas.openxmlformats.org/officeDocument/2006/relationships/slide" Target="slides/slide370.xml"/><Relationship Id="rId133" Type="http://schemas.openxmlformats.org/officeDocument/2006/relationships/slide" Target="slides/slide127.xml"/><Relationship Id="rId254" Type="http://schemas.openxmlformats.org/officeDocument/2006/relationships/slide" Target="slides/slide248.xml"/><Relationship Id="rId375" Type="http://schemas.openxmlformats.org/officeDocument/2006/relationships/slide" Target="slides/slide369.xml"/><Relationship Id="rId172" Type="http://schemas.openxmlformats.org/officeDocument/2006/relationships/slide" Target="slides/slide166.xml"/><Relationship Id="rId293" Type="http://schemas.openxmlformats.org/officeDocument/2006/relationships/slide" Target="slides/slide287.xml"/><Relationship Id="rId171" Type="http://schemas.openxmlformats.org/officeDocument/2006/relationships/slide" Target="slides/slide165.xml"/><Relationship Id="rId292" Type="http://schemas.openxmlformats.org/officeDocument/2006/relationships/slide" Target="slides/slide286.xml"/><Relationship Id="rId170" Type="http://schemas.openxmlformats.org/officeDocument/2006/relationships/slide" Target="slides/slide164.xml"/><Relationship Id="rId291" Type="http://schemas.openxmlformats.org/officeDocument/2006/relationships/slide" Target="slides/slide285.xml"/><Relationship Id="rId290" Type="http://schemas.openxmlformats.org/officeDocument/2006/relationships/slide" Target="slides/slide284.xml"/><Relationship Id="rId165" Type="http://schemas.openxmlformats.org/officeDocument/2006/relationships/slide" Target="slides/slide159.xml"/><Relationship Id="rId286" Type="http://schemas.openxmlformats.org/officeDocument/2006/relationships/slide" Target="slides/slide280.xml"/><Relationship Id="rId164" Type="http://schemas.openxmlformats.org/officeDocument/2006/relationships/slide" Target="slides/slide158.xml"/><Relationship Id="rId285" Type="http://schemas.openxmlformats.org/officeDocument/2006/relationships/slide" Target="slides/slide279.xml"/><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slide" Target="slides/slide283.xml"/><Relationship Id="rId167" Type="http://schemas.openxmlformats.org/officeDocument/2006/relationships/slide" Target="slides/slide161.xml"/><Relationship Id="rId288" Type="http://schemas.openxmlformats.org/officeDocument/2006/relationships/slide" Target="slides/slide282.xml"/><Relationship Id="rId166" Type="http://schemas.openxmlformats.org/officeDocument/2006/relationships/slide" Target="slides/slide160.xml"/><Relationship Id="rId287" Type="http://schemas.openxmlformats.org/officeDocument/2006/relationships/slide" Target="slides/slide281.xml"/><Relationship Id="rId161" Type="http://schemas.openxmlformats.org/officeDocument/2006/relationships/slide" Target="slides/slide155.xml"/><Relationship Id="rId282" Type="http://schemas.openxmlformats.org/officeDocument/2006/relationships/slide" Target="slides/slide276.xml"/><Relationship Id="rId160" Type="http://schemas.openxmlformats.org/officeDocument/2006/relationships/slide" Target="slides/slide154.xml"/><Relationship Id="rId281" Type="http://schemas.openxmlformats.org/officeDocument/2006/relationships/slide" Target="slides/slide275.xml"/><Relationship Id="rId280" Type="http://schemas.openxmlformats.org/officeDocument/2006/relationships/slide" Target="slides/slide274.xml"/><Relationship Id="rId159" Type="http://schemas.openxmlformats.org/officeDocument/2006/relationships/slide" Target="slides/slide153.xml"/><Relationship Id="rId154" Type="http://schemas.openxmlformats.org/officeDocument/2006/relationships/slide" Target="slides/slide148.xml"/><Relationship Id="rId275" Type="http://schemas.openxmlformats.org/officeDocument/2006/relationships/slide" Target="slides/slide269.xml"/><Relationship Id="rId396" Type="http://schemas.openxmlformats.org/officeDocument/2006/relationships/slide" Target="slides/slide390.xml"/><Relationship Id="rId153" Type="http://schemas.openxmlformats.org/officeDocument/2006/relationships/slide" Target="slides/slide147.xml"/><Relationship Id="rId274" Type="http://schemas.openxmlformats.org/officeDocument/2006/relationships/slide" Target="slides/slide268.xml"/><Relationship Id="rId395" Type="http://schemas.openxmlformats.org/officeDocument/2006/relationships/slide" Target="slides/slide389.xml"/><Relationship Id="rId152" Type="http://schemas.openxmlformats.org/officeDocument/2006/relationships/slide" Target="slides/slide146.xml"/><Relationship Id="rId273" Type="http://schemas.openxmlformats.org/officeDocument/2006/relationships/slide" Target="slides/slide267.xml"/><Relationship Id="rId394" Type="http://schemas.openxmlformats.org/officeDocument/2006/relationships/slide" Target="slides/slide388.xml"/><Relationship Id="rId151" Type="http://schemas.openxmlformats.org/officeDocument/2006/relationships/slide" Target="slides/slide145.xml"/><Relationship Id="rId272" Type="http://schemas.openxmlformats.org/officeDocument/2006/relationships/slide" Target="slides/slide266.xml"/><Relationship Id="rId393" Type="http://schemas.openxmlformats.org/officeDocument/2006/relationships/slide" Target="slides/slide387.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399" Type="http://schemas.openxmlformats.org/officeDocument/2006/relationships/slide" Target="slides/slide393.xml"/><Relationship Id="rId156" Type="http://schemas.openxmlformats.org/officeDocument/2006/relationships/slide" Target="slides/slide150.xml"/><Relationship Id="rId277" Type="http://schemas.openxmlformats.org/officeDocument/2006/relationships/slide" Target="slides/slide271.xml"/><Relationship Id="rId398" Type="http://schemas.openxmlformats.org/officeDocument/2006/relationships/slide" Target="slides/slide392.xml"/><Relationship Id="rId155" Type="http://schemas.openxmlformats.org/officeDocument/2006/relationships/slide" Target="slides/slide149.xml"/><Relationship Id="rId276" Type="http://schemas.openxmlformats.org/officeDocument/2006/relationships/slide" Target="slides/slide270.xml"/><Relationship Id="rId397" Type="http://schemas.openxmlformats.org/officeDocument/2006/relationships/slide" Target="slides/slide391.xml"/><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409" Type="http://schemas.openxmlformats.org/officeDocument/2006/relationships/slide" Target="slides/slide403.xml"/><Relationship Id="rId404" Type="http://schemas.openxmlformats.org/officeDocument/2006/relationships/slide" Target="slides/slide398.xml"/><Relationship Id="rId403" Type="http://schemas.openxmlformats.org/officeDocument/2006/relationships/slide" Target="slides/slide397.xml"/><Relationship Id="rId402" Type="http://schemas.openxmlformats.org/officeDocument/2006/relationships/slide" Target="slides/slide396.xml"/><Relationship Id="rId401" Type="http://schemas.openxmlformats.org/officeDocument/2006/relationships/slide" Target="slides/slide395.xml"/><Relationship Id="rId408" Type="http://schemas.openxmlformats.org/officeDocument/2006/relationships/slide" Target="slides/slide402.xml"/><Relationship Id="rId407" Type="http://schemas.openxmlformats.org/officeDocument/2006/relationships/slide" Target="slides/slide401.xml"/><Relationship Id="rId406" Type="http://schemas.openxmlformats.org/officeDocument/2006/relationships/slide" Target="slides/slide400.xml"/><Relationship Id="rId405" Type="http://schemas.openxmlformats.org/officeDocument/2006/relationships/slide" Target="slides/slide399.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400" Type="http://schemas.openxmlformats.org/officeDocument/2006/relationships/slide" Target="slides/slide394.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 Id="rId107" Type="http://schemas.openxmlformats.org/officeDocument/2006/relationships/slide" Target="slides/slide101.xml"/><Relationship Id="rId228" Type="http://schemas.openxmlformats.org/officeDocument/2006/relationships/slide" Target="slides/slide222.xml"/><Relationship Id="rId349" Type="http://schemas.openxmlformats.org/officeDocument/2006/relationships/slide" Target="slides/slide343.xml"/><Relationship Id="rId106" Type="http://schemas.openxmlformats.org/officeDocument/2006/relationships/slide" Target="slides/slide100.xml"/><Relationship Id="rId227" Type="http://schemas.openxmlformats.org/officeDocument/2006/relationships/slide" Target="slides/slide221.xml"/><Relationship Id="rId348" Type="http://schemas.openxmlformats.org/officeDocument/2006/relationships/slide" Target="slides/slide342.xml"/><Relationship Id="rId469" Type="http://schemas.openxmlformats.org/officeDocument/2006/relationships/font" Target="fonts/Roboto-boldItalic.fntdata"/><Relationship Id="rId105" Type="http://schemas.openxmlformats.org/officeDocument/2006/relationships/slide" Target="slides/slide99.xml"/><Relationship Id="rId226" Type="http://schemas.openxmlformats.org/officeDocument/2006/relationships/slide" Target="slides/slide220.xml"/><Relationship Id="rId347" Type="http://schemas.openxmlformats.org/officeDocument/2006/relationships/slide" Target="slides/slide341.xml"/><Relationship Id="rId468" Type="http://schemas.openxmlformats.org/officeDocument/2006/relationships/font" Target="fonts/Roboto-italic.fntdata"/><Relationship Id="rId104" Type="http://schemas.openxmlformats.org/officeDocument/2006/relationships/slide" Target="slides/slide98.xml"/><Relationship Id="rId225" Type="http://schemas.openxmlformats.org/officeDocument/2006/relationships/slide" Target="slides/slide219.xml"/><Relationship Id="rId346" Type="http://schemas.openxmlformats.org/officeDocument/2006/relationships/slide" Target="slides/slide340.xml"/><Relationship Id="rId467" Type="http://schemas.openxmlformats.org/officeDocument/2006/relationships/font" Target="fonts/Roboto-bold.fntdata"/><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341" Type="http://schemas.openxmlformats.org/officeDocument/2006/relationships/slide" Target="slides/slide335.xml"/><Relationship Id="rId462" Type="http://schemas.openxmlformats.org/officeDocument/2006/relationships/font" Target="fonts/Economica-regular.fntdata"/><Relationship Id="rId340" Type="http://schemas.openxmlformats.org/officeDocument/2006/relationships/slide" Target="slides/slide334.xml"/><Relationship Id="rId461" Type="http://schemas.openxmlformats.org/officeDocument/2006/relationships/font" Target="fonts/JosefinSlab-boldItalic.fntdata"/><Relationship Id="rId460" Type="http://schemas.openxmlformats.org/officeDocument/2006/relationships/font" Target="fonts/JosefinSlab-italic.fntdata"/><Relationship Id="rId103" Type="http://schemas.openxmlformats.org/officeDocument/2006/relationships/slide" Target="slides/slide97.xml"/><Relationship Id="rId224" Type="http://schemas.openxmlformats.org/officeDocument/2006/relationships/slide" Target="slides/slide218.xml"/><Relationship Id="rId345" Type="http://schemas.openxmlformats.org/officeDocument/2006/relationships/slide" Target="slides/slide339.xml"/><Relationship Id="rId466" Type="http://schemas.openxmlformats.org/officeDocument/2006/relationships/font" Target="fonts/Roboto-regular.fntdata"/><Relationship Id="rId102" Type="http://schemas.openxmlformats.org/officeDocument/2006/relationships/slide" Target="slides/slide96.xml"/><Relationship Id="rId223" Type="http://schemas.openxmlformats.org/officeDocument/2006/relationships/slide" Target="slides/slide217.xml"/><Relationship Id="rId344" Type="http://schemas.openxmlformats.org/officeDocument/2006/relationships/slide" Target="slides/slide338.xml"/><Relationship Id="rId465" Type="http://schemas.openxmlformats.org/officeDocument/2006/relationships/font" Target="fonts/Economica-boldItalic.fntdata"/><Relationship Id="rId101" Type="http://schemas.openxmlformats.org/officeDocument/2006/relationships/slide" Target="slides/slide95.xml"/><Relationship Id="rId222" Type="http://schemas.openxmlformats.org/officeDocument/2006/relationships/slide" Target="slides/slide216.xml"/><Relationship Id="rId343" Type="http://schemas.openxmlformats.org/officeDocument/2006/relationships/slide" Target="slides/slide337.xml"/><Relationship Id="rId464" Type="http://schemas.openxmlformats.org/officeDocument/2006/relationships/font" Target="fonts/Economica-italic.fntdata"/><Relationship Id="rId100" Type="http://schemas.openxmlformats.org/officeDocument/2006/relationships/slide" Target="slides/slide94.xml"/><Relationship Id="rId221" Type="http://schemas.openxmlformats.org/officeDocument/2006/relationships/slide" Target="slides/slide215.xml"/><Relationship Id="rId342" Type="http://schemas.openxmlformats.org/officeDocument/2006/relationships/slide" Target="slides/slide336.xml"/><Relationship Id="rId463" Type="http://schemas.openxmlformats.org/officeDocument/2006/relationships/font" Target="fonts/Economica-bold.fntdata"/><Relationship Id="rId217" Type="http://schemas.openxmlformats.org/officeDocument/2006/relationships/slide" Target="slides/slide211.xml"/><Relationship Id="rId338" Type="http://schemas.openxmlformats.org/officeDocument/2006/relationships/slide" Target="slides/slide332.xml"/><Relationship Id="rId459" Type="http://schemas.openxmlformats.org/officeDocument/2006/relationships/font" Target="fonts/JosefinSlab-bold.fntdata"/><Relationship Id="rId216" Type="http://schemas.openxmlformats.org/officeDocument/2006/relationships/slide" Target="slides/slide210.xml"/><Relationship Id="rId337" Type="http://schemas.openxmlformats.org/officeDocument/2006/relationships/slide" Target="slides/slide331.xml"/><Relationship Id="rId458" Type="http://schemas.openxmlformats.org/officeDocument/2006/relationships/font" Target="fonts/JosefinSlab-regular.fntdata"/><Relationship Id="rId215" Type="http://schemas.openxmlformats.org/officeDocument/2006/relationships/slide" Target="slides/slide209.xml"/><Relationship Id="rId336" Type="http://schemas.openxmlformats.org/officeDocument/2006/relationships/slide" Target="slides/slide330.xml"/><Relationship Id="rId457" Type="http://schemas.openxmlformats.org/officeDocument/2006/relationships/slide" Target="slides/slide451.xml"/><Relationship Id="rId214" Type="http://schemas.openxmlformats.org/officeDocument/2006/relationships/slide" Target="slides/slide208.xml"/><Relationship Id="rId335" Type="http://schemas.openxmlformats.org/officeDocument/2006/relationships/slide" Target="slides/slide329.xml"/><Relationship Id="rId456" Type="http://schemas.openxmlformats.org/officeDocument/2006/relationships/slide" Target="slides/slide450.xml"/><Relationship Id="rId219" Type="http://schemas.openxmlformats.org/officeDocument/2006/relationships/slide" Target="slides/slide213.xml"/><Relationship Id="rId218" Type="http://schemas.openxmlformats.org/officeDocument/2006/relationships/slide" Target="slides/slide212.xml"/><Relationship Id="rId339" Type="http://schemas.openxmlformats.org/officeDocument/2006/relationships/slide" Target="slides/slide333.xml"/><Relationship Id="rId330" Type="http://schemas.openxmlformats.org/officeDocument/2006/relationships/slide" Target="slides/slide324.xml"/><Relationship Id="rId451" Type="http://schemas.openxmlformats.org/officeDocument/2006/relationships/slide" Target="slides/slide445.xml"/><Relationship Id="rId450" Type="http://schemas.openxmlformats.org/officeDocument/2006/relationships/slide" Target="slides/slide444.xml"/><Relationship Id="rId213" Type="http://schemas.openxmlformats.org/officeDocument/2006/relationships/slide" Target="slides/slide207.xml"/><Relationship Id="rId334" Type="http://schemas.openxmlformats.org/officeDocument/2006/relationships/slide" Target="slides/slide328.xml"/><Relationship Id="rId455" Type="http://schemas.openxmlformats.org/officeDocument/2006/relationships/slide" Target="slides/slide449.xml"/><Relationship Id="rId212" Type="http://schemas.openxmlformats.org/officeDocument/2006/relationships/slide" Target="slides/slide206.xml"/><Relationship Id="rId333" Type="http://schemas.openxmlformats.org/officeDocument/2006/relationships/slide" Target="slides/slide327.xml"/><Relationship Id="rId454" Type="http://schemas.openxmlformats.org/officeDocument/2006/relationships/slide" Target="slides/slide448.xml"/><Relationship Id="rId211" Type="http://schemas.openxmlformats.org/officeDocument/2006/relationships/slide" Target="slides/slide205.xml"/><Relationship Id="rId332" Type="http://schemas.openxmlformats.org/officeDocument/2006/relationships/slide" Target="slides/slide326.xml"/><Relationship Id="rId453" Type="http://schemas.openxmlformats.org/officeDocument/2006/relationships/slide" Target="slides/slide447.xml"/><Relationship Id="rId210" Type="http://schemas.openxmlformats.org/officeDocument/2006/relationships/slide" Target="slides/slide204.xml"/><Relationship Id="rId331" Type="http://schemas.openxmlformats.org/officeDocument/2006/relationships/slide" Target="slides/slide325.xml"/><Relationship Id="rId452" Type="http://schemas.openxmlformats.org/officeDocument/2006/relationships/slide" Target="slides/slide446.xml"/><Relationship Id="rId370" Type="http://schemas.openxmlformats.org/officeDocument/2006/relationships/slide" Target="slides/slide364.xml"/><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369" Type="http://schemas.openxmlformats.org/officeDocument/2006/relationships/slide" Target="slides/slide363.xml"/><Relationship Id="rId126" Type="http://schemas.openxmlformats.org/officeDocument/2006/relationships/slide" Target="slides/slide120.xml"/><Relationship Id="rId247" Type="http://schemas.openxmlformats.org/officeDocument/2006/relationships/slide" Target="slides/slide241.xml"/><Relationship Id="rId368" Type="http://schemas.openxmlformats.org/officeDocument/2006/relationships/slide" Target="slides/slide362.xml"/><Relationship Id="rId121" Type="http://schemas.openxmlformats.org/officeDocument/2006/relationships/slide" Target="slides/slide115.xml"/><Relationship Id="rId242" Type="http://schemas.openxmlformats.org/officeDocument/2006/relationships/slide" Target="slides/slide236.xml"/><Relationship Id="rId363" Type="http://schemas.openxmlformats.org/officeDocument/2006/relationships/slide" Target="slides/slide357.xml"/><Relationship Id="rId120" Type="http://schemas.openxmlformats.org/officeDocument/2006/relationships/slide" Target="slides/slide114.xml"/><Relationship Id="rId241" Type="http://schemas.openxmlformats.org/officeDocument/2006/relationships/slide" Target="slides/slide235.xml"/><Relationship Id="rId362" Type="http://schemas.openxmlformats.org/officeDocument/2006/relationships/slide" Target="slides/slide356.xml"/><Relationship Id="rId240" Type="http://schemas.openxmlformats.org/officeDocument/2006/relationships/slide" Target="slides/slide234.xml"/><Relationship Id="rId361" Type="http://schemas.openxmlformats.org/officeDocument/2006/relationships/slide" Target="slides/slide355.xml"/><Relationship Id="rId360" Type="http://schemas.openxmlformats.org/officeDocument/2006/relationships/slide" Target="slides/slide354.xml"/><Relationship Id="rId125" Type="http://schemas.openxmlformats.org/officeDocument/2006/relationships/slide" Target="slides/slide119.xml"/><Relationship Id="rId246" Type="http://schemas.openxmlformats.org/officeDocument/2006/relationships/slide" Target="slides/slide240.xml"/><Relationship Id="rId367" Type="http://schemas.openxmlformats.org/officeDocument/2006/relationships/slide" Target="slides/slide361.xml"/><Relationship Id="rId124" Type="http://schemas.openxmlformats.org/officeDocument/2006/relationships/slide" Target="slides/slide118.xml"/><Relationship Id="rId245" Type="http://schemas.openxmlformats.org/officeDocument/2006/relationships/slide" Target="slides/slide239.xml"/><Relationship Id="rId366" Type="http://schemas.openxmlformats.org/officeDocument/2006/relationships/slide" Target="slides/slide360.xml"/><Relationship Id="rId123" Type="http://schemas.openxmlformats.org/officeDocument/2006/relationships/slide" Target="slides/slide117.xml"/><Relationship Id="rId244" Type="http://schemas.openxmlformats.org/officeDocument/2006/relationships/slide" Target="slides/slide238.xml"/><Relationship Id="rId365" Type="http://schemas.openxmlformats.org/officeDocument/2006/relationships/slide" Target="slides/slide359.xml"/><Relationship Id="rId122" Type="http://schemas.openxmlformats.org/officeDocument/2006/relationships/slide" Target="slides/slide116.xml"/><Relationship Id="rId243" Type="http://schemas.openxmlformats.org/officeDocument/2006/relationships/slide" Target="slides/slide237.xml"/><Relationship Id="rId364" Type="http://schemas.openxmlformats.org/officeDocument/2006/relationships/slide" Target="slides/slide358.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359" Type="http://schemas.openxmlformats.org/officeDocument/2006/relationships/slide" Target="slides/slide353.xml"/><Relationship Id="rId116" Type="http://schemas.openxmlformats.org/officeDocument/2006/relationships/slide" Target="slides/slide110.xml"/><Relationship Id="rId237" Type="http://schemas.openxmlformats.org/officeDocument/2006/relationships/slide" Target="slides/slide231.xml"/><Relationship Id="rId358" Type="http://schemas.openxmlformats.org/officeDocument/2006/relationships/slide" Target="slides/slide352.xml"/><Relationship Id="rId479" Type="http://schemas.openxmlformats.org/officeDocument/2006/relationships/font" Target="fonts/OpenSans-boldItalic.fntdata"/><Relationship Id="rId115" Type="http://schemas.openxmlformats.org/officeDocument/2006/relationships/slide" Target="slides/slide109.xml"/><Relationship Id="rId236" Type="http://schemas.openxmlformats.org/officeDocument/2006/relationships/slide" Target="slides/slide230.xml"/><Relationship Id="rId357" Type="http://schemas.openxmlformats.org/officeDocument/2006/relationships/slide" Target="slides/slide351.xml"/><Relationship Id="rId478" Type="http://schemas.openxmlformats.org/officeDocument/2006/relationships/font" Target="fonts/OpenSans-italic.fntdata"/><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352" Type="http://schemas.openxmlformats.org/officeDocument/2006/relationships/slide" Target="slides/slide346.xml"/><Relationship Id="rId473" Type="http://schemas.openxmlformats.org/officeDocument/2006/relationships/font" Target="fonts/Pacifico-regular.fntdata"/><Relationship Id="rId230" Type="http://schemas.openxmlformats.org/officeDocument/2006/relationships/slide" Target="slides/slide224.xml"/><Relationship Id="rId351" Type="http://schemas.openxmlformats.org/officeDocument/2006/relationships/slide" Target="slides/slide345.xml"/><Relationship Id="rId472" Type="http://schemas.openxmlformats.org/officeDocument/2006/relationships/font" Target="fonts/Habibi-regular.fntdata"/><Relationship Id="rId350" Type="http://schemas.openxmlformats.org/officeDocument/2006/relationships/slide" Target="slides/slide344.xml"/><Relationship Id="rId471" Type="http://schemas.openxmlformats.org/officeDocument/2006/relationships/font" Target="fonts/Oxygen-bold.fntdata"/><Relationship Id="rId470" Type="http://schemas.openxmlformats.org/officeDocument/2006/relationships/font" Target="fonts/Oxygen-regular.fntdata"/><Relationship Id="rId114" Type="http://schemas.openxmlformats.org/officeDocument/2006/relationships/slide" Target="slides/slide108.xml"/><Relationship Id="rId235" Type="http://schemas.openxmlformats.org/officeDocument/2006/relationships/slide" Target="slides/slide229.xml"/><Relationship Id="rId356" Type="http://schemas.openxmlformats.org/officeDocument/2006/relationships/slide" Target="slides/slide350.xml"/><Relationship Id="rId477" Type="http://schemas.openxmlformats.org/officeDocument/2006/relationships/font" Target="fonts/OpenSans-bold.fntdata"/><Relationship Id="rId113" Type="http://schemas.openxmlformats.org/officeDocument/2006/relationships/slide" Target="slides/slide107.xml"/><Relationship Id="rId234" Type="http://schemas.openxmlformats.org/officeDocument/2006/relationships/slide" Target="slides/slide228.xml"/><Relationship Id="rId355" Type="http://schemas.openxmlformats.org/officeDocument/2006/relationships/slide" Target="slides/slide349.xml"/><Relationship Id="rId476" Type="http://schemas.openxmlformats.org/officeDocument/2006/relationships/font" Target="fonts/OpenSans-regular.fntdata"/><Relationship Id="rId112" Type="http://schemas.openxmlformats.org/officeDocument/2006/relationships/slide" Target="slides/slide106.xml"/><Relationship Id="rId233" Type="http://schemas.openxmlformats.org/officeDocument/2006/relationships/slide" Target="slides/slide227.xml"/><Relationship Id="rId354" Type="http://schemas.openxmlformats.org/officeDocument/2006/relationships/slide" Target="slides/slide348.xml"/><Relationship Id="rId475" Type="http://schemas.openxmlformats.org/officeDocument/2006/relationships/font" Target="fonts/Comfortaa-bold.fntdata"/><Relationship Id="rId111" Type="http://schemas.openxmlformats.org/officeDocument/2006/relationships/slide" Target="slides/slide105.xml"/><Relationship Id="rId232" Type="http://schemas.openxmlformats.org/officeDocument/2006/relationships/slide" Target="slides/slide226.xml"/><Relationship Id="rId353" Type="http://schemas.openxmlformats.org/officeDocument/2006/relationships/slide" Target="slides/slide347.xml"/><Relationship Id="rId474" Type="http://schemas.openxmlformats.org/officeDocument/2006/relationships/font" Target="fonts/Comfortaa-regular.fntdata"/><Relationship Id="rId305" Type="http://schemas.openxmlformats.org/officeDocument/2006/relationships/slide" Target="slides/slide299.xml"/><Relationship Id="rId426" Type="http://schemas.openxmlformats.org/officeDocument/2006/relationships/slide" Target="slides/slide420.xml"/><Relationship Id="rId304" Type="http://schemas.openxmlformats.org/officeDocument/2006/relationships/slide" Target="slides/slide298.xml"/><Relationship Id="rId425" Type="http://schemas.openxmlformats.org/officeDocument/2006/relationships/slide" Target="slides/slide419.xml"/><Relationship Id="rId303" Type="http://schemas.openxmlformats.org/officeDocument/2006/relationships/slide" Target="slides/slide297.xml"/><Relationship Id="rId424" Type="http://schemas.openxmlformats.org/officeDocument/2006/relationships/slide" Target="slides/slide418.xml"/><Relationship Id="rId302" Type="http://schemas.openxmlformats.org/officeDocument/2006/relationships/slide" Target="slides/slide296.xml"/><Relationship Id="rId423" Type="http://schemas.openxmlformats.org/officeDocument/2006/relationships/slide" Target="slides/slide417.xml"/><Relationship Id="rId309" Type="http://schemas.openxmlformats.org/officeDocument/2006/relationships/slide" Target="slides/slide303.xml"/><Relationship Id="rId308" Type="http://schemas.openxmlformats.org/officeDocument/2006/relationships/slide" Target="slides/slide302.xml"/><Relationship Id="rId429" Type="http://schemas.openxmlformats.org/officeDocument/2006/relationships/slide" Target="slides/slide423.xml"/><Relationship Id="rId307" Type="http://schemas.openxmlformats.org/officeDocument/2006/relationships/slide" Target="slides/slide301.xml"/><Relationship Id="rId428" Type="http://schemas.openxmlformats.org/officeDocument/2006/relationships/slide" Target="slides/slide422.xml"/><Relationship Id="rId306" Type="http://schemas.openxmlformats.org/officeDocument/2006/relationships/slide" Target="slides/slide300.xml"/><Relationship Id="rId427" Type="http://schemas.openxmlformats.org/officeDocument/2006/relationships/slide" Target="slides/slide421.xml"/><Relationship Id="rId301" Type="http://schemas.openxmlformats.org/officeDocument/2006/relationships/slide" Target="slides/slide295.xml"/><Relationship Id="rId422" Type="http://schemas.openxmlformats.org/officeDocument/2006/relationships/slide" Target="slides/slide416.xml"/><Relationship Id="rId300" Type="http://schemas.openxmlformats.org/officeDocument/2006/relationships/slide" Target="slides/slide294.xml"/><Relationship Id="rId421" Type="http://schemas.openxmlformats.org/officeDocument/2006/relationships/slide" Target="slides/slide415.xml"/><Relationship Id="rId420" Type="http://schemas.openxmlformats.org/officeDocument/2006/relationships/slide" Target="slides/slide414.xml"/><Relationship Id="rId415" Type="http://schemas.openxmlformats.org/officeDocument/2006/relationships/slide" Target="slides/slide409.xml"/><Relationship Id="rId414" Type="http://schemas.openxmlformats.org/officeDocument/2006/relationships/slide" Target="slides/slide408.xml"/><Relationship Id="rId413" Type="http://schemas.openxmlformats.org/officeDocument/2006/relationships/slide" Target="slides/slide407.xml"/><Relationship Id="rId412" Type="http://schemas.openxmlformats.org/officeDocument/2006/relationships/slide" Target="slides/slide406.xml"/><Relationship Id="rId419" Type="http://schemas.openxmlformats.org/officeDocument/2006/relationships/slide" Target="slides/slide413.xml"/><Relationship Id="rId418" Type="http://schemas.openxmlformats.org/officeDocument/2006/relationships/slide" Target="slides/slide412.xml"/><Relationship Id="rId417" Type="http://schemas.openxmlformats.org/officeDocument/2006/relationships/slide" Target="slides/slide411.xml"/><Relationship Id="rId416" Type="http://schemas.openxmlformats.org/officeDocument/2006/relationships/slide" Target="slides/slide410.xml"/><Relationship Id="rId411" Type="http://schemas.openxmlformats.org/officeDocument/2006/relationships/slide" Target="slides/slide405.xml"/><Relationship Id="rId410" Type="http://schemas.openxmlformats.org/officeDocument/2006/relationships/slide" Target="slides/slide404.xml"/><Relationship Id="rId206" Type="http://schemas.openxmlformats.org/officeDocument/2006/relationships/slide" Target="slides/slide200.xml"/><Relationship Id="rId327" Type="http://schemas.openxmlformats.org/officeDocument/2006/relationships/slide" Target="slides/slide321.xml"/><Relationship Id="rId448" Type="http://schemas.openxmlformats.org/officeDocument/2006/relationships/slide" Target="slides/slide442.xml"/><Relationship Id="rId205" Type="http://schemas.openxmlformats.org/officeDocument/2006/relationships/slide" Target="slides/slide199.xml"/><Relationship Id="rId326" Type="http://schemas.openxmlformats.org/officeDocument/2006/relationships/slide" Target="slides/slide320.xml"/><Relationship Id="rId447" Type="http://schemas.openxmlformats.org/officeDocument/2006/relationships/slide" Target="slides/slide441.xml"/><Relationship Id="rId204" Type="http://schemas.openxmlformats.org/officeDocument/2006/relationships/slide" Target="slides/slide198.xml"/><Relationship Id="rId325" Type="http://schemas.openxmlformats.org/officeDocument/2006/relationships/slide" Target="slides/slide319.xml"/><Relationship Id="rId446" Type="http://schemas.openxmlformats.org/officeDocument/2006/relationships/slide" Target="slides/slide440.xml"/><Relationship Id="rId203" Type="http://schemas.openxmlformats.org/officeDocument/2006/relationships/slide" Target="slides/slide197.xml"/><Relationship Id="rId324" Type="http://schemas.openxmlformats.org/officeDocument/2006/relationships/slide" Target="slides/slide318.xml"/><Relationship Id="rId445" Type="http://schemas.openxmlformats.org/officeDocument/2006/relationships/slide" Target="slides/slide439.xml"/><Relationship Id="rId209" Type="http://schemas.openxmlformats.org/officeDocument/2006/relationships/slide" Target="slides/slide203.xml"/><Relationship Id="rId208" Type="http://schemas.openxmlformats.org/officeDocument/2006/relationships/slide" Target="slides/slide202.xml"/><Relationship Id="rId329" Type="http://schemas.openxmlformats.org/officeDocument/2006/relationships/slide" Target="slides/slide323.xml"/><Relationship Id="rId207" Type="http://schemas.openxmlformats.org/officeDocument/2006/relationships/slide" Target="slides/slide201.xml"/><Relationship Id="rId328" Type="http://schemas.openxmlformats.org/officeDocument/2006/relationships/slide" Target="slides/slide322.xml"/><Relationship Id="rId449" Type="http://schemas.openxmlformats.org/officeDocument/2006/relationships/slide" Target="slides/slide443.xml"/><Relationship Id="rId440" Type="http://schemas.openxmlformats.org/officeDocument/2006/relationships/slide" Target="slides/slide434.xml"/><Relationship Id="rId202" Type="http://schemas.openxmlformats.org/officeDocument/2006/relationships/slide" Target="slides/slide196.xml"/><Relationship Id="rId323" Type="http://schemas.openxmlformats.org/officeDocument/2006/relationships/slide" Target="slides/slide317.xml"/><Relationship Id="rId444" Type="http://schemas.openxmlformats.org/officeDocument/2006/relationships/slide" Target="slides/slide438.xml"/><Relationship Id="rId201" Type="http://schemas.openxmlformats.org/officeDocument/2006/relationships/slide" Target="slides/slide195.xml"/><Relationship Id="rId322" Type="http://schemas.openxmlformats.org/officeDocument/2006/relationships/slide" Target="slides/slide316.xml"/><Relationship Id="rId443" Type="http://schemas.openxmlformats.org/officeDocument/2006/relationships/slide" Target="slides/slide437.xml"/><Relationship Id="rId200" Type="http://schemas.openxmlformats.org/officeDocument/2006/relationships/slide" Target="slides/slide194.xml"/><Relationship Id="rId321" Type="http://schemas.openxmlformats.org/officeDocument/2006/relationships/slide" Target="slides/slide315.xml"/><Relationship Id="rId442" Type="http://schemas.openxmlformats.org/officeDocument/2006/relationships/slide" Target="slides/slide436.xml"/><Relationship Id="rId320" Type="http://schemas.openxmlformats.org/officeDocument/2006/relationships/slide" Target="slides/slide314.xml"/><Relationship Id="rId441" Type="http://schemas.openxmlformats.org/officeDocument/2006/relationships/slide" Target="slides/slide435.xml"/><Relationship Id="rId316" Type="http://schemas.openxmlformats.org/officeDocument/2006/relationships/slide" Target="slides/slide310.xml"/><Relationship Id="rId437" Type="http://schemas.openxmlformats.org/officeDocument/2006/relationships/slide" Target="slides/slide431.xml"/><Relationship Id="rId315" Type="http://schemas.openxmlformats.org/officeDocument/2006/relationships/slide" Target="slides/slide309.xml"/><Relationship Id="rId436" Type="http://schemas.openxmlformats.org/officeDocument/2006/relationships/slide" Target="slides/slide430.xml"/><Relationship Id="rId314" Type="http://schemas.openxmlformats.org/officeDocument/2006/relationships/slide" Target="slides/slide308.xml"/><Relationship Id="rId435" Type="http://schemas.openxmlformats.org/officeDocument/2006/relationships/slide" Target="slides/slide429.xml"/><Relationship Id="rId313" Type="http://schemas.openxmlformats.org/officeDocument/2006/relationships/slide" Target="slides/slide307.xml"/><Relationship Id="rId434" Type="http://schemas.openxmlformats.org/officeDocument/2006/relationships/slide" Target="slides/slide428.xml"/><Relationship Id="rId319" Type="http://schemas.openxmlformats.org/officeDocument/2006/relationships/slide" Target="slides/slide313.xml"/><Relationship Id="rId318" Type="http://schemas.openxmlformats.org/officeDocument/2006/relationships/slide" Target="slides/slide312.xml"/><Relationship Id="rId439" Type="http://schemas.openxmlformats.org/officeDocument/2006/relationships/slide" Target="slides/slide433.xml"/><Relationship Id="rId317" Type="http://schemas.openxmlformats.org/officeDocument/2006/relationships/slide" Target="slides/slide311.xml"/><Relationship Id="rId438" Type="http://schemas.openxmlformats.org/officeDocument/2006/relationships/slide" Target="slides/slide432.xml"/><Relationship Id="rId312" Type="http://schemas.openxmlformats.org/officeDocument/2006/relationships/slide" Target="slides/slide306.xml"/><Relationship Id="rId433" Type="http://schemas.openxmlformats.org/officeDocument/2006/relationships/slide" Target="slides/slide427.xml"/><Relationship Id="rId311" Type="http://schemas.openxmlformats.org/officeDocument/2006/relationships/slide" Target="slides/slide305.xml"/><Relationship Id="rId432" Type="http://schemas.openxmlformats.org/officeDocument/2006/relationships/slide" Target="slides/slide426.xml"/><Relationship Id="rId310" Type="http://schemas.openxmlformats.org/officeDocument/2006/relationships/slide" Target="slides/slide304.xml"/><Relationship Id="rId431" Type="http://schemas.openxmlformats.org/officeDocument/2006/relationships/slide" Target="slides/slide425.xml"/><Relationship Id="rId430" Type="http://schemas.openxmlformats.org/officeDocument/2006/relationships/slide" Target="slides/slide4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9676e094b5_0_2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9676e094b5_0_2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9676e094b5_0_2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9676e094b5_0_2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9676e094b5_0_2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9676e094b5_0_2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9676e094b5_0_2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9676e094b5_0_2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9676e094b5_0_2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9676e094b5_0_2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9676e094b5_0_2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9676e094b5_0_2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9676e094b5_0_2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9676e094b5_0_2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b2fbd23fff_1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b2fbd23fff_1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b2fbd23fff_1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b2fbd23fff_1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2fbd23fff_1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b2fbd23fff_1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b2fbd23fff_1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b2fbd23fff_1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b2fbd23fff_1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b2fbd23fff_1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2fbd23fff_1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2fbd23fff_1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9676e094b5_2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9676e094b5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9676e094b5_2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9676e094b5_2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9676e094b5_2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9676e094b5_2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9676e094b5_2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9676e094b5_2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9676e094b5_2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9676e094b5_2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9676e094b5_2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9676e094b5_2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9676e094b5_2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9676e094b5_2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9676e094b5_2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9676e094b5_2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9676e094b5_2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9676e094b5_22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b52751cd2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b52751cd2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52751cd2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52751cd2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b52751cd2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b52751cd2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52751cd2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52751cd2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b52751cd2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b52751cd2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52751cd2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52751cd2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b52751cd2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b52751cd2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9676e094b5_22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9676e094b5_22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9676e094b5_22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9676e094b5_22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9676e094b5_22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9676e094b5_2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7989a9d52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7989a9d52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bc4159ce47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bc4159ce47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bc4159ce47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bc4159ce47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7989a9d52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7989a9d52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7989a9d52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7989a9d52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7989a9d52c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7989a9d52c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7989a9d52c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7989a9d52c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7989a9d52c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7989a9d52c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7989a9d52c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7989a9d52c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7989a9d52c_0_2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7989a9d52c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9676e094b5_22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9676e094b5_22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9676e094b5_22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9676e094b5_22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9676e094b5_22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9676e094b5_22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9676e094b5_22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9676e094b5_22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9676e094b5_22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9676e094b5_22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9676e094b5_22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9676e094b5_22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9676e094b5_22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9676e094b5_22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9676e094b5_27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9676e094b5_27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9676e094b5_27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9676e094b5_27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9676e094b5_27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9676e094b5_27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9676e094b5_27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9676e094b5_27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9676e094b5_27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9676e094b5_27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9676e094b5_27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9676e094b5_27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9676e094b5_27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9676e094b5_27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9676e094b5_27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9676e094b5_27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9676e094b5_27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9676e094b5_27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9676e094b5_27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9676e094b5_27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9676e094b5_27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9676e094b5_27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9676e094b5_27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9676e094b5_27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9676e094b5_32_1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9676e094b5_32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9676e094b5_32_1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9676e094b5_32_1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9676e094b5_32_1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9676e094b5_32_1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9676e094b5_32_1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9676e094b5_32_1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9676e094b5_32_1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9676e094b5_32_1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9676e094b5_32_1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9676e094b5_32_1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9676e094b5_32_1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9676e094b5_32_1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9676e094b5_32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9676e094b5_32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9676e094b5_32_1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9676e094b5_32_1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9676e094b5_32_1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9676e094b5_32_1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9676e094b5_32_1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9676e094b5_32_1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9676e094b5_32_1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9676e094b5_32_1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9676e094b5_32_1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9676e094b5_32_1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9676e094b5_32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9676e094b5_32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9676e094b5_32_1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9676e094b5_32_1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9676e094b5_32_1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9676e094b5_32_1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9676e094b5_32_1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9676e094b5_32_1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9676e094b5_32_1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9676e094b5_32_1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9676e094b5_32_1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9676e094b5_32_1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9676e094b5_32_1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9676e094b5_32_1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9676e094b5_42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9676e094b5_42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9676e094b5_42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9676e094b5_42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9676e094b5_42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9676e094b5_42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9676e094b5_42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9676e094b5_42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9676e094b5_47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9676e094b5_47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bd1a05d3fe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bd1a05d3fe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bd1a05d3fe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bd1a05d3fe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bd1a05d3fe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bd1a05d3fe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bd1a05d3fe_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bd1a05d3fe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bd1a05d3fe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bd1a05d3fe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bd1a05d3fe_4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bd1a05d3fe_4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bd1a05d3fe_4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bd1a05d3fe_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bd1a05d3fe_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bd1a05d3fe_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bd1a05d3fe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bd1a05d3fe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bd1a05d3fe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bd1a05d3fe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bd1a05d3fe_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bd1a05d3fe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bd1a05d3fe_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bd1a05d3fe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bd1a05d3fe_5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bd1a05d3fe_5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bd1a05d3fe_5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bd1a05d3fe_5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bd1a05d3fe_5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bd1a05d3fe_5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bd1a05d3fe_5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7" name="Google Shape;1287;gbd1a05d3fe_5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bd1a05d3fe_5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gbd1a05d3fe_5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bd1a05d3fe_5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bd1a05d3fe_5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b2fbd23fff_1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b2fbd23fff_1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9676e094b5_0_2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9676e094b5_0_2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9676e094b5_0_2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9676e094b5_0_2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9676e094b5_0_2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9676e094b5_0_2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9676e094b5_0_2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9676e094b5_0_2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9676e094b5_0_2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9676e094b5_0_2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9676e094b5_0_2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9676e094b5_0_2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9676e094b5_0_2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9676e094b5_0_2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9676e094b5_0_2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g9676e094b5_0_2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9676e094b5_0_2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9676e094b5_0_2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9676e094b5_0_2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9676e094b5_0_2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9676e094b5_0_2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9676e094b5_0_2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9676e094b5_0_2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9676e094b5_0_2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g9676e094b5_0_2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8" name="Google Shape;1478;g9676e094b5_0_2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g9676e094b5_0_2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5" name="Google Shape;1485;g9676e094b5_0_2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9676e094b5_0_2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9676e094b5_0_2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g9676e094b5_0_2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1" name="Google Shape;1501;g9676e094b5_0_2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9676e094b5_0_2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9676e094b5_0_2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9676e094b5_0_2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9676e094b5_0_2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9676e094b5_0_2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9676e094b5_0_2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2" name="Shape 1572"/>
        <p:cNvGrpSpPr/>
        <p:nvPr/>
      </p:nvGrpSpPr>
      <p:grpSpPr>
        <a:xfrm>
          <a:off x="0" y="0"/>
          <a:ext cx="0" cy="0"/>
          <a:chOff x="0" y="0"/>
          <a:chExt cx="0" cy="0"/>
        </a:xfrm>
      </p:grpSpPr>
      <p:sp>
        <p:nvSpPr>
          <p:cNvPr id="1573" name="Google Shape;1573;g9676e094b5_0_2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4" name="Google Shape;1574;g9676e094b5_0_2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9676e094b5_0_2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9676e094b5_0_2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g9676e094b5_0_2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7" name="Google Shape;1587;g9676e094b5_0_2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g9676e094b5_0_2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4" name="Google Shape;1594;g9676e094b5_0_2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9676e094b5_0_2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9676e094b5_0_2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9676e094b5_0_2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9676e094b5_0_2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g9676e094b5_0_2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1" name="Google Shape;1711;g9676e094b5_0_2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g9676e094b5_0_2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9" name="Google Shape;1759;g9676e094b5_0_2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9676e094b5_0_2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9676e094b5_0_2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9676e094b5_0_2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9676e094b5_0_2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g9676e094b5_0_2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6" name="Google Shape;1876;g9676e094b5_0_2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g9676e094b5_0_2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9" name="Google Shape;1899;g9676e094b5_0_2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g9676e094b5_0_2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2" name="Google Shape;1922;g9676e094b5_0_2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g9676e094b5_0_2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9" name="Google Shape;1949;g9676e094b5_0_2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g9676e094b5_0_2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2" name="Google Shape;1982;g9676e094b5_0_2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g9676e094b5_0_2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5" name="Google Shape;2005;g9676e094b5_0_2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9676e094b5_0_2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2" name="Google Shape;2012;g9676e094b5_0_2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7" name="Shape 2017"/>
        <p:cNvGrpSpPr/>
        <p:nvPr/>
      </p:nvGrpSpPr>
      <p:grpSpPr>
        <a:xfrm>
          <a:off x="0" y="0"/>
          <a:ext cx="0" cy="0"/>
          <a:chOff x="0" y="0"/>
          <a:chExt cx="0" cy="0"/>
        </a:xfrm>
      </p:grpSpPr>
      <p:sp>
        <p:nvSpPr>
          <p:cNvPr id="2018" name="Google Shape;2018;g9676e094b5_0_2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9" name="Google Shape;2019;g9676e094b5_0_2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g9676e094b5_0_2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6" name="Google Shape;2026;g9676e094b5_0_2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g9676e094b5_0_2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3" name="Google Shape;2033;g9676e094b5_0_2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7" name="Shape 2037"/>
        <p:cNvGrpSpPr/>
        <p:nvPr/>
      </p:nvGrpSpPr>
      <p:grpSpPr>
        <a:xfrm>
          <a:off x="0" y="0"/>
          <a:ext cx="0" cy="0"/>
          <a:chOff x="0" y="0"/>
          <a:chExt cx="0" cy="0"/>
        </a:xfrm>
      </p:grpSpPr>
      <p:sp>
        <p:nvSpPr>
          <p:cNvPr id="2038" name="Google Shape;2038;g9676e094b5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9" name="Google Shape;2039;g9676e094b5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9676e094b5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6" name="Google Shape;2046;g9676e094b5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g9676e094b5_0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3" name="Google Shape;2053;g9676e094b5_0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g9676e094b5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0" name="Google Shape;2060;g9676e094b5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g9676e094b5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7" name="Google Shape;2067;g9676e094b5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9676e094b5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5" name="Google Shape;2095;g9676e094b5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1" name="Shape 2121"/>
        <p:cNvGrpSpPr/>
        <p:nvPr/>
      </p:nvGrpSpPr>
      <p:grpSpPr>
        <a:xfrm>
          <a:off x="0" y="0"/>
          <a:ext cx="0" cy="0"/>
          <a:chOff x="0" y="0"/>
          <a:chExt cx="0" cy="0"/>
        </a:xfrm>
      </p:grpSpPr>
      <p:sp>
        <p:nvSpPr>
          <p:cNvPr id="2122" name="Google Shape;2122;g9676e094b5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3" name="Google Shape;2123;g9676e094b5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9676e094b5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9676e094b5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9676e094b5_0_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0" name="Google Shape;2190;g9676e094b5_0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g9676e094b5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3" name="Google Shape;2223;g9676e094b5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g9676e094b5_0_1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6" name="Google Shape;2256;g9676e094b5_0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6" name="Shape 2286"/>
        <p:cNvGrpSpPr/>
        <p:nvPr/>
      </p:nvGrpSpPr>
      <p:grpSpPr>
        <a:xfrm>
          <a:off x="0" y="0"/>
          <a:ext cx="0" cy="0"/>
          <a:chOff x="0" y="0"/>
          <a:chExt cx="0" cy="0"/>
        </a:xfrm>
      </p:grpSpPr>
      <p:sp>
        <p:nvSpPr>
          <p:cNvPr id="2287" name="Google Shape;2287;g9676e094b5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8" name="Google Shape;2288;g9676e094b5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g9676e094b5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0" name="Google Shape;2320;g9676e094b5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g9676e094b5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2" name="Google Shape;2352;g9676e094b5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g9676e094b5_0_1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4" name="Google Shape;2384;g9676e094b5_0_1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3" name="Shape 2413"/>
        <p:cNvGrpSpPr/>
        <p:nvPr/>
      </p:nvGrpSpPr>
      <p:grpSpPr>
        <a:xfrm>
          <a:off x="0" y="0"/>
          <a:ext cx="0" cy="0"/>
          <a:chOff x="0" y="0"/>
          <a:chExt cx="0" cy="0"/>
        </a:xfrm>
      </p:grpSpPr>
      <p:sp>
        <p:nvSpPr>
          <p:cNvPr id="2414" name="Google Shape;2414;g9676e094b5_0_1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5" name="Google Shape;2415;g9676e094b5_0_1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4" name="Shape 2444"/>
        <p:cNvGrpSpPr/>
        <p:nvPr/>
      </p:nvGrpSpPr>
      <p:grpSpPr>
        <a:xfrm>
          <a:off x="0" y="0"/>
          <a:ext cx="0" cy="0"/>
          <a:chOff x="0" y="0"/>
          <a:chExt cx="0" cy="0"/>
        </a:xfrm>
      </p:grpSpPr>
      <p:sp>
        <p:nvSpPr>
          <p:cNvPr id="2445" name="Google Shape;2445;g9676e094b5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6" name="Google Shape;2446;g9676e094b5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7" name="Shape 2477"/>
        <p:cNvGrpSpPr/>
        <p:nvPr/>
      </p:nvGrpSpPr>
      <p:grpSpPr>
        <a:xfrm>
          <a:off x="0" y="0"/>
          <a:ext cx="0" cy="0"/>
          <a:chOff x="0" y="0"/>
          <a:chExt cx="0" cy="0"/>
        </a:xfrm>
      </p:grpSpPr>
      <p:sp>
        <p:nvSpPr>
          <p:cNvPr id="2478" name="Google Shape;2478;g9676e094b5_0_1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9" name="Google Shape;2479;g9676e094b5_0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0" name="Shape 2510"/>
        <p:cNvGrpSpPr/>
        <p:nvPr/>
      </p:nvGrpSpPr>
      <p:grpSpPr>
        <a:xfrm>
          <a:off x="0" y="0"/>
          <a:ext cx="0" cy="0"/>
          <a:chOff x="0" y="0"/>
          <a:chExt cx="0" cy="0"/>
        </a:xfrm>
      </p:grpSpPr>
      <p:sp>
        <p:nvSpPr>
          <p:cNvPr id="2511" name="Google Shape;2511;g9676e094b5_0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2" name="Google Shape;2512;g9676e094b5_0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9" name="Shape 2559"/>
        <p:cNvGrpSpPr/>
        <p:nvPr/>
      </p:nvGrpSpPr>
      <p:grpSpPr>
        <a:xfrm>
          <a:off x="0" y="0"/>
          <a:ext cx="0" cy="0"/>
          <a:chOff x="0" y="0"/>
          <a:chExt cx="0" cy="0"/>
        </a:xfrm>
      </p:grpSpPr>
      <p:sp>
        <p:nvSpPr>
          <p:cNvPr id="2560" name="Google Shape;2560;g9676e094b5_0_1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1" name="Google Shape;2561;g9676e094b5_0_1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1" name="Shape 2611"/>
        <p:cNvGrpSpPr/>
        <p:nvPr/>
      </p:nvGrpSpPr>
      <p:grpSpPr>
        <a:xfrm>
          <a:off x="0" y="0"/>
          <a:ext cx="0" cy="0"/>
          <a:chOff x="0" y="0"/>
          <a:chExt cx="0" cy="0"/>
        </a:xfrm>
      </p:grpSpPr>
      <p:sp>
        <p:nvSpPr>
          <p:cNvPr id="2612" name="Google Shape;2612;g9676e094b5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3" name="Google Shape;2613;g9676e094b5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g9676e094b5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5" name="Google Shape;2665;g9676e094b5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5" name="Shape 2715"/>
        <p:cNvGrpSpPr/>
        <p:nvPr/>
      </p:nvGrpSpPr>
      <p:grpSpPr>
        <a:xfrm>
          <a:off x="0" y="0"/>
          <a:ext cx="0" cy="0"/>
          <a:chOff x="0" y="0"/>
          <a:chExt cx="0" cy="0"/>
        </a:xfrm>
      </p:grpSpPr>
      <p:sp>
        <p:nvSpPr>
          <p:cNvPr id="2716" name="Google Shape;2716;g9676e094b5_0_1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7" name="Google Shape;2717;g9676e094b5_0_1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7" name="Shape 2767"/>
        <p:cNvGrpSpPr/>
        <p:nvPr/>
      </p:nvGrpSpPr>
      <p:grpSpPr>
        <a:xfrm>
          <a:off x="0" y="0"/>
          <a:ext cx="0" cy="0"/>
          <a:chOff x="0" y="0"/>
          <a:chExt cx="0" cy="0"/>
        </a:xfrm>
      </p:grpSpPr>
      <p:sp>
        <p:nvSpPr>
          <p:cNvPr id="2768" name="Google Shape;2768;g9676e094b5_0_1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9" name="Google Shape;2769;g9676e094b5_0_1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4" name="Shape 2774"/>
        <p:cNvGrpSpPr/>
        <p:nvPr/>
      </p:nvGrpSpPr>
      <p:grpSpPr>
        <a:xfrm>
          <a:off x="0" y="0"/>
          <a:ext cx="0" cy="0"/>
          <a:chOff x="0" y="0"/>
          <a:chExt cx="0" cy="0"/>
        </a:xfrm>
      </p:grpSpPr>
      <p:sp>
        <p:nvSpPr>
          <p:cNvPr id="2775" name="Google Shape;2775;g9676e094b5_0_1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6" name="Google Shape;2776;g9676e094b5_0_1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1" name="Shape 2781"/>
        <p:cNvGrpSpPr/>
        <p:nvPr/>
      </p:nvGrpSpPr>
      <p:grpSpPr>
        <a:xfrm>
          <a:off x="0" y="0"/>
          <a:ext cx="0" cy="0"/>
          <a:chOff x="0" y="0"/>
          <a:chExt cx="0" cy="0"/>
        </a:xfrm>
      </p:grpSpPr>
      <p:sp>
        <p:nvSpPr>
          <p:cNvPr id="2782" name="Google Shape;2782;g9676e094b5_0_1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3" name="Google Shape;2783;g9676e094b5_0_1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8" name="Shape 2788"/>
        <p:cNvGrpSpPr/>
        <p:nvPr/>
      </p:nvGrpSpPr>
      <p:grpSpPr>
        <a:xfrm>
          <a:off x="0" y="0"/>
          <a:ext cx="0" cy="0"/>
          <a:chOff x="0" y="0"/>
          <a:chExt cx="0" cy="0"/>
        </a:xfrm>
      </p:grpSpPr>
      <p:sp>
        <p:nvSpPr>
          <p:cNvPr id="2789" name="Google Shape;2789;g9676e094b5_0_1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0" name="Google Shape;2790;g9676e094b5_0_1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6" name="Shape 2806"/>
        <p:cNvGrpSpPr/>
        <p:nvPr/>
      </p:nvGrpSpPr>
      <p:grpSpPr>
        <a:xfrm>
          <a:off x="0" y="0"/>
          <a:ext cx="0" cy="0"/>
          <a:chOff x="0" y="0"/>
          <a:chExt cx="0" cy="0"/>
        </a:xfrm>
      </p:grpSpPr>
      <p:sp>
        <p:nvSpPr>
          <p:cNvPr id="2807" name="Google Shape;2807;g9676e094b5_0_1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8" name="Google Shape;2808;g9676e094b5_0_1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4" name="Shape 2824"/>
        <p:cNvGrpSpPr/>
        <p:nvPr/>
      </p:nvGrpSpPr>
      <p:grpSpPr>
        <a:xfrm>
          <a:off x="0" y="0"/>
          <a:ext cx="0" cy="0"/>
          <a:chOff x="0" y="0"/>
          <a:chExt cx="0" cy="0"/>
        </a:xfrm>
      </p:grpSpPr>
      <p:sp>
        <p:nvSpPr>
          <p:cNvPr id="2825" name="Google Shape;2825;g9676e094b5_0_1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6" name="Google Shape;2826;g9676e094b5_0_1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1" name="Shape 2831"/>
        <p:cNvGrpSpPr/>
        <p:nvPr/>
      </p:nvGrpSpPr>
      <p:grpSpPr>
        <a:xfrm>
          <a:off x="0" y="0"/>
          <a:ext cx="0" cy="0"/>
          <a:chOff x="0" y="0"/>
          <a:chExt cx="0" cy="0"/>
        </a:xfrm>
      </p:grpSpPr>
      <p:sp>
        <p:nvSpPr>
          <p:cNvPr id="2832" name="Google Shape;2832;g9676e094b5_0_1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3" name="Google Shape;2833;g9676e094b5_0_1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9" name="Shape 2839"/>
        <p:cNvGrpSpPr/>
        <p:nvPr/>
      </p:nvGrpSpPr>
      <p:grpSpPr>
        <a:xfrm>
          <a:off x="0" y="0"/>
          <a:ext cx="0" cy="0"/>
          <a:chOff x="0" y="0"/>
          <a:chExt cx="0" cy="0"/>
        </a:xfrm>
      </p:grpSpPr>
      <p:sp>
        <p:nvSpPr>
          <p:cNvPr id="2840" name="Google Shape;2840;g9676e094b5_0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1" name="Google Shape;2841;g9676e094b5_0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5" name="Shape 2845"/>
        <p:cNvGrpSpPr/>
        <p:nvPr/>
      </p:nvGrpSpPr>
      <p:grpSpPr>
        <a:xfrm>
          <a:off x="0" y="0"/>
          <a:ext cx="0" cy="0"/>
          <a:chOff x="0" y="0"/>
          <a:chExt cx="0" cy="0"/>
        </a:xfrm>
      </p:grpSpPr>
      <p:sp>
        <p:nvSpPr>
          <p:cNvPr id="2846" name="Google Shape;2846;g9676e094b5_0_1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7" name="Google Shape;2847;g9676e094b5_0_1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1" name="Shape 2851"/>
        <p:cNvGrpSpPr/>
        <p:nvPr/>
      </p:nvGrpSpPr>
      <p:grpSpPr>
        <a:xfrm>
          <a:off x="0" y="0"/>
          <a:ext cx="0" cy="0"/>
          <a:chOff x="0" y="0"/>
          <a:chExt cx="0" cy="0"/>
        </a:xfrm>
      </p:grpSpPr>
      <p:sp>
        <p:nvSpPr>
          <p:cNvPr id="2852" name="Google Shape;2852;g9676e094b5_0_1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3" name="Google Shape;2853;g9676e094b5_0_1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7" name="Shape 2877"/>
        <p:cNvGrpSpPr/>
        <p:nvPr/>
      </p:nvGrpSpPr>
      <p:grpSpPr>
        <a:xfrm>
          <a:off x="0" y="0"/>
          <a:ext cx="0" cy="0"/>
          <a:chOff x="0" y="0"/>
          <a:chExt cx="0" cy="0"/>
        </a:xfrm>
      </p:grpSpPr>
      <p:sp>
        <p:nvSpPr>
          <p:cNvPr id="2878" name="Google Shape;2878;g9676e094b5_0_1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9" name="Google Shape;2879;g9676e094b5_0_1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g9676e094b5_0_1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5" name="Google Shape;2905;g9676e094b5_0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2" name="Shape 2942"/>
        <p:cNvGrpSpPr/>
        <p:nvPr/>
      </p:nvGrpSpPr>
      <p:grpSpPr>
        <a:xfrm>
          <a:off x="0" y="0"/>
          <a:ext cx="0" cy="0"/>
          <a:chOff x="0" y="0"/>
          <a:chExt cx="0" cy="0"/>
        </a:xfrm>
      </p:grpSpPr>
      <p:sp>
        <p:nvSpPr>
          <p:cNvPr id="2943" name="Google Shape;2943;g9676e094b5_0_1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4" name="Google Shape;2944;g9676e094b5_0_1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1" name="Shape 2981"/>
        <p:cNvGrpSpPr/>
        <p:nvPr/>
      </p:nvGrpSpPr>
      <p:grpSpPr>
        <a:xfrm>
          <a:off x="0" y="0"/>
          <a:ext cx="0" cy="0"/>
          <a:chOff x="0" y="0"/>
          <a:chExt cx="0" cy="0"/>
        </a:xfrm>
      </p:grpSpPr>
      <p:sp>
        <p:nvSpPr>
          <p:cNvPr id="2982" name="Google Shape;2982;g9676e094b5_0_1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3" name="Google Shape;2983;g9676e094b5_0_1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1" name="Shape 3021"/>
        <p:cNvGrpSpPr/>
        <p:nvPr/>
      </p:nvGrpSpPr>
      <p:grpSpPr>
        <a:xfrm>
          <a:off x="0" y="0"/>
          <a:ext cx="0" cy="0"/>
          <a:chOff x="0" y="0"/>
          <a:chExt cx="0" cy="0"/>
        </a:xfrm>
      </p:grpSpPr>
      <p:sp>
        <p:nvSpPr>
          <p:cNvPr id="3022" name="Google Shape;3022;g9676e094b5_8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3" name="Google Shape;3023;g9676e094b5_8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1" name="Shape 3061"/>
        <p:cNvGrpSpPr/>
        <p:nvPr/>
      </p:nvGrpSpPr>
      <p:grpSpPr>
        <a:xfrm>
          <a:off x="0" y="0"/>
          <a:ext cx="0" cy="0"/>
          <a:chOff x="0" y="0"/>
          <a:chExt cx="0" cy="0"/>
        </a:xfrm>
      </p:grpSpPr>
      <p:sp>
        <p:nvSpPr>
          <p:cNvPr id="3062" name="Google Shape;3062;g9676e094b5_86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3" name="Google Shape;3063;g9676e094b5_86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1" name="Shape 3101"/>
        <p:cNvGrpSpPr/>
        <p:nvPr/>
      </p:nvGrpSpPr>
      <p:grpSpPr>
        <a:xfrm>
          <a:off x="0" y="0"/>
          <a:ext cx="0" cy="0"/>
          <a:chOff x="0" y="0"/>
          <a:chExt cx="0" cy="0"/>
        </a:xfrm>
      </p:grpSpPr>
      <p:sp>
        <p:nvSpPr>
          <p:cNvPr id="3102" name="Google Shape;3102;g9676e094b5_8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3" name="Google Shape;3103;g9676e094b5_8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7" name="Shape 3107"/>
        <p:cNvGrpSpPr/>
        <p:nvPr/>
      </p:nvGrpSpPr>
      <p:grpSpPr>
        <a:xfrm>
          <a:off x="0" y="0"/>
          <a:ext cx="0" cy="0"/>
          <a:chOff x="0" y="0"/>
          <a:chExt cx="0" cy="0"/>
        </a:xfrm>
      </p:grpSpPr>
      <p:sp>
        <p:nvSpPr>
          <p:cNvPr id="3108" name="Google Shape;3108;g9676e094b5_0_1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9" name="Google Shape;3109;g9676e094b5_0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4" name="Shape 3114"/>
        <p:cNvGrpSpPr/>
        <p:nvPr/>
      </p:nvGrpSpPr>
      <p:grpSpPr>
        <a:xfrm>
          <a:off x="0" y="0"/>
          <a:ext cx="0" cy="0"/>
          <a:chOff x="0" y="0"/>
          <a:chExt cx="0" cy="0"/>
        </a:xfrm>
      </p:grpSpPr>
      <p:sp>
        <p:nvSpPr>
          <p:cNvPr id="3115" name="Google Shape;3115;g9676e094b5_0_1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6" name="Google Shape;3116;g9676e094b5_0_1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0" name="Shape 3120"/>
        <p:cNvGrpSpPr/>
        <p:nvPr/>
      </p:nvGrpSpPr>
      <p:grpSpPr>
        <a:xfrm>
          <a:off x="0" y="0"/>
          <a:ext cx="0" cy="0"/>
          <a:chOff x="0" y="0"/>
          <a:chExt cx="0" cy="0"/>
        </a:xfrm>
      </p:grpSpPr>
      <p:sp>
        <p:nvSpPr>
          <p:cNvPr id="3121" name="Google Shape;3121;g9676e094b5_0_1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2" name="Google Shape;3122;g9676e094b5_0_1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 name="Shape 3146"/>
        <p:cNvGrpSpPr/>
        <p:nvPr/>
      </p:nvGrpSpPr>
      <p:grpSpPr>
        <a:xfrm>
          <a:off x="0" y="0"/>
          <a:ext cx="0" cy="0"/>
          <a:chOff x="0" y="0"/>
          <a:chExt cx="0" cy="0"/>
        </a:xfrm>
      </p:grpSpPr>
      <p:sp>
        <p:nvSpPr>
          <p:cNvPr id="3147" name="Google Shape;3147;g9676e094b5_0_1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8" name="Google Shape;3148;g9676e094b5_0_1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3" name="Shape 3153"/>
        <p:cNvGrpSpPr/>
        <p:nvPr/>
      </p:nvGrpSpPr>
      <p:grpSpPr>
        <a:xfrm>
          <a:off x="0" y="0"/>
          <a:ext cx="0" cy="0"/>
          <a:chOff x="0" y="0"/>
          <a:chExt cx="0" cy="0"/>
        </a:xfrm>
      </p:grpSpPr>
      <p:sp>
        <p:nvSpPr>
          <p:cNvPr id="3154" name="Google Shape;3154;g9676e094b5_0_1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5" name="Google Shape;3155;g9676e094b5_0_1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9" name="Shape 3159"/>
        <p:cNvGrpSpPr/>
        <p:nvPr/>
      </p:nvGrpSpPr>
      <p:grpSpPr>
        <a:xfrm>
          <a:off x="0" y="0"/>
          <a:ext cx="0" cy="0"/>
          <a:chOff x="0" y="0"/>
          <a:chExt cx="0" cy="0"/>
        </a:xfrm>
      </p:grpSpPr>
      <p:sp>
        <p:nvSpPr>
          <p:cNvPr id="3160" name="Google Shape;3160;g9676e094b5_0_1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1" name="Google Shape;3161;g9676e094b5_0_1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6" name="Shape 3166"/>
        <p:cNvGrpSpPr/>
        <p:nvPr/>
      </p:nvGrpSpPr>
      <p:grpSpPr>
        <a:xfrm>
          <a:off x="0" y="0"/>
          <a:ext cx="0" cy="0"/>
          <a:chOff x="0" y="0"/>
          <a:chExt cx="0" cy="0"/>
        </a:xfrm>
      </p:grpSpPr>
      <p:sp>
        <p:nvSpPr>
          <p:cNvPr id="3167" name="Google Shape;3167;g9676e094b5_0_1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8" name="Google Shape;3168;g9676e094b5_0_1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3" name="Shape 3173"/>
        <p:cNvGrpSpPr/>
        <p:nvPr/>
      </p:nvGrpSpPr>
      <p:grpSpPr>
        <a:xfrm>
          <a:off x="0" y="0"/>
          <a:ext cx="0" cy="0"/>
          <a:chOff x="0" y="0"/>
          <a:chExt cx="0" cy="0"/>
        </a:xfrm>
      </p:grpSpPr>
      <p:sp>
        <p:nvSpPr>
          <p:cNvPr id="3174" name="Google Shape;3174;g9676e094b5_0_1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5" name="Google Shape;3175;g9676e094b5_0_1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0" name="Shape 3180"/>
        <p:cNvGrpSpPr/>
        <p:nvPr/>
      </p:nvGrpSpPr>
      <p:grpSpPr>
        <a:xfrm>
          <a:off x="0" y="0"/>
          <a:ext cx="0" cy="0"/>
          <a:chOff x="0" y="0"/>
          <a:chExt cx="0" cy="0"/>
        </a:xfrm>
      </p:grpSpPr>
      <p:sp>
        <p:nvSpPr>
          <p:cNvPr id="3181" name="Google Shape;3181;g9676e094b5_0_1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2" name="Google Shape;3182;g9676e094b5_0_1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6" name="Shape 3186"/>
        <p:cNvGrpSpPr/>
        <p:nvPr/>
      </p:nvGrpSpPr>
      <p:grpSpPr>
        <a:xfrm>
          <a:off x="0" y="0"/>
          <a:ext cx="0" cy="0"/>
          <a:chOff x="0" y="0"/>
          <a:chExt cx="0" cy="0"/>
        </a:xfrm>
      </p:grpSpPr>
      <p:sp>
        <p:nvSpPr>
          <p:cNvPr id="3187" name="Google Shape;3187;g9676e094b5_0_1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8" name="Google Shape;3188;g9676e094b5_0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0" name="Shape 3210"/>
        <p:cNvGrpSpPr/>
        <p:nvPr/>
      </p:nvGrpSpPr>
      <p:grpSpPr>
        <a:xfrm>
          <a:off x="0" y="0"/>
          <a:ext cx="0" cy="0"/>
          <a:chOff x="0" y="0"/>
          <a:chExt cx="0" cy="0"/>
        </a:xfrm>
      </p:grpSpPr>
      <p:sp>
        <p:nvSpPr>
          <p:cNvPr id="3211" name="Google Shape;3211;g9676e094b5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2" name="Google Shape;3212;g9676e094b5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7" name="Shape 3217"/>
        <p:cNvGrpSpPr/>
        <p:nvPr/>
      </p:nvGrpSpPr>
      <p:grpSpPr>
        <a:xfrm>
          <a:off x="0" y="0"/>
          <a:ext cx="0" cy="0"/>
          <a:chOff x="0" y="0"/>
          <a:chExt cx="0" cy="0"/>
        </a:xfrm>
      </p:grpSpPr>
      <p:sp>
        <p:nvSpPr>
          <p:cNvPr id="3218" name="Google Shape;3218;g9676e094b5_0_1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9" name="Google Shape;3219;g9676e094b5_0_1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3" name="Shape 3223"/>
        <p:cNvGrpSpPr/>
        <p:nvPr/>
      </p:nvGrpSpPr>
      <p:grpSpPr>
        <a:xfrm>
          <a:off x="0" y="0"/>
          <a:ext cx="0" cy="0"/>
          <a:chOff x="0" y="0"/>
          <a:chExt cx="0" cy="0"/>
        </a:xfrm>
      </p:grpSpPr>
      <p:sp>
        <p:nvSpPr>
          <p:cNvPr id="3224" name="Google Shape;3224;g9676e094b5_0_1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5" name="Google Shape;3225;g9676e094b5_0_1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0" name="Shape 3230"/>
        <p:cNvGrpSpPr/>
        <p:nvPr/>
      </p:nvGrpSpPr>
      <p:grpSpPr>
        <a:xfrm>
          <a:off x="0" y="0"/>
          <a:ext cx="0" cy="0"/>
          <a:chOff x="0" y="0"/>
          <a:chExt cx="0" cy="0"/>
        </a:xfrm>
      </p:grpSpPr>
      <p:sp>
        <p:nvSpPr>
          <p:cNvPr id="3231" name="Google Shape;3231;g9676e094b5_0_1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2" name="Google Shape;3232;g9676e094b5_0_1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6" name="Shape 3236"/>
        <p:cNvGrpSpPr/>
        <p:nvPr/>
      </p:nvGrpSpPr>
      <p:grpSpPr>
        <a:xfrm>
          <a:off x="0" y="0"/>
          <a:ext cx="0" cy="0"/>
          <a:chOff x="0" y="0"/>
          <a:chExt cx="0" cy="0"/>
        </a:xfrm>
      </p:grpSpPr>
      <p:sp>
        <p:nvSpPr>
          <p:cNvPr id="3237" name="Google Shape;3237;g9676e094b5_0_1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8" name="Google Shape;3238;g9676e094b5_0_1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2" name="Shape 3252"/>
        <p:cNvGrpSpPr/>
        <p:nvPr/>
      </p:nvGrpSpPr>
      <p:grpSpPr>
        <a:xfrm>
          <a:off x="0" y="0"/>
          <a:ext cx="0" cy="0"/>
          <a:chOff x="0" y="0"/>
          <a:chExt cx="0" cy="0"/>
        </a:xfrm>
      </p:grpSpPr>
      <p:sp>
        <p:nvSpPr>
          <p:cNvPr id="3253" name="Google Shape;3253;g9676e094b5_0_1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4" name="Google Shape;3254;g9676e094b5_0_1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7" name="Shape 3267"/>
        <p:cNvGrpSpPr/>
        <p:nvPr/>
      </p:nvGrpSpPr>
      <p:grpSpPr>
        <a:xfrm>
          <a:off x="0" y="0"/>
          <a:ext cx="0" cy="0"/>
          <a:chOff x="0" y="0"/>
          <a:chExt cx="0" cy="0"/>
        </a:xfrm>
      </p:grpSpPr>
      <p:sp>
        <p:nvSpPr>
          <p:cNvPr id="3268" name="Google Shape;3268;g9676e094b5_0_1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9" name="Google Shape;3269;g9676e094b5_0_1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2" name="Shape 3282"/>
        <p:cNvGrpSpPr/>
        <p:nvPr/>
      </p:nvGrpSpPr>
      <p:grpSpPr>
        <a:xfrm>
          <a:off x="0" y="0"/>
          <a:ext cx="0" cy="0"/>
          <a:chOff x="0" y="0"/>
          <a:chExt cx="0" cy="0"/>
        </a:xfrm>
      </p:grpSpPr>
      <p:sp>
        <p:nvSpPr>
          <p:cNvPr id="3283" name="Google Shape;3283;g9676e094b5_0_1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4" name="Google Shape;3284;g9676e094b5_0_1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7" name="Shape 3297"/>
        <p:cNvGrpSpPr/>
        <p:nvPr/>
      </p:nvGrpSpPr>
      <p:grpSpPr>
        <a:xfrm>
          <a:off x="0" y="0"/>
          <a:ext cx="0" cy="0"/>
          <a:chOff x="0" y="0"/>
          <a:chExt cx="0" cy="0"/>
        </a:xfrm>
      </p:grpSpPr>
      <p:sp>
        <p:nvSpPr>
          <p:cNvPr id="3298" name="Google Shape;3298;g9676e094b5_0_1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9" name="Google Shape;3299;g9676e094b5_0_1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3" name="Shape 3303"/>
        <p:cNvGrpSpPr/>
        <p:nvPr/>
      </p:nvGrpSpPr>
      <p:grpSpPr>
        <a:xfrm>
          <a:off x="0" y="0"/>
          <a:ext cx="0" cy="0"/>
          <a:chOff x="0" y="0"/>
          <a:chExt cx="0" cy="0"/>
        </a:xfrm>
      </p:grpSpPr>
      <p:sp>
        <p:nvSpPr>
          <p:cNvPr id="3304" name="Google Shape;3304;g9676e094b5_0_1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5" name="Google Shape;3305;g9676e094b5_0_1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9" name="Shape 3309"/>
        <p:cNvGrpSpPr/>
        <p:nvPr/>
      </p:nvGrpSpPr>
      <p:grpSpPr>
        <a:xfrm>
          <a:off x="0" y="0"/>
          <a:ext cx="0" cy="0"/>
          <a:chOff x="0" y="0"/>
          <a:chExt cx="0" cy="0"/>
        </a:xfrm>
      </p:grpSpPr>
      <p:sp>
        <p:nvSpPr>
          <p:cNvPr id="3310" name="Google Shape;3310;g9676e094b5_0_1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1" name="Google Shape;3311;g9676e094b5_0_1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5" name="Shape 3315"/>
        <p:cNvGrpSpPr/>
        <p:nvPr/>
      </p:nvGrpSpPr>
      <p:grpSpPr>
        <a:xfrm>
          <a:off x="0" y="0"/>
          <a:ext cx="0" cy="0"/>
          <a:chOff x="0" y="0"/>
          <a:chExt cx="0" cy="0"/>
        </a:xfrm>
      </p:grpSpPr>
      <p:sp>
        <p:nvSpPr>
          <p:cNvPr id="3316" name="Google Shape;3316;g9676e094b5_0_1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7" name="Google Shape;3317;g9676e094b5_0_1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7" name="Shape 3327"/>
        <p:cNvGrpSpPr/>
        <p:nvPr/>
      </p:nvGrpSpPr>
      <p:grpSpPr>
        <a:xfrm>
          <a:off x="0" y="0"/>
          <a:ext cx="0" cy="0"/>
          <a:chOff x="0" y="0"/>
          <a:chExt cx="0" cy="0"/>
        </a:xfrm>
      </p:grpSpPr>
      <p:sp>
        <p:nvSpPr>
          <p:cNvPr id="3328" name="Google Shape;3328;g9676e094b5_0_2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9" name="Google Shape;3329;g9676e094b5_0_2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9" name="Shape 3339"/>
        <p:cNvGrpSpPr/>
        <p:nvPr/>
      </p:nvGrpSpPr>
      <p:grpSpPr>
        <a:xfrm>
          <a:off x="0" y="0"/>
          <a:ext cx="0" cy="0"/>
          <a:chOff x="0" y="0"/>
          <a:chExt cx="0" cy="0"/>
        </a:xfrm>
      </p:grpSpPr>
      <p:sp>
        <p:nvSpPr>
          <p:cNvPr id="3340" name="Google Shape;3340;g9676e094b5_0_2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1" name="Google Shape;3341;g9676e094b5_0_2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0" name="Shape 3360"/>
        <p:cNvGrpSpPr/>
        <p:nvPr/>
      </p:nvGrpSpPr>
      <p:grpSpPr>
        <a:xfrm>
          <a:off x="0" y="0"/>
          <a:ext cx="0" cy="0"/>
          <a:chOff x="0" y="0"/>
          <a:chExt cx="0" cy="0"/>
        </a:xfrm>
      </p:grpSpPr>
      <p:sp>
        <p:nvSpPr>
          <p:cNvPr id="3361" name="Google Shape;3361;g9676e094b5_0_2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2" name="Google Shape;3362;g9676e094b5_0_2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1" name="Shape 3381"/>
        <p:cNvGrpSpPr/>
        <p:nvPr/>
      </p:nvGrpSpPr>
      <p:grpSpPr>
        <a:xfrm>
          <a:off x="0" y="0"/>
          <a:ext cx="0" cy="0"/>
          <a:chOff x="0" y="0"/>
          <a:chExt cx="0" cy="0"/>
        </a:xfrm>
      </p:grpSpPr>
      <p:sp>
        <p:nvSpPr>
          <p:cNvPr id="3382" name="Google Shape;3382;g9676e094b5_0_2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3" name="Google Shape;3383;g9676e094b5_0_2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7" name="Shape 3387"/>
        <p:cNvGrpSpPr/>
        <p:nvPr/>
      </p:nvGrpSpPr>
      <p:grpSpPr>
        <a:xfrm>
          <a:off x="0" y="0"/>
          <a:ext cx="0" cy="0"/>
          <a:chOff x="0" y="0"/>
          <a:chExt cx="0" cy="0"/>
        </a:xfrm>
      </p:grpSpPr>
      <p:sp>
        <p:nvSpPr>
          <p:cNvPr id="3388" name="Google Shape;3388;g9676e094b5_0_2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9" name="Google Shape;3389;g9676e094b5_0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3" name="Shape 3393"/>
        <p:cNvGrpSpPr/>
        <p:nvPr/>
      </p:nvGrpSpPr>
      <p:grpSpPr>
        <a:xfrm>
          <a:off x="0" y="0"/>
          <a:ext cx="0" cy="0"/>
          <a:chOff x="0" y="0"/>
          <a:chExt cx="0" cy="0"/>
        </a:xfrm>
      </p:grpSpPr>
      <p:sp>
        <p:nvSpPr>
          <p:cNvPr id="3394" name="Google Shape;3394;g9676e094b5_5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395" name="Google Shape;3395;g9676e094b5_5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9" name="Shape 3399"/>
        <p:cNvGrpSpPr/>
        <p:nvPr/>
      </p:nvGrpSpPr>
      <p:grpSpPr>
        <a:xfrm>
          <a:off x="0" y="0"/>
          <a:ext cx="0" cy="0"/>
          <a:chOff x="0" y="0"/>
          <a:chExt cx="0" cy="0"/>
        </a:xfrm>
      </p:grpSpPr>
      <p:sp>
        <p:nvSpPr>
          <p:cNvPr id="3400" name="Google Shape;3400;g9676e094b5_5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1" name="Google Shape;3401;g9676e094b5_5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8" name="Shape 3448"/>
        <p:cNvGrpSpPr/>
        <p:nvPr/>
      </p:nvGrpSpPr>
      <p:grpSpPr>
        <a:xfrm>
          <a:off x="0" y="0"/>
          <a:ext cx="0" cy="0"/>
          <a:chOff x="0" y="0"/>
          <a:chExt cx="0" cy="0"/>
        </a:xfrm>
      </p:grpSpPr>
      <p:sp>
        <p:nvSpPr>
          <p:cNvPr id="3449" name="Google Shape;3449;g9676e094b5_5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0" name="Google Shape;3450;g9676e094b5_5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8" name="Shape 3498"/>
        <p:cNvGrpSpPr/>
        <p:nvPr/>
      </p:nvGrpSpPr>
      <p:grpSpPr>
        <a:xfrm>
          <a:off x="0" y="0"/>
          <a:ext cx="0" cy="0"/>
          <a:chOff x="0" y="0"/>
          <a:chExt cx="0" cy="0"/>
        </a:xfrm>
      </p:grpSpPr>
      <p:sp>
        <p:nvSpPr>
          <p:cNvPr id="3499" name="Google Shape;3499;g9676e094b5_52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0" name="Google Shape;3500;g9676e094b5_52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4" name="Shape 3504"/>
        <p:cNvGrpSpPr/>
        <p:nvPr/>
      </p:nvGrpSpPr>
      <p:grpSpPr>
        <a:xfrm>
          <a:off x="0" y="0"/>
          <a:ext cx="0" cy="0"/>
          <a:chOff x="0" y="0"/>
          <a:chExt cx="0" cy="0"/>
        </a:xfrm>
      </p:grpSpPr>
      <p:sp>
        <p:nvSpPr>
          <p:cNvPr id="3505" name="Google Shape;3505;g9676e094b5_52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6" name="Google Shape;3506;g9676e094b5_52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0" name="Shape 3510"/>
        <p:cNvGrpSpPr/>
        <p:nvPr/>
      </p:nvGrpSpPr>
      <p:grpSpPr>
        <a:xfrm>
          <a:off x="0" y="0"/>
          <a:ext cx="0" cy="0"/>
          <a:chOff x="0" y="0"/>
          <a:chExt cx="0" cy="0"/>
        </a:xfrm>
      </p:grpSpPr>
      <p:sp>
        <p:nvSpPr>
          <p:cNvPr id="3511" name="Google Shape;3511;g9676e094b5_52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2" name="Google Shape;3512;g9676e094b5_52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6" name="Shape 3516"/>
        <p:cNvGrpSpPr/>
        <p:nvPr/>
      </p:nvGrpSpPr>
      <p:grpSpPr>
        <a:xfrm>
          <a:off x="0" y="0"/>
          <a:ext cx="0" cy="0"/>
          <a:chOff x="0" y="0"/>
          <a:chExt cx="0" cy="0"/>
        </a:xfrm>
      </p:grpSpPr>
      <p:sp>
        <p:nvSpPr>
          <p:cNvPr id="3517" name="Google Shape;3517;g9676e094b5_5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8" name="Google Shape;3518;g9676e094b5_5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3" name="Shape 3523"/>
        <p:cNvGrpSpPr/>
        <p:nvPr/>
      </p:nvGrpSpPr>
      <p:grpSpPr>
        <a:xfrm>
          <a:off x="0" y="0"/>
          <a:ext cx="0" cy="0"/>
          <a:chOff x="0" y="0"/>
          <a:chExt cx="0" cy="0"/>
        </a:xfrm>
      </p:grpSpPr>
      <p:sp>
        <p:nvSpPr>
          <p:cNvPr id="3524" name="Google Shape;3524;g9676e094b5_5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5" name="Google Shape;3525;g9676e094b5_5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2" name="Shape 3562"/>
        <p:cNvGrpSpPr/>
        <p:nvPr/>
      </p:nvGrpSpPr>
      <p:grpSpPr>
        <a:xfrm>
          <a:off x="0" y="0"/>
          <a:ext cx="0" cy="0"/>
          <a:chOff x="0" y="0"/>
          <a:chExt cx="0" cy="0"/>
        </a:xfrm>
      </p:grpSpPr>
      <p:sp>
        <p:nvSpPr>
          <p:cNvPr id="3563" name="Google Shape;3563;g9676e094b5_52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4" name="Google Shape;3564;g9676e094b5_5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2" name="Shape 3602"/>
        <p:cNvGrpSpPr/>
        <p:nvPr/>
      </p:nvGrpSpPr>
      <p:grpSpPr>
        <a:xfrm>
          <a:off x="0" y="0"/>
          <a:ext cx="0" cy="0"/>
          <a:chOff x="0" y="0"/>
          <a:chExt cx="0" cy="0"/>
        </a:xfrm>
      </p:grpSpPr>
      <p:sp>
        <p:nvSpPr>
          <p:cNvPr id="3603" name="Google Shape;3603;g9676e094b5_52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4" name="Google Shape;3604;g9676e094b5_52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2" name="Shape 3642"/>
        <p:cNvGrpSpPr/>
        <p:nvPr/>
      </p:nvGrpSpPr>
      <p:grpSpPr>
        <a:xfrm>
          <a:off x="0" y="0"/>
          <a:ext cx="0" cy="0"/>
          <a:chOff x="0" y="0"/>
          <a:chExt cx="0" cy="0"/>
        </a:xfrm>
      </p:grpSpPr>
      <p:sp>
        <p:nvSpPr>
          <p:cNvPr id="3643" name="Google Shape;3643;g9676e094b5_52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4" name="Google Shape;3644;g9676e094b5_52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2" name="Shape 3682"/>
        <p:cNvGrpSpPr/>
        <p:nvPr/>
      </p:nvGrpSpPr>
      <p:grpSpPr>
        <a:xfrm>
          <a:off x="0" y="0"/>
          <a:ext cx="0" cy="0"/>
          <a:chOff x="0" y="0"/>
          <a:chExt cx="0" cy="0"/>
        </a:xfrm>
      </p:grpSpPr>
      <p:sp>
        <p:nvSpPr>
          <p:cNvPr id="3683" name="Google Shape;3683;g9676e094b5_52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4" name="Google Shape;3684;g9676e094b5_52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2" name="Shape 3722"/>
        <p:cNvGrpSpPr/>
        <p:nvPr/>
      </p:nvGrpSpPr>
      <p:grpSpPr>
        <a:xfrm>
          <a:off x="0" y="0"/>
          <a:ext cx="0" cy="0"/>
          <a:chOff x="0" y="0"/>
          <a:chExt cx="0" cy="0"/>
        </a:xfrm>
      </p:grpSpPr>
      <p:sp>
        <p:nvSpPr>
          <p:cNvPr id="3723" name="Google Shape;3723;g9676e094b5_52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4" name="Google Shape;3724;g9676e094b5_52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3" name="Shape 3763"/>
        <p:cNvGrpSpPr/>
        <p:nvPr/>
      </p:nvGrpSpPr>
      <p:grpSpPr>
        <a:xfrm>
          <a:off x="0" y="0"/>
          <a:ext cx="0" cy="0"/>
          <a:chOff x="0" y="0"/>
          <a:chExt cx="0" cy="0"/>
        </a:xfrm>
      </p:grpSpPr>
      <p:sp>
        <p:nvSpPr>
          <p:cNvPr id="3764" name="Google Shape;3764;g9676e094b5_52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5" name="Google Shape;3765;g9676e094b5_52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4" name="Shape 3804"/>
        <p:cNvGrpSpPr/>
        <p:nvPr/>
      </p:nvGrpSpPr>
      <p:grpSpPr>
        <a:xfrm>
          <a:off x="0" y="0"/>
          <a:ext cx="0" cy="0"/>
          <a:chOff x="0" y="0"/>
          <a:chExt cx="0" cy="0"/>
        </a:xfrm>
      </p:grpSpPr>
      <p:sp>
        <p:nvSpPr>
          <p:cNvPr id="3805" name="Google Shape;3805;g9676e094b5_52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6" name="Google Shape;3806;g9676e094b5_52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5" name="Shape 3845"/>
        <p:cNvGrpSpPr/>
        <p:nvPr/>
      </p:nvGrpSpPr>
      <p:grpSpPr>
        <a:xfrm>
          <a:off x="0" y="0"/>
          <a:ext cx="0" cy="0"/>
          <a:chOff x="0" y="0"/>
          <a:chExt cx="0" cy="0"/>
        </a:xfrm>
      </p:grpSpPr>
      <p:sp>
        <p:nvSpPr>
          <p:cNvPr id="3846" name="Google Shape;3846;g9676e094b5_52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7" name="Google Shape;3847;g9676e094b5_52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6" name="Shape 3886"/>
        <p:cNvGrpSpPr/>
        <p:nvPr/>
      </p:nvGrpSpPr>
      <p:grpSpPr>
        <a:xfrm>
          <a:off x="0" y="0"/>
          <a:ext cx="0" cy="0"/>
          <a:chOff x="0" y="0"/>
          <a:chExt cx="0" cy="0"/>
        </a:xfrm>
      </p:grpSpPr>
      <p:sp>
        <p:nvSpPr>
          <p:cNvPr id="3887" name="Google Shape;3887;g9676e094b5_52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8" name="Google Shape;3888;g9676e094b5_52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7" name="Shape 3927"/>
        <p:cNvGrpSpPr/>
        <p:nvPr/>
      </p:nvGrpSpPr>
      <p:grpSpPr>
        <a:xfrm>
          <a:off x="0" y="0"/>
          <a:ext cx="0" cy="0"/>
          <a:chOff x="0" y="0"/>
          <a:chExt cx="0" cy="0"/>
        </a:xfrm>
      </p:grpSpPr>
      <p:sp>
        <p:nvSpPr>
          <p:cNvPr id="3928" name="Google Shape;3928;g9676e094b5_52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9" name="Google Shape;3929;g9676e094b5_52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0" name="Shape 3970"/>
        <p:cNvGrpSpPr/>
        <p:nvPr/>
      </p:nvGrpSpPr>
      <p:grpSpPr>
        <a:xfrm>
          <a:off x="0" y="0"/>
          <a:ext cx="0" cy="0"/>
          <a:chOff x="0" y="0"/>
          <a:chExt cx="0" cy="0"/>
        </a:xfrm>
      </p:grpSpPr>
      <p:sp>
        <p:nvSpPr>
          <p:cNvPr id="3971" name="Google Shape;3971;g9676e094b5_52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2" name="Google Shape;3972;g9676e094b5_52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5" name="Shape 4015"/>
        <p:cNvGrpSpPr/>
        <p:nvPr/>
      </p:nvGrpSpPr>
      <p:grpSpPr>
        <a:xfrm>
          <a:off x="0" y="0"/>
          <a:ext cx="0" cy="0"/>
          <a:chOff x="0" y="0"/>
          <a:chExt cx="0" cy="0"/>
        </a:xfrm>
      </p:grpSpPr>
      <p:sp>
        <p:nvSpPr>
          <p:cNvPr id="4016" name="Google Shape;4016;g9676e094b5_52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7" name="Google Shape;4017;g9676e094b5_52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2" name="Shape 4062"/>
        <p:cNvGrpSpPr/>
        <p:nvPr/>
      </p:nvGrpSpPr>
      <p:grpSpPr>
        <a:xfrm>
          <a:off x="0" y="0"/>
          <a:ext cx="0" cy="0"/>
          <a:chOff x="0" y="0"/>
          <a:chExt cx="0" cy="0"/>
        </a:xfrm>
      </p:grpSpPr>
      <p:sp>
        <p:nvSpPr>
          <p:cNvPr id="4063" name="Google Shape;4063;g9676e094b5_52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4" name="Google Shape;4064;g9676e094b5_52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9" name="Shape 4109"/>
        <p:cNvGrpSpPr/>
        <p:nvPr/>
      </p:nvGrpSpPr>
      <p:grpSpPr>
        <a:xfrm>
          <a:off x="0" y="0"/>
          <a:ext cx="0" cy="0"/>
          <a:chOff x="0" y="0"/>
          <a:chExt cx="0" cy="0"/>
        </a:xfrm>
      </p:grpSpPr>
      <p:sp>
        <p:nvSpPr>
          <p:cNvPr id="4110" name="Google Shape;4110;g9676e094b5_52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1" name="Google Shape;4111;g9676e094b5_52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6" name="Shape 4156"/>
        <p:cNvGrpSpPr/>
        <p:nvPr/>
      </p:nvGrpSpPr>
      <p:grpSpPr>
        <a:xfrm>
          <a:off x="0" y="0"/>
          <a:ext cx="0" cy="0"/>
          <a:chOff x="0" y="0"/>
          <a:chExt cx="0" cy="0"/>
        </a:xfrm>
      </p:grpSpPr>
      <p:sp>
        <p:nvSpPr>
          <p:cNvPr id="4157" name="Google Shape;4157;g9676e094b5_52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8" name="Google Shape;4158;g9676e094b5_52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9" name="Shape 4199"/>
        <p:cNvGrpSpPr/>
        <p:nvPr/>
      </p:nvGrpSpPr>
      <p:grpSpPr>
        <a:xfrm>
          <a:off x="0" y="0"/>
          <a:ext cx="0" cy="0"/>
          <a:chOff x="0" y="0"/>
          <a:chExt cx="0" cy="0"/>
        </a:xfrm>
      </p:grpSpPr>
      <p:sp>
        <p:nvSpPr>
          <p:cNvPr id="4200" name="Google Shape;4200;g9676e094b5_52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1" name="Google Shape;4201;g9676e094b5_52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6" name="Shape 4246"/>
        <p:cNvGrpSpPr/>
        <p:nvPr/>
      </p:nvGrpSpPr>
      <p:grpSpPr>
        <a:xfrm>
          <a:off x="0" y="0"/>
          <a:ext cx="0" cy="0"/>
          <a:chOff x="0" y="0"/>
          <a:chExt cx="0" cy="0"/>
        </a:xfrm>
      </p:grpSpPr>
      <p:sp>
        <p:nvSpPr>
          <p:cNvPr id="4247" name="Google Shape;4247;g9676e094b5_52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8" name="Google Shape;4248;g9676e094b5_52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2" name="Shape 4292"/>
        <p:cNvGrpSpPr/>
        <p:nvPr/>
      </p:nvGrpSpPr>
      <p:grpSpPr>
        <a:xfrm>
          <a:off x="0" y="0"/>
          <a:ext cx="0" cy="0"/>
          <a:chOff x="0" y="0"/>
          <a:chExt cx="0" cy="0"/>
        </a:xfrm>
      </p:grpSpPr>
      <p:sp>
        <p:nvSpPr>
          <p:cNvPr id="4293" name="Google Shape;4293;g9676e094b5_52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4" name="Google Shape;4294;g9676e094b5_52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7" name="Shape 4337"/>
        <p:cNvGrpSpPr/>
        <p:nvPr/>
      </p:nvGrpSpPr>
      <p:grpSpPr>
        <a:xfrm>
          <a:off x="0" y="0"/>
          <a:ext cx="0" cy="0"/>
          <a:chOff x="0" y="0"/>
          <a:chExt cx="0" cy="0"/>
        </a:xfrm>
      </p:grpSpPr>
      <p:sp>
        <p:nvSpPr>
          <p:cNvPr id="4338" name="Google Shape;4338;g9676e094b5_52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9" name="Google Shape;4339;g9676e094b5_52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3" name="Shape 4383"/>
        <p:cNvGrpSpPr/>
        <p:nvPr/>
      </p:nvGrpSpPr>
      <p:grpSpPr>
        <a:xfrm>
          <a:off x="0" y="0"/>
          <a:ext cx="0" cy="0"/>
          <a:chOff x="0" y="0"/>
          <a:chExt cx="0" cy="0"/>
        </a:xfrm>
      </p:grpSpPr>
      <p:sp>
        <p:nvSpPr>
          <p:cNvPr id="4384" name="Google Shape;4384;g9676e094b5_52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5" name="Google Shape;4385;g9676e094b5_52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9" name="Shape 4429"/>
        <p:cNvGrpSpPr/>
        <p:nvPr/>
      </p:nvGrpSpPr>
      <p:grpSpPr>
        <a:xfrm>
          <a:off x="0" y="0"/>
          <a:ext cx="0" cy="0"/>
          <a:chOff x="0" y="0"/>
          <a:chExt cx="0" cy="0"/>
        </a:xfrm>
      </p:grpSpPr>
      <p:sp>
        <p:nvSpPr>
          <p:cNvPr id="4430" name="Google Shape;4430;g9676e094b5_52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1" name="Google Shape;4431;g9676e094b5_52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4" name="Shape 4474"/>
        <p:cNvGrpSpPr/>
        <p:nvPr/>
      </p:nvGrpSpPr>
      <p:grpSpPr>
        <a:xfrm>
          <a:off x="0" y="0"/>
          <a:ext cx="0" cy="0"/>
          <a:chOff x="0" y="0"/>
          <a:chExt cx="0" cy="0"/>
        </a:xfrm>
      </p:grpSpPr>
      <p:sp>
        <p:nvSpPr>
          <p:cNvPr id="4475" name="Google Shape;4475;g9676e094b5_52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6" name="Google Shape;4476;g9676e094b5_52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8" name="Shape 4518"/>
        <p:cNvGrpSpPr/>
        <p:nvPr/>
      </p:nvGrpSpPr>
      <p:grpSpPr>
        <a:xfrm>
          <a:off x="0" y="0"/>
          <a:ext cx="0" cy="0"/>
          <a:chOff x="0" y="0"/>
          <a:chExt cx="0" cy="0"/>
        </a:xfrm>
      </p:grpSpPr>
      <p:sp>
        <p:nvSpPr>
          <p:cNvPr id="4519" name="Google Shape;4519;g9676e094b5_52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0" name="Google Shape;4520;g9676e094b5_52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4" name="Shape 4564"/>
        <p:cNvGrpSpPr/>
        <p:nvPr/>
      </p:nvGrpSpPr>
      <p:grpSpPr>
        <a:xfrm>
          <a:off x="0" y="0"/>
          <a:ext cx="0" cy="0"/>
          <a:chOff x="0" y="0"/>
          <a:chExt cx="0" cy="0"/>
        </a:xfrm>
      </p:grpSpPr>
      <p:sp>
        <p:nvSpPr>
          <p:cNvPr id="4565" name="Google Shape;4565;g9676e094b5_52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6" name="Google Shape;4566;g9676e094b5_52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2" name="Shape 4612"/>
        <p:cNvGrpSpPr/>
        <p:nvPr/>
      </p:nvGrpSpPr>
      <p:grpSpPr>
        <a:xfrm>
          <a:off x="0" y="0"/>
          <a:ext cx="0" cy="0"/>
          <a:chOff x="0" y="0"/>
          <a:chExt cx="0" cy="0"/>
        </a:xfrm>
      </p:grpSpPr>
      <p:sp>
        <p:nvSpPr>
          <p:cNvPr id="4613" name="Google Shape;4613;g9676e094b5_52_1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4" name="Google Shape;4614;g9676e094b5_52_1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8" name="Shape 4658"/>
        <p:cNvGrpSpPr/>
        <p:nvPr/>
      </p:nvGrpSpPr>
      <p:grpSpPr>
        <a:xfrm>
          <a:off x="0" y="0"/>
          <a:ext cx="0" cy="0"/>
          <a:chOff x="0" y="0"/>
          <a:chExt cx="0" cy="0"/>
        </a:xfrm>
      </p:grpSpPr>
      <p:sp>
        <p:nvSpPr>
          <p:cNvPr id="4659" name="Google Shape;4659;g9676e094b5_52_1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0" name="Google Shape;4660;g9676e094b5_52_1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5" name="Shape 4705"/>
        <p:cNvGrpSpPr/>
        <p:nvPr/>
      </p:nvGrpSpPr>
      <p:grpSpPr>
        <a:xfrm>
          <a:off x="0" y="0"/>
          <a:ext cx="0" cy="0"/>
          <a:chOff x="0" y="0"/>
          <a:chExt cx="0" cy="0"/>
        </a:xfrm>
      </p:grpSpPr>
      <p:sp>
        <p:nvSpPr>
          <p:cNvPr id="4706" name="Google Shape;4706;g9676e094b5_52_1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7" name="Google Shape;4707;g9676e094b5_52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1" name="Shape 4751"/>
        <p:cNvGrpSpPr/>
        <p:nvPr/>
      </p:nvGrpSpPr>
      <p:grpSpPr>
        <a:xfrm>
          <a:off x="0" y="0"/>
          <a:ext cx="0" cy="0"/>
          <a:chOff x="0" y="0"/>
          <a:chExt cx="0" cy="0"/>
        </a:xfrm>
      </p:grpSpPr>
      <p:sp>
        <p:nvSpPr>
          <p:cNvPr id="4752" name="Google Shape;4752;g9676e094b5_52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3" name="Google Shape;4753;g9676e094b5_52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2" name="Shape 4792"/>
        <p:cNvGrpSpPr/>
        <p:nvPr/>
      </p:nvGrpSpPr>
      <p:grpSpPr>
        <a:xfrm>
          <a:off x="0" y="0"/>
          <a:ext cx="0" cy="0"/>
          <a:chOff x="0" y="0"/>
          <a:chExt cx="0" cy="0"/>
        </a:xfrm>
      </p:grpSpPr>
      <p:sp>
        <p:nvSpPr>
          <p:cNvPr id="4793" name="Google Shape;4793;g9676e094b5_52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4" name="Google Shape;4794;g9676e094b5_52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3" name="Shape 4833"/>
        <p:cNvGrpSpPr/>
        <p:nvPr/>
      </p:nvGrpSpPr>
      <p:grpSpPr>
        <a:xfrm>
          <a:off x="0" y="0"/>
          <a:ext cx="0" cy="0"/>
          <a:chOff x="0" y="0"/>
          <a:chExt cx="0" cy="0"/>
        </a:xfrm>
      </p:grpSpPr>
      <p:sp>
        <p:nvSpPr>
          <p:cNvPr id="4834" name="Google Shape;4834;g9676e094b5_52_1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5" name="Google Shape;4835;g9676e094b5_52_1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3" name="Shape 4883"/>
        <p:cNvGrpSpPr/>
        <p:nvPr/>
      </p:nvGrpSpPr>
      <p:grpSpPr>
        <a:xfrm>
          <a:off x="0" y="0"/>
          <a:ext cx="0" cy="0"/>
          <a:chOff x="0" y="0"/>
          <a:chExt cx="0" cy="0"/>
        </a:xfrm>
      </p:grpSpPr>
      <p:sp>
        <p:nvSpPr>
          <p:cNvPr id="4884" name="Google Shape;4884;g9676e094b5_52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5" name="Google Shape;4885;g9676e094b5_52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2" name="Shape 4932"/>
        <p:cNvGrpSpPr/>
        <p:nvPr/>
      </p:nvGrpSpPr>
      <p:grpSpPr>
        <a:xfrm>
          <a:off x="0" y="0"/>
          <a:ext cx="0" cy="0"/>
          <a:chOff x="0" y="0"/>
          <a:chExt cx="0" cy="0"/>
        </a:xfrm>
      </p:grpSpPr>
      <p:sp>
        <p:nvSpPr>
          <p:cNvPr id="4933" name="Google Shape;4933;g9676e094b5_52_1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4" name="Google Shape;4934;g9676e094b5_52_1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5" name="Shape 4975"/>
        <p:cNvGrpSpPr/>
        <p:nvPr/>
      </p:nvGrpSpPr>
      <p:grpSpPr>
        <a:xfrm>
          <a:off x="0" y="0"/>
          <a:ext cx="0" cy="0"/>
          <a:chOff x="0" y="0"/>
          <a:chExt cx="0" cy="0"/>
        </a:xfrm>
      </p:grpSpPr>
      <p:sp>
        <p:nvSpPr>
          <p:cNvPr id="4976" name="Google Shape;4976;g9676e094b5_52_1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7" name="Google Shape;4977;g9676e094b5_52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5" name="Shape 5025"/>
        <p:cNvGrpSpPr/>
        <p:nvPr/>
      </p:nvGrpSpPr>
      <p:grpSpPr>
        <a:xfrm>
          <a:off x="0" y="0"/>
          <a:ext cx="0" cy="0"/>
          <a:chOff x="0" y="0"/>
          <a:chExt cx="0" cy="0"/>
        </a:xfrm>
      </p:grpSpPr>
      <p:sp>
        <p:nvSpPr>
          <p:cNvPr id="5026" name="Google Shape;5026;g9676e094b5_52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7" name="Google Shape;5027;g9676e094b5_52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2" name="Shape 5062"/>
        <p:cNvGrpSpPr/>
        <p:nvPr/>
      </p:nvGrpSpPr>
      <p:grpSpPr>
        <a:xfrm>
          <a:off x="0" y="0"/>
          <a:ext cx="0" cy="0"/>
          <a:chOff x="0" y="0"/>
          <a:chExt cx="0" cy="0"/>
        </a:xfrm>
      </p:grpSpPr>
      <p:sp>
        <p:nvSpPr>
          <p:cNvPr id="5063" name="Google Shape;5063;g9676e094b5_52_1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4" name="Google Shape;5064;g9676e094b5_52_1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4" name="Shape 5114"/>
        <p:cNvGrpSpPr/>
        <p:nvPr/>
      </p:nvGrpSpPr>
      <p:grpSpPr>
        <a:xfrm>
          <a:off x="0" y="0"/>
          <a:ext cx="0" cy="0"/>
          <a:chOff x="0" y="0"/>
          <a:chExt cx="0" cy="0"/>
        </a:xfrm>
      </p:grpSpPr>
      <p:sp>
        <p:nvSpPr>
          <p:cNvPr id="5115" name="Google Shape;5115;g9676e094b5_52_1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6" name="Google Shape;5116;g9676e094b5_52_1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2" name="Shape 5152"/>
        <p:cNvGrpSpPr/>
        <p:nvPr/>
      </p:nvGrpSpPr>
      <p:grpSpPr>
        <a:xfrm>
          <a:off x="0" y="0"/>
          <a:ext cx="0" cy="0"/>
          <a:chOff x="0" y="0"/>
          <a:chExt cx="0" cy="0"/>
        </a:xfrm>
      </p:grpSpPr>
      <p:sp>
        <p:nvSpPr>
          <p:cNvPr id="5153" name="Google Shape;5153;g9676e094b5_52_1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4" name="Google Shape;5154;g9676e094b5_52_1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4" name="Shape 5184"/>
        <p:cNvGrpSpPr/>
        <p:nvPr/>
      </p:nvGrpSpPr>
      <p:grpSpPr>
        <a:xfrm>
          <a:off x="0" y="0"/>
          <a:ext cx="0" cy="0"/>
          <a:chOff x="0" y="0"/>
          <a:chExt cx="0" cy="0"/>
        </a:xfrm>
      </p:grpSpPr>
      <p:sp>
        <p:nvSpPr>
          <p:cNvPr id="5185" name="Google Shape;5185;g9676e094b5_52_1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6" name="Google Shape;5186;g9676e094b5_52_1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0" name="Shape 5230"/>
        <p:cNvGrpSpPr/>
        <p:nvPr/>
      </p:nvGrpSpPr>
      <p:grpSpPr>
        <a:xfrm>
          <a:off x="0" y="0"/>
          <a:ext cx="0" cy="0"/>
          <a:chOff x="0" y="0"/>
          <a:chExt cx="0" cy="0"/>
        </a:xfrm>
      </p:grpSpPr>
      <p:sp>
        <p:nvSpPr>
          <p:cNvPr id="5231" name="Google Shape;5231;g9676e094b5_52_1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2" name="Google Shape;5232;g9676e094b5_52_1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7" name="Shape 5277"/>
        <p:cNvGrpSpPr/>
        <p:nvPr/>
      </p:nvGrpSpPr>
      <p:grpSpPr>
        <a:xfrm>
          <a:off x="0" y="0"/>
          <a:ext cx="0" cy="0"/>
          <a:chOff x="0" y="0"/>
          <a:chExt cx="0" cy="0"/>
        </a:xfrm>
      </p:grpSpPr>
      <p:sp>
        <p:nvSpPr>
          <p:cNvPr id="5278" name="Google Shape;5278;g9676e094b5_52_1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9" name="Google Shape;5279;g9676e094b5_52_1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3" name="Shape 5323"/>
        <p:cNvGrpSpPr/>
        <p:nvPr/>
      </p:nvGrpSpPr>
      <p:grpSpPr>
        <a:xfrm>
          <a:off x="0" y="0"/>
          <a:ext cx="0" cy="0"/>
          <a:chOff x="0" y="0"/>
          <a:chExt cx="0" cy="0"/>
        </a:xfrm>
      </p:grpSpPr>
      <p:sp>
        <p:nvSpPr>
          <p:cNvPr id="5324" name="Google Shape;5324;g9676e094b5_52_1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5" name="Google Shape;5325;g9676e094b5_52_1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9" name="Shape 5369"/>
        <p:cNvGrpSpPr/>
        <p:nvPr/>
      </p:nvGrpSpPr>
      <p:grpSpPr>
        <a:xfrm>
          <a:off x="0" y="0"/>
          <a:ext cx="0" cy="0"/>
          <a:chOff x="0" y="0"/>
          <a:chExt cx="0" cy="0"/>
        </a:xfrm>
      </p:grpSpPr>
      <p:sp>
        <p:nvSpPr>
          <p:cNvPr id="5370" name="Google Shape;5370;g9676e094b5_52_1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1" name="Google Shape;5371;g9676e094b5_52_1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6" name="Shape 5416"/>
        <p:cNvGrpSpPr/>
        <p:nvPr/>
      </p:nvGrpSpPr>
      <p:grpSpPr>
        <a:xfrm>
          <a:off x="0" y="0"/>
          <a:ext cx="0" cy="0"/>
          <a:chOff x="0" y="0"/>
          <a:chExt cx="0" cy="0"/>
        </a:xfrm>
      </p:grpSpPr>
      <p:sp>
        <p:nvSpPr>
          <p:cNvPr id="5417" name="Google Shape;5417;g9676e094b5_52_1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8" name="Google Shape;5418;g9676e094b5_52_1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9" name="Shape 5459"/>
        <p:cNvGrpSpPr/>
        <p:nvPr/>
      </p:nvGrpSpPr>
      <p:grpSpPr>
        <a:xfrm>
          <a:off x="0" y="0"/>
          <a:ext cx="0" cy="0"/>
          <a:chOff x="0" y="0"/>
          <a:chExt cx="0" cy="0"/>
        </a:xfrm>
      </p:grpSpPr>
      <p:sp>
        <p:nvSpPr>
          <p:cNvPr id="5460" name="Google Shape;5460;g9676e094b5_52_2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1" name="Google Shape;5461;g9676e094b5_52_2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2" name="Shape 5492"/>
        <p:cNvGrpSpPr/>
        <p:nvPr/>
      </p:nvGrpSpPr>
      <p:grpSpPr>
        <a:xfrm>
          <a:off x="0" y="0"/>
          <a:ext cx="0" cy="0"/>
          <a:chOff x="0" y="0"/>
          <a:chExt cx="0" cy="0"/>
        </a:xfrm>
      </p:grpSpPr>
      <p:sp>
        <p:nvSpPr>
          <p:cNvPr id="5493" name="Google Shape;5493;g9676e094b5_52_2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4" name="Google Shape;5494;g9676e094b5_52_2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1" name="Shape 5541"/>
        <p:cNvGrpSpPr/>
        <p:nvPr/>
      </p:nvGrpSpPr>
      <p:grpSpPr>
        <a:xfrm>
          <a:off x="0" y="0"/>
          <a:ext cx="0" cy="0"/>
          <a:chOff x="0" y="0"/>
          <a:chExt cx="0" cy="0"/>
        </a:xfrm>
      </p:grpSpPr>
      <p:sp>
        <p:nvSpPr>
          <p:cNvPr id="5542" name="Google Shape;5542;g9676e094b5_52_2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3" name="Google Shape;5543;g9676e094b5_52_2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0" name="Shape 5590"/>
        <p:cNvGrpSpPr/>
        <p:nvPr/>
      </p:nvGrpSpPr>
      <p:grpSpPr>
        <a:xfrm>
          <a:off x="0" y="0"/>
          <a:ext cx="0" cy="0"/>
          <a:chOff x="0" y="0"/>
          <a:chExt cx="0" cy="0"/>
        </a:xfrm>
      </p:grpSpPr>
      <p:sp>
        <p:nvSpPr>
          <p:cNvPr id="5591" name="Google Shape;5591;g9676e094b5_52_2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2" name="Google Shape;5592;g9676e094b5_52_2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9" name="Shape 5639"/>
        <p:cNvGrpSpPr/>
        <p:nvPr/>
      </p:nvGrpSpPr>
      <p:grpSpPr>
        <a:xfrm>
          <a:off x="0" y="0"/>
          <a:ext cx="0" cy="0"/>
          <a:chOff x="0" y="0"/>
          <a:chExt cx="0" cy="0"/>
        </a:xfrm>
      </p:grpSpPr>
      <p:sp>
        <p:nvSpPr>
          <p:cNvPr id="5640" name="Google Shape;5640;g9676e094b5_52_2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1" name="Google Shape;5641;g9676e094b5_52_2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9" name="Shape 5689"/>
        <p:cNvGrpSpPr/>
        <p:nvPr/>
      </p:nvGrpSpPr>
      <p:grpSpPr>
        <a:xfrm>
          <a:off x="0" y="0"/>
          <a:ext cx="0" cy="0"/>
          <a:chOff x="0" y="0"/>
          <a:chExt cx="0" cy="0"/>
        </a:xfrm>
      </p:grpSpPr>
      <p:sp>
        <p:nvSpPr>
          <p:cNvPr id="5690" name="Google Shape;5690;g9676e094b5_52_2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1" name="Google Shape;5691;g9676e094b5_52_2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9" name="Shape 5739"/>
        <p:cNvGrpSpPr/>
        <p:nvPr/>
      </p:nvGrpSpPr>
      <p:grpSpPr>
        <a:xfrm>
          <a:off x="0" y="0"/>
          <a:ext cx="0" cy="0"/>
          <a:chOff x="0" y="0"/>
          <a:chExt cx="0" cy="0"/>
        </a:xfrm>
      </p:grpSpPr>
      <p:sp>
        <p:nvSpPr>
          <p:cNvPr id="5740" name="Google Shape;5740;g9676e094b5_52_2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1" name="Google Shape;5741;g9676e094b5_52_2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9" name="Shape 5789"/>
        <p:cNvGrpSpPr/>
        <p:nvPr/>
      </p:nvGrpSpPr>
      <p:grpSpPr>
        <a:xfrm>
          <a:off x="0" y="0"/>
          <a:ext cx="0" cy="0"/>
          <a:chOff x="0" y="0"/>
          <a:chExt cx="0" cy="0"/>
        </a:xfrm>
      </p:grpSpPr>
      <p:sp>
        <p:nvSpPr>
          <p:cNvPr id="5790" name="Google Shape;5790;g9676e094b5_52_2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1" name="Google Shape;5791;g9676e094b5_52_2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8" name="Shape 5838"/>
        <p:cNvGrpSpPr/>
        <p:nvPr/>
      </p:nvGrpSpPr>
      <p:grpSpPr>
        <a:xfrm>
          <a:off x="0" y="0"/>
          <a:ext cx="0" cy="0"/>
          <a:chOff x="0" y="0"/>
          <a:chExt cx="0" cy="0"/>
        </a:xfrm>
      </p:grpSpPr>
      <p:sp>
        <p:nvSpPr>
          <p:cNvPr id="5839" name="Google Shape;5839;g9676e094b5_52_2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0" name="Google Shape;5840;g9676e094b5_52_2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6" name="Shape 5886"/>
        <p:cNvGrpSpPr/>
        <p:nvPr/>
      </p:nvGrpSpPr>
      <p:grpSpPr>
        <a:xfrm>
          <a:off x="0" y="0"/>
          <a:ext cx="0" cy="0"/>
          <a:chOff x="0" y="0"/>
          <a:chExt cx="0" cy="0"/>
        </a:xfrm>
      </p:grpSpPr>
      <p:sp>
        <p:nvSpPr>
          <p:cNvPr id="5887" name="Google Shape;5887;g9676e094b5_52_2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8" name="Google Shape;5888;g9676e094b5_52_2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4" name="Shape 5934"/>
        <p:cNvGrpSpPr/>
        <p:nvPr/>
      </p:nvGrpSpPr>
      <p:grpSpPr>
        <a:xfrm>
          <a:off x="0" y="0"/>
          <a:ext cx="0" cy="0"/>
          <a:chOff x="0" y="0"/>
          <a:chExt cx="0" cy="0"/>
        </a:xfrm>
      </p:grpSpPr>
      <p:sp>
        <p:nvSpPr>
          <p:cNvPr id="5935" name="Google Shape;5935;g9676e094b5_52_2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6" name="Google Shape;5936;g9676e094b5_52_2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5" name="Shape 6085"/>
        <p:cNvGrpSpPr/>
        <p:nvPr/>
      </p:nvGrpSpPr>
      <p:grpSpPr>
        <a:xfrm>
          <a:off x="0" y="0"/>
          <a:ext cx="0" cy="0"/>
          <a:chOff x="0" y="0"/>
          <a:chExt cx="0" cy="0"/>
        </a:xfrm>
      </p:grpSpPr>
      <p:sp>
        <p:nvSpPr>
          <p:cNvPr id="6086" name="Google Shape;6086;g9676e094b5_52_2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7" name="Google Shape;6087;g9676e094b5_52_2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8" name="Shape 6238"/>
        <p:cNvGrpSpPr/>
        <p:nvPr/>
      </p:nvGrpSpPr>
      <p:grpSpPr>
        <a:xfrm>
          <a:off x="0" y="0"/>
          <a:ext cx="0" cy="0"/>
          <a:chOff x="0" y="0"/>
          <a:chExt cx="0" cy="0"/>
        </a:xfrm>
      </p:grpSpPr>
      <p:sp>
        <p:nvSpPr>
          <p:cNvPr id="6239" name="Google Shape;6239;g9676e094b5_52_2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0" name="Google Shape;6240;g9676e094b5_52_2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1" name="Shape 6391"/>
        <p:cNvGrpSpPr/>
        <p:nvPr/>
      </p:nvGrpSpPr>
      <p:grpSpPr>
        <a:xfrm>
          <a:off x="0" y="0"/>
          <a:ext cx="0" cy="0"/>
          <a:chOff x="0" y="0"/>
          <a:chExt cx="0" cy="0"/>
        </a:xfrm>
      </p:grpSpPr>
      <p:sp>
        <p:nvSpPr>
          <p:cNvPr id="6392" name="Google Shape;6392;g9676e094b5_52_2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3" name="Google Shape;6393;g9676e094b5_52_2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8" name="Shape 6538"/>
        <p:cNvGrpSpPr/>
        <p:nvPr/>
      </p:nvGrpSpPr>
      <p:grpSpPr>
        <a:xfrm>
          <a:off x="0" y="0"/>
          <a:ext cx="0" cy="0"/>
          <a:chOff x="0" y="0"/>
          <a:chExt cx="0" cy="0"/>
        </a:xfrm>
      </p:grpSpPr>
      <p:sp>
        <p:nvSpPr>
          <p:cNvPr id="6539" name="Google Shape;6539;g9676e094b5_52_3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0" name="Google Shape;6540;g9676e094b5_52_3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5" name="Shape 6685"/>
        <p:cNvGrpSpPr/>
        <p:nvPr/>
      </p:nvGrpSpPr>
      <p:grpSpPr>
        <a:xfrm>
          <a:off x="0" y="0"/>
          <a:ext cx="0" cy="0"/>
          <a:chOff x="0" y="0"/>
          <a:chExt cx="0" cy="0"/>
        </a:xfrm>
      </p:grpSpPr>
      <p:sp>
        <p:nvSpPr>
          <p:cNvPr id="6686" name="Google Shape;6686;g9676e094b5_52_3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7" name="Google Shape;6687;g9676e094b5_52_3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3" name="Shape 6823"/>
        <p:cNvGrpSpPr/>
        <p:nvPr/>
      </p:nvGrpSpPr>
      <p:grpSpPr>
        <a:xfrm>
          <a:off x="0" y="0"/>
          <a:ext cx="0" cy="0"/>
          <a:chOff x="0" y="0"/>
          <a:chExt cx="0" cy="0"/>
        </a:xfrm>
      </p:grpSpPr>
      <p:sp>
        <p:nvSpPr>
          <p:cNvPr id="6824" name="Google Shape;6824;g9676e094b5_52_3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5" name="Google Shape;6825;g9676e094b5_52_3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1" name="Shape 6951"/>
        <p:cNvGrpSpPr/>
        <p:nvPr/>
      </p:nvGrpSpPr>
      <p:grpSpPr>
        <a:xfrm>
          <a:off x="0" y="0"/>
          <a:ext cx="0" cy="0"/>
          <a:chOff x="0" y="0"/>
          <a:chExt cx="0" cy="0"/>
        </a:xfrm>
      </p:grpSpPr>
      <p:sp>
        <p:nvSpPr>
          <p:cNvPr id="6952" name="Google Shape;6952;g9676e094b5_52_3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3" name="Google Shape;6953;g9676e094b5_52_3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7" name="Shape 7077"/>
        <p:cNvGrpSpPr/>
        <p:nvPr/>
      </p:nvGrpSpPr>
      <p:grpSpPr>
        <a:xfrm>
          <a:off x="0" y="0"/>
          <a:ext cx="0" cy="0"/>
          <a:chOff x="0" y="0"/>
          <a:chExt cx="0" cy="0"/>
        </a:xfrm>
      </p:grpSpPr>
      <p:sp>
        <p:nvSpPr>
          <p:cNvPr id="7078" name="Google Shape;7078;g9676e094b5_52_36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79" name="Google Shape;7079;g9676e094b5_52_3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6" name="Shape 7086"/>
        <p:cNvGrpSpPr/>
        <p:nvPr/>
      </p:nvGrpSpPr>
      <p:grpSpPr>
        <a:xfrm>
          <a:off x="0" y="0"/>
          <a:ext cx="0" cy="0"/>
          <a:chOff x="0" y="0"/>
          <a:chExt cx="0" cy="0"/>
        </a:xfrm>
      </p:grpSpPr>
      <p:sp>
        <p:nvSpPr>
          <p:cNvPr id="7087" name="Google Shape;7087;g9676e094b5_52_3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8" name="Google Shape;7088;g9676e094b5_52_3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3" name="Shape 7163"/>
        <p:cNvGrpSpPr/>
        <p:nvPr/>
      </p:nvGrpSpPr>
      <p:grpSpPr>
        <a:xfrm>
          <a:off x="0" y="0"/>
          <a:ext cx="0" cy="0"/>
          <a:chOff x="0" y="0"/>
          <a:chExt cx="0" cy="0"/>
        </a:xfrm>
      </p:grpSpPr>
      <p:sp>
        <p:nvSpPr>
          <p:cNvPr id="7164" name="Google Shape;7164;g9676e094b5_52_3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5" name="Google Shape;7165;g9676e094b5_52_3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1" name="Shape 7241"/>
        <p:cNvGrpSpPr/>
        <p:nvPr/>
      </p:nvGrpSpPr>
      <p:grpSpPr>
        <a:xfrm>
          <a:off x="0" y="0"/>
          <a:ext cx="0" cy="0"/>
          <a:chOff x="0" y="0"/>
          <a:chExt cx="0" cy="0"/>
        </a:xfrm>
      </p:grpSpPr>
      <p:sp>
        <p:nvSpPr>
          <p:cNvPr id="7242" name="Google Shape;7242;g9676e094b5_52_3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3" name="Google Shape;7243;g9676e094b5_52_3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9" name="Shape 7319"/>
        <p:cNvGrpSpPr/>
        <p:nvPr/>
      </p:nvGrpSpPr>
      <p:grpSpPr>
        <a:xfrm>
          <a:off x="0" y="0"/>
          <a:ext cx="0" cy="0"/>
          <a:chOff x="0" y="0"/>
          <a:chExt cx="0" cy="0"/>
        </a:xfrm>
      </p:grpSpPr>
      <p:sp>
        <p:nvSpPr>
          <p:cNvPr id="7320" name="Google Shape;7320;g9676e094b5_52_3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1" name="Google Shape;7321;g9676e094b5_52_3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0" name="Shape 7390"/>
        <p:cNvGrpSpPr/>
        <p:nvPr/>
      </p:nvGrpSpPr>
      <p:grpSpPr>
        <a:xfrm>
          <a:off x="0" y="0"/>
          <a:ext cx="0" cy="0"/>
          <a:chOff x="0" y="0"/>
          <a:chExt cx="0" cy="0"/>
        </a:xfrm>
      </p:grpSpPr>
      <p:sp>
        <p:nvSpPr>
          <p:cNvPr id="7391" name="Google Shape;7391;g9676e094b5_52_3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2" name="Google Shape;7392;g9676e094b5_52_3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2" name="Shape 7462"/>
        <p:cNvGrpSpPr/>
        <p:nvPr/>
      </p:nvGrpSpPr>
      <p:grpSpPr>
        <a:xfrm>
          <a:off x="0" y="0"/>
          <a:ext cx="0" cy="0"/>
          <a:chOff x="0" y="0"/>
          <a:chExt cx="0" cy="0"/>
        </a:xfrm>
      </p:grpSpPr>
      <p:sp>
        <p:nvSpPr>
          <p:cNvPr id="7463" name="Google Shape;7463;g9676e094b5_52_3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4" name="Google Shape;7464;g9676e094b5_52_3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4" name="Shape 7534"/>
        <p:cNvGrpSpPr/>
        <p:nvPr/>
      </p:nvGrpSpPr>
      <p:grpSpPr>
        <a:xfrm>
          <a:off x="0" y="0"/>
          <a:ext cx="0" cy="0"/>
          <a:chOff x="0" y="0"/>
          <a:chExt cx="0" cy="0"/>
        </a:xfrm>
      </p:grpSpPr>
      <p:sp>
        <p:nvSpPr>
          <p:cNvPr id="7535" name="Google Shape;7535;g9676e094b5_52_4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6" name="Google Shape;7536;g9676e094b5_52_4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3" name="Shape 7603"/>
        <p:cNvGrpSpPr/>
        <p:nvPr/>
      </p:nvGrpSpPr>
      <p:grpSpPr>
        <a:xfrm>
          <a:off x="0" y="0"/>
          <a:ext cx="0" cy="0"/>
          <a:chOff x="0" y="0"/>
          <a:chExt cx="0" cy="0"/>
        </a:xfrm>
      </p:grpSpPr>
      <p:sp>
        <p:nvSpPr>
          <p:cNvPr id="7604" name="Google Shape;7604;g9676e094b5_52_4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5" name="Google Shape;7605;g9676e094b5_52_4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9" name="Shape 7609"/>
        <p:cNvGrpSpPr/>
        <p:nvPr/>
      </p:nvGrpSpPr>
      <p:grpSpPr>
        <a:xfrm>
          <a:off x="0" y="0"/>
          <a:ext cx="0" cy="0"/>
          <a:chOff x="0" y="0"/>
          <a:chExt cx="0" cy="0"/>
        </a:xfrm>
      </p:grpSpPr>
      <p:sp>
        <p:nvSpPr>
          <p:cNvPr id="7610" name="Google Shape;7610;g9676e094b5_52_4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1" name="Google Shape;7611;g9676e094b5_52_4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5" name="Shape 7615"/>
        <p:cNvGrpSpPr/>
        <p:nvPr/>
      </p:nvGrpSpPr>
      <p:grpSpPr>
        <a:xfrm>
          <a:off x="0" y="0"/>
          <a:ext cx="0" cy="0"/>
          <a:chOff x="0" y="0"/>
          <a:chExt cx="0" cy="0"/>
        </a:xfrm>
      </p:grpSpPr>
      <p:sp>
        <p:nvSpPr>
          <p:cNvPr id="7616" name="Google Shape;7616;g9676e094b5_52_4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7" name="Google Shape;7617;g9676e094b5_52_4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1" name="Shape 7621"/>
        <p:cNvGrpSpPr/>
        <p:nvPr/>
      </p:nvGrpSpPr>
      <p:grpSpPr>
        <a:xfrm>
          <a:off x="0" y="0"/>
          <a:ext cx="0" cy="0"/>
          <a:chOff x="0" y="0"/>
          <a:chExt cx="0" cy="0"/>
        </a:xfrm>
      </p:grpSpPr>
      <p:sp>
        <p:nvSpPr>
          <p:cNvPr id="7622" name="Google Shape;7622;gb2fbd23fff_1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3" name="Google Shape;7623;gb2fbd23fff_1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8" name="Shape 7628"/>
        <p:cNvGrpSpPr/>
        <p:nvPr/>
      </p:nvGrpSpPr>
      <p:grpSpPr>
        <a:xfrm>
          <a:off x="0" y="0"/>
          <a:ext cx="0" cy="0"/>
          <a:chOff x="0" y="0"/>
          <a:chExt cx="0" cy="0"/>
        </a:xfrm>
      </p:grpSpPr>
      <p:sp>
        <p:nvSpPr>
          <p:cNvPr id="7629" name="Google Shape;7629;gb2fbd23fff_1_1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0" name="Google Shape;7630;gb2fbd23fff_1_1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4" name="Shape 7634"/>
        <p:cNvGrpSpPr/>
        <p:nvPr/>
      </p:nvGrpSpPr>
      <p:grpSpPr>
        <a:xfrm>
          <a:off x="0" y="0"/>
          <a:ext cx="0" cy="0"/>
          <a:chOff x="0" y="0"/>
          <a:chExt cx="0" cy="0"/>
        </a:xfrm>
      </p:grpSpPr>
      <p:sp>
        <p:nvSpPr>
          <p:cNvPr id="7635" name="Google Shape;7635;g9676e094b5_5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36" name="Google Shape;7636;g9676e094b5_5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0" name="Shape 7640"/>
        <p:cNvGrpSpPr/>
        <p:nvPr/>
      </p:nvGrpSpPr>
      <p:grpSpPr>
        <a:xfrm>
          <a:off x="0" y="0"/>
          <a:ext cx="0" cy="0"/>
          <a:chOff x="0" y="0"/>
          <a:chExt cx="0" cy="0"/>
        </a:xfrm>
      </p:grpSpPr>
      <p:sp>
        <p:nvSpPr>
          <p:cNvPr id="7641" name="Google Shape;7641;g9676e094b5_5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2" name="Google Shape;7642;g9676e094b5_5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9" name="Shape 7689"/>
        <p:cNvGrpSpPr/>
        <p:nvPr/>
      </p:nvGrpSpPr>
      <p:grpSpPr>
        <a:xfrm>
          <a:off x="0" y="0"/>
          <a:ext cx="0" cy="0"/>
          <a:chOff x="0" y="0"/>
          <a:chExt cx="0" cy="0"/>
        </a:xfrm>
      </p:grpSpPr>
      <p:sp>
        <p:nvSpPr>
          <p:cNvPr id="7690" name="Google Shape;7690;g9676e094b5_57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1" name="Google Shape;7691;g9676e094b5_57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9" name="Shape 7739"/>
        <p:cNvGrpSpPr/>
        <p:nvPr/>
      </p:nvGrpSpPr>
      <p:grpSpPr>
        <a:xfrm>
          <a:off x="0" y="0"/>
          <a:ext cx="0" cy="0"/>
          <a:chOff x="0" y="0"/>
          <a:chExt cx="0" cy="0"/>
        </a:xfrm>
      </p:grpSpPr>
      <p:sp>
        <p:nvSpPr>
          <p:cNvPr id="7740" name="Google Shape;7740;g9676e094b5_57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1" name="Google Shape;7741;g9676e094b5_57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6" name="Shape 7746"/>
        <p:cNvGrpSpPr/>
        <p:nvPr/>
      </p:nvGrpSpPr>
      <p:grpSpPr>
        <a:xfrm>
          <a:off x="0" y="0"/>
          <a:ext cx="0" cy="0"/>
          <a:chOff x="0" y="0"/>
          <a:chExt cx="0" cy="0"/>
        </a:xfrm>
      </p:grpSpPr>
      <p:sp>
        <p:nvSpPr>
          <p:cNvPr id="7747" name="Google Shape;7747;g9676e094b5_57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8" name="Google Shape;7748;g9676e094b5_57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3" name="Shape 7753"/>
        <p:cNvGrpSpPr/>
        <p:nvPr/>
      </p:nvGrpSpPr>
      <p:grpSpPr>
        <a:xfrm>
          <a:off x="0" y="0"/>
          <a:ext cx="0" cy="0"/>
          <a:chOff x="0" y="0"/>
          <a:chExt cx="0" cy="0"/>
        </a:xfrm>
      </p:grpSpPr>
      <p:sp>
        <p:nvSpPr>
          <p:cNvPr id="7754" name="Google Shape;7754;g9676e094b5_57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5" name="Google Shape;7755;g9676e094b5_57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2" name="Shape 7782"/>
        <p:cNvGrpSpPr/>
        <p:nvPr/>
      </p:nvGrpSpPr>
      <p:grpSpPr>
        <a:xfrm>
          <a:off x="0" y="0"/>
          <a:ext cx="0" cy="0"/>
          <a:chOff x="0" y="0"/>
          <a:chExt cx="0" cy="0"/>
        </a:xfrm>
      </p:grpSpPr>
      <p:sp>
        <p:nvSpPr>
          <p:cNvPr id="7783" name="Google Shape;7783;g9676e094b5_57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4" name="Google Shape;7784;g9676e094b5_57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5" name="Shape 7815"/>
        <p:cNvGrpSpPr/>
        <p:nvPr/>
      </p:nvGrpSpPr>
      <p:grpSpPr>
        <a:xfrm>
          <a:off x="0" y="0"/>
          <a:ext cx="0" cy="0"/>
          <a:chOff x="0" y="0"/>
          <a:chExt cx="0" cy="0"/>
        </a:xfrm>
      </p:grpSpPr>
      <p:sp>
        <p:nvSpPr>
          <p:cNvPr id="7816" name="Google Shape;7816;g9676e094b5_57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7" name="Google Shape;7817;g9676e094b5_57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2" name="Shape 7852"/>
        <p:cNvGrpSpPr/>
        <p:nvPr/>
      </p:nvGrpSpPr>
      <p:grpSpPr>
        <a:xfrm>
          <a:off x="0" y="0"/>
          <a:ext cx="0" cy="0"/>
          <a:chOff x="0" y="0"/>
          <a:chExt cx="0" cy="0"/>
        </a:xfrm>
      </p:grpSpPr>
      <p:sp>
        <p:nvSpPr>
          <p:cNvPr id="7853" name="Google Shape;7853;g9676e094b5_57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4" name="Google Shape;7854;g9676e094b5_57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9" name="Shape 7889"/>
        <p:cNvGrpSpPr/>
        <p:nvPr/>
      </p:nvGrpSpPr>
      <p:grpSpPr>
        <a:xfrm>
          <a:off x="0" y="0"/>
          <a:ext cx="0" cy="0"/>
          <a:chOff x="0" y="0"/>
          <a:chExt cx="0" cy="0"/>
        </a:xfrm>
      </p:grpSpPr>
      <p:sp>
        <p:nvSpPr>
          <p:cNvPr id="7890" name="Google Shape;7890;g9676e094b5_57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1" name="Google Shape;7891;g9676e094b5_57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6" name="Shape 7926"/>
        <p:cNvGrpSpPr/>
        <p:nvPr/>
      </p:nvGrpSpPr>
      <p:grpSpPr>
        <a:xfrm>
          <a:off x="0" y="0"/>
          <a:ext cx="0" cy="0"/>
          <a:chOff x="0" y="0"/>
          <a:chExt cx="0" cy="0"/>
        </a:xfrm>
      </p:grpSpPr>
      <p:sp>
        <p:nvSpPr>
          <p:cNvPr id="7927" name="Google Shape;7927;g9676e094b5_57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8" name="Google Shape;7928;g9676e094b5_57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3" name="Shape 7963"/>
        <p:cNvGrpSpPr/>
        <p:nvPr/>
      </p:nvGrpSpPr>
      <p:grpSpPr>
        <a:xfrm>
          <a:off x="0" y="0"/>
          <a:ext cx="0" cy="0"/>
          <a:chOff x="0" y="0"/>
          <a:chExt cx="0" cy="0"/>
        </a:xfrm>
      </p:grpSpPr>
      <p:sp>
        <p:nvSpPr>
          <p:cNvPr id="7964" name="Google Shape;7964;g9676e094b5_57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5" name="Google Shape;7965;g9676e094b5_57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6" name="Shape 7976"/>
        <p:cNvGrpSpPr/>
        <p:nvPr/>
      </p:nvGrpSpPr>
      <p:grpSpPr>
        <a:xfrm>
          <a:off x="0" y="0"/>
          <a:ext cx="0" cy="0"/>
          <a:chOff x="0" y="0"/>
          <a:chExt cx="0" cy="0"/>
        </a:xfrm>
      </p:grpSpPr>
      <p:sp>
        <p:nvSpPr>
          <p:cNvPr id="7977" name="Google Shape;7977;g9676e094b5_57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8" name="Google Shape;7978;g9676e094b5_57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1" name="Shape 7991"/>
        <p:cNvGrpSpPr/>
        <p:nvPr/>
      </p:nvGrpSpPr>
      <p:grpSpPr>
        <a:xfrm>
          <a:off x="0" y="0"/>
          <a:ext cx="0" cy="0"/>
          <a:chOff x="0" y="0"/>
          <a:chExt cx="0" cy="0"/>
        </a:xfrm>
      </p:grpSpPr>
      <p:sp>
        <p:nvSpPr>
          <p:cNvPr id="7992" name="Google Shape;7992;g9676e094b5_57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3" name="Google Shape;7993;g9676e094b5_57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8" name="Shape 7998"/>
        <p:cNvGrpSpPr/>
        <p:nvPr/>
      </p:nvGrpSpPr>
      <p:grpSpPr>
        <a:xfrm>
          <a:off x="0" y="0"/>
          <a:ext cx="0" cy="0"/>
          <a:chOff x="0" y="0"/>
          <a:chExt cx="0" cy="0"/>
        </a:xfrm>
      </p:grpSpPr>
      <p:sp>
        <p:nvSpPr>
          <p:cNvPr id="7999" name="Google Shape;7999;g9676e094b5_57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0" name="Google Shape;8000;g9676e094b5_57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3" name="Shape 8013"/>
        <p:cNvGrpSpPr/>
        <p:nvPr/>
      </p:nvGrpSpPr>
      <p:grpSpPr>
        <a:xfrm>
          <a:off x="0" y="0"/>
          <a:ext cx="0" cy="0"/>
          <a:chOff x="0" y="0"/>
          <a:chExt cx="0" cy="0"/>
        </a:xfrm>
      </p:grpSpPr>
      <p:sp>
        <p:nvSpPr>
          <p:cNvPr id="8014" name="Google Shape;8014;g9676e094b5_57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5" name="Google Shape;8015;g9676e094b5_57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2" name="Shape 8032"/>
        <p:cNvGrpSpPr/>
        <p:nvPr/>
      </p:nvGrpSpPr>
      <p:grpSpPr>
        <a:xfrm>
          <a:off x="0" y="0"/>
          <a:ext cx="0" cy="0"/>
          <a:chOff x="0" y="0"/>
          <a:chExt cx="0" cy="0"/>
        </a:xfrm>
      </p:grpSpPr>
      <p:sp>
        <p:nvSpPr>
          <p:cNvPr id="8033" name="Google Shape;8033;g9676e094b5_57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4" name="Google Shape;8034;g9676e094b5_57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7" name="Shape 8047"/>
        <p:cNvGrpSpPr/>
        <p:nvPr/>
      </p:nvGrpSpPr>
      <p:grpSpPr>
        <a:xfrm>
          <a:off x="0" y="0"/>
          <a:ext cx="0" cy="0"/>
          <a:chOff x="0" y="0"/>
          <a:chExt cx="0" cy="0"/>
        </a:xfrm>
      </p:grpSpPr>
      <p:sp>
        <p:nvSpPr>
          <p:cNvPr id="8048" name="Google Shape;8048;g9676e094b5_57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9" name="Google Shape;8049;g9676e094b5_57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5" name="Shape 8055"/>
        <p:cNvGrpSpPr/>
        <p:nvPr/>
      </p:nvGrpSpPr>
      <p:grpSpPr>
        <a:xfrm>
          <a:off x="0" y="0"/>
          <a:ext cx="0" cy="0"/>
          <a:chOff x="0" y="0"/>
          <a:chExt cx="0" cy="0"/>
        </a:xfrm>
      </p:grpSpPr>
      <p:sp>
        <p:nvSpPr>
          <p:cNvPr id="8056" name="Google Shape;8056;g9676e094b5_57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7" name="Google Shape;8057;g9676e094b5_57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0" name="Shape 8070"/>
        <p:cNvGrpSpPr/>
        <p:nvPr/>
      </p:nvGrpSpPr>
      <p:grpSpPr>
        <a:xfrm>
          <a:off x="0" y="0"/>
          <a:ext cx="0" cy="0"/>
          <a:chOff x="0" y="0"/>
          <a:chExt cx="0" cy="0"/>
        </a:xfrm>
      </p:grpSpPr>
      <p:sp>
        <p:nvSpPr>
          <p:cNvPr id="8071" name="Google Shape;8071;gb2fbd23fff_1_1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2" name="Google Shape;8072;gb2fbd23fff_1_1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6" name="Shape 8076"/>
        <p:cNvGrpSpPr/>
        <p:nvPr/>
      </p:nvGrpSpPr>
      <p:grpSpPr>
        <a:xfrm>
          <a:off x="0" y="0"/>
          <a:ext cx="0" cy="0"/>
          <a:chOff x="0" y="0"/>
          <a:chExt cx="0" cy="0"/>
        </a:xfrm>
      </p:grpSpPr>
      <p:sp>
        <p:nvSpPr>
          <p:cNvPr id="8077" name="Google Shape;8077;g9676e094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8" name="Google Shape;8078;g9676e094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3" name="Shape 8083"/>
        <p:cNvGrpSpPr/>
        <p:nvPr/>
      </p:nvGrpSpPr>
      <p:grpSpPr>
        <a:xfrm>
          <a:off x="0" y="0"/>
          <a:ext cx="0" cy="0"/>
          <a:chOff x="0" y="0"/>
          <a:chExt cx="0" cy="0"/>
        </a:xfrm>
      </p:grpSpPr>
      <p:sp>
        <p:nvSpPr>
          <p:cNvPr id="8084" name="Google Shape;8084;g9676e094b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5" name="Google Shape;8085;g9676e094b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1" name="Shape 8091"/>
        <p:cNvGrpSpPr/>
        <p:nvPr/>
      </p:nvGrpSpPr>
      <p:grpSpPr>
        <a:xfrm>
          <a:off x="0" y="0"/>
          <a:ext cx="0" cy="0"/>
          <a:chOff x="0" y="0"/>
          <a:chExt cx="0" cy="0"/>
        </a:xfrm>
      </p:grpSpPr>
      <p:sp>
        <p:nvSpPr>
          <p:cNvPr id="8092" name="Google Shape;8092;g9676e094b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3" name="Google Shape;8093;g9676e094b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0" name="Shape 8100"/>
        <p:cNvGrpSpPr/>
        <p:nvPr/>
      </p:nvGrpSpPr>
      <p:grpSpPr>
        <a:xfrm>
          <a:off x="0" y="0"/>
          <a:ext cx="0" cy="0"/>
          <a:chOff x="0" y="0"/>
          <a:chExt cx="0" cy="0"/>
        </a:xfrm>
      </p:grpSpPr>
      <p:sp>
        <p:nvSpPr>
          <p:cNvPr id="8101" name="Google Shape;8101;g9676e094b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2" name="Google Shape;8102;g9676e094b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9" name="Shape 8109"/>
        <p:cNvGrpSpPr/>
        <p:nvPr/>
      </p:nvGrpSpPr>
      <p:grpSpPr>
        <a:xfrm>
          <a:off x="0" y="0"/>
          <a:ext cx="0" cy="0"/>
          <a:chOff x="0" y="0"/>
          <a:chExt cx="0" cy="0"/>
        </a:xfrm>
      </p:grpSpPr>
      <p:sp>
        <p:nvSpPr>
          <p:cNvPr id="8110" name="Google Shape;8110;g9676e094b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1" name="Google Shape;8111;g9676e094b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8" name="Shape 8118"/>
        <p:cNvGrpSpPr/>
        <p:nvPr/>
      </p:nvGrpSpPr>
      <p:grpSpPr>
        <a:xfrm>
          <a:off x="0" y="0"/>
          <a:ext cx="0" cy="0"/>
          <a:chOff x="0" y="0"/>
          <a:chExt cx="0" cy="0"/>
        </a:xfrm>
      </p:grpSpPr>
      <p:sp>
        <p:nvSpPr>
          <p:cNvPr id="8119" name="Google Shape;8119;g9676e094b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0" name="Google Shape;8120;g9676e094b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6" name="Shape 8126"/>
        <p:cNvGrpSpPr/>
        <p:nvPr/>
      </p:nvGrpSpPr>
      <p:grpSpPr>
        <a:xfrm>
          <a:off x="0" y="0"/>
          <a:ext cx="0" cy="0"/>
          <a:chOff x="0" y="0"/>
          <a:chExt cx="0" cy="0"/>
        </a:xfrm>
      </p:grpSpPr>
      <p:sp>
        <p:nvSpPr>
          <p:cNvPr id="8127" name="Google Shape;8127;g9676e094b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8" name="Google Shape;8128;g9676e094b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4" name="Shape 8134"/>
        <p:cNvGrpSpPr/>
        <p:nvPr/>
      </p:nvGrpSpPr>
      <p:grpSpPr>
        <a:xfrm>
          <a:off x="0" y="0"/>
          <a:ext cx="0" cy="0"/>
          <a:chOff x="0" y="0"/>
          <a:chExt cx="0" cy="0"/>
        </a:xfrm>
      </p:grpSpPr>
      <p:sp>
        <p:nvSpPr>
          <p:cNvPr id="8135" name="Google Shape;8135;g9676e094b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6" name="Google Shape;8136;g9676e094b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2" name="Shape 8142"/>
        <p:cNvGrpSpPr/>
        <p:nvPr/>
      </p:nvGrpSpPr>
      <p:grpSpPr>
        <a:xfrm>
          <a:off x="0" y="0"/>
          <a:ext cx="0" cy="0"/>
          <a:chOff x="0" y="0"/>
          <a:chExt cx="0" cy="0"/>
        </a:xfrm>
      </p:grpSpPr>
      <p:sp>
        <p:nvSpPr>
          <p:cNvPr id="8143" name="Google Shape;8143;g9676e094b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4" name="Google Shape;8144;g9676e094b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1" name="Shape 8151"/>
        <p:cNvGrpSpPr/>
        <p:nvPr/>
      </p:nvGrpSpPr>
      <p:grpSpPr>
        <a:xfrm>
          <a:off x="0" y="0"/>
          <a:ext cx="0" cy="0"/>
          <a:chOff x="0" y="0"/>
          <a:chExt cx="0" cy="0"/>
        </a:xfrm>
      </p:grpSpPr>
      <p:sp>
        <p:nvSpPr>
          <p:cNvPr id="8152" name="Google Shape;8152;g9676e094b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3" name="Google Shape;8153;g9676e094b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9" name="Shape 8159"/>
        <p:cNvGrpSpPr/>
        <p:nvPr/>
      </p:nvGrpSpPr>
      <p:grpSpPr>
        <a:xfrm>
          <a:off x="0" y="0"/>
          <a:ext cx="0" cy="0"/>
          <a:chOff x="0" y="0"/>
          <a:chExt cx="0" cy="0"/>
        </a:xfrm>
      </p:grpSpPr>
      <p:sp>
        <p:nvSpPr>
          <p:cNvPr id="8160" name="Google Shape;8160;g9676e094b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1" name="Google Shape;8161;g9676e094b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6" name="Shape 8166"/>
        <p:cNvGrpSpPr/>
        <p:nvPr/>
      </p:nvGrpSpPr>
      <p:grpSpPr>
        <a:xfrm>
          <a:off x="0" y="0"/>
          <a:ext cx="0" cy="0"/>
          <a:chOff x="0" y="0"/>
          <a:chExt cx="0" cy="0"/>
        </a:xfrm>
      </p:grpSpPr>
      <p:sp>
        <p:nvSpPr>
          <p:cNvPr id="8167" name="Google Shape;8167;g9676e094b5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8" name="Google Shape;8168;g9676e094b5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3" name="Shape 8173"/>
        <p:cNvGrpSpPr/>
        <p:nvPr/>
      </p:nvGrpSpPr>
      <p:grpSpPr>
        <a:xfrm>
          <a:off x="0" y="0"/>
          <a:ext cx="0" cy="0"/>
          <a:chOff x="0" y="0"/>
          <a:chExt cx="0" cy="0"/>
        </a:xfrm>
      </p:grpSpPr>
      <p:sp>
        <p:nvSpPr>
          <p:cNvPr id="8174" name="Google Shape;8174;g9676e094b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5" name="Google Shape;8175;g9676e094b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0" name="Shape 8180"/>
        <p:cNvGrpSpPr/>
        <p:nvPr/>
      </p:nvGrpSpPr>
      <p:grpSpPr>
        <a:xfrm>
          <a:off x="0" y="0"/>
          <a:ext cx="0" cy="0"/>
          <a:chOff x="0" y="0"/>
          <a:chExt cx="0" cy="0"/>
        </a:xfrm>
      </p:grpSpPr>
      <p:sp>
        <p:nvSpPr>
          <p:cNvPr id="8181" name="Google Shape;8181;g9676e094b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2" name="Google Shape;8182;g9676e094b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1" name="Shape 8191"/>
        <p:cNvGrpSpPr/>
        <p:nvPr/>
      </p:nvGrpSpPr>
      <p:grpSpPr>
        <a:xfrm>
          <a:off x="0" y="0"/>
          <a:ext cx="0" cy="0"/>
          <a:chOff x="0" y="0"/>
          <a:chExt cx="0" cy="0"/>
        </a:xfrm>
      </p:grpSpPr>
      <p:sp>
        <p:nvSpPr>
          <p:cNvPr id="8192" name="Google Shape;8192;g9676e094b5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3" name="Google Shape;8193;g9676e094b5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8" name="Shape 8198"/>
        <p:cNvGrpSpPr/>
        <p:nvPr/>
      </p:nvGrpSpPr>
      <p:grpSpPr>
        <a:xfrm>
          <a:off x="0" y="0"/>
          <a:ext cx="0" cy="0"/>
          <a:chOff x="0" y="0"/>
          <a:chExt cx="0" cy="0"/>
        </a:xfrm>
      </p:grpSpPr>
      <p:sp>
        <p:nvSpPr>
          <p:cNvPr id="8199" name="Google Shape;8199;g9676e094b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0" name="Google Shape;8200;g9676e094b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5" name="Shape 8205"/>
        <p:cNvGrpSpPr/>
        <p:nvPr/>
      </p:nvGrpSpPr>
      <p:grpSpPr>
        <a:xfrm>
          <a:off x="0" y="0"/>
          <a:ext cx="0" cy="0"/>
          <a:chOff x="0" y="0"/>
          <a:chExt cx="0" cy="0"/>
        </a:xfrm>
      </p:grpSpPr>
      <p:sp>
        <p:nvSpPr>
          <p:cNvPr id="8206" name="Google Shape;8206;g9676e094b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7" name="Google Shape;8207;g9676e094b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2" name="Shape 8212"/>
        <p:cNvGrpSpPr/>
        <p:nvPr/>
      </p:nvGrpSpPr>
      <p:grpSpPr>
        <a:xfrm>
          <a:off x="0" y="0"/>
          <a:ext cx="0" cy="0"/>
          <a:chOff x="0" y="0"/>
          <a:chExt cx="0" cy="0"/>
        </a:xfrm>
      </p:grpSpPr>
      <p:sp>
        <p:nvSpPr>
          <p:cNvPr id="8213" name="Google Shape;8213;g9676e094b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4" name="Google Shape;8214;g9676e094b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9" name="Shape 8219"/>
        <p:cNvGrpSpPr/>
        <p:nvPr/>
      </p:nvGrpSpPr>
      <p:grpSpPr>
        <a:xfrm>
          <a:off x="0" y="0"/>
          <a:ext cx="0" cy="0"/>
          <a:chOff x="0" y="0"/>
          <a:chExt cx="0" cy="0"/>
        </a:xfrm>
      </p:grpSpPr>
      <p:sp>
        <p:nvSpPr>
          <p:cNvPr id="8220" name="Google Shape;8220;g9676e094b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1" name="Google Shape;8221;g9676e094b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6" name="Shape 8226"/>
        <p:cNvGrpSpPr/>
        <p:nvPr/>
      </p:nvGrpSpPr>
      <p:grpSpPr>
        <a:xfrm>
          <a:off x="0" y="0"/>
          <a:ext cx="0" cy="0"/>
          <a:chOff x="0" y="0"/>
          <a:chExt cx="0" cy="0"/>
        </a:xfrm>
      </p:grpSpPr>
      <p:sp>
        <p:nvSpPr>
          <p:cNvPr id="8227" name="Google Shape;8227;g9676e094b5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8" name="Google Shape;8228;g9676e094b5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3" name="Shape 8233"/>
        <p:cNvGrpSpPr/>
        <p:nvPr/>
      </p:nvGrpSpPr>
      <p:grpSpPr>
        <a:xfrm>
          <a:off x="0" y="0"/>
          <a:ext cx="0" cy="0"/>
          <a:chOff x="0" y="0"/>
          <a:chExt cx="0" cy="0"/>
        </a:xfrm>
      </p:grpSpPr>
      <p:sp>
        <p:nvSpPr>
          <p:cNvPr id="8234" name="Google Shape;8234;g9676e094b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5" name="Google Shape;8235;g9676e094b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9" name="Shape 8239"/>
        <p:cNvGrpSpPr/>
        <p:nvPr/>
      </p:nvGrpSpPr>
      <p:grpSpPr>
        <a:xfrm>
          <a:off x="0" y="0"/>
          <a:ext cx="0" cy="0"/>
          <a:chOff x="0" y="0"/>
          <a:chExt cx="0" cy="0"/>
        </a:xfrm>
      </p:grpSpPr>
      <p:sp>
        <p:nvSpPr>
          <p:cNvPr id="8240" name="Google Shape;8240;g9676e094b5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1" name="Google Shape;8241;g9676e094b5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5" name="Shape 8245"/>
        <p:cNvGrpSpPr/>
        <p:nvPr/>
      </p:nvGrpSpPr>
      <p:grpSpPr>
        <a:xfrm>
          <a:off x="0" y="0"/>
          <a:ext cx="0" cy="0"/>
          <a:chOff x="0" y="0"/>
          <a:chExt cx="0" cy="0"/>
        </a:xfrm>
      </p:grpSpPr>
      <p:sp>
        <p:nvSpPr>
          <p:cNvPr id="8246" name="Google Shape;8246;g9676e094b5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7" name="Google Shape;8247;g9676e094b5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1" name="Shape 8251"/>
        <p:cNvGrpSpPr/>
        <p:nvPr/>
      </p:nvGrpSpPr>
      <p:grpSpPr>
        <a:xfrm>
          <a:off x="0" y="0"/>
          <a:ext cx="0" cy="0"/>
          <a:chOff x="0" y="0"/>
          <a:chExt cx="0" cy="0"/>
        </a:xfrm>
      </p:grpSpPr>
      <p:sp>
        <p:nvSpPr>
          <p:cNvPr id="8252" name="Google Shape;8252;g9676e094b5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3" name="Google Shape;8253;g9676e094b5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7" name="Shape 8257"/>
        <p:cNvGrpSpPr/>
        <p:nvPr/>
      </p:nvGrpSpPr>
      <p:grpSpPr>
        <a:xfrm>
          <a:off x="0" y="0"/>
          <a:ext cx="0" cy="0"/>
          <a:chOff x="0" y="0"/>
          <a:chExt cx="0" cy="0"/>
        </a:xfrm>
      </p:grpSpPr>
      <p:sp>
        <p:nvSpPr>
          <p:cNvPr id="8258" name="Google Shape;8258;g9676e094b5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9" name="Google Shape;8259;g9676e094b5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3" name="Shape 8263"/>
        <p:cNvGrpSpPr/>
        <p:nvPr/>
      </p:nvGrpSpPr>
      <p:grpSpPr>
        <a:xfrm>
          <a:off x="0" y="0"/>
          <a:ext cx="0" cy="0"/>
          <a:chOff x="0" y="0"/>
          <a:chExt cx="0" cy="0"/>
        </a:xfrm>
      </p:grpSpPr>
      <p:sp>
        <p:nvSpPr>
          <p:cNvPr id="8264" name="Google Shape;8264;g9676e094b5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5" name="Google Shape;8265;g9676e094b5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9" name="Shape 8269"/>
        <p:cNvGrpSpPr/>
        <p:nvPr/>
      </p:nvGrpSpPr>
      <p:grpSpPr>
        <a:xfrm>
          <a:off x="0" y="0"/>
          <a:ext cx="0" cy="0"/>
          <a:chOff x="0" y="0"/>
          <a:chExt cx="0" cy="0"/>
        </a:xfrm>
      </p:grpSpPr>
      <p:sp>
        <p:nvSpPr>
          <p:cNvPr id="8270" name="Google Shape;8270;g9676e094b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1" name="Google Shape;8271;g9676e094b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5" name="Shape 8275"/>
        <p:cNvGrpSpPr/>
        <p:nvPr/>
      </p:nvGrpSpPr>
      <p:grpSpPr>
        <a:xfrm>
          <a:off x="0" y="0"/>
          <a:ext cx="0" cy="0"/>
          <a:chOff x="0" y="0"/>
          <a:chExt cx="0" cy="0"/>
        </a:xfrm>
      </p:grpSpPr>
      <p:sp>
        <p:nvSpPr>
          <p:cNvPr id="8276" name="Google Shape;8276;g9676e094b5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7" name="Google Shape;8277;g9676e094b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2" name="Shape 8282"/>
        <p:cNvGrpSpPr/>
        <p:nvPr/>
      </p:nvGrpSpPr>
      <p:grpSpPr>
        <a:xfrm>
          <a:off x="0" y="0"/>
          <a:ext cx="0" cy="0"/>
          <a:chOff x="0" y="0"/>
          <a:chExt cx="0" cy="0"/>
        </a:xfrm>
      </p:grpSpPr>
      <p:sp>
        <p:nvSpPr>
          <p:cNvPr id="8283" name="Google Shape;8283;g9676e094b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4" name="Google Shape;8284;g9676e094b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9" name="Shape 8289"/>
        <p:cNvGrpSpPr/>
        <p:nvPr/>
      </p:nvGrpSpPr>
      <p:grpSpPr>
        <a:xfrm>
          <a:off x="0" y="0"/>
          <a:ext cx="0" cy="0"/>
          <a:chOff x="0" y="0"/>
          <a:chExt cx="0" cy="0"/>
        </a:xfrm>
      </p:grpSpPr>
      <p:sp>
        <p:nvSpPr>
          <p:cNvPr id="8290" name="Google Shape;8290;g9676e094b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1" name="Google Shape;8291;g9676e094b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6" name="Shape 8296"/>
        <p:cNvGrpSpPr/>
        <p:nvPr/>
      </p:nvGrpSpPr>
      <p:grpSpPr>
        <a:xfrm>
          <a:off x="0" y="0"/>
          <a:ext cx="0" cy="0"/>
          <a:chOff x="0" y="0"/>
          <a:chExt cx="0" cy="0"/>
        </a:xfrm>
      </p:grpSpPr>
      <p:sp>
        <p:nvSpPr>
          <p:cNvPr id="8297" name="Google Shape;8297;g9676e094b5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8" name="Google Shape;8298;g9676e094b5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3" name="Shape 8303"/>
        <p:cNvGrpSpPr/>
        <p:nvPr/>
      </p:nvGrpSpPr>
      <p:grpSpPr>
        <a:xfrm>
          <a:off x="0" y="0"/>
          <a:ext cx="0" cy="0"/>
          <a:chOff x="0" y="0"/>
          <a:chExt cx="0" cy="0"/>
        </a:xfrm>
      </p:grpSpPr>
      <p:sp>
        <p:nvSpPr>
          <p:cNvPr id="8304" name="Google Shape;8304;g9676e094b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5" name="Google Shape;8305;g9676e094b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0" name="Shape 8310"/>
        <p:cNvGrpSpPr/>
        <p:nvPr/>
      </p:nvGrpSpPr>
      <p:grpSpPr>
        <a:xfrm>
          <a:off x="0" y="0"/>
          <a:ext cx="0" cy="0"/>
          <a:chOff x="0" y="0"/>
          <a:chExt cx="0" cy="0"/>
        </a:xfrm>
      </p:grpSpPr>
      <p:sp>
        <p:nvSpPr>
          <p:cNvPr id="8311" name="Google Shape;8311;g9676e094b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2" name="Google Shape;8312;g9676e094b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6" name="Shape 8316"/>
        <p:cNvGrpSpPr/>
        <p:nvPr/>
      </p:nvGrpSpPr>
      <p:grpSpPr>
        <a:xfrm>
          <a:off x="0" y="0"/>
          <a:ext cx="0" cy="0"/>
          <a:chOff x="0" y="0"/>
          <a:chExt cx="0" cy="0"/>
        </a:xfrm>
      </p:grpSpPr>
      <p:sp>
        <p:nvSpPr>
          <p:cNvPr id="8317" name="Google Shape;8317;g9676e094b5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8" name="Google Shape;8318;g9676e094b5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2" name="Shape 8322"/>
        <p:cNvGrpSpPr/>
        <p:nvPr/>
      </p:nvGrpSpPr>
      <p:grpSpPr>
        <a:xfrm>
          <a:off x="0" y="0"/>
          <a:ext cx="0" cy="0"/>
          <a:chOff x="0" y="0"/>
          <a:chExt cx="0" cy="0"/>
        </a:xfrm>
      </p:grpSpPr>
      <p:sp>
        <p:nvSpPr>
          <p:cNvPr id="8323" name="Google Shape;8323;g9676e094b5_62_0: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24" name="Google Shape;8324;g9676e094b5_6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8" name="Shape 8328"/>
        <p:cNvGrpSpPr/>
        <p:nvPr/>
      </p:nvGrpSpPr>
      <p:grpSpPr>
        <a:xfrm>
          <a:off x="0" y="0"/>
          <a:ext cx="0" cy="0"/>
          <a:chOff x="0" y="0"/>
          <a:chExt cx="0" cy="0"/>
        </a:xfrm>
      </p:grpSpPr>
      <p:sp>
        <p:nvSpPr>
          <p:cNvPr id="8329" name="Google Shape;8329;g9676e094b5_62_6: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30" name="Google Shape;8330;g9676e094b5_6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4" name="Shape 8334"/>
        <p:cNvGrpSpPr/>
        <p:nvPr/>
      </p:nvGrpSpPr>
      <p:grpSpPr>
        <a:xfrm>
          <a:off x="0" y="0"/>
          <a:ext cx="0" cy="0"/>
          <a:chOff x="0" y="0"/>
          <a:chExt cx="0" cy="0"/>
        </a:xfrm>
      </p:grpSpPr>
      <p:sp>
        <p:nvSpPr>
          <p:cNvPr id="8335" name="Google Shape;8335;g9676e094b5_62_11: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36" name="Google Shape;8336;g9676e094b5_6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0" name="Shape 8340"/>
        <p:cNvGrpSpPr/>
        <p:nvPr/>
      </p:nvGrpSpPr>
      <p:grpSpPr>
        <a:xfrm>
          <a:off x="0" y="0"/>
          <a:ext cx="0" cy="0"/>
          <a:chOff x="0" y="0"/>
          <a:chExt cx="0" cy="0"/>
        </a:xfrm>
      </p:grpSpPr>
      <p:sp>
        <p:nvSpPr>
          <p:cNvPr id="8341" name="Google Shape;8341;g9676e094b5_62_16: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42" name="Google Shape;8342;g9676e094b5_6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6" name="Shape 8346"/>
        <p:cNvGrpSpPr/>
        <p:nvPr/>
      </p:nvGrpSpPr>
      <p:grpSpPr>
        <a:xfrm>
          <a:off x="0" y="0"/>
          <a:ext cx="0" cy="0"/>
          <a:chOff x="0" y="0"/>
          <a:chExt cx="0" cy="0"/>
        </a:xfrm>
      </p:grpSpPr>
      <p:sp>
        <p:nvSpPr>
          <p:cNvPr id="8347" name="Google Shape;8347;g9676e094b5_62_21: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48" name="Google Shape;8348;g9676e094b5_6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2" name="Shape 8352"/>
        <p:cNvGrpSpPr/>
        <p:nvPr/>
      </p:nvGrpSpPr>
      <p:grpSpPr>
        <a:xfrm>
          <a:off x="0" y="0"/>
          <a:ext cx="0" cy="0"/>
          <a:chOff x="0" y="0"/>
          <a:chExt cx="0" cy="0"/>
        </a:xfrm>
      </p:grpSpPr>
      <p:sp>
        <p:nvSpPr>
          <p:cNvPr id="8353" name="Google Shape;8353;g9676e094b5_62_26: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54" name="Google Shape;8354;g9676e094b5_6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2" name="Shape 8362"/>
        <p:cNvGrpSpPr/>
        <p:nvPr/>
      </p:nvGrpSpPr>
      <p:grpSpPr>
        <a:xfrm>
          <a:off x="0" y="0"/>
          <a:ext cx="0" cy="0"/>
          <a:chOff x="0" y="0"/>
          <a:chExt cx="0" cy="0"/>
        </a:xfrm>
      </p:grpSpPr>
      <p:sp>
        <p:nvSpPr>
          <p:cNvPr id="8363" name="Google Shape;8363;g9676e094b5_62_35: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64" name="Google Shape;8364;g9676e094b5_6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5" name="Shape 8375"/>
        <p:cNvGrpSpPr/>
        <p:nvPr/>
      </p:nvGrpSpPr>
      <p:grpSpPr>
        <a:xfrm>
          <a:off x="0" y="0"/>
          <a:ext cx="0" cy="0"/>
          <a:chOff x="0" y="0"/>
          <a:chExt cx="0" cy="0"/>
        </a:xfrm>
      </p:grpSpPr>
      <p:sp>
        <p:nvSpPr>
          <p:cNvPr id="8376" name="Google Shape;8376;g9676e094b5_62_47: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77" name="Google Shape;8377;g9676e094b5_6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1" name="Shape 8381"/>
        <p:cNvGrpSpPr/>
        <p:nvPr/>
      </p:nvGrpSpPr>
      <p:grpSpPr>
        <a:xfrm>
          <a:off x="0" y="0"/>
          <a:ext cx="0" cy="0"/>
          <a:chOff x="0" y="0"/>
          <a:chExt cx="0" cy="0"/>
        </a:xfrm>
      </p:grpSpPr>
      <p:sp>
        <p:nvSpPr>
          <p:cNvPr id="8382" name="Google Shape;8382;g9676e094b5_62_52: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83" name="Google Shape;8383;g9676e094b5_6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7" name="Shape 8387"/>
        <p:cNvGrpSpPr/>
        <p:nvPr/>
      </p:nvGrpSpPr>
      <p:grpSpPr>
        <a:xfrm>
          <a:off x="0" y="0"/>
          <a:ext cx="0" cy="0"/>
          <a:chOff x="0" y="0"/>
          <a:chExt cx="0" cy="0"/>
        </a:xfrm>
      </p:grpSpPr>
      <p:sp>
        <p:nvSpPr>
          <p:cNvPr id="8388" name="Google Shape;8388;g9676e094b5_62_57: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89" name="Google Shape;8389;g9676e094b5_6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4" name="Shape 8394"/>
        <p:cNvGrpSpPr/>
        <p:nvPr/>
      </p:nvGrpSpPr>
      <p:grpSpPr>
        <a:xfrm>
          <a:off x="0" y="0"/>
          <a:ext cx="0" cy="0"/>
          <a:chOff x="0" y="0"/>
          <a:chExt cx="0" cy="0"/>
        </a:xfrm>
      </p:grpSpPr>
      <p:sp>
        <p:nvSpPr>
          <p:cNvPr id="8395" name="Google Shape;8395;g9676e094b5_62_63: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396" name="Google Shape;8396;g9676e094b5_6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1" name="Shape 8401"/>
        <p:cNvGrpSpPr/>
        <p:nvPr/>
      </p:nvGrpSpPr>
      <p:grpSpPr>
        <a:xfrm>
          <a:off x="0" y="0"/>
          <a:ext cx="0" cy="0"/>
          <a:chOff x="0" y="0"/>
          <a:chExt cx="0" cy="0"/>
        </a:xfrm>
      </p:grpSpPr>
      <p:sp>
        <p:nvSpPr>
          <p:cNvPr id="8402" name="Google Shape;8402;g9676e094b5_62_69: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403" name="Google Shape;8403;g9676e094b5_6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8" name="Shape 8408"/>
        <p:cNvGrpSpPr/>
        <p:nvPr/>
      </p:nvGrpSpPr>
      <p:grpSpPr>
        <a:xfrm>
          <a:off x="0" y="0"/>
          <a:ext cx="0" cy="0"/>
          <a:chOff x="0" y="0"/>
          <a:chExt cx="0" cy="0"/>
        </a:xfrm>
      </p:grpSpPr>
      <p:sp>
        <p:nvSpPr>
          <p:cNvPr id="8409" name="Google Shape;8409;g9676e094b5_62_108: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410" name="Google Shape;8410;g9676e094b5_62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4" name="Shape 8434"/>
        <p:cNvGrpSpPr/>
        <p:nvPr/>
      </p:nvGrpSpPr>
      <p:grpSpPr>
        <a:xfrm>
          <a:off x="0" y="0"/>
          <a:ext cx="0" cy="0"/>
          <a:chOff x="0" y="0"/>
          <a:chExt cx="0" cy="0"/>
        </a:xfrm>
      </p:grpSpPr>
      <p:sp>
        <p:nvSpPr>
          <p:cNvPr id="8435" name="Google Shape;8435;g9676e094b5_62_134: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436" name="Google Shape;8436;g9676e094b5_6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2" name="Shape 8462"/>
        <p:cNvGrpSpPr/>
        <p:nvPr/>
      </p:nvGrpSpPr>
      <p:grpSpPr>
        <a:xfrm>
          <a:off x="0" y="0"/>
          <a:ext cx="0" cy="0"/>
          <a:chOff x="0" y="0"/>
          <a:chExt cx="0" cy="0"/>
        </a:xfrm>
      </p:grpSpPr>
      <p:sp>
        <p:nvSpPr>
          <p:cNvPr id="8463" name="Google Shape;8463;g9676e094b5_62_75: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464" name="Google Shape;8464;g9676e094b5_6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6" name="Shape 8496"/>
        <p:cNvGrpSpPr/>
        <p:nvPr/>
      </p:nvGrpSpPr>
      <p:grpSpPr>
        <a:xfrm>
          <a:off x="0" y="0"/>
          <a:ext cx="0" cy="0"/>
          <a:chOff x="0" y="0"/>
          <a:chExt cx="0" cy="0"/>
        </a:xfrm>
      </p:grpSpPr>
      <p:sp>
        <p:nvSpPr>
          <p:cNvPr id="8497" name="Google Shape;8497;g9676e094b5_62_162: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498" name="Google Shape;8498;g9676e094b5_6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8" name="Shape 8528"/>
        <p:cNvGrpSpPr/>
        <p:nvPr/>
      </p:nvGrpSpPr>
      <p:grpSpPr>
        <a:xfrm>
          <a:off x="0" y="0"/>
          <a:ext cx="0" cy="0"/>
          <a:chOff x="0" y="0"/>
          <a:chExt cx="0" cy="0"/>
        </a:xfrm>
      </p:grpSpPr>
      <p:sp>
        <p:nvSpPr>
          <p:cNvPr id="8529" name="Google Shape;8529;g9676e094b5_62_194: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530" name="Google Shape;8530;g9676e094b5_62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3" name="Shape 8563"/>
        <p:cNvGrpSpPr/>
        <p:nvPr/>
      </p:nvGrpSpPr>
      <p:grpSpPr>
        <a:xfrm>
          <a:off x="0" y="0"/>
          <a:ext cx="0" cy="0"/>
          <a:chOff x="0" y="0"/>
          <a:chExt cx="0" cy="0"/>
        </a:xfrm>
      </p:grpSpPr>
      <p:sp>
        <p:nvSpPr>
          <p:cNvPr id="8564" name="Google Shape;8564;g9676e094b5_62_228: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565" name="Google Shape;8565;g9676e094b5_62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4" name="Shape 8604"/>
        <p:cNvGrpSpPr/>
        <p:nvPr/>
      </p:nvGrpSpPr>
      <p:grpSpPr>
        <a:xfrm>
          <a:off x="0" y="0"/>
          <a:ext cx="0" cy="0"/>
          <a:chOff x="0" y="0"/>
          <a:chExt cx="0" cy="0"/>
        </a:xfrm>
      </p:grpSpPr>
      <p:sp>
        <p:nvSpPr>
          <p:cNvPr id="8605" name="Google Shape;8605;g9676e094b5_62_268: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606" name="Google Shape;8606;g9676e094b5_62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9" name="Shape 8639"/>
        <p:cNvGrpSpPr/>
        <p:nvPr/>
      </p:nvGrpSpPr>
      <p:grpSpPr>
        <a:xfrm>
          <a:off x="0" y="0"/>
          <a:ext cx="0" cy="0"/>
          <a:chOff x="0" y="0"/>
          <a:chExt cx="0" cy="0"/>
        </a:xfrm>
      </p:grpSpPr>
      <p:sp>
        <p:nvSpPr>
          <p:cNvPr id="8640" name="Google Shape;8640;g9676e094b5_62_302: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641" name="Google Shape;8641;g9676e094b5_62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5" name="Shape 8675"/>
        <p:cNvGrpSpPr/>
        <p:nvPr/>
      </p:nvGrpSpPr>
      <p:grpSpPr>
        <a:xfrm>
          <a:off x="0" y="0"/>
          <a:ext cx="0" cy="0"/>
          <a:chOff x="0" y="0"/>
          <a:chExt cx="0" cy="0"/>
        </a:xfrm>
      </p:grpSpPr>
      <p:sp>
        <p:nvSpPr>
          <p:cNvPr id="8676" name="Google Shape;8676;g9676e094b5_62_337: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677" name="Google Shape;8677;g9676e094b5_62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0" name="Shape 8710"/>
        <p:cNvGrpSpPr/>
        <p:nvPr/>
      </p:nvGrpSpPr>
      <p:grpSpPr>
        <a:xfrm>
          <a:off x="0" y="0"/>
          <a:ext cx="0" cy="0"/>
          <a:chOff x="0" y="0"/>
          <a:chExt cx="0" cy="0"/>
        </a:xfrm>
      </p:grpSpPr>
      <p:sp>
        <p:nvSpPr>
          <p:cNvPr id="8711" name="Google Shape;8711;g9676e094b5_62_371: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712" name="Google Shape;8712;g9676e094b5_62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4" name="Shape 8744"/>
        <p:cNvGrpSpPr/>
        <p:nvPr/>
      </p:nvGrpSpPr>
      <p:grpSpPr>
        <a:xfrm>
          <a:off x="0" y="0"/>
          <a:ext cx="0" cy="0"/>
          <a:chOff x="0" y="0"/>
          <a:chExt cx="0" cy="0"/>
        </a:xfrm>
      </p:grpSpPr>
      <p:sp>
        <p:nvSpPr>
          <p:cNvPr id="8745" name="Google Shape;8745;g9676e094b5_62_404: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746" name="Google Shape;8746;g9676e094b5_62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0" name="Shape 8750"/>
        <p:cNvGrpSpPr/>
        <p:nvPr/>
      </p:nvGrpSpPr>
      <p:grpSpPr>
        <a:xfrm>
          <a:off x="0" y="0"/>
          <a:ext cx="0" cy="0"/>
          <a:chOff x="0" y="0"/>
          <a:chExt cx="0" cy="0"/>
        </a:xfrm>
      </p:grpSpPr>
      <p:sp>
        <p:nvSpPr>
          <p:cNvPr id="8751" name="Google Shape;8751;g9676e094b5_62_409: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752" name="Google Shape;8752;g9676e094b5_62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3" name="Shape 8783"/>
        <p:cNvGrpSpPr/>
        <p:nvPr/>
      </p:nvGrpSpPr>
      <p:grpSpPr>
        <a:xfrm>
          <a:off x="0" y="0"/>
          <a:ext cx="0" cy="0"/>
          <a:chOff x="0" y="0"/>
          <a:chExt cx="0" cy="0"/>
        </a:xfrm>
      </p:grpSpPr>
      <p:sp>
        <p:nvSpPr>
          <p:cNvPr id="8784" name="Google Shape;8784;g9676e094b5_62_441: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785" name="Google Shape;8785;g9676e094b5_62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6" name="Shape 8816"/>
        <p:cNvGrpSpPr/>
        <p:nvPr/>
      </p:nvGrpSpPr>
      <p:grpSpPr>
        <a:xfrm>
          <a:off x="0" y="0"/>
          <a:ext cx="0" cy="0"/>
          <a:chOff x="0" y="0"/>
          <a:chExt cx="0" cy="0"/>
        </a:xfrm>
      </p:grpSpPr>
      <p:sp>
        <p:nvSpPr>
          <p:cNvPr id="8817" name="Google Shape;8817;g9676e094b5_62_473: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818" name="Google Shape;8818;g9676e094b5_62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9" name="Shape 8849"/>
        <p:cNvGrpSpPr/>
        <p:nvPr/>
      </p:nvGrpSpPr>
      <p:grpSpPr>
        <a:xfrm>
          <a:off x="0" y="0"/>
          <a:ext cx="0" cy="0"/>
          <a:chOff x="0" y="0"/>
          <a:chExt cx="0" cy="0"/>
        </a:xfrm>
      </p:grpSpPr>
      <p:sp>
        <p:nvSpPr>
          <p:cNvPr id="8850" name="Google Shape;8850;g9676e094b5_62_505: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851" name="Google Shape;8851;g9676e094b5_62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1" name="Shape 8861"/>
        <p:cNvGrpSpPr/>
        <p:nvPr/>
      </p:nvGrpSpPr>
      <p:grpSpPr>
        <a:xfrm>
          <a:off x="0" y="0"/>
          <a:ext cx="0" cy="0"/>
          <a:chOff x="0" y="0"/>
          <a:chExt cx="0" cy="0"/>
        </a:xfrm>
      </p:grpSpPr>
      <p:sp>
        <p:nvSpPr>
          <p:cNvPr id="8862" name="Google Shape;8862;g9676e094b5_62_516: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863" name="Google Shape;8863;g9676e094b5_62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6" name="Shape 8896"/>
        <p:cNvGrpSpPr/>
        <p:nvPr/>
      </p:nvGrpSpPr>
      <p:grpSpPr>
        <a:xfrm>
          <a:off x="0" y="0"/>
          <a:ext cx="0" cy="0"/>
          <a:chOff x="0" y="0"/>
          <a:chExt cx="0" cy="0"/>
        </a:xfrm>
      </p:grpSpPr>
      <p:sp>
        <p:nvSpPr>
          <p:cNvPr id="8897" name="Google Shape;8897;g9676e094b5_62_550: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898" name="Google Shape;8898;g9676e094b5_62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1" name="Shape 8931"/>
        <p:cNvGrpSpPr/>
        <p:nvPr/>
      </p:nvGrpSpPr>
      <p:grpSpPr>
        <a:xfrm>
          <a:off x="0" y="0"/>
          <a:ext cx="0" cy="0"/>
          <a:chOff x="0" y="0"/>
          <a:chExt cx="0" cy="0"/>
        </a:xfrm>
      </p:grpSpPr>
      <p:sp>
        <p:nvSpPr>
          <p:cNvPr id="8932" name="Google Shape;8932;g9676e094b5_62_584: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933" name="Google Shape;8933;g9676e094b5_62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7" name="Shape 8967"/>
        <p:cNvGrpSpPr/>
        <p:nvPr/>
      </p:nvGrpSpPr>
      <p:grpSpPr>
        <a:xfrm>
          <a:off x="0" y="0"/>
          <a:ext cx="0" cy="0"/>
          <a:chOff x="0" y="0"/>
          <a:chExt cx="0" cy="0"/>
        </a:xfrm>
      </p:grpSpPr>
      <p:sp>
        <p:nvSpPr>
          <p:cNvPr id="8968" name="Google Shape;8968;g9676e094b5_62_619: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8969" name="Google Shape;8969;g9676e094b5_62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4" name="Shape 9004"/>
        <p:cNvGrpSpPr/>
        <p:nvPr/>
      </p:nvGrpSpPr>
      <p:grpSpPr>
        <a:xfrm>
          <a:off x="0" y="0"/>
          <a:ext cx="0" cy="0"/>
          <a:chOff x="0" y="0"/>
          <a:chExt cx="0" cy="0"/>
        </a:xfrm>
      </p:grpSpPr>
      <p:sp>
        <p:nvSpPr>
          <p:cNvPr id="9005" name="Google Shape;9005;g9676e094b5_62_655: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006" name="Google Shape;9006;g9676e094b5_62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1" name="Shape 9041"/>
        <p:cNvGrpSpPr/>
        <p:nvPr/>
      </p:nvGrpSpPr>
      <p:grpSpPr>
        <a:xfrm>
          <a:off x="0" y="0"/>
          <a:ext cx="0" cy="0"/>
          <a:chOff x="0" y="0"/>
          <a:chExt cx="0" cy="0"/>
        </a:xfrm>
      </p:grpSpPr>
      <p:sp>
        <p:nvSpPr>
          <p:cNvPr id="9042" name="Google Shape;9042;g9676e094b5_62_691: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043" name="Google Shape;9043;g9676e094b5_62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1" name="Shape 9061"/>
        <p:cNvGrpSpPr/>
        <p:nvPr/>
      </p:nvGrpSpPr>
      <p:grpSpPr>
        <a:xfrm>
          <a:off x="0" y="0"/>
          <a:ext cx="0" cy="0"/>
          <a:chOff x="0" y="0"/>
          <a:chExt cx="0" cy="0"/>
        </a:xfrm>
      </p:grpSpPr>
      <p:sp>
        <p:nvSpPr>
          <p:cNvPr id="9062" name="Google Shape;9062;g9676e094b5_62_710: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063" name="Google Shape;9063;g9676e094b5_62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2" name="Shape 9082"/>
        <p:cNvGrpSpPr/>
        <p:nvPr/>
      </p:nvGrpSpPr>
      <p:grpSpPr>
        <a:xfrm>
          <a:off x="0" y="0"/>
          <a:ext cx="0" cy="0"/>
          <a:chOff x="0" y="0"/>
          <a:chExt cx="0" cy="0"/>
        </a:xfrm>
      </p:grpSpPr>
      <p:sp>
        <p:nvSpPr>
          <p:cNvPr id="9083" name="Google Shape;9083;g9676e094b5_62_730: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084" name="Google Shape;9084;g9676e094b5_62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4" name="Shape 9104"/>
        <p:cNvGrpSpPr/>
        <p:nvPr/>
      </p:nvGrpSpPr>
      <p:grpSpPr>
        <a:xfrm>
          <a:off x="0" y="0"/>
          <a:ext cx="0" cy="0"/>
          <a:chOff x="0" y="0"/>
          <a:chExt cx="0" cy="0"/>
        </a:xfrm>
      </p:grpSpPr>
      <p:sp>
        <p:nvSpPr>
          <p:cNvPr id="9105" name="Google Shape;9105;g9676e094b5_62_751: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106" name="Google Shape;9106;g9676e094b5_62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6" name="Shape 9126"/>
        <p:cNvGrpSpPr/>
        <p:nvPr/>
      </p:nvGrpSpPr>
      <p:grpSpPr>
        <a:xfrm>
          <a:off x="0" y="0"/>
          <a:ext cx="0" cy="0"/>
          <a:chOff x="0" y="0"/>
          <a:chExt cx="0" cy="0"/>
        </a:xfrm>
      </p:grpSpPr>
      <p:sp>
        <p:nvSpPr>
          <p:cNvPr id="9127" name="Google Shape;9127;g9676e094b5_62_772: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128" name="Google Shape;9128;g9676e094b5_62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8" name="Shape 9148"/>
        <p:cNvGrpSpPr/>
        <p:nvPr/>
      </p:nvGrpSpPr>
      <p:grpSpPr>
        <a:xfrm>
          <a:off x="0" y="0"/>
          <a:ext cx="0" cy="0"/>
          <a:chOff x="0" y="0"/>
          <a:chExt cx="0" cy="0"/>
        </a:xfrm>
      </p:grpSpPr>
      <p:sp>
        <p:nvSpPr>
          <p:cNvPr id="9149" name="Google Shape;9149;g9676e094b5_62_793: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150" name="Google Shape;9150;g9676e094b5_62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7" name="Shape 9157"/>
        <p:cNvGrpSpPr/>
        <p:nvPr/>
      </p:nvGrpSpPr>
      <p:grpSpPr>
        <a:xfrm>
          <a:off x="0" y="0"/>
          <a:ext cx="0" cy="0"/>
          <a:chOff x="0" y="0"/>
          <a:chExt cx="0" cy="0"/>
        </a:xfrm>
      </p:grpSpPr>
      <p:sp>
        <p:nvSpPr>
          <p:cNvPr id="9158" name="Google Shape;9158;g9676e094b5_62_801: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159" name="Google Shape;9159;g9676e094b5_62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1" name="Shape 9191"/>
        <p:cNvGrpSpPr/>
        <p:nvPr/>
      </p:nvGrpSpPr>
      <p:grpSpPr>
        <a:xfrm>
          <a:off x="0" y="0"/>
          <a:ext cx="0" cy="0"/>
          <a:chOff x="0" y="0"/>
          <a:chExt cx="0" cy="0"/>
        </a:xfrm>
      </p:grpSpPr>
      <p:sp>
        <p:nvSpPr>
          <p:cNvPr id="9192" name="Google Shape;9192;g9676e094b5_62_834: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193" name="Google Shape;9193;g9676e094b5_62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8" name="Shape 9198"/>
        <p:cNvGrpSpPr/>
        <p:nvPr/>
      </p:nvGrpSpPr>
      <p:grpSpPr>
        <a:xfrm>
          <a:off x="0" y="0"/>
          <a:ext cx="0" cy="0"/>
          <a:chOff x="0" y="0"/>
          <a:chExt cx="0" cy="0"/>
        </a:xfrm>
      </p:grpSpPr>
      <p:sp>
        <p:nvSpPr>
          <p:cNvPr id="9199" name="Google Shape;9199;g9676e094b5_62_840: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200" name="Google Shape;9200;g9676e094b5_62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5" name="Shape 9205"/>
        <p:cNvGrpSpPr/>
        <p:nvPr/>
      </p:nvGrpSpPr>
      <p:grpSpPr>
        <a:xfrm>
          <a:off x="0" y="0"/>
          <a:ext cx="0" cy="0"/>
          <a:chOff x="0" y="0"/>
          <a:chExt cx="0" cy="0"/>
        </a:xfrm>
      </p:grpSpPr>
      <p:sp>
        <p:nvSpPr>
          <p:cNvPr id="9206" name="Google Shape;9206;g9676e094b5_62_846: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207" name="Google Shape;9207;g9676e094b5_62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3" name="Shape 9213"/>
        <p:cNvGrpSpPr/>
        <p:nvPr/>
      </p:nvGrpSpPr>
      <p:grpSpPr>
        <a:xfrm>
          <a:off x="0" y="0"/>
          <a:ext cx="0" cy="0"/>
          <a:chOff x="0" y="0"/>
          <a:chExt cx="0" cy="0"/>
        </a:xfrm>
      </p:grpSpPr>
      <p:sp>
        <p:nvSpPr>
          <p:cNvPr id="9214" name="Google Shape;9214;g9676e094b5_62_853: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215" name="Google Shape;9215;g9676e094b5_62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7" name="Shape 9247"/>
        <p:cNvGrpSpPr/>
        <p:nvPr/>
      </p:nvGrpSpPr>
      <p:grpSpPr>
        <a:xfrm>
          <a:off x="0" y="0"/>
          <a:ext cx="0" cy="0"/>
          <a:chOff x="0" y="0"/>
          <a:chExt cx="0" cy="0"/>
        </a:xfrm>
      </p:grpSpPr>
      <p:sp>
        <p:nvSpPr>
          <p:cNvPr id="9248" name="Google Shape;9248;g9676e094b5_62_886: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249" name="Google Shape;9249;g9676e094b5_62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1" name="Shape 9281"/>
        <p:cNvGrpSpPr/>
        <p:nvPr/>
      </p:nvGrpSpPr>
      <p:grpSpPr>
        <a:xfrm>
          <a:off x="0" y="0"/>
          <a:ext cx="0" cy="0"/>
          <a:chOff x="0" y="0"/>
          <a:chExt cx="0" cy="0"/>
        </a:xfrm>
      </p:grpSpPr>
      <p:sp>
        <p:nvSpPr>
          <p:cNvPr id="9282" name="Google Shape;9282;g9676e094b5_62_919: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283" name="Google Shape;9283;g9676e094b5_62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5" name="Shape 9315"/>
        <p:cNvGrpSpPr/>
        <p:nvPr/>
      </p:nvGrpSpPr>
      <p:grpSpPr>
        <a:xfrm>
          <a:off x="0" y="0"/>
          <a:ext cx="0" cy="0"/>
          <a:chOff x="0" y="0"/>
          <a:chExt cx="0" cy="0"/>
        </a:xfrm>
      </p:grpSpPr>
      <p:sp>
        <p:nvSpPr>
          <p:cNvPr id="9316" name="Google Shape;9316;g9676e094b5_62_952: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317" name="Google Shape;9317;g9676e094b5_62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0" name="Shape 9330"/>
        <p:cNvGrpSpPr/>
        <p:nvPr/>
      </p:nvGrpSpPr>
      <p:grpSpPr>
        <a:xfrm>
          <a:off x="0" y="0"/>
          <a:ext cx="0" cy="0"/>
          <a:chOff x="0" y="0"/>
          <a:chExt cx="0" cy="0"/>
        </a:xfrm>
      </p:grpSpPr>
      <p:sp>
        <p:nvSpPr>
          <p:cNvPr id="9331" name="Google Shape;9331;g9676e094b5_62_966: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332" name="Google Shape;9332;g9676e094b5_62_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5" name="Shape 9345"/>
        <p:cNvGrpSpPr/>
        <p:nvPr/>
      </p:nvGrpSpPr>
      <p:grpSpPr>
        <a:xfrm>
          <a:off x="0" y="0"/>
          <a:ext cx="0" cy="0"/>
          <a:chOff x="0" y="0"/>
          <a:chExt cx="0" cy="0"/>
        </a:xfrm>
      </p:grpSpPr>
      <p:sp>
        <p:nvSpPr>
          <p:cNvPr id="9346" name="Google Shape;9346;g9676e094b5_62_980: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347" name="Google Shape;9347;g9676e094b5_62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9" name="Shape 9379"/>
        <p:cNvGrpSpPr/>
        <p:nvPr/>
      </p:nvGrpSpPr>
      <p:grpSpPr>
        <a:xfrm>
          <a:off x="0" y="0"/>
          <a:ext cx="0" cy="0"/>
          <a:chOff x="0" y="0"/>
          <a:chExt cx="0" cy="0"/>
        </a:xfrm>
      </p:grpSpPr>
      <p:sp>
        <p:nvSpPr>
          <p:cNvPr id="9380" name="Google Shape;9380;g9676e094b5_62_1013: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381" name="Google Shape;9381;g9676e094b5_62_1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3" name="Shape 9413"/>
        <p:cNvGrpSpPr/>
        <p:nvPr/>
      </p:nvGrpSpPr>
      <p:grpSpPr>
        <a:xfrm>
          <a:off x="0" y="0"/>
          <a:ext cx="0" cy="0"/>
          <a:chOff x="0" y="0"/>
          <a:chExt cx="0" cy="0"/>
        </a:xfrm>
      </p:grpSpPr>
      <p:sp>
        <p:nvSpPr>
          <p:cNvPr id="9414" name="Google Shape;9414;g9676e094b5_62_1046: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15" name="Google Shape;9415;g9676e094b5_62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9" name="Shape 9419"/>
        <p:cNvGrpSpPr/>
        <p:nvPr/>
      </p:nvGrpSpPr>
      <p:grpSpPr>
        <a:xfrm>
          <a:off x="0" y="0"/>
          <a:ext cx="0" cy="0"/>
          <a:chOff x="0" y="0"/>
          <a:chExt cx="0" cy="0"/>
        </a:xfrm>
      </p:grpSpPr>
      <p:sp>
        <p:nvSpPr>
          <p:cNvPr id="9420" name="Google Shape;9420;g9676e094b5_62_1051: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21" name="Google Shape;9421;g9676e094b5_62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6" name="Shape 9426"/>
        <p:cNvGrpSpPr/>
        <p:nvPr/>
      </p:nvGrpSpPr>
      <p:grpSpPr>
        <a:xfrm>
          <a:off x="0" y="0"/>
          <a:ext cx="0" cy="0"/>
          <a:chOff x="0" y="0"/>
          <a:chExt cx="0" cy="0"/>
        </a:xfrm>
      </p:grpSpPr>
      <p:sp>
        <p:nvSpPr>
          <p:cNvPr id="9427" name="Google Shape;9427;g9676e094b5_62_1057: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28" name="Google Shape;9428;g9676e094b5_62_1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3" name="Shape 9433"/>
        <p:cNvGrpSpPr/>
        <p:nvPr/>
      </p:nvGrpSpPr>
      <p:grpSpPr>
        <a:xfrm>
          <a:off x="0" y="0"/>
          <a:ext cx="0" cy="0"/>
          <a:chOff x="0" y="0"/>
          <a:chExt cx="0" cy="0"/>
        </a:xfrm>
      </p:grpSpPr>
      <p:sp>
        <p:nvSpPr>
          <p:cNvPr id="9434" name="Google Shape;9434;g9676e094b5_62_1063: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35" name="Google Shape;9435;g9676e094b5_62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0" name="Shape 9440"/>
        <p:cNvGrpSpPr/>
        <p:nvPr/>
      </p:nvGrpSpPr>
      <p:grpSpPr>
        <a:xfrm>
          <a:off x="0" y="0"/>
          <a:ext cx="0" cy="0"/>
          <a:chOff x="0" y="0"/>
          <a:chExt cx="0" cy="0"/>
        </a:xfrm>
      </p:grpSpPr>
      <p:sp>
        <p:nvSpPr>
          <p:cNvPr id="9441" name="Google Shape;9441;g9676e094b5_62_1069: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42" name="Google Shape;9442;g9676e094b5_62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9" name="Shape 9449"/>
        <p:cNvGrpSpPr/>
        <p:nvPr/>
      </p:nvGrpSpPr>
      <p:grpSpPr>
        <a:xfrm>
          <a:off x="0" y="0"/>
          <a:ext cx="0" cy="0"/>
          <a:chOff x="0" y="0"/>
          <a:chExt cx="0" cy="0"/>
        </a:xfrm>
      </p:grpSpPr>
      <p:sp>
        <p:nvSpPr>
          <p:cNvPr id="9450" name="Google Shape;9450;g9676e094b5_62_1077: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51" name="Google Shape;9451;g9676e094b5_62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7" name="Shape 9457"/>
        <p:cNvGrpSpPr/>
        <p:nvPr/>
      </p:nvGrpSpPr>
      <p:grpSpPr>
        <a:xfrm>
          <a:off x="0" y="0"/>
          <a:ext cx="0" cy="0"/>
          <a:chOff x="0" y="0"/>
          <a:chExt cx="0" cy="0"/>
        </a:xfrm>
      </p:grpSpPr>
      <p:sp>
        <p:nvSpPr>
          <p:cNvPr id="9458" name="Google Shape;9458;g9676e094b5_62_1084: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59" name="Google Shape;9459;g9676e094b5_62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4" name="Shape 9464"/>
        <p:cNvGrpSpPr/>
        <p:nvPr/>
      </p:nvGrpSpPr>
      <p:grpSpPr>
        <a:xfrm>
          <a:off x="0" y="0"/>
          <a:ext cx="0" cy="0"/>
          <a:chOff x="0" y="0"/>
          <a:chExt cx="0" cy="0"/>
        </a:xfrm>
      </p:grpSpPr>
      <p:sp>
        <p:nvSpPr>
          <p:cNvPr id="9465" name="Google Shape;9465;g9676e094b5_62_1090: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66" name="Google Shape;9466;g9676e094b5_62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1" name="Shape 9471"/>
        <p:cNvGrpSpPr/>
        <p:nvPr/>
      </p:nvGrpSpPr>
      <p:grpSpPr>
        <a:xfrm>
          <a:off x="0" y="0"/>
          <a:ext cx="0" cy="0"/>
          <a:chOff x="0" y="0"/>
          <a:chExt cx="0" cy="0"/>
        </a:xfrm>
      </p:grpSpPr>
      <p:sp>
        <p:nvSpPr>
          <p:cNvPr id="9472" name="Google Shape;9472;g9676e094b5_62_1096: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73" name="Google Shape;9473;g9676e094b5_62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8" name="Shape 9478"/>
        <p:cNvGrpSpPr/>
        <p:nvPr/>
      </p:nvGrpSpPr>
      <p:grpSpPr>
        <a:xfrm>
          <a:off x="0" y="0"/>
          <a:ext cx="0" cy="0"/>
          <a:chOff x="0" y="0"/>
          <a:chExt cx="0" cy="0"/>
        </a:xfrm>
      </p:grpSpPr>
      <p:sp>
        <p:nvSpPr>
          <p:cNvPr id="9479" name="Google Shape;9479;g9676e094b5_62_1102:notes"/>
          <p:cNvSpPr/>
          <p:nvPr>
            <p:ph idx="2" type="sldImg"/>
          </p:nvPr>
        </p:nvSpPr>
        <p:spPr>
          <a:xfrm>
            <a:off x="381186"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480" name="Google Shape;9480;g9676e094b5_62_1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4" name="Shape 9484"/>
        <p:cNvGrpSpPr/>
        <p:nvPr/>
      </p:nvGrpSpPr>
      <p:grpSpPr>
        <a:xfrm>
          <a:off x="0" y="0"/>
          <a:ext cx="0" cy="0"/>
          <a:chOff x="0" y="0"/>
          <a:chExt cx="0" cy="0"/>
        </a:xfrm>
      </p:grpSpPr>
      <p:sp>
        <p:nvSpPr>
          <p:cNvPr id="9485" name="Google Shape;9485;g9676e094b5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6" name="Google Shape;9486;g9676e094b5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0" name="Shape 9490"/>
        <p:cNvGrpSpPr/>
        <p:nvPr/>
      </p:nvGrpSpPr>
      <p:grpSpPr>
        <a:xfrm>
          <a:off x="0" y="0"/>
          <a:ext cx="0" cy="0"/>
          <a:chOff x="0" y="0"/>
          <a:chExt cx="0" cy="0"/>
        </a:xfrm>
      </p:grpSpPr>
      <p:sp>
        <p:nvSpPr>
          <p:cNvPr id="9491" name="Google Shape;9491;g9676e094b5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2" name="Google Shape;9492;g9676e094b5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8" name="Shape 9538"/>
        <p:cNvGrpSpPr/>
        <p:nvPr/>
      </p:nvGrpSpPr>
      <p:grpSpPr>
        <a:xfrm>
          <a:off x="0" y="0"/>
          <a:ext cx="0" cy="0"/>
          <a:chOff x="0" y="0"/>
          <a:chExt cx="0" cy="0"/>
        </a:xfrm>
      </p:grpSpPr>
      <p:sp>
        <p:nvSpPr>
          <p:cNvPr id="9539" name="Google Shape;9539;g9676e094b5_67_588: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540" name="Google Shape;9540;g9676e094b5_67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4" name="Shape 9544"/>
        <p:cNvGrpSpPr/>
        <p:nvPr/>
      </p:nvGrpSpPr>
      <p:grpSpPr>
        <a:xfrm>
          <a:off x="0" y="0"/>
          <a:ext cx="0" cy="0"/>
          <a:chOff x="0" y="0"/>
          <a:chExt cx="0" cy="0"/>
        </a:xfrm>
      </p:grpSpPr>
      <p:sp>
        <p:nvSpPr>
          <p:cNvPr id="9545" name="Google Shape;9545;g9676e094b5_67_593: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546" name="Google Shape;9546;g9676e094b5_67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0" name="Shape 9550"/>
        <p:cNvGrpSpPr/>
        <p:nvPr/>
      </p:nvGrpSpPr>
      <p:grpSpPr>
        <a:xfrm>
          <a:off x="0" y="0"/>
          <a:ext cx="0" cy="0"/>
          <a:chOff x="0" y="0"/>
          <a:chExt cx="0" cy="0"/>
        </a:xfrm>
      </p:grpSpPr>
      <p:sp>
        <p:nvSpPr>
          <p:cNvPr id="9551" name="Google Shape;9551;g9676e094b5_67_598: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552" name="Google Shape;9552;g9676e094b5_67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7" name="Shape 9557"/>
        <p:cNvGrpSpPr/>
        <p:nvPr/>
      </p:nvGrpSpPr>
      <p:grpSpPr>
        <a:xfrm>
          <a:off x="0" y="0"/>
          <a:ext cx="0" cy="0"/>
          <a:chOff x="0" y="0"/>
          <a:chExt cx="0" cy="0"/>
        </a:xfrm>
      </p:grpSpPr>
      <p:sp>
        <p:nvSpPr>
          <p:cNvPr id="9558" name="Google Shape;9558;g9676e094b5_67_633: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559" name="Google Shape;9559;g9676e094b5_67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4" name="Shape 9564"/>
        <p:cNvGrpSpPr/>
        <p:nvPr/>
      </p:nvGrpSpPr>
      <p:grpSpPr>
        <a:xfrm>
          <a:off x="0" y="0"/>
          <a:ext cx="0" cy="0"/>
          <a:chOff x="0" y="0"/>
          <a:chExt cx="0" cy="0"/>
        </a:xfrm>
      </p:grpSpPr>
      <p:sp>
        <p:nvSpPr>
          <p:cNvPr id="9565" name="Google Shape;9565;g9676e094b5_67_639: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566" name="Google Shape;9566;g9676e094b5_67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2" name="Shape 9592"/>
        <p:cNvGrpSpPr/>
        <p:nvPr/>
      </p:nvGrpSpPr>
      <p:grpSpPr>
        <a:xfrm>
          <a:off x="0" y="0"/>
          <a:ext cx="0" cy="0"/>
          <a:chOff x="0" y="0"/>
          <a:chExt cx="0" cy="0"/>
        </a:xfrm>
      </p:grpSpPr>
      <p:sp>
        <p:nvSpPr>
          <p:cNvPr id="9593" name="Google Shape;9593;g9676e094b5_67_666: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594" name="Google Shape;9594;g9676e094b5_67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9" name="Shape 9599"/>
        <p:cNvGrpSpPr/>
        <p:nvPr/>
      </p:nvGrpSpPr>
      <p:grpSpPr>
        <a:xfrm>
          <a:off x="0" y="0"/>
          <a:ext cx="0" cy="0"/>
          <a:chOff x="0" y="0"/>
          <a:chExt cx="0" cy="0"/>
        </a:xfrm>
      </p:grpSpPr>
      <p:sp>
        <p:nvSpPr>
          <p:cNvPr id="9600" name="Google Shape;9600;g9676e094b5_67_672: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601" name="Google Shape;9601;g9676e094b5_67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6" name="Shape 9606"/>
        <p:cNvGrpSpPr/>
        <p:nvPr/>
      </p:nvGrpSpPr>
      <p:grpSpPr>
        <a:xfrm>
          <a:off x="0" y="0"/>
          <a:ext cx="0" cy="0"/>
          <a:chOff x="0" y="0"/>
          <a:chExt cx="0" cy="0"/>
        </a:xfrm>
      </p:grpSpPr>
      <p:sp>
        <p:nvSpPr>
          <p:cNvPr id="9607" name="Google Shape;9607;g9676e094b5_67_678: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608" name="Google Shape;9608;g9676e094b5_67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3" name="Shape 9613"/>
        <p:cNvGrpSpPr/>
        <p:nvPr/>
      </p:nvGrpSpPr>
      <p:grpSpPr>
        <a:xfrm>
          <a:off x="0" y="0"/>
          <a:ext cx="0" cy="0"/>
          <a:chOff x="0" y="0"/>
          <a:chExt cx="0" cy="0"/>
        </a:xfrm>
      </p:grpSpPr>
      <p:sp>
        <p:nvSpPr>
          <p:cNvPr id="9614" name="Google Shape;9614;g9676e094b5_67_684: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615" name="Google Shape;9615;g9676e094b5_67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0" name="Shape 9620"/>
        <p:cNvGrpSpPr/>
        <p:nvPr/>
      </p:nvGrpSpPr>
      <p:grpSpPr>
        <a:xfrm>
          <a:off x="0" y="0"/>
          <a:ext cx="0" cy="0"/>
          <a:chOff x="0" y="0"/>
          <a:chExt cx="0" cy="0"/>
        </a:xfrm>
      </p:grpSpPr>
      <p:sp>
        <p:nvSpPr>
          <p:cNvPr id="9621" name="Google Shape;9621;g9676e094b5_67_690: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622" name="Google Shape;9622;g9676e094b5_67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6" name="Shape 9626"/>
        <p:cNvGrpSpPr/>
        <p:nvPr/>
      </p:nvGrpSpPr>
      <p:grpSpPr>
        <a:xfrm>
          <a:off x="0" y="0"/>
          <a:ext cx="0" cy="0"/>
          <a:chOff x="0" y="0"/>
          <a:chExt cx="0" cy="0"/>
        </a:xfrm>
      </p:grpSpPr>
      <p:sp>
        <p:nvSpPr>
          <p:cNvPr id="9627" name="Google Shape;9627;g9676e094b5_67_695:notes"/>
          <p:cNvSpPr/>
          <p:nvPr>
            <p:ph idx="2" type="sldImg"/>
          </p:nvPr>
        </p:nvSpPr>
        <p:spPr>
          <a:xfrm>
            <a:off x="381178" y="685800"/>
            <a:ext cx="6096333" cy="3429000"/>
          </a:xfrm>
          <a:custGeom>
            <a:rect b="b" l="l" r="r" t="t"/>
            <a:pathLst>
              <a:path extrusionOk="0" h="120000" w="120000">
                <a:moveTo>
                  <a:pt x="0" y="0"/>
                </a:moveTo>
                <a:lnTo>
                  <a:pt x="120000" y="0"/>
                </a:lnTo>
                <a:lnTo>
                  <a:pt x="120000" y="120000"/>
                </a:lnTo>
                <a:lnTo>
                  <a:pt x="0" y="120000"/>
                </a:lnTo>
                <a:close/>
              </a:path>
            </a:pathLst>
          </a:custGeom>
        </p:spPr>
      </p:sp>
      <p:sp>
        <p:nvSpPr>
          <p:cNvPr id="9628" name="Google Shape;9628;g9676e094b5_67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2" name="Shape 9632"/>
        <p:cNvGrpSpPr/>
        <p:nvPr/>
      </p:nvGrpSpPr>
      <p:grpSpPr>
        <a:xfrm>
          <a:off x="0" y="0"/>
          <a:ext cx="0" cy="0"/>
          <a:chOff x="0" y="0"/>
          <a:chExt cx="0" cy="0"/>
        </a:xfrm>
      </p:grpSpPr>
      <p:sp>
        <p:nvSpPr>
          <p:cNvPr id="9633" name="Google Shape;9633;g9676e094b5_7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634" name="Google Shape;9634;g9676e094b5_7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8" name="Shape 9638"/>
        <p:cNvGrpSpPr/>
        <p:nvPr/>
      </p:nvGrpSpPr>
      <p:grpSpPr>
        <a:xfrm>
          <a:off x="0" y="0"/>
          <a:ext cx="0" cy="0"/>
          <a:chOff x="0" y="0"/>
          <a:chExt cx="0" cy="0"/>
        </a:xfrm>
      </p:grpSpPr>
      <p:sp>
        <p:nvSpPr>
          <p:cNvPr id="9639" name="Google Shape;9639;g9676e094b5_7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0" name="Google Shape;9640;g9676e094b5_7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4" name="Shape 9644"/>
        <p:cNvGrpSpPr/>
        <p:nvPr/>
      </p:nvGrpSpPr>
      <p:grpSpPr>
        <a:xfrm>
          <a:off x="0" y="0"/>
          <a:ext cx="0" cy="0"/>
          <a:chOff x="0" y="0"/>
          <a:chExt cx="0" cy="0"/>
        </a:xfrm>
      </p:grpSpPr>
      <p:sp>
        <p:nvSpPr>
          <p:cNvPr id="9645" name="Google Shape;9645;g9676e094b5_77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6" name="Google Shape;9646;g9676e094b5_77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0" name="Shape 9650"/>
        <p:cNvGrpSpPr/>
        <p:nvPr/>
      </p:nvGrpSpPr>
      <p:grpSpPr>
        <a:xfrm>
          <a:off x="0" y="0"/>
          <a:ext cx="0" cy="0"/>
          <a:chOff x="0" y="0"/>
          <a:chExt cx="0" cy="0"/>
        </a:xfrm>
      </p:grpSpPr>
      <p:sp>
        <p:nvSpPr>
          <p:cNvPr id="9651" name="Google Shape;9651;g9676e094b5_77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2" name="Google Shape;9652;g9676e094b5_77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6" name="Shape 9656"/>
        <p:cNvGrpSpPr/>
        <p:nvPr/>
      </p:nvGrpSpPr>
      <p:grpSpPr>
        <a:xfrm>
          <a:off x="0" y="0"/>
          <a:ext cx="0" cy="0"/>
          <a:chOff x="0" y="0"/>
          <a:chExt cx="0" cy="0"/>
        </a:xfrm>
      </p:grpSpPr>
      <p:sp>
        <p:nvSpPr>
          <p:cNvPr id="9657" name="Google Shape;9657;g9676e094b5_77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8" name="Google Shape;9658;g9676e094b5_77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2" name="Shape 9662"/>
        <p:cNvGrpSpPr/>
        <p:nvPr/>
      </p:nvGrpSpPr>
      <p:grpSpPr>
        <a:xfrm>
          <a:off x="0" y="0"/>
          <a:ext cx="0" cy="0"/>
          <a:chOff x="0" y="0"/>
          <a:chExt cx="0" cy="0"/>
        </a:xfrm>
      </p:grpSpPr>
      <p:sp>
        <p:nvSpPr>
          <p:cNvPr id="9663" name="Google Shape;9663;g9676e094b5_77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4" name="Google Shape;9664;g9676e094b5_77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8" name="Shape 9668"/>
        <p:cNvGrpSpPr/>
        <p:nvPr/>
      </p:nvGrpSpPr>
      <p:grpSpPr>
        <a:xfrm>
          <a:off x="0" y="0"/>
          <a:ext cx="0" cy="0"/>
          <a:chOff x="0" y="0"/>
          <a:chExt cx="0" cy="0"/>
        </a:xfrm>
      </p:grpSpPr>
      <p:sp>
        <p:nvSpPr>
          <p:cNvPr id="9669" name="Google Shape;9669;g9676e094b5_77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0" name="Google Shape;9670;g9676e094b5_77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4" name="Shape 9674"/>
        <p:cNvGrpSpPr/>
        <p:nvPr/>
      </p:nvGrpSpPr>
      <p:grpSpPr>
        <a:xfrm>
          <a:off x="0" y="0"/>
          <a:ext cx="0" cy="0"/>
          <a:chOff x="0" y="0"/>
          <a:chExt cx="0" cy="0"/>
        </a:xfrm>
      </p:grpSpPr>
      <p:sp>
        <p:nvSpPr>
          <p:cNvPr id="9675" name="Google Shape;9675;g9676e094b5_77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6" name="Google Shape;9676;g9676e094b5_77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0" name="Shape 9680"/>
        <p:cNvGrpSpPr/>
        <p:nvPr/>
      </p:nvGrpSpPr>
      <p:grpSpPr>
        <a:xfrm>
          <a:off x="0" y="0"/>
          <a:ext cx="0" cy="0"/>
          <a:chOff x="0" y="0"/>
          <a:chExt cx="0" cy="0"/>
        </a:xfrm>
      </p:grpSpPr>
      <p:sp>
        <p:nvSpPr>
          <p:cNvPr id="9681" name="Google Shape;9681;g9676e094b5_77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2" name="Google Shape;9682;g9676e094b5_77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6" name="Shape 9686"/>
        <p:cNvGrpSpPr/>
        <p:nvPr/>
      </p:nvGrpSpPr>
      <p:grpSpPr>
        <a:xfrm>
          <a:off x="0" y="0"/>
          <a:ext cx="0" cy="0"/>
          <a:chOff x="0" y="0"/>
          <a:chExt cx="0" cy="0"/>
        </a:xfrm>
      </p:grpSpPr>
      <p:sp>
        <p:nvSpPr>
          <p:cNvPr id="9687" name="Google Shape;9687;g9676e094b5_77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8" name="Google Shape;9688;g9676e094b5_77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2" name="Shape 9692"/>
        <p:cNvGrpSpPr/>
        <p:nvPr/>
      </p:nvGrpSpPr>
      <p:grpSpPr>
        <a:xfrm>
          <a:off x="0" y="0"/>
          <a:ext cx="0" cy="0"/>
          <a:chOff x="0" y="0"/>
          <a:chExt cx="0" cy="0"/>
        </a:xfrm>
      </p:grpSpPr>
      <p:sp>
        <p:nvSpPr>
          <p:cNvPr id="9693" name="Google Shape;9693;g9676e094b5_77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4" name="Google Shape;9694;g9676e094b5_77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1" name="Shape 9701"/>
        <p:cNvGrpSpPr/>
        <p:nvPr/>
      </p:nvGrpSpPr>
      <p:grpSpPr>
        <a:xfrm>
          <a:off x="0" y="0"/>
          <a:ext cx="0" cy="0"/>
          <a:chOff x="0" y="0"/>
          <a:chExt cx="0" cy="0"/>
        </a:xfrm>
      </p:grpSpPr>
      <p:sp>
        <p:nvSpPr>
          <p:cNvPr id="9702" name="Google Shape;9702;g9676e094b5_77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3" name="Google Shape;9703;g9676e094b5_77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2" name="Shape 9712"/>
        <p:cNvGrpSpPr/>
        <p:nvPr/>
      </p:nvGrpSpPr>
      <p:grpSpPr>
        <a:xfrm>
          <a:off x="0" y="0"/>
          <a:ext cx="0" cy="0"/>
          <a:chOff x="0" y="0"/>
          <a:chExt cx="0" cy="0"/>
        </a:xfrm>
      </p:grpSpPr>
      <p:sp>
        <p:nvSpPr>
          <p:cNvPr id="9713" name="Google Shape;9713;g9676e094b5_77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4" name="Google Shape;9714;g9676e094b5_77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8" name="Shape 9718"/>
        <p:cNvGrpSpPr/>
        <p:nvPr/>
      </p:nvGrpSpPr>
      <p:grpSpPr>
        <a:xfrm>
          <a:off x="0" y="0"/>
          <a:ext cx="0" cy="0"/>
          <a:chOff x="0" y="0"/>
          <a:chExt cx="0" cy="0"/>
        </a:xfrm>
      </p:grpSpPr>
      <p:sp>
        <p:nvSpPr>
          <p:cNvPr id="9719" name="Google Shape;9719;g9676e094b5_77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0" name="Google Shape;9720;g9676e094b5_77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4" name="Shape 9724"/>
        <p:cNvGrpSpPr/>
        <p:nvPr/>
      </p:nvGrpSpPr>
      <p:grpSpPr>
        <a:xfrm>
          <a:off x="0" y="0"/>
          <a:ext cx="0" cy="0"/>
          <a:chOff x="0" y="0"/>
          <a:chExt cx="0" cy="0"/>
        </a:xfrm>
      </p:grpSpPr>
      <p:sp>
        <p:nvSpPr>
          <p:cNvPr id="9725" name="Google Shape;9725;g9676e094b5_77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6" name="Google Shape;9726;g9676e094b5_77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0" name="Shape 9730"/>
        <p:cNvGrpSpPr/>
        <p:nvPr/>
      </p:nvGrpSpPr>
      <p:grpSpPr>
        <a:xfrm>
          <a:off x="0" y="0"/>
          <a:ext cx="0" cy="0"/>
          <a:chOff x="0" y="0"/>
          <a:chExt cx="0" cy="0"/>
        </a:xfrm>
      </p:grpSpPr>
      <p:sp>
        <p:nvSpPr>
          <p:cNvPr id="9731" name="Google Shape;9731;g9676e094b5_77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2" name="Google Shape;9732;g9676e094b5_77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6" name="Shape 9736"/>
        <p:cNvGrpSpPr/>
        <p:nvPr/>
      </p:nvGrpSpPr>
      <p:grpSpPr>
        <a:xfrm>
          <a:off x="0" y="0"/>
          <a:ext cx="0" cy="0"/>
          <a:chOff x="0" y="0"/>
          <a:chExt cx="0" cy="0"/>
        </a:xfrm>
      </p:grpSpPr>
      <p:sp>
        <p:nvSpPr>
          <p:cNvPr id="9737" name="Google Shape;9737;g9676e094b5_77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8" name="Google Shape;9738;g9676e094b5_77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2" name="Shape 9742"/>
        <p:cNvGrpSpPr/>
        <p:nvPr/>
      </p:nvGrpSpPr>
      <p:grpSpPr>
        <a:xfrm>
          <a:off x="0" y="0"/>
          <a:ext cx="0" cy="0"/>
          <a:chOff x="0" y="0"/>
          <a:chExt cx="0" cy="0"/>
        </a:xfrm>
      </p:grpSpPr>
      <p:sp>
        <p:nvSpPr>
          <p:cNvPr id="9743" name="Google Shape;9743;g9676e094b5_77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4" name="Google Shape;9744;g9676e094b5_77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8" name="Shape 9748"/>
        <p:cNvGrpSpPr/>
        <p:nvPr/>
      </p:nvGrpSpPr>
      <p:grpSpPr>
        <a:xfrm>
          <a:off x="0" y="0"/>
          <a:ext cx="0" cy="0"/>
          <a:chOff x="0" y="0"/>
          <a:chExt cx="0" cy="0"/>
        </a:xfrm>
      </p:grpSpPr>
      <p:sp>
        <p:nvSpPr>
          <p:cNvPr id="9749" name="Google Shape;9749;g9676e094b5_77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0" name="Google Shape;9750;g9676e094b5_77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4" name="Shape 9754"/>
        <p:cNvGrpSpPr/>
        <p:nvPr/>
      </p:nvGrpSpPr>
      <p:grpSpPr>
        <a:xfrm>
          <a:off x="0" y="0"/>
          <a:ext cx="0" cy="0"/>
          <a:chOff x="0" y="0"/>
          <a:chExt cx="0" cy="0"/>
        </a:xfrm>
      </p:grpSpPr>
      <p:sp>
        <p:nvSpPr>
          <p:cNvPr id="9755" name="Google Shape;9755;g9676e094b5_77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6" name="Google Shape;9756;g9676e094b5_77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0" name="Shape 9760"/>
        <p:cNvGrpSpPr/>
        <p:nvPr/>
      </p:nvGrpSpPr>
      <p:grpSpPr>
        <a:xfrm>
          <a:off x="0" y="0"/>
          <a:ext cx="0" cy="0"/>
          <a:chOff x="0" y="0"/>
          <a:chExt cx="0" cy="0"/>
        </a:xfrm>
      </p:grpSpPr>
      <p:sp>
        <p:nvSpPr>
          <p:cNvPr id="9761" name="Google Shape;9761;g9676e094b5_77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2" name="Google Shape;9762;g9676e094b5_77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6" name="Shape 9766"/>
        <p:cNvGrpSpPr/>
        <p:nvPr/>
      </p:nvGrpSpPr>
      <p:grpSpPr>
        <a:xfrm>
          <a:off x="0" y="0"/>
          <a:ext cx="0" cy="0"/>
          <a:chOff x="0" y="0"/>
          <a:chExt cx="0" cy="0"/>
        </a:xfrm>
      </p:grpSpPr>
      <p:sp>
        <p:nvSpPr>
          <p:cNvPr id="9767" name="Google Shape;9767;g9676e094b5_77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8" name="Google Shape;9768;g9676e094b5_77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3" name="Shape 9773"/>
        <p:cNvGrpSpPr/>
        <p:nvPr/>
      </p:nvGrpSpPr>
      <p:grpSpPr>
        <a:xfrm>
          <a:off x="0" y="0"/>
          <a:ext cx="0" cy="0"/>
          <a:chOff x="0" y="0"/>
          <a:chExt cx="0" cy="0"/>
        </a:xfrm>
      </p:grpSpPr>
      <p:sp>
        <p:nvSpPr>
          <p:cNvPr id="9774" name="Google Shape;9774;g9676e094b5_77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5" name="Google Shape;9775;g9676e094b5_77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2" name="Shape 9782"/>
        <p:cNvGrpSpPr/>
        <p:nvPr/>
      </p:nvGrpSpPr>
      <p:grpSpPr>
        <a:xfrm>
          <a:off x="0" y="0"/>
          <a:ext cx="0" cy="0"/>
          <a:chOff x="0" y="0"/>
          <a:chExt cx="0" cy="0"/>
        </a:xfrm>
      </p:grpSpPr>
      <p:sp>
        <p:nvSpPr>
          <p:cNvPr id="9783" name="Google Shape;9783;g9676e094b5_77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4" name="Google Shape;9784;g9676e094b5_77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1" name="Shape 9791"/>
        <p:cNvGrpSpPr/>
        <p:nvPr/>
      </p:nvGrpSpPr>
      <p:grpSpPr>
        <a:xfrm>
          <a:off x="0" y="0"/>
          <a:ext cx="0" cy="0"/>
          <a:chOff x="0" y="0"/>
          <a:chExt cx="0" cy="0"/>
        </a:xfrm>
      </p:grpSpPr>
      <p:sp>
        <p:nvSpPr>
          <p:cNvPr id="9792" name="Google Shape;9792;g9676e094b5_77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3" name="Google Shape;9793;g9676e094b5_77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0" name="Shape 9810"/>
        <p:cNvGrpSpPr/>
        <p:nvPr/>
      </p:nvGrpSpPr>
      <p:grpSpPr>
        <a:xfrm>
          <a:off x="0" y="0"/>
          <a:ext cx="0" cy="0"/>
          <a:chOff x="0" y="0"/>
          <a:chExt cx="0" cy="0"/>
        </a:xfrm>
      </p:grpSpPr>
      <p:sp>
        <p:nvSpPr>
          <p:cNvPr id="9811" name="Google Shape;9811;g9676e094b5_77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2" name="Google Shape;9812;g9676e094b5_77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9" name="Shape 9829"/>
        <p:cNvGrpSpPr/>
        <p:nvPr/>
      </p:nvGrpSpPr>
      <p:grpSpPr>
        <a:xfrm>
          <a:off x="0" y="0"/>
          <a:ext cx="0" cy="0"/>
          <a:chOff x="0" y="0"/>
          <a:chExt cx="0" cy="0"/>
        </a:xfrm>
      </p:grpSpPr>
      <p:sp>
        <p:nvSpPr>
          <p:cNvPr id="9830" name="Google Shape;9830;g9676e094b5_77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1" name="Google Shape;9831;g9676e094b5_77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8" name="Shape 9848"/>
        <p:cNvGrpSpPr/>
        <p:nvPr/>
      </p:nvGrpSpPr>
      <p:grpSpPr>
        <a:xfrm>
          <a:off x="0" y="0"/>
          <a:ext cx="0" cy="0"/>
          <a:chOff x="0" y="0"/>
          <a:chExt cx="0" cy="0"/>
        </a:xfrm>
      </p:grpSpPr>
      <p:sp>
        <p:nvSpPr>
          <p:cNvPr id="9849" name="Google Shape;9849;g9676e094b5_77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0" name="Google Shape;9850;g9676e094b5_77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7" name="Shape 9867"/>
        <p:cNvGrpSpPr/>
        <p:nvPr/>
      </p:nvGrpSpPr>
      <p:grpSpPr>
        <a:xfrm>
          <a:off x="0" y="0"/>
          <a:ext cx="0" cy="0"/>
          <a:chOff x="0" y="0"/>
          <a:chExt cx="0" cy="0"/>
        </a:xfrm>
      </p:grpSpPr>
      <p:sp>
        <p:nvSpPr>
          <p:cNvPr id="9868" name="Google Shape;9868;g9676e094b5_77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9" name="Google Shape;9869;g9676e094b5_77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4" name="Shape 9874"/>
        <p:cNvGrpSpPr/>
        <p:nvPr/>
      </p:nvGrpSpPr>
      <p:grpSpPr>
        <a:xfrm>
          <a:off x="0" y="0"/>
          <a:ext cx="0" cy="0"/>
          <a:chOff x="0" y="0"/>
          <a:chExt cx="0" cy="0"/>
        </a:xfrm>
      </p:grpSpPr>
      <p:sp>
        <p:nvSpPr>
          <p:cNvPr id="9875" name="Google Shape;9875;g9676e094b5_77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6" name="Google Shape;9876;g9676e094b5_77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1" name="Shape 9881"/>
        <p:cNvGrpSpPr/>
        <p:nvPr/>
      </p:nvGrpSpPr>
      <p:grpSpPr>
        <a:xfrm>
          <a:off x="0" y="0"/>
          <a:ext cx="0" cy="0"/>
          <a:chOff x="0" y="0"/>
          <a:chExt cx="0" cy="0"/>
        </a:xfrm>
      </p:grpSpPr>
      <p:sp>
        <p:nvSpPr>
          <p:cNvPr id="9882" name="Google Shape;9882;g9676e094b5_77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3" name="Google Shape;9883;g9676e094b5_77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8" name="Shape 9888"/>
        <p:cNvGrpSpPr/>
        <p:nvPr/>
      </p:nvGrpSpPr>
      <p:grpSpPr>
        <a:xfrm>
          <a:off x="0" y="0"/>
          <a:ext cx="0" cy="0"/>
          <a:chOff x="0" y="0"/>
          <a:chExt cx="0" cy="0"/>
        </a:xfrm>
      </p:grpSpPr>
      <p:sp>
        <p:nvSpPr>
          <p:cNvPr id="9889" name="Google Shape;9889;g9676e094b5_77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0" name="Google Shape;9890;g9676e094b5_77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58" name="Shape 58"/>
        <p:cNvGrpSpPr/>
        <p:nvPr/>
      </p:nvGrpSpPr>
      <p:grpSpPr>
        <a:xfrm>
          <a:off x="0" y="0"/>
          <a:ext cx="0" cy="0"/>
          <a:chOff x="0" y="0"/>
          <a:chExt cx="0" cy="0"/>
        </a:xfrm>
      </p:grpSpPr>
      <p:sp>
        <p:nvSpPr>
          <p:cNvPr id="59" name="Google Shape;59;p13"/>
          <p:cNvSpPr txBox="1"/>
          <p:nvPr>
            <p:ph type="title"/>
          </p:nvPr>
        </p:nvSpPr>
        <p:spPr>
          <a:xfrm>
            <a:off x="457200" y="205978"/>
            <a:ext cx="8229600" cy="857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4200"/>
              <a:buNone/>
              <a:defRPr sz="4400">
                <a:solidFill>
                  <a:schemeClr val="dk1"/>
                </a:solidFill>
                <a:latin typeface="Calibri"/>
                <a:ea typeface="Calibri"/>
                <a:cs typeface="Calibri"/>
                <a:sym typeface="Calibri"/>
              </a:defRPr>
            </a:lvl1pPr>
            <a:lvl2pPr lvl="1" rtl="0" algn="ctr">
              <a:spcBef>
                <a:spcPts val="0"/>
              </a:spcBef>
              <a:spcAft>
                <a:spcPts val="0"/>
              </a:spcAft>
              <a:buSzPts val="4200"/>
              <a:buNone/>
              <a:defRPr sz="4400">
                <a:solidFill>
                  <a:schemeClr val="dk1"/>
                </a:solidFill>
                <a:latin typeface="Calibri"/>
                <a:ea typeface="Calibri"/>
                <a:cs typeface="Calibri"/>
                <a:sym typeface="Calibri"/>
              </a:defRPr>
            </a:lvl2pPr>
            <a:lvl3pPr lvl="2" rtl="0" algn="ctr">
              <a:spcBef>
                <a:spcPts val="0"/>
              </a:spcBef>
              <a:spcAft>
                <a:spcPts val="0"/>
              </a:spcAft>
              <a:buSzPts val="4200"/>
              <a:buNone/>
              <a:defRPr sz="4400">
                <a:solidFill>
                  <a:schemeClr val="dk1"/>
                </a:solidFill>
                <a:latin typeface="Calibri"/>
                <a:ea typeface="Calibri"/>
                <a:cs typeface="Calibri"/>
                <a:sym typeface="Calibri"/>
              </a:defRPr>
            </a:lvl3pPr>
            <a:lvl4pPr lvl="3" rtl="0" algn="ctr">
              <a:spcBef>
                <a:spcPts val="0"/>
              </a:spcBef>
              <a:spcAft>
                <a:spcPts val="0"/>
              </a:spcAft>
              <a:buSzPts val="4200"/>
              <a:buNone/>
              <a:defRPr sz="4400">
                <a:solidFill>
                  <a:schemeClr val="dk1"/>
                </a:solidFill>
                <a:latin typeface="Calibri"/>
                <a:ea typeface="Calibri"/>
                <a:cs typeface="Calibri"/>
                <a:sym typeface="Calibri"/>
              </a:defRPr>
            </a:lvl4pPr>
            <a:lvl5pPr lvl="4" rtl="0" algn="ctr">
              <a:spcBef>
                <a:spcPts val="0"/>
              </a:spcBef>
              <a:spcAft>
                <a:spcPts val="0"/>
              </a:spcAft>
              <a:buSzPts val="4200"/>
              <a:buNone/>
              <a:defRPr sz="4400">
                <a:solidFill>
                  <a:schemeClr val="dk1"/>
                </a:solidFill>
                <a:latin typeface="Calibri"/>
                <a:ea typeface="Calibri"/>
                <a:cs typeface="Calibri"/>
                <a:sym typeface="Calibri"/>
              </a:defRPr>
            </a:lvl5pPr>
            <a:lvl6pPr lvl="5" marL="457200" rtl="0" algn="ctr">
              <a:spcBef>
                <a:spcPts val="0"/>
              </a:spcBef>
              <a:spcAft>
                <a:spcPts val="0"/>
              </a:spcAft>
              <a:buSzPts val="4200"/>
              <a:buNone/>
              <a:defRPr sz="4400">
                <a:solidFill>
                  <a:schemeClr val="dk1"/>
                </a:solidFill>
                <a:latin typeface="Calibri"/>
                <a:ea typeface="Calibri"/>
                <a:cs typeface="Calibri"/>
                <a:sym typeface="Calibri"/>
              </a:defRPr>
            </a:lvl6pPr>
            <a:lvl7pPr lvl="6" marL="914400" rtl="0" algn="ctr">
              <a:spcBef>
                <a:spcPts val="0"/>
              </a:spcBef>
              <a:spcAft>
                <a:spcPts val="0"/>
              </a:spcAft>
              <a:buSzPts val="4200"/>
              <a:buNone/>
              <a:defRPr sz="4400">
                <a:solidFill>
                  <a:schemeClr val="dk1"/>
                </a:solidFill>
                <a:latin typeface="Calibri"/>
                <a:ea typeface="Calibri"/>
                <a:cs typeface="Calibri"/>
                <a:sym typeface="Calibri"/>
              </a:defRPr>
            </a:lvl7pPr>
            <a:lvl8pPr lvl="7" marL="1371600" rtl="0" algn="ctr">
              <a:spcBef>
                <a:spcPts val="0"/>
              </a:spcBef>
              <a:spcAft>
                <a:spcPts val="0"/>
              </a:spcAft>
              <a:buSzPts val="4200"/>
              <a:buNone/>
              <a:defRPr sz="4400">
                <a:solidFill>
                  <a:schemeClr val="dk1"/>
                </a:solidFill>
                <a:latin typeface="Calibri"/>
                <a:ea typeface="Calibri"/>
                <a:cs typeface="Calibri"/>
                <a:sym typeface="Calibri"/>
              </a:defRPr>
            </a:lvl8pPr>
            <a:lvl9pPr lvl="8" marL="1828800" rtl="0" algn="ctr">
              <a:spcBef>
                <a:spcPts val="0"/>
              </a:spcBef>
              <a:spcAft>
                <a:spcPts val="0"/>
              </a:spcAft>
              <a:buSzPts val="4200"/>
              <a:buNone/>
              <a:defRPr sz="4400">
                <a:solidFill>
                  <a:schemeClr val="dk1"/>
                </a:solidFill>
                <a:latin typeface="Calibri"/>
                <a:ea typeface="Calibri"/>
                <a:cs typeface="Calibri"/>
                <a:sym typeface="Calibri"/>
              </a:defRPr>
            </a:lvl9pPr>
          </a:lstStyle>
          <a:p/>
        </p:txBody>
      </p:sp>
      <p:sp>
        <p:nvSpPr>
          <p:cNvPr id="60" name="Google Shape;60;p13"/>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342900" lvl="0" marL="457200" rtl="0" algn="l">
              <a:spcBef>
                <a:spcPts val="640"/>
              </a:spcBef>
              <a:spcAft>
                <a:spcPts val="0"/>
              </a:spcAft>
              <a:buClr>
                <a:schemeClr val="dk1"/>
              </a:buClr>
              <a:buSzPts val="1800"/>
              <a:buFont typeface="Calibri"/>
              <a:buChar char="●"/>
              <a:defRPr sz="3200">
                <a:solidFill>
                  <a:schemeClr val="dk1"/>
                </a:solidFill>
                <a:latin typeface="Calibri"/>
                <a:ea typeface="Calibri"/>
                <a:cs typeface="Calibri"/>
                <a:sym typeface="Calibri"/>
              </a:defRPr>
            </a:lvl1pPr>
            <a:lvl2pPr indent="-317500" lvl="1" marL="914400" rtl="0" algn="l">
              <a:spcBef>
                <a:spcPts val="560"/>
              </a:spcBef>
              <a:spcAft>
                <a:spcPts val="0"/>
              </a:spcAft>
              <a:buClr>
                <a:schemeClr val="dk1"/>
              </a:buClr>
              <a:buSzPts val="1400"/>
              <a:buFont typeface="Calibri"/>
              <a:buChar char="●"/>
              <a:defRPr sz="2800">
                <a:solidFill>
                  <a:schemeClr val="dk1"/>
                </a:solidFill>
                <a:latin typeface="Calibri"/>
                <a:ea typeface="Calibri"/>
                <a:cs typeface="Calibri"/>
                <a:sym typeface="Calibri"/>
              </a:defRPr>
            </a:lvl2pPr>
            <a:lvl3pPr indent="-317500" lvl="2" marL="1371600" rtl="0" algn="l">
              <a:spcBef>
                <a:spcPts val="480"/>
              </a:spcBef>
              <a:spcAft>
                <a:spcPts val="0"/>
              </a:spcAft>
              <a:buClr>
                <a:schemeClr val="dk1"/>
              </a:buClr>
              <a:buSzPts val="1400"/>
              <a:buFont typeface="Calibri"/>
              <a:buChar char="●"/>
              <a:defRPr sz="2400">
                <a:solidFill>
                  <a:schemeClr val="dk1"/>
                </a:solidFill>
                <a:latin typeface="Calibri"/>
                <a:ea typeface="Calibri"/>
                <a:cs typeface="Calibri"/>
                <a:sym typeface="Calibri"/>
              </a:defRPr>
            </a:lvl3pPr>
            <a:lvl4pPr indent="-317500" lvl="3" marL="18288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4pPr>
            <a:lvl5pPr indent="-317500" lvl="4" marL="22860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5pPr>
            <a:lvl6pPr indent="-317500" lvl="5" marL="27432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6pPr>
            <a:lvl7pPr indent="-317500" lvl="6" marL="32004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7pPr>
            <a:lvl8pPr indent="-317500" lvl="7" marL="36576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8pPr>
            <a:lvl9pPr indent="-317500" lvl="8" marL="4114800" rtl="0" algn="l">
              <a:spcBef>
                <a:spcPts val="1600"/>
              </a:spcBef>
              <a:spcAft>
                <a:spcPts val="1600"/>
              </a:spcAft>
              <a:buClr>
                <a:schemeClr val="dk1"/>
              </a:buClr>
              <a:buSzPts val="1400"/>
              <a:buFont typeface="Calibri"/>
              <a:buChar char="●"/>
              <a:defRPr sz="2000">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15"/>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7" name="Google Shape;67;p15"/>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8" name="Google Shape;68;p15"/>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69" name="Google Shape;69;p15"/>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16"/>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73" name="Google Shape;73;p16"/>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74" name="Google Shape;74;p16"/>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75" name="Google Shape;75;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 name="Shape 76"/>
        <p:cNvGrpSpPr/>
        <p:nvPr/>
      </p:nvGrpSpPr>
      <p:grpSpPr>
        <a:xfrm>
          <a:off x="0" y="0"/>
          <a:ext cx="0" cy="0"/>
          <a:chOff x="0" y="0"/>
          <a:chExt cx="0" cy="0"/>
        </a:xfrm>
      </p:grpSpPr>
      <p:sp>
        <p:nvSpPr>
          <p:cNvPr id="77" name="Google Shape;77;p1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9" name="Google Shape;79;p1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80" name="Google Shape;8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83" name="Google Shape;83;p18"/>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4" name="Google Shape;84;p18"/>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5" name="Google Shape;8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88" name="Google Shape;8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1" name="Google Shape;91;p20"/>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92" name="Google Shape;9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1"/>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sp>
        <p:nvSpPr>
          <p:cNvPr id="98" name="Google Shape;98;p22"/>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 name="Google Shape;99;p22"/>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00" name="Google Shape;100;p22"/>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101" name="Google Shape;101;p22"/>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102" name="Google Shape;102;p22"/>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103" name="Google Shape;10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 name="Shape 104"/>
        <p:cNvGrpSpPr/>
        <p:nvPr/>
      </p:nvGrpSpPr>
      <p:grpSpPr>
        <a:xfrm>
          <a:off x="0" y="0"/>
          <a:ext cx="0" cy="0"/>
          <a:chOff x="0" y="0"/>
          <a:chExt cx="0" cy="0"/>
        </a:xfrm>
      </p:grpSpPr>
      <p:sp>
        <p:nvSpPr>
          <p:cNvPr id="105" name="Google Shape;105;p23"/>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106" name="Google Shape;10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7" name="Shape 107"/>
        <p:cNvGrpSpPr/>
        <p:nvPr/>
      </p:nvGrpSpPr>
      <p:grpSpPr>
        <a:xfrm>
          <a:off x="0" y="0"/>
          <a:ext cx="0" cy="0"/>
          <a:chOff x="0" y="0"/>
          <a:chExt cx="0" cy="0"/>
        </a:xfrm>
      </p:grpSpPr>
      <p:sp>
        <p:nvSpPr>
          <p:cNvPr id="108" name="Google Shape;108;p2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4"/>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110" name="Google Shape;110;p24"/>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111" name="Google Shape;111;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2" name="Shape 112"/>
        <p:cNvGrpSpPr/>
        <p:nvPr/>
      </p:nvGrpSpPr>
      <p:grpSpPr>
        <a:xfrm>
          <a:off x="0" y="0"/>
          <a:ext cx="0" cy="0"/>
          <a:chOff x="0" y="0"/>
          <a:chExt cx="0" cy="0"/>
        </a:xfrm>
      </p:grpSpPr>
      <p:sp>
        <p:nvSpPr>
          <p:cNvPr id="113" name="Google Shape;113;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63" name="Google Shape;63;p1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64" name="Google Shape;6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mc:AlternateContent>
    <mc:Choice Requires="p14">
      <p:transition spd="slow" p14:dur="10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sciencedirect.com/science/article/pii/S037887331830019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 Id="rId3" Type="http://schemas.openxmlformats.org/officeDocument/2006/relationships/image" Target="../media/image1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image" Target="../media/image1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 Id="rId3" Type="http://schemas.openxmlformats.org/officeDocument/2006/relationships/image" Target="../media/image1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5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6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4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4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3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2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9.gi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9.gi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9.gi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9.gi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9.gi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9.gi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9.gi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9.gi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9.gi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25.gi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25.gif"/><Relationship Id="rId4" Type="http://schemas.openxmlformats.org/officeDocument/2006/relationships/image" Target="../media/image33.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25.gif"/><Relationship Id="rId4" Type="http://schemas.openxmlformats.org/officeDocument/2006/relationships/image" Target="../media/image33.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9.gi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9.gi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9.gi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9.gi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22.gi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30.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30.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36.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36.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36.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28.gi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36.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2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2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2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2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3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31.jpg"/><Relationship Id="rId4" Type="http://schemas.openxmlformats.org/officeDocument/2006/relationships/image" Target="../media/image2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3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38.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4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4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4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50.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50.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34.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34.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3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34.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41.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41.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41.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44.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44.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 Id="rId3" Type="http://schemas.openxmlformats.org/officeDocument/2006/relationships/image" Target="../media/image64.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64.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47.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 Id="rId3" Type="http://schemas.openxmlformats.org/officeDocument/2006/relationships/image" Target="../media/image43.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49.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 Id="rId3" Type="http://schemas.openxmlformats.org/officeDocument/2006/relationships/image" Target="../media/image53.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 Id="rId3" Type="http://schemas.openxmlformats.org/officeDocument/2006/relationships/image" Target="../media/image60.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 Id="rId3" Type="http://schemas.openxmlformats.org/officeDocument/2006/relationships/image" Target="../media/image6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 Id="rId3" Type="http://schemas.openxmlformats.org/officeDocument/2006/relationships/image" Target="../media/image66.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 Id="rId3" Type="http://schemas.openxmlformats.org/officeDocument/2006/relationships/image" Target="../media/image55.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 Id="rId3" Type="http://schemas.openxmlformats.org/officeDocument/2006/relationships/image" Target="../media/image5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 Id="rId3" Type="http://schemas.openxmlformats.org/officeDocument/2006/relationships/image" Target="../media/image54.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 Id="rId3" Type="http://schemas.openxmlformats.org/officeDocument/2006/relationships/image" Target="../media/image63.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 Id="rId3" Type="http://schemas.openxmlformats.org/officeDocument/2006/relationships/image" Target="../media/image75.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8.xml"/><Relationship Id="rId3" Type="http://schemas.openxmlformats.org/officeDocument/2006/relationships/image" Target="../media/image68.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1.xml"/><Relationship Id="rId3" Type="http://schemas.openxmlformats.org/officeDocument/2006/relationships/hyperlink" Target="https://www.jstor.org/stable/pdf/3088904.pdf" TargetMode="External"/><Relationship Id="rId4" Type="http://schemas.openxmlformats.org/officeDocument/2006/relationships/image" Target="../media/image56.jpg"/><Relationship Id="rId5" Type="http://schemas.openxmlformats.org/officeDocument/2006/relationships/image" Target="../media/image58.jpg"/><Relationship Id="rId6" Type="http://schemas.openxmlformats.org/officeDocument/2006/relationships/image" Target="../media/image59.jp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2.xml"/><Relationship Id="rId3" Type="http://schemas.openxmlformats.org/officeDocument/2006/relationships/image" Target="../media/image14.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7.xml"/><Relationship Id="rId3" Type="http://schemas.openxmlformats.org/officeDocument/2006/relationships/image" Target="../media/image67.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8.xml"/><Relationship Id="rId3" Type="http://schemas.openxmlformats.org/officeDocument/2006/relationships/image" Target="../media/image67.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5.xml"/><Relationship Id="rId3" Type="http://schemas.openxmlformats.org/officeDocument/2006/relationships/image" Target="../media/image65.png"/><Relationship Id="rId4" Type="http://schemas.openxmlformats.org/officeDocument/2006/relationships/image" Target="../media/image72.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6.xml"/><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image" Target="../media/image74.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7.xml"/><Relationship Id="rId3" Type="http://schemas.openxmlformats.org/officeDocument/2006/relationships/image" Target="../media/image70.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8.xml"/><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image" Target="../media/image74.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9.xml"/><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image" Target="../media/image74.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0.xml"/><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image" Target="../media/image74.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1.xml"/><Relationship Id="rId3" Type="http://schemas.openxmlformats.org/officeDocument/2006/relationships/image" Target="../media/image78.png"/><Relationship Id="rId4" Type="http://schemas.openxmlformats.org/officeDocument/2006/relationships/image" Target="../media/image79.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2.xml"/><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image" Target="../media/image74.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4.xml"/><Relationship Id="rId3" Type="http://schemas.openxmlformats.org/officeDocument/2006/relationships/image" Target="../media/image83.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5.xml"/><Relationship Id="rId3" Type="http://schemas.openxmlformats.org/officeDocument/2006/relationships/image" Target="../media/image83.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6.xml"/><Relationship Id="rId3" Type="http://schemas.openxmlformats.org/officeDocument/2006/relationships/image" Target="../media/image85.png"/><Relationship Id="rId4" Type="http://schemas.openxmlformats.org/officeDocument/2006/relationships/image" Target="../media/image83.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7.xml"/><Relationship Id="rId3" Type="http://schemas.openxmlformats.org/officeDocument/2006/relationships/image" Target="../media/image87.png"/><Relationship Id="rId4" Type="http://schemas.openxmlformats.org/officeDocument/2006/relationships/image" Target="../media/image83.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8.xml"/><Relationship Id="rId3" Type="http://schemas.openxmlformats.org/officeDocument/2006/relationships/image" Target="../media/image80.png"/><Relationship Id="rId4" Type="http://schemas.openxmlformats.org/officeDocument/2006/relationships/image" Target="../media/image83.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9.xml"/><Relationship Id="rId3" Type="http://schemas.openxmlformats.org/officeDocument/2006/relationships/image" Target="../media/image83.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0.xml"/><Relationship Id="rId3" Type="http://schemas.openxmlformats.org/officeDocument/2006/relationships/image" Target="../media/image83.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1.xml"/><Relationship Id="rId3" Type="http://schemas.openxmlformats.org/officeDocument/2006/relationships/image" Target="../media/image83.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2.xml"/><Relationship Id="rId3" Type="http://schemas.openxmlformats.org/officeDocument/2006/relationships/image" Target="../media/image83.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3.xml"/><Relationship Id="rId3" Type="http://schemas.openxmlformats.org/officeDocument/2006/relationships/image" Target="../media/image83.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4.xml"/><Relationship Id="rId3" Type="http://schemas.openxmlformats.org/officeDocument/2006/relationships/image" Target="../media/image77.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5.xml"/><Relationship Id="rId3" Type="http://schemas.openxmlformats.org/officeDocument/2006/relationships/image" Target="../media/image76.gif"/></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6.xml"/><Relationship Id="rId3" Type="http://schemas.openxmlformats.org/officeDocument/2006/relationships/image" Target="../media/image82.gif"/></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7.xml"/><Relationship Id="rId3" Type="http://schemas.openxmlformats.org/officeDocument/2006/relationships/image" Target="../media/image77.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8.xml"/><Relationship Id="rId3" Type="http://schemas.openxmlformats.org/officeDocument/2006/relationships/image" Target="../media/image81.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9.xml"/><Relationship Id="rId3" Type="http://schemas.openxmlformats.org/officeDocument/2006/relationships/image" Target="../media/image81.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0.xml"/><Relationship Id="rId3" Type="http://schemas.openxmlformats.org/officeDocument/2006/relationships/image" Target="../media/image8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1.xml"/><Relationship Id="rId3" Type="http://schemas.openxmlformats.org/officeDocument/2006/relationships/image" Target="../media/image81.png"/></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2.xml"/><Relationship Id="rId3" Type="http://schemas.openxmlformats.org/officeDocument/2006/relationships/image" Target="../media/image88.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3.xml"/><Relationship Id="rId3" Type="http://schemas.openxmlformats.org/officeDocument/2006/relationships/image" Target="../media/image93.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1.xml"/><Relationship Id="rId3" Type="http://schemas.openxmlformats.org/officeDocument/2006/relationships/image" Target="../media/image98.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2.xml"/><Relationship Id="rId3" Type="http://schemas.openxmlformats.org/officeDocument/2006/relationships/image" Target="../media/image108.png"/></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3.xml"/><Relationship Id="rId3" Type="http://schemas.openxmlformats.org/officeDocument/2006/relationships/image" Target="../media/image96.jp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4.xml"/><Relationship Id="rId3" Type="http://schemas.openxmlformats.org/officeDocument/2006/relationships/image" Target="../media/image91.jp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5.xml"/><Relationship Id="rId3" Type="http://schemas.openxmlformats.org/officeDocument/2006/relationships/image" Target="../media/image84.jp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6.xml"/><Relationship Id="rId3" Type="http://schemas.openxmlformats.org/officeDocument/2006/relationships/image" Target="../media/image103.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7.xml"/><Relationship Id="rId3" Type="http://schemas.openxmlformats.org/officeDocument/2006/relationships/hyperlink" Target="http://modelingcommons.org/browse/one_model/5217#model_tabs_browse_nlw" TargetMode="External"/><Relationship Id="rId4" Type="http://schemas.openxmlformats.org/officeDocument/2006/relationships/image" Target="../media/image94.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3.xml"/><Relationship Id="rId3" Type="http://schemas.openxmlformats.org/officeDocument/2006/relationships/image" Target="../media/image9.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4.xml"/><Relationship Id="rId3" Type="http://schemas.openxmlformats.org/officeDocument/2006/relationships/image" Target="../media/image9.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7.xml"/><Relationship Id="rId3" Type="http://schemas.openxmlformats.org/officeDocument/2006/relationships/image" Target="../media/image112.png"/></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8.xml"/><Relationship Id="rId3" Type="http://schemas.openxmlformats.org/officeDocument/2006/relationships/image" Target="../media/image112.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9.xml"/><Relationship Id="rId3" Type="http://schemas.openxmlformats.org/officeDocument/2006/relationships/image" Target="../media/image112.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0.xml"/><Relationship Id="rId3" Type="http://schemas.openxmlformats.org/officeDocument/2006/relationships/image" Target="../media/image89.png"/><Relationship Id="rId4" Type="http://schemas.openxmlformats.org/officeDocument/2006/relationships/image" Target="../media/image86.png"/><Relationship Id="rId5" Type="http://schemas.openxmlformats.org/officeDocument/2006/relationships/image" Target="../media/image100.png"/></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1.xml"/><Relationship Id="rId3" Type="http://schemas.openxmlformats.org/officeDocument/2006/relationships/image" Target="../media/image89.png"/><Relationship Id="rId4" Type="http://schemas.openxmlformats.org/officeDocument/2006/relationships/image" Target="../media/image86.png"/><Relationship Id="rId5" Type="http://schemas.openxmlformats.org/officeDocument/2006/relationships/image" Target="../media/image100.png"/></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7.xml"/><Relationship Id="rId3" Type="http://schemas.openxmlformats.org/officeDocument/2006/relationships/image" Target="../media/image95.jpg"/></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8.xml"/><Relationship Id="rId3" Type="http://schemas.openxmlformats.org/officeDocument/2006/relationships/image" Target="../media/image95.jpg"/></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9.xml"/><Relationship Id="rId3" Type="http://schemas.openxmlformats.org/officeDocument/2006/relationships/image" Target="../media/image95.jpg"/></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7.xml"/><Relationship Id="rId3" Type="http://schemas.openxmlformats.org/officeDocument/2006/relationships/image" Target="../media/image104.png"/></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8.xml"/><Relationship Id="rId3" Type="http://schemas.openxmlformats.org/officeDocument/2006/relationships/image" Target="../media/image92.png"/></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9.xml"/><Relationship Id="rId3" Type="http://schemas.openxmlformats.org/officeDocument/2006/relationships/image" Target="../media/image92.png"/></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0.xml"/><Relationship Id="rId3" Type="http://schemas.openxmlformats.org/officeDocument/2006/relationships/image" Target="../media/image92.png"/></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1.xml"/><Relationship Id="rId3" Type="http://schemas.openxmlformats.org/officeDocument/2006/relationships/image" Target="../media/image92.png"/><Relationship Id="rId4" Type="http://schemas.openxmlformats.org/officeDocument/2006/relationships/image" Target="../media/image105.png"/></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2.xml"/><Relationship Id="rId3" Type="http://schemas.openxmlformats.org/officeDocument/2006/relationships/image" Target="../media/image92.png"/><Relationship Id="rId4" Type="http://schemas.openxmlformats.org/officeDocument/2006/relationships/image" Target="../media/image105.png"/></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3.xml"/><Relationship Id="rId3" Type="http://schemas.openxmlformats.org/officeDocument/2006/relationships/image" Target="../media/image92.png"/></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4.xml"/><Relationship Id="rId3" Type="http://schemas.openxmlformats.org/officeDocument/2006/relationships/image" Target="../media/image92.png"/></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5.xml"/><Relationship Id="rId3" Type="http://schemas.openxmlformats.org/officeDocument/2006/relationships/image" Target="../media/image92.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1.xml"/><Relationship Id="rId3" Type="http://schemas.openxmlformats.org/officeDocument/2006/relationships/image" Target="../media/image107.png"/></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2.xml"/><Relationship Id="rId3" Type="http://schemas.openxmlformats.org/officeDocument/2006/relationships/image" Target="../media/image104.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4.xml"/><Relationship Id="rId3" Type="http://schemas.openxmlformats.org/officeDocument/2006/relationships/image" Target="../media/image101.png"/></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5.xml"/><Relationship Id="rId3" Type="http://schemas.openxmlformats.org/officeDocument/2006/relationships/image" Target="../media/image99.png"/></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6.xml"/><Relationship Id="rId3" Type="http://schemas.openxmlformats.org/officeDocument/2006/relationships/image" Target="../media/image109.png"/></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7.xml"/><Relationship Id="rId3" Type="http://schemas.openxmlformats.org/officeDocument/2006/relationships/image" Target="../media/image109.png"/></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0.xml"/><Relationship Id="rId3" Type="http://schemas.openxmlformats.org/officeDocument/2006/relationships/image" Target="../media/image97.png"/><Relationship Id="rId4" Type="http://schemas.openxmlformats.org/officeDocument/2006/relationships/image" Target="../media/image110.png"/></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1.xml"/><Relationship Id="rId3" Type="http://schemas.openxmlformats.org/officeDocument/2006/relationships/image" Target="../media/image110.png"/><Relationship Id="rId4" Type="http://schemas.openxmlformats.org/officeDocument/2006/relationships/image" Target="../media/image113.png"/></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1.xml"/><Relationship Id="rId3" Type="http://schemas.openxmlformats.org/officeDocument/2006/relationships/image" Target="../media/image106.png"/></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2.xml"/><Relationship Id="rId3" Type="http://schemas.openxmlformats.org/officeDocument/2006/relationships/image" Target="../media/image106.pn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3.xml"/><Relationship Id="rId3" Type="http://schemas.openxmlformats.org/officeDocument/2006/relationships/image" Target="../media/image106.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4.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5.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6.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8.xml"/><Relationship Id="rId3" Type="http://schemas.openxmlformats.org/officeDocument/2006/relationships/image" Target="../media/image102.jpg"/></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9.xml"/><Relationship Id="rId3" Type="http://schemas.openxmlformats.org/officeDocument/2006/relationships/image" Target="../media/image102.jpg"/></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0.xml"/><Relationship Id="rId3" Type="http://schemas.openxmlformats.org/officeDocument/2006/relationships/image" Target="../media/image102.jpg"/></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7" name="Shape 117"/>
        <p:cNvGrpSpPr/>
        <p:nvPr/>
      </p:nvGrpSpPr>
      <p:grpSpPr>
        <a:xfrm>
          <a:off x="0" y="0"/>
          <a:ext cx="0" cy="0"/>
          <a:chOff x="0" y="0"/>
          <a:chExt cx="0" cy="0"/>
        </a:xfrm>
      </p:grpSpPr>
      <p:sp>
        <p:nvSpPr>
          <p:cNvPr id="118" name="Google Shape;118;p26"/>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A little about me</a:t>
            </a:r>
            <a:endParaRPr b="1" sz="3000"/>
          </a:p>
        </p:txBody>
      </p:sp>
      <p:sp>
        <p:nvSpPr>
          <p:cNvPr id="119" name="Google Shape;119;p26"/>
          <p:cNvSpPr txBox="1"/>
          <p:nvPr/>
        </p:nvSpPr>
        <p:spPr>
          <a:xfrm>
            <a:off x="5290725" y="436300"/>
            <a:ext cx="3378900" cy="357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F0000"/>
              </a:buClr>
              <a:buSzPts val="1800"/>
              <a:buFont typeface="Comfortaa"/>
              <a:buChar char="●"/>
            </a:pPr>
            <a:r>
              <a:rPr b="1" lang="en" sz="1800">
                <a:solidFill>
                  <a:srgbClr val="FF0000"/>
                </a:solidFill>
                <a:latin typeface="Comfortaa"/>
                <a:ea typeface="Comfortaa"/>
                <a:cs typeface="Comfortaa"/>
                <a:sym typeface="Comfortaa"/>
              </a:rPr>
              <a:t>Born: New York City</a:t>
            </a:r>
            <a:endParaRPr b="1" sz="1800">
              <a:solidFill>
                <a:srgbClr val="FF0000"/>
              </a:solidFill>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Raised: La Romana, Dominican Rep.</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College: Brooklyn College (Psych)</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Grad School: Arizona (Soc)</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First Job: Notre Dame</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Second Job: UCLA</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Research Interests: Social Networks, Culture, Social Theory</a:t>
            </a:r>
            <a:endParaRPr sz="1800">
              <a:latin typeface="Comfortaa"/>
              <a:ea typeface="Comfortaa"/>
              <a:cs typeface="Comfortaa"/>
              <a:sym typeface="Comfortaa"/>
            </a:endParaRPr>
          </a:p>
        </p:txBody>
      </p:sp>
      <p:pic>
        <p:nvPicPr>
          <p:cNvPr id="120" name="Google Shape;120;p26"/>
          <p:cNvPicPr preferRelativeResize="0"/>
          <p:nvPr/>
        </p:nvPicPr>
        <p:blipFill rotWithShape="1">
          <a:blip r:embed="rId3">
            <a:alphaModFix/>
          </a:blip>
          <a:srcRect b="0" l="28223" r="33669" t="59384"/>
          <a:stretch/>
        </p:blipFill>
        <p:spPr>
          <a:xfrm>
            <a:off x="319500" y="436300"/>
            <a:ext cx="4874030" cy="3579300"/>
          </a:xfrm>
          <a:prstGeom prst="rect">
            <a:avLst/>
          </a:prstGeom>
          <a:noFill/>
          <a:ln>
            <a:noFill/>
          </a:ln>
        </p:spPr>
      </p:pic>
      <p:sp>
        <p:nvSpPr>
          <p:cNvPr id="121" name="Google Shape;121;p26"/>
          <p:cNvSpPr/>
          <p:nvPr/>
        </p:nvSpPr>
        <p:spPr>
          <a:xfrm>
            <a:off x="4411500" y="1049475"/>
            <a:ext cx="108900" cy="1089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 name="Shape 125"/>
        <p:cNvGrpSpPr/>
        <p:nvPr/>
      </p:nvGrpSpPr>
      <p:grpSpPr>
        <a:xfrm>
          <a:off x="0" y="0"/>
          <a:ext cx="0" cy="0"/>
          <a:chOff x="0" y="0"/>
          <a:chExt cx="0" cy="0"/>
        </a:xfrm>
      </p:grpSpPr>
      <p:sp>
        <p:nvSpPr>
          <p:cNvPr id="126" name="Google Shape;126;p27"/>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A little about me</a:t>
            </a:r>
            <a:endParaRPr b="1" sz="3000"/>
          </a:p>
        </p:txBody>
      </p:sp>
      <p:sp>
        <p:nvSpPr>
          <p:cNvPr id="127" name="Google Shape;127;p27"/>
          <p:cNvSpPr txBox="1"/>
          <p:nvPr/>
        </p:nvSpPr>
        <p:spPr>
          <a:xfrm>
            <a:off x="5290725" y="436300"/>
            <a:ext cx="3378900" cy="357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Born: New York City</a:t>
            </a:r>
            <a:endParaRPr sz="1800">
              <a:latin typeface="Comfortaa"/>
              <a:ea typeface="Comfortaa"/>
              <a:cs typeface="Comfortaa"/>
              <a:sym typeface="Comfortaa"/>
            </a:endParaRPr>
          </a:p>
          <a:p>
            <a:pPr indent="-342900" lvl="0" marL="457200" rtl="0" algn="l">
              <a:spcBef>
                <a:spcPts val="0"/>
              </a:spcBef>
              <a:spcAft>
                <a:spcPts val="0"/>
              </a:spcAft>
              <a:buClr>
                <a:srgbClr val="FF0000"/>
              </a:buClr>
              <a:buSzPts val="1800"/>
              <a:buFont typeface="Comfortaa"/>
              <a:buChar char="●"/>
            </a:pPr>
            <a:r>
              <a:rPr b="1" lang="en" sz="1800">
                <a:solidFill>
                  <a:srgbClr val="FF0000"/>
                </a:solidFill>
                <a:latin typeface="Comfortaa"/>
                <a:ea typeface="Comfortaa"/>
                <a:cs typeface="Comfortaa"/>
                <a:sym typeface="Comfortaa"/>
              </a:rPr>
              <a:t>Raised: La Romana, Dominican Rep.</a:t>
            </a:r>
            <a:endParaRPr b="1" sz="1800">
              <a:solidFill>
                <a:srgbClr val="FF0000"/>
              </a:solidFill>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College: Brooklyn College (Psych)</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Grad School: Arizona (Soc)</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First Job: Notre Dame</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Second Job: UCLA</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Research Interests: Social Networks, Culture, Social Theory</a:t>
            </a:r>
            <a:endParaRPr sz="1800">
              <a:latin typeface="Comfortaa"/>
              <a:ea typeface="Comfortaa"/>
              <a:cs typeface="Comfortaa"/>
              <a:sym typeface="Comfortaa"/>
            </a:endParaRPr>
          </a:p>
        </p:txBody>
      </p:sp>
      <p:pic>
        <p:nvPicPr>
          <p:cNvPr id="128" name="Google Shape;128;p27"/>
          <p:cNvPicPr preferRelativeResize="0"/>
          <p:nvPr/>
        </p:nvPicPr>
        <p:blipFill rotWithShape="1">
          <a:blip r:embed="rId3">
            <a:alphaModFix/>
          </a:blip>
          <a:srcRect b="0" l="28223" r="33669" t="59384"/>
          <a:stretch/>
        </p:blipFill>
        <p:spPr>
          <a:xfrm>
            <a:off x="319500" y="436300"/>
            <a:ext cx="4874030" cy="3579300"/>
          </a:xfrm>
          <a:prstGeom prst="rect">
            <a:avLst/>
          </a:prstGeom>
          <a:noFill/>
          <a:ln>
            <a:noFill/>
          </a:ln>
        </p:spPr>
      </p:pic>
      <p:cxnSp>
        <p:nvCxnSpPr>
          <p:cNvPr id="129" name="Google Shape;129;p27"/>
          <p:cNvCxnSpPr/>
          <p:nvPr/>
        </p:nvCxnSpPr>
        <p:spPr>
          <a:xfrm rot="10800000">
            <a:off x="4452300" y="1049475"/>
            <a:ext cx="387900" cy="2027400"/>
          </a:xfrm>
          <a:prstGeom prst="straightConnector1">
            <a:avLst/>
          </a:prstGeom>
          <a:noFill/>
          <a:ln cap="flat" cmpd="sng" w="28575">
            <a:solidFill>
              <a:srgbClr val="FF0000"/>
            </a:solidFill>
            <a:prstDash val="solid"/>
            <a:round/>
            <a:headEnd len="med" w="med" type="stealth"/>
            <a:tailEnd len="med" w="med" type="oval"/>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 name="Shape 133"/>
        <p:cNvGrpSpPr/>
        <p:nvPr/>
      </p:nvGrpSpPr>
      <p:grpSpPr>
        <a:xfrm>
          <a:off x="0" y="0"/>
          <a:ext cx="0" cy="0"/>
          <a:chOff x="0" y="0"/>
          <a:chExt cx="0" cy="0"/>
        </a:xfrm>
      </p:grpSpPr>
      <p:sp>
        <p:nvSpPr>
          <p:cNvPr id="134" name="Google Shape;134;p28"/>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A little about me</a:t>
            </a:r>
            <a:endParaRPr b="1" sz="3000"/>
          </a:p>
        </p:txBody>
      </p:sp>
      <p:sp>
        <p:nvSpPr>
          <p:cNvPr id="135" name="Google Shape;135;p28"/>
          <p:cNvSpPr txBox="1"/>
          <p:nvPr/>
        </p:nvSpPr>
        <p:spPr>
          <a:xfrm>
            <a:off x="5290725" y="436300"/>
            <a:ext cx="3378900" cy="357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Born: New York City</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Raised: La Romana, Dominican Rep.</a:t>
            </a:r>
            <a:endParaRPr sz="1800">
              <a:latin typeface="Comfortaa"/>
              <a:ea typeface="Comfortaa"/>
              <a:cs typeface="Comfortaa"/>
              <a:sym typeface="Comfortaa"/>
            </a:endParaRPr>
          </a:p>
          <a:p>
            <a:pPr indent="-342900" lvl="0" marL="457200" rtl="0" algn="l">
              <a:spcBef>
                <a:spcPts val="0"/>
              </a:spcBef>
              <a:spcAft>
                <a:spcPts val="0"/>
              </a:spcAft>
              <a:buClr>
                <a:srgbClr val="FF0000"/>
              </a:buClr>
              <a:buSzPts val="1800"/>
              <a:buFont typeface="Comfortaa"/>
              <a:buChar char="●"/>
            </a:pPr>
            <a:r>
              <a:rPr b="1" lang="en" sz="1800">
                <a:solidFill>
                  <a:srgbClr val="FF0000"/>
                </a:solidFill>
                <a:latin typeface="Comfortaa"/>
                <a:ea typeface="Comfortaa"/>
                <a:cs typeface="Comfortaa"/>
                <a:sym typeface="Comfortaa"/>
              </a:rPr>
              <a:t>College: Brooklyn College (Psych)</a:t>
            </a:r>
            <a:endParaRPr b="1" sz="1800">
              <a:solidFill>
                <a:srgbClr val="FF0000"/>
              </a:solidFill>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Grad School: Arizona (Soc)</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First Job: Notre Dame</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Second Job: UCLA</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Research Interests: Social Networks, Culture, Social Theory</a:t>
            </a:r>
            <a:endParaRPr sz="1800">
              <a:latin typeface="Comfortaa"/>
              <a:ea typeface="Comfortaa"/>
              <a:cs typeface="Comfortaa"/>
              <a:sym typeface="Comfortaa"/>
            </a:endParaRPr>
          </a:p>
        </p:txBody>
      </p:sp>
      <p:pic>
        <p:nvPicPr>
          <p:cNvPr id="136" name="Google Shape;136;p28"/>
          <p:cNvPicPr preferRelativeResize="0"/>
          <p:nvPr/>
        </p:nvPicPr>
        <p:blipFill rotWithShape="1">
          <a:blip r:embed="rId3">
            <a:alphaModFix/>
          </a:blip>
          <a:srcRect b="0" l="28223" r="33669" t="59384"/>
          <a:stretch/>
        </p:blipFill>
        <p:spPr>
          <a:xfrm>
            <a:off x="319500" y="436300"/>
            <a:ext cx="4874030" cy="3579300"/>
          </a:xfrm>
          <a:prstGeom prst="rect">
            <a:avLst/>
          </a:prstGeom>
          <a:noFill/>
          <a:ln>
            <a:noFill/>
          </a:ln>
        </p:spPr>
      </p:pic>
      <p:cxnSp>
        <p:nvCxnSpPr>
          <p:cNvPr id="137" name="Google Shape;137;p28"/>
          <p:cNvCxnSpPr/>
          <p:nvPr/>
        </p:nvCxnSpPr>
        <p:spPr>
          <a:xfrm rot="10800000">
            <a:off x="4452300" y="1049475"/>
            <a:ext cx="387900" cy="2027400"/>
          </a:xfrm>
          <a:prstGeom prst="straightConnector1">
            <a:avLst/>
          </a:prstGeom>
          <a:noFill/>
          <a:ln cap="flat" cmpd="sng" w="28575">
            <a:solidFill>
              <a:srgbClr val="FF0000"/>
            </a:solidFill>
            <a:prstDash val="solid"/>
            <a:round/>
            <a:headEnd len="med" w="med" type="stealth"/>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1" name="Shape 141"/>
        <p:cNvGrpSpPr/>
        <p:nvPr/>
      </p:nvGrpSpPr>
      <p:grpSpPr>
        <a:xfrm>
          <a:off x="0" y="0"/>
          <a:ext cx="0" cy="0"/>
          <a:chOff x="0" y="0"/>
          <a:chExt cx="0" cy="0"/>
        </a:xfrm>
      </p:grpSpPr>
      <p:sp>
        <p:nvSpPr>
          <p:cNvPr id="142" name="Google Shape;142;p29"/>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A little about me</a:t>
            </a:r>
            <a:endParaRPr b="1" sz="3000"/>
          </a:p>
        </p:txBody>
      </p:sp>
      <p:sp>
        <p:nvSpPr>
          <p:cNvPr id="143" name="Google Shape;143;p29"/>
          <p:cNvSpPr txBox="1"/>
          <p:nvPr/>
        </p:nvSpPr>
        <p:spPr>
          <a:xfrm>
            <a:off x="5290725" y="436300"/>
            <a:ext cx="3378900" cy="357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Born: New York City</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Raised: La Romana, Dominican Rep.</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College: Brooklyn College (Psych)</a:t>
            </a:r>
            <a:endParaRPr sz="1800">
              <a:latin typeface="Comfortaa"/>
              <a:ea typeface="Comfortaa"/>
              <a:cs typeface="Comfortaa"/>
              <a:sym typeface="Comfortaa"/>
            </a:endParaRPr>
          </a:p>
          <a:p>
            <a:pPr indent="-342900" lvl="0" marL="457200" rtl="0" algn="l">
              <a:spcBef>
                <a:spcPts val="0"/>
              </a:spcBef>
              <a:spcAft>
                <a:spcPts val="0"/>
              </a:spcAft>
              <a:buClr>
                <a:srgbClr val="FF0000"/>
              </a:buClr>
              <a:buSzPts val="1800"/>
              <a:buFont typeface="Comfortaa"/>
              <a:buChar char="●"/>
            </a:pPr>
            <a:r>
              <a:rPr b="1" lang="en" sz="1800">
                <a:solidFill>
                  <a:srgbClr val="FF0000"/>
                </a:solidFill>
                <a:latin typeface="Comfortaa"/>
                <a:ea typeface="Comfortaa"/>
                <a:cs typeface="Comfortaa"/>
                <a:sym typeface="Comfortaa"/>
              </a:rPr>
              <a:t>Grad School: Arizona (Soc)</a:t>
            </a:r>
            <a:endParaRPr b="1" sz="1800">
              <a:solidFill>
                <a:srgbClr val="FF0000"/>
              </a:solidFill>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First Job: Notre Dame</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Second Job: UCLA</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Research Interests: Social Networks, Culture, Social Theory</a:t>
            </a:r>
            <a:endParaRPr sz="1800">
              <a:latin typeface="Comfortaa"/>
              <a:ea typeface="Comfortaa"/>
              <a:cs typeface="Comfortaa"/>
              <a:sym typeface="Comfortaa"/>
            </a:endParaRPr>
          </a:p>
        </p:txBody>
      </p:sp>
      <p:pic>
        <p:nvPicPr>
          <p:cNvPr id="144" name="Google Shape;144;p29"/>
          <p:cNvPicPr preferRelativeResize="0"/>
          <p:nvPr/>
        </p:nvPicPr>
        <p:blipFill rotWithShape="1">
          <a:blip r:embed="rId3">
            <a:alphaModFix/>
          </a:blip>
          <a:srcRect b="0" l="28223" r="33669" t="59384"/>
          <a:stretch/>
        </p:blipFill>
        <p:spPr>
          <a:xfrm>
            <a:off x="319500" y="436300"/>
            <a:ext cx="4874030" cy="3579300"/>
          </a:xfrm>
          <a:prstGeom prst="rect">
            <a:avLst/>
          </a:prstGeom>
          <a:noFill/>
          <a:ln>
            <a:noFill/>
          </a:ln>
        </p:spPr>
      </p:pic>
      <p:cxnSp>
        <p:nvCxnSpPr>
          <p:cNvPr id="145" name="Google Shape;145;p29"/>
          <p:cNvCxnSpPr/>
          <p:nvPr/>
        </p:nvCxnSpPr>
        <p:spPr>
          <a:xfrm rot="10800000">
            <a:off x="4452300" y="1049475"/>
            <a:ext cx="387900" cy="2027400"/>
          </a:xfrm>
          <a:prstGeom prst="straightConnector1">
            <a:avLst/>
          </a:prstGeom>
          <a:noFill/>
          <a:ln cap="flat" cmpd="sng" w="28575">
            <a:solidFill>
              <a:srgbClr val="FF0000"/>
            </a:solidFill>
            <a:prstDash val="solid"/>
            <a:round/>
            <a:headEnd len="med" w="med" type="stealth"/>
            <a:tailEnd len="med" w="med" type="stealth"/>
          </a:ln>
        </p:spPr>
      </p:cxnSp>
      <p:cxnSp>
        <p:nvCxnSpPr>
          <p:cNvPr id="146" name="Google Shape;146;p29"/>
          <p:cNvCxnSpPr/>
          <p:nvPr/>
        </p:nvCxnSpPr>
        <p:spPr>
          <a:xfrm flipH="1" rot="10800000">
            <a:off x="1361150" y="1164975"/>
            <a:ext cx="3120900" cy="547800"/>
          </a:xfrm>
          <a:prstGeom prst="straightConnector1">
            <a:avLst/>
          </a:prstGeom>
          <a:noFill/>
          <a:ln cap="flat" cmpd="sng" w="28575">
            <a:solidFill>
              <a:srgbClr val="FF0000"/>
            </a:solidFill>
            <a:prstDash val="solid"/>
            <a:round/>
            <a:headEnd len="med" w="med" type="stealth"/>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 name="Shape 150"/>
        <p:cNvGrpSpPr/>
        <p:nvPr/>
      </p:nvGrpSpPr>
      <p:grpSpPr>
        <a:xfrm>
          <a:off x="0" y="0"/>
          <a:ext cx="0" cy="0"/>
          <a:chOff x="0" y="0"/>
          <a:chExt cx="0" cy="0"/>
        </a:xfrm>
      </p:grpSpPr>
      <p:sp>
        <p:nvSpPr>
          <p:cNvPr id="151" name="Google Shape;151;p3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A little about me</a:t>
            </a:r>
            <a:endParaRPr b="1" sz="3000"/>
          </a:p>
        </p:txBody>
      </p:sp>
      <p:sp>
        <p:nvSpPr>
          <p:cNvPr id="152" name="Google Shape;152;p30"/>
          <p:cNvSpPr txBox="1"/>
          <p:nvPr/>
        </p:nvSpPr>
        <p:spPr>
          <a:xfrm>
            <a:off x="5290725" y="436300"/>
            <a:ext cx="3378900" cy="357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Born: New York City</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Raised: La Romana, Dominican Rep.</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College: Brooklyn College (Psych)</a:t>
            </a:r>
            <a:endParaRPr sz="1800">
              <a:latin typeface="Comfortaa"/>
              <a:ea typeface="Comfortaa"/>
              <a:cs typeface="Comfortaa"/>
              <a:sym typeface="Comfortaa"/>
            </a:endParaRPr>
          </a:p>
          <a:p>
            <a:pPr indent="-342900" lvl="0" marL="457200" rtl="0" algn="l">
              <a:spcBef>
                <a:spcPts val="0"/>
              </a:spcBef>
              <a:spcAft>
                <a:spcPts val="0"/>
              </a:spcAft>
              <a:buClr>
                <a:schemeClr val="dk1"/>
              </a:buClr>
              <a:buSzPts val="1800"/>
              <a:buFont typeface="Comfortaa"/>
              <a:buChar char="●"/>
            </a:pPr>
            <a:r>
              <a:rPr lang="en" sz="1800">
                <a:solidFill>
                  <a:schemeClr val="dk1"/>
                </a:solidFill>
                <a:latin typeface="Comfortaa"/>
                <a:ea typeface="Comfortaa"/>
                <a:cs typeface="Comfortaa"/>
                <a:sym typeface="Comfortaa"/>
              </a:rPr>
              <a:t>Grad School: Arizona (Soc)</a:t>
            </a:r>
            <a:endParaRPr sz="1800">
              <a:latin typeface="Comfortaa"/>
              <a:ea typeface="Comfortaa"/>
              <a:cs typeface="Comfortaa"/>
              <a:sym typeface="Comfortaa"/>
            </a:endParaRPr>
          </a:p>
          <a:p>
            <a:pPr indent="-342900" lvl="0" marL="457200" rtl="0" algn="l">
              <a:spcBef>
                <a:spcPts val="0"/>
              </a:spcBef>
              <a:spcAft>
                <a:spcPts val="0"/>
              </a:spcAft>
              <a:buClr>
                <a:srgbClr val="FF0000"/>
              </a:buClr>
              <a:buSzPts val="1800"/>
              <a:buFont typeface="Comfortaa"/>
              <a:buChar char="●"/>
            </a:pPr>
            <a:r>
              <a:rPr b="1" lang="en" sz="1800">
                <a:solidFill>
                  <a:srgbClr val="FF0000"/>
                </a:solidFill>
                <a:latin typeface="Comfortaa"/>
                <a:ea typeface="Comfortaa"/>
                <a:cs typeface="Comfortaa"/>
                <a:sym typeface="Comfortaa"/>
              </a:rPr>
              <a:t>First Job: Notre Dame</a:t>
            </a:r>
            <a:endParaRPr b="1" sz="1800">
              <a:solidFill>
                <a:srgbClr val="FF0000"/>
              </a:solidFill>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Second Job: UCLA</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Research Interests: Social Networks, Culture, Social Theory</a:t>
            </a:r>
            <a:endParaRPr sz="1800">
              <a:latin typeface="Comfortaa"/>
              <a:ea typeface="Comfortaa"/>
              <a:cs typeface="Comfortaa"/>
              <a:sym typeface="Comfortaa"/>
            </a:endParaRPr>
          </a:p>
        </p:txBody>
      </p:sp>
      <p:pic>
        <p:nvPicPr>
          <p:cNvPr id="153" name="Google Shape;153;p30"/>
          <p:cNvPicPr preferRelativeResize="0"/>
          <p:nvPr/>
        </p:nvPicPr>
        <p:blipFill rotWithShape="1">
          <a:blip r:embed="rId3">
            <a:alphaModFix/>
          </a:blip>
          <a:srcRect b="0" l="28223" r="33669" t="59384"/>
          <a:stretch/>
        </p:blipFill>
        <p:spPr>
          <a:xfrm>
            <a:off x="319500" y="436300"/>
            <a:ext cx="4874030" cy="3579300"/>
          </a:xfrm>
          <a:prstGeom prst="rect">
            <a:avLst/>
          </a:prstGeom>
          <a:noFill/>
          <a:ln>
            <a:noFill/>
          </a:ln>
        </p:spPr>
      </p:pic>
      <p:cxnSp>
        <p:nvCxnSpPr>
          <p:cNvPr id="154" name="Google Shape;154;p30"/>
          <p:cNvCxnSpPr/>
          <p:nvPr/>
        </p:nvCxnSpPr>
        <p:spPr>
          <a:xfrm rot="10800000">
            <a:off x="4452300" y="1049475"/>
            <a:ext cx="387900" cy="2027400"/>
          </a:xfrm>
          <a:prstGeom prst="straightConnector1">
            <a:avLst/>
          </a:prstGeom>
          <a:noFill/>
          <a:ln cap="flat" cmpd="sng" w="28575">
            <a:solidFill>
              <a:srgbClr val="FF0000"/>
            </a:solidFill>
            <a:prstDash val="solid"/>
            <a:round/>
            <a:headEnd len="med" w="med" type="stealth"/>
            <a:tailEnd len="med" w="med" type="stealth"/>
          </a:ln>
        </p:spPr>
      </p:cxnSp>
      <p:cxnSp>
        <p:nvCxnSpPr>
          <p:cNvPr id="155" name="Google Shape;155;p30"/>
          <p:cNvCxnSpPr/>
          <p:nvPr/>
        </p:nvCxnSpPr>
        <p:spPr>
          <a:xfrm flipH="1">
            <a:off x="1461200" y="999025"/>
            <a:ext cx="2079900" cy="688800"/>
          </a:xfrm>
          <a:prstGeom prst="straightConnector1">
            <a:avLst/>
          </a:prstGeom>
          <a:noFill/>
          <a:ln cap="flat" cmpd="sng" w="28575">
            <a:solidFill>
              <a:srgbClr val="FF0000"/>
            </a:solidFill>
            <a:prstDash val="solid"/>
            <a:round/>
            <a:headEnd len="med" w="med" type="stealth"/>
            <a:tailEnd len="med" w="med" type="none"/>
          </a:ln>
        </p:spPr>
      </p:cxnSp>
      <p:cxnSp>
        <p:nvCxnSpPr>
          <p:cNvPr id="156" name="Google Shape;156;p30"/>
          <p:cNvCxnSpPr/>
          <p:nvPr/>
        </p:nvCxnSpPr>
        <p:spPr>
          <a:xfrm flipH="1" rot="10800000">
            <a:off x="1361150" y="1164975"/>
            <a:ext cx="3120900" cy="547800"/>
          </a:xfrm>
          <a:prstGeom prst="straightConnector1">
            <a:avLst/>
          </a:prstGeom>
          <a:noFill/>
          <a:ln cap="flat" cmpd="sng" w="28575">
            <a:solidFill>
              <a:srgbClr val="FF0000"/>
            </a:solidFill>
            <a:prstDash val="solid"/>
            <a:round/>
            <a:headEnd len="med" w="med" type="stealth"/>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 name="Shape 160"/>
        <p:cNvGrpSpPr/>
        <p:nvPr/>
      </p:nvGrpSpPr>
      <p:grpSpPr>
        <a:xfrm>
          <a:off x="0" y="0"/>
          <a:ext cx="0" cy="0"/>
          <a:chOff x="0" y="0"/>
          <a:chExt cx="0" cy="0"/>
        </a:xfrm>
      </p:grpSpPr>
      <p:sp>
        <p:nvSpPr>
          <p:cNvPr id="161" name="Google Shape;161;p31"/>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A little about me</a:t>
            </a:r>
            <a:endParaRPr b="1" sz="3000"/>
          </a:p>
        </p:txBody>
      </p:sp>
      <p:sp>
        <p:nvSpPr>
          <p:cNvPr id="162" name="Google Shape;162;p31"/>
          <p:cNvSpPr txBox="1"/>
          <p:nvPr/>
        </p:nvSpPr>
        <p:spPr>
          <a:xfrm>
            <a:off x="5290725" y="436300"/>
            <a:ext cx="3378900" cy="357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Born: New York City</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Raised: La Romana, Dominican Rep.</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College: Brooklyn College (Psych)</a:t>
            </a:r>
            <a:endParaRPr sz="1800">
              <a:latin typeface="Comfortaa"/>
              <a:ea typeface="Comfortaa"/>
              <a:cs typeface="Comfortaa"/>
              <a:sym typeface="Comfortaa"/>
            </a:endParaRPr>
          </a:p>
          <a:p>
            <a:pPr indent="-342900" lvl="0" marL="457200" rtl="0" algn="l">
              <a:spcBef>
                <a:spcPts val="0"/>
              </a:spcBef>
              <a:spcAft>
                <a:spcPts val="0"/>
              </a:spcAft>
              <a:buClr>
                <a:schemeClr val="dk1"/>
              </a:buClr>
              <a:buSzPts val="1800"/>
              <a:buFont typeface="Comfortaa"/>
              <a:buChar char="●"/>
            </a:pPr>
            <a:r>
              <a:rPr lang="en" sz="1800">
                <a:solidFill>
                  <a:schemeClr val="dk1"/>
                </a:solidFill>
                <a:latin typeface="Comfortaa"/>
                <a:ea typeface="Comfortaa"/>
                <a:cs typeface="Comfortaa"/>
                <a:sym typeface="Comfortaa"/>
              </a:rPr>
              <a:t>Grad School: Arizona (Soc)</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First Job: Notre Dame</a:t>
            </a:r>
            <a:endParaRPr sz="1800">
              <a:latin typeface="Comfortaa"/>
              <a:ea typeface="Comfortaa"/>
              <a:cs typeface="Comfortaa"/>
              <a:sym typeface="Comfortaa"/>
            </a:endParaRPr>
          </a:p>
          <a:p>
            <a:pPr indent="-342900" lvl="0" marL="457200" rtl="0" algn="l">
              <a:spcBef>
                <a:spcPts val="0"/>
              </a:spcBef>
              <a:spcAft>
                <a:spcPts val="0"/>
              </a:spcAft>
              <a:buClr>
                <a:srgbClr val="FF0000"/>
              </a:buClr>
              <a:buSzPts val="1800"/>
              <a:buFont typeface="Comfortaa"/>
              <a:buChar char="●"/>
            </a:pPr>
            <a:r>
              <a:rPr b="1" lang="en" sz="1800">
                <a:solidFill>
                  <a:srgbClr val="FF0000"/>
                </a:solidFill>
                <a:latin typeface="Comfortaa"/>
                <a:ea typeface="Comfortaa"/>
                <a:cs typeface="Comfortaa"/>
                <a:sym typeface="Comfortaa"/>
              </a:rPr>
              <a:t>Second Job: UCLA</a:t>
            </a:r>
            <a:endParaRPr b="1" sz="1800">
              <a:solidFill>
                <a:srgbClr val="FF0000"/>
              </a:solidFill>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Research Interests: Social Networks, Culture, Social Theory</a:t>
            </a:r>
            <a:endParaRPr sz="1800">
              <a:latin typeface="Comfortaa"/>
              <a:ea typeface="Comfortaa"/>
              <a:cs typeface="Comfortaa"/>
              <a:sym typeface="Comfortaa"/>
            </a:endParaRPr>
          </a:p>
        </p:txBody>
      </p:sp>
      <p:pic>
        <p:nvPicPr>
          <p:cNvPr id="163" name="Google Shape;163;p31"/>
          <p:cNvPicPr preferRelativeResize="0"/>
          <p:nvPr/>
        </p:nvPicPr>
        <p:blipFill rotWithShape="1">
          <a:blip r:embed="rId3">
            <a:alphaModFix/>
          </a:blip>
          <a:srcRect b="0" l="28223" r="33669" t="59384"/>
          <a:stretch/>
        </p:blipFill>
        <p:spPr>
          <a:xfrm>
            <a:off x="319500" y="436300"/>
            <a:ext cx="4874030" cy="3579300"/>
          </a:xfrm>
          <a:prstGeom prst="rect">
            <a:avLst/>
          </a:prstGeom>
          <a:noFill/>
          <a:ln>
            <a:noFill/>
          </a:ln>
        </p:spPr>
      </p:pic>
      <p:cxnSp>
        <p:nvCxnSpPr>
          <p:cNvPr id="164" name="Google Shape;164;p31"/>
          <p:cNvCxnSpPr/>
          <p:nvPr/>
        </p:nvCxnSpPr>
        <p:spPr>
          <a:xfrm rot="10800000">
            <a:off x="4452300" y="1049475"/>
            <a:ext cx="387900" cy="2027400"/>
          </a:xfrm>
          <a:prstGeom prst="straightConnector1">
            <a:avLst/>
          </a:prstGeom>
          <a:noFill/>
          <a:ln cap="flat" cmpd="sng" w="28575">
            <a:solidFill>
              <a:srgbClr val="FF0000"/>
            </a:solidFill>
            <a:prstDash val="solid"/>
            <a:round/>
            <a:headEnd len="med" w="med" type="stealth"/>
            <a:tailEnd len="med" w="med" type="stealth"/>
          </a:ln>
        </p:spPr>
      </p:cxnSp>
      <p:cxnSp>
        <p:nvCxnSpPr>
          <p:cNvPr id="165" name="Google Shape;165;p31"/>
          <p:cNvCxnSpPr/>
          <p:nvPr/>
        </p:nvCxnSpPr>
        <p:spPr>
          <a:xfrm flipH="1" rot="10800000">
            <a:off x="760450" y="1028775"/>
            <a:ext cx="2661900" cy="596400"/>
          </a:xfrm>
          <a:prstGeom prst="straightConnector1">
            <a:avLst/>
          </a:prstGeom>
          <a:noFill/>
          <a:ln cap="flat" cmpd="sng" w="28575">
            <a:solidFill>
              <a:srgbClr val="FF0000"/>
            </a:solidFill>
            <a:prstDash val="solid"/>
            <a:round/>
            <a:headEnd len="med" w="med" type="stealth"/>
            <a:tailEnd len="med" w="med" type="none"/>
          </a:ln>
        </p:spPr>
      </p:cxnSp>
      <p:cxnSp>
        <p:nvCxnSpPr>
          <p:cNvPr id="166" name="Google Shape;166;p31"/>
          <p:cNvCxnSpPr/>
          <p:nvPr/>
        </p:nvCxnSpPr>
        <p:spPr>
          <a:xfrm flipH="1">
            <a:off x="1461200" y="999025"/>
            <a:ext cx="2079900" cy="688800"/>
          </a:xfrm>
          <a:prstGeom prst="straightConnector1">
            <a:avLst/>
          </a:prstGeom>
          <a:noFill/>
          <a:ln cap="flat" cmpd="sng" w="28575">
            <a:solidFill>
              <a:srgbClr val="FF0000"/>
            </a:solidFill>
            <a:prstDash val="solid"/>
            <a:round/>
            <a:headEnd len="med" w="med" type="stealth"/>
            <a:tailEnd len="med" w="med" type="none"/>
          </a:ln>
        </p:spPr>
      </p:cxnSp>
      <p:cxnSp>
        <p:nvCxnSpPr>
          <p:cNvPr id="167" name="Google Shape;167;p31"/>
          <p:cNvCxnSpPr/>
          <p:nvPr/>
        </p:nvCxnSpPr>
        <p:spPr>
          <a:xfrm flipH="1" rot="10800000">
            <a:off x="1361150" y="1164975"/>
            <a:ext cx="3120900" cy="547800"/>
          </a:xfrm>
          <a:prstGeom prst="straightConnector1">
            <a:avLst/>
          </a:prstGeom>
          <a:noFill/>
          <a:ln cap="flat" cmpd="sng" w="28575">
            <a:solidFill>
              <a:srgbClr val="FF0000"/>
            </a:solidFill>
            <a:prstDash val="solid"/>
            <a:round/>
            <a:headEnd len="med" w="med" type="stealth"/>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32"/>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A little about me</a:t>
            </a:r>
            <a:endParaRPr b="1" sz="3000"/>
          </a:p>
        </p:txBody>
      </p:sp>
      <p:sp>
        <p:nvSpPr>
          <p:cNvPr id="173" name="Google Shape;173;p32"/>
          <p:cNvSpPr txBox="1"/>
          <p:nvPr/>
        </p:nvSpPr>
        <p:spPr>
          <a:xfrm>
            <a:off x="5290725" y="436300"/>
            <a:ext cx="3378900" cy="357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Born: New York City</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Raised: La Romana, Dominican Rep.</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College: Brooklyn College (Psych)</a:t>
            </a:r>
            <a:endParaRPr sz="1800">
              <a:latin typeface="Comfortaa"/>
              <a:ea typeface="Comfortaa"/>
              <a:cs typeface="Comfortaa"/>
              <a:sym typeface="Comfortaa"/>
            </a:endParaRPr>
          </a:p>
          <a:p>
            <a:pPr indent="-342900" lvl="0" marL="457200" rtl="0" algn="l">
              <a:spcBef>
                <a:spcPts val="0"/>
              </a:spcBef>
              <a:spcAft>
                <a:spcPts val="0"/>
              </a:spcAft>
              <a:buClr>
                <a:schemeClr val="dk1"/>
              </a:buClr>
              <a:buSzPts val="1800"/>
              <a:buFont typeface="Comfortaa"/>
              <a:buChar char="●"/>
            </a:pPr>
            <a:r>
              <a:rPr lang="en" sz="1800">
                <a:solidFill>
                  <a:schemeClr val="dk1"/>
                </a:solidFill>
                <a:latin typeface="Comfortaa"/>
                <a:ea typeface="Comfortaa"/>
                <a:cs typeface="Comfortaa"/>
                <a:sym typeface="Comfortaa"/>
              </a:rPr>
              <a:t>Grad School: Arizona (Soc)</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First Job: Notre Dame</a:t>
            </a:r>
            <a:endParaRPr sz="1800">
              <a:latin typeface="Comfortaa"/>
              <a:ea typeface="Comfortaa"/>
              <a:cs typeface="Comfortaa"/>
              <a:sym typeface="Comfortaa"/>
            </a:endParaRPr>
          </a:p>
          <a:p>
            <a:pPr indent="-342900" lvl="0" marL="457200" rtl="0" algn="l">
              <a:spcBef>
                <a:spcPts val="0"/>
              </a:spcBef>
              <a:spcAft>
                <a:spcPts val="0"/>
              </a:spcAft>
              <a:buSzPts val="1800"/>
              <a:buFont typeface="Comfortaa"/>
              <a:buChar char="●"/>
            </a:pPr>
            <a:r>
              <a:rPr lang="en" sz="1800">
                <a:latin typeface="Comfortaa"/>
                <a:ea typeface="Comfortaa"/>
                <a:cs typeface="Comfortaa"/>
                <a:sym typeface="Comfortaa"/>
              </a:rPr>
              <a:t>Second Job: UCLA</a:t>
            </a:r>
            <a:endParaRPr sz="1800">
              <a:latin typeface="Comfortaa"/>
              <a:ea typeface="Comfortaa"/>
              <a:cs typeface="Comfortaa"/>
              <a:sym typeface="Comfortaa"/>
            </a:endParaRPr>
          </a:p>
          <a:p>
            <a:pPr indent="-342900" lvl="0" marL="457200" rtl="0" algn="l">
              <a:spcBef>
                <a:spcPts val="0"/>
              </a:spcBef>
              <a:spcAft>
                <a:spcPts val="0"/>
              </a:spcAft>
              <a:buClr>
                <a:srgbClr val="FF0000"/>
              </a:buClr>
              <a:buSzPts val="1800"/>
              <a:buFont typeface="Comfortaa"/>
              <a:buChar char="●"/>
            </a:pPr>
            <a:r>
              <a:rPr b="1" lang="en" sz="1800">
                <a:solidFill>
                  <a:srgbClr val="FF0000"/>
                </a:solidFill>
                <a:latin typeface="Comfortaa"/>
                <a:ea typeface="Comfortaa"/>
                <a:cs typeface="Comfortaa"/>
                <a:sym typeface="Comfortaa"/>
              </a:rPr>
              <a:t>Research Interests: Social Networks, Culture, Social Theory</a:t>
            </a:r>
            <a:endParaRPr b="1" sz="1800">
              <a:solidFill>
                <a:srgbClr val="FF0000"/>
              </a:solidFill>
              <a:latin typeface="Comfortaa"/>
              <a:ea typeface="Comfortaa"/>
              <a:cs typeface="Comfortaa"/>
              <a:sym typeface="Comfortaa"/>
            </a:endParaRPr>
          </a:p>
        </p:txBody>
      </p:sp>
      <p:pic>
        <p:nvPicPr>
          <p:cNvPr id="174" name="Google Shape;174;p32"/>
          <p:cNvPicPr preferRelativeResize="0"/>
          <p:nvPr/>
        </p:nvPicPr>
        <p:blipFill rotWithShape="1">
          <a:blip r:embed="rId3">
            <a:alphaModFix/>
          </a:blip>
          <a:srcRect b="0" l="28223" r="33669" t="59384"/>
          <a:stretch/>
        </p:blipFill>
        <p:spPr>
          <a:xfrm>
            <a:off x="319500" y="436300"/>
            <a:ext cx="4874030" cy="3579300"/>
          </a:xfrm>
          <a:prstGeom prst="rect">
            <a:avLst/>
          </a:prstGeom>
          <a:noFill/>
          <a:ln>
            <a:noFill/>
          </a:ln>
        </p:spPr>
      </p:pic>
      <p:cxnSp>
        <p:nvCxnSpPr>
          <p:cNvPr id="175" name="Google Shape;175;p32"/>
          <p:cNvCxnSpPr/>
          <p:nvPr/>
        </p:nvCxnSpPr>
        <p:spPr>
          <a:xfrm rot="10800000">
            <a:off x="4452300" y="1049475"/>
            <a:ext cx="387900" cy="2027400"/>
          </a:xfrm>
          <a:prstGeom prst="straightConnector1">
            <a:avLst/>
          </a:prstGeom>
          <a:noFill/>
          <a:ln cap="flat" cmpd="sng" w="28575">
            <a:solidFill>
              <a:srgbClr val="FF0000"/>
            </a:solidFill>
            <a:prstDash val="solid"/>
            <a:round/>
            <a:headEnd len="med" w="med" type="stealth"/>
            <a:tailEnd len="med" w="med" type="stealth"/>
          </a:ln>
        </p:spPr>
      </p:cxnSp>
      <p:cxnSp>
        <p:nvCxnSpPr>
          <p:cNvPr id="176" name="Google Shape;176;p32"/>
          <p:cNvCxnSpPr/>
          <p:nvPr/>
        </p:nvCxnSpPr>
        <p:spPr>
          <a:xfrm flipH="1" rot="10800000">
            <a:off x="760450" y="1028775"/>
            <a:ext cx="2661900" cy="596400"/>
          </a:xfrm>
          <a:prstGeom prst="straightConnector1">
            <a:avLst/>
          </a:prstGeom>
          <a:noFill/>
          <a:ln cap="flat" cmpd="sng" w="28575">
            <a:solidFill>
              <a:srgbClr val="FF0000"/>
            </a:solidFill>
            <a:prstDash val="solid"/>
            <a:round/>
            <a:headEnd len="med" w="med" type="stealth"/>
            <a:tailEnd len="med" w="med" type="none"/>
          </a:ln>
        </p:spPr>
      </p:cxnSp>
      <p:cxnSp>
        <p:nvCxnSpPr>
          <p:cNvPr id="177" name="Google Shape;177;p32"/>
          <p:cNvCxnSpPr/>
          <p:nvPr/>
        </p:nvCxnSpPr>
        <p:spPr>
          <a:xfrm flipH="1">
            <a:off x="1461200" y="999025"/>
            <a:ext cx="2079900" cy="688800"/>
          </a:xfrm>
          <a:prstGeom prst="straightConnector1">
            <a:avLst/>
          </a:prstGeom>
          <a:noFill/>
          <a:ln cap="flat" cmpd="sng" w="28575">
            <a:solidFill>
              <a:srgbClr val="FF0000"/>
            </a:solidFill>
            <a:prstDash val="solid"/>
            <a:round/>
            <a:headEnd len="med" w="med" type="stealth"/>
            <a:tailEnd len="med" w="med" type="none"/>
          </a:ln>
        </p:spPr>
      </p:cxnSp>
      <p:cxnSp>
        <p:nvCxnSpPr>
          <p:cNvPr id="178" name="Google Shape;178;p32"/>
          <p:cNvCxnSpPr/>
          <p:nvPr/>
        </p:nvCxnSpPr>
        <p:spPr>
          <a:xfrm flipH="1" rot="10800000">
            <a:off x="1361150" y="1164975"/>
            <a:ext cx="3120900" cy="547800"/>
          </a:xfrm>
          <a:prstGeom prst="straightConnector1">
            <a:avLst/>
          </a:prstGeom>
          <a:noFill/>
          <a:ln cap="flat" cmpd="sng" w="28575">
            <a:solidFill>
              <a:srgbClr val="FF0000"/>
            </a:solidFill>
            <a:prstDash val="solid"/>
            <a:round/>
            <a:headEnd len="med" w="med" type="stealth"/>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pic>
        <p:nvPicPr>
          <p:cNvPr id="183" name="Google Shape;183;p33"/>
          <p:cNvPicPr preferRelativeResize="0"/>
          <p:nvPr/>
        </p:nvPicPr>
        <p:blipFill rotWithShape="1">
          <a:blip r:embed="rId3">
            <a:alphaModFix/>
          </a:blip>
          <a:srcRect b="0" l="20166" r="0" t="0"/>
          <a:stretch/>
        </p:blipFill>
        <p:spPr>
          <a:xfrm>
            <a:off x="1043575" y="2745775"/>
            <a:ext cx="7056852" cy="2169400"/>
          </a:xfrm>
          <a:prstGeom prst="rect">
            <a:avLst/>
          </a:prstGeom>
          <a:noFill/>
          <a:ln>
            <a:noFill/>
          </a:ln>
        </p:spPr>
      </p:pic>
      <p:sp>
        <p:nvSpPr>
          <p:cNvPr id="184" name="Google Shape;184;p33"/>
          <p:cNvSpPr txBox="1"/>
          <p:nvPr/>
        </p:nvSpPr>
        <p:spPr>
          <a:xfrm>
            <a:off x="311700" y="1313950"/>
            <a:ext cx="4824600" cy="1502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Economica"/>
              <a:buChar char="●"/>
            </a:pPr>
            <a:r>
              <a:rPr lang="en" sz="1800">
                <a:latin typeface="Economica"/>
                <a:ea typeface="Economica"/>
                <a:cs typeface="Economica"/>
                <a:sym typeface="Economica"/>
              </a:rPr>
              <a:t>The range of tie is given by the </a:t>
            </a:r>
            <a:r>
              <a:rPr b="1" lang="en" sz="1800">
                <a:latin typeface="Economica"/>
                <a:ea typeface="Economica"/>
                <a:cs typeface="Economica"/>
                <a:sym typeface="Economica"/>
              </a:rPr>
              <a:t>second shortest path</a:t>
            </a:r>
            <a:r>
              <a:rPr lang="en" sz="1800">
                <a:latin typeface="Economica"/>
                <a:ea typeface="Economica"/>
                <a:cs typeface="Economica"/>
                <a:sym typeface="Economica"/>
              </a:rPr>
              <a:t> connecting the nodes in a dyad</a:t>
            </a:r>
            <a:endParaRPr sz="1800">
              <a:latin typeface="Economica"/>
              <a:ea typeface="Economica"/>
              <a:cs typeface="Economica"/>
              <a:sym typeface="Economica"/>
            </a:endParaRPr>
          </a:p>
          <a:p>
            <a:pPr indent="-342900" lvl="0" marL="457200" rtl="0" algn="l">
              <a:spcBef>
                <a:spcPts val="0"/>
              </a:spcBef>
              <a:spcAft>
                <a:spcPts val="0"/>
              </a:spcAft>
              <a:buSzPts val="1800"/>
              <a:buFont typeface="Economica"/>
              <a:buChar char="●"/>
            </a:pPr>
            <a:r>
              <a:rPr lang="en" sz="1800">
                <a:latin typeface="Economica"/>
                <a:ea typeface="Economica"/>
                <a:cs typeface="Economica"/>
                <a:sym typeface="Economica"/>
              </a:rPr>
              <a:t>Range is a </a:t>
            </a:r>
            <a:r>
              <a:rPr b="1" lang="en" sz="1800">
                <a:latin typeface="Economica"/>
                <a:ea typeface="Economica"/>
                <a:cs typeface="Economica"/>
                <a:sym typeface="Economica"/>
              </a:rPr>
              <a:t>non-local property</a:t>
            </a:r>
            <a:endParaRPr b="1" sz="1800">
              <a:latin typeface="Economica"/>
              <a:ea typeface="Economica"/>
              <a:cs typeface="Economica"/>
              <a:sym typeface="Economica"/>
            </a:endParaRPr>
          </a:p>
          <a:p>
            <a:pPr indent="-342900" lvl="1" marL="914400" rtl="0" algn="l">
              <a:spcBef>
                <a:spcPts val="0"/>
              </a:spcBef>
              <a:spcAft>
                <a:spcPts val="0"/>
              </a:spcAft>
              <a:buSzPts val="1800"/>
              <a:buFont typeface="Economica"/>
              <a:buChar char="○"/>
            </a:pPr>
            <a:r>
              <a:rPr lang="en" sz="1800">
                <a:latin typeface="Economica"/>
                <a:ea typeface="Economica"/>
                <a:cs typeface="Economica"/>
                <a:sym typeface="Economica"/>
              </a:rPr>
              <a:t>Depends on other links beyond the dyad</a:t>
            </a:r>
            <a:endParaRPr sz="1800">
              <a:latin typeface="Economica"/>
              <a:ea typeface="Economica"/>
              <a:cs typeface="Economica"/>
              <a:sym typeface="Economica"/>
            </a:endParaRPr>
          </a:p>
        </p:txBody>
      </p:sp>
      <p:sp>
        <p:nvSpPr>
          <p:cNvPr id="185" name="Google Shape;185;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Dyad properties: Range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Dyads properties: Bandwidth</a:t>
            </a:r>
            <a:endParaRPr/>
          </a:p>
        </p:txBody>
      </p:sp>
      <p:sp>
        <p:nvSpPr>
          <p:cNvPr id="191" name="Google Shape;191;p3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https://www.sciencedirect.com/science/article/pii/S0378873318300194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you measure tie strength?</a:t>
            </a:r>
            <a:endParaRPr/>
          </a:p>
        </p:txBody>
      </p:sp>
      <p:sp>
        <p:nvSpPr>
          <p:cNvPr id="197" name="Google Shape;197;p3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One approach: Use role relations as a proxy for strength</a:t>
            </a:r>
            <a:endParaRPr/>
          </a:p>
          <a:p>
            <a:pPr indent="-317500" lvl="1" marL="914400" rtl="0" algn="l">
              <a:spcBef>
                <a:spcPts val="0"/>
              </a:spcBef>
              <a:spcAft>
                <a:spcPts val="0"/>
              </a:spcAft>
              <a:buSzPts val="1400"/>
              <a:buChar char="○"/>
            </a:pPr>
            <a:r>
              <a:rPr b="1" lang="en"/>
              <a:t>Family</a:t>
            </a:r>
            <a:r>
              <a:rPr lang="en"/>
              <a:t> and </a:t>
            </a:r>
            <a:r>
              <a:rPr b="1" lang="en"/>
              <a:t>Friends</a:t>
            </a:r>
            <a:r>
              <a:rPr lang="en"/>
              <a:t> are </a:t>
            </a:r>
            <a:r>
              <a:rPr b="1" lang="en"/>
              <a:t>strong</a:t>
            </a:r>
            <a:r>
              <a:rPr lang="en"/>
              <a:t> ties, </a:t>
            </a:r>
            <a:r>
              <a:rPr b="1" lang="en"/>
              <a:t>acquaintances</a:t>
            </a:r>
            <a:r>
              <a:rPr lang="en"/>
              <a:t>, </a:t>
            </a:r>
            <a:r>
              <a:rPr b="1" lang="en"/>
              <a:t>co-workers</a:t>
            </a:r>
            <a:r>
              <a:rPr lang="en"/>
              <a:t>, and </a:t>
            </a:r>
            <a:r>
              <a:rPr b="1" lang="en"/>
              <a:t>neighbors</a:t>
            </a:r>
            <a:r>
              <a:rPr lang="en"/>
              <a:t> are </a:t>
            </a:r>
            <a:r>
              <a:rPr b="1" lang="en"/>
              <a:t>weak</a:t>
            </a:r>
            <a:r>
              <a:rPr lang="en"/>
              <a:t> ties</a:t>
            </a:r>
            <a:endParaRPr/>
          </a:p>
          <a:p>
            <a:pPr indent="-317500" lvl="1" marL="914400" rtl="0" algn="l">
              <a:spcBef>
                <a:spcPts val="0"/>
              </a:spcBef>
              <a:spcAft>
                <a:spcPts val="0"/>
              </a:spcAft>
              <a:buClr>
                <a:srgbClr val="FF0000"/>
              </a:buClr>
              <a:buSzPts val="1400"/>
              <a:buChar char="○"/>
            </a:pPr>
            <a:r>
              <a:rPr i="1" lang="en">
                <a:solidFill>
                  <a:srgbClr val="FF0000"/>
                </a:solidFill>
              </a:rPr>
              <a:t>What’s the problem with this?</a:t>
            </a:r>
            <a:endParaRPr>
              <a:solidFill>
                <a:srgbClr val="FF0000"/>
              </a:solidFill>
            </a:endParaRPr>
          </a:p>
          <a:p>
            <a:pPr indent="-342900" lvl="0" marL="457200" rtl="0" algn="l">
              <a:spcBef>
                <a:spcPts val="0"/>
              </a:spcBef>
              <a:spcAft>
                <a:spcPts val="0"/>
              </a:spcAft>
              <a:buClr>
                <a:srgbClr val="000000"/>
              </a:buClr>
              <a:buSzPts val="1800"/>
              <a:buChar char="●"/>
            </a:pPr>
            <a:r>
              <a:rPr lang="en">
                <a:solidFill>
                  <a:srgbClr val="000000"/>
                </a:solidFill>
              </a:rPr>
              <a:t>Another approach: Use interaction frequencies as a proxy for strength:</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People you see or interact with </a:t>
            </a:r>
            <a:r>
              <a:rPr b="1" lang="en">
                <a:solidFill>
                  <a:srgbClr val="000000"/>
                </a:solidFill>
              </a:rPr>
              <a:t>frequently</a:t>
            </a:r>
            <a:r>
              <a:rPr lang="en">
                <a:solidFill>
                  <a:srgbClr val="000000"/>
                </a:solidFill>
              </a:rPr>
              <a:t> are </a:t>
            </a:r>
            <a:r>
              <a:rPr b="1" lang="en">
                <a:solidFill>
                  <a:srgbClr val="000000"/>
                </a:solidFill>
              </a:rPr>
              <a:t>strong</a:t>
            </a:r>
            <a:r>
              <a:rPr lang="en">
                <a:solidFill>
                  <a:srgbClr val="000000"/>
                </a:solidFill>
              </a:rPr>
              <a:t> ties, people who you do </a:t>
            </a:r>
            <a:r>
              <a:rPr b="1" lang="en">
                <a:solidFill>
                  <a:srgbClr val="000000"/>
                </a:solidFill>
              </a:rPr>
              <a:t>not</a:t>
            </a:r>
            <a:r>
              <a:rPr lang="en">
                <a:solidFill>
                  <a:srgbClr val="000000"/>
                </a:solidFill>
              </a:rPr>
              <a:t> see or interact with frequently are </a:t>
            </a:r>
            <a:r>
              <a:rPr b="1" lang="en">
                <a:solidFill>
                  <a:srgbClr val="000000"/>
                </a:solidFill>
              </a:rPr>
              <a:t>weak</a:t>
            </a:r>
            <a:r>
              <a:rPr lang="en">
                <a:solidFill>
                  <a:srgbClr val="000000"/>
                </a:solidFill>
              </a:rPr>
              <a:t> ties</a:t>
            </a:r>
            <a:endParaRPr>
              <a:solidFill>
                <a:srgbClr val="000000"/>
              </a:solidFill>
            </a:endParaRPr>
          </a:p>
          <a:p>
            <a:pPr indent="-317500" lvl="1" marL="914400" rtl="0" algn="l">
              <a:spcBef>
                <a:spcPts val="0"/>
              </a:spcBef>
              <a:spcAft>
                <a:spcPts val="0"/>
              </a:spcAft>
              <a:buClr>
                <a:srgbClr val="FF0000"/>
              </a:buClr>
              <a:buSzPts val="1400"/>
              <a:buChar char="○"/>
            </a:pPr>
            <a:r>
              <a:rPr i="1" lang="en">
                <a:solidFill>
                  <a:srgbClr val="FF0000"/>
                </a:solidFill>
              </a:rPr>
              <a:t>What’s the problem with this?</a:t>
            </a:r>
            <a:endParaRPr>
              <a:solidFill>
                <a:srgbClr val="FF0000"/>
              </a:solidFill>
            </a:endParaRPr>
          </a:p>
          <a:p>
            <a:pPr indent="-342900" lvl="0" marL="457200" rtl="0" algn="l">
              <a:spcBef>
                <a:spcPts val="0"/>
              </a:spcBef>
              <a:spcAft>
                <a:spcPts val="0"/>
              </a:spcAft>
              <a:buClr>
                <a:srgbClr val="000000"/>
              </a:buClr>
              <a:buSzPts val="1800"/>
              <a:buChar char="●"/>
            </a:pPr>
            <a:r>
              <a:rPr lang="en">
                <a:solidFill>
                  <a:srgbClr val="000000"/>
                </a:solidFill>
              </a:rPr>
              <a:t>Yet another approach: Use the number of different types of ties linking people as a proxy for strength:</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Multiplex ties are strong and “uniplex” ties are weak</a:t>
            </a:r>
            <a:endParaRPr>
              <a:solidFill>
                <a:srgbClr val="000000"/>
              </a:solidFill>
            </a:endParaRPr>
          </a:p>
          <a:p>
            <a:pPr indent="-317500" lvl="1" marL="914400" rtl="0" algn="l">
              <a:spcBef>
                <a:spcPts val="0"/>
              </a:spcBef>
              <a:spcAft>
                <a:spcPts val="0"/>
              </a:spcAft>
              <a:buClr>
                <a:srgbClr val="FF0000"/>
              </a:buClr>
              <a:buSzPts val="1400"/>
              <a:buChar char="○"/>
            </a:pPr>
            <a:r>
              <a:rPr i="1" lang="en">
                <a:solidFill>
                  <a:srgbClr val="FF0000"/>
                </a:solidFill>
              </a:rPr>
              <a:t>What’s the problem with this?</a:t>
            </a:r>
            <a:endParaRPr>
              <a:solidFill>
                <a:srgbClr val="FF0000"/>
              </a:solidFill>
            </a:endParaRPr>
          </a:p>
          <a:p>
            <a:pPr indent="0" lvl="0" marL="914400" rtl="0" algn="l">
              <a:spcBef>
                <a:spcPts val="0"/>
              </a:spcBef>
              <a:spcAft>
                <a:spcPts val="0"/>
              </a:spcAft>
              <a:buNone/>
            </a:pPr>
            <a:r>
              <a:t/>
            </a: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you measure tie strength?</a:t>
            </a:r>
            <a:endParaRPr/>
          </a:p>
        </p:txBody>
      </p:sp>
      <p:sp>
        <p:nvSpPr>
          <p:cNvPr id="203" name="Google Shape;203;p36"/>
          <p:cNvSpPr txBox="1"/>
          <p:nvPr>
            <p:ph idx="1" type="body"/>
          </p:nvPr>
        </p:nvSpPr>
        <p:spPr>
          <a:xfrm>
            <a:off x="311700" y="1225225"/>
            <a:ext cx="5070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Best approach: </a:t>
            </a:r>
            <a:endParaRPr/>
          </a:p>
          <a:p>
            <a:pPr indent="-317500" lvl="1" marL="914400" rtl="0" algn="l">
              <a:spcBef>
                <a:spcPts val="0"/>
              </a:spcBef>
              <a:spcAft>
                <a:spcPts val="0"/>
              </a:spcAft>
              <a:buSzPts val="1400"/>
              <a:buChar char="○"/>
            </a:pPr>
            <a:r>
              <a:rPr lang="en"/>
              <a:t>Marsden and Campbell’s (1984) Indicator/Predictor Model</a:t>
            </a:r>
            <a:endParaRPr/>
          </a:p>
          <a:p>
            <a:pPr indent="-342900" lvl="0" marL="457200" rtl="0" algn="l">
              <a:spcBef>
                <a:spcPts val="0"/>
              </a:spcBef>
              <a:spcAft>
                <a:spcPts val="0"/>
              </a:spcAft>
              <a:buSzPts val="1800"/>
              <a:buChar char="●"/>
            </a:pPr>
            <a:r>
              <a:rPr lang="en"/>
              <a:t>Combines different criteria</a:t>
            </a:r>
            <a:endParaRPr/>
          </a:p>
          <a:p>
            <a:pPr indent="-342900" lvl="0" marL="457200" rtl="0" algn="l">
              <a:spcBef>
                <a:spcPts val="0"/>
              </a:spcBef>
              <a:spcAft>
                <a:spcPts val="0"/>
              </a:spcAft>
              <a:buSzPts val="1800"/>
              <a:buChar char="●"/>
            </a:pPr>
            <a:r>
              <a:rPr lang="en"/>
              <a:t>Distinguishes between tie properties that:</a:t>
            </a:r>
            <a:endParaRPr/>
          </a:p>
          <a:p>
            <a:pPr indent="-317500" lvl="1" marL="914400" rtl="0" algn="l">
              <a:spcBef>
                <a:spcPts val="0"/>
              </a:spcBef>
              <a:spcAft>
                <a:spcPts val="0"/>
              </a:spcAft>
              <a:buSzPts val="1400"/>
              <a:buChar char="○"/>
            </a:pPr>
            <a:r>
              <a:rPr lang="en"/>
              <a:t>Predict Strength (Predictors)</a:t>
            </a:r>
            <a:endParaRPr/>
          </a:p>
          <a:p>
            <a:pPr indent="-317500" lvl="1" marL="914400" rtl="0" algn="l">
              <a:spcBef>
                <a:spcPts val="0"/>
              </a:spcBef>
              <a:spcAft>
                <a:spcPts val="0"/>
              </a:spcAft>
              <a:buSzPts val="1400"/>
              <a:buChar char="○"/>
            </a:pPr>
            <a:r>
              <a:rPr lang="en"/>
              <a:t>Are Caused by Strength (Indicators)</a:t>
            </a:r>
            <a:endParaRPr/>
          </a:p>
          <a:p>
            <a:pPr indent="0" lvl="0" marL="0" rtl="0" algn="l">
              <a:spcBef>
                <a:spcPts val="0"/>
              </a:spcBef>
              <a:spcAft>
                <a:spcPts val="0"/>
              </a:spcAft>
              <a:buNone/>
            </a:pPr>
            <a:r>
              <a:t/>
            </a:r>
            <a:endParaRPr/>
          </a:p>
        </p:txBody>
      </p:sp>
      <p:sp>
        <p:nvSpPr>
          <p:cNvPr id="204" name="Google Shape;204;p36"/>
          <p:cNvSpPr/>
          <p:nvPr/>
        </p:nvSpPr>
        <p:spPr>
          <a:xfrm>
            <a:off x="6143000" y="2758175"/>
            <a:ext cx="2100000" cy="653100"/>
          </a:xfrm>
          <a:prstGeom prst="ellipse">
            <a:avLst/>
          </a:prstGeom>
          <a:solidFill>
            <a:srgbClr val="CCA677"/>
          </a:solid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Economica"/>
                <a:ea typeface="Economica"/>
                <a:cs typeface="Economica"/>
                <a:sym typeface="Economica"/>
              </a:rPr>
              <a:t>Tie Strength</a:t>
            </a:r>
            <a:endParaRPr sz="2000">
              <a:latin typeface="Economica"/>
              <a:ea typeface="Economica"/>
              <a:cs typeface="Economica"/>
              <a:sym typeface="Economica"/>
            </a:endParaRPr>
          </a:p>
        </p:txBody>
      </p:sp>
      <p:sp>
        <p:nvSpPr>
          <p:cNvPr id="205" name="Google Shape;205;p36"/>
          <p:cNvSpPr/>
          <p:nvPr/>
        </p:nvSpPr>
        <p:spPr>
          <a:xfrm>
            <a:off x="5558250" y="4062075"/>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Sentiment</a:t>
            </a:r>
            <a:endParaRPr sz="1600">
              <a:latin typeface="Economica"/>
              <a:ea typeface="Economica"/>
              <a:cs typeface="Economica"/>
              <a:sym typeface="Economica"/>
            </a:endParaRPr>
          </a:p>
        </p:txBody>
      </p:sp>
      <p:sp>
        <p:nvSpPr>
          <p:cNvPr id="206" name="Google Shape;206;p36"/>
          <p:cNvSpPr/>
          <p:nvPr/>
        </p:nvSpPr>
        <p:spPr>
          <a:xfrm>
            <a:off x="67244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Interaction</a:t>
            </a:r>
            <a:endParaRPr sz="1600">
              <a:latin typeface="Economica"/>
              <a:ea typeface="Economica"/>
              <a:cs typeface="Economica"/>
              <a:sym typeface="Economica"/>
            </a:endParaRPr>
          </a:p>
        </p:txBody>
      </p:sp>
      <p:sp>
        <p:nvSpPr>
          <p:cNvPr id="207" name="Google Shape;207;p36"/>
          <p:cNvSpPr/>
          <p:nvPr/>
        </p:nvSpPr>
        <p:spPr>
          <a:xfrm>
            <a:off x="77832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Exchange</a:t>
            </a:r>
            <a:endParaRPr sz="1600">
              <a:latin typeface="Economica"/>
              <a:ea typeface="Economica"/>
              <a:cs typeface="Economica"/>
              <a:sym typeface="Economica"/>
            </a:endParaRPr>
          </a:p>
        </p:txBody>
      </p:sp>
      <p:cxnSp>
        <p:nvCxnSpPr>
          <p:cNvPr id="208" name="Google Shape;208;p36"/>
          <p:cNvCxnSpPr>
            <a:stCxn id="204" idx="4"/>
            <a:endCxn id="205" idx="0"/>
          </p:cNvCxnSpPr>
          <p:nvPr/>
        </p:nvCxnSpPr>
        <p:spPr>
          <a:xfrm flipH="1">
            <a:off x="6017900" y="3411275"/>
            <a:ext cx="1175100" cy="650700"/>
          </a:xfrm>
          <a:prstGeom prst="straightConnector1">
            <a:avLst/>
          </a:prstGeom>
          <a:noFill/>
          <a:ln cap="flat" cmpd="sng" w="28575">
            <a:solidFill>
              <a:srgbClr val="B7B7B7"/>
            </a:solidFill>
            <a:prstDash val="solid"/>
            <a:round/>
            <a:headEnd len="med" w="med" type="none"/>
            <a:tailEnd len="med" w="med" type="triangle"/>
          </a:ln>
        </p:spPr>
      </p:cxnSp>
      <p:cxnSp>
        <p:nvCxnSpPr>
          <p:cNvPr id="209" name="Google Shape;209;p36"/>
          <p:cNvCxnSpPr>
            <a:stCxn id="204" idx="4"/>
            <a:endCxn id="206" idx="0"/>
          </p:cNvCxnSpPr>
          <p:nvPr/>
        </p:nvCxnSpPr>
        <p:spPr>
          <a:xfrm flipH="1">
            <a:off x="7184000" y="3411275"/>
            <a:ext cx="9000" cy="650700"/>
          </a:xfrm>
          <a:prstGeom prst="straightConnector1">
            <a:avLst/>
          </a:prstGeom>
          <a:noFill/>
          <a:ln cap="flat" cmpd="sng" w="28575">
            <a:solidFill>
              <a:srgbClr val="B7B7B7"/>
            </a:solidFill>
            <a:prstDash val="solid"/>
            <a:round/>
            <a:headEnd len="med" w="med" type="none"/>
            <a:tailEnd len="med" w="med" type="triangle"/>
          </a:ln>
        </p:spPr>
      </p:cxnSp>
      <p:cxnSp>
        <p:nvCxnSpPr>
          <p:cNvPr id="210" name="Google Shape;210;p36"/>
          <p:cNvCxnSpPr>
            <a:stCxn id="204" idx="4"/>
            <a:endCxn id="207" idx="0"/>
          </p:cNvCxnSpPr>
          <p:nvPr/>
        </p:nvCxnSpPr>
        <p:spPr>
          <a:xfrm>
            <a:off x="7193000" y="3411275"/>
            <a:ext cx="1049700" cy="650700"/>
          </a:xfrm>
          <a:prstGeom prst="straightConnector1">
            <a:avLst/>
          </a:prstGeom>
          <a:noFill/>
          <a:ln cap="flat" cmpd="sng" w="28575">
            <a:solidFill>
              <a:srgbClr val="B7B7B7"/>
            </a:solidFill>
            <a:prstDash val="solid"/>
            <a:round/>
            <a:headEnd len="med" w="med" type="none"/>
            <a:tailEnd len="med" w="med" type="triangle"/>
          </a:ln>
        </p:spPr>
      </p:cxnSp>
      <p:sp>
        <p:nvSpPr>
          <p:cNvPr id="211" name="Google Shape;211;p36"/>
          <p:cNvSpPr/>
          <p:nvPr/>
        </p:nvSpPr>
        <p:spPr>
          <a:xfrm>
            <a:off x="7383350" y="1539475"/>
            <a:ext cx="1518000" cy="5679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Similarities</a:t>
            </a:r>
            <a:endParaRPr sz="1600">
              <a:latin typeface="Economica"/>
              <a:ea typeface="Economica"/>
              <a:cs typeface="Economica"/>
              <a:sym typeface="Economica"/>
            </a:endParaRPr>
          </a:p>
        </p:txBody>
      </p:sp>
      <p:sp>
        <p:nvSpPr>
          <p:cNvPr id="212" name="Google Shape;212;p36"/>
          <p:cNvSpPr/>
          <p:nvPr/>
        </p:nvSpPr>
        <p:spPr>
          <a:xfrm>
            <a:off x="5528438" y="1539475"/>
            <a:ext cx="1518000" cy="5679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Role Relations</a:t>
            </a:r>
            <a:endParaRPr sz="1600">
              <a:latin typeface="Economica"/>
              <a:ea typeface="Economica"/>
              <a:cs typeface="Economica"/>
              <a:sym typeface="Economica"/>
            </a:endParaRPr>
          </a:p>
        </p:txBody>
      </p:sp>
      <p:cxnSp>
        <p:nvCxnSpPr>
          <p:cNvPr id="213" name="Google Shape;213;p36"/>
          <p:cNvCxnSpPr>
            <a:stCxn id="212" idx="2"/>
            <a:endCxn id="204" idx="0"/>
          </p:cNvCxnSpPr>
          <p:nvPr/>
        </p:nvCxnSpPr>
        <p:spPr>
          <a:xfrm>
            <a:off x="6287438" y="2107375"/>
            <a:ext cx="905700" cy="650700"/>
          </a:xfrm>
          <a:prstGeom prst="straightConnector1">
            <a:avLst/>
          </a:prstGeom>
          <a:noFill/>
          <a:ln cap="flat" cmpd="sng" w="28575">
            <a:solidFill>
              <a:srgbClr val="B7B7B7"/>
            </a:solidFill>
            <a:prstDash val="solid"/>
            <a:round/>
            <a:headEnd len="med" w="med" type="none"/>
            <a:tailEnd len="med" w="med" type="triangle"/>
          </a:ln>
        </p:spPr>
      </p:cxnSp>
      <p:cxnSp>
        <p:nvCxnSpPr>
          <p:cNvPr id="214" name="Google Shape;214;p36"/>
          <p:cNvCxnSpPr>
            <a:stCxn id="211" idx="2"/>
            <a:endCxn id="204" idx="0"/>
          </p:cNvCxnSpPr>
          <p:nvPr/>
        </p:nvCxnSpPr>
        <p:spPr>
          <a:xfrm flipH="1">
            <a:off x="7193150" y="2107375"/>
            <a:ext cx="949200" cy="650700"/>
          </a:xfrm>
          <a:prstGeom prst="straightConnector1">
            <a:avLst/>
          </a:prstGeom>
          <a:noFill/>
          <a:ln cap="flat" cmpd="sng" w="28575">
            <a:solidFill>
              <a:srgbClr val="B7B7B7"/>
            </a:solidFill>
            <a:prstDash val="solid"/>
            <a:round/>
            <a:headEnd len="med" w="med" type="none"/>
            <a:tailEnd len="med" w="med" type="triangle"/>
          </a:ln>
        </p:spPr>
      </p:cxnSp>
      <p:sp>
        <p:nvSpPr>
          <p:cNvPr id="215" name="Google Shape;215;p36"/>
          <p:cNvSpPr txBox="1"/>
          <p:nvPr/>
        </p:nvSpPr>
        <p:spPr>
          <a:xfrm>
            <a:off x="6546525" y="45114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Indicators</a:t>
            </a:r>
            <a:endParaRPr b="1" sz="1800">
              <a:latin typeface="Economica"/>
              <a:ea typeface="Economica"/>
              <a:cs typeface="Economica"/>
              <a:sym typeface="Economica"/>
            </a:endParaRPr>
          </a:p>
        </p:txBody>
      </p:sp>
      <p:sp>
        <p:nvSpPr>
          <p:cNvPr id="216" name="Google Shape;216;p36"/>
          <p:cNvSpPr txBox="1"/>
          <p:nvPr/>
        </p:nvSpPr>
        <p:spPr>
          <a:xfrm>
            <a:off x="6546525" y="10786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Predictors</a:t>
            </a:r>
            <a:endParaRPr b="1" sz="1800">
              <a:latin typeface="Economica"/>
              <a:ea typeface="Economica"/>
              <a:cs typeface="Economica"/>
              <a:sym typeface="Economic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you measure tie strength?</a:t>
            </a:r>
            <a:endParaRPr/>
          </a:p>
        </p:txBody>
      </p:sp>
      <p:sp>
        <p:nvSpPr>
          <p:cNvPr id="222" name="Google Shape;222;p37"/>
          <p:cNvSpPr txBox="1"/>
          <p:nvPr>
            <p:ph idx="1" type="body"/>
          </p:nvPr>
        </p:nvSpPr>
        <p:spPr>
          <a:xfrm>
            <a:off x="311700" y="1225225"/>
            <a:ext cx="4763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Best approach: </a:t>
            </a:r>
            <a:endParaRPr/>
          </a:p>
          <a:p>
            <a:pPr indent="-317500" lvl="1" marL="914400" rtl="0" algn="l">
              <a:spcBef>
                <a:spcPts val="0"/>
              </a:spcBef>
              <a:spcAft>
                <a:spcPts val="0"/>
              </a:spcAft>
              <a:buSzPts val="1400"/>
              <a:buChar char="○"/>
            </a:pPr>
            <a:r>
              <a:rPr lang="en"/>
              <a:t>Marsden and Campbell’s (1984) Indicator/Predictor Model</a:t>
            </a:r>
            <a:endParaRPr/>
          </a:p>
          <a:p>
            <a:pPr indent="-342900" lvl="0" marL="457200" marR="0" rtl="0" algn="l">
              <a:lnSpc>
                <a:spcPct val="115000"/>
              </a:lnSpc>
              <a:spcBef>
                <a:spcPts val="0"/>
              </a:spcBef>
              <a:spcAft>
                <a:spcPts val="0"/>
              </a:spcAft>
              <a:buClr>
                <a:schemeClr val="dk1"/>
              </a:buClr>
              <a:buSzPts val="1800"/>
              <a:buFont typeface="Open Sans"/>
              <a:buChar char="●"/>
            </a:pPr>
            <a:r>
              <a:rPr lang="en" sz="1800"/>
              <a:t>Indicators:</a:t>
            </a:r>
            <a:endParaRPr sz="1800"/>
          </a:p>
          <a:p>
            <a:pPr indent="-317500" lvl="1" marL="914400" rtl="0" algn="l">
              <a:spcBef>
                <a:spcPts val="0"/>
              </a:spcBef>
              <a:spcAft>
                <a:spcPts val="0"/>
              </a:spcAft>
              <a:buSzPts val="1400"/>
              <a:buChar char="○"/>
            </a:pPr>
            <a:r>
              <a:rPr lang="en"/>
              <a:t>Closeness/Intimacy (Sentiments)</a:t>
            </a:r>
            <a:endParaRPr/>
          </a:p>
          <a:p>
            <a:pPr indent="-317500" lvl="1" marL="914400" rtl="0" algn="l">
              <a:spcBef>
                <a:spcPts val="0"/>
              </a:spcBef>
              <a:spcAft>
                <a:spcPts val="0"/>
              </a:spcAft>
              <a:buSzPts val="1400"/>
              <a:buChar char="○"/>
            </a:pPr>
            <a:r>
              <a:rPr lang="en"/>
              <a:t>Frequency (Interaction)</a:t>
            </a:r>
            <a:endParaRPr/>
          </a:p>
          <a:p>
            <a:pPr indent="-317500" lvl="1" marL="914400" rtl="0" algn="l">
              <a:spcBef>
                <a:spcPts val="0"/>
              </a:spcBef>
              <a:spcAft>
                <a:spcPts val="0"/>
              </a:spcAft>
              <a:buSzPts val="1400"/>
              <a:buChar char="○"/>
            </a:pPr>
            <a:r>
              <a:rPr lang="en"/>
              <a:t>Duration</a:t>
            </a:r>
            <a:endParaRPr/>
          </a:p>
          <a:p>
            <a:pPr indent="-317500" lvl="1" marL="914400" rtl="0" algn="l">
              <a:spcBef>
                <a:spcPts val="0"/>
              </a:spcBef>
              <a:spcAft>
                <a:spcPts val="0"/>
              </a:spcAft>
              <a:buSzPts val="1400"/>
              <a:buChar char="○"/>
            </a:pPr>
            <a:r>
              <a:rPr lang="en"/>
              <a:t>Exchange/Support (Exchange)</a:t>
            </a:r>
            <a:endParaRPr/>
          </a:p>
          <a:p>
            <a:pPr indent="-342900" lvl="0" marL="457200" rtl="0" algn="l">
              <a:spcBef>
                <a:spcPts val="0"/>
              </a:spcBef>
              <a:spcAft>
                <a:spcPts val="0"/>
              </a:spcAft>
              <a:buSzPts val="1800"/>
              <a:buChar char="●"/>
            </a:pPr>
            <a:r>
              <a:rPr lang="en" sz="1800"/>
              <a:t>Predictors:</a:t>
            </a:r>
            <a:endParaRPr sz="1800"/>
          </a:p>
          <a:p>
            <a:pPr indent="-317500" lvl="1" marL="914400" rtl="0" algn="l">
              <a:spcBef>
                <a:spcPts val="0"/>
              </a:spcBef>
              <a:spcAft>
                <a:spcPts val="0"/>
              </a:spcAft>
              <a:buSzPts val="1400"/>
              <a:buChar char="○"/>
            </a:pPr>
            <a:r>
              <a:rPr lang="en"/>
              <a:t>Role relations (Friend, Co-worker)</a:t>
            </a:r>
            <a:endParaRPr/>
          </a:p>
          <a:p>
            <a:pPr indent="-317500" lvl="1" marL="914400" rtl="0" algn="l">
              <a:spcBef>
                <a:spcPts val="0"/>
              </a:spcBef>
              <a:spcAft>
                <a:spcPts val="0"/>
              </a:spcAft>
              <a:buSzPts val="1400"/>
              <a:buChar char="○"/>
            </a:pPr>
            <a:r>
              <a:rPr lang="en"/>
              <a:t>Common memberships and Social Position (Similarities)</a:t>
            </a:r>
            <a:endParaRPr/>
          </a:p>
          <a:p>
            <a:pPr indent="0" lvl="0" marL="0" rtl="0" algn="l">
              <a:spcBef>
                <a:spcPts val="0"/>
              </a:spcBef>
              <a:spcAft>
                <a:spcPts val="0"/>
              </a:spcAft>
              <a:buNone/>
            </a:pPr>
            <a:r>
              <a:t/>
            </a:r>
            <a:endParaRPr/>
          </a:p>
        </p:txBody>
      </p:sp>
      <p:sp>
        <p:nvSpPr>
          <p:cNvPr id="223" name="Google Shape;223;p37"/>
          <p:cNvSpPr/>
          <p:nvPr/>
        </p:nvSpPr>
        <p:spPr>
          <a:xfrm>
            <a:off x="6143000" y="2758175"/>
            <a:ext cx="2100000" cy="653100"/>
          </a:xfrm>
          <a:prstGeom prst="ellipse">
            <a:avLst/>
          </a:prstGeom>
          <a:solidFill>
            <a:srgbClr val="CCA677"/>
          </a:solid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Economica"/>
                <a:ea typeface="Economica"/>
                <a:cs typeface="Economica"/>
                <a:sym typeface="Economica"/>
              </a:rPr>
              <a:t>Tie Strength</a:t>
            </a:r>
            <a:endParaRPr sz="2000">
              <a:latin typeface="Economica"/>
              <a:ea typeface="Economica"/>
              <a:cs typeface="Economica"/>
              <a:sym typeface="Economica"/>
            </a:endParaRPr>
          </a:p>
        </p:txBody>
      </p:sp>
      <p:sp>
        <p:nvSpPr>
          <p:cNvPr id="224" name="Google Shape;224;p37"/>
          <p:cNvSpPr/>
          <p:nvPr/>
        </p:nvSpPr>
        <p:spPr>
          <a:xfrm>
            <a:off x="5558250" y="4062075"/>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Sentiment</a:t>
            </a:r>
            <a:endParaRPr sz="1600">
              <a:latin typeface="Economica"/>
              <a:ea typeface="Economica"/>
              <a:cs typeface="Economica"/>
              <a:sym typeface="Economica"/>
            </a:endParaRPr>
          </a:p>
        </p:txBody>
      </p:sp>
      <p:sp>
        <p:nvSpPr>
          <p:cNvPr id="225" name="Google Shape;225;p37"/>
          <p:cNvSpPr/>
          <p:nvPr/>
        </p:nvSpPr>
        <p:spPr>
          <a:xfrm>
            <a:off x="67244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Interaction</a:t>
            </a:r>
            <a:endParaRPr sz="1600">
              <a:latin typeface="Economica"/>
              <a:ea typeface="Economica"/>
              <a:cs typeface="Economica"/>
              <a:sym typeface="Economica"/>
            </a:endParaRPr>
          </a:p>
        </p:txBody>
      </p:sp>
      <p:sp>
        <p:nvSpPr>
          <p:cNvPr id="226" name="Google Shape;226;p37"/>
          <p:cNvSpPr/>
          <p:nvPr/>
        </p:nvSpPr>
        <p:spPr>
          <a:xfrm>
            <a:off x="77832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Exchange</a:t>
            </a:r>
            <a:endParaRPr sz="1600">
              <a:latin typeface="Economica"/>
              <a:ea typeface="Economica"/>
              <a:cs typeface="Economica"/>
              <a:sym typeface="Economica"/>
            </a:endParaRPr>
          </a:p>
        </p:txBody>
      </p:sp>
      <p:cxnSp>
        <p:nvCxnSpPr>
          <p:cNvPr id="227" name="Google Shape;227;p37"/>
          <p:cNvCxnSpPr>
            <a:stCxn id="223" idx="4"/>
            <a:endCxn id="224" idx="0"/>
          </p:cNvCxnSpPr>
          <p:nvPr/>
        </p:nvCxnSpPr>
        <p:spPr>
          <a:xfrm flipH="1">
            <a:off x="6017900" y="3411275"/>
            <a:ext cx="1175100" cy="650700"/>
          </a:xfrm>
          <a:prstGeom prst="straightConnector1">
            <a:avLst/>
          </a:prstGeom>
          <a:noFill/>
          <a:ln cap="flat" cmpd="sng" w="28575">
            <a:solidFill>
              <a:srgbClr val="B7B7B7"/>
            </a:solidFill>
            <a:prstDash val="solid"/>
            <a:round/>
            <a:headEnd len="med" w="med" type="none"/>
            <a:tailEnd len="med" w="med" type="triangle"/>
          </a:ln>
        </p:spPr>
      </p:cxnSp>
      <p:cxnSp>
        <p:nvCxnSpPr>
          <p:cNvPr id="228" name="Google Shape;228;p37"/>
          <p:cNvCxnSpPr>
            <a:stCxn id="223" idx="4"/>
            <a:endCxn id="225" idx="0"/>
          </p:cNvCxnSpPr>
          <p:nvPr/>
        </p:nvCxnSpPr>
        <p:spPr>
          <a:xfrm flipH="1">
            <a:off x="7184000" y="3411275"/>
            <a:ext cx="9000" cy="650700"/>
          </a:xfrm>
          <a:prstGeom prst="straightConnector1">
            <a:avLst/>
          </a:prstGeom>
          <a:noFill/>
          <a:ln cap="flat" cmpd="sng" w="28575">
            <a:solidFill>
              <a:srgbClr val="B7B7B7"/>
            </a:solidFill>
            <a:prstDash val="solid"/>
            <a:round/>
            <a:headEnd len="med" w="med" type="none"/>
            <a:tailEnd len="med" w="med" type="triangle"/>
          </a:ln>
        </p:spPr>
      </p:cxnSp>
      <p:cxnSp>
        <p:nvCxnSpPr>
          <p:cNvPr id="229" name="Google Shape;229;p37"/>
          <p:cNvCxnSpPr>
            <a:stCxn id="223" idx="4"/>
            <a:endCxn id="226" idx="0"/>
          </p:cNvCxnSpPr>
          <p:nvPr/>
        </p:nvCxnSpPr>
        <p:spPr>
          <a:xfrm>
            <a:off x="7193000" y="3411275"/>
            <a:ext cx="1049700" cy="650700"/>
          </a:xfrm>
          <a:prstGeom prst="straightConnector1">
            <a:avLst/>
          </a:prstGeom>
          <a:noFill/>
          <a:ln cap="flat" cmpd="sng" w="28575">
            <a:solidFill>
              <a:srgbClr val="B7B7B7"/>
            </a:solidFill>
            <a:prstDash val="solid"/>
            <a:round/>
            <a:headEnd len="med" w="med" type="none"/>
            <a:tailEnd len="med" w="med" type="triangle"/>
          </a:ln>
        </p:spPr>
      </p:cxnSp>
      <p:sp>
        <p:nvSpPr>
          <p:cNvPr id="230" name="Google Shape;230;p37"/>
          <p:cNvSpPr/>
          <p:nvPr/>
        </p:nvSpPr>
        <p:spPr>
          <a:xfrm>
            <a:off x="7383350" y="1539475"/>
            <a:ext cx="1518000" cy="5679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Similarities</a:t>
            </a:r>
            <a:endParaRPr sz="1600">
              <a:latin typeface="Economica"/>
              <a:ea typeface="Economica"/>
              <a:cs typeface="Economica"/>
              <a:sym typeface="Economica"/>
            </a:endParaRPr>
          </a:p>
        </p:txBody>
      </p:sp>
      <p:sp>
        <p:nvSpPr>
          <p:cNvPr id="231" name="Google Shape;231;p37"/>
          <p:cNvSpPr/>
          <p:nvPr/>
        </p:nvSpPr>
        <p:spPr>
          <a:xfrm>
            <a:off x="5528438" y="1539475"/>
            <a:ext cx="1518000" cy="5679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Role Relations</a:t>
            </a:r>
            <a:endParaRPr sz="1600">
              <a:latin typeface="Economica"/>
              <a:ea typeface="Economica"/>
              <a:cs typeface="Economica"/>
              <a:sym typeface="Economica"/>
            </a:endParaRPr>
          </a:p>
        </p:txBody>
      </p:sp>
      <p:cxnSp>
        <p:nvCxnSpPr>
          <p:cNvPr id="232" name="Google Shape;232;p37"/>
          <p:cNvCxnSpPr>
            <a:stCxn id="231" idx="2"/>
            <a:endCxn id="223" idx="0"/>
          </p:cNvCxnSpPr>
          <p:nvPr/>
        </p:nvCxnSpPr>
        <p:spPr>
          <a:xfrm>
            <a:off x="6287438" y="2107375"/>
            <a:ext cx="905700" cy="650700"/>
          </a:xfrm>
          <a:prstGeom prst="straightConnector1">
            <a:avLst/>
          </a:prstGeom>
          <a:noFill/>
          <a:ln cap="flat" cmpd="sng" w="28575">
            <a:solidFill>
              <a:srgbClr val="B7B7B7"/>
            </a:solidFill>
            <a:prstDash val="solid"/>
            <a:round/>
            <a:headEnd len="med" w="med" type="none"/>
            <a:tailEnd len="med" w="med" type="triangle"/>
          </a:ln>
        </p:spPr>
      </p:cxnSp>
      <p:cxnSp>
        <p:nvCxnSpPr>
          <p:cNvPr id="233" name="Google Shape;233;p37"/>
          <p:cNvCxnSpPr>
            <a:stCxn id="230" idx="2"/>
            <a:endCxn id="223" idx="0"/>
          </p:cNvCxnSpPr>
          <p:nvPr/>
        </p:nvCxnSpPr>
        <p:spPr>
          <a:xfrm flipH="1">
            <a:off x="7193150" y="2107375"/>
            <a:ext cx="949200" cy="650700"/>
          </a:xfrm>
          <a:prstGeom prst="straightConnector1">
            <a:avLst/>
          </a:prstGeom>
          <a:noFill/>
          <a:ln cap="flat" cmpd="sng" w="28575">
            <a:solidFill>
              <a:srgbClr val="B7B7B7"/>
            </a:solidFill>
            <a:prstDash val="solid"/>
            <a:round/>
            <a:headEnd len="med" w="med" type="none"/>
            <a:tailEnd len="med" w="med" type="triangle"/>
          </a:ln>
        </p:spPr>
      </p:cxnSp>
      <p:sp>
        <p:nvSpPr>
          <p:cNvPr id="234" name="Google Shape;234;p37"/>
          <p:cNvSpPr txBox="1"/>
          <p:nvPr/>
        </p:nvSpPr>
        <p:spPr>
          <a:xfrm>
            <a:off x="6546525" y="45114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Indicators</a:t>
            </a:r>
            <a:endParaRPr b="1" sz="1800">
              <a:latin typeface="Economica"/>
              <a:ea typeface="Economica"/>
              <a:cs typeface="Economica"/>
              <a:sym typeface="Economica"/>
            </a:endParaRPr>
          </a:p>
        </p:txBody>
      </p:sp>
      <p:sp>
        <p:nvSpPr>
          <p:cNvPr id="235" name="Google Shape;235;p37"/>
          <p:cNvSpPr txBox="1"/>
          <p:nvPr/>
        </p:nvSpPr>
        <p:spPr>
          <a:xfrm>
            <a:off x="6546525" y="10786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Predictors</a:t>
            </a:r>
            <a:endParaRPr b="1" sz="1800">
              <a:latin typeface="Economica"/>
              <a:ea typeface="Economica"/>
              <a:cs typeface="Economica"/>
              <a:sym typeface="Economic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you measure tie strength?</a:t>
            </a:r>
            <a:endParaRPr/>
          </a:p>
        </p:txBody>
      </p:sp>
      <p:sp>
        <p:nvSpPr>
          <p:cNvPr id="241" name="Google Shape;241;p38"/>
          <p:cNvSpPr txBox="1"/>
          <p:nvPr>
            <p:ph idx="1" type="body"/>
          </p:nvPr>
        </p:nvSpPr>
        <p:spPr>
          <a:xfrm>
            <a:off x="311700" y="1225225"/>
            <a:ext cx="4763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Best approach: </a:t>
            </a:r>
            <a:endParaRPr/>
          </a:p>
          <a:p>
            <a:pPr indent="-317500" lvl="1" marL="914400" rtl="0" algn="l">
              <a:spcBef>
                <a:spcPts val="0"/>
              </a:spcBef>
              <a:spcAft>
                <a:spcPts val="0"/>
              </a:spcAft>
              <a:buSzPts val="1400"/>
              <a:buChar char="○"/>
            </a:pPr>
            <a:r>
              <a:rPr lang="en"/>
              <a:t>Marsden and Campbell’s (1984) Indicator/Predictor Model</a:t>
            </a:r>
            <a:endParaRPr/>
          </a:p>
          <a:p>
            <a:pPr indent="-342900" lvl="0" marL="457200" marR="0" rtl="0" algn="l">
              <a:lnSpc>
                <a:spcPct val="115000"/>
              </a:lnSpc>
              <a:spcBef>
                <a:spcPts val="0"/>
              </a:spcBef>
              <a:spcAft>
                <a:spcPts val="0"/>
              </a:spcAft>
              <a:buClr>
                <a:schemeClr val="dk1"/>
              </a:buClr>
              <a:buSzPts val="1800"/>
              <a:buFont typeface="Open Sans"/>
              <a:buChar char="●"/>
            </a:pPr>
            <a:r>
              <a:rPr lang="en"/>
              <a:t>Predictors tell us that a strong tie is </a:t>
            </a:r>
            <a:r>
              <a:rPr b="1" lang="en"/>
              <a:t>more</a:t>
            </a:r>
            <a:r>
              <a:rPr lang="en"/>
              <a:t> or </a:t>
            </a:r>
            <a:r>
              <a:rPr b="1" lang="en"/>
              <a:t>less</a:t>
            </a:r>
            <a:r>
              <a:rPr lang="en"/>
              <a:t> likely to </a:t>
            </a:r>
            <a:r>
              <a:rPr b="1" lang="en"/>
              <a:t>form</a:t>
            </a:r>
            <a:endParaRPr b="1"/>
          </a:p>
          <a:p>
            <a:pPr indent="-317500" lvl="1" marL="914400" marR="0" rtl="0" algn="l">
              <a:lnSpc>
                <a:spcPct val="115000"/>
              </a:lnSpc>
              <a:spcBef>
                <a:spcPts val="0"/>
              </a:spcBef>
              <a:spcAft>
                <a:spcPts val="0"/>
              </a:spcAft>
              <a:buSzPts val="1400"/>
              <a:buChar char="○"/>
            </a:pPr>
            <a:r>
              <a:rPr lang="en"/>
              <a:t>E.g., people who are similar are more likely to form strong ties</a:t>
            </a:r>
            <a:endParaRPr/>
          </a:p>
          <a:p>
            <a:pPr indent="-342900" lvl="0" marL="457200" marR="0" rtl="0" algn="l">
              <a:lnSpc>
                <a:spcPct val="115000"/>
              </a:lnSpc>
              <a:spcBef>
                <a:spcPts val="0"/>
              </a:spcBef>
              <a:spcAft>
                <a:spcPts val="0"/>
              </a:spcAft>
              <a:buSzPts val="1800"/>
              <a:buChar char="●"/>
            </a:pPr>
            <a:r>
              <a:rPr lang="en"/>
              <a:t>Indicators tell us that an </a:t>
            </a:r>
            <a:r>
              <a:rPr b="1" lang="en"/>
              <a:t>existing</a:t>
            </a:r>
            <a:r>
              <a:rPr lang="en"/>
              <a:t> tie is </a:t>
            </a:r>
            <a:r>
              <a:rPr b="1" lang="en"/>
              <a:t>more</a:t>
            </a:r>
            <a:r>
              <a:rPr lang="en"/>
              <a:t> or </a:t>
            </a:r>
            <a:r>
              <a:rPr b="1" lang="en"/>
              <a:t>less</a:t>
            </a:r>
            <a:r>
              <a:rPr lang="en"/>
              <a:t> </a:t>
            </a:r>
            <a:r>
              <a:rPr b="1" lang="en"/>
              <a:t>strong</a:t>
            </a:r>
            <a:endParaRPr b="1"/>
          </a:p>
          <a:p>
            <a:pPr indent="-317500" lvl="1" marL="914400" marR="0" rtl="0" algn="l">
              <a:lnSpc>
                <a:spcPct val="115000"/>
              </a:lnSpc>
              <a:spcBef>
                <a:spcPts val="0"/>
              </a:spcBef>
              <a:spcAft>
                <a:spcPts val="0"/>
              </a:spcAft>
              <a:buSzPts val="1400"/>
              <a:buChar char="○"/>
            </a:pPr>
            <a:r>
              <a:rPr lang="en"/>
              <a:t>The more indicators the stronger</a:t>
            </a:r>
            <a:endParaRPr/>
          </a:p>
          <a:p>
            <a:pPr indent="-317500" lvl="2" marL="1371600" marR="0" rtl="0" algn="l">
              <a:lnSpc>
                <a:spcPct val="115000"/>
              </a:lnSpc>
              <a:spcBef>
                <a:spcPts val="0"/>
              </a:spcBef>
              <a:spcAft>
                <a:spcPts val="0"/>
              </a:spcAft>
              <a:buSzPts val="1400"/>
              <a:buChar char="■"/>
            </a:pPr>
            <a:r>
              <a:rPr lang="en"/>
              <a:t>Closeness + Interaction + Support</a:t>
            </a:r>
            <a:endParaRPr/>
          </a:p>
          <a:p>
            <a:pPr indent="0" lvl="0" marL="0" rtl="0" algn="l">
              <a:spcBef>
                <a:spcPts val="0"/>
              </a:spcBef>
              <a:spcAft>
                <a:spcPts val="0"/>
              </a:spcAft>
              <a:buNone/>
            </a:pPr>
            <a:r>
              <a:t/>
            </a:r>
            <a:endParaRPr/>
          </a:p>
        </p:txBody>
      </p:sp>
      <p:sp>
        <p:nvSpPr>
          <p:cNvPr id="242" name="Google Shape;242;p38"/>
          <p:cNvSpPr/>
          <p:nvPr/>
        </p:nvSpPr>
        <p:spPr>
          <a:xfrm>
            <a:off x="6143000" y="2758175"/>
            <a:ext cx="2100000" cy="653100"/>
          </a:xfrm>
          <a:prstGeom prst="ellipse">
            <a:avLst/>
          </a:prstGeom>
          <a:solidFill>
            <a:srgbClr val="CCA677"/>
          </a:solid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Economica"/>
                <a:ea typeface="Economica"/>
                <a:cs typeface="Economica"/>
                <a:sym typeface="Economica"/>
              </a:rPr>
              <a:t>Tie Strength</a:t>
            </a:r>
            <a:endParaRPr sz="2000">
              <a:latin typeface="Economica"/>
              <a:ea typeface="Economica"/>
              <a:cs typeface="Economica"/>
              <a:sym typeface="Economica"/>
            </a:endParaRPr>
          </a:p>
        </p:txBody>
      </p:sp>
      <p:sp>
        <p:nvSpPr>
          <p:cNvPr id="243" name="Google Shape;243;p38"/>
          <p:cNvSpPr/>
          <p:nvPr/>
        </p:nvSpPr>
        <p:spPr>
          <a:xfrm>
            <a:off x="5558250" y="4062075"/>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Sentiment</a:t>
            </a:r>
            <a:endParaRPr sz="1600">
              <a:latin typeface="Economica"/>
              <a:ea typeface="Economica"/>
              <a:cs typeface="Economica"/>
              <a:sym typeface="Economica"/>
            </a:endParaRPr>
          </a:p>
        </p:txBody>
      </p:sp>
      <p:sp>
        <p:nvSpPr>
          <p:cNvPr id="244" name="Google Shape;244;p38"/>
          <p:cNvSpPr/>
          <p:nvPr/>
        </p:nvSpPr>
        <p:spPr>
          <a:xfrm>
            <a:off x="67244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Interaction</a:t>
            </a:r>
            <a:endParaRPr sz="1600">
              <a:latin typeface="Economica"/>
              <a:ea typeface="Economica"/>
              <a:cs typeface="Economica"/>
              <a:sym typeface="Economica"/>
            </a:endParaRPr>
          </a:p>
        </p:txBody>
      </p:sp>
      <p:sp>
        <p:nvSpPr>
          <p:cNvPr id="245" name="Google Shape;245;p38"/>
          <p:cNvSpPr/>
          <p:nvPr/>
        </p:nvSpPr>
        <p:spPr>
          <a:xfrm>
            <a:off x="77832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Exchange</a:t>
            </a:r>
            <a:endParaRPr sz="1600">
              <a:latin typeface="Economica"/>
              <a:ea typeface="Economica"/>
              <a:cs typeface="Economica"/>
              <a:sym typeface="Economica"/>
            </a:endParaRPr>
          </a:p>
        </p:txBody>
      </p:sp>
      <p:cxnSp>
        <p:nvCxnSpPr>
          <p:cNvPr id="246" name="Google Shape;246;p38"/>
          <p:cNvCxnSpPr>
            <a:stCxn id="242" idx="4"/>
            <a:endCxn id="243" idx="0"/>
          </p:cNvCxnSpPr>
          <p:nvPr/>
        </p:nvCxnSpPr>
        <p:spPr>
          <a:xfrm flipH="1">
            <a:off x="6017900" y="3411275"/>
            <a:ext cx="1175100" cy="650700"/>
          </a:xfrm>
          <a:prstGeom prst="straightConnector1">
            <a:avLst/>
          </a:prstGeom>
          <a:noFill/>
          <a:ln cap="flat" cmpd="sng" w="28575">
            <a:solidFill>
              <a:srgbClr val="B7B7B7"/>
            </a:solidFill>
            <a:prstDash val="solid"/>
            <a:round/>
            <a:headEnd len="med" w="med" type="none"/>
            <a:tailEnd len="med" w="med" type="triangle"/>
          </a:ln>
        </p:spPr>
      </p:cxnSp>
      <p:cxnSp>
        <p:nvCxnSpPr>
          <p:cNvPr id="247" name="Google Shape;247;p38"/>
          <p:cNvCxnSpPr>
            <a:stCxn id="242" idx="4"/>
            <a:endCxn id="244" idx="0"/>
          </p:cNvCxnSpPr>
          <p:nvPr/>
        </p:nvCxnSpPr>
        <p:spPr>
          <a:xfrm flipH="1">
            <a:off x="7184000" y="3411275"/>
            <a:ext cx="9000" cy="650700"/>
          </a:xfrm>
          <a:prstGeom prst="straightConnector1">
            <a:avLst/>
          </a:prstGeom>
          <a:noFill/>
          <a:ln cap="flat" cmpd="sng" w="28575">
            <a:solidFill>
              <a:srgbClr val="B7B7B7"/>
            </a:solidFill>
            <a:prstDash val="solid"/>
            <a:round/>
            <a:headEnd len="med" w="med" type="none"/>
            <a:tailEnd len="med" w="med" type="triangle"/>
          </a:ln>
        </p:spPr>
      </p:cxnSp>
      <p:cxnSp>
        <p:nvCxnSpPr>
          <p:cNvPr id="248" name="Google Shape;248;p38"/>
          <p:cNvCxnSpPr>
            <a:stCxn id="242" idx="4"/>
            <a:endCxn id="245" idx="0"/>
          </p:cNvCxnSpPr>
          <p:nvPr/>
        </p:nvCxnSpPr>
        <p:spPr>
          <a:xfrm>
            <a:off x="7193000" y="3411275"/>
            <a:ext cx="1049700" cy="650700"/>
          </a:xfrm>
          <a:prstGeom prst="straightConnector1">
            <a:avLst/>
          </a:prstGeom>
          <a:noFill/>
          <a:ln cap="flat" cmpd="sng" w="28575">
            <a:solidFill>
              <a:srgbClr val="B7B7B7"/>
            </a:solidFill>
            <a:prstDash val="solid"/>
            <a:round/>
            <a:headEnd len="med" w="med" type="none"/>
            <a:tailEnd len="med" w="med" type="triangle"/>
          </a:ln>
        </p:spPr>
      </p:cxnSp>
      <p:sp>
        <p:nvSpPr>
          <p:cNvPr id="249" name="Google Shape;249;p38"/>
          <p:cNvSpPr/>
          <p:nvPr/>
        </p:nvSpPr>
        <p:spPr>
          <a:xfrm>
            <a:off x="7383350" y="1539475"/>
            <a:ext cx="1518000" cy="5679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Similarities</a:t>
            </a:r>
            <a:endParaRPr sz="1600">
              <a:latin typeface="Economica"/>
              <a:ea typeface="Economica"/>
              <a:cs typeface="Economica"/>
              <a:sym typeface="Economica"/>
            </a:endParaRPr>
          </a:p>
        </p:txBody>
      </p:sp>
      <p:sp>
        <p:nvSpPr>
          <p:cNvPr id="250" name="Google Shape;250;p38"/>
          <p:cNvSpPr/>
          <p:nvPr/>
        </p:nvSpPr>
        <p:spPr>
          <a:xfrm>
            <a:off x="5528438" y="1539475"/>
            <a:ext cx="1518000" cy="5679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Role Relations</a:t>
            </a:r>
            <a:endParaRPr sz="1600">
              <a:latin typeface="Economica"/>
              <a:ea typeface="Economica"/>
              <a:cs typeface="Economica"/>
              <a:sym typeface="Economica"/>
            </a:endParaRPr>
          </a:p>
        </p:txBody>
      </p:sp>
      <p:cxnSp>
        <p:nvCxnSpPr>
          <p:cNvPr id="251" name="Google Shape;251;p38"/>
          <p:cNvCxnSpPr>
            <a:stCxn id="250" idx="2"/>
            <a:endCxn id="242" idx="0"/>
          </p:cNvCxnSpPr>
          <p:nvPr/>
        </p:nvCxnSpPr>
        <p:spPr>
          <a:xfrm>
            <a:off x="6287438" y="2107375"/>
            <a:ext cx="905700" cy="650700"/>
          </a:xfrm>
          <a:prstGeom prst="straightConnector1">
            <a:avLst/>
          </a:prstGeom>
          <a:noFill/>
          <a:ln cap="flat" cmpd="sng" w="28575">
            <a:solidFill>
              <a:srgbClr val="B7B7B7"/>
            </a:solidFill>
            <a:prstDash val="solid"/>
            <a:round/>
            <a:headEnd len="med" w="med" type="none"/>
            <a:tailEnd len="med" w="med" type="triangle"/>
          </a:ln>
        </p:spPr>
      </p:cxnSp>
      <p:cxnSp>
        <p:nvCxnSpPr>
          <p:cNvPr id="252" name="Google Shape;252;p38"/>
          <p:cNvCxnSpPr>
            <a:stCxn id="249" idx="2"/>
            <a:endCxn id="242" idx="0"/>
          </p:cNvCxnSpPr>
          <p:nvPr/>
        </p:nvCxnSpPr>
        <p:spPr>
          <a:xfrm flipH="1">
            <a:off x="7193150" y="2107375"/>
            <a:ext cx="949200" cy="650700"/>
          </a:xfrm>
          <a:prstGeom prst="straightConnector1">
            <a:avLst/>
          </a:prstGeom>
          <a:noFill/>
          <a:ln cap="flat" cmpd="sng" w="28575">
            <a:solidFill>
              <a:srgbClr val="B7B7B7"/>
            </a:solidFill>
            <a:prstDash val="solid"/>
            <a:round/>
            <a:headEnd len="med" w="med" type="none"/>
            <a:tailEnd len="med" w="med" type="triangle"/>
          </a:ln>
        </p:spPr>
      </p:cxnSp>
      <p:sp>
        <p:nvSpPr>
          <p:cNvPr id="253" name="Google Shape;253;p38"/>
          <p:cNvSpPr txBox="1"/>
          <p:nvPr/>
        </p:nvSpPr>
        <p:spPr>
          <a:xfrm>
            <a:off x="6546525" y="45114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Indicators</a:t>
            </a:r>
            <a:endParaRPr b="1" sz="1800">
              <a:latin typeface="Economica"/>
              <a:ea typeface="Economica"/>
              <a:cs typeface="Economica"/>
              <a:sym typeface="Economica"/>
            </a:endParaRPr>
          </a:p>
        </p:txBody>
      </p:sp>
      <p:sp>
        <p:nvSpPr>
          <p:cNvPr id="254" name="Google Shape;254;p38"/>
          <p:cNvSpPr txBox="1"/>
          <p:nvPr/>
        </p:nvSpPr>
        <p:spPr>
          <a:xfrm>
            <a:off x="6546525" y="10786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Predictors</a:t>
            </a:r>
            <a:endParaRPr b="1" sz="1800">
              <a:latin typeface="Economica"/>
              <a:ea typeface="Economica"/>
              <a:cs typeface="Economica"/>
              <a:sym typeface="Economic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258" name="Shape 258"/>
        <p:cNvGrpSpPr/>
        <p:nvPr/>
      </p:nvGrpSpPr>
      <p:grpSpPr>
        <a:xfrm>
          <a:off x="0" y="0"/>
          <a:ext cx="0" cy="0"/>
          <a:chOff x="0" y="0"/>
          <a:chExt cx="0" cy="0"/>
        </a:xfrm>
      </p:grpSpPr>
      <p:sp>
        <p:nvSpPr>
          <p:cNvPr id="259" name="Google Shape;259;p39"/>
          <p:cNvSpPr txBox="1"/>
          <p:nvPr>
            <p:ph type="ctrTitle"/>
          </p:nvPr>
        </p:nvSpPr>
        <p:spPr>
          <a:xfrm>
            <a:off x="3044700" y="919898"/>
            <a:ext cx="3054600" cy="2061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Basic Concepts in Social Network Analysis I</a:t>
            </a:r>
            <a:endParaRPr/>
          </a:p>
        </p:txBody>
      </p:sp>
      <p:sp>
        <p:nvSpPr>
          <p:cNvPr id="260" name="Google Shape;260;p39"/>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From graphs to matrices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networks, graphs, matrices </a:t>
            </a:r>
            <a:endParaRPr/>
          </a:p>
        </p:txBody>
      </p:sp>
      <p:sp>
        <p:nvSpPr>
          <p:cNvPr id="266" name="Google Shape;266;p40"/>
          <p:cNvSpPr/>
          <p:nvPr/>
        </p:nvSpPr>
        <p:spPr>
          <a:xfrm>
            <a:off x="3536238" y="1147225"/>
            <a:ext cx="1879200" cy="8955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Basic Concepts</a:t>
            </a:r>
            <a:endParaRPr>
              <a:solidFill>
                <a:srgbClr val="FFFFFF"/>
              </a:solidFill>
            </a:endParaRPr>
          </a:p>
          <a:p>
            <a:pPr indent="0" lvl="0" marL="0" rtl="0" algn="ctr">
              <a:spcBef>
                <a:spcPts val="0"/>
              </a:spcBef>
              <a:spcAft>
                <a:spcPts val="0"/>
              </a:spcAft>
              <a:buNone/>
            </a:pPr>
            <a:r>
              <a:rPr lang="en">
                <a:solidFill>
                  <a:srgbClr val="FFFFFF"/>
                </a:solidFill>
              </a:rPr>
              <a:t>“The Graph”</a:t>
            </a:r>
            <a:endParaRPr>
              <a:solidFill>
                <a:srgbClr val="FFFFFF"/>
              </a:solidFill>
            </a:endParaRPr>
          </a:p>
        </p:txBody>
      </p:sp>
      <p:sp>
        <p:nvSpPr>
          <p:cNvPr id="267" name="Google Shape;267;p40"/>
          <p:cNvSpPr/>
          <p:nvPr/>
        </p:nvSpPr>
        <p:spPr>
          <a:xfrm>
            <a:off x="6564263" y="2964450"/>
            <a:ext cx="1879200" cy="895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solidFill>
                <a:srgbClr val="FFFFFF"/>
              </a:solidFill>
            </a:endParaRPr>
          </a:p>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Social Systems</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Network”</a:t>
            </a:r>
            <a:endParaRPr>
              <a:solidFill>
                <a:srgbClr val="FFFFFF"/>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268" name="Google Shape;268;p40"/>
          <p:cNvSpPr/>
          <p:nvPr/>
        </p:nvSpPr>
        <p:spPr>
          <a:xfrm>
            <a:off x="700538" y="2964450"/>
            <a:ext cx="1879200" cy="89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Matrix Algebra</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Matrix”</a:t>
            </a:r>
            <a:endParaRPr>
              <a:solidFill>
                <a:srgbClr val="FFFFFF"/>
              </a:solidFill>
            </a:endParaRPr>
          </a:p>
          <a:p>
            <a:pPr indent="0" lvl="0" marL="0" rtl="0" algn="l">
              <a:spcBef>
                <a:spcPts val="0"/>
              </a:spcBef>
              <a:spcAft>
                <a:spcPts val="0"/>
              </a:spcAft>
              <a:buNone/>
            </a:pPr>
            <a:r>
              <a:t/>
            </a:r>
            <a:endParaRPr/>
          </a:p>
        </p:txBody>
      </p:sp>
      <p:pic>
        <p:nvPicPr>
          <p:cNvPr descr="figure1-300x297.png" id="269" name="Google Shape;269;p40"/>
          <p:cNvPicPr preferRelativeResize="0"/>
          <p:nvPr/>
        </p:nvPicPr>
        <p:blipFill>
          <a:blip r:embed="rId3">
            <a:alphaModFix/>
          </a:blip>
          <a:stretch>
            <a:fillRect/>
          </a:stretch>
        </p:blipFill>
        <p:spPr>
          <a:xfrm>
            <a:off x="6044350" y="248575"/>
            <a:ext cx="2048182" cy="2027700"/>
          </a:xfrm>
          <a:prstGeom prst="rect">
            <a:avLst/>
          </a:prstGeom>
          <a:noFill/>
          <a:ln>
            <a:noFill/>
          </a:ln>
        </p:spPr>
      </p:pic>
      <p:pic>
        <p:nvPicPr>
          <p:cNvPr descr="Each element of a matrix is ..." id="270" name="Google Shape;270;p40"/>
          <p:cNvPicPr preferRelativeResize="0"/>
          <p:nvPr/>
        </p:nvPicPr>
        <p:blipFill>
          <a:blip r:embed="rId4">
            <a:alphaModFix/>
          </a:blip>
          <a:stretch>
            <a:fillRect/>
          </a:stretch>
        </p:blipFill>
        <p:spPr>
          <a:xfrm>
            <a:off x="524463" y="1071200"/>
            <a:ext cx="2338775" cy="18932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networks, graphs, matrices </a:t>
            </a:r>
            <a:endParaRPr/>
          </a:p>
        </p:txBody>
      </p:sp>
      <p:sp>
        <p:nvSpPr>
          <p:cNvPr id="276" name="Google Shape;276;p41"/>
          <p:cNvSpPr/>
          <p:nvPr/>
        </p:nvSpPr>
        <p:spPr>
          <a:xfrm>
            <a:off x="3536238" y="1147225"/>
            <a:ext cx="1879200" cy="8955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Basic Concepts</a:t>
            </a:r>
            <a:endParaRPr>
              <a:solidFill>
                <a:srgbClr val="FFFFFF"/>
              </a:solidFill>
            </a:endParaRPr>
          </a:p>
          <a:p>
            <a:pPr indent="0" lvl="0" marL="0" rtl="0" algn="ctr">
              <a:spcBef>
                <a:spcPts val="0"/>
              </a:spcBef>
              <a:spcAft>
                <a:spcPts val="0"/>
              </a:spcAft>
              <a:buNone/>
            </a:pPr>
            <a:r>
              <a:rPr lang="en">
                <a:solidFill>
                  <a:srgbClr val="FFFFFF"/>
                </a:solidFill>
              </a:rPr>
              <a:t>“The Graph”</a:t>
            </a:r>
            <a:endParaRPr>
              <a:solidFill>
                <a:srgbClr val="FFFFFF"/>
              </a:solidFill>
            </a:endParaRPr>
          </a:p>
        </p:txBody>
      </p:sp>
      <p:sp>
        <p:nvSpPr>
          <p:cNvPr id="277" name="Google Shape;277;p41"/>
          <p:cNvSpPr/>
          <p:nvPr/>
        </p:nvSpPr>
        <p:spPr>
          <a:xfrm>
            <a:off x="6564263" y="2964450"/>
            <a:ext cx="1879200" cy="895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solidFill>
                <a:srgbClr val="FFFFFF"/>
              </a:solidFill>
            </a:endParaRPr>
          </a:p>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Social Systems</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Network”</a:t>
            </a:r>
            <a:endParaRPr>
              <a:solidFill>
                <a:srgbClr val="FFFFFF"/>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278" name="Google Shape;278;p41"/>
          <p:cNvSpPr/>
          <p:nvPr/>
        </p:nvSpPr>
        <p:spPr>
          <a:xfrm>
            <a:off x="700538" y="2964450"/>
            <a:ext cx="1879200" cy="89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Matrix Algebra</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Matrix”</a:t>
            </a:r>
            <a:endParaRPr>
              <a:solidFill>
                <a:srgbClr val="FFFFFF"/>
              </a:solidFill>
            </a:endParaRPr>
          </a:p>
          <a:p>
            <a:pPr indent="0" lvl="0" marL="0" rtl="0" algn="l">
              <a:spcBef>
                <a:spcPts val="0"/>
              </a:spcBef>
              <a:spcAft>
                <a:spcPts val="0"/>
              </a:spcAft>
              <a:buNone/>
            </a:pPr>
            <a:r>
              <a:t/>
            </a:r>
            <a:endParaRPr/>
          </a:p>
        </p:txBody>
      </p:sp>
      <p:cxnSp>
        <p:nvCxnSpPr>
          <p:cNvPr id="279" name="Google Shape;279;p41"/>
          <p:cNvCxnSpPr>
            <a:stCxn id="278" idx="3"/>
            <a:endCxn id="276" idx="2"/>
          </p:cNvCxnSpPr>
          <p:nvPr/>
        </p:nvCxnSpPr>
        <p:spPr>
          <a:xfrm flipH="1" rot="10800000">
            <a:off x="2579738" y="2042700"/>
            <a:ext cx="1896000" cy="1369500"/>
          </a:xfrm>
          <a:prstGeom prst="straightConnector1">
            <a:avLst/>
          </a:prstGeom>
          <a:noFill/>
          <a:ln cap="flat" cmpd="sng" w="28575">
            <a:solidFill>
              <a:schemeClr val="dk2"/>
            </a:solidFill>
            <a:prstDash val="solid"/>
            <a:round/>
            <a:headEnd len="med" w="med" type="none"/>
            <a:tailEnd len="med" w="med" type="triangle"/>
          </a:ln>
        </p:spPr>
      </p:cxnSp>
      <p:sp>
        <p:nvSpPr>
          <p:cNvPr id="280" name="Google Shape;280;p41"/>
          <p:cNvSpPr txBox="1"/>
          <p:nvPr/>
        </p:nvSpPr>
        <p:spPr>
          <a:xfrm>
            <a:off x="2882125" y="3051008"/>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Linkage</a:t>
            </a:r>
            <a:endParaRPr/>
          </a:p>
        </p:txBody>
      </p:sp>
      <p:pic>
        <p:nvPicPr>
          <p:cNvPr descr="figure1-300x297.png" id="281" name="Google Shape;281;p41"/>
          <p:cNvPicPr preferRelativeResize="0"/>
          <p:nvPr/>
        </p:nvPicPr>
        <p:blipFill>
          <a:blip r:embed="rId3">
            <a:alphaModFix/>
          </a:blip>
          <a:stretch>
            <a:fillRect/>
          </a:stretch>
        </p:blipFill>
        <p:spPr>
          <a:xfrm>
            <a:off x="6044350" y="248575"/>
            <a:ext cx="2048182" cy="2027700"/>
          </a:xfrm>
          <a:prstGeom prst="rect">
            <a:avLst/>
          </a:prstGeom>
          <a:noFill/>
          <a:ln>
            <a:noFill/>
          </a:ln>
        </p:spPr>
      </p:pic>
      <p:pic>
        <p:nvPicPr>
          <p:cNvPr descr="Each element of a matrix is ..." id="282" name="Google Shape;282;p41"/>
          <p:cNvPicPr preferRelativeResize="0"/>
          <p:nvPr/>
        </p:nvPicPr>
        <p:blipFill>
          <a:blip r:embed="rId4">
            <a:alphaModFix/>
          </a:blip>
          <a:stretch>
            <a:fillRect/>
          </a:stretch>
        </p:blipFill>
        <p:spPr>
          <a:xfrm>
            <a:off x="524463" y="1071200"/>
            <a:ext cx="2338775" cy="18932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networks, graphs, matrices </a:t>
            </a:r>
            <a:endParaRPr/>
          </a:p>
        </p:txBody>
      </p:sp>
      <p:sp>
        <p:nvSpPr>
          <p:cNvPr id="288" name="Google Shape;288;p42"/>
          <p:cNvSpPr/>
          <p:nvPr/>
        </p:nvSpPr>
        <p:spPr>
          <a:xfrm>
            <a:off x="3536238" y="1147225"/>
            <a:ext cx="1879200" cy="8955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Basic Concepts</a:t>
            </a:r>
            <a:endParaRPr>
              <a:solidFill>
                <a:srgbClr val="FFFFFF"/>
              </a:solidFill>
            </a:endParaRPr>
          </a:p>
          <a:p>
            <a:pPr indent="0" lvl="0" marL="0" rtl="0" algn="ctr">
              <a:spcBef>
                <a:spcPts val="0"/>
              </a:spcBef>
              <a:spcAft>
                <a:spcPts val="0"/>
              </a:spcAft>
              <a:buNone/>
            </a:pPr>
            <a:r>
              <a:rPr lang="en">
                <a:solidFill>
                  <a:srgbClr val="FFFFFF"/>
                </a:solidFill>
              </a:rPr>
              <a:t>“The Graph”</a:t>
            </a:r>
            <a:endParaRPr>
              <a:solidFill>
                <a:srgbClr val="FFFFFF"/>
              </a:solidFill>
            </a:endParaRPr>
          </a:p>
        </p:txBody>
      </p:sp>
      <p:sp>
        <p:nvSpPr>
          <p:cNvPr id="289" name="Google Shape;289;p42"/>
          <p:cNvSpPr/>
          <p:nvPr/>
        </p:nvSpPr>
        <p:spPr>
          <a:xfrm>
            <a:off x="6564263" y="2964450"/>
            <a:ext cx="1879200" cy="895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solidFill>
                <a:srgbClr val="FFFFFF"/>
              </a:solidFill>
            </a:endParaRPr>
          </a:p>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Social Systems</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Network”</a:t>
            </a:r>
            <a:endParaRPr>
              <a:solidFill>
                <a:srgbClr val="FFFFFF"/>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290" name="Google Shape;290;p42"/>
          <p:cNvSpPr/>
          <p:nvPr/>
        </p:nvSpPr>
        <p:spPr>
          <a:xfrm>
            <a:off x="700538" y="2964450"/>
            <a:ext cx="1879200" cy="89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Matrix Algebra</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Matrix”</a:t>
            </a:r>
            <a:endParaRPr>
              <a:solidFill>
                <a:srgbClr val="FFFFFF"/>
              </a:solidFill>
            </a:endParaRPr>
          </a:p>
          <a:p>
            <a:pPr indent="0" lvl="0" marL="0" rtl="0" algn="l">
              <a:spcBef>
                <a:spcPts val="0"/>
              </a:spcBef>
              <a:spcAft>
                <a:spcPts val="0"/>
              </a:spcAft>
              <a:buNone/>
            </a:pPr>
            <a:r>
              <a:t/>
            </a:r>
            <a:endParaRPr/>
          </a:p>
        </p:txBody>
      </p:sp>
      <p:cxnSp>
        <p:nvCxnSpPr>
          <p:cNvPr id="291" name="Google Shape;291;p42"/>
          <p:cNvCxnSpPr>
            <a:stCxn id="290" idx="3"/>
            <a:endCxn id="288" idx="2"/>
          </p:cNvCxnSpPr>
          <p:nvPr/>
        </p:nvCxnSpPr>
        <p:spPr>
          <a:xfrm flipH="1" rot="10800000">
            <a:off x="2579738" y="2042700"/>
            <a:ext cx="1896000" cy="1369500"/>
          </a:xfrm>
          <a:prstGeom prst="straightConnector1">
            <a:avLst/>
          </a:prstGeom>
          <a:noFill/>
          <a:ln cap="flat" cmpd="sng" w="28575">
            <a:solidFill>
              <a:schemeClr val="dk2"/>
            </a:solidFill>
            <a:prstDash val="solid"/>
            <a:round/>
            <a:headEnd len="med" w="med" type="none"/>
            <a:tailEnd len="med" w="med" type="triangle"/>
          </a:ln>
        </p:spPr>
      </p:cxnSp>
      <p:cxnSp>
        <p:nvCxnSpPr>
          <p:cNvPr id="292" name="Google Shape;292;p42"/>
          <p:cNvCxnSpPr>
            <a:stCxn id="288" idx="2"/>
            <a:endCxn id="289" idx="1"/>
          </p:cNvCxnSpPr>
          <p:nvPr/>
        </p:nvCxnSpPr>
        <p:spPr>
          <a:xfrm>
            <a:off x="4475838" y="2042725"/>
            <a:ext cx="2088300" cy="1369500"/>
          </a:xfrm>
          <a:prstGeom prst="straightConnector1">
            <a:avLst/>
          </a:prstGeom>
          <a:noFill/>
          <a:ln cap="flat" cmpd="sng" w="28575">
            <a:solidFill>
              <a:schemeClr val="dk2"/>
            </a:solidFill>
            <a:prstDash val="solid"/>
            <a:round/>
            <a:headEnd len="med" w="med" type="none"/>
            <a:tailEnd len="med" w="med" type="triangle"/>
          </a:ln>
        </p:spPr>
      </p:cxnSp>
      <p:sp>
        <p:nvSpPr>
          <p:cNvPr id="293" name="Google Shape;293;p42"/>
          <p:cNvSpPr txBox="1"/>
          <p:nvPr/>
        </p:nvSpPr>
        <p:spPr>
          <a:xfrm>
            <a:off x="4654525" y="3051008"/>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Analogy</a:t>
            </a:r>
            <a:endParaRPr/>
          </a:p>
        </p:txBody>
      </p:sp>
      <p:sp>
        <p:nvSpPr>
          <p:cNvPr id="294" name="Google Shape;294;p42"/>
          <p:cNvSpPr txBox="1"/>
          <p:nvPr/>
        </p:nvSpPr>
        <p:spPr>
          <a:xfrm>
            <a:off x="2882125" y="3051008"/>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Linkage</a:t>
            </a:r>
            <a:endParaRPr/>
          </a:p>
        </p:txBody>
      </p:sp>
      <p:pic>
        <p:nvPicPr>
          <p:cNvPr descr="figure1-300x297.png" id="295" name="Google Shape;295;p42"/>
          <p:cNvPicPr preferRelativeResize="0"/>
          <p:nvPr/>
        </p:nvPicPr>
        <p:blipFill>
          <a:blip r:embed="rId3">
            <a:alphaModFix/>
          </a:blip>
          <a:stretch>
            <a:fillRect/>
          </a:stretch>
        </p:blipFill>
        <p:spPr>
          <a:xfrm>
            <a:off x="6044350" y="248575"/>
            <a:ext cx="2048182" cy="2027700"/>
          </a:xfrm>
          <a:prstGeom prst="rect">
            <a:avLst/>
          </a:prstGeom>
          <a:noFill/>
          <a:ln>
            <a:noFill/>
          </a:ln>
        </p:spPr>
      </p:pic>
      <p:pic>
        <p:nvPicPr>
          <p:cNvPr descr="Each element of a matrix is ..." id="296" name="Google Shape;296;p42"/>
          <p:cNvPicPr preferRelativeResize="0"/>
          <p:nvPr/>
        </p:nvPicPr>
        <p:blipFill>
          <a:blip r:embed="rId4">
            <a:alphaModFix/>
          </a:blip>
          <a:stretch>
            <a:fillRect/>
          </a:stretch>
        </p:blipFill>
        <p:spPr>
          <a:xfrm>
            <a:off x="524463" y="1071200"/>
            <a:ext cx="2338775" cy="18932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networks, graphs, matrices </a:t>
            </a:r>
            <a:endParaRPr/>
          </a:p>
        </p:txBody>
      </p:sp>
      <p:sp>
        <p:nvSpPr>
          <p:cNvPr id="302" name="Google Shape;302;p43"/>
          <p:cNvSpPr/>
          <p:nvPr/>
        </p:nvSpPr>
        <p:spPr>
          <a:xfrm>
            <a:off x="3536238" y="1147225"/>
            <a:ext cx="1879200" cy="8955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Basic Concepts</a:t>
            </a:r>
            <a:endParaRPr>
              <a:solidFill>
                <a:srgbClr val="FFFFFF"/>
              </a:solidFill>
            </a:endParaRPr>
          </a:p>
          <a:p>
            <a:pPr indent="0" lvl="0" marL="0" rtl="0" algn="ctr">
              <a:spcBef>
                <a:spcPts val="0"/>
              </a:spcBef>
              <a:spcAft>
                <a:spcPts val="0"/>
              </a:spcAft>
              <a:buNone/>
            </a:pPr>
            <a:r>
              <a:rPr lang="en">
                <a:solidFill>
                  <a:srgbClr val="FFFFFF"/>
                </a:solidFill>
              </a:rPr>
              <a:t>“The Graph”</a:t>
            </a:r>
            <a:endParaRPr>
              <a:solidFill>
                <a:srgbClr val="FFFFFF"/>
              </a:solidFill>
            </a:endParaRPr>
          </a:p>
        </p:txBody>
      </p:sp>
      <p:sp>
        <p:nvSpPr>
          <p:cNvPr id="303" name="Google Shape;303;p43"/>
          <p:cNvSpPr/>
          <p:nvPr/>
        </p:nvSpPr>
        <p:spPr>
          <a:xfrm>
            <a:off x="6564263" y="2964450"/>
            <a:ext cx="1879200" cy="895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solidFill>
                <a:srgbClr val="FFFFFF"/>
              </a:solidFill>
            </a:endParaRPr>
          </a:p>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Social Systems</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Network”</a:t>
            </a:r>
            <a:endParaRPr>
              <a:solidFill>
                <a:srgbClr val="FFFFFF"/>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304" name="Google Shape;304;p43"/>
          <p:cNvSpPr/>
          <p:nvPr/>
        </p:nvSpPr>
        <p:spPr>
          <a:xfrm>
            <a:off x="700538" y="2964450"/>
            <a:ext cx="1879200" cy="89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Matrix Algebra</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Matrix”</a:t>
            </a:r>
            <a:endParaRPr>
              <a:solidFill>
                <a:srgbClr val="FFFFFF"/>
              </a:solidFill>
            </a:endParaRPr>
          </a:p>
          <a:p>
            <a:pPr indent="0" lvl="0" marL="0" rtl="0" algn="l">
              <a:spcBef>
                <a:spcPts val="0"/>
              </a:spcBef>
              <a:spcAft>
                <a:spcPts val="0"/>
              </a:spcAft>
              <a:buNone/>
            </a:pPr>
            <a:r>
              <a:t/>
            </a:r>
            <a:endParaRPr/>
          </a:p>
        </p:txBody>
      </p:sp>
      <p:cxnSp>
        <p:nvCxnSpPr>
          <p:cNvPr id="305" name="Google Shape;305;p43"/>
          <p:cNvCxnSpPr>
            <a:stCxn id="304" idx="3"/>
            <a:endCxn id="302" idx="2"/>
          </p:cNvCxnSpPr>
          <p:nvPr/>
        </p:nvCxnSpPr>
        <p:spPr>
          <a:xfrm flipH="1" rot="10800000">
            <a:off x="2579738" y="2042700"/>
            <a:ext cx="1896000" cy="1369500"/>
          </a:xfrm>
          <a:prstGeom prst="straightConnector1">
            <a:avLst/>
          </a:prstGeom>
          <a:noFill/>
          <a:ln cap="flat" cmpd="sng" w="28575">
            <a:solidFill>
              <a:schemeClr val="dk2"/>
            </a:solidFill>
            <a:prstDash val="solid"/>
            <a:round/>
            <a:headEnd len="med" w="med" type="none"/>
            <a:tailEnd len="med" w="med" type="triangle"/>
          </a:ln>
        </p:spPr>
      </p:cxnSp>
      <p:cxnSp>
        <p:nvCxnSpPr>
          <p:cNvPr id="306" name="Google Shape;306;p43"/>
          <p:cNvCxnSpPr>
            <a:stCxn id="302" idx="2"/>
            <a:endCxn id="303" idx="1"/>
          </p:cNvCxnSpPr>
          <p:nvPr/>
        </p:nvCxnSpPr>
        <p:spPr>
          <a:xfrm>
            <a:off x="4475838" y="2042725"/>
            <a:ext cx="2088300" cy="1369500"/>
          </a:xfrm>
          <a:prstGeom prst="straightConnector1">
            <a:avLst/>
          </a:prstGeom>
          <a:noFill/>
          <a:ln cap="flat" cmpd="sng" w="28575">
            <a:solidFill>
              <a:schemeClr val="dk2"/>
            </a:solidFill>
            <a:prstDash val="solid"/>
            <a:round/>
            <a:headEnd len="med" w="med" type="none"/>
            <a:tailEnd len="med" w="med" type="triangle"/>
          </a:ln>
        </p:spPr>
      </p:cxnSp>
      <p:cxnSp>
        <p:nvCxnSpPr>
          <p:cNvPr id="307" name="Google Shape;307;p43"/>
          <p:cNvCxnSpPr>
            <a:stCxn id="304" idx="2"/>
            <a:endCxn id="303" idx="2"/>
          </p:cNvCxnSpPr>
          <p:nvPr/>
        </p:nvCxnSpPr>
        <p:spPr>
          <a:xfrm flipH="1" rot="-5400000">
            <a:off x="4571738" y="928350"/>
            <a:ext cx="600" cy="5863800"/>
          </a:xfrm>
          <a:prstGeom prst="bentConnector3">
            <a:avLst>
              <a:gd fmla="val 91912500" name="adj1"/>
            </a:avLst>
          </a:prstGeom>
          <a:noFill/>
          <a:ln cap="flat" cmpd="sng" w="38100">
            <a:solidFill>
              <a:schemeClr val="dk2"/>
            </a:solidFill>
            <a:prstDash val="dot"/>
            <a:round/>
            <a:headEnd len="med" w="med" type="none"/>
            <a:tailEnd len="med" w="med" type="stealth"/>
          </a:ln>
        </p:spPr>
      </p:cxnSp>
      <p:sp>
        <p:nvSpPr>
          <p:cNvPr id="308" name="Google Shape;308;p43"/>
          <p:cNvSpPr txBox="1"/>
          <p:nvPr/>
        </p:nvSpPr>
        <p:spPr>
          <a:xfrm>
            <a:off x="3775250" y="4427393"/>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Measurement</a:t>
            </a:r>
            <a:endParaRPr/>
          </a:p>
        </p:txBody>
      </p:sp>
      <p:sp>
        <p:nvSpPr>
          <p:cNvPr id="309" name="Google Shape;309;p43"/>
          <p:cNvSpPr txBox="1"/>
          <p:nvPr/>
        </p:nvSpPr>
        <p:spPr>
          <a:xfrm>
            <a:off x="4654525" y="3051008"/>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Analogy</a:t>
            </a:r>
            <a:endParaRPr/>
          </a:p>
        </p:txBody>
      </p:sp>
      <p:sp>
        <p:nvSpPr>
          <p:cNvPr id="310" name="Google Shape;310;p43"/>
          <p:cNvSpPr txBox="1"/>
          <p:nvPr/>
        </p:nvSpPr>
        <p:spPr>
          <a:xfrm>
            <a:off x="2882125" y="3051008"/>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Linkage</a:t>
            </a:r>
            <a:endParaRPr/>
          </a:p>
        </p:txBody>
      </p:sp>
      <p:pic>
        <p:nvPicPr>
          <p:cNvPr descr="figure1-300x297.png" id="311" name="Google Shape;311;p43"/>
          <p:cNvPicPr preferRelativeResize="0"/>
          <p:nvPr/>
        </p:nvPicPr>
        <p:blipFill>
          <a:blip r:embed="rId3">
            <a:alphaModFix/>
          </a:blip>
          <a:stretch>
            <a:fillRect/>
          </a:stretch>
        </p:blipFill>
        <p:spPr>
          <a:xfrm>
            <a:off x="6044350" y="248575"/>
            <a:ext cx="2048182" cy="2027700"/>
          </a:xfrm>
          <a:prstGeom prst="rect">
            <a:avLst/>
          </a:prstGeom>
          <a:noFill/>
          <a:ln>
            <a:noFill/>
          </a:ln>
        </p:spPr>
      </p:pic>
      <p:pic>
        <p:nvPicPr>
          <p:cNvPr descr="Each element of a matrix is ..." id="312" name="Google Shape;312;p43"/>
          <p:cNvPicPr preferRelativeResize="0"/>
          <p:nvPr/>
        </p:nvPicPr>
        <p:blipFill>
          <a:blip r:embed="rId4">
            <a:alphaModFix/>
          </a:blip>
          <a:stretch>
            <a:fillRect/>
          </a:stretch>
        </p:blipFill>
        <p:spPr>
          <a:xfrm>
            <a:off x="524463" y="1071200"/>
            <a:ext cx="2338775" cy="18932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4"/>
          <p:cNvSpPr/>
          <p:nvPr/>
        </p:nvSpPr>
        <p:spPr>
          <a:xfrm>
            <a:off x="3536238" y="1147225"/>
            <a:ext cx="1879200" cy="8955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Basic Concepts</a:t>
            </a:r>
            <a:endParaRPr>
              <a:solidFill>
                <a:srgbClr val="FFFFFF"/>
              </a:solidFill>
            </a:endParaRPr>
          </a:p>
          <a:p>
            <a:pPr indent="0" lvl="0" marL="0" rtl="0" algn="ctr">
              <a:spcBef>
                <a:spcPts val="0"/>
              </a:spcBef>
              <a:spcAft>
                <a:spcPts val="0"/>
              </a:spcAft>
              <a:buNone/>
            </a:pPr>
            <a:r>
              <a:rPr lang="en">
                <a:solidFill>
                  <a:srgbClr val="FFFFFF"/>
                </a:solidFill>
              </a:rPr>
              <a:t>“The Graph”</a:t>
            </a:r>
            <a:endParaRPr>
              <a:solidFill>
                <a:srgbClr val="FFFFFF"/>
              </a:solidFill>
            </a:endParaRPr>
          </a:p>
        </p:txBody>
      </p:sp>
      <p:sp>
        <p:nvSpPr>
          <p:cNvPr id="318" name="Google Shape;318;p44"/>
          <p:cNvSpPr/>
          <p:nvPr/>
        </p:nvSpPr>
        <p:spPr>
          <a:xfrm>
            <a:off x="6564263" y="2964450"/>
            <a:ext cx="1879200" cy="895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solidFill>
                <a:srgbClr val="FFFFFF"/>
              </a:solidFill>
            </a:endParaRPr>
          </a:p>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Social Systems</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Network”</a:t>
            </a:r>
            <a:endParaRPr>
              <a:solidFill>
                <a:srgbClr val="FFFFFF"/>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319" name="Google Shape;319;p44"/>
          <p:cNvSpPr/>
          <p:nvPr/>
        </p:nvSpPr>
        <p:spPr>
          <a:xfrm>
            <a:off x="700538" y="2964450"/>
            <a:ext cx="1879200" cy="89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Matrix Algebra</a:t>
            </a:r>
            <a:endParaRPr>
              <a:solidFill>
                <a:srgbClr val="FFFFFF"/>
              </a:solidFill>
            </a:endParaRPr>
          </a:p>
          <a:p>
            <a:pPr indent="0" lvl="0" marL="0" rtl="0" algn="ctr">
              <a:spcBef>
                <a:spcPts val="0"/>
              </a:spcBef>
              <a:spcAft>
                <a:spcPts val="0"/>
              </a:spcAft>
              <a:buClr>
                <a:schemeClr val="dk1"/>
              </a:buClr>
              <a:buSzPts val="1100"/>
              <a:buFont typeface="Arial"/>
              <a:buNone/>
            </a:pPr>
            <a:r>
              <a:rPr lang="en">
                <a:solidFill>
                  <a:srgbClr val="FFFFFF"/>
                </a:solidFill>
              </a:rPr>
              <a:t>“The Matrix”</a:t>
            </a:r>
            <a:endParaRPr>
              <a:solidFill>
                <a:srgbClr val="FFFFFF"/>
              </a:solidFill>
            </a:endParaRPr>
          </a:p>
          <a:p>
            <a:pPr indent="0" lvl="0" marL="0" rtl="0" algn="l">
              <a:spcBef>
                <a:spcPts val="0"/>
              </a:spcBef>
              <a:spcAft>
                <a:spcPts val="0"/>
              </a:spcAft>
              <a:buNone/>
            </a:pPr>
            <a:r>
              <a:t/>
            </a:r>
            <a:endParaRPr/>
          </a:p>
        </p:txBody>
      </p:sp>
      <p:cxnSp>
        <p:nvCxnSpPr>
          <p:cNvPr id="320" name="Google Shape;320;p44"/>
          <p:cNvCxnSpPr>
            <a:stCxn id="319" idx="3"/>
            <a:endCxn id="317" idx="2"/>
          </p:cNvCxnSpPr>
          <p:nvPr/>
        </p:nvCxnSpPr>
        <p:spPr>
          <a:xfrm flipH="1" rot="10800000">
            <a:off x="2579738" y="2042700"/>
            <a:ext cx="1896000" cy="1369500"/>
          </a:xfrm>
          <a:prstGeom prst="straightConnector1">
            <a:avLst/>
          </a:prstGeom>
          <a:noFill/>
          <a:ln cap="flat" cmpd="sng" w="28575">
            <a:solidFill>
              <a:schemeClr val="dk2"/>
            </a:solidFill>
            <a:prstDash val="solid"/>
            <a:round/>
            <a:headEnd len="med" w="med" type="none"/>
            <a:tailEnd len="med" w="med" type="triangle"/>
          </a:ln>
        </p:spPr>
      </p:cxnSp>
      <p:cxnSp>
        <p:nvCxnSpPr>
          <p:cNvPr id="321" name="Google Shape;321;p44"/>
          <p:cNvCxnSpPr>
            <a:stCxn id="317" idx="2"/>
            <a:endCxn id="318" idx="1"/>
          </p:cNvCxnSpPr>
          <p:nvPr/>
        </p:nvCxnSpPr>
        <p:spPr>
          <a:xfrm>
            <a:off x="4475838" y="2042725"/>
            <a:ext cx="2088300" cy="1369500"/>
          </a:xfrm>
          <a:prstGeom prst="straightConnector1">
            <a:avLst/>
          </a:prstGeom>
          <a:noFill/>
          <a:ln cap="flat" cmpd="sng" w="28575">
            <a:solidFill>
              <a:schemeClr val="dk2"/>
            </a:solidFill>
            <a:prstDash val="solid"/>
            <a:round/>
            <a:headEnd len="med" w="med" type="none"/>
            <a:tailEnd len="med" w="med" type="triangle"/>
          </a:ln>
        </p:spPr>
      </p:cxnSp>
      <p:cxnSp>
        <p:nvCxnSpPr>
          <p:cNvPr id="322" name="Google Shape;322;p44"/>
          <p:cNvCxnSpPr>
            <a:stCxn id="319" idx="2"/>
            <a:endCxn id="318" idx="2"/>
          </p:cNvCxnSpPr>
          <p:nvPr/>
        </p:nvCxnSpPr>
        <p:spPr>
          <a:xfrm flipH="1" rot="-5400000">
            <a:off x="4571738" y="928350"/>
            <a:ext cx="600" cy="5863800"/>
          </a:xfrm>
          <a:prstGeom prst="bentConnector3">
            <a:avLst>
              <a:gd fmla="val 91912500" name="adj1"/>
            </a:avLst>
          </a:prstGeom>
          <a:noFill/>
          <a:ln cap="flat" cmpd="sng" w="38100">
            <a:solidFill>
              <a:schemeClr val="dk2"/>
            </a:solidFill>
            <a:prstDash val="dot"/>
            <a:round/>
            <a:headEnd len="med" w="med" type="none"/>
            <a:tailEnd len="med" w="med" type="stealth"/>
          </a:ln>
        </p:spPr>
      </p:cxnSp>
      <p:sp>
        <p:nvSpPr>
          <p:cNvPr id="323" name="Google Shape;323;p44"/>
          <p:cNvSpPr txBox="1"/>
          <p:nvPr/>
        </p:nvSpPr>
        <p:spPr>
          <a:xfrm>
            <a:off x="3775250" y="4427393"/>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Measurement</a:t>
            </a:r>
            <a:endParaRPr/>
          </a:p>
        </p:txBody>
      </p:sp>
      <p:sp>
        <p:nvSpPr>
          <p:cNvPr id="324" name="Google Shape;324;p44"/>
          <p:cNvSpPr txBox="1"/>
          <p:nvPr/>
        </p:nvSpPr>
        <p:spPr>
          <a:xfrm>
            <a:off x="4654525" y="3051008"/>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Analogy</a:t>
            </a:r>
            <a:endParaRPr/>
          </a:p>
        </p:txBody>
      </p:sp>
      <p:sp>
        <p:nvSpPr>
          <p:cNvPr id="325" name="Google Shape;325;p44"/>
          <p:cNvSpPr txBox="1"/>
          <p:nvPr/>
        </p:nvSpPr>
        <p:spPr>
          <a:xfrm>
            <a:off x="2882125" y="3051008"/>
            <a:ext cx="1593600" cy="36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Linkage</a:t>
            </a:r>
            <a:endParaRPr/>
          </a:p>
        </p:txBody>
      </p:sp>
      <p:pic>
        <p:nvPicPr>
          <p:cNvPr descr="figure1-300x297.png" id="326" name="Google Shape;326;p44"/>
          <p:cNvPicPr preferRelativeResize="0"/>
          <p:nvPr/>
        </p:nvPicPr>
        <p:blipFill>
          <a:blip r:embed="rId3">
            <a:alphaModFix/>
          </a:blip>
          <a:stretch>
            <a:fillRect/>
          </a:stretch>
        </p:blipFill>
        <p:spPr>
          <a:xfrm>
            <a:off x="6044350" y="248575"/>
            <a:ext cx="2048182" cy="2027700"/>
          </a:xfrm>
          <a:prstGeom prst="rect">
            <a:avLst/>
          </a:prstGeom>
          <a:noFill/>
          <a:ln>
            <a:noFill/>
          </a:ln>
        </p:spPr>
      </p:pic>
      <p:pic>
        <p:nvPicPr>
          <p:cNvPr descr="Each element of a matrix is ..." id="327" name="Google Shape;327;p44"/>
          <p:cNvPicPr preferRelativeResize="0"/>
          <p:nvPr/>
        </p:nvPicPr>
        <p:blipFill>
          <a:blip r:embed="rId4">
            <a:alphaModFix/>
          </a:blip>
          <a:stretch>
            <a:fillRect/>
          </a:stretch>
        </p:blipFill>
        <p:spPr>
          <a:xfrm>
            <a:off x="524463" y="1071200"/>
            <a:ext cx="2338775" cy="18932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Three ways of talking about "social networks"</a:t>
            </a:r>
            <a:endParaRPr/>
          </a:p>
        </p:txBody>
      </p:sp>
      <p:sp>
        <p:nvSpPr>
          <p:cNvPr id="333" name="Google Shape;333;p45"/>
          <p:cNvSpPr txBox="1"/>
          <p:nvPr>
            <p:ph idx="1" type="body"/>
          </p:nvPr>
        </p:nvSpPr>
        <p:spPr>
          <a:xfrm>
            <a:off x="311700" y="1225225"/>
            <a:ext cx="4999200" cy="33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t>Social network theory</a:t>
            </a:r>
            <a:r>
              <a:rPr lang="en"/>
              <a:t> is a branch of social science</a:t>
            </a:r>
            <a:endParaRPr/>
          </a:p>
          <a:p>
            <a:pPr indent="-304800" lvl="1" marL="914400" rtl="0" algn="l">
              <a:spcBef>
                <a:spcPts val="0"/>
              </a:spcBef>
              <a:spcAft>
                <a:spcPts val="0"/>
              </a:spcAft>
              <a:buSzPts val="1200"/>
              <a:buChar char="○"/>
            </a:pPr>
            <a:r>
              <a:rPr lang="en"/>
              <a:t>Social network theories tell us:</a:t>
            </a:r>
            <a:endParaRPr/>
          </a:p>
          <a:p>
            <a:pPr indent="-304800" lvl="2" marL="1371600" rtl="0" algn="l">
              <a:spcBef>
                <a:spcPts val="0"/>
              </a:spcBef>
              <a:spcAft>
                <a:spcPts val="0"/>
              </a:spcAft>
              <a:buSzPts val="1200"/>
              <a:buChar char="■"/>
            </a:pPr>
            <a:r>
              <a:rPr lang="en"/>
              <a:t>What networks do</a:t>
            </a:r>
            <a:endParaRPr/>
          </a:p>
          <a:p>
            <a:pPr indent="-304800" lvl="2" marL="1371600" rtl="0" algn="l">
              <a:spcBef>
                <a:spcPts val="0"/>
              </a:spcBef>
              <a:spcAft>
                <a:spcPts val="0"/>
              </a:spcAft>
              <a:buSzPts val="1200"/>
              <a:buChar char="■"/>
            </a:pPr>
            <a:r>
              <a:rPr lang="en"/>
              <a:t>How networks make a difference in the world</a:t>
            </a:r>
            <a:endParaRPr/>
          </a:p>
          <a:p>
            <a:pPr indent="-304800" lvl="2" marL="1371600" rtl="0" algn="l">
              <a:spcBef>
                <a:spcPts val="0"/>
              </a:spcBef>
              <a:spcAft>
                <a:spcPts val="0"/>
              </a:spcAft>
              <a:buSzPts val="1200"/>
              <a:buChar char="■"/>
            </a:pPr>
            <a:r>
              <a:rPr lang="en"/>
              <a:t>Where networks come from and how they change</a:t>
            </a:r>
            <a:endParaRPr/>
          </a:p>
          <a:p>
            <a:pPr indent="-304800" lvl="2" marL="1371600" rtl="0" algn="l">
              <a:spcBef>
                <a:spcPts val="0"/>
              </a:spcBef>
              <a:spcAft>
                <a:spcPts val="0"/>
              </a:spcAft>
              <a:buSzPts val="1200"/>
              <a:buChar char="■"/>
            </a:pPr>
            <a:r>
              <a:rPr lang="en"/>
              <a:t>Why networks look they way they do</a:t>
            </a:r>
            <a:endParaRPr/>
          </a:p>
          <a:p>
            <a:pPr indent="-304800" lvl="1" marL="914400" rtl="0" algn="l">
              <a:spcBef>
                <a:spcPts val="0"/>
              </a:spcBef>
              <a:spcAft>
                <a:spcPts val="0"/>
              </a:spcAft>
              <a:buSzPts val="1200"/>
              <a:buChar char="○"/>
            </a:pPr>
            <a:r>
              <a:rPr lang="en"/>
              <a:t>Example of social network theories we will look at:</a:t>
            </a:r>
            <a:endParaRPr/>
          </a:p>
          <a:p>
            <a:pPr indent="-304800" lvl="2" marL="1371600" rtl="0" algn="l">
              <a:spcBef>
                <a:spcPts val="0"/>
              </a:spcBef>
              <a:spcAft>
                <a:spcPts val="0"/>
              </a:spcAft>
              <a:buSzPts val="1200"/>
              <a:buChar char="■"/>
            </a:pPr>
            <a:r>
              <a:rPr lang="en"/>
              <a:t>Strength of Weak Ties Theory </a:t>
            </a:r>
            <a:endParaRPr/>
          </a:p>
          <a:p>
            <a:pPr indent="-304800" lvl="2" marL="1371600" rtl="0" algn="l">
              <a:spcBef>
                <a:spcPts val="0"/>
              </a:spcBef>
              <a:spcAft>
                <a:spcPts val="0"/>
              </a:spcAft>
              <a:buSzPts val="1200"/>
              <a:buChar char="■"/>
            </a:pPr>
            <a:r>
              <a:rPr lang="en"/>
              <a:t>Structural Holes Theory </a:t>
            </a:r>
            <a:endParaRPr/>
          </a:p>
          <a:p>
            <a:pPr indent="-304800" lvl="2" marL="1371600" rtl="0" algn="l">
              <a:spcBef>
                <a:spcPts val="0"/>
              </a:spcBef>
              <a:spcAft>
                <a:spcPts val="0"/>
              </a:spcAft>
              <a:buSzPts val="1200"/>
              <a:buChar char="■"/>
            </a:pPr>
            <a:r>
              <a:rPr lang="en"/>
              <a:t>Balance Theory</a:t>
            </a:r>
            <a:endParaRPr/>
          </a:p>
          <a:p>
            <a:pPr indent="-304800" lvl="2" marL="1371600" rtl="0" algn="l">
              <a:spcBef>
                <a:spcPts val="0"/>
              </a:spcBef>
              <a:spcAft>
                <a:spcPts val="0"/>
              </a:spcAft>
              <a:buSzPts val="1200"/>
              <a:buChar char="■"/>
            </a:pPr>
            <a:r>
              <a:rPr lang="en"/>
              <a:t>Theory of Cognitive Social Structures</a:t>
            </a:r>
            <a:endParaRPr/>
          </a:p>
          <a:p>
            <a:pPr indent="-304800" lvl="2" marL="1371600" rtl="0" algn="l">
              <a:spcBef>
                <a:spcPts val="0"/>
              </a:spcBef>
              <a:spcAft>
                <a:spcPts val="0"/>
              </a:spcAft>
              <a:buSzPts val="1200"/>
              <a:buChar char="■"/>
            </a:pPr>
            <a:r>
              <a:rPr lang="en"/>
              <a:t>Theories of Network Diffusion and Contagion</a:t>
            </a:r>
            <a:endParaRPr/>
          </a:p>
          <a:p>
            <a:pPr indent="0" lvl="0" marL="914400" rtl="0" algn="l">
              <a:spcBef>
                <a:spcPts val="0"/>
              </a:spcBef>
              <a:spcAft>
                <a:spcPts val="0"/>
              </a:spcAft>
              <a:buNone/>
            </a:pPr>
            <a:r>
              <a:t/>
            </a:r>
            <a:endParaRPr/>
          </a:p>
        </p:txBody>
      </p:sp>
      <p:pic>
        <p:nvPicPr>
          <p:cNvPr descr="16572058-Abstract-word-cloud-for-Network-theory-with-related-tags-and-terms-Stock-Photo.jpg" id="334" name="Google Shape;334;p45"/>
          <p:cNvPicPr preferRelativeResize="0"/>
          <p:nvPr/>
        </p:nvPicPr>
        <p:blipFill>
          <a:blip r:embed="rId3">
            <a:alphaModFix/>
          </a:blip>
          <a:stretch>
            <a:fillRect/>
          </a:stretch>
        </p:blipFill>
        <p:spPr>
          <a:xfrm>
            <a:off x="5213400" y="1008275"/>
            <a:ext cx="3618899" cy="37879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Three ways of talking about "social networks"</a:t>
            </a:r>
            <a:endParaRPr/>
          </a:p>
        </p:txBody>
      </p:sp>
      <p:sp>
        <p:nvSpPr>
          <p:cNvPr id="340" name="Google Shape;340;p46"/>
          <p:cNvSpPr txBox="1"/>
          <p:nvPr>
            <p:ph idx="1" type="body"/>
          </p:nvPr>
        </p:nvSpPr>
        <p:spPr>
          <a:xfrm>
            <a:off x="311700" y="1225225"/>
            <a:ext cx="5502600" cy="33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B7B7B7"/>
              </a:buClr>
              <a:buSzPts val="1400"/>
              <a:buChar char="●"/>
            </a:pPr>
            <a:r>
              <a:rPr b="1" lang="en">
                <a:solidFill>
                  <a:srgbClr val="B7B7B7"/>
                </a:solidFill>
              </a:rPr>
              <a:t>Social network theory</a:t>
            </a:r>
            <a:r>
              <a:rPr lang="en">
                <a:solidFill>
                  <a:srgbClr val="B7B7B7"/>
                </a:solidFill>
              </a:rPr>
              <a:t> is a branch of social science</a:t>
            </a:r>
            <a:endParaRPr>
              <a:solidFill>
                <a:srgbClr val="B7B7B7"/>
              </a:solidFill>
            </a:endParaRPr>
          </a:p>
          <a:p>
            <a:pPr indent="-304800" lvl="1" marL="914400" rtl="0" algn="l">
              <a:spcBef>
                <a:spcPts val="0"/>
              </a:spcBef>
              <a:spcAft>
                <a:spcPts val="0"/>
              </a:spcAft>
              <a:buClr>
                <a:srgbClr val="B7B7B7"/>
              </a:buClr>
              <a:buSzPts val="1200"/>
              <a:buChar char="○"/>
            </a:pPr>
            <a:r>
              <a:rPr lang="en">
                <a:solidFill>
                  <a:srgbClr val="B7B7B7"/>
                </a:solidFill>
              </a:rPr>
              <a:t>Social network theories tell us:</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What networks do</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How networks make a difference in the world</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Where networks come from and how they change</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Why networks look they way they do</a:t>
            </a:r>
            <a:endParaRPr b="1">
              <a:solidFill>
                <a:srgbClr val="B7B7B7"/>
              </a:solidFill>
            </a:endParaRPr>
          </a:p>
          <a:p>
            <a:pPr indent="-317500" lvl="0" marL="457200" rtl="0" algn="l">
              <a:spcBef>
                <a:spcPts val="0"/>
              </a:spcBef>
              <a:spcAft>
                <a:spcPts val="0"/>
              </a:spcAft>
              <a:buSzPts val="1400"/>
              <a:buChar char="●"/>
            </a:pPr>
            <a:r>
              <a:rPr b="1" lang="en"/>
              <a:t>Graph Theory </a:t>
            </a:r>
            <a:r>
              <a:rPr lang="en"/>
              <a:t>is a branch of </a:t>
            </a:r>
            <a:r>
              <a:rPr i="1" lang="en"/>
              <a:t>pure</a:t>
            </a:r>
            <a:r>
              <a:rPr lang="en"/>
              <a:t> </a:t>
            </a:r>
            <a:r>
              <a:rPr i="1" lang="en"/>
              <a:t>mathematics</a:t>
            </a:r>
            <a:endParaRPr/>
          </a:p>
          <a:p>
            <a:pPr indent="-304800" lvl="1" marL="914400" rtl="0" algn="l">
              <a:spcBef>
                <a:spcPts val="0"/>
              </a:spcBef>
              <a:spcAft>
                <a:spcPts val="0"/>
              </a:spcAft>
              <a:buSzPts val="1200"/>
              <a:buChar char="○"/>
            </a:pPr>
            <a:r>
              <a:rPr lang="en"/>
              <a:t>We use an </a:t>
            </a:r>
            <a:r>
              <a:rPr i="1" lang="en"/>
              <a:t>analogies</a:t>
            </a:r>
            <a:r>
              <a:rPr lang="en"/>
              <a:t> to link social </a:t>
            </a:r>
            <a:r>
              <a:rPr b="1" lang="en"/>
              <a:t>network theory concepts</a:t>
            </a:r>
            <a:r>
              <a:rPr lang="en"/>
              <a:t> to </a:t>
            </a:r>
            <a:r>
              <a:rPr b="1" lang="en"/>
              <a:t>graph theory concepts</a:t>
            </a:r>
            <a:endParaRPr b="1"/>
          </a:p>
          <a:p>
            <a:pPr indent="-304800" lvl="2" marL="1371600" rtl="0" algn="l">
              <a:spcBef>
                <a:spcPts val="0"/>
              </a:spcBef>
              <a:spcAft>
                <a:spcPts val="0"/>
              </a:spcAft>
              <a:buSzPts val="1200"/>
              <a:buChar char="■"/>
            </a:pPr>
            <a:r>
              <a:rPr lang="en"/>
              <a:t>People → points (nodes, vertices)</a:t>
            </a:r>
            <a:endParaRPr/>
          </a:p>
          <a:p>
            <a:pPr indent="-304800" lvl="2" marL="1371600" rtl="0" algn="l">
              <a:spcBef>
                <a:spcPts val="0"/>
              </a:spcBef>
              <a:spcAft>
                <a:spcPts val="0"/>
              </a:spcAft>
              <a:buSzPts val="1200"/>
              <a:buChar char="■"/>
            </a:pPr>
            <a:r>
              <a:rPr lang="en"/>
              <a:t>Relations between people →  lines (links, ties, edges)</a:t>
            </a:r>
            <a:endParaRPr/>
          </a:p>
          <a:p>
            <a:pPr indent="-304800" lvl="2" marL="1371600" rtl="0" algn="l">
              <a:spcBef>
                <a:spcPts val="0"/>
              </a:spcBef>
              <a:spcAft>
                <a:spcPts val="0"/>
              </a:spcAft>
              <a:buSzPts val="1200"/>
              <a:buChar char="■"/>
            </a:pPr>
            <a:r>
              <a:rPr lang="en"/>
              <a:t>Popularity →  Number of edges attached to a node</a:t>
            </a:r>
            <a:endParaRPr/>
          </a:p>
          <a:p>
            <a:pPr indent="-304800" lvl="2" marL="1371600" rtl="0" algn="l">
              <a:spcBef>
                <a:spcPts val="0"/>
              </a:spcBef>
              <a:spcAft>
                <a:spcPts val="0"/>
              </a:spcAft>
              <a:buSzPts val="1200"/>
              <a:buChar char="■"/>
            </a:pPr>
            <a:r>
              <a:rPr lang="en"/>
              <a:t>Groups → Subsets of nodes and ties in a graph</a:t>
            </a:r>
            <a:endParaRPr/>
          </a:p>
          <a:p>
            <a:pPr indent="0" lvl="0" marL="914400" rtl="0" algn="l">
              <a:spcBef>
                <a:spcPts val="0"/>
              </a:spcBef>
              <a:spcAft>
                <a:spcPts val="0"/>
              </a:spcAft>
              <a:buNone/>
            </a:pPr>
            <a:r>
              <a:t/>
            </a:r>
            <a:endParaRPr/>
          </a:p>
          <a:p>
            <a:pPr indent="0" lvl="0" marL="0" marR="0" rtl="0" algn="l">
              <a:lnSpc>
                <a:spcPct val="115000"/>
              </a:lnSpc>
              <a:spcBef>
                <a:spcPts val="0"/>
              </a:spcBef>
              <a:spcAft>
                <a:spcPts val="1600"/>
              </a:spcAft>
              <a:buNone/>
            </a:pPr>
            <a:r>
              <a:t/>
            </a:r>
            <a:endParaRPr/>
          </a:p>
        </p:txBody>
      </p:sp>
      <p:pic>
        <p:nvPicPr>
          <p:cNvPr descr="figure1-300x297.png" id="341" name="Google Shape;341;p46"/>
          <p:cNvPicPr preferRelativeResize="0"/>
          <p:nvPr/>
        </p:nvPicPr>
        <p:blipFill>
          <a:blip r:embed="rId3">
            <a:alphaModFix/>
          </a:blip>
          <a:stretch>
            <a:fillRect/>
          </a:stretch>
        </p:blipFill>
        <p:spPr>
          <a:xfrm>
            <a:off x="5814300" y="1314613"/>
            <a:ext cx="3207300" cy="3175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Three ways of talking about "social networks"</a:t>
            </a:r>
            <a:endParaRPr/>
          </a:p>
        </p:txBody>
      </p:sp>
      <p:sp>
        <p:nvSpPr>
          <p:cNvPr id="347" name="Google Shape;347;p47"/>
          <p:cNvSpPr txBox="1"/>
          <p:nvPr>
            <p:ph idx="1" type="body"/>
          </p:nvPr>
        </p:nvSpPr>
        <p:spPr>
          <a:xfrm>
            <a:off x="311700" y="1225225"/>
            <a:ext cx="5502600" cy="33540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B7B7B7"/>
              </a:buClr>
              <a:buSzPts val="1400"/>
              <a:buChar char="●"/>
            </a:pPr>
            <a:r>
              <a:rPr b="1" lang="en">
                <a:solidFill>
                  <a:srgbClr val="B7B7B7"/>
                </a:solidFill>
              </a:rPr>
              <a:t>Social network theory</a:t>
            </a:r>
            <a:r>
              <a:rPr lang="en">
                <a:solidFill>
                  <a:srgbClr val="B7B7B7"/>
                </a:solidFill>
              </a:rPr>
              <a:t> is a branch of social science</a:t>
            </a:r>
            <a:endParaRPr>
              <a:solidFill>
                <a:srgbClr val="B7B7B7"/>
              </a:solidFill>
            </a:endParaRPr>
          </a:p>
          <a:p>
            <a:pPr indent="-304800" lvl="1" marL="914400" rtl="0" algn="l">
              <a:spcBef>
                <a:spcPts val="0"/>
              </a:spcBef>
              <a:spcAft>
                <a:spcPts val="0"/>
              </a:spcAft>
              <a:buClr>
                <a:srgbClr val="B7B7B7"/>
              </a:buClr>
              <a:buSzPts val="1200"/>
              <a:buChar char="○"/>
            </a:pPr>
            <a:r>
              <a:rPr lang="en">
                <a:solidFill>
                  <a:srgbClr val="B7B7B7"/>
                </a:solidFill>
              </a:rPr>
              <a:t>Social network theories tell us:</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What networks do</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How networks make a difference in the world</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Where networks come from and how they change</a:t>
            </a:r>
            <a:endParaRPr>
              <a:solidFill>
                <a:srgbClr val="B7B7B7"/>
              </a:solidFill>
            </a:endParaRPr>
          </a:p>
          <a:p>
            <a:pPr indent="-304800" lvl="2" marL="1371600" rtl="0" algn="l">
              <a:spcBef>
                <a:spcPts val="0"/>
              </a:spcBef>
              <a:spcAft>
                <a:spcPts val="0"/>
              </a:spcAft>
              <a:buClr>
                <a:srgbClr val="B7B7B7"/>
              </a:buClr>
              <a:buSzPts val="1200"/>
              <a:buChar char="■"/>
            </a:pPr>
            <a:r>
              <a:rPr lang="en">
                <a:solidFill>
                  <a:srgbClr val="B7B7B7"/>
                </a:solidFill>
              </a:rPr>
              <a:t>Why networks look they way they do</a:t>
            </a:r>
            <a:endParaRPr b="1">
              <a:solidFill>
                <a:srgbClr val="B7B7B7"/>
              </a:solidFill>
            </a:endParaRPr>
          </a:p>
          <a:p>
            <a:pPr indent="-317500" lvl="0" marL="457200" rtl="0" algn="l">
              <a:spcBef>
                <a:spcPts val="0"/>
              </a:spcBef>
              <a:spcAft>
                <a:spcPts val="0"/>
              </a:spcAft>
              <a:buClr>
                <a:srgbClr val="000000"/>
              </a:buClr>
              <a:buSzPts val="1400"/>
              <a:buChar char="●"/>
            </a:pPr>
            <a:r>
              <a:rPr b="1" lang="en">
                <a:solidFill>
                  <a:srgbClr val="000000"/>
                </a:solidFill>
              </a:rPr>
              <a:t>Matrix algebra</a:t>
            </a:r>
            <a:r>
              <a:rPr lang="en">
                <a:solidFill>
                  <a:srgbClr val="000000"/>
                </a:solidFill>
              </a:rPr>
              <a:t> is a branch of </a:t>
            </a:r>
            <a:r>
              <a:rPr i="1" lang="en">
                <a:solidFill>
                  <a:srgbClr val="000000"/>
                </a:solidFill>
              </a:rPr>
              <a:t>applied mathematics </a:t>
            </a:r>
            <a:endParaRPr>
              <a:solidFill>
                <a:srgbClr val="000000"/>
              </a:solidFill>
            </a:endParaRPr>
          </a:p>
          <a:p>
            <a:pPr indent="-304800" lvl="1" marL="914400" rtl="0" algn="l">
              <a:spcBef>
                <a:spcPts val="0"/>
              </a:spcBef>
              <a:spcAft>
                <a:spcPts val="0"/>
              </a:spcAft>
              <a:buClr>
                <a:srgbClr val="000000"/>
              </a:buClr>
              <a:buSzPts val="1200"/>
              <a:buChar char="○"/>
            </a:pPr>
            <a:r>
              <a:rPr lang="en">
                <a:solidFill>
                  <a:srgbClr val="000000"/>
                </a:solidFill>
              </a:rPr>
              <a:t>“Easy” way of measuring (attaching numbers to) graph theory concepts</a:t>
            </a:r>
            <a:endParaRPr>
              <a:solidFill>
                <a:srgbClr val="000000"/>
              </a:solidFill>
            </a:endParaRPr>
          </a:p>
          <a:p>
            <a:pPr indent="-304800" lvl="2" marL="1371600" rtl="0" algn="l">
              <a:spcBef>
                <a:spcPts val="0"/>
              </a:spcBef>
              <a:spcAft>
                <a:spcPts val="0"/>
              </a:spcAft>
              <a:buClr>
                <a:srgbClr val="000000"/>
              </a:buClr>
              <a:buSzPts val="1200"/>
              <a:buChar char="■"/>
            </a:pPr>
            <a:r>
              <a:rPr lang="en"/>
              <a:t>People → rows and columns</a:t>
            </a:r>
            <a:endParaRPr/>
          </a:p>
          <a:p>
            <a:pPr indent="-304800" lvl="2" marL="1371600" rtl="0" algn="l">
              <a:spcBef>
                <a:spcPts val="0"/>
              </a:spcBef>
              <a:spcAft>
                <a:spcPts val="0"/>
              </a:spcAft>
              <a:buSzPts val="1200"/>
              <a:buChar char="■"/>
            </a:pPr>
            <a:r>
              <a:rPr lang="en"/>
              <a:t>Relations between people →  entries in the matrix</a:t>
            </a:r>
            <a:endParaRPr/>
          </a:p>
          <a:p>
            <a:pPr indent="-304800" lvl="2" marL="1371600" rtl="0" algn="l">
              <a:spcBef>
                <a:spcPts val="0"/>
              </a:spcBef>
              <a:spcAft>
                <a:spcPts val="0"/>
              </a:spcAft>
              <a:buClr>
                <a:srgbClr val="000000"/>
              </a:buClr>
              <a:buSzPts val="1200"/>
              <a:buChar char="■"/>
            </a:pPr>
            <a:r>
              <a:rPr lang="en">
                <a:solidFill>
                  <a:srgbClr val="000000"/>
                </a:solidFill>
              </a:rPr>
              <a:t>Popularity </a:t>
            </a:r>
            <a:r>
              <a:rPr lang="en"/>
              <a:t>→</a:t>
            </a:r>
            <a:r>
              <a:rPr lang="en">
                <a:solidFill>
                  <a:srgbClr val="000000"/>
                </a:solidFill>
              </a:rPr>
              <a:t> Sum of row entries in adjacency matrix</a:t>
            </a:r>
            <a:endParaRPr>
              <a:solidFill>
                <a:srgbClr val="000000"/>
              </a:solidFill>
            </a:endParaRPr>
          </a:p>
          <a:p>
            <a:pPr indent="0" lvl="0" marL="0" marR="0" rtl="0" algn="l">
              <a:lnSpc>
                <a:spcPct val="115000"/>
              </a:lnSpc>
              <a:spcBef>
                <a:spcPts val="0"/>
              </a:spcBef>
              <a:spcAft>
                <a:spcPts val="1600"/>
              </a:spcAft>
              <a:buNone/>
            </a:pPr>
            <a:r>
              <a:t/>
            </a:r>
            <a:endParaRPr/>
          </a:p>
        </p:txBody>
      </p:sp>
      <p:pic>
        <p:nvPicPr>
          <p:cNvPr descr="Each element of a matrix is ..." id="348" name="Google Shape;348;p47"/>
          <p:cNvPicPr preferRelativeResize="0"/>
          <p:nvPr/>
        </p:nvPicPr>
        <p:blipFill>
          <a:blip r:embed="rId3">
            <a:alphaModFix/>
          </a:blip>
          <a:stretch>
            <a:fillRect/>
          </a:stretch>
        </p:blipFill>
        <p:spPr>
          <a:xfrm>
            <a:off x="5640225" y="1610225"/>
            <a:ext cx="3192075" cy="25840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2" name="Shape 352"/>
        <p:cNvGrpSpPr/>
        <p:nvPr/>
      </p:nvGrpSpPr>
      <p:grpSpPr>
        <a:xfrm>
          <a:off x="0" y="0"/>
          <a:ext cx="0" cy="0"/>
          <a:chOff x="0" y="0"/>
          <a:chExt cx="0" cy="0"/>
        </a:xfrm>
      </p:grpSpPr>
      <p:sp>
        <p:nvSpPr>
          <p:cNvPr id="353" name="Google Shape;353;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Walks, Paths, and Cycles</a:t>
            </a:r>
            <a:endParaRPr/>
          </a:p>
        </p:txBody>
      </p:sp>
      <p:sp>
        <p:nvSpPr>
          <p:cNvPr id="354" name="Google Shape;354;p48"/>
          <p:cNvSpPr txBox="1"/>
          <p:nvPr>
            <p:ph idx="1" type="body"/>
          </p:nvPr>
        </p:nvSpPr>
        <p:spPr>
          <a:xfrm>
            <a:off x="311700" y="1225225"/>
            <a:ext cx="8457300" cy="1618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a:t>
            </a:r>
            <a:r>
              <a:rPr b="1" lang="en"/>
              <a:t>walk</a:t>
            </a:r>
            <a:r>
              <a:rPr lang="en"/>
              <a:t> is an alternating sequence of </a:t>
            </a:r>
            <a:r>
              <a:rPr b="1" lang="en"/>
              <a:t>vertices</a:t>
            </a:r>
            <a:r>
              <a:rPr lang="en"/>
              <a:t> and </a:t>
            </a:r>
            <a:r>
              <a:rPr b="1" lang="en"/>
              <a:t>edges</a:t>
            </a:r>
            <a:r>
              <a:rPr lang="en"/>
              <a:t> starting with an origin vertex u</a:t>
            </a:r>
            <a:r>
              <a:rPr baseline="-25000" lang="en"/>
              <a:t>i</a:t>
            </a:r>
            <a:r>
              <a:rPr lang="en"/>
              <a:t> ending with a destination vertex u</a:t>
            </a:r>
            <a:r>
              <a:rPr baseline="-25000" lang="en"/>
              <a:t>j</a:t>
            </a:r>
            <a:r>
              <a:rPr lang="en"/>
              <a:t> such that:</a:t>
            </a:r>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There is an edge linking each successive vertex in the sequence </a:t>
            </a:r>
            <a:endParaRPr b="1">
              <a:solidFill>
                <a:srgbClr val="FF0000"/>
              </a:solidFill>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Excluding the origin and destination vertices</a:t>
            </a:r>
            <a:endParaRPr b="1">
              <a:solidFill>
                <a:srgbClr val="FF0000"/>
              </a:solidFill>
            </a:endParaRPr>
          </a:p>
          <a:p>
            <a:pPr indent="0" lvl="0" marL="0" rtl="0" algn="l">
              <a:lnSpc>
                <a:spcPct val="115000"/>
              </a:lnSpc>
              <a:spcBef>
                <a:spcPts val="0"/>
              </a:spcBef>
              <a:spcAft>
                <a:spcPts val="0"/>
              </a:spcAft>
              <a:buNone/>
            </a:pPr>
            <a:r>
              <a:t/>
            </a:r>
            <a:endParaRPr/>
          </a:p>
        </p:txBody>
      </p:sp>
      <p:pic>
        <p:nvPicPr>
          <p:cNvPr descr="GF5.png" id="355" name="Google Shape;355;p48"/>
          <p:cNvPicPr preferRelativeResize="0"/>
          <p:nvPr/>
        </p:nvPicPr>
        <p:blipFill>
          <a:blip r:embed="rId3">
            <a:alphaModFix/>
          </a:blip>
          <a:stretch>
            <a:fillRect/>
          </a:stretch>
        </p:blipFill>
        <p:spPr>
          <a:xfrm>
            <a:off x="1081856" y="3081200"/>
            <a:ext cx="6980275" cy="1838000"/>
          </a:xfrm>
          <a:prstGeom prst="rect">
            <a:avLst/>
          </a:prstGeom>
          <a:noFill/>
          <a:ln>
            <a:noFill/>
          </a:ln>
        </p:spPr>
      </p:pic>
      <p:sp>
        <p:nvSpPr>
          <p:cNvPr id="356" name="Google Shape;356;p48"/>
          <p:cNvSpPr/>
          <p:nvPr/>
        </p:nvSpPr>
        <p:spPr>
          <a:xfrm>
            <a:off x="2694250" y="3081100"/>
            <a:ext cx="6225600" cy="1823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 name="Shape 360"/>
        <p:cNvGrpSpPr/>
        <p:nvPr/>
      </p:nvGrpSpPr>
      <p:grpSpPr>
        <a:xfrm>
          <a:off x="0" y="0"/>
          <a:ext cx="0" cy="0"/>
          <a:chOff x="0" y="0"/>
          <a:chExt cx="0" cy="0"/>
        </a:xfrm>
      </p:grpSpPr>
      <p:sp>
        <p:nvSpPr>
          <p:cNvPr id="361" name="Google Shape;361;p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Walks, Paths, and Cycles</a:t>
            </a:r>
            <a:endParaRPr/>
          </a:p>
        </p:txBody>
      </p:sp>
      <p:sp>
        <p:nvSpPr>
          <p:cNvPr id="362" name="Google Shape;362;p49"/>
          <p:cNvSpPr txBox="1"/>
          <p:nvPr>
            <p:ph idx="1" type="body"/>
          </p:nvPr>
        </p:nvSpPr>
        <p:spPr>
          <a:xfrm>
            <a:off x="311700" y="1225225"/>
            <a:ext cx="8457300" cy="1870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a:t>
            </a:r>
            <a:r>
              <a:rPr b="1" lang="en"/>
              <a:t>walk</a:t>
            </a:r>
            <a:r>
              <a:rPr lang="en"/>
              <a:t> is an alternating sequence of </a:t>
            </a:r>
            <a:r>
              <a:rPr b="1" lang="en"/>
              <a:t>vertices</a:t>
            </a:r>
            <a:r>
              <a:rPr lang="en"/>
              <a:t> and </a:t>
            </a:r>
            <a:r>
              <a:rPr b="1" lang="en"/>
              <a:t>edges</a:t>
            </a:r>
            <a:r>
              <a:rPr lang="en"/>
              <a:t> starting with an origin vertex u</a:t>
            </a:r>
            <a:r>
              <a:rPr baseline="-25000" lang="en"/>
              <a:t>i</a:t>
            </a:r>
            <a:r>
              <a:rPr lang="en"/>
              <a:t> ending with a destination vertex u</a:t>
            </a:r>
            <a:r>
              <a:rPr baseline="-25000" lang="en"/>
              <a:t>j</a:t>
            </a:r>
            <a:r>
              <a:rPr lang="en"/>
              <a:t> such that:</a:t>
            </a:r>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There is an edge linking each successive vertex in the sequence </a:t>
            </a:r>
            <a:endParaRPr b="1">
              <a:solidFill>
                <a:srgbClr val="FF0000"/>
              </a:solidFill>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Excluding the origin and destination vertices</a:t>
            </a:r>
            <a:endParaRPr/>
          </a:p>
          <a:p>
            <a:pPr indent="-342900" lvl="0" marL="457200" rtl="0" algn="l">
              <a:lnSpc>
                <a:spcPct val="115000"/>
              </a:lnSpc>
              <a:spcBef>
                <a:spcPts val="0"/>
              </a:spcBef>
              <a:spcAft>
                <a:spcPts val="0"/>
              </a:spcAft>
              <a:buSzPts val="1800"/>
              <a:buChar char="●"/>
            </a:pPr>
            <a:r>
              <a:rPr lang="en"/>
              <a:t>A </a:t>
            </a:r>
            <a:r>
              <a:rPr b="1" lang="en"/>
              <a:t>walk</a:t>
            </a:r>
            <a:r>
              <a:rPr lang="en"/>
              <a:t> is called a </a:t>
            </a:r>
            <a:r>
              <a:rPr b="1" lang="en"/>
              <a:t>path</a:t>
            </a:r>
            <a:r>
              <a:rPr lang="en"/>
              <a:t> if all edges and all vertices appear </a:t>
            </a:r>
            <a:r>
              <a:rPr b="1" lang="en"/>
              <a:t>only once</a:t>
            </a:r>
            <a:r>
              <a:rPr lang="en"/>
              <a:t> in the sequence</a:t>
            </a:r>
            <a:endParaRPr/>
          </a:p>
          <a:p>
            <a:pPr indent="0" lvl="0" marL="0" rtl="0" algn="l">
              <a:lnSpc>
                <a:spcPct val="115000"/>
              </a:lnSpc>
              <a:spcBef>
                <a:spcPts val="0"/>
              </a:spcBef>
              <a:spcAft>
                <a:spcPts val="0"/>
              </a:spcAft>
              <a:buNone/>
            </a:pPr>
            <a:r>
              <a:t/>
            </a:r>
            <a:endParaRPr/>
          </a:p>
        </p:txBody>
      </p:sp>
      <p:pic>
        <p:nvPicPr>
          <p:cNvPr descr="GF5.png" id="363" name="Google Shape;363;p49"/>
          <p:cNvPicPr preferRelativeResize="0"/>
          <p:nvPr/>
        </p:nvPicPr>
        <p:blipFill>
          <a:blip r:embed="rId3">
            <a:alphaModFix/>
          </a:blip>
          <a:stretch>
            <a:fillRect/>
          </a:stretch>
        </p:blipFill>
        <p:spPr>
          <a:xfrm>
            <a:off x="1081856" y="3081200"/>
            <a:ext cx="6980275" cy="1838000"/>
          </a:xfrm>
          <a:prstGeom prst="rect">
            <a:avLst/>
          </a:prstGeom>
          <a:noFill/>
          <a:ln>
            <a:noFill/>
          </a:ln>
        </p:spPr>
      </p:pic>
      <p:sp>
        <p:nvSpPr>
          <p:cNvPr id="364" name="Google Shape;364;p49"/>
          <p:cNvSpPr/>
          <p:nvPr/>
        </p:nvSpPr>
        <p:spPr>
          <a:xfrm>
            <a:off x="4695325" y="3081100"/>
            <a:ext cx="4224300" cy="1823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8" name="Shape 368"/>
        <p:cNvGrpSpPr/>
        <p:nvPr/>
      </p:nvGrpSpPr>
      <p:grpSpPr>
        <a:xfrm>
          <a:off x="0" y="0"/>
          <a:ext cx="0" cy="0"/>
          <a:chOff x="0" y="0"/>
          <a:chExt cx="0" cy="0"/>
        </a:xfrm>
      </p:grpSpPr>
      <p:sp>
        <p:nvSpPr>
          <p:cNvPr id="369" name="Google Shape;369;p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Walks, Paths, and Cycles</a:t>
            </a:r>
            <a:endParaRPr/>
          </a:p>
        </p:txBody>
      </p:sp>
      <p:sp>
        <p:nvSpPr>
          <p:cNvPr id="370" name="Google Shape;370;p50"/>
          <p:cNvSpPr txBox="1"/>
          <p:nvPr>
            <p:ph idx="1" type="body"/>
          </p:nvPr>
        </p:nvSpPr>
        <p:spPr>
          <a:xfrm>
            <a:off x="311700" y="1225225"/>
            <a:ext cx="8457300" cy="1870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a:t>
            </a:r>
            <a:r>
              <a:rPr b="1" lang="en"/>
              <a:t>walk</a:t>
            </a:r>
            <a:r>
              <a:rPr lang="en"/>
              <a:t> is an alternating sequence of vertices and edges starting with an origin vertex u</a:t>
            </a:r>
            <a:r>
              <a:rPr baseline="-25000" lang="en"/>
              <a:t>i</a:t>
            </a:r>
            <a:r>
              <a:rPr lang="en"/>
              <a:t> ending with a destination vertex u</a:t>
            </a:r>
            <a:r>
              <a:rPr baseline="-25000" lang="en"/>
              <a:t>j</a:t>
            </a:r>
            <a:r>
              <a:rPr lang="en"/>
              <a:t> such that:</a:t>
            </a:r>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There is an edge linking each successive vertex in the sequence </a:t>
            </a:r>
            <a:endParaRPr b="1">
              <a:solidFill>
                <a:srgbClr val="FF0000"/>
              </a:solidFill>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Excluding the origin and destination vertices</a:t>
            </a:r>
            <a:endParaRPr b="1">
              <a:solidFill>
                <a:srgbClr val="FF0000"/>
              </a:solidFill>
            </a:endParaRPr>
          </a:p>
          <a:p>
            <a:pPr indent="-342900" lvl="0" marL="457200" rtl="0" algn="l">
              <a:lnSpc>
                <a:spcPct val="115000"/>
              </a:lnSpc>
              <a:spcBef>
                <a:spcPts val="0"/>
              </a:spcBef>
              <a:spcAft>
                <a:spcPts val="0"/>
              </a:spcAft>
              <a:buSzPts val="1800"/>
              <a:buChar char="●"/>
            </a:pPr>
            <a:r>
              <a:rPr lang="en"/>
              <a:t>A </a:t>
            </a:r>
            <a:r>
              <a:rPr b="1" lang="en"/>
              <a:t>walk</a:t>
            </a:r>
            <a:r>
              <a:rPr lang="en"/>
              <a:t> is called a </a:t>
            </a:r>
            <a:r>
              <a:rPr b="1" lang="en"/>
              <a:t>path</a:t>
            </a:r>
            <a:r>
              <a:rPr lang="en"/>
              <a:t> if all edges and all vertices appear </a:t>
            </a:r>
            <a:r>
              <a:rPr b="1" lang="en"/>
              <a:t>only once</a:t>
            </a:r>
            <a:r>
              <a:rPr lang="en"/>
              <a:t> in the sequence</a:t>
            </a:r>
            <a:endParaRPr/>
          </a:p>
          <a:p>
            <a:pPr indent="0" lvl="0" marL="0" rtl="0" algn="l">
              <a:lnSpc>
                <a:spcPct val="115000"/>
              </a:lnSpc>
              <a:spcBef>
                <a:spcPts val="0"/>
              </a:spcBef>
              <a:spcAft>
                <a:spcPts val="0"/>
              </a:spcAft>
              <a:buNone/>
            </a:pPr>
            <a:r>
              <a:t/>
            </a:r>
            <a:endParaRPr/>
          </a:p>
        </p:txBody>
      </p:sp>
      <p:pic>
        <p:nvPicPr>
          <p:cNvPr descr="GF5.png" id="371" name="Google Shape;371;p50"/>
          <p:cNvPicPr preferRelativeResize="0"/>
          <p:nvPr/>
        </p:nvPicPr>
        <p:blipFill>
          <a:blip r:embed="rId3">
            <a:alphaModFix/>
          </a:blip>
          <a:stretch>
            <a:fillRect/>
          </a:stretch>
        </p:blipFill>
        <p:spPr>
          <a:xfrm>
            <a:off x="1081856" y="3081200"/>
            <a:ext cx="6980275" cy="1838000"/>
          </a:xfrm>
          <a:prstGeom prst="rect">
            <a:avLst/>
          </a:prstGeom>
          <a:noFill/>
          <a:ln>
            <a:noFill/>
          </a:ln>
        </p:spPr>
      </p:pic>
      <p:sp>
        <p:nvSpPr>
          <p:cNvPr id="372" name="Google Shape;372;p50"/>
          <p:cNvSpPr/>
          <p:nvPr/>
        </p:nvSpPr>
        <p:spPr>
          <a:xfrm>
            <a:off x="4695325" y="3081100"/>
            <a:ext cx="4224300" cy="1823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50"/>
          <p:cNvSpPr txBox="1"/>
          <p:nvPr/>
        </p:nvSpPr>
        <p:spPr>
          <a:xfrm>
            <a:off x="4828725" y="3174025"/>
            <a:ext cx="877800" cy="74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A path of length 3!</a:t>
            </a:r>
            <a:endParaRPr b="1" sz="1800">
              <a:latin typeface="Economica"/>
              <a:ea typeface="Economica"/>
              <a:cs typeface="Economica"/>
              <a:sym typeface="Economica"/>
            </a:endParaRPr>
          </a:p>
        </p:txBody>
      </p:sp>
      <p:cxnSp>
        <p:nvCxnSpPr>
          <p:cNvPr id="374" name="Google Shape;374;p50"/>
          <p:cNvCxnSpPr>
            <a:stCxn id="373" idx="1"/>
          </p:cNvCxnSpPr>
          <p:nvPr/>
        </p:nvCxnSpPr>
        <p:spPr>
          <a:xfrm flipH="1">
            <a:off x="4384125" y="3544525"/>
            <a:ext cx="444600" cy="4851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sp>
        <p:nvSpPr>
          <p:cNvPr id="379" name="Google Shape;379;p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Walks, Paths, and Cycles</a:t>
            </a:r>
            <a:endParaRPr/>
          </a:p>
        </p:txBody>
      </p:sp>
      <p:sp>
        <p:nvSpPr>
          <p:cNvPr id="380" name="Google Shape;380;p51"/>
          <p:cNvSpPr txBox="1"/>
          <p:nvPr>
            <p:ph idx="1" type="body"/>
          </p:nvPr>
        </p:nvSpPr>
        <p:spPr>
          <a:xfrm>
            <a:off x="311700" y="1225225"/>
            <a:ext cx="8457300" cy="1870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a:t>
            </a:r>
            <a:r>
              <a:rPr b="1" lang="en"/>
              <a:t>walk</a:t>
            </a:r>
            <a:r>
              <a:rPr lang="en"/>
              <a:t> is an alternating sequence of vertices and edges starting with an origin vertex u</a:t>
            </a:r>
            <a:r>
              <a:rPr baseline="-25000" lang="en"/>
              <a:t>i</a:t>
            </a:r>
            <a:r>
              <a:rPr lang="en"/>
              <a:t> ending with a destination vertex u</a:t>
            </a:r>
            <a:r>
              <a:rPr baseline="-25000" lang="en"/>
              <a:t>j</a:t>
            </a:r>
            <a:r>
              <a:rPr lang="en"/>
              <a:t> such that:</a:t>
            </a:r>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There is an edge linking each successive vertex in the sequence </a:t>
            </a:r>
            <a:endParaRPr b="1">
              <a:solidFill>
                <a:srgbClr val="FF0000"/>
              </a:solidFill>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Excluding the origin and destination vertices</a:t>
            </a:r>
            <a:endParaRPr b="1">
              <a:solidFill>
                <a:srgbClr val="FF0000"/>
              </a:solidFill>
            </a:endParaRPr>
          </a:p>
          <a:p>
            <a:pPr indent="-342900" lvl="0" marL="457200" rtl="0" algn="l">
              <a:lnSpc>
                <a:spcPct val="115000"/>
              </a:lnSpc>
              <a:spcBef>
                <a:spcPts val="0"/>
              </a:spcBef>
              <a:spcAft>
                <a:spcPts val="0"/>
              </a:spcAft>
              <a:buSzPts val="1800"/>
              <a:buChar char="●"/>
            </a:pPr>
            <a:r>
              <a:rPr lang="en"/>
              <a:t>A </a:t>
            </a:r>
            <a:r>
              <a:rPr b="1" lang="en"/>
              <a:t>path</a:t>
            </a:r>
            <a:r>
              <a:rPr lang="en"/>
              <a:t> is called  a </a:t>
            </a:r>
            <a:r>
              <a:rPr b="1" lang="en"/>
              <a:t>cycle </a:t>
            </a:r>
            <a:r>
              <a:rPr lang="en"/>
              <a:t>if it begins and ends with the </a:t>
            </a:r>
            <a:r>
              <a:rPr b="1" lang="en"/>
              <a:t>same</a:t>
            </a:r>
            <a:r>
              <a:rPr lang="en"/>
              <a:t> vertex</a:t>
            </a:r>
            <a:endParaRPr/>
          </a:p>
          <a:p>
            <a:pPr indent="0" lvl="0" marL="45720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pic>
        <p:nvPicPr>
          <p:cNvPr descr="GF5.png" id="381" name="Google Shape;381;p51"/>
          <p:cNvPicPr preferRelativeResize="0"/>
          <p:nvPr/>
        </p:nvPicPr>
        <p:blipFill>
          <a:blip r:embed="rId3">
            <a:alphaModFix/>
          </a:blip>
          <a:stretch>
            <a:fillRect/>
          </a:stretch>
        </p:blipFill>
        <p:spPr>
          <a:xfrm>
            <a:off x="1081856" y="3081200"/>
            <a:ext cx="6980275" cy="1838000"/>
          </a:xfrm>
          <a:prstGeom prst="rect">
            <a:avLst/>
          </a:prstGeom>
          <a:noFill/>
          <a:ln>
            <a:noFill/>
          </a:ln>
        </p:spPr>
      </p:pic>
      <p:sp>
        <p:nvSpPr>
          <p:cNvPr id="382" name="Google Shape;382;p51"/>
          <p:cNvSpPr/>
          <p:nvPr/>
        </p:nvSpPr>
        <p:spPr>
          <a:xfrm>
            <a:off x="6474050" y="3081100"/>
            <a:ext cx="2445600" cy="1823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1"/>
          <p:cNvSpPr txBox="1"/>
          <p:nvPr/>
        </p:nvSpPr>
        <p:spPr>
          <a:xfrm>
            <a:off x="6711225" y="3288625"/>
            <a:ext cx="1111800" cy="74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A cycle of length 4!</a:t>
            </a:r>
            <a:endParaRPr b="1" sz="1800">
              <a:latin typeface="Economica"/>
              <a:ea typeface="Economica"/>
              <a:cs typeface="Economica"/>
              <a:sym typeface="Economica"/>
            </a:endParaRPr>
          </a:p>
        </p:txBody>
      </p:sp>
      <p:cxnSp>
        <p:nvCxnSpPr>
          <p:cNvPr id="384" name="Google Shape;384;p51"/>
          <p:cNvCxnSpPr>
            <a:stCxn id="383" idx="1"/>
          </p:cNvCxnSpPr>
          <p:nvPr/>
        </p:nvCxnSpPr>
        <p:spPr>
          <a:xfrm flipH="1">
            <a:off x="6266625" y="3659125"/>
            <a:ext cx="444600" cy="4851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8" name="Shape 388"/>
        <p:cNvGrpSpPr/>
        <p:nvPr/>
      </p:nvGrpSpPr>
      <p:grpSpPr>
        <a:xfrm>
          <a:off x="0" y="0"/>
          <a:ext cx="0" cy="0"/>
          <a:chOff x="0" y="0"/>
          <a:chExt cx="0" cy="0"/>
        </a:xfrm>
      </p:grpSpPr>
      <p:sp>
        <p:nvSpPr>
          <p:cNvPr id="389" name="Google Shape;389;p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Basic Concepts: Walks, Paths, and Cycles</a:t>
            </a:r>
            <a:endParaRPr/>
          </a:p>
        </p:txBody>
      </p:sp>
      <p:sp>
        <p:nvSpPr>
          <p:cNvPr id="390" name="Google Shape;390;p52"/>
          <p:cNvSpPr txBox="1"/>
          <p:nvPr>
            <p:ph idx="1" type="body"/>
          </p:nvPr>
        </p:nvSpPr>
        <p:spPr>
          <a:xfrm>
            <a:off x="311700" y="1225225"/>
            <a:ext cx="8457300" cy="1870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a:t>
            </a:r>
            <a:r>
              <a:rPr b="1" lang="en"/>
              <a:t>walk</a:t>
            </a:r>
            <a:r>
              <a:rPr lang="en"/>
              <a:t> is an alternating sequence of vertices and edges starting with an origin vertex u</a:t>
            </a:r>
            <a:r>
              <a:rPr baseline="-25000" lang="en"/>
              <a:t>i</a:t>
            </a:r>
            <a:r>
              <a:rPr lang="en"/>
              <a:t> ending with a destination vertex u</a:t>
            </a:r>
            <a:r>
              <a:rPr baseline="-25000" lang="en"/>
              <a:t>j</a:t>
            </a:r>
            <a:r>
              <a:rPr lang="en"/>
              <a:t> such that:</a:t>
            </a:r>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There is an edge linking each successive vertex in the sequence </a:t>
            </a:r>
            <a:endParaRPr b="1">
              <a:solidFill>
                <a:srgbClr val="FF0000"/>
              </a:solidFill>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Excluding the origin and destination vertices</a:t>
            </a:r>
            <a:endParaRPr b="1">
              <a:solidFill>
                <a:srgbClr val="FF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For any pair of vertices i and j, the </a:t>
            </a:r>
            <a:r>
              <a:rPr b="1" lang="en">
                <a:solidFill>
                  <a:srgbClr val="000000"/>
                </a:solidFill>
              </a:rPr>
              <a:t>shortest path</a:t>
            </a:r>
            <a:r>
              <a:rPr lang="en">
                <a:solidFill>
                  <a:srgbClr val="000000"/>
                </a:solidFill>
              </a:rPr>
              <a:t> between them is the smallest length path that starts with u</a:t>
            </a:r>
            <a:r>
              <a:rPr baseline="-25000" lang="en">
                <a:solidFill>
                  <a:srgbClr val="000000"/>
                </a:solidFill>
              </a:rPr>
              <a:t>i</a:t>
            </a:r>
            <a:r>
              <a:rPr lang="en">
                <a:solidFill>
                  <a:srgbClr val="000000"/>
                </a:solidFill>
              </a:rPr>
              <a:t> and ends with u</a:t>
            </a:r>
            <a:r>
              <a:rPr baseline="-25000" lang="en">
                <a:solidFill>
                  <a:srgbClr val="000000"/>
                </a:solidFill>
              </a:rPr>
              <a:t>j </a:t>
            </a:r>
            <a:endParaRPr baseline="-25000">
              <a:solidFill>
                <a:srgbClr val="000000"/>
              </a:solidFill>
            </a:endParaRPr>
          </a:p>
          <a:p>
            <a:pPr indent="0" lvl="0" marL="45720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pic>
        <p:nvPicPr>
          <p:cNvPr descr="GF5.png" id="391" name="Google Shape;391;p52"/>
          <p:cNvPicPr preferRelativeResize="0"/>
          <p:nvPr/>
        </p:nvPicPr>
        <p:blipFill>
          <a:blip r:embed="rId3">
            <a:alphaModFix/>
          </a:blip>
          <a:stretch>
            <a:fillRect/>
          </a:stretch>
        </p:blipFill>
        <p:spPr>
          <a:xfrm>
            <a:off x="1081856" y="3081200"/>
            <a:ext cx="6980275" cy="1838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5" name="Shape 395"/>
        <p:cNvGrpSpPr/>
        <p:nvPr/>
      </p:nvGrpSpPr>
      <p:grpSpPr>
        <a:xfrm>
          <a:off x="0" y="0"/>
          <a:ext cx="0" cy="0"/>
          <a:chOff x="0" y="0"/>
          <a:chExt cx="0" cy="0"/>
        </a:xfrm>
      </p:grpSpPr>
      <p:sp>
        <p:nvSpPr>
          <p:cNvPr id="396" name="Google Shape;396;p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Basic Concepts: Walks, Paths, and Cycles</a:t>
            </a:r>
            <a:endParaRPr/>
          </a:p>
        </p:txBody>
      </p:sp>
      <p:sp>
        <p:nvSpPr>
          <p:cNvPr id="397" name="Google Shape;397;p53"/>
          <p:cNvSpPr txBox="1"/>
          <p:nvPr>
            <p:ph idx="1" type="body"/>
          </p:nvPr>
        </p:nvSpPr>
        <p:spPr>
          <a:xfrm>
            <a:off x="311700" y="1225225"/>
            <a:ext cx="8457300" cy="1870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a:t>
            </a:r>
            <a:r>
              <a:rPr b="1" lang="en"/>
              <a:t>walk</a:t>
            </a:r>
            <a:r>
              <a:rPr lang="en"/>
              <a:t> is an alternating sequence of vertices and edges starting with an origin vertex u</a:t>
            </a:r>
            <a:r>
              <a:rPr baseline="-25000" lang="en"/>
              <a:t>i</a:t>
            </a:r>
            <a:r>
              <a:rPr lang="en"/>
              <a:t> ending with a destination vertex u</a:t>
            </a:r>
            <a:r>
              <a:rPr baseline="-25000" lang="en"/>
              <a:t>j</a:t>
            </a:r>
            <a:r>
              <a:rPr lang="en"/>
              <a:t> such that:</a:t>
            </a:r>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There is an edge linking each successive vertex in the sequence </a:t>
            </a:r>
            <a:endParaRPr b="1">
              <a:solidFill>
                <a:srgbClr val="FF0000"/>
              </a:solidFill>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Excluding the origin and destination vertices</a:t>
            </a:r>
            <a:endParaRPr b="1">
              <a:solidFill>
                <a:srgbClr val="FF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Shortest paths are also called </a:t>
            </a:r>
            <a:r>
              <a:rPr b="1" lang="en">
                <a:solidFill>
                  <a:srgbClr val="000000"/>
                </a:solidFill>
              </a:rPr>
              <a:t>geodesics</a:t>
            </a:r>
            <a:endParaRPr b="1" baseline="-25000">
              <a:solidFill>
                <a:srgbClr val="000000"/>
              </a:solidFill>
            </a:endParaRPr>
          </a:p>
          <a:p>
            <a:pPr indent="0" lvl="0" marL="45720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pic>
        <p:nvPicPr>
          <p:cNvPr descr="GF5.png" id="398" name="Google Shape;398;p53"/>
          <p:cNvPicPr preferRelativeResize="0"/>
          <p:nvPr/>
        </p:nvPicPr>
        <p:blipFill>
          <a:blip r:embed="rId3">
            <a:alphaModFix/>
          </a:blip>
          <a:stretch>
            <a:fillRect/>
          </a:stretch>
        </p:blipFill>
        <p:spPr>
          <a:xfrm>
            <a:off x="1081856" y="3081200"/>
            <a:ext cx="6980275" cy="183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p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Basic Concepts: Walks, Paths, and Cycles</a:t>
            </a:r>
            <a:endParaRPr/>
          </a:p>
        </p:txBody>
      </p:sp>
      <p:sp>
        <p:nvSpPr>
          <p:cNvPr id="404" name="Google Shape;404;p54"/>
          <p:cNvSpPr txBox="1"/>
          <p:nvPr>
            <p:ph idx="1" type="body"/>
          </p:nvPr>
        </p:nvSpPr>
        <p:spPr>
          <a:xfrm>
            <a:off x="311700" y="1225225"/>
            <a:ext cx="8457300" cy="1870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a:t>
            </a:r>
            <a:r>
              <a:rPr b="1" lang="en"/>
              <a:t>walk</a:t>
            </a:r>
            <a:r>
              <a:rPr lang="en"/>
              <a:t> is an alternating sequence of vertices and edges starting with an origin vertex u</a:t>
            </a:r>
            <a:r>
              <a:rPr baseline="-25000" lang="en"/>
              <a:t>i</a:t>
            </a:r>
            <a:r>
              <a:rPr lang="en"/>
              <a:t> ending with a destination vertex u</a:t>
            </a:r>
            <a:r>
              <a:rPr baseline="-25000" lang="en"/>
              <a:t>j</a:t>
            </a:r>
            <a:r>
              <a:rPr lang="en"/>
              <a:t> such that:</a:t>
            </a:r>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There is an edge linking each successive vertex in the sequence </a:t>
            </a:r>
            <a:endParaRPr b="1">
              <a:solidFill>
                <a:srgbClr val="FF0000"/>
              </a:solidFill>
            </a:endParaRPr>
          </a:p>
          <a:p>
            <a:pPr indent="-317500" lvl="1" marL="914400" rtl="0" algn="l">
              <a:lnSpc>
                <a:spcPct val="115000"/>
              </a:lnSpc>
              <a:spcBef>
                <a:spcPts val="0"/>
              </a:spcBef>
              <a:spcAft>
                <a:spcPts val="0"/>
              </a:spcAft>
              <a:buClr>
                <a:srgbClr val="FF0000"/>
              </a:buClr>
              <a:buSzPts val="1400"/>
              <a:buChar char="○"/>
            </a:pPr>
            <a:r>
              <a:rPr b="1" lang="en">
                <a:solidFill>
                  <a:srgbClr val="FF0000"/>
                </a:solidFill>
              </a:rPr>
              <a:t>Excluding the origin and destination vertices</a:t>
            </a:r>
            <a:endParaRPr b="1">
              <a:solidFill>
                <a:srgbClr val="FF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Two vertices u</a:t>
            </a:r>
            <a:r>
              <a:rPr baseline="-25000" lang="en">
                <a:solidFill>
                  <a:srgbClr val="000000"/>
                </a:solidFill>
              </a:rPr>
              <a:t>j</a:t>
            </a:r>
            <a:r>
              <a:rPr lang="en">
                <a:solidFill>
                  <a:srgbClr val="000000"/>
                </a:solidFill>
              </a:rPr>
              <a:t> and u</a:t>
            </a:r>
            <a:r>
              <a:rPr baseline="-25000" lang="en">
                <a:solidFill>
                  <a:srgbClr val="000000"/>
                </a:solidFill>
              </a:rPr>
              <a:t>q</a:t>
            </a:r>
            <a:r>
              <a:rPr lang="en">
                <a:solidFill>
                  <a:srgbClr val="000000"/>
                </a:solidFill>
              </a:rPr>
              <a:t> are </a:t>
            </a:r>
            <a:r>
              <a:rPr b="1" lang="en">
                <a:solidFill>
                  <a:srgbClr val="000000"/>
                </a:solidFill>
              </a:rPr>
              <a:t>k-connected </a:t>
            </a:r>
            <a:r>
              <a:rPr lang="en">
                <a:solidFill>
                  <a:srgbClr val="000000"/>
                </a:solidFill>
              </a:rPr>
              <a:t>if there is a shortest path of length </a:t>
            </a:r>
            <a:r>
              <a:rPr i="1" lang="en">
                <a:solidFill>
                  <a:srgbClr val="000000"/>
                </a:solidFill>
              </a:rPr>
              <a:t>k</a:t>
            </a:r>
            <a:r>
              <a:rPr lang="en">
                <a:solidFill>
                  <a:srgbClr val="000000"/>
                </a:solidFill>
              </a:rPr>
              <a:t> that begins in </a:t>
            </a:r>
            <a:r>
              <a:rPr lang="en"/>
              <a:t>u</a:t>
            </a:r>
            <a:r>
              <a:rPr baseline="-25000" lang="en"/>
              <a:t>j</a:t>
            </a:r>
            <a:r>
              <a:rPr lang="en"/>
              <a:t> </a:t>
            </a:r>
            <a:r>
              <a:rPr lang="en">
                <a:solidFill>
                  <a:srgbClr val="000000"/>
                </a:solidFill>
              </a:rPr>
              <a:t>and ends with</a:t>
            </a:r>
            <a:r>
              <a:rPr baseline="-25000" lang="en">
                <a:solidFill>
                  <a:srgbClr val="000000"/>
                </a:solidFill>
              </a:rPr>
              <a:t> </a:t>
            </a:r>
            <a:r>
              <a:rPr lang="en"/>
              <a:t>u</a:t>
            </a:r>
            <a:r>
              <a:rPr baseline="-25000" lang="en"/>
              <a:t>q</a:t>
            </a:r>
            <a:endParaRPr baseline="-25000">
              <a:solidFill>
                <a:srgbClr val="000000"/>
              </a:solidFill>
            </a:endParaRPr>
          </a:p>
          <a:p>
            <a:pPr indent="0" lvl="0" marL="45720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pic>
        <p:nvPicPr>
          <p:cNvPr descr="GF5.png" id="405" name="Google Shape;405;p54"/>
          <p:cNvPicPr preferRelativeResize="0"/>
          <p:nvPr/>
        </p:nvPicPr>
        <p:blipFill>
          <a:blip r:embed="rId3">
            <a:alphaModFix/>
          </a:blip>
          <a:stretch>
            <a:fillRect/>
          </a:stretch>
        </p:blipFill>
        <p:spPr>
          <a:xfrm>
            <a:off x="1081856" y="3081200"/>
            <a:ext cx="6980275" cy="1838000"/>
          </a:xfrm>
          <a:prstGeom prst="rect">
            <a:avLst/>
          </a:prstGeom>
          <a:noFill/>
          <a:ln>
            <a:noFill/>
          </a:ln>
        </p:spPr>
      </p:pic>
      <p:sp>
        <p:nvSpPr>
          <p:cNvPr id="406" name="Google Shape;406;p54"/>
          <p:cNvSpPr txBox="1"/>
          <p:nvPr/>
        </p:nvSpPr>
        <p:spPr>
          <a:xfrm>
            <a:off x="6687275" y="4198475"/>
            <a:ext cx="295800" cy="20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500">
                <a:latin typeface="Open Sans"/>
                <a:ea typeface="Open Sans"/>
                <a:cs typeface="Open Sans"/>
                <a:sym typeface="Open Sans"/>
              </a:rPr>
              <a:t>q</a:t>
            </a:r>
            <a:endParaRPr i="1" sz="1500">
              <a:latin typeface="Open Sans"/>
              <a:ea typeface="Open Sans"/>
              <a:cs typeface="Open Sans"/>
              <a:sym typeface="Open Sans"/>
            </a:endParaRPr>
          </a:p>
        </p:txBody>
      </p:sp>
      <p:cxnSp>
        <p:nvCxnSpPr>
          <p:cNvPr id="407" name="Google Shape;407;p54"/>
          <p:cNvCxnSpPr/>
          <p:nvPr/>
        </p:nvCxnSpPr>
        <p:spPr>
          <a:xfrm>
            <a:off x="6767550" y="3579000"/>
            <a:ext cx="7200" cy="541200"/>
          </a:xfrm>
          <a:prstGeom prst="straightConnector1">
            <a:avLst/>
          </a:prstGeom>
          <a:noFill/>
          <a:ln cap="flat" cmpd="sng" w="38100">
            <a:solidFill>
              <a:srgbClr val="FF0000"/>
            </a:solidFill>
            <a:prstDash val="solid"/>
            <a:round/>
            <a:headEnd len="med" w="med" type="none"/>
            <a:tailEnd len="med" w="med" type="none"/>
          </a:ln>
        </p:spPr>
      </p:cxnSp>
      <p:sp>
        <p:nvSpPr>
          <p:cNvPr id="408" name="Google Shape;408;p54"/>
          <p:cNvSpPr txBox="1"/>
          <p:nvPr/>
        </p:nvSpPr>
        <p:spPr>
          <a:xfrm>
            <a:off x="7906500" y="2621550"/>
            <a:ext cx="1237500" cy="71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latin typeface="Economica"/>
                <a:ea typeface="Economica"/>
                <a:cs typeface="Economica"/>
                <a:sym typeface="Economica"/>
              </a:rPr>
              <a:t>u</a:t>
            </a:r>
            <a:r>
              <a:rPr baseline="-25000" lang="en" sz="1800">
                <a:solidFill>
                  <a:srgbClr val="FF0000"/>
                </a:solidFill>
                <a:latin typeface="Economica"/>
                <a:ea typeface="Economica"/>
                <a:cs typeface="Economica"/>
                <a:sym typeface="Economica"/>
              </a:rPr>
              <a:t>j </a:t>
            </a:r>
            <a:r>
              <a:rPr lang="en" sz="1800">
                <a:solidFill>
                  <a:srgbClr val="FF0000"/>
                </a:solidFill>
                <a:latin typeface="Economica"/>
                <a:ea typeface="Economica"/>
                <a:cs typeface="Economica"/>
                <a:sym typeface="Economica"/>
              </a:rPr>
              <a:t>and u</a:t>
            </a:r>
            <a:r>
              <a:rPr baseline="-25000" lang="en" sz="1800">
                <a:solidFill>
                  <a:srgbClr val="FF0000"/>
                </a:solidFill>
                <a:latin typeface="Economica"/>
                <a:ea typeface="Economica"/>
                <a:cs typeface="Economica"/>
                <a:sym typeface="Economica"/>
              </a:rPr>
              <a:t>q</a:t>
            </a:r>
            <a:r>
              <a:rPr lang="en" sz="1800">
                <a:solidFill>
                  <a:srgbClr val="FF0000"/>
                </a:solidFill>
                <a:latin typeface="Economica"/>
                <a:ea typeface="Economica"/>
                <a:cs typeface="Economica"/>
                <a:sym typeface="Economica"/>
              </a:rPr>
              <a:t> are 2-connected! </a:t>
            </a:r>
            <a:endParaRPr sz="1800">
              <a:solidFill>
                <a:srgbClr val="FF0000"/>
              </a:solidFill>
              <a:latin typeface="Economica"/>
              <a:ea typeface="Economica"/>
              <a:cs typeface="Economica"/>
              <a:sym typeface="Economica"/>
            </a:endParaRPr>
          </a:p>
        </p:txBody>
      </p:sp>
      <p:cxnSp>
        <p:nvCxnSpPr>
          <p:cNvPr id="409" name="Google Shape;409;p54"/>
          <p:cNvCxnSpPr>
            <a:stCxn id="408" idx="1"/>
          </p:cNvCxnSpPr>
          <p:nvPr/>
        </p:nvCxnSpPr>
        <p:spPr>
          <a:xfrm flipH="1">
            <a:off x="7396800" y="2978250"/>
            <a:ext cx="509700" cy="1836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3" name="Shape 413"/>
        <p:cNvGrpSpPr/>
        <p:nvPr/>
      </p:nvGrpSpPr>
      <p:grpSpPr>
        <a:xfrm>
          <a:off x="0" y="0"/>
          <a:ext cx="0" cy="0"/>
          <a:chOff x="0" y="0"/>
          <a:chExt cx="0" cy="0"/>
        </a:xfrm>
      </p:grpSpPr>
      <p:sp>
        <p:nvSpPr>
          <p:cNvPr id="414" name="Google Shape;414;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 graph?</a:t>
            </a:r>
            <a:endParaRPr/>
          </a:p>
        </p:txBody>
      </p:sp>
      <p:sp>
        <p:nvSpPr>
          <p:cNvPr id="415" name="Google Shape;415;p55"/>
          <p:cNvSpPr txBox="1"/>
          <p:nvPr>
            <p:ph idx="1" type="body"/>
          </p:nvPr>
        </p:nvSpPr>
        <p:spPr>
          <a:xfrm>
            <a:off x="311700" y="1225225"/>
            <a:ext cx="50949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Graphs can either be </a:t>
            </a:r>
            <a:r>
              <a:rPr b="1" lang="en"/>
              <a:t>undirected </a:t>
            </a:r>
            <a:r>
              <a:rPr lang="en"/>
              <a:t>or </a:t>
            </a:r>
            <a:r>
              <a:rPr b="1" lang="en"/>
              <a:t>directed</a:t>
            </a:r>
            <a:r>
              <a:rPr lang="en"/>
              <a:t>:</a:t>
            </a:r>
            <a:endParaRPr/>
          </a:p>
          <a:p>
            <a:pPr indent="-317500" lvl="1" marL="914400" rtl="0" algn="l">
              <a:spcBef>
                <a:spcPts val="0"/>
              </a:spcBef>
              <a:spcAft>
                <a:spcPts val="0"/>
              </a:spcAft>
              <a:buSzPts val="1400"/>
              <a:buChar char="○"/>
            </a:pPr>
            <a:r>
              <a:rPr lang="en"/>
              <a:t>In </a:t>
            </a:r>
            <a:r>
              <a:rPr b="1" lang="en">
                <a:solidFill>
                  <a:srgbClr val="FF0000"/>
                </a:solidFill>
              </a:rPr>
              <a:t>undirected</a:t>
            </a:r>
            <a:r>
              <a:rPr lang="en"/>
              <a:t> graphs if an edge between c and d exists, by </a:t>
            </a:r>
            <a:r>
              <a:rPr b="1" lang="en"/>
              <a:t>definition</a:t>
            </a:r>
            <a:r>
              <a:rPr lang="en"/>
              <a:t>, so does the link between d and c</a:t>
            </a:r>
            <a:endParaRPr/>
          </a:p>
          <a:p>
            <a:pPr indent="-317500" lvl="2" marL="1371600" rtl="0" algn="l">
              <a:spcBef>
                <a:spcPts val="0"/>
              </a:spcBef>
              <a:spcAft>
                <a:spcPts val="0"/>
              </a:spcAft>
              <a:buSzPts val="1400"/>
              <a:buChar char="■"/>
            </a:pPr>
            <a:r>
              <a:rPr lang="en"/>
              <a:t>{v</a:t>
            </a:r>
            <a:r>
              <a:rPr baseline="-25000" lang="en"/>
              <a:t>c</a:t>
            </a:r>
            <a:r>
              <a:rPr lang="en"/>
              <a:t>v</a:t>
            </a:r>
            <a:r>
              <a:rPr baseline="-25000" lang="en"/>
              <a:t>d</a:t>
            </a:r>
            <a:r>
              <a:rPr lang="en"/>
              <a:t>} = {v</a:t>
            </a:r>
            <a:r>
              <a:rPr baseline="-25000" lang="en"/>
              <a:t>d</a:t>
            </a:r>
            <a:r>
              <a:rPr lang="en"/>
              <a:t>v</a:t>
            </a:r>
            <a:r>
              <a:rPr baseline="-25000" lang="en"/>
              <a:t>c</a:t>
            </a:r>
            <a:r>
              <a:rPr lang="en"/>
              <a:t>}</a:t>
            </a:r>
            <a:endParaRPr/>
          </a:p>
          <a:p>
            <a:pPr indent="0" lvl="0" marL="914400" marR="0" rtl="0" algn="l">
              <a:lnSpc>
                <a:spcPct val="115000"/>
              </a:lnSpc>
              <a:spcBef>
                <a:spcPts val="0"/>
              </a:spcBef>
              <a:spcAft>
                <a:spcPts val="0"/>
              </a:spcAft>
              <a:buNone/>
            </a:pPr>
            <a:r>
              <a:t/>
            </a:r>
            <a:endParaRPr/>
          </a:p>
          <a:p>
            <a:pPr indent="0" lvl="0" marL="914400" marR="0" rtl="0" algn="l">
              <a:lnSpc>
                <a:spcPct val="115000"/>
              </a:lnSpc>
              <a:spcBef>
                <a:spcPts val="1600"/>
              </a:spcBef>
              <a:spcAft>
                <a:spcPts val="1600"/>
              </a:spcAft>
              <a:buNone/>
            </a:pPr>
            <a:r>
              <a:t/>
            </a:r>
            <a:endParaRPr/>
          </a:p>
        </p:txBody>
      </p:sp>
      <p:grpSp>
        <p:nvGrpSpPr>
          <p:cNvPr id="416" name="Google Shape;416;p55"/>
          <p:cNvGrpSpPr/>
          <p:nvPr/>
        </p:nvGrpSpPr>
        <p:grpSpPr>
          <a:xfrm>
            <a:off x="5341625" y="1130086"/>
            <a:ext cx="3490675" cy="3544277"/>
            <a:chOff x="5264900" y="1128998"/>
            <a:chExt cx="3490675" cy="3544277"/>
          </a:xfrm>
        </p:grpSpPr>
        <p:pic>
          <p:nvPicPr>
            <p:cNvPr id="417" name="Google Shape;417;p55"/>
            <p:cNvPicPr preferRelativeResize="0"/>
            <p:nvPr/>
          </p:nvPicPr>
          <p:blipFill rotWithShape="1">
            <a:blip r:embed="rId3">
              <a:alphaModFix/>
            </a:blip>
            <a:srcRect b="53299" l="1982" r="51491" t="22709"/>
            <a:stretch/>
          </p:blipFill>
          <p:spPr>
            <a:xfrm>
              <a:off x="5264900" y="1128998"/>
              <a:ext cx="3490675" cy="1374300"/>
            </a:xfrm>
            <a:prstGeom prst="rect">
              <a:avLst/>
            </a:prstGeom>
            <a:noFill/>
            <a:ln>
              <a:noFill/>
            </a:ln>
          </p:spPr>
        </p:pic>
        <p:pic>
          <p:nvPicPr>
            <p:cNvPr id="418" name="Google Shape;418;p55"/>
            <p:cNvPicPr preferRelativeResize="0"/>
            <p:nvPr/>
          </p:nvPicPr>
          <p:blipFill rotWithShape="1">
            <a:blip r:embed="rId3">
              <a:alphaModFix/>
            </a:blip>
            <a:srcRect b="54218" l="50926" r="2550" t="22708"/>
            <a:stretch/>
          </p:blipFill>
          <p:spPr>
            <a:xfrm>
              <a:off x="5264900" y="3059073"/>
              <a:ext cx="3490675" cy="1321700"/>
            </a:xfrm>
            <a:prstGeom prst="rect">
              <a:avLst/>
            </a:prstGeom>
            <a:noFill/>
            <a:ln>
              <a:noFill/>
            </a:ln>
          </p:spPr>
        </p:pic>
        <p:sp>
          <p:nvSpPr>
            <p:cNvPr id="419" name="Google Shape;419;p55"/>
            <p:cNvSpPr txBox="1"/>
            <p:nvPr/>
          </p:nvSpPr>
          <p:spPr>
            <a:xfrm>
              <a:off x="5782900" y="2503300"/>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sp>
          <p:nvSpPr>
            <p:cNvPr id="420" name="Google Shape;420;p55"/>
            <p:cNvSpPr txBox="1"/>
            <p:nvPr/>
          </p:nvSpPr>
          <p:spPr>
            <a:xfrm>
              <a:off x="5782900" y="43807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grpSp>
      <p:sp>
        <p:nvSpPr>
          <p:cNvPr id="421" name="Google Shape;421;p55"/>
          <p:cNvSpPr/>
          <p:nvPr/>
        </p:nvSpPr>
        <p:spPr>
          <a:xfrm rot="-1836405">
            <a:off x="6404505" y="1755477"/>
            <a:ext cx="1857829" cy="513374"/>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5" name="Shape 425"/>
        <p:cNvGrpSpPr/>
        <p:nvPr/>
      </p:nvGrpSpPr>
      <p:grpSpPr>
        <a:xfrm>
          <a:off x="0" y="0"/>
          <a:ext cx="0" cy="0"/>
          <a:chOff x="0" y="0"/>
          <a:chExt cx="0" cy="0"/>
        </a:xfrm>
      </p:grpSpPr>
      <p:sp>
        <p:nvSpPr>
          <p:cNvPr id="426" name="Google Shape;426;p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 graph?</a:t>
            </a:r>
            <a:endParaRPr/>
          </a:p>
        </p:txBody>
      </p:sp>
      <p:sp>
        <p:nvSpPr>
          <p:cNvPr id="427" name="Google Shape;427;p56"/>
          <p:cNvSpPr txBox="1"/>
          <p:nvPr>
            <p:ph idx="1" type="body"/>
          </p:nvPr>
        </p:nvSpPr>
        <p:spPr>
          <a:xfrm>
            <a:off x="311700" y="1225225"/>
            <a:ext cx="5167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Graphs can either be </a:t>
            </a:r>
            <a:r>
              <a:rPr b="1" lang="en"/>
              <a:t>undirected </a:t>
            </a:r>
            <a:r>
              <a:rPr lang="en"/>
              <a:t>or </a:t>
            </a:r>
            <a:r>
              <a:rPr b="1" lang="en"/>
              <a:t>directed</a:t>
            </a:r>
            <a:r>
              <a:rPr lang="en"/>
              <a:t>:</a:t>
            </a:r>
            <a:endParaRPr/>
          </a:p>
          <a:p>
            <a:pPr indent="-317500" lvl="1" marL="914400" rtl="0" algn="l">
              <a:spcBef>
                <a:spcPts val="0"/>
              </a:spcBef>
              <a:spcAft>
                <a:spcPts val="0"/>
              </a:spcAft>
              <a:buSzPts val="1400"/>
              <a:buChar char="○"/>
            </a:pPr>
            <a:r>
              <a:rPr lang="en"/>
              <a:t>In </a:t>
            </a:r>
            <a:r>
              <a:rPr b="1" lang="en">
                <a:solidFill>
                  <a:srgbClr val="FF0000"/>
                </a:solidFill>
              </a:rPr>
              <a:t>undirected</a:t>
            </a:r>
            <a:r>
              <a:rPr lang="en"/>
              <a:t> graphs if an edge between c and d exists, by </a:t>
            </a:r>
            <a:r>
              <a:rPr b="1" lang="en"/>
              <a:t>definition</a:t>
            </a:r>
            <a:r>
              <a:rPr lang="en"/>
              <a:t>, so does the link between d and c</a:t>
            </a:r>
            <a:endParaRPr/>
          </a:p>
          <a:p>
            <a:pPr indent="-317500" lvl="2" marL="1371600" rtl="0" algn="l">
              <a:spcBef>
                <a:spcPts val="0"/>
              </a:spcBef>
              <a:spcAft>
                <a:spcPts val="0"/>
              </a:spcAft>
              <a:buSzPts val="1400"/>
              <a:buChar char="■"/>
            </a:pPr>
            <a:r>
              <a:rPr lang="en"/>
              <a:t>{v</a:t>
            </a:r>
            <a:r>
              <a:rPr baseline="-25000" lang="en"/>
              <a:t>c</a:t>
            </a:r>
            <a:r>
              <a:rPr lang="en"/>
              <a:t>v</a:t>
            </a:r>
            <a:r>
              <a:rPr baseline="-25000" lang="en"/>
              <a:t>d</a:t>
            </a:r>
            <a:r>
              <a:rPr lang="en"/>
              <a:t>} = {v</a:t>
            </a:r>
            <a:r>
              <a:rPr baseline="-25000" lang="en"/>
              <a:t>d</a:t>
            </a:r>
            <a:r>
              <a:rPr lang="en"/>
              <a:t>v</a:t>
            </a:r>
            <a:r>
              <a:rPr baseline="-25000" lang="en"/>
              <a:t>c</a:t>
            </a:r>
            <a:r>
              <a:rPr lang="en"/>
              <a:t>}</a:t>
            </a:r>
            <a:endParaRPr/>
          </a:p>
          <a:p>
            <a:pPr indent="-317500" lvl="1" marL="914400" rtl="0" algn="l">
              <a:spcBef>
                <a:spcPts val="0"/>
              </a:spcBef>
              <a:spcAft>
                <a:spcPts val="0"/>
              </a:spcAft>
              <a:buSzPts val="1400"/>
              <a:buChar char="○"/>
            </a:pPr>
            <a:r>
              <a:rPr lang="en"/>
              <a:t>In </a:t>
            </a:r>
            <a:r>
              <a:rPr b="1" lang="en">
                <a:solidFill>
                  <a:srgbClr val="0000FF"/>
                </a:solidFill>
              </a:rPr>
              <a:t>directed</a:t>
            </a:r>
            <a:r>
              <a:rPr lang="en"/>
              <a:t> graphs, the existence of an edge does not imply the existence of the one going in the opposite direction</a:t>
            </a:r>
            <a:endParaRPr/>
          </a:p>
          <a:p>
            <a:pPr indent="-317500" lvl="2" marL="1371600" rtl="0" algn="l">
              <a:spcBef>
                <a:spcPts val="0"/>
              </a:spcBef>
              <a:spcAft>
                <a:spcPts val="0"/>
              </a:spcAft>
              <a:buSzPts val="1400"/>
              <a:buChar char="■"/>
            </a:pPr>
            <a:r>
              <a:rPr lang="en"/>
              <a:t>{v</a:t>
            </a:r>
            <a:r>
              <a:rPr baseline="-25000" lang="en"/>
              <a:t>c</a:t>
            </a:r>
            <a:r>
              <a:rPr lang="en"/>
              <a:t>v</a:t>
            </a:r>
            <a:r>
              <a:rPr baseline="-25000" lang="en"/>
              <a:t>d</a:t>
            </a:r>
            <a:r>
              <a:rPr lang="en"/>
              <a:t>} can exist but not {v</a:t>
            </a:r>
            <a:r>
              <a:rPr baseline="-25000" lang="en"/>
              <a:t>d</a:t>
            </a:r>
            <a:r>
              <a:rPr lang="en"/>
              <a:t>v</a:t>
            </a:r>
            <a:r>
              <a:rPr baseline="-25000" lang="en"/>
              <a:t>c</a:t>
            </a:r>
            <a:r>
              <a:rPr lang="en"/>
              <a:t>}</a:t>
            </a:r>
            <a:endParaRPr/>
          </a:p>
          <a:p>
            <a:pPr indent="0" lvl="0" marL="1371600" marR="0" rtl="0" algn="l">
              <a:lnSpc>
                <a:spcPct val="115000"/>
              </a:lnSpc>
              <a:spcBef>
                <a:spcPts val="0"/>
              </a:spcBef>
              <a:spcAft>
                <a:spcPts val="1600"/>
              </a:spcAft>
              <a:buNone/>
            </a:pPr>
            <a:r>
              <a:t/>
            </a:r>
            <a:endParaRPr/>
          </a:p>
        </p:txBody>
      </p:sp>
      <p:grpSp>
        <p:nvGrpSpPr>
          <p:cNvPr id="428" name="Google Shape;428;p56"/>
          <p:cNvGrpSpPr/>
          <p:nvPr/>
        </p:nvGrpSpPr>
        <p:grpSpPr>
          <a:xfrm>
            <a:off x="5341625" y="1130086"/>
            <a:ext cx="3490675" cy="3544277"/>
            <a:chOff x="5264900" y="1128998"/>
            <a:chExt cx="3490675" cy="3544277"/>
          </a:xfrm>
        </p:grpSpPr>
        <p:pic>
          <p:nvPicPr>
            <p:cNvPr id="429" name="Google Shape;429;p56"/>
            <p:cNvPicPr preferRelativeResize="0"/>
            <p:nvPr/>
          </p:nvPicPr>
          <p:blipFill rotWithShape="1">
            <a:blip r:embed="rId3">
              <a:alphaModFix/>
            </a:blip>
            <a:srcRect b="53299" l="1982" r="51491" t="22709"/>
            <a:stretch/>
          </p:blipFill>
          <p:spPr>
            <a:xfrm>
              <a:off x="5264900" y="1128998"/>
              <a:ext cx="3490675" cy="1374300"/>
            </a:xfrm>
            <a:prstGeom prst="rect">
              <a:avLst/>
            </a:prstGeom>
            <a:noFill/>
            <a:ln>
              <a:noFill/>
            </a:ln>
          </p:spPr>
        </p:pic>
        <p:pic>
          <p:nvPicPr>
            <p:cNvPr id="430" name="Google Shape;430;p56"/>
            <p:cNvPicPr preferRelativeResize="0"/>
            <p:nvPr/>
          </p:nvPicPr>
          <p:blipFill rotWithShape="1">
            <a:blip r:embed="rId3">
              <a:alphaModFix/>
            </a:blip>
            <a:srcRect b="54218" l="50926" r="2550" t="22708"/>
            <a:stretch/>
          </p:blipFill>
          <p:spPr>
            <a:xfrm>
              <a:off x="5264900" y="3059073"/>
              <a:ext cx="3490675" cy="1321700"/>
            </a:xfrm>
            <a:prstGeom prst="rect">
              <a:avLst/>
            </a:prstGeom>
            <a:noFill/>
            <a:ln>
              <a:noFill/>
            </a:ln>
          </p:spPr>
        </p:pic>
        <p:sp>
          <p:nvSpPr>
            <p:cNvPr id="431" name="Google Shape;431;p56"/>
            <p:cNvSpPr txBox="1"/>
            <p:nvPr/>
          </p:nvSpPr>
          <p:spPr>
            <a:xfrm>
              <a:off x="5782900" y="2503300"/>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sp>
          <p:nvSpPr>
            <p:cNvPr id="432" name="Google Shape;432;p56"/>
            <p:cNvSpPr txBox="1"/>
            <p:nvPr/>
          </p:nvSpPr>
          <p:spPr>
            <a:xfrm>
              <a:off x="5782900" y="43807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grpSp>
      <p:sp>
        <p:nvSpPr>
          <p:cNvPr id="433" name="Google Shape;433;p56"/>
          <p:cNvSpPr/>
          <p:nvPr/>
        </p:nvSpPr>
        <p:spPr>
          <a:xfrm rot="-1836405">
            <a:off x="6443605" y="3628627"/>
            <a:ext cx="1857829" cy="513374"/>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6"/>
          <p:cNvSpPr/>
          <p:nvPr/>
        </p:nvSpPr>
        <p:spPr>
          <a:xfrm rot="-1836405">
            <a:off x="6404505" y="1755477"/>
            <a:ext cx="1857829" cy="513374"/>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8" name="Shape 438"/>
        <p:cNvGrpSpPr/>
        <p:nvPr/>
      </p:nvGrpSpPr>
      <p:grpSpPr>
        <a:xfrm>
          <a:off x="0" y="0"/>
          <a:ext cx="0" cy="0"/>
          <a:chOff x="0" y="0"/>
          <a:chExt cx="0" cy="0"/>
        </a:xfrm>
      </p:grpSpPr>
      <p:sp>
        <p:nvSpPr>
          <p:cNvPr id="439" name="Google Shape;439;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 graph?</a:t>
            </a:r>
            <a:endParaRPr/>
          </a:p>
        </p:txBody>
      </p:sp>
      <p:sp>
        <p:nvSpPr>
          <p:cNvPr id="440" name="Google Shape;440;p57"/>
          <p:cNvSpPr txBox="1"/>
          <p:nvPr>
            <p:ph idx="1" type="body"/>
          </p:nvPr>
        </p:nvSpPr>
        <p:spPr>
          <a:xfrm>
            <a:off x="311700" y="1225225"/>
            <a:ext cx="5143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Graphs can either be </a:t>
            </a:r>
            <a:r>
              <a:rPr b="1" lang="en"/>
              <a:t>undirected </a:t>
            </a:r>
            <a:r>
              <a:rPr lang="en"/>
              <a:t>or </a:t>
            </a:r>
            <a:r>
              <a:rPr b="1" lang="en"/>
              <a:t>directed</a:t>
            </a:r>
            <a:r>
              <a:rPr lang="en"/>
              <a:t>:</a:t>
            </a:r>
            <a:endParaRPr/>
          </a:p>
          <a:p>
            <a:pPr indent="-317500" lvl="1" marL="914400" rtl="0" algn="l">
              <a:spcBef>
                <a:spcPts val="0"/>
              </a:spcBef>
              <a:spcAft>
                <a:spcPts val="0"/>
              </a:spcAft>
              <a:buSzPts val="1400"/>
              <a:buChar char="○"/>
            </a:pPr>
            <a:r>
              <a:rPr lang="en" sz="1400"/>
              <a:t>In </a:t>
            </a:r>
            <a:r>
              <a:rPr b="1" lang="en" sz="1400">
                <a:solidFill>
                  <a:srgbClr val="FF0000"/>
                </a:solidFill>
              </a:rPr>
              <a:t>undirected</a:t>
            </a:r>
            <a:r>
              <a:rPr lang="en" sz="1400"/>
              <a:t> graphs if a link between c and d exists, by </a:t>
            </a:r>
            <a:r>
              <a:rPr b="1" lang="en" sz="1400"/>
              <a:t>definition</a:t>
            </a:r>
            <a:r>
              <a:rPr lang="en" sz="1400"/>
              <a:t>, so does the link between d and c</a:t>
            </a:r>
            <a:endParaRPr sz="1400"/>
          </a:p>
          <a:p>
            <a:pPr indent="-317500" lvl="2" marL="1371600" rtl="0" algn="l">
              <a:spcBef>
                <a:spcPts val="0"/>
              </a:spcBef>
              <a:spcAft>
                <a:spcPts val="0"/>
              </a:spcAft>
              <a:buSzPts val="1400"/>
              <a:buChar char="■"/>
            </a:pPr>
            <a:r>
              <a:rPr lang="en"/>
              <a:t>{v</a:t>
            </a:r>
            <a:r>
              <a:rPr baseline="-25000" lang="en"/>
              <a:t>c</a:t>
            </a:r>
            <a:r>
              <a:rPr lang="en"/>
              <a:t>v</a:t>
            </a:r>
            <a:r>
              <a:rPr baseline="-25000" lang="en"/>
              <a:t>d</a:t>
            </a:r>
            <a:r>
              <a:rPr lang="en"/>
              <a:t>} = {v</a:t>
            </a:r>
            <a:r>
              <a:rPr baseline="-25000" lang="en"/>
              <a:t>d</a:t>
            </a:r>
            <a:r>
              <a:rPr lang="en"/>
              <a:t>v</a:t>
            </a:r>
            <a:r>
              <a:rPr baseline="-25000" lang="en"/>
              <a:t>c</a:t>
            </a:r>
            <a:r>
              <a:rPr lang="en"/>
              <a:t>}</a:t>
            </a:r>
            <a:endParaRPr/>
          </a:p>
          <a:p>
            <a:pPr indent="-317500" lvl="1" marL="914400" rtl="0" algn="l">
              <a:spcBef>
                <a:spcPts val="0"/>
              </a:spcBef>
              <a:spcAft>
                <a:spcPts val="0"/>
              </a:spcAft>
              <a:buSzPts val="1400"/>
              <a:buChar char="○"/>
            </a:pPr>
            <a:r>
              <a:rPr lang="en"/>
              <a:t>In </a:t>
            </a:r>
            <a:r>
              <a:rPr b="1" lang="en">
                <a:solidFill>
                  <a:srgbClr val="0000FF"/>
                </a:solidFill>
              </a:rPr>
              <a:t>directed</a:t>
            </a:r>
            <a:r>
              <a:rPr lang="en"/>
              <a:t> graphs, the existence of a link does not imply the existence of the one going in the opposite direction</a:t>
            </a:r>
            <a:endParaRPr/>
          </a:p>
          <a:p>
            <a:pPr indent="-317500" lvl="2" marL="1371600" rtl="0" algn="l">
              <a:spcBef>
                <a:spcPts val="0"/>
              </a:spcBef>
              <a:spcAft>
                <a:spcPts val="0"/>
              </a:spcAft>
              <a:buSzPts val="1400"/>
              <a:buChar char="■"/>
            </a:pPr>
            <a:r>
              <a:rPr lang="en"/>
              <a:t>{v</a:t>
            </a:r>
            <a:r>
              <a:rPr baseline="-25000" lang="en"/>
              <a:t>c</a:t>
            </a:r>
            <a:r>
              <a:rPr lang="en"/>
              <a:t>v</a:t>
            </a:r>
            <a:r>
              <a:rPr baseline="-25000" lang="en"/>
              <a:t>d</a:t>
            </a:r>
            <a:r>
              <a:rPr lang="en"/>
              <a:t>} can exist but not {v</a:t>
            </a:r>
            <a:r>
              <a:rPr baseline="-25000" lang="en"/>
              <a:t>d</a:t>
            </a:r>
            <a:r>
              <a:rPr lang="en"/>
              <a:t>v</a:t>
            </a:r>
            <a:r>
              <a:rPr baseline="-25000" lang="en"/>
              <a:t>c</a:t>
            </a:r>
            <a:r>
              <a:rPr lang="en"/>
              <a:t>}</a:t>
            </a:r>
            <a:endParaRPr/>
          </a:p>
          <a:p>
            <a:pPr indent="-317500" lvl="1" marL="914400" rtl="0" algn="l">
              <a:spcBef>
                <a:spcPts val="0"/>
              </a:spcBef>
              <a:spcAft>
                <a:spcPts val="0"/>
              </a:spcAft>
              <a:buSzPts val="1400"/>
              <a:buChar char="○"/>
            </a:pPr>
            <a:r>
              <a:rPr lang="en"/>
              <a:t>Undirected graphs are also called </a:t>
            </a:r>
            <a:r>
              <a:rPr b="1" lang="en">
                <a:solidFill>
                  <a:srgbClr val="FF0000"/>
                </a:solidFill>
              </a:rPr>
              <a:t>simple graphs</a:t>
            </a:r>
            <a:endParaRPr b="1">
              <a:solidFill>
                <a:srgbClr val="FF0000"/>
              </a:solidFill>
            </a:endParaRPr>
          </a:p>
          <a:p>
            <a:pPr indent="-317500" lvl="1" marL="914400" rtl="0" algn="l">
              <a:spcBef>
                <a:spcPts val="0"/>
              </a:spcBef>
              <a:spcAft>
                <a:spcPts val="0"/>
              </a:spcAft>
              <a:buSzPts val="1400"/>
              <a:buChar char="○"/>
            </a:pPr>
            <a:r>
              <a:rPr lang="en"/>
              <a:t>Directed graphs are also called </a:t>
            </a:r>
            <a:r>
              <a:rPr b="1" lang="en">
                <a:solidFill>
                  <a:srgbClr val="0000FF"/>
                </a:solidFill>
              </a:rPr>
              <a:t>digraphs</a:t>
            </a:r>
            <a:endParaRPr>
              <a:solidFill>
                <a:srgbClr val="0000FF"/>
              </a:solidFill>
            </a:endParaRPr>
          </a:p>
          <a:p>
            <a:pPr indent="0" lvl="0" marL="1371600" marR="0" rtl="0" algn="l">
              <a:lnSpc>
                <a:spcPct val="115000"/>
              </a:lnSpc>
              <a:spcBef>
                <a:spcPts val="0"/>
              </a:spcBef>
              <a:spcAft>
                <a:spcPts val="1600"/>
              </a:spcAft>
              <a:buNone/>
            </a:pPr>
            <a:r>
              <a:t/>
            </a:r>
            <a:endParaRPr/>
          </a:p>
        </p:txBody>
      </p:sp>
      <p:grpSp>
        <p:nvGrpSpPr>
          <p:cNvPr id="441" name="Google Shape;441;p57"/>
          <p:cNvGrpSpPr/>
          <p:nvPr/>
        </p:nvGrpSpPr>
        <p:grpSpPr>
          <a:xfrm>
            <a:off x="5341625" y="1130086"/>
            <a:ext cx="3490675" cy="3544277"/>
            <a:chOff x="5264900" y="1128998"/>
            <a:chExt cx="3490675" cy="3544277"/>
          </a:xfrm>
        </p:grpSpPr>
        <p:pic>
          <p:nvPicPr>
            <p:cNvPr id="442" name="Google Shape;442;p57"/>
            <p:cNvPicPr preferRelativeResize="0"/>
            <p:nvPr/>
          </p:nvPicPr>
          <p:blipFill rotWithShape="1">
            <a:blip r:embed="rId3">
              <a:alphaModFix/>
            </a:blip>
            <a:srcRect b="53299" l="1982" r="51491" t="22709"/>
            <a:stretch/>
          </p:blipFill>
          <p:spPr>
            <a:xfrm>
              <a:off x="5264900" y="1128998"/>
              <a:ext cx="3490675" cy="1374300"/>
            </a:xfrm>
            <a:prstGeom prst="rect">
              <a:avLst/>
            </a:prstGeom>
            <a:noFill/>
            <a:ln>
              <a:noFill/>
            </a:ln>
          </p:spPr>
        </p:pic>
        <p:pic>
          <p:nvPicPr>
            <p:cNvPr id="443" name="Google Shape;443;p57"/>
            <p:cNvPicPr preferRelativeResize="0"/>
            <p:nvPr/>
          </p:nvPicPr>
          <p:blipFill rotWithShape="1">
            <a:blip r:embed="rId3">
              <a:alphaModFix/>
            </a:blip>
            <a:srcRect b="54218" l="50926" r="2550" t="22708"/>
            <a:stretch/>
          </p:blipFill>
          <p:spPr>
            <a:xfrm>
              <a:off x="5264900" y="3059073"/>
              <a:ext cx="3490675" cy="1321700"/>
            </a:xfrm>
            <a:prstGeom prst="rect">
              <a:avLst/>
            </a:prstGeom>
            <a:noFill/>
            <a:ln>
              <a:noFill/>
            </a:ln>
          </p:spPr>
        </p:pic>
        <p:sp>
          <p:nvSpPr>
            <p:cNvPr id="444" name="Google Shape;444;p57"/>
            <p:cNvSpPr txBox="1"/>
            <p:nvPr/>
          </p:nvSpPr>
          <p:spPr>
            <a:xfrm>
              <a:off x="5782900" y="2503300"/>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Economica"/>
                  <a:ea typeface="Economica"/>
                  <a:cs typeface="Economica"/>
                  <a:sym typeface="Economica"/>
                </a:rPr>
                <a:t>Undirected Graph</a:t>
              </a:r>
              <a:endParaRPr b="1" sz="1800">
                <a:solidFill>
                  <a:srgbClr val="FF0000"/>
                </a:solidFill>
                <a:latin typeface="Economica"/>
                <a:ea typeface="Economica"/>
                <a:cs typeface="Economica"/>
                <a:sym typeface="Economica"/>
              </a:endParaRPr>
            </a:p>
          </p:txBody>
        </p:sp>
        <p:sp>
          <p:nvSpPr>
            <p:cNvPr id="445" name="Google Shape;445;p57"/>
            <p:cNvSpPr txBox="1"/>
            <p:nvPr/>
          </p:nvSpPr>
          <p:spPr>
            <a:xfrm>
              <a:off x="5782900" y="43807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grpSp>
      <p:sp>
        <p:nvSpPr>
          <p:cNvPr id="446" name="Google Shape;446;p57"/>
          <p:cNvSpPr/>
          <p:nvPr/>
        </p:nvSpPr>
        <p:spPr>
          <a:xfrm rot="-1836405">
            <a:off x="6443605" y="3628627"/>
            <a:ext cx="1857829" cy="513374"/>
          </a:xfrm>
          <a:prstGeom prst="ellipse">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7"/>
          <p:cNvSpPr/>
          <p:nvPr/>
        </p:nvSpPr>
        <p:spPr>
          <a:xfrm rot="-1836405">
            <a:off x="6404505" y="1755477"/>
            <a:ext cx="1857829" cy="513374"/>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1" name="Shape 451"/>
        <p:cNvGrpSpPr/>
        <p:nvPr/>
      </p:nvGrpSpPr>
      <p:grpSpPr>
        <a:xfrm>
          <a:off x="0" y="0"/>
          <a:ext cx="0" cy="0"/>
          <a:chOff x="0" y="0"/>
          <a:chExt cx="0" cy="0"/>
        </a:xfrm>
      </p:grpSpPr>
      <p:sp>
        <p:nvSpPr>
          <p:cNvPr id="452" name="Google Shape;452;p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From network concepts to measures</a:t>
            </a:r>
            <a:endParaRPr/>
          </a:p>
        </p:txBody>
      </p:sp>
      <p:sp>
        <p:nvSpPr>
          <p:cNvPr id="453" name="Google Shape;453;p58"/>
          <p:cNvSpPr/>
          <p:nvPr/>
        </p:nvSpPr>
        <p:spPr>
          <a:xfrm>
            <a:off x="425975" y="1147225"/>
            <a:ext cx="1864500" cy="3227100"/>
          </a:xfrm>
          <a:prstGeom prst="roundRect">
            <a:avLst>
              <a:gd fmla="val 16667" name="adj"/>
            </a:avLst>
          </a:prstGeom>
          <a:solidFill>
            <a:srgbClr val="CCA677"/>
          </a:solidFill>
          <a:ln cap="flat" cmpd="sng" w="9525">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FFFFFF"/>
                </a:solidFill>
                <a:latin typeface="Open Sans"/>
                <a:ea typeface="Open Sans"/>
                <a:cs typeface="Open Sans"/>
                <a:sym typeface="Open Sans"/>
              </a:rPr>
              <a:t>Some notion of prominence, importance, brokerage, being “in the middle of things,” being in a favorable exchange position, etc.</a:t>
            </a:r>
            <a:endParaRPr sz="15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sz="1500">
              <a:solidFill>
                <a:srgbClr val="FFFFFF"/>
              </a:solidFill>
              <a:latin typeface="Open Sans"/>
              <a:ea typeface="Open Sans"/>
              <a:cs typeface="Open Sans"/>
              <a:sym typeface="Open Sans"/>
            </a:endParaRPr>
          </a:p>
        </p:txBody>
      </p:sp>
      <p:sp>
        <p:nvSpPr>
          <p:cNvPr id="454" name="Google Shape;454;p58"/>
          <p:cNvSpPr/>
          <p:nvPr/>
        </p:nvSpPr>
        <p:spPr>
          <a:xfrm>
            <a:off x="2900687" y="1147225"/>
            <a:ext cx="1864500" cy="3227100"/>
          </a:xfrm>
          <a:prstGeom prst="roundRect">
            <a:avLst>
              <a:gd fmla="val 16667" name="adj"/>
            </a:avLst>
          </a:prstGeom>
          <a:solidFill>
            <a:srgbClr val="CCA677"/>
          </a:solidFill>
          <a:ln cap="flat" cmpd="sng" w="9525">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FFFFFF"/>
                </a:solidFill>
                <a:latin typeface="Open Sans"/>
                <a:ea typeface="Open Sans"/>
                <a:cs typeface="Open Sans"/>
                <a:sym typeface="Open Sans"/>
              </a:rPr>
              <a:t>Translate the concept from natural language to the “language” of graph theory to develop a </a:t>
            </a:r>
            <a:r>
              <a:rPr b="1" lang="en" sz="1500">
                <a:solidFill>
                  <a:srgbClr val="FFFFFF"/>
                </a:solidFill>
                <a:latin typeface="Open Sans"/>
                <a:ea typeface="Open Sans"/>
                <a:cs typeface="Open Sans"/>
                <a:sym typeface="Open Sans"/>
              </a:rPr>
              <a:t>graph-theoretic concept</a:t>
            </a:r>
            <a:endParaRPr b="1" sz="15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b="1" sz="1500">
              <a:solidFill>
                <a:srgbClr val="FFFFFF"/>
              </a:solidFill>
              <a:latin typeface="Open Sans"/>
              <a:ea typeface="Open Sans"/>
              <a:cs typeface="Open Sans"/>
              <a:sym typeface="Open Sans"/>
            </a:endParaRPr>
          </a:p>
          <a:p>
            <a:pPr indent="0" lvl="0" marL="0" rtl="0" algn="l">
              <a:spcBef>
                <a:spcPts val="0"/>
              </a:spcBef>
              <a:spcAft>
                <a:spcPts val="0"/>
              </a:spcAft>
              <a:buNone/>
            </a:pPr>
            <a:r>
              <a:rPr b="1" lang="en" sz="1500">
                <a:solidFill>
                  <a:srgbClr val="FFFFFF"/>
                </a:solidFill>
                <a:latin typeface="Open Sans"/>
                <a:ea typeface="Open Sans"/>
                <a:cs typeface="Open Sans"/>
                <a:sym typeface="Open Sans"/>
              </a:rPr>
              <a:t>(</a:t>
            </a:r>
            <a:r>
              <a:rPr lang="en" sz="1500">
                <a:solidFill>
                  <a:srgbClr val="FFFFFF"/>
                </a:solidFill>
                <a:latin typeface="Open Sans"/>
                <a:ea typeface="Open Sans"/>
                <a:cs typeface="Open Sans"/>
                <a:sym typeface="Open Sans"/>
              </a:rPr>
              <a:t>e.g. points and lines)</a:t>
            </a:r>
            <a:endParaRPr sz="1500">
              <a:solidFill>
                <a:srgbClr val="FFFFFF"/>
              </a:solidFill>
              <a:latin typeface="Open Sans"/>
              <a:ea typeface="Open Sans"/>
              <a:cs typeface="Open Sans"/>
              <a:sym typeface="Open Sans"/>
            </a:endParaRPr>
          </a:p>
        </p:txBody>
      </p:sp>
      <p:sp>
        <p:nvSpPr>
          <p:cNvPr id="455" name="Google Shape;455;p58"/>
          <p:cNvSpPr/>
          <p:nvPr/>
        </p:nvSpPr>
        <p:spPr>
          <a:xfrm>
            <a:off x="5375400" y="1147225"/>
            <a:ext cx="1864500" cy="3227100"/>
          </a:xfrm>
          <a:prstGeom prst="roundRect">
            <a:avLst>
              <a:gd fmla="val 16667" name="adj"/>
            </a:avLst>
          </a:prstGeom>
          <a:solidFill>
            <a:srgbClr val="CCA677"/>
          </a:solidFill>
          <a:ln cap="flat" cmpd="sng" w="9525">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FFFFFF"/>
                </a:solidFill>
                <a:latin typeface="Open Sans"/>
                <a:ea typeface="Open Sans"/>
                <a:cs typeface="Open Sans"/>
                <a:sym typeface="Open Sans"/>
              </a:rPr>
              <a:t>Link graph-theoretic concept to matrix algebra to develop a</a:t>
            </a:r>
            <a:r>
              <a:rPr b="1" lang="en" sz="1500">
                <a:solidFill>
                  <a:srgbClr val="FFFFFF"/>
                </a:solidFill>
                <a:latin typeface="Open Sans"/>
                <a:ea typeface="Open Sans"/>
                <a:cs typeface="Open Sans"/>
                <a:sym typeface="Open Sans"/>
              </a:rPr>
              <a:t> measure</a:t>
            </a:r>
            <a:r>
              <a:rPr lang="en" sz="1500">
                <a:solidFill>
                  <a:srgbClr val="FFFFFF"/>
                </a:solidFill>
                <a:latin typeface="Open Sans"/>
                <a:ea typeface="Open Sans"/>
                <a:cs typeface="Open Sans"/>
                <a:sym typeface="Open Sans"/>
              </a:rPr>
              <a:t> of </a:t>
            </a:r>
            <a:r>
              <a:rPr lang="en" sz="1500">
                <a:solidFill>
                  <a:srgbClr val="FFFFFF"/>
                </a:solidFill>
                <a:latin typeface="Open Sans"/>
                <a:ea typeface="Open Sans"/>
                <a:cs typeface="Open Sans"/>
                <a:sym typeface="Open Sans"/>
              </a:rPr>
              <a:t>original concept</a:t>
            </a:r>
            <a:r>
              <a:rPr lang="en" sz="1500">
                <a:solidFill>
                  <a:srgbClr val="FFFFFF"/>
                </a:solidFill>
                <a:latin typeface="Open Sans"/>
                <a:ea typeface="Open Sans"/>
                <a:cs typeface="Open Sans"/>
                <a:sym typeface="Open Sans"/>
              </a:rPr>
              <a:t> (e.g. matrix operations)</a:t>
            </a:r>
            <a:endParaRPr sz="15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sz="15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sz="15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sz="15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sz="1500">
              <a:solidFill>
                <a:srgbClr val="FFFFFF"/>
              </a:solidFill>
              <a:latin typeface="Open Sans"/>
              <a:ea typeface="Open Sans"/>
              <a:cs typeface="Open Sans"/>
              <a:sym typeface="Open Sans"/>
            </a:endParaRPr>
          </a:p>
        </p:txBody>
      </p:sp>
      <p:cxnSp>
        <p:nvCxnSpPr>
          <p:cNvPr id="456" name="Google Shape;456;p58"/>
          <p:cNvCxnSpPr>
            <a:stCxn id="453" idx="3"/>
            <a:endCxn id="454" idx="1"/>
          </p:cNvCxnSpPr>
          <p:nvPr/>
        </p:nvCxnSpPr>
        <p:spPr>
          <a:xfrm>
            <a:off x="2290475" y="2760775"/>
            <a:ext cx="610200" cy="0"/>
          </a:xfrm>
          <a:prstGeom prst="straightConnector1">
            <a:avLst/>
          </a:prstGeom>
          <a:noFill/>
          <a:ln cap="flat" cmpd="sng" w="38100">
            <a:solidFill>
              <a:srgbClr val="B7B7B7"/>
            </a:solidFill>
            <a:prstDash val="solid"/>
            <a:round/>
            <a:headEnd len="med" w="med" type="none"/>
            <a:tailEnd len="med" w="med" type="triangle"/>
          </a:ln>
        </p:spPr>
      </p:cxnSp>
      <p:cxnSp>
        <p:nvCxnSpPr>
          <p:cNvPr id="457" name="Google Shape;457;p58"/>
          <p:cNvCxnSpPr>
            <a:stCxn id="454" idx="3"/>
            <a:endCxn id="455" idx="1"/>
          </p:cNvCxnSpPr>
          <p:nvPr/>
        </p:nvCxnSpPr>
        <p:spPr>
          <a:xfrm>
            <a:off x="4765187" y="2760775"/>
            <a:ext cx="610200" cy="0"/>
          </a:xfrm>
          <a:prstGeom prst="straightConnector1">
            <a:avLst/>
          </a:prstGeom>
          <a:noFill/>
          <a:ln cap="flat" cmpd="sng" w="38100">
            <a:solidFill>
              <a:srgbClr val="B7B7B7"/>
            </a:solidFill>
            <a:prstDash val="solid"/>
            <a:round/>
            <a:headEnd len="med" w="med" type="none"/>
            <a:tailEnd len="med" w="med" type="triangle"/>
          </a:ln>
        </p:spPr>
      </p:cxnSp>
      <p:cxnSp>
        <p:nvCxnSpPr>
          <p:cNvPr id="458" name="Google Shape;458;p58"/>
          <p:cNvCxnSpPr>
            <a:stCxn id="455" idx="3"/>
            <a:endCxn id="459" idx="1"/>
          </p:cNvCxnSpPr>
          <p:nvPr/>
        </p:nvCxnSpPr>
        <p:spPr>
          <a:xfrm>
            <a:off x="7239900" y="2760775"/>
            <a:ext cx="610200" cy="0"/>
          </a:xfrm>
          <a:prstGeom prst="straightConnector1">
            <a:avLst/>
          </a:prstGeom>
          <a:noFill/>
          <a:ln cap="flat" cmpd="sng" w="38100">
            <a:solidFill>
              <a:srgbClr val="B7B7B7"/>
            </a:solidFill>
            <a:prstDash val="solid"/>
            <a:round/>
            <a:headEnd len="med" w="med" type="none"/>
            <a:tailEnd len="med" w="med" type="triangle"/>
          </a:ln>
        </p:spPr>
      </p:cxnSp>
      <p:sp>
        <p:nvSpPr>
          <p:cNvPr id="459" name="Google Shape;459;p58"/>
          <p:cNvSpPr/>
          <p:nvPr/>
        </p:nvSpPr>
        <p:spPr>
          <a:xfrm>
            <a:off x="7850125" y="1147225"/>
            <a:ext cx="867900" cy="3227100"/>
          </a:xfrm>
          <a:prstGeom prst="roundRect">
            <a:avLst>
              <a:gd fmla="val 16667" name="adj"/>
            </a:avLst>
          </a:prstGeom>
          <a:solidFill>
            <a:srgbClr val="CCA677"/>
          </a:solidFill>
          <a:ln cap="flat" cmpd="sng" w="9525">
            <a:solidFill>
              <a:srgbClr val="B7B7B7"/>
            </a:solidFill>
            <a:prstDash val="solid"/>
            <a:round/>
            <a:headEnd len="sm" w="sm" type="none"/>
            <a:tailEnd len="sm" w="sm" type="none"/>
          </a:ln>
        </p:spPr>
        <p:txBody>
          <a:bodyPr anchorCtr="0" anchor="t" bIns="0" lIns="91425" spcFirstLastPara="1" rIns="91425" wrap="square" tIns="0">
            <a:noAutofit/>
          </a:bodyPr>
          <a:lstStyle/>
          <a:p>
            <a:pPr indent="0" lvl="0" marL="0" rtl="0" algn="l">
              <a:spcBef>
                <a:spcPts val="0"/>
              </a:spcBef>
              <a:spcAft>
                <a:spcPts val="0"/>
              </a:spcAft>
              <a:buNone/>
            </a:pPr>
            <a:r>
              <a:rPr b="1" lang="en" sz="1600">
                <a:solidFill>
                  <a:srgbClr val="FFFFFF"/>
                </a:solidFill>
                <a:latin typeface="Open Sans"/>
                <a:ea typeface="Open Sans"/>
                <a:cs typeface="Open Sans"/>
                <a:sym typeface="Open Sans"/>
              </a:rPr>
              <a:t>V</a:t>
            </a:r>
            <a:r>
              <a:rPr b="1" baseline="-25000" lang="en" sz="1600">
                <a:solidFill>
                  <a:srgbClr val="FFFFFF"/>
                </a:solidFill>
                <a:latin typeface="Open Sans"/>
                <a:ea typeface="Open Sans"/>
                <a:cs typeface="Open Sans"/>
                <a:sym typeface="Open Sans"/>
              </a:rPr>
              <a:t>1(First)</a:t>
            </a:r>
            <a:endParaRPr b="1"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b="1" sz="1600">
              <a:solidFill>
                <a:srgbClr val="FFFFFF"/>
              </a:solidFill>
              <a:latin typeface="Open Sans"/>
              <a:ea typeface="Open Sans"/>
              <a:cs typeface="Open Sans"/>
              <a:sym typeface="Open Sans"/>
            </a:endParaRPr>
          </a:p>
          <a:p>
            <a:pPr indent="0" lvl="0" marL="0" rtl="0" algn="l">
              <a:spcBef>
                <a:spcPts val="0"/>
              </a:spcBef>
              <a:spcAft>
                <a:spcPts val="0"/>
              </a:spcAft>
              <a:buNone/>
            </a:pPr>
            <a:r>
              <a:rPr b="1" lang="en" sz="1600">
                <a:solidFill>
                  <a:srgbClr val="FFFFFF"/>
                </a:solidFill>
                <a:latin typeface="Open Sans"/>
                <a:ea typeface="Open Sans"/>
                <a:cs typeface="Open Sans"/>
                <a:sym typeface="Open Sans"/>
              </a:rPr>
              <a:t>V</a:t>
            </a:r>
            <a:r>
              <a:rPr b="1" baseline="-25000" lang="en" sz="1600">
                <a:solidFill>
                  <a:srgbClr val="FFFFFF"/>
                </a:solidFill>
                <a:latin typeface="Open Sans"/>
                <a:ea typeface="Open Sans"/>
                <a:cs typeface="Open Sans"/>
                <a:sym typeface="Open Sans"/>
              </a:rPr>
              <a:t>2</a:t>
            </a:r>
            <a:endParaRPr b="1"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t/>
            </a:r>
            <a:endParaRPr b="1" sz="1600">
              <a:solidFill>
                <a:srgbClr val="FFFFFF"/>
              </a:solidFill>
              <a:latin typeface="Open Sans"/>
              <a:ea typeface="Open Sans"/>
              <a:cs typeface="Open Sans"/>
              <a:sym typeface="Open Sans"/>
            </a:endParaRPr>
          </a:p>
          <a:p>
            <a:pPr indent="0" lvl="0" marL="0" rtl="0" algn="l">
              <a:spcBef>
                <a:spcPts val="0"/>
              </a:spcBef>
              <a:spcAft>
                <a:spcPts val="0"/>
              </a:spcAft>
              <a:buNone/>
            </a:pPr>
            <a:r>
              <a:rPr b="1" lang="en" sz="1600">
                <a:solidFill>
                  <a:srgbClr val="FFFFFF"/>
                </a:solidFill>
                <a:latin typeface="Open Sans"/>
                <a:ea typeface="Open Sans"/>
                <a:cs typeface="Open Sans"/>
                <a:sym typeface="Open Sans"/>
              </a:rPr>
              <a:t>V</a:t>
            </a:r>
            <a:r>
              <a:rPr b="1" baseline="-25000" lang="en" sz="1600">
                <a:solidFill>
                  <a:srgbClr val="FFFFFF"/>
                </a:solidFill>
                <a:latin typeface="Open Sans"/>
                <a:ea typeface="Open Sans"/>
                <a:cs typeface="Open Sans"/>
                <a:sym typeface="Open Sans"/>
              </a:rPr>
              <a:t>3</a:t>
            </a:r>
            <a:endParaRPr b="1"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rPr b="1" baseline="-25000" lang="en" sz="1600">
                <a:solidFill>
                  <a:srgbClr val="FFFFFF"/>
                </a:solidFill>
                <a:latin typeface="Open Sans"/>
                <a:ea typeface="Open Sans"/>
                <a:cs typeface="Open Sans"/>
                <a:sym typeface="Open Sans"/>
              </a:rPr>
              <a:t>.</a:t>
            </a:r>
            <a:endParaRPr b="1"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rPr baseline="-25000" lang="en" sz="1600">
                <a:solidFill>
                  <a:srgbClr val="FFFFFF"/>
                </a:solidFill>
                <a:latin typeface="Open Sans"/>
                <a:ea typeface="Open Sans"/>
                <a:cs typeface="Open Sans"/>
                <a:sym typeface="Open Sans"/>
              </a:rPr>
              <a:t>.</a:t>
            </a:r>
            <a:endParaRPr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rPr baseline="-25000" lang="en" sz="1600">
                <a:solidFill>
                  <a:srgbClr val="FFFFFF"/>
                </a:solidFill>
                <a:latin typeface="Open Sans"/>
                <a:ea typeface="Open Sans"/>
                <a:cs typeface="Open Sans"/>
                <a:sym typeface="Open Sans"/>
              </a:rPr>
              <a:t>.</a:t>
            </a:r>
            <a:endParaRPr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rPr baseline="-25000" lang="en" sz="1600">
                <a:solidFill>
                  <a:srgbClr val="FFFFFF"/>
                </a:solidFill>
                <a:latin typeface="Open Sans"/>
                <a:ea typeface="Open Sans"/>
                <a:cs typeface="Open Sans"/>
                <a:sym typeface="Open Sans"/>
              </a:rPr>
              <a:t>.</a:t>
            </a:r>
            <a:endParaRPr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rPr baseline="-25000" lang="en" sz="1600">
                <a:solidFill>
                  <a:srgbClr val="FFFFFF"/>
                </a:solidFill>
                <a:latin typeface="Open Sans"/>
                <a:ea typeface="Open Sans"/>
                <a:cs typeface="Open Sans"/>
                <a:sym typeface="Open Sans"/>
              </a:rPr>
              <a:t>.</a:t>
            </a:r>
            <a:endParaRPr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rPr baseline="-25000" lang="en" sz="1600">
                <a:solidFill>
                  <a:srgbClr val="FFFFFF"/>
                </a:solidFill>
                <a:latin typeface="Open Sans"/>
                <a:ea typeface="Open Sans"/>
                <a:cs typeface="Open Sans"/>
                <a:sym typeface="Open Sans"/>
              </a:rPr>
              <a:t>.</a:t>
            </a:r>
            <a:endParaRPr baseline="-25000" sz="1600">
              <a:solidFill>
                <a:srgbClr val="FFFFFF"/>
              </a:solidFill>
              <a:latin typeface="Open Sans"/>
              <a:ea typeface="Open Sans"/>
              <a:cs typeface="Open Sans"/>
              <a:sym typeface="Open Sans"/>
            </a:endParaRPr>
          </a:p>
          <a:p>
            <a:pPr indent="0" lvl="0" marL="0" rtl="0" algn="l">
              <a:spcBef>
                <a:spcPts val="0"/>
              </a:spcBef>
              <a:spcAft>
                <a:spcPts val="0"/>
              </a:spcAft>
              <a:buNone/>
            </a:pPr>
            <a:r>
              <a:rPr b="1" lang="en" sz="1600">
                <a:solidFill>
                  <a:srgbClr val="FFFFFF"/>
                </a:solidFill>
                <a:latin typeface="Open Sans"/>
                <a:ea typeface="Open Sans"/>
                <a:cs typeface="Open Sans"/>
                <a:sym typeface="Open Sans"/>
              </a:rPr>
              <a:t>V</a:t>
            </a:r>
            <a:r>
              <a:rPr b="1" baseline="-25000" lang="en" sz="1600">
                <a:solidFill>
                  <a:srgbClr val="FFFFFF"/>
                </a:solidFill>
                <a:latin typeface="Open Sans"/>
                <a:ea typeface="Open Sans"/>
                <a:cs typeface="Open Sans"/>
                <a:sym typeface="Open Sans"/>
              </a:rPr>
              <a:t>N(Last)</a:t>
            </a:r>
            <a:endParaRPr b="1" baseline="-25000" sz="1600">
              <a:solidFill>
                <a:srgbClr val="FFFFFF"/>
              </a:solidFill>
              <a:latin typeface="Open Sans"/>
              <a:ea typeface="Open Sans"/>
              <a:cs typeface="Open Sans"/>
              <a:sym typeface="Open Sans"/>
            </a:endParaRPr>
          </a:p>
        </p:txBody>
      </p:sp>
      <p:cxnSp>
        <p:nvCxnSpPr>
          <p:cNvPr id="460" name="Google Shape;460;p58"/>
          <p:cNvCxnSpPr>
            <a:stCxn id="461" idx="7"/>
          </p:cNvCxnSpPr>
          <p:nvPr/>
        </p:nvCxnSpPr>
        <p:spPr>
          <a:xfrm flipH="1" rot="10800000">
            <a:off x="7440961" y="4122824"/>
            <a:ext cx="391500" cy="419100"/>
          </a:xfrm>
          <a:prstGeom prst="straightConnector1">
            <a:avLst/>
          </a:prstGeom>
          <a:noFill/>
          <a:ln cap="flat" cmpd="sng" w="28575">
            <a:solidFill>
              <a:srgbClr val="FF0000"/>
            </a:solidFill>
            <a:prstDash val="solid"/>
            <a:round/>
            <a:headEnd len="med" w="med" type="none"/>
            <a:tailEnd len="med" w="med" type="triangle"/>
          </a:ln>
        </p:spPr>
      </p:cxnSp>
      <p:sp>
        <p:nvSpPr>
          <p:cNvPr id="461" name="Google Shape;461;p58"/>
          <p:cNvSpPr/>
          <p:nvPr/>
        </p:nvSpPr>
        <p:spPr>
          <a:xfrm>
            <a:off x="2246150" y="4457175"/>
            <a:ext cx="6086100" cy="5787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a:p>
            <a:pPr indent="0" lvl="0" marL="0" rtl="0" algn="ctr">
              <a:spcBef>
                <a:spcPts val="0"/>
              </a:spcBef>
              <a:spcAft>
                <a:spcPts val="0"/>
              </a:spcAft>
              <a:buClr>
                <a:schemeClr val="dk1"/>
              </a:buClr>
              <a:buSzPts val="1100"/>
              <a:buFont typeface="Arial"/>
              <a:buNone/>
            </a:pPr>
            <a:r>
              <a:rPr lang="en">
                <a:solidFill>
                  <a:srgbClr val="FF0000"/>
                </a:solidFill>
              </a:rPr>
              <a:t>Result: A </a:t>
            </a:r>
            <a:r>
              <a:rPr b="1" lang="en">
                <a:solidFill>
                  <a:srgbClr val="FF0000"/>
                </a:solidFill>
              </a:rPr>
              <a:t>ranking</a:t>
            </a:r>
            <a:r>
              <a:rPr lang="en">
                <a:solidFill>
                  <a:srgbClr val="FF0000"/>
                </a:solidFill>
              </a:rPr>
              <a:t> of the nodes in the network based on centrality measure</a:t>
            </a:r>
            <a:endParaRPr>
              <a:solidFill>
                <a:srgbClr val="FF0000"/>
              </a:solidFill>
            </a:endParaRPr>
          </a:p>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5" name="Shape 465"/>
        <p:cNvGrpSpPr/>
        <p:nvPr/>
      </p:nvGrpSpPr>
      <p:grpSpPr>
        <a:xfrm>
          <a:off x="0" y="0"/>
          <a:ext cx="0" cy="0"/>
          <a:chOff x="0" y="0"/>
          <a:chExt cx="0" cy="0"/>
        </a:xfrm>
      </p:grpSpPr>
      <p:sp>
        <p:nvSpPr>
          <p:cNvPr id="466" name="Google Shape;466;p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467" name="Google Shape;467;p59"/>
          <p:cNvSpPr txBox="1"/>
          <p:nvPr/>
        </p:nvSpPr>
        <p:spPr>
          <a:xfrm>
            <a:off x="5232263" y="4023550"/>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maximal connected subgraph of order 7</a:t>
            </a:r>
            <a:endParaRPr b="1">
              <a:solidFill>
                <a:srgbClr val="FF0000"/>
              </a:solidFill>
            </a:endParaRPr>
          </a:p>
        </p:txBody>
      </p:sp>
      <p:cxnSp>
        <p:nvCxnSpPr>
          <p:cNvPr id="468" name="Google Shape;468;p59"/>
          <p:cNvCxnSpPr>
            <a:stCxn id="467" idx="0"/>
          </p:cNvCxnSpPr>
          <p:nvPr/>
        </p:nvCxnSpPr>
        <p:spPr>
          <a:xfrm flipH="1" rot="10800000">
            <a:off x="6182513" y="3415450"/>
            <a:ext cx="535200" cy="608100"/>
          </a:xfrm>
          <a:prstGeom prst="straightConnector1">
            <a:avLst/>
          </a:prstGeom>
          <a:noFill/>
          <a:ln cap="flat" cmpd="sng" w="19050">
            <a:solidFill>
              <a:srgbClr val="FF0000"/>
            </a:solidFill>
            <a:prstDash val="solid"/>
            <a:round/>
            <a:headEnd len="med" w="med" type="none"/>
            <a:tailEnd len="med" w="med" type="triangle"/>
          </a:ln>
        </p:spPr>
      </p:cxnSp>
      <p:sp>
        <p:nvSpPr>
          <p:cNvPr id="469" name="Google Shape;469;p59"/>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9"/>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9"/>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9"/>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3" name="Google Shape;473;p59"/>
          <p:cNvCxnSpPr>
            <a:stCxn id="469" idx="3"/>
            <a:endCxn id="470"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474" name="Google Shape;474;p59"/>
          <p:cNvCxnSpPr>
            <a:stCxn id="472" idx="1"/>
            <a:endCxn id="470"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475" name="Google Shape;475;p59"/>
          <p:cNvCxnSpPr>
            <a:stCxn id="469" idx="4"/>
            <a:endCxn id="472"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476" name="Google Shape;476;p59"/>
          <p:cNvCxnSpPr>
            <a:stCxn id="469" idx="5"/>
            <a:endCxn id="471"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477" name="Google Shape;477;p59"/>
          <p:cNvCxnSpPr>
            <a:stCxn id="471" idx="2"/>
            <a:endCxn id="470"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478" name="Google Shape;478;p59"/>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9"/>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59"/>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9"/>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2" name="Google Shape;482;p59"/>
          <p:cNvCxnSpPr>
            <a:stCxn id="478" idx="3"/>
            <a:endCxn id="479"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83" name="Google Shape;483;p59"/>
          <p:cNvCxnSpPr>
            <a:stCxn id="481" idx="0"/>
            <a:endCxn id="479"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84" name="Google Shape;484;p59"/>
          <p:cNvCxnSpPr>
            <a:stCxn id="478" idx="5"/>
            <a:endCxn id="480"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85" name="Google Shape;485;p59"/>
          <p:cNvCxnSpPr>
            <a:stCxn id="480" idx="2"/>
            <a:endCxn id="479"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86" name="Google Shape;486;p59"/>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7" name="Google Shape;487;p59"/>
          <p:cNvCxnSpPr>
            <a:stCxn id="486" idx="0"/>
            <a:endCxn id="479"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88" name="Google Shape;488;p59"/>
          <p:cNvCxnSpPr>
            <a:stCxn id="480" idx="3"/>
            <a:endCxn id="481"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89" name="Google Shape;489;p59"/>
          <p:cNvCxnSpPr>
            <a:stCxn id="480" idx="3"/>
            <a:endCxn id="486"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90" name="Google Shape;490;p59"/>
          <p:cNvCxnSpPr>
            <a:stCxn id="478" idx="4"/>
            <a:endCxn id="486"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491" name="Google Shape;491;p59"/>
          <p:cNvCxnSpPr>
            <a:stCxn id="471" idx="7"/>
            <a:endCxn id="481"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92" name="Google Shape;492;p59"/>
          <p:cNvCxnSpPr>
            <a:stCxn id="472" idx="7"/>
            <a:endCxn id="471" idx="3"/>
          </p:cNvCxnSpPr>
          <p:nvPr/>
        </p:nvCxnSpPr>
        <p:spPr>
          <a:xfrm flipH="1" rot="10800000">
            <a:off x="6021501" y="2675824"/>
            <a:ext cx="374100" cy="431400"/>
          </a:xfrm>
          <a:prstGeom prst="straightConnector1">
            <a:avLst/>
          </a:prstGeom>
          <a:noFill/>
          <a:ln cap="flat" cmpd="sng" w="19050">
            <a:solidFill>
              <a:srgbClr val="FF0000"/>
            </a:solidFill>
            <a:prstDash val="solid"/>
            <a:round/>
            <a:headEnd len="med" w="med" type="none"/>
            <a:tailEnd len="med" w="med" type="none"/>
          </a:ln>
        </p:spPr>
      </p:cxnSp>
      <p:cxnSp>
        <p:nvCxnSpPr>
          <p:cNvPr id="493" name="Google Shape;493;p59"/>
          <p:cNvCxnSpPr>
            <a:stCxn id="481" idx="6"/>
            <a:endCxn id="486"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494" name="Google Shape;494;p59"/>
          <p:cNvCxnSpPr>
            <a:stCxn id="478" idx="4"/>
            <a:endCxn id="481"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495" name="Google Shape;495;p59"/>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9"/>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7" name="Google Shape;497;p59"/>
          <p:cNvCxnSpPr>
            <a:stCxn id="495" idx="3"/>
            <a:endCxn id="496"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sp>
        <p:nvSpPr>
          <p:cNvPr id="498" name="Google Shape;498;p59"/>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 name="Google Shape;499;p59"/>
          <p:cNvCxnSpPr>
            <a:stCxn id="498" idx="2"/>
            <a:endCxn id="496"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500" name="Google Shape;500;p59"/>
          <p:cNvCxnSpPr>
            <a:stCxn id="498" idx="0"/>
            <a:endCxn id="495"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501" name="Google Shape;501;p59"/>
          <p:cNvCxnSpPr>
            <a:endCxn id="496" idx="1"/>
          </p:cNvCxnSpPr>
          <p:nvPr/>
        </p:nvCxnSpPr>
        <p:spPr>
          <a:xfrm>
            <a:off x="6516863" y="2675902"/>
            <a:ext cx="800400" cy="1149900"/>
          </a:xfrm>
          <a:prstGeom prst="straightConnector1">
            <a:avLst/>
          </a:prstGeom>
          <a:noFill/>
          <a:ln cap="flat" cmpd="sng" w="19050">
            <a:solidFill>
              <a:srgbClr val="FF0000"/>
            </a:solidFill>
            <a:prstDash val="solid"/>
            <a:round/>
            <a:headEnd len="med" w="med" type="none"/>
            <a:tailEnd len="med" w="med" type="none"/>
          </a:ln>
        </p:spPr>
      </p:cxnSp>
      <p:sp>
        <p:nvSpPr>
          <p:cNvPr id="502" name="Google Shape;502;p59"/>
          <p:cNvSpPr txBox="1"/>
          <p:nvPr>
            <p:ph idx="1" type="body"/>
          </p:nvPr>
        </p:nvSpPr>
        <p:spPr>
          <a:xfrm>
            <a:off x="311700" y="1225225"/>
            <a:ext cx="4579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subgraph is </a:t>
            </a:r>
            <a:r>
              <a:rPr b="1" lang="en"/>
              <a:t>maximal</a:t>
            </a:r>
            <a:r>
              <a:rPr lang="en"/>
              <a:t> with respect to a given property: </a:t>
            </a:r>
            <a:endParaRPr/>
          </a:p>
          <a:p>
            <a:pPr indent="-317500" lvl="1" marL="914400" rtl="0" algn="l">
              <a:spcBef>
                <a:spcPts val="0"/>
              </a:spcBef>
              <a:spcAft>
                <a:spcPts val="0"/>
              </a:spcAft>
              <a:buSzPts val="1400"/>
              <a:buChar char="○"/>
            </a:pPr>
            <a:r>
              <a:rPr lang="en"/>
              <a:t>(e.g., connectivity) </a:t>
            </a:r>
            <a:endParaRPr/>
          </a:p>
          <a:p>
            <a:pPr indent="-342900" lvl="0" marL="457200" rtl="0" algn="l">
              <a:spcBef>
                <a:spcPts val="0"/>
              </a:spcBef>
              <a:spcAft>
                <a:spcPts val="0"/>
              </a:spcAft>
              <a:buSzPts val="1800"/>
              <a:buChar char="●"/>
            </a:pPr>
            <a:r>
              <a:rPr i="1" lang="en"/>
              <a:t>If adding more nodes or links to the subgraph will mean it no longer has that property</a:t>
            </a:r>
            <a:endParaRPr i="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6" name="Shape 506"/>
        <p:cNvGrpSpPr/>
        <p:nvPr/>
      </p:nvGrpSpPr>
      <p:grpSpPr>
        <a:xfrm>
          <a:off x="0" y="0"/>
          <a:ext cx="0" cy="0"/>
          <a:chOff x="0" y="0"/>
          <a:chExt cx="0" cy="0"/>
        </a:xfrm>
      </p:grpSpPr>
      <p:sp>
        <p:nvSpPr>
          <p:cNvPr id="507" name="Google Shape;507;p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508" name="Google Shape;508;p60"/>
          <p:cNvSpPr txBox="1"/>
          <p:nvPr/>
        </p:nvSpPr>
        <p:spPr>
          <a:xfrm>
            <a:off x="5232263" y="4023550"/>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maximal connected subgraph of order 8</a:t>
            </a:r>
            <a:endParaRPr b="1">
              <a:solidFill>
                <a:srgbClr val="FF0000"/>
              </a:solidFill>
            </a:endParaRPr>
          </a:p>
        </p:txBody>
      </p:sp>
      <p:cxnSp>
        <p:nvCxnSpPr>
          <p:cNvPr id="509" name="Google Shape;509;p60"/>
          <p:cNvCxnSpPr>
            <a:stCxn id="508" idx="0"/>
          </p:cNvCxnSpPr>
          <p:nvPr/>
        </p:nvCxnSpPr>
        <p:spPr>
          <a:xfrm flipH="1" rot="10800000">
            <a:off x="6182513" y="3415450"/>
            <a:ext cx="535200" cy="608100"/>
          </a:xfrm>
          <a:prstGeom prst="straightConnector1">
            <a:avLst/>
          </a:prstGeom>
          <a:noFill/>
          <a:ln cap="flat" cmpd="sng" w="19050">
            <a:solidFill>
              <a:srgbClr val="FF0000"/>
            </a:solidFill>
            <a:prstDash val="solid"/>
            <a:round/>
            <a:headEnd len="med" w="med" type="none"/>
            <a:tailEnd len="med" w="med" type="triangle"/>
          </a:ln>
        </p:spPr>
      </p:cxnSp>
      <p:sp>
        <p:nvSpPr>
          <p:cNvPr id="510" name="Google Shape;510;p60"/>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0"/>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0"/>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0"/>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 name="Google Shape;514;p60"/>
          <p:cNvCxnSpPr>
            <a:stCxn id="510" idx="3"/>
            <a:endCxn id="511"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515" name="Google Shape;515;p60"/>
          <p:cNvCxnSpPr>
            <a:stCxn id="513" idx="1"/>
            <a:endCxn id="511"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516" name="Google Shape;516;p60"/>
          <p:cNvCxnSpPr>
            <a:stCxn id="510" idx="4"/>
            <a:endCxn id="513"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517" name="Google Shape;517;p60"/>
          <p:cNvCxnSpPr>
            <a:stCxn id="510" idx="5"/>
            <a:endCxn id="512"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518" name="Google Shape;518;p60"/>
          <p:cNvCxnSpPr>
            <a:stCxn id="512" idx="2"/>
            <a:endCxn id="511"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519" name="Google Shape;519;p60"/>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0"/>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60"/>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0"/>
          <p:cNvSpPr/>
          <p:nvPr/>
        </p:nvSpPr>
        <p:spPr>
          <a:xfrm>
            <a:off x="7246000" y="14947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3" name="Google Shape;523;p60"/>
          <p:cNvCxnSpPr>
            <a:stCxn id="519" idx="3"/>
            <a:endCxn id="520"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24" name="Google Shape;524;p60"/>
          <p:cNvCxnSpPr>
            <a:stCxn id="522" idx="0"/>
            <a:endCxn id="520"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25" name="Google Shape;525;p60"/>
          <p:cNvCxnSpPr>
            <a:stCxn id="519" idx="5"/>
            <a:endCxn id="521"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26" name="Google Shape;526;p60"/>
          <p:cNvCxnSpPr>
            <a:stCxn id="521" idx="2"/>
            <a:endCxn id="520"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27" name="Google Shape;527;p60"/>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8" name="Google Shape;528;p60"/>
          <p:cNvCxnSpPr>
            <a:stCxn id="527" idx="0"/>
            <a:endCxn id="520"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29" name="Google Shape;529;p60"/>
          <p:cNvCxnSpPr>
            <a:stCxn id="521" idx="3"/>
            <a:endCxn id="522"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30" name="Google Shape;530;p60"/>
          <p:cNvCxnSpPr>
            <a:stCxn id="521" idx="3"/>
            <a:endCxn id="527"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31" name="Google Shape;531;p60"/>
          <p:cNvCxnSpPr>
            <a:stCxn id="519" idx="4"/>
            <a:endCxn id="527"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532" name="Google Shape;532;p60"/>
          <p:cNvCxnSpPr>
            <a:stCxn id="512" idx="7"/>
            <a:endCxn id="522" idx="3"/>
          </p:cNvCxnSpPr>
          <p:nvPr/>
        </p:nvCxnSpPr>
        <p:spPr>
          <a:xfrm flipH="1" rot="10800000">
            <a:off x="6516801" y="1640899"/>
            <a:ext cx="754200" cy="913800"/>
          </a:xfrm>
          <a:prstGeom prst="straightConnector1">
            <a:avLst/>
          </a:prstGeom>
          <a:noFill/>
          <a:ln cap="flat" cmpd="sng" w="19050">
            <a:solidFill>
              <a:srgbClr val="FF0000"/>
            </a:solidFill>
            <a:prstDash val="solid"/>
            <a:round/>
            <a:headEnd len="med" w="med" type="none"/>
            <a:tailEnd len="med" w="med" type="none"/>
          </a:ln>
        </p:spPr>
      </p:cxnSp>
      <p:cxnSp>
        <p:nvCxnSpPr>
          <p:cNvPr id="533" name="Google Shape;533;p60"/>
          <p:cNvCxnSpPr>
            <a:stCxn id="513" idx="7"/>
            <a:endCxn id="512" idx="3"/>
          </p:cNvCxnSpPr>
          <p:nvPr/>
        </p:nvCxnSpPr>
        <p:spPr>
          <a:xfrm flipH="1" rot="10800000">
            <a:off x="6021501" y="2675824"/>
            <a:ext cx="374100" cy="431400"/>
          </a:xfrm>
          <a:prstGeom prst="straightConnector1">
            <a:avLst/>
          </a:prstGeom>
          <a:noFill/>
          <a:ln cap="flat" cmpd="sng" w="19050">
            <a:solidFill>
              <a:srgbClr val="FF0000"/>
            </a:solidFill>
            <a:prstDash val="solid"/>
            <a:round/>
            <a:headEnd len="med" w="med" type="none"/>
            <a:tailEnd len="med" w="med" type="none"/>
          </a:ln>
        </p:spPr>
      </p:cxnSp>
      <p:cxnSp>
        <p:nvCxnSpPr>
          <p:cNvPr id="534" name="Google Shape;534;p60"/>
          <p:cNvCxnSpPr>
            <a:stCxn id="522" idx="6"/>
            <a:endCxn id="527"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535" name="Google Shape;535;p60"/>
          <p:cNvCxnSpPr>
            <a:stCxn id="519" idx="4"/>
            <a:endCxn id="522"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536" name="Google Shape;536;p60"/>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0"/>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8" name="Google Shape;538;p60"/>
          <p:cNvCxnSpPr>
            <a:stCxn id="536" idx="3"/>
            <a:endCxn id="537"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sp>
        <p:nvSpPr>
          <p:cNvPr id="539" name="Google Shape;539;p60"/>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0" name="Google Shape;540;p60"/>
          <p:cNvCxnSpPr>
            <a:stCxn id="539" idx="2"/>
            <a:endCxn id="537"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541" name="Google Shape;541;p60"/>
          <p:cNvCxnSpPr>
            <a:stCxn id="539" idx="0"/>
            <a:endCxn id="536"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542" name="Google Shape;542;p60"/>
          <p:cNvCxnSpPr>
            <a:endCxn id="537" idx="1"/>
          </p:cNvCxnSpPr>
          <p:nvPr/>
        </p:nvCxnSpPr>
        <p:spPr>
          <a:xfrm>
            <a:off x="6516863" y="2675902"/>
            <a:ext cx="800400" cy="1149900"/>
          </a:xfrm>
          <a:prstGeom prst="straightConnector1">
            <a:avLst/>
          </a:prstGeom>
          <a:noFill/>
          <a:ln cap="flat" cmpd="sng" w="19050">
            <a:solidFill>
              <a:srgbClr val="FF0000"/>
            </a:solidFill>
            <a:prstDash val="solid"/>
            <a:round/>
            <a:headEnd len="med" w="med" type="none"/>
            <a:tailEnd len="med" w="med" type="none"/>
          </a:ln>
        </p:spPr>
      </p:cxnSp>
      <p:sp>
        <p:nvSpPr>
          <p:cNvPr id="543" name="Google Shape;543;p60"/>
          <p:cNvSpPr txBox="1"/>
          <p:nvPr>
            <p:ph idx="1" type="body"/>
          </p:nvPr>
        </p:nvSpPr>
        <p:spPr>
          <a:xfrm>
            <a:off x="311700" y="1225225"/>
            <a:ext cx="4579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subgraph is </a:t>
            </a:r>
            <a:r>
              <a:rPr b="1" lang="en"/>
              <a:t>maximal</a:t>
            </a:r>
            <a:r>
              <a:rPr lang="en"/>
              <a:t> with respect to a given property: </a:t>
            </a:r>
            <a:endParaRPr/>
          </a:p>
          <a:p>
            <a:pPr indent="-317500" lvl="1" marL="914400" rtl="0" algn="l">
              <a:spcBef>
                <a:spcPts val="0"/>
              </a:spcBef>
              <a:spcAft>
                <a:spcPts val="0"/>
              </a:spcAft>
              <a:buSzPts val="1400"/>
              <a:buChar char="○"/>
            </a:pPr>
            <a:r>
              <a:rPr lang="en"/>
              <a:t>(e.g., connectivity) </a:t>
            </a:r>
            <a:endParaRPr/>
          </a:p>
          <a:p>
            <a:pPr indent="-342900" lvl="0" marL="457200" rtl="0" algn="l">
              <a:spcBef>
                <a:spcPts val="0"/>
              </a:spcBef>
              <a:spcAft>
                <a:spcPts val="0"/>
              </a:spcAft>
              <a:buSzPts val="1800"/>
              <a:buChar char="●"/>
            </a:pPr>
            <a:r>
              <a:rPr i="1" lang="en"/>
              <a:t>If adding more nodes or links to the subgraph will mean it no longer has that property</a:t>
            </a:r>
            <a:endParaRPr i="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7" name="Shape 547"/>
        <p:cNvGrpSpPr/>
        <p:nvPr/>
      </p:nvGrpSpPr>
      <p:grpSpPr>
        <a:xfrm>
          <a:off x="0" y="0"/>
          <a:ext cx="0" cy="0"/>
          <a:chOff x="0" y="0"/>
          <a:chExt cx="0" cy="0"/>
        </a:xfrm>
      </p:grpSpPr>
      <p:sp>
        <p:nvSpPr>
          <p:cNvPr id="548" name="Google Shape;548;p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Betweenness C</a:t>
            </a:r>
            <a:r>
              <a:rPr baseline="-25000" lang="en"/>
              <a:t>between</a:t>
            </a:r>
            <a:r>
              <a:rPr lang="en"/>
              <a:t>(v</a:t>
            </a:r>
            <a:r>
              <a:rPr baseline="-25000" lang="en"/>
              <a:t>i</a:t>
            </a:r>
            <a:r>
              <a:rPr lang="en"/>
              <a:t>)</a:t>
            </a:r>
            <a:endParaRPr/>
          </a:p>
        </p:txBody>
      </p:sp>
      <p:sp>
        <p:nvSpPr>
          <p:cNvPr id="549" name="Google Shape;549;p61"/>
          <p:cNvSpPr txBox="1"/>
          <p:nvPr>
            <p:ph idx="1" type="body"/>
          </p:nvPr>
        </p:nvSpPr>
        <p:spPr>
          <a:xfrm>
            <a:off x="311700" y="1225225"/>
            <a:ext cx="8554200" cy="17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proposed by Freeman (1977) </a:t>
            </a:r>
            <a:endParaRPr/>
          </a:p>
          <a:p>
            <a:pPr indent="-317500" lvl="1" marL="914400" rtl="0" algn="l">
              <a:spcBef>
                <a:spcPts val="0"/>
              </a:spcBef>
              <a:spcAft>
                <a:spcPts val="0"/>
              </a:spcAft>
              <a:buSzPts val="1400"/>
              <a:buChar char="○"/>
            </a:pPr>
            <a:r>
              <a:rPr b="1" lang="en"/>
              <a:t>Social Network Concept: </a:t>
            </a:r>
            <a:r>
              <a:rPr lang="en"/>
              <a:t>What share of the entire network flow goes through  a given person?</a:t>
            </a:r>
            <a:endParaRPr b="1"/>
          </a:p>
          <a:p>
            <a:pPr indent="-317500" lvl="1" marL="914400" rtl="0" algn="l">
              <a:spcBef>
                <a:spcPts val="0"/>
              </a:spcBef>
              <a:spcAft>
                <a:spcPts val="0"/>
              </a:spcAft>
              <a:buSzPts val="1400"/>
              <a:buChar char="○"/>
            </a:pPr>
            <a:r>
              <a:rPr b="1" lang="en"/>
              <a:t>Graph theoretic concept:</a:t>
            </a:r>
            <a:r>
              <a:rPr lang="en"/>
              <a:t> Sum of of the </a:t>
            </a:r>
            <a:r>
              <a:rPr i="1" lang="en"/>
              <a:t>proportion</a:t>
            </a:r>
            <a:r>
              <a:rPr lang="en"/>
              <a:t> of shortest paths in the graph between all other pairs of vertices {v</a:t>
            </a:r>
            <a:r>
              <a:rPr baseline="-25000" lang="en"/>
              <a:t>j</a:t>
            </a:r>
            <a:r>
              <a:rPr lang="en"/>
              <a:t>, v</a:t>
            </a:r>
            <a:r>
              <a:rPr baseline="-25000" lang="en"/>
              <a:t>k</a:t>
            </a:r>
            <a:r>
              <a:rPr lang="en"/>
              <a:t>} that contain v</a:t>
            </a:r>
            <a:r>
              <a:rPr baseline="-25000" lang="en"/>
              <a:t>i </a:t>
            </a:r>
            <a:r>
              <a:rPr lang="en"/>
              <a:t>	</a:t>
            </a:r>
            <a:endParaRPr/>
          </a:p>
          <a:p>
            <a:pPr indent="0" lvl="0" marL="0" rtl="0" algn="l">
              <a:spcBef>
                <a:spcPts val="0"/>
              </a:spcBef>
              <a:spcAft>
                <a:spcPts val="0"/>
              </a:spcAft>
              <a:buNone/>
            </a:pPr>
            <a:r>
              <a:t/>
            </a:r>
            <a:endParaRPr/>
          </a:p>
          <a:p>
            <a:pPr indent="0" lvl="0" marL="914400" rtl="0" algn="l">
              <a:spcBef>
                <a:spcPts val="0"/>
              </a:spcBef>
              <a:spcAft>
                <a:spcPts val="0"/>
              </a:spcAft>
              <a:buNone/>
            </a:pPr>
            <a:r>
              <a:t/>
            </a:r>
            <a:endParaRPr/>
          </a:p>
        </p:txBody>
      </p:sp>
      <p:pic>
        <p:nvPicPr>
          <p:cNvPr id="550" name="Google Shape;550;p61"/>
          <p:cNvPicPr preferRelativeResize="0"/>
          <p:nvPr/>
        </p:nvPicPr>
        <p:blipFill>
          <a:blip r:embed="rId3">
            <a:alphaModFix/>
          </a:blip>
          <a:stretch>
            <a:fillRect/>
          </a:stretch>
        </p:blipFill>
        <p:spPr>
          <a:xfrm>
            <a:off x="1950975" y="2957725"/>
            <a:ext cx="5242061" cy="1880975"/>
          </a:xfrm>
          <a:prstGeom prst="rect">
            <a:avLst/>
          </a:prstGeom>
          <a:noFill/>
          <a:ln>
            <a:noFill/>
          </a:ln>
        </p:spPr>
      </p:pic>
      <p:sp>
        <p:nvSpPr>
          <p:cNvPr id="551" name="Google Shape;551;p61"/>
          <p:cNvSpPr txBox="1"/>
          <p:nvPr/>
        </p:nvSpPr>
        <p:spPr>
          <a:xfrm>
            <a:off x="5875100"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C</a:t>
            </a:r>
            <a:endParaRPr sz="1800">
              <a:latin typeface="Open Sans"/>
              <a:ea typeface="Open Sans"/>
              <a:cs typeface="Open Sans"/>
              <a:sym typeface="Open Sans"/>
            </a:endParaRPr>
          </a:p>
        </p:txBody>
      </p:sp>
      <p:sp>
        <p:nvSpPr>
          <p:cNvPr id="552" name="Google Shape;552;p61"/>
          <p:cNvSpPr txBox="1"/>
          <p:nvPr/>
        </p:nvSpPr>
        <p:spPr>
          <a:xfrm>
            <a:off x="5378425" y="4467300"/>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D</a:t>
            </a:r>
            <a:endParaRPr sz="1800">
              <a:latin typeface="Open Sans"/>
              <a:ea typeface="Open Sans"/>
              <a:cs typeface="Open Sans"/>
              <a:sym typeface="Open Sans"/>
            </a:endParaRPr>
          </a:p>
        </p:txBody>
      </p:sp>
      <p:sp>
        <p:nvSpPr>
          <p:cNvPr id="553" name="Google Shape;553;p61"/>
          <p:cNvSpPr txBox="1"/>
          <p:nvPr/>
        </p:nvSpPr>
        <p:spPr>
          <a:xfrm>
            <a:off x="6342825"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E</a:t>
            </a:r>
            <a:endParaRPr sz="1800">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7" name="Shape 557"/>
        <p:cNvGrpSpPr/>
        <p:nvPr/>
      </p:nvGrpSpPr>
      <p:grpSpPr>
        <a:xfrm>
          <a:off x="0" y="0"/>
          <a:ext cx="0" cy="0"/>
          <a:chOff x="0" y="0"/>
          <a:chExt cx="0" cy="0"/>
        </a:xfrm>
      </p:grpSpPr>
      <p:sp>
        <p:nvSpPr>
          <p:cNvPr id="558" name="Google Shape;558;p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Betweenness C</a:t>
            </a:r>
            <a:r>
              <a:rPr baseline="-25000" lang="en"/>
              <a:t>between</a:t>
            </a:r>
            <a:r>
              <a:rPr lang="en"/>
              <a:t>(v</a:t>
            </a:r>
            <a:r>
              <a:rPr baseline="-25000" lang="en"/>
              <a:t>i</a:t>
            </a:r>
            <a:r>
              <a:rPr lang="en"/>
              <a:t>)</a:t>
            </a:r>
            <a:endParaRPr/>
          </a:p>
        </p:txBody>
      </p:sp>
      <p:sp>
        <p:nvSpPr>
          <p:cNvPr id="559" name="Google Shape;559;p62"/>
          <p:cNvSpPr txBox="1"/>
          <p:nvPr>
            <p:ph idx="1" type="body"/>
          </p:nvPr>
        </p:nvSpPr>
        <p:spPr>
          <a:xfrm>
            <a:off x="311700" y="1225225"/>
            <a:ext cx="8554200" cy="17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proposed by Freeman (1977) </a:t>
            </a:r>
            <a:endParaRPr/>
          </a:p>
          <a:p>
            <a:pPr indent="-317500" lvl="1" marL="914400" rtl="0" algn="l">
              <a:spcBef>
                <a:spcPts val="0"/>
              </a:spcBef>
              <a:spcAft>
                <a:spcPts val="0"/>
              </a:spcAft>
              <a:buSzPts val="1400"/>
              <a:buChar char="○"/>
            </a:pPr>
            <a:r>
              <a:rPr b="1" lang="en"/>
              <a:t>Social Network Concept: </a:t>
            </a:r>
            <a:r>
              <a:rPr lang="en"/>
              <a:t>What share of the entire network flow goes through  a given person?</a:t>
            </a:r>
            <a:endParaRPr b="1"/>
          </a:p>
          <a:p>
            <a:pPr indent="-317500" lvl="1" marL="914400" rtl="0" algn="l">
              <a:spcBef>
                <a:spcPts val="0"/>
              </a:spcBef>
              <a:spcAft>
                <a:spcPts val="0"/>
              </a:spcAft>
              <a:buSzPts val="1400"/>
              <a:buChar char="○"/>
            </a:pPr>
            <a:r>
              <a:rPr b="1" lang="en"/>
              <a:t>Graph theoretic concept:</a:t>
            </a:r>
            <a:r>
              <a:rPr lang="en"/>
              <a:t> Sum of of the </a:t>
            </a:r>
            <a:r>
              <a:rPr i="1" lang="en"/>
              <a:t>proportion</a:t>
            </a:r>
            <a:r>
              <a:rPr lang="en"/>
              <a:t> of shortest paths in the graph between all other pairs of vertices {v</a:t>
            </a:r>
            <a:r>
              <a:rPr baseline="-25000" lang="en"/>
              <a:t>j</a:t>
            </a:r>
            <a:r>
              <a:rPr lang="en"/>
              <a:t>, v</a:t>
            </a:r>
            <a:r>
              <a:rPr baseline="-25000" lang="en"/>
              <a:t>k</a:t>
            </a:r>
            <a:r>
              <a:rPr lang="en"/>
              <a:t>} that contain v</a:t>
            </a:r>
            <a:r>
              <a:rPr baseline="-25000" lang="en"/>
              <a:t>i </a:t>
            </a:r>
            <a:r>
              <a:rPr lang="en"/>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pic>
        <p:nvPicPr>
          <p:cNvPr id="560" name="Google Shape;560;p62"/>
          <p:cNvPicPr preferRelativeResize="0"/>
          <p:nvPr/>
        </p:nvPicPr>
        <p:blipFill>
          <a:blip r:embed="rId3">
            <a:alphaModFix/>
          </a:blip>
          <a:stretch>
            <a:fillRect/>
          </a:stretch>
        </p:blipFill>
        <p:spPr>
          <a:xfrm>
            <a:off x="1950975" y="2957725"/>
            <a:ext cx="5242061" cy="1880975"/>
          </a:xfrm>
          <a:prstGeom prst="rect">
            <a:avLst/>
          </a:prstGeom>
          <a:noFill/>
          <a:ln>
            <a:noFill/>
          </a:ln>
        </p:spPr>
      </p:pic>
      <p:sp>
        <p:nvSpPr>
          <p:cNvPr id="561" name="Google Shape;561;p62"/>
          <p:cNvSpPr txBox="1"/>
          <p:nvPr/>
        </p:nvSpPr>
        <p:spPr>
          <a:xfrm>
            <a:off x="5875100"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C</a:t>
            </a:r>
            <a:endParaRPr sz="1800">
              <a:latin typeface="Open Sans"/>
              <a:ea typeface="Open Sans"/>
              <a:cs typeface="Open Sans"/>
              <a:sym typeface="Open Sans"/>
            </a:endParaRPr>
          </a:p>
        </p:txBody>
      </p:sp>
      <p:cxnSp>
        <p:nvCxnSpPr>
          <p:cNvPr id="562" name="Google Shape;562;p62"/>
          <p:cNvCxnSpPr/>
          <p:nvPr/>
        </p:nvCxnSpPr>
        <p:spPr>
          <a:xfrm>
            <a:off x="4161975" y="3632325"/>
            <a:ext cx="1212000" cy="108300"/>
          </a:xfrm>
          <a:prstGeom prst="straightConnector1">
            <a:avLst/>
          </a:prstGeom>
          <a:noFill/>
          <a:ln cap="flat" cmpd="sng" w="38100">
            <a:solidFill>
              <a:srgbClr val="FF0000"/>
            </a:solidFill>
            <a:prstDash val="solid"/>
            <a:round/>
            <a:headEnd len="med" w="med" type="none"/>
            <a:tailEnd len="med" w="med" type="none"/>
          </a:ln>
        </p:spPr>
      </p:cxnSp>
      <p:cxnSp>
        <p:nvCxnSpPr>
          <p:cNvPr id="563" name="Google Shape;563;p62"/>
          <p:cNvCxnSpPr/>
          <p:nvPr/>
        </p:nvCxnSpPr>
        <p:spPr>
          <a:xfrm flipH="1" rot="10800000">
            <a:off x="5600575" y="3464800"/>
            <a:ext cx="335100" cy="197100"/>
          </a:xfrm>
          <a:prstGeom prst="straightConnector1">
            <a:avLst/>
          </a:prstGeom>
          <a:noFill/>
          <a:ln cap="flat" cmpd="sng" w="38100">
            <a:solidFill>
              <a:srgbClr val="FF0000"/>
            </a:solidFill>
            <a:prstDash val="solid"/>
            <a:round/>
            <a:headEnd len="med" w="med" type="none"/>
            <a:tailEnd len="med" w="med" type="none"/>
          </a:ln>
        </p:spPr>
      </p:cxnSp>
      <p:sp>
        <p:nvSpPr>
          <p:cNvPr id="564" name="Google Shape;564;p62"/>
          <p:cNvSpPr txBox="1"/>
          <p:nvPr/>
        </p:nvSpPr>
        <p:spPr>
          <a:xfrm>
            <a:off x="5378425" y="4467300"/>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D</a:t>
            </a:r>
            <a:endParaRPr sz="1800">
              <a:latin typeface="Open Sans"/>
              <a:ea typeface="Open Sans"/>
              <a:cs typeface="Open Sans"/>
              <a:sym typeface="Open Sans"/>
            </a:endParaRPr>
          </a:p>
        </p:txBody>
      </p:sp>
      <p:sp>
        <p:nvSpPr>
          <p:cNvPr id="565" name="Google Shape;565;p62"/>
          <p:cNvSpPr txBox="1"/>
          <p:nvPr/>
        </p:nvSpPr>
        <p:spPr>
          <a:xfrm>
            <a:off x="6342825"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E</a:t>
            </a:r>
            <a:endParaRPr sz="1800">
              <a:latin typeface="Open Sans"/>
              <a:ea typeface="Open Sans"/>
              <a:cs typeface="Open Sans"/>
              <a:sym typeface="Ope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9" name="Shape 569"/>
        <p:cNvGrpSpPr/>
        <p:nvPr/>
      </p:nvGrpSpPr>
      <p:grpSpPr>
        <a:xfrm>
          <a:off x="0" y="0"/>
          <a:ext cx="0" cy="0"/>
          <a:chOff x="0" y="0"/>
          <a:chExt cx="0" cy="0"/>
        </a:xfrm>
      </p:grpSpPr>
      <p:sp>
        <p:nvSpPr>
          <p:cNvPr id="570" name="Google Shape;570;p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Betweenness C</a:t>
            </a:r>
            <a:r>
              <a:rPr baseline="-25000" lang="en"/>
              <a:t>between</a:t>
            </a:r>
            <a:r>
              <a:rPr lang="en"/>
              <a:t>(v</a:t>
            </a:r>
            <a:r>
              <a:rPr baseline="-25000" lang="en"/>
              <a:t>i</a:t>
            </a:r>
            <a:r>
              <a:rPr lang="en"/>
              <a:t>)</a:t>
            </a:r>
            <a:endParaRPr/>
          </a:p>
        </p:txBody>
      </p:sp>
      <p:sp>
        <p:nvSpPr>
          <p:cNvPr id="571" name="Google Shape;571;p63"/>
          <p:cNvSpPr txBox="1"/>
          <p:nvPr>
            <p:ph idx="1" type="body"/>
          </p:nvPr>
        </p:nvSpPr>
        <p:spPr>
          <a:xfrm>
            <a:off x="311700" y="1225225"/>
            <a:ext cx="8554200" cy="17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proposed by Freeman (1977) </a:t>
            </a:r>
            <a:endParaRPr/>
          </a:p>
          <a:p>
            <a:pPr indent="-317500" lvl="1" marL="914400" rtl="0" algn="l">
              <a:spcBef>
                <a:spcPts val="0"/>
              </a:spcBef>
              <a:spcAft>
                <a:spcPts val="0"/>
              </a:spcAft>
              <a:buSzPts val="1400"/>
              <a:buChar char="○"/>
            </a:pPr>
            <a:r>
              <a:rPr b="1" lang="en"/>
              <a:t>Social Network Concept: </a:t>
            </a:r>
            <a:r>
              <a:rPr lang="en"/>
              <a:t>What share of the entire network flow goes through  a given person?</a:t>
            </a:r>
            <a:endParaRPr b="1"/>
          </a:p>
          <a:p>
            <a:pPr indent="-317500" lvl="1" marL="914400" rtl="0" algn="l">
              <a:spcBef>
                <a:spcPts val="0"/>
              </a:spcBef>
              <a:spcAft>
                <a:spcPts val="0"/>
              </a:spcAft>
              <a:buSzPts val="1400"/>
              <a:buChar char="○"/>
            </a:pPr>
            <a:r>
              <a:rPr b="1" lang="en"/>
              <a:t>Graph theoretic concept:</a:t>
            </a:r>
            <a:r>
              <a:rPr lang="en"/>
              <a:t> Sum of of the </a:t>
            </a:r>
            <a:r>
              <a:rPr i="1" lang="en"/>
              <a:t>proportion</a:t>
            </a:r>
            <a:r>
              <a:rPr lang="en"/>
              <a:t> of shortest paths in the graph between all other pairs of vertices {v</a:t>
            </a:r>
            <a:r>
              <a:rPr baseline="-25000" lang="en"/>
              <a:t>j</a:t>
            </a:r>
            <a:r>
              <a:rPr lang="en"/>
              <a:t>, v</a:t>
            </a:r>
            <a:r>
              <a:rPr baseline="-25000" lang="en"/>
              <a:t>k</a:t>
            </a:r>
            <a:r>
              <a:rPr lang="en"/>
              <a:t>} that contain v</a:t>
            </a:r>
            <a:r>
              <a:rPr baseline="-25000" lang="en"/>
              <a:t>i </a:t>
            </a:r>
            <a:r>
              <a:rPr lang="en"/>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pic>
        <p:nvPicPr>
          <p:cNvPr id="572" name="Google Shape;572;p63"/>
          <p:cNvPicPr preferRelativeResize="0"/>
          <p:nvPr/>
        </p:nvPicPr>
        <p:blipFill>
          <a:blip r:embed="rId3">
            <a:alphaModFix/>
          </a:blip>
          <a:stretch>
            <a:fillRect/>
          </a:stretch>
        </p:blipFill>
        <p:spPr>
          <a:xfrm>
            <a:off x="1950975" y="2957725"/>
            <a:ext cx="5242061" cy="1880975"/>
          </a:xfrm>
          <a:prstGeom prst="rect">
            <a:avLst/>
          </a:prstGeom>
          <a:noFill/>
          <a:ln>
            <a:noFill/>
          </a:ln>
        </p:spPr>
      </p:pic>
      <p:sp>
        <p:nvSpPr>
          <p:cNvPr id="573" name="Google Shape;573;p63"/>
          <p:cNvSpPr txBox="1"/>
          <p:nvPr/>
        </p:nvSpPr>
        <p:spPr>
          <a:xfrm>
            <a:off x="5875100"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C</a:t>
            </a:r>
            <a:endParaRPr sz="1800">
              <a:latin typeface="Open Sans"/>
              <a:ea typeface="Open Sans"/>
              <a:cs typeface="Open Sans"/>
              <a:sym typeface="Open Sans"/>
            </a:endParaRPr>
          </a:p>
        </p:txBody>
      </p:sp>
      <p:cxnSp>
        <p:nvCxnSpPr>
          <p:cNvPr id="574" name="Google Shape;574;p63"/>
          <p:cNvCxnSpPr/>
          <p:nvPr/>
        </p:nvCxnSpPr>
        <p:spPr>
          <a:xfrm>
            <a:off x="4161975" y="3632325"/>
            <a:ext cx="1212000" cy="108300"/>
          </a:xfrm>
          <a:prstGeom prst="straightConnector1">
            <a:avLst/>
          </a:prstGeom>
          <a:noFill/>
          <a:ln cap="flat" cmpd="sng" w="38100">
            <a:solidFill>
              <a:srgbClr val="FF0000"/>
            </a:solidFill>
            <a:prstDash val="solid"/>
            <a:round/>
            <a:headEnd len="med" w="med" type="none"/>
            <a:tailEnd len="med" w="med" type="none"/>
          </a:ln>
        </p:spPr>
      </p:cxnSp>
      <p:cxnSp>
        <p:nvCxnSpPr>
          <p:cNvPr id="575" name="Google Shape;575;p63"/>
          <p:cNvCxnSpPr/>
          <p:nvPr/>
        </p:nvCxnSpPr>
        <p:spPr>
          <a:xfrm flipH="1" rot="10800000">
            <a:off x="5600575" y="3464800"/>
            <a:ext cx="335100" cy="197100"/>
          </a:xfrm>
          <a:prstGeom prst="straightConnector1">
            <a:avLst/>
          </a:prstGeom>
          <a:noFill/>
          <a:ln cap="flat" cmpd="sng" w="38100">
            <a:solidFill>
              <a:srgbClr val="FF0000"/>
            </a:solidFill>
            <a:prstDash val="solid"/>
            <a:round/>
            <a:headEnd len="med" w="med" type="none"/>
            <a:tailEnd len="med" w="med" type="none"/>
          </a:ln>
        </p:spPr>
      </p:cxnSp>
      <p:sp>
        <p:nvSpPr>
          <p:cNvPr id="576" name="Google Shape;576;p63"/>
          <p:cNvSpPr txBox="1"/>
          <p:nvPr/>
        </p:nvSpPr>
        <p:spPr>
          <a:xfrm>
            <a:off x="2733225" y="4366575"/>
            <a:ext cx="26406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Open Sans"/>
                <a:ea typeface="Open Sans"/>
                <a:cs typeface="Open Sans"/>
                <a:sym typeface="Open Sans"/>
              </a:rPr>
              <a:t>The shortest path between A and C includes B!</a:t>
            </a:r>
            <a:endParaRPr>
              <a:solidFill>
                <a:srgbClr val="FF0000"/>
              </a:solidFill>
              <a:latin typeface="Open Sans"/>
              <a:ea typeface="Open Sans"/>
              <a:cs typeface="Open Sans"/>
              <a:sym typeface="Open Sans"/>
            </a:endParaRPr>
          </a:p>
        </p:txBody>
      </p:sp>
      <p:cxnSp>
        <p:nvCxnSpPr>
          <p:cNvPr id="577" name="Google Shape;577;p63"/>
          <p:cNvCxnSpPr>
            <a:stCxn id="576" idx="0"/>
          </p:cNvCxnSpPr>
          <p:nvPr/>
        </p:nvCxnSpPr>
        <p:spPr>
          <a:xfrm flipH="1" rot="10800000">
            <a:off x="4053525" y="3835575"/>
            <a:ext cx="948600" cy="531000"/>
          </a:xfrm>
          <a:prstGeom prst="straightConnector1">
            <a:avLst/>
          </a:prstGeom>
          <a:noFill/>
          <a:ln cap="flat" cmpd="sng" w="28575">
            <a:solidFill>
              <a:srgbClr val="FF0000"/>
            </a:solidFill>
            <a:prstDash val="solid"/>
            <a:round/>
            <a:headEnd len="med" w="med" type="none"/>
            <a:tailEnd len="med" w="med" type="triangle"/>
          </a:ln>
        </p:spPr>
      </p:cxnSp>
      <p:sp>
        <p:nvSpPr>
          <p:cNvPr id="578" name="Google Shape;578;p63"/>
          <p:cNvSpPr txBox="1"/>
          <p:nvPr/>
        </p:nvSpPr>
        <p:spPr>
          <a:xfrm>
            <a:off x="5378425" y="4467300"/>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D</a:t>
            </a:r>
            <a:endParaRPr sz="1800">
              <a:latin typeface="Open Sans"/>
              <a:ea typeface="Open Sans"/>
              <a:cs typeface="Open Sans"/>
              <a:sym typeface="Open Sans"/>
            </a:endParaRPr>
          </a:p>
        </p:txBody>
      </p:sp>
      <p:sp>
        <p:nvSpPr>
          <p:cNvPr id="579" name="Google Shape;579;p63"/>
          <p:cNvSpPr txBox="1"/>
          <p:nvPr/>
        </p:nvSpPr>
        <p:spPr>
          <a:xfrm>
            <a:off x="6342825"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E</a:t>
            </a:r>
            <a:endParaRPr sz="1800">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3" name="Shape 583"/>
        <p:cNvGrpSpPr/>
        <p:nvPr/>
      </p:nvGrpSpPr>
      <p:grpSpPr>
        <a:xfrm>
          <a:off x="0" y="0"/>
          <a:ext cx="0" cy="0"/>
          <a:chOff x="0" y="0"/>
          <a:chExt cx="0" cy="0"/>
        </a:xfrm>
      </p:grpSpPr>
      <p:sp>
        <p:nvSpPr>
          <p:cNvPr id="584" name="Google Shape;584;p6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Betweenness C</a:t>
            </a:r>
            <a:r>
              <a:rPr baseline="-25000" lang="en"/>
              <a:t>between</a:t>
            </a:r>
            <a:r>
              <a:rPr lang="en"/>
              <a:t>(v</a:t>
            </a:r>
            <a:r>
              <a:rPr baseline="-25000" lang="en"/>
              <a:t>i</a:t>
            </a:r>
            <a:r>
              <a:rPr lang="en"/>
              <a:t>)</a:t>
            </a:r>
            <a:endParaRPr/>
          </a:p>
        </p:txBody>
      </p:sp>
      <p:sp>
        <p:nvSpPr>
          <p:cNvPr id="585" name="Google Shape;585;p64"/>
          <p:cNvSpPr txBox="1"/>
          <p:nvPr>
            <p:ph idx="1" type="body"/>
          </p:nvPr>
        </p:nvSpPr>
        <p:spPr>
          <a:xfrm>
            <a:off x="311700" y="1225225"/>
            <a:ext cx="8554200" cy="17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proposed by Freeman (1977) </a:t>
            </a:r>
            <a:endParaRPr/>
          </a:p>
          <a:p>
            <a:pPr indent="-317500" lvl="1" marL="914400" rtl="0" algn="l">
              <a:spcBef>
                <a:spcPts val="0"/>
              </a:spcBef>
              <a:spcAft>
                <a:spcPts val="0"/>
              </a:spcAft>
              <a:buSzPts val="1400"/>
              <a:buChar char="○"/>
            </a:pPr>
            <a:r>
              <a:rPr b="1" lang="en"/>
              <a:t>Social Network Concept: </a:t>
            </a:r>
            <a:r>
              <a:rPr lang="en"/>
              <a:t>What share of the entire network flow goes through  a given person?</a:t>
            </a:r>
            <a:endParaRPr b="1"/>
          </a:p>
          <a:p>
            <a:pPr indent="-317500" lvl="1" marL="914400" rtl="0" algn="l">
              <a:spcBef>
                <a:spcPts val="0"/>
              </a:spcBef>
              <a:spcAft>
                <a:spcPts val="0"/>
              </a:spcAft>
              <a:buSzPts val="1400"/>
              <a:buChar char="○"/>
            </a:pPr>
            <a:r>
              <a:rPr b="1" lang="en"/>
              <a:t>Graph theoretic concept:</a:t>
            </a:r>
            <a:r>
              <a:rPr lang="en"/>
              <a:t> Sum of of the </a:t>
            </a:r>
            <a:r>
              <a:rPr i="1" lang="en"/>
              <a:t>proportion</a:t>
            </a:r>
            <a:r>
              <a:rPr lang="en"/>
              <a:t> of shortest paths in the graph between all other pairs of vertices {v</a:t>
            </a:r>
            <a:r>
              <a:rPr baseline="-25000" lang="en"/>
              <a:t>j</a:t>
            </a:r>
            <a:r>
              <a:rPr lang="en"/>
              <a:t>, v</a:t>
            </a:r>
            <a:r>
              <a:rPr baseline="-25000" lang="en"/>
              <a:t>k</a:t>
            </a:r>
            <a:r>
              <a:rPr lang="en"/>
              <a:t>} that contain v</a:t>
            </a:r>
            <a:r>
              <a:rPr baseline="-25000" lang="en"/>
              <a:t>i </a:t>
            </a:r>
            <a:r>
              <a:rPr lang="en"/>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pic>
        <p:nvPicPr>
          <p:cNvPr id="586" name="Google Shape;586;p64"/>
          <p:cNvPicPr preferRelativeResize="0"/>
          <p:nvPr/>
        </p:nvPicPr>
        <p:blipFill>
          <a:blip r:embed="rId3">
            <a:alphaModFix/>
          </a:blip>
          <a:stretch>
            <a:fillRect/>
          </a:stretch>
        </p:blipFill>
        <p:spPr>
          <a:xfrm>
            <a:off x="1950975" y="2957725"/>
            <a:ext cx="5242061" cy="1880975"/>
          </a:xfrm>
          <a:prstGeom prst="rect">
            <a:avLst/>
          </a:prstGeom>
          <a:noFill/>
          <a:ln>
            <a:noFill/>
          </a:ln>
        </p:spPr>
      </p:pic>
      <p:sp>
        <p:nvSpPr>
          <p:cNvPr id="587" name="Google Shape;587;p64"/>
          <p:cNvSpPr txBox="1"/>
          <p:nvPr/>
        </p:nvSpPr>
        <p:spPr>
          <a:xfrm>
            <a:off x="5875100"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C</a:t>
            </a:r>
            <a:endParaRPr sz="1800">
              <a:latin typeface="Open Sans"/>
              <a:ea typeface="Open Sans"/>
              <a:cs typeface="Open Sans"/>
              <a:sym typeface="Open Sans"/>
            </a:endParaRPr>
          </a:p>
        </p:txBody>
      </p:sp>
      <p:cxnSp>
        <p:nvCxnSpPr>
          <p:cNvPr id="588" name="Google Shape;588;p64"/>
          <p:cNvCxnSpPr/>
          <p:nvPr/>
        </p:nvCxnSpPr>
        <p:spPr>
          <a:xfrm>
            <a:off x="4161975" y="3632325"/>
            <a:ext cx="1212000" cy="108300"/>
          </a:xfrm>
          <a:prstGeom prst="straightConnector1">
            <a:avLst/>
          </a:prstGeom>
          <a:noFill/>
          <a:ln cap="flat" cmpd="sng" w="38100">
            <a:solidFill>
              <a:srgbClr val="FF0000"/>
            </a:solidFill>
            <a:prstDash val="solid"/>
            <a:round/>
            <a:headEnd len="med" w="med" type="none"/>
            <a:tailEnd len="med" w="med" type="none"/>
          </a:ln>
        </p:spPr>
      </p:cxnSp>
      <p:sp>
        <p:nvSpPr>
          <p:cNvPr id="589" name="Google Shape;589;p64"/>
          <p:cNvSpPr txBox="1"/>
          <p:nvPr/>
        </p:nvSpPr>
        <p:spPr>
          <a:xfrm>
            <a:off x="2733225" y="4366575"/>
            <a:ext cx="26406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Open Sans"/>
                <a:ea typeface="Open Sans"/>
                <a:cs typeface="Open Sans"/>
                <a:sym typeface="Open Sans"/>
              </a:rPr>
              <a:t>The shortest path between A and D also includes B!</a:t>
            </a:r>
            <a:endParaRPr>
              <a:solidFill>
                <a:srgbClr val="FF0000"/>
              </a:solidFill>
              <a:latin typeface="Open Sans"/>
              <a:ea typeface="Open Sans"/>
              <a:cs typeface="Open Sans"/>
              <a:sym typeface="Open Sans"/>
            </a:endParaRPr>
          </a:p>
        </p:txBody>
      </p:sp>
      <p:cxnSp>
        <p:nvCxnSpPr>
          <p:cNvPr id="590" name="Google Shape;590;p64"/>
          <p:cNvCxnSpPr>
            <a:stCxn id="589" idx="0"/>
          </p:cNvCxnSpPr>
          <p:nvPr/>
        </p:nvCxnSpPr>
        <p:spPr>
          <a:xfrm flipH="1" rot="10800000">
            <a:off x="4053525" y="3835575"/>
            <a:ext cx="948600" cy="531000"/>
          </a:xfrm>
          <a:prstGeom prst="straightConnector1">
            <a:avLst/>
          </a:prstGeom>
          <a:noFill/>
          <a:ln cap="flat" cmpd="sng" w="28575">
            <a:solidFill>
              <a:srgbClr val="FF0000"/>
            </a:solidFill>
            <a:prstDash val="solid"/>
            <a:round/>
            <a:headEnd len="med" w="med" type="none"/>
            <a:tailEnd len="med" w="med" type="triangle"/>
          </a:ln>
        </p:spPr>
      </p:cxnSp>
      <p:sp>
        <p:nvSpPr>
          <p:cNvPr id="591" name="Google Shape;591;p64"/>
          <p:cNvSpPr txBox="1"/>
          <p:nvPr/>
        </p:nvSpPr>
        <p:spPr>
          <a:xfrm>
            <a:off x="5378425" y="4467300"/>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D</a:t>
            </a:r>
            <a:endParaRPr sz="1800">
              <a:latin typeface="Open Sans"/>
              <a:ea typeface="Open Sans"/>
              <a:cs typeface="Open Sans"/>
              <a:sym typeface="Open Sans"/>
            </a:endParaRPr>
          </a:p>
        </p:txBody>
      </p:sp>
      <p:cxnSp>
        <p:nvCxnSpPr>
          <p:cNvPr id="592" name="Google Shape;592;p64"/>
          <p:cNvCxnSpPr/>
          <p:nvPr/>
        </p:nvCxnSpPr>
        <p:spPr>
          <a:xfrm>
            <a:off x="5491525" y="3865000"/>
            <a:ext cx="69000" cy="314700"/>
          </a:xfrm>
          <a:prstGeom prst="straightConnector1">
            <a:avLst/>
          </a:prstGeom>
          <a:noFill/>
          <a:ln cap="flat" cmpd="sng" w="38100">
            <a:solidFill>
              <a:srgbClr val="FF0000"/>
            </a:solidFill>
            <a:prstDash val="solid"/>
            <a:round/>
            <a:headEnd len="med" w="med" type="none"/>
            <a:tailEnd len="med" w="med" type="none"/>
          </a:ln>
        </p:spPr>
      </p:cxnSp>
      <p:sp>
        <p:nvSpPr>
          <p:cNvPr id="593" name="Google Shape;593;p64"/>
          <p:cNvSpPr txBox="1"/>
          <p:nvPr/>
        </p:nvSpPr>
        <p:spPr>
          <a:xfrm>
            <a:off x="6342825"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E</a:t>
            </a:r>
            <a:endParaRPr sz="1800">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7" name="Shape 597"/>
        <p:cNvGrpSpPr/>
        <p:nvPr/>
      </p:nvGrpSpPr>
      <p:grpSpPr>
        <a:xfrm>
          <a:off x="0" y="0"/>
          <a:ext cx="0" cy="0"/>
          <a:chOff x="0" y="0"/>
          <a:chExt cx="0" cy="0"/>
        </a:xfrm>
      </p:grpSpPr>
      <p:sp>
        <p:nvSpPr>
          <p:cNvPr id="598" name="Google Shape;598;p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Betweenness C</a:t>
            </a:r>
            <a:r>
              <a:rPr baseline="-25000" lang="en"/>
              <a:t>between</a:t>
            </a:r>
            <a:r>
              <a:rPr lang="en"/>
              <a:t>(v</a:t>
            </a:r>
            <a:r>
              <a:rPr baseline="-25000" lang="en"/>
              <a:t>i</a:t>
            </a:r>
            <a:r>
              <a:rPr lang="en"/>
              <a:t>)</a:t>
            </a:r>
            <a:endParaRPr/>
          </a:p>
        </p:txBody>
      </p:sp>
      <p:sp>
        <p:nvSpPr>
          <p:cNvPr id="599" name="Google Shape;599;p65"/>
          <p:cNvSpPr txBox="1"/>
          <p:nvPr>
            <p:ph idx="1" type="body"/>
          </p:nvPr>
        </p:nvSpPr>
        <p:spPr>
          <a:xfrm>
            <a:off x="311700" y="1225225"/>
            <a:ext cx="8554200" cy="17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proposed by Freeman (1977) </a:t>
            </a:r>
            <a:endParaRPr/>
          </a:p>
          <a:p>
            <a:pPr indent="-317500" lvl="1" marL="914400" rtl="0" algn="l">
              <a:spcBef>
                <a:spcPts val="0"/>
              </a:spcBef>
              <a:spcAft>
                <a:spcPts val="0"/>
              </a:spcAft>
              <a:buSzPts val="1400"/>
              <a:buChar char="○"/>
            </a:pPr>
            <a:r>
              <a:rPr b="1" lang="en"/>
              <a:t>Social Network Concept: </a:t>
            </a:r>
            <a:r>
              <a:rPr lang="en"/>
              <a:t>What share of the entire network flow goes through  a given person?</a:t>
            </a:r>
            <a:endParaRPr b="1"/>
          </a:p>
          <a:p>
            <a:pPr indent="-317500" lvl="1" marL="914400" rtl="0" algn="l">
              <a:spcBef>
                <a:spcPts val="0"/>
              </a:spcBef>
              <a:spcAft>
                <a:spcPts val="0"/>
              </a:spcAft>
              <a:buSzPts val="1400"/>
              <a:buChar char="○"/>
            </a:pPr>
            <a:r>
              <a:rPr b="1" lang="en"/>
              <a:t>Graph theoretic concept:</a:t>
            </a:r>
            <a:r>
              <a:rPr lang="en"/>
              <a:t> Sum of of the </a:t>
            </a:r>
            <a:r>
              <a:rPr i="1" lang="en"/>
              <a:t>proportion</a:t>
            </a:r>
            <a:r>
              <a:rPr lang="en"/>
              <a:t> of shortest paths in the graph between all other pairs of vertices {v</a:t>
            </a:r>
            <a:r>
              <a:rPr baseline="-25000" lang="en"/>
              <a:t>j</a:t>
            </a:r>
            <a:r>
              <a:rPr lang="en"/>
              <a:t>, v</a:t>
            </a:r>
            <a:r>
              <a:rPr baseline="-25000" lang="en"/>
              <a:t>k</a:t>
            </a:r>
            <a:r>
              <a:rPr lang="en"/>
              <a:t>} that contain v</a:t>
            </a:r>
            <a:r>
              <a:rPr baseline="-25000" lang="en"/>
              <a:t>i </a:t>
            </a:r>
            <a:r>
              <a:rPr lang="en"/>
              <a:t>	</a:t>
            </a:r>
            <a:endParaRPr/>
          </a:p>
          <a:p>
            <a:pPr indent="0" lvl="0" marL="0" rtl="0" algn="l">
              <a:spcBef>
                <a:spcPts val="0"/>
              </a:spcBef>
              <a:spcAft>
                <a:spcPts val="0"/>
              </a:spcAft>
              <a:buNone/>
            </a:pPr>
            <a:r>
              <a:t/>
            </a:r>
            <a:endParaRPr/>
          </a:p>
          <a:p>
            <a:pPr indent="0" lvl="0" marL="914400" rtl="0" algn="l">
              <a:spcBef>
                <a:spcPts val="0"/>
              </a:spcBef>
              <a:spcAft>
                <a:spcPts val="0"/>
              </a:spcAft>
              <a:buNone/>
            </a:pPr>
            <a:r>
              <a:t/>
            </a:r>
            <a:endParaRPr/>
          </a:p>
        </p:txBody>
      </p:sp>
      <p:pic>
        <p:nvPicPr>
          <p:cNvPr id="600" name="Google Shape;600;p65"/>
          <p:cNvPicPr preferRelativeResize="0"/>
          <p:nvPr/>
        </p:nvPicPr>
        <p:blipFill>
          <a:blip r:embed="rId3">
            <a:alphaModFix/>
          </a:blip>
          <a:stretch>
            <a:fillRect/>
          </a:stretch>
        </p:blipFill>
        <p:spPr>
          <a:xfrm>
            <a:off x="1950975" y="2957725"/>
            <a:ext cx="5242061" cy="1880975"/>
          </a:xfrm>
          <a:prstGeom prst="rect">
            <a:avLst/>
          </a:prstGeom>
          <a:noFill/>
          <a:ln>
            <a:noFill/>
          </a:ln>
        </p:spPr>
      </p:pic>
      <p:cxnSp>
        <p:nvCxnSpPr>
          <p:cNvPr id="601" name="Google Shape;601;p65"/>
          <p:cNvCxnSpPr/>
          <p:nvPr/>
        </p:nvCxnSpPr>
        <p:spPr>
          <a:xfrm>
            <a:off x="4161975" y="3632325"/>
            <a:ext cx="1212000" cy="108300"/>
          </a:xfrm>
          <a:prstGeom prst="straightConnector1">
            <a:avLst/>
          </a:prstGeom>
          <a:noFill/>
          <a:ln cap="flat" cmpd="sng" w="38100">
            <a:solidFill>
              <a:srgbClr val="FF0000"/>
            </a:solidFill>
            <a:prstDash val="solid"/>
            <a:round/>
            <a:headEnd len="med" w="med" type="none"/>
            <a:tailEnd len="med" w="med" type="none"/>
          </a:ln>
        </p:spPr>
      </p:cxnSp>
      <p:cxnSp>
        <p:nvCxnSpPr>
          <p:cNvPr id="602" name="Google Shape;602;p65"/>
          <p:cNvCxnSpPr/>
          <p:nvPr/>
        </p:nvCxnSpPr>
        <p:spPr>
          <a:xfrm flipH="1" rot="10800000">
            <a:off x="5600575" y="3464800"/>
            <a:ext cx="335100" cy="197100"/>
          </a:xfrm>
          <a:prstGeom prst="straightConnector1">
            <a:avLst/>
          </a:prstGeom>
          <a:noFill/>
          <a:ln cap="flat" cmpd="sng" w="38100">
            <a:solidFill>
              <a:srgbClr val="FF0000"/>
            </a:solidFill>
            <a:prstDash val="solid"/>
            <a:round/>
            <a:headEnd len="med" w="med" type="none"/>
            <a:tailEnd len="med" w="med" type="none"/>
          </a:ln>
        </p:spPr>
      </p:cxnSp>
      <p:sp>
        <p:nvSpPr>
          <p:cNvPr id="603" name="Google Shape;603;p65"/>
          <p:cNvSpPr txBox="1"/>
          <p:nvPr/>
        </p:nvSpPr>
        <p:spPr>
          <a:xfrm>
            <a:off x="2733225" y="4366575"/>
            <a:ext cx="26406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Open Sans"/>
                <a:ea typeface="Open Sans"/>
                <a:cs typeface="Open Sans"/>
                <a:sym typeface="Open Sans"/>
              </a:rPr>
              <a:t>The shortest path between A and E includes both B and C!</a:t>
            </a:r>
            <a:endParaRPr>
              <a:solidFill>
                <a:srgbClr val="FF0000"/>
              </a:solidFill>
              <a:latin typeface="Open Sans"/>
              <a:ea typeface="Open Sans"/>
              <a:cs typeface="Open Sans"/>
              <a:sym typeface="Open Sans"/>
            </a:endParaRPr>
          </a:p>
        </p:txBody>
      </p:sp>
      <p:cxnSp>
        <p:nvCxnSpPr>
          <p:cNvPr id="604" name="Google Shape;604;p65"/>
          <p:cNvCxnSpPr>
            <a:stCxn id="603" idx="0"/>
          </p:cNvCxnSpPr>
          <p:nvPr/>
        </p:nvCxnSpPr>
        <p:spPr>
          <a:xfrm flipH="1" rot="10800000">
            <a:off x="4053525" y="3835575"/>
            <a:ext cx="948600" cy="531000"/>
          </a:xfrm>
          <a:prstGeom prst="straightConnector1">
            <a:avLst/>
          </a:prstGeom>
          <a:noFill/>
          <a:ln cap="flat" cmpd="sng" w="28575">
            <a:solidFill>
              <a:srgbClr val="FF0000"/>
            </a:solidFill>
            <a:prstDash val="solid"/>
            <a:round/>
            <a:headEnd len="med" w="med" type="none"/>
            <a:tailEnd len="med" w="med" type="triangle"/>
          </a:ln>
        </p:spPr>
      </p:cxnSp>
      <p:sp>
        <p:nvSpPr>
          <p:cNvPr id="605" name="Google Shape;605;p65"/>
          <p:cNvSpPr txBox="1"/>
          <p:nvPr/>
        </p:nvSpPr>
        <p:spPr>
          <a:xfrm>
            <a:off x="5378425" y="4467300"/>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D</a:t>
            </a:r>
            <a:endParaRPr sz="1800">
              <a:latin typeface="Open Sans"/>
              <a:ea typeface="Open Sans"/>
              <a:cs typeface="Open Sans"/>
              <a:sym typeface="Open Sans"/>
            </a:endParaRPr>
          </a:p>
        </p:txBody>
      </p:sp>
      <p:cxnSp>
        <p:nvCxnSpPr>
          <p:cNvPr id="606" name="Google Shape;606;p65"/>
          <p:cNvCxnSpPr/>
          <p:nvPr/>
        </p:nvCxnSpPr>
        <p:spPr>
          <a:xfrm>
            <a:off x="6170125" y="3392950"/>
            <a:ext cx="216300" cy="48900"/>
          </a:xfrm>
          <a:prstGeom prst="straightConnector1">
            <a:avLst/>
          </a:prstGeom>
          <a:noFill/>
          <a:ln cap="flat" cmpd="sng" w="38100">
            <a:solidFill>
              <a:srgbClr val="FF0000"/>
            </a:solidFill>
            <a:prstDash val="solid"/>
            <a:round/>
            <a:headEnd len="med" w="med" type="none"/>
            <a:tailEnd len="med" w="med" type="none"/>
          </a:ln>
        </p:spPr>
      </p:cxnSp>
      <p:sp>
        <p:nvSpPr>
          <p:cNvPr id="607" name="Google Shape;607;p65"/>
          <p:cNvSpPr txBox="1"/>
          <p:nvPr/>
        </p:nvSpPr>
        <p:spPr>
          <a:xfrm>
            <a:off x="5875100"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C</a:t>
            </a:r>
            <a:endParaRPr sz="1800">
              <a:latin typeface="Open Sans"/>
              <a:ea typeface="Open Sans"/>
              <a:cs typeface="Open Sans"/>
              <a:sym typeface="Open Sans"/>
            </a:endParaRPr>
          </a:p>
        </p:txBody>
      </p:sp>
      <p:sp>
        <p:nvSpPr>
          <p:cNvPr id="608" name="Google Shape;608;p65"/>
          <p:cNvSpPr txBox="1"/>
          <p:nvPr/>
        </p:nvSpPr>
        <p:spPr>
          <a:xfrm>
            <a:off x="6342825"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E</a:t>
            </a:r>
            <a:endParaRPr sz="1800">
              <a:latin typeface="Open Sans"/>
              <a:ea typeface="Open Sans"/>
              <a:cs typeface="Open Sans"/>
              <a:sym typeface="Ope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2" name="Shape 612"/>
        <p:cNvGrpSpPr/>
        <p:nvPr/>
      </p:nvGrpSpPr>
      <p:grpSpPr>
        <a:xfrm>
          <a:off x="0" y="0"/>
          <a:ext cx="0" cy="0"/>
          <a:chOff x="0" y="0"/>
          <a:chExt cx="0" cy="0"/>
        </a:xfrm>
      </p:grpSpPr>
      <p:sp>
        <p:nvSpPr>
          <p:cNvPr id="613" name="Google Shape;613;p6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Betweenness C</a:t>
            </a:r>
            <a:r>
              <a:rPr baseline="-25000" lang="en"/>
              <a:t>between</a:t>
            </a:r>
            <a:r>
              <a:rPr lang="en"/>
              <a:t>(v</a:t>
            </a:r>
            <a:r>
              <a:rPr baseline="-25000" lang="en"/>
              <a:t>i</a:t>
            </a:r>
            <a:r>
              <a:rPr lang="en"/>
              <a:t>)</a:t>
            </a:r>
            <a:endParaRPr/>
          </a:p>
        </p:txBody>
      </p:sp>
      <p:sp>
        <p:nvSpPr>
          <p:cNvPr id="614" name="Google Shape;614;p66"/>
          <p:cNvSpPr txBox="1"/>
          <p:nvPr>
            <p:ph idx="1" type="body"/>
          </p:nvPr>
        </p:nvSpPr>
        <p:spPr>
          <a:xfrm>
            <a:off x="311700" y="1225225"/>
            <a:ext cx="8554200" cy="173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proposed by Freeman (1977) </a:t>
            </a:r>
            <a:endParaRPr/>
          </a:p>
          <a:p>
            <a:pPr indent="-317500" lvl="1" marL="914400" rtl="0" algn="l">
              <a:spcBef>
                <a:spcPts val="0"/>
              </a:spcBef>
              <a:spcAft>
                <a:spcPts val="0"/>
              </a:spcAft>
              <a:buSzPts val="1400"/>
              <a:buChar char="○"/>
            </a:pPr>
            <a:r>
              <a:rPr b="1" lang="en"/>
              <a:t>Social Network Concept: </a:t>
            </a:r>
            <a:r>
              <a:rPr lang="en"/>
              <a:t>What share of the entire network flow goes through  a given person?</a:t>
            </a:r>
            <a:endParaRPr b="1"/>
          </a:p>
          <a:p>
            <a:pPr indent="-317500" lvl="1" marL="914400" rtl="0" algn="l">
              <a:spcBef>
                <a:spcPts val="0"/>
              </a:spcBef>
              <a:spcAft>
                <a:spcPts val="0"/>
              </a:spcAft>
              <a:buSzPts val="1400"/>
              <a:buChar char="○"/>
            </a:pPr>
            <a:r>
              <a:rPr b="1" lang="en"/>
              <a:t>Graph theoretic concept:</a:t>
            </a:r>
            <a:r>
              <a:rPr lang="en"/>
              <a:t> Sum of of the </a:t>
            </a:r>
            <a:r>
              <a:rPr i="1" lang="en"/>
              <a:t>proportion</a:t>
            </a:r>
            <a:r>
              <a:rPr lang="en"/>
              <a:t> of shortest paths in the graph between all other pairs of vertices {v</a:t>
            </a:r>
            <a:r>
              <a:rPr baseline="-25000" lang="en"/>
              <a:t>j</a:t>
            </a:r>
            <a:r>
              <a:rPr lang="en"/>
              <a:t>, v</a:t>
            </a:r>
            <a:r>
              <a:rPr baseline="-25000" lang="en"/>
              <a:t>k</a:t>
            </a:r>
            <a:r>
              <a:rPr lang="en"/>
              <a:t>} that contain v</a:t>
            </a:r>
            <a:r>
              <a:rPr baseline="-25000" lang="en"/>
              <a:t>i </a:t>
            </a:r>
            <a:r>
              <a:rPr lang="en"/>
              <a:t>	</a:t>
            </a:r>
            <a:endParaRPr/>
          </a:p>
          <a:p>
            <a:pPr indent="-342900" lvl="0" marL="457200" rtl="0" algn="l">
              <a:spcBef>
                <a:spcPts val="0"/>
              </a:spcBef>
              <a:spcAft>
                <a:spcPts val="0"/>
              </a:spcAft>
              <a:buSzPts val="1800"/>
              <a:buChar char="●"/>
            </a:pPr>
            <a:r>
              <a:rPr lang="en"/>
              <a:t>High betweenness actors can “broker” between different people</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914400" rtl="0" algn="l">
              <a:spcBef>
                <a:spcPts val="0"/>
              </a:spcBef>
              <a:spcAft>
                <a:spcPts val="0"/>
              </a:spcAft>
              <a:buNone/>
            </a:pPr>
            <a:r>
              <a:t/>
            </a:r>
            <a:endParaRPr/>
          </a:p>
        </p:txBody>
      </p:sp>
      <p:pic>
        <p:nvPicPr>
          <p:cNvPr id="615" name="Google Shape;615;p66"/>
          <p:cNvPicPr preferRelativeResize="0"/>
          <p:nvPr/>
        </p:nvPicPr>
        <p:blipFill>
          <a:blip r:embed="rId3">
            <a:alphaModFix/>
          </a:blip>
          <a:stretch>
            <a:fillRect/>
          </a:stretch>
        </p:blipFill>
        <p:spPr>
          <a:xfrm>
            <a:off x="1950975" y="2957725"/>
            <a:ext cx="5242061" cy="1880975"/>
          </a:xfrm>
          <a:prstGeom prst="rect">
            <a:avLst/>
          </a:prstGeom>
          <a:noFill/>
          <a:ln>
            <a:noFill/>
          </a:ln>
        </p:spPr>
      </p:pic>
      <p:cxnSp>
        <p:nvCxnSpPr>
          <p:cNvPr id="616" name="Google Shape;616;p66"/>
          <p:cNvCxnSpPr/>
          <p:nvPr/>
        </p:nvCxnSpPr>
        <p:spPr>
          <a:xfrm>
            <a:off x="4161975" y="3632325"/>
            <a:ext cx="1212000" cy="108300"/>
          </a:xfrm>
          <a:prstGeom prst="straightConnector1">
            <a:avLst/>
          </a:prstGeom>
          <a:noFill/>
          <a:ln cap="flat" cmpd="sng" w="38100">
            <a:solidFill>
              <a:srgbClr val="FF0000"/>
            </a:solidFill>
            <a:prstDash val="solid"/>
            <a:round/>
            <a:headEnd len="med" w="med" type="none"/>
            <a:tailEnd len="med" w="med" type="none"/>
          </a:ln>
        </p:spPr>
      </p:cxnSp>
      <p:cxnSp>
        <p:nvCxnSpPr>
          <p:cNvPr id="617" name="Google Shape;617;p66"/>
          <p:cNvCxnSpPr/>
          <p:nvPr/>
        </p:nvCxnSpPr>
        <p:spPr>
          <a:xfrm flipH="1" rot="10800000">
            <a:off x="5600575" y="3464800"/>
            <a:ext cx="335100" cy="197100"/>
          </a:xfrm>
          <a:prstGeom prst="straightConnector1">
            <a:avLst/>
          </a:prstGeom>
          <a:noFill/>
          <a:ln cap="flat" cmpd="sng" w="38100">
            <a:solidFill>
              <a:srgbClr val="FF0000"/>
            </a:solidFill>
            <a:prstDash val="solid"/>
            <a:round/>
            <a:headEnd len="med" w="med" type="none"/>
            <a:tailEnd len="med" w="med" type="none"/>
          </a:ln>
        </p:spPr>
      </p:cxnSp>
      <p:sp>
        <p:nvSpPr>
          <p:cNvPr id="618" name="Google Shape;618;p66"/>
          <p:cNvSpPr txBox="1"/>
          <p:nvPr/>
        </p:nvSpPr>
        <p:spPr>
          <a:xfrm>
            <a:off x="2733225" y="4366575"/>
            <a:ext cx="26406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Open Sans"/>
                <a:ea typeface="Open Sans"/>
                <a:cs typeface="Open Sans"/>
                <a:sym typeface="Open Sans"/>
              </a:rPr>
              <a:t>The shortest path between A and E includes both B and C!</a:t>
            </a:r>
            <a:endParaRPr>
              <a:solidFill>
                <a:srgbClr val="FF0000"/>
              </a:solidFill>
              <a:latin typeface="Open Sans"/>
              <a:ea typeface="Open Sans"/>
              <a:cs typeface="Open Sans"/>
              <a:sym typeface="Open Sans"/>
            </a:endParaRPr>
          </a:p>
        </p:txBody>
      </p:sp>
      <p:cxnSp>
        <p:nvCxnSpPr>
          <p:cNvPr id="619" name="Google Shape;619;p66"/>
          <p:cNvCxnSpPr>
            <a:stCxn id="618" idx="0"/>
          </p:cNvCxnSpPr>
          <p:nvPr/>
        </p:nvCxnSpPr>
        <p:spPr>
          <a:xfrm flipH="1" rot="10800000">
            <a:off x="4053525" y="3835575"/>
            <a:ext cx="948600" cy="531000"/>
          </a:xfrm>
          <a:prstGeom prst="straightConnector1">
            <a:avLst/>
          </a:prstGeom>
          <a:noFill/>
          <a:ln cap="flat" cmpd="sng" w="28575">
            <a:solidFill>
              <a:srgbClr val="FF0000"/>
            </a:solidFill>
            <a:prstDash val="solid"/>
            <a:round/>
            <a:headEnd len="med" w="med" type="none"/>
            <a:tailEnd len="med" w="med" type="triangle"/>
          </a:ln>
        </p:spPr>
      </p:cxnSp>
      <p:sp>
        <p:nvSpPr>
          <p:cNvPr id="620" name="Google Shape;620;p66"/>
          <p:cNvSpPr txBox="1"/>
          <p:nvPr/>
        </p:nvSpPr>
        <p:spPr>
          <a:xfrm>
            <a:off x="5378425" y="4467300"/>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D</a:t>
            </a:r>
            <a:endParaRPr sz="1800">
              <a:latin typeface="Open Sans"/>
              <a:ea typeface="Open Sans"/>
              <a:cs typeface="Open Sans"/>
              <a:sym typeface="Open Sans"/>
            </a:endParaRPr>
          </a:p>
        </p:txBody>
      </p:sp>
      <p:cxnSp>
        <p:nvCxnSpPr>
          <p:cNvPr id="621" name="Google Shape;621;p66"/>
          <p:cNvCxnSpPr/>
          <p:nvPr/>
        </p:nvCxnSpPr>
        <p:spPr>
          <a:xfrm>
            <a:off x="5491525" y="3865000"/>
            <a:ext cx="69000" cy="314700"/>
          </a:xfrm>
          <a:prstGeom prst="straightConnector1">
            <a:avLst/>
          </a:prstGeom>
          <a:noFill/>
          <a:ln cap="flat" cmpd="sng" w="38100">
            <a:solidFill>
              <a:srgbClr val="FF0000"/>
            </a:solidFill>
            <a:prstDash val="solid"/>
            <a:round/>
            <a:headEnd len="med" w="med" type="none"/>
            <a:tailEnd len="med" w="med" type="none"/>
          </a:ln>
        </p:spPr>
      </p:cxnSp>
      <p:cxnSp>
        <p:nvCxnSpPr>
          <p:cNvPr id="622" name="Google Shape;622;p66"/>
          <p:cNvCxnSpPr/>
          <p:nvPr/>
        </p:nvCxnSpPr>
        <p:spPr>
          <a:xfrm>
            <a:off x="6170125" y="3392950"/>
            <a:ext cx="216300" cy="48900"/>
          </a:xfrm>
          <a:prstGeom prst="straightConnector1">
            <a:avLst/>
          </a:prstGeom>
          <a:noFill/>
          <a:ln cap="flat" cmpd="sng" w="38100">
            <a:solidFill>
              <a:srgbClr val="FF0000"/>
            </a:solidFill>
            <a:prstDash val="solid"/>
            <a:round/>
            <a:headEnd len="med" w="med" type="none"/>
            <a:tailEnd len="med" w="med" type="none"/>
          </a:ln>
        </p:spPr>
      </p:cxnSp>
      <p:sp>
        <p:nvSpPr>
          <p:cNvPr id="623" name="Google Shape;623;p66"/>
          <p:cNvSpPr txBox="1"/>
          <p:nvPr/>
        </p:nvSpPr>
        <p:spPr>
          <a:xfrm>
            <a:off x="5875100"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C</a:t>
            </a:r>
            <a:endParaRPr sz="1800">
              <a:latin typeface="Open Sans"/>
              <a:ea typeface="Open Sans"/>
              <a:cs typeface="Open Sans"/>
              <a:sym typeface="Open Sans"/>
            </a:endParaRPr>
          </a:p>
        </p:txBody>
      </p:sp>
      <p:sp>
        <p:nvSpPr>
          <p:cNvPr id="624" name="Google Shape;624;p66"/>
          <p:cNvSpPr txBox="1"/>
          <p:nvPr/>
        </p:nvSpPr>
        <p:spPr>
          <a:xfrm>
            <a:off x="6342825" y="2957725"/>
            <a:ext cx="354000" cy="30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E</a:t>
            </a:r>
            <a:endParaRPr sz="1800">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8" name="Shape 628"/>
        <p:cNvGrpSpPr/>
        <p:nvPr/>
      </p:nvGrpSpPr>
      <p:grpSpPr>
        <a:xfrm>
          <a:off x="0" y="0"/>
          <a:ext cx="0" cy="0"/>
          <a:chOff x="0" y="0"/>
          <a:chExt cx="0" cy="0"/>
        </a:xfrm>
      </p:grpSpPr>
      <p:sp>
        <p:nvSpPr>
          <p:cNvPr id="629" name="Google Shape;629;p6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Eigenvector Centrality</a:t>
            </a:r>
            <a:endParaRPr/>
          </a:p>
        </p:txBody>
      </p:sp>
      <p:sp>
        <p:nvSpPr>
          <p:cNvPr id="630" name="Google Shape;630;p67"/>
          <p:cNvSpPr txBox="1"/>
          <p:nvPr>
            <p:ph idx="1" type="body"/>
          </p:nvPr>
        </p:nvSpPr>
        <p:spPr>
          <a:xfrm>
            <a:off x="311700" y="1225225"/>
            <a:ext cx="46881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Basic idea: A vertex is more central, the more central its neighbors are</a:t>
            </a:r>
            <a:endParaRPr/>
          </a:p>
          <a:p>
            <a:pPr indent="-342900" lvl="0" marL="457200" rtl="0" algn="l">
              <a:spcBef>
                <a:spcPts val="0"/>
              </a:spcBef>
              <a:spcAft>
                <a:spcPts val="0"/>
              </a:spcAft>
              <a:buSzPts val="1800"/>
              <a:buChar char="●"/>
            </a:pPr>
            <a:r>
              <a:rPr lang="en"/>
              <a:t>With Degree Centrality, each alter carries equal weight</a:t>
            </a:r>
            <a:endParaRPr/>
          </a:p>
          <a:p>
            <a:pPr indent="-317500" lvl="1" marL="914400" rtl="0" algn="l">
              <a:spcBef>
                <a:spcPts val="0"/>
              </a:spcBef>
              <a:spcAft>
                <a:spcPts val="0"/>
              </a:spcAft>
              <a:buSzPts val="1400"/>
              <a:buChar char="○"/>
            </a:pPr>
            <a:r>
              <a:rPr lang="en"/>
              <a:t>What if a person has friends who have lots of other friends versus a person whose friends have few friends?</a:t>
            </a:r>
            <a:endParaRPr/>
          </a:p>
          <a:p>
            <a:pPr indent="-342900" lvl="0" marL="457200" rtl="0" algn="l">
              <a:spcBef>
                <a:spcPts val="0"/>
              </a:spcBef>
              <a:spcAft>
                <a:spcPts val="0"/>
              </a:spcAft>
              <a:buSzPts val="1800"/>
              <a:buChar char="●"/>
            </a:pPr>
            <a:r>
              <a:rPr lang="en"/>
              <a:t>Solution:</a:t>
            </a:r>
            <a:endParaRPr/>
          </a:p>
          <a:p>
            <a:pPr indent="-317500" lvl="1" marL="914400" rtl="0" algn="l">
              <a:spcBef>
                <a:spcPts val="0"/>
              </a:spcBef>
              <a:spcAft>
                <a:spcPts val="0"/>
              </a:spcAft>
              <a:buSzPts val="1400"/>
              <a:buChar char="○"/>
            </a:pPr>
            <a:r>
              <a:rPr lang="en"/>
              <a:t>Give each vertex more “centrality points” when for links to central people!</a:t>
            </a:r>
            <a:endParaRPr/>
          </a:p>
          <a:p>
            <a:pPr indent="0" lvl="0" marL="457200" rtl="0" algn="l">
              <a:spcBef>
                <a:spcPts val="0"/>
              </a:spcBef>
              <a:spcAft>
                <a:spcPts val="0"/>
              </a:spcAft>
              <a:buNone/>
            </a:pPr>
            <a:r>
              <a:t/>
            </a:r>
            <a:endParaRPr/>
          </a:p>
        </p:txBody>
      </p:sp>
      <p:pic>
        <p:nvPicPr>
          <p:cNvPr id="631" name="Google Shape;631;p67"/>
          <p:cNvPicPr preferRelativeResize="0"/>
          <p:nvPr/>
        </p:nvPicPr>
        <p:blipFill>
          <a:blip r:embed="rId3">
            <a:alphaModFix/>
          </a:blip>
          <a:stretch>
            <a:fillRect/>
          </a:stretch>
        </p:blipFill>
        <p:spPr>
          <a:xfrm>
            <a:off x="4999875" y="1147225"/>
            <a:ext cx="3746113" cy="3432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5" name="Shape 635"/>
        <p:cNvGrpSpPr/>
        <p:nvPr/>
      </p:nvGrpSpPr>
      <p:grpSpPr>
        <a:xfrm>
          <a:off x="0" y="0"/>
          <a:ext cx="0" cy="0"/>
          <a:chOff x="0" y="0"/>
          <a:chExt cx="0" cy="0"/>
        </a:xfrm>
      </p:grpSpPr>
      <p:sp>
        <p:nvSpPr>
          <p:cNvPr id="636" name="Google Shape;636;p6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 matrix?</a:t>
            </a:r>
            <a:endParaRPr/>
          </a:p>
        </p:txBody>
      </p:sp>
      <p:sp>
        <p:nvSpPr>
          <p:cNvPr id="637" name="Google Shape;637;p68"/>
          <p:cNvSpPr txBox="1"/>
          <p:nvPr>
            <p:ph idx="1" type="body"/>
          </p:nvPr>
        </p:nvSpPr>
        <p:spPr>
          <a:xfrm>
            <a:off x="311700" y="1225225"/>
            <a:ext cx="40899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main advantage of matrices is that you can do </a:t>
            </a:r>
            <a:r>
              <a:rPr b="1" lang="en"/>
              <a:t>simple mathematical operations </a:t>
            </a:r>
            <a:r>
              <a:rPr lang="en"/>
              <a:t>on them</a:t>
            </a:r>
            <a:endParaRPr/>
          </a:p>
          <a:p>
            <a:pPr indent="-317500" lvl="2" marL="1371600" marR="0" rtl="0" algn="l">
              <a:lnSpc>
                <a:spcPct val="115000"/>
              </a:lnSpc>
              <a:spcBef>
                <a:spcPts val="0"/>
              </a:spcBef>
              <a:spcAft>
                <a:spcPts val="0"/>
              </a:spcAft>
              <a:buSzPts val="1400"/>
              <a:buChar char="■"/>
            </a:pPr>
            <a:r>
              <a:rPr lang="en"/>
              <a:t>Addition</a:t>
            </a:r>
            <a:endParaRPr/>
          </a:p>
          <a:p>
            <a:pPr indent="-317500" lvl="2" marL="1371600" marR="0" rtl="0" algn="l">
              <a:lnSpc>
                <a:spcPct val="115000"/>
              </a:lnSpc>
              <a:spcBef>
                <a:spcPts val="0"/>
              </a:spcBef>
              <a:spcAft>
                <a:spcPts val="0"/>
              </a:spcAft>
              <a:buSzPts val="1400"/>
              <a:buChar char="■"/>
            </a:pPr>
            <a:r>
              <a:rPr lang="en"/>
              <a:t>Multiplication</a:t>
            </a:r>
            <a:endParaRPr/>
          </a:p>
          <a:p>
            <a:pPr indent="-317500" lvl="2" marL="1371600" marR="0" rtl="0" algn="l">
              <a:lnSpc>
                <a:spcPct val="115000"/>
              </a:lnSpc>
              <a:spcBef>
                <a:spcPts val="0"/>
              </a:spcBef>
              <a:spcAft>
                <a:spcPts val="0"/>
              </a:spcAft>
              <a:buClr>
                <a:schemeClr val="dk1"/>
              </a:buClr>
              <a:buSzPts val="1400"/>
              <a:buFont typeface="Open Sans"/>
              <a:buChar char="■"/>
            </a:pPr>
            <a:r>
              <a:rPr lang="en"/>
              <a:t>Subtraction</a:t>
            </a:r>
            <a:endParaRPr/>
          </a:p>
          <a:p>
            <a:pPr indent="0" lvl="0" marL="457200" rtl="0" algn="l">
              <a:spcBef>
                <a:spcPts val="1600"/>
              </a:spcBef>
              <a:spcAft>
                <a:spcPts val="0"/>
              </a:spcAft>
              <a:buNone/>
            </a:pPr>
            <a:r>
              <a:t/>
            </a:r>
            <a:endParaRPr/>
          </a:p>
        </p:txBody>
      </p:sp>
      <p:pic>
        <p:nvPicPr>
          <p:cNvPr id="638" name="Google Shape;638;p68"/>
          <p:cNvPicPr preferRelativeResize="0"/>
          <p:nvPr/>
        </p:nvPicPr>
        <p:blipFill>
          <a:blip r:embed="rId3">
            <a:alphaModFix/>
          </a:blip>
          <a:stretch>
            <a:fillRect/>
          </a:stretch>
        </p:blipFill>
        <p:spPr>
          <a:xfrm>
            <a:off x="4401475" y="1240951"/>
            <a:ext cx="4430825" cy="332252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2" name="Shape 642"/>
        <p:cNvGrpSpPr/>
        <p:nvPr/>
      </p:nvGrpSpPr>
      <p:grpSpPr>
        <a:xfrm>
          <a:off x="0" y="0"/>
          <a:ext cx="0" cy="0"/>
          <a:chOff x="0" y="0"/>
          <a:chExt cx="0" cy="0"/>
        </a:xfrm>
      </p:grpSpPr>
      <p:sp>
        <p:nvSpPr>
          <p:cNvPr id="643" name="Google Shape;643;p6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 matrix?</a:t>
            </a:r>
            <a:endParaRPr/>
          </a:p>
        </p:txBody>
      </p:sp>
      <p:sp>
        <p:nvSpPr>
          <p:cNvPr id="644" name="Google Shape;644;p69"/>
          <p:cNvSpPr txBox="1"/>
          <p:nvPr>
            <p:ph idx="1" type="body"/>
          </p:nvPr>
        </p:nvSpPr>
        <p:spPr>
          <a:xfrm>
            <a:off x="311700" y="1225225"/>
            <a:ext cx="4089900" cy="204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main advantage of matrices is that you can do simple mathematical operations on them</a:t>
            </a:r>
            <a:endParaRPr/>
          </a:p>
          <a:p>
            <a:pPr indent="-317500" lvl="1" marL="914400" rtl="0" algn="l">
              <a:spcBef>
                <a:spcPts val="0"/>
              </a:spcBef>
              <a:spcAft>
                <a:spcPts val="0"/>
              </a:spcAft>
              <a:buSzPts val="1400"/>
              <a:buChar char="○"/>
            </a:pPr>
            <a:r>
              <a:rPr lang="en"/>
              <a:t>Row sums</a:t>
            </a:r>
            <a:endParaRPr/>
          </a:p>
          <a:p>
            <a:pPr indent="-317500" lvl="1" marL="914400" rtl="0" algn="l">
              <a:spcBef>
                <a:spcPts val="0"/>
              </a:spcBef>
              <a:spcAft>
                <a:spcPts val="0"/>
              </a:spcAft>
              <a:buSzPts val="1400"/>
              <a:buChar char="○"/>
            </a:pPr>
            <a:r>
              <a:rPr lang="en"/>
              <a:t>Column sums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pic>
        <p:nvPicPr>
          <p:cNvPr descr="sum-of-row-and-column-elements-of-a-matrix.png" id="645" name="Google Shape;645;p69"/>
          <p:cNvPicPr preferRelativeResize="0"/>
          <p:nvPr/>
        </p:nvPicPr>
        <p:blipFill>
          <a:blip r:embed="rId3">
            <a:alphaModFix/>
          </a:blip>
          <a:stretch>
            <a:fillRect/>
          </a:stretch>
        </p:blipFill>
        <p:spPr>
          <a:xfrm>
            <a:off x="4401600" y="1836688"/>
            <a:ext cx="3992950" cy="2131075"/>
          </a:xfrm>
          <a:prstGeom prst="rect">
            <a:avLst/>
          </a:prstGeom>
          <a:noFill/>
          <a:ln>
            <a:noFill/>
          </a:ln>
        </p:spPr>
      </p:pic>
      <p:sp>
        <p:nvSpPr>
          <p:cNvPr id="646" name="Google Shape;646;p69"/>
          <p:cNvSpPr/>
          <p:nvPr/>
        </p:nvSpPr>
        <p:spPr>
          <a:xfrm>
            <a:off x="648600" y="3272425"/>
            <a:ext cx="4089900" cy="1482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creates measures of graph theory concepts that have been connected to social network theory concepts!</a:t>
            </a:r>
            <a:endParaRPr b="1">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0" name="Shape 650"/>
        <p:cNvGrpSpPr/>
        <p:nvPr/>
      </p:nvGrpSpPr>
      <p:grpSpPr>
        <a:xfrm>
          <a:off x="0" y="0"/>
          <a:ext cx="0" cy="0"/>
          <a:chOff x="0" y="0"/>
          <a:chExt cx="0" cy="0"/>
        </a:xfrm>
      </p:grpSpPr>
      <p:sp>
        <p:nvSpPr>
          <p:cNvPr id="651" name="Google Shape;651;p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social network analysis three-step shuffle </a:t>
            </a:r>
            <a:endParaRPr/>
          </a:p>
        </p:txBody>
      </p:sp>
      <p:sp>
        <p:nvSpPr>
          <p:cNvPr id="652" name="Google Shape;652;p70"/>
          <p:cNvSpPr/>
          <p:nvPr/>
        </p:nvSpPr>
        <p:spPr>
          <a:xfrm>
            <a:off x="699325" y="1386750"/>
            <a:ext cx="2190000" cy="3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Think up or grab an “off the shelf” fuzzy concept from social science to develop a </a:t>
            </a:r>
            <a:r>
              <a:rPr b="1" lang="en">
                <a:solidFill>
                  <a:srgbClr val="FFFFFF"/>
                </a:solidFill>
              </a:rPr>
              <a:t>network-theoretic concept</a:t>
            </a:r>
            <a:endParaRPr b="1">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n">
                <a:solidFill>
                  <a:srgbClr val="FFFFFF"/>
                </a:solidFill>
              </a:rPr>
              <a:t>(e.g. popularity, brokerage, reciprocity, role, status)</a:t>
            </a:r>
            <a:endParaRPr>
              <a:solidFill>
                <a:srgbClr val="FFFFFF"/>
              </a:solidFill>
            </a:endParaRPr>
          </a:p>
          <a:p>
            <a:pPr indent="0" lvl="0" marL="0" rtl="0" algn="l">
              <a:spcBef>
                <a:spcPts val="0"/>
              </a:spcBef>
              <a:spcAft>
                <a:spcPts val="0"/>
              </a:spcAft>
              <a:buNone/>
            </a:pPr>
            <a:r>
              <a:t/>
            </a:r>
            <a:endParaRPr>
              <a:solidFill>
                <a:srgbClr val="FFFFFF"/>
              </a:solidFill>
            </a:endParaRPr>
          </a:p>
        </p:txBody>
      </p:sp>
      <p:cxnSp>
        <p:nvCxnSpPr>
          <p:cNvPr id="653" name="Google Shape;653;p70"/>
          <p:cNvCxnSpPr>
            <a:stCxn id="652" idx="3"/>
            <a:endCxn id="654" idx="1"/>
          </p:cNvCxnSpPr>
          <p:nvPr/>
        </p:nvCxnSpPr>
        <p:spPr>
          <a:xfrm>
            <a:off x="2889325" y="3023400"/>
            <a:ext cx="717000" cy="0"/>
          </a:xfrm>
          <a:prstGeom prst="straightConnector1">
            <a:avLst/>
          </a:prstGeom>
          <a:noFill/>
          <a:ln cap="flat" cmpd="sng" w="38100">
            <a:solidFill>
              <a:schemeClr val="dk2"/>
            </a:solidFill>
            <a:prstDash val="solid"/>
            <a:round/>
            <a:headEnd len="med" w="med" type="none"/>
            <a:tailEnd len="med" w="med" type="triangle"/>
          </a:ln>
        </p:spPr>
      </p:cxnSp>
      <p:sp>
        <p:nvSpPr>
          <p:cNvPr id="654" name="Google Shape;654;p70"/>
          <p:cNvSpPr/>
          <p:nvPr/>
        </p:nvSpPr>
        <p:spPr>
          <a:xfrm>
            <a:off x="3606400" y="1386750"/>
            <a:ext cx="2190000" cy="3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Translate the concept from natural language to the “language” of Basic Concepts to develop a </a:t>
            </a:r>
            <a:r>
              <a:rPr b="1" lang="en">
                <a:solidFill>
                  <a:srgbClr val="FFFFFF"/>
                </a:solidFill>
              </a:rPr>
              <a:t>graph-theoretic concept</a:t>
            </a:r>
            <a:endParaRPr b="1">
              <a:solidFill>
                <a:srgbClr val="FFFFFF"/>
              </a:solidFill>
            </a:endParaRPr>
          </a:p>
          <a:p>
            <a:pPr indent="0" lvl="0" marL="0" rtl="0" algn="l">
              <a:spcBef>
                <a:spcPts val="0"/>
              </a:spcBef>
              <a:spcAft>
                <a:spcPts val="0"/>
              </a:spcAft>
              <a:buNone/>
            </a:pPr>
            <a:r>
              <a:t/>
            </a:r>
            <a:endParaRPr b="1">
              <a:solidFill>
                <a:srgbClr val="FFFFFF"/>
              </a:solidFill>
            </a:endParaRPr>
          </a:p>
          <a:p>
            <a:pPr indent="0" lvl="0" marL="0" rtl="0" algn="l">
              <a:spcBef>
                <a:spcPts val="0"/>
              </a:spcBef>
              <a:spcAft>
                <a:spcPts val="0"/>
              </a:spcAft>
              <a:buNone/>
            </a:pPr>
            <a:r>
              <a:t/>
            </a:r>
            <a:endParaRPr b="1">
              <a:solidFill>
                <a:srgbClr val="FFFFFF"/>
              </a:solidFill>
            </a:endParaRPr>
          </a:p>
          <a:p>
            <a:pPr indent="0" lvl="0" marL="0" rtl="0" algn="l">
              <a:spcBef>
                <a:spcPts val="0"/>
              </a:spcBef>
              <a:spcAft>
                <a:spcPts val="0"/>
              </a:spcAft>
              <a:buNone/>
            </a:pPr>
            <a:r>
              <a:rPr b="1" lang="en">
                <a:solidFill>
                  <a:srgbClr val="FFFFFF"/>
                </a:solidFill>
              </a:rPr>
              <a:t>(</a:t>
            </a:r>
            <a:r>
              <a:rPr lang="en">
                <a:solidFill>
                  <a:srgbClr val="FFFFFF"/>
                </a:solidFill>
              </a:rPr>
              <a:t>e.g. points and lines)</a:t>
            </a:r>
            <a:endParaRPr>
              <a:solidFill>
                <a:srgbClr val="FFFFFF"/>
              </a:solidFill>
            </a:endParaRPr>
          </a:p>
        </p:txBody>
      </p:sp>
      <p:cxnSp>
        <p:nvCxnSpPr>
          <p:cNvPr id="655" name="Google Shape;655;p70"/>
          <p:cNvCxnSpPr>
            <a:stCxn id="654" idx="3"/>
            <a:endCxn id="656" idx="1"/>
          </p:cNvCxnSpPr>
          <p:nvPr/>
        </p:nvCxnSpPr>
        <p:spPr>
          <a:xfrm>
            <a:off x="5796400" y="3023400"/>
            <a:ext cx="717000" cy="0"/>
          </a:xfrm>
          <a:prstGeom prst="straightConnector1">
            <a:avLst/>
          </a:prstGeom>
          <a:noFill/>
          <a:ln cap="flat" cmpd="sng" w="38100">
            <a:solidFill>
              <a:schemeClr val="dk2"/>
            </a:solidFill>
            <a:prstDash val="solid"/>
            <a:round/>
            <a:headEnd len="med" w="med" type="none"/>
            <a:tailEnd len="med" w="med" type="triangle"/>
          </a:ln>
        </p:spPr>
      </p:cxnSp>
      <p:sp>
        <p:nvSpPr>
          <p:cNvPr id="656" name="Google Shape;656;p70"/>
          <p:cNvSpPr/>
          <p:nvPr/>
        </p:nvSpPr>
        <p:spPr>
          <a:xfrm>
            <a:off x="6513475" y="1386750"/>
            <a:ext cx="2190000" cy="327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Link the graph-theoretic concept to matrix algebra to develop a </a:t>
            </a:r>
            <a:r>
              <a:rPr b="1" lang="en">
                <a:solidFill>
                  <a:srgbClr val="FFFFFF"/>
                </a:solidFill>
              </a:rPr>
              <a:t>network-analytic measure</a:t>
            </a:r>
            <a:r>
              <a:rPr lang="en">
                <a:solidFill>
                  <a:srgbClr val="FFFFFF"/>
                </a:solidFill>
              </a:rPr>
              <a:t> of the network-theoretic concept </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n">
                <a:solidFill>
                  <a:srgbClr val="FFFFFF"/>
                </a:solidFill>
              </a:rPr>
              <a:t>(e.g. indegree centrality as a measure of popularity)</a:t>
            </a:r>
            <a:endParaRPr>
              <a:solidFill>
                <a:srgbClr val="FFFF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0" name="Shape 660"/>
        <p:cNvGrpSpPr/>
        <p:nvPr/>
      </p:nvGrpSpPr>
      <p:grpSpPr>
        <a:xfrm>
          <a:off x="0" y="0"/>
          <a:ext cx="0" cy="0"/>
          <a:chOff x="0" y="0"/>
          <a:chExt cx="0" cy="0"/>
        </a:xfrm>
      </p:grpSpPr>
      <p:sp>
        <p:nvSpPr>
          <p:cNvPr id="661" name="Google Shape;661;p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network theory three-step shuffle: Example </a:t>
            </a:r>
            <a:endParaRPr/>
          </a:p>
        </p:txBody>
      </p:sp>
      <p:sp>
        <p:nvSpPr>
          <p:cNvPr id="662" name="Google Shape;662;p71"/>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can we </a:t>
            </a:r>
            <a:r>
              <a:rPr lang="en"/>
              <a:t>sp</a:t>
            </a:r>
            <a:r>
              <a:rPr lang="en"/>
              <a:t>ecify the social science concept of popularity In network terms ?</a:t>
            </a:r>
            <a:endParaRPr/>
          </a:p>
          <a:p>
            <a:pPr indent="-317500" lvl="1" marL="914400" rtl="0" algn="l">
              <a:spcBef>
                <a:spcPts val="0"/>
              </a:spcBef>
              <a:spcAft>
                <a:spcPts val="0"/>
              </a:spcAft>
              <a:buSzPts val="1400"/>
              <a:buChar char="○"/>
            </a:pPr>
            <a:r>
              <a:rPr b="1" lang="en"/>
              <a:t>Step 1:</a:t>
            </a:r>
            <a:r>
              <a:rPr lang="en"/>
              <a:t> Define the concept in natural language network-theoretic terms:	</a:t>
            </a:r>
            <a:endParaRPr/>
          </a:p>
          <a:p>
            <a:pPr indent="-317500" lvl="2" marL="1371600" rtl="0" algn="l">
              <a:spcBef>
                <a:spcPts val="0"/>
              </a:spcBef>
              <a:spcAft>
                <a:spcPts val="0"/>
              </a:spcAft>
              <a:buSzPts val="1400"/>
              <a:buChar char="■"/>
            </a:pPr>
            <a:r>
              <a:rPr lang="en"/>
              <a:t>“A person who is well </a:t>
            </a:r>
            <a:r>
              <a:rPr b="1" lang="en"/>
              <a:t>known </a:t>
            </a:r>
            <a:r>
              <a:rPr lang="en"/>
              <a:t>among her peers”</a:t>
            </a:r>
            <a:endParaRPr/>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p:txBody>
      </p:sp>
      <p:pic>
        <p:nvPicPr>
          <p:cNvPr descr="mean_girls.jpg" id="663" name="Google Shape;663;p71"/>
          <p:cNvPicPr preferRelativeResize="0"/>
          <p:nvPr/>
        </p:nvPicPr>
        <p:blipFill>
          <a:blip r:embed="rId3">
            <a:alphaModFix/>
          </a:blip>
          <a:stretch>
            <a:fillRect/>
          </a:stretch>
        </p:blipFill>
        <p:spPr>
          <a:xfrm>
            <a:off x="4864200" y="1555800"/>
            <a:ext cx="3671125" cy="27585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7" name="Shape 667"/>
        <p:cNvGrpSpPr/>
        <p:nvPr/>
      </p:nvGrpSpPr>
      <p:grpSpPr>
        <a:xfrm>
          <a:off x="0" y="0"/>
          <a:ext cx="0" cy="0"/>
          <a:chOff x="0" y="0"/>
          <a:chExt cx="0" cy="0"/>
        </a:xfrm>
      </p:grpSpPr>
      <p:sp>
        <p:nvSpPr>
          <p:cNvPr id="668" name="Google Shape;668;p7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network theory three-step shuffle: Example </a:t>
            </a:r>
            <a:endParaRPr/>
          </a:p>
        </p:txBody>
      </p:sp>
      <p:sp>
        <p:nvSpPr>
          <p:cNvPr id="669" name="Google Shape;669;p72"/>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can we </a:t>
            </a:r>
            <a:r>
              <a:rPr lang="en"/>
              <a:t>sp</a:t>
            </a:r>
            <a:r>
              <a:rPr lang="en"/>
              <a:t>ecify the social science concept of popularity In network terms ?</a:t>
            </a:r>
            <a:endParaRPr/>
          </a:p>
          <a:p>
            <a:pPr indent="-317500" lvl="1" marL="914400" rtl="0" algn="l">
              <a:spcBef>
                <a:spcPts val="0"/>
              </a:spcBef>
              <a:spcAft>
                <a:spcPts val="0"/>
              </a:spcAft>
              <a:buSzPts val="1400"/>
              <a:buChar char="○"/>
            </a:pPr>
            <a:r>
              <a:rPr b="1" lang="en"/>
              <a:t>Step 1:</a:t>
            </a:r>
            <a:r>
              <a:rPr lang="en"/>
              <a:t> Define the concept in natural language network-theoretic terms:	</a:t>
            </a:r>
            <a:endParaRPr/>
          </a:p>
          <a:p>
            <a:pPr indent="-317500" lvl="2" marL="1371600" rtl="0" algn="l">
              <a:spcBef>
                <a:spcPts val="0"/>
              </a:spcBef>
              <a:spcAft>
                <a:spcPts val="0"/>
              </a:spcAft>
              <a:buSzPts val="1400"/>
              <a:buChar char="■"/>
            </a:pPr>
            <a:r>
              <a:rPr lang="en"/>
              <a:t>“A person who is well </a:t>
            </a:r>
            <a:r>
              <a:rPr b="1" lang="en"/>
              <a:t>known </a:t>
            </a:r>
            <a:r>
              <a:rPr lang="en"/>
              <a:t>among her peers”</a:t>
            </a:r>
            <a:endParaRPr/>
          </a:p>
          <a:p>
            <a:pPr indent="-317500" lvl="1" marL="914400" rtl="0" algn="l">
              <a:spcBef>
                <a:spcPts val="0"/>
              </a:spcBef>
              <a:spcAft>
                <a:spcPts val="0"/>
              </a:spcAft>
              <a:buSzPts val="1400"/>
              <a:buChar char="○"/>
            </a:pPr>
            <a:r>
              <a:rPr b="1" lang="en"/>
              <a:t>Step 2:</a:t>
            </a:r>
            <a:r>
              <a:rPr lang="en"/>
              <a:t> Decide what </a:t>
            </a:r>
            <a:r>
              <a:rPr b="1" lang="en"/>
              <a:t>type of tie</a:t>
            </a:r>
            <a:r>
              <a:rPr lang="en"/>
              <a:t> best represents that concept:</a:t>
            </a:r>
            <a:endParaRPr/>
          </a:p>
          <a:p>
            <a:pPr indent="-317500" lvl="2" marL="1371600" rtl="0" algn="l">
              <a:spcBef>
                <a:spcPts val="0"/>
              </a:spcBef>
              <a:spcAft>
                <a:spcPts val="0"/>
              </a:spcAft>
              <a:buSzPts val="1400"/>
              <a:buChar char="■"/>
            </a:pPr>
            <a:r>
              <a:rPr lang="en"/>
              <a:t>Ties that don’t have direction</a:t>
            </a:r>
            <a:endParaRPr/>
          </a:p>
          <a:p>
            <a:pPr indent="-317500" lvl="2" marL="1371600" rtl="0" algn="l">
              <a:spcBef>
                <a:spcPts val="0"/>
              </a:spcBef>
              <a:spcAft>
                <a:spcPts val="0"/>
              </a:spcAft>
              <a:buSzPts val="1400"/>
              <a:buChar char="■"/>
            </a:pPr>
            <a:r>
              <a:rPr b="1" lang="en"/>
              <a:t>Ties that have directionality</a:t>
            </a:r>
            <a:endParaRPr b="1"/>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p:txBody>
      </p:sp>
      <p:pic>
        <p:nvPicPr>
          <p:cNvPr descr="mean_girls.jpg" id="670" name="Google Shape;670;p72"/>
          <p:cNvPicPr preferRelativeResize="0"/>
          <p:nvPr/>
        </p:nvPicPr>
        <p:blipFill>
          <a:blip r:embed="rId3">
            <a:alphaModFix/>
          </a:blip>
          <a:stretch>
            <a:fillRect/>
          </a:stretch>
        </p:blipFill>
        <p:spPr>
          <a:xfrm>
            <a:off x="4864200" y="1555800"/>
            <a:ext cx="3671125" cy="27585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4" name="Shape 674"/>
        <p:cNvGrpSpPr/>
        <p:nvPr/>
      </p:nvGrpSpPr>
      <p:grpSpPr>
        <a:xfrm>
          <a:off x="0" y="0"/>
          <a:ext cx="0" cy="0"/>
          <a:chOff x="0" y="0"/>
          <a:chExt cx="0" cy="0"/>
        </a:xfrm>
      </p:grpSpPr>
      <p:sp>
        <p:nvSpPr>
          <p:cNvPr id="675" name="Google Shape;675;p7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network theory three-step shuffle: Example </a:t>
            </a:r>
            <a:endParaRPr/>
          </a:p>
        </p:txBody>
      </p:sp>
      <p:sp>
        <p:nvSpPr>
          <p:cNvPr id="676" name="Google Shape;676;p73"/>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can we </a:t>
            </a:r>
            <a:r>
              <a:rPr lang="en"/>
              <a:t>sp</a:t>
            </a:r>
            <a:r>
              <a:rPr lang="en"/>
              <a:t>ecify the social science concept of popularity In network terms ?</a:t>
            </a:r>
            <a:endParaRPr/>
          </a:p>
          <a:p>
            <a:pPr indent="-317500" lvl="1" marL="914400" rtl="0" algn="l">
              <a:spcBef>
                <a:spcPts val="0"/>
              </a:spcBef>
              <a:spcAft>
                <a:spcPts val="0"/>
              </a:spcAft>
              <a:buSzPts val="1400"/>
              <a:buChar char="○"/>
            </a:pPr>
            <a:r>
              <a:rPr b="1" lang="en"/>
              <a:t>Step 3: </a:t>
            </a:r>
            <a:r>
              <a:rPr lang="en"/>
              <a:t>Represent the network using a graph that goes with that type of tie:</a:t>
            </a:r>
            <a:endParaRPr/>
          </a:p>
          <a:p>
            <a:pPr indent="-317500" lvl="2" marL="1371600" rtl="0" algn="l">
              <a:spcBef>
                <a:spcPts val="0"/>
              </a:spcBef>
              <a:spcAft>
                <a:spcPts val="0"/>
              </a:spcAft>
              <a:buSzPts val="1400"/>
              <a:buChar char="■"/>
            </a:pPr>
            <a:r>
              <a:rPr lang="en"/>
              <a:t>Ties with inherent directionality (exchange, advice, likes) -&gt; Directed graph</a:t>
            </a:r>
            <a:endParaRPr/>
          </a:p>
          <a:p>
            <a:pPr indent="-317500" lvl="1" marL="914400" rtl="0" algn="l">
              <a:spcBef>
                <a:spcPts val="0"/>
              </a:spcBef>
              <a:spcAft>
                <a:spcPts val="0"/>
              </a:spcAft>
              <a:buSzPts val="1400"/>
              <a:buChar char="○"/>
            </a:pPr>
            <a:r>
              <a:rPr b="1" lang="en"/>
              <a:t>Step 4</a:t>
            </a:r>
            <a:r>
              <a:rPr lang="en"/>
              <a:t>: Translate the network concept into a graph theoretic concept</a:t>
            </a:r>
            <a:endParaRPr/>
          </a:p>
          <a:p>
            <a:pPr indent="-317500" lvl="2" marL="1371600" rtl="0" algn="l">
              <a:spcBef>
                <a:spcPts val="0"/>
              </a:spcBef>
              <a:spcAft>
                <a:spcPts val="0"/>
              </a:spcAft>
              <a:buSzPts val="1400"/>
              <a:buChar char="■"/>
            </a:pPr>
            <a:r>
              <a:rPr lang="en"/>
              <a:t>Popularity -&gt; Number of </a:t>
            </a:r>
            <a:r>
              <a:rPr b="1" lang="en"/>
              <a:t>incoming </a:t>
            </a:r>
            <a:r>
              <a:rPr lang="en"/>
              <a:t>edges landing on an node</a:t>
            </a:r>
            <a:endParaRPr/>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p:txBody>
      </p:sp>
      <p:graphicFrame>
        <p:nvGraphicFramePr>
          <p:cNvPr id="677" name="Google Shape;677;p73"/>
          <p:cNvGraphicFramePr/>
          <p:nvPr/>
        </p:nvGraphicFramePr>
        <p:xfrm>
          <a:off x="5891688" y="2506830"/>
          <a:ext cx="3000000" cy="3000000"/>
        </p:xfrm>
        <a:graphic>
          <a:graphicData uri="http://schemas.openxmlformats.org/drawingml/2006/table">
            <a:tbl>
              <a:tblPr>
                <a:noFill/>
                <a:tableStyleId>{7DE59CC5-BFA2-4C44-9D40-4E4266A2D9C1}</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grpSp>
        <p:nvGrpSpPr>
          <p:cNvPr id="678" name="Google Shape;678;p73"/>
          <p:cNvGrpSpPr/>
          <p:nvPr/>
        </p:nvGrpSpPr>
        <p:grpSpPr>
          <a:xfrm>
            <a:off x="5341637" y="892611"/>
            <a:ext cx="3490675" cy="1614202"/>
            <a:chOff x="5264900" y="3059073"/>
            <a:chExt cx="3490675" cy="1614202"/>
          </a:xfrm>
        </p:grpSpPr>
        <p:pic>
          <p:nvPicPr>
            <p:cNvPr id="679" name="Google Shape;679;p73"/>
            <p:cNvPicPr preferRelativeResize="0"/>
            <p:nvPr/>
          </p:nvPicPr>
          <p:blipFill rotWithShape="1">
            <a:blip r:embed="rId3">
              <a:alphaModFix/>
            </a:blip>
            <a:srcRect b="54218" l="50926" r="2550" t="22708"/>
            <a:stretch/>
          </p:blipFill>
          <p:spPr>
            <a:xfrm>
              <a:off x="5264900" y="3059073"/>
              <a:ext cx="3490675" cy="1321700"/>
            </a:xfrm>
            <a:prstGeom prst="rect">
              <a:avLst/>
            </a:prstGeom>
            <a:noFill/>
            <a:ln>
              <a:noFill/>
            </a:ln>
          </p:spPr>
        </p:pic>
        <p:sp>
          <p:nvSpPr>
            <p:cNvPr id="680" name="Google Shape;680;p73"/>
            <p:cNvSpPr txBox="1"/>
            <p:nvPr/>
          </p:nvSpPr>
          <p:spPr>
            <a:xfrm>
              <a:off x="5782900" y="43807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4" name="Shape 684"/>
        <p:cNvGrpSpPr/>
        <p:nvPr/>
      </p:nvGrpSpPr>
      <p:grpSpPr>
        <a:xfrm>
          <a:off x="0" y="0"/>
          <a:ext cx="0" cy="0"/>
          <a:chOff x="0" y="0"/>
          <a:chExt cx="0" cy="0"/>
        </a:xfrm>
      </p:grpSpPr>
      <p:sp>
        <p:nvSpPr>
          <p:cNvPr id="685" name="Google Shape;685;p7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network theory three-step shuffle: Example </a:t>
            </a:r>
            <a:endParaRPr/>
          </a:p>
        </p:txBody>
      </p:sp>
      <p:sp>
        <p:nvSpPr>
          <p:cNvPr id="686" name="Google Shape;686;p74"/>
          <p:cNvSpPr txBox="1"/>
          <p:nvPr>
            <p:ph idx="1" type="body"/>
          </p:nvPr>
        </p:nvSpPr>
        <p:spPr>
          <a:xfrm>
            <a:off x="311700" y="1225225"/>
            <a:ext cx="4552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can we </a:t>
            </a:r>
            <a:r>
              <a:rPr lang="en"/>
              <a:t>sp</a:t>
            </a:r>
            <a:r>
              <a:rPr lang="en"/>
              <a:t>ecify the social science concept of popularity In network terms ?</a:t>
            </a:r>
            <a:endParaRPr/>
          </a:p>
          <a:p>
            <a:pPr indent="-317500" lvl="1" marL="914400" rtl="0" algn="l">
              <a:spcBef>
                <a:spcPts val="0"/>
              </a:spcBef>
              <a:spcAft>
                <a:spcPts val="0"/>
              </a:spcAft>
              <a:buSzPts val="1400"/>
              <a:buChar char="○"/>
            </a:pPr>
            <a:r>
              <a:rPr b="1" lang="en"/>
              <a:t>Step 5: </a:t>
            </a:r>
            <a:r>
              <a:rPr lang="en"/>
              <a:t>Come up with a matrix operation that translates that into a number:</a:t>
            </a:r>
            <a:endParaRPr/>
          </a:p>
          <a:p>
            <a:pPr indent="-317500" lvl="2" marL="1371600" rtl="0" algn="l">
              <a:spcBef>
                <a:spcPts val="0"/>
              </a:spcBef>
              <a:spcAft>
                <a:spcPts val="0"/>
              </a:spcAft>
              <a:buSzPts val="1400"/>
              <a:buChar char="■"/>
            </a:pPr>
            <a:r>
              <a:rPr lang="en"/>
              <a:t>Sums of the column of the matrix gives the indegree (“popularity”) of each node</a:t>
            </a:r>
            <a:endParaRPr/>
          </a:p>
          <a:p>
            <a:pPr indent="-317500" lvl="1" marL="914400" rtl="0" algn="l">
              <a:spcBef>
                <a:spcPts val="0"/>
              </a:spcBef>
              <a:spcAft>
                <a:spcPts val="0"/>
              </a:spcAft>
              <a:buSzPts val="1400"/>
              <a:buChar char="○"/>
            </a:pPr>
            <a:r>
              <a:rPr b="1" lang="en"/>
              <a:t>Step 6:</a:t>
            </a:r>
            <a:endParaRPr b="1"/>
          </a:p>
          <a:p>
            <a:pPr indent="-317500" lvl="2" marL="1371600" rtl="0" algn="l">
              <a:spcBef>
                <a:spcPts val="0"/>
              </a:spcBef>
              <a:spcAft>
                <a:spcPts val="0"/>
              </a:spcAft>
              <a:buSzPts val="1400"/>
              <a:buChar char="■"/>
            </a:pPr>
            <a:r>
              <a:rPr lang="en"/>
              <a:t>You are done!</a:t>
            </a:r>
            <a:endParaRPr/>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p:txBody>
      </p:sp>
      <p:graphicFrame>
        <p:nvGraphicFramePr>
          <p:cNvPr id="687" name="Google Shape;687;p74"/>
          <p:cNvGraphicFramePr/>
          <p:nvPr/>
        </p:nvGraphicFramePr>
        <p:xfrm>
          <a:off x="5930413" y="1337130"/>
          <a:ext cx="3000000" cy="3000000"/>
        </p:xfrm>
        <a:graphic>
          <a:graphicData uri="http://schemas.openxmlformats.org/drawingml/2006/table">
            <a:tbl>
              <a:tblPr>
                <a:noFill/>
                <a:tableStyleId>{7DE59CC5-BFA2-4C44-9D40-4E4266A2D9C1}</a:tableStyleId>
              </a:tblPr>
              <a:tblGrid>
                <a:gridCol w="398425"/>
                <a:gridCol w="398425"/>
                <a:gridCol w="398425"/>
                <a:gridCol w="398425"/>
                <a:gridCol w="398425"/>
                <a:gridCol w="398425"/>
              </a:tblGrid>
              <a:tr h="3822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78525">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1</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a:t>0</a:t>
                      </a:r>
                      <a:endParaRPr/>
                    </a:p>
                  </a:txBody>
                  <a:tcPr marT="91425" marB="91425" marR="91425" marL="91425" anchor="ctr">
                    <a:lnT cap="flat" cmpd="sng" w="9525">
                      <a:solidFill>
                        <a:srgbClr val="9E9E9E">
                          <a:alpha val="0"/>
                        </a:srgbClr>
                      </a:solidFill>
                      <a:prstDash val="solid"/>
                      <a:round/>
                      <a:headEnd len="sm" w="sm" type="none"/>
                      <a:tailEnd len="sm" w="sm" type="none"/>
                    </a:lnT>
                  </a:tcPr>
                </a:tc>
              </a:tr>
              <a:tr h="378525">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78525">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r h="382200">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r>
              <a:tr h="382200">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a:t>
                      </a:r>
                      <a:endParaRPr/>
                    </a:p>
                  </a:txBody>
                  <a:tcPr marT="91425" marB="91425" marR="91425" marL="91425" anchor="ctr"/>
                </a:tc>
              </a:tr>
            </a:tbl>
          </a:graphicData>
        </a:graphic>
      </p:graphicFrame>
      <p:pic>
        <p:nvPicPr>
          <p:cNvPr descr="Node+degree+from+matrix+values.jpg" id="688" name="Google Shape;688;p74"/>
          <p:cNvPicPr preferRelativeResize="0"/>
          <p:nvPr/>
        </p:nvPicPr>
        <p:blipFill rotWithShape="1">
          <a:blip r:embed="rId3">
            <a:alphaModFix/>
          </a:blip>
          <a:srcRect b="27043" l="8775" r="64077" t="59133"/>
          <a:stretch/>
        </p:blipFill>
        <p:spPr>
          <a:xfrm>
            <a:off x="3544925" y="3570125"/>
            <a:ext cx="2054150" cy="784474"/>
          </a:xfrm>
          <a:prstGeom prst="rect">
            <a:avLst/>
          </a:prstGeom>
          <a:noFill/>
          <a:ln>
            <a:noFill/>
          </a:ln>
        </p:spPr>
      </p:pic>
      <p:sp>
        <p:nvSpPr>
          <p:cNvPr id="689" name="Google Shape;689;p74"/>
          <p:cNvSpPr/>
          <p:nvPr/>
        </p:nvSpPr>
        <p:spPr>
          <a:xfrm>
            <a:off x="7095550" y="1626700"/>
            <a:ext cx="488100" cy="21303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90" name="Google Shape;690;p74"/>
          <p:cNvGraphicFramePr/>
          <p:nvPr/>
        </p:nvGraphicFramePr>
        <p:xfrm>
          <a:off x="6286025" y="3822050"/>
          <a:ext cx="3000000" cy="3000000"/>
        </p:xfrm>
        <a:graphic>
          <a:graphicData uri="http://schemas.openxmlformats.org/drawingml/2006/table">
            <a:tbl>
              <a:tblPr>
                <a:noFill/>
                <a:tableStyleId>{7DE59CC5-BFA2-4C44-9D40-4E4266A2D9C1}</a:tableStyleId>
              </a:tblPr>
              <a:tblGrid>
                <a:gridCol w="421425"/>
                <a:gridCol w="421425"/>
                <a:gridCol w="421425"/>
                <a:gridCol w="421425"/>
                <a:gridCol w="421425"/>
              </a:tblGrid>
              <a:tr h="307125">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4" name="Shape 694"/>
        <p:cNvGrpSpPr/>
        <p:nvPr/>
      </p:nvGrpSpPr>
      <p:grpSpPr>
        <a:xfrm>
          <a:off x="0" y="0"/>
          <a:ext cx="0" cy="0"/>
          <a:chOff x="0" y="0"/>
          <a:chExt cx="0" cy="0"/>
        </a:xfrm>
      </p:grpSpPr>
      <p:sp>
        <p:nvSpPr>
          <p:cNvPr id="695" name="Google Shape;695;p7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Summary of topics</a:t>
            </a:r>
            <a:endParaRPr/>
          </a:p>
        </p:txBody>
      </p:sp>
      <p:sp>
        <p:nvSpPr>
          <p:cNvPr id="696" name="Google Shape;696;p7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Generalizing the notion of adjacency:</a:t>
            </a:r>
            <a:endParaRPr/>
          </a:p>
          <a:p>
            <a:pPr indent="-317500" lvl="1" marL="914400" rtl="0" algn="l">
              <a:spcBef>
                <a:spcPts val="0"/>
              </a:spcBef>
              <a:spcAft>
                <a:spcPts val="0"/>
              </a:spcAft>
              <a:buSzPts val="1400"/>
              <a:buChar char="○"/>
            </a:pPr>
            <a:r>
              <a:rPr lang="en"/>
              <a:t>In the last lecture we discussed the difference between </a:t>
            </a:r>
            <a:r>
              <a:rPr b="1" lang="en"/>
              <a:t>adjacent </a:t>
            </a:r>
            <a:r>
              <a:rPr lang="en"/>
              <a:t>and </a:t>
            </a:r>
            <a:r>
              <a:rPr b="1" lang="en"/>
              <a:t>nonadjacent </a:t>
            </a:r>
            <a:r>
              <a:rPr lang="en"/>
              <a:t>vertices in a graph</a:t>
            </a:r>
            <a:endParaRPr/>
          </a:p>
          <a:p>
            <a:pPr indent="-317500" lvl="1" marL="914400" rtl="0" algn="l">
              <a:spcBef>
                <a:spcPts val="0"/>
              </a:spcBef>
              <a:spcAft>
                <a:spcPts val="0"/>
              </a:spcAft>
              <a:buSzPts val="1400"/>
              <a:buChar char="○"/>
            </a:pPr>
            <a:r>
              <a:rPr lang="en"/>
              <a:t>Today we generalize notions of adjacency to consider </a:t>
            </a:r>
            <a:r>
              <a:rPr b="1" lang="en"/>
              <a:t>indirect or multiple connectivity </a:t>
            </a:r>
            <a:r>
              <a:rPr lang="en"/>
              <a:t>between two nodes</a:t>
            </a:r>
            <a:endParaRPr/>
          </a:p>
          <a:p>
            <a:pPr indent="-342900" lvl="0" marL="457200" rtl="0" algn="l">
              <a:spcBef>
                <a:spcPts val="0"/>
              </a:spcBef>
              <a:spcAft>
                <a:spcPts val="0"/>
              </a:spcAft>
              <a:buSzPts val="1800"/>
              <a:buChar char="●"/>
            </a:pPr>
            <a:r>
              <a:rPr lang="en"/>
              <a:t>Considering additional types of graphs:</a:t>
            </a:r>
            <a:endParaRPr/>
          </a:p>
          <a:p>
            <a:pPr indent="-317500" lvl="1" marL="914400" rtl="0" algn="l">
              <a:spcBef>
                <a:spcPts val="0"/>
              </a:spcBef>
              <a:spcAft>
                <a:spcPts val="0"/>
              </a:spcAft>
              <a:buSzPts val="1400"/>
              <a:buChar char="○"/>
            </a:pPr>
            <a:r>
              <a:rPr b="1" lang="en"/>
              <a:t>Weighted graphs</a:t>
            </a:r>
            <a:endParaRPr b="1"/>
          </a:p>
          <a:p>
            <a:pPr indent="-317500" lvl="1" marL="914400" rtl="0" algn="l">
              <a:spcBef>
                <a:spcPts val="0"/>
              </a:spcBef>
              <a:spcAft>
                <a:spcPts val="0"/>
              </a:spcAft>
              <a:buSzPts val="1400"/>
              <a:buChar char="○"/>
            </a:pPr>
            <a:r>
              <a:rPr b="1" lang="en"/>
              <a:t>Multigraphs</a:t>
            </a:r>
            <a:endParaRPr b="1"/>
          </a:p>
          <a:p>
            <a:pPr indent="-317500" lvl="1" marL="914400" rtl="0" algn="l">
              <a:spcBef>
                <a:spcPts val="0"/>
              </a:spcBef>
              <a:spcAft>
                <a:spcPts val="0"/>
              </a:spcAft>
              <a:buSzPts val="1400"/>
              <a:buChar char="○"/>
            </a:pPr>
            <a:r>
              <a:rPr b="1" lang="en"/>
              <a:t>Signed graphs</a:t>
            </a:r>
            <a:endParaRPr b="1"/>
          </a:p>
          <a:p>
            <a:pPr indent="-317500" lvl="1" marL="914400" rtl="0" algn="l">
              <a:spcBef>
                <a:spcPts val="0"/>
              </a:spcBef>
              <a:spcAft>
                <a:spcPts val="0"/>
              </a:spcAft>
              <a:buSzPts val="1400"/>
              <a:buChar char="○"/>
            </a:pPr>
            <a:r>
              <a:rPr b="1" lang="en"/>
              <a:t>Bipartite graphs</a:t>
            </a:r>
            <a:endParaRPr b="1"/>
          </a:p>
          <a:p>
            <a:pPr indent="-342900" lvl="0" marL="457200" rtl="0" algn="l">
              <a:spcBef>
                <a:spcPts val="0"/>
              </a:spcBef>
              <a:spcAft>
                <a:spcPts val="0"/>
              </a:spcAft>
              <a:buSzPts val="1800"/>
              <a:buChar char="●"/>
            </a:pPr>
            <a:r>
              <a:rPr lang="en"/>
              <a:t>Considering an important matrix operation:</a:t>
            </a:r>
            <a:endParaRPr/>
          </a:p>
          <a:p>
            <a:pPr indent="-317500" lvl="1" marL="914400" rtl="0" algn="l">
              <a:spcBef>
                <a:spcPts val="0"/>
              </a:spcBef>
              <a:spcAft>
                <a:spcPts val="0"/>
              </a:spcAft>
              <a:buSzPts val="1400"/>
              <a:buChar char="○"/>
            </a:pPr>
            <a:r>
              <a:rPr b="1" lang="en"/>
              <a:t>Matrix multiplication</a:t>
            </a:r>
            <a:endParaRPr b="1"/>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0" name="Shape 700"/>
        <p:cNvGrpSpPr/>
        <p:nvPr/>
      </p:nvGrpSpPr>
      <p:grpSpPr>
        <a:xfrm>
          <a:off x="0" y="0"/>
          <a:ext cx="0" cy="0"/>
          <a:chOff x="0" y="0"/>
          <a:chExt cx="0" cy="0"/>
        </a:xfrm>
      </p:grpSpPr>
      <p:sp>
        <p:nvSpPr>
          <p:cNvPr id="701" name="Google Shape;701;p7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a:t>
            </a:r>
            <a:endParaRPr/>
          </a:p>
        </p:txBody>
      </p:sp>
      <p:sp>
        <p:nvSpPr>
          <p:cNvPr id="702" name="Google Shape;702;p76"/>
          <p:cNvSpPr txBox="1"/>
          <p:nvPr>
            <p:ph idx="1" type="body"/>
          </p:nvPr>
        </p:nvSpPr>
        <p:spPr>
          <a:xfrm>
            <a:off x="311700" y="1225225"/>
            <a:ext cx="496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Weighted graphs</a:t>
            </a:r>
            <a:r>
              <a:rPr lang="en"/>
              <a:t> are a </a:t>
            </a:r>
            <a:r>
              <a:rPr lang="en"/>
              <a:t>sp</a:t>
            </a:r>
            <a:r>
              <a:rPr lang="en"/>
              <a:t>ecial type of graph featuring: </a:t>
            </a:r>
            <a:endParaRPr/>
          </a:p>
          <a:p>
            <a:pPr indent="-317500" lvl="1" marL="914400" rtl="0" algn="l">
              <a:spcBef>
                <a:spcPts val="0"/>
              </a:spcBef>
              <a:spcAft>
                <a:spcPts val="0"/>
              </a:spcAft>
              <a:buClr>
                <a:srgbClr val="FF0000"/>
              </a:buClr>
              <a:buSzPts val="1400"/>
              <a:buChar char="○"/>
            </a:pPr>
            <a:r>
              <a:rPr lang="en">
                <a:solidFill>
                  <a:srgbClr val="FF0000"/>
                </a:solidFill>
              </a:rPr>
              <a:t>Numerical values associated with each edge</a:t>
            </a:r>
            <a:endParaRPr>
              <a:solidFill>
                <a:srgbClr val="FF0000"/>
              </a:solidFill>
            </a:endParaRPr>
          </a:p>
          <a:p>
            <a:pPr indent="-317500" lvl="1" marL="914400" rtl="0" algn="l">
              <a:spcBef>
                <a:spcPts val="0"/>
              </a:spcBef>
              <a:spcAft>
                <a:spcPts val="0"/>
              </a:spcAft>
              <a:buSzPts val="1400"/>
              <a:buChar char="○"/>
            </a:pPr>
            <a:r>
              <a:rPr lang="en"/>
              <a:t>This is called the </a:t>
            </a:r>
            <a:r>
              <a:rPr b="1" lang="en"/>
              <a:t>edge weight </a:t>
            </a:r>
            <a:r>
              <a:rPr lang="en"/>
              <a:t>(w</a:t>
            </a:r>
            <a:r>
              <a:rPr baseline="-25000" lang="en"/>
              <a:t>uv</a:t>
            </a:r>
            <a:r>
              <a:rPr lang="en"/>
              <a:t>)</a:t>
            </a:r>
            <a:endParaRPr/>
          </a:p>
          <a:p>
            <a:pPr indent="-317500" lvl="1" marL="914400" rtl="0" algn="l">
              <a:spcBef>
                <a:spcPts val="0"/>
              </a:spcBef>
              <a:spcAft>
                <a:spcPts val="0"/>
              </a:spcAft>
              <a:buSzPts val="1400"/>
              <a:buChar char="○"/>
            </a:pPr>
            <a:r>
              <a:rPr lang="en"/>
              <a:t>G = {E, V, w}</a:t>
            </a:r>
            <a:endParaRPr/>
          </a:p>
          <a:p>
            <a:pPr indent="-342900" lvl="0" marL="457200" rtl="0" algn="l">
              <a:spcBef>
                <a:spcPts val="0"/>
              </a:spcBef>
              <a:spcAft>
                <a:spcPts val="0"/>
              </a:spcAft>
              <a:buSzPts val="1800"/>
              <a:buChar char="●"/>
            </a:pPr>
            <a:r>
              <a:rPr lang="en"/>
              <a:t>We can go from weighted to simple binary graphs by using a </a:t>
            </a:r>
            <a:r>
              <a:rPr b="1" lang="en"/>
              <a:t>cutoff</a:t>
            </a:r>
            <a:r>
              <a:rPr lang="en"/>
              <a:t>:</a:t>
            </a:r>
            <a:endParaRPr/>
          </a:p>
          <a:p>
            <a:pPr indent="-317500" lvl="1" marL="914400" rtl="0" algn="l">
              <a:spcBef>
                <a:spcPts val="0"/>
              </a:spcBef>
              <a:spcAft>
                <a:spcPts val="0"/>
              </a:spcAft>
              <a:buSzPts val="1400"/>
              <a:buChar char="○"/>
            </a:pPr>
            <a:r>
              <a:rPr lang="en"/>
              <a:t>a</a:t>
            </a:r>
            <a:r>
              <a:rPr baseline="-25000" lang="en"/>
              <a:t>ij</a:t>
            </a:r>
            <a:r>
              <a:rPr lang="en"/>
              <a:t> = 1 </a:t>
            </a:r>
            <a:r>
              <a:rPr i="1" lang="en"/>
              <a:t>if</a:t>
            </a:r>
            <a:r>
              <a:rPr lang="en"/>
              <a:t> w</a:t>
            </a:r>
            <a:r>
              <a:rPr baseline="-25000" lang="en"/>
              <a:t>ij </a:t>
            </a:r>
            <a:r>
              <a:rPr lang="en"/>
              <a:t>&gt; ϴ, </a:t>
            </a:r>
            <a:r>
              <a:rPr i="1" lang="en"/>
              <a:t>else</a:t>
            </a:r>
            <a:r>
              <a:rPr lang="en"/>
              <a:t> a</a:t>
            </a:r>
            <a:r>
              <a:rPr baseline="-25000" lang="en"/>
              <a:t>ij</a:t>
            </a:r>
            <a:r>
              <a:rPr lang="en"/>
              <a:t> = 0</a:t>
            </a:r>
            <a:endParaRPr/>
          </a:p>
          <a:p>
            <a:pPr indent="-317500" lvl="1" marL="914400" rtl="0" algn="l">
              <a:spcBef>
                <a:spcPts val="0"/>
              </a:spcBef>
              <a:spcAft>
                <a:spcPts val="0"/>
              </a:spcAft>
              <a:buSzPts val="1400"/>
              <a:buChar char="○"/>
            </a:pPr>
            <a:r>
              <a:rPr lang="en"/>
              <a:t>Binary graphs can be thought of as a </a:t>
            </a:r>
            <a:r>
              <a:rPr lang="en"/>
              <a:t>sp</a:t>
            </a:r>
            <a:r>
              <a:rPr lang="en"/>
              <a:t>ecial (truncated) case of weighted graphs</a:t>
            </a:r>
            <a:endParaRPr/>
          </a:p>
          <a:p>
            <a:pPr indent="0" lvl="0" marL="9144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703" name="Google Shape;703;p76"/>
          <p:cNvPicPr preferRelativeResize="0"/>
          <p:nvPr/>
        </p:nvPicPr>
        <p:blipFill>
          <a:blip r:embed="rId3">
            <a:alphaModFix/>
          </a:blip>
          <a:stretch>
            <a:fillRect/>
          </a:stretch>
        </p:blipFill>
        <p:spPr>
          <a:xfrm>
            <a:off x="5281201" y="1753574"/>
            <a:ext cx="3551100" cy="229731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7" name="Shape 707"/>
        <p:cNvGrpSpPr/>
        <p:nvPr/>
      </p:nvGrpSpPr>
      <p:grpSpPr>
        <a:xfrm>
          <a:off x="0" y="0"/>
          <a:ext cx="0" cy="0"/>
          <a:chOff x="0" y="0"/>
          <a:chExt cx="0" cy="0"/>
        </a:xfrm>
      </p:grpSpPr>
      <p:sp>
        <p:nvSpPr>
          <p:cNvPr id="708" name="Google Shape;708;p7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a:t>
            </a:r>
            <a:endParaRPr/>
          </a:p>
        </p:txBody>
      </p:sp>
      <p:sp>
        <p:nvSpPr>
          <p:cNvPr id="709" name="Google Shape;709;p77"/>
          <p:cNvSpPr txBox="1"/>
          <p:nvPr>
            <p:ph idx="1" type="body"/>
          </p:nvPr>
        </p:nvSpPr>
        <p:spPr>
          <a:xfrm>
            <a:off x="311700" y="1225225"/>
            <a:ext cx="496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Weighted graphs</a:t>
            </a:r>
            <a:r>
              <a:rPr lang="en"/>
              <a:t> are a </a:t>
            </a:r>
            <a:r>
              <a:rPr lang="en"/>
              <a:t>sp</a:t>
            </a:r>
            <a:r>
              <a:rPr lang="en"/>
              <a:t>ecial type of graph featuring: </a:t>
            </a:r>
            <a:endParaRPr/>
          </a:p>
          <a:p>
            <a:pPr indent="-317500" lvl="1" marL="914400" rtl="0" algn="l">
              <a:spcBef>
                <a:spcPts val="0"/>
              </a:spcBef>
              <a:spcAft>
                <a:spcPts val="0"/>
              </a:spcAft>
              <a:buClr>
                <a:srgbClr val="FF0000"/>
              </a:buClr>
              <a:buSzPts val="1400"/>
              <a:buChar char="○"/>
            </a:pPr>
            <a:r>
              <a:rPr lang="en">
                <a:solidFill>
                  <a:srgbClr val="FF0000"/>
                </a:solidFill>
              </a:rPr>
              <a:t>Numerical values associated with each edge</a:t>
            </a:r>
            <a:endParaRPr>
              <a:solidFill>
                <a:srgbClr val="FF0000"/>
              </a:solidFill>
            </a:endParaRPr>
          </a:p>
          <a:p>
            <a:pPr indent="-317500" lvl="1" marL="914400" rtl="0" algn="l">
              <a:spcBef>
                <a:spcPts val="0"/>
              </a:spcBef>
              <a:spcAft>
                <a:spcPts val="0"/>
              </a:spcAft>
              <a:buSzPts val="1400"/>
              <a:buChar char="○"/>
            </a:pPr>
            <a:r>
              <a:rPr lang="en"/>
              <a:t>This is called the </a:t>
            </a:r>
            <a:r>
              <a:rPr b="1" lang="en"/>
              <a:t>edge weight </a:t>
            </a:r>
            <a:r>
              <a:rPr lang="en"/>
              <a:t>(w</a:t>
            </a:r>
            <a:r>
              <a:rPr baseline="-25000" lang="en"/>
              <a:t>uv</a:t>
            </a:r>
            <a:r>
              <a:rPr lang="en"/>
              <a:t>)</a:t>
            </a:r>
            <a:endParaRPr/>
          </a:p>
          <a:p>
            <a:pPr indent="-317500" lvl="1" marL="914400" rtl="0" algn="l">
              <a:spcBef>
                <a:spcPts val="0"/>
              </a:spcBef>
              <a:spcAft>
                <a:spcPts val="0"/>
              </a:spcAft>
              <a:buSzPts val="1400"/>
              <a:buChar char="○"/>
            </a:pPr>
            <a:r>
              <a:rPr lang="en" sz="1400"/>
              <a:t>G = {E, V, w}</a:t>
            </a:r>
            <a:endParaRPr sz="1400"/>
          </a:p>
          <a:p>
            <a:pPr indent="-342900" lvl="0" marL="457200" rtl="0" algn="l">
              <a:spcBef>
                <a:spcPts val="0"/>
              </a:spcBef>
              <a:spcAft>
                <a:spcPts val="0"/>
              </a:spcAft>
              <a:buSzPts val="1800"/>
              <a:buChar char="●"/>
            </a:pPr>
            <a:r>
              <a:rPr lang="en"/>
              <a:t>We can go from weighted to simple binary graphs by using a </a:t>
            </a:r>
            <a:r>
              <a:rPr b="1" lang="en"/>
              <a:t>cutoff</a:t>
            </a:r>
            <a:r>
              <a:rPr lang="en"/>
              <a:t>:</a:t>
            </a:r>
            <a:endParaRPr/>
          </a:p>
          <a:p>
            <a:pPr indent="-317500" lvl="1" marL="914400" rtl="0" algn="l">
              <a:spcBef>
                <a:spcPts val="0"/>
              </a:spcBef>
              <a:spcAft>
                <a:spcPts val="0"/>
              </a:spcAft>
              <a:buSzPts val="1400"/>
              <a:buChar char="○"/>
            </a:pPr>
            <a:r>
              <a:rPr lang="en"/>
              <a:t>a</a:t>
            </a:r>
            <a:r>
              <a:rPr baseline="-25000" lang="en"/>
              <a:t>ij</a:t>
            </a:r>
            <a:r>
              <a:rPr lang="en"/>
              <a:t> = 1 </a:t>
            </a:r>
            <a:r>
              <a:rPr i="1" lang="en"/>
              <a:t>if</a:t>
            </a:r>
            <a:r>
              <a:rPr lang="en"/>
              <a:t> w</a:t>
            </a:r>
            <a:r>
              <a:rPr baseline="-25000" lang="en"/>
              <a:t>ij </a:t>
            </a:r>
            <a:r>
              <a:rPr lang="en"/>
              <a:t>&gt; ϴ, </a:t>
            </a:r>
            <a:r>
              <a:rPr i="1" lang="en"/>
              <a:t>else</a:t>
            </a:r>
            <a:r>
              <a:rPr lang="en"/>
              <a:t> a</a:t>
            </a:r>
            <a:r>
              <a:rPr baseline="-25000" lang="en"/>
              <a:t>ij</a:t>
            </a:r>
            <a:r>
              <a:rPr lang="en"/>
              <a:t> = 0</a:t>
            </a:r>
            <a:endParaRPr/>
          </a:p>
          <a:p>
            <a:pPr indent="-317500" lvl="1" marL="914400" rtl="0" algn="l">
              <a:spcBef>
                <a:spcPts val="0"/>
              </a:spcBef>
              <a:spcAft>
                <a:spcPts val="0"/>
              </a:spcAft>
              <a:buSzPts val="1400"/>
              <a:buChar char="○"/>
            </a:pPr>
            <a:r>
              <a:rPr lang="en"/>
              <a:t>Weighted graphs can be directed or undirected</a:t>
            </a:r>
            <a:endParaRPr/>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710" name="Google Shape;710;p77"/>
          <p:cNvPicPr preferRelativeResize="0"/>
          <p:nvPr/>
        </p:nvPicPr>
        <p:blipFill>
          <a:blip r:embed="rId3">
            <a:alphaModFix/>
          </a:blip>
          <a:stretch>
            <a:fillRect/>
          </a:stretch>
        </p:blipFill>
        <p:spPr>
          <a:xfrm>
            <a:off x="5281201" y="1753574"/>
            <a:ext cx="3551100" cy="2297313"/>
          </a:xfrm>
          <a:prstGeom prst="rect">
            <a:avLst/>
          </a:prstGeom>
          <a:noFill/>
          <a:ln>
            <a:noFill/>
          </a:ln>
        </p:spPr>
      </p:pic>
      <p:sp>
        <p:nvSpPr>
          <p:cNvPr id="711" name="Google Shape;711;p77"/>
          <p:cNvSpPr txBox="1"/>
          <p:nvPr/>
        </p:nvSpPr>
        <p:spPr>
          <a:xfrm>
            <a:off x="5720875" y="42867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5" name="Shape 715"/>
        <p:cNvGrpSpPr/>
        <p:nvPr/>
      </p:nvGrpSpPr>
      <p:grpSpPr>
        <a:xfrm>
          <a:off x="0" y="0"/>
          <a:ext cx="0" cy="0"/>
          <a:chOff x="0" y="0"/>
          <a:chExt cx="0" cy="0"/>
        </a:xfrm>
      </p:grpSpPr>
      <p:sp>
        <p:nvSpPr>
          <p:cNvPr id="716" name="Google Shape;716;p7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a:t>
            </a:r>
            <a:endParaRPr/>
          </a:p>
        </p:txBody>
      </p:sp>
      <p:sp>
        <p:nvSpPr>
          <p:cNvPr id="717" name="Google Shape;717;p78"/>
          <p:cNvSpPr txBox="1"/>
          <p:nvPr>
            <p:ph idx="1" type="body"/>
          </p:nvPr>
        </p:nvSpPr>
        <p:spPr>
          <a:xfrm>
            <a:off x="311700" y="1225225"/>
            <a:ext cx="496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Weighted graphs can be used to represent </a:t>
            </a:r>
            <a:r>
              <a:rPr b="1" lang="en"/>
              <a:t>weighted networks</a:t>
            </a:r>
            <a:endParaRPr b="1"/>
          </a:p>
          <a:p>
            <a:pPr indent="-317500" lvl="1" marL="914400" rtl="0" algn="l">
              <a:spcBef>
                <a:spcPts val="0"/>
              </a:spcBef>
              <a:spcAft>
                <a:spcPts val="0"/>
              </a:spcAft>
              <a:buSzPts val="1400"/>
              <a:buChar char="○"/>
            </a:pPr>
            <a:r>
              <a:rPr lang="en"/>
              <a:t>In a weighted network we not only measure the presence/absence of a tie, but also the </a:t>
            </a:r>
            <a:r>
              <a:rPr b="1" lang="en"/>
              <a:t>strength</a:t>
            </a:r>
            <a:r>
              <a:rPr lang="en"/>
              <a:t> of the relationship:</a:t>
            </a:r>
            <a:endParaRPr/>
          </a:p>
          <a:p>
            <a:pPr indent="-317500" lvl="2" marL="1371600" rtl="0" algn="l">
              <a:spcBef>
                <a:spcPts val="0"/>
              </a:spcBef>
              <a:spcAft>
                <a:spcPts val="0"/>
              </a:spcAft>
              <a:buSzPts val="1400"/>
              <a:buChar char="■"/>
            </a:pPr>
            <a:r>
              <a:rPr lang="en"/>
              <a:t>Proportion of time i and j </a:t>
            </a:r>
            <a:r>
              <a:rPr lang="en"/>
              <a:t>sp</a:t>
            </a:r>
            <a:r>
              <a:rPr lang="en"/>
              <a:t>end together</a:t>
            </a:r>
            <a:endParaRPr/>
          </a:p>
          <a:p>
            <a:pPr indent="-317500" lvl="2" marL="1371600" rtl="0" algn="l">
              <a:spcBef>
                <a:spcPts val="0"/>
              </a:spcBef>
              <a:spcAft>
                <a:spcPts val="0"/>
              </a:spcAft>
              <a:buSzPts val="1400"/>
              <a:buChar char="■"/>
            </a:pPr>
            <a:r>
              <a:rPr lang="en"/>
              <a:t>Number of texts from i to j</a:t>
            </a:r>
            <a:endParaRPr/>
          </a:p>
          <a:p>
            <a:pPr indent="-317500" lvl="2" marL="1371600" rtl="0" algn="l">
              <a:spcBef>
                <a:spcPts val="0"/>
              </a:spcBef>
              <a:spcAft>
                <a:spcPts val="0"/>
              </a:spcAft>
              <a:buSzPts val="1400"/>
              <a:buChar char="■"/>
            </a:pPr>
            <a:r>
              <a:rPr lang="en"/>
              <a:t>Number of times i retweets j</a:t>
            </a:r>
            <a:endParaRPr/>
          </a:p>
          <a:p>
            <a:pPr indent="-317500" lvl="2" marL="1371600" rtl="0" algn="l">
              <a:spcBef>
                <a:spcPts val="0"/>
              </a:spcBef>
              <a:spcAft>
                <a:spcPts val="0"/>
              </a:spcAft>
              <a:buSzPts val="1400"/>
              <a:buChar char="■"/>
            </a:pPr>
            <a:r>
              <a:rPr lang="en"/>
              <a:t>Number of times i goes to j for help or advice</a:t>
            </a:r>
            <a:endParaRPr/>
          </a:p>
        </p:txBody>
      </p:sp>
      <p:pic>
        <p:nvPicPr>
          <p:cNvPr id="718" name="Google Shape;718;p78"/>
          <p:cNvPicPr preferRelativeResize="0"/>
          <p:nvPr/>
        </p:nvPicPr>
        <p:blipFill>
          <a:blip r:embed="rId3">
            <a:alphaModFix/>
          </a:blip>
          <a:stretch>
            <a:fillRect/>
          </a:stretch>
        </p:blipFill>
        <p:spPr>
          <a:xfrm>
            <a:off x="5281201" y="1753574"/>
            <a:ext cx="3551100" cy="2297313"/>
          </a:xfrm>
          <a:prstGeom prst="rect">
            <a:avLst/>
          </a:prstGeom>
          <a:noFill/>
          <a:ln>
            <a:noFill/>
          </a:ln>
        </p:spPr>
      </p:pic>
      <p:sp>
        <p:nvSpPr>
          <p:cNvPr id="719" name="Google Shape;719;p78"/>
          <p:cNvSpPr txBox="1"/>
          <p:nvPr/>
        </p:nvSpPr>
        <p:spPr>
          <a:xfrm>
            <a:off x="5720875" y="42867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3" name="Shape 723"/>
        <p:cNvGrpSpPr/>
        <p:nvPr/>
      </p:nvGrpSpPr>
      <p:grpSpPr>
        <a:xfrm>
          <a:off x="0" y="0"/>
          <a:ext cx="0" cy="0"/>
          <a:chOff x="0" y="0"/>
          <a:chExt cx="0" cy="0"/>
        </a:xfrm>
      </p:grpSpPr>
      <p:sp>
        <p:nvSpPr>
          <p:cNvPr id="724" name="Google Shape;724;p7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725" name="Google Shape;725;p79"/>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726" name="Google Shape;726;p79"/>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graphicFrame>
        <p:nvGraphicFramePr>
          <p:cNvPr id="727" name="Google Shape;727;p79"/>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1" name="Shape 731"/>
        <p:cNvGrpSpPr/>
        <p:nvPr/>
      </p:nvGrpSpPr>
      <p:grpSpPr>
        <a:xfrm>
          <a:off x="0" y="0"/>
          <a:ext cx="0" cy="0"/>
          <a:chOff x="0" y="0"/>
          <a:chExt cx="0" cy="0"/>
        </a:xfrm>
      </p:grpSpPr>
      <p:sp>
        <p:nvSpPr>
          <p:cNvPr id="732" name="Google Shape;732;p8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733" name="Google Shape;733;p80"/>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734" name="Google Shape;734;p80"/>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graphicFrame>
        <p:nvGraphicFramePr>
          <p:cNvPr id="735" name="Google Shape;735;p80"/>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bl>
          </a:graphicData>
        </a:graphic>
      </p:graphicFrame>
      <p:sp>
        <p:nvSpPr>
          <p:cNvPr id="736" name="Google Shape;736;p80"/>
          <p:cNvSpPr/>
          <p:nvPr/>
        </p:nvSpPr>
        <p:spPr>
          <a:xfrm>
            <a:off x="5084150" y="2027725"/>
            <a:ext cx="3689400" cy="712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0" name="Shape 740"/>
        <p:cNvGrpSpPr/>
        <p:nvPr/>
      </p:nvGrpSpPr>
      <p:grpSpPr>
        <a:xfrm>
          <a:off x="0" y="0"/>
          <a:ext cx="0" cy="0"/>
          <a:chOff x="0" y="0"/>
          <a:chExt cx="0" cy="0"/>
        </a:xfrm>
      </p:grpSpPr>
      <p:sp>
        <p:nvSpPr>
          <p:cNvPr id="741" name="Google Shape;741;p8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742" name="Google Shape;742;p81"/>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743" name="Google Shape;743;p81"/>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sp>
        <p:nvSpPr>
          <p:cNvPr id="744" name="Google Shape;744;p81"/>
          <p:cNvSpPr/>
          <p:nvPr/>
        </p:nvSpPr>
        <p:spPr>
          <a:xfrm>
            <a:off x="5084150" y="2027725"/>
            <a:ext cx="3689400" cy="712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45" name="Google Shape;745;p81"/>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0.3</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9" name="Shape 749"/>
        <p:cNvGrpSpPr/>
        <p:nvPr/>
      </p:nvGrpSpPr>
      <p:grpSpPr>
        <a:xfrm>
          <a:off x="0" y="0"/>
          <a:ext cx="0" cy="0"/>
          <a:chOff x="0" y="0"/>
          <a:chExt cx="0" cy="0"/>
        </a:xfrm>
      </p:grpSpPr>
      <p:sp>
        <p:nvSpPr>
          <p:cNvPr id="750" name="Google Shape;750;p8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751" name="Google Shape;751;p82"/>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752" name="Google Shape;752;p82"/>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sp>
        <p:nvSpPr>
          <p:cNvPr id="753" name="Google Shape;753;p82"/>
          <p:cNvSpPr/>
          <p:nvPr/>
        </p:nvSpPr>
        <p:spPr>
          <a:xfrm>
            <a:off x="5084150" y="2027725"/>
            <a:ext cx="3689400" cy="712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54" name="Google Shape;754;p82"/>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0.3</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0.3</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8" name="Shape 758"/>
        <p:cNvGrpSpPr/>
        <p:nvPr/>
      </p:nvGrpSpPr>
      <p:grpSpPr>
        <a:xfrm>
          <a:off x="0" y="0"/>
          <a:ext cx="0" cy="0"/>
          <a:chOff x="0" y="0"/>
          <a:chExt cx="0" cy="0"/>
        </a:xfrm>
      </p:grpSpPr>
      <p:sp>
        <p:nvSpPr>
          <p:cNvPr id="759" name="Google Shape;759;p8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760" name="Google Shape;760;p83"/>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761" name="Google Shape;761;p83"/>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sp>
        <p:nvSpPr>
          <p:cNvPr id="762" name="Google Shape;762;p83"/>
          <p:cNvSpPr/>
          <p:nvPr/>
        </p:nvSpPr>
        <p:spPr>
          <a:xfrm>
            <a:off x="5084150" y="2027725"/>
            <a:ext cx="3689400" cy="712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63" name="Google Shape;763;p83"/>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0.3</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0.3</a:t>
                      </a:r>
                      <a:endParaRPr sz="1800"/>
                    </a:p>
                  </a:txBody>
                  <a:tcPr marT="0" marB="0" marR="0" marL="0" anchor="ctr"/>
                </a:tc>
                <a:tc>
                  <a:txBody>
                    <a:bodyPr/>
                    <a:lstStyle/>
                    <a:p>
                      <a:pPr indent="0" lvl="0" marL="0" rtl="0" algn="ctr">
                        <a:spcBef>
                          <a:spcPts val="0"/>
                        </a:spcBef>
                        <a:spcAft>
                          <a:spcPts val="0"/>
                        </a:spcAft>
                        <a:buNone/>
                      </a:pPr>
                      <a:r>
                        <a:rPr lang="en" sz="1800"/>
                        <a:t>0.4</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7" name="Shape 767"/>
        <p:cNvGrpSpPr/>
        <p:nvPr/>
      </p:nvGrpSpPr>
      <p:grpSpPr>
        <a:xfrm>
          <a:off x="0" y="0"/>
          <a:ext cx="0" cy="0"/>
          <a:chOff x="0" y="0"/>
          <a:chExt cx="0" cy="0"/>
        </a:xfrm>
      </p:grpSpPr>
      <p:sp>
        <p:nvSpPr>
          <p:cNvPr id="768" name="Google Shape;768;p8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769" name="Google Shape;769;p84"/>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770" name="Google Shape;770;p84"/>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graphicFrame>
        <p:nvGraphicFramePr>
          <p:cNvPr id="771" name="Google Shape;771;p84"/>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0.1</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0.9</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0.3</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0.3</a:t>
                      </a:r>
                      <a:endParaRPr sz="1800"/>
                    </a:p>
                  </a:txBody>
                  <a:tcPr marT="0" marB="0" marR="0" marL="0" anchor="ctr"/>
                </a:tc>
                <a:tc>
                  <a:txBody>
                    <a:bodyPr/>
                    <a:lstStyle/>
                    <a:p>
                      <a:pPr indent="0" lvl="0" marL="0" rtl="0" algn="ctr">
                        <a:spcBef>
                          <a:spcPts val="0"/>
                        </a:spcBef>
                        <a:spcAft>
                          <a:spcPts val="0"/>
                        </a:spcAft>
                        <a:buNone/>
                      </a:pPr>
                      <a:r>
                        <a:rPr lang="en" sz="1800"/>
                        <a:t>0.4</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0.6</a:t>
                      </a:r>
                      <a:endParaRPr sz="1800"/>
                    </a:p>
                  </a:txBody>
                  <a:tcPr marT="0" marB="0" marR="0" marL="0" anchor="ctr"/>
                </a:tc>
                <a:tc>
                  <a:txBody>
                    <a:bodyPr/>
                    <a:lstStyle/>
                    <a:p>
                      <a:pPr indent="0" lvl="0" marL="0" rtl="0" algn="ctr">
                        <a:spcBef>
                          <a:spcPts val="0"/>
                        </a:spcBef>
                        <a:spcAft>
                          <a:spcPts val="0"/>
                        </a:spcAft>
                        <a:buNone/>
                      </a:pPr>
                      <a:r>
                        <a:rPr lang="en" sz="1800"/>
                        <a:t>0.4</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1.0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0.55</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0.45</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1.0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5" name="Shape 775"/>
        <p:cNvGrpSpPr/>
        <p:nvPr/>
      </p:nvGrpSpPr>
      <p:grpSpPr>
        <a:xfrm>
          <a:off x="0" y="0"/>
          <a:ext cx="0" cy="0"/>
          <a:chOff x="0" y="0"/>
          <a:chExt cx="0" cy="0"/>
        </a:xfrm>
      </p:grpSpPr>
      <p:sp>
        <p:nvSpPr>
          <p:cNvPr id="776" name="Google Shape;776;p8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Bipartite Graphs</a:t>
            </a:r>
            <a:endParaRPr/>
          </a:p>
        </p:txBody>
      </p:sp>
      <p:sp>
        <p:nvSpPr>
          <p:cNvPr id="777" name="Google Shape;777;p85"/>
          <p:cNvSpPr txBox="1"/>
          <p:nvPr>
            <p:ph idx="1" type="body"/>
          </p:nvPr>
        </p:nvSpPr>
        <p:spPr>
          <a:xfrm>
            <a:off x="311700" y="1225225"/>
            <a:ext cx="4260300" cy="3526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bipartite graph</a:t>
            </a:r>
            <a:r>
              <a:rPr lang="en"/>
              <a:t> is a </a:t>
            </a:r>
            <a:r>
              <a:rPr lang="en"/>
              <a:t>sp</a:t>
            </a:r>
            <a:r>
              <a:rPr lang="en"/>
              <a:t>ecial kind of graph featuring:</a:t>
            </a:r>
            <a:endParaRPr/>
          </a:p>
          <a:p>
            <a:pPr indent="-317500" lvl="1" marL="914400" rtl="0" algn="l">
              <a:spcBef>
                <a:spcPts val="0"/>
              </a:spcBef>
              <a:spcAft>
                <a:spcPts val="0"/>
              </a:spcAft>
              <a:buSzPts val="1400"/>
              <a:buChar char="○"/>
            </a:pPr>
            <a:r>
              <a:rPr b="1" lang="en"/>
              <a:t>Two</a:t>
            </a:r>
            <a:r>
              <a:rPr lang="en"/>
              <a:t> </a:t>
            </a:r>
            <a:r>
              <a:rPr b="1" lang="en"/>
              <a:t>disjoint</a:t>
            </a:r>
            <a:r>
              <a:rPr lang="en"/>
              <a:t> sets of vertices, U, V</a:t>
            </a:r>
            <a:endParaRPr/>
          </a:p>
          <a:p>
            <a:pPr indent="-317500" lvl="2" marL="1371600" rtl="0" algn="l">
              <a:spcBef>
                <a:spcPts val="0"/>
              </a:spcBef>
              <a:spcAft>
                <a:spcPts val="0"/>
              </a:spcAft>
              <a:buClr>
                <a:srgbClr val="FF0000"/>
              </a:buClr>
              <a:buSzPts val="1400"/>
              <a:buChar char="■"/>
            </a:pPr>
            <a:r>
              <a:rPr b="1" lang="en">
                <a:solidFill>
                  <a:srgbClr val="FF0000"/>
                </a:solidFill>
              </a:rPr>
              <a:t>Two sets are disjoint when they don’t share members</a:t>
            </a:r>
            <a:endParaRPr b="1">
              <a:solidFill>
                <a:srgbClr val="FF0000"/>
              </a:solidFill>
            </a:endParaRPr>
          </a:p>
          <a:p>
            <a:pPr indent="-317500" lvl="1" marL="914400" rtl="0" algn="l">
              <a:spcBef>
                <a:spcPts val="0"/>
              </a:spcBef>
              <a:spcAft>
                <a:spcPts val="0"/>
              </a:spcAft>
              <a:buClr>
                <a:srgbClr val="000000"/>
              </a:buClr>
              <a:buSzPts val="1400"/>
              <a:buChar char="○"/>
            </a:pPr>
            <a:r>
              <a:rPr b="1" lang="en">
                <a:solidFill>
                  <a:srgbClr val="000000"/>
                </a:solidFill>
              </a:rPr>
              <a:t>One edge </a:t>
            </a:r>
            <a:r>
              <a:rPr lang="en">
                <a:solidFill>
                  <a:srgbClr val="000000"/>
                </a:solidFill>
              </a:rPr>
              <a:t>set (E)</a:t>
            </a:r>
            <a:endParaRPr>
              <a:solidFill>
                <a:srgbClr val="000000"/>
              </a:solidFill>
            </a:endParaRPr>
          </a:p>
          <a:p>
            <a:pPr indent="-317500" lvl="2" marL="1371600" rtl="0" algn="l">
              <a:spcBef>
                <a:spcPts val="0"/>
              </a:spcBef>
              <a:spcAft>
                <a:spcPts val="0"/>
              </a:spcAft>
              <a:buClr>
                <a:srgbClr val="000000"/>
              </a:buClr>
              <a:buSzPts val="1400"/>
              <a:buChar char="■"/>
            </a:pPr>
            <a:r>
              <a:rPr lang="en">
                <a:solidFill>
                  <a:srgbClr val="000000"/>
                </a:solidFill>
              </a:rPr>
              <a:t>G = {U, V, E}</a:t>
            </a:r>
            <a:endParaRPr>
              <a:solidFill>
                <a:srgbClr val="000000"/>
              </a:solidFill>
            </a:endParaRPr>
          </a:p>
          <a:p>
            <a:pPr indent="-317500" lvl="1" marL="914400" rtl="0" algn="l">
              <a:spcBef>
                <a:spcPts val="0"/>
              </a:spcBef>
              <a:spcAft>
                <a:spcPts val="0"/>
              </a:spcAft>
              <a:buSzPts val="1400"/>
              <a:buChar char="○"/>
            </a:pPr>
            <a:r>
              <a:rPr lang="en"/>
              <a:t>Edges link vertices </a:t>
            </a:r>
            <a:r>
              <a:rPr b="1" lang="en"/>
              <a:t>between</a:t>
            </a:r>
            <a:r>
              <a:rPr lang="en"/>
              <a:t> sets but </a:t>
            </a:r>
            <a:r>
              <a:rPr b="1" lang="en"/>
              <a:t>not</a:t>
            </a:r>
            <a:r>
              <a:rPr lang="en"/>
              <a:t> </a:t>
            </a:r>
            <a:r>
              <a:rPr b="1" lang="en"/>
              <a:t>within</a:t>
            </a:r>
            <a:r>
              <a:rPr lang="en"/>
              <a:t> sets</a:t>
            </a:r>
            <a:endParaRPr/>
          </a:p>
          <a:p>
            <a:pPr indent="-317500" lvl="1" marL="914400" rtl="0" algn="l">
              <a:spcBef>
                <a:spcPts val="0"/>
              </a:spcBef>
              <a:spcAft>
                <a:spcPts val="0"/>
              </a:spcAft>
              <a:buSzPts val="1400"/>
              <a:buChar char="○"/>
            </a:pPr>
            <a:r>
              <a:rPr lang="en"/>
              <a:t>The two vertex sets can be of </a:t>
            </a:r>
            <a:r>
              <a:rPr b="1" lang="en"/>
              <a:t>different</a:t>
            </a:r>
            <a:r>
              <a:rPr lang="en"/>
              <a:t> cardinality (</a:t>
            </a:r>
            <a:r>
              <a:rPr b="1" lang="en"/>
              <a:t>size</a:t>
            </a:r>
            <a:r>
              <a:rPr lang="en"/>
              <a:t>)! </a:t>
            </a:r>
            <a:endParaRPr/>
          </a:p>
          <a:p>
            <a:pPr indent="-317500" lvl="2" marL="1371600" rtl="0" algn="l">
              <a:spcBef>
                <a:spcPts val="0"/>
              </a:spcBef>
              <a:spcAft>
                <a:spcPts val="0"/>
              </a:spcAft>
              <a:buSzPts val="1400"/>
              <a:buChar char="■"/>
            </a:pPr>
            <a:r>
              <a:rPr lang="en"/>
              <a:t>|U| = 6, |V| = 5</a:t>
            </a:r>
            <a:endParaRPr/>
          </a:p>
          <a:p>
            <a:pPr indent="0" lvl="0" marL="914400" rtl="0" algn="l">
              <a:spcBef>
                <a:spcPts val="1600"/>
              </a:spcBef>
              <a:spcAft>
                <a:spcPts val="0"/>
              </a:spcAft>
              <a:buNone/>
            </a:pPr>
            <a:r>
              <a:t/>
            </a:r>
            <a:endParaRPr/>
          </a:p>
          <a:p>
            <a:pPr indent="0" lvl="0" marL="457200" marR="0" rtl="0" algn="l">
              <a:lnSpc>
                <a:spcPct val="115000"/>
              </a:lnSpc>
              <a:spcBef>
                <a:spcPts val="1600"/>
              </a:spcBef>
              <a:spcAft>
                <a:spcPts val="1600"/>
              </a:spcAft>
              <a:buNone/>
            </a:pPr>
            <a:r>
              <a:t/>
            </a:r>
            <a:endParaRPr/>
          </a:p>
        </p:txBody>
      </p:sp>
      <p:sp>
        <p:nvSpPr>
          <p:cNvPr id="778" name="Google Shape;778;p85"/>
          <p:cNvSpPr/>
          <p:nvPr/>
        </p:nvSpPr>
        <p:spPr>
          <a:xfrm>
            <a:off x="4760450" y="1423113"/>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Gabriela</a:t>
            </a:r>
            <a:endParaRPr b="1" sz="1200">
              <a:solidFill>
                <a:srgbClr val="FFFFFF"/>
              </a:solidFill>
            </a:endParaRPr>
          </a:p>
        </p:txBody>
      </p:sp>
      <p:sp>
        <p:nvSpPr>
          <p:cNvPr id="779" name="Google Shape;779;p85"/>
          <p:cNvSpPr/>
          <p:nvPr/>
        </p:nvSpPr>
        <p:spPr>
          <a:xfrm>
            <a:off x="4760450" y="1977778"/>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Parker</a:t>
            </a:r>
            <a:endParaRPr b="1" sz="1200">
              <a:solidFill>
                <a:srgbClr val="FFFFFF"/>
              </a:solidFill>
            </a:endParaRPr>
          </a:p>
        </p:txBody>
      </p:sp>
      <p:sp>
        <p:nvSpPr>
          <p:cNvPr id="780" name="Google Shape;780;p85"/>
          <p:cNvSpPr/>
          <p:nvPr/>
        </p:nvSpPr>
        <p:spPr>
          <a:xfrm>
            <a:off x="4760450" y="2607044"/>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Brandon</a:t>
            </a:r>
            <a:endParaRPr b="1" sz="1200">
              <a:solidFill>
                <a:srgbClr val="FFFFFF"/>
              </a:solidFill>
            </a:endParaRPr>
          </a:p>
        </p:txBody>
      </p:sp>
      <p:sp>
        <p:nvSpPr>
          <p:cNvPr id="781" name="Google Shape;781;p85"/>
          <p:cNvSpPr/>
          <p:nvPr/>
        </p:nvSpPr>
        <p:spPr>
          <a:xfrm>
            <a:off x="4760450" y="3214059"/>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Marie</a:t>
            </a:r>
            <a:endParaRPr b="1" sz="1200">
              <a:solidFill>
                <a:srgbClr val="FFFFFF"/>
              </a:solidFill>
            </a:endParaRPr>
          </a:p>
        </p:txBody>
      </p:sp>
      <p:sp>
        <p:nvSpPr>
          <p:cNvPr id="782" name="Google Shape;782;p85"/>
          <p:cNvSpPr/>
          <p:nvPr/>
        </p:nvSpPr>
        <p:spPr>
          <a:xfrm>
            <a:off x="4760450" y="3790973"/>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Rahul</a:t>
            </a:r>
            <a:endParaRPr b="1" sz="1200">
              <a:solidFill>
                <a:srgbClr val="FFFFFF"/>
              </a:solidFill>
            </a:endParaRPr>
          </a:p>
        </p:txBody>
      </p:sp>
      <p:sp>
        <p:nvSpPr>
          <p:cNvPr id="783" name="Google Shape;783;p85"/>
          <p:cNvSpPr/>
          <p:nvPr/>
        </p:nvSpPr>
        <p:spPr>
          <a:xfrm>
            <a:off x="4760450" y="4381237"/>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Minjoo</a:t>
            </a:r>
            <a:endParaRPr b="1" sz="1200">
              <a:solidFill>
                <a:srgbClr val="FFFFFF"/>
              </a:solidFill>
            </a:endParaRPr>
          </a:p>
        </p:txBody>
      </p:sp>
      <p:sp>
        <p:nvSpPr>
          <p:cNvPr id="784" name="Google Shape;784;p85"/>
          <p:cNvSpPr/>
          <p:nvPr/>
        </p:nvSpPr>
        <p:spPr>
          <a:xfrm>
            <a:off x="7356900" y="1656989"/>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Super Smash Bros. </a:t>
            </a:r>
            <a:endParaRPr sz="1200">
              <a:solidFill>
                <a:srgbClr val="FFFFFF"/>
              </a:solidFill>
            </a:endParaRPr>
          </a:p>
        </p:txBody>
      </p:sp>
      <p:sp>
        <p:nvSpPr>
          <p:cNvPr id="785" name="Google Shape;785;p85"/>
          <p:cNvSpPr/>
          <p:nvPr/>
        </p:nvSpPr>
        <p:spPr>
          <a:xfrm>
            <a:off x="7356900" y="2265677"/>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Cheese</a:t>
            </a:r>
            <a:endParaRPr sz="1200">
              <a:solidFill>
                <a:srgbClr val="FFFFFF"/>
              </a:solidFill>
            </a:endParaRPr>
          </a:p>
        </p:txBody>
      </p:sp>
      <p:sp>
        <p:nvSpPr>
          <p:cNvPr id="786" name="Google Shape;786;p85"/>
          <p:cNvSpPr/>
          <p:nvPr/>
        </p:nvSpPr>
        <p:spPr>
          <a:xfrm>
            <a:off x="7356900" y="2848214"/>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Nerdfighters</a:t>
            </a:r>
            <a:endParaRPr sz="1200">
              <a:solidFill>
                <a:srgbClr val="FFFFFF"/>
              </a:solidFill>
            </a:endParaRPr>
          </a:p>
        </p:txBody>
      </p:sp>
      <p:sp>
        <p:nvSpPr>
          <p:cNvPr id="787" name="Google Shape;787;p85"/>
          <p:cNvSpPr/>
          <p:nvPr/>
        </p:nvSpPr>
        <p:spPr>
          <a:xfrm>
            <a:off x="7356900" y="3457813"/>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Magic</a:t>
            </a:r>
            <a:endParaRPr sz="1200">
              <a:solidFill>
                <a:srgbClr val="FFFFFF"/>
              </a:solidFill>
            </a:endParaRPr>
          </a:p>
        </p:txBody>
      </p:sp>
      <p:sp>
        <p:nvSpPr>
          <p:cNvPr id="788" name="Google Shape;788;p85"/>
          <p:cNvSpPr/>
          <p:nvPr/>
        </p:nvSpPr>
        <p:spPr>
          <a:xfrm>
            <a:off x="7356900" y="4032963"/>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Fashion</a:t>
            </a:r>
            <a:endParaRPr sz="1200">
              <a:solidFill>
                <a:srgbClr val="FFFFFF"/>
              </a:solidFill>
            </a:endParaRPr>
          </a:p>
        </p:txBody>
      </p:sp>
      <p:cxnSp>
        <p:nvCxnSpPr>
          <p:cNvPr id="789" name="Google Shape;789;p85"/>
          <p:cNvCxnSpPr>
            <a:stCxn id="783" idx="6"/>
            <a:endCxn id="788" idx="1"/>
          </p:cNvCxnSpPr>
          <p:nvPr/>
        </p:nvCxnSpPr>
        <p:spPr>
          <a:xfrm flipH="1" rot="10800000">
            <a:off x="6043850" y="4249237"/>
            <a:ext cx="1313100" cy="317400"/>
          </a:xfrm>
          <a:prstGeom prst="straightConnector1">
            <a:avLst/>
          </a:prstGeom>
          <a:noFill/>
          <a:ln cap="flat" cmpd="sng" w="19050">
            <a:solidFill>
              <a:srgbClr val="666666"/>
            </a:solidFill>
            <a:prstDash val="solid"/>
            <a:round/>
            <a:headEnd len="med" w="med" type="none"/>
            <a:tailEnd len="med" w="med" type="none"/>
          </a:ln>
        </p:spPr>
      </p:cxnSp>
      <p:cxnSp>
        <p:nvCxnSpPr>
          <p:cNvPr id="790" name="Google Shape;790;p85"/>
          <p:cNvCxnSpPr>
            <a:stCxn id="783" idx="6"/>
            <a:endCxn id="785" idx="1"/>
          </p:cNvCxnSpPr>
          <p:nvPr/>
        </p:nvCxnSpPr>
        <p:spPr>
          <a:xfrm flipH="1" rot="10800000">
            <a:off x="6043850" y="2481937"/>
            <a:ext cx="1313100" cy="2084700"/>
          </a:xfrm>
          <a:prstGeom prst="straightConnector1">
            <a:avLst/>
          </a:prstGeom>
          <a:noFill/>
          <a:ln cap="flat" cmpd="sng" w="19050">
            <a:solidFill>
              <a:srgbClr val="666666"/>
            </a:solidFill>
            <a:prstDash val="solid"/>
            <a:round/>
            <a:headEnd len="med" w="med" type="none"/>
            <a:tailEnd len="med" w="med" type="none"/>
          </a:ln>
        </p:spPr>
      </p:cxnSp>
      <p:cxnSp>
        <p:nvCxnSpPr>
          <p:cNvPr id="791" name="Google Shape;791;p85"/>
          <p:cNvCxnSpPr>
            <a:stCxn id="782" idx="6"/>
            <a:endCxn id="788" idx="1"/>
          </p:cNvCxnSpPr>
          <p:nvPr/>
        </p:nvCxnSpPr>
        <p:spPr>
          <a:xfrm>
            <a:off x="6043850" y="3976373"/>
            <a:ext cx="1313100" cy="273000"/>
          </a:xfrm>
          <a:prstGeom prst="straightConnector1">
            <a:avLst/>
          </a:prstGeom>
          <a:noFill/>
          <a:ln cap="flat" cmpd="sng" w="19050">
            <a:solidFill>
              <a:srgbClr val="666666"/>
            </a:solidFill>
            <a:prstDash val="solid"/>
            <a:round/>
            <a:headEnd len="med" w="med" type="none"/>
            <a:tailEnd len="med" w="med" type="none"/>
          </a:ln>
        </p:spPr>
      </p:cxnSp>
      <p:cxnSp>
        <p:nvCxnSpPr>
          <p:cNvPr id="792" name="Google Shape;792;p85"/>
          <p:cNvCxnSpPr>
            <a:stCxn id="780" idx="6"/>
            <a:endCxn id="785" idx="1"/>
          </p:cNvCxnSpPr>
          <p:nvPr/>
        </p:nvCxnSpPr>
        <p:spPr>
          <a:xfrm flipH="1" rot="10800000">
            <a:off x="6043850" y="2481944"/>
            <a:ext cx="1313100" cy="310500"/>
          </a:xfrm>
          <a:prstGeom prst="straightConnector1">
            <a:avLst/>
          </a:prstGeom>
          <a:noFill/>
          <a:ln cap="flat" cmpd="sng" w="19050">
            <a:solidFill>
              <a:srgbClr val="666666"/>
            </a:solidFill>
            <a:prstDash val="solid"/>
            <a:round/>
            <a:headEnd len="med" w="med" type="none"/>
            <a:tailEnd len="med" w="med" type="none"/>
          </a:ln>
        </p:spPr>
      </p:cxnSp>
      <p:cxnSp>
        <p:nvCxnSpPr>
          <p:cNvPr id="793" name="Google Shape;793;p85"/>
          <p:cNvCxnSpPr>
            <a:stCxn id="783" idx="6"/>
            <a:endCxn id="787" idx="1"/>
          </p:cNvCxnSpPr>
          <p:nvPr/>
        </p:nvCxnSpPr>
        <p:spPr>
          <a:xfrm flipH="1" rot="10800000">
            <a:off x="6043850" y="3674137"/>
            <a:ext cx="1313100" cy="892500"/>
          </a:xfrm>
          <a:prstGeom prst="straightConnector1">
            <a:avLst/>
          </a:prstGeom>
          <a:noFill/>
          <a:ln cap="flat" cmpd="sng" w="19050">
            <a:solidFill>
              <a:srgbClr val="666666"/>
            </a:solidFill>
            <a:prstDash val="solid"/>
            <a:round/>
            <a:headEnd len="med" w="med" type="none"/>
            <a:tailEnd len="med" w="med" type="none"/>
          </a:ln>
        </p:spPr>
      </p:cxnSp>
      <p:cxnSp>
        <p:nvCxnSpPr>
          <p:cNvPr id="794" name="Google Shape;794;p85"/>
          <p:cNvCxnSpPr>
            <a:stCxn id="778" idx="6"/>
            <a:endCxn id="784" idx="1"/>
          </p:cNvCxnSpPr>
          <p:nvPr/>
        </p:nvCxnSpPr>
        <p:spPr>
          <a:xfrm>
            <a:off x="6043850" y="1608513"/>
            <a:ext cx="1313100" cy="264900"/>
          </a:xfrm>
          <a:prstGeom prst="straightConnector1">
            <a:avLst/>
          </a:prstGeom>
          <a:noFill/>
          <a:ln cap="flat" cmpd="sng" w="19050">
            <a:solidFill>
              <a:srgbClr val="666666"/>
            </a:solidFill>
            <a:prstDash val="solid"/>
            <a:round/>
            <a:headEnd len="med" w="med" type="none"/>
            <a:tailEnd len="med" w="med" type="none"/>
          </a:ln>
        </p:spPr>
      </p:cxnSp>
      <p:cxnSp>
        <p:nvCxnSpPr>
          <p:cNvPr id="795" name="Google Shape;795;p85"/>
          <p:cNvCxnSpPr>
            <a:stCxn id="778" idx="6"/>
            <a:endCxn id="786" idx="1"/>
          </p:cNvCxnSpPr>
          <p:nvPr/>
        </p:nvCxnSpPr>
        <p:spPr>
          <a:xfrm>
            <a:off x="6043850" y="1608513"/>
            <a:ext cx="1313100" cy="1455900"/>
          </a:xfrm>
          <a:prstGeom prst="straightConnector1">
            <a:avLst/>
          </a:prstGeom>
          <a:noFill/>
          <a:ln cap="flat" cmpd="sng" w="19050">
            <a:solidFill>
              <a:srgbClr val="666666"/>
            </a:solidFill>
            <a:prstDash val="solid"/>
            <a:round/>
            <a:headEnd len="med" w="med" type="none"/>
            <a:tailEnd len="med" w="med" type="none"/>
          </a:ln>
        </p:spPr>
      </p:cxnSp>
      <p:cxnSp>
        <p:nvCxnSpPr>
          <p:cNvPr id="796" name="Google Shape;796;p85"/>
          <p:cNvCxnSpPr>
            <a:stCxn id="779" idx="6"/>
            <a:endCxn id="785" idx="1"/>
          </p:cNvCxnSpPr>
          <p:nvPr/>
        </p:nvCxnSpPr>
        <p:spPr>
          <a:xfrm>
            <a:off x="6043850" y="2163178"/>
            <a:ext cx="1313100" cy="318900"/>
          </a:xfrm>
          <a:prstGeom prst="straightConnector1">
            <a:avLst/>
          </a:prstGeom>
          <a:noFill/>
          <a:ln cap="flat" cmpd="sng" w="19050">
            <a:solidFill>
              <a:srgbClr val="666666"/>
            </a:solidFill>
            <a:prstDash val="solid"/>
            <a:round/>
            <a:headEnd len="med" w="med" type="none"/>
            <a:tailEnd len="med" w="med" type="none"/>
          </a:ln>
        </p:spPr>
      </p:cxnSp>
      <p:cxnSp>
        <p:nvCxnSpPr>
          <p:cNvPr id="797" name="Google Shape;797;p85"/>
          <p:cNvCxnSpPr>
            <a:stCxn id="778" idx="6"/>
            <a:endCxn id="788" idx="1"/>
          </p:cNvCxnSpPr>
          <p:nvPr/>
        </p:nvCxnSpPr>
        <p:spPr>
          <a:xfrm>
            <a:off x="6043850" y="1608513"/>
            <a:ext cx="1313100" cy="2640900"/>
          </a:xfrm>
          <a:prstGeom prst="straightConnector1">
            <a:avLst/>
          </a:prstGeom>
          <a:noFill/>
          <a:ln cap="flat" cmpd="sng" w="19050">
            <a:solidFill>
              <a:srgbClr val="666666"/>
            </a:solidFill>
            <a:prstDash val="solid"/>
            <a:round/>
            <a:headEnd len="med" w="med" type="none"/>
            <a:tailEnd len="med" w="med" type="none"/>
          </a:ln>
        </p:spPr>
      </p:cxnSp>
      <p:cxnSp>
        <p:nvCxnSpPr>
          <p:cNvPr id="798" name="Google Shape;798;p85"/>
          <p:cNvCxnSpPr>
            <a:stCxn id="781" idx="6"/>
            <a:endCxn id="786" idx="1"/>
          </p:cNvCxnSpPr>
          <p:nvPr/>
        </p:nvCxnSpPr>
        <p:spPr>
          <a:xfrm flipH="1" rot="10800000">
            <a:off x="6043850" y="3064659"/>
            <a:ext cx="1313100" cy="334800"/>
          </a:xfrm>
          <a:prstGeom prst="straightConnector1">
            <a:avLst/>
          </a:prstGeom>
          <a:noFill/>
          <a:ln cap="flat" cmpd="sng" w="19050">
            <a:solidFill>
              <a:srgbClr val="666666"/>
            </a:solidFill>
            <a:prstDash val="solid"/>
            <a:round/>
            <a:headEnd len="med" w="med" type="none"/>
            <a:tailEnd len="med" w="med" type="none"/>
          </a:ln>
        </p:spPr>
      </p:cxnSp>
      <p:cxnSp>
        <p:nvCxnSpPr>
          <p:cNvPr id="799" name="Google Shape;799;p85"/>
          <p:cNvCxnSpPr>
            <a:stCxn id="779" idx="6"/>
            <a:endCxn id="787" idx="1"/>
          </p:cNvCxnSpPr>
          <p:nvPr/>
        </p:nvCxnSpPr>
        <p:spPr>
          <a:xfrm>
            <a:off x="6043850" y="2163178"/>
            <a:ext cx="1313100" cy="1510800"/>
          </a:xfrm>
          <a:prstGeom prst="straightConnector1">
            <a:avLst/>
          </a:prstGeom>
          <a:noFill/>
          <a:ln cap="flat" cmpd="sng" w="19050">
            <a:solidFill>
              <a:srgbClr val="666666"/>
            </a:solidFill>
            <a:prstDash val="solid"/>
            <a:round/>
            <a:headEnd len="med" w="med" type="none"/>
            <a:tailEnd len="med" w="med" type="none"/>
          </a:ln>
        </p:spPr>
      </p:cxnSp>
      <p:cxnSp>
        <p:nvCxnSpPr>
          <p:cNvPr id="800" name="Google Shape;800;p85"/>
          <p:cNvCxnSpPr>
            <a:stCxn id="782" idx="6"/>
            <a:endCxn id="785" idx="1"/>
          </p:cNvCxnSpPr>
          <p:nvPr/>
        </p:nvCxnSpPr>
        <p:spPr>
          <a:xfrm flipH="1" rot="10800000">
            <a:off x="6043850" y="2482073"/>
            <a:ext cx="1313100" cy="1494300"/>
          </a:xfrm>
          <a:prstGeom prst="straightConnector1">
            <a:avLst/>
          </a:prstGeom>
          <a:noFill/>
          <a:ln cap="flat" cmpd="sng" w="19050">
            <a:solidFill>
              <a:srgbClr val="666666"/>
            </a:solidFill>
            <a:prstDash val="solid"/>
            <a:round/>
            <a:headEnd len="med" w="med" type="none"/>
            <a:tailEnd len="med" w="med" type="none"/>
          </a:ln>
        </p:spPr>
      </p:cxnSp>
      <p:cxnSp>
        <p:nvCxnSpPr>
          <p:cNvPr id="801" name="Google Shape;801;p85"/>
          <p:cNvCxnSpPr>
            <a:stCxn id="781" idx="6"/>
            <a:endCxn id="784" idx="1"/>
          </p:cNvCxnSpPr>
          <p:nvPr/>
        </p:nvCxnSpPr>
        <p:spPr>
          <a:xfrm flipH="1" rot="10800000">
            <a:off x="6043850" y="1873359"/>
            <a:ext cx="1313100" cy="1526100"/>
          </a:xfrm>
          <a:prstGeom prst="straightConnector1">
            <a:avLst/>
          </a:prstGeom>
          <a:noFill/>
          <a:ln cap="flat" cmpd="sng" w="19050">
            <a:solidFill>
              <a:srgbClr val="666666"/>
            </a:solidFill>
            <a:prstDash val="solid"/>
            <a:round/>
            <a:headEnd len="med" w="med" type="none"/>
            <a:tailEnd len="med" w="med" type="none"/>
          </a:ln>
        </p:spPr>
      </p:cxnSp>
      <p:sp>
        <p:nvSpPr>
          <p:cNvPr id="802" name="Google Shape;802;p85"/>
          <p:cNvSpPr txBox="1"/>
          <p:nvPr/>
        </p:nvSpPr>
        <p:spPr>
          <a:xfrm>
            <a:off x="5268675" y="1147225"/>
            <a:ext cx="363900" cy="2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U</a:t>
            </a:r>
            <a:endParaRPr>
              <a:latin typeface="Open Sans"/>
              <a:ea typeface="Open Sans"/>
              <a:cs typeface="Open Sans"/>
              <a:sym typeface="Open Sans"/>
            </a:endParaRPr>
          </a:p>
        </p:txBody>
      </p:sp>
      <p:sp>
        <p:nvSpPr>
          <p:cNvPr id="803" name="Google Shape;803;p85"/>
          <p:cNvSpPr txBox="1"/>
          <p:nvPr/>
        </p:nvSpPr>
        <p:spPr>
          <a:xfrm>
            <a:off x="7767900" y="1153463"/>
            <a:ext cx="363900" cy="2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V</a:t>
            </a:r>
            <a:endParaRPr>
              <a:latin typeface="Open Sans"/>
              <a:ea typeface="Open Sans"/>
              <a:cs typeface="Open Sans"/>
              <a:sym typeface="Open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7" name="Shape 807"/>
        <p:cNvGrpSpPr/>
        <p:nvPr/>
      </p:nvGrpSpPr>
      <p:grpSpPr>
        <a:xfrm>
          <a:off x="0" y="0"/>
          <a:ext cx="0" cy="0"/>
          <a:chOff x="0" y="0"/>
          <a:chExt cx="0" cy="0"/>
        </a:xfrm>
      </p:grpSpPr>
      <p:sp>
        <p:nvSpPr>
          <p:cNvPr id="808" name="Google Shape;808;p8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Bipartite Graphs</a:t>
            </a:r>
            <a:endParaRPr/>
          </a:p>
        </p:txBody>
      </p:sp>
      <p:sp>
        <p:nvSpPr>
          <p:cNvPr id="809" name="Google Shape;809;p86"/>
          <p:cNvSpPr txBox="1"/>
          <p:nvPr>
            <p:ph idx="1" type="body"/>
          </p:nvPr>
        </p:nvSpPr>
        <p:spPr>
          <a:xfrm>
            <a:off x="311700" y="1225225"/>
            <a:ext cx="4260300" cy="3526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Bipartite graphs</a:t>
            </a:r>
            <a:r>
              <a:rPr lang="en" sz="1800"/>
              <a:t> can be used to represent the social network concepts of </a:t>
            </a:r>
            <a:r>
              <a:rPr b="1" lang="en" sz="1800"/>
              <a:t>affiliation</a:t>
            </a:r>
            <a:r>
              <a:rPr lang="en" sz="1800"/>
              <a:t> or </a:t>
            </a:r>
            <a:r>
              <a:rPr b="1" lang="en" sz="1800"/>
              <a:t>membership</a:t>
            </a:r>
            <a:endParaRPr b="1" sz="1800"/>
          </a:p>
          <a:p>
            <a:pPr indent="-342900" lvl="0" marL="457200" rtl="0" algn="l">
              <a:spcBef>
                <a:spcPts val="0"/>
              </a:spcBef>
              <a:spcAft>
                <a:spcPts val="0"/>
              </a:spcAft>
              <a:buSzPts val="1800"/>
              <a:buChar char="●"/>
            </a:pPr>
            <a:r>
              <a:rPr lang="en"/>
              <a:t>In </a:t>
            </a:r>
            <a:r>
              <a:rPr b="1" lang="en"/>
              <a:t>Affiliation Networks</a:t>
            </a:r>
            <a:r>
              <a:rPr lang="en"/>
              <a:t> people are linked to other (usually larger) entities that are not people</a:t>
            </a:r>
            <a:endParaRPr/>
          </a:p>
          <a:p>
            <a:pPr indent="-317500" lvl="1" marL="914400" rtl="0" algn="l">
              <a:spcBef>
                <a:spcPts val="0"/>
              </a:spcBef>
              <a:spcAft>
                <a:spcPts val="0"/>
              </a:spcAft>
              <a:buSzPts val="1400"/>
              <a:buChar char="○"/>
            </a:pPr>
            <a:r>
              <a:rPr i="1" lang="en"/>
              <a:t>Actors and movies</a:t>
            </a:r>
            <a:endParaRPr i="1"/>
          </a:p>
          <a:p>
            <a:pPr indent="-317500" lvl="1" marL="914400" rtl="0" algn="l">
              <a:spcBef>
                <a:spcPts val="0"/>
              </a:spcBef>
              <a:spcAft>
                <a:spcPts val="0"/>
              </a:spcAft>
              <a:buSzPts val="1400"/>
              <a:buChar char="○"/>
            </a:pPr>
            <a:r>
              <a:rPr i="1" lang="en"/>
              <a:t>Scientists and papers</a:t>
            </a:r>
            <a:endParaRPr i="1"/>
          </a:p>
          <a:p>
            <a:pPr indent="-317500" lvl="1" marL="914400" rtl="0" algn="l">
              <a:spcBef>
                <a:spcPts val="0"/>
              </a:spcBef>
              <a:spcAft>
                <a:spcPts val="0"/>
              </a:spcAft>
              <a:buSzPts val="1400"/>
              <a:buChar char="○"/>
            </a:pPr>
            <a:r>
              <a:rPr i="1" lang="en"/>
              <a:t>Persons and events</a:t>
            </a:r>
            <a:endParaRPr i="1"/>
          </a:p>
          <a:p>
            <a:pPr indent="0" lvl="0" marL="914400" rtl="0" algn="l">
              <a:spcBef>
                <a:spcPts val="1600"/>
              </a:spcBef>
              <a:spcAft>
                <a:spcPts val="0"/>
              </a:spcAft>
              <a:buNone/>
            </a:pPr>
            <a:r>
              <a:t/>
            </a:r>
            <a:endParaRPr/>
          </a:p>
          <a:p>
            <a:pPr indent="0" lvl="0" marL="457200" marR="0" rtl="0" algn="l">
              <a:lnSpc>
                <a:spcPct val="115000"/>
              </a:lnSpc>
              <a:spcBef>
                <a:spcPts val="1600"/>
              </a:spcBef>
              <a:spcAft>
                <a:spcPts val="1600"/>
              </a:spcAft>
              <a:buNone/>
            </a:pPr>
            <a:r>
              <a:t/>
            </a:r>
            <a:endParaRPr/>
          </a:p>
        </p:txBody>
      </p:sp>
      <p:sp>
        <p:nvSpPr>
          <p:cNvPr id="810" name="Google Shape;810;p86"/>
          <p:cNvSpPr/>
          <p:nvPr/>
        </p:nvSpPr>
        <p:spPr>
          <a:xfrm>
            <a:off x="4760450" y="1423113"/>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Gabriela</a:t>
            </a:r>
            <a:endParaRPr b="1" sz="1200">
              <a:solidFill>
                <a:srgbClr val="FFFFFF"/>
              </a:solidFill>
            </a:endParaRPr>
          </a:p>
        </p:txBody>
      </p:sp>
      <p:sp>
        <p:nvSpPr>
          <p:cNvPr id="811" name="Google Shape;811;p86"/>
          <p:cNvSpPr/>
          <p:nvPr/>
        </p:nvSpPr>
        <p:spPr>
          <a:xfrm>
            <a:off x="4760450" y="1977778"/>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Parker</a:t>
            </a:r>
            <a:endParaRPr b="1" sz="1200">
              <a:solidFill>
                <a:srgbClr val="FFFFFF"/>
              </a:solidFill>
            </a:endParaRPr>
          </a:p>
        </p:txBody>
      </p:sp>
      <p:sp>
        <p:nvSpPr>
          <p:cNvPr id="812" name="Google Shape;812;p86"/>
          <p:cNvSpPr/>
          <p:nvPr/>
        </p:nvSpPr>
        <p:spPr>
          <a:xfrm>
            <a:off x="4760450" y="2607044"/>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Brandon</a:t>
            </a:r>
            <a:endParaRPr b="1" sz="1200">
              <a:solidFill>
                <a:srgbClr val="FFFFFF"/>
              </a:solidFill>
            </a:endParaRPr>
          </a:p>
        </p:txBody>
      </p:sp>
      <p:sp>
        <p:nvSpPr>
          <p:cNvPr id="813" name="Google Shape;813;p86"/>
          <p:cNvSpPr/>
          <p:nvPr/>
        </p:nvSpPr>
        <p:spPr>
          <a:xfrm>
            <a:off x="4760450" y="3214059"/>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Marie</a:t>
            </a:r>
            <a:endParaRPr b="1" sz="1200">
              <a:solidFill>
                <a:srgbClr val="FFFFFF"/>
              </a:solidFill>
            </a:endParaRPr>
          </a:p>
        </p:txBody>
      </p:sp>
      <p:sp>
        <p:nvSpPr>
          <p:cNvPr id="814" name="Google Shape;814;p86"/>
          <p:cNvSpPr/>
          <p:nvPr/>
        </p:nvSpPr>
        <p:spPr>
          <a:xfrm>
            <a:off x="4760450" y="3790973"/>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Rahul</a:t>
            </a:r>
            <a:endParaRPr b="1" sz="1200">
              <a:solidFill>
                <a:srgbClr val="FFFFFF"/>
              </a:solidFill>
            </a:endParaRPr>
          </a:p>
        </p:txBody>
      </p:sp>
      <p:sp>
        <p:nvSpPr>
          <p:cNvPr id="815" name="Google Shape;815;p86"/>
          <p:cNvSpPr/>
          <p:nvPr/>
        </p:nvSpPr>
        <p:spPr>
          <a:xfrm>
            <a:off x="4760450" y="4381237"/>
            <a:ext cx="1283400" cy="37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rPr>
              <a:t>Minjoo</a:t>
            </a:r>
            <a:endParaRPr b="1" sz="1200">
              <a:solidFill>
                <a:srgbClr val="FFFFFF"/>
              </a:solidFill>
            </a:endParaRPr>
          </a:p>
        </p:txBody>
      </p:sp>
      <p:sp>
        <p:nvSpPr>
          <p:cNvPr id="816" name="Google Shape;816;p86"/>
          <p:cNvSpPr/>
          <p:nvPr/>
        </p:nvSpPr>
        <p:spPr>
          <a:xfrm>
            <a:off x="7356900" y="1656989"/>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Super Smash Bros. </a:t>
            </a:r>
            <a:endParaRPr sz="1200">
              <a:solidFill>
                <a:srgbClr val="FFFFFF"/>
              </a:solidFill>
            </a:endParaRPr>
          </a:p>
        </p:txBody>
      </p:sp>
      <p:sp>
        <p:nvSpPr>
          <p:cNvPr id="817" name="Google Shape;817;p86"/>
          <p:cNvSpPr/>
          <p:nvPr/>
        </p:nvSpPr>
        <p:spPr>
          <a:xfrm>
            <a:off x="7356900" y="2265677"/>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Cheese</a:t>
            </a:r>
            <a:endParaRPr sz="1200">
              <a:solidFill>
                <a:srgbClr val="FFFFFF"/>
              </a:solidFill>
            </a:endParaRPr>
          </a:p>
        </p:txBody>
      </p:sp>
      <p:sp>
        <p:nvSpPr>
          <p:cNvPr id="818" name="Google Shape;818;p86"/>
          <p:cNvSpPr/>
          <p:nvPr/>
        </p:nvSpPr>
        <p:spPr>
          <a:xfrm>
            <a:off x="7356900" y="2848214"/>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Nerdfighters</a:t>
            </a:r>
            <a:endParaRPr sz="1200">
              <a:solidFill>
                <a:srgbClr val="FFFFFF"/>
              </a:solidFill>
            </a:endParaRPr>
          </a:p>
        </p:txBody>
      </p:sp>
      <p:sp>
        <p:nvSpPr>
          <p:cNvPr id="819" name="Google Shape;819;p86"/>
          <p:cNvSpPr/>
          <p:nvPr/>
        </p:nvSpPr>
        <p:spPr>
          <a:xfrm>
            <a:off x="7356900" y="3457813"/>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Magic</a:t>
            </a:r>
            <a:endParaRPr sz="1200">
              <a:solidFill>
                <a:srgbClr val="FFFFFF"/>
              </a:solidFill>
            </a:endParaRPr>
          </a:p>
        </p:txBody>
      </p:sp>
      <p:sp>
        <p:nvSpPr>
          <p:cNvPr id="820" name="Google Shape;820;p86"/>
          <p:cNvSpPr/>
          <p:nvPr/>
        </p:nvSpPr>
        <p:spPr>
          <a:xfrm>
            <a:off x="7356900" y="4032963"/>
            <a:ext cx="1185900" cy="432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Fashion</a:t>
            </a:r>
            <a:endParaRPr sz="1200">
              <a:solidFill>
                <a:srgbClr val="FFFFFF"/>
              </a:solidFill>
            </a:endParaRPr>
          </a:p>
        </p:txBody>
      </p:sp>
      <p:cxnSp>
        <p:nvCxnSpPr>
          <p:cNvPr id="821" name="Google Shape;821;p86"/>
          <p:cNvCxnSpPr>
            <a:stCxn id="815" idx="6"/>
            <a:endCxn id="820" idx="1"/>
          </p:cNvCxnSpPr>
          <p:nvPr/>
        </p:nvCxnSpPr>
        <p:spPr>
          <a:xfrm flipH="1" rot="10800000">
            <a:off x="6043850" y="4249237"/>
            <a:ext cx="1313100" cy="317400"/>
          </a:xfrm>
          <a:prstGeom prst="straightConnector1">
            <a:avLst/>
          </a:prstGeom>
          <a:noFill/>
          <a:ln cap="flat" cmpd="sng" w="19050">
            <a:solidFill>
              <a:srgbClr val="666666"/>
            </a:solidFill>
            <a:prstDash val="solid"/>
            <a:round/>
            <a:headEnd len="med" w="med" type="none"/>
            <a:tailEnd len="med" w="med" type="none"/>
          </a:ln>
        </p:spPr>
      </p:cxnSp>
      <p:cxnSp>
        <p:nvCxnSpPr>
          <p:cNvPr id="822" name="Google Shape;822;p86"/>
          <p:cNvCxnSpPr>
            <a:stCxn id="815" idx="6"/>
            <a:endCxn id="817" idx="1"/>
          </p:cNvCxnSpPr>
          <p:nvPr/>
        </p:nvCxnSpPr>
        <p:spPr>
          <a:xfrm flipH="1" rot="10800000">
            <a:off x="6043850" y="2481937"/>
            <a:ext cx="1313100" cy="2084700"/>
          </a:xfrm>
          <a:prstGeom prst="straightConnector1">
            <a:avLst/>
          </a:prstGeom>
          <a:noFill/>
          <a:ln cap="flat" cmpd="sng" w="19050">
            <a:solidFill>
              <a:srgbClr val="666666"/>
            </a:solidFill>
            <a:prstDash val="solid"/>
            <a:round/>
            <a:headEnd len="med" w="med" type="none"/>
            <a:tailEnd len="med" w="med" type="none"/>
          </a:ln>
        </p:spPr>
      </p:cxnSp>
      <p:cxnSp>
        <p:nvCxnSpPr>
          <p:cNvPr id="823" name="Google Shape;823;p86"/>
          <p:cNvCxnSpPr>
            <a:stCxn id="814" idx="6"/>
            <a:endCxn id="820" idx="1"/>
          </p:cNvCxnSpPr>
          <p:nvPr/>
        </p:nvCxnSpPr>
        <p:spPr>
          <a:xfrm>
            <a:off x="6043850" y="3976373"/>
            <a:ext cx="1313100" cy="273000"/>
          </a:xfrm>
          <a:prstGeom prst="straightConnector1">
            <a:avLst/>
          </a:prstGeom>
          <a:noFill/>
          <a:ln cap="flat" cmpd="sng" w="19050">
            <a:solidFill>
              <a:srgbClr val="666666"/>
            </a:solidFill>
            <a:prstDash val="solid"/>
            <a:round/>
            <a:headEnd len="med" w="med" type="none"/>
            <a:tailEnd len="med" w="med" type="none"/>
          </a:ln>
        </p:spPr>
      </p:cxnSp>
      <p:cxnSp>
        <p:nvCxnSpPr>
          <p:cNvPr id="824" name="Google Shape;824;p86"/>
          <p:cNvCxnSpPr>
            <a:stCxn id="812" idx="6"/>
            <a:endCxn id="817" idx="1"/>
          </p:cNvCxnSpPr>
          <p:nvPr/>
        </p:nvCxnSpPr>
        <p:spPr>
          <a:xfrm flipH="1" rot="10800000">
            <a:off x="6043850" y="2481944"/>
            <a:ext cx="1313100" cy="310500"/>
          </a:xfrm>
          <a:prstGeom prst="straightConnector1">
            <a:avLst/>
          </a:prstGeom>
          <a:noFill/>
          <a:ln cap="flat" cmpd="sng" w="19050">
            <a:solidFill>
              <a:srgbClr val="666666"/>
            </a:solidFill>
            <a:prstDash val="solid"/>
            <a:round/>
            <a:headEnd len="med" w="med" type="none"/>
            <a:tailEnd len="med" w="med" type="none"/>
          </a:ln>
        </p:spPr>
      </p:cxnSp>
      <p:cxnSp>
        <p:nvCxnSpPr>
          <p:cNvPr id="825" name="Google Shape;825;p86"/>
          <p:cNvCxnSpPr>
            <a:stCxn id="815" idx="6"/>
            <a:endCxn id="819" idx="1"/>
          </p:cNvCxnSpPr>
          <p:nvPr/>
        </p:nvCxnSpPr>
        <p:spPr>
          <a:xfrm flipH="1" rot="10800000">
            <a:off x="6043850" y="3674137"/>
            <a:ext cx="1313100" cy="892500"/>
          </a:xfrm>
          <a:prstGeom prst="straightConnector1">
            <a:avLst/>
          </a:prstGeom>
          <a:noFill/>
          <a:ln cap="flat" cmpd="sng" w="19050">
            <a:solidFill>
              <a:srgbClr val="666666"/>
            </a:solidFill>
            <a:prstDash val="solid"/>
            <a:round/>
            <a:headEnd len="med" w="med" type="none"/>
            <a:tailEnd len="med" w="med" type="none"/>
          </a:ln>
        </p:spPr>
      </p:cxnSp>
      <p:cxnSp>
        <p:nvCxnSpPr>
          <p:cNvPr id="826" name="Google Shape;826;p86"/>
          <p:cNvCxnSpPr>
            <a:stCxn id="810" idx="6"/>
            <a:endCxn id="816" idx="1"/>
          </p:cNvCxnSpPr>
          <p:nvPr/>
        </p:nvCxnSpPr>
        <p:spPr>
          <a:xfrm>
            <a:off x="6043850" y="1608513"/>
            <a:ext cx="1313100" cy="264900"/>
          </a:xfrm>
          <a:prstGeom prst="straightConnector1">
            <a:avLst/>
          </a:prstGeom>
          <a:noFill/>
          <a:ln cap="flat" cmpd="sng" w="19050">
            <a:solidFill>
              <a:srgbClr val="666666"/>
            </a:solidFill>
            <a:prstDash val="solid"/>
            <a:round/>
            <a:headEnd len="med" w="med" type="none"/>
            <a:tailEnd len="med" w="med" type="none"/>
          </a:ln>
        </p:spPr>
      </p:cxnSp>
      <p:cxnSp>
        <p:nvCxnSpPr>
          <p:cNvPr id="827" name="Google Shape;827;p86"/>
          <p:cNvCxnSpPr>
            <a:stCxn id="810" idx="6"/>
            <a:endCxn id="818" idx="1"/>
          </p:cNvCxnSpPr>
          <p:nvPr/>
        </p:nvCxnSpPr>
        <p:spPr>
          <a:xfrm>
            <a:off x="6043850" y="1608513"/>
            <a:ext cx="1313100" cy="1455900"/>
          </a:xfrm>
          <a:prstGeom prst="straightConnector1">
            <a:avLst/>
          </a:prstGeom>
          <a:noFill/>
          <a:ln cap="flat" cmpd="sng" w="19050">
            <a:solidFill>
              <a:srgbClr val="666666"/>
            </a:solidFill>
            <a:prstDash val="solid"/>
            <a:round/>
            <a:headEnd len="med" w="med" type="none"/>
            <a:tailEnd len="med" w="med" type="none"/>
          </a:ln>
        </p:spPr>
      </p:cxnSp>
      <p:cxnSp>
        <p:nvCxnSpPr>
          <p:cNvPr id="828" name="Google Shape;828;p86"/>
          <p:cNvCxnSpPr>
            <a:stCxn id="811" idx="6"/>
            <a:endCxn id="817" idx="1"/>
          </p:cNvCxnSpPr>
          <p:nvPr/>
        </p:nvCxnSpPr>
        <p:spPr>
          <a:xfrm>
            <a:off x="6043850" y="2163178"/>
            <a:ext cx="1313100" cy="318900"/>
          </a:xfrm>
          <a:prstGeom prst="straightConnector1">
            <a:avLst/>
          </a:prstGeom>
          <a:noFill/>
          <a:ln cap="flat" cmpd="sng" w="19050">
            <a:solidFill>
              <a:srgbClr val="666666"/>
            </a:solidFill>
            <a:prstDash val="solid"/>
            <a:round/>
            <a:headEnd len="med" w="med" type="none"/>
            <a:tailEnd len="med" w="med" type="none"/>
          </a:ln>
        </p:spPr>
      </p:cxnSp>
      <p:cxnSp>
        <p:nvCxnSpPr>
          <p:cNvPr id="829" name="Google Shape;829;p86"/>
          <p:cNvCxnSpPr>
            <a:stCxn id="810" idx="6"/>
            <a:endCxn id="820" idx="1"/>
          </p:cNvCxnSpPr>
          <p:nvPr/>
        </p:nvCxnSpPr>
        <p:spPr>
          <a:xfrm>
            <a:off x="6043850" y="1608513"/>
            <a:ext cx="1313100" cy="2640900"/>
          </a:xfrm>
          <a:prstGeom prst="straightConnector1">
            <a:avLst/>
          </a:prstGeom>
          <a:noFill/>
          <a:ln cap="flat" cmpd="sng" w="19050">
            <a:solidFill>
              <a:srgbClr val="666666"/>
            </a:solidFill>
            <a:prstDash val="solid"/>
            <a:round/>
            <a:headEnd len="med" w="med" type="none"/>
            <a:tailEnd len="med" w="med" type="none"/>
          </a:ln>
        </p:spPr>
      </p:cxnSp>
      <p:cxnSp>
        <p:nvCxnSpPr>
          <p:cNvPr id="830" name="Google Shape;830;p86"/>
          <p:cNvCxnSpPr>
            <a:stCxn id="813" idx="6"/>
            <a:endCxn id="818" idx="1"/>
          </p:cNvCxnSpPr>
          <p:nvPr/>
        </p:nvCxnSpPr>
        <p:spPr>
          <a:xfrm flipH="1" rot="10800000">
            <a:off x="6043850" y="3064659"/>
            <a:ext cx="1313100" cy="334800"/>
          </a:xfrm>
          <a:prstGeom prst="straightConnector1">
            <a:avLst/>
          </a:prstGeom>
          <a:noFill/>
          <a:ln cap="flat" cmpd="sng" w="19050">
            <a:solidFill>
              <a:srgbClr val="666666"/>
            </a:solidFill>
            <a:prstDash val="solid"/>
            <a:round/>
            <a:headEnd len="med" w="med" type="none"/>
            <a:tailEnd len="med" w="med" type="none"/>
          </a:ln>
        </p:spPr>
      </p:cxnSp>
      <p:cxnSp>
        <p:nvCxnSpPr>
          <p:cNvPr id="831" name="Google Shape;831;p86"/>
          <p:cNvCxnSpPr>
            <a:stCxn id="811" idx="6"/>
            <a:endCxn id="819" idx="1"/>
          </p:cNvCxnSpPr>
          <p:nvPr/>
        </p:nvCxnSpPr>
        <p:spPr>
          <a:xfrm>
            <a:off x="6043850" y="2163178"/>
            <a:ext cx="1313100" cy="1510800"/>
          </a:xfrm>
          <a:prstGeom prst="straightConnector1">
            <a:avLst/>
          </a:prstGeom>
          <a:noFill/>
          <a:ln cap="flat" cmpd="sng" w="19050">
            <a:solidFill>
              <a:srgbClr val="666666"/>
            </a:solidFill>
            <a:prstDash val="solid"/>
            <a:round/>
            <a:headEnd len="med" w="med" type="none"/>
            <a:tailEnd len="med" w="med" type="none"/>
          </a:ln>
        </p:spPr>
      </p:cxnSp>
      <p:cxnSp>
        <p:nvCxnSpPr>
          <p:cNvPr id="832" name="Google Shape;832;p86"/>
          <p:cNvCxnSpPr>
            <a:stCxn id="814" idx="6"/>
            <a:endCxn id="817" idx="1"/>
          </p:cNvCxnSpPr>
          <p:nvPr/>
        </p:nvCxnSpPr>
        <p:spPr>
          <a:xfrm flipH="1" rot="10800000">
            <a:off x="6043850" y="2482073"/>
            <a:ext cx="1313100" cy="1494300"/>
          </a:xfrm>
          <a:prstGeom prst="straightConnector1">
            <a:avLst/>
          </a:prstGeom>
          <a:noFill/>
          <a:ln cap="flat" cmpd="sng" w="19050">
            <a:solidFill>
              <a:srgbClr val="666666"/>
            </a:solidFill>
            <a:prstDash val="solid"/>
            <a:round/>
            <a:headEnd len="med" w="med" type="none"/>
            <a:tailEnd len="med" w="med" type="none"/>
          </a:ln>
        </p:spPr>
      </p:cxnSp>
      <p:cxnSp>
        <p:nvCxnSpPr>
          <p:cNvPr id="833" name="Google Shape;833;p86"/>
          <p:cNvCxnSpPr>
            <a:stCxn id="813" idx="6"/>
            <a:endCxn id="816" idx="1"/>
          </p:cNvCxnSpPr>
          <p:nvPr/>
        </p:nvCxnSpPr>
        <p:spPr>
          <a:xfrm flipH="1" rot="10800000">
            <a:off x="6043850" y="1873359"/>
            <a:ext cx="1313100" cy="1526100"/>
          </a:xfrm>
          <a:prstGeom prst="straightConnector1">
            <a:avLst/>
          </a:prstGeom>
          <a:noFill/>
          <a:ln cap="flat" cmpd="sng" w="19050">
            <a:solidFill>
              <a:srgbClr val="666666"/>
            </a:solidFill>
            <a:prstDash val="solid"/>
            <a:round/>
            <a:headEnd len="med" w="med" type="none"/>
            <a:tailEnd len="med" w="med" type="none"/>
          </a:ln>
        </p:spPr>
      </p:cxnSp>
      <p:sp>
        <p:nvSpPr>
          <p:cNvPr id="834" name="Google Shape;834;p86"/>
          <p:cNvSpPr txBox="1"/>
          <p:nvPr/>
        </p:nvSpPr>
        <p:spPr>
          <a:xfrm>
            <a:off x="5268675" y="1147225"/>
            <a:ext cx="363900" cy="2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U</a:t>
            </a:r>
            <a:endParaRPr>
              <a:latin typeface="Open Sans"/>
              <a:ea typeface="Open Sans"/>
              <a:cs typeface="Open Sans"/>
              <a:sym typeface="Open Sans"/>
            </a:endParaRPr>
          </a:p>
        </p:txBody>
      </p:sp>
      <p:sp>
        <p:nvSpPr>
          <p:cNvPr id="835" name="Google Shape;835;p86"/>
          <p:cNvSpPr txBox="1"/>
          <p:nvPr/>
        </p:nvSpPr>
        <p:spPr>
          <a:xfrm>
            <a:off x="7767900" y="1153463"/>
            <a:ext cx="363900" cy="2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V</a:t>
            </a:r>
            <a:endParaRPr>
              <a:latin typeface="Open Sans"/>
              <a:ea typeface="Open Sans"/>
              <a:cs typeface="Open Sans"/>
              <a:sym typeface="Open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9" name="Shape 839"/>
        <p:cNvGrpSpPr/>
        <p:nvPr/>
      </p:nvGrpSpPr>
      <p:grpSpPr>
        <a:xfrm>
          <a:off x="0" y="0"/>
          <a:ext cx="0" cy="0"/>
          <a:chOff x="0" y="0"/>
          <a:chExt cx="0" cy="0"/>
        </a:xfrm>
      </p:grpSpPr>
      <p:sp>
        <p:nvSpPr>
          <p:cNvPr id="840" name="Google Shape;840;p8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networks</a:t>
            </a:r>
            <a:endParaRPr/>
          </a:p>
        </p:txBody>
      </p:sp>
      <p:sp>
        <p:nvSpPr>
          <p:cNvPr id="841" name="Google Shape;841;p87"/>
          <p:cNvSpPr txBox="1"/>
          <p:nvPr>
            <p:ph idx="1" type="body"/>
          </p:nvPr>
        </p:nvSpPr>
        <p:spPr>
          <a:xfrm>
            <a:off x="311700" y="1225225"/>
            <a:ext cx="4687800" cy="3354000"/>
          </a:xfrm>
          <a:prstGeom prst="rect">
            <a:avLst/>
          </a:prstGeom>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b="1" lang="en">
                <a:solidFill>
                  <a:schemeClr val="accent5"/>
                </a:solidFill>
              </a:rPr>
              <a:t>Ego</a:t>
            </a:r>
            <a:r>
              <a:rPr lang="en"/>
              <a:t>: Central node</a:t>
            </a:r>
            <a:endParaRPr/>
          </a:p>
          <a:p>
            <a:pPr indent="-342900" lvl="0" marL="457200" rtl="0" algn="l">
              <a:lnSpc>
                <a:spcPct val="115000"/>
              </a:lnSpc>
              <a:spcBef>
                <a:spcPts val="0"/>
              </a:spcBef>
              <a:spcAft>
                <a:spcPts val="0"/>
              </a:spcAft>
              <a:buSzPts val="1800"/>
              <a:buChar char="●"/>
            </a:pPr>
            <a:r>
              <a:rPr b="1" lang="en">
                <a:solidFill>
                  <a:schemeClr val="lt2"/>
                </a:solidFill>
              </a:rPr>
              <a:t>Alters</a:t>
            </a:r>
            <a:r>
              <a:rPr lang="en"/>
              <a:t>: Nodes around ego</a:t>
            </a:r>
            <a:endParaRPr/>
          </a:p>
          <a:p>
            <a:pPr indent="-317500" lvl="1" marL="914400" rtl="0" algn="l">
              <a:lnSpc>
                <a:spcPct val="115000"/>
              </a:lnSpc>
              <a:spcBef>
                <a:spcPts val="0"/>
              </a:spcBef>
              <a:spcAft>
                <a:spcPts val="0"/>
              </a:spcAft>
              <a:buSzPts val="1400"/>
              <a:buChar char="○"/>
            </a:pPr>
            <a:r>
              <a:rPr b="1" lang="en">
                <a:solidFill>
                  <a:srgbClr val="0000FF"/>
                </a:solidFill>
              </a:rPr>
              <a:t>Obligatory links </a:t>
            </a:r>
            <a:r>
              <a:rPr lang="en"/>
              <a:t>from ego to </a:t>
            </a:r>
            <a:r>
              <a:rPr b="1" lang="en"/>
              <a:t>every</a:t>
            </a:r>
            <a:r>
              <a:rPr lang="en"/>
              <a:t> alter</a:t>
            </a:r>
            <a:endParaRPr/>
          </a:p>
          <a:p>
            <a:pPr indent="-317500" lvl="1" marL="914400" rtl="0" algn="l">
              <a:lnSpc>
                <a:spcPct val="115000"/>
              </a:lnSpc>
              <a:spcBef>
                <a:spcPts val="0"/>
              </a:spcBef>
              <a:spcAft>
                <a:spcPts val="0"/>
              </a:spcAft>
              <a:buSzPts val="1400"/>
              <a:buChar char="○"/>
            </a:pPr>
            <a:r>
              <a:rPr b="1" lang="en">
                <a:solidFill>
                  <a:srgbClr val="FF00FF"/>
                </a:solidFill>
              </a:rPr>
              <a:t>Optional links</a:t>
            </a:r>
            <a:r>
              <a:rPr lang="en"/>
              <a:t> from alter to alter</a:t>
            </a:r>
            <a:endParaRPr/>
          </a:p>
          <a:p>
            <a:pPr indent="0" lvl="0" marL="457200" marR="0" rtl="0" algn="l">
              <a:lnSpc>
                <a:spcPct val="115000"/>
              </a:lnSpc>
              <a:spcBef>
                <a:spcPts val="0"/>
              </a:spcBef>
              <a:spcAft>
                <a:spcPts val="0"/>
              </a:spcAft>
              <a:buNone/>
            </a:pPr>
            <a:r>
              <a:t/>
            </a:r>
            <a:endParaRPr/>
          </a:p>
          <a:p>
            <a:pPr indent="0" lvl="0" marL="457200" rtl="0" algn="l">
              <a:lnSpc>
                <a:spcPct val="115000"/>
              </a:lnSpc>
              <a:spcBef>
                <a:spcPts val="1600"/>
              </a:spcBef>
              <a:spcAft>
                <a:spcPts val="0"/>
              </a:spcAft>
              <a:buNone/>
            </a:pPr>
            <a:r>
              <a:t/>
            </a:r>
            <a:endParaRPr/>
          </a:p>
          <a:p>
            <a:pPr indent="0" lvl="0" marL="457200" marR="0" rtl="0" algn="l">
              <a:lnSpc>
                <a:spcPct val="115000"/>
              </a:lnSpc>
              <a:spcBef>
                <a:spcPts val="0"/>
              </a:spcBef>
              <a:spcAft>
                <a:spcPts val="1600"/>
              </a:spcAft>
              <a:buNone/>
            </a:pPr>
            <a:r>
              <a:t/>
            </a:r>
            <a:endParaRPr sz="1200"/>
          </a:p>
        </p:txBody>
      </p:sp>
      <p:sp>
        <p:nvSpPr>
          <p:cNvPr id="842" name="Google Shape;842;p87"/>
          <p:cNvSpPr/>
          <p:nvPr/>
        </p:nvSpPr>
        <p:spPr>
          <a:xfrm>
            <a:off x="6428125"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843" name="Google Shape;843;p87"/>
          <p:cNvSpPr/>
          <p:nvPr/>
        </p:nvSpPr>
        <p:spPr>
          <a:xfrm>
            <a:off x="5401988" y="1373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844" name="Google Shape;844;p87"/>
          <p:cNvSpPr/>
          <p:nvPr/>
        </p:nvSpPr>
        <p:spPr>
          <a:xfrm>
            <a:off x="6648098" y="114722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845" name="Google Shape;845;p87"/>
          <p:cNvSpPr/>
          <p:nvPr/>
        </p:nvSpPr>
        <p:spPr>
          <a:xfrm>
            <a:off x="7576809" y="16524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846" name="Google Shape;846;p87"/>
          <p:cNvSpPr/>
          <p:nvPr/>
        </p:nvSpPr>
        <p:spPr>
          <a:xfrm>
            <a:off x="5401988"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847" name="Google Shape;847;p87"/>
          <p:cNvSpPr/>
          <p:nvPr/>
        </p:nvSpPr>
        <p:spPr>
          <a:xfrm>
            <a:off x="6489398" y="384777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848" name="Google Shape;848;p87"/>
          <p:cNvSpPr/>
          <p:nvPr/>
        </p:nvSpPr>
        <p:spPr>
          <a:xfrm>
            <a:off x="7576809"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849" name="Google Shape;849;p87"/>
          <p:cNvSpPr/>
          <p:nvPr/>
        </p:nvSpPr>
        <p:spPr>
          <a:xfrm>
            <a:off x="4918063" y="2502793"/>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850" name="Google Shape;850;p87"/>
          <p:cNvSpPr/>
          <p:nvPr/>
        </p:nvSpPr>
        <p:spPr>
          <a:xfrm>
            <a:off x="7836313" y="2502793"/>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851" name="Google Shape;851;p87"/>
          <p:cNvCxnSpPr>
            <a:stCxn id="843" idx="3"/>
            <a:endCxn id="849" idx="0"/>
          </p:cNvCxnSpPr>
          <p:nvPr/>
        </p:nvCxnSpPr>
        <p:spPr>
          <a:xfrm flipH="1">
            <a:off x="5196385" y="1804683"/>
            <a:ext cx="287100" cy="698100"/>
          </a:xfrm>
          <a:prstGeom prst="straightConnector1">
            <a:avLst/>
          </a:prstGeom>
          <a:noFill/>
          <a:ln cap="flat" cmpd="sng" w="19050">
            <a:solidFill>
              <a:srgbClr val="FF00FF"/>
            </a:solidFill>
            <a:prstDash val="solid"/>
            <a:round/>
            <a:headEnd len="med" w="med" type="none"/>
            <a:tailEnd len="med" w="med" type="none"/>
          </a:ln>
        </p:spPr>
      </p:cxnSp>
      <p:cxnSp>
        <p:nvCxnSpPr>
          <p:cNvPr id="852" name="Google Shape;852;p87"/>
          <p:cNvCxnSpPr>
            <a:stCxn id="844" idx="3"/>
            <a:endCxn id="843" idx="6"/>
          </p:cNvCxnSpPr>
          <p:nvPr/>
        </p:nvCxnSpPr>
        <p:spPr>
          <a:xfrm flipH="1">
            <a:off x="5958596" y="1578441"/>
            <a:ext cx="771000" cy="47700"/>
          </a:xfrm>
          <a:prstGeom prst="straightConnector1">
            <a:avLst/>
          </a:prstGeom>
          <a:noFill/>
          <a:ln cap="flat" cmpd="sng" w="19050">
            <a:solidFill>
              <a:srgbClr val="FF00FF"/>
            </a:solidFill>
            <a:prstDash val="solid"/>
            <a:round/>
            <a:headEnd len="med" w="med" type="none"/>
            <a:tailEnd len="med" w="med" type="none"/>
          </a:ln>
        </p:spPr>
      </p:cxnSp>
      <p:cxnSp>
        <p:nvCxnSpPr>
          <p:cNvPr id="853" name="Google Shape;853;p87"/>
          <p:cNvCxnSpPr>
            <a:stCxn id="844" idx="3"/>
            <a:endCxn id="849" idx="0"/>
          </p:cNvCxnSpPr>
          <p:nvPr/>
        </p:nvCxnSpPr>
        <p:spPr>
          <a:xfrm flipH="1">
            <a:off x="5196296" y="1578441"/>
            <a:ext cx="1533300" cy="924300"/>
          </a:xfrm>
          <a:prstGeom prst="straightConnector1">
            <a:avLst/>
          </a:prstGeom>
          <a:noFill/>
          <a:ln cap="flat" cmpd="sng" w="19050">
            <a:solidFill>
              <a:srgbClr val="FF00FF"/>
            </a:solidFill>
            <a:prstDash val="solid"/>
            <a:round/>
            <a:headEnd len="med" w="med" type="none"/>
            <a:tailEnd len="med" w="med" type="none"/>
          </a:ln>
        </p:spPr>
      </p:cxnSp>
      <p:cxnSp>
        <p:nvCxnSpPr>
          <p:cNvPr id="854" name="Google Shape;854;p87"/>
          <p:cNvCxnSpPr>
            <a:stCxn id="844" idx="3"/>
            <a:endCxn id="846" idx="0"/>
          </p:cNvCxnSpPr>
          <p:nvPr/>
        </p:nvCxnSpPr>
        <p:spPr>
          <a:xfrm flipH="1">
            <a:off x="5680196" y="1578441"/>
            <a:ext cx="1049400" cy="2053800"/>
          </a:xfrm>
          <a:prstGeom prst="straightConnector1">
            <a:avLst/>
          </a:prstGeom>
          <a:noFill/>
          <a:ln cap="flat" cmpd="sng" w="19050">
            <a:solidFill>
              <a:srgbClr val="FF00FF"/>
            </a:solidFill>
            <a:prstDash val="solid"/>
            <a:round/>
            <a:headEnd len="med" w="med" type="none"/>
            <a:tailEnd len="med" w="med" type="none"/>
          </a:ln>
        </p:spPr>
      </p:cxnSp>
      <p:cxnSp>
        <p:nvCxnSpPr>
          <p:cNvPr id="855" name="Google Shape;855;p87"/>
          <p:cNvCxnSpPr>
            <a:stCxn id="849" idx="4"/>
            <a:endCxn id="846" idx="0"/>
          </p:cNvCxnSpPr>
          <p:nvPr/>
        </p:nvCxnSpPr>
        <p:spPr>
          <a:xfrm>
            <a:off x="5196313" y="3007993"/>
            <a:ext cx="483900" cy="624000"/>
          </a:xfrm>
          <a:prstGeom prst="straightConnector1">
            <a:avLst/>
          </a:prstGeom>
          <a:noFill/>
          <a:ln cap="flat" cmpd="sng" w="19050">
            <a:solidFill>
              <a:srgbClr val="FF00FF"/>
            </a:solidFill>
            <a:prstDash val="solid"/>
            <a:round/>
            <a:headEnd len="med" w="med" type="none"/>
            <a:tailEnd len="med" w="med" type="none"/>
          </a:ln>
        </p:spPr>
      </p:cxnSp>
      <p:cxnSp>
        <p:nvCxnSpPr>
          <p:cNvPr id="856" name="Google Shape;856;p87"/>
          <p:cNvCxnSpPr>
            <a:stCxn id="848" idx="2"/>
            <a:endCxn id="847" idx="6"/>
          </p:cNvCxnSpPr>
          <p:nvPr/>
        </p:nvCxnSpPr>
        <p:spPr>
          <a:xfrm flipH="1">
            <a:off x="7045809" y="3884718"/>
            <a:ext cx="531000" cy="215700"/>
          </a:xfrm>
          <a:prstGeom prst="straightConnector1">
            <a:avLst/>
          </a:prstGeom>
          <a:noFill/>
          <a:ln cap="flat" cmpd="sng" w="19050">
            <a:solidFill>
              <a:srgbClr val="FF00FF"/>
            </a:solidFill>
            <a:prstDash val="solid"/>
            <a:round/>
            <a:headEnd len="med" w="med" type="none"/>
            <a:tailEnd len="med" w="med" type="none"/>
          </a:ln>
        </p:spPr>
      </p:cxnSp>
      <p:cxnSp>
        <p:nvCxnSpPr>
          <p:cNvPr id="857" name="Google Shape;857;p87"/>
          <p:cNvCxnSpPr>
            <a:stCxn id="843" idx="4"/>
            <a:endCxn id="846" idx="0"/>
          </p:cNvCxnSpPr>
          <p:nvPr/>
        </p:nvCxnSpPr>
        <p:spPr>
          <a:xfrm>
            <a:off x="5680238" y="1878668"/>
            <a:ext cx="0" cy="1753500"/>
          </a:xfrm>
          <a:prstGeom prst="straightConnector1">
            <a:avLst/>
          </a:prstGeom>
          <a:noFill/>
          <a:ln cap="flat" cmpd="sng" w="19050">
            <a:solidFill>
              <a:srgbClr val="FF00FF"/>
            </a:solidFill>
            <a:prstDash val="solid"/>
            <a:round/>
            <a:headEnd len="med" w="med" type="none"/>
            <a:tailEnd len="med" w="med" type="none"/>
          </a:ln>
        </p:spPr>
      </p:cxnSp>
      <p:cxnSp>
        <p:nvCxnSpPr>
          <p:cNvPr id="858" name="Google Shape;858;p87"/>
          <p:cNvCxnSpPr>
            <a:stCxn id="847" idx="2"/>
            <a:endCxn id="846" idx="6"/>
          </p:cNvCxnSpPr>
          <p:nvPr/>
        </p:nvCxnSpPr>
        <p:spPr>
          <a:xfrm rot="10800000">
            <a:off x="5958398" y="3884676"/>
            <a:ext cx="531000" cy="215700"/>
          </a:xfrm>
          <a:prstGeom prst="straightConnector1">
            <a:avLst/>
          </a:prstGeom>
          <a:noFill/>
          <a:ln cap="flat" cmpd="sng" w="19050">
            <a:solidFill>
              <a:srgbClr val="FF00FF"/>
            </a:solidFill>
            <a:prstDash val="solid"/>
            <a:round/>
            <a:headEnd len="med" w="med" type="none"/>
            <a:tailEnd len="med" w="med" type="none"/>
          </a:ln>
        </p:spPr>
      </p:cxnSp>
      <p:cxnSp>
        <p:nvCxnSpPr>
          <p:cNvPr id="859" name="Google Shape;859;p87"/>
          <p:cNvCxnSpPr>
            <a:stCxn id="850" idx="4"/>
            <a:endCxn id="848" idx="0"/>
          </p:cNvCxnSpPr>
          <p:nvPr/>
        </p:nvCxnSpPr>
        <p:spPr>
          <a:xfrm flipH="1">
            <a:off x="7855063" y="3007993"/>
            <a:ext cx="259500" cy="624000"/>
          </a:xfrm>
          <a:prstGeom prst="straightConnector1">
            <a:avLst/>
          </a:prstGeom>
          <a:noFill/>
          <a:ln cap="flat" cmpd="sng" w="19050">
            <a:solidFill>
              <a:srgbClr val="FF00FF"/>
            </a:solidFill>
            <a:prstDash val="solid"/>
            <a:round/>
            <a:headEnd len="med" w="med" type="none"/>
            <a:tailEnd len="med" w="med" type="none"/>
          </a:ln>
        </p:spPr>
      </p:cxnSp>
      <p:cxnSp>
        <p:nvCxnSpPr>
          <p:cNvPr id="860" name="Google Shape;860;p87"/>
          <p:cNvCxnSpPr>
            <a:stCxn id="843" idx="5"/>
            <a:endCxn id="842" idx="1"/>
          </p:cNvCxnSpPr>
          <p:nvPr/>
        </p:nvCxnSpPr>
        <p:spPr>
          <a:xfrm>
            <a:off x="5876990" y="1804683"/>
            <a:ext cx="673500" cy="651600"/>
          </a:xfrm>
          <a:prstGeom prst="straightConnector1">
            <a:avLst/>
          </a:prstGeom>
          <a:noFill/>
          <a:ln cap="flat" cmpd="sng" w="28575">
            <a:solidFill>
              <a:srgbClr val="0000FF"/>
            </a:solidFill>
            <a:prstDash val="solid"/>
            <a:round/>
            <a:headEnd len="med" w="med" type="none"/>
            <a:tailEnd len="med" w="med" type="none"/>
          </a:ln>
        </p:spPr>
      </p:cxnSp>
      <p:cxnSp>
        <p:nvCxnSpPr>
          <p:cNvPr id="861" name="Google Shape;861;p87"/>
          <p:cNvCxnSpPr>
            <a:stCxn id="849" idx="6"/>
            <a:endCxn id="842" idx="2"/>
          </p:cNvCxnSpPr>
          <p:nvPr/>
        </p:nvCxnSpPr>
        <p:spPr>
          <a:xfrm flipH="1" rot="10800000">
            <a:off x="5474563" y="2749993"/>
            <a:ext cx="953700" cy="5400"/>
          </a:xfrm>
          <a:prstGeom prst="straightConnector1">
            <a:avLst/>
          </a:prstGeom>
          <a:noFill/>
          <a:ln cap="flat" cmpd="sng" w="28575">
            <a:solidFill>
              <a:srgbClr val="0000FF"/>
            </a:solidFill>
            <a:prstDash val="solid"/>
            <a:round/>
            <a:headEnd len="med" w="med" type="none"/>
            <a:tailEnd len="med" w="med" type="none"/>
          </a:ln>
        </p:spPr>
      </p:cxnSp>
      <p:cxnSp>
        <p:nvCxnSpPr>
          <p:cNvPr id="862" name="Google Shape;862;p87"/>
          <p:cNvCxnSpPr>
            <a:stCxn id="842" idx="3"/>
            <a:endCxn id="846" idx="7"/>
          </p:cNvCxnSpPr>
          <p:nvPr/>
        </p:nvCxnSpPr>
        <p:spPr>
          <a:xfrm flipH="1">
            <a:off x="5876893" y="3044009"/>
            <a:ext cx="673500" cy="662100"/>
          </a:xfrm>
          <a:prstGeom prst="straightConnector1">
            <a:avLst/>
          </a:prstGeom>
          <a:noFill/>
          <a:ln cap="flat" cmpd="sng" w="28575">
            <a:solidFill>
              <a:srgbClr val="0000FF"/>
            </a:solidFill>
            <a:prstDash val="solid"/>
            <a:round/>
            <a:headEnd len="med" w="med" type="none"/>
            <a:tailEnd len="med" w="med" type="none"/>
          </a:ln>
        </p:spPr>
      </p:cxnSp>
      <p:cxnSp>
        <p:nvCxnSpPr>
          <p:cNvPr id="863" name="Google Shape;863;p87"/>
          <p:cNvCxnSpPr>
            <a:stCxn id="842" idx="4"/>
            <a:endCxn id="847" idx="0"/>
          </p:cNvCxnSpPr>
          <p:nvPr/>
        </p:nvCxnSpPr>
        <p:spPr>
          <a:xfrm flipH="1">
            <a:off x="6767575" y="3165750"/>
            <a:ext cx="78000" cy="681900"/>
          </a:xfrm>
          <a:prstGeom prst="straightConnector1">
            <a:avLst/>
          </a:prstGeom>
          <a:noFill/>
          <a:ln cap="flat" cmpd="sng" w="28575">
            <a:solidFill>
              <a:srgbClr val="0000FF"/>
            </a:solidFill>
            <a:prstDash val="solid"/>
            <a:round/>
            <a:headEnd len="med" w="med" type="none"/>
            <a:tailEnd len="med" w="med" type="none"/>
          </a:ln>
        </p:spPr>
      </p:cxnSp>
      <p:cxnSp>
        <p:nvCxnSpPr>
          <p:cNvPr id="864" name="Google Shape;864;p87"/>
          <p:cNvCxnSpPr>
            <a:stCxn id="842" idx="5"/>
            <a:endCxn id="848" idx="1"/>
          </p:cNvCxnSpPr>
          <p:nvPr/>
        </p:nvCxnSpPr>
        <p:spPr>
          <a:xfrm>
            <a:off x="7140757" y="3044009"/>
            <a:ext cx="517500" cy="662100"/>
          </a:xfrm>
          <a:prstGeom prst="straightConnector1">
            <a:avLst/>
          </a:prstGeom>
          <a:noFill/>
          <a:ln cap="flat" cmpd="sng" w="28575">
            <a:solidFill>
              <a:srgbClr val="0000FF"/>
            </a:solidFill>
            <a:prstDash val="solid"/>
            <a:round/>
            <a:headEnd len="med" w="med" type="none"/>
            <a:tailEnd len="med" w="med" type="none"/>
          </a:ln>
        </p:spPr>
      </p:cxnSp>
      <p:cxnSp>
        <p:nvCxnSpPr>
          <p:cNvPr id="865" name="Google Shape;865;p87"/>
          <p:cNvCxnSpPr>
            <a:stCxn id="842" idx="6"/>
            <a:endCxn id="850" idx="2"/>
          </p:cNvCxnSpPr>
          <p:nvPr/>
        </p:nvCxnSpPr>
        <p:spPr>
          <a:xfrm>
            <a:off x="7263025" y="2750100"/>
            <a:ext cx="573300" cy="5400"/>
          </a:xfrm>
          <a:prstGeom prst="straightConnector1">
            <a:avLst/>
          </a:prstGeom>
          <a:noFill/>
          <a:ln cap="flat" cmpd="sng" w="28575">
            <a:solidFill>
              <a:srgbClr val="0000FF"/>
            </a:solidFill>
            <a:prstDash val="solid"/>
            <a:round/>
            <a:headEnd len="med" w="med" type="none"/>
            <a:tailEnd len="med" w="med" type="none"/>
          </a:ln>
        </p:spPr>
      </p:cxnSp>
      <p:cxnSp>
        <p:nvCxnSpPr>
          <p:cNvPr id="866" name="Google Shape;866;p87"/>
          <p:cNvCxnSpPr>
            <a:stCxn id="842" idx="7"/>
            <a:endCxn id="845" idx="3"/>
          </p:cNvCxnSpPr>
          <p:nvPr/>
        </p:nvCxnSpPr>
        <p:spPr>
          <a:xfrm flipH="1" rot="10800000">
            <a:off x="7140757" y="2083591"/>
            <a:ext cx="517500" cy="372600"/>
          </a:xfrm>
          <a:prstGeom prst="straightConnector1">
            <a:avLst/>
          </a:prstGeom>
          <a:noFill/>
          <a:ln cap="flat" cmpd="sng" w="28575">
            <a:solidFill>
              <a:srgbClr val="0000FF"/>
            </a:solidFill>
            <a:prstDash val="solid"/>
            <a:round/>
            <a:headEnd len="med" w="med" type="none"/>
            <a:tailEnd len="med" w="med" type="none"/>
          </a:ln>
        </p:spPr>
      </p:cxnSp>
      <p:cxnSp>
        <p:nvCxnSpPr>
          <p:cNvPr id="867" name="Google Shape;867;p87"/>
          <p:cNvCxnSpPr>
            <a:stCxn id="844" idx="4"/>
            <a:endCxn id="842" idx="0"/>
          </p:cNvCxnSpPr>
          <p:nvPr/>
        </p:nvCxnSpPr>
        <p:spPr>
          <a:xfrm flipH="1">
            <a:off x="6845648" y="1652426"/>
            <a:ext cx="80700" cy="681900"/>
          </a:xfrm>
          <a:prstGeom prst="straightConnector1">
            <a:avLst/>
          </a:prstGeom>
          <a:noFill/>
          <a:ln cap="flat" cmpd="sng" w="28575">
            <a:solidFill>
              <a:srgbClr val="0000FF"/>
            </a:solidFill>
            <a:prstDash val="solid"/>
            <a:round/>
            <a:headEnd len="med" w="med" type="none"/>
            <a:tailEnd len="med" w="med" type="none"/>
          </a:ln>
        </p:spPr>
      </p:cxnSp>
      <p:cxnSp>
        <p:nvCxnSpPr>
          <p:cNvPr id="868" name="Google Shape;868;p87"/>
          <p:cNvCxnSpPr>
            <a:stCxn id="850" idx="4"/>
            <a:endCxn id="846" idx="6"/>
          </p:cNvCxnSpPr>
          <p:nvPr/>
        </p:nvCxnSpPr>
        <p:spPr>
          <a:xfrm flipH="1">
            <a:off x="5958463" y="3007993"/>
            <a:ext cx="2156100" cy="876600"/>
          </a:xfrm>
          <a:prstGeom prst="straightConnector1">
            <a:avLst/>
          </a:prstGeom>
          <a:noFill/>
          <a:ln cap="flat" cmpd="sng" w="19050">
            <a:solidFill>
              <a:srgbClr val="FF00FF"/>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2" name="Shape 872"/>
        <p:cNvGrpSpPr/>
        <p:nvPr/>
      </p:nvGrpSpPr>
      <p:grpSpPr>
        <a:xfrm>
          <a:off x="0" y="0"/>
          <a:ext cx="0" cy="0"/>
          <a:chOff x="0" y="0"/>
          <a:chExt cx="0" cy="0"/>
        </a:xfrm>
      </p:grpSpPr>
      <p:sp>
        <p:nvSpPr>
          <p:cNvPr id="873" name="Google Shape;873;p8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ties in ego networks</a:t>
            </a:r>
            <a:endParaRPr/>
          </a:p>
        </p:txBody>
      </p:sp>
      <p:sp>
        <p:nvSpPr>
          <p:cNvPr id="874" name="Google Shape;874;p88"/>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 relations (states)</a:t>
            </a:r>
            <a:endParaRPr/>
          </a:p>
          <a:p>
            <a:pPr indent="-317500" lvl="1" marL="914400" rtl="0" algn="l">
              <a:spcBef>
                <a:spcPts val="0"/>
              </a:spcBef>
              <a:spcAft>
                <a:spcPts val="0"/>
              </a:spcAft>
              <a:buSzPts val="1400"/>
              <a:buChar char="○"/>
            </a:pPr>
            <a:r>
              <a:rPr lang="en"/>
              <a:t>Friends, kin, business partners</a:t>
            </a:r>
            <a:endParaRPr/>
          </a:p>
          <a:p>
            <a:pPr indent="-342900" lvl="0" marL="457200" rtl="0" algn="l">
              <a:spcBef>
                <a:spcPts val="0"/>
              </a:spcBef>
              <a:spcAft>
                <a:spcPts val="0"/>
              </a:spcAft>
              <a:buSzPts val="1800"/>
              <a:buChar char="●"/>
            </a:pPr>
            <a:r>
              <a:rPr lang="en"/>
              <a:t>Interpersonal sentiments and cognitions</a:t>
            </a:r>
            <a:endParaRPr/>
          </a:p>
          <a:p>
            <a:pPr indent="-317500" lvl="1" marL="914400" rtl="0" algn="l">
              <a:spcBef>
                <a:spcPts val="0"/>
              </a:spcBef>
              <a:spcAft>
                <a:spcPts val="0"/>
              </a:spcAft>
              <a:buSzPts val="1400"/>
              <a:buChar char="○"/>
            </a:pPr>
            <a:r>
              <a:rPr lang="en"/>
              <a:t>Liking, trusting, acquaintanceship</a:t>
            </a:r>
            <a:endParaRPr/>
          </a:p>
          <a:p>
            <a:pPr indent="-342900" lvl="0" marL="457200" rtl="0" algn="l">
              <a:spcBef>
                <a:spcPts val="0"/>
              </a:spcBef>
              <a:spcAft>
                <a:spcPts val="0"/>
              </a:spcAft>
              <a:buSzPts val="1800"/>
              <a:buChar char="●"/>
            </a:pPr>
            <a:r>
              <a:rPr lang="en"/>
              <a:t>Behavioral Social Interactions</a:t>
            </a:r>
            <a:endParaRPr/>
          </a:p>
          <a:p>
            <a:pPr indent="-317500" lvl="1" marL="914400" rtl="0" algn="l">
              <a:spcBef>
                <a:spcPts val="0"/>
              </a:spcBef>
              <a:spcAft>
                <a:spcPts val="0"/>
              </a:spcAft>
              <a:buSzPts val="1400"/>
              <a:buChar char="○"/>
            </a:pPr>
            <a:r>
              <a:rPr lang="en"/>
              <a:t>Calling, texting, citing, supporting, resource exchange</a:t>
            </a:r>
            <a:endParaRPr/>
          </a:p>
          <a:p>
            <a:pPr indent="0" lvl="0" marL="0" marR="0" rtl="0" algn="l">
              <a:lnSpc>
                <a:spcPct val="115000"/>
              </a:lnSpc>
              <a:spcBef>
                <a:spcPts val="0"/>
              </a:spcBef>
              <a:spcAft>
                <a:spcPts val="1600"/>
              </a:spcAft>
              <a:buNone/>
            </a:pPr>
            <a:r>
              <a:t/>
            </a:r>
            <a:endParaRPr/>
          </a:p>
        </p:txBody>
      </p:sp>
      <p:sp>
        <p:nvSpPr>
          <p:cNvPr id="875" name="Google Shape;875;p88"/>
          <p:cNvSpPr/>
          <p:nvPr/>
        </p:nvSpPr>
        <p:spPr>
          <a:xfrm>
            <a:off x="5841463" y="1373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876" name="Google Shape;876;p88"/>
          <p:cNvSpPr/>
          <p:nvPr/>
        </p:nvSpPr>
        <p:spPr>
          <a:xfrm>
            <a:off x="7087573" y="114722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877" name="Google Shape;877;p88"/>
          <p:cNvSpPr/>
          <p:nvPr/>
        </p:nvSpPr>
        <p:spPr>
          <a:xfrm>
            <a:off x="8016284" y="16524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878" name="Google Shape;878;p88"/>
          <p:cNvSpPr/>
          <p:nvPr/>
        </p:nvSpPr>
        <p:spPr>
          <a:xfrm>
            <a:off x="5841463"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879" name="Google Shape;879;p88"/>
          <p:cNvSpPr/>
          <p:nvPr/>
        </p:nvSpPr>
        <p:spPr>
          <a:xfrm>
            <a:off x="6928873" y="384777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880" name="Google Shape;880;p88"/>
          <p:cNvSpPr/>
          <p:nvPr/>
        </p:nvSpPr>
        <p:spPr>
          <a:xfrm>
            <a:off x="8016284"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881" name="Google Shape;881;p88"/>
          <p:cNvSpPr/>
          <p:nvPr/>
        </p:nvSpPr>
        <p:spPr>
          <a:xfrm>
            <a:off x="5402088" y="2725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882" name="Google Shape;882;p88"/>
          <p:cNvSpPr/>
          <p:nvPr/>
        </p:nvSpPr>
        <p:spPr>
          <a:xfrm>
            <a:off x="8275788" y="2502793"/>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883" name="Google Shape;883;p88"/>
          <p:cNvCxnSpPr>
            <a:stCxn id="875" idx="3"/>
            <a:endCxn id="881" idx="0"/>
          </p:cNvCxnSpPr>
          <p:nvPr/>
        </p:nvCxnSpPr>
        <p:spPr>
          <a:xfrm flipH="1">
            <a:off x="5680260" y="1804683"/>
            <a:ext cx="242700" cy="920700"/>
          </a:xfrm>
          <a:prstGeom prst="straightConnector1">
            <a:avLst/>
          </a:prstGeom>
          <a:noFill/>
          <a:ln cap="flat" cmpd="sng" w="19050">
            <a:solidFill>
              <a:srgbClr val="FF00FF"/>
            </a:solidFill>
            <a:prstDash val="solid"/>
            <a:round/>
            <a:headEnd len="med" w="med" type="none"/>
            <a:tailEnd len="med" w="med" type="none"/>
          </a:ln>
        </p:spPr>
      </p:cxnSp>
      <p:cxnSp>
        <p:nvCxnSpPr>
          <p:cNvPr id="884" name="Google Shape;884;p88"/>
          <p:cNvCxnSpPr>
            <a:stCxn id="876" idx="3"/>
            <a:endCxn id="875" idx="6"/>
          </p:cNvCxnSpPr>
          <p:nvPr/>
        </p:nvCxnSpPr>
        <p:spPr>
          <a:xfrm flipH="1">
            <a:off x="6398071" y="1578441"/>
            <a:ext cx="771000" cy="47700"/>
          </a:xfrm>
          <a:prstGeom prst="straightConnector1">
            <a:avLst/>
          </a:prstGeom>
          <a:noFill/>
          <a:ln cap="flat" cmpd="sng" w="19050">
            <a:solidFill>
              <a:srgbClr val="FF00FF"/>
            </a:solidFill>
            <a:prstDash val="solid"/>
            <a:round/>
            <a:headEnd len="med" w="med" type="none"/>
            <a:tailEnd len="med" w="med" type="none"/>
          </a:ln>
        </p:spPr>
      </p:cxnSp>
      <p:cxnSp>
        <p:nvCxnSpPr>
          <p:cNvPr id="885" name="Google Shape;885;p88"/>
          <p:cNvCxnSpPr>
            <a:stCxn id="876" idx="3"/>
            <a:endCxn id="881" idx="0"/>
          </p:cNvCxnSpPr>
          <p:nvPr/>
        </p:nvCxnSpPr>
        <p:spPr>
          <a:xfrm flipH="1">
            <a:off x="5680471" y="1578441"/>
            <a:ext cx="1488600" cy="1146900"/>
          </a:xfrm>
          <a:prstGeom prst="straightConnector1">
            <a:avLst/>
          </a:prstGeom>
          <a:noFill/>
          <a:ln cap="flat" cmpd="sng" w="19050">
            <a:solidFill>
              <a:srgbClr val="FF00FF"/>
            </a:solidFill>
            <a:prstDash val="solid"/>
            <a:round/>
            <a:headEnd len="med" w="med" type="none"/>
            <a:tailEnd len="med" w="med" type="none"/>
          </a:ln>
        </p:spPr>
      </p:cxnSp>
      <p:cxnSp>
        <p:nvCxnSpPr>
          <p:cNvPr id="886" name="Google Shape;886;p88"/>
          <p:cNvCxnSpPr>
            <a:stCxn id="876" idx="3"/>
            <a:endCxn id="878" idx="0"/>
          </p:cNvCxnSpPr>
          <p:nvPr/>
        </p:nvCxnSpPr>
        <p:spPr>
          <a:xfrm flipH="1">
            <a:off x="6119671" y="1578441"/>
            <a:ext cx="1049400" cy="2053800"/>
          </a:xfrm>
          <a:prstGeom prst="straightConnector1">
            <a:avLst/>
          </a:prstGeom>
          <a:noFill/>
          <a:ln cap="flat" cmpd="sng" w="19050">
            <a:solidFill>
              <a:srgbClr val="FF00FF"/>
            </a:solidFill>
            <a:prstDash val="solid"/>
            <a:round/>
            <a:headEnd len="med" w="med" type="none"/>
            <a:tailEnd len="med" w="med" type="none"/>
          </a:ln>
        </p:spPr>
      </p:cxnSp>
      <p:cxnSp>
        <p:nvCxnSpPr>
          <p:cNvPr id="887" name="Google Shape;887;p88"/>
          <p:cNvCxnSpPr>
            <a:stCxn id="881" idx="4"/>
            <a:endCxn id="878" idx="0"/>
          </p:cNvCxnSpPr>
          <p:nvPr/>
        </p:nvCxnSpPr>
        <p:spPr>
          <a:xfrm>
            <a:off x="5680338" y="3230668"/>
            <a:ext cx="439500" cy="401400"/>
          </a:xfrm>
          <a:prstGeom prst="straightConnector1">
            <a:avLst/>
          </a:prstGeom>
          <a:noFill/>
          <a:ln cap="flat" cmpd="sng" w="19050">
            <a:solidFill>
              <a:srgbClr val="FF00FF"/>
            </a:solidFill>
            <a:prstDash val="solid"/>
            <a:round/>
            <a:headEnd len="med" w="med" type="none"/>
            <a:tailEnd len="med" w="med" type="none"/>
          </a:ln>
        </p:spPr>
      </p:cxnSp>
      <p:cxnSp>
        <p:nvCxnSpPr>
          <p:cNvPr id="888" name="Google Shape;888;p88"/>
          <p:cNvCxnSpPr>
            <a:stCxn id="880" idx="2"/>
            <a:endCxn id="879" idx="7"/>
          </p:cNvCxnSpPr>
          <p:nvPr/>
        </p:nvCxnSpPr>
        <p:spPr>
          <a:xfrm flipH="1">
            <a:off x="7403984" y="3884718"/>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889" name="Google Shape;889;p88"/>
          <p:cNvCxnSpPr>
            <a:stCxn id="875" idx="4"/>
            <a:endCxn id="878" idx="0"/>
          </p:cNvCxnSpPr>
          <p:nvPr/>
        </p:nvCxnSpPr>
        <p:spPr>
          <a:xfrm>
            <a:off x="6119713" y="1878668"/>
            <a:ext cx="0" cy="1753500"/>
          </a:xfrm>
          <a:prstGeom prst="straightConnector1">
            <a:avLst/>
          </a:prstGeom>
          <a:noFill/>
          <a:ln cap="flat" cmpd="sng" w="19050">
            <a:solidFill>
              <a:srgbClr val="FF00FF"/>
            </a:solidFill>
            <a:prstDash val="solid"/>
            <a:round/>
            <a:headEnd len="med" w="med" type="none"/>
            <a:tailEnd len="med" w="med" type="none"/>
          </a:ln>
        </p:spPr>
      </p:cxnSp>
      <p:cxnSp>
        <p:nvCxnSpPr>
          <p:cNvPr id="890" name="Google Shape;890;p88"/>
          <p:cNvCxnSpPr>
            <a:stCxn id="879" idx="1"/>
            <a:endCxn id="878" idx="6"/>
          </p:cNvCxnSpPr>
          <p:nvPr/>
        </p:nvCxnSpPr>
        <p:spPr>
          <a:xfrm rot="10800000">
            <a:off x="6398071" y="3884860"/>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891" name="Google Shape;891;p88"/>
          <p:cNvCxnSpPr>
            <a:stCxn id="882" idx="4"/>
            <a:endCxn id="880" idx="0"/>
          </p:cNvCxnSpPr>
          <p:nvPr/>
        </p:nvCxnSpPr>
        <p:spPr>
          <a:xfrm flipH="1">
            <a:off x="8294538" y="3007993"/>
            <a:ext cx="259500" cy="624000"/>
          </a:xfrm>
          <a:prstGeom prst="straightConnector1">
            <a:avLst/>
          </a:prstGeom>
          <a:noFill/>
          <a:ln cap="flat" cmpd="sng" w="19050">
            <a:solidFill>
              <a:srgbClr val="FF00FF"/>
            </a:solidFill>
            <a:prstDash val="solid"/>
            <a:round/>
            <a:headEnd len="med" w="med" type="none"/>
            <a:tailEnd len="med" w="med" type="none"/>
          </a:ln>
        </p:spPr>
      </p:cxnSp>
      <p:cxnSp>
        <p:nvCxnSpPr>
          <p:cNvPr id="892" name="Google Shape;892;p88"/>
          <p:cNvCxnSpPr>
            <a:stCxn id="882" idx="4"/>
            <a:endCxn id="878" idx="6"/>
          </p:cNvCxnSpPr>
          <p:nvPr/>
        </p:nvCxnSpPr>
        <p:spPr>
          <a:xfrm flipH="1">
            <a:off x="6397938" y="3007993"/>
            <a:ext cx="2156100" cy="876600"/>
          </a:xfrm>
          <a:prstGeom prst="straightConnector1">
            <a:avLst/>
          </a:prstGeom>
          <a:noFill/>
          <a:ln cap="flat" cmpd="sng" w="19050">
            <a:solidFill>
              <a:srgbClr val="FF00FF"/>
            </a:solidFill>
            <a:prstDash val="solid"/>
            <a:round/>
            <a:headEnd len="med" w="med" type="none"/>
            <a:tailEnd len="med" w="med" type="none"/>
          </a:ln>
        </p:spPr>
      </p:cxnSp>
      <p:cxnSp>
        <p:nvCxnSpPr>
          <p:cNvPr id="893" name="Google Shape;893;p88"/>
          <p:cNvCxnSpPr>
            <a:stCxn id="882" idx="4"/>
            <a:endCxn id="879" idx="7"/>
          </p:cNvCxnSpPr>
          <p:nvPr/>
        </p:nvCxnSpPr>
        <p:spPr>
          <a:xfrm flipH="1">
            <a:off x="7403838" y="3007993"/>
            <a:ext cx="1150200" cy="913800"/>
          </a:xfrm>
          <a:prstGeom prst="straightConnector1">
            <a:avLst/>
          </a:prstGeom>
          <a:noFill/>
          <a:ln cap="flat" cmpd="sng" w="19050">
            <a:solidFill>
              <a:srgbClr val="FF00FF"/>
            </a:solidFill>
            <a:prstDash val="solid"/>
            <a:round/>
            <a:headEnd len="med" w="med" type="none"/>
            <a:tailEnd len="med" w="med" type="none"/>
          </a:ln>
        </p:spPr>
      </p:cxnSp>
      <p:sp>
        <p:nvSpPr>
          <p:cNvPr id="894" name="Google Shape;894;p88"/>
          <p:cNvSpPr/>
          <p:nvPr/>
        </p:nvSpPr>
        <p:spPr>
          <a:xfrm>
            <a:off x="6867600"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cxnSp>
        <p:nvCxnSpPr>
          <p:cNvPr id="895" name="Google Shape;895;p88"/>
          <p:cNvCxnSpPr>
            <a:endCxn id="894" idx="1"/>
          </p:cNvCxnSpPr>
          <p:nvPr/>
        </p:nvCxnSpPr>
        <p:spPr>
          <a:xfrm>
            <a:off x="6316368" y="1804591"/>
            <a:ext cx="673500" cy="651600"/>
          </a:xfrm>
          <a:prstGeom prst="straightConnector1">
            <a:avLst/>
          </a:prstGeom>
          <a:noFill/>
          <a:ln cap="flat" cmpd="sng" w="28575">
            <a:solidFill>
              <a:srgbClr val="0000FF"/>
            </a:solidFill>
            <a:prstDash val="solid"/>
            <a:round/>
            <a:headEnd len="med" w="med" type="none"/>
            <a:tailEnd len="med" w="med" type="none"/>
          </a:ln>
        </p:spPr>
      </p:cxnSp>
      <p:cxnSp>
        <p:nvCxnSpPr>
          <p:cNvPr id="896" name="Google Shape;896;p88"/>
          <p:cNvCxnSpPr>
            <a:endCxn id="894" idx="2"/>
          </p:cNvCxnSpPr>
          <p:nvPr/>
        </p:nvCxnSpPr>
        <p:spPr>
          <a:xfrm flipH="1" rot="10800000">
            <a:off x="5958600" y="2750100"/>
            <a:ext cx="909000" cy="228000"/>
          </a:xfrm>
          <a:prstGeom prst="straightConnector1">
            <a:avLst/>
          </a:prstGeom>
          <a:noFill/>
          <a:ln cap="flat" cmpd="sng" w="28575">
            <a:solidFill>
              <a:srgbClr val="0000FF"/>
            </a:solidFill>
            <a:prstDash val="solid"/>
            <a:round/>
            <a:headEnd len="med" w="med" type="none"/>
            <a:tailEnd len="med" w="med" type="none"/>
          </a:ln>
        </p:spPr>
      </p:cxnSp>
      <p:cxnSp>
        <p:nvCxnSpPr>
          <p:cNvPr id="897" name="Google Shape;897;p88"/>
          <p:cNvCxnSpPr>
            <a:stCxn id="894" idx="3"/>
          </p:cNvCxnSpPr>
          <p:nvPr/>
        </p:nvCxnSpPr>
        <p:spPr>
          <a:xfrm flipH="1">
            <a:off x="6316368" y="3044009"/>
            <a:ext cx="673500" cy="662100"/>
          </a:xfrm>
          <a:prstGeom prst="straightConnector1">
            <a:avLst/>
          </a:prstGeom>
          <a:noFill/>
          <a:ln cap="flat" cmpd="sng" w="28575">
            <a:solidFill>
              <a:srgbClr val="0000FF"/>
            </a:solidFill>
            <a:prstDash val="solid"/>
            <a:round/>
            <a:headEnd len="med" w="med" type="none"/>
            <a:tailEnd len="med" w="med" type="none"/>
          </a:ln>
        </p:spPr>
      </p:cxnSp>
      <p:cxnSp>
        <p:nvCxnSpPr>
          <p:cNvPr id="898" name="Google Shape;898;p88"/>
          <p:cNvCxnSpPr>
            <a:stCxn id="894" idx="4"/>
          </p:cNvCxnSpPr>
          <p:nvPr/>
        </p:nvCxnSpPr>
        <p:spPr>
          <a:xfrm flipH="1">
            <a:off x="7207050" y="3165750"/>
            <a:ext cx="78000" cy="681900"/>
          </a:xfrm>
          <a:prstGeom prst="straightConnector1">
            <a:avLst/>
          </a:prstGeom>
          <a:noFill/>
          <a:ln cap="flat" cmpd="sng" w="28575">
            <a:solidFill>
              <a:srgbClr val="0000FF"/>
            </a:solidFill>
            <a:prstDash val="solid"/>
            <a:round/>
            <a:headEnd len="med" w="med" type="none"/>
            <a:tailEnd len="med" w="med" type="none"/>
          </a:ln>
        </p:spPr>
      </p:cxnSp>
      <p:cxnSp>
        <p:nvCxnSpPr>
          <p:cNvPr id="899" name="Google Shape;899;p88"/>
          <p:cNvCxnSpPr>
            <a:stCxn id="894" idx="5"/>
          </p:cNvCxnSpPr>
          <p:nvPr/>
        </p:nvCxnSpPr>
        <p:spPr>
          <a:xfrm>
            <a:off x="7580232" y="3044009"/>
            <a:ext cx="517500" cy="662100"/>
          </a:xfrm>
          <a:prstGeom prst="straightConnector1">
            <a:avLst/>
          </a:prstGeom>
          <a:noFill/>
          <a:ln cap="flat" cmpd="sng" w="28575">
            <a:solidFill>
              <a:srgbClr val="0000FF"/>
            </a:solidFill>
            <a:prstDash val="solid"/>
            <a:round/>
            <a:headEnd len="med" w="med" type="none"/>
            <a:tailEnd len="med" w="med" type="none"/>
          </a:ln>
        </p:spPr>
      </p:cxnSp>
      <p:cxnSp>
        <p:nvCxnSpPr>
          <p:cNvPr id="900" name="Google Shape;900;p88"/>
          <p:cNvCxnSpPr>
            <a:stCxn id="894" idx="6"/>
          </p:cNvCxnSpPr>
          <p:nvPr/>
        </p:nvCxnSpPr>
        <p:spPr>
          <a:xfrm>
            <a:off x="7702500" y="2750100"/>
            <a:ext cx="573300" cy="5400"/>
          </a:xfrm>
          <a:prstGeom prst="straightConnector1">
            <a:avLst/>
          </a:prstGeom>
          <a:noFill/>
          <a:ln cap="flat" cmpd="sng" w="28575">
            <a:solidFill>
              <a:srgbClr val="0000FF"/>
            </a:solidFill>
            <a:prstDash val="solid"/>
            <a:round/>
            <a:headEnd len="med" w="med" type="none"/>
            <a:tailEnd len="med" w="med" type="none"/>
          </a:ln>
        </p:spPr>
      </p:cxnSp>
      <p:cxnSp>
        <p:nvCxnSpPr>
          <p:cNvPr id="901" name="Google Shape;901;p88"/>
          <p:cNvCxnSpPr>
            <a:stCxn id="894" idx="7"/>
          </p:cNvCxnSpPr>
          <p:nvPr/>
        </p:nvCxnSpPr>
        <p:spPr>
          <a:xfrm flipH="1" rot="10800000">
            <a:off x="7580232" y="2083591"/>
            <a:ext cx="517500" cy="372600"/>
          </a:xfrm>
          <a:prstGeom prst="straightConnector1">
            <a:avLst/>
          </a:prstGeom>
          <a:noFill/>
          <a:ln cap="flat" cmpd="sng" w="28575">
            <a:solidFill>
              <a:srgbClr val="0000FF"/>
            </a:solidFill>
            <a:prstDash val="solid"/>
            <a:round/>
            <a:headEnd len="med" w="med" type="none"/>
            <a:tailEnd len="med" w="med" type="none"/>
          </a:ln>
        </p:spPr>
      </p:cxnSp>
      <p:cxnSp>
        <p:nvCxnSpPr>
          <p:cNvPr id="902" name="Google Shape;902;p88"/>
          <p:cNvCxnSpPr>
            <a:endCxn id="894" idx="0"/>
          </p:cNvCxnSpPr>
          <p:nvPr/>
        </p:nvCxnSpPr>
        <p:spPr>
          <a:xfrm flipH="1">
            <a:off x="7285050" y="1652550"/>
            <a:ext cx="80700" cy="6819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6" name="Shape 906"/>
        <p:cNvGrpSpPr/>
        <p:nvPr/>
      </p:nvGrpSpPr>
      <p:grpSpPr>
        <a:xfrm>
          <a:off x="0" y="0"/>
          <a:ext cx="0" cy="0"/>
          <a:chOff x="0" y="0"/>
          <a:chExt cx="0" cy="0"/>
        </a:xfrm>
      </p:grpSpPr>
      <p:sp>
        <p:nvSpPr>
          <p:cNvPr id="907" name="Google Shape;907;p8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ego networks: Four steps</a:t>
            </a:r>
            <a:endParaRPr/>
          </a:p>
        </p:txBody>
      </p:sp>
      <p:sp>
        <p:nvSpPr>
          <p:cNvPr id="908" name="Google Shape;908;p8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a:t>
            </a:r>
            <a:endParaRPr/>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altern and tie-level characteristics you are interested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sp>
        <p:nvSpPr>
          <p:cNvPr id="909" name="Google Shape;909;p89"/>
          <p:cNvSpPr/>
          <p:nvPr/>
        </p:nvSpPr>
        <p:spPr>
          <a:xfrm>
            <a:off x="5841463" y="1373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910" name="Google Shape;910;p89"/>
          <p:cNvSpPr/>
          <p:nvPr/>
        </p:nvSpPr>
        <p:spPr>
          <a:xfrm>
            <a:off x="7087573" y="114722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911" name="Google Shape;911;p89"/>
          <p:cNvSpPr/>
          <p:nvPr/>
        </p:nvSpPr>
        <p:spPr>
          <a:xfrm>
            <a:off x="8016284" y="16524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912" name="Google Shape;912;p89"/>
          <p:cNvSpPr/>
          <p:nvPr/>
        </p:nvSpPr>
        <p:spPr>
          <a:xfrm>
            <a:off x="5841463"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913" name="Google Shape;913;p89"/>
          <p:cNvSpPr/>
          <p:nvPr/>
        </p:nvSpPr>
        <p:spPr>
          <a:xfrm>
            <a:off x="6928873" y="384777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914" name="Google Shape;914;p89"/>
          <p:cNvSpPr/>
          <p:nvPr/>
        </p:nvSpPr>
        <p:spPr>
          <a:xfrm>
            <a:off x="8016284"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915" name="Google Shape;915;p89"/>
          <p:cNvSpPr/>
          <p:nvPr/>
        </p:nvSpPr>
        <p:spPr>
          <a:xfrm>
            <a:off x="5402088" y="2725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916" name="Google Shape;916;p89"/>
          <p:cNvSpPr/>
          <p:nvPr/>
        </p:nvSpPr>
        <p:spPr>
          <a:xfrm>
            <a:off x="8275788" y="2502793"/>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917" name="Google Shape;917;p89"/>
          <p:cNvCxnSpPr>
            <a:stCxn id="909" idx="3"/>
            <a:endCxn id="915" idx="0"/>
          </p:cNvCxnSpPr>
          <p:nvPr/>
        </p:nvCxnSpPr>
        <p:spPr>
          <a:xfrm flipH="1">
            <a:off x="5680260" y="1804683"/>
            <a:ext cx="242700" cy="920700"/>
          </a:xfrm>
          <a:prstGeom prst="straightConnector1">
            <a:avLst/>
          </a:prstGeom>
          <a:noFill/>
          <a:ln cap="flat" cmpd="sng" w="19050">
            <a:solidFill>
              <a:srgbClr val="FF00FF"/>
            </a:solidFill>
            <a:prstDash val="solid"/>
            <a:round/>
            <a:headEnd len="med" w="med" type="none"/>
            <a:tailEnd len="med" w="med" type="none"/>
          </a:ln>
        </p:spPr>
      </p:cxnSp>
      <p:cxnSp>
        <p:nvCxnSpPr>
          <p:cNvPr id="918" name="Google Shape;918;p89"/>
          <p:cNvCxnSpPr>
            <a:stCxn id="910" idx="3"/>
            <a:endCxn id="909" idx="6"/>
          </p:cNvCxnSpPr>
          <p:nvPr/>
        </p:nvCxnSpPr>
        <p:spPr>
          <a:xfrm flipH="1">
            <a:off x="6398071" y="1578441"/>
            <a:ext cx="771000" cy="47700"/>
          </a:xfrm>
          <a:prstGeom prst="straightConnector1">
            <a:avLst/>
          </a:prstGeom>
          <a:noFill/>
          <a:ln cap="flat" cmpd="sng" w="19050">
            <a:solidFill>
              <a:srgbClr val="FF00FF"/>
            </a:solidFill>
            <a:prstDash val="solid"/>
            <a:round/>
            <a:headEnd len="med" w="med" type="none"/>
            <a:tailEnd len="med" w="med" type="none"/>
          </a:ln>
        </p:spPr>
      </p:cxnSp>
      <p:cxnSp>
        <p:nvCxnSpPr>
          <p:cNvPr id="919" name="Google Shape;919;p89"/>
          <p:cNvCxnSpPr>
            <a:stCxn id="910" idx="3"/>
            <a:endCxn id="915" idx="0"/>
          </p:cNvCxnSpPr>
          <p:nvPr/>
        </p:nvCxnSpPr>
        <p:spPr>
          <a:xfrm flipH="1">
            <a:off x="5680471" y="1578441"/>
            <a:ext cx="1488600" cy="1146900"/>
          </a:xfrm>
          <a:prstGeom prst="straightConnector1">
            <a:avLst/>
          </a:prstGeom>
          <a:noFill/>
          <a:ln cap="flat" cmpd="sng" w="19050">
            <a:solidFill>
              <a:srgbClr val="FF00FF"/>
            </a:solidFill>
            <a:prstDash val="solid"/>
            <a:round/>
            <a:headEnd len="med" w="med" type="none"/>
            <a:tailEnd len="med" w="med" type="none"/>
          </a:ln>
        </p:spPr>
      </p:cxnSp>
      <p:cxnSp>
        <p:nvCxnSpPr>
          <p:cNvPr id="920" name="Google Shape;920;p89"/>
          <p:cNvCxnSpPr>
            <a:stCxn id="910" idx="3"/>
            <a:endCxn id="912" idx="0"/>
          </p:cNvCxnSpPr>
          <p:nvPr/>
        </p:nvCxnSpPr>
        <p:spPr>
          <a:xfrm flipH="1">
            <a:off x="6119671" y="1578441"/>
            <a:ext cx="1049400" cy="2053800"/>
          </a:xfrm>
          <a:prstGeom prst="straightConnector1">
            <a:avLst/>
          </a:prstGeom>
          <a:noFill/>
          <a:ln cap="flat" cmpd="sng" w="19050">
            <a:solidFill>
              <a:srgbClr val="FF00FF"/>
            </a:solidFill>
            <a:prstDash val="solid"/>
            <a:round/>
            <a:headEnd len="med" w="med" type="none"/>
            <a:tailEnd len="med" w="med" type="none"/>
          </a:ln>
        </p:spPr>
      </p:cxnSp>
      <p:cxnSp>
        <p:nvCxnSpPr>
          <p:cNvPr id="921" name="Google Shape;921;p89"/>
          <p:cNvCxnSpPr>
            <a:stCxn id="915" idx="4"/>
            <a:endCxn id="912" idx="0"/>
          </p:cNvCxnSpPr>
          <p:nvPr/>
        </p:nvCxnSpPr>
        <p:spPr>
          <a:xfrm>
            <a:off x="5680338" y="3230668"/>
            <a:ext cx="439500" cy="401400"/>
          </a:xfrm>
          <a:prstGeom prst="straightConnector1">
            <a:avLst/>
          </a:prstGeom>
          <a:noFill/>
          <a:ln cap="flat" cmpd="sng" w="19050">
            <a:solidFill>
              <a:srgbClr val="FF00FF"/>
            </a:solidFill>
            <a:prstDash val="solid"/>
            <a:round/>
            <a:headEnd len="med" w="med" type="none"/>
            <a:tailEnd len="med" w="med" type="none"/>
          </a:ln>
        </p:spPr>
      </p:cxnSp>
      <p:cxnSp>
        <p:nvCxnSpPr>
          <p:cNvPr id="922" name="Google Shape;922;p89"/>
          <p:cNvCxnSpPr>
            <a:stCxn id="914" idx="2"/>
            <a:endCxn id="913" idx="7"/>
          </p:cNvCxnSpPr>
          <p:nvPr/>
        </p:nvCxnSpPr>
        <p:spPr>
          <a:xfrm flipH="1">
            <a:off x="7403984" y="3884718"/>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923" name="Google Shape;923;p89"/>
          <p:cNvCxnSpPr>
            <a:stCxn id="909" idx="4"/>
            <a:endCxn id="912" idx="0"/>
          </p:cNvCxnSpPr>
          <p:nvPr/>
        </p:nvCxnSpPr>
        <p:spPr>
          <a:xfrm>
            <a:off x="6119713" y="1878668"/>
            <a:ext cx="0" cy="1753500"/>
          </a:xfrm>
          <a:prstGeom prst="straightConnector1">
            <a:avLst/>
          </a:prstGeom>
          <a:noFill/>
          <a:ln cap="flat" cmpd="sng" w="19050">
            <a:solidFill>
              <a:srgbClr val="FF00FF"/>
            </a:solidFill>
            <a:prstDash val="solid"/>
            <a:round/>
            <a:headEnd len="med" w="med" type="none"/>
            <a:tailEnd len="med" w="med" type="none"/>
          </a:ln>
        </p:spPr>
      </p:cxnSp>
      <p:cxnSp>
        <p:nvCxnSpPr>
          <p:cNvPr id="924" name="Google Shape;924;p89"/>
          <p:cNvCxnSpPr>
            <a:stCxn id="913" idx="1"/>
            <a:endCxn id="912" idx="6"/>
          </p:cNvCxnSpPr>
          <p:nvPr/>
        </p:nvCxnSpPr>
        <p:spPr>
          <a:xfrm rot="10800000">
            <a:off x="6398071" y="3884860"/>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925" name="Google Shape;925;p89"/>
          <p:cNvCxnSpPr>
            <a:stCxn id="916" idx="4"/>
            <a:endCxn id="914" idx="0"/>
          </p:cNvCxnSpPr>
          <p:nvPr/>
        </p:nvCxnSpPr>
        <p:spPr>
          <a:xfrm flipH="1">
            <a:off x="8294538" y="3007993"/>
            <a:ext cx="259500" cy="624000"/>
          </a:xfrm>
          <a:prstGeom prst="straightConnector1">
            <a:avLst/>
          </a:prstGeom>
          <a:noFill/>
          <a:ln cap="flat" cmpd="sng" w="19050">
            <a:solidFill>
              <a:srgbClr val="FF00FF"/>
            </a:solidFill>
            <a:prstDash val="solid"/>
            <a:round/>
            <a:headEnd len="med" w="med" type="none"/>
            <a:tailEnd len="med" w="med" type="none"/>
          </a:ln>
        </p:spPr>
      </p:cxnSp>
      <p:cxnSp>
        <p:nvCxnSpPr>
          <p:cNvPr id="926" name="Google Shape;926;p89"/>
          <p:cNvCxnSpPr>
            <a:stCxn id="916" idx="4"/>
            <a:endCxn id="912" idx="6"/>
          </p:cNvCxnSpPr>
          <p:nvPr/>
        </p:nvCxnSpPr>
        <p:spPr>
          <a:xfrm flipH="1">
            <a:off x="6397938" y="3007993"/>
            <a:ext cx="2156100" cy="876600"/>
          </a:xfrm>
          <a:prstGeom prst="straightConnector1">
            <a:avLst/>
          </a:prstGeom>
          <a:noFill/>
          <a:ln cap="flat" cmpd="sng" w="19050">
            <a:solidFill>
              <a:srgbClr val="FF00FF"/>
            </a:solidFill>
            <a:prstDash val="solid"/>
            <a:round/>
            <a:headEnd len="med" w="med" type="none"/>
            <a:tailEnd len="med" w="med" type="none"/>
          </a:ln>
        </p:spPr>
      </p:cxnSp>
      <p:cxnSp>
        <p:nvCxnSpPr>
          <p:cNvPr id="927" name="Google Shape;927;p89"/>
          <p:cNvCxnSpPr>
            <a:stCxn id="916" idx="4"/>
            <a:endCxn id="913" idx="7"/>
          </p:cNvCxnSpPr>
          <p:nvPr/>
        </p:nvCxnSpPr>
        <p:spPr>
          <a:xfrm flipH="1">
            <a:off x="7403838" y="3007993"/>
            <a:ext cx="1150200" cy="913800"/>
          </a:xfrm>
          <a:prstGeom prst="straightConnector1">
            <a:avLst/>
          </a:prstGeom>
          <a:noFill/>
          <a:ln cap="flat" cmpd="sng" w="19050">
            <a:solidFill>
              <a:srgbClr val="FF00FF"/>
            </a:solidFill>
            <a:prstDash val="solid"/>
            <a:round/>
            <a:headEnd len="med" w="med" type="none"/>
            <a:tailEnd len="med" w="med" type="none"/>
          </a:ln>
        </p:spPr>
      </p:cxnSp>
      <p:sp>
        <p:nvSpPr>
          <p:cNvPr id="928" name="Google Shape;928;p89"/>
          <p:cNvSpPr/>
          <p:nvPr/>
        </p:nvSpPr>
        <p:spPr>
          <a:xfrm>
            <a:off x="6867600"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cxnSp>
        <p:nvCxnSpPr>
          <p:cNvPr id="929" name="Google Shape;929;p89"/>
          <p:cNvCxnSpPr>
            <a:endCxn id="928" idx="1"/>
          </p:cNvCxnSpPr>
          <p:nvPr/>
        </p:nvCxnSpPr>
        <p:spPr>
          <a:xfrm>
            <a:off x="6316368" y="1804591"/>
            <a:ext cx="673500" cy="651600"/>
          </a:xfrm>
          <a:prstGeom prst="straightConnector1">
            <a:avLst/>
          </a:prstGeom>
          <a:noFill/>
          <a:ln cap="flat" cmpd="sng" w="28575">
            <a:solidFill>
              <a:srgbClr val="0000FF"/>
            </a:solidFill>
            <a:prstDash val="solid"/>
            <a:round/>
            <a:headEnd len="med" w="med" type="none"/>
            <a:tailEnd len="med" w="med" type="none"/>
          </a:ln>
        </p:spPr>
      </p:cxnSp>
      <p:cxnSp>
        <p:nvCxnSpPr>
          <p:cNvPr id="930" name="Google Shape;930;p89"/>
          <p:cNvCxnSpPr>
            <a:endCxn id="928" idx="2"/>
          </p:cNvCxnSpPr>
          <p:nvPr/>
        </p:nvCxnSpPr>
        <p:spPr>
          <a:xfrm flipH="1" rot="10800000">
            <a:off x="5958600" y="2750100"/>
            <a:ext cx="909000" cy="228000"/>
          </a:xfrm>
          <a:prstGeom prst="straightConnector1">
            <a:avLst/>
          </a:prstGeom>
          <a:noFill/>
          <a:ln cap="flat" cmpd="sng" w="28575">
            <a:solidFill>
              <a:srgbClr val="0000FF"/>
            </a:solidFill>
            <a:prstDash val="solid"/>
            <a:round/>
            <a:headEnd len="med" w="med" type="none"/>
            <a:tailEnd len="med" w="med" type="none"/>
          </a:ln>
        </p:spPr>
      </p:cxnSp>
      <p:cxnSp>
        <p:nvCxnSpPr>
          <p:cNvPr id="931" name="Google Shape;931;p89"/>
          <p:cNvCxnSpPr>
            <a:stCxn id="928" idx="3"/>
          </p:cNvCxnSpPr>
          <p:nvPr/>
        </p:nvCxnSpPr>
        <p:spPr>
          <a:xfrm flipH="1">
            <a:off x="6316368" y="3044009"/>
            <a:ext cx="673500" cy="662100"/>
          </a:xfrm>
          <a:prstGeom prst="straightConnector1">
            <a:avLst/>
          </a:prstGeom>
          <a:noFill/>
          <a:ln cap="flat" cmpd="sng" w="28575">
            <a:solidFill>
              <a:srgbClr val="0000FF"/>
            </a:solidFill>
            <a:prstDash val="solid"/>
            <a:round/>
            <a:headEnd len="med" w="med" type="none"/>
            <a:tailEnd len="med" w="med" type="none"/>
          </a:ln>
        </p:spPr>
      </p:cxnSp>
      <p:cxnSp>
        <p:nvCxnSpPr>
          <p:cNvPr id="932" name="Google Shape;932;p89"/>
          <p:cNvCxnSpPr>
            <a:stCxn id="928" idx="4"/>
          </p:cNvCxnSpPr>
          <p:nvPr/>
        </p:nvCxnSpPr>
        <p:spPr>
          <a:xfrm flipH="1">
            <a:off x="7207050" y="3165750"/>
            <a:ext cx="78000" cy="681900"/>
          </a:xfrm>
          <a:prstGeom prst="straightConnector1">
            <a:avLst/>
          </a:prstGeom>
          <a:noFill/>
          <a:ln cap="flat" cmpd="sng" w="28575">
            <a:solidFill>
              <a:srgbClr val="0000FF"/>
            </a:solidFill>
            <a:prstDash val="solid"/>
            <a:round/>
            <a:headEnd len="med" w="med" type="none"/>
            <a:tailEnd len="med" w="med" type="none"/>
          </a:ln>
        </p:spPr>
      </p:cxnSp>
      <p:cxnSp>
        <p:nvCxnSpPr>
          <p:cNvPr id="933" name="Google Shape;933;p89"/>
          <p:cNvCxnSpPr>
            <a:stCxn id="928" idx="5"/>
          </p:cNvCxnSpPr>
          <p:nvPr/>
        </p:nvCxnSpPr>
        <p:spPr>
          <a:xfrm>
            <a:off x="7580232" y="3044009"/>
            <a:ext cx="517500" cy="662100"/>
          </a:xfrm>
          <a:prstGeom prst="straightConnector1">
            <a:avLst/>
          </a:prstGeom>
          <a:noFill/>
          <a:ln cap="flat" cmpd="sng" w="28575">
            <a:solidFill>
              <a:srgbClr val="0000FF"/>
            </a:solidFill>
            <a:prstDash val="solid"/>
            <a:round/>
            <a:headEnd len="med" w="med" type="none"/>
            <a:tailEnd len="med" w="med" type="none"/>
          </a:ln>
        </p:spPr>
      </p:cxnSp>
      <p:cxnSp>
        <p:nvCxnSpPr>
          <p:cNvPr id="934" name="Google Shape;934;p89"/>
          <p:cNvCxnSpPr>
            <a:stCxn id="928" idx="6"/>
          </p:cNvCxnSpPr>
          <p:nvPr/>
        </p:nvCxnSpPr>
        <p:spPr>
          <a:xfrm>
            <a:off x="7702500" y="2750100"/>
            <a:ext cx="573300" cy="5400"/>
          </a:xfrm>
          <a:prstGeom prst="straightConnector1">
            <a:avLst/>
          </a:prstGeom>
          <a:noFill/>
          <a:ln cap="flat" cmpd="sng" w="28575">
            <a:solidFill>
              <a:srgbClr val="0000FF"/>
            </a:solidFill>
            <a:prstDash val="solid"/>
            <a:round/>
            <a:headEnd len="med" w="med" type="none"/>
            <a:tailEnd len="med" w="med" type="none"/>
          </a:ln>
        </p:spPr>
      </p:cxnSp>
      <p:cxnSp>
        <p:nvCxnSpPr>
          <p:cNvPr id="935" name="Google Shape;935;p89"/>
          <p:cNvCxnSpPr>
            <a:stCxn id="928" idx="7"/>
          </p:cNvCxnSpPr>
          <p:nvPr/>
        </p:nvCxnSpPr>
        <p:spPr>
          <a:xfrm flipH="1" rot="10800000">
            <a:off x="7580232" y="2083591"/>
            <a:ext cx="517500" cy="372600"/>
          </a:xfrm>
          <a:prstGeom prst="straightConnector1">
            <a:avLst/>
          </a:prstGeom>
          <a:noFill/>
          <a:ln cap="flat" cmpd="sng" w="28575">
            <a:solidFill>
              <a:srgbClr val="0000FF"/>
            </a:solidFill>
            <a:prstDash val="solid"/>
            <a:round/>
            <a:headEnd len="med" w="med" type="none"/>
            <a:tailEnd len="med" w="med" type="none"/>
          </a:ln>
        </p:spPr>
      </p:cxnSp>
      <p:cxnSp>
        <p:nvCxnSpPr>
          <p:cNvPr id="936" name="Google Shape;936;p89"/>
          <p:cNvCxnSpPr>
            <a:endCxn id="928" idx="0"/>
          </p:cNvCxnSpPr>
          <p:nvPr/>
        </p:nvCxnSpPr>
        <p:spPr>
          <a:xfrm flipH="1">
            <a:off x="7285050" y="1652550"/>
            <a:ext cx="80700" cy="6819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0" name="Shape 940"/>
        <p:cNvGrpSpPr/>
        <p:nvPr/>
      </p:nvGrpSpPr>
      <p:grpSpPr>
        <a:xfrm>
          <a:off x="0" y="0"/>
          <a:ext cx="0" cy="0"/>
          <a:chOff x="0" y="0"/>
          <a:chExt cx="0" cy="0"/>
        </a:xfrm>
      </p:grpSpPr>
      <p:sp>
        <p:nvSpPr>
          <p:cNvPr id="941" name="Google Shape;941;p9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942" name="Google Shape;942;p90"/>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lang="en"/>
              <a:t>Neighbors, friends, kin, co-authors</a:t>
            </a:r>
            <a:endParaRPr/>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lang="en"/>
              <a:t>Frequency, duration of contact</a:t>
            </a:r>
            <a:endParaRPr/>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lang="en"/>
              <a:t>Significant, close, enemies</a:t>
            </a:r>
            <a:endParaRPr/>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lang="en"/>
              <a:t>Information, favors, support, resources</a:t>
            </a:r>
            <a:endParaRPr/>
          </a:p>
          <a:p>
            <a:pPr indent="-317500" lvl="2" marL="1371600" rtl="0" algn="l">
              <a:spcBef>
                <a:spcPts val="0"/>
              </a:spcBef>
              <a:spcAft>
                <a:spcPts val="0"/>
              </a:spcAft>
              <a:buSzPts val="1400"/>
              <a:buChar char="■"/>
            </a:pPr>
            <a:r>
              <a:rPr lang="en"/>
              <a:t>Different approaches can produce ego-networks with different structural characteristics!</a:t>
            </a:r>
            <a:endParaRPr/>
          </a:p>
        </p:txBody>
      </p:sp>
      <p:sp>
        <p:nvSpPr>
          <p:cNvPr id="943" name="Google Shape;943;p90"/>
          <p:cNvSpPr/>
          <p:nvPr/>
        </p:nvSpPr>
        <p:spPr>
          <a:xfrm>
            <a:off x="5841463" y="1373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944" name="Google Shape;944;p90"/>
          <p:cNvSpPr/>
          <p:nvPr/>
        </p:nvSpPr>
        <p:spPr>
          <a:xfrm>
            <a:off x="7087573" y="114722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945" name="Google Shape;945;p90"/>
          <p:cNvSpPr/>
          <p:nvPr/>
        </p:nvSpPr>
        <p:spPr>
          <a:xfrm>
            <a:off x="8016284" y="16524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946" name="Google Shape;946;p90"/>
          <p:cNvSpPr/>
          <p:nvPr/>
        </p:nvSpPr>
        <p:spPr>
          <a:xfrm>
            <a:off x="5841463"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947" name="Google Shape;947;p90"/>
          <p:cNvSpPr/>
          <p:nvPr/>
        </p:nvSpPr>
        <p:spPr>
          <a:xfrm>
            <a:off x="6928873" y="384777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948" name="Google Shape;948;p90"/>
          <p:cNvSpPr/>
          <p:nvPr/>
        </p:nvSpPr>
        <p:spPr>
          <a:xfrm>
            <a:off x="8016284"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949" name="Google Shape;949;p90"/>
          <p:cNvSpPr/>
          <p:nvPr/>
        </p:nvSpPr>
        <p:spPr>
          <a:xfrm>
            <a:off x="5402088" y="2725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950" name="Google Shape;950;p90"/>
          <p:cNvSpPr/>
          <p:nvPr/>
        </p:nvSpPr>
        <p:spPr>
          <a:xfrm>
            <a:off x="8275788" y="2502793"/>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951" name="Google Shape;951;p90"/>
          <p:cNvCxnSpPr>
            <a:stCxn id="943" idx="3"/>
            <a:endCxn id="949" idx="0"/>
          </p:cNvCxnSpPr>
          <p:nvPr/>
        </p:nvCxnSpPr>
        <p:spPr>
          <a:xfrm flipH="1">
            <a:off x="5680260" y="1804683"/>
            <a:ext cx="242700" cy="920700"/>
          </a:xfrm>
          <a:prstGeom prst="straightConnector1">
            <a:avLst/>
          </a:prstGeom>
          <a:noFill/>
          <a:ln cap="flat" cmpd="sng" w="19050">
            <a:solidFill>
              <a:srgbClr val="FF00FF"/>
            </a:solidFill>
            <a:prstDash val="solid"/>
            <a:round/>
            <a:headEnd len="med" w="med" type="none"/>
            <a:tailEnd len="med" w="med" type="none"/>
          </a:ln>
        </p:spPr>
      </p:cxnSp>
      <p:cxnSp>
        <p:nvCxnSpPr>
          <p:cNvPr id="952" name="Google Shape;952;p90"/>
          <p:cNvCxnSpPr>
            <a:stCxn id="944" idx="3"/>
            <a:endCxn id="943" idx="6"/>
          </p:cNvCxnSpPr>
          <p:nvPr/>
        </p:nvCxnSpPr>
        <p:spPr>
          <a:xfrm flipH="1">
            <a:off x="6398071" y="1578441"/>
            <a:ext cx="771000" cy="47700"/>
          </a:xfrm>
          <a:prstGeom prst="straightConnector1">
            <a:avLst/>
          </a:prstGeom>
          <a:noFill/>
          <a:ln cap="flat" cmpd="sng" w="19050">
            <a:solidFill>
              <a:srgbClr val="FF00FF"/>
            </a:solidFill>
            <a:prstDash val="solid"/>
            <a:round/>
            <a:headEnd len="med" w="med" type="none"/>
            <a:tailEnd len="med" w="med" type="none"/>
          </a:ln>
        </p:spPr>
      </p:cxnSp>
      <p:cxnSp>
        <p:nvCxnSpPr>
          <p:cNvPr id="953" name="Google Shape;953;p90"/>
          <p:cNvCxnSpPr>
            <a:stCxn id="944" idx="3"/>
            <a:endCxn id="949" idx="0"/>
          </p:cNvCxnSpPr>
          <p:nvPr/>
        </p:nvCxnSpPr>
        <p:spPr>
          <a:xfrm flipH="1">
            <a:off x="5680471" y="1578441"/>
            <a:ext cx="1488600" cy="1146900"/>
          </a:xfrm>
          <a:prstGeom prst="straightConnector1">
            <a:avLst/>
          </a:prstGeom>
          <a:noFill/>
          <a:ln cap="flat" cmpd="sng" w="19050">
            <a:solidFill>
              <a:srgbClr val="FF00FF"/>
            </a:solidFill>
            <a:prstDash val="solid"/>
            <a:round/>
            <a:headEnd len="med" w="med" type="none"/>
            <a:tailEnd len="med" w="med" type="none"/>
          </a:ln>
        </p:spPr>
      </p:cxnSp>
      <p:cxnSp>
        <p:nvCxnSpPr>
          <p:cNvPr id="954" name="Google Shape;954;p90"/>
          <p:cNvCxnSpPr>
            <a:stCxn id="944" idx="3"/>
            <a:endCxn id="946" idx="0"/>
          </p:cNvCxnSpPr>
          <p:nvPr/>
        </p:nvCxnSpPr>
        <p:spPr>
          <a:xfrm flipH="1">
            <a:off x="6119671" y="1578441"/>
            <a:ext cx="1049400" cy="2053800"/>
          </a:xfrm>
          <a:prstGeom prst="straightConnector1">
            <a:avLst/>
          </a:prstGeom>
          <a:noFill/>
          <a:ln cap="flat" cmpd="sng" w="19050">
            <a:solidFill>
              <a:srgbClr val="FF00FF"/>
            </a:solidFill>
            <a:prstDash val="solid"/>
            <a:round/>
            <a:headEnd len="med" w="med" type="none"/>
            <a:tailEnd len="med" w="med" type="none"/>
          </a:ln>
        </p:spPr>
      </p:cxnSp>
      <p:cxnSp>
        <p:nvCxnSpPr>
          <p:cNvPr id="955" name="Google Shape;955;p90"/>
          <p:cNvCxnSpPr>
            <a:stCxn id="949" idx="4"/>
            <a:endCxn id="946" idx="0"/>
          </p:cNvCxnSpPr>
          <p:nvPr/>
        </p:nvCxnSpPr>
        <p:spPr>
          <a:xfrm>
            <a:off x="5680338" y="3230668"/>
            <a:ext cx="439500" cy="401400"/>
          </a:xfrm>
          <a:prstGeom prst="straightConnector1">
            <a:avLst/>
          </a:prstGeom>
          <a:noFill/>
          <a:ln cap="flat" cmpd="sng" w="19050">
            <a:solidFill>
              <a:srgbClr val="FF00FF"/>
            </a:solidFill>
            <a:prstDash val="solid"/>
            <a:round/>
            <a:headEnd len="med" w="med" type="none"/>
            <a:tailEnd len="med" w="med" type="none"/>
          </a:ln>
        </p:spPr>
      </p:cxnSp>
      <p:cxnSp>
        <p:nvCxnSpPr>
          <p:cNvPr id="956" name="Google Shape;956;p90"/>
          <p:cNvCxnSpPr>
            <a:stCxn id="948" idx="2"/>
            <a:endCxn id="947" idx="7"/>
          </p:cNvCxnSpPr>
          <p:nvPr/>
        </p:nvCxnSpPr>
        <p:spPr>
          <a:xfrm flipH="1">
            <a:off x="7403984" y="3884718"/>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957" name="Google Shape;957;p90"/>
          <p:cNvCxnSpPr>
            <a:stCxn id="943" idx="4"/>
            <a:endCxn id="946" idx="0"/>
          </p:cNvCxnSpPr>
          <p:nvPr/>
        </p:nvCxnSpPr>
        <p:spPr>
          <a:xfrm>
            <a:off x="6119713" y="1878668"/>
            <a:ext cx="0" cy="1753500"/>
          </a:xfrm>
          <a:prstGeom prst="straightConnector1">
            <a:avLst/>
          </a:prstGeom>
          <a:noFill/>
          <a:ln cap="flat" cmpd="sng" w="19050">
            <a:solidFill>
              <a:srgbClr val="FF00FF"/>
            </a:solidFill>
            <a:prstDash val="solid"/>
            <a:round/>
            <a:headEnd len="med" w="med" type="none"/>
            <a:tailEnd len="med" w="med" type="none"/>
          </a:ln>
        </p:spPr>
      </p:cxnSp>
      <p:cxnSp>
        <p:nvCxnSpPr>
          <p:cNvPr id="958" name="Google Shape;958;p90"/>
          <p:cNvCxnSpPr>
            <a:stCxn id="947" idx="1"/>
            <a:endCxn id="946" idx="6"/>
          </p:cNvCxnSpPr>
          <p:nvPr/>
        </p:nvCxnSpPr>
        <p:spPr>
          <a:xfrm rot="10800000">
            <a:off x="6398071" y="3884860"/>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959" name="Google Shape;959;p90"/>
          <p:cNvCxnSpPr>
            <a:stCxn id="950" idx="4"/>
            <a:endCxn id="948" idx="0"/>
          </p:cNvCxnSpPr>
          <p:nvPr/>
        </p:nvCxnSpPr>
        <p:spPr>
          <a:xfrm flipH="1">
            <a:off x="8294538" y="3007993"/>
            <a:ext cx="259500" cy="624000"/>
          </a:xfrm>
          <a:prstGeom prst="straightConnector1">
            <a:avLst/>
          </a:prstGeom>
          <a:noFill/>
          <a:ln cap="flat" cmpd="sng" w="19050">
            <a:solidFill>
              <a:srgbClr val="FF00FF"/>
            </a:solidFill>
            <a:prstDash val="solid"/>
            <a:round/>
            <a:headEnd len="med" w="med" type="none"/>
            <a:tailEnd len="med" w="med" type="none"/>
          </a:ln>
        </p:spPr>
      </p:cxnSp>
      <p:cxnSp>
        <p:nvCxnSpPr>
          <p:cNvPr id="960" name="Google Shape;960;p90"/>
          <p:cNvCxnSpPr>
            <a:stCxn id="950" idx="4"/>
            <a:endCxn id="946" idx="6"/>
          </p:cNvCxnSpPr>
          <p:nvPr/>
        </p:nvCxnSpPr>
        <p:spPr>
          <a:xfrm flipH="1">
            <a:off x="6397938" y="3007993"/>
            <a:ext cx="2156100" cy="876600"/>
          </a:xfrm>
          <a:prstGeom prst="straightConnector1">
            <a:avLst/>
          </a:prstGeom>
          <a:noFill/>
          <a:ln cap="flat" cmpd="sng" w="19050">
            <a:solidFill>
              <a:srgbClr val="FF00FF"/>
            </a:solidFill>
            <a:prstDash val="solid"/>
            <a:round/>
            <a:headEnd len="med" w="med" type="none"/>
            <a:tailEnd len="med" w="med" type="none"/>
          </a:ln>
        </p:spPr>
      </p:cxnSp>
      <p:cxnSp>
        <p:nvCxnSpPr>
          <p:cNvPr id="961" name="Google Shape;961;p90"/>
          <p:cNvCxnSpPr>
            <a:stCxn id="950" idx="4"/>
            <a:endCxn id="947" idx="7"/>
          </p:cNvCxnSpPr>
          <p:nvPr/>
        </p:nvCxnSpPr>
        <p:spPr>
          <a:xfrm flipH="1">
            <a:off x="7403838" y="3007993"/>
            <a:ext cx="1150200" cy="913800"/>
          </a:xfrm>
          <a:prstGeom prst="straightConnector1">
            <a:avLst/>
          </a:prstGeom>
          <a:noFill/>
          <a:ln cap="flat" cmpd="sng" w="19050">
            <a:solidFill>
              <a:srgbClr val="FF00FF"/>
            </a:solidFill>
            <a:prstDash val="solid"/>
            <a:round/>
            <a:headEnd len="med" w="med" type="none"/>
            <a:tailEnd len="med" w="med" type="none"/>
          </a:ln>
        </p:spPr>
      </p:cxnSp>
      <p:sp>
        <p:nvSpPr>
          <p:cNvPr id="962" name="Google Shape;962;p90"/>
          <p:cNvSpPr/>
          <p:nvPr/>
        </p:nvSpPr>
        <p:spPr>
          <a:xfrm>
            <a:off x="6867600"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cxnSp>
        <p:nvCxnSpPr>
          <p:cNvPr id="963" name="Google Shape;963;p90"/>
          <p:cNvCxnSpPr>
            <a:endCxn id="962" idx="1"/>
          </p:cNvCxnSpPr>
          <p:nvPr/>
        </p:nvCxnSpPr>
        <p:spPr>
          <a:xfrm>
            <a:off x="6316368" y="1804591"/>
            <a:ext cx="673500" cy="651600"/>
          </a:xfrm>
          <a:prstGeom prst="straightConnector1">
            <a:avLst/>
          </a:prstGeom>
          <a:noFill/>
          <a:ln cap="flat" cmpd="sng" w="28575">
            <a:solidFill>
              <a:srgbClr val="0000FF"/>
            </a:solidFill>
            <a:prstDash val="solid"/>
            <a:round/>
            <a:headEnd len="med" w="med" type="none"/>
            <a:tailEnd len="med" w="med" type="none"/>
          </a:ln>
        </p:spPr>
      </p:cxnSp>
      <p:cxnSp>
        <p:nvCxnSpPr>
          <p:cNvPr id="964" name="Google Shape;964;p90"/>
          <p:cNvCxnSpPr>
            <a:endCxn id="962" idx="2"/>
          </p:cNvCxnSpPr>
          <p:nvPr/>
        </p:nvCxnSpPr>
        <p:spPr>
          <a:xfrm flipH="1" rot="10800000">
            <a:off x="5958600" y="2750100"/>
            <a:ext cx="909000" cy="228000"/>
          </a:xfrm>
          <a:prstGeom prst="straightConnector1">
            <a:avLst/>
          </a:prstGeom>
          <a:noFill/>
          <a:ln cap="flat" cmpd="sng" w="28575">
            <a:solidFill>
              <a:srgbClr val="0000FF"/>
            </a:solidFill>
            <a:prstDash val="solid"/>
            <a:round/>
            <a:headEnd len="med" w="med" type="none"/>
            <a:tailEnd len="med" w="med" type="none"/>
          </a:ln>
        </p:spPr>
      </p:cxnSp>
      <p:cxnSp>
        <p:nvCxnSpPr>
          <p:cNvPr id="965" name="Google Shape;965;p90"/>
          <p:cNvCxnSpPr>
            <a:stCxn id="962" idx="3"/>
          </p:cNvCxnSpPr>
          <p:nvPr/>
        </p:nvCxnSpPr>
        <p:spPr>
          <a:xfrm flipH="1">
            <a:off x="6316368" y="3044009"/>
            <a:ext cx="673500" cy="662100"/>
          </a:xfrm>
          <a:prstGeom prst="straightConnector1">
            <a:avLst/>
          </a:prstGeom>
          <a:noFill/>
          <a:ln cap="flat" cmpd="sng" w="28575">
            <a:solidFill>
              <a:srgbClr val="0000FF"/>
            </a:solidFill>
            <a:prstDash val="solid"/>
            <a:round/>
            <a:headEnd len="med" w="med" type="none"/>
            <a:tailEnd len="med" w="med" type="none"/>
          </a:ln>
        </p:spPr>
      </p:cxnSp>
      <p:cxnSp>
        <p:nvCxnSpPr>
          <p:cNvPr id="966" name="Google Shape;966;p90"/>
          <p:cNvCxnSpPr>
            <a:stCxn id="962" idx="4"/>
          </p:cNvCxnSpPr>
          <p:nvPr/>
        </p:nvCxnSpPr>
        <p:spPr>
          <a:xfrm flipH="1">
            <a:off x="7207050" y="3165750"/>
            <a:ext cx="78000" cy="681900"/>
          </a:xfrm>
          <a:prstGeom prst="straightConnector1">
            <a:avLst/>
          </a:prstGeom>
          <a:noFill/>
          <a:ln cap="flat" cmpd="sng" w="28575">
            <a:solidFill>
              <a:srgbClr val="0000FF"/>
            </a:solidFill>
            <a:prstDash val="solid"/>
            <a:round/>
            <a:headEnd len="med" w="med" type="none"/>
            <a:tailEnd len="med" w="med" type="none"/>
          </a:ln>
        </p:spPr>
      </p:cxnSp>
      <p:cxnSp>
        <p:nvCxnSpPr>
          <p:cNvPr id="967" name="Google Shape;967;p90"/>
          <p:cNvCxnSpPr>
            <a:stCxn id="962" idx="5"/>
          </p:cNvCxnSpPr>
          <p:nvPr/>
        </p:nvCxnSpPr>
        <p:spPr>
          <a:xfrm>
            <a:off x="7580232" y="3044009"/>
            <a:ext cx="517500" cy="662100"/>
          </a:xfrm>
          <a:prstGeom prst="straightConnector1">
            <a:avLst/>
          </a:prstGeom>
          <a:noFill/>
          <a:ln cap="flat" cmpd="sng" w="28575">
            <a:solidFill>
              <a:srgbClr val="0000FF"/>
            </a:solidFill>
            <a:prstDash val="solid"/>
            <a:round/>
            <a:headEnd len="med" w="med" type="none"/>
            <a:tailEnd len="med" w="med" type="none"/>
          </a:ln>
        </p:spPr>
      </p:cxnSp>
      <p:cxnSp>
        <p:nvCxnSpPr>
          <p:cNvPr id="968" name="Google Shape;968;p90"/>
          <p:cNvCxnSpPr>
            <a:stCxn id="962" idx="6"/>
          </p:cNvCxnSpPr>
          <p:nvPr/>
        </p:nvCxnSpPr>
        <p:spPr>
          <a:xfrm>
            <a:off x="7702500" y="2750100"/>
            <a:ext cx="573300" cy="5400"/>
          </a:xfrm>
          <a:prstGeom prst="straightConnector1">
            <a:avLst/>
          </a:prstGeom>
          <a:noFill/>
          <a:ln cap="flat" cmpd="sng" w="28575">
            <a:solidFill>
              <a:srgbClr val="0000FF"/>
            </a:solidFill>
            <a:prstDash val="solid"/>
            <a:round/>
            <a:headEnd len="med" w="med" type="none"/>
            <a:tailEnd len="med" w="med" type="none"/>
          </a:ln>
        </p:spPr>
      </p:cxnSp>
      <p:cxnSp>
        <p:nvCxnSpPr>
          <p:cNvPr id="969" name="Google Shape;969;p90"/>
          <p:cNvCxnSpPr>
            <a:stCxn id="962" idx="7"/>
          </p:cNvCxnSpPr>
          <p:nvPr/>
        </p:nvCxnSpPr>
        <p:spPr>
          <a:xfrm flipH="1" rot="10800000">
            <a:off x="7580232" y="2083591"/>
            <a:ext cx="517500" cy="372600"/>
          </a:xfrm>
          <a:prstGeom prst="straightConnector1">
            <a:avLst/>
          </a:prstGeom>
          <a:noFill/>
          <a:ln cap="flat" cmpd="sng" w="28575">
            <a:solidFill>
              <a:srgbClr val="0000FF"/>
            </a:solidFill>
            <a:prstDash val="solid"/>
            <a:round/>
            <a:headEnd len="med" w="med" type="none"/>
            <a:tailEnd len="med" w="med" type="none"/>
          </a:ln>
        </p:spPr>
      </p:cxnSp>
      <p:cxnSp>
        <p:nvCxnSpPr>
          <p:cNvPr id="970" name="Google Shape;970;p90"/>
          <p:cNvCxnSpPr>
            <a:endCxn id="962" idx="0"/>
          </p:cNvCxnSpPr>
          <p:nvPr/>
        </p:nvCxnSpPr>
        <p:spPr>
          <a:xfrm flipH="1">
            <a:off x="7285050" y="1652550"/>
            <a:ext cx="80700" cy="6819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4" name="Shape 974"/>
        <p:cNvGrpSpPr/>
        <p:nvPr/>
      </p:nvGrpSpPr>
      <p:grpSpPr>
        <a:xfrm>
          <a:off x="0" y="0"/>
          <a:ext cx="0" cy="0"/>
          <a:chOff x="0" y="0"/>
          <a:chExt cx="0" cy="0"/>
        </a:xfrm>
      </p:grpSpPr>
      <p:sp>
        <p:nvSpPr>
          <p:cNvPr id="975" name="Google Shape;975;p9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976" name="Google Shape;976;p91"/>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i="1" lang="en"/>
              <a:t>“list the names of up to [X] [</a:t>
            </a:r>
            <a:r>
              <a:rPr i="1" lang="en">
                <a:solidFill>
                  <a:srgbClr val="FF0000"/>
                </a:solidFill>
              </a:rPr>
              <a:t>friends, co-workers, co-authors, pub-mates</a:t>
            </a:r>
            <a:r>
              <a:rPr i="1" lang="en"/>
              <a:t>, etc.]”</a:t>
            </a:r>
            <a:endParaRPr i="1"/>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i="1" lang="en"/>
              <a:t>“list the names of up to [X] of the people you most </a:t>
            </a:r>
            <a:r>
              <a:rPr i="1" lang="en">
                <a:solidFill>
                  <a:srgbClr val="FF0000"/>
                </a:solidFill>
              </a:rPr>
              <a:t>frequently interact </a:t>
            </a:r>
            <a:r>
              <a:rPr i="1" lang="en"/>
              <a:t>with</a:t>
            </a:r>
            <a:endParaRPr i="1"/>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i="1" lang="en"/>
              <a:t>“list the names of up to [X] of the people you [</a:t>
            </a:r>
            <a:r>
              <a:rPr i="1" lang="en">
                <a:solidFill>
                  <a:srgbClr val="FF0000"/>
                </a:solidFill>
              </a:rPr>
              <a:t>feel</a:t>
            </a:r>
            <a:r>
              <a:rPr i="1" lang="en"/>
              <a:t> </a:t>
            </a:r>
            <a:r>
              <a:rPr i="1" lang="en">
                <a:solidFill>
                  <a:srgbClr val="FF0000"/>
                </a:solidFill>
              </a:rPr>
              <a:t>closest to, trust most, etc.</a:t>
            </a:r>
            <a:r>
              <a:rPr i="1" lang="en"/>
              <a:t>]”</a:t>
            </a:r>
            <a:endParaRPr i="1"/>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i="1" lang="en"/>
              <a:t>“list the names of up to [X] of the people you would go to for [</a:t>
            </a:r>
            <a:r>
              <a:rPr i="1" lang="en">
                <a:solidFill>
                  <a:srgbClr val="FF0000"/>
                </a:solidFill>
              </a:rPr>
              <a:t>advice, financial support, etc</a:t>
            </a:r>
            <a:r>
              <a:rPr i="1" lang="en"/>
              <a:t>.]</a:t>
            </a:r>
            <a:endParaRPr i="1"/>
          </a:p>
          <a:p>
            <a:pPr indent="0" lvl="0" marL="457200" rtl="0" algn="l">
              <a:spcBef>
                <a:spcPts val="0"/>
              </a:spcBef>
              <a:spcAft>
                <a:spcPts val="0"/>
              </a:spcAft>
              <a:buNone/>
            </a:pPr>
            <a:r>
              <a:t/>
            </a:r>
            <a:endParaRPr/>
          </a:p>
        </p:txBody>
      </p:sp>
      <p:sp>
        <p:nvSpPr>
          <p:cNvPr id="977" name="Google Shape;977;p91"/>
          <p:cNvSpPr/>
          <p:nvPr/>
        </p:nvSpPr>
        <p:spPr>
          <a:xfrm>
            <a:off x="5841463" y="1373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978" name="Google Shape;978;p91"/>
          <p:cNvSpPr/>
          <p:nvPr/>
        </p:nvSpPr>
        <p:spPr>
          <a:xfrm>
            <a:off x="7087573" y="114722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979" name="Google Shape;979;p91"/>
          <p:cNvSpPr/>
          <p:nvPr/>
        </p:nvSpPr>
        <p:spPr>
          <a:xfrm>
            <a:off x="8016284" y="16524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980" name="Google Shape;980;p91"/>
          <p:cNvSpPr/>
          <p:nvPr/>
        </p:nvSpPr>
        <p:spPr>
          <a:xfrm>
            <a:off x="5841463"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981" name="Google Shape;981;p91"/>
          <p:cNvSpPr/>
          <p:nvPr/>
        </p:nvSpPr>
        <p:spPr>
          <a:xfrm>
            <a:off x="6928873" y="384777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982" name="Google Shape;982;p91"/>
          <p:cNvSpPr/>
          <p:nvPr/>
        </p:nvSpPr>
        <p:spPr>
          <a:xfrm>
            <a:off x="8016284"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983" name="Google Shape;983;p91"/>
          <p:cNvSpPr/>
          <p:nvPr/>
        </p:nvSpPr>
        <p:spPr>
          <a:xfrm>
            <a:off x="5402088" y="2725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984" name="Google Shape;984;p91"/>
          <p:cNvSpPr/>
          <p:nvPr/>
        </p:nvSpPr>
        <p:spPr>
          <a:xfrm>
            <a:off x="8275788" y="2502793"/>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985" name="Google Shape;985;p91"/>
          <p:cNvCxnSpPr>
            <a:stCxn id="977" idx="3"/>
            <a:endCxn id="983" idx="0"/>
          </p:cNvCxnSpPr>
          <p:nvPr/>
        </p:nvCxnSpPr>
        <p:spPr>
          <a:xfrm flipH="1">
            <a:off x="5680260" y="1804683"/>
            <a:ext cx="242700" cy="920700"/>
          </a:xfrm>
          <a:prstGeom prst="straightConnector1">
            <a:avLst/>
          </a:prstGeom>
          <a:noFill/>
          <a:ln cap="flat" cmpd="sng" w="19050">
            <a:solidFill>
              <a:srgbClr val="FF00FF"/>
            </a:solidFill>
            <a:prstDash val="solid"/>
            <a:round/>
            <a:headEnd len="med" w="med" type="none"/>
            <a:tailEnd len="med" w="med" type="none"/>
          </a:ln>
        </p:spPr>
      </p:cxnSp>
      <p:cxnSp>
        <p:nvCxnSpPr>
          <p:cNvPr id="986" name="Google Shape;986;p91"/>
          <p:cNvCxnSpPr>
            <a:stCxn id="978" idx="3"/>
            <a:endCxn id="977" idx="6"/>
          </p:cNvCxnSpPr>
          <p:nvPr/>
        </p:nvCxnSpPr>
        <p:spPr>
          <a:xfrm flipH="1">
            <a:off x="6398071" y="1578441"/>
            <a:ext cx="771000" cy="47700"/>
          </a:xfrm>
          <a:prstGeom prst="straightConnector1">
            <a:avLst/>
          </a:prstGeom>
          <a:noFill/>
          <a:ln cap="flat" cmpd="sng" w="19050">
            <a:solidFill>
              <a:srgbClr val="FF00FF"/>
            </a:solidFill>
            <a:prstDash val="solid"/>
            <a:round/>
            <a:headEnd len="med" w="med" type="none"/>
            <a:tailEnd len="med" w="med" type="none"/>
          </a:ln>
        </p:spPr>
      </p:cxnSp>
      <p:cxnSp>
        <p:nvCxnSpPr>
          <p:cNvPr id="987" name="Google Shape;987;p91"/>
          <p:cNvCxnSpPr>
            <a:stCxn id="978" idx="3"/>
            <a:endCxn id="983" idx="0"/>
          </p:cNvCxnSpPr>
          <p:nvPr/>
        </p:nvCxnSpPr>
        <p:spPr>
          <a:xfrm flipH="1">
            <a:off x="5680471" y="1578441"/>
            <a:ext cx="1488600" cy="1146900"/>
          </a:xfrm>
          <a:prstGeom prst="straightConnector1">
            <a:avLst/>
          </a:prstGeom>
          <a:noFill/>
          <a:ln cap="flat" cmpd="sng" w="19050">
            <a:solidFill>
              <a:srgbClr val="FF00FF"/>
            </a:solidFill>
            <a:prstDash val="solid"/>
            <a:round/>
            <a:headEnd len="med" w="med" type="none"/>
            <a:tailEnd len="med" w="med" type="none"/>
          </a:ln>
        </p:spPr>
      </p:cxnSp>
      <p:cxnSp>
        <p:nvCxnSpPr>
          <p:cNvPr id="988" name="Google Shape;988;p91"/>
          <p:cNvCxnSpPr>
            <a:stCxn id="978" idx="3"/>
            <a:endCxn id="980" idx="0"/>
          </p:cNvCxnSpPr>
          <p:nvPr/>
        </p:nvCxnSpPr>
        <p:spPr>
          <a:xfrm flipH="1">
            <a:off x="6119671" y="1578441"/>
            <a:ext cx="1049400" cy="2053800"/>
          </a:xfrm>
          <a:prstGeom prst="straightConnector1">
            <a:avLst/>
          </a:prstGeom>
          <a:noFill/>
          <a:ln cap="flat" cmpd="sng" w="19050">
            <a:solidFill>
              <a:srgbClr val="FF00FF"/>
            </a:solidFill>
            <a:prstDash val="solid"/>
            <a:round/>
            <a:headEnd len="med" w="med" type="none"/>
            <a:tailEnd len="med" w="med" type="none"/>
          </a:ln>
        </p:spPr>
      </p:cxnSp>
      <p:cxnSp>
        <p:nvCxnSpPr>
          <p:cNvPr id="989" name="Google Shape;989;p91"/>
          <p:cNvCxnSpPr>
            <a:stCxn id="983" idx="4"/>
            <a:endCxn id="980" idx="0"/>
          </p:cNvCxnSpPr>
          <p:nvPr/>
        </p:nvCxnSpPr>
        <p:spPr>
          <a:xfrm>
            <a:off x="5680338" y="3230668"/>
            <a:ext cx="439500" cy="401400"/>
          </a:xfrm>
          <a:prstGeom prst="straightConnector1">
            <a:avLst/>
          </a:prstGeom>
          <a:noFill/>
          <a:ln cap="flat" cmpd="sng" w="19050">
            <a:solidFill>
              <a:srgbClr val="FF00FF"/>
            </a:solidFill>
            <a:prstDash val="solid"/>
            <a:round/>
            <a:headEnd len="med" w="med" type="none"/>
            <a:tailEnd len="med" w="med" type="none"/>
          </a:ln>
        </p:spPr>
      </p:cxnSp>
      <p:cxnSp>
        <p:nvCxnSpPr>
          <p:cNvPr id="990" name="Google Shape;990;p91"/>
          <p:cNvCxnSpPr>
            <a:stCxn id="982" idx="2"/>
            <a:endCxn id="981" idx="7"/>
          </p:cNvCxnSpPr>
          <p:nvPr/>
        </p:nvCxnSpPr>
        <p:spPr>
          <a:xfrm flipH="1">
            <a:off x="7403984" y="3884718"/>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991" name="Google Shape;991;p91"/>
          <p:cNvCxnSpPr>
            <a:stCxn id="977" idx="4"/>
            <a:endCxn id="980" idx="0"/>
          </p:cNvCxnSpPr>
          <p:nvPr/>
        </p:nvCxnSpPr>
        <p:spPr>
          <a:xfrm>
            <a:off x="6119713" y="1878668"/>
            <a:ext cx="0" cy="1753500"/>
          </a:xfrm>
          <a:prstGeom prst="straightConnector1">
            <a:avLst/>
          </a:prstGeom>
          <a:noFill/>
          <a:ln cap="flat" cmpd="sng" w="19050">
            <a:solidFill>
              <a:srgbClr val="FF00FF"/>
            </a:solidFill>
            <a:prstDash val="solid"/>
            <a:round/>
            <a:headEnd len="med" w="med" type="none"/>
            <a:tailEnd len="med" w="med" type="none"/>
          </a:ln>
        </p:spPr>
      </p:cxnSp>
      <p:cxnSp>
        <p:nvCxnSpPr>
          <p:cNvPr id="992" name="Google Shape;992;p91"/>
          <p:cNvCxnSpPr>
            <a:stCxn id="981" idx="1"/>
            <a:endCxn id="980" idx="6"/>
          </p:cNvCxnSpPr>
          <p:nvPr/>
        </p:nvCxnSpPr>
        <p:spPr>
          <a:xfrm rot="10800000">
            <a:off x="6398071" y="3884860"/>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993" name="Google Shape;993;p91"/>
          <p:cNvCxnSpPr>
            <a:stCxn id="984" idx="4"/>
            <a:endCxn id="982" idx="0"/>
          </p:cNvCxnSpPr>
          <p:nvPr/>
        </p:nvCxnSpPr>
        <p:spPr>
          <a:xfrm flipH="1">
            <a:off x="8294538" y="3007993"/>
            <a:ext cx="259500" cy="624000"/>
          </a:xfrm>
          <a:prstGeom prst="straightConnector1">
            <a:avLst/>
          </a:prstGeom>
          <a:noFill/>
          <a:ln cap="flat" cmpd="sng" w="19050">
            <a:solidFill>
              <a:srgbClr val="FF00FF"/>
            </a:solidFill>
            <a:prstDash val="solid"/>
            <a:round/>
            <a:headEnd len="med" w="med" type="none"/>
            <a:tailEnd len="med" w="med" type="none"/>
          </a:ln>
        </p:spPr>
      </p:cxnSp>
      <p:cxnSp>
        <p:nvCxnSpPr>
          <p:cNvPr id="994" name="Google Shape;994;p91"/>
          <p:cNvCxnSpPr>
            <a:stCxn id="984" idx="4"/>
            <a:endCxn id="980" idx="6"/>
          </p:cNvCxnSpPr>
          <p:nvPr/>
        </p:nvCxnSpPr>
        <p:spPr>
          <a:xfrm flipH="1">
            <a:off x="6397938" y="3007993"/>
            <a:ext cx="2156100" cy="876600"/>
          </a:xfrm>
          <a:prstGeom prst="straightConnector1">
            <a:avLst/>
          </a:prstGeom>
          <a:noFill/>
          <a:ln cap="flat" cmpd="sng" w="19050">
            <a:solidFill>
              <a:srgbClr val="FF00FF"/>
            </a:solidFill>
            <a:prstDash val="solid"/>
            <a:round/>
            <a:headEnd len="med" w="med" type="none"/>
            <a:tailEnd len="med" w="med" type="none"/>
          </a:ln>
        </p:spPr>
      </p:cxnSp>
      <p:cxnSp>
        <p:nvCxnSpPr>
          <p:cNvPr id="995" name="Google Shape;995;p91"/>
          <p:cNvCxnSpPr>
            <a:stCxn id="984" idx="4"/>
            <a:endCxn id="981" idx="7"/>
          </p:cNvCxnSpPr>
          <p:nvPr/>
        </p:nvCxnSpPr>
        <p:spPr>
          <a:xfrm flipH="1">
            <a:off x="7403838" y="3007993"/>
            <a:ext cx="1150200" cy="913800"/>
          </a:xfrm>
          <a:prstGeom prst="straightConnector1">
            <a:avLst/>
          </a:prstGeom>
          <a:noFill/>
          <a:ln cap="flat" cmpd="sng" w="19050">
            <a:solidFill>
              <a:srgbClr val="FF00FF"/>
            </a:solidFill>
            <a:prstDash val="solid"/>
            <a:round/>
            <a:headEnd len="med" w="med" type="none"/>
            <a:tailEnd len="med" w="med" type="none"/>
          </a:ln>
        </p:spPr>
      </p:cxnSp>
      <p:sp>
        <p:nvSpPr>
          <p:cNvPr id="996" name="Google Shape;996;p91"/>
          <p:cNvSpPr/>
          <p:nvPr/>
        </p:nvSpPr>
        <p:spPr>
          <a:xfrm>
            <a:off x="6867600"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cxnSp>
        <p:nvCxnSpPr>
          <p:cNvPr id="997" name="Google Shape;997;p91"/>
          <p:cNvCxnSpPr>
            <a:endCxn id="996" idx="1"/>
          </p:cNvCxnSpPr>
          <p:nvPr/>
        </p:nvCxnSpPr>
        <p:spPr>
          <a:xfrm>
            <a:off x="6316368" y="1804591"/>
            <a:ext cx="673500" cy="651600"/>
          </a:xfrm>
          <a:prstGeom prst="straightConnector1">
            <a:avLst/>
          </a:prstGeom>
          <a:noFill/>
          <a:ln cap="flat" cmpd="sng" w="28575">
            <a:solidFill>
              <a:srgbClr val="0000FF"/>
            </a:solidFill>
            <a:prstDash val="solid"/>
            <a:round/>
            <a:headEnd len="med" w="med" type="none"/>
            <a:tailEnd len="med" w="med" type="none"/>
          </a:ln>
        </p:spPr>
      </p:cxnSp>
      <p:cxnSp>
        <p:nvCxnSpPr>
          <p:cNvPr id="998" name="Google Shape;998;p91"/>
          <p:cNvCxnSpPr>
            <a:endCxn id="996" idx="2"/>
          </p:cNvCxnSpPr>
          <p:nvPr/>
        </p:nvCxnSpPr>
        <p:spPr>
          <a:xfrm flipH="1" rot="10800000">
            <a:off x="5958600" y="2750100"/>
            <a:ext cx="909000" cy="228000"/>
          </a:xfrm>
          <a:prstGeom prst="straightConnector1">
            <a:avLst/>
          </a:prstGeom>
          <a:noFill/>
          <a:ln cap="flat" cmpd="sng" w="28575">
            <a:solidFill>
              <a:srgbClr val="0000FF"/>
            </a:solidFill>
            <a:prstDash val="solid"/>
            <a:round/>
            <a:headEnd len="med" w="med" type="none"/>
            <a:tailEnd len="med" w="med" type="none"/>
          </a:ln>
        </p:spPr>
      </p:cxnSp>
      <p:cxnSp>
        <p:nvCxnSpPr>
          <p:cNvPr id="999" name="Google Shape;999;p91"/>
          <p:cNvCxnSpPr>
            <a:stCxn id="996" idx="3"/>
          </p:cNvCxnSpPr>
          <p:nvPr/>
        </p:nvCxnSpPr>
        <p:spPr>
          <a:xfrm flipH="1">
            <a:off x="6316368" y="3044009"/>
            <a:ext cx="673500" cy="662100"/>
          </a:xfrm>
          <a:prstGeom prst="straightConnector1">
            <a:avLst/>
          </a:prstGeom>
          <a:noFill/>
          <a:ln cap="flat" cmpd="sng" w="28575">
            <a:solidFill>
              <a:srgbClr val="0000FF"/>
            </a:solidFill>
            <a:prstDash val="solid"/>
            <a:round/>
            <a:headEnd len="med" w="med" type="none"/>
            <a:tailEnd len="med" w="med" type="none"/>
          </a:ln>
        </p:spPr>
      </p:cxnSp>
      <p:cxnSp>
        <p:nvCxnSpPr>
          <p:cNvPr id="1000" name="Google Shape;1000;p91"/>
          <p:cNvCxnSpPr>
            <a:stCxn id="996" idx="4"/>
          </p:cNvCxnSpPr>
          <p:nvPr/>
        </p:nvCxnSpPr>
        <p:spPr>
          <a:xfrm flipH="1">
            <a:off x="7207050" y="3165750"/>
            <a:ext cx="78000" cy="681900"/>
          </a:xfrm>
          <a:prstGeom prst="straightConnector1">
            <a:avLst/>
          </a:prstGeom>
          <a:noFill/>
          <a:ln cap="flat" cmpd="sng" w="28575">
            <a:solidFill>
              <a:srgbClr val="0000FF"/>
            </a:solidFill>
            <a:prstDash val="solid"/>
            <a:round/>
            <a:headEnd len="med" w="med" type="none"/>
            <a:tailEnd len="med" w="med" type="none"/>
          </a:ln>
        </p:spPr>
      </p:cxnSp>
      <p:cxnSp>
        <p:nvCxnSpPr>
          <p:cNvPr id="1001" name="Google Shape;1001;p91"/>
          <p:cNvCxnSpPr>
            <a:stCxn id="996" idx="5"/>
          </p:cNvCxnSpPr>
          <p:nvPr/>
        </p:nvCxnSpPr>
        <p:spPr>
          <a:xfrm>
            <a:off x="7580232" y="3044009"/>
            <a:ext cx="517500" cy="662100"/>
          </a:xfrm>
          <a:prstGeom prst="straightConnector1">
            <a:avLst/>
          </a:prstGeom>
          <a:noFill/>
          <a:ln cap="flat" cmpd="sng" w="28575">
            <a:solidFill>
              <a:srgbClr val="0000FF"/>
            </a:solidFill>
            <a:prstDash val="solid"/>
            <a:round/>
            <a:headEnd len="med" w="med" type="none"/>
            <a:tailEnd len="med" w="med" type="none"/>
          </a:ln>
        </p:spPr>
      </p:cxnSp>
      <p:cxnSp>
        <p:nvCxnSpPr>
          <p:cNvPr id="1002" name="Google Shape;1002;p91"/>
          <p:cNvCxnSpPr>
            <a:stCxn id="996" idx="6"/>
          </p:cNvCxnSpPr>
          <p:nvPr/>
        </p:nvCxnSpPr>
        <p:spPr>
          <a:xfrm>
            <a:off x="7702500" y="2750100"/>
            <a:ext cx="573300" cy="5400"/>
          </a:xfrm>
          <a:prstGeom prst="straightConnector1">
            <a:avLst/>
          </a:prstGeom>
          <a:noFill/>
          <a:ln cap="flat" cmpd="sng" w="28575">
            <a:solidFill>
              <a:srgbClr val="0000FF"/>
            </a:solidFill>
            <a:prstDash val="solid"/>
            <a:round/>
            <a:headEnd len="med" w="med" type="none"/>
            <a:tailEnd len="med" w="med" type="none"/>
          </a:ln>
        </p:spPr>
      </p:cxnSp>
      <p:cxnSp>
        <p:nvCxnSpPr>
          <p:cNvPr id="1003" name="Google Shape;1003;p91"/>
          <p:cNvCxnSpPr>
            <a:stCxn id="996" idx="7"/>
          </p:cNvCxnSpPr>
          <p:nvPr/>
        </p:nvCxnSpPr>
        <p:spPr>
          <a:xfrm flipH="1" rot="10800000">
            <a:off x="7580232" y="2083591"/>
            <a:ext cx="517500" cy="372600"/>
          </a:xfrm>
          <a:prstGeom prst="straightConnector1">
            <a:avLst/>
          </a:prstGeom>
          <a:noFill/>
          <a:ln cap="flat" cmpd="sng" w="28575">
            <a:solidFill>
              <a:srgbClr val="0000FF"/>
            </a:solidFill>
            <a:prstDash val="solid"/>
            <a:round/>
            <a:headEnd len="med" w="med" type="none"/>
            <a:tailEnd len="med" w="med" type="none"/>
          </a:ln>
        </p:spPr>
      </p:cxnSp>
      <p:cxnSp>
        <p:nvCxnSpPr>
          <p:cNvPr id="1004" name="Google Shape;1004;p91"/>
          <p:cNvCxnSpPr>
            <a:endCxn id="996" idx="0"/>
          </p:cNvCxnSpPr>
          <p:nvPr/>
        </p:nvCxnSpPr>
        <p:spPr>
          <a:xfrm flipH="1">
            <a:off x="7285050" y="1652550"/>
            <a:ext cx="80700" cy="6819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8" name="Shape 1008"/>
        <p:cNvGrpSpPr/>
        <p:nvPr/>
      </p:nvGrpSpPr>
      <p:grpSpPr>
        <a:xfrm>
          <a:off x="0" y="0"/>
          <a:ext cx="0" cy="0"/>
          <a:chOff x="0" y="0"/>
          <a:chExt cx="0" cy="0"/>
        </a:xfrm>
      </p:grpSpPr>
      <p:sp>
        <p:nvSpPr>
          <p:cNvPr id="1009" name="Google Shape;1009;p9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010" name="Google Shape;1010;p92"/>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Famous examples:</a:t>
            </a:r>
            <a:endParaRPr/>
          </a:p>
          <a:p>
            <a:pPr indent="-317500" lvl="1" marL="914400" rtl="0" algn="l">
              <a:spcBef>
                <a:spcPts val="0"/>
              </a:spcBef>
              <a:spcAft>
                <a:spcPts val="0"/>
              </a:spcAft>
              <a:buSzPts val="1400"/>
              <a:buChar char="○"/>
            </a:pPr>
            <a:r>
              <a:rPr lang="en"/>
              <a:t>Wellman’s (1979) </a:t>
            </a:r>
            <a:r>
              <a:rPr i="1" lang="en"/>
              <a:t>East York Study</a:t>
            </a:r>
            <a:r>
              <a:rPr lang="en"/>
              <a:t>:</a:t>
            </a:r>
            <a:endParaRPr/>
          </a:p>
          <a:p>
            <a:pPr indent="-317500" lvl="2" marL="1371600" rtl="0" algn="l">
              <a:spcBef>
                <a:spcPts val="0"/>
              </a:spcBef>
              <a:spcAft>
                <a:spcPts val="0"/>
              </a:spcAft>
              <a:buSzPts val="1400"/>
              <a:buChar char="■"/>
            </a:pPr>
            <a:r>
              <a:rPr lang="en"/>
              <a:t>“Name the six persons outside your home that you feel closest to.”</a:t>
            </a:r>
            <a:endParaRPr/>
          </a:p>
          <a:p>
            <a:pPr indent="-317500" lvl="1" marL="914400" rtl="0" algn="l">
              <a:spcBef>
                <a:spcPts val="0"/>
              </a:spcBef>
              <a:spcAft>
                <a:spcPts val="0"/>
              </a:spcAft>
              <a:buSzPts val="1400"/>
              <a:buChar char="○"/>
            </a:pPr>
            <a:r>
              <a:rPr lang="en"/>
              <a:t>Fischer’s (1982) </a:t>
            </a:r>
            <a:r>
              <a:rPr i="1" lang="en"/>
              <a:t>Northern California Communities Study</a:t>
            </a:r>
            <a:r>
              <a:rPr lang="en"/>
              <a:t>:</a:t>
            </a:r>
            <a:endParaRPr/>
          </a:p>
          <a:p>
            <a:pPr indent="-317500" lvl="2" marL="1371600" rtl="0" algn="l">
              <a:spcBef>
                <a:spcPts val="0"/>
              </a:spcBef>
              <a:spcAft>
                <a:spcPts val="0"/>
              </a:spcAft>
              <a:buSzPts val="1400"/>
              <a:buChar char="■"/>
            </a:pPr>
            <a:r>
              <a:rPr lang="en"/>
              <a:t>“Name all persons who would provide any of eight types of aid”</a:t>
            </a:r>
            <a:endParaRPr/>
          </a:p>
          <a:p>
            <a:pPr indent="-317500" lvl="1" marL="914400" rtl="0" algn="l">
              <a:spcBef>
                <a:spcPts val="0"/>
              </a:spcBef>
              <a:spcAft>
                <a:spcPts val="0"/>
              </a:spcAft>
              <a:buSzPts val="1400"/>
              <a:buChar char="○"/>
            </a:pPr>
            <a:r>
              <a:rPr lang="en"/>
              <a:t>Marsden’s (1987) </a:t>
            </a:r>
            <a:r>
              <a:rPr i="1" lang="en"/>
              <a:t>General Social Survey</a:t>
            </a:r>
            <a:r>
              <a:rPr lang="en"/>
              <a:t>:</a:t>
            </a:r>
            <a:endParaRPr/>
          </a:p>
          <a:p>
            <a:pPr indent="-317500" lvl="2" marL="1371600" rtl="0" algn="l">
              <a:spcBef>
                <a:spcPts val="0"/>
              </a:spcBef>
              <a:spcAft>
                <a:spcPts val="0"/>
              </a:spcAft>
              <a:buSzPts val="1400"/>
              <a:buChar char="■"/>
            </a:pPr>
            <a:r>
              <a:rPr lang="en"/>
              <a:t>“Named all persons with whom you have discussed matters important to you”</a:t>
            </a:r>
            <a:endParaRPr/>
          </a:p>
          <a:p>
            <a:pPr indent="0" lvl="0" marL="457200" rtl="0" algn="l">
              <a:spcBef>
                <a:spcPts val="0"/>
              </a:spcBef>
              <a:spcAft>
                <a:spcPts val="0"/>
              </a:spcAft>
              <a:buNone/>
            </a:pPr>
            <a:r>
              <a:t/>
            </a:r>
            <a:endParaRPr/>
          </a:p>
        </p:txBody>
      </p:sp>
      <p:sp>
        <p:nvSpPr>
          <p:cNvPr id="1011" name="Google Shape;1011;p92"/>
          <p:cNvSpPr/>
          <p:nvPr/>
        </p:nvSpPr>
        <p:spPr>
          <a:xfrm>
            <a:off x="5841463" y="1373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a</a:t>
            </a:r>
            <a:endParaRPr b="1" sz="2400">
              <a:solidFill>
                <a:srgbClr val="FFFFFF"/>
              </a:solidFill>
              <a:latin typeface="Habibi"/>
              <a:ea typeface="Habibi"/>
              <a:cs typeface="Habibi"/>
              <a:sym typeface="Habibi"/>
            </a:endParaRPr>
          </a:p>
        </p:txBody>
      </p:sp>
      <p:sp>
        <p:nvSpPr>
          <p:cNvPr id="1012" name="Google Shape;1012;p92"/>
          <p:cNvSpPr/>
          <p:nvPr/>
        </p:nvSpPr>
        <p:spPr>
          <a:xfrm>
            <a:off x="7087573" y="114722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b</a:t>
            </a:r>
            <a:endParaRPr b="1" sz="2400">
              <a:solidFill>
                <a:srgbClr val="FFFFFF"/>
              </a:solidFill>
              <a:latin typeface="Habibi"/>
              <a:ea typeface="Habibi"/>
              <a:cs typeface="Habibi"/>
              <a:sym typeface="Habibi"/>
            </a:endParaRPr>
          </a:p>
        </p:txBody>
      </p:sp>
      <p:sp>
        <p:nvSpPr>
          <p:cNvPr id="1013" name="Google Shape;1013;p92"/>
          <p:cNvSpPr/>
          <p:nvPr/>
        </p:nvSpPr>
        <p:spPr>
          <a:xfrm>
            <a:off x="8016284" y="16524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c</a:t>
            </a:r>
            <a:endParaRPr b="1" sz="2400">
              <a:solidFill>
                <a:srgbClr val="FFFFFF"/>
              </a:solidFill>
              <a:latin typeface="Habibi"/>
              <a:ea typeface="Habibi"/>
              <a:cs typeface="Habibi"/>
              <a:sym typeface="Habibi"/>
            </a:endParaRPr>
          </a:p>
        </p:txBody>
      </p:sp>
      <p:sp>
        <p:nvSpPr>
          <p:cNvPr id="1014" name="Google Shape;1014;p92"/>
          <p:cNvSpPr/>
          <p:nvPr/>
        </p:nvSpPr>
        <p:spPr>
          <a:xfrm>
            <a:off x="5841463"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g</a:t>
            </a:r>
            <a:endParaRPr b="1" sz="2400">
              <a:solidFill>
                <a:srgbClr val="FFFFFF"/>
              </a:solidFill>
              <a:latin typeface="Habibi"/>
              <a:ea typeface="Habibi"/>
              <a:cs typeface="Habibi"/>
              <a:sym typeface="Habibi"/>
            </a:endParaRPr>
          </a:p>
        </p:txBody>
      </p:sp>
      <p:sp>
        <p:nvSpPr>
          <p:cNvPr id="1015" name="Google Shape;1015;p92"/>
          <p:cNvSpPr/>
          <p:nvPr/>
        </p:nvSpPr>
        <p:spPr>
          <a:xfrm>
            <a:off x="6928873" y="3847776"/>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f</a:t>
            </a:r>
            <a:endParaRPr b="1" sz="2400">
              <a:solidFill>
                <a:srgbClr val="FFFFFF"/>
              </a:solidFill>
              <a:latin typeface="Habibi"/>
              <a:ea typeface="Habibi"/>
              <a:cs typeface="Habibi"/>
              <a:sym typeface="Habibi"/>
            </a:endParaRPr>
          </a:p>
        </p:txBody>
      </p:sp>
      <p:sp>
        <p:nvSpPr>
          <p:cNvPr id="1016" name="Google Shape;1016;p92"/>
          <p:cNvSpPr/>
          <p:nvPr/>
        </p:nvSpPr>
        <p:spPr>
          <a:xfrm>
            <a:off x="8016284" y="363211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e</a:t>
            </a:r>
            <a:endParaRPr b="1" sz="2400">
              <a:solidFill>
                <a:srgbClr val="FFFFFF"/>
              </a:solidFill>
              <a:latin typeface="Habibi"/>
              <a:ea typeface="Habibi"/>
              <a:cs typeface="Habibi"/>
              <a:sym typeface="Habibi"/>
            </a:endParaRPr>
          </a:p>
        </p:txBody>
      </p:sp>
      <p:sp>
        <p:nvSpPr>
          <p:cNvPr id="1017" name="Google Shape;1017;p92"/>
          <p:cNvSpPr/>
          <p:nvPr/>
        </p:nvSpPr>
        <p:spPr>
          <a:xfrm>
            <a:off x="5402088" y="2725468"/>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h</a:t>
            </a:r>
            <a:endParaRPr b="1" sz="2400">
              <a:solidFill>
                <a:srgbClr val="FFFFFF"/>
              </a:solidFill>
              <a:latin typeface="Habibi"/>
              <a:ea typeface="Habibi"/>
              <a:cs typeface="Habibi"/>
              <a:sym typeface="Habibi"/>
            </a:endParaRPr>
          </a:p>
        </p:txBody>
      </p:sp>
      <p:sp>
        <p:nvSpPr>
          <p:cNvPr id="1018" name="Google Shape;1018;p92"/>
          <p:cNvSpPr/>
          <p:nvPr/>
        </p:nvSpPr>
        <p:spPr>
          <a:xfrm>
            <a:off x="8275788" y="2502793"/>
            <a:ext cx="556500" cy="5052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Habibi"/>
                <a:ea typeface="Habibi"/>
                <a:cs typeface="Habibi"/>
                <a:sym typeface="Habibi"/>
              </a:rPr>
              <a:t>d</a:t>
            </a:r>
            <a:endParaRPr b="1" sz="2400">
              <a:solidFill>
                <a:srgbClr val="FFFFFF"/>
              </a:solidFill>
              <a:latin typeface="Habibi"/>
              <a:ea typeface="Habibi"/>
              <a:cs typeface="Habibi"/>
              <a:sym typeface="Habibi"/>
            </a:endParaRPr>
          </a:p>
        </p:txBody>
      </p:sp>
      <p:cxnSp>
        <p:nvCxnSpPr>
          <p:cNvPr id="1019" name="Google Shape;1019;p92"/>
          <p:cNvCxnSpPr>
            <a:stCxn id="1011" idx="3"/>
            <a:endCxn id="1017" idx="0"/>
          </p:cNvCxnSpPr>
          <p:nvPr/>
        </p:nvCxnSpPr>
        <p:spPr>
          <a:xfrm flipH="1">
            <a:off x="5680260" y="1804683"/>
            <a:ext cx="242700" cy="920700"/>
          </a:xfrm>
          <a:prstGeom prst="straightConnector1">
            <a:avLst/>
          </a:prstGeom>
          <a:noFill/>
          <a:ln cap="flat" cmpd="sng" w="19050">
            <a:solidFill>
              <a:srgbClr val="FF00FF"/>
            </a:solidFill>
            <a:prstDash val="solid"/>
            <a:round/>
            <a:headEnd len="med" w="med" type="none"/>
            <a:tailEnd len="med" w="med" type="none"/>
          </a:ln>
        </p:spPr>
      </p:cxnSp>
      <p:cxnSp>
        <p:nvCxnSpPr>
          <p:cNvPr id="1020" name="Google Shape;1020;p92"/>
          <p:cNvCxnSpPr>
            <a:stCxn id="1012" idx="3"/>
            <a:endCxn id="1011" idx="6"/>
          </p:cNvCxnSpPr>
          <p:nvPr/>
        </p:nvCxnSpPr>
        <p:spPr>
          <a:xfrm flipH="1">
            <a:off x="6398071" y="1578441"/>
            <a:ext cx="771000" cy="47700"/>
          </a:xfrm>
          <a:prstGeom prst="straightConnector1">
            <a:avLst/>
          </a:prstGeom>
          <a:noFill/>
          <a:ln cap="flat" cmpd="sng" w="19050">
            <a:solidFill>
              <a:srgbClr val="FF00FF"/>
            </a:solidFill>
            <a:prstDash val="solid"/>
            <a:round/>
            <a:headEnd len="med" w="med" type="none"/>
            <a:tailEnd len="med" w="med" type="none"/>
          </a:ln>
        </p:spPr>
      </p:cxnSp>
      <p:cxnSp>
        <p:nvCxnSpPr>
          <p:cNvPr id="1021" name="Google Shape;1021;p92"/>
          <p:cNvCxnSpPr>
            <a:stCxn id="1012" idx="3"/>
            <a:endCxn id="1017" idx="0"/>
          </p:cNvCxnSpPr>
          <p:nvPr/>
        </p:nvCxnSpPr>
        <p:spPr>
          <a:xfrm flipH="1">
            <a:off x="5680471" y="1578441"/>
            <a:ext cx="1488600" cy="1146900"/>
          </a:xfrm>
          <a:prstGeom prst="straightConnector1">
            <a:avLst/>
          </a:prstGeom>
          <a:noFill/>
          <a:ln cap="flat" cmpd="sng" w="19050">
            <a:solidFill>
              <a:srgbClr val="FF00FF"/>
            </a:solidFill>
            <a:prstDash val="solid"/>
            <a:round/>
            <a:headEnd len="med" w="med" type="none"/>
            <a:tailEnd len="med" w="med" type="none"/>
          </a:ln>
        </p:spPr>
      </p:cxnSp>
      <p:cxnSp>
        <p:nvCxnSpPr>
          <p:cNvPr id="1022" name="Google Shape;1022;p92"/>
          <p:cNvCxnSpPr>
            <a:stCxn id="1012" idx="3"/>
            <a:endCxn id="1014" idx="0"/>
          </p:cNvCxnSpPr>
          <p:nvPr/>
        </p:nvCxnSpPr>
        <p:spPr>
          <a:xfrm flipH="1">
            <a:off x="6119671" y="1578441"/>
            <a:ext cx="1049400" cy="2053800"/>
          </a:xfrm>
          <a:prstGeom prst="straightConnector1">
            <a:avLst/>
          </a:prstGeom>
          <a:noFill/>
          <a:ln cap="flat" cmpd="sng" w="19050">
            <a:solidFill>
              <a:srgbClr val="FF00FF"/>
            </a:solidFill>
            <a:prstDash val="solid"/>
            <a:round/>
            <a:headEnd len="med" w="med" type="none"/>
            <a:tailEnd len="med" w="med" type="none"/>
          </a:ln>
        </p:spPr>
      </p:cxnSp>
      <p:cxnSp>
        <p:nvCxnSpPr>
          <p:cNvPr id="1023" name="Google Shape;1023;p92"/>
          <p:cNvCxnSpPr>
            <a:stCxn id="1017" idx="4"/>
            <a:endCxn id="1014" idx="0"/>
          </p:cNvCxnSpPr>
          <p:nvPr/>
        </p:nvCxnSpPr>
        <p:spPr>
          <a:xfrm>
            <a:off x="5680338" y="3230668"/>
            <a:ext cx="439500" cy="401400"/>
          </a:xfrm>
          <a:prstGeom prst="straightConnector1">
            <a:avLst/>
          </a:prstGeom>
          <a:noFill/>
          <a:ln cap="flat" cmpd="sng" w="19050">
            <a:solidFill>
              <a:srgbClr val="FF00FF"/>
            </a:solidFill>
            <a:prstDash val="solid"/>
            <a:round/>
            <a:headEnd len="med" w="med" type="none"/>
            <a:tailEnd len="med" w="med" type="none"/>
          </a:ln>
        </p:spPr>
      </p:cxnSp>
      <p:cxnSp>
        <p:nvCxnSpPr>
          <p:cNvPr id="1024" name="Google Shape;1024;p92"/>
          <p:cNvCxnSpPr>
            <a:stCxn id="1016" idx="2"/>
            <a:endCxn id="1015" idx="7"/>
          </p:cNvCxnSpPr>
          <p:nvPr/>
        </p:nvCxnSpPr>
        <p:spPr>
          <a:xfrm flipH="1">
            <a:off x="7403984" y="3884718"/>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1025" name="Google Shape;1025;p92"/>
          <p:cNvCxnSpPr>
            <a:stCxn id="1011" idx="4"/>
            <a:endCxn id="1014" idx="0"/>
          </p:cNvCxnSpPr>
          <p:nvPr/>
        </p:nvCxnSpPr>
        <p:spPr>
          <a:xfrm>
            <a:off x="6119713" y="1878668"/>
            <a:ext cx="0" cy="1753500"/>
          </a:xfrm>
          <a:prstGeom prst="straightConnector1">
            <a:avLst/>
          </a:prstGeom>
          <a:noFill/>
          <a:ln cap="flat" cmpd="sng" w="19050">
            <a:solidFill>
              <a:srgbClr val="FF00FF"/>
            </a:solidFill>
            <a:prstDash val="solid"/>
            <a:round/>
            <a:headEnd len="med" w="med" type="none"/>
            <a:tailEnd len="med" w="med" type="none"/>
          </a:ln>
        </p:spPr>
      </p:cxnSp>
      <p:cxnSp>
        <p:nvCxnSpPr>
          <p:cNvPr id="1026" name="Google Shape;1026;p92"/>
          <p:cNvCxnSpPr>
            <a:stCxn id="1015" idx="1"/>
            <a:endCxn id="1014" idx="6"/>
          </p:cNvCxnSpPr>
          <p:nvPr/>
        </p:nvCxnSpPr>
        <p:spPr>
          <a:xfrm rot="10800000">
            <a:off x="6398071" y="3884860"/>
            <a:ext cx="612300" cy="36900"/>
          </a:xfrm>
          <a:prstGeom prst="straightConnector1">
            <a:avLst/>
          </a:prstGeom>
          <a:noFill/>
          <a:ln cap="flat" cmpd="sng" w="19050">
            <a:solidFill>
              <a:srgbClr val="FF00FF"/>
            </a:solidFill>
            <a:prstDash val="solid"/>
            <a:round/>
            <a:headEnd len="med" w="med" type="none"/>
            <a:tailEnd len="med" w="med" type="none"/>
          </a:ln>
        </p:spPr>
      </p:cxnSp>
      <p:cxnSp>
        <p:nvCxnSpPr>
          <p:cNvPr id="1027" name="Google Shape;1027;p92"/>
          <p:cNvCxnSpPr>
            <a:stCxn id="1018" idx="4"/>
            <a:endCxn id="1016" idx="0"/>
          </p:cNvCxnSpPr>
          <p:nvPr/>
        </p:nvCxnSpPr>
        <p:spPr>
          <a:xfrm flipH="1">
            <a:off x="8294538" y="3007993"/>
            <a:ext cx="259500" cy="624000"/>
          </a:xfrm>
          <a:prstGeom prst="straightConnector1">
            <a:avLst/>
          </a:prstGeom>
          <a:noFill/>
          <a:ln cap="flat" cmpd="sng" w="19050">
            <a:solidFill>
              <a:srgbClr val="FF00FF"/>
            </a:solidFill>
            <a:prstDash val="solid"/>
            <a:round/>
            <a:headEnd len="med" w="med" type="none"/>
            <a:tailEnd len="med" w="med" type="none"/>
          </a:ln>
        </p:spPr>
      </p:cxnSp>
      <p:cxnSp>
        <p:nvCxnSpPr>
          <p:cNvPr id="1028" name="Google Shape;1028;p92"/>
          <p:cNvCxnSpPr>
            <a:stCxn id="1018" idx="4"/>
            <a:endCxn id="1014" idx="6"/>
          </p:cNvCxnSpPr>
          <p:nvPr/>
        </p:nvCxnSpPr>
        <p:spPr>
          <a:xfrm flipH="1">
            <a:off x="6397938" y="3007993"/>
            <a:ext cx="2156100" cy="876600"/>
          </a:xfrm>
          <a:prstGeom prst="straightConnector1">
            <a:avLst/>
          </a:prstGeom>
          <a:noFill/>
          <a:ln cap="flat" cmpd="sng" w="19050">
            <a:solidFill>
              <a:srgbClr val="FF00FF"/>
            </a:solidFill>
            <a:prstDash val="solid"/>
            <a:round/>
            <a:headEnd len="med" w="med" type="none"/>
            <a:tailEnd len="med" w="med" type="none"/>
          </a:ln>
        </p:spPr>
      </p:cxnSp>
      <p:cxnSp>
        <p:nvCxnSpPr>
          <p:cNvPr id="1029" name="Google Shape;1029;p92"/>
          <p:cNvCxnSpPr>
            <a:stCxn id="1018" idx="4"/>
            <a:endCxn id="1015" idx="7"/>
          </p:cNvCxnSpPr>
          <p:nvPr/>
        </p:nvCxnSpPr>
        <p:spPr>
          <a:xfrm flipH="1">
            <a:off x="7403838" y="3007993"/>
            <a:ext cx="1150200" cy="913800"/>
          </a:xfrm>
          <a:prstGeom prst="straightConnector1">
            <a:avLst/>
          </a:prstGeom>
          <a:noFill/>
          <a:ln cap="flat" cmpd="sng" w="19050">
            <a:solidFill>
              <a:srgbClr val="FF00FF"/>
            </a:solidFill>
            <a:prstDash val="solid"/>
            <a:round/>
            <a:headEnd len="med" w="med" type="none"/>
            <a:tailEnd len="med" w="med" type="none"/>
          </a:ln>
        </p:spPr>
      </p:cxnSp>
      <p:sp>
        <p:nvSpPr>
          <p:cNvPr id="1030" name="Google Shape;1030;p92"/>
          <p:cNvSpPr/>
          <p:nvPr/>
        </p:nvSpPr>
        <p:spPr>
          <a:xfrm>
            <a:off x="6867600" y="2334450"/>
            <a:ext cx="834900" cy="8313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cxnSp>
        <p:nvCxnSpPr>
          <p:cNvPr id="1031" name="Google Shape;1031;p92"/>
          <p:cNvCxnSpPr>
            <a:endCxn id="1030" idx="1"/>
          </p:cNvCxnSpPr>
          <p:nvPr/>
        </p:nvCxnSpPr>
        <p:spPr>
          <a:xfrm>
            <a:off x="6316368" y="1804591"/>
            <a:ext cx="673500" cy="651600"/>
          </a:xfrm>
          <a:prstGeom prst="straightConnector1">
            <a:avLst/>
          </a:prstGeom>
          <a:noFill/>
          <a:ln cap="flat" cmpd="sng" w="28575">
            <a:solidFill>
              <a:srgbClr val="0000FF"/>
            </a:solidFill>
            <a:prstDash val="solid"/>
            <a:round/>
            <a:headEnd len="med" w="med" type="none"/>
            <a:tailEnd len="med" w="med" type="none"/>
          </a:ln>
        </p:spPr>
      </p:cxnSp>
      <p:cxnSp>
        <p:nvCxnSpPr>
          <p:cNvPr id="1032" name="Google Shape;1032;p92"/>
          <p:cNvCxnSpPr>
            <a:endCxn id="1030" idx="2"/>
          </p:cNvCxnSpPr>
          <p:nvPr/>
        </p:nvCxnSpPr>
        <p:spPr>
          <a:xfrm flipH="1" rot="10800000">
            <a:off x="5958600" y="2750100"/>
            <a:ext cx="909000" cy="228000"/>
          </a:xfrm>
          <a:prstGeom prst="straightConnector1">
            <a:avLst/>
          </a:prstGeom>
          <a:noFill/>
          <a:ln cap="flat" cmpd="sng" w="28575">
            <a:solidFill>
              <a:srgbClr val="0000FF"/>
            </a:solidFill>
            <a:prstDash val="solid"/>
            <a:round/>
            <a:headEnd len="med" w="med" type="none"/>
            <a:tailEnd len="med" w="med" type="none"/>
          </a:ln>
        </p:spPr>
      </p:cxnSp>
      <p:cxnSp>
        <p:nvCxnSpPr>
          <p:cNvPr id="1033" name="Google Shape;1033;p92"/>
          <p:cNvCxnSpPr>
            <a:stCxn id="1030" idx="3"/>
          </p:cNvCxnSpPr>
          <p:nvPr/>
        </p:nvCxnSpPr>
        <p:spPr>
          <a:xfrm flipH="1">
            <a:off x="6316368" y="3044009"/>
            <a:ext cx="673500" cy="662100"/>
          </a:xfrm>
          <a:prstGeom prst="straightConnector1">
            <a:avLst/>
          </a:prstGeom>
          <a:noFill/>
          <a:ln cap="flat" cmpd="sng" w="28575">
            <a:solidFill>
              <a:srgbClr val="0000FF"/>
            </a:solidFill>
            <a:prstDash val="solid"/>
            <a:round/>
            <a:headEnd len="med" w="med" type="none"/>
            <a:tailEnd len="med" w="med" type="none"/>
          </a:ln>
        </p:spPr>
      </p:cxnSp>
      <p:cxnSp>
        <p:nvCxnSpPr>
          <p:cNvPr id="1034" name="Google Shape;1034;p92"/>
          <p:cNvCxnSpPr>
            <a:stCxn id="1030" idx="4"/>
          </p:cNvCxnSpPr>
          <p:nvPr/>
        </p:nvCxnSpPr>
        <p:spPr>
          <a:xfrm flipH="1">
            <a:off x="7207050" y="3165750"/>
            <a:ext cx="78000" cy="681900"/>
          </a:xfrm>
          <a:prstGeom prst="straightConnector1">
            <a:avLst/>
          </a:prstGeom>
          <a:noFill/>
          <a:ln cap="flat" cmpd="sng" w="28575">
            <a:solidFill>
              <a:srgbClr val="0000FF"/>
            </a:solidFill>
            <a:prstDash val="solid"/>
            <a:round/>
            <a:headEnd len="med" w="med" type="none"/>
            <a:tailEnd len="med" w="med" type="none"/>
          </a:ln>
        </p:spPr>
      </p:cxnSp>
      <p:cxnSp>
        <p:nvCxnSpPr>
          <p:cNvPr id="1035" name="Google Shape;1035;p92"/>
          <p:cNvCxnSpPr>
            <a:stCxn id="1030" idx="5"/>
          </p:cNvCxnSpPr>
          <p:nvPr/>
        </p:nvCxnSpPr>
        <p:spPr>
          <a:xfrm>
            <a:off x="7580232" y="3044009"/>
            <a:ext cx="517500" cy="662100"/>
          </a:xfrm>
          <a:prstGeom prst="straightConnector1">
            <a:avLst/>
          </a:prstGeom>
          <a:noFill/>
          <a:ln cap="flat" cmpd="sng" w="28575">
            <a:solidFill>
              <a:srgbClr val="0000FF"/>
            </a:solidFill>
            <a:prstDash val="solid"/>
            <a:round/>
            <a:headEnd len="med" w="med" type="none"/>
            <a:tailEnd len="med" w="med" type="none"/>
          </a:ln>
        </p:spPr>
      </p:cxnSp>
      <p:cxnSp>
        <p:nvCxnSpPr>
          <p:cNvPr id="1036" name="Google Shape;1036;p92"/>
          <p:cNvCxnSpPr>
            <a:stCxn id="1030" idx="6"/>
          </p:cNvCxnSpPr>
          <p:nvPr/>
        </p:nvCxnSpPr>
        <p:spPr>
          <a:xfrm>
            <a:off x="7702500" y="2750100"/>
            <a:ext cx="573300" cy="5400"/>
          </a:xfrm>
          <a:prstGeom prst="straightConnector1">
            <a:avLst/>
          </a:prstGeom>
          <a:noFill/>
          <a:ln cap="flat" cmpd="sng" w="28575">
            <a:solidFill>
              <a:srgbClr val="0000FF"/>
            </a:solidFill>
            <a:prstDash val="solid"/>
            <a:round/>
            <a:headEnd len="med" w="med" type="none"/>
            <a:tailEnd len="med" w="med" type="none"/>
          </a:ln>
        </p:spPr>
      </p:cxnSp>
      <p:cxnSp>
        <p:nvCxnSpPr>
          <p:cNvPr id="1037" name="Google Shape;1037;p92"/>
          <p:cNvCxnSpPr>
            <a:stCxn id="1030" idx="7"/>
          </p:cNvCxnSpPr>
          <p:nvPr/>
        </p:nvCxnSpPr>
        <p:spPr>
          <a:xfrm flipH="1" rot="10800000">
            <a:off x="7580232" y="2083591"/>
            <a:ext cx="517500" cy="372600"/>
          </a:xfrm>
          <a:prstGeom prst="straightConnector1">
            <a:avLst/>
          </a:prstGeom>
          <a:noFill/>
          <a:ln cap="flat" cmpd="sng" w="28575">
            <a:solidFill>
              <a:srgbClr val="0000FF"/>
            </a:solidFill>
            <a:prstDash val="solid"/>
            <a:round/>
            <a:headEnd len="med" w="med" type="none"/>
            <a:tailEnd len="med" w="med" type="none"/>
          </a:ln>
        </p:spPr>
      </p:cxnSp>
      <p:cxnSp>
        <p:nvCxnSpPr>
          <p:cNvPr id="1038" name="Google Shape;1038;p92"/>
          <p:cNvCxnSpPr>
            <a:endCxn id="1030" idx="0"/>
          </p:cNvCxnSpPr>
          <p:nvPr/>
        </p:nvCxnSpPr>
        <p:spPr>
          <a:xfrm flipH="1">
            <a:off x="7285050" y="1652550"/>
            <a:ext cx="80700" cy="6819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2" name="Shape 1042"/>
        <p:cNvGrpSpPr/>
        <p:nvPr/>
      </p:nvGrpSpPr>
      <p:grpSpPr>
        <a:xfrm>
          <a:off x="0" y="0"/>
          <a:ext cx="0" cy="0"/>
          <a:chOff x="0" y="0"/>
          <a:chExt cx="0" cy="0"/>
        </a:xfrm>
      </p:grpSpPr>
      <p:sp>
        <p:nvSpPr>
          <p:cNvPr id="1043" name="Google Shape;1043;p9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44" name="Google Shape;1044;p93"/>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b="1" lang="en"/>
              <a:t>Relationship to the organization</a:t>
            </a:r>
            <a:endParaRPr b="1"/>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0"/>
              </a:spcBef>
              <a:spcAft>
                <a:spcPts val="1600"/>
              </a:spcAft>
              <a:buNone/>
            </a:pPr>
            <a:r>
              <a:t/>
            </a:r>
            <a:endParaRPr/>
          </a:p>
        </p:txBody>
      </p:sp>
      <p:pic>
        <p:nvPicPr>
          <p:cNvPr id="1045" name="Google Shape;1045;p93"/>
          <p:cNvPicPr preferRelativeResize="0"/>
          <p:nvPr/>
        </p:nvPicPr>
        <p:blipFill>
          <a:blip r:embed="rId3">
            <a:alphaModFix/>
          </a:blip>
          <a:stretch>
            <a:fillRect/>
          </a:stretch>
        </p:blipFill>
        <p:spPr>
          <a:xfrm>
            <a:off x="4950000" y="1182588"/>
            <a:ext cx="3889199" cy="343927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9" name="Shape 1049"/>
        <p:cNvGrpSpPr/>
        <p:nvPr/>
      </p:nvGrpSpPr>
      <p:grpSpPr>
        <a:xfrm>
          <a:off x="0" y="0"/>
          <a:ext cx="0" cy="0"/>
          <a:chOff x="0" y="0"/>
          <a:chExt cx="0" cy="0"/>
        </a:xfrm>
      </p:grpSpPr>
      <p:sp>
        <p:nvSpPr>
          <p:cNvPr id="1050" name="Google Shape;1050;p9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51" name="Google Shape;1051;p94"/>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b="1" lang="en"/>
              <a:t>Sex/Gender</a:t>
            </a:r>
            <a:endParaRPr b="1"/>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0"/>
              </a:spcBef>
              <a:spcAft>
                <a:spcPts val="1600"/>
              </a:spcAft>
              <a:buNone/>
            </a:pPr>
            <a:r>
              <a:t/>
            </a:r>
            <a:endParaRPr/>
          </a:p>
        </p:txBody>
      </p:sp>
      <p:pic>
        <p:nvPicPr>
          <p:cNvPr id="1052" name="Google Shape;1052;p94"/>
          <p:cNvPicPr preferRelativeResize="0"/>
          <p:nvPr/>
        </p:nvPicPr>
        <p:blipFill>
          <a:blip r:embed="rId3">
            <a:alphaModFix/>
          </a:blip>
          <a:stretch>
            <a:fillRect/>
          </a:stretch>
        </p:blipFill>
        <p:spPr>
          <a:xfrm>
            <a:off x="5102400" y="1299625"/>
            <a:ext cx="3889200" cy="334341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6" name="Shape 1056"/>
        <p:cNvGrpSpPr/>
        <p:nvPr/>
      </p:nvGrpSpPr>
      <p:grpSpPr>
        <a:xfrm>
          <a:off x="0" y="0"/>
          <a:ext cx="0" cy="0"/>
          <a:chOff x="0" y="0"/>
          <a:chExt cx="0" cy="0"/>
        </a:xfrm>
      </p:grpSpPr>
      <p:sp>
        <p:nvSpPr>
          <p:cNvPr id="1057" name="Google Shape;1057;p9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58" name="Google Shape;1058;p95"/>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b="1" lang="en"/>
              <a:t>Race</a:t>
            </a:r>
            <a:endParaRPr b="1"/>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0"/>
              </a:spcBef>
              <a:spcAft>
                <a:spcPts val="1600"/>
              </a:spcAft>
              <a:buNone/>
            </a:pPr>
            <a:r>
              <a:t/>
            </a:r>
            <a:endParaRPr/>
          </a:p>
        </p:txBody>
      </p:sp>
      <p:pic>
        <p:nvPicPr>
          <p:cNvPr id="1059" name="Google Shape;1059;p95"/>
          <p:cNvPicPr preferRelativeResize="0"/>
          <p:nvPr/>
        </p:nvPicPr>
        <p:blipFill>
          <a:blip r:embed="rId3">
            <a:alphaModFix/>
          </a:blip>
          <a:stretch>
            <a:fillRect/>
          </a:stretch>
        </p:blipFill>
        <p:spPr>
          <a:xfrm>
            <a:off x="5102400" y="1299625"/>
            <a:ext cx="3889202" cy="331816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3" name="Shape 1063"/>
        <p:cNvGrpSpPr/>
        <p:nvPr/>
      </p:nvGrpSpPr>
      <p:grpSpPr>
        <a:xfrm>
          <a:off x="0" y="0"/>
          <a:ext cx="0" cy="0"/>
          <a:chOff x="0" y="0"/>
          <a:chExt cx="0" cy="0"/>
        </a:xfrm>
      </p:grpSpPr>
      <p:sp>
        <p:nvSpPr>
          <p:cNvPr id="1064" name="Google Shape;1064;p9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65" name="Google Shape;1065;p96"/>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b="1" lang="en"/>
              <a:t>Religion</a:t>
            </a:r>
            <a:endParaRPr b="1"/>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0"/>
              </a:spcBef>
              <a:spcAft>
                <a:spcPts val="1600"/>
              </a:spcAft>
              <a:buNone/>
            </a:pPr>
            <a:r>
              <a:t/>
            </a:r>
            <a:endParaRPr/>
          </a:p>
        </p:txBody>
      </p:sp>
      <p:pic>
        <p:nvPicPr>
          <p:cNvPr id="1066" name="Google Shape;1066;p96"/>
          <p:cNvPicPr preferRelativeResize="0"/>
          <p:nvPr/>
        </p:nvPicPr>
        <p:blipFill>
          <a:blip r:embed="rId3">
            <a:alphaModFix/>
          </a:blip>
          <a:stretch>
            <a:fillRect/>
          </a:stretch>
        </p:blipFill>
        <p:spPr>
          <a:xfrm>
            <a:off x="5102400" y="1299625"/>
            <a:ext cx="3889200" cy="2953337"/>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0" name="Shape 1070"/>
        <p:cNvGrpSpPr/>
        <p:nvPr/>
      </p:nvGrpSpPr>
      <p:grpSpPr>
        <a:xfrm>
          <a:off x="0" y="0"/>
          <a:ext cx="0" cy="0"/>
          <a:chOff x="0" y="0"/>
          <a:chExt cx="0" cy="0"/>
        </a:xfrm>
      </p:grpSpPr>
      <p:sp>
        <p:nvSpPr>
          <p:cNvPr id="1071" name="Google Shape;1071;p9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72" name="Google Shape;1072;p97"/>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Loving, exciting, significant,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0"/>
              </a:spcBef>
              <a:spcAft>
                <a:spcPts val="1600"/>
              </a:spcAft>
              <a:buNone/>
            </a:pPr>
            <a:r>
              <a:t/>
            </a:r>
            <a:endParaRPr/>
          </a:p>
        </p:txBody>
      </p:sp>
      <p:pic>
        <p:nvPicPr>
          <p:cNvPr id="1073" name="Google Shape;1073;p97"/>
          <p:cNvPicPr preferRelativeResize="0"/>
          <p:nvPr/>
        </p:nvPicPr>
        <p:blipFill>
          <a:blip r:embed="rId3">
            <a:alphaModFix/>
          </a:blip>
          <a:stretch>
            <a:fillRect/>
          </a:stretch>
        </p:blipFill>
        <p:spPr>
          <a:xfrm>
            <a:off x="4950000" y="1165975"/>
            <a:ext cx="3889199" cy="347249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7" name="Shape 1077"/>
        <p:cNvGrpSpPr/>
        <p:nvPr/>
      </p:nvGrpSpPr>
      <p:grpSpPr>
        <a:xfrm>
          <a:off x="0" y="0"/>
          <a:ext cx="0" cy="0"/>
          <a:chOff x="0" y="0"/>
          <a:chExt cx="0" cy="0"/>
        </a:xfrm>
      </p:grpSpPr>
      <p:sp>
        <p:nvSpPr>
          <p:cNvPr id="1078" name="Google Shape;1078;p9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79" name="Google Shape;1079;p98"/>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0"/>
              </a:spcBef>
              <a:spcAft>
                <a:spcPts val="1600"/>
              </a:spcAft>
              <a:buNone/>
            </a:pPr>
            <a:r>
              <a:t/>
            </a:r>
            <a:endParaRPr/>
          </a:p>
        </p:txBody>
      </p:sp>
      <p:pic>
        <p:nvPicPr>
          <p:cNvPr id="1080" name="Google Shape;1080;p98"/>
          <p:cNvPicPr preferRelativeResize="0"/>
          <p:nvPr/>
        </p:nvPicPr>
        <p:blipFill>
          <a:blip r:embed="rId3">
            <a:alphaModFix/>
          </a:blip>
          <a:stretch>
            <a:fillRect/>
          </a:stretch>
        </p:blipFill>
        <p:spPr>
          <a:xfrm>
            <a:off x="5102400" y="1299625"/>
            <a:ext cx="3889199" cy="305233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4" name="Shape 1084"/>
        <p:cNvGrpSpPr/>
        <p:nvPr/>
      </p:nvGrpSpPr>
      <p:grpSpPr>
        <a:xfrm>
          <a:off x="0" y="0"/>
          <a:ext cx="0" cy="0"/>
          <a:chOff x="0" y="0"/>
          <a:chExt cx="0" cy="0"/>
        </a:xfrm>
      </p:grpSpPr>
      <p:sp>
        <p:nvSpPr>
          <p:cNvPr id="1085" name="Google Shape;1085;p9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86" name="Google Shape;1086;p99"/>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0"/>
              </a:spcBef>
              <a:spcAft>
                <a:spcPts val="1600"/>
              </a:spcAft>
              <a:buNone/>
            </a:pPr>
            <a:r>
              <a:t/>
            </a:r>
            <a:endParaRPr/>
          </a:p>
        </p:txBody>
      </p:sp>
      <p:pic>
        <p:nvPicPr>
          <p:cNvPr id="1087" name="Google Shape;1087;p99"/>
          <p:cNvPicPr preferRelativeResize="0"/>
          <p:nvPr/>
        </p:nvPicPr>
        <p:blipFill>
          <a:blip r:embed="rId3">
            <a:alphaModFix/>
          </a:blip>
          <a:stretch>
            <a:fillRect/>
          </a:stretch>
        </p:blipFill>
        <p:spPr>
          <a:xfrm>
            <a:off x="4950000" y="1056488"/>
            <a:ext cx="3709660" cy="369147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1" name="Shape 1091"/>
        <p:cNvGrpSpPr/>
        <p:nvPr/>
      </p:nvGrpSpPr>
      <p:grpSpPr>
        <a:xfrm>
          <a:off x="0" y="0"/>
          <a:ext cx="0" cy="0"/>
          <a:chOff x="0" y="0"/>
          <a:chExt cx="0" cy="0"/>
        </a:xfrm>
      </p:grpSpPr>
      <p:sp>
        <p:nvSpPr>
          <p:cNvPr id="1092" name="Google Shape;1092;p10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093" name="Google Shape;1093;p100"/>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Relationship age or duration</a:t>
            </a:r>
            <a:endParaRPr b="1"/>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0"/>
              </a:spcBef>
              <a:spcAft>
                <a:spcPts val="1600"/>
              </a:spcAft>
              <a:buNone/>
            </a:pPr>
            <a:r>
              <a:t/>
            </a:r>
            <a:endParaRPr/>
          </a:p>
        </p:txBody>
      </p:sp>
      <p:pic>
        <p:nvPicPr>
          <p:cNvPr id="1094" name="Google Shape;1094;p100"/>
          <p:cNvPicPr preferRelativeResize="0"/>
          <p:nvPr/>
        </p:nvPicPr>
        <p:blipFill>
          <a:blip r:embed="rId3">
            <a:alphaModFix/>
          </a:blip>
          <a:stretch>
            <a:fillRect/>
          </a:stretch>
        </p:blipFill>
        <p:spPr>
          <a:xfrm>
            <a:off x="5073600" y="1299625"/>
            <a:ext cx="3918001" cy="303453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8" name="Shape 1098"/>
        <p:cNvGrpSpPr/>
        <p:nvPr/>
      </p:nvGrpSpPr>
      <p:grpSpPr>
        <a:xfrm>
          <a:off x="0" y="0"/>
          <a:ext cx="0" cy="0"/>
          <a:chOff x="0" y="0"/>
          <a:chExt cx="0" cy="0"/>
        </a:xfrm>
      </p:grpSpPr>
      <p:sp>
        <p:nvSpPr>
          <p:cNvPr id="1099" name="Google Shape;1099;p10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100" name="Google Shape;1100;p101"/>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b="1" lang="en"/>
              <a:t>Subjective similarity</a:t>
            </a:r>
            <a:endParaRPr b="1"/>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0"/>
              </a:spcBef>
              <a:spcAft>
                <a:spcPts val="1600"/>
              </a:spcAft>
              <a:buNone/>
            </a:pPr>
            <a:r>
              <a:t/>
            </a:r>
            <a:endParaRPr/>
          </a:p>
        </p:txBody>
      </p:sp>
      <p:pic>
        <p:nvPicPr>
          <p:cNvPr id="1101" name="Google Shape;1101;p101"/>
          <p:cNvPicPr preferRelativeResize="0"/>
          <p:nvPr/>
        </p:nvPicPr>
        <p:blipFill>
          <a:blip r:embed="rId3">
            <a:alphaModFix/>
          </a:blip>
          <a:stretch>
            <a:fillRect/>
          </a:stretch>
        </p:blipFill>
        <p:spPr>
          <a:xfrm>
            <a:off x="4921200" y="1525163"/>
            <a:ext cx="3918001" cy="2093178"/>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05" name="Shape 1105"/>
        <p:cNvGrpSpPr/>
        <p:nvPr/>
      </p:nvGrpSpPr>
      <p:grpSpPr>
        <a:xfrm>
          <a:off x="0" y="0"/>
          <a:ext cx="0" cy="0"/>
          <a:chOff x="0" y="0"/>
          <a:chExt cx="0" cy="0"/>
        </a:xfrm>
      </p:grpSpPr>
      <p:sp>
        <p:nvSpPr>
          <p:cNvPr id="1106" name="Google Shape;1106;p10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107" name="Google Shape;1107;p102"/>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b="1" lang="en"/>
              <a:t>Similarities/Matching in Cultural Pursuits</a:t>
            </a:r>
            <a:endParaRPr b="1"/>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0"/>
              </a:spcBef>
              <a:spcAft>
                <a:spcPts val="1600"/>
              </a:spcAft>
              <a:buNone/>
            </a:pPr>
            <a:r>
              <a:t/>
            </a:r>
            <a:endParaRPr/>
          </a:p>
        </p:txBody>
      </p:sp>
      <p:pic>
        <p:nvPicPr>
          <p:cNvPr id="1108" name="Google Shape;1108;p102"/>
          <p:cNvPicPr preferRelativeResize="0"/>
          <p:nvPr/>
        </p:nvPicPr>
        <p:blipFill>
          <a:blip r:embed="rId3">
            <a:alphaModFix/>
          </a:blip>
          <a:stretch>
            <a:fillRect/>
          </a:stretch>
        </p:blipFill>
        <p:spPr>
          <a:xfrm>
            <a:off x="5073600" y="1299625"/>
            <a:ext cx="3918000" cy="303284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2" name="Shape 1112"/>
        <p:cNvGrpSpPr/>
        <p:nvPr/>
      </p:nvGrpSpPr>
      <p:grpSpPr>
        <a:xfrm>
          <a:off x="0" y="0"/>
          <a:ext cx="0" cy="0"/>
          <a:chOff x="0" y="0"/>
          <a:chExt cx="0" cy="0"/>
        </a:xfrm>
      </p:grpSpPr>
      <p:sp>
        <p:nvSpPr>
          <p:cNvPr id="1113" name="Google Shape;1113;p10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1114" name="Google Shape;1114;p10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 you know anyone who is a/an….”</a:t>
            </a:r>
            <a:endParaRPr/>
          </a:p>
          <a:p>
            <a:pPr indent="-317500" lvl="1" marL="914400" rtl="0" algn="l">
              <a:spcBef>
                <a:spcPts val="0"/>
              </a:spcBef>
              <a:spcAft>
                <a:spcPts val="0"/>
              </a:spcAft>
              <a:buSzPts val="1400"/>
              <a:buChar char="○"/>
            </a:pPr>
            <a:r>
              <a:rPr i="1" lang="en"/>
              <a:t>Lawyer</a:t>
            </a:r>
            <a:endParaRPr i="1"/>
          </a:p>
          <a:p>
            <a:pPr indent="-317500" lvl="1" marL="914400" rtl="0" algn="l">
              <a:spcBef>
                <a:spcPts val="0"/>
              </a:spcBef>
              <a:spcAft>
                <a:spcPts val="0"/>
              </a:spcAft>
              <a:buSzPts val="1400"/>
              <a:buChar char="○"/>
            </a:pPr>
            <a:r>
              <a:rPr i="1" lang="en"/>
              <a:t>Doctor</a:t>
            </a:r>
            <a:endParaRPr i="1"/>
          </a:p>
          <a:p>
            <a:pPr indent="-317500" lvl="1" marL="914400" rtl="0" algn="l">
              <a:spcBef>
                <a:spcPts val="0"/>
              </a:spcBef>
              <a:spcAft>
                <a:spcPts val="0"/>
              </a:spcAft>
              <a:buSzPts val="1400"/>
              <a:buChar char="○"/>
            </a:pPr>
            <a:r>
              <a:rPr i="1" lang="en"/>
              <a:t>Mechanic</a:t>
            </a:r>
            <a:endParaRPr i="1"/>
          </a:p>
          <a:p>
            <a:pPr indent="-317500" lvl="1" marL="914400" rtl="0" algn="l">
              <a:spcBef>
                <a:spcPts val="0"/>
              </a:spcBef>
              <a:spcAft>
                <a:spcPts val="0"/>
              </a:spcAft>
              <a:buSzPts val="1400"/>
              <a:buChar char="○"/>
            </a:pPr>
            <a:r>
              <a:rPr i="1" lang="en"/>
              <a:t>Teacher</a:t>
            </a:r>
            <a:endParaRPr i="1"/>
          </a:p>
          <a:p>
            <a:pPr indent="-317500" lvl="1" marL="914400" rtl="0" algn="l">
              <a:spcBef>
                <a:spcPts val="0"/>
              </a:spcBef>
              <a:spcAft>
                <a:spcPts val="0"/>
              </a:spcAft>
              <a:buSzPts val="1400"/>
              <a:buChar char="○"/>
            </a:pPr>
            <a:r>
              <a:rPr i="1" lang="en"/>
              <a:t>Secretary</a:t>
            </a:r>
            <a:endParaRPr i="1"/>
          </a:p>
          <a:p>
            <a:pPr indent="-317500" lvl="1" marL="914400" rtl="0" algn="l">
              <a:spcBef>
                <a:spcPts val="0"/>
              </a:spcBef>
              <a:spcAft>
                <a:spcPts val="0"/>
              </a:spcAft>
              <a:buSzPts val="1400"/>
              <a:buChar char="○"/>
            </a:pPr>
            <a:r>
              <a:rPr i="1" lang="en"/>
              <a:t>Haridresser</a:t>
            </a:r>
            <a:endParaRPr i="1"/>
          </a:p>
          <a:p>
            <a:pPr indent="-317500" lvl="1" marL="914400" rtl="0" algn="l">
              <a:spcBef>
                <a:spcPts val="0"/>
              </a:spcBef>
              <a:spcAft>
                <a:spcPts val="0"/>
              </a:spcAft>
              <a:buSzPts val="1400"/>
              <a:buChar char="○"/>
            </a:pPr>
            <a:r>
              <a:rPr i="1" lang="en"/>
              <a:t>Cook</a:t>
            </a:r>
            <a:endParaRPr i="1"/>
          </a:p>
          <a:p>
            <a:pPr indent="-317500" lvl="1" marL="914400" rtl="0" algn="l">
              <a:spcBef>
                <a:spcPts val="0"/>
              </a:spcBef>
              <a:spcAft>
                <a:spcPts val="0"/>
              </a:spcAft>
              <a:buSzPts val="1400"/>
              <a:buChar char="○"/>
            </a:pPr>
            <a:r>
              <a:rPr i="1" lang="en"/>
              <a:t>Farmer</a:t>
            </a:r>
            <a:endParaRPr i="1"/>
          </a:p>
          <a:p>
            <a:pPr indent="-317500" lvl="1" marL="914400" rtl="0" algn="l">
              <a:spcBef>
                <a:spcPts val="0"/>
              </a:spcBef>
              <a:spcAft>
                <a:spcPts val="0"/>
              </a:spcAft>
              <a:buSzPts val="1400"/>
              <a:buChar char="○"/>
            </a:pPr>
            <a:r>
              <a:rPr i="1" lang="en"/>
              <a:t>Mailman</a:t>
            </a:r>
            <a:endParaRPr i="1"/>
          </a:p>
          <a:p>
            <a:pPr indent="-317500" lvl="1" marL="914400" rtl="0" algn="l">
              <a:spcBef>
                <a:spcPts val="0"/>
              </a:spcBef>
              <a:spcAft>
                <a:spcPts val="0"/>
              </a:spcAft>
              <a:buSzPts val="1400"/>
              <a:buChar char="○"/>
            </a:pPr>
            <a:r>
              <a:rPr i="1" lang="en"/>
              <a:t>Policeman</a:t>
            </a:r>
            <a:endParaRPr i="1"/>
          </a:p>
          <a:p>
            <a:pPr indent="-317500" lvl="1" marL="914400" rtl="0" algn="l">
              <a:spcBef>
                <a:spcPts val="0"/>
              </a:spcBef>
              <a:spcAft>
                <a:spcPts val="0"/>
              </a:spcAft>
              <a:buSzPts val="1400"/>
              <a:buChar char="○"/>
            </a:pPr>
            <a:r>
              <a:rPr i="1" lang="en"/>
              <a:t>[...] And whatever other occupations you can imagine</a:t>
            </a:r>
            <a:endParaRPr i="1"/>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8" name="Shape 1118"/>
        <p:cNvGrpSpPr/>
        <p:nvPr/>
      </p:nvGrpSpPr>
      <p:grpSpPr>
        <a:xfrm>
          <a:off x="0" y="0"/>
          <a:ext cx="0" cy="0"/>
          <a:chOff x="0" y="0"/>
          <a:chExt cx="0" cy="0"/>
        </a:xfrm>
      </p:grpSpPr>
      <p:sp>
        <p:nvSpPr>
          <p:cNvPr id="1119" name="Google Shape;1119;p10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pic>
        <p:nvPicPr>
          <p:cNvPr id="1120" name="Google Shape;1120;p104"/>
          <p:cNvPicPr preferRelativeResize="0"/>
          <p:nvPr/>
        </p:nvPicPr>
        <p:blipFill>
          <a:blip r:embed="rId3">
            <a:alphaModFix/>
          </a:blip>
          <a:stretch>
            <a:fillRect/>
          </a:stretch>
        </p:blipFill>
        <p:spPr>
          <a:xfrm>
            <a:off x="152400" y="1299625"/>
            <a:ext cx="8839199" cy="3346823"/>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4" name="Shape 1124"/>
        <p:cNvGrpSpPr/>
        <p:nvPr/>
      </p:nvGrpSpPr>
      <p:grpSpPr>
        <a:xfrm>
          <a:off x="0" y="0"/>
          <a:ext cx="0" cy="0"/>
          <a:chOff x="0" y="0"/>
          <a:chExt cx="0" cy="0"/>
        </a:xfrm>
      </p:grpSpPr>
      <p:sp>
        <p:nvSpPr>
          <p:cNvPr id="1125" name="Google Shape;1125;p10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1126" name="Google Shape;1126;p10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“Do you know anyone who…”</a:t>
            </a:r>
            <a:endParaRPr/>
          </a:p>
          <a:p>
            <a:pPr indent="-317500" lvl="1" marL="914400" rtl="0" algn="l">
              <a:spcBef>
                <a:spcPts val="0"/>
              </a:spcBef>
              <a:spcAft>
                <a:spcPts val="0"/>
              </a:spcAft>
              <a:buSzPts val="1400"/>
              <a:buChar char="○"/>
            </a:pPr>
            <a:r>
              <a:rPr i="1" lang="en"/>
              <a:t>Can repair a car, bike, etc. </a:t>
            </a:r>
            <a:endParaRPr i="1"/>
          </a:p>
          <a:p>
            <a:pPr indent="-317500" lvl="1" marL="914400" rtl="0" algn="l">
              <a:spcBef>
                <a:spcPts val="0"/>
              </a:spcBef>
              <a:spcAft>
                <a:spcPts val="0"/>
              </a:spcAft>
              <a:buSzPts val="1400"/>
              <a:buChar char="○"/>
            </a:pPr>
            <a:r>
              <a:rPr i="1" lang="en"/>
              <a:t>Is handy repairing household equipment </a:t>
            </a:r>
            <a:endParaRPr i="1"/>
          </a:p>
          <a:p>
            <a:pPr indent="-317500" lvl="1" marL="914400" rtl="0" algn="l">
              <a:spcBef>
                <a:spcPts val="0"/>
              </a:spcBef>
              <a:spcAft>
                <a:spcPts val="0"/>
              </a:spcAft>
              <a:buSzPts val="1400"/>
              <a:buChar char="○"/>
            </a:pPr>
            <a:r>
              <a:rPr i="1" lang="en"/>
              <a:t>Can </a:t>
            </a:r>
            <a:r>
              <a:rPr i="1" lang="en"/>
              <a:t>sp</a:t>
            </a:r>
            <a:r>
              <a:rPr i="1" lang="en"/>
              <a:t>eak and write a foreign language </a:t>
            </a:r>
            <a:endParaRPr i="1"/>
          </a:p>
          <a:p>
            <a:pPr indent="-317500" lvl="1" marL="914400" rtl="0" algn="l">
              <a:spcBef>
                <a:spcPts val="0"/>
              </a:spcBef>
              <a:spcAft>
                <a:spcPts val="0"/>
              </a:spcAft>
              <a:buSzPts val="1400"/>
              <a:buChar char="○"/>
            </a:pPr>
            <a:r>
              <a:rPr i="1" lang="en"/>
              <a:t>Can work with a personal computer </a:t>
            </a:r>
            <a:endParaRPr i="1"/>
          </a:p>
          <a:p>
            <a:pPr indent="-317500" lvl="1" marL="914400" rtl="0" algn="l">
              <a:spcBef>
                <a:spcPts val="0"/>
              </a:spcBef>
              <a:spcAft>
                <a:spcPts val="0"/>
              </a:spcAft>
              <a:buSzPts val="1400"/>
              <a:buChar char="○"/>
            </a:pPr>
            <a:r>
              <a:rPr i="1" lang="en"/>
              <a:t>Has good contacts with a new</a:t>
            </a:r>
            <a:r>
              <a:rPr i="1" lang="en"/>
              <a:t>sp</a:t>
            </a:r>
            <a:r>
              <a:rPr i="1" lang="en"/>
              <a:t>aper, radio or TV station</a:t>
            </a:r>
            <a:endParaRPr i="1"/>
          </a:p>
          <a:p>
            <a:pPr indent="-317500" lvl="1" marL="914400" rtl="0" algn="l">
              <a:spcBef>
                <a:spcPts val="0"/>
              </a:spcBef>
              <a:spcAft>
                <a:spcPts val="0"/>
              </a:spcAft>
              <a:buSzPts val="1400"/>
              <a:buChar char="○"/>
            </a:pPr>
            <a:r>
              <a:rPr i="1" lang="en"/>
              <a:t>Has knowledge about financial matters (taxes, subsidies)</a:t>
            </a:r>
            <a:endParaRPr i="1"/>
          </a:p>
          <a:p>
            <a:pPr indent="-317500" lvl="1" marL="914400" rtl="0" algn="l">
              <a:spcBef>
                <a:spcPts val="0"/>
              </a:spcBef>
              <a:spcAft>
                <a:spcPts val="0"/>
              </a:spcAft>
              <a:buSzPts val="1400"/>
              <a:buChar char="○"/>
            </a:pPr>
            <a:r>
              <a:rPr i="1" lang="en"/>
              <a:t>Can give advice concerning a conflict at work</a:t>
            </a:r>
            <a:endParaRPr i="1"/>
          </a:p>
          <a:p>
            <a:pPr indent="-317500" lvl="1" marL="914400" rtl="0" algn="l">
              <a:spcBef>
                <a:spcPts val="0"/>
              </a:spcBef>
              <a:spcAft>
                <a:spcPts val="0"/>
              </a:spcAft>
              <a:buSzPts val="1400"/>
              <a:buChar char="○"/>
            </a:pPr>
            <a:r>
              <a:rPr i="1" lang="en"/>
              <a:t>Can help when moving house (packing, lifting)</a:t>
            </a:r>
            <a:endParaRPr i="1"/>
          </a:p>
          <a:p>
            <a:pPr indent="-317500" lvl="1" marL="914400" rtl="0" algn="l">
              <a:spcBef>
                <a:spcPts val="0"/>
              </a:spcBef>
              <a:spcAft>
                <a:spcPts val="0"/>
              </a:spcAft>
              <a:buSzPts val="1400"/>
              <a:buChar char="○"/>
            </a:pPr>
            <a:r>
              <a:rPr i="1" lang="en"/>
              <a:t>Can help with small jobs around the house (carpentering, painting)</a:t>
            </a:r>
            <a:endParaRPr i="1"/>
          </a:p>
          <a:p>
            <a:pPr indent="-317500" lvl="1" marL="914400" rtl="0" algn="l">
              <a:spcBef>
                <a:spcPts val="0"/>
              </a:spcBef>
              <a:spcAft>
                <a:spcPts val="0"/>
              </a:spcAft>
              <a:buSzPts val="1400"/>
              <a:buChar char="○"/>
            </a:pPr>
            <a:r>
              <a:rPr i="1" lang="en"/>
              <a:t>[...] And whatever else you can imagine</a:t>
            </a:r>
            <a:endParaRPr i="1"/>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0" name="Shape 1130"/>
        <p:cNvGrpSpPr/>
        <p:nvPr/>
      </p:nvGrpSpPr>
      <p:grpSpPr>
        <a:xfrm>
          <a:off x="0" y="0"/>
          <a:ext cx="0" cy="0"/>
          <a:chOff x="0" y="0"/>
          <a:chExt cx="0" cy="0"/>
        </a:xfrm>
      </p:grpSpPr>
      <p:sp>
        <p:nvSpPr>
          <p:cNvPr id="1131" name="Google Shape;1131;p10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pic>
        <p:nvPicPr>
          <p:cNvPr id="1132" name="Google Shape;1132;p106"/>
          <p:cNvPicPr preferRelativeResize="0"/>
          <p:nvPr/>
        </p:nvPicPr>
        <p:blipFill>
          <a:blip r:embed="rId3">
            <a:alphaModFix/>
          </a:blip>
          <a:stretch>
            <a:fillRect/>
          </a:stretch>
        </p:blipFill>
        <p:spPr>
          <a:xfrm>
            <a:off x="1216413" y="1147225"/>
            <a:ext cx="6711179" cy="36914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6" name="Shape 1136"/>
        <p:cNvGrpSpPr/>
        <p:nvPr/>
      </p:nvGrpSpPr>
      <p:grpSpPr>
        <a:xfrm>
          <a:off x="0" y="0"/>
          <a:ext cx="0" cy="0"/>
          <a:chOff x="0" y="0"/>
          <a:chExt cx="0" cy="0"/>
        </a:xfrm>
      </p:grpSpPr>
      <p:sp>
        <p:nvSpPr>
          <p:cNvPr id="1137" name="Google Shape;1137;p10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a:t>
            </a:r>
            <a:endParaRPr/>
          </a:p>
        </p:txBody>
      </p:sp>
      <p:sp>
        <p:nvSpPr>
          <p:cNvPr id="1138" name="Google Shape;1138;p107"/>
          <p:cNvSpPr txBox="1"/>
          <p:nvPr>
            <p:ph idx="1" type="body"/>
          </p:nvPr>
        </p:nvSpPr>
        <p:spPr>
          <a:xfrm>
            <a:off x="311700" y="1225225"/>
            <a:ext cx="496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Often it is useful to associate numerical values with the edges (uv) of a graph: </a:t>
            </a:r>
            <a:endParaRPr/>
          </a:p>
          <a:p>
            <a:pPr indent="-317500" lvl="1" marL="914400" rtl="0" algn="l">
              <a:spcBef>
                <a:spcPts val="0"/>
              </a:spcBef>
              <a:spcAft>
                <a:spcPts val="0"/>
              </a:spcAft>
              <a:buSzPts val="1400"/>
              <a:buChar char="○"/>
            </a:pPr>
            <a:r>
              <a:rPr lang="en"/>
              <a:t>This is called the edge weight (w</a:t>
            </a:r>
            <a:r>
              <a:rPr baseline="-25000" lang="en"/>
              <a:t>uv</a:t>
            </a:r>
            <a:r>
              <a:rPr lang="en"/>
              <a:t>)</a:t>
            </a:r>
            <a:endParaRPr baseline="-25000"/>
          </a:p>
          <a:p>
            <a:pPr indent="-317500" lvl="2" marL="1371600" rtl="0" algn="l">
              <a:spcBef>
                <a:spcPts val="0"/>
              </a:spcBef>
              <a:spcAft>
                <a:spcPts val="0"/>
              </a:spcAft>
              <a:buSzPts val="1400"/>
              <a:buChar char="■"/>
            </a:pPr>
            <a:r>
              <a:rPr lang="en"/>
              <a:t>The strength of the relationship j </a:t>
            </a:r>
            <a:endParaRPr/>
          </a:p>
          <a:p>
            <a:pPr indent="-317500" lvl="2" marL="1371600" rtl="0" algn="l">
              <a:spcBef>
                <a:spcPts val="0"/>
              </a:spcBef>
              <a:spcAft>
                <a:spcPts val="0"/>
              </a:spcAft>
              <a:buSzPts val="1400"/>
              <a:buChar char="■"/>
            </a:pPr>
            <a:r>
              <a:rPr lang="en"/>
              <a:t>the amount of something (e.g. information, support) that flows </a:t>
            </a:r>
            <a:endParaRPr/>
          </a:p>
          <a:p>
            <a:pPr indent="-342900" lvl="0" marL="457200" rtl="0" algn="l">
              <a:spcBef>
                <a:spcPts val="0"/>
              </a:spcBef>
              <a:spcAft>
                <a:spcPts val="0"/>
              </a:spcAft>
              <a:buSzPts val="1800"/>
              <a:buChar char="●"/>
            </a:pPr>
            <a:r>
              <a:rPr lang="en"/>
              <a:t>Graphs that featured edge weights are called weighted (valued) graphs:</a:t>
            </a:r>
            <a:endParaRPr/>
          </a:p>
          <a:p>
            <a:pPr indent="-317500" lvl="1" marL="914400" rtl="0" algn="l">
              <a:spcBef>
                <a:spcPts val="0"/>
              </a:spcBef>
              <a:spcAft>
                <a:spcPts val="0"/>
              </a:spcAft>
              <a:buSzPts val="1400"/>
              <a:buChar char="○"/>
            </a:pPr>
            <a:r>
              <a:rPr lang="en"/>
              <a:t>Binary graphs can be thought of as a constrained case of weighted graphs</a:t>
            </a:r>
            <a:endParaRPr/>
          </a:p>
          <a:p>
            <a:pPr indent="0" lvl="0" marL="0" rtl="0" algn="l">
              <a:spcBef>
                <a:spcPts val="0"/>
              </a:spcBef>
              <a:spcAft>
                <a:spcPts val="0"/>
              </a:spcAft>
              <a:buNone/>
            </a:pPr>
            <a:r>
              <a:t/>
            </a:r>
            <a:endParaRPr/>
          </a:p>
        </p:txBody>
      </p:sp>
      <p:pic>
        <p:nvPicPr>
          <p:cNvPr id="1139" name="Google Shape;1139;p107"/>
          <p:cNvPicPr preferRelativeResize="0"/>
          <p:nvPr/>
        </p:nvPicPr>
        <p:blipFill>
          <a:blip r:embed="rId3">
            <a:alphaModFix/>
          </a:blip>
          <a:stretch>
            <a:fillRect/>
          </a:stretch>
        </p:blipFill>
        <p:spPr>
          <a:xfrm>
            <a:off x="5281201" y="1753574"/>
            <a:ext cx="3551100" cy="2297313"/>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3" name="Shape 1143"/>
        <p:cNvGrpSpPr/>
        <p:nvPr/>
      </p:nvGrpSpPr>
      <p:grpSpPr>
        <a:xfrm>
          <a:off x="0" y="0"/>
          <a:ext cx="0" cy="0"/>
          <a:chOff x="0" y="0"/>
          <a:chExt cx="0" cy="0"/>
        </a:xfrm>
      </p:grpSpPr>
      <p:sp>
        <p:nvSpPr>
          <p:cNvPr id="1144" name="Google Shape;1144;p10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a:t>
            </a:r>
            <a:endParaRPr/>
          </a:p>
        </p:txBody>
      </p:sp>
      <p:sp>
        <p:nvSpPr>
          <p:cNvPr id="1145" name="Google Shape;1145;p108"/>
          <p:cNvSpPr txBox="1"/>
          <p:nvPr>
            <p:ph idx="1" type="body"/>
          </p:nvPr>
        </p:nvSpPr>
        <p:spPr>
          <a:xfrm>
            <a:off x="311700" y="1225225"/>
            <a:ext cx="496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Often it is useful to associate numerical values with the edges (uv) of a graph: </a:t>
            </a:r>
            <a:endParaRPr/>
          </a:p>
          <a:p>
            <a:pPr indent="-317500" lvl="1" marL="914400" rtl="0" algn="l">
              <a:spcBef>
                <a:spcPts val="0"/>
              </a:spcBef>
              <a:spcAft>
                <a:spcPts val="0"/>
              </a:spcAft>
              <a:buSzPts val="1400"/>
              <a:buChar char="○"/>
            </a:pPr>
            <a:r>
              <a:rPr lang="en"/>
              <a:t>This is called the edge weight (w</a:t>
            </a:r>
            <a:r>
              <a:rPr baseline="-25000" lang="en"/>
              <a:t>uv</a:t>
            </a:r>
            <a:r>
              <a:rPr lang="en"/>
              <a:t>)</a:t>
            </a:r>
            <a:endParaRPr baseline="-25000"/>
          </a:p>
          <a:p>
            <a:pPr indent="-317500" lvl="2" marL="1371600" rtl="0" algn="l">
              <a:spcBef>
                <a:spcPts val="0"/>
              </a:spcBef>
              <a:spcAft>
                <a:spcPts val="0"/>
              </a:spcAft>
              <a:buSzPts val="1400"/>
              <a:buChar char="■"/>
            </a:pPr>
            <a:r>
              <a:rPr lang="en"/>
              <a:t>The strength of the relationship j </a:t>
            </a:r>
            <a:endParaRPr/>
          </a:p>
          <a:p>
            <a:pPr indent="-317500" lvl="2" marL="1371600" rtl="0" algn="l">
              <a:spcBef>
                <a:spcPts val="0"/>
              </a:spcBef>
              <a:spcAft>
                <a:spcPts val="0"/>
              </a:spcAft>
              <a:buSzPts val="1400"/>
              <a:buChar char="■"/>
            </a:pPr>
            <a:r>
              <a:rPr lang="en"/>
              <a:t>the amount of something (e.g. information, support) that flows </a:t>
            </a:r>
            <a:endParaRPr/>
          </a:p>
          <a:p>
            <a:pPr indent="-342900" lvl="0" marL="457200" rtl="0" algn="l">
              <a:spcBef>
                <a:spcPts val="0"/>
              </a:spcBef>
              <a:spcAft>
                <a:spcPts val="0"/>
              </a:spcAft>
              <a:buSzPts val="1800"/>
              <a:buChar char="●"/>
            </a:pPr>
            <a:r>
              <a:rPr lang="en"/>
              <a:t>Sometimes people “binarize” weighted graphs using a cutoff to simplify analysis</a:t>
            </a:r>
            <a:endParaRPr/>
          </a:p>
          <a:p>
            <a:pPr indent="-317500" lvl="1" marL="914400" rtl="0" algn="l">
              <a:spcBef>
                <a:spcPts val="0"/>
              </a:spcBef>
              <a:spcAft>
                <a:spcPts val="0"/>
              </a:spcAft>
              <a:buSzPts val="1400"/>
              <a:buChar char="○"/>
            </a:pPr>
            <a:r>
              <a:rPr lang="en"/>
              <a:t>a</a:t>
            </a:r>
            <a:r>
              <a:rPr baseline="-25000" lang="en"/>
              <a:t>ij</a:t>
            </a:r>
            <a:r>
              <a:rPr lang="en"/>
              <a:t> = 1 </a:t>
            </a:r>
            <a:r>
              <a:rPr i="1" lang="en"/>
              <a:t>if</a:t>
            </a:r>
            <a:r>
              <a:rPr lang="en"/>
              <a:t> w</a:t>
            </a:r>
            <a:r>
              <a:rPr baseline="-25000" lang="en"/>
              <a:t>ij </a:t>
            </a:r>
            <a:r>
              <a:rPr lang="en"/>
              <a:t>&gt; ϴ, </a:t>
            </a:r>
            <a:r>
              <a:rPr i="1" lang="en"/>
              <a:t>else</a:t>
            </a:r>
            <a:r>
              <a:rPr lang="en"/>
              <a:t> a</a:t>
            </a:r>
            <a:r>
              <a:rPr baseline="-25000" lang="en"/>
              <a:t>ij</a:t>
            </a:r>
            <a:r>
              <a:rPr lang="en"/>
              <a:t> = 0</a:t>
            </a:r>
            <a:endParaRPr/>
          </a:p>
          <a:p>
            <a:pPr indent="-342900" lvl="0" marL="457200" rtl="0" algn="l">
              <a:spcBef>
                <a:spcPts val="0"/>
              </a:spcBef>
              <a:spcAft>
                <a:spcPts val="0"/>
              </a:spcAft>
              <a:buSzPts val="1800"/>
              <a:buChar char="●"/>
            </a:pPr>
            <a:r>
              <a:rPr lang="en"/>
              <a:t>Weighted graphs can be directed or undirected</a:t>
            </a:r>
            <a:endParaRPr/>
          </a:p>
          <a:p>
            <a:pPr indent="0" lvl="0" marL="0" rtl="0" algn="l">
              <a:spcBef>
                <a:spcPts val="0"/>
              </a:spcBef>
              <a:spcAft>
                <a:spcPts val="0"/>
              </a:spcAft>
              <a:buNone/>
            </a:pPr>
            <a:r>
              <a:t/>
            </a:r>
            <a:endParaRPr/>
          </a:p>
        </p:txBody>
      </p:sp>
      <p:pic>
        <p:nvPicPr>
          <p:cNvPr id="1146" name="Google Shape;1146;p108"/>
          <p:cNvPicPr preferRelativeResize="0"/>
          <p:nvPr/>
        </p:nvPicPr>
        <p:blipFill>
          <a:blip r:embed="rId3">
            <a:alphaModFix/>
          </a:blip>
          <a:stretch>
            <a:fillRect/>
          </a:stretch>
        </p:blipFill>
        <p:spPr>
          <a:xfrm>
            <a:off x="5281201" y="1753574"/>
            <a:ext cx="3551100" cy="2297313"/>
          </a:xfrm>
          <a:prstGeom prst="rect">
            <a:avLst/>
          </a:prstGeom>
          <a:noFill/>
          <a:ln>
            <a:noFill/>
          </a:ln>
        </p:spPr>
      </p:pic>
      <p:sp>
        <p:nvSpPr>
          <p:cNvPr id="1147" name="Google Shape;1147;p108"/>
          <p:cNvSpPr txBox="1"/>
          <p:nvPr/>
        </p:nvSpPr>
        <p:spPr>
          <a:xfrm>
            <a:off x="5720875" y="42867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a:t>
            </a: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1" name="Shape 1151"/>
        <p:cNvGrpSpPr/>
        <p:nvPr/>
      </p:nvGrpSpPr>
      <p:grpSpPr>
        <a:xfrm>
          <a:off x="0" y="0"/>
          <a:ext cx="0" cy="0"/>
          <a:chOff x="0" y="0"/>
          <a:chExt cx="0" cy="0"/>
        </a:xfrm>
      </p:grpSpPr>
      <p:sp>
        <p:nvSpPr>
          <p:cNvPr id="1152" name="Google Shape;1152;p10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1153" name="Google Shape;1153;p109"/>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1154" name="Google Shape;1154;p109"/>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graphicFrame>
        <p:nvGraphicFramePr>
          <p:cNvPr id="1155" name="Google Shape;1155;p109"/>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c>
                  <a:txBody>
                    <a:bodyPr/>
                    <a:lstStyle/>
                    <a:p>
                      <a:pPr indent="0" lvl="0" marL="0" rtl="0" algn="ctr">
                        <a:spcBef>
                          <a:spcPts val="0"/>
                        </a:spcBef>
                        <a:spcAft>
                          <a:spcPts val="0"/>
                        </a:spcAft>
                        <a:buNone/>
                      </a:pPr>
                      <a:r>
                        <a:t/>
                      </a:r>
                      <a:endParaRPr sz="1800"/>
                    </a:p>
                  </a:txBody>
                  <a:tcPr marT="0" marB="0" marR="0" marL="0" anchor="ctr"/>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9" name="Shape 1159"/>
        <p:cNvGrpSpPr/>
        <p:nvPr/>
      </p:nvGrpSpPr>
      <p:grpSpPr>
        <a:xfrm>
          <a:off x="0" y="0"/>
          <a:ext cx="0" cy="0"/>
          <a:chOff x="0" y="0"/>
          <a:chExt cx="0" cy="0"/>
        </a:xfrm>
      </p:grpSpPr>
      <p:sp>
        <p:nvSpPr>
          <p:cNvPr id="1160" name="Google Shape;1160;p11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Weighted graphs: Matrix Representation</a:t>
            </a:r>
            <a:endParaRPr/>
          </a:p>
        </p:txBody>
      </p:sp>
      <p:pic>
        <p:nvPicPr>
          <p:cNvPr id="1161" name="Google Shape;1161;p110"/>
          <p:cNvPicPr preferRelativeResize="0"/>
          <p:nvPr/>
        </p:nvPicPr>
        <p:blipFill>
          <a:blip r:embed="rId3">
            <a:alphaModFix/>
          </a:blip>
          <a:stretch>
            <a:fillRect/>
          </a:stretch>
        </p:blipFill>
        <p:spPr>
          <a:xfrm>
            <a:off x="584126" y="1637124"/>
            <a:ext cx="3551100" cy="2297313"/>
          </a:xfrm>
          <a:prstGeom prst="rect">
            <a:avLst/>
          </a:prstGeom>
          <a:noFill/>
          <a:ln>
            <a:noFill/>
          </a:ln>
        </p:spPr>
      </p:pic>
      <p:sp>
        <p:nvSpPr>
          <p:cNvPr id="1162" name="Google Shape;1162;p110"/>
          <p:cNvSpPr txBox="1"/>
          <p:nvPr/>
        </p:nvSpPr>
        <p:spPr>
          <a:xfrm>
            <a:off x="1127575" y="393442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Weighted Directed Graph</a:t>
            </a:r>
            <a:endParaRPr b="1" sz="1800">
              <a:solidFill>
                <a:srgbClr val="0000FF"/>
              </a:solidFill>
              <a:latin typeface="Economica"/>
              <a:ea typeface="Economica"/>
              <a:cs typeface="Economica"/>
              <a:sym typeface="Economica"/>
            </a:endParaRPr>
          </a:p>
        </p:txBody>
      </p:sp>
      <p:graphicFrame>
        <p:nvGraphicFramePr>
          <p:cNvPr id="1163" name="Google Shape;1163;p110"/>
          <p:cNvGraphicFramePr/>
          <p:nvPr/>
        </p:nvGraphicFramePr>
        <p:xfrm>
          <a:off x="5028888" y="1231130"/>
          <a:ext cx="3000000" cy="3000000"/>
        </p:xfrm>
        <a:graphic>
          <a:graphicData uri="http://schemas.openxmlformats.org/drawingml/2006/table">
            <a:tbl>
              <a:tblPr>
                <a:noFill/>
                <a:tableStyleId>{7DE59CC5-BFA2-4C44-9D40-4E4266A2D9C1}</a:tableStyleId>
              </a:tblPr>
              <a:tblGrid>
                <a:gridCol w="507300"/>
                <a:gridCol w="507300"/>
                <a:gridCol w="507300"/>
                <a:gridCol w="507300"/>
                <a:gridCol w="507300"/>
                <a:gridCol w="507275"/>
                <a:gridCol w="507275"/>
              </a:tblGrid>
              <a:tr h="466950">
                <a:tc>
                  <a:txBody>
                    <a:bodyPr/>
                    <a:lstStyle/>
                    <a:p>
                      <a:pPr indent="0" lvl="0" marL="0" rtl="0" algn="ctr">
                        <a:spcBef>
                          <a:spcPts val="0"/>
                        </a:spcBef>
                        <a:spcAft>
                          <a:spcPts val="0"/>
                        </a:spcAft>
                        <a:buNone/>
                      </a:pPr>
                      <a:r>
                        <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6950">
                <a:tc>
                  <a:txBody>
                    <a:bodyPr/>
                    <a:lstStyle/>
                    <a:p>
                      <a:pPr indent="0" lvl="0" marL="0" rtl="0" algn="ctr">
                        <a:spcBef>
                          <a:spcPts val="0"/>
                        </a:spcBef>
                        <a:spcAft>
                          <a:spcPts val="0"/>
                        </a:spcAft>
                        <a:buNone/>
                      </a:pPr>
                      <a:r>
                        <a:rPr lang="en" sz="1800"/>
                        <a:t>a</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a:t>
                      </a:r>
                      <a:endParaRPr sz="18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0.1</a:t>
                      </a:r>
                      <a:endParaRPr sz="1800"/>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800"/>
                        <a:t>0.9</a:t>
                      </a:r>
                      <a:endParaRPr sz="1800"/>
                    </a:p>
                  </a:txBody>
                  <a:tcPr marT="0" marB="0" marR="0" marL="0" anchor="ctr">
                    <a:lnT cap="flat" cmpd="sng" w="9525">
                      <a:solidFill>
                        <a:srgbClr val="9E9E9E">
                          <a:alpha val="0"/>
                        </a:srgbClr>
                      </a:solidFill>
                      <a:prstDash val="solid"/>
                      <a:round/>
                      <a:headEnd len="sm" w="sm" type="none"/>
                      <a:tailEnd len="sm" w="sm" type="none"/>
                    </a:lnT>
                  </a:tcPr>
                </a:tc>
              </a:tr>
              <a:tr h="466950">
                <a:tc>
                  <a:txBody>
                    <a:bodyPr/>
                    <a:lstStyle/>
                    <a:p>
                      <a:pPr indent="0" lvl="0" marL="0" rtl="0" algn="ctr">
                        <a:spcBef>
                          <a:spcPts val="0"/>
                        </a:spcBef>
                        <a:spcAft>
                          <a:spcPts val="0"/>
                        </a:spcAft>
                        <a:buNone/>
                      </a:pPr>
                      <a:r>
                        <a:rPr lang="en" sz="1800"/>
                        <a:t>b</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0.3</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0.3</a:t>
                      </a:r>
                      <a:endParaRPr sz="1800"/>
                    </a:p>
                  </a:txBody>
                  <a:tcPr marT="0" marB="0" marR="0" marL="0" anchor="ctr"/>
                </a:tc>
                <a:tc>
                  <a:txBody>
                    <a:bodyPr/>
                    <a:lstStyle/>
                    <a:p>
                      <a:pPr indent="0" lvl="0" marL="0" rtl="0" algn="ctr">
                        <a:spcBef>
                          <a:spcPts val="0"/>
                        </a:spcBef>
                        <a:spcAft>
                          <a:spcPts val="0"/>
                        </a:spcAft>
                        <a:buNone/>
                      </a:pPr>
                      <a:r>
                        <a:rPr lang="en" sz="1800"/>
                        <a:t>0.4</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r>
              <a:tr h="466950">
                <a:tc>
                  <a:txBody>
                    <a:bodyPr/>
                    <a:lstStyle/>
                    <a:p>
                      <a:pPr indent="0" lvl="0" marL="0" rtl="0" algn="ctr">
                        <a:spcBef>
                          <a:spcPts val="0"/>
                        </a:spcBef>
                        <a:spcAft>
                          <a:spcPts val="0"/>
                        </a:spcAft>
                        <a:buNone/>
                      </a:pPr>
                      <a:r>
                        <a:rPr lang="en" sz="1800"/>
                        <a:t>c</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0.6</a:t>
                      </a:r>
                      <a:endParaRPr sz="1800"/>
                    </a:p>
                  </a:txBody>
                  <a:tcPr marT="0" marB="0" marR="0" marL="0" anchor="ctr"/>
                </a:tc>
                <a:tc>
                  <a:txBody>
                    <a:bodyPr/>
                    <a:lstStyle/>
                    <a:p>
                      <a:pPr indent="0" lvl="0" marL="0" rtl="0" algn="ctr">
                        <a:spcBef>
                          <a:spcPts val="0"/>
                        </a:spcBef>
                        <a:spcAft>
                          <a:spcPts val="0"/>
                        </a:spcAft>
                        <a:buNone/>
                      </a:pPr>
                      <a:r>
                        <a:rPr lang="en" sz="1800"/>
                        <a:t>0.4</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r>
              <a:tr h="466950">
                <a:tc>
                  <a:txBody>
                    <a:bodyPr/>
                    <a:lstStyle/>
                    <a:p>
                      <a:pPr indent="0" lvl="0" marL="0" rtl="0" algn="ctr">
                        <a:spcBef>
                          <a:spcPts val="0"/>
                        </a:spcBef>
                        <a:spcAft>
                          <a:spcPts val="0"/>
                        </a:spcAft>
                        <a:buNone/>
                      </a:pPr>
                      <a:r>
                        <a:rPr lang="en" sz="1800"/>
                        <a:t>d</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1.0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r>
              <a:tr h="466950">
                <a:tc>
                  <a:txBody>
                    <a:bodyPr/>
                    <a:lstStyle/>
                    <a:p>
                      <a:pPr indent="0" lvl="0" marL="0" rtl="0" algn="ctr">
                        <a:spcBef>
                          <a:spcPts val="0"/>
                        </a:spcBef>
                        <a:spcAft>
                          <a:spcPts val="0"/>
                        </a:spcAft>
                        <a:buNone/>
                      </a:pPr>
                      <a:r>
                        <a:rPr lang="en" sz="1800"/>
                        <a:t>e</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0.55</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c>
                  <a:txBody>
                    <a:bodyPr/>
                    <a:lstStyle/>
                    <a:p>
                      <a:pPr indent="0" lvl="0" marL="0" rtl="0" algn="ctr">
                        <a:spcBef>
                          <a:spcPts val="0"/>
                        </a:spcBef>
                        <a:spcAft>
                          <a:spcPts val="0"/>
                        </a:spcAft>
                        <a:buNone/>
                      </a:pPr>
                      <a:r>
                        <a:rPr lang="en" sz="1800"/>
                        <a:t>0.45</a:t>
                      </a:r>
                      <a:endParaRPr sz="1800"/>
                    </a:p>
                  </a:txBody>
                  <a:tcPr marT="0" marB="0" marR="0" marL="0" anchor="ctr"/>
                </a:tc>
              </a:tr>
              <a:tr h="466950">
                <a:tc>
                  <a:txBody>
                    <a:bodyPr/>
                    <a:lstStyle/>
                    <a:p>
                      <a:pPr indent="0" lvl="0" marL="0" rtl="0" algn="ctr">
                        <a:spcBef>
                          <a:spcPts val="0"/>
                        </a:spcBef>
                        <a:spcAft>
                          <a:spcPts val="0"/>
                        </a:spcAft>
                        <a:buNone/>
                      </a:pPr>
                      <a:r>
                        <a:rPr lang="en" sz="1800"/>
                        <a:t>f</a:t>
                      </a:r>
                      <a:endParaRPr sz="18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800"/>
                        <a:t>0</a:t>
                      </a:r>
                      <a:endParaRPr sz="18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1.0</a:t>
                      </a:r>
                      <a:endParaRPr sz="1800"/>
                    </a:p>
                  </a:txBody>
                  <a:tcPr marT="0" marB="0" marR="0" marL="0" anchor="ctr"/>
                </a:tc>
                <a:tc>
                  <a:txBody>
                    <a:bodyPr/>
                    <a:lstStyle/>
                    <a:p>
                      <a:pPr indent="0" lvl="0" marL="0" rtl="0" algn="ctr">
                        <a:spcBef>
                          <a:spcPts val="0"/>
                        </a:spcBef>
                        <a:spcAft>
                          <a:spcPts val="0"/>
                        </a:spcAft>
                        <a:buNone/>
                      </a:pPr>
                      <a:r>
                        <a:rPr lang="en" sz="1800"/>
                        <a:t>0</a:t>
                      </a:r>
                      <a:endParaRPr sz="1800"/>
                    </a:p>
                  </a:txBody>
                  <a:tcPr marT="0" marB="0" marR="0" marL="0" anchor="ctr"/>
                </a:tc>
                <a:tc>
                  <a:txBody>
                    <a:bodyPr/>
                    <a:lstStyle/>
                    <a:p>
                      <a:pPr indent="0" lvl="0" marL="0" rtl="0" algn="ctr">
                        <a:spcBef>
                          <a:spcPts val="0"/>
                        </a:spcBef>
                        <a:spcAft>
                          <a:spcPts val="0"/>
                        </a:spcAft>
                        <a:buNone/>
                      </a:pPr>
                      <a:r>
                        <a:rPr lang="en" sz="1800"/>
                        <a:t>--</a:t>
                      </a:r>
                      <a:endParaRPr sz="1800"/>
                    </a:p>
                  </a:txBody>
                  <a:tcPr marT="0" marB="0" marR="0" marL="0" anchor="ct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7" name="Shape 1167"/>
        <p:cNvGrpSpPr/>
        <p:nvPr/>
      </p:nvGrpSpPr>
      <p:grpSpPr>
        <a:xfrm>
          <a:off x="0" y="0"/>
          <a:ext cx="0" cy="0"/>
          <a:chOff x="0" y="0"/>
          <a:chExt cx="0" cy="0"/>
        </a:xfrm>
      </p:grpSpPr>
      <p:sp>
        <p:nvSpPr>
          <p:cNvPr id="1168" name="Google Shape;1168;p11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Triadic processes</a:t>
            </a:r>
            <a:endParaRPr/>
          </a:p>
        </p:txBody>
      </p:sp>
      <p:sp>
        <p:nvSpPr>
          <p:cNvPr id="1169" name="Google Shape;1169;p11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Triadic configurations exhibit properties not reducible to (but still dependent on) dyadic processes (Simmel 1908)</a:t>
            </a:r>
            <a:endParaRPr/>
          </a:p>
          <a:p>
            <a:pPr indent="-317500" lvl="1" marL="914400" rtl="0" algn="l">
              <a:spcBef>
                <a:spcPts val="0"/>
              </a:spcBef>
              <a:spcAft>
                <a:spcPts val="0"/>
              </a:spcAft>
              <a:buSzPts val="1400"/>
              <a:buChar char="○"/>
            </a:pPr>
            <a:r>
              <a:rPr lang="en"/>
              <a:t>"Simplest" configuration that exhibit "group" properties (e.g. factionalization, alliance formation, brokerage, etc.)</a:t>
            </a:r>
            <a:endParaRPr/>
          </a:p>
          <a:p>
            <a:pPr indent="-342900" lvl="0" marL="457200" rtl="0" algn="l">
              <a:spcBef>
                <a:spcPts val="0"/>
              </a:spcBef>
              <a:spcAft>
                <a:spcPts val="0"/>
              </a:spcAft>
              <a:buSzPts val="1800"/>
              <a:buChar char="●"/>
            </a:pPr>
            <a:r>
              <a:rPr lang="en"/>
              <a:t>A series of social network theories in rely on triadic processes:</a:t>
            </a:r>
            <a:endParaRPr/>
          </a:p>
          <a:p>
            <a:pPr indent="-317500" lvl="1" marL="914400" rtl="0" algn="l">
              <a:spcBef>
                <a:spcPts val="0"/>
              </a:spcBef>
              <a:spcAft>
                <a:spcPts val="0"/>
              </a:spcAft>
              <a:buSzPts val="1400"/>
              <a:buChar char="○"/>
            </a:pPr>
            <a:r>
              <a:rPr b="1" lang="en"/>
              <a:t>Balance Theory</a:t>
            </a:r>
            <a:endParaRPr b="1"/>
          </a:p>
          <a:p>
            <a:pPr indent="-317500" lvl="1" marL="914400" rtl="0" algn="l">
              <a:spcBef>
                <a:spcPts val="0"/>
              </a:spcBef>
              <a:spcAft>
                <a:spcPts val="0"/>
              </a:spcAft>
              <a:buSzPts val="1400"/>
              <a:buChar char="○"/>
            </a:pPr>
            <a:r>
              <a:rPr lang="en"/>
              <a:t>Granovetter's "Strength of Weak Ties" (SWT) theory</a:t>
            </a:r>
            <a:endParaRPr/>
          </a:p>
          <a:p>
            <a:pPr indent="-317500" lvl="1" marL="914400" rtl="0" algn="l">
              <a:spcBef>
                <a:spcPts val="0"/>
              </a:spcBef>
              <a:spcAft>
                <a:spcPts val="0"/>
              </a:spcAft>
              <a:buSzPts val="1400"/>
              <a:buChar char="○"/>
            </a:pPr>
            <a:r>
              <a:rPr b="1" lang="en"/>
              <a:t>Simmelian Ties Theory</a:t>
            </a:r>
            <a:endParaRPr b="1"/>
          </a:p>
          <a:p>
            <a:pPr indent="-317500" lvl="1" marL="914400" rtl="0" algn="l">
              <a:spcBef>
                <a:spcPts val="0"/>
              </a:spcBef>
              <a:spcAft>
                <a:spcPts val="0"/>
              </a:spcAft>
              <a:buSzPts val="1400"/>
              <a:buChar char="○"/>
            </a:pPr>
            <a:r>
              <a:rPr lang="en"/>
              <a:t>Structural Holes (SH) Theory</a:t>
            </a:r>
            <a:endParaRPr/>
          </a:p>
          <a:p>
            <a:pPr indent="0" lvl="0" marL="0" rtl="0" algn="l">
              <a:spcBef>
                <a:spcPts val="0"/>
              </a:spcBef>
              <a:spcAft>
                <a:spcPts val="0"/>
              </a:spcAft>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173" name="Shape 1173"/>
        <p:cNvGrpSpPr/>
        <p:nvPr/>
      </p:nvGrpSpPr>
      <p:grpSpPr>
        <a:xfrm>
          <a:off x="0" y="0"/>
          <a:ext cx="0" cy="0"/>
          <a:chOff x="0" y="0"/>
          <a:chExt cx="0" cy="0"/>
        </a:xfrm>
      </p:grpSpPr>
      <p:sp>
        <p:nvSpPr>
          <p:cNvPr id="1174" name="Google Shape;1174;p11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Winter 2021</a:t>
            </a:r>
            <a:endParaRPr/>
          </a:p>
        </p:txBody>
      </p:sp>
      <p:sp>
        <p:nvSpPr>
          <p:cNvPr id="1175" name="Google Shape;1175;p11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 to Social Network Analysis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11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181" name="Google Shape;1181;p113"/>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Building blocks</a:t>
            </a:r>
            <a:endParaRPr/>
          </a:p>
          <a:p>
            <a:pPr indent="-317500" lvl="1" marL="914400" rtl="0" algn="l">
              <a:spcBef>
                <a:spcPts val="0"/>
              </a:spcBef>
              <a:spcAft>
                <a:spcPts val="0"/>
              </a:spcAft>
              <a:buSzPts val="1400"/>
              <a:buChar char="○"/>
            </a:pPr>
            <a:r>
              <a:rPr lang="en"/>
              <a:t>A set of actors</a:t>
            </a:r>
            <a:endParaRPr/>
          </a:p>
          <a:p>
            <a:pPr indent="-317500" lvl="1" marL="914400" rtl="0" algn="l">
              <a:spcBef>
                <a:spcPts val="0"/>
              </a:spcBef>
              <a:spcAft>
                <a:spcPts val="0"/>
              </a:spcAft>
              <a:buSzPts val="1400"/>
              <a:buChar char="○"/>
            </a:pPr>
            <a:r>
              <a:rPr lang="en"/>
              <a:t>A set of (directed) relationships defined on those actors</a:t>
            </a:r>
            <a:endParaRPr/>
          </a:p>
          <a:p>
            <a:pPr indent="-317500" lvl="1" marL="914400" rtl="0" algn="l">
              <a:spcBef>
                <a:spcPts val="0"/>
              </a:spcBef>
              <a:spcAft>
                <a:spcPts val="0"/>
              </a:spcAft>
              <a:buSzPts val="1400"/>
              <a:buChar char="○"/>
            </a:pPr>
            <a:r>
              <a:rPr lang="en"/>
              <a:t>For example: Likes and Dislikes </a:t>
            </a:r>
            <a:endParaRPr/>
          </a:p>
          <a:p>
            <a:pPr indent="0" lvl="0" marL="0" rtl="0" algn="l">
              <a:spcBef>
                <a:spcPts val="0"/>
              </a:spcBef>
              <a:spcAft>
                <a:spcPts val="0"/>
              </a:spcAft>
              <a:buNone/>
            </a:pPr>
            <a:r>
              <a:t/>
            </a:r>
            <a:endParaRPr/>
          </a:p>
        </p:txBody>
      </p:sp>
      <p:pic>
        <p:nvPicPr>
          <p:cNvPr id="1182" name="Google Shape;1182;p113"/>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188" name="Google Shape;1188;p114"/>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Considering triads containing directional arcs</a:t>
            </a:r>
            <a:endParaRPr/>
          </a:p>
          <a:p>
            <a:pPr indent="-317500" lvl="1" marL="914400" rtl="0" algn="l">
              <a:spcBef>
                <a:spcPts val="0"/>
              </a:spcBef>
              <a:spcAft>
                <a:spcPts val="0"/>
              </a:spcAft>
              <a:buSzPts val="1400"/>
              <a:buChar char="○"/>
            </a:pPr>
            <a:r>
              <a:rPr lang="en"/>
              <a:t>This is the key to balance theory</a:t>
            </a:r>
            <a:endParaRPr/>
          </a:p>
          <a:p>
            <a:pPr indent="-317500" lvl="2" marL="1371600" rtl="0" algn="l">
              <a:spcBef>
                <a:spcPts val="0"/>
              </a:spcBef>
              <a:spcAft>
                <a:spcPts val="0"/>
              </a:spcAft>
              <a:buSzPts val="1400"/>
              <a:buChar char="■"/>
            </a:pPr>
            <a:r>
              <a:t/>
            </a:r>
            <a:endParaRPr/>
          </a:p>
        </p:txBody>
      </p:sp>
      <p:pic>
        <p:nvPicPr>
          <p:cNvPr id="1189" name="Google Shape;1189;p114"/>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195" name="Google Shape;1195;p115"/>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balance theory, each vertex in the configuration is given a designation</a:t>
            </a:r>
            <a:endParaRPr/>
          </a:p>
          <a:p>
            <a:pPr indent="-317500" lvl="1" marL="914400" rtl="0" algn="l">
              <a:spcBef>
                <a:spcPts val="0"/>
              </a:spcBef>
              <a:spcAft>
                <a:spcPts val="0"/>
              </a:spcAft>
              <a:buSzPts val="1400"/>
              <a:buChar char="○"/>
            </a:pPr>
            <a:r>
              <a:rPr b="1" lang="en"/>
              <a:t>Person (P):</a:t>
            </a:r>
            <a:r>
              <a:rPr lang="en"/>
              <a:t> "The individual whose behavior is being predicted by the theory" (Davis 1963: 445).</a:t>
            </a:r>
            <a:endParaRPr/>
          </a:p>
        </p:txBody>
      </p:sp>
      <p:pic>
        <p:nvPicPr>
          <p:cNvPr id="1196" name="Google Shape;1196;p115"/>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1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02" name="Google Shape;1202;p116"/>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balance theory, each vertex in the configuration is given a designation</a:t>
            </a:r>
            <a:endParaRPr/>
          </a:p>
          <a:p>
            <a:pPr indent="-317500" lvl="1" marL="914400" rtl="0" algn="l">
              <a:spcBef>
                <a:spcPts val="0"/>
              </a:spcBef>
              <a:spcAft>
                <a:spcPts val="0"/>
              </a:spcAft>
              <a:buSzPts val="1400"/>
              <a:buChar char="○"/>
            </a:pPr>
            <a:r>
              <a:rPr b="1" lang="en"/>
              <a:t>Other (O): </a:t>
            </a:r>
            <a:r>
              <a:rPr lang="en"/>
              <a:t>An object (e.g another individual) towards which P is oriented.</a:t>
            </a:r>
            <a:endParaRPr/>
          </a:p>
          <a:p>
            <a:pPr indent="0" lvl="0" marL="457200" rtl="0" algn="l">
              <a:spcBef>
                <a:spcPts val="0"/>
              </a:spcBef>
              <a:spcAft>
                <a:spcPts val="0"/>
              </a:spcAft>
              <a:buNone/>
            </a:pPr>
            <a:r>
              <a:t/>
            </a:r>
            <a:endParaRPr/>
          </a:p>
        </p:txBody>
      </p:sp>
      <p:pic>
        <p:nvPicPr>
          <p:cNvPr id="1203" name="Google Shape;1203;p116"/>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09" name="Google Shape;1209;p117"/>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balance theory, each vertex in the configuration is given a designation</a:t>
            </a:r>
            <a:endParaRPr/>
          </a:p>
          <a:p>
            <a:pPr indent="-317500" lvl="1" marL="914400" rtl="0" algn="l">
              <a:spcBef>
                <a:spcPts val="0"/>
              </a:spcBef>
              <a:spcAft>
                <a:spcPts val="0"/>
              </a:spcAft>
              <a:buSzPts val="1400"/>
              <a:buChar char="○"/>
            </a:pPr>
            <a:r>
              <a:rPr b="1" lang="en"/>
              <a:t>Q:</a:t>
            </a:r>
            <a:r>
              <a:rPr lang="en"/>
              <a:t> A third object (a value, group or another individual) towards which P and O are oriented.</a:t>
            </a:r>
            <a:endParaRPr/>
          </a:p>
          <a:p>
            <a:pPr indent="0" lvl="0" marL="457200" rtl="0" algn="l">
              <a:spcBef>
                <a:spcPts val="0"/>
              </a:spcBef>
              <a:spcAft>
                <a:spcPts val="0"/>
              </a:spcAft>
              <a:buNone/>
            </a:pPr>
            <a:r>
              <a:t/>
            </a:r>
            <a:endParaRPr/>
          </a:p>
        </p:txBody>
      </p:sp>
      <p:pic>
        <p:nvPicPr>
          <p:cNvPr id="1210" name="Google Shape;1210;p117"/>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16" name="Google Shape;1216;p118"/>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basic premise of the theory is that people are motivated to seek </a:t>
            </a:r>
            <a:r>
              <a:rPr b="1" lang="en"/>
              <a:t>balance </a:t>
            </a:r>
            <a:r>
              <a:rPr lang="en"/>
              <a:t>in the triadic configurations in which they are embedded.</a:t>
            </a:r>
            <a:endParaRPr/>
          </a:p>
          <a:p>
            <a:pPr indent="0" lvl="0" marL="0" rtl="0" algn="l">
              <a:spcBef>
                <a:spcPts val="0"/>
              </a:spcBef>
              <a:spcAft>
                <a:spcPts val="0"/>
              </a:spcAft>
              <a:buNone/>
            </a:pPr>
            <a:r>
              <a:t/>
            </a:r>
            <a:endParaRPr/>
          </a:p>
        </p:txBody>
      </p:sp>
      <p:pic>
        <p:nvPicPr>
          <p:cNvPr id="1217" name="Google Shape;1217;p118"/>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1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23" name="Google Shape;1223;p119"/>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is formally defined as the sign of the product of the weights attached to each edge in the cycle.</a:t>
            </a:r>
            <a:endParaRPr/>
          </a:p>
          <a:p>
            <a:pPr indent="-317500" lvl="1" marL="914400" rtl="0" algn="l">
              <a:spcBef>
                <a:spcPts val="0"/>
              </a:spcBef>
              <a:spcAft>
                <a:spcPts val="0"/>
              </a:spcAft>
              <a:buSzPts val="1400"/>
              <a:buChar char="○"/>
            </a:pPr>
            <a:r>
              <a:rPr b="1" lang="en"/>
              <a:t>Positive</a:t>
            </a:r>
            <a:r>
              <a:rPr lang="en"/>
              <a:t> triads are balanced</a:t>
            </a:r>
            <a:endParaRPr/>
          </a:p>
          <a:p>
            <a:pPr indent="-317500" lvl="1" marL="914400" rtl="0" algn="l">
              <a:spcBef>
                <a:spcPts val="0"/>
              </a:spcBef>
              <a:spcAft>
                <a:spcPts val="0"/>
              </a:spcAft>
              <a:buSzPts val="1400"/>
              <a:buChar char="○"/>
            </a:pPr>
            <a:r>
              <a:rPr b="1" lang="en"/>
              <a:t>Negative</a:t>
            </a:r>
            <a:r>
              <a:rPr lang="en"/>
              <a:t> triads are imbalanced</a:t>
            </a:r>
            <a:endParaRPr/>
          </a:p>
          <a:p>
            <a:pPr indent="0" lvl="0" marL="0" rtl="0" algn="l">
              <a:spcBef>
                <a:spcPts val="0"/>
              </a:spcBef>
              <a:spcAft>
                <a:spcPts val="0"/>
              </a:spcAft>
              <a:buNone/>
            </a:pPr>
            <a:r>
              <a:t/>
            </a:r>
            <a:endParaRPr/>
          </a:p>
        </p:txBody>
      </p:sp>
      <p:pic>
        <p:nvPicPr>
          <p:cNvPr id="1224" name="Google Shape;1224;p119"/>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30" name="Google Shape;1230;p120"/>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is formally defined as the sign of the product of the weights attached to each edge in the cycle.</a:t>
            </a:r>
            <a:endParaRPr/>
          </a:p>
          <a:p>
            <a:pPr indent="-317500" lvl="1" marL="914400" rtl="0" algn="l">
              <a:spcBef>
                <a:spcPts val="0"/>
              </a:spcBef>
              <a:spcAft>
                <a:spcPts val="0"/>
              </a:spcAft>
              <a:buSzPts val="1400"/>
              <a:buChar char="○"/>
            </a:pPr>
            <a:r>
              <a:rPr lang="en"/>
              <a:t>Balance reduces “tension” and is experienced as satisfactory (stable equilibrium)</a:t>
            </a:r>
            <a:endParaRPr/>
          </a:p>
          <a:p>
            <a:pPr indent="0" lvl="0" marL="0" rtl="0" algn="l">
              <a:spcBef>
                <a:spcPts val="0"/>
              </a:spcBef>
              <a:spcAft>
                <a:spcPts val="0"/>
              </a:spcAft>
              <a:buNone/>
            </a:pPr>
            <a:r>
              <a:t/>
            </a:r>
            <a:endParaRPr/>
          </a:p>
        </p:txBody>
      </p:sp>
      <p:pic>
        <p:nvPicPr>
          <p:cNvPr id="1231" name="Google Shape;1231;p120"/>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37" name="Google Shape;1237;p121"/>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is formally defined as the sign of the product of the weights attached to each edge in the cycle.</a:t>
            </a:r>
            <a:endParaRPr/>
          </a:p>
          <a:p>
            <a:pPr indent="-317500" lvl="1" marL="914400" rtl="0" algn="l">
              <a:spcBef>
                <a:spcPts val="0"/>
              </a:spcBef>
              <a:spcAft>
                <a:spcPts val="0"/>
              </a:spcAft>
              <a:buSzPts val="1400"/>
              <a:buChar char="○"/>
            </a:pPr>
            <a:r>
              <a:rPr lang="en"/>
              <a:t>Imbalance is experienced as tension and discomfort (unstable state) that must be resolved (balanced)</a:t>
            </a:r>
            <a:endParaRPr/>
          </a:p>
          <a:p>
            <a:pPr indent="0" lvl="0" marL="457200" rtl="0" algn="l">
              <a:spcBef>
                <a:spcPts val="0"/>
              </a:spcBef>
              <a:spcAft>
                <a:spcPts val="0"/>
              </a:spcAft>
              <a:buNone/>
            </a:pPr>
            <a:r>
              <a:t/>
            </a:r>
            <a:endParaRPr/>
          </a:p>
        </p:txBody>
      </p:sp>
      <p:pic>
        <p:nvPicPr>
          <p:cNvPr id="1238" name="Google Shape;1238;p121"/>
          <p:cNvPicPr preferRelativeResize="0"/>
          <p:nvPr/>
        </p:nvPicPr>
        <p:blipFill>
          <a:blip r:embed="rId3">
            <a:alphaModFix/>
          </a:blip>
          <a:stretch>
            <a:fillRect/>
          </a:stretch>
        </p:blipFill>
        <p:spPr>
          <a:xfrm>
            <a:off x="2612750" y="2465425"/>
            <a:ext cx="3918501" cy="224992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44" name="Google Shape;1244;p122"/>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is formally defined as the sign of the product of the weights attached to each edge in the cycle.</a:t>
            </a:r>
            <a:endParaRPr/>
          </a:p>
          <a:p>
            <a:pPr indent="-317500" lvl="1" marL="914400" rtl="0" algn="l">
              <a:spcBef>
                <a:spcPts val="0"/>
              </a:spcBef>
              <a:spcAft>
                <a:spcPts val="0"/>
              </a:spcAft>
              <a:buSzPts val="1400"/>
              <a:buChar char="○"/>
            </a:pPr>
            <a:r>
              <a:rPr lang="en"/>
              <a:t>Imbalance is experienced as tension and discomfort (unstable state) that must be resolved (balanced)</a:t>
            </a:r>
            <a:endParaRPr/>
          </a:p>
          <a:p>
            <a:pPr indent="0" lvl="0" marL="457200" rtl="0" algn="l">
              <a:spcBef>
                <a:spcPts val="0"/>
              </a:spcBef>
              <a:spcAft>
                <a:spcPts val="0"/>
              </a:spcAft>
              <a:buNone/>
            </a:pPr>
            <a:r>
              <a:t/>
            </a:r>
            <a:endParaRPr/>
          </a:p>
        </p:txBody>
      </p:sp>
      <p:pic>
        <p:nvPicPr>
          <p:cNvPr id="1245" name="Google Shape;1245;p122"/>
          <p:cNvPicPr preferRelativeResize="0"/>
          <p:nvPr/>
        </p:nvPicPr>
        <p:blipFill>
          <a:blip r:embed="rId3">
            <a:alphaModFix/>
          </a:blip>
          <a:stretch>
            <a:fillRect/>
          </a:stretch>
        </p:blipFill>
        <p:spPr>
          <a:xfrm>
            <a:off x="2671250" y="2465425"/>
            <a:ext cx="3801500" cy="224912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51" name="Google Shape;1251;p123"/>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is formally defined as the sign of the product of the weights attached to each edge in the cycle.</a:t>
            </a:r>
            <a:endParaRPr/>
          </a:p>
          <a:p>
            <a:pPr indent="-317500" lvl="1" marL="914400" rtl="0" algn="l">
              <a:spcBef>
                <a:spcPts val="0"/>
              </a:spcBef>
              <a:spcAft>
                <a:spcPts val="0"/>
              </a:spcAft>
              <a:buSzPts val="1400"/>
              <a:buChar char="○"/>
            </a:pPr>
            <a:r>
              <a:rPr lang="en"/>
              <a:t>Imbalance is experienced as tension and discomfort (unstable state) that must be resolved (balanced)</a:t>
            </a:r>
            <a:endParaRPr/>
          </a:p>
          <a:p>
            <a:pPr indent="0" lvl="0" marL="457200" rtl="0" algn="l">
              <a:spcBef>
                <a:spcPts val="0"/>
              </a:spcBef>
              <a:spcAft>
                <a:spcPts val="0"/>
              </a:spcAft>
              <a:buNone/>
            </a:pPr>
            <a:r>
              <a:t/>
            </a:r>
            <a:endParaRPr/>
          </a:p>
        </p:txBody>
      </p:sp>
      <p:pic>
        <p:nvPicPr>
          <p:cNvPr id="1252" name="Google Shape;1252;p123"/>
          <p:cNvPicPr preferRelativeResize="0"/>
          <p:nvPr/>
        </p:nvPicPr>
        <p:blipFill>
          <a:blip r:embed="rId3">
            <a:alphaModFix/>
          </a:blip>
          <a:stretch>
            <a:fillRect/>
          </a:stretch>
        </p:blipFill>
        <p:spPr>
          <a:xfrm>
            <a:off x="2671250" y="2465425"/>
            <a:ext cx="3801500" cy="2249125"/>
          </a:xfrm>
          <a:prstGeom prst="rect">
            <a:avLst/>
          </a:prstGeom>
          <a:noFill/>
          <a:ln>
            <a:noFill/>
          </a:ln>
        </p:spPr>
      </p:pic>
      <p:sp>
        <p:nvSpPr>
          <p:cNvPr id="1253" name="Google Shape;1253;p123"/>
          <p:cNvSpPr txBox="1"/>
          <p:nvPr/>
        </p:nvSpPr>
        <p:spPr>
          <a:xfrm>
            <a:off x="2533075" y="4118675"/>
            <a:ext cx="1092600" cy="280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mpact"/>
                <a:ea typeface="Impact"/>
                <a:cs typeface="Impact"/>
                <a:sym typeface="Impact"/>
              </a:rPr>
              <a:t>You</a:t>
            </a:r>
            <a:endParaRPr b="1">
              <a:latin typeface="Impact"/>
              <a:ea typeface="Impact"/>
              <a:cs typeface="Impact"/>
              <a:sym typeface="Impact"/>
            </a:endParaRPr>
          </a:p>
        </p:txBody>
      </p:sp>
      <p:sp>
        <p:nvSpPr>
          <p:cNvPr id="1254" name="Google Shape;1254;p123"/>
          <p:cNvSpPr txBox="1"/>
          <p:nvPr/>
        </p:nvSpPr>
        <p:spPr>
          <a:xfrm>
            <a:off x="5095150" y="4118675"/>
            <a:ext cx="1546800" cy="280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mpact"/>
                <a:ea typeface="Impact"/>
                <a:cs typeface="Impact"/>
                <a:sym typeface="Impact"/>
              </a:rPr>
              <a:t>Clint Eastwood</a:t>
            </a:r>
            <a:endParaRPr b="1">
              <a:latin typeface="Impact"/>
              <a:ea typeface="Impact"/>
              <a:cs typeface="Impact"/>
              <a:sym typeface="Impact"/>
            </a:endParaRPr>
          </a:p>
        </p:txBody>
      </p:sp>
      <p:sp>
        <p:nvSpPr>
          <p:cNvPr id="1255" name="Google Shape;1255;p123"/>
          <p:cNvSpPr txBox="1"/>
          <p:nvPr/>
        </p:nvSpPr>
        <p:spPr>
          <a:xfrm>
            <a:off x="3441900" y="2588800"/>
            <a:ext cx="1885200" cy="280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mpact"/>
                <a:ea typeface="Impact"/>
                <a:cs typeface="Impact"/>
                <a:sym typeface="Impact"/>
              </a:rPr>
              <a:t>Republican Party</a:t>
            </a:r>
            <a:endParaRPr b="1">
              <a:latin typeface="Impact"/>
              <a:ea typeface="Impact"/>
              <a:cs typeface="Impact"/>
              <a:sym typeface="Impact"/>
            </a:endParaRPr>
          </a:p>
        </p:txBody>
      </p:sp>
      <p:pic>
        <p:nvPicPr>
          <p:cNvPr id="1256" name="Google Shape;1256;p123"/>
          <p:cNvPicPr preferRelativeResize="0"/>
          <p:nvPr/>
        </p:nvPicPr>
        <p:blipFill>
          <a:blip r:embed="rId4">
            <a:alphaModFix/>
          </a:blip>
          <a:stretch>
            <a:fillRect/>
          </a:stretch>
        </p:blipFill>
        <p:spPr>
          <a:xfrm>
            <a:off x="6549175" y="2403350"/>
            <a:ext cx="2203756" cy="2373276"/>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62" name="Google Shape;1262;p124"/>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is formally defined as the sign of the product of the weights attached to each edge in the cycle.</a:t>
            </a:r>
            <a:endParaRPr/>
          </a:p>
          <a:p>
            <a:pPr indent="-317500" lvl="1" marL="914400" rtl="0" algn="l">
              <a:spcBef>
                <a:spcPts val="0"/>
              </a:spcBef>
              <a:spcAft>
                <a:spcPts val="0"/>
              </a:spcAft>
              <a:buSzPts val="1400"/>
              <a:buChar char="○"/>
            </a:pPr>
            <a:r>
              <a:rPr lang="en"/>
              <a:t>Imbalance is experienced as tension and discomfort (unstable state) that must be resolved (balanced)</a:t>
            </a:r>
            <a:endParaRPr/>
          </a:p>
          <a:p>
            <a:pPr indent="0" lvl="0" marL="457200" rtl="0" algn="l">
              <a:spcBef>
                <a:spcPts val="0"/>
              </a:spcBef>
              <a:spcAft>
                <a:spcPts val="0"/>
              </a:spcAft>
              <a:buNone/>
            </a:pPr>
            <a:r>
              <a:t/>
            </a:r>
            <a:endParaRPr/>
          </a:p>
        </p:txBody>
      </p:sp>
      <p:pic>
        <p:nvPicPr>
          <p:cNvPr id="1263" name="Google Shape;1263;p124"/>
          <p:cNvPicPr preferRelativeResize="0"/>
          <p:nvPr/>
        </p:nvPicPr>
        <p:blipFill>
          <a:blip r:embed="rId3">
            <a:alphaModFix/>
          </a:blip>
          <a:stretch>
            <a:fillRect/>
          </a:stretch>
        </p:blipFill>
        <p:spPr>
          <a:xfrm>
            <a:off x="2671250" y="2465425"/>
            <a:ext cx="3801500" cy="2249125"/>
          </a:xfrm>
          <a:prstGeom prst="rect">
            <a:avLst/>
          </a:prstGeom>
          <a:noFill/>
          <a:ln>
            <a:noFill/>
          </a:ln>
        </p:spPr>
      </p:pic>
      <p:sp>
        <p:nvSpPr>
          <p:cNvPr id="1264" name="Google Shape;1264;p124"/>
          <p:cNvSpPr txBox="1"/>
          <p:nvPr/>
        </p:nvSpPr>
        <p:spPr>
          <a:xfrm>
            <a:off x="2533075" y="4118675"/>
            <a:ext cx="1092600" cy="280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mpact"/>
                <a:ea typeface="Impact"/>
                <a:cs typeface="Impact"/>
                <a:sym typeface="Impact"/>
              </a:rPr>
              <a:t>You</a:t>
            </a:r>
            <a:endParaRPr b="1">
              <a:latin typeface="Impact"/>
              <a:ea typeface="Impact"/>
              <a:cs typeface="Impact"/>
              <a:sym typeface="Impact"/>
            </a:endParaRPr>
          </a:p>
        </p:txBody>
      </p:sp>
      <p:sp>
        <p:nvSpPr>
          <p:cNvPr id="1265" name="Google Shape;1265;p124"/>
          <p:cNvSpPr txBox="1"/>
          <p:nvPr/>
        </p:nvSpPr>
        <p:spPr>
          <a:xfrm>
            <a:off x="5095150" y="4118675"/>
            <a:ext cx="1546800" cy="280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mpact"/>
                <a:ea typeface="Impact"/>
                <a:cs typeface="Impact"/>
                <a:sym typeface="Impact"/>
              </a:rPr>
              <a:t>Clint Eastwood</a:t>
            </a:r>
            <a:endParaRPr b="1">
              <a:latin typeface="Impact"/>
              <a:ea typeface="Impact"/>
              <a:cs typeface="Impact"/>
              <a:sym typeface="Impact"/>
            </a:endParaRPr>
          </a:p>
        </p:txBody>
      </p:sp>
      <p:sp>
        <p:nvSpPr>
          <p:cNvPr id="1266" name="Google Shape;1266;p124"/>
          <p:cNvSpPr txBox="1"/>
          <p:nvPr/>
        </p:nvSpPr>
        <p:spPr>
          <a:xfrm>
            <a:off x="3441900" y="2588800"/>
            <a:ext cx="1885200" cy="280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mpact"/>
                <a:ea typeface="Impact"/>
                <a:cs typeface="Impact"/>
                <a:sym typeface="Impact"/>
              </a:rPr>
              <a:t>Republican Party</a:t>
            </a:r>
            <a:endParaRPr b="1">
              <a:latin typeface="Impact"/>
              <a:ea typeface="Impact"/>
              <a:cs typeface="Impact"/>
              <a:sym typeface="Impact"/>
            </a:endParaRPr>
          </a:p>
        </p:txBody>
      </p:sp>
      <p:pic>
        <p:nvPicPr>
          <p:cNvPr id="1267" name="Google Shape;1267;p124"/>
          <p:cNvPicPr preferRelativeResize="0"/>
          <p:nvPr/>
        </p:nvPicPr>
        <p:blipFill>
          <a:blip r:embed="rId4">
            <a:alphaModFix/>
          </a:blip>
          <a:stretch>
            <a:fillRect/>
          </a:stretch>
        </p:blipFill>
        <p:spPr>
          <a:xfrm>
            <a:off x="6549175" y="2403350"/>
            <a:ext cx="2203756" cy="2373276"/>
          </a:xfrm>
          <a:prstGeom prst="rect">
            <a:avLst/>
          </a:prstGeom>
          <a:noFill/>
          <a:ln>
            <a:noFill/>
          </a:ln>
        </p:spPr>
      </p:pic>
      <p:sp>
        <p:nvSpPr>
          <p:cNvPr id="1268" name="Google Shape;1268;p124"/>
          <p:cNvSpPr txBox="1"/>
          <p:nvPr/>
        </p:nvSpPr>
        <p:spPr>
          <a:xfrm>
            <a:off x="290350" y="2588800"/>
            <a:ext cx="2493000" cy="203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Open Sans"/>
                <a:ea typeface="Open Sans"/>
                <a:cs typeface="Open Sans"/>
                <a:sym typeface="Open Sans"/>
              </a:rPr>
              <a:t>You either become a Republican and keep liking Clint Eastwood movies</a:t>
            </a:r>
            <a:endParaRPr>
              <a:solidFill>
                <a:srgbClr val="FF0000"/>
              </a:solidFill>
              <a:latin typeface="Open Sans"/>
              <a:ea typeface="Open Sans"/>
              <a:cs typeface="Open Sans"/>
              <a:sym typeface="Open Sans"/>
            </a:endParaRPr>
          </a:p>
          <a:p>
            <a:pPr indent="0" lvl="0" marL="0" rtl="0" algn="l">
              <a:spcBef>
                <a:spcPts val="0"/>
              </a:spcBef>
              <a:spcAft>
                <a:spcPts val="0"/>
              </a:spcAft>
              <a:buNone/>
            </a:pPr>
            <a:r>
              <a:t/>
            </a:r>
            <a:endParaRPr>
              <a:solidFill>
                <a:srgbClr val="FF0000"/>
              </a:solidFill>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Or</a:t>
            </a:r>
            <a:endParaRPr>
              <a:latin typeface="Open Sans"/>
              <a:ea typeface="Open Sans"/>
              <a:cs typeface="Open Sans"/>
              <a:sym typeface="Open Sans"/>
            </a:endParaRPr>
          </a:p>
          <a:p>
            <a:pPr indent="0" lvl="0" marL="0" rtl="0" algn="l">
              <a:spcBef>
                <a:spcPts val="0"/>
              </a:spcBef>
              <a:spcAft>
                <a:spcPts val="0"/>
              </a:spcAft>
              <a:buNone/>
            </a:pPr>
            <a:r>
              <a:t/>
            </a:r>
            <a:endParaRPr>
              <a:solidFill>
                <a:srgbClr val="FF0000"/>
              </a:solidFill>
              <a:latin typeface="Open Sans"/>
              <a:ea typeface="Open Sans"/>
              <a:cs typeface="Open Sans"/>
              <a:sym typeface="Open Sans"/>
            </a:endParaRPr>
          </a:p>
          <a:p>
            <a:pPr indent="0" lvl="0" marL="0" rtl="0" algn="l">
              <a:spcBef>
                <a:spcPts val="0"/>
              </a:spcBef>
              <a:spcAft>
                <a:spcPts val="0"/>
              </a:spcAft>
              <a:buNone/>
            </a:pPr>
            <a:r>
              <a:rPr lang="en">
                <a:solidFill>
                  <a:srgbClr val="FF0000"/>
                </a:solidFill>
                <a:latin typeface="Open Sans"/>
                <a:ea typeface="Open Sans"/>
                <a:cs typeface="Open Sans"/>
                <a:sym typeface="Open Sans"/>
              </a:rPr>
              <a:t>Decide that Clint Eastwood was an overrated hack anyways!</a:t>
            </a:r>
            <a:endParaRPr>
              <a:solidFill>
                <a:srgbClr val="FF0000"/>
              </a:solidFill>
              <a:latin typeface="Open Sans"/>
              <a:ea typeface="Open Sans"/>
              <a:cs typeface="Open Sans"/>
              <a:sym typeface="Open San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74" name="Google Shape;1274;p125"/>
          <p:cNvSpPr txBox="1"/>
          <p:nvPr>
            <p:ph idx="1" type="body"/>
          </p:nvPr>
        </p:nvSpPr>
        <p:spPr>
          <a:xfrm>
            <a:off x="311700" y="1225225"/>
            <a:ext cx="8520600" cy="146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"rules"</a:t>
            </a:r>
            <a:endParaRPr/>
          </a:p>
          <a:p>
            <a:pPr indent="-317500" lvl="1" marL="914400" rtl="0" algn="l">
              <a:spcBef>
                <a:spcPts val="0"/>
              </a:spcBef>
              <a:spcAft>
                <a:spcPts val="0"/>
              </a:spcAft>
              <a:buSzPts val="1400"/>
              <a:buChar char="○"/>
            </a:pPr>
            <a:r>
              <a:rPr b="1" lang="en"/>
              <a:t>If P likes O, and O likes Q, P likes Q</a:t>
            </a:r>
            <a:endParaRPr b="1"/>
          </a:p>
          <a:p>
            <a:pPr indent="-317500" lvl="1" marL="914400" rtl="0" algn="l">
              <a:spcBef>
                <a:spcPts val="0"/>
              </a:spcBef>
              <a:spcAft>
                <a:spcPts val="0"/>
              </a:spcAft>
              <a:buSzPts val="1400"/>
              <a:buChar char="○"/>
            </a:pPr>
            <a:r>
              <a:rPr lang="en"/>
              <a:t>If P likes O, and O dislikes Q, P dislikes Q</a:t>
            </a:r>
            <a:endParaRPr/>
          </a:p>
          <a:p>
            <a:pPr indent="-317500" lvl="1" marL="914400" rtl="0" algn="l">
              <a:spcBef>
                <a:spcPts val="0"/>
              </a:spcBef>
              <a:spcAft>
                <a:spcPts val="0"/>
              </a:spcAft>
              <a:buSzPts val="1400"/>
              <a:buChar char="○"/>
            </a:pPr>
            <a:r>
              <a:rPr lang="en"/>
              <a:t>If P dislikes O, and O likes Q, P dislikes Q</a:t>
            </a:r>
            <a:endParaRPr/>
          </a:p>
          <a:p>
            <a:pPr indent="-317500" lvl="1" marL="914400" rtl="0" algn="l">
              <a:spcBef>
                <a:spcPts val="0"/>
              </a:spcBef>
              <a:spcAft>
                <a:spcPts val="0"/>
              </a:spcAft>
              <a:buSzPts val="1400"/>
              <a:buChar char="○"/>
            </a:pPr>
            <a:r>
              <a:rPr lang="en"/>
              <a:t>If P dislikes O and O dislikes Q, P likes Q</a:t>
            </a:r>
            <a:endParaRPr/>
          </a:p>
        </p:txBody>
      </p:sp>
      <p:pic>
        <p:nvPicPr>
          <p:cNvPr id="1275" name="Google Shape;1275;p125"/>
          <p:cNvPicPr preferRelativeResize="0"/>
          <p:nvPr/>
        </p:nvPicPr>
        <p:blipFill>
          <a:blip r:embed="rId3">
            <a:alphaModFix/>
          </a:blip>
          <a:stretch>
            <a:fillRect/>
          </a:stretch>
        </p:blipFill>
        <p:spPr>
          <a:xfrm>
            <a:off x="2806325" y="2687725"/>
            <a:ext cx="3531340" cy="2027625"/>
          </a:xfrm>
          <a:prstGeom prst="rect">
            <a:avLst/>
          </a:prstGeom>
          <a:noFill/>
          <a:ln>
            <a:noFill/>
          </a:ln>
        </p:spPr>
      </p:pic>
      <p:sp>
        <p:nvSpPr>
          <p:cNvPr id="1276" name="Google Shape;1276;p125"/>
          <p:cNvSpPr/>
          <p:nvPr/>
        </p:nvSpPr>
        <p:spPr>
          <a:xfrm>
            <a:off x="2745775" y="2687725"/>
            <a:ext cx="766500" cy="6768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82" name="Google Shape;1282;p126"/>
          <p:cNvSpPr txBox="1"/>
          <p:nvPr>
            <p:ph idx="1" type="body"/>
          </p:nvPr>
        </p:nvSpPr>
        <p:spPr>
          <a:xfrm>
            <a:off x="311700" y="1225225"/>
            <a:ext cx="8520600" cy="146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"rules"</a:t>
            </a:r>
            <a:endParaRPr/>
          </a:p>
          <a:p>
            <a:pPr indent="-317500" lvl="1" marL="914400" rtl="0" algn="l">
              <a:spcBef>
                <a:spcPts val="0"/>
              </a:spcBef>
              <a:spcAft>
                <a:spcPts val="0"/>
              </a:spcAft>
              <a:buSzPts val="1400"/>
              <a:buChar char="○"/>
            </a:pPr>
            <a:r>
              <a:rPr lang="en"/>
              <a:t>If P likes O, and O likes Q, P likes Q</a:t>
            </a:r>
            <a:endParaRPr/>
          </a:p>
          <a:p>
            <a:pPr indent="-317500" lvl="1" marL="914400" rtl="0" algn="l">
              <a:spcBef>
                <a:spcPts val="0"/>
              </a:spcBef>
              <a:spcAft>
                <a:spcPts val="0"/>
              </a:spcAft>
              <a:buSzPts val="1400"/>
              <a:buChar char="○"/>
            </a:pPr>
            <a:r>
              <a:rPr b="1" lang="en"/>
              <a:t>If P likes O, and O dislikes Q, P dislikes Q</a:t>
            </a:r>
            <a:endParaRPr b="1"/>
          </a:p>
          <a:p>
            <a:pPr indent="-317500" lvl="1" marL="914400" rtl="0" algn="l">
              <a:spcBef>
                <a:spcPts val="0"/>
              </a:spcBef>
              <a:spcAft>
                <a:spcPts val="0"/>
              </a:spcAft>
              <a:buSzPts val="1400"/>
              <a:buChar char="○"/>
            </a:pPr>
            <a:r>
              <a:rPr lang="en"/>
              <a:t>If P dislikes O, and O likes Q, P dislikes Q</a:t>
            </a:r>
            <a:endParaRPr/>
          </a:p>
          <a:p>
            <a:pPr indent="-317500" lvl="1" marL="914400" rtl="0" algn="l">
              <a:spcBef>
                <a:spcPts val="0"/>
              </a:spcBef>
              <a:spcAft>
                <a:spcPts val="0"/>
              </a:spcAft>
              <a:buSzPts val="1400"/>
              <a:buChar char="○"/>
            </a:pPr>
            <a:r>
              <a:rPr lang="en"/>
              <a:t>If P dislikes O and O dislikes Q, P likes Q</a:t>
            </a:r>
            <a:endParaRPr/>
          </a:p>
        </p:txBody>
      </p:sp>
      <p:pic>
        <p:nvPicPr>
          <p:cNvPr id="1283" name="Google Shape;1283;p126"/>
          <p:cNvPicPr preferRelativeResize="0"/>
          <p:nvPr/>
        </p:nvPicPr>
        <p:blipFill>
          <a:blip r:embed="rId3">
            <a:alphaModFix/>
          </a:blip>
          <a:stretch>
            <a:fillRect/>
          </a:stretch>
        </p:blipFill>
        <p:spPr>
          <a:xfrm>
            <a:off x="2806325" y="2687725"/>
            <a:ext cx="3531340" cy="2027625"/>
          </a:xfrm>
          <a:prstGeom prst="rect">
            <a:avLst/>
          </a:prstGeom>
          <a:noFill/>
          <a:ln>
            <a:noFill/>
          </a:ln>
        </p:spPr>
      </p:pic>
      <p:sp>
        <p:nvSpPr>
          <p:cNvPr id="1284" name="Google Shape;1284;p126"/>
          <p:cNvSpPr/>
          <p:nvPr/>
        </p:nvSpPr>
        <p:spPr>
          <a:xfrm>
            <a:off x="3681300" y="2687725"/>
            <a:ext cx="766500" cy="6768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90" name="Google Shape;1290;p127"/>
          <p:cNvSpPr txBox="1"/>
          <p:nvPr>
            <p:ph idx="1" type="body"/>
          </p:nvPr>
        </p:nvSpPr>
        <p:spPr>
          <a:xfrm>
            <a:off x="311700" y="1225225"/>
            <a:ext cx="8520600" cy="146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"rules"</a:t>
            </a:r>
            <a:endParaRPr/>
          </a:p>
          <a:p>
            <a:pPr indent="-317500" lvl="1" marL="914400" rtl="0" algn="l">
              <a:spcBef>
                <a:spcPts val="0"/>
              </a:spcBef>
              <a:spcAft>
                <a:spcPts val="0"/>
              </a:spcAft>
              <a:buSzPts val="1400"/>
              <a:buChar char="○"/>
            </a:pPr>
            <a:r>
              <a:rPr lang="en"/>
              <a:t>If P likes O, and O likes Q, P likes Q</a:t>
            </a:r>
            <a:endParaRPr/>
          </a:p>
          <a:p>
            <a:pPr indent="-317500" lvl="1" marL="914400" rtl="0" algn="l">
              <a:spcBef>
                <a:spcPts val="0"/>
              </a:spcBef>
              <a:spcAft>
                <a:spcPts val="0"/>
              </a:spcAft>
              <a:buSzPts val="1400"/>
              <a:buChar char="○"/>
            </a:pPr>
            <a:r>
              <a:rPr lang="en"/>
              <a:t>If P likes O, and O dislikes Q, P dislikes Q</a:t>
            </a:r>
            <a:endParaRPr/>
          </a:p>
          <a:p>
            <a:pPr indent="-317500" lvl="1" marL="914400" rtl="0" algn="l">
              <a:spcBef>
                <a:spcPts val="0"/>
              </a:spcBef>
              <a:spcAft>
                <a:spcPts val="0"/>
              </a:spcAft>
              <a:buSzPts val="1400"/>
              <a:buChar char="○"/>
            </a:pPr>
            <a:r>
              <a:rPr b="1" lang="en"/>
              <a:t>If P dislikes O, and O likes Q, P dislikes Q</a:t>
            </a:r>
            <a:endParaRPr b="1"/>
          </a:p>
          <a:p>
            <a:pPr indent="-317500" lvl="1" marL="914400" rtl="0" algn="l">
              <a:spcBef>
                <a:spcPts val="0"/>
              </a:spcBef>
              <a:spcAft>
                <a:spcPts val="0"/>
              </a:spcAft>
              <a:buSzPts val="1400"/>
              <a:buChar char="○"/>
            </a:pPr>
            <a:r>
              <a:rPr lang="en"/>
              <a:t>If P dislikes O and O dislikes Q, P likes Q</a:t>
            </a:r>
            <a:endParaRPr/>
          </a:p>
        </p:txBody>
      </p:sp>
      <p:pic>
        <p:nvPicPr>
          <p:cNvPr id="1291" name="Google Shape;1291;p127"/>
          <p:cNvPicPr preferRelativeResize="0"/>
          <p:nvPr/>
        </p:nvPicPr>
        <p:blipFill>
          <a:blip r:embed="rId3">
            <a:alphaModFix/>
          </a:blip>
          <a:stretch>
            <a:fillRect/>
          </a:stretch>
        </p:blipFill>
        <p:spPr>
          <a:xfrm>
            <a:off x="2806325" y="2687725"/>
            <a:ext cx="3531340" cy="2027625"/>
          </a:xfrm>
          <a:prstGeom prst="rect">
            <a:avLst/>
          </a:prstGeom>
          <a:noFill/>
          <a:ln>
            <a:noFill/>
          </a:ln>
        </p:spPr>
      </p:pic>
      <p:sp>
        <p:nvSpPr>
          <p:cNvPr id="1292" name="Google Shape;1292;p127"/>
          <p:cNvSpPr/>
          <p:nvPr/>
        </p:nvSpPr>
        <p:spPr>
          <a:xfrm>
            <a:off x="4631100" y="2687725"/>
            <a:ext cx="766500" cy="6768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298" name="Google Shape;1298;p128"/>
          <p:cNvSpPr txBox="1"/>
          <p:nvPr>
            <p:ph idx="1" type="body"/>
          </p:nvPr>
        </p:nvSpPr>
        <p:spPr>
          <a:xfrm>
            <a:off x="311700" y="1225225"/>
            <a:ext cx="8520600" cy="146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Balance "rules"</a:t>
            </a:r>
            <a:endParaRPr/>
          </a:p>
          <a:p>
            <a:pPr indent="-317500" lvl="1" marL="914400" rtl="0" algn="l">
              <a:spcBef>
                <a:spcPts val="0"/>
              </a:spcBef>
              <a:spcAft>
                <a:spcPts val="0"/>
              </a:spcAft>
              <a:buSzPts val="1400"/>
              <a:buChar char="○"/>
            </a:pPr>
            <a:r>
              <a:rPr lang="en"/>
              <a:t>If P likes O, and O likes Q, P likes Q</a:t>
            </a:r>
            <a:endParaRPr/>
          </a:p>
          <a:p>
            <a:pPr indent="-317500" lvl="1" marL="914400" rtl="0" algn="l">
              <a:spcBef>
                <a:spcPts val="0"/>
              </a:spcBef>
              <a:spcAft>
                <a:spcPts val="0"/>
              </a:spcAft>
              <a:buSzPts val="1400"/>
              <a:buChar char="○"/>
            </a:pPr>
            <a:r>
              <a:rPr lang="en"/>
              <a:t>If P likes O, and O dislikes Q, P dislikes Q</a:t>
            </a:r>
            <a:endParaRPr/>
          </a:p>
          <a:p>
            <a:pPr indent="-317500" lvl="1" marL="914400" rtl="0" algn="l">
              <a:spcBef>
                <a:spcPts val="0"/>
              </a:spcBef>
              <a:spcAft>
                <a:spcPts val="0"/>
              </a:spcAft>
              <a:buSzPts val="1400"/>
              <a:buChar char="○"/>
            </a:pPr>
            <a:r>
              <a:rPr lang="en"/>
              <a:t>If P dislikes O, and O likes Q, P dislikes Q</a:t>
            </a:r>
            <a:endParaRPr/>
          </a:p>
          <a:p>
            <a:pPr indent="-317500" lvl="1" marL="914400" rtl="0" algn="l">
              <a:spcBef>
                <a:spcPts val="0"/>
              </a:spcBef>
              <a:spcAft>
                <a:spcPts val="0"/>
              </a:spcAft>
              <a:buSzPts val="1400"/>
              <a:buChar char="○"/>
            </a:pPr>
            <a:r>
              <a:rPr b="1" lang="en"/>
              <a:t>If P dislikes O and O dislikes Q, P likes Q</a:t>
            </a:r>
            <a:endParaRPr b="1"/>
          </a:p>
        </p:txBody>
      </p:sp>
      <p:pic>
        <p:nvPicPr>
          <p:cNvPr id="1299" name="Google Shape;1299;p128"/>
          <p:cNvPicPr preferRelativeResize="0"/>
          <p:nvPr/>
        </p:nvPicPr>
        <p:blipFill>
          <a:blip r:embed="rId3">
            <a:alphaModFix/>
          </a:blip>
          <a:stretch>
            <a:fillRect/>
          </a:stretch>
        </p:blipFill>
        <p:spPr>
          <a:xfrm>
            <a:off x="2806325" y="2687725"/>
            <a:ext cx="3531340" cy="2027625"/>
          </a:xfrm>
          <a:prstGeom prst="rect">
            <a:avLst/>
          </a:prstGeom>
          <a:noFill/>
          <a:ln>
            <a:noFill/>
          </a:ln>
        </p:spPr>
      </p:pic>
      <p:sp>
        <p:nvSpPr>
          <p:cNvPr id="1300" name="Google Shape;1300;p128"/>
          <p:cNvSpPr/>
          <p:nvPr/>
        </p:nvSpPr>
        <p:spPr>
          <a:xfrm>
            <a:off x="5571175" y="2687725"/>
            <a:ext cx="766500" cy="6768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4" name="Shape 1304"/>
        <p:cNvGrpSpPr/>
        <p:nvPr/>
      </p:nvGrpSpPr>
      <p:grpSpPr>
        <a:xfrm>
          <a:off x="0" y="0"/>
          <a:ext cx="0" cy="0"/>
          <a:chOff x="0" y="0"/>
          <a:chExt cx="0" cy="0"/>
        </a:xfrm>
      </p:grpSpPr>
      <p:sp>
        <p:nvSpPr>
          <p:cNvPr id="1305" name="Google Shape;1305;p1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Balance theory</a:t>
            </a:r>
            <a:endParaRPr/>
          </a:p>
        </p:txBody>
      </p:sp>
      <p:sp>
        <p:nvSpPr>
          <p:cNvPr id="1306" name="Google Shape;1306;p129"/>
          <p:cNvSpPr txBox="1"/>
          <p:nvPr>
            <p:ph idx="1" type="body"/>
          </p:nvPr>
        </p:nvSpPr>
        <p:spPr>
          <a:xfrm>
            <a:off x="311700" y="1225225"/>
            <a:ext cx="8520600" cy="12402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Considering relations of multiple others in relation to the same object can lead to more complex mixtures of balance and imbalance:</a:t>
            </a:r>
            <a:endParaRPr/>
          </a:p>
          <a:p>
            <a:pPr indent="-317500" lvl="1" marL="914400" marR="0" rtl="0" algn="l">
              <a:lnSpc>
                <a:spcPct val="115000"/>
              </a:lnSpc>
              <a:spcBef>
                <a:spcPts val="0"/>
              </a:spcBef>
              <a:spcAft>
                <a:spcPts val="0"/>
              </a:spcAft>
              <a:buSzPts val="1400"/>
              <a:buChar char="○"/>
            </a:pPr>
            <a:r>
              <a:rPr lang="en"/>
              <a:t>The “cross-pressure” situation</a:t>
            </a:r>
            <a:endParaRPr/>
          </a:p>
          <a:p>
            <a:pPr indent="0" lvl="0" marL="457200" rtl="0" algn="l">
              <a:spcBef>
                <a:spcPts val="1600"/>
              </a:spcBef>
              <a:spcAft>
                <a:spcPts val="0"/>
              </a:spcAft>
              <a:buNone/>
            </a:pPr>
            <a:r>
              <a:t/>
            </a:r>
            <a:endParaRPr/>
          </a:p>
        </p:txBody>
      </p:sp>
      <p:grpSp>
        <p:nvGrpSpPr>
          <p:cNvPr id="1307" name="Google Shape;1307;p129"/>
          <p:cNvGrpSpPr/>
          <p:nvPr/>
        </p:nvGrpSpPr>
        <p:grpSpPr>
          <a:xfrm>
            <a:off x="2260837" y="2465425"/>
            <a:ext cx="4622334" cy="2286477"/>
            <a:chOff x="2174275" y="2339700"/>
            <a:chExt cx="4795450" cy="2412150"/>
          </a:xfrm>
        </p:grpSpPr>
        <p:grpSp>
          <p:nvGrpSpPr>
            <p:cNvPr id="1308" name="Google Shape;1308;p129"/>
            <p:cNvGrpSpPr/>
            <p:nvPr/>
          </p:nvGrpSpPr>
          <p:grpSpPr>
            <a:xfrm>
              <a:off x="2174275" y="2465425"/>
              <a:ext cx="4795450" cy="2286425"/>
              <a:chOff x="1788625" y="2465425"/>
              <a:chExt cx="4795450" cy="2286425"/>
            </a:xfrm>
          </p:grpSpPr>
          <p:pic>
            <p:nvPicPr>
              <p:cNvPr id="1309" name="Google Shape;1309;p129"/>
              <p:cNvPicPr preferRelativeResize="0"/>
              <p:nvPr/>
            </p:nvPicPr>
            <p:blipFill rotWithShape="1">
              <a:blip r:embed="rId3">
                <a:alphaModFix/>
              </a:blip>
              <a:srcRect b="0" l="1786" r="15144" t="0"/>
              <a:stretch/>
            </p:blipFill>
            <p:spPr>
              <a:xfrm>
                <a:off x="1788625" y="2465425"/>
                <a:ext cx="4795450" cy="2286425"/>
              </a:xfrm>
              <a:prstGeom prst="rect">
                <a:avLst/>
              </a:prstGeom>
              <a:noFill/>
              <a:ln>
                <a:noFill/>
              </a:ln>
            </p:spPr>
          </p:pic>
          <p:cxnSp>
            <p:nvCxnSpPr>
              <p:cNvPr id="1310" name="Google Shape;1310;p129"/>
              <p:cNvCxnSpPr/>
              <p:nvPr/>
            </p:nvCxnSpPr>
            <p:spPr>
              <a:xfrm>
                <a:off x="4127828" y="2800028"/>
                <a:ext cx="11100" cy="1148100"/>
              </a:xfrm>
              <a:prstGeom prst="straightConnector1">
                <a:avLst/>
              </a:prstGeom>
              <a:noFill/>
              <a:ln cap="flat" cmpd="sng" w="38100">
                <a:solidFill>
                  <a:srgbClr val="000000"/>
                </a:solidFill>
                <a:prstDash val="solid"/>
                <a:round/>
                <a:headEnd len="med" w="med" type="none"/>
                <a:tailEnd len="med" w="med" type="none"/>
              </a:ln>
            </p:spPr>
          </p:cxnSp>
          <p:cxnSp>
            <p:nvCxnSpPr>
              <p:cNvPr id="1311" name="Google Shape;1311;p129"/>
              <p:cNvCxnSpPr/>
              <p:nvPr/>
            </p:nvCxnSpPr>
            <p:spPr>
              <a:xfrm>
                <a:off x="4271696" y="2810112"/>
                <a:ext cx="0" cy="1168500"/>
              </a:xfrm>
              <a:prstGeom prst="straightConnector1">
                <a:avLst/>
              </a:prstGeom>
              <a:noFill/>
              <a:ln cap="flat" cmpd="sng" w="38100">
                <a:solidFill>
                  <a:srgbClr val="000000"/>
                </a:solidFill>
                <a:prstDash val="dash"/>
                <a:round/>
                <a:headEnd len="med" w="med" type="none"/>
                <a:tailEnd len="med" w="med" type="none"/>
              </a:ln>
            </p:spPr>
          </p:cxnSp>
        </p:grpSp>
        <p:sp>
          <p:nvSpPr>
            <p:cNvPr id="1312" name="Google Shape;1312;p129"/>
            <p:cNvSpPr txBox="1"/>
            <p:nvPr/>
          </p:nvSpPr>
          <p:spPr>
            <a:xfrm>
              <a:off x="4408725" y="2339700"/>
              <a:ext cx="367500" cy="34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700">
                  <a:latin typeface="Impact"/>
                  <a:ea typeface="Impact"/>
                  <a:cs typeface="Impact"/>
                  <a:sym typeface="Impact"/>
                </a:rPr>
                <a:t>Q</a:t>
              </a:r>
              <a:endParaRPr b="1" i="1" sz="1700">
                <a:latin typeface="Impact"/>
                <a:ea typeface="Impact"/>
                <a:cs typeface="Impact"/>
                <a:sym typeface="Impact"/>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316" name="Shape 1316"/>
        <p:cNvGrpSpPr/>
        <p:nvPr/>
      </p:nvGrpSpPr>
      <p:grpSpPr>
        <a:xfrm>
          <a:off x="0" y="0"/>
          <a:ext cx="0" cy="0"/>
          <a:chOff x="0" y="0"/>
          <a:chExt cx="0" cy="0"/>
        </a:xfrm>
      </p:grpSpPr>
      <p:sp>
        <p:nvSpPr>
          <p:cNvPr id="1317" name="Google Shape;1317;p130"/>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Social Networks and Status Attainmnent</a:t>
            </a:r>
            <a:endParaRPr/>
          </a:p>
        </p:txBody>
      </p:sp>
      <p:sp>
        <p:nvSpPr>
          <p:cNvPr id="1318" name="Google Shape;1318;p130"/>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social capital?</a:t>
            </a:r>
            <a:endParaRPr/>
          </a:p>
        </p:txBody>
      </p:sp>
      <p:sp>
        <p:nvSpPr>
          <p:cNvPr id="1324" name="Google Shape;1324;p131"/>
          <p:cNvSpPr txBox="1"/>
          <p:nvPr>
            <p:ph idx="1" type="body"/>
          </p:nvPr>
        </p:nvSpPr>
        <p:spPr>
          <a:xfrm>
            <a:off x="311700" y="1225225"/>
            <a:ext cx="5530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Social capital:</a:t>
            </a:r>
            <a:endParaRPr/>
          </a:p>
          <a:p>
            <a:pPr indent="-317500" lvl="1" marL="914400" rtl="0" algn="l">
              <a:spcBef>
                <a:spcPts val="0"/>
              </a:spcBef>
              <a:spcAft>
                <a:spcPts val="0"/>
              </a:spcAft>
              <a:buSzPts val="1400"/>
              <a:buChar char="○"/>
            </a:pPr>
            <a:r>
              <a:rPr lang="en"/>
              <a:t>Benefits accrued as the result of your connections</a:t>
            </a:r>
            <a:endParaRPr/>
          </a:p>
          <a:p>
            <a:pPr indent="-317500" lvl="2" marL="1371600" rtl="0" algn="l">
              <a:spcBef>
                <a:spcPts val="0"/>
              </a:spcBef>
              <a:spcAft>
                <a:spcPts val="0"/>
              </a:spcAft>
              <a:buSzPts val="1400"/>
              <a:buChar char="■"/>
            </a:pPr>
            <a:r>
              <a:rPr b="1" lang="en"/>
              <a:t>People who are better connected do better</a:t>
            </a:r>
            <a:endParaRPr b="1"/>
          </a:p>
          <a:p>
            <a:pPr indent="-342900" lvl="0" marL="457200" rtl="0" algn="l">
              <a:spcBef>
                <a:spcPts val="0"/>
              </a:spcBef>
              <a:spcAft>
                <a:spcPts val="0"/>
              </a:spcAft>
              <a:buSzPts val="1800"/>
              <a:buChar char="●"/>
            </a:pPr>
            <a:r>
              <a:rPr lang="en"/>
              <a:t>What can you get from your connections?</a:t>
            </a:r>
            <a:endParaRPr/>
          </a:p>
          <a:p>
            <a:pPr indent="-317500" lvl="1" marL="914400" rtl="0" algn="l">
              <a:spcBef>
                <a:spcPts val="0"/>
              </a:spcBef>
              <a:spcAft>
                <a:spcPts val="0"/>
              </a:spcAft>
              <a:buSzPts val="1400"/>
              <a:buChar char="○"/>
            </a:pPr>
            <a:r>
              <a:rPr i="1" lang="en"/>
              <a:t>Some benefits comes from strong, dense networks:</a:t>
            </a:r>
            <a:endParaRPr i="1"/>
          </a:p>
          <a:p>
            <a:pPr indent="-317500" lvl="2" marL="1371600" rtl="0" algn="l">
              <a:spcBef>
                <a:spcPts val="0"/>
              </a:spcBef>
              <a:spcAft>
                <a:spcPts val="0"/>
              </a:spcAft>
              <a:buSzPts val="1400"/>
              <a:buChar char="■"/>
            </a:pPr>
            <a:r>
              <a:rPr lang="en"/>
              <a:t>Social and emotional support </a:t>
            </a:r>
            <a:endParaRPr/>
          </a:p>
          <a:p>
            <a:pPr indent="-317500" lvl="3" marL="1828800" rtl="0" algn="l">
              <a:spcBef>
                <a:spcPts val="0"/>
              </a:spcBef>
              <a:spcAft>
                <a:spcPts val="0"/>
              </a:spcAft>
              <a:buSzPts val="1400"/>
              <a:buChar char="●"/>
            </a:pPr>
            <a:r>
              <a:rPr b="1" lang="en"/>
              <a:t>Trusting</a:t>
            </a:r>
            <a:r>
              <a:rPr lang="en"/>
              <a:t> somebody with an intimate secret</a:t>
            </a:r>
            <a:endParaRPr/>
          </a:p>
          <a:p>
            <a:pPr indent="-317500" lvl="2" marL="1371600" marR="0" rtl="0" algn="l">
              <a:lnSpc>
                <a:spcPct val="115000"/>
              </a:lnSpc>
              <a:spcBef>
                <a:spcPts val="0"/>
              </a:spcBef>
              <a:spcAft>
                <a:spcPts val="0"/>
              </a:spcAft>
              <a:buSzPts val="1400"/>
              <a:buChar char="■"/>
            </a:pPr>
            <a:r>
              <a:rPr lang="en"/>
              <a:t>Companionship </a:t>
            </a:r>
            <a:endParaRPr/>
          </a:p>
          <a:p>
            <a:pPr indent="-317500" lvl="3" marL="1828800" marR="0" rtl="0" algn="l">
              <a:lnSpc>
                <a:spcPct val="115000"/>
              </a:lnSpc>
              <a:spcBef>
                <a:spcPts val="0"/>
              </a:spcBef>
              <a:spcAft>
                <a:spcPts val="0"/>
              </a:spcAft>
              <a:buSzPts val="1400"/>
              <a:buChar char="●"/>
            </a:pPr>
            <a:r>
              <a:rPr lang="en"/>
              <a:t>Having somebody to </a:t>
            </a:r>
            <a:r>
              <a:rPr b="1" lang="en"/>
              <a:t>hang out </a:t>
            </a:r>
            <a:r>
              <a:rPr lang="en"/>
              <a:t>with</a:t>
            </a:r>
            <a:endParaRPr/>
          </a:p>
          <a:p>
            <a:pPr indent="-317500" lvl="2" marL="1371600" rtl="0" algn="l">
              <a:spcBef>
                <a:spcPts val="0"/>
              </a:spcBef>
              <a:spcAft>
                <a:spcPts val="0"/>
              </a:spcAft>
              <a:buSzPts val="1400"/>
              <a:buChar char="■"/>
            </a:pPr>
            <a:r>
              <a:rPr lang="en"/>
              <a:t>Material support </a:t>
            </a:r>
            <a:endParaRPr/>
          </a:p>
          <a:p>
            <a:pPr indent="-317500" lvl="3" marL="1828800" rtl="0" algn="l">
              <a:spcBef>
                <a:spcPts val="0"/>
              </a:spcBef>
              <a:spcAft>
                <a:spcPts val="0"/>
              </a:spcAft>
              <a:buSzPts val="1400"/>
              <a:buChar char="●"/>
            </a:pPr>
            <a:r>
              <a:rPr lang="en"/>
              <a:t>knowing where to go in a time of </a:t>
            </a:r>
            <a:r>
              <a:rPr b="1" lang="en"/>
              <a:t>need</a:t>
            </a:r>
            <a:endParaRPr b="1"/>
          </a:p>
          <a:p>
            <a:pPr indent="0" lvl="0" marL="0" marR="0" rtl="0" algn="l">
              <a:lnSpc>
                <a:spcPct val="115000"/>
              </a:lnSpc>
              <a:spcBef>
                <a:spcPts val="0"/>
              </a:spcBef>
              <a:spcAft>
                <a:spcPts val="1600"/>
              </a:spcAft>
              <a:buNone/>
            </a:pPr>
            <a:r>
              <a:t/>
            </a:r>
            <a:endParaRPr/>
          </a:p>
        </p:txBody>
      </p:sp>
      <p:pic>
        <p:nvPicPr>
          <p:cNvPr id="1325" name="Google Shape;1325;p131"/>
          <p:cNvPicPr preferRelativeResize="0"/>
          <p:nvPr/>
        </p:nvPicPr>
        <p:blipFill>
          <a:blip r:embed="rId3">
            <a:alphaModFix/>
          </a:blip>
          <a:stretch>
            <a:fillRect/>
          </a:stretch>
        </p:blipFill>
        <p:spPr>
          <a:xfrm>
            <a:off x="5842500" y="1771712"/>
            <a:ext cx="2989800" cy="226103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social capital?</a:t>
            </a:r>
            <a:endParaRPr/>
          </a:p>
        </p:txBody>
      </p:sp>
      <p:sp>
        <p:nvSpPr>
          <p:cNvPr id="1331" name="Google Shape;1331;p132"/>
          <p:cNvSpPr txBox="1"/>
          <p:nvPr>
            <p:ph idx="1" type="body"/>
          </p:nvPr>
        </p:nvSpPr>
        <p:spPr>
          <a:xfrm>
            <a:off x="311700" y="1225225"/>
            <a:ext cx="5530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Social capital:</a:t>
            </a:r>
            <a:endParaRPr/>
          </a:p>
          <a:p>
            <a:pPr indent="-317500" lvl="1" marL="914400" rtl="0" algn="l">
              <a:spcBef>
                <a:spcPts val="0"/>
              </a:spcBef>
              <a:spcAft>
                <a:spcPts val="0"/>
              </a:spcAft>
              <a:buSzPts val="1400"/>
              <a:buChar char="○"/>
            </a:pPr>
            <a:r>
              <a:rPr lang="en"/>
              <a:t>Benefits accrued as the result of your connections</a:t>
            </a:r>
            <a:endParaRPr/>
          </a:p>
          <a:p>
            <a:pPr indent="-317500" lvl="2" marL="1371600" rtl="0" algn="l">
              <a:spcBef>
                <a:spcPts val="0"/>
              </a:spcBef>
              <a:spcAft>
                <a:spcPts val="0"/>
              </a:spcAft>
              <a:buSzPts val="1400"/>
              <a:buChar char="■"/>
            </a:pPr>
            <a:r>
              <a:rPr b="1" lang="en"/>
              <a:t>People who are better connected do better</a:t>
            </a:r>
            <a:endParaRPr b="1"/>
          </a:p>
          <a:p>
            <a:pPr indent="-342900" lvl="0" marL="457200" rtl="0" algn="l">
              <a:spcBef>
                <a:spcPts val="0"/>
              </a:spcBef>
              <a:spcAft>
                <a:spcPts val="0"/>
              </a:spcAft>
              <a:buSzPts val="1800"/>
              <a:buChar char="●"/>
            </a:pPr>
            <a:r>
              <a:rPr lang="en"/>
              <a:t>What can you get from your connections?</a:t>
            </a:r>
            <a:endParaRPr/>
          </a:p>
          <a:p>
            <a:pPr indent="-317500" lvl="1" marL="914400" rtl="0" algn="l">
              <a:spcBef>
                <a:spcPts val="0"/>
              </a:spcBef>
              <a:spcAft>
                <a:spcPts val="0"/>
              </a:spcAft>
              <a:buSzPts val="1400"/>
              <a:buChar char="○"/>
            </a:pPr>
            <a:r>
              <a:rPr i="1" lang="en"/>
              <a:t>Some benefits come weakly connected, diverse networks:</a:t>
            </a:r>
            <a:endParaRPr i="1"/>
          </a:p>
          <a:p>
            <a:pPr indent="-317500" lvl="2" marL="1371600" rtl="0" algn="l">
              <a:spcBef>
                <a:spcPts val="0"/>
              </a:spcBef>
              <a:spcAft>
                <a:spcPts val="0"/>
              </a:spcAft>
              <a:buSzPts val="1400"/>
              <a:buChar char="■"/>
            </a:pPr>
            <a:r>
              <a:rPr lang="en"/>
              <a:t>Novel information</a:t>
            </a:r>
            <a:endParaRPr/>
          </a:p>
          <a:p>
            <a:pPr indent="-317500" lvl="3" marL="1828800" rtl="0" algn="l">
              <a:spcBef>
                <a:spcPts val="0"/>
              </a:spcBef>
              <a:spcAft>
                <a:spcPts val="0"/>
              </a:spcAft>
              <a:buSzPts val="1400"/>
              <a:buChar char="●"/>
            </a:pPr>
            <a:r>
              <a:rPr lang="en"/>
              <a:t>Finding out about things that your close contacts might not know	</a:t>
            </a:r>
            <a:endParaRPr/>
          </a:p>
          <a:p>
            <a:pPr indent="-317500" lvl="2" marL="1371600" rtl="0" algn="l">
              <a:spcBef>
                <a:spcPts val="0"/>
              </a:spcBef>
              <a:spcAft>
                <a:spcPts val="0"/>
              </a:spcAft>
              <a:buSzPts val="1400"/>
              <a:buChar char="■"/>
            </a:pPr>
            <a:r>
              <a:rPr lang="en"/>
              <a:t>New or cutting edge ideas</a:t>
            </a:r>
            <a:endParaRPr/>
          </a:p>
          <a:p>
            <a:pPr indent="-317500" lvl="3" marL="1828800" rtl="0" algn="l">
              <a:spcBef>
                <a:spcPts val="0"/>
              </a:spcBef>
              <a:spcAft>
                <a:spcPts val="0"/>
              </a:spcAft>
              <a:buSzPts val="1400"/>
              <a:buChar char="●"/>
            </a:pPr>
            <a:r>
              <a:rPr lang="en"/>
              <a:t>Combining different ideas into a new idea</a:t>
            </a:r>
            <a:endParaRPr/>
          </a:p>
          <a:p>
            <a:pPr indent="-317500" lvl="2" marL="1371600" rtl="0" algn="l">
              <a:spcBef>
                <a:spcPts val="0"/>
              </a:spcBef>
              <a:spcAft>
                <a:spcPts val="0"/>
              </a:spcAft>
              <a:buSzPts val="1400"/>
              <a:buChar char="■"/>
            </a:pPr>
            <a:r>
              <a:rPr lang="en"/>
              <a:t>New people</a:t>
            </a:r>
            <a:endParaRPr/>
          </a:p>
          <a:p>
            <a:pPr indent="-317500" lvl="3" marL="1828800" rtl="0" algn="l">
              <a:spcBef>
                <a:spcPts val="0"/>
              </a:spcBef>
              <a:spcAft>
                <a:spcPts val="0"/>
              </a:spcAft>
              <a:buSzPts val="1400"/>
              <a:buChar char="●"/>
            </a:pPr>
            <a:r>
              <a:rPr lang="en"/>
              <a:t>Being introduced to people who can help </a:t>
            </a:r>
            <a:endParaRPr/>
          </a:p>
        </p:txBody>
      </p:sp>
      <p:pic>
        <p:nvPicPr>
          <p:cNvPr id="1332" name="Google Shape;1332;p132"/>
          <p:cNvPicPr preferRelativeResize="0"/>
          <p:nvPr/>
        </p:nvPicPr>
        <p:blipFill>
          <a:blip r:embed="rId3">
            <a:alphaModFix/>
          </a:blip>
          <a:stretch>
            <a:fillRect/>
          </a:stretch>
        </p:blipFill>
        <p:spPr>
          <a:xfrm>
            <a:off x="5842500" y="1771712"/>
            <a:ext cx="2989800" cy="2261035"/>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1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social capital?</a:t>
            </a:r>
            <a:endParaRPr/>
          </a:p>
        </p:txBody>
      </p:sp>
      <p:sp>
        <p:nvSpPr>
          <p:cNvPr id="1338" name="Google Shape;1338;p13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you get from your connections depends on how you are connected to others</a:t>
            </a:r>
            <a:endParaRPr/>
          </a:p>
          <a:p>
            <a:pPr indent="-317500" lvl="1" marL="914400" rtl="0" algn="l">
              <a:spcBef>
                <a:spcPts val="0"/>
              </a:spcBef>
              <a:spcAft>
                <a:spcPts val="0"/>
              </a:spcAft>
              <a:buSzPts val="1400"/>
              <a:buChar char="○"/>
            </a:pPr>
            <a:r>
              <a:rPr lang="en"/>
              <a:t>Two arguments:</a:t>
            </a:r>
            <a:endParaRPr/>
          </a:p>
          <a:p>
            <a:pPr indent="-317500" lvl="2" marL="1371600" rtl="0" algn="l">
              <a:spcBef>
                <a:spcPts val="0"/>
              </a:spcBef>
              <a:spcAft>
                <a:spcPts val="0"/>
              </a:spcAft>
              <a:buSzPts val="1400"/>
              <a:buChar char="■"/>
            </a:pPr>
            <a:r>
              <a:rPr b="1" lang="en"/>
              <a:t>Social capital as closure (Coleman 1990)</a:t>
            </a:r>
            <a:endParaRPr b="1"/>
          </a:p>
          <a:p>
            <a:pPr indent="-317500" lvl="3" marL="1828800" rtl="0" algn="l">
              <a:spcBef>
                <a:spcPts val="0"/>
              </a:spcBef>
              <a:spcAft>
                <a:spcPts val="0"/>
              </a:spcAft>
              <a:buSzPts val="1400"/>
              <a:buChar char="●"/>
            </a:pPr>
            <a:r>
              <a:rPr lang="en"/>
              <a:t>Having a core group of intimate friends who also know one another</a:t>
            </a:r>
            <a:endParaRPr/>
          </a:p>
          <a:p>
            <a:pPr indent="-317500" lvl="2" marL="1371600" rtl="0" algn="l">
              <a:spcBef>
                <a:spcPts val="0"/>
              </a:spcBef>
              <a:spcAft>
                <a:spcPts val="0"/>
              </a:spcAft>
              <a:buSzPts val="1400"/>
              <a:buChar char="■"/>
            </a:pPr>
            <a:r>
              <a:rPr b="1" lang="en"/>
              <a:t>Social capital as brokerage (Burt 2005: 4)</a:t>
            </a:r>
            <a:endParaRPr b="1"/>
          </a:p>
          <a:p>
            <a:pPr indent="-317500" lvl="3" marL="1828800" rtl="0" algn="l">
              <a:spcBef>
                <a:spcPts val="0"/>
              </a:spcBef>
              <a:spcAft>
                <a:spcPts val="0"/>
              </a:spcAft>
              <a:buSzPts val="1400"/>
              <a:buChar char="●"/>
            </a:pPr>
            <a:r>
              <a:rPr lang="en"/>
              <a:t>“Advantage created by a person’s location in a structure of relations”</a:t>
            </a:r>
            <a:endParaRPr/>
          </a:p>
          <a:p>
            <a:pPr indent="-317500" lvl="1" marL="914400" rtl="0" algn="l">
              <a:spcBef>
                <a:spcPts val="0"/>
              </a:spcBef>
              <a:spcAft>
                <a:spcPts val="0"/>
              </a:spcAft>
              <a:buSzPts val="1400"/>
              <a:buChar char="○"/>
            </a:pPr>
            <a:r>
              <a:rPr lang="en"/>
              <a:t>Which one is the better form of capital?</a:t>
            </a:r>
            <a:endParaRPr/>
          </a:p>
          <a:p>
            <a:pPr indent="-317500" lvl="2" marL="1371600" rtl="0" algn="l">
              <a:spcBef>
                <a:spcPts val="0"/>
              </a:spcBef>
              <a:spcAft>
                <a:spcPts val="0"/>
              </a:spcAft>
              <a:buSzPts val="1400"/>
              <a:buChar char="■"/>
            </a:pPr>
            <a:r>
              <a:rPr lang="en"/>
              <a:t>Depends on what you want!</a:t>
            </a:r>
            <a:endParaRPr/>
          </a:p>
          <a:p>
            <a:pPr indent="-342900" lvl="0" marL="457200" rtl="0" algn="l">
              <a:spcBef>
                <a:spcPts val="0"/>
              </a:spcBef>
              <a:spcAft>
                <a:spcPts val="0"/>
              </a:spcAft>
              <a:buSzPts val="1800"/>
              <a:buChar char="●"/>
            </a:pPr>
            <a:r>
              <a:rPr lang="en"/>
              <a:t>Here we will focus on the second:</a:t>
            </a:r>
            <a:endParaRPr/>
          </a:p>
          <a:p>
            <a:pPr indent="-317500" lvl="1" marL="914400" rtl="0" algn="l">
              <a:spcBef>
                <a:spcPts val="0"/>
              </a:spcBef>
              <a:spcAft>
                <a:spcPts val="0"/>
              </a:spcAft>
              <a:buSzPts val="1400"/>
              <a:buChar char="○"/>
            </a:pPr>
            <a:r>
              <a:rPr i="1" lang="en"/>
              <a:t>Social capital from being a connector (or being connected to people who connect) between different worlds</a:t>
            </a:r>
            <a:endParaRPr i="1"/>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Granovetter’s strength of weak ties theory</a:t>
            </a:r>
            <a:endParaRPr/>
          </a:p>
        </p:txBody>
      </p:sp>
      <p:sp>
        <p:nvSpPr>
          <p:cNvPr id="1344" name="Google Shape;1344;p134"/>
          <p:cNvSpPr txBox="1"/>
          <p:nvPr>
            <p:ph idx="1" type="body"/>
          </p:nvPr>
        </p:nvSpPr>
        <p:spPr>
          <a:xfrm>
            <a:off x="311700" y="1225225"/>
            <a:ext cx="5050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Concept:</a:t>
            </a:r>
            <a:endParaRPr/>
          </a:p>
          <a:p>
            <a:pPr indent="-317500" lvl="1" marL="914400" rtl="0" algn="l">
              <a:spcBef>
                <a:spcPts val="0"/>
              </a:spcBef>
              <a:spcAft>
                <a:spcPts val="0"/>
              </a:spcAft>
              <a:buSzPts val="1400"/>
              <a:buChar char="○"/>
            </a:pPr>
            <a:r>
              <a:rPr b="1" lang="en"/>
              <a:t>Granovetter-transitivity</a:t>
            </a:r>
            <a:r>
              <a:rPr lang="en"/>
              <a:t> (g-transitivity)</a:t>
            </a:r>
            <a:endParaRPr/>
          </a:p>
          <a:p>
            <a:pPr indent="-317500" lvl="2" marL="1371600" rtl="0" algn="l">
              <a:spcBef>
                <a:spcPts val="0"/>
              </a:spcBef>
              <a:spcAft>
                <a:spcPts val="0"/>
              </a:spcAft>
              <a:buSzPts val="1400"/>
              <a:buChar char="■"/>
            </a:pPr>
            <a:r>
              <a:rPr i="1" lang="en"/>
              <a:t>Rule 1</a:t>
            </a:r>
            <a:r>
              <a:rPr lang="en"/>
              <a:t>: if two people are strongly connected they are likely to have a lot of other friends in common </a:t>
            </a:r>
            <a:endParaRPr/>
          </a:p>
        </p:txBody>
      </p:sp>
      <p:grpSp>
        <p:nvGrpSpPr>
          <p:cNvPr id="1345" name="Google Shape;1345;p134"/>
          <p:cNvGrpSpPr/>
          <p:nvPr/>
        </p:nvGrpSpPr>
        <p:grpSpPr>
          <a:xfrm>
            <a:off x="5530698" y="1471890"/>
            <a:ext cx="3301598" cy="2860671"/>
            <a:chOff x="5842400" y="1989875"/>
            <a:chExt cx="2423725" cy="2017825"/>
          </a:xfrm>
        </p:grpSpPr>
        <p:sp>
          <p:nvSpPr>
            <p:cNvPr id="1346" name="Google Shape;1346;p134"/>
            <p:cNvSpPr/>
            <p:nvPr/>
          </p:nvSpPr>
          <p:spPr>
            <a:xfrm>
              <a:off x="5842400" y="3429000"/>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1347" name="Google Shape;1347;p134"/>
            <p:cNvSpPr/>
            <p:nvPr/>
          </p:nvSpPr>
          <p:spPr>
            <a:xfrm>
              <a:off x="7763925" y="3429000"/>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cxnSp>
          <p:nvCxnSpPr>
            <p:cNvPr id="1348" name="Google Shape;1348;p134"/>
            <p:cNvCxnSpPr>
              <a:stCxn id="1346" idx="6"/>
              <a:endCxn id="1347" idx="2"/>
            </p:cNvCxnSpPr>
            <p:nvPr/>
          </p:nvCxnSpPr>
          <p:spPr>
            <a:xfrm>
              <a:off x="6344600" y="3663750"/>
              <a:ext cx="1419300" cy="0"/>
            </a:xfrm>
            <a:prstGeom prst="straightConnector1">
              <a:avLst/>
            </a:prstGeom>
            <a:noFill/>
            <a:ln cap="flat" cmpd="sng" w="76200">
              <a:solidFill>
                <a:schemeClr val="dk2"/>
              </a:solidFill>
              <a:prstDash val="solid"/>
              <a:round/>
              <a:headEnd len="med" w="med" type="none"/>
              <a:tailEnd len="med" w="med" type="none"/>
            </a:ln>
          </p:spPr>
        </p:cxnSp>
        <p:sp>
          <p:nvSpPr>
            <p:cNvPr id="1349" name="Google Shape;1349;p134"/>
            <p:cNvSpPr txBox="1"/>
            <p:nvPr/>
          </p:nvSpPr>
          <p:spPr>
            <a:xfrm>
              <a:off x="6486700" y="3756600"/>
              <a:ext cx="1130100" cy="25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Strong Tie</a:t>
              </a:r>
              <a:endParaRPr/>
            </a:p>
          </p:txBody>
        </p:sp>
        <p:sp>
          <p:nvSpPr>
            <p:cNvPr id="1350" name="Google Shape;1350;p134"/>
            <p:cNvSpPr/>
            <p:nvPr/>
          </p:nvSpPr>
          <p:spPr>
            <a:xfrm>
              <a:off x="6224500" y="2279938"/>
              <a:ext cx="262200" cy="2511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34"/>
            <p:cNvSpPr/>
            <p:nvPr/>
          </p:nvSpPr>
          <p:spPr>
            <a:xfrm>
              <a:off x="6848100" y="1989875"/>
              <a:ext cx="262200" cy="2511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34"/>
            <p:cNvSpPr/>
            <p:nvPr/>
          </p:nvSpPr>
          <p:spPr>
            <a:xfrm>
              <a:off x="7469150" y="2279925"/>
              <a:ext cx="262200" cy="2511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34"/>
            <p:cNvSpPr/>
            <p:nvPr/>
          </p:nvSpPr>
          <p:spPr>
            <a:xfrm>
              <a:off x="6923150" y="2958000"/>
              <a:ext cx="262200" cy="2511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4" name="Google Shape;1354;p134"/>
            <p:cNvCxnSpPr>
              <a:stCxn id="1346" idx="0"/>
              <a:endCxn id="1350" idx="4"/>
            </p:cNvCxnSpPr>
            <p:nvPr/>
          </p:nvCxnSpPr>
          <p:spPr>
            <a:xfrm flipH="1" rot="10800000">
              <a:off x="6093500" y="2531100"/>
              <a:ext cx="262200" cy="897900"/>
            </a:xfrm>
            <a:prstGeom prst="straightConnector1">
              <a:avLst/>
            </a:prstGeom>
            <a:noFill/>
            <a:ln cap="flat" cmpd="sng" w="19050">
              <a:solidFill>
                <a:schemeClr val="dk2"/>
              </a:solidFill>
              <a:prstDash val="solid"/>
              <a:round/>
              <a:headEnd len="med" w="med" type="none"/>
              <a:tailEnd len="med" w="med" type="none"/>
            </a:ln>
          </p:spPr>
        </p:cxnSp>
        <p:cxnSp>
          <p:nvCxnSpPr>
            <p:cNvPr id="1355" name="Google Shape;1355;p134"/>
            <p:cNvCxnSpPr>
              <a:stCxn id="1351" idx="5"/>
              <a:endCxn id="1347" idx="0"/>
            </p:cNvCxnSpPr>
            <p:nvPr/>
          </p:nvCxnSpPr>
          <p:spPr>
            <a:xfrm>
              <a:off x="7071902" y="2204202"/>
              <a:ext cx="943200" cy="1224900"/>
            </a:xfrm>
            <a:prstGeom prst="straightConnector1">
              <a:avLst/>
            </a:prstGeom>
            <a:noFill/>
            <a:ln cap="flat" cmpd="sng" w="19050">
              <a:solidFill>
                <a:schemeClr val="dk2"/>
              </a:solidFill>
              <a:prstDash val="solid"/>
              <a:round/>
              <a:headEnd len="med" w="med" type="none"/>
              <a:tailEnd len="med" w="med" type="none"/>
            </a:ln>
          </p:spPr>
        </p:cxnSp>
        <p:cxnSp>
          <p:nvCxnSpPr>
            <p:cNvPr id="1356" name="Google Shape;1356;p134"/>
            <p:cNvCxnSpPr>
              <a:stCxn id="1353" idx="6"/>
              <a:endCxn id="1347" idx="0"/>
            </p:cNvCxnSpPr>
            <p:nvPr/>
          </p:nvCxnSpPr>
          <p:spPr>
            <a:xfrm>
              <a:off x="7185350" y="3083550"/>
              <a:ext cx="829800" cy="345300"/>
            </a:xfrm>
            <a:prstGeom prst="straightConnector1">
              <a:avLst/>
            </a:prstGeom>
            <a:noFill/>
            <a:ln cap="flat" cmpd="sng" w="19050">
              <a:solidFill>
                <a:schemeClr val="dk2"/>
              </a:solidFill>
              <a:prstDash val="solid"/>
              <a:round/>
              <a:headEnd len="med" w="med" type="none"/>
              <a:tailEnd len="med" w="med" type="none"/>
            </a:ln>
          </p:spPr>
        </p:cxnSp>
        <p:cxnSp>
          <p:nvCxnSpPr>
            <p:cNvPr id="1357" name="Google Shape;1357;p134"/>
            <p:cNvCxnSpPr>
              <a:stCxn id="1346" idx="0"/>
              <a:endCxn id="1352" idx="3"/>
            </p:cNvCxnSpPr>
            <p:nvPr/>
          </p:nvCxnSpPr>
          <p:spPr>
            <a:xfrm flipH="1" rot="10800000">
              <a:off x="6093500" y="2494200"/>
              <a:ext cx="1413900" cy="934800"/>
            </a:xfrm>
            <a:prstGeom prst="straightConnector1">
              <a:avLst/>
            </a:prstGeom>
            <a:noFill/>
            <a:ln cap="flat" cmpd="sng" w="19050">
              <a:solidFill>
                <a:schemeClr val="dk2"/>
              </a:solidFill>
              <a:prstDash val="solid"/>
              <a:round/>
              <a:headEnd len="med" w="med" type="none"/>
              <a:tailEnd len="med" w="med" type="none"/>
            </a:ln>
          </p:spPr>
        </p:cxnSp>
        <p:cxnSp>
          <p:nvCxnSpPr>
            <p:cNvPr id="1358" name="Google Shape;1358;p134"/>
            <p:cNvCxnSpPr>
              <a:stCxn id="1346" idx="0"/>
              <a:endCxn id="1351" idx="3"/>
            </p:cNvCxnSpPr>
            <p:nvPr/>
          </p:nvCxnSpPr>
          <p:spPr>
            <a:xfrm flipH="1" rot="10800000">
              <a:off x="6093500" y="2204100"/>
              <a:ext cx="792900" cy="1224900"/>
            </a:xfrm>
            <a:prstGeom prst="straightConnector1">
              <a:avLst/>
            </a:prstGeom>
            <a:noFill/>
            <a:ln cap="flat" cmpd="sng" w="19050">
              <a:solidFill>
                <a:schemeClr val="dk2"/>
              </a:solidFill>
              <a:prstDash val="solid"/>
              <a:round/>
              <a:headEnd len="med" w="med" type="none"/>
              <a:tailEnd len="med" w="med" type="none"/>
            </a:ln>
          </p:spPr>
        </p:cxnSp>
        <p:cxnSp>
          <p:nvCxnSpPr>
            <p:cNvPr id="1359" name="Google Shape;1359;p134"/>
            <p:cNvCxnSpPr>
              <a:stCxn id="1346" idx="0"/>
              <a:endCxn id="1353" idx="2"/>
            </p:cNvCxnSpPr>
            <p:nvPr/>
          </p:nvCxnSpPr>
          <p:spPr>
            <a:xfrm flipH="1" rot="10800000">
              <a:off x="6093500" y="3083700"/>
              <a:ext cx="829500" cy="345300"/>
            </a:xfrm>
            <a:prstGeom prst="straightConnector1">
              <a:avLst/>
            </a:prstGeom>
            <a:noFill/>
            <a:ln cap="flat" cmpd="sng" w="19050">
              <a:solidFill>
                <a:schemeClr val="dk2"/>
              </a:solidFill>
              <a:prstDash val="solid"/>
              <a:round/>
              <a:headEnd len="med" w="med" type="none"/>
              <a:tailEnd len="med" w="med" type="none"/>
            </a:ln>
          </p:spPr>
        </p:cxnSp>
        <p:cxnSp>
          <p:nvCxnSpPr>
            <p:cNvPr id="1360" name="Google Shape;1360;p134"/>
            <p:cNvCxnSpPr>
              <a:stCxn id="1350" idx="5"/>
              <a:endCxn id="1347" idx="0"/>
            </p:cNvCxnSpPr>
            <p:nvPr/>
          </p:nvCxnSpPr>
          <p:spPr>
            <a:xfrm>
              <a:off x="6448302" y="2494265"/>
              <a:ext cx="1566600" cy="934800"/>
            </a:xfrm>
            <a:prstGeom prst="straightConnector1">
              <a:avLst/>
            </a:prstGeom>
            <a:noFill/>
            <a:ln cap="flat" cmpd="sng" w="19050">
              <a:solidFill>
                <a:schemeClr val="dk2"/>
              </a:solidFill>
              <a:prstDash val="solid"/>
              <a:round/>
              <a:headEnd len="med" w="med" type="none"/>
              <a:tailEnd len="med" w="med" type="none"/>
            </a:ln>
          </p:spPr>
        </p:cxnSp>
        <p:cxnSp>
          <p:nvCxnSpPr>
            <p:cNvPr id="1361" name="Google Shape;1361;p134"/>
            <p:cNvCxnSpPr>
              <a:stCxn id="1352" idx="4"/>
              <a:endCxn id="1347" idx="0"/>
            </p:cNvCxnSpPr>
            <p:nvPr/>
          </p:nvCxnSpPr>
          <p:spPr>
            <a:xfrm>
              <a:off x="7600250" y="2531025"/>
              <a:ext cx="414900" cy="8979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Granovetter’s strength of weak ties theory</a:t>
            </a:r>
            <a:endParaRPr/>
          </a:p>
        </p:txBody>
      </p:sp>
      <p:sp>
        <p:nvSpPr>
          <p:cNvPr id="1367" name="Google Shape;1367;p135"/>
          <p:cNvSpPr txBox="1"/>
          <p:nvPr>
            <p:ph idx="1" type="body"/>
          </p:nvPr>
        </p:nvSpPr>
        <p:spPr>
          <a:xfrm>
            <a:off x="311700" y="1225225"/>
            <a:ext cx="5214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Concept:</a:t>
            </a:r>
            <a:endParaRPr/>
          </a:p>
          <a:p>
            <a:pPr indent="-317500" lvl="1" marL="914400" rtl="0" algn="l">
              <a:spcBef>
                <a:spcPts val="0"/>
              </a:spcBef>
              <a:spcAft>
                <a:spcPts val="0"/>
              </a:spcAft>
              <a:buSzPts val="1400"/>
              <a:buChar char="○"/>
            </a:pPr>
            <a:r>
              <a:rPr b="1" lang="en"/>
              <a:t>Granovetter-transitivity</a:t>
            </a:r>
            <a:r>
              <a:rPr lang="en"/>
              <a:t> (g-transitivity)</a:t>
            </a:r>
            <a:endParaRPr/>
          </a:p>
          <a:p>
            <a:pPr indent="-317500" lvl="2" marL="1371600" rtl="0" algn="l">
              <a:spcBef>
                <a:spcPts val="0"/>
              </a:spcBef>
              <a:spcAft>
                <a:spcPts val="0"/>
              </a:spcAft>
              <a:buSzPts val="1400"/>
              <a:buChar char="■"/>
            </a:pPr>
            <a:r>
              <a:rPr i="1" lang="en"/>
              <a:t>Rule 1</a:t>
            </a:r>
            <a:r>
              <a:rPr lang="en"/>
              <a:t>: if two people are strongly connected: </a:t>
            </a:r>
            <a:endParaRPr/>
          </a:p>
          <a:p>
            <a:pPr indent="-317500" lvl="3" marL="1828800" rtl="0" algn="l">
              <a:spcBef>
                <a:spcPts val="0"/>
              </a:spcBef>
              <a:spcAft>
                <a:spcPts val="0"/>
              </a:spcAft>
              <a:buSzPts val="1400"/>
              <a:buChar char="●"/>
            </a:pPr>
            <a:r>
              <a:rPr lang="en"/>
              <a:t>They are likely to have a lot of other friends in common</a:t>
            </a:r>
            <a:endParaRPr/>
          </a:p>
          <a:p>
            <a:pPr indent="-317500" lvl="2" marL="1371600" rtl="0" algn="l">
              <a:spcBef>
                <a:spcPts val="0"/>
              </a:spcBef>
              <a:spcAft>
                <a:spcPts val="0"/>
              </a:spcAft>
              <a:buSzPts val="1400"/>
              <a:buChar char="■"/>
            </a:pPr>
            <a:r>
              <a:rPr i="1" lang="en"/>
              <a:t>Rule 2: </a:t>
            </a:r>
            <a:r>
              <a:rPr lang="en"/>
              <a:t>if A and B have a strong tie and B and C have a strong tie:</a:t>
            </a:r>
            <a:endParaRPr/>
          </a:p>
          <a:p>
            <a:pPr indent="-317500" lvl="3" marL="1828800" rtl="0" algn="l">
              <a:spcBef>
                <a:spcPts val="0"/>
              </a:spcBef>
              <a:spcAft>
                <a:spcPts val="0"/>
              </a:spcAft>
              <a:buSzPts val="1400"/>
              <a:buChar char="●"/>
            </a:pPr>
            <a:r>
              <a:rPr lang="en"/>
              <a:t>There should be </a:t>
            </a:r>
            <a:r>
              <a:rPr b="1" lang="en"/>
              <a:t>at least</a:t>
            </a:r>
            <a:r>
              <a:rPr lang="en"/>
              <a:t> a weak tie between A and C </a:t>
            </a:r>
            <a:endParaRPr/>
          </a:p>
        </p:txBody>
      </p:sp>
      <p:grpSp>
        <p:nvGrpSpPr>
          <p:cNvPr id="1368" name="Google Shape;1368;p135"/>
          <p:cNvGrpSpPr/>
          <p:nvPr/>
        </p:nvGrpSpPr>
        <p:grpSpPr>
          <a:xfrm>
            <a:off x="5849158" y="1537434"/>
            <a:ext cx="2983154" cy="2729568"/>
            <a:chOff x="6285650" y="1749913"/>
            <a:chExt cx="2546657" cy="2304600"/>
          </a:xfrm>
        </p:grpSpPr>
        <p:sp>
          <p:nvSpPr>
            <p:cNvPr id="1369" name="Google Shape;1369;p135"/>
            <p:cNvSpPr/>
            <p:nvPr/>
          </p:nvSpPr>
          <p:spPr>
            <a:xfrm>
              <a:off x="6285650" y="3475813"/>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1370" name="Google Shape;1370;p135"/>
            <p:cNvSpPr/>
            <p:nvPr/>
          </p:nvSpPr>
          <p:spPr>
            <a:xfrm>
              <a:off x="8207175" y="3475813"/>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cxnSp>
          <p:nvCxnSpPr>
            <p:cNvPr id="1371" name="Google Shape;1371;p135"/>
            <p:cNvCxnSpPr>
              <a:stCxn id="1369" idx="6"/>
              <a:endCxn id="1370" idx="2"/>
            </p:cNvCxnSpPr>
            <p:nvPr/>
          </p:nvCxnSpPr>
          <p:spPr>
            <a:xfrm>
              <a:off x="6787850" y="3710563"/>
              <a:ext cx="1419300" cy="0"/>
            </a:xfrm>
            <a:prstGeom prst="straightConnector1">
              <a:avLst/>
            </a:prstGeom>
            <a:noFill/>
            <a:ln cap="flat" cmpd="sng" w="76200">
              <a:solidFill>
                <a:schemeClr val="dk2"/>
              </a:solidFill>
              <a:prstDash val="solid"/>
              <a:round/>
              <a:headEnd len="med" w="med" type="none"/>
              <a:tailEnd len="med" w="med" type="none"/>
            </a:ln>
          </p:spPr>
        </p:cxnSp>
        <p:sp>
          <p:nvSpPr>
            <p:cNvPr id="1372" name="Google Shape;1372;p135"/>
            <p:cNvSpPr txBox="1"/>
            <p:nvPr/>
          </p:nvSpPr>
          <p:spPr>
            <a:xfrm>
              <a:off x="6929950" y="3803413"/>
              <a:ext cx="1130100" cy="25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Strong Tie</a:t>
              </a:r>
              <a:endParaRPr/>
            </a:p>
          </p:txBody>
        </p:sp>
        <p:sp>
          <p:nvSpPr>
            <p:cNvPr id="1373" name="Google Shape;1373;p135"/>
            <p:cNvSpPr/>
            <p:nvPr/>
          </p:nvSpPr>
          <p:spPr>
            <a:xfrm>
              <a:off x="8207175" y="1749913"/>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cxnSp>
          <p:nvCxnSpPr>
            <p:cNvPr id="1374" name="Google Shape;1374;p135"/>
            <p:cNvCxnSpPr>
              <a:stCxn id="1373" idx="4"/>
              <a:endCxn id="1370" idx="0"/>
            </p:cNvCxnSpPr>
            <p:nvPr/>
          </p:nvCxnSpPr>
          <p:spPr>
            <a:xfrm>
              <a:off x="8458275" y="2219413"/>
              <a:ext cx="0" cy="1256400"/>
            </a:xfrm>
            <a:prstGeom prst="straightConnector1">
              <a:avLst/>
            </a:prstGeom>
            <a:noFill/>
            <a:ln cap="flat" cmpd="sng" w="76200">
              <a:solidFill>
                <a:schemeClr val="dk2"/>
              </a:solidFill>
              <a:prstDash val="solid"/>
              <a:round/>
              <a:headEnd len="med" w="med" type="none"/>
              <a:tailEnd len="med" w="med" type="none"/>
            </a:ln>
          </p:spPr>
        </p:cxnSp>
        <p:sp>
          <p:nvSpPr>
            <p:cNvPr id="1375" name="Google Shape;1375;p135"/>
            <p:cNvSpPr txBox="1"/>
            <p:nvPr/>
          </p:nvSpPr>
          <p:spPr>
            <a:xfrm rot="-5400913">
              <a:off x="8141557" y="2722066"/>
              <a:ext cx="1130100" cy="25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Strong Tie</a:t>
              </a:r>
              <a:endParaRPr/>
            </a:p>
          </p:txBody>
        </p:sp>
        <p:cxnSp>
          <p:nvCxnSpPr>
            <p:cNvPr id="1376" name="Google Shape;1376;p135"/>
            <p:cNvCxnSpPr>
              <a:stCxn id="1369" idx="7"/>
              <a:endCxn id="1373" idx="3"/>
            </p:cNvCxnSpPr>
            <p:nvPr/>
          </p:nvCxnSpPr>
          <p:spPr>
            <a:xfrm flipH="1" rot="10800000">
              <a:off x="6714305" y="2150769"/>
              <a:ext cx="1566300" cy="1393800"/>
            </a:xfrm>
            <a:prstGeom prst="straightConnector1">
              <a:avLst/>
            </a:prstGeom>
            <a:noFill/>
            <a:ln cap="flat" cmpd="sng" w="28575">
              <a:solidFill>
                <a:schemeClr val="dk2"/>
              </a:solidFill>
              <a:prstDash val="dash"/>
              <a:round/>
              <a:headEnd len="med" w="med" type="none"/>
              <a:tailEnd len="med" w="med" type="none"/>
            </a:ln>
          </p:spPr>
        </p:cxnSp>
      </p:grpSp>
      <p:sp>
        <p:nvSpPr>
          <p:cNvPr id="1377" name="Google Shape;1377;p135"/>
          <p:cNvSpPr txBox="1"/>
          <p:nvPr/>
        </p:nvSpPr>
        <p:spPr>
          <a:xfrm>
            <a:off x="5849150" y="1147225"/>
            <a:ext cx="2126400" cy="71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Good probability of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existing tie!</a:t>
            </a:r>
            <a:endParaRPr sz="1800">
              <a:latin typeface="Economica"/>
              <a:ea typeface="Economica"/>
              <a:cs typeface="Economica"/>
              <a:sym typeface="Economica"/>
            </a:endParaRPr>
          </a:p>
        </p:txBody>
      </p:sp>
      <p:cxnSp>
        <p:nvCxnSpPr>
          <p:cNvPr id="1378" name="Google Shape;1378;p135"/>
          <p:cNvCxnSpPr>
            <a:stCxn id="1377" idx="2"/>
          </p:cNvCxnSpPr>
          <p:nvPr/>
        </p:nvCxnSpPr>
        <p:spPr>
          <a:xfrm>
            <a:off x="6912350" y="1860925"/>
            <a:ext cx="6600" cy="11781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Granovetter’s strength of weak ties theory</a:t>
            </a:r>
            <a:endParaRPr/>
          </a:p>
        </p:txBody>
      </p:sp>
      <p:grpSp>
        <p:nvGrpSpPr>
          <p:cNvPr id="1384" name="Google Shape;1384;p136"/>
          <p:cNvGrpSpPr/>
          <p:nvPr/>
        </p:nvGrpSpPr>
        <p:grpSpPr>
          <a:xfrm>
            <a:off x="5791260" y="1520278"/>
            <a:ext cx="3040963" cy="2763907"/>
            <a:chOff x="6285650" y="1749913"/>
            <a:chExt cx="2546657" cy="2304600"/>
          </a:xfrm>
        </p:grpSpPr>
        <p:sp>
          <p:nvSpPr>
            <p:cNvPr id="1385" name="Google Shape;1385;p136"/>
            <p:cNvSpPr/>
            <p:nvPr/>
          </p:nvSpPr>
          <p:spPr>
            <a:xfrm>
              <a:off x="6285650" y="3475813"/>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1386" name="Google Shape;1386;p136"/>
            <p:cNvSpPr/>
            <p:nvPr/>
          </p:nvSpPr>
          <p:spPr>
            <a:xfrm>
              <a:off x="8207175" y="3475813"/>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cxnSp>
          <p:nvCxnSpPr>
            <p:cNvPr id="1387" name="Google Shape;1387;p136"/>
            <p:cNvCxnSpPr>
              <a:stCxn id="1385" idx="6"/>
              <a:endCxn id="1386" idx="2"/>
            </p:cNvCxnSpPr>
            <p:nvPr/>
          </p:nvCxnSpPr>
          <p:spPr>
            <a:xfrm>
              <a:off x="6787850" y="3710563"/>
              <a:ext cx="1419300" cy="0"/>
            </a:xfrm>
            <a:prstGeom prst="straightConnector1">
              <a:avLst/>
            </a:prstGeom>
            <a:noFill/>
            <a:ln cap="flat" cmpd="sng" w="76200">
              <a:solidFill>
                <a:schemeClr val="dk2"/>
              </a:solidFill>
              <a:prstDash val="solid"/>
              <a:round/>
              <a:headEnd len="med" w="med" type="none"/>
              <a:tailEnd len="med" w="med" type="none"/>
            </a:ln>
          </p:spPr>
        </p:cxnSp>
        <p:sp>
          <p:nvSpPr>
            <p:cNvPr id="1388" name="Google Shape;1388;p136"/>
            <p:cNvSpPr txBox="1"/>
            <p:nvPr/>
          </p:nvSpPr>
          <p:spPr>
            <a:xfrm>
              <a:off x="6929950" y="3803413"/>
              <a:ext cx="1130100" cy="25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Similar</a:t>
              </a:r>
              <a:endParaRPr/>
            </a:p>
          </p:txBody>
        </p:sp>
        <p:sp>
          <p:nvSpPr>
            <p:cNvPr id="1389" name="Google Shape;1389;p136"/>
            <p:cNvSpPr/>
            <p:nvPr/>
          </p:nvSpPr>
          <p:spPr>
            <a:xfrm>
              <a:off x="8207175" y="1749913"/>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cxnSp>
          <p:nvCxnSpPr>
            <p:cNvPr id="1390" name="Google Shape;1390;p136"/>
            <p:cNvCxnSpPr>
              <a:stCxn id="1389" idx="4"/>
              <a:endCxn id="1386" idx="0"/>
            </p:cNvCxnSpPr>
            <p:nvPr/>
          </p:nvCxnSpPr>
          <p:spPr>
            <a:xfrm>
              <a:off x="8458275" y="2219413"/>
              <a:ext cx="0" cy="1256400"/>
            </a:xfrm>
            <a:prstGeom prst="straightConnector1">
              <a:avLst/>
            </a:prstGeom>
            <a:noFill/>
            <a:ln cap="flat" cmpd="sng" w="76200">
              <a:solidFill>
                <a:schemeClr val="dk2"/>
              </a:solidFill>
              <a:prstDash val="solid"/>
              <a:round/>
              <a:headEnd len="med" w="med" type="none"/>
              <a:tailEnd len="med" w="med" type="none"/>
            </a:ln>
          </p:spPr>
        </p:cxnSp>
        <p:sp>
          <p:nvSpPr>
            <p:cNvPr id="1391" name="Google Shape;1391;p136"/>
            <p:cNvSpPr txBox="1"/>
            <p:nvPr/>
          </p:nvSpPr>
          <p:spPr>
            <a:xfrm rot="-5400913">
              <a:off x="8141557" y="2722066"/>
              <a:ext cx="1130100" cy="25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Similar</a:t>
              </a:r>
              <a:endParaRPr/>
            </a:p>
          </p:txBody>
        </p:sp>
        <p:cxnSp>
          <p:nvCxnSpPr>
            <p:cNvPr id="1392" name="Google Shape;1392;p136"/>
            <p:cNvCxnSpPr>
              <a:stCxn id="1385" idx="7"/>
              <a:endCxn id="1389" idx="3"/>
            </p:cNvCxnSpPr>
            <p:nvPr/>
          </p:nvCxnSpPr>
          <p:spPr>
            <a:xfrm flipH="1" rot="10800000">
              <a:off x="6714305" y="2150769"/>
              <a:ext cx="1566300" cy="1393800"/>
            </a:xfrm>
            <a:prstGeom prst="straightConnector1">
              <a:avLst/>
            </a:prstGeom>
            <a:noFill/>
            <a:ln cap="flat" cmpd="sng" w="28575">
              <a:solidFill>
                <a:schemeClr val="dk2"/>
              </a:solidFill>
              <a:prstDash val="dash"/>
              <a:round/>
              <a:headEnd len="med" w="med" type="none"/>
              <a:tailEnd len="med" w="med" type="none"/>
            </a:ln>
          </p:spPr>
        </p:cxnSp>
        <p:sp>
          <p:nvSpPr>
            <p:cNvPr id="1393" name="Google Shape;1393;p136"/>
            <p:cNvSpPr txBox="1"/>
            <p:nvPr/>
          </p:nvSpPr>
          <p:spPr>
            <a:xfrm rot="-2498053">
              <a:off x="6253166" y="2465347"/>
              <a:ext cx="2128173" cy="251155"/>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At least a little similar</a:t>
              </a:r>
              <a:endParaRPr/>
            </a:p>
          </p:txBody>
        </p:sp>
      </p:grpSp>
      <p:sp>
        <p:nvSpPr>
          <p:cNvPr id="1394" name="Google Shape;1394;p136"/>
          <p:cNvSpPr txBox="1"/>
          <p:nvPr>
            <p:ph idx="1" type="body"/>
          </p:nvPr>
        </p:nvSpPr>
        <p:spPr>
          <a:xfrm>
            <a:off x="311700" y="1225225"/>
            <a:ext cx="5214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Concept:</a:t>
            </a:r>
            <a:endParaRPr/>
          </a:p>
          <a:p>
            <a:pPr indent="-317500" lvl="1" marL="914400" rtl="0" algn="l">
              <a:spcBef>
                <a:spcPts val="0"/>
              </a:spcBef>
              <a:spcAft>
                <a:spcPts val="0"/>
              </a:spcAft>
              <a:buSzPts val="1400"/>
              <a:buChar char="○"/>
            </a:pPr>
            <a:r>
              <a:rPr b="1" lang="en"/>
              <a:t>Granovetter-transitivity</a:t>
            </a:r>
            <a:r>
              <a:rPr lang="en"/>
              <a:t> (g-transitivity)</a:t>
            </a:r>
            <a:endParaRPr/>
          </a:p>
          <a:p>
            <a:pPr indent="-317500" lvl="2" marL="1371600" rtl="0" algn="l">
              <a:spcBef>
                <a:spcPts val="0"/>
              </a:spcBef>
              <a:spcAft>
                <a:spcPts val="0"/>
              </a:spcAft>
              <a:buSzPts val="1400"/>
              <a:buChar char="■"/>
            </a:pPr>
            <a:r>
              <a:rPr i="1" lang="en"/>
              <a:t>Rule 1</a:t>
            </a:r>
            <a:r>
              <a:rPr lang="en"/>
              <a:t>: if two people are strongly connected: </a:t>
            </a:r>
            <a:endParaRPr/>
          </a:p>
          <a:p>
            <a:pPr indent="-317500" lvl="3" marL="1828800" rtl="0" algn="l">
              <a:spcBef>
                <a:spcPts val="0"/>
              </a:spcBef>
              <a:spcAft>
                <a:spcPts val="0"/>
              </a:spcAft>
              <a:buSzPts val="1400"/>
              <a:buChar char="●"/>
            </a:pPr>
            <a:r>
              <a:rPr lang="en"/>
              <a:t>They are likely to have a lot of other friends in common</a:t>
            </a:r>
            <a:endParaRPr/>
          </a:p>
          <a:p>
            <a:pPr indent="-317500" lvl="2" marL="1371600" rtl="0" algn="l">
              <a:spcBef>
                <a:spcPts val="0"/>
              </a:spcBef>
              <a:spcAft>
                <a:spcPts val="0"/>
              </a:spcAft>
              <a:buSzPts val="1400"/>
              <a:buChar char="■"/>
            </a:pPr>
            <a:r>
              <a:rPr i="1" lang="en"/>
              <a:t>Rule 2: </a:t>
            </a:r>
            <a:r>
              <a:rPr lang="en"/>
              <a:t>if A and B have a strong tie and B and C have a strong tie:</a:t>
            </a:r>
            <a:endParaRPr/>
          </a:p>
          <a:p>
            <a:pPr indent="-317500" lvl="3" marL="1828800" rtl="0" algn="l">
              <a:spcBef>
                <a:spcPts val="0"/>
              </a:spcBef>
              <a:spcAft>
                <a:spcPts val="0"/>
              </a:spcAft>
              <a:buSzPts val="1400"/>
              <a:buChar char="●"/>
            </a:pPr>
            <a:r>
              <a:rPr lang="en"/>
              <a:t>There should be </a:t>
            </a:r>
            <a:r>
              <a:rPr b="1" lang="en"/>
              <a:t>at least</a:t>
            </a:r>
            <a:r>
              <a:rPr lang="en"/>
              <a:t> a weak tie between A and C </a:t>
            </a:r>
            <a:endParaRPr/>
          </a:p>
          <a:p>
            <a:pPr indent="-317500" lvl="1" marL="914400" rtl="0" algn="l">
              <a:spcBef>
                <a:spcPts val="0"/>
              </a:spcBef>
              <a:spcAft>
                <a:spcPts val="0"/>
              </a:spcAft>
              <a:buSzPts val="1400"/>
              <a:buChar char="○"/>
            </a:pPr>
            <a:r>
              <a:rPr lang="en"/>
              <a:t>Reasons for g-transitivity:</a:t>
            </a:r>
            <a:endParaRPr/>
          </a:p>
          <a:p>
            <a:pPr indent="-317500" lvl="2" marL="1371600" rtl="0" algn="l">
              <a:spcBef>
                <a:spcPts val="0"/>
              </a:spcBef>
              <a:spcAft>
                <a:spcPts val="0"/>
              </a:spcAft>
              <a:buSzPts val="1400"/>
              <a:buChar char="■"/>
            </a:pPr>
            <a:r>
              <a:rPr lang="en"/>
              <a:t>Demographic similarity (homophily)</a:t>
            </a:r>
            <a:endParaRPr/>
          </a:p>
          <a:p>
            <a:pPr indent="-317500" lvl="2" marL="1371600" rtl="0" algn="l">
              <a:spcBef>
                <a:spcPts val="0"/>
              </a:spcBef>
              <a:spcAft>
                <a:spcPts val="0"/>
              </a:spcAft>
              <a:buSzPts val="1400"/>
              <a:buChar char="■"/>
            </a:pPr>
            <a:r>
              <a:rPr lang="en"/>
              <a:t>Shared foci</a:t>
            </a:r>
            <a:endParaRPr/>
          </a:p>
          <a:p>
            <a:pPr indent="-317500" lvl="2" marL="1371600" rtl="0" algn="l">
              <a:spcBef>
                <a:spcPts val="0"/>
              </a:spcBef>
              <a:spcAft>
                <a:spcPts val="0"/>
              </a:spcAft>
              <a:buSzPts val="1400"/>
              <a:buChar char="■"/>
            </a:pPr>
            <a:r>
              <a:rPr lang="en"/>
              <a:t>Propinquity</a:t>
            </a:r>
            <a:endParaRPr/>
          </a:p>
          <a:p>
            <a:pPr indent="0" lvl="0" marL="0" rtl="0" algn="l">
              <a:spcBef>
                <a:spcPts val="0"/>
              </a:spcBef>
              <a:spcAft>
                <a:spcPts val="0"/>
              </a:spcAft>
              <a:buNone/>
            </a:pPr>
            <a:r>
              <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Granovetter’s strength of weak ties theory</a:t>
            </a:r>
            <a:endParaRPr/>
          </a:p>
        </p:txBody>
      </p:sp>
      <p:sp>
        <p:nvSpPr>
          <p:cNvPr id="1400" name="Google Shape;1400;p137"/>
          <p:cNvSpPr txBox="1"/>
          <p:nvPr>
            <p:ph idx="1" type="body"/>
          </p:nvPr>
        </p:nvSpPr>
        <p:spPr>
          <a:xfrm>
            <a:off x="311700" y="1225225"/>
            <a:ext cx="5050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Concept:</a:t>
            </a:r>
            <a:endParaRPr/>
          </a:p>
          <a:p>
            <a:pPr indent="-317500" lvl="1" marL="914400" marR="0" rtl="0" algn="l">
              <a:lnSpc>
                <a:spcPct val="115000"/>
              </a:lnSpc>
              <a:spcBef>
                <a:spcPts val="0"/>
              </a:spcBef>
              <a:spcAft>
                <a:spcPts val="0"/>
              </a:spcAft>
              <a:buClr>
                <a:schemeClr val="dk1"/>
              </a:buClr>
              <a:buSzPts val="1400"/>
              <a:buFont typeface="Open Sans"/>
              <a:buChar char="○"/>
            </a:pPr>
            <a:r>
              <a:rPr b="1" lang="en"/>
              <a:t>Granovetter’s weak tie principle:</a:t>
            </a:r>
            <a:endParaRPr b="1"/>
          </a:p>
          <a:p>
            <a:pPr indent="-317500" lvl="2" marL="1371600" marR="0" rtl="0" algn="l">
              <a:lnSpc>
                <a:spcPct val="115000"/>
              </a:lnSpc>
              <a:spcBef>
                <a:spcPts val="0"/>
              </a:spcBef>
              <a:spcAft>
                <a:spcPts val="0"/>
              </a:spcAft>
              <a:buSzPts val="1400"/>
              <a:buChar char="■"/>
            </a:pPr>
            <a:r>
              <a:rPr lang="en"/>
              <a:t>Weak ties allow for a violation of g-transitivity</a:t>
            </a:r>
            <a:endParaRPr/>
          </a:p>
          <a:p>
            <a:pPr indent="-317500" lvl="2" marL="1371600" marR="0" rtl="0" algn="l">
              <a:lnSpc>
                <a:spcPct val="115000"/>
              </a:lnSpc>
              <a:spcBef>
                <a:spcPts val="0"/>
              </a:spcBef>
              <a:spcAft>
                <a:spcPts val="0"/>
              </a:spcAft>
              <a:buSzPts val="1400"/>
              <a:buChar char="■"/>
            </a:pPr>
            <a:r>
              <a:rPr i="1" lang="en"/>
              <a:t>You don’t have to be connected to the people who are connected to the people whom you only have a weak tie connection to</a:t>
            </a:r>
            <a:endParaRPr i="1"/>
          </a:p>
        </p:txBody>
      </p:sp>
      <p:grpSp>
        <p:nvGrpSpPr>
          <p:cNvPr id="1401" name="Google Shape;1401;p137"/>
          <p:cNvGrpSpPr/>
          <p:nvPr/>
        </p:nvGrpSpPr>
        <p:grpSpPr>
          <a:xfrm>
            <a:off x="5793348" y="1660889"/>
            <a:ext cx="2838504" cy="2603276"/>
            <a:chOff x="5996200" y="1761038"/>
            <a:chExt cx="2546657" cy="2304600"/>
          </a:xfrm>
        </p:grpSpPr>
        <p:sp>
          <p:nvSpPr>
            <p:cNvPr id="1402" name="Google Shape;1402;p137"/>
            <p:cNvSpPr/>
            <p:nvPr/>
          </p:nvSpPr>
          <p:spPr>
            <a:xfrm>
              <a:off x="5996200" y="3486938"/>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1403" name="Google Shape;1403;p137"/>
            <p:cNvSpPr/>
            <p:nvPr/>
          </p:nvSpPr>
          <p:spPr>
            <a:xfrm>
              <a:off x="7917725" y="3486938"/>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cxnSp>
          <p:nvCxnSpPr>
            <p:cNvPr id="1404" name="Google Shape;1404;p137"/>
            <p:cNvCxnSpPr>
              <a:stCxn id="1402" idx="6"/>
              <a:endCxn id="1403" idx="2"/>
            </p:cNvCxnSpPr>
            <p:nvPr/>
          </p:nvCxnSpPr>
          <p:spPr>
            <a:xfrm>
              <a:off x="6498400" y="3721688"/>
              <a:ext cx="1419300" cy="0"/>
            </a:xfrm>
            <a:prstGeom prst="straightConnector1">
              <a:avLst/>
            </a:prstGeom>
            <a:noFill/>
            <a:ln cap="flat" cmpd="sng" w="19050">
              <a:solidFill>
                <a:schemeClr val="dk2"/>
              </a:solidFill>
              <a:prstDash val="dash"/>
              <a:round/>
              <a:headEnd len="med" w="med" type="none"/>
              <a:tailEnd len="med" w="med" type="none"/>
            </a:ln>
          </p:spPr>
        </p:cxnSp>
        <p:sp>
          <p:nvSpPr>
            <p:cNvPr id="1405" name="Google Shape;1405;p137"/>
            <p:cNvSpPr txBox="1"/>
            <p:nvPr/>
          </p:nvSpPr>
          <p:spPr>
            <a:xfrm>
              <a:off x="6640500" y="3814538"/>
              <a:ext cx="1130100" cy="25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Weak Tie</a:t>
              </a:r>
              <a:endParaRPr/>
            </a:p>
          </p:txBody>
        </p:sp>
        <p:sp>
          <p:nvSpPr>
            <p:cNvPr id="1406" name="Google Shape;1406;p137"/>
            <p:cNvSpPr/>
            <p:nvPr/>
          </p:nvSpPr>
          <p:spPr>
            <a:xfrm>
              <a:off x="7917725" y="1761038"/>
              <a:ext cx="502200" cy="469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cxnSp>
          <p:nvCxnSpPr>
            <p:cNvPr id="1407" name="Google Shape;1407;p137"/>
            <p:cNvCxnSpPr>
              <a:stCxn id="1406" idx="4"/>
              <a:endCxn id="1403" idx="0"/>
            </p:cNvCxnSpPr>
            <p:nvPr/>
          </p:nvCxnSpPr>
          <p:spPr>
            <a:xfrm>
              <a:off x="8168825" y="2230538"/>
              <a:ext cx="0" cy="1256400"/>
            </a:xfrm>
            <a:prstGeom prst="straightConnector1">
              <a:avLst/>
            </a:prstGeom>
            <a:noFill/>
            <a:ln cap="flat" cmpd="sng" w="76200">
              <a:solidFill>
                <a:schemeClr val="dk2"/>
              </a:solidFill>
              <a:prstDash val="solid"/>
              <a:round/>
              <a:headEnd len="med" w="med" type="none"/>
              <a:tailEnd len="med" w="med" type="none"/>
            </a:ln>
          </p:spPr>
        </p:cxnSp>
        <p:sp>
          <p:nvSpPr>
            <p:cNvPr id="1408" name="Google Shape;1408;p137"/>
            <p:cNvSpPr txBox="1"/>
            <p:nvPr/>
          </p:nvSpPr>
          <p:spPr>
            <a:xfrm rot="-5400913">
              <a:off x="7852107" y="2733191"/>
              <a:ext cx="1130100" cy="25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Strong Tie</a:t>
              </a:r>
              <a:endParaRPr/>
            </a:p>
          </p:txBody>
        </p:sp>
      </p:grpSp>
      <p:sp>
        <p:nvSpPr>
          <p:cNvPr id="1409" name="Google Shape;1409;p137"/>
          <p:cNvSpPr txBox="1"/>
          <p:nvPr/>
        </p:nvSpPr>
        <p:spPr>
          <a:xfrm>
            <a:off x="5849150" y="1147225"/>
            <a:ext cx="2126400" cy="71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Good probability of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no tie!</a:t>
            </a:r>
            <a:endParaRPr sz="1800">
              <a:latin typeface="Economica"/>
              <a:ea typeface="Economica"/>
              <a:cs typeface="Economica"/>
              <a:sym typeface="Economica"/>
            </a:endParaRPr>
          </a:p>
        </p:txBody>
      </p:sp>
      <p:cxnSp>
        <p:nvCxnSpPr>
          <p:cNvPr id="1410" name="Google Shape;1410;p137"/>
          <p:cNvCxnSpPr>
            <a:stCxn id="1409" idx="2"/>
          </p:cNvCxnSpPr>
          <p:nvPr/>
        </p:nvCxnSpPr>
        <p:spPr>
          <a:xfrm>
            <a:off x="6912350" y="1860925"/>
            <a:ext cx="6600" cy="11781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Strength of weak ties theory</a:t>
            </a:r>
            <a:endParaRPr/>
          </a:p>
        </p:txBody>
      </p:sp>
      <p:sp>
        <p:nvSpPr>
          <p:cNvPr id="1416" name="Google Shape;1416;p138"/>
          <p:cNvSpPr txBox="1"/>
          <p:nvPr>
            <p:ph idx="1" type="body"/>
          </p:nvPr>
        </p:nvSpPr>
        <p:spPr>
          <a:xfrm>
            <a:off x="311700" y="1225225"/>
            <a:ext cx="3739500" cy="321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Application of the g-transitivity principle to ego-network layers:</a:t>
            </a:r>
            <a:endParaRPr/>
          </a:p>
          <a:p>
            <a:pPr indent="-317500" lvl="1" marL="914400" rtl="0" algn="l">
              <a:spcBef>
                <a:spcPts val="0"/>
              </a:spcBef>
              <a:spcAft>
                <a:spcPts val="0"/>
              </a:spcAft>
              <a:buSzPts val="1400"/>
              <a:buChar char="○"/>
            </a:pPr>
            <a:r>
              <a:rPr lang="en"/>
              <a:t>G-transitivity more likely to apply to </a:t>
            </a:r>
            <a:r>
              <a:rPr b="1" lang="en"/>
              <a:t>strong ties </a:t>
            </a:r>
            <a:r>
              <a:rPr lang="en"/>
              <a:t>in your </a:t>
            </a:r>
            <a:r>
              <a:rPr b="1" lang="en"/>
              <a:t>support clique </a:t>
            </a:r>
            <a:r>
              <a:rPr lang="en"/>
              <a:t>and </a:t>
            </a:r>
            <a:r>
              <a:rPr b="1" lang="en"/>
              <a:t>sympathy group</a:t>
            </a:r>
            <a:endParaRPr b="1"/>
          </a:p>
          <a:p>
            <a:pPr indent="-342900" lvl="0" marL="457200" rtl="0" algn="l">
              <a:spcBef>
                <a:spcPts val="0"/>
              </a:spcBef>
              <a:spcAft>
                <a:spcPts val="0"/>
              </a:spcAft>
              <a:buSzPts val="1800"/>
              <a:buChar char="●"/>
            </a:pPr>
            <a:r>
              <a:rPr lang="en"/>
              <a:t>Implication:</a:t>
            </a:r>
            <a:endParaRPr/>
          </a:p>
          <a:p>
            <a:pPr indent="-317500" lvl="1" marL="914400" rtl="0" algn="l">
              <a:spcBef>
                <a:spcPts val="0"/>
              </a:spcBef>
              <a:spcAft>
                <a:spcPts val="0"/>
              </a:spcAft>
              <a:buSzPts val="1400"/>
              <a:buChar char="○"/>
            </a:pPr>
            <a:r>
              <a:rPr b="1" lang="en"/>
              <a:t>Weak ties</a:t>
            </a:r>
            <a:r>
              <a:rPr lang="en"/>
              <a:t> in you </a:t>
            </a:r>
            <a:r>
              <a:rPr b="1" lang="en"/>
              <a:t>active network </a:t>
            </a:r>
            <a:r>
              <a:rPr lang="en"/>
              <a:t>less likely to be connected to one another </a:t>
            </a:r>
            <a:endParaRPr/>
          </a:p>
          <a:p>
            <a:pPr indent="0" lvl="0" marL="457200" marR="0" rtl="0" algn="l">
              <a:lnSpc>
                <a:spcPct val="115000"/>
              </a:lnSpc>
              <a:spcBef>
                <a:spcPts val="0"/>
              </a:spcBef>
              <a:spcAft>
                <a:spcPts val="0"/>
              </a:spcAft>
              <a:buNone/>
            </a:pPr>
            <a:r>
              <a:t/>
            </a:r>
            <a:endParaRPr b="1"/>
          </a:p>
          <a:p>
            <a:pPr indent="0" lvl="0" marL="457200" rtl="0" algn="l">
              <a:spcBef>
                <a:spcPts val="1600"/>
              </a:spcBef>
              <a:spcAft>
                <a:spcPts val="0"/>
              </a:spcAft>
              <a:buNone/>
            </a:pPr>
            <a:r>
              <a:t/>
            </a:r>
            <a:endParaRPr/>
          </a:p>
        </p:txBody>
      </p:sp>
      <p:pic>
        <p:nvPicPr>
          <p:cNvPr descr="Fig%2525201Strong-Weak%252520ties-701724.jpg" id="1417" name="Google Shape;1417;p138"/>
          <p:cNvPicPr preferRelativeResize="0"/>
          <p:nvPr/>
        </p:nvPicPr>
        <p:blipFill rotWithShape="1">
          <a:blip r:embed="rId3">
            <a:alphaModFix/>
          </a:blip>
          <a:srcRect b="0" l="0" r="12694" t="0"/>
          <a:stretch/>
        </p:blipFill>
        <p:spPr>
          <a:xfrm>
            <a:off x="5092925" y="1294088"/>
            <a:ext cx="3739375" cy="3216275"/>
          </a:xfrm>
          <a:prstGeom prst="rect">
            <a:avLst/>
          </a:prstGeom>
          <a:noFill/>
          <a:ln>
            <a:noFill/>
          </a:ln>
        </p:spPr>
      </p:pic>
      <p:sp>
        <p:nvSpPr>
          <p:cNvPr id="1418" name="Google Shape;1418;p138"/>
          <p:cNvSpPr txBox="1"/>
          <p:nvPr/>
        </p:nvSpPr>
        <p:spPr>
          <a:xfrm>
            <a:off x="7336200" y="1190450"/>
            <a:ext cx="1496100" cy="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G-transitive ties</a:t>
            </a:r>
            <a:endParaRPr/>
          </a:p>
        </p:txBody>
      </p:sp>
      <p:cxnSp>
        <p:nvCxnSpPr>
          <p:cNvPr id="1419" name="Google Shape;1419;p138"/>
          <p:cNvCxnSpPr>
            <a:stCxn id="1418" idx="2"/>
          </p:cNvCxnSpPr>
          <p:nvPr/>
        </p:nvCxnSpPr>
        <p:spPr>
          <a:xfrm rot="5400000">
            <a:off x="6730200" y="1638500"/>
            <a:ext cx="1455300" cy="1252800"/>
          </a:xfrm>
          <a:prstGeom prst="bentConnector3">
            <a:avLst>
              <a:gd fmla="val 50000" name="adj1"/>
            </a:avLst>
          </a:prstGeom>
          <a:noFill/>
          <a:ln cap="flat" cmpd="sng" w="28575">
            <a:solidFill>
              <a:srgbClr val="FF0000"/>
            </a:solidFill>
            <a:prstDash val="solid"/>
            <a:round/>
            <a:headEnd len="med" w="med" type="none"/>
            <a:tailEnd len="med" w="med" type="stealth"/>
          </a:ln>
        </p:spPr>
      </p:cxnSp>
      <p:cxnSp>
        <p:nvCxnSpPr>
          <p:cNvPr id="1420" name="Google Shape;1420;p138"/>
          <p:cNvCxnSpPr>
            <a:stCxn id="1418" idx="2"/>
          </p:cNvCxnSpPr>
          <p:nvPr/>
        </p:nvCxnSpPr>
        <p:spPr>
          <a:xfrm rot="5400000">
            <a:off x="7320900" y="1848500"/>
            <a:ext cx="1074600" cy="452100"/>
          </a:xfrm>
          <a:prstGeom prst="bentConnector3">
            <a:avLst>
              <a:gd fmla="val 50000" name="adj1"/>
            </a:avLst>
          </a:prstGeom>
          <a:noFill/>
          <a:ln cap="flat" cmpd="sng" w="28575">
            <a:solidFill>
              <a:srgbClr val="FF0000"/>
            </a:solidFill>
            <a:prstDash val="solid"/>
            <a:round/>
            <a:headEnd len="med" w="med" type="none"/>
            <a:tailEnd len="med" w="med" type="stealth"/>
          </a:ln>
        </p:spPr>
      </p:cxnSp>
      <p:sp>
        <p:nvSpPr>
          <p:cNvPr id="1421" name="Google Shape;1421;p138"/>
          <p:cNvSpPr/>
          <p:nvPr/>
        </p:nvSpPr>
        <p:spPr>
          <a:xfrm rot="-1688698">
            <a:off x="6288089" y="2489675"/>
            <a:ext cx="1883172" cy="795089"/>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38"/>
          <p:cNvSpPr txBox="1"/>
          <p:nvPr/>
        </p:nvSpPr>
        <p:spPr>
          <a:xfrm>
            <a:off x="3393175" y="3890400"/>
            <a:ext cx="2035500" cy="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G-transitivity violations</a:t>
            </a:r>
            <a:endParaRPr/>
          </a:p>
        </p:txBody>
      </p:sp>
      <p:sp>
        <p:nvSpPr>
          <p:cNvPr id="1423" name="Google Shape;1423;p138"/>
          <p:cNvSpPr/>
          <p:nvPr/>
        </p:nvSpPr>
        <p:spPr>
          <a:xfrm>
            <a:off x="5930725" y="2325338"/>
            <a:ext cx="369600" cy="3468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38"/>
          <p:cNvSpPr/>
          <p:nvPr/>
        </p:nvSpPr>
        <p:spPr>
          <a:xfrm rot="-1208086">
            <a:off x="6450672" y="3449826"/>
            <a:ext cx="2459405" cy="811959"/>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25" name="Google Shape;1425;p138"/>
          <p:cNvCxnSpPr>
            <a:stCxn id="1422" idx="2"/>
            <a:endCxn id="1424" idx="4"/>
          </p:cNvCxnSpPr>
          <p:nvPr/>
        </p:nvCxnSpPr>
        <p:spPr>
          <a:xfrm flipH="1" rot="-5400000">
            <a:off x="6115225" y="2532900"/>
            <a:ext cx="600" cy="3409200"/>
          </a:xfrm>
          <a:prstGeom prst="bentConnector3">
            <a:avLst>
              <a:gd fmla="val 71058030" name="adj1"/>
            </a:avLst>
          </a:prstGeom>
          <a:noFill/>
          <a:ln cap="flat" cmpd="sng" w="28575">
            <a:solidFill>
              <a:srgbClr val="FF0000"/>
            </a:solidFill>
            <a:prstDash val="solid"/>
            <a:round/>
            <a:headEnd len="med" w="med" type="none"/>
            <a:tailEnd len="med" w="med" type="stealth"/>
          </a:ln>
        </p:spPr>
      </p:cxnSp>
      <p:cxnSp>
        <p:nvCxnSpPr>
          <p:cNvPr id="1426" name="Google Shape;1426;p138"/>
          <p:cNvCxnSpPr>
            <a:stCxn id="1422" idx="0"/>
            <a:endCxn id="1423" idx="4"/>
          </p:cNvCxnSpPr>
          <p:nvPr/>
        </p:nvCxnSpPr>
        <p:spPr>
          <a:xfrm rot="-5400000">
            <a:off x="4654075" y="2428950"/>
            <a:ext cx="1218300" cy="1704600"/>
          </a:xfrm>
          <a:prstGeom prst="bentConnector3">
            <a:avLst>
              <a:gd fmla="val 49998" name="adj1"/>
            </a:avLst>
          </a:prstGeom>
          <a:noFill/>
          <a:ln cap="flat" cmpd="sng" w="28575">
            <a:solidFill>
              <a:srgbClr val="FF0000"/>
            </a:solidFill>
            <a:prstDash val="solid"/>
            <a:round/>
            <a:headEnd len="med" w="med" type="none"/>
            <a:tailEnd len="med" w="med" type="stealth"/>
          </a:ln>
        </p:spPr>
      </p:cxn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1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Strength of weak ties theory</a:t>
            </a:r>
            <a:endParaRPr/>
          </a:p>
        </p:txBody>
      </p:sp>
      <p:sp>
        <p:nvSpPr>
          <p:cNvPr id="1432" name="Google Shape;1432;p139"/>
          <p:cNvSpPr txBox="1"/>
          <p:nvPr>
            <p:ph idx="1" type="body"/>
          </p:nvPr>
        </p:nvSpPr>
        <p:spPr>
          <a:xfrm>
            <a:off x="311700" y="1225225"/>
            <a:ext cx="4781100" cy="321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Application of the g-transitivity principle to ego-network layers:</a:t>
            </a:r>
            <a:endParaRPr/>
          </a:p>
          <a:p>
            <a:pPr indent="-317500" lvl="1" marL="914400" rtl="0" algn="l">
              <a:spcBef>
                <a:spcPts val="0"/>
              </a:spcBef>
              <a:spcAft>
                <a:spcPts val="0"/>
              </a:spcAft>
              <a:buSzPts val="1400"/>
              <a:buChar char="○"/>
            </a:pPr>
            <a:r>
              <a:rPr lang="en"/>
              <a:t>Weak ties can function as </a:t>
            </a:r>
            <a:r>
              <a:rPr b="1" lang="en"/>
              <a:t>bridges</a:t>
            </a:r>
            <a:r>
              <a:rPr lang="en"/>
              <a:t> to parts of social structure to which you wouldn’t have access</a:t>
            </a:r>
            <a:endParaRPr/>
          </a:p>
          <a:p>
            <a:pPr indent="-342900" lvl="0" marL="457200" rtl="0" algn="l">
              <a:spcBef>
                <a:spcPts val="0"/>
              </a:spcBef>
              <a:spcAft>
                <a:spcPts val="0"/>
              </a:spcAft>
              <a:buSzPts val="1800"/>
              <a:buChar char="●"/>
            </a:pPr>
            <a:r>
              <a:rPr lang="en"/>
              <a:t>Implication:</a:t>
            </a:r>
            <a:endParaRPr/>
          </a:p>
          <a:p>
            <a:pPr indent="-317500" lvl="1" marL="914400" rtl="0" algn="l">
              <a:spcBef>
                <a:spcPts val="0"/>
              </a:spcBef>
              <a:spcAft>
                <a:spcPts val="0"/>
              </a:spcAft>
              <a:buSzPts val="1400"/>
              <a:buChar char="○"/>
            </a:pPr>
            <a:r>
              <a:rPr lang="en"/>
              <a:t>Absent weak ties:</a:t>
            </a:r>
            <a:endParaRPr/>
          </a:p>
          <a:p>
            <a:pPr indent="-317500" lvl="2" marL="1371600" rtl="0" algn="l">
              <a:spcBef>
                <a:spcPts val="0"/>
              </a:spcBef>
              <a:spcAft>
                <a:spcPts val="0"/>
              </a:spcAft>
              <a:buSzPts val="1400"/>
              <a:buChar char="■"/>
            </a:pPr>
            <a:r>
              <a:rPr lang="en"/>
              <a:t>You will not have access to distant parts of the social system</a:t>
            </a:r>
            <a:endParaRPr/>
          </a:p>
          <a:p>
            <a:pPr indent="-317500" lvl="2" marL="1371600" rtl="0" algn="l">
              <a:spcBef>
                <a:spcPts val="0"/>
              </a:spcBef>
              <a:spcAft>
                <a:spcPts val="0"/>
              </a:spcAft>
              <a:buSzPts val="1400"/>
              <a:buChar char="■"/>
            </a:pPr>
            <a:r>
              <a:rPr lang="en"/>
              <a:t>Information will tend to be local</a:t>
            </a:r>
            <a:endParaRPr/>
          </a:p>
          <a:p>
            <a:pPr indent="-317500" lvl="2" marL="1371600" rtl="0" algn="l">
              <a:spcBef>
                <a:spcPts val="0"/>
              </a:spcBef>
              <a:spcAft>
                <a:spcPts val="0"/>
              </a:spcAft>
              <a:buSzPts val="1400"/>
              <a:buChar char="■"/>
            </a:pPr>
            <a:r>
              <a:rPr lang="en"/>
              <a:t>Will put you at a </a:t>
            </a:r>
            <a:r>
              <a:rPr b="1" lang="en"/>
              <a:t>disadvantage </a:t>
            </a:r>
            <a:r>
              <a:rPr lang="en"/>
              <a:t>when </a:t>
            </a:r>
            <a:r>
              <a:rPr b="1" lang="en"/>
              <a:t>novel </a:t>
            </a:r>
            <a:r>
              <a:rPr lang="en"/>
              <a:t>information is </a:t>
            </a:r>
            <a:r>
              <a:rPr b="1" lang="en"/>
              <a:t>valuable </a:t>
            </a:r>
            <a:r>
              <a:rPr lang="en"/>
              <a:t> </a:t>
            </a:r>
            <a:endParaRPr/>
          </a:p>
          <a:p>
            <a:pPr indent="0" lvl="0" marL="0" rtl="0" algn="l">
              <a:spcBef>
                <a:spcPts val="0"/>
              </a:spcBef>
              <a:spcAft>
                <a:spcPts val="0"/>
              </a:spcAft>
              <a:buNone/>
            </a:pPr>
            <a:r>
              <a:t/>
            </a:r>
            <a:endParaRPr/>
          </a:p>
        </p:txBody>
      </p:sp>
      <p:pic>
        <p:nvPicPr>
          <p:cNvPr descr="Fig%2525201Strong-Weak%252520ties-701724.jpg" id="1433" name="Google Shape;1433;p139"/>
          <p:cNvPicPr preferRelativeResize="0"/>
          <p:nvPr/>
        </p:nvPicPr>
        <p:blipFill rotWithShape="1">
          <a:blip r:embed="rId3">
            <a:alphaModFix/>
          </a:blip>
          <a:srcRect b="0" l="0" r="12694" t="0"/>
          <a:stretch/>
        </p:blipFill>
        <p:spPr>
          <a:xfrm>
            <a:off x="5092925" y="1294088"/>
            <a:ext cx="3739375" cy="3216275"/>
          </a:xfrm>
          <a:prstGeom prst="rect">
            <a:avLst/>
          </a:prstGeom>
          <a:noFill/>
          <a:ln>
            <a:noFill/>
          </a:ln>
        </p:spPr>
      </p:pic>
      <p:sp>
        <p:nvSpPr>
          <p:cNvPr id="1434" name="Google Shape;1434;p139"/>
          <p:cNvSpPr/>
          <p:nvPr/>
        </p:nvSpPr>
        <p:spPr>
          <a:xfrm rot="-1688698">
            <a:off x="6288089" y="2489675"/>
            <a:ext cx="1883172" cy="795089"/>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39"/>
          <p:cNvSpPr/>
          <p:nvPr/>
        </p:nvSpPr>
        <p:spPr>
          <a:xfrm>
            <a:off x="5733200" y="2518813"/>
            <a:ext cx="369600" cy="3468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39"/>
          <p:cNvSpPr/>
          <p:nvPr/>
        </p:nvSpPr>
        <p:spPr>
          <a:xfrm rot="-1208086">
            <a:off x="6450672" y="3449826"/>
            <a:ext cx="2459405" cy="811959"/>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pic>
        <p:nvPicPr>
          <p:cNvPr descr="Fig%2525201Strong-Weak%252520ties-701724.jpg" id="1441" name="Google Shape;1441;p140"/>
          <p:cNvPicPr preferRelativeResize="0"/>
          <p:nvPr/>
        </p:nvPicPr>
        <p:blipFill rotWithShape="1">
          <a:blip r:embed="rId3">
            <a:alphaModFix/>
          </a:blip>
          <a:srcRect b="0" l="0" r="12694" t="0"/>
          <a:stretch/>
        </p:blipFill>
        <p:spPr>
          <a:xfrm>
            <a:off x="5092925" y="1294088"/>
            <a:ext cx="3739375" cy="3216275"/>
          </a:xfrm>
          <a:prstGeom prst="rect">
            <a:avLst/>
          </a:prstGeom>
          <a:noFill/>
          <a:ln>
            <a:noFill/>
          </a:ln>
        </p:spPr>
      </p:pic>
      <p:sp>
        <p:nvSpPr>
          <p:cNvPr id="1442" name="Google Shape;1442;p140"/>
          <p:cNvSpPr txBox="1"/>
          <p:nvPr/>
        </p:nvSpPr>
        <p:spPr>
          <a:xfrm>
            <a:off x="5858800" y="4441525"/>
            <a:ext cx="1105800" cy="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Bridging tie</a:t>
            </a:r>
            <a:endParaRPr/>
          </a:p>
        </p:txBody>
      </p:sp>
      <p:sp>
        <p:nvSpPr>
          <p:cNvPr id="1443" name="Google Shape;1443;p1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Strength of weak ties theory</a:t>
            </a:r>
            <a:endParaRPr/>
          </a:p>
        </p:txBody>
      </p:sp>
      <p:sp>
        <p:nvSpPr>
          <p:cNvPr id="1444" name="Google Shape;1444;p140"/>
          <p:cNvSpPr/>
          <p:nvPr/>
        </p:nvSpPr>
        <p:spPr>
          <a:xfrm>
            <a:off x="5776900" y="2418900"/>
            <a:ext cx="163800" cy="2130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40"/>
          <p:cNvSpPr txBox="1"/>
          <p:nvPr/>
        </p:nvSpPr>
        <p:spPr>
          <a:xfrm>
            <a:off x="5259225" y="3192200"/>
            <a:ext cx="768300" cy="21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Broker</a:t>
            </a:r>
            <a:endParaRPr/>
          </a:p>
        </p:txBody>
      </p:sp>
      <p:sp>
        <p:nvSpPr>
          <p:cNvPr id="1446" name="Google Shape;1446;p140"/>
          <p:cNvSpPr/>
          <p:nvPr/>
        </p:nvSpPr>
        <p:spPr>
          <a:xfrm>
            <a:off x="5813425" y="2178750"/>
            <a:ext cx="462600" cy="346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40"/>
          <p:cNvSpPr txBox="1"/>
          <p:nvPr/>
        </p:nvSpPr>
        <p:spPr>
          <a:xfrm>
            <a:off x="7759075" y="844400"/>
            <a:ext cx="1191000" cy="15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People who may know something your close friends don’t know</a:t>
            </a:r>
            <a:endParaRPr/>
          </a:p>
        </p:txBody>
      </p:sp>
      <p:sp>
        <p:nvSpPr>
          <p:cNvPr id="1448" name="Google Shape;1448;p140"/>
          <p:cNvSpPr/>
          <p:nvPr/>
        </p:nvSpPr>
        <p:spPr>
          <a:xfrm>
            <a:off x="4508600" y="1795500"/>
            <a:ext cx="831000" cy="6234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40"/>
          <p:cNvSpPr txBox="1"/>
          <p:nvPr>
            <p:ph idx="1" type="body"/>
          </p:nvPr>
        </p:nvSpPr>
        <p:spPr>
          <a:xfrm>
            <a:off x="311700" y="1225225"/>
            <a:ext cx="4781100" cy="321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Application of the g-transitivity principle to ego-network layers:</a:t>
            </a:r>
            <a:endParaRPr/>
          </a:p>
          <a:p>
            <a:pPr indent="-317500" lvl="1" marL="914400" rtl="0" algn="l">
              <a:spcBef>
                <a:spcPts val="0"/>
              </a:spcBef>
              <a:spcAft>
                <a:spcPts val="0"/>
              </a:spcAft>
              <a:buSzPts val="1400"/>
              <a:buChar char="○"/>
            </a:pPr>
            <a:r>
              <a:rPr lang="en"/>
              <a:t>Weak ties can function as </a:t>
            </a:r>
            <a:r>
              <a:rPr b="1" lang="en"/>
              <a:t>bridges</a:t>
            </a:r>
            <a:r>
              <a:rPr lang="en"/>
              <a:t> to parts of social structure to which you wouldn’t have access</a:t>
            </a:r>
            <a:endParaRPr/>
          </a:p>
          <a:p>
            <a:pPr indent="-342900" lvl="0" marL="457200" rtl="0" algn="l">
              <a:spcBef>
                <a:spcPts val="0"/>
              </a:spcBef>
              <a:spcAft>
                <a:spcPts val="0"/>
              </a:spcAft>
              <a:buSzPts val="1800"/>
              <a:buChar char="●"/>
            </a:pPr>
            <a:r>
              <a:rPr lang="en"/>
              <a:t>Implication:</a:t>
            </a:r>
            <a:endParaRPr/>
          </a:p>
          <a:p>
            <a:pPr indent="-317500" lvl="1" marL="914400" rtl="0" algn="l">
              <a:spcBef>
                <a:spcPts val="0"/>
              </a:spcBef>
              <a:spcAft>
                <a:spcPts val="0"/>
              </a:spcAft>
              <a:buSzPts val="1400"/>
              <a:buChar char="○"/>
            </a:pPr>
            <a:r>
              <a:rPr lang="en"/>
              <a:t>Absent weak ties:</a:t>
            </a:r>
            <a:endParaRPr/>
          </a:p>
          <a:p>
            <a:pPr indent="-317500" lvl="2" marL="1371600" rtl="0" algn="l">
              <a:spcBef>
                <a:spcPts val="0"/>
              </a:spcBef>
              <a:spcAft>
                <a:spcPts val="0"/>
              </a:spcAft>
              <a:buSzPts val="1400"/>
              <a:buChar char="■"/>
            </a:pPr>
            <a:r>
              <a:rPr lang="en"/>
              <a:t>You will not have access to distant parts of the social system</a:t>
            </a:r>
            <a:endParaRPr/>
          </a:p>
          <a:p>
            <a:pPr indent="-317500" lvl="2" marL="1371600" rtl="0" algn="l">
              <a:spcBef>
                <a:spcPts val="0"/>
              </a:spcBef>
              <a:spcAft>
                <a:spcPts val="0"/>
              </a:spcAft>
              <a:buSzPts val="1400"/>
              <a:buChar char="■"/>
            </a:pPr>
            <a:r>
              <a:rPr lang="en"/>
              <a:t>Information will tend to be local</a:t>
            </a:r>
            <a:endParaRPr/>
          </a:p>
          <a:p>
            <a:pPr indent="-317500" lvl="2" marL="1371600" rtl="0" algn="l">
              <a:spcBef>
                <a:spcPts val="0"/>
              </a:spcBef>
              <a:spcAft>
                <a:spcPts val="0"/>
              </a:spcAft>
              <a:buSzPts val="1400"/>
              <a:buChar char="■"/>
            </a:pPr>
            <a:r>
              <a:rPr lang="en"/>
              <a:t>Will put you at a </a:t>
            </a:r>
            <a:r>
              <a:rPr b="1" lang="en"/>
              <a:t>disadvantage </a:t>
            </a:r>
            <a:r>
              <a:rPr lang="en"/>
              <a:t>when </a:t>
            </a:r>
            <a:r>
              <a:rPr b="1" lang="en"/>
              <a:t>novel </a:t>
            </a:r>
            <a:r>
              <a:rPr lang="en"/>
              <a:t>information is </a:t>
            </a:r>
            <a:r>
              <a:rPr b="1" lang="en"/>
              <a:t>valuable </a:t>
            </a:r>
            <a:r>
              <a:rPr lang="en"/>
              <a:t> </a:t>
            </a:r>
            <a:endParaRPr/>
          </a:p>
          <a:p>
            <a:pPr indent="0" lvl="0" marL="0" rtl="0" algn="l">
              <a:spcBef>
                <a:spcPts val="0"/>
              </a:spcBef>
              <a:spcAft>
                <a:spcPts val="0"/>
              </a:spcAft>
              <a:buNone/>
            </a:pPr>
            <a:r>
              <a:t/>
            </a:r>
            <a:endParaRPr/>
          </a:p>
        </p:txBody>
      </p:sp>
      <p:cxnSp>
        <p:nvCxnSpPr>
          <p:cNvPr id="1450" name="Google Shape;1450;p140"/>
          <p:cNvCxnSpPr>
            <a:stCxn id="1447" idx="1"/>
          </p:cNvCxnSpPr>
          <p:nvPr/>
        </p:nvCxnSpPr>
        <p:spPr>
          <a:xfrm flipH="1">
            <a:off x="5713375" y="1598300"/>
            <a:ext cx="2045700" cy="381600"/>
          </a:xfrm>
          <a:prstGeom prst="straightConnector1">
            <a:avLst/>
          </a:prstGeom>
          <a:noFill/>
          <a:ln cap="flat" cmpd="sng" w="28575">
            <a:solidFill>
              <a:srgbClr val="FF0000"/>
            </a:solidFill>
            <a:prstDash val="solid"/>
            <a:round/>
            <a:headEnd len="med" w="med" type="none"/>
            <a:tailEnd len="med" w="med" type="stealth"/>
          </a:ln>
        </p:spPr>
      </p:cxnSp>
      <p:cxnSp>
        <p:nvCxnSpPr>
          <p:cNvPr id="1451" name="Google Shape;1451;p140"/>
          <p:cNvCxnSpPr>
            <a:stCxn id="1445" idx="0"/>
            <a:endCxn id="1446" idx="4"/>
          </p:cNvCxnSpPr>
          <p:nvPr/>
        </p:nvCxnSpPr>
        <p:spPr>
          <a:xfrm flipH="1" rot="10800000">
            <a:off x="5643375" y="2525600"/>
            <a:ext cx="401400" cy="666600"/>
          </a:xfrm>
          <a:prstGeom prst="straightConnector1">
            <a:avLst/>
          </a:prstGeom>
          <a:noFill/>
          <a:ln cap="flat" cmpd="sng" w="28575">
            <a:solidFill>
              <a:srgbClr val="FF0000"/>
            </a:solidFill>
            <a:prstDash val="solid"/>
            <a:round/>
            <a:headEnd len="med" w="med" type="none"/>
            <a:tailEnd len="med" w="med" type="stealth"/>
          </a:ln>
        </p:spPr>
      </p:cxnSp>
      <p:cxnSp>
        <p:nvCxnSpPr>
          <p:cNvPr id="1452" name="Google Shape;1452;p140"/>
          <p:cNvCxnSpPr>
            <a:stCxn id="1442" idx="0"/>
          </p:cNvCxnSpPr>
          <p:nvPr/>
        </p:nvCxnSpPr>
        <p:spPr>
          <a:xfrm flipH="1" rot="10800000">
            <a:off x="6411700" y="2659525"/>
            <a:ext cx="32400" cy="1782000"/>
          </a:xfrm>
          <a:prstGeom prst="straightConnector1">
            <a:avLst/>
          </a:prstGeom>
          <a:noFill/>
          <a:ln cap="flat" cmpd="sng" w="28575">
            <a:solidFill>
              <a:srgbClr val="FF0000"/>
            </a:solidFill>
            <a:prstDash val="solid"/>
            <a:round/>
            <a:headEnd len="med" w="med" type="none"/>
            <a:tailEnd len="med" w="med" type="stealth"/>
          </a:ln>
        </p:spPr>
      </p:cxn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Application: Getting a job</a:t>
            </a:r>
            <a:endParaRPr/>
          </a:p>
        </p:txBody>
      </p:sp>
      <p:sp>
        <p:nvSpPr>
          <p:cNvPr id="1458" name="Google Shape;1458;p141"/>
          <p:cNvSpPr txBox="1"/>
          <p:nvPr>
            <p:ph idx="1" type="body"/>
          </p:nvPr>
        </p:nvSpPr>
        <p:spPr>
          <a:xfrm>
            <a:off x="311700" y="1225225"/>
            <a:ext cx="5259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If social mobility (e.g. finding new job opportunities) depends on (new) information access:</a:t>
            </a:r>
            <a:endParaRPr/>
          </a:p>
          <a:p>
            <a:pPr indent="-317500" lvl="1" marL="914400" marR="0" rtl="0" algn="l">
              <a:lnSpc>
                <a:spcPct val="115000"/>
              </a:lnSpc>
              <a:spcBef>
                <a:spcPts val="0"/>
              </a:spcBef>
              <a:spcAft>
                <a:spcPts val="0"/>
              </a:spcAft>
              <a:buSzPts val="1400"/>
              <a:buChar char="○"/>
            </a:pPr>
            <a:r>
              <a:rPr lang="en"/>
              <a:t>Then having weak ties will be correlated with mobility and other forms of success</a:t>
            </a:r>
            <a:endParaRPr/>
          </a:p>
          <a:p>
            <a:pPr indent="-317500" lvl="1" marL="914400" marR="0" rtl="0" algn="l">
              <a:lnSpc>
                <a:spcPct val="115000"/>
              </a:lnSpc>
              <a:spcBef>
                <a:spcPts val="0"/>
              </a:spcBef>
              <a:spcAft>
                <a:spcPts val="0"/>
              </a:spcAft>
              <a:buSzPts val="1400"/>
              <a:buChar char="○"/>
            </a:pPr>
            <a:r>
              <a:rPr lang="en"/>
              <a:t>Contacts with whom you are weakly connected will be more likely to know something you don’t know</a:t>
            </a:r>
            <a:endParaRPr/>
          </a:p>
          <a:p>
            <a:pPr indent="-317500" lvl="1" marL="914400" marR="0" rtl="0" algn="l">
              <a:lnSpc>
                <a:spcPct val="115000"/>
              </a:lnSpc>
              <a:spcBef>
                <a:spcPts val="0"/>
              </a:spcBef>
              <a:spcAft>
                <a:spcPts val="0"/>
              </a:spcAft>
              <a:buSzPts val="1400"/>
              <a:buChar char="○"/>
            </a:pPr>
            <a:r>
              <a:rPr lang="en"/>
              <a:t>Weak ties help you insofar as they connect you to others with access to both information and resources </a:t>
            </a:r>
            <a:endParaRPr/>
          </a:p>
        </p:txBody>
      </p:sp>
      <p:pic>
        <p:nvPicPr>
          <p:cNvPr descr="granov2.gif" id="1459" name="Google Shape;1459;p141"/>
          <p:cNvPicPr preferRelativeResize="0"/>
          <p:nvPr/>
        </p:nvPicPr>
        <p:blipFill>
          <a:blip r:embed="rId3">
            <a:alphaModFix/>
          </a:blip>
          <a:stretch>
            <a:fillRect/>
          </a:stretch>
        </p:blipFill>
        <p:spPr>
          <a:xfrm>
            <a:off x="5571000" y="1067738"/>
            <a:ext cx="3261300" cy="3668972"/>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pic>
        <p:nvPicPr>
          <p:cNvPr descr="Fig%2525201Strong-Weak%252520ties-701724.jpg" id="1464" name="Google Shape;1464;p142"/>
          <p:cNvPicPr preferRelativeResize="0"/>
          <p:nvPr/>
        </p:nvPicPr>
        <p:blipFill rotWithShape="1">
          <a:blip r:embed="rId3">
            <a:alphaModFix/>
          </a:blip>
          <a:srcRect b="0" l="0" r="12694" t="0"/>
          <a:stretch/>
        </p:blipFill>
        <p:spPr>
          <a:xfrm>
            <a:off x="5092925" y="1294088"/>
            <a:ext cx="3739375" cy="3216275"/>
          </a:xfrm>
          <a:prstGeom prst="rect">
            <a:avLst/>
          </a:prstGeom>
          <a:noFill/>
          <a:ln>
            <a:noFill/>
          </a:ln>
        </p:spPr>
      </p:pic>
      <p:sp>
        <p:nvSpPr>
          <p:cNvPr id="1465" name="Google Shape;1465;p1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Structural holes theory</a:t>
            </a:r>
            <a:endParaRPr/>
          </a:p>
        </p:txBody>
      </p:sp>
      <p:sp>
        <p:nvSpPr>
          <p:cNvPr id="1466" name="Google Shape;1466;p142"/>
          <p:cNvSpPr txBox="1"/>
          <p:nvPr>
            <p:ph idx="1" type="body"/>
          </p:nvPr>
        </p:nvSpPr>
        <p:spPr>
          <a:xfrm>
            <a:off x="311700" y="1225225"/>
            <a:ext cx="4283100" cy="3354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b="1" lang="en"/>
              <a:t>Strength of weak ties</a:t>
            </a:r>
            <a:r>
              <a:rPr lang="en"/>
              <a:t> theory is a theory about how you can connect to </a:t>
            </a:r>
            <a:r>
              <a:rPr b="1" lang="en"/>
              <a:t>brokers</a:t>
            </a:r>
            <a:r>
              <a:rPr lang="en"/>
              <a:t> by developing </a:t>
            </a:r>
            <a:r>
              <a:rPr b="1" lang="en"/>
              <a:t>bridging </a:t>
            </a:r>
            <a:r>
              <a:rPr lang="en"/>
              <a:t>ties</a:t>
            </a:r>
            <a:endParaRPr/>
          </a:p>
          <a:p>
            <a:pPr indent="-317500" lvl="1" marL="914400" marR="0" rtl="0" algn="l">
              <a:lnSpc>
                <a:spcPct val="115000"/>
              </a:lnSpc>
              <a:spcBef>
                <a:spcPts val="0"/>
              </a:spcBef>
              <a:spcAft>
                <a:spcPts val="0"/>
              </a:spcAft>
              <a:buSzPts val="1400"/>
              <a:buChar char="○"/>
            </a:pPr>
            <a:r>
              <a:rPr lang="en"/>
              <a:t>It is a theory of social capital as </a:t>
            </a:r>
            <a:r>
              <a:rPr b="1" lang="en"/>
              <a:t>information access</a:t>
            </a:r>
            <a:endParaRPr b="1"/>
          </a:p>
          <a:p>
            <a:pPr indent="-342900" lvl="0" marL="457200" marR="0" rtl="0" algn="l">
              <a:lnSpc>
                <a:spcPct val="115000"/>
              </a:lnSpc>
              <a:spcBef>
                <a:spcPts val="0"/>
              </a:spcBef>
              <a:spcAft>
                <a:spcPts val="0"/>
              </a:spcAft>
              <a:buSzPts val="1800"/>
              <a:buChar char="●"/>
            </a:pPr>
            <a:r>
              <a:rPr lang="en"/>
              <a:t>But note that here the powerful person is the </a:t>
            </a:r>
            <a:r>
              <a:rPr b="1" lang="en"/>
              <a:t>broker</a:t>
            </a:r>
            <a:r>
              <a:rPr lang="en"/>
              <a:t> not </a:t>
            </a:r>
            <a:r>
              <a:rPr b="1" lang="en"/>
              <a:t>you</a:t>
            </a:r>
            <a:endParaRPr b="1"/>
          </a:p>
          <a:p>
            <a:pPr indent="-317500" lvl="1" marL="914400" marR="0" rtl="0" algn="l">
              <a:lnSpc>
                <a:spcPct val="115000"/>
              </a:lnSpc>
              <a:spcBef>
                <a:spcPts val="0"/>
              </a:spcBef>
              <a:spcAft>
                <a:spcPts val="0"/>
              </a:spcAft>
              <a:buSzPts val="1400"/>
              <a:buChar char="○"/>
            </a:pPr>
            <a:r>
              <a:rPr lang="en"/>
              <a:t>She controls the information</a:t>
            </a:r>
            <a:endParaRPr/>
          </a:p>
          <a:p>
            <a:pPr indent="-342900" lvl="0" marL="457200" marR="0" rtl="0" algn="l">
              <a:lnSpc>
                <a:spcPct val="115000"/>
              </a:lnSpc>
              <a:spcBef>
                <a:spcPts val="0"/>
              </a:spcBef>
              <a:spcAft>
                <a:spcPts val="0"/>
              </a:spcAft>
              <a:buClr>
                <a:srgbClr val="FF0000"/>
              </a:buClr>
              <a:buSzPts val="1800"/>
              <a:buChar char="●"/>
            </a:pPr>
            <a:r>
              <a:rPr i="1" lang="en">
                <a:solidFill>
                  <a:srgbClr val="FF0000"/>
                </a:solidFill>
              </a:rPr>
              <a:t>What if you want to be the broker in control?</a:t>
            </a:r>
            <a:endParaRPr i="1">
              <a:solidFill>
                <a:srgbClr val="FF0000"/>
              </a:solidFill>
            </a:endParaRPr>
          </a:p>
        </p:txBody>
      </p:sp>
      <p:sp>
        <p:nvSpPr>
          <p:cNvPr id="1467" name="Google Shape;1467;p142"/>
          <p:cNvSpPr/>
          <p:nvPr/>
        </p:nvSpPr>
        <p:spPr>
          <a:xfrm>
            <a:off x="5776900" y="2418900"/>
            <a:ext cx="163800" cy="2130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42"/>
          <p:cNvSpPr/>
          <p:nvPr/>
        </p:nvSpPr>
        <p:spPr>
          <a:xfrm>
            <a:off x="4508600" y="1795500"/>
            <a:ext cx="831000" cy="623400"/>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42"/>
          <p:cNvSpPr txBox="1"/>
          <p:nvPr/>
        </p:nvSpPr>
        <p:spPr>
          <a:xfrm>
            <a:off x="5858800" y="4441525"/>
            <a:ext cx="1105800" cy="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Bridging tie</a:t>
            </a:r>
            <a:endParaRPr/>
          </a:p>
        </p:txBody>
      </p:sp>
      <p:sp>
        <p:nvSpPr>
          <p:cNvPr id="1470" name="Google Shape;1470;p142"/>
          <p:cNvSpPr/>
          <p:nvPr/>
        </p:nvSpPr>
        <p:spPr>
          <a:xfrm>
            <a:off x="5813425" y="2178750"/>
            <a:ext cx="462600" cy="346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42"/>
          <p:cNvSpPr txBox="1"/>
          <p:nvPr/>
        </p:nvSpPr>
        <p:spPr>
          <a:xfrm>
            <a:off x="7759075" y="844400"/>
            <a:ext cx="1191000" cy="15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People who may know something your close friends don’t know</a:t>
            </a:r>
            <a:endParaRPr/>
          </a:p>
        </p:txBody>
      </p:sp>
      <p:cxnSp>
        <p:nvCxnSpPr>
          <p:cNvPr id="1472" name="Google Shape;1472;p142"/>
          <p:cNvCxnSpPr>
            <a:stCxn id="1471" idx="1"/>
          </p:cNvCxnSpPr>
          <p:nvPr/>
        </p:nvCxnSpPr>
        <p:spPr>
          <a:xfrm flipH="1">
            <a:off x="5713375" y="1598300"/>
            <a:ext cx="2045700" cy="381600"/>
          </a:xfrm>
          <a:prstGeom prst="straightConnector1">
            <a:avLst/>
          </a:prstGeom>
          <a:noFill/>
          <a:ln cap="flat" cmpd="sng" w="28575">
            <a:solidFill>
              <a:srgbClr val="FF0000"/>
            </a:solidFill>
            <a:prstDash val="solid"/>
            <a:round/>
            <a:headEnd len="med" w="med" type="none"/>
            <a:tailEnd len="med" w="med" type="stealth"/>
          </a:ln>
        </p:spPr>
      </p:cxnSp>
      <p:cxnSp>
        <p:nvCxnSpPr>
          <p:cNvPr id="1473" name="Google Shape;1473;p142"/>
          <p:cNvCxnSpPr>
            <a:endCxn id="1470" idx="4"/>
          </p:cNvCxnSpPr>
          <p:nvPr/>
        </p:nvCxnSpPr>
        <p:spPr>
          <a:xfrm flipH="1" rot="10800000">
            <a:off x="5643325" y="2525550"/>
            <a:ext cx="401400" cy="666600"/>
          </a:xfrm>
          <a:prstGeom prst="straightConnector1">
            <a:avLst/>
          </a:prstGeom>
          <a:noFill/>
          <a:ln cap="flat" cmpd="sng" w="28575">
            <a:solidFill>
              <a:srgbClr val="FF0000"/>
            </a:solidFill>
            <a:prstDash val="solid"/>
            <a:round/>
            <a:headEnd len="med" w="med" type="none"/>
            <a:tailEnd len="med" w="med" type="stealth"/>
          </a:ln>
        </p:spPr>
      </p:cxnSp>
      <p:cxnSp>
        <p:nvCxnSpPr>
          <p:cNvPr id="1474" name="Google Shape;1474;p142"/>
          <p:cNvCxnSpPr>
            <a:stCxn id="1469" idx="0"/>
          </p:cNvCxnSpPr>
          <p:nvPr/>
        </p:nvCxnSpPr>
        <p:spPr>
          <a:xfrm flipH="1" rot="10800000">
            <a:off x="6411700" y="2659525"/>
            <a:ext cx="32400" cy="1782000"/>
          </a:xfrm>
          <a:prstGeom prst="straightConnector1">
            <a:avLst/>
          </a:prstGeom>
          <a:noFill/>
          <a:ln cap="flat" cmpd="sng" w="28575">
            <a:solidFill>
              <a:srgbClr val="FF0000"/>
            </a:solidFill>
            <a:prstDash val="solid"/>
            <a:round/>
            <a:headEnd len="med" w="med" type="none"/>
            <a:tailEnd len="med" w="med" type="stealth"/>
          </a:ln>
        </p:spPr>
      </p:cxnSp>
      <p:sp>
        <p:nvSpPr>
          <p:cNvPr id="1475" name="Google Shape;1475;p142"/>
          <p:cNvSpPr txBox="1"/>
          <p:nvPr/>
        </p:nvSpPr>
        <p:spPr>
          <a:xfrm>
            <a:off x="5259225" y="3192200"/>
            <a:ext cx="768300" cy="21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Broker</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1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Structural holes theory</a:t>
            </a:r>
            <a:endParaRPr/>
          </a:p>
        </p:txBody>
      </p:sp>
      <p:sp>
        <p:nvSpPr>
          <p:cNvPr id="1481" name="Google Shape;1481;p143"/>
          <p:cNvSpPr txBox="1"/>
          <p:nvPr>
            <p:ph idx="1" type="body"/>
          </p:nvPr>
        </p:nvSpPr>
        <p:spPr>
          <a:xfrm>
            <a:off x="311700" y="1225225"/>
            <a:ext cx="4283100" cy="3354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b="1" lang="en"/>
              <a:t>Structural holes theory </a:t>
            </a:r>
            <a:r>
              <a:rPr lang="en"/>
              <a:t>is a theory about how to configure your network so that you </a:t>
            </a:r>
            <a:r>
              <a:rPr b="1" lang="en"/>
              <a:t>control</a:t>
            </a:r>
            <a:r>
              <a:rPr lang="en"/>
              <a:t> the information:</a:t>
            </a:r>
            <a:endParaRPr/>
          </a:p>
          <a:p>
            <a:pPr indent="-317500" lvl="1" marL="914400" marR="0" rtl="0" algn="l">
              <a:lnSpc>
                <a:spcPct val="115000"/>
              </a:lnSpc>
              <a:spcBef>
                <a:spcPts val="0"/>
              </a:spcBef>
              <a:spcAft>
                <a:spcPts val="0"/>
              </a:spcAft>
              <a:buSzPts val="1400"/>
              <a:buChar char="○"/>
            </a:pPr>
            <a:r>
              <a:rPr lang="en"/>
              <a:t>Others depend on </a:t>
            </a:r>
            <a:r>
              <a:rPr b="1" lang="en"/>
              <a:t>you</a:t>
            </a:r>
            <a:r>
              <a:rPr lang="en"/>
              <a:t> for access</a:t>
            </a:r>
            <a:endParaRPr/>
          </a:p>
          <a:p>
            <a:pPr indent="-317500" lvl="1" marL="914400" marR="0" rtl="0" algn="l">
              <a:lnSpc>
                <a:spcPct val="115000"/>
              </a:lnSpc>
              <a:spcBef>
                <a:spcPts val="0"/>
              </a:spcBef>
              <a:spcAft>
                <a:spcPts val="0"/>
              </a:spcAft>
              <a:buSzPts val="1400"/>
              <a:buChar char="○"/>
            </a:pPr>
            <a:r>
              <a:rPr lang="en"/>
              <a:t>You maximize social capital when you occupy a position “in between” others</a:t>
            </a:r>
            <a:r>
              <a:rPr b="1" lang="en"/>
              <a:t>:</a:t>
            </a:r>
            <a:r>
              <a:rPr lang="en"/>
              <a:t> </a:t>
            </a:r>
            <a:endParaRPr/>
          </a:p>
          <a:p>
            <a:pPr indent="-317500" lvl="2" marL="1371600" marR="0" rtl="0" algn="l">
              <a:lnSpc>
                <a:spcPct val="115000"/>
              </a:lnSpc>
              <a:spcBef>
                <a:spcPts val="0"/>
              </a:spcBef>
              <a:spcAft>
                <a:spcPts val="0"/>
              </a:spcAft>
              <a:buSzPts val="1400"/>
              <a:buChar char="■"/>
            </a:pPr>
            <a:r>
              <a:rPr lang="en"/>
              <a:t>Violations of </a:t>
            </a:r>
            <a:r>
              <a:rPr b="1" lang="en"/>
              <a:t>g-transitivity </a:t>
            </a:r>
            <a:r>
              <a:rPr lang="en"/>
              <a:t>create “</a:t>
            </a:r>
            <a:r>
              <a:rPr b="1" lang="en"/>
              <a:t>holes</a:t>
            </a:r>
            <a:r>
              <a:rPr lang="en"/>
              <a:t>” in social structure</a:t>
            </a:r>
            <a:endParaRPr/>
          </a:p>
          <a:p>
            <a:pPr indent="-317500" lvl="1" marL="914400" marR="0" rtl="0" algn="l">
              <a:lnSpc>
                <a:spcPct val="115000"/>
              </a:lnSpc>
              <a:spcBef>
                <a:spcPts val="0"/>
              </a:spcBef>
              <a:spcAft>
                <a:spcPts val="0"/>
              </a:spcAft>
              <a:buSzPts val="1400"/>
              <a:buChar char="○"/>
            </a:pPr>
            <a:r>
              <a:rPr lang="en"/>
              <a:t>Who has the most social capital?</a:t>
            </a:r>
            <a:endParaRPr/>
          </a:p>
          <a:p>
            <a:pPr indent="-317500" lvl="2" marL="1371600" marR="0" rtl="0" algn="l">
              <a:lnSpc>
                <a:spcPct val="115000"/>
              </a:lnSpc>
              <a:spcBef>
                <a:spcPts val="0"/>
              </a:spcBef>
              <a:spcAft>
                <a:spcPts val="0"/>
              </a:spcAft>
              <a:buSzPts val="1400"/>
              <a:buChar char="■"/>
            </a:pPr>
            <a:r>
              <a:rPr lang="en"/>
              <a:t>James or Robert?</a:t>
            </a:r>
            <a:endParaRPr/>
          </a:p>
        </p:txBody>
      </p:sp>
      <p:pic>
        <p:nvPicPr>
          <p:cNvPr id="1482" name="Google Shape;1482;p143"/>
          <p:cNvPicPr preferRelativeResize="0"/>
          <p:nvPr/>
        </p:nvPicPr>
        <p:blipFill>
          <a:blip r:embed="rId3">
            <a:alphaModFix/>
          </a:blip>
          <a:stretch>
            <a:fillRect/>
          </a:stretch>
        </p:blipFill>
        <p:spPr>
          <a:xfrm>
            <a:off x="4594800" y="1373750"/>
            <a:ext cx="4244401" cy="3056943"/>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1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Structural holes theory</a:t>
            </a:r>
            <a:endParaRPr/>
          </a:p>
        </p:txBody>
      </p:sp>
      <p:sp>
        <p:nvSpPr>
          <p:cNvPr id="1488" name="Google Shape;1488;p144"/>
          <p:cNvSpPr txBox="1"/>
          <p:nvPr>
            <p:ph idx="1" type="body"/>
          </p:nvPr>
        </p:nvSpPr>
        <p:spPr>
          <a:xfrm>
            <a:off x="311700" y="1225225"/>
            <a:ext cx="4283100" cy="3354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Structural holes in networks provide two kinds of benefits:</a:t>
            </a:r>
            <a:endParaRPr/>
          </a:p>
          <a:p>
            <a:pPr indent="-317500" lvl="1" marL="914400" marR="0" rtl="0" algn="l">
              <a:lnSpc>
                <a:spcPct val="115000"/>
              </a:lnSpc>
              <a:spcBef>
                <a:spcPts val="0"/>
              </a:spcBef>
              <a:spcAft>
                <a:spcPts val="0"/>
              </a:spcAft>
              <a:buSzPts val="1400"/>
              <a:buChar char="○"/>
            </a:pPr>
            <a:r>
              <a:rPr b="1" lang="en"/>
              <a:t>Passive exposure effect:</a:t>
            </a:r>
            <a:r>
              <a:rPr lang="en"/>
              <a:t> </a:t>
            </a:r>
            <a:endParaRPr/>
          </a:p>
          <a:p>
            <a:pPr indent="-317500" lvl="2" marL="1371600" marR="0" rtl="0" algn="l">
              <a:lnSpc>
                <a:spcPct val="115000"/>
              </a:lnSpc>
              <a:spcBef>
                <a:spcPts val="0"/>
              </a:spcBef>
              <a:spcAft>
                <a:spcPts val="0"/>
              </a:spcAft>
              <a:buSzPts val="1400"/>
              <a:buChar char="■"/>
            </a:pPr>
            <a:r>
              <a:rPr lang="en"/>
              <a:t>You get to know what other people know (a la Granovetter)</a:t>
            </a:r>
            <a:endParaRPr/>
          </a:p>
          <a:p>
            <a:pPr indent="-317500" lvl="1" marL="914400" marR="0" rtl="0" algn="l">
              <a:lnSpc>
                <a:spcPct val="115000"/>
              </a:lnSpc>
              <a:spcBef>
                <a:spcPts val="0"/>
              </a:spcBef>
              <a:spcAft>
                <a:spcPts val="0"/>
              </a:spcAft>
              <a:buSzPts val="1400"/>
              <a:buChar char="○"/>
            </a:pPr>
            <a:r>
              <a:rPr b="1" lang="en"/>
              <a:t>Active control effect (Burt 1995):</a:t>
            </a:r>
            <a:r>
              <a:rPr lang="en"/>
              <a:t> </a:t>
            </a:r>
            <a:endParaRPr/>
          </a:p>
          <a:p>
            <a:pPr indent="-317500" lvl="2" marL="1371600" marR="0" rtl="0" algn="l">
              <a:lnSpc>
                <a:spcPct val="115000"/>
              </a:lnSpc>
              <a:spcBef>
                <a:spcPts val="0"/>
              </a:spcBef>
              <a:spcAft>
                <a:spcPts val="0"/>
              </a:spcAft>
              <a:buSzPts val="1400"/>
              <a:buChar char="■"/>
            </a:pPr>
            <a:r>
              <a:rPr lang="en"/>
              <a:t>You </a:t>
            </a:r>
            <a:r>
              <a:rPr b="1" lang="en"/>
              <a:t>decide</a:t>
            </a:r>
            <a:r>
              <a:rPr lang="en"/>
              <a:t> whether some people know some things or not</a:t>
            </a:r>
            <a:endParaRPr/>
          </a:p>
          <a:p>
            <a:pPr indent="-317500" lvl="2" marL="1371600" marR="0" rtl="0" algn="l">
              <a:lnSpc>
                <a:spcPct val="115000"/>
              </a:lnSpc>
              <a:spcBef>
                <a:spcPts val="0"/>
              </a:spcBef>
              <a:spcAft>
                <a:spcPts val="0"/>
              </a:spcAft>
              <a:buSzPts val="1400"/>
              <a:buChar char="■"/>
            </a:pPr>
            <a:r>
              <a:rPr lang="en"/>
              <a:t>You </a:t>
            </a:r>
            <a:r>
              <a:rPr b="1" lang="en"/>
              <a:t>shape</a:t>
            </a:r>
            <a:r>
              <a:rPr lang="en"/>
              <a:t> the way other people perceive others</a:t>
            </a:r>
            <a:endParaRPr/>
          </a:p>
          <a:p>
            <a:pPr indent="-317500" lvl="2" marL="1371600" marR="0" rtl="0" algn="l">
              <a:lnSpc>
                <a:spcPct val="115000"/>
              </a:lnSpc>
              <a:spcBef>
                <a:spcPts val="0"/>
              </a:spcBef>
              <a:spcAft>
                <a:spcPts val="0"/>
              </a:spcAft>
              <a:buSzPts val="1400"/>
              <a:buChar char="■"/>
            </a:pPr>
            <a:r>
              <a:rPr lang="en"/>
              <a:t>You can </a:t>
            </a:r>
            <a:r>
              <a:rPr b="1" lang="en"/>
              <a:t>play</a:t>
            </a:r>
            <a:r>
              <a:rPr lang="en"/>
              <a:t> people against one another</a:t>
            </a:r>
            <a:endParaRPr/>
          </a:p>
        </p:txBody>
      </p:sp>
      <p:pic>
        <p:nvPicPr>
          <p:cNvPr id="1489" name="Google Shape;1489;p144"/>
          <p:cNvPicPr preferRelativeResize="0"/>
          <p:nvPr/>
        </p:nvPicPr>
        <p:blipFill>
          <a:blip r:embed="rId3">
            <a:alphaModFix/>
          </a:blip>
          <a:stretch>
            <a:fillRect/>
          </a:stretch>
        </p:blipFill>
        <p:spPr>
          <a:xfrm>
            <a:off x="4594800" y="1373750"/>
            <a:ext cx="4244401" cy="3056943"/>
          </a:xfrm>
          <a:prstGeom prst="rect">
            <a:avLst/>
          </a:prstGeom>
          <a:noFill/>
          <a:ln>
            <a:noFill/>
          </a:ln>
        </p:spPr>
      </p:pic>
      <p:sp>
        <p:nvSpPr>
          <p:cNvPr id="1490" name="Google Shape;1490;p144"/>
          <p:cNvSpPr/>
          <p:nvPr/>
        </p:nvSpPr>
        <p:spPr>
          <a:xfrm>
            <a:off x="6497625" y="2620900"/>
            <a:ext cx="764400" cy="86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1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Structural holes theory</a:t>
            </a:r>
            <a:endParaRPr/>
          </a:p>
        </p:txBody>
      </p:sp>
      <p:sp>
        <p:nvSpPr>
          <p:cNvPr id="1496" name="Google Shape;1496;p145"/>
          <p:cNvSpPr txBox="1"/>
          <p:nvPr>
            <p:ph idx="1" type="body"/>
          </p:nvPr>
        </p:nvSpPr>
        <p:spPr>
          <a:xfrm>
            <a:off x="311700" y="1225225"/>
            <a:ext cx="4283100" cy="3354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Structural holes rich networks provide two kinds of benefits:</a:t>
            </a:r>
            <a:endParaRPr/>
          </a:p>
          <a:p>
            <a:pPr indent="-317500" lvl="1" marL="914400" marR="0" rtl="0" algn="l">
              <a:lnSpc>
                <a:spcPct val="115000"/>
              </a:lnSpc>
              <a:spcBef>
                <a:spcPts val="0"/>
              </a:spcBef>
              <a:spcAft>
                <a:spcPts val="0"/>
              </a:spcAft>
              <a:buSzPts val="1400"/>
              <a:buChar char="○"/>
            </a:pPr>
            <a:r>
              <a:rPr b="1" lang="en"/>
              <a:t>Passive exposure effect:</a:t>
            </a:r>
            <a:r>
              <a:rPr lang="en"/>
              <a:t> </a:t>
            </a:r>
            <a:endParaRPr/>
          </a:p>
          <a:p>
            <a:pPr indent="-317500" lvl="2" marL="1371600" marR="0" rtl="0" algn="l">
              <a:lnSpc>
                <a:spcPct val="115000"/>
              </a:lnSpc>
              <a:spcBef>
                <a:spcPts val="0"/>
              </a:spcBef>
              <a:spcAft>
                <a:spcPts val="0"/>
              </a:spcAft>
              <a:buSzPts val="1400"/>
              <a:buChar char="■"/>
            </a:pPr>
            <a:r>
              <a:rPr lang="en"/>
              <a:t>You get to know what other people know (a la Granovetter)</a:t>
            </a:r>
            <a:endParaRPr/>
          </a:p>
          <a:p>
            <a:pPr indent="-317500" lvl="1" marL="914400" marR="0" rtl="0" algn="l">
              <a:lnSpc>
                <a:spcPct val="115000"/>
              </a:lnSpc>
              <a:spcBef>
                <a:spcPts val="0"/>
              </a:spcBef>
              <a:spcAft>
                <a:spcPts val="0"/>
              </a:spcAft>
              <a:buSzPts val="1400"/>
              <a:buChar char="○"/>
            </a:pPr>
            <a:r>
              <a:rPr b="1" lang="en"/>
              <a:t>Active control effect (Burt 1995):</a:t>
            </a:r>
            <a:r>
              <a:rPr lang="en"/>
              <a:t> </a:t>
            </a:r>
            <a:endParaRPr/>
          </a:p>
          <a:p>
            <a:pPr indent="-317500" lvl="2" marL="1371600" marR="0" rtl="0" algn="l">
              <a:lnSpc>
                <a:spcPct val="115000"/>
              </a:lnSpc>
              <a:spcBef>
                <a:spcPts val="0"/>
              </a:spcBef>
              <a:spcAft>
                <a:spcPts val="0"/>
              </a:spcAft>
              <a:buSzPts val="1400"/>
              <a:buChar char="■"/>
            </a:pPr>
            <a:r>
              <a:rPr lang="en"/>
              <a:t>You are less </a:t>
            </a:r>
            <a:r>
              <a:rPr b="1" lang="en"/>
              <a:t>bound</a:t>
            </a:r>
            <a:r>
              <a:rPr lang="en"/>
              <a:t> by the norms and expectations of any one group</a:t>
            </a:r>
            <a:endParaRPr/>
          </a:p>
          <a:p>
            <a:pPr indent="-317500" lvl="2" marL="1371600" marR="0" rtl="0" algn="l">
              <a:lnSpc>
                <a:spcPct val="115000"/>
              </a:lnSpc>
              <a:spcBef>
                <a:spcPts val="0"/>
              </a:spcBef>
              <a:spcAft>
                <a:spcPts val="0"/>
              </a:spcAft>
              <a:buSzPts val="1400"/>
              <a:buChar char="■"/>
            </a:pPr>
            <a:r>
              <a:rPr lang="en"/>
              <a:t>You are </a:t>
            </a:r>
            <a:r>
              <a:rPr b="1" lang="en"/>
              <a:t>free</a:t>
            </a:r>
            <a:r>
              <a:rPr lang="en"/>
              <a:t> to move across the social structure</a:t>
            </a:r>
            <a:endParaRPr/>
          </a:p>
          <a:p>
            <a:pPr indent="-317500" lvl="3" marL="1828800" marR="0" rtl="0" algn="l">
              <a:lnSpc>
                <a:spcPct val="115000"/>
              </a:lnSpc>
              <a:spcBef>
                <a:spcPts val="0"/>
              </a:spcBef>
              <a:spcAft>
                <a:spcPts val="0"/>
              </a:spcAft>
              <a:buSzPts val="1400"/>
              <a:buChar char="●"/>
            </a:pPr>
            <a:r>
              <a:rPr lang="en"/>
              <a:t>Be different things to different people</a:t>
            </a:r>
            <a:endParaRPr/>
          </a:p>
        </p:txBody>
      </p:sp>
      <p:pic>
        <p:nvPicPr>
          <p:cNvPr id="1497" name="Google Shape;1497;p145"/>
          <p:cNvPicPr preferRelativeResize="0"/>
          <p:nvPr/>
        </p:nvPicPr>
        <p:blipFill>
          <a:blip r:embed="rId3">
            <a:alphaModFix/>
          </a:blip>
          <a:stretch>
            <a:fillRect/>
          </a:stretch>
        </p:blipFill>
        <p:spPr>
          <a:xfrm>
            <a:off x="4594800" y="1373750"/>
            <a:ext cx="4244401" cy="3056943"/>
          </a:xfrm>
          <a:prstGeom prst="rect">
            <a:avLst/>
          </a:prstGeom>
          <a:noFill/>
          <a:ln>
            <a:noFill/>
          </a:ln>
        </p:spPr>
      </p:pic>
      <p:sp>
        <p:nvSpPr>
          <p:cNvPr id="1498" name="Google Shape;1498;p145"/>
          <p:cNvSpPr/>
          <p:nvPr/>
        </p:nvSpPr>
        <p:spPr>
          <a:xfrm>
            <a:off x="6497625" y="2620900"/>
            <a:ext cx="764400" cy="86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1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Structural holes theory</a:t>
            </a:r>
            <a:endParaRPr/>
          </a:p>
        </p:txBody>
      </p:sp>
      <p:sp>
        <p:nvSpPr>
          <p:cNvPr id="1504" name="Google Shape;1504;p146"/>
          <p:cNvSpPr txBox="1"/>
          <p:nvPr>
            <p:ph idx="1" type="body"/>
          </p:nvPr>
        </p:nvSpPr>
        <p:spPr>
          <a:xfrm>
            <a:off x="311700" y="1225225"/>
            <a:ext cx="4283100" cy="3354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opposite of having structural holes is what Burt calls </a:t>
            </a:r>
            <a:r>
              <a:rPr b="1" lang="en"/>
              <a:t>Network Constraint</a:t>
            </a:r>
            <a:endParaRPr b="1"/>
          </a:p>
          <a:p>
            <a:pPr indent="-342900" lvl="1" marL="914400" marR="0" rtl="0" algn="l">
              <a:lnSpc>
                <a:spcPct val="115000"/>
              </a:lnSpc>
              <a:spcBef>
                <a:spcPts val="0"/>
              </a:spcBef>
              <a:spcAft>
                <a:spcPts val="0"/>
              </a:spcAft>
              <a:buClr>
                <a:schemeClr val="dk1"/>
              </a:buClr>
              <a:buSzPts val="1800"/>
              <a:buFont typeface="Open Sans"/>
              <a:buChar char="○"/>
            </a:pPr>
            <a:r>
              <a:rPr lang="en"/>
              <a:t>In a high constraint network:</a:t>
            </a:r>
            <a:endParaRPr/>
          </a:p>
          <a:p>
            <a:pPr indent="-317500" lvl="2" marL="1371600" marR="0" rtl="0" algn="l">
              <a:lnSpc>
                <a:spcPct val="115000"/>
              </a:lnSpc>
              <a:spcBef>
                <a:spcPts val="0"/>
              </a:spcBef>
              <a:spcAft>
                <a:spcPts val="0"/>
              </a:spcAft>
              <a:buSzPts val="1400"/>
              <a:buChar char="■"/>
            </a:pPr>
            <a:r>
              <a:rPr lang="en"/>
              <a:t>Your contacts are connected to one another</a:t>
            </a:r>
            <a:endParaRPr/>
          </a:p>
          <a:p>
            <a:pPr indent="-317500" lvl="2" marL="1371600" marR="0" rtl="0" algn="l">
              <a:lnSpc>
                <a:spcPct val="115000"/>
              </a:lnSpc>
              <a:spcBef>
                <a:spcPts val="0"/>
              </a:spcBef>
              <a:spcAft>
                <a:spcPts val="0"/>
              </a:spcAft>
              <a:buSzPts val="1400"/>
              <a:buChar char="■"/>
            </a:pPr>
            <a:r>
              <a:rPr lang="en"/>
              <a:t>You are subject to the strong expectations of a single group</a:t>
            </a:r>
            <a:endParaRPr/>
          </a:p>
          <a:p>
            <a:pPr indent="-317500" lvl="2" marL="1371600" marR="0" rtl="0" algn="l">
              <a:lnSpc>
                <a:spcPct val="115000"/>
              </a:lnSpc>
              <a:spcBef>
                <a:spcPts val="0"/>
              </a:spcBef>
              <a:spcAft>
                <a:spcPts val="0"/>
              </a:spcAft>
              <a:buSzPts val="1400"/>
              <a:buChar char="■"/>
            </a:pPr>
            <a:r>
              <a:rPr lang="en"/>
              <a:t>You depend on others for information access</a:t>
            </a:r>
            <a:endParaRPr/>
          </a:p>
        </p:txBody>
      </p:sp>
      <p:pic>
        <p:nvPicPr>
          <p:cNvPr id="1505" name="Google Shape;1505;p146"/>
          <p:cNvPicPr preferRelativeResize="0"/>
          <p:nvPr/>
        </p:nvPicPr>
        <p:blipFill>
          <a:blip r:embed="rId3">
            <a:alphaModFix/>
          </a:blip>
          <a:stretch>
            <a:fillRect/>
          </a:stretch>
        </p:blipFill>
        <p:spPr>
          <a:xfrm>
            <a:off x="4594800" y="1373750"/>
            <a:ext cx="4244401" cy="3056943"/>
          </a:xfrm>
          <a:prstGeom prst="rect">
            <a:avLst/>
          </a:prstGeom>
          <a:noFill/>
          <a:ln>
            <a:noFill/>
          </a:ln>
        </p:spPr>
      </p:pic>
      <p:sp>
        <p:nvSpPr>
          <p:cNvPr id="1506" name="Google Shape;1506;p146"/>
          <p:cNvSpPr/>
          <p:nvPr/>
        </p:nvSpPr>
        <p:spPr>
          <a:xfrm>
            <a:off x="8168425" y="2336975"/>
            <a:ext cx="764400" cy="86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1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Structural holes theory</a:t>
            </a:r>
            <a:endParaRPr/>
          </a:p>
        </p:txBody>
      </p:sp>
      <p:sp>
        <p:nvSpPr>
          <p:cNvPr id="1512" name="Google Shape;1512;p147"/>
          <p:cNvSpPr txBox="1"/>
          <p:nvPr>
            <p:ph idx="1" type="body"/>
          </p:nvPr>
        </p:nvSpPr>
        <p:spPr>
          <a:xfrm>
            <a:off x="311700" y="1225225"/>
            <a:ext cx="8520600" cy="1383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Evidence for structural holes argument (Burt 2005):</a:t>
            </a:r>
            <a:endParaRPr/>
          </a:p>
          <a:p>
            <a:pPr indent="-317500" lvl="1" marL="914400" marR="0" rtl="0" algn="l">
              <a:lnSpc>
                <a:spcPct val="115000"/>
              </a:lnSpc>
              <a:spcBef>
                <a:spcPts val="0"/>
              </a:spcBef>
              <a:spcAft>
                <a:spcPts val="0"/>
              </a:spcAft>
              <a:buSzPts val="1400"/>
              <a:buChar char="○"/>
            </a:pPr>
            <a:r>
              <a:rPr lang="en"/>
              <a:t>In corporate settings people who have networks rich in structural holes (low constraint):</a:t>
            </a:r>
            <a:endParaRPr/>
          </a:p>
          <a:p>
            <a:pPr indent="-317500" lvl="2" marL="1371600" marR="0" rtl="0" algn="l">
              <a:lnSpc>
                <a:spcPct val="115000"/>
              </a:lnSpc>
              <a:spcBef>
                <a:spcPts val="0"/>
              </a:spcBef>
              <a:spcAft>
                <a:spcPts val="0"/>
              </a:spcAft>
              <a:buSzPts val="1400"/>
              <a:buChar char="■"/>
            </a:pPr>
            <a:r>
              <a:rPr lang="en"/>
              <a:t>Receive higher salaries</a:t>
            </a:r>
            <a:endParaRPr/>
          </a:p>
          <a:p>
            <a:pPr indent="-317500" lvl="2" marL="1371600" marR="0" rtl="0" algn="l">
              <a:lnSpc>
                <a:spcPct val="115000"/>
              </a:lnSpc>
              <a:spcBef>
                <a:spcPts val="0"/>
              </a:spcBef>
              <a:spcAft>
                <a:spcPts val="0"/>
              </a:spcAft>
              <a:buSzPts val="1400"/>
              <a:buChar char="■"/>
            </a:pPr>
            <a:r>
              <a:rPr lang="en"/>
              <a:t>Get promoted faster</a:t>
            </a:r>
            <a:endParaRPr/>
          </a:p>
          <a:p>
            <a:pPr indent="-317500" lvl="2" marL="1371600" marR="0" rtl="0" algn="l">
              <a:lnSpc>
                <a:spcPct val="115000"/>
              </a:lnSpc>
              <a:spcBef>
                <a:spcPts val="0"/>
              </a:spcBef>
              <a:spcAft>
                <a:spcPts val="0"/>
              </a:spcAft>
              <a:buSzPts val="1400"/>
              <a:buChar char="■"/>
            </a:pPr>
            <a:r>
              <a:rPr lang="en"/>
              <a:t>Receive better performance evaluations</a:t>
            </a:r>
            <a:endParaRPr/>
          </a:p>
          <a:p>
            <a:pPr indent="0" lvl="0" marL="1828800" marR="0" rtl="0" algn="l">
              <a:lnSpc>
                <a:spcPct val="115000"/>
              </a:lnSpc>
              <a:spcBef>
                <a:spcPts val="1600"/>
              </a:spcBef>
              <a:spcAft>
                <a:spcPts val="1600"/>
              </a:spcAft>
              <a:buNone/>
            </a:pPr>
            <a:r>
              <a:t/>
            </a:r>
            <a:endParaRPr/>
          </a:p>
        </p:txBody>
      </p:sp>
      <p:pic>
        <p:nvPicPr>
          <p:cNvPr id="1513" name="Google Shape;1513;p147"/>
          <p:cNvPicPr preferRelativeResize="0"/>
          <p:nvPr/>
        </p:nvPicPr>
        <p:blipFill>
          <a:blip r:embed="rId3">
            <a:alphaModFix/>
          </a:blip>
          <a:stretch>
            <a:fillRect/>
          </a:stretch>
        </p:blipFill>
        <p:spPr>
          <a:xfrm>
            <a:off x="1701327" y="2608225"/>
            <a:ext cx="5741349" cy="2367225"/>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Structural holes theory</a:t>
            </a:r>
            <a:endParaRPr/>
          </a:p>
        </p:txBody>
      </p:sp>
      <p:sp>
        <p:nvSpPr>
          <p:cNvPr id="1519" name="Google Shape;1519;p148"/>
          <p:cNvSpPr txBox="1"/>
          <p:nvPr>
            <p:ph idx="1" type="body"/>
          </p:nvPr>
        </p:nvSpPr>
        <p:spPr>
          <a:xfrm>
            <a:off x="311700" y="1225225"/>
            <a:ext cx="4408200" cy="35895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Why do people located in between structural holes do better?</a:t>
            </a:r>
            <a:endParaRPr/>
          </a:p>
          <a:p>
            <a:pPr indent="-317500" lvl="1" marL="914400" marR="0" rtl="0" algn="l">
              <a:lnSpc>
                <a:spcPct val="115000"/>
              </a:lnSpc>
              <a:spcBef>
                <a:spcPts val="0"/>
              </a:spcBef>
              <a:spcAft>
                <a:spcPts val="0"/>
              </a:spcAft>
              <a:buSzPts val="1400"/>
              <a:buChar char="○"/>
            </a:pPr>
            <a:r>
              <a:rPr lang="en"/>
              <a:t>They have better ideas (Burt 2005)</a:t>
            </a:r>
            <a:endParaRPr/>
          </a:p>
          <a:p>
            <a:pPr indent="-342900" lvl="0" marL="457200" marR="0" rtl="0" algn="l">
              <a:lnSpc>
                <a:spcPct val="115000"/>
              </a:lnSpc>
              <a:spcBef>
                <a:spcPts val="0"/>
              </a:spcBef>
              <a:spcAft>
                <a:spcPts val="0"/>
              </a:spcAft>
              <a:buSzPts val="1800"/>
              <a:buChar char="●"/>
            </a:pPr>
            <a:r>
              <a:rPr lang="en"/>
              <a:t>Why do they have better ideas?</a:t>
            </a:r>
            <a:endParaRPr/>
          </a:p>
          <a:p>
            <a:pPr indent="-317500" lvl="1" marL="914400" marR="0" rtl="0" algn="l">
              <a:lnSpc>
                <a:spcPct val="115000"/>
              </a:lnSpc>
              <a:spcBef>
                <a:spcPts val="0"/>
              </a:spcBef>
              <a:spcAft>
                <a:spcPts val="0"/>
              </a:spcAft>
              <a:buSzPts val="1400"/>
              <a:buChar char="○"/>
            </a:pPr>
            <a:r>
              <a:rPr lang="en"/>
              <a:t>They can combine elements from different sources to create novel combinations</a:t>
            </a:r>
            <a:endParaRPr/>
          </a:p>
          <a:p>
            <a:pPr indent="0" lvl="0" marL="1828800" marR="0" rtl="0" algn="l">
              <a:lnSpc>
                <a:spcPct val="115000"/>
              </a:lnSpc>
              <a:spcBef>
                <a:spcPts val="1600"/>
              </a:spcBef>
              <a:spcAft>
                <a:spcPts val="1600"/>
              </a:spcAft>
              <a:buNone/>
            </a:pPr>
            <a:r>
              <a:t/>
            </a:r>
            <a:endParaRPr/>
          </a:p>
        </p:txBody>
      </p:sp>
      <p:pic>
        <p:nvPicPr>
          <p:cNvPr id="1520" name="Google Shape;1520;p148"/>
          <p:cNvPicPr preferRelativeResize="0"/>
          <p:nvPr/>
        </p:nvPicPr>
        <p:blipFill rotWithShape="1">
          <a:blip r:embed="rId3">
            <a:alphaModFix/>
          </a:blip>
          <a:srcRect b="16269" l="15117" r="10561" t="16917"/>
          <a:stretch/>
        </p:blipFill>
        <p:spPr>
          <a:xfrm>
            <a:off x="4719900" y="1470438"/>
            <a:ext cx="4112400" cy="2772524"/>
          </a:xfrm>
          <a:prstGeom prst="rect">
            <a:avLst/>
          </a:prstGeom>
          <a:noFill/>
          <a:ln>
            <a:noFill/>
          </a:ln>
        </p:spPr>
      </p:pic>
      <p:pic>
        <p:nvPicPr>
          <p:cNvPr id="1521" name="Google Shape;1521;p148"/>
          <p:cNvPicPr preferRelativeResize="0"/>
          <p:nvPr/>
        </p:nvPicPr>
        <p:blipFill>
          <a:blip r:embed="rId4">
            <a:alphaModFix/>
          </a:blip>
          <a:stretch>
            <a:fillRect/>
          </a:stretch>
        </p:blipFill>
        <p:spPr>
          <a:xfrm>
            <a:off x="1482000" y="3324096"/>
            <a:ext cx="1918750" cy="138195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networks: Clustering Coefficient</a:t>
            </a:r>
            <a:endParaRPr/>
          </a:p>
        </p:txBody>
      </p:sp>
      <p:sp>
        <p:nvSpPr>
          <p:cNvPr id="1527" name="Google Shape;1527;p149"/>
          <p:cNvSpPr/>
          <p:nvPr/>
        </p:nvSpPr>
        <p:spPr>
          <a:xfrm>
            <a:off x="576075" y="1147213"/>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a</a:t>
            </a:r>
            <a:endParaRPr b="1" sz="1800">
              <a:solidFill>
                <a:srgbClr val="FFFFFF"/>
              </a:solidFill>
              <a:latin typeface="Habibi"/>
              <a:ea typeface="Habibi"/>
              <a:cs typeface="Habibi"/>
              <a:sym typeface="Habibi"/>
            </a:endParaRPr>
          </a:p>
        </p:txBody>
      </p:sp>
      <p:sp>
        <p:nvSpPr>
          <p:cNvPr id="1528" name="Google Shape;1528;p149"/>
          <p:cNvSpPr/>
          <p:nvPr/>
        </p:nvSpPr>
        <p:spPr>
          <a:xfrm>
            <a:off x="576075" y="2266373"/>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c</a:t>
            </a:r>
            <a:endParaRPr b="1" sz="1800">
              <a:solidFill>
                <a:srgbClr val="FFFFFF"/>
              </a:solidFill>
              <a:latin typeface="Habibi"/>
              <a:ea typeface="Habibi"/>
              <a:cs typeface="Habibi"/>
              <a:sym typeface="Habibi"/>
            </a:endParaRPr>
          </a:p>
        </p:txBody>
      </p:sp>
      <p:sp>
        <p:nvSpPr>
          <p:cNvPr id="1529" name="Google Shape;1529;p149"/>
          <p:cNvSpPr/>
          <p:nvPr/>
        </p:nvSpPr>
        <p:spPr>
          <a:xfrm>
            <a:off x="1541077" y="2266373"/>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d</a:t>
            </a:r>
            <a:endParaRPr b="1" sz="1800">
              <a:solidFill>
                <a:srgbClr val="FFFFFF"/>
              </a:solidFill>
              <a:latin typeface="Habibi"/>
              <a:ea typeface="Habibi"/>
              <a:cs typeface="Habibi"/>
              <a:sym typeface="Habibi"/>
            </a:endParaRPr>
          </a:p>
        </p:txBody>
      </p:sp>
      <p:sp>
        <p:nvSpPr>
          <p:cNvPr id="1530" name="Google Shape;1530;p149"/>
          <p:cNvSpPr/>
          <p:nvPr/>
        </p:nvSpPr>
        <p:spPr>
          <a:xfrm>
            <a:off x="977501" y="1632586"/>
            <a:ext cx="556500" cy="4716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Habibi"/>
                <a:ea typeface="Habibi"/>
                <a:cs typeface="Habibi"/>
                <a:sym typeface="Habibi"/>
              </a:rPr>
              <a:t>Ego</a:t>
            </a:r>
            <a:endParaRPr b="1">
              <a:solidFill>
                <a:srgbClr val="FFFFFF"/>
              </a:solidFill>
              <a:latin typeface="Habibi"/>
              <a:ea typeface="Habibi"/>
              <a:cs typeface="Habibi"/>
              <a:sym typeface="Habibi"/>
            </a:endParaRPr>
          </a:p>
        </p:txBody>
      </p:sp>
      <p:sp>
        <p:nvSpPr>
          <p:cNvPr id="1531" name="Google Shape;1531;p149"/>
          <p:cNvSpPr/>
          <p:nvPr/>
        </p:nvSpPr>
        <p:spPr>
          <a:xfrm>
            <a:off x="1541071" y="1147214"/>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b</a:t>
            </a:r>
            <a:endParaRPr b="1" sz="1800">
              <a:solidFill>
                <a:srgbClr val="FFFFFF"/>
              </a:solidFill>
              <a:latin typeface="Habibi"/>
              <a:ea typeface="Habibi"/>
              <a:cs typeface="Habibi"/>
              <a:sym typeface="Habibi"/>
            </a:endParaRPr>
          </a:p>
        </p:txBody>
      </p:sp>
      <p:cxnSp>
        <p:nvCxnSpPr>
          <p:cNvPr id="1532" name="Google Shape;1532;p149"/>
          <p:cNvCxnSpPr>
            <a:stCxn id="1531" idx="4"/>
            <a:endCxn id="1530" idx="7"/>
          </p:cNvCxnSpPr>
          <p:nvPr/>
        </p:nvCxnSpPr>
        <p:spPr>
          <a:xfrm flipH="1">
            <a:off x="1452571" y="1501214"/>
            <a:ext cx="263400" cy="200400"/>
          </a:xfrm>
          <a:prstGeom prst="straightConnector1">
            <a:avLst/>
          </a:prstGeom>
          <a:noFill/>
          <a:ln cap="flat" cmpd="sng" w="28575">
            <a:solidFill>
              <a:srgbClr val="0000FF"/>
            </a:solidFill>
            <a:prstDash val="solid"/>
            <a:round/>
            <a:headEnd len="med" w="med" type="none"/>
            <a:tailEnd len="med" w="med" type="none"/>
          </a:ln>
        </p:spPr>
      </p:cxnSp>
      <p:cxnSp>
        <p:nvCxnSpPr>
          <p:cNvPr id="1533" name="Google Shape;1533;p149"/>
          <p:cNvCxnSpPr>
            <a:stCxn id="1527" idx="4"/>
            <a:endCxn id="1530" idx="1"/>
          </p:cNvCxnSpPr>
          <p:nvPr/>
        </p:nvCxnSpPr>
        <p:spPr>
          <a:xfrm>
            <a:off x="750975" y="1501213"/>
            <a:ext cx="308100" cy="200400"/>
          </a:xfrm>
          <a:prstGeom prst="straightConnector1">
            <a:avLst/>
          </a:prstGeom>
          <a:noFill/>
          <a:ln cap="flat" cmpd="sng" w="28575">
            <a:solidFill>
              <a:srgbClr val="0000FF"/>
            </a:solidFill>
            <a:prstDash val="solid"/>
            <a:round/>
            <a:headEnd len="med" w="med" type="none"/>
            <a:tailEnd len="med" w="med" type="none"/>
          </a:ln>
        </p:spPr>
      </p:cxnSp>
      <p:cxnSp>
        <p:nvCxnSpPr>
          <p:cNvPr id="1534" name="Google Shape;1534;p149"/>
          <p:cNvCxnSpPr>
            <a:stCxn id="1528" idx="0"/>
            <a:endCxn id="1530" idx="3"/>
          </p:cNvCxnSpPr>
          <p:nvPr/>
        </p:nvCxnSpPr>
        <p:spPr>
          <a:xfrm flipH="1" rot="10800000">
            <a:off x="750975" y="2035073"/>
            <a:ext cx="308100" cy="231300"/>
          </a:xfrm>
          <a:prstGeom prst="straightConnector1">
            <a:avLst/>
          </a:prstGeom>
          <a:noFill/>
          <a:ln cap="flat" cmpd="sng" w="28575">
            <a:solidFill>
              <a:srgbClr val="0000FF"/>
            </a:solidFill>
            <a:prstDash val="solid"/>
            <a:round/>
            <a:headEnd len="med" w="med" type="none"/>
            <a:tailEnd len="med" w="med" type="none"/>
          </a:ln>
        </p:spPr>
      </p:cxnSp>
      <p:cxnSp>
        <p:nvCxnSpPr>
          <p:cNvPr id="1535" name="Google Shape;1535;p149"/>
          <p:cNvCxnSpPr>
            <a:stCxn id="1530" idx="5"/>
            <a:endCxn id="1529" idx="0"/>
          </p:cNvCxnSpPr>
          <p:nvPr/>
        </p:nvCxnSpPr>
        <p:spPr>
          <a:xfrm>
            <a:off x="1452504" y="2035122"/>
            <a:ext cx="263400" cy="231300"/>
          </a:xfrm>
          <a:prstGeom prst="straightConnector1">
            <a:avLst/>
          </a:prstGeom>
          <a:noFill/>
          <a:ln cap="flat" cmpd="sng" w="28575">
            <a:solidFill>
              <a:srgbClr val="0000FF"/>
            </a:solidFill>
            <a:prstDash val="solid"/>
            <a:round/>
            <a:headEnd len="med" w="med" type="none"/>
            <a:tailEnd len="med" w="med" type="none"/>
          </a:ln>
        </p:spPr>
      </p:cxnSp>
      <p:sp>
        <p:nvSpPr>
          <p:cNvPr id="1536" name="Google Shape;1536;p149"/>
          <p:cNvSpPr/>
          <p:nvPr/>
        </p:nvSpPr>
        <p:spPr>
          <a:xfrm>
            <a:off x="3837985" y="1177159"/>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a</a:t>
            </a:r>
            <a:endParaRPr b="1" sz="1800">
              <a:solidFill>
                <a:srgbClr val="FFFFFF"/>
              </a:solidFill>
              <a:latin typeface="Habibi"/>
              <a:ea typeface="Habibi"/>
              <a:cs typeface="Habibi"/>
              <a:sym typeface="Habibi"/>
            </a:endParaRPr>
          </a:p>
        </p:txBody>
      </p:sp>
      <p:sp>
        <p:nvSpPr>
          <p:cNvPr id="1537" name="Google Shape;1537;p149"/>
          <p:cNvSpPr/>
          <p:nvPr/>
        </p:nvSpPr>
        <p:spPr>
          <a:xfrm>
            <a:off x="3837985" y="2296318"/>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c</a:t>
            </a:r>
            <a:endParaRPr b="1" sz="1800">
              <a:solidFill>
                <a:srgbClr val="FFFFFF"/>
              </a:solidFill>
              <a:latin typeface="Habibi"/>
              <a:ea typeface="Habibi"/>
              <a:cs typeface="Habibi"/>
              <a:sym typeface="Habibi"/>
            </a:endParaRPr>
          </a:p>
        </p:txBody>
      </p:sp>
      <p:sp>
        <p:nvSpPr>
          <p:cNvPr id="1538" name="Google Shape;1538;p149"/>
          <p:cNvSpPr/>
          <p:nvPr/>
        </p:nvSpPr>
        <p:spPr>
          <a:xfrm>
            <a:off x="4802986" y="2296318"/>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d</a:t>
            </a:r>
            <a:endParaRPr b="1" sz="1800">
              <a:solidFill>
                <a:srgbClr val="FFFFFF"/>
              </a:solidFill>
              <a:latin typeface="Habibi"/>
              <a:ea typeface="Habibi"/>
              <a:cs typeface="Habibi"/>
              <a:sym typeface="Habibi"/>
            </a:endParaRPr>
          </a:p>
        </p:txBody>
      </p:sp>
      <p:sp>
        <p:nvSpPr>
          <p:cNvPr id="1539" name="Google Shape;1539;p149"/>
          <p:cNvSpPr/>
          <p:nvPr/>
        </p:nvSpPr>
        <p:spPr>
          <a:xfrm>
            <a:off x="4239411" y="1662532"/>
            <a:ext cx="556500" cy="4716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Habibi"/>
                <a:ea typeface="Habibi"/>
                <a:cs typeface="Habibi"/>
                <a:sym typeface="Habibi"/>
              </a:rPr>
              <a:t>Ego</a:t>
            </a:r>
            <a:endParaRPr b="1">
              <a:solidFill>
                <a:srgbClr val="FFFFFF"/>
              </a:solidFill>
              <a:latin typeface="Habibi"/>
              <a:ea typeface="Habibi"/>
              <a:cs typeface="Habibi"/>
              <a:sym typeface="Habibi"/>
            </a:endParaRPr>
          </a:p>
        </p:txBody>
      </p:sp>
      <p:sp>
        <p:nvSpPr>
          <p:cNvPr id="1540" name="Google Shape;1540;p149"/>
          <p:cNvSpPr/>
          <p:nvPr/>
        </p:nvSpPr>
        <p:spPr>
          <a:xfrm>
            <a:off x="4802981" y="1177160"/>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b</a:t>
            </a:r>
            <a:endParaRPr b="1" sz="1800">
              <a:solidFill>
                <a:srgbClr val="FFFFFF"/>
              </a:solidFill>
              <a:latin typeface="Habibi"/>
              <a:ea typeface="Habibi"/>
              <a:cs typeface="Habibi"/>
              <a:sym typeface="Habibi"/>
            </a:endParaRPr>
          </a:p>
        </p:txBody>
      </p:sp>
      <p:cxnSp>
        <p:nvCxnSpPr>
          <p:cNvPr id="1541" name="Google Shape;1541;p149"/>
          <p:cNvCxnSpPr>
            <a:stCxn id="1540" idx="4"/>
            <a:endCxn id="1539" idx="7"/>
          </p:cNvCxnSpPr>
          <p:nvPr/>
        </p:nvCxnSpPr>
        <p:spPr>
          <a:xfrm flipH="1">
            <a:off x="4714481" y="1531160"/>
            <a:ext cx="263400" cy="200400"/>
          </a:xfrm>
          <a:prstGeom prst="straightConnector1">
            <a:avLst/>
          </a:prstGeom>
          <a:noFill/>
          <a:ln cap="flat" cmpd="sng" w="28575">
            <a:solidFill>
              <a:srgbClr val="0000FF"/>
            </a:solidFill>
            <a:prstDash val="solid"/>
            <a:round/>
            <a:headEnd len="med" w="med" type="none"/>
            <a:tailEnd len="med" w="med" type="none"/>
          </a:ln>
        </p:spPr>
      </p:cxnSp>
      <p:cxnSp>
        <p:nvCxnSpPr>
          <p:cNvPr id="1542" name="Google Shape;1542;p149"/>
          <p:cNvCxnSpPr>
            <a:stCxn id="1536" idx="4"/>
            <a:endCxn id="1539" idx="1"/>
          </p:cNvCxnSpPr>
          <p:nvPr/>
        </p:nvCxnSpPr>
        <p:spPr>
          <a:xfrm>
            <a:off x="4012885" y="1531159"/>
            <a:ext cx="308100" cy="200400"/>
          </a:xfrm>
          <a:prstGeom prst="straightConnector1">
            <a:avLst/>
          </a:prstGeom>
          <a:noFill/>
          <a:ln cap="flat" cmpd="sng" w="28575">
            <a:solidFill>
              <a:srgbClr val="0000FF"/>
            </a:solidFill>
            <a:prstDash val="solid"/>
            <a:round/>
            <a:headEnd len="med" w="med" type="none"/>
            <a:tailEnd len="med" w="med" type="none"/>
          </a:ln>
        </p:spPr>
      </p:cxnSp>
      <p:cxnSp>
        <p:nvCxnSpPr>
          <p:cNvPr id="1543" name="Google Shape;1543;p149"/>
          <p:cNvCxnSpPr>
            <a:stCxn id="1537" idx="0"/>
            <a:endCxn id="1539" idx="3"/>
          </p:cNvCxnSpPr>
          <p:nvPr/>
        </p:nvCxnSpPr>
        <p:spPr>
          <a:xfrm flipH="1" rot="10800000">
            <a:off x="4012885" y="2065018"/>
            <a:ext cx="308100" cy="231300"/>
          </a:xfrm>
          <a:prstGeom prst="straightConnector1">
            <a:avLst/>
          </a:prstGeom>
          <a:noFill/>
          <a:ln cap="flat" cmpd="sng" w="28575">
            <a:solidFill>
              <a:srgbClr val="0000FF"/>
            </a:solidFill>
            <a:prstDash val="solid"/>
            <a:round/>
            <a:headEnd len="med" w="med" type="none"/>
            <a:tailEnd len="med" w="med" type="none"/>
          </a:ln>
        </p:spPr>
      </p:cxnSp>
      <p:cxnSp>
        <p:nvCxnSpPr>
          <p:cNvPr id="1544" name="Google Shape;1544;p149"/>
          <p:cNvCxnSpPr>
            <a:stCxn id="1539" idx="5"/>
            <a:endCxn id="1538" idx="0"/>
          </p:cNvCxnSpPr>
          <p:nvPr/>
        </p:nvCxnSpPr>
        <p:spPr>
          <a:xfrm>
            <a:off x="4714413" y="2065068"/>
            <a:ext cx="263400" cy="231300"/>
          </a:xfrm>
          <a:prstGeom prst="straightConnector1">
            <a:avLst/>
          </a:prstGeom>
          <a:noFill/>
          <a:ln cap="flat" cmpd="sng" w="28575">
            <a:solidFill>
              <a:srgbClr val="0000FF"/>
            </a:solidFill>
            <a:prstDash val="solid"/>
            <a:round/>
            <a:headEnd len="med" w="med" type="none"/>
            <a:tailEnd len="med" w="med" type="none"/>
          </a:ln>
        </p:spPr>
      </p:cxnSp>
      <p:sp>
        <p:nvSpPr>
          <p:cNvPr id="1545" name="Google Shape;1545;p149"/>
          <p:cNvSpPr/>
          <p:nvPr/>
        </p:nvSpPr>
        <p:spPr>
          <a:xfrm>
            <a:off x="6999769" y="1147213"/>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a</a:t>
            </a:r>
            <a:endParaRPr b="1" sz="1800">
              <a:solidFill>
                <a:srgbClr val="FFFFFF"/>
              </a:solidFill>
              <a:latin typeface="Habibi"/>
              <a:ea typeface="Habibi"/>
              <a:cs typeface="Habibi"/>
              <a:sym typeface="Habibi"/>
            </a:endParaRPr>
          </a:p>
        </p:txBody>
      </p:sp>
      <p:sp>
        <p:nvSpPr>
          <p:cNvPr id="1546" name="Google Shape;1546;p149"/>
          <p:cNvSpPr/>
          <p:nvPr/>
        </p:nvSpPr>
        <p:spPr>
          <a:xfrm>
            <a:off x="6999769" y="2266373"/>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c</a:t>
            </a:r>
            <a:endParaRPr b="1" sz="1800">
              <a:solidFill>
                <a:srgbClr val="FFFFFF"/>
              </a:solidFill>
              <a:latin typeface="Habibi"/>
              <a:ea typeface="Habibi"/>
              <a:cs typeface="Habibi"/>
              <a:sym typeface="Habibi"/>
            </a:endParaRPr>
          </a:p>
        </p:txBody>
      </p:sp>
      <p:sp>
        <p:nvSpPr>
          <p:cNvPr id="1547" name="Google Shape;1547;p149"/>
          <p:cNvSpPr/>
          <p:nvPr/>
        </p:nvSpPr>
        <p:spPr>
          <a:xfrm>
            <a:off x="7964770" y="2266373"/>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d</a:t>
            </a:r>
            <a:endParaRPr b="1" sz="1800">
              <a:solidFill>
                <a:srgbClr val="FFFFFF"/>
              </a:solidFill>
              <a:latin typeface="Habibi"/>
              <a:ea typeface="Habibi"/>
              <a:cs typeface="Habibi"/>
              <a:sym typeface="Habibi"/>
            </a:endParaRPr>
          </a:p>
        </p:txBody>
      </p:sp>
      <p:sp>
        <p:nvSpPr>
          <p:cNvPr id="1548" name="Google Shape;1548;p149"/>
          <p:cNvSpPr/>
          <p:nvPr/>
        </p:nvSpPr>
        <p:spPr>
          <a:xfrm>
            <a:off x="7401195" y="1632586"/>
            <a:ext cx="556500" cy="4716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Habibi"/>
                <a:ea typeface="Habibi"/>
                <a:cs typeface="Habibi"/>
                <a:sym typeface="Habibi"/>
              </a:rPr>
              <a:t>Ego</a:t>
            </a:r>
            <a:endParaRPr b="1">
              <a:solidFill>
                <a:srgbClr val="FFFFFF"/>
              </a:solidFill>
              <a:latin typeface="Habibi"/>
              <a:ea typeface="Habibi"/>
              <a:cs typeface="Habibi"/>
              <a:sym typeface="Habibi"/>
            </a:endParaRPr>
          </a:p>
        </p:txBody>
      </p:sp>
      <p:sp>
        <p:nvSpPr>
          <p:cNvPr id="1549" name="Google Shape;1549;p149"/>
          <p:cNvSpPr/>
          <p:nvPr/>
        </p:nvSpPr>
        <p:spPr>
          <a:xfrm>
            <a:off x="7964765" y="1147214"/>
            <a:ext cx="349800" cy="354000"/>
          </a:xfrm>
          <a:prstGeom prst="ellipse">
            <a:avLst/>
          </a:prstGeom>
          <a:solidFill>
            <a:schemeClr val="lt2"/>
          </a:solidFill>
          <a:ln cap="flat" cmpd="sng" w="19050">
            <a:solidFill>
              <a:srgbClr val="0000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b</a:t>
            </a:r>
            <a:endParaRPr b="1" sz="1800">
              <a:solidFill>
                <a:srgbClr val="FFFFFF"/>
              </a:solidFill>
              <a:latin typeface="Habibi"/>
              <a:ea typeface="Habibi"/>
              <a:cs typeface="Habibi"/>
              <a:sym typeface="Habibi"/>
            </a:endParaRPr>
          </a:p>
        </p:txBody>
      </p:sp>
      <p:cxnSp>
        <p:nvCxnSpPr>
          <p:cNvPr id="1550" name="Google Shape;1550;p149"/>
          <p:cNvCxnSpPr>
            <a:stCxn id="1549" idx="4"/>
            <a:endCxn id="1548" idx="7"/>
          </p:cNvCxnSpPr>
          <p:nvPr/>
        </p:nvCxnSpPr>
        <p:spPr>
          <a:xfrm flipH="1">
            <a:off x="7876265" y="1501214"/>
            <a:ext cx="263400" cy="200400"/>
          </a:xfrm>
          <a:prstGeom prst="straightConnector1">
            <a:avLst/>
          </a:prstGeom>
          <a:noFill/>
          <a:ln cap="flat" cmpd="sng" w="28575">
            <a:solidFill>
              <a:srgbClr val="0000FF"/>
            </a:solidFill>
            <a:prstDash val="solid"/>
            <a:round/>
            <a:headEnd len="med" w="med" type="none"/>
            <a:tailEnd len="med" w="med" type="none"/>
          </a:ln>
        </p:spPr>
      </p:cxnSp>
      <p:cxnSp>
        <p:nvCxnSpPr>
          <p:cNvPr id="1551" name="Google Shape;1551;p149"/>
          <p:cNvCxnSpPr>
            <a:stCxn id="1545" idx="4"/>
            <a:endCxn id="1548" idx="1"/>
          </p:cNvCxnSpPr>
          <p:nvPr/>
        </p:nvCxnSpPr>
        <p:spPr>
          <a:xfrm>
            <a:off x="7174669" y="1501213"/>
            <a:ext cx="308100" cy="200400"/>
          </a:xfrm>
          <a:prstGeom prst="straightConnector1">
            <a:avLst/>
          </a:prstGeom>
          <a:noFill/>
          <a:ln cap="flat" cmpd="sng" w="28575">
            <a:solidFill>
              <a:srgbClr val="0000FF"/>
            </a:solidFill>
            <a:prstDash val="solid"/>
            <a:round/>
            <a:headEnd len="med" w="med" type="none"/>
            <a:tailEnd len="med" w="med" type="none"/>
          </a:ln>
        </p:spPr>
      </p:cxnSp>
      <p:cxnSp>
        <p:nvCxnSpPr>
          <p:cNvPr id="1552" name="Google Shape;1552;p149"/>
          <p:cNvCxnSpPr>
            <a:stCxn id="1546" idx="0"/>
            <a:endCxn id="1548" idx="3"/>
          </p:cNvCxnSpPr>
          <p:nvPr/>
        </p:nvCxnSpPr>
        <p:spPr>
          <a:xfrm flipH="1" rot="10800000">
            <a:off x="7174669" y="2035073"/>
            <a:ext cx="308100" cy="231300"/>
          </a:xfrm>
          <a:prstGeom prst="straightConnector1">
            <a:avLst/>
          </a:prstGeom>
          <a:noFill/>
          <a:ln cap="flat" cmpd="sng" w="28575">
            <a:solidFill>
              <a:srgbClr val="0000FF"/>
            </a:solidFill>
            <a:prstDash val="solid"/>
            <a:round/>
            <a:headEnd len="med" w="med" type="none"/>
            <a:tailEnd len="med" w="med" type="none"/>
          </a:ln>
        </p:spPr>
      </p:cxnSp>
      <p:cxnSp>
        <p:nvCxnSpPr>
          <p:cNvPr id="1553" name="Google Shape;1553;p149"/>
          <p:cNvCxnSpPr>
            <a:stCxn id="1548" idx="5"/>
            <a:endCxn id="1547" idx="0"/>
          </p:cNvCxnSpPr>
          <p:nvPr/>
        </p:nvCxnSpPr>
        <p:spPr>
          <a:xfrm>
            <a:off x="7876198" y="2035122"/>
            <a:ext cx="263400" cy="231300"/>
          </a:xfrm>
          <a:prstGeom prst="straightConnector1">
            <a:avLst/>
          </a:prstGeom>
          <a:noFill/>
          <a:ln cap="flat" cmpd="sng" w="28575">
            <a:solidFill>
              <a:srgbClr val="0000FF"/>
            </a:solidFill>
            <a:prstDash val="solid"/>
            <a:round/>
            <a:headEnd len="med" w="med" type="none"/>
            <a:tailEnd len="med" w="med" type="none"/>
          </a:ln>
        </p:spPr>
      </p:cxnSp>
      <p:graphicFrame>
        <p:nvGraphicFramePr>
          <p:cNvPr id="1554" name="Google Shape;1554;p149"/>
          <p:cNvGraphicFramePr/>
          <p:nvPr/>
        </p:nvGraphicFramePr>
        <p:xfrm>
          <a:off x="829688" y="2894863"/>
          <a:ext cx="3000000" cy="3000000"/>
        </p:xfrm>
        <a:graphic>
          <a:graphicData uri="http://schemas.openxmlformats.org/drawingml/2006/table">
            <a:tbl>
              <a:tblPr>
                <a:noFill/>
                <a:tableStyleId>{7DE59CC5-BFA2-4C44-9D40-4E4266A2D9C1}</a:tableStyleId>
              </a:tblPr>
              <a:tblGrid>
                <a:gridCol w="248200"/>
                <a:gridCol w="248200"/>
                <a:gridCol w="248200"/>
                <a:gridCol w="248200"/>
                <a:gridCol w="248200"/>
              </a:tblGrid>
              <a:tr h="239950">
                <a:tc>
                  <a:txBody>
                    <a:bodyPr/>
                    <a:lstStyle/>
                    <a:p>
                      <a:pPr indent="0" lvl="0" marL="0" rtl="0" algn="ctr">
                        <a:spcBef>
                          <a:spcPts val="0"/>
                        </a:spcBef>
                        <a:spcAft>
                          <a:spcPts val="0"/>
                        </a:spcAft>
                        <a:buNone/>
                      </a:pPr>
                      <a:r>
                        <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a</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b</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c</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d</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39950">
                <a:tc>
                  <a:txBody>
                    <a:bodyPr/>
                    <a:lstStyle/>
                    <a:p>
                      <a:pPr indent="0" lvl="0" marL="0" rtl="0" algn="ctr">
                        <a:spcBef>
                          <a:spcPts val="0"/>
                        </a:spcBef>
                        <a:spcAft>
                          <a:spcPts val="0"/>
                        </a:spcAft>
                        <a:buNone/>
                      </a:pPr>
                      <a:r>
                        <a:rPr lang="en" sz="1200"/>
                        <a:t>a</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a:t>
                      </a:r>
                      <a:endParaRPr sz="12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0</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0</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0</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r>
              <a:tr h="239950">
                <a:tc>
                  <a:txBody>
                    <a:bodyPr/>
                    <a:lstStyle/>
                    <a:p>
                      <a:pPr indent="0" lvl="0" marL="0" rtl="0" algn="ctr">
                        <a:spcBef>
                          <a:spcPts val="0"/>
                        </a:spcBef>
                        <a:spcAft>
                          <a:spcPts val="0"/>
                        </a:spcAft>
                        <a:buNone/>
                      </a:pPr>
                      <a:r>
                        <a:rPr lang="en" sz="1200"/>
                        <a:t>b</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a:t>
                      </a:r>
                      <a:endParaRPr sz="1200"/>
                    </a:p>
                  </a:txBody>
                  <a:tcPr marT="0" marB="0" marR="0" marL="0" anchor="ctr"/>
                </a:tc>
                <a:tc>
                  <a:txBody>
                    <a:bodyPr/>
                    <a:lstStyle/>
                    <a:p>
                      <a:pPr indent="0" lvl="0" marL="0" rtl="0" algn="ctr">
                        <a:spcBef>
                          <a:spcPts val="0"/>
                        </a:spcBef>
                        <a:spcAft>
                          <a:spcPts val="0"/>
                        </a:spcAft>
                        <a:buNone/>
                      </a:pPr>
                      <a:r>
                        <a:rPr lang="en" sz="1200">
                          <a:solidFill>
                            <a:srgbClr val="CCCCCC"/>
                          </a:solidFill>
                        </a:rPr>
                        <a:t>0</a:t>
                      </a:r>
                      <a:endParaRPr sz="1200">
                        <a:solidFill>
                          <a:srgbClr val="CCCCCC"/>
                        </a:solidFill>
                      </a:endParaRPr>
                    </a:p>
                  </a:txBody>
                  <a:tcPr marT="0" marB="0" marR="0" marL="0" anchor="ctr"/>
                </a:tc>
                <a:tc>
                  <a:txBody>
                    <a:bodyPr/>
                    <a:lstStyle/>
                    <a:p>
                      <a:pPr indent="0" lvl="0" marL="0" rtl="0" algn="ctr">
                        <a:spcBef>
                          <a:spcPts val="0"/>
                        </a:spcBef>
                        <a:spcAft>
                          <a:spcPts val="0"/>
                        </a:spcAft>
                        <a:buNone/>
                      </a:pPr>
                      <a:r>
                        <a:rPr lang="en" sz="1200">
                          <a:solidFill>
                            <a:srgbClr val="CCCCCC"/>
                          </a:solidFill>
                        </a:rPr>
                        <a:t>0 </a:t>
                      </a:r>
                      <a:endParaRPr sz="1200">
                        <a:solidFill>
                          <a:srgbClr val="CCCCCC"/>
                        </a:solidFill>
                      </a:endParaRPr>
                    </a:p>
                  </a:txBody>
                  <a:tcPr marT="0" marB="0" marR="0" marL="0" anchor="ctr"/>
                </a:tc>
              </a:tr>
              <a:tr h="239950">
                <a:tc>
                  <a:txBody>
                    <a:bodyPr/>
                    <a:lstStyle/>
                    <a:p>
                      <a:pPr indent="0" lvl="0" marL="0" rtl="0" algn="ctr">
                        <a:spcBef>
                          <a:spcPts val="0"/>
                        </a:spcBef>
                        <a:spcAft>
                          <a:spcPts val="0"/>
                        </a:spcAft>
                        <a:buNone/>
                      </a:pPr>
                      <a:r>
                        <a:rPr lang="en" sz="1200"/>
                        <a:t>c</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0</a:t>
                      </a:r>
                      <a:endParaRPr sz="1200"/>
                    </a:p>
                  </a:txBody>
                  <a:tcPr marT="0" marB="0" marR="0" marL="0" anchor="ctr"/>
                </a:tc>
                <a:tc>
                  <a:txBody>
                    <a:bodyPr/>
                    <a:lstStyle/>
                    <a:p>
                      <a:pPr indent="0" lvl="0" marL="0" rtl="0" algn="ctr">
                        <a:spcBef>
                          <a:spcPts val="0"/>
                        </a:spcBef>
                        <a:spcAft>
                          <a:spcPts val="0"/>
                        </a:spcAft>
                        <a:buNone/>
                      </a:pPr>
                      <a:r>
                        <a:rPr lang="en" sz="1200"/>
                        <a:t>--</a:t>
                      </a:r>
                      <a:endParaRPr sz="1200"/>
                    </a:p>
                  </a:txBody>
                  <a:tcPr marT="0" marB="0" marR="0" marL="0" anchor="ctr"/>
                </a:tc>
                <a:tc>
                  <a:txBody>
                    <a:bodyPr/>
                    <a:lstStyle/>
                    <a:p>
                      <a:pPr indent="0" lvl="0" marL="0" rtl="0" algn="ctr">
                        <a:spcBef>
                          <a:spcPts val="0"/>
                        </a:spcBef>
                        <a:spcAft>
                          <a:spcPts val="0"/>
                        </a:spcAft>
                        <a:buNone/>
                      </a:pPr>
                      <a:r>
                        <a:rPr lang="en" sz="1200">
                          <a:solidFill>
                            <a:srgbClr val="CCCCCC"/>
                          </a:solidFill>
                        </a:rPr>
                        <a:t>0</a:t>
                      </a:r>
                      <a:endParaRPr sz="1200">
                        <a:solidFill>
                          <a:srgbClr val="CCCCCC"/>
                        </a:solidFill>
                      </a:endParaRPr>
                    </a:p>
                  </a:txBody>
                  <a:tcPr marT="0" marB="0" marR="0" marL="0" anchor="ctr"/>
                </a:tc>
              </a:tr>
              <a:tr h="239950">
                <a:tc>
                  <a:txBody>
                    <a:bodyPr/>
                    <a:lstStyle/>
                    <a:p>
                      <a:pPr indent="0" lvl="0" marL="0" rtl="0" algn="ctr">
                        <a:spcBef>
                          <a:spcPts val="0"/>
                        </a:spcBef>
                        <a:spcAft>
                          <a:spcPts val="0"/>
                        </a:spcAft>
                        <a:buNone/>
                      </a:pPr>
                      <a:r>
                        <a:rPr lang="en" sz="1200"/>
                        <a:t>d</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0</a:t>
                      </a:r>
                      <a:endParaRPr sz="1200"/>
                    </a:p>
                  </a:txBody>
                  <a:tcPr marT="0" marB="0" marR="0" marL="0" anchor="ctr"/>
                </a:tc>
                <a:tc>
                  <a:txBody>
                    <a:bodyPr/>
                    <a:lstStyle/>
                    <a:p>
                      <a:pPr indent="0" lvl="0" marL="0" rtl="0" algn="ctr">
                        <a:spcBef>
                          <a:spcPts val="0"/>
                        </a:spcBef>
                        <a:spcAft>
                          <a:spcPts val="0"/>
                        </a:spcAft>
                        <a:buNone/>
                      </a:pPr>
                      <a:r>
                        <a:rPr lang="en" sz="1200"/>
                        <a:t>0</a:t>
                      </a:r>
                      <a:endParaRPr sz="1200"/>
                    </a:p>
                  </a:txBody>
                  <a:tcPr marT="0" marB="0" marR="0" marL="0" anchor="ctr"/>
                </a:tc>
                <a:tc>
                  <a:txBody>
                    <a:bodyPr/>
                    <a:lstStyle/>
                    <a:p>
                      <a:pPr indent="0" lvl="0" marL="0" rtl="0" algn="ctr">
                        <a:spcBef>
                          <a:spcPts val="0"/>
                        </a:spcBef>
                        <a:spcAft>
                          <a:spcPts val="0"/>
                        </a:spcAft>
                        <a:buNone/>
                      </a:pPr>
                      <a:r>
                        <a:rPr lang="en" sz="1200"/>
                        <a:t>--</a:t>
                      </a:r>
                      <a:endParaRPr sz="1200"/>
                    </a:p>
                  </a:txBody>
                  <a:tcPr marT="0" marB="0" marR="0" marL="0" anchor="ctr"/>
                </a:tc>
              </a:tr>
            </a:tbl>
          </a:graphicData>
        </a:graphic>
      </p:graphicFrame>
      <p:graphicFrame>
        <p:nvGraphicFramePr>
          <p:cNvPr id="1555" name="Google Shape;1555;p149"/>
          <p:cNvGraphicFramePr/>
          <p:nvPr/>
        </p:nvGraphicFramePr>
        <p:xfrm>
          <a:off x="4069313" y="2954363"/>
          <a:ext cx="3000000" cy="3000000"/>
        </p:xfrm>
        <a:graphic>
          <a:graphicData uri="http://schemas.openxmlformats.org/drawingml/2006/table">
            <a:tbl>
              <a:tblPr>
                <a:noFill/>
                <a:tableStyleId>{7DE59CC5-BFA2-4C44-9D40-4E4266A2D9C1}</a:tableStyleId>
              </a:tblPr>
              <a:tblGrid>
                <a:gridCol w="248200"/>
                <a:gridCol w="248200"/>
                <a:gridCol w="248200"/>
                <a:gridCol w="248200"/>
                <a:gridCol w="248200"/>
              </a:tblGrid>
              <a:tr h="239950">
                <a:tc>
                  <a:txBody>
                    <a:bodyPr/>
                    <a:lstStyle/>
                    <a:p>
                      <a:pPr indent="0" lvl="0" marL="0" rtl="0" algn="ctr">
                        <a:spcBef>
                          <a:spcPts val="0"/>
                        </a:spcBef>
                        <a:spcAft>
                          <a:spcPts val="0"/>
                        </a:spcAft>
                        <a:buNone/>
                      </a:pPr>
                      <a:r>
                        <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a</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b</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c</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d</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39950">
                <a:tc>
                  <a:txBody>
                    <a:bodyPr/>
                    <a:lstStyle/>
                    <a:p>
                      <a:pPr indent="0" lvl="0" marL="0" rtl="0" algn="ctr">
                        <a:spcBef>
                          <a:spcPts val="0"/>
                        </a:spcBef>
                        <a:spcAft>
                          <a:spcPts val="0"/>
                        </a:spcAft>
                        <a:buNone/>
                      </a:pPr>
                      <a:r>
                        <a:rPr lang="en" sz="1200"/>
                        <a:t>a</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a:t>
                      </a:r>
                      <a:endParaRPr sz="12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1</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1</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0</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r>
              <a:tr h="239950">
                <a:tc>
                  <a:txBody>
                    <a:bodyPr/>
                    <a:lstStyle/>
                    <a:p>
                      <a:pPr indent="0" lvl="0" marL="0" rtl="0" algn="ctr">
                        <a:spcBef>
                          <a:spcPts val="0"/>
                        </a:spcBef>
                        <a:spcAft>
                          <a:spcPts val="0"/>
                        </a:spcAft>
                        <a:buNone/>
                      </a:pPr>
                      <a:r>
                        <a:rPr lang="en" sz="1200"/>
                        <a:t>b</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a:t>
                      </a:r>
                      <a:endParaRPr sz="1200"/>
                    </a:p>
                  </a:txBody>
                  <a:tcPr marT="0" marB="0" marR="0" marL="0" anchor="ctr"/>
                </a:tc>
                <a:tc>
                  <a:txBody>
                    <a:bodyPr/>
                    <a:lstStyle/>
                    <a:p>
                      <a:pPr indent="0" lvl="0" marL="0" rtl="0" algn="ctr">
                        <a:spcBef>
                          <a:spcPts val="0"/>
                        </a:spcBef>
                        <a:spcAft>
                          <a:spcPts val="0"/>
                        </a:spcAft>
                        <a:buNone/>
                      </a:pPr>
                      <a:r>
                        <a:rPr lang="en" sz="1200">
                          <a:solidFill>
                            <a:srgbClr val="CCCCCC"/>
                          </a:solidFill>
                        </a:rPr>
                        <a:t>0</a:t>
                      </a:r>
                      <a:endParaRPr sz="1200">
                        <a:solidFill>
                          <a:srgbClr val="CCCCCC"/>
                        </a:solidFill>
                      </a:endParaRPr>
                    </a:p>
                  </a:txBody>
                  <a:tcPr marT="0" marB="0" marR="0" marL="0" anchor="ctr"/>
                </a:tc>
                <a:tc>
                  <a:txBody>
                    <a:bodyPr/>
                    <a:lstStyle/>
                    <a:p>
                      <a:pPr indent="0" lvl="0" marL="0" rtl="0" algn="ctr">
                        <a:spcBef>
                          <a:spcPts val="0"/>
                        </a:spcBef>
                        <a:spcAft>
                          <a:spcPts val="0"/>
                        </a:spcAft>
                        <a:buNone/>
                      </a:pPr>
                      <a:r>
                        <a:rPr lang="en" sz="1200">
                          <a:solidFill>
                            <a:srgbClr val="CCCCCC"/>
                          </a:solidFill>
                        </a:rPr>
                        <a:t>0 </a:t>
                      </a:r>
                      <a:endParaRPr sz="1200">
                        <a:solidFill>
                          <a:srgbClr val="CCCCCC"/>
                        </a:solidFill>
                      </a:endParaRPr>
                    </a:p>
                  </a:txBody>
                  <a:tcPr marT="0" marB="0" marR="0" marL="0" anchor="ctr"/>
                </a:tc>
              </a:tr>
              <a:tr h="239950">
                <a:tc>
                  <a:txBody>
                    <a:bodyPr/>
                    <a:lstStyle/>
                    <a:p>
                      <a:pPr indent="0" lvl="0" marL="0" rtl="0" algn="ctr">
                        <a:spcBef>
                          <a:spcPts val="0"/>
                        </a:spcBef>
                        <a:spcAft>
                          <a:spcPts val="0"/>
                        </a:spcAft>
                        <a:buNone/>
                      </a:pPr>
                      <a:r>
                        <a:rPr lang="en" sz="1200"/>
                        <a:t>c</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0</a:t>
                      </a:r>
                      <a:endParaRPr sz="1200"/>
                    </a:p>
                  </a:txBody>
                  <a:tcPr marT="0" marB="0" marR="0" marL="0" anchor="ctr"/>
                </a:tc>
                <a:tc>
                  <a:txBody>
                    <a:bodyPr/>
                    <a:lstStyle/>
                    <a:p>
                      <a:pPr indent="0" lvl="0" marL="0" rtl="0" algn="ctr">
                        <a:spcBef>
                          <a:spcPts val="0"/>
                        </a:spcBef>
                        <a:spcAft>
                          <a:spcPts val="0"/>
                        </a:spcAft>
                        <a:buNone/>
                      </a:pPr>
                      <a:r>
                        <a:rPr lang="en" sz="1200"/>
                        <a:t>--</a:t>
                      </a:r>
                      <a:endParaRPr sz="1200"/>
                    </a:p>
                  </a:txBody>
                  <a:tcPr marT="0" marB="0" marR="0" marL="0" anchor="ctr"/>
                </a:tc>
                <a:tc>
                  <a:txBody>
                    <a:bodyPr/>
                    <a:lstStyle/>
                    <a:p>
                      <a:pPr indent="0" lvl="0" marL="0" rtl="0" algn="ctr">
                        <a:spcBef>
                          <a:spcPts val="0"/>
                        </a:spcBef>
                        <a:spcAft>
                          <a:spcPts val="0"/>
                        </a:spcAft>
                        <a:buNone/>
                      </a:pPr>
                      <a:r>
                        <a:rPr lang="en" sz="1200">
                          <a:solidFill>
                            <a:srgbClr val="CCCCCC"/>
                          </a:solidFill>
                        </a:rPr>
                        <a:t>1</a:t>
                      </a:r>
                      <a:endParaRPr sz="1200">
                        <a:solidFill>
                          <a:srgbClr val="CCCCCC"/>
                        </a:solidFill>
                      </a:endParaRPr>
                    </a:p>
                  </a:txBody>
                  <a:tcPr marT="0" marB="0" marR="0" marL="0" anchor="ctr"/>
                </a:tc>
              </a:tr>
              <a:tr h="239950">
                <a:tc>
                  <a:txBody>
                    <a:bodyPr/>
                    <a:lstStyle/>
                    <a:p>
                      <a:pPr indent="0" lvl="0" marL="0" rtl="0" algn="ctr">
                        <a:spcBef>
                          <a:spcPts val="0"/>
                        </a:spcBef>
                        <a:spcAft>
                          <a:spcPts val="0"/>
                        </a:spcAft>
                        <a:buNone/>
                      </a:pPr>
                      <a:r>
                        <a:rPr lang="en" sz="1200"/>
                        <a:t>d</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0</a:t>
                      </a:r>
                      <a:endParaRPr sz="1200"/>
                    </a:p>
                  </a:txBody>
                  <a:tcPr marT="0" marB="0" marR="0" marL="0" anchor="ctr"/>
                </a:tc>
                <a:tc>
                  <a:txBody>
                    <a:bodyPr/>
                    <a:lstStyle/>
                    <a:p>
                      <a:pPr indent="0" lvl="0" marL="0" rtl="0" algn="ctr">
                        <a:spcBef>
                          <a:spcPts val="0"/>
                        </a:spcBef>
                        <a:spcAft>
                          <a:spcPts val="0"/>
                        </a:spcAft>
                        <a:buNone/>
                      </a:pPr>
                      <a:r>
                        <a:rPr lang="en" sz="1200"/>
                        <a:t>1</a:t>
                      </a:r>
                      <a:endParaRPr sz="1200"/>
                    </a:p>
                  </a:txBody>
                  <a:tcPr marT="0" marB="0" marR="0" marL="0" anchor="ctr"/>
                </a:tc>
                <a:tc>
                  <a:txBody>
                    <a:bodyPr/>
                    <a:lstStyle/>
                    <a:p>
                      <a:pPr indent="0" lvl="0" marL="0" rtl="0" algn="ctr">
                        <a:spcBef>
                          <a:spcPts val="0"/>
                        </a:spcBef>
                        <a:spcAft>
                          <a:spcPts val="0"/>
                        </a:spcAft>
                        <a:buNone/>
                      </a:pPr>
                      <a:r>
                        <a:rPr lang="en" sz="1200"/>
                        <a:t>--</a:t>
                      </a:r>
                      <a:endParaRPr sz="1200"/>
                    </a:p>
                  </a:txBody>
                  <a:tcPr marT="0" marB="0" marR="0" marL="0" anchor="ctr"/>
                </a:tc>
              </a:tr>
            </a:tbl>
          </a:graphicData>
        </a:graphic>
      </p:graphicFrame>
      <p:graphicFrame>
        <p:nvGraphicFramePr>
          <p:cNvPr id="1556" name="Google Shape;1556;p149"/>
          <p:cNvGraphicFramePr/>
          <p:nvPr/>
        </p:nvGraphicFramePr>
        <p:xfrm>
          <a:off x="7231038" y="2922263"/>
          <a:ext cx="3000000" cy="3000000"/>
        </p:xfrm>
        <a:graphic>
          <a:graphicData uri="http://schemas.openxmlformats.org/drawingml/2006/table">
            <a:tbl>
              <a:tblPr>
                <a:noFill/>
                <a:tableStyleId>{7DE59CC5-BFA2-4C44-9D40-4E4266A2D9C1}</a:tableStyleId>
              </a:tblPr>
              <a:tblGrid>
                <a:gridCol w="248200"/>
                <a:gridCol w="248200"/>
                <a:gridCol w="248200"/>
                <a:gridCol w="248200"/>
                <a:gridCol w="248200"/>
              </a:tblGrid>
              <a:tr h="239950">
                <a:tc>
                  <a:txBody>
                    <a:bodyPr/>
                    <a:lstStyle/>
                    <a:p>
                      <a:pPr indent="0" lvl="0" marL="0" rtl="0" algn="ctr">
                        <a:spcBef>
                          <a:spcPts val="0"/>
                        </a:spcBef>
                        <a:spcAft>
                          <a:spcPts val="0"/>
                        </a:spcAft>
                        <a:buNone/>
                      </a:pPr>
                      <a:r>
                        <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a</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b</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c</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CCCCCC"/>
                          </a:solidFill>
                        </a:rPr>
                        <a:t>d</a:t>
                      </a:r>
                      <a:endParaRPr sz="1200">
                        <a:solidFill>
                          <a:srgbClr val="CCCCCC"/>
                        </a:solidFill>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39950">
                <a:tc>
                  <a:txBody>
                    <a:bodyPr/>
                    <a:lstStyle/>
                    <a:p>
                      <a:pPr indent="0" lvl="0" marL="0" rtl="0" algn="ctr">
                        <a:spcBef>
                          <a:spcPts val="0"/>
                        </a:spcBef>
                        <a:spcAft>
                          <a:spcPts val="0"/>
                        </a:spcAft>
                        <a:buNone/>
                      </a:pPr>
                      <a:r>
                        <a:rPr lang="en" sz="1200"/>
                        <a:t>a</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a:t>
                      </a:r>
                      <a:endParaRPr sz="1200"/>
                    </a:p>
                  </a:txBody>
                  <a:tcPr marT="0" marB="0" marR="0" marL="0"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1</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1</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200">
                          <a:solidFill>
                            <a:srgbClr val="B7B7B7"/>
                          </a:solidFill>
                        </a:rPr>
                        <a:t>1</a:t>
                      </a:r>
                      <a:endParaRPr sz="1200">
                        <a:solidFill>
                          <a:srgbClr val="B7B7B7"/>
                        </a:solidFill>
                      </a:endParaRPr>
                    </a:p>
                  </a:txBody>
                  <a:tcPr marT="0" marB="0" marR="0" marL="0" anchor="ctr">
                    <a:lnT cap="flat" cmpd="sng" w="9525">
                      <a:solidFill>
                        <a:srgbClr val="9E9E9E">
                          <a:alpha val="0"/>
                        </a:srgbClr>
                      </a:solidFill>
                      <a:prstDash val="solid"/>
                      <a:round/>
                      <a:headEnd len="sm" w="sm" type="none"/>
                      <a:tailEnd len="sm" w="sm" type="none"/>
                    </a:lnT>
                  </a:tcPr>
                </a:tc>
              </a:tr>
              <a:tr h="239950">
                <a:tc>
                  <a:txBody>
                    <a:bodyPr/>
                    <a:lstStyle/>
                    <a:p>
                      <a:pPr indent="0" lvl="0" marL="0" rtl="0" algn="ctr">
                        <a:spcBef>
                          <a:spcPts val="0"/>
                        </a:spcBef>
                        <a:spcAft>
                          <a:spcPts val="0"/>
                        </a:spcAft>
                        <a:buNone/>
                      </a:pPr>
                      <a:r>
                        <a:rPr lang="en" sz="1200"/>
                        <a:t>b</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a:t>
                      </a:r>
                      <a:endParaRPr sz="1200"/>
                    </a:p>
                  </a:txBody>
                  <a:tcPr marT="0" marB="0" marR="0" marL="0" anchor="ctr"/>
                </a:tc>
                <a:tc>
                  <a:txBody>
                    <a:bodyPr/>
                    <a:lstStyle/>
                    <a:p>
                      <a:pPr indent="0" lvl="0" marL="0" rtl="0" algn="ctr">
                        <a:spcBef>
                          <a:spcPts val="0"/>
                        </a:spcBef>
                        <a:spcAft>
                          <a:spcPts val="0"/>
                        </a:spcAft>
                        <a:buNone/>
                      </a:pPr>
                      <a:r>
                        <a:rPr lang="en" sz="1200">
                          <a:solidFill>
                            <a:srgbClr val="CCCCCC"/>
                          </a:solidFill>
                        </a:rPr>
                        <a:t>1</a:t>
                      </a:r>
                      <a:endParaRPr sz="1200">
                        <a:solidFill>
                          <a:srgbClr val="CCCCCC"/>
                        </a:solidFill>
                      </a:endParaRPr>
                    </a:p>
                  </a:txBody>
                  <a:tcPr marT="0" marB="0" marR="0" marL="0" anchor="ctr"/>
                </a:tc>
                <a:tc>
                  <a:txBody>
                    <a:bodyPr/>
                    <a:lstStyle/>
                    <a:p>
                      <a:pPr indent="0" lvl="0" marL="0" rtl="0" algn="ctr">
                        <a:spcBef>
                          <a:spcPts val="0"/>
                        </a:spcBef>
                        <a:spcAft>
                          <a:spcPts val="0"/>
                        </a:spcAft>
                        <a:buNone/>
                      </a:pPr>
                      <a:r>
                        <a:rPr lang="en" sz="1200">
                          <a:solidFill>
                            <a:srgbClr val="CCCCCC"/>
                          </a:solidFill>
                        </a:rPr>
                        <a:t>1 </a:t>
                      </a:r>
                      <a:endParaRPr sz="1200">
                        <a:solidFill>
                          <a:srgbClr val="CCCCCC"/>
                        </a:solidFill>
                      </a:endParaRPr>
                    </a:p>
                  </a:txBody>
                  <a:tcPr marT="0" marB="0" marR="0" marL="0" anchor="ctr"/>
                </a:tc>
              </a:tr>
              <a:tr h="239950">
                <a:tc>
                  <a:txBody>
                    <a:bodyPr/>
                    <a:lstStyle/>
                    <a:p>
                      <a:pPr indent="0" lvl="0" marL="0" rtl="0" algn="ctr">
                        <a:spcBef>
                          <a:spcPts val="0"/>
                        </a:spcBef>
                        <a:spcAft>
                          <a:spcPts val="0"/>
                        </a:spcAft>
                        <a:buNone/>
                      </a:pPr>
                      <a:r>
                        <a:rPr lang="en" sz="1200"/>
                        <a:t>c</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1</a:t>
                      </a:r>
                      <a:endParaRPr sz="1200"/>
                    </a:p>
                  </a:txBody>
                  <a:tcPr marT="0" marB="0" marR="0" marL="0" anchor="ctr"/>
                </a:tc>
                <a:tc>
                  <a:txBody>
                    <a:bodyPr/>
                    <a:lstStyle/>
                    <a:p>
                      <a:pPr indent="0" lvl="0" marL="0" rtl="0" algn="ctr">
                        <a:spcBef>
                          <a:spcPts val="0"/>
                        </a:spcBef>
                        <a:spcAft>
                          <a:spcPts val="0"/>
                        </a:spcAft>
                        <a:buNone/>
                      </a:pPr>
                      <a:r>
                        <a:rPr lang="en" sz="1200"/>
                        <a:t>--</a:t>
                      </a:r>
                      <a:endParaRPr sz="1200"/>
                    </a:p>
                  </a:txBody>
                  <a:tcPr marT="0" marB="0" marR="0" marL="0" anchor="ctr"/>
                </a:tc>
                <a:tc>
                  <a:txBody>
                    <a:bodyPr/>
                    <a:lstStyle/>
                    <a:p>
                      <a:pPr indent="0" lvl="0" marL="0" rtl="0" algn="ctr">
                        <a:spcBef>
                          <a:spcPts val="0"/>
                        </a:spcBef>
                        <a:spcAft>
                          <a:spcPts val="0"/>
                        </a:spcAft>
                        <a:buNone/>
                      </a:pPr>
                      <a:r>
                        <a:rPr lang="en" sz="1200">
                          <a:solidFill>
                            <a:srgbClr val="CCCCCC"/>
                          </a:solidFill>
                        </a:rPr>
                        <a:t>1</a:t>
                      </a:r>
                      <a:endParaRPr sz="1200">
                        <a:solidFill>
                          <a:srgbClr val="CCCCCC"/>
                        </a:solidFill>
                      </a:endParaRPr>
                    </a:p>
                  </a:txBody>
                  <a:tcPr marT="0" marB="0" marR="0" marL="0" anchor="ctr"/>
                </a:tc>
              </a:tr>
              <a:tr h="239950">
                <a:tc>
                  <a:txBody>
                    <a:bodyPr/>
                    <a:lstStyle/>
                    <a:p>
                      <a:pPr indent="0" lvl="0" marL="0" rtl="0" algn="ctr">
                        <a:spcBef>
                          <a:spcPts val="0"/>
                        </a:spcBef>
                        <a:spcAft>
                          <a:spcPts val="0"/>
                        </a:spcAft>
                        <a:buNone/>
                      </a:pPr>
                      <a:r>
                        <a:rPr lang="en" sz="1200"/>
                        <a:t>d</a:t>
                      </a:r>
                      <a:endParaRPr sz="1200"/>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0" marR="0" marL="0"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200"/>
                        <a:t>1</a:t>
                      </a:r>
                      <a:endParaRPr sz="1200"/>
                    </a:p>
                  </a:txBody>
                  <a:tcPr marT="0" marB="0" marR="0" marL="0" anchor="ctr"/>
                </a:tc>
                <a:tc>
                  <a:txBody>
                    <a:bodyPr/>
                    <a:lstStyle/>
                    <a:p>
                      <a:pPr indent="0" lvl="0" marL="0" rtl="0" algn="ctr">
                        <a:spcBef>
                          <a:spcPts val="0"/>
                        </a:spcBef>
                        <a:spcAft>
                          <a:spcPts val="0"/>
                        </a:spcAft>
                        <a:buNone/>
                      </a:pPr>
                      <a:r>
                        <a:rPr lang="en" sz="1200"/>
                        <a:t>1</a:t>
                      </a:r>
                      <a:endParaRPr sz="1200"/>
                    </a:p>
                  </a:txBody>
                  <a:tcPr marT="0" marB="0" marR="0" marL="0" anchor="ctr"/>
                </a:tc>
                <a:tc>
                  <a:txBody>
                    <a:bodyPr/>
                    <a:lstStyle/>
                    <a:p>
                      <a:pPr indent="0" lvl="0" marL="0" rtl="0" algn="ctr">
                        <a:spcBef>
                          <a:spcPts val="0"/>
                        </a:spcBef>
                        <a:spcAft>
                          <a:spcPts val="0"/>
                        </a:spcAft>
                        <a:buNone/>
                      </a:pPr>
                      <a:r>
                        <a:rPr lang="en" sz="1200"/>
                        <a:t>--</a:t>
                      </a:r>
                      <a:endParaRPr sz="1200"/>
                    </a:p>
                  </a:txBody>
                  <a:tcPr marT="0" marB="0" marR="0" marL="0" anchor="ctr"/>
                </a:tc>
              </a:tr>
            </a:tbl>
          </a:graphicData>
        </a:graphic>
      </p:graphicFrame>
      <p:sp>
        <p:nvSpPr>
          <p:cNvPr id="1557" name="Google Shape;1557;p149"/>
          <p:cNvSpPr txBox="1"/>
          <p:nvPr/>
        </p:nvSpPr>
        <p:spPr>
          <a:xfrm>
            <a:off x="882150" y="4094613"/>
            <a:ext cx="1241100" cy="29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A61C00"/>
                </a:solidFill>
                <a:latin typeface="Economica"/>
                <a:ea typeface="Economica"/>
                <a:cs typeface="Economica"/>
                <a:sym typeface="Economica"/>
              </a:rPr>
              <a:t>CC</a:t>
            </a:r>
            <a:r>
              <a:rPr b="1" baseline="-25000" lang="en" sz="1800">
                <a:solidFill>
                  <a:srgbClr val="A61C00"/>
                </a:solidFill>
                <a:latin typeface="Economica"/>
                <a:ea typeface="Economica"/>
                <a:cs typeface="Economica"/>
                <a:sym typeface="Economica"/>
              </a:rPr>
              <a:t>ego</a:t>
            </a:r>
            <a:r>
              <a:rPr b="1" lang="en" sz="1800">
                <a:solidFill>
                  <a:srgbClr val="A61C00"/>
                </a:solidFill>
                <a:latin typeface="Economica"/>
                <a:ea typeface="Economica"/>
                <a:cs typeface="Economica"/>
                <a:sym typeface="Economica"/>
              </a:rPr>
              <a:t>= 0</a:t>
            </a:r>
            <a:endParaRPr b="1" sz="1800">
              <a:solidFill>
                <a:srgbClr val="A61C00"/>
              </a:solidFill>
              <a:latin typeface="Economica"/>
              <a:ea typeface="Economica"/>
              <a:cs typeface="Economica"/>
              <a:sym typeface="Economica"/>
            </a:endParaRPr>
          </a:p>
        </p:txBody>
      </p:sp>
      <p:sp>
        <p:nvSpPr>
          <p:cNvPr id="1558" name="Google Shape;1558;p149"/>
          <p:cNvSpPr txBox="1"/>
          <p:nvPr/>
        </p:nvSpPr>
        <p:spPr>
          <a:xfrm>
            <a:off x="4144050" y="4143413"/>
            <a:ext cx="1241100" cy="29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A61C00"/>
                </a:solidFill>
                <a:latin typeface="Economica"/>
                <a:ea typeface="Economica"/>
                <a:cs typeface="Economica"/>
                <a:sym typeface="Economica"/>
              </a:rPr>
              <a:t>CC</a:t>
            </a:r>
            <a:r>
              <a:rPr b="1" baseline="-25000" lang="en" sz="1800">
                <a:solidFill>
                  <a:srgbClr val="A61C00"/>
                </a:solidFill>
                <a:latin typeface="Economica"/>
                <a:ea typeface="Economica"/>
                <a:cs typeface="Economica"/>
                <a:sym typeface="Economica"/>
              </a:rPr>
              <a:t>ego</a:t>
            </a:r>
            <a:r>
              <a:rPr b="1" lang="en" sz="1800">
                <a:solidFill>
                  <a:srgbClr val="A61C00"/>
                </a:solidFill>
                <a:latin typeface="Economica"/>
                <a:ea typeface="Economica"/>
                <a:cs typeface="Economica"/>
                <a:sym typeface="Economica"/>
              </a:rPr>
              <a:t>= 0.5</a:t>
            </a:r>
            <a:endParaRPr b="1" sz="1800">
              <a:solidFill>
                <a:srgbClr val="A61C00"/>
              </a:solidFill>
              <a:latin typeface="Economica"/>
              <a:ea typeface="Economica"/>
              <a:cs typeface="Economica"/>
              <a:sym typeface="Economica"/>
            </a:endParaRPr>
          </a:p>
        </p:txBody>
      </p:sp>
      <p:sp>
        <p:nvSpPr>
          <p:cNvPr id="1559" name="Google Shape;1559;p149"/>
          <p:cNvSpPr txBox="1"/>
          <p:nvPr/>
        </p:nvSpPr>
        <p:spPr>
          <a:xfrm>
            <a:off x="7231000" y="4143413"/>
            <a:ext cx="1241100" cy="29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A61C00"/>
                </a:solidFill>
                <a:latin typeface="Economica"/>
                <a:ea typeface="Economica"/>
                <a:cs typeface="Economica"/>
                <a:sym typeface="Economica"/>
              </a:rPr>
              <a:t>CC</a:t>
            </a:r>
            <a:r>
              <a:rPr b="1" baseline="-25000" lang="en" sz="1800">
                <a:solidFill>
                  <a:srgbClr val="A61C00"/>
                </a:solidFill>
                <a:latin typeface="Economica"/>
                <a:ea typeface="Economica"/>
                <a:cs typeface="Economica"/>
                <a:sym typeface="Economica"/>
              </a:rPr>
              <a:t>ego</a:t>
            </a:r>
            <a:r>
              <a:rPr b="1" lang="en" sz="1800">
                <a:solidFill>
                  <a:srgbClr val="A61C00"/>
                </a:solidFill>
                <a:latin typeface="Economica"/>
                <a:ea typeface="Economica"/>
                <a:cs typeface="Economica"/>
                <a:sym typeface="Economica"/>
              </a:rPr>
              <a:t>= 1.0</a:t>
            </a:r>
            <a:endParaRPr b="1" sz="1800">
              <a:solidFill>
                <a:srgbClr val="A61C00"/>
              </a:solidFill>
              <a:latin typeface="Economica"/>
              <a:ea typeface="Economica"/>
              <a:cs typeface="Economica"/>
              <a:sym typeface="Economica"/>
            </a:endParaRPr>
          </a:p>
        </p:txBody>
      </p:sp>
      <p:cxnSp>
        <p:nvCxnSpPr>
          <p:cNvPr id="1560" name="Google Shape;1560;p149"/>
          <p:cNvCxnSpPr>
            <a:stCxn id="1536" idx="4"/>
            <a:endCxn id="1537" idx="0"/>
          </p:cNvCxnSpPr>
          <p:nvPr/>
        </p:nvCxnSpPr>
        <p:spPr>
          <a:xfrm>
            <a:off x="4012885" y="1531159"/>
            <a:ext cx="0" cy="765300"/>
          </a:xfrm>
          <a:prstGeom prst="straightConnector1">
            <a:avLst/>
          </a:prstGeom>
          <a:noFill/>
          <a:ln cap="flat" cmpd="sng" w="19050">
            <a:solidFill>
              <a:srgbClr val="FF00FF"/>
            </a:solidFill>
            <a:prstDash val="solid"/>
            <a:round/>
            <a:headEnd len="med" w="med" type="none"/>
            <a:tailEnd len="med" w="med" type="none"/>
          </a:ln>
        </p:spPr>
      </p:cxnSp>
      <p:cxnSp>
        <p:nvCxnSpPr>
          <p:cNvPr id="1561" name="Google Shape;1561;p149"/>
          <p:cNvCxnSpPr>
            <a:stCxn id="1538" idx="2"/>
            <a:endCxn id="1537" idx="6"/>
          </p:cNvCxnSpPr>
          <p:nvPr/>
        </p:nvCxnSpPr>
        <p:spPr>
          <a:xfrm rot="10800000">
            <a:off x="4187686" y="2473318"/>
            <a:ext cx="615300" cy="0"/>
          </a:xfrm>
          <a:prstGeom prst="straightConnector1">
            <a:avLst/>
          </a:prstGeom>
          <a:noFill/>
          <a:ln cap="flat" cmpd="sng" w="19050">
            <a:solidFill>
              <a:srgbClr val="FF00FF"/>
            </a:solidFill>
            <a:prstDash val="solid"/>
            <a:round/>
            <a:headEnd len="med" w="med" type="none"/>
            <a:tailEnd len="med" w="med" type="none"/>
          </a:ln>
        </p:spPr>
      </p:cxnSp>
      <p:cxnSp>
        <p:nvCxnSpPr>
          <p:cNvPr id="1562" name="Google Shape;1562;p149"/>
          <p:cNvCxnSpPr>
            <a:stCxn id="1540" idx="2"/>
            <a:endCxn id="1536" idx="6"/>
          </p:cNvCxnSpPr>
          <p:nvPr/>
        </p:nvCxnSpPr>
        <p:spPr>
          <a:xfrm rot="10800000">
            <a:off x="4187681" y="1354160"/>
            <a:ext cx="615300" cy="0"/>
          </a:xfrm>
          <a:prstGeom prst="straightConnector1">
            <a:avLst/>
          </a:prstGeom>
          <a:noFill/>
          <a:ln cap="flat" cmpd="sng" w="19050">
            <a:solidFill>
              <a:srgbClr val="FF00FF"/>
            </a:solidFill>
            <a:prstDash val="solid"/>
            <a:round/>
            <a:headEnd len="med" w="med" type="none"/>
            <a:tailEnd len="med" w="med" type="none"/>
          </a:ln>
        </p:spPr>
      </p:cxnSp>
      <p:cxnSp>
        <p:nvCxnSpPr>
          <p:cNvPr id="1563" name="Google Shape;1563;p149"/>
          <p:cNvCxnSpPr>
            <a:stCxn id="1545" idx="4"/>
            <a:endCxn id="1546" idx="0"/>
          </p:cNvCxnSpPr>
          <p:nvPr/>
        </p:nvCxnSpPr>
        <p:spPr>
          <a:xfrm>
            <a:off x="7174669" y="1501213"/>
            <a:ext cx="0" cy="765300"/>
          </a:xfrm>
          <a:prstGeom prst="straightConnector1">
            <a:avLst/>
          </a:prstGeom>
          <a:noFill/>
          <a:ln cap="flat" cmpd="sng" w="19050">
            <a:solidFill>
              <a:srgbClr val="FF00FF"/>
            </a:solidFill>
            <a:prstDash val="solid"/>
            <a:round/>
            <a:headEnd len="med" w="med" type="none"/>
            <a:tailEnd len="med" w="med" type="none"/>
          </a:ln>
        </p:spPr>
      </p:cxnSp>
      <p:cxnSp>
        <p:nvCxnSpPr>
          <p:cNvPr id="1564" name="Google Shape;1564;p149"/>
          <p:cNvCxnSpPr>
            <a:stCxn id="1549" idx="2"/>
            <a:endCxn id="1545" idx="6"/>
          </p:cNvCxnSpPr>
          <p:nvPr/>
        </p:nvCxnSpPr>
        <p:spPr>
          <a:xfrm rot="10800000">
            <a:off x="7349465" y="1324214"/>
            <a:ext cx="615300" cy="0"/>
          </a:xfrm>
          <a:prstGeom prst="straightConnector1">
            <a:avLst/>
          </a:prstGeom>
          <a:noFill/>
          <a:ln cap="flat" cmpd="sng" w="19050">
            <a:solidFill>
              <a:srgbClr val="FF00FF"/>
            </a:solidFill>
            <a:prstDash val="solid"/>
            <a:round/>
            <a:headEnd len="med" w="med" type="none"/>
            <a:tailEnd len="med" w="med" type="none"/>
          </a:ln>
        </p:spPr>
      </p:cxnSp>
      <p:cxnSp>
        <p:nvCxnSpPr>
          <p:cNvPr id="1565" name="Google Shape;1565;p149"/>
          <p:cNvCxnSpPr>
            <a:stCxn id="1549" idx="4"/>
            <a:endCxn id="1547" idx="0"/>
          </p:cNvCxnSpPr>
          <p:nvPr/>
        </p:nvCxnSpPr>
        <p:spPr>
          <a:xfrm>
            <a:off x="8139665" y="1501214"/>
            <a:ext cx="0" cy="765300"/>
          </a:xfrm>
          <a:prstGeom prst="straightConnector1">
            <a:avLst/>
          </a:prstGeom>
          <a:noFill/>
          <a:ln cap="flat" cmpd="sng" w="19050">
            <a:solidFill>
              <a:srgbClr val="FF00FF"/>
            </a:solidFill>
            <a:prstDash val="solid"/>
            <a:round/>
            <a:headEnd len="med" w="med" type="none"/>
            <a:tailEnd len="med" w="med" type="none"/>
          </a:ln>
        </p:spPr>
      </p:cxnSp>
      <p:cxnSp>
        <p:nvCxnSpPr>
          <p:cNvPr id="1566" name="Google Shape;1566;p149"/>
          <p:cNvCxnSpPr>
            <a:stCxn id="1547" idx="2"/>
            <a:endCxn id="1546" idx="6"/>
          </p:cNvCxnSpPr>
          <p:nvPr/>
        </p:nvCxnSpPr>
        <p:spPr>
          <a:xfrm rot="10800000">
            <a:off x="7349470" y="2443373"/>
            <a:ext cx="615300" cy="0"/>
          </a:xfrm>
          <a:prstGeom prst="straightConnector1">
            <a:avLst/>
          </a:prstGeom>
          <a:noFill/>
          <a:ln cap="flat" cmpd="sng" w="19050">
            <a:solidFill>
              <a:srgbClr val="FF00FF"/>
            </a:solidFill>
            <a:prstDash val="solid"/>
            <a:round/>
            <a:headEnd len="med" w="med" type="none"/>
            <a:tailEnd len="med" w="med" type="none"/>
          </a:ln>
        </p:spPr>
      </p:cxnSp>
      <p:cxnSp>
        <p:nvCxnSpPr>
          <p:cNvPr id="1567" name="Google Shape;1567;p149"/>
          <p:cNvCxnSpPr>
            <a:stCxn id="1545" idx="2"/>
            <a:endCxn id="1547" idx="5"/>
          </p:cNvCxnSpPr>
          <p:nvPr/>
        </p:nvCxnSpPr>
        <p:spPr>
          <a:xfrm>
            <a:off x="6999769" y="1324213"/>
            <a:ext cx="1263600" cy="1244400"/>
          </a:xfrm>
          <a:prstGeom prst="curvedConnector4">
            <a:avLst>
              <a:gd fmla="val -30474" name="adj1"/>
              <a:gd fmla="val 122023" name="adj2"/>
            </a:avLst>
          </a:prstGeom>
          <a:noFill/>
          <a:ln cap="flat" cmpd="sng" w="19050">
            <a:solidFill>
              <a:srgbClr val="FF00FF"/>
            </a:solidFill>
            <a:prstDash val="solid"/>
            <a:round/>
            <a:headEnd len="med" w="med" type="none"/>
            <a:tailEnd len="med" w="med" type="none"/>
          </a:ln>
        </p:spPr>
      </p:cxnSp>
      <p:cxnSp>
        <p:nvCxnSpPr>
          <p:cNvPr id="1568" name="Google Shape;1568;p149"/>
          <p:cNvCxnSpPr>
            <a:stCxn id="1549" idx="6"/>
            <a:endCxn id="1546" idx="4"/>
          </p:cNvCxnSpPr>
          <p:nvPr/>
        </p:nvCxnSpPr>
        <p:spPr>
          <a:xfrm flipH="1">
            <a:off x="7174565" y="1324214"/>
            <a:ext cx="1140000" cy="1296300"/>
          </a:xfrm>
          <a:prstGeom prst="curvedConnector4">
            <a:avLst>
              <a:gd fmla="val -35523" name="adj1"/>
              <a:gd fmla="val 117148" name="adj2"/>
            </a:avLst>
          </a:prstGeom>
          <a:noFill/>
          <a:ln cap="flat" cmpd="sng" w="19050">
            <a:solidFill>
              <a:srgbClr val="FF00FF"/>
            </a:solidFill>
            <a:prstDash val="solid"/>
            <a:round/>
            <a:headEnd len="med" w="med" type="none"/>
            <a:tailEnd len="med" w="med" type="none"/>
          </a:ln>
        </p:spPr>
      </p:cxnSp>
      <p:sp>
        <p:nvSpPr>
          <p:cNvPr id="1569" name="Google Shape;1569;p149"/>
          <p:cNvSpPr txBox="1"/>
          <p:nvPr/>
        </p:nvSpPr>
        <p:spPr>
          <a:xfrm>
            <a:off x="218850" y="4681950"/>
            <a:ext cx="1995300" cy="29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Unclustered</a:t>
            </a:r>
            <a:endParaRPr b="1" sz="1800">
              <a:latin typeface="Economica"/>
              <a:ea typeface="Economica"/>
              <a:cs typeface="Economica"/>
              <a:sym typeface="Economica"/>
            </a:endParaRPr>
          </a:p>
        </p:txBody>
      </p:sp>
      <p:cxnSp>
        <p:nvCxnSpPr>
          <p:cNvPr id="1570" name="Google Shape;1570;p149"/>
          <p:cNvCxnSpPr>
            <a:stCxn id="1569" idx="3"/>
            <a:endCxn id="1571" idx="1"/>
          </p:cNvCxnSpPr>
          <p:nvPr/>
        </p:nvCxnSpPr>
        <p:spPr>
          <a:xfrm>
            <a:off x="2214150" y="4828950"/>
            <a:ext cx="4873500" cy="0"/>
          </a:xfrm>
          <a:prstGeom prst="straightConnector1">
            <a:avLst/>
          </a:prstGeom>
          <a:noFill/>
          <a:ln cap="flat" cmpd="sng" w="38100">
            <a:solidFill>
              <a:srgbClr val="FF0000"/>
            </a:solidFill>
            <a:prstDash val="solid"/>
            <a:round/>
            <a:headEnd len="med" w="med" type="stealth"/>
            <a:tailEnd len="med" w="med" type="stealth"/>
          </a:ln>
        </p:spPr>
      </p:cxnSp>
      <p:sp>
        <p:nvSpPr>
          <p:cNvPr id="1571" name="Google Shape;1571;p149"/>
          <p:cNvSpPr txBox="1"/>
          <p:nvPr/>
        </p:nvSpPr>
        <p:spPr>
          <a:xfrm>
            <a:off x="7087504" y="4681950"/>
            <a:ext cx="1995300" cy="29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Clustered</a:t>
            </a:r>
            <a:endParaRPr b="1" sz="1800">
              <a:latin typeface="Economica"/>
              <a:ea typeface="Economica"/>
              <a:cs typeface="Economica"/>
              <a:sym typeface="Economica"/>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5" name="Shape 1575"/>
        <p:cNvGrpSpPr/>
        <p:nvPr/>
      </p:nvGrpSpPr>
      <p:grpSpPr>
        <a:xfrm>
          <a:off x="0" y="0"/>
          <a:ext cx="0" cy="0"/>
          <a:chOff x="0" y="0"/>
          <a:chExt cx="0" cy="0"/>
        </a:xfrm>
      </p:grpSpPr>
      <p:sp>
        <p:nvSpPr>
          <p:cNvPr id="1576" name="Google Shape;1576;p1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Diagnosing your ego network</a:t>
            </a:r>
            <a:endParaRPr/>
          </a:p>
        </p:txBody>
      </p:sp>
      <p:sp>
        <p:nvSpPr>
          <p:cNvPr id="1577" name="Google Shape;1577;p150"/>
          <p:cNvSpPr txBox="1"/>
          <p:nvPr>
            <p:ph idx="1" type="body"/>
          </p:nvPr>
        </p:nvSpPr>
        <p:spPr>
          <a:xfrm>
            <a:off x="311700" y="1225225"/>
            <a:ext cx="8520600" cy="3354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Theories of social capital as </a:t>
            </a:r>
            <a:r>
              <a:rPr b="1" lang="en"/>
              <a:t>brokerage</a:t>
            </a:r>
            <a:r>
              <a:rPr lang="en"/>
              <a:t> recommend that ego-network diversity is better than </a:t>
            </a:r>
            <a:r>
              <a:rPr b="1" lang="en"/>
              <a:t>homogeneity</a:t>
            </a:r>
            <a:endParaRPr b="1"/>
          </a:p>
          <a:p>
            <a:pPr indent="-317500" lvl="1" marL="914400" marR="0" rtl="0" algn="l">
              <a:lnSpc>
                <a:spcPct val="115000"/>
              </a:lnSpc>
              <a:spcBef>
                <a:spcPts val="0"/>
              </a:spcBef>
              <a:spcAft>
                <a:spcPts val="0"/>
              </a:spcAft>
              <a:buSzPts val="1400"/>
              <a:buChar char="○"/>
            </a:pPr>
            <a:r>
              <a:rPr lang="en"/>
              <a:t>Kinds of diversity in ego-networks:</a:t>
            </a:r>
            <a:endParaRPr/>
          </a:p>
          <a:p>
            <a:pPr indent="-317500" lvl="2" marL="1371600" marR="0" rtl="0" algn="l">
              <a:lnSpc>
                <a:spcPct val="115000"/>
              </a:lnSpc>
              <a:spcBef>
                <a:spcPts val="0"/>
              </a:spcBef>
              <a:spcAft>
                <a:spcPts val="0"/>
              </a:spcAft>
              <a:buSzPts val="1400"/>
              <a:buChar char="■"/>
            </a:pPr>
            <a:r>
              <a:rPr lang="en"/>
              <a:t>Range (Size, Degree)</a:t>
            </a:r>
            <a:endParaRPr/>
          </a:p>
          <a:p>
            <a:pPr indent="-317500" lvl="2" marL="1371600" marR="0" rtl="0" algn="l">
              <a:lnSpc>
                <a:spcPct val="115000"/>
              </a:lnSpc>
              <a:spcBef>
                <a:spcPts val="0"/>
              </a:spcBef>
              <a:spcAft>
                <a:spcPts val="0"/>
              </a:spcAft>
              <a:buClr>
                <a:schemeClr val="dk1"/>
              </a:buClr>
              <a:buSzPts val="1400"/>
              <a:buFont typeface="Open Sans"/>
              <a:buChar char="■"/>
            </a:pPr>
            <a:r>
              <a:rPr lang="en"/>
              <a:t>Demographic diversity of alters</a:t>
            </a:r>
            <a:endParaRPr/>
          </a:p>
          <a:p>
            <a:pPr indent="-317500" lvl="2" marL="1371600" marR="0" rtl="0" algn="l">
              <a:lnSpc>
                <a:spcPct val="115000"/>
              </a:lnSpc>
              <a:spcBef>
                <a:spcPts val="0"/>
              </a:spcBef>
              <a:spcAft>
                <a:spcPts val="0"/>
              </a:spcAft>
              <a:buSzPts val="1400"/>
              <a:buChar char="■"/>
            </a:pPr>
            <a:r>
              <a:rPr lang="en"/>
              <a:t>Ego network segmentation</a:t>
            </a:r>
            <a:endParaRPr/>
          </a:p>
          <a:p>
            <a:pPr indent="-317500" lvl="2" marL="1371600" marR="0" rtl="0" algn="l">
              <a:lnSpc>
                <a:spcPct val="115000"/>
              </a:lnSpc>
              <a:spcBef>
                <a:spcPts val="0"/>
              </a:spcBef>
              <a:spcAft>
                <a:spcPts val="0"/>
              </a:spcAft>
              <a:buClr>
                <a:schemeClr val="dk1"/>
              </a:buClr>
              <a:buSzPts val="1400"/>
              <a:buFont typeface="Open Sans"/>
              <a:buChar char="■"/>
            </a:pPr>
            <a:r>
              <a:rPr lang="en"/>
              <a:t>Average tie strength</a:t>
            </a:r>
            <a:endParaRPr/>
          </a:p>
          <a:p>
            <a:pPr indent="-317500" lvl="1" marL="914400" marR="0" rtl="0" algn="l">
              <a:lnSpc>
                <a:spcPct val="115000"/>
              </a:lnSpc>
              <a:spcBef>
                <a:spcPts val="0"/>
              </a:spcBef>
              <a:spcAft>
                <a:spcPts val="0"/>
              </a:spcAft>
              <a:buSzPts val="1400"/>
              <a:buChar char="○"/>
            </a:pPr>
            <a:r>
              <a:rPr lang="en"/>
              <a:t>Burt measures:</a:t>
            </a:r>
            <a:endParaRPr/>
          </a:p>
          <a:p>
            <a:pPr indent="-317500" lvl="2" marL="1371600" marR="0" rtl="0" algn="l">
              <a:lnSpc>
                <a:spcPct val="115000"/>
              </a:lnSpc>
              <a:spcBef>
                <a:spcPts val="0"/>
              </a:spcBef>
              <a:spcAft>
                <a:spcPts val="0"/>
              </a:spcAft>
              <a:buSzPts val="1400"/>
              <a:buChar char="■"/>
            </a:pPr>
            <a:r>
              <a:rPr lang="en"/>
              <a:t>Clustering Coefficient</a:t>
            </a:r>
            <a:endParaRPr/>
          </a:p>
          <a:p>
            <a:pPr indent="-317500" lvl="2" marL="1371600" marR="0" rtl="0" algn="l">
              <a:lnSpc>
                <a:spcPct val="115000"/>
              </a:lnSpc>
              <a:spcBef>
                <a:spcPts val="0"/>
              </a:spcBef>
              <a:spcAft>
                <a:spcPts val="0"/>
              </a:spcAft>
              <a:buSzPts val="1400"/>
              <a:buChar char="■"/>
            </a:pPr>
            <a:r>
              <a:rPr lang="en"/>
              <a:t>Redundancy</a:t>
            </a:r>
            <a:endParaRPr/>
          </a:p>
          <a:p>
            <a:pPr indent="-317500" lvl="2" marL="1371600" marR="0" rtl="0" algn="l">
              <a:lnSpc>
                <a:spcPct val="115000"/>
              </a:lnSpc>
              <a:spcBef>
                <a:spcPts val="0"/>
              </a:spcBef>
              <a:spcAft>
                <a:spcPts val="0"/>
              </a:spcAft>
              <a:buSzPts val="1400"/>
              <a:buChar char="■"/>
            </a:pPr>
            <a:r>
              <a:rPr lang="en"/>
              <a:t>Effective Size</a:t>
            </a:r>
            <a:endParaRPr/>
          </a:p>
          <a:p>
            <a:pPr indent="-317500" lvl="2" marL="1371600" marR="0" rtl="0" algn="l">
              <a:lnSpc>
                <a:spcPct val="115000"/>
              </a:lnSpc>
              <a:spcBef>
                <a:spcPts val="0"/>
              </a:spcBef>
              <a:spcAft>
                <a:spcPts val="0"/>
              </a:spcAft>
              <a:buSzPts val="1400"/>
              <a:buChar char="■"/>
            </a:pPr>
            <a:r>
              <a:rPr lang="en"/>
              <a:t>Efficiency</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1" name="Shape 1581"/>
        <p:cNvGrpSpPr/>
        <p:nvPr/>
      </p:nvGrpSpPr>
      <p:grpSpPr>
        <a:xfrm>
          <a:off x="0" y="0"/>
          <a:ext cx="0" cy="0"/>
          <a:chOff x="0" y="0"/>
          <a:chExt cx="0" cy="0"/>
        </a:xfrm>
      </p:grpSpPr>
      <p:sp>
        <p:nvSpPr>
          <p:cNvPr id="1582" name="Google Shape;1582;p1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Diagnosing your ego network</a:t>
            </a:r>
            <a:endParaRPr/>
          </a:p>
        </p:txBody>
      </p:sp>
      <p:sp>
        <p:nvSpPr>
          <p:cNvPr id="1583" name="Google Shape;1583;p151"/>
          <p:cNvSpPr txBox="1"/>
          <p:nvPr>
            <p:ph idx="1" type="body"/>
          </p:nvPr>
        </p:nvSpPr>
        <p:spPr>
          <a:xfrm>
            <a:off x="311700" y="1225225"/>
            <a:ext cx="8520600" cy="3354000"/>
          </a:xfrm>
          <a:prstGeom prst="rect">
            <a:avLst/>
          </a:prstGeom>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Theories of social capital as </a:t>
            </a:r>
            <a:r>
              <a:rPr b="1" lang="en"/>
              <a:t>brokerage</a:t>
            </a:r>
            <a:r>
              <a:rPr lang="en"/>
              <a:t> recommend that ego-network diversity is better than </a:t>
            </a:r>
            <a:r>
              <a:rPr b="1" lang="en"/>
              <a:t>homogeneity</a:t>
            </a:r>
            <a:endParaRPr b="1"/>
          </a:p>
          <a:p>
            <a:pPr indent="-317500" lvl="1" marL="914400" marR="0" rtl="0" algn="l">
              <a:lnSpc>
                <a:spcPct val="115000"/>
              </a:lnSpc>
              <a:spcBef>
                <a:spcPts val="0"/>
              </a:spcBef>
              <a:spcAft>
                <a:spcPts val="0"/>
              </a:spcAft>
              <a:buClr>
                <a:schemeClr val="dk1"/>
              </a:buClr>
              <a:buSzPts val="1400"/>
              <a:buFont typeface="Open Sans"/>
              <a:buChar char="○"/>
            </a:pPr>
            <a:r>
              <a:rPr lang="en"/>
              <a:t>Alter demographic diversity:</a:t>
            </a:r>
            <a:endParaRPr/>
          </a:p>
          <a:p>
            <a:pPr indent="-317500" lvl="2" marL="1371600" marR="0" rtl="0" algn="l">
              <a:lnSpc>
                <a:spcPct val="115000"/>
              </a:lnSpc>
              <a:spcBef>
                <a:spcPts val="0"/>
              </a:spcBef>
              <a:spcAft>
                <a:spcPts val="0"/>
              </a:spcAft>
              <a:buSzPts val="1400"/>
              <a:buChar char="■"/>
            </a:pPr>
            <a:r>
              <a:rPr lang="en"/>
              <a:t>Index of qualitative variation:</a:t>
            </a:r>
            <a:endParaRPr/>
          </a:p>
          <a:p>
            <a:pPr indent="-317500" lvl="3" marL="1828800" marR="0" rtl="0" algn="l">
              <a:lnSpc>
                <a:spcPct val="115000"/>
              </a:lnSpc>
              <a:spcBef>
                <a:spcPts val="0"/>
              </a:spcBef>
              <a:spcAft>
                <a:spcPts val="0"/>
              </a:spcAft>
              <a:buSzPts val="1400"/>
              <a:buChar char="●"/>
            </a:pPr>
            <a:r>
              <a:t/>
            </a:r>
            <a:endParaRPr/>
          </a:p>
          <a:p>
            <a:pPr indent="-317500" lvl="3" marL="1828800" marR="0" rtl="0" algn="l">
              <a:lnSpc>
                <a:spcPct val="115000"/>
              </a:lnSpc>
              <a:spcBef>
                <a:spcPts val="0"/>
              </a:spcBef>
              <a:spcAft>
                <a:spcPts val="0"/>
              </a:spcAft>
              <a:buSzPts val="1400"/>
              <a:buChar char="●"/>
            </a:pPr>
            <a:r>
              <a:rPr lang="en"/>
              <a:t>IQV = H / (1 - 1/r) where r is the number of different </a:t>
            </a:r>
            <a:r>
              <a:rPr b="1" lang="en"/>
              <a:t>types</a:t>
            </a:r>
            <a:r>
              <a:rPr lang="en"/>
              <a:t> of categories</a:t>
            </a:r>
            <a:endParaRPr/>
          </a:p>
          <a:p>
            <a:pPr indent="-317500" lvl="2" marL="1371600" marR="0" rtl="0" algn="l">
              <a:lnSpc>
                <a:spcPct val="115000"/>
              </a:lnSpc>
              <a:spcBef>
                <a:spcPts val="0"/>
              </a:spcBef>
              <a:spcAft>
                <a:spcPts val="0"/>
              </a:spcAft>
              <a:buSzPts val="1400"/>
              <a:buChar char="■"/>
            </a:pPr>
            <a:r>
              <a:rPr lang="en"/>
              <a:t>So let’s say your network is 25% black and 50% white 10% Asian and 15% hi</a:t>
            </a:r>
            <a:r>
              <a:rPr lang="en"/>
              <a:t>sp</a:t>
            </a:r>
            <a:r>
              <a:rPr lang="en"/>
              <a:t>anic</a:t>
            </a:r>
            <a:endParaRPr/>
          </a:p>
          <a:p>
            <a:pPr indent="-317500" lvl="2" marL="1371600" marR="0" rtl="0" algn="l">
              <a:lnSpc>
                <a:spcPct val="115000"/>
              </a:lnSpc>
              <a:spcBef>
                <a:spcPts val="0"/>
              </a:spcBef>
              <a:spcAft>
                <a:spcPts val="0"/>
              </a:spcAft>
              <a:buSzPts val="1400"/>
              <a:buChar char="■"/>
            </a:pPr>
            <a:r>
              <a:rPr lang="en"/>
              <a:t>Then IQV for race/ethnic ties is:</a:t>
            </a:r>
            <a:endParaRPr/>
          </a:p>
          <a:p>
            <a:pPr indent="-317500" lvl="3" marL="1828800" marR="0" rtl="0" algn="l">
              <a:lnSpc>
                <a:spcPct val="115000"/>
              </a:lnSpc>
              <a:spcBef>
                <a:spcPts val="0"/>
              </a:spcBef>
              <a:spcAft>
                <a:spcPts val="0"/>
              </a:spcAft>
              <a:buSzPts val="1400"/>
              <a:buChar char="●"/>
            </a:pPr>
            <a:r>
              <a:rPr lang="en"/>
              <a:t>(1 - 0.25</a:t>
            </a:r>
            <a:r>
              <a:rPr baseline="30000" lang="en"/>
              <a:t>2</a:t>
            </a:r>
            <a:r>
              <a:rPr lang="en"/>
              <a:t> - 0.50</a:t>
            </a:r>
            <a:r>
              <a:rPr baseline="30000" lang="en"/>
              <a:t>2</a:t>
            </a:r>
            <a:r>
              <a:rPr lang="en"/>
              <a:t>- 0.10</a:t>
            </a:r>
            <a:r>
              <a:rPr baseline="30000" lang="en"/>
              <a:t>2</a:t>
            </a:r>
            <a:r>
              <a:rPr lang="en"/>
              <a:t>- 0.15</a:t>
            </a:r>
            <a:r>
              <a:rPr baseline="30000" lang="en"/>
              <a:t>2</a:t>
            </a:r>
            <a:r>
              <a:rPr lang="en"/>
              <a:t>) ÷ (1 - 1/</a:t>
            </a:r>
            <a:r>
              <a:rPr b="1" lang="en"/>
              <a:t>4</a:t>
            </a:r>
            <a:r>
              <a:rPr lang="en"/>
              <a:t>) = </a:t>
            </a:r>
            <a:r>
              <a:rPr lang="en">
                <a:solidFill>
                  <a:srgbClr val="FF0000"/>
                </a:solidFill>
              </a:rPr>
              <a:t>0.87</a:t>
            </a:r>
            <a:endParaRPr>
              <a:solidFill>
                <a:srgbClr val="FF0000"/>
              </a:solidFill>
            </a:endParaRPr>
          </a:p>
          <a:p>
            <a:pPr indent="-317500" lvl="4" marL="2286000" marR="0" rtl="0" algn="l">
              <a:lnSpc>
                <a:spcPct val="115000"/>
              </a:lnSpc>
              <a:spcBef>
                <a:spcPts val="0"/>
              </a:spcBef>
              <a:spcAft>
                <a:spcPts val="0"/>
              </a:spcAft>
              <a:buSzPts val="1400"/>
              <a:buChar char="○"/>
            </a:pPr>
            <a:r>
              <a:rPr b="1" lang="en"/>
              <a:t>Very diverse!</a:t>
            </a:r>
            <a:endParaRPr b="1"/>
          </a:p>
          <a:p>
            <a:pPr indent="-317500" lvl="2" marL="1371600" marR="0" rtl="0" algn="l">
              <a:lnSpc>
                <a:spcPct val="115000"/>
              </a:lnSpc>
              <a:spcBef>
                <a:spcPts val="0"/>
              </a:spcBef>
              <a:spcAft>
                <a:spcPts val="0"/>
              </a:spcAft>
              <a:buSzPts val="1400"/>
              <a:buChar char="■"/>
            </a:pPr>
            <a:r>
              <a:rPr lang="en"/>
              <a:t>But if was 0% black and 80% white 15% Asian and 5% hi</a:t>
            </a:r>
            <a:r>
              <a:rPr lang="en"/>
              <a:t>sp</a:t>
            </a:r>
            <a:r>
              <a:rPr lang="en"/>
              <a:t>anic</a:t>
            </a:r>
            <a:endParaRPr/>
          </a:p>
          <a:p>
            <a:pPr indent="-317500" lvl="3" marL="1828800" rtl="0" algn="l">
              <a:spcBef>
                <a:spcPts val="0"/>
              </a:spcBef>
              <a:spcAft>
                <a:spcPts val="0"/>
              </a:spcAft>
              <a:buSzPts val="1400"/>
              <a:buChar char="●"/>
            </a:pPr>
            <a:r>
              <a:rPr lang="en"/>
              <a:t>(1 - 0</a:t>
            </a:r>
            <a:r>
              <a:rPr baseline="30000" lang="en"/>
              <a:t>2</a:t>
            </a:r>
            <a:r>
              <a:rPr lang="en"/>
              <a:t> - 0.80</a:t>
            </a:r>
            <a:r>
              <a:rPr baseline="30000" lang="en"/>
              <a:t>2</a:t>
            </a:r>
            <a:r>
              <a:rPr lang="en"/>
              <a:t>- 0.15</a:t>
            </a:r>
            <a:r>
              <a:rPr baseline="30000" lang="en"/>
              <a:t>2</a:t>
            </a:r>
            <a:r>
              <a:rPr lang="en"/>
              <a:t>- 0.05</a:t>
            </a:r>
            <a:r>
              <a:rPr baseline="30000" lang="en"/>
              <a:t>2</a:t>
            </a:r>
            <a:r>
              <a:rPr lang="en"/>
              <a:t>) ÷ (1 - 1/</a:t>
            </a:r>
            <a:r>
              <a:rPr b="1" lang="en"/>
              <a:t>4</a:t>
            </a:r>
            <a:r>
              <a:rPr lang="en"/>
              <a:t>) = </a:t>
            </a:r>
            <a:r>
              <a:rPr lang="en">
                <a:solidFill>
                  <a:srgbClr val="FF0000"/>
                </a:solidFill>
              </a:rPr>
              <a:t>0.45</a:t>
            </a:r>
            <a:endParaRPr>
              <a:solidFill>
                <a:srgbClr val="FF0000"/>
              </a:solidFill>
            </a:endParaRPr>
          </a:p>
          <a:p>
            <a:pPr indent="-317500" lvl="4" marL="2286000" rtl="0" algn="l">
              <a:spcBef>
                <a:spcPts val="0"/>
              </a:spcBef>
              <a:spcAft>
                <a:spcPts val="0"/>
              </a:spcAft>
              <a:buSzPts val="1400"/>
              <a:buChar char="○"/>
            </a:pPr>
            <a:r>
              <a:rPr b="1" lang="en"/>
              <a:t>No so much</a:t>
            </a:r>
            <a:endParaRPr b="1"/>
          </a:p>
        </p:txBody>
      </p:sp>
      <p:pic>
        <p:nvPicPr>
          <p:cNvPr id="1584" name="Google Shape;1584;p151"/>
          <p:cNvPicPr preferRelativeResize="0"/>
          <p:nvPr/>
        </p:nvPicPr>
        <p:blipFill>
          <a:blip r:embed="rId3">
            <a:alphaModFix/>
          </a:blip>
          <a:stretch>
            <a:fillRect/>
          </a:stretch>
        </p:blipFill>
        <p:spPr>
          <a:xfrm>
            <a:off x="2118075" y="2442013"/>
            <a:ext cx="2696687" cy="259475"/>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8" name="Shape 1588"/>
        <p:cNvGrpSpPr/>
        <p:nvPr/>
      </p:nvGrpSpPr>
      <p:grpSpPr>
        <a:xfrm>
          <a:off x="0" y="0"/>
          <a:ext cx="0" cy="0"/>
          <a:chOff x="0" y="0"/>
          <a:chExt cx="0" cy="0"/>
        </a:xfrm>
      </p:grpSpPr>
      <p:sp>
        <p:nvSpPr>
          <p:cNvPr id="1589" name="Google Shape;1589;p1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Diagnosing your ego network</a:t>
            </a:r>
            <a:endParaRPr/>
          </a:p>
        </p:txBody>
      </p:sp>
      <p:sp>
        <p:nvSpPr>
          <p:cNvPr id="1590" name="Google Shape;1590;p152"/>
          <p:cNvSpPr txBox="1"/>
          <p:nvPr>
            <p:ph idx="1" type="body"/>
          </p:nvPr>
        </p:nvSpPr>
        <p:spPr>
          <a:xfrm>
            <a:off x="311700" y="1225225"/>
            <a:ext cx="5140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Burt Measures</a:t>
            </a:r>
            <a:endParaRPr/>
          </a:p>
          <a:p>
            <a:pPr indent="-317500" lvl="1" marL="914400" rtl="0" algn="l">
              <a:spcBef>
                <a:spcPts val="0"/>
              </a:spcBef>
              <a:spcAft>
                <a:spcPts val="0"/>
              </a:spcAft>
              <a:buSzPts val="1400"/>
              <a:buChar char="○"/>
            </a:pPr>
            <a:r>
              <a:rPr b="1" lang="en"/>
              <a:t>N</a:t>
            </a:r>
            <a:r>
              <a:rPr lang="en"/>
              <a:t> = 7, E = 6</a:t>
            </a:r>
            <a:endParaRPr/>
          </a:p>
          <a:p>
            <a:pPr indent="-317500" lvl="1" marL="914400" rtl="0" algn="l">
              <a:spcBef>
                <a:spcPts val="0"/>
              </a:spcBef>
              <a:spcAft>
                <a:spcPts val="0"/>
              </a:spcAft>
              <a:buSzPts val="1400"/>
              <a:buChar char="○"/>
            </a:pPr>
            <a:r>
              <a:rPr b="1" lang="en"/>
              <a:t>Avg. Degree </a:t>
            </a:r>
            <a:r>
              <a:rPr lang="en"/>
              <a:t>= </a:t>
            </a:r>
            <a:r>
              <a:rPr lang="en">
                <a:solidFill>
                  <a:schemeClr val="accent1"/>
                </a:solidFill>
              </a:rPr>
              <a:t>2E/N = 2*6/7 =  1.7</a:t>
            </a:r>
            <a:endParaRPr>
              <a:solidFill>
                <a:schemeClr val="accent1"/>
              </a:solidFill>
            </a:endParaRPr>
          </a:p>
          <a:p>
            <a:pPr indent="-317500" lvl="1" marL="914400" rtl="0" algn="l">
              <a:spcBef>
                <a:spcPts val="0"/>
              </a:spcBef>
              <a:spcAft>
                <a:spcPts val="0"/>
              </a:spcAft>
              <a:buSzPts val="1400"/>
              <a:buChar char="○"/>
            </a:pPr>
            <a:r>
              <a:rPr b="1" lang="en"/>
              <a:t>Clustering Coefficient (CC):</a:t>
            </a:r>
            <a:r>
              <a:rPr lang="en"/>
              <a:t> </a:t>
            </a:r>
            <a:endParaRPr/>
          </a:p>
          <a:p>
            <a:pPr indent="-317500" lvl="2" marL="1371600" rtl="0" algn="l">
              <a:spcBef>
                <a:spcPts val="0"/>
              </a:spcBef>
              <a:spcAft>
                <a:spcPts val="0"/>
              </a:spcAft>
              <a:buSzPts val="1400"/>
              <a:buChar char="■"/>
            </a:pPr>
            <a:r>
              <a:rPr lang="en"/>
              <a:t>Density of ego network</a:t>
            </a:r>
            <a:endParaRPr/>
          </a:p>
          <a:p>
            <a:pPr indent="-317500" lvl="3" marL="1828800" rtl="0" algn="l">
              <a:spcBef>
                <a:spcPts val="0"/>
              </a:spcBef>
              <a:spcAft>
                <a:spcPts val="0"/>
              </a:spcAft>
              <a:buClr>
                <a:schemeClr val="accent1"/>
              </a:buClr>
              <a:buSzPts val="1400"/>
              <a:buChar char="●"/>
            </a:pPr>
            <a:r>
              <a:rPr lang="en">
                <a:solidFill>
                  <a:schemeClr val="accent1"/>
                </a:solidFill>
              </a:rPr>
              <a:t>2E/(N(N-1)) = (2*6)/(7*6) = .286</a:t>
            </a:r>
            <a:endParaRPr>
              <a:solidFill>
                <a:schemeClr val="accent1"/>
              </a:solidFill>
            </a:endParaRPr>
          </a:p>
          <a:p>
            <a:pPr indent="-317500" lvl="1" marL="914400" rtl="0" algn="l">
              <a:spcBef>
                <a:spcPts val="0"/>
              </a:spcBef>
              <a:spcAft>
                <a:spcPts val="0"/>
              </a:spcAft>
              <a:buSzPts val="1400"/>
              <a:buChar char="○"/>
            </a:pPr>
            <a:r>
              <a:rPr b="1" lang="en"/>
              <a:t>Redundancy</a:t>
            </a:r>
            <a:r>
              <a:rPr lang="en"/>
              <a:t>:   CC(N-1)  </a:t>
            </a:r>
            <a:endParaRPr/>
          </a:p>
          <a:p>
            <a:pPr indent="-317500" lvl="2" marL="1371600" rtl="0" algn="l">
              <a:spcBef>
                <a:spcPts val="0"/>
              </a:spcBef>
              <a:spcAft>
                <a:spcPts val="0"/>
              </a:spcAft>
              <a:buClr>
                <a:schemeClr val="accent1"/>
              </a:buClr>
              <a:buSzPts val="1400"/>
              <a:buChar char="■"/>
            </a:pPr>
            <a:r>
              <a:rPr lang="en">
                <a:solidFill>
                  <a:schemeClr val="accent1"/>
                </a:solidFill>
              </a:rPr>
              <a:t>.286(6) = 1.7</a:t>
            </a:r>
            <a:endParaRPr>
              <a:solidFill>
                <a:schemeClr val="accent1"/>
              </a:solidFill>
            </a:endParaRPr>
          </a:p>
          <a:p>
            <a:pPr indent="-317500" lvl="1" marL="914400" rtl="0" algn="l">
              <a:spcBef>
                <a:spcPts val="0"/>
              </a:spcBef>
              <a:spcAft>
                <a:spcPts val="0"/>
              </a:spcAft>
              <a:buSzPts val="1400"/>
              <a:buChar char="○"/>
            </a:pPr>
            <a:r>
              <a:rPr b="1" lang="en"/>
              <a:t>Effective Size (ES):</a:t>
            </a:r>
            <a:endParaRPr b="1"/>
          </a:p>
          <a:p>
            <a:pPr indent="-317500" lvl="2" marL="1371600" rtl="0" algn="l">
              <a:spcBef>
                <a:spcPts val="0"/>
              </a:spcBef>
              <a:spcAft>
                <a:spcPts val="0"/>
              </a:spcAft>
              <a:buClr>
                <a:schemeClr val="accent1"/>
              </a:buClr>
              <a:buSzPts val="1400"/>
              <a:buChar char="■"/>
            </a:pPr>
            <a:r>
              <a:rPr lang="en">
                <a:solidFill>
                  <a:schemeClr val="accent1"/>
                </a:solidFill>
              </a:rPr>
              <a:t>N - (2E/N) =  N - CC(N-1) = N - Av. D</a:t>
            </a:r>
            <a:endParaRPr>
              <a:solidFill>
                <a:schemeClr val="accent1"/>
              </a:solidFill>
            </a:endParaRPr>
          </a:p>
          <a:p>
            <a:pPr indent="-317500" lvl="2" marL="1371600" rtl="0" algn="l">
              <a:spcBef>
                <a:spcPts val="0"/>
              </a:spcBef>
              <a:spcAft>
                <a:spcPts val="0"/>
              </a:spcAft>
              <a:buClr>
                <a:schemeClr val="accent1"/>
              </a:buClr>
              <a:buSzPts val="1400"/>
              <a:buChar char="■"/>
            </a:pPr>
            <a:r>
              <a:rPr lang="en">
                <a:solidFill>
                  <a:schemeClr val="accent1"/>
                </a:solidFill>
              </a:rPr>
              <a:t>7-(2*6/7) = 7 - .286*6 = 7- 1.7 = 5.285</a:t>
            </a:r>
            <a:endParaRPr>
              <a:solidFill>
                <a:schemeClr val="accent1"/>
              </a:solidFill>
            </a:endParaRPr>
          </a:p>
          <a:p>
            <a:pPr indent="-317500" lvl="1" marL="914400" rtl="0" algn="l">
              <a:spcBef>
                <a:spcPts val="0"/>
              </a:spcBef>
              <a:spcAft>
                <a:spcPts val="0"/>
              </a:spcAft>
              <a:buSzPts val="1400"/>
              <a:buChar char="○"/>
            </a:pPr>
            <a:r>
              <a:rPr b="1" lang="en"/>
              <a:t>Efficiency:</a:t>
            </a:r>
            <a:r>
              <a:rPr lang="en"/>
              <a:t>   </a:t>
            </a:r>
            <a:r>
              <a:rPr lang="en">
                <a:solidFill>
                  <a:schemeClr val="accent1"/>
                </a:solidFill>
              </a:rPr>
              <a:t>ES/N  = 5.285/7 = .755</a:t>
            </a:r>
            <a:endParaRPr>
              <a:solidFill>
                <a:schemeClr val="accent1"/>
              </a:solidFill>
            </a:endParaRPr>
          </a:p>
          <a:p>
            <a:pPr indent="-317500" lvl="1" marL="914400" rtl="0" algn="l">
              <a:spcBef>
                <a:spcPts val="0"/>
              </a:spcBef>
              <a:spcAft>
                <a:spcPts val="0"/>
              </a:spcAft>
              <a:buSzPts val="1400"/>
              <a:buChar char="○"/>
            </a:pPr>
            <a:r>
              <a:rPr b="1" lang="en"/>
              <a:t>Stata demonstration</a:t>
            </a:r>
            <a:endParaRPr b="1"/>
          </a:p>
        </p:txBody>
      </p:sp>
      <p:pic>
        <p:nvPicPr>
          <p:cNvPr id="1591" name="Google Shape;1591;p152"/>
          <p:cNvPicPr preferRelativeResize="0"/>
          <p:nvPr/>
        </p:nvPicPr>
        <p:blipFill>
          <a:blip r:embed="rId3">
            <a:alphaModFix/>
          </a:blip>
          <a:stretch>
            <a:fillRect/>
          </a:stretch>
        </p:blipFill>
        <p:spPr>
          <a:xfrm>
            <a:off x="5164903" y="1316323"/>
            <a:ext cx="3667400" cy="3171812"/>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5" name="Shape 1595"/>
        <p:cNvGrpSpPr/>
        <p:nvPr/>
      </p:nvGrpSpPr>
      <p:grpSpPr>
        <a:xfrm>
          <a:off x="0" y="0"/>
          <a:ext cx="0" cy="0"/>
          <a:chOff x="0" y="0"/>
          <a:chExt cx="0" cy="0"/>
        </a:xfrm>
      </p:grpSpPr>
      <p:sp>
        <p:nvSpPr>
          <p:cNvPr id="1596" name="Google Shape;1596;p1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Diagnosing your ego network</a:t>
            </a:r>
            <a:endParaRPr/>
          </a:p>
        </p:txBody>
      </p:sp>
      <p:sp>
        <p:nvSpPr>
          <p:cNvPr id="1597" name="Google Shape;1597;p153"/>
          <p:cNvSpPr txBox="1"/>
          <p:nvPr>
            <p:ph idx="1" type="body"/>
          </p:nvPr>
        </p:nvSpPr>
        <p:spPr>
          <a:xfrm>
            <a:off x="311700" y="1225225"/>
            <a:ext cx="5093400" cy="3354000"/>
          </a:xfrm>
          <a:prstGeom prst="rect">
            <a:avLst/>
          </a:prstGeom>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Efficiency:  </a:t>
            </a:r>
            <a:endParaRPr/>
          </a:p>
          <a:p>
            <a:pPr indent="-317500" lvl="1" marL="914400" rtl="0" algn="l">
              <a:spcBef>
                <a:spcPts val="0"/>
              </a:spcBef>
              <a:spcAft>
                <a:spcPts val="0"/>
              </a:spcAft>
              <a:buSzPts val="1400"/>
              <a:buChar char="○"/>
            </a:pPr>
            <a:r>
              <a:rPr lang="en"/>
              <a:t>Maximize the number of non-redundant alters</a:t>
            </a:r>
            <a:endParaRPr/>
          </a:p>
          <a:p>
            <a:pPr indent="-342900" lvl="0" marL="457200" rtl="0" algn="l">
              <a:spcBef>
                <a:spcPts val="0"/>
              </a:spcBef>
              <a:spcAft>
                <a:spcPts val="0"/>
              </a:spcAft>
              <a:buSzPts val="1800"/>
              <a:buChar char="●"/>
            </a:pPr>
            <a:r>
              <a:rPr lang="en"/>
              <a:t>Effectiveness:  </a:t>
            </a:r>
            <a:endParaRPr/>
          </a:p>
          <a:p>
            <a:pPr indent="-317500" lvl="1" marL="914400" rtl="0" algn="l">
              <a:spcBef>
                <a:spcPts val="0"/>
              </a:spcBef>
              <a:spcAft>
                <a:spcPts val="0"/>
              </a:spcAft>
              <a:buSzPts val="1400"/>
              <a:buChar char="○"/>
            </a:pPr>
            <a:r>
              <a:rPr lang="en"/>
              <a:t>Draw your alters from different social worlds</a:t>
            </a:r>
            <a:endParaRPr/>
          </a:p>
          <a:p>
            <a:pPr indent="-342900" lvl="0" marL="457200" rtl="0" algn="l">
              <a:spcBef>
                <a:spcPts val="0"/>
              </a:spcBef>
              <a:spcAft>
                <a:spcPts val="0"/>
              </a:spcAft>
              <a:buSzPts val="1800"/>
              <a:buChar char="●"/>
            </a:pPr>
            <a:r>
              <a:rPr lang="en"/>
              <a:t>Redundancy:  2 Steps	</a:t>
            </a:r>
            <a:endParaRPr/>
          </a:p>
          <a:p>
            <a:pPr indent="-317500" lvl="1" marL="914400" rtl="0" algn="l">
              <a:spcBef>
                <a:spcPts val="0"/>
              </a:spcBef>
              <a:spcAft>
                <a:spcPts val="0"/>
              </a:spcAft>
              <a:buSzPts val="1400"/>
              <a:buChar char="○"/>
            </a:pPr>
            <a:r>
              <a:rPr lang="en"/>
              <a:t>Calculate how important each alter is to ego (relative strength of a tie)</a:t>
            </a:r>
            <a:endParaRPr/>
          </a:p>
          <a:p>
            <a:pPr indent="-317500" lvl="1" marL="914400" rtl="0" algn="l">
              <a:spcBef>
                <a:spcPts val="0"/>
              </a:spcBef>
              <a:spcAft>
                <a:spcPts val="0"/>
              </a:spcAft>
              <a:buSzPts val="1400"/>
              <a:buChar char="○"/>
            </a:pPr>
            <a:r>
              <a:rPr lang="en"/>
              <a:t>Calculate redundancy of each alter</a:t>
            </a:r>
            <a:endParaRPr/>
          </a:p>
          <a:p>
            <a:pPr indent="0" lvl="0" marL="0" rtl="0" algn="l">
              <a:spcBef>
                <a:spcPts val="0"/>
              </a:spcBef>
              <a:spcAft>
                <a:spcPts val="0"/>
              </a:spcAft>
              <a:buNone/>
            </a:pPr>
            <a:r>
              <a:t/>
            </a:r>
            <a:endParaRPr/>
          </a:p>
        </p:txBody>
      </p:sp>
      <p:pic>
        <p:nvPicPr>
          <p:cNvPr id="1598" name="Google Shape;1598;p153"/>
          <p:cNvPicPr preferRelativeResize="0"/>
          <p:nvPr/>
        </p:nvPicPr>
        <p:blipFill rotWithShape="1">
          <a:blip r:embed="rId3">
            <a:alphaModFix/>
          </a:blip>
          <a:srcRect b="0" l="0" r="0" t="0"/>
          <a:stretch/>
        </p:blipFill>
        <p:spPr>
          <a:xfrm>
            <a:off x="5559600" y="1473475"/>
            <a:ext cx="3272700" cy="28575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1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604" name="Google Shape;1604;p154"/>
          <p:cNvSpPr txBox="1"/>
          <p:nvPr>
            <p:ph idx="1" type="body"/>
          </p:nvPr>
        </p:nvSpPr>
        <p:spPr>
          <a:xfrm>
            <a:off x="311700" y="1225225"/>
            <a:ext cx="8520600" cy="148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Original Granovetter argument conceives of the properties of ties (e.g. strength) in static terms</a:t>
            </a:r>
            <a:endParaRPr/>
          </a:p>
          <a:p>
            <a:pPr indent="-317500" lvl="1" marL="914400" rtl="0" algn="l">
              <a:spcBef>
                <a:spcPts val="0"/>
              </a:spcBef>
              <a:spcAft>
                <a:spcPts val="0"/>
              </a:spcAft>
              <a:buSzPts val="1400"/>
              <a:buChar char="○"/>
            </a:pPr>
            <a:r>
              <a:rPr lang="en"/>
              <a:t>Yet information transmission/access are events that happen in time</a:t>
            </a:r>
            <a:endParaRPr/>
          </a:p>
          <a:p>
            <a:pPr indent="-342900" lvl="0" marL="457200" rtl="0" algn="l">
              <a:spcBef>
                <a:spcPts val="0"/>
              </a:spcBef>
              <a:spcAft>
                <a:spcPts val="0"/>
              </a:spcAft>
              <a:buSzPts val="1800"/>
              <a:buChar char="●"/>
            </a:pPr>
            <a:r>
              <a:rPr lang="en"/>
              <a:t>In original SWT argument:</a:t>
            </a:r>
            <a:endParaRPr/>
          </a:p>
          <a:p>
            <a:pPr indent="-317500" lvl="1" marL="914400" rtl="0" algn="l">
              <a:spcBef>
                <a:spcPts val="0"/>
              </a:spcBef>
              <a:spcAft>
                <a:spcPts val="0"/>
              </a:spcAft>
              <a:buSzPts val="1400"/>
              <a:buChar char="○"/>
            </a:pPr>
            <a:r>
              <a:rPr lang="en"/>
              <a:t>Weak ties: Novel information</a:t>
            </a:r>
            <a:endParaRPr/>
          </a:p>
          <a:p>
            <a:pPr indent="-317500" lvl="1" marL="914400" rtl="0" algn="l">
              <a:spcBef>
                <a:spcPts val="0"/>
              </a:spcBef>
              <a:spcAft>
                <a:spcPts val="0"/>
              </a:spcAft>
              <a:buSzPts val="1400"/>
              <a:buChar char="○"/>
            </a:pPr>
            <a:r>
              <a:rPr lang="en"/>
              <a:t>Strong ties: Old/redundant information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05" name="Google Shape;1605;p154"/>
          <p:cNvSpPr/>
          <p:nvPr/>
        </p:nvSpPr>
        <p:spPr>
          <a:xfrm>
            <a:off x="918850" y="3903079"/>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54"/>
          <p:cNvSpPr/>
          <p:nvPr/>
        </p:nvSpPr>
        <p:spPr>
          <a:xfrm>
            <a:off x="1622542" y="331681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54"/>
          <p:cNvSpPr/>
          <p:nvPr/>
        </p:nvSpPr>
        <p:spPr>
          <a:xfrm>
            <a:off x="2021356" y="374622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54"/>
          <p:cNvSpPr/>
          <p:nvPr/>
        </p:nvSpPr>
        <p:spPr>
          <a:xfrm>
            <a:off x="2021356" y="4180668"/>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54"/>
          <p:cNvSpPr/>
          <p:nvPr/>
        </p:nvSpPr>
        <p:spPr>
          <a:xfrm>
            <a:off x="1622542" y="4489051"/>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0" name="Google Shape;1610;p154"/>
          <p:cNvCxnSpPr>
            <a:stCxn id="1605" idx="7"/>
            <a:endCxn id="1606" idx="3"/>
          </p:cNvCxnSpPr>
          <p:nvPr/>
        </p:nvCxnSpPr>
        <p:spPr>
          <a:xfrm flipH="1" rot="10800000">
            <a:off x="1148541" y="3533791"/>
            <a:ext cx="513300" cy="406500"/>
          </a:xfrm>
          <a:prstGeom prst="straightConnector1">
            <a:avLst/>
          </a:prstGeom>
          <a:noFill/>
          <a:ln cap="flat" cmpd="sng" w="76200">
            <a:solidFill>
              <a:srgbClr val="4A86E8"/>
            </a:solidFill>
            <a:prstDash val="solid"/>
            <a:round/>
            <a:headEnd len="med" w="med" type="none"/>
            <a:tailEnd len="med" w="med" type="none"/>
          </a:ln>
        </p:spPr>
      </p:cxnSp>
      <p:cxnSp>
        <p:nvCxnSpPr>
          <p:cNvPr id="1611" name="Google Shape;1611;p154"/>
          <p:cNvCxnSpPr>
            <a:stCxn id="1605" idx="5"/>
            <a:endCxn id="1609" idx="1"/>
          </p:cNvCxnSpPr>
          <p:nvPr/>
        </p:nvCxnSpPr>
        <p:spPr>
          <a:xfrm>
            <a:off x="1148541" y="4119967"/>
            <a:ext cx="513300" cy="406200"/>
          </a:xfrm>
          <a:prstGeom prst="straightConnector1">
            <a:avLst/>
          </a:prstGeom>
          <a:noFill/>
          <a:ln cap="flat" cmpd="sng" w="76200">
            <a:solidFill>
              <a:srgbClr val="4A86E8"/>
            </a:solidFill>
            <a:prstDash val="solid"/>
            <a:round/>
            <a:headEnd len="med" w="med" type="none"/>
            <a:tailEnd len="med" w="med" type="none"/>
          </a:ln>
        </p:spPr>
      </p:cxnSp>
      <p:cxnSp>
        <p:nvCxnSpPr>
          <p:cNvPr id="1612" name="Google Shape;1612;p154"/>
          <p:cNvCxnSpPr>
            <a:stCxn id="1609" idx="7"/>
            <a:endCxn id="1608" idx="3"/>
          </p:cNvCxnSpPr>
          <p:nvPr/>
        </p:nvCxnSpPr>
        <p:spPr>
          <a:xfrm flipH="1" rot="10800000">
            <a:off x="1852233" y="4397563"/>
            <a:ext cx="208500" cy="128700"/>
          </a:xfrm>
          <a:prstGeom prst="straightConnector1">
            <a:avLst/>
          </a:prstGeom>
          <a:noFill/>
          <a:ln cap="flat" cmpd="sng" w="76200">
            <a:solidFill>
              <a:schemeClr val="dk2"/>
            </a:solidFill>
            <a:prstDash val="solid"/>
            <a:round/>
            <a:headEnd len="med" w="med" type="none"/>
            <a:tailEnd len="med" w="med" type="none"/>
          </a:ln>
        </p:spPr>
      </p:cxnSp>
      <p:cxnSp>
        <p:nvCxnSpPr>
          <p:cNvPr id="1613" name="Google Shape;1613;p154"/>
          <p:cNvCxnSpPr>
            <a:stCxn id="1608" idx="0"/>
            <a:endCxn id="1607" idx="4"/>
          </p:cNvCxnSpPr>
          <p:nvPr/>
        </p:nvCxnSpPr>
        <p:spPr>
          <a:xfrm rot="10800000">
            <a:off x="2155906" y="4000368"/>
            <a:ext cx="0" cy="180300"/>
          </a:xfrm>
          <a:prstGeom prst="straightConnector1">
            <a:avLst/>
          </a:prstGeom>
          <a:noFill/>
          <a:ln cap="flat" cmpd="sng" w="76200">
            <a:solidFill>
              <a:schemeClr val="dk2"/>
            </a:solidFill>
            <a:prstDash val="solid"/>
            <a:round/>
            <a:headEnd len="med" w="med" type="none"/>
            <a:tailEnd len="med" w="med" type="none"/>
          </a:ln>
        </p:spPr>
      </p:cxnSp>
      <p:cxnSp>
        <p:nvCxnSpPr>
          <p:cNvPr id="1614" name="Google Shape;1614;p154"/>
          <p:cNvCxnSpPr>
            <a:stCxn id="1607" idx="0"/>
            <a:endCxn id="1606" idx="5"/>
          </p:cNvCxnSpPr>
          <p:nvPr/>
        </p:nvCxnSpPr>
        <p:spPr>
          <a:xfrm rot="10800000">
            <a:off x="1852306" y="3533822"/>
            <a:ext cx="303600" cy="212400"/>
          </a:xfrm>
          <a:prstGeom prst="straightConnector1">
            <a:avLst/>
          </a:prstGeom>
          <a:noFill/>
          <a:ln cap="flat" cmpd="sng" w="76200">
            <a:solidFill>
              <a:schemeClr val="dk2"/>
            </a:solidFill>
            <a:prstDash val="solid"/>
            <a:round/>
            <a:headEnd len="med" w="med" type="none"/>
            <a:tailEnd len="med" w="med" type="none"/>
          </a:ln>
        </p:spPr>
      </p:cxnSp>
      <p:cxnSp>
        <p:nvCxnSpPr>
          <p:cNvPr id="1615" name="Google Shape;1615;p154"/>
          <p:cNvCxnSpPr>
            <a:stCxn id="1609" idx="0"/>
            <a:endCxn id="1606" idx="4"/>
          </p:cNvCxnSpPr>
          <p:nvPr/>
        </p:nvCxnSpPr>
        <p:spPr>
          <a:xfrm rot="10800000">
            <a:off x="1757092" y="3571051"/>
            <a:ext cx="0" cy="918000"/>
          </a:xfrm>
          <a:prstGeom prst="straightConnector1">
            <a:avLst/>
          </a:prstGeom>
          <a:noFill/>
          <a:ln cap="flat" cmpd="sng" w="76200">
            <a:solidFill>
              <a:schemeClr val="dk2"/>
            </a:solidFill>
            <a:prstDash val="solid"/>
            <a:round/>
            <a:headEnd len="med" w="med" type="none"/>
            <a:tailEnd len="med" w="med" type="none"/>
          </a:ln>
        </p:spPr>
      </p:cxnSp>
      <p:cxnSp>
        <p:nvCxnSpPr>
          <p:cNvPr id="1616" name="Google Shape;1616;p154"/>
          <p:cNvCxnSpPr>
            <a:stCxn id="1609" idx="0"/>
            <a:endCxn id="1607" idx="3"/>
          </p:cNvCxnSpPr>
          <p:nvPr/>
        </p:nvCxnSpPr>
        <p:spPr>
          <a:xfrm flipH="1" rot="10800000">
            <a:off x="1757092" y="3963151"/>
            <a:ext cx="303600" cy="525900"/>
          </a:xfrm>
          <a:prstGeom prst="straightConnector1">
            <a:avLst/>
          </a:prstGeom>
          <a:noFill/>
          <a:ln cap="flat" cmpd="sng" w="76200">
            <a:solidFill>
              <a:schemeClr val="dk2"/>
            </a:solidFill>
            <a:prstDash val="solid"/>
            <a:round/>
            <a:headEnd len="med" w="med" type="none"/>
            <a:tailEnd len="med" w="med" type="none"/>
          </a:ln>
        </p:spPr>
      </p:cxnSp>
      <p:cxnSp>
        <p:nvCxnSpPr>
          <p:cNvPr id="1617" name="Google Shape;1617;p154"/>
          <p:cNvCxnSpPr>
            <a:stCxn id="1608" idx="1"/>
            <a:endCxn id="1606" idx="4"/>
          </p:cNvCxnSpPr>
          <p:nvPr/>
        </p:nvCxnSpPr>
        <p:spPr>
          <a:xfrm rot="10800000">
            <a:off x="1757164" y="3570780"/>
            <a:ext cx="303600" cy="647100"/>
          </a:xfrm>
          <a:prstGeom prst="straightConnector1">
            <a:avLst/>
          </a:prstGeom>
          <a:noFill/>
          <a:ln cap="flat" cmpd="sng" w="76200">
            <a:solidFill>
              <a:schemeClr val="dk2"/>
            </a:solidFill>
            <a:prstDash val="solid"/>
            <a:round/>
            <a:headEnd len="med" w="med" type="none"/>
            <a:tailEnd len="med" w="med" type="none"/>
          </a:ln>
        </p:spPr>
      </p:cxnSp>
      <p:cxnSp>
        <p:nvCxnSpPr>
          <p:cNvPr id="1618" name="Google Shape;1618;p154"/>
          <p:cNvCxnSpPr>
            <a:stCxn id="1605" idx="6"/>
            <a:endCxn id="1607" idx="2"/>
          </p:cNvCxnSpPr>
          <p:nvPr/>
        </p:nvCxnSpPr>
        <p:spPr>
          <a:xfrm flipH="1" rot="10800000">
            <a:off x="1187950" y="3873229"/>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619" name="Google Shape;1619;p154"/>
          <p:cNvCxnSpPr>
            <a:stCxn id="1605" idx="6"/>
            <a:endCxn id="1608" idx="2"/>
          </p:cNvCxnSpPr>
          <p:nvPr/>
        </p:nvCxnSpPr>
        <p:spPr>
          <a:xfrm>
            <a:off x="1187950" y="4030129"/>
            <a:ext cx="833400" cy="277500"/>
          </a:xfrm>
          <a:prstGeom prst="straightConnector1">
            <a:avLst/>
          </a:prstGeom>
          <a:noFill/>
          <a:ln cap="flat" cmpd="sng" w="76200">
            <a:solidFill>
              <a:srgbClr val="4A86E8"/>
            </a:solidFill>
            <a:prstDash val="solid"/>
            <a:round/>
            <a:headEnd len="med" w="med" type="none"/>
            <a:tailEnd len="med" w="med" type="none"/>
          </a:ln>
        </p:spPr>
      </p:cxnSp>
      <p:sp>
        <p:nvSpPr>
          <p:cNvPr id="1620" name="Google Shape;1620;p154"/>
          <p:cNvSpPr/>
          <p:nvPr/>
        </p:nvSpPr>
        <p:spPr>
          <a:xfrm>
            <a:off x="3941829" y="3792172"/>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54"/>
          <p:cNvSpPr/>
          <p:nvPr/>
        </p:nvSpPr>
        <p:spPr>
          <a:xfrm>
            <a:off x="4645521" y="320604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54"/>
          <p:cNvSpPr/>
          <p:nvPr/>
        </p:nvSpPr>
        <p:spPr>
          <a:xfrm>
            <a:off x="5044335" y="363535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54"/>
          <p:cNvSpPr/>
          <p:nvPr/>
        </p:nvSpPr>
        <p:spPr>
          <a:xfrm>
            <a:off x="5044335" y="406969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54"/>
          <p:cNvSpPr/>
          <p:nvPr/>
        </p:nvSpPr>
        <p:spPr>
          <a:xfrm>
            <a:off x="4645521" y="437800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25" name="Google Shape;1625;p154"/>
          <p:cNvCxnSpPr>
            <a:stCxn id="1620" idx="7"/>
            <a:endCxn id="1621" idx="3"/>
          </p:cNvCxnSpPr>
          <p:nvPr/>
        </p:nvCxnSpPr>
        <p:spPr>
          <a:xfrm flipH="1" rot="10800000">
            <a:off x="4171520" y="3422884"/>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626" name="Google Shape;1626;p154"/>
          <p:cNvCxnSpPr>
            <a:stCxn id="1620" idx="5"/>
            <a:endCxn id="1624" idx="1"/>
          </p:cNvCxnSpPr>
          <p:nvPr/>
        </p:nvCxnSpPr>
        <p:spPr>
          <a:xfrm>
            <a:off x="4171520" y="4009060"/>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627" name="Google Shape;1627;p154"/>
          <p:cNvCxnSpPr>
            <a:stCxn id="1623" idx="0"/>
            <a:endCxn id="1622" idx="4"/>
          </p:cNvCxnSpPr>
          <p:nvPr/>
        </p:nvCxnSpPr>
        <p:spPr>
          <a:xfrm rot="10800000">
            <a:off x="5178885" y="3889397"/>
            <a:ext cx="0" cy="180300"/>
          </a:xfrm>
          <a:prstGeom prst="straightConnector1">
            <a:avLst/>
          </a:prstGeom>
          <a:noFill/>
          <a:ln cap="flat" cmpd="sng" w="76200">
            <a:solidFill>
              <a:srgbClr val="B7B7B7"/>
            </a:solidFill>
            <a:prstDash val="solid"/>
            <a:round/>
            <a:headEnd len="med" w="med" type="none"/>
            <a:tailEnd len="med" w="med" type="none"/>
          </a:ln>
        </p:spPr>
      </p:cxnSp>
      <p:cxnSp>
        <p:nvCxnSpPr>
          <p:cNvPr id="1628" name="Google Shape;1628;p154"/>
          <p:cNvCxnSpPr>
            <a:stCxn id="1620" idx="6"/>
            <a:endCxn id="1622" idx="2"/>
          </p:cNvCxnSpPr>
          <p:nvPr/>
        </p:nvCxnSpPr>
        <p:spPr>
          <a:xfrm flipH="1" rot="10800000">
            <a:off x="4210929" y="3762322"/>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629" name="Google Shape;1629;p154"/>
          <p:cNvCxnSpPr>
            <a:stCxn id="1620" idx="6"/>
            <a:endCxn id="1623" idx="2"/>
          </p:cNvCxnSpPr>
          <p:nvPr/>
        </p:nvCxnSpPr>
        <p:spPr>
          <a:xfrm>
            <a:off x="4210929" y="3919222"/>
            <a:ext cx="833400" cy="277500"/>
          </a:xfrm>
          <a:prstGeom prst="straightConnector1">
            <a:avLst/>
          </a:prstGeom>
          <a:noFill/>
          <a:ln cap="flat" cmpd="sng" w="76200">
            <a:solidFill>
              <a:srgbClr val="4A86E8"/>
            </a:solidFill>
            <a:prstDash val="solid"/>
            <a:round/>
            <a:headEnd len="med" w="med" type="none"/>
            <a:tailEnd len="med" w="med" type="none"/>
          </a:ln>
        </p:spPr>
      </p:cxnSp>
      <p:cxnSp>
        <p:nvCxnSpPr>
          <p:cNvPr id="1630" name="Google Shape;1630;p154"/>
          <p:cNvCxnSpPr/>
          <p:nvPr/>
        </p:nvCxnSpPr>
        <p:spPr>
          <a:xfrm flipH="1" rot="10800000">
            <a:off x="4779947" y="2878820"/>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631" name="Google Shape;1631;p154"/>
          <p:cNvCxnSpPr/>
          <p:nvPr/>
        </p:nvCxnSpPr>
        <p:spPr>
          <a:xfrm flipH="1" rot="10800000">
            <a:off x="4875007" y="3060294"/>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632" name="Google Shape;1632;p154"/>
          <p:cNvCxnSpPr>
            <a:stCxn id="1624" idx="6"/>
          </p:cNvCxnSpPr>
          <p:nvPr/>
        </p:nvCxnSpPr>
        <p:spPr>
          <a:xfrm>
            <a:off x="4914621" y="4505057"/>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633" name="Google Shape;1633;p154"/>
          <p:cNvCxnSpPr>
            <a:stCxn id="1624" idx="5"/>
          </p:cNvCxnSpPr>
          <p:nvPr/>
        </p:nvCxnSpPr>
        <p:spPr>
          <a:xfrm>
            <a:off x="4875213" y="4594895"/>
            <a:ext cx="139500" cy="272700"/>
          </a:xfrm>
          <a:prstGeom prst="straightConnector1">
            <a:avLst/>
          </a:prstGeom>
          <a:noFill/>
          <a:ln cap="flat" cmpd="sng" w="19050">
            <a:solidFill>
              <a:srgbClr val="B7B7B7"/>
            </a:solidFill>
            <a:prstDash val="dash"/>
            <a:round/>
            <a:headEnd len="med" w="med" type="none"/>
            <a:tailEnd len="med" w="med" type="stealth"/>
          </a:ln>
        </p:spPr>
      </p:cxnSp>
      <p:sp>
        <p:nvSpPr>
          <p:cNvPr id="1634" name="Google Shape;1634;p154"/>
          <p:cNvSpPr/>
          <p:nvPr/>
        </p:nvSpPr>
        <p:spPr>
          <a:xfrm>
            <a:off x="6853539" y="3838130"/>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54"/>
          <p:cNvSpPr/>
          <p:nvPr/>
        </p:nvSpPr>
        <p:spPr>
          <a:xfrm>
            <a:off x="7557231" y="325200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54"/>
          <p:cNvSpPr/>
          <p:nvPr/>
        </p:nvSpPr>
        <p:spPr>
          <a:xfrm>
            <a:off x="7956044" y="3681310"/>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54"/>
          <p:cNvSpPr/>
          <p:nvPr/>
        </p:nvSpPr>
        <p:spPr>
          <a:xfrm>
            <a:off x="7956044" y="4115654"/>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54"/>
          <p:cNvSpPr/>
          <p:nvPr/>
        </p:nvSpPr>
        <p:spPr>
          <a:xfrm>
            <a:off x="7557231" y="442396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9" name="Google Shape;1639;p154"/>
          <p:cNvCxnSpPr>
            <a:stCxn id="1634" idx="7"/>
            <a:endCxn id="1635" idx="3"/>
          </p:cNvCxnSpPr>
          <p:nvPr/>
        </p:nvCxnSpPr>
        <p:spPr>
          <a:xfrm flipH="1" rot="10800000">
            <a:off x="7083230" y="3468842"/>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640" name="Google Shape;1640;p154"/>
          <p:cNvCxnSpPr>
            <a:stCxn id="1634" idx="5"/>
            <a:endCxn id="1638" idx="1"/>
          </p:cNvCxnSpPr>
          <p:nvPr/>
        </p:nvCxnSpPr>
        <p:spPr>
          <a:xfrm>
            <a:off x="7083230" y="4055018"/>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641" name="Google Shape;1641;p154"/>
          <p:cNvCxnSpPr>
            <a:stCxn id="1634" idx="6"/>
            <a:endCxn id="1636" idx="2"/>
          </p:cNvCxnSpPr>
          <p:nvPr/>
        </p:nvCxnSpPr>
        <p:spPr>
          <a:xfrm flipH="1" rot="10800000">
            <a:off x="7122639" y="3808280"/>
            <a:ext cx="833400" cy="156900"/>
          </a:xfrm>
          <a:prstGeom prst="straightConnector1">
            <a:avLst/>
          </a:prstGeom>
          <a:noFill/>
          <a:ln cap="flat" cmpd="sng" w="19050">
            <a:solidFill>
              <a:srgbClr val="4A86E8"/>
            </a:solidFill>
            <a:prstDash val="dash"/>
            <a:round/>
            <a:headEnd len="med" w="med" type="none"/>
            <a:tailEnd len="med" w="med" type="none"/>
          </a:ln>
        </p:spPr>
      </p:cxnSp>
      <p:cxnSp>
        <p:nvCxnSpPr>
          <p:cNvPr id="1642" name="Google Shape;1642;p154"/>
          <p:cNvCxnSpPr>
            <a:stCxn id="1634" idx="6"/>
            <a:endCxn id="1637" idx="2"/>
          </p:cNvCxnSpPr>
          <p:nvPr/>
        </p:nvCxnSpPr>
        <p:spPr>
          <a:xfrm>
            <a:off x="7122639" y="3965180"/>
            <a:ext cx="833400" cy="277500"/>
          </a:xfrm>
          <a:prstGeom prst="straightConnector1">
            <a:avLst/>
          </a:prstGeom>
          <a:noFill/>
          <a:ln cap="flat" cmpd="sng" w="19050">
            <a:solidFill>
              <a:srgbClr val="4A86E8"/>
            </a:solidFill>
            <a:prstDash val="dash"/>
            <a:round/>
            <a:headEnd len="med" w="med" type="none"/>
            <a:tailEnd len="med" w="med" type="none"/>
          </a:ln>
        </p:spPr>
      </p:cxnSp>
      <p:cxnSp>
        <p:nvCxnSpPr>
          <p:cNvPr id="1643" name="Google Shape;1643;p154"/>
          <p:cNvCxnSpPr/>
          <p:nvPr/>
        </p:nvCxnSpPr>
        <p:spPr>
          <a:xfrm flipH="1" rot="10800000">
            <a:off x="7691656" y="2924778"/>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644" name="Google Shape;1644;p154"/>
          <p:cNvCxnSpPr/>
          <p:nvPr/>
        </p:nvCxnSpPr>
        <p:spPr>
          <a:xfrm flipH="1" rot="10800000">
            <a:off x="7786717" y="3106252"/>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645" name="Google Shape;1645;p154"/>
          <p:cNvCxnSpPr>
            <a:stCxn id="1638" idx="6"/>
          </p:cNvCxnSpPr>
          <p:nvPr/>
        </p:nvCxnSpPr>
        <p:spPr>
          <a:xfrm>
            <a:off x="7826331" y="4551015"/>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646" name="Google Shape;1646;p154"/>
          <p:cNvCxnSpPr>
            <a:stCxn id="1638" idx="5"/>
          </p:cNvCxnSpPr>
          <p:nvPr/>
        </p:nvCxnSpPr>
        <p:spPr>
          <a:xfrm>
            <a:off x="7786922" y="4640853"/>
            <a:ext cx="139500" cy="272700"/>
          </a:xfrm>
          <a:prstGeom prst="straightConnector1">
            <a:avLst/>
          </a:prstGeom>
          <a:noFill/>
          <a:ln cap="flat" cmpd="sng" w="19050">
            <a:solidFill>
              <a:srgbClr val="B7B7B7"/>
            </a:solidFill>
            <a:prstDash val="dash"/>
            <a:round/>
            <a:headEnd len="med" w="med" type="none"/>
            <a:tailEnd len="med" w="med" type="stealth"/>
          </a:ln>
        </p:spPr>
      </p:cxn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55"/>
          <p:cNvSpPr/>
          <p:nvPr/>
        </p:nvSpPr>
        <p:spPr>
          <a:xfrm>
            <a:off x="899338" y="2004988"/>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55"/>
          <p:cNvSpPr/>
          <p:nvPr/>
        </p:nvSpPr>
        <p:spPr>
          <a:xfrm>
            <a:off x="1893162" y="1175092"/>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55"/>
          <p:cNvSpPr/>
          <p:nvPr/>
        </p:nvSpPr>
        <p:spPr>
          <a:xfrm>
            <a:off x="2456406" y="1782946"/>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55"/>
          <p:cNvSpPr/>
          <p:nvPr/>
        </p:nvSpPr>
        <p:spPr>
          <a:xfrm>
            <a:off x="2456406" y="2397935"/>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55"/>
          <p:cNvSpPr/>
          <p:nvPr/>
        </p:nvSpPr>
        <p:spPr>
          <a:xfrm>
            <a:off x="1893162" y="2834473"/>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6" name="Google Shape;1656;p155"/>
          <p:cNvCxnSpPr>
            <a:stCxn id="1651" idx="7"/>
            <a:endCxn id="1652" idx="3"/>
          </p:cNvCxnSpPr>
          <p:nvPr/>
        </p:nvCxnSpPr>
        <p:spPr>
          <a:xfrm flipH="1" rot="10800000">
            <a:off x="1223517" y="1482308"/>
            <a:ext cx="725400" cy="575400"/>
          </a:xfrm>
          <a:prstGeom prst="straightConnector1">
            <a:avLst/>
          </a:prstGeom>
          <a:noFill/>
          <a:ln cap="flat" cmpd="sng" w="76200">
            <a:solidFill>
              <a:srgbClr val="4A86E8"/>
            </a:solidFill>
            <a:prstDash val="solid"/>
            <a:round/>
            <a:headEnd len="med" w="med" type="none"/>
            <a:tailEnd len="med" w="med" type="none"/>
          </a:ln>
        </p:spPr>
      </p:cxnSp>
      <p:cxnSp>
        <p:nvCxnSpPr>
          <p:cNvPr id="1657" name="Google Shape;1657;p155"/>
          <p:cNvCxnSpPr>
            <a:stCxn id="1651" idx="5"/>
            <a:endCxn id="1655" idx="1"/>
          </p:cNvCxnSpPr>
          <p:nvPr/>
        </p:nvCxnSpPr>
        <p:spPr>
          <a:xfrm>
            <a:off x="1223517" y="2312267"/>
            <a:ext cx="725400" cy="574800"/>
          </a:xfrm>
          <a:prstGeom prst="straightConnector1">
            <a:avLst/>
          </a:prstGeom>
          <a:noFill/>
          <a:ln cap="flat" cmpd="sng" w="76200">
            <a:solidFill>
              <a:srgbClr val="4A86E8"/>
            </a:solidFill>
            <a:prstDash val="solid"/>
            <a:round/>
            <a:headEnd len="med" w="med" type="none"/>
            <a:tailEnd len="med" w="med" type="none"/>
          </a:ln>
        </p:spPr>
      </p:cxnSp>
      <p:cxnSp>
        <p:nvCxnSpPr>
          <p:cNvPr id="1658" name="Google Shape;1658;p155"/>
          <p:cNvCxnSpPr>
            <a:stCxn id="1655" idx="7"/>
            <a:endCxn id="1654" idx="3"/>
          </p:cNvCxnSpPr>
          <p:nvPr/>
        </p:nvCxnSpPr>
        <p:spPr>
          <a:xfrm flipH="1" rot="10800000">
            <a:off x="2217341" y="2705093"/>
            <a:ext cx="294600" cy="182100"/>
          </a:xfrm>
          <a:prstGeom prst="straightConnector1">
            <a:avLst/>
          </a:prstGeom>
          <a:noFill/>
          <a:ln cap="flat" cmpd="sng" w="76200">
            <a:solidFill>
              <a:schemeClr val="dk2"/>
            </a:solidFill>
            <a:prstDash val="solid"/>
            <a:round/>
            <a:headEnd len="med" w="med" type="none"/>
            <a:tailEnd len="med" w="med" type="none"/>
          </a:ln>
        </p:spPr>
      </p:cxnSp>
      <p:cxnSp>
        <p:nvCxnSpPr>
          <p:cNvPr id="1659" name="Google Shape;1659;p155"/>
          <p:cNvCxnSpPr>
            <a:stCxn id="1654" idx="0"/>
            <a:endCxn id="1653" idx="4"/>
          </p:cNvCxnSpPr>
          <p:nvPr/>
        </p:nvCxnSpPr>
        <p:spPr>
          <a:xfrm rot="10800000">
            <a:off x="2646306" y="2142935"/>
            <a:ext cx="0" cy="255000"/>
          </a:xfrm>
          <a:prstGeom prst="straightConnector1">
            <a:avLst/>
          </a:prstGeom>
          <a:noFill/>
          <a:ln cap="flat" cmpd="sng" w="76200">
            <a:solidFill>
              <a:schemeClr val="dk2"/>
            </a:solidFill>
            <a:prstDash val="solid"/>
            <a:round/>
            <a:headEnd len="med" w="med" type="none"/>
            <a:tailEnd len="med" w="med" type="none"/>
          </a:ln>
        </p:spPr>
      </p:cxnSp>
      <p:cxnSp>
        <p:nvCxnSpPr>
          <p:cNvPr id="1660" name="Google Shape;1660;p155"/>
          <p:cNvCxnSpPr>
            <a:stCxn id="1653" idx="0"/>
            <a:endCxn id="1652" idx="5"/>
          </p:cNvCxnSpPr>
          <p:nvPr/>
        </p:nvCxnSpPr>
        <p:spPr>
          <a:xfrm rot="10800000">
            <a:off x="2217306" y="1482346"/>
            <a:ext cx="429000" cy="300600"/>
          </a:xfrm>
          <a:prstGeom prst="straightConnector1">
            <a:avLst/>
          </a:prstGeom>
          <a:noFill/>
          <a:ln cap="flat" cmpd="sng" w="76200">
            <a:solidFill>
              <a:schemeClr val="dk2"/>
            </a:solidFill>
            <a:prstDash val="solid"/>
            <a:round/>
            <a:headEnd len="med" w="med" type="none"/>
            <a:tailEnd len="med" w="med" type="none"/>
          </a:ln>
        </p:spPr>
      </p:cxnSp>
      <p:cxnSp>
        <p:nvCxnSpPr>
          <p:cNvPr id="1661" name="Google Shape;1661;p155"/>
          <p:cNvCxnSpPr>
            <a:stCxn id="1655" idx="0"/>
            <a:endCxn id="1652" idx="4"/>
          </p:cNvCxnSpPr>
          <p:nvPr/>
        </p:nvCxnSpPr>
        <p:spPr>
          <a:xfrm rot="10800000">
            <a:off x="2083062" y="1535173"/>
            <a:ext cx="0" cy="1299300"/>
          </a:xfrm>
          <a:prstGeom prst="straightConnector1">
            <a:avLst/>
          </a:prstGeom>
          <a:noFill/>
          <a:ln cap="flat" cmpd="sng" w="76200">
            <a:solidFill>
              <a:schemeClr val="dk2"/>
            </a:solidFill>
            <a:prstDash val="solid"/>
            <a:round/>
            <a:headEnd len="med" w="med" type="none"/>
            <a:tailEnd len="med" w="med" type="none"/>
          </a:ln>
        </p:spPr>
      </p:cxnSp>
      <p:cxnSp>
        <p:nvCxnSpPr>
          <p:cNvPr id="1662" name="Google Shape;1662;p155"/>
          <p:cNvCxnSpPr>
            <a:stCxn id="1655" idx="0"/>
            <a:endCxn id="1653" idx="3"/>
          </p:cNvCxnSpPr>
          <p:nvPr/>
        </p:nvCxnSpPr>
        <p:spPr>
          <a:xfrm flipH="1" rot="10800000">
            <a:off x="2083062" y="2090173"/>
            <a:ext cx="429000" cy="744300"/>
          </a:xfrm>
          <a:prstGeom prst="straightConnector1">
            <a:avLst/>
          </a:prstGeom>
          <a:noFill/>
          <a:ln cap="flat" cmpd="sng" w="76200">
            <a:solidFill>
              <a:schemeClr val="dk2"/>
            </a:solidFill>
            <a:prstDash val="solid"/>
            <a:round/>
            <a:headEnd len="med" w="med" type="none"/>
            <a:tailEnd len="med" w="med" type="none"/>
          </a:ln>
        </p:spPr>
      </p:cxnSp>
      <p:cxnSp>
        <p:nvCxnSpPr>
          <p:cNvPr id="1663" name="Google Shape;1663;p155"/>
          <p:cNvCxnSpPr>
            <a:stCxn id="1654" idx="1"/>
            <a:endCxn id="1652" idx="4"/>
          </p:cNvCxnSpPr>
          <p:nvPr/>
        </p:nvCxnSpPr>
        <p:spPr>
          <a:xfrm rot="10800000">
            <a:off x="2083026" y="1535056"/>
            <a:ext cx="429000" cy="915600"/>
          </a:xfrm>
          <a:prstGeom prst="straightConnector1">
            <a:avLst/>
          </a:prstGeom>
          <a:noFill/>
          <a:ln cap="flat" cmpd="sng" w="76200">
            <a:solidFill>
              <a:schemeClr val="dk2"/>
            </a:solidFill>
            <a:prstDash val="solid"/>
            <a:round/>
            <a:headEnd len="med" w="med" type="none"/>
            <a:tailEnd len="med" w="med" type="none"/>
          </a:ln>
        </p:spPr>
      </p:cxnSp>
      <p:cxnSp>
        <p:nvCxnSpPr>
          <p:cNvPr id="1664" name="Google Shape;1664;p155"/>
          <p:cNvCxnSpPr>
            <a:stCxn id="1651" idx="6"/>
            <a:endCxn id="1653" idx="2"/>
          </p:cNvCxnSpPr>
          <p:nvPr/>
        </p:nvCxnSpPr>
        <p:spPr>
          <a:xfrm flipH="1" rot="10800000">
            <a:off x="1279138" y="1962988"/>
            <a:ext cx="1177200" cy="222000"/>
          </a:xfrm>
          <a:prstGeom prst="straightConnector1">
            <a:avLst/>
          </a:prstGeom>
          <a:noFill/>
          <a:ln cap="flat" cmpd="sng" w="76200">
            <a:solidFill>
              <a:srgbClr val="4A86E8"/>
            </a:solidFill>
            <a:prstDash val="solid"/>
            <a:round/>
            <a:headEnd len="med" w="med" type="none"/>
            <a:tailEnd len="med" w="med" type="none"/>
          </a:ln>
        </p:spPr>
      </p:cxnSp>
      <p:cxnSp>
        <p:nvCxnSpPr>
          <p:cNvPr id="1665" name="Google Shape;1665;p155"/>
          <p:cNvCxnSpPr>
            <a:stCxn id="1651" idx="6"/>
            <a:endCxn id="1654" idx="2"/>
          </p:cNvCxnSpPr>
          <p:nvPr/>
        </p:nvCxnSpPr>
        <p:spPr>
          <a:xfrm>
            <a:off x="1279138" y="2184988"/>
            <a:ext cx="1177200" cy="393000"/>
          </a:xfrm>
          <a:prstGeom prst="straightConnector1">
            <a:avLst/>
          </a:prstGeom>
          <a:noFill/>
          <a:ln cap="flat" cmpd="sng" w="76200">
            <a:solidFill>
              <a:srgbClr val="4A86E8"/>
            </a:solidFill>
            <a:prstDash val="solid"/>
            <a:round/>
            <a:headEnd len="med" w="med" type="none"/>
            <a:tailEnd len="med" w="med" type="none"/>
          </a:ln>
        </p:spPr>
      </p:cxnSp>
      <p:sp>
        <p:nvSpPr>
          <p:cNvPr id="1666" name="Google Shape;1666;p155"/>
          <p:cNvSpPr/>
          <p:nvPr/>
        </p:nvSpPr>
        <p:spPr>
          <a:xfrm>
            <a:off x="3589267" y="2069992"/>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55"/>
          <p:cNvSpPr/>
          <p:nvPr/>
        </p:nvSpPr>
        <p:spPr>
          <a:xfrm>
            <a:off x="4583091" y="1240096"/>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55"/>
          <p:cNvSpPr/>
          <p:nvPr/>
        </p:nvSpPr>
        <p:spPr>
          <a:xfrm>
            <a:off x="5146335" y="1847950"/>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55"/>
          <p:cNvSpPr/>
          <p:nvPr/>
        </p:nvSpPr>
        <p:spPr>
          <a:xfrm>
            <a:off x="5146335" y="2462939"/>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55"/>
          <p:cNvSpPr/>
          <p:nvPr/>
        </p:nvSpPr>
        <p:spPr>
          <a:xfrm>
            <a:off x="4583091" y="2899477"/>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71" name="Google Shape;1671;p155"/>
          <p:cNvCxnSpPr>
            <a:stCxn id="1666" idx="7"/>
            <a:endCxn id="1667" idx="3"/>
          </p:cNvCxnSpPr>
          <p:nvPr/>
        </p:nvCxnSpPr>
        <p:spPr>
          <a:xfrm flipH="1" rot="10800000">
            <a:off x="3913446" y="1547313"/>
            <a:ext cx="725400" cy="575400"/>
          </a:xfrm>
          <a:prstGeom prst="straightConnector1">
            <a:avLst/>
          </a:prstGeom>
          <a:noFill/>
          <a:ln cap="flat" cmpd="sng" w="19050">
            <a:solidFill>
              <a:srgbClr val="4A86E8"/>
            </a:solidFill>
            <a:prstDash val="dash"/>
            <a:round/>
            <a:headEnd len="med" w="med" type="none"/>
            <a:tailEnd len="med" w="med" type="none"/>
          </a:ln>
        </p:spPr>
      </p:cxnSp>
      <p:cxnSp>
        <p:nvCxnSpPr>
          <p:cNvPr id="1672" name="Google Shape;1672;p155"/>
          <p:cNvCxnSpPr>
            <a:stCxn id="1666" idx="5"/>
            <a:endCxn id="1670" idx="1"/>
          </p:cNvCxnSpPr>
          <p:nvPr/>
        </p:nvCxnSpPr>
        <p:spPr>
          <a:xfrm>
            <a:off x="3913446" y="2377271"/>
            <a:ext cx="725400" cy="574800"/>
          </a:xfrm>
          <a:prstGeom prst="straightConnector1">
            <a:avLst/>
          </a:prstGeom>
          <a:noFill/>
          <a:ln cap="flat" cmpd="sng" w="19050">
            <a:solidFill>
              <a:srgbClr val="4A86E8"/>
            </a:solidFill>
            <a:prstDash val="dash"/>
            <a:round/>
            <a:headEnd len="med" w="med" type="none"/>
            <a:tailEnd len="med" w="med" type="none"/>
          </a:ln>
        </p:spPr>
      </p:cxnSp>
      <p:cxnSp>
        <p:nvCxnSpPr>
          <p:cNvPr id="1673" name="Google Shape;1673;p155"/>
          <p:cNvCxnSpPr>
            <a:stCxn id="1669" idx="0"/>
            <a:endCxn id="1668" idx="4"/>
          </p:cNvCxnSpPr>
          <p:nvPr/>
        </p:nvCxnSpPr>
        <p:spPr>
          <a:xfrm rot="10800000">
            <a:off x="5336235" y="2207939"/>
            <a:ext cx="0" cy="255000"/>
          </a:xfrm>
          <a:prstGeom prst="straightConnector1">
            <a:avLst/>
          </a:prstGeom>
          <a:noFill/>
          <a:ln cap="flat" cmpd="sng" w="76200">
            <a:solidFill>
              <a:srgbClr val="B7B7B7"/>
            </a:solidFill>
            <a:prstDash val="solid"/>
            <a:round/>
            <a:headEnd len="med" w="med" type="none"/>
            <a:tailEnd len="med" w="med" type="none"/>
          </a:ln>
        </p:spPr>
      </p:cxnSp>
      <p:cxnSp>
        <p:nvCxnSpPr>
          <p:cNvPr id="1674" name="Google Shape;1674;p155"/>
          <p:cNvCxnSpPr>
            <a:stCxn id="1666" idx="6"/>
            <a:endCxn id="1668" idx="2"/>
          </p:cNvCxnSpPr>
          <p:nvPr/>
        </p:nvCxnSpPr>
        <p:spPr>
          <a:xfrm flipH="1" rot="10800000">
            <a:off x="3969067" y="2027992"/>
            <a:ext cx="1177200" cy="222000"/>
          </a:xfrm>
          <a:prstGeom prst="straightConnector1">
            <a:avLst/>
          </a:prstGeom>
          <a:noFill/>
          <a:ln cap="flat" cmpd="sng" w="76200">
            <a:solidFill>
              <a:srgbClr val="4A86E8"/>
            </a:solidFill>
            <a:prstDash val="solid"/>
            <a:round/>
            <a:headEnd len="med" w="med" type="none"/>
            <a:tailEnd len="med" w="med" type="none"/>
          </a:ln>
        </p:spPr>
      </p:cxnSp>
      <p:cxnSp>
        <p:nvCxnSpPr>
          <p:cNvPr id="1675" name="Google Shape;1675;p155"/>
          <p:cNvCxnSpPr>
            <a:stCxn id="1666" idx="6"/>
            <a:endCxn id="1669" idx="2"/>
          </p:cNvCxnSpPr>
          <p:nvPr/>
        </p:nvCxnSpPr>
        <p:spPr>
          <a:xfrm>
            <a:off x="3969067" y="2249992"/>
            <a:ext cx="1177200" cy="393000"/>
          </a:xfrm>
          <a:prstGeom prst="straightConnector1">
            <a:avLst/>
          </a:prstGeom>
          <a:noFill/>
          <a:ln cap="flat" cmpd="sng" w="76200">
            <a:solidFill>
              <a:srgbClr val="4A86E8"/>
            </a:solidFill>
            <a:prstDash val="solid"/>
            <a:round/>
            <a:headEnd len="med" w="med" type="none"/>
            <a:tailEnd len="med" w="med" type="none"/>
          </a:ln>
        </p:spPr>
      </p:cxnSp>
      <p:cxnSp>
        <p:nvCxnSpPr>
          <p:cNvPr id="1676" name="Google Shape;1676;p155"/>
          <p:cNvCxnSpPr/>
          <p:nvPr/>
        </p:nvCxnSpPr>
        <p:spPr>
          <a:xfrm flipH="1" rot="10800000">
            <a:off x="4772940" y="777127"/>
            <a:ext cx="111900" cy="458400"/>
          </a:xfrm>
          <a:prstGeom prst="straightConnector1">
            <a:avLst/>
          </a:prstGeom>
          <a:noFill/>
          <a:ln cap="flat" cmpd="sng" w="19050">
            <a:solidFill>
              <a:srgbClr val="B7B7B7"/>
            </a:solidFill>
            <a:prstDash val="dash"/>
            <a:round/>
            <a:headEnd len="med" w="med" type="none"/>
            <a:tailEnd len="med" w="med" type="stealth"/>
          </a:ln>
        </p:spPr>
      </p:cxnSp>
      <p:cxnSp>
        <p:nvCxnSpPr>
          <p:cNvPr id="1677" name="Google Shape;1677;p155"/>
          <p:cNvCxnSpPr/>
          <p:nvPr/>
        </p:nvCxnSpPr>
        <p:spPr>
          <a:xfrm flipH="1" rot="10800000">
            <a:off x="4907194" y="1033634"/>
            <a:ext cx="452400" cy="259200"/>
          </a:xfrm>
          <a:prstGeom prst="straightConnector1">
            <a:avLst/>
          </a:prstGeom>
          <a:noFill/>
          <a:ln cap="flat" cmpd="sng" w="19050">
            <a:solidFill>
              <a:srgbClr val="B7B7B7"/>
            </a:solidFill>
            <a:prstDash val="dash"/>
            <a:round/>
            <a:headEnd len="med" w="med" type="none"/>
            <a:tailEnd len="med" w="med" type="stealth"/>
          </a:ln>
        </p:spPr>
      </p:cxnSp>
      <p:cxnSp>
        <p:nvCxnSpPr>
          <p:cNvPr id="1678" name="Google Shape;1678;p155"/>
          <p:cNvCxnSpPr>
            <a:stCxn id="1670" idx="6"/>
          </p:cNvCxnSpPr>
          <p:nvPr/>
        </p:nvCxnSpPr>
        <p:spPr>
          <a:xfrm>
            <a:off x="4962891" y="3079477"/>
            <a:ext cx="452100" cy="106800"/>
          </a:xfrm>
          <a:prstGeom prst="straightConnector1">
            <a:avLst/>
          </a:prstGeom>
          <a:noFill/>
          <a:ln cap="flat" cmpd="sng" w="19050">
            <a:solidFill>
              <a:srgbClr val="B7B7B7"/>
            </a:solidFill>
            <a:prstDash val="dash"/>
            <a:round/>
            <a:headEnd len="med" w="med" type="none"/>
            <a:tailEnd len="med" w="med" type="stealth"/>
          </a:ln>
        </p:spPr>
      </p:cxnSp>
      <p:cxnSp>
        <p:nvCxnSpPr>
          <p:cNvPr id="1679" name="Google Shape;1679;p155"/>
          <p:cNvCxnSpPr>
            <a:stCxn id="1670" idx="5"/>
          </p:cNvCxnSpPr>
          <p:nvPr/>
        </p:nvCxnSpPr>
        <p:spPr>
          <a:xfrm>
            <a:off x="4907270" y="3206756"/>
            <a:ext cx="197100" cy="385800"/>
          </a:xfrm>
          <a:prstGeom prst="straightConnector1">
            <a:avLst/>
          </a:prstGeom>
          <a:noFill/>
          <a:ln cap="flat" cmpd="sng" w="19050">
            <a:solidFill>
              <a:srgbClr val="B7B7B7"/>
            </a:solidFill>
            <a:prstDash val="dash"/>
            <a:round/>
            <a:headEnd len="med" w="med" type="none"/>
            <a:tailEnd len="med" w="med" type="stealth"/>
          </a:ln>
        </p:spPr>
      </p:cxnSp>
      <p:sp>
        <p:nvSpPr>
          <p:cNvPr id="1680" name="Google Shape;1680;p155"/>
          <p:cNvSpPr/>
          <p:nvPr/>
        </p:nvSpPr>
        <p:spPr>
          <a:xfrm>
            <a:off x="6278951" y="2155449"/>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55"/>
          <p:cNvSpPr/>
          <p:nvPr/>
        </p:nvSpPr>
        <p:spPr>
          <a:xfrm>
            <a:off x="7272775" y="1325553"/>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55"/>
          <p:cNvSpPr/>
          <p:nvPr/>
        </p:nvSpPr>
        <p:spPr>
          <a:xfrm>
            <a:off x="7836019" y="1933407"/>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55"/>
          <p:cNvSpPr/>
          <p:nvPr/>
        </p:nvSpPr>
        <p:spPr>
          <a:xfrm>
            <a:off x="7836019" y="2548397"/>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55"/>
          <p:cNvSpPr/>
          <p:nvPr/>
        </p:nvSpPr>
        <p:spPr>
          <a:xfrm>
            <a:off x="7272775" y="2984934"/>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85" name="Google Shape;1685;p155"/>
          <p:cNvCxnSpPr>
            <a:stCxn id="1680" idx="7"/>
            <a:endCxn id="1681" idx="3"/>
          </p:cNvCxnSpPr>
          <p:nvPr/>
        </p:nvCxnSpPr>
        <p:spPr>
          <a:xfrm flipH="1" rot="10800000">
            <a:off x="6603131" y="1632770"/>
            <a:ext cx="725400" cy="575400"/>
          </a:xfrm>
          <a:prstGeom prst="straightConnector1">
            <a:avLst/>
          </a:prstGeom>
          <a:noFill/>
          <a:ln cap="flat" cmpd="sng" w="19050">
            <a:solidFill>
              <a:srgbClr val="4A86E8"/>
            </a:solidFill>
            <a:prstDash val="dash"/>
            <a:round/>
            <a:headEnd len="med" w="med" type="none"/>
            <a:tailEnd len="med" w="med" type="none"/>
          </a:ln>
        </p:spPr>
      </p:cxnSp>
      <p:cxnSp>
        <p:nvCxnSpPr>
          <p:cNvPr id="1686" name="Google Shape;1686;p155"/>
          <p:cNvCxnSpPr>
            <a:stCxn id="1680" idx="5"/>
            <a:endCxn id="1684" idx="1"/>
          </p:cNvCxnSpPr>
          <p:nvPr/>
        </p:nvCxnSpPr>
        <p:spPr>
          <a:xfrm>
            <a:off x="6603131" y="2462729"/>
            <a:ext cx="725400" cy="574800"/>
          </a:xfrm>
          <a:prstGeom prst="straightConnector1">
            <a:avLst/>
          </a:prstGeom>
          <a:noFill/>
          <a:ln cap="flat" cmpd="sng" w="19050">
            <a:solidFill>
              <a:srgbClr val="4A86E8"/>
            </a:solidFill>
            <a:prstDash val="dash"/>
            <a:round/>
            <a:headEnd len="med" w="med" type="none"/>
            <a:tailEnd len="med" w="med" type="none"/>
          </a:ln>
        </p:spPr>
      </p:cxnSp>
      <p:cxnSp>
        <p:nvCxnSpPr>
          <p:cNvPr id="1687" name="Google Shape;1687;p155"/>
          <p:cNvCxnSpPr>
            <a:stCxn id="1680" idx="6"/>
            <a:endCxn id="1682" idx="2"/>
          </p:cNvCxnSpPr>
          <p:nvPr/>
        </p:nvCxnSpPr>
        <p:spPr>
          <a:xfrm flipH="1" rot="10800000">
            <a:off x="6658751" y="2113449"/>
            <a:ext cx="1177200" cy="222000"/>
          </a:xfrm>
          <a:prstGeom prst="straightConnector1">
            <a:avLst/>
          </a:prstGeom>
          <a:noFill/>
          <a:ln cap="flat" cmpd="sng" w="19050">
            <a:solidFill>
              <a:srgbClr val="4A86E8"/>
            </a:solidFill>
            <a:prstDash val="dash"/>
            <a:round/>
            <a:headEnd len="med" w="med" type="none"/>
            <a:tailEnd len="med" w="med" type="none"/>
          </a:ln>
        </p:spPr>
      </p:cxnSp>
      <p:cxnSp>
        <p:nvCxnSpPr>
          <p:cNvPr id="1688" name="Google Shape;1688;p155"/>
          <p:cNvCxnSpPr>
            <a:stCxn id="1680" idx="6"/>
            <a:endCxn id="1683" idx="2"/>
          </p:cNvCxnSpPr>
          <p:nvPr/>
        </p:nvCxnSpPr>
        <p:spPr>
          <a:xfrm>
            <a:off x="6658751" y="2335449"/>
            <a:ext cx="1177200" cy="393000"/>
          </a:xfrm>
          <a:prstGeom prst="straightConnector1">
            <a:avLst/>
          </a:prstGeom>
          <a:noFill/>
          <a:ln cap="flat" cmpd="sng" w="19050">
            <a:solidFill>
              <a:srgbClr val="4A86E8"/>
            </a:solidFill>
            <a:prstDash val="dash"/>
            <a:round/>
            <a:headEnd len="med" w="med" type="none"/>
            <a:tailEnd len="med" w="med" type="none"/>
          </a:ln>
        </p:spPr>
      </p:cxnSp>
      <p:cxnSp>
        <p:nvCxnSpPr>
          <p:cNvPr id="1689" name="Google Shape;1689;p155"/>
          <p:cNvCxnSpPr/>
          <p:nvPr/>
        </p:nvCxnSpPr>
        <p:spPr>
          <a:xfrm flipH="1" rot="10800000">
            <a:off x="7462624" y="862584"/>
            <a:ext cx="111900" cy="458400"/>
          </a:xfrm>
          <a:prstGeom prst="straightConnector1">
            <a:avLst/>
          </a:prstGeom>
          <a:noFill/>
          <a:ln cap="flat" cmpd="sng" w="19050">
            <a:solidFill>
              <a:srgbClr val="B7B7B7"/>
            </a:solidFill>
            <a:prstDash val="dash"/>
            <a:round/>
            <a:headEnd len="med" w="med" type="none"/>
            <a:tailEnd len="med" w="med" type="stealth"/>
          </a:ln>
        </p:spPr>
      </p:cxnSp>
      <p:cxnSp>
        <p:nvCxnSpPr>
          <p:cNvPr id="1690" name="Google Shape;1690;p155"/>
          <p:cNvCxnSpPr/>
          <p:nvPr/>
        </p:nvCxnSpPr>
        <p:spPr>
          <a:xfrm flipH="1" rot="10800000">
            <a:off x="7596878" y="1119092"/>
            <a:ext cx="452400" cy="259200"/>
          </a:xfrm>
          <a:prstGeom prst="straightConnector1">
            <a:avLst/>
          </a:prstGeom>
          <a:noFill/>
          <a:ln cap="flat" cmpd="sng" w="19050">
            <a:solidFill>
              <a:srgbClr val="B7B7B7"/>
            </a:solidFill>
            <a:prstDash val="dash"/>
            <a:round/>
            <a:headEnd len="med" w="med" type="none"/>
            <a:tailEnd len="med" w="med" type="stealth"/>
          </a:ln>
        </p:spPr>
      </p:cxnSp>
      <p:cxnSp>
        <p:nvCxnSpPr>
          <p:cNvPr id="1691" name="Google Shape;1691;p155"/>
          <p:cNvCxnSpPr>
            <a:stCxn id="1684" idx="6"/>
          </p:cNvCxnSpPr>
          <p:nvPr/>
        </p:nvCxnSpPr>
        <p:spPr>
          <a:xfrm>
            <a:off x="7652575" y="3164934"/>
            <a:ext cx="452100" cy="106800"/>
          </a:xfrm>
          <a:prstGeom prst="straightConnector1">
            <a:avLst/>
          </a:prstGeom>
          <a:noFill/>
          <a:ln cap="flat" cmpd="sng" w="19050">
            <a:solidFill>
              <a:srgbClr val="B7B7B7"/>
            </a:solidFill>
            <a:prstDash val="dash"/>
            <a:round/>
            <a:headEnd len="med" w="med" type="none"/>
            <a:tailEnd len="med" w="med" type="stealth"/>
          </a:ln>
        </p:spPr>
      </p:cxnSp>
      <p:cxnSp>
        <p:nvCxnSpPr>
          <p:cNvPr id="1692" name="Google Shape;1692;p155"/>
          <p:cNvCxnSpPr>
            <a:stCxn id="1684" idx="5"/>
          </p:cNvCxnSpPr>
          <p:nvPr/>
        </p:nvCxnSpPr>
        <p:spPr>
          <a:xfrm>
            <a:off x="7596955" y="3292214"/>
            <a:ext cx="197100" cy="385800"/>
          </a:xfrm>
          <a:prstGeom prst="straightConnector1">
            <a:avLst/>
          </a:prstGeom>
          <a:noFill/>
          <a:ln cap="flat" cmpd="sng" w="19050">
            <a:solidFill>
              <a:srgbClr val="B7B7B7"/>
            </a:solidFill>
            <a:prstDash val="dash"/>
            <a:round/>
            <a:headEnd len="med" w="med" type="none"/>
            <a:tailEnd len="med" w="med" type="stealth"/>
          </a:ln>
        </p:spPr>
      </p:cxnSp>
      <p:cxnSp>
        <p:nvCxnSpPr>
          <p:cNvPr id="1693" name="Google Shape;1693;p155"/>
          <p:cNvCxnSpPr/>
          <p:nvPr/>
        </p:nvCxnSpPr>
        <p:spPr>
          <a:xfrm>
            <a:off x="249150" y="4392713"/>
            <a:ext cx="8645700" cy="7500"/>
          </a:xfrm>
          <a:prstGeom prst="straightConnector1">
            <a:avLst/>
          </a:prstGeom>
          <a:noFill/>
          <a:ln cap="flat" cmpd="sng" w="38100">
            <a:solidFill>
              <a:srgbClr val="000000"/>
            </a:solidFill>
            <a:prstDash val="solid"/>
            <a:round/>
            <a:headEnd len="med" w="med" type="stealth"/>
            <a:tailEnd len="med" w="med" type="triangle"/>
          </a:ln>
        </p:spPr>
      </p:cxnSp>
      <p:sp>
        <p:nvSpPr>
          <p:cNvPr id="1694" name="Google Shape;1694;p155"/>
          <p:cNvSpPr/>
          <p:nvPr/>
        </p:nvSpPr>
        <p:spPr>
          <a:xfrm>
            <a:off x="532000" y="4466825"/>
            <a:ext cx="343500" cy="3510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5" name="Google Shape;1695;p155"/>
          <p:cNvCxnSpPr>
            <a:stCxn id="1694" idx="6"/>
            <a:endCxn id="1696" idx="2"/>
          </p:cNvCxnSpPr>
          <p:nvPr/>
        </p:nvCxnSpPr>
        <p:spPr>
          <a:xfrm>
            <a:off x="875500" y="4642325"/>
            <a:ext cx="659100" cy="0"/>
          </a:xfrm>
          <a:prstGeom prst="straightConnector1">
            <a:avLst/>
          </a:prstGeom>
          <a:noFill/>
          <a:ln cap="flat" cmpd="sng" w="76200">
            <a:solidFill>
              <a:schemeClr val="dk2"/>
            </a:solidFill>
            <a:prstDash val="solid"/>
            <a:round/>
            <a:headEnd len="med" w="med" type="none"/>
            <a:tailEnd len="med" w="med" type="none"/>
          </a:ln>
        </p:spPr>
      </p:cxnSp>
      <p:sp>
        <p:nvSpPr>
          <p:cNvPr id="1696" name="Google Shape;1696;p155"/>
          <p:cNvSpPr/>
          <p:nvPr/>
        </p:nvSpPr>
        <p:spPr>
          <a:xfrm>
            <a:off x="1534675" y="4466825"/>
            <a:ext cx="343500" cy="351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55"/>
          <p:cNvSpPr txBox="1"/>
          <p:nvPr/>
        </p:nvSpPr>
        <p:spPr>
          <a:xfrm>
            <a:off x="791025" y="4844250"/>
            <a:ext cx="829800" cy="25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High</a:t>
            </a:r>
            <a:endParaRPr sz="1200">
              <a:latin typeface="Open Sans"/>
              <a:ea typeface="Open Sans"/>
              <a:cs typeface="Open Sans"/>
              <a:sym typeface="Open Sans"/>
            </a:endParaRPr>
          </a:p>
        </p:txBody>
      </p:sp>
      <p:sp>
        <p:nvSpPr>
          <p:cNvPr id="1698" name="Google Shape;1698;p155"/>
          <p:cNvSpPr/>
          <p:nvPr/>
        </p:nvSpPr>
        <p:spPr>
          <a:xfrm>
            <a:off x="7220475" y="4466825"/>
            <a:ext cx="343500" cy="3510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9" name="Google Shape;1699;p155"/>
          <p:cNvCxnSpPr>
            <a:stCxn id="1698" idx="6"/>
            <a:endCxn id="1700" idx="2"/>
          </p:cNvCxnSpPr>
          <p:nvPr/>
        </p:nvCxnSpPr>
        <p:spPr>
          <a:xfrm>
            <a:off x="7563975" y="4642325"/>
            <a:ext cx="659100" cy="0"/>
          </a:xfrm>
          <a:prstGeom prst="straightConnector1">
            <a:avLst/>
          </a:prstGeom>
          <a:noFill/>
          <a:ln cap="flat" cmpd="sng" w="19050">
            <a:solidFill>
              <a:schemeClr val="dk2"/>
            </a:solidFill>
            <a:prstDash val="dash"/>
            <a:round/>
            <a:headEnd len="med" w="med" type="none"/>
            <a:tailEnd len="med" w="med" type="none"/>
          </a:ln>
        </p:spPr>
      </p:cxnSp>
      <p:sp>
        <p:nvSpPr>
          <p:cNvPr id="1700" name="Google Shape;1700;p155"/>
          <p:cNvSpPr/>
          <p:nvPr/>
        </p:nvSpPr>
        <p:spPr>
          <a:xfrm>
            <a:off x="8223150" y="4466825"/>
            <a:ext cx="343500" cy="351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55"/>
          <p:cNvSpPr txBox="1"/>
          <p:nvPr/>
        </p:nvSpPr>
        <p:spPr>
          <a:xfrm>
            <a:off x="7479500" y="4844250"/>
            <a:ext cx="829800" cy="25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Low</a:t>
            </a:r>
            <a:endParaRPr sz="1200">
              <a:latin typeface="Open Sans"/>
              <a:ea typeface="Open Sans"/>
              <a:cs typeface="Open Sans"/>
              <a:sym typeface="Open Sans"/>
            </a:endParaRPr>
          </a:p>
        </p:txBody>
      </p:sp>
      <p:cxnSp>
        <p:nvCxnSpPr>
          <p:cNvPr id="1702" name="Google Shape;1702;p155"/>
          <p:cNvCxnSpPr/>
          <p:nvPr/>
        </p:nvCxnSpPr>
        <p:spPr>
          <a:xfrm>
            <a:off x="362625" y="581625"/>
            <a:ext cx="8622000" cy="14700"/>
          </a:xfrm>
          <a:prstGeom prst="straightConnector1">
            <a:avLst/>
          </a:prstGeom>
          <a:noFill/>
          <a:ln cap="flat" cmpd="sng" w="38100">
            <a:solidFill>
              <a:srgbClr val="000000"/>
            </a:solidFill>
            <a:prstDash val="solid"/>
            <a:round/>
            <a:headEnd len="med" w="med" type="stealth"/>
            <a:tailEnd len="med" w="med" type="triangle"/>
          </a:ln>
        </p:spPr>
      </p:cxnSp>
      <p:sp>
        <p:nvSpPr>
          <p:cNvPr id="1703" name="Google Shape;1703;p155"/>
          <p:cNvSpPr txBox="1"/>
          <p:nvPr/>
        </p:nvSpPr>
        <p:spPr>
          <a:xfrm>
            <a:off x="2648675" y="4418775"/>
            <a:ext cx="3801300" cy="35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Channel Bandwidth</a:t>
            </a:r>
            <a:endParaRPr sz="1800">
              <a:latin typeface="Open Sans"/>
              <a:ea typeface="Open Sans"/>
              <a:cs typeface="Open Sans"/>
              <a:sym typeface="Open Sans"/>
            </a:endParaRPr>
          </a:p>
        </p:txBody>
      </p:sp>
      <p:sp>
        <p:nvSpPr>
          <p:cNvPr id="1704" name="Google Shape;1704;p155"/>
          <p:cNvSpPr txBox="1"/>
          <p:nvPr/>
        </p:nvSpPr>
        <p:spPr>
          <a:xfrm>
            <a:off x="791013" y="298025"/>
            <a:ext cx="829800" cy="25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High</a:t>
            </a:r>
            <a:endParaRPr sz="1200">
              <a:latin typeface="Open Sans"/>
              <a:ea typeface="Open Sans"/>
              <a:cs typeface="Open Sans"/>
              <a:sym typeface="Open Sans"/>
            </a:endParaRPr>
          </a:p>
        </p:txBody>
      </p:sp>
      <p:sp>
        <p:nvSpPr>
          <p:cNvPr id="1705" name="Google Shape;1705;p155"/>
          <p:cNvSpPr txBox="1"/>
          <p:nvPr/>
        </p:nvSpPr>
        <p:spPr>
          <a:xfrm>
            <a:off x="7479488" y="305100"/>
            <a:ext cx="829800" cy="25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Low</a:t>
            </a:r>
            <a:endParaRPr sz="1200">
              <a:latin typeface="Open Sans"/>
              <a:ea typeface="Open Sans"/>
              <a:cs typeface="Open Sans"/>
              <a:sym typeface="Open Sans"/>
            </a:endParaRPr>
          </a:p>
        </p:txBody>
      </p:sp>
      <p:sp>
        <p:nvSpPr>
          <p:cNvPr id="1706" name="Google Shape;1706;p155"/>
          <p:cNvSpPr txBox="1"/>
          <p:nvPr/>
        </p:nvSpPr>
        <p:spPr>
          <a:xfrm>
            <a:off x="2561900" y="197125"/>
            <a:ext cx="3801300" cy="35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pen Sans"/>
                <a:ea typeface="Open Sans"/>
                <a:cs typeface="Open Sans"/>
                <a:sym typeface="Open Sans"/>
              </a:rPr>
              <a:t>Network Clustering</a:t>
            </a:r>
            <a:endParaRPr sz="1800">
              <a:latin typeface="Open Sans"/>
              <a:ea typeface="Open Sans"/>
              <a:cs typeface="Open Sans"/>
              <a:sym typeface="Open Sans"/>
            </a:endParaRPr>
          </a:p>
        </p:txBody>
      </p:sp>
      <p:sp>
        <p:nvSpPr>
          <p:cNvPr id="1707" name="Google Shape;1707;p155"/>
          <p:cNvSpPr txBox="1"/>
          <p:nvPr/>
        </p:nvSpPr>
        <p:spPr>
          <a:xfrm>
            <a:off x="957525" y="3640225"/>
            <a:ext cx="21954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Clustered Network of Strong, High-Bandwidth Ties</a:t>
            </a:r>
            <a:endParaRPr>
              <a:latin typeface="Open Sans"/>
              <a:ea typeface="Open Sans"/>
              <a:cs typeface="Open Sans"/>
              <a:sym typeface="Open Sans"/>
            </a:endParaRPr>
          </a:p>
        </p:txBody>
      </p:sp>
      <p:sp>
        <p:nvSpPr>
          <p:cNvPr id="1708" name="Google Shape;1708;p155"/>
          <p:cNvSpPr txBox="1"/>
          <p:nvPr/>
        </p:nvSpPr>
        <p:spPr>
          <a:xfrm>
            <a:off x="6393050" y="3693263"/>
            <a:ext cx="2195400" cy="6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Unclustered Network of Weak, Low-Bandwidth Ties</a:t>
            </a:r>
            <a:endParaRPr>
              <a:latin typeface="Open Sans"/>
              <a:ea typeface="Open Sans"/>
              <a:cs typeface="Open Sans"/>
              <a:sym typeface="Open San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1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714" name="Google Shape;1714;p15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When taking into account temporal flow:</a:t>
            </a:r>
            <a:endParaRPr/>
          </a:p>
          <a:p>
            <a:pPr indent="-317500" lvl="1" marL="914400" rtl="0" algn="l">
              <a:spcBef>
                <a:spcPts val="0"/>
              </a:spcBef>
              <a:spcAft>
                <a:spcPts val="0"/>
              </a:spcAft>
              <a:buSzPts val="1400"/>
              <a:buChar char="○"/>
            </a:pPr>
            <a:r>
              <a:rPr lang="en"/>
              <a:t>“Weak” ties: Information transmission at slower rates (less frequency)</a:t>
            </a:r>
            <a:endParaRPr/>
          </a:p>
          <a:p>
            <a:pPr indent="-317500" lvl="1" marL="914400" rtl="0" algn="l">
              <a:spcBef>
                <a:spcPts val="0"/>
              </a:spcBef>
              <a:spcAft>
                <a:spcPts val="0"/>
              </a:spcAft>
              <a:buSzPts val="1400"/>
              <a:buChar char="○"/>
            </a:pPr>
            <a:r>
              <a:rPr lang="en"/>
              <a:t>“Strong” ties: Information transmission at higher rates (more frequency)</a:t>
            </a:r>
            <a:endParaRPr/>
          </a:p>
          <a:p>
            <a:pPr indent="-342900" lvl="0" marL="457200" rtl="0" algn="l">
              <a:spcBef>
                <a:spcPts val="0"/>
              </a:spcBef>
              <a:spcAft>
                <a:spcPts val="0"/>
              </a:spcAft>
              <a:buSzPts val="1800"/>
              <a:buChar char="●"/>
            </a:pPr>
            <a:r>
              <a:rPr lang="en"/>
              <a:t>When seeking information via social networks</a:t>
            </a:r>
            <a:endParaRPr/>
          </a:p>
          <a:p>
            <a:pPr indent="-317500" lvl="1" marL="914400" rtl="0" algn="l">
              <a:spcBef>
                <a:spcPts val="0"/>
              </a:spcBef>
              <a:spcAft>
                <a:spcPts val="0"/>
              </a:spcAft>
              <a:buSzPts val="1400"/>
              <a:buChar char="○"/>
            </a:pPr>
            <a:r>
              <a:rPr lang="en"/>
              <a:t>There is a tradeoff between novelty/diversity of information and tie “bandwidth”</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1600"/>
              </a:spcBef>
              <a:spcAft>
                <a:spcPts val="1600"/>
              </a:spcAft>
              <a:buNone/>
            </a:pPr>
            <a:r>
              <a:t/>
            </a:r>
            <a:endParaRPr/>
          </a:p>
        </p:txBody>
      </p:sp>
      <p:sp>
        <p:nvSpPr>
          <p:cNvPr id="1715" name="Google Shape;1715;p156"/>
          <p:cNvSpPr/>
          <p:nvPr/>
        </p:nvSpPr>
        <p:spPr>
          <a:xfrm>
            <a:off x="918850" y="3903079"/>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56"/>
          <p:cNvSpPr/>
          <p:nvPr/>
        </p:nvSpPr>
        <p:spPr>
          <a:xfrm>
            <a:off x="1622542" y="331681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56"/>
          <p:cNvSpPr/>
          <p:nvPr/>
        </p:nvSpPr>
        <p:spPr>
          <a:xfrm>
            <a:off x="2021356" y="374622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56"/>
          <p:cNvSpPr/>
          <p:nvPr/>
        </p:nvSpPr>
        <p:spPr>
          <a:xfrm>
            <a:off x="2021356" y="4180668"/>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56"/>
          <p:cNvSpPr/>
          <p:nvPr/>
        </p:nvSpPr>
        <p:spPr>
          <a:xfrm>
            <a:off x="1622542" y="4489051"/>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20" name="Google Shape;1720;p156"/>
          <p:cNvCxnSpPr>
            <a:stCxn id="1715" idx="7"/>
            <a:endCxn id="1716" idx="3"/>
          </p:cNvCxnSpPr>
          <p:nvPr/>
        </p:nvCxnSpPr>
        <p:spPr>
          <a:xfrm flipH="1" rot="10800000">
            <a:off x="1148541" y="3533791"/>
            <a:ext cx="513300" cy="406500"/>
          </a:xfrm>
          <a:prstGeom prst="straightConnector1">
            <a:avLst/>
          </a:prstGeom>
          <a:noFill/>
          <a:ln cap="flat" cmpd="sng" w="76200">
            <a:solidFill>
              <a:srgbClr val="4A86E8"/>
            </a:solidFill>
            <a:prstDash val="solid"/>
            <a:round/>
            <a:headEnd len="med" w="med" type="none"/>
            <a:tailEnd len="med" w="med" type="none"/>
          </a:ln>
        </p:spPr>
      </p:cxnSp>
      <p:cxnSp>
        <p:nvCxnSpPr>
          <p:cNvPr id="1721" name="Google Shape;1721;p156"/>
          <p:cNvCxnSpPr>
            <a:stCxn id="1715" idx="5"/>
            <a:endCxn id="1719" idx="1"/>
          </p:cNvCxnSpPr>
          <p:nvPr/>
        </p:nvCxnSpPr>
        <p:spPr>
          <a:xfrm>
            <a:off x="1148541" y="4119967"/>
            <a:ext cx="513300" cy="406200"/>
          </a:xfrm>
          <a:prstGeom prst="straightConnector1">
            <a:avLst/>
          </a:prstGeom>
          <a:noFill/>
          <a:ln cap="flat" cmpd="sng" w="76200">
            <a:solidFill>
              <a:srgbClr val="4A86E8"/>
            </a:solidFill>
            <a:prstDash val="solid"/>
            <a:round/>
            <a:headEnd len="med" w="med" type="none"/>
            <a:tailEnd len="med" w="med" type="none"/>
          </a:ln>
        </p:spPr>
      </p:cxnSp>
      <p:cxnSp>
        <p:nvCxnSpPr>
          <p:cNvPr id="1722" name="Google Shape;1722;p156"/>
          <p:cNvCxnSpPr>
            <a:stCxn id="1719" idx="7"/>
            <a:endCxn id="1718" idx="3"/>
          </p:cNvCxnSpPr>
          <p:nvPr/>
        </p:nvCxnSpPr>
        <p:spPr>
          <a:xfrm flipH="1" rot="10800000">
            <a:off x="1852233" y="4397563"/>
            <a:ext cx="208500" cy="128700"/>
          </a:xfrm>
          <a:prstGeom prst="straightConnector1">
            <a:avLst/>
          </a:prstGeom>
          <a:noFill/>
          <a:ln cap="flat" cmpd="sng" w="76200">
            <a:solidFill>
              <a:schemeClr val="dk2"/>
            </a:solidFill>
            <a:prstDash val="solid"/>
            <a:round/>
            <a:headEnd len="med" w="med" type="none"/>
            <a:tailEnd len="med" w="med" type="none"/>
          </a:ln>
        </p:spPr>
      </p:cxnSp>
      <p:cxnSp>
        <p:nvCxnSpPr>
          <p:cNvPr id="1723" name="Google Shape;1723;p156"/>
          <p:cNvCxnSpPr>
            <a:stCxn id="1718" idx="0"/>
            <a:endCxn id="1717" idx="4"/>
          </p:cNvCxnSpPr>
          <p:nvPr/>
        </p:nvCxnSpPr>
        <p:spPr>
          <a:xfrm rot="10800000">
            <a:off x="2155906" y="4000368"/>
            <a:ext cx="0" cy="180300"/>
          </a:xfrm>
          <a:prstGeom prst="straightConnector1">
            <a:avLst/>
          </a:prstGeom>
          <a:noFill/>
          <a:ln cap="flat" cmpd="sng" w="76200">
            <a:solidFill>
              <a:schemeClr val="dk2"/>
            </a:solidFill>
            <a:prstDash val="solid"/>
            <a:round/>
            <a:headEnd len="med" w="med" type="none"/>
            <a:tailEnd len="med" w="med" type="none"/>
          </a:ln>
        </p:spPr>
      </p:cxnSp>
      <p:cxnSp>
        <p:nvCxnSpPr>
          <p:cNvPr id="1724" name="Google Shape;1724;p156"/>
          <p:cNvCxnSpPr>
            <a:stCxn id="1717" idx="0"/>
            <a:endCxn id="1716" idx="5"/>
          </p:cNvCxnSpPr>
          <p:nvPr/>
        </p:nvCxnSpPr>
        <p:spPr>
          <a:xfrm rot="10800000">
            <a:off x="1852306" y="3533822"/>
            <a:ext cx="303600" cy="212400"/>
          </a:xfrm>
          <a:prstGeom prst="straightConnector1">
            <a:avLst/>
          </a:prstGeom>
          <a:noFill/>
          <a:ln cap="flat" cmpd="sng" w="76200">
            <a:solidFill>
              <a:schemeClr val="dk2"/>
            </a:solidFill>
            <a:prstDash val="solid"/>
            <a:round/>
            <a:headEnd len="med" w="med" type="none"/>
            <a:tailEnd len="med" w="med" type="none"/>
          </a:ln>
        </p:spPr>
      </p:cxnSp>
      <p:cxnSp>
        <p:nvCxnSpPr>
          <p:cNvPr id="1725" name="Google Shape;1725;p156"/>
          <p:cNvCxnSpPr>
            <a:stCxn id="1719" idx="0"/>
            <a:endCxn id="1716" idx="4"/>
          </p:cNvCxnSpPr>
          <p:nvPr/>
        </p:nvCxnSpPr>
        <p:spPr>
          <a:xfrm rot="10800000">
            <a:off x="1757092" y="3571051"/>
            <a:ext cx="0" cy="918000"/>
          </a:xfrm>
          <a:prstGeom prst="straightConnector1">
            <a:avLst/>
          </a:prstGeom>
          <a:noFill/>
          <a:ln cap="flat" cmpd="sng" w="76200">
            <a:solidFill>
              <a:schemeClr val="dk2"/>
            </a:solidFill>
            <a:prstDash val="solid"/>
            <a:round/>
            <a:headEnd len="med" w="med" type="none"/>
            <a:tailEnd len="med" w="med" type="none"/>
          </a:ln>
        </p:spPr>
      </p:cxnSp>
      <p:cxnSp>
        <p:nvCxnSpPr>
          <p:cNvPr id="1726" name="Google Shape;1726;p156"/>
          <p:cNvCxnSpPr>
            <a:stCxn id="1719" idx="0"/>
            <a:endCxn id="1717" idx="3"/>
          </p:cNvCxnSpPr>
          <p:nvPr/>
        </p:nvCxnSpPr>
        <p:spPr>
          <a:xfrm flipH="1" rot="10800000">
            <a:off x="1757092" y="3963151"/>
            <a:ext cx="303600" cy="525900"/>
          </a:xfrm>
          <a:prstGeom prst="straightConnector1">
            <a:avLst/>
          </a:prstGeom>
          <a:noFill/>
          <a:ln cap="flat" cmpd="sng" w="76200">
            <a:solidFill>
              <a:schemeClr val="dk2"/>
            </a:solidFill>
            <a:prstDash val="solid"/>
            <a:round/>
            <a:headEnd len="med" w="med" type="none"/>
            <a:tailEnd len="med" w="med" type="none"/>
          </a:ln>
        </p:spPr>
      </p:cxnSp>
      <p:cxnSp>
        <p:nvCxnSpPr>
          <p:cNvPr id="1727" name="Google Shape;1727;p156"/>
          <p:cNvCxnSpPr>
            <a:stCxn id="1718" idx="1"/>
            <a:endCxn id="1716" idx="4"/>
          </p:cNvCxnSpPr>
          <p:nvPr/>
        </p:nvCxnSpPr>
        <p:spPr>
          <a:xfrm rot="10800000">
            <a:off x="1757164" y="3570780"/>
            <a:ext cx="303600" cy="647100"/>
          </a:xfrm>
          <a:prstGeom prst="straightConnector1">
            <a:avLst/>
          </a:prstGeom>
          <a:noFill/>
          <a:ln cap="flat" cmpd="sng" w="76200">
            <a:solidFill>
              <a:schemeClr val="dk2"/>
            </a:solidFill>
            <a:prstDash val="solid"/>
            <a:round/>
            <a:headEnd len="med" w="med" type="none"/>
            <a:tailEnd len="med" w="med" type="none"/>
          </a:ln>
        </p:spPr>
      </p:cxnSp>
      <p:cxnSp>
        <p:nvCxnSpPr>
          <p:cNvPr id="1728" name="Google Shape;1728;p156"/>
          <p:cNvCxnSpPr>
            <a:stCxn id="1715" idx="6"/>
            <a:endCxn id="1717" idx="2"/>
          </p:cNvCxnSpPr>
          <p:nvPr/>
        </p:nvCxnSpPr>
        <p:spPr>
          <a:xfrm flipH="1" rot="10800000">
            <a:off x="1187950" y="3873229"/>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729" name="Google Shape;1729;p156"/>
          <p:cNvCxnSpPr>
            <a:stCxn id="1715" idx="6"/>
            <a:endCxn id="1718" idx="2"/>
          </p:cNvCxnSpPr>
          <p:nvPr/>
        </p:nvCxnSpPr>
        <p:spPr>
          <a:xfrm>
            <a:off x="1187950" y="4030129"/>
            <a:ext cx="833400" cy="277500"/>
          </a:xfrm>
          <a:prstGeom prst="straightConnector1">
            <a:avLst/>
          </a:prstGeom>
          <a:noFill/>
          <a:ln cap="flat" cmpd="sng" w="76200">
            <a:solidFill>
              <a:srgbClr val="4A86E8"/>
            </a:solidFill>
            <a:prstDash val="solid"/>
            <a:round/>
            <a:headEnd len="med" w="med" type="none"/>
            <a:tailEnd len="med" w="med" type="none"/>
          </a:ln>
        </p:spPr>
      </p:cxnSp>
      <p:sp>
        <p:nvSpPr>
          <p:cNvPr id="1730" name="Google Shape;1730;p156"/>
          <p:cNvSpPr/>
          <p:nvPr/>
        </p:nvSpPr>
        <p:spPr>
          <a:xfrm>
            <a:off x="3941829" y="3792172"/>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56"/>
          <p:cNvSpPr/>
          <p:nvPr/>
        </p:nvSpPr>
        <p:spPr>
          <a:xfrm>
            <a:off x="4645521" y="320604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56"/>
          <p:cNvSpPr/>
          <p:nvPr/>
        </p:nvSpPr>
        <p:spPr>
          <a:xfrm>
            <a:off x="5044335" y="363535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56"/>
          <p:cNvSpPr/>
          <p:nvPr/>
        </p:nvSpPr>
        <p:spPr>
          <a:xfrm>
            <a:off x="5044335" y="406969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56"/>
          <p:cNvSpPr/>
          <p:nvPr/>
        </p:nvSpPr>
        <p:spPr>
          <a:xfrm>
            <a:off x="4645521" y="437800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35" name="Google Shape;1735;p156"/>
          <p:cNvCxnSpPr>
            <a:stCxn id="1730" idx="7"/>
            <a:endCxn id="1731" idx="3"/>
          </p:cNvCxnSpPr>
          <p:nvPr/>
        </p:nvCxnSpPr>
        <p:spPr>
          <a:xfrm flipH="1" rot="10800000">
            <a:off x="4171520" y="3422884"/>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736" name="Google Shape;1736;p156"/>
          <p:cNvCxnSpPr>
            <a:stCxn id="1730" idx="5"/>
            <a:endCxn id="1734" idx="1"/>
          </p:cNvCxnSpPr>
          <p:nvPr/>
        </p:nvCxnSpPr>
        <p:spPr>
          <a:xfrm>
            <a:off x="4171520" y="4009060"/>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737" name="Google Shape;1737;p156"/>
          <p:cNvCxnSpPr>
            <a:stCxn id="1733" idx="0"/>
            <a:endCxn id="1732" idx="4"/>
          </p:cNvCxnSpPr>
          <p:nvPr/>
        </p:nvCxnSpPr>
        <p:spPr>
          <a:xfrm rot="10800000">
            <a:off x="5178885" y="3889397"/>
            <a:ext cx="0" cy="180300"/>
          </a:xfrm>
          <a:prstGeom prst="straightConnector1">
            <a:avLst/>
          </a:prstGeom>
          <a:noFill/>
          <a:ln cap="flat" cmpd="sng" w="76200">
            <a:solidFill>
              <a:srgbClr val="B7B7B7"/>
            </a:solidFill>
            <a:prstDash val="solid"/>
            <a:round/>
            <a:headEnd len="med" w="med" type="none"/>
            <a:tailEnd len="med" w="med" type="none"/>
          </a:ln>
        </p:spPr>
      </p:cxnSp>
      <p:cxnSp>
        <p:nvCxnSpPr>
          <p:cNvPr id="1738" name="Google Shape;1738;p156"/>
          <p:cNvCxnSpPr>
            <a:stCxn id="1730" idx="6"/>
            <a:endCxn id="1732" idx="2"/>
          </p:cNvCxnSpPr>
          <p:nvPr/>
        </p:nvCxnSpPr>
        <p:spPr>
          <a:xfrm flipH="1" rot="10800000">
            <a:off x="4210929" y="3762322"/>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739" name="Google Shape;1739;p156"/>
          <p:cNvCxnSpPr>
            <a:stCxn id="1730" idx="6"/>
            <a:endCxn id="1733" idx="2"/>
          </p:cNvCxnSpPr>
          <p:nvPr/>
        </p:nvCxnSpPr>
        <p:spPr>
          <a:xfrm>
            <a:off x="4210929" y="3919222"/>
            <a:ext cx="833400" cy="277500"/>
          </a:xfrm>
          <a:prstGeom prst="straightConnector1">
            <a:avLst/>
          </a:prstGeom>
          <a:noFill/>
          <a:ln cap="flat" cmpd="sng" w="76200">
            <a:solidFill>
              <a:srgbClr val="4A86E8"/>
            </a:solidFill>
            <a:prstDash val="solid"/>
            <a:round/>
            <a:headEnd len="med" w="med" type="none"/>
            <a:tailEnd len="med" w="med" type="none"/>
          </a:ln>
        </p:spPr>
      </p:cxnSp>
      <p:cxnSp>
        <p:nvCxnSpPr>
          <p:cNvPr id="1740" name="Google Shape;1740;p156"/>
          <p:cNvCxnSpPr/>
          <p:nvPr/>
        </p:nvCxnSpPr>
        <p:spPr>
          <a:xfrm flipH="1" rot="10800000">
            <a:off x="4779947" y="2878820"/>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741" name="Google Shape;1741;p156"/>
          <p:cNvCxnSpPr/>
          <p:nvPr/>
        </p:nvCxnSpPr>
        <p:spPr>
          <a:xfrm flipH="1" rot="10800000">
            <a:off x="4875007" y="3060294"/>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742" name="Google Shape;1742;p156"/>
          <p:cNvCxnSpPr>
            <a:stCxn id="1734" idx="6"/>
          </p:cNvCxnSpPr>
          <p:nvPr/>
        </p:nvCxnSpPr>
        <p:spPr>
          <a:xfrm>
            <a:off x="4914621" y="4505057"/>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743" name="Google Shape;1743;p156"/>
          <p:cNvCxnSpPr>
            <a:stCxn id="1734" idx="5"/>
          </p:cNvCxnSpPr>
          <p:nvPr/>
        </p:nvCxnSpPr>
        <p:spPr>
          <a:xfrm>
            <a:off x="4875213" y="4594895"/>
            <a:ext cx="139500" cy="272700"/>
          </a:xfrm>
          <a:prstGeom prst="straightConnector1">
            <a:avLst/>
          </a:prstGeom>
          <a:noFill/>
          <a:ln cap="flat" cmpd="sng" w="19050">
            <a:solidFill>
              <a:srgbClr val="B7B7B7"/>
            </a:solidFill>
            <a:prstDash val="dash"/>
            <a:round/>
            <a:headEnd len="med" w="med" type="none"/>
            <a:tailEnd len="med" w="med" type="stealth"/>
          </a:ln>
        </p:spPr>
      </p:cxnSp>
      <p:sp>
        <p:nvSpPr>
          <p:cNvPr id="1744" name="Google Shape;1744;p156"/>
          <p:cNvSpPr/>
          <p:nvPr/>
        </p:nvSpPr>
        <p:spPr>
          <a:xfrm>
            <a:off x="6853539" y="3838130"/>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56"/>
          <p:cNvSpPr/>
          <p:nvPr/>
        </p:nvSpPr>
        <p:spPr>
          <a:xfrm>
            <a:off x="7557231" y="325200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156"/>
          <p:cNvSpPr/>
          <p:nvPr/>
        </p:nvSpPr>
        <p:spPr>
          <a:xfrm>
            <a:off x="7956044" y="3681310"/>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156"/>
          <p:cNvSpPr/>
          <p:nvPr/>
        </p:nvSpPr>
        <p:spPr>
          <a:xfrm>
            <a:off x="7956044" y="4115654"/>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156"/>
          <p:cNvSpPr/>
          <p:nvPr/>
        </p:nvSpPr>
        <p:spPr>
          <a:xfrm>
            <a:off x="7557231" y="442396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9" name="Google Shape;1749;p156"/>
          <p:cNvCxnSpPr>
            <a:stCxn id="1744" idx="7"/>
            <a:endCxn id="1745" idx="3"/>
          </p:cNvCxnSpPr>
          <p:nvPr/>
        </p:nvCxnSpPr>
        <p:spPr>
          <a:xfrm flipH="1" rot="10800000">
            <a:off x="7083230" y="3468842"/>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750" name="Google Shape;1750;p156"/>
          <p:cNvCxnSpPr>
            <a:stCxn id="1744" idx="5"/>
            <a:endCxn id="1748" idx="1"/>
          </p:cNvCxnSpPr>
          <p:nvPr/>
        </p:nvCxnSpPr>
        <p:spPr>
          <a:xfrm>
            <a:off x="7083230" y="4055018"/>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751" name="Google Shape;1751;p156"/>
          <p:cNvCxnSpPr>
            <a:stCxn id="1744" idx="6"/>
            <a:endCxn id="1746" idx="2"/>
          </p:cNvCxnSpPr>
          <p:nvPr/>
        </p:nvCxnSpPr>
        <p:spPr>
          <a:xfrm flipH="1" rot="10800000">
            <a:off x="7122639" y="3808280"/>
            <a:ext cx="833400" cy="156900"/>
          </a:xfrm>
          <a:prstGeom prst="straightConnector1">
            <a:avLst/>
          </a:prstGeom>
          <a:noFill/>
          <a:ln cap="flat" cmpd="sng" w="19050">
            <a:solidFill>
              <a:srgbClr val="4A86E8"/>
            </a:solidFill>
            <a:prstDash val="dash"/>
            <a:round/>
            <a:headEnd len="med" w="med" type="none"/>
            <a:tailEnd len="med" w="med" type="none"/>
          </a:ln>
        </p:spPr>
      </p:cxnSp>
      <p:cxnSp>
        <p:nvCxnSpPr>
          <p:cNvPr id="1752" name="Google Shape;1752;p156"/>
          <p:cNvCxnSpPr>
            <a:stCxn id="1744" idx="6"/>
            <a:endCxn id="1747" idx="2"/>
          </p:cNvCxnSpPr>
          <p:nvPr/>
        </p:nvCxnSpPr>
        <p:spPr>
          <a:xfrm>
            <a:off x="7122639" y="3965180"/>
            <a:ext cx="833400" cy="277500"/>
          </a:xfrm>
          <a:prstGeom prst="straightConnector1">
            <a:avLst/>
          </a:prstGeom>
          <a:noFill/>
          <a:ln cap="flat" cmpd="sng" w="19050">
            <a:solidFill>
              <a:srgbClr val="4A86E8"/>
            </a:solidFill>
            <a:prstDash val="dash"/>
            <a:round/>
            <a:headEnd len="med" w="med" type="none"/>
            <a:tailEnd len="med" w="med" type="none"/>
          </a:ln>
        </p:spPr>
      </p:cxnSp>
      <p:cxnSp>
        <p:nvCxnSpPr>
          <p:cNvPr id="1753" name="Google Shape;1753;p156"/>
          <p:cNvCxnSpPr/>
          <p:nvPr/>
        </p:nvCxnSpPr>
        <p:spPr>
          <a:xfrm flipH="1" rot="10800000">
            <a:off x="7691656" y="2924778"/>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754" name="Google Shape;1754;p156"/>
          <p:cNvCxnSpPr/>
          <p:nvPr/>
        </p:nvCxnSpPr>
        <p:spPr>
          <a:xfrm flipH="1" rot="10800000">
            <a:off x="7786717" y="3106252"/>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755" name="Google Shape;1755;p156"/>
          <p:cNvCxnSpPr>
            <a:stCxn id="1748" idx="6"/>
          </p:cNvCxnSpPr>
          <p:nvPr/>
        </p:nvCxnSpPr>
        <p:spPr>
          <a:xfrm>
            <a:off x="7826331" y="4551015"/>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756" name="Google Shape;1756;p156"/>
          <p:cNvCxnSpPr>
            <a:stCxn id="1748" idx="5"/>
          </p:cNvCxnSpPr>
          <p:nvPr/>
        </p:nvCxnSpPr>
        <p:spPr>
          <a:xfrm>
            <a:off x="7786922" y="4640853"/>
            <a:ext cx="139500" cy="272700"/>
          </a:xfrm>
          <a:prstGeom prst="straightConnector1">
            <a:avLst/>
          </a:prstGeom>
          <a:noFill/>
          <a:ln cap="flat" cmpd="sng" w="19050">
            <a:solidFill>
              <a:srgbClr val="B7B7B7"/>
            </a:solidFill>
            <a:prstDash val="dash"/>
            <a:round/>
            <a:headEnd len="med" w="med" type="none"/>
            <a:tailEnd len="med" w="med" type="stealth"/>
          </a:ln>
        </p:spPr>
      </p:cxn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1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762" name="Google Shape;1762;p15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What about information complexity?</a:t>
            </a:r>
            <a:endParaRPr/>
          </a:p>
          <a:p>
            <a:pPr indent="-317500" lvl="1" marL="914400" marR="0" rtl="0" algn="l">
              <a:lnSpc>
                <a:spcPct val="115000"/>
              </a:lnSpc>
              <a:spcBef>
                <a:spcPts val="0"/>
              </a:spcBef>
              <a:spcAft>
                <a:spcPts val="0"/>
              </a:spcAft>
              <a:buSzPts val="1400"/>
              <a:buChar char="○"/>
            </a:pPr>
            <a:r>
              <a:rPr lang="en"/>
              <a:t>Low bandwidth ties: Novel but “simple” information </a:t>
            </a:r>
            <a:endParaRPr/>
          </a:p>
          <a:p>
            <a:pPr indent="-317500" lvl="2" marL="1371600" marR="0" rtl="0" algn="l">
              <a:lnSpc>
                <a:spcPct val="115000"/>
              </a:lnSpc>
              <a:spcBef>
                <a:spcPts val="0"/>
              </a:spcBef>
              <a:spcAft>
                <a:spcPts val="0"/>
              </a:spcAft>
              <a:buSzPts val="1400"/>
              <a:buChar char="■"/>
            </a:pPr>
            <a:r>
              <a:rPr lang="en"/>
              <a:t>Who’s hiring? What’s the best messaging app?</a:t>
            </a:r>
            <a:endParaRPr/>
          </a:p>
          <a:p>
            <a:pPr indent="-317500" lvl="1" marL="914400" marR="0" rtl="0" algn="l">
              <a:lnSpc>
                <a:spcPct val="115000"/>
              </a:lnSpc>
              <a:spcBef>
                <a:spcPts val="0"/>
              </a:spcBef>
              <a:spcAft>
                <a:spcPts val="0"/>
              </a:spcAft>
              <a:buSzPts val="1400"/>
              <a:buChar char="○"/>
            </a:pPr>
            <a:r>
              <a:rPr lang="en"/>
              <a:t>But what about novel but complex information?</a:t>
            </a:r>
            <a:endParaRPr/>
          </a:p>
          <a:p>
            <a:pPr indent="-317500" lvl="2" marL="1371600" marR="0" rtl="0" algn="l">
              <a:lnSpc>
                <a:spcPct val="115000"/>
              </a:lnSpc>
              <a:spcBef>
                <a:spcPts val="0"/>
              </a:spcBef>
              <a:spcAft>
                <a:spcPts val="0"/>
              </a:spcAft>
              <a:buSzPts val="1400"/>
              <a:buChar char="■"/>
            </a:pPr>
            <a:r>
              <a:rPr lang="en"/>
              <a:t>How to do network analysis in R</a:t>
            </a:r>
            <a:endParaRPr/>
          </a:p>
          <a:p>
            <a:pPr indent="-317500" lvl="1" marL="914400" marR="0" rtl="0" algn="l">
              <a:lnSpc>
                <a:spcPct val="115000"/>
              </a:lnSpc>
              <a:spcBef>
                <a:spcPts val="0"/>
              </a:spcBef>
              <a:spcAft>
                <a:spcPts val="0"/>
              </a:spcAft>
              <a:buClr>
                <a:srgbClr val="FF0000"/>
              </a:buClr>
              <a:buSzPts val="1400"/>
              <a:buChar char="○"/>
            </a:pPr>
            <a:r>
              <a:rPr b="1" lang="en">
                <a:solidFill>
                  <a:srgbClr val="FF0000"/>
                </a:solidFill>
              </a:rPr>
              <a:t>In that case higher bandwidth ties are better!</a:t>
            </a:r>
            <a:endParaRPr b="1">
              <a:solidFill>
                <a:srgbClr val="FF0000"/>
              </a:solidFill>
            </a:endParaRPr>
          </a:p>
          <a:p>
            <a:pPr indent="0" lvl="0" marL="0" marR="0" rtl="0" algn="l">
              <a:lnSpc>
                <a:spcPct val="115000"/>
              </a:lnSpc>
              <a:spcBef>
                <a:spcPts val="1600"/>
              </a:spcBef>
              <a:spcAft>
                <a:spcPts val="0"/>
              </a:spcAft>
              <a:buNone/>
            </a:pPr>
            <a:r>
              <a:t/>
            </a:r>
            <a:endParaRPr/>
          </a:p>
          <a:p>
            <a:pPr indent="0" lvl="0" marL="0" marR="0" rtl="0" algn="l">
              <a:lnSpc>
                <a:spcPct val="115000"/>
              </a:lnSpc>
              <a:spcBef>
                <a:spcPts val="1600"/>
              </a:spcBef>
              <a:spcAft>
                <a:spcPts val="1600"/>
              </a:spcAft>
              <a:buNone/>
            </a:pPr>
            <a:r>
              <a:t/>
            </a:r>
            <a:endParaRPr/>
          </a:p>
        </p:txBody>
      </p:sp>
      <p:sp>
        <p:nvSpPr>
          <p:cNvPr id="1763" name="Google Shape;1763;p157"/>
          <p:cNvSpPr/>
          <p:nvPr/>
        </p:nvSpPr>
        <p:spPr>
          <a:xfrm>
            <a:off x="918850" y="3903079"/>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157"/>
          <p:cNvSpPr/>
          <p:nvPr/>
        </p:nvSpPr>
        <p:spPr>
          <a:xfrm>
            <a:off x="1622542" y="331681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157"/>
          <p:cNvSpPr/>
          <p:nvPr/>
        </p:nvSpPr>
        <p:spPr>
          <a:xfrm>
            <a:off x="2021356" y="374622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57"/>
          <p:cNvSpPr/>
          <p:nvPr/>
        </p:nvSpPr>
        <p:spPr>
          <a:xfrm>
            <a:off x="2021356" y="4180668"/>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57"/>
          <p:cNvSpPr/>
          <p:nvPr/>
        </p:nvSpPr>
        <p:spPr>
          <a:xfrm>
            <a:off x="1622542" y="4489051"/>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68" name="Google Shape;1768;p157"/>
          <p:cNvCxnSpPr>
            <a:stCxn id="1763" idx="7"/>
            <a:endCxn id="1764" idx="3"/>
          </p:cNvCxnSpPr>
          <p:nvPr/>
        </p:nvCxnSpPr>
        <p:spPr>
          <a:xfrm flipH="1" rot="10800000">
            <a:off x="1148541" y="3533791"/>
            <a:ext cx="513300" cy="406500"/>
          </a:xfrm>
          <a:prstGeom prst="straightConnector1">
            <a:avLst/>
          </a:prstGeom>
          <a:noFill/>
          <a:ln cap="flat" cmpd="sng" w="76200">
            <a:solidFill>
              <a:srgbClr val="4A86E8"/>
            </a:solidFill>
            <a:prstDash val="solid"/>
            <a:round/>
            <a:headEnd len="med" w="med" type="none"/>
            <a:tailEnd len="med" w="med" type="none"/>
          </a:ln>
        </p:spPr>
      </p:cxnSp>
      <p:cxnSp>
        <p:nvCxnSpPr>
          <p:cNvPr id="1769" name="Google Shape;1769;p157"/>
          <p:cNvCxnSpPr>
            <a:stCxn id="1763" idx="5"/>
            <a:endCxn id="1767" idx="1"/>
          </p:cNvCxnSpPr>
          <p:nvPr/>
        </p:nvCxnSpPr>
        <p:spPr>
          <a:xfrm>
            <a:off x="1148541" y="4119967"/>
            <a:ext cx="513300" cy="406200"/>
          </a:xfrm>
          <a:prstGeom prst="straightConnector1">
            <a:avLst/>
          </a:prstGeom>
          <a:noFill/>
          <a:ln cap="flat" cmpd="sng" w="76200">
            <a:solidFill>
              <a:srgbClr val="4A86E8"/>
            </a:solidFill>
            <a:prstDash val="solid"/>
            <a:round/>
            <a:headEnd len="med" w="med" type="none"/>
            <a:tailEnd len="med" w="med" type="none"/>
          </a:ln>
        </p:spPr>
      </p:cxnSp>
      <p:cxnSp>
        <p:nvCxnSpPr>
          <p:cNvPr id="1770" name="Google Shape;1770;p157"/>
          <p:cNvCxnSpPr>
            <a:stCxn id="1767" idx="7"/>
            <a:endCxn id="1766" idx="3"/>
          </p:cNvCxnSpPr>
          <p:nvPr/>
        </p:nvCxnSpPr>
        <p:spPr>
          <a:xfrm flipH="1" rot="10800000">
            <a:off x="1852233" y="4397563"/>
            <a:ext cx="208500" cy="128700"/>
          </a:xfrm>
          <a:prstGeom prst="straightConnector1">
            <a:avLst/>
          </a:prstGeom>
          <a:noFill/>
          <a:ln cap="flat" cmpd="sng" w="76200">
            <a:solidFill>
              <a:schemeClr val="dk2"/>
            </a:solidFill>
            <a:prstDash val="solid"/>
            <a:round/>
            <a:headEnd len="med" w="med" type="none"/>
            <a:tailEnd len="med" w="med" type="none"/>
          </a:ln>
        </p:spPr>
      </p:cxnSp>
      <p:cxnSp>
        <p:nvCxnSpPr>
          <p:cNvPr id="1771" name="Google Shape;1771;p157"/>
          <p:cNvCxnSpPr>
            <a:stCxn id="1766" idx="0"/>
            <a:endCxn id="1765" idx="4"/>
          </p:cNvCxnSpPr>
          <p:nvPr/>
        </p:nvCxnSpPr>
        <p:spPr>
          <a:xfrm rot="10800000">
            <a:off x="2155906" y="4000368"/>
            <a:ext cx="0" cy="180300"/>
          </a:xfrm>
          <a:prstGeom prst="straightConnector1">
            <a:avLst/>
          </a:prstGeom>
          <a:noFill/>
          <a:ln cap="flat" cmpd="sng" w="76200">
            <a:solidFill>
              <a:schemeClr val="dk2"/>
            </a:solidFill>
            <a:prstDash val="solid"/>
            <a:round/>
            <a:headEnd len="med" w="med" type="none"/>
            <a:tailEnd len="med" w="med" type="none"/>
          </a:ln>
        </p:spPr>
      </p:cxnSp>
      <p:cxnSp>
        <p:nvCxnSpPr>
          <p:cNvPr id="1772" name="Google Shape;1772;p157"/>
          <p:cNvCxnSpPr>
            <a:stCxn id="1765" idx="0"/>
            <a:endCxn id="1764" idx="5"/>
          </p:cNvCxnSpPr>
          <p:nvPr/>
        </p:nvCxnSpPr>
        <p:spPr>
          <a:xfrm rot="10800000">
            <a:off x="1852306" y="3533822"/>
            <a:ext cx="303600" cy="212400"/>
          </a:xfrm>
          <a:prstGeom prst="straightConnector1">
            <a:avLst/>
          </a:prstGeom>
          <a:noFill/>
          <a:ln cap="flat" cmpd="sng" w="76200">
            <a:solidFill>
              <a:schemeClr val="dk2"/>
            </a:solidFill>
            <a:prstDash val="solid"/>
            <a:round/>
            <a:headEnd len="med" w="med" type="none"/>
            <a:tailEnd len="med" w="med" type="none"/>
          </a:ln>
        </p:spPr>
      </p:cxnSp>
      <p:cxnSp>
        <p:nvCxnSpPr>
          <p:cNvPr id="1773" name="Google Shape;1773;p157"/>
          <p:cNvCxnSpPr>
            <a:stCxn id="1767" idx="0"/>
            <a:endCxn id="1764" idx="4"/>
          </p:cNvCxnSpPr>
          <p:nvPr/>
        </p:nvCxnSpPr>
        <p:spPr>
          <a:xfrm rot="10800000">
            <a:off x="1757092" y="3571051"/>
            <a:ext cx="0" cy="918000"/>
          </a:xfrm>
          <a:prstGeom prst="straightConnector1">
            <a:avLst/>
          </a:prstGeom>
          <a:noFill/>
          <a:ln cap="flat" cmpd="sng" w="76200">
            <a:solidFill>
              <a:schemeClr val="dk2"/>
            </a:solidFill>
            <a:prstDash val="solid"/>
            <a:round/>
            <a:headEnd len="med" w="med" type="none"/>
            <a:tailEnd len="med" w="med" type="none"/>
          </a:ln>
        </p:spPr>
      </p:cxnSp>
      <p:cxnSp>
        <p:nvCxnSpPr>
          <p:cNvPr id="1774" name="Google Shape;1774;p157"/>
          <p:cNvCxnSpPr>
            <a:stCxn id="1767" idx="0"/>
            <a:endCxn id="1765" idx="3"/>
          </p:cNvCxnSpPr>
          <p:nvPr/>
        </p:nvCxnSpPr>
        <p:spPr>
          <a:xfrm flipH="1" rot="10800000">
            <a:off x="1757092" y="3963151"/>
            <a:ext cx="303600" cy="525900"/>
          </a:xfrm>
          <a:prstGeom prst="straightConnector1">
            <a:avLst/>
          </a:prstGeom>
          <a:noFill/>
          <a:ln cap="flat" cmpd="sng" w="76200">
            <a:solidFill>
              <a:schemeClr val="dk2"/>
            </a:solidFill>
            <a:prstDash val="solid"/>
            <a:round/>
            <a:headEnd len="med" w="med" type="none"/>
            <a:tailEnd len="med" w="med" type="none"/>
          </a:ln>
        </p:spPr>
      </p:cxnSp>
      <p:cxnSp>
        <p:nvCxnSpPr>
          <p:cNvPr id="1775" name="Google Shape;1775;p157"/>
          <p:cNvCxnSpPr>
            <a:stCxn id="1766" idx="1"/>
            <a:endCxn id="1764" idx="4"/>
          </p:cNvCxnSpPr>
          <p:nvPr/>
        </p:nvCxnSpPr>
        <p:spPr>
          <a:xfrm rot="10800000">
            <a:off x="1757164" y="3570780"/>
            <a:ext cx="303600" cy="647100"/>
          </a:xfrm>
          <a:prstGeom prst="straightConnector1">
            <a:avLst/>
          </a:prstGeom>
          <a:noFill/>
          <a:ln cap="flat" cmpd="sng" w="76200">
            <a:solidFill>
              <a:schemeClr val="dk2"/>
            </a:solidFill>
            <a:prstDash val="solid"/>
            <a:round/>
            <a:headEnd len="med" w="med" type="none"/>
            <a:tailEnd len="med" w="med" type="none"/>
          </a:ln>
        </p:spPr>
      </p:cxnSp>
      <p:cxnSp>
        <p:nvCxnSpPr>
          <p:cNvPr id="1776" name="Google Shape;1776;p157"/>
          <p:cNvCxnSpPr>
            <a:stCxn id="1763" idx="6"/>
            <a:endCxn id="1765" idx="2"/>
          </p:cNvCxnSpPr>
          <p:nvPr/>
        </p:nvCxnSpPr>
        <p:spPr>
          <a:xfrm flipH="1" rot="10800000">
            <a:off x="1187950" y="3873229"/>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777" name="Google Shape;1777;p157"/>
          <p:cNvCxnSpPr>
            <a:stCxn id="1763" idx="6"/>
            <a:endCxn id="1766" idx="2"/>
          </p:cNvCxnSpPr>
          <p:nvPr/>
        </p:nvCxnSpPr>
        <p:spPr>
          <a:xfrm>
            <a:off x="1187950" y="4030129"/>
            <a:ext cx="833400" cy="277500"/>
          </a:xfrm>
          <a:prstGeom prst="straightConnector1">
            <a:avLst/>
          </a:prstGeom>
          <a:noFill/>
          <a:ln cap="flat" cmpd="sng" w="76200">
            <a:solidFill>
              <a:srgbClr val="4A86E8"/>
            </a:solidFill>
            <a:prstDash val="solid"/>
            <a:round/>
            <a:headEnd len="med" w="med" type="none"/>
            <a:tailEnd len="med" w="med" type="none"/>
          </a:ln>
        </p:spPr>
      </p:cxnSp>
      <p:sp>
        <p:nvSpPr>
          <p:cNvPr id="1778" name="Google Shape;1778;p157"/>
          <p:cNvSpPr/>
          <p:nvPr/>
        </p:nvSpPr>
        <p:spPr>
          <a:xfrm>
            <a:off x="3941829" y="3792172"/>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57"/>
          <p:cNvSpPr/>
          <p:nvPr/>
        </p:nvSpPr>
        <p:spPr>
          <a:xfrm>
            <a:off x="4645521" y="320604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57"/>
          <p:cNvSpPr/>
          <p:nvPr/>
        </p:nvSpPr>
        <p:spPr>
          <a:xfrm>
            <a:off x="5044335" y="363535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57"/>
          <p:cNvSpPr/>
          <p:nvPr/>
        </p:nvSpPr>
        <p:spPr>
          <a:xfrm>
            <a:off x="5044335" y="406969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57"/>
          <p:cNvSpPr/>
          <p:nvPr/>
        </p:nvSpPr>
        <p:spPr>
          <a:xfrm>
            <a:off x="4645521" y="437800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83" name="Google Shape;1783;p157"/>
          <p:cNvCxnSpPr>
            <a:stCxn id="1778" idx="7"/>
            <a:endCxn id="1779" idx="3"/>
          </p:cNvCxnSpPr>
          <p:nvPr/>
        </p:nvCxnSpPr>
        <p:spPr>
          <a:xfrm flipH="1" rot="10800000">
            <a:off x="4171520" y="3422884"/>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784" name="Google Shape;1784;p157"/>
          <p:cNvCxnSpPr>
            <a:stCxn id="1778" idx="5"/>
            <a:endCxn id="1782" idx="1"/>
          </p:cNvCxnSpPr>
          <p:nvPr/>
        </p:nvCxnSpPr>
        <p:spPr>
          <a:xfrm>
            <a:off x="4171520" y="4009060"/>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785" name="Google Shape;1785;p157"/>
          <p:cNvCxnSpPr>
            <a:stCxn id="1781" idx="0"/>
            <a:endCxn id="1780" idx="4"/>
          </p:cNvCxnSpPr>
          <p:nvPr/>
        </p:nvCxnSpPr>
        <p:spPr>
          <a:xfrm rot="10800000">
            <a:off x="5178885" y="3889397"/>
            <a:ext cx="0" cy="180300"/>
          </a:xfrm>
          <a:prstGeom prst="straightConnector1">
            <a:avLst/>
          </a:prstGeom>
          <a:noFill/>
          <a:ln cap="flat" cmpd="sng" w="76200">
            <a:solidFill>
              <a:srgbClr val="B7B7B7"/>
            </a:solidFill>
            <a:prstDash val="solid"/>
            <a:round/>
            <a:headEnd len="med" w="med" type="none"/>
            <a:tailEnd len="med" w="med" type="none"/>
          </a:ln>
        </p:spPr>
      </p:cxnSp>
      <p:cxnSp>
        <p:nvCxnSpPr>
          <p:cNvPr id="1786" name="Google Shape;1786;p157"/>
          <p:cNvCxnSpPr>
            <a:stCxn id="1778" idx="6"/>
            <a:endCxn id="1780" idx="2"/>
          </p:cNvCxnSpPr>
          <p:nvPr/>
        </p:nvCxnSpPr>
        <p:spPr>
          <a:xfrm flipH="1" rot="10800000">
            <a:off x="4210929" y="3762322"/>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787" name="Google Shape;1787;p157"/>
          <p:cNvCxnSpPr>
            <a:stCxn id="1778" idx="6"/>
            <a:endCxn id="1781" idx="2"/>
          </p:cNvCxnSpPr>
          <p:nvPr/>
        </p:nvCxnSpPr>
        <p:spPr>
          <a:xfrm>
            <a:off x="4210929" y="3919222"/>
            <a:ext cx="833400" cy="277500"/>
          </a:xfrm>
          <a:prstGeom prst="straightConnector1">
            <a:avLst/>
          </a:prstGeom>
          <a:noFill/>
          <a:ln cap="flat" cmpd="sng" w="76200">
            <a:solidFill>
              <a:srgbClr val="4A86E8"/>
            </a:solidFill>
            <a:prstDash val="solid"/>
            <a:round/>
            <a:headEnd len="med" w="med" type="none"/>
            <a:tailEnd len="med" w="med" type="none"/>
          </a:ln>
        </p:spPr>
      </p:cxnSp>
      <p:cxnSp>
        <p:nvCxnSpPr>
          <p:cNvPr id="1788" name="Google Shape;1788;p157"/>
          <p:cNvCxnSpPr/>
          <p:nvPr/>
        </p:nvCxnSpPr>
        <p:spPr>
          <a:xfrm flipH="1" rot="10800000">
            <a:off x="4779947" y="2878820"/>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789" name="Google Shape;1789;p157"/>
          <p:cNvCxnSpPr/>
          <p:nvPr/>
        </p:nvCxnSpPr>
        <p:spPr>
          <a:xfrm flipH="1" rot="10800000">
            <a:off x="4875007" y="3060294"/>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790" name="Google Shape;1790;p157"/>
          <p:cNvCxnSpPr>
            <a:stCxn id="1782" idx="6"/>
          </p:cNvCxnSpPr>
          <p:nvPr/>
        </p:nvCxnSpPr>
        <p:spPr>
          <a:xfrm>
            <a:off x="4914621" y="4505057"/>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791" name="Google Shape;1791;p157"/>
          <p:cNvCxnSpPr>
            <a:stCxn id="1782" idx="5"/>
          </p:cNvCxnSpPr>
          <p:nvPr/>
        </p:nvCxnSpPr>
        <p:spPr>
          <a:xfrm>
            <a:off x="4875213" y="4594895"/>
            <a:ext cx="139500" cy="272700"/>
          </a:xfrm>
          <a:prstGeom prst="straightConnector1">
            <a:avLst/>
          </a:prstGeom>
          <a:noFill/>
          <a:ln cap="flat" cmpd="sng" w="19050">
            <a:solidFill>
              <a:srgbClr val="B7B7B7"/>
            </a:solidFill>
            <a:prstDash val="dash"/>
            <a:round/>
            <a:headEnd len="med" w="med" type="none"/>
            <a:tailEnd len="med" w="med" type="stealth"/>
          </a:ln>
        </p:spPr>
      </p:cxnSp>
      <p:sp>
        <p:nvSpPr>
          <p:cNvPr id="1792" name="Google Shape;1792;p157"/>
          <p:cNvSpPr/>
          <p:nvPr/>
        </p:nvSpPr>
        <p:spPr>
          <a:xfrm>
            <a:off x="6853539" y="3838130"/>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57"/>
          <p:cNvSpPr/>
          <p:nvPr/>
        </p:nvSpPr>
        <p:spPr>
          <a:xfrm>
            <a:off x="7557231" y="325200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57"/>
          <p:cNvSpPr/>
          <p:nvPr/>
        </p:nvSpPr>
        <p:spPr>
          <a:xfrm>
            <a:off x="7956044" y="3681310"/>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57"/>
          <p:cNvSpPr/>
          <p:nvPr/>
        </p:nvSpPr>
        <p:spPr>
          <a:xfrm>
            <a:off x="7956044" y="4115654"/>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57"/>
          <p:cNvSpPr/>
          <p:nvPr/>
        </p:nvSpPr>
        <p:spPr>
          <a:xfrm>
            <a:off x="7557231" y="442396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7" name="Google Shape;1797;p157"/>
          <p:cNvCxnSpPr>
            <a:stCxn id="1792" idx="7"/>
            <a:endCxn id="1793" idx="3"/>
          </p:cNvCxnSpPr>
          <p:nvPr/>
        </p:nvCxnSpPr>
        <p:spPr>
          <a:xfrm flipH="1" rot="10800000">
            <a:off x="7083230" y="3468842"/>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798" name="Google Shape;1798;p157"/>
          <p:cNvCxnSpPr>
            <a:stCxn id="1792" idx="5"/>
            <a:endCxn id="1796" idx="1"/>
          </p:cNvCxnSpPr>
          <p:nvPr/>
        </p:nvCxnSpPr>
        <p:spPr>
          <a:xfrm>
            <a:off x="7083230" y="4055018"/>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799" name="Google Shape;1799;p157"/>
          <p:cNvCxnSpPr>
            <a:stCxn id="1792" idx="6"/>
            <a:endCxn id="1794" idx="2"/>
          </p:cNvCxnSpPr>
          <p:nvPr/>
        </p:nvCxnSpPr>
        <p:spPr>
          <a:xfrm flipH="1" rot="10800000">
            <a:off x="7122639" y="3808280"/>
            <a:ext cx="833400" cy="156900"/>
          </a:xfrm>
          <a:prstGeom prst="straightConnector1">
            <a:avLst/>
          </a:prstGeom>
          <a:noFill/>
          <a:ln cap="flat" cmpd="sng" w="19050">
            <a:solidFill>
              <a:srgbClr val="4A86E8"/>
            </a:solidFill>
            <a:prstDash val="dash"/>
            <a:round/>
            <a:headEnd len="med" w="med" type="none"/>
            <a:tailEnd len="med" w="med" type="none"/>
          </a:ln>
        </p:spPr>
      </p:cxnSp>
      <p:cxnSp>
        <p:nvCxnSpPr>
          <p:cNvPr id="1800" name="Google Shape;1800;p157"/>
          <p:cNvCxnSpPr>
            <a:stCxn id="1792" idx="6"/>
            <a:endCxn id="1795" idx="2"/>
          </p:cNvCxnSpPr>
          <p:nvPr/>
        </p:nvCxnSpPr>
        <p:spPr>
          <a:xfrm>
            <a:off x="7122639" y="3965180"/>
            <a:ext cx="833400" cy="277500"/>
          </a:xfrm>
          <a:prstGeom prst="straightConnector1">
            <a:avLst/>
          </a:prstGeom>
          <a:noFill/>
          <a:ln cap="flat" cmpd="sng" w="19050">
            <a:solidFill>
              <a:srgbClr val="4A86E8"/>
            </a:solidFill>
            <a:prstDash val="dash"/>
            <a:round/>
            <a:headEnd len="med" w="med" type="none"/>
            <a:tailEnd len="med" w="med" type="none"/>
          </a:ln>
        </p:spPr>
      </p:cxnSp>
      <p:cxnSp>
        <p:nvCxnSpPr>
          <p:cNvPr id="1801" name="Google Shape;1801;p157"/>
          <p:cNvCxnSpPr/>
          <p:nvPr/>
        </p:nvCxnSpPr>
        <p:spPr>
          <a:xfrm flipH="1" rot="10800000">
            <a:off x="7691656" y="2924778"/>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802" name="Google Shape;1802;p157"/>
          <p:cNvCxnSpPr/>
          <p:nvPr/>
        </p:nvCxnSpPr>
        <p:spPr>
          <a:xfrm flipH="1" rot="10800000">
            <a:off x="7786717" y="3106252"/>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803" name="Google Shape;1803;p157"/>
          <p:cNvCxnSpPr>
            <a:stCxn id="1796" idx="6"/>
          </p:cNvCxnSpPr>
          <p:nvPr/>
        </p:nvCxnSpPr>
        <p:spPr>
          <a:xfrm>
            <a:off x="7826331" y="4551015"/>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804" name="Google Shape;1804;p157"/>
          <p:cNvCxnSpPr>
            <a:stCxn id="1796" idx="5"/>
          </p:cNvCxnSpPr>
          <p:nvPr/>
        </p:nvCxnSpPr>
        <p:spPr>
          <a:xfrm>
            <a:off x="7786922" y="4640853"/>
            <a:ext cx="139500" cy="272700"/>
          </a:xfrm>
          <a:prstGeom prst="straightConnector1">
            <a:avLst/>
          </a:prstGeom>
          <a:noFill/>
          <a:ln cap="flat" cmpd="sng" w="19050">
            <a:solidFill>
              <a:srgbClr val="B7B7B7"/>
            </a:solidFill>
            <a:prstDash val="dash"/>
            <a:round/>
            <a:headEnd len="med" w="med" type="none"/>
            <a:tailEnd len="med" w="med" type="stealth"/>
          </a:ln>
        </p:spPr>
      </p:cxn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1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810" name="Google Shape;1810;p158"/>
          <p:cNvSpPr txBox="1"/>
          <p:nvPr>
            <p:ph idx="1" type="body"/>
          </p:nvPr>
        </p:nvSpPr>
        <p:spPr>
          <a:xfrm>
            <a:off x="311700" y="1225225"/>
            <a:ext cx="8520600" cy="16536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The strength of high bandwidth ties:</a:t>
            </a:r>
            <a:endParaRPr/>
          </a:p>
          <a:p>
            <a:pPr indent="-317500" lvl="1" marL="914400" marR="0" rtl="0" algn="l">
              <a:lnSpc>
                <a:spcPct val="115000"/>
              </a:lnSpc>
              <a:spcBef>
                <a:spcPts val="0"/>
              </a:spcBef>
              <a:spcAft>
                <a:spcPts val="0"/>
              </a:spcAft>
              <a:buSzPts val="1400"/>
              <a:buChar char="○"/>
            </a:pPr>
            <a:r>
              <a:rPr lang="en"/>
              <a:t>More trust, intimacy, and cooperativeness</a:t>
            </a:r>
            <a:endParaRPr/>
          </a:p>
          <a:p>
            <a:pPr indent="-317500" lvl="1" marL="914400" marR="0" rtl="0" algn="l">
              <a:lnSpc>
                <a:spcPct val="115000"/>
              </a:lnSpc>
              <a:spcBef>
                <a:spcPts val="0"/>
              </a:spcBef>
              <a:spcAft>
                <a:spcPts val="0"/>
              </a:spcAft>
              <a:buSzPts val="1400"/>
              <a:buChar char="○"/>
            </a:pPr>
            <a:r>
              <a:rPr lang="en"/>
              <a:t>Better memory of who knows what</a:t>
            </a:r>
            <a:endParaRPr/>
          </a:p>
          <a:p>
            <a:pPr indent="-317500" lvl="1" marL="914400" marR="0" rtl="0" algn="l">
              <a:lnSpc>
                <a:spcPct val="115000"/>
              </a:lnSpc>
              <a:spcBef>
                <a:spcPts val="0"/>
              </a:spcBef>
              <a:spcAft>
                <a:spcPts val="0"/>
              </a:spcAft>
              <a:buSzPts val="1400"/>
              <a:buChar char="○"/>
            </a:pPr>
            <a:r>
              <a:rPr lang="en"/>
              <a:t>More effective at transferring complex, interdependent information</a:t>
            </a:r>
            <a:endParaRPr/>
          </a:p>
          <a:p>
            <a:pPr indent="-317500" lvl="1" marL="914400" marR="0" rtl="0" algn="l">
              <a:lnSpc>
                <a:spcPct val="115000"/>
              </a:lnSpc>
              <a:spcBef>
                <a:spcPts val="0"/>
              </a:spcBef>
              <a:spcAft>
                <a:spcPts val="0"/>
              </a:spcAft>
              <a:buSzPts val="1400"/>
              <a:buChar char="○"/>
            </a:pPr>
            <a:r>
              <a:rPr lang="en"/>
              <a:t>Creating new knowledge (e.g. bringing together rather than keeping apart)</a:t>
            </a:r>
            <a:endParaRPr/>
          </a:p>
          <a:p>
            <a:pPr indent="-317500" lvl="1" marL="914400" marR="0" rtl="0" algn="l">
              <a:lnSpc>
                <a:spcPct val="115000"/>
              </a:lnSpc>
              <a:spcBef>
                <a:spcPts val="0"/>
              </a:spcBef>
              <a:spcAft>
                <a:spcPts val="0"/>
              </a:spcAft>
              <a:buSzPts val="1400"/>
              <a:buChar char="○"/>
            </a:pPr>
            <a:r>
              <a:rPr lang="en"/>
              <a:t>Commonality of interests and experience (homophily) </a:t>
            </a:r>
            <a:endParaRPr/>
          </a:p>
        </p:txBody>
      </p:sp>
      <p:sp>
        <p:nvSpPr>
          <p:cNvPr id="1811" name="Google Shape;1811;p158"/>
          <p:cNvSpPr/>
          <p:nvPr/>
        </p:nvSpPr>
        <p:spPr>
          <a:xfrm>
            <a:off x="918850" y="3903079"/>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58"/>
          <p:cNvSpPr/>
          <p:nvPr/>
        </p:nvSpPr>
        <p:spPr>
          <a:xfrm>
            <a:off x="1622542" y="331681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58"/>
          <p:cNvSpPr/>
          <p:nvPr/>
        </p:nvSpPr>
        <p:spPr>
          <a:xfrm>
            <a:off x="2021356" y="374622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158"/>
          <p:cNvSpPr/>
          <p:nvPr/>
        </p:nvSpPr>
        <p:spPr>
          <a:xfrm>
            <a:off x="2021356" y="4180668"/>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158"/>
          <p:cNvSpPr/>
          <p:nvPr/>
        </p:nvSpPr>
        <p:spPr>
          <a:xfrm>
            <a:off x="1622542" y="4489051"/>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6" name="Google Shape;1816;p158"/>
          <p:cNvCxnSpPr>
            <a:stCxn id="1811" idx="7"/>
            <a:endCxn id="1812" idx="3"/>
          </p:cNvCxnSpPr>
          <p:nvPr/>
        </p:nvCxnSpPr>
        <p:spPr>
          <a:xfrm flipH="1" rot="10800000">
            <a:off x="1148541" y="3533791"/>
            <a:ext cx="513300" cy="406500"/>
          </a:xfrm>
          <a:prstGeom prst="straightConnector1">
            <a:avLst/>
          </a:prstGeom>
          <a:noFill/>
          <a:ln cap="flat" cmpd="sng" w="76200">
            <a:solidFill>
              <a:srgbClr val="4A86E8"/>
            </a:solidFill>
            <a:prstDash val="solid"/>
            <a:round/>
            <a:headEnd len="med" w="med" type="none"/>
            <a:tailEnd len="med" w="med" type="none"/>
          </a:ln>
        </p:spPr>
      </p:cxnSp>
      <p:cxnSp>
        <p:nvCxnSpPr>
          <p:cNvPr id="1817" name="Google Shape;1817;p158"/>
          <p:cNvCxnSpPr>
            <a:stCxn id="1811" idx="5"/>
            <a:endCxn id="1815" idx="1"/>
          </p:cNvCxnSpPr>
          <p:nvPr/>
        </p:nvCxnSpPr>
        <p:spPr>
          <a:xfrm>
            <a:off x="1148541" y="4119967"/>
            <a:ext cx="513300" cy="406200"/>
          </a:xfrm>
          <a:prstGeom prst="straightConnector1">
            <a:avLst/>
          </a:prstGeom>
          <a:noFill/>
          <a:ln cap="flat" cmpd="sng" w="76200">
            <a:solidFill>
              <a:srgbClr val="4A86E8"/>
            </a:solidFill>
            <a:prstDash val="solid"/>
            <a:round/>
            <a:headEnd len="med" w="med" type="none"/>
            <a:tailEnd len="med" w="med" type="none"/>
          </a:ln>
        </p:spPr>
      </p:cxnSp>
      <p:cxnSp>
        <p:nvCxnSpPr>
          <p:cNvPr id="1818" name="Google Shape;1818;p158"/>
          <p:cNvCxnSpPr>
            <a:stCxn id="1815" idx="7"/>
            <a:endCxn id="1814" idx="3"/>
          </p:cNvCxnSpPr>
          <p:nvPr/>
        </p:nvCxnSpPr>
        <p:spPr>
          <a:xfrm flipH="1" rot="10800000">
            <a:off x="1852233" y="4397563"/>
            <a:ext cx="208500" cy="128700"/>
          </a:xfrm>
          <a:prstGeom prst="straightConnector1">
            <a:avLst/>
          </a:prstGeom>
          <a:noFill/>
          <a:ln cap="flat" cmpd="sng" w="76200">
            <a:solidFill>
              <a:schemeClr val="dk2"/>
            </a:solidFill>
            <a:prstDash val="solid"/>
            <a:round/>
            <a:headEnd len="med" w="med" type="none"/>
            <a:tailEnd len="med" w="med" type="none"/>
          </a:ln>
        </p:spPr>
      </p:cxnSp>
      <p:cxnSp>
        <p:nvCxnSpPr>
          <p:cNvPr id="1819" name="Google Shape;1819;p158"/>
          <p:cNvCxnSpPr>
            <a:stCxn id="1814" idx="0"/>
            <a:endCxn id="1813" idx="4"/>
          </p:cNvCxnSpPr>
          <p:nvPr/>
        </p:nvCxnSpPr>
        <p:spPr>
          <a:xfrm rot="10800000">
            <a:off x="2155906" y="4000368"/>
            <a:ext cx="0" cy="180300"/>
          </a:xfrm>
          <a:prstGeom prst="straightConnector1">
            <a:avLst/>
          </a:prstGeom>
          <a:noFill/>
          <a:ln cap="flat" cmpd="sng" w="76200">
            <a:solidFill>
              <a:schemeClr val="dk2"/>
            </a:solidFill>
            <a:prstDash val="solid"/>
            <a:round/>
            <a:headEnd len="med" w="med" type="none"/>
            <a:tailEnd len="med" w="med" type="none"/>
          </a:ln>
        </p:spPr>
      </p:cxnSp>
      <p:cxnSp>
        <p:nvCxnSpPr>
          <p:cNvPr id="1820" name="Google Shape;1820;p158"/>
          <p:cNvCxnSpPr>
            <a:stCxn id="1813" idx="0"/>
            <a:endCxn id="1812" idx="5"/>
          </p:cNvCxnSpPr>
          <p:nvPr/>
        </p:nvCxnSpPr>
        <p:spPr>
          <a:xfrm rot="10800000">
            <a:off x="1852306" y="3533822"/>
            <a:ext cx="303600" cy="212400"/>
          </a:xfrm>
          <a:prstGeom prst="straightConnector1">
            <a:avLst/>
          </a:prstGeom>
          <a:noFill/>
          <a:ln cap="flat" cmpd="sng" w="76200">
            <a:solidFill>
              <a:schemeClr val="dk2"/>
            </a:solidFill>
            <a:prstDash val="solid"/>
            <a:round/>
            <a:headEnd len="med" w="med" type="none"/>
            <a:tailEnd len="med" w="med" type="none"/>
          </a:ln>
        </p:spPr>
      </p:cxnSp>
      <p:cxnSp>
        <p:nvCxnSpPr>
          <p:cNvPr id="1821" name="Google Shape;1821;p158"/>
          <p:cNvCxnSpPr>
            <a:stCxn id="1815" idx="0"/>
            <a:endCxn id="1812" idx="4"/>
          </p:cNvCxnSpPr>
          <p:nvPr/>
        </p:nvCxnSpPr>
        <p:spPr>
          <a:xfrm rot="10800000">
            <a:off x="1757092" y="3571051"/>
            <a:ext cx="0" cy="918000"/>
          </a:xfrm>
          <a:prstGeom prst="straightConnector1">
            <a:avLst/>
          </a:prstGeom>
          <a:noFill/>
          <a:ln cap="flat" cmpd="sng" w="76200">
            <a:solidFill>
              <a:schemeClr val="dk2"/>
            </a:solidFill>
            <a:prstDash val="solid"/>
            <a:round/>
            <a:headEnd len="med" w="med" type="none"/>
            <a:tailEnd len="med" w="med" type="none"/>
          </a:ln>
        </p:spPr>
      </p:cxnSp>
      <p:cxnSp>
        <p:nvCxnSpPr>
          <p:cNvPr id="1822" name="Google Shape;1822;p158"/>
          <p:cNvCxnSpPr>
            <a:stCxn id="1815" idx="0"/>
            <a:endCxn id="1813" idx="3"/>
          </p:cNvCxnSpPr>
          <p:nvPr/>
        </p:nvCxnSpPr>
        <p:spPr>
          <a:xfrm flipH="1" rot="10800000">
            <a:off x="1757092" y="3963151"/>
            <a:ext cx="303600" cy="525900"/>
          </a:xfrm>
          <a:prstGeom prst="straightConnector1">
            <a:avLst/>
          </a:prstGeom>
          <a:noFill/>
          <a:ln cap="flat" cmpd="sng" w="76200">
            <a:solidFill>
              <a:schemeClr val="dk2"/>
            </a:solidFill>
            <a:prstDash val="solid"/>
            <a:round/>
            <a:headEnd len="med" w="med" type="none"/>
            <a:tailEnd len="med" w="med" type="none"/>
          </a:ln>
        </p:spPr>
      </p:cxnSp>
      <p:cxnSp>
        <p:nvCxnSpPr>
          <p:cNvPr id="1823" name="Google Shape;1823;p158"/>
          <p:cNvCxnSpPr>
            <a:stCxn id="1814" idx="1"/>
            <a:endCxn id="1812" idx="4"/>
          </p:cNvCxnSpPr>
          <p:nvPr/>
        </p:nvCxnSpPr>
        <p:spPr>
          <a:xfrm rot="10800000">
            <a:off x="1757164" y="3570780"/>
            <a:ext cx="303600" cy="647100"/>
          </a:xfrm>
          <a:prstGeom prst="straightConnector1">
            <a:avLst/>
          </a:prstGeom>
          <a:noFill/>
          <a:ln cap="flat" cmpd="sng" w="76200">
            <a:solidFill>
              <a:schemeClr val="dk2"/>
            </a:solidFill>
            <a:prstDash val="solid"/>
            <a:round/>
            <a:headEnd len="med" w="med" type="none"/>
            <a:tailEnd len="med" w="med" type="none"/>
          </a:ln>
        </p:spPr>
      </p:cxnSp>
      <p:cxnSp>
        <p:nvCxnSpPr>
          <p:cNvPr id="1824" name="Google Shape;1824;p158"/>
          <p:cNvCxnSpPr>
            <a:stCxn id="1811" idx="6"/>
            <a:endCxn id="1813" idx="2"/>
          </p:cNvCxnSpPr>
          <p:nvPr/>
        </p:nvCxnSpPr>
        <p:spPr>
          <a:xfrm flipH="1" rot="10800000">
            <a:off x="1187950" y="3873229"/>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825" name="Google Shape;1825;p158"/>
          <p:cNvCxnSpPr>
            <a:stCxn id="1811" idx="6"/>
            <a:endCxn id="1814" idx="2"/>
          </p:cNvCxnSpPr>
          <p:nvPr/>
        </p:nvCxnSpPr>
        <p:spPr>
          <a:xfrm>
            <a:off x="1187950" y="4030129"/>
            <a:ext cx="833400" cy="277500"/>
          </a:xfrm>
          <a:prstGeom prst="straightConnector1">
            <a:avLst/>
          </a:prstGeom>
          <a:noFill/>
          <a:ln cap="flat" cmpd="sng" w="76200">
            <a:solidFill>
              <a:srgbClr val="4A86E8"/>
            </a:solidFill>
            <a:prstDash val="solid"/>
            <a:round/>
            <a:headEnd len="med" w="med" type="none"/>
            <a:tailEnd len="med" w="med" type="none"/>
          </a:ln>
        </p:spPr>
      </p:cxnSp>
      <p:sp>
        <p:nvSpPr>
          <p:cNvPr id="1826" name="Google Shape;1826;p158"/>
          <p:cNvSpPr/>
          <p:nvPr/>
        </p:nvSpPr>
        <p:spPr>
          <a:xfrm>
            <a:off x="3941829" y="3792172"/>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58"/>
          <p:cNvSpPr/>
          <p:nvPr/>
        </p:nvSpPr>
        <p:spPr>
          <a:xfrm>
            <a:off x="4645521" y="320604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158"/>
          <p:cNvSpPr/>
          <p:nvPr/>
        </p:nvSpPr>
        <p:spPr>
          <a:xfrm>
            <a:off x="5044335" y="3635352"/>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58"/>
          <p:cNvSpPr/>
          <p:nvPr/>
        </p:nvSpPr>
        <p:spPr>
          <a:xfrm>
            <a:off x="5044335" y="406969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158"/>
          <p:cNvSpPr/>
          <p:nvPr/>
        </p:nvSpPr>
        <p:spPr>
          <a:xfrm>
            <a:off x="4645521" y="4378007"/>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31" name="Google Shape;1831;p158"/>
          <p:cNvCxnSpPr>
            <a:stCxn id="1826" idx="7"/>
            <a:endCxn id="1827" idx="3"/>
          </p:cNvCxnSpPr>
          <p:nvPr/>
        </p:nvCxnSpPr>
        <p:spPr>
          <a:xfrm flipH="1" rot="10800000">
            <a:off x="4171520" y="3422884"/>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832" name="Google Shape;1832;p158"/>
          <p:cNvCxnSpPr>
            <a:stCxn id="1826" idx="5"/>
            <a:endCxn id="1830" idx="1"/>
          </p:cNvCxnSpPr>
          <p:nvPr/>
        </p:nvCxnSpPr>
        <p:spPr>
          <a:xfrm>
            <a:off x="4171520" y="4009060"/>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833" name="Google Shape;1833;p158"/>
          <p:cNvCxnSpPr>
            <a:stCxn id="1829" idx="0"/>
            <a:endCxn id="1828" idx="4"/>
          </p:cNvCxnSpPr>
          <p:nvPr/>
        </p:nvCxnSpPr>
        <p:spPr>
          <a:xfrm rot="10800000">
            <a:off x="5178885" y="3889397"/>
            <a:ext cx="0" cy="180300"/>
          </a:xfrm>
          <a:prstGeom prst="straightConnector1">
            <a:avLst/>
          </a:prstGeom>
          <a:noFill/>
          <a:ln cap="flat" cmpd="sng" w="76200">
            <a:solidFill>
              <a:srgbClr val="B7B7B7"/>
            </a:solidFill>
            <a:prstDash val="solid"/>
            <a:round/>
            <a:headEnd len="med" w="med" type="none"/>
            <a:tailEnd len="med" w="med" type="none"/>
          </a:ln>
        </p:spPr>
      </p:cxnSp>
      <p:cxnSp>
        <p:nvCxnSpPr>
          <p:cNvPr id="1834" name="Google Shape;1834;p158"/>
          <p:cNvCxnSpPr>
            <a:stCxn id="1826" idx="6"/>
            <a:endCxn id="1828" idx="2"/>
          </p:cNvCxnSpPr>
          <p:nvPr/>
        </p:nvCxnSpPr>
        <p:spPr>
          <a:xfrm flipH="1" rot="10800000">
            <a:off x="4210929" y="3762322"/>
            <a:ext cx="833400" cy="156900"/>
          </a:xfrm>
          <a:prstGeom prst="straightConnector1">
            <a:avLst/>
          </a:prstGeom>
          <a:noFill/>
          <a:ln cap="flat" cmpd="sng" w="76200">
            <a:solidFill>
              <a:srgbClr val="4A86E8"/>
            </a:solidFill>
            <a:prstDash val="solid"/>
            <a:round/>
            <a:headEnd len="med" w="med" type="none"/>
            <a:tailEnd len="med" w="med" type="none"/>
          </a:ln>
        </p:spPr>
      </p:cxnSp>
      <p:cxnSp>
        <p:nvCxnSpPr>
          <p:cNvPr id="1835" name="Google Shape;1835;p158"/>
          <p:cNvCxnSpPr>
            <a:stCxn id="1826" idx="6"/>
            <a:endCxn id="1829" idx="2"/>
          </p:cNvCxnSpPr>
          <p:nvPr/>
        </p:nvCxnSpPr>
        <p:spPr>
          <a:xfrm>
            <a:off x="4210929" y="3919222"/>
            <a:ext cx="833400" cy="277500"/>
          </a:xfrm>
          <a:prstGeom prst="straightConnector1">
            <a:avLst/>
          </a:prstGeom>
          <a:noFill/>
          <a:ln cap="flat" cmpd="sng" w="76200">
            <a:solidFill>
              <a:srgbClr val="4A86E8"/>
            </a:solidFill>
            <a:prstDash val="solid"/>
            <a:round/>
            <a:headEnd len="med" w="med" type="none"/>
            <a:tailEnd len="med" w="med" type="none"/>
          </a:ln>
        </p:spPr>
      </p:cxnSp>
      <p:cxnSp>
        <p:nvCxnSpPr>
          <p:cNvPr id="1836" name="Google Shape;1836;p158"/>
          <p:cNvCxnSpPr/>
          <p:nvPr/>
        </p:nvCxnSpPr>
        <p:spPr>
          <a:xfrm flipH="1" rot="10800000">
            <a:off x="4779947" y="2878820"/>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837" name="Google Shape;1837;p158"/>
          <p:cNvCxnSpPr/>
          <p:nvPr/>
        </p:nvCxnSpPr>
        <p:spPr>
          <a:xfrm flipH="1" rot="10800000">
            <a:off x="4875007" y="3060294"/>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838" name="Google Shape;1838;p158"/>
          <p:cNvCxnSpPr>
            <a:stCxn id="1830" idx="6"/>
          </p:cNvCxnSpPr>
          <p:nvPr/>
        </p:nvCxnSpPr>
        <p:spPr>
          <a:xfrm>
            <a:off x="4914621" y="4505057"/>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839" name="Google Shape;1839;p158"/>
          <p:cNvCxnSpPr>
            <a:stCxn id="1830" idx="5"/>
          </p:cNvCxnSpPr>
          <p:nvPr/>
        </p:nvCxnSpPr>
        <p:spPr>
          <a:xfrm>
            <a:off x="4875213" y="4594895"/>
            <a:ext cx="139500" cy="272700"/>
          </a:xfrm>
          <a:prstGeom prst="straightConnector1">
            <a:avLst/>
          </a:prstGeom>
          <a:noFill/>
          <a:ln cap="flat" cmpd="sng" w="19050">
            <a:solidFill>
              <a:srgbClr val="B7B7B7"/>
            </a:solidFill>
            <a:prstDash val="dash"/>
            <a:round/>
            <a:headEnd len="med" w="med" type="none"/>
            <a:tailEnd len="med" w="med" type="stealth"/>
          </a:ln>
        </p:spPr>
      </p:cxnSp>
      <p:sp>
        <p:nvSpPr>
          <p:cNvPr id="1840" name="Google Shape;1840;p158"/>
          <p:cNvSpPr/>
          <p:nvPr/>
        </p:nvSpPr>
        <p:spPr>
          <a:xfrm>
            <a:off x="6853539" y="3838130"/>
            <a:ext cx="269100" cy="254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58"/>
          <p:cNvSpPr/>
          <p:nvPr/>
        </p:nvSpPr>
        <p:spPr>
          <a:xfrm>
            <a:off x="7557231" y="325200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58"/>
          <p:cNvSpPr/>
          <p:nvPr/>
        </p:nvSpPr>
        <p:spPr>
          <a:xfrm>
            <a:off x="7956044" y="3681310"/>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58"/>
          <p:cNvSpPr/>
          <p:nvPr/>
        </p:nvSpPr>
        <p:spPr>
          <a:xfrm>
            <a:off x="7956044" y="4115654"/>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158"/>
          <p:cNvSpPr/>
          <p:nvPr/>
        </p:nvSpPr>
        <p:spPr>
          <a:xfrm>
            <a:off x="7557231" y="4423965"/>
            <a:ext cx="269100" cy="254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45" name="Google Shape;1845;p158"/>
          <p:cNvCxnSpPr>
            <a:stCxn id="1840" idx="7"/>
            <a:endCxn id="1841" idx="3"/>
          </p:cNvCxnSpPr>
          <p:nvPr/>
        </p:nvCxnSpPr>
        <p:spPr>
          <a:xfrm flipH="1" rot="10800000">
            <a:off x="7083230" y="3468842"/>
            <a:ext cx="513300" cy="406500"/>
          </a:xfrm>
          <a:prstGeom prst="straightConnector1">
            <a:avLst/>
          </a:prstGeom>
          <a:noFill/>
          <a:ln cap="flat" cmpd="sng" w="19050">
            <a:solidFill>
              <a:srgbClr val="4A86E8"/>
            </a:solidFill>
            <a:prstDash val="dash"/>
            <a:round/>
            <a:headEnd len="med" w="med" type="none"/>
            <a:tailEnd len="med" w="med" type="none"/>
          </a:ln>
        </p:spPr>
      </p:cxnSp>
      <p:cxnSp>
        <p:nvCxnSpPr>
          <p:cNvPr id="1846" name="Google Shape;1846;p158"/>
          <p:cNvCxnSpPr>
            <a:stCxn id="1840" idx="5"/>
            <a:endCxn id="1844" idx="1"/>
          </p:cNvCxnSpPr>
          <p:nvPr/>
        </p:nvCxnSpPr>
        <p:spPr>
          <a:xfrm>
            <a:off x="7083230" y="4055018"/>
            <a:ext cx="513300" cy="406200"/>
          </a:xfrm>
          <a:prstGeom prst="straightConnector1">
            <a:avLst/>
          </a:prstGeom>
          <a:noFill/>
          <a:ln cap="flat" cmpd="sng" w="19050">
            <a:solidFill>
              <a:srgbClr val="4A86E8"/>
            </a:solidFill>
            <a:prstDash val="dash"/>
            <a:round/>
            <a:headEnd len="med" w="med" type="none"/>
            <a:tailEnd len="med" w="med" type="none"/>
          </a:ln>
        </p:spPr>
      </p:cxnSp>
      <p:cxnSp>
        <p:nvCxnSpPr>
          <p:cNvPr id="1847" name="Google Shape;1847;p158"/>
          <p:cNvCxnSpPr>
            <a:stCxn id="1840" idx="6"/>
            <a:endCxn id="1842" idx="2"/>
          </p:cNvCxnSpPr>
          <p:nvPr/>
        </p:nvCxnSpPr>
        <p:spPr>
          <a:xfrm flipH="1" rot="10800000">
            <a:off x="7122639" y="3808280"/>
            <a:ext cx="833400" cy="156900"/>
          </a:xfrm>
          <a:prstGeom prst="straightConnector1">
            <a:avLst/>
          </a:prstGeom>
          <a:noFill/>
          <a:ln cap="flat" cmpd="sng" w="19050">
            <a:solidFill>
              <a:srgbClr val="4A86E8"/>
            </a:solidFill>
            <a:prstDash val="dash"/>
            <a:round/>
            <a:headEnd len="med" w="med" type="none"/>
            <a:tailEnd len="med" w="med" type="none"/>
          </a:ln>
        </p:spPr>
      </p:cxnSp>
      <p:cxnSp>
        <p:nvCxnSpPr>
          <p:cNvPr id="1848" name="Google Shape;1848;p158"/>
          <p:cNvCxnSpPr>
            <a:stCxn id="1840" idx="6"/>
            <a:endCxn id="1843" idx="2"/>
          </p:cNvCxnSpPr>
          <p:nvPr/>
        </p:nvCxnSpPr>
        <p:spPr>
          <a:xfrm>
            <a:off x="7122639" y="3965180"/>
            <a:ext cx="833400" cy="277500"/>
          </a:xfrm>
          <a:prstGeom prst="straightConnector1">
            <a:avLst/>
          </a:prstGeom>
          <a:noFill/>
          <a:ln cap="flat" cmpd="sng" w="19050">
            <a:solidFill>
              <a:srgbClr val="4A86E8"/>
            </a:solidFill>
            <a:prstDash val="dash"/>
            <a:round/>
            <a:headEnd len="med" w="med" type="none"/>
            <a:tailEnd len="med" w="med" type="none"/>
          </a:ln>
        </p:spPr>
      </p:cxnSp>
      <p:cxnSp>
        <p:nvCxnSpPr>
          <p:cNvPr id="1849" name="Google Shape;1849;p158"/>
          <p:cNvCxnSpPr/>
          <p:nvPr/>
        </p:nvCxnSpPr>
        <p:spPr>
          <a:xfrm flipH="1" rot="10800000">
            <a:off x="7691656" y="2924778"/>
            <a:ext cx="79200" cy="324000"/>
          </a:xfrm>
          <a:prstGeom prst="straightConnector1">
            <a:avLst/>
          </a:prstGeom>
          <a:noFill/>
          <a:ln cap="flat" cmpd="sng" w="19050">
            <a:solidFill>
              <a:srgbClr val="B7B7B7"/>
            </a:solidFill>
            <a:prstDash val="dash"/>
            <a:round/>
            <a:headEnd len="med" w="med" type="none"/>
            <a:tailEnd len="med" w="med" type="stealth"/>
          </a:ln>
        </p:spPr>
      </p:cxnSp>
      <p:cxnSp>
        <p:nvCxnSpPr>
          <p:cNvPr id="1850" name="Google Shape;1850;p158"/>
          <p:cNvCxnSpPr/>
          <p:nvPr/>
        </p:nvCxnSpPr>
        <p:spPr>
          <a:xfrm flipH="1" rot="10800000">
            <a:off x="7786717" y="3106252"/>
            <a:ext cx="320400" cy="183000"/>
          </a:xfrm>
          <a:prstGeom prst="straightConnector1">
            <a:avLst/>
          </a:prstGeom>
          <a:noFill/>
          <a:ln cap="flat" cmpd="sng" w="19050">
            <a:solidFill>
              <a:srgbClr val="B7B7B7"/>
            </a:solidFill>
            <a:prstDash val="dash"/>
            <a:round/>
            <a:headEnd len="med" w="med" type="none"/>
            <a:tailEnd len="med" w="med" type="stealth"/>
          </a:ln>
        </p:spPr>
      </p:cxnSp>
      <p:cxnSp>
        <p:nvCxnSpPr>
          <p:cNvPr id="1851" name="Google Shape;1851;p158"/>
          <p:cNvCxnSpPr>
            <a:stCxn id="1844" idx="6"/>
          </p:cNvCxnSpPr>
          <p:nvPr/>
        </p:nvCxnSpPr>
        <p:spPr>
          <a:xfrm>
            <a:off x="7826331" y="4551015"/>
            <a:ext cx="319800" cy="75600"/>
          </a:xfrm>
          <a:prstGeom prst="straightConnector1">
            <a:avLst/>
          </a:prstGeom>
          <a:noFill/>
          <a:ln cap="flat" cmpd="sng" w="19050">
            <a:solidFill>
              <a:srgbClr val="B7B7B7"/>
            </a:solidFill>
            <a:prstDash val="dash"/>
            <a:round/>
            <a:headEnd len="med" w="med" type="none"/>
            <a:tailEnd len="med" w="med" type="stealth"/>
          </a:ln>
        </p:spPr>
      </p:cxnSp>
      <p:cxnSp>
        <p:nvCxnSpPr>
          <p:cNvPr id="1852" name="Google Shape;1852;p158"/>
          <p:cNvCxnSpPr>
            <a:stCxn id="1844" idx="5"/>
          </p:cNvCxnSpPr>
          <p:nvPr/>
        </p:nvCxnSpPr>
        <p:spPr>
          <a:xfrm>
            <a:off x="7786922" y="4640853"/>
            <a:ext cx="139500" cy="272700"/>
          </a:xfrm>
          <a:prstGeom prst="straightConnector1">
            <a:avLst/>
          </a:prstGeom>
          <a:noFill/>
          <a:ln cap="flat" cmpd="sng" w="19050">
            <a:solidFill>
              <a:srgbClr val="B7B7B7"/>
            </a:solidFill>
            <a:prstDash val="dash"/>
            <a:round/>
            <a:headEnd len="med" w="med" type="none"/>
            <a:tailEnd len="med" w="med" type="stealth"/>
          </a:ln>
        </p:spPr>
      </p:cxn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1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858" name="Google Shape;1858;p15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In thinking about preferences between low and high bandwidth ties we must take into account properties of the information environment</a:t>
            </a:r>
            <a:endParaRPr/>
          </a:p>
          <a:p>
            <a:pPr indent="-317500" lvl="1" marL="914400" marR="0" rtl="0" algn="l">
              <a:lnSpc>
                <a:spcPct val="115000"/>
              </a:lnSpc>
              <a:spcBef>
                <a:spcPts val="0"/>
              </a:spcBef>
              <a:spcAft>
                <a:spcPts val="0"/>
              </a:spcAft>
              <a:buSzPts val="1400"/>
              <a:buChar char="○"/>
            </a:pPr>
            <a:r>
              <a:rPr lang="en"/>
              <a:t>Who knows what?</a:t>
            </a:r>
            <a:endParaRPr/>
          </a:p>
          <a:p>
            <a:pPr indent="-317500" lvl="1" marL="914400" marR="0" rtl="0" algn="l">
              <a:lnSpc>
                <a:spcPct val="115000"/>
              </a:lnSpc>
              <a:spcBef>
                <a:spcPts val="0"/>
              </a:spcBef>
              <a:spcAft>
                <a:spcPts val="0"/>
              </a:spcAft>
              <a:buSzPts val="1400"/>
              <a:buChar char="○"/>
            </a:pPr>
            <a:r>
              <a:rPr lang="en"/>
              <a:t>At what frequency is knowledge transmitted?</a:t>
            </a:r>
            <a:endParaRPr/>
          </a:p>
          <a:p>
            <a:pPr indent="-342900" lvl="0" marL="457200" marR="0" rtl="0" algn="l">
              <a:lnSpc>
                <a:spcPct val="115000"/>
              </a:lnSpc>
              <a:spcBef>
                <a:spcPts val="0"/>
              </a:spcBef>
              <a:spcAft>
                <a:spcPts val="0"/>
              </a:spcAft>
              <a:buSzPts val="1800"/>
              <a:buChar char="●"/>
            </a:pPr>
            <a:r>
              <a:rPr lang="en"/>
              <a:t>Low bandwidth works better when contacts are diverse in information </a:t>
            </a:r>
            <a:endParaRPr/>
          </a:p>
        </p:txBody>
      </p:sp>
      <p:sp>
        <p:nvSpPr>
          <p:cNvPr id="1859" name="Google Shape;1859;p159"/>
          <p:cNvSpPr/>
          <p:nvPr/>
        </p:nvSpPr>
        <p:spPr>
          <a:xfrm>
            <a:off x="1011888" y="3759155"/>
            <a:ext cx="322200" cy="305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159"/>
          <p:cNvSpPr/>
          <p:nvPr/>
        </p:nvSpPr>
        <p:spPr>
          <a:xfrm>
            <a:off x="1855421" y="3055866"/>
            <a:ext cx="322200" cy="305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159"/>
          <p:cNvSpPr/>
          <p:nvPr/>
        </p:nvSpPr>
        <p:spPr>
          <a:xfrm>
            <a:off x="1855421" y="4462095"/>
            <a:ext cx="322200" cy="305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62" name="Google Shape;1862;p159"/>
          <p:cNvCxnSpPr>
            <a:stCxn id="1859" idx="7"/>
            <a:endCxn id="1860" idx="3"/>
          </p:cNvCxnSpPr>
          <p:nvPr/>
        </p:nvCxnSpPr>
        <p:spPr>
          <a:xfrm flipH="1" rot="10800000">
            <a:off x="1286902" y="3316336"/>
            <a:ext cx="615600" cy="487500"/>
          </a:xfrm>
          <a:prstGeom prst="straightConnector1">
            <a:avLst/>
          </a:prstGeom>
          <a:noFill/>
          <a:ln cap="flat" cmpd="sng" w="28575">
            <a:solidFill>
              <a:srgbClr val="4A86E8"/>
            </a:solidFill>
            <a:prstDash val="dash"/>
            <a:round/>
            <a:headEnd len="med" w="med" type="none"/>
            <a:tailEnd len="med" w="med" type="none"/>
          </a:ln>
        </p:spPr>
      </p:cxnSp>
      <p:cxnSp>
        <p:nvCxnSpPr>
          <p:cNvPr id="1863" name="Google Shape;1863;p159"/>
          <p:cNvCxnSpPr>
            <a:stCxn id="1859" idx="5"/>
            <a:endCxn id="1861" idx="1"/>
          </p:cNvCxnSpPr>
          <p:nvPr/>
        </p:nvCxnSpPr>
        <p:spPr>
          <a:xfrm>
            <a:off x="1286902" y="4019574"/>
            <a:ext cx="615600" cy="487200"/>
          </a:xfrm>
          <a:prstGeom prst="straightConnector1">
            <a:avLst/>
          </a:prstGeom>
          <a:noFill/>
          <a:ln cap="flat" cmpd="sng" w="28575">
            <a:solidFill>
              <a:srgbClr val="4A86E8"/>
            </a:solidFill>
            <a:prstDash val="dash"/>
            <a:round/>
            <a:headEnd len="med" w="med" type="none"/>
            <a:tailEnd len="med" w="med" type="none"/>
          </a:ln>
        </p:spPr>
      </p:cxnSp>
      <p:sp>
        <p:nvSpPr>
          <p:cNvPr id="1864" name="Google Shape;1864;p159"/>
          <p:cNvSpPr/>
          <p:nvPr/>
        </p:nvSpPr>
        <p:spPr>
          <a:xfrm>
            <a:off x="2248627" y="2997400"/>
            <a:ext cx="1306800" cy="4224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999999"/>
                </a:solidFill>
              </a:rPr>
              <a:t>1, 2, 3, 4</a:t>
            </a:r>
            <a:endParaRPr sz="1800">
              <a:solidFill>
                <a:srgbClr val="999999"/>
              </a:solidFill>
            </a:endParaRPr>
          </a:p>
        </p:txBody>
      </p:sp>
      <p:sp>
        <p:nvSpPr>
          <p:cNvPr id="1865" name="Google Shape;1865;p159"/>
          <p:cNvSpPr/>
          <p:nvPr/>
        </p:nvSpPr>
        <p:spPr>
          <a:xfrm>
            <a:off x="2248627" y="4403623"/>
            <a:ext cx="1306800" cy="4224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999999"/>
                </a:solidFill>
              </a:rPr>
              <a:t>5, 6, 7, 8</a:t>
            </a:r>
            <a:endParaRPr sz="1800">
              <a:solidFill>
                <a:srgbClr val="999999"/>
              </a:solidFill>
            </a:endParaRPr>
          </a:p>
        </p:txBody>
      </p:sp>
      <p:sp>
        <p:nvSpPr>
          <p:cNvPr id="1866" name="Google Shape;1866;p159"/>
          <p:cNvSpPr/>
          <p:nvPr/>
        </p:nvSpPr>
        <p:spPr>
          <a:xfrm>
            <a:off x="5588567" y="3759335"/>
            <a:ext cx="322200" cy="3051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159"/>
          <p:cNvSpPr/>
          <p:nvPr/>
        </p:nvSpPr>
        <p:spPr>
          <a:xfrm>
            <a:off x="6432100" y="3056046"/>
            <a:ext cx="322200" cy="305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159"/>
          <p:cNvSpPr/>
          <p:nvPr/>
        </p:nvSpPr>
        <p:spPr>
          <a:xfrm>
            <a:off x="6432100" y="4462275"/>
            <a:ext cx="322200" cy="3051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69" name="Google Shape;1869;p159"/>
          <p:cNvCxnSpPr>
            <a:stCxn id="1866" idx="7"/>
            <a:endCxn id="1867" idx="3"/>
          </p:cNvCxnSpPr>
          <p:nvPr/>
        </p:nvCxnSpPr>
        <p:spPr>
          <a:xfrm flipH="1" rot="10800000">
            <a:off x="5863582" y="3316516"/>
            <a:ext cx="615600" cy="487500"/>
          </a:xfrm>
          <a:prstGeom prst="straightConnector1">
            <a:avLst/>
          </a:prstGeom>
          <a:noFill/>
          <a:ln cap="flat" cmpd="sng" w="76200">
            <a:solidFill>
              <a:srgbClr val="4A86E8"/>
            </a:solidFill>
            <a:prstDash val="solid"/>
            <a:round/>
            <a:headEnd len="med" w="med" type="none"/>
            <a:tailEnd len="med" w="med" type="none"/>
          </a:ln>
        </p:spPr>
      </p:cxnSp>
      <p:cxnSp>
        <p:nvCxnSpPr>
          <p:cNvPr id="1870" name="Google Shape;1870;p159"/>
          <p:cNvCxnSpPr>
            <a:stCxn id="1866" idx="5"/>
            <a:endCxn id="1868" idx="1"/>
          </p:cNvCxnSpPr>
          <p:nvPr/>
        </p:nvCxnSpPr>
        <p:spPr>
          <a:xfrm>
            <a:off x="5863582" y="4019754"/>
            <a:ext cx="615600" cy="487200"/>
          </a:xfrm>
          <a:prstGeom prst="straightConnector1">
            <a:avLst/>
          </a:prstGeom>
          <a:noFill/>
          <a:ln cap="flat" cmpd="sng" w="76200">
            <a:solidFill>
              <a:srgbClr val="4A86E8"/>
            </a:solidFill>
            <a:prstDash val="solid"/>
            <a:round/>
            <a:headEnd len="med" w="med" type="none"/>
            <a:tailEnd len="med" w="med" type="none"/>
          </a:ln>
        </p:spPr>
      </p:cxnSp>
      <p:sp>
        <p:nvSpPr>
          <p:cNvPr id="1871" name="Google Shape;1871;p159"/>
          <p:cNvSpPr/>
          <p:nvPr/>
        </p:nvSpPr>
        <p:spPr>
          <a:xfrm>
            <a:off x="6825307" y="2997580"/>
            <a:ext cx="1306800" cy="4224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999999"/>
                </a:solidFill>
              </a:rPr>
              <a:t>1, 2, 3, 4</a:t>
            </a:r>
            <a:endParaRPr sz="1800">
              <a:solidFill>
                <a:srgbClr val="999999"/>
              </a:solidFill>
            </a:endParaRPr>
          </a:p>
        </p:txBody>
      </p:sp>
      <p:sp>
        <p:nvSpPr>
          <p:cNvPr id="1872" name="Google Shape;1872;p159"/>
          <p:cNvSpPr/>
          <p:nvPr/>
        </p:nvSpPr>
        <p:spPr>
          <a:xfrm>
            <a:off x="6825307" y="4403804"/>
            <a:ext cx="1306800" cy="4224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999999"/>
                </a:solidFill>
              </a:rPr>
              <a:t>1, 2, 3, 4</a:t>
            </a:r>
            <a:endParaRPr sz="1800">
              <a:solidFill>
                <a:srgbClr val="999999"/>
              </a:solidFill>
            </a:endParaRPr>
          </a:p>
        </p:txBody>
      </p:sp>
      <p:cxnSp>
        <p:nvCxnSpPr>
          <p:cNvPr id="1873" name="Google Shape;1873;p159"/>
          <p:cNvCxnSpPr>
            <a:stCxn id="1868" idx="0"/>
            <a:endCxn id="1867" idx="4"/>
          </p:cNvCxnSpPr>
          <p:nvPr/>
        </p:nvCxnSpPr>
        <p:spPr>
          <a:xfrm rot="10800000">
            <a:off x="6593200" y="3361275"/>
            <a:ext cx="0" cy="1101000"/>
          </a:xfrm>
          <a:prstGeom prst="straightConnector1">
            <a:avLst/>
          </a:prstGeom>
          <a:noFill/>
          <a:ln cap="flat" cmpd="sng" w="76200">
            <a:solidFill>
              <a:srgbClr val="B7B7B7"/>
            </a:solidFill>
            <a:prstDash val="solid"/>
            <a:round/>
            <a:headEnd len="med" w="med" type="none"/>
            <a:tailEnd len="med" w="med" type="none"/>
          </a:ln>
        </p:spPr>
      </p:cxn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7" name="Shape 1877"/>
        <p:cNvGrpSpPr/>
        <p:nvPr/>
      </p:nvGrpSpPr>
      <p:grpSpPr>
        <a:xfrm>
          <a:off x="0" y="0"/>
          <a:ext cx="0" cy="0"/>
          <a:chOff x="0" y="0"/>
          <a:chExt cx="0" cy="0"/>
        </a:xfrm>
      </p:grpSpPr>
      <p:sp>
        <p:nvSpPr>
          <p:cNvPr id="1878" name="Google Shape;1878;p1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879" name="Google Shape;1879;p160"/>
          <p:cNvSpPr/>
          <p:nvPr/>
        </p:nvSpPr>
        <p:spPr>
          <a:xfrm>
            <a:off x="341313" y="2201513"/>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60"/>
          <p:cNvSpPr/>
          <p:nvPr/>
        </p:nvSpPr>
        <p:spPr>
          <a:xfrm>
            <a:off x="1335137" y="1371617"/>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60"/>
          <p:cNvSpPr/>
          <p:nvPr/>
        </p:nvSpPr>
        <p:spPr>
          <a:xfrm>
            <a:off x="1335137" y="3030998"/>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2" name="Google Shape;1882;p160"/>
          <p:cNvCxnSpPr>
            <a:stCxn id="1879" idx="7"/>
            <a:endCxn id="1880" idx="3"/>
          </p:cNvCxnSpPr>
          <p:nvPr/>
        </p:nvCxnSpPr>
        <p:spPr>
          <a:xfrm flipH="1" rot="10800000">
            <a:off x="665492" y="1678833"/>
            <a:ext cx="725400" cy="575400"/>
          </a:xfrm>
          <a:prstGeom prst="straightConnector1">
            <a:avLst/>
          </a:prstGeom>
          <a:noFill/>
          <a:ln cap="flat" cmpd="sng" w="28575">
            <a:solidFill>
              <a:srgbClr val="4A86E8"/>
            </a:solidFill>
            <a:prstDash val="dash"/>
            <a:round/>
            <a:headEnd len="med" w="med" type="none"/>
            <a:tailEnd len="med" w="med" type="none"/>
          </a:ln>
        </p:spPr>
      </p:cxnSp>
      <p:cxnSp>
        <p:nvCxnSpPr>
          <p:cNvPr id="1883" name="Google Shape;1883;p160"/>
          <p:cNvCxnSpPr>
            <a:stCxn id="1879" idx="5"/>
            <a:endCxn id="1881" idx="1"/>
          </p:cNvCxnSpPr>
          <p:nvPr/>
        </p:nvCxnSpPr>
        <p:spPr>
          <a:xfrm>
            <a:off x="665492" y="2508792"/>
            <a:ext cx="725400" cy="574800"/>
          </a:xfrm>
          <a:prstGeom prst="straightConnector1">
            <a:avLst/>
          </a:prstGeom>
          <a:noFill/>
          <a:ln cap="flat" cmpd="sng" w="28575">
            <a:solidFill>
              <a:srgbClr val="4A86E8"/>
            </a:solidFill>
            <a:prstDash val="dash"/>
            <a:round/>
            <a:headEnd len="med" w="med" type="none"/>
            <a:tailEnd len="med" w="med" type="none"/>
          </a:ln>
        </p:spPr>
      </p:cxnSp>
      <p:sp>
        <p:nvSpPr>
          <p:cNvPr id="1884" name="Google Shape;1884;p160"/>
          <p:cNvSpPr/>
          <p:nvPr/>
        </p:nvSpPr>
        <p:spPr>
          <a:xfrm>
            <a:off x="1798400" y="1302625"/>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sp>
        <p:nvSpPr>
          <p:cNvPr id="1885" name="Google Shape;1885;p160"/>
          <p:cNvSpPr/>
          <p:nvPr/>
        </p:nvSpPr>
        <p:spPr>
          <a:xfrm>
            <a:off x="1798400" y="2962000"/>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5, 6, 7, 8</a:t>
            </a:r>
            <a:endParaRPr sz="2400">
              <a:solidFill>
                <a:srgbClr val="999999"/>
              </a:solidFill>
            </a:endParaRPr>
          </a:p>
        </p:txBody>
      </p:sp>
      <p:sp>
        <p:nvSpPr>
          <p:cNvPr id="1886" name="Google Shape;1886;p160"/>
          <p:cNvSpPr/>
          <p:nvPr/>
        </p:nvSpPr>
        <p:spPr>
          <a:xfrm>
            <a:off x="5733413" y="2201725"/>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60"/>
          <p:cNvSpPr/>
          <p:nvPr/>
        </p:nvSpPr>
        <p:spPr>
          <a:xfrm>
            <a:off x="6727237" y="1371829"/>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60"/>
          <p:cNvSpPr/>
          <p:nvPr/>
        </p:nvSpPr>
        <p:spPr>
          <a:xfrm>
            <a:off x="6727237" y="3031210"/>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9" name="Google Shape;1889;p160"/>
          <p:cNvCxnSpPr>
            <a:stCxn id="1886" idx="7"/>
            <a:endCxn id="1887" idx="3"/>
          </p:cNvCxnSpPr>
          <p:nvPr/>
        </p:nvCxnSpPr>
        <p:spPr>
          <a:xfrm flipH="1" rot="10800000">
            <a:off x="6057592" y="1679046"/>
            <a:ext cx="725400" cy="575400"/>
          </a:xfrm>
          <a:prstGeom prst="straightConnector1">
            <a:avLst/>
          </a:prstGeom>
          <a:noFill/>
          <a:ln cap="flat" cmpd="sng" w="76200">
            <a:solidFill>
              <a:srgbClr val="4A86E8"/>
            </a:solidFill>
            <a:prstDash val="solid"/>
            <a:round/>
            <a:headEnd len="med" w="med" type="none"/>
            <a:tailEnd len="med" w="med" type="none"/>
          </a:ln>
        </p:spPr>
      </p:cxnSp>
      <p:cxnSp>
        <p:nvCxnSpPr>
          <p:cNvPr id="1890" name="Google Shape;1890;p160"/>
          <p:cNvCxnSpPr>
            <a:stCxn id="1886" idx="5"/>
            <a:endCxn id="1888" idx="1"/>
          </p:cNvCxnSpPr>
          <p:nvPr/>
        </p:nvCxnSpPr>
        <p:spPr>
          <a:xfrm>
            <a:off x="6057592" y="2509004"/>
            <a:ext cx="725400" cy="574800"/>
          </a:xfrm>
          <a:prstGeom prst="straightConnector1">
            <a:avLst/>
          </a:prstGeom>
          <a:noFill/>
          <a:ln cap="flat" cmpd="sng" w="76200">
            <a:solidFill>
              <a:srgbClr val="4A86E8"/>
            </a:solidFill>
            <a:prstDash val="solid"/>
            <a:round/>
            <a:headEnd len="med" w="med" type="none"/>
            <a:tailEnd len="med" w="med" type="none"/>
          </a:ln>
        </p:spPr>
      </p:cxnSp>
      <p:sp>
        <p:nvSpPr>
          <p:cNvPr id="1891" name="Google Shape;1891;p160"/>
          <p:cNvSpPr/>
          <p:nvPr/>
        </p:nvSpPr>
        <p:spPr>
          <a:xfrm>
            <a:off x="7190500" y="1302838"/>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sp>
        <p:nvSpPr>
          <p:cNvPr id="1892" name="Google Shape;1892;p160"/>
          <p:cNvSpPr/>
          <p:nvPr/>
        </p:nvSpPr>
        <p:spPr>
          <a:xfrm>
            <a:off x="7190500" y="2962213"/>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cxnSp>
        <p:nvCxnSpPr>
          <p:cNvPr id="1893" name="Google Shape;1893;p160"/>
          <p:cNvCxnSpPr>
            <a:stCxn id="1888" idx="0"/>
            <a:endCxn id="1887" idx="4"/>
          </p:cNvCxnSpPr>
          <p:nvPr/>
        </p:nvCxnSpPr>
        <p:spPr>
          <a:xfrm rot="10800000">
            <a:off x="6917137" y="1731910"/>
            <a:ext cx="0" cy="1299300"/>
          </a:xfrm>
          <a:prstGeom prst="straightConnector1">
            <a:avLst/>
          </a:prstGeom>
          <a:noFill/>
          <a:ln cap="flat" cmpd="sng" w="76200">
            <a:solidFill>
              <a:srgbClr val="B7B7B7"/>
            </a:solidFill>
            <a:prstDash val="solid"/>
            <a:round/>
            <a:headEnd len="med" w="med" type="none"/>
            <a:tailEnd len="med" w="med" type="none"/>
          </a:ln>
        </p:spPr>
      </p:cxnSp>
      <p:sp>
        <p:nvSpPr>
          <p:cNvPr id="1894" name="Google Shape;1894;p160"/>
          <p:cNvSpPr txBox="1"/>
          <p:nvPr/>
        </p:nvSpPr>
        <p:spPr>
          <a:xfrm>
            <a:off x="4179725" y="2093825"/>
            <a:ext cx="1059900" cy="5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This is better!</a:t>
            </a:r>
            <a:endParaRPr b="1">
              <a:solidFill>
                <a:srgbClr val="FF0000"/>
              </a:solidFill>
              <a:latin typeface="Open Sans"/>
              <a:ea typeface="Open Sans"/>
              <a:cs typeface="Open Sans"/>
              <a:sym typeface="Open Sans"/>
            </a:endParaRPr>
          </a:p>
        </p:txBody>
      </p:sp>
      <p:sp>
        <p:nvSpPr>
          <p:cNvPr id="1895" name="Google Shape;1895;p160"/>
          <p:cNvSpPr txBox="1"/>
          <p:nvPr>
            <p:ph idx="1" type="body"/>
          </p:nvPr>
        </p:nvSpPr>
        <p:spPr>
          <a:xfrm>
            <a:off x="311700" y="3705575"/>
            <a:ext cx="8520600" cy="110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When your contacts have diverse pools of information (different people you know different things)</a:t>
            </a:r>
            <a:endParaRPr/>
          </a:p>
          <a:p>
            <a:pPr indent="-317500" lvl="1" marL="914400" rtl="0" algn="l">
              <a:spcBef>
                <a:spcPts val="0"/>
              </a:spcBef>
              <a:spcAft>
                <a:spcPts val="0"/>
              </a:spcAft>
              <a:buSzPts val="1400"/>
              <a:buChar char="○"/>
            </a:pPr>
            <a:r>
              <a:rPr lang="en"/>
              <a:t>Weak low bandwidth ties are better</a:t>
            </a:r>
            <a:endParaRPr/>
          </a:p>
        </p:txBody>
      </p:sp>
      <p:cxnSp>
        <p:nvCxnSpPr>
          <p:cNvPr id="1896" name="Google Shape;1896;p160"/>
          <p:cNvCxnSpPr>
            <a:stCxn id="1894" idx="1"/>
          </p:cNvCxnSpPr>
          <p:nvPr/>
        </p:nvCxnSpPr>
        <p:spPr>
          <a:xfrm rot="10800000">
            <a:off x="3419225" y="2375525"/>
            <a:ext cx="760500" cy="60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0" name="Shape 1900"/>
        <p:cNvGrpSpPr/>
        <p:nvPr/>
      </p:nvGrpSpPr>
      <p:grpSpPr>
        <a:xfrm>
          <a:off x="0" y="0"/>
          <a:ext cx="0" cy="0"/>
          <a:chOff x="0" y="0"/>
          <a:chExt cx="0" cy="0"/>
        </a:xfrm>
      </p:grpSpPr>
      <p:sp>
        <p:nvSpPr>
          <p:cNvPr id="1901" name="Google Shape;1901;p1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902" name="Google Shape;1902;p161"/>
          <p:cNvSpPr/>
          <p:nvPr/>
        </p:nvSpPr>
        <p:spPr>
          <a:xfrm>
            <a:off x="341313" y="2201513"/>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161"/>
          <p:cNvSpPr/>
          <p:nvPr/>
        </p:nvSpPr>
        <p:spPr>
          <a:xfrm>
            <a:off x="1335137" y="1371617"/>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61"/>
          <p:cNvSpPr/>
          <p:nvPr/>
        </p:nvSpPr>
        <p:spPr>
          <a:xfrm>
            <a:off x="1335137" y="3030998"/>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05" name="Google Shape;1905;p161"/>
          <p:cNvCxnSpPr>
            <a:stCxn id="1902" idx="7"/>
            <a:endCxn id="1903" idx="3"/>
          </p:cNvCxnSpPr>
          <p:nvPr/>
        </p:nvCxnSpPr>
        <p:spPr>
          <a:xfrm flipH="1" rot="10800000">
            <a:off x="665492" y="1678833"/>
            <a:ext cx="725400" cy="575400"/>
          </a:xfrm>
          <a:prstGeom prst="straightConnector1">
            <a:avLst/>
          </a:prstGeom>
          <a:noFill/>
          <a:ln cap="flat" cmpd="sng" w="28575">
            <a:solidFill>
              <a:srgbClr val="4A86E8"/>
            </a:solidFill>
            <a:prstDash val="dash"/>
            <a:round/>
            <a:headEnd len="med" w="med" type="none"/>
            <a:tailEnd len="med" w="med" type="none"/>
          </a:ln>
        </p:spPr>
      </p:cxnSp>
      <p:cxnSp>
        <p:nvCxnSpPr>
          <p:cNvPr id="1906" name="Google Shape;1906;p161"/>
          <p:cNvCxnSpPr>
            <a:stCxn id="1902" idx="5"/>
            <a:endCxn id="1904" idx="1"/>
          </p:cNvCxnSpPr>
          <p:nvPr/>
        </p:nvCxnSpPr>
        <p:spPr>
          <a:xfrm>
            <a:off x="665492" y="2508792"/>
            <a:ext cx="725400" cy="574800"/>
          </a:xfrm>
          <a:prstGeom prst="straightConnector1">
            <a:avLst/>
          </a:prstGeom>
          <a:noFill/>
          <a:ln cap="flat" cmpd="sng" w="28575">
            <a:solidFill>
              <a:srgbClr val="4A86E8"/>
            </a:solidFill>
            <a:prstDash val="dash"/>
            <a:round/>
            <a:headEnd len="med" w="med" type="none"/>
            <a:tailEnd len="med" w="med" type="none"/>
          </a:ln>
        </p:spPr>
      </p:cxnSp>
      <p:sp>
        <p:nvSpPr>
          <p:cNvPr id="1907" name="Google Shape;1907;p161"/>
          <p:cNvSpPr/>
          <p:nvPr/>
        </p:nvSpPr>
        <p:spPr>
          <a:xfrm>
            <a:off x="1798400" y="1302625"/>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sp>
        <p:nvSpPr>
          <p:cNvPr id="1908" name="Google Shape;1908;p161"/>
          <p:cNvSpPr/>
          <p:nvPr/>
        </p:nvSpPr>
        <p:spPr>
          <a:xfrm>
            <a:off x="1798400" y="2962000"/>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5, 6, 7, 8</a:t>
            </a:r>
            <a:endParaRPr sz="2400">
              <a:solidFill>
                <a:srgbClr val="999999"/>
              </a:solidFill>
            </a:endParaRPr>
          </a:p>
        </p:txBody>
      </p:sp>
      <p:sp>
        <p:nvSpPr>
          <p:cNvPr id="1909" name="Google Shape;1909;p161"/>
          <p:cNvSpPr/>
          <p:nvPr/>
        </p:nvSpPr>
        <p:spPr>
          <a:xfrm>
            <a:off x="5733413" y="2201725"/>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161"/>
          <p:cNvSpPr/>
          <p:nvPr/>
        </p:nvSpPr>
        <p:spPr>
          <a:xfrm>
            <a:off x="6727237" y="1371829"/>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161"/>
          <p:cNvSpPr/>
          <p:nvPr/>
        </p:nvSpPr>
        <p:spPr>
          <a:xfrm>
            <a:off x="6727237" y="3031210"/>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2" name="Google Shape;1912;p161"/>
          <p:cNvCxnSpPr>
            <a:stCxn id="1909" idx="7"/>
            <a:endCxn id="1910" idx="3"/>
          </p:cNvCxnSpPr>
          <p:nvPr/>
        </p:nvCxnSpPr>
        <p:spPr>
          <a:xfrm flipH="1" rot="10800000">
            <a:off x="6057592" y="1679046"/>
            <a:ext cx="725400" cy="575400"/>
          </a:xfrm>
          <a:prstGeom prst="straightConnector1">
            <a:avLst/>
          </a:prstGeom>
          <a:noFill/>
          <a:ln cap="flat" cmpd="sng" w="76200">
            <a:solidFill>
              <a:srgbClr val="4A86E8"/>
            </a:solidFill>
            <a:prstDash val="solid"/>
            <a:round/>
            <a:headEnd len="med" w="med" type="none"/>
            <a:tailEnd len="med" w="med" type="none"/>
          </a:ln>
        </p:spPr>
      </p:cxnSp>
      <p:cxnSp>
        <p:nvCxnSpPr>
          <p:cNvPr id="1913" name="Google Shape;1913;p161"/>
          <p:cNvCxnSpPr>
            <a:stCxn id="1909" idx="5"/>
            <a:endCxn id="1911" idx="1"/>
          </p:cNvCxnSpPr>
          <p:nvPr/>
        </p:nvCxnSpPr>
        <p:spPr>
          <a:xfrm>
            <a:off x="6057592" y="2509004"/>
            <a:ext cx="725400" cy="574800"/>
          </a:xfrm>
          <a:prstGeom prst="straightConnector1">
            <a:avLst/>
          </a:prstGeom>
          <a:noFill/>
          <a:ln cap="flat" cmpd="sng" w="76200">
            <a:solidFill>
              <a:srgbClr val="4A86E8"/>
            </a:solidFill>
            <a:prstDash val="solid"/>
            <a:round/>
            <a:headEnd len="med" w="med" type="none"/>
            <a:tailEnd len="med" w="med" type="none"/>
          </a:ln>
        </p:spPr>
      </p:cxnSp>
      <p:sp>
        <p:nvSpPr>
          <p:cNvPr id="1914" name="Google Shape;1914;p161"/>
          <p:cNvSpPr/>
          <p:nvPr/>
        </p:nvSpPr>
        <p:spPr>
          <a:xfrm>
            <a:off x="7190500" y="1302838"/>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sp>
        <p:nvSpPr>
          <p:cNvPr id="1915" name="Google Shape;1915;p161"/>
          <p:cNvSpPr/>
          <p:nvPr/>
        </p:nvSpPr>
        <p:spPr>
          <a:xfrm>
            <a:off x="7190500" y="2962213"/>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cxnSp>
        <p:nvCxnSpPr>
          <p:cNvPr id="1916" name="Google Shape;1916;p161"/>
          <p:cNvCxnSpPr>
            <a:stCxn id="1911" idx="0"/>
            <a:endCxn id="1910" idx="4"/>
          </p:cNvCxnSpPr>
          <p:nvPr/>
        </p:nvCxnSpPr>
        <p:spPr>
          <a:xfrm rot="10800000">
            <a:off x="6917137" y="1731910"/>
            <a:ext cx="0" cy="1299300"/>
          </a:xfrm>
          <a:prstGeom prst="straightConnector1">
            <a:avLst/>
          </a:prstGeom>
          <a:noFill/>
          <a:ln cap="flat" cmpd="sng" w="76200">
            <a:solidFill>
              <a:srgbClr val="B7B7B7"/>
            </a:solidFill>
            <a:prstDash val="solid"/>
            <a:round/>
            <a:headEnd len="med" w="med" type="none"/>
            <a:tailEnd len="med" w="med" type="none"/>
          </a:ln>
        </p:spPr>
      </p:cxnSp>
      <p:sp>
        <p:nvSpPr>
          <p:cNvPr id="1917" name="Google Shape;1917;p161"/>
          <p:cNvSpPr txBox="1"/>
          <p:nvPr>
            <p:ph idx="1" type="body"/>
          </p:nvPr>
        </p:nvSpPr>
        <p:spPr>
          <a:xfrm>
            <a:off x="311700" y="3705575"/>
            <a:ext cx="8520600" cy="110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When your contacts do not have diverse pools information (the people you know all know the same thing because they talk to one another)</a:t>
            </a:r>
            <a:endParaRPr/>
          </a:p>
          <a:p>
            <a:pPr indent="-317500" lvl="1" marL="914400" rtl="0" algn="l">
              <a:spcBef>
                <a:spcPts val="0"/>
              </a:spcBef>
              <a:spcAft>
                <a:spcPts val="0"/>
              </a:spcAft>
              <a:buSzPts val="1400"/>
              <a:buChar char="○"/>
            </a:pPr>
            <a:r>
              <a:rPr lang="en"/>
              <a:t>Strong, high-bandwidth ties just give you the same information</a:t>
            </a:r>
            <a:endParaRPr/>
          </a:p>
        </p:txBody>
      </p:sp>
      <p:sp>
        <p:nvSpPr>
          <p:cNvPr id="1918" name="Google Shape;1918;p161"/>
          <p:cNvSpPr txBox="1"/>
          <p:nvPr/>
        </p:nvSpPr>
        <p:spPr>
          <a:xfrm>
            <a:off x="3655950" y="2093600"/>
            <a:ext cx="1273500" cy="5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This is redundant!</a:t>
            </a:r>
            <a:endParaRPr b="1">
              <a:solidFill>
                <a:srgbClr val="FF0000"/>
              </a:solidFill>
              <a:latin typeface="Open Sans"/>
              <a:ea typeface="Open Sans"/>
              <a:cs typeface="Open Sans"/>
              <a:sym typeface="Open Sans"/>
            </a:endParaRPr>
          </a:p>
        </p:txBody>
      </p:sp>
      <p:cxnSp>
        <p:nvCxnSpPr>
          <p:cNvPr id="1919" name="Google Shape;1919;p161"/>
          <p:cNvCxnSpPr>
            <a:stCxn id="1918" idx="3"/>
          </p:cNvCxnSpPr>
          <p:nvPr/>
        </p:nvCxnSpPr>
        <p:spPr>
          <a:xfrm>
            <a:off x="4929450" y="2381300"/>
            <a:ext cx="672900" cy="90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sp>
        <p:nvSpPr>
          <p:cNvPr id="1924" name="Google Shape;1924;p1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925" name="Google Shape;1925;p162"/>
          <p:cNvSpPr txBox="1"/>
          <p:nvPr>
            <p:ph idx="1" type="body"/>
          </p:nvPr>
        </p:nvSpPr>
        <p:spPr>
          <a:xfrm>
            <a:off x="311700" y="1225225"/>
            <a:ext cx="8520600" cy="15576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In thinking about preferences between low and high bandwidth ties we have to consider properties of the information environment</a:t>
            </a:r>
            <a:endParaRPr/>
          </a:p>
          <a:p>
            <a:pPr indent="-317500" lvl="1" marL="914400" marR="0" rtl="0" algn="l">
              <a:lnSpc>
                <a:spcPct val="115000"/>
              </a:lnSpc>
              <a:spcBef>
                <a:spcPts val="0"/>
              </a:spcBef>
              <a:spcAft>
                <a:spcPts val="0"/>
              </a:spcAft>
              <a:buSzPts val="1400"/>
              <a:buChar char="○"/>
            </a:pPr>
            <a:r>
              <a:rPr lang="en"/>
              <a:t>Who knows what?</a:t>
            </a:r>
            <a:endParaRPr/>
          </a:p>
          <a:p>
            <a:pPr indent="-317500" lvl="1" marL="914400" marR="0" rtl="0" algn="l">
              <a:lnSpc>
                <a:spcPct val="115000"/>
              </a:lnSpc>
              <a:spcBef>
                <a:spcPts val="0"/>
              </a:spcBef>
              <a:spcAft>
                <a:spcPts val="0"/>
              </a:spcAft>
              <a:buSzPts val="1400"/>
              <a:buChar char="○"/>
            </a:pPr>
            <a:r>
              <a:rPr lang="en"/>
              <a:t>At what frequency is knowledge transmitted?</a:t>
            </a:r>
            <a:endParaRPr/>
          </a:p>
          <a:p>
            <a:pPr indent="0" lvl="0" marL="457200" marR="0" rtl="0" algn="l">
              <a:lnSpc>
                <a:spcPct val="115000"/>
              </a:lnSpc>
              <a:spcBef>
                <a:spcPts val="1600"/>
              </a:spcBef>
              <a:spcAft>
                <a:spcPts val="1600"/>
              </a:spcAft>
              <a:buNone/>
            </a:pPr>
            <a:r>
              <a:t/>
            </a:r>
            <a:endParaRPr/>
          </a:p>
        </p:txBody>
      </p:sp>
      <p:sp>
        <p:nvSpPr>
          <p:cNvPr id="1926" name="Google Shape;1926;p162"/>
          <p:cNvSpPr/>
          <p:nvPr/>
        </p:nvSpPr>
        <p:spPr>
          <a:xfrm>
            <a:off x="160988" y="3386077"/>
            <a:ext cx="242100" cy="2286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62"/>
          <p:cNvSpPr/>
          <p:nvPr/>
        </p:nvSpPr>
        <p:spPr>
          <a:xfrm>
            <a:off x="794696" y="2858612"/>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62"/>
          <p:cNvSpPr/>
          <p:nvPr/>
        </p:nvSpPr>
        <p:spPr>
          <a:xfrm>
            <a:off x="794696" y="3913281"/>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9" name="Google Shape;1929;p162"/>
          <p:cNvCxnSpPr>
            <a:stCxn id="1926" idx="7"/>
            <a:endCxn id="1927" idx="3"/>
          </p:cNvCxnSpPr>
          <p:nvPr/>
        </p:nvCxnSpPr>
        <p:spPr>
          <a:xfrm flipH="1" rot="10800000">
            <a:off x="367633" y="3053855"/>
            <a:ext cx="462600" cy="365700"/>
          </a:xfrm>
          <a:prstGeom prst="straightConnector1">
            <a:avLst/>
          </a:prstGeom>
          <a:noFill/>
          <a:ln cap="flat" cmpd="sng" w="28575">
            <a:solidFill>
              <a:srgbClr val="4A86E8"/>
            </a:solidFill>
            <a:prstDash val="dash"/>
            <a:round/>
            <a:headEnd len="med" w="med" type="none"/>
            <a:tailEnd len="med" w="med" type="none"/>
          </a:ln>
        </p:spPr>
      </p:cxnSp>
      <p:cxnSp>
        <p:nvCxnSpPr>
          <p:cNvPr id="1930" name="Google Shape;1930;p162"/>
          <p:cNvCxnSpPr>
            <a:stCxn id="1926" idx="5"/>
            <a:endCxn id="1928" idx="1"/>
          </p:cNvCxnSpPr>
          <p:nvPr/>
        </p:nvCxnSpPr>
        <p:spPr>
          <a:xfrm>
            <a:off x="367633" y="3581199"/>
            <a:ext cx="462600" cy="365700"/>
          </a:xfrm>
          <a:prstGeom prst="straightConnector1">
            <a:avLst/>
          </a:prstGeom>
          <a:noFill/>
          <a:ln cap="flat" cmpd="sng" w="28575">
            <a:solidFill>
              <a:srgbClr val="4A86E8"/>
            </a:solidFill>
            <a:prstDash val="dash"/>
            <a:round/>
            <a:headEnd len="med" w="med" type="none"/>
            <a:tailEnd len="med" w="med" type="none"/>
          </a:ln>
        </p:spPr>
      </p:cxnSp>
      <p:sp>
        <p:nvSpPr>
          <p:cNvPr id="1931" name="Google Shape;1931;p162"/>
          <p:cNvSpPr/>
          <p:nvPr/>
        </p:nvSpPr>
        <p:spPr>
          <a:xfrm>
            <a:off x="1090094" y="2814763"/>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
        <p:nvSpPr>
          <p:cNvPr id="1932" name="Google Shape;1932;p162"/>
          <p:cNvSpPr/>
          <p:nvPr/>
        </p:nvSpPr>
        <p:spPr>
          <a:xfrm>
            <a:off x="1090094" y="3869427"/>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5, 6, 7, 8</a:t>
            </a:r>
            <a:endParaRPr>
              <a:solidFill>
                <a:srgbClr val="999999"/>
              </a:solidFill>
            </a:endParaRPr>
          </a:p>
        </p:txBody>
      </p:sp>
      <p:sp>
        <p:nvSpPr>
          <p:cNvPr id="1933" name="Google Shape;1933;p162"/>
          <p:cNvSpPr/>
          <p:nvPr/>
        </p:nvSpPr>
        <p:spPr>
          <a:xfrm>
            <a:off x="3465788" y="3386177"/>
            <a:ext cx="242100" cy="2286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62"/>
          <p:cNvSpPr/>
          <p:nvPr/>
        </p:nvSpPr>
        <p:spPr>
          <a:xfrm>
            <a:off x="4099496" y="2858712"/>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62"/>
          <p:cNvSpPr/>
          <p:nvPr/>
        </p:nvSpPr>
        <p:spPr>
          <a:xfrm>
            <a:off x="4099496" y="3913381"/>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36" name="Google Shape;1936;p162"/>
          <p:cNvCxnSpPr>
            <a:stCxn id="1933" idx="7"/>
            <a:endCxn id="1934" idx="3"/>
          </p:cNvCxnSpPr>
          <p:nvPr/>
        </p:nvCxnSpPr>
        <p:spPr>
          <a:xfrm flipH="1" rot="10800000">
            <a:off x="3672433" y="3053955"/>
            <a:ext cx="462600" cy="365700"/>
          </a:xfrm>
          <a:prstGeom prst="straightConnector1">
            <a:avLst/>
          </a:prstGeom>
          <a:noFill/>
          <a:ln cap="flat" cmpd="sng" w="28575">
            <a:solidFill>
              <a:srgbClr val="4A86E8"/>
            </a:solidFill>
            <a:prstDash val="dash"/>
            <a:round/>
            <a:headEnd len="med" w="med" type="none"/>
            <a:tailEnd len="med" w="med" type="none"/>
          </a:ln>
        </p:spPr>
      </p:cxnSp>
      <p:cxnSp>
        <p:nvCxnSpPr>
          <p:cNvPr id="1937" name="Google Shape;1937;p162"/>
          <p:cNvCxnSpPr>
            <a:stCxn id="1933" idx="5"/>
            <a:endCxn id="1935" idx="1"/>
          </p:cNvCxnSpPr>
          <p:nvPr/>
        </p:nvCxnSpPr>
        <p:spPr>
          <a:xfrm>
            <a:off x="3672433" y="3581299"/>
            <a:ext cx="462600" cy="365700"/>
          </a:xfrm>
          <a:prstGeom prst="straightConnector1">
            <a:avLst/>
          </a:prstGeom>
          <a:noFill/>
          <a:ln cap="flat" cmpd="sng" w="28575">
            <a:solidFill>
              <a:srgbClr val="4A86E8"/>
            </a:solidFill>
            <a:prstDash val="dash"/>
            <a:round/>
            <a:headEnd len="med" w="med" type="none"/>
            <a:tailEnd len="med" w="med" type="none"/>
          </a:ln>
        </p:spPr>
      </p:cxnSp>
      <p:sp>
        <p:nvSpPr>
          <p:cNvPr id="1938" name="Google Shape;1938;p162"/>
          <p:cNvSpPr/>
          <p:nvPr/>
        </p:nvSpPr>
        <p:spPr>
          <a:xfrm>
            <a:off x="4394894" y="2814863"/>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
        <p:nvSpPr>
          <p:cNvPr id="1939" name="Google Shape;1939;p162"/>
          <p:cNvSpPr/>
          <p:nvPr/>
        </p:nvSpPr>
        <p:spPr>
          <a:xfrm>
            <a:off x="4394894" y="3869527"/>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1, 2, 7, 8</a:t>
            </a:r>
            <a:endParaRPr>
              <a:solidFill>
                <a:srgbClr val="999999"/>
              </a:solidFill>
            </a:endParaRPr>
          </a:p>
        </p:txBody>
      </p:sp>
      <p:sp>
        <p:nvSpPr>
          <p:cNvPr id="1940" name="Google Shape;1940;p162"/>
          <p:cNvSpPr/>
          <p:nvPr/>
        </p:nvSpPr>
        <p:spPr>
          <a:xfrm>
            <a:off x="6770638" y="3386052"/>
            <a:ext cx="242100" cy="2286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62"/>
          <p:cNvSpPr/>
          <p:nvPr/>
        </p:nvSpPr>
        <p:spPr>
          <a:xfrm>
            <a:off x="7404346" y="2858587"/>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162"/>
          <p:cNvSpPr/>
          <p:nvPr/>
        </p:nvSpPr>
        <p:spPr>
          <a:xfrm>
            <a:off x="7404346" y="3913256"/>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43" name="Google Shape;1943;p162"/>
          <p:cNvCxnSpPr>
            <a:stCxn id="1940" idx="7"/>
            <a:endCxn id="1941" idx="3"/>
          </p:cNvCxnSpPr>
          <p:nvPr/>
        </p:nvCxnSpPr>
        <p:spPr>
          <a:xfrm flipH="1" rot="10800000">
            <a:off x="6977283" y="3053830"/>
            <a:ext cx="462600" cy="365700"/>
          </a:xfrm>
          <a:prstGeom prst="straightConnector1">
            <a:avLst/>
          </a:prstGeom>
          <a:noFill/>
          <a:ln cap="flat" cmpd="sng" w="28575">
            <a:solidFill>
              <a:srgbClr val="4A86E8"/>
            </a:solidFill>
            <a:prstDash val="dash"/>
            <a:round/>
            <a:headEnd len="med" w="med" type="none"/>
            <a:tailEnd len="med" w="med" type="none"/>
          </a:ln>
        </p:spPr>
      </p:cxnSp>
      <p:cxnSp>
        <p:nvCxnSpPr>
          <p:cNvPr id="1944" name="Google Shape;1944;p162"/>
          <p:cNvCxnSpPr>
            <a:stCxn id="1940" idx="5"/>
            <a:endCxn id="1942" idx="1"/>
          </p:cNvCxnSpPr>
          <p:nvPr/>
        </p:nvCxnSpPr>
        <p:spPr>
          <a:xfrm>
            <a:off x="6977283" y="3581174"/>
            <a:ext cx="462600" cy="365700"/>
          </a:xfrm>
          <a:prstGeom prst="straightConnector1">
            <a:avLst/>
          </a:prstGeom>
          <a:noFill/>
          <a:ln cap="flat" cmpd="sng" w="28575">
            <a:solidFill>
              <a:srgbClr val="4A86E8"/>
            </a:solidFill>
            <a:prstDash val="dash"/>
            <a:round/>
            <a:headEnd len="med" w="med" type="none"/>
            <a:tailEnd len="med" w="med" type="none"/>
          </a:ln>
        </p:spPr>
      </p:cxnSp>
      <p:sp>
        <p:nvSpPr>
          <p:cNvPr id="1945" name="Google Shape;1945;p162"/>
          <p:cNvSpPr/>
          <p:nvPr/>
        </p:nvSpPr>
        <p:spPr>
          <a:xfrm>
            <a:off x="7699744" y="2814738"/>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
        <p:nvSpPr>
          <p:cNvPr id="1946" name="Google Shape;1946;p162"/>
          <p:cNvSpPr/>
          <p:nvPr/>
        </p:nvSpPr>
        <p:spPr>
          <a:xfrm>
            <a:off x="7699744" y="3869402"/>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1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952" name="Google Shape;1952;p163"/>
          <p:cNvSpPr txBox="1"/>
          <p:nvPr>
            <p:ph idx="1" type="body"/>
          </p:nvPr>
        </p:nvSpPr>
        <p:spPr>
          <a:xfrm>
            <a:off x="311675" y="1225225"/>
            <a:ext cx="8520600" cy="110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Low bandwidth works better when contacts are diverse in information</a:t>
            </a:r>
            <a:endParaRPr/>
          </a:p>
          <a:p>
            <a:pPr indent="-317500" lvl="1" marL="914400" rtl="0" algn="l">
              <a:spcBef>
                <a:spcPts val="0"/>
              </a:spcBef>
              <a:spcAft>
                <a:spcPts val="0"/>
              </a:spcAft>
              <a:buSzPts val="1400"/>
              <a:buChar char="○"/>
            </a:pPr>
            <a:r>
              <a:rPr lang="en"/>
              <a:t>Low bandwidth ties lose their advantage even when connecting ego to contacts with more homogeneous information, even if there is partial overlap of information across contacts</a:t>
            </a:r>
            <a:endParaRPr/>
          </a:p>
          <a:p>
            <a:pPr indent="0" lvl="0" marL="0" marR="0" rtl="0" algn="l">
              <a:lnSpc>
                <a:spcPct val="115000"/>
              </a:lnSpc>
              <a:spcBef>
                <a:spcPts val="0"/>
              </a:spcBef>
              <a:spcAft>
                <a:spcPts val="1600"/>
              </a:spcAft>
              <a:buNone/>
            </a:pPr>
            <a:r>
              <a:t/>
            </a:r>
            <a:endParaRPr/>
          </a:p>
        </p:txBody>
      </p:sp>
      <p:sp>
        <p:nvSpPr>
          <p:cNvPr id="1953" name="Google Shape;1953;p163"/>
          <p:cNvSpPr/>
          <p:nvPr/>
        </p:nvSpPr>
        <p:spPr>
          <a:xfrm>
            <a:off x="160988" y="3386077"/>
            <a:ext cx="242100" cy="2286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63"/>
          <p:cNvSpPr/>
          <p:nvPr/>
        </p:nvSpPr>
        <p:spPr>
          <a:xfrm>
            <a:off x="794696" y="2858612"/>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163"/>
          <p:cNvSpPr/>
          <p:nvPr/>
        </p:nvSpPr>
        <p:spPr>
          <a:xfrm>
            <a:off x="794696" y="3913281"/>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56" name="Google Shape;1956;p163"/>
          <p:cNvCxnSpPr>
            <a:stCxn id="1953" idx="7"/>
            <a:endCxn id="1954" idx="3"/>
          </p:cNvCxnSpPr>
          <p:nvPr/>
        </p:nvCxnSpPr>
        <p:spPr>
          <a:xfrm flipH="1" rot="10800000">
            <a:off x="367633" y="3053855"/>
            <a:ext cx="462600" cy="365700"/>
          </a:xfrm>
          <a:prstGeom prst="straightConnector1">
            <a:avLst/>
          </a:prstGeom>
          <a:noFill/>
          <a:ln cap="flat" cmpd="sng" w="28575">
            <a:solidFill>
              <a:srgbClr val="4A86E8"/>
            </a:solidFill>
            <a:prstDash val="dash"/>
            <a:round/>
            <a:headEnd len="med" w="med" type="none"/>
            <a:tailEnd len="med" w="med" type="none"/>
          </a:ln>
        </p:spPr>
      </p:cxnSp>
      <p:cxnSp>
        <p:nvCxnSpPr>
          <p:cNvPr id="1957" name="Google Shape;1957;p163"/>
          <p:cNvCxnSpPr>
            <a:stCxn id="1953" idx="5"/>
            <a:endCxn id="1955" idx="1"/>
          </p:cNvCxnSpPr>
          <p:nvPr/>
        </p:nvCxnSpPr>
        <p:spPr>
          <a:xfrm>
            <a:off x="367633" y="3581199"/>
            <a:ext cx="462600" cy="365700"/>
          </a:xfrm>
          <a:prstGeom prst="straightConnector1">
            <a:avLst/>
          </a:prstGeom>
          <a:noFill/>
          <a:ln cap="flat" cmpd="sng" w="28575">
            <a:solidFill>
              <a:srgbClr val="4A86E8"/>
            </a:solidFill>
            <a:prstDash val="dash"/>
            <a:round/>
            <a:headEnd len="med" w="med" type="none"/>
            <a:tailEnd len="med" w="med" type="none"/>
          </a:ln>
        </p:spPr>
      </p:cxnSp>
      <p:sp>
        <p:nvSpPr>
          <p:cNvPr id="1958" name="Google Shape;1958;p163"/>
          <p:cNvSpPr/>
          <p:nvPr/>
        </p:nvSpPr>
        <p:spPr>
          <a:xfrm>
            <a:off x="1090094" y="2814763"/>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
        <p:nvSpPr>
          <p:cNvPr id="1959" name="Google Shape;1959;p163"/>
          <p:cNvSpPr/>
          <p:nvPr/>
        </p:nvSpPr>
        <p:spPr>
          <a:xfrm>
            <a:off x="1090094" y="3869427"/>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5, 6, 7, 8</a:t>
            </a:r>
            <a:endParaRPr>
              <a:solidFill>
                <a:srgbClr val="999999"/>
              </a:solidFill>
            </a:endParaRPr>
          </a:p>
        </p:txBody>
      </p:sp>
      <p:sp>
        <p:nvSpPr>
          <p:cNvPr id="1960" name="Google Shape;1960;p163"/>
          <p:cNvSpPr/>
          <p:nvPr/>
        </p:nvSpPr>
        <p:spPr>
          <a:xfrm>
            <a:off x="3465788" y="3386177"/>
            <a:ext cx="242100" cy="2286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163"/>
          <p:cNvSpPr/>
          <p:nvPr/>
        </p:nvSpPr>
        <p:spPr>
          <a:xfrm>
            <a:off x="4099496" y="2858712"/>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163"/>
          <p:cNvSpPr/>
          <p:nvPr/>
        </p:nvSpPr>
        <p:spPr>
          <a:xfrm>
            <a:off x="4099496" y="3913381"/>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63" name="Google Shape;1963;p163"/>
          <p:cNvCxnSpPr>
            <a:stCxn id="1960" idx="7"/>
            <a:endCxn id="1961" idx="3"/>
          </p:cNvCxnSpPr>
          <p:nvPr/>
        </p:nvCxnSpPr>
        <p:spPr>
          <a:xfrm flipH="1" rot="10800000">
            <a:off x="3672433" y="3053955"/>
            <a:ext cx="462600" cy="365700"/>
          </a:xfrm>
          <a:prstGeom prst="straightConnector1">
            <a:avLst/>
          </a:prstGeom>
          <a:noFill/>
          <a:ln cap="flat" cmpd="sng" w="28575">
            <a:solidFill>
              <a:srgbClr val="4A86E8"/>
            </a:solidFill>
            <a:prstDash val="dash"/>
            <a:round/>
            <a:headEnd len="med" w="med" type="none"/>
            <a:tailEnd len="med" w="med" type="none"/>
          </a:ln>
        </p:spPr>
      </p:cxnSp>
      <p:cxnSp>
        <p:nvCxnSpPr>
          <p:cNvPr id="1964" name="Google Shape;1964;p163"/>
          <p:cNvCxnSpPr>
            <a:stCxn id="1960" idx="5"/>
            <a:endCxn id="1962" idx="1"/>
          </p:cNvCxnSpPr>
          <p:nvPr/>
        </p:nvCxnSpPr>
        <p:spPr>
          <a:xfrm>
            <a:off x="3672433" y="3581299"/>
            <a:ext cx="462600" cy="365700"/>
          </a:xfrm>
          <a:prstGeom prst="straightConnector1">
            <a:avLst/>
          </a:prstGeom>
          <a:noFill/>
          <a:ln cap="flat" cmpd="sng" w="28575">
            <a:solidFill>
              <a:srgbClr val="4A86E8"/>
            </a:solidFill>
            <a:prstDash val="dash"/>
            <a:round/>
            <a:headEnd len="med" w="med" type="none"/>
            <a:tailEnd len="med" w="med" type="none"/>
          </a:ln>
        </p:spPr>
      </p:cxnSp>
      <p:sp>
        <p:nvSpPr>
          <p:cNvPr id="1965" name="Google Shape;1965;p163"/>
          <p:cNvSpPr/>
          <p:nvPr/>
        </p:nvSpPr>
        <p:spPr>
          <a:xfrm>
            <a:off x="4394894" y="2814863"/>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
        <p:nvSpPr>
          <p:cNvPr id="1966" name="Google Shape;1966;p163"/>
          <p:cNvSpPr/>
          <p:nvPr/>
        </p:nvSpPr>
        <p:spPr>
          <a:xfrm>
            <a:off x="4394894" y="3869527"/>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1, 2, 7, 8</a:t>
            </a:r>
            <a:endParaRPr>
              <a:solidFill>
                <a:srgbClr val="999999"/>
              </a:solidFill>
            </a:endParaRPr>
          </a:p>
        </p:txBody>
      </p:sp>
      <p:sp>
        <p:nvSpPr>
          <p:cNvPr id="1967" name="Google Shape;1967;p163"/>
          <p:cNvSpPr/>
          <p:nvPr/>
        </p:nvSpPr>
        <p:spPr>
          <a:xfrm>
            <a:off x="6770638" y="3386052"/>
            <a:ext cx="242100" cy="2286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63"/>
          <p:cNvSpPr/>
          <p:nvPr/>
        </p:nvSpPr>
        <p:spPr>
          <a:xfrm>
            <a:off x="7404346" y="2858587"/>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63"/>
          <p:cNvSpPr/>
          <p:nvPr/>
        </p:nvSpPr>
        <p:spPr>
          <a:xfrm>
            <a:off x="7404346" y="3913256"/>
            <a:ext cx="242100" cy="2286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70" name="Google Shape;1970;p163"/>
          <p:cNvCxnSpPr>
            <a:stCxn id="1967" idx="7"/>
            <a:endCxn id="1968" idx="3"/>
          </p:cNvCxnSpPr>
          <p:nvPr/>
        </p:nvCxnSpPr>
        <p:spPr>
          <a:xfrm flipH="1" rot="10800000">
            <a:off x="6977283" y="3053830"/>
            <a:ext cx="462600" cy="365700"/>
          </a:xfrm>
          <a:prstGeom prst="straightConnector1">
            <a:avLst/>
          </a:prstGeom>
          <a:noFill/>
          <a:ln cap="flat" cmpd="sng" w="28575">
            <a:solidFill>
              <a:srgbClr val="4A86E8"/>
            </a:solidFill>
            <a:prstDash val="dash"/>
            <a:round/>
            <a:headEnd len="med" w="med" type="none"/>
            <a:tailEnd len="med" w="med" type="none"/>
          </a:ln>
        </p:spPr>
      </p:cxnSp>
      <p:cxnSp>
        <p:nvCxnSpPr>
          <p:cNvPr id="1971" name="Google Shape;1971;p163"/>
          <p:cNvCxnSpPr>
            <a:stCxn id="1967" idx="5"/>
            <a:endCxn id="1969" idx="1"/>
          </p:cNvCxnSpPr>
          <p:nvPr/>
        </p:nvCxnSpPr>
        <p:spPr>
          <a:xfrm>
            <a:off x="6977283" y="3581174"/>
            <a:ext cx="462600" cy="365700"/>
          </a:xfrm>
          <a:prstGeom prst="straightConnector1">
            <a:avLst/>
          </a:prstGeom>
          <a:noFill/>
          <a:ln cap="flat" cmpd="sng" w="28575">
            <a:solidFill>
              <a:srgbClr val="4A86E8"/>
            </a:solidFill>
            <a:prstDash val="dash"/>
            <a:round/>
            <a:headEnd len="med" w="med" type="none"/>
            <a:tailEnd len="med" w="med" type="none"/>
          </a:ln>
        </p:spPr>
      </p:cxnSp>
      <p:sp>
        <p:nvSpPr>
          <p:cNvPr id="1972" name="Google Shape;1972;p163"/>
          <p:cNvSpPr/>
          <p:nvPr/>
        </p:nvSpPr>
        <p:spPr>
          <a:xfrm>
            <a:off x="7699744" y="2814738"/>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
        <p:nvSpPr>
          <p:cNvPr id="1973" name="Google Shape;1973;p163"/>
          <p:cNvSpPr/>
          <p:nvPr/>
        </p:nvSpPr>
        <p:spPr>
          <a:xfrm>
            <a:off x="7699744" y="3869402"/>
            <a:ext cx="981900" cy="3168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99999"/>
                </a:solidFill>
              </a:rPr>
              <a:t>1, 2, 3, 4</a:t>
            </a:r>
            <a:endParaRPr>
              <a:solidFill>
                <a:srgbClr val="999999"/>
              </a:solidFill>
            </a:endParaRPr>
          </a:p>
        </p:txBody>
      </p:sp>
      <p:sp>
        <p:nvSpPr>
          <p:cNvPr id="1974" name="Google Shape;1974;p163"/>
          <p:cNvSpPr txBox="1"/>
          <p:nvPr/>
        </p:nvSpPr>
        <p:spPr>
          <a:xfrm>
            <a:off x="536725" y="4341025"/>
            <a:ext cx="1584600" cy="666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FF"/>
                </a:solidFill>
                <a:latin typeface="Open Sans"/>
                <a:ea typeface="Open Sans"/>
                <a:cs typeface="Open Sans"/>
                <a:sym typeface="Open Sans"/>
              </a:rPr>
              <a:t>Low bandwidth ties are good here!</a:t>
            </a:r>
            <a:endParaRPr sz="1200">
              <a:solidFill>
                <a:srgbClr val="0000FF"/>
              </a:solidFill>
              <a:latin typeface="Open Sans"/>
              <a:ea typeface="Open Sans"/>
              <a:cs typeface="Open Sans"/>
              <a:sym typeface="Open Sans"/>
            </a:endParaRPr>
          </a:p>
        </p:txBody>
      </p:sp>
      <p:sp>
        <p:nvSpPr>
          <p:cNvPr id="1975" name="Google Shape;1975;p163"/>
          <p:cNvSpPr txBox="1"/>
          <p:nvPr/>
        </p:nvSpPr>
        <p:spPr>
          <a:xfrm>
            <a:off x="3707900" y="4341025"/>
            <a:ext cx="1584600" cy="666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FF"/>
                </a:solidFill>
                <a:latin typeface="Open Sans"/>
                <a:ea typeface="Open Sans"/>
                <a:cs typeface="Open Sans"/>
                <a:sym typeface="Open Sans"/>
              </a:rPr>
              <a:t>Low bandwidth ties not as good...</a:t>
            </a:r>
            <a:endParaRPr sz="1200">
              <a:solidFill>
                <a:srgbClr val="0000FF"/>
              </a:solidFill>
              <a:latin typeface="Open Sans"/>
              <a:ea typeface="Open Sans"/>
              <a:cs typeface="Open Sans"/>
              <a:sym typeface="Open Sans"/>
            </a:endParaRPr>
          </a:p>
        </p:txBody>
      </p:sp>
      <p:sp>
        <p:nvSpPr>
          <p:cNvPr id="1976" name="Google Shape;1976;p163"/>
          <p:cNvSpPr txBox="1"/>
          <p:nvPr/>
        </p:nvSpPr>
        <p:spPr>
          <a:xfrm>
            <a:off x="7398400" y="4341025"/>
            <a:ext cx="1584600" cy="666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FF"/>
                </a:solidFill>
                <a:latin typeface="Open Sans"/>
                <a:ea typeface="Open Sans"/>
                <a:cs typeface="Open Sans"/>
                <a:sym typeface="Open Sans"/>
              </a:rPr>
              <a:t>Low bandwidth ties are worse here!</a:t>
            </a:r>
            <a:endParaRPr sz="1200">
              <a:solidFill>
                <a:srgbClr val="0000FF"/>
              </a:solidFill>
              <a:latin typeface="Open Sans"/>
              <a:ea typeface="Open Sans"/>
              <a:cs typeface="Open Sans"/>
              <a:sym typeface="Open Sans"/>
            </a:endParaRPr>
          </a:p>
        </p:txBody>
      </p:sp>
      <p:sp>
        <p:nvSpPr>
          <p:cNvPr id="1977" name="Google Shape;1977;p163"/>
          <p:cNvSpPr txBox="1"/>
          <p:nvPr/>
        </p:nvSpPr>
        <p:spPr>
          <a:xfrm>
            <a:off x="437500" y="2390350"/>
            <a:ext cx="21009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latin typeface="Open Sans"/>
                <a:ea typeface="Open Sans"/>
                <a:cs typeface="Open Sans"/>
                <a:sym typeface="Open Sans"/>
              </a:rPr>
              <a:t>No Information Overlap</a:t>
            </a:r>
            <a:endParaRPr b="1" sz="1200">
              <a:solidFill>
                <a:srgbClr val="FF0000"/>
              </a:solidFill>
              <a:latin typeface="Open Sans"/>
              <a:ea typeface="Open Sans"/>
              <a:cs typeface="Open Sans"/>
              <a:sym typeface="Open Sans"/>
            </a:endParaRPr>
          </a:p>
        </p:txBody>
      </p:sp>
      <p:sp>
        <p:nvSpPr>
          <p:cNvPr id="1978" name="Google Shape;1978;p163"/>
          <p:cNvSpPr txBox="1"/>
          <p:nvPr/>
        </p:nvSpPr>
        <p:spPr>
          <a:xfrm>
            <a:off x="3376775" y="2390400"/>
            <a:ext cx="23904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latin typeface="Open Sans"/>
                <a:ea typeface="Open Sans"/>
                <a:cs typeface="Open Sans"/>
                <a:sym typeface="Open Sans"/>
              </a:rPr>
              <a:t>Some Information Overlap</a:t>
            </a:r>
            <a:endParaRPr b="1" sz="1200">
              <a:solidFill>
                <a:srgbClr val="FF0000"/>
              </a:solidFill>
              <a:latin typeface="Open Sans"/>
              <a:ea typeface="Open Sans"/>
              <a:cs typeface="Open Sans"/>
              <a:sym typeface="Open Sans"/>
            </a:endParaRPr>
          </a:p>
        </p:txBody>
      </p:sp>
      <p:sp>
        <p:nvSpPr>
          <p:cNvPr id="1979" name="Google Shape;1979;p163"/>
          <p:cNvSpPr txBox="1"/>
          <p:nvPr/>
        </p:nvSpPr>
        <p:spPr>
          <a:xfrm>
            <a:off x="6770650" y="2412250"/>
            <a:ext cx="23904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latin typeface="Open Sans"/>
                <a:ea typeface="Open Sans"/>
                <a:cs typeface="Open Sans"/>
                <a:sym typeface="Open Sans"/>
              </a:rPr>
              <a:t>Total Information Overlap</a:t>
            </a:r>
            <a:endParaRPr b="1" sz="1200">
              <a:solidFill>
                <a:srgbClr val="FF0000"/>
              </a:solidFill>
              <a:latin typeface="Open Sans"/>
              <a:ea typeface="Open Sans"/>
              <a:cs typeface="Open Sans"/>
              <a:sym typeface="Open San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3" name="Shape 1983"/>
        <p:cNvGrpSpPr/>
        <p:nvPr/>
      </p:nvGrpSpPr>
      <p:grpSpPr>
        <a:xfrm>
          <a:off x="0" y="0"/>
          <a:ext cx="0" cy="0"/>
          <a:chOff x="0" y="0"/>
          <a:chExt cx="0" cy="0"/>
        </a:xfrm>
      </p:grpSpPr>
      <p:sp>
        <p:nvSpPr>
          <p:cNvPr id="1984" name="Google Shape;1984;p16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1985" name="Google Shape;1985;p164"/>
          <p:cNvSpPr/>
          <p:nvPr/>
        </p:nvSpPr>
        <p:spPr>
          <a:xfrm>
            <a:off x="341313" y="2201513"/>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164"/>
          <p:cNvSpPr/>
          <p:nvPr/>
        </p:nvSpPr>
        <p:spPr>
          <a:xfrm>
            <a:off x="1335137" y="1371617"/>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64"/>
          <p:cNvSpPr/>
          <p:nvPr/>
        </p:nvSpPr>
        <p:spPr>
          <a:xfrm>
            <a:off x="1335137" y="3030998"/>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88" name="Google Shape;1988;p164"/>
          <p:cNvCxnSpPr>
            <a:stCxn id="1985" idx="7"/>
            <a:endCxn id="1986" idx="3"/>
          </p:cNvCxnSpPr>
          <p:nvPr/>
        </p:nvCxnSpPr>
        <p:spPr>
          <a:xfrm flipH="1" rot="10800000">
            <a:off x="665492" y="1678833"/>
            <a:ext cx="725400" cy="575400"/>
          </a:xfrm>
          <a:prstGeom prst="straightConnector1">
            <a:avLst/>
          </a:prstGeom>
          <a:noFill/>
          <a:ln cap="flat" cmpd="sng" w="28575">
            <a:solidFill>
              <a:srgbClr val="4A86E8"/>
            </a:solidFill>
            <a:prstDash val="dash"/>
            <a:round/>
            <a:headEnd len="med" w="med" type="none"/>
            <a:tailEnd len="med" w="med" type="none"/>
          </a:ln>
        </p:spPr>
      </p:cxnSp>
      <p:cxnSp>
        <p:nvCxnSpPr>
          <p:cNvPr id="1989" name="Google Shape;1989;p164"/>
          <p:cNvCxnSpPr>
            <a:stCxn id="1985" idx="5"/>
            <a:endCxn id="1987" idx="1"/>
          </p:cNvCxnSpPr>
          <p:nvPr/>
        </p:nvCxnSpPr>
        <p:spPr>
          <a:xfrm>
            <a:off x="665492" y="2508792"/>
            <a:ext cx="725400" cy="574800"/>
          </a:xfrm>
          <a:prstGeom prst="straightConnector1">
            <a:avLst/>
          </a:prstGeom>
          <a:noFill/>
          <a:ln cap="flat" cmpd="sng" w="28575">
            <a:solidFill>
              <a:srgbClr val="4A86E8"/>
            </a:solidFill>
            <a:prstDash val="dash"/>
            <a:round/>
            <a:headEnd len="med" w="med" type="none"/>
            <a:tailEnd len="med" w="med" type="none"/>
          </a:ln>
        </p:spPr>
      </p:cxnSp>
      <p:sp>
        <p:nvSpPr>
          <p:cNvPr id="1990" name="Google Shape;1990;p164"/>
          <p:cNvSpPr/>
          <p:nvPr/>
        </p:nvSpPr>
        <p:spPr>
          <a:xfrm>
            <a:off x="1798400" y="1302625"/>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sp>
        <p:nvSpPr>
          <p:cNvPr id="1991" name="Google Shape;1991;p164"/>
          <p:cNvSpPr/>
          <p:nvPr/>
        </p:nvSpPr>
        <p:spPr>
          <a:xfrm>
            <a:off x="1798400" y="2962000"/>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1, 2, 7, 8</a:t>
            </a:r>
            <a:endParaRPr sz="2400">
              <a:solidFill>
                <a:srgbClr val="999999"/>
              </a:solidFill>
            </a:endParaRPr>
          </a:p>
        </p:txBody>
      </p:sp>
      <p:sp>
        <p:nvSpPr>
          <p:cNvPr id="1992" name="Google Shape;1992;p164"/>
          <p:cNvSpPr/>
          <p:nvPr/>
        </p:nvSpPr>
        <p:spPr>
          <a:xfrm>
            <a:off x="5733413" y="2201725"/>
            <a:ext cx="379800" cy="360000"/>
          </a:xfrm>
          <a:prstGeom prst="ellipse">
            <a:avLst/>
          </a:prstGeom>
          <a:solidFill>
            <a:srgbClr val="1155CC"/>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164"/>
          <p:cNvSpPr/>
          <p:nvPr/>
        </p:nvSpPr>
        <p:spPr>
          <a:xfrm>
            <a:off x="6727237" y="1371829"/>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64"/>
          <p:cNvSpPr/>
          <p:nvPr/>
        </p:nvSpPr>
        <p:spPr>
          <a:xfrm>
            <a:off x="6727237" y="3031210"/>
            <a:ext cx="379800" cy="3600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95" name="Google Shape;1995;p164"/>
          <p:cNvCxnSpPr>
            <a:stCxn id="1992" idx="7"/>
            <a:endCxn id="1993" idx="3"/>
          </p:cNvCxnSpPr>
          <p:nvPr/>
        </p:nvCxnSpPr>
        <p:spPr>
          <a:xfrm flipH="1" rot="10800000">
            <a:off x="6057592" y="1679046"/>
            <a:ext cx="725400" cy="575400"/>
          </a:xfrm>
          <a:prstGeom prst="straightConnector1">
            <a:avLst/>
          </a:prstGeom>
          <a:noFill/>
          <a:ln cap="flat" cmpd="sng" w="76200">
            <a:solidFill>
              <a:srgbClr val="4A86E8"/>
            </a:solidFill>
            <a:prstDash val="solid"/>
            <a:round/>
            <a:headEnd len="med" w="med" type="none"/>
            <a:tailEnd len="med" w="med" type="none"/>
          </a:ln>
        </p:spPr>
      </p:cxnSp>
      <p:cxnSp>
        <p:nvCxnSpPr>
          <p:cNvPr id="1996" name="Google Shape;1996;p164"/>
          <p:cNvCxnSpPr>
            <a:stCxn id="1992" idx="5"/>
            <a:endCxn id="1994" idx="1"/>
          </p:cNvCxnSpPr>
          <p:nvPr/>
        </p:nvCxnSpPr>
        <p:spPr>
          <a:xfrm>
            <a:off x="6057592" y="2509004"/>
            <a:ext cx="725400" cy="574800"/>
          </a:xfrm>
          <a:prstGeom prst="straightConnector1">
            <a:avLst/>
          </a:prstGeom>
          <a:noFill/>
          <a:ln cap="flat" cmpd="sng" w="76200">
            <a:solidFill>
              <a:srgbClr val="4A86E8"/>
            </a:solidFill>
            <a:prstDash val="solid"/>
            <a:round/>
            <a:headEnd len="med" w="med" type="none"/>
            <a:tailEnd len="med" w="med" type="none"/>
          </a:ln>
        </p:spPr>
      </p:cxnSp>
      <p:sp>
        <p:nvSpPr>
          <p:cNvPr id="1997" name="Google Shape;1997;p164"/>
          <p:cNvSpPr/>
          <p:nvPr/>
        </p:nvSpPr>
        <p:spPr>
          <a:xfrm>
            <a:off x="7190500" y="1302838"/>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sp>
        <p:nvSpPr>
          <p:cNvPr id="1998" name="Google Shape;1998;p164"/>
          <p:cNvSpPr/>
          <p:nvPr/>
        </p:nvSpPr>
        <p:spPr>
          <a:xfrm>
            <a:off x="7190500" y="2962213"/>
            <a:ext cx="1539300" cy="498000"/>
          </a:xfrm>
          <a:prstGeom prst="bracePair">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99999"/>
                </a:solidFill>
              </a:rPr>
              <a:t>1, 2, 3, 4</a:t>
            </a:r>
            <a:endParaRPr sz="2400">
              <a:solidFill>
                <a:srgbClr val="999999"/>
              </a:solidFill>
            </a:endParaRPr>
          </a:p>
        </p:txBody>
      </p:sp>
      <p:cxnSp>
        <p:nvCxnSpPr>
          <p:cNvPr id="1999" name="Google Shape;1999;p164"/>
          <p:cNvCxnSpPr>
            <a:stCxn id="1994" idx="0"/>
            <a:endCxn id="1993" idx="4"/>
          </p:cNvCxnSpPr>
          <p:nvPr/>
        </p:nvCxnSpPr>
        <p:spPr>
          <a:xfrm rot="10800000">
            <a:off x="6917137" y="1731910"/>
            <a:ext cx="0" cy="1299300"/>
          </a:xfrm>
          <a:prstGeom prst="straightConnector1">
            <a:avLst/>
          </a:prstGeom>
          <a:noFill/>
          <a:ln cap="flat" cmpd="sng" w="76200">
            <a:solidFill>
              <a:srgbClr val="B7B7B7"/>
            </a:solidFill>
            <a:prstDash val="solid"/>
            <a:round/>
            <a:headEnd len="med" w="med" type="none"/>
            <a:tailEnd len="med" w="med" type="none"/>
          </a:ln>
        </p:spPr>
      </p:cxnSp>
      <p:sp>
        <p:nvSpPr>
          <p:cNvPr id="2000" name="Google Shape;2000;p164"/>
          <p:cNvSpPr txBox="1"/>
          <p:nvPr>
            <p:ph idx="1" type="body"/>
          </p:nvPr>
        </p:nvSpPr>
        <p:spPr>
          <a:xfrm>
            <a:off x="311700" y="3705575"/>
            <a:ext cx="8520600" cy="110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When your contacts do not have diverse pools information (the people you know all know the same thing because they talk to one another)</a:t>
            </a:r>
            <a:endParaRPr/>
          </a:p>
          <a:p>
            <a:pPr indent="-317500" lvl="1" marL="914400" rtl="0" algn="l">
              <a:spcBef>
                <a:spcPts val="0"/>
              </a:spcBef>
              <a:spcAft>
                <a:spcPts val="0"/>
              </a:spcAft>
              <a:buSzPts val="1400"/>
              <a:buChar char="○"/>
            </a:pPr>
            <a:r>
              <a:rPr lang="en"/>
              <a:t>Strong, high-bandwidth ties just give you the same information</a:t>
            </a:r>
            <a:endParaRPr/>
          </a:p>
        </p:txBody>
      </p:sp>
      <p:sp>
        <p:nvSpPr>
          <p:cNvPr id="2001" name="Google Shape;2001;p164"/>
          <p:cNvSpPr txBox="1"/>
          <p:nvPr/>
        </p:nvSpPr>
        <p:spPr>
          <a:xfrm>
            <a:off x="3655950" y="2093600"/>
            <a:ext cx="1273500" cy="5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This is better!</a:t>
            </a:r>
            <a:endParaRPr b="1">
              <a:solidFill>
                <a:srgbClr val="FF0000"/>
              </a:solidFill>
              <a:latin typeface="Open Sans"/>
              <a:ea typeface="Open Sans"/>
              <a:cs typeface="Open Sans"/>
              <a:sym typeface="Open Sans"/>
            </a:endParaRPr>
          </a:p>
        </p:txBody>
      </p:sp>
      <p:cxnSp>
        <p:nvCxnSpPr>
          <p:cNvPr id="2002" name="Google Shape;2002;p164"/>
          <p:cNvCxnSpPr>
            <a:stCxn id="2001" idx="3"/>
          </p:cNvCxnSpPr>
          <p:nvPr/>
        </p:nvCxnSpPr>
        <p:spPr>
          <a:xfrm>
            <a:off x="4929450" y="2381300"/>
            <a:ext cx="672900" cy="90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06" name="Shape 2006"/>
        <p:cNvGrpSpPr/>
        <p:nvPr/>
      </p:nvGrpSpPr>
      <p:grpSpPr>
        <a:xfrm>
          <a:off x="0" y="0"/>
          <a:ext cx="0" cy="0"/>
          <a:chOff x="0" y="0"/>
          <a:chExt cx="0" cy="0"/>
        </a:xfrm>
      </p:grpSpPr>
      <p:sp>
        <p:nvSpPr>
          <p:cNvPr id="2007" name="Google Shape;2007;p1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2008" name="Google Shape;2008;p165"/>
          <p:cNvSpPr txBox="1"/>
          <p:nvPr>
            <p:ph idx="1" type="body"/>
          </p:nvPr>
        </p:nvSpPr>
        <p:spPr>
          <a:xfrm>
            <a:off x="311700" y="1225225"/>
            <a:ext cx="50058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Advantage of low bandwidth ties is also compromised when:</a:t>
            </a:r>
            <a:endParaRPr/>
          </a:p>
          <a:p>
            <a:pPr indent="-317500" lvl="1" marL="914400" marR="0" rtl="0" algn="l">
              <a:lnSpc>
                <a:spcPct val="115000"/>
              </a:lnSpc>
              <a:spcBef>
                <a:spcPts val="0"/>
              </a:spcBef>
              <a:spcAft>
                <a:spcPts val="0"/>
              </a:spcAft>
              <a:buSzPts val="1400"/>
              <a:buChar char="○"/>
            </a:pPr>
            <a:r>
              <a:rPr lang="en"/>
              <a:t>The information environment is </a:t>
            </a:r>
            <a:r>
              <a:rPr b="1" lang="en"/>
              <a:t>richer and more complex</a:t>
            </a:r>
            <a:endParaRPr b="1"/>
          </a:p>
          <a:p>
            <a:pPr indent="-317500" lvl="1" marL="914400" marR="0" rtl="0" algn="l">
              <a:lnSpc>
                <a:spcPct val="115000"/>
              </a:lnSpc>
              <a:spcBef>
                <a:spcPts val="0"/>
              </a:spcBef>
              <a:spcAft>
                <a:spcPts val="0"/>
              </a:spcAft>
              <a:buSzPts val="1400"/>
              <a:buChar char="○"/>
            </a:pPr>
            <a:r>
              <a:rPr lang="en"/>
              <a:t>When who knows what </a:t>
            </a:r>
            <a:r>
              <a:rPr b="1" lang="en"/>
              <a:t>changes</a:t>
            </a:r>
            <a:r>
              <a:rPr lang="en"/>
              <a:t> </a:t>
            </a:r>
            <a:r>
              <a:rPr b="1" lang="en"/>
              <a:t>rapidly</a:t>
            </a:r>
            <a:r>
              <a:rPr lang="en"/>
              <a:t> over time</a:t>
            </a:r>
            <a:endParaRPr/>
          </a:p>
          <a:p>
            <a:pPr indent="-342900" lvl="0" marL="457200" marR="0" rtl="0" algn="l">
              <a:lnSpc>
                <a:spcPct val="115000"/>
              </a:lnSpc>
              <a:spcBef>
                <a:spcPts val="0"/>
              </a:spcBef>
              <a:spcAft>
                <a:spcPts val="0"/>
              </a:spcAft>
              <a:buSzPts val="1800"/>
              <a:buChar char="●"/>
            </a:pPr>
            <a:r>
              <a:rPr lang="en"/>
              <a:t>Low bandwidth ties are only preferable when:</a:t>
            </a:r>
            <a:endParaRPr/>
          </a:p>
          <a:p>
            <a:pPr indent="-317500" lvl="1" marL="914400" marR="0" rtl="0" algn="l">
              <a:lnSpc>
                <a:spcPct val="115000"/>
              </a:lnSpc>
              <a:spcBef>
                <a:spcPts val="0"/>
              </a:spcBef>
              <a:spcAft>
                <a:spcPts val="0"/>
              </a:spcAft>
              <a:buSzPts val="1400"/>
              <a:buChar char="○"/>
            </a:pPr>
            <a:r>
              <a:rPr lang="en"/>
              <a:t>Information is relatively </a:t>
            </a:r>
            <a:r>
              <a:rPr b="1" lang="en"/>
              <a:t>static</a:t>
            </a:r>
            <a:r>
              <a:rPr lang="en"/>
              <a:t> and there is high </a:t>
            </a:r>
            <a:r>
              <a:rPr b="1" lang="en"/>
              <a:t>diversity</a:t>
            </a:r>
            <a:r>
              <a:rPr lang="en"/>
              <a:t> in who knows what</a:t>
            </a:r>
            <a:endParaRPr/>
          </a:p>
        </p:txBody>
      </p:sp>
      <p:pic>
        <p:nvPicPr>
          <p:cNvPr descr="Screenshot 2017-10-03 at 09.13.36.png" id="2009" name="Google Shape;2009;p165"/>
          <p:cNvPicPr preferRelativeResize="0"/>
          <p:nvPr/>
        </p:nvPicPr>
        <p:blipFill rotWithShape="1">
          <a:blip r:embed="rId3">
            <a:alphaModFix/>
          </a:blip>
          <a:srcRect b="0" l="0" r="49354" t="0"/>
          <a:stretch/>
        </p:blipFill>
        <p:spPr>
          <a:xfrm>
            <a:off x="5201700" y="1225225"/>
            <a:ext cx="3630608" cy="3353999"/>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13" name="Shape 2013"/>
        <p:cNvGrpSpPr/>
        <p:nvPr/>
      </p:nvGrpSpPr>
      <p:grpSpPr>
        <a:xfrm>
          <a:off x="0" y="0"/>
          <a:ext cx="0" cy="0"/>
          <a:chOff x="0" y="0"/>
          <a:chExt cx="0" cy="0"/>
        </a:xfrm>
      </p:grpSpPr>
      <p:sp>
        <p:nvSpPr>
          <p:cNvPr id="2014" name="Google Shape;2014;p16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2015" name="Google Shape;2015;p166"/>
          <p:cNvSpPr txBox="1"/>
          <p:nvPr>
            <p:ph idx="1" type="body"/>
          </p:nvPr>
        </p:nvSpPr>
        <p:spPr>
          <a:xfrm>
            <a:off x="311700" y="1225225"/>
            <a:ext cx="50058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Advantage of low bandwidth ties is also compromised when:</a:t>
            </a:r>
            <a:endParaRPr/>
          </a:p>
          <a:p>
            <a:pPr indent="-317500" lvl="1" marL="914400" marR="0" rtl="0" algn="l">
              <a:lnSpc>
                <a:spcPct val="115000"/>
              </a:lnSpc>
              <a:spcBef>
                <a:spcPts val="0"/>
              </a:spcBef>
              <a:spcAft>
                <a:spcPts val="0"/>
              </a:spcAft>
              <a:buSzPts val="1400"/>
              <a:buChar char="○"/>
            </a:pPr>
            <a:r>
              <a:rPr lang="en"/>
              <a:t>There is even </a:t>
            </a:r>
            <a:r>
              <a:rPr b="1" lang="en"/>
              <a:t>minimal overlap</a:t>
            </a:r>
            <a:r>
              <a:rPr lang="en"/>
              <a:t> in information across contacts</a:t>
            </a:r>
            <a:endParaRPr/>
          </a:p>
          <a:p>
            <a:pPr indent="-317500" lvl="1" marL="914400" marR="0" rtl="0" algn="l">
              <a:lnSpc>
                <a:spcPct val="115000"/>
              </a:lnSpc>
              <a:spcBef>
                <a:spcPts val="0"/>
              </a:spcBef>
              <a:spcAft>
                <a:spcPts val="0"/>
              </a:spcAft>
              <a:buSzPts val="1400"/>
              <a:buChar char="○"/>
            </a:pPr>
            <a:r>
              <a:rPr lang="en"/>
              <a:t>The information environment is </a:t>
            </a:r>
            <a:r>
              <a:rPr b="1" lang="en"/>
              <a:t>richer and more complex</a:t>
            </a:r>
            <a:endParaRPr b="1"/>
          </a:p>
          <a:p>
            <a:pPr indent="-317500" lvl="1" marL="914400" marR="0" rtl="0" algn="l">
              <a:lnSpc>
                <a:spcPct val="115000"/>
              </a:lnSpc>
              <a:spcBef>
                <a:spcPts val="0"/>
              </a:spcBef>
              <a:spcAft>
                <a:spcPts val="0"/>
              </a:spcAft>
              <a:buSzPts val="1400"/>
              <a:buChar char="○"/>
            </a:pPr>
            <a:r>
              <a:rPr lang="en"/>
              <a:t>When who knows what </a:t>
            </a:r>
            <a:r>
              <a:rPr b="1" lang="en"/>
              <a:t>changes</a:t>
            </a:r>
            <a:r>
              <a:rPr lang="en"/>
              <a:t> </a:t>
            </a:r>
            <a:r>
              <a:rPr b="1" lang="en"/>
              <a:t>rapidly</a:t>
            </a:r>
            <a:r>
              <a:rPr lang="en"/>
              <a:t> over time</a:t>
            </a:r>
            <a:endParaRPr/>
          </a:p>
          <a:p>
            <a:pPr indent="-342900" lvl="0" marL="457200" marR="0" rtl="0" algn="l">
              <a:lnSpc>
                <a:spcPct val="115000"/>
              </a:lnSpc>
              <a:spcBef>
                <a:spcPts val="0"/>
              </a:spcBef>
              <a:spcAft>
                <a:spcPts val="0"/>
              </a:spcAft>
              <a:buSzPts val="1800"/>
              <a:buChar char="●"/>
            </a:pPr>
            <a:r>
              <a:rPr lang="en"/>
              <a:t>Low bandwidth ties are only preferable when:</a:t>
            </a:r>
            <a:endParaRPr/>
          </a:p>
          <a:p>
            <a:pPr indent="-317500" lvl="1" marL="914400" marR="0" rtl="0" algn="l">
              <a:lnSpc>
                <a:spcPct val="115000"/>
              </a:lnSpc>
              <a:spcBef>
                <a:spcPts val="0"/>
              </a:spcBef>
              <a:spcAft>
                <a:spcPts val="0"/>
              </a:spcAft>
              <a:buSzPts val="1400"/>
              <a:buChar char="○"/>
            </a:pPr>
            <a:r>
              <a:rPr lang="en"/>
              <a:t>Information is relatively </a:t>
            </a:r>
            <a:r>
              <a:rPr b="1" lang="en"/>
              <a:t>static</a:t>
            </a:r>
            <a:r>
              <a:rPr lang="en"/>
              <a:t> and there is high </a:t>
            </a:r>
            <a:r>
              <a:rPr b="1" lang="en"/>
              <a:t>diversity</a:t>
            </a:r>
            <a:r>
              <a:rPr lang="en"/>
              <a:t> in who knows what</a:t>
            </a:r>
            <a:endParaRPr/>
          </a:p>
        </p:txBody>
      </p:sp>
      <p:pic>
        <p:nvPicPr>
          <p:cNvPr descr="Screenshot 2017-10-03 at 09.13.36.png" id="2016" name="Google Shape;2016;p166"/>
          <p:cNvPicPr preferRelativeResize="0"/>
          <p:nvPr/>
        </p:nvPicPr>
        <p:blipFill rotWithShape="1">
          <a:blip r:embed="rId3">
            <a:alphaModFix/>
          </a:blip>
          <a:srcRect b="266" l="50838" r="0" t="-2589"/>
          <a:stretch/>
        </p:blipFill>
        <p:spPr>
          <a:xfrm>
            <a:off x="5307775" y="1186225"/>
            <a:ext cx="3524524" cy="3432001"/>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20" name="Shape 2020"/>
        <p:cNvGrpSpPr/>
        <p:nvPr/>
      </p:nvGrpSpPr>
      <p:grpSpPr>
        <a:xfrm>
          <a:off x="0" y="0"/>
          <a:ext cx="0" cy="0"/>
          <a:chOff x="0" y="0"/>
          <a:chExt cx="0" cy="0"/>
        </a:xfrm>
      </p:grpSpPr>
      <p:sp>
        <p:nvSpPr>
          <p:cNvPr id="2021" name="Google Shape;2021;p16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2022" name="Google Shape;2022;p167"/>
          <p:cNvSpPr txBox="1"/>
          <p:nvPr>
            <p:ph idx="1" type="body"/>
          </p:nvPr>
        </p:nvSpPr>
        <p:spPr>
          <a:xfrm>
            <a:off x="311700" y="1225225"/>
            <a:ext cx="50058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Advantage of low bandwidth ties is also compromised when:</a:t>
            </a:r>
            <a:endParaRPr/>
          </a:p>
          <a:p>
            <a:pPr indent="-317500" lvl="1" marL="914400" marR="0" rtl="0" algn="l">
              <a:lnSpc>
                <a:spcPct val="115000"/>
              </a:lnSpc>
              <a:spcBef>
                <a:spcPts val="0"/>
              </a:spcBef>
              <a:spcAft>
                <a:spcPts val="0"/>
              </a:spcAft>
              <a:buSzPts val="1400"/>
              <a:buChar char="○"/>
            </a:pPr>
            <a:r>
              <a:rPr lang="en"/>
              <a:t>There is even </a:t>
            </a:r>
            <a:r>
              <a:rPr b="1" lang="en"/>
              <a:t>minimal overlap</a:t>
            </a:r>
            <a:r>
              <a:rPr lang="en"/>
              <a:t> in information across contacts</a:t>
            </a:r>
            <a:endParaRPr/>
          </a:p>
          <a:p>
            <a:pPr indent="-317500" lvl="1" marL="914400" marR="0" rtl="0" algn="l">
              <a:lnSpc>
                <a:spcPct val="115000"/>
              </a:lnSpc>
              <a:spcBef>
                <a:spcPts val="0"/>
              </a:spcBef>
              <a:spcAft>
                <a:spcPts val="0"/>
              </a:spcAft>
              <a:buSzPts val="1400"/>
              <a:buChar char="○"/>
            </a:pPr>
            <a:r>
              <a:rPr lang="en"/>
              <a:t>The information environment is </a:t>
            </a:r>
            <a:r>
              <a:rPr b="1" lang="en"/>
              <a:t>richer and more complex</a:t>
            </a:r>
            <a:endParaRPr b="1"/>
          </a:p>
          <a:p>
            <a:pPr indent="-317500" lvl="1" marL="914400" marR="0" rtl="0" algn="l">
              <a:lnSpc>
                <a:spcPct val="115000"/>
              </a:lnSpc>
              <a:spcBef>
                <a:spcPts val="0"/>
              </a:spcBef>
              <a:spcAft>
                <a:spcPts val="0"/>
              </a:spcAft>
              <a:buSzPts val="1400"/>
              <a:buChar char="○"/>
            </a:pPr>
            <a:r>
              <a:rPr lang="en"/>
              <a:t>When who knows what </a:t>
            </a:r>
            <a:r>
              <a:rPr b="1" lang="en"/>
              <a:t>changes</a:t>
            </a:r>
            <a:r>
              <a:rPr lang="en"/>
              <a:t> </a:t>
            </a:r>
            <a:r>
              <a:rPr b="1" lang="en"/>
              <a:t>rapidly</a:t>
            </a:r>
            <a:r>
              <a:rPr lang="en"/>
              <a:t> over time</a:t>
            </a:r>
            <a:endParaRPr/>
          </a:p>
          <a:p>
            <a:pPr indent="-342900" lvl="0" marL="457200" marR="0" rtl="0" algn="l">
              <a:lnSpc>
                <a:spcPct val="115000"/>
              </a:lnSpc>
              <a:spcBef>
                <a:spcPts val="0"/>
              </a:spcBef>
              <a:spcAft>
                <a:spcPts val="0"/>
              </a:spcAft>
              <a:buSzPts val="1800"/>
              <a:buChar char="●"/>
            </a:pPr>
            <a:r>
              <a:rPr lang="en"/>
              <a:t>Low bandwidth ties are only preferable when:</a:t>
            </a:r>
            <a:endParaRPr/>
          </a:p>
          <a:p>
            <a:pPr indent="-317500" lvl="1" marL="914400" marR="0" rtl="0" algn="l">
              <a:lnSpc>
                <a:spcPct val="115000"/>
              </a:lnSpc>
              <a:spcBef>
                <a:spcPts val="0"/>
              </a:spcBef>
              <a:spcAft>
                <a:spcPts val="0"/>
              </a:spcAft>
              <a:buSzPts val="1400"/>
              <a:buChar char="○"/>
            </a:pPr>
            <a:r>
              <a:rPr lang="en"/>
              <a:t>Information is relatively </a:t>
            </a:r>
            <a:r>
              <a:rPr b="1" lang="en"/>
              <a:t>static</a:t>
            </a:r>
            <a:r>
              <a:rPr lang="en"/>
              <a:t> and there is high </a:t>
            </a:r>
            <a:r>
              <a:rPr b="1" lang="en"/>
              <a:t>diversity</a:t>
            </a:r>
            <a:r>
              <a:rPr lang="en"/>
              <a:t> in who knows what</a:t>
            </a:r>
            <a:endParaRPr/>
          </a:p>
        </p:txBody>
      </p:sp>
      <p:pic>
        <p:nvPicPr>
          <p:cNvPr descr="Screenshot 2017-10-03 at 09.16.42.png" id="2023" name="Google Shape;2023;p167"/>
          <p:cNvPicPr preferRelativeResize="0"/>
          <p:nvPr/>
        </p:nvPicPr>
        <p:blipFill rotWithShape="1">
          <a:blip r:embed="rId3">
            <a:alphaModFix/>
          </a:blip>
          <a:srcRect b="0" l="0" r="49777" t="0"/>
          <a:stretch/>
        </p:blipFill>
        <p:spPr>
          <a:xfrm>
            <a:off x="5317500" y="1267375"/>
            <a:ext cx="3459041" cy="3354001"/>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27" name="Shape 2027"/>
        <p:cNvGrpSpPr/>
        <p:nvPr/>
      </p:nvGrpSpPr>
      <p:grpSpPr>
        <a:xfrm>
          <a:off x="0" y="0"/>
          <a:ext cx="0" cy="0"/>
          <a:chOff x="0" y="0"/>
          <a:chExt cx="0" cy="0"/>
        </a:xfrm>
      </p:grpSpPr>
      <p:sp>
        <p:nvSpPr>
          <p:cNvPr id="2028" name="Google Shape;2028;p16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2029" name="Google Shape;2029;p168"/>
          <p:cNvSpPr txBox="1"/>
          <p:nvPr>
            <p:ph idx="1" type="body"/>
          </p:nvPr>
        </p:nvSpPr>
        <p:spPr>
          <a:xfrm>
            <a:off x="311700" y="1225225"/>
            <a:ext cx="50058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Advantage of low bandwidth ties is also compromised when:</a:t>
            </a:r>
            <a:endParaRPr/>
          </a:p>
          <a:p>
            <a:pPr indent="-317500" lvl="1" marL="914400" marR="0" rtl="0" algn="l">
              <a:lnSpc>
                <a:spcPct val="115000"/>
              </a:lnSpc>
              <a:spcBef>
                <a:spcPts val="0"/>
              </a:spcBef>
              <a:spcAft>
                <a:spcPts val="0"/>
              </a:spcAft>
              <a:buSzPts val="1400"/>
              <a:buChar char="○"/>
            </a:pPr>
            <a:r>
              <a:rPr lang="en"/>
              <a:t>There is even </a:t>
            </a:r>
            <a:r>
              <a:rPr b="1" lang="en"/>
              <a:t>minimal overlap</a:t>
            </a:r>
            <a:r>
              <a:rPr lang="en"/>
              <a:t> in information across contacts</a:t>
            </a:r>
            <a:endParaRPr/>
          </a:p>
          <a:p>
            <a:pPr indent="-317500" lvl="1" marL="914400" marR="0" rtl="0" algn="l">
              <a:lnSpc>
                <a:spcPct val="115000"/>
              </a:lnSpc>
              <a:spcBef>
                <a:spcPts val="0"/>
              </a:spcBef>
              <a:spcAft>
                <a:spcPts val="0"/>
              </a:spcAft>
              <a:buSzPts val="1400"/>
              <a:buChar char="○"/>
            </a:pPr>
            <a:r>
              <a:rPr lang="en"/>
              <a:t>The information environment is </a:t>
            </a:r>
            <a:r>
              <a:rPr b="1" lang="en"/>
              <a:t>richer and more complex</a:t>
            </a:r>
            <a:endParaRPr b="1"/>
          </a:p>
          <a:p>
            <a:pPr indent="-317500" lvl="1" marL="914400" marR="0" rtl="0" algn="l">
              <a:lnSpc>
                <a:spcPct val="115000"/>
              </a:lnSpc>
              <a:spcBef>
                <a:spcPts val="0"/>
              </a:spcBef>
              <a:spcAft>
                <a:spcPts val="0"/>
              </a:spcAft>
              <a:buSzPts val="1400"/>
              <a:buChar char="○"/>
            </a:pPr>
            <a:r>
              <a:rPr lang="en"/>
              <a:t>When who knows what </a:t>
            </a:r>
            <a:r>
              <a:rPr b="1" lang="en"/>
              <a:t>changes</a:t>
            </a:r>
            <a:r>
              <a:rPr lang="en"/>
              <a:t> </a:t>
            </a:r>
            <a:r>
              <a:rPr b="1" lang="en"/>
              <a:t>rapidly</a:t>
            </a:r>
            <a:r>
              <a:rPr lang="en"/>
              <a:t> over time</a:t>
            </a:r>
            <a:endParaRPr/>
          </a:p>
          <a:p>
            <a:pPr indent="-342900" lvl="0" marL="457200" marR="0" rtl="0" algn="l">
              <a:lnSpc>
                <a:spcPct val="115000"/>
              </a:lnSpc>
              <a:spcBef>
                <a:spcPts val="0"/>
              </a:spcBef>
              <a:spcAft>
                <a:spcPts val="0"/>
              </a:spcAft>
              <a:buSzPts val="1800"/>
              <a:buChar char="●"/>
            </a:pPr>
            <a:r>
              <a:rPr lang="en"/>
              <a:t>Low bandwidth ties are only preferable when:</a:t>
            </a:r>
            <a:endParaRPr/>
          </a:p>
          <a:p>
            <a:pPr indent="-317500" lvl="1" marL="914400" marR="0" rtl="0" algn="l">
              <a:lnSpc>
                <a:spcPct val="115000"/>
              </a:lnSpc>
              <a:spcBef>
                <a:spcPts val="0"/>
              </a:spcBef>
              <a:spcAft>
                <a:spcPts val="0"/>
              </a:spcAft>
              <a:buSzPts val="1400"/>
              <a:buChar char="○"/>
            </a:pPr>
            <a:r>
              <a:rPr lang="en"/>
              <a:t>Information is relatively </a:t>
            </a:r>
            <a:r>
              <a:rPr b="1" lang="en"/>
              <a:t>static</a:t>
            </a:r>
            <a:r>
              <a:rPr lang="en"/>
              <a:t> and there is high </a:t>
            </a:r>
            <a:r>
              <a:rPr b="1" lang="en"/>
              <a:t>diversity</a:t>
            </a:r>
            <a:r>
              <a:rPr lang="en"/>
              <a:t> in who knows what</a:t>
            </a:r>
            <a:endParaRPr/>
          </a:p>
        </p:txBody>
      </p:sp>
      <p:pic>
        <p:nvPicPr>
          <p:cNvPr descr="Screenshot 2017-10-03 at 09.16.42.png" id="2030" name="Google Shape;2030;p168"/>
          <p:cNvPicPr preferRelativeResize="0"/>
          <p:nvPr/>
        </p:nvPicPr>
        <p:blipFill rotWithShape="1">
          <a:blip r:embed="rId3">
            <a:alphaModFix/>
          </a:blip>
          <a:srcRect b="0" l="49907" r="0" t="0"/>
          <a:stretch/>
        </p:blipFill>
        <p:spPr>
          <a:xfrm>
            <a:off x="5260400" y="1225225"/>
            <a:ext cx="3450093" cy="3354001"/>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34" name="Shape 2034"/>
        <p:cNvGrpSpPr/>
        <p:nvPr/>
      </p:nvGrpSpPr>
      <p:grpSpPr>
        <a:xfrm>
          <a:off x="0" y="0"/>
          <a:ext cx="0" cy="0"/>
          <a:chOff x="0" y="0"/>
          <a:chExt cx="0" cy="0"/>
        </a:xfrm>
      </p:grpSpPr>
      <p:sp>
        <p:nvSpPr>
          <p:cNvPr id="2035" name="Google Shape;2035;p16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Diversity-bandwidth tradeoff</a:t>
            </a:r>
            <a:endParaRPr/>
          </a:p>
        </p:txBody>
      </p:sp>
      <p:sp>
        <p:nvSpPr>
          <p:cNvPr id="2036" name="Google Shape;2036;p16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Bandwidth tradeoff propositions (revision of SWT theory):</a:t>
            </a:r>
            <a:endParaRPr/>
          </a:p>
          <a:p>
            <a:pPr indent="-317500" lvl="1" marL="914400" marR="0" rtl="0" algn="l">
              <a:lnSpc>
                <a:spcPct val="115000"/>
              </a:lnSpc>
              <a:spcBef>
                <a:spcPts val="0"/>
              </a:spcBef>
              <a:spcAft>
                <a:spcPts val="0"/>
              </a:spcAft>
              <a:buSzPts val="1400"/>
              <a:buChar char="○"/>
            </a:pPr>
            <a:r>
              <a:rPr lang="en"/>
              <a:t>Channel bandwidth is positively associated with receiving more diverse information and more total non redundant information</a:t>
            </a:r>
            <a:endParaRPr/>
          </a:p>
          <a:p>
            <a:pPr indent="-317500" lvl="1" marL="914400" marR="0" rtl="0" algn="l">
              <a:lnSpc>
                <a:spcPct val="115000"/>
              </a:lnSpc>
              <a:spcBef>
                <a:spcPts val="0"/>
              </a:spcBef>
              <a:spcAft>
                <a:spcPts val="0"/>
              </a:spcAft>
              <a:buSzPts val="1400"/>
              <a:buChar char="○"/>
            </a:pPr>
            <a:r>
              <a:rPr lang="en"/>
              <a:t>The greater the information overlap among alters, the less valuable structural diversity will be in providing access to novel information</a:t>
            </a:r>
            <a:endParaRPr/>
          </a:p>
          <a:p>
            <a:pPr indent="-317500" lvl="1" marL="914400" marR="0" rtl="0" algn="l">
              <a:lnSpc>
                <a:spcPct val="115000"/>
              </a:lnSpc>
              <a:spcBef>
                <a:spcPts val="0"/>
              </a:spcBef>
              <a:spcAft>
                <a:spcPts val="0"/>
              </a:spcAft>
              <a:buSzPts val="1400"/>
              <a:buChar char="○"/>
            </a:pPr>
            <a:r>
              <a:rPr lang="en"/>
              <a:t> The broader the topic </a:t>
            </a:r>
            <a:r>
              <a:rPr lang="en"/>
              <a:t>sp</a:t>
            </a:r>
            <a:r>
              <a:rPr lang="en"/>
              <a:t>ace, the more valuable channel bandwidth will be in providing access to novel information.</a:t>
            </a:r>
            <a:endParaRPr/>
          </a:p>
          <a:p>
            <a:pPr indent="-317500" lvl="1" marL="914400" marR="0" rtl="0" algn="l">
              <a:lnSpc>
                <a:spcPct val="115000"/>
              </a:lnSpc>
              <a:spcBef>
                <a:spcPts val="0"/>
              </a:spcBef>
              <a:spcAft>
                <a:spcPts val="0"/>
              </a:spcAft>
              <a:buSzPts val="1400"/>
              <a:buChar char="○"/>
            </a:pPr>
            <a:r>
              <a:rPr lang="en"/>
              <a:t>The higher the refresh rate, the more valuable channel bandwidth will be in providing access to novel information.</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0" name="Shape 2040"/>
        <p:cNvGrpSpPr/>
        <p:nvPr/>
      </p:nvGrpSpPr>
      <p:grpSpPr>
        <a:xfrm>
          <a:off x="0" y="0"/>
          <a:ext cx="0" cy="0"/>
          <a:chOff x="0" y="0"/>
          <a:chExt cx="0" cy="0"/>
        </a:xfrm>
      </p:grpSpPr>
      <p:sp>
        <p:nvSpPr>
          <p:cNvPr id="2041" name="Google Shape;2041;p1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2042" name="Google Shape;2042;p170"/>
          <p:cNvSpPr txBox="1"/>
          <p:nvPr>
            <p:ph idx="1" type="body"/>
          </p:nvPr>
        </p:nvSpPr>
        <p:spPr>
          <a:xfrm>
            <a:off x="311700" y="1225225"/>
            <a:ext cx="4260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social network theories assume ties and network flows are usually positive or neutral:</a:t>
            </a:r>
            <a:endParaRPr/>
          </a:p>
          <a:p>
            <a:pPr indent="-317500" lvl="1" marL="914400" rtl="0" algn="l">
              <a:spcBef>
                <a:spcPts val="0"/>
              </a:spcBef>
              <a:spcAft>
                <a:spcPts val="0"/>
              </a:spcAft>
              <a:buSzPts val="1400"/>
              <a:buChar char="○"/>
            </a:pPr>
            <a:r>
              <a:rPr lang="en"/>
              <a:t>Ties</a:t>
            </a:r>
            <a:endParaRPr/>
          </a:p>
          <a:p>
            <a:pPr indent="-317500" lvl="2" marL="1371600" rtl="0" algn="l">
              <a:spcBef>
                <a:spcPts val="0"/>
              </a:spcBef>
              <a:spcAft>
                <a:spcPts val="0"/>
              </a:spcAft>
              <a:buSzPts val="1400"/>
              <a:buChar char="■"/>
            </a:pPr>
            <a:r>
              <a:rPr lang="en"/>
              <a:t>Friendship</a:t>
            </a:r>
            <a:endParaRPr/>
          </a:p>
          <a:p>
            <a:pPr indent="-317500" lvl="2" marL="1371600" rtl="0" algn="l">
              <a:spcBef>
                <a:spcPts val="0"/>
              </a:spcBef>
              <a:spcAft>
                <a:spcPts val="0"/>
              </a:spcAft>
              <a:buSzPts val="1400"/>
              <a:buChar char="■"/>
            </a:pPr>
            <a:r>
              <a:rPr lang="en"/>
              <a:t>Kinship</a:t>
            </a:r>
            <a:endParaRPr/>
          </a:p>
          <a:p>
            <a:pPr indent="-317500" lvl="2" marL="1371600" rtl="0" algn="l">
              <a:spcBef>
                <a:spcPts val="0"/>
              </a:spcBef>
              <a:spcAft>
                <a:spcPts val="0"/>
              </a:spcAft>
              <a:buSzPts val="1400"/>
              <a:buChar char="■"/>
            </a:pPr>
            <a:r>
              <a:rPr lang="en"/>
              <a:t>Co-membership</a:t>
            </a:r>
            <a:endParaRPr/>
          </a:p>
          <a:p>
            <a:pPr indent="-317500" lvl="1" marL="914400" rtl="0" algn="l">
              <a:spcBef>
                <a:spcPts val="0"/>
              </a:spcBef>
              <a:spcAft>
                <a:spcPts val="0"/>
              </a:spcAft>
              <a:buSzPts val="1400"/>
              <a:buChar char="○"/>
            </a:pPr>
            <a:r>
              <a:rPr lang="en"/>
              <a:t>Flows</a:t>
            </a:r>
            <a:endParaRPr/>
          </a:p>
          <a:p>
            <a:pPr indent="-317500" lvl="2" marL="1371600" rtl="0" algn="l">
              <a:spcBef>
                <a:spcPts val="0"/>
              </a:spcBef>
              <a:spcAft>
                <a:spcPts val="0"/>
              </a:spcAft>
              <a:buSzPts val="1400"/>
              <a:buChar char="■"/>
            </a:pPr>
            <a:r>
              <a:rPr lang="en"/>
              <a:t>Information</a:t>
            </a:r>
            <a:endParaRPr/>
          </a:p>
          <a:p>
            <a:pPr indent="-317500" lvl="2" marL="1371600" rtl="0" algn="l">
              <a:spcBef>
                <a:spcPts val="0"/>
              </a:spcBef>
              <a:spcAft>
                <a:spcPts val="0"/>
              </a:spcAft>
              <a:buSzPts val="1400"/>
              <a:buChar char="■"/>
            </a:pPr>
            <a:r>
              <a:rPr lang="en"/>
              <a:t>Support</a:t>
            </a:r>
            <a:endParaRPr/>
          </a:p>
          <a:p>
            <a:pPr indent="-317500" lvl="2" marL="1371600" rtl="0" algn="l">
              <a:spcBef>
                <a:spcPts val="0"/>
              </a:spcBef>
              <a:spcAft>
                <a:spcPts val="0"/>
              </a:spcAft>
              <a:buClr>
                <a:srgbClr val="FF0000"/>
              </a:buClr>
              <a:buSzPts val="1400"/>
              <a:buChar char="■"/>
            </a:pPr>
            <a:r>
              <a:rPr b="1" lang="en">
                <a:solidFill>
                  <a:srgbClr val="FF0000"/>
                </a:solidFill>
              </a:rPr>
              <a:t>Gossip</a:t>
            </a:r>
            <a:endParaRPr b="1">
              <a:solidFill>
                <a:srgbClr val="FF0000"/>
              </a:solidFill>
            </a:endParaRPr>
          </a:p>
          <a:p>
            <a:pPr indent="-317500" lvl="2" marL="1371600" rtl="0" algn="l">
              <a:spcBef>
                <a:spcPts val="0"/>
              </a:spcBef>
              <a:spcAft>
                <a:spcPts val="0"/>
              </a:spcAft>
              <a:buClr>
                <a:srgbClr val="FF0000"/>
              </a:buClr>
              <a:buSzPts val="1400"/>
              <a:buChar char="■"/>
            </a:pPr>
            <a:r>
              <a:rPr b="1" lang="en">
                <a:solidFill>
                  <a:srgbClr val="FF0000"/>
                </a:solidFill>
              </a:rPr>
              <a:t>Violence</a:t>
            </a:r>
            <a:endParaRPr b="1">
              <a:solidFill>
                <a:srgbClr val="FF0000"/>
              </a:solidFill>
            </a:endParaRPr>
          </a:p>
        </p:txBody>
      </p:sp>
      <p:pic>
        <p:nvPicPr>
          <p:cNvPr id="2043" name="Google Shape;2043;p170"/>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sp>
        <p:nvSpPr>
          <p:cNvPr id="2048" name="Google Shape;2048;p1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2049" name="Google Shape;2049;p171"/>
          <p:cNvSpPr txBox="1"/>
          <p:nvPr>
            <p:ph idx="1" type="body"/>
          </p:nvPr>
        </p:nvSpPr>
        <p:spPr>
          <a:xfrm>
            <a:off x="311700" y="1225225"/>
            <a:ext cx="4406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real-world social networks feature a mix of: </a:t>
            </a:r>
            <a:endParaRPr/>
          </a:p>
          <a:p>
            <a:pPr indent="-317500" lvl="1" marL="914400" rtl="0" algn="l">
              <a:spcBef>
                <a:spcPts val="0"/>
              </a:spcBef>
              <a:spcAft>
                <a:spcPts val="0"/>
              </a:spcAft>
              <a:buSzPts val="1400"/>
              <a:buChar char="○"/>
            </a:pPr>
            <a:r>
              <a:rPr i="1" lang="en"/>
              <a:t>Positive and negative ties:</a:t>
            </a:r>
            <a:endParaRPr i="1"/>
          </a:p>
          <a:p>
            <a:pPr indent="-317500" lvl="2" marL="1371600" rtl="0" algn="l">
              <a:spcBef>
                <a:spcPts val="0"/>
              </a:spcBef>
              <a:spcAft>
                <a:spcPts val="0"/>
              </a:spcAft>
              <a:buSzPts val="1400"/>
              <a:buChar char="■"/>
            </a:pPr>
            <a:r>
              <a:rPr lang="en"/>
              <a:t>Friends and enemies</a:t>
            </a:r>
            <a:endParaRPr/>
          </a:p>
          <a:p>
            <a:pPr indent="-317500" lvl="2" marL="1371600" rtl="0" algn="l">
              <a:spcBef>
                <a:spcPts val="0"/>
              </a:spcBef>
              <a:spcAft>
                <a:spcPts val="0"/>
              </a:spcAft>
              <a:buSzPts val="1400"/>
              <a:buChar char="■"/>
            </a:pPr>
            <a:r>
              <a:rPr lang="en"/>
              <a:t>Liking and disliking</a:t>
            </a:r>
            <a:endParaRPr/>
          </a:p>
          <a:p>
            <a:pPr indent="-317500" lvl="2" marL="1371600" rtl="0" algn="l">
              <a:spcBef>
                <a:spcPts val="0"/>
              </a:spcBef>
              <a:spcAft>
                <a:spcPts val="0"/>
              </a:spcAft>
              <a:buSzPts val="1400"/>
              <a:buChar char="■"/>
            </a:pPr>
            <a:r>
              <a:rPr lang="en"/>
              <a:t>Members of same group versus rival groups</a:t>
            </a:r>
            <a:endParaRPr/>
          </a:p>
          <a:p>
            <a:pPr indent="-317500" lvl="1" marL="914400" rtl="0" algn="l">
              <a:spcBef>
                <a:spcPts val="0"/>
              </a:spcBef>
              <a:spcAft>
                <a:spcPts val="0"/>
              </a:spcAft>
              <a:buSzPts val="1400"/>
              <a:buChar char="○"/>
            </a:pPr>
            <a:r>
              <a:rPr i="1" lang="en"/>
              <a:t>Positive and negative flows:</a:t>
            </a:r>
            <a:endParaRPr i="1"/>
          </a:p>
          <a:p>
            <a:pPr indent="-317500" lvl="2" marL="1371600" rtl="0" algn="l">
              <a:spcBef>
                <a:spcPts val="0"/>
              </a:spcBef>
              <a:spcAft>
                <a:spcPts val="0"/>
              </a:spcAft>
              <a:buSzPts val="1400"/>
              <a:buChar char="■"/>
            </a:pPr>
            <a:r>
              <a:rPr lang="en"/>
              <a:t>Gossip versus compliments</a:t>
            </a:r>
            <a:endParaRPr/>
          </a:p>
          <a:p>
            <a:pPr indent="-317500" lvl="2" marL="1371600" rtl="0" algn="l">
              <a:spcBef>
                <a:spcPts val="0"/>
              </a:spcBef>
              <a:spcAft>
                <a:spcPts val="0"/>
              </a:spcAft>
              <a:buSzPts val="1400"/>
              <a:buChar char="■"/>
            </a:pPr>
            <a:r>
              <a:rPr lang="en"/>
              <a:t>Helping versus violence</a:t>
            </a:r>
            <a:endParaRPr/>
          </a:p>
          <a:p>
            <a:pPr indent="-342900" lvl="0" marL="457200" rtl="0" algn="l">
              <a:spcBef>
                <a:spcPts val="0"/>
              </a:spcBef>
              <a:spcAft>
                <a:spcPts val="0"/>
              </a:spcAft>
              <a:buSzPts val="1800"/>
              <a:buChar char="●"/>
            </a:pPr>
            <a:r>
              <a:rPr lang="en"/>
              <a:t>These are called </a:t>
            </a:r>
            <a:r>
              <a:rPr b="1" lang="en"/>
              <a:t>valenced relationships</a:t>
            </a:r>
            <a:endParaRPr b="1"/>
          </a:p>
          <a:p>
            <a:pPr indent="0" lvl="0" marL="0" rtl="0" algn="l">
              <a:spcBef>
                <a:spcPts val="0"/>
              </a:spcBef>
              <a:spcAft>
                <a:spcPts val="0"/>
              </a:spcAft>
              <a:buNone/>
            </a:pPr>
            <a:r>
              <a:t/>
            </a:r>
            <a:endParaRPr/>
          </a:p>
        </p:txBody>
      </p:sp>
      <p:pic>
        <p:nvPicPr>
          <p:cNvPr id="2050" name="Google Shape;2050;p171"/>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sp>
        <p:nvSpPr>
          <p:cNvPr id="2055" name="Google Shape;2055;p17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2056" name="Google Shape;2056;p172"/>
          <p:cNvSpPr txBox="1"/>
          <p:nvPr>
            <p:ph idx="1" type="body"/>
          </p:nvPr>
        </p:nvSpPr>
        <p:spPr>
          <a:xfrm>
            <a:off x="311700" y="1225225"/>
            <a:ext cx="4260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Core network concepts change meaning when ties are valenced!</a:t>
            </a:r>
            <a:endParaRPr/>
          </a:p>
          <a:p>
            <a:pPr indent="-317500" lvl="1" marL="914400" rtl="0" algn="l">
              <a:spcBef>
                <a:spcPts val="0"/>
              </a:spcBef>
              <a:spcAft>
                <a:spcPts val="0"/>
              </a:spcAft>
              <a:buSzPts val="1400"/>
              <a:buChar char="○"/>
            </a:pPr>
            <a:r>
              <a:rPr lang="en"/>
              <a:t>In-degree centrality:</a:t>
            </a:r>
            <a:endParaRPr/>
          </a:p>
          <a:p>
            <a:pPr indent="-317500" lvl="2" marL="1371600" rtl="0" algn="l">
              <a:spcBef>
                <a:spcPts val="0"/>
              </a:spcBef>
              <a:spcAft>
                <a:spcPts val="0"/>
              </a:spcAft>
              <a:buSzPts val="1400"/>
              <a:buChar char="■"/>
            </a:pPr>
            <a:r>
              <a:rPr lang="en"/>
              <a:t>Friendship (good)</a:t>
            </a:r>
            <a:endParaRPr/>
          </a:p>
          <a:p>
            <a:pPr indent="-317500" lvl="2" marL="1371600" rtl="0" algn="l">
              <a:spcBef>
                <a:spcPts val="0"/>
              </a:spcBef>
              <a:spcAft>
                <a:spcPts val="0"/>
              </a:spcAft>
              <a:buSzPts val="1400"/>
              <a:buChar char="■"/>
            </a:pPr>
            <a:r>
              <a:rPr lang="en"/>
              <a:t>Disliking (bad!)</a:t>
            </a:r>
            <a:endParaRPr/>
          </a:p>
          <a:p>
            <a:pPr indent="-317500" lvl="2" marL="1371600" rtl="0" algn="l">
              <a:spcBef>
                <a:spcPts val="0"/>
              </a:spcBef>
              <a:spcAft>
                <a:spcPts val="0"/>
              </a:spcAft>
              <a:buSzPts val="1400"/>
              <a:buChar char="■"/>
            </a:pPr>
            <a:r>
              <a:rPr lang="en"/>
              <a:t>Support (good!)</a:t>
            </a:r>
            <a:endParaRPr/>
          </a:p>
          <a:p>
            <a:pPr indent="-317500" lvl="2" marL="1371600" rtl="0" algn="l">
              <a:spcBef>
                <a:spcPts val="0"/>
              </a:spcBef>
              <a:spcAft>
                <a:spcPts val="0"/>
              </a:spcAft>
              <a:buSzPts val="1400"/>
              <a:buChar char="■"/>
            </a:pPr>
            <a:r>
              <a:rPr lang="en"/>
              <a:t>Enemies (bad?)</a:t>
            </a:r>
            <a:endParaRPr/>
          </a:p>
          <a:p>
            <a:pPr indent="-317500" lvl="1" marL="914400" rtl="0" algn="l">
              <a:spcBef>
                <a:spcPts val="0"/>
              </a:spcBef>
              <a:spcAft>
                <a:spcPts val="0"/>
              </a:spcAft>
              <a:buSzPts val="1400"/>
              <a:buChar char="○"/>
            </a:pPr>
            <a:r>
              <a:rPr lang="en"/>
              <a:t>The same goes for out-degree:</a:t>
            </a:r>
            <a:endParaRPr/>
          </a:p>
          <a:p>
            <a:pPr indent="-317500" lvl="2" marL="1371600" rtl="0" algn="l">
              <a:spcBef>
                <a:spcPts val="0"/>
              </a:spcBef>
              <a:spcAft>
                <a:spcPts val="0"/>
              </a:spcAft>
              <a:buSzPts val="1400"/>
              <a:buChar char="■"/>
            </a:pPr>
            <a:r>
              <a:rPr lang="en"/>
              <a:t>A bully is a person who has lots of outgoing negative ties</a:t>
            </a:r>
            <a:endParaRPr/>
          </a:p>
          <a:p>
            <a:pPr indent="-317500" lvl="1" marL="914400" rtl="0" algn="l">
              <a:spcBef>
                <a:spcPts val="0"/>
              </a:spcBef>
              <a:spcAft>
                <a:spcPts val="0"/>
              </a:spcAft>
              <a:buSzPts val="1400"/>
              <a:buChar char="○"/>
            </a:pPr>
            <a:r>
              <a:rPr lang="en"/>
              <a:t>And other network metrics:</a:t>
            </a:r>
            <a:endParaRPr/>
          </a:p>
          <a:p>
            <a:pPr indent="-317500" lvl="2" marL="1371600" rtl="0" algn="l">
              <a:spcBef>
                <a:spcPts val="0"/>
              </a:spcBef>
              <a:spcAft>
                <a:spcPts val="0"/>
              </a:spcAft>
              <a:buSzPts val="1400"/>
              <a:buChar char="■"/>
            </a:pPr>
            <a:r>
              <a:rPr lang="en"/>
              <a:t>Eigenvector centrality</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pic>
        <p:nvPicPr>
          <p:cNvPr id="2057" name="Google Shape;2057;p172"/>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Google Shape;2062;p17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2063" name="Google Shape;2063;p173"/>
          <p:cNvSpPr txBox="1"/>
          <p:nvPr>
            <p:ph idx="1" type="body"/>
          </p:nvPr>
        </p:nvSpPr>
        <p:spPr>
          <a:xfrm>
            <a:off x="311700" y="1225225"/>
            <a:ext cx="4260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have seen on network theory (</a:t>
            </a:r>
            <a:r>
              <a:rPr b="1" lang="en"/>
              <a:t>balance</a:t>
            </a:r>
            <a:r>
              <a:rPr lang="en"/>
              <a:t>) designed to explain valenced relationships</a:t>
            </a:r>
            <a:endParaRPr/>
          </a:p>
          <a:p>
            <a:pPr indent="-342900" lvl="0" marL="457200" rtl="0" algn="l">
              <a:spcBef>
                <a:spcPts val="0"/>
              </a:spcBef>
              <a:spcAft>
                <a:spcPts val="0"/>
              </a:spcAft>
              <a:buSzPts val="1800"/>
              <a:buChar char="●"/>
            </a:pPr>
            <a:r>
              <a:rPr lang="en"/>
              <a:t>But this is not the only approach!</a:t>
            </a:r>
            <a:endParaRPr/>
          </a:p>
          <a:p>
            <a:pPr indent="-317500" lvl="1" marL="914400" rtl="0" algn="l">
              <a:spcBef>
                <a:spcPts val="0"/>
              </a:spcBef>
              <a:spcAft>
                <a:spcPts val="0"/>
              </a:spcAft>
              <a:buSzPts val="1400"/>
              <a:buChar char="○"/>
            </a:pPr>
            <a:r>
              <a:rPr lang="en"/>
              <a:t>Status theory </a:t>
            </a:r>
            <a:endParaRPr/>
          </a:p>
          <a:p>
            <a:pPr indent="-317500" lvl="2" marL="1371600" rtl="0" algn="l">
              <a:spcBef>
                <a:spcPts val="0"/>
              </a:spcBef>
              <a:spcAft>
                <a:spcPts val="0"/>
              </a:spcAft>
              <a:buSzPts val="1400"/>
              <a:buChar char="■"/>
            </a:pPr>
            <a:r>
              <a:rPr lang="en"/>
              <a:t>(an extension of balance theory)</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pic>
        <p:nvPicPr>
          <p:cNvPr id="2064" name="Google Shape;2064;p173"/>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174"/>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7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071" name="Google Shape;2071;p174"/>
          <p:cNvSpPr txBox="1"/>
          <p:nvPr>
            <p:ph idx="1" type="body"/>
          </p:nvPr>
        </p:nvSpPr>
        <p:spPr>
          <a:xfrm>
            <a:off x="311700" y="1225225"/>
            <a:ext cx="4564800" cy="355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First principle:</a:t>
            </a:r>
            <a:endParaRPr/>
          </a:p>
          <a:p>
            <a:pPr indent="-317500" lvl="1" marL="914400" rtl="0" algn="l">
              <a:spcBef>
                <a:spcPts val="0"/>
              </a:spcBef>
              <a:spcAft>
                <a:spcPts val="0"/>
              </a:spcAft>
              <a:buSzPts val="1400"/>
              <a:buChar char="○"/>
            </a:pPr>
            <a:r>
              <a:rPr lang="en"/>
              <a:t>Status in valenced networks is determined by sign of ties received</a:t>
            </a:r>
            <a:endParaRPr/>
          </a:p>
          <a:p>
            <a:pPr indent="-317500" lvl="2" marL="1371600" rtl="0" algn="l">
              <a:spcBef>
                <a:spcPts val="0"/>
              </a:spcBef>
              <a:spcAft>
                <a:spcPts val="0"/>
              </a:spcAft>
              <a:buClr>
                <a:srgbClr val="000000"/>
              </a:buClr>
              <a:buSzPts val="1400"/>
              <a:buChar char="■"/>
            </a:pPr>
            <a:r>
              <a:rPr lang="en">
                <a:solidFill>
                  <a:srgbClr val="000000"/>
                </a:solidFill>
              </a:rPr>
              <a:t>High status</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6AA84F"/>
                </a:solidFill>
              </a:rPr>
              <a:t>positive</a:t>
            </a:r>
            <a:r>
              <a:rPr i="1" lang="en"/>
              <a:t> ties</a:t>
            </a:r>
            <a:endParaRPr i="1"/>
          </a:p>
          <a:p>
            <a:pPr indent="-317500" lvl="2" marL="1371600" rtl="0" algn="l">
              <a:spcBef>
                <a:spcPts val="0"/>
              </a:spcBef>
              <a:spcAft>
                <a:spcPts val="0"/>
              </a:spcAft>
              <a:buClr>
                <a:srgbClr val="000000"/>
              </a:buClr>
              <a:buSzPts val="1400"/>
              <a:buChar char="■"/>
            </a:pPr>
            <a:r>
              <a:rPr lang="en">
                <a:solidFill>
                  <a:srgbClr val="000000"/>
                </a:solidFill>
              </a:rPr>
              <a:t>Low status </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FF0000"/>
                </a:solidFill>
              </a:rPr>
              <a:t>negative</a:t>
            </a:r>
            <a:r>
              <a:rPr i="1" lang="en"/>
              <a:t> ties</a:t>
            </a:r>
            <a:endParaRPr i="1"/>
          </a:p>
          <a:p>
            <a:pPr indent="-317500" lvl="2" marL="1371600" rtl="0" algn="l">
              <a:spcBef>
                <a:spcPts val="0"/>
              </a:spcBef>
              <a:spcAft>
                <a:spcPts val="0"/>
              </a:spcAft>
              <a:buSzPts val="1400"/>
              <a:buChar char="■"/>
            </a:pPr>
            <a:r>
              <a:rPr lang="en"/>
              <a:t>Directed </a:t>
            </a:r>
            <a:r>
              <a:rPr b="1" lang="en"/>
              <a:t>positive</a:t>
            </a:r>
            <a:r>
              <a:rPr lang="en"/>
              <a:t> tie from i →j:</a:t>
            </a:r>
            <a:endParaRPr/>
          </a:p>
          <a:p>
            <a:pPr indent="-317500" lvl="3" marL="1828800" rtl="0" algn="l">
              <a:spcBef>
                <a:spcPts val="0"/>
              </a:spcBef>
              <a:spcAft>
                <a:spcPts val="0"/>
              </a:spcAft>
              <a:buSzPts val="1400"/>
              <a:buChar char="●"/>
            </a:pPr>
            <a:r>
              <a:rPr lang="en"/>
              <a:t>I thinks of j as </a:t>
            </a:r>
            <a:r>
              <a:rPr b="1" lang="en"/>
              <a:t>higher</a:t>
            </a:r>
            <a:r>
              <a:rPr lang="en"/>
              <a:t> status</a:t>
            </a:r>
            <a:endParaRPr/>
          </a:p>
          <a:p>
            <a:pPr indent="0" lvl="0" marL="1828800" rtl="0" algn="l">
              <a:spcBef>
                <a:spcPts val="0"/>
              </a:spcBef>
              <a:spcAft>
                <a:spcPts val="0"/>
              </a:spcAft>
              <a:buNone/>
            </a:pPr>
            <a:r>
              <a:rPr i="1" lang="en"/>
              <a:t> </a:t>
            </a:r>
            <a:endParaRPr i="1"/>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072" name="Google Shape;2072;p174"/>
          <p:cNvSpPr/>
          <p:nvPr/>
        </p:nvSpPr>
        <p:spPr>
          <a:xfrm>
            <a:off x="6598775" y="22354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74"/>
          <p:cNvSpPr/>
          <p:nvPr/>
        </p:nvSpPr>
        <p:spPr>
          <a:xfrm>
            <a:off x="610815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74"/>
          <p:cNvSpPr/>
          <p:nvPr/>
        </p:nvSpPr>
        <p:spPr>
          <a:xfrm>
            <a:off x="6598763"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74"/>
          <p:cNvSpPr/>
          <p:nvPr/>
        </p:nvSpPr>
        <p:spPr>
          <a:xfrm>
            <a:off x="711110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76" name="Google Shape;2076;p174"/>
          <p:cNvCxnSpPr>
            <a:stCxn id="2073" idx="4"/>
            <a:endCxn id="2072" idx="1"/>
          </p:cNvCxnSpPr>
          <p:nvPr/>
        </p:nvCxnSpPr>
        <p:spPr>
          <a:xfrm>
            <a:off x="6291150" y="17251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077" name="Google Shape;2077;p174"/>
          <p:cNvCxnSpPr>
            <a:stCxn id="2074" idx="4"/>
            <a:endCxn id="2072" idx="0"/>
          </p:cNvCxnSpPr>
          <p:nvPr/>
        </p:nvCxnSpPr>
        <p:spPr>
          <a:xfrm>
            <a:off x="6781763" y="17251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078" name="Google Shape;2078;p174"/>
          <p:cNvCxnSpPr>
            <a:stCxn id="2075" idx="4"/>
            <a:endCxn id="2072" idx="7"/>
          </p:cNvCxnSpPr>
          <p:nvPr/>
        </p:nvCxnSpPr>
        <p:spPr>
          <a:xfrm flipH="1">
            <a:off x="6911300" y="17251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079" name="Google Shape;2079;p174"/>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74"/>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1" name="Google Shape;2081;p174"/>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082" name="Google Shape;2082;p174"/>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083" name="Google Shape;2083;p174"/>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084" name="Google Shape;2084;p174"/>
          <p:cNvSpPr txBox="1"/>
          <p:nvPr/>
        </p:nvSpPr>
        <p:spPr>
          <a:xfrm>
            <a:off x="6198125" y="26706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High Status</a:t>
            </a:r>
            <a:endParaRPr>
              <a:latin typeface="Open Sans"/>
              <a:ea typeface="Open Sans"/>
              <a:cs typeface="Open Sans"/>
              <a:sym typeface="Open Sans"/>
            </a:endParaRPr>
          </a:p>
        </p:txBody>
      </p:sp>
      <p:sp>
        <p:nvSpPr>
          <p:cNvPr id="2085" name="Google Shape;2085;p174"/>
          <p:cNvSpPr/>
          <p:nvPr/>
        </p:nvSpPr>
        <p:spPr>
          <a:xfrm>
            <a:off x="6587925" y="40592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74"/>
          <p:cNvSpPr/>
          <p:nvPr/>
        </p:nvSpPr>
        <p:spPr>
          <a:xfrm>
            <a:off x="609730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174"/>
          <p:cNvSpPr/>
          <p:nvPr/>
        </p:nvSpPr>
        <p:spPr>
          <a:xfrm>
            <a:off x="6587913"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74"/>
          <p:cNvSpPr/>
          <p:nvPr/>
        </p:nvSpPr>
        <p:spPr>
          <a:xfrm>
            <a:off x="710025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9" name="Google Shape;2089;p174"/>
          <p:cNvCxnSpPr>
            <a:stCxn id="2086" idx="4"/>
            <a:endCxn id="2085" idx="1"/>
          </p:cNvCxnSpPr>
          <p:nvPr/>
        </p:nvCxnSpPr>
        <p:spPr>
          <a:xfrm>
            <a:off x="6280300" y="35489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090" name="Google Shape;2090;p174"/>
          <p:cNvCxnSpPr>
            <a:stCxn id="2087" idx="4"/>
            <a:endCxn id="2085" idx="0"/>
          </p:cNvCxnSpPr>
          <p:nvPr/>
        </p:nvCxnSpPr>
        <p:spPr>
          <a:xfrm>
            <a:off x="6770913" y="35489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091" name="Google Shape;2091;p174"/>
          <p:cNvCxnSpPr>
            <a:stCxn id="2088" idx="4"/>
            <a:endCxn id="2085" idx="7"/>
          </p:cNvCxnSpPr>
          <p:nvPr/>
        </p:nvCxnSpPr>
        <p:spPr>
          <a:xfrm flipH="1">
            <a:off x="6900450" y="35489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092" name="Google Shape;2092;p174"/>
          <p:cNvSpPr txBox="1"/>
          <p:nvPr/>
        </p:nvSpPr>
        <p:spPr>
          <a:xfrm>
            <a:off x="6187275" y="44944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Low Status</a:t>
            </a:r>
            <a:endParaRPr>
              <a:latin typeface="Open Sans"/>
              <a:ea typeface="Open Sans"/>
              <a:cs typeface="Open Sans"/>
              <a:sym typeface="Open San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6" name="Shape 2096"/>
        <p:cNvGrpSpPr/>
        <p:nvPr/>
      </p:nvGrpSpPr>
      <p:grpSpPr>
        <a:xfrm>
          <a:off x="0" y="0"/>
          <a:ext cx="0" cy="0"/>
          <a:chOff x="0" y="0"/>
          <a:chExt cx="0" cy="0"/>
        </a:xfrm>
      </p:grpSpPr>
      <p:sp>
        <p:nvSpPr>
          <p:cNvPr id="2097" name="Google Shape;2097;p175"/>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17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099" name="Google Shape;2099;p175"/>
          <p:cNvSpPr txBox="1"/>
          <p:nvPr>
            <p:ph idx="1" type="body"/>
          </p:nvPr>
        </p:nvSpPr>
        <p:spPr>
          <a:xfrm>
            <a:off x="311700" y="1225225"/>
            <a:ext cx="4564800" cy="355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First principle:</a:t>
            </a:r>
            <a:endParaRPr/>
          </a:p>
          <a:p>
            <a:pPr indent="-317500" lvl="1" marL="914400" rtl="0" algn="l">
              <a:spcBef>
                <a:spcPts val="0"/>
              </a:spcBef>
              <a:spcAft>
                <a:spcPts val="0"/>
              </a:spcAft>
              <a:buSzPts val="1400"/>
              <a:buChar char="○"/>
            </a:pPr>
            <a:r>
              <a:rPr lang="en"/>
              <a:t>Status in valenced networks is determined by sign of ties received</a:t>
            </a:r>
            <a:endParaRPr/>
          </a:p>
          <a:p>
            <a:pPr indent="-317500" lvl="2" marL="1371600" rtl="0" algn="l">
              <a:spcBef>
                <a:spcPts val="0"/>
              </a:spcBef>
              <a:spcAft>
                <a:spcPts val="0"/>
              </a:spcAft>
              <a:buClr>
                <a:srgbClr val="000000"/>
              </a:buClr>
              <a:buSzPts val="1400"/>
              <a:buChar char="■"/>
            </a:pPr>
            <a:r>
              <a:rPr lang="en">
                <a:solidFill>
                  <a:srgbClr val="000000"/>
                </a:solidFill>
              </a:rPr>
              <a:t>High status</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6AA84F"/>
                </a:solidFill>
              </a:rPr>
              <a:t>positive</a:t>
            </a:r>
            <a:r>
              <a:rPr i="1" lang="en"/>
              <a:t> ties</a:t>
            </a:r>
            <a:endParaRPr i="1"/>
          </a:p>
          <a:p>
            <a:pPr indent="-317500" lvl="2" marL="1371600" rtl="0" algn="l">
              <a:spcBef>
                <a:spcPts val="0"/>
              </a:spcBef>
              <a:spcAft>
                <a:spcPts val="0"/>
              </a:spcAft>
              <a:buClr>
                <a:srgbClr val="000000"/>
              </a:buClr>
              <a:buSzPts val="1400"/>
              <a:buChar char="■"/>
            </a:pPr>
            <a:r>
              <a:rPr lang="en">
                <a:solidFill>
                  <a:srgbClr val="000000"/>
                </a:solidFill>
              </a:rPr>
              <a:t>Low status </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FF0000"/>
                </a:solidFill>
              </a:rPr>
              <a:t>negative</a:t>
            </a:r>
            <a:r>
              <a:rPr i="1" lang="en"/>
              <a:t> ties</a:t>
            </a:r>
            <a:endParaRPr i="1"/>
          </a:p>
          <a:p>
            <a:pPr indent="-317500" lvl="2" marL="1371600" rtl="0" algn="l">
              <a:spcBef>
                <a:spcPts val="0"/>
              </a:spcBef>
              <a:spcAft>
                <a:spcPts val="0"/>
              </a:spcAft>
              <a:buSzPts val="1400"/>
              <a:buChar char="■"/>
            </a:pPr>
            <a:r>
              <a:rPr lang="en"/>
              <a:t>Directed </a:t>
            </a:r>
            <a:r>
              <a:rPr b="1" lang="en"/>
              <a:t>negative</a:t>
            </a:r>
            <a:r>
              <a:rPr lang="en"/>
              <a:t> tie from i →j:</a:t>
            </a:r>
            <a:endParaRPr/>
          </a:p>
          <a:p>
            <a:pPr indent="-317500" lvl="3" marL="1828800" rtl="0" algn="l">
              <a:spcBef>
                <a:spcPts val="0"/>
              </a:spcBef>
              <a:spcAft>
                <a:spcPts val="0"/>
              </a:spcAft>
              <a:buSzPts val="1400"/>
              <a:buChar char="●"/>
            </a:pPr>
            <a:r>
              <a:rPr lang="en"/>
              <a:t>I thinks of j as </a:t>
            </a:r>
            <a:r>
              <a:rPr b="1" lang="en"/>
              <a:t>lower</a:t>
            </a:r>
            <a:r>
              <a:rPr lang="en"/>
              <a:t> status</a:t>
            </a:r>
            <a:endParaRPr/>
          </a:p>
          <a:p>
            <a:pPr indent="0" lvl="0" marL="1828800" rtl="0" algn="l">
              <a:spcBef>
                <a:spcPts val="0"/>
              </a:spcBef>
              <a:spcAft>
                <a:spcPts val="0"/>
              </a:spcAft>
              <a:buNone/>
            </a:pPr>
            <a:r>
              <a:rPr i="1" lang="en"/>
              <a:t> </a:t>
            </a:r>
            <a:endParaRPr i="1"/>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100" name="Google Shape;2100;p175"/>
          <p:cNvSpPr/>
          <p:nvPr/>
        </p:nvSpPr>
        <p:spPr>
          <a:xfrm>
            <a:off x="6598775" y="22354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175"/>
          <p:cNvSpPr/>
          <p:nvPr/>
        </p:nvSpPr>
        <p:spPr>
          <a:xfrm>
            <a:off x="610815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75"/>
          <p:cNvSpPr/>
          <p:nvPr/>
        </p:nvSpPr>
        <p:spPr>
          <a:xfrm>
            <a:off x="6598763"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75"/>
          <p:cNvSpPr/>
          <p:nvPr/>
        </p:nvSpPr>
        <p:spPr>
          <a:xfrm>
            <a:off x="711110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04" name="Google Shape;2104;p175"/>
          <p:cNvCxnSpPr>
            <a:stCxn id="2101" idx="4"/>
            <a:endCxn id="2100" idx="1"/>
          </p:cNvCxnSpPr>
          <p:nvPr/>
        </p:nvCxnSpPr>
        <p:spPr>
          <a:xfrm>
            <a:off x="6291150" y="17251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105" name="Google Shape;2105;p175"/>
          <p:cNvCxnSpPr>
            <a:stCxn id="2102" idx="4"/>
            <a:endCxn id="2100" idx="0"/>
          </p:cNvCxnSpPr>
          <p:nvPr/>
        </p:nvCxnSpPr>
        <p:spPr>
          <a:xfrm>
            <a:off x="6781763" y="17251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106" name="Google Shape;2106;p175"/>
          <p:cNvCxnSpPr>
            <a:stCxn id="2103" idx="4"/>
            <a:endCxn id="2100" idx="7"/>
          </p:cNvCxnSpPr>
          <p:nvPr/>
        </p:nvCxnSpPr>
        <p:spPr>
          <a:xfrm flipH="1">
            <a:off x="6911300" y="17251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107" name="Google Shape;2107;p175"/>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175"/>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09" name="Google Shape;2109;p175"/>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110" name="Google Shape;2110;p175"/>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111" name="Google Shape;2111;p175"/>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112" name="Google Shape;2112;p175"/>
          <p:cNvSpPr txBox="1"/>
          <p:nvPr/>
        </p:nvSpPr>
        <p:spPr>
          <a:xfrm>
            <a:off x="6198125" y="26706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High Status</a:t>
            </a:r>
            <a:endParaRPr>
              <a:latin typeface="Open Sans"/>
              <a:ea typeface="Open Sans"/>
              <a:cs typeface="Open Sans"/>
              <a:sym typeface="Open Sans"/>
            </a:endParaRPr>
          </a:p>
        </p:txBody>
      </p:sp>
      <p:sp>
        <p:nvSpPr>
          <p:cNvPr id="2113" name="Google Shape;2113;p175"/>
          <p:cNvSpPr/>
          <p:nvPr/>
        </p:nvSpPr>
        <p:spPr>
          <a:xfrm>
            <a:off x="6587925" y="40592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75"/>
          <p:cNvSpPr/>
          <p:nvPr/>
        </p:nvSpPr>
        <p:spPr>
          <a:xfrm>
            <a:off x="609730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75"/>
          <p:cNvSpPr/>
          <p:nvPr/>
        </p:nvSpPr>
        <p:spPr>
          <a:xfrm>
            <a:off x="6587913"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75"/>
          <p:cNvSpPr/>
          <p:nvPr/>
        </p:nvSpPr>
        <p:spPr>
          <a:xfrm>
            <a:off x="710025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17" name="Google Shape;2117;p175"/>
          <p:cNvCxnSpPr>
            <a:stCxn id="2114" idx="4"/>
            <a:endCxn id="2113" idx="1"/>
          </p:cNvCxnSpPr>
          <p:nvPr/>
        </p:nvCxnSpPr>
        <p:spPr>
          <a:xfrm>
            <a:off x="6280300" y="35489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118" name="Google Shape;2118;p175"/>
          <p:cNvCxnSpPr>
            <a:stCxn id="2115" idx="4"/>
            <a:endCxn id="2113" idx="0"/>
          </p:cNvCxnSpPr>
          <p:nvPr/>
        </p:nvCxnSpPr>
        <p:spPr>
          <a:xfrm>
            <a:off x="6770913" y="35489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119" name="Google Shape;2119;p175"/>
          <p:cNvCxnSpPr>
            <a:stCxn id="2116" idx="4"/>
            <a:endCxn id="2113" idx="7"/>
          </p:cNvCxnSpPr>
          <p:nvPr/>
        </p:nvCxnSpPr>
        <p:spPr>
          <a:xfrm flipH="1">
            <a:off x="6900450" y="35489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120" name="Google Shape;2120;p175"/>
          <p:cNvSpPr txBox="1"/>
          <p:nvPr/>
        </p:nvSpPr>
        <p:spPr>
          <a:xfrm>
            <a:off x="6187275" y="44944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Low Status</a:t>
            </a:r>
            <a:endParaRPr>
              <a:latin typeface="Open Sans"/>
              <a:ea typeface="Open Sans"/>
              <a:cs typeface="Open Sans"/>
              <a:sym typeface="Open San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4" name="Shape 2124"/>
        <p:cNvGrpSpPr/>
        <p:nvPr/>
      </p:nvGrpSpPr>
      <p:grpSpPr>
        <a:xfrm>
          <a:off x="0" y="0"/>
          <a:ext cx="0" cy="0"/>
          <a:chOff x="0" y="0"/>
          <a:chExt cx="0" cy="0"/>
        </a:xfrm>
      </p:grpSpPr>
      <p:sp>
        <p:nvSpPr>
          <p:cNvPr id="2125" name="Google Shape;2125;p176"/>
          <p:cNvSpPr/>
          <p:nvPr/>
        </p:nvSpPr>
        <p:spPr>
          <a:xfrm>
            <a:off x="5776550" y="133233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7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127" name="Google Shape;2127;p176"/>
          <p:cNvSpPr txBox="1"/>
          <p:nvPr>
            <p:ph idx="1" type="body"/>
          </p:nvPr>
        </p:nvSpPr>
        <p:spPr>
          <a:xfrm>
            <a:off x="311700" y="1225225"/>
            <a:ext cx="45351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Clr>
                <a:srgbClr val="FF0000"/>
              </a:buClr>
              <a:buSzPts val="1400"/>
              <a:buChar char="■"/>
            </a:pPr>
            <a:r>
              <a:rPr lang="en">
                <a:solidFill>
                  <a:srgbClr val="FF0000"/>
                </a:solidFill>
              </a:rPr>
              <a:t>Positive ties to high status others increase status</a:t>
            </a:r>
            <a:endParaRPr>
              <a:solidFill>
                <a:srgbClr val="FF0000"/>
              </a:solidFill>
            </a:endParaRPr>
          </a:p>
          <a:p>
            <a:pPr indent="-317500" lvl="2" marL="1371600" rtl="0" algn="l">
              <a:spcBef>
                <a:spcPts val="0"/>
              </a:spcBef>
              <a:spcAft>
                <a:spcPts val="0"/>
              </a:spcAft>
              <a:buSzPts val="1400"/>
              <a:buChar char="■"/>
            </a:pPr>
            <a:r>
              <a:rPr lang="en"/>
              <a:t>Positive ties to low status others decrease status</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128" name="Google Shape;2128;p176"/>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76"/>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76"/>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31" name="Google Shape;2131;p176"/>
          <p:cNvCxnSpPr>
            <a:stCxn id="2129" idx="4"/>
            <a:endCxn id="2128"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132" name="Google Shape;2132;p176"/>
          <p:cNvCxnSpPr>
            <a:stCxn id="2130" idx="4"/>
            <a:endCxn id="2128"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133" name="Google Shape;2133;p176"/>
          <p:cNvCxnSpPr>
            <a:stCxn id="2134" idx="4"/>
            <a:endCxn id="2128" idx="7"/>
          </p:cNvCxnSpPr>
          <p:nvPr/>
        </p:nvCxnSpPr>
        <p:spPr>
          <a:xfrm flipH="1">
            <a:off x="7672776" y="173495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135" name="Google Shape;2135;p176"/>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2136" name="Google Shape;2136;p176"/>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76"/>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76"/>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76"/>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40" name="Google Shape;2140;p176"/>
          <p:cNvCxnSpPr>
            <a:stCxn id="2137" idx="4"/>
            <a:endCxn id="2136"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141" name="Google Shape;2141;p176"/>
          <p:cNvCxnSpPr>
            <a:stCxn id="2138" idx="4"/>
            <a:endCxn id="2136"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142" name="Google Shape;2142;p176"/>
          <p:cNvCxnSpPr>
            <a:stCxn id="2139" idx="4"/>
            <a:endCxn id="2136"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143" name="Google Shape;2143;p176"/>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2144" name="Google Shape;2144;p176"/>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45" name="Google Shape;2145;p176"/>
          <p:cNvCxnSpPr>
            <a:stCxn id="2128" idx="2"/>
            <a:endCxn id="2144" idx="6"/>
          </p:cNvCxnSpPr>
          <p:nvPr/>
        </p:nvCxnSpPr>
        <p:spPr>
          <a:xfrm flipH="1">
            <a:off x="6321775" y="2423350"/>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2146" name="Google Shape;2146;p176"/>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47" name="Google Shape;2147;p176"/>
          <p:cNvCxnSpPr>
            <a:stCxn id="2136" idx="2"/>
            <a:endCxn id="2146" idx="6"/>
          </p:cNvCxnSpPr>
          <p:nvPr/>
        </p:nvCxnSpPr>
        <p:spPr>
          <a:xfrm rot="10800000">
            <a:off x="6321725" y="4247150"/>
            <a:ext cx="1027800" cy="0"/>
          </a:xfrm>
          <a:prstGeom prst="straightConnector1">
            <a:avLst/>
          </a:prstGeom>
          <a:noFill/>
          <a:ln cap="flat" cmpd="sng" w="19050">
            <a:solidFill>
              <a:srgbClr val="6AA84F"/>
            </a:solidFill>
            <a:prstDash val="solid"/>
            <a:round/>
            <a:headEnd len="med" w="med" type="triangle"/>
            <a:tailEnd len="med" w="med" type="none"/>
          </a:ln>
        </p:spPr>
      </p:cxnSp>
      <p:sp>
        <p:nvSpPr>
          <p:cNvPr id="2148" name="Google Shape;2148;p176"/>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76"/>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76"/>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1" name="Google Shape;2151;p176"/>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152" name="Google Shape;2152;p176"/>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153" name="Google Shape;2153;p176"/>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154" name="Google Shape;2154;p176"/>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177"/>
          <p:cNvSpPr/>
          <p:nvPr/>
        </p:nvSpPr>
        <p:spPr>
          <a:xfrm>
            <a:off x="5682800" y="317328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17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161" name="Google Shape;2161;p177"/>
          <p:cNvSpPr txBox="1"/>
          <p:nvPr>
            <p:ph idx="1" type="body"/>
          </p:nvPr>
        </p:nvSpPr>
        <p:spPr>
          <a:xfrm>
            <a:off x="311700" y="1225225"/>
            <a:ext cx="45351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SzPts val="1400"/>
              <a:buChar char="■"/>
            </a:pPr>
            <a:r>
              <a:rPr lang="en"/>
              <a:t>Positive ties to high status others increase status</a:t>
            </a:r>
            <a:endParaRPr/>
          </a:p>
          <a:p>
            <a:pPr indent="-317500" lvl="2" marL="1371600" rtl="0" algn="l">
              <a:spcBef>
                <a:spcPts val="0"/>
              </a:spcBef>
              <a:spcAft>
                <a:spcPts val="0"/>
              </a:spcAft>
              <a:buClr>
                <a:srgbClr val="FF0000"/>
              </a:buClr>
              <a:buSzPts val="1400"/>
              <a:buChar char="■"/>
            </a:pPr>
            <a:r>
              <a:rPr lang="en">
                <a:solidFill>
                  <a:srgbClr val="FF0000"/>
                </a:solidFill>
              </a:rPr>
              <a:t>Positive ties to low status others decrease status</a:t>
            </a:r>
            <a:endParaRPr>
              <a:solidFill>
                <a:srgbClr val="FF0000"/>
              </a:solidFill>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162" name="Google Shape;2162;p177"/>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77"/>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177"/>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77"/>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66" name="Google Shape;2166;p177"/>
          <p:cNvCxnSpPr>
            <a:stCxn id="2163" idx="4"/>
            <a:endCxn id="2162"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167" name="Google Shape;2167;p177"/>
          <p:cNvCxnSpPr>
            <a:stCxn id="2164" idx="4"/>
            <a:endCxn id="2162"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168" name="Google Shape;2168;p177"/>
          <p:cNvCxnSpPr>
            <a:stCxn id="2165" idx="4"/>
            <a:endCxn id="2162" idx="7"/>
          </p:cNvCxnSpPr>
          <p:nvPr/>
        </p:nvCxnSpPr>
        <p:spPr>
          <a:xfrm flipH="1">
            <a:off x="7672900" y="17350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169" name="Google Shape;2169;p177"/>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2170" name="Google Shape;2170;p177"/>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77"/>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77"/>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77"/>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4" name="Google Shape;2174;p177"/>
          <p:cNvCxnSpPr>
            <a:stCxn id="2171" idx="4"/>
            <a:endCxn id="2170"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175" name="Google Shape;2175;p177"/>
          <p:cNvCxnSpPr>
            <a:stCxn id="2172" idx="4"/>
            <a:endCxn id="2170"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176" name="Google Shape;2176;p177"/>
          <p:cNvCxnSpPr>
            <a:stCxn id="2173" idx="4"/>
            <a:endCxn id="2170"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177" name="Google Shape;2177;p177"/>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2178" name="Google Shape;2178;p177"/>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9" name="Google Shape;2179;p177"/>
          <p:cNvCxnSpPr>
            <a:stCxn id="2162" idx="2"/>
            <a:endCxn id="2178" idx="6"/>
          </p:cNvCxnSpPr>
          <p:nvPr/>
        </p:nvCxnSpPr>
        <p:spPr>
          <a:xfrm flipH="1">
            <a:off x="6321775" y="2423350"/>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2180" name="Google Shape;2180;p177"/>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81" name="Google Shape;2181;p177"/>
          <p:cNvCxnSpPr>
            <a:stCxn id="2170" idx="2"/>
            <a:endCxn id="2180" idx="6"/>
          </p:cNvCxnSpPr>
          <p:nvPr/>
        </p:nvCxnSpPr>
        <p:spPr>
          <a:xfrm rot="10800000">
            <a:off x="6321725" y="4247150"/>
            <a:ext cx="1027800" cy="0"/>
          </a:xfrm>
          <a:prstGeom prst="straightConnector1">
            <a:avLst/>
          </a:prstGeom>
          <a:noFill/>
          <a:ln cap="flat" cmpd="sng" w="19050">
            <a:solidFill>
              <a:srgbClr val="6AA84F"/>
            </a:solidFill>
            <a:prstDash val="solid"/>
            <a:round/>
            <a:headEnd len="med" w="med" type="triangle"/>
            <a:tailEnd len="med" w="med" type="none"/>
          </a:ln>
        </p:spPr>
      </p:cxnSp>
      <p:sp>
        <p:nvSpPr>
          <p:cNvPr id="2182" name="Google Shape;2182;p177"/>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77"/>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77"/>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85" name="Google Shape;2185;p177"/>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186" name="Google Shape;2186;p177"/>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187" name="Google Shape;2187;p177"/>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178"/>
          <p:cNvSpPr/>
          <p:nvPr/>
        </p:nvSpPr>
        <p:spPr>
          <a:xfrm>
            <a:off x="5776550" y="133233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2193" name="Google Shape;2193;p178"/>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7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195" name="Google Shape;2195;p178"/>
          <p:cNvSpPr txBox="1"/>
          <p:nvPr>
            <p:ph idx="1" type="body"/>
          </p:nvPr>
        </p:nvSpPr>
        <p:spPr>
          <a:xfrm>
            <a:off x="311700" y="1225225"/>
            <a:ext cx="4605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Clr>
                <a:srgbClr val="FF0000"/>
              </a:buClr>
              <a:buSzPts val="1400"/>
              <a:buChar char="■"/>
            </a:pPr>
            <a:r>
              <a:rPr lang="en">
                <a:solidFill>
                  <a:srgbClr val="FF0000"/>
                </a:solidFill>
              </a:rPr>
              <a:t>Negative ties to high status others decrease status</a:t>
            </a:r>
            <a:endParaRPr>
              <a:solidFill>
                <a:srgbClr val="FF0000"/>
              </a:solidFill>
            </a:endParaRPr>
          </a:p>
          <a:p>
            <a:pPr indent="-317500" lvl="2" marL="1371600" rtl="0" algn="l">
              <a:spcBef>
                <a:spcPts val="0"/>
              </a:spcBef>
              <a:spcAft>
                <a:spcPts val="0"/>
              </a:spcAft>
              <a:buSzPts val="1400"/>
              <a:buChar char="■"/>
            </a:pPr>
            <a:r>
              <a:rPr lang="en"/>
              <a:t>Negative ties to low status others increase status</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196" name="Google Shape;2196;p178"/>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78"/>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78"/>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99" name="Google Shape;2199;p178"/>
          <p:cNvCxnSpPr>
            <a:stCxn id="2197" idx="4"/>
            <a:endCxn id="2196"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200" name="Google Shape;2200;p178"/>
          <p:cNvCxnSpPr>
            <a:stCxn id="2198" idx="4"/>
            <a:endCxn id="2196"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201" name="Google Shape;2201;p178"/>
          <p:cNvCxnSpPr>
            <a:stCxn id="2193" idx="4"/>
            <a:endCxn id="2196" idx="7"/>
          </p:cNvCxnSpPr>
          <p:nvPr/>
        </p:nvCxnSpPr>
        <p:spPr>
          <a:xfrm flipH="1">
            <a:off x="7672900" y="17350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202" name="Google Shape;2202;p178"/>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2203" name="Google Shape;2203;p178"/>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78"/>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78"/>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78"/>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07" name="Google Shape;2207;p178"/>
          <p:cNvCxnSpPr>
            <a:stCxn id="2204" idx="4"/>
            <a:endCxn id="2203"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208" name="Google Shape;2208;p178"/>
          <p:cNvCxnSpPr>
            <a:stCxn id="2205" idx="4"/>
            <a:endCxn id="2203"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209" name="Google Shape;2209;p178"/>
          <p:cNvCxnSpPr>
            <a:stCxn id="2206" idx="4"/>
            <a:endCxn id="2203"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210" name="Google Shape;2210;p178"/>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2211" name="Google Shape;2211;p178"/>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12" name="Google Shape;2212;p178"/>
          <p:cNvCxnSpPr>
            <a:stCxn id="2196" idx="2"/>
            <a:endCxn id="2211" idx="6"/>
          </p:cNvCxnSpPr>
          <p:nvPr/>
        </p:nvCxnSpPr>
        <p:spPr>
          <a:xfrm flipH="1">
            <a:off x="6321775" y="2423350"/>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2213" name="Google Shape;2213;p178"/>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14" name="Google Shape;2214;p178"/>
          <p:cNvCxnSpPr>
            <a:stCxn id="2203" idx="2"/>
            <a:endCxn id="2213" idx="6"/>
          </p:cNvCxnSpPr>
          <p:nvPr/>
        </p:nvCxnSpPr>
        <p:spPr>
          <a:xfrm rot="10800000">
            <a:off x="6321725" y="4247150"/>
            <a:ext cx="1027800" cy="0"/>
          </a:xfrm>
          <a:prstGeom prst="straightConnector1">
            <a:avLst/>
          </a:prstGeom>
          <a:noFill/>
          <a:ln cap="flat" cmpd="sng" w="19050">
            <a:solidFill>
              <a:srgbClr val="FF0000"/>
            </a:solidFill>
            <a:prstDash val="solid"/>
            <a:round/>
            <a:headEnd len="med" w="med" type="triangle"/>
            <a:tailEnd len="med" w="med" type="none"/>
          </a:ln>
        </p:spPr>
      </p:cxnSp>
      <p:sp>
        <p:nvSpPr>
          <p:cNvPr id="2215" name="Google Shape;2215;p178"/>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78"/>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78"/>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18" name="Google Shape;2218;p178"/>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219" name="Google Shape;2219;p178"/>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220" name="Google Shape;2220;p178"/>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4" name="Shape 2224"/>
        <p:cNvGrpSpPr/>
        <p:nvPr/>
      </p:nvGrpSpPr>
      <p:grpSpPr>
        <a:xfrm>
          <a:off x="0" y="0"/>
          <a:ext cx="0" cy="0"/>
          <a:chOff x="0" y="0"/>
          <a:chExt cx="0" cy="0"/>
        </a:xfrm>
      </p:grpSpPr>
      <p:sp>
        <p:nvSpPr>
          <p:cNvPr id="2225" name="Google Shape;2225;p179"/>
          <p:cNvSpPr/>
          <p:nvPr/>
        </p:nvSpPr>
        <p:spPr>
          <a:xfrm>
            <a:off x="5682800" y="317328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2226" name="Google Shape;2226;p17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227" name="Google Shape;2227;p179"/>
          <p:cNvSpPr txBox="1"/>
          <p:nvPr>
            <p:ph idx="1" type="body"/>
          </p:nvPr>
        </p:nvSpPr>
        <p:spPr>
          <a:xfrm>
            <a:off x="311700" y="1225225"/>
            <a:ext cx="4605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SzPts val="1400"/>
              <a:buChar char="■"/>
            </a:pPr>
            <a:r>
              <a:rPr lang="en"/>
              <a:t>Negative ties to high status others decrease status</a:t>
            </a:r>
            <a:endParaRPr/>
          </a:p>
          <a:p>
            <a:pPr indent="-317500" lvl="2" marL="1371600" rtl="0" algn="l">
              <a:spcBef>
                <a:spcPts val="0"/>
              </a:spcBef>
              <a:spcAft>
                <a:spcPts val="0"/>
              </a:spcAft>
              <a:buClr>
                <a:srgbClr val="FF0000"/>
              </a:buClr>
              <a:buSzPts val="1400"/>
              <a:buChar char="■"/>
            </a:pPr>
            <a:r>
              <a:rPr lang="en">
                <a:solidFill>
                  <a:srgbClr val="FF0000"/>
                </a:solidFill>
              </a:rPr>
              <a:t>Negative ties to low status others increase status</a:t>
            </a:r>
            <a:endParaRPr>
              <a:solidFill>
                <a:srgbClr val="FF0000"/>
              </a:solidFill>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228" name="Google Shape;2228;p179"/>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79"/>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79"/>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31" name="Google Shape;2231;p179"/>
          <p:cNvCxnSpPr>
            <a:stCxn id="2229" idx="4"/>
            <a:endCxn id="2228"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232" name="Google Shape;2232;p179"/>
          <p:cNvCxnSpPr>
            <a:stCxn id="2230" idx="4"/>
            <a:endCxn id="2228"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sp>
        <p:nvSpPr>
          <p:cNvPr id="2233" name="Google Shape;2233;p179"/>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2234" name="Google Shape;2234;p179"/>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79"/>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79"/>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179"/>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38" name="Google Shape;2238;p179"/>
          <p:cNvCxnSpPr>
            <a:stCxn id="2235" idx="4"/>
            <a:endCxn id="2234"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239" name="Google Shape;2239;p179"/>
          <p:cNvCxnSpPr>
            <a:stCxn id="2236" idx="4"/>
            <a:endCxn id="2234"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240" name="Google Shape;2240;p179"/>
          <p:cNvCxnSpPr>
            <a:stCxn id="2237" idx="4"/>
            <a:endCxn id="2234"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241" name="Google Shape;2241;p179"/>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2242" name="Google Shape;2242;p179"/>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43" name="Google Shape;2243;p179"/>
          <p:cNvCxnSpPr>
            <a:stCxn id="2228" idx="2"/>
            <a:endCxn id="2242" idx="6"/>
          </p:cNvCxnSpPr>
          <p:nvPr/>
        </p:nvCxnSpPr>
        <p:spPr>
          <a:xfrm flipH="1">
            <a:off x="6321775" y="2423350"/>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2244" name="Google Shape;2244;p179"/>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45" name="Google Shape;2245;p179"/>
          <p:cNvCxnSpPr>
            <a:stCxn id="2234" idx="2"/>
            <a:endCxn id="2244" idx="6"/>
          </p:cNvCxnSpPr>
          <p:nvPr/>
        </p:nvCxnSpPr>
        <p:spPr>
          <a:xfrm rot="10800000">
            <a:off x="6321725" y="4247150"/>
            <a:ext cx="1027800" cy="0"/>
          </a:xfrm>
          <a:prstGeom prst="straightConnector1">
            <a:avLst/>
          </a:prstGeom>
          <a:noFill/>
          <a:ln cap="flat" cmpd="sng" w="19050">
            <a:solidFill>
              <a:srgbClr val="FF0000"/>
            </a:solidFill>
            <a:prstDash val="solid"/>
            <a:round/>
            <a:headEnd len="med" w="med" type="triangle"/>
            <a:tailEnd len="med" w="med" type="none"/>
          </a:ln>
        </p:spPr>
      </p:cxnSp>
      <p:sp>
        <p:nvSpPr>
          <p:cNvPr id="2246" name="Google Shape;2246;p179"/>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79"/>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79"/>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49" name="Google Shape;2249;p179"/>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250" name="Google Shape;2250;p179"/>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251" name="Google Shape;2251;p179"/>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252" name="Google Shape;2252;p179"/>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53" name="Google Shape;2253;p179"/>
          <p:cNvCxnSpPr>
            <a:stCxn id="2252" idx="4"/>
          </p:cNvCxnSpPr>
          <p:nvPr/>
        </p:nvCxnSpPr>
        <p:spPr>
          <a:xfrm flipH="1">
            <a:off x="7672900" y="1735000"/>
            <a:ext cx="382800" cy="562500"/>
          </a:xfrm>
          <a:prstGeom prst="straightConnector1">
            <a:avLst/>
          </a:prstGeom>
          <a:noFill/>
          <a:ln cap="flat" cmpd="sng" w="19050">
            <a:solidFill>
              <a:srgbClr val="6AA84F"/>
            </a:solidFill>
            <a:prstDash val="solid"/>
            <a:round/>
            <a:headEnd len="med" w="med" type="none"/>
            <a:tailEnd len="med" w="med" type="triangle"/>
          </a:ln>
        </p:spPr>
      </p:cxn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7" name="Shape 2257"/>
        <p:cNvGrpSpPr/>
        <p:nvPr/>
      </p:nvGrpSpPr>
      <p:grpSpPr>
        <a:xfrm>
          <a:off x="0" y="0"/>
          <a:ext cx="0" cy="0"/>
          <a:chOff x="0" y="0"/>
          <a:chExt cx="0" cy="0"/>
        </a:xfrm>
      </p:grpSpPr>
      <p:sp>
        <p:nvSpPr>
          <p:cNvPr id="2258" name="Google Shape;2258;p18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259" name="Google Shape;2259;p180"/>
          <p:cNvSpPr txBox="1"/>
          <p:nvPr>
            <p:ph idx="1" type="body"/>
          </p:nvPr>
        </p:nvSpPr>
        <p:spPr>
          <a:xfrm>
            <a:off x="311700" y="1225225"/>
            <a:ext cx="8697000" cy="2067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High status individuals will accumulate positive ties</a:t>
            </a:r>
            <a:endParaRPr i="1"/>
          </a:p>
          <a:p>
            <a:pPr indent="-317500" lvl="3" marL="1828800" rtl="0" algn="l">
              <a:spcBef>
                <a:spcPts val="0"/>
              </a:spcBef>
              <a:spcAft>
                <a:spcPts val="0"/>
              </a:spcAft>
              <a:buSzPts val="1400"/>
              <a:buChar char="●"/>
            </a:pPr>
            <a:r>
              <a:rPr lang="en"/>
              <a:t>Rich get richer effect</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260" name="Google Shape;2260;p180"/>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80"/>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80"/>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63" name="Google Shape;2263;p180"/>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264" name="Google Shape;2264;p180"/>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265" name="Google Shape;2265;p180"/>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266" name="Google Shape;2266;p180"/>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180"/>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180"/>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180"/>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70" name="Google Shape;2270;p180"/>
          <p:cNvCxnSpPr>
            <a:stCxn id="2267" idx="4"/>
            <a:endCxn id="2266" idx="1"/>
          </p:cNvCxnSpPr>
          <p:nvPr/>
        </p:nvCxnSpPr>
        <p:spPr>
          <a:xfrm>
            <a:off x="1681750" y="3726313"/>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271" name="Google Shape;2271;p180"/>
          <p:cNvCxnSpPr>
            <a:stCxn id="2268" idx="4"/>
            <a:endCxn id="2266" idx="0"/>
          </p:cNvCxnSpPr>
          <p:nvPr/>
        </p:nvCxnSpPr>
        <p:spPr>
          <a:xfrm>
            <a:off x="2172363" y="3726313"/>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272" name="Google Shape;2272;p180"/>
          <p:cNvCxnSpPr>
            <a:stCxn id="2269" idx="4"/>
            <a:endCxn id="2266" idx="7"/>
          </p:cNvCxnSpPr>
          <p:nvPr/>
        </p:nvCxnSpPr>
        <p:spPr>
          <a:xfrm flipH="1">
            <a:off x="2301900" y="3726313"/>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273" name="Google Shape;2273;p180"/>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274" name="Google Shape;2274;p180"/>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80"/>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80"/>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80"/>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180"/>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79" name="Google Shape;2279;p180"/>
          <p:cNvCxnSpPr>
            <a:stCxn id="2276" idx="4"/>
            <a:endCxn id="2275" idx="1"/>
          </p:cNvCxnSpPr>
          <p:nvPr/>
        </p:nvCxnSpPr>
        <p:spPr>
          <a:xfrm>
            <a:off x="7266488" y="3590138"/>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280" name="Google Shape;2280;p180"/>
          <p:cNvCxnSpPr>
            <a:stCxn id="2277" idx="4"/>
            <a:endCxn id="2275" idx="0"/>
          </p:cNvCxnSpPr>
          <p:nvPr/>
        </p:nvCxnSpPr>
        <p:spPr>
          <a:xfrm>
            <a:off x="7757100" y="3590138"/>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281" name="Google Shape;2281;p180"/>
          <p:cNvCxnSpPr>
            <a:stCxn id="2278" idx="4"/>
            <a:endCxn id="2275" idx="7"/>
          </p:cNvCxnSpPr>
          <p:nvPr/>
        </p:nvCxnSpPr>
        <p:spPr>
          <a:xfrm flipH="1">
            <a:off x="7886638" y="3590138"/>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282" name="Google Shape;2282;p180"/>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283" name="Google Shape;2283;p180"/>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84" name="Google Shape;2284;p180"/>
          <p:cNvCxnSpPr>
            <a:stCxn id="2275" idx="2"/>
            <a:endCxn id="2283" idx="6"/>
          </p:cNvCxnSpPr>
          <p:nvPr/>
        </p:nvCxnSpPr>
        <p:spPr>
          <a:xfrm flipH="1">
            <a:off x="6535513" y="4278488"/>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2285" name="Google Shape;2285;p180"/>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9" name="Shape 2289"/>
        <p:cNvGrpSpPr/>
        <p:nvPr/>
      </p:nvGrpSpPr>
      <p:grpSpPr>
        <a:xfrm>
          <a:off x="0" y="0"/>
          <a:ext cx="0" cy="0"/>
          <a:chOff x="0" y="0"/>
          <a:chExt cx="0" cy="0"/>
        </a:xfrm>
      </p:grpSpPr>
      <p:sp>
        <p:nvSpPr>
          <p:cNvPr id="2290" name="Google Shape;2290;p181"/>
          <p:cNvSpPr txBox="1"/>
          <p:nvPr>
            <p:ph idx="1" type="body"/>
          </p:nvPr>
        </p:nvSpPr>
        <p:spPr>
          <a:xfrm>
            <a:off x="311700" y="1225225"/>
            <a:ext cx="8697000" cy="1934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Low status individuals will accumulate negative ties</a:t>
            </a:r>
            <a:endParaRPr i="1"/>
          </a:p>
          <a:p>
            <a:pPr indent="-317500" lvl="3" marL="1828800" rtl="0" algn="l">
              <a:spcBef>
                <a:spcPts val="0"/>
              </a:spcBef>
              <a:spcAft>
                <a:spcPts val="0"/>
              </a:spcAft>
              <a:buSzPts val="1400"/>
              <a:buChar char="●"/>
            </a:pPr>
            <a:r>
              <a:rPr lang="en"/>
              <a:t>“Gang up” effect</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2291" name="Google Shape;2291;p18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292" name="Google Shape;2292;p181"/>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81"/>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81"/>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95" name="Google Shape;2295;p181"/>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296" name="Google Shape;2296;p181"/>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297" name="Google Shape;2297;p181"/>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298" name="Google Shape;2298;p181"/>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81"/>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181"/>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181"/>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2" name="Google Shape;2302;p181"/>
          <p:cNvCxnSpPr>
            <a:stCxn id="2299" idx="4"/>
            <a:endCxn id="2298" idx="1"/>
          </p:cNvCxnSpPr>
          <p:nvPr/>
        </p:nvCxnSpPr>
        <p:spPr>
          <a:xfrm>
            <a:off x="1681750" y="3726313"/>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303" name="Google Shape;2303;p181"/>
          <p:cNvCxnSpPr>
            <a:stCxn id="2300" idx="4"/>
            <a:endCxn id="2298" idx="0"/>
          </p:cNvCxnSpPr>
          <p:nvPr/>
        </p:nvCxnSpPr>
        <p:spPr>
          <a:xfrm>
            <a:off x="2172363" y="3726313"/>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304" name="Google Shape;2304;p181"/>
          <p:cNvCxnSpPr>
            <a:stCxn id="2301" idx="4"/>
            <a:endCxn id="2298"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305" name="Google Shape;2305;p181"/>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306" name="Google Shape;2306;p181"/>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181"/>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181"/>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181"/>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181"/>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11" name="Google Shape;2311;p181"/>
          <p:cNvCxnSpPr>
            <a:stCxn id="2308" idx="4"/>
            <a:endCxn id="2307" idx="1"/>
          </p:cNvCxnSpPr>
          <p:nvPr/>
        </p:nvCxnSpPr>
        <p:spPr>
          <a:xfrm>
            <a:off x="7266488" y="3590138"/>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312" name="Google Shape;2312;p181"/>
          <p:cNvCxnSpPr>
            <a:stCxn id="2309" idx="4"/>
            <a:endCxn id="2307" idx="0"/>
          </p:cNvCxnSpPr>
          <p:nvPr/>
        </p:nvCxnSpPr>
        <p:spPr>
          <a:xfrm>
            <a:off x="7757100" y="3590138"/>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313" name="Google Shape;2313;p181"/>
          <p:cNvCxnSpPr>
            <a:stCxn id="2310" idx="4"/>
            <a:endCxn id="2307"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314" name="Google Shape;2314;p181"/>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315" name="Google Shape;2315;p181"/>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16" name="Google Shape;2316;p181"/>
          <p:cNvCxnSpPr>
            <a:stCxn id="2307" idx="2"/>
            <a:endCxn id="2315" idx="6"/>
          </p:cNvCxnSpPr>
          <p:nvPr/>
        </p:nvCxnSpPr>
        <p:spPr>
          <a:xfrm flipH="1">
            <a:off x="6535513" y="4278488"/>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2317" name="Google Shape;2317;p181"/>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sp>
        <p:nvSpPr>
          <p:cNvPr id="2322" name="Google Shape;2322;p18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323" name="Google Shape;2323;p182"/>
          <p:cNvSpPr txBox="1"/>
          <p:nvPr>
            <p:ph idx="1" type="body"/>
          </p:nvPr>
        </p:nvSpPr>
        <p:spPr>
          <a:xfrm>
            <a:off x="311700" y="1225225"/>
            <a:ext cx="8697000" cy="1915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High status individuals will lose negative ties</a:t>
            </a:r>
            <a:endParaRPr i="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24" name="Google Shape;2324;p182"/>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182"/>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182"/>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7" name="Google Shape;2327;p182"/>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328" name="Google Shape;2328;p182"/>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329" name="Google Shape;2329;p182"/>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330" name="Google Shape;2330;p182"/>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182"/>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182"/>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182"/>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34" name="Google Shape;2334;p182"/>
          <p:cNvCxnSpPr>
            <a:stCxn id="2331" idx="4"/>
            <a:endCxn id="2330" idx="1"/>
          </p:cNvCxnSpPr>
          <p:nvPr/>
        </p:nvCxnSpPr>
        <p:spPr>
          <a:xfrm>
            <a:off x="1681750" y="3726313"/>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335" name="Google Shape;2335;p182"/>
          <p:cNvCxnSpPr>
            <a:stCxn id="2332" idx="4"/>
            <a:endCxn id="2330" idx="0"/>
          </p:cNvCxnSpPr>
          <p:nvPr/>
        </p:nvCxnSpPr>
        <p:spPr>
          <a:xfrm>
            <a:off x="2172363" y="3726313"/>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336" name="Google Shape;2336;p182"/>
          <p:cNvCxnSpPr>
            <a:stCxn id="2333" idx="4"/>
            <a:endCxn id="2330" idx="7"/>
          </p:cNvCxnSpPr>
          <p:nvPr/>
        </p:nvCxnSpPr>
        <p:spPr>
          <a:xfrm flipH="1">
            <a:off x="2301900" y="3726313"/>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337" name="Google Shape;2337;p182"/>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338" name="Google Shape;2338;p182"/>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182"/>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182"/>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182"/>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182"/>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43" name="Google Shape;2343;p182"/>
          <p:cNvCxnSpPr>
            <a:stCxn id="2340" idx="4"/>
            <a:endCxn id="2339" idx="1"/>
          </p:cNvCxnSpPr>
          <p:nvPr/>
        </p:nvCxnSpPr>
        <p:spPr>
          <a:xfrm>
            <a:off x="7266488" y="3590138"/>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344" name="Google Shape;2344;p182"/>
          <p:cNvCxnSpPr>
            <a:stCxn id="2341" idx="4"/>
            <a:endCxn id="2339" idx="0"/>
          </p:cNvCxnSpPr>
          <p:nvPr/>
        </p:nvCxnSpPr>
        <p:spPr>
          <a:xfrm>
            <a:off x="7757100" y="3590138"/>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345" name="Google Shape;2345;p182"/>
          <p:cNvCxnSpPr>
            <a:stCxn id="2342" idx="4"/>
            <a:endCxn id="2339" idx="7"/>
          </p:cNvCxnSpPr>
          <p:nvPr/>
        </p:nvCxnSpPr>
        <p:spPr>
          <a:xfrm flipH="1">
            <a:off x="7886638" y="3590138"/>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346" name="Google Shape;2346;p182"/>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347" name="Google Shape;2347;p182"/>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48" name="Google Shape;2348;p182"/>
          <p:cNvCxnSpPr>
            <a:stCxn id="2330" idx="2"/>
            <a:endCxn id="2338" idx="6"/>
          </p:cNvCxnSpPr>
          <p:nvPr/>
        </p:nvCxnSpPr>
        <p:spPr>
          <a:xfrm flipH="1">
            <a:off x="950775" y="4414663"/>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2349" name="Google Shape;2349;p182"/>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3" name="Shape 2353"/>
        <p:cNvGrpSpPr/>
        <p:nvPr/>
      </p:nvGrpSpPr>
      <p:grpSpPr>
        <a:xfrm>
          <a:off x="0" y="0"/>
          <a:ext cx="0" cy="0"/>
          <a:chOff x="0" y="0"/>
          <a:chExt cx="0" cy="0"/>
        </a:xfrm>
      </p:grpSpPr>
      <p:sp>
        <p:nvSpPr>
          <p:cNvPr id="2354" name="Google Shape;2354;p18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355" name="Google Shape;2355;p183"/>
          <p:cNvSpPr txBox="1"/>
          <p:nvPr>
            <p:ph idx="1" type="body"/>
          </p:nvPr>
        </p:nvSpPr>
        <p:spPr>
          <a:xfrm>
            <a:off x="311700" y="1225225"/>
            <a:ext cx="8697000" cy="2187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Low status individuals will lose positive  ties</a:t>
            </a:r>
            <a:endParaRPr i="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56" name="Google Shape;2356;p183"/>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183"/>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183"/>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59" name="Google Shape;2359;p183"/>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360" name="Google Shape;2360;p183"/>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361" name="Google Shape;2361;p183"/>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362" name="Google Shape;2362;p183"/>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183"/>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183"/>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183"/>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66" name="Google Shape;2366;p183"/>
          <p:cNvCxnSpPr>
            <a:stCxn id="2363" idx="4"/>
            <a:endCxn id="2362" idx="1"/>
          </p:cNvCxnSpPr>
          <p:nvPr/>
        </p:nvCxnSpPr>
        <p:spPr>
          <a:xfrm>
            <a:off x="1681750" y="3726313"/>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367" name="Google Shape;2367;p183"/>
          <p:cNvCxnSpPr>
            <a:stCxn id="2364" idx="4"/>
            <a:endCxn id="2362" idx="0"/>
          </p:cNvCxnSpPr>
          <p:nvPr/>
        </p:nvCxnSpPr>
        <p:spPr>
          <a:xfrm>
            <a:off x="2172363" y="3726313"/>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368" name="Google Shape;2368;p183"/>
          <p:cNvCxnSpPr>
            <a:stCxn id="2365" idx="4"/>
            <a:endCxn id="2362"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369" name="Google Shape;2369;p183"/>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370" name="Google Shape;2370;p183"/>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183"/>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183"/>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183"/>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183"/>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75" name="Google Shape;2375;p183"/>
          <p:cNvCxnSpPr>
            <a:stCxn id="2372" idx="4"/>
            <a:endCxn id="2371" idx="1"/>
          </p:cNvCxnSpPr>
          <p:nvPr/>
        </p:nvCxnSpPr>
        <p:spPr>
          <a:xfrm>
            <a:off x="7266488" y="3590138"/>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376" name="Google Shape;2376;p183"/>
          <p:cNvCxnSpPr>
            <a:stCxn id="2373" idx="4"/>
            <a:endCxn id="2371" idx="0"/>
          </p:cNvCxnSpPr>
          <p:nvPr/>
        </p:nvCxnSpPr>
        <p:spPr>
          <a:xfrm>
            <a:off x="7757100" y="3590138"/>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377" name="Google Shape;2377;p183"/>
          <p:cNvCxnSpPr>
            <a:stCxn id="2374" idx="4"/>
            <a:endCxn id="2371"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378" name="Google Shape;2378;p183"/>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379" name="Google Shape;2379;p183"/>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80" name="Google Shape;2380;p183"/>
          <p:cNvCxnSpPr>
            <a:stCxn id="2362" idx="2"/>
            <a:endCxn id="2370" idx="6"/>
          </p:cNvCxnSpPr>
          <p:nvPr/>
        </p:nvCxnSpPr>
        <p:spPr>
          <a:xfrm flipH="1">
            <a:off x="950775" y="4414663"/>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2381" name="Google Shape;2381;p183"/>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5" name="Shape 2385"/>
        <p:cNvGrpSpPr/>
        <p:nvPr/>
      </p:nvGrpSpPr>
      <p:grpSpPr>
        <a:xfrm>
          <a:off x="0" y="0"/>
          <a:ext cx="0" cy="0"/>
          <a:chOff x="0" y="0"/>
          <a:chExt cx="0" cy="0"/>
        </a:xfrm>
      </p:grpSpPr>
      <p:sp>
        <p:nvSpPr>
          <p:cNvPr id="2386" name="Google Shape;2386;p18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2387" name="Google Shape;2387;p184"/>
          <p:cNvSpPr txBox="1"/>
          <p:nvPr>
            <p:ph idx="1" type="body"/>
          </p:nvPr>
        </p:nvSpPr>
        <p:spPr>
          <a:xfrm>
            <a:off x="311700" y="1225225"/>
            <a:ext cx="8697000" cy="1610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 Theory: </a:t>
            </a:r>
            <a:r>
              <a:rPr lang="en"/>
              <a:t>You get what you </a:t>
            </a:r>
            <a:r>
              <a:rPr lang="en"/>
              <a:t>sp</a:t>
            </a:r>
            <a:r>
              <a:rPr lang="en"/>
              <a:t>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Graph theoretic </a:t>
            </a:r>
            <a:r>
              <a:rPr i="1" lang="en"/>
              <a:t>outdegree</a:t>
            </a:r>
            <a:r>
              <a:rPr lang="en"/>
              <a:t> centrality </a:t>
            </a:r>
            <a:endParaRPr i="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88" name="Google Shape;2388;p184"/>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184"/>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184"/>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91" name="Google Shape;2391;p184"/>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392" name="Google Shape;2392;p184"/>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393" name="Google Shape;2393;p184"/>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394" name="Google Shape;2394;p184"/>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84"/>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84"/>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84"/>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98" name="Google Shape;2398;p184"/>
          <p:cNvCxnSpPr>
            <a:stCxn id="2395" idx="4"/>
            <a:endCxn id="2394" idx="1"/>
          </p:cNvCxnSpPr>
          <p:nvPr/>
        </p:nvCxnSpPr>
        <p:spPr>
          <a:xfrm>
            <a:off x="1681750" y="3726313"/>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399" name="Google Shape;2399;p184"/>
          <p:cNvCxnSpPr>
            <a:stCxn id="2396" idx="4"/>
            <a:endCxn id="2394" idx="0"/>
          </p:cNvCxnSpPr>
          <p:nvPr/>
        </p:nvCxnSpPr>
        <p:spPr>
          <a:xfrm>
            <a:off x="2172363" y="3726313"/>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400" name="Google Shape;2400;p184"/>
          <p:cNvCxnSpPr>
            <a:stCxn id="2397" idx="4"/>
            <a:endCxn id="2394"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401" name="Google Shape;2401;p184"/>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402" name="Google Shape;2402;p184"/>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184"/>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184"/>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184"/>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184"/>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7" name="Google Shape;2407;p184"/>
          <p:cNvCxnSpPr>
            <a:stCxn id="2404" idx="4"/>
            <a:endCxn id="2403" idx="1"/>
          </p:cNvCxnSpPr>
          <p:nvPr/>
        </p:nvCxnSpPr>
        <p:spPr>
          <a:xfrm>
            <a:off x="7266488" y="3590138"/>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408" name="Google Shape;2408;p184"/>
          <p:cNvCxnSpPr>
            <a:stCxn id="2405" idx="4"/>
            <a:endCxn id="2403" idx="0"/>
          </p:cNvCxnSpPr>
          <p:nvPr/>
        </p:nvCxnSpPr>
        <p:spPr>
          <a:xfrm>
            <a:off x="7757100" y="3590138"/>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409" name="Google Shape;2409;p184"/>
          <p:cNvCxnSpPr>
            <a:stCxn id="2406" idx="4"/>
            <a:endCxn id="2403"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410" name="Google Shape;2410;p184"/>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411" name="Google Shape;2411;p184"/>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84"/>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6" name="Shape 2416"/>
        <p:cNvGrpSpPr/>
        <p:nvPr/>
      </p:nvGrpSpPr>
      <p:grpSpPr>
        <a:xfrm>
          <a:off x="0" y="0"/>
          <a:ext cx="0" cy="0"/>
          <a:chOff x="0" y="0"/>
          <a:chExt cx="0" cy="0"/>
        </a:xfrm>
      </p:grpSpPr>
      <p:sp>
        <p:nvSpPr>
          <p:cNvPr id="2417" name="Google Shape;2417;p18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2418" name="Google Shape;2418;p185"/>
          <p:cNvSpPr txBox="1"/>
          <p:nvPr>
            <p:ph idx="1" type="body"/>
          </p:nvPr>
        </p:nvSpPr>
        <p:spPr>
          <a:xfrm>
            <a:off x="311700" y="1225225"/>
            <a:ext cx="8697000" cy="1614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 Theory: </a:t>
            </a:r>
            <a:r>
              <a:rPr lang="en"/>
              <a:t>You get what you </a:t>
            </a:r>
            <a:r>
              <a:rPr lang="en"/>
              <a:t>sp</a:t>
            </a:r>
            <a:r>
              <a:rPr lang="en"/>
              <a:t>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Predict valenced indegree (what you get) from valenced outdegree (what you </a:t>
            </a:r>
            <a:r>
              <a:rPr lang="en"/>
              <a:t>sp</a:t>
            </a:r>
            <a:r>
              <a:rPr lang="en"/>
              <a:t>read)</a:t>
            </a:r>
            <a:endParaRPr i="1"/>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419" name="Google Shape;2419;p185"/>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85"/>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185"/>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22" name="Google Shape;2422;p185"/>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423" name="Google Shape;2423;p185"/>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424" name="Google Shape;2424;p185"/>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425" name="Google Shape;2425;p185"/>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185"/>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185"/>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185"/>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29" name="Google Shape;2429;p185"/>
          <p:cNvCxnSpPr>
            <a:stCxn id="2426" idx="4"/>
            <a:endCxn id="2425" idx="1"/>
          </p:cNvCxnSpPr>
          <p:nvPr/>
        </p:nvCxnSpPr>
        <p:spPr>
          <a:xfrm>
            <a:off x="1681750" y="3726313"/>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430" name="Google Shape;2430;p185"/>
          <p:cNvCxnSpPr>
            <a:stCxn id="2427" idx="4"/>
            <a:endCxn id="2425" idx="0"/>
          </p:cNvCxnSpPr>
          <p:nvPr/>
        </p:nvCxnSpPr>
        <p:spPr>
          <a:xfrm>
            <a:off x="2172363" y="3726313"/>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431" name="Google Shape;2431;p185"/>
          <p:cNvCxnSpPr>
            <a:stCxn id="2428" idx="4"/>
            <a:endCxn id="2425"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432" name="Google Shape;2432;p185"/>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433" name="Google Shape;2433;p185"/>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185"/>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185"/>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85"/>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85"/>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38" name="Google Shape;2438;p185"/>
          <p:cNvCxnSpPr>
            <a:stCxn id="2435" idx="4"/>
            <a:endCxn id="2434" idx="1"/>
          </p:cNvCxnSpPr>
          <p:nvPr/>
        </p:nvCxnSpPr>
        <p:spPr>
          <a:xfrm>
            <a:off x="7266488" y="3590138"/>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439" name="Google Shape;2439;p185"/>
          <p:cNvCxnSpPr>
            <a:stCxn id="2436" idx="4"/>
            <a:endCxn id="2434" idx="0"/>
          </p:cNvCxnSpPr>
          <p:nvPr/>
        </p:nvCxnSpPr>
        <p:spPr>
          <a:xfrm>
            <a:off x="7757100" y="3590138"/>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440" name="Google Shape;2440;p185"/>
          <p:cNvCxnSpPr>
            <a:stCxn id="2437" idx="4"/>
            <a:endCxn id="2434"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441" name="Google Shape;2441;p185"/>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442" name="Google Shape;2442;p185"/>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185"/>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7" name="Shape 2447"/>
        <p:cNvGrpSpPr/>
        <p:nvPr/>
      </p:nvGrpSpPr>
      <p:grpSpPr>
        <a:xfrm>
          <a:off x="0" y="0"/>
          <a:ext cx="0" cy="0"/>
          <a:chOff x="0" y="0"/>
          <a:chExt cx="0" cy="0"/>
        </a:xfrm>
      </p:grpSpPr>
      <p:sp>
        <p:nvSpPr>
          <p:cNvPr id="2448" name="Google Shape;2448;p18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2449" name="Google Shape;2449;p186"/>
          <p:cNvSpPr txBox="1"/>
          <p:nvPr>
            <p:ph idx="1" type="body"/>
          </p:nvPr>
        </p:nvSpPr>
        <p:spPr>
          <a:xfrm>
            <a:off x="311700" y="1225225"/>
            <a:ext cx="8697000" cy="2187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 Theory: </a:t>
            </a:r>
            <a:r>
              <a:rPr lang="en"/>
              <a:t>You get what you </a:t>
            </a:r>
            <a:r>
              <a:rPr lang="en"/>
              <a:t>sp</a:t>
            </a:r>
            <a:r>
              <a:rPr lang="en"/>
              <a:t>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Predict valenced indegree (what you get) from valenced outdegree (what you </a:t>
            </a:r>
            <a:r>
              <a:rPr lang="en"/>
              <a:t>sp</a:t>
            </a:r>
            <a:r>
              <a:rPr lang="en"/>
              <a:t>read)</a:t>
            </a:r>
            <a:endParaRPr b="1"/>
          </a:p>
        </p:txBody>
      </p:sp>
      <p:sp>
        <p:nvSpPr>
          <p:cNvPr id="2450" name="Google Shape;2450;p186"/>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186"/>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186"/>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3" name="Google Shape;2453;p186"/>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454" name="Google Shape;2454;p186"/>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455" name="Google Shape;2455;p186"/>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456" name="Google Shape;2456;p186"/>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186"/>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186"/>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186"/>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60" name="Google Shape;2460;p186"/>
          <p:cNvCxnSpPr>
            <a:stCxn id="2457" idx="4"/>
            <a:endCxn id="2456" idx="1"/>
          </p:cNvCxnSpPr>
          <p:nvPr/>
        </p:nvCxnSpPr>
        <p:spPr>
          <a:xfrm>
            <a:off x="1681750" y="3726313"/>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461" name="Google Shape;2461;p186"/>
          <p:cNvCxnSpPr>
            <a:stCxn id="2458" idx="4"/>
            <a:endCxn id="2456" idx="0"/>
          </p:cNvCxnSpPr>
          <p:nvPr/>
        </p:nvCxnSpPr>
        <p:spPr>
          <a:xfrm>
            <a:off x="2172363" y="3726313"/>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462" name="Google Shape;2462;p186"/>
          <p:cNvCxnSpPr>
            <a:stCxn id="2459" idx="4"/>
            <a:endCxn id="2456"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463" name="Google Shape;2463;p186"/>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464" name="Google Shape;2464;p186"/>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186"/>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186"/>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86"/>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186"/>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69" name="Google Shape;2469;p186"/>
          <p:cNvCxnSpPr>
            <a:stCxn id="2466" idx="4"/>
            <a:endCxn id="2465" idx="1"/>
          </p:cNvCxnSpPr>
          <p:nvPr/>
        </p:nvCxnSpPr>
        <p:spPr>
          <a:xfrm>
            <a:off x="7266488" y="3590138"/>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470" name="Google Shape;2470;p186"/>
          <p:cNvCxnSpPr>
            <a:stCxn id="2467" idx="4"/>
            <a:endCxn id="2465" idx="0"/>
          </p:cNvCxnSpPr>
          <p:nvPr/>
        </p:nvCxnSpPr>
        <p:spPr>
          <a:xfrm>
            <a:off x="7757100" y="3590138"/>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471" name="Google Shape;2471;p186"/>
          <p:cNvCxnSpPr>
            <a:stCxn id="2468" idx="4"/>
            <a:endCxn id="2465"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472" name="Google Shape;2472;p186"/>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473" name="Google Shape;2473;p186"/>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186"/>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5" name="Google Shape;2475;p186"/>
          <p:cNvCxnSpPr>
            <a:stCxn id="2465" idx="2"/>
            <a:endCxn id="2473" idx="6"/>
          </p:cNvCxnSpPr>
          <p:nvPr/>
        </p:nvCxnSpPr>
        <p:spPr>
          <a:xfrm flipH="1">
            <a:off x="6535513" y="4278488"/>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2476" name="Google Shape;2476;p186"/>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Bullies get bullied!</a:t>
            </a:r>
            <a:endParaRPr b="1">
              <a:solidFill>
                <a:srgbClr val="FF0000"/>
              </a:solidFill>
              <a:latin typeface="Open Sans"/>
              <a:ea typeface="Open Sans"/>
              <a:cs typeface="Open Sans"/>
              <a:sym typeface="Open San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0" name="Shape 2480"/>
        <p:cNvGrpSpPr/>
        <p:nvPr/>
      </p:nvGrpSpPr>
      <p:grpSpPr>
        <a:xfrm>
          <a:off x="0" y="0"/>
          <a:ext cx="0" cy="0"/>
          <a:chOff x="0" y="0"/>
          <a:chExt cx="0" cy="0"/>
        </a:xfrm>
      </p:grpSpPr>
      <p:sp>
        <p:nvSpPr>
          <p:cNvPr id="2481" name="Google Shape;2481;p18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2482" name="Google Shape;2482;p187"/>
          <p:cNvSpPr txBox="1"/>
          <p:nvPr>
            <p:ph idx="1" type="body"/>
          </p:nvPr>
        </p:nvSpPr>
        <p:spPr>
          <a:xfrm>
            <a:off x="311700" y="1225225"/>
            <a:ext cx="8697000" cy="2187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 Theory: </a:t>
            </a:r>
            <a:r>
              <a:rPr lang="en"/>
              <a:t>You get what you </a:t>
            </a:r>
            <a:r>
              <a:rPr lang="en"/>
              <a:t>sp</a:t>
            </a:r>
            <a:r>
              <a:rPr lang="en"/>
              <a:t>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Predict valenced indegree (what you get) from valenced outdegree (what you </a:t>
            </a:r>
            <a:r>
              <a:rPr lang="en"/>
              <a:t>sp</a:t>
            </a:r>
            <a:r>
              <a:rPr lang="en"/>
              <a:t>read)</a:t>
            </a:r>
            <a:endParaRPr b="1"/>
          </a:p>
        </p:txBody>
      </p:sp>
      <p:sp>
        <p:nvSpPr>
          <p:cNvPr id="2483" name="Google Shape;2483;p187"/>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187"/>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87"/>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86" name="Google Shape;2486;p187"/>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487" name="Google Shape;2487;p187"/>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488" name="Google Shape;2488;p187"/>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489" name="Google Shape;2489;p187"/>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87"/>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87"/>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87"/>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3" name="Google Shape;2493;p187"/>
          <p:cNvCxnSpPr>
            <a:stCxn id="2490" idx="4"/>
            <a:endCxn id="2489" idx="1"/>
          </p:cNvCxnSpPr>
          <p:nvPr/>
        </p:nvCxnSpPr>
        <p:spPr>
          <a:xfrm>
            <a:off x="1681750" y="3726313"/>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494" name="Google Shape;2494;p187"/>
          <p:cNvCxnSpPr>
            <a:stCxn id="2491" idx="4"/>
            <a:endCxn id="2489" idx="0"/>
          </p:cNvCxnSpPr>
          <p:nvPr/>
        </p:nvCxnSpPr>
        <p:spPr>
          <a:xfrm>
            <a:off x="2172363" y="3726313"/>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2495" name="Google Shape;2495;p187"/>
          <p:cNvCxnSpPr>
            <a:stCxn id="2492" idx="4"/>
            <a:endCxn id="2489" idx="7"/>
          </p:cNvCxnSpPr>
          <p:nvPr/>
        </p:nvCxnSpPr>
        <p:spPr>
          <a:xfrm flipH="1">
            <a:off x="2301900" y="3726313"/>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2496" name="Google Shape;2496;p187"/>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497" name="Google Shape;2497;p187"/>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187"/>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187"/>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187"/>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187"/>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02" name="Google Shape;2502;p187"/>
          <p:cNvCxnSpPr>
            <a:stCxn id="2499" idx="4"/>
            <a:endCxn id="2498" idx="1"/>
          </p:cNvCxnSpPr>
          <p:nvPr/>
        </p:nvCxnSpPr>
        <p:spPr>
          <a:xfrm>
            <a:off x="7266488" y="3590138"/>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503" name="Google Shape;2503;p187"/>
          <p:cNvCxnSpPr>
            <a:stCxn id="2500" idx="4"/>
            <a:endCxn id="2498" idx="0"/>
          </p:cNvCxnSpPr>
          <p:nvPr/>
        </p:nvCxnSpPr>
        <p:spPr>
          <a:xfrm>
            <a:off x="7757100" y="3590138"/>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2504" name="Google Shape;2504;p187"/>
          <p:cNvCxnSpPr>
            <a:stCxn id="2501" idx="4"/>
            <a:endCxn id="2498" idx="7"/>
          </p:cNvCxnSpPr>
          <p:nvPr/>
        </p:nvCxnSpPr>
        <p:spPr>
          <a:xfrm flipH="1">
            <a:off x="7886638" y="3590138"/>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2505" name="Google Shape;2505;p187"/>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506" name="Google Shape;2506;p187"/>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187"/>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08" name="Google Shape;2508;p187"/>
          <p:cNvCxnSpPr>
            <a:stCxn id="2498" idx="2"/>
            <a:endCxn id="2506" idx="6"/>
          </p:cNvCxnSpPr>
          <p:nvPr/>
        </p:nvCxnSpPr>
        <p:spPr>
          <a:xfrm flipH="1">
            <a:off x="6535513" y="4278488"/>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2509" name="Google Shape;2509;p187"/>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AA84F"/>
                </a:solidFill>
                <a:latin typeface="Open Sans"/>
                <a:ea typeface="Open Sans"/>
                <a:cs typeface="Open Sans"/>
                <a:sym typeface="Open Sans"/>
              </a:rPr>
              <a:t>Likers get liked!</a:t>
            </a:r>
            <a:endParaRPr b="1">
              <a:solidFill>
                <a:srgbClr val="6AA84F"/>
              </a:solidFill>
              <a:latin typeface="Open Sans"/>
              <a:ea typeface="Open Sans"/>
              <a:cs typeface="Open Sans"/>
              <a:sym typeface="Open San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3" name="Shape 2513"/>
        <p:cNvGrpSpPr/>
        <p:nvPr/>
      </p:nvGrpSpPr>
      <p:grpSpPr>
        <a:xfrm>
          <a:off x="0" y="0"/>
          <a:ext cx="0" cy="0"/>
          <a:chOff x="0" y="0"/>
          <a:chExt cx="0" cy="0"/>
        </a:xfrm>
      </p:grpSpPr>
      <p:sp>
        <p:nvSpPr>
          <p:cNvPr id="2514" name="Google Shape;2514;p18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2515" name="Google Shape;2515;p188"/>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a:t>
            </a:r>
            <a:r>
              <a:rPr b="1" lang="en"/>
              <a:t> position in the valenced interaction network</a:t>
            </a:r>
            <a:r>
              <a:rPr lang="en"/>
              <a:t>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lang="en"/>
              <a:t>Status solidarity</a:t>
            </a:r>
            <a:endParaRPr/>
          </a:p>
          <a:p>
            <a:pPr indent="-317500" lvl="1" marL="914400" rtl="0" algn="l">
              <a:spcBef>
                <a:spcPts val="0"/>
              </a:spcBef>
              <a:spcAft>
                <a:spcPts val="0"/>
              </a:spcAft>
              <a:buSzPts val="1400"/>
              <a:buChar char="○"/>
            </a:pPr>
            <a:r>
              <a:rPr lang="en"/>
              <a:t>Karma solidarity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16" name="Google Shape;2516;p188"/>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188"/>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88"/>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19" name="Google Shape;2519;p188"/>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520" name="Google Shape;2520;p188"/>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521" name="Google Shape;2521;p188"/>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522" name="Google Shape;2522;p188"/>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523" name="Google Shape;2523;p188"/>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524" name="Google Shape;2524;p188"/>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188"/>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188"/>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188"/>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188"/>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29" name="Google Shape;2529;p188"/>
          <p:cNvCxnSpPr>
            <a:stCxn id="2526" idx="4"/>
            <a:endCxn id="2525" idx="1"/>
          </p:cNvCxnSpPr>
          <p:nvPr/>
        </p:nvCxnSpPr>
        <p:spPr>
          <a:xfrm>
            <a:off x="727125" y="36939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30" name="Google Shape;2530;p188"/>
          <p:cNvCxnSpPr>
            <a:stCxn id="2527" idx="4"/>
            <a:endCxn id="2525" idx="0"/>
          </p:cNvCxnSpPr>
          <p:nvPr/>
        </p:nvCxnSpPr>
        <p:spPr>
          <a:xfrm>
            <a:off x="1217738"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531" name="Google Shape;2531;p188"/>
          <p:cNvCxnSpPr>
            <a:stCxn id="2528" idx="4"/>
            <a:endCxn id="2525" idx="7"/>
          </p:cNvCxnSpPr>
          <p:nvPr/>
        </p:nvCxnSpPr>
        <p:spPr>
          <a:xfrm flipH="1">
            <a:off x="1347275" y="36939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532" name="Google Shape;2532;p188"/>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188"/>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188"/>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35" name="Google Shape;2535;p188"/>
          <p:cNvCxnSpPr>
            <a:stCxn id="2528" idx="4"/>
            <a:endCxn id="2532" idx="1"/>
          </p:cNvCxnSpPr>
          <p:nvPr/>
        </p:nvCxnSpPr>
        <p:spPr>
          <a:xfrm>
            <a:off x="1730075" y="36939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36" name="Google Shape;2536;p188"/>
          <p:cNvCxnSpPr>
            <a:stCxn id="2527" idx="4"/>
            <a:endCxn id="2532" idx="1"/>
          </p:cNvCxnSpPr>
          <p:nvPr/>
        </p:nvCxnSpPr>
        <p:spPr>
          <a:xfrm>
            <a:off x="1217738"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37" name="Google Shape;2537;p188"/>
          <p:cNvCxnSpPr>
            <a:stCxn id="2533" idx="4"/>
            <a:endCxn id="2525" idx="7"/>
          </p:cNvCxnSpPr>
          <p:nvPr/>
        </p:nvCxnSpPr>
        <p:spPr>
          <a:xfrm flipH="1">
            <a:off x="1347200"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38" name="Google Shape;2538;p188"/>
          <p:cNvCxnSpPr>
            <a:stCxn id="2534" idx="4"/>
            <a:endCxn id="2532" idx="0"/>
          </p:cNvCxnSpPr>
          <p:nvPr/>
        </p:nvCxnSpPr>
        <p:spPr>
          <a:xfrm flipH="1">
            <a:off x="2242325" y="36939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2539" name="Google Shape;2539;p188"/>
          <p:cNvCxnSpPr>
            <a:stCxn id="2533" idx="4"/>
            <a:endCxn id="2532" idx="0"/>
          </p:cNvCxnSpPr>
          <p:nvPr/>
        </p:nvCxnSpPr>
        <p:spPr>
          <a:xfrm>
            <a:off x="2242400"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540" name="Google Shape;2540;p188"/>
          <p:cNvCxnSpPr>
            <a:stCxn id="2526" idx="5"/>
            <a:endCxn id="2532" idx="1"/>
          </p:cNvCxnSpPr>
          <p:nvPr/>
        </p:nvCxnSpPr>
        <p:spPr>
          <a:xfrm>
            <a:off x="856526" y="36417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2541" name="Google Shape;2541;p188"/>
          <p:cNvCxnSpPr>
            <a:stCxn id="2534" idx="3"/>
            <a:endCxn id="2525" idx="7"/>
          </p:cNvCxnSpPr>
          <p:nvPr/>
        </p:nvCxnSpPr>
        <p:spPr>
          <a:xfrm flipH="1">
            <a:off x="1347024" y="3641775"/>
            <a:ext cx="1278300" cy="614700"/>
          </a:xfrm>
          <a:prstGeom prst="straightConnector1">
            <a:avLst/>
          </a:prstGeom>
          <a:noFill/>
          <a:ln cap="flat" cmpd="sng" w="19050">
            <a:solidFill>
              <a:srgbClr val="6AA84F"/>
            </a:solidFill>
            <a:prstDash val="solid"/>
            <a:round/>
            <a:headEnd len="med" w="med" type="none"/>
            <a:tailEnd len="med" w="med" type="triangle"/>
          </a:ln>
        </p:spPr>
      </p:cxnSp>
      <p:sp>
        <p:nvSpPr>
          <p:cNvPr id="2542" name="Google Shape;2542;p188"/>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188"/>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188"/>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188"/>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46" name="Google Shape;2546;p188"/>
          <p:cNvCxnSpPr>
            <a:stCxn id="2543" idx="4"/>
            <a:endCxn id="2542" idx="1"/>
          </p:cNvCxnSpPr>
          <p:nvPr/>
        </p:nvCxnSpPr>
        <p:spPr>
          <a:xfrm>
            <a:off x="6419475" y="37200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47" name="Google Shape;2547;p188"/>
          <p:cNvCxnSpPr>
            <a:stCxn id="2544" idx="4"/>
            <a:endCxn id="2542" idx="0"/>
          </p:cNvCxnSpPr>
          <p:nvPr/>
        </p:nvCxnSpPr>
        <p:spPr>
          <a:xfrm>
            <a:off x="6910088"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548" name="Google Shape;2548;p188"/>
          <p:cNvCxnSpPr>
            <a:stCxn id="2545" idx="4"/>
            <a:endCxn id="2542" idx="7"/>
          </p:cNvCxnSpPr>
          <p:nvPr/>
        </p:nvCxnSpPr>
        <p:spPr>
          <a:xfrm flipH="1">
            <a:off x="7039625" y="37200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549" name="Google Shape;2549;p188"/>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88"/>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88"/>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52" name="Google Shape;2552;p188"/>
          <p:cNvCxnSpPr>
            <a:stCxn id="2545" idx="4"/>
            <a:endCxn id="2549" idx="1"/>
          </p:cNvCxnSpPr>
          <p:nvPr/>
        </p:nvCxnSpPr>
        <p:spPr>
          <a:xfrm>
            <a:off x="7422425" y="37200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53" name="Google Shape;2553;p188"/>
          <p:cNvCxnSpPr>
            <a:stCxn id="2544" idx="4"/>
            <a:endCxn id="2549" idx="1"/>
          </p:cNvCxnSpPr>
          <p:nvPr/>
        </p:nvCxnSpPr>
        <p:spPr>
          <a:xfrm>
            <a:off x="6910088"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54" name="Google Shape;2554;p188"/>
          <p:cNvCxnSpPr>
            <a:stCxn id="2550" idx="4"/>
            <a:endCxn id="2542" idx="7"/>
          </p:cNvCxnSpPr>
          <p:nvPr/>
        </p:nvCxnSpPr>
        <p:spPr>
          <a:xfrm flipH="1">
            <a:off x="7039550"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55" name="Google Shape;2555;p188"/>
          <p:cNvCxnSpPr>
            <a:stCxn id="2551" idx="4"/>
            <a:endCxn id="2549" idx="0"/>
          </p:cNvCxnSpPr>
          <p:nvPr/>
        </p:nvCxnSpPr>
        <p:spPr>
          <a:xfrm flipH="1">
            <a:off x="7934675" y="37200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2556" name="Google Shape;2556;p188"/>
          <p:cNvCxnSpPr>
            <a:stCxn id="2550" idx="4"/>
            <a:endCxn id="2549" idx="0"/>
          </p:cNvCxnSpPr>
          <p:nvPr/>
        </p:nvCxnSpPr>
        <p:spPr>
          <a:xfrm>
            <a:off x="7934750"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557" name="Google Shape;2557;p188"/>
          <p:cNvCxnSpPr>
            <a:stCxn id="2543" idx="5"/>
            <a:endCxn id="2549" idx="1"/>
          </p:cNvCxnSpPr>
          <p:nvPr/>
        </p:nvCxnSpPr>
        <p:spPr>
          <a:xfrm>
            <a:off x="6548876" y="36678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2558" name="Google Shape;2558;p188"/>
          <p:cNvCxnSpPr>
            <a:stCxn id="2551" idx="3"/>
            <a:endCxn id="2542" idx="7"/>
          </p:cNvCxnSpPr>
          <p:nvPr/>
        </p:nvCxnSpPr>
        <p:spPr>
          <a:xfrm flipH="1">
            <a:off x="7039374" y="3667875"/>
            <a:ext cx="1278300" cy="614700"/>
          </a:xfrm>
          <a:prstGeom prst="straightConnector1">
            <a:avLst/>
          </a:prstGeom>
          <a:noFill/>
          <a:ln cap="flat" cmpd="sng" w="19050">
            <a:solidFill>
              <a:srgbClr val="6AA84F"/>
            </a:solidFill>
            <a:prstDash val="solid"/>
            <a:round/>
            <a:headEnd len="med" w="med" type="none"/>
            <a:tailEnd len="med" w="med" type="triangle"/>
          </a:ln>
        </p:spPr>
      </p:cxn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2" name="Shape 2562"/>
        <p:cNvGrpSpPr/>
        <p:nvPr/>
      </p:nvGrpSpPr>
      <p:grpSpPr>
        <a:xfrm>
          <a:off x="0" y="0"/>
          <a:ext cx="0" cy="0"/>
          <a:chOff x="0" y="0"/>
          <a:chExt cx="0" cy="0"/>
        </a:xfrm>
      </p:grpSpPr>
      <p:sp>
        <p:nvSpPr>
          <p:cNvPr id="2563" name="Google Shape;2563;p18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2564" name="Google Shape;2564;p189"/>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a:t>
            </a:r>
            <a:r>
              <a:rPr b="1" lang="en"/>
              <a:t>position in the valenced interaction network</a:t>
            </a:r>
            <a:r>
              <a:rPr lang="en"/>
              <a:t>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b="1" lang="en"/>
              <a:t>Status solidarity</a:t>
            </a:r>
            <a:endParaRPr b="1"/>
          </a:p>
          <a:p>
            <a:pPr indent="-317500" lvl="1" marL="914400" rtl="0" algn="l">
              <a:spcBef>
                <a:spcPts val="0"/>
              </a:spcBef>
              <a:spcAft>
                <a:spcPts val="0"/>
              </a:spcAft>
              <a:buSzPts val="1400"/>
              <a:buChar char="○"/>
            </a:pPr>
            <a:r>
              <a:rPr lang="en"/>
              <a:t>Karma solidarity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65" name="Google Shape;2565;p189"/>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189"/>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189"/>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68" name="Google Shape;2568;p189"/>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569" name="Google Shape;2569;p189"/>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570" name="Google Shape;2570;p189"/>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571" name="Google Shape;2571;p189"/>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572" name="Google Shape;2572;p189"/>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573" name="Google Shape;2573;p189"/>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189"/>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189"/>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189"/>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189"/>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8" name="Google Shape;2578;p189"/>
          <p:cNvCxnSpPr>
            <a:stCxn id="2575" idx="4"/>
            <a:endCxn id="2574" idx="1"/>
          </p:cNvCxnSpPr>
          <p:nvPr/>
        </p:nvCxnSpPr>
        <p:spPr>
          <a:xfrm>
            <a:off x="727125" y="36939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79" name="Google Shape;2579;p189"/>
          <p:cNvCxnSpPr>
            <a:stCxn id="2576" idx="4"/>
            <a:endCxn id="2574" idx="0"/>
          </p:cNvCxnSpPr>
          <p:nvPr/>
        </p:nvCxnSpPr>
        <p:spPr>
          <a:xfrm>
            <a:off x="1217738"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580" name="Google Shape;2580;p189"/>
          <p:cNvCxnSpPr>
            <a:stCxn id="2577" idx="4"/>
            <a:endCxn id="2574" idx="7"/>
          </p:cNvCxnSpPr>
          <p:nvPr/>
        </p:nvCxnSpPr>
        <p:spPr>
          <a:xfrm flipH="1">
            <a:off x="1347275" y="36939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581" name="Google Shape;2581;p189"/>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189"/>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189"/>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84" name="Google Shape;2584;p189"/>
          <p:cNvCxnSpPr>
            <a:stCxn id="2577" idx="4"/>
            <a:endCxn id="2581" idx="1"/>
          </p:cNvCxnSpPr>
          <p:nvPr/>
        </p:nvCxnSpPr>
        <p:spPr>
          <a:xfrm>
            <a:off x="1730075" y="36939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85" name="Google Shape;2585;p189"/>
          <p:cNvCxnSpPr>
            <a:stCxn id="2576" idx="4"/>
            <a:endCxn id="2581" idx="1"/>
          </p:cNvCxnSpPr>
          <p:nvPr/>
        </p:nvCxnSpPr>
        <p:spPr>
          <a:xfrm>
            <a:off x="1217738"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86" name="Google Shape;2586;p189"/>
          <p:cNvCxnSpPr>
            <a:stCxn id="2582" idx="4"/>
            <a:endCxn id="2574" idx="7"/>
          </p:cNvCxnSpPr>
          <p:nvPr/>
        </p:nvCxnSpPr>
        <p:spPr>
          <a:xfrm flipH="1">
            <a:off x="1347200"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87" name="Google Shape;2587;p189"/>
          <p:cNvCxnSpPr>
            <a:stCxn id="2583" idx="4"/>
            <a:endCxn id="2581" idx="0"/>
          </p:cNvCxnSpPr>
          <p:nvPr/>
        </p:nvCxnSpPr>
        <p:spPr>
          <a:xfrm flipH="1">
            <a:off x="2242325" y="36939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2588" name="Google Shape;2588;p189"/>
          <p:cNvCxnSpPr>
            <a:stCxn id="2582" idx="4"/>
            <a:endCxn id="2581" idx="0"/>
          </p:cNvCxnSpPr>
          <p:nvPr/>
        </p:nvCxnSpPr>
        <p:spPr>
          <a:xfrm>
            <a:off x="2242400"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589" name="Google Shape;2589;p189"/>
          <p:cNvCxnSpPr>
            <a:stCxn id="2575" idx="5"/>
            <a:endCxn id="2581" idx="1"/>
          </p:cNvCxnSpPr>
          <p:nvPr/>
        </p:nvCxnSpPr>
        <p:spPr>
          <a:xfrm>
            <a:off x="856526" y="36417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2590" name="Google Shape;2590;p189"/>
          <p:cNvCxnSpPr>
            <a:stCxn id="2583" idx="3"/>
            <a:endCxn id="2574" idx="7"/>
          </p:cNvCxnSpPr>
          <p:nvPr/>
        </p:nvCxnSpPr>
        <p:spPr>
          <a:xfrm flipH="1">
            <a:off x="1347024" y="3641775"/>
            <a:ext cx="1278300" cy="614700"/>
          </a:xfrm>
          <a:prstGeom prst="straightConnector1">
            <a:avLst/>
          </a:prstGeom>
          <a:noFill/>
          <a:ln cap="flat" cmpd="sng" w="19050">
            <a:solidFill>
              <a:srgbClr val="6AA84F"/>
            </a:solidFill>
            <a:prstDash val="solid"/>
            <a:round/>
            <a:headEnd len="med" w="med" type="none"/>
            <a:tailEnd len="med" w="med" type="triangle"/>
          </a:ln>
        </p:spPr>
      </p:cxnSp>
      <p:sp>
        <p:nvSpPr>
          <p:cNvPr id="2591" name="Google Shape;2591;p189"/>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189"/>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189"/>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189"/>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95" name="Google Shape;2595;p189"/>
          <p:cNvCxnSpPr>
            <a:stCxn id="2592" idx="4"/>
            <a:endCxn id="2591" idx="1"/>
          </p:cNvCxnSpPr>
          <p:nvPr/>
        </p:nvCxnSpPr>
        <p:spPr>
          <a:xfrm>
            <a:off x="6419475" y="37200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96" name="Google Shape;2596;p189"/>
          <p:cNvCxnSpPr>
            <a:stCxn id="2593" idx="4"/>
            <a:endCxn id="2591" idx="0"/>
          </p:cNvCxnSpPr>
          <p:nvPr/>
        </p:nvCxnSpPr>
        <p:spPr>
          <a:xfrm>
            <a:off x="6910088"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597" name="Google Shape;2597;p189"/>
          <p:cNvCxnSpPr>
            <a:stCxn id="2594" idx="4"/>
            <a:endCxn id="2591" idx="7"/>
          </p:cNvCxnSpPr>
          <p:nvPr/>
        </p:nvCxnSpPr>
        <p:spPr>
          <a:xfrm flipH="1">
            <a:off x="7039625" y="37200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598" name="Google Shape;2598;p189"/>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189"/>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189"/>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1" name="Google Shape;2601;p189"/>
          <p:cNvCxnSpPr>
            <a:stCxn id="2594" idx="4"/>
            <a:endCxn id="2598" idx="1"/>
          </p:cNvCxnSpPr>
          <p:nvPr/>
        </p:nvCxnSpPr>
        <p:spPr>
          <a:xfrm>
            <a:off x="7422425" y="37200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2602" name="Google Shape;2602;p189"/>
          <p:cNvCxnSpPr>
            <a:stCxn id="2593" idx="4"/>
            <a:endCxn id="2598" idx="1"/>
          </p:cNvCxnSpPr>
          <p:nvPr/>
        </p:nvCxnSpPr>
        <p:spPr>
          <a:xfrm>
            <a:off x="6910088"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603" name="Google Shape;2603;p189"/>
          <p:cNvCxnSpPr>
            <a:stCxn id="2599" idx="4"/>
            <a:endCxn id="2591" idx="7"/>
          </p:cNvCxnSpPr>
          <p:nvPr/>
        </p:nvCxnSpPr>
        <p:spPr>
          <a:xfrm flipH="1">
            <a:off x="7039550"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604" name="Google Shape;2604;p189"/>
          <p:cNvCxnSpPr>
            <a:stCxn id="2600" idx="4"/>
            <a:endCxn id="2598" idx="0"/>
          </p:cNvCxnSpPr>
          <p:nvPr/>
        </p:nvCxnSpPr>
        <p:spPr>
          <a:xfrm flipH="1">
            <a:off x="7934675" y="37200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2605" name="Google Shape;2605;p189"/>
          <p:cNvCxnSpPr>
            <a:stCxn id="2599" idx="4"/>
            <a:endCxn id="2598" idx="0"/>
          </p:cNvCxnSpPr>
          <p:nvPr/>
        </p:nvCxnSpPr>
        <p:spPr>
          <a:xfrm>
            <a:off x="7934750"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606" name="Google Shape;2606;p189"/>
          <p:cNvCxnSpPr>
            <a:stCxn id="2592" idx="5"/>
            <a:endCxn id="2598" idx="1"/>
          </p:cNvCxnSpPr>
          <p:nvPr/>
        </p:nvCxnSpPr>
        <p:spPr>
          <a:xfrm>
            <a:off x="6548876" y="36678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2607" name="Google Shape;2607;p189"/>
          <p:cNvCxnSpPr>
            <a:stCxn id="2600" idx="3"/>
            <a:endCxn id="2591" idx="7"/>
          </p:cNvCxnSpPr>
          <p:nvPr/>
        </p:nvCxnSpPr>
        <p:spPr>
          <a:xfrm flipH="1">
            <a:off x="7039374" y="3667875"/>
            <a:ext cx="1278300" cy="614700"/>
          </a:xfrm>
          <a:prstGeom prst="straightConnector1">
            <a:avLst/>
          </a:prstGeom>
          <a:noFill/>
          <a:ln cap="flat" cmpd="sng" w="19050">
            <a:solidFill>
              <a:srgbClr val="6AA84F"/>
            </a:solidFill>
            <a:prstDash val="solid"/>
            <a:round/>
            <a:headEnd len="med" w="med" type="none"/>
            <a:tailEnd len="med" w="med" type="triangle"/>
          </a:ln>
        </p:spPr>
      </p:cxnSp>
      <p:cxnSp>
        <p:nvCxnSpPr>
          <p:cNvPr id="2608" name="Google Shape;2608;p189"/>
          <p:cNvCxnSpPr>
            <a:stCxn id="2591" idx="6"/>
            <a:endCxn id="2598"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2609" name="Google Shape;2609;p189"/>
          <p:cNvCxnSpPr>
            <a:stCxn id="2598" idx="3"/>
            <a:endCxn id="2591"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2610" name="Google Shape;2610;p189"/>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AA84F"/>
                </a:solidFill>
                <a:latin typeface="Open Sans"/>
                <a:ea typeface="Open Sans"/>
                <a:cs typeface="Open Sans"/>
                <a:sym typeface="Open Sans"/>
              </a:rPr>
              <a:t>Popular “in-crowd” effect</a:t>
            </a:r>
            <a:endParaRPr b="1">
              <a:solidFill>
                <a:srgbClr val="6AA84F"/>
              </a:solidFill>
              <a:latin typeface="Open Sans"/>
              <a:ea typeface="Open Sans"/>
              <a:cs typeface="Open Sans"/>
              <a:sym typeface="Open San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4" name="Shape 2614"/>
        <p:cNvGrpSpPr/>
        <p:nvPr/>
      </p:nvGrpSpPr>
      <p:grpSpPr>
        <a:xfrm>
          <a:off x="0" y="0"/>
          <a:ext cx="0" cy="0"/>
          <a:chOff x="0" y="0"/>
          <a:chExt cx="0" cy="0"/>
        </a:xfrm>
      </p:grpSpPr>
      <p:sp>
        <p:nvSpPr>
          <p:cNvPr id="2615" name="Google Shape;2615;p19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2616" name="Google Shape;2616;p190"/>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a:t>
            </a:r>
            <a:r>
              <a:rPr b="1" lang="en"/>
              <a:t>position in the valenced interaction network </a:t>
            </a:r>
            <a:r>
              <a:rPr lang="en"/>
              <a:t>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b="1" lang="en"/>
              <a:t>Status solidarity</a:t>
            </a:r>
            <a:endParaRPr b="1"/>
          </a:p>
          <a:p>
            <a:pPr indent="-317500" lvl="1" marL="914400" rtl="0" algn="l">
              <a:spcBef>
                <a:spcPts val="0"/>
              </a:spcBef>
              <a:spcAft>
                <a:spcPts val="0"/>
              </a:spcAft>
              <a:buSzPts val="1400"/>
              <a:buChar char="○"/>
            </a:pPr>
            <a:r>
              <a:rPr lang="en"/>
              <a:t>Karma solidarity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17" name="Google Shape;2617;p190"/>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90"/>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190"/>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20" name="Google Shape;2620;p190"/>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621" name="Google Shape;2621;p190"/>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622" name="Google Shape;2622;p190"/>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623" name="Google Shape;2623;p190"/>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624" name="Google Shape;2624;p190"/>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625" name="Google Shape;2625;p190"/>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190"/>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90"/>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190"/>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190"/>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0" name="Google Shape;2630;p190"/>
          <p:cNvCxnSpPr>
            <a:stCxn id="2627" idx="4"/>
            <a:endCxn id="2626" idx="1"/>
          </p:cNvCxnSpPr>
          <p:nvPr/>
        </p:nvCxnSpPr>
        <p:spPr>
          <a:xfrm>
            <a:off x="727125" y="3693925"/>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31" name="Google Shape;2631;p190"/>
          <p:cNvCxnSpPr>
            <a:stCxn id="2628" idx="4"/>
            <a:endCxn id="2626" idx="0"/>
          </p:cNvCxnSpPr>
          <p:nvPr/>
        </p:nvCxnSpPr>
        <p:spPr>
          <a:xfrm>
            <a:off x="1217738" y="36939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632" name="Google Shape;2632;p190"/>
          <p:cNvCxnSpPr>
            <a:stCxn id="2629" idx="4"/>
            <a:endCxn id="2626" idx="7"/>
          </p:cNvCxnSpPr>
          <p:nvPr/>
        </p:nvCxnSpPr>
        <p:spPr>
          <a:xfrm flipH="1">
            <a:off x="1347275" y="3693925"/>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633" name="Google Shape;2633;p190"/>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90"/>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90"/>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6" name="Google Shape;2636;p190"/>
          <p:cNvCxnSpPr>
            <a:stCxn id="2629" idx="4"/>
            <a:endCxn id="2633" idx="1"/>
          </p:cNvCxnSpPr>
          <p:nvPr/>
        </p:nvCxnSpPr>
        <p:spPr>
          <a:xfrm>
            <a:off x="1730075" y="3693925"/>
            <a:ext cx="3828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37" name="Google Shape;2637;p190"/>
          <p:cNvCxnSpPr>
            <a:stCxn id="2628" idx="4"/>
            <a:endCxn id="2633" idx="1"/>
          </p:cNvCxnSpPr>
          <p:nvPr/>
        </p:nvCxnSpPr>
        <p:spPr>
          <a:xfrm>
            <a:off x="1217738" y="36939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38" name="Google Shape;2638;p190"/>
          <p:cNvCxnSpPr>
            <a:stCxn id="2634" idx="4"/>
            <a:endCxn id="2626" idx="7"/>
          </p:cNvCxnSpPr>
          <p:nvPr/>
        </p:nvCxnSpPr>
        <p:spPr>
          <a:xfrm flipH="1">
            <a:off x="1347200" y="36939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39" name="Google Shape;2639;p190"/>
          <p:cNvCxnSpPr>
            <a:stCxn id="2635" idx="4"/>
            <a:endCxn id="2633" idx="0"/>
          </p:cNvCxnSpPr>
          <p:nvPr/>
        </p:nvCxnSpPr>
        <p:spPr>
          <a:xfrm flipH="1">
            <a:off x="2242325" y="3693925"/>
            <a:ext cx="512400" cy="510300"/>
          </a:xfrm>
          <a:prstGeom prst="straightConnector1">
            <a:avLst/>
          </a:prstGeom>
          <a:noFill/>
          <a:ln cap="flat" cmpd="sng" w="19050">
            <a:solidFill>
              <a:srgbClr val="FF0000"/>
            </a:solidFill>
            <a:prstDash val="solid"/>
            <a:round/>
            <a:headEnd len="med" w="med" type="none"/>
            <a:tailEnd len="med" w="med" type="triangle"/>
          </a:ln>
        </p:spPr>
      </p:cxnSp>
      <p:cxnSp>
        <p:nvCxnSpPr>
          <p:cNvPr id="2640" name="Google Shape;2640;p190"/>
          <p:cNvCxnSpPr>
            <a:stCxn id="2634" idx="4"/>
            <a:endCxn id="2633" idx="0"/>
          </p:cNvCxnSpPr>
          <p:nvPr/>
        </p:nvCxnSpPr>
        <p:spPr>
          <a:xfrm>
            <a:off x="2242400" y="36939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641" name="Google Shape;2641;p190"/>
          <p:cNvCxnSpPr>
            <a:stCxn id="2627" idx="5"/>
            <a:endCxn id="2633" idx="1"/>
          </p:cNvCxnSpPr>
          <p:nvPr/>
        </p:nvCxnSpPr>
        <p:spPr>
          <a:xfrm>
            <a:off x="856526" y="3641775"/>
            <a:ext cx="1256400" cy="614700"/>
          </a:xfrm>
          <a:prstGeom prst="straightConnector1">
            <a:avLst/>
          </a:prstGeom>
          <a:noFill/>
          <a:ln cap="flat" cmpd="sng" w="19050">
            <a:solidFill>
              <a:srgbClr val="FF0000"/>
            </a:solidFill>
            <a:prstDash val="solid"/>
            <a:round/>
            <a:headEnd len="med" w="med" type="none"/>
            <a:tailEnd len="med" w="med" type="triangle"/>
          </a:ln>
        </p:spPr>
      </p:cxnSp>
      <p:cxnSp>
        <p:nvCxnSpPr>
          <p:cNvPr id="2642" name="Google Shape;2642;p190"/>
          <p:cNvCxnSpPr>
            <a:stCxn id="2635" idx="3"/>
            <a:endCxn id="2626" idx="7"/>
          </p:cNvCxnSpPr>
          <p:nvPr/>
        </p:nvCxnSpPr>
        <p:spPr>
          <a:xfrm flipH="1">
            <a:off x="1347024" y="3641775"/>
            <a:ext cx="1278300" cy="614700"/>
          </a:xfrm>
          <a:prstGeom prst="straightConnector1">
            <a:avLst/>
          </a:prstGeom>
          <a:noFill/>
          <a:ln cap="flat" cmpd="sng" w="19050">
            <a:solidFill>
              <a:srgbClr val="FF0000"/>
            </a:solidFill>
            <a:prstDash val="solid"/>
            <a:round/>
            <a:headEnd len="med" w="med" type="none"/>
            <a:tailEnd len="med" w="med" type="triangle"/>
          </a:ln>
        </p:spPr>
      </p:cxnSp>
      <p:sp>
        <p:nvSpPr>
          <p:cNvPr id="2643" name="Google Shape;2643;p190"/>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190"/>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190"/>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90"/>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7" name="Google Shape;2647;p190"/>
          <p:cNvCxnSpPr>
            <a:stCxn id="2644" idx="4"/>
            <a:endCxn id="2643" idx="1"/>
          </p:cNvCxnSpPr>
          <p:nvPr/>
        </p:nvCxnSpPr>
        <p:spPr>
          <a:xfrm>
            <a:off x="6419475" y="3720025"/>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48" name="Google Shape;2648;p190"/>
          <p:cNvCxnSpPr>
            <a:stCxn id="2645" idx="4"/>
            <a:endCxn id="2643" idx="0"/>
          </p:cNvCxnSpPr>
          <p:nvPr/>
        </p:nvCxnSpPr>
        <p:spPr>
          <a:xfrm>
            <a:off x="6910088" y="37200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649" name="Google Shape;2649;p190"/>
          <p:cNvCxnSpPr>
            <a:stCxn id="2646" idx="4"/>
            <a:endCxn id="2643" idx="7"/>
          </p:cNvCxnSpPr>
          <p:nvPr/>
        </p:nvCxnSpPr>
        <p:spPr>
          <a:xfrm flipH="1">
            <a:off x="7039625" y="3720025"/>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650" name="Google Shape;2650;p190"/>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90"/>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90"/>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53" name="Google Shape;2653;p190"/>
          <p:cNvCxnSpPr>
            <a:stCxn id="2646" idx="4"/>
            <a:endCxn id="2650" idx="1"/>
          </p:cNvCxnSpPr>
          <p:nvPr/>
        </p:nvCxnSpPr>
        <p:spPr>
          <a:xfrm>
            <a:off x="7422425" y="3720025"/>
            <a:ext cx="3828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54" name="Google Shape;2654;p190"/>
          <p:cNvCxnSpPr>
            <a:stCxn id="2645" idx="4"/>
            <a:endCxn id="2650" idx="1"/>
          </p:cNvCxnSpPr>
          <p:nvPr/>
        </p:nvCxnSpPr>
        <p:spPr>
          <a:xfrm>
            <a:off x="6910088" y="37200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55" name="Google Shape;2655;p190"/>
          <p:cNvCxnSpPr>
            <a:stCxn id="2651" idx="4"/>
            <a:endCxn id="2643" idx="7"/>
          </p:cNvCxnSpPr>
          <p:nvPr/>
        </p:nvCxnSpPr>
        <p:spPr>
          <a:xfrm flipH="1">
            <a:off x="7039550" y="37200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56" name="Google Shape;2656;p190"/>
          <p:cNvCxnSpPr>
            <a:stCxn id="2652" idx="4"/>
            <a:endCxn id="2650" idx="0"/>
          </p:cNvCxnSpPr>
          <p:nvPr/>
        </p:nvCxnSpPr>
        <p:spPr>
          <a:xfrm flipH="1">
            <a:off x="7934675" y="3720025"/>
            <a:ext cx="512400" cy="510300"/>
          </a:xfrm>
          <a:prstGeom prst="straightConnector1">
            <a:avLst/>
          </a:prstGeom>
          <a:noFill/>
          <a:ln cap="flat" cmpd="sng" w="19050">
            <a:solidFill>
              <a:srgbClr val="FF0000"/>
            </a:solidFill>
            <a:prstDash val="solid"/>
            <a:round/>
            <a:headEnd len="med" w="med" type="none"/>
            <a:tailEnd len="med" w="med" type="triangle"/>
          </a:ln>
        </p:spPr>
      </p:cxnSp>
      <p:cxnSp>
        <p:nvCxnSpPr>
          <p:cNvPr id="2657" name="Google Shape;2657;p190"/>
          <p:cNvCxnSpPr>
            <a:stCxn id="2651" idx="4"/>
            <a:endCxn id="2650" idx="0"/>
          </p:cNvCxnSpPr>
          <p:nvPr/>
        </p:nvCxnSpPr>
        <p:spPr>
          <a:xfrm>
            <a:off x="7934750" y="37200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658" name="Google Shape;2658;p190"/>
          <p:cNvCxnSpPr>
            <a:stCxn id="2644" idx="5"/>
            <a:endCxn id="2650" idx="1"/>
          </p:cNvCxnSpPr>
          <p:nvPr/>
        </p:nvCxnSpPr>
        <p:spPr>
          <a:xfrm>
            <a:off x="6548876" y="3667875"/>
            <a:ext cx="1256400" cy="614700"/>
          </a:xfrm>
          <a:prstGeom prst="straightConnector1">
            <a:avLst/>
          </a:prstGeom>
          <a:noFill/>
          <a:ln cap="flat" cmpd="sng" w="19050">
            <a:solidFill>
              <a:srgbClr val="FF0000"/>
            </a:solidFill>
            <a:prstDash val="solid"/>
            <a:round/>
            <a:headEnd len="med" w="med" type="none"/>
            <a:tailEnd len="med" w="med" type="triangle"/>
          </a:ln>
        </p:spPr>
      </p:cxnSp>
      <p:cxnSp>
        <p:nvCxnSpPr>
          <p:cNvPr id="2659" name="Google Shape;2659;p190"/>
          <p:cNvCxnSpPr>
            <a:stCxn id="2652" idx="3"/>
            <a:endCxn id="2643" idx="7"/>
          </p:cNvCxnSpPr>
          <p:nvPr/>
        </p:nvCxnSpPr>
        <p:spPr>
          <a:xfrm flipH="1">
            <a:off x="7039374" y="3667875"/>
            <a:ext cx="1278300" cy="614700"/>
          </a:xfrm>
          <a:prstGeom prst="straightConnector1">
            <a:avLst/>
          </a:prstGeom>
          <a:noFill/>
          <a:ln cap="flat" cmpd="sng" w="19050">
            <a:solidFill>
              <a:srgbClr val="FF0000"/>
            </a:solidFill>
            <a:prstDash val="solid"/>
            <a:round/>
            <a:headEnd len="med" w="med" type="none"/>
            <a:tailEnd len="med" w="med" type="triangle"/>
          </a:ln>
        </p:spPr>
      </p:cxnSp>
      <p:cxnSp>
        <p:nvCxnSpPr>
          <p:cNvPr id="2660" name="Google Shape;2660;p190"/>
          <p:cNvCxnSpPr>
            <a:stCxn id="2643" idx="6"/>
            <a:endCxn id="2650"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2661" name="Google Shape;2661;p190"/>
          <p:cNvCxnSpPr>
            <a:stCxn id="2650" idx="3"/>
            <a:endCxn id="2643"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2662" name="Google Shape;2662;p190"/>
          <p:cNvSpPr txBox="1"/>
          <p:nvPr/>
        </p:nvSpPr>
        <p:spPr>
          <a:xfrm>
            <a:off x="2754725" y="4510450"/>
            <a:ext cx="32484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The downtrodden stick together!</a:t>
            </a:r>
            <a:endParaRPr b="1">
              <a:solidFill>
                <a:srgbClr val="FF0000"/>
              </a:solidFill>
              <a:latin typeface="Open Sans"/>
              <a:ea typeface="Open Sans"/>
              <a:cs typeface="Open Sans"/>
              <a:sym typeface="Open San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19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2668" name="Google Shape;2668;p191"/>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a:t>
            </a:r>
            <a:r>
              <a:rPr b="1" lang="en"/>
              <a:t>position in the valenced interaction network</a:t>
            </a:r>
            <a:r>
              <a:rPr lang="en"/>
              <a:t>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lang="en"/>
              <a:t>Status solidarity</a:t>
            </a:r>
            <a:endParaRPr/>
          </a:p>
          <a:p>
            <a:pPr indent="-317500" lvl="1" marL="914400" rtl="0" algn="l">
              <a:spcBef>
                <a:spcPts val="0"/>
              </a:spcBef>
              <a:spcAft>
                <a:spcPts val="0"/>
              </a:spcAft>
              <a:buSzPts val="1400"/>
              <a:buChar char="○"/>
            </a:pPr>
            <a:r>
              <a:rPr b="1" lang="en"/>
              <a:t>Karma solidarity</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69" name="Google Shape;2669;p191"/>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191"/>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191"/>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72" name="Google Shape;2672;p191"/>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673" name="Google Shape;2673;p191"/>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674" name="Google Shape;2674;p191"/>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675" name="Google Shape;2675;p191"/>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676" name="Google Shape;2676;p191"/>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677" name="Google Shape;2677;p191"/>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191"/>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191"/>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191"/>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91"/>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2" name="Google Shape;2682;p191"/>
          <p:cNvCxnSpPr>
            <a:stCxn id="2679" idx="4"/>
            <a:endCxn id="2678" idx="1"/>
          </p:cNvCxnSpPr>
          <p:nvPr/>
        </p:nvCxnSpPr>
        <p:spPr>
          <a:xfrm>
            <a:off x="727125" y="3693925"/>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683" name="Google Shape;2683;p191"/>
          <p:cNvCxnSpPr>
            <a:stCxn id="2680" idx="4"/>
            <a:endCxn id="2678" idx="0"/>
          </p:cNvCxnSpPr>
          <p:nvPr/>
        </p:nvCxnSpPr>
        <p:spPr>
          <a:xfrm>
            <a:off x="1217738" y="36939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684" name="Google Shape;2684;p191"/>
          <p:cNvCxnSpPr>
            <a:stCxn id="2681" idx="4"/>
            <a:endCxn id="2678" idx="7"/>
          </p:cNvCxnSpPr>
          <p:nvPr/>
        </p:nvCxnSpPr>
        <p:spPr>
          <a:xfrm flipH="1">
            <a:off x="1347275" y="3693925"/>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685" name="Google Shape;2685;p191"/>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191"/>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191"/>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8" name="Google Shape;2688;p191"/>
          <p:cNvCxnSpPr>
            <a:stCxn id="2681" idx="4"/>
            <a:endCxn id="2685" idx="1"/>
          </p:cNvCxnSpPr>
          <p:nvPr/>
        </p:nvCxnSpPr>
        <p:spPr>
          <a:xfrm>
            <a:off x="1730075" y="3693925"/>
            <a:ext cx="382800" cy="562500"/>
          </a:xfrm>
          <a:prstGeom prst="straightConnector1">
            <a:avLst/>
          </a:prstGeom>
          <a:noFill/>
          <a:ln cap="flat" cmpd="sng" w="19050">
            <a:solidFill>
              <a:srgbClr val="FF0000"/>
            </a:solidFill>
            <a:prstDash val="solid"/>
            <a:round/>
            <a:headEnd len="med" w="med" type="triangle"/>
            <a:tailEnd len="med" w="med" type="none"/>
          </a:ln>
        </p:spPr>
      </p:cxnSp>
      <p:cxnSp>
        <p:nvCxnSpPr>
          <p:cNvPr id="2689" name="Google Shape;2689;p191"/>
          <p:cNvCxnSpPr>
            <a:stCxn id="2680" idx="4"/>
            <a:endCxn id="2685" idx="1"/>
          </p:cNvCxnSpPr>
          <p:nvPr/>
        </p:nvCxnSpPr>
        <p:spPr>
          <a:xfrm>
            <a:off x="1217738" y="36939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690" name="Google Shape;2690;p191"/>
          <p:cNvCxnSpPr>
            <a:stCxn id="2686" idx="4"/>
            <a:endCxn id="2678" idx="7"/>
          </p:cNvCxnSpPr>
          <p:nvPr/>
        </p:nvCxnSpPr>
        <p:spPr>
          <a:xfrm flipH="1">
            <a:off x="1347200" y="36939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691" name="Google Shape;2691;p191"/>
          <p:cNvCxnSpPr>
            <a:stCxn id="2687" idx="4"/>
            <a:endCxn id="2685" idx="0"/>
          </p:cNvCxnSpPr>
          <p:nvPr/>
        </p:nvCxnSpPr>
        <p:spPr>
          <a:xfrm flipH="1">
            <a:off x="2242325" y="3693925"/>
            <a:ext cx="512400" cy="510300"/>
          </a:xfrm>
          <a:prstGeom prst="straightConnector1">
            <a:avLst/>
          </a:prstGeom>
          <a:noFill/>
          <a:ln cap="flat" cmpd="sng" w="19050">
            <a:solidFill>
              <a:srgbClr val="FF0000"/>
            </a:solidFill>
            <a:prstDash val="solid"/>
            <a:round/>
            <a:headEnd len="med" w="med" type="triangle"/>
            <a:tailEnd len="med" w="med" type="none"/>
          </a:ln>
        </p:spPr>
      </p:cxnSp>
      <p:cxnSp>
        <p:nvCxnSpPr>
          <p:cNvPr id="2692" name="Google Shape;2692;p191"/>
          <p:cNvCxnSpPr>
            <a:stCxn id="2686" idx="4"/>
            <a:endCxn id="2685" idx="0"/>
          </p:cNvCxnSpPr>
          <p:nvPr/>
        </p:nvCxnSpPr>
        <p:spPr>
          <a:xfrm>
            <a:off x="2242400" y="36939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693" name="Google Shape;2693;p191"/>
          <p:cNvCxnSpPr>
            <a:stCxn id="2679" idx="5"/>
            <a:endCxn id="2685" idx="1"/>
          </p:cNvCxnSpPr>
          <p:nvPr/>
        </p:nvCxnSpPr>
        <p:spPr>
          <a:xfrm>
            <a:off x="856526" y="3641775"/>
            <a:ext cx="1256400" cy="614700"/>
          </a:xfrm>
          <a:prstGeom prst="straightConnector1">
            <a:avLst/>
          </a:prstGeom>
          <a:noFill/>
          <a:ln cap="flat" cmpd="sng" w="19050">
            <a:solidFill>
              <a:srgbClr val="FF0000"/>
            </a:solidFill>
            <a:prstDash val="solid"/>
            <a:round/>
            <a:headEnd len="med" w="med" type="triangle"/>
            <a:tailEnd len="med" w="med" type="none"/>
          </a:ln>
        </p:spPr>
      </p:cxnSp>
      <p:cxnSp>
        <p:nvCxnSpPr>
          <p:cNvPr id="2694" name="Google Shape;2694;p191"/>
          <p:cNvCxnSpPr>
            <a:stCxn id="2687" idx="3"/>
            <a:endCxn id="2678" idx="7"/>
          </p:cNvCxnSpPr>
          <p:nvPr/>
        </p:nvCxnSpPr>
        <p:spPr>
          <a:xfrm flipH="1">
            <a:off x="1347024" y="3641775"/>
            <a:ext cx="1278300" cy="614700"/>
          </a:xfrm>
          <a:prstGeom prst="straightConnector1">
            <a:avLst/>
          </a:prstGeom>
          <a:noFill/>
          <a:ln cap="flat" cmpd="sng" w="19050">
            <a:solidFill>
              <a:srgbClr val="FF0000"/>
            </a:solidFill>
            <a:prstDash val="solid"/>
            <a:round/>
            <a:headEnd len="med" w="med" type="triangle"/>
            <a:tailEnd len="med" w="med" type="none"/>
          </a:ln>
        </p:spPr>
      </p:cxnSp>
      <p:sp>
        <p:nvSpPr>
          <p:cNvPr id="2695" name="Google Shape;2695;p191"/>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91"/>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91"/>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91"/>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99" name="Google Shape;2699;p191"/>
          <p:cNvCxnSpPr>
            <a:stCxn id="2696" idx="4"/>
            <a:endCxn id="2695" idx="1"/>
          </p:cNvCxnSpPr>
          <p:nvPr/>
        </p:nvCxnSpPr>
        <p:spPr>
          <a:xfrm>
            <a:off x="6419475" y="3720025"/>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700" name="Google Shape;2700;p191"/>
          <p:cNvCxnSpPr>
            <a:stCxn id="2697" idx="4"/>
            <a:endCxn id="2695" idx="0"/>
          </p:cNvCxnSpPr>
          <p:nvPr/>
        </p:nvCxnSpPr>
        <p:spPr>
          <a:xfrm>
            <a:off x="6910088" y="37200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701" name="Google Shape;2701;p191"/>
          <p:cNvCxnSpPr>
            <a:stCxn id="2698" idx="4"/>
            <a:endCxn id="2695" idx="7"/>
          </p:cNvCxnSpPr>
          <p:nvPr/>
        </p:nvCxnSpPr>
        <p:spPr>
          <a:xfrm flipH="1">
            <a:off x="7039625" y="3720025"/>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2702" name="Google Shape;2702;p191"/>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191"/>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191"/>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05" name="Google Shape;2705;p191"/>
          <p:cNvCxnSpPr>
            <a:stCxn id="2698" idx="4"/>
            <a:endCxn id="2702" idx="1"/>
          </p:cNvCxnSpPr>
          <p:nvPr/>
        </p:nvCxnSpPr>
        <p:spPr>
          <a:xfrm>
            <a:off x="7422425" y="3720025"/>
            <a:ext cx="382800" cy="562500"/>
          </a:xfrm>
          <a:prstGeom prst="straightConnector1">
            <a:avLst/>
          </a:prstGeom>
          <a:noFill/>
          <a:ln cap="flat" cmpd="sng" w="19050">
            <a:solidFill>
              <a:srgbClr val="FF0000"/>
            </a:solidFill>
            <a:prstDash val="solid"/>
            <a:round/>
            <a:headEnd len="med" w="med" type="triangle"/>
            <a:tailEnd len="med" w="med" type="none"/>
          </a:ln>
        </p:spPr>
      </p:cxnSp>
      <p:cxnSp>
        <p:nvCxnSpPr>
          <p:cNvPr id="2706" name="Google Shape;2706;p191"/>
          <p:cNvCxnSpPr>
            <a:stCxn id="2697" idx="4"/>
            <a:endCxn id="2702" idx="1"/>
          </p:cNvCxnSpPr>
          <p:nvPr/>
        </p:nvCxnSpPr>
        <p:spPr>
          <a:xfrm>
            <a:off x="6910088" y="37200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707" name="Google Shape;2707;p191"/>
          <p:cNvCxnSpPr>
            <a:stCxn id="2703" idx="4"/>
            <a:endCxn id="2695" idx="7"/>
          </p:cNvCxnSpPr>
          <p:nvPr/>
        </p:nvCxnSpPr>
        <p:spPr>
          <a:xfrm flipH="1">
            <a:off x="7039550" y="37200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2708" name="Google Shape;2708;p191"/>
          <p:cNvCxnSpPr>
            <a:stCxn id="2704" idx="4"/>
            <a:endCxn id="2702" idx="0"/>
          </p:cNvCxnSpPr>
          <p:nvPr/>
        </p:nvCxnSpPr>
        <p:spPr>
          <a:xfrm flipH="1">
            <a:off x="7934675" y="3720025"/>
            <a:ext cx="512400" cy="510300"/>
          </a:xfrm>
          <a:prstGeom prst="straightConnector1">
            <a:avLst/>
          </a:prstGeom>
          <a:noFill/>
          <a:ln cap="flat" cmpd="sng" w="19050">
            <a:solidFill>
              <a:srgbClr val="FF0000"/>
            </a:solidFill>
            <a:prstDash val="solid"/>
            <a:round/>
            <a:headEnd len="med" w="med" type="triangle"/>
            <a:tailEnd len="med" w="med" type="none"/>
          </a:ln>
        </p:spPr>
      </p:cxnSp>
      <p:cxnSp>
        <p:nvCxnSpPr>
          <p:cNvPr id="2709" name="Google Shape;2709;p191"/>
          <p:cNvCxnSpPr>
            <a:stCxn id="2703" idx="4"/>
            <a:endCxn id="2702" idx="0"/>
          </p:cNvCxnSpPr>
          <p:nvPr/>
        </p:nvCxnSpPr>
        <p:spPr>
          <a:xfrm>
            <a:off x="7934750" y="37200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2710" name="Google Shape;2710;p191"/>
          <p:cNvCxnSpPr>
            <a:stCxn id="2696" idx="5"/>
            <a:endCxn id="2702" idx="1"/>
          </p:cNvCxnSpPr>
          <p:nvPr/>
        </p:nvCxnSpPr>
        <p:spPr>
          <a:xfrm>
            <a:off x="6548876" y="3667875"/>
            <a:ext cx="1256400" cy="614700"/>
          </a:xfrm>
          <a:prstGeom prst="straightConnector1">
            <a:avLst/>
          </a:prstGeom>
          <a:noFill/>
          <a:ln cap="flat" cmpd="sng" w="19050">
            <a:solidFill>
              <a:srgbClr val="FF0000"/>
            </a:solidFill>
            <a:prstDash val="solid"/>
            <a:round/>
            <a:headEnd len="med" w="med" type="triangle"/>
            <a:tailEnd len="med" w="med" type="none"/>
          </a:ln>
        </p:spPr>
      </p:cxnSp>
      <p:cxnSp>
        <p:nvCxnSpPr>
          <p:cNvPr id="2711" name="Google Shape;2711;p191"/>
          <p:cNvCxnSpPr>
            <a:stCxn id="2704" idx="3"/>
            <a:endCxn id="2695" idx="7"/>
          </p:cNvCxnSpPr>
          <p:nvPr/>
        </p:nvCxnSpPr>
        <p:spPr>
          <a:xfrm flipH="1">
            <a:off x="7039374" y="3667875"/>
            <a:ext cx="1278300" cy="614700"/>
          </a:xfrm>
          <a:prstGeom prst="straightConnector1">
            <a:avLst/>
          </a:prstGeom>
          <a:noFill/>
          <a:ln cap="flat" cmpd="sng" w="19050">
            <a:solidFill>
              <a:srgbClr val="FF0000"/>
            </a:solidFill>
            <a:prstDash val="solid"/>
            <a:round/>
            <a:headEnd len="med" w="med" type="triangle"/>
            <a:tailEnd len="med" w="med" type="none"/>
          </a:ln>
        </p:spPr>
      </p:cxnSp>
      <p:cxnSp>
        <p:nvCxnSpPr>
          <p:cNvPr id="2712" name="Google Shape;2712;p191"/>
          <p:cNvCxnSpPr>
            <a:stCxn id="2695" idx="6"/>
            <a:endCxn id="2702"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2713" name="Google Shape;2713;p191"/>
          <p:cNvCxnSpPr>
            <a:stCxn id="2702" idx="3"/>
            <a:endCxn id="2695"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2714" name="Google Shape;2714;p191"/>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Bullies stick together!</a:t>
            </a:r>
            <a:endParaRPr b="1">
              <a:solidFill>
                <a:srgbClr val="FF0000"/>
              </a:solidFill>
              <a:latin typeface="Open Sans"/>
              <a:ea typeface="Open Sans"/>
              <a:cs typeface="Open Sans"/>
              <a:sym typeface="Open San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8" name="Shape 2718"/>
        <p:cNvGrpSpPr/>
        <p:nvPr/>
      </p:nvGrpSpPr>
      <p:grpSpPr>
        <a:xfrm>
          <a:off x="0" y="0"/>
          <a:ext cx="0" cy="0"/>
          <a:chOff x="0" y="0"/>
          <a:chExt cx="0" cy="0"/>
        </a:xfrm>
      </p:grpSpPr>
      <p:sp>
        <p:nvSpPr>
          <p:cNvPr id="2719" name="Google Shape;2719;p19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2720" name="Google Shape;2720;p192"/>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position in the valenced interaction network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lang="en"/>
              <a:t>Status solidarity</a:t>
            </a:r>
            <a:endParaRPr/>
          </a:p>
          <a:p>
            <a:pPr indent="-317500" lvl="1" marL="914400" rtl="0" algn="l">
              <a:spcBef>
                <a:spcPts val="0"/>
              </a:spcBef>
              <a:spcAft>
                <a:spcPts val="0"/>
              </a:spcAft>
              <a:buSzPts val="1400"/>
              <a:buChar char="○"/>
            </a:pPr>
            <a:r>
              <a:rPr b="1" lang="en"/>
              <a:t>Karma solidarity</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21" name="Google Shape;2721;p192"/>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192"/>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192"/>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4" name="Google Shape;2724;p192"/>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725" name="Google Shape;2725;p192"/>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726" name="Google Shape;2726;p192"/>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727" name="Google Shape;2727;p192"/>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2728" name="Google Shape;2728;p192"/>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2729" name="Google Shape;2729;p192"/>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192"/>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92"/>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192"/>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192"/>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4" name="Google Shape;2734;p192"/>
          <p:cNvCxnSpPr>
            <a:stCxn id="2731" idx="4"/>
            <a:endCxn id="2730" idx="1"/>
          </p:cNvCxnSpPr>
          <p:nvPr/>
        </p:nvCxnSpPr>
        <p:spPr>
          <a:xfrm>
            <a:off x="727125" y="3693925"/>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35" name="Google Shape;2735;p192"/>
          <p:cNvCxnSpPr>
            <a:stCxn id="2732" idx="4"/>
            <a:endCxn id="2730" idx="0"/>
          </p:cNvCxnSpPr>
          <p:nvPr/>
        </p:nvCxnSpPr>
        <p:spPr>
          <a:xfrm>
            <a:off x="1217738" y="36939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2736" name="Google Shape;2736;p192"/>
          <p:cNvCxnSpPr>
            <a:stCxn id="2733" idx="4"/>
            <a:endCxn id="2730" idx="7"/>
          </p:cNvCxnSpPr>
          <p:nvPr/>
        </p:nvCxnSpPr>
        <p:spPr>
          <a:xfrm flipH="1">
            <a:off x="1347275" y="3693925"/>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2737" name="Google Shape;2737;p192"/>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192"/>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92"/>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40" name="Google Shape;2740;p192"/>
          <p:cNvCxnSpPr>
            <a:stCxn id="2733" idx="4"/>
            <a:endCxn id="2737" idx="1"/>
          </p:cNvCxnSpPr>
          <p:nvPr/>
        </p:nvCxnSpPr>
        <p:spPr>
          <a:xfrm>
            <a:off x="1730075" y="3693925"/>
            <a:ext cx="3828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41" name="Google Shape;2741;p192"/>
          <p:cNvCxnSpPr>
            <a:stCxn id="2732" idx="4"/>
            <a:endCxn id="2737" idx="1"/>
          </p:cNvCxnSpPr>
          <p:nvPr/>
        </p:nvCxnSpPr>
        <p:spPr>
          <a:xfrm>
            <a:off x="1217738" y="36939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42" name="Google Shape;2742;p192"/>
          <p:cNvCxnSpPr>
            <a:stCxn id="2738" idx="4"/>
            <a:endCxn id="2730" idx="7"/>
          </p:cNvCxnSpPr>
          <p:nvPr/>
        </p:nvCxnSpPr>
        <p:spPr>
          <a:xfrm flipH="1">
            <a:off x="1347200" y="36939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43" name="Google Shape;2743;p192"/>
          <p:cNvCxnSpPr>
            <a:stCxn id="2739" idx="4"/>
            <a:endCxn id="2737" idx="0"/>
          </p:cNvCxnSpPr>
          <p:nvPr/>
        </p:nvCxnSpPr>
        <p:spPr>
          <a:xfrm flipH="1">
            <a:off x="2242325" y="3693925"/>
            <a:ext cx="512400" cy="510300"/>
          </a:xfrm>
          <a:prstGeom prst="straightConnector1">
            <a:avLst/>
          </a:prstGeom>
          <a:noFill/>
          <a:ln cap="flat" cmpd="sng" w="19050">
            <a:solidFill>
              <a:srgbClr val="6AA84F"/>
            </a:solidFill>
            <a:prstDash val="solid"/>
            <a:round/>
            <a:headEnd len="med" w="med" type="triangle"/>
            <a:tailEnd len="med" w="med" type="none"/>
          </a:ln>
        </p:spPr>
      </p:cxnSp>
      <p:cxnSp>
        <p:nvCxnSpPr>
          <p:cNvPr id="2744" name="Google Shape;2744;p192"/>
          <p:cNvCxnSpPr>
            <a:stCxn id="2738" idx="4"/>
            <a:endCxn id="2737" idx="0"/>
          </p:cNvCxnSpPr>
          <p:nvPr/>
        </p:nvCxnSpPr>
        <p:spPr>
          <a:xfrm>
            <a:off x="2242400" y="36939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2745" name="Google Shape;2745;p192"/>
          <p:cNvCxnSpPr>
            <a:stCxn id="2731" idx="5"/>
            <a:endCxn id="2737" idx="1"/>
          </p:cNvCxnSpPr>
          <p:nvPr/>
        </p:nvCxnSpPr>
        <p:spPr>
          <a:xfrm>
            <a:off x="856526" y="3641775"/>
            <a:ext cx="1256400" cy="614700"/>
          </a:xfrm>
          <a:prstGeom prst="straightConnector1">
            <a:avLst/>
          </a:prstGeom>
          <a:noFill/>
          <a:ln cap="flat" cmpd="sng" w="19050">
            <a:solidFill>
              <a:srgbClr val="6AA84F"/>
            </a:solidFill>
            <a:prstDash val="solid"/>
            <a:round/>
            <a:headEnd len="med" w="med" type="triangle"/>
            <a:tailEnd len="med" w="med" type="none"/>
          </a:ln>
        </p:spPr>
      </p:cxnSp>
      <p:cxnSp>
        <p:nvCxnSpPr>
          <p:cNvPr id="2746" name="Google Shape;2746;p192"/>
          <p:cNvCxnSpPr>
            <a:stCxn id="2739" idx="3"/>
            <a:endCxn id="2730" idx="7"/>
          </p:cNvCxnSpPr>
          <p:nvPr/>
        </p:nvCxnSpPr>
        <p:spPr>
          <a:xfrm flipH="1">
            <a:off x="1347024" y="3641775"/>
            <a:ext cx="1278300" cy="614700"/>
          </a:xfrm>
          <a:prstGeom prst="straightConnector1">
            <a:avLst/>
          </a:prstGeom>
          <a:noFill/>
          <a:ln cap="flat" cmpd="sng" w="19050">
            <a:solidFill>
              <a:srgbClr val="6AA84F"/>
            </a:solidFill>
            <a:prstDash val="solid"/>
            <a:round/>
            <a:headEnd len="med" w="med" type="triangle"/>
            <a:tailEnd len="med" w="med" type="none"/>
          </a:ln>
        </p:spPr>
      </p:cxnSp>
      <p:sp>
        <p:nvSpPr>
          <p:cNvPr id="2747" name="Google Shape;2747;p192"/>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192"/>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192"/>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192"/>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51" name="Google Shape;2751;p192"/>
          <p:cNvCxnSpPr>
            <a:stCxn id="2748" idx="4"/>
            <a:endCxn id="2747" idx="1"/>
          </p:cNvCxnSpPr>
          <p:nvPr/>
        </p:nvCxnSpPr>
        <p:spPr>
          <a:xfrm>
            <a:off x="6419475" y="3720025"/>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52" name="Google Shape;2752;p192"/>
          <p:cNvCxnSpPr>
            <a:stCxn id="2749" idx="4"/>
            <a:endCxn id="2747" idx="0"/>
          </p:cNvCxnSpPr>
          <p:nvPr/>
        </p:nvCxnSpPr>
        <p:spPr>
          <a:xfrm>
            <a:off x="6910088" y="37200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2753" name="Google Shape;2753;p192"/>
          <p:cNvCxnSpPr>
            <a:stCxn id="2750" idx="4"/>
            <a:endCxn id="2747" idx="7"/>
          </p:cNvCxnSpPr>
          <p:nvPr/>
        </p:nvCxnSpPr>
        <p:spPr>
          <a:xfrm flipH="1">
            <a:off x="7039625" y="3720025"/>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2754" name="Google Shape;2754;p192"/>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92"/>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92"/>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57" name="Google Shape;2757;p192"/>
          <p:cNvCxnSpPr>
            <a:stCxn id="2750" idx="4"/>
            <a:endCxn id="2754" idx="1"/>
          </p:cNvCxnSpPr>
          <p:nvPr/>
        </p:nvCxnSpPr>
        <p:spPr>
          <a:xfrm>
            <a:off x="7422425" y="3720025"/>
            <a:ext cx="3828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58" name="Google Shape;2758;p192"/>
          <p:cNvCxnSpPr>
            <a:stCxn id="2749" idx="4"/>
            <a:endCxn id="2754" idx="1"/>
          </p:cNvCxnSpPr>
          <p:nvPr/>
        </p:nvCxnSpPr>
        <p:spPr>
          <a:xfrm>
            <a:off x="6910088" y="37200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59" name="Google Shape;2759;p192"/>
          <p:cNvCxnSpPr>
            <a:stCxn id="2755" idx="4"/>
            <a:endCxn id="2747" idx="7"/>
          </p:cNvCxnSpPr>
          <p:nvPr/>
        </p:nvCxnSpPr>
        <p:spPr>
          <a:xfrm flipH="1">
            <a:off x="7039550" y="37200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2760" name="Google Shape;2760;p192"/>
          <p:cNvCxnSpPr>
            <a:stCxn id="2756" idx="4"/>
            <a:endCxn id="2754" idx="0"/>
          </p:cNvCxnSpPr>
          <p:nvPr/>
        </p:nvCxnSpPr>
        <p:spPr>
          <a:xfrm flipH="1">
            <a:off x="7934675" y="3720025"/>
            <a:ext cx="512400" cy="510300"/>
          </a:xfrm>
          <a:prstGeom prst="straightConnector1">
            <a:avLst/>
          </a:prstGeom>
          <a:noFill/>
          <a:ln cap="flat" cmpd="sng" w="19050">
            <a:solidFill>
              <a:srgbClr val="6AA84F"/>
            </a:solidFill>
            <a:prstDash val="solid"/>
            <a:round/>
            <a:headEnd len="med" w="med" type="triangle"/>
            <a:tailEnd len="med" w="med" type="none"/>
          </a:ln>
        </p:spPr>
      </p:cxnSp>
      <p:cxnSp>
        <p:nvCxnSpPr>
          <p:cNvPr id="2761" name="Google Shape;2761;p192"/>
          <p:cNvCxnSpPr>
            <a:stCxn id="2755" idx="4"/>
            <a:endCxn id="2754" idx="0"/>
          </p:cNvCxnSpPr>
          <p:nvPr/>
        </p:nvCxnSpPr>
        <p:spPr>
          <a:xfrm>
            <a:off x="7934750" y="37200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2762" name="Google Shape;2762;p192"/>
          <p:cNvCxnSpPr>
            <a:stCxn id="2748" idx="5"/>
            <a:endCxn id="2754" idx="1"/>
          </p:cNvCxnSpPr>
          <p:nvPr/>
        </p:nvCxnSpPr>
        <p:spPr>
          <a:xfrm>
            <a:off x="6548876" y="3667875"/>
            <a:ext cx="1256400" cy="614700"/>
          </a:xfrm>
          <a:prstGeom prst="straightConnector1">
            <a:avLst/>
          </a:prstGeom>
          <a:noFill/>
          <a:ln cap="flat" cmpd="sng" w="19050">
            <a:solidFill>
              <a:srgbClr val="6AA84F"/>
            </a:solidFill>
            <a:prstDash val="solid"/>
            <a:round/>
            <a:headEnd len="med" w="med" type="triangle"/>
            <a:tailEnd len="med" w="med" type="none"/>
          </a:ln>
        </p:spPr>
      </p:cxnSp>
      <p:cxnSp>
        <p:nvCxnSpPr>
          <p:cNvPr id="2763" name="Google Shape;2763;p192"/>
          <p:cNvCxnSpPr>
            <a:stCxn id="2756" idx="3"/>
            <a:endCxn id="2747" idx="7"/>
          </p:cNvCxnSpPr>
          <p:nvPr/>
        </p:nvCxnSpPr>
        <p:spPr>
          <a:xfrm flipH="1">
            <a:off x="7039374" y="3667875"/>
            <a:ext cx="1278300" cy="614700"/>
          </a:xfrm>
          <a:prstGeom prst="straightConnector1">
            <a:avLst/>
          </a:prstGeom>
          <a:noFill/>
          <a:ln cap="flat" cmpd="sng" w="19050">
            <a:solidFill>
              <a:srgbClr val="6AA84F"/>
            </a:solidFill>
            <a:prstDash val="solid"/>
            <a:round/>
            <a:headEnd len="med" w="med" type="triangle"/>
            <a:tailEnd len="med" w="med" type="none"/>
          </a:ln>
        </p:spPr>
      </p:cxnSp>
      <p:cxnSp>
        <p:nvCxnSpPr>
          <p:cNvPr id="2764" name="Google Shape;2764;p192"/>
          <p:cNvCxnSpPr>
            <a:stCxn id="2747" idx="6"/>
            <a:endCxn id="2754"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2765" name="Google Shape;2765;p192"/>
          <p:cNvCxnSpPr>
            <a:stCxn id="2754" idx="3"/>
            <a:endCxn id="2747"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2766" name="Google Shape;2766;p192"/>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AA84F"/>
                </a:solidFill>
                <a:latin typeface="Open Sans"/>
                <a:ea typeface="Open Sans"/>
                <a:cs typeface="Open Sans"/>
                <a:sym typeface="Open Sans"/>
              </a:rPr>
              <a:t>Cool kids stick together!</a:t>
            </a:r>
            <a:endParaRPr b="1">
              <a:solidFill>
                <a:srgbClr val="6AA84F"/>
              </a:solidFill>
              <a:latin typeface="Open Sans"/>
              <a:ea typeface="Open Sans"/>
              <a:cs typeface="Open Sans"/>
              <a:sym typeface="Open San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0" name="Shape 2770"/>
        <p:cNvGrpSpPr/>
        <p:nvPr/>
      </p:nvGrpSpPr>
      <p:grpSpPr>
        <a:xfrm>
          <a:off x="0" y="0"/>
          <a:ext cx="0" cy="0"/>
          <a:chOff x="0" y="0"/>
          <a:chExt cx="0" cy="0"/>
        </a:xfrm>
      </p:grpSpPr>
      <p:sp>
        <p:nvSpPr>
          <p:cNvPr id="2771" name="Google Shape;2771;p19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Dominance orders among animals </a:t>
            </a:r>
            <a:endParaRPr/>
          </a:p>
        </p:txBody>
      </p:sp>
      <p:sp>
        <p:nvSpPr>
          <p:cNvPr id="2772" name="Google Shape;2772;p193"/>
          <p:cNvSpPr txBox="1"/>
          <p:nvPr>
            <p:ph idx="1" type="body"/>
          </p:nvPr>
        </p:nvSpPr>
        <p:spPr>
          <a:xfrm>
            <a:off x="311700" y="1225225"/>
            <a:ext cx="4327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hierarchies:</a:t>
            </a:r>
            <a:endParaRPr/>
          </a:p>
          <a:p>
            <a:pPr indent="-317500" lvl="1" marL="914400" rtl="0" algn="l">
              <a:spcBef>
                <a:spcPts val="0"/>
              </a:spcBef>
              <a:spcAft>
                <a:spcPts val="0"/>
              </a:spcAft>
              <a:buSzPts val="1400"/>
              <a:buChar char="○"/>
            </a:pPr>
            <a:r>
              <a:rPr lang="en"/>
              <a:t>Observed across a number of </a:t>
            </a:r>
            <a:r>
              <a:rPr lang="en"/>
              <a:t>sp</a:t>
            </a:r>
            <a:r>
              <a:rPr lang="en"/>
              <a:t>ecies in the animal kingdom</a:t>
            </a:r>
            <a:endParaRPr/>
          </a:p>
          <a:p>
            <a:pPr indent="-317500" lvl="1" marL="914400" rtl="0" algn="l">
              <a:spcBef>
                <a:spcPts val="0"/>
              </a:spcBef>
              <a:spcAft>
                <a:spcPts val="0"/>
              </a:spcAft>
              <a:buSzPts val="1400"/>
              <a:buChar char="○"/>
            </a:pPr>
            <a:r>
              <a:rPr lang="en"/>
              <a:t>Including (most notably) among chickens</a:t>
            </a:r>
            <a:endParaRPr/>
          </a:p>
          <a:p>
            <a:pPr indent="-317500" lvl="1" marL="914400" rtl="0" algn="l">
              <a:spcBef>
                <a:spcPts val="0"/>
              </a:spcBef>
              <a:spcAft>
                <a:spcPts val="0"/>
              </a:spcAft>
              <a:buClr>
                <a:srgbClr val="FF0000"/>
              </a:buClr>
              <a:buSzPts val="1400"/>
              <a:buChar char="○"/>
            </a:pPr>
            <a:r>
              <a:rPr lang="en">
                <a:solidFill>
                  <a:srgbClr val="FF0000"/>
                </a:solidFill>
              </a:rPr>
              <a:t>You do not need a big brain to create a (complex) social network!</a:t>
            </a:r>
            <a:endParaRPr>
              <a:solidFill>
                <a:srgbClr val="FF0000"/>
              </a:solidFill>
            </a:endParaRPr>
          </a:p>
          <a:p>
            <a:pPr indent="-342900" lvl="0" marL="457200" rtl="0" algn="l">
              <a:spcBef>
                <a:spcPts val="0"/>
              </a:spcBef>
              <a:spcAft>
                <a:spcPts val="0"/>
              </a:spcAft>
              <a:buClr>
                <a:srgbClr val="434343"/>
              </a:buClr>
              <a:buSzPts val="1800"/>
              <a:buChar char="●"/>
            </a:pPr>
            <a:r>
              <a:rPr lang="en">
                <a:solidFill>
                  <a:srgbClr val="434343"/>
                </a:solidFill>
              </a:rPr>
              <a:t>“Pure” dominance order:</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Directed</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A dominates B</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Anti-symmetric</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If A dominates B then B </a:t>
            </a:r>
            <a:r>
              <a:rPr b="1" lang="en">
                <a:solidFill>
                  <a:srgbClr val="434343"/>
                </a:solidFill>
              </a:rPr>
              <a:t>cannot </a:t>
            </a:r>
            <a:r>
              <a:rPr lang="en">
                <a:solidFill>
                  <a:srgbClr val="434343"/>
                </a:solidFill>
              </a:rPr>
              <a:t>dominate A</a:t>
            </a:r>
            <a:endParaRPr>
              <a:solidFill>
                <a:srgbClr val="434343"/>
              </a:solidFill>
            </a:endParaRPr>
          </a:p>
        </p:txBody>
      </p:sp>
      <p:pic>
        <p:nvPicPr>
          <p:cNvPr id="2773" name="Google Shape;2773;p193"/>
          <p:cNvPicPr preferRelativeResize="0"/>
          <p:nvPr/>
        </p:nvPicPr>
        <p:blipFill>
          <a:blip r:embed="rId3">
            <a:alphaModFix/>
          </a:blip>
          <a:stretch>
            <a:fillRect/>
          </a:stretch>
        </p:blipFill>
        <p:spPr>
          <a:xfrm>
            <a:off x="4692675" y="1225225"/>
            <a:ext cx="4327500" cy="3337304"/>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7" name="Shape 2777"/>
        <p:cNvGrpSpPr/>
        <p:nvPr/>
      </p:nvGrpSpPr>
      <p:grpSpPr>
        <a:xfrm>
          <a:off x="0" y="0"/>
          <a:ext cx="0" cy="0"/>
          <a:chOff x="0" y="0"/>
          <a:chExt cx="0" cy="0"/>
        </a:xfrm>
      </p:grpSpPr>
      <p:sp>
        <p:nvSpPr>
          <p:cNvPr id="2778" name="Google Shape;2778;p19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Dominance orders among animals </a:t>
            </a:r>
            <a:endParaRPr/>
          </a:p>
        </p:txBody>
      </p:sp>
      <p:sp>
        <p:nvSpPr>
          <p:cNvPr id="2779" name="Google Shape;2779;p194"/>
          <p:cNvSpPr txBox="1"/>
          <p:nvPr>
            <p:ph idx="1" type="body"/>
          </p:nvPr>
        </p:nvSpPr>
        <p:spPr>
          <a:xfrm>
            <a:off x="311700" y="1225225"/>
            <a:ext cx="4327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hierarchies:</a:t>
            </a:r>
            <a:endParaRPr/>
          </a:p>
          <a:p>
            <a:pPr indent="-317500" lvl="1" marL="914400" rtl="0" algn="l">
              <a:spcBef>
                <a:spcPts val="0"/>
              </a:spcBef>
              <a:spcAft>
                <a:spcPts val="0"/>
              </a:spcAft>
              <a:buSzPts val="1400"/>
              <a:buChar char="○"/>
            </a:pPr>
            <a:r>
              <a:rPr lang="en"/>
              <a:t>Observed across a number of </a:t>
            </a:r>
            <a:r>
              <a:rPr lang="en"/>
              <a:t>sp</a:t>
            </a:r>
            <a:r>
              <a:rPr lang="en"/>
              <a:t>ecies in the animal kingdom</a:t>
            </a:r>
            <a:endParaRPr/>
          </a:p>
          <a:p>
            <a:pPr indent="-317500" lvl="1" marL="914400" rtl="0" algn="l">
              <a:spcBef>
                <a:spcPts val="0"/>
              </a:spcBef>
              <a:spcAft>
                <a:spcPts val="0"/>
              </a:spcAft>
              <a:buSzPts val="1400"/>
              <a:buChar char="○"/>
            </a:pPr>
            <a:r>
              <a:rPr lang="en"/>
              <a:t>Including (most notably) among chickens</a:t>
            </a:r>
            <a:endParaRPr/>
          </a:p>
          <a:p>
            <a:pPr indent="-317500" lvl="1" marL="914400" rtl="0" algn="l">
              <a:spcBef>
                <a:spcPts val="0"/>
              </a:spcBef>
              <a:spcAft>
                <a:spcPts val="0"/>
              </a:spcAft>
              <a:buClr>
                <a:srgbClr val="FF0000"/>
              </a:buClr>
              <a:buSzPts val="1400"/>
              <a:buChar char="○"/>
            </a:pPr>
            <a:r>
              <a:rPr lang="en">
                <a:solidFill>
                  <a:srgbClr val="FF0000"/>
                </a:solidFill>
              </a:rPr>
              <a:t>You do not need a big brain to create a (complex) social network!</a:t>
            </a:r>
            <a:endParaRPr>
              <a:solidFill>
                <a:srgbClr val="FF0000"/>
              </a:solidFill>
            </a:endParaRPr>
          </a:p>
          <a:p>
            <a:pPr indent="-342900" lvl="0" marL="457200" rtl="0" algn="l">
              <a:spcBef>
                <a:spcPts val="0"/>
              </a:spcBef>
              <a:spcAft>
                <a:spcPts val="0"/>
              </a:spcAft>
              <a:buClr>
                <a:srgbClr val="434343"/>
              </a:buClr>
              <a:buSzPts val="1800"/>
              <a:buChar char="●"/>
            </a:pPr>
            <a:r>
              <a:rPr lang="en">
                <a:solidFill>
                  <a:srgbClr val="434343"/>
                </a:solidFill>
              </a:rPr>
              <a:t>“Pure” dominance order:</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Complete (all ties present)</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Either A dominates B or B dominates A</a:t>
            </a:r>
            <a:endParaRPr>
              <a:solidFill>
                <a:srgbClr val="434343"/>
              </a:solidFill>
            </a:endParaRPr>
          </a:p>
          <a:p>
            <a:pPr indent="0" lvl="0" marL="914400" rtl="0" algn="l">
              <a:spcBef>
                <a:spcPts val="0"/>
              </a:spcBef>
              <a:spcAft>
                <a:spcPts val="0"/>
              </a:spcAft>
              <a:buNone/>
            </a:pPr>
            <a:r>
              <a:t/>
            </a:r>
            <a:endParaRPr>
              <a:solidFill>
                <a:srgbClr val="434343"/>
              </a:solidFill>
            </a:endParaRPr>
          </a:p>
        </p:txBody>
      </p:sp>
      <p:pic>
        <p:nvPicPr>
          <p:cNvPr id="2780" name="Google Shape;2780;p194"/>
          <p:cNvPicPr preferRelativeResize="0"/>
          <p:nvPr/>
        </p:nvPicPr>
        <p:blipFill>
          <a:blip r:embed="rId3">
            <a:alphaModFix/>
          </a:blip>
          <a:stretch>
            <a:fillRect/>
          </a:stretch>
        </p:blipFill>
        <p:spPr>
          <a:xfrm>
            <a:off x="4692675" y="1225225"/>
            <a:ext cx="4327500" cy="333730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4" name="Shape 2784"/>
        <p:cNvGrpSpPr/>
        <p:nvPr/>
      </p:nvGrpSpPr>
      <p:grpSpPr>
        <a:xfrm>
          <a:off x="0" y="0"/>
          <a:ext cx="0" cy="0"/>
          <a:chOff x="0" y="0"/>
          <a:chExt cx="0" cy="0"/>
        </a:xfrm>
      </p:grpSpPr>
      <p:sp>
        <p:nvSpPr>
          <p:cNvPr id="2785" name="Google Shape;2785;p19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Dominance orders among animals </a:t>
            </a:r>
            <a:endParaRPr/>
          </a:p>
        </p:txBody>
      </p:sp>
      <p:sp>
        <p:nvSpPr>
          <p:cNvPr id="2786" name="Google Shape;2786;p195"/>
          <p:cNvSpPr txBox="1"/>
          <p:nvPr>
            <p:ph idx="1" type="body"/>
          </p:nvPr>
        </p:nvSpPr>
        <p:spPr>
          <a:xfrm>
            <a:off x="311700" y="1225225"/>
            <a:ext cx="4327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hierarchies:</a:t>
            </a:r>
            <a:endParaRPr/>
          </a:p>
          <a:p>
            <a:pPr indent="-317500" lvl="1" marL="914400" rtl="0" algn="l">
              <a:spcBef>
                <a:spcPts val="0"/>
              </a:spcBef>
              <a:spcAft>
                <a:spcPts val="0"/>
              </a:spcAft>
              <a:buSzPts val="1400"/>
              <a:buChar char="○"/>
            </a:pPr>
            <a:r>
              <a:rPr lang="en"/>
              <a:t>Observed across a number of </a:t>
            </a:r>
            <a:r>
              <a:rPr lang="en"/>
              <a:t>sp</a:t>
            </a:r>
            <a:r>
              <a:rPr lang="en"/>
              <a:t>ecies in the animal kingdom</a:t>
            </a:r>
            <a:endParaRPr/>
          </a:p>
          <a:p>
            <a:pPr indent="-317500" lvl="1" marL="914400" rtl="0" algn="l">
              <a:spcBef>
                <a:spcPts val="0"/>
              </a:spcBef>
              <a:spcAft>
                <a:spcPts val="0"/>
              </a:spcAft>
              <a:buSzPts val="1400"/>
              <a:buChar char="○"/>
            </a:pPr>
            <a:r>
              <a:rPr lang="en"/>
              <a:t>Including (most notably) among chickens</a:t>
            </a:r>
            <a:endParaRPr/>
          </a:p>
          <a:p>
            <a:pPr indent="-317500" lvl="1" marL="914400" rtl="0" algn="l">
              <a:spcBef>
                <a:spcPts val="0"/>
              </a:spcBef>
              <a:spcAft>
                <a:spcPts val="0"/>
              </a:spcAft>
              <a:buClr>
                <a:srgbClr val="FF0000"/>
              </a:buClr>
              <a:buSzPts val="1400"/>
              <a:buChar char="○"/>
            </a:pPr>
            <a:r>
              <a:rPr lang="en">
                <a:solidFill>
                  <a:srgbClr val="FF0000"/>
                </a:solidFill>
              </a:rPr>
              <a:t>You do not need a big brain to create a (complex) social network!</a:t>
            </a:r>
            <a:endParaRPr>
              <a:solidFill>
                <a:srgbClr val="FF0000"/>
              </a:solidFill>
            </a:endParaRPr>
          </a:p>
          <a:p>
            <a:pPr indent="-342900" lvl="0" marL="457200" rtl="0" algn="l">
              <a:spcBef>
                <a:spcPts val="0"/>
              </a:spcBef>
              <a:spcAft>
                <a:spcPts val="0"/>
              </a:spcAft>
              <a:buClr>
                <a:srgbClr val="434343"/>
              </a:buClr>
              <a:buSzPts val="1800"/>
              <a:buChar char="●"/>
            </a:pPr>
            <a:r>
              <a:rPr lang="en">
                <a:solidFill>
                  <a:srgbClr val="434343"/>
                </a:solidFill>
              </a:rPr>
              <a:t>“Pure” dominance order:</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Transitive (all ties present)</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If A dominates B, and B dominates C, then by necessity A dominates C</a:t>
            </a:r>
            <a:endParaRPr>
              <a:solidFill>
                <a:srgbClr val="434343"/>
              </a:solidFill>
            </a:endParaRPr>
          </a:p>
          <a:p>
            <a:pPr indent="0" lvl="0" marL="914400" rtl="0" algn="l">
              <a:spcBef>
                <a:spcPts val="0"/>
              </a:spcBef>
              <a:spcAft>
                <a:spcPts val="0"/>
              </a:spcAft>
              <a:buNone/>
            </a:pPr>
            <a:r>
              <a:t/>
            </a:r>
            <a:endParaRPr>
              <a:solidFill>
                <a:srgbClr val="434343"/>
              </a:solidFill>
            </a:endParaRPr>
          </a:p>
        </p:txBody>
      </p:sp>
      <p:pic>
        <p:nvPicPr>
          <p:cNvPr id="2787" name="Google Shape;2787;p195"/>
          <p:cNvPicPr preferRelativeResize="0"/>
          <p:nvPr/>
        </p:nvPicPr>
        <p:blipFill>
          <a:blip r:embed="rId3">
            <a:alphaModFix/>
          </a:blip>
          <a:stretch>
            <a:fillRect/>
          </a:stretch>
        </p:blipFill>
        <p:spPr>
          <a:xfrm>
            <a:off x="4692675" y="1225225"/>
            <a:ext cx="4327500" cy="3337304"/>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1" name="Shape 2791"/>
        <p:cNvGrpSpPr/>
        <p:nvPr/>
      </p:nvGrpSpPr>
      <p:grpSpPr>
        <a:xfrm>
          <a:off x="0" y="0"/>
          <a:ext cx="0" cy="0"/>
          <a:chOff x="0" y="0"/>
          <a:chExt cx="0" cy="0"/>
        </a:xfrm>
      </p:grpSpPr>
      <p:sp>
        <p:nvSpPr>
          <p:cNvPr id="2792" name="Google Shape;2792;p19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Algebraic Requirements for Dominance Order</a:t>
            </a:r>
            <a:endParaRPr/>
          </a:p>
        </p:txBody>
      </p:sp>
      <p:sp>
        <p:nvSpPr>
          <p:cNvPr id="2793" name="Google Shape;2793;p196"/>
          <p:cNvSpPr txBox="1"/>
          <p:nvPr/>
        </p:nvSpPr>
        <p:spPr>
          <a:xfrm>
            <a:off x="4572000" y="1343200"/>
            <a:ext cx="4214700" cy="1317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Economica"/>
              <a:buChar char="●"/>
            </a:pPr>
            <a:r>
              <a:rPr lang="en" sz="1800">
                <a:latin typeface="Economica"/>
                <a:ea typeface="Economica"/>
                <a:cs typeface="Economica"/>
                <a:sym typeface="Economica"/>
              </a:rPr>
              <a:t>A linear dominance order is </a:t>
            </a:r>
            <a:r>
              <a:rPr b="1" lang="en" sz="1800">
                <a:solidFill>
                  <a:srgbClr val="FF0000"/>
                </a:solidFill>
                <a:latin typeface="Economica"/>
                <a:ea typeface="Economica"/>
                <a:cs typeface="Economica"/>
                <a:sym typeface="Economica"/>
              </a:rPr>
              <a:t>transitive</a:t>
            </a:r>
            <a:endParaRPr sz="1800">
              <a:latin typeface="Economica"/>
              <a:ea typeface="Economica"/>
              <a:cs typeface="Economica"/>
              <a:sym typeface="Economica"/>
            </a:endParaRPr>
          </a:p>
          <a:p>
            <a:pPr indent="-342900" lvl="0" marL="457200" rtl="0" algn="l">
              <a:spcBef>
                <a:spcPts val="0"/>
              </a:spcBef>
              <a:spcAft>
                <a:spcPts val="0"/>
              </a:spcAft>
              <a:buClr>
                <a:srgbClr val="000000"/>
              </a:buClr>
              <a:buSzPts val="1800"/>
              <a:buFont typeface="Economica"/>
              <a:buChar char="●"/>
            </a:pPr>
            <a:r>
              <a:rPr lang="en" sz="1800">
                <a:solidFill>
                  <a:srgbClr val="000000"/>
                </a:solidFill>
                <a:latin typeface="Economica"/>
                <a:ea typeface="Economica"/>
                <a:cs typeface="Economica"/>
                <a:sym typeface="Economica"/>
              </a:rPr>
              <a:t>Transitivity is a relation between node triples</a:t>
            </a:r>
            <a:endParaRPr sz="1800">
              <a:latin typeface="Economica"/>
              <a:ea typeface="Economica"/>
              <a:cs typeface="Economica"/>
              <a:sym typeface="Economica"/>
            </a:endParaRPr>
          </a:p>
          <a:p>
            <a:pPr indent="-342900" lvl="1" marL="914400" marR="0" rtl="0" algn="l">
              <a:lnSpc>
                <a:spcPct val="100000"/>
              </a:lnSpc>
              <a:spcBef>
                <a:spcPts val="0"/>
              </a:spcBef>
              <a:spcAft>
                <a:spcPts val="0"/>
              </a:spcAft>
              <a:buClr>
                <a:srgbClr val="000000"/>
              </a:buClr>
              <a:buSzPts val="1800"/>
              <a:buFont typeface="Economica"/>
              <a:buChar char="○"/>
            </a:pPr>
            <a:r>
              <a:rPr lang="en" sz="1800">
                <a:latin typeface="Economica"/>
                <a:ea typeface="Economica"/>
                <a:cs typeface="Economica"/>
                <a:sym typeface="Economica"/>
              </a:rPr>
              <a:t>If a has dominates  b, and b dominates c</a:t>
            </a:r>
            <a:endParaRPr sz="1800">
              <a:latin typeface="Economica"/>
              <a:ea typeface="Economica"/>
              <a:cs typeface="Economica"/>
              <a:sym typeface="Economica"/>
            </a:endParaRPr>
          </a:p>
          <a:p>
            <a:pPr indent="-342900" lvl="1" marL="914400" rtl="0" algn="l">
              <a:spcBef>
                <a:spcPts val="0"/>
              </a:spcBef>
              <a:spcAft>
                <a:spcPts val="0"/>
              </a:spcAft>
              <a:buSzPts val="1800"/>
              <a:buFont typeface="Economica"/>
              <a:buChar char="○"/>
            </a:pPr>
            <a:r>
              <a:rPr lang="en" sz="1800">
                <a:latin typeface="Economica"/>
                <a:ea typeface="Economica"/>
                <a:cs typeface="Economica"/>
                <a:sym typeface="Economica"/>
              </a:rPr>
              <a:t>Then a </a:t>
            </a:r>
            <a:r>
              <a:rPr b="1" lang="en" sz="1800">
                <a:latin typeface="Economica"/>
                <a:ea typeface="Economica"/>
                <a:cs typeface="Economica"/>
                <a:sym typeface="Economica"/>
              </a:rPr>
              <a:t>necessarily </a:t>
            </a:r>
            <a:r>
              <a:rPr lang="en" sz="1800">
                <a:latin typeface="Economica"/>
                <a:ea typeface="Economica"/>
                <a:cs typeface="Economica"/>
                <a:sym typeface="Economica"/>
              </a:rPr>
              <a:t>dominates c</a:t>
            </a:r>
            <a:endParaRPr sz="1800">
              <a:latin typeface="Economica"/>
              <a:ea typeface="Economica"/>
              <a:cs typeface="Economica"/>
              <a:sym typeface="Economica"/>
            </a:endParaRPr>
          </a:p>
          <a:p>
            <a:pPr indent="0" lvl="0" marL="457200" rtl="0" algn="l">
              <a:spcBef>
                <a:spcPts val="0"/>
              </a:spcBef>
              <a:spcAft>
                <a:spcPts val="0"/>
              </a:spcAft>
              <a:buNone/>
            </a:pPr>
            <a:r>
              <a:t/>
            </a:r>
            <a:endParaRPr sz="1800">
              <a:latin typeface="Economica"/>
              <a:ea typeface="Economica"/>
              <a:cs typeface="Economica"/>
              <a:sym typeface="Economica"/>
            </a:endParaRPr>
          </a:p>
          <a:p>
            <a:pPr indent="0" lvl="0" marL="1371600" rtl="0" algn="l">
              <a:spcBef>
                <a:spcPts val="0"/>
              </a:spcBef>
              <a:spcAft>
                <a:spcPts val="0"/>
              </a:spcAft>
              <a:buNone/>
            </a:pPr>
            <a:r>
              <a:t/>
            </a:r>
            <a:endParaRPr sz="1800">
              <a:latin typeface="Economica"/>
              <a:ea typeface="Economica"/>
              <a:cs typeface="Economica"/>
              <a:sym typeface="Economica"/>
            </a:endParaRPr>
          </a:p>
        </p:txBody>
      </p:sp>
      <p:grpSp>
        <p:nvGrpSpPr>
          <p:cNvPr id="2794" name="Google Shape;2794;p196"/>
          <p:cNvGrpSpPr/>
          <p:nvPr/>
        </p:nvGrpSpPr>
        <p:grpSpPr>
          <a:xfrm>
            <a:off x="6672775" y="2881150"/>
            <a:ext cx="1647600" cy="1580100"/>
            <a:chOff x="6494400" y="3563400"/>
            <a:chExt cx="1647600" cy="1580100"/>
          </a:xfrm>
        </p:grpSpPr>
        <p:sp>
          <p:nvSpPr>
            <p:cNvPr id="2795" name="Google Shape;2795;p196"/>
            <p:cNvSpPr/>
            <p:nvPr/>
          </p:nvSpPr>
          <p:spPr>
            <a:xfrm>
              <a:off x="6494400" y="3563400"/>
              <a:ext cx="1647600" cy="1580100"/>
            </a:xfrm>
            <a:prstGeom prst="ellipse">
              <a:avLst/>
            </a:prstGeom>
            <a:noFill/>
            <a:ln cap="flat" cmpd="sng" w="285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96"/>
            <p:cNvSpPr/>
            <p:nvPr/>
          </p:nvSpPr>
          <p:spPr>
            <a:xfrm>
              <a:off x="66730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2797" name="Google Shape;2797;p196"/>
            <p:cNvSpPr/>
            <p:nvPr/>
          </p:nvSpPr>
          <p:spPr>
            <a:xfrm>
              <a:off x="75727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2798" name="Google Shape;2798;p196"/>
            <p:cNvSpPr/>
            <p:nvPr/>
          </p:nvSpPr>
          <p:spPr>
            <a:xfrm>
              <a:off x="7122900" y="4638375"/>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cxnSp>
          <p:nvCxnSpPr>
            <p:cNvPr id="2799" name="Google Shape;2799;p196"/>
            <p:cNvCxnSpPr>
              <a:stCxn id="2796" idx="6"/>
              <a:endCxn id="2797" idx="2"/>
            </p:cNvCxnSpPr>
            <p:nvPr/>
          </p:nvCxnSpPr>
          <p:spPr>
            <a:xfrm>
              <a:off x="7063650" y="4136600"/>
              <a:ext cx="509100" cy="0"/>
            </a:xfrm>
            <a:prstGeom prst="straightConnector1">
              <a:avLst/>
            </a:prstGeom>
            <a:noFill/>
            <a:ln cap="flat" cmpd="sng" w="19050">
              <a:solidFill>
                <a:srgbClr val="FF0000"/>
              </a:solidFill>
              <a:prstDash val="solid"/>
              <a:round/>
              <a:headEnd len="med" w="med" type="none"/>
              <a:tailEnd len="med" w="med" type="stealth"/>
            </a:ln>
          </p:spPr>
        </p:cxnSp>
        <p:cxnSp>
          <p:nvCxnSpPr>
            <p:cNvPr id="2800" name="Google Shape;2800;p196"/>
            <p:cNvCxnSpPr>
              <a:stCxn id="2797" idx="3"/>
              <a:endCxn id="2798" idx="0"/>
            </p:cNvCxnSpPr>
            <p:nvPr/>
          </p:nvCxnSpPr>
          <p:spPr>
            <a:xfrm flipH="1">
              <a:off x="7318252" y="4266955"/>
              <a:ext cx="311700" cy="371400"/>
            </a:xfrm>
            <a:prstGeom prst="straightConnector1">
              <a:avLst/>
            </a:prstGeom>
            <a:noFill/>
            <a:ln cap="flat" cmpd="sng" w="19050">
              <a:solidFill>
                <a:srgbClr val="FF0000"/>
              </a:solidFill>
              <a:prstDash val="solid"/>
              <a:round/>
              <a:headEnd len="med" w="med" type="none"/>
              <a:tailEnd len="med" w="med" type="stealth"/>
            </a:ln>
          </p:spPr>
        </p:cxnSp>
        <p:cxnSp>
          <p:nvCxnSpPr>
            <p:cNvPr id="2801" name="Google Shape;2801;p196"/>
            <p:cNvCxnSpPr>
              <a:stCxn id="2796" idx="4"/>
              <a:endCxn id="2798" idx="0"/>
            </p:cNvCxnSpPr>
            <p:nvPr/>
          </p:nvCxnSpPr>
          <p:spPr>
            <a:xfrm>
              <a:off x="6868350" y="4320950"/>
              <a:ext cx="450000" cy="317400"/>
            </a:xfrm>
            <a:prstGeom prst="straightConnector1">
              <a:avLst/>
            </a:prstGeom>
            <a:noFill/>
            <a:ln cap="flat" cmpd="sng" w="19050">
              <a:solidFill>
                <a:srgbClr val="FF0000"/>
              </a:solidFill>
              <a:prstDash val="solid"/>
              <a:round/>
              <a:headEnd len="med" w="med" type="none"/>
              <a:tailEnd len="med" w="med" type="stealth"/>
            </a:ln>
          </p:spPr>
        </p:cxnSp>
      </p:grpSp>
      <p:sp>
        <p:nvSpPr>
          <p:cNvPr id="2802" name="Google Shape;2802;p196"/>
          <p:cNvSpPr txBox="1"/>
          <p:nvPr/>
        </p:nvSpPr>
        <p:spPr>
          <a:xfrm rot="-1409">
            <a:off x="5124250" y="4270791"/>
            <a:ext cx="1464000" cy="3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This arc has to exist!</a:t>
            </a:r>
            <a:endParaRPr b="1">
              <a:latin typeface="Economica"/>
              <a:ea typeface="Economica"/>
              <a:cs typeface="Economica"/>
              <a:sym typeface="Economica"/>
            </a:endParaRPr>
          </a:p>
        </p:txBody>
      </p:sp>
      <p:cxnSp>
        <p:nvCxnSpPr>
          <p:cNvPr id="2803" name="Google Shape;2803;p196"/>
          <p:cNvCxnSpPr>
            <a:stCxn id="2802" idx="3"/>
          </p:cNvCxnSpPr>
          <p:nvPr/>
        </p:nvCxnSpPr>
        <p:spPr>
          <a:xfrm flipH="1" rot="10800000">
            <a:off x="6588250" y="3875091"/>
            <a:ext cx="562200" cy="549300"/>
          </a:xfrm>
          <a:prstGeom prst="straightConnector1">
            <a:avLst/>
          </a:prstGeom>
          <a:noFill/>
          <a:ln cap="flat" cmpd="sng" w="19050">
            <a:solidFill>
              <a:schemeClr val="dk2"/>
            </a:solidFill>
            <a:prstDash val="solid"/>
            <a:round/>
            <a:headEnd len="med" w="med" type="none"/>
            <a:tailEnd len="med" w="med" type="triangle"/>
          </a:ln>
        </p:spPr>
      </p:cxnSp>
      <p:sp>
        <p:nvSpPr>
          <p:cNvPr id="2804" name="Google Shape;2804;p196"/>
          <p:cNvSpPr txBox="1"/>
          <p:nvPr/>
        </p:nvSpPr>
        <p:spPr>
          <a:xfrm>
            <a:off x="6672775" y="4579225"/>
            <a:ext cx="1647600" cy="30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Transitive Triad</a:t>
            </a:r>
            <a:endParaRPr sz="1800">
              <a:latin typeface="Economica"/>
              <a:ea typeface="Economica"/>
              <a:cs typeface="Economica"/>
              <a:sym typeface="Economica"/>
            </a:endParaRPr>
          </a:p>
        </p:txBody>
      </p:sp>
      <p:pic>
        <p:nvPicPr>
          <p:cNvPr id="2805" name="Google Shape;2805;p196"/>
          <p:cNvPicPr preferRelativeResize="0"/>
          <p:nvPr/>
        </p:nvPicPr>
        <p:blipFill>
          <a:blip r:embed="rId3">
            <a:alphaModFix/>
          </a:blip>
          <a:stretch>
            <a:fillRect/>
          </a:stretch>
        </p:blipFill>
        <p:spPr>
          <a:xfrm>
            <a:off x="152400" y="1299625"/>
            <a:ext cx="4267197" cy="3319163"/>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9" name="Shape 2809"/>
        <p:cNvGrpSpPr/>
        <p:nvPr/>
      </p:nvGrpSpPr>
      <p:grpSpPr>
        <a:xfrm>
          <a:off x="0" y="0"/>
          <a:ext cx="0" cy="0"/>
          <a:chOff x="0" y="0"/>
          <a:chExt cx="0" cy="0"/>
        </a:xfrm>
      </p:grpSpPr>
      <p:sp>
        <p:nvSpPr>
          <p:cNvPr id="2810" name="Google Shape;2810;p19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Algebraic Requirements for Dominance Order</a:t>
            </a:r>
            <a:endParaRPr/>
          </a:p>
        </p:txBody>
      </p:sp>
      <p:sp>
        <p:nvSpPr>
          <p:cNvPr id="2811" name="Google Shape;2811;p197"/>
          <p:cNvSpPr txBox="1"/>
          <p:nvPr/>
        </p:nvSpPr>
        <p:spPr>
          <a:xfrm>
            <a:off x="4572000" y="1343201"/>
            <a:ext cx="4214700" cy="158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Economica"/>
              <a:buChar char="●"/>
            </a:pPr>
            <a:r>
              <a:rPr lang="en" sz="1800">
                <a:latin typeface="Economica"/>
                <a:ea typeface="Economica"/>
                <a:cs typeface="Economica"/>
                <a:sym typeface="Economica"/>
              </a:rPr>
              <a:t>A linear dominance order contains no </a:t>
            </a:r>
            <a:r>
              <a:rPr b="1" lang="en" sz="1800">
                <a:solidFill>
                  <a:srgbClr val="FF0000"/>
                </a:solidFill>
                <a:latin typeface="Economica"/>
                <a:ea typeface="Economica"/>
                <a:cs typeface="Economica"/>
                <a:sym typeface="Economica"/>
              </a:rPr>
              <a:t>cyclical</a:t>
            </a:r>
            <a:r>
              <a:rPr lang="en" sz="1800">
                <a:latin typeface="Economica"/>
                <a:ea typeface="Economica"/>
                <a:cs typeface="Economica"/>
                <a:sym typeface="Economica"/>
              </a:rPr>
              <a:t> triads</a:t>
            </a:r>
            <a:endParaRPr sz="1800">
              <a:latin typeface="Economica"/>
              <a:ea typeface="Economica"/>
              <a:cs typeface="Economica"/>
              <a:sym typeface="Economica"/>
            </a:endParaRPr>
          </a:p>
          <a:p>
            <a:pPr indent="-342900" lvl="1" marL="914400" marR="0" rtl="0" algn="l">
              <a:lnSpc>
                <a:spcPct val="100000"/>
              </a:lnSpc>
              <a:spcBef>
                <a:spcPts val="0"/>
              </a:spcBef>
              <a:spcAft>
                <a:spcPts val="0"/>
              </a:spcAft>
              <a:buSzPts val="1800"/>
              <a:buFont typeface="Economica"/>
              <a:buChar char="○"/>
            </a:pPr>
            <a:r>
              <a:rPr lang="en" sz="1800">
                <a:latin typeface="Economica"/>
                <a:ea typeface="Economica"/>
                <a:cs typeface="Economica"/>
                <a:sym typeface="Economica"/>
              </a:rPr>
              <a:t>Flashback: </a:t>
            </a:r>
            <a:r>
              <a:rPr b="1" lang="en" sz="1800">
                <a:latin typeface="Economica"/>
                <a:ea typeface="Economica"/>
                <a:cs typeface="Economica"/>
                <a:sym typeface="Economica"/>
              </a:rPr>
              <a:t>A cycle is a path that begins and ends with the same node</a:t>
            </a:r>
            <a:endParaRPr b="1" sz="1800">
              <a:latin typeface="Economica"/>
              <a:ea typeface="Economica"/>
              <a:cs typeface="Economica"/>
              <a:sym typeface="Economica"/>
            </a:endParaRPr>
          </a:p>
          <a:p>
            <a:pPr indent="0" lvl="0" marL="457200" rtl="0" algn="l">
              <a:spcBef>
                <a:spcPts val="0"/>
              </a:spcBef>
              <a:spcAft>
                <a:spcPts val="0"/>
              </a:spcAft>
              <a:buNone/>
            </a:pPr>
            <a:r>
              <a:t/>
            </a:r>
            <a:endParaRPr sz="1800">
              <a:latin typeface="Economica"/>
              <a:ea typeface="Economica"/>
              <a:cs typeface="Economica"/>
              <a:sym typeface="Economica"/>
            </a:endParaRPr>
          </a:p>
          <a:p>
            <a:pPr indent="0" lvl="0" marL="1371600" rtl="0" algn="l">
              <a:spcBef>
                <a:spcPts val="0"/>
              </a:spcBef>
              <a:spcAft>
                <a:spcPts val="0"/>
              </a:spcAft>
              <a:buNone/>
            </a:pPr>
            <a:r>
              <a:t/>
            </a:r>
            <a:endParaRPr sz="1800">
              <a:latin typeface="Economica"/>
              <a:ea typeface="Economica"/>
              <a:cs typeface="Economica"/>
              <a:sym typeface="Economica"/>
            </a:endParaRPr>
          </a:p>
        </p:txBody>
      </p:sp>
      <p:grpSp>
        <p:nvGrpSpPr>
          <p:cNvPr id="2812" name="Google Shape;2812;p197"/>
          <p:cNvGrpSpPr/>
          <p:nvPr/>
        </p:nvGrpSpPr>
        <p:grpSpPr>
          <a:xfrm>
            <a:off x="6672800" y="2812425"/>
            <a:ext cx="1647600" cy="1580100"/>
            <a:chOff x="6494400" y="3563400"/>
            <a:chExt cx="1647600" cy="1580100"/>
          </a:xfrm>
        </p:grpSpPr>
        <p:sp>
          <p:nvSpPr>
            <p:cNvPr id="2813" name="Google Shape;2813;p197"/>
            <p:cNvSpPr/>
            <p:nvPr/>
          </p:nvSpPr>
          <p:spPr>
            <a:xfrm>
              <a:off x="6494400" y="3563400"/>
              <a:ext cx="1647600" cy="1580100"/>
            </a:xfrm>
            <a:prstGeom prst="ellipse">
              <a:avLst/>
            </a:prstGeom>
            <a:noFill/>
            <a:ln cap="flat" cmpd="sng" w="285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97"/>
            <p:cNvSpPr/>
            <p:nvPr/>
          </p:nvSpPr>
          <p:spPr>
            <a:xfrm>
              <a:off x="66730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2815" name="Google Shape;2815;p197"/>
            <p:cNvSpPr/>
            <p:nvPr/>
          </p:nvSpPr>
          <p:spPr>
            <a:xfrm>
              <a:off x="75727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2816" name="Google Shape;2816;p197"/>
            <p:cNvSpPr/>
            <p:nvPr/>
          </p:nvSpPr>
          <p:spPr>
            <a:xfrm>
              <a:off x="7122900" y="4638375"/>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cxnSp>
          <p:nvCxnSpPr>
            <p:cNvPr id="2817" name="Google Shape;2817;p197"/>
            <p:cNvCxnSpPr>
              <a:stCxn id="2814" idx="6"/>
              <a:endCxn id="2815" idx="2"/>
            </p:cNvCxnSpPr>
            <p:nvPr/>
          </p:nvCxnSpPr>
          <p:spPr>
            <a:xfrm>
              <a:off x="7063650" y="4136600"/>
              <a:ext cx="509100" cy="0"/>
            </a:xfrm>
            <a:prstGeom prst="straightConnector1">
              <a:avLst/>
            </a:prstGeom>
            <a:noFill/>
            <a:ln cap="flat" cmpd="sng" w="19050">
              <a:solidFill>
                <a:srgbClr val="FF0000"/>
              </a:solidFill>
              <a:prstDash val="solid"/>
              <a:round/>
              <a:headEnd len="med" w="med" type="none"/>
              <a:tailEnd len="med" w="med" type="stealth"/>
            </a:ln>
          </p:spPr>
        </p:cxnSp>
        <p:cxnSp>
          <p:nvCxnSpPr>
            <p:cNvPr id="2818" name="Google Shape;2818;p197"/>
            <p:cNvCxnSpPr>
              <a:stCxn id="2815" idx="3"/>
              <a:endCxn id="2816" idx="0"/>
            </p:cNvCxnSpPr>
            <p:nvPr/>
          </p:nvCxnSpPr>
          <p:spPr>
            <a:xfrm flipH="1">
              <a:off x="7318252" y="4266955"/>
              <a:ext cx="311700" cy="371400"/>
            </a:xfrm>
            <a:prstGeom prst="straightConnector1">
              <a:avLst/>
            </a:prstGeom>
            <a:noFill/>
            <a:ln cap="flat" cmpd="sng" w="19050">
              <a:solidFill>
                <a:srgbClr val="FF0000"/>
              </a:solidFill>
              <a:prstDash val="solid"/>
              <a:round/>
              <a:headEnd len="med" w="med" type="none"/>
              <a:tailEnd len="med" w="med" type="stealth"/>
            </a:ln>
          </p:spPr>
        </p:cxnSp>
        <p:cxnSp>
          <p:nvCxnSpPr>
            <p:cNvPr id="2819" name="Google Shape;2819;p197"/>
            <p:cNvCxnSpPr>
              <a:stCxn id="2814" idx="4"/>
              <a:endCxn id="2816" idx="0"/>
            </p:cNvCxnSpPr>
            <p:nvPr/>
          </p:nvCxnSpPr>
          <p:spPr>
            <a:xfrm>
              <a:off x="6868350" y="4320950"/>
              <a:ext cx="450000" cy="317400"/>
            </a:xfrm>
            <a:prstGeom prst="straightConnector1">
              <a:avLst/>
            </a:prstGeom>
            <a:noFill/>
            <a:ln cap="flat" cmpd="sng" w="19050">
              <a:solidFill>
                <a:srgbClr val="FF0000"/>
              </a:solidFill>
              <a:prstDash val="solid"/>
              <a:round/>
              <a:headEnd len="med" w="med" type="stealth"/>
              <a:tailEnd len="med" w="med" type="none"/>
            </a:ln>
          </p:spPr>
        </p:cxnSp>
      </p:grpSp>
      <p:sp>
        <p:nvSpPr>
          <p:cNvPr id="2820" name="Google Shape;2820;p197"/>
          <p:cNvSpPr txBox="1"/>
          <p:nvPr/>
        </p:nvSpPr>
        <p:spPr>
          <a:xfrm rot="-1409">
            <a:off x="5124275" y="4202066"/>
            <a:ext cx="1464000" cy="3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This would be weird!</a:t>
            </a:r>
            <a:endParaRPr b="1">
              <a:latin typeface="Economica"/>
              <a:ea typeface="Economica"/>
              <a:cs typeface="Economica"/>
              <a:sym typeface="Economica"/>
            </a:endParaRPr>
          </a:p>
        </p:txBody>
      </p:sp>
      <p:cxnSp>
        <p:nvCxnSpPr>
          <p:cNvPr id="2821" name="Google Shape;2821;p197"/>
          <p:cNvCxnSpPr>
            <a:stCxn id="2820" idx="3"/>
          </p:cNvCxnSpPr>
          <p:nvPr/>
        </p:nvCxnSpPr>
        <p:spPr>
          <a:xfrm flipH="1" rot="10800000">
            <a:off x="6588275" y="3806366"/>
            <a:ext cx="562200" cy="549300"/>
          </a:xfrm>
          <a:prstGeom prst="straightConnector1">
            <a:avLst/>
          </a:prstGeom>
          <a:noFill/>
          <a:ln cap="flat" cmpd="sng" w="19050">
            <a:solidFill>
              <a:schemeClr val="dk2"/>
            </a:solidFill>
            <a:prstDash val="solid"/>
            <a:round/>
            <a:headEnd len="med" w="med" type="none"/>
            <a:tailEnd len="med" w="med" type="triangle"/>
          </a:ln>
        </p:spPr>
      </p:cxnSp>
      <p:sp>
        <p:nvSpPr>
          <p:cNvPr id="2822" name="Google Shape;2822;p197"/>
          <p:cNvSpPr txBox="1"/>
          <p:nvPr/>
        </p:nvSpPr>
        <p:spPr>
          <a:xfrm>
            <a:off x="6672800" y="4510175"/>
            <a:ext cx="1647600" cy="30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Cyclical Triad</a:t>
            </a:r>
            <a:endParaRPr sz="1800">
              <a:latin typeface="Economica"/>
              <a:ea typeface="Economica"/>
              <a:cs typeface="Economica"/>
              <a:sym typeface="Economica"/>
            </a:endParaRPr>
          </a:p>
        </p:txBody>
      </p:sp>
      <p:pic>
        <p:nvPicPr>
          <p:cNvPr id="2823" name="Google Shape;2823;p197"/>
          <p:cNvPicPr preferRelativeResize="0"/>
          <p:nvPr/>
        </p:nvPicPr>
        <p:blipFill>
          <a:blip r:embed="rId3">
            <a:alphaModFix/>
          </a:blip>
          <a:stretch>
            <a:fillRect/>
          </a:stretch>
        </p:blipFill>
        <p:spPr>
          <a:xfrm>
            <a:off x="152400" y="1299625"/>
            <a:ext cx="4267197" cy="3319163"/>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7" name="Shape 2827"/>
        <p:cNvGrpSpPr/>
        <p:nvPr/>
      </p:nvGrpSpPr>
      <p:grpSpPr>
        <a:xfrm>
          <a:off x="0" y="0"/>
          <a:ext cx="0" cy="0"/>
          <a:chOff x="0" y="0"/>
          <a:chExt cx="0" cy="0"/>
        </a:xfrm>
      </p:grpSpPr>
      <p:sp>
        <p:nvSpPr>
          <p:cNvPr id="2828" name="Google Shape;2828;p19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hierarchies</a:t>
            </a:r>
            <a:endParaRPr/>
          </a:p>
        </p:txBody>
      </p:sp>
      <p:sp>
        <p:nvSpPr>
          <p:cNvPr id="2829" name="Google Shape;2829;p198"/>
          <p:cNvSpPr txBox="1"/>
          <p:nvPr>
            <p:ph idx="1" type="body"/>
          </p:nvPr>
        </p:nvSpPr>
        <p:spPr>
          <a:xfrm>
            <a:off x="311700" y="1225225"/>
            <a:ext cx="8520600" cy="142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order can be represented as </a:t>
            </a:r>
            <a:r>
              <a:rPr b="1" lang="en"/>
              <a:t>dominance network</a:t>
            </a:r>
            <a:endParaRPr b="1"/>
          </a:p>
          <a:p>
            <a:pPr indent="-317500" lvl="1" marL="914400" rtl="0" algn="l">
              <a:spcBef>
                <a:spcPts val="0"/>
              </a:spcBef>
              <a:spcAft>
                <a:spcPts val="0"/>
              </a:spcAft>
              <a:buSzPts val="1400"/>
              <a:buChar char="○"/>
            </a:pPr>
            <a:r>
              <a:rPr b="1" lang="en"/>
              <a:t>Nodes</a:t>
            </a:r>
            <a:r>
              <a:rPr lang="en"/>
              <a:t> are animals (whether human or not)</a:t>
            </a:r>
            <a:endParaRPr/>
          </a:p>
          <a:p>
            <a:pPr indent="-317500" lvl="1" marL="914400" rtl="0" algn="l">
              <a:spcBef>
                <a:spcPts val="0"/>
              </a:spcBef>
              <a:spcAft>
                <a:spcPts val="0"/>
              </a:spcAft>
              <a:buSzPts val="1400"/>
              <a:buChar char="○"/>
            </a:pPr>
            <a:r>
              <a:rPr lang="en"/>
              <a:t>Directed, antisymmetric </a:t>
            </a:r>
            <a:r>
              <a:rPr b="1" lang="en"/>
              <a:t>links</a:t>
            </a:r>
            <a:r>
              <a:rPr lang="en"/>
              <a:t> indicate that animal i dominates animal j</a:t>
            </a:r>
            <a:endParaRPr/>
          </a:p>
          <a:p>
            <a:pPr indent="-342900" lvl="0" marL="457200" rtl="0" algn="l">
              <a:spcBef>
                <a:spcPts val="0"/>
              </a:spcBef>
              <a:spcAft>
                <a:spcPts val="0"/>
              </a:spcAft>
              <a:buSzPts val="1800"/>
              <a:buChar char="●"/>
            </a:pPr>
            <a:r>
              <a:rPr lang="en"/>
              <a:t>Types of </a:t>
            </a:r>
            <a:r>
              <a:rPr b="1" lang="en"/>
              <a:t>possible</a:t>
            </a:r>
            <a:r>
              <a:rPr lang="en"/>
              <a:t> </a:t>
            </a:r>
            <a:r>
              <a:rPr b="1" lang="en"/>
              <a:t>triads</a:t>
            </a:r>
            <a:r>
              <a:rPr lang="en"/>
              <a:t> in dominance networks:</a:t>
            </a:r>
            <a:endParaRPr/>
          </a:p>
        </p:txBody>
      </p:sp>
      <p:pic>
        <p:nvPicPr>
          <p:cNvPr id="2830" name="Google Shape;2830;p198"/>
          <p:cNvPicPr preferRelativeResize="0"/>
          <p:nvPr/>
        </p:nvPicPr>
        <p:blipFill rotWithShape="1">
          <a:blip r:embed="rId3">
            <a:alphaModFix/>
          </a:blip>
          <a:srcRect b="0" l="0" r="0" t="0"/>
          <a:stretch/>
        </p:blipFill>
        <p:spPr>
          <a:xfrm>
            <a:off x="311700" y="2809100"/>
            <a:ext cx="8520599" cy="1445131"/>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4" name="Shape 2834"/>
        <p:cNvGrpSpPr/>
        <p:nvPr/>
      </p:nvGrpSpPr>
      <p:grpSpPr>
        <a:xfrm>
          <a:off x="0" y="0"/>
          <a:ext cx="0" cy="0"/>
          <a:chOff x="0" y="0"/>
          <a:chExt cx="0" cy="0"/>
        </a:xfrm>
      </p:grpSpPr>
      <p:sp>
        <p:nvSpPr>
          <p:cNvPr id="2835" name="Google Shape;2835;p19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hierarchies</a:t>
            </a:r>
            <a:endParaRPr/>
          </a:p>
        </p:txBody>
      </p:sp>
      <p:sp>
        <p:nvSpPr>
          <p:cNvPr id="2836" name="Google Shape;2836;p199"/>
          <p:cNvSpPr txBox="1"/>
          <p:nvPr>
            <p:ph idx="1" type="body"/>
          </p:nvPr>
        </p:nvSpPr>
        <p:spPr>
          <a:xfrm>
            <a:off x="311700" y="1225225"/>
            <a:ext cx="8520600" cy="142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order can be represented as </a:t>
            </a:r>
            <a:r>
              <a:rPr b="1" lang="en"/>
              <a:t>dominance network</a:t>
            </a:r>
            <a:endParaRPr b="1"/>
          </a:p>
          <a:p>
            <a:pPr indent="-317500" lvl="1" marL="914400" rtl="0" algn="l">
              <a:spcBef>
                <a:spcPts val="0"/>
              </a:spcBef>
              <a:spcAft>
                <a:spcPts val="0"/>
              </a:spcAft>
              <a:buSzPts val="1400"/>
              <a:buChar char="○"/>
            </a:pPr>
            <a:r>
              <a:rPr b="1" lang="en"/>
              <a:t>Nodes</a:t>
            </a:r>
            <a:r>
              <a:rPr lang="en"/>
              <a:t> are animals (whether human or not)</a:t>
            </a:r>
            <a:endParaRPr/>
          </a:p>
          <a:p>
            <a:pPr indent="-317500" lvl="1" marL="914400" rtl="0" algn="l">
              <a:spcBef>
                <a:spcPts val="0"/>
              </a:spcBef>
              <a:spcAft>
                <a:spcPts val="0"/>
              </a:spcAft>
              <a:buSzPts val="1400"/>
              <a:buChar char="○"/>
            </a:pPr>
            <a:r>
              <a:rPr lang="en"/>
              <a:t>Directed, antisymmetric </a:t>
            </a:r>
            <a:r>
              <a:rPr b="1" lang="en"/>
              <a:t>links</a:t>
            </a:r>
            <a:r>
              <a:rPr lang="en"/>
              <a:t> indicate that animal i dominates animal j</a:t>
            </a:r>
            <a:endParaRPr/>
          </a:p>
          <a:p>
            <a:pPr indent="-342900" lvl="0" marL="457200" rtl="0" algn="l">
              <a:spcBef>
                <a:spcPts val="0"/>
              </a:spcBef>
              <a:spcAft>
                <a:spcPts val="0"/>
              </a:spcAft>
              <a:buSzPts val="1800"/>
              <a:buChar char="●"/>
            </a:pPr>
            <a:r>
              <a:rPr lang="en"/>
              <a:t>Types of </a:t>
            </a:r>
            <a:r>
              <a:rPr b="1" lang="en"/>
              <a:t>expected</a:t>
            </a:r>
            <a:r>
              <a:rPr lang="en"/>
              <a:t> </a:t>
            </a:r>
            <a:r>
              <a:rPr b="1" lang="en"/>
              <a:t>triads</a:t>
            </a:r>
            <a:r>
              <a:rPr lang="en"/>
              <a:t> in dominance networks:</a:t>
            </a:r>
            <a:endParaRPr/>
          </a:p>
        </p:txBody>
      </p:sp>
      <p:pic>
        <p:nvPicPr>
          <p:cNvPr id="2837" name="Google Shape;2837;p199"/>
          <p:cNvPicPr preferRelativeResize="0"/>
          <p:nvPr/>
        </p:nvPicPr>
        <p:blipFill rotWithShape="1">
          <a:blip r:embed="rId3">
            <a:alphaModFix/>
          </a:blip>
          <a:srcRect b="0" l="0" r="0" t="0"/>
          <a:stretch/>
        </p:blipFill>
        <p:spPr>
          <a:xfrm>
            <a:off x="311700" y="2809100"/>
            <a:ext cx="8520599" cy="1445131"/>
          </a:xfrm>
          <a:prstGeom prst="rect">
            <a:avLst/>
          </a:prstGeom>
          <a:noFill/>
          <a:ln>
            <a:noFill/>
          </a:ln>
        </p:spPr>
      </p:pic>
      <p:sp>
        <p:nvSpPr>
          <p:cNvPr id="2838" name="Google Shape;2838;p199"/>
          <p:cNvSpPr/>
          <p:nvPr/>
        </p:nvSpPr>
        <p:spPr>
          <a:xfrm>
            <a:off x="7200900" y="2650825"/>
            <a:ext cx="1453200" cy="11376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2" name="Shape 2842"/>
        <p:cNvGrpSpPr/>
        <p:nvPr/>
      </p:nvGrpSpPr>
      <p:grpSpPr>
        <a:xfrm>
          <a:off x="0" y="0"/>
          <a:ext cx="0" cy="0"/>
          <a:chOff x="0" y="0"/>
          <a:chExt cx="0" cy="0"/>
        </a:xfrm>
      </p:grpSpPr>
      <p:sp>
        <p:nvSpPr>
          <p:cNvPr id="2843" name="Google Shape;2843;p20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Different Types of Animal Orders</a:t>
            </a:r>
            <a:endParaRPr/>
          </a:p>
        </p:txBody>
      </p:sp>
      <p:sp>
        <p:nvSpPr>
          <p:cNvPr id="2844" name="Google Shape;2844;p20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Macaques: Matrilineal Hierarchy</a:t>
            </a:r>
            <a:endParaRPr sz="1400"/>
          </a:p>
          <a:p>
            <a:pPr indent="-317500" lvl="0" marL="457200" rtl="0" algn="l">
              <a:spcBef>
                <a:spcPts val="0"/>
              </a:spcBef>
              <a:spcAft>
                <a:spcPts val="0"/>
              </a:spcAft>
              <a:buSzPts val="1400"/>
              <a:buChar char="●"/>
            </a:pPr>
            <a:r>
              <a:rPr lang="en" sz="1400"/>
              <a:t>Gorillas, Chimpanzees: Female order more fluid than male, male hierarchy</a:t>
            </a:r>
            <a:endParaRPr sz="1400"/>
          </a:p>
          <a:p>
            <a:pPr indent="-317500" lvl="0" marL="457200" rtl="0" algn="l">
              <a:spcBef>
                <a:spcPts val="0"/>
              </a:spcBef>
              <a:spcAft>
                <a:spcPts val="0"/>
              </a:spcAft>
              <a:buSzPts val="1400"/>
              <a:buChar char="●"/>
            </a:pPr>
            <a:r>
              <a:rPr lang="en" sz="1400"/>
              <a:t>Patas Monkeys: Female linear, one male</a:t>
            </a:r>
            <a:endParaRPr sz="1400"/>
          </a:p>
          <a:p>
            <a:pPr indent="-317500" lvl="0" marL="457200" rtl="0" algn="l">
              <a:spcBef>
                <a:spcPts val="0"/>
              </a:spcBef>
              <a:spcAft>
                <a:spcPts val="0"/>
              </a:spcAft>
              <a:buSzPts val="1400"/>
              <a:buChar char="●"/>
            </a:pPr>
            <a:r>
              <a:rPr lang="en" sz="1400"/>
              <a:t>Vervets, Sykes Monkeys: Each sex has internal rankings</a:t>
            </a:r>
            <a:endParaRPr sz="1400"/>
          </a:p>
          <a:p>
            <a:pPr indent="-317500" lvl="0" marL="457200" rtl="0" algn="l">
              <a:spcBef>
                <a:spcPts val="0"/>
              </a:spcBef>
              <a:spcAft>
                <a:spcPts val="0"/>
              </a:spcAft>
              <a:buSzPts val="1400"/>
              <a:buChar char="●"/>
            </a:pPr>
            <a:r>
              <a:rPr lang="en" sz="1400"/>
              <a:t>Wooly </a:t>
            </a:r>
            <a:r>
              <a:rPr lang="en" sz="1400"/>
              <a:t>Sp</a:t>
            </a:r>
            <a:r>
              <a:rPr lang="en" sz="1400"/>
              <a:t>ider Monkey: No dominance order</a:t>
            </a:r>
            <a:endParaRPr sz="1400"/>
          </a:p>
          <a:p>
            <a:pPr indent="-317500" lvl="0" marL="457200" rtl="0" algn="l">
              <a:spcBef>
                <a:spcPts val="0"/>
              </a:spcBef>
              <a:spcAft>
                <a:spcPts val="0"/>
              </a:spcAft>
              <a:buSzPts val="1400"/>
              <a:buChar char="●"/>
            </a:pPr>
            <a:r>
              <a:rPr lang="en" sz="1400"/>
              <a:t>Lemur: Monogamous couples</a:t>
            </a:r>
            <a:endParaRPr sz="1400"/>
          </a:p>
          <a:p>
            <a:pPr indent="-317500" lvl="0" marL="457200" rtl="0" algn="l">
              <a:spcBef>
                <a:spcPts val="0"/>
              </a:spcBef>
              <a:spcAft>
                <a:spcPts val="0"/>
              </a:spcAft>
              <a:buSzPts val="1400"/>
              <a:buChar char="●"/>
            </a:pPr>
            <a:r>
              <a:rPr lang="en" sz="1400"/>
              <a:t>Orangutan: Solitary</a:t>
            </a:r>
            <a:endParaRPr sz="1400"/>
          </a:p>
          <a:p>
            <a:pPr indent="-317500" lvl="0" marL="457200" rtl="0" algn="l">
              <a:spcBef>
                <a:spcPts val="0"/>
              </a:spcBef>
              <a:spcAft>
                <a:spcPts val="0"/>
              </a:spcAft>
              <a:buSzPts val="1400"/>
              <a:buChar char="●"/>
            </a:pPr>
            <a:r>
              <a:rPr lang="en" sz="1400"/>
              <a:t>Homo Sapien: We’re working on it</a:t>
            </a:r>
            <a:endParaRPr sz="1400"/>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8" name="Shape 2848"/>
        <p:cNvGrpSpPr/>
        <p:nvPr/>
      </p:nvGrpSpPr>
      <p:grpSpPr>
        <a:xfrm>
          <a:off x="0" y="0"/>
          <a:ext cx="0" cy="0"/>
          <a:chOff x="0" y="0"/>
          <a:chExt cx="0" cy="0"/>
        </a:xfrm>
      </p:grpSpPr>
      <p:pic>
        <p:nvPicPr>
          <p:cNvPr id="2849" name="Google Shape;2849;p201"/>
          <p:cNvPicPr preferRelativeResize="0"/>
          <p:nvPr/>
        </p:nvPicPr>
        <p:blipFill>
          <a:blip r:embed="rId3">
            <a:alphaModFix/>
          </a:blip>
          <a:stretch>
            <a:fillRect/>
          </a:stretch>
        </p:blipFill>
        <p:spPr>
          <a:xfrm>
            <a:off x="483200" y="0"/>
            <a:ext cx="8194474" cy="4749275"/>
          </a:xfrm>
          <a:prstGeom prst="rect">
            <a:avLst/>
          </a:prstGeom>
          <a:noFill/>
          <a:ln>
            <a:noFill/>
          </a:ln>
        </p:spPr>
      </p:pic>
      <p:sp>
        <p:nvSpPr>
          <p:cNvPr id="2850" name="Google Shape;2850;p201"/>
          <p:cNvSpPr txBox="1"/>
          <p:nvPr/>
        </p:nvSpPr>
        <p:spPr>
          <a:xfrm>
            <a:off x="134175" y="4621025"/>
            <a:ext cx="3588300" cy="3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Hobson, Monster, DeDeo 2018</a:t>
            </a:r>
            <a:endParaRPr>
              <a:latin typeface="Open Sans"/>
              <a:ea typeface="Open Sans"/>
              <a:cs typeface="Open Sans"/>
              <a:sym typeface="Open San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4" name="Shape 2854"/>
        <p:cNvGrpSpPr/>
        <p:nvPr/>
      </p:nvGrpSpPr>
      <p:grpSpPr>
        <a:xfrm>
          <a:off x="0" y="0"/>
          <a:ext cx="0" cy="0"/>
          <a:chOff x="0" y="0"/>
          <a:chExt cx="0" cy="0"/>
        </a:xfrm>
      </p:grpSpPr>
      <p:sp>
        <p:nvSpPr>
          <p:cNvPr id="2855" name="Google Shape;2855;p20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hierarchies</a:t>
            </a:r>
            <a:endParaRPr/>
          </a:p>
        </p:txBody>
      </p:sp>
      <p:sp>
        <p:nvSpPr>
          <p:cNvPr id="2856" name="Google Shape;2856;p202"/>
          <p:cNvSpPr txBox="1"/>
          <p:nvPr>
            <p:ph idx="1" type="body"/>
          </p:nvPr>
        </p:nvSpPr>
        <p:spPr>
          <a:xfrm>
            <a:off x="311700" y="1225225"/>
            <a:ext cx="4396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Chickens form perfectly linear hierarchies (breaks down at about 10)</a:t>
            </a:r>
            <a:endParaRPr/>
          </a:p>
          <a:p>
            <a:pPr indent="-342900" lvl="0" marL="457200" rtl="0" algn="l">
              <a:spcBef>
                <a:spcPts val="0"/>
              </a:spcBef>
              <a:spcAft>
                <a:spcPts val="0"/>
              </a:spcAft>
              <a:buSzPts val="1800"/>
              <a:buChar char="●"/>
            </a:pPr>
            <a:r>
              <a:rPr lang="en"/>
              <a:t>How are these social structures formed?</a:t>
            </a:r>
            <a:endParaRPr/>
          </a:p>
          <a:p>
            <a:pPr indent="-317500" lvl="1" marL="914400" rtl="0" algn="l">
              <a:spcBef>
                <a:spcPts val="0"/>
              </a:spcBef>
              <a:spcAft>
                <a:spcPts val="0"/>
              </a:spcAft>
              <a:buSzPts val="1400"/>
              <a:buChar char="○"/>
            </a:pPr>
            <a:r>
              <a:rPr lang="en"/>
              <a:t>An </a:t>
            </a:r>
            <a:r>
              <a:rPr b="1" lang="en"/>
              <a:t>attribute based-</a:t>
            </a:r>
            <a:r>
              <a:rPr lang="en"/>
              <a:t>model says position in the hierarchy is a function of individual characteristics (size, age, strength, etc.)</a:t>
            </a:r>
            <a:endParaRPr/>
          </a:p>
        </p:txBody>
      </p:sp>
      <p:sp>
        <p:nvSpPr>
          <p:cNvPr id="2857" name="Google Shape;2857;p202"/>
          <p:cNvSpPr/>
          <p:nvPr/>
        </p:nvSpPr>
        <p:spPr>
          <a:xfrm>
            <a:off x="5371050" y="3120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202"/>
          <p:cNvSpPr/>
          <p:nvPr/>
        </p:nvSpPr>
        <p:spPr>
          <a:xfrm>
            <a:off x="5474000" y="37274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202"/>
          <p:cNvSpPr/>
          <p:nvPr/>
        </p:nvSpPr>
        <p:spPr>
          <a:xfrm>
            <a:off x="5903350" y="2754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202"/>
          <p:cNvSpPr/>
          <p:nvPr/>
        </p:nvSpPr>
        <p:spPr>
          <a:xfrm>
            <a:off x="5830100" y="3342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202"/>
          <p:cNvSpPr/>
          <p:nvPr/>
        </p:nvSpPr>
        <p:spPr>
          <a:xfrm>
            <a:off x="5909388" y="39311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202"/>
          <p:cNvSpPr/>
          <p:nvPr/>
        </p:nvSpPr>
        <p:spPr>
          <a:xfrm>
            <a:off x="6289150" y="3159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202"/>
          <p:cNvSpPr txBox="1"/>
          <p:nvPr/>
        </p:nvSpPr>
        <p:spPr>
          <a:xfrm>
            <a:off x="4796525" y="1804513"/>
            <a:ext cx="2601300" cy="65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How do we go from:</a:t>
            </a:r>
            <a:endParaRPr sz="1800">
              <a:latin typeface="Comfortaa"/>
              <a:ea typeface="Comfortaa"/>
              <a:cs typeface="Comfortaa"/>
              <a:sym typeface="Comfortaa"/>
            </a:endParaRPr>
          </a:p>
        </p:txBody>
      </p:sp>
      <p:sp>
        <p:nvSpPr>
          <p:cNvPr id="2864" name="Google Shape;2864;p202"/>
          <p:cNvSpPr txBox="1"/>
          <p:nvPr/>
        </p:nvSpPr>
        <p:spPr>
          <a:xfrm>
            <a:off x="5644250" y="4599175"/>
            <a:ext cx="7278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This</a:t>
            </a:r>
            <a:endParaRPr sz="1800">
              <a:latin typeface="Comfortaa"/>
              <a:ea typeface="Comfortaa"/>
              <a:cs typeface="Comfortaa"/>
              <a:sym typeface="Comfortaa"/>
            </a:endParaRPr>
          </a:p>
        </p:txBody>
      </p:sp>
      <p:sp>
        <p:nvSpPr>
          <p:cNvPr id="2865" name="Google Shape;2865;p202"/>
          <p:cNvSpPr txBox="1"/>
          <p:nvPr/>
        </p:nvSpPr>
        <p:spPr>
          <a:xfrm>
            <a:off x="7177300" y="4599175"/>
            <a:ext cx="11001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To this?</a:t>
            </a:r>
            <a:endParaRPr sz="1800">
              <a:latin typeface="Comfortaa"/>
              <a:ea typeface="Comfortaa"/>
              <a:cs typeface="Comfortaa"/>
              <a:sym typeface="Comfortaa"/>
            </a:endParaRPr>
          </a:p>
        </p:txBody>
      </p:sp>
      <p:sp>
        <p:nvSpPr>
          <p:cNvPr id="2866" name="Google Shape;2866;p202"/>
          <p:cNvSpPr/>
          <p:nvPr/>
        </p:nvSpPr>
        <p:spPr>
          <a:xfrm>
            <a:off x="7549300" y="25066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202"/>
          <p:cNvSpPr/>
          <p:nvPr/>
        </p:nvSpPr>
        <p:spPr>
          <a:xfrm>
            <a:off x="7549300" y="14037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202"/>
          <p:cNvSpPr/>
          <p:nvPr/>
        </p:nvSpPr>
        <p:spPr>
          <a:xfrm>
            <a:off x="7549300" y="195516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202"/>
          <p:cNvSpPr/>
          <p:nvPr/>
        </p:nvSpPr>
        <p:spPr>
          <a:xfrm>
            <a:off x="7549300" y="36095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202"/>
          <p:cNvSpPr/>
          <p:nvPr/>
        </p:nvSpPr>
        <p:spPr>
          <a:xfrm>
            <a:off x="7549300" y="414348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202"/>
          <p:cNvSpPr/>
          <p:nvPr/>
        </p:nvSpPr>
        <p:spPr>
          <a:xfrm>
            <a:off x="7549300" y="307553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72" name="Google Shape;2872;p202"/>
          <p:cNvCxnSpPr>
            <a:stCxn id="2867" idx="4"/>
            <a:endCxn id="2868" idx="0"/>
          </p:cNvCxnSpPr>
          <p:nvPr/>
        </p:nvCxnSpPr>
        <p:spPr>
          <a:xfrm>
            <a:off x="7727350" y="176971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2873" name="Google Shape;2873;p202"/>
          <p:cNvCxnSpPr>
            <a:stCxn id="2868" idx="4"/>
            <a:endCxn id="2866" idx="0"/>
          </p:cNvCxnSpPr>
          <p:nvPr/>
        </p:nvCxnSpPr>
        <p:spPr>
          <a:xfrm>
            <a:off x="7727350" y="232116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2874" name="Google Shape;2874;p202"/>
          <p:cNvCxnSpPr>
            <a:stCxn id="2866" idx="4"/>
            <a:endCxn id="2871" idx="0"/>
          </p:cNvCxnSpPr>
          <p:nvPr/>
        </p:nvCxnSpPr>
        <p:spPr>
          <a:xfrm>
            <a:off x="7727350" y="2872613"/>
            <a:ext cx="0" cy="202800"/>
          </a:xfrm>
          <a:prstGeom prst="straightConnector1">
            <a:avLst/>
          </a:prstGeom>
          <a:noFill/>
          <a:ln cap="flat" cmpd="sng" w="19050">
            <a:solidFill>
              <a:srgbClr val="FF0000"/>
            </a:solidFill>
            <a:prstDash val="solid"/>
            <a:round/>
            <a:headEnd len="med" w="med" type="none"/>
            <a:tailEnd len="med" w="med" type="triangle"/>
          </a:ln>
        </p:spPr>
      </p:cxnSp>
      <p:cxnSp>
        <p:nvCxnSpPr>
          <p:cNvPr id="2875" name="Google Shape;2875;p202"/>
          <p:cNvCxnSpPr>
            <a:stCxn id="2871" idx="4"/>
            <a:endCxn id="2869" idx="0"/>
          </p:cNvCxnSpPr>
          <p:nvPr/>
        </p:nvCxnSpPr>
        <p:spPr>
          <a:xfrm>
            <a:off x="7727350" y="3441538"/>
            <a:ext cx="0" cy="168000"/>
          </a:xfrm>
          <a:prstGeom prst="straightConnector1">
            <a:avLst/>
          </a:prstGeom>
          <a:noFill/>
          <a:ln cap="flat" cmpd="sng" w="19050">
            <a:solidFill>
              <a:srgbClr val="FF0000"/>
            </a:solidFill>
            <a:prstDash val="solid"/>
            <a:round/>
            <a:headEnd len="med" w="med" type="none"/>
            <a:tailEnd len="med" w="med" type="triangle"/>
          </a:ln>
        </p:spPr>
      </p:cxnSp>
      <p:cxnSp>
        <p:nvCxnSpPr>
          <p:cNvPr id="2876" name="Google Shape;2876;p202"/>
          <p:cNvCxnSpPr>
            <a:stCxn id="2869" idx="4"/>
            <a:endCxn id="2870" idx="0"/>
          </p:cNvCxnSpPr>
          <p:nvPr/>
        </p:nvCxnSpPr>
        <p:spPr>
          <a:xfrm>
            <a:off x="7727350" y="3975513"/>
            <a:ext cx="0" cy="1680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0" name="Shape 2880"/>
        <p:cNvGrpSpPr/>
        <p:nvPr/>
      </p:nvGrpSpPr>
      <p:grpSpPr>
        <a:xfrm>
          <a:off x="0" y="0"/>
          <a:ext cx="0" cy="0"/>
          <a:chOff x="0" y="0"/>
          <a:chExt cx="0" cy="0"/>
        </a:xfrm>
      </p:grpSpPr>
      <p:sp>
        <p:nvSpPr>
          <p:cNvPr id="2881" name="Google Shape;2881;p20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hierarchies</a:t>
            </a:r>
            <a:endParaRPr/>
          </a:p>
        </p:txBody>
      </p:sp>
      <p:sp>
        <p:nvSpPr>
          <p:cNvPr id="2882" name="Google Shape;2882;p203"/>
          <p:cNvSpPr txBox="1"/>
          <p:nvPr>
            <p:ph idx="1" type="body"/>
          </p:nvPr>
        </p:nvSpPr>
        <p:spPr>
          <a:xfrm>
            <a:off x="311700" y="1225225"/>
            <a:ext cx="4396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Chickens form perfectly linear hierarchies (breaks down at about 10)</a:t>
            </a:r>
            <a:endParaRPr/>
          </a:p>
          <a:p>
            <a:pPr indent="-342900" lvl="0" marL="457200" rtl="0" algn="l">
              <a:spcBef>
                <a:spcPts val="0"/>
              </a:spcBef>
              <a:spcAft>
                <a:spcPts val="0"/>
              </a:spcAft>
              <a:buSzPts val="1800"/>
              <a:buChar char="●"/>
            </a:pPr>
            <a:r>
              <a:rPr lang="en"/>
              <a:t>How are these social structures formed?</a:t>
            </a:r>
            <a:endParaRPr/>
          </a:p>
          <a:p>
            <a:pPr indent="-317500" lvl="1" marL="914400" rtl="0" algn="l">
              <a:spcBef>
                <a:spcPts val="0"/>
              </a:spcBef>
              <a:spcAft>
                <a:spcPts val="0"/>
              </a:spcAft>
              <a:buSzPts val="1400"/>
              <a:buChar char="○"/>
            </a:pPr>
            <a:r>
              <a:rPr lang="en"/>
              <a:t>A </a:t>
            </a:r>
            <a:r>
              <a:rPr b="1" lang="en"/>
              <a:t>interaction-based model</a:t>
            </a:r>
            <a:r>
              <a:rPr lang="en"/>
              <a:t> says the hierarchie emerges from local network processes partially independently from attributes</a:t>
            </a:r>
            <a:endParaRPr/>
          </a:p>
        </p:txBody>
      </p:sp>
      <p:sp>
        <p:nvSpPr>
          <p:cNvPr id="2883" name="Google Shape;2883;p203"/>
          <p:cNvSpPr/>
          <p:nvPr/>
        </p:nvSpPr>
        <p:spPr>
          <a:xfrm>
            <a:off x="5371050" y="3120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203"/>
          <p:cNvSpPr/>
          <p:nvPr/>
        </p:nvSpPr>
        <p:spPr>
          <a:xfrm>
            <a:off x="5474000" y="37274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203"/>
          <p:cNvSpPr/>
          <p:nvPr/>
        </p:nvSpPr>
        <p:spPr>
          <a:xfrm>
            <a:off x="5903350" y="2754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203"/>
          <p:cNvSpPr/>
          <p:nvPr/>
        </p:nvSpPr>
        <p:spPr>
          <a:xfrm>
            <a:off x="5830100" y="3342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203"/>
          <p:cNvSpPr/>
          <p:nvPr/>
        </p:nvSpPr>
        <p:spPr>
          <a:xfrm>
            <a:off x="5909388" y="39311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203"/>
          <p:cNvSpPr/>
          <p:nvPr/>
        </p:nvSpPr>
        <p:spPr>
          <a:xfrm>
            <a:off x="6289150" y="3159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203"/>
          <p:cNvSpPr/>
          <p:nvPr/>
        </p:nvSpPr>
        <p:spPr>
          <a:xfrm>
            <a:off x="7549300" y="25066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203"/>
          <p:cNvSpPr/>
          <p:nvPr/>
        </p:nvSpPr>
        <p:spPr>
          <a:xfrm>
            <a:off x="7549300" y="14037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203"/>
          <p:cNvSpPr/>
          <p:nvPr/>
        </p:nvSpPr>
        <p:spPr>
          <a:xfrm>
            <a:off x="7549300" y="195516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203"/>
          <p:cNvSpPr/>
          <p:nvPr/>
        </p:nvSpPr>
        <p:spPr>
          <a:xfrm>
            <a:off x="7549300" y="36095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203"/>
          <p:cNvSpPr/>
          <p:nvPr/>
        </p:nvSpPr>
        <p:spPr>
          <a:xfrm>
            <a:off x="7549300" y="414348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203"/>
          <p:cNvSpPr/>
          <p:nvPr/>
        </p:nvSpPr>
        <p:spPr>
          <a:xfrm>
            <a:off x="7549300" y="307553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95" name="Google Shape;2895;p203"/>
          <p:cNvCxnSpPr>
            <a:stCxn id="2890" idx="4"/>
            <a:endCxn id="2891" idx="0"/>
          </p:cNvCxnSpPr>
          <p:nvPr/>
        </p:nvCxnSpPr>
        <p:spPr>
          <a:xfrm>
            <a:off x="7727350" y="176971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2896" name="Google Shape;2896;p203"/>
          <p:cNvCxnSpPr>
            <a:stCxn id="2891" idx="4"/>
            <a:endCxn id="2889" idx="0"/>
          </p:cNvCxnSpPr>
          <p:nvPr/>
        </p:nvCxnSpPr>
        <p:spPr>
          <a:xfrm>
            <a:off x="7727350" y="232116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2897" name="Google Shape;2897;p203"/>
          <p:cNvCxnSpPr>
            <a:stCxn id="2889" idx="4"/>
            <a:endCxn id="2894" idx="0"/>
          </p:cNvCxnSpPr>
          <p:nvPr/>
        </p:nvCxnSpPr>
        <p:spPr>
          <a:xfrm>
            <a:off x="7727350" y="2872613"/>
            <a:ext cx="0" cy="202800"/>
          </a:xfrm>
          <a:prstGeom prst="straightConnector1">
            <a:avLst/>
          </a:prstGeom>
          <a:noFill/>
          <a:ln cap="flat" cmpd="sng" w="19050">
            <a:solidFill>
              <a:srgbClr val="FF0000"/>
            </a:solidFill>
            <a:prstDash val="solid"/>
            <a:round/>
            <a:headEnd len="med" w="med" type="none"/>
            <a:tailEnd len="med" w="med" type="triangle"/>
          </a:ln>
        </p:spPr>
      </p:cxnSp>
      <p:cxnSp>
        <p:nvCxnSpPr>
          <p:cNvPr id="2898" name="Google Shape;2898;p203"/>
          <p:cNvCxnSpPr>
            <a:stCxn id="2894" idx="4"/>
            <a:endCxn id="2892" idx="0"/>
          </p:cNvCxnSpPr>
          <p:nvPr/>
        </p:nvCxnSpPr>
        <p:spPr>
          <a:xfrm>
            <a:off x="7727350" y="3441538"/>
            <a:ext cx="0" cy="168000"/>
          </a:xfrm>
          <a:prstGeom prst="straightConnector1">
            <a:avLst/>
          </a:prstGeom>
          <a:noFill/>
          <a:ln cap="flat" cmpd="sng" w="19050">
            <a:solidFill>
              <a:srgbClr val="FF0000"/>
            </a:solidFill>
            <a:prstDash val="solid"/>
            <a:round/>
            <a:headEnd len="med" w="med" type="none"/>
            <a:tailEnd len="med" w="med" type="triangle"/>
          </a:ln>
        </p:spPr>
      </p:cxnSp>
      <p:cxnSp>
        <p:nvCxnSpPr>
          <p:cNvPr id="2899" name="Google Shape;2899;p203"/>
          <p:cNvCxnSpPr>
            <a:stCxn id="2892" idx="4"/>
            <a:endCxn id="2893" idx="0"/>
          </p:cNvCxnSpPr>
          <p:nvPr/>
        </p:nvCxnSpPr>
        <p:spPr>
          <a:xfrm>
            <a:off x="7727350" y="3975513"/>
            <a:ext cx="0" cy="168000"/>
          </a:xfrm>
          <a:prstGeom prst="straightConnector1">
            <a:avLst/>
          </a:prstGeom>
          <a:noFill/>
          <a:ln cap="flat" cmpd="sng" w="19050">
            <a:solidFill>
              <a:srgbClr val="FF0000"/>
            </a:solidFill>
            <a:prstDash val="solid"/>
            <a:round/>
            <a:headEnd len="med" w="med" type="none"/>
            <a:tailEnd len="med" w="med" type="triangle"/>
          </a:ln>
        </p:spPr>
      </p:cxnSp>
      <p:sp>
        <p:nvSpPr>
          <p:cNvPr id="2900" name="Google Shape;2900;p203"/>
          <p:cNvSpPr txBox="1"/>
          <p:nvPr/>
        </p:nvSpPr>
        <p:spPr>
          <a:xfrm>
            <a:off x="4796525" y="1804513"/>
            <a:ext cx="2601300" cy="65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How do we go from:</a:t>
            </a:r>
            <a:endParaRPr sz="1800">
              <a:latin typeface="Comfortaa"/>
              <a:ea typeface="Comfortaa"/>
              <a:cs typeface="Comfortaa"/>
              <a:sym typeface="Comfortaa"/>
            </a:endParaRPr>
          </a:p>
        </p:txBody>
      </p:sp>
      <p:sp>
        <p:nvSpPr>
          <p:cNvPr id="2901" name="Google Shape;2901;p203"/>
          <p:cNvSpPr txBox="1"/>
          <p:nvPr/>
        </p:nvSpPr>
        <p:spPr>
          <a:xfrm>
            <a:off x="5644250" y="4599175"/>
            <a:ext cx="7278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This</a:t>
            </a:r>
            <a:endParaRPr sz="1800">
              <a:latin typeface="Comfortaa"/>
              <a:ea typeface="Comfortaa"/>
              <a:cs typeface="Comfortaa"/>
              <a:sym typeface="Comfortaa"/>
            </a:endParaRPr>
          </a:p>
        </p:txBody>
      </p:sp>
      <p:sp>
        <p:nvSpPr>
          <p:cNvPr id="2902" name="Google Shape;2902;p203"/>
          <p:cNvSpPr txBox="1"/>
          <p:nvPr/>
        </p:nvSpPr>
        <p:spPr>
          <a:xfrm>
            <a:off x="7177300" y="4599175"/>
            <a:ext cx="11001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To this?</a:t>
            </a:r>
            <a:endParaRPr sz="1800">
              <a:latin typeface="Comfortaa"/>
              <a:ea typeface="Comfortaa"/>
              <a:cs typeface="Comfortaa"/>
              <a:sym typeface="Comfortaa"/>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6" name="Shape 2906"/>
        <p:cNvGrpSpPr/>
        <p:nvPr/>
      </p:nvGrpSpPr>
      <p:grpSpPr>
        <a:xfrm>
          <a:off x="0" y="0"/>
          <a:ext cx="0" cy="0"/>
          <a:chOff x="0" y="0"/>
          <a:chExt cx="0" cy="0"/>
        </a:xfrm>
      </p:grpSpPr>
      <p:sp>
        <p:nvSpPr>
          <p:cNvPr id="2907" name="Google Shape;2907;p20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2908" name="Google Shape;2908;p204"/>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204"/>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10" name="Google Shape;2910;p204"/>
          <p:cNvCxnSpPr>
            <a:stCxn id="2909" idx="4"/>
            <a:endCxn id="2908"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11" name="Google Shape;2911;p204"/>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204"/>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204"/>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204"/>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15" name="Google Shape;2915;p204"/>
          <p:cNvCxnSpPr>
            <a:stCxn id="2914" idx="4"/>
            <a:endCxn id="2912"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2916" name="Google Shape;2916;p204"/>
          <p:cNvCxnSpPr>
            <a:stCxn id="2914" idx="4"/>
            <a:endCxn id="2913"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17" name="Google Shape;2917;p204"/>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2918" name="Google Shape;2918;p204"/>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2919" name="Google Shape;2919;p204"/>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Confidence vis-a-vis winner and loser changes</a:t>
            </a:r>
            <a:endParaRPr/>
          </a:p>
          <a:p>
            <a:pPr indent="-317500" lvl="2" marL="1371600" rtl="0" algn="l">
              <a:spcBef>
                <a:spcPts val="0"/>
              </a:spcBef>
              <a:spcAft>
                <a:spcPts val="0"/>
              </a:spcAft>
              <a:buSzPts val="1400"/>
              <a:buChar char="■"/>
            </a:pPr>
            <a:r>
              <a:rPr lang="en"/>
              <a:t>From </a:t>
            </a:r>
            <a:r>
              <a:rPr b="1" lang="en"/>
              <a:t>single-edge</a:t>
            </a:r>
            <a:r>
              <a:rPr lang="en"/>
              <a:t> to either:</a:t>
            </a:r>
            <a:endParaRPr/>
          </a:p>
          <a:p>
            <a:pPr indent="-317500" lvl="3" marL="1828800" rtl="0" algn="l">
              <a:spcBef>
                <a:spcPts val="0"/>
              </a:spcBef>
              <a:spcAft>
                <a:spcPts val="0"/>
              </a:spcAft>
              <a:buSzPts val="1400"/>
              <a:buChar char="●"/>
            </a:pPr>
            <a:r>
              <a:rPr b="1" lang="en"/>
              <a:t>Double-dominant triads</a:t>
            </a:r>
            <a:endParaRPr b="1"/>
          </a:p>
        </p:txBody>
      </p:sp>
      <p:sp>
        <p:nvSpPr>
          <p:cNvPr id="2920" name="Google Shape;2920;p204"/>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2921" name="Google Shape;2921;p204"/>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204"/>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23" name="Google Shape;2923;p204"/>
          <p:cNvCxnSpPr>
            <a:stCxn id="2922" idx="4"/>
            <a:endCxn id="2921"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24" name="Google Shape;2924;p204"/>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204"/>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204"/>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204"/>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28" name="Google Shape;2928;p204"/>
          <p:cNvCxnSpPr>
            <a:stCxn id="2927" idx="4"/>
            <a:endCxn id="2925"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2929" name="Google Shape;2929;p204"/>
          <p:cNvCxnSpPr>
            <a:stCxn id="2926" idx="2"/>
            <a:endCxn id="2925"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2930" name="Google Shape;2930;p204"/>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2931" name="Google Shape;2931;p204"/>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204"/>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204"/>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34" name="Google Shape;2934;p204"/>
          <p:cNvCxnSpPr>
            <a:stCxn id="2933" idx="4"/>
            <a:endCxn id="2931"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35" name="Google Shape;2935;p204"/>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204"/>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204"/>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204"/>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39" name="Google Shape;2939;p204"/>
          <p:cNvCxnSpPr>
            <a:stCxn id="2938" idx="4"/>
            <a:endCxn id="2936"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2940" name="Google Shape;2940;p204"/>
          <p:cNvCxnSpPr>
            <a:stCxn id="2938" idx="4"/>
            <a:endCxn id="2937" idx="0"/>
          </p:cNvCxnSpPr>
          <p:nvPr/>
        </p:nvCxnSpPr>
        <p:spPr>
          <a:xfrm>
            <a:off x="8195258" y="3823245"/>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41" name="Google Shape;2941;p204"/>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5" name="Shape 2945"/>
        <p:cNvGrpSpPr/>
        <p:nvPr/>
      </p:nvGrpSpPr>
      <p:grpSpPr>
        <a:xfrm>
          <a:off x="0" y="0"/>
          <a:ext cx="0" cy="0"/>
          <a:chOff x="0" y="0"/>
          <a:chExt cx="0" cy="0"/>
        </a:xfrm>
      </p:grpSpPr>
      <p:sp>
        <p:nvSpPr>
          <p:cNvPr id="2946" name="Google Shape;2946;p20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2947" name="Google Shape;2947;p205"/>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205"/>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49" name="Google Shape;2949;p205"/>
          <p:cNvCxnSpPr>
            <a:stCxn id="2948" idx="4"/>
            <a:endCxn id="2947"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50" name="Google Shape;2950;p205"/>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205"/>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205"/>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205"/>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54" name="Google Shape;2954;p205"/>
          <p:cNvCxnSpPr>
            <a:stCxn id="2953" idx="4"/>
            <a:endCxn id="2951"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2955" name="Google Shape;2955;p205"/>
          <p:cNvCxnSpPr>
            <a:stCxn id="2953" idx="4"/>
            <a:endCxn id="2952"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56" name="Google Shape;2956;p205"/>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2957" name="Google Shape;2957;p205"/>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2958" name="Google Shape;2958;p205"/>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Confidence vis-a-vis winner and loser changes</a:t>
            </a:r>
            <a:endParaRPr/>
          </a:p>
          <a:p>
            <a:pPr indent="-317500" lvl="2" marL="1371600" rtl="0" algn="l">
              <a:spcBef>
                <a:spcPts val="0"/>
              </a:spcBef>
              <a:spcAft>
                <a:spcPts val="0"/>
              </a:spcAft>
              <a:buSzPts val="1400"/>
              <a:buChar char="■"/>
            </a:pPr>
            <a:r>
              <a:rPr lang="en"/>
              <a:t>From </a:t>
            </a:r>
            <a:r>
              <a:rPr b="1" lang="en"/>
              <a:t>single-edge</a:t>
            </a:r>
            <a:r>
              <a:rPr lang="en"/>
              <a:t> to either:</a:t>
            </a:r>
            <a:endParaRPr/>
          </a:p>
          <a:p>
            <a:pPr indent="-317500" lvl="3" marL="1828800" rtl="0" algn="l">
              <a:spcBef>
                <a:spcPts val="0"/>
              </a:spcBef>
              <a:spcAft>
                <a:spcPts val="0"/>
              </a:spcAft>
              <a:buSzPts val="1400"/>
              <a:buChar char="●"/>
            </a:pPr>
            <a:r>
              <a:rPr b="1" lang="en"/>
              <a:t>Double-loser triads</a:t>
            </a:r>
            <a:endParaRPr b="1"/>
          </a:p>
        </p:txBody>
      </p:sp>
      <p:sp>
        <p:nvSpPr>
          <p:cNvPr id="2959" name="Google Shape;2959;p205"/>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2960" name="Google Shape;2960;p205"/>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205"/>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62" name="Google Shape;2962;p205"/>
          <p:cNvCxnSpPr>
            <a:stCxn id="2961" idx="4"/>
            <a:endCxn id="2960"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63" name="Google Shape;2963;p205"/>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205"/>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205"/>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205"/>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67" name="Google Shape;2967;p205"/>
          <p:cNvCxnSpPr>
            <a:stCxn id="2966" idx="4"/>
            <a:endCxn id="2964"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2968" name="Google Shape;2968;p205"/>
          <p:cNvCxnSpPr>
            <a:stCxn id="2965" idx="2"/>
            <a:endCxn id="2964"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2969" name="Google Shape;2969;p205"/>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2970" name="Google Shape;2970;p205"/>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205"/>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205"/>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73" name="Google Shape;2973;p205"/>
          <p:cNvCxnSpPr>
            <a:stCxn id="2972" idx="4"/>
            <a:endCxn id="2970"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74" name="Google Shape;2974;p205"/>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205"/>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205"/>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205"/>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78" name="Google Shape;2978;p205"/>
          <p:cNvCxnSpPr>
            <a:stCxn id="2977" idx="4"/>
            <a:endCxn id="2975"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2979" name="Google Shape;2979;p205"/>
          <p:cNvCxnSpPr>
            <a:stCxn id="2976" idx="2"/>
            <a:endCxn id="2975" idx="6"/>
          </p:cNvCxnSpPr>
          <p:nvPr/>
        </p:nvCxnSpPr>
        <p:spPr>
          <a:xfrm rot="10800000">
            <a:off x="8066130" y="42542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2980" name="Google Shape;2980;p205"/>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4" name="Shape 2984"/>
        <p:cNvGrpSpPr/>
        <p:nvPr/>
      </p:nvGrpSpPr>
      <p:grpSpPr>
        <a:xfrm>
          <a:off x="0" y="0"/>
          <a:ext cx="0" cy="0"/>
          <a:chOff x="0" y="0"/>
          <a:chExt cx="0" cy="0"/>
        </a:xfrm>
      </p:grpSpPr>
      <p:sp>
        <p:nvSpPr>
          <p:cNvPr id="2985" name="Google Shape;2985;p20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2986" name="Google Shape;2986;p206"/>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206"/>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88" name="Google Shape;2988;p206"/>
          <p:cNvCxnSpPr>
            <a:stCxn id="2987" idx="4"/>
            <a:endCxn id="2986"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89" name="Google Shape;2989;p206"/>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206"/>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206"/>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206"/>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93" name="Google Shape;2993;p206"/>
          <p:cNvCxnSpPr>
            <a:stCxn id="2992" idx="4"/>
            <a:endCxn id="2990"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2994" name="Google Shape;2994;p206"/>
          <p:cNvCxnSpPr>
            <a:stCxn id="2992" idx="4"/>
            <a:endCxn id="2991"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2995" name="Google Shape;2995;p206"/>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2996" name="Google Shape;2996;p206"/>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2997" name="Google Shape;2997;p206"/>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Bystanders almost never dominate initial dominant</a:t>
            </a:r>
            <a:endParaRPr b="1"/>
          </a:p>
        </p:txBody>
      </p:sp>
      <p:sp>
        <p:nvSpPr>
          <p:cNvPr id="2998" name="Google Shape;2998;p206"/>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2999" name="Google Shape;2999;p206"/>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206"/>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01" name="Google Shape;3001;p206"/>
          <p:cNvCxnSpPr>
            <a:stCxn id="3000" idx="4"/>
            <a:endCxn id="2999"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02" name="Google Shape;3002;p206"/>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206"/>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206"/>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206"/>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06" name="Google Shape;3006;p206"/>
          <p:cNvCxnSpPr>
            <a:stCxn id="3005" idx="4"/>
            <a:endCxn id="3003"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07" name="Google Shape;3007;p206"/>
          <p:cNvCxnSpPr>
            <a:stCxn id="3004" idx="2"/>
            <a:endCxn id="3003"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3008" name="Google Shape;3008;p206"/>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3009" name="Google Shape;3009;p206"/>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206"/>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206"/>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12" name="Google Shape;3012;p206"/>
          <p:cNvCxnSpPr>
            <a:stCxn id="3011" idx="4"/>
            <a:endCxn id="3009"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13" name="Google Shape;3013;p206"/>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206"/>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206"/>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206"/>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17" name="Google Shape;3017;p206"/>
          <p:cNvCxnSpPr>
            <a:stCxn id="3016" idx="4"/>
            <a:endCxn id="3014"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18" name="Google Shape;3018;p206"/>
          <p:cNvCxnSpPr>
            <a:stCxn id="3015" idx="0"/>
            <a:endCxn id="3016" idx="4"/>
          </p:cNvCxnSpPr>
          <p:nvPr/>
        </p:nvCxnSpPr>
        <p:spPr>
          <a:xfrm rot="10800000">
            <a:off x="8195280" y="3823162"/>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19" name="Google Shape;3019;p206"/>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
        <p:nvSpPr>
          <p:cNvPr id="3020" name="Google Shape;3020;p206"/>
          <p:cNvSpPr txBox="1"/>
          <p:nvPr/>
        </p:nvSpPr>
        <p:spPr>
          <a:xfrm>
            <a:off x="6666775" y="4322525"/>
            <a:ext cx="914400" cy="26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Weird!</a:t>
            </a:r>
            <a:endParaRPr b="1">
              <a:solidFill>
                <a:srgbClr val="FF0000"/>
              </a:solidFill>
              <a:latin typeface="Open Sans"/>
              <a:ea typeface="Open Sans"/>
              <a:cs typeface="Open Sans"/>
              <a:sym typeface="Open San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4" name="Shape 3024"/>
        <p:cNvGrpSpPr/>
        <p:nvPr/>
      </p:nvGrpSpPr>
      <p:grpSpPr>
        <a:xfrm>
          <a:off x="0" y="0"/>
          <a:ext cx="0" cy="0"/>
          <a:chOff x="0" y="0"/>
          <a:chExt cx="0" cy="0"/>
        </a:xfrm>
      </p:grpSpPr>
      <p:sp>
        <p:nvSpPr>
          <p:cNvPr id="3025" name="Google Shape;3025;p20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3026" name="Google Shape;3026;p207"/>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207"/>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28" name="Google Shape;3028;p207"/>
          <p:cNvCxnSpPr>
            <a:stCxn id="3027" idx="4"/>
            <a:endCxn id="3026"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29" name="Google Shape;3029;p207"/>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207"/>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207"/>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207"/>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33" name="Google Shape;3033;p207"/>
          <p:cNvCxnSpPr>
            <a:stCxn id="3032" idx="4"/>
            <a:endCxn id="3030"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34" name="Google Shape;3034;p207"/>
          <p:cNvCxnSpPr>
            <a:stCxn id="3032" idx="4"/>
            <a:endCxn id="3031"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35" name="Google Shape;3035;p207"/>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3036" name="Google Shape;3036;p207"/>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3037" name="Google Shape;3037;p207"/>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Bystanders almost never dominate initial dominant</a:t>
            </a:r>
            <a:endParaRPr/>
          </a:p>
          <a:p>
            <a:pPr indent="-317500" lvl="2" marL="1371600" rtl="0" algn="l">
              <a:spcBef>
                <a:spcPts val="0"/>
              </a:spcBef>
              <a:spcAft>
                <a:spcPts val="0"/>
              </a:spcAft>
              <a:buSzPts val="1400"/>
              <a:buChar char="■"/>
            </a:pPr>
            <a:r>
              <a:rPr lang="en"/>
              <a:t>Bystanders almost never get dominated by initial loser</a:t>
            </a:r>
            <a:endParaRPr/>
          </a:p>
        </p:txBody>
      </p:sp>
      <p:sp>
        <p:nvSpPr>
          <p:cNvPr id="3038" name="Google Shape;3038;p207"/>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3039" name="Google Shape;3039;p207"/>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207"/>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41" name="Google Shape;3041;p207"/>
          <p:cNvCxnSpPr>
            <a:stCxn id="3040" idx="4"/>
            <a:endCxn id="3039"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42" name="Google Shape;3042;p207"/>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207"/>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207"/>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207"/>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46" name="Google Shape;3046;p207"/>
          <p:cNvCxnSpPr>
            <a:stCxn id="3045" idx="4"/>
            <a:endCxn id="3043"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47" name="Google Shape;3047;p207"/>
          <p:cNvCxnSpPr>
            <a:stCxn id="3044" idx="2"/>
            <a:endCxn id="3043"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3048" name="Google Shape;3048;p207"/>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3049" name="Google Shape;3049;p207"/>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207"/>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207"/>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2" name="Google Shape;3052;p207"/>
          <p:cNvCxnSpPr>
            <a:stCxn id="3051" idx="4"/>
            <a:endCxn id="3049"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53" name="Google Shape;3053;p207"/>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207"/>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207"/>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207"/>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7" name="Google Shape;3057;p207"/>
          <p:cNvCxnSpPr>
            <a:stCxn id="3056" idx="4"/>
            <a:endCxn id="3054"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58" name="Google Shape;3058;p207"/>
          <p:cNvCxnSpPr>
            <a:stCxn id="3054" idx="6"/>
            <a:endCxn id="3055" idx="2"/>
          </p:cNvCxnSpPr>
          <p:nvPr/>
        </p:nvCxnSpPr>
        <p:spPr>
          <a:xfrm>
            <a:off x="8066155" y="42542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3059" name="Google Shape;3059;p207"/>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
        <p:nvSpPr>
          <p:cNvPr id="3060" name="Google Shape;3060;p207"/>
          <p:cNvSpPr txBox="1"/>
          <p:nvPr/>
        </p:nvSpPr>
        <p:spPr>
          <a:xfrm>
            <a:off x="6666775" y="4322525"/>
            <a:ext cx="914400" cy="39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Also</a:t>
            </a:r>
            <a:endParaRPr b="1">
              <a:solidFill>
                <a:srgbClr val="FF0000"/>
              </a:solidFill>
              <a:latin typeface="Open Sans"/>
              <a:ea typeface="Open Sans"/>
              <a:cs typeface="Open Sans"/>
              <a:sym typeface="Open Sans"/>
            </a:endParaRPr>
          </a:p>
          <a:p>
            <a:pPr indent="0" lvl="0" marL="0" rtl="0" algn="ctr">
              <a:spcBef>
                <a:spcPts val="0"/>
              </a:spcBef>
              <a:spcAft>
                <a:spcPts val="0"/>
              </a:spcAft>
              <a:buNone/>
            </a:pPr>
            <a:r>
              <a:rPr b="1" lang="en">
                <a:solidFill>
                  <a:srgbClr val="FF0000"/>
                </a:solidFill>
                <a:latin typeface="Open Sans"/>
                <a:ea typeface="Open Sans"/>
                <a:cs typeface="Open Sans"/>
                <a:sym typeface="Open Sans"/>
              </a:rPr>
              <a:t>Weird!</a:t>
            </a:r>
            <a:endParaRPr b="1">
              <a:solidFill>
                <a:srgbClr val="FF0000"/>
              </a:solidFill>
              <a:latin typeface="Open Sans"/>
              <a:ea typeface="Open Sans"/>
              <a:cs typeface="Open Sans"/>
              <a:sym typeface="Open San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4" name="Shape 3064"/>
        <p:cNvGrpSpPr/>
        <p:nvPr/>
      </p:nvGrpSpPr>
      <p:grpSpPr>
        <a:xfrm>
          <a:off x="0" y="0"/>
          <a:ext cx="0" cy="0"/>
          <a:chOff x="0" y="0"/>
          <a:chExt cx="0" cy="0"/>
        </a:xfrm>
      </p:grpSpPr>
      <p:sp>
        <p:nvSpPr>
          <p:cNvPr id="3065" name="Google Shape;3065;p20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3066" name="Google Shape;3066;p208"/>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208"/>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68" name="Google Shape;3068;p208"/>
          <p:cNvCxnSpPr>
            <a:stCxn id="3067" idx="4"/>
            <a:endCxn id="3066"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69" name="Google Shape;3069;p208"/>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208"/>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208"/>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208"/>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73" name="Google Shape;3073;p208"/>
          <p:cNvCxnSpPr>
            <a:stCxn id="3072" idx="4"/>
            <a:endCxn id="3070"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74" name="Google Shape;3074;p208"/>
          <p:cNvCxnSpPr>
            <a:stCxn id="3072" idx="4"/>
            <a:endCxn id="3071"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75" name="Google Shape;3075;p208"/>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3076" name="Google Shape;3076;p208"/>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3077" name="Google Shape;3077;p208"/>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Bystanders almost never dominate initial dominant</a:t>
            </a:r>
            <a:endParaRPr/>
          </a:p>
          <a:p>
            <a:pPr indent="-317500" lvl="2" marL="1371600" rtl="0" algn="l">
              <a:spcBef>
                <a:spcPts val="0"/>
              </a:spcBef>
              <a:spcAft>
                <a:spcPts val="0"/>
              </a:spcAft>
              <a:buSzPts val="1400"/>
              <a:buChar char="■"/>
            </a:pPr>
            <a:r>
              <a:rPr lang="en"/>
              <a:t>Bystanders almost never get dominated by initial loser</a:t>
            </a:r>
            <a:endParaRPr/>
          </a:p>
          <a:p>
            <a:pPr indent="-317500" lvl="2" marL="1371600" rtl="0" algn="l">
              <a:spcBef>
                <a:spcPts val="0"/>
              </a:spcBef>
              <a:spcAft>
                <a:spcPts val="0"/>
              </a:spcAft>
              <a:buSzPts val="1400"/>
              <a:buChar char="■"/>
            </a:pPr>
            <a:r>
              <a:rPr lang="en"/>
              <a:t>This guarantees transitivity and linearity!</a:t>
            </a:r>
            <a:endParaRPr/>
          </a:p>
        </p:txBody>
      </p:sp>
      <p:sp>
        <p:nvSpPr>
          <p:cNvPr id="3078" name="Google Shape;3078;p208"/>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3079" name="Google Shape;3079;p208"/>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208"/>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81" name="Google Shape;3081;p208"/>
          <p:cNvCxnSpPr>
            <a:stCxn id="3080" idx="4"/>
            <a:endCxn id="3079"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82" name="Google Shape;3082;p208"/>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208"/>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208"/>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208"/>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86" name="Google Shape;3086;p208"/>
          <p:cNvCxnSpPr>
            <a:stCxn id="3085" idx="4"/>
            <a:endCxn id="3083"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87" name="Google Shape;3087;p208"/>
          <p:cNvCxnSpPr>
            <a:stCxn id="3084" idx="2"/>
            <a:endCxn id="3083"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3088" name="Google Shape;3088;p208"/>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3089" name="Google Shape;3089;p208"/>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208"/>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208"/>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2" name="Google Shape;3092;p208"/>
          <p:cNvCxnSpPr>
            <a:stCxn id="3091" idx="4"/>
            <a:endCxn id="3089"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3093" name="Google Shape;3093;p208"/>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208"/>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208"/>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208"/>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7" name="Google Shape;3097;p208"/>
          <p:cNvCxnSpPr>
            <a:stCxn id="3096" idx="4"/>
            <a:endCxn id="3094"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3098" name="Google Shape;3098;p208"/>
          <p:cNvCxnSpPr>
            <a:stCxn id="3094" idx="6"/>
            <a:endCxn id="3095" idx="2"/>
          </p:cNvCxnSpPr>
          <p:nvPr/>
        </p:nvCxnSpPr>
        <p:spPr>
          <a:xfrm>
            <a:off x="8066155" y="42542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3099" name="Google Shape;3099;p208"/>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
        <p:nvSpPr>
          <p:cNvPr id="3100" name="Google Shape;3100;p208"/>
          <p:cNvSpPr txBox="1"/>
          <p:nvPr/>
        </p:nvSpPr>
        <p:spPr>
          <a:xfrm>
            <a:off x="6666775" y="4322525"/>
            <a:ext cx="914400" cy="39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Also</a:t>
            </a:r>
            <a:endParaRPr b="1">
              <a:solidFill>
                <a:srgbClr val="FF0000"/>
              </a:solidFill>
              <a:latin typeface="Open Sans"/>
              <a:ea typeface="Open Sans"/>
              <a:cs typeface="Open Sans"/>
              <a:sym typeface="Open Sans"/>
            </a:endParaRPr>
          </a:p>
          <a:p>
            <a:pPr indent="0" lvl="0" marL="0" rtl="0" algn="ctr">
              <a:spcBef>
                <a:spcPts val="0"/>
              </a:spcBef>
              <a:spcAft>
                <a:spcPts val="0"/>
              </a:spcAft>
              <a:buNone/>
            </a:pPr>
            <a:r>
              <a:rPr b="1" lang="en">
                <a:solidFill>
                  <a:srgbClr val="FF0000"/>
                </a:solidFill>
                <a:latin typeface="Open Sans"/>
                <a:ea typeface="Open Sans"/>
                <a:cs typeface="Open Sans"/>
                <a:sym typeface="Open Sans"/>
              </a:rPr>
              <a:t>Weird!</a:t>
            </a:r>
            <a:endParaRPr b="1">
              <a:solidFill>
                <a:srgbClr val="FF0000"/>
              </a:solidFill>
              <a:latin typeface="Open Sans"/>
              <a:ea typeface="Open Sans"/>
              <a:cs typeface="Open Sans"/>
              <a:sym typeface="Open San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04" name="Shape 3104"/>
        <p:cNvGrpSpPr/>
        <p:nvPr/>
      </p:nvGrpSpPr>
      <p:grpSpPr>
        <a:xfrm>
          <a:off x="0" y="0"/>
          <a:ext cx="0" cy="0"/>
          <a:chOff x="0" y="0"/>
          <a:chExt cx="0" cy="0"/>
        </a:xfrm>
      </p:grpSpPr>
      <p:sp>
        <p:nvSpPr>
          <p:cNvPr id="3105" name="Google Shape;3105;p20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Angle of What Sociology Is</a:t>
            </a:r>
            <a:endParaRPr/>
          </a:p>
        </p:txBody>
      </p:sp>
      <p:sp>
        <p:nvSpPr>
          <p:cNvPr id="3106" name="Google Shape;3106;p20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Some scholars are still of the opinion that sociology is not only without form and void, but that it must forever remain so, because nothing in the nature of things sanctions it; and the name is therefore merely a device to give new theorists a place. These critics know little about the deep currents of present popular thought. It is a very callow sociologist who imagines that he and his colaborers are inventing the subject-matter of a new science. </a:t>
            </a:r>
            <a:r>
              <a:rPr i="1" lang="en">
                <a:latin typeface="Times New Roman"/>
                <a:ea typeface="Times New Roman"/>
                <a:cs typeface="Times New Roman"/>
                <a:sym typeface="Times New Roman"/>
              </a:rPr>
              <a:t>They are trying to perfect means of answering obtrusive questions about society which the ordinary man is proposing every hour</a:t>
            </a:r>
            <a:r>
              <a:rPr lang="en">
                <a:latin typeface="Times New Roman"/>
                <a:ea typeface="Times New Roman"/>
                <a:cs typeface="Times New Roman"/>
                <a:sym typeface="Times New Roman"/>
              </a:rPr>
              <a:t> (AJS Editors 1895:6, italics added).</a:t>
            </a:r>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10" name="Shape 3110"/>
        <p:cNvGrpSpPr/>
        <p:nvPr/>
      </p:nvGrpSpPr>
      <p:grpSpPr>
        <a:xfrm>
          <a:off x="0" y="0"/>
          <a:ext cx="0" cy="0"/>
          <a:chOff x="0" y="0"/>
          <a:chExt cx="0" cy="0"/>
        </a:xfrm>
      </p:grpSpPr>
      <p:sp>
        <p:nvSpPr>
          <p:cNvPr id="3111" name="Google Shape;3111;p21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Self-Confidence and Victory	</a:t>
            </a:r>
            <a:endParaRPr/>
          </a:p>
        </p:txBody>
      </p:sp>
      <p:sp>
        <p:nvSpPr>
          <p:cNvPr id="3112" name="Google Shape;3112;p21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Self confidence is associated with winning social contests, but comes from many other attributes</a:t>
            </a:r>
            <a:endParaRPr/>
          </a:p>
          <a:p>
            <a:pPr indent="-342900" lvl="0" marL="457200" rtl="0" algn="l">
              <a:spcBef>
                <a:spcPts val="0"/>
              </a:spcBef>
              <a:spcAft>
                <a:spcPts val="0"/>
              </a:spcAft>
              <a:buSzPts val="1800"/>
              <a:buChar char="●"/>
            </a:pPr>
            <a:r>
              <a:rPr lang="en"/>
              <a:t>-Individual Characteristics</a:t>
            </a:r>
            <a:endParaRPr/>
          </a:p>
          <a:p>
            <a:pPr indent="-317500" lvl="1" marL="914400" rtl="0" algn="l">
              <a:spcBef>
                <a:spcPts val="0"/>
              </a:spcBef>
              <a:spcAft>
                <a:spcPts val="0"/>
              </a:spcAft>
              <a:buSzPts val="1400"/>
              <a:buChar char="○"/>
            </a:pPr>
            <a:r>
              <a:rPr lang="en"/>
              <a:t>Strength, age, intelligence, etc.</a:t>
            </a:r>
            <a:endParaRPr/>
          </a:p>
          <a:p>
            <a:pPr indent="-342900" lvl="0" marL="457200" rtl="0" algn="l">
              <a:spcBef>
                <a:spcPts val="0"/>
              </a:spcBef>
              <a:spcAft>
                <a:spcPts val="0"/>
              </a:spcAft>
              <a:buSzPts val="1800"/>
              <a:buChar char="●"/>
            </a:pPr>
            <a:r>
              <a:rPr lang="en"/>
              <a:t>-Social Characteristics</a:t>
            </a:r>
            <a:endParaRPr/>
          </a:p>
          <a:p>
            <a:pPr indent="-317500" lvl="1" marL="914400" rtl="0" algn="l">
              <a:spcBef>
                <a:spcPts val="0"/>
              </a:spcBef>
              <a:spcAft>
                <a:spcPts val="0"/>
              </a:spcAft>
              <a:buSzPts val="1400"/>
              <a:buChar char="○"/>
            </a:pPr>
            <a:r>
              <a:rPr lang="en"/>
              <a:t>Past wins, family descent</a:t>
            </a:r>
            <a:endParaRPr/>
          </a:p>
        </p:txBody>
      </p:sp>
      <p:sp>
        <p:nvSpPr>
          <p:cNvPr id="3113" name="Google Shape;3113;p210"/>
          <p:cNvSpPr txBox="1"/>
          <p:nvPr/>
        </p:nvSpPr>
        <p:spPr>
          <a:xfrm>
            <a:off x="724500" y="3537075"/>
            <a:ext cx="76950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A61C00"/>
                </a:solidFill>
                <a:latin typeface="Open Sans"/>
                <a:ea typeface="Open Sans"/>
                <a:cs typeface="Open Sans"/>
                <a:sym typeface="Open Sans"/>
              </a:rPr>
              <a:t>Contestation is mostly about ritual, and so self-confidence is a great way to win at ritual contestation. Contestation is often a game of chicken.</a:t>
            </a:r>
            <a:endParaRPr b="1" i="1">
              <a:solidFill>
                <a:srgbClr val="A61C00"/>
              </a:solidFill>
              <a:latin typeface="Open Sans"/>
              <a:ea typeface="Open Sans"/>
              <a:cs typeface="Open Sans"/>
              <a:sym typeface="Open San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17" name="Shape 3117"/>
        <p:cNvGrpSpPr/>
        <p:nvPr/>
      </p:nvGrpSpPr>
      <p:grpSpPr>
        <a:xfrm>
          <a:off x="0" y="0"/>
          <a:ext cx="0" cy="0"/>
          <a:chOff x="0" y="0"/>
          <a:chExt cx="0" cy="0"/>
        </a:xfrm>
      </p:grpSpPr>
      <p:sp>
        <p:nvSpPr>
          <p:cNvPr id="3118" name="Google Shape;3118;p21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Understanding Structure</a:t>
            </a:r>
            <a:endParaRPr/>
          </a:p>
        </p:txBody>
      </p:sp>
      <p:sp>
        <p:nvSpPr>
          <p:cNvPr id="3119" name="Google Shape;3119;p21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80000"/>
                </a:solidFill>
              </a:rPr>
              <a:t>We might, from the micro-foundations of agonistic encounters, build up to social structure (Chase 1982)</a:t>
            </a:r>
            <a:endParaRPr>
              <a:solidFill>
                <a:srgbClr val="980000"/>
              </a:solidFill>
            </a:endParaRPr>
          </a:p>
          <a:p>
            <a:pPr indent="0" lvl="0" marL="0" rtl="0" algn="ctr">
              <a:spcBef>
                <a:spcPts val="0"/>
              </a:spcBef>
              <a:spcAft>
                <a:spcPts val="0"/>
              </a:spcAft>
              <a:buNone/>
            </a:pPr>
            <a:r>
              <a:t/>
            </a:r>
            <a:endParaRPr/>
          </a:p>
          <a:p>
            <a:pPr indent="0" lvl="0" marL="0" rtl="0" algn="l">
              <a:spcBef>
                <a:spcPts val="0"/>
              </a:spcBef>
              <a:spcAft>
                <a:spcPts val="0"/>
              </a:spcAft>
              <a:buNone/>
            </a:pPr>
            <a:r>
              <a:rPr lang="en"/>
              <a:t>Key point is that intransitive triads become transitive in such situations</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3" name="Shape 3123"/>
        <p:cNvGrpSpPr/>
        <p:nvPr/>
      </p:nvGrpSpPr>
      <p:grpSpPr>
        <a:xfrm>
          <a:off x="0" y="0"/>
          <a:ext cx="0" cy="0"/>
          <a:chOff x="0" y="0"/>
          <a:chExt cx="0" cy="0"/>
        </a:xfrm>
      </p:grpSpPr>
      <p:sp>
        <p:nvSpPr>
          <p:cNvPr id="3124" name="Google Shape;3124;p21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Intransitive to Transitive</a:t>
            </a:r>
            <a:endParaRPr/>
          </a:p>
        </p:txBody>
      </p:sp>
      <p:sp>
        <p:nvSpPr>
          <p:cNvPr id="3125" name="Google Shape;3125;p212"/>
          <p:cNvSpPr txBox="1"/>
          <p:nvPr>
            <p:ph idx="1" type="body"/>
          </p:nvPr>
        </p:nvSpPr>
        <p:spPr>
          <a:xfrm>
            <a:off x="250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Red is a really important node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https://www.youtube.com/watch?v=zTqmiJ4LW9c</a:t>
            </a:r>
            <a:endParaRPr/>
          </a:p>
        </p:txBody>
      </p:sp>
      <p:sp>
        <p:nvSpPr>
          <p:cNvPr id="3126" name="Google Shape;3126;p212"/>
          <p:cNvSpPr/>
          <p:nvPr/>
        </p:nvSpPr>
        <p:spPr>
          <a:xfrm>
            <a:off x="672925" y="187647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212"/>
          <p:cNvSpPr/>
          <p:nvPr/>
        </p:nvSpPr>
        <p:spPr>
          <a:xfrm>
            <a:off x="540700" y="288272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212"/>
          <p:cNvSpPr/>
          <p:nvPr/>
        </p:nvSpPr>
        <p:spPr>
          <a:xfrm>
            <a:off x="1821425" y="2770850"/>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212"/>
          <p:cNvSpPr/>
          <p:nvPr/>
        </p:nvSpPr>
        <p:spPr>
          <a:xfrm>
            <a:off x="2522750" y="1876475"/>
            <a:ext cx="569400" cy="508200"/>
          </a:xfrm>
          <a:prstGeom prst="ellipse">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212"/>
          <p:cNvSpPr/>
          <p:nvPr/>
        </p:nvSpPr>
        <p:spPr>
          <a:xfrm>
            <a:off x="6995475" y="1713750"/>
            <a:ext cx="569400" cy="508200"/>
          </a:xfrm>
          <a:prstGeom prst="ellipse">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212"/>
          <p:cNvSpPr/>
          <p:nvPr/>
        </p:nvSpPr>
        <p:spPr>
          <a:xfrm>
            <a:off x="6344850" y="2770850"/>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212"/>
          <p:cNvSpPr/>
          <p:nvPr/>
        </p:nvSpPr>
        <p:spPr>
          <a:xfrm>
            <a:off x="4830200" y="293342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212"/>
          <p:cNvSpPr/>
          <p:nvPr/>
        </p:nvSpPr>
        <p:spPr>
          <a:xfrm>
            <a:off x="5084225" y="194732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34" name="Google Shape;3134;p212"/>
          <p:cNvCxnSpPr>
            <a:stCxn id="3126" idx="5"/>
            <a:endCxn id="3128" idx="1"/>
          </p:cNvCxnSpPr>
          <p:nvPr/>
        </p:nvCxnSpPr>
        <p:spPr>
          <a:xfrm>
            <a:off x="1158938" y="2310251"/>
            <a:ext cx="745800" cy="534900"/>
          </a:xfrm>
          <a:prstGeom prst="straightConnector1">
            <a:avLst/>
          </a:prstGeom>
          <a:noFill/>
          <a:ln cap="flat" cmpd="sng" w="28575">
            <a:solidFill>
              <a:srgbClr val="000000"/>
            </a:solidFill>
            <a:prstDash val="solid"/>
            <a:round/>
            <a:headEnd len="med" w="med" type="none"/>
            <a:tailEnd len="med" w="med" type="triangle"/>
          </a:ln>
        </p:spPr>
      </p:cxnSp>
      <p:cxnSp>
        <p:nvCxnSpPr>
          <p:cNvPr id="3135" name="Google Shape;3135;p212"/>
          <p:cNvCxnSpPr>
            <a:endCxn id="3127" idx="6"/>
          </p:cNvCxnSpPr>
          <p:nvPr/>
        </p:nvCxnSpPr>
        <p:spPr>
          <a:xfrm flipH="1">
            <a:off x="1110100" y="3114025"/>
            <a:ext cx="711300" cy="22800"/>
          </a:xfrm>
          <a:prstGeom prst="straightConnector1">
            <a:avLst/>
          </a:prstGeom>
          <a:noFill/>
          <a:ln cap="flat" cmpd="sng" w="28575">
            <a:solidFill>
              <a:srgbClr val="000000"/>
            </a:solidFill>
            <a:prstDash val="solid"/>
            <a:round/>
            <a:headEnd len="med" w="med" type="none"/>
            <a:tailEnd len="med" w="med" type="triangle"/>
          </a:ln>
        </p:spPr>
      </p:cxnSp>
      <p:cxnSp>
        <p:nvCxnSpPr>
          <p:cNvPr id="3136" name="Google Shape;3136;p212"/>
          <p:cNvCxnSpPr>
            <a:stCxn id="3127" idx="0"/>
            <a:endCxn id="3126" idx="4"/>
          </p:cNvCxnSpPr>
          <p:nvPr/>
        </p:nvCxnSpPr>
        <p:spPr>
          <a:xfrm flipH="1" rot="10800000">
            <a:off x="825400" y="2384725"/>
            <a:ext cx="132300" cy="498000"/>
          </a:xfrm>
          <a:prstGeom prst="straightConnector1">
            <a:avLst/>
          </a:prstGeom>
          <a:noFill/>
          <a:ln cap="flat" cmpd="sng" w="28575">
            <a:solidFill>
              <a:srgbClr val="000000"/>
            </a:solidFill>
            <a:prstDash val="solid"/>
            <a:round/>
            <a:headEnd len="med" w="med" type="none"/>
            <a:tailEnd len="med" w="med" type="triangle"/>
          </a:ln>
        </p:spPr>
      </p:cxnSp>
      <p:cxnSp>
        <p:nvCxnSpPr>
          <p:cNvPr id="3137" name="Google Shape;3137;p212"/>
          <p:cNvCxnSpPr/>
          <p:nvPr/>
        </p:nvCxnSpPr>
        <p:spPr>
          <a:xfrm>
            <a:off x="1367276" y="1933976"/>
            <a:ext cx="982800" cy="23700"/>
          </a:xfrm>
          <a:prstGeom prst="straightConnector1">
            <a:avLst/>
          </a:prstGeom>
          <a:noFill/>
          <a:ln cap="flat" cmpd="sng" w="28575">
            <a:solidFill>
              <a:srgbClr val="000000"/>
            </a:solidFill>
            <a:prstDash val="solid"/>
            <a:round/>
            <a:headEnd len="med" w="med" type="none"/>
            <a:tailEnd len="med" w="med" type="triangle"/>
          </a:ln>
        </p:spPr>
      </p:cxnSp>
      <p:cxnSp>
        <p:nvCxnSpPr>
          <p:cNvPr id="3138" name="Google Shape;3138;p212"/>
          <p:cNvCxnSpPr/>
          <p:nvPr/>
        </p:nvCxnSpPr>
        <p:spPr>
          <a:xfrm rot="10800000">
            <a:off x="1404913" y="2221951"/>
            <a:ext cx="892200" cy="0"/>
          </a:xfrm>
          <a:prstGeom prst="straightConnector1">
            <a:avLst/>
          </a:prstGeom>
          <a:noFill/>
          <a:ln cap="flat" cmpd="sng" w="28575">
            <a:solidFill>
              <a:srgbClr val="000000"/>
            </a:solidFill>
            <a:prstDash val="solid"/>
            <a:round/>
            <a:headEnd len="med" w="med" type="none"/>
            <a:tailEnd len="med" w="med" type="triangle"/>
          </a:ln>
        </p:spPr>
      </p:cxnSp>
      <p:cxnSp>
        <p:nvCxnSpPr>
          <p:cNvPr id="3139" name="Google Shape;3139;p212"/>
          <p:cNvCxnSpPr/>
          <p:nvPr/>
        </p:nvCxnSpPr>
        <p:spPr>
          <a:xfrm flipH="1" rot="10800000">
            <a:off x="5163625" y="2455525"/>
            <a:ext cx="134400" cy="484800"/>
          </a:xfrm>
          <a:prstGeom prst="straightConnector1">
            <a:avLst/>
          </a:prstGeom>
          <a:noFill/>
          <a:ln cap="flat" cmpd="sng" w="28575">
            <a:solidFill>
              <a:srgbClr val="000000"/>
            </a:solidFill>
            <a:prstDash val="solid"/>
            <a:round/>
            <a:headEnd len="med" w="med" type="none"/>
            <a:tailEnd len="med" w="med" type="triangle"/>
          </a:ln>
        </p:spPr>
      </p:cxnSp>
      <p:cxnSp>
        <p:nvCxnSpPr>
          <p:cNvPr id="3140" name="Google Shape;3140;p212"/>
          <p:cNvCxnSpPr>
            <a:endCxn id="3133" idx="5"/>
          </p:cNvCxnSpPr>
          <p:nvPr/>
        </p:nvCxnSpPr>
        <p:spPr>
          <a:xfrm rot="10800000">
            <a:off x="5570238" y="2381101"/>
            <a:ext cx="915000" cy="407400"/>
          </a:xfrm>
          <a:prstGeom prst="straightConnector1">
            <a:avLst/>
          </a:prstGeom>
          <a:noFill/>
          <a:ln cap="flat" cmpd="sng" w="28575">
            <a:solidFill>
              <a:srgbClr val="000000"/>
            </a:solidFill>
            <a:prstDash val="solid"/>
            <a:round/>
            <a:headEnd len="med" w="med" type="none"/>
            <a:tailEnd len="med" w="med" type="triangle"/>
          </a:ln>
        </p:spPr>
      </p:cxnSp>
      <p:cxnSp>
        <p:nvCxnSpPr>
          <p:cNvPr id="3141" name="Google Shape;3141;p212"/>
          <p:cNvCxnSpPr>
            <a:stCxn id="3131" idx="7"/>
          </p:cNvCxnSpPr>
          <p:nvPr/>
        </p:nvCxnSpPr>
        <p:spPr>
          <a:xfrm flipH="1" rot="10800000">
            <a:off x="6830863" y="2313074"/>
            <a:ext cx="296700" cy="532200"/>
          </a:xfrm>
          <a:prstGeom prst="straightConnector1">
            <a:avLst/>
          </a:prstGeom>
          <a:noFill/>
          <a:ln cap="flat" cmpd="sng" w="28575">
            <a:solidFill>
              <a:srgbClr val="000000"/>
            </a:solidFill>
            <a:prstDash val="solid"/>
            <a:round/>
            <a:headEnd len="med" w="med" type="none"/>
            <a:tailEnd len="med" w="med" type="triangle"/>
          </a:ln>
        </p:spPr>
      </p:cxnSp>
      <p:cxnSp>
        <p:nvCxnSpPr>
          <p:cNvPr id="3142" name="Google Shape;3142;p212"/>
          <p:cNvCxnSpPr>
            <a:endCxn id="3132" idx="6"/>
          </p:cNvCxnSpPr>
          <p:nvPr/>
        </p:nvCxnSpPr>
        <p:spPr>
          <a:xfrm flipH="1">
            <a:off x="5399600" y="3114025"/>
            <a:ext cx="965400" cy="73500"/>
          </a:xfrm>
          <a:prstGeom prst="straightConnector1">
            <a:avLst/>
          </a:prstGeom>
          <a:noFill/>
          <a:ln cap="flat" cmpd="sng" w="28575">
            <a:solidFill>
              <a:srgbClr val="000000"/>
            </a:solidFill>
            <a:prstDash val="solid"/>
            <a:round/>
            <a:headEnd len="med" w="med" type="none"/>
            <a:tailEnd len="med" w="med" type="triangle"/>
          </a:ln>
        </p:spPr>
      </p:cxnSp>
      <p:cxnSp>
        <p:nvCxnSpPr>
          <p:cNvPr id="3143" name="Google Shape;3143;p212"/>
          <p:cNvCxnSpPr>
            <a:stCxn id="3130" idx="2"/>
            <a:endCxn id="3133" idx="6"/>
          </p:cNvCxnSpPr>
          <p:nvPr/>
        </p:nvCxnSpPr>
        <p:spPr>
          <a:xfrm flipH="1">
            <a:off x="5653575" y="1967850"/>
            <a:ext cx="1341900" cy="233700"/>
          </a:xfrm>
          <a:prstGeom prst="straightConnector1">
            <a:avLst/>
          </a:prstGeom>
          <a:noFill/>
          <a:ln cap="flat" cmpd="sng" w="28575">
            <a:solidFill>
              <a:srgbClr val="000000"/>
            </a:solidFill>
            <a:prstDash val="solid"/>
            <a:round/>
            <a:headEnd len="med" w="med" type="none"/>
            <a:tailEnd len="med" w="med" type="triangle"/>
          </a:ln>
        </p:spPr>
      </p:cxnSp>
      <p:cxnSp>
        <p:nvCxnSpPr>
          <p:cNvPr id="3144" name="Google Shape;3144;p212"/>
          <p:cNvCxnSpPr>
            <a:endCxn id="3130" idx="1"/>
          </p:cNvCxnSpPr>
          <p:nvPr/>
        </p:nvCxnSpPr>
        <p:spPr>
          <a:xfrm flipH="1" rot="10800000">
            <a:off x="5570162" y="1788174"/>
            <a:ext cx="1508700" cy="243600"/>
          </a:xfrm>
          <a:prstGeom prst="straightConnector1">
            <a:avLst/>
          </a:prstGeom>
          <a:noFill/>
          <a:ln cap="flat" cmpd="sng" w="28575">
            <a:solidFill>
              <a:srgbClr val="000000"/>
            </a:solidFill>
            <a:prstDash val="solid"/>
            <a:round/>
            <a:headEnd len="med" w="med" type="none"/>
            <a:tailEnd len="med" w="med" type="triangle"/>
          </a:ln>
        </p:spPr>
      </p:cxnSp>
      <p:cxnSp>
        <p:nvCxnSpPr>
          <p:cNvPr id="3145" name="Google Shape;3145;p212"/>
          <p:cNvCxnSpPr/>
          <p:nvPr/>
        </p:nvCxnSpPr>
        <p:spPr>
          <a:xfrm>
            <a:off x="3285325" y="2647300"/>
            <a:ext cx="1250400" cy="0"/>
          </a:xfrm>
          <a:prstGeom prst="straightConnector1">
            <a:avLst/>
          </a:prstGeom>
          <a:noFill/>
          <a:ln cap="flat" cmpd="sng" w="152400">
            <a:solidFill>
              <a:srgbClr val="000000"/>
            </a:solidFill>
            <a:prstDash val="solid"/>
            <a:round/>
            <a:headEnd len="med" w="med" type="none"/>
            <a:tailEnd len="med" w="med" type="triangle"/>
          </a:ln>
        </p:spPr>
      </p:cxn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9" name="Shape 3149"/>
        <p:cNvGrpSpPr/>
        <p:nvPr/>
      </p:nvGrpSpPr>
      <p:grpSpPr>
        <a:xfrm>
          <a:off x="0" y="0"/>
          <a:ext cx="0" cy="0"/>
          <a:chOff x="0" y="0"/>
          <a:chExt cx="0" cy="0"/>
        </a:xfrm>
      </p:grpSpPr>
      <p:sp>
        <p:nvSpPr>
          <p:cNvPr id="3150" name="Google Shape;3150;p21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Hierarchy as Exchange</a:t>
            </a:r>
            <a:endParaRPr/>
          </a:p>
        </p:txBody>
      </p:sp>
      <p:sp>
        <p:nvSpPr>
          <p:cNvPr id="3151" name="Google Shape;3151;p21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Roger Gould’s Model of Relationship’s as Exchange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solidFill>
                  <a:srgbClr val="980000"/>
                </a:solidFill>
              </a:rPr>
              <a:t>u</a:t>
            </a:r>
            <a:r>
              <a:rPr lang="en">
                <a:solidFill>
                  <a:srgbClr val="980000"/>
                </a:solidFill>
              </a:rPr>
              <a:t> is utility, </a:t>
            </a:r>
            <a:r>
              <a:rPr i="1" lang="en">
                <a:solidFill>
                  <a:srgbClr val="980000"/>
                </a:solidFill>
              </a:rPr>
              <a:t>a</a:t>
            </a:r>
            <a:r>
              <a:rPr lang="en">
                <a:solidFill>
                  <a:srgbClr val="980000"/>
                </a:solidFill>
              </a:rPr>
              <a:t> is the tie strength/deference, </a:t>
            </a:r>
            <a:r>
              <a:rPr i="1" lang="en">
                <a:solidFill>
                  <a:srgbClr val="980000"/>
                </a:solidFill>
              </a:rPr>
              <a:t>q</a:t>
            </a:r>
            <a:r>
              <a:rPr lang="en">
                <a:solidFill>
                  <a:srgbClr val="980000"/>
                </a:solidFill>
              </a:rPr>
              <a:t> is quality, </a:t>
            </a:r>
            <a:r>
              <a:rPr i="1" lang="en">
                <a:solidFill>
                  <a:srgbClr val="980000"/>
                </a:solidFill>
              </a:rPr>
              <a:t>s</a:t>
            </a:r>
            <a:r>
              <a:rPr lang="en">
                <a:solidFill>
                  <a:srgbClr val="980000"/>
                </a:solidFill>
              </a:rPr>
              <a:t> is desire for reciprocity</a:t>
            </a:r>
            <a:endParaRPr>
              <a:solidFill>
                <a:srgbClr val="980000"/>
              </a:solidFill>
            </a:endParaRPr>
          </a:p>
          <a:p>
            <a:pPr indent="0" lvl="0" marL="0" rtl="0" algn="l">
              <a:spcBef>
                <a:spcPts val="0"/>
              </a:spcBef>
              <a:spcAft>
                <a:spcPts val="0"/>
              </a:spcAft>
              <a:buNone/>
            </a:pPr>
            <a:r>
              <a:rPr lang="en">
                <a:solidFill>
                  <a:srgbClr val="980000"/>
                </a:solidFill>
              </a:rPr>
              <a:t>In end, the model is driven by the quality of actors and deference</a:t>
            </a:r>
            <a:endParaRPr>
              <a:solidFill>
                <a:srgbClr val="980000"/>
              </a:solidFill>
            </a:endParaRPr>
          </a:p>
        </p:txBody>
      </p:sp>
      <p:pic>
        <p:nvPicPr>
          <p:cNvPr id="3152" name="Google Shape;3152;p213"/>
          <p:cNvPicPr preferRelativeResize="0"/>
          <p:nvPr/>
        </p:nvPicPr>
        <p:blipFill>
          <a:blip r:embed="rId3">
            <a:alphaModFix/>
          </a:blip>
          <a:stretch>
            <a:fillRect/>
          </a:stretch>
        </p:blipFill>
        <p:spPr>
          <a:xfrm>
            <a:off x="2067450" y="2262550"/>
            <a:ext cx="5009100" cy="101670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56" name="Shape 3156"/>
        <p:cNvGrpSpPr/>
        <p:nvPr/>
      </p:nvGrpSpPr>
      <p:grpSpPr>
        <a:xfrm>
          <a:off x="0" y="0"/>
          <a:ext cx="0" cy="0"/>
          <a:chOff x="0" y="0"/>
          <a:chExt cx="0" cy="0"/>
        </a:xfrm>
      </p:grpSpPr>
      <p:sp>
        <p:nvSpPr>
          <p:cNvPr id="3157" name="Google Shape;3157;p2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Find that Results Vary </a:t>
            </a:r>
            <a:endParaRPr/>
          </a:p>
        </p:txBody>
      </p:sp>
      <p:pic>
        <p:nvPicPr>
          <p:cNvPr id="3158" name="Google Shape;3158;p214"/>
          <p:cNvPicPr preferRelativeResize="0"/>
          <p:nvPr/>
        </p:nvPicPr>
        <p:blipFill>
          <a:blip r:embed="rId3">
            <a:alphaModFix/>
          </a:blip>
          <a:stretch>
            <a:fillRect/>
          </a:stretch>
        </p:blipFill>
        <p:spPr>
          <a:xfrm>
            <a:off x="1505113" y="1147225"/>
            <a:ext cx="6133770" cy="377065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2" name="Shape 3162"/>
        <p:cNvGrpSpPr/>
        <p:nvPr/>
      </p:nvGrpSpPr>
      <p:grpSpPr>
        <a:xfrm>
          <a:off x="0" y="0"/>
          <a:ext cx="0" cy="0"/>
          <a:chOff x="0" y="0"/>
          <a:chExt cx="0" cy="0"/>
        </a:xfrm>
      </p:grpSpPr>
      <p:sp>
        <p:nvSpPr>
          <p:cNvPr id="3163" name="Google Shape;3163;p2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You Always Hurt the One You Love</a:t>
            </a:r>
            <a:endParaRPr/>
          </a:p>
        </p:txBody>
      </p:sp>
      <p:sp>
        <p:nvSpPr>
          <p:cNvPr id="3164" name="Google Shape;3164;p21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Obvious explanation:</a:t>
            </a:r>
            <a:r>
              <a:rPr lang="en"/>
              <a:t> Bully’s target the weak because they themselves are insecure, mean people</a:t>
            </a:r>
            <a:endParaRPr/>
          </a:p>
          <a:p>
            <a:pPr indent="0" lvl="0" marL="0" rtl="0" algn="l">
              <a:spcBef>
                <a:spcPts val="0"/>
              </a:spcBef>
              <a:spcAft>
                <a:spcPts val="0"/>
              </a:spcAft>
              <a:buNone/>
            </a:pPr>
            <a:r>
              <a:rPr b="1" lang="en"/>
              <a:t>Sociology explanation:</a:t>
            </a:r>
            <a:r>
              <a:rPr lang="en"/>
              <a:t> Most bullying is done by your friends because they are insecure, mean people. But aren’t we all?</a:t>
            </a:r>
            <a:endParaRPr/>
          </a:p>
          <a:p>
            <a:pPr indent="0" lvl="0" marL="0" rtl="0" algn="l">
              <a:spcBef>
                <a:spcPts val="0"/>
              </a:spcBef>
              <a:spcAft>
                <a:spcPts val="0"/>
              </a:spcAft>
              <a:buNone/>
            </a:pPr>
            <a:r>
              <a:t/>
            </a:r>
            <a:endParaRPr/>
          </a:p>
        </p:txBody>
      </p:sp>
      <p:sp>
        <p:nvSpPr>
          <p:cNvPr id="3165" name="Google Shape;3165;p215"/>
          <p:cNvSpPr txBox="1"/>
          <p:nvPr/>
        </p:nvSpPr>
        <p:spPr>
          <a:xfrm>
            <a:off x="6304350" y="4671900"/>
            <a:ext cx="34767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Recap of Felmlee and Faris 2016</a:t>
            </a:r>
            <a:endParaRPr>
              <a:latin typeface="Open Sans"/>
              <a:ea typeface="Open Sans"/>
              <a:cs typeface="Open Sans"/>
              <a:sym typeface="Open San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9" name="Shape 3169"/>
        <p:cNvGrpSpPr/>
        <p:nvPr/>
      </p:nvGrpSpPr>
      <p:grpSpPr>
        <a:xfrm>
          <a:off x="0" y="0"/>
          <a:ext cx="0" cy="0"/>
          <a:chOff x="0" y="0"/>
          <a:chExt cx="0" cy="0"/>
        </a:xfrm>
      </p:grpSpPr>
      <p:sp>
        <p:nvSpPr>
          <p:cNvPr id="3170" name="Google Shape;3170;p2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Because It Works (But It’s Still Mean)</a:t>
            </a:r>
            <a:endParaRPr/>
          </a:p>
        </p:txBody>
      </p:sp>
      <p:sp>
        <p:nvSpPr>
          <p:cNvPr id="3171" name="Google Shape;3171;p21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Why Go After Friends and Dating Partners?</a:t>
            </a:r>
            <a:endParaRPr/>
          </a:p>
          <a:p>
            <a:pPr indent="0" lvl="0" marL="0" rtl="0" algn="ctr">
              <a:spcBef>
                <a:spcPts val="0"/>
              </a:spcBef>
              <a:spcAft>
                <a:spcPts val="0"/>
              </a:spcAft>
              <a:buNone/>
            </a:pPr>
            <a:r>
              <a:rPr lang="en">
                <a:solidFill>
                  <a:srgbClr val="980000"/>
                </a:solidFill>
              </a:rPr>
              <a:t>We can think of rumors as agonistic encounters where we are interested in changing the symmetry of relationships</a:t>
            </a:r>
            <a:endParaRPr>
              <a:solidFill>
                <a:srgbClr val="980000"/>
              </a:solidFill>
            </a:endParaRPr>
          </a:p>
        </p:txBody>
      </p:sp>
      <p:sp>
        <p:nvSpPr>
          <p:cNvPr id="3172" name="Google Shape;3172;p216"/>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6" name="Shape 3176"/>
        <p:cNvGrpSpPr/>
        <p:nvPr/>
      </p:nvGrpSpPr>
      <p:grpSpPr>
        <a:xfrm>
          <a:off x="0" y="0"/>
          <a:ext cx="0" cy="0"/>
          <a:chOff x="0" y="0"/>
          <a:chExt cx="0" cy="0"/>
        </a:xfrm>
      </p:grpSpPr>
      <p:sp>
        <p:nvSpPr>
          <p:cNvPr id="3177" name="Google Shape;3177;p2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overlaying of positive and negative ties</a:t>
            </a:r>
            <a:endParaRPr/>
          </a:p>
        </p:txBody>
      </p:sp>
      <p:sp>
        <p:nvSpPr>
          <p:cNvPr id="3178" name="Google Shape;3178;p217"/>
          <p:cNvSpPr txBox="1"/>
          <p:nvPr>
            <p:ph idx="1" type="body"/>
          </p:nvPr>
        </p:nvSpPr>
        <p:spPr>
          <a:xfrm>
            <a:off x="311700" y="1225225"/>
            <a:ext cx="5386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Commonalities between positive and negative ties in social networks</a:t>
            </a:r>
            <a:endParaRPr/>
          </a:p>
          <a:p>
            <a:pPr indent="-317500" lvl="1" marL="914400" rtl="0" algn="l">
              <a:spcBef>
                <a:spcPts val="0"/>
              </a:spcBef>
              <a:spcAft>
                <a:spcPts val="0"/>
              </a:spcAft>
              <a:buSzPts val="1400"/>
              <a:buChar char="○"/>
            </a:pPr>
            <a:r>
              <a:rPr lang="en"/>
              <a:t>Friends and Enemies are:</a:t>
            </a:r>
            <a:endParaRPr/>
          </a:p>
          <a:p>
            <a:pPr indent="-317500" lvl="2" marL="1371600" rtl="0" algn="l">
              <a:spcBef>
                <a:spcPts val="0"/>
              </a:spcBef>
              <a:spcAft>
                <a:spcPts val="0"/>
              </a:spcAft>
              <a:buSzPts val="1400"/>
              <a:buChar char="■"/>
            </a:pPr>
            <a:r>
              <a:rPr lang="en"/>
              <a:t>Socially close to us in some way</a:t>
            </a:r>
            <a:endParaRPr/>
          </a:p>
          <a:p>
            <a:pPr indent="-317500" lvl="2" marL="1371600" rtl="0" algn="l">
              <a:spcBef>
                <a:spcPts val="0"/>
              </a:spcBef>
              <a:spcAft>
                <a:spcPts val="0"/>
              </a:spcAft>
              <a:buSzPts val="1400"/>
              <a:buChar char="■"/>
            </a:pPr>
            <a:r>
              <a:rPr lang="en"/>
              <a:t>We compete with them for the attention of others who we are also competing with (clubs, workplaces, teams)</a:t>
            </a:r>
            <a:endParaRPr/>
          </a:p>
          <a:p>
            <a:pPr indent="-317500" lvl="2" marL="1371600" rtl="0" algn="l">
              <a:spcBef>
                <a:spcPts val="0"/>
              </a:spcBef>
              <a:spcAft>
                <a:spcPts val="0"/>
              </a:spcAft>
              <a:buSzPts val="1400"/>
              <a:buChar char="■"/>
            </a:pPr>
            <a:r>
              <a:rPr lang="en"/>
              <a:t>We also compete for socially close romantic partners, or remain socially close to them after a breakup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179" name="Google Shape;3179;p217"/>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83" name="Shape 3183"/>
        <p:cNvGrpSpPr/>
        <p:nvPr/>
      </p:nvGrpSpPr>
      <p:grpSpPr>
        <a:xfrm>
          <a:off x="0" y="0"/>
          <a:ext cx="0" cy="0"/>
          <a:chOff x="0" y="0"/>
          <a:chExt cx="0" cy="0"/>
        </a:xfrm>
      </p:grpSpPr>
      <p:pic>
        <p:nvPicPr>
          <p:cNvPr id="3184" name="Google Shape;3184;p218"/>
          <p:cNvPicPr preferRelativeResize="0"/>
          <p:nvPr/>
        </p:nvPicPr>
        <p:blipFill>
          <a:blip r:embed="rId3">
            <a:alphaModFix/>
          </a:blip>
          <a:stretch>
            <a:fillRect/>
          </a:stretch>
        </p:blipFill>
        <p:spPr>
          <a:xfrm>
            <a:off x="1175750" y="0"/>
            <a:ext cx="7029450" cy="4827325"/>
          </a:xfrm>
          <a:prstGeom prst="rect">
            <a:avLst/>
          </a:prstGeom>
          <a:noFill/>
          <a:ln>
            <a:noFill/>
          </a:ln>
        </p:spPr>
      </p:pic>
      <p:sp>
        <p:nvSpPr>
          <p:cNvPr id="3185" name="Google Shape;3185;p218"/>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89" name="Shape 3189"/>
        <p:cNvGrpSpPr/>
        <p:nvPr/>
      </p:nvGrpSpPr>
      <p:grpSpPr>
        <a:xfrm>
          <a:off x="0" y="0"/>
          <a:ext cx="0" cy="0"/>
          <a:chOff x="0" y="0"/>
          <a:chExt cx="0" cy="0"/>
        </a:xfrm>
      </p:grpSpPr>
      <p:sp>
        <p:nvSpPr>
          <p:cNvPr id="3190" name="Google Shape;3190;p2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Great Debate of Our Time</a:t>
            </a:r>
            <a:endParaRPr/>
          </a:p>
        </p:txBody>
      </p:sp>
      <p:sp>
        <p:nvSpPr>
          <p:cNvPr id="3191" name="Google Shape;3191;p219"/>
          <p:cNvSpPr/>
          <p:nvPr/>
        </p:nvSpPr>
        <p:spPr>
          <a:xfrm>
            <a:off x="835575" y="3411400"/>
            <a:ext cx="782700" cy="6912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219"/>
          <p:cNvSpPr/>
          <p:nvPr/>
        </p:nvSpPr>
        <p:spPr>
          <a:xfrm>
            <a:off x="2736350" y="2079550"/>
            <a:ext cx="782700" cy="6912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219"/>
          <p:cNvSpPr/>
          <p:nvPr/>
        </p:nvSpPr>
        <p:spPr>
          <a:xfrm>
            <a:off x="3935750" y="3238425"/>
            <a:ext cx="782700" cy="6912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219"/>
          <p:cNvSpPr/>
          <p:nvPr/>
        </p:nvSpPr>
        <p:spPr>
          <a:xfrm>
            <a:off x="4833050" y="2079550"/>
            <a:ext cx="782700" cy="6912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219"/>
          <p:cNvSpPr/>
          <p:nvPr/>
        </p:nvSpPr>
        <p:spPr>
          <a:xfrm>
            <a:off x="6864650" y="2079550"/>
            <a:ext cx="782700" cy="6912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219"/>
          <p:cNvSpPr txBox="1"/>
          <p:nvPr/>
        </p:nvSpPr>
        <p:spPr>
          <a:xfrm>
            <a:off x="2207850" y="1754475"/>
            <a:ext cx="1937100" cy="26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Bradley Cooper</a:t>
            </a:r>
            <a:endParaRPr sz="1600">
              <a:latin typeface="Economica"/>
              <a:ea typeface="Economica"/>
              <a:cs typeface="Economica"/>
              <a:sym typeface="Economica"/>
            </a:endParaRPr>
          </a:p>
        </p:txBody>
      </p:sp>
      <p:sp>
        <p:nvSpPr>
          <p:cNvPr id="3197" name="Google Shape;3197;p219"/>
          <p:cNvSpPr txBox="1"/>
          <p:nvPr/>
        </p:nvSpPr>
        <p:spPr>
          <a:xfrm>
            <a:off x="4760000" y="1754475"/>
            <a:ext cx="1187400" cy="26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Lady Gaga</a:t>
            </a:r>
            <a:endParaRPr sz="1600">
              <a:latin typeface="Economica"/>
              <a:ea typeface="Economica"/>
              <a:cs typeface="Economica"/>
              <a:sym typeface="Economica"/>
            </a:endParaRPr>
          </a:p>
        </p:txBody>
      </p:sp>
      <p:sp>
        <p:nvSpPr>
          <p:cNvPr id="3198" name="Google Shape;3198;p219"/>
          <p:cNvSpPr txBox="1"/>
          <p:nvPr/>
        </p:nvSpPr>
        <p:spPr>
          <a:xfrm>
            <a:off x="3856275" y="4011025"/>
            <a:ext cx="1187400" cy="26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Irina Shayk</a:t>
            </a:r>
            <a:endParaRPr sz="1600">
              <a:latin typeface="Economica"/>
              <a:ea typeface="Economica"/>
              <a:cs typeface="Economica"/>
              <a:sym typeface="Economica"/>
            </a:endParaRPr>
          </a:p>
        </p:txBody>
      </p:sp>
      <p:cxnSp>
        <p:nvCxnSpPr>
          <p:cNvPr id="3199" name="Google Shape;3199;p219"/>
          <p:cNvCxnSpPr>
            <a:stCxn id="3192" idx="5"/>
            <a:endCxn id="3193" idx="1"/>
          </p:cNvCxnSpPr>
          <p:nvPr/>
        </p:nvCxnSpPr>
        <p:spPr>
          <a:xfrm>
            <a:off x="3404426" y="2669526"/>
            <a:ext cx="645900" cy="670200"/>
          </a:xfrm>
          <a:prstGeom prst="straightConnector1">
            <a:avLst/>
          </a:prstGeom>
          <a:noFill/>
          <a:ln cap="flat" cmpd="sng" w="28575">
            <a:solidFill>
              <a:srgbClr val="000000"/>
            </a:solidFill>
            <a:prstDash val="solid"/>
            <a:round/>
            <a:headEnd len="med" w="med" type="none"/>
            <a:tailEnd len="med" w="med" type="triangle"/>
          </a:ln>
        </p:spPr>
      </p:cxnSp>
      <p:cxnSp>
        <p:nvCxnSpPr>
          <p:cNvPr id="3200" name="Google Shape;3200;p219"/>
          <p:cNvCxnSpPr>
            <a:stCxn id="3193" idx="2"/>
            <a:endCxn id="3192" idx="4"/>
          </p:cNvCxnSpPr>
          <p:nvPr/>
        </p:nvCxnSpPr>
        <p:spPr>
          <a:xfrm rot="10800000">
            <a:off x="3127550" y="2770725"/>
            <a:ext cx="808200" cy="813300"/>
          </a:xfrm>
          <a:prstGeom prst="straightConnector1">
            <a:avLst/>
          </a:prstGeom>
          <a:noFill/>
          <a:ln cap="flat" cmpd="sng" w="28575">
            <a:solidFill>
              <a:srgbClr val="000000"/>
            </a:solidFill>
            <a:prstDash val="solid"/>
            <a:round/>
            <a:headEnd len="med" w="med" type="none"/>
            <a:tailEnd len="med" w="med" type="triangle"/>
          </a:ln>
        </p:spPr>
      </p:cxnSp>
      <p:cxnSp>
        <p:nvCxnSpPr>
          <p:cNvPr id="3201" name="Google Shape;3201;p219"/>
          <p:cNvCxnSpPr>
            <a:stCxn id="3194" idx="1"/>
            <a:endCxn id="3192" idx="7"/>
          </p:cNvCxnSpPr>
          <p:nvPr/>
        </p:nvCxnSpPr>
        <p:spPr>
          <a:xfrm rot="10800000">
            <a:off x="3404474" y="2180774"/>
            <a:ext cx="1543200" cy="0"/>
          </a:xfrm>
          <a:prstGeom prst="straightConnector1">
            <a:avLst/>
          </a:prstGeom>
          <a:noFill/>
          <a:ln cap="flat" cmpd="sng" w="28575">
            <a:solidFill>
              <a:srgbClr val="000000"/>
            </a:solidFill>
            <a:prstDash val="solid"/>
            <a:round/>
            <a:headEnd len="med" w="med" type="none"/>
            <a:tailEnd len="med" w="med" type="triangle"/>
          </a:ln>
        </p:spPr>
      </p:cxnSp>
      <p:cxnSp>
        <p:nvCxnSpPr>
          <p:cNvPr id="3202" name="Google Shape;3202;p219"/>
          <p:cNvCxnSpPr/>
          <p:nvPr/>
        </p:nvCxnSpPr>
        <p:spPr>
          <a:xfrm flipH="1" rot="10800000">
            <a:off x="3519050" y="2431488"/>
            <a:ext cx="1317600" cy="11700"/>
          </a:xfrm>
          <a:prstGeom prst="straightConnector1">
            <a:avLst/>
          </a:prstGeom>
          <a:noFill/>
          <a:ln cap="flat" cmpd="sng" w="28575">
            <a:solidFill>
              <a:srgbClr val="000000"/>
            </a:solidFill>
            <a:prstDash val="solid"/>
            <a:round/>
            <a:headEnd len="med" w="med" type="none"/>
            <a:tailEnd len="med" w="med" type="triangle"/>
          </a:ln>
        </p:spPr>
      </p:cxnSp>
      <p:sp>
        <p:nvSpPr>
          <p:cNvPr id="3203" name="Google Shape;3203;p219"/>
          <p:cNvSpPr txBox="1"/>
          <p:nvPr/>
        </p:nvSpPr>
        <p:spPr>
          <a:xfrm>
            <a:off x="2736350" y="3136775"/>
            <a:ext cx="924000" cy="4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Open Sans"/>
                <a:ea typeface="Open Sans"/>
                <a:cs typeface="Open Sans"/>
                <a:sym typeface="Open Sans"/>
              </a:rPr>
              <a:t>Official</a:t>
            </a:r>
            <a:endParaRPr b="1">
              <a:latin typeface="Open Sans"/>
              <a:ea typeface="Open Sans"/>
              <a:cs typeface="Open Sans"/>
              <a:sym typeface="Open Sans"/>
            </a:endParaRPr>
          </a:p>
        </p:txBody>
      </p:sp>
      <p:sp>
        <p:nvSpPr>
          <p:cNvPr id="3204" name="Google Shape;3204;p219"/>
          <p:cNvSpPr txBox="1"/>
          <p:nvPr/>
        </p:nvSpPr>
        <p:spPr>
          <a:xfrm>
            <a:off x="4079000" y="1657713"/>
            <a:ext cx="323400" cy="4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Open Sans"/>
                <a:ea typeface="Open Sans"/>
                <a:cs typeface="Open Sans"/>
                <a:sym typeface="Open Sans"/>
              </a:rPr>
              <a:t>?</a:t>
            </a:r>
            <a:endParaRPr b="1" sz="2400">
              <a:latin typeface="Open Sans"/>
              <a:ea typeface="Open Sans"/>
              <a:cs typeface="Open Sans"/>
              <a:sym typeface="Open Sans"/>
            </a:endParaRPr>
          </a:p>
        </p:txBody>
      </p:sp>
      <p:sp>
        <p:nvSpPr>
          <p:cNvPr id="3205" name="Google Shape;3205;p219"/>
          <p:cNvSpPr txBox="1"/>
          <p:nvPr/>
        </p:nvSpPr>
        <p:spPr>
          <a:xfrm>
            <a:off x="311700" y="4183850"/>
            <a:ext cx="2424600" cy="26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Bradley Cooper’s Ex Wife</a:t>
            </a:r>
            <a:endParaRPr sz="1600">
              <a:latin typeface="Economica"/>
              <a:ea typeface="Economica"/>
              <a:cs typeface="Economica"/>
              <a:sym typeface="Economica"/>
            </a:endParaRPr>
          </a:p>
        </p:txBody>
      </p:sp>
      <p:sp>
        <p:nvSpPr>
          <p:cNvPr id="3206" name="Google Shape;3206;p219"/>
          <p:cNvSpPr txBox="1"/>
          <p:nvPr/>
        </p:nvSpPr>
        <p:spPr>
          <a:xfrm>
            <a:off x="6542450" y="2785350"/>
            <a:ext cx="1427100" cy="26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Lady Gaga’s Ex</a:t>
            </a:r>
            <a:endParaRPr sz="1600">
              <a:latin typeface="Economica"/>
              <a:ea typeface="Economica"/>
              <a:cs typeface="Economica"/>
              <a:sym typeface="Economica"/>
            </a:endParaRPr>
          </a:p>
        </p:txBody>
      </p:sp>
      <p:cxnSp>
        <p:nvCxnSpPr>
          <p:cNvPr id="3207" name="Google Shape;3207;p219"/>
          <p:cNvCxnSpPr>
            <a:stCxn id="3191" idx="7"/>
            <a:endCxn id="3192" idx="3"/>
          </p:cNvCxnSpPr>
          <p:nvPr/>
        </p:nvCxnSpPr>
        <p:spPr>
          <a:xfrm flipH="1" rot="10800000">
            <a:off x="1503651" y="2669624"/>
            <a:ext cx="1347300" cy="843000"/>
          </a:xfrm>
          <a:prstGeom prst="straightConnector1">
            <a:avLst/>
          </a:prstGeom>
          <a:noFill/>
          <a:ln cap="flat" cmpd="sng" w="28575">
            <a:solidFill>
              <a:srgbClr val="FF0000"/>
            </a:solidFill>
            <a:prstDash val="solid"/>
            <a:round/>
            <a:headEnd len="med" w="med" type="none"/>
            <a:tailEnd len="med" w="med" type="triangle"/>
          </a:ln>
        </p:spPr>
      </p:cxnSp>
      <p:cxnSp>
        <p:nvCxnSpPr>
          <p:cNvPr id="3208" name="Google Shape;3208;p219"/>
          <p:cNvCxnSpPr>
            <a:stCxn id="3195" idx="2"/>
            <a:endCxn id="3194" idx="6"/>
          </p:cNvCxnSpPr>
          <p:nvPr/>
        </p:nvCxnSpPr>
        <p:spPr>
          <a:xfrm rot="10800000">
            <a:off x="5615750" y="2425150"/>
            <a:ext cx="1248900" cy="0"/>
          </a:xfrm>
          <a:prstGeom prst="straightConnector1">
            <a:avLst/>
          </a:prstGeom>
          <a:noFill/>
          <a:ln cap="flat" cmpd="sng" w="28575">
            <a:solidFill>
              <a:srgbClr val="FF0000"/>
            </a:solidFill>
            <a:prstDash val="solid"/>
            <a:round/>
            <a:headEnd len="med" w="med" type="none"/>
            <a:tailEnd len="med" w="med" type="triangle"/>
          </a:ln>
        </p:spPr>
      </p:cxnSp>
      <p:sp>
        <p:nvSpPr>
          <p:cNvPr id="3209" name="Google Shape;3209;p219"/>
          <p:cNvSpPr txBox="1"/>
          <p:nvPr/>
        </p:nvSpPr>
        <p:spPr>
          <a:xfrm>
            <a:off x="5947400" y="4183850"/>
            <a:ext cx="30903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Red ties indicate Instagram “likes” endorsing rumors about Cooper and Gaga</a:t>
            </a:r>
            <a:endParaRPr b="1">
              <a:solidFill>
                <a:srgbClr val="FF0000"/>
              </a:solidFill>
              <a:latin typeface="Open Sans"/>
              <a:ea typeface="Open Sans"/>
              <a:cs typeface="Open Sans"/>
              <a:sym typeface="Open San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3" name="Shape 3213"/>
        <p:cNvGrpSpPr/>
        <p:nvPr/>
      </p:nvGrpSpPr>
      <p:grpSpPr>
        <a:xfrm>
          <a:off x="0" y="0"/>
          <a:ext cx="0" cy="0"/>
          <a:chOff x="0" y="0"/>
          <a:chExt cx="0" cy="0"/>
        </a:xfrm>
      </p:grpSpPr>
      <p:sp>
        <p:nvSpPr>
          <p:cNvPr id="3214" name="Google Shape;3214;p2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 are Targets of Rumors?</a:t>
            </a:r>
            <a:endParaRPr/>
          </a:p>
        </p:txBody>
      </p:sp>
      <p:sp>
        <p:nvSpPr>
          <p:cNvPr id="3215" name="Google Shape;3215;p22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-Same Grade 8-11 (not 12)</a:t>
            </a:r>
            <a:endParaRPr/>
          </a:p>
          <a:p>
            <a:pPr indent="0" lvl="0" marL="0" rtl="0" algn="l">
              <a:spcBef>
                <a:spcPts val="0"/>
              </a:spcBef>
              <a:spcAft>
                <a:spcPts val="0"/>
              </a:spcAft>
              <a:buNone/>
            </a:pPr>
            <a:r>
              <a:rPr lang="en"/>
              <a:t>-In Grades 9-11 (not 12)</a:t>
            </a:r>
            <a:endParaRPr/>
          </a:p>
          <a:p>
            <a:pPr indent="0" lvl="0" marL="0" rtl="0" algn="l">
              <a:spcBef>
                <a:spcPts val="0"/>
              </a:spcBef>
              <a:spcAft>
                <a:spcPts val="0"/>
              </a:spcAft>
              <a:buNone/>
            </a:pPr>
            <a:r>
              <a:rPr lang="en"/>
              <a:t>-Female</a:t>
            </a:r>
            <a:endParaRPr/>
          </a:p>
          <a:p>
            <a:pPr indent="0" lvl="0" marL="0" rtl="0" algn="l">
              <a:spcBef>
                <a:spcPts val="0"/>
              </a:spcBef>
              <a:spcAft>
                <a:spcPts val="0"/>
              </a:spcAft>
              <a:buNone/>
            </a:pPr>
            <a:r>
              <a:rPr lang="en"/>
              <a:t>-LGBTQ</a:t>
            </a:r>
            <a:endParaRPr/>
          </a:p>
          <a:p>
            <a:pPr indent="0" lvl="0" marL="0" rtl="0" algn="l">
              <a:spcBef>
                <a:spcPts val="0"/>
              </a:spcBef>
              <a:spcAft>
                <a:spcPts val="0"/>
              </a:spcAft>
              <a:buNone/>
            </a:pPr>
            <a:r>
              <a:rPr lang="en"/>
              <a:t>-Friends</a:t>
            </a:r>
            <a:endParaRPr/>
          </a:p>
          <a:p>
            <a:pPr indent="0" lvl="0" marL="0" rtl="0" algn="l">
              <a:spcBef>
                <a:spcPts val="0"/>
              </a:spcBef>
              <a:spcAft>
                <a:spcPts val="0"/>
              </a:spcAft>
              <a:buNone/>
            </a:pPr>
            <a:r>
              <a:rPr lang="en"/>
              <a:t>-Dating Partners</a:t>
            </a:r>
            <a:endParaRPr/>
          </a:p>
          <a:p>
            <a:pPr indent="0" lvl="0" marL="0" rtl="0" algn="l">
              <a:spcBef>
                <a:spcPts val="0"/>
              </a:spcBef>
              <a:spcAft>
                <a:spcPts val="0"/>
              </a:spcAft>
              <a:buNone/>
            </a:pPr>
            <a:r>
              <a:t/>
            </a:r>
            <a:endParaRPr/>
          </a:p>
        </p:txBody>
      </p:sp>
      <p:sp>
        <p:nvSpPr>
          <p:cNvPr id="3216" name="Google Shape;3216;p220"/>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0" name="Shape 3220"/>
        <p:cNvGrpSpPr/>
        <p:nvPr/>
      </p:nvGrpSpPr>
      <p:grpSpPr>
        <a:xfrm>
          <a:off x="0" y="0"/>
          <a:ext cx="0" cy="0"/>
          <a:chOff x="0" y="0"/>
          <a:chExt cx="0" cy="0"/>
        </a:xfrm>
      </p:grpSpPr>
      <p:pic>
        <p:nvPicPr>
          <p:cNvPr id="3221" name="Google Shape;3221;p221"/>
          <p:cNvPicPr preferRelativeResize="0"/>
          <p:nvPr/>
        </p:nvPicPr>
        <p:blipFill>
          <a:blip r:embed="rId3">
            <a:alphaModFix/>
          </a:blip>
          <a:stretch>
            <a:fillRect/>
          </a:stretch>
        </p:blipFill>
        <p:spPr>
          <a:xfrm>
            <a:off x="669525" y="453450"/>
            <a:ext cx="6437874" cy="4469699"/>
          </a:xfrm>
          <a:prstGeom prst="rect">
            <a:avLst/>
          </a:prstGeom>
          <a:noFill/>
          <a:ln>
            <a:noFill/>
          </a:ln>
        </p:spPr>
      </p:pic>
      <p:sp>
        <p:nvSpPr>
          <p:cNvPr id="3222" name="Google Shape;3222;p221"/>
          <p:cNvSpPr txBox="1"/>
          <p:nvPr/>
        </p:nvSpPr>
        <p:spPr>
          <a:xfrm>
            <a:off x="93525" y="77250"/>
            <a:ext cx="8619900" cy="3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How can we make claims about these different social processes? Math beyond this class</a:t>
            </a:r>
            <a:endParaRPr>
              <a:latin typeface="Open Sans"/>
              <a:ea typeface="Open Sans"/>
              <a:cs typeface="Open Sans"/>
              <a:sym typeface="Open San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6" name="Shape 3226"/>
        <p:cNvGrpSpPr/>
        <p:nvPr/>
      </p:nvGrpSpPr>
      <p:grpSpPr>
        <a:xfrm>
          <a:off x="0" y="0"/>
          <a:ext cx="0" cy="0"/>
          <a:chOff x="0" y="0"/>
          <a:chExt cx="0" cy="0"/>
        </a:xfrm>
      </p:grpSpPr>
      <p:sp>
        <p:nvSpPr>
          <p:cNvPr id="3227" name="Google Shape;3227;p222"/>
          <p:cNvSpPr txBox="1"/>
          <p:nvPr>
            <p:ph type="title"/>
          </p:nvPr>
        </p:nvSpPr>
        <p:spPr>
          <a:xfrm>
            <a:off x="311700" y="315925"/>
            <a:ext cx="8520600" cy="1446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Violence Never Solves Anything, Except Agonistic Encounters</a:t>
            </a:r>
            <a:endParaRPr/>
          </a:p>
        </p:txBody>
      </p:sp>
      <p:sp>
        <p:nvSpPr>
          <p:cNvPr id="3228" name="Google Shape;3228;p222"/>
          <p:cNvSpPr txBox="1"/>
          <p:nvPr>
            <p:ph idx="1" type="body"/>
          </p:nvPr>
        </p:nvSpPr>
        <p:spPr>
          <a:xfrm>
            <a:off x="311700" y="1925600"/>
            <a:ext cx="8520600" cy="265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Obvious explanation:</a:t>
            </a:r>
            <a:r>
              <a:rPr lang="en"/>
              <a:t> Gangs fight over drug routes</a:t>
            </a:r>
            <a:endParaRPr/>
          </a:p>
          <a:p>
            <a:pPr indent="0" lvl="0" marL="0" rtl="0" algn="l">
              <a:spcBef>
                <a:spcPts val="0"/>
              </a:spcBef>
              <a:spcAft>
                <a:spcPts val="0"/>
              </a:spcAft>
              <a:buNone/>
            </a:pPr>
            <a:r>
              <a:rPr b="1" lang="en"/>
              <a:t>Sociology explanation:</a:t>
            </a:r>
            <a:r>
              <a:rPr lang="en"/>
              <a:t> Status competition between local </a:t>
            </a:r>
            <a:r>
              <a:rPr lang="en"/>
              <a:t>groups</a:t>
            </a:r>
            <a:endParaRPr/>
          </a:p>
        </p:txBody>
      </p:sp>
      <p:sp>
        <p:nvSpPr>
          <p:cNvPr id="3229" name="Google Shape;3229;p222"/>
          <p:cNvSpPr txBox="1"/>
          <p:nvPr/>
        </p:nvSpPr>
        <p:spPr>
          <a:xfrm>
            <a:off x="5775775" y="4671900"/>
            <a:ext cx="44526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Recap of Papachristos 2009</a:t>
            </a:r>
            <a:endParaRPr>
              <a:latin typeface="Open Sans"/>
              <a:ea typeface="Open Sans"/>
              <a:cs typeface="Open Sans"/>
              <a:sym typeface="Open San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33" name="Shape 3233"/>
        <p:cNvGrpSpPr/>
        <p:nvPr/>
      </p:nvGrpSpPr>
      <p:grpSpPr>
        <a:xfrm>
          <a:off x="0" y="0"/>
          <a:ext cx="0" cy="0"/>
          <a:chOff x="0" y="0"/>
          <a:chExt cx="0" cy="0"/>
        </a:xfrm>
      </p:grpSpPr>
      <p:sp>
        <p:nvSpPr>
          <p:cNvPr id="3234" name="Google Shape;3234;p2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Fighting Occurs</a:t>
            </a:r>
            <a:endParaRPr/>
          </a:p>
        </p:txBody>
      </p:sp>
      <p:sp>
        <p:nvSpPr>
          <p:cNvPr id="3235" name="Google Shape;3235;p22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980000"/>
              </a:buClr>
              <a:buSzPts val="1800"/>
              <a:buChar char="●"/>
            </a:pPr>
            <a:r>
              <a:rPr lang="en">
                <a:solidFill>
                  <a:srgbClr val="980000"/>
                </a:solidFill>
              </a:rPr>
              <a:t>Gould- Ambiguity leads to violence as unclear hierarchy leads to competition</a:t>
            </a:r>
            <a:endParaRPr>
              <a:solidFill>
                <a:srgbClr val="980000"/>
              </a:solidFill>
            </a:endParaRPr>
          </a:p>
          <a:p>
            <a:pPr indent="-342900" lvl="0" marL="457200" rtl="0" algn="l">
              <a:spcBef>
                <a:spcPts val="0"/>
              </a:spcBef>
              <a:spcAft>
                <a:spcPts val="0"/>
              </a:spcAft>
              <a:buClr>
                <a:srgbClr val="980000"/>
              </a:buClr>
              <a:buSzPts val="1800"/>
              <a:buChar char="●"/>
            </a:pPr>
            <a:r>
              <a:rPr lang="en">
                <a:solidFill>
                  <a:srgbClr val="980000"/>
                </a:solidFill>
              </a:rPr>
              <a:t>Implication that equals are more likely to have competition escalate</a:t>
            </a:r>
            <a:endParaRPr>
              <a:solidFill>
                <a:srgbClr val="980000"/>
              </a:solidFill>
            </a:endParaRPr>
          </a:p>
          <a:p>
            <a:pPr indent="-317500" lvl="1" marL="914400" rtl="0" algn="l">
              <a:spcBef>
                <a:spcPts val="0"/>
              </a:spcBef>
              <a:spcAft>
                <a:spcPts val="0"/>
              </a:spcAft>
              <a:buClr>
                <a:srgbClr val="980000"/>
              </a:buClr>
              <a:buSzPts val="1400"/>
              <a:buChar char="○"/>
            </a:pPr>
            <a:r>
              <a:rPr lang="en"/>
              <a:t>Three types of competitive strategies to consider:</a:t>
            </a:r>
            <a:endParaRPr/>
          </a:p>
          <a:p>
            <a:pPr indent="-317500" lvl="2" marL="1371600" rtl="0" algn="l">
              <a:spcBef>
                <a:spcPts val="0"/>
              </a:spcBef>
              <a:spcAft>
                <a:spcPts val="0"/>
              </a:spcAft>
              <a:buSzPts val="1400"/>
              <a:buChar char="■"/>
            </a:pPr>
            <a:r>
              <a:rPr i="1" lang="en"/>
              <a:t>Downward Competition</a:t>
            </a:r>
            <a:r>
              <a:rPr lang="en"/>
              <a:t>: High status go after any lower status individual</a:t>
            </a:r>
            <a:endParaRPr/>
          </a:p>
          <a:p>
            <a:pPr indent="-317500" lvl="2" marL="1371600" rtl="0" algn="l">
              <a:spcBef>
                <a:spcPts val="0"/>
              </a:spcBef>
              <a:spcAft>
                <a:spcPts val="0"/>
              </a:spcAft>
              <a:buSzPts val="1400"/>
              <a:buChar char="■"/>
            </a:pPr>
            <a:r>
              <a:rPr i="1" lang="en"/>
              <a:t>Close Competitors</a:t>
            </a:r>
            <a:r>
              <a:rPr lang="en"/>
              <a:t>: Individuals fight those close in status to themselves</a:t>
            </a:r>
            <a:endParaRPr/>
          </a:p>
          <a:p>
            <a:pPr indent="-317500" lvl="2" marL="1371600" rtl="0" algn="l">
              <a:spcBef>
                <a:spcPts val="0"/>
              </a:spcBef>
              <a:spcAft>
                <a:spcPts val="0"/>
              </a:spcAft>
              <a:buSzPts val="1400"/>
              <a:buChar char="■"/>
            </a:pPr>
            <a:r>
              <a:rPr i="1" lang="en"/>
              <a:t>Bullying</a:t>
            </a:r>
            <a:r>
              <a:rPr lang="en"/>
              <a:t>: High individuals only fight those much lower than themselves</a:t>
            </a:r>
            <a:endParaRPr/>
          </a:p>
          <a:p>
            <a:pPr indent="0" lvl="0" marL="0" rtl="0" algn="l">
              <a:spcBef>
                <a:spcPts val="0"/>
              </a:spcBef>
              <a:spcAft>
                <a:spcPts val="0"/>
              </a:spcAft>
              <a:buNone/>
            </a:pPr>
            <a:r>
              <a:t/>
            </a:r>
            <a:endParaRPr sz="700"/>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39" name="Shape 3239"/>
        <p:cNvGrpSpPr/>
        <p:nvPr/>
      </p:nvGrpSpPr>
      <p:grpSpPr>
        <a:xfrm>
          <a:off x="0" y="0"/>
          <a:ext cx="0" cy="0"/>
          <a:chOff x="0" y="0"/>
          <a:chExt cx="0" cy="0"/>
        </a:xfrm>
      </p:grpSpPr>
      <p:pic>
        <p:nvPicPr>
          <p:cNvPr id="3240" name="Google Shape;3240;p224"/>
          <p:cNvPicPr preferRelativeResize="0"/>
          <p:nvPr/>
        </p:nvPicPr>
        <p:blipFill rotWithShape="1">
          <a:blip r:embed="rId3">
            <a:alphaModFix/>
          </a:blip>
          <a:srcRect b="14384" l="0" r="0" t="0"/>
          <a:stretch/>
        </p:blipFill>
        <p:spPr>
          <a:xfrm>
            <a:off x="1663850" y="174350"/>
            <a:ext cx="5327350" cy="4230376"/>
          </a:xfrm>
          <a:prstGeom prst="rect">
            <a:avLst/>
          </a:prstGeom>
          <a:noFill/>
          <a:ln>
            <a:noFill/>
          </a:ln>
        </p:spPr>
      </p:pic>
      <p:sp>
        <p:nvSpPr>
          <p:cNvPr id="3241" name="Google Shape;3241;p224"/>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224"/>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224"/>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224"/>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224"/>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3246" name="Google Shape;3246;p224"/>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a:t>
            </a:r>
            <a:r>
              <a:rPr lang="en">
                <a:latin typeface="Open Sans"/>
                <a:ea typeface="Open Sans"/>
                <a:cs typeface="Open Sans"/>
                <a:sym typeface="Open Sans"/>
              </a:rPr>
              <a:t>sp</a:t>
            </a:r>
            <a:r>
              <a:rPr lang="en">
                <a:latin typeface="Open Sans"/>
                <a:ea typeface="Open Sans"/>
                <a:cs typeface="Open Sans"/>
                <a:sym typeface="Open Sans"/>
              </a:rPr>
              <a:t>anic</a:t>
            </a:r>
            <a:endParaRPr>
              <a:latin typeface="Open Sans"/>
              <a:ea typeface="Open Sans"/>
              <a:cs typeface="Open Sans"/>
              <a:sym typeface="Open Sans"/>
            </a:endParaRPr>
          </a:p>
        </p:txBody>
      </p:sp>
      <p:sp>
        <p:nvSpPr>
          <p:cNvPr id="3247" name="Google Shape;3247;p224"/>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3248" name="Google Shape;3248;p224"/>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3249" name="Google Shape;3249;p224"/>
          <p:cNvSpPr txBox="1"/>
          <p:nvPr/>
        </p:nvSpPr>
        <p:spPr>
          <a:xfrm>
            <a:off x="6584425" y="494575"/>
            <a:ext cx="2432100" cy="1604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Racial Homophily</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Number of Nodes: 48</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Density: 0.07</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Reciprocal dyads: 36</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Self-loops</a:t>
            </a:r>
            <a:endParaRPr>
              <a:latin typeface="Open Sans"/>
              <a:ea typeface="Open Sans"/>
              <a:cs typeface="Open Sans"/>
              <a:sym typeface="Open Sans"/>
            </a:endParaRPr>
          </a:p>
        </p:txBody>
      </p:sp>
      <p:sp>
        <p:nvSpPr>
          <p:cNvPr id="3250" name="Google Shape;3250;p224"/>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1994</a:t>
            </a:r>
            <a:endParaRPr b="1"/>
          </a:p>
        </p:txBody>
      </p:sp>
      <p:sp>
        <p:nvSpPr>
          <p:cNvPr id="3251" name="Google Shape;3251;p224"/>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55" name="Shape 3255"/>
        <p:cNvGrpSpPr/>
        <p:nvPr/>
      </p:nvGrpSpPr>
      <p:grpSpPr>
        <a:xfrm>
          <a:off x="0" y="0"/>
          <a:ext cx="0" cy="0"/>
          <a:chOff x="0" y="0"/>
          <a:chExt cx="0" cy="0"/>
        </a:xfrm>
      </p:grpSpPr>
      <p:sp>
        <p:nvSpPr>
          <p:cNvPr id="3256" name="Google Shape;3256;p225"/>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225"/>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225"/>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225"/>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225"/>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3261" name="Google Shape;3261;p225"/>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a:t>
            </a:r>
            <a:r>
              <a:rPr lang="en">
                <a:latin typeface="Open Sans"/>
                <a:ea typeface="Open Sans"/>
                <a:cs typeface="Open Sans"/>
                <a:sym typeface="Open Sans"/>
              </a:rPr>
              <a:t>sp</a:t>
            </a:r>
            <a:r>
              <a:rPr lang="en">
                <a:latin typeface="Open Sans"/>
                <a:ea typeface="Open Sans"/>
                <a:cs typeface="Open Sans"/>
                <a:sym typeface="Open Sans"/>
              </a:rPr>
              <a:t>anic</a:t>
            </a:r>
            <a:endParaRPr>
              <a:latin typeface="Open Sans"/>
              <a:ea typeface="Open Sans"/>
              <a:cs typeface="Open Sans"/>
              <a:sym typeface="Open Sans"/>
            </a:endParaRPr>
          </a:p>
        </p:txBody>
      </p:sp>
      <p:sp>
        <p:nvSpPr>
          <p:cNvPr id="3262" name="Google Shape;3262;p225"/>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3263" name="Google Shape;3263;p225"/>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3264" name="Google Shape;3264;p225"/>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1998</a:t>
            </a:r>
            <a:endParaRPr b="1"/>
          </a:p>
        </p:txBody>
      </p:sp>
      <p:pic>
        <p:nvPicPr>
          <p:cNvPr id="3265" name="Google Shape;3265;p225"/>
          <p:cNvPicPr preferRelativeResize="0"/>
          <p:nvPr/>
        </p:nvPicPr>
        <p:blipFill>
          <a:blip r:embed="rId3">
            <a:alphaModFix/>
          </a:blip>
          <a:stretch>
            <a:fillRect/>
          </a:stretch>
        </p:blipFill>
        <p:spPr>
          <a:xfrm>
            <a:off x="1970700" y="174300"/>
            <a:ext cx="4615775" cy="3823691"/>
          </a:xfrm>
          <a:prstGeom prst="rect">
            <a:avLst/>
          </a:prstGeom>
          <a:noFill/>
          <a:ln>
            <a:noFill/>
          </a:ln>
        </p:spPr>
      </p:pic>
      <p:sp>
        <p:nvSpPr>
          <p:cNvPr id="3266" name="Google Shape;3266;p225"/>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70" name="Shape 3270"/>
        <p:cNvGrpSpPr/>
        <p:nvPr/>
      </p:nvGrpSpPr>
      <p:grpSpPr>
        <a:xfrm>
          <a:off x="0" y="0"/>
          <a:ext cx="0" cy="0"/>
          <a:chOff x="0" y="0"/>
          <a:chExt cx="0" cy="0"/>
        </a:xfrm>
      </p:grpSpPr>
      <p:sp>
        <p:nvSpPr>
          <p:cNvPr id="3271" name="Google Shape;3271;p226"/>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226"/>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226"/>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226"/>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226"/>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3276" name="Google Shape;3276;p226"/>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a:t>
            </a:r>
            <a:r>
              <a:rPr lang="en">
                <a:latin typeface="Open Sans"/>
                <a:ea typeface="Open Sans"/>
                <a:cs typeface="Open Sans"/>
                <a:sym typeface="Open Sans"/>
              </a:rPr>
              <a:t>sp</a:t>
            </a:r>
            <a:r>
              <a:rPr lang="en">
                <a:latin typeface="Open Sans"/>
                <a:ea typeface="Open Sans"/>
                <a:cs typeface="Open Sans"/>
                <a:sym typeface="Open Sans"/>
              </a:rPr>
              <a:t>anic</a:t>
            </a:r>
            <a:endParaRPr>
              <a:latin typeface="Open Sans"/>
              <a:ea typeface="Open Sans"/>
              <a:cs typeface="Open Sans"/>
              <a:sym typeface="Open Sans"/>
            </a:endParaRPr>
          </a:p>
        </p:txBody>
      </p:sp>
      <p:sp>
        <p:nvSpPr>
          <p:cNvPr id="3277" name="Google Shape;3277;p226"/>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3278" name="Google Shape;3278;p226"/>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3279" name="Google Shape;3279;p226"/>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2002</a:t>
            </a:r>
            <a:endParaRPr b="1"/>
          </a:p>
        </p:txBody>
      </p:sp>
      <p:pic>
        <p:nvPicPr>
          <p:cNvPr id="3280" name="Google Shape;3280;p226"/>
          <p:cNvPicPr preferRelativeResize="0"/>
          <p:nvPr/>
        </p:nvPicPr>
        <p:blipFill>
          <a:blip r:embed="rId3">
            <a:alphaModFix/>
          </a:blip>
          <a:stretch>
            <a:fillRect/>
          </a:stretch>
        </p:blipFill>
        <p:spPr>
          <a:xfrm>
            <a:off x="1970700" y="327500"/>
            <a:ext cx="4615775" cy="3817165"/>
          </a:xfrm>
          <a:prstGeom prst="rect">
            <a:avLst/>
          </a:prstGeom>
          <a:noFill/>
          <a:ln>
            <a:noFill/>
          </a:ln>
        </p:spPr>
      </p:pic>
      <p:sp>
        <p:nvSpPr>
          <p:cNvPr id="3281" name="Google Shape;3281;p226"/>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5" name="Shape 3285"/>
        <p:cNvGrpSpPr/>
        <p:nvPr/>
      </p:nvGrpSpPr>
      <p:grpSpPr>
        <a:xfrm>
          <a:off x="0" y="0"/>
          <a:ext cx="0" cy="0"/>
          <a:chOff x="0" y="0"/>
          <a:chExt cx="0" cy="0"/>
        </a:xfrm>
      </p:grpSpPr>
      <p:sp>
        <p:nvSpPr>
          <p:cNvPr id="3286" name="Google Shape;3286;p227"/>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227"/>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227"/>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227"/>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227"/>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3291" name="Google Shape;3291;p227"/>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a:t>
            </a:r>
            <a:r>
              <a:rPr lang="en">
                <a:latin typeface="Open Sans"/>
                <a:ea typeface="Open Sans"/>
                <a:cs typeface="Open Sans"/>
                <a:sym typeface="Open Sans"/>
              </a:rPr>
              <a:t>sp</a:t>
            </a:r>
            <a:r>
              <a:rPr lang="en">
                <a:latin typeface="Open Sans"/>
                <a:ea typeface="Open Sans"/>
                <a:cs typeface="Open Sans"/>
                <a:sym typeface="Open Sans"/>
              </a:rPr>
              <a:t>anic</a:t>
            </a:r>
            <a:endParaRPr>
              <a:latin typeface="Open Sans"/>
              <a:ea typeface="Open Sans"/>
              <a:cs typeface="Open Sans"/>
              <a:sym typeface="Open Sans"/>
            </a:endParaRPr>
          </a:p>
        </p:txBody>
      </p:sp>
      <p:sp>
        <p:nvSpPr>
          <p:cNvPr id="3292" name="Google Shape;3292;p227"/>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3293" name="Google Shape;3293;p227"/>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3294" name="Google Shape;3294;p227"/>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1994</a:t>
            </a:r>
            <a:endParaRPr b="1"/>
          </a:p>
        </p:txBody>
      </p:sp>
      <p:pic>
        <p:nvPicPr>
          <p:cNvPr id="3295" name="Google Shape;3295;p227"/>
          <p:cNvPicPr preferRelativeResize="0"/>
          <p:nvPr/>
        </p:nvPicPr>
        <p:blipFill>
          <a:blip r:embed="rId3">
            <a:alphaModFix/>
          </a:blip>
          <a:stretch>
            <a:fillRect/>
          </a:stretch>
        </p:blipFill>
        <p:spPr>
          <a:xfrm>
            <a:off x="2010275" y="171200"/>
            <a:ext cx="5668565" cy="4182675"/>
          </a:xfrm>
          <a:prstGeom prst="rect">
            <a:avLst/>
          </a:prstGeom>
          <a:noFill/>
          <a:ln>
            <a:noFill/>
          </a:ln>
        </p:spPr>
      </p:pic>
      <p:sp>
        <p:nvSpPr>
          <p:cNvPr id="3296" name="Google Shape;3296;p227"/>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00" name="Shape 3300"/>
        <p:cNvGrpSpPr/>
        <p:nvPr/>
      </p:nvGrpSpPr>
      <p:grpSpPr>
        <a:xfrm>
          <a:off x="0" y="0"/>
          <a:ext cx="0" cy="0"/>
          <a:chOff x="0" y="0"/>
          <a:chExt cx="0" cy="0"/>
        </a:xfrm>
      </p:grpSpPr>
      <p:sp>
        <p:nvSpPr>
          <p:cNvPr id="3301" name="Google Shape;3301;p2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Rare for Instrumental Violence in Gangs</a:t>
            </a:r>
            <a:endParaRPr/>
          </a:p>
        </p:txBody>
      </p:sp>
      <p:pic>
        <p:nvPicPr>
          <p:cNvPr id="3302" name="Google Shape;3302;p228"/>
          <p:cNvPicPr preferRelativeResize="0"/>
          <p:nvPr/>
        </p:nvPicPr>
        <p:blipFill rotWithShape="1">
          <a:blip r:embed="rId3">
            <a:alphaModFix/>
          </a:blip>
          <a:srcRect b="0" l="0" r="0" t="0"/>
          <a:stretch/>
        </p:blipFill>
        <p:spPr>
          <a:xfrm>
            <a:off x="947978" y="1280053"/>
            <a:ext cx="7343057" cy="339185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06" name="Shape 3306"/>
        <p:cNvGrpSpPr/>
        <p:nvPr/>
      </p:nvGrpSpPr>
      <p:grpSpPr>
        <a:xfrm>
          <a:off x="0" y="0"/>
          <a:ext cx="0" cy="0"/>
          <a:chOff x="0" y="0"/>
          <a:chExt cx="0" cy="0"/>
        </a:xfrm>
      </p:grpSpPr>
      <p:sp>
        <p:nvSpPr>
          <p:cNvPr id="3307" name="Google Shape;3307;p2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Melo</a:t>
            </a:r>
            <a:endParaRPr/>
          </a:p>
        </p:txBody>
      </p:sp>
      <p:pic>
        <p:nvPicPr>
          <p:cNvPr id="3308" name="Google Shape;3308;p229"/>
          <p:cNvPicPr preferRelativeResize="0"/>
          <p:nvPr/>
        </p:nvPicPr>
        <p:blipFill>
          <a:blip r:embed="rId3">
            <a:alphaModFix/>
          </a:blip>
          <a:stretch>
            <a:fillRect/>
          </a:stretch>
        </p:blipFill>
        <p:spPr>
          <a:xfrm>
            <a:off x="483454" y="1704079"/>
            <a:ext cx="8177100" cy="244935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2" name="Shape 3312"/>
        <p:cNvGrpSpPr/>
        <p:nvPr/>
      </p:nvGrpSpPr>
      <p:grpSpPr>
        <a:xfrm>
          <a:off x="0" y="0"/>
          <a:ext cx="0" cy="0"/>
          <a:chOff x="0" y="0"/>
          <a:chExt cx="0" cy="0"/>
        </a:xfrm>
      </p:grpSpPr>
      <p:pic>
        <p:nvPicPr>
          <p:cNvPr id="3313" name="Google Shape;3313;p230"/>
          <p:cNvPicPr preferRelativeResize="0"/>
          <p:nvPr/>
        </p:nvPicPr>
        <p:blipFill>
          <a:blip r:embed="rId3">
            <a:alphaModFix/>
          </a:blip>
          <a:stretch>
            <a:fillRect/>
          </a:stretch>
        </p:blipFill>
        <p:spPr>
          <a:xfrm>
            <a:off x="2668525" y="155950"/>
            <a:ext cx="4225374" cy="4831599"/>
          </a:xfrm>
          <a:prstGeom prst="rect">
            <a:avLst/>
          </a:prstGeom>
          <a:noFill/>
          <a:ln>
            <a:noFill/>
          </a:ln>
        </p:spPr>
      </p:pic>
      <p:sp>
        <p:nvSpPr>
          <p:cNvPr id="3314" name="Google Shape;3314;p230"/>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8" name="Shape 3318"/>
        <p:cNvGrpSpPr/>
        <p:nvPr/>
      </p:nvGrpSpPr>
      <p:grpSpPr>
        <a:xfrm>
          <a:off x="0" y="0"/>
          <a:ext cx="0" cy="0"/>
          <a:chOff x="0" y="0"/>
          <a:chExt cx="0" cy="0"/>
        </a:xfrm>
      </p:grpSpPr>
      <p:sp>
        <p:nvSpPr>
          <p:cNvPr id="3319" name="Google Shape;3319;p2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When does violence occur?</a:t>
            </a:r>
            <a:endParaRPr/>
          </a:p>
        </p:txBody>
      </p:sp>
      <p:sp>
        <p:nvSpPr>
          <p:cNvPr id="3320" name="Google Shape;3320;p23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Average overlap between 2 gangs: 10%</a:t>
            </a:r>
            <a:endParaRPr/>
          </a:p>
          <a:p>
            <a:pPr indent="-342900" lvl="0" marL="457200" rtl="0" algn="l">
              <a:spcBef>
                <a:spcPts val="0"/>
              </a:spcBef>
              <a:spcAft>
                <a:spcPts val="0"/>
              </a:spcAft>
              <a:buSzPts val="1800"/>
              <a:buChar char="●"/>
            </a:pPr>
            <a:r>
              <a:rPr lang="en"/>
              <a:t>Overlap that results in murder: 25%+</a:t>
            </a:r>
            <a:endParaRPr/>
          </a:p>
          <a:p>
            <a:pPr indent="-342900" lvl="0" marL="457200" rtl="0" algn="l">
              <a:spcBef>
                <a:spcPts val="0"/>
              </a:spcBef>
              <a:spcAft>
                <a:spcPts val="0"/>
              </a:spcAft>
              <a:buSzPts val="1800"/>
              <a:buChar char="●"/>
            </a:pPr>
            <a:r>
              <a:rPr lang="en"/>
              <a:t>Every 1% increase doubles the probability of a murder increasing</a:t>
            </a:r>
            <a:endParaRPr/>
          </a:p>
        </p:txBody>
      </p:sp>
      <p:sp>
        <p:nvSpPr>
          <p:cNvPr id="3321" name="Google Shape;3321;p231"/>
          <p:cNvSpPr/>
          <p:nvPr/>
        </p:nvSpPr>
        <p:spPr>
          <a:xfrm>
            <a:off x="805050" y="2897975"/>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231"/>
          <p:cNvSpPr/>
          <p:nvPr/>
        </p:nvSpPr>
        <p:spPr>
          <a:xfrm>
            <a:off x="1709875" y="3562825"/>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231"/>
          <p:cNvSpPr/>
          <p:nvPr/>
        </p:nvSpPr>
        <p:spPr>
          <a:xfrm>
            <a:off x="5633375" y="3070000"/>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231"/>
          <p:cNvSpPr/>
          <p:nvPr/>
        </p:nvSpPr>
        <p:spPr>
          <a:xfrm>
            <a:off x="6192475" y="3482650"/>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231"/>
          <p:cNvSpPr txBox="1"/>
          <p:nvPr/>
        </p:nvSpPr>
        <p:spPr>
          <a:xfrm>
            <a:off x="916875" y="4579225"/>
            <a:ext cx="17991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Not unusual, peace</a:t>
            </a:r>
            <a:endParaRPr>
              <a:latin typeface="Open Sans"/>
              <a:ea typeface="Open Sans"/>
              <a:cs typeface="Open Sans"/>
              <a:sym typeface="Open Sans"/>
            </a:endParaRPr>
          </a:p>
        </p:txBody>
      </p:sp>
      <p:sp>
        <p:nvSpPr>
          <p:cNvPr id="3326" name="Google Shape;3326;p231"/>
          <p:cNvSpPr txBox="1"/>
          <p:nvPr/>
        </p:nvSpPr>
        <p:spPr>
          <a:xfrm>
            <a:off x="5257225" y="4499050"/>
            <a:ext cx="23076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Very bad things happen</a:t>
            </a:r>
            <a:endParaRPr>
              <a:latin typeface="Open Sans"/>
              <a:ea typeface="Open Sans"/>
              <a:cs typeface="Open Sans"/>
              <a:sym typeface="Open San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0" name="Shape 3330"/>
        <p:cNvGrpSpPr/>
        <p:nvPr/>
      </p:nvGrpSpPr>
      <p:grpSpPr>
        <a:xfrm>
          <a:off x="0" y="0"/>
          <a:ext cx="0" cy="0"/>
          <a:chOff x="0" y="0"/>
          <a:chExt cx="0" cy="0"/>
        </a:xfrm>
      </p:grpSpPr>
      <p:sp>
        <p:nvSpPr>
          <p:cNvPr id="3331" name="Google Shape;3331;p2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When does violence occur?</a:t>
            </a:r>
            <a:endParaRPr/>
          </a:p>
        </p:txBody>
      </p:sp>
      <p:sp>
        <p:nvSpPr>
          <p:cNvPr id="3332" name="Google Shape;3332;p23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Papachristos argues we can think of murder as a network phenomenon</a:t>
            </a:r>
            <a:endParaRPr/>
          </a:p>
          <a:p>
            <a:pPr indent="-342900" lvl="0" marL="457200" rtl="0" algn="l">
              <a:spcBef>
                <a:spcPts val="0"/>
              </a:spcBef>
              <a:spcAft>
                <a:spcPts val="0"/>
              </a:spcAft>
              <a:buSzPts val="1800"/>
              <a:buChar char="●"/>
            </a:pPr>
            <a:r>
              <a:rPr lang="en"/>
              <a:t>Crime is not some individual in isolation re</a:t>
            </a:r>
            <a:r>
              <a:rPr lang="en"/>
              <a:t>sp</a:t>
            </a:r>
            <a:r>
              <a:rPr lang="en"/>
              <a:t>onding to a set of deprivations, but inherently a social phenomena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333" name="Google Shape;3333;p232"/>
          <p:cNvSpPr/>
          <p:nvPr/>
        </p:nvSpPr>
        <p:spPr>
          <a:xfrm>
            <a:off x="805050" y="2897975"/>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232"/>
          <p:cNvSpPr/>
          <p:nvPr/>
        </p:nvSpPr>
        <p:spPr>
          <a:xfrm>
            <a:off x="1709875" y="3562825"/>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232"/>
          <p:cNvSpPr/>
          <p:nvPr/>
        </p:nvSpPr>
        <p:spPr>
          <a:xfrm>
            <a:off x="5633375" y="3070000"/>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232"/>
          <p:cNvSpPr/>
          <p:nvPr/>
        </p:nvSpPr>
        <p:spPr>
          <a:xfrm>
            <a:off x="6192475" y="3482650"/>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232"/>
          <p:cNvSpPr txBox="1"/>
          <p:nvPr/>
        </p:nvSpPr>
        <p:spPr>
          <a:xfrm>
            <a:off x="916875" y="4579225"/>
            <a:ext cx="17991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Not unusual, peace</a:t>
            </a:r>
            <a:endParaRPr>
              <a:latin typeface="Open Sans"/>
              <a:ea typeface="Open Sans"/>
              <a:cs typeface="Open Sans"/>
              <a:sym typeface="Open Sans"/>
            </a:endParaRPr>
          </a:p>
        </p:txBody>
      </p:sp>
      <p:sp>
        <p:nvSpPr>
          <p:cNvPr id="3338" name="Google Shape;3338;p232"/>
          <p:cNvSpPr txBox="1"/>
          <p:nvPr/>
        </p:nvSpPr>
        <p:spPr>
          <a:xfrm>
            <a:off x="5257225" y="4499050"/>
            <a:ext cx="23076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Very bad things happen</a:t>
            </a:r>
            <a:endParaRPr>
              <a:latin typeface="Open Sans"/>
              <a:ea typeface="Open Sans"/>
              <a:cs typeface="Open Sans"/>
              <a:sym typeface="Open Sans"/>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42" name="Shape 3342"/>
        <p:cNvGrpSpPr/>
        <p:nvPr/>
      </p:nvGrpSpPr>
      <p:grpSpPr>
        <a:xfrm>
          <a:off x="0" y="0"/>
          <a:ext cx="0" cy="0"/>
          <a:chOff x="0" y="0"/>
          <a:chExt cx="0" cy="0"/>
        </a:xfrm>
      </p:grpSpPr>
      <p:sp>
        <p:nvSpPr>
          <p:cNvPr id="3343" name="Google Shape;3343;p2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Two ways violence </a:t>
            </a:r>
            <a:r>
              <a:rPr lang="en"/>
              <a:t>sp</a:t>
            </a:r>
            <a:r>
              <a:rPr lang="en"/>
              <a:t>reads</a:t>
            </a:r>
            <a:endParaRPr/>
          </a:p>
        </p:txBody>
      </p:sp>
      <p:sp>
        <p:nvSpPr>
          <p:cNvPr id="3344" name="Google Shape;3344;p233"/>
          <p:cNvSpPr txBox="1"/>
          <p:nvPr/>
        </p:nvSpPr>
        <p:spPr>
          <a:xfrm>
            <a:off x="13799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1</a:t>
            </a:r>
            <a:endParaRPr sz="1800">
              <a:latin typeface="Economica"/>
              <a:ea typeface="Economica"/>
              <a:cs typeface="Economica"/>
              <a:sym typeface="Economica"/>
            </a:endParaRPr>
          </a:p>
        </p:txBody>
      </p:sp>
      <p:sp>
        <p:nvSpPr>
          <p:cNvPr id="3345" name="Google Shape;3345;p233"/>
          <p:cNvSpPr/>
          <p:nvPr/>
        </p:nvSpPr>
        <p:spPr>
          <a:xfrm>
            <a:off x="6633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3346" name="Google Shape;3346;p233"/>
          <p:cNvSpPr/>
          <p:nvPr/>
        </p:nvSpPr>
        <p:spPr>
          <a:xfrm>
            <a:off x="29424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3347" name="Google Shape;3347;p233"/>
          <p:cNvSpPr/>
          <p:nvPr/>
        </p:nvSpPr>
        <p:spPr>
          <a:xfrm>
            <a:off x="6633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3348" name="Google Shape;3348;p233"/>
          <p:cNvCxnSpPr>
            <a:stCxn id="3345" idx="7"/>
            <a:endCxn id="3346" idx="1"/>
          </p:cNvCxnSpPr>
          <p:nvPr/>
        </p:nvCxnSpPr>
        <p:spPr>
          <a:xfrm flipH="1" rot="-5400000">
            <a:off x="21956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3349" name="Google Shape;3349;p233"/>
          <p:cNvSpPr txBox="1"/>
          <p:nvPr/>
        </p:nvSpPr>
        <p:spPr>
          <a:xfrm>
            <a:off x="1414625" y="1174750"/>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sp>
        <p:nvSpPr>
          <p:cNvPr id="3350" name="Google Shape;3350;p233"/>
          <p:cNvSpPr txBox="1"/>
          <p:nvPr/>
        </p:nvSpPr>
        <p:spPr>
          <a:xfrm>
            <a:off x="59382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2</a:t>
            </a:r>
            <a:endParaRPr sz="1800">
              <a:latin typeface="Economica"/>
              <a:ea typeface="Economica"/>
              <a:cs typeface="Economica"/>
              <a:sym typeface="Economica"/>
            </a:endParaRPr>
          </a:p>
        </p:txBody>
      </p:sp>
      <p:sp>
        <p:nvSpPr>
          <p:cNvPr id="3351" name="Google Shape;3351;p233"/>
          <p:cNvSpPr/>
          <p:nvPr/>
        </p:nvSpPr>
        <p:spPr>
          <a:xfrm>
            <a:off x="52216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3352" name="Google Shape;3352;p233"/>
          <p:cNvSpPr/>
          <p:nvPr/>
        </p:nvSpPr>
        <p:spPr>
          <a:xfrm>
            <a:off x="75007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3353" name="Google Shape;3353;p233"/>
          <p:cNvSpPr/>
          <p:nvPr/>
        </p:nvSpPr>
        <p:spPr>
          <a:xfrm>
            <a:off x="52216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3354" name="Google Shape;3354;p233"/>
          <p:cNvCxnSpPr>
            <a:stCxn id="3351" idx="7"/>
            <a:endCxn id="3352" idx="1"/>
          </p:cNvCxnSpPr>
          <p:nvPr/>
        </p:nvCxnSpPr>
        <p:spPr>
          <a:xfrm flipH="1" rot="-5400000">
            <a:off x="67539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3355" name="Google Shape;3355;p233"/>
          <p:cNvSpPr txBox="1"/>
          <p:nvPr/>
        </p:nvSpPr>
        <p:spPr>
          <a:xfrm>
            <a:off x="6020325" y="1190875"/>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cxnSp>
        <p:nvCxnSpPr>
          <p:cNvPr id="3356" name="Google Shape;3356;p233"/>
          <p:cNvCxnSpPr>
            <a:stCxn id="3352" idx="3"/>
            <a:endCxn id="3351" idx="5"/>
          </p:cNvCxnSpPr>
          <p:nvPr/>
        </p:nvCxnSpPr>
        <p:spPr>
          <a:xfrm rot="5400000">
            <a:off x="6753832" y="155495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3357" name="Google Shape;3357;p233"/>
          <p:cNvSpPr txBox="1"/>
          <p:nvPr/>
        </p:nvSpPr>
        <p:spPr>
          <a:xfrm>
            <a:off x="5972925" y="2804025"/>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Payback</a:t>
            </a:r>
            <a:endParaRPr>
              <a:latin typeface="Open Sans"/>
              <a:ea typeface="Open Sans"/>
              <a:cs typeface="Open Sans"/>
              <a:sym typeface="Open Sans"/>
            </a:endParaRPr>
          </a:p>
        </p:txBody>
      </p:sp>
      <p:sp>
        <p:nvSpPr>
          <p:cNvPr id="3358" name="Google Shape;3358;p233"/>
          <p:cNvSpPr txBox="1"/>
          <p:nvPr/>
        </p:nvSpPr>
        <p:spPr>
          <a:xfrm>
            <a:off x="2882525" y="4507825"/>
            <a:ext cx="3055800" cy="34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Economica"/>
                <a:ea typeface="Economica"/>
                <a:cs typeface="Economica"/>
                <a:sym typeface="Economica"/>
              </a:rPr>
              <a:t>Direct Retaliation</a:t>
            </a:r>
            <a:endParaRPr sz="2400">
              <a:latin typeface="Economica"/>
              <a:ea typeface="Economica"/>
              <a:cs typeface="Economica"/>
              <a:sym typeface="Economica"/>
            </a:endParaRPr>
          </a:p>
        </p:txBody>
      </p:sp>
      <p:sp>
        <p:nvSpPr>
          <p:cNvPr id="3359" name="Google Shape;3359;p233"/>
          <p:cNvSpPr/>
          <p:nvPr/>
        </p:nvSpPr>
        <p:spPr>
          <a:xfrm>
            <a:off x="4017800" y="2779325"/>
            <a:ext cx="818700" cy="5997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63" name="Shape 3363"/>
        <p:cNvGrpSpPr/>
        <p:nvPr/>
      </p:nvGrpSpPr>
      <p:grpSpPr>
        <a:xfrm>
          <a:off x="0" y="0"/>
          <a:ext cx="0" cy="0"/>
          <a:chOff x="0" y="0"/>
          <a:chExt cx="0" cy="0"/>
        </a:xfrm>
      </p:grpSpPr>
      <p:sp>
        <p:nvSpPr>
          <p:cNvPr id="3364" name="Google Shape;3364;p2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Two ways violence </a:t>
            </a:r>
            <a:r>
              <a:rPr lang="en"/>
              <a:t>sp</a:t>
            </a:r>
            <a:r>
              <a:rPr lang="en"/>
              <a:t>reads</a:t>
            </a:r>
            <a:endParaRPr/>
          </a:p>
        </p:txBody>
      </p:sp>
      <p:sp>
        <p:nvSpPr>
          <p:cNvPr id="3365" name="Google Shape;3365;p234"/>
          <p:cNvSpPr txBox="1"/>
          <p:nvPr/>
        </p:nvSpPr>
        <p:spPr>
          <a:xfrm>
            <a:off x="13799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1</a:t>
            </a:r>
            <a:endParaRPr sz="1800">
              <a:latin typeface="Economica"/>
              <a:ea typeface="Economica"/>
              <a:cs typeface="Economica"/>
              <a:sym typeface="Economica"/>
            </a:endParaRPr>
          </a:p>
        </p:txBody>
      </p:sp>
      <p:sp>
        <p:nvSpPr>
          <p:cNvPr id="3366" name="Google Shape;3366;p234"/>
          <p:cNvSpPr/>
          <p:nvPr/>
        </p:nvSpPr>
        <p:spPr>
          <a:xfrm>
            <a:off x="6633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3367" name="Google Shape;3367;p234"/>
          <p:cNvSpPr/>
          <p:nvPr/>
        </p:nvSpPr>
        <p:spPr>
          <a:xfrm>
            <a:off x="29424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3368" name="Google Shape;3368;p234"/>
          <p:cNvSpPr/>
          <p:nvPr/>
        </p:nvSpPr>
        <p:spPr>
          <a:xfrm>
            <a:off x="6633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3369" name="Google Shape;3369;p234"/>
          <p:cNvCxnSpPr>
            <a:stCxn id="3366" idx="7"/>
            <a:endCxn id="3367" idx="1"/>
          </p:cNvCxnSpPr>
          <p:nvPr/>
        </p:nvCxnSpPr>
        <p:spPr>
          <a:xfrm flipH="1" rot="-5400000">
            <a:off x="21956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3370" name="Google Shape;3370;p234"/>
          <p:cNvSpPr txBox="1"/>
          <p:nvPr/>
        </p:nvSpPr>
        <p:spPr>
          <a:xfrm>
            <a:off x="1414625" y="1174750"/>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sp>
        <p:nvSpPr>
          <p:cNvPr id="3371" name="Google Shape;3371;p234"/>
          <p:cNvSpPr txBox="1"/>
          <p:nvPr/>
        </p:nvSpPr>
        <p:spPr>
          <a:xfrm>
            <a:off x="59382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2</a:t>
            </a:r>
            <a:endParaRPr sz="1800">
              <a:latin typeface="Economica"/>
              <a:ea typeface="Economica"/>
              <a:cs typeface="Economica"/>
              <a:sym typeface="Economica"/>
            </a:endParaRPr>
          </a:p>
        </p:txBody>
      </p:sp>
      <p:sp>
        <p:nvSpPr>
          <p:cNvPr id="3372" name="Google Shape;3372;p234"/>
          <p:cNvSpPr/>
          <p:nvPr/>
        </p:nvSpPr>
        <p:spPr>
          <a:xfrm>
            <a:off x="52216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3373" name="Google Shape;3373;p234"/>
          <p:cNvSpPr/>
          <p:nvPr/>
        </p:nvSpPr>
        <p:spPr>
          <a:xfrm>
            <a:off x="75007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3374" name="Google Shape;3374;p234"/>
          <p:cNvSpPr/>
          <p:nvPr/>
        </p:nvSpPr>
        <p:spPr>
          <a:xfrm>
            <a:off x="52216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3375" name="Google Shape;3375;p234"/>
          <p:cNvCxnSpPr>
            <a:stCxn id="3372" idx="7"/>
            <a:endCxn id="3373" idx="1"/>
          </p:cNvCxnSpPr>
          <p:nvPr/>
        </p:nvCxnSpPr>
        <p:spPr>
          <a:xfrm flipH="1" rot="-5400000">
            <a:off x="67539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3376" name="Google Shape;3376;p234"/>
          <p:cNvSpPr txBox="1"/>
          <p:nvPr/>
        </p:nvSpPr>
        <p:spPr>
          <a:xfrm>
            <a:off x="6020325" y="1190875"/>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cxnSp>
        <p:nvCxnSpPr>
          <p:cNvPr id="3377" name="Google Shape;3377;p234"/>
          <p:cNvCxnSpPr>
            <a:stCxn id="3373" idx="4"/>
            <a:endCxn id="3374" idx="6"/>
          </p:cNvCxnSpPr>
          <p:nvPr/>
        </p:nvCxnSpPr>
        <p:spPr>
          <a:xfrm rot="5400000">
            <a:off x="6438175" y="2089150"/>
            <a:ext cx="1025100" cy="1886100"/>
          </a:xfrm>
          <a:prstGeom prst="curvedConnector2">
            <a:avLst/>
          </a:prstGeom>
          <a:noFill/>
          <a:ln cap="flat" cmpd="sng" w="19050">
            <a:solidFill>
              <a:srgbClr val="000000"/>
            </a:solidFill>
            <a:prstDash val="solid"/>
            <a:round/>
            <a:headEnd len="med" w="med" type="none"/>
            <a:tailEnd len="med" w="med" type="triangle"/>
          </a:ln>
        </p:spPr>
      </p:cxnSp>
      <p:sp>
        <p:nvSpPr>
          <p:cNvPr id="3378" name="Google Shape;3378;p234"/>
          <p:cNvSpPr txBox="1"/>
          <p:nvPr/>
        </p:nvSpPr>
        <p:spPr>
          <a:xfrm rot="-1831922">
            <a:off x="6689506" y="3254761"/>
            <a:ext cx="1468052" cy="341995"/>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Show of force</a:t>
            </a:r>
            <a:endParaRPr>
              <a:latin typeface="Open Sans"/>
              <a:ea typeface="Open Sans"/>
              <a:cs typeface="Open Sans"/>
              <a:sym typeface="Open Sans"/>
            </a:endParaRPr>
          </a:p>
        </p:txBody>
      </p:sp>
      <p:sp>
        <p:nvSpPr>
          <p:cNvPr id="3379" name="Google Shape;3379;p234"/>
          <p:cNvSpPr txBox="1"/>
          <p:nvPr/>
        </p:nvSpPr>
        <p:spPr>
          <a:xfrm>
            <a:off x="2882525" y="4507825"/>
            <a:ext cx="3055800" cy="34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Economica"/>
                <a:ea typeface="Economica"/>
                <a:cs typeface="Economica"/>
                <a:sym typeface="Economica"/>
              </a:rPr>
              <a:t>Generalized Violence</a:t>
            </a:r>
            <a:endParaRPr sz="2400">
              <a:latin typeface="Economica"/>
              <a:ea typeface="Economica"/>
              <a:cs typeface="Economica"/>
              <a:sym typeface="Economica"/>
            </a:endParaRPr>
          </a:p>
        </p:txBody>
      </p:sp>
      <p:sp>
        <p:nvSpPr>
          <p:cNvPr id="3380" name="Google Shape;3380;p234"/>
          <p:cNvSpPr/>
          <p:nvPr/>
        </p:nvSpPr>
        <p:spPr>
          <a:xfrm>
            <a:off x="4017800" y="2779325"/>
            <a:ext cx="818700" cy="5997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84" name="Shape 3384"/>
        <p:cNvGrpSpPr/>
        <p:nvPr/>
      </p:nvGrpSpPr>
      <p:grpSpPr>
        <a:xfrm>
          <a:off x="0" y="0"/>
          <a:ext cx="0" cy="0"/>
          <a:chOff x="0" y="0"/>
          <a:chExt cx="0" cy="0"/>
        </a:xfrm>
      </p:grpSpPr>
      <p:sp>
        <p:nvSpPr>
          <p:cNvPr id="3385" name="Google Shape;3385;p2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Negative Reciprocity-When More Likely?				</a:t>
            </a:r>
            <a:endParaRPr/>
          </a:p>
        </p:txBody>
      </p:sp>
      <p:sp>
        <p:nvSpPr>
          <p:cNvPr id="3386" name="Google Shape;3386;p23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Gould</a:t>
            </a:r>
            <a:r>
              <a:rPr lang="en"/>
              <a:t>: Negative reciprocity more likely amongst equals (like high school)</a:t>
            </a:r>
            <a:endParaRPr/>
          </a:p>
          <a:p>
            <a:pPr indent="0" lvl="0" marL="0" rtl="0" algn="l">
              <a:spcBef>
                <a:spcPts val="0"/>
              </a:spcBef>
              <a:spcAft>
                <a:spcPts val="0"/>
              </a:spcAft>
              <a:buNone/>
            </a:pPr>
            <a:r>
              <a:rPr b="1" lang="en"/>
              <a:t>Papachristos:</a:t>
            </a:r>
            <a:r>
              <a:rPr lang="en"/>
              <a:t> Finds it actually more likely between unequally sized gangs</a:t>
            </a:r>
            <a:endParaRPr/>
          </a:p>
          <a:p>
            <a:pPr indent="0" lvl="0" marL="0" rtl="0" algn="l">
              <a:spcBef>
                <a:spcPts val="0"/>
              </a:spcBef>
              <a:spcAft>
                <a:spcPts val="0"/>
              </a:spcAft>
              <a:buNone/>
            </a:pPr>
            <a:r>
              <a:rPr lang="en"/>
              <a:t>		-part of this finding driven by Latin Kings and Gangster Disciple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truly understand all the reasons and scope conditions as to why this is true... </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90" name="Shape 3390"/>
        <p:cNvGrpSpPr/>
        <p:nvPr/>
      </p:nvGrpSpPr>
      <p:grpSpPr>
        <a:xfrm>
          <a:off x="0" y="0"/>
          <a:ext cx="0" cy="0"/>
          <a:chOff x="0" y="0"/>
          <a:chExt cx="0" cy="0"/>
        </a:xfrm>
      </p:grpSpPr>
      <p:sp>
        <p:nvSpPr>
          <p:cNvPr id="3391" name="Google Shape;3391;p2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Negative Reciprocity-When More Likely?				</a:t>
            </a:r>
            <a:endParaRPr/>
          </a:p>
        </p:txBody>
      </p:sp>
      <p:sp>
        <p:nvSpPr>
          <p:cNvPr id="3392" name="Google Shape;3392;p23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Gould</a:t>
            </a:r>
            <a:r>
              <a:rPr lang="en"/>
              <a:t>: Negative reciprocity more likely amongst equals (like high school)</a:t>
            </a:r>
            <a:endParaRPr/>
          </a:p>
          <a:p>
            <a:pPr indent="0" lvl="0" marL="0" rtl="0" algn="l">
              <a:spcBef>
                <a:spcPts val="0"/>
              </a:spcBef>
              <a:spcAft>
                <a:spcPts val="0"/>
              </a:spcAft>
              <a:buNone/>
            </a:pPr>
            <a:r>
              <a:rPr b="1" lang="en"/>
              <a:t>Papachristos:</a:t>
            </a:r>
            <a:r>
              <a:rPr lang="en"/>
              <a:t> Finds it actually more likely between unequally sized gangs</a:t>
            </a:r>
            <a:endParaRPr/>
          </a:p>
          <a:p>
            <a:pPr indent="0" lvl="0" marL="0" rtl="0" algn="l">
              <a:spcBef>
                <a:spcPts val="0"/>
              </a:spcBef>
              <a:spcAft>
                <a:spcPts val="0"/>
              </a:spcAft>
              <a:buNone/>
            </a:pPr>
            <a:r>
              <a:rPr lang="en"/>
              <a:t>		-part of this finding driven by Latin Kings and Gangster Disciple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truly understand all the reasons and scope conditions as to why this is true... </a:t>
            </a:r>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3396" name="Shape 3396"/>
        <p:cNvGrpSpPr/>
        <p:nvPr/>
      </p:nvGrpSpPr>
      <p:grpSpPr>
        <a:xfrm>
          <a:off x="0" y="0"/>
          <a:ext cx="0" cy="0"/>
          <a:chOff x="0" y="0"/>
          <a:chExt cx="0" cy="0"/>
        </a:xfrm>
      </p:grpSpPr>
      <p:sp>
        <p:nvSpPr>
          <p:cNvPr id="3397" name="Google Shape;3397;p237"/>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Sub-Groups, Cliques, Communities</a:t>
            </a:r>
            <a:endParaRPr/>
          </a:p>
        </p:txBody>
      </p:sp>
      <p:sp>
        <p:nvSpPr>
          <p:cNvPr id="3398" name="Google Shape;3398;p237"/>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2" name="Shape 3402"/>
        <p:cNvGrpSpPr/>
        <p:nvPr/>
      </p:nvGrpSpPr>
      <p:grpSpPr>
        <a:xfrm>
          <a:off x="0" y="0"/>
          <a:ext cx="0" cy="0"/>
          <a:chOff x="0" y="0"/>
          <a:chExt cx="0" cy="0"/>
        </a:xfrm>
      </p:grpSpPr>
      <p:grpSp>
        <p:nvGrpSpPr>
          <p:cNvPr id="3403" name="Google Shape;3403;p238"/>
          <p:cNvGrpSpPr/>
          <p:nvPr/>
        </p:nvGrpSpPr>
        <p:grpSpPr>
          <a:xfrm>
            <a:off x="4725650" y="1479057"/>
            <a:ext cx="3820529" cy="747300"/>
            <a:chOff x="4530625" y="1206568"/>
            <a:chExt cx="3820529" cy="747300"/>
          </a:xfrm>
        </p:grpSpPr>
        <p:cxnSp>
          <p:nvCxnSpPr>
            <p:cNvPr id="3404" name="Google Shape;3404;p238"/>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3405" name="Google Shape;3405;p238"/>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238"/>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3407" name="Google Shape;3407;p238"/>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3408" name="Google Shape;3408;p238"/>
          <p:cNvGrpSpPr/>
          <p:nvPr/>
        </p:nvGrpSpPr>
        <p:grpSpPr>
          <a:xfrm>
            <a:off x="5769175" y="3491301"/>
            <a:ext cx="2777004" cy="747300"/>
            <a:chOff x="5574150" y="3083456"/>
            <a:chExt cx="2777004" cy="747300"/>
          </a:xfrm>
        </p:grpSpPr>
        <p:cxnSp>
          <p:nvCxnSpPr>
            <p:cNvPr id="3409" name="Google Shape;3409;p238"/>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3410" name="Google Shape;3410;p238"/>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238"/>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3412" name="Google Shape;3412;p238"/>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3413" name="Google Shape;3413;p238"/>
          <p:cNvGrpSpPr/>
          <p:nvPr/>
        </p:nvGrpSpPr>
        <p:grpSpPr>
          <a:xfrm>
            <a:off x="597801" y="1980193"/>
            <a:ext cx="3468724" cy="747300"/>
            <a:chOff x="744101" y="1672393"/>
            <a:chExt cx="3468724" cy="747300"/>
          </a:xfrm>
        </p:grpSpPr>
        <p:cxnSp>
          <p:nvCxnSpPr>
            <p:cNvPr id="3414" name="Google Shape;3414;p238"/>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3415" name="Google Shape;3415;p238"/>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238"/>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3417" name="Google Shape;3417;p238"/>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3418" name="Google Shape;3418;p238"/>
          <p:cNvGrpSpPr/>
          <p:nvPr/>
        </p:nvGrpSpPr>
        <p:grpSpPr>
          <a:xfrm>
            <a:off x="597801" y="2897769"/>
            <a:ext cx="3021694" cy="747300"/>
            <a:chOff x="744101" y="2507609"/>
            <a:chExt cx="3021694" cy="747300"/>
          </a:xfrm>
        </p:grpSpPr>
        <p:cxnSp>
          <p:nvCxnSpPr>
            <p:cNvPr id="3419" name="Google Shape;3419;p238"/>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3420" name="Google Shape;3420;p238"/>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238"/>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3422" name="Google Shape;3422;p238"/>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3423" name="Google Shape;3423;p238"/>
          <p:cNvGrpSpPr/>
          <p:nvPr/>
        </p:nvGrpSpPr>
        <p:grpSpPr>
          <a:xfrm>
            <a:off x="2811509" y="1603902"/>
            <a:ext cx="3509178" cy="3257208"/>
            <a:chOff x="3318063" y="1368287"/>
            <a:chExt cx="2408000" cy="2993482"/>
          </a:xfrm>
        </p:grpSpPr>
        <p:sp>
          <p:nvSpPr>
            <p:cNvPr id="3424" name="Google Shape;3424;p238"/>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25" name="Google Shape;3425;p238"/>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26" name="Google Shape;3426;p238"/>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27" name="Google Shape;3427;p238"/>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28" name="Google Shape;3428;p238"/>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29" name="Google Shape;3429;p238"/>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0" name="Google Shape;3430;p238"/>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1" name="Google Shape;3431;p238"/>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2" name="Google Shape;3432;p238"/>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3" name="Google Shape;3433;p238"/>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4" name="Google Shape;3434;p238"/>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5" name="Google Shape;3435;p238"/>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6" name="Google Shape;3436;p238"/>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7" name="Google Shape;3437;p238"/>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8" name="Google Shape;3438;p238"/>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39" name="Google Shape;3439;p238"/>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40" name="Google Shape;3440;p238"/>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3441" name="Google Shape;3441;p238"/>
          <p:cNvGrpSpPr/>
          <p:nvPr/>
        </p:nvGrpSpPr>
        <p:grpSpPr>
          <a:xfrm>
            <a:off x="5259475" y="2411864"/>
            <a:ext cx="3286704" cy="747300"/>
            <a:chOff x="5064450" y="2086419"/>
            <a:chExt cx="3286704" cy="747300"/>
          </a:xfrm>
        </p:grpSpPr>
        <p:cxnSp>
          <p:nvCxnSpPr>
            <p:cNvPr id="3442" name="Google Shape;3442;p238"/>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3443" name="Google Shape;3443;p238"/>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238"/>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3445" name="Google Shape;3445;p238"/>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3446" name="Google Shape;3446;p238"/>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3447" name="Google Shape;3447;p2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1" name="Shape 3451"/>
        <p:cNvGrpSpPr/>
        <p:nvPr/>
      </p:nvGrpSpPr>
      <p:grpSpPr>
        <a:xfrm>
          <a:off x="0" y="0"/>
          <a:ext cx="0" cy="0"/>
          <a:chOff x="0" y="0"/>
          <a:chExt cx="0" cy="0"/>
        </a:xfrm>
      </p:grpSpPr>
      <p:grpSp>
        <p:nvGrpSpPr>
          <p:cNvPr id="3452" name="Google Shape;3452;p239"/>
          <p:cNvGrpSpPr/>
          <p:nvPr/>
        </p:nvGrpSpPr>
        <p:grpSpPr>
          <a:xfrm>
            <a:off x="4725650" y="1479057"/>
            <a:ext cx="3820529" cy="747300"/>
            <a:chOff x="4530625" y="1206568"/>
            <a:chExt cx="3820529" cy="747300"/>
          </a:xfrm>
        </p:grpSpPr>
        <p:cxnSp>
          <p:nvCxnSpPr>
            <p:cNvPr id="3453" name="Google Shape;3453;p239"/>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3454" name="Google Shape;3454;p239"/>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239"/>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3456" name="Google Shape;3456;p239"/>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3457" name="Google Shape;3457;p239"/>
          <p:cNvGrpSpPr/>
          <p:nvPr/>
        </p:nvGrpSpPr>
        <p:grpSpPr>
          <a:xfrm>
            <a:off x="5769175" y="3491301"/>
            <a:ext cx="2777004" cy="747300"/>
            <a:chOff x="5574150" y="3083456"/>
            <a:chExt cx="2777004" cy="747300"/>
          </a:xfrm>
        </p:grpSpPr>
        <p:cxnSp>
          <p:nvCxnSpPr>
            <p:cNvPr id="3458" name="Google Shape;3458;p239"/>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3459" name="Google Shape;3459;p239"/>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239"/>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3461" name="Google Shape;3461;p239"/>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3462" name="Google Shape;3462;p239"/>
          <p:cNvGrpSpPr/>
          <p:nvPr/>
        </p:nvGrpSpPr>
        <p:grpSpPr>
          <a:xfrm>
            <a:off x="597801" y="1980193"/>
            <a:ext cx="3468724" cy="747300"/>
            <a:chOff x="744101" y="1672393"/>
            <a:chExt cx="3468724" cy="747300"/>
          </a:xfrm>
        </p:grpSpPr>
        <p:cxnSp>
          <p:nvCxnSpPr>
            <p:cNvPr id="3463" name="Google Shape;3463;p239"/>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3464" name="Google Shape;3464;p239"/>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239"/>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3466" name="Google Shape;3466;p239"/>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3467" name="Google Shape;3467;p239"/>
          <p:cNvGrpSpPr/>
          <p:nvPr/>
        </p:nvGrpSpPr>
        <p:grpSpPr>
          <a:xfrm>
            <a:off x="597801" y="2897769"/>
            <a:ext cx="3021694" cy="747300"/>
            <a:chOff x="744101" y="2507609"/>
            <a:chExt cx="3021694" cy="747300"/>
          </a:xfrm>
        </p:grpSpPr>
        <p:cxnSp>
          <p:nvCxnSpPr>
            <p:cNvPr id="3468" name="Google Shape;3468;p239"/>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3469" name="Google Shape;3469;p239"/>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239"/>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3471" name="Google Shape;3471;p239"/>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3472" name="Google Shape;3472;p239"/>
          <p:cNvGrpSpPr/>
          <p:nvPr/>
        </p:nvGrpSpPr>
        <p:grpSpPr>
          <a:xfrm>
            <a:off x="2811509" y="1603902"/>
            <a:ext cx="3509178" cy="3257208"/>
            <a:chOff x="3318063" y="1368287"/>
            <a:chExt cx="2408000" cy="2993482"/>
          </a:xfrm>
        </p:grpSpPr>
        <p:sp>
          <p:nvSpPr>
            <p:cNvPr id="3473" name="Google Shape;3473;p239"/>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74" name="Google Shape;3474;p239"/>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75" name="Google Shape;3475;p239"/>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76" name="Google Shape;3476;p239"/>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77" name="Google Shape;3477;p239"/>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78" name="Google Shape;3478;p239"/>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79" name="Google Shape;3479;p239"/>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0" name="Google Shape;3480;p239"/>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1" name="Google Shape;3481;p239"/>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2" name="Google Shape;3482;p239"/>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3" name="Google Shape;3483;p239"/>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4" name="Google Shape;3484;p239"/>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5" name="Google Shape;3485;p239"/>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6" name="Google Shape;3486;p239"/>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7" name="Google Shape;3487;p239"/>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8" name="Google Shape;3488;p239"/>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3489" name="Google Shape;3489;p239"/>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3490" name="Google Shape;3490;p239"/>
          <p:cNvGrpSpPr/>
          <p:nvPr/>
        </p:nvGrpSpPr>
        <p:grpSpPr>
          <a:xfrm>
            <a:off x="5259475" y="2411864"/>
            <a:ext cx="3286704" cy="747300"/>
            <a:chOff x="5064450" y="2086419"/>
            <a:chExt cx="3286704" cy="747300"/>
          </a:xfrm>
        </p:grpSpPr>
        <p:cxnSp>
          <p:nvCxnSpPr>
            <p:cNvPr id="3491" name="Google Shape;3491;p239"/>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3492" name="Google Shape;3492;p239"/>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239"/>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3494" name="Google Shape;3494;p239"/>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3495" name="Google Shape;3495;p239"/>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3496" name="Google Shape;3496;p2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
        <p:nvSpPr>
          <p:cNvPr id="3497" name="Google Shape;3497;p239"/>
          <p:cNvSpPr/>
          <p:nvPr/>
        </p:nvSpPr>
        <p:spPr>
          <a:xfrm>
            <a:off x="311700" y="2662975"/>
            <a:ext cx="4196100" cy="10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rgbClr val="FF0000"/>
              </a:solidFill>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1" name="Shape 3501"/>
        <p:cNvGrpSpPr/>
        <p:nvPr/>
      </p:nvGrpSpPr>
      <p:grpSpPr>
        <a:xfrm>
          <a:off x="0" y="0"/>
          <a:ext cx="0" cy="0"/>
          <a:chOff x="0" y="0"/>
          <a:chExt cx="0" cy="0"/>
        </a:xfrm>
      </p:grpSpPr>
      <p:sp>
        <p:nvSpPr>
          <p:cNvPr id="3502" name="Google Shape;3502;p2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Cohesion, connectivity, subgroups</a:t>
            </a:r>
            <a:endParaRPr/>
          </a:p>
        </p:txBody>
      </p:sp>
      <p:sp>
        <p:nvSpPr>
          <p:cNvPr id="3503" name="Google Shape;3503;p24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Group level in networks:</a:t>
            </a:r>
            <a:endParaRPr/>
          </a:p>
          <a:p>
            <a:pPr indent="-317500" lvl="1" marL="914400" rtl="0" algn="l">
              <a:spcBef>
                <a:spcPts val="0"/>
              </a:spcBef>
              <a:spcAft>
                <a:spcPts val="0"/>
              </a:spcAft>
              <a:buSzPts val="1400"/>
              <a:buChar char="○"/>
            </a:pPr>
            <a:r>
              <a:rPr lang="en"/>
              <a:t>In between the micro:</a:t>
            </a:r>
            <a:endParaRPr/>
          </a:p>
          <a:p>
            <a:pPr indent="-317500" lvl="2" marL="1371600" rtl="0" algn="l">
              <a:spcBef>
                <a:spcPts val="0"/>
              </a:spcBef>
              <a:spcAft>
                <a:spcPts val="0"/>
              </a:spcAft>
              <a:buSzPts val="1400"/>
              <a:buChar char="■"/>
            </a:pPr>
            <a:r>
              <a:rPr lang="en"/>
              <a:t>Dyads, triads</a:t>
            </a:r>
            <a:endParaRPr/>
          </a:p>
          <a:p>
            <a:pPr indent="-317500" lvl="1" marL="914400" rtl="0" algn="l">
              <a:spcBef>
                <a:spcPts val="0"/>
              </a:spcBef>
              <a:spcAft>
                <a:spcPts val="0"/>
              </a:spcAft>
              <a:buSzPts val="1400"/>
              <a:buChar char="○"/>
            </a:pPr>
            <a:r>
              <a:rPr lang="en"/>
              <a:t>And the macro:</a:t>
            </a:r>
            <a:endParaRPr/>
          </a:p>
          <a:p>
            <a:pPr indent="-317500" lvl="2" marL="1371600" rtl="0" algn="l">
              <a:spcBef>
                <a:spcPts val="0"/>
              </a:spcBef>
              <a:spcAft>
                <a:spcPts val="0"/>
              </a:spcAft>
              <a:buSzPts val="1400"/>
              <a:buChar char="■"/>
            </a:pPr>
            <a:r>
              <a:rPr lang="en"/>
              <a:t>“Whole network”</a:t>
            </a:r>
            <a:endParaRPr/>
          </a:p>
          <a:p>
            <a:pPr indent="-342900" lvl="0" marL="457200" rtl="0" algn="l">
              <a:spcBef>
                <a:spcPts val="0"/>
              </a:spcBef>
              <a:spcAft>
                <a:spcPts val="0"/>
              </a:spcAft>
              <a:buSzPts val="1800"/>
              <a:buChar char="●"/>
            </a:pPr>
            <a:r>
              <a:rPr lang="en"/>
              <a:t>Why groups?</a:t>
            </a:r>
            <a:endParaRPr/>
          </a:p>
          <a:p>
            <a:pPr indent="-317500" lvl="1" marL="914400" marR="0" rtl="0" algn="l">
              <a:lnSpc>
                <a:spcPct val="115000"/>
              </a:lnSpc>
              <a:spcBef>
                <a:spcPts val="0"/>
              </a:spcBef>
              <a:spcAft>
                <a:spcPts val="0"/>
              </a:spcAft>
              <a:buClr>
                <a:schemeClr val="dk1"/>
              </a:buClr>
              <a:buSzPts val="1400"/>
              <a:buFont typeface="Open Sans"/>
              <a:buChar char="○"/>
            </a:pPr>
            <a:r>
              <a:rPr lang="en"/>
              <a:t>Important functional units in organizations</a:t>
            </a:r>
            <a:endParaRPr/>
          </a:p>
          <a:p>
            <a:pPr indent="-317500" lvl="2" marL="1371600" marR="0" rtl="0" algn="l">
              <a:lnSpc>
                <a:spcPct val="115000"/>
              </a:lnSpc>
              <a:spcBef>
                <a:spcPts val="0"/>
              </a:spcBef>
              <a:spcAft>
                <a:spcPts val="0"/>
              </a:spcAft>
              <a:buSzPts val="1400"/>
              <a:buChar char="■"/>
            </a:pPr>
            <a:r>
              <a:rPr lang="en"/>
              <a:t>Workplaces</a:t>
            </a:r>
            <a:endParaRPr/>
          </a:p>
          <a:p>
            <a:pPr indent="-317500" lvl="2" marL="1371600" marR="0" rtl="0" algn="l">
              <a:lnSpc>
                <a:spcPct val="115000"/>
              </a:lnSpc>
              <a:spcBef>
                <a:spcPts val="0"/>
              </a:spcBef>
              <a:spcAft>
                <a:spcPts val="0"/>
              </a:spcAft>
              <a:buSzPts val="1400"/>
              <a:buChar char="■"/>
            </a:pPr>
            <a:r>
              <a:rPr lang="en"/>
              <a:t>Creative industries</a:t>
            </a:r>
            <a:endParaRPr/>
          </a:p>
          <a:p>
            <a:pPr indent="-317500" lvl="2" marL="1371600" marR="0" rtl="0" algn="l">
              <a:lnSpc>
                <a:spcPct val="115000"/>
              </a:lnSpc>
              <a:spcBef>
                <a:spcPts val="0"/>
              </a:spcBef>
              <a:spcAft>
                <a:spcPts val="0"/>
              </a:spcAft>
              <a:buSzPts val="1400"/>
              <a:buChar char="■"/>
            </a:pPr>
            <a:r>
              <a:rPr lang="en"/>
              <a:t>Science</a:t>
            </a:r>
            <a:endParaRPr/>
          </a:p>
          <a:p>
            <a:pPr indent="-317500" lvl="1" marL="914400" marR="0" rtl="0" algn="l">
              <a:lnSpc>
                <a:spcPct val="115000"/>
              </a:lnSpc>
              <a:spcBef>
                <a:spcPts val="0"/>
              </a:spcBef>
              <a:spcAft>
                <a:spcPts val="0"/>
              </a:spcAft>
              <a:buSzPts val="1400"/>
              <a:buChar char="○"/>
            </a:pPr>
            <a:r>
              <a:rPr lang="en"/>
              <a:t>Important units for solidarity and interaction in social systems</a:t>
            </a:r>
            <a:endParaRPr/>
          </a:p>
          <a:p>
            <a:pPr indent="-317500" lvl="2" marL="1371600" marR="0" rtl="0" algn="l">
              <a:lnSpc>
                <a:spcPct val="115000"/>
              </a:lnSpc>
              <a:spcBef>
                <a:spcPts val="0"/>
              </a:spcBef>
              <a:spcAft>
                <a:spcPts val="0"/>
              </a:spcAft>
              <a:buSzPts val="1400"/>
              <a:buChar char="■"/>
            </a:pPr>
            <a:r>
              <a:rPr lang="en"/>
              <a:t>Social foci</a:t>
            </a:r>
            <a:endParaRPr/>
          </a:p>
          <a:p>
            <a:pPr indent="-317500" lvl="2" marL="1371600" marR="0" rtl="0" algn="l">
              <a:lnSpc>
                <a:spcPct val="115000"/>
              </a:lnSpc>
              <a:spcBef>
                <a:spcPts val="0"/>
              </a:spcBef>
              <a:spcAft>
                <a:spcPts val="0"/>
              </a:spcAft>
              <a:buSzPts val="1400"/>
              <a:buChar char="■"/>
            </a:pPr>
            <a:r>
              <a:rPr lang="en"/>
              <a:t>Primary groups (family, support cliques)</a:t>
            </a:r>
            <a:endParaRPr/>
          </a:p>
          <a:p>
            <a:pPr indent="0" lvl="0" marL="914400" marR="0" rtl="0" algn="l">
              <a:lnSpc>
                <a:spcPct val="115000"/>
              </a:lnSpc>
              <a:spcBef>
                <a:spcPts val="1600"/>
              </a:spcBef>
              <a:spcAft>
                <a:spcPts val="1600"/>
              </a:spcAft>
              <a:buNone/>
            </a:pPr>
            <a:r>
              <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7" name="Shape 3507"/>
        <p:cNvGrpSpPr/>
        <p:nvPr/>
      </p:nvGrpSpPr>
      <p:grpSpPr>
        <a:xfrm>
          <a:off x="0" y="0"/>
          <a:ext cx="0" cy="0"/>
          <a:chOff x="0" y="0"/>
          <a:chExt cx="0" cy="0"/>
        </a:xfrm>
      </p:grpSpPr>
      <p:sp>
        <p:nvSpPr>
          <p:cNvPr id="3508" name="Google Shape;3508;p2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Cohesion, connectivity, subgroups</a:t>
            </a:r>
            <a:endParaRPr/>
          </a:p>
        </p:txBody>
      </p:sp>
      <p:sp>
        <p:nvSpPr>
          <p:cNvPr id="3509" name="Google Shape;3509;p24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Group level in networks:</a:t>
            </a:r>
            <a:endParaRPr/>
          </a:p>
          <a:p>
            <a:pPr indent="-317500" lvl="1" marL="914400" rtl="0" algn="l">
              <a:spcBef>
                <a:spcPts val="0"/>
              </a:spcBef>
              <a:spcAft>
                <a:spcPts val="0"/>
              </a:spcAft>
              <a:buSzPts val="1400"/>
              <a:buChar char="○"/>
            </a:pPr>
            <a:r>
              <a:rPr lang="en"/>
              <a:t>In between the micro:</a:t>
            </a:r>
            <a:endParaRPr/>
          </a:p>
          <a:p>
            <a:pPr indent="-317500" lvl="2" marL="1371600" rtl="0" algn="l">
              <a:spcBef>
                <a:spcPts val="0"/>
              </a:spcBef>
              <a:spcAft>
                <a:spcPts val="0"/>
              </a:spcAft>
              <a:buSzPts val="1400"/>
              <a:buChar char="■"/>
            </a:pPr>
            <a:r>
              <a:rPr lang="en"/>
              <a:t>Dyads, triads</a:t>
            </a:r>
            <a:endParaRPr/>
          </a:p>
          <a:p>
            <a:pPr indent="-317500" lvl="1" marL="914400" rtl="0" algn="l">
              <a:spcBef>
                <a:spcPts val="0"/>
              </a:spcBef>
              <a:spcAft>
                <a:spcPts val="0"/>
              </a:spcAft>
              <a:buSzPts val="1400"/>
              <a:buChar char="○"/>
            </a:pPr>
            <a:r>
              <a:rPr lang="en"/>
              <a:t>And the macro:</a:t>
            </a:r>
            <a:endParaRPr/>
          </a:p>
          <a:p>
            <a:pPr indent="-317500" lvl="2" marL="1371600" rtl="0" algn="l">
              <a:spcBef>
                <a:spcPts val="0"/>
              </a:spcBef>
              <a:spcAft>
                <a:spcPts val="0"/>
              </a:spcAft>
              <a:buSzPts val="1400"/>
              <a:buChar char="■"/>
            </a:pPr>
            <a:r>
              <a:rPr lang="en"/>
              <a:t>“Whole network”</a:t>
            </a:r>
            <a:endParaRPr/>
          </a:p>
          <a:p>
            <a:pPr indent="-342900" lvl="0" marL="457200" rtl="0" algn="l">
              <a:spcBef>
                <a:spcPts val="0"/>
              </a:spcBef>
              <a:spcAft>
                <a:spcPts val="0"/>
              </a:spcAft>
              <a:buSzPts val="1800"/>
              <a:buChar char="●"/>
            </a:pPr>
            <a:r>
              <a:rPr lang="en"/>
              <a:t>Why groups?</a:t>
            </a:r>
            <a:endParaRPr/>
          </a:p>
          <a:p>
            <a:pPr indent="-317500" lvl="1" marL="914400" marR="0" rtl="0" algn="l">
              <a:lnSpc>
                <a:spcPct val="115000"/>
              </a:lnSpc>
              <a:spcBef>
                <a:spcPts val="0"/>
              </a:spcBef>
              <a:spcAft>
                <a:spcPts val="0"/>
              </a:spcAft>
              <a:buClr>
                <a:schemeClr val="dk1"/>
              </a:buClr>
              <a:buSzPts val="1400"/>
              <a:buFont typeface="Open Sans"/>
              <a:buChar char="○"/>
            </a:pPr>
            <a:r>
              <a:rPr lang="en"/>
              <a:t>Important sources of:</a:t>
            </a:r>
            <a:endParaRPr/>
          </a:p>
          <a:p>
            <a:pPr indent="-317500" lvl="2" marL="1371600" marR="0" rtl="0" algn="l">
              <a:lnSpc>
                <a:spcPct val="115000"/>
              </a:lnSpc>
              <a:spcBef>
                <a:spcPts val="0"/>
              </a:spcBef>
              <a:spcAft>
                <a:spcPts val="0"/>
              </a:spcAft>
              <a:buSzPts val="1400"/>
              <a:buChar char="■"/>
            </a:pPr>
            <a:r>
              <a:rPr lang="en"/>
              <a:t>Ideational homogeneity</a:t>
            </a:r>
            <a:endParaRPr/>
          </a:p>
          <a:p>
            <a:pPr indent="-317500" lvl="2" marL="1371600" marR="0" rtl="0" algn="l">
              <a:lnSpc>
                <a:spcPct val="115000"/>
              </a:lnSpc>
              <a:spcBef>
                <a:spcPts val="0"/>
              </a:spcBef>
              <a:spcAft>
                <a:spcPts val="0"/>
              </a:spcAft>
              <a:buSzPts val="1400"/>
              <a:buChar char="■"/>
            </a:pPr>
            <a:r>
              <a:rPr lang="en"/>
              <a:t>Conformity</a:t>
            </a:r>
            <a:endParaRPr/>
          </a:p>
          <a:p>
            <a:pPr indent="-317500" lvl="2" marL="1371600" marR="0" rtl="0" algn="l">
              <a:lnSpc>
                <a:spcPct val="115000"/>
              </a:lnSpc>
              <a:spcBef>
                <a:spcPts val="0"/>
              </a:spcBef>
              <a:spcAft>
                <a:spcPts val="0"/>
              </a:spcAft>
              <a:buSzPts val="1400"/>
              <a:buChar char="■"/>
            </a:pPr>
            <a:r>
              <a:rPr lang="en"/>
              <a:t>Influence</a:t>
            </a:r>
            <a:endParaRPr/>
          </a:p>
          <a:p>
            <a:pPr indent="-317500" lvl="2" marL="1371600" marR="0" rtl="0" algn="l">
              <a:lnSpc>
                <a:spcPct val="115000"/>
              </a:lnSpc>
              <a:spcBef>
                <a:spcPts val="0"/>
              </a:spcBef>
              <a:spcAft>
                <a:spcPts val="0"/>
              </a:spcAft>
              <a:buSzPts val="1400"/>
              <a:buChar char="■"/>
            </a:pPr>
            <a:r>
              <a:rPr lang="en"/>
              <a:t>Information transmission</a:t>
            </a:r>
            <a:endParaRPr/>
          </a:p>
          <a:p>
            <a:pPr indent="0" lvl="0" marL="914400" marR="0" rtl="0" algn="l">
              <a:lnSpc>
                <a:spcPct val="115000"/>
              </a:lnSpc>
              <a:spcBef>
                <a:spcPts val="1600"/>
              </a:spcBef>
              <a:spcAft>
                <a:spcPts val="1600"/>
              </a:spcAft>
              <a:buNone/>
            </a:pPr>
            <a:r>
              <a:t/>
            </a:r>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3" name="Shape 3513"/>
        <p:cNvGrpSpPr/>
        <p:nvPr/>
      </p:nvGrpSpPr>
      <p:grpSpPr>
        <a:xfrm>
          <a:off x="0" y="0"/>
          <a:ext cx="0" cy="0"/>
          <a:chOff x="0" y="0"/>
          <a:chExt cx="0" cy="0"/>
        </a:xfrm>
      </p:grpSpPr>
      <p:sp>
        <p:nvSpPr>
          <p:cNvPr id="3514" name="Google Shape;3514;p2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Cohesion, connectivity, subgroups</a:t>
            </a:r>
            <a:endParaRPr/>
          </a:p>
        </p:txBody>
      </p:sp>
      <p:sp>
        <p:nvSpPr>
          <p:cNvPr id="3515" name="Google Shape;3515;p24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Group level in networks:</a:t>
            </a:r>
            <a:endParaRPr/>
          </a:p>
          <a:p>
            <a:pPr indent="-317500" lvl="1" marL="914400" rtl="0" algn="l">
              <a:spcBef>
                <a:spcPts val="0"/>
              </a:spcBef>
              <a:spcAft>
                <a:spcPts val="0"/>
              </a:spcAft>
              <a:buSzPts val="1400"/>
              <a:buChar char="○"/>
            </a:pPr>
            <a:r>
              <a:rPr lang="en"/>
              <a:t>In between the micro:</a:t>
            </a:r>
            <a:endParaRPr/>
          </a:p>
          <a:p>
            <a:pPr indent="-317500" lvl="2" marL="1371600" rtl="0" algn="l">
              <a:spcBef>
                <a:spcPts val="0"/>
              </a:spcBef>
              <a:spcAft>
                <a:spcPts val="0"/>
              </a:spcAft>
              <a:buSzPts val="1400"/>
              <a:buChar char="■"/>
            </a:pPr>
            <a:r>
              <a:rPr lang="en"/>
              <a:t>Dyads, triads</a:t>
            </a:r>
            <a:endParaRPr/>
          </a:p>
          <a:p>
            <a:pPr indent="-317500" lvl="1" marL="914400" rtl="0" algn="l">
              <a:spcBef>
                <a:spcPts val="0"/>
              </a:spcBef>
              <a:spcAft>
                <a:spcPts val="0"/>
              </a:spcAft>
              <a:buSzPts val="1400"/>
              <a:buChar char="○"/>
            </a:pPr>
            <a:r>
              <a:rPr lang="en"/>
              <a:t>And the macro:</a:t>
            </a:r>
            <a:endParaRPr/>
          </a:p>
          <a:p>
            <a:pPr indent="-317500" lvl="2" marL="1371600" rtl="0" algn="l">
              <a:spcBef>
                <a:spcPts val="0"/>
              </a:spcBef>
              <a:spcAft>
                <a:spcPts val="0"/>
              </a:spcAft>
              <a:buSzPts val="1400"/>
              <a:buChar char="■"/>
            </a:pPr>
            <a:r>
              <a:rPr lang="en"/>
              <a:t>“Whole network”</a:t>
            </a:r>
            <a:endParaRPr/>
          </a:p>
          <a:p>
            <a:pPr indent="-342900" lvl="0" marL="457200" rtl="0" algn="l">
              <a:spcBef>
                <a:spcPts val="0"/>
              </a:spcBef>
              <a:spcAft>
                <a:spcPts val="0"/>
              </a:spcAft>
              <a:buSzPts val="1800"/>
              <a:buChar char="●"/>
            </a:pPr>
            <a:r>
              <a:rPr lang="en"/>
              <a:t>Questions: </a:t>
            </a:r>
            <a:endParaRPr/>
          </a:p>
          <a:p>
            <a:pPr indent="-317500" lvl="1" marL="914400" rtl="0" algn="l">
              <a:spcBef>
                <a:spcPts val="0"/>
              </a:spcBef>
              <a:spcAft>
                <a:spcPts val="0"/>
              </a:spcAft>
              <a:buSzPts val="1400"/>
              <a:buChar char="○"/>
            </a:pPr>
            <a:r>
              <a:rPr lang="en"/>
              <a:t>How can we translate the concept of a group into network terms?</a:t>
            </a:r>
            <a:endParaRPr/>
          </a:p>
          <a:p>
            <a:pPr indent="-317500" lvl="1" marL="914400" rtl="0" algn="l">
              <a:spcBef>
                <a:spcPts val="0"/>
              </a:spcBef>
              <a:spcAft>
                <a:spcPts val="0"/>
              </a:spcAft>
              <a:buSzPts val="1400"/>
              <a:buChar char="○"/>
            </a:pPr>
            <a:r>
              <a:rPr lang="en"/>
              <a:t>What are the most important group properties from a network per</a:t>
            </a:r>
            <a:r>
              <a:rPr lang="en"/>
              <a:t>sp</a:t>
            </a:r>
            <a:r>
              <a:rPr lang="en"/>
              <a:t>ective?</a:t>
            </a:r>
            <a:endParaRPr/>
          </a:p>
          <a:p>
            <a:pPr indent="-317500" lvl="2" marL="1371600" rtl="0" algn="l">
              <a:spcBef>
                <a:spcPts val="0"/>
              </a:spcBef>
              <a:spcAft>
                <a:spcPts val="0"/>
              </a:spcAft>
              <a:buSzPts val="1400"/>
              <a:buChar char="■"/>
            </a:pPr>
            <a:r>
              <a:rPr lang="en"/>
              <a:t>Cohesion</a:t>
            </a:r>
            <a:endParaRPr/>
          </a:p>
          <a:p>
            <a:pPr indent="-317500" lvl="2" marL="1371600" rtl="0" algn="l">
              <a:spcBef>
                <a:spcPts val="0"/>
              </a:spcBef>
              <a:spcAft>
                <a:spcPts val="0"/>
              </a:spcAft>
              <a:buSzPts val="1400"/>
              <a:buChar char="■"/>
            </a:pPr>
            <a:r>
              <a:rPr lang="en"/>
              <a:t>Polarization</a:t>
            </a:r>
            <a:endParaRPr/>
          </a:p>
          <a:p>
            <a:pPr indent="-317500" lvl="2" marL="1371600" rtl="0" algn="l">
              <a:spcBef>
                <a:spcPts val="0"/>
              </a:spcBef>
              <a:spcAft>
                <a:spcPts val="0"/>
              </a:spcAft>
              <a:buSzPts val="1400"/>
              <a:buChar char="■"/>
            </a:pPr>
            <a:r>
              <a:rPr lang="en"/>
              <a:t>Fragmentation</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9" name="Shape 3519"/>
        <p:cNvGrpSpPr/>
        <p:nvPr/>
      </p:nvGrpSpPr>
      <p:grpSpPr>
        <a:xfrm>
          <a:off x="0" y="0"/>
          <a:ext cx="0" cy="0"/>
          <a:chOff x="0" y="0"/>
          <a:chExt cx="0" cy="0"/>
        </a:xfrm>
      </p:grpSpPr>
      <p:sp>
        <p:nvSpPr>
          <p:cNvPr id="3520" name="Google Shape;3520;p2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are “groups” or “communities”? </a:t>
            </a:r>
            <a:endParaRPr/>
          </a:p>
        </p:txBody>
      </p:sp>
      <p:sp>
        <p:nvSpPr>
          <p:cNvPr id="3521" name="Google Shape;3521;p243"/>
          <p:cNvSpPr txBox="1"/>
          <p:nvPr>
            <p:ph idx="1" type="body"/>
          </p:nvPr>
        </p:nvSpPr>
        <p:spPr>
          <a:xfrm>
            <a:off x="311700" y="1225225"/>
            <a:ext cx="5275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“Group,” is a fuzzy social science concept, with many overlapping but sometimes contradictory verbal definitions</a:t>
            </a:r>
            <a:endParaRPr/>
          </a:p>
          <a:p>
            <a:pPr indent="-317500" lvl="1" marL="914400" rtl="0" algn="l">
              <a:spcBef>
                <a:spcPts val="0"/>
              </a:spcBef>
              <a:spcAft>
                <a:spcPts val="0"/>
              </a:spcAft>
              <a:buSzPts val="1400"/>
              <a:buChar char="○"/>
            </a:pPr>
            <a:r>
              <a:rPr lang="en"/>
              <a:t>As always graph theory to the rescue!</a:t>
            </a:r>
            <a:endParaRPr/>
          </a:p>
          <a:p>
            <a:pPr indent="-342900" lvl="0" marL="457200" rtl="0" algn="l">
              <a:spcBef>
                <a:spcPts val="0"/>
              </a:spcBef>
              <a:spcAft>
                <a:spcPts val="0"/>
              </a:spcAft>
              <a:buSzPts val="1800"/>
              <a:buChar char="●"/>
            </a:pPr>
            <a:r>
              <a:rPr lang="en"/>
              <a:t>The graph theoretic concept of group/community is:</a:t>
            </a:r>
            <a:endParaRPr/>
          </a:p>
          <a:p>
            <a:pPr indent="-317500" lvl="1" marL="914400" rtl="0" algn="l">
              <a:spcBef>
                <a:spcPts val="0"/>
              </a:spcBef>
              <a:spcAft>
                <a:spcPts val="0"/>
              </a:spcAft>
              <a:buSzPts val="1400"/>
              <a:buChar char="○"/>
            </a:pPr>
            <a:r>
              <a:rPr b="1" lang="en"/>
              <a:t>A relatively dense subgraph featuring more links among the subset of vertices that belong to the subgraph than links to vertices in the rest of the graph</a:t>
            </a:r>
            <a:endParaRPr b="1"/>
          </a:p>
          <a:p>
            <a:pPr indent="0" lvl="0" marL="457200" marR="0" rtl="0" algn="l">
              <a:lnSpc>
                <a:spcPct val="115000"/>
              </a:lnSpc>
              <a:spcBef>
                <a:spcPts val="0"/>
              </a:spcBef>
              <a:spcAft>
                <a:spcPts val="1600"/>
              </a:spcAft>
              <a:buNone/>
            </a:pPr>
            <a:r>
              <a:t/>
            </a:r>
            <a:endParaRPr/>
          </a:p>
        </p:txBody>
      </p:sp>
      <p:pic>
        <p:nvPicPr>
          <p:cNvPr id="3522" name="Google Shape;3522;p243"/>
          <p:cNvPicPr preferRelativeResize="0"/>
          <p:nvPr/>
        </p:nvPicPr>
        <p:blipFill>
          <a:blip r:embed="rId3">
            <a:alphaModFix/>
          </a:blip>
          <a:stretch>
            <a:fillRect/>
          </a:stretch>
        </p:blipFill>
        <p:spPr>
          <a:xfrm>
            <a:off x="5980250" y="1190325"/>
            <a:ext cx="2852041" cy="335400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6" name="Shape 3526"/>
        <p:cNvGrpSpPr/>
        <p:nvPr/>
      </p:nvGrpSpPr>
      <p:grpSpPr>
        <a:xfrm>
          <a:off x="0" y="0"/>
          <a:ext cx="0" cy="0"/>
          <a:chOff x="0" y="0"/>
          <a:chExt cx="0" cy="0"/>
        </a:xfrm>
      </p:grpSpPr>
      <p:sp>
        <p:nvSpPr>
          <p:cNvPr id="3527" name="Google Shape;3527;p2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528" name="Google Shape;3528;p244"/>
          <p:cNvSpPr txBox="1"/>
          <p:nvPr>
            <p:ph idx="1" type="body"/>
          </p:nvPr>
        </p:nvSpPr>
        <p:spPr>
          <a:xfrm>
            <a:off x="311700" y="1225225"/>
            <a:ext cx="4579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lot of network methods are designed to </a:t>
            </a:r>
            <a:r>
              <a:rPr lang="en"/>
              <a:t>sp</a:t>
            </a:r>
            <a:r>
              <a:rPr lang="en"/>
              <a:t>lit a graph into subgraphs</a:t>
            </a:r>
            <a:endParaRPr/>
          </a:p>
          <a:p>
            <a:pPr indent="-317500" lvl="1" marL="914400" rtl="0" algn="l">
              <a:spcBef>
                <a:spcPts val="0"/>
              </a:spcBef>
              <a:spcAft>
                <a:spcPts val="0"/>
              </a:spcAft>
              <a:buSzPts val="1400"/>
              <a:buChar char="○"/>
            </a:pPr>
            <a:r>
              <a:rPr lang="en"/>
              <a:t>Subgraphs can be used to represent the social network concepts of </a:t>
            </a:r>
            <a:r>
              <a:rPr b="1" lang="en"/>
              <a:t>groups</a:t>
            </a:r>
            <a:r>
              <a:rPr lang="en"/>
              <a:t>, </a:t>
            </a:r>
            <a:r>
              <a:rPr b="1" lang="en"/>
              <a:t>cliques</a:t>
            </a:r>
            <a:r>
              <a:rPr lang="en"/>
              <a:t>, or </a:t>
            </a:r>
            <a:r>
              <a:rPr b="1" lang="en"/>
              <a:t>communities</a:t>
            </a:r>
            <a:endParaRPr b="1"/>
          </a:p>
        </p:txBody>
      </p:sp>
      <p:sp>
        <p:nvSpPr>
          <p:cNvPr id="3529" name="Google Shape;3529;p244"/>
          <p:cNvSpPr/>
          <p:nvPr/>
        </p:nvSpPr>
        <p:spPr>
          <a:xfrm>
            <a:off x="5844988" y="2095088"/>
            <a:ext cx="171300" cy="1713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244"/>
          <p:cNvSpPr/>
          <p:nvPr/>
        </p:nvSpPr>
        <p:spPr>
          <a:xfrm>
            <a:off x="5370463" y="2640988"/>
            <a:ext cx="171300" cy="1713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244"/>
          <p:cNvSpPr/>
          <p:nvPr/>
        </p:nvSpPr>
        <p:spPr>
          <a:xfrm>
            <a:off x="6370588" y="2529613"/>
            <a:ext cx="171300" cy="1713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244"/>
          <p:cNvSpPr/>
          <p:nvPr/>
        </p:nvSpPr>
        <p:spPr>
          <a:xfrm>
            <a:off x="5875288" y="3082138"/>
            <a:ext cx="171300" cy="1713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33" name="Google Shape;3533;p244"/>
          <p:cNvCxnSpPr>
            <a:stCxn id="3529" idx="3"/>
            <a:endCxn id="3530"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3534" name="Google Shape;3534;p244"/>
          <p:cNvCxnSpPr>
            <a:stCxn id="3532" idx="1"/>
            <a:endCxn id="3530"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3535" name="Google Shape;3535;p244"/>
          <p:cNvCxnSpPr>
            <a:stCxn id="3529" idx="4"/>
            <a:endCxn id="3532"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3536" name="Google Shape;3536;p244"/>
          <p:cNvCxnSpPr>
            <a:stCxn id="3529" idx="5"/>
            <a:endCxn id="3531"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3537" name="Google Shape;3537;p244"/>
          <p:cNvCxnSpPr>
            <a:stCxn id="3531" idx="2"/>
            <a:endCxn id="3530"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3538" name="Google Shape;3538;p244"/>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244"/>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244"/>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244"/>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42" name="Google Shape;3542;p244"/>
          <p:cNvCxnSpPr>
            <a:stCxn id="3538" idx="3"/>
            <a:endCxn id="3539"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543" name="Google Shape;3543;p244"/>
          <p:cNvCxnSpPr>
            <a:stCxn id="3541" idx="0"/>
            <a:endCxn id="3539"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544" name="Google Shape;3544;p244"/>
          <p:cNvCxnSpPr>
            <a:stCxn id="3538" idx="5"/>
            <a:endCxn id="3540"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545" name="Google Shape;3545;p244"/>
          <p:cNvCxnSpPr>
            <a:stCxn id="3540" idx="2"/>
            <a:endCxn id="3539"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546" name="Google Shape;3546;p244"/>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47" name="Google Shape;3547;p244"/>
          <p:cNvCxnSpPr>
            <a:stCxn id="3546" idx="0"/>
            <a:endCxn id="3539"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548" name="Google Shape;3548;p244"/>
          <p:cNvCxnSpPr>
            <a:stCxn id="3540" idx="3"/>
            <a:endCxn id="3541"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549" name="Google Shape;3549;p244"/>
          <p:cNvCxnSpPr>
            <a:stCxn id="3540" idx="3"/>
            <a:endCxn id="3546"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550" name="Google Shape;3550;p244"/>
          <p:cNvCxnSpPr>
            <a:stCxn id="3538" idx="4"/>
            <a:endCxn id="3546"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551" name="Google Shape;3551;p244"/>
          <p:cNvCxnSpPr>
            <a:stCxn id="3531" idx="7"/>
            <a:endCxn id="3541"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552" name="Google Shape;3552;p244"/>
          <p:cNvCxnSpPr>
            <a:stCxn id="3532" idx="7"/>
            <a:endCxn id="3531" idx="3"/>
          </p:cNvCxnSpPr>
          <p:nvPr/>
        </p:nvCxnSpPr>
        <p:spPr>
          <a:xfrm flipH="1" rot="10800000">
            <a:off x="6021501" y="2675824"/>
            <a:ext cx="374100" cy="431400"/>
          </a:xfrm>
          <a:prstGeom prst="straightConnector1">
            <a:avLst/>
          </a:prstGeom>
          <a:noFill/>
          <a:ln cap="flat" cmpd="sng" w="19050">
            <a:solidFill>
              <a:srgbClr val="666666"/>
            </a:solidFill>
            <a:prstDash val="solid"/>
            <a:round/>
            <a:headEnd len="med" w="med" type="none"/>
            <a:tailEnd len="med" w="med" type="none"/>
          </a:ln>
        </p:spPr>
      </p:cxnSp>
      <p:cxnSp>
        <p:nvCxnSpPr>
          <p:cNvPr id="3553" name="Google Shape;3553;p244"/>
          <p:cNvCxnSpPr>
            <a:stCxn id="3541" idx="6"/>
            <a:endCxn id="3546"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554" name="Google Shape;3554;p244"/>
          <p:cNvCxnSpPr>
            <a:stCxn id="3538" idx="4"/>
            <a:endCxn id="3541"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555" name="Google Shape;3555;p244"/>
          <p:cNvSpPr/>
          <p:nvPr/>
        </p:nvSpPr>
        <p:spPr>
          <a:xfrm rot="-1281263">
            <a:off x="7726111" y="3127097"/>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244"/>
          <p:cNvSpPr/>
          <p:nvPr/>
        </p:nvSpPr>
        <p:spPr>
          <a:xfrm rot="-1281263">
            <a:off x="7310069" y="3774485"/>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57" name="Google Shape;3557;p244"/>
          <p:cNvCxnSpPr>
            <a:stCxn id="3555" idx="3"/>
            <a:endCxn id="3556"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sp>
        <p:nvSpPr>
          <p:cNvPr id="3558" name="Google Shape;3558;p244"/>
          <p:cNvSpPr/>
          <p:nvPr/>
        </p:nvSpPr>
        <p:spPr>
          <a:xfrm rot="-1281263">
            <a:off x="8001037" y="3919934"/>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59" name="Google Shape;3559;p244"/>
          <p:cNvCxnSpPr>
            <a:stCxn id="3558" idx="2"/>
            <a:endCxn id="3556"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3560" name="Google Shape;3560;p244"/>
          <p:cNvCxnSpPr>
            <a:stCxn id="3558" idx="0"/>
            <a:endCxn id="3555"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3561" name="Google Shape;3561;p244"/>
          <p:cNvCxnSpPr>
            <a:endCxn id="3556" idx="1"/>
          </p:cNvCxnSpPr>
          <p:nvPr/>
        </p:nvCxnSpPr>
        <p:spPr>
          <a:xfrm>
            <a:off x="6516863" y="2675902"/>
            <a:ext cx="800400" cy="11499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5" name="Shape 3565"/>
        <p:cNvGrpSpPr/>
        <p:nvPr/>
      </p:nvGrpSpPr>
      <p:grpSpPr>
        <a:xfrm>
          <a:off x="0" y="0"/>
          <a:ext cx="0" cy="0"/>
          <a:chOff x="0" y="0"/>
          <a:chExt cx="0" cy="0"/>
        </a:xfrm>
      </p:grpSpPr>
      <p:sp>
        <p:nvSpPr>
          <p:cNvPr id="3566" name="Google Shape;3566;p2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567" name="Google Shape;3567;p245"/>
          <p:cNvSpPr txBox="1"/>
          <p:nvPr/>
        </p:nvSpPr>
        <p:spPr>
          <a:xfrm>
            <a:off x="4156075" y="3648875"/>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subgraph</a:t>
            </a:r>
            <a:endParaRPr b="1">
              <a:solidFill>
                <a:srgbClr val="FF0000"/>
              </a:solidFill>
            </a:endParaRPr>
          </a:p>
        </p:txBody>
      </p:sp>
      <p:sp>
        <p:nvSpPr>
          <p:cNvPr id="3568" name="Google Shape;3568;p245"/>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245"/>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245"/>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245"/>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72" name="Google Shape;3572;p245"/>
          <p:cNvCxnSpPr>
            <a:stCxn id="3568" idx="3"/>
            <a:endCxn id="3569"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3573" name="Google Shape;3573;p245"/>
          <p:cNvCxnSpPr>
            <a:stCxn id="3571" idx="1"/>
            <a:endCxn id="3569"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3574" name="Google Shape;3574;p245"/>
          <p:cNvCxnSpPr>
            <a:stCxn id="3568" idx="4"/>
            <a:endCxn id="3571"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3575" name="Google Shape;3575;p245"/>
          <p:cNvCxnSpPr>
            <a:stCxn id="3568" idx="5"/>
            <a:endCxn id="3570"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3576" name="Google Shape;3576;p245"/>
          <p:cNvCxnSpPr>
            <a:stCxn id="3570" idx="2"/>
            <a:endCxn id="3569"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3577" name="Google Shape;3577;p245"/>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245"/>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245"/>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245"/>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81" name="Google Shape;3581;p245"/>
          <p:cNvCxnSpPr>
            <a:stCxn id="3577" idx="3"/>
            <a:endCxn id="3578"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582" name="Google Shape;3582;p245"/>
          <p:cNvCxnSpPr>
            <a:stCxn id="3580" idx="0"/>
            <a:endCxn id="3578"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583" name="Google Shape;3583;p245"/>
          <p:cNvCxnSpPr>
            <a:stCxn id="3577" idx="5"/>
            <a:endCxn id="3579"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584" name="Google Shape;3584;p245"/>
          <p:cNvCxnSpPr>
            <a:stCxn id="3579" idx="2"/>
            <a:endCxn id="3578"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585" name="Google Shape;3585;p245"/>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86" name="Google Shape;3586;p245"/>
          <p:cNvCxnSpPr>
            <a:stCxn id="3585" idx="0"/>
            <a:endCxn id="3578"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587" name="Google Shape;3587;p245"/>
          <p:cNvCxnSpPr>
            <a:stCxn id="3579" idx="3"/>
            <a:endCxn id="3580"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588" name="Google Shape;3588;p245"/>
          <p:cNvCxnSpPr>
            <a:stCxn id="3579" idx="3"/>
            <a:endCxn id="3585"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589" name="Google Shape;3589;p245"/>
          <p:cNvCxnSpPr>
            <a:stCxn id="3577" idx="4"/>
            <a:endCxn id="3585"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590" name="Google Shape;3590;p245"/>
          <p:cNvCxnSpPr>
            <a:stCxn id="3570" idx="7"/>
            <a:endCxn id="3580"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591" name="Google Shape;3591;p245"/>
          <p:cNvCxnSpPr>
            <a:stCxn id="3571" idx="7"/>
            <a:endCxn id="3570" idx="3"/>
          </p:cNvCxnSpPr>
          <p:nvPr/>
        </p:nvCxnSpPr>
        <p:spPr>
          <a:xfrm flipH="1" rot="10800000">
            <a:off x="6021501" y="2675824"/>
            <a:ext cx="374100" cy="431400"/>
          </a:xfrm>
          <a:prstGeom prst="straightConnector1">
            <a:avLst/>
          </a:prstGeom>
          <a:noFill/>
          <a:ln cap="flat" cmpd="sng" w="19050">
            <a:solidFill>
              <a:srgbClr val="FF0000"/>
            </a:solidFill>
            <a:prstDash val="solid"/>
            <a:round/>
            <a:headEnd len="med" w="med" type="none"/>
            <a:tailEnd len="med" w="med" type="none"/>
          </a:ln>
        </p:spPr>
      </p:cxnSp>
      <p:cxnSp>
        <p:nvCxnSpPr>
          <p:cNvPr id="3592" name="Google Shape;3592;p245"/>
          <p:cNvCxnSpPr>
            <a:stCxn id="3580" idx="6"/>
            <a:endCxn id="3585"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593" name="Google Shape;3593;p245"/>
          <p:cNvCxnSpPr>
            <a:stCxn id="3577" idx="4"/>
            <a:endCxn id="3580"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594" name="Google Shape;3594;p245"/>
          <p:cNvSpPr/>
          <p:nvPr/>
        </p:nvSpPr>
        <p:spPr>
          <a:xfrm rot="-1281263">
            <a:off x="7726111" y="3127097"/>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245"/>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96" name="Google Shape;3596;p245"/>
          <p:cNvCxnSpPr>
            <a:stCxn id="3594" idx="3"/>
            <a:endCxn id="3595"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sp>
        <p:nvSpPr>
          <p:cNvPr id="3597" name="Google Shape;3597;p245"/>
          <p:cNvSpPr/>
          <p:nvPr/>
        </p:nvSpPr>
        <p:spPr>
          <a:xfrm rot="-1281263">
            <a:off x="8001037" y="3919934"/>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98" name="Google Shape;3598;p245"/>
          <p:cNvCxnSpPr>
            <a:stCxn id="3597" idx="2"/>
            <a:endCxn id="3595"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3599" name="Google Shape;3599;p245"/>
          <p:cNvCxnSpPr>
            <a:stCxn id="3597" idx="0"/>
            <a:endCxn id="3594"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3600" name="Google Shape;3600;p245"/>
          <p:cNvCxnSpPr>
            <a:endCxn id="3595" idx="1"/>
          </p:cNvCxnSpPr>
          <p:nvPr/>
        </p:nvCxnSpPr>
        <p:spPr>
          <a:xfrm>
            <a:off x="6516863" y="2675902"/>
            <a:ext cx="800400" cy="1149900"/>
          </a:xfrm>
          <a:prstGeom prst="straightConnector1">
            <a:avLst/>
          </a:prstGeom>
          <a:noFill/>
          <a:ln cap="flat" cmpd="sng" w="19050">
            <a:solidFill>
              <a:srgbClr val="FF0000"/>
            </a:solidFill>
            <a:prstDash val="solid"/>
            <a:round/>
            <a:headEnd len="med" w="med" type="none"/>
            <a:tailEnd len="med" w="med" type="none"/>
          </a:ln>
        </p:spPr>
      </p:cxnSp>
      <p:sp>
        <p:nvSpPr>
          <p:cNvPr id="3601" name="Google Shape;3601;p245"/>
          <p:cNvSpPr txBox="1"/>
          <p:nvPr>
            <p:ph idx="1" type="body"/>
          </p:nvPr>
        </p:nvSpPr>
        <p:spPr>
          <a:xfrm>
            <a:off x="311700" y="1225225"/>
            <a:ext cx="4579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lot of network methods are designed to </a:t>
            </a:r>
            <a:r>
              <a:rPr lang="en"/>
              <a:t>sp</a:t>
            </a:r>
            <a:r>
              <a:rPr lang="en"/>
              <a:t>lit a graph into subgraphs</a:t>
            </a:r>
            <a:endParaRPr/>
          </a:p>
          <a:p>
            <a:pPr indent="-317500" lvl="1" marL="914400" rtl="0" algn="l">
              <a:spcBef>
                <a:spcPts val="0"/>
              </a:spcBef>
              <a:spcAft>
                <a:spcPts val="0"/>
              </a:spcAft>
              <a:buSzPts val="1400"/>
              <a:buChar char="○"/>
            </a:pPr>
            <a:r>
              <a:rPr lang="en"/>
              <a:t>Subgraphs can be used to represent the social network concepts of </a:t>
            </a:r>
            <a:r>
              <a:rPr b="1" lang="en"/>
              <a:t>groups</a:t>
            </a:r>
            <a:r>
              <a:rPr lang="en"/>
              <a:t>, </a:t>
            </a:r>
            <a:r>
              <a:rPr b="1" lang="en"/>
              <a:t>cliques</a:t>
            </a:r>
            <a:r>
              <a:rPr lang="en"/>
              <a:t>, or </a:t>
            </a:r>
            <a:r>
              <a:rPr b="1" lang="en"/>
              <a:t>communities</a:t>
            </a:r>
            <a:endParaRPr b="1"/>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5" name="Shape 3605"/>
        <p:cNvGrpSpPr/>
        <p:nvPr/>
      </p:nvGrpSpPr>
      <p:grpSpPr>
        <a:xfrm>
          <a:off x="0" y="0"/>
          <a:ext cx="0" cy="0"/>
          <a:chOff x="0" y="0"/>
          <a:chExt cx="0" cy="0"/>
        </a:xfrm>
      </p:grpSpPr>
      <p:sp>
        <p:nvSpPr>
          <p:cNvPr id="3606" name="Google Shape;3606;p2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607" name="Google Shape;3607;p246"/>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246"/>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246"/>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246"/>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11" name="Google Shape;3611;p246"/>
          <p:cNvCxnSpPr>
            <a:stCxn id="3607" idx="3"/>
            <a:endCxn id="3608"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3612" name="Google Shape;3612;p246"/>
          <p:cNvCxnSpPr>
            <a:stCxn id="3610" idx="1"/>
            <a:endCxn id="3608"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3613" name="Google Shape;3613;p246"/>
          <p:cNvCxnSpPr>
            <a:stCxn id="3607" idx="4"/>
            <a:endCxn id="3610"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3614" name="Google Shape;3614;p246"/>
          <p:cNvCxnSpPr>
            <a:stCxn id="3607" idx="5"/>
            <a:endCxn id="3609"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3615" name="Google Shape;3615;p246"/>
          <p:cNvCxnSpPr>
            <a:stCxn id="3609" idx="2"/>
            <a:endCxn id="3608"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3616" name="Google Shape;3616;p246"/>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246"/>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246"/>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246"/>
          <p:cNvSpPr/>
          <p:nvPr/>
        </p:nvSpPr>
        <p:spPr>
          <a:xfrm>
            <a:off x="7246000" y="14947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20" name="Google Shape;3620;p246"/>
          <p:cNvCxnSpPr>
            <a:stCxn id="3616" idx="3"/>
            <a:endCxn id="3617"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621" name="Google Shape;3621;p246"/>
          <p:cNvCxnSpPr>
            <a:stCxn id="3619" idx="0"/>
            <a:endCxn id="3617"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622" name="Google Shape;3622;p246"/>
          <p:cNvCxnSpPr>
            <a:stCxn id="3616" idx="5"/>
            <a:endCxn id="3618"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623" name="Google Shape;3623;p246"/>
          <p:cNvCxnSpPr>
            <a:stCxn id="3618" idx="2"/>
            <a:endCxn id="3617"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624" name="Google Shape;3624;p246"/>
          <p:cNvSpPr/>
          <p:nvPr/>
        </p:nvSpPr>
        <p:spPr>
          <a:xfrm>
            <a:off x="7820950" y="1806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25" name="Google Shape;3625;p246"/>
          <p:cNvCxnSpPr>
            <a:stCxn id="3624" idx="0"/>
            <a:endCxn id="3617"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626" name="Google Shape;3626;p246"/>
          <p:cNvCxnSpPr>
            <a:stCxn id="3618" idx="3"/>
            <a:endCxn id="3619"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627" name="Google Shape;3627;p246"/>
          <p:cNvCxnSpPr>
            <a:stCxn id="3618" idx="3"/>
            <a:endCxn id="3624"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628" name="Google Shape;3628;p246"/>
          <p:cNvCxnSpPr>
            <a:stCxn id="3616" idx="4"/>
            <a:endCxn id="3624"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629" name="Google Shape;3629;p246"/>
          <p:cNvCxnSpPr>
            <a:stCxn id="3609" idx="7"/>
            <a:endCxn id="3619" idx="3"/>
          </p:cNvCxnSpPr>
          <p:nvPr/>
        </p:nvCxnSpPr>
        <p:spPr>
          <a:xfrm flipH="1" rot="10800000">
            <a:off x="6516801" y="1640899"/>
            <a:ext cx="754200" cy="913800"/>
          </a:xfrm>
          <a:prstGeom prst="straightConnector1">
            <a:avLst/>
          </a:prstGeom>
          <a:noFill/>
          <a:ln cap="flat" cmpd="sng" w="19050">
            <a:solidFill>
              <a:srgbClr val="FF0000"/>
            </a:solidFill>
            <a:prstDash val="solid"/>
            <a:round/>
            <a:headEnd len="med" w="med" type="none"/>
            <a:tailEnd len="med" w="med" type="none"/>
          </a:ln>
        </p:spPr>
      </p:cxnSp>
      <p:cxnSp>
        <p:nvCxnSpPr>
          <p:cNvPr id="3630" name="Google Shape;3630;p246"/>
          <p:cNvCxnSpPr>
            <a:stCxn id="3610" idx="7"/>
            <a:endCxn id="3609" idx="3"/>
          </p:cNvCxnSpPr>
          <p:nvPr/>
        </p:nvCxnSpPr>
        <p:spPr>
          <a:xfrm flipH="1" rot="10800000">
            <a:off x="6021501" y="2675824"/>
            <a:ext cx="374100" cy="431400"/>
          </a:xfrm>
          <a:prstGeom prst="straightConnector1">
            <a:avLst/>
          </a:prstGeom>
          <a:noFill/>
          <a:ln cap="flat" cmpd="sng" w="19050">
            <a:solidFill>
              <a:srgbClr val="666666"/>
            </a:solidFill>
            <a:prstDash val="solid"/>
            <a:round/>
            <a:headEnd len="med" w="med" type="none"/>
            <a:tailEnd len="med" w="med" type="none"/>
          </a:ln>
        </p:spPr>
      </p:cxnSp>
      <p:cxnSp>
        <p:nvCxnSpPr>
          <p:cNvPr id="3631" name="Google Shape;3631;p246"/>
          <p:cNvCxnSpPr>
            <a:stCxn id="3619" idx="6"/>
            <a:endCxn id="3624" idx="1"/>
          </p:cNvCxnSpPr>
          <p:nvPr/>
        </p:nvCxnSpPr>
        <p:spPr>
          <a:xfrm>
            <a:off x="7417300" y="1580363"/>
            <a:ext cx="428700" cy="250800"/>
          </a:xfrm>
          <a:prstGeom prst="straightConnector1">
            <a:avLst/>
          </a:prstGeom>
          <a:noFill/>
          <a:ln cap="flat" cmpd="sng" w="19050">
            <a:solidFill>
              <a:srgbClr val="FF0000"/>
            </a:solidFill>
            <a:prstDash val="solid"/>
            <a:round/>
            <a:headEnd len="med" w="med" type="none"/>
            <a:tailEnd len="med" w="med" type="none"/>
          </a:ln>
        </p:spPr>
      </p:cxnSp>
      <p:cxnSp>
        <p:nvCxnSpPr>
          <p:cNvPr id="3632" name="Google Shape;3632;p246"/>
          <p:cNvCxnSpPr>
            <a:stCxn id="3616" idx="4"/>
            <a:endCxn id="3619"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633" name="Google Shape;3633;p246"/>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246"/>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35" name="Google Shape;3635;p246"/>
          <p:cNvCxnSpPr>
            <a:stCxn id="3633" idx="3"/>
            <a:endCxn id="3634"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sp>
        <p:nvSpPr>
          <p:cNvPr id="3636" name="Google Shape;3636;p246"/>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37" name="Google Shape;3637;p246"/>
          <p:cNvCxnSpPr>
            <a:stCxn id="3636" idx="2"/>
            <a:endCxn id="3634"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3638" name="Google Shape;3638;p246"/>
          <p:cNvCxnSpPr>
            <a:stCxn id="3636" idx="0"/>
            <a:endCxn id="3633"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3639" name="Google Shape;3639;p246"/>
          <p:cNvCxnSpPr>
            <a:endCxn id="3634" idx="1"/>
          </p:cNvCxnSpPr>
          <p:nvPr/>
        </p:nvCxnSpPr>
        <p:spPr>
          <a:xfrm>
            <a:off x="6516863" y="2675902"/>
            <a:ext cx="800400" cy="1149900"/>
          </a:xfrm>
          <a:prstGeom prst="straightConnector1">
            <a:avLst/>
          </a:prstGeom>
          <a:noFill/>
          <a:ln cap="flat" cmpd="sng" w="19050">
            <a:solidFill>
              <a:srgbClr val="FF0000"/>
            </a:solidFill>
            <a:prstDash val="solid"/>
            <a:round/>
            <a:headEnd len="med" w="med" type="none"/>
            <a:tailEnd len="med" w="med" type="none"/>
          </a:ln>
        </p:spPr>
      </p:cxnSp>
      <p:sp>
        <p:nvSpPr>
          <p:cNvPr id="3640" name="Google Shape;3640;p246"/>
          <p:cNvSpPr txBox="1"/>
          <p:nvPr>
            <p:ph idx="1" type="body"/>
          </p:nvPr>
        </p:nvSpPr>
        <p:spPr>
          <a:xfrm>
            <a:off x="311700" y="1225225"/>
            <a:ext cx="4579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lot of network methods are designed to </a:t>
            </a:r>
            <a:r>
              <a:rPr lang="en"/>
              <a:t>sp</a:t>
            </a:r>
            <a:r>
              <a:rPr lang="en"/>
              <a:t>lit a graph into subgraphs</a:t>
            </a:r>
            <a:endParaRPr/>
          </a:p>
          <a:p>
            <a:pPr indent="-317500" lvl="1" marL="914400" rtl="0" algn="l">
              <a:spcBef>
                <a:spcPts val="0"/>
              </a:spcBef>
              <a:spcAft>
                <a:spcPts val="0"/>
              </a:spcAft>
              <a:buSzPts val="1400"/>
              <a:buChar char="○"/>
            </a:pPr>
            <a:r>
              <a:rPr lang="en"/>
              <a:t>Subgraphs can be used to represent the social network concepts of </a:t>
            </a:r>
            <a:r>
              <a:rPr b="1" lang="en"/>
              <a:t>groups</a:t>
            </a:r>
            <a:r>
              <a:rPr lang="en"/>
              <a:t>, </a:t>
            </a:r>
            <a:r>
              <a:rPr b="1" lang="en"/>
              <a:t>cliques</a:t>
            </a:r>
            <a:r>
              <a:rPr lang="en"/>
              <a:t>, or </a:t>
            </a:r>
            <a:r>
              <a:rPr b="1" lang="en"/>
              <a:t>communities</a:t>
            </a:r>
            <a:endParaRPr b="1"/>
          </a:p>
        </p:txBody>
      </p:sp>
      <p:sp>
        <p:nvSpPr>
          <p:cNvPr id="3641" name="Google Shape;3641;p246"/>
          <p:cNvSpPr txBox="1"/>
          <p:nvPr/>
        </p:nvSpPr>
        <p:spPr>
          <a:xfrm>
            <a:off x="5431150" y="4156800"/>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another subgraph</a:t>
            </a:r>
            <a:endParaRPr b="1">
              <a:solidFill>
                <a:srgbClr val="FF0000"/>
              </a:solidFill>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5" name="Shape 3645"/>
        <p:cNvGrpSpPr/>
        <p:nvPr/>
      </p:nvGrpSpPr>
      <p:grpSpPr>
        <a:xfrm>
          <a:off x="0" y="0"/>
          <a:ext cx="0" cy="0"/>
          <a:chOff x="0" y="0"/>
          <a:chExt cx="0" cy="0"/>
        </a:xfrm>
      </p:grpSpPr>
      <p:sp>
        <p:nvSpPr>
          <p:cNvPr id="3646" name="Google Shape;3646;p2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647" name="Google Shape;3647;p247"/>
          <p:cNvSpPr txBox="1"/>
          <p:nvPr>
            <p:ph idx="1" type="body"/>
          </p:nvPr>
        </p:nvSpPr>
        <p:spPr>
          <a:xfrm>
            <a:off x="311700" y="1225225"/>
            <a:ext cx="457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subgraph is </a:t>
            </a:r>
            <a:r>
              <a:rPr b="1" lang="en"/>
              <a:t>connected </a:t>
            </a:r>
            <a:r>
              <a:rPr lang="en"/>
              <a:t>if every node within it can reach every other one via a path of some length</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3648" name="Google Shape;3648;p247"/>
          <p:cNvSpPr txBox="1"/>
          <p:nvPr/>
        </p:nvSpPr>
        <p:spPr>
          <a:xfrm>
            <a:off x="4156075" y="3648875"/>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subgraph is connected :)</a:t>
            </a:r>
            <a:endParaRPr b="1">
              <a:solidFill>
                <a:srgbClr val="FF0000"/>
              </a:solidFill>
            </a:endParaRPr>
          </a:p>
        </p:txBody>
      </p:sp>
      <p:sp>
        <p:nvSpPr>
          <p:cNvPr id="3649" name="Google Shape;3649;p247"/>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247"/>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247"/>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247"/>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53" name="Google Shape;3653;p247"/>
          <p:cNvCxnSpPr>
            <a:stCxn id="3649" idx="3"/>
            <a:endCxn id="3650"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3654" name="Google Shape;3654;p247"/>
          <p:cNvCxnSpPr>
            <a:stCxn id="3652" idx="1"/>
            <a:endCxn id="3650"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3655" name="Google Shape;3655;p247"/>
          <p:cNvCxnSpPr>
            <a:stCxn id="3649" idx="4"/>
            <a:endCxn id="3652"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3656" name="Google Shape;3656;p247"/>
          <p:cNvCxnSpPr>
            <a:stCxn id="3649" idx="5"/>
            <a:endCxn id="3651"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3657" name="Google Shape;3657;p247"/>
          <p:cNvCxnSpPr>
            <a:stCxn id="3651" idx="2"/>
            <a:endCxn id="3650"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3658" name="Google Shape;3658;p247"/>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247"/>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247"/>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247"/>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62" name="Google Shape;3662;p247"/>
          <p:cNvCxnSpPr>
            <a:stCxn id="3658" idx="3"/>
            <a:endCxn id="3659"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663" name="Google Shape;3663;p247"/>
          <p:cNvCxnSpPr>
            <a:stCxn id="3661" idx="0"/>
            <a:endCxn id="3659"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664" name="Google Shape;3664;p247"/>
          <p:cNvCxnSpPr>
            <a:stCxn id="3658" idx="5"/>
            <a:endCxn id="3660"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665" name="Google Shape;3665;p247"/>
          <p:cNvCxnSpPr>
            <a:stCxn id="3660" idx="2"/>
            <a:endCxn id="3659"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666" name="Google Shape;3666;p247"/>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67" name="Google Shape;3667;p247"/>
          <p:cNvCxnSpPr>
            <a:stCxn id="3666" idx="0"/>
            <a:endCxn id="3659"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668" name="Google Shape;3668;p247"/>
          <p:cNvCxnSpPr>
            <a:stCxn id="3660" idx="3"/>
            <a:endCxn id="3661"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669" name="Google Shape;3669;p247"/>
          <p:cNvCxnSpPr>
            <a:stCxn id="3660" idx="3"/>
            <a:endCxn id="3666"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670" name="Google Shape;3670;p247"/>
          <p:cNvCxnSpPr>
            <a:stCxn id="3658" idx="4"/>
            <a:endCxn id="3666"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671" name="Google Shape;3671;p247"/>
          <p:cNvCxnSpPr>
            <a:stCxn id="3651" idx="7"/>
            <a:endCxn id="3661"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672" name="Google Shape;3672;p247"/>
          <p:cNvCxnSpPr>
            <a:stCxn id="3652" idx="7"/>
            <a:endCxn id="3651" idx="3"/>
          </p:cNvCxnSpPr>
          <p:nvPr/>
        </p:nvCxnSpPr>
        <p:spPr>
          <a:xfrm flipH="1" rot="10800000">
            <a:off x="6021501" y="2675824"/>
            <a:ext cx="374100" cy="431400"/>
          </a:xfrm>
          <a:prstGeom prst="straightConnector1">
            <a:avLst/>
          </a:prstGeom>
          <a:noFill/>
          <a:ln cap="flat" cmpd="sng" w="19050">
            <a:solidFill>
              <a:srgbClr val="FF0000"/>
            </a:solidFill>
            <a:prstDash val="solid"/>
            <a:round/>
            <a:headEnd len="med" w="med" type="none"/>
            <a:tailEnd len="med" w="med" type="none"/>
          </a:ln>
        </p:spPr>
      </p:cxnSp>
      <p:cxnSp>
        <p:nvCxnSpPr>
          <p:cNvPr id="3673" name="Google Shape;3673;p247"/>
          <p:cNvCxnSpPr>
            <a:stCxn id="3661" idx="6"/>
            <a:endCxn id="3666"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674" name="Google Shape;3674;p247"/>
          <p:cNvCxnSpPr>
            <a:stCxn id="3658" idx="4"/>
            <a:endCxn id="3661"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675" name="Google Shape;3675;p247"/>
          <p:cNvSpPr/>
          <p:nvPr/>
        </p:nvSpPr>
        <p:spPr>
          <a:xfrm rot="-1281263">
            <a:off x="7726111" y="3127097"/>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247"/>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77" name="Google Shape;3677;p247"/>
          <p:cNvCxnSpPr>
            <a:stCxn id="3675" idx="3"/>
            <a:endCxn id="3676"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sp>
        <p:nvSpPr>
          <p:cNvPr id="3678" name="Google Shape;3678;p247"/>
          <p:cNvSpPr/>
          <p:nvPr/>
        </p:nvSpPr>
        <p:spPr>
          <a:xfrm rot="-1281263">
            <a:off x="8001037" y="3919934"/>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79" name="Google Shape;3679;p247"/>
          <p:cNvCxnSpPr>
            <a:stCxn id="3678" idx="2"/>
            <a:endCxn id="3676"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3680" name="Google Shape;3680;p247"/>
          <p:cNvCxnSpPr>
            <a:stCxn id="3678" idx="0"/>
            <a:endCxn id="3675"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3681" name="Google Shape;3681;p247"/>
          <p:cNvCxnSpPr>
            <a:endCxn id="3676" idx="1"/>
          </p:cNvCxnSpPr>
          <p:nvPr/>
        </p:nvCxnSpPr>
        <p:spPr>
          <a:xfrm>
            <a:off x="6516863" y="2675902"/>
            <a:ext cx="800400" cy="11499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5" name="Shape 3685"/>
        <p:cNvGrpSpPr/>
        <p:nvPr/>
      </p:nvGrpSpPr>
      <p:grpSpPr>
        <a:xfrm>
          <a:off x="0" y="0"/>
          <a:ext cx="0" cy="0"/>
          <a:chOff x="0" y="0"/>
          <a:chExt cx="0" cy="0"/>
        </a:xfrm>
      </p:grpSpPr>
      <p:sp>
        <p:nvSpPr>
          <p:cNvPr id="3686" name="Google Shape;3686;p2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687" name="Google Shape;3687;p248"/>
          <p:cNvSpPr txBox="1"/>
          <p:nvPr>
            <p:ph idx="1" type="body"/>
          </p:nvPr>
        </p:nvSpPr>
        <p:spPr>
          <a:xfrm>
            <a:off x="311700" y="1225225"/>
            <a:ext cx="457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subgraph is </a:t>
            </a:r>
            <a:r>
              <a:rPr b="1" lang="en"/>
              <a:t>connected </a:t>
            </a:r>
            <a:r>
              <a:rPr lang="en"/>
              <a:t>if every node within it can reach every other one via a path of some length</a:t>
            </a:r>
            <a:endParaRPr/>
          </a:p>
          <a:p>
            <a:pPr indent="-317500" lvl="1" marL="914400" rtl="0" algn="l">
              <a:spcBef>
                <a:spcPts val="0"/>
              </a:spcBef>
              <a:spcAft>
                <a:spcPts val="0"/>
              </a:spcAft>
              <a:buSzPts val="1400"/>
              <a:buChar char="○"/>
            </a:pPr>
            <a:r>
              <a:rPr lang="en"/>
              <a:t>Otherwise is </a:t>
            </a:r>
            <a:r>
              <a:rPr b="1" lang="en"/>
              <a:t>disconnected</a:t>
            </a:r>
            <a:endParaRPr b="1"/>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3688" name="Google Shape;3688;p248"/>
          <p:cNvSpPr txBox="1"/>
          <p:nvPr/>
        </p:nvSpPr>
        <p:spPr>
          <a:xfrm>
            <a:off x="4915275" y="3648863"/>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subgraph is disconnected :(</a:t>
            </a:r>
            <a:endParaRPr b="1">
              <a:solidFill>
                <a:srgbClr val="FF0000"/>
              </a:solidFill>
            </a:endParaRPr>
          </a:p>
        </p:txBody>
      </p:sp>
      <p:sp>
        <p:nvSpPr>
          <p:cNvPr id="3689" name="Google Shape;3689;p248"/>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248"/>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248"/>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248"/>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93" name="Google Shape;3693;p248"/>
          <p:cNvCxnSpPr>
            <a:stCxn id="3689" idx="3"/>
            <a:endCxn id="3690"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3694" name="Google Shape;3694;p248"/>
          <p:cNvCxnSpPr>
            <a:stCxn id="3692" idx="1"/>
            <a:endCxn id="3690"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3695" name="Google Shape;3695;p248"/>
          <p:cNvCxnSpPr>
            <a:stCxn id="3689" idx="4"/>
            <a:endCxn id="3692"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3696" name="Google Shape;3696;p248"/>
          <p:cNvCxnSpPr>
            <a:stCxn id="3689" idx="5"/>
            <a:endCxn id="3691"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3697" name="Google Shape;3697;p248"/>
          <p:cNvCxnSpPr>
            <a:stCxn id="3691" idx="2"/>
            <a:endCxn id="3690"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3698" name="Google Shape;3698;p248"/>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248"/>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248"/>
          <p:cNvSpPr/>
          <p:nvPr/>
        </p:nvSpPr>
        <p:spPr>
          <a:xfrm>
            <a:off x="8181075" y="1237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248"/>
          <p:cNvSpPr/>
          <p:nvPr/>
        </p:nvSpPr>
        <p:spPr>
          <a:xfrm>
            <a:off x="7246000" y="14947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02" name="Google Shape;3702;p248"/>
          <p:cNvCxnSpPr>
            <a:stCxn id="3698" idx="3"/>
            <a:endCxn id="3699"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703" name="Google Shape;3703;p248"/>
          <p:cNvCxnSpPr>
            <a:stCxn id="3701" idx="0"/>
            <a:endCxn id="3699"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704" name="Google Shape;3704;p248"/>
          <p:cNvCxnSpPr>
            <a:stCxn id="3698" idx="5"/>
            <a:endCxn id="3700"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705" name="Google Shape;3705;p248"/>
          <p:cNvCxnSpPr>
            <a:stCxn id="3700" idx="2"/>
            <a:endCxn id="3699"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706" name="Google Shape;3706;p248"/>
          <p:cNvSpPr/>
          <p:nvPr/>
        </p:nvSpPr>
        <p:spPr>
          <a:xfrm>
            <a:off x="7820950" y="1806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07" name="Google Shape;3707;p248"/>
          <p:cNvCxnSpPr>
            <a:stCxn id="3706" idx="0"/>
            <a:endCxn id="3699"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708" name="Google Shape;3708;p248"/>
          <p:cNvCxnSpPr>
            <a:stCxn id="3700" idx="3"/>
            <a:endCxn id="3701" idx="6"/>
          </p:cNvCxnSpPr>
          <p:nvPr/>
        </p:nvCxnSpPr>
        <p:spPr>
          <a:xfrm flipH="1">
            <a:off x="7417161" y="1384201"/>
            <a:ext cx="789000" cy="196200"/>
          </a:xfrm>
          <a:prstGeom prst="straightConnector1">
            <a:avLst/>
          </a:prstGeom>
          <a:noFill/>
          <a:ln cap="flat" cmpd="sng" w="19050">
            <a:solidFill>
              <a:srgbClr val="FF0000"/>
            </a:solidFill>
            <a:prstDash val="solid"/>
            <a:round/>
            <a:headEnd len="med" w="med" type="none"/>
            <a:tailEnd len="med" w="med" type="none"/>
          </a:ln>
        </p:spPr>
      </p:cxnSp>
      <p:cxnSp>
        <p:nvCxnSpPr>
          <p:cNvPr id="3709" name="Google Shape;3709;p248"/>
          <p:cNvCxnSpPr>
            <a:stCxn id="3700" idx="3"/>
            <a:endCxn id="3706" idx="1"/>
          </p:cNvCxnSpPr>
          <p:nvPr/>
        </p:nvCxnSpPr>
        <p:spPr>
          <a:xfrm flipH="1">
            <a:off x="7846161" y="1384201"/>
            <a:ext cx="360000" cy="447000"/>
          </a:xfrm>
          <a:prstGeom prst="straightConnector1">
            <a:avLst/>
          </a:prstGeom>
          <a:noFill/>
          <a:ln cap="flat" cmpd="sng" w="19050">
            <a:solidFill>
              <a:srgbClr val="FF0000"/>
            </a:solidFill>
            <a:prstDash val="solid"/>
            <a:round/>
            <a:headEnd len="med" w="med" type="none"/>
            <a:tailEnd len="med" w="med" type="none"/>
          </a:ln>
        </p:spPr>
      </p:cxnSp>
      <p:cxnSp>
        <p:nvCxnSpPr>
          <p:cNvPr id="3710" name="Google Shape;3710;p248"/>
          <p:cNvCxnSpPr>
            <a:stCxn id="3698" idx="4"/>
            <a:endCxn id="3706"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711" name="Google Shape;3711;p248"/>
          <p:cNvCxnSpPr>
            <a:stCxn id="3691" idx="7"/>
            <a:endCxn id="3701"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712" name="Google Shape;3712;p248"/>
          <p:cNvCxnSpPr>
            <a:stCxn id="3692" idx="7"/>
            <a:endCxn id="3691" idx="3"/>
          </p:cNvCxnSpPr>
          <p:nvPr/>
        </p:nvCxnSpPr>
        <p:spPr>
          <a:xfrm flipH="1" rot="10800000">
            <a:off x="6021501" y="2675824"/>
            <a:ext cx="374100" cy="431400"/>
          </a:xfrm>
          <a:prstGeom prst="straightConnector1">
            <a:avLst/>
          </a:prstGeom>
          <a:noFill/>
          <a:ln cap="flat" cmpd="sng" w="19050">
            <a:solidFill>
              <a:srgbClr val="666666"/>
            </a:solidFill>
            <a:prstDash val="solid"/>
            <a:round/>
            <a:headEnd len="med" w="med" type="none"/>
            <a:tailEnd len="med" w="med" type="none"/>
          </a:ln>
        </p:spPr>
      </p:cxnSp>
      <p:cxnSp>
        <p:nvCxnSpPr>
          <p:cNvPr id="3713" name="Google Shape;3713;p248"/>
          <p:cNvCxnSpPr>
            <a:stCxn id="3701" idx="6"/>
            <a:endCxn id="3706" idx="1"/>
          </p:cNvCxnSpPr>
          <p:nvPr/>
        </p:nvCxnSpPr>
        <p:spPr>
          <a:xfrm>
            <a:off x="7417300" y="1580363"/>
            <a:ext cx="428700" cy="250800"/>
          </a:xfrm>
          <a:prstGeom prst="straightConnector1">
            <a:avLst/>
          </a:prstGeom>
          <a:noFill/>
          <a:ln cap="flat" cmpd="sng" w="19050">
            <a:solidFill>
              <a:srgbClr val="FF0000"/>
            </a:solidFill>
            <a:prstDash val="solid"/>
            <a:round/>
            <a:headEnd len="med" w="med" type="none"/>
            <a:tailEnd len="med" w="med" type="none"/>
          </a:ln>
        </p:spPr>
      </p:cxnSp>
      <p:cxnSp>
        <p:nvCxnSpPr>
          <p:cNvPr id="3714" name="Google Shape;3714;p248"/>
          <p:cNvCxnSpPr>
            <a:stCxn id="3698" idx="4"/>
            <a:endCxn id="3701"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715" name="Google Shape;3715;p248"/>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248"/>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7" name="Google Shape;3717;p248"/>
          <p:cNvCxnSpPr>
            <a:stCxn id="3715" idx="3"/>
            <a:endCxn id="3716"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sp>
        <p:nvSpPr>
          <p:cNvPr id="3718" name="Google Shape;3718;p248"/>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9" name="Google Shape;3719;p248"/>
          <p:cNvCxnSpPr>
            <a:stCxn id="3718" idx="2"/>
            <a:endCxn id="3716"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3720" name="Google Shape;3720;p248"/>
          <p:cNvCxnSpPr>
            <a:stCxn id="3718" idx="0"/>
            <a:endCxn id="3715"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3721" name="Google Shape;3721;p248"/>
          <p:cNvCxnSpPr>
            <a:endCxn id="3716" idx="1"/>
          </p:cNvCxnSpPr>
          <p:nvPr/>
        </p:nvCxnSpPr>
        <p:spPr>
          <a:xfrm>
            <a:off x="6516863" y="2675902"/>
            <a:ext cx="800400" cy="11499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5" name="Shape 3725"/>
        <p:cNvGrpSpPr/>
        <p:nvPr/>
      </p:nvGrpSpPr>
      <p:grpSpPr>
        <a:xfrm>
          <a:off x="0" y="0"/>
          <a:ext cx="0" cy="0"/>
          <a:chOff x="0" y="0"/>
          <a:chExt cx="0" cy="0"/>
        </a:xfrm>
      </p:grpSpPr>
      <p:sp>
        <p:nvSpPr>
          <p:cNvPr id="3726" name="Google Shape;3726;p2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727" name="Google Shape;3727;p249"/>
          <p:cNvSpPr txBox="1"/>
          <p:nvPr/>
        </p:nvSpPr>
        <p:spPr>
          <a:xfrm>
            <a:off x="5232263" y="4023550"/>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maximal connected subgraph of order 7</a:t>
            </a:r>
            <a:endParaRPr b="1">
              <a:solidFill>
                <a:srgbClr val="FF0000"/>
              </a:solidFill>
            </a:endParaRPr>
          </a:p>
        </p:txBody>
      </p:sp>
      <p:cxnSp>
        <p:nvCxnSpPr>
          <p:cNvPr id="3728" name="Google Shape;3728;p249"/>
          <p:cNvCxnSpPr>
            <a:stCxn id="3727" idx="0"/>
          </p:cNvCxnSpPr>
          <p:nvPr/>
        </p:nvCxnSpPr>
        <p:spPr>
          <a:xfrm flipH="1" rot="10800000">
            <a:off x="6182513" y="3415450"/>
            <a:ext cx="535200" cy="608100"/>
          </a:xfrm>
          <a:prstGeom prst="straightConnector1">
            <a:avLst/>
          </a:prstGeom>
          <a:noFill/>
          <a:ln cap="flat" cmpd="sng" w="19050">
            <a:solidFill>
              <a:srgbClr val="FF0000"/>
            </a:solidFill>
            <a:prstDash val="solid"/>
            <a:round/>
            <a:headEnd len="med" w="med" type="none"/>
            <a:tailEnd len="med" w="med" type="triangle"/>
          </a:ln>
        </p:spPr>
      </p:cxnSp>
      <p:sp>
        <p:nvSpPr>
          <p:cNvPr id="3729" name="Google Shape;3729;p249"/>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249"/>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249"/>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249"/>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33" name="Google Shape;3733;p249"/>
          <p:cNvCxnSpPr>
            <a:stCxn id="3729" idx="3"/>
            <a:endCxn id="3730"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3734" name="Google Shape;3734;p249"/>
          <p:cNvCxnSpPr>
            <a:stCxn id="3732" idx="1"/>
            <a:endCxn id="3730"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3735" name="Google Shape;3735;p249"/>
          <p:cNvCxnSpPr>
            <a:stCxn id="3729" idx="4"/>
            <a:endCxn id="3732"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3736" name="Google Shape;3736;p249"/>
          <p:cNvCxnSpPr>
            <a:stCxn id="3729" idx="5"/>
            <a:endCxn id="3731"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3737" name="Google Shape;3737;p249"/>
          <p:cNvCxnSpPr>
            <a:stCxn id="3731" idx="2"/>
            <a:endCxn id="3730"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3738" name="Google Shape;3738;p249"/>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249"/>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249"/>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249"/>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42" name="Google Shape;3742;p249"/>
          <p:cNvCxnSpPr>
            <a:stCxn id="3738" idx="3"/>
            <a:endCxn id="3739"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743" name="Google Shape;3743;p249"/>
          <p:cNvCxnSpPr>
            <a:stCxn id="3741" idx="0"/>
            <a:endCxn id="3739"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744" name="Google Shape;3744;p249"/>
          <p:cNvCxnSpPr>
            <a:stCxn id="3738" idx="5"/>
            <a:endCxn id="3740"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745" name="Google Shape;3745;p249"/>
          <p:cNvCxnSpPr>
            <a:stCxn id="3740" idx="2"/>
            <a:endCxn id="3739"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746" name="Google Shape;3746;p249"/>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47" name="Google Shape;3747;p249"/>
          <p:cNvCxnSpPr>
            <a:stCxn id="3746" idx="0"/>
            <a:endCxn id="3739"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748" name="Google Shape;3748;p249"/>
          <p:cNvCxnSpPr>
            <a:stCxn id="3740" idx="3"/>
            <a:endCxn id="3741"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749" name="Google Shape;3749;p249"/>
          <p:cNvCxnSpPr>
            <a:stCxn id="3740" idx="3"/>
            <a:endCxn id="3746"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750" name="Google Shape;3750;p249"/>
          <p:cNvCxnSpPr>
            <a:stCxn id="3738" idx="4"/>
            <a:endCxn id="3746"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751" name="Google Shape;3751;p249"/>
          <p:cNvCxnSpPr>
            <a:stCxn id="3731" idx="7"/>
            <a:endCxn id="3741"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752" name="Google Shape;3752;p249"/>
          <p:cNvCxnSpPr>
            <a:stCxn id="3732" idx="7"/>
            <a:endCxn id="3731" idx="3"/>
          </p:cNvCxnSpPr>
          <p:nvPr/>
        </p:nvCxnSpPr>
        <p:spPr>
          <a:xfrm flipH="1" rot="10800000">
            <a:off x="6021501" y="2675824"/>
            <a:ext cx="374100" cy="431400"/>
          </a:xfrm>
          <a:prstGeom prst="straightConnector1">
            <a:avLst/>
          </a:prstGeom>
          <a:noFill/>
          <a:ln cap="flat" cmpd="sng" w="19050">
            <a:solidFill>
              <a:srgbClr val="FF0000"/>
            </a:solidFill>
            <a:prstDash val="solid"/>
            <a:round/>
            <a:headEnd len="med" w="med" type="none"/>
            <a:tailEnd len="med" w="med" type="none"/>
          </a:ln>
        </p:spPr>
      </p:cxnSp>
      <p:cxnSp>
        <p:nvCxnSpPr>
          <p:cNvPr id="3753" name="Google Shape;3753;p249"/>
          <p:cNvCxnSpPr>
            <a:stCxn id="3741" idx="6"/>
            <a:endCxn id="3746"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754" name="Google Shape;3754;p249"/>
          <p:cNvCxnSpPr>
            <a:stCxn id="3738" idx="4"/>
            <a:endCxn id="3741"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755" name="Google Shape;3755;p249"/>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249"/>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57" name="Google Shape;3757;p249"/>
          <p:cNvCxnSpPr>
            <a:stCxn id="3755" idx="3"/>
            <a:endCxn id="3756"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sp>
        <p:nvSpPr>
          <p:cNvPr id="3758" name="Google Shape;3758;p249"/>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59" name="Google Shape;3759;p249"/>
          <p:cNvCxnSpPr>
            <a:stCxn id="3758" idx="2"/>
            <a:endCxn id="3756"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3760" name="Google Shape;3760;p249"/>
          <p:cNvCxnSpPr>
            <a:stCxn id="3758" idx="0"/>
            <a:endCxn id="3755"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3761" name="Google Shape;3761;p249"/>
          <p:cNvCxnSpPr>
            <a:endCxn id="3756" idx="1"/>
          </p:cNvCxnSpPr>
          <p:nvPr/>
        </p:nvCxnSpPr>
        <p:spPr>
          <a:xfrm>
            <a:off x="6516863" y="2675902"/>
            <a:ext cx="800400" cy="1149900"/>
          </a:xfrm>
          <a:prstGeom prst="straightConnector1">
            <a:avLst/>
          </a:prstGeom>
          <a:noFill/>
          <a:ln cap="flat" cmpd="sng" w="19050">
            <a:solidFill>
              <a:srgbClr val="FF0000"/>
            </a:solidFill>
            <a:prstDash val="solid"/>
            <a:round/>
            <a:headEnd len="med" w="med" type="none"/>
            <a:tailEnd len="med" w="med" type="none"/>
          </a:ln>
        </p:spPr>
      </p:cxnSp>
      <p:sp>
        <p:nvSpPr>
          <p:cNvPr id="3762" name="Google Shape;3762;p249"/>
          <p:cNvSpPr txBox="1"/>
          <p:nvPr>
            <p:ph idx="1" type="body"/>
          </p:nvPr>
        </p:nvSpPr>
        <p:spPr>
          <a:xfrm>
            <a:off x="311700" y="1225225"/>
            <a:ext cx="4579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subgraph is </a:t>
            </a:r>
            <a:r>
              <a:rPr b="1" lang="en"/>
              <a:t>maximal</a:t>
            </a:r>
            <a:r>
              <a:rPr lang="en"/>
              <a:t> with respect to a given property: </a:t>
            </a:r>
            <a:endParaRPr/>
          </a:p>
          <a:p>
            <a:pPr indent="-317500" lvl="1" marL="914400" rtl="0" algn="l">
              <a:spcBef>
                <a:spcPts val="0"/>
              </a:spcBef>
              <a:spcAft>
                <a:spcPts val="0"/>
              </a:spcAft>
              <a:buSzPts val="1400"/>
              <a:buChar char="○"/>
            </a:pPr>
            <a:r>
              <a:rPr lang="en"/>
              <a:t>(e.g., connectivity) </a:t>
            </a:r>
            <a:endParaRPr/>
          </a:p>
          <a:p>
            <a:pPr indent="-342900" lvl="0" marL="457200" rtl="0" algn="l">
              <a:spcBef>
                <a:spcPts val="0"/>
              </a:spcBef>
              <a:spcAft>
                <a:spcPts val="0"/>
              </a:spcAft>
              <a:buSzPts val="1800"/>
              <a:buChar char="●"/>
            </a:pPr>
            <a:r>
              <a:rPr i="1" lang="en"/>
              <a:t>If adding more nodes or links to the subgraph will mean it no longer has that property</a:t>
            </a:r>
            <a:endParaRPr i="1"/>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6" name="Shape 3766"/>
        <p:cNvGrpSpPr/>
        <p:nvPr/>
      </p:nvGrpSpPr>
      <p:grpSpPr>
        <a:xfrm>
          <a:off x="0" y="0"/>
          <a:ext cx="0" cy="0"/>
          <a:chOff x="0" y="0"/>
          <a:chExt cx="0" cy="0"/>
        </a:xfrm>
      </p:grpSpPr>
      <p:sp>
        <p:nvSpPr>
          <p:cNvPr id="3767" name="Google Shape;3767;p2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768" name="Google Shape;3768;p250"/>
          <p:cNvSpPr txBox="1"/>
          <p:nvPr/>
        </p:nvSpPr>
        <p:spPr>
          <a:xfrm>
            <a:off x="5232263" y="4023550"/>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maximal connected subgraph of order 8</a:t>
            </a:r>
            <a:endParaRPr b="1">
              <a:solidFill>
                <a:srgbClr val="FF0000"/>
              </a:solidFill>
            </a:endParaRPr>
          </a:p>
        </p:txBody>
      </p:sp>
      <p:cxnSp>
        <p:nvCxnSpPr>
          <p:cNvPr id="3769" name="Google Shape;3769;p250"/>
          <p:cNvCxnSpPr>
            <a:stCxn id="3768" idx="0"/>
          </p:cNvCxnSpPr>
          <p:nvPr/>
        </p:nvCxnSpPr>
        <p:spPr>
          <a:xfrm flipH="1" rot="10800000">
            <a:off x="6182513" y="3415450"/>
            <a:ext cx="535200" cy="608100"/>
          </a:xfrm>
          <a:prstGeom prst="straightConnector1">
            <a:avLst/>
          </a:prstGeom>
          <a:noFill/>
          <a:ln cap="flat" cmpd="sng" w="19050">
            <a:solidFill>
              <a:srgbClr val="FF0000"/>
            </a:solidFill>
            <a:prstDash val="solid"/>
            <a:round/>
            <a:headEnd len="med" w="med" type="none"/>
            <a:tailEnd len="med" w="med" type="triangle"/>
          </a:ln>
        </p:spPr>
      </p:cxnSp>
      <p:sp>
        <p:nvSpPr>
          <p:cNvPr id="3770" name="Google Shape;3770;p250"/>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250"/>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250"/>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250"/>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4" name="Google Shape;3774;p250"/>
          <p:cNvCxnSpPr>
            <a:stCxn id="3770" idx="3"/>
            <a:endCxn id="3771"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3775" name="Google Shape;3775;p250"/>
          <p:cNvCxnSpPr>
            <a:stCxn id="3773" idx="1"/>
            <a:endCxn id="3771"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3776" name="Google Shape;3776;p250"/>
          <p:cNvCxnSpPr>
            <a:stCxn id="3770" idx="4"/>
            <a:endCxn id="3773"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3777" name="Google Shape;3777;p250"/>
          <p:cNvCxnSpPr>
            <a:stCxn id="3770" idx="5"/>
            <a:endCxn id="3772"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3778" name="Google Shape;3778;p250"/>
          <p:cNvCxnSpPr>
            <a:stCxn id="3772" idx="2"/>
            <a:endCxn id="3771"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3779" name="Google Shape;3779;p250"/>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250"/>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250"/>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250"/>
          <p:cNvSpPr/>
          <p:nvPr/>
        </p:nvSpPr>
        <p:spPr>
          <a:xfrm>
            <a:off x="7246000" y="14947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83" name="Google Shape;3783;p250"/>
          <p:cNvCxnSpPr>
            <a:stCxn id="3779" idx="3"/>
            <a:endCxn id="3780"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784" name="Google Shape;3784;p250"/>
          <p:cNvCxnSpPr>
            <a:stCxn id="3782" idx="0"/>
            <a:endCxn id="3780"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785" name="Google Shape;3785;p250"/>
          <p:cNvCxnSpPr>
            <a:stCxn id="3779" idx="5"/>
            <a:endCxn id="3781"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786" name="Google Shape;3786;p250"/>
          <p:cNvCxnSpPr>
            <a:stCxn id="3781" idx="2"/>
            <a:endCxn id="3780"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787" name="Google Shape;3787;p250"/>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88" name="Google Shape;3788;p250"/>
          <p:cNvCxnSpPr>
            <a:stCxn id="3787" idx="0"/>
            <a:endCxn id="3780"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789" name="Google Shape;3789;p250"/>
          <p:cNvCxnSpPr>
            <a:stCxn id="3781" idx="3"/>
            <a:endCxn id="3782"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790" name="Google Shape;3790;p250"/>
          <p:cNvCxnSpPr>
            <a:stCxn id="3781" idx="3"/>
            <a:endCxn id="3787"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791" name="Google Shape;3791;p250"/>
          <p:cNvCxnSpPr>
            <a:stCxn id="3779" idx="4"/>
            <a:endCxn id="3787"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792" name="Google Shape;3792;p250"/>
          <p:cNvCxnSpPr>
            <a:stCxn id="3772" idx="7"/>
            <a:endCxn id="3782" idx="3"/>
          </p:cNvCxnSpPr>
          <p:nvPr/>
        </p:nvCxnSpPr>
        <p:spPr>
          <a:xfrm flipH="1" rot="10800000">
            <a:off x="6516801" y="1640899"/>
            <a:ext cx="754200" cy="913800"/>
          </a:xfrm>
          <a:prstGeom prst="straightConnector1">
            <a:avLst/>
          </a:prstGeom>
          <a:noFill/>
          <a:ln cap="flat" cmpd="sng" w="19050">
            <a:solidFill>
              <a:srgbClr val="FF0000"/>
            </a:solidFill>
            <a:prstDash val="solid"/>
            <a:round/>
            <a:headEnd len="med" w="med" type="none"/>
            <a:tailEnd len="med" w="med" type="none"/>
          </a:ln>
        </p:spPr>
      </p:cxnSp>
      <p:cxnSp>
        <p:nvCxnSpPr>
          <p:cNvPr id="3793" name="Google Shape;3793;p250"/>
          <p:cNvCxnSpPr>
            <a:stCxn id="3773" idx="7"/>
            <a:endCxn id="3772" idx="3"/>
          </p:cNvCxnSpPr>
          <p:nvPr/>
        </p:nvCxnSpPr>
        <p:spPr>
          <a:xfrm flipH="1" rot="10800000">
            <a:off x="6021501" y="2675824"/>
            <a:ext cx="374100" cy="431400"/>
          </a:xfrm>
          <a:prstGeom prst="straightConnector1">
            <a:avLst/>
          </a:prstGeom>
          <a:noFill/>
          <a:ln cap="flat" cmpd="sng" w="19050">
            <a:solidFill>
              <a:srgbClr val="FF0000"/>
            </a:solidFill>
            <a:prstDash val="solid"/>
            <a:round/>
            <a:headEnd len="med" w="med" type="none"/>
            <a:tailEnd len="med" w="med" type="none"/>
          </a:ln>
        </p:spPr>
      </p:cxnSp>
      <p:cxnSp>
        <p:nvCxnSpPr>
          <p:cNvPr id="3794" name="Google Shape;3794;p250"/>
          <p:cNvCxnSpPr>
            <a:stCxn id="3782" idx="6"/>
            <a:endCxn id="3787"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795" name="Google Shape;3795;p250"/>
          <p:cNvCxnSpPr>
            <a:stCxn id="3779" idx="4"/>
            <a:endCxn id="3782"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796" name="Google Shape;3796;p250"/>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250"/>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98" name="Google Shape;3798;p250"/>
          <p:cNvCxnSpPr>
            <a:stCxn id="3796" idx="3"/>
            <a:endCxn id="3797"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sp>
        <p:nvSpPr>
          <p:cNvPr id="3799" name="Google Shape;3799;p250"/>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0" name="Google Shape;3800;p250"/>
          <p:cNvCxnSpPr>
            <a:stCxn id="3799" idx="2"/>
            <a:endCxn id="3797"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3801" name="Google Shape;3801;p250"/>
          <p:cNvCxnSpPr>
            <a:stCxn id="3799" idx="0"/>
            <a:endCxn id="3796"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3802" name="Google Shape;3802;p250"/>
          <p:cNvCxnSpPr>
            <a:endCxn id="3797" idx="1"/>
          </p:cNvCxnSpPr>
          <p:nvPr/>
        </p:nvCxnSpPr>
        <p:spPr>
          <a:xfrm>
            <a:off x="6516863" y="2675902"/>
            <a:ext cx="800400" cy="1149900"/>
          </a:xfrm>
          <a:prstGeom prst="straightConnector1">
            <a:avLst/>
          </a:prstGeom>
          <a:noFill/>
          <a:ln cap="flat" cmpd="sng" w="19050">
            <a:solidFill>
              <a:srgbClr val="FF0000"/>
            </a:solidFill>
            <a:prstDash val="solid"/>
            <a:round/>
            <a:headEnd len="med" w="med" type="none"/>
            <a:tailEnd len="med" w="med" type="none"/>
          </a:ln>
        </p:spPr>
      </p:cxnSp>
      <p:sp>
        <p:nvSpPr>
          <p:cNvPr id="3803" name="Google Shape;3803;p250"/>
          <p:cNvSpPr txBox="1"/>
          <p:nvPr>
            <p:ph idx="1" type="body"/>
          </p:nvPr>
        </p:nvSpPr>
        <p:spPr>
          <a:xfrm>
            <a:off x="311700" y="1225225"/>
            <a:ext cx="4579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subgraph is </a:t>
            </a:r>
            <a:r>
              <a:rPr b="1" lang="en"/>
              <a:t>maximal</a:t>
            </a:r>
            <a:r>
              <a:rPr lang="en"/>
              <a:t> with re</a:t>
            </a:r>
            <a:r>
              <a:rPr lang="en"/>
              <a:t>sp</a:t>
            </a:r>
            <a:r>
              <a:rPr lang="en"/>
              <a:t>ect to a given property: </a:t>
            </a:r>
            <a:endParaRPr/>
          </a:p>
          <a:p>
            <a:pPr indent="-317500" lvl="1" marL="914400" rtl="0" algn="l">
              <a:spcBef>
                <a:spcPts val="0"/>
              </a:spcBef>
              <a:spcAft>
                <a:spcPts val="0"/>
              </a:spcAft>
              <a:buSzPts val="1400"/>
              <a:buChar char="○"/>
            </a:pPr>
            <a:r>
              <a:rPr lang="en"/>
              <a:t>(e.g., connectivity) </a:t>
            </a:r>
            <a:endParaRPr/>
          </a:p>
          <a:p>
            <a:pPr indent="-342900" lvl="0" marL="457200" rtl="0" algn="l">
              <a:spcBef>
                <a:spcPts val="0"/>
              </a:spcBef>
              <a:spcAft>
                <a:spcPts val="0"/>
              </a:spcAft>
              <a:buSzPts val="1800"/>
              <a:buChar char="●"/>
            </a:pPr>
            <a:r>
              <a:rPr i="1" lang="en"/>
              <a:t>If adding more nodes or links to the subgraph will mean it no longer has that property</a:t>
            </a:r>
            <a:endParaRPr i="1"/>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7" name="Shape 3807"/>
        <p:cNvGrpSpPr/>
        <p:nvPr/>
      </p:nvGrpSpPr>
      <p:grpSpPr>
        <a:xfrm>
          <a:off x="0" y="0"/>
          <a:ext cx="0" cy="0"/>
          <a:chOff x="0" y="0"/>
          <a:chExt cx="0" cy="0"/>
        </a:xfrm>
      </p:grpSpPr>
      <p:sp>
        <p:nvSpPr>
          <p:cNvPr id="3808" name="Google Shape;3808;p2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809" name="Google Shape;3809;p251"/>
          <p:cNvSpPr txBox="1"/>
          <p:nvPr>
            <p:ph idx="1" type="body"/>
          </p:nvPr>
        </p:nvSpPr>
        <p:spPr>
          <a:xfrm>
            <a:off x="311700" y="1225225"/>
            <a:ext cx="457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a:t>
            </a:r>
            <a:r>
              <a:rPr b="1" lang="en"/>
              <a:t>clique</a:t>
            </a:r>
            <a:r>
              <a:rPr lang="en"/>
              <a:t> is a maximally </a:t>
            </a:r>
            <a:r>
              <a:rPr b="1" lang="en"/>
              <a:t>complete subgraph </a:t>
            </a:r>
            <a:r>
              <a:rPr lang="en"/>
              <a:t>(density = 1.0)</a:t>
            </a:r>
            <a:endParaRPr/>
          </a:p>
          <a:p>
            <a:pPr indent="-317500" lvl="1" marL="914400" rtl="0" algn="l">
              <a:spcBef>
                <a:spcPts val="0"/>
              </a:spcBef>
              <a:spcAft>
                <a:spcPts val="0"/>
              </a:spcAft>
              <a:buSzPts val="1400"/>
              <a:buChar char="○"/>
            </a:pPr>
            <a:r>
              <a:rPr lang="en"/>
              <a:t>The </a:t>
            </a:r>
            <a:r>
              <a:rPr b="1" lang="en"/>
              <a:t>size</a:t>
            </a:r>
            <a:r>
              <a:rPr lang="en"/>
              <a:t> of a clique is the number of nodes in it:</a:t>
            </a:r>
            <a:endParaRPr/>
          </a:p>
          <a:p>
            <a:pPr indent="-317500" lvl="2" marL="1371600" rtl="0" algn="l">
              <a:spcBef>
                <a:spcPts val="0"/>
              </a:spcBef>
              <a:spcAft>
                <a:spcPts val="0"/>
              </a:spcAft>
              <a:buSzPts val="1400"/>
              <a:buChar char="■"/>
            </a:pPr>
            <a:r>
              <a:rPr lang="en"/>
              <a:t>Clique of size 2, clique of size 3, clique of size 4, etc.</a:t>
            </a:r>
            <a:endParaRPr/>
          </a:p>
          <a:p>
            <a:pPr indent="0" lvl="0" marL="1371600" rtl="0" algn="l">
              <a:spcBef>
                <a:spcPts val="0"/>
              </a:spcBef>
              <a:spcAft>
                <a:spcPts val="0"/>
              </a:spcAft>
              <a:buNone/>
            </a:pPr>
            <a:r>
              <a:t/>
            </a:r>
            <a:endParaRPr/>
          </a:p>
          <a:p>
            <a:pPr indent="0" lvl="0" marL="0" rtl="0" algn="l">
              <a:spcBef>
                <a:spcPts val="0"/>
              </a:spcBef>
              <a:spcAft>
                <a:spcPts val="0"/>
              </a:spcAft>
              <a:buNone/>
            </a:pPr>
            <a:r>
              <a:t/>
            </a:r>
            <a:endParaRPr/>
          </a:p>
        </p:txBody>
      </p:sp>
      <p:sp>
        <p:nvSpPr>
          <p:cNvPr id="3810" name="Google Shape;3810;p251"/>
          <p:cNvSpPr txBox="1"/>
          <p:nvPr/>
        </p:nvSpPr>
        <p:spPr>
          <a:xfrm>
            <a:off x="5263825" y="3971175"/>
            <a:ext cx="15711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clique of size 4</a:t>
            </a:r>
            <a:endParaRPr b="1">
              <a:solidFill>
                <a:srgbClr val="FF0000"/>
              </a:solidFill>
            </a:endParaRPr>
          </a:p>
        </p:txBody>
      </p:sp>
      <p:cxnSp>
        <p:nvCxnSpPr>
          <p:cNvPr id="3811" name="Google Shape;3811;p251"/>
          <p:cNvCxnSpPr>
            <a:stCxn id="3810" idx="0"/>
          </p:cNvCxnSpPr>
          <p:nvPr/>
        </p:nvCxnSpPr>
        <p:spPr>
          <a:xfrm rot="10800000">
            <a:off x="5960275" y="3388275"/>
            <a:ext cx="89100" cy="582900"/>
          </a:xfrm>
          <a:prstGeom prst="straightConnector1">
            <a:avLst/>
          </a:prstGeom>
          <a:noFill/>
          <a:ln cap="flat" cmpd="sng" w="19050">
            <a:solidFill>
              <a:srgbClr val="FF0000"/>
            </a:solidFill>
            <a:prstDash val="solid"/>
            <a:round/>
            <a:headEnd len="med" w="med" type="none"/>
            <a:tailEnd len="med" w="med" type="triangle"/>
          </a:ln>
        </p:spPr>
      </p:cxnSp>
      <p:sp>
        <p:nvSpPr>
          <p:cNvPr id="3812" name="Google Shape;3812;p251"/>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251"/>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251"/>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251"/>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16" name="Google Shape;3816;p251"/>
          <p:cNvCxnSpPr>
            <a:stCxn id="3812" idx="3"/>
            <a:endCxn id="3813"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3817" name="Google Shape;3817;p251"/>
          <p:cNvCxnSpPr>
            <a:stCxn id="3815" idx="1"/>
            <a:endCxn id="3813"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3818" name="Google Shape;3818;p251"/>
          <p:cNvCxnSpPr>
            <a:stCxn id="3812" idx="4"/>
            <a:endCxn id="3815"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3819" name="Google Shape;3819;p251"/>
          <p:cNvCxnSpPr>
            <a:stCxn id="3812" idx="5"/>
            <a:endCxn id="3814"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3820" name="Google Shape;3820;p251"/>
          <p:cNvCxnSpPr>
            <a:stCxn id="3814" idx="2"/>
            <a:endCxn id="3813"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3821" name="Google Shape;3821;p251"/>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251"/>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251"/>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251"/>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25" name="Google Shape;3825;p251"/>
          <p:cNvCxnSpPr>
            <a:stCxn id="3821" idx="3"/>
            <a:endCxn id="382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826" name="Google Shape;3826;p251"/>
          <p:cNvCxnSpPr>
            <a:stCxn id="3824" idx="0"/>
            <a:endCxn id="382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827" name="Google Shape;3827;p251"/>
          <p:cNvCxnSpPr>
            <a:stCxn id="3821" idx="5"/>
            <a:endCxn id="382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828" name="Google Shape;3828;p251"/>
          <p:cNvCxnSpPr>
            <a:stCxn id="3823" idx="2"/>
            <a:endCxn id="382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829" name="Google Shape;3829;p251"/>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30" name="Google Shape;3830;p251"/>
          <p:cNvCxnSpPr>
            <a:stCxn id="3829" idx="0"/>
            <a:endCxn id="382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831" name="Google Shape;3831;p251"/>
          <p:cNvCxnSpPr>
            <a:stCxn id="3823" idx="3"/>
            <a:endCxn id="382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832" name="Google Shape;3832;p251"/>
          <p:cNvCxnSpPr>
            <a:stCxn id="3823" idx="3"/>
            <a:endCxn id="382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833" name="Google Shape;3833;p251"/>
          <p:cNvCxnSpPr>
            <a:stCxn id="3821" idx="4"/>
            <a:endCxn id="382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834" name="Google Shape;3834;p251"/>
          <p:cNvCxnSpPr>
            <a:stCxn id="3814" idx="7"/>
            <a:endCxn id="3824"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835" name="Google Shape;3835;p251"/>
          <p:cNvCxnSpPr>
            <a:stCxn id="3815" idx="7"/>
            <a:endCxn id="3814" idx="3"/>
          </p:cNvCxnSpPr>
          <p:nvPr/>
        </p:nvCxnSpPr>
        <p:spPr>
          <a:xfrm flipH="1" rot="10800000">
            <a:off x="6021501" y="2675824"/>
            <a:ext cx="374100" cy="431400"/>
          </a:xfrm>
          <a:prstGeom prst="straightConnector1">
            <a:avLst/>
          </a:prstGeom>
          <a:noFill/>
          <a:ln cap="flat" cmpd="sng" w="19050">
            <a:solidFill>
              <a:srgbClr val="FF0000"/>
            </a:solidFill>
            <a:prstDash val="solid"/>
            <a:round/>
            <a:headEnd len="med" w="med" type="none"/>
            <a:tailEnd len="med" w="med" type="none"/>
          </a:ln>
        </p:spPr>
      </p:cxnSp>
      <p:cxnSp>
        <p:nvCxnSpPr>
          <p:cNvPr id="3836" name="Google Shape;3836;p251"/>
          <p:cNvCxnSpPr>
            <a:stCxn id="3824" idx="6"/>
            <a:endCxn id="3829"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837" name="Google Shape;3837;p251"/>
          <p:cNvCxnSpPr>
            <a:stCxn id="3821" idx="4"/>
            <a:endCxn id="3824"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838" name="Google Shape;3838;p251"/>
          <p:cNvSpPr/>
          <p:nvPr/>
        </p:nvSpPr>
        <p:spPr>
          <a:xfrm rot="-1281263">
            <a:off x="7726111" y="3127097"/>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251"/>
          <p:cNvSpPr/>
          <p:nvPr/>
        </p:nvSpPr>
        <p:spPr>
          <a:xfrm rot="-1281263">
            <a:off x="7310069" y="3774485"/>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40" name="Google Shape;3840;p251"/>
          <p:cNvCxnSpPr>
            <a:stCxn id="3838" idx="3"/>
            <a:endCxn id="3839"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sp>
        <p:nvSpPr>
          <p:cNvPr id="3841" name="Google Shape;3841;p251"/>
          <p:cNvSpPr/>
          <p:nvPr/>
        </p:nvSpPr>
        <p:spPr>
          <a:xfrm rot="-1281263">
            <a:off x="8001037" y="3919934"/>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42" name="Google Shape;3842;p251"/>
          <p:cNvCxnSpPr>
            <a:stCxn id="3841" idx="2"/>
            <a:endCxn id="3839"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3843" name="Google Shape;3843;p251"/>
          <p:cNvCxnSpPr>
            <a:stCxn id="3841" idx="0"/>
            <a:endCxn id="3838"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3844" name="Google Shape;3844;p251"/>
          <p:cNvCxnSpPr>
            <a:endCxn id="3839" idx="1"/>
          </p:cNvCxnSpPr>
          <p:nvPr/>
        </p:nvCxnSpPr>
        <p:spPr>
          <a:xfrm>
            <a:off x="6516863" y="2675902"/>
            <a:ext cx="800400" cy="11499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8" name="Shape 3848"/>
        <p:cNvGrpSpPr/>
        <p:nvPr/>
      </p:nvGrpSpPr>
      <p:grpSpPr>
        <a:xfrm>
          <a:off x="0" y="0"/>
          <a:ext cx="0" cy="0"/>
          <a:chOff x="0" y="0"/>
          <a:chExt cx="0" cy="0"/>
        </a:xfrm>
      </p:grpSpPr>
      <p:sp>
        <p:nvSpPr>
          <p:cNvPr id="3849" name="Google Shape;3849;p2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850" name="Google Shape;3850;p252"/>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252"/>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252"/>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252"/>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54" name="Google Shape;3854;p252"/>
          <p:cNvCxnSpPr>
            <a:stCxn id="3850" idx="3"/>
            <a:endCxn id="3851"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3855" name="Google Shape;3855;p252"/>
          <p:cNvCxnSpPr>
            <a:stCxn id="3853" idx="1"/>
            <a:endCxn id="3851"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3856" name="Google Shape;3856;p252"/>
          <p:cNvCxnSpPr>
            <a:stCxn id="3850" idx="4"/>
            <a:endCxn id="3853"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3857" name="Google Shape;3857;p252"/>
          <p:cNvCxnSpPr>
            <a:stCxn id="3850" idx="5"/>
            <a:endCxn id="3852"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3858" name="Google Shape;3858;p252"/>
          <p:cNvCxnSpPr>
            <a:stCxn id="3852" idx="2"/>
            <a:endCxn id="3851"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3859" name="Google Shape;3859;p252"/>
          <p:cNvSpPr/>
          <p:nvPr/>
        </p:nvSpPr>
        <p:spPr>
          <a:xfrm>
            <a:off x="7820950" y="6538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252"/>
          <p:cNvSpPr/>
          <p:nvPr/>
        </p:nvSpPr>
        <p:spPr>
          <a:xfrm>
            <a:off x="7200175" y="9267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252"/>
          <p:cNvSpPr/>
          <p:nvPr/>
        </p:nvSpPr>
        <p:spPr>
          <a:xfrm>
            <a:off x="8181075" y="1237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252"/>
          <p:cNvSpPr/>
          <p:nvPr/>
        </p:nvSpPr>
        <p:spPr>
          <a:xfrm>
            <a:off x="7246000" y="14947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63" name="Google Shape;3863;p252"/>
          <p:cNvCxnSpPr>
            <a:stCxn id="3859" idx="3"/>
            <a:endCxn id="3860" idx="7"/>
          </p:cNvCxnSpPr>
          <p:nvPr/>
        </p:nvCxnSpPr>
        <p:spPr>
          <a:xfrm flipH="1">
            <a:off x="7346536" y="800026"/>
            <a:ext cx="499500" cy="151800"/>
          </a:xfrm>
          <a:prstGeom prst="straightConnector1">
            <a:avLst/>
          </a:prstGeom>
          <a:noFill/>
          <a:ln cap="flat" cmpd="sng" w="19050">
            <a:solidFill>
              <a:srgbClr val="FF0000"/>
            </a:solidFill>
            <a:prstDash val="solid"/>
            <a:round/>
            <a:headEnd len="med" w="med" type="none"/>
            <a:tailEnd len="med" w="med" type="none"/>
          </a:ln>
        </p:spPr>
      </p:cxnSp>
      <p:cxnSp>
        <p:nvCxnSpPr>
          <p:cNvPr id="3864" name="Google Shape;3864;p252"/>
          <p:cNvCxnSpPr>
            <a:stCxn id="3862" idx="0"/>
            <a:endCxn id="3860" idx="4"/>
          </p:cNvCxnSpPr>
          <p:nvPr/>
        </p:nvCxnSpPr>
        <p:spPr>
          <a:xfrm rot="10800000">
            <a:off x="7285750" y="1098113"/>
            <a:ext cx="45900" cy="396600"/>
          </a:xfrm>
          <a:prstGeom prst="straightConnector1">
            <a:avLst/>
          </a:prstGeom>
          <a:noFill/>
          <a:ln cap="flat" cmpd="sng" w="19050">
            <a:solidFill>
              <a:srgbClr val="FF0000"/>
            </a:solidFill>
            <a:prstDash val="solid"/>
            <a:round/>
            <a:headEnd len="med" w="med" type="none"/>
            <a:tailEnd len="med" w="med" type="none"/>
          </a:ln>
        </p:spPr>
      </p:cxnSp>
      <p:cxnSp>
        <p:nvCxnSpPr>
          <p:cNvPr id="3865" name="Google Shape;3865;p252"/>
          <p:cNvCxnSpPr>
            <a:stCxn id="3859" idx="5"/>
            <a:endCxn id="3861" idx="1"/>
          </p:cNvCxnSpPr>
          <p:nvPr/>
        </p:nvCxnSpPr>
        <p:spPr>
          <a:xfrm>
            <a:off x="7967164" y="800026"/>
            <a:ext cx="239100" cy="462900"/>
          </a:xfrm>
          <a:prstGeom prst="straightConnector1">
            <a:avLst/>
          </a:prstGeom>
          <a:noFill/>
          <a:ln cap="flat" cmpd="sng" w="19050">
            <a:solidFill>
              <a:srgbClr val="FF0000"/>
            </a:solidFill>
            <a:prstDash val="solid"/>
            <a:round/>
            <a:headEnd len="med" w="med" type="none"/>
            <a:tailEnd len="med" w="med" type="none"/>
          </a:ln>
        </p:spPr>
      </p:cxnSp>
      <p:cxnSp>
        <p:nvCxnSpPr>
          <p:cNvPr id="3866" name="Google Shape;3866;p252"/>
          <p:cNvCxnSpPr>
            <a:stCxn id="3861" idx="2"/>
            <a:endCxn id="3860" idx="6"/>
          </p:cNvCxnSpPr>
          <p:nvPr/>
        </p:nvCxnSpPr>
        <p:spPr>
          <a:xfrm rot="10800000">
            <a:off x="7371375" y="1012538"/>
            <a:ext cx="809700" cy="311100"/>
          </a:xfrm>
          <a:prstGeom prst="straightConnector1">
            <a:avLst/>
          </a:prstGeom>
          <a:noFill/>
          <a:ln cap="flat" cmpd="sng" w="19050">
            <a:solidFill>
              <a:srgbClr val="FF0000"/>
            </a:solidFill>
            <a:prstDash val="solid"/>
            <a:round/>
            <a:headEnd len="med" w="med" type="none"/>
            <a:tailEnd len="med" w="med" type="none"/>
          </a:ln>
        </p:spPr>
      </p:cxnSp>
      <p:sp>
        <p:nvSpPr>
          <p:cNvPr id="3867" name="Google Shape;3867;p252"/>
          <p:cNvSpPr/>
          <p:nvPr/>
        </p:nvSpPr>
        <p:spPr>
          <a:xfrm>
            <a:off x="7820950" y="1806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68" name="Google Shape;3868;p252"/>
          <p:cNvCxnSpPr>
            <a:stCxn id="3867" idx="0"/>
            <a:endCxn id="3860" idx="6"/>
          </p:cNvCxnSpPr>
          <p:nvPr/>
        </p:nvCxnSpPr>
        <p:spPr>
          <a:xfrm rot="10800000">
            <a:off x="7371400" y="1012338"/>
            <a:ext cx="535200" cy="793800"/>
          </a:xfrm>
          <a:prstGeom prst="straightConnector1">
            <a:avLst/>
          </a:prstGeom>
          <a:noFill/>
          <a:ln cap="flat" cmpd="sng" w="19050">
            <a:solidFill>
              <a:srgbClr val="FF0000"/>
            </a:solidFill>
            <a:prstDash val="solid"/>
            <a:round/>
            <a:headEnd len="med" w="med" type="none"/>
            <a:tailEnd len="med" w="med" type="none"/>
          </a:ln>
        </p:spPr>
      </p:cxnSp>
      <p:cxnSp>
        <p:nvCxnSpPr>
          <p:cNvPr id="3869" name="Google Shape;3869;p252"/>
          <p:cNvCxnSpPr>
            <a:stCxn id="3861" idx="3"/>
            <a:endCxn id="3862" idx="6"/>
          </p:cNvCxnSpPr>
          <p:nvPr/>
        </p:nvCxnSpPr>
        <p:spPr>
          <a:xfrm flipH="1">
            <a:off x="7417161" y="1384201"/>
            <a:ext cx="789000" cy="196200"/>
          </a:xfrm>
          <a:prstGeom prst="straightConnector1">
            <a:avLst/>
          </a:prstGeom>
          <a:noFill/>
          <a:ln cap="flat" cmpd="sng" w="19050">
            <a:solidFill>
              <a:srgbClr val="FF0000"/>
            </a:solidFill>
            <a:prstDash val="solid"/>
            <a:round/>
            <a:headEnd len="med" w="med" type="none"/>
            <a:tailEnd len="med" w="med" type="none"/>
          </a:ln>
        </p:spPr>
      </p:cxnSp>
      <p:cxnSp>
        <p:nvCxnSpPr>
          <p:cNvPr id="3870" name="Google Shape;3870;p252"/>
          <p:cNvCxnSpPr>
            <a:stCxn id="3861" idx="3"/>
            <a:endCxn id="3867" idx="1"/>
          </p:cNvCxnSpPr>
          <p:nvPr/>
        </p:nvCxnSpPr>
        <p:spPr>
          <a:xfrm flipH="1">
            <a:off x="7846161" y="1384201"/>
            <a:ext cx="360000" cy="447000"/>
          </a:xfrm>
          <a:prstGeom prst="straightConnector1">
            <a:avLst/>
          </a:prstGeom>
          <a:noFill/>
          <a:ln cap="flat" cmpd="sng" w="19050">
            <a:solidFill>
              <a:srgbClr val="FF0000"/>
            </a:solidFill>
            <a:prstDash val="solid"/>
            <a:round/>
            <a:headEnd len="med" w="med" type="none"/>
            <a:tailEnd len="med" w="med" type="none"/>
          </a:ln>
        </p:spPr>
      </p:cxnSp>
      <p:cxnSp>
        <p:nvCxnSpPr>
          <p:cNvPr id="3871" name="Google Shape;3871;p252"/>
          <p:cNvCxnSpPr>
            <a:stCxn id="3859" idx="4"/>
            <a:endCxn id="3867" idx="0"/>
          </p:cNvCxnSpPr>
          <p:nvPr/>
        </p:nvCxnSpPr>
        <p:spPr>
          <a:xfrm>
            <a:off x="7906600" y="825113"/>
            <a:ext cx="0" cy="981000"/>
          </a:xfrm>
          <a:prstGeom prst="straightConnector1">
            <a:avLst/>
          </a:prstGeom>
          <a:noFill/>
          <a:ln cap="flat" cmpd="sng" w="19050">
            <a:solidFill>
              <a:srgbClr val="FF0000"/>
            </a:solidFill>
            <a:prstDash val="solid"/>
            <a:round/>
            <a:headEnd len="med" w="med" type="none"/>
            <a:tailEnd len="med" w="med" type="none"/>
          </a:ln>
        </p:spPr>
      </p:cxnSp>
      <p:cxnSp>
        <p:nvCxnSpPr>
          <p:cNvPr id="3872" name="Google Shape;3872;p252"/>
          <p:cNvCxnSpPr>
            <a:stCxn id="3852" idx="7"/>
            <a:endCxn id="3862"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873" name="Google Shape;3873;p252"/>
          <p:cNvCxnSpPr>
            <a:stCxn id="3853" idx="7"/>
            <a:endCxn id="3852" idx="3"/>
          </p:cNvCxnSpPr>
          <p:nvPr/>
        </p:nvCxnSpPr>
        <p:spPr>
          <a:xfrm flipH="1" rot="10800000">
            <a:off x="6021501" y="2675824"/>
            <a:ext cx="374100" cy="431400"/>
          </a:xfrm>
          <a:prstGeom prst="straightConnector1">
            <a:avLst/>
          </a:prstGeom>
          <a:noFill/>
          <a:ln cap="flat" cmpd="sng" w="19050">
            <a:solidFill>
              <a:srgbClr val="666666"/>
            </a:solidFill>
            <a:prstDash val="solid"/>
            <a:round/>
            <a:headEnd len="med" w="med" type="none"/>
            <a:tailEnd len="med" w="med" type="none"/>
          </a:ln>
        </p:spPr>
      </p:cxnSp>
      <p:cxnSp>
        <p:nvCxnSpPr>
          <p:cNvPr id="3874" name="Google Shape;3874;p252"/>
          <p:cNvCxnSpPr>
            <a:stCxn id="3862" idx="6"/>
            <a:endCxn id="3867" idx="1"/>
          </p:cNvCxnSpPr>
          <p:nvPr/>
        </p:nvCxnSpPr>
        <p:spPr>
          <a:xfrm>
            <a:off x="7417300" y="1580363"/>
            <a:ext cx="428700" cy="250800"/>
          </a:xfrm>
          <a:prstGeom prst="straightConnector1">
            <a:avLst/>
          </a:prstGeom>
          <a:noFill/>
          <a:ln cap="flat" cmpd="sng" w="19050">
            <a:solidFill>
              <a:srgbClr val="FF0000"/>
            </a:solidFill>
            <a:prstDash val="solid"/>
            <a:round/>
            <a:headEnd len="med" w="med" type="none"/>
            <a:tailEnd len="med" w="med" type="none"/>
          </a:ln>
        </p:spPr>
      </p:cxnSp>
      <p:cxnSp>
        <p:nvCxnSpPr>
          <p:cNvPr id="3875" name="Google Shape;3875;p252"/>
          <p:cNvCxnSpPr>
            <a:stCxn id="3859" idx="4"/>
            <a:endCxn id="3862" idx="7"/>
          </p:cNvCxnSpPr>
          <p:nvPr/>
        </p:nvCxnSpPr>
        <p:spPr>
          <a:xfrm flipH="1">
            <a:off x="7392100" y="825113"/>
            <a:ext cx="514500" cy="694800"/>
          </a:xfrm>
          <a:prstGeom prst="straightConnector1">
            <a:avLst/>
          </a:prstGeom>
          <a:noFill/>
          <a:ln cap="flat" cmpd="sng" w="19050">
            <a:solidFill>
              <a:srgbClr val="FF0000"/>
            </a:solidFill>
            <a:prstDash val="solid"/>
            <a:round/>
            <a:headEnd len="med" w="med" type="none"/>
            <a:tailEnd len="med" w="med" type="none"/>
          </a:ln>
        </p:spPr>
      </p:cxnSp>
      <p:sp>
        <p:nvSpPr>
          <p:cNvPr id="3876" name="Google Shape;3876;p252"/>
          <p:cNvSpPr/>
          <p:nvPr/>
        </p:nvSpPr>
        <p:spPr>
          <a:xfrm rot="-1281263">
            <a:off x="7726111" y="3127097"/>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252"/>
          <p:cNvSpPr/>
          <p:nvPr/>
        </p:nvSpPr>
        <p:spPr>
          <a:xfrm rot="-1281263">
            <a:off x="7310069" y="3774485"/>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8" name="Google Shape;3878;p252"/>
          <p:cNvCxnSpPr>
            <a:stCxn id="3876" idx="3"/>
            <a:endCxn id="387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sp>
        <p:nvSpPr>
          <p:cNvPr id="3879" name="Google Shape;3879;p252"/>
          <p:cNvSpPr/>
          <p:nvPr/>
        </p:nvSpPr>
        <p:spPr>
          <a:xfrm rot="-1281263">
            <a:off x="8001037" y="3919934"/>
            <a:ext cx="171365" cy="171365"/>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80" name="Google Shape;3880;p252"/>
          <p:cNvCxnSpPr>
            <a:stCxn id="3879" idx="2"/>
            <a:endCxn id="387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3881" name="Google Shape;3881;p252"/>
          <p:cNvCxnSpPr>
            <a:stCxn id="3879" idx="0"/>
            <a:endCxn id="387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3882" name="Google Shape;3882;p252"/>
          <p:cNvCxnSpPr>
            <a:endCxn id="3877" idx="1"/>
          </p:cNvCxnSpPr>
          <p:nvPr/>
        </p:nvCxnSpPr>
        <p:spPr>
          <a:xfrm>
            <a:off x="6516863" y="2675902"/>
            <a:ext cx="800400" cy="1149900"/>
          </a:xfrm>
          <a:prstGeom prst="straightConnector1">
            <a:avLst/>
          </a:prstGeom>
          <a:noFill/>
          <a:ln cap="flat" cmpd="sng" w="19050">
            <a:solidFill>
              <a:srgbClr val="666666"/>
            </a:solidFill>
            <a:prstDash val="solid"/>
            <a:round/>
            <a:headEnd len="med" w="med" type="none"/>
            <a:tailEnd len="med" w="med" type="none"/>
          </a:ln>
        </p:spPr>
      </p:cxnSp>
      <p:sp>
        <p:nvSpPr>
          <p:cNvPr id="3883" name="Google Shape;3883;p252"/>
          <p:cNvSpPr txBox="1"/>
          <p:nvPr/>
        </p:nvSpPr>
        <p:spPr>
          <a:xfrm>
            <a:off x="4965400" y="1071800"/>
            <a:ext cx="1576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clique of size 5</a:t>
            </a:r>
            <a:endParaRPr b="1">
              <a:solidFill>
                <a:srgbClr val="FF0000"/>
              </a:solidFill>
            </a:endParaRPr>
          </a:p>
        </p:txBody>
      </p:sp>
      <p:cxnSp>
        <p:nvCxnSpPr>
          <p:cNvPr id="3884" name="Google Shape;3884;p252"/>
          <p:cNvCxnSpPr/>
          <p:nvPr/>
        </p:nvCxnSpPr>
        <p:spPr>
          <a:xfrm flipH="1" rot="10800000">
            <a:off x="6382000" y="1303600"/>
            <a:ext cx="808200" cy="57000"/>
          </a:xfrm>
          <a:prstGeom prst="straightConnector1">
            <a:avLst/>
          </a:prstGeom>
          <a:noFill/>
          <a:ln cap="flat" cmpd="sng" w="19050">
            <a:solidFill>
              <a:srgbClr val="FF0000"/>
            </a:solidFill>
            <a:prstDash val="solid"/>
            <a:round/>
            <a:headEnd len="med" w="med" type="none"/>
            <a:tailEnd len="med" w="med" type="triangle"/>
          </a:ln>
        </p:spPr>
      </p:cxnSp>
      <p:sp>
        <p:nvSpPr>
          <p:cNvPr id="3885" name="Google Shape;3885;p252"/>
          <p:cNvSpPr txBox="1"/>
          <p:nvPr>
            <p:ph idx="1" type="body"/>
          </p:nvPr>
        </p:nvSpPr>
        <p:spPr>
          <a:xfrm>
            <a:off x="311700" y="1225225"/>
            <a:ext cx="457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a:t>
            </a:r>
            <a:r>
              <a:rPr b="1" lang="en"/>
              <a:t>clique</a:t>
            </a:r>
            <a:r>
              <a:rPr lang="en"/>
              <a:t> is a maximally </a:t>
            </a:r>
            <a:r>
              <a:rPr b="1" lang="en"/>
              <a:t>complete subgraph </a:t>
            </a:r>
            <a:r>
              <a:rPr lang="en"/>
              <a:t>(density = 1.0)</a:t>
            </a:r>
            <a:endParaRPr/>
          </a:p>
          <a:p>
            <a:pPr indent="-317500" lvl="1" marL="914400" rtl="0" algn="l">
              <a:spcBef>
                <a:spcPts val="0"/>
              </a:spcBef>
              <a:spcAft>
                <a:spcPts val="0"/>
              </a:spcAft>
              <a:buSzPts val="1400"/>
              <a:buChar char="○"/>
            </a:pPr>
            <a:r>
              <a:rPr lang="en"/>
              <a:t>The </a:t>
            </a:r>
            <a:r>
              <a:rPr b="1" lang="en"/>
              <a:t>size</a:t>
            </a:r>
            <a:r>
              <a:rPr lang="en"/>
              <a:t> of a clique is the number of nodes in it:</a:t>
            </a:r>
            <a:endParaRPr/>
          </a:p>
          <a:p>
            <a:pPr indent="-317500" lvl="2" marL="1371600" rtl="0" algn="l">
              <a:spcBef>
                <a:spcPts val="0"/>
              </a:spcBef>
              <a:spcAft>
                <a:spcPts val="0"/>
              </a:spcAft>
              <a:buSzPts val="1400"/>
              <a:buChar char="■"/>
            </a:pPr>
            <a:r>
              <a:rPr lang="en"/>
              <a:t>Clique of size 2, clique of size 3, clique of size 4, etc.</a:t>
            </a:r>
            <a:endParaRPr/>
          </a:p>
          <a:p>
            <a:pPr indent="0" lvl="0" marL="1371600" rtl="0" algn="l">
              <a:spcBef>
                <a:spcPts val="0"/>
              </a:spcBef>
              <a:spcAft>
                <a:spcPts val="0"/>
              </a:spcAft>
              <a:buNone/>
            </a:pPr>
            <a:r>
              <a:t/>
            </a:r>
            <a:endParaRPr/>
          </a:p>
          <a:p>
            <a:pPr indent="0" lvl="0" marL="13716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9" name="Shape 3889"/>
        <p:cNvGrpSpPr/>
        <p:nvPr/>
      </p:nvGrpSpPr>
      <p:grpSpPr>
        <a:xfrm>
          <a:off x="0" y="0"/>
          <a:ext cx="0" cy="0"/>
          <a:chOff x="0" y="0"/>
          <a:chExt cx="0" cy="0"/>
        </a:xfrm>
      </p:grpSpPr>
      <p:sp>
        <p:nvSpPr>
          <p:cNvPr id="3890" name="Google Shape;3890;p2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891" name="Google Shape;3891;p253"/>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253"/>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253"/>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253"/>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5" name="Google Shape;3895;p253"/>
          <p:cNvCxnSpPr>
            <a:stCxn id="3891" idx="3"/>
            <a:endCxn id="3892"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3896" name="Google Shape;3896;p253"/>
          <p:cNvCxnSpPr>
            <a:stCxn id="3894" idx="1"/>
            <a:endCxn id="3892"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3897" name="Google Shape;3897;p253"/>
          <p:cNvCxnSpPr>
            <a:stCxn id="3891" idx="4"/>
            <a:endCxn id="3894"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3898" name="Google Shape;3898;p253"/>
          <p:cNvCxnSpPr>
            <a:stCxn id="3891" idx="5"/>
            <a:endCxn id="3893"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3899" name="Google Shape;3899;p253"/>
          <p:cNvCxnSpPr>
            <a:stCxn id="3893" idx="2"/>
            <a:endCxn id="3892"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3900" name="Google Shape;3900;p253"/>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253"/>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253"/>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253"/>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04" name="Google Shape;3904;p253"/>
          <p:cNvCxnSpPr>
            <a:stCxn id="3900" idx="3"/>
            <a:endCxn id="3901"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905" name="Google Shape;3905;p253"/>
          <p:cNvCxnSpPr>
            <a:stCxn id="3903" idx="0"/>
            <a:endCxn id="3901"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906" name="Google Shape;3906;p253"/>
          <p:cNvCxnSpPr>
            <a:stCxn id="3900" idx="5"/>
            <a:endCxn id="3902"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907" name="Google Shape;3907;p253"/>
          <p:cNvCxnSpPr>
            <a:stCxn id="3902" idx="2"/>
            <a:endCxn id="3901"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908" name="Google Shape;3908;p253"/>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09" name="Google Shape;3909;p253"/>
          <p:cNvCxnSpPr>
            <a:stCxn id="3908" idx="0"/>
            <a:endCxn id="3901"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910" name="Google Shape;3910;p253"/>
          <p:cNvCxnSpPr>
            <a:stCxn id="3902" idx="3"/>
            <a:endCxn id="3903"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911" name="Google Shape;3911;p253"/>
          <p:cNvCxnSpPr>
            <a:stCxn id="3902" idx="3"/>
            <a:endCxn id="3908"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912" name="Google Shape;3912;p253"/>
          <p:cNvCxnSpPr>
            <a:stCxn id="3900" idx="4"/>
            <a:endCxn id="3908"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913" name="Google Shape;3913;p253"/>
          <p:cNvCxnSpPr>
            <a:stCxn id="3893" idx="7"/>
            <a:endCxn id="3903"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914" name="Google Shape;3914;p253"/>
          <p:cNvCxnSpPr>
            <a:stCxn id="3894" idx="7"/>
            <a:endCxn id="3893" idx="3"/>
          </p:cNvCxnSpPr>
          <p:nvPr/>
        </p:nvCxnSpPr>
        <p:spPr>
          <a:xfrm flipH="1" rot="10800000">
            <a:off x="6021501" y="2675824"/>
            <a:ext cx="374100" cy="431400"/>
          </a:xfrm>
          <a:prstGeom prst="straightConnector1">
            <a:avLst/>
          </a:prstGeom>
          <a:noFill/>
          <a:ln cap="flat" cmpd="sng" w="19050">
            <a:solidFill>
              <a:srgbClr val="666666"/>
            </a:solidFill>
            <a:prstDash val="solid"/>
            <a:round/>
            <a:headEnd len="med" w="med" type="none"/>
            <a:tailEnd len="med" w="med" type="none"/>
          </a:ln>
        </p:spPr>
      </p:cxnSp>
      <p:cxnSp>
        <p:nvCxnSpPr>
          <p:cNvPr id="3915" name="Google Shape;3915;p253"/>
          <p:cNvCxnSpPr>
            <a:stCxn id="3903" idx="6"/>
            <a:endCxn id="3908"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916" name="Google Shape;3916;p253"/>
          <p:cNvCxnSpPr>
            <a:stCxn id="3900" idx="4"/>
            <a:endCxn id="3903"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917" name="Google Shape;3917;p253"/>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253"/>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19" name="Google Shape;3919;p253"/>
          <p:cNvCxnSpPr>
            <a:stCxn id="3917" idx="3"/>
            <a:endCxn id="3918"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sp>
        <p:nvSpPr>
          <p:cNvPr id="3920" name="Google Shape;3920;p253"/>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21" name="Google Shape;3921;p253"/>
          <p:cNvCxnSpPr>
            <a:stCxn id="3920" idx="2"/>
            <a:endCxn id="3918"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3922" name="Google Shape;3922;p253"/>
          <p:cNvCxnSpPr>
            <a:stCxn id="3920" idx="0"/>
            <a:endCxn id="3917"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3923" name="Google Shape;3923;p253"/>
          <p:cNvCxnSpPr>
            <a:endCxn id="3918" idx="1"/>
          </p:cNvCxnSpPr>
          <p:nvPr/>
        </p:nvCxnSpPr>
        <p:spPr>
          <a:xfrm>
            <a:off x="6516863" y="2675902"/>
            <a:ext cx="800400" cy="1149900"/>
          </a:xfrm>
          <a:prstGeom prst="straightConnector1">
            <a:avLst/>
          </a:prstGeom>
          <a:noFill/>
          <a:ln cap="flat" cmpd="sng" w="19050">
            <a:solidFill>
              <a:srgbClr val="666666"/>
            </a:solidFill>
            <a:prstDash val="solid"/>
            <a:round/>
            <a:headEnd len="med" w="med" type="none"/>
            <a:tailEnd len="med" w="med" type="none"/>
          </a:ln>
        </p:spPr>
      </p:cxnSp>
      <p:sp>
        <p:nvSpPr>
          <p:cNvPr id="3924" name="Google Shape;3924;p253"/>
          <p:cNvSpPr txBox="1"/>
          <p:nvPr/>
        </p:nvSpPr>
        <p:spPr>
          <a:xfrm>
            <a:off x="4891200" y="4083325"/>
            <a:ext cx="17493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A closed triad is a clique of size 3!</a:t>
            </a:r>
            <a:endParaRPr b="1">
              <a:solidFill>
                <a:srgbClr val="FF0000"/>
              </a:solidFill>
            </a:endParaRPr>
          </a:p>
        </p:txBody>
      </p:sp>
      <p:cxnSp>
        <p:nvCxnSpPr>
          <p:cNvPr id="3925" name="Google Shape;3925;p253"/>
          <p:cNvCxnSpPr>
            <a:stCxn id="3924" idx="3"/>
          </p:cNvCxnSpPr>
          <p:nvPr/>
        </p:nvCxnSpPr>
        <p:spPr>
          <a:xfrm flipH="1" rot="10800000">
            <a:off x="6640500" y="3955075"/>
            <a:ext cx="612000" cy="528600"/>
          </a:xfrm>
          <a:prstGeom prst="straightConnector1">
            <a:avLst/>
          </a:prstGeom>
          <a:noFill/>
          <a:ln cap="flat" cmpd="sng" w="19050">
            <a:solidFill>
              <a:srgbClr val="FF0000"/>
            </a:solidFill>
            <a:prstDash val="solid"/>
            <a:round/>
            <a:headEnd len="med" w="med" type="none"/>
            <a:tailEnd len="med" w="med" type="triangle"/>
          </a:ln>
        </p:spPr>
      </p:cxnSp>
      <p:sp>
        <p:nvSpPr>
          <p:cNvPr id="3926" name="Google Shape;3926;p253"/>
          <p:cNvSpPr txBox="1"/>
          <p:nvPr>
            <p:ph idx="1" type="body"/>
          </p:nvPr>
        </p:nvSpPr>
        <p:spPr>
          <a:xfrm>
            <a:off x="311700" y="1225225"/>
            <a:ext cx="457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a:t>
            </a:r>
            <a:r>
              <a:rPr b="1" lang="en"/>
              <a:t>clique</a:t>
            </a:r>
            <a:r>
              <a:rPr lang="en"/>
              <a:t> is a maximally </a:t>
            </a:r>
            <a:r>
              <a:rPr b="1" lang="en"/>
              <a:t>complete subgraph </a:t>
            </a:r>
            <a:r>
              <a:rPr lang="en"/>
              <a:t>(density = 1.0)</a:t>
            </a:r>
            <a:endParaRPr/>
          </a:p>
          <a:p>
            <a:pPr indent="-317500" lvl="1" marL="914400" rtl="0" algn="l">
              <a:spcBef>
                <a:spcPts val="0"/>
              </a:spcBef>
              <a:spcAft>
                <a:spcPts val="0"/>
              </a:spcAft>
              <a:buSzPts val="1400"/>
              <a:buChar char="○"/>
            </a:pPr>
            <a:r>
              <a:rPr lang="en"/>
              <a:t>The </a:t>
            </a:r>
            <a:r>
              <a:rPr b="1" lang="en"/>
              <a:t>size</a:t>
            </a:r>
            <a:r>
              <a:rPr lang="en"/>
              <a:t> of a clique is the number of nodes in it:</a:t>
            </a:r>
            <a:endParaRPr/>
          </a:p>
          <a:p>
            <a:pPr indent="-317500" lvl="2" marL="1371600" rtl="0" algn="l">
              <a:spcBef>
                <a:spcPts val="0"/>
              </a:spcBef>
              <a:spcAft>
                <a:spcPts val="0"/>
              </a:spcAft>
              <a:buSzPts val="1400"/>
              <a:buChar char="■"/>
            </a:pPr>
            <a:r>
              <a:rPr lang="en"/>
              <a:t>Clique of size 2, clique of size 3, clique of size 4, etc.</a:t>
            </a:r>
            <a:endParaRPr/>
          </a:p>
          <a:p>
            <a:pPr indent="0" lvl="0" marL="1371600" rtl="0" algn="l">
              <a:spcBef>
                <a:spcPts val="0"/>
              </a:spcBef>
              <a:spcAft>
                <a:spcPts val="0"/>
              </a:spcAft>
              <a:buNone/>
            </a:pPr>
            <a:r>
              <a:t/>
            </a:r>
            <a:endParaRPr/>
          </a:p>
          <a:p>
            <a:pPr indent="0" lvl="0" marL="13716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0" name="Shape 3930"/>
        <p:cNvGrpSpPr/>
        <p:nvPr/>
      </p:nvGrpSpPr>
      <p:grpSpPr>
        <a:xfrm>
          <a:off x="0" y="0"/>
          <a:ext cx="0" cy="0"/>
          <a:chOff x="0" y="0"/>
          <a:chExt cx="0" cy="0"/>
        </a:xfrm>
      </p:grpSpPr>
      <p:sp>
        <p:nvSpPr>
          <p:cNvPr id="3931" name="Google Shape;3931;p2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932" name="Google Shape;3932;p254"/>
          <p:cNvSpPr/>
          <p:nvPr/>
        </p:nvSpPr>
        <p:spPr>
          <a:xfrm>
            <a:off x="5844988" y="2095088"/>
            <a:ext cx="171300" cy="171300"/>
          </a:xfrm>
          <a:prstGeom prst="ellipse">
            <a:avLst/>
          </a:prstGeom>
          <a:solidFill>
            <a:schemeClr val="accent6"/>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254"/>
          <p:cNvSpPr/>
          <p:nvPr/>
        </p:nvSpPr>
        <p:spPr>
          <a:xfrm>
            <a:off x="5370463" y="2640988"/>
            <a:ext cx="171300" cy="171300"/>
          </a:xfrm>
          <a:prstGeom prst="ellipse">
            <a:avLst/>
          </a:prstGeom>
          <a:solidFill>
            <a:schemeClr val="accent6"/>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254"/>
          <p:cNvSpPr/>
          <p:nvPr/>
        </p:nvSpPr>
        <p:spPr>
          <a:xfrm>
            <a:off x="6370588" y="2529613"/>
            <a:ext cx="171300" cy="171300"/>
          </a:xfrm>
          <a:prstGeom prst="ellipse">
            <a:avLst/>
          </a:prstGeom>
          <a:solidFill>
            <a:srgbClr val="FF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254"/>
          <p:cNvSpPr/>
          <p:nvPr/>
        </p:nvSpPr>
        <p:spPr>
          <a:xfrm>
            <a:off x="5875288" y="3082138"/>
            <a:ext cx="171300" cy="171300"/>
          </a:xfrm>
          <a:prstGeom prst="ellipse">
            <a:avLst/>
          </a:prstGeom>
          <a:solidFill>
            <a:schemeClr val="accent6"/>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36" name="Google Shape;3936;p254"/>
          <p:cNvCxnSpPr>
            <a:stCxn id="3932" idx="3"/>
            <a:endCxn id="3933" idx="7"/>
          </p:cNvCxnSpPr>
          <p:nvPr/>
        </p:nvCxnSpPr>
        <p:spPr>
          <a:xfrm flipH="1">
            <a:off x="5516674" y="2241301"/>
            <a:ext cx="353400" cy="424800"/>
          </a:xfrm>
          <a:prstGeom prst="straightConnector1">
            <a:avLst/>
          </a:prstGeom>
          <a:noFill/>
          <a:ln cap="flat" cmpd="sng" w="19050">
            <a:solidFill>
              <a:schemeClr val="accent6"/>
            </a:solidFill>
            <a:prstDash val="solid"/>
            <a:round/>
            <a:headEnd len="med" w="med" type="none"/>
            <a:tailEnd len="med" w="med" type="none"/>
          </a:ln>
        </p:spPr>
      </p:cxnSp>
      <p:cxnSp>
        <p:nvCxnSpPr>
          <p:cNvPr id="3937" name="Google Shape;3937;p254"/>
          <p:cNvCxnSpPr>
            <a:stCxn id="3935" idx="1"/>
            <a:endCxn id="3933" idx="5"/>
          </p:cNvCxnSpPr>
          <p:nvPr/>
        </p:nvCxnSpPr>
        <p:spPr>
          <a:xfrm rot="10800000">
            <a:off x="5516674" y="2787124"/>
            <a:ext cx="383700" cy="320100"/>
          </a:xfrm>
          <a:prstGeom prst="straightConnector1">
            <a:avLst/>
          </a:prstGeom>
          <a:noFill/>
          <a:ln cap="flat" cmpd="sng" w="19050">
            <a:solidFill>
              <a:schemeClr val="accent6"/>
            </a:solidFill>
            <a:prstDash val="solid"/>
            <a:round/>
            <a:headEnd len="med" w="med" type="none"/>
            <a:tailEnd len="med" w="med" type="none"/>
          </a:ln>
        </p:spPr>
      </p:cxnSp>
      <p:cxnSp>
        <p:nvCxnSpPr>
          <p:cNvPr id="3938" name="Google Shape;3938;p254"/>
          <p:cNvCxnSpPr>
            <a:stCxn id="3932" idx="4"/>
            <a:endCxn id="3935" idx="1"/>
          </p:cNvCxnSpPr>
          <p:nvPr/>
        </p:nvCxnSpPr>
        <p:spPr>
          <a:xfrm flipH="1">
            <a:off x="5900338" y="2266388"/>
            <a:ext cx="30300" cy="840900"/>
          </a:xfrm>
          <a:prstGeom prst="straightConnector1">
            <a:avLst/>
          </a:prstGeom>
          <a:noFill/>
          <a:ln cap="flat" cmpd="sng" w="19050">
            <a:solidFill>
              <a:schemeClr val="accent6"/>
            </a:solidFill>
            <a:prstDash val="solid"/>
            <a:round/>
            <a:headEnd len="med" w="med" type="none"/>
            <a:tailEnd len="med" w="med" type="none"/>
          </a:ln>
        </p:spPr>
      </p:cxnSp>
      <p:cxnSp>
        <p:nvCxnSpPr>
          <p:cNvPr id="3939" name="Google Shape;3939;p254"/>
          <p:cNvCxnSpPr>
            <a:stCxn id="3932" idx="5"/>
            <a:endCxn id="3934" idx="1"/>
          </p:cNvCxnSpPr>
          <p:nvPr/>
        </p:nvCxnSpPr>
        <p:spPr>
          <a:xfrm>
            <a:off x="5991201" y="2241301"/>
            <a:ext cx="404400" cy="313500"/>
          </a:xfrm>
          <a:prstGeom prst="straightConnector1">
            <a:avLst/>
          </a:prstGeom>
          <a:noFill/>
          <a:ln cap="flat" cmpd="sng" w="19050">
            <a:solidFill>
              <a:schemeClr val="accent6"/>
            </a:solidFill>
            <a:prstDash val="solid"/>
            <a:round/>
            <a:headEnd len="med" w="med" type="none"/>
            <a:tailEnd len="med" w="med" type="none"/>
          </a:ln>
        </p:spPr>
      </p:cxnSp>
      <p:cxnSp>
        <p:nvCxnSpPr>
          <p:cNvPr id="3940" name="Google Shape;3940;p254"/>
          <p:cNvCxnSpPr>
            <a:stCxn id="3934" idx="2"/>
            <a:endCxn id="3933" idx="6"/>
          </p:cNvCxnSpPr>
          <p:nvPr/>
        </p:nvCxnSpPr>
        <p:spPr>
          <a:xfrm flipH="1">
            <a:off x="5541688" y="2615263"/>
            <a:ext cx="828900" cy="111300"/>
          </a:xfrm>
          <a:prstGeom prst="straightConnector1">
            <a:avLst/>
          </a:prstGeom>
          <a:noFill/>
          <a:ln cap="flat" cmpd="sng" w="19050">
            <a:solidFill>
              <a:schemeClr val="accent6"/>
            </a:solidFill>
            <a:prstDash val="solid"/>
            <a:round/>
            <a:headEnd len="med" w="med" type="none"/>
            <a:tailEnd len="med" w="med" type="none"/>
          </a:ln>
        </p:spPr>
      </p:cxnSp>
      <p:sp>
        <p:nvSpPr>
          <p:cNvPr id="3941" name="Google Shape;3941;p254"/>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254"/>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254"/>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254"/>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45" name="Google Shape;3945;p254"/>
          <p:cNvCxnSpPr>
            <a:stCxn id="3941" idx="3"/>
            <a:endCxn id="394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946" name="Google Shape;3946;p254"/>
          <p:cNvCxnSpPr>
            <a:stCxn id="3944" idx="0"/>
            <a:endCxn id="394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947" name="Google Shape;3947;p254"/>
          <p:cNvCxnSpPr>
            <a:stCxn id="3941" idx="5"/>
            <a:endCxn id="394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948" name="Google Shape;3948;p254"/>
          <p:cNvCxnSpPr>
            <a:stCxn id="3943" idx="2"/>
            <a:endCxn id="394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949" name="Google Shape;3949;p254"/>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50" name="Google Shape;3950;p254"/>
          <p:cNvCxnSpPr>
            <a:stCxn id="3949" idx="0"/>
            <a:endCxn id="394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951" name="Google Shape;3951;p254"/>
          <p:cNvCxnSpPr>
            <a:stCxn id="3943" idx="3"/>
            <a:endCxn id="394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952" name="Google Shape;3952;p254"/>
          <p:cNvCxnSpPr>
            <a:stCxn id="3943" idx="3"/>
            <a:endCxn id="394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953" name="Google Shape;3953;p254"/>
          <p:cNvCxnSpPr>
            <a:stCxn id="3941" idx="4"/>
            <a:endCxn id="394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cxnSp>
        <p:nvCxnSpPr>
          <p:cNvPr id="3954" name="Google Shape;3954;p254"/>
          <p:cNvCxnSpPr>
            <a:stCxn id="3934" idx="7"/>
            <a:endCxn id="3944"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3955" name="Google Shape;3955;p254"/>
          <p:cNvCxnSpPr>
            <a:stCxn id="3935" idx="7"/>
            <a:endCxn id="3934" idx="3"/>
          </p:cNvCxnSpPr>
          <p:nvPr/>
        </p:nvCxnSpPr>
        <p:spPr>
          <a:xfrm flipH="1" rot="10800000">
            <a:off x="6021501" y="2675824"/>
            <a:ext cx="374100" cy="431400"/>
          </a:xfrm>
          <a:prstGeom prst="straightConnector1">
            <a:avLst/>
          </a:prstGeom>
          <a:noFill/>
          <a:ln cap="flat" cmpd="sng" w="19050">
            <a:solidFill>
              <a:schemeClr val="accent6"/>
            </a:solidFill>
            <a:prstDash val="solid"/>
            <a:round/>
            <a:headEnd len="med" w="med" type="none"/>
            <a:tailEnd len="med" w="med" type="none"/>
          </a:ln>
        </p:spPr>
      </p:cxnSp>
      <p:cxnSp>
        <p:nvCxnSpPr>
          <p:cNvPr id="3956" name="Google Shape;3956;p254"/>
          <p:cNvCxnSpPr>
            <a:stCxn id="3944" idx="6"/>
            <a:endCxn id="3949" idx="1"/>
          </p:cNvCxnSpPr>
          <p:nvPr/>
        </p:nvCxnSpPr>
        <p:spPr>
          <a:xfrm>
            <a:off x="7417300" y="1580363"/>
            <a:ext cx="428700" cy="250800"/>
          </a:xfrm>
          <a:prstGeom prst="straightConnector1">
            <a:avLst/>
          </a:prstGeom>
          <a:noFill/>
          <a:ln cap="flat" cmpd="sng" w="19050">
            <a:solidFill>
              <a:srgbClr val="666666"/>
            </a:solidFill>
            <a:prstDash val="solid"/>
            <a:round/>
            <a:headEnd len="med" w="med" type="none"/>
            <a:tailEnd len="med" w="med" type="none"/>
          </a:ln>
        </p:spPr>
      </p:cxnSp>
      <p:cxnSp>
        <p:nvCxnSpPr>
          <p:cNvPr id="3957" name="Google Shape;3957;p254"/>
          <p:cNvCxnSpPr>
            <a:stCxn id="3941" idx="4"/>
            <a:endCxn id="3944" idx="7"/>
          </p:cNvCxnSpPr>
          <p:nvPr/>
        </p:nvCxnSpPr>
        <p:spPr>
          <a:xfrm flipH="1">
            <a:off x="7392100" y="825113"/>
            <a:ext cx="514500" cy="694800"/>
          </a:xfrm>
          <a:prstGeom prst="straightConnector1">
            <a:avLst/>
          </a:prstGeom>
          <a:noFill/>
          <a:ln cap="flat" cmpd="sng" w="19050">
            <a:solidFill>
              <a:srgbClr val="666666"/>
            </a:solidFill>
            <a:prstDash val="solid"/>
            <a:round/>
            <a:headEnd len="med" w="med" type="none"/>
            <a:tailEnd len="med" w="med" type="none"/>
          </a:ln>
        </p:spPr>
      </p:cxnSp>
      <p:sp>
        <p:nvSpPr>
          <p:cNvPr id="3958" name="Google Shape;3958;p254"/>
          <p:cNvSpPr/>
          <p:nvPr/>
        </p:nvSpPr>
        <p:spPr>
          <a:xfrm rot="-1281263">
            <a:off x="7726111" y="3127097"/>
            <a:ext cx="171365" cy="171365"/>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254"/>
          <p:cNvSpPr/>
          <p:nvPr/>
        </p:nvSpPr>
        <p:spPr>
          <a:xfrm rot="-1281263">
            <a:off x="7310069" y="3774485"/>
            <a:ext cx="171365" cy="171365"/>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60" name="Google Shape;3960;p254"/>
          <p:cNvCxnSpPr>
            <a:stCxn id="3958" idx="3"/>
            <a:endCxn id="3959" idx="7"/>
          </p:cNvCxnSpPr>
          <p:nvPr/>
        </p:nvCxnSpPr>
        <p:spPr>
          <a:xfrm flipH="1">
            <a:off x="7430028" y="3291269"/>
            <a:ext cx="347400" cy="490500"/>
          </a:xfrm>
          <a:prstGeom prst="straightConnector1">
            <a:avLst/>
          </a:prstGeom>
          <a:noFill/>
          <a:ln cap="flat" cmpd="sng" w="19050">
            <a:solidFill>
              <a:schemeClr val="accent5"/>
            </a:solidFill>
            <a:prstDash val="solid"/>
            <a:round/>
            <a:headEnd len="med" w="med" type="none"/>
            <a:tailEnd len="med" w="med" type="none"/>
          </a:ln>
        </p:spPr>
      </p:cxnSp>
      <p:sp>
        <p:nvSpPr>
          <p:cNvPr id="3961" name="Google Shape;3961;p254"/>
          <p:cNvSpPr/>
          <p:nvPr/>
        </p:nvSpPr>
        <p:spPr>
          <a:xfrm rot="-1281263">
            <a:off x="8001037" y="3919934"/>
            <a:ext cx="171365" cy="171365"/>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62" name="Google Shape;3962;p254"/>
          <p:cNvCxnSpPr>
            <a:stCxn id="3961" idx="2"/>
            <a:endCxn id="3959" idx="5"/>
          </p:cNvCxnSpPr>
          <p:nvPr/>
        </p:nvCxnSpPr>
        <p:spPr>
          <a:xfrm rot="10800000">
            <a:off x="7474120" y="3894616"/>
            <a:ext cx="532800" cy="142200"/>
          </a:xfrm>
          <a:prstGeom prst="straightConnector1">
            <a:avLst/>
          </a:prstGeom>
          <a:noFill/>
          <a:ln cap="flat" cmpd="sng" w="19050">
            <a:solidFill>
              <a:schemeClr val="accent5"/>
            </a:solidFill>
            <a:prstDash val="solid"/>
            <a:round/>
            <a:headEnd len="med" w="med" type="none"/>
            <a:tailEnd len="med" w="med" type="none"/>
          </a:ln>
        </p:spPr>
      </p:cxnSp>
      <p:cxnSp>
        <p:nvCxnSpPr>
          <p:cNvPr id="3963" name="Google Shape;3963;p254"/>
          <p:cNvCxnSpPr>
            <a:stCxn id="3961" idx="0"/>
            <a:endCxn id="3958" idx="3"/>
          </p:cNvCxnSpPr>
          <p:nvPr/>
        </p:nvCxnSpPr>
        <p:spPr>
          <a:xfrm rot="10800000">
            <a:off x="7777420" y="3291316"/>
            <a:ext cx="278100" cy="634500"/>
          </a:xfrm>
          <a:prstGeom prst="straightConnector1">
            <a:avLst/>
          </a:prstGeom>
          <a:noFill/>
          <a:ln cap="flat" cmpd="sng" w="19050">
            <a:solidFill>
              <a:schemeClr val="accent5"/>
            </a:solidFill>
            <a:prstDash val="solid"/>
            <a:round/>
            <a:headEnd len="med" w="med" type="none"/>
            <a:tailEnd len="med" w="med" type="none"/>
          </a:ln>
        </p:spPr>
      </p:cxnSp>
      <p:cxnSp>
        <p:nvCxnSpPr>
          <p:cNvPr id="3964" name="Google Shape;3964;p254"/>
          <p:cNvCxnSpPr>
            <a:stCxn id="3934" idx="5"/>
            <a:endCxn id="3959" idx="0"/>
          </p:cNvCxnSpPr>
          <p:nvPr/>
        </p:nvCxnSpPr>
        <p:spPr>
          <a:xfrm>
            <a:off x="6516801" y="2675826"/>
            <a:ext cx="847800" cy="1104600"/>
          </a:xfrm>
          <a:prstGeom prst="straightConnector1">
            <a:avLst/>
          </a:prstGeom>
          <a:noFill/>
          <a:ln cap="flat" cmpd="sng" w="19050">
            <a:solidFill>
              <a:schemeClr val="accent5"/>
            </a:solidFill>
            <a:prstDash val="solid"/>
            <a:round/>
            <a:headEnd len="med" w="med" type="none"/>
            <a:tailEnd len="med" w="med" type="none"/>
          </a:ln>
        </p:spPr>
      </p:cxnSp>
      <p:sp>
        <p:nvSpPr>
          <p:cNvPr id="3965" name="Google Shape;3965;p254"/>
          <p:cNvSpPr txBox="1"/>
          <p:nvPr/>
        </p:nvSpPr>
        <p:spPr>
          <a:xfrm>
            <a:off x="4891200" y="4083325"/>
            <a:ext cx="17493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The same actor can belong to multiple cliques!</a:t>
            </a:r>
            <a:endParaRPr b="1">
              <a:solidFill>
                <a:srgbClr val="FF0000"/>
              </a:solidFill>
            </a:endParaRPr>
          </a:p>
        </p:txBody>
      </p:sp>
      <p:cxnSp>
        <p:nvCxnSpPr>
          <p:cNvPr id="3966" name="Google Shape;3966;p254"/>
          <p:cNvCxnSpPr>
            <a:stCxn id="3965" idx="0"/>
          </p:cNvCxnSpPr>
          <p:nvPr/>
        </p:nvCxnSpPr>
        <p:spPr>
          <a:xfrm flipH="1" rot="10800000">
            <a:off x="5765850" y="2804125"/>
            <a:ext cx="663600" cy="1279200"/>
          </a:xfrm>
          <a:prstGeom prst="straightConnector1">
            <a:avLst/>
          </a:prstGeom>
          <a:noFill/>
          <a:ln cap="flat" cmpd="sng" w="19050">
            <a:solidFill>
              <a:srgbClr val="FF0000"/>
            </a:solidFill>
            <a:prstDash val="solid"/>
            <a:round/>
            <a:headEnd len="med" w="med" type="none"/>
            <a:tailEnd len="med" w="med" type="triangle"/>
          </a:ln>
        </p:spPr>
      </p:cxnSp>
      <p:sp>
        <p:nvSpPr>
          <p:cNvPr id="3967" name="Google Shape;3967;p254"/>
          <p:cNvSpPr txBox="1"/>
          <p:nvPr>
            <p:ph idx="1" type="body"/>
          </p:nvPr>
        </p:nvSpPr>
        <p:spPr>
          <a:xfrm>
            <a:off x="311700" y="1225225"/>
            <a:ext cx="457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subgraph G' = (V', E') of a graph G = (V, E) exists when:</a:t>
            </a:r>
            <a:endParaRPr/>
          </a:p>
          <a:p>
            <a:pPr indent="-317500" lvl="1" marL="914400" rtl="0" algn="l">
              <a:spcBef>
                <a:spcPts val="0"/>
              </a:spcBef>
              <a:spcAft>
                <a:spcPts val="0"/>
              </a:spcAft>
              <a:buSzPts val="1400"/>
              <a:buChar char="○"/>
            </a:pPr>
            <a:r>
              <a:rPr lang="en"/>
              <a:t>V' is a subset of V and E' is a subset of E</a:t>
            </a:r>
            <a:endParaRPr/>
          </a:p>
          <a:p>
            <a:pPr indent="-342900" lvl="0" marL="457200" rtl="0" algn="l">
              <a:spcBef>
                <a:spcPts val="0"/>
              </a:spcBef>
              <a:spcAft>
                <a:spcPts val="0"/>
              </a:spcAft>
              <a:buSzPts val="1800"/>
              <a:buChar char="●"/>
            </a:pPr>
            <a:r>
              <a:rPr lang="en"/>
              <a:t>A </a:t>
            </a:r>
            <a:r>
              <a:rPr b="1" lang="en"/>
              <a:t>clique</a:t>
            </a:r>
            <a:r>
              <a:rPr lang="en"/>
              <a:t> is a maximal </a:t>
            </a:r>
            <a:r>
              <a:rPr b="1" lang="en"/>
              <a:t>complete subgraph </a:t>
            </a:r>
            <a:r>
              <a:rPr lang="en"/>
              <a:t>(density = 1.0)</a:t>
            </a:r>
            <a:endParaRPr/>
          </a:p>
          <a:p>
            <a:pPr indent="-317500" lvl="1" marL="914400" rtl="0" algn="l">
              <a:spcBef>
                <a:spcPts val="0"/>
              </a:spcBef>
              <a:spcAft>
                <a:spcPts val="0"/>
              </a:spcAft>
              <a:buSzPts val="1400"/>
              <a:buChar char="○"/>
            </a:pPr>
            <a:r>
              <a:rPr lang="en"/>
              <a:t>The </a:t>
            </a:r>
            <a:r>
              <a:rPr b="1" lang="en"/>
              <a:t>size</a:t>
            </a:r>
            <a:r>
              <a:rPr lang="en"/>
              <a:t> of a clique is the number of nodes in i</a:t>
            </a:r>
            <a:r>
              <a:rPr lang="en"/>
              <a:t>t:</a:t>
            </a:r>
            <a:endParaRPr/>
          </a:p>
          <a:p>
            <a:pPr indent="-317500" lvl="2" marL="1371600" rtl="0" algn="l">
              <a:spcBef>
                <a:spcPts val="0"/>
              </a:spcBef>
              <a:spcAft>
                <a:spcPts val="0"/>
              </a:spcAft>
              <a:buSzPts val="1400"/>
              <a:buChar char="■"/>
            </a:pPr>
            <a:r>
              <a:rPr lang="en"/>
              <a:t>Clique of size 2, clique of size 3, clique of size 4, etc.</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3968" name="Google Shape;3968;p254"/>
          <p:cNvCxnSpPr>
            <a:stCxn id="3934" idx="5"/>
            <a:endCxn id="3961" idx="1"/>
          </p:cNvCxnSpPr>
          <p:nvPr/>
        </p:nvCxnSpPr>
        <p:spPr>
          <a:xfrm>
            <a:off x="6516801" y="2675826"/>
            <a:ext cx="1491300" cy="1295400"/>
          </a:xfrm>
          <a:prstGeom prst="straightConnector1">
            <a:avLst/>
          </a:prstGeom>
          <a:noFill/>
          <a:ln cap="flat" cmpd="sng" w="19050">
            <a:solidFill>
              <a:schemeClr val="accent5"/>
            </a:solidFill>
            <a:prstDash val="solid"/>
            <a:round/>
            <a:headEnd len="med" w="med" type="none"/>
            <a:tailEnd len="med" w="med" type="none"/>
          </a:ln>
        </p:spPr>
      </p:cxnSp>
      <p:cxnSp>
        <p:nvCxnSpPr>
          <p:cNvPr id="3969" name="Google Shape;3969;p254"/>
          <p:cNvCxnSpPr>
            <a:stCxn id="3934" idx="5"/>
            <a:endCxn id="3958" idx="2"/>
          </p:cNvCxnSpPr>
          <p:nvPr/>
        </p:nvCxnSpPr>
        <p:spPr>
          <a:xfrm>
            <a:off x="6516801" y="2675826"/>
            <a:ext cx="1215300" cy="568200"/>
          </a:xfrm>
          <a:prstGeom prst="straightConnector1">
            <a:avLst/>
          </a:prstGeom>
          <a:noFill/>
          <a:ln cap="flat" cmpd="sng" w="19050">
            <a:solidFill>
              <a:schemeClr val="accent5"/>
            </a:solidFill>
            <a:prstDash val="solid"/>
            <a:round/>
            <a:headEnd len="med" w="med" type="none"/>
            <a:tailEnd len="med" w="med" type="none"/>
          </a:ln>
        </p:spPr>
      </p:cxn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3" name="Shape 3973"/>
        <p:cNvGrpSpPr/>
        <p:nvPr/>
      </p:nvGrpSpPr>
      <p:grpSpPr>
        <a:xfrm>
          <a:off x="0" y="0"/>
          <a:ext cx="0" cy="0"/>
          <a:chOff x="0" y="0"/>
          <a:chExt cx="0" cy="0"/>
        </a:xfrm>
      </p:grpSpPr>
      <p:sp>
        <p:nvSpPr>
          <p:cNvPr id="3974" name="Google Shape;3974;p2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3975" name="Google Shape;3975;p255"/>
          <p:cNvSpPr txBox="1"/>
          <p:nvPr>
            <p:ph idx="1" type="body"/>
          </p:nvPr>
        </p:nvSpPr>
        <p:spPr>
          <a:xfrm>
            <a:off x="311700" y="1225225"/>
            <a:ext cx="4645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subgraphs are not complete graphs (cliques) but they are almost there!</a:t>
            </a:r>
            <a:endParaRPr/>
          </a:p>
          <a:p>
            <a:pPr indent="-317500" lvl="1" marL="914400" marR="0" rtl="0" algn="l">
              <a:lnSpc>
                <a:spcPct val="115000"/>
              </a:lnSpc>
              <a:spcBef>
                <a:spcPts val="0"/>
              </a:spcBef>
              <a:spcAft>
                <a:spcPts val="0"/>
              </a:spcAft>
              <a:buSzPts val="1400"/>
              <a:buChar char="○"/>
            </a:pPr>
            <a:r>
              <a:rPr lang="en"/>
              <a:t>They are quasi-</a:t>
            </a:r>
            <a:r>
              <a:rPr lang="en"/>
              <a:t>groups</a:t>
            </a:r>
            <a:endParaRPr/>
          </a:p>
          <a:p>
            <a:pPr indent="-342900" lvl="0" marL="457200" marR="0" rtl="0" algn="l">
              <a:lnSpc>
                <a:spcPct val="115000"/>
              </a:lnSpc>
              <a:spcBef>
                <a:spcPts val="0"/>
              </a:spcBef>
              <a:spcAft>
                <a:spcPts val="0"/>
              </a:spcAft>
              <a:buSzPts val="1800"/>
              <a:buChar char="●"/>
            </a:pPr>
            <a:r>
              <a:rPr lang="en"/>
              <a:t>We can relax the definition to </a:t>
            </a:r>
            <a:r>
              <a:rPr lang="en"/>
              <a:t>accommodate</a:t>
            </a:r>
            <a:r>
              <a:rPr lang="en"/>
              <a:t> </a:t>
            </a:r>
            <a:endParaRPr/>
          </a:p>
          <a:p>
            <a:pPr indent="-317500" lvl="1" marL="914400" marR="0" rtl="0" algn="l">
              <a:lnSpc>
                <a:spcPct val="115000"/>
              </a:lnSpc>
              <a:spcBef>
                <a:spcPts val="0"/>
              </a:spcBef>
              <a:spcAft>
                <a:spcPts val="0"/>
              </a:spcAft>
              <a:buSzPts val="1400"/>
              <a:buChar char="○"/>
            </a:pPr>
            <a:r>
              <a:rPr lang="en"/>
              <a:t>An </a:t>
            </a:r>
            <a:r>
              <a:rPr b="1" lang="en"/>
              <a:t>n</a:t>
            </a:r>
            <a:r>
              <a:rPr b="1" lang="en"/>
              <a:t>-clique</a:t>
            </a:r>
            <a:r>
              <a:rPr lang="en"/>
              <a:t> is a </a:t>
            </a:r>
            <a:r>
              <a:rPr b="1" lang="en"/>
              <a:t>subgraph</a:t>
            </a:r>
            <a:r>
              <a:rPr lang="en"/>
              <a:t> where each node is at least</a:t>
            </a:r>
            <a:r>
              <a:rPr b="1" lang="en"/>
              <a:t> </a:t>
            </a:r>
            <a:r>
              <a:rPr b="1" lang="en"/>
              <a:t>n</a:t>
            </a:r>
            <a:r>
              <a:rPr b="1" lang="en"/>
              <a:t> steps away</a:t>
            </a:r>
            <a:r>
              <a:rPr lang="en"/>
              <a:t> from each other node</a:t>
            </a:r>
            <a:endParaRPr/>
          </a:p>
          <a:p>
            <a:pPr indent="-317500" lvl="2" marL="1371600" rtl="0" algn="l">
              <a:spcBef>
                <a:spcPts val="0"/>
              </a:spcBef>
              <a:spcAft>
                <a:spcPts val="0"/>
              </a:spcAft>
              <a:buSzPts val="1400"/>
              <a:buChar char="■"/>
            </a:pPr>
            <a:r>
              <a:rPr lang="en"/>
              <a:t>3-clique, 4-clique, 5-clique...</a:t>
            </a:r>
            <a:r>
              <a:rPr i="1" lang="en"/>
              <a:t>k-</a:t>
            </a:r>
            <a:r>
              <a:rPr lang="en"/>
              <a:t>clique</a:t>
            </a:r>
            <a:endParaRPr/>
          </a:p>
          <a:p>
            <a:pPr indent="0" lvl="0" marL="914400" marR="0" rtl="0" algn="l">
              <a:lnSpc>
                <a:spcPct val="115000"/>
              </a:lnSpc>
              <a:spcBef>
                <a:spcPts val="0"/>
              </a:spcBef>
              <a:spcAft>
                <a:spcPts val="0"/>
              </a:spcAft>
              <a:buNone/>
            </a:pPr>
            <a:r>
              <a:t/>
            </a:r>
            <a:endParaRPr/>
          </a:p>
          <a:p>
            <a:pPr indent="0" lvl="0" marL="0" rtl="0" algn="l">
              <a:spcBef>
                <a:spcPts val="1600"/>
              </a:spcBef>
              <a:spcAft>
                <a:spcPts val="0"/>
              </a:spcAft>
              <a:buNone/>
            </a:pPr>
            <a:r>
              <a:t/>
            </a:r>
            <a:endParaRPr/>
          </a:p>
        </p:txBody>
      </p:sp>
      <p:sp>
        <p:nvSpPr>
          <p:cNvPr id="3976" name="Google Shape;3976;p255"/>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255"/>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255"/>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255"/>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80" name="Google Shape;3980;p255"/>
          <p:cNvCxnSpPr>
            <a:stCxn id="3976" idx="3"/>
            <a:endCxn id="3977"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3981" name="Google Shape;3981;p255"/>
          <p:cNvCxnSpPr>
            <a:stCxn id="3979" idx="1"/>
            <a:endCxn id="3977"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3982" name="Google Shape;3982;p255"/>
          <p:cNvCxnSpPr>
            <a:stCxn id="3976" idx="4"/>
            <a:endCxn id="3979"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3983" name="Google Shape;3983;p255"/>
          <p:cNvCxnSpPr>
            <a:stCxn id="3976" idx="5"/>
            <a:endCxn id="3978"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3984" name="Google Shape;3984;p255"/>
          <p:cNvCxnSpPr>
            <a:stCxn id="3978" idx="2"/>
            <a:endCxn id="3977"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3985" name="Google Shape;3985;p255"/>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255"/>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255"/>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255"/>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89" name="Google Shape;3989;p255"/>
          <p:cNvCxnSpPr>
            <a:stCxn id="3985" idx="3"/>
            <a:endCxn id="3986"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3990" name="Google Shape;3990;p255"/>
          <p:cNvCxnSpPr>
            <a:stCxn id="3988" idx="0"/>
            <a:endCxn id="3986"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3991" name="Google Shape;3991;p255"/>
          <p:cNvCxnSpPr>
            <a:stCxn id="3985" idx="5"/>
            <a:endCxn id="3987"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3992" name="Google Shape;3992;p255"/>
          <p:cNvCxnSpPr>
            <a:stCxn id="3987" idx="2"/>
            <a:endCxn id="3986"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3993" name="Google Shape;3993;p255"/>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94" name="Google Shape;3994;p255"/>
          <p:cNvCxnSpPr>
            <a:stCxn id="3993" idx="0"/>
            <a:endCxn id="3986"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3995" name="Google Shape;3995;p255"/>
          <p:cNvCxnSpPr>
            <a:stCxn id="3987" idx="3"/>
            <a:endCxn id="3988"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3996" name="Google Shape;3996;p255"/>
          <p:cNvCxnSpPr>
            <a:stCxn id="3987" idx="3"/>
            <a:endCxn id="3993"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3997" name="Google Shape;3997;p255"/>
          <p:cNvCxnSpPr>
            <a:stCxn id="3985" idx="4"/>
            <a:endCxn id="3993"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3998" name="Google Shape;3998;p255"/>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255"/>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255"/>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255"/>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2" name="Google Shape;4002;p255"/>
          <p:cNvCxnSpPr>
            <a:stCxn id="3998" idx="3"/>
            <a:endCxn id="3999"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003" name="Google Shape;4003;p255"/>
          <p:cNvCxnSpPr>
            <a:stCxn id="4001" idx="0"/>
            <a:endCxn id="3999"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004" name="Google Shape;4004;p255"/>
          <p:cNvCxnSpPr>
            <a:stCxn id="3998" idx="5"/>
            <a:endCxn id="4000"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005" name="Google Shape;4005;p255"/>
          <p:cNvCxnSpPr>
            <a:stCxn id="4000" idx="2"/>
            <a:endCxn id="3999"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006" name="Google Shape;4006;p255"/>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7" name="Google Shape;4007;p255"/>
          <p:cNvCxnSpPr>
            <a:stCxn id="4000" idx="3"/>
            <a:endCxn id="4001"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008" name="Google Shape;4008;p255"/>
          <p:cNvCxnSpPr>
            <a:stCxn id="4006" idx="2"/>
            <a:endCxn id="3999"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009" name="Google Shape;4009;p255"/>
          <p:cNvCxnSpPr>
            <a:stCxn id="4006" idx="0"/>
            <a:endCxn id="3998"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010" name="Google Shape;4010;p255"/>
          <p:cNvCxnSpPr>
            <a:stCxn id="4001" idx="6"/>
            <a:endCxn id="4006"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011" name="Google Shape;4011;p255"/>
          <p:cNvCxnSpPr>
            <a:stCxn id="3978" idx="5"/>
            <a:endCxn id="3999"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012" name="Google Shape;4012;p255"/>
          <p:cNvCxnSpPr>
            <a:stCxn id="3978" idx="7"/>
            <a:endCxn id="3988"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013" name="Google Shape;4013;p255"/>
          <p:cNvCxnSpPr>
            <a:stCxn id="3993" idx="3"/>
            <a:endCxn id="3998"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014" name="Google Shape;4014;p255"/>
          <p:cNvCxnSpPr>
            <a:stCxn id="3987" idx="4"/>
            <a:endCxn id="4000"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8" name="Shape 4018"/>
        <p:cNvGrpSpPr/>
        <p:nvPr/>
      </p:nvGrpSpPr>
      <p:grpSpPr>
        <a:xfrm>
          <a:off x="0" y="0"/>
          <a:ext cx="0" cy="0"/>
          <a:chOff x="0" y="0"/>
          <a:chExt cx="0" cy="0"/>
        </a:xfrm>
      </p:grpSpPr>
      <p:sp>
        <p:nvSpPr>
          <p:cNvPr id="4019" name="Google Shape;4019;p2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4020" name="Google Shape;4020;p256"/>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256"/>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256"/>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256"/>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24" name="Google Shape;4024;p256"/>
          <p:cNvCxnSpPr>
            <a:stCxn id="4020" idx="3"/>
            <a:endCxn id="4021"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4025" name="Google Shape;4025;p256"/>
          <p:cNvCxnSpPr>
            <a:stCxn id="4023" idx="1"/>
            <a:endCxn id="4021"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4026" name="Google Shape;4026;p256"/>
          <p:cNvCxnSpPr>
            <a:stCxn id="4020" idx="4"/>
            <a:endCxn id="4023"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4027" name="Google Shape;4027;p256"/>
          <p:cNvCxnSpPr>
            <a:stCxn id="4020" idx="5"/>
            <a:endCxn id="4022"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4028" name="Google Shape;4028;p256"/>
          <p:cNvCxnSpPr>
            <a:stCxn id="4022" idx="2"/>
            <a:endCxn id="4021"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4029" name="Google Shape;4029;p256"/>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256"/>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256"/>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256"/>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33" name="Google Shape;4033;p256"/>
          <p:cNvCxnSpPr>
            <a:stCxn id="4029" idx="3"/>
            <a:endCxn id="4030"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034" name="Google Shape;4034;p256"/>
          <p:cNvCxnSpPr>
            <a:stCxn id="4032" idx="0"/>
            <a:endCxn id="4030"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035" name="Google Shape;4035;p256"/>
          <p:cNvCxnSpPr>
            <a:stCxn id="4029" idx="5"/>
            <a:endCxn id="4031"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036" name="Google Shape;4036;p256"/>
          <p:cNvCxnSpPr>
            <a:stCxn id="4031" idx="2"/>
            <a:endCxn id="4030"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037" name="Google Shape;4037;p256"/>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38" name="Google Shape;4038;p256"/>
          <p:cNvCxnSpPr>
            <a:stCxn id="4037" idx="0"/>
            <a:endCxn id="4030"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039" name="Google Shape;4039;p256"/>
          <p:cNvCxnSpPr>
            <a:stCxn id="4031" idx="3"/>
            <a:endCxn id="4032"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040" name="Google Shape;4040;p256"/>
          <p:cNvCxnSpPr>
            <a:stCxn id="4031" idx="3"/>
            <a:endCxn id="4037"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041" name="Google Shape;4041;p256"/>
          <p:cNvCxnSpPr>
            <a:stCxn id="4029" idx="4"/>
            <a:endCxn id="4037"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042" name="Google Shape;4042;p256"/>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256"/>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256"/>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256"/>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46" name="Google Shape;4046;p256"/>
          <p:cNvCxnSpPr>
            <a:stCxn id="4042" idx="3"/>
            <a:endCxn id="4043"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047" name="Google Shape;4047;p256"/>
          <p:cNvCxnSpPr>
            <a:stCxn id="4045" idx="0"/>
            <a:endCxn id="4043"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048" name="Google Shape;4048;p256"/>
          <p:cNvCxnSpPr>
            <a:stCxn id="4042" idx="5"/>
            <a:endCxn id="4044"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049" name="Google Shape;4049;p256"/>
          <p:cNvCxnSpPr>
            <a:stCxn id="4044" idx="2"/>
            <a:endCxn id="4043"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050" name="Google Shape;4050;p256"/>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51" name="Google Shape;4051;p256"/>
          <p:cNvCxnSpPr>
            <a:stCxn id="4044" idx="3"/>
            <a:endCxn id="4045"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052" name="Google Shape;4052;p256"/>
          <p:cNvCxnSpPr>
            <a:stCxn id="4050" idx="2"/>
            <a:endCxn id="4043"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053" name="Google Shape;4053;p256"/>
          <p:cNvCxnSpPr>
            <a:stCxn id="4050" idx="0"/>
            <a:endCxn id="4042"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054" name="Google Shape;4054;p256"/>
          <p:cNvCxnSpPr>
            <a:stCxn id="4045" idx="6"/>
            <a:endCxn id="4050"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055" name="Google Shape;4055;p256"/>
          <p:cNvCxnSpPr>
            <a:stCxn id="4022" idx="5"/>
            <a:endCxn id="4043"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056" name="Google Shape;4056;p256"/>
          <p:cNvCxnSpPr>
            <a:stCxn id="4022" idx="7"/>
            <a:endCxn id="4032"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057" name="Google Shape;4057;p256"/>
          <p:cNvCxnSpPr>
            <a:stCxn id="4037" idx="3"/>
            <a:endCxn id="4042"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058" name="Google Shape;4058;p256"/>
          <p:cNvCxnSpPr>
            <a:stCxn id="4031" idx="4"/>
            <a:endCxn id="4044"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
        <p:nvSpPr>
          <p:cNvPr id="4059" name="Google Shape;4059;p256"/>
          <p:cNvSpPr txBox="1"/>
          <p:nvPr/>
        </p:nvSpPr>
        <p:spPr>
          <a:xfrm>
            <a:off x="4767500" y="4226475"/>
            <a:ext cx="17493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2-clique!</a:t>
            </a:r>
            <a:endParaRPr b="1">
              <a:solidFill>
                <a:srgbClr val="FF0000"/>
              </a:solidFill>
            </a:endParaRPr>
          </a:p>
        </p:txBody>
      </p:sp>
      <p:cxnSp>
        <p:nvCxnSpPr>
          <p:cNvPr id="4060" name="Google Shape;4060;p256"/>
          <p:cNvCxnSpPr>
            <a:stCxn id="4059" idx="0"/>
          </p:cNvCxnSpPr>
          <p:nvPr/>
        </p:nvCxnSpPr>
        <p:spPr>
          <a:xfrm flipH="1" rot="10800000">
            <a:off x="5642150" y="3387075"/>
            <a:ext cx="255000" cy="839400"/>
          </a:xfrm>
          <a:prstGeom prst="straightConnector1">
            <a:avLst/>
          </a:prstGeom>
          <a:noFill/>
          <a:ln cap="flat" cmpd="sng" w="19050">
            <a:solidFill>
              <a:srgbClr val="FF0000"/>
            </a:solidFill>
            <a:prstDash val="solid"/>
            <a:round/>
            <a:headEnd len="med" w="med" type="none"/>
            <a:tailEnd len="med" w="med" type="triangle"/>
          </a:ln>
        </p:spPr>
      </p:cxnSp>
      <p:sp>
        <p:nvSpPr>
          <p:cNvPr id="4061" name="Google Shape;4061;p256"/>
          <p:cNvSpPr txBox="1"/>
          <p:nvPr>
            <p:ph idx="1" type="body"/>
          </p:nvPr>
        </p:nvSpPr>
        <p:spPr>
          <a:xfrm>
            <a:off x="311700" y="1225225"/>
            <a:ext cx="4645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subgraphs are not complete graphs (cliques) but they are almost there!</a:t>
            </a:r>
            <a:endParaRPr/>
          </a:p>
          <a:p>
            <a:pPr indent="-317500" lvl="1" marL="914400" marR="0" rtl="0" algn="l">
              <a:lnSpc>
                <a:spcPct val="115000"/>
              </a:lnSpc>
              <a:spcBef>
                <a:spcPts val="0"/>
              </a:spcBef>
              <a:spcAft>
                <a:spcPts val="0"/>
              </a:spcAft>
              <a:buSzPts val="1400"/>
              <a:buChar char="○"/>
            </a:pPr>
            <a:r>
              <a:rPr lang="en"/>
              <a:t>They are quasi-groups</a:t>
            </a:r>
            <a:endParaRPr/>
          </a:p>
          <a:p>
            <a:pPr indent="-342900" lvl="0" marL="457200" marR="0" rtl="0" algn="l">
              <a:lnSpc>
                <a:spcPct val="115000"/>
              </a:lnSpc>
              <a:spcBef>
                <a:spcPts val="0"/>
              </a:spcBef>
              <a:spcAft>
                <a:spcPts val="0"/>
              </a:spcAft>
              <a:buSzPts val="1800"/>
              <a:buChar char="●"/>
            </a:pPr>
            <a:r>
              <a:rPr lang="en"/>
              <a:t>We can relax the definition to accommodate </a:t>
            </a:r>
            <a:endParaRPr/>
          </a:p>
          <a:p>
            <a:pPr indent="-317500" lvl="1" marL="914400" marR="0" rtl="0" algn="l">
              <a:lnSpc>
                <a:spcPct val="115000"/>
              </a:lnSpc>
              <a:spcBef>
                <a:spcPts val="0"/>
              </a:spcBef>
              <a:spcAft>
                <a:spcPts val="0"/>
              </a:spcAft>
              <a:buSzPts val="1400"/>
              <a:buChar char="○"/>
            </a:pPr>
            <a:r>
              <a:rPr lang="en"/>
              <a:t>An </a:t>
            </a:r>
            <a:r>
              <a:rPr b="1" lang="en"/>
              <a:t>n-clique</a:t>
            </a:r>
            <a:r>
              <a:rPr lang="en"/>
              <a:t> is a </a:t>
            </a:r>
            <a:r>
              <a:rPr b="1" lang="en"/>
              <a:t>subgraph</a:t>
            </a:r>
            <a:r>
              <a:rPr lang="en"/>
              <a:t> where each node is at least</a:t>
            </a:r>
            <a:r>
              <a:rPr b="1" lang="en"/>
              <a:t> n steps away</a:t>
            </a:r>
            <a:r>
              <a:rPr lang="en"/>
              <a:t> from each other node</a:t>
            </a:r>
            <a:endParaRPr/>
          </a:p>
          <a:p>
            <a:pPr indent="-317500" lvl="2" marL="1371600" rtl="0" algn="l">
              <a:spcBef>
                <a:spcPts val="0"/>
              </a:spcBef>
              <a:spcAft>
                <a:spcPts val="0"/>
              </a:spcAft>
              <a:buSzPts val="1400"/>
              <a:buChar char="■"/>
            </a:pPr>
            <a:r>
              <a:rPr lang="en"/>
              <a:t>3-clique, 4-clique, 5-clique...</a:t>
            </a:r>
            <a:r>
              <a:rPr i="1" lang="en"/>
              <a:t>k-</a:t>
            </a:r>
            <a:r>
              <a:rPr lang="en"/>
              <a:t>clique</a:t>
            </a:r>
            <a:endParaRPr/>
          </a:p>
          <a:p>
            <a:pPr indent="0" lvl="0" marL="914400" marR="0" rtl="0" algn="l">
              <a:lnSpc>
                <a:spcPct val="115000"/>
              </a:lnSpc>
              <a:spcBef>
                <a:spcPts val="0"/>
              </a:spcBef>
              <a:spcAft>
                <a:spcPts val="0"/>
              </a:spcAft>
              <a:buNone/>
            </a:pPr>
            <a:r>
              <a:t/>
            </a:r>
            <a:endParaRPr/>
          </a:p>
          <a:p>
            <a:pPr indent="0" lvl="0" marL="0" rtl="0" algn="l">
              <a:spcBef>
                <a:spcPts val="1600"/>
              </a:spcBef>
              <a:spcAft>
                <a:spcPts val="0"/>
              </a:spcAft>
              <a:buNone/>
            </a:pPr>
            <a:r>
              <a:t/>
            </a:r>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5" name="Shape 4065"/>
        <p:cNvGrpSpPr/>
        <p:nvPr/>
      </p:nvGrpSpPr>
      <p:grpSpPr>
        <a:xfrm>
          <a:off x="0" y="0"/>
          <a:ext cx="0" cy="0"/>
          <a:chOff x="0" y="0"/>
          <a:chExt cx="0" cy="0"/>
        </a:xfrm>
      </p:grpSpPr>
      <p:sp>
        <p:nvSpPr>
          <p:cNvPr id="4066" name="Google Shape;4066;p2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Graphs and subgraphs</a:t>
            </a:r>
            <a:endParaRPr/>
          </a:p>
        </p:txBody>
      </p:sp>
      <p:sp>
        <p:nvSpPr>
          <p:cNvPr id="4067" name="Google Shape;4067;p257"/>
          <p:cNvSpPr/>
          <p:nvPr/>
        </p:nvSpPr>
        <p:spPr>
          <a:xfrm>
            <a:off x="5844988" y="20950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257"/>
          <p:cNvSpPr/>
          <p:nvPr/>
        </p:nvSpPr>
        <p:spPr>
          <a:xfrm>
            <a:off x="5370463" y="2640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257"/>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257"/>
          <p:cNvSpPr/>
          <p:nvPr/>
        </p:nvSpPr>
        <p:spPr>
          <a:xfrm>
            <a:off x="5875288" y="3082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71" name="Google Shape;4071;p257"/>
          <p:cNvCxnSpPr>
            <a:stCxn id="4067" idx="3"/>
            <a:endCxn id="4068" idx="7"/>
          </p:cNvCxnSpPr>
          <p:nvPr/>
        </p:nvCxnSpPr>
        <p:spPr>
          <a:xfrm flipH="1">
            <a:off x="5516674" y="2241301"/>
            <a:ext cx="353400" cy="424800"/>
          </a:xfrm>
          <a:prstGeom prst="straightConnector1">
            <a:avLst/>
          </a:prstGeom>
          <a:noFill/>
          <a:ln cap="flat" cmpd="sng" w="19050">
            <a:solidFill>
              <a:srgbClr val="FF0000"/>
            </a:solidFill>
            <a:prstDash val="solid"/>
            <a:round/>
            <a:headEnd len="med" w="med" type="none"/>
            <a:tailEnd len="med" w="med" type="none"/>
          </a:ln>
        </p:spPr>
      </p:cxnSp>
      <p:cxnSp>
        <p:nvCxnSpPr>
          <p:cNvPr id="4072" name="Google Shape;4072;p257"/>
          <p:cNvCxnSpPr>
            <a:stCxn id="4070" idx="1"/>
            <a:endCxn id="4068" idx="5"/>
          </p:cNvCxnSpPr>
          <p:nvPr/>
        </p:nvCxnSpPr>
        <p:spPr>
          <a:xfrm rot="10800000">
            <a:off x="5516674" y="2787124"/>
            <a:ext cx="383700" cy="320100"/>
          </a:xfrm>
          <a:prstGeom prst="straightConnector1">
            <a:avLst/>
          </a:prstGeom>
          <a:noFill/>
          <a:ln cap="flat" cmpd="sng" w="19050">
            <a:solidFill>
              <a:srgbClr val="FF0000"/>
            </a:solidFill>
            <a:prstDash val="solid"/>
            <a:round/>
            <a:headEnd len="med" w="med" type="none"/>
            <a:tailEnd len="med" w="med" type="none"/>
          </a:ln>
        </p:spPr>
      </p:cxnSp>
      <p:cxnSp>
        <p:nvCxnSpPr>
          <p:cNvPr id="4073" name="Google Shape;4073;p257"/>
          <p:cNvCxnSpPr>
            <a:stCxn id="4067" idx="4"/>
            <a:endCxn id="4070" idx="1"/>
          </p:cNvCxnSpPr>
          <p:nvPr/>
        </p:nvCxnSpPr>
        <p:spPr>
          <a:xfrm flipH="1">
            <a:off x="5900338" y="2266388"/>
            <a:ext cx="30300" cy="840900"/>
          </a:xfrm>
          <a:prstGeom prst="straightConnector1">
            <a:avLst/>
          </a:prstGeom>
          <a:noFill/>
          <a:ln cap="flat" cmpd="sng" w="19050">
            <a:solidFill>
              <a:srgbClr val="FF0000"/>
            </a:solidFill>
            <a:prstDash val="solid"/>
            <a:round/>
            <a:headEnd len="med" w="med" type="none"/>
            <a:tailEnd len="med" w="med" type="none"/>
          </a:ln>
        </p:spPr>
      </p:cxnSp>
      <p:cxnSp>
        <p:nvCxnSpPr>
          <p:cNvPr id="4074" name="Google Shape;4074;p257"/>
          <p:cNvCxnSpPr>
            <a:stCxn id="4067" idx="5"/>
            <a:endCxn id="4069" idx="1"/>
          </p:cNvCxnSpPr>
          <p:nvPr/>
        </p:nvCxnSpPr>
        <p:spPr>
          <a:xfrm>
            <a:off x="5991201" y="2241301"/>
            <a:ext cx="404400" cy="313500"/>
          </a:xfrm>
          <a:prstGeom prst="straightConnector1">
            <a:avLst/>
          </a:prstGeom>
          <a:noFill/>
          <a:ln cap="flat" cmpd="sng" w="19050">
            <a:solidFill>
              <a:srgbClr val="FF0000"/>
            </a:solidFill>
            <a:prstDash val="solid"/>
            <a:round/>
            <a:headEnd len="med" w="med" type="none"/>
            <a:tailEnd len="med" w="med" type="none"/>
          </a:ln>
        </p:spPr>
      </p:cxnSp>
      <p:cxnSp>
        <p:nvCxnSpPr>
          <p:cNvPr id="4075" name="Google Shape;4075;p257"/>
          <p:cNvCxnSpPr>
            <a:stCxn id="4069" idx="2"/>
            <a:endCxn id="4068" idx="6"/>
          </p:cNvCxnSpPr>
          <p:nvPr/>
        </p:nvCxnSpPr>
        <p:spPr>
          <a:xfrm flipH="1">
            <a:off x="5541688" y="2615263"/>
            <a:ext cx="828900" cy="111300"/>
          </a:xfrm>
          <a:prstGeom prst="straightConnector1">
            <a:avLst/>
          </a:prstGeom>
          <a:noFill/>
          <a:ln cap="flat" cmpd="sng" w="19050">
            <a:solidFill>
              <a:srgbClr val="FF0000"/>
            </a:solidFill>
            <a:prstDash val="solid"/>
            <a:round/>
            <a:headEnd len="med" w="med" type="none"/>
            <a:tailEnd len="med" w="med" type="none"/>
          </a:ln>
        </p:spPr>
      </p:cxnSp>
      <p:sp>
        <p:nvSpPr>
          <p:cNvPr id="4076" name="Google Shape;4076;p257"/>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257"/>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257"/>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257"/>
          <p:cNvSpPr/>
          <p:nvPr/>
        </p:nvSpPr>
        <p:spPr>
          <a:xfrm>
            <a:off x="7246000" y="14947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80" name="Google Shape;4080;p257"/>
          <p:cNvCxnSpPr>
            <a:stCxn id="4076" idx="3"/>
            <a:endCxn id="4077"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081" name="Google Shape;4081;p257"/>
          <p:cNvCxnSpPr>
            <a:stCxn id="4079" idx="0"/>
            <a:endCxn id="4077"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082" name="Google Shape;4082;p257"/>
          <p:cNvCxnSpPr>
            <a:stCxn id="4076" idx="5"/>
            <a:endCxn id="4078"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083" name="Google Shape;4083;p257"/>
          <p:cNvCxnSpPr>
            <a:stCxn id="4078" idx="2"/>
            <a:endCxn id="4077"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084" name="Google Shape;4084;p257"/>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85" name="Google Shape;4085;p257"/>
          <p:cNvCxnSpPr>
            <a:stCxn id="4084" idx="0"/>
            <a:endCxn id="4077"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086" name="Google Shape;4086;p257"/>
          <p:cNvCxnSpPr>
            <a:stCxn id="4078" idx="3"/>
            <a:endCxn id="4079"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087" name="Google Shape;4087;p257"/>
          <p:cNvCxnSpPr>
            <a:stCxn id="4078" idx="3"/>
            <a:endCxn id="4084"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088" name="Google Shape;4088;p257"/>
          <p:cNvCxnSpPr>
            <a:stCxn id="4076" idx="4"/>
            <a:endCxn id="4084"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089" name="Google Shape;4089;p257"/>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257"/>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257"/>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257"/>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93" name="Google Shape;4093;p257"/>
          <p:cNvCxnSpPr>
            <a:stCxn id="4089" idx="3"/>
            <a:endCxn id="4090"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094" name="Google Shape;4094;p257"/>
          <p:cNvCxnSpPr>
            <a:stCxn id="4092" idx="0"/>
            <a:endCxn id="4090"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095" name="Google Shape;4095;p257"/>
          <p:cNvCxnSpPr>
            <a:stCxn id="4089" idx="5"/>
            <a:endCxn id="4091"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096" name="Google Shape;4096;p257"/>
          <p:cNvCxnSpPr>
            <a:stCxn id="4091" idx="2"/>
            <a:endCxn id="4090"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097" name="Google Shape;4097;p257"/>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98" name="Google Shape;4098;p257"/>
          <p:cNvCxnSpPr>
            <a:stCxn id="4091" idx="3"/>
            <a:endCxn id="4092"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099" name="Google Shape;4099;p257"/>
          <p:cNvCxnSpPr>
            <a:stCxn id="4097" idx="2"/>
            <a:endCxn id="4090"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100" name="Google Shape;4100;p257"/>
          <p:cNvCxnSpPr>
            <a:stCxn id="4097" idx="0"/>
            <a:endCxn id="4089"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101" name="Google Shape;4101;p257"/>
          <p:cNvCxnSpPr>
            <a:stCxn id="4092" idx="6"/>
            <a:endCxn id="4097"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102" name="Google Shape;4102;p257"/>
          <p:cNvCxnSpPr>
            <a:stCxn id="4069" idx="5"/>
            <a:endCxn id="4090" idx="1"/>
          </p:cNvCxnSpPr>
          <p:nvPr/>
        </p:nvCxnSpPr>
        <p:spPr>
          <a:xfrm>
            <a:off x="6516801" y="2675826"/>
            <a:ext cx="800400" cy="1149900"/>
          </a:xfrm>
          <a:prstGeom prst="straightConnector1">
            <a:avLst/>
          </a:prstGeom>
          <a:noFill/>
          <a:ln cap="flat" cmpd="sng" w="19050">
            <a:solidFill>
              <a:srgbClr val="FF0000"/>
            </a:solidFill>
            <a:prstDash val="solid"/>
            <a:round/>
            <a:headEnd len="med" w="med" type="none"/>
            <a:tailEnd len="med" w="med" type="none"/>
          </a:ln>
        </p:spPr>
      </p:cxnSp>
      <p:cxnSp>
        <p:nvCxnSpPr>
          <p:cNvPr id="4103" name="Google Shape;4103;p257"/>
          <p:cNvCxnSpPr>
            <a:stCxn id="4069" idx="7"/>
            <a:endCxn id="4079" idx="3"/>
          </p:cNvCxnSpPr>
          <p:nvPr/>
        </p:nvCxnSpPr>
        <p:spPr>
          <a:xfrm flipH="1" rot="10800000">
            <a:off x="6516801" y="1640899"/>
            <a:ext cx="754200" cy="913800"/>
          </a:xfrm>
          <a:prstGeom prst="straightConnector1">
            <a:avLst/>
          </a:prstGeom>
          <a:noFill/>
          <a:ln cap="flat" cmpd="sng" w="19050">
            <a:solidFill>
              <a:srgbClr val="FF0000"/>
            </a:solidFill>
            <a:prstDash val="solid"/>
            <a:round/>
            <a:headEnd len="med" w="med" type="none"/>
            <a:tailEnd len="med" w="med" type="none"/>
          </a:ln>
        </p:spPr>
      </p:cxnSp>
      <p:cxnSp>
        <p:nvCxnSpPr>
          <p:cNvPr id="4104" name="Google Shape;4104;p257"/>
          <p:cNvCxnSpPr>
            <a:stCxn id="4084" idx="3"/>
            <a:endCxn id="4089"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105" name="Google Shape;4105;p257"/>
          <p:cNvCxnSpPr>
            <a:stCxn id="4078" idx="4"/>
            <a:endCxn id="4091"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
        <p:nvSpPr>
          <p:cNvPr id="4106" name="Google Shape;4106;p257"/>
          <p:cNvSpPr txBox="1"/>
          <p:nvPr/>
        </p:nvSpPr>
        <p:spPr>
          <a:xfrm>
            <a:off x="4767500" y="4226475"/>
            <a:ext cx="17493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3-clique!</a:t>
            </a:r>
            <a:endParaRPr b="1">
              <a:solidFill>
                <a:srgbClr val="FF0000"/>
              </a:solidFill>
            </a:endParaRPr>
          </a:p>
        </p:txBody>
      </p:sp>
      <p:cxnSp>
        <p:nvCxnSpPr>
          <p:cNvPr id="4107" name="Google Shape;4107;p257"/>
          <p:cNvCxnSpPr>
            <a:stCxn id="4106" idx="0"/>
          </p:cNvCxnSpPr>
          <p:nvPr/>
        </p:nvCxnSpPr>
        <p:spPr>
          <a:xfrm flipH="1" rot="10800000">
            <a:off x="5642150" y="3387075"/>
            <a:ext cx="255000" cy="839400"/>
          </a:xfrm>
          <a:prstGeom prst="straightConnector1">
            <a:avLst/>
          </a:prstGeom>
          <a:noFill/>
          <a:ln cap="flat" cmpd="sng" w="19050">
            <a:solidFill>
              <a:srgbClr val="FF0000"/>
            </a:solidFill>
            <a:prstDash val="solid"/>
            <a:round/>
            <a:headEnd len="med" w="med" type="none"/>
            <a:tailEnd len="med" w="med" type="triangle"/>
          </a:ln>
        </p:spPr>
      </p:cxnSp>
      <p:sp>
        <p:nvSpPr>
          <p:cNvPr id="4108" name="Google Shape;4108;p257"/>
          <p:cNvSpPr txBox="1"/>
          <p:nvPr>
            <p:ph idx="1" type="body"/>
          </p:nvPr>
        </p:nvSpPr>
        <p:spPr>
          <a:xfrm>
            <a:off x="311700" y="1225225"/>
            <a:ext cx="4645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subgraphs are not complete graphs (cliques) but they are almost there!</a:t>
            </a:r>
            <a:endParaRPr/>
          </a:p>
          <a:p>
            <a:pPr indent="-317500" lvl="1" marL="914400" marR="0" rtl="0" algn="l">
              <a:lnSpc>
                <a:spcPct val="115000"/>
              </a:lnSpc>
              <a:spcBef>
                <a:spcPts val="0"/>
              </a:spcBef>
              <a:spcAft>
                <a:spcPts val="0"/>
              </a:spcAft>
              <a:buSzPts val="1400"/>
              <a:buChar char="○"/>
            </a:pPr>
            <a:r>
              <a:rPr lang="en"/>
              <a:t>They are quasi-groups</a:t>
            </a:r>
            <a:endParaRPr/>
          </a:p>
          <a:p>
            <a:pPr indent="-342900" lvl="0" marL="457200" marR="0" rtl="0" algn="l">
              <a:lnSpc>
                <a:spcPct val="115000"/>
              </a:lnSpc>
              <a:spcBef>
                <a:spcPts val="0"/>
              </a:spcBef>
              <a:spcAft>
                <a:spcPts val="0"/>
              </a:spcAft>
              <a:buSzPts val="1800"/>
              <a:buChar char="●"/>
            </a:pPr>
            <a:r>
              <a:rPr lang="en"/>
              <a:t>We can relax the definition to accommodate </a:t>
            </a:r>
            <a:endParaRPr/>
          </a:p>
          <a:p>
            <a:pPr indent="-317500" lvl="1" marL="914400" marR="0" rtl="0" algn="l">
              <a:lnSpc>
                <a:spcPct val="115000"/>
              </a:lnSpc>
              <a:spcBef>
                <a:spcPts val="0"/>
              </a:spcBef>
              <a:spcAft>
                <a:spcPts val="0"/>
              </a:spcAft>
              <a:buSzPts val="1400"/>
              <a:buChar char="○"/>
            </a:pPr>
            <a:r>
              <a:rPr lang="en"/>
              <a:t>An </a:t>
            </a:r>
            <a:r>
              <a:rPr b="1" lang="en"/>
              <a:t>n-clique</a:t>
            </a:r>
            <a:r>
              <a:rPr lang="en"/>
              <a:t> is a </a:t>
            </a:r>
            <a:r>
              <a:rPr b="1" lang="en"/>
              <a:t>subgraph</a:t>
            </a:r>
            <a:r>
              <a:rPr lang="en"/>
              <a:t> where each node is at least</a:t>
            </a:r>
            <a:r>
              <a:rPr b="1" lang="en"/>
              <a:t> n steps away</a:t>
            </a:r>
            <a:r>
              <a:rPr lang="en"/>
              <a:t> from each other node</a:t>
            </a:r>
            <a:endParaRPr/>
          </a:p>
          <a:p>
            <a:pPr indent="-317500" lvl="2" marL="1371600" rtl="0" algn="l">
              <a:spcBef>
                <a:spcPts val="0"/>
              </a:spcBef>
              <a:spcAft>
                <a:spcPts val="0"/>
              </a:spcAft>
              <a:buSzPts val="1400"/>
              <a:buChar char="■"/>
            </a:pPr>
            <a:r>
              <a:rPr lang="en"/>
              <a:t>3-clique, 4-clique, 5-clique...</a:t>
            </a:r>
            <a:r>
              <a:rPr i="1" lang="en"/>
              <a:t>k-</a:t>
            </a:r>
            <a:r>
              <a:rPr lang="en"/>
              <a:t>clique</a:t>
            </a:r>
            <a:endParaRPr/>
          </a:p>
          <a:p>
            <a:pPr indent="0" lvl="0" marL="914400" marR="0" rtl="0" algn="l">
              <a:lnSpc>
                <a:spcPct val="115000"/>
              </a:lnSpc>
              <a:spcBef>
                <a:spcPts val="0"/>
              </a:spcBef>
              <a:spcAft>
                <a:spcPts val="0"/>
              </a:spcAft>
              <a:buNone/>
            </a:pPr>
            <a:r>
              <a:t/>
            </a:r>
            <a:endParaRPr/>
          </a:p>
          <a:p>
            <a:pPr indent="0" lvl="0" marL="0" rtl="0" algn="l">
              <a:spcBef>
                <a:spcPts val="1600"/>
              </a:spcBef>
              <a:spcAft>
                <a:spcPts val="0"/>
              </a:spcAft>
              <a:buNone/>
            </a:pPr>
            <a:r>
              <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2" name="Shape 4112"/>
        <p:cNvGrpSpPr/>
        <p:nvPr/>
      </p:nvGrpSpPr>
      <p:grpSpPr>
        <a:xfrm>
          <a:off x="0" y="0"/>
          <a:ext cx="0" cy="0"/>
          <a:chOff x="0" y="0"/>
          <a:chExt cx="0" cy="0"/>
        </a:xfrm>
      </p:grpSpPr>
      <p:sp>
        <p:nvSpPr>
          <p:cNvPr id="4113" name="Google Shape;4113;p2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114" name="Google Shape;4114;p258"/>
          <p:cNvSpPr txBox="1"/>
          <p:nvPr>
            <p:ph idx="1" type="body"/>
          </p:nvPr>
        </p:nvSpPr>
        <p:spPr>
          <a:xfrm>
            <a:off x="311700" y="1225225"/>
            <a:ext cx="4796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graph is </a:t>
            </a:r>
            <a:r>
              <a:rPr b="1" lang="en"/>
              <a:t>connected</a:t>
            </a:r>
            <a:r>
              <a:rPr lang="en"/>
              <a:t> if there exists a (finite) path between each pair of nodes</a:t>
            </a:r>
            <a:endParaRPr/>
          </a:p>
          <a:p>
            <a:pPr indent="0" lvl="0" marL="0" rtl="0" algn="l">
              <a:spcBef>
                <a:spcPts val="0"/>
              </a:spcBef>
              <a:spcAft>
                <a:spcPts val="0"/>
              </a:spcAft>
              <a:buNone/>
            </a:pPr>
            <a:r>
              <a:t/>
            </a:r>
            <a:endParaRPr/>
          </a:p>
        </p:txBody>
      </p:sp>
      <p:sp>
        <p:nvSpPr>
          <p:cNvPr id="4115" name="Google Shape;4115;p258"/>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258"/>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258"/>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258"/>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19" name="Google Shape;4119;p258"/>
          <p:cNvCxnSpPr>
            <a:stCxn id="4115" idx="3"/>
            <a:endCxn id="4116"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120" name="Google Shape;4120;p258"/>
          <p:cNvCxnSpPr>
            <a:stCxn id="4118" idx="1"/>
            <a:endCxn id="4116"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121" name="Google Shape;4121;p258"/>
          <p:cNvCxnSpPr>
            <a:stCxn id="4115" idx="4"/>
            <a:endCxn id="4118"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122" name="Google Shape;4122;p258"/>
          <p:cNvCxnSpPr>
            <a:stCxn id="4115" idx="5"/>
            <a:endCxn id="4117"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123" name="Google Shape;4123;p258"/>
          <p:cNvCxnSpPr>
            <a:stCxn id="4117" idx="2"/>
            <a:endCxn id="4116"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124" name="Google Shape;4124;p258"/>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258"/>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258"/>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258"/>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28" name="Google Shape;4128;p258"/>
          <p:cNvCxnSpPr>
            <a:stCxn id="4124" idx="3"/>
            <a:endCxn id="4125"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129" name="Google Shape;4129;p258"/>
          <p:cNvCxnSpPr>
            <a:stCxn id="4127" idx="0"/>
            <a:endCxn id="4125"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130" name="Google Shape;4130;p258"/>
          <p:cNvCxnSpPr>
            <a:stCxn id="4124" idx="5"/>
            <a:endCxn id="4126"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131" name="Google Shape;4131;p258"/>
          <p:cNvCxnSpPr>
            <a:stCxn id="4126" idx="2"/>
            <a:endCxn id="4125"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132" name="Google Shape;4132;p258"/>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33" name="Google Shape;4133;p258"/>
          <p:cNvCxnSpPr>
            <a:stCxn id="4132" idx="0"/>
            <a:endCxn id="4125"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134" name="Google Shape;4134;p258"/>
          <p:cNvCxnSpPr>
            <a:stCxn id="4126" idx="3"/>
            <a:endCxn id="4127"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135" name="Google Shape;4135;p258"/>
          <p:cNvCxnSpPr>
            <a:stCxn id="4126" idx="3"/>
            <a:endCxn id="4132"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136" name="Google Shape;4136;p258"/>
          <p:cNvCxnSpPr>
            <a:stCxn id="4124" idx="4"/>
            <a:endCxn id="4132"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137" name="Google Shape;4137;p258"/>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258"/>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258"/>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258"/>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41" name="Google Shape;4141;p258"/>
          <p:cNvCxnSpPr>
            <a:stCxn id="4137" idx="3"/>
            <a:endCxn id="4138"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142" name="Google Shape;4142;p258"/>
          <p:cNvCxnSpPr>
            <a:stCxn id="4140" idx="0"/>
            <a:endCxn id="4138"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143" name="Google Shape;4143;p258"/>
          <p:cNvCxnSpPr>
            <a:stCxn id="4137" idx="5"/>
            <a:endCxn id="4139"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144" name="Google Shape;4144;p258"/>
          <p:cNvCxnSpPr>
            <a:stCxn id="4139" idx="2"/>
            <a:endCxn id="4138"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145" name="Google Shape;4145;p258"/>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46" name="Google Shape;4146;p258"/>
          <p:cNvCxnSpPr>
            <a:stCxn id="4139" idx="3"/>
            <a:endCxn id="4140"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147" name="Google Shape;4147;p258"/>
          <p:cNvCxnSpPr>
            <a:stCxn id="4145" idx="2"/>
            <a:endCxn id="4138"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148" name="Google Shape;4148;p258"/>
          <p:cNvCxnSpPr>
            <a:stCxn id="4145" idx="0"/>
            <a:endCxn id="4137"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149" name="Google Shape;4149;p258"/>
          <p:cNvCxnSpPr>
            <a:stCxn id="4140" idx="6"/>
            <a:endCxn id="4145"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150" name="Google Shape;4150;p258"/>
          <p:cNvCxnSpPr>
            <a:stCxn id="4117" idx="5"/>
            <a:endCxn id="4138"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151" name="Google Shape;4151;p258"/>
          <p:cNvCxnSpPr>
            <a:stCxn id="4117" idx="7"/>
            <a:endCxn id="4127"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152" name="Google Shape;4152;p258"/>
          <p:cNvCxnSpPr>
            <a:stCxn id="4132" idx="3"/>
            <a:endCxn id="4137"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153" name="Google Shape;4153;p258"/>
          <p:cNvCxnSpPr>
            <a:stCxn id="4126" idx="4"/>
            <a:endCxn id="4139"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
        <p:nvSpPr>
          <p:cNvPr id="4154" name="Google Shape;4154;p258"/>
          <p:cNvSpPr txBox="1"/>
          <p:nvPr/>
        </p:nvSpPr>
        <p:spPr>
          <a:xfrm>
            <a:off x="4080750" y="3946850"/>
            <a:ext cx="2289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is a connected graph! :)</a:t>
            </a:r>
            <a:endParaRPr b="1">
              <a:solidFill>
                <a:srgbClr val="FF0000"/>
              </a:solidFill>
            </a:endParaRPr>
          </a:p>
        </p:txBody>
      </p:sp>
      <p:cxnSp>
        <p:nvCxnSpPr>
          <p:cNvPr id="4155" name="Google Shape;4155;p258"/>
          <p:cNvCxnSpPr>
            <a:stCxn id="4154" idx="0"/>
          </p:cNvCxnSpPr>
          <p:nvPr/>
        </p:nvCxnSpPr>
        <p:spPr>
          <a:xfrm flipH="1" rot="10800000">
            <a:off x="5225700" y="3297950"/>
            <a:ext cx="1530300" cy="6489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9" name="Shape 4159"/>
        <p:cNvGrpSpPr/>
        <p:nvPr/>
      </p:nvGrpSpPr>
      <p:grpSpPr>
        <a:xfrm>
          <a:off x="0" y="0"/>
          <a:ext cx="0" cy="0"/>
          <a:chOff x="0" y="0"/>
          <a:chExt cx="0" cy="0"/>
        </a:xfrm>
      </p:grpSpPr>
      <p:sp>
        <p:nvSpPr>
          <p:cNvPr id="4160" name="Google Shape;4160;p2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161" name="Google Shape;4161;p259"/>
          <p:cNvSpPr txBox="1"/>
          <p:nvPr>
            <p:ph idx="1" type="body"/>
          </p:nvPr>
        </p:nvSpPr>
        <p:spPr>
          <a:xfrm>
            <a:off x="311700" y="1225225"/>
            <a:ext cx="463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graph is </a:t>
            </a:r>
            <a:r>
              <a:rPr b="1" lang="en"/>
              <a:t>connected</a:t>
            </a:r>
            <a:r>
              <a:rPr lang="en"/>
              <a:t> if there exists a (finite) path between each pair of nodes</a:t>
            </a:r>
            <a:endParaRPr/>
          </a:p>
          <a:p>
            <a:pPr indent="-317500" lvl="1" marL="914400" rtl="0" algn="l">
              <a:spcBef>
                <a:spcPts val="0"/>
              </a:spcBef>
              <a:spcAft>
                <a:spcPts val="0"/>
              </a:spcAft>
              <a:buSzPts val="1400"/>
              <a:buChar char="○"/>
            </a:pPr>
            <a:r>
              <a:rPr lang="en"/>
              <a:t>Otherwise the graph is </a:t>
            </a:r>
            <a:r>
              <a:rPr b="1" lang="en"/>
              <a:t>disconnected</a:t>
            </a:r>
            <a:endParaRPr b="1"/>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
        <p:nvSpPr>
          <p:cNvPr id="4162" name="Google Shape;4162;p259"/>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259"/>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259"/>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259"/>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66" name="Google Shape;4166;p259"/>
          <p:cNvCxnSpPr>
            <a:stCxn id="4162" idx="3"/>
            <a:endCxn id="4163"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167" name="Google Shape;4167;p259"/>
          <p:cNvCxnSpPr>
            <a:stCxn id="4165" idx="1"/>
            <a:endCxn id="4163"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168" name="Google Shape;4168;p259"/>
          <p:cNvCxnSpPr>
            <a:stCxn id="4162" idx="4"/>
            <a:endCxn id="4165"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169" name="Google Shape;4169;p259"/>
          <p:cNvCxnSpPr>
            <a:stCxn id="4162" idx="5"/>
            <a:endCxn id="4164"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170" name="Google Shape;4170;p259"/>
          <p:cNvCxnSpPr>
            <a:stCxn id="4164" idx="2"/>
            <a:endCxn id="4163"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171" name="Google Shape;4171;p259"/>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259"/>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259"/>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259"/>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75" name="Google Shape;4175;p259"/>
          <p:cNvCxnSpPr>
            <a:stCxn id="4171" idx="3"/>
            <a:endCxn id="417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176" name="Google Shape;4176;p259"/>
          <p:cNvCxnSpPr>
            <a:stCxn id="4174" idx="0"/>
            <a:endCxn id="417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177" name="Google Shape;4177;p259"/>
          <p:cNvCxnSpPr>
            <a:stCxn id="4171" idx="5"/>
            <a:endCxn id="417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178" name="Google Shape;4178;p259"/>
          <p:cNvCxnSpPr>
            <a:stCxn id="4173" idx="2"/>
            <a:endCxn id="417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179" name="Google Shape;4179;p259"/>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80" name="Google Shape;4180;p259"/>
          <p:cNvCxnSpPr>
            <a:stCxn id="4179" idx="0"/>
            <a:endCxn id="417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181" name="Google Shape;4181;p259"/>
          <p:cNvCxnSpPr>
            <a:stCxn id="4173" idx="3"/>
            <a:endCxn id="417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182" name="Google Shape;4182;p259"/>
          <p:cNvCxnSpPr>
            <a:stCxn id="4173" idx="3"/>
            <a:endCxn id="417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183" name="Google Shape;4183;p259"/>
          <p:cNvCxnSpPr>
            <a:stCxn id="4171" idx="4"/>
            <a:endCxn id="417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184" name="Google Shape;4184;p259"/>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259"/>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259"/>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259"/>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88" name="Google Shape;4188;p259"/>
          <p:cNvCxnSpPr>
            <a:stCxn id="4184" idx="3"/>
            <a:endCxn id="4185"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189" name="Google Shape;4189;p259"/>
          <p:cNvCxnSpPr>
            <a:stCxn id="4187" idx="0"/>
            <a:endCxn id="4185"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190" name="Google Shape;4190;p259"/>
          <p:cNvCxnSpPr>
            <a:stCxn id="4184" idx="5"/>
            <a:endCxn id="4186"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191" name="Google Shape;4191;p259"/>
          <p:cNvCxnSpPr>
            <a:stCxn id="4186" idx="2"/>
            <a:endCxn id="4185"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192" name="Google Shape;4192;p259"/>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93" name="Google Shape;4193;p259"/>
          <p:cNvCxnSpPr>
            <a:stCxn id="4186" idx="3"/>
            <a:endCxn id="4187"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194" name="Google Shape;4194;p259"/>
          <p:cNvCxnSpPr>
            <a:stCxn id="4192" idx="2"/>
            <a:endCxn id="4185"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195" name="Google Shape;4195;p259"/>
          <p:cNvCxnSpPr>
            <a:stCxn id="4192" idx="0"/>
            <a:endCxn id="4184"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196" name="Google Shape;4196;p259"/>
          <p:cNvCxnSpPr>
            <a:stCxn id="4187" idx="6"/>
            <a:endCxn id="4192"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sp>
        <p:nvSpPr>
          <p:cNvPr id="4197" name="Google Shape;4197;p259"/>
          <p:cNvSpPr txBox="1"/>
          <p:nvPr/>
        </p:nvSpPr>
        <p:spPr>
          <a:xfrm>
            <a:off x="4080750" y="3946850"/>
            <a:ext cx="2289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graph is disconnected :(</a:t>
            </a:r>
            <a:endParaRPr b="1">
              <a:solidFill>
                <a:srgbClr val="FF0000"/>
              </a:solidFill>
            </a:endParaRPr>
          </a:p>
        </p:txBody>
      </p:sp>
      <p:cxnSp>
        <p:nvCxnSpPr>
          <p:cNvPr id="4198" name="Google Shape;4198;p259"/>
          <p:cNvCxnSpPr>
            <a:stCxn id="4197" idx="0"/>
          </p:cNvCxnSpPr>
          <p:nvPr/>
        </p:nvCxnSpPr>
        <p:spPr>
          <a:xfrm flipH="1" rot="10800000">
            <a:off x="5225700" y="3297950"/>
            <a:ext cx="1530300" cy="6489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2" name="Shape 4202"/>
        <p:cNvGrpSpPr/>
        <p:nvPr/>
      </p:nvGrpSpPr>
      <p:grpSpPr>
        <a:xfrm>
          <a:off x="0" y="0"/>
          <a:ext cx="0" cy="0"/>
          <a:chOff x="0" y="0"/>
          <a:chExt cx="0" cy="0"/>
        </a:xfrm>
      </p:grpSpPr>
      <p:sp>
        <p:nvSpPr>
          <p:cNvPr id="4203" name="Google Shape;4203;p2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Components</a:t>
            </a:r>
            <a:endParaRPr/>
          </a:p>
        </p:txBody>
      </p:sp>
      <p:sp>
        <p:nvSpPr>
          <p:cNvPr id="4204" name="Google Shape;4204;p260"/>
          <p:cNvSpPr txBox="1"/>
          <p:nvPr>
            <p:ph idx="1" type="body"/>
          </p:nvPr>
        </p:nvSpPr>
        <p:spPr>
          <a:xfrm>
            <a:off x="311700" y="1225225"/>
            <a:ext cx="4815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graph is </a:t>
            </a:r>
            <a:r>
              <a:rPr b="1" lang="en"/>
              <a:t>connected</a:t>
            </a:r>
            <a:r>
              <a:rPr lang="en"/>
              <a:t> if there exists a (finite) path between each pair of nodes</a:t>
            </a:r>
            <a:endParaRPr/>
          </a:p>
          <a:p>
            <a:pPr indent="-317500" lvl="1" marL="914400" rtl="0" algn="l">
              <a:spcBef>
                <a:spcPts val="0"/>
              </a:spcBef>
              <a:spcAft>
                <a:spcPts val="0"/>
              </a:spcAft>
              <a:buSzPts val="1400"/>
              <a:buChar char="○"/>
            </a:pPr>
            <a:r>
              <a:rPr lang="en"/>
              <a:t>Otherwise the graph is </a:t>
            </a:r>
            <a:r>
              <a:rPr b="1" lang="en"/>
              <a:t>disconnected</a:t>
            </a:r>
            <a:endParaRPr b="1"/>
          </a:p>
          <a:p>
            <a:pPr indent="-342900" lvl="0" marL="457200" rtl="0" algn="l">
              <a:spcBef>
                <a:spcPts val="0"/>
              </a:spcBef>
              <a:spcAft>
                <a:spcPts val="0"/>
              </a:spcAft>
              <a:buSzPts val="1800"/>
              <a:buChar char="●"/>
            </a:pPr>
            <a:r>
              <a:rPr lang="en"/>
              <a:t>A maximal connected subgraph is called a </a:t>
            </a:r>
            <a:r>
              <a:rPr b="1" lang="en"/>
              <a:t>component</a:t>
            </a:r>
            <a:endParaRPr b="1"/>
          </a:p>
          <a:p>
            <a:pPr indent="-317500" lvl="1" marL="914400" rtl="0" algn="l">
              <a:spcBef>
                <a:spcPts val="0"/>
              </a:spcBef>
              <a:spcAft>
                <a:spcPts val="0"/>
              </a:spcAft>
              <a:buSzPts val="1400"/>
              <a:buChar char="○"/>
            </a:pPr>
            <a:r>
              <a:rPr lang="en"/>
              <a:t>If a graph has more than one component it is by definition disconnected</a:t>
            </a:r>
            <a:endParaRPr/>
          </a:p>
          <a:p>
            <a:pPr indent="0" lvl="0" marL="0" rtl="0" algn="l">
              <a:spcBef>
                <a:spcPts val="0"/>
              </a:spcBef>
              <a:spcAft>
                <a:spcPts val="0"/>
              </a:spcAft>
              <a:buNone/>
            </a:pPr>
            <a:r>
              <a:t/>
            </a:r>
            <a:endParaRPr/>
          </a:p>
        </p:txBody>
      </p:sp>
      <p:sp>
        <p:nvSpPr>
          <p:cNvPr id="4205" name="Google Shape;4205;p260"/>
          <p:cNvSpPr txBox="1"/>
          <p:nvPr/>
        </p:nvSpPr>
        <p:spPr>
          <a:xfrm>
            <a:off x="4532875" y="4178300"/>
            <a:ext cx="22815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rPr>
              <a:t>These are two different components</a:t>
            </a:r>
            <a:endParaRPr b="1">
              <a:solidFill>
                <a:srgbClr val="FF0000"/>
              </a:solidFill>
            </a:endParaRPr>
          </a:p>
        </p:txBody>
      </p:sp>
      <p:cxnSp>
        <p:nvCxnSpPr>
          <p:cNvPr id="4206" name="Google Shape;4206;p260"/>
          <p:cNvCxnSpPr>
            <a:stCxn id="4205" idx="0"/>
          </p:cNvCxnSpPr>
          <p:nvPr/>
        </p:nvCxnSpPr>
        <p:spPr>
          <a:xfrm flipH="1" rot="10800000">
            <a:off x="5673625" y="3440600"/>
            <a:ext cx="241500" cy="737700"/>
          </a:xfrm>
          <a:prstGeom prst="straightConnector1">
            <a:avLst/>
          </a:prstGeom>
          <a:noFill/>
          <a:ln cap="flat" cmpd="sng" w="19050">
            <a:solidFill>
              <a:srgbClr val="FF0000"/>
            </a:solidFill>
            <a:prstDash val="solid"/>
            <a:round/>
            <a:headEnd len="med" w="med" type="none"/>
            <a:tailEnd len="med" w="med" type="triangle"/>
          </a:ln>
        </p:spPr>
      </p:cxnSp>
      <p:cxnSp>
        <p:nvCxnSpPr>
          <p:cNvPr id="4207" name="Google Shape;4207;p260"/>
          <p:cNvCxnSpPr>
            <a:stCxn id="4205" idx="0"/>
          </p:cNvCxnSpPr>
          <p:nvPr/>
        </p:nvCxnSpPr>
        <p:spPr>
          <a:xfrm flipH="1" rot="10800000">
            <a:off x="5673625" y="2611100"/>
            <a:ext cx="1951800" cy="1567200"/>
          </a:xfrm>
          <a:prstGeom prst="straightConnector1">
            <a:avLst/>
          </a:prstGeom>
          <a:noFill/>
          <a:ln cap="flat" cmpd="sng" w="19050">
            <a:solidFill>
              <a:srgbClr val="FF0000"/>
            </a:solidFill>
            <a:prstDash val="solid"/>
            <a:round/>
            <a:headEnd len="med" w="med" type="none"/>
            <a:tailEnd len="med" w="med" type="triangle"/>
          </a:ln>
        </p:spPr>
      </p:cxnSp>
      <p:grpSp>
        <p:nvGrpSpPr>
          <p:cNvPr id="4208" name="Google Shape;4208;p260"/>
          <p:cNvGrpSpPr/>
          <p:nvPr/>
        </p:nvGrpSpPr>
        <p:grpSpPr>
          <a:xfrm>
            <a:off x="5370463" y="653813"/>
            <a:ext cx="3384048" cy="4016267"/>
            <a:chOff x="5370463" y="653813"/>
            <a:chExt cx="3384048" cy="4016267"/>
          </a:xfrm>
        </p:grpSpPr>
        <p:sp>
          <p:nvSpPr>
            <p:cNvPr id="4209" name="Google Shape;4209;p260"/>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260"/>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260"/>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260"/>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13" name="Google Shape;4213;p260"/>
            <p:cNvCxnSpPr>
              <a:stCxn id="4209" idx="3"/>
              <a:endCxn id="4210"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214" name="Google Shape;4214;p260"/>
            <p:cNvCxnSpPr>
              <a:stCxn id="4212" idx="1"/>
              <a:endCxn id="4210"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215" name="Google Shape;4215;p260"/>
            <p:cNvCxnSpPr>
              <a:stCxn id="4209" idx="4"/>
              <a:endCxn id="4212"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216" name="Google Shape;4216;p260"/>
            <p:cNvCxnSpPr>
              <a:stCxn id="4209" idx="5"/>
              <a:endCxn id="4211"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217" name="Google Shape;4217;p260"/>
            <p:cNvCxnSpPr>
              <a:stCxn id="4211" idx="2"/>
              <a:endCxn id="4210"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218" name="Google Shape;4218;p260"/>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260"/>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260"/>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260"/>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2" name="Google Shape;4222;p260"/>
            <p:cNvCxnSpPr>
              <a:stCxn id="4218" idx="3"/>
              <a:endCxn id="4219"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223" name="Google Shape;4223;p260"/>
            <p:cNvCxnSpPr>
              <a:stCxn id="4221" idx="0"/>
              <a:endCxn id="4219"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224" name="Google Shape;4224;p260"/>
            <p:cNvCxnSpPr>
              <a:stCxn id="4218" idx="5"/>
              <a:endCxn id="4220"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225" name="Google Shape;4225;p260"/>
            <p:cNvCxnSpPr>
              <a:stCxn id="4220" idx="2"/>
              <a:endCxn id="4219"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226" name="Google Shape;4226;p260"/>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7" name="Google Shape;4227;p260"/>
            <p:cNvCxnSpPr>
              <a:stCxn id="4226" idx="0"/>
              <a:endCxn id="4219"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228" name="Google Shape;4228;p260"/>
            <p:cNvCxnSpPr>
              <a:stCxn id="4220" idx="3"/>
              <a:endCxn id="4221"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229" name="Google Shape;4229;p260"/>
            <p:cNvCxnSpPr>
              <a:stCxn id="4220" idx="3"/>
              <a:endCxn id="4226"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230" name="Google Shape;4230;p260"/>
            <p:cNvCxnSpPr>
              <a:stCxn id="4218" idx="4"/>
              <a:endCxn id="4226"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231" name="Google Shape;4231;p260"/>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260"/>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260"/>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260"/>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35" name="Google Shape;4235;p260"/>
            <p:cNvCxnSpPr>
              <a:stCxn id="4231" idx="3"/>
              <a:endCxn id="4232"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236" name="Google Shape;4236;p260"/>
            <p:cNvCxnSpPr>
              <a:stCxn id="4234" idx="0"/>
              <a:endCxn id="4232"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237" name="Google Shape;4237;p260"/>
            <p:cNvCxnSpPr>
              <a:stCxn id="4231" idx="5"/>
              <a:endCxn id="4233"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238" name="Google Shape;4238;p260"/>
            <p:cNvCxnSpPr>
              <a:stCxn id="4233" idx="2"/>
              <a:endCxn id="4232"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239" name="Google Shape;4239;p260"/>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0" name="Google Shape;4240;p260"/>
            <p:cNvCxnSpPr>
              <a:stCxn id="4233" idx="3"/>
              <a:endCxn id="4234"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241" name="Google Shape;4241;p260"/>
            <p:cNvCxnSpPr>
              <a:stCxn id="4239" idx="2"/>
              <a:endCxn id="4232"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242" name="Google Shape;4242;p260"/>
            <p:cNvCxnSpPr>
              <a:stCxn id="4239" idx="0"/>
              <a:endCxn id="4231"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243" name="Google Shape;4243;p260"/>
            <p:cNvCxnSpPr>
              <a:stCxn id="4234" idx="6"/>
              <a:endCxn id="4239"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244" name="Google Shape;4244;p260"/>
            <p:cNvCxnSpPr>
              <a:stCxn id="4226" idx="3"/>
              <a:endCxn id="4231"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245" name="Google Shape;4245;p260"/>
            <p:cNvCxnSpPr>
              <a:stCxn id="4220" idx="4"/>
              <a:endCxn id="4233"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9" name="Shape 4249"/>
        <p:cNvGrpSpPr/>
        <p:nvPr/>
      </p:nvGrpSpPr>
      <p:grpSpPr>
        <a:xfrm>
          <a:off x="0" y="0"/>
          <a:ext cx="0" cy="0"/>
          <a:chOff x="0" y="0"/>
          <a:chExt cx="0" cy="0"/>
        </a:xfrm>
      </p:grpSpPr>
      <p:sp>
        <p:nvSpPr>
          <p:cNvPr id="4250" name="Google Shape;4250;p2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Components</a:t>
            </a:r>
            <a:endParaRPr/>
          </a:p>
        </p:txBody>
      </p:sp>
      <p:sp>
        <p:nvSpPr>
          <p:cNvPr id="4251" name="Google Shape;4251;p261"/>
          <p:cNvSpPr txBox="1"/>
          <p:nvPr/>
        </p:nvSpPr>
        <p:spPr>
          <a:xfrm>
            <a:off x="4532875" y="4178300"/>
            <a:ext cx="22815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rPr>
              <a:t>These are three different components</a:t>
            </a:r>
            <a:endParaRPr b="1">
              <a:solidFill>
                <a:srgbClr val="FF0000"/>
              </a:solidFill>
            </a:endParaRPr>
          </a:p>
        </p:txBody>
      </p:sp>
      <p:cxnSp>
        <p:nvCxnSpPr>
          <p:cNvPr id="4252" name="Google Shape;4252;p261"/>
          <p:cNvCxnSpPr>
            <a:stCxn id="4251" idx="0"/>
          </p:cNvCxnSpPr>
          <p:nvPr/>
        </p:nvCxnSpPr>
        <p:spPr>
          <a:xfrm flipH="1" rot="10800000">
            <a:off x="5673625" y="3440600"/>
            <a:ext cx="241500" cy="737700"/>
          </a:xfrm>
          <a:prstGeom prst="straightConnector1">
            <a:avLst/>
          </a:prstGeom>
          <a:noFill/>
          <a:ln cap="flat" cmpd="sng" w="19050">
            <a:solidFill>
              <a:srgbClr val="FF0000"/>
            </a:solidFill>
            <a:prstDash val="solid"/>
            <a:round/>
            <a:headEnd len="med" w="med" type="none"/>
            <a:tailEnd len="med" w="med" type="triangle"/>
          </a:ln>
        </p:spPr>
      </p:cxnSp>
      <p:cxnSp>
        <p:nvCxnSpPr>
          <p:cNvPr id="4253" name="Google Shape;4253;p261"/>
          <p:cNvCxnSpPr>
            <a:stCxn id="4251" idx="0"/>
          </p:cNvCxnSpPr>
          <p:nvPr/>
        </p:nvCxnSpPr>
        <p:spPr>
          <a:xfrm flipH="1" rot="10800000">
            <a:off x="5673625" y="1987400"/>
            <a:ext cx="2003100" cy="2190900"/>
          </a:xfrm>
          <a:prstGeom prst="straightConnector1">
            <a:avLst/>
          </a:prstGeom>
          <a:noFill/>
          <a:ln cap="flat" cmpd="sng" w="19050">
            <a:solidFill>
              <a:srgbClr val="FF0000"/>
            </a:solidFill>
            <a:prstDash val="solid"/>
            <a:round/>
            <a:headEnd len="med" w="med" type="none"/>
            <a:tailEnd len="med" w="med" type="triangle"/>
          </a:ln>
        </p:spPr>
      </p:cxnSp>
      <p:grpSp>
        <p:nvGrpSpPr>
          <p:cNvPr id="4254" name="Google Shape;4254;p261"/>
          <p:cNvGrpSpPr/>
          <p:nvPr/>
        </p:nvGrpSpPr>
        <p:grpSpPr>
          <a:xfrm>
            <a:off x="5370463" y="653813"/>
            <a:ext cx="3384048" cy="4016267"/>
            <a:chOff x="5370463" y="653813"/>
            <a:chExt cx="3384048" cy="4016267"/>
          </a:xfrm>
        </p:grpSpPr>
        <p:sp>
          <p:nvSpPr>
            <p:cNvPr id="4255" name="Google Shape;4255;p261"/>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261"/>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261"/>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261"/>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59" name="Google Shape;4259;p261"/>
            <p:cNvCxnSpPr>
              <a:stCxn id="4255" idx="3"/>
              <a:endCxn id="4256"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260" name="Google Shape;4260;p261"/>
            <p:cNvCxnSpPr>
              <a:stCxn id="4258" idx="1"/>
              <a:endCxn id="4256"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261" name="Google Shape;4261;p261"/>
            <p:cNvCxnSpPr>
              <a:stCxn id="4255" idx="4"/>
              <a:endCxn id="4258"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262" name="Google Shape;4262;p261"/>
            <p:cNvCxnSpPr>
              <a:stCxn id="4255" idx="5"/>
              <a:endCxn id="4257"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263" name="Google Shape;4263;p261"/>
            <p:cNvCxnSpPr>
              <a:stCxn id="4257" idx="2"/>
              <a:endCxn id="4256"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264" name="Google Shape;4264;p261"/>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261"/>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261"/>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261"/>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68" name="Google Shape;4268;p261"/>
            <p:cNvCxnSpPr>
              <a:stCxn id="4264" idx="3"/>
              <a:endCxn id="4265"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269" name="Google Shape;4269;p261"/>
            <p:cNvCxnSpPr>
              <a:stCxn id="4267" idx="0"/>
              <a:endCxn id="4265"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270" name="Google Shape;4270;p261"/>
            <p:cNvCxnSpPr>
              <a:stCxn id="4264" idx="5"/>
              <a:endCxn id="4266"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271" name="Google Shape;4271;p261"/>
            <p:cNvCxnSpPr>
              <a:stCxn id="4266" idx="2"/>
              <a:endCxn id="4265"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272" name="Google Shape;4272;p261"/>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73" name="Google Shape;4273;p261"/>
            <p:cNvCxnSpPr>
              <a:stCxn id="4272" idx="0"/>
              <a:endCxn id="4265"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274" name="Google Shape;4274;p261"/>
            <p:cNvCxnSpPr>
              <a:stCxn id="4266" idx="3"/>
              <a:endCxn id="4267"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275" name="Google Shape;4275;p261"/>
            <p:cNvCxnSpPr>
              <a:stCxn id="4266" idx="3"/>
              <a:endCxn id="4272"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276" name="Google Shape;4276;p261"/>
            <p:cNvCxnSpPr>
              <a:stCxn id="4264" idx="4"/>
              <a:endCxn id="4272"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277" name="Google Shape;4277;p261"/>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261"/>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261"/>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261"/>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81" name="Google Shape;4281;p261"/>
            <p:cNvCxnSpPr>
              <a:stCxn id="4277" idx="3"/>
              <a:endCxn id="4278"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282" name="Google Shape;4282;p261"/>
            <p:cNvCxnSpPr>
              <a:stCxn id="4280" idx="0"/>
              <a:endCxn id="4278"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283" name="Google Shape;4283;p261"/>
            <p:cNvCxnSpPr>
              <a:stCxn id="4277" idx="5"/>
              <a:endCxn id="4279"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284" name="Google Shape;4284;p261"/>
            <p:cNvCxnSpPr>
              <a:stCxn id="4279" idx="2"/>
              <a:endCxn id="4278"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285" name="Google Shape;4285;p261"/>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86" name="Google Shape;4286;p261"/>
            <p:cNvCxnSpPr>
              <a:stCxn id="4279" idx="3"/>
              <a:endCxn id="4280"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287" name="Google Shape;4287;p261"/>
            <p:cNvCxnSpPr>
              <a:stCxn id="4285" idx="2"/>
              <a:endCxn id="4278"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288" name="Google Shape;4288;p261"/>
            <p:cNvCxnSpPr>
              <a:stCxn id="4285" idx="0"/>
              <a:endCxn id="4277"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289" name="Google Shape;4289;p261"/>
            <p:cNvCxnSpPr>
              <a:stCxn id="4280" idx="6"/>
              <a:endCxn id="4285"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cxnSp>
        <p:nvCxnSpPr>
          <p:cNvPr id="4290" name="Google Shape;4290;p261"/>
          <p:cNvCxnSpPr>
            <a:stCxn id="4251" idx="0"/>
          </p:cNvCxnSpPr>
          <p:nvPr/>
        </p:nvCxnSpPr>
        <p:spPr>
          <a:xfrm flipH="1" rot="10800000">
            <a:off x="5673625" y="3890600"/>
            <a:ext cx="1450200" cy="287700"/>
          </a:xfrm>
          <a:prstGeom prst="straightConnector1">
            <a:avLst/>
          </a:prstGeom>
          <a:noFill/>
          <a:ln cap="flat" cmpd="sng" w="19050">
            <a:solidFill>
              <a:srgbClr val="FF0000"/>
            </a:solidFill>
            <a:prstDash val="solid"/>
            <a:round/>
            <a:headEnd len="med" w="med" type="none"/>
            <a:tailEnd len="med" w="med" type="triangle"/>
          </a:ln>
        </p:spPr>
      </p:cxnSp>
      <p:sp>
        <p:nvSpPr>
          <p:cNvPr id="4291" name="Google Shape;4291;p261"/>
          <p:cNvSpPr txBox="1"/>
          <p:nvPr/>
        </p:nvSpPr>
        <p:spPr>
          <a:xfrm>
            <a:off x="311700" y="1225225"/>
            <a:ext cx="4815300" cy="3354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000000"/>
              </a:buClr>
              <a:buSzPts val="1800"/>
              <a:buFont typeface="Open Sans"/>
              <a:buChar char="●"/>
            </a:pPr>
            <a:r>
              <a:rPr lang="en" sz="1800">
                <a:solidFill>
                  <a:srgbClr val="000000"/>
                </a:solidFill>
                <a:latin typeface="Open Sans"/>
                <a:ea typeface="Open Sans"/>
                <a:cs typeface="Open Sans"/>
                <a:sym typeface="Open Sans"/>
              </a:rPr>
              <a:t>A graph is </a:t>
            </a:r>
            <a:r>
              <a:rPr b="1" lang="en" sz="1800">
                <a:solidFill>
                  <a:srgbClr val="000000"/>
                </a:solidFill>
                <a:latin typeface="Open Sans"/>
                <a:ea typeface="Open Sans"/>
                <a:cs typeface="Open Sans"/>
                <a:sym typeface="Open Sans"/>
              </a:rPr>
              <a:t>connected</a:t>
            </a:r>
            <a:r>
              <a:rPr lang="en" sz="1800">
                <a:solidFill>
                  <a:srgbClr val="000000"/>
                </a:solidFill>
                <a:latin typeface="Open Sans"/>
                <a:ea typeface="Open Sans"/>
                <a:cs typeface="Open Sans"/>
                <a:sym typeface="Open Sans"/>
              </a:rPr>
              <a:t> if there exists a (finite) path between each pair of nodes</a:t>
            </a:r>
            <a:endParaRPr sz="1800">
              <a:solidFill>
                <a:srgbClr val="000000"/>
              </a:solidFill>
              <a:latin typeface="Open Sans"/>
              <a:ea typeface="Open Sans"/>
              <a:cs typeface="Open Sans"/>
              <a:sym typeface="Open Sans"/>
            </a:endParaRPr>
          </a:p>
          <a:p>
            <a:pPr indent="-317500" lvl="1" marL="914400" rtl="0" algn="l">
              <a:lnSpc>
                <a:spcPct val="115000"/>
              </a:lnSpc>
              <a:spcBef>
                <a:spcPts val="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Otherwise the graph is </a:t>
            </a:r>
            <a:r>
              <a:rPr b="1" lang="en">
                <a:solidFill>
                  <a:srgbClr val="000000"/>
                </a:solidFill>
                <a:latin typeface="Open Sans"/>
                <a:ea typeface="Open Sans"/>
                <a:cs typeface="Open Sans"/>
                <a:sym typeface="Open Sans"/>
              </a:rPr>
              <a:t>disconnected</a:t>
            </a:r>
            <a:endParaRPr b="1">
              <a:solidFill>
                <a:srgbClr val="000000"/>
              </a:solidFill>
              <a:latin typeface="Open Sans"/>
              <a:ea typeface="Open Sans"/>
              <a:cs typeface="Open Sans"/>
              <a:sym typeface="Open Sans"/>
            </a:endParaRPr>
          </a:p>
          <a:p>
            <a:pPr indent="-342900" lvl="0" marL="457200" rtl="0" algn="l">
              <a:lnSpc>
                <a:spcPct val="115000"/>
              </a:lnSpc>
              <a:spcBef>
                <a:spcPts val="0"/>
              </a:spcBef>
              <a:spcAft>
                <a:spcPts val="0"/>
              </a:spcAft>
              <a:buClr>
                <a:srgbClr val="000000"/>
              </a:buClr>
              <a:buSzPts val="1800"/>
              <a:buFont typeface="Open Sans"/>
              <a:buChar char="●"/>
            </a:pPr>
            <a:r>
              <a:rPr lang="en" sz="1800">
                <a:solidFill>
                  <a:srgbClr val="000000"/>
                </a:solidFill>
                <a:latin typeface="Open Sans"/>
                <a:ea typeface="Open Sans"/>
                <a:cs typeface="Open Sans"/>
                <a:sym typeface="Open Sans"/>
              </a:rPr>
              <a:t>A maximal connected subgraph is called a </a:t>
            </a:r>
            <a:r>
              <a:rPr b="1" lang="en" sz="1800">
                <a:solidFill>
                  <a:srgbClr val="000000"/>
                </a:solidFill>
                <a:latin typeface="Open Sans"/>
                <a:ea typeface="Open Sans"/>
                <a:cs typeface="Open Sans"/>
                <a:sym typeface="Open Sans"/>
              </a:rPr>
              <a:t>component</a:t>
            </a:r>
            <a:endParaRPr b="1" sz="1800">
              <a:solidFill>
                <a:srgbClr val="000000"/>
              </a:solidFill>
              <a:latin typeface="Open Sans"/>
              <a:ea typeface="Open Sans"/>
              <a:cs typeface="Open Sans"/>
              <a:sym typeface="Open Sans"/>
            </a:endParaRPr>
          </a:p>
          <a:p>
            <a:pPr indent="-317500" lvl="1" marL="914400" rtl="0" algn="l">
              <a:lnSpc>
                <a:spcPct val="115000"/>
              </a:lnSpc>
              <a:spcBef>
                <a:spcPts val="0"/>
              </a:spcBef>
              <a:spcAft>
                <a:spcPts val="0"/>
              </a:spcAft>
              <a:buClr>
                <a:srgbClr val="000000"/>
              </a:buClr>
              <a:buSzPts val="1400"/>
              <a:buFont typeface="Open Sans"/>
              <a:buChar char="○"/>
            </a:pPr>
            <a:r>
              <a:rPr lang="en">
                <a:solidFill>
                  <a:srgbClr val="000000"/>
                </a:solidFill>
                <a:latin typeface="Open Sans"/>
                <a:ea typeface="Open Sans"/>
                <a:cs typeface="Open Sans"/>
                <a:sym typeface="Open Sans"/>
              </a:rPr>
              <a:t>If a graph has more than one component it is by definition disconnected</a:t>
            </a:r>
            <a:endParaRPr>
              <a:solidFill>
                <a:srgbClr val="000000"/>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a:latin typeface="Open Sans"/>
              <a:ea typeface="Open Sans"/>
              <a:cs typeface="Open Sans"/>
              <a:sym typeface="Open Sans"/>
            </a:endParaRPr>
          </a:p>
          <a:p>
            <a:pPr indent="0" lvl="0" marL="0" rtl="0" algn="l">
              <a:lnSpc>
                <a:spcPct val="115000"/>
              </a:lnSpc>
              <a:spcBef>
                <a:spcPts val="0"/>
              </a:spcBef>
              <a:spcAft>
                <a:spcPts val="0"/>
              </a:spcAft>
              <a:buNone/>
            </a:pPr>
            <a:r>
              <a:t/>
            </a:r>
            <a:endParaRPr sz="1800">
              <a:solidFill>
                <a:srgbClr val="000000"/>
              </a:solidFill>
              <a:latin typeface="Open Sans"/>
              <a:ea typeface="Open Sans"/>
              <a:cs typeface="Open Sans"/>
              <a:sym typeface="Open Sans"/>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5" name="Shape 4295"/>
        <p:cNvGrpSpPr/>
        <p:nvPr/>
      </p:nvGrpSpPr>
      <p:grpSpPr>
        <a:xfrm>
          <a:off x="0" y="0"/>
          <a:ext cx="0" cy="0"/>
          <a:chOff x="0" y="0"/>
          <a:chExt cx="0" cy="0"/>
        </a:xfrm>
      </p:grpSpPr>
      <p:sp>
        <p:nvSpPr>
          <p:cNvPr id="4296" name="Google Shape;4296;p2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Components</a:t>
            </a:r>
            <a:endParaRPr/>
          </a:p>
        </p:txBody>
      </p:sp>
      <p:sp>
        <p:nvSpPr>
          <p:cNvPr id="4297" name="Google Shape;4297;p262"/>
          <p:cNvSpPr txBox="1"/>
          <p:nvPr/>
        </p:nvSpPr>
        <p:spPr>
          <a:xfrm>
            <a:off x="5599850" y="3934375"/>
            <a:ext cx="1417800" cy="8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is the giant component!</a:t>
            </a:r>
            <a:endParaRPr b="1">
              <a:solidFill>
                <a:srgbClr val="FF0000"/>
              </a:solidFill>
            </a:endParaRPr>
          </a:p>
        </p:txBody>
      </p:sp>
      <p:cxnSp>
        <p:nvCxnSpPr>
          <p:cNvPr id="4298" name="Google Shape;4298;p262"/>
          <p:cNvCxnSpPr>
            <a:stCxn id="4297" idx="0"/>
          </p:cNvCxnSpPr>
          <p:nvPr/>
        </p:nvCxnSpPr>
        <p:spPr>
          <a:xfrm flipH="1" rot="10800000">
            <a:off x="6308750" y="2623975"/>
            <a:ext cx="1348800" cy="1310400"/>
          </a:xfrm>
          <a:prstGeom prst="straightConnector1">
            <a:avLst/>
          </a:prstGeom>
          <a:noFill/>
          <a:ln cap="flat" cmpd="sng" w="19050">
            <a:solidFill>
              <a:srgbClr val="FF0000"/>
            </a:solidFill>
            <a:prstDash val="solid"/>
            <a:round/>
            <a:headEnd len="med" w="med" type="none"/>
            <a:tailEnd len="med" w="med" type="triangle"/>
          </a:ln>
        </p:spPr>
      </p:cxnSp>
      <p:sp>
        <p:nvSpPr>
          <p:cNvPr id="4299" name="Google Shape;4299;p262"/>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262"/>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262"/>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262"/>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03" name="Google Shape;4303;p262"/>
          <p:cNvCxnSpPr>
            <a:stCxn id="4299" idx="3"/>
            <a:endCxn id="4300"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304" name="Google Shape;4304;p262"/>
          <p:cNvCxnSpPr>
            <a:stCxn id="4302" idx="1"/>
            <a:endCxn id="4300"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305" name="Google Shape;4305;p262"/>
          <p:cNvCxnSpPr>
            <a:stCxn id="4299" idx="4"/>
            <a:endCxn id="4302"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306" name="Google Shape;4306;p262"/>
          <p:cNvCxnSpPr>
            <a:stCxn id="4299" idx="5"/>
            <a:endCxn id="4301"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307" name="Google Shape;4307;p262"/>
          <p:cNvCxnSpPr>
            <a:stCxn id="4301" idx="2"/>
            <a:endCxn id="4300"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308" name="Google Shape;4308;p262"/>
          <p:cNvSpPr/>
          <p:nvPr/>
        </p:nvSpPr>
        <p:spPr>
          <a:xfrm>
            <a:off x="7820950" y="6538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262"/>
          <p:cNvSpPr/>
          <p:nvPr/>
        </p:nvSpPr>
        <p:spPr>
          <a:xfrm>
            <a:off x="7200175" y="9267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262"/>
          <p:cNvSpPr/>
          <p:nvPr/>
        </p:nvSpPr>
        <p:spPr>
          <a:xfrm>
            <a:off x="8181075" y="123798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262"/>
          <p:cNvSpPr/>
          <p:nvPr/>
        </p:nvSpPr>
        <p:spPr>
          <a:xfrm>
            <a:off x="7246000" y="14947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12" name="Google Shape;4312;p262"/>
          <p:cNvCxnSpPr>
            <a:stCxn id="4308" idx="3"/>
            <a:endCxn id="4309" idx="7"/>
          </p:cNvCxnSpPr>
          <p:nvPr/>
        </p:nvCxnSpPr>
        <p:spPr>
          <a:xfrm flipH="1">
            <a:off x="7346536" y="800026"/>
            <a:ext cx="499500" cy="151800"/>
          </a:xfrm>
          <a:prstGeom prst="straightConnector1">
            <a:avLst/>
          </a:prstGeom>
          <a:noFill/>
          <a:ln cap="flat" cmpd="sng" w="19050">
            <a:solidFill>
              <a:srgbClr val="FF0000"/>
            </a:solidFill>
            <a:prstDash val="solid"/>
            <a:round/>
            <a:headEnd len="med" w="med" type="none"/>
            <a:tailEnd len="med" w="med" type="none"/>
          </a:ln>
        </p:spPr>
      </p:cxnSp>
      <p:cxnSp>
        <p:nvCxnSpPr>
          <p:cNvPr id="4313" name="Google Shape;4313;p262"/>
          <p:cNvCxnSpPr>
            <a:stCxn id="4311" idx="0"/>
            <a:endCxn id="4309" idx="4"/>
          </p:cNvCxnSpPr>
          <p:nvPr/>
        </p:nvCxnSpPr>
        <p:spPr>
          <a:xfrm rot="10800000">
            <a:off x="7285750" y="1098113"/>
            <a:ext cx="45900" cy="396600"/>
          </a:xfrm>
          <a:prstGeom prst="straightConnector1">
            <a:avLst/>
          </a:prstGeom>
          <a:noFill/>
          <a:ln cap="flat" cmpd="sng" w="19050">
            <a:solidFill>
              <a:srgbClr val="FF0000"/>
            </a:solidFill>
            <a:prstDash val="solid"/>
            <a:round/>
            <a:headEnd len="med" w="med" type="none"/>
            <a:tailEnd len="med" w="med" type="none"/>
          </a:ln>
        </p:spPr>
      </p:cxnSp>
      <p:cxnSp>
        <p:nvCxnSpPr>
          <p:cNvPr id="4314" name="Google Shape;4314;p262"/>
          <p:cNvCxnSpPr>
            <a:stCxn id="4308" idx="5"/>
            <a:endCxn id="4310" idx="1"/>
          </p:cNvCxnSpPr>
          <p:nvPr/>
        </p:nvCxnSpPr>
        <p:spPr>
          <a:xfrm>
            <a:off x="7967164" y="800026"/>
            <a:ext cx="239100" cy="462900"/>
          </a:xfrm>
          <a:prstGeom prst="straightConnector1">
            <a:avLst/>
          </a:prstGeom>
          <a:noFill/>
          <a:ln cap="flat" cmpd="sng" w="19050">
            <a:solidFill>
              <a:srgbClr val="FF0000"/>
            </a:solidFill>
            <a:prstDash val="solid"/>
            <a:round/>
            <a:headEnd len="med" w="med" type="none"/>
            <a:tailEnd len="med" w="med" type="none"/>
          </a:ln>
        </p:spPr>
      </p:cxnSp>
      <p:cxnSp>
        <p:nvCxnSpPr>
          <p:cNvPr id="4315" name="Google Shape;4315;p262"/>
          <p:cNvCxnSpPr>
            <a:stCxn id="4310" idx="2"/>
            <a:endCxn id="4309" idx="6"/>
          </p:cNvCxnSpPr>
          <p:nvPr/>
        </p:nvCxnSpPr>
        <p:spPr>
          <a:xfrm rot="10800000">
            <a:off x="7371375" y="1012538"/>
            <a:ext cx="809700" cy="311100"/>
          </a:xfrm>
          <a:prstGeom prst="straightConnector1">
            <a:avLst/>
          </a:prstGeom>
          <a:noFill/>
          <a:ln cap="flat" cmpd="sng" w="19050">
            <a:solidFill>
              <a:srgbClr val="FF0000"/>
            </a:solidFill>
            <a:prstDash val="solid"/>
            <a:round/>
            <a:headEnd len="med" w="med" type="none"/>
            <a:tailEnd len="med" w="med" type="none"/>
          </a:ln>
        </p:spPr>
      </p:cxnSp>
      <p:sp>
        <p:nvSpPr>
          <p:cNvPr id="4316" name="Google Shape;4316;p262"/>
          <p:cNvSpPr/>
          <p:nvPr/>
        </p:nvSpPr>
        <p:spPr>
          <a:xfrm>
            <a:off x="7820950" y="1806138"/>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17" name="Google Shape;4317;p262"/>
          <p:cNvCxnSpPr>
            <a:stCxn id="4316" idx="0"/>
            <a:endCxn id="4309" idx="6"/>
          </p:cNvCxnSpPr>
          <p:nvPr/>
        </p:nvCxnSpPr>
        <p:spPr>
          <a:xfrm rot="10800000">
            <a:off x="7371400" y="1012338"/>
            <a:ext cx="535200" cy="793800"/>
          </a:xfrm>
          <a:prstGeom prst="straightConnector1">
            <a:avLst/>
          </a:prstGeom>
          <a:noFill/>
          <a:ln cap="flat" cmpd="sng" w="19050">
            <a:solidFill>
              <a:srgbClr val="FF0000"/>
            </a:solidFill>
            <a:prstDash val="solid"/>
            <a:round/>
            <a:headEnd len="med" w="med" type="none"/>
            <a:tailEnd len="med" w="med" type="none"/>
          </a:ln>
        </p:spPr>
      </p:cxnSp>
      <p:cxnSp>
        <p:nvCxnSpPr>
          <p:cNvPr id="4318" name="Google Shape;4318;p262"/>
          <p:cNvCxnSpPr>
            <a:stCxn id="4310" idx="3"/>
            <a:endCxn id="4311" idx="6"/>
          </p:cNvCxnSpPr>
          <p:nvPr/>
        </p:nvCxnSpPr>
        <p:spPr>
          <a:xfrm flipH="1">
            <a:off x="7417161" y="1384201"/>
            <a:ext cx="789000" cy="196200"/>
          </a:xfrm>
          <a:prstGeom prst="straightConnector1">
            <a:avLst/>
          </a:prstGeom>
          <a:noFill/>
          <a:ln cap="flat" cmpd="sng" w="19050">
            <a:solidFill>
              <a:srgbClr val="FF0000"/>
            </a:solidFill>
            <a:prstDash val="solid"/>
            <a:round/>
            <a:headEnd len="med" w="med" type="none"/>
            <a:tailEnd len="med" w="med" type="none"/>
          </a:ln>
        </p:spPr>
      </p:cxnSp>
      <p:cxnSp>
        <p:nvCxnSpPr>
          <p:cNvPr id="4319" name="Google Shape;4319;p262"/>
          <p:cNvCxnSpPr>
            <a:stCxn id="4310" idx="3"/>
            <a:endCxn id="4316" idx="1"/>
          </p:cNvCxnSpPr>
          <p:nvPr/>
        </p:nvCxnSpPr>
        <p:spPr>
          <a:xfrm flipH="1">
            <a:off x="7846161" y="1384201"/>
            <a:ext cx="360000" cy="447000"/>
          </a:xfrm>
          <a:prstGeom prst="straightConnector1">
            <a:avLst/>
          </a:prstGeom>
          <a:noFill/>
          <a:ln cap="flat" cmpd="sng" w="19050">
            <a:solidFill>
              <a:srgbClr val="FF0000"/>
            </a:solidFill>
            <a:prstDash val="solid"/>
            <a:round/>
            <a:headEnd len="med" w="med" type="none"/>
            <a:tailEnd len="med" w="med" type="none"/>
          </a:ln>
        </p:spPr>
      </p:cxnSp>
      <p:cxnSp>
        <p:nvCxnSpPr>
          <p:cNvPr id="4320" name="Google Shape;4320;p262"/>
          <p:cNvCxnSpPr>
            <a:stCxn id="4308" idx="4"/>
            <a:endCxn id="4316" idx="0"/>
          </p:cNvCxnSpPr>
          <p:nvPr/>
        </p:nvCxnSpPr>
        <p:spPr>
          <a:xfrm>
            <a:off x="7906600" y="825113"/>
            <a:ext cx="0" cy="981000"/>
          </a:xfrm>
          <a:prstGeom prst="straightConnector1">
            <a:avLst/>
          </a:prstGeom>
          <a:noFill/>
          <a:ln cap="flat" cmpd="sng" w="19050">
            <a:solidFill>
              <a:srgbClr val="FF0000"/>
            </a:solidFill>
            <a:prstDash val="solid"/>
            <a:round/>
            <a:headEnd len="med" w="med" type="none"/>
            <a:tailEnd len="med" w="med" type="none"/>
          </a:ln>
        </p:spPr>
      </p:cxnSp>
      <p:sp>
        <p:nvSpPr>
          <p:cNvPr id="4321" name="Google Shape;4321;p262"/>
          <p:cNvSpPr/>
          <p:nvPr/>
        </p:nvSpPr>
        <p:spPr>
          <a:xfrm rot="-1281263">
            <a:off x="7726111" y="31270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262"/>
          <p:cNvSpPr/>
          <p:nvPr/>
        </p:nvSpPr>
        <p:spPr>
          <a:xfrm rot="-1281263">
            <a:off x="7310069" y="3774485"/>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262"/>
          <p:cNvSpPr/>
          <p:nvPr/>
        </p:nvSpPr>
        <p:spPr>
          <a:xfrm rot="-1281263">
            <a:off x="8557828" y="343973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262"/>
          <p:cNvSpPr/>
          <p:nvPr/>
        </p:nvSpPr>
        <p:spPr>
          <a:xfrm rot="-1281263">
            <a:off x="7726031" y="4473397"/>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25" name="Google Shape;4325;p262"/>
          <p:cNvCxnSpPr>
            <a:stCxn id="4321" idx="3"/>
            <a:endCxn id="4322" idx="7"/>
          </p:cNvCxnSpPr>
          <p:nvPr/>
        </p:nvCxnSpPr>
        <p:spPr>
          <a:xfrm flipH="1">
            <a:off x="7430028" y="3291269"/>
            <a:ext cx="347400" cy="490500"/>
          </a:xfrm>
          <a:prstGeom prst="straightConnector1">
            <a:avLst/>
          </a:prstGeom>
          <a:noFill/>
          <a:ln cap="flat" cmpd="sng" w="19050">
            <a:solidFill>
              <a:srgbClr val="FF0000"/>
            </a:solidFill>
            <a:prstDash val="solid"/>
            <a:round/>
            <a:headEnd len="med" w="med" type="none"/>
            <a:tailEnd len="med" w="med" type="none"/>
          </a:ln>
        </p:spPr>
      </p:cxnSp>
      <p:cxnSp>
        <p:nvCxnSpPr>
          <p:cNvPr id="4326" name="Google Shape;4326;p262"/>
          <p:cNvCxnSpPr>
            <a:stCxn id="4324" idx="0"/>
            <a:endCxn id="4322" idx="4"/>
          </p:cNvCxnSpPr>
          <p:nvPr/>
        </p:nvCxnSpPr>
        <p:spPr>
          <a:xfrm rot="10800000">
            <a:off x="7426813" y="3939880"/>
            <a:ext cx="353700" cy="539400"/>
          </a:xfrm>
          <a:prstGeom prst="straightConnector1">
            <a:avLst/>
          </a:prstGeom>
          <a:noFill/>
          <a:ln cap="flat" cmpd="sng" w="19050">
            <a:solidFill>
              <a:srgbClr val="FF0000"/>
            </a:solidFill>
            <a:prstDash val="solid"/>
            <a:round/>
            <a:headEnd len="med" w="med" type="none"/>
            <a:tailEnd len="med" w="med" type="none"/>
          </a:ln>
        </p:spPr>
      </p:cxnSp>
      <p:cxnSp>
        <p:nvCxnSpPr>
          <p:cNvPr id="4327" name="Google Shape;4327;p262"/>
          <p:cNvCxnSpPr>
            <a:stCxn id="4321" idx="5"/>
            <a:endCxn id="4323" idx="1"/>
          </p:cNvCxnSpPr>
          <p:nvPr/>
        </p:nvCxnSpPr>
        <p:spPr>
          <a:xfrm>
            <a:off x="7890283" y="3247145"/>
            <a:ext cx="674700" cy="243900"/>
          </a:xfrm>
          <a:prstGeom prst="straightConnector1">
            <a:avLst/>
          </a:prstGeom>
          <a:noFill/>
          <a:ln cap="flat" cmpd="sng" w="19050">
            <a:solidFill>
              <a:srgbClr val="FF0000"/>
            </a:solidFill>
            <a:prstDash val="solid"/>
            <a:round/>
            <a:headEnd len="med" w="med" type="none"/>
            <a:tailEnd len="med" w="med" type="none"/>
          </a:ln>
        </p:spPr>
      </p:cxnSp>
      <p:cxnSp>
        <p:nvCxnSpPr>
          <p:cNvPr id="4328" name="Google Shape;4328;p262"/>
          <p:cNvCxnSpPr>
            <a:stCxn id="4323" idx="2"/>
            <a:endCxn id="4322" idx="6"/>
          </p:cNvCxnSpPr>
          <p:nvPr/>
        </p:nvCxnSpPr>
        <p:spPr>
          <a:xfrm flipH="1">
            <a:off x="7475611" y="3556619"/>
            <a:ext cx="1088100" cy="272400"/>
          </a:xfrm>
          <a:prstGeom prst="straightConnector1">
            <a:avLst/>
          </a:prstGeom>
          <a:noFill/>
          <a:ln cap="flat" cmpd="sng" w="19050">
            <a:solidFill>
              <a:srgbClr val="FF0000"/>
            </a:solidFill>
            <a:prstDash val="solid"/>
            <a:round/>
            <a:headEnd len="med" w="med" type="none"/>
            <a:tailEnd len="med" w="med" type="none"/>
          </a:ln>
        </p:spPr>
      </p:cxnSp>
      <p:sp>
        <p:nvSpPr>
          <p:cNvPr id="4329" name="Google Shape;4329;p262"/>
          <p:cNvSpPr/>
          <p:nvPr/>
        </p:nvSpPr>
        <p:spPr>
          <a:xfrm rot="-1281263">
            <a:off x="8001037" y="3919934"/>
            <a:ext cx="171365" cy="171365"/>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30" name="Google Shape;4330;p262"/>
          <p:cNvCxnSpPr>
            <a:stCxn id="4323" idx="3"/>
            <a:endCxn id="4324" idx="6"/>
          </p:cNvCxnSpPr>
          <p:nvPr/>
        </p:nvCxnSpPr>
        <p:spPr>
          <a:xfrm flipH="1">
            <a:off x="7891545" y="3603908"/>
            <a:ext cx="717600" cy="924000"/>
          </a:xfrm>
          <a:prstGeom prst="straightConnector1">
            <a:avLst/>
          </a:prstGeom>
          <a:noFill/>
          <a:ln cap="flat" cmpd="sng" w="19050">
            <a:solidFill>
              <a:srgbClr val="FF0000"/>
            </a:solidFill>
            <a:prstDash val="solid"/>
            <a:round/>
            <a:headEnd len="med" w="med" type="none"/>
            <a:tailEnd len="med" w="med" type="none"/>
          </a:ln>
        </p:spPr>
      </p:cxnSp>
      <p:cxnSp>
        <p:nvCxnSpPr>
          <p:cNvPr id="4331" name="Google Shape;4331;p262"/>
          <p:cNvCxnSpPr>
            <a:stCxn id="4329" idx="2"/>
            <a:endCxn id="4322" idx="5"/>
          </p:cNvCxnSpPr>
          <p:nvPr/>
        </p:nvCxnSpPr>
        <p:spPr>
          <a:xfrm rot="10800000">
            <a:off x="7474120" y="3894616"/>
            <a:ext cx="532800" cy="142200"/>
          </a:xfrm>
          <a:prstGeom prst="straightConnector1">
            <a:avLst/>
          </a:prstGeom>
          <a:noFill/>
          <a:ln cap="flat" cmpd="sng" w="19050">
            <a:solidFill>
              <a:srgbClr val="FF0000"/>
            </a:solidFill>
            <a:prstDash val="solid"/>
            <a:round/>
            <a:headEnd len="med" w="med" type="none"/>
            <a:tailEnd len="med" w="med" type="none"/>
          </a:ln>
        </p:spPr>
      </p:cxnSp>
      <p:cxnSp>
        <p:nvCxnSpPr>
          <p:cNvPr id="4332" name="Google Shape;4332;p262"/>
          <p:cNvCxnSpPr>
            <a:stCxn id="4329" idx="0"/>
            <a:endCxn id="4321" idx="3"/>
          </p:cNvCxnSpPr>
          <p:nvPr/>
        </p:nvCxnSpPr>
        <p:spPr>
          <a:xfrm rot="10800000">
            <a:off x="7777420" y="3291316"/>
            <a:ext cx="278100" cy="634500"/>
          </a:xfrm>
          <a:prstGeom prst="straightConnector1">
            <a:avLst/>
          </a:prstGeom>
          <a:noFill/>
          <a:ln cap="flat" cmpd="sng" w="19050">
            <a:solidFill>
              <a:srgbClr val="FF0000"/>
            </a:solidFill>
            <a:prstDash val="solid"/>
            <a:round/>
            <a:headEnd len="med" w="med" type="none"/>
            <a:tailEnd len="med" w="med" type="none"/>
          </a:ln>
        </p:spPr>
      </p:cxnSp>
      <p:cxnSp>
        <p:nvCxnSpPr>
          <p:cNvPr id="4333" name="Google Shape;4333;p262"/>
          <p:cNvCxnSpPr>
            <a:stCxn id="4324" idx="6"/>
            <a:endCxn id="4329" idx="2"/>
          </p:cNvCxnSpPr>
          <p:nvPr/>
        </p:nvCxnSpPr>
        <p:spPr>
          <a:xfrm flipH="1" rot="10800000">
            <a:off x="7891513" y="4036780"/>
            <a:ext cx="115500" cy="491100"/>
          </a:xfrm>
          <a:prstGeom prst="straightConnector1">
            <a:avLst/>
          </a:prstGeom>
          <a:noFill/>
          <a:ln cap="flat" cmpd="sng" w="19050">
            <a:solidFill>
              <a:srgbClr val="FF0000"/>
            </a:solidFill>
            <a:prstDash val="solid"/>
            <a:round/>
            <a:headEnd len="med" w="med" type="none"/>
            <a:tailEnd len="med" w="med" type="none"/>
          </a:ln>
        </p:spPr>
      </p:cxnSp>
      <p:cxnSp>
        <p:nvCxnSpPr>
          <p:cNvPr id="4334" name="Google Shape;4334;p262"/>
          <p:cNvCxnSpPr>
            <a:stCxn id="4316" idx="3"/>
            <a:endCxn id="4321" idx="7"/>
          </p:cNvCxnSpPr>
          <p:nvPr/>
        </p:nvCxnSpPr>
        <p:spPr>
          <a:xfrm>
            <a:off x="7846036" y="1952351"/>
            <a:ext cx="0" cy="1182000"/>
          </a:xfrm>
          <a:prstGeom prst="straightConnector1">
            <a:avLst/>
          </a:prstGeom>
          <a:noFill/>
          <a:ln cap="flat" cmpd="sng" w="19050">
            <a:solidFill>
              <a:srgbClr val="FF0000"/>
            </a:solidFill>
            <a:prstDash val="solid"/>
            <a:round/>
            <a:headEnd len="med" w="med" type="none"/>
            <a:tailEnd len="med" w="med" type="none"/>
          </a:ln>
        </p:spPr>
      </p:cxnSp>
      <p:cxnSp>
        <p:nvCxnSpPr>
          <p:cNvPr id="4335" name="Google Shape;4335;p262"/>
          <p:cNvCxnSpPr>
            <a:stCxn id="4310" idx="4"/>
            <a:endCxn id="4323" idx="0"/>
          </p:cNvCxnSpPr>
          <p:nvPr/>
        </p:nvCxnSpPr>
        <p:spPr>
          <a:xfrm>
            <a:off x="8266725" y="1409288"/>
            <a:ext cx="345600" cy="2036400"/>
          </a:xfrm>
          <a:prstGeom prst="straightConnector1">
            <a:avLst/>
          </a:prstGeom>
          <a:noFill/>
          <a:ln cap="flat" cmpd="sng" w="19050">
            <a:solidFill>
              <a:srgbClr val="FF0000"/>
            </a:solidFill>
            <a:prstDash val="solid"/>
            <a:round/>
            <a:headEnd len="med" w="med" type="none"/>
            <a:tailEnd len="med" w="med" type="none"/>
          </a:ln>
        </p:spPr>
      </p:cxnSp>
      <p:sp>
        <p:nvSpPr>
          <p:cNvPr id="4336" name="Google Shape;4336;p262"/>
          <p:cNvSpPr txBox="1"/>
          <p:nvPr>
            <p:ph idx="1" type="body"/>
          </p:nvPr>
        </p:nvSpPr>
        <p:spPr>
          <a:xfrm>
            <a:off x="311700" y="1225225"/>
            <a:ext cx="48789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graph is </a:t>
            </a:r>
            <a:r>
              <a:rPr b="1" lang="en"/>
              <a:t>connected </a:t>
            </a:r>
            <a:r>
              <a:rPr lang="en"/>
              <a:t>if there exists a (finite) path between each pair of nodes</a:t>
            </a:r>
            <a:endParaRPr/>
          </a:p>
          <a:p>
            <a:pPr indent="-317500" lvl="1" marL="914400" rtl="0" algn="l">
              <a:spcBef>
                <a:spcPts val="0"/>
              </a:spcBef>
              <a:spcAft>
                <a:spcPts val="0"/>
              </a:spcAft>
              <a:buSzPts val="1400"/>
              <a:buChar char="○"/>
            </a:pPr>
            <a:r>
              <a:rPr lang="en"/>
              <a:t>Otherwise the graph is disconnected</a:t>
            </a:r>
            <a:endParaRPr/>
          </a:p>
          <a:p>
            <a:pPr indent="-342900" lvl="0" marL="457200" rtl="0" algn="l">
              <a:spcBef>
                <a:spcPts val="0"/>
              </a:spcBef>
              <a:spcAft>
                <a:spcPts val="0"/>
              </a:spcAft>
              <a:buSzPts val="1800"/>
              <a:buChar char="●"/>
            </a:pPr>
            <a:r>
              <a:rPr lang="en"/>
              <a:t>A maximal connected subgraph is called a </a:t>
            </a:r>
            <a:r>
              <a:rPr b="1" lang="en"/>
              <a:t>component</a:t>
            </a:r>
            <a:endParaRPr b="1"/>
          </a:p>
          <a:p>
            <a:pPr indent="-317500" lvl="1" marL="914400" rtl="0" algn="l">
              <a:spcBef>
                <a:spcPts val="0"/>
              </a:spcBef>
              <a:spcAft>
                <a:spcPts val="0"/>
              </a:spcAft>
              <a:buSzPts val="1400"/>
              <a:buChar char="○"/>
            </a:pPr>
            <a:r>
              <a:rPr lang="en"/>
              <a:t>If a graph has </a:t>
            </a:r>
            <a:r>
              <a:rPr b="1" lang="en"/>
              <a:t>more than one</a:t>
            </a:r>
            <a:r>
              <a:rPr lang="en"/>
              <a:t> component it is by definition </a:t>
            </a:r>
            <a:r>
              <a:rPr b="1" lang="en"/>
              <a:t>disconnected</a:t>
            </a:r>
            <a:endParaRPr b="1"/>
          </a:p>
          <a:p>
            <a:pPr indent="-317500" lvl="1" marL="914400" rtl="0" algn="l">
              <a:spcBef>
                <a:spcPts val="0"/>
              </a:spcBef>
              <a:spcAft>
                <a:spcPts val="0"/>
              </a:spcAft>
              <a:buSzPts val="1400"/>
              <a:buChar char="○"/>
            </a:pPr>
            <a:r>
              <a:rPr lang="en"/>
              <a:t>The connected subgraph containing the largest number of vertices in a graph is called the </a:t>
            </a:r>
            <a:r>
              <a:rPr b="1" lang="en"/>
              <a:t>giant component</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0" name="Shape 4340"/>
        <p:cNvGrpSpPr/>
        <p:nvPr/>
      </p:nvGrpSpPr>
      <p:grpSpPr>
        <a:xfrm>
          <a:off x="0" y="0"/>
          <a:ext cx="0" cy="0"/>
          <a:chOff x="0" y="0"/>
          <a:chExt cx="0" cy="0"/>
        </a:xfrm>
      </p:grpSpPr>
      <p:sp>
        <p:nvSpPr>
          <p:cNvPr id="4341" name="Google Shape;4341;p2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Components</a:t>
            </a:r>
            <a:endParaRPr/>
          </a:p>
        </p:txBody>
      </p:sp>
      <p:sp>
        <p:nvSpPr>
          <p:cNvPr id="4342" name="Google Shape;4342;p263"/>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maximal connected subgraph is called a </a:t>
            </a:r>
            <a:r>
              <a:rPr b="1" lang="en"/>
              <a:t>component</a:t>
            </a:r>
            <a:endParaRPr b="1"/>
          </a:p>
          <a:p>
            <a:pPr indent="-342900" lvl="0" marL="457200" rtl="0" algn="l">
              <a:spcBef>
                <a:spcPts val="0"/>
              </a:spcBef>
              <a:spcAft>
                <a:spcPts val="0"/>
              </a:spcAft>
              <a:buSzPts val="1800"/>
              <a:buChar char="●"/>
            </a:pPr>
            <a:r>
              <a:rPr lang="en"/>
              <a:t>The connected subgraph that contains the </a:t>
            </a:r>
            <a:r>
              <a:rPr b="1" lang="en"/>
              <a:t>largest</a:t>
            </a:r>
            <a:r>
              <a:rPr lang="en"/>
              <a:t> proportion of vertices is called the </a:t>
            </a:r>
            <a:r>
              <a:rPr b="1" lang="en"/>
              <a:t>giant</a:t>
            </a:r>
            <a:r>
              <a:rPr lang="en"/>
              <a:t> </a:t>
            </a:r>
            <a:r>
              <a:rPr b="1" lang="en"/>
              <a:t>component</a:t>
            </a:r>
            <a:endParaRPr b="1"/>
          </a:p>
          <a:p>
            <a:pPr indent="-317500" lvl="1" marL="914400" rtl="0" algn="l">
              <a:spcBef>
                <a:spcPts val="0"/>
              </a:spcBef>
              <a:spcAft>
                <a:spcPts val="0"/>
              </a:spcAft>
              <a:buSzPts val="1400"/>
              <a:buChar char="○"/>
            </a:pPr>
            <a:r>
              <a:rPr lang="en"/>
              <a:t>A component is </a:t>
            </a:r>
            <a:r>
              <a:rPr b="1" lang="en"/>
              <a:t>k-connected</a:t>
            </a:r>
            <a:r>
              <a:rPr lang="en"/>
              <a:t> if every node in the component can reach any other one via a path of length </a:t>
            </a:r>
            <a:r>
              <a:rPr i="1" lang="en"/>
              <a:t>k </a:t>
            </a:r>
            <a:r>
              <a:rPr lang="en"/>
              <a:t>or less</a:t>
            </a:r>
            <a:endParaRPr b="1"/>
          </a:p>
          <a:p>
            <a:pPr indent="0" lvl="0" marL="914400" rtl="0" algn="l">
              <a:spcBef>
                <a:spcPts val="0"/>
              </a:spcBef>
              <a:spcAft>
                <a:spcPts val="0"/>
              </a:spcAft>
              <a:buNone/>
            </a:pPr>
            <a:r>
              <a:t/>
            </a:r>
            <a:endParaRPr/>
          </a:p>
        </p:txBody>
      </p:sp>
      <p:sp>
        <p:nvSpPr>
          <p:cNvPr id="4343" name="Google Shape;4343;p263"/>
          <p:cNvSpPr txBox="1"/>
          <p:nvPr/>
        </p:nvSpPr>
        <p:spPr>
          <a:xfrm>
            <a:off x="4923450" y="4139675"/>
            <a:ext cx="1861200" cy="53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component is 2-connected!</a:t>
            </a:r>
            <a:endParaRPr b="1">
              <a:solidFill>
                <a:srgbClr val="FF0000"/>
              </a:solidFill>
            </a:endParaRPr>
          </a:p>
        </p:txBody>
      </p:sp>
      <p:cxnSp>
        <p:nvCxnSpPr>
          <p:cNvPr id="4344" name="Google Shape;4344;p263"/>
          <p:cNvCxnSpPr>
            <a:stCxn id="4343" idx="0"/>
          </p:cNvCxnSpPr>
          <p:nvPr/>
        </p:nvCxnSpPr>
        <p:spPr>
          <a:xfrm flipH="1" rot="10800000">
            <a:off x="5854050" y="3443975"/>
            <a:ext cx="24000" cy="695700"/>
          </a:xfrm>
          <a:prstGeom prst="straightConnector1">
            <a:avLst/>
          </a:prstGeom>
          <a:noFill/>
          <a:ln cap="flat" cmpd="sng" w="19050">
            <a:solidFill>
              <a:srgbClr val="FF0000"/>
            </a:solidFill>
            <a:prstDash val="solid"/>
            <a:round/>
            <a:headEnd len="med" w="med" type="none"/>
            <a:tailEnd len="med" w="med" type="triangle"/>
          </a:ln>
        </p:spPr>
      </p:cxnSp>
      <p:grpSp>
        <p:nvGrpSpPr>
          <p:cNvPr id="4345" name="Google Shape;4345;p263"/>
          <p:cNvGrpSpPr/>
          <p:nvPr/>
        </p:nvGrpSpPr>
        <p:grpSpPr>
          <a:xfrm>
            <a:off x="5370463" y="653813"/>
            <a:ext cx="3384048" cy="4016267"/>
            <a:chOff x="5370463" y="653813"/>
            <a:chExt cx="3384048" cy="4016267"/>
          </a:xfrm>
        </p:grpSpPr>
        <p:sp>
          <p:nvSpPr>
            <p:cNvPr id="4346" name="Google Shape;4346;p263"/>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263"/>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263"/>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263"/>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50" name="Google Shape;4350;p263"/>
            <p:cNvCxnSpPr>
              <a:stCxn id="4346" idx="3"/>
              <a:endCxn id="4347"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351" name="Google Shape;4351;p263"/>
            <p:cNvCxnSpPr>
              <a:stCxn id="4349" idx="1"/>
              <a:endCxn id="4347"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352" name="Google Shape;4352;p263"/>
            <p:cNvCxnSpPr>
              <a:stCxn id="4346" idx="4"/>
              <a:endCxn id="4349"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353" name="Google Shape;4353;p263"/>
            <p:cNvCxnSpPr>
              <a:stCxn id="4346" idx="5"/>
              <a:endCxn id="4348"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354" name="Google Shape;4354;p263"/>
            <p:cNvCxnSpPr>
              <a:stCxn id="4348" idx="2"/>
              <a:endCxn id="4347"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355" name="Google Shape;4355;p263"/>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263"/>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263"/>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263"/>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59" name="Google Shape;4359;p263"/>
            <p:cNvCxnSpPr>
              <a:stCxn id="4355" idx="3"/>
              <a:endCxn id="4356"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360" name="Google Shape;4360;p263"/>
            <p:cNvCxnSpPr>
              <a:stCxn id="4358" idx="0"/>
              <a:endCxn id="4356"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361" name="Google Shape;4361;p263"/>
            <p:cNvCxnSpPr>
              <a:stCxn id="4355" idx="5"/>
              <a:endCxn id="4357"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362" name="Google Shape;4362;p263"/>
            <p:cNvCxnSpPr>
              <a:stCxn id="4357" idx="2"/>
              <a:endCxn id="4356"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363" name="Google Shape;4363;p263"/>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64" name="Google Shape;4364;p263"/>
            <p:cNvCxnSpPr>
              <a:stCxn id="4363" idx="0"/>
              <a:endCxn id="4356"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365" name="Google Shape;4365;p263"/>
            <p:cNvCxnSpPr>
              <a:stCxn id="4357" idx="3"/>
              <a:endCxn id="4358"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366" name="Google Shape;4366;p263"/>
            <p:cNvCxnSpPr>
              <a:stCxn id="4357" idx="3"/>
              <a:endCxn id="4363"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367" name="Google Shape;4367;p263"/>
            <p:cNvCxnSpPr>
              <a:stCxn id="4355" idx="4"/>
              <a:endCxn id="4363"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368" name="Google Shape;4368;p263"/>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263"/>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263"/>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263"/>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72" name="Google Shape;4372;p263"/>
            <p:cNvCxnSpPr>
              <a:stCxn id="4368" idx="3"/>
              <a:endCxn id="4369"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373" name="Google Shape;4373;p263"/>
            <p:cNvCxnSpPr>
              <a:stCxn id="4371" idx="0"/>
              <a:endCxn id="4369"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374" name="Google Shape;4374;p263"/>
            <p:cNvCxnSpPr>
              <a:stCxn id="4368" idx="5"/>
              <a:endCxn id="4370"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375" name="Google Shape;4375;p263"/>
            <p:cNvCxnSpPr>
              <a:stCxn id="4370" idx="2"/>
              <a:endCxn id="4369"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376" name="Google Shape;4376;p263"/>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77" name="Google Shape;4377;p263"/>
            <p:cNvCxnSpPr>
              <a:stCxn id="4370" idx="3"/>
              <a:endCxn id="4371"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378" name="Google Shape;4378;p263"/>
            <p:cNvCxnSpPr>
              <a:stCxn id="4376" idx="2"/>
              <a:endCxn id="4369"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379" name="Google Shape;4379;p263"/>
            <p:cNvCxnSpPr>
              <a:stCxn id="4376" idx="0"/>
              <a:endCxn id="4368"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380" name="Google Shape;4380;p263"/>
            <p:cNvCxnSpPr>
              <a:stCxn id="4371" idx="6"/>
              <a:endCxn id="4376"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381" name="Google Shape;4381;p263"/>
            <p:cNvCxnSpPr>
              <a:stCxn id="4363" idx="3"/>
              <a:endCxn id="4368"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382" name="Google Shape;4382;p263"/>
            <p:cNvCxnSpPr>
              <a:stCxn id="4357" idx="4"/>
              <a:endCxn id="4370"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86" name="Shape 4386"/>
        <p:cNvGrpSpPr/>
        <p:nvPr/>
      </p:nvGrpSpPr>
      <p:grpSpPr>
        <a:xfrm>
          <a:off x="0" y="0"/>
          <a:ext cx="0" cy="0"/>
          <a:chOff x="0" y="0"/>
          <a:chExt cx="0" cy="0"/>
        </a:xfrm>
      </p:grpSpPr>
      <p:sp>
        <p:nvSpPr>
          <p:cNvPr id="4387" name="Google Shape;4387;p26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Components</a:t>
            </a:r>
            <a:endParaRPr/>
          </a:p>
        </p:txBody>
      </p:sp>
      <p:sp>
        <p:nvSpPr>
          <p:cNvPr id="4388" name="Google Shape;4388;p264"/>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maximal connected subgraph is called a </a:t>
            </a:r>
            <a:r>
              <a:rPr b="1" lang="en"/>
              <a:t>component</a:t>
            </a:r>
            <a:endParaRPr b="1"/>
          </a:p>
          <a:p>
            <a:pPr indent="-342900" lvl="0" marL="457200" rtl="0" algn="l">
              <a:spcBef>
                <a:spcPts val="0"/>
              </a:spcBef>
              <a:spcAft>
                <a:spcPts val="0"/>
              </a:spcAft>
              <a:buSzPts val="1800"/>
              <a:buChar char="●"/>
            </a:pPr>
            <a:r>
              <a:rPr lang="en"/>
              <a:t>The connected subgraph that contains the </a:t>
            </a:r>
            <a:r>
              <a:rPr b="1" lang="en"/>
              <a:t>largest</a:t>
            </a:r>
            <a:r>
              <a:rPr lang="en"/>
              <a:t> proportion of vertices is called the </a:t>
            </a:r>
            <a:r>
              <a:rPr b="1" lang="en"/>
              <a:t>giant</a:t>
            </a:r>
            <a:r>
              <a:rPr lang="en"/>
              <a:t> </a:t>
            </a:r>
            <a:r>
              <a:rPr b="1" lang="en"/>
              <a:t>component</a:t>
            </a:r>
            <a:endParaRPr b="1"/>
          </a:p>
          <a:p>
            <a:pPr indent="-317500" lvl="1" marL="914400" rtl="0" algn="l">
              <a:spcBef>
                <a:spcPts val="0"/>
              </a:spcBef>
              <a:spcAft>
                <a:spcPts val="0"/>
              </a:spcAft>
              <a:buSzPts val="1400"/>
              <a:buChar char="○"/>
            </a:pPr>
            <a:r>
              <a:rPr lang="en"/>
              <a:t>A </a:t>
            </a:r>
            <a:r>
              <a:rPr b="1" lang="en"/>
              <a:t>bicomponent </a:t>
            </a:r>
            <a:r>
              <a:rPr lang="en"/>
              <a:t>is a component in which every pair of nodes is connected by at least </a:t>
            </a:r>
            <a:r>
              <a:rPr i="1" lang="en"/>
              <a:t>two </a:t>
            </a:r>
            <a:r>
              <a:rPr lang="en"/>
              <a:t>paths that do not share any intervening nodes (except the start and end nodes) </a:t>
            </a:r>
            <a:endParaRPr/>
          </a:p>
          <a:p>
            <a:pPr indent="0" lvl="0" marL="914400" rtl="0" algn="l">
              <a:spcBef>
                <a:spcPts val="0"/>
              </a:spcBef>
              <a:spcAft>
                <a:spcPts val="0"/>
              </a:spcAft>
              <a:buNone/>
            </a:pPr>
            <a:r>
              <a:t/>
            </a:r>
            <a:endParaRPr/>
          </a:p>
        </p:txBody>
      </p:sp>
      <p:sp>
        <p:nvSpPr>
          <p:cNvPr id="4389" name="Google Shape;4389;p264"/>
          <p:cNvSpPr txBox="1"/>
          <p:nvPr/>
        </p:nvSpPr>
        <p:spPr>
          <a:xfrm>
            <a:off x="4923450" y="4139675"/>
            <a:ext cx="1861200" cy="53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component is 2-connected!</a:t>
            </a:r>
            <a:endParaRPr b="1">
              <a:solidFill>
                <a:srgbClr val="FF0000"/>
              </a:solidFill>
            </a:endParaRPr>
          </a:p>
        </p:txBody>
      </p:sp>
      <p:cxnSp>
        <p:nvCxnSpPr>
          <p:cNvPr id="4390" name="Google Shape;4390;p264"/>
          <p:cNvCxnSpPr>
            <a:stCxn id="4389" idx="0"/>
          </p:cNvCxnSpPr>
          <p:nvPr/>
        </p:nvCxnSpPr>
        <p:spPr>
          <a:xfrm flipH="1" rot="10800000">
            <a:off x="5854050" y="3443975"/>
            <a:ext cx="24000" cy="695700"/>
          </a:xfrm>
          <a:prstGeom prst="straightConnector1">
            <a:avLst/>
          </a:prstGeom>
          <a:noFill/>
          <a:ln cap="flat" cmpd="sng" w="19050">
            <a:solidFill>
              <a:srgbClr val="FF0000"/>
            </a:solidFill>
            <a:prstDash val="solid"/>
            <a:round/>
            <a:headEnd len="med" w="med" type="none"/>
            <a:tailEnd len="med" w="med" type="triangle"/>
          </a:ln>
        </p:spPr>
      </p:cxnSp>
      <p:grpSp>
        <p:nvGrpSpPr>
          <p:cNvPr id="4391" name="Google Shape;4391;p264"/>
          <p:cNvGrpSpPr/>
          <p:nvPr/>
        </p:nvGrpSpPr>
        <p:grpSpPr>
          <a:xfrm>
            <a:off x="5370463" y="653813"/>
            <a:ext cx="3384048" cy="4016267"/>
            <a:chOff x="5370463" y="653813"/>
            <a:chExt cx="3384048" cy="4016267"/>
          </a:xfrm>
        </p:grpSpPr>
        <p:sp>
          <p:nvSpPr>
            <p:cNvPr id="4392" name="Google Shape;4392;p264"/>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264"/>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264"/>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264"/>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96" name="Google Shape;4396;p264"/>
            <p:cNvCxnSpPr>
              <a:stCxn id="4392" idx="3"/>
              <a:endCxn id="4393"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397" name="Google Shape;4397;p264"/>
            <p:cNvCxnSpPr>
              <a:stCxn id="4395" idx="1"/>
              <a:endCxn id="4393"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398" name="Google Shape;4398;p264"/>
            <p:cNvCxnSpPr>
              <a:stCxn id="4392" idx="4"/>
              <a:endCxn id="4395"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399" name="Google Shape;4399;p264"/>
            <p:cNvCxnSpPr>
              <a:stCxn id="4392" idx="5"/>
              <a:endCxn id="4394"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400" name="Google Shape;4400;p264"/>
            <p:cNvCxnSpPr>
              <a:stCxn id="4394" idx="2"/>
              <a:endCxn id="4393"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401" name="Google Shape;4401;p264"/>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264"/>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264"/>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264"/>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05" name="Google Shape;4405;p264"/>
            <p:cNvCxnSpPr>
              <a:stCxn id="4401" idx="3"/>
              <a:endCxn id="440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406" name="Google Shape;4406;p264"/>
            <p:cNvCxnSpPr>
              <a:stCxn id="4404" idx="0"/>
              <a:endCxn id="440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407" name="Google Shape;4407;p264"/>
            <p:cNvCxnSpPr>
              <a:stCxn id="4401" idx="5"/>
              <a:endCxn id="440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408" name="Google Shape;4408;p264"/>
            <p:cNvCxnSpPr>
              <a:stCxn id="4403" idx="2"/>
              <a:endCxn id="440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409" name="Google Shape;4409;p264"/>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0" name="Google Shape;4410;p264"/>
            <p:cNvCxnSpPr>
              <a:stCxn id="4409" idx="0"/>
              <a:endCxn id="440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411" name="Google Shape;4411;p264"/>
            <p:cNvCxnSpPr>
              <a:stCxn id="4403" idx="3"/>
              <a:endCxn id="440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412" name="Google Shape;4412;p264"/>
            <p:cNvCxnSpPr>
              <a:stCxn id="4403" idx="3"/>
              <a:endCxn id="440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413" name="Google Shape;4413;p264"/>
            <p:cNvCxnSpPr>
              <a:stCxn id="4401" idx="4"/>
              <a:endCxn id="440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414" name="Google Shape;4414;p264"/>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264"/>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264"/>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264"/>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8" name="Google Shape;4418;p264"/>
            <p:cNvCxnSpPr>
              <a:stCxn id="4414" idx="3"/>
              <a:endCxn id="4415"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419" name="Google Shape;4419;p264"/>
            <p:cNvCxnSpPr>
              <a:stCxn id="4417" idx="0"/>
              <a:endCxn id="4415"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420" name="Google Shape;4420;p264"/>
            <p:cNvCxnSpPr>
              <a:stCxn id="4414" idx="5"/>
              <a:endCxn id="4416"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421" name="Google Shape;4421;p264"/>
            <p:cNvCxnSpPr>
              <a:stCxn id="4416" idx="2"/>
              <a:endCxn id="4415"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422" name="Google Shape;4422;p264"/>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23" name="Google Shape;4423;p264"/>
            <p:cNvCxnSpPr>
              <a:stCxn id="4416" idx="3"/>
              <a:endCxn id="4417"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424" name="Google Shape;4424;p264"/>
            <p:cNvCxnSpPr>
              <a:stCxn id="4422" idx="2"/>
              <a:endCxn id="4415"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425" name="Google Shape;4425;p264"/>
            <p:cNvCxnSpPr>
              <a:stCxn id="4422" idx="0"/>
              <a:endCxn id="4414"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426" name="Google Shape;4426;p264"/>
            <p:cNvCxnSpPr>
              <a:stCxn id="4417" idx="6"/>
              <a:endCxn id="4422"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427" name="Google Shape;4427;p264"/>
            <p:cNvCxnSpPr>
              <a:stCxn id="4409" idx="3"/>
              <a:endCxn id="4414"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428" name="Google Shape;4428;p264"/>
            <p:cNvCxnSpPr>
              <a:stCxn id="4403" idx="4"/>
              <a:endCxn id="4416"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2" name="Shape 4432"/>
        <p:cNvGrpSpPr/>
        <p:nvPr/>
      </p:nvGrpSpPr>
      <p:grpSpPr>
        <a:xfrm>
          <a:off x="0" y="0"/>
          <a:ext cx="0" cy="0"/>
          <a:chOff x="0" y="0"/>
          <a:chExt cx="0" cy="0"/>
        </a:xfrm>
      </p:grpSpPr>
      <p:sp>
        <p:nvSpPr>
          <p:cNvPr id="4433" name="Google Shape;4433;p2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434" name="Google Shape;4434;p265"/>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disconnect a graph by removing </a:t>
            </a:r>
            <a:r>
              <a:rPr b="1" lang="en"/>
              <a:t>edges</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435" name="Google Shape;4435;p265"/>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265"/>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265"/>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265"/>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39" name="Google Shape;4439;p265"/>
          <p:cNvCxnSpPr>
            <a:stCxn id="4435" idx="3"/>
            <a:endCxn id="4436"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440" name="Google Shape;4440;p265"/>
          <p:cNvCxnSpPr>
            <a:stCxn id="4438" idx="1"/>
            <a:endCxn id="4436"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441" name="Google Shape;4441;p265"/>
          <p:cNvCxnSpPr>
            <a:stCxn id="4435" idx="4"/>
            <a:endCxn id="4438"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442" name="Google Shape;4442;p265"/>
          <p:cNvCxnSpPr>
            <a:stCxn id="4435" idx="5"/>
            <a:endCxn id="4437"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443" name="Google Shape;4443;p265"/>
          <p:cNvCxnSpPr>
            <a:stCxn id="4437" idx="2"/>
            <a:endCxn id="4436"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444" name="Google Shape;4444;p265"/>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265"/>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265"/>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265"/>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48" name="Google Shape;4448;p265"/>
          <p:cNvCxnSpPr>
            <a:stCxn id="4444" idx="3"/>
            <a:endCxn id="4445"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449" name="Google Shape;4449;p265"/>
          <p:cNvCxnSpPr>
            <a:stCxn id="4447" idx="0"/>
            <a:endCxn id="4445"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450" name="Google Shape;4450;p265"/>
          <p:cNvCxnSpPr>
            <a:stCxn id="4444" idx="5"/>
            <a:endCxn id="4446"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451" name="Google Shape;4451;p265"/>
          <p:cNvCxnSpPr>
            <a:stCxn id="4446" idx="2"/>
            <a:endCxn id="4445"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452" name="Google Shape;4452;p265"/>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53" name="Google Shape;4453;p265"/>
          <p:cNvCxnSpPr>
            <a:stCxn id="4452" idx="0"/>
            <a:endCxn id="4445"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454" name="Google Shape;4454;p265"/>
          <p:cNvCxnSpPr>
            <a:stCxn id="4446" idx="3"/>
            <a:endCxn id="4447"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455" name="Google Shape;4455;p265"/>
          <p:cNvCxnSpPr>
            <a:stCxn id="4446" idx="3"/>
            <a:endCxn id="4452"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456" name="Google Shape;4456;p265"/>
          <p:cNvCxnSpPr>
            <a:stCxn id="4444" idx="4"/>
            <a:endCxn id="4452"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457" name="Google Shape;4457;p265"/>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265"/>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265"/>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265"/>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61" name="Google Shape;4461;p265"/>
          <p:cNvCxnSpPr>
            <a:stCxn id="4457" idx="3"/>
            <a:endCxn id="4458"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462" name="Google Shape;4462;p265"/>
          <p:cNvCxnSpPr>
            <a:stCxn id="4460" idx="0"/>
            <a:endCxn id="4458"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463" name="Google Shape;4463;p265"/>
          <p:cNvCxnSpPr>
            <a:stCxn id="4457" idx="5"/>
            <a:endCxn id="4459"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464" name="Google Shape;4464;p265"/>
          <p:cNvCxnSpPr>
            <a:stCxn id="4459" idx="2"/>
            <a:endCxn id="4458"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465" name="Google Shape;4465;p265"/>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66" name="Google Shape;4466;p265"/>
          <p:cNvCxnSpPr>
            <a:stCxn id="4459" idx="3"/>
            <a:endCxn id="4460"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467" name="Google Shape;4467;p265"/>
          <p:cNvCxnSpPr>
            <a:stCxn id="4465" idx="2"/>
            <a:endCxn id="4458"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468" name="Google Shape;4468;p265"/>
          <p:cNvCxnSpPr>
            <a:stCxn id="4465" idx="0"/>
            <a:endCxn id="4457"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469" name="Google Shape;4469;p265"/>
          <p:cNvCxnSpPr>
            <a:stCxn id="4460" idx="6"/>
            <a:endCxn id="4465"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470" name="Google Shape;4470;p265"/>
          <p:cNvCxnSpPr>
            <a:stCxn id="4437" idx="5"/>
            <a:endCxn id="4458"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471" name="Google Shape;4471;p265"/>
          <p:cNvCxnSpPr>
            <a:stCxn id="4437" idx="7"/>
            <a:endCxn id="4447"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472" name="Google Shape;4472;p265"/>
          <p:cNvCxnSpPr>
            <a:stCxn id="4452" idx="3"/>
            <a:endCxn id="4457"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473" name="Google Shape;4473;p265"/>
          <p:cNvCxnSpPr>
            <a:stCxn id="4446" idx="4"/>
            <a:endCxn id="4459"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7" name="Shape 4477"/>
        <p:cNvGrpSpPr/>
        <p:nvPr/>
      </p:nvGrpSpPr>
      <p:grpSpPr>
        <a:xfrm>
          <a:off x="0" y="0"/>
          <a:ext cx="0" cy="0"/>
          <a:chOff x="0" y="0"/>
          <a:chExt cx="0" cy="0"/>
        </a:xfrm>
      </p:grpSpPr>
      <p:sp>
        <p:nvSpPr>
          <p:cNvPr id="4478" name="Google Shape;4478;p26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479" name="Google Shape;4479;p266"/>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disconnect a graph by removing </a:t>
            </a:r>
            <a:r>
              <a:rPr b="1" lang="en"/>
              <a:t>edges</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480" name="Google Shape;4480;p266"/>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266"/>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266"/>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266"/>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4" name="Google Shape;4484;p266"/>
          <p:cNvCxnSpPr>
            <a:stCxn id="4480" idx="3"/>
            <a:endCxn id="4481"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485" name="Google Shape;4485;p266"/>
          <p:cNvCxnSpPr>
            <a:stCxn id="4483" idx="1"/>
            <a:endCxn id="4481"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486" name="Google Shape;4486;p266"/>
          <p:cNvCxnSpPr>
            <a:stCxn id="4480" idx="4"/>
            <a:endCxn id="4483"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487" name="Google Shape;4487;p266"/>
          <p:cNvCxnSpPr>
            <a:stCxn id="4480" idx="5"/>
            <a:endCxn id="4482"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488" name="Google Shape;4488;p266"/>
          <p:cNvCxnSpPr>
            <a:stCxn id="4482" idx="2"/>
            <a:endCxn id="4481"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489" name="Google Shape;4489;p266"/>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266"/>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266"/>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266"/>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3" name="Google Shape;4493;p266"/>
          <p:cNvCxnSpPr>
            <a:stCxn id="4489" idx="3"/>
            <a:endCxn id="4490"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494" name="Google Shape;4494;p266"/>
          <p:cNvCxnSpPr>
            <a:stCxn id="4492" idx="0"/>
            <a:endCxn id="4490"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495" name="Google Shape;4495;p266"/>
          <p:cNvCxnSpPr>
            <a:stCxn id="4489" idx="5"/>
            <a:endCxn id="4491"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496" name="Google Shape;4496;p266"/>
          <p:cNvCxnSpPr>
            <a:stCxn id="4491" idx="2"/>
            <a:endCxn id="4490"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497" name="Google Shape;4497;p266"/>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8" name="Google Shape;4498;p266"/>
          <p:cNvCxnSpPr>
            <a:stCxn id="4497" idx="0"/>
            <a:endCxn id="4490"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499" name="Google Shape;4499;p266"/>
          <p:cNvCxnSpPr>
            <a:stCxn id="4491" idx="3"/>
            <a:endCxn id="4492"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500" name="Google Shape;4500;p266"/>
          <p:cNvCxnSpPr>
            <a:stCxn id="4491" idx="3"/>
            <a:endCxn id="4497"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501" name="Google Shape;4501;p266"/>
          <p:cNvCxnSpPr>
            <a:stCxn id="4489" idx="4"/>
            <a:endCxn id="4497"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502" name="Google Shape;4502;p266"/>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266"/>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266"/>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266"/>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06" name="Google Shape;4506;p266"/>
          <p:cNvCxnSpPr>
            <a:stCxn id="4502" idx="3"/>
            <a:endCxn id="4503"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507" name="Google Shape;4507;p266"/>
          <p:cNvCxnSpPr>
            <a:stCxn id="4505" idx="0"/>
            <a:endCxn id="4503"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508" name="Google Shape;4508;p266"/>
          <p:cNvCxnSpPr>
            <a:stCxn id="4502" idx="5"/>
            <a:endCxn id="4504"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509" name="Google Shape;4509;p266"/>
          <p:cNvCxnSpPr>
            <a:stCxn id="4504" idx="2"/>
            <a:endCxn id="4503"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510" name="Google Shape;4510;p266"/>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11" name="Google Shape;4511;p266"/>
          <p:cNvCxnSpPr>
            <a:stCxn id="4504" idx="3"/>
            <a:endCxn id="4505"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512" name="Google Shape;4512;p266"/>
          <p:cNvCxnSpPr>
            <a:stCxn id="4510" idx="2"/>
            <a:endCxn id="4503"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513" name="Google Shape;4513;p266"/>
          <p:cNvCxnSpPr>
            <a:stCxn id="4510" idx="0"/>
            <a:endCxn id="4502"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514" name="Google Shape;4514;p266"/>
          <p:cNvCxnSpPr>
            <a:stCxn id="4505" idx="6"/>
            <a:endCxn id="4510"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515" name="Google Shape;4515;p266"/>
          <p:cNvCxnSpPr>
            <a:stCxn id="4497" idx="3"/>
            <a:endCxn id="4502"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516" name="Google Shape;4516;p266"/>
          <p:cNvCxnSpPr>
            <a:stCxn id="4491" idx="4"/>
            <a:endCxn id="4504"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
        <p:nvSpPr>
          <p:cNvPr id="4517" name="Google Shape;4517;p266"/>
          <p:cNvSpPr txBox="1"/>
          <p:nvPr/>
        </p:nvSpPr>
        <p:spPr>
          <a:xfrm>
            <a:off x="4916650" y="896075"/>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Oops! Disconnected!</a:t>
            </a:r>
            <a:endParaRPr b="1">
              <a:solidFill>
                <a:srgbClr val="FF0000"/>
              </a:solidFill>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1" name="Shape 4521"/>
        <p:cNvGrpSpPr/>
        <p:nvPr/>
      </p:nvGrpSpPr>
      <p:grpSpPr>
        <a:xfrm>
          <a:off x="0" y="0"/>
          <a:ext cx="0" cy="0"/>
          <a:chOff x="0" y="0"/>
          <a:chExt cx="0" cy="0"/>
        </a:xfrm>
      </p:grpSpPr>
      <p:sp>
        <p:nvSpPr>
          <p:cNvPr id="4522" name="Google Shape;4522;p26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523" name="Google Shape;4523;p267"/>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disconnect a graph by removing </a:t>
            </a:r>
            <a:r>
              <a:rPr b="1" lang="en"/>
              <a:t>edges</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4524" name="Google Shape;4524;p267"/>
          <p:cNvGrpSpPr/>
          <p:nvPr/>
        </p:nvGrpSpPr>
        <p:grpSpPr>
          <a:xfrm>
            <a:off x="5370463" y="653813"/>
            <a:ext cx="3384048" cy="4016267"/>
            <a:chOff x="5370463" y="653813"/>
            <a:chExt cx="3384048" cy="4016267"/>
          </a:xfrm>
        </p:grpSpPr>
        <p:sp>
          <p:nvSpPr>
            <p:cNvPr id="4525" name="Google Shape;4525;p267"/>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267"/>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267"/>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267"/>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29" name="Google Shape;4529;p267"/>
            <p:cNvCxnSpPr>
              <a:stCxn id="4525" idx="3"/>
              <a:endCxn id="4526"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530" name="Google Shape;4530;p267"/>
            <p:cNvCxnSpPr>
              <a:stCxn id="4528" idx="1"/>
              <a:endCxn id="4526"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531" name="Google Shape;4531;p267"/>
            <p:cNvCxnSpPr>
              <a:stCxn id="4525" idx="4"/>
              <a:endCxn id="4528"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532" name="Google Shape;4532;p267"/>
            <p:cNvCxnSpPr>
              <a:stCxn id="4525" idx="5"/>
              <a:endCxn id="4527"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533" name="Google Shape;4533;p267"/>
            <p:cNvCxnSpPr>
              <a:stCxn id="4527" idx="2"/>
              <a:endCxn id="4526"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534" name="Google Shape;4534;p267"/>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267"/>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267"/>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267"/>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38" name="Google Shape;4538;p267"/>
            <p:cNvCxnSpPr>
              <a:stCxn id="4534" idx="3"/>
              <a:endCxn id="4535"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539" name="Google Shape;4539;p267"/>
            <p:cNvCxnSpPr>
              <a:stCxn id="4537" idx="0"/>
              <a:endCxn id="4535"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540" name="Google Shape;4540;p267"/>
            <p:cNvCxnSpPr>
              <a:stCxn id="4534" idx="5"/>
              <a:endCxn id="4536"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541" name="Google Shape;4541;p267"/>
            <p:cNvCxnSpPr>
              <a:stCxn id="4536" idx="2"/>
              <a:endCxn id="4535"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542" name="Google Shape;4542;p267"/>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3" name="Google Shape;4543;p267"/>
            <p:cNvCxnSpPr>
              <a:stCxn id="4542" idx="0"/>
              <a:endCxn id="4535"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544" name="Google Shape;4544;p267"/>
            <p:cNvCxnSpPr>
              <a:stCxn id="4536" idx="3"/>
              <a:endCxn id="4537"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545" name="Google Shape;4545;p267"/>
            <p:cNvCxnSpPr>
              <a:stCxn id="4536" idx="3"/>
              <a:endCxn id="4542"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546" name="Google Shape;4546;p267"/>
            <p:cNvCxnSpPr>
              <a:stCxn id="4534" idx="4"/>
              <a:endCxn id="4542"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547" name="Google Shape;4547;p267"/>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267"/>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267"/>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267"/>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51" name="Google Shape;4551;p267"/>
            <p:cNvCxnSpPr>
              <a:stCxn id="4547" idx="3"/>
              <a:endCxn id="4548"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552" name="Google Shape;4552;p267"/>
            <p:cNvCxnSpPr>
              <a:stCxn id="4550" idx="0"/>
              <a:endCxn id="4548"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553" name="Google Shape;4553;p267"/>
            <p:cNvCxnSpPr>
              <a:stCxn id="4547" idx="5"/>
              <a:endCxn id="4549"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554" name="Google Shape;4554;p267"/>
            <p:cNvCxnSpPr>
              <a:stCxn id="4549" idx="2"/>
              <a:endCxn id="4548"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555" name="Google Shape;4555;p267"/>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56" name="Google Shape;4556;p267"/>
            <p:cNvCxnSpPr>
              <a:stCxn id="4549" idx="3"/>
              <a:endCxn id="4550"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557" name="Google Shape;4557;p267"/>
            <p:cNvCxnSpPr>
              <a:stCxn id="4555" idx="2"/>
              <a:endCxn id="4548"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558" name="Google Shape;4558;p267"/>
            <p:cNvCxnSpPr>
              <a:stCxn id="4555" idx="0"/>
              <a:endCxn id="4547"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559" name="Google Shape;4559;p267"/>
            <p:cNvCxnSpPr>
              <a:stCxn id="4550" idx="6"/>
              <a:endCxn id="4555"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560" name="Google Shape;4560;p267"/>
            <p:cNvCxnSpPr>
              <a:stCxn id="4527" idx="5"/>
              <a:endCxn id="4548"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561" name="Google Shape;4561;p267"/>
            <p:cNvCxnSpPr>
              <a:stCxn id="4527" idx="7"/>
              <a:endCxn id="4537"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562" name="Google Shape;4562;p267"/>
            <p:cNvCxnSpPr>
              <a:stCxn id="4542" idx="3"/>
              <a:endCxn id="4547"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563" name="Google Shape;4563;p267"/>
            <p:cNvCxnSpPr>
              <a:stCxn id="4536" idx="4"/>
              <a:endCxn id="4549"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7" name="Shape 4567"/>
        <p:cNvGrpSpPr/>
        <p:nvPr/>
      </p:nvGrpSpPr>
      <p:grpSpPr>
        <a:xfrm>
          <a:off x="0" y="0"/>
          <a:ext cx="0" cy="0"/>
          <a:chOff x="0" y="0"/>
          <a:chExt cx="0" cy="0"/>
        </a:xfrm>
      </p:grpSpPr>
      <p:sp>
        <p:nvSpPr>
          <p:cNvPr id="4568" name="Google Shape;4568;p26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a:t>
            </a:r>
            <a:endParaRPr/>
          </a:p>
        </p:txBody>
      </p:sp>
      <p:sp>
        <p:nvSpPr>
          <p:cNvPr id="4569" name="Google Shape;4569;p268"/>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disconnect a graph by removing </a:t>
            </a:r>
            <a:r>
              <a:rPr b="1" lang="en"/>
              <a:t>edges</a:t>
            </a:r>
            <a:endParaRPr b="1"/>
          </a:p>
          <a:p>
            <a:pPr indent="0" lvl="0" marL="0" rtl="0" algn="l">
              <a:spcBef>
                <a:spcPts val="0"/>
              </a:spcBef>
              <a:spcAft>
                <a:spcPts val="0"/>
              </a:spcAft>
              <a:buNone/>
            </a:pPr>
            <a:r>
              <a:t/>
            </a:r>
            <a:endParaRPr/>
          </a:p>
        </p:txBody>
      </p:sp>
      <p:sp>
        <p:nvSpPr>
          <p:cNvPr id="4570" name="Google Shape;4570;p268"/>
          <p:cNvSpPr txBox="1"/>
          <p:nvPr/>
        </p:nvSpPr>
        <p:spPr>
          <a:xfrm>
            <a:off x="6753375" y="2381850"/>
            <a:ext cx="428700" cy="379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268"/>
          <p:cNvSpPr txBox="1"/>
          <p:nvPr/>
        </p:nvSpPr>
        <p:spPr>
          <a:xfrm>
            <a:off x="6711675" y="3198325"/>
            <a:ext cx="308100" cy="289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4572" name="Google Shape;4572;p268"/>
          <p:cNvGrpSpPr/>
          <p:nvPr/>
        </p:nvGrpSpPr>
        <p:grpSpPr>
          <a:xfrm>
            <a:off x="5370463" y="653813"/>
            <a:ext cx="3384048" cy="4016267"/>
            <a:chOff x="5370463" y="653813"/>
            <a:chExt cx="3384048" cy="4016267"/>
          </a:xfrm>
        </p:grpSpPr>
        <p:sp>
          <p:nvSpPr>
            <p:cNvPr id="4573" name="Google Shape;4573;p268"/>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268"/>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268"/>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268"/>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77" name="Google Shape;4577;p268"/>
            <p:cNvCxnSpPr>
              <a:stCxn id="4573" idx="3"/>
              <a:endCxn id="4574"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578" name="Google Shape;4578;p268"/>
            <p:cNvCxnSpPr>
              <a:stCxn id="4576" idx="1"/>
              <a:endCxn id="4574"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579" name="Google Shape;4579;p268"/>
            <p:cNvCxnSpPr>
              <a:stCxn id="4573" idx="4"/>
              <a:endCxn id="4576"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580" name="Google Shape;4580;p268"/>
            <p:cNvCxnSpPr>
              <a:stCxn id="4573" idx="5"/>
              <a:endCxn id="4575"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581" name="Google Shape;4581;p268"/>
            <p:cNvCxnSpPr>
              <a:stCxn id="4575" idx="2"/>
              <a:endCxn id="4574"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582" name="Google Shape;4582;p268"/>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268"/>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268"/>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268"/>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86" name="Google Shape;4586;p268"/>
            <p:cNvCxnSpPr>
              <a:stCxn id="4582" idx="3"/>
              <a:endCxn id="4583"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587" name="Google Shape;4587;p268"/>
            <p:cNvCxnSpPr>
              <a:stCxn id="4585" idx="0"/>
              <a:endCxn id="4583"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588" name="Google Shape;4588;p268"/>
            <p:cNvCxnSpPr>
              <a:stCxn id="4582" idx="5"/>
              <a:endCxn id="4584"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589" name="Google Shape;4589;p268"/>
            <p:cNvCxnSpPr>
              <a:stCxn id="4584" idx="2"/>
              <a:endCxn id="4583"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590" name="Google Shape;4590;p268"/>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1" name="Google Shape;4591;p268"/>
            <p:cNvCxnSpPr>
              <a:stCxn id="4590" idx="0"/>
              <a:endCxn id="4583"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592" name="Google Shape;4592;p268"/>
            <p:cNvCxnSpPr>
              <a:stCxn id="4584" idx="3"/>
              <a:endCxn id="4585"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593" name="Google Shape;4593;p268"/>
            <p:cNvCxnSpPr>
              <a:stCxn id="4584" idx="3"/>
              <a:endCxn id="4590"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594" name="Google Shape;4594;p268"/>
            <p:cNvCxnSpPr>
              <a:stCxn id="4582" idx="4"/>
              <a:endCxn id="4590"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595" name="Google Shape;4595;p268"/>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268"/>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268"/>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268"/>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9" name="Google Shape;4599;p268"/>
            <p:cNvCxnSpPr>
              <a:stCxn id="4595" idx="3"/>
              <a:endCxn id="4596"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600" name="Google Shape;4600;p268"/>
            <p:cNvCxnSpPr>
              <a:stCxn id="4598" idx="0"/>
              <a:endCxn id="4596"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601" name="Google Shape;4601;p268"/>
            <p:cNvCxnSpPr>
              <a:stCxn id="4595" idx="5"/>
              <a:endCxn id="4597"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602" name="Google Shape;4602;p268"/>
            <p:cNvCxnSpPr>
              <a:stCxn id="4597" idx="2"/>
              <a:endCxn id="4596"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603" name="Google Shape;4603;p268"/>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04" name="Google Shape;4604;p268"/>
            <p:cNvCxnSpPr>
              <a:stCxn id="4597" idx="3"/>
              <a:endCxn id="4598"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605" name="Google Shape;4605;p268"/>
            <p:cNvCxnSpPr>
              <a:stCxn id="4603" idx="2"/>
              <a:endCxn id="4596"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606" name="Google Shape;4606;p268"/>
            <p:cNvCxnSpPr>
              <a:stCxn id="4603" idx="0"/>
              <a:endCxn id="4595"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607" name="Google Shape;4607;p268"/>
            <p:cNvCxnSpPr>
              <a:stCxn id="4598" idx="6"/>
              <a:endCxn id="4603"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608" name="Google Shape;4608;p268"/>
            <p:cNvCxnSpPr>
              <a:stCxn id="4575" idx="5"/>
              <a:endCxn id="4596"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609" name="Google Shape;4609;p268"/>
            <p:cNvCxnSpPr>
              <a:stCxn id="4584" idx="4"/>
              <a:endCxn id="4597"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
        <p:nvSpPr>
          <p:cNvPr id="4610" name="Google Shape;4610;p268"/>
          <p:cNvSpPr txBox="1"/>
          <p:nvPr/>
        </p:nvSpPr>
        <p:spPr>
          <a:xfrm>
            <a:off x="4916650" y="896075"/>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We removed some edges</a:t>
            </a:r>
            <a:endParaRPr b="1">
              <a:solidFill>
                <a:srgbClr val="FF0000"/>
              </a:solidFill>
            </a:endParaRPr>
          </a:p>
        </p:txBody>
      </p:sp>
      <p:sp>
        <p:nvSpPr>
          <p:cNvPr id="4611" name="Google Shape;4611;p268"/>
          <p:cNvSpPr txBox="1"/>
          <p:nvPr/>
        </p:nvSpPr>
        <p:spPr>
          <a:xfrm>
            <a:off x="4099750" y="4076700"/>
            <a:ext cx="27174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Is this graph disconnected?</a:t>
            </a:r>
            <a:endParaRPr b="1">
              <a:solidFill>
                <a:srgbClr val="FF0000"/>
              </a:solidFill>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5" name="Shape 4615"/>
        <p:cNvGrpSpPr/>
        <p:nvPr/>
      </p:nvGrpSpPr>
      <p:grpSpPr>
        <a:xfrm>
          <a:off x="0" y="0"/>
          <a:ext cx="0" cy="0"/>
          <a:chOff x="0" y="0"/>
          <a:chExt cx="0" cy="0"/>
        </a:xfrm>
      </p:grpSpPr>
      <p:sp>
        <p:nvSpPr>
          <p:cNvPr id="4616" name="Google Shape;4616;p26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a:t>
            </a:r>
            <a:endParaRPr/>
          </a:p>
        </p:txBody>
      </p:sp>
      <p:sp>
        <p:nvSpPr>
          <p:cNvPr id="4617" name="Google Shape;4617;p269"/>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disconnect a graph by removing </a:t>
            </a:r>
            <a:r>
              <a:rPr b="1" lang="en"/>
              <a:t>edges</a:t>
            </a:r>
            <a:endParaRPr b="1"/>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4618" name="Google Shape;4618;p269"/>
          <p:cNvSpPr txBox="1"/>
          <p:nvPr/>
        </p:nvSpPr>
        <p:spPr>
          <a:xfrm>
            <a:off x="6753375" y="2381850"/>
            <a:ext cx="428700" cy="379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269"/>
          <p:cNvSpPr txBox="1"/>
          <p:nvPr/>
        </p:nvSpPr>
        <p:spPr>
          <a:xfrm>
            <a:off x="6711675" y="3198325"/>
            <a:ext cx="308100" cy="289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269"/>
          <p:cNvSpPr txBox="1"/>
          <p:nvPr/>
        </p:nvSpPr>
        <p:spPr>
          <a:xfrm>
            <a:off x="4726150" y="3982175"/>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Now it is!</a:t>
            </a:r>
            <a:endParaRPr b="1">
              <a:solidFill>
                <a:srgbClr val="FF0000"/>
              </a:solidFill>
            </a:endParaRPr>
          </a:p>
        </p:txBody>
      </p:sp>
      <p:grpSp>
        <p:nvGrpSpPr>
          <p:cNvPr id="4621" name="Google Shape;4621;p269"/>
          <p:cNvGrpSpPr/>
          <p:nvPr/>
        </p:nvGrpSpPr>
        <p:grpSpPr>
          <a:xfrm>
            <a:off x="5370463" y="653813"/>
            <a:ext cx="3384048" cy="4016267"/>
            <a:chOff x="5370463" y="653813"/>
            <a:chExt cx="3384048" cy="4016267"/>
          </a:xfrm>
        </p:grpSpPr>
        <p:sp>
          <p:nvSpPr>
            <p:cNvPr id="4622" name="Google Shape;4622;p269"/>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269"/>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269"/>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269"/>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6" name="Google Shape;4626;p269"/>
            <p:cNvCxnSpPr>
              <a:stCxn id="4622" idx="3"/>
              <a:endCxn id="4623"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627" name="Google Shape;4627;p269"/>
            <p:cNvCxnSpPr>
              <a:stCxn id="4625" idx="1"/>
              <a:endCxn id="4623"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628" name="Google Shape;4628;p269"/>
            <p:cNvCxnSpPr>
              <a:stCxn id="4622" idx="4"/>
              <a:endCxn id="4625"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629" name="Google Shape;4629;p269"/>
            <p:cNvCxnSpPr>
              <a:stCxn id="4622" idx="5"/>
              <a:endCxn id="4624"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630" name="Google Shape;4630;p269"/>
            <p:cNvCxnSpPr>
              <a:stCxn id="4624" idx="2"/>
              <a:endCxn id="4623"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631" name="Google Shape;4631;p269"/>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269"/>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269"/>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269"/>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35" name="Google Shape;4635;p269"/>
            <p:cNvCxnSpPr>
              <a:stCxn id="4631" idx="3"/>
              <a:endCxn id="463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636" name="Google Shape;4636;p269"/>
            <p:cNvCxnSpPr>
              <a:stCxn id="4634" idx="0"/>
              <a:endCxn id="463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637" name="Google Shape;4637;p269"/>
            <p:cNvCxnSpPr>
              <a:stCxn id="4631" idx="5"/>
              <a:endCxn id="463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638" name="Google Shape;4638;p269"/>
            <p:cNvCxnSpPr>
              <a:stCxn id="4633" idx="2"/>
              <a:endCxn id="463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639" name="Google Shape;4639;p269"/>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40" name="Google Shape;4640;p269"/>
            <p:cNvCxnSpPr>
              <a:stCxn id="4639" idx="0"/>
              <a:endCxn id="463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641" name="Google Shape;4641;p269"/>
            <p:cNvCxnSpPr>
              <a:stCxn id="4633" idx="3"/>
              <a:endCxn id="463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642" name="Google Shape;4642;p269"/>
            <p:cNvCxnSpPr>
              <a:stCxn id="4633" idx="3"/>
              <a:endCxn id="463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643" name="Google Shape;4643;p269"/>
            <p:cNvCxnSpPr>
              <a:stCxn id="4631" idx="4"/>
              <a:endCxn id="463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644" name="Google Shape;4644;p269"/>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269"/>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269"/>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269"/>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48" name="Google Shape;4648;p269"/>
            <p:cNvCxnSpPr>
              <a:stCxn id="4644" idx="3"/>
              <a:endCxn id="4645"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649" name="Google Shape;4649;p269"/>
            <p:cNvCxnSpPr>
              <a:stCxn id="4647" idx="0"/>
              <a:endCxn id="4645"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650" name="Google Shape;4650;p269"/>
            <p:cNvCxnSpPr>
              <a:stCxn id="4644" idx="5"/>
              <a:endCxn id="4646"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651" name="Google Shape;4651;p269"/>
            <p:cNvCxnSpPr>
              <a:stCxn id="4646" idx="2"/>
              <a:endCxn id="4645"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652" name="Google Shape;4652;p269"/>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53" name="Google Shape;4653;p269"/>
            <p:cNvCxnSpPr>
              <a:stCxn id="4646" idx="3"/>
              <a:endCxn id="4647"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654" name="Google Shape;4654;p269"/>
            <p:cNvCxnSpPr>
              <a:stCxn id="4652" idx="2"/>
              <a:endCxn id="4645"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655" name="Google Shape;4655;p269"/>
            <p:cNvCxnSpPr>
              <a:stCxn id="4652" idx="0"/>
              <a:endCxn id="4644"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656" name="Google Shape;4656;p269"/>
            <p:cNvCxnSpPr>
              <a:stCxn id="4647" idx="6"/>
              <a:endCxn id="4652"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657" name="Google Shape;4657;p269"/>
            <p:cNvCxnSpPr>
              <a:stCxn id="4624" idx="5"/>
              <a:endCxn id="4645"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1" name="Shape 4661"/>
        <p:cNvGrpSpPr/>
        <p:nvPr/>
      </p:nvGrpSpPr>
      <p:grpSpPr>
        <a:xfrm>
          <a:off x="0" y="0"/>
          <a:ext cx="0" cy="0"/>
          <a:chOff x="0" y="0"/>
          <a:chExt cx="0" cy="0"/>
        </a:xfrm>
      </p:grpSpPr>
      <p:sp>
        <p:nvSpPr>
          <p:cNvPr id="4662" name="Google Shape;4662;p2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a:t>
            </a:r>
            <a:endParaRPr/>
          </a:p>
        </p:txBody>
      </p:sp>
      <p:sp>
        <p:nvSpPr>
          <p:cNvPr id="4663" name="Google Shape;4663;p270"/>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disconnect a graph by removing </a:t>
            </a:r>
            <a:r>
              <a:rPr b="1" lang="en"/>
              <a:t>edges</a:t>
            </a:r>
            <a:endParaRPr b="1"/>
          </a:p>
          <a:p>
            <a:pPr indent="-342900" lvl="0" marL="457200" rtl="0" algn="l">
              <a:spcBef>
                <a:spcPts val="0"/>
              </a:spcBef>
              <a:spcAft>
                <a:spcPts val="0"/>
              </a:spcAft>
              <a:buSzPts val="1800"/>
              <a:buChar char="●"/>
            </a:pPr>
            <a:r>
              <a:rPr lang="en"/>
              <a:t>In some graphs removing just one edge leads to disconnection</a:t>
            </a:r>
            <a:endParaRPr/>
          </a:p>
          <a:p>
            <a:pPr indent="-317500" lvl="1" marL="914400" rtl="0" algn="l">
              <a:spcBef>
                <a:spcPts val="0"/>
              </a:spcBef>
              <a:spcAft>
                <a:spcPts val="0"/>
              </a:spcAft>
              <a:buSzPts val="1400"/>
              <a:buChar char="○"/>
            </a:pPr>
            <a:r>
              <a:rPr lang="en"/>
              <a:t>Edges with the property of being able to disconnect the graph upon removal are called </a:t>
            </a:r>
            <a:r>
              <a:rPr b="1" lang="en"/>
              <a:t>bridges</a:t>
            </a:r>
            <a:endParaRPr b="1"/>
          </a:p>
          <a:p>
            <a:pPr indent="0" lvl="0" marL="0" rtl="0" algn="l">
              <a:spcBef>
                <a:spcPts val="0"/>
              </a:spcBef>
              <a:spcAft>
                <a:spcPts val="0"/>
              </a:spcAft>
              <a:buNone/>
            </a:pPr>
            <a:r>
              <a:t/>
            </a:r>
            <a:endParaRPr/>
          </a:p>
        </p:txBody>
      </p:sp>
      <p:sp>
        <p:nvSpPr>
          <p:cNvPr id="4664" name="Google Shape;4664;p270"/>
          <p:cNvSpPr txBox="1"/>
          <p:nvPr/>
        </p:nvSpPr>
        <p:spPr>
          <a:xfrm>
            <a:off x="4626000" y="939800"/>
            <a:ext cx="16179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 bridge</a:t>
            </a:r>
            <a:endParaRPr b="1">
              <a:solidFill>
                <a:srgbClr val="FF0000"/>
              </a:solidFill>
            </a:endParaRPr>
          </a:p>
        </p:txBody>
      </p:sp>
      <p:grpSp>
        <p:nvGrpSpPr>
          <p:cNvPr id="4665" name="Google Shape;4665;p270"/>
          <p:cNvGrpSpPr/>
          <p:nvPr/>
        </p:nvGrpSpPr>
        <p:grpSpPr>
          <a:xfrm>
            <a:off x="5370463" y="653813"/>
            <a:ext cx="3384048" cy="4016267"/>
            <a:chOff x="5370463" y="653813"/>
            <a:chExt cx="3384048" cy="4016267"/>
          </a:xfrm>
        </p:grpSpPr>
        <p:sp>
          <p:nvSpPr>
            <p:cNvPr id="4666" name="Google Shape;4666;p270"/>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270"/>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270"/>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270"/>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0" name="Google Shape;4670;p270"/>
            <p:cNvCxnSpPr>
              <a:stCxn id="4666" idx="3"/>
              <a:endCxn id="4667"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671" name="Google Shape;4671;p270"/>
            <p:cNvCxnSpPr>
              <a:stCxn id="4669" idx="1"/>
              <a:endCxn id="4667"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672" name="Google Shape;4672;p270"/>
            <p:cNvCxnSpPr>
              <a:stCxn id="4666" idx="4"/>
              <a:endCxn id="4669"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673" name="Google Shape;4673;p270"/>
            <p:cNvCxnSpPr>
              <a:stCxn id="4666" idx="5"/>
              <a:endCxn id="4668"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674" name="Google Shape;4674;p270"/>
            <p:cNvCxnSpPr>
              <a:stCxn id="4668" idx="2"/>
              <a:endCxn id="4667"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675" name="Google Shape;4675;p270"/>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270"/>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270"/>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270"/>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9" name="Google Shape;4679;p270"/>
            <p:cNvCxnSpPr>
              <a:stCxn id="4675" idx="3"/>
              <a:endCxn id="4676"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680" name="Google Shape;4680;p270"/>
            <p:cNvCxnSpPr>
              <a:stCxn id="4678" idx="0"/>
              <a:endCxn id="4676"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681" name="Google Shape;4681;p270"/>
            <p:cNvCxnSpPr>
              <a:stCxn id="4675" idx="5"/>
              <a:endCxn id="4677"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682" name="Google Shape;4682;p270"/>
            <p:cNvCxnSpPr>
              <a:stCxn id="4677" idx="2"/>
              <a:endCxn id="4676"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683" name="Google Shape;4683;p270"/>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84" name="Google Shape;4684;p270"/>
            <p:cNvCxnSpPr>
              <a:stCxn id="4683" idx="0"/>
              <a:endCxn id="4676"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685" name="Google Shape;4685;p270"/>
            <p:cNvCxnSpPr>
              <a:stCxn id="4677" idx="3"/>
              <a:endCxn id="4678"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686" name="Google Shape;4686;p270"/>
            <p:cNvCxnSpPr>
              <a:stCxn id="4677" idx="3"/>
              <a:endCxn id="4683"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687" name="Google Shape;4687;p270"/>
            <p:cNvCxnSpPr>
              <a:stCxn id="4675" idx="4"/>
              <a:endCxn id="4683"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688" name="Google Shape;4688;p270"/>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270"/>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270"/>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270"/>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2" name="Google Shape;4692;p270"/>
            <p:cNvCxnSpPr>
              <a:stCxn id="4688" idx="3"/>
              <a:endCxn id="4689"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693" name="Google Shape;4693;p270"/>
            <p:cNvCxnSpPr>
              <a:stCxn id="4691" idx="0"/>
              <a:endCxn id="4689"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694" name="Google Shape;4694;p270"/>
            <p:cNvCxnSpPr>
              <a:stCxn id="4688" idx="5"/>
              <a:endCxn id="4690"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695" name="Google Shape;4695;p270"/>
            <p:cNvCxnSpPr>
              <a:stCxn id="4690" idx="2"/>
              <a:endCxn id="4689"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696" name="Google Shape;4696;p270"/>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7" name="Google Shape;4697;p270"/>
            <p:cNvCxnSpPr>
              <a:stCxn id="4690" idx="3"/>
              <a:endCxn id="4691"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698" name="Google Shape;4698;p270"/>
            <p:cNvCxnSpPr>
              <a:stCxn id="4696" idx="2"/>
              <a:endCxn id="4689"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699" name="Google Shape;4699;p270"/>
            <p:cNvCxnSpPr>
              <a:stCxn id="4696" idx="0"/>
              <a:endCxn id="4688"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700" name="Google Shape;4700;p270"/>
            <p:cNvCxnSpPr>
              <a:stCxn id="4691" idx="6"/>
              <a:endCxn id="4696"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701" name="Google Shape;4701;p270"/>
            <p:cNvCxnSpPr>
              <a:stCxn id="4668" idx="7"/>
              <a:endCxn id="4678" idx="3"/>
            </p:cNvCxnSpPr>
            <p:nvPr/>
          </p:nvCxnSpPr>
          <p:spPr>
            <a:xfrm flipH="1" rot="10800000">
              <a:off x="6516801" y="1640899"/>
              <a:ext cx="754200" cy="913800"/>
            </a:xfrm>
            <a:prstGeom prst="straightConnector1">
              <a:avLst/>
            </a:prstGeom>
            <a:noFill/>
            <a:ln cap="flat" cmpd="sng" w="28575">
              <a:solidFill>
                <a:srgbClr val="FF0000"/>
              </a:solidFill>
              <a:prstDash val="solid"/>
              <a:round/>
              <a:headEnd len="med" w="med" type="none"/>
              <a:tailEnd len="med" w="med" type="none"/>
            </a:ln>
          </p:spPr>
        </p:cxnSp>
        <p:cxnSp>
          <p:nvCxnSpPr>
            <p:cNvPr id="4702" name="Google Shape;4702;p270"/>
            <p:cNvCxnSpPr>
              <a:stCxn id="4683" idx="3"/>
              <a:endCxn id="4688"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703" name="Google Shape;4703;p270"/>
            <p:cNvCxnSpPr>
              <a:stCxn id="4677" idx="4"/>
              <a:endCxn id="4690"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cxnSp>
        <p:nvCxnSpPr>
          <p:cNvPr id="4704" name="Google Shape;4704;p270"/>
          <p:cNvCxnSpPr>
            <a:stCxn id="4664" idx="2"/>
          </p:cNvCxnSpPr>
          <p:nvPr/>
        </p:nvCxnSpPr>
        <p:spPr>
          <a:xfrm>
            <a:off x="5434950" y="1379600"/>
            <a:ext cx="1384500" cy="4563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8" name="Shape 4708"/>
        <p:cNvGrpSpPr/>
        <p:nvPr/>
      </p:nvGrpSpPr>
      <p:grpSpPr>
        <a:xfrm>
          <a:off x="0" y="0"/>
          <a:ext cx="0" cy="0"/>
          <a:chOff x="0" y="0"/>
          <a:chExt cx="0" cy="0"/>
        </a:xfrm>
      </p:grpSpPr>
      <p:sp>
        <p:nvSpPr>
          <p:cNvPr id="4709" name="Google Shape;4709;p2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710" name="Google Shape;4710;p271"/>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grpSp>
        <p:nvGrpSpPr>
          <p:cNvPr id="4711" name="Google Shape;4711;p271"/>
          <p:cNvGrpSpPr/>
          <p:nvPr/>
        </p:nvGrpSpPr>
        <p:grpSpPr>
          <a:xfrm>
            <a:off x="5370463" y="653813"/>
            <a:ext cx="3384048" cy="4016267"/>
            <a:chOff x="5370463" y="653813"/>
            <a:chExt cx="3384048" cy="4016267"/>
          </a:xfrm>
        </p:grpSpPr>
        <p:sp>
          <p:nvSpPr>
            <p:cNvPr id="4712" name="Google Shape;4712;p271"/>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271"/>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271"/>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271"/>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16" name="Google Shape;4716;p271"/>
            <p:cNvCxnSpPr>
              <a:stCxn id="4712" idx="3"/>
              <a:endCxn id="4713"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717" name="Google Shape;4717;p271"/>
            <p:cNvCxnSpPr>
              <a:stCxn id="4715" idx="1"/>
              <a:endCxn id="4713"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718" name="Google Shape;4718;p271"/>
            <p:cNvCxnSpPr>
              <a:stCxn id="4712" idx="4"/>
              <a:endCxn id="4715"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719" name="Google Shape;4719;p271"/>
            <p:cNvCxnSpPr>
              <a:stCxn id="4712" idx="5"/>
              <a:endCxn id="4714"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720" name="Google Shape;4720;p271"/>
            <p:cNvCxnSpPr>
              <a:stCxn id="4714" idx="2"/>
              <a:endCxn id="4713"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721" name="Google Shape;4721;p271"/>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271"/>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271"/>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271"/>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25" name="Google Shape;4725;p271"/>
            <p:cNvCxnSpPr>
              <a:stCxn id="4721" idx="3"/>
              <a:endCxn id="472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726" name="Google Shape;4726;p271"/>
            <p:cNvCxnSpPr>
              <a:stCxn id="4724" idx="0"/>
              <a:endCxn id="472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727" name="Google Shape;4727;p271"/>
            <p:cNvCxnSpPr>
              <a:stCxn id="4721" idx="5"/>
              <a:endCxn id="472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728" name="Google Shape;4728;p271"/>
            <p:cNvCxnSpPr>
              <a:stCxn id="4723" idx="2"/>
              <a:endCxn id="472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729" name="Google Shape;4729;p271"/>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30" name="Google Shape;4730;p271"/>
            <p:cNvCxnSpPr>
              <a:stCxn id="4729" idx="0"/>
              <a:endCxn id="472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731" name="Google Shape;4731;p271"/>
            <p:cNvCxnSpPr>
              <a:stCxn id="4723" idx="3"/>
              <a:endCxn id="472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732" name="Google Shape;4732;p271"/>
            <p:cNvCxnSpPr>
              <a:stCxn id="4723" idx="3"/>
              <a:endCxn id="472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733" name="Google Shape;4733;p271"/>
            <p:cNvCxnSpPr>
              <a:stCxn id="4721" idx="4"/>
              <a:endCxn id="472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734" name="Google Shape;4734;p271"/>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271"/>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271"/>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271"/>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38" name="Google Shape;4738;p271"/>
            <p:cNvCxnSpPr>
              <a:stCxn id="4734" idx="3"/>
              <a:endCxn id="4735"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739" name="Google Shape;4739;p271"/>
            <p:cNvCxnSpPr>
              <a:stCxn id="4737" idx="0"/>
              <a:endCxn id="4735"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740" name="Google Shape;4740;p271"/>
            <p:cNvCxnSpPr>
              <a:stCxn id="4734" idx="5"/>
              <a:endCxn id="4736"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741" name="Google Shape;4741;p271"/>
            <p:cNvCxnSpPr>
              <a:stCxn id="4736" idx="2"/>
              <a:endCxn id="4735"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742" name="Google Shape;4742;p271"/>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43" name="Google Shape;4743;p271"/>
            <p:cNvCxnSpPr>
              <a:stCxn id="4736" idx="3"/>
              <a:endCxn id="4737"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744" name="Google Shape;4744;p271"/>
            <p:cNvCxnSpPr>
              <a:stCxn id="4742" idx="2"/>
              <a:endCxn id="4735"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745" name="Google Shape;4745;p271"/>
            <p:cNvCxnSpPr>
              <a:stCxn id="4742" idx="0"/>
              <a:endCxn id="4734"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746" name="Google Shape;4746;p271"/>
            <p:cNvCxnSpPr>
              <a:stCxn id="4737" idx="6"/>
              <a:endCxn id="4742"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747" name="Google Shape;4747;p271"/>
            <p:cNvCxnSpPr>
              <a:stCxn id="4714" idx="5"/>
              <a:endCxn id="4735"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748" name="Google Shape;4748;p271"/>
            <p:cNvCxnSpPr>
              <a:stCxn id="4714" idx="7"/>
              <a:endCxn id="4724"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749" name="Google Shape;4749;p271"/>
            <p:cNvCxnSpPr>
              <a:stCxn id="4729" idx="3"/>
              <a:endCxn id="4734"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750" name="Google Shape;4750;p271"/>
            <p:cNvCxnSpPr>
              <a:stCxn id="4723" idx="4"/>
              <a:endCxn id="4736"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4" name="Shape 4754"/>
        <p:cNvGrpSpPr/>
        <p:nvPr/>
      </p:nvGrpSpPr>
      <p:grpSpPr>
        <a:xfrm>
          <a:off x="0" y="0"/>
          <a:ext cx="0" cy="0"/>
          <a:chOff x="0" y="0"/>
          <a:chExt cx="0" cy="0"/>
        </a:xfrm>
      </p:grpSpPr>
      <p:sp>
        <p:nvSpPr>
          <p:cNvPr id="4755" name="Google Shape;4755;p27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756" name="Google Shape;4756;p272"/>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4757" name="Google Shape;4757;p272"/>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272"/>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272"/>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60" name="Google Shape;4760;p272"/>
          <p:cNvCxnSpPr>
            <a:stCxn id="4757" idx="3"/>
            <a:endCxn id="4758"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761" name="Google Shape;4761;p272"/>
          <p:cNvCxnSpPr>
            <a:stCxn id="4759" idx="1"/>
            <a:endCxn id="4758"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762" name="Google Shape;4762;p272"/>
          <p:cNvCxnSpPr>
            <a:stCxn id="4757" idx="4"/>
            <a:endCxn id="4759"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sp>
        <p:nvSpPr>
          <p:cNvPr id="4763" name="Google Shape;4763;p272"/>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272"/>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272"/>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272"/>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67" name="Google Shape;4767;p272"/>
          <p:cNvCxnSpPr>
            <a:stCxn id="4763" idx="3"/>
            <a:endCxn id="476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768" name="Google Shape;4768;p272"/>
          <p:cNvCxnSpPr>
            <a:stCxn id="4766" idx="0"/>
            <a:endCxn id="4764"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769" name="Google Shape;4769;p272"/>
          <p:cNvCxnSpPr>
            <a:stCxn id="4763" idx="5"/>
            <a:endCxn id="476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770" name="Google Shape;4770;p272"/>
          <p:cNvCxnSpPr>
            <a:stCxn id="4765" idx="2"/>
            <a:endCxn id="476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771" name="Google Shape;4771;p272"/>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72" name="Google Shape;4772;p272"/>
          <p:cNvCxnSpPr>
            <a:stCxn id="4771" idx="0"/>
            <a:endCxn id="4764"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773" name="Google Shape;4773;p272"/>
          <p:cNvCxnSpPr>
            <a:stCxn id="4765" idx="3"/>
            <a:endCxn id="4766"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774" name="Google Shape;4774;p272"/>
          <p:cNvCxnSpPr>
            <a:stCxn id="4765" idx="3"/>
            <a:endCxn id="4771"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775" name="Google Shape;4775;p272"/>
          <p:cNvCxnSpPr>
            <a:stCxn id="4763" idx="4"/>
            <a:endCxn id="4771"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776" name="Google Shape;4776;p272"/>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272"/>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272"/>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272"/>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80" name="Google Shape;4780;p272"/>
          <p:cNvCxnSpPr>
            <a:stCxn id="4776" idx="3"/>
            <a:endCxn id="477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781" name="Google Shape;4781;p272"/>
          <p:cNvCxnSpPr>
            <a:stCxn id="4779" idx="0"/>
            <a:endCxn id="4777"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782" name="Google Shape;4782;p272"/>
          <p:cNvCxnSpPr>
            <a:stCxn id="4776" idx="5"/>
            <a:endCxn id="4778"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783" name="Google Shape;4783;p272"/>
          <p:cNvCxnSpPr>
            <a:stCxn id="4778" idx="2"/>
            <a:endCxn id="4777"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784" name="Google Shape;4784;p272"/>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85" name="Google Shape;4785;p272"/>
          <p:cNvCxnSpPr>
            <a:stCxn id="4778" idx="3"/>
            <a:endCxn id="4779"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786" name="Google Shape;4786;p272"/>
          <p:cNvCxnSpPr>
            <a:stCxn id="4784" idx="2"/>
            <a:endCxn id="477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787" name="Google Shape;4787;p272"/>
          <p:cNvCxnSpPr>
            <a:stCxn id="4784" idx="0"/>
            <a:endCxn id="477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788" name="Google Shape;4788;p272"/>
          <p:cNvCxnSpPr>
            <a:stCxn id="4779" idx="6"/>
            <a:endCxn id="4784"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789" name="Google Shape;4789;p272"/>
          <p:cNvCxnSpPr>
            <a:stCxn id="4771" idx="3"/>
            <a:endCxn id="4776"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790" name="Google Shape;4790;p272"/>
          <p:cNvCxnSpPr>
            <a:stCxn id="4765" idx="4"/>
            <a:endCxn id="4778"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
        <p:nvSpPr>
          <p:cNvPr id="4791" name="Google Shape;4791;p272"/>
          <p:cNvSpPr txBox="1"/>
          <p:nvPr/>
        </p:nvSpPr>
        <p:spPr>
          <a:xfrm>
            <a:off x="4916650" y="896075"/>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Oops! Disconnected!</a:t>
            </a:r>
            <a:endParaRPr b="1">
              <a:solidFill>
                <a:srgbClr val="FF0000"/>
              </a:solidFill>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5" name="Shape 4795"/>
        <p:cNvGrpSpPr/>
        <p:nvPr/>
      </p:nvGrpSpPr>
      <p:grpSpPr>
        <a:xfrm>
          <a:off x="0" y="0"/>
          <a:ext cx="0" cy="0"/>
          <a:chOff x="0" y="0"/>
          <a:chExt cx="0" cy="0"/>
        </a:xfrm>
      </p:grpSpPr>
      <p:sp>
        <p:nvSpPr>
          <p:cNvPr id="4796" name="Google Shape;4796;p27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797" name="Google Shape;4797;p273"/>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It can be easier to disconnect a graph this way because nodes take their links with them!</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4798" name="Google Shape;4798;p273"/>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273"/>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273"/>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01" name="Google Shape;4801;p273"/>
          <p:cNvCxnSpPr>
            <a:stCxn id="4798" idx="3"/>
            <a:endCxn id="4799"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802" name="Google Shape;4802;p273"/>
          <p:cNvCxnSpPr>
            <a:stCxn id="4800" idx="1"/>
            <a:endCxn id="4799"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803" name="Google Shape;4803;p273"/>
          <p:cNvCxnSpPr>
            <a:stCxn id="4798" idx="4"/>
            <a:endCxn id="4800"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sp>
        <p:nvSpPr>
          <p:cNvPr id="4804" name="Google Shape;4804;p273"/>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273"/>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273"/>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273"/>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08" name="Google Shape;4808;p273"/>
          <p:cNvCxnSpPr>
            <a:stCxn id="4804" idx="3"/>
            <a:endCxn id="4805"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809" name="Google Shape;4809;p273"/>
          <p:cNvCxnSpPr>
            <a:stCxn id="4807" idx="0"/>
            <a:endCxn id="4805"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810" name="Google Shape;4810;p273"/>
          <p:cNvCxnSpPr>
            <a:stCxn id="4804" idx="5"/>
            <a:endCxn id="4806"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811" name="Google Shape;4811;p273"/>
          <p:cNvCxnSpPr>
            <a:stCxn id="4806" idx="2"/>
            <a:endCxn id="4805"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812" name="Google Shape;4812;p273"/>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13" name="Google Shape;4813;p273"/>
          <p:cNvCxnSpPr>
            <a:stCxn id="4812" idx="0"/>
            <a:endCxn id="4805"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814" name="Google Shape;4814;p273"/>
          <p:cNvCxnSpPr>
            <a:stCxn id="4806" idx="3"/>
            <a:endCxn id="4807"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815" name="Google Shape;4815;p273"/>
          <p:cNvCxnSpPr>
            <a:stCxn id="4806" idx="3"/>
            <a:endCxn id="4812"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816" name="Google Shape;4816;p273"/>
          <p:cNvCxnSpPr>
            <a:stCxn id="4804" idx="4"/>
            <a:endCxn id="4812"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817" name="Google Shape;4817;p273"/>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273"/>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273"/>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273"/>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21" name="Google Shape;4821;p273"/>
          <p:cNvCxnSpPr>
            <a:stCxn id="4817" idx="3"/>
            <a:endCxn id="4818"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822" name="Google Shape;4822;p273"/>
          <p:cNvCxnSpPr>
            <a:stCxn id="4820" idx="0"/>
            <a:endCxn id="4818"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823" name="Google Shape;4823;p273"/>
          <p:cNvCxnSpPr>
            <a:stCxn id="4817" idx="5"/>
            <a:endCxn id="4819"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824" name="Google Shape;4824;p273"/>
          <p:cNvCxnSpPr>
            <a:stCxn id="4819" idx="2"/>
            <a:endCxn id="4818"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825" name="Google Shape;4825;p273"/>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26" name="Google Shape;4826;p273"/>
          <p:cNvCxnSpPr>
            <a:stCxn id="4819" idx="3"/>
            <a:endCxn id="4820"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827" name="Google Shape;4827;p273"/>
          <p:cNvCxnSpPr>
            <a:stCxn id="4825" idx="2"/>
            <a:endCxn id="4818"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828" name="Google Shape;4828;p273"/>
          <p:cNvCxnSpPr>
            <a:stCxn id="4825" idx="0"/>
            <a:endCxn id="4817"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829" name="Google Shape;4829;p273"/>
          <p:cNvCxnSpPr>
            <a:stCxn id="4820" idx="6"/>
            <a:endCxn id="4825"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830" name="Google Shape;4830;p273"/>
          <p:cNvCxnSpPr>
            <a:stCxn id="4812" idx="3"/>
            <a:endCxn id="4817"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831" name="Google Shape;4831;p273"/>
          <p:cNvCxnSpPr>
            <a:stCxn id="4806" idx="4"/>
            <a:endCxn id="4819"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
        <p:nvSpPr>
          <p:cNvPr id="4832" name="Google Shape;4832;p273"/>
          <p:cNvSpPr txBox="1"/>
          <p:nvPr/>
        </p:nvSpPr>
        <p:spPr>
          <a:xfrm>
            <a:off x="4916650" y="896075"/>
            <a:ext cx="19005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Oops! Disconnected!</a:t>
            </a:r>
            <a:endParaRPr b="1">
              <a:solidFill>
                <a:srgbClr val="FF0000"/>
              </a:solidFill>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6" name="Shape 4836"/>
        <p:cNvGrpSpPr/>
        <p:nvPr/>
      </p:nvGrpSpPr>
      <p:grpSpPr>
        <a:xfrm>
          <a:off x="0" y="0"/>
          <a:ext cx="0" cy="0"/>
          <a:chOff x="0" y="0"/>
          <a:chExt cx="0" cy="0"/>
        </a:xfrm>
      </p:grpSpPr>
      <p:sp>
        <p:nvSpPr>
          <p:cNvPr id="4837" name="Google Shape;4837;p27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838" name="Google Shape;4838;p274"/>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Some nodes are more “important” for because they serve as the connectors</a:t>
            </a:r>
            <a:endParaRPr/>
          </a:p>
          <a:p>
            <a:pPr indent="-317500" lvl="1" marL="914400" rtl="0" algn="l">
              <a:spcBef>
                <a:spcPts val="0"/>
              </a:spcBef>
              <a:spcAft>
                <a:spcPts val="0"/>
              </a:spcAft>
              <a:buSzPts val="1400"/>
              <a:buChar char="○"/>
            </a:pPr>
            <a:r>
              <a:rPr b="1" lang="en"/>
              <a:t>Can you guess what kind of centrality “connector” nodes are more likely to have?</a:t>
            </a:r>
            <a:endParaRPr b="1"/>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grpSp>
        <p:nvGrpSpPr>
          <p:cNvPr id="4839" name="Google Shape;4839;p274"/>
          <p:cNvGrpSpPr/>
          <p:nvPr/>
        </p:nvGrpSpPr>
        <p:grpSpPr>
          <a:xfrm>
            <a:off x="5370463" y="653813"/>
            <a:ext cx="3384048" cy="4016267"/>
            <a:chOff x="5370463" y="653813"/>
            <a:chExt cx="3384048" cy="4016267"/>
          </a:xfrm>
        </p:grpSpPr>
        <p:sp>
          <p:nvSpPr>
            <p:cNvPr id="4840" name="Google Shape;4840;p274"/>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274"/>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274"/>
            <p:cNvSpPr/>
            <p:nvPr/>
          </p:nvSpPr>
          <p:spPr>
            <a:xfrm>
              <a:off x="6370588" y="2529613"/>
              <a:ext cx="171300" cy="171300"/>
            </a:xfrm>
            <a:prstGeom prst="ellipse">
              <a:avLst/>
            </a:prstGeom>
            <a:solidFill>
              <a:srgbClr val="FF0000"/>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274"/>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44" name="Google Shape;4844;p274"/>
            <p:cNvCxnSpPr>
              <a:stCxn id="4840" idx="3"/>
              <a:endCxn id="4841"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845" name="Google Shape;4845;p274"/>
            <p:cNvCxnSpPr>
              <a:stCxn id="4843" idx="1"/>
              <a:endCxn id="4841"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846" name="Google Shape;4846;p274"/>
            <p:cNvCxnSpPr>
              <a:stCxn id="4840" idx="4"/>
              <a:endCxn id="4843"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847" name="Google Shape;4847;p274"/>
            <p:cNvCxnSpPr>
              <a:stCxn id="4840" idx="5"/>
              <a:endCxn id="4842"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848" name="Google Shape;4848;p274"/>
            <p:cNvCxnSpPr>
              <a:stCxn id="4842" idx="2"/>
              <a:endCxn id="4841"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849" name="Google Shape;4849;p274"/>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274"/>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274"/>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274"/>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53" name="Google Shape;4853;p274"/>
            <p:cNvCxnSpPr>
              <a:stCxn id="4849" idx="3"/>
              <a:endCxn id="4850"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854" name="Google Shape;4854;p274"/>
            <p:cNvCxnSpPr>
              <a:stCxn id="4852" idx="0"/>
              <a:endCxn id="4850"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855" name="Google Shape;4855;p274"/>
            <p:cNvCxnSpPr>
              <a:stCxn id="4849" idx="5"/>
              <a:endCxn id="4851"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856" name="Google Shape;4856;p274"/>
            <p:cNvCxnSpPr>
              <a:stCxn id="4851" idx="2"/>
              <a:endCxn id="4850"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857" name="Google Shape;4857;p274"/>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58" name="Google Shape;4858;p274"/>
            <p:cNvCxnSpPr>
              <a:stCxn id="4857" idx="0"/>
              <a:endCxn id="4850"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859" name="Google Shape;4859;p274"/>
            <p:cNvCxnSpPr>
              <a:stCxn id="4851" idx="3"/>
              <a:endCxn id="4852"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860" name="Google Shape;4860;p274"/>
            <p:cNvCxnSpPr>
              <a:stCxn id="4851" idx="3"/>
              <a:endCxn id="4857"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861" name="Google Shape;4861;p274"/>
            <p:cNvCxnSpPr>
              <a:stCxn id="4849" idx="4"/>
              <a:endCxn id="4857"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862" name="Google Shape;4862;p274"/>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274"/>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274"/>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274"/>
            <p:cNvSpPr/>
            <p:nvPr/>
          </p:nvSpPr>
          <p:spPr>
            <a:xfrm rot="-1281263">
              <a:off x="7726031" y="4473397"/>
              <a:ext cx="171365" cy="171365"/>
            </a:xfrm>
            <a:prstGeom prst="ellipse">
              <a:avLst/>
            </a:prstGeom>
            <a:solidFill>
              <a:srgbClr val="0000FF"/>
            </a:solid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66" name="Google Shape;4866;p274"/>
            <p:cNvCxnSpPr>
              <a:stCxn id="4862" idx="3"/>
              <a:endCxn id="4863"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867" name="Google Shape;4867;p274"/>
            <p:cNvCxnSpPr>
              <a:stCxn id="4865" idx="0"/>
              <a:endCxn id="4863"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868" name="Google Shape;4868;p274"/>
            <p:cNvCxnSpPr>
              <a:stCxn id="4862" idx="5"/>
              <a:endCxn id="4864"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869" name="Google Shape;4869;p274"/>
            <p:cNvCxnSpPr>
              <a:stCxn id="4864" idx="2"/>
              <a:endCxn id="4863"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870" name="Google Shape;4870;p274"/>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71" name="Google Shape;4871;p274"/>
            <p:cNvCxnSpPr>
              <a:stCxn id="4864" idx="3"/>
              <a:endCxn id="4865"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872" name="Google Shape;4872;p274"/>
            <p:cNvCxnSpPr>
              <a:stCxn id="4870" idx="2"/>
              <a:endCxn id="4863"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873" name="Google Shape;4873;p274"/>
            <p:cNvCxnSpPr>
              <a:stCxn id="4870" idx="0"/>
              <a:endCxn id="4862"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874" name="Google Shape;4874;p274"/>
            <p:cNvCxnSpPr>
              <a:stCxn id="4865" idx="6"/>
              <a:endCxn id="4870"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4875" name="Google Shape;4875;p274"/>
            <p:cNvCxnSpPr>
              <a:stCxn id="4842" idx="5"/>
              <a:endCxn id="4863"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876" name="Google Shape;4876;p274"/>
            <p:cNvCxnSpPr>
              <a:stCxn id="4842" idx="7"/>
              <a:endCxn id="4852"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877" name="Google Shape;4877;p274"/>
            <p:cNvCxnSpPr>
              <a:stCxn id="4857" idx="3"/>
              <a:endCxn id="4862"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878" name="Google Shape;4878;p274"/>
            <p:cNvCxnSpPr>
              <a:stCxn id="4851" idx="4"/>
              <a:endCxn id="4864"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
        <p:nvSpPr>
          <p:cNvPr id="4879" name="Google Shape;4879;p274"/>
          <p:cNvSpPr txBox="1"/>
          <p:nvPr/>
        </p:nvSpPr>
        <p:spPr>
          <a:xfrm>
            <a:off x="5594175" y="3711150"/>
            <a:ext cx="11934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VIP Node</a:t>
            </a:r>
            <a:endParaRPr b="1">
              <a:solidFill>
                <a:srgbClr val="FF0000"/>
              </a:solidFill>
            </a:endParaRPr>
          </a:p>
        </p:txBody>
      </p:sp>
      <p:cxnSp>
        <p:nvCxnSpPr>
          <p:cNvPr id="4880" name="Google Shape;4880;p274"/>
          <p:cNvCxnSpPr>
            <a:stCxn id="4879" idx="0"/>
            <a:endCxn id="4842" idx="4"/>
          </p:cNvCxnSpPr>
          <p:nvPr/>
        </p:nvCxnSpPr>
        <p:spPr>
          <a:xfrm flipH="1" rot="10800000">
            <a:off x="6190875" y="2701050"/>
            <a:ext cx="265500" cy="1010100"/>
          </a:xfrm>
          <a:prstGeom prst="straightConnector1">
            <a:avLst/>
          </a:prstGeom>
          <a:noFill/>
          <a:ln cap="flat" cmpd="sng" w="19050">
            <a:solidFill>
              <a:srgbClr val="FF0000"/>
            </a:solidFill>
            <a:prstDash val="solid"/>
            <a:round/>
            <a:headEnd len="med" w="med" type="none"/>
            <a:tailEnd len="med" w="med" type="triangle"/>
          </a:ln>
        </p:spPr>
      </p:cxnSp>
      <p:sp>
        <p:nvSpPr>
          <p:cNvPr id="4881" name="Google Shape;4881;p274"/>
          <p:cNvSpPr txBox="1"/>
          <p:nvPr/>
        </p:nvSpPr>
        <p:spPr>
          <a:xfrm>
            <a:off x="5412025" y="4397125"/>
            <a:ext cx="8601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rPr>
              <a:t>Not VIP</a:t>
            </a:r>
            <a:endParaRPr b="1">
              <a:solidFill>
                <a:srgbClr val="0000FF"/>
              </a:solidFill>
            </a:endParaRPr>
          </a:p>
        </p:txBody>
      </p:sp>
      <p:cxnSp>
        <p:nvCxnSpPr>
          <p:cNvPr id="4882" name="Google Shape;4882;p274"/>
          <p:cNvCxnSpPr>
            <a:stCxn id="4881" idx="3"/>
            <a:endCxn id="4865" idx="2"/>
          </p:cNvCxnSpPr>
          <p:nvPr/>
        </p:nvCxnSpPr>
        <p:spPr>
          <a:xfrm>
            <a:off x="6272125" y="4584775"/>
            <a:ext cx="1459800" cy="5400"/>
          </a:xfrm>
          <a:prstGeom prst="straightConnector1">
            <a:avLst/>
          </a:prstGeom>
          <a:noFill/>
          <a:ln cap="flat" cmpd="sng" w="19050">
            <a:solidFill>
              <a:srgbClr val="0000FF"/>
            </a:solidFill>
            <a:prstDash val="solid"/>
            <a:round/>
            <a:headEnd len="med" w="med" type="none"/>
            <a:tailEnd len="med" w="med" type="triangle"/>
          </a:ln>
        </p:spPr>
      </p:cxn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6" name="Shape 4886"/>
        <p:cNvGrpSpPr/>
        <p:nvPr/>
      </p:nvGrpSpPr>
      <p:grpSpPr>
        <a:xfrm>
          <a:off x="0" y="0"/>
          <a:ext cx="0" cy="0"/>
          <a:chOff x="0" y="0"/>
          <a:chExt cx="0" cy="0"/>
        </a:xfrm>
      </p:grpSpPr>
      <p:sp>
        <p:nvSpPr>
          <p:cNvPr id="4887" name="Google Shape;4887;p27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888" name="Google Shape;4888;p275"/>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a:t>
            </a:r>
            <a:r>
              <a:rPr lang="en"/>
              <a:t>ome nodes are more “important” because they serve as the connectors</a:t>
            </a:r>
            <a:endParaRPr/>
          </a:p>
          <a:p>
            <a:pPr indent="-342900" lvl="0" marL="457200" rtl="0" algn="l">
              <a:spcBef>
                <a:spcPts val="0"/>
              </a:spcBef>
              <a:spcAft>
                <a:spcPts val="0"/>
              </a:spcAft>
              <a:buSzPts val="1800"/>
              <a:buChar char="●"/>
            </a:pPr>
            <a:r>
              <a:rPr lang="en"/>
              <a:t>A graph is </a:t>
            </a:r>
            <a:r>
              <a:rPr b="1" lang="en"/>
              <a:t>k-connected</a:t>
            </a:r>
            <a:r>
              <a:rPr lang="en"/>
              <a:t> if it takes removing </a:t>
            </a:r>
            <a:r>
              <a:rPr i="1" lang="en"/>
              <a:t>k </a:t>
            </a:r>
            <a:r>
              <a:rPr lang="en"/>
              <a:t>nodes to disconnect it</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cxnSp>
        <p:nvCxnSpPr>
          <p:cNvPr id="4889" name="Google Shape;4889;p275"/>
          <p:cNvCxnSpPr>
            <a:stCxn id="4890" idx="0"/>
            <a:endCxn id="4891" idx="3"/>
          </p:cNvCxnSpPr>
          <p:nvPr/>
        </p:nvCxnSpPr>
        <p:spPr>
          <a:xfrm flipH="1" rot="10800000">
            <a:off x="5617675" y="2675725"/>
            <a:ext cx="777900" cy="1721400"/>
          </a:xfrm>
          <a:prstGeom prst="straightConnector1">
            <a:avLst/>
          </a:prstGeom>
          <a:noFill/>
          <a:ln cap="flat" cmpd="sng" w="19050">
            <a:solidFill>
              <a:srgbClr val="FF0000"/>
            </a:solidFill>
            <a:prstDash val="solid"/>
            <a:round/>
            <a:headEnd len="med" w="med" type="none"/>
            <a:tailEnd len="med" w="med" type="triangle"/>
          </a:ln>
        </p:spPr>
      </p:cxnSp>
      <p:sp>
        <p:nvSpPr>
          <p:cNvPr id="4890" name="Google Shape;4890;p275"/>
          <p:cNvSpPr txBox="1"/>
          <p:nvPr/>
        </p:nvSpPr>
        <p:spPr>
          <a:xfrm>
            <a:off x="4393675" y="4397125"/>
            <a:ext cx="24480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graph is 1-connected</a:t>
            </a:r>
            <a:endParaRPr b="1">
              <a:solidFill>
                <a:srgbClr val="FF0000"/>
              </a:solidFill>
            </a:endParaRPr>
          </a:p>
        </p:txBody>
      </p:sp>
      <p:grpSp>
        <p:nvGrpSpPr>
          <p:cNvPr id="4892" name="Google Shape;4892;p275"/>
          <p:cNvGrpSpPr/>
          <p:nvPr/>
        </p:nvGrpSpPr>
        <p:grpSpPr>
          <a:xfrm>
            <a:off x="7426813" y="3603880"/>
            <a:ext cx="1182300" cy="1066200"/>
            <a:chOff x="7426813" y="3603880"/>
            <a:chExt cx="1182300" cy="1066200"/>
          </a:xfrm>
        </p:grpSpPr>
        <p:sp>
          <p:nvSpPr>
            <p:cNvPr id="4893" name="Google Shape;4893;p275"/>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94" name="Google Shape;4894;p275"/>
            <p:cNvCxnSpPr>
              <a:stCxn id="4893"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895" name="Google Shape;4895;p275"/>
            <p:cNvCxnSpPr>
              <a:endCxn id="4893"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896" name="Google Shape;4896;p275"/>
            <p:cNvCxnSpPr>
              <a:stCxn id="4893"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grpSp>
        <p:nvGrpSpPr>
          <p:cNvPr id="4897" name="Google Shape;4897;p275"/>
          <p:cNvGrpSpPr/>
          <p:nvPr/>
        </p:nvGrpSpPr>
        <p:grpSpPr>
          <a:xfrm>
            <a:off x="5370463" y="653813"/>
            <a:ext cx="3384048" cy="3462804"/>
            <a:chOff x="5370463" y="653813"/>
            <a:chExt cx="3384048" cy="3462804"/>
          </a:xfrm>
        </p:grpSpPr>
        <p:sp>
          <p:nvSpPr>
            <p:cNvPr id="4898" name="Google Shape;4898;p275"/>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275"/>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275"/>
            <p:cNvSpPr/>
            <p:nvPr/>
          </p:nvSpPr>
          <p:spPr>
            <a:xfrm>
              <a:off x="6370588" y="2529613"/>
              <a:ext cx="171300" cy="1713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275"/>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01" name="Google Shape;4901;p275"/>
            <p:cNvCxnSpPr>
              <a:stCxn id="4898" idx="3"/>
              <a:endCxn id="4899"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902" name="Google Shape;4902;p275"/>
            <p:cNvCxnSpPr>
              <a:stCxn id="4900" idx="1"/>
              <a:endCxn id="4899"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903" name="Google Shape;4903;p275"/>
            <p:cNvCxnSpPr>
              <a:stCxn id="4898" idx="4"/>
              <a:endCxn id="4900"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904" name="Google Shape;4904;p275"/>
            <p:cNvCxnSpPr>
              <a:stCxn id="4898" idx="5"/>
              <a:endCxn id="4891"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905" name="Google Shape;4905;p275"/>
            <p:cNvCxnSpPr>
              <a:stCxn id="4891" idx="2"/>
              <a:endCxn id="4899"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906" name="Google Shape;4906;p275"/>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275"/>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275"/>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275"/>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10" name="Google Shape;4910;p275"/>
            <p:cNvCxnSpPr>
              <a:stCxn id="4906" idx="3"/>
              <a:endCxn id="4907"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911" name="Google Shape;4911;p275"/>
            <p:cNvCxnSpPr>
              <a:stCxn id="4909" idx="0"/>
              <a:endCxn id="4907"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912" name="Google Shape;4912;p275"/>
            <p:cNvCxnSpPr>
              <a:stCxn id="4906" idx="5"/>
              <a:endCxn id="4908"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913" name="Google Shape;4913;p275"/>
            <p:cNvCxnSpPr>
              <a:stCxn id="4908" idx="2"/>
              <a:endCxn id="4907"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914" name="Google Shape;4914;p275"/>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15" name="Google Shape;4915;p275"/>
            <p:cNvCxnSpPr>
              <a:stCxn id="4914" idx="0"/>
              <a:endCxn id="4907"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916" name="Google Shape;4916;p275"/>
            <p:cNvCxnSpPr>
              <a:stCxn id="4908" idx="3"/>
              <a:endCxn id="4909"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917" name="Google Shape;4917;p275"/>
            <p:cNvCxnSpPr>
              <a:stCxn id="4908" idx="3"/>
              <a:endCxn id="4914"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918" name="Google Shape;4918;p275"/>
            <p:cNvCxnSpPr>
              <a:stCxn id="4906" idx="4"/>
              <a:endCxn id="4914"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919" name="Google Shape;4919;p275"/>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275"/>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1" name="Google Shape;4921;p275"/>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22" name="Google Shape;4922;p275"/>
            <p:cNvCxnSpPr>
              <a:stCxn id="4919" idx="3"/>
              <a:endCxn id="4920"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923" name="Google Shape;4923;p275"/>
            <p:cNvCxnSpPr>
              <a:stCxn id="4919" idx="5"/>
              <a:endCxn id="4921"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924" name="Google Shape;4924;p275"/>
            <p:cNvCxnSpPr>
              <a:stCxn id="4921" idx="2"/>
              <a:endCxn id="4920"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925" name="Google Shape;4925;p275"/>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26" name="Google Shape;4926;p275"/>
            <p:cNvCxnSpPr>
              <a:stCxn id="4925" idx="2"/>
              <a:endCxn id="4920"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927" name="Google Shape;4927;p275"/>
            <p:cNvCxnSpPr>
              <a:stCxn id="4925" idx="0"/>
              <a:endCxn id="4919"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928" name="Google Shape;4928;p275"/>
            <p:cNvCxnSpPr>
              <a:stCxn id="4891" idx="5"/>
              <a:endCxn id="4920"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4929" name="Google Shape;4929;p275"/>
            <p:cNvCxnSpPr>
              <a:stCxn id="4891" idx="7"/>
              <a:endCxn id="4909"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4930" name="Google Shape;4930;p275"/>
            <p:cNvCxnSpPr>
              <a:stCxn id="4914" idx="3"/>
              <a:endCxn id="4919"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931" name="Google Shape;4931;p275"/>
            <p:cNvCxnSpPr>
              <a:stCxn id="4908" idx="4"/>
              <a:endCxn id="4921"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5" name="Shape 4935"/>
        <p:cNvGrpSpPr/>
        <p:nvPr/>
      </p:nvGrpSpPr>
      <p:grpSpPr>
        <a:xfrm>
          <a:off x="0" y="0"/>
          <a:ext cx="0" cy="0"/>
          <a:chOff x="0" y="0"/>
          <a:chExt cx="0" cy="0"/>
        </a:xfrm>
      </p:grpSpPr>
      <p:sp>
        <p:nvSpPr>
          <p:cNvPr id="4936" name="Google Shape;4936;p27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937" name="Google Shape;4937;p276"/>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Some nodes are more “important” because they serve as the connectors</a:t>
            </a:r>
            <a:endParaRPr/>
          </a:p>
          <a:p>
            <a:pPr indent="-342900" lvl="0" marL="457200" rtl="0" algn="l">
              <a:spcBef>
                <a:spcPts val="0"/>
              </a:spcBef>
              <a:spcAft>
                <a:spcPts val="0"/>
              </a:spcAft>
              <a:buSzPts val="1800"/>
              <a:buChar char="●"/>
            </a:pPr>
            <a:r>
              <a:rPr lang="en"/>
              <a:t>A graph is </a:t>
            </a:r>
            <a:r>
              <a:rPr b="1" lang="en"/>
              <a:t>k-connected</a:t>
            </a:r>
            <a:r>
              <a:rPr lang="en"/>
              <a:t> if it takes removing </a:t>
            </a:r>
            <a:r>
              <a:rPr i="1" lang="en"/>
              <a:t>k </a:t>
            </a:r>
            <a:r>
              <a:rPr lang="en"/>
              <a:t>nodes to disconnect it</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4938" name="Google Shape;4938;p276"/>
          <p:cNvSpPr txBox="1"/>
          <p:nvPr/>
        </p:nvSpPr>
        <p:spPr>
          <a:xfrm>
            <a:off x="4393675" y="4397125"/>
            <a:ext cx="24480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graph is 1-connected</a:t>
            </a:r>
            <a:endParaRPr b="1">
              <a:solidFill>
                <a:srgbClr val="FF0000"/>
              </a:solidFill>
            </a:endParaRPr>
          </a:p>
        </p:txBody>
      </p:sp>
      <p:grpSp>
        <p:nvGrpSpPr>
          <p:cNvPr id="4939" name="Google Shape;4939;p276"/>
          <p:cNvGrpSpPr/>
          <p:nvPr/>
        </p:nvGrpSpPr>
        <p:grpSpPr>
          <a:xfrm>
            <a:off x="7426813" y="3603880"/>
            <a:ext cx="1182300" cy="1066200"/>
            <a:chOff x="7426813" y="3603880"/>
            <a:chExt cx="1182300" cy="1066200"/>
          </a:xfrm>
        </p:grpSpPr>
        <p:sp>
          <p:nvSpPr>
            <p:cNvPr id="4940" name="Google Shape;4940;p276"/>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41" name="Google Shape;4941;p276"/>
            <p:cNvCxnSpPr>
              <a:stCxn id="4940"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4942" name="Google Shape;4942;p276"/>
            <p:cNvCxnSpPr>
              <a:endCxn id="4940"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4943" name="Google Shape;4943;p276"/>
            <p:cNvCxnSpPr>
              <a:stCxn id="4940"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grpSp>
        <p:nvGrpSpPr>
          <p:cNvPr id="4944" name="Google Shape;4944;p276"/>
          <p:cNvGrpSpPr/>
          <p:nvPr/>
        </p:nvGrpSpPr>
        <p:grpSpPr>
          <a:xfrm>
            <a:off x="5370463" y="653813"/>
            <a:ext cx="3384048" cy="3462804"/>
            <a:chOff x="5370463" y="653813"/>
            <a:chExt cx="3384048" cy="3462804"/>
          </a:xfrm>
        </p:grpSpPr>
        <p:sp>
          <p:nvSpPr>
            <p:cNvPr id="4945" name="Google Shape;4945;p276"/>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6" name="Google Shape;4946;p276"/>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276"/>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48" name="Google Shape;4948;p276"/>
            <p:cNvCxnSpPr>
              <a:stCxn id="4945" idx="3"/>
              <a:endCxn id="4946"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949" name="Google Shape;4949;p276"/>
            <p:cNvCxnSpPr>
              <a:stCxn id="4947" idx="1"/>
              <a:endCxn id="4946"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950" name="Google Shape;4950;p276"/>
            <p:cNvCxnSpPr>
              <a:stCxn id="4945" idx="4"/>
              <a:endCxn id="4947"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sp>
          <p:nvSpPr>
            <p:cNvPr id="4951" name="Google Shape;4951;p276"/>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276"/>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276"/>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276"/>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55" name="Google Shape;4955;p276"/>
            <p:cNvCxnSpPr>
              <a:stCxn id="4951" idx="3"/>
              <a:endCxn id="495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956" name="Google Shape;4956;p276"/>
            <p:cNvCxnSpPr>
              <a:stCxn id="4954" idx="0"/>
              <a:endCxn id="495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957" name="Google Shape;4957;p276"/>
            <p:cNvCxnSpPr>
              <a:stCxn id="4951" idx="5"/>
              <a:endCxn id="495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958" name="Google Shape;4958;p276"/>
            <p:cNvCxnSpPr>
              <a:stCxn id="4953" idx="2"/>
              <a:endCxn id="495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959" name="Google Shape;4959;p276"/>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60" name="Google Shape;4960;p276"/>
            <p:cNvCxnSpPr>
              <a:stCxn id="4959" idx="0"/>
              <a:endCxn id="495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4961" name="Google Shape;4961;p276"/>
            <p:cNvCxnSpPr>
              <a:stCxn id="4953" idx="3"/>
              <a:endCxn id="495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4962" name="Google Shape;4962;p276"/>
            <p:cNvCxnSpPr>
              <a:stCxn id="4953" idx="3"/>
              <a:endCxn id="495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4963" name="Google Shape;4963;p276"/>
            <p:cNvCxnSpPr>
              <a:stCxn id="4951" idx="4"/>
              <a:endCxn id="495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4964" name="Google Shape;4964;p276"/>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276"/>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276"/>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67" name="Google Shape;4967;p276"/>
            <p:cNvCxnSpPr>
              <a:stCxn id="4964" idx="3"/>
              <a:endCxn id="4965"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4968" name="Google Shape;4968;p276"/>
            <p:cNvCxnSpPr>
              <a:stCxn id="4964" idx="5"/>
              <a:endCxn id="4966"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4969" name="Google Shape;4969;p276"/>
            <p:cNvCxnSpPr>
              <a:stCxn id="4966" idx="2"/>
              <a:endCxn id="4965"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4970" name="Google Shape;4970;p276"/>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71" name="Google Shape;4971;p276"/>
            <p:cNvCxnSpPr>
              <a:stCxn id="4970" idx="2"/>
              <a:endCxn id="4965"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4972" name="Google Shape;4972;p276"/>
            <p:cNvCxnSpPr>
              <a:stCxn id="4970" idx="0"/>
              <a:endCxn id="4964"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4973" name="Google Shape;4973;p276"/>
            <p:cNvCxnSpPr>
              <a:stCxn id="4959" idx="3"/>
              <a:endCxn id="4964"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4974" name="Google Shape;4974;p276"/>
            <p:cNvCxnSpPr>
              <a:stCxn id="4953" idx="4"/>
              <a:endCxn id="4966"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8" name="Shape 4978"/>
        <p:cNvGrpSpPr/>
        <p:nvPr/>
      </p:nvGrpSpPr>
      <p:grpSpPr>
        <a:xfrm>
          <a:off x="0" y="0"/>
          <a:ext cx="0" cy="0"/>
          <a:chOff x="0" y="0"/>
          <a:chExt cx="0" cy="0"/>
        </a:xfrm>
      </p:grpSpPr>
      <p:sp>
        <p:nvSpPr>
          <p:cNvPr id="4979" name="Google Shape;4979;p27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4980" name="Google Shape;4980;p277"/>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Some nodes are more “important” because they serve as the connectors</a:t>
            </a:r>
            <a:endParaRPr/>
          </a:p>
          <a:p>
            <a:pPr indent="-342900" lvl="0" marL="457200" rtl="0" algn="l">
              <a:spcBef>
                <a:spcPts val="0"/>
              </a:spcBef>
              <a:spcAft>
                <a:spcPts val="0"/>
              </a:spcAft>
              <a:buSzPts val="1800"/>
              <a:buChar char="●"/>
            </a:pPr>
            <a:r>
              <a:rPr lang="en"/>
              <a:t>A graph is </a:t>
            </a:r>
            <a:r>
              <a:rPr b="1" lang="en"/>
              <a:t>k-connected</a:t>
            </a:r>
            <a:r>
              <a:rPr lang="en"/>
              <a:t> if it takes removing </a:t>
            </a:r>
            <a:r>
              <a:rPr i="1" lang="en"/>
              <a:t>k </a:t>
            </a:r>
            <a:r>
              <a:rPr lang="en"/>
              <a:t>nodes to disconnect it</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4981" name="Google Shape;4981;p277"/>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277"/>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277"/>
          <p:cNvSpPr/>
          <p:nvPr/>
        </p:nvSpPr>
        <p:spPr>
          <a:xfrm>
            <a:off x="6370588" y="2529613"/>
            <a:ext cx="171300" cy="1713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277"/>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85" name="Google Shape;4985;p277"/>
          <p:cNvCxnSpPr>
            <a:stCxn id="4981" idx="3"/>
            <a:endCxn id="4982"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4986" name="Google Shape;4986;p277"/>
          <p:cNvCxnSpPr>
            <a:stCxn id="4984" idx="1"/>
            <a:endCxn id="4982"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4987" name="Google Shape;4987;p277"/>
          <p:cNvCxnSpPr>
            <a:stCxn id="4981" idx="4"/>
            <a:endCxn id="4984"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4988" name="Google Shape;4988;p277"/>
          <p:cNvCxnSpPr>
            <a:stCxn id="4981" idx="5"/>
            <a:endCxn id="4983"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4989" name="Google Shape;4989;p277"/>
          <p:cNvCxnSpPr>
            <a:stCxn id="4983" idx="2"/>
            <a:endCxn id="4982"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4990" name="Google Shape;4990;p277"/>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277"/>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277"/>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277"/>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4" name="Google Shape;4994;p277"/>
          <p:cNvCxnSpPr>
            <a:stCxn id="4990" idx="3"/>
            <a:endCxn id="4991"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4995" name="Google Shape;4995;p277"/>
          <p:cNvCxnSpPr>
            <a:stCxn id="4993" idx="0"/>
            <a:endCxn id="4991"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4996" name="Google Shape;4996;p277"/>
          <p:cNvCxnSpPr>
            <a:stCxn id="4990" idx="5"/>
            <a:endCxn id="4992"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4997" name="Google Shape;4997;p277"/>
          <p:cNvCxnSpPr>
            <a:stCxn id="4992" idx="2"/>
            <a:endCxn id="4991"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4998" name="Google Shape;4998;p277"/>
          <p:cNvSpPr/>
          <p:nvPr/>
        </p:nvSpPr>
        <p:spPr>
          <a:xfrm>
            <a:off x="7820950" y="1806138"/>
            <a:ext cx="171300" cy="1713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9" name="Google Shape;4999;p277"/>
          <p:cNvCxnSpPr>
            <a:stCxn id="4998" idx="0"/>
            <a:endCxn id="4991"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000" name="Google Shape;5000;p277"/>
          <p:cNvCxnSpPr>
            <a:stCxn id="4992" idx="3"/>
            <a:endCxn id="4993"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001" name="Google Shape;5001;p277"/>
          <p:cNvCxnSpPr>
            <a:stCxn id="4992" idx="3"/>
            <a:endCxn id="4998"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002" name="Google Shape;5002;p277"/>
          <p:cNvCxnSpPr>
            <a:stCxn id="4990" idx="4"/>
            <a:endCxn id="4998"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003" name="Google Shape;5003;p277"/>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277"/>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277"/>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06" name="Google Shape;5006;p277"/>
          <p:cNvCxnSpPr>
            <a:stCxn id="5003" idx="3"/>
            <a:endCxn id="5004"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007" name="Google Shape;5007;p277"/>
          <p:cNvCxnSpPr>
            <a:stCxn id="5003" idx="5"/>
            <a:endCxn id="5005"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008" name="Google Shape;5008;p277"/>
          <p:cNvCxnSpPr>
            <a:stCxn id="5005" idx="2"/>
            <a:endCxn id="5004"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009" name="Google Shape;5009;p277"/>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10" name="Google Shape;5010;p277"/>
          <p:cNvCxnSpPr>
            <a:stCxn id="5009" idx="2"/>
            <a:endCxn id="5004"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011" name="Google Shape;5011;p277"/>
          <p:cNvCxnSpPr>
            <a:stCxn id="5009" idx="0"/>
            <a:endCxn id="5003"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012" name="Google Shape;5012;p277"/>
          <p:cNvCxnSpPr>
            <a:stCxn id="4983" idx="5"/>
            <a:endCxn id="5004"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013" name="Google Shape;5013;p277"/>
          <p:cNvCxnSpPr>
            <a:stCxn id="4983" idx="7"/>
            <a:endCxn id="4993"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014" name="Google Shape;5014;p277"/>
          <p:cNvCxnSpPr>
            <a:stCxn id="4998" idx="3"/>
            <a:endCxn id="5003"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015" name="Google Shape;5015;p277"/>
          <p:cNvCxnSpPr>
            <a:stCxn id="4992" idx="4"/>
            <a:endCxn id="5005"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016" name="Google Shape;5016;p277"/>
          <p:cNvCxnSpPr>
            <a:stCxn id="5017" idx="0"/>
            <a:endCxn id="4983" idx="4"/>
          </p:cNvCxnSpPr>
          <p:nvPr/>
        </p:nvCxnSpPr>
        <p:spPr>
          <a:xfrm flipH="1" rot="10800000">
            <a:off x="5617675" y="2700925"/>
            <a:ext cx="838500" cy="1696200"/>
          </a:xfrm>
          <a:prstGeom prst="straightConnector1">
            <a:avLst/>
          </a:prstGeom>
          <a:noFill/>
          <a:ln cap="flat" cmpd="sng" w="19050">
            <a:solidFill>
              <a:srgbClr val="FF0000"/>
            </a:solidFill>
            <a:prstDash val="solid"/>
            <a:round/>
            <a:headEnd len="med" w="med" type="none"/>
            <a:tailEnd len="med" w="med" type="triangle"/>
          </a:ln>
        </p:spPr>
      </p:cxnSp>
      <p:sp>
        <p:nvSpPr>
          <p:cNvPr id="5017" name="Google Shape;5017;p277"/>
          <p:cNvSpPr txBox="1"/>
          <p:nvPr/>
        </p:nvSpPr>
        <p:spPr>
          <a:xfrm>
            <a:off x="4393675" y="4397125"/>
            <a:ext cx="24480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graph is 2-connected</a:t>
            </a:r>
            <a:endParaRPr b="1">
              <a:solidFill>
                <a:srgbClr val="FF0000"/>
              </a:solidFill>
            </a:endParaRPr>
          </a:p>
        </p:txBody>
      </p:sp>
      <p:cxnSp>
        <p:nvCxnSpPr>
          <p:cNvPr id="5018" name="Google Shape;5018;p277"/>
          <p:cNvCxnSpPr>
            <a:stCxn id="4981" idx="6"/>
            <a:endCxn id="4998"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grpSp>
        <p:nvGrpSpPr>
          <p:cNvPr id="5019" name="Google Shape;5019;p277"/>
          <p:cNvGrpSpPr/>
          <p:nvPr/>
        </p:nvGrpSpPr>
        <p:grpSpPr>
          <a:xfrm>
            <a:off x="7426813" y="3603880"/>
            <a:ext cx="1182300" cy="1066200"/>
            <a:chOff x="7426813" y="3603880"/>
            <a:chExt cx="1182300" cy="1066200"/>
          </a:xfrm>
        </p:grpSpPr>
        <p:sp>
          <p:nvSpPr>
            <p:cNvPr id="5020" name="Google Shape;5020;p277"/>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1" name="Google Shape;5021;p277"/>
            <p:cNvCxnSpPr>
              <a:stCxn id="5020"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022" name="Google Shape;5022;p277"/>
            <p:cNvCxnSpPr>
              <a:endCxn id="5020"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023" name="Google Shape;5023;p277"/>
            <p:cNvCxnSpPr>
              <a:stCxn id="5020"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cxnSp>
        <p:nvCxnSpPr>
          <p:cNvPr id="5024" name="Google Shape;5024;p277"/>
          <p:cNvCxnSpPr>
            <a:stCxn id="5017" idx="0"/>
            <a:endCxn id="4998" idx="3"/>
          </p:cNvCxnSpPr>
          <p:nvPr/>
        </p:nvCxnSpPr>
        <p:spPr>
          <a:xfrm flipH="1" rot="10800000">
            <a:off x="5617675" y="1952425"/>
            <a:ext cx="2228400" cy="24447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8" name="Shape 5028"/>
        <p:cNvGrpSpPr/>
        <p:nvPr/>
      </p:nvGrpSpPr>
      <p:grpSpPr>
        <a:xfrm>
          <a:off x="0" y="0"/>
          <a:ext cx="0" cy="0"/>
          <a:chOff x="0" y="0"/>
          <a:chExt cx="0" cy="0"/>
        </a:xfrm>
      </p:grpSpPr>
      <p:sp>
        <p:nvSpPr>
          <p:cNvPr id="5029" name="Google Shape;5029;p27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5030" name="Google Shape;5030;p278"/>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Some nodes are more “important” because they serve as the connectors</a:t>
            </a:r>
            <a:endParaRPr/>
          </a:p>
          <a:p>
            <a:pPr indent="-342900" lvl="0" marL="457200" rtl="0" algn="l">
              <a:spcBef>
                <a:spcPts val="0"/>
              </a:spcBef>
              <a:spcAft>
                <a:spcPts val="0"/>
              </a:spcAft>
              <a:buSzPts val="1800"/>
              <a:buChar char="●"/>
            </a:pPr>
            <a:r>
              <a:rPr lang="en"/>
              <a:t>A graph is </a:t>
            </a:r>
            <a:r>
              <a:rPr b="1" lang="en"/>
              <a:t>k-connected</a:t>
            </a:r>
            <a:r>
              <a:rPr lang="en"/>
              <a:t> if it takes removing </a:t>
            </a:r>
            <a:r>
              <a:rPr i="1" lang="en"/>
              <a:t>k </a:t>
            </a:r>
            <a:r>
              <a:rPr lang="en"/>
              <a:t>nodes to disconnect it</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5031" name="Google Shape;5031;p278"/>
          <p:cNvSpPr txBox="1"/>
          <p:nvPr/>
        </p:nvSpPr>
        <p:spPr>
          <a:xfrm>
            <a:off x="4393675" y="4397125"/>
            <a:ext cx="24480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graph is 2-connected</a:t>
            </a:r>
            <a:endParaRPr b="1">
              <a:solidFill>
                <a:srgbClr val="FF0000"/>
              </a:solidFill>
            </a:endParaRPr>
          </a:p>
        </p:txBody>
      </p:sp>
      <p:grpSp>
        <p:nvGrpSpPr>
          <p:cNvPr id="5032" name="Google Shape;5032;p278"/>
          <p:cNvGrpSpPr/>
          <p:nvPr/>
        </p:nvGrpSpPr>
        <p:grpSpPr>
          <a:xfrm>
            <a:off x="7426813" y="3603880"/>
            <a:ext cx="1182300" cy="1066200"/>
            <a:chOff x="7426813" y="3603880"/>
            <a:chExt cx="1182300" cy="1066200"/>
          </a:xfrm>
        </p:grpSpPr>
        <p:sp>
          <p:nvSpPr>
            <p:cNvPr id="5033" name="Google Shape;5033;p278"/>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34" name="Google Shape;5034;p278"/>
            <p:cNvCxnSpPr>
              <a:stCxn id="5033"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035" name="Google Shape;5035;p278"/>
            <p:cNvCxnSpPr>
              <a:endCxn id="5033"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036" name="Google Shape;5036;p278"/>
            <p:cNvCxnSpPr>
              <a:stCxn id="5033"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037" name="Google Shape;5037;p278"/>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278"/>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278"/>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40" name="Google Shape;5040;p278"/>
          <p:cNvCxnSpPr>
            <a:stCxn id="5037" idx="3"/>
            <a:endCxn id="5038"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041" name="Google Shape;5041;p278"/>
          <p:cNvCxnSpPr>
            <a:stCxn id="5039" idx="1"/>
            <a:endCxn id="5038"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042" name="Google Shape;5042;p278"/>
          <p:cNvCxnSpPr>
            <a:stCxn id="5037" idx="4"/>
            <a:endCxn id="5039"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sp>
        <p:nvSpPr>
          <p:cNvPr id="5043" name="Google Shape;5043;p278"/>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278"/>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278"/>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278"/>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47" name="Google Shape;5047;p278"/>
          <p:cNvCxnSpPr>
            <a:stCxn id="5043" idx="3"/>
            <a:endCxn id="504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048" name="Google Shape;5048;p278"/>
          <p:cNvCxnSpPr>
            <a:stCxn id="5046" idx="0"/>
            <a:endCxn id="5044"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049" name="Google Shape;5049;p278"/>
          <p:cNvCxnSpPr>
            <a:stCxn id="5043" idx="5"/>
            <a:endCxn id="504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050" name="Google Shape;5050;p278"/>
          <p:cNvCxnSpPr>
            <a:stCxn id="5045" idx="2"/>
            <a:endCxn id="504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cxnSp>
        <p:nvCxnSpPr>
          <p:cNvPr id="5051" name="Google Shape;5051;p278"/>
          <p:cNvCxnSpPr>
            <a:stCxn id="5045" idx="3"/>
            <a:endCxn id="5046"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sp>
        <p:nvSpPr>
          <p:cNvPr id="5052" name="Google Shape;5052;p278"/>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278"/>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278"/>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55" name="Google Shape;5055;p278"/>
          <p:cNvCxnSpPr>
            <a:stCxn id="5052" idx="3"/>
            <a:endCxn id="5053"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056" name="Google Shape;5056;p278"/>
          <p:cNvCxnSpPr>
            <a:stCxn id="5052" idx="5"/>
            <a:endCxn id="5054"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057" name="Google Shape;5057;p278"/>
          <p:cNvCxnSpPr>
            <a:stCxn id="5054" idx="2"/>
            <a:endCxn id="5053"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058" name="Google Shape;5058;p278"/>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59" name="Google Shape;5059;p278"/>
          <p:cNvCxnSpPr>
            <a:stCxn id="5058" idx="2"/>
            <a:endCxn id="5053"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060" name="Google Shape;5060;p278"/>
          <p:cNvCxnSpPr>
            <a:stCxn id="5058" idx="0"/>
            <a:endCxn id="5052"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061" name="Google Shape;5061;p278"/>
          <p:cNvCxnSpPr>
            <a:stCxn id="5045" idx="4"/>
            <a:endCxn id="5054"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5" name="Shape 5065"/>
        <p:cNvGrpSpPr/>
        <p:nvPr/>
      </p:nvGrpSpPr>
      <p:grpSpPr>
        <a:xfrm>
          <a:off x="0" y="0"/>
          <a:ext cx="0" cy="0"/>
          <a:chOff x="0" y="0"/>
          <a:chExt cx="0" cy="0"/>
        </a:xfrm>
      </p:grpSpPr>
      <p:cxnSp>
        <p:nvCxnSpPr>
          <p:cNvPr id="5066" name="Google Shape;5066;p279"/>
          <p:cNvCxnSpPr>
            <a:stCxn id="5067" idx="6"/>
            <a:endCxn id="5068"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cxnSp>
        <p:nvCxnSpPr>
          <p:cNvPr id="5069" name="Google Shape;5069;p279"/>
          <p:cNvCxnSpPr>
            <a:stCxn id="5070" idx="5"/>
            <a:endCxn id="5071"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072" name="Google Shape;5072;p279"/>
          <p:cNvCxnSpPr>
            <a:stCxn id="5070" idx="7"/>
            <a:endCxn id="5073"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074" name="Google Shape;5074;p279"/>
          <p:cNvCxnSpPr>
            <a:stCxn id="5070" idx="2"/>
            <a:endCxn id="5075"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cxnSp>
        <p:nvCxnSpPr>
          <p:cNvPr id="5076" name="Google Shape;5076;p279"/>
          <p:cNvCxnSpPr>
            <a:stCxn id="5068" idx="5"/>
            <a:endCxn id="5077"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078" name="Google Shape;5078;p279"/>
          <p:cNvCxnSpPr>
            <a:stCxn id="5079" idx="3"/>
            <a:endCxn id="5068"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sp>
        <p:nvSpPr>
          <p:cNvPr id="5080" name="Google Shape;5080;p27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5081" name="Google Shape;5081;p279"/>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Some nodes are more “important” because they serve as the connectors</a:t>
            </a:r>
            <a:endParaRPr/>
          </a:p>
          <a:p>
            <a:pPr indent="-342900" lvl="0" marL="457200" rtl="0" algn="l">
              <a:spcBef>
                <a:spcPts val="0"/>
              </a:spcBef>
              <a:spcAft>
                <a:spcPts val="0"/>
              </a:spcAft>
              <a:buSzPts val="1800"/>
              <a:buChar char="●"/>
            </a:pPr>
            <a:r>
              <a:rPr lang="en"/>
              <a:t>A graph is </a:t>
            </a:r>
            <a:r>
              <a:rPr b="1" lang="en"/>
              <a:t>k-connected</a:t>
            </a:r>
            <a:r>
              <a:rPr lang="en"/>
              <a:t> if it takes removing </a:t>
            </a:r>
            <a:r>
              <a:rPr i="1" lang="en"/>
              <a:t>k </a:t>
            </a:r>
            <a:r>
              <a:rPr lang="en"/>
              <a:t>nodes to disconnect it</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5082" name="Google Shape;5082;p279"/>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279"/>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279"/>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279"/>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83" name="Google Shape;5083;p279"/>
          <p:cNvCxnSpPr>
            <a:stCxn id="5082" idx="3"/>
            <a:endCxn id="5075"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084" name="Google Shape;5084;p279"/>
          <p:cNvCxnSpPr>
            <a:stCxn id="5067" idx="1"/>
            <a:endCxn id="5075"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085" name="Google Shape;5085;p279"/>
          <p:cNvCxnSpPr>
            <a:stCxn id="5082" idx="4"/>
            <a:endCxn id="5067"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086" name="Google Shape;5086;p279"/>
          <p:cNvCxnSpPr>
            <a:stCxn id="5082" idx="5"/>
            <a:endCxn id="5070"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sp>
        <p:nvSpPr>
          <p:cNvPr id="5087" name="Google Shape;5087;p279"/>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279"/>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279"/>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279"/>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90" name="Google Shape;5090;p279"/>
          <p:cNvCxnSpPr>
            <a:stCxn id="5087" idx="3"/>
            <a:endCxn id="5088"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091" name="Google Shape;5091;p279"/>
          <p:cNvCxnSpPr>
            <a:stCxn id="5073" idx="0"/>
            <a:endCxn id="5088"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092" name="Google Shape;5092;p279"/>
          <p:cNvCxnSpPr>
            <a:stCxn id="5087" idx="5"/>
            <a:endCxn id="5089"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093" name="Google Shape;5093;p279"/>
          <p:cNvCxnSpPr>
            <a:stCxn id="5089" idx="2"/>
            <a:endCxn id="5088"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079" name="Google Shape;5079;p279"/>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94" name="Google Shape;5094;p279"/>
          <p:cNvCxnSpPr>
            <a:stCxn id="5079" idx="0"/>
            <a:endCxn id="5088"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095" name="Google Shape;5095;p279"/>
          <p:cNvCxnSpPr>
            <a:stCxn id="5089" idx="3"/>
            <a:endCxn id="5073"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096" name="Google Shape;5096;p279"/>
          <p:cNvCxnSpPr>
            <a:stCxn id="5089" idx="3"/>
            <a:endCxn id="507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097" name="Google Shape;5097;p279"/>
          <p:cNvCxnSpPr>
            <a:stCxn id="5087" idx="4"/>
            <a:endCxn id="507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068" name="Google Shape;5068;p279"/>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279"/>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279"/>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98" name="Google Shape;5098;p279"/>
          <p:cNvCxnSpPr>
            <a:stCxn id="5068" idx="3"/>
            <a:endCxn id="5071"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099" name="Google Shape;5099;p279"/>
          <p:cNvCxnSpPr>
            <a:stCxn id="5077" idx="2"/>
            <a:endCxn id="5071"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100" name="Google Shape;5100;p279"/>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01" name="Google Shape;5101;p279"/>
          <p:cNvCxnSpPr>
            <a:stCxn id="5100" idx="2"/>
            <a:endCxn id="5071"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102" name="Google Shape;5102;p279"/>
          <p:cNvCxnSpPr>
            <a:stCxn id="5100" idx="0"/>
            <a:endCxn id="5068"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103" name="Google Shape;5103;p279"/>
          <p:cNvCxnSpPr>
            <a:stCxn id="5104" idx="0"/>
            <a:endCxn id="5070" idx="4"/>
          </p:cNvCxnSpPr>
          <p:nvPr/>
        </p:nvCxnSpPr>
        <p:spPr>
          <a:xfrm flipH="1" rot="10800000">
            <a:off x="5617675" y="2700925"/>
            <a:ext cx="838500" cy="1696200"/>
          </a:xfrm>
          <a:prstGeom prst="straightConnector1">
            <a:avLst/>
          </a:prstGeom>
          <a:noFill/>
          <a:ln cap="flat" cmpd="sng" w="19050">
            <a:solidFill>
              <a:srgbClr val="FF0000"/>
            </a:solidFill>
            <a:prstDash val="solid"/>
            <a:round/>
            <a:headEnd len="med" w="med" type="none"/>
            <a:tailEnd len="med" w="med" type="triangle"/>
          </a:ln>
        </p:spPr>
      </p:cxnSp>
      <p:sp>
        <p:nvSpPr>
          <p:cNvPr id="5104" name="Google Shape;5104;p279"/>
          <p:cNvSpPr txBox="1"/>
          <p:nvPr/>
        </p:nvSpPr>
        <p:spPr>
          <a:xfrm>
            <a:off x="4393675" y="4397125"/>
            <a:ext cx="24480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graph is 3-connected</a:t>
            </a:r>
            <a:endParaRPr b="1">
              <a:solidFill>
                <a:srgbClr val="FF0000"/>
              </a:solidFill>
            </a:endParaRPr>
          </a:p>
        </p:txBody>
      </p:sp>
      <p:cxnSp>
        <p:nvCxnSpPr>
          <p:cNvPr id="5105" name="Google Shape;5105;p279"/>
          <p:cNvCxnSpPr>
            <a:stCxn id="5082" idx="6"/>
            <a:endCxn id="5079"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grpSp>
        <p:nvGrpSpPr>
          <p:cNvPr id="5106" name="Google Shape;5106;p279"/>
          <p:cNvGrpSpPr/>
          <p:nvPr/>
        </p:nvGrpSpPr>
        <p:grpSpPr>
          <a:xfrm>
            <a:off x="7426813" y="3603880"/>
            <a:ext cx="1182300" cy="1066200"/>
            <a:chOff x="7426813" y="3603880"/>
            <a:chExt cx="1182300" cy="1066200"/>
          </a:xfrm>
        </p:grpSpPr>
        <p:sp>
          <p:nvSpPr>
            <p:cNvPr id="5107" name="Google Shape;5107;p279"/>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08" name="Google Shape;5108;p279"/>
            <p:cNvCxnSpPr>
              <a:stCxn id="5107"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109" name="Google Shape;5109;p279"/>
            <p:cNvCxnSpPr>
              <a:endCxn id="5107"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110" name="Google Shape;5110;p279"/>
            <p:cNvCxnSpPr>
              <a:stCxn id="5107"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cxnSp>
        <p:nvCxnSpPr>
          <p:cNvPr id="5111" name="Google Shape;5111;p279"/>
          <p:cNvCxnSpPr>
            <a:stCxn id="5104" idx="0"/>
            <a:endCxn id="5068" idx="2"/>
          </p:cNvCxnSpPr>
          <p:nvPr/>
        </p:nvCxnSpPr>
        <p:spPr>
          <a:xfrm flipH="1" rot="10800000">
            <a:off x="5617675" y="3243925"/>
            <a:ext cx="2114400" cy="1153200"/>
          </a:xfrm>
          <a:prstGeom prst="straightConnector1">
            <a:avLst/>
          </a:prstGeom>
          <a:noFill/>
          <a:ln cap="flat" cmpd="sng" w="19050">
            <a:solidFill>
              <a:srgbClr val="FF0000"/>
            </a:solidFill>
            <a:prstDash val="solid"/>
            <a:round/>
            <a:headEnd len="med" w="med" type="none"/>
            <a:tailEnd len="med" w="med" type="triangle"/>
          </a:ln>
        </p:spPr>
      </p:cxnSp>
      <p:cxnSp>
        <p:nvCxnSpPr>
          <p:cNvPr id="5112" name="Google Shape;5112;p279"/>
          <p:cNvCxnSpPr>
            <a:stCxn id="5104" idx="0"/>
            <a:endCxn id="5079" idx="3"/>
          </p:cNvCxnSpPr>
          <p:nvPr/>
        </p:nvCxnSpPr>
        <p:spPr>
          <a:xfrm flipH="1" rot="10800000">
            <a:off x="5617675" y="1952425"/>
            <a:ext cx="2228400" cy="2444700"/>
          </a:xfrm>
          <a:prstGeom prst="straightConnector1">
            <a:avLst/>
          </a:prstGeom>
          <a:noFill/>
          <a:ln cap="flat" cmpd="sng" w="19050">
            <a:solidFill>
              <a:srgbClr val="FF0000"/>
            </a:solidFill>
            <a:prstDash val="solid"/>
            <a:round/>
            <a:headEnd len="med" w="med" type="none"/>
            <a:tailEnd len="med" w="med" type="triangle"/>
          </a:ln>
        </p:spPr>
      </p:cxnSp>
      <p:cxnSp>
        <p:nvCxnSpPr>
          <p:cNvPr id="5113" name="Google Shape;5113;p279"/>
          <p:cNvCxnSpPr>
            <a:stCxn id="5079" idx="5"/>
            <a:endCxn id="5077" idx="0"/>
          </p:cNvCxnSpPr>
          <p:nvPr/>
        </p:nvCxnSpPr>
        <p:spPr>
          <a:xfrm>
            <a:off x="7967164" y="1952351"/>
            <a:ext cx="645000" cy="14934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7" name="Shape 5117"/>
        <p:cNvGrpSpPr/>
        <p:nvPr/>
      </p:nvGrpSpPr>
      <p:grpSpPr>
        <a:xfrm>
          <a:off x="0" y="0"/>
          <a:ext cx="0" cy="0"/>
          <a:chOff x="0" y="0"/>
          <a:chExt cx="0" cy="0"/>
        </a:xfrm>
      </p:grpSpPr>
      <p:sp>
        <p:nvSpPr>
          <p:cNvPr id="5118" name="Google Shape;5118;p28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5119" name="Google Shape;5119;p280"/>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Some nodes are more “important” because they serve as the connectors</a:t>
            </a:r>
            <a:endParaRPr/>
          </a:p>
          <a:p>
            <a:pPr indent="-342900" lvl="0" marL="457200" rtl="0" algn="l">
              <a:spcBef>
                <a:spcPts val="0"/>
              </a:spcBef>
              <a:spcAft>
                <a:spcPts val="0"/>
              </a:spcAft>
              <a:buSzPts val="1800"/>
              <a:buChar char="●"/>
            </a:pPr>
            <a:r>
              <a:rPr lang="en"/>
              <a:t>A graph is </a:t>
            </a:r>
            <a:r>
              <a:rPr b="1" lang="en"/>
              <a:t>k-connected</a:t>
            </a:r>
            <a:r>
              <a:rPr lang="en"/>
              <a:t> if it takes removing </a:t>
            </a:r>
            <a:r>
              <a:rPr i="1" lang="en"/>
              <a:t>k </a:t>
            </a:r>
            <a:r>
              <a:rPr lang="en"/>
              <a:t>nodes to disconnect it</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5120" name="Google Shape;5120;p280"/>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280"/>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280"/>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23" name="Google Shape;5123;p280"/>
          <p:cNvCxnSpPr>
            <a:stCxn id="5120" idx="3"/>
            <a:endCxn id="5121"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124" name="Google Shape;5124;p280"/>
          <p:cNvCxnSpPr>
            <a:stCxn id="5122" idx="1"/>
            <a:endCxn id="5121"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125" name="Google Shape;5125;p280"/>
          <p:cNvCxnSpPr>
            <a:stCxn id="5120" idx="4"/>
            <a:endCxn id="5122"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sp>
        <p:nvSpPr>
          <p:cNvPr id="5126" name="Google Shape;5126;p280"/>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280"/>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280"/>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280"/>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30" name="Google Shape;5130;p280"/>
          <p:cNvCxnSpPr>
            <a:stCxn id="5126" idx="3"/>
            <a:endCxn id="5127"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131" name="Google Shape;5131;p280"/>
          <p:cNvCxnSpPr>
            <a:stCxn id="5129" idx="0"/>
            <a:endCxn id="5127"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132" name="Google Shape;5132;p280"/>
          <p:cNvCxnSpPr>
            <a:stCxn id="5126" idx="5"/>
            <a:endCxn id="5128"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133" name="Google Shape;5133;p280"/>
          <p:cNvCxnSpPr>
            <a:stCxn id="5128" idx="2"/>
            <a:endCxn id="5127"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134" name="Google Shape;5134;p280"/>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35" name="Google Shape;5135;p280"/>
          <p:cNvCxnSpPr>
            <a:stCxn id="5134" idx="0"/>
            <a:endCxn id="5127"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136" name="Google Shape;5136;p280"/>
          <p:cNvCxnSpPr>
            <a:stCxn id="5128" idx="3"/>
            <a:endCxn id="5129"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137" name="Google Shape;5137;p280"/>
          <p:cNvCxnSpPr>
            <a:stCxn id="5128" idx="3"/>
            <a:endCxn id="5134"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138" name="Google Shape;5138;p280"/>
          <p:cNvCxnSpPr>
            <a:stCxn id="5126" idx="4"/>
            <a:endCxn id="5134"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139" name="Google Shape;5139;p280"/>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280"/>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1" name="Google Shape;5141;p280"/>
          <p:cNvCxnSpPr>
            <a:stCxn id="5140" idx="2"/>
            <a:endCxn id="5139"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142" name="Google Shape;5142;p280"/>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3" name="Google Shape;5143;p280"/>
          <p:cNvCxnSpPr>
            <a:stCxn id="5142" idx="2"/>
            <a:endCxn id="5139"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sp>
        <p:nvSpPr>
          <p:cNvPr id="5144" name="Google Shape;5144;p280"/>
          <p:cNvSpPr txBox="1"/>
          <p:nvPr/>
        </p:nvSpPr>
        <p:spPr>
          <a:xfrm>
            <a:off x="4393675" y="4397125"/>
            <a:ext cx="24480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graph is 3-connected</a:t>
            </a:r>
            <a:endParaRPr b="1">
              <a:solidFill>
                <a:srgbClr val="FF0000"/>
              </a:solidFill>
            </a:endParaRPr>
          </a:p>
        </p:txBody>
      </p:sp>
      <p:cxnSp>
        <p:nvCxnSpPr>
          <p:cNvPr id="5145" name="Google Shape;5145;p280"/>
          <p:cNvCxnSpPr>
            <a:stCxn id="5120" idx="6"/>
            <a:endCxn id="5134"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grpSp>
        <p:nvGrpSpPr>
          <p:cNvPr id="5146" name="Google Shape;5146;p280"/>
          <p:cNvGrpSpPr/>
          <p:nvPr/>
        </p:nvGrpSpPr>
        <p:grpSpPr>
          <a:xfrm>
            <a:off x="7426813" y="3603880"/>
            <a:ext cx="1182300" cy="1066200"/>
            <a:chOff x="7426813" y="3603880"/>
            <a:chExt cx="1182300" cy="1066200"/>
          </a:xfrm>
        </p:grpSpPr>
        <p:sp>
          <p:nvSpPr>
            <p:cNvPr id="5147" name="Google Shape;5147;p280"/>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8" name="Google Shape;5148;p280"/>
            <p:cNvCxnSpPr>
              <a:stCxn id="5147"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149" name="Google Shape;5149;p280"/>
            <p:cNvCxnSpPr>
              <a:endCxn id="5147"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150" name="Google Shape;5150;p280"/>
            <p:cNvCxnSpPr>
              <a:stCxn id="5147"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cxnSp>
        <p:nvCxnSpPr>
          <p:cNvPr id="5151" name="Google Shape;5151;p280"/>
          <p:cNvCxnSpPr/>
          <p:nvPr/>
        </p:nvCxnSpPr>
        <p:spPr>
          <a:xfrm>
            <a:off x="7967164" y="1952351"/>
            <a:ext cx="645000" cy="14934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5" name="Shape 5155"/>
        <p:cNvGrpSpPr/>
        <p:nvPr/>
      </p:nvGrpSpPr>
      <p:grpSpPr>
        <a:xfrm>
          <a:off x="0" y="0"/>
          <a:ext cx="0" cy="0"/>
          <a:chOff x="0" y="0"/>
          <a:chExt cx="0" cy="0"/>
        </a:xfrm>
      </p:grpSpPr>
      <p:sp>
        <p:nvSpPr>
          <p:cNvPr id="5156" name="Google Shape;5156;p28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Graph connectivity</a:t>
            </a:r>
            <a:endParaRPr/>
          </a:p>
        </p:txBody>
      </p:sp>
      <p:sp>
        <p:nvSpPr>
          <p:cNvPr id="5157" name="Google Shape;5157;p281"/>
          <p:cNvSpPr txBox="1"/>
          <p:nvPr>
            <p:ph idx="1" type="body"/>
          </p:nvPr>
        </p:nvSpPr>
        <p:spPr>
          <a:xfrm>
            <a:off x="311700" y="1225225"/>
            <a:ext cx="4314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can also disconnect a graph by removing </a:t>
            </a:r>
            <a:r>
              <a:rPr b="1" lang="en"/>
              <a:t>nodes</a:t>
            </a:r>
            <a:endParaRPr b="1"/>
          </a:p>
          <a:p>
            <a:pPr indent="-317500" lvl="1" marL="914400" rtl="0" algn="l">
              <a:spcBef>
                <a:spcPts val="0"/>
              </a:spcBef>
              <a:spcAft>
                <a:spcPts val="0"/>
              </a:spcAft>
              <a:buSzPts val="1400"/>
              <a:buChar char="○"/>
            </a:pPr>
            <a:r>
              <a:rPr lang="en"/>
              <a:t>Some nodes are more “important” because they serve as the connectors</a:t>
            </a:r>
            <a:endParaRPr/>
          </a:p>
          <a:p>
            <a:pPr indent="-342900" lvl="0" marL="457200" rtl="0" algn="l">
              <a:spcBef>
                <a:spcPts val="0"/>
              </a:spcBef>
              <a:spcAft>
                <a:spcPts val="0"/>
              </a:spcAft>
              <a:buSzPts val="1800"/>
              <a:buChar char="●"/>
            </a:pPr>
            <a:r>
              <a:rPr lang="en"/>
              <a:t>A graph is </a:t>
            </a:r>
            <a:r>
              <a:rPr b="1" lang="en"/>
              <a:t>k-connected</a:t>
            </a:r>
            <a:r>
              <a:rPr lang="en"/>
              <a:t> if it takes removing </a:t>
            </a:r>
            <a:r>
              <a:rPr i="1" lang="en"/>
              <a:t>k </a:t>
            </a:r>
            <a:r>
              <a:rPr lang="en"/>
              <a:t>nodes to disconnect it</a:t>
            </a:r>
            <a:endParaRPr/>
          </a:p>
          <a:p>
            <a:pPr indent="0" lvl="0" marL="457200" rtl="0" algn="l">
              <a:spcBef>
                <a:spcPts val="0"/>
              </a:spcBef>
              <a:spcAft>
                <a:spcPts val="0"/>
              </a:spcAft>
              <a:buNone/>
            </a:pPr>
            <a:r>
              <a:t/>
            </a:r>
            <a:endParaRPr b="1"/>
          </a:p>
          <a:p>
            <a:pPr indent="0" lvl="0" marL="0" rtl="0" algn="l">
              <a:spcBef>
                <a:spcPts val="0"/>
              </a:spcBef>
              <a:spcAft>
                <a:spcPts val="0"/>
              </a:spcAft>
              <a:buNone/>
            </a:pPr>
            <a:r>
              <a:t/>
            </a:r>
            <a:endParaRPr/>
          </a:p>
        </p:txBody>
      </p:sp>
      <p:sp>
        <p:nvSpPr>
          <p:cNvPr id="5158" name="Google Shape;5158;p281"/>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281"/>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281"/>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61" name="Google Shape;5161;p281"/>
          <p:cNvCxnSpPr>
            <a:stCxn id="5158" idx="3"/>
            <a:endCxn id="5159"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162" name="Google Shape;5162;p281"/>
          <p:cNvCxnSpPr>
            <a:stCxn id="5160" idx="1"/>
            <a:endCxn id="5159"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163" name="Google Shape;5163;p281"/>
          <p:cNvCxnSpPr>
            <a:stCxn id="5158" idx="4"/>
            <a:endCxn id="5160"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sp>
        <p:nvSpPr>
          <p:cNvPr id="5164" name="Google Shape;5164;p281"/>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281"/>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281"/>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281"/>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68" name="Google Shape;5168;p281"/>
          <p:cNvCxnSpPr>
            <a:stCxn id="5164" idx="3"/>
            <a:endCxn id="5165"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169" name="Google Shape;5169;p281"/>
          <p:cNvCxnSpPr>
            <a:stCxn id="5167" idx="0"/>
            <a:endCxn id="5165"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170" name="Google Shape;5170;p281"/>
          <p:cNvCxnSpPr>
            <a:stCxn id="5164" idx="5"/>
            <a:endCxn id="5166"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171" name="Google Shape;5171;p281"/>
          <p:cNvCxnSpPr>
            <a:stCxn id="5166" idx="2"/>
            <a:endCxn id="5165"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cxnSp>
        <p:nvCxnSpPr>
          <p:cNvPr id="5172" name="Google Shape;5172;p281"/>
          <p:cNvCxnSpPr>
            <a:stCxn id="5166" idx="3"/>
            <a:endCxn id="5167"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sp>
        <p:nvSpPr>
          <p:cNvPr id="5173" name="Google Shape;5173;p281"/>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281"/>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75" name="Google Shape;5175;p281"/>
          <p:cNvCxnSpPr>
            <a:stCxn id="5174" idx="2"/>
            <a:endCxn id="5173"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176" name="Google Shape;5176;p281"/>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77" name="Google Shape;5177;p281"/>
          <p:cNvCxnSpPr>
            <a:stCxn id="5176" idx="2"/>
            <a:endCxn id="5173"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sp>
        <p:nvSpPr>
          <p:cNvPr id="5178" name="Google Shape;5178;p281"/>
          <p:cNvSpPr txBox="1"/>
          <p:nvPr/>
        </p:nvSpPr>
        <p:spPr>
          <a:xfrm>
            <a:off x="4393675" y="4397125"/>
            <a:ext cx="24480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graph is 3-connected</a:t>
            </a:r>
            <a:endParaRPr b="1">
              <a:solidFill>
                <a:srgbClr val="FF0000"/>
              </a:solidFill>
            </a:endParaRPr>
          </a:p>
        </p:txBody>
      </p:sp>
      <p:grpSp>
        <p:nvGrpSpPr>
          <p:cNvPr id="5179" name="Google Shape;5179;p281"/>
          <p:cNvGrpSpPr/>
          <p:nvPr/>
        </p:nvGrpSpPr>
        <p:grpSpPr>
          <a:xfrm>
            <a:off x="7426813" y="3603880"/>
            <a:ext cx="1182300" cy="1066200"/>
            <a:chOff x="7426813" y="3603880"/>
            <a:chExt cx="1182300" cy="1066200"/>
          </a:xfrm>
        </p:grpSpPr>
        <p:sp>
          <p:nvSpPr>
            <p:cNvPr id="5180" name="Google Shape;5180;p281"/>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81" name="Google Shape;5181;p281"/>
            <p:cNvCxnSpPr>
              <a:stCxn id="5180"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182" name="Google Shape;5182;p281"/>
            <p:cNvCxnSpPr>
              <a:endCxn id="5180"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183" name="Google Shape;5183;p281"/>
            <p:cNvCxnSpPr>
              <a:stCxn id="5180"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7" name="Shape 5187"/>
        <p:cNvGrpSpPr/>
        <p:nvPr/>
      </p:nvGrpSpPr>
      <p:grpSpPr>
        <a:xfrm>
          <a:off x="0" y="0"/>
          <a:ext cx="0" cy="0"/>
          <a:chOff x="0" y="0"/>
          <a:chExt cx="0" cy="0"/>
        </a:xfrm>
      </p:grpSpPr>
      <p:sp>
        <p:nvSpPr>
          <p:cNvPr id="5188" name="Google Shape;5188;p28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189" name="Google Shape;5189;p282"/>
          <p:cNvSpPr txBox="1"/>
          <p:nvPr>
            <p:ph idx="1" type="body"/>
          </p:nvPr>
        </p:nvSpPr>
        <p:spPr>
          <a:xfrm>
            <a:off x="311700" y="1225225"/>
            <a:ext cx="452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graphs are </a:t>
            </a:r>
            <a:r>
              <a:rPr b="1" lang="en"/>
              <a:t>easy</a:t>
            </a:r>
            <a:r>
              <a:rPr lang="en"/>
              <a:t> to disconnect</a:t>
            </a:r>
            <a:endParaRPr/>
          </a:p>
          <a:p>
            <a:pPr indent="-317500" lvl="1" marL="914400" marR="0" rtl="0" algn="l">
              <a:lnSpc>
                <a:spcPct val="115000"/>
              </a:lnSpc>
              <a:spcBef>
                <a:spcPts val="0"/>
              </a:spcBef>
              <a:spcAft>
                <a:spcPts val="0"/>
              </a:spcAft>
              <a:buSzPts val="1400"/>
              <a:buChar char="○"/>
            </a:pPr>
            <a:r>
              <a:rPr lang="en"/>
              <a:t>Only require the removal of a </a:t>
            </a:r>
            <a:r>
              <a:rPr b="1" lang="en"/>
              <a:t>few</a:t>
            </a:r>
            <a:r>
              <a:rPr lang="en"/>
              <a:t> links or nodes</a:t>
            </a:r>
            <a:endParaRPr/>
          </a:p>
          <a:p>
            <a:pPr indent="-342900" lvl="0" marL="457200" marR="0" rtl="0" algn="l">
              <a:lnSpc>
                <a:spcPct val="115000"/>
              </a:lnSpc>
              <a:spcBef>
                <a:spcPts val="0"/>
              </a:spcBef>
              <a:spcAft>
                <a:spcPts val="0"/>
              </a:spcAft>
              <a:buSzPts val="1800"/>
              <a:buChar char="●"/>
            </a:pPr>
            <a:r>
              <a:rPr lang="en"/>
              <a:t>Others are </a:t>
            </a:r>
            <a:r>
              <a:rPr b="1" lang="en"/>
              <a:t>hard</a:t>
            </a:r>
            <a:r>
              <a:rPr lang="en"/>
              <a:t> to disconnect</a:t>
            </a:r>
            <a:endParaRPr/>
          </a:p>
          <a:p>
            <a:pPr indent="-317500" lvl="1" marL="914400" marR="0" rtl="0" algn="l">
              <a:lnSpc>
                <a:spcPct val="115000"/>
              </a:lnSpc>
              <a:spcBef>
                <a:spcPts val="0"/>
              </a:spcBef>
              <a:spcAft>
                <a:spcPts val="0"/>
              </a:spcAft>
              <a:buSzPts val="1400"/>
              <a:buChar char="○"/>
            </a:pPr>
            <a:r>
              <a:rPr lang="en"/>
              <a:t>Requires the removal of a </a:t>
            </a:r>
            <a:r>
              <a:rPr b="1" lang="en"/>
              <a:t>lot</a:t>
            </a:r>
            <a:r>
              <a:rPr lang="en"/>
              <a:t> of links or nodes</a:t>
            </a:r>
            <a:endParaRPr/>
          </a:p>
          <a:p>
            <a:pPr indent="-342900" lvl="0" marL="457200" rtl="0" algn="l">
              <a:spcBef>
                <a:spcPts val="0"/>
              </a:spcBef>
              <a:spcAft>
                <a:spcPts val="0"/>
              </a:spcAft>
              <a:buSzPts val="1800"/>
              <a:buChar char="●"/>
            </a:pPr>
            <a:r>
              <a:rPr lang="en"/>
              <a:t>The </a:t>
            </a:r>
            <a:r>
              <a:rPr b="1" lang="en"/>
              <a:t>edge-cutset </a:t>
            </a:r>
            <a:r>
              <a:rPr lang="en"/>
              <a:t>is the </a:t>
            </a:r>
            <a:r>
              <a:rPr b="1" lang="en"/>
              <a:t>minimum</a:t>
            </a:r>
            <a:r>
              <a:rPr lang="en"/>
              <a:t> number of </a:t>
            </a:r>
            <a:r>
              <a:rPr b="1" lang="en"/>
              <a:t>edges</a:t>
            </a:r>
            <a:r>
              <a:rPr lang="en"/>
              <a:t> required to </a:t>
            </a:r>
            <a:r>
              <a:rPr b="1" lang="en"/>
              <a:t>disconnect</a:t>
            </a:r>
            <a:r>
              <a:rPr lang="en"/>
              <a:t> a graph</a:t>
            </a:r>
            <a:endParaRPr/>
          </a:p>
          <a:p>
            <a:pPr indent="-317500" lvl="1" marL="914400" marR="0" rtl="0" algn="l">
              <a:lnSpc>
                <a:spcPct val="115000"/>
              </a:lnSpc>
              <a:spcBef>
                <a:spcPts val="0"/>
              </a:spcBef>
              <a:spcAft>
                <a:spcPts val="0"/>
              </a:spcAft>
              <a:buClr>
                <a:srgbClr val="FF0000"/>
              </a:buClr>
              <a:buSzPts val="1400"/>
              <a:buChar char="○"/>
            </a:pPr>
            <a:r>
              <a:rPr b="1" lang="en">
                <a:solidFill>
                  <a:srgbClr val="FF0000"/>
                </a:solidFill>
              </a:rPr>
              <a:t>What’s the edge-cutset of the graph on the right?</a:t>
            </a:r>
            <a:endParaRPr b="1">
              <a:solidFill>
                <a:srgbClr val="FF0000"/>
              </a:solidFill>
            </a:endParaRPr>
          </a:p>
          <a:p>
            <a:pPr indent="0" lvl="0" marL="0" rtl="0" algn="l">
              <a:spcBef>
                <a:spcPts val="1600"/>
              </a:spcBef>
              <a:spcAft>
                <a:spcPts val="0"/>
              </a:spcAft>
              <a:buNone/>
            </a:pPr>
            <a:r>
              <a:t/>
            </a:r>
            <a:endParaRPr/>
          </a:p>
        </p:txBody>
      </p:sp>
      <p:grpSp>
        <p:nvGrpSpPr>
          <p:cNvPr id="5190" name="Google Shape;5190;p282"/>
          <p:cNvGrpSpPr/>
          <p:nvPr/>
        </p:nvGrpSpPr>
        <p:grpSpPr>
          <a:xfrm>
            <a:off x="5370463" y="653813"/>
            <a:ext cx="3384048" cy="4016267"/>
            <a:chOff x="5370463" y="653813"/>
            <a:chExt cx="3384048" cy="4016267"/>
          </a:xfrm>
        </p:grpSpPr>
        <p:sp>
          <p:nvSpPr>
            <p:cNvPr id="5191" name="Google Shape;5191;p282"/>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282"/>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282"/>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282"/>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95" name="Google Shape;5195;p282"/>
            <p:cNvCxnSpPr>
              <a:stCxn id="5191" idx="3"/>
              <a:endCxn id="5192"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196" name="Google Shape;5196;p282"/>
            <p:cNvCxnSpPr>
              <a:stCxn id="5194" idx="1"/>
              <a:endCxn id="5192"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197" name="Google Shape;5197;p282"/>
            <p:cNvCxnSpPr>
              <a:stCxn id="5191" idx="4"/>
              <a:endCxn id="5194"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198" name="Google Shape;5198;p282"/>
            <p:cNvCxnSpPr>
              <a:stCxn id="5191" idx="5"/>
              <a:endCxn id="5193"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199" name="Google Shape;5199;p282"/>
            <p:cNvCxnSpPr>
              <a:stCxn id="5193" idx="2"/>
              <a:endCxn id="5192"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200" name="Google Shape;5200;p282"/>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282"/>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282"/>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282"/>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04" name="Google Shape;5204;p282"/>
            <p:cNvCxnSpPr>
              <a:stCxn id="5200" idx="3"/>
              <a:endCxn id="5201"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205" name="Google Shape;5205;p282"/>
            <p:cNvCxnSpPr>
              <a:stCxn id="5203" idx="0"/>
              <a:endCxn id="5201"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206" name="Google Shape;5206;p282"/>
            <p:cNvCxnSpPr>
              <a:stCxn id="5200" idx="5"/>
              <a:endCxn id="5202"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207" name="Google Shape;5207;p282"/>
            <p:cNvCxnSpPr>
              <a:stCxn id="5202" idx="2"/>
              <a:endCxn id="5201"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208" name="Google Shape;5208;p282"/>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09" name="Google Shape;5209;p282"/>
            <p:cNvCxnSpPr>
              <a:stCxn id="5208" idx="0"/>
              <a:endCxn id="5201"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210" name="Google Shape;5210;p282"/>
            <p:cNvCxnSpPr>
              <a:stCxn id="5202" idx="3"/>
              <a:endCxn id="5203"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211" name="Google Shape;5211;p282"/>
            <p:cNvCxnSpPr>
              <a:stCxn id="5202" idx="3"/>
              <a:endCxn id="5208"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212" name="Google Shape;5212;p282"/>
            <p:cNvCxnSpPr>
              <a:stCxn id="5200" idx="4"/>
              <a:endCxn id="5208"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213" name="Google Shape;5213;p282"/>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282"/>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282"/>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282"/>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17" name="Google Shape;5217;p282"/>
            <p:cNvCxnSpPr>
              <a:stCxn id="5213" idx="3"/>
              <a:endCxn id="5214"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218" name="Google Shape;5218;p282"/>
            <p:cNvCxnSpPr>
              <a:stCxn id="5216" idx="0"/>
              <a:endCxn id="5214"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219" name="Google Shape;5219;p282"/>
            <p:cNvCxnSpPr>
              <a:stCxn id="5213" idx="5"/>
              <a:endCxn id="5215"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220" name="Google Shape;5220;p282"/>
            <p:cNvCxnSpPr>
              <a:stCxn id="5215" idx="2"/>
              <a:endCxn id="5214"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221" name="Google Shape;5221;p282"/>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22" name="Google Shape;5222;p282"/>
            <p:cNvCxnSpPr>
              <a:stCxn id="5215" idx="3"/>
              <a:endCxn id="5216"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223" name="Google Shape;5223;p282"/>
            <p:cNvCxnSpPr>
              <a:stCxn id="5221" idx="2"/>
              <a:endCxn id="5214"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224" name="Google Shape;5224;p282"/>
            <p:cNvCxnSpPr>
              <a:stCxn id="5221" idx="0"/>
              <a:endCxn id="5213"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225" name="Google Shape;5225;p282"/>
            <p:cNvCxnSpPr>
              <a:stCxn id="5216" idx="6"/>
              <a:endCxn id="5221"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5226" name="Google Shape;5226;p282"/>
            <p:cNvCxnSpPr>
              <a:stCxn id="5193" idx="5"/>
              <a:endCxn id="5214"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227" name="Google Shape;5227;p282"/>
            <p:cNvCxnSpPr>
              <a:stCxn id="5193" idx="7"/>
              <a:endCxn id="5203"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228" name="Google Shape;5228;p282"/>
            <p:cNvCxnSpPr>
              <a:stCxn id="5208" idx="3"/>
              <a:endCxn id="5213"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229" name="Google Shape;5229;p282"/>
            <p:cNvCxnSpPr>
              <a:stCxn id="5202" idx="4"/>
              <a:endCxn id="5215"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3" name="Shape 5233"/>
        <p:cNvGrpSpPr/>
        <p:nvPr/>
      </p:nvGrpSpPr>
      <p:grpSpPr>
        <a:xfrm>
          <a:off x="0" y="0"/>
          <a:ext cx="0" cy="0"/>
          <a:chOff x="0" y="0"/>
          <a:chExt cx="0" cy="0"/>
        </a:xfrm>
      </p:grpSpPr>
      <p:sp>
        <p:nvSpPr>
          <p:cNvPr id="5234" name="Google Shape;5234;p28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235" name="Google Shape;5235;p283"/>
          <p:cNvSpPr txBox="1"/>
          <p:nvPr>
            <p:ph idx="1" type="body"/>
          </p:nvPr>
        </p:nvSpPr>
        <p:spPr>
          <a:xfrm>
            <a:off x="311700" y="1225225"/>
            <a:ext cx="452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graphs are </a:t>
            </a:r>
            <a:r>
              <a:rPr b="1" lang="en"/>
              <a:t>easy</a:t>
            </a:r>
            <a:r>
              <a:rPr lang="en"/>
              <a:t> to disconnect</a:t>
            </a:r>
            <a:endParaRPr/>
          </a:p>
          <a:p>
            <a:pPr indent="-317500" lvl="1" marL="914400" marR="0" rtl="0" algn="l">
              <a:lnSpc>
                <a:spcPct val="115000"/>
              </a:lnSpc>
              <a:spcBef>
                <a:spcPts val="0"/>
              </a:spcBef>
              <a:spcAft>
                <a:spcPts val="0"/>
              </a:spcAft>
              <a:buSzPts val="1400"/>
              <a:buChar char="○"/>
            </a:pPr>
            <a:r>
              <a:rPr lang="en"/>
              <a:t>Only require the removal of a </a:t>
            </a:r>
            <a:r>
              <a:rPr b="1" lang="en"/>
              <a:t>few</a:t>
            </a:r>
            <a:r>
              <a:rPr lang="en"/>
              <a:t> links or nodes</a:t>
            </a:r>
            <a:endParaRPr/>
          </a:p>
          <a:p>
            <a:pPr indent="-342900" lvl="0" marL="457200" marR="0" rtl="0" algn="l">
              <a:lnSpc>
                <a:spcPct val="115000"/>
              </a:lnSpc>
              <a:spcBef>
                <a:spcPts val="0"/>
              </a:spcBef>
              <a:spcAft>
                <a:spcPts val="0"/>
              </a:spcAft>
              <a:buSzPts val="1800"/>
              <a:buChar char="●"/>
            </a:pPr>
            <a:r>
              <a:rPr lang="en"/>
              <a:t>Others are </a:t>
            </a:r>
            <a:r>
              <a:rPr b="1" lang="en"/>
              <a:t>hard</a:t>
            </a:r>
            <a:r>
              <a:rPr lang="en"/>
              <a:t> to disconnect</a:t>
            </a:r>
            <a:endParaRPr/>
          </a:p>
          <a:p>
            <a:pPr indent="-317500" lvl="1" marL="914400" marR="0" rtl="0" algn="l">
              <a:lnSpc>
                <a:spcPct val="115000"/>
              </a:lnSpc>
              <a:spcBef>
                <a:spcPts val="0"/>
              </a:spcBef>
              <a:spcAft>
                <a:spcPts val="0"/>
              </a:spcAft>
              <a:buSzPts val="1400"/>
              <a:buChar char="○"/>
            </a:pPr>
            <a:r>
              <a:rPr lang="en"/>
              <a:t>Requires the removal of a </a:t>
            </a:r>
            <a:r>
              <a:rPr b="1" lang="en"/>
              <a:t>lot</a:t>
            </a:r>
            <a:r>
              <a:rPr lang="en"/>
              <a:t> of links or nodes</a:t>
            </a:r>
            <a:endParaRPr/>
          </a:p>
          <a:p>
            <a:pPr indent="-342900" lvl="0" marL="457200" rtl="0" algn="l">
              <a:spcBef>
                <a:spcPts val="0"/>
              </a:spcBef>
              <a:spcAft>
                <a:spcPts val="0"/>
              </a:spcAft>
              <a:buSzPts val="1800"/>
              <a:buChar char="●"/>
            </a:pPr>
            <a:r>
              <a:rPr lang="en"/>
              <a:t>The </a:t>
            </a:r>
            <a:r>
              <a:rPr b="1" lang="en"/>
              <a:t>edge-cutset </a:t>
            </a:r>
            <a:r>
              <a:rPr lang="en"/>
              <a:t>is the </a:t>
            </a:r>
            <a:r>
              <a:rPr b="1" lang="en"/>
              <a:t>minimum</a:t>
            </a:r>
            <a:r>
              <a:rPr lang="en"/>
              <a:t> number of </a:t>
            </a:r>
            <a:r>
              <a:rPr b="1" lang="en"/>
              <a:t>edges</a:t>
            </a:r>
            <a:r>
              <a:rPr lang="en"/>
              <a:t> required to </a:t>
            </a:r>
            <a:r>
              <a:rPr b="1" lang="en"/>
              <a:t>disconnect</a:t>
            </a:r>
            <a:r>
              <a:rPr lang="en"/>
              <a:t> a graph</a:t>
            </a:r>
            <a:endParaRPr/>
          </a:p>
          <a:p>
            <a:pPr indent="-317500" lvl="1" marL="914400" marR="0" rtl="0" algn="l">
              <a:lnSpc>
                <a:spcPct val="115000"/>
              </a:lnSpc>
              <a:spcBef>
                <a:spcPts val="0"/>
              </a:spcBef>
              <a:spcAft>
                <a:spcPts val="0"/>
              </a:spcAft>
              <a:buClr>
                <a:srgbClr val="FF0000"/>
              </a:buClr>
              <a:buSzPts val="1400"/>
              <a:buChar char="○"/>
            </a:pPr>
            <a:r>
              <a:rPr b="1" lang="en">
                <a:solidFill>
                  <a:srgbClr val="FF0000"/>
                </a:solidFill>
              </a:rPr>
              <a:t>What’s the </a:t>
            </a:r>
            <a:r>
              <a:rPr b="1" lang="en">
                <a:solidFill>
                  <a:srgbClr val="0000FF"/>
                </a:solidFill>
              </a:rPr>
              <a:t>edge-cutset</a:t>
            </a:r>
            <a:r>
              <a:rPr b="1" lang="en">
                <a:solidFill>
                  <a:srgbClr val="FF0000"/>
                </a:solidFill>
              </a:rPr>
              <a:t> of the graph on the right?</a:t>
            </a:r>
            <a:endParaRPr b="1">
              <a:solidFill>
                <a:srgbClr val="FF0000"/>
              </a:solidFill>
            </a:endParaRPr>
          </a:p>
          <a:p>
            <a:pPr indent="0" lvl="0" marL="0" rtl="0" algn="l">
              <a:spcBef>
                <a:spcPts val="1600"/>
              </a:spcBef>
              <a:spcAft>
                <a:spcPts val="0"/>
              </a:spcAft>
              <a:buNone/>
            </a:pPr>
            <a:r>
              <a:t/>
            </a:r>
            <a:endParaRPr/>
          </a:p>
        </p:txBody>
      </p:sp>
      <p:grpSp>
        <p:nvGrpSpPr>
          <p:cNvPr id="5236" name="Google Shape;5236;p283"/>
          <p:cNvGrpSpPr/>
          <p:nvPr/>
        </p:nvGrpSpPr>
        <p:grpSpPr>
          <a:xfrm>
            <a:off x="5370463" y="653813"/>
            <a:ext cx="3384048" cy="4016267"/>
            <a:chOff x="5370463" y="653813"/>
            <a:chExt cx="3384048" cy="4016267"/>
          </a:xfrm>
        </p:grpSpPr>
        <p:sp>
          <p:nvSpPr>
            <p:cNvPr id="5237" name="Google Shape;5237;p283"/>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283"/>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283"/>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283"/>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41" name="Google Shape;5241;p283"/>
            <p:cNvCxnSpPr>
              <a:stCxn id="5237" idx="3"/>
              <a:endCxn id="5238"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242" name="Google Shape;5242;p283"/>
            <p:cNvCxnSpPr>
              <a:stCxn id="5240" idx="1"/>
              <a:endCxn id="5238"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243" name="Google Shape;5243;p283"/>
            <p:cNvCxnSpPr>
              <a:stCxn id="5237" idx="4"/>
              <a:endCxn id="5240"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244" name="Google Shape;5244;p283"/>
            <p:cNvCxnSpPr>
              <a:stCxn id="5237" idx="5"/>
              <a:endCxn id="5239"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245" name="Google Shape;5245;p283"/>
            <p:cNvCxnSpPr>
              <a:stCxn id="5239" idx="2"/>
              <a:endCxn id="5238"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246" name="Google Shape;5246;p283"/>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283"/>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283"/>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283"/>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50" name="Google Shape;5250;p283"/>
            <p:cNvCxnSpPr>
              <a:stCxn id="5246" idx="3"/>
              <a:endCxn id="5247"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251" name="Google Shape;5251;p283"/>
            <p:cNvCxnSpPr>
              <a:stCxn id="5249" idx="0"/>
              <a:endCxn id="5247"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252" name="Google Shape;5252;p283"/>
            <p:cNvCxnSpPr>
              <a:stCxn id="5246" idx="5"/>
              <a:endCxn id="5248"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253" name="Google Shape;5253;p283"/>
            <p:cNvCxnSpPr>
              <a:stCxn id="5248" idx="2"/>
              <a:endCxn id="5247"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254" name="Google Shape;5254;p283"/>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55" name="Google Shape;5255;p283"/>
            <p:cNvCxnSpPr>
              <a:stCxn id="5254" idx="0"/>
              <a:endCxn id="5247"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256" name="Google Shape;5256;p283"/>
            <p:cNvCxnSpPr>
              <a:stCxn id="5248" idx="3"/>
              <a:endCxn id="5249"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257" name="Google Shape;5257;p283"/>
            <p:cNvCxnSpPr>
              <a:stCxn id="5248" idx="3"/>
              <a:endCxn id="5254"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258" name="Google Shape;5258;p283"/>
            <p:cNvCxnSpPr>
              <a:stCxn id="5246" idx="4"/>
              <a:endCxn id="5254"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259" name="Google Shape;5259;p283"/>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283"/>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283"/>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283"/>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63" name="Google Shape;5263;p283"/>
            <p:cNvCxnSpPr>
              <a:stCxn id="5259" idx="3"/>
              <a:endCxn id="5260"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264" name="Google Shape;5264;p283"/>
            <p:cNvCxnSpPr>
              <a:stCxn id="5262" idx="0"/>
              <a:endCxn id="5260"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265" name="Google Shape;5265;p283"/>
            <p:cNvCxnSpPr>
              <a:stCxn id="5259" idx="5"/>
              <a:endCxn id="5261"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266" name="Google Shape;5266;p283"/>
            <p:cNvCxnSpPr>
              <a:stCxn id="5261" idx="2"/>
              <a:endCxn id="5260"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267" name="Google Shape;5267;p283"/>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68" name="Google Shape;5268;p283"/>
            <p:cNvCxnSpPr>
              <a:stCxn id="5261" idx="3"/>
              <a:endCxn id="5262"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269" name="Google Shape;5269;p283"/>
            <p:cNvCxnSpPr>
              <a:stCxn id="5267" idx="2"/>
              <a:endCxn id="5260"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270" name="Google Shape;5270;p283"/>
            <p:cNvCxnSpPr>
              <a:stCxn id="5267" idx="0"/>
              <a:endCxn id="5259"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271" name="Google Shape;5271;p283"/>
            <p:cNvCxnSpPr>
              <a:stCxn id="5262" idx="6"/>
              <a:endCxn id="5267"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5272" name="Google Shape;5272;p283"/>
            <p:cNvCxnSpPr>
              <a:stCxn id="5239" idx="5"/>
              <a:endCxn id="5260" idx="1"/>
            </p:cNvCxnSpPr>
            <p:nvPr/>
          </p:nvCxnSpPr>
          <p:spPr>
            <a:xfrm>
              <a:off x="6516801" y="2675826"/>
              <a:ext cx="800400" cy="1149900"/>
            </a:xfrm>
            <a:prstGeom prst="straightConnector1">
              <a:avLst/>
            </a:prstGeom>
            <a:noFill/>
            <a:ln cap="flat" cmpd="sng" w="38100">
              <a:solidFill>
                <a:srgbClr val="0000FF"/>
              </a:solidFill>
              <a:prstDash val="solid"/>
              <a:round/>
              <a:headEnd len="med" w="med" type="none"/>
              <a:tailEnd len="med" w="med" type="none"/>
            </a:ln>
          </p:spPr>
        </p:cxnSp>
        <p:cxnSp>
          <p:nvCxnSpPr>
            <p:cNvPr id="5273" name="Google Shape;5273;p283"/>
            <p:cNvCxnSpPr>
              <a:stCxn id="5239" idx="7"/>
              <a:endCxn id="5249" idx="3"/>
            </p:cNvCxnSpPr>
            <p:nvPr/>
          </p:nvCxnSpPr>
          <p:spPr>
            <a:xfrm flipH="1" rot="10800000">
              <a:off x="6516801" y="1640899"/>
              <a:ext cx="754200" cy="913800"/>
            </a:xfrm>
            <a:prstGeom prst="straightConnector1">
              <a:avLst/>
            </a:prstGeom>
            <a:noFill/>
            <a:ln cap="flat" cmpd="sng" w="38100">
              <a:solidFill>
                <a:srgbClr val="0000FF"/>
              </a:solidFill>
              <a:prstDash val="solid"/>
              <a:round/>
              <a:headEnd len="med" w="med" type="none"/>
              <a:tailEnd len="med" w="med" type="none"/>
            </a:ln>
          </p:spPr>
        </p:cxnSp>
        <p:cxnSp>
          <p:nvCxnSpPr>
            <p:cNvPr id="5274" name="Google Shape;5274;p283"/>
            <p:cNvCxnSpPr>
              <a:stCxn id="5254" idx="3"/>
              <a:endCxn id="5259"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275" name="Google Shape;5275;p283"/>
            <p:cNvCxnSpPr>
              <a:stCxn id="5248" idx="4"/>
              <a:endCxn id="5261"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
        <p:nvSpPr>
          <p:cNvPr id="5276" name="Google Shape;5276;p283"/>
          <p:cNvSpPr txBox="1"/>
          <p:nvPr/>
        </p:nvSpPr>
        <p:spPr>
          <a:xfrm>
            <a:off x="4879450" y="4108775"/>
            <a:ext cx="1704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FF"/>
                </a:solidFill>
              </a:rPr>
              <a:t>|</a:t>
            </a:r>
            <a:r>
              <a:rPr b="1" lang="en">
                <a:solidFill>
                  <a:srgbClr val="0000FF"/>
                </a:solidFill>
              </a:rPr>
              <a:t>Edge-cutset| = 2</a:t>
            </a:r>
            <a:endParaRPr b="1">
              <a:solidFill>
                <a:srgbClr val="0000FF"/>
              </a:solidFill>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0" name="Shape 5280"/>
        <p:cNvGrpSpPr/>
        <p:nvPr/>
      </p:nvGrpSpPr>
      <p:grpSpPr>
        <a:xfrm>
          <a:off x="0" y="0"/>
          <a:ext cx="0" cy="0"/>
          <a:chOff x="0" y="0"/>
          <a:chExt cx="0" cy="0"/>
        </a:xfrm>
      </p:grpSpPr>
      <p:sp>
        <p:nvSpPr>
          <p:cNvPr id="5281" name="Google Shape;5281;p28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282" name="Google Shape;5282;p284"/>
          <p:cNvSpPr txBox="1"/>
          <p:nvPr>
            <p:ph idx="1" type="body"/>
          </p:nvPr>
        </p:nvSpPr>
        <p:spPr>
          <a:xfrm>
            <a:off x="311700" y="1225225"/>
            <a:ext cx="452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graphs are </a:t>
            </a:r>
            <a:r>
              <a:rPr b="1" lang="en"/>
              <a:t>easy</a:t>
            </a:r>
            <a:r>
              <a:rPr lang="en"/>
              <a:t> to disconnect</a:t>
            </a:r>
            <a:endParaRPr/>
          </a:p>
          <a:p>
            <a:pPr indent="-317500" lvl="1" marL="914400" marR="0" rtl="0" algn="l">
              <a:lnSpc>
                <a:spcPct val="115000"/>
              </a:lnSpc>
              <a:spcBef>
                <a:spcPts val="0"/>
              </a:spcBef>
              <a:spcAft>
                <a:spcPts val="0"/>
              </a:spcAft>
              <a:buSzPts val="1400"/>
              <a:buChar char="○"/>
            </a:pPr>
            <a:r>
              <a:rPr lang="en"/>
              <a:t>Only require the removal of a </a:t>
            </a:r>
            <a:r>
              <a:rPr b="1" lang="en"/>
              <a:t>few</a:t>
            </a:r>
            <a:r>
              <a:rPr lang="en"/>
              <a:t> links or nodes</a:t>
            </a:r>
            <a:endParaRPr/>
          </a:p>
          <a:p>
            <a:pPr indent="-342900" lvl="0" marL="457200" marR="0" rtl="0" algn="l">
              <a:lnSpc>
                <a:spcPct val="115000"/>
              </a:lnSpc>
              <a:spcBef>
                <a:spcPts val="0"/>
              </a:spcBef>
              <a:spcAft>
                <a:spcPts val="0"/>
              </a:spcAft>
              <a:buSzPts val="1800"/>
              <a:buChar char="●"/>
            </a:pPr>
            <a:r>
              <a:rPr lang="en"/>
              <a:t>Others are </a:t>
            </a:r>
            <a:r>
              <a:rPr b="1" lang="en"/>
              <a:t>hard</a:t>
            </a:r>
            <a:r>
              <a:rPr lang="en"/>
              <a:t> to disconnect</a:t>
            </a:r>
            <a:endParaRPr/>
          </a:p>
          <a:p>
            <a:pPr indent="-317500" lvl="1" marL="914400" marR="0" rtl="0" algn="l">
              <a:lnSpc>
                <a:spcPct val="115000"/>
              </a:lnSpc>
              <a:spcBef>
                <a:spcPts val="0"/>
              </a:spcBef>
              <a:spcAft>
                <a:spcPts val="0"/>
              </a:spcAft>
              <a:buSzPts val="1400"/>
              <a:buChar char="○"/>
            </a:pPr>
            <a:r>
              <a:rPr lang="en"/>
              <a:t>Requires the removal of a </a:t>
            </a:r>
            <a:r>
              <a:rPr b="1" lang="en"/>
              <a:t>lot</a:t>
            </a:r>
            <a:r>
              <a:rPr lang="en"/>
              <a:t> of links or nodes</a:t>
            </a:r>
            <a:endParaRPr/>
          </a:p>
          <a:p>
            <a:pPr indent="-342900" lvl="0" marL="457200" rtl="0" algn="l">
              <a:spcBef>
                <a:spcPts val="0"/>
              </a:spcBef>
              <a:spcAft>
                <a:spcPts val="0"/>
              </a:spcAft>
              <a:buSzPts val="1800"/>
              <a:buChar char="●"/>
            </a:pPr>
            <a:r>
              <a:rPr lang="en"/>
              <a:t>The </a:t>
            </a:r>
            <a:r>
              <a:rPr b="1" lang="en"/>
              <a:t>edge-cutset </a:t>
            </a:r>
            <a:r>
              <a:rPr lang="en"/>
              <a:t>is the </a:t>
            </a:r>
            <a:r>
              <a:rPr b="1" lang="en"/>
              <a:t>minimum</a:t>
            </a:r>
            <a:r>
              <a:rPr lang="en"/>
              <a:t> number of </a:t>
            </a:r>
            <a:r>
              <a:rPr b="1" lang="en"/>
              <a:t>edges</a:t>
            </a:r>
            <a:r>
              <a:rPr lang="en"/>
              <a:t> required to </a:t>
            </a:r>
            <a:r>
              <a:rPr b="1" lang="en"/>
              <a:t>disconnect</a:t>
            </a:r>
            <a:r>
              <a:rPr lang="en"/>
              <a:t> a graph</a:t>
            </a:r>
            <a:endParaRPr/>
          </a:p>
          <a:p>
            <a:pPr indent="-317500" lvl="1" marL="914400" marR="0" rtl="0" algn="l">
              <a:lnSpc>
                <a:spcPct val="115000"/>
              </a:lnSpc>
              <a:spcBef>
                <a:spcPts val="0"/>
              </a:spcBef>
              <a:spcAft>
                <a:spcPts val="0"/>
              </a:spcAft>
              <a:buClr>
                <a:srgbClr val="FF0000"/>
              </a:buClr>
              <a:buSzPts val="1400"/>
              <a:buChar char="○"/>
            </a:pPr>
            <a:r>
              <a:rPr b="1" lang="en">
                <a:solidFill>
                  <a:srgbClr val="FF0000"/>
                </a:solidFill>
              </a:rPr>
              <a:t>What’s the </a:t>
            </a:r>
            <a:r>
              <a:rPr b="1" lang="en">
                <a:solidFill>
                  <a:srgbClr val="0000FF"/>
                </a:solidFill>
              </a:rPr>
              <a:t>edge-cutset</a:t>
            </a:r>
            <a:r>
              <a:rPr b="1" lang="en">
                <a:solidFill>
                  <a:srgbClr val="FF0000"/>
                </a:solidFill>
              </a:rPr>
              <a:t> of the graph on the right?</a:t>
            </a:r>
            <a:endParaRPr b="1">
              <a:solidFill>
                <a:srgbClr val="FF0000"/>
              </a:solidFill>
            </a:endParaRPr>
          </a:p>
          <a:p>
            <a:pPr indent="0" lvl="0" marL="0" rtl="0" algn="l">
              <a:spcBef>
                <a:spcPts val="1600"/>
              </a:spcBef>
              <a:spcAft>
                <a:spcPts val="0"/>
              </a:spcAft>
              <a:buNone/>
            </a:pPr>
            <a:r>
              <a:t/>
            </a:r>
            <a:endParaRPr/>
          </a:p>
        </p:txBody>
      </p:sp>
      <p:grpSp>
        <p:nvGrpSpPr>
          <p:cNvPr id="5283" name="Google Shape;5283;p284"/>
          <p:cNvGrpSpPr/>
          <p:nvPr/>
        </p:nvGrpSpPr>
        <p:grpSpPr>
          <a:xfrm>
            <a:off x="5370463" y="653813"/>
            <a:ext cx="3384048" cy="4016267"/>
            <a:chOff x="5370463" y="653813"/>
            <a:chExt cx="3384048" cy="4016267"/>
          </a:xfrm>
        </p:grpSpPr>
        <p:sp>
          <p:nvSpPr>
            <p:cNvPr id="5284" name="Google Shape;5284;p284"/>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284"/>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284"/>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284"/>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88" name="Google Shape;5288;p284"/>
            <p:cNvCxnSpPr>
              <a:stCxn id="5284" idx="3"/>
              <a:endCxn id="5285"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289" name="Google Shape;5289;p284"/>
            <p:cNvCxnSpPr>
              <a:stCxn id="5287" idx="1"/>
              <a:endCxn id="5285"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290" name="Google Shape;5290;p284"/>
            <p:cNvCxnSpPr>
              <a:stCxn id="5284" idx="4"/>
              <a:endCxn id="5287"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291" name="Google Shape;5291;p284"/>
            <p:cNvCxnSpPr>
              <a:stCxn id="5284" idx="5"/>
              <a:endCxn id="5286"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292" name="Google Shape;5292;p284"/>
            <p:cNvCxnSpPr>
              <a:stCxn id="5286" idx="2"/>
              <a:endCxn id="5285"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293" name="Google Shape;5293;p284"/>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284"/>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284"/>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284"/>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97" name="Google Shape;5297;p284"/>
            <p:cNvCxnSpPr>
              <a:stCxn id="5293" idx="3"/>
              <a:endCxn id="529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298" name="Google Shape;5298;p284"/>
            <p:cNvCxnSpPr>
              <a:stCxn id="5296" idx="0"/>
              <a:endCxn id="5294"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299" name="Google Shape;5299;p284"/>
            <p:cNvCxnSpPr>
              <a:stCxn id="5293" idx="5"/>
              <a:endCxn id="529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300" name="Google Shape;5300;p284"/>
            <p:cNvCxnSpPr>
              <a:stCxn id="5295" idx="2"/>
              <a:endCxn id="529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301" name="Google Shape;5301;p284"/>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02" name="Google Shape;5302;p284"/>
            <p:cNvCxnSpPr>
              <a:stCxn id="5301" idx="0"/>
              <a:endCxn id="5294"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303" name="Google Shape;5303;p284"/>
            <p:cNvCxnSpPr>
              <a:stCxn id="5295" idx="3"/>
              <a:endCxn id="5296"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304" name="Google Shape;5304;p284"/>
            <p:cNvCxnSpPr>
              <a:stCxn id="5295" idx="3"/>
              <a:endCxn id="5301"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305" name="Google Shape;5305;p284"/>
            <p:cNvCxnSpPr>
              <a:stCxn id="5293" idx="4"/>
              <a:endCxn id="5301"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306" name="Google Shape;5306;p284"/>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284"/>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284"/>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284"/>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10" name="Google Shape;5310;p284"/>
            <p:cNvCxnSpPr>
              <a:stCxn id="5306" idx="3"/>
              <a:endCxn id="530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311" name="Google Shape;5311;p284"/>
            <p:cNvCxnSpPr>
              <a:stCxn id="5309" idx="0"/>
              <a:endCxn id="5307"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312" name="Google Shape;5312;p284"/>
            <p:cNvCxnSpPr>
              <a:stCxn id="5306" idx="5"/>
              <a:endCxn id="5308"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313" name="Google Shape;5313;p284"/>
            <p:cNvCxnSpPr>
              <a:stCxn id="5308" idx="2"/>
              <a:endCxn id="5307"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314" name="Google Shape;5314;p284"/>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15" name="Google Shape;5315;p284"/>
            <p:cNvCxnSpPr>
              <a:stCxn id="5308" idx="3"/>
              <a:endCxn id="5309"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316" name="Google Shape;5316;p284"/>
            <p:cNvCxnSpPr>
              <a:stCxn id="5314" idx="2"/>
              <a:endCxn id="530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317" name="Google Shape;5317;p284"/>
            <p:cNvCxnSpPr>
              <a:stCxn id="5314" idx="0"/>
              <a:endCxn id="530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318" name="Google Shape;5318;p284"/>
            <p:cNvCxnSpPr>
              <a:stCxn id="5309" idx="6"/>
              <a:endCxn id="5314"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5319" name="Google Shape;5319;p284"/>
            <p:cNvCxnSpPr>
              <a:stCxn id="5301" idx="3"/>
              <a:endCxn id="5306"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320" name="Google Shape;5320;p284"/>
            <p:cNvCxnSpPr>
              <a:stCxn id="5295" idx="4"/>
              <a:endCxn id="5308"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
        <p:nvSpPr>
          <p:cNvPr id="5321" name="Google Shape;5321;p284"/>
          <p:cNvSpPr txBox="1"/>
          <p:nvPr/>
        </p:nvSpPr>
        <p:spPr>
          <a:xfrm>
            <a:off x="4879450" y="4108775"/>
            <a:ext cx="1704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FF"/>
                </a:solidFill>
              </a:rPr>
              <a:t>|Edge-cutset| = 2</a:t>
            </a:r>
            <a:endParaRPr b="1">
              <a:solidFill>
                <a:srgbClr val="0000FF"/>
              </a:solidFill>
            </a:endParaRPr>
          </a:p>
        </p:txBody>
      </p:sp>
      <p:sp>
        <p:nvSpPr>
          <p:cNvPr id="5322" name="Google Shape;5322;p284"/>
          <p:cNvSpPr txBox="1"/>
          <p:nvPr/>
        </p:nvSpPr>
        <p:spPr>
          <a:xfrm>
            <a:off x="4879450" y="1004700"/>
            <a:ext cx="1704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FF"/>
                </a:solidFill>
              </a:rPr>
              <a:t>Disconnected!</a:t>
            </a:r>
            <a:endParaRPr b="1">
              <a:solidFill>
                <a:srgbClr val="0000FF"/>
              </a:solidFill>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6" name="Shape 5326"/>
        <p:cNvGrpSpPr/>
        <p:nvPr/>
      </p:nvGrpSpPr>
      <p:grpSpPr>
        <a:xfrm>
          <a:off x="0" y="0"/>
          <a:ext cx="0" cy="0"/>
          <a:chOff x="0" y="0"/>
          <a:chExt cx="0" cy="0"/>
        </a:xfrm>
      </p:grpSpPr>
      <p:sp>
        <p:nvSpPr>
          <p:cNvPr id="5327" name="Google Shape;5327;p28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328" name="Google Shape;5328;p285"/>
          <p:cNvSpPr txBox="1"/>
          <p:nvPr>
            <p:ph idx="1" type="body"/>
          </p:nvPr>
        </p:nvSpPr>
        <p:spPr>
          <a:xfrm>
            <a:off x="311700" y="1225225"/>
            <a:ext cx="452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graphs are </a:t>
            </a:r>
            <a:r>
              <a:rPr b="1" lang="en"/>
              <a:t>easy</a:t>
            </a:r>
            <a:r>
              <a:rPr lang="en"/>
              <a:t> to disconnect</a:t>
            </a:r>
            <a:endParaRPr/>
          </a:p>
          <a:p>
            <a:pPr indent="-317500" lvl="1" marL="914400" marR="0" rtl="0" algn="l">
              <a:lnSpc>
                <a:spcPct val="115000"/>
              </a:lnSpc>
              <a:spcBef>
                <a:spcPts val="0"/>
              </a:spcBef>
              <a:spcAft>
                <a:spcPts val="0"/>
              </a:spcAft>
              <a:buSzPts val="1400"/>
              <a:buChar char="○"/>
            </a:pPr>
            <a:r>
              <a:rPr lang="en"/>
              <a:t>Only require the removal of a </a:t>
            </a:r>
            <a:r>
              <a:rPr b="1" lang="en"/>
              <a:t>few</a:t>
            </a:r>
            <a:r>
              <a:rPr lang="en"/>
              <a:t> links or nodes</a:t>
            </a:r>
            <a:endParaRPr/>
          </a:p>
          <a:p>
            <a:pPr indent="-342900" lvl="0" marL="457200" marR="0" rtl="0" algn="l">
              <a:lnSpc>
                <a:spcPct val="115000"/>
              </a:lnSpc>
              <a:spcBef>
                <a:spcPts val="0"/>
              </a:spcBef>
              <a:spcAft>
                <a:spcPts val="0"/>
              </a:spcAft>
              <a:buSzPts val="1800"/>
              <a:buChar char="●"/>
            </a:pPr>
            <a:r>
              <a:rPr lang="en"/>
              <a:t>Others are </a:t>
            </a:r>
            <a:r>
              <a:rPr b="1" lang="en"/>
              <a:t>hard</a:t>
            </a:r>
            <a:r>
              <a:rPr lang="en"/>
              <a:t> to disconnect</a:t>
            </a:r>
            <a:endParaRPr/>
          </a:p>
          <a:p>
            <a:pPr indent="-317500" lvl="1" marL="914400" marR="0" rtl="0" algn="l">
              <a:lnSpc>
                <a:spcPct val="115000"/>
              </a:lnSpc>
              <a:spcBef>
                <a:spcPts val="0"/>
              </a:spcBef>
              <a:spcAft>
                <a:spcPts val="0"/>
              </a:spcAft>
              <a:buSzPts val="1400"/>
              <a:buChar char="○"/>
            </a:pPr>
            <a:r>
              <a:rPr lang="en"/>
              <a:t>Requires the removal of a </a:t>
            </a:r>
            <a:r>
              <a:rPr b="1" lang="en"/>
              <a:t>lot</a:t>
            </a:r>
            <a:r>
              <a:rPr lang="en"/>
              <a:t> of links or nodes</a:t>
            </a:r>
            <a:endParaRPr/>
          </a:p>
          <a:p>
            <a:pPr indent="-342900" lvl="0" marL="457200" marR="0" rtl="0" algn="l">
              <a:lnSpc>
                <a:spcPct val="115000"/>
              </a:lnSpc>
              <a:spcBef>
                <a:spcPts val="0"/>
              </a:spcBef>
              <a:spcAft>
                <a:spcPts val="0"/>
              </a:spcAft>
              <a:buClr>
                <a:schemeClr val="dk1"/>
              </a:buClr>
              <a:buSzPts val="1800"/>
              <a:buFont typeface="Open Sans"/>
              <a:buChar char="●"/>
            </a:pPr>
            <a:r>
              <a:rPr lang="en"/>
              <a:t>The </a:t>
            </a:r>
            <a:r>
              <a:rPr b="1" lang="en"/>
              <a:t>node</a:t>
            </a:r>
            <a:r>
              <a:rPr b="1" lang="en"/>
              <a:t>-cutset </a:t>
            </a:r>
            <a:r>
              <a:rPr lang="en"/>
              <a:t>is the </a:t>
            </a:r>
            <a:r>
              <a:rPr b="1" lang="en"/>
              <a:t>minimum</a:t>
            </a:r>
            <a:r>
              <a:rPr lang="en"/>
              <a:t> number of </a:t>
            </a:r>
            <a:r>
              <a:rPr b="1" lang="en"/>
              <a:t>node</a:t>
            </a:r>
            <a:r>
              <a:rPr b="1" lang="en"/>
              <a:t>s</a:t>
            </a:r>
            <a:r>
              <a:rPr lang="en"/>
              <a:t> required to </a:t>
            </a:r>
            <a:r>
              <a:rPr b="1" lang="en"/>
              <a:t>disconnect</a:t>
            </a:r>
            <a:r>
              <a:rPr lang="en"/>
              <a:t> a graph</a:t>
            </a:r>
            <a:endParaRPr/>
          </a:p>
          <a:p>
            <a:pPr indent="-317500" lvl="1" marL="914400" marR="0" rtl="0" algn="l">
              <a:lnSpc>
                <a:spcPct val="115000"/>
              </a:lnSpc>
              <a:spcBef>
                <a:spcPts val="0"/>
              </a:spcBef>
              <a:spcAft>
                <a:spcPts val="0"/>
              </a:spcAft>
              <a:buClr>
                <a:srgbClr val="FF0000"/>
              </a:buClr>
              <a:buSzPts val="1400"/>
              <a:buChar char="○"/>
            </a:pPr>
            <a:r>
              <a:rPr b="1" lang="en">
                <a:solidFill>
                  <a:srgbClr val="FF0000"/>
                </a:solidFill>
              </a:rPr>
              <a:t>What’s the </a:t>
            </a:r>
            <a:r>
              <a:rPr b="1" lang="en">
                <a:solidFill>
                  <a:srgbClr val="0000FF"/>
                </a:solidFill>
              </a:rPr>
              <a:t>node-cutset</a:t>
            </a:r>
            <a:r>
              <a:rPr b="1" lang="en">
                <a:solidFill>
                  <a:srgbClr val="FF0000"/>
                </a:solidFill>
              </a:rPr>
              <a:t> of the graph on the right?</a:t>
            </a:r>
            <a:endParaRPr b="1">
              <a:solidFill>
                <a:srgbClr val="FF0000"/>
              </a:solidFill>
            </a:endParaRPr>
          </a:p>
          <a:p>
            <a:pPr indent="0" lvl="0" marL="0" rtl="0" algn="l">
              <a:spcBef>
                <a:spcPts val="1600"/>
              </a:spcBef>
              <a:spcAft>
                <a:spcPts val="0"/>
              </a:spcAft>
              <a:buNone/>
            </a:pPr>
            <a:r>
              <a:t/>
            </a:r>
            <a:endParaRPr/>
          </a:p>
        </p:txBody>
      </p:sp>
      <p:grpSp>
        <p:nvGrpSpPr>
          <p:cNvPr id="5329" name="Google Shape;5329;p285"/>
          <p:cNvGrpSpPr/>
          <p:nvPr/>
        </p:nvGrpSpPr>
        <p:grpSpPr>
          <a:xfrm>
            <a:off x="5370463" y="653813"/>
            <a:ext cx="3384048" cy="4016267"/>
            <a:chOff x="5370463" y="653813"/>
            <a:chExt cx="3384048" cy="4016267"/>
          </a:xfrm>
        </p:grpSpPr>
        <p:sp>
          <p:nvSpPr>
            <p:cNvPr id="5330" name="Google Shape;5330;p285"/>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285"/>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285"/>
            <p:cNvSpPr/>
            <p:nvPr/>
          </p:nvSpPr>
          <p:spPr>
            <a:xfrm>
              <a:off x="6370588" y="25296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285"/>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34" name="Google Shape;5334;p285"/>
            <p:cNvCxnSpPr>
              <a:stCxn id="5330" idx="3"/>
              <a:endCxn id="5331"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335" name="Google Shape;5335;p285"/>
            <p:cNvCxnSpPr>
              <a:stCxn id="5333" idx="1"/>
              <a:endCxn id="5331"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336" name="Google Shape;5336;p285"/>
            <p:cNvCxnSpPr>
              <a:stCxn id="5330" idx="4"/>
              <a:endCxn id="5333"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337" name="Google Shape;5337;p285"/>
            <p:cNvCxnSpPr>
              <a:stCxn id="5330" idx="5"/>
              <a:endCxn id="5332"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338" name="Google Shape;5338;p285"/>
            <p:cNvCxnSpPr>
              <a:stCxn id="5332" idx="2"/>
              <a:endCxn id="5331"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339" name="Google Shape;5339;p285"/>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285"/>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285"/>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285"/>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3" name="Google Shape;5343;p285"/>
            <p:cNvCxnSpPr>
              <a:stCxn id="5339" idx="3"/>
              <a:endCxn id="5340"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344" name="Google Shape;5344;p285"/>
            <p:cNvCxnSpPr>
              <a:stCxn id="5342" idx="0"/>
              <a:endCxn id="5340"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345" name="Google Shape;5345;p285"/>
            <p:cNvCxnSpPr>
              <a:stCxn id="5339" idx="5"/>
              <a:endCxn id="5341"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346" name="Google Shape;5346;p285"/>
            <p:cNvCxnSpPr>
              <a:stCxn id="5341" idx="2"/>
              <a:endCxn id="5340"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347" name="Google Shape;5347;p285"/>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8" name="Google Shape;5348;p285"/>
            <p:cNvCxnSpPr>
              <a:stCxn id="5347" idx="0"/>
              <a:endCxn id="5340"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349" name="Google Shape;5349;p285"/>
            <p:cNvCxnSpPr>
              <a:stCxn id="5341" idx="3"/>
              <a:endCxn id="5342"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350" name="Google Shape;5350;p285"/>
            <p:cNvCxnSpPr>
              <a:stCxn id="5341" idx="3"/>
              <a:endCxn id="5347"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351" name="Google Shape;5351;p285"/>
            <p:cNvCxnSpPr>
              <a:stCxn id="5339" idx="4"/>
              <a:endCxn id="5347"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352" name="Google Shape;5352;p285"/>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285"/>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285"/>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285"/>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56" name="Google Shape;5356;p285"/>
            <p:cNvCxnSpPr>
              <a:stCxn id="5352" idx="3"/>
              <a:endCxn id="5353"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357" name="Google Shape;5357;p285"/>
            <p:cNvCxnSpPr>
              <a:stCxn id="5355" idx="0"/>
              <a:endCxn id="5353"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358" name="Google Shape;5358;p285"/>
            <p:cNvCxnSpPr>
              <a:stCxn id="5352" idx="5"/>
              <a:endCxn id="5354"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359" name="Google Shape;5359;p285"/>
            <p:cNvCxnSpPr>
              <a:stCxn id="5354" idx="2"/>
              <a:endCxn id="5353"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360" name="Google Shape;5360;p285"/>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61" name="Google Shape;5361;p285"/>
            <p:cNvCxnSpPr>
              <a:stCxn id="5354" idx="3"/>
              <a:endCxn id="5355"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362" name="Google Shape;5362;p285"/>
            <p:cNvCxnSpPr>
              <a:stCxn id="5360" idx="2"/>
              <a:endCxn id="5353"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363" name="Google Shape;5363;p285"/>
            <p:cNvCxnSpPr>
              <a:stCxn id="5360" idx="0"/>
              <a:endCxn id="5352"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364" name="Google Shape;5364;p285"/>
            <p:cNvCxnSpPr>
              <a:stCxn id="5355" idx="6"/>
              <a:endCxn id="5360"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5365" name="Google Shape;5365;p285"/>
            <p:cNvCxnSpPr>
              <a:stCxn id="5332" idx="5"/>
              <a:endCxn id="5353"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366" name="Google Shape;5366;p285"/>
            <p:cNvCxnSpPr>
              <a:stCxn id="5332" idx="7"/>
              <a:endCxn id="5342"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367" name="Google Shape;5367;p285"/>
            <p:cNvCxnSpPr>
              <a:stCxn id="5347" idx="3"/>
              <a:endCxn id="5352"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368" name="Google Shape;5368;p285"/>
            <p:cNvCxnSpPr>
              <a:stCxn id="5341" idx="4"/>
              <a:endCxn id="5354"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2" name="Shape 5372"/>
        <p:cNvGrpSpPr/>
        <p:nvPr/>
      </p:nvGrpSpPr>
      <p:grpSpPr>
        <a:xfrm>
          <a:off x="0" y="0"/>
          <a:ext cx="0" cy="0"/>
          <a:chOff x="0" y="0"/>
          <a:chExt cx="0" cy="0"/>
        </a:xfrm>
      </p:grpSpPr>
      <p:sp>
        <p:nvSpPr>
          <p:cNvPr id="5373" name="Google Shape;5373;p28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374" name="Google Shape;5374;p286"/>
          <p:cNvSpPr txBox="1"/>
          <p:nvPr>
            <p:ph idx="1" type="body"/>
          </p:nvPr>
        </p:nvSpPr>
        <p:spPr>
          <a:xfrm>
            <a:off x="311700" y="1225225"/>
            <a:ext cx="452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graphs are </a:t>
            </a:r>
            <a:r>
              <a:rPr b="1" lang="en"/>
              <a:t>easy</a:t>
            </a:r>
            <a:r>
              <a:rPr lang="en"/>
              <a:t> to disconnect</a:t>
            </a:r>
            <a:endParaRPr/>
          </a:p>
          <a:p>
            <a:pPr indent="-317500" lvl="1" marL="914400" marR="0" rtl="0" algn="l">
              <a:lnSpc>
                <a:spcPct val="115000"/>
              </a:lnSpc>
              <a:spcBef>
                <a:spcPts val="0"/>
              </a:spcBef>
              <a:spcAft>
                <a:spcPts val="0"/>
              </a:spcAft>
              <a:buSzPts val="1400"/>
              <a:buChar char="○"/>
            </a:pPr>
            <a:r>
              <a:rPr lang="en"/>
              <a:t>Only require the removal of a </a:t>
            </a:r>
            <a:r>
              <a:rPr b="1" lang="en"/>
              <a:t>few</a:t>
            </a:r>
            <a:r>
              <a:rPr lang="en"/>
              <a:t> links or nodes</a:t>
            </a:r>
            <a:endParaRPr/>
          </a:p>
          <a:p>
            <a:pPr indent="-342900" lvl="0" marL="457200" marR="0" rtl="0" algn="l">
              <a:lnSpc>
                <a:spcPct val="115000"/>
              </a:lnSpc>
              <a:spcBef>
                <a:spcPts val="0"/>
              </a:spcBef>
              <a:spcAft>
                <a:spcPts val="0"/>
              </a:spcAft>
              <a:buSzPts val="1800"/>
              <a:buChar char="●"/>
            </a:pPr>
            <a:r>
              <a:rPr lang="en"/>
              <a:t>Others are </a:t>
            </a:r>
            <a:r>
              <a:rPr b="1" lang="en"/>
              <a:t>hard</a:t>
            </a:r>
            <a:r>
              <a:rPr lang="en"/>
              <a:t> to disconnect</a:t>
            </a:r>
            <a:endParaRPr/>
          </a:p>
          <a:p>
            <a:pPr indent="-317500" lvl="1" marL="914400" marR="0" rtl="0" algn="l">
              <a:lnSpc>
                <a:spcPct val="115000"/>
              </a:lnSpc>
              <a:spcBef>
                <a:spcPts val="0"/>
              </a:spcBef>
              <a:spcAft>
                <a:spcPts val="0"/>
              </a:spcAft>
              <a:buSzPts val="1400"/>
              <a:buChar char="○"/>
            </a:pPr>
            <a:r>
              <a:rPr lang="en"/>
              <a:t>Requires the removal of a </a:t>
            </a:r>
            <a:r>
              <a:rPr b="1" lang="en"/>
              <a:t>lot</a:t>
            </a:r>
            <a:r>
              <a:rPr lang="en"/>
              <a:t> of links or nodes</a:t>
            </a:r>
            <a:endParaRPr/>
          </a:p>
          <a:p>
            <a:pPr indent="-342900" lvl="0" marL="457200" rtl="0" algn="l">
              <a:spcBef>
                <a:spcPts val="0"/>
              </a:spcBef>
              <a:spcAft>
                <a:spcPts val="0"/>
              </a:spcAft>
              <a:buSzPts val="1800"/>
              <a:buChar char="●"/>
            </a:pPr>
            <a:r>
              <a:rPr lang="en"/>
              <a:t>The </a:t>
            </a:r>
            <a:r>
              <a:rPr b="1" lang="en"/>
              <a:t>node-cutset </a:t>
            </a:r>
            <a:r>
              <a:rPr lang="en"/>
              <a:t>is the </a:t>
            </a:r>
            <a:r>
              <a:rPr b="1" lang="en"/>
              <a:t>minimum</a:t>
            </a:r>
            <a:r>
              <a:rPr lang="en"/>
              <a:t> number of </a:t>
            </a:r>
            <a:r>
              <a:rPr b="1" lang="en"/>
              <a:t>nodes</a:t>
            </a:r>
            <a:r>
              <a:rPr lang="en"/>
              <a:t> required to </a:t>
            </a:r>
            <a:r>
              <a:rPr b="1" lang="en"/>
              <a:t>disconnect</a:t>
            </a:r>
            <a:r>
              <a:rPr lang="en"/>
              <a:t> a graph</a:t>
            </a:r>
            <a:endParaRPr/>
          </a:p>
          <a:p>
            <a:pPr indent="-317500" lvl="1" marL="914400" marR="0" rtl="0" algn="l">
              <a:lnSpc>
                <a:spcPct val="115000"/>
              </a:lnSpc>
              <a:spcBef>
                <a:spcPts val="0"/>
              </a:spcBef>
              <a:spcAft>
                <a:spcPts val="0"/>
              </a:spcAft>
              <a:buClr>
                <a:srgbClr val="FF0000"/>
              </a:buClr>
              <a:buSzPts val="1400"/>
              <a:buChar char="○"/>
            </a:pPr>
            <a:r>
              <a:rPr b="1" lang="en">
                <a:solidFill>
                  <a:srgbClr val="FF0000"/>
                </a:solidFill>
              </a:rPr>
              <a:t>What’s the </a:t>
            </a:r>
            <a:r>
              <a:rPr b="1" lang="en">
                <a:solidFill>
                  <a:srgbClr val="0000FF"/>
                </a:solidFill>
              </a:rPr>
              <a:t>node-cutset</a:t>
            </a:r>
            <a:r>
              <a:rPr b="1" lang="en">
                <a:solidFill>
                  <a:srgbClr val="FF0000"/>
                </a:solidFill>
              </a:rPr>
              <a:t> of the graph on the right?</a:t>
            </a:r>
            <a:endParaRPr b="1">
              <a:solidFill>
                <a:srgbClr val="FF0000"/>
              </a:solidFill>
            </a:endParaRPr>
          </a:p>
          <a:p>
            <a:pPr indent="0" lvl="0" marL="0" rtl="0" algn="l">
              <a:spcBef>
                <a:spcPts val="1600"/>
              </a:spcBef>
              <a:spcAft>
                <a:spcPts val="0"/>
              </a:spcAft>
              <a:buNone/>
            </a:pPr>
            <a:r>
              <a:t/>
            </a:r>
            <a:endParaRPr/>
          </a:p>
        </p:txBody>
      </p:sp>
      <p:grpSp>
        <p:nvGrpSpPr>
          <p:cNvPr id="5375" name="Google Shape;5375;p286"/>
          <p:cNvGrpSpPr/>
          <p:nvPr/>
        </p:nvGrpSpPr>
        <p:grpSpPr>
          <a:xfrm>
            <a:off x="5370463" y="653813"/>
            <a:ext cx="3384048" cy="4016267"/>
            <a:chOff x="5370463" y="653813"/>
            <a:chExt cx="3384048" cy="4016267"/>
          </a:xfrm>
        </p:grpSpPr>
        <p:sp>
          <p:nvSpPr>
            <p:cNvPr id="5376" name="Google Shape;5376;p286"/>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286"/>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286"/>
            <p:cNvSpPr/>
            <p:nvPr/>
          </p:nvSpPr>
          <p:spPr>
            <a:xfrm>
              <a:off x="6370588" y="2529613"/>
              <a:ext cx="171300" cy="171300"/>
            </a:xfrm>
            <a:prstGeom prst="ellipse">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286"/>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80" name="Google Shape;5380;p286"/>
            <p:cNvCxnSpPr>
              <a:stCxn id="5376" idx="3"/>
              <a:endCxn id="5377"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381" name="Google Shape;5381;p286"/>
            <p:cNvCxnSpPr>
              <a:stCxn id="5379" idx="1"/>
              <a:endCxn id="5377"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382" name="Google Shape;5382;p286"/>
            <p:cNvCxnSpPr>
              <a:stCxn id="5376" idx="4"/>
              <a:endCxn id="5379"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383" name="Google Shape;5383;p286"/>
            <p:cNvCxnSpPr>
              <a:stCxn id="5376" idx="5"/>
              <a:endCxn id="5378"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384" name="Google Shape;5384;p286"/>
            <p:cNvCxnSpPr>
              <a:stCxn id="5378" idx="2"/>
              <a:endCxn id="5377"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385" name="Google Shape;5385;p286"/>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286"/>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286"/>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286"/>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89" name="Google Shape;5389;p286"/>
            <p:cNvCxnSpPr>
              <a:stCxn id="5385" idx="3"/>
              <a:endCxn id="5386"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390" name="Google Shape;5390;p286"/>
            <p:cNvCxnSpPr>
              <a:stCxn id="5388" idx="0"/>
              <a:endCxn id="5386"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391" name="Google Shape;5391;p286"/>
            <p:cNvCxnSpPr>
              <a:stCxn id="5385" idx="5"/>
              <a:endCxn id="5387"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392" name="Google Shape;5392;p286"/>
            <p:cNvCxnSpPr>
              <a:stCxn id="5387" idx="2"/>
              <a:endCxn id="5386"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393" name="Google Shape;5393;p286"/>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94" name="Google Shape;5394;p286"/>
            <p:cNvCxnSpPr>
              <a:stCxn id="5393" idx="0"/>
              <a:endCxn id="5386"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395" name="Google Shape;5395;p286"/>
            <p:cNvCxnSpPr>
              <a:stCxn id="5387" idx="3"/>
              <a:endCxn id="5388"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396" name="Google Shape;5396;p286"/>
            <p:cNvCxnSpPr>
              <a:stCxn id="5387" idx="3"/>
              <a:endCxn id="5393"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397" name="Google Shape;5397;p286"/>
            <p:cNvCxnSpPr>
              <a:stCxn id="5385" idx="4"/>
              <a:endCxn id="5393"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398" name="Google Shape;5398;p286"/>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286"/>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286"/>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286"/>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02" name="Google Shape;5402;p286"/>
            <p:cNvCxnSpPr>
              <a:stCxn id="5398" idx="3"/>
              <a:endCxn id="5399"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403" name="Google Shape;5403;p286"/>
            <p:cNvCxnSpPr>
              <a:stCxn id="5401" idx="0"/>
              <a:endCxn id="5399"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404" name="Google Shape;5404;p286"/>
            <p:cNvCxnSpPr>
              <a:stCxn id="5398" idx="5"/>
              <a:endCxn id="5400"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405" name="Google Shape;5405;p286"/>
            <p:cNvCxnSpPr>
              <a:stCxn id="5400" idx="2"/>
              <a:endCxn id="5399"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406" name="Google Shape;5406;p286"/>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07" name="Google Shape;5407;p286"/>
            <p:cNvCxnSpPr>
              <a:stCxn id="5400" idx="3"/>
              <a:endCxn id="5401"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408" name="Google Shape;5408;p286"/>
            <p:cNvCxnSpPr>
              <a:stCxn id="5406" idx="2"/>
              <a:endCxn id="5399"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409" name="Google Shape;5409;p286"/>
            <p:cNvCxnSpPr>
              <a:stCxn id="5406" idx="0"/>
              <a:endCxn id="5398"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410" name="Google Shape;5410;p286"/>
            <p:cNvCxnSpPr>
              <a:stCxn id="5401" idx="6"/>
              <a:endCxn id="5406"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5411" name="Google Shape;5411;p286"/>
            <p:cNvCxnSpPr>
              <a:stCxn id="5378" idx="5"/>
              <a:endCxn id="5399"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412" name="Google Shape;5412;p286"/>
            <p:cNvCxnSpPr>
              <a:stCxn id="5378" idx="7"/>
              <a:endCxn id="5388"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413" name="Google Shape;5413;p286"/>
            <p:cNvCxnSpPr>
              <a:stCxn id="5393" idx="3"/>
              <a:endCxn id="5398"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414" name="Google Shape;5414;p286"/>
            <p:cNvCxnSpPr>
              <a:stCxn id="5387" idx="4"/>
              <a:endCxn id="5400"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
        <p:nvSpPr>
          <p:cNvPr id="5415" name="Google Shape;5415;p286"/>
          <p:cNvSpPr txBox="1"/>
          <p:nvPr/>
        </p:nvSpPr>
        <p:spPr>
          <a:xfrm>
            <a:off x="4879450" y="4108775"/>
            <a:ext cx="1704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FF"/>
                </a:solidFill>
              </a:rPr>
              <a:t>|node</a:t>
            </a:r>
            <a:r>
              <a:rPr b="1" lang="en">
                <a:solidFill>
                  <a:srgbClr val="0000FF"/>
                </a:solidFill>
              </a:rPr>
              <a:t>-cutset| = 1</a:t>
            </a:r>
            <a:endParaRPr b="1">
              <a:solidFill>
                <a:srgbClr val="0000FF"/>
              </a:solidFill>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9" name="Shape 5419"/>
        <p:cNvGrpSpPr/>
        <p:nvPr/>
      </p:nvGrpSpPr>
      <p:grpSpPr>
        <a:xfrm>
          <a:off x="0" y="0"/>
          <a:ext cx="0" cy="0"/>
          <a:chOff x="0" y="0"/>
          <a:chExt cx="0" cy="0"/>
        </a:xfrm>
      </p:grpSpPr>
      <p:sp>
        <p:nvSpPr>
          <p:cNvPr id="5420" name="Google Shape;5420;p28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421" name="Google Shape;5421;p287"/>
          <p:cNvSpPr txBox="1"/>
          <p:nvPr>
            <p:ph idx="1" type="body"/>
          </p:nvPr>
        </p:nvSpPr>
        <p:spPr>
          <a:xfrm>
            <a:off x="311700" y="1225225"/>
            <a:ext cx="452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Some graphs are </a:t>
            </a:r>
            <a:r>
              <a:rPr b="1" lang="en"/>
              <a:t>easy</a:t>
            </a:r>
            <a:r>
              <a:rPr lang="en"/>
              <a:t> to disconnect</a:t>
            </a:r>
            <a:endParaRPr/>
          </a:p>
          <a:p>
            <a:pPr indent="-317500" lvl="1" marL="914400" marR="0" rtl="0" algn="l">
              <a:lnSpc>
                <a:spcPct val="115000"/>
              </a:lnSpc>
              <a:spcBef>
                <a:spcPts val="0"/>
              </a:spcBef>
              <a:spcAft>
                <a:spcPts val="0"/>
              </a:spcAft>
              <a:buSzPts val="1400"/>
              <a:buChar char="○"/>
            </a:pPr>
            <a:r>
              <a:rPr lang="en"/>
              <a:t>Only require the removal of a </a:t>
            </a:r>
            <a:r>
              <a:rPr b="1" lang="en"/>
              <a:t>few</a:t>
            </a:r>
            <a:r>
              <a:rPr lang="en"/>
              <a:t> links or nodes</a:t>
            </a:r>
            <a:endParaRPr/>
          </a:p>
          <a:p>
            <a:pPr indent="-342900" lvl="0" marL="457200" marR="0" rtl="0" algn="l">
              <a:lnSpc>
                <a:spcPct val="115000"/>
              </a:lnSpc>
              <a:spcBef>
                <a:spcPts val="0"/>
              </a:spcBef>
              <a:spcAft>
                <a:spcPts val="0"/>
              </a:spcAft>
              <a:buSzPts val="1800"/>
              <a:buChar char="●"/>
            </a:pPr>
            <a:r>
              <a:rPr lang="en"/>
              <a:t>Others are </a:t>
            </a:r>
            <a:r>
              <a:rPr b="1" lang="en"/>
              <a:t>hard</a:t>
            </a:r>
            <a:r>
              <a:rPr lang="en"/>
              <a:t> to disconnect</a:t>
            </a:r>
            <a:endParaRPr/>
          </a:p>
          <a:p>
            <a:pPr indent="-317500" lvl="1" marL="914400" marR="0" rtl="0" algn="l">
              <a:lnSpc>
                <a:spcPct val="115000"/>
              </a:lnSpc>
              <a:spcBef>
                <a:spcPts val="0"/>
              </a:spcBef>
              <a:spcAft>
                <a:spcPts val="0"/>
              </a:spcAft>
              <a:buSzPts val="1400"/>
              <a:buChar char="○"/>
            </a:pPr>
            <a:r>
              <a:rPr lang="en"/>
              <a:t>Requires the removal of a </a:t>
            </a:r>
            <a:r>
              <a:rPr b="1" lang="en"/>
              <a:t>lot</a:t>
            </a:r>
            <a:r>
              <a:rPr lang="en"/>
              <a:t> of links or nodes</a:t>
            </a:r>
            <a:endParaRPr/>
          </a:p>
          <a:p>
            <a:pPr indent="-342900" lvl="0" marL="457200" rtl="0" algn="l">
              <a:spcBef>
                <a:spcPts val="0"/>
              </a:spcBef>
              <a:spcAft>
                <a:spcPts val="0"/>
              </a:spcAft>
              <a:buSzPts val="1800"/>
              <a:buChar char="●"/>
            </a:pPr>
            <a:r>
              <a:rPr lang="en"/>
              <a:t>The </a:t>
            </a:r>
            <a:r>
              <a:rPr b="1" lang="en"/>
              <a:t>node-cutset </a:t>
            </a:r>
            <a:r>
              <a:rPr lang="en"/>
              <a:t>is the </a:t>
            </a:r>
            <a:r>
              <a:rPr b="1" lang="en"/>
              <a:t>minimum</a:t>
            </a:r>
            <a:r>
              <a:rPr lang="en"/>
              <a:t> number of </a:t>
            </a:r>
            <a:r>
              <a:rPr b="1" lang="en"/>
              <a:t>nodes</a:t>
            </a:r>
            <a:r>
              <a:rPr lang="en"/>
              <a:t> required to </a:t>
            </a:r>
            <a:r>
              <a:rPr b="1" lang="en"/>
              <a:t>disconnect</a:t>
            </a:r>
            <a:r>
              <a:rPr lang="en"/>
              <a:t> a graph</a:t>
            </a:r>
            <a:endParaRPr/>
          </a:p>
          <a:p>
            <a:pPr indent="-317500" lvl="1" marL="914400" marR="0" rtl="0" algn="l">
              <a:lnSpc>
                <a:spcPct val="115000"/>
              </a:lnSpc>
              <a:spcBef>
                <a:spcPts val="0"/>
              </a:spcBef>
              <a:spcAft>
                <a:spcPts val="0"/>
              </a:spcAft>
              <a:buClr>
                <a:srgbClr val="FF0000"/>
              </a:buClr>
              <a:buSzPts val="1400"/>
              <a:buChar char="○"/>
            </a:pPr>
            <a:r>
              <a:rPr b="1" lang="en">
                <a:solidFill>
                  <a:srgbClr val="FF0000"/>
                </a:solidFill>
              </a:rPr>
              <a:t>What’s the </a:t>
            </a:r>
            <a:r>
              <a:rPr b="1" lang="en">
                <a:solidFill>
                  <a:srgbClr val="0000FF"/>
                </a:solidFill>
              </a:rPr>
              <a:t>node-cutset</a:t>
            </a:r>
            <a:r>
              <a:rPr b="1" lang="en">
                <a:solidFill>
                  <a:srgbClr val="FF0000"/>
                </a:solidFill>
              </a:rPr>
              <a:t> of the graph on the right?</a:t>
            </a:r>
            <a:endParaRPr b="1">
              <a:solidFill>
                <a:srgbClr val="FF0000"/>
              </a:solidFill>
            </a:endParaRPr>
          </a:p>
          <a:p>
            <a:pPr indent="0" lvl="0" marL="0" rtl="0" algn="l">
              <a:spcBef>
                <a:spcPts val="1600"/>
              </a:spcBef>
              <a:spcAft>
                <a:spcPts val="0"/>
              </a:spcAft>
              <a:buNone/>
            </a:pPr>
            <a:r>
              <a:t/>
            </a:r>
            <a:endParaRPr/>
          </a:p>
        </p:txBody>
      </p:sp>
      <p:grpSp>
        <p:nvGrpSpPr>
          <p:cNvPr id="5422" name="Google Shape;5422;p287"/>
          <p:cNvGrpSpPr/>
          <p:nvPr/>
        </p:nvGrpSpPr>
        <p:grpSpPr>
          <a:xfrm>
            <a:off x="5370463" y="653813"/>
            <a:ext cx="3384048" cy="4016267"/>
            <a:chOff x="5370463" y="653813"/>
            <a:chExt cx="3384048" cy="4016267"/>
          </a:xfrm>
        </p:grpSpPr>
        <p:sp>
          <p:nvSpPr>
            <p:cNvPr id="5423" name="Google Shape;5423;p287"/>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287"/>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287"/>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26" name="Google Shape;5426;p287"/>
            <p:cNvCxnSpPr>
              <a:stCxn id="5423" idx="3"/>
              <a:endCxn id="5424"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427" name="Google Shape;5427;p287"/>
            <p:cNvCxnSpPr>
              <a:stCxn id="5425" idx="1"/>
              <a:endCxn id="5424"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428" name="Google Shape;5428;p287"/>
            <p:cNvCxnSpPr>
              <a:stCxn id="5423" idx="4"/>
              <a:endCxn id="5425"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sp>
          <p:nvSpPr>
            <p:cNvPr id="5429" name="Google Shape;5429;p287"/>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287"/>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287"/>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287"/>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33" name="Google Shape;5433;p287"/>
            <p:cNvCxnSpPr>
              <a:stCxn id="5429" idx="3"/>
              <a:endCxn id="5430"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434" name="Google Shape;5434;p287"/>
            <p:cNvCxnSpPr>
              <a:stCxn id="5432" idx="0"/>
              <a:endCxn id="5430"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435" name="Google Shape;5435;p287"/>
            <p:cNvCxnSpPr>
              <a:stCxn id="5429" idx="5"/>
              <a:endCxn id="5431"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436" name="Google Shape;5436;p287"/>
            <p:cNvCxnSpPr>
              <a:stCxn id="5431" idx="2"/>
              <a:endCxn id="5430"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437" name="Google Shape;5437;p287"/>
            <p:cNvSpPr/>
            <p:nvPr/>
          </p:nvSpPr>
          <p:spPr>
            <a:xfrm>
              <a:off x="7820950" y="1806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38" name="Google Shape;5438;p287"/>
            <p:cNvCxnSpPr>
              <a:stCxn id="5437" idx="0"/>
              <a:endCxn id="5430"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439" name="Google Shape;5439;p287"/>
            <p:cNvCxnSpPr>
              <a:stCxn id="5431" idx="3"/>
              <a:endCxn id="5432"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440" name="Google Shape;5440;p287"/>
            <p:cNvCxnSpPr>
              <a:stCxn id="5431" idx="3"/>
              <a:endCxn id="5437"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441" name="Google Shape;5441;p287"/>
            <p:cNvCxnSpPr>
              <a:stCxn id="5429" idx="4"/>
              <a:endCxn id="5437"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442" name="Google Shape;5442;p287"/>
            <p:cNvSpPr/>
            <p:nvPr/>
          </p:nvSpPr>
          <p:spPr>
            <a:xfrm rot="-1281263">
              <a:off x="7726111" y="31270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287"/>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287"/>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287"/>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46" name="Google Shape;5446;p287"/>
            <p:cNvCxnSpPr>
              <a:stCxn id="5442" idx="3"/>
              <a:endCxn id="5443"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447" name="Google Shape;5447;p287"/>
            <p:cNvCxnSpPr>
              <a:stCxn id="5445" idx="0"/>
              <a:endCxn id="5443" idx="4"/>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448" name="Google Shape;5448;p287"/>
            <p:cNvCxnSpPr>
              <a:stCxn id="5442" idx="5"/>
              <a:endCxn id="5444"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449" name="Google Shape;5449;p287"/>
            <p:cNvCxnSpPr>
              <a:stCxn id="5444" idx="2"/>
              <a:endCxn id="5443"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450" name="Google Shape;5450;p287"/>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51" name="Google Shape;5451;p287"/>
            <p:cNvCxnSpPr>
              <a:stCxn id="5444" idx="3"/>
              <a:endCxn id="5445" idx="6"/>
            </p:cNvCxnSpPr>
            <p:nvPr/>
          </p:nvCxnSpPr>
          <p:spPr>
            <a:xfrm flipH="1">
              <a:off x="7891545" y="3603908"/>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452" name="Google Shape;5452;p287"/>
            <p:cNvCxnSpPr>
              <a:stCxn id="5450" idx="2"/>
              <a:endCxn id="5443"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453" name="Google Shape;5453;p287"/>
            <p:cNvCxnSpPr>
              <a:stCxn id="5450" idx="0"/>
              <a:endCxn id="5442"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454" name="Google Shape;5454;p287"/>
            <p:cNvCxnSpPr>
              <a:stCxn id="5445" idx="6"/>
              <a:endCxn id="5450" idx="2"/>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cxnSp>
          <p:nvCxnSpPr>
            <p:cNvPr id="5455" name="Google Shape;5455;p287"/>
            <p:cNvCxnSpPr>
              <a:stCxn id="5437" idx="3"/>
              <a:endCxn id="5442"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456" name="Google Shape;5456;p287"/>
            <p:cNvCxnSpPr>
              <a:stCxn id="5431" idx="4"/>
              <a:endCxn id="5444"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grpSp>
      <p:sp>
        <p:nvSpPr>
          <p:cNvPr id="5457" name="Google Shape;5457;p287"/>
          <p:cNvSpPr txBox="1"/>
          <p:nvPr/>
        </p:nvSpPr>
        <p:spPr>
          <a:xfrm>
            <a:off x="4879450" y="4108775"/>
            <a:ext cx="1704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FF"/>
                </a:solidFill>
              </a:rPr>
              <a:t>|node-cutset| = 1</a:t>
            </a:r>
            <a:endParaRPr b="1">
              <a:solidFill>
                <a:srgbClr val="0000FF"/>
              </a:solidFill>
            </a:endParaRPr>
          </a:p>
        </p:txBody>
      </p:sp>
      <p:sp>
        <p:nvSpPr>
          <p:cNvPr id="5458" name="Google Shape;5458;p287"/>
          <p:cNvSpPr txBox="1"/>
          <p:nvPr/>
        </p:nvSpPr>
        <p:spPr>
          <a:xfrm>
            <a:off x="4879450" y="1004700"/>
            <a:ext cx="1704900" cy="5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FF"/>
                </a:solidFill>
              </a:rPr>
              <a:t>Disconnected!</a:t>
            </a:r>
            <a:endParaRPr b="1">
              <a:solidFill>
                <a:srgbClr val="0000FF"/>
              </a:solidFill>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2" name="Shape 5462"/>
        <p:cNvGrpSpPr/>
        <p:nvPr/>
      </p:nvGrpSpPr>
      <p:grpSpPr>
        <a:xfrm>
          <a:off x="0" y="0"/>
          <a:ext cx="0" cy="0"/>
          <a:chOff x="0" y="0"/>
          <a:chExt cx="0" cy="0"/>
        </a:xfrm>
      </p:grpSpPr>
      <p:sp>
        <p:nvSpPr>
          <p:cNvPr id="5463" name="Google Shape;5463;p28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 (for node pairs)</a:t>
            </a:r>
            <a:endParaRPr/>
          </a:p>
        </p:txBody>
      </p:sp>
      <p:sp>
        <p:nvSpPr>
          <p:cNvPr id="5464" name="Google Shape;5464;p288"/>
          <p:cNvSpPr txBox="1"/>
          <p:nvPr>
            <p:ph idx="1" type="body"/>
          </p:nvPr>
        </p:nvSpPr>
        <p:spPr>
          <a:xfrm>
            <a:off x="311700" y="1225225"/>
            <a:ext cx="43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any pair of non-adjacent nodes, u and v:</a:t>
            </a:r>
            <a:endParaRPr/>
          </a:p>
          <a:p>
            <a:pPr indent="-342900" lvl="1" marL="914400" marR="0" rtl="0" algn="l">
              <a:lnSpc>
                <a:spcPct val="115000"/>
              </a:lnSpc>
              <a:spcBef>
                <a:spcPts val="0"/>
              </a:spcBef>
              <a:spcAft>
                <a:spcPts val="0"/>
              </a:spcAft>
              <a:buClr>
                <a:schemeClr val="dk1"/>
              </a:buClr>
              <a:buSzPts val="1800"/>
              <a:buFont typeface="Open Sans"/>
              <a:buChar char="○"/>
            </a:pPr>
            <a:r>
              <a:rPr lang="en"/>
              <a:t>The UV node cutset is the number of nodes that would have to be removed for them to be disconnected</a:t>
            </a:r>
            <a:endParaRPr/>
          </a:p>
          <a:p>
            <a:pPr indent="0" lvl="0" marL="457200" marR="0" rtl="0" algn="l">
              <a:lnSpc>
                <a:spcPct val="115000"/>
              </a:lnSpc>
              <a:spcBef>
                <a:spcPts val="1600"/>
              </a:spcBef>
              <a:spcAft>
                <a:spcPts val="0"/>
              </a:spcAft>
              <a:buNone/>
            </a:pPr>
            <a:r>
              <a:t/>
            </a:r>
            <a:endParaRPr b="1">
              <a:solidFill>
                <a:srgbClr val="FF0000"/>
              </a:solidFill>
            </a:endParaRPr>
          </a:p>
          <a:p>
            <a:pPr indent="0" lvl="0" marL="0" rtl="0" algn="l">
              <a:spcBef>
                <a:spcPts val="1600"/>
              </a:spcBef>
              <a:spcAft>
                <a:spcPts val="0"/>
              </a:spcAft>
              <a:buNone/>
            </a:pPr>
            <a:r>
              <a:t/>
            </a:r>
            <a:endParaRPr/>
          </a:p>
        </p:txBody>
      </p:sp>
      <p:sp>
        <p:nvSpPr>
          <p:cNvPr id="5465" name="Google Shape;5465;p288"/>
          <p:cNvSpPr/>
          <p:nvPr/>
        </p:nvSpPr>
        <p:spPr>
          <a:xfrm>
            <a:off x="5554499" y="1279288"/>
            <a:ext cx="408600" cy="3900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U</a:t>
            </a:r>
            <a:endParaRPr b="1">
              <a:solidFill>
                <a:srgbClr val="FFFFFF"/>
              </a:solidFill>
            </a:endParaRPr>
          </a:p>
        </p:txBody>
      </p:sp>
      <p:sp>
        <p:nvSpPr>
          <p:cNvPr id="5466" name="Google Shape;5466;p288"/>
          <p:cNvSpPr/>
          <p:nvPr/>
        </p:nvSpPr>
        <p:spPr>
          <a:xfrm>
            <a:off x="8311952" y="1283823"/>
            <a:ext cx="408600" cy="3900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V</a:t>
            </a:r>
            <a:endParaRPr b="1">
              <a:solidFill>
                <a:srgbClr val="FFFFFF"/>
              </a:solidFill>
            </a:endParaRPr>
          </a:p>
        </p:txBody>
      </p:sp>
      <p:sp>
        <p:nvSpPr>
          <p:cNvPr id="5467" name="Google Shape;5467;p288"/>
          <p:cNvSpPr/>
          <p:nvPr/>
        </p:nvSpPr>
        <p:spPr>
          <a:xfrm>
            <a:off x="6885322" y="1279288"/>
            <a:ext cx="408600" cy="390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68" name="Google Shape;5468;p288"/>
          <p:cNvCxnSpPr>
            <a:stCxn id="5465" idx="6"/>
            <a:endCxn id="5467" idx="2"/>
          </p:cNvCxnSpPr>
          <p:nvPr/>
        </p:nvCxnSpPr>
        <p:spPr>
          <a:xfrm>
            <a:off x="5963099" y="1474288"/>
            <a:ext cx="922200" cy="0"/>
          </a:xfrm>
          <a:prstGeom prst="straightConnector1">
            <a:avLst/>
          </a:prstGeom>
          <a:noFill/>
          <a:ln cap="flat" cmpd="sng" w="19050">
            <a:solidFill>
              <a:srgbClr val="666666"/>
            </a:solidFill>
            <a:prstDash val="solid"/>
            <a:round/>
            <a:headEnd len="med" w="med" type="none"/>
            <a:tailEnd len="med" w="med" type="none"/>
          </a:ln>
        </p:spPr>
      </p:cxnSp>
      <p:cxnSp>
        <p:nvCxnSpPr>
          <p:cNvPr id="5469" name="Google Shape;5469;p288"/>
          <p:cNvCxnSpPr>
            <a:stCxn id="5467" idx="6"/>
            <a:endCxn id="5466" idx="2"/>
          </p:cNvCxnSpPr>
          <p:nvPr/>
        </p:nvCxnSpPr>
        <p:spPr>
          <a:xfrm>
            <a:off x="7293922" y="1474288"/>
            <a:ext cx="1017900" cy="4500"/>
          </a:xfrm>
          <a:prstGeom prst="straightConnector1">
            <a:avLst/>
          </a:prstGeom>
          <a:noFill/>
          <a:ln cap="flat" cmpd="sng" w="19050">
            <a:solidFill>
              <a:srgbClr val="666666"/>
            </a:solidFill>
            <a:prstDash val="solid"/>
            <a:round/>
            <a:headEnd len="med" w="med" type="none"/>
            <a:tailEnd len="med" w="med" type="none"/>
          </a:ln>
        </p:spPr>
      </p:cxnSp>
      <p:sp>
        <p:nvSpPr>
          <p:cNvPr id="5470" name="Google Shape;5470;p288"/>
          <p:cNvSpPr/>
          <p:nvPr/>
        </p:nvSpPr>
        <p:spPr>
          <a:xfrm>
            <a:off x="5554474" y="2366757"/>
            <a:ext cx="408600" cy="3900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U</a:t>
            </a:r>
            <a:endParaRPr b="1">
              <a:solidFill>
                <a:srgbClr val="FFFFFF"/>
              </a:solidFill>
            </a:endParaRPr>
          </a:p>
        </p:txBody>
      </p:sp>
      <p:sp>
        <p:nvSpPr>
          <p:cNvPr id="5471" name="Google Shape;5471;p288"/>
          <p:cNvSpPr/>
          <p:nvPr/>
        </p:nvSpPr>
        <p:spPr>
          <a:xfrm>
            <a:off x="8311927" y="2366757"/>
            <a:ext cx="408600" cy="3900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V</a:t>
            </a:r>
            <a:endParaRPr b="1">
              <a:solidFill>
                <a:srgbClr val="FFFFFF"/>
              </a:solidFill>
            </a:endParaRPr>
          </a:p>
        </p:txBody>
      </p:sp>
      <p:sp>
        <p:nvSpPr>
          <p:cNvPr id="5472" name="Google Shape;5472;p288"/>
          <p:cNvSpPr/>
          <p:nvPr/>
        </p:nvSpPr>
        <p:spPr>
          <a:xfrm>
            <a:off x="6933200" y="2671878"/>
            <a:ext cx="408600" cy="390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73" name="Google Shape;5473;p288"/>
          <p:cNvCxnSpPr>
            <a:stCxn id="5470" idx="6"/>
            <a:endCxn id="5472" idx="2"/>
          </p:cNvCxnSpPr>
          <p:nvPr/>
        </p:nvCxnSpPr>
        <p:spPr>
          <a:xfrm>
            <a:off x="5963074" y="2561757"/>
            <a:ext cx="970200" cy="305100"/>
          </a:xfrm>
          <a:prstGeom prst="straightConnector1">
            <a:avLst/>
          </a:prstGeom>
          <a:noFill/>
          <a:ln cap="flat" cmpd="sng" w="19050">
            <a:solidFill>
              <a:srgbClr val="666666"/>
            </a:solidFill>
            <a:prstDash val="solid"/>
            <a:round/>
            <a:headEnd len="med" w="med" type="none"/>
            <a:tailEnd len="med" w="med" type="none"/>
          </a:ln>
        </p:spPr>
      </p:cxnSp>
      <p:cxnSp>
        <p:nvCxnSpPr>
          <p:cNvPr id="5474" name="Google Shape;5474;p288"/>
          <p:cNvCxnSpPr>
            <a:stCxn id="5472" idx="6"/>
            <a:endCxn id="5471" idx="2"/>
          </p:cNvCxnSpPr>
          <p:nvPr/>
        </p:nvCxnSpPr>
        <p:spPr>
          <a:xfrm flipH="1" rot="10800000">
            <a:off x="7341800" y="2561778"/>
            <a:ext cx="970200" cy="305100"/>
          </a:xfrm>
          <a:prstGeom prst="straightConnector1">
            <a:avLst/>
          </a:prstGeom>
          <a:noFill/>
          <a:ln cap="flat" cmpd="sng" w="19050">
            <a:solidFill>
              <a:srgbClr val="666666"/>
            </a:solidFill>
            <a:prstDash val="solid"/>
            <a:round/>
            <a:headEnd len="med" w="med" type="none"/>
            <a:tailEnd len="med" w="med" type="none"/>
          </a:ln>
        </p:spPr>
      </p:cxnSp>
      <p:sp>
        <p:nvSpPr>
          <p:cNvPr id="5475" name="Google Shape;5475;p288"/>
          <p:cNvSpPr/>
          <p:nvPr/>
        </p:nvSpPr>
        <p:spPr>
          <a:xfrm>
            <a:off x="6933189" y="2074227"/>
            <a:ext cx="408600" cy="390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76" name="Google Shape;5476;p288"/>
          <p:cNvCxnSpPr>
            <a:stCxn id="5470" idx="6"/>
            <a:endCxn id="5475" idx="2"/>
          </p:cNvCxnSpPr>
          <p:nvPr/>
        </p:nvCxnSpPr>
        <p:spPr>
          <a:xfrm flipH="1" rot="10800000">
            <a:off x="5963074" y="2269257"/>
            <a:ext cx="970200" cy="292500"/>
          </a:xfrm>
          <a:prstGeom prst="straightConnector1">
            <a:avLst/>
          </a:prstGeom>
          <a:noFill/>
          <a:ln cap="flat" cmpd="sng" w="19050">
            <a:solidFill>
              <a:srgbClr val="666666"/>
            </a:solidFill>
            <a:prstDash val="solid"/>
            <a:round/>
            <a:headEnd len="med" w="med" type="none"/>
            <a:tailEnd len="med" w="med" type="none"/>
          </a:ln>
        </p:spPr>
      </p:cxnSp>
      <p:cxnSp>
        <p:nvCxnSpPr>
          <p:cNvPr id="5477" name="Google Shape;5477;p288"/>
          <p:cNvCxnSpPr>
            <a:stCxn id="5475" idx="6"/>
            <a:endCxn id="5471" idx="2"/>
          </p:cNvCxnSpPr>
          <p:nvPr/>
        </p:nvCxnSpPr>
        <p:spPr>
          <a:xfrm>
            <a:off x="7341789" y="2269227"/>
            <a:ext cx="970200" cy="292500"/>
          </a:xfrm>
          <a:prstGeom prst="straightConnector1">
            <a:avLst/>
          </a:prstGeom>
          <a:noFill/>
          <a:ln cap="flat" cmpd="sng" w="19050">
            <a:solidFill>
              <a:srgbClr val="666666"/>
            </a:solidFill>
            <a:prstDash val="solid"/>
            <a:round/>
            <a:headEnd len="med" w="med" type="none"/>
            <a:tailEnd len="med" w="med" type="none"/>
          </a:ln>
        </p:spPr>
      </p:cxnSp>
      <p:sp>
        <p:nvSpPr>
          <p:cNvPr id="5478" name="Google Shape;5478;p288"/>
          <p:cNvSpPr/>
          <p:nvPr/>
        </p:nvSpPr>
        <p:spPr>
          <a:xfrm>
            <a:off x="5554498" y="3883559"/>
            <a:ext cx="408600" cy="3900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U</a:t>
            </a:r>
            <a:endParaRPr b="1">
              <a:solidFill>
                <a:srgbClr val="FFFFFF"/>
              </a:solidFill>
            </a:endParaRPr>
          </a:p>
        </p:txBody>
      </p:sp>
      <p:sp>
        <p:nvSpPr>
          <p:cNvPr id="5479" name="Google Shape;5479;p288"/>
          <p:cNvSpPr/>
          <p:nvPr/>
        </p:nvSpPr>
        <p:spPr>
          <a:xfrm>
            <a:off x="8311951" y="3883559"/>
            <a:ext cx="408600" cy="3900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rPr>
              <a:t>V</a:t>
            </a:r>
            <a:endParaRPr b="1">
              <a:solidFill>
                <a:srgbClr val="FFFFFF"/>
              </a:solidFill>
            </a:endParaRPr>
          </a:p>
        </p:txBody>
      </p:sp>
      <p:sp>
        <p:nvSpPr>
          <p:cNvPr id="5480" name="Google Shape;5480;p288"/>
          <p:cNvSpPr/>
          <p:nvPr/>
        </p:nvSpPr>
        <p:spPr>
          <a:xfrm>
            <a:off x="6933224" y="4347729"/>
            <a:ext cx="408600" cy="390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81" name="Google Shape;5481;p288"/>
          <p:cNvCxnSpPr>
            <a:stCxn id="5478" idx="6"/>
            <a:endCxn id="5480" idx="2"/>
          </p:cNvCxnSpPr>
          <p:nvPr/>
        </p:nvCxnSpPr>
        <p:spPr>
          <a:xfrm>
            <a:off x="5963098" y="4078559"/>
            <a:ext cx="970200" cy="464100"/>
          </a:xfrm>
          <a:prstGeom prst="straightConnector1">
            <a:avLst/>
          </a:prstGeom>
          <a:noFill/>
          <a:ln cap="flat" cmpd="sng" w="19050">
            <a:solidFill>
              <a:srgbClr val="666666"/>
            </a:solidFill>
            <a:prstDash val="solid"/>
            <a:round/>
            <a:headEnd len="med" w="med" type="none"/>
            <a:tailEnd len="med" w="med" type="none"/>
          </a:ln>
        </p:spPr>
      </p:cxnSp>
      <p:cxnSp>
        <p:nvCxnSpPr>
          <p:cNvPr id="5482" name="Google Shape;5482;p288"/>
          <p:cNvCxnSpPr>
            <a:stCxn id="5480" idx="6"/>
            <a:endCxn id="5479" idx="2"/>
          </p:cNvCxnSpPr>
          <p:nvPr/>
        </p:nvCxnSpPr>
        <p:spPr>
          <a:xfrm flipH="1" rot="10800000">
            <a:off x="7341824" y="4078629"/>
            <a:ext cx="970200" cy="464100"/>
          </a:xfrm>
          <a:prstGeom prst="straightConnector1">
            <a:avLst/>
          </a:prstGeom>
          <a:noFill/>
          <a:ln cap="flat" cmpd="sng" w="19050">
            <a:solidFill>
              <a:srgbClr val="666666"/>
            </a:solidFill>
            <a:prstDash val="solid"/>
            <a:round/>
            <a:headEnd len="med" w="med" type="none"/>
            <a:tailEnd len="med" w="med" type="none"/>
          </a:ln>
        </p:spPr>
      </p:cxnSp>
      <p:sp>
        <p:nvSpPr>
          <p:cNvPr id="5483" name="Google Shape;5483;p288"/>
          <p:cNvSpPr/>
          <p:nvPr/>
        </p:nvSpPr>
        <p:spPr>
          <a:xfrm>
            <a:off x="6933190" y="3400236"/>
            <a:ext cx="408600" cy="390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84" name="Google Shape;5484;p288"/>
          <p:cNvCxnSpPr>
            <a:stCxn id="5478" idx="6"/>
            <a:endCxn id="5483" idx="2"/>
          </p:cNvCxnSpPr>
          <p:nvPr/>
        </p:nvCxnSpPr>
        <p:spPr>
          <a:xfrm flipH="1" rot="10800000">
            <a:off x="5963098" y="3595259"/>
            <a:ext cx="970200" cy="483300"/>
          </a:xfrm>
          <a:prstGeom prst="straightConnector1">
            <a:avLst/>
          </a:prstGeom>
          <a:noFill/>
          <a:ln cap="flat" cmpd="sng" w="19050">
            <a:solidFill>
              <a:srgbClr val="666666"/>
            </a:solidFill>
            <a:prstDash val="solid"/>
            <a:round/>
            <a:headEnd len="med" w="med" type="none"/>
            <a:tailEnd len="med" w="med" type="none"/>
          </a:ln>
        </p:spPr>
      </p:cxnSp>
      <p:cxnSp>
        <p:nvCxnSpPr>
          <p:cNvPr id="5485" name="Google Shape;5485;p288"/>
          <p:cNvCxnSpPr>
            <a:stCxn id="5483" idx="6"/>
            <a:endCxn id="5479" idx="2"/>
          </p:cNvCxnSpPr>
          <p:nvPr/>
        </p:nvCxnSpPr>
        <p:spPr>
          <a:xfrm>
            <a:off x="7341790" y="3595236"/>
            <a:ext cx="970200" cy="483300"/>
          </a:xfrm>
          <a:prstGeom prst="straightConnector1">
            <a:avLst/>
          </a:prstGeom>
          <a:noFill/>
          <a:ln cap="flat" cmpd="sng" w="19050">
            <a:solidFill>
              <a:srgbClr val="666666"/>
            </a:solidFill>
            <a:prstDash val="solid"/>
            <a:round/>
            <a:headEnd len="med" w="med" type="none"/>
            <a:tailEnd len="med" w="med" type="none"/>
          </a:ln>
        </p:spPr>
      </p:cxnSp>
      <p:sp>
        <p:nvSpPr>
          <p:cNvPr id="5486" name="Google Shape;5486;p288"/>
          <p:cNvSpPr txBox="1"/>
          <p:nvPr/>
        </p:nvSpPr>
        <p:spPr>
          <a:xfrm>
            <a:off x="6248250" y="1666450"/>
            <a:ext cx="16827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1</a:t>
            </a:r>
            <a:endParaRPr b="1">
              <a:solidFill>
                <a:srgbClr val="0000FF"/>
              </a:solidFill>
              <a:latin typeface="Open Sans"/>
              <a:ea typeface="Open Sans"/>
              <a:cs typeface="Open Sans"/>
              <a:sym typeface="Open Sans"/>
            </a:endParaRPr>
          </a:p>
        </p:txBody>
      </p:sp>
      <p:sp>
        <p:nvSpPr>
          <p:cNvPr id="5487" name="Google Shape;5487;p288"/>
          <p:cNvSpPr txBox="1"/>
          <p:nvPr/>
        </p:nvSpPr>
        <p:spPr>
          <a:xfrm>
            <a:off x="6296150" y="3055400"/>
            <a:ext cx="16827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2</a:t>
            </a:r>
            <a:endParaRPr b="1">
              <a:solidFill>
                <a:srgbClr val="0000FF"/>
              </a:solidFill>
              <a:latin typeface="Open Sans"/>
              <a:ea typeface="Open Sans"/>
              <a:cs typeface="Open Sans"/>
              <a:sym typeface="Open Sans"/>
            </a:endParaRPr>
          </a:p>
        </p:txBody>
      </p:sp>
      <p:sp>
        <p:nvSpPr>
          <p:cNvPr id="5488" name="Google Shape;5488;p288"/>
          <p:cNvSpPr/>
          <p:nvPr/>
        </p:nvSpPr>
        <p:spPr>
          <a:xfrm>
            <a:off x="6933228" y="3873973"/>
            <a:ext cx="408600" cy="390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288"/>
          <p:cNvSpPr txBox="1"/>
          <p:nvPr/>
        </p:nvSpPr>
        <p:spPr>
          <a:xfrm>
            <a:off x="6296150" y="4722713"/>
            <a:ext cx="16827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3</a:t>
            </a:r>
            <a:endParaRPr b="1">
              <a:solidFill>
                <a:srgbClr val="0000FF"/>
              </a:solidFill>
              <a:latin typeface="Open Sans"/>
              <a:ea typeface="Open Sans"/>
              <a:cs typeface="Open Sans"/>
              <a:sym typeface="Open Sans"/>
            </a:endParaRPr>
          </a:p>
        </p:txBody>
      </p:sp>
      <p:cxnSp>
        <p:nvCxnSpPr>
          <p:cNvPr id="5490" name="Google Shape;5490;p288"/>
          <p:cNvCxnSpPr>
            <a:stCxn id="5478" idx="6"/>
            <a:endCxn id="5488" idx="2"/>
          </p:cNvCxnSpPr>
          <p:nvPr/>
        </p:nvCxnSpPr>
        <p:spPr>
          <a:xfrm flipH="1" rot="10800000">
            <a:off x="5963098" y="4068959"/>
            <a:ext cx="970200" cy="9600"/>
          </a:xfrm>
          <a:prstGeom prst="straightConnector1">
            <a:avLst/>
          </a:prstGeom>
          <a:noFill/>
          <a:ln cap="flat" cmpd="sng" w="19050">
            <a:solidFill>
              <a:srgbClr val="666666"/>
            </a:solidFill>
            <a:prstDash val="solid"/>
            <a:round/>
            <a:headEnd len="med" w="med" type="none"/>
            <a:tailEnd len="med" w="med" type="none"/>
          </a:ln>
        </p:spPr>
      </p:cxnSp>
      <p:cxnSp>
        <p:nvCxnSpPr>
          <p:cNvPr id="5491" name="Google Shape;5491;p288"/>
          <p:cNvCxnSpPr>
            <a:stCxn id="5488" idx="6"/>
            <a:endCxn id="5479" idx="2"/>
          </p:cNvCxnSpPr>
          <p:nvPr/>
        </p:nvCxnSpPr>
        <p:spPr>
          <a:xfrm>
            <a:off x="7341828" y="4068973"/>
            <a:ext cx="970200" cy="96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5" name="Shape 5495"/>
        <p:cNvGrpSpPr/>
        <p:nvPr/>
      </p:nvGrpSpPr>
      <p:grpSpPr>
        <a:xfrm>
          <a:off x="0" y="0"/>
          <a:ext cx="0" cy="0"/>
          <a:chOff x="0" y="0"/>
          <a:chExt cx="0" cy="0"/>
        </a:xfrm>
      </p:grpSpPr>
      <p:sp>
        <p:nvSpPr>
          <p:cNvPr id="5496" name="Google Shape;5496;p28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Menger’s Theorem</a:t>
            </a:r>
            <a:endParaRPr/>
          </a:p>
        </p:txBody>
      </p:sp>
      <p:sp>
        <p:nvSpPr>
          <p:cNvPr id="5497" name="Google Shape;5497;p289"/>
          <p:cNvSpPr txBox="1"/>
          <p:nvPr>
            <p:ph idx="1" type="body"/>
          </p:nvPr>
        </p:nvSpPr>
        <p:spPr>
          <a:xfrm>
            <a:off x="311700" y="1225225"/>
            <a:ext cx="4290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Menger’s theorem states that:</a:t>
            </a:r>
            <a:endParaRPr/>
          </a:p>
          <a:p>
            <a:pPr indent="0" lvl="0" marL="914400" rtl="0" algn="l">
              <a:spcBef>
                <a:spcPts val="1600"/>
              </a:spcBef>
              <a:spcAft>
                <a:spcPts val="0"/>
              </a:spcAft>
              <a:buNone/>
            </a:pPr>
            <a:r>
              <a:t/>
            </a:r>
            <a:endParaRPr b="1"/>
          </a:p>
          <a:p>
            <a:pPr indent="0" lvl="0" marL="1371600" marR="0" rtl="0" algn="l">
              <a:lnSpc>
                <a:spcPct val="115000"/>
              </a:lnSpc>
              <a:spcBef>
                <a:spcPts val="0"/>
              </a:spcBef>
              <a:spcAft>
                <a:spcPts val="0"/>
              </a:spcAft>
              <a:buNone/>
            </a:pPr>
            <a:r>
              <a:t/>
            </a:r>
            <a:endParaRPr b="1">
              <a:solidFill>
                <a:srgbClr val="FF0000"/>
              </a:solidFill>
            </a:endParaRPr>
          </a:p>
          <a:p>
            <a:pPr indent="0" lvl="0" marL="914400" marR="0" rtl="0" algn="l">
              <a:lnSpc>
                <a:spcPct val="115000"/>
              </a:lnSpc>
              <a:spcBef>
                <a:spcPts val="1600"/>
              </a:spcBef>
              <a:spcAft>
                <a:spcPts val="0"/>
              </a:spcAft>
              <a:buNone/>
            </a:pPr>
            <a:r>
              <a:t/>
            </a:r>
            <a:endParaRPr b="1">
              <a:solidFill>
                <a:srgbClr val="000000"/>
              </a:solidFill>
            </a:endParaRPr>
          </a:p>
          <a:p>
            <a:pPr indent="0" lvl="0" marL="0" rtl="0" algn="l">
              <a:spcBef>
                <a:spcPts val="1600"/>
              </a:spcBef>
              <a:spcAft>
                <a:spcPts val="0"/>
              </a:spcAft>
              <a:buNone/>
            </a:pPr>
            <a:r>
              <a:t/>
            </a:r>
            <a:endParaRPr/>
          </a:p>
        </p:txBody>
      </p:sp>
      <p:sp>
        <p:nvSpPr>
          <p:cNvPr id="5498" name="Google Shape;5498;p289"/>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289"/>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289"/>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289"/>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02" name="Google Shape;5502;p289"/>
          <p:cNvCxnSpPr>
            <a:stCxn id="5498" idx="3"/>
            <a:endCxn id="5499"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503" name="Google Shape;5503;p289"/>
          <p:cNvCxnSpPr>
            <a:stCxn id="5501" idx="1"/>
            <a:endCxn id="5499"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504" name="Google Shape;5504;p289"/>
          <p:cNvCxnSpPr>
            <a:stCxn id="5498" idx="4"/>
            <a:endCxn id="5501"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505" name="Google Shape;5505;p289"/>
          <p:cNvCxnSpPr>
            <a:stCxn id="5498" idx="5"/>
            <a:endCxn id="5500"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506" name="Google Shape;5506;p289"/>
          <p:cNvCxnSpPr>
            <a:stCxn id="5500" idx="2"/>
            <a:endCxn id="5499"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507" name="Google Shape;5507;p289"/>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289"/>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289"/>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289"/>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11" name="Google Shape;5511;p289"/>
          <p:cNvCxnSpPr>
            <a:stCxn id="5507" idx="3"/>
            <a:endCxn id="5508"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512" name="Google Shape;5512;p289"/>
          <p:cNvCxnSpPr>
            <a:stCxn id="5510" idx="0"/>
            <a:endCxn id="5508"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513" name="Google Shape;5513;p289"/>
          <p:cNvCxnSpPr>
            <a:stCxn id="5507" idx="5"/>
            <a:endCxn id="5509"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514" name="Google Shape;5514;p289"/>
          <p:cNvCxnSpPr>
            <a:stCxn id="5509" idx="2"/>
            <a:endCxn id="5508"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515" name="Google Shape;5515;p289"/>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16" name="Google Shape;5516;p289"/>
          <p:cNvCxnSpPr>
            <a:stCxn id="5515" idx="0"/>
            <a:endCxn id="5508"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517" name="Google Shape;5517;p289"/>
          <p:cNvCxnSpPr>
            <a:stCxn id="5509" idx="3"/>
            <a:endCxn id="5510"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518" name="Google Shape;5518;p289"/>
          <p:cNvCxnSpPr>
            <a:stCxn id="5509" idx="3"/>
            <a:endCxn id="5515"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519" name="Google Shape;5519;p289"/>
          <p:cNvCxnSpPr>
            <a:stCxn id="5507" idx="4"/>
            <a:endCxn id="5515"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520" name="Google Shape;5520;p289"/>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289"/>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289"/>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23" name="Google Shape;5523;p289"/>
          <p:cNvCxnSpPr>
            <a:stCxn id="5520" idx="3"/>
            <a:endCxn id="5521"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524" name="Google Shape;5524;p289"/>
          <p:cNvCxnSpPr>
            <a:stCxn id="5520" idx="5"/>
            <a:endCxn id="5522"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525" name="Google Shape;5525;p289"/>
          <p:cNvCxnSpPr>
            <a:stCxn id="5522" idx="2"/>
            <a:endCxn id="5521"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526" name="Google Shape;5526;p289"/>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27" name="Google Shape;5527;p289"/>
          <p:cNvCxnSpPr>
            <a:stCxn id="5526" idx="2"/>
            <a:endCxn id="5521"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528" name="Google Shape;5528;p289"/>
          <p:cNvCxnSpPr>
            <a:stCxn id="5526" idx="0"/>
            <a:endCxn id="5520"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529" name="Google Shape;5529;p289"/>
          <p:cNvCxnSpPr>
            <a:stCxn id="5500" idx="5"/>
            <a:endCxn id="5521"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530" name="Google Shape;5530;p289"/>
          <p:cNvCxnSpPr>
            <a:stCxn id="5500" idx="7"/>
            <a:endCxn id="5510"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531" name="Google Shape;5531;p289"/>
          <p:cNvCxnSpPr>
            <a:stCxn id="5515" idx="3"/>
            <a:endCxn id="5520"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532" name="Google Shape;5532;p289"/>
          <p:cNvCxnSpPr>
            <a:stCxn id="5509" idx="4"/>
            <a:endCxn id="5522"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533" name="Google Shape;5533;p289"/>
          <p:cNvCxnSpPr>
            <a:stCxn id="5498" idx="6"/>
            <a:endCxn id="5515"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534" name="Google Shape;5534;p289"/>
          <p:cNvCxnSpPr>
            <a:stCxn id="5501" idx="6"/>
            <a:endCxn id="5520"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535" name="Google Shape;5535;p289"/>
          <p:cNvGrpSpPr/>
          <p:nvPr/>
        </p:nvGrpSpPr>
        <p:grpSpPr>
          <a:xfrm>
            <a:off x="7426813" y="3603880"/>
            <a:ext cx="1182300" cy="1066200"/>
            <a:chOff x="7426813" y="3603880"/>
            <a:chExt cx="1182300" cy="1066200"/>
          </a:xfrm>
        </p:grpSpPr>
        <p:sp>
          <p:nvSpPr>
            <p:cNvPr id="5536" name="Google Shape;5536;p289"/>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37" name="Google Shape;5537;p289"/>
            <p:cNvCxnSpPr>
              <a:stCxn id="5536"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538" name="Google Shape;5538;p289"/>
            <p:cNvCxnSpPr>
              <a:endCxn id="5536"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539" name="Google Shape;5539;p289"/>
            <p:cNvCxnSpPr>
              <a:stCxn id="5536"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540" name="Google Shape;5540;p289"/>
          <p:cNvSpPr txBox="1"/>
          <p:nvPr/>
        </p:nvSpPr>
        <p:spPr>
          <a:xfrm>
            <a:off x="729025" y="3636425"/>
            <a:ext cx="41199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The graph on the right is three-connected!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(removing the three </a:t>
            </a:r>
            <a:r>
              <a:rPr b="1" lang="en">
                <a:solidFill>
                  <a:srgbClr val="FF0000"/>
                </a:solidFill>
              </a:rPr>
              <a:t>red </a:t>
            </a:r>
            <a:r>
              <a:rPr b="1" lang="en"/>
              <a:t>nodes disconnects the graph)</a:t>
            </a:r>
            <a:endParaRPr b="1"/>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4" name="Shape 5544"/>
        <p:cNvGrpSpPr/>
        <p:nvPr/>
      </p:nvGrpSpPr>
      <p:grpSpPr>
        <a:xfrm>
          <a:off x="0" y="0"/>
          <a:ext cx="0" cy="0"/>
          <a:chOff x="0" y="0"/>
          <a:chExt cx="0" cy="0"/>
        </a:xfrm>
      </p:grpSpPr>
      <p:sp>
        <p:nvSpPr>
          <p:cNvPr id="5545" name="Google Shape;5545;p29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Menger’s Theorem</a:t>
            </a:r>
            <a:endParaRPr/>
          </a:p>
        </p:txBody>
      </p:sp>
      <p:sp>
        <p:nvSpPr>
          <p:cNvPr id="5546" name="Google Shape;5546;p290"/>
          <p:cNvSpPr/>
          <p:nvPr/>
        </p:nvSpPr>
        <p:spPr>
          <a:xfrm>
            <a:off x="5844988" y="2095088"/>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290"/>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290"/>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290"/>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0" name="Google Shape;5550;p290"/>
          <p:cNvCxnSpPr>
            <a:stCxn id="5546" idx="3"/>
            <a:endCxn id="5547"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551" name="Google Shape;5551;p290"/>
          <p:cNvCxnSpPr>
            <a:stCxn id="5549" idx="1"/>
            <a:endCxn id="5547"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552" name="Google Shape;5552;p290"/>
          <p:cNvCxnSpPr>
            <a:stCxn id="5546" idx="4"/>
            <a:endCxn id="5549"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553" name="Google Shape;5553;p290"/>
          <p:cNvCxnSpPr>
            <a:stCxn id="5546" idx="5"/>
            <a:endCxn id="5548"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554" name="Google Shape;5554;p290"/>
          <p:cNvCxnSpPr>
            <a:stCxn id="5548" idx="2"/>
            <a:endCxn id="5547"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555" name="Google Shape;5555;p290"/>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290"/>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290"/>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290"/>
          <p:cNvSpPr/>
          <p:nvPr/>
        </p:nvSpPr>
        <p:spPr>
          <a:xfrm>
            <a:off x="7246000" y="1494713"/>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9" name="Google Shape;5559;p290"/>
          <p:cNvCxnSpPr>
            <a:stCxn id="5555" idx="3"/>
            <a:endCxn id="5556"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560" name="Google Shape;5560;p290"/>
          <p:cNvCxnSpPr>
            <a:stCxn id="5558" idx="0"/>
            <a:endCxn id="5556"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561" name="Google Shape;5561;p290"/>
          <p:cNvCxnSpPr>
            <a:stCxn id="5555" idx="5"/>
            <a:endCxn id="5557"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562" name="Google Shape;5562;p290"/>
          <p:cNvCxnSpPr>
            <a:stCxn id="5557" idx="2"/>
            <a:endCxn id="5556"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563" name="Google Shape;5563;p290"/>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64" name="Google Shape;5564;p290"/>
          <p:cNvCxnSpPr>
            <a:stCxn id="5563" idx="0"/>
            <a:endCxn id="5556"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565" name="Google Shape;5565;p290"/>
          <p:cNvCxnSpPr>
            <a:stCxn id="5557" idx="3"/>
            <a:endCxn id="5558"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566" name="Google Shape;5566;p290"/>
          <p:cNvCxnSpPr>
            <a:stCxn id="5557" idx="3"/>
            <a:endCxn id="5563"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567" name="Google Shape;5567;p290"/>
          <p:cNvCxnSpPr>
            <a:stCxn id="5555" idx="4"/>
            <a:endCxn id="5563"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568" name="Google Shape;5568;p290"/>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290"/>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290"/>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71" name="Google Shape;5571;p290"/>
          <p:cNvCxnSpPr>
            <a:stCxn id="5568" idx="3"/>
            <a:endCxn id="5569"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572" name="Google Shape;5572;p290"/>
          <p:cNvCxnSpPr>
            <a:stCxn id="5568" idx="5"/>
            <a:endCxn id="5570"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573" name="Google Shape;5573;p290"/>
          <p:cNvCxnSpPr>
            <a:stCxn id="5570" idx="2"/>
            <a:endCxn id="5569"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574" name="Google Shape;5574;p290"/>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75" name="Google Shape;5575;p290"/>
          <p:cNvCxnSpPr>
            <a:stCxn id="5574" idx="2"/>
            <a:endCxn id="5569"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576" name="Google Shape;5576;p290"/>
          <p:cNvCxnSpPr>
            <a:stCxn id="5574" idx="0"/>
            <a:endCxn id="5568"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577" name="Google Shape;5577;p290"/>
          <p:cNvCxnSpPr>
            <a:stCxn id="5548" idx="5"/>
            <a:endCxn id="5569"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578" name="Google Shape;5578;p290"/>
          <p:cNvCxnSpPr>
            <a:stCxn id="5548" idx="7"/>
            <a:endCxn id="5558"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579" name="Google Shape;5579;p290"/>
          <p:cNvCxnSpPr>
            <a:stCxn id="5563" idx="3"/>
            <a:endCxn id="5568"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580" name="Google Shape;5580;p290"/>
          <p:cNvCxnSpPr>
            <a:stCxn id="5557" idx="4"/>
            <a:endCxn id="5570"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581" name="Google Shape;5581;p290"/>
          <p:cNvCxnSpPr>
            <a:stCxn id="5546" idx="6"/>
            <a:endCxn id="5563"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582" name="Google Shape;5582;p290"/>
          <p:cNvCxnSpPr>
            <a:stCxn id="5549" idx="6"/>
            <a:endCxn id="5568"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583" name="Google Shape;5583;p290"/>
          <p:cNvGrpSpPr/>
          <p:nvPr/>
        </p:nvGrpSpPr>
        <p:grpSpPr>
          <a:xfrm>
            <a:off x="7426813" y="3603880"/>
            <a:ext cx="1182300" cy="1066200"/>
            <a:chOff x="7426813" y="3603880"/>
            <a:chExt cx="1182300" cy="1066200"/>
          </a:xfrm>
        </p:grpSpPr>
        <p:sp>
          <p:nvSpPr>
            <p:cNvPr id="5584" name="Google Shape;5584;p290"/>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85" name="Google Shape;5585;p290"/>
            <p:cNvCxnSpPr>
              <a:stCxn id="5584"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586" name="Google Shape;5586;p290"/>
            <p:cNvCxnSpPr>
              <a:endCxn id="5584"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587" name="Google Shape;5587;p290"/>
            <p:cNvCxnSpPr>
              <a:stCxn id="5584"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588" name="Google Shape;5588;p290"/>
          <p:cNvSpPr txBox="1"/>
          <p:nvPr>
            <p:ph idx="1" type="body"/>
          </p:nvPr>
        </p:nvSpPr>
        <p:spPr>
          <a:xfrm>
            <a:off x="311700" y="1225225"/>
            <a:ext cx="4290300" cy="23313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Menger’s theorem states that:</a:t>
            </a:r>
            <a:endParaRPr/>
          </a:p>
          <a:p>
            <a:pPr indent="-317500" lvl="1" marL="914400" marR="0" rtl="0" algn="l">
              <a:lnSpc>
                <a:spcPct val="115000"/>
              </a:lnSpc>
              <a:spcBef>
                <a:spcPts val="0"/>
              </a:spcBef>
              <a:spcAft>
                <a:spcPts val="0"/>
              </a:spcAft>
              <a:buSzPts val="1400"/>
              <a:buChar char="○"/>
            </a:pPr>
            <a:r>
              <a:rPr b="1" lang="en"/>
              <a:t>If a graph is k-connected there are at least k paths that don’t share other nodes connecting each non-adjacent pair of nodes</a:t>
            </a:r>
            <a:endParaRPr b="1"/>
          </a:p>
          <a:p>
            <a:pPr indent="0" lvl="0" marL="1371600" marR="0" rtl="0" algn="l">
              <a:lnSpc>
                <a:spcPct val="115000"/>
              </a:lnSpc>
              <a:spcBef>
                <a:spcPts val="1600"/>
              </a:spcBef>
              <a:spcAft>
                <a:spcPts val="0"/>
              </a:spcAft>
              <a:buNone/>
            </a:pPr>
            <a:r>
              <a:t/>
            </a:r>
            <a:endParaRPr b="1">
              <a:solidFill>
                <a:srgbClr val="FF0000"/>
              </a:solidFill>
            </a:endParaRPr>
          </a:p>
          <a:p>
            <a:pPr indent="0" lvl="0" marL="0" rtl="0" algn="l">
              <a:spcBef>
                <a:spcPts val="1600"/>
              </a:spcBef>
              <a:spcAft>
                <a:spcPts val="0"/>
              </a:spcAft>
              <a:buNone/>
            </a:pPr>
            <a:r>
              <a:t/>
            </a:r>
            <a:endParaRPr/>
          </a:p>
        </p:txBody>
      </p:sp>
      <p:sp>
        <p:nvSpPr>
          <p:cNvPr id="5589" name="Google Shape;5589;p290"/>
          <p:cNvSpPr txBox="1"/>
          <p:nvPr/>
        </p:nvSpPr>
        <p:spPr>
          <a:xfrm>
            <a:off x="729025" y="3636425"/>
            <a:ext cx="41199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The graph on the right is three-connected!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(removing the three </a:t>
            </a:r>
            <a:r>
              <a:rPr b="1" lang="en">
                <a:solidFill>
                  <a:srgbClr val="FF0000"/>
                </a:solidFill>
              </a:rPr>
              <a:t>red </a:t>
            </a:r>
            <a:r>
              <a:rPr b="1" lang="en"/>
              <a:t>nodes disconnects the graph)</a:t>
            </a:r>
            <a:endParaRPr b="1"/>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3" name="Shape 5593"/>
        <p:cNvGrpSpPr/>
        <p:nvPr/>
      </p:nvGrpSpPr>
      <p:grpSpPr>
        <a:xfrm>
          <a:off x="0" y="0"/>
          <a:ext cx="0" cy="0"/>
          <a:chOff x="0" y="0"/>
          <a:chExt cx="0" cy="0"/>
        </a:xfrm>
      </p:grpSpPr>
      <p:sp>
        <p:nvSpPr>
          <p:cNvPr id="5594" name="Google Shape;5594;p29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Menger’s Theorem</a:t>
            </a:r>
            <a:endParaRPr/>
          </a:p>
        </p:txBody>
      </p:sp>
      <p:sp>
        <p:nvSpPr>
          <p:cNvPr id="5595" name="Google Shape;5595;p291"/>
          <p:cNvSpPr/>
          <p:nvPr/>
        </p:nvSpPr>
        <p:spPr>
          <a:xfrm>
            <a:off x="5844988" y="2095088"/>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291"/>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291"/>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291"/>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99" name="Google Shape;5599;p291"/>
          <p:cNvCxnSpPr>
            <a:stCxn id="5595" idx="3"/>
            <a:endCxn id="5596"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600" name="Google Shape;5600;p291"/>
          <p:cNvCxnSpPr>
            <a:stCxn id="5598" idx="1"/>
            <a:endCxn id="5596"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601" name="Google Shape;5601;p291"/>
          <p:cNvCxnSpPr>
            <a:stCxn id="5595" idx="4"/>
            <a:endCxn id="5598"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602" name="Google Shape;5602;p291"/>
          <p:cNvCxnSpPr>
            <a:stCxn id="5595" idx="5"/>
            <a:endCxn id="5597"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603" name="Google Shape;5603;p291"/>
          <p:cNvCxnSpPr>
            <a:stCxn id="5597" idx="2"/>
            <a:endCxn id="5596"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604" name="Google Shape;5604;p291"/>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291"/>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291"/>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291"/>
          <p:cNvSpPr/>
          <p:nvPr/>
        </p:nvSpPr>
        <p:spPr>
          <a:xfrm>
            <a:off x="7246000" y="1494713"/>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08" name="Google Shape;5608;p291"/>
          <p:cNvCxnSpPr>
            <a:stCxn id="5604" idx="3"/>
            <a:endCxn id="5605"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609" name="Google Shape;5609;p291"/>
          <p:cNvCxnSpPr>
            <a:stCxn id="5607" idx="0"/>
            <a:endCxn id="5605"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610" name="Google Shape;5610;p291"/>
          <p:cNvCxnSpPr>
            <a:stCxn id="5604" idx="5"/>
            <a:endCxn id="5606"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611" name="Google Shape;5611;p291"/>
          <p:cNvCxnSpPr>
            <a:stCxn id="5606" idx="2"/>
            <a:endCxn id="5605"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612" name="Google Shape;5612;p291"/>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13" name="Google Shape;5613;p291"/>
          <p:cNvCxnSpPr>
            <a:stCxn id="5612" idx="0"/>
            <a:endCxn id="5605"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614" name="Google Shape;5614;p291"/>
          <p:cNvCxnSpPr>
            <a:stCxn id="5606" idx="3"/>
            <a:endCxn id="5607"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615" name="Google Shape;5615;p291"/>
          <p:cNvCxnSpPr>
            <a:stCxn id="5606" idx="3"/>
            <a:endCxn id="5612"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616" name="Google Shape;5616;p291"/>
          <p:cNvCxnSpPr>
            <a:stCxn id="5604" idx="4"/>
            <a:endCxn id="5612"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617" name="Google Shape;5617;p291"/>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291"/>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291"/>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20" name="Google Shape;5620;p291"/>
          <p:cNvCxnSpPr>
            <a:stCxn id="5617" idx="3"/>
            <a:endCxn id="5618"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621" name="Google Shape;5621;p291"/>
          <p:cNvCxnSpPr>
            <a:stCxn id="5617" idx="5"/>
            <a:endCxn id="5619"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622" name="Google Shape;5622;p291"/>
          <p:cNvCxnSpPr>
            <a:stCxn id="5619" idx="2"/>
            <a:endCxn id="5618"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623" name="Google Shape;5623;p291"/>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24" name="Google Shape;5624;p291"/>
          <p:cNvCxnSpPr>
            <a:stCxn id="5623" idx="2"/>
            <a:endCxn id="5618"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625" name="Google Shape;5625;p291"/>
          <p:cNvCxnSpPr>
            <a:stCxn id="5623" idx="0"/>
            <a:endCxn id="5617"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626" name="Google Shape;5626;p291"/>
          <p:cNvCxnSpPr>
            <a:stCxn id="5597" idx="5"/>
            <a:endCxn id="5618"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627" name="Google Shape;5627;p291"/>
          <p:cNvCxnSpPr>
            <a:stCxn id="5597" idx="7"/>
            <a:endCxn id="5607"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628" name="Google Shape;5628;p291"/>
          <p:cNvCxnSpPr>
            <a:stCxn id="5612" idx="3"/>
            <a:endCxn id="5617"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629" name="Google Shape;5629;p291"/>
          <p:cNvCxnSpPr>
            <a:stCxn id="5606" idx="4"/>
            <a:endCxn id="5619"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630" name="Google Shape;5630;p291"/>
          <p:cNvCxnSpPr>
            <a:stCxn id="5595" idx="6"/>
            <a:endCxn id="5612"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631" name="Google Shape;5631;p291"/>
          <p:cNvCxnSpPr>
            <a:stCxn id="5598" idx="6"/>
            <a:endCxn id="5617"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632" name="Google Shape;5632;p291"/>
          <p:cNvGrpSpPr/>
          <p:nvPr/>
        </p:nvGrpSpPr>
        <p:grpSpPr>
          <a:xfrm>
            <a:off x="7426813" y="3603880"/>
            <a:ext cx="1182300" cy="1066200"/>
            <a:chOff x="7426813" y="3603880"/>
            <a:chExt cx="1182300" cy="1066200"/>
          </a:xfrm>
        </p:grpSpPr>
        <p:sp>
          <p:nvSpPr>
            <p:cNvPr id="5633" name="Google Shape;5633;p291"/>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34" name="Google Shape;5634;p291"/>
            <p:cNvCxnSpPr>
              <a:stCxn id="5633"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635" name="Google Shape;5635;p291"/>
            <p:cNvCxnSpPr>
              <a:endCxn id="5633"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636" name="Google Shape;5636;p291"/>
            <p:cNvCxnSpPr>
              <a:stCxn id="5633"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637" name="Google Shape;5637;p291"/>
          <p:cNvSpPr txBox="1"/>
          <p:nvPr>
            <p:ph idx="1" type="body"/>
          </p:nvPr>
        </p:nvSpPr>
        <p:spPr>
          <a:xfrm>
            <a:off x="311700" y="1225225"/>
            <a:ext cx="4290300" cy="23313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Menger’s theorem states that:</a:t>
            </a:r>
            <a:endParaRPr/>
          </a:p>
          <a:p>
            <a:pPr indent="-317500" lvl="1" marL="914400" marR="0" rtl="0" algn="l">
              <a:lnSpc>
                <a:spcPct val="115000"/>
              </a:lnSpc>
              <a:spcBef>
                <a:spcPts val="0"/>
              </a:spcBef>
              <a:spcAft>
                <a:spcPts val="0"/>
              </a:spcAft>
              <a:buSzPts val="1400"/>
              <a:buChar char="○"/>
            </a:pPr>
            <a:r>
              <a:rPr b="1" lang="en"/>
              <a:t>If a graph is k-connected there are at least k paths that don’t share other nodes connecting each non-adjacent pair of nodes</a:t>
            </a:r>
            <a:endParaRPr b="1"/>
          </a:p>
          <a:p>
            <a:pPr indent="0" lvl="0" marL="1371600" marR="0" rtl="0" algn="l">
              <a:lnSpc>
                <a:spcPct val="115000"/>
              </a:lnSpc>
              <a:spcBef>
                <a:spcPts val="1600"/>
              </a:spcBef>
              <a:spcAft>
                <a:spcPts val="0"/>
              </a:spcAft>
              <a:buNone/>
            </a:pPr>
            <a:r>
              <a:t/>
            </a:r>
            <a:endParaRPr b="1">
              <a:solidFill>
                <a:srgbClr val="FF0000"/>
              </a:solidFill>
            </a:endParaRPr>
          </a:p>
          <a:p>
            <a:pPr indent="0" lvl="0" marL="0" rtl="0" algn="l">
              <a:spcBef>
                <a:spcPts val="1600"/>
              </a:spcBef>
              <a:spcAft>
                <a:spcPts val="0"/>
              </a:spcAft>
              <a:buNone/>
            </a:pPr>
            <a:r>
              <a:t/>
            </a:r>
            <a:endParaRPr/>
          </a:p>
        </p:txBody>
      </p:sp>
      <p:sp>
        <p:nvSpPr>
          <p:cNvPr id="5638" name="Google Shape;5638;p291"/>
          <p:cNvSpPr txBox="1"/>
          <p:nvPr/>
        </p:nvSpPr>
        <p:spPr>
          <a:xfrm>
            <a:off x="729025" y="3636425"/>
            <a:ext cx="41199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This means the two non-adjacent </a:t>
            </a:r>
            <a:r>
              <a:rPr b="1" lang="en">
                <a:solidFill>
                  <a:srgbClr val="38761D"/>
                </a:solidFill>
              </a:rPr>
              <a:t>green </a:t>
            </a:r>
            <a:r>
              <a:rPr b="1" lang="en"/>
              <a:t>nodes are indirectly connected in three separate (node-</a:t>
            </a:r>
            <a:r>
              <a:rPr b="1" lang="en"/>
              <a:t>independent</a:t>
            </a:r>
            <a:r>
              <a:rPr b="1" lang="en"/>
              <a:t>) ways!</a:t>
            </a:r>
            <a:endParaRPr b="1"/>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2" name="Shape 5642"/>
        <p:cNvGrpSpPr/>
        <p:nvPr/>
      </p:nvGrpSpPr>
      <p:grpSpPr>
        <a:xfrm>
          <a:off x="0" y="0"/>
          <a:ext cx="0" cy="0"/>
          <a:chOff x="0" y="0"/>
          <a:chExt cx="0" cy="0"/>
        </a:xfrm>
      </p:grpSpPr>
      <p:sp>
        <p:nvSpPr>
          <p:cNvPr id="5643" name="Google Shape;5643;p29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Menger’s Theorem</a:t>
            </a:r>
            <a:endParaRPr/>
          </a:p>
        </p:txBody>
      </p:sp>
      <p:sp>
        <p:nvSpPr>
          <p:cNvPr id="5644" name="Google Shape;5644;p292"/>
          <p:cNvSpPr/>
          <p:nvPr/>
        </p:nvSpPr>
        <p:spPr>
          <a:xfrm>
            <a:off x="5844988" y="2095088"/>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292"/>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292"/>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292"/>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48" name="Google Shape;5648;p292"/>
          <p:cNvCxnSpPr>
            <a:stCxn id="5644" idx="3"/>
            <a:endCxn id="5645"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649" name="Google Shape;5649;p292"/>
          <p:cNvCxnSpPr>
            <a:stCxn id="5647" idx="1"/>
            <a:endCxn id="5645"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650" name="Google Shape;5650;p292"/>
          <p:cNvCxnSpPr>
            <a:stCxn id="5644" idx="4"/>
            <a:endCxn id="5647"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651" name="Google Shape;5651;p292"/>
          <p:cNvCxnSpPr>
            <a:stCxn id="5644" idx="5"/>
            <a:endCxn id="5646" idx="1"/>
          </p:cNvCxnSpPr>
          <p:nvPr/>
        </p:nvCxnSpPr>
        <p:spPr>
          <a:xfrm>
            <a:off x="5991201" y="2241301"/>
            <a:ext cx="404400" cy="313500"/>
          </a:xfrm>
          <a:prstGeom prst="straightConnector1">
            <a:avLst/>
          </a:prstGeom>
          <a:noFill/>
          <a:ln cap="flat" cmpd="sng" w="38100">
            <a:solidFill>
              <a:srgbClr val="FF0000"/>
            </a:solidFill>
            <a:prstDash val="solid"/>
            <a:round/>
            <a:headEnd len="med" w="med" type="none"/>
            <a:tailEnd len="med" w="med" type="stealth"/>
          </a:ln>
        </p:spPr>
      </p:cxnSp>
      <p:cxnSp>
        <p:nvCxnSpPr>
          <p:cNvPr id="5652" name="Google Shape;5652;p292"/>
          <p:cNvCxnSpPr>
            <a:stCxn id="5646" idx="2"/>
            <a:endCxn id="5645"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653" name="Google Shape;5653;p292"/>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292"/>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292"/>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292"/>
          <p:cNvSpPr/>
          <p:nvPr/>
        </p:nvSpPr>
        <p:spPr>
          <a:xfrm>
            <a:off x="7246000" y="1494713"/>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57" name="Google Shape;5657;p292"/>
          <p:cNvCxnSpPr>
            <a:stCxn id="5653" idx="3"/>
            <a:endCxn id="565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658" name="Google Shape;5658;p292"/>
          <p:cNvCxnSpPr>
            <a:stCxn id="5656" idx="0"/>
            <a:endCxn id="5654"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659" name="Google Shape;5659;p292"/>
          <p:cNvCxnSpPr>
            <a:stCxn id="5653" idx="5"/>
            <a:endCxn id="565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660" name="Google Shape;5660;p292"/>
          <p:cNvCxnSpPr>
            <a:stCxn id="5655" idx="2"/>
            <a:endCxn id="565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661" name="Google Shape;5661;p292"/>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62" name="Google Shape;5662;p292"/>
          <p:cNvCxnSpPr>
            <a:stCxn id="5661" idx="0"/>
            <a:endCxn id="5654"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663" name="Google Shape;5663;p292"/>
          <p:cNvCxnSpPr>
            <a:stCxn id="5655" idx="3"/>
            <a:endCxn id="5656"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664" name="Google Shape;5664;p292"/>
          <p:cNvCxnSpPr>
            <a:stCxn id="5655" idx="3"/>
            <a:endCxn id="5661"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665" name="Google Shape;5665;p292"/>
          <p:cNvCxnSpPr>
            <a:stCxn id="5653" idx="4"/>
            <a:endCxn id="5661"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666" name="Google Shape;5666;p292"/>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292"/>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292"/>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69" name="Google Shape;5669;p292"/>
          <p:cNvCxnSpPr>
            <a:stCxn id="5666" idx="3"/>
            <a:endCxn id="566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670" name="Google Shape;5670;p292"/>
          <p:cNvCxnSpPr>
            <a:stCxn id="5666" idx="5"/>
            <a:endCxn id="5668"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671" name="Google Shape;5671;p292"/>
          <p:cNvCxnSpPr>
            <a:stCxn id="5668" idx="2"/>
            <a:endCxn id="5667"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672" name="Google Shape;5672;p292"/>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73" name="Google Shape;5673;p292"/>
          <p:cNvCxnSpPr>
            <a:stCxn id="5672" idx="2"/>
            <a:endCxn id="566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674" name="Google Shape;5674;p292"/>
          <p:cNvCxnSpPr>
            <a:stCxn id="5672" idx="0"/>
            <a:endCxn id="566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675" name="Google Shape;5675;p292"/>
          <p:cNvCxnSpPr>
            <a:stCxn id="5646" idx="5"/>
            <a:endCxn id="5667"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676" name="Google Shape;5676;p292"/>
          <p:cNvCxnSpPr>
            <a:stCxn id="5646" idx="7"/>
            <a:endCxn id="5656" idx="3"/>
          </p:cNvCxnSpPr>
          <p:nvPr/>
        </p:nvCxnSpPr>
        <p:spPr>
          <a:xfrm flipH="1" rot="10800000">
            <a:off x="6516801" y="1640899"/>
            <a:ext cx="754200" cy="913800"/>
          </a:xfrm>
          <a:prstGeom prst="straightConnector1">
            <a:avLst/>
          </a:prstGeom>
          <a:noFill/>
          <a:ln cap="flat" cmpd="sng" w="38100">
            <a:solidFill>
              <a:srgbClr val="FF0000"/>
            </a:solidFill>
            <a:prstDash val="solid"/>
            <a:round/>
            <a:headEnd len="med" w="med" type="none"/>
            <a:tailEnd len="med" w="med" type="stealth"/>
          </a:ln>
        </p:spPr>
      </p:cxnSp>
      <p:cxnSp>
        <p:nvCxnSpPr>
          <p:cNvPr id="5677" name="Google Shape;5677;p292"/>
          <p:cNvCxnSpPr>
            <a:stCxn id="5661" idx="3"/>
            <a:endCxn id="5666"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678" name="Google Shape;5678;p292"/>
          <p:cNvCxnSpPr>
            <a:stCxn id="5655" idx="4"/>
            <a:endCxn id="5668"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679" name="Google Shape;5679;p292"/>
          <p:cNvCxnSpPr>
            <a:stCxn id="5644" idx="6"/>
            <a:endCxn id="5661"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680" name="Google Shape;5680;p292"/>
          <p:cNvCxnSpPr>
            <a:stCxn id="5647" idx="6"/>
            <a:endCxn id="5666"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681" name="Google Shape;5681;p292"/>
          <p:cNvGrpSpPr/>
          <p:nvPr/>
        </p:nvGrpSpPr>
        <p:grpSpPr>
          <a:xfrm>
            <a:off x="7426813" y="3603880"/>
            <a:ext cx="1182300" cy="1066200"/>
            <a:chOff x="7426813" y="3603880"/>
            <a:chExt cx="1182300" cy="1066200"/>
          </a:xfrm>
        </p:grpSpPr>
        <p:sp>
          <p:nvSpPr>
            <p:cNvPr id="5682" name="Google Shape;5682;p292"/>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83" name="Google Shape;5683;p292"/>
            <p:cNvCxnSpPr>
              <a:stCxn id="5682"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684" name="Google Shape;5684;p292"/>
            <p:cNvCxnSpPr>
              <a:endCxn id="5682"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685" name="Google Shape;5685;p292"/>
            <p:cNvCxnSpPr>
              <a:stCxn id="5682"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686" name="Google Shape;5686;p292"/>
          <p:cNvSpPr txBox="1"/>
          <p:nvPr/>
        </p:nvSpPr>
        <p:spPr>
          <a:xfrm>
            <a:off x="6016300" y="1147225"/>
            <a:ext cx="476400" cy="48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Open Sans"/>
                <a:ea typeface="Open Sans"/>
                <a:cs typeface="Open Sans"/>
                <a:sym typeface="Open Sans"/>
              </a:rPr>
              <a:t>1</a:t>
            </a:r>
            <a:endParaRPr b="1" sz="1800">
              <a:solidFill>
                <a:srgbClr val="FF0000"/>
              </a:solidFill>
              <a:latin typeface="Open Sans"/>
              <a:ea typeface="Open Sans"/>
              <a:cs typeface="Open Sans"/>
              <a:sym typeface="Open Sans"/>
            </a:endParaRPr>
          </a:p>
        </p:txBody>
      </p:sp>
      <p:sp>
        <p:nvSpPr>
          <p:cNvPr id="5687" name="Google Shape;5687;p292"/>
          <p:cNvSpPr txBox="1"/>
          <p:nvPr>
            <p:ph idx="1" type="body"/>
          </p:nvPr>
        </p:nvSpPr>
        <p:spPr>
          <a:xfrm>
            <a:off x="311700" y="1225225"/>
            <a:ext cx="4290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Menger’s theorem states that:</a:t>
            </a:r>
            <a:endParaRPr/>
          </a:p>
          <a:p>
            <a:pPr indent="-317500" lvl="1" marL="914400" rtl="0" algn="l">
              <a:spcBef>
                <a:spcPts val="0"/>
              </a:spcBef>
              <a:spcAft>
                <a:spcPts val="0"/>
              </a:spcAft>
              <a:buSzPts val="1400"/>
              <a:buChar char="○"/>
            </a:pPr>
            <a:r>
              <a:rPr b="1" lang="en"/>
              <a:t>If a graph is k-connected there are at least k paths that don’t share other nodes connecting each non-adjacent pair of nodes</a:t>
            </a:r>
            <a:endParaRPr b="1"/>
          </a:p>
          <a:p>
            <a:pPr indent="0" lvl="0" marL="1371600" marR="0" rtl="0" algn="l">
              <a:lnSpc>
                <a:spcPct val="115000"/>
              </a:lnSpc>
              <a:spcBef>
                <a:spcPts val="0"/>
              </a:spcBef>
              <a:spcAft>
                <a:spcPts val="0"/>
              </a:spcAft>
              <a:buNone/>
            </a:pPr>
            <a:r>
              <a:t/>
            </a:r>
            <a:endParaRPr b="1">
              <a:solidFill>
                <a:srgbClr val="FF0000"/>
              </a:solidFill>
            </a:endParaRPr>
          </a:p>
          <a:p>
            <a:pPr indent="0" lvl="0" marL="0" rtl="0" algn="l">
              <a:spcBef>
                <a:spcPts val="1600"/>
              </a:spcBef>
              <a:spcAft>
                <a:spcPts val="0"/>
              </a:spcAft>
              <a:buNone/>
            </a:pPr>
            <a:r>
              <a:t/>
            </a:r>
            <a:endParaRPr/>
          </a:p>
        </p:txBody>
      </p:sp>
      <p:sp>
        <p:nvSpPr>
          <p:cNvPr id="5688" name="Google Shape;5688;p292"/>
          <p:cNvSpPr txBox="1"/>
          <p:nvPr/>
        </p:nvSpPr>
        <p:spPr>
          <a:xfrm>
            <a:off x="729025" y="3636425"/>
            <a:ext cx="41199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This means the two non-adjacent </a:t>
            </a:r>
            <a:r>
              <a:rPr b="1" lang="en">
                <a:solidFill>
                  <a:srgbClr val="38761D"/>
                </a:solidFill>
              </a:rPr>
              <a:t>green </a:t>
            </a:r>
            <a:r>
              <a:rPr b="1" lang="en"/>
              <a:t>nodes are indirectly connected in three separate (node-independent) ways!</a:t>
            </a:r>
            <a:endParaRPr b="1"/>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2" name="Shape 5692"/>
        <p:cNvGrpSpPr/>
        <p:nvPr/>
      </p:nvGrpSpPr>
      <p:grpSpPr>
        <a:xfrm>
          <a:off x="0" y="0"/>
          <a:ext cx="0" cy="0"/>
          <a:chOff x="0" y="0"/>
          <a:chExt cx="0" cy="0"/>
        </a:xfrm>
      </p:grpSpPr>
      <p:sp>
        <p:nvSpPr>
          <p:cNvPr id="5693" name="Google Shape;5693;p29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Menger’s Theorem</a:t>
            </a:r>
            <a:endParaRPr/>
          </a:p>
        </p:txBody>
      </p:sp>
      <p:sp>
        <p:nvSpPr>
          <p:cNvPr id="5694" name="Google Shape;5694;p293"/>
          <p:cNvSpPr/>
          <p:nvPr/>
        </p:nvSpPr>
        <p:spPr>
          <a:xfrm>
            <a:off x="5844988" y="2095088"/>
            <a:ext cx="171300" cy="171300"/>
          </a:xfrm>
          <a:prstGeom prst="ellipse">
            <a:avLst/>
          </a:prstGeom>
          <a:solidFill>
            <a:srgbClr val="38761D"/>
          </a:solid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293"/>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293"/>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293"/>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98" name="Google Shape;5698;p293"/>
          <p:cNvCxnSpPr>
            <a:stCxn id="5694" idx="3"/>
            <a:endCxn id="5695"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699" name="Google Shape;5699;p293"/>
          <p:cNvCxnSpPr>
            <a:stCxn id="5697" idx="1"/>
            <a:endCxn id="5695"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700" name="Google Shape;5700;p293"/>
          <p:cNvCxnSpPr>
            <a:stCxn id="5694" idx="4"/>
            <a:endCxn id="5697"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701" name="Google Shape;5701;p293"/>
          <p:cNvCxnSpPr>
            <a:stCxn id="5694" idx="5"/>
            <a:endCxn id="5696"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702" name="Google Shape;5702;p293"/>
          <p:cNvCxnSpPr>
            <a:stCxn id="5696" idx="2"/>
            <a:endCxn id="5695"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703" name="Google Shape;5703;p293"/>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293"/>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293"/>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293"/>
          <p:cNvSpPr/>
          <p:nvPr/>
        </p:nvSpPr>
        <p:spPr>
          <a:xfrm>
            <a:off x="7246000" y="1494713"/>
            <a:ext cx="171300" cy="171300"/>
          </a:xfrm>
          <a:prstGeom prst="ellipse">
            <a:avLst/>
          </a:prstGeom>
          <a:solidFill>
            <a:srgbClr val="38761D"/>
          </a:solid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07" name="Google Shape;5707;p293"/>
          <p:cNvCxnSpPr>
            <a:stCxn id="5703" idx="3"/>
            <a:endCxn id="570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708" name="Google Shape;5708;p293"/>
          <p:cNvCxnSpPr>
            <a:stCxn id="5706" idx="0"/>
            <a:endCxn id="5704" idx="4"/>
          </p:cNvCxnSpPr>
          <p:nvPr/>
        </p:nvCxnSpPr>
        <p:spPr>
          <a:xfrm rot="10800000">
            <a:off x="7285750" y="1098113"/>
            <a:ext cx="45900" cy="396600"/>
          </a:xfrm>
          <a:prstGeom prst="straightConnector1">
            <a:avLst/>
          </a:prstGeom>
          <a:noFill/>
          <a:ln cap="flat" cmpd="sng" w="38100">
            <a:solidFill>
              <a:srgbClr val="FF0000"/>
            </a:solidFill>
            <a:prstDash val="solid"/>
            <a:round/>
            <a:headEnd len="med" w="med" type="stealth"/>
            <a:tailEnd len="med" w="med" type="none"/>
          </a:ln>
        </p:spPr>
      </p:cxnSp>
      <p:cxnSp>
        <p:nvCxnSpPr>
          <p:cNvPr id="5709" name="Google Shape;5709;p293"/>
          <p:cNvCxnSpPr>
            <a:stCxn id="5703" idx="5"/>
            <a:endCxn id="570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710" name="Google Shape;5710;p293"/>
          <p:cNvCxnSpPr>
            <a:stCxn id="5705" idx="2"/>
            <a:endCxn id="570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711" name="Google Shape;5711;p293"/>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12" name="Google Shape;5712;p293"/>
          <p:cNvCxnSpPr>
            <a:stCxn id="5711" idx="0"/>
            <a:endCxn id="5704" idx="6"/>
          </p:cNvCxnSpPr>
          <p:nvPr/>
        </p:nvCxnSpPr>
        <p:spPr>
          <a:xfrm rot="10800000">
            <a:off x="7371400" y="1012338"/>
            <a:ext cx="535200" cy="793800"/>
          </a:xfrm>
          <a:prstGeom prst="straightConnector1">
            <a:avLst/>
          </a:prstGeom>
          <a:noFill/>
          <a:ln cap="flat" cmpd="sng" w="38100">
            <a:solidFill>
              <a:srgbClr val="FF0000"/>
            </a:solidFill>
            <a:prstDash val="solid"/>
            <a:round/>
            <a:headEnd len="med" w="med" type="none"/>
            <a:tailEnd len="med" w="med" type="stealth"/>
          </a:ln>
        </p:spPr>
      </p:cxnSp>
      <p:cxnSp>
        <p:nvCxnSpPr>
          <p:cNvPr id="5713" name="Google Shape;5713;p293"/>
          <p:cNvCxnSpPr>
            <a:stCxn id="5705" idx="3"/>
            <a:endCxn id="5706"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714" name="Google Shape;5714;p293"/>
          <p:cNvCxnSpPr>
            <a:stCxn id="5705" idx="3"/>
            <a:endCxn id="5711"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715" name="Google Shape;5715;p293"/>
          <p:cNvCxnSpPr>
            <a:stCxn id="5703" idx="4"/>
            <a:endCxn id="5711"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716" name="Google Shape;5716;p293"/>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293"/>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293"/>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19" name="Google Shape;5719;p293"/>
          <p:cNvCxnSpPr>
            <a:stCxn id="5716" idx="3"/>
            <a:endCxn id="571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720" name="Google Shape;5720;p293"/>
          <p:cNvCxnSpPr>
            <a:stCxn id="5716" idx="5"/>
            <a:endCxn id="5718"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721" name="Google Shape;5721;p293"/>
          <p:cNvCxnSpPr>
            <a:stCxn id="5718" idx="2"/>
            <a:endCxn id="5717"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722" name="Google Shape;5722;p293"/>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3" name="Google Shape;5723;p293"/>
          <p:cNvCxnSpPr>
            <a:stCxn id="5722" idx="2"/>
            <a:endCxn id="571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724" name="Google Shape;5724;p293"/>
          <p:cNvCxnSpPr>
            <a:stCxn id="5722" idx="0"/>
            <a:endCxn id="571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725" name="Google Shape;5725;p293"/>
          <p:cNvCxnSpPr>
            <a:stCxn id="5696" idx="5"/>
            <a:endCxn id="5717"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726" name="Google Shape;5726;p293"/>
          <p:cNvCxnSpPr>
            <a:stCxn id="5696" idx="7"/>
            <a:endCxn id="5706"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727" name="Google Shape;5727;p293"/>
          <p:cNvCxnSpPr>
            <a:stCxn id="5711" idx="3"/>
            <a:endCxn id="5716"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728" name="Google Shape;5728;p293"/>
          <p:cNvCxnSpPr>
            <a:stCxn id="5705" idx="4"/>
            <a:endCxn id="5718"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729" name="Google Shape;5729;p293"/>
          <p:cNvCxnSpPr>
            <a:stCxn id="5694" idx="6"/>
            <a:endCxn id="5711" idx="2"/>
          </p:cNvCxnSpPr>
          <p:nvPr/>
        </p:nvCxnSpPr>
        <p:spPr>
          <a:xfrm flipH="1" rot="10800000">
            <a:off x="6016288" y="1891838"/>
            <a:ext cx="1804800" cy="288900"/>
          </a:xfrm>
          <a:prstGeom prst="straightConnector1">
            <a:avLst/>
          </a:prstGeom>
          <a:noFill/>
          <a:ln cap="flat" cmpd="sng" w="38100">
            <a:solidFill>
              <a:srgbClr val="FF0000"/>
            </a:solidFill>
            <a:prstDash val="solid"/>
            <a:round/>
            <a:headEnd len="med" w="med" type="none"/>
            <a:tailEnd len="med" w="med" type="stealth"/>
          </a:ln>
        </p:spPr>
      </p:cxnSp>
      <p:cxnSp>
        <p:nvCxnSpPr>
          <p:cNvPr id="5730" name="Google Shape;5730;p293"/>
          <p:cNvCxnSpPr>
            <a:stCxn id="5697" idx="6"/>
            <a:endCxn id="5716"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731" name="Google Shape;5731;p293"/>
          <p:cNvGrpSpPr/>
          <p:nvPr/>
        </p:nvGrpSpPr>
        <p:grpSpPr>
          <a:xfrm>
            <a:off x="7426813" y="3603880"/>
            <a:ext cx="1182300" cy="1066200"/>
            <a:chOff x="7426813" y="3603880"/>
            <a:chExt cx="1182300" cy="1066200"/>
          </a:xfrm>
        </p:grpSpPr>
        <p:sp>
          <p:nvSpPr>
            <p:cNvPr id="5732" name="Google Shape;5732;p293"/>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3" name="Google Shape;5733;p293"/>
            <p:cNvCxnSpPr>
              <a:stCxn id="5732"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734" name="Google Shape;5734;p293"/>
            <p:cNvCxnSpPr>
              <a:endCxn id="5732"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735" name="Google Shape;5735;p293"/>
            <p:cNvCxnSpPr>
              <a:stCxn id="5732"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736" name="Google Shape;5736;p293"/>
          <p:cNvSpPr txBox="1"/>
          <p:nvPr/>
        </p:nvSpPr>
        <p:spPr>
          <a:xfrm>
            <a:off x="6016300" y="1147225"/>
            <a:ext cx="476400" cy="48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Open Sans"/>
                <a:ea typeface="Open Sans"/>
                <a:cs typeface="Open Sans"/>
                <a:sym typeface="Open Sans"/>
              </a:rPr>
              <a:t>2</a:t>
            </a:r>
            <a:endParaRPr b="1" sz="1800">
              <a:solidFill>
                <a:srgbClr val="FF0000"/>
              </a:solidFill>
              <a:latin typeface="Open Sans"/>
              <a:ea typeface="Open Sans"/>
              <a:cs typeface="Open Sans"/>
              <a:sym typeface="Open Sans"/>
            </a:endParaRPr>
          </a:p>
        </p:txBody>
      </p:sp>
      <p:sp>
        <p:nvSpPr>
          <p:cNvPr id="5737" name="Google Shape;5737;p293"/>
          <p:cNvSpPr txBox="1"/>
          <p:nvPr>
            <p:ph idx="1" type="body"/>
          </p:nvPr>
        </p:nvSpPr>
        <p:spPr>
          <a:xfrm>
            <a:off x="311700" y="1225225"/>
            <a:ext cx="4290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Menger’s theorem states that:</a:t>
            </a:r>
            <a:endParaRPr/>
          </a:p>
          <a:p>
            <a:pPr indent="-317500" lvl="1" marL="914400" rtl="0" algn="l">
              <a:spcBef>
                <a:spcPts val="0"/>
              </a:spcBef>
              <a:spcAft>
                <a:spcPts val="0"/>
              </a:spcAft>
              <a:buSzPts val="1400"/>
              <a:buChar char="○"/>
            </a:pPr>
            <a:r>
              <a:rPr b="1" lang="en"/>
              <a:t>If a graph is k-connected there are at least k paths that don’t share other nodes connecting each non-adjacent pair of nodes</a:t>
            </a:r>
            <a:endParaRPr b="1"/>
          </a:p>
          <a:p>
            <a:pPr indent="0" lvl="0" marL="1371600" marR="0" rtl="0" algn="l">
              <a:lnSpc>
                <a:spcPct val="115000"/>
              </a:lnSpc>
              <a:spcBef>
                <a:spcPts val="0"/>
              </a:spcBef>
              <a:spcAft>
                <a:spcPts val="0"/>
              </a:spcAft>
              <a:buNone/>
            </a:pPr>
            <a:r>
              <a:t/>
            </a:r>
            <a:endParaRPr b="1">
              <a:solidFill>
                <a:srgbClr val="FF0000"/>
              </a:solidFill>
            </a:endParaRPr>
          </a:p>
          <a:p>
            <a:pPr indent="0" lvl="0" marL="0" rtl="0" algn="l">
              <a:spcBef>
                <a:spcPts val="1600"/>
              </a:spcBef>
              <a:spcAft>
                <a:spcPts val="0"/>
              </a:spcAft>
              <a:buNone/>
            </a:pPr>
            <a:r>
              <a:t/>
            </a:r>
            <a:endParaRPr/>
          </a:p>
        </p:txBody>
      </p:sp>
      <p:sp>
        <p:nvSpPr>
          <p:cNvPr id="5738" name="Google Shape;5738;p293"/>
          <p:cNvSpPr txBox="1"/>
          <p:nvPr/>
        </p:nvSpPr>
        <p:spPr>
          <a:xfrm>
            <a:off x="729025" y="3636425"/>
            <a:ext cx="41199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This means the two non-adjacent </a:t>
            </a:r>
            <a:r>
              <a:rPr b="1" lang="en">
                <a:solidFill>
                  <a:srgbClr val="38761D"/>
                </a:solidFill>
              </a:rPr>
              <a:t>green </a:t>
            </a:r>
            <a:r>
              <a:rPr b="1" lang="en"/>
              <a:t>nodes are indirectly connected in three separate (node-independent) ways!</a:t>
            </a:r>
            <a:endParaRPr b="1"/>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2" name="Shape 5742"/>
        <p:cNvGrpSpPr/>
        <p:nvPr/>
      </p:nvGrpSpPr>
      <p:grpSpPr>
        <a:xfrm>
          <a:off x="0" y="0"/>
          <a:ext cx="0" cy="0"/>
          <a:chOff x="0" y="0"/>
          <a:chExt cx="0" cy="0"/>
        </a:xfrm>
      </p:grpSpPr>
      <p:sp>
        <p:nvSpPr>
          <p:cNvPr id="5743" name="Google Shape;5743;p29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Menger’s Theorem</a:t>
            </a:r>
            <a:endParaRPr/>
          </a:p>
        </p:txBody>
      </p:sp>
      <p:sp>
        <p:nvSpPr>
          <p:cNvPr id="5744" name="Google Shape;5744;p294"/>
          <p:cNvSpPr/>
          <p:nvPr/>
        </p:nvSpPr>
        <p:spPr>
          <a:xfrm>
            <a:off x="5844988" y="2095088"/>
            <a:ext cx="171300" cy="171300"/>
          </a:xfrm>
          <a:prstGeom prst="ellipse">
            <a:avLst/>
          </a:prstGeom>
          <a:solidFill>
            <a:srgbClr val="38761D"/>
          </a:solid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294"/>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294"/>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294"/>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48" name="Google Shape;5748;p294"/>
          <p:cNvCxnSpPr>
            <a:stCxn id="5744" idx="3"/>
            <a:endCxn id="5745"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749" name="Google Shape;5749;p294"/>
          <p:cNvCxnSpPr>
            <a:stCxn id="5747" idx="1"/>
            <a:endCxn id="5745"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750" name="Google Shape;5750;p294"/>
          <p:cNvCxnSpPr>
            <a:stCxn id="5744" idx="4"/>
            <a:endCxn id="5747" idx="1"/>
          </p:cNvCxnSpPr>
          <p:nvPr/>
        </p:nvCxnSpPr>
        <p:spPr>
          <a:xfrm flipH="1">
            <a:off x="5900338" y="2266388"/>
            <a:ext cx="30300" cy="840900"/>
          </a:xfrm>
          <a:prstGeom prst="straightConnector1">
            <a:avLst/>
          </a:prstGeom>
          <a:noFill/>
          <a:ln cap="flat" cmpd="sng" w="38100">
            <a:solidFill>
              <a:srgbClr val="FF0000"/>
            </a:solidFill>
            <a:prstDash val="solid"/>
            <a:round/>
            <a:headEnd len="med" w="med" type="none"/>
            <a:tailEnd len="med" w="med" type="stealth"/>
          </a:ln>
        </p:spPr>
      </p:cxnSp>
      <p:cxnSp>
        <p:nvCxnSpPr>
          <p:cNvPr id="5751" name="Google Shape;5751;p294"/>
          <p:cNvCxnSpPr>
            <a:stCxn id="5744" idx="5"/>
            <a:endCxn id="5746"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752" name="Google Shape;5752;p294"/>
          <p:cNvCxnSpPr>
            <a:stCxn id="5746" idx="2"/>
            <a:endCxn id="5745"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753" name="Google Shape;5753;p294"/>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294"/>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294"/>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294"/>
          <p:cNvSpPr/>
          <p:nvPr/>
        </p:nvSpPr>
        <p:spPr>
          <a:xfrm>
            <a:off x="7246000" y="1494713"/>
            <a:ext cx="171300" cy="171300"/>
          </a:xfrm>
          <a:prstGeom prst="ellipse">
            <a:avLst/>
          </a:prstGeom>
          <a:solidFill>
            <a:srgbClr val="38761D"/>
          </a:solid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57" name="Google Shape;5757;p294"/>
          <p:cNvCxnSpPr>
            <a:stCxn id="5753" idx="3"/>
            <a:endCxn id="575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758" name="Google Shape;5758;p294"/>
          <p:cNvCxnSpPr>
            <a:stCxn id="5756" idx="0"/>
            <a:endCxn id="5754"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759" name="Google Shape;5759;p294"/>
          <p:cNvCxnSpPr>
            <a:stCxn id="5753" idx="5"/>
            <a:endCxn id="575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760" name="Google Shape;5760;p294"/>
          <p:cNvCxnSpPr>
            <a:stCxn id="5755" idx="2"/>
            <a:endCxn id="575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761" name="Google Shape;5761;p294"/>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62" name="Google Shape;5762;p294"/>
          <p:cNvCxnSpPr>
            <a:stCxn id="5761" idx="0"/>
            <a:endCxn id="5754"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763" name="Google Shape;5763;p294"/>
          <p:cNvCxnSpPr>
            <a:stCxn id="5755" idx="3"/>
            <a:endCxn id="5756" idx="6"/>
          </p:cNvCxnSpPr>
          <p:nvPr/>
        </p:nvCxnSpPr>
        <p:spPr>
          <a:xfrm flipH="1">
            <a:off x="7417161" y="1384201"/>
            <a:ext cx="789000" cy="196200"/>
          </a:xfrm>
          <a:prstGeom prst="straightConnector1">
            <a:avLst/>
          </a:prstGeom>
          <a:noFill/>
          <a:ln cap="flat" cmpd="sng" w="38100">
            <a:solidFill>
              <a:srgbClr val="FF0000"/>
            </a:solidFill>
            <a:prstDash val="solid"/>
            <a:round/>
            <a:headEnd len="med" w="med" type="none"/>
            <a:tailEnd len="med" w="med" type="stealth"/>
          </a:ln>
        </p:spPr>
      </p:cxnSp>
      <p:cxnSp>
        <p:nvCxnSpPr>
          <p:cNvPr id="5764" name="Google Shape;5764;p294"/>
          <p:cNvCxnSpPr>
            <a:stCxn id="5755" idx="3"/>
            <a:endCxn id="5761"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765" name="Google Shape;5765;p294"/>
          <p:cNvCxnSpPr>
            <a:stCxn id="5753" idx="4"/>
            <a:endCxn id="5761"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766" name="Google Shape;5766;p294"/>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294"/>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294"/>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69" name="Google Shape;5769;p294"/>
          <p:cNvCxnSpPr>
            <a:stCxn id="5766" idx="3"/>
            <a:endCxn id="576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770" name="Google Shape;5770;p294"/>
          <p:cNvCxnSpPr>
            <a:stCxn id="5766" idx="5"/>
            <a:endCxn id="5768" idx="1"/>
          </p:cNvCxnSpPr>
          <p:nvPr/>
        </p:nvCxnSpPr>
        <p:spPr>
          <a:xfrm>
            <a:off x="7890283" y="3247145"/>
            <a:ext cx="674700" cy="243900"/>
          </a:xfrm>
          <a:prstGeom prst="straightConnector1">
            <a:avLst/>
          </a:prstGeom>
          <a:noFill/>
          <a:ln cap="flat" cmpd="sng" w="38100">
            <a:solidFill>
              <a:srgbClr val="FF0000"/>
            </a:solidFill>
            <a:prstDash val="solid"/>
            <a:round/>
            <a:headEnd len="med" w="med" type="none"/>
            <a:tailEnd len="med" w="med" type="stealth"/>
          </a:ln>
        </p:spPr>
      </p:cxnSp>
      <p:cxnSp>
        <p:nvCxnSpPr>
          <p:cNvPr id="5771" name="Google Shape;5771;p294"/>
          <p:cNvCxnSpPr>
            <a:stCxn id="5768" idx="2"/>
            <a:endCxn id="5767"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772" name="Google Shape;5772;p294"/>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73" name="Google Shape;5773;p294"/>
          <p:cNvCxnSpPr>
            <a:stCxn id="5772" idx="2"/>
            <a:endCxn id="576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774" name="Google Shape;5774;p294"/>
          <p:cNvCxnSpPr>
            <a:stCxn id="5772" idx="0"/>
            <a:endCxn id="576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775" name="Google Shape;5775;p294"/>
          <p:cNvCxnSpPr>
            <a:stCxn id="5746" idx="5"/>
            <a:endCxn id="5767"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776" name="Google Shape;5776;p294"/>
          <p:cNvCxnSpPr>
            <a:stCxn id="5746" idx="7"/>
            <a:endCxn id="5756"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777" name="Google Shape;5777;p294"/>
          <p:cNvCxnSpPr>
            <a:stCxn id="5761" idx="3"/>
            <a:endCxn id="5766"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778" name="Google Shape;5778;p294"/>
          <p:cNvCxnSpPr>
            <a:stCxn id="5755" idx="4"/>
            <a:endCxn id="5768" idx="0"/>
          </p:cNvCxnSpPr>
          <p:nvPr/>
        </p:nvCxnSpPr>
        <p:spPr>
          <a:xfrm>
            <a:off x="8266725" y="1409288"/>
            <a:ext cx="345600" cy="2036400"/>
          </a:xfrm>
          <a:prstGeom prst="straightConnector1">
            <a:avLst/>
          </a:prstGeom>
          <a:noFill/>
          <a:ln cap="flat" cmpd="sng" w="38100">
            <a:solidFill>
              <a:srgbClr val="FF0000"/>
            </a:solidFill>
            <a:prstDash val="solid"/>
            <a:round/>
            <a:headEnd len="med" w="med" type="stealth"/>
            <a:tailEnd len="med" w="med" type="none"/>
          </a:ln>
        </p:spPr>
      </p:cxnSp>
      <p:cxnSp>
        <p:nvCxnSpPr>
          <p:cNvPr id="5779" name="Google Shape;5779;p294"/>
          <p:cNvCxnSpPr>
            <a:stCxn id="5744" idx="6"/>
            <a:endCxn id="5761"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780" name="Google Shape;5780;p294"/>
          <p:cNvCxnSpPr>
            <a:stCxn id="5747" idx="6"/>
            <a:endCxn id="5766" idx="1"/>
          </p:cNvCxnSpPr>
          <p:nvPr/>
        </p:nvCxnSpPr>
        <p:spPr>
          <a:xfrm>
            <a:off x="6046588" y="3167788"/>
            <a:ext cx="1686600" cy="10500"/>
          </a:xfrm>
          <a:prstGeom prst="straightConnector1">
            <a:avLst/>
          </a:prstGeom>
          <a:noFill/>
          <a:ln cap="flat" cmpd="sng" w="38100">
            <a:solidFill>
              <a:srgbClr val="FF0000"/>
            </a:solidFill>
            <a:prstDash val="solid"/>
            <a:round/>
            <a:headEnd len="med" w="med" type="none"/>
            <a:tailEnd len="med" w="med" type="stealth"/>
          </a:ln>
        </p:spPr>
      </p:cxnSp>
      <p:grpSp>
        <p:nvGrpSpPr>
          <p:cNvPr id="5781" name="Google Shape;5781;p294"/>
          <p:cNvGrpSpPr/>
          <p:nvPr/>
        </p:nvGrpSpPr>
        <p:grpSpPr>
          <a:xfrm>
            <a:off x="7426813" y="3603880"/>
            <a:ext cx="1182300" cy="1066200"/>
            <a:chOff x="7426813" y="3603880"/>
            <a:chExt cx="1182300" cy="1066200"/>
          </a:xfrm>
        </p:grpSpPr>
        <p:sp>
          <p:nvSpPr>
            <p:cNvPr id="5782" name="Google Shape;5782;p294"/>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83" name="Google Shape;5783;p294"/>
            <p:cNvCxnSpPr>
              <a:stCxn id="5782"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784" name="Google Shape;5784;p294"/>
            <p:cNvCxnSpPr>
              <a:endCxn id="5782"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785" name="Google Shape;5785;p294"/>
            <p:cNvCxnSpPr>
              <a:stCxn id="5782"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786" name="Google Shape;5786;p294"/>
          <p:cNvSpPr txBox="1"/>
          <p:nvPr/>
        </p:nvSpPr>
        <p:spPr>
          <a:xfrm>
            <a:off x="6016300" y="1147225"/>
            <a:ext cx="476400" cy="48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Open Sans"/>
                <a:ea typeface="Open Sans"/>
                <a:cs typeface="Open Sans"/>
                <a:sym typeface="Open Sans"/>
              </a:rPr>
              <a:t>3</a:t>
            </a:r>
            <a:endParaRPr b="1" sz="1800">
              <a:solidFill>
                <a:srgbClr val="FF0000"/>
              </a:solidFill>
              <a:latin typeface="Open Sans"/>
              <a:ea typeface="Open Sans"/>
              <a:cs typeface="Open Sans"/>
              <a:sym typeface="Open Sans"/>
            </a:endParaRPr>
          </a:p>
        </p:txBody>
      </p:sp>
      <p:sp>
        <p:nvSpPr>
          <p:cNvPr id="5787" name="Google Shape;5787;p294"/>
          <p:cNvSpPr txBox="1"/>
          <p:nvPr>
            <p:ph idx="1" type="body"/>
          </p:nvPr>
        </p:nvSpPr>
        <p:spPr>
          <a:xfrm>
            <a:off x="311700" y="1225225"/>
            <a:ext cx="4290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Menger’s theorem states that:</a:t>
            </a:r>
            <a:endParaRPr/>
          </a:p>
          <a:p>
            <a:pPr indent="-317500" lvl="1" marL="914400" rtl="0" algn="l">
              <a:spcBef>
                <a:spcPts val="0"/>
              </a:spcBef>
              <a:spcAft>
                <a:spcPts val="0"/>
              </a:spcAft>
              <a:buSzPts val="1400"/>
              <a:buChar char="○"/>
            </a:pPr>
            <a:r>
              <a:rPr b="1" lang="en"/>
              <a:t>If a graph is k-connected there are at least k paths that don’t share other nodes connecting each non-adjacent pair of nodes</a:t>
            </a:r>
            <a:endParaRPr b="1"/>
          </a:p>
          <a:p>
            <a:pPr indent="0" lvl="0" marL="1371600" marR="0" rtl="0" algn="l">
              <a:lnSpc>
                <a:spcPct val="115000"/>
              </a:lnSpc>
              <a:spcBef>
                <a:spcPts val="0"/>
              </a:spcBef>
              <a:spcAft>
                <a:spcPts val="0"/>
              </a:spcAft>
              <a:buNone/>
            </a:pPr>
            <a:r>
              <a:t/>
            </a:r>
            <a:endParaRPr b="1">
              <a:solidFill>
                <a:srgbClr val="FF0000"/>
              </a:solidFill>
            </a:endParaRPr>
          </a:p>
          <a:p>
            <a:pPr indent="0" lvl="0" marL="0" rtl="0" algn="l">
              <a:spcBef>
                <a:spcPts val="1600"/>
              </a:spcBef>
              <a:spcAft>
                <a:spcPts val="0"/>
              </a:spcAft>
              <a:buNone/>
            </a:pPr>
            <a:r>
              <a:t/>
            </a:r>
            <a:endParaRPr/>
          </a:p>
        </p:txBody>
      </p:sp>
      <p:sp>
        <p:nvSpPr>
          <p:cNvPr id="5788" name="Google Shape;5788;p294"/>
          <p:cNvSpPr txBox="1"/>
          <p:nvPr/>
        </p:nvSpPr>
        <p:spPr>
          <a:xfrm>
            <a:off x="729025" y="3636425"/>
            <a:ext cx="41199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This </a:t>
            </a:r>
            <a:r>
              <a:rPr b="1" lang="en"/>
              <a:t>means the two non-adjacent </a:t>
            </a:r>
            <a:r>
              <a:rPr b="1" lang="en">
                <a:solidFill>
                  <a:srgbClr val="38761D"/>
                </a:solidFill>
              </a:rPr>
              <a:t>green </a:t>
            </a:r>
            <a:r>
              <a:rPr b="1" lang="en"/>
              <a:t>nodes are indirectly connected in three separate (node-independent) ways!</a:t>
            </a:r>
            <a:endParaRPr b="1"/>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2" name="Shape 5792"/>
        <p:cNvGrpSpPr/>
        <p:nvPr/>
      </p:nvGrpSpPr>
      <p:grpSpPr>
        <a:xfrm>
          <a:off x="0" y="0"/>
          <a:ext cx="0" cy="0"/>
          <a:chOff x="0" y="0"/>
          <a:chExt cx="0" cy="0"/>
        </a:xfrm>
      </p:grpSpPr>
      <p:sp>
        <p:nvSpPr>
          <p:cNvPr id="5793" name="Google Shape;5793;p29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Menger’s Theorem</a:t>
            </a:r>
            <a:endParaRPr/>
          </a:p>
        </p:txBody>
      </p:sp>
      <p:sp>
        <p:nvSpPr>
          <p:cNvPr id="5794" name="Google Shape;5794;p295"/>
          <p:cNvSpPr/>
          <p:nvPr/>
        </p:nvSpPr>
        <p:spPr>
          <a:xfrm>
            <a:off x="5844988" y="2095088"/>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295"/>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295"/>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295"/>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8" name="Google Shape;5798;p295"/>
          <p:cNvCxnSpPr>
            <a:stCxn id="5794" idx="3"/>
            <a:endCxn id="5795"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799" name="Google Shape;5799;p295"/>
          <p:cNvCxnSpPr>
            <a:stCxn id="5797" idx="1"/>
            <a:endCxn id="5795"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800" name="Google Shape;5800;p295"/>
          <p:cNvCxnSpPr>
            <a:stCxn id="5794" idx="4"/>
            <a:endCxn id="5797"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801" name="Google Shape;5801;p295"/>
          <p:cNvCxnSpPr>
            <a:stCxn id="5794" idx="5"/>
            <a:endCxn id="5796"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802" name="Google Shape;5802;p295"/>
          <p:cNvCxnSpPr>
            <a:stCxn id="5796" idx="2"/>
            <a:endCxn id="5795"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803" name="Google Shape;5803;p295"/>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295"/>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295"/>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295"/>
          <p:cNvSpPr/>
          <p:nvPr/>
        </p:nvSpPr>
        <p:spPr>
          <a:xfrm>
            <a:off x="7246000" y="1494713"/>
            <a:ext cx="171300" cy="171300"/>
          </a:xfrm>
          <a:prstGeom prst="ellipse">
            <a:avLst/>
          </a:prstGeom>
          <a:solidFill>
            <a:srgbClr val="38761D"/>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07" name="Google Shape;5807;p295"/>
          <p:cNvCxnSpPr>
            <a:stCxn id="5803" idx="3"/>
            <a:endCxn id="580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808" name="Google Shape;5808;p295"/>
          <p:cNvCxnSpPr>
            <a:stCxn id="5806" idx="0"/>
            <a:endCxn id="5804"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809" name="Google Shape;5809;p295"/>
          <p:cNvCxnSpPr>
            <a:stCxn id="5803" idx="5"/>
            <a:endCxn id="580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810" name="Google Shape;5810;p295"/>
          <p:cNvCxnSpPr>
            <a:stCxn id="5805" idx="2"/>
            <a:endCxn id="580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811" name="Google Shape;5811;p295"/>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12" name="Google Shape;5812;p295"/>
          <p:cNvCxnSpPr>
            <a:stCxn id="5811" idx="0"/>
            <a:endCxn id="5804"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813" name="Google Shape;5813;p295"/>
          <p:cNvCxnSpPr>
            <a:stCxn id="5805" idx="3"/>
            <a:endCxn id="5806"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814" name="Google Shape;5814;p295"/>
          <p:cNvCxnSpPr>
            <a:stCxn id="5805" idx="3"/>
            <a:endCxn id="5811"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815" name="Google Shape;5815;p295"/>
          <p:cNvCxnSpPr>
            <a:stCxn id="5803" idx="4"/>
            <a:endCxn id="5811"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816" name="Google Shape;5816;p295"/>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295"/>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295"/>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19" name="Google Shape;5819;p295"/>
          <p:cNvCxnSpPr>
            <a:stCxn id="5816" idx="3"/>
            <a:endCxn id="581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820" name="Google Shape;5820;p295"/>
          <p:cNvCxnSpPr>
            <a:stCxn id="5816" idx="5"/>
            <a:endCxn id="5818"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821" name="Google Shape;5821;p295"/>
          <p:cNvCxnSpPr>
            <a:stCxn id="5818" idx="2"/>
            <a:endCxn id="5817"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822" name="Google Shape;5822;p295"/>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23" name="Google Shape;5823;p295"/>
          <p:cNvCxnSpPr>
            <a:stCxn id="5822" idx="2"/>
            <a:endCxn id="581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824" name="Google Shape;5824;p295"/>
          <p:cNvCxnSpPr>
            <a:stCxn id="5822" idx="0"/>
            <a:endCxn id="581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825" name="Google Shape;5825;p295"/>
          <p:cNvCxnSpPr>
            <a:stCxn id="5796" idx="5"/>
            <a:endCxn id="5817"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826" name="Google Shape;5826;p295"/>
          <p:cNvCxnSpPr>
            <a:stCxn id="5796" idx="7"/>
            <a:endCxn id="5806"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827" name="Google Shape;5827;p295"/>
          <p:cNvCxnSpPr>
            <a:stCxn id="5811" idx="3"/>
            <a:endCxn id="5816"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828" name="Google Shape;5828;p295"/>
          <p:cNvCxnSpPr>
            <a:stCxn id="5805" idx="4"/>
            <a:endCxn id="5818"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829" name="Google Shape;5829;p295"/>
          <p:cNvCxnSpPr>
            <a:stCxn id="5794" idx="6"/>
            <a:endCxn id="5811"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830" name="Google Shape;5830;p295"/>
          <p:cNvCxnSpPr>
            <a:stCxn id="5797" idx="6"/>
            <a:endCxn id="5816"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831" name="Google Shape;5831;p295"/>
          <p:cNvGrpSpPr/>
          <p:nvPr/>
        </p:nvGrpSpPr>
        <p:grpSpPr>
          <a:xfrm>
            <a:off x="7426813" y="3603880"/>
            <a:ext cx="1182300" cy="1066200"/>
            <a:chOff x="7426813" y="3603880"/>
            <a:chExt cx="1182300" cy="1066200"/>
          </a:xfrm>
        </p:grpSpPr>
        <p:sp>
          <p:nvSpPr>
            <p:cNvPr id="5832" name="Google Shape;5832;p295"/>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33" name="Google Shape;5833;p295"/>
            <p:cNvCxnSpPr>
              <a:stCxn id="5832"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834" name="Google Shape;5834;p295"/>
            <p:cNvCxnSpPr>
              <a:endCxn id="5832"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835" name="Google Shape;5835;p295"/>
            <p:cNvCxnSpPr>
              <a:stCxn id="5832"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
        <p:nvSpPr>
          <p:cNvPr id="5836" name="Google Shape;5836;p295"/>
          <p:cNvSpPr txBox="1"/>
          <p:nvPr>
            <p:ph idx="1" type="body"/>
          </p:nvPr>
        </p:nvSpPr>
        <p:spPr>
          <a:xfrm>
            <a:off x="311700" y="1225225"/>
            <a:ext cx="4290300" cy="23313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Menger’s theorem states that:</a:t>
            </a:r>
            <a:endParaRPr/>
          </a:p>
          <a:p>
            <a:pPr indent="-317500" lvl="1" marL="914400" marR="0" rtl="0" algn="l">
              <a:lnSpc>
                <a:spcPct val="115000"/>
              </a:lnSpc>
              <a:spcBef>
                <a:spcPts val="0"/>
              </a:spcBef>
              <a:spcAft>
                <a:spcPts val="0"/>
              </a:spcAft>
              <a:buSzPts val="1400"/>
              <a:buChar char="○"/>
            </a:pPr>
            <a:r>
              <a:rPr b="1" lang="en"/>
              <a:t>If a graph is k-connected there are at least k paths that don’t share other nodes connecting each non-adjacent pair of nodes</a:t>
            </a:r>
            <a:endParaRPr b="1"/>
          </a:p>
          <a:p>
            <a:pPr indent="0" lvl="0" marL="1371600" marR="0" rtl="0" algn="l">
              <a:lnSpc>
                <a:spcPct val="115000"/>
              </a:lnSpc>
              <a:spcBef>
                <a:spcPts val="1600"/>
              </a:spcBef>
              <a:spcAft>
                <a:spcPts val="0"/>
              </a:spcAft>
              <a:buNone/>
            </a:pPr>
            <a:r>
              <a:t/>
            </a:r>
            <a:endParaRPr b="1">
              <a:solidFill>
                <a:srgbClr val="FF0000"/>
              </a:solidFill>
            </a:endParaRPr>
          </a:p>
          <a:p>
            <a:pPr indent="0" lvl="0" marL="0" rtl="0" algn="l">
              <a:spcBef>
                <a:spcPts val="1600"/>
              </a:spcBef>
              <a:spcAft>
                <a:spcPts val="0"/>
              </a:spcAft>
              <a:buNone/>
            </a:pPr>
            <a:r>
              <a:t/>
            </a:r>
            <a:endParaRPr/>
          </a:p>
        </p:txBody>
      </p:sp>
      <p:sp>
        <p:nvSpPr>
          <p:cNvPr id="5837" name="Google Shape;5837;p295"/>
          <p:cNvSpPr txBox="1"/>
          <p:nvPr/>
        </p:nvSpPr>
        <p:spPr>
          <a:xfrm>
            <a:off x="729025" y="3636425"/>
            <a:ext cx="41199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This is an important result in graph theory!</a:t>
            </a:r>
            <a:endParaRPr b="1">
              <a:solidFill>
                <a:srgbClr val="FF0000"/>
              </a:solidFill>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1" name="Shape 5841"/>
        <p:cNvGrpSpPr/>
        <p:nvPr/>
      </p:nvGrpSpPr>
      <p:grpSpPr>
        <a:xfrm>
          <a:off x="0" y="0"/>
          <a:ext cx="0" cy="0"/>
          <a:chOff x="0" y="0"/>
          <a:chExt cx="0" cy="0"/>
        </a:xfrm>
      </p:grpSpPr>
      <p:sp>
        <p:nvSpPr>
          <p:cNvPr id="5842" name="Google Shape;5842;p29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843" name="Google Shape;5843;p296"/>
          <p:cNvSpPr txBox="1"/>
          <p:nvPr>
            <p:ph idx="1" type="body"/>
          </p:nvPr>
        </p:nvSpPr>
        <p:spPr>
          <a:xfrm>
            <a:off x="311700" y="1225225"/>
            <a:ext cx="4692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K-connectivity (graph theory) can represent  concept of </a:t>
            </a:r>
            <a:r>
              <a:rPr b="1" lang="en"/>
              <a:t>social</a:t>
            </a:r>
            <a:r>
              <a:rPr lang="en"/>
              <a:t> </a:t>
            </a:r>
            <a:r>
              <a:rPr b="1" lang="en"/>
              <a:t>cohesion</a:t>
            </a:r>
            <a:r>
              <a:rPr lang="en"/>
              <a:t> (network theory):</a:t>
            </a:r>
            <a:endParaRPr/>
          </a:p>
          <a:p>
            <a:pPr indent="-317500" lvl="1" marL="914400" rtl="0" algn="l">
              <a:spcBef>
                <a:spcPts val="0"/>
              </a:spcBef>
              <a:spcAft>
                <a:spcPts val="0"/>
              </a:spcAft>
              <a:buSzPts val="1400"/>
              <a:buChar char="○"/>
            </a:pPr>
            <a:r>
              <a:rPr lang="en"/>
              <a:t>The </a:t>
            </a:r>
            <a:r>
              <a:rPr b="1" lang="en"/>
              <a:t>larger</a:t>
            </a:r>
            <a:r>
              <a:rPr lang="en"/>
              <a:t> the (edge, node) cutset the </a:t>
            </a:r>
            <a:r>
              <a:rPr b="1" lang="en"/>
              <a:t>more</a:t>
            </a:r>
            <a:r>
              <a:rPr lang="en"/>
              <a:t> </a:t>
            </a:r>
            <a:r>
              <a:rPr b="1" lang="en"/>
              <a:t>cohesive</a:t>
            </a:r>
            <a:r>
              <a:rPr lang="en"/>
              <a:t> (integrated) groups are with one another</a:t>
            </a:r>
            <a:endParaRPr/>
          </a:p>
          <a:p>
            <a:pPr indent="-317500" lvl="1" marL="914400" rtl="0" algn="l">
              <a:spcBef>
                <a:spcPts val="0"/>
              </a:spcBef>
              <a:spcAft>
                <a:spcPts val="0"/>
              </a:spcAft>
              <a:buSzPts val="1400"/>
              <a:buChar char="○"/>
            </a:pPr>
            <a:r>
              <a:rPr lang="en"/>
              <a:t>The </a:t>
            </a:r>
            <a:r>
              <a:rPr b="1" lang="en"/>
              <a:t>smaller</a:t>
            </a:r>
            <a:r>
              <a:rPr lang="en"/>
              <a:t> the (edge, node) cutset the less cohesive and more potentially </a:t>
            </a:r>
            <a:r>
              <a:rPr b="1" lang="en"/>
              <a:t>fragmented</a:t>
            </a:r>
            <a:r>
              <a:rPr lang="en"/>
              <a:t> the group structure is</a:t>
            </a:r>
            <a:endParaRPr/>
          </a:p>
        </p:txBody>
      </p:sp>
      <p:sp>
        <p:nvSpPr>
          <p:cNvPr id="5844" name="Google Shape;5844;p296"/>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296"/>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296"/>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296"/>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48" name="Google Shape;5848;p296"/>
          <p:cNvCxnSpPr>
            <a:stCxn id="5844" idx="3"/>
            <a:endCxn id="5845"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849" name="Google Shape;5849;p296"/>
          <p:cNvCxnSpPr>
            <a:stCxn id="5847" idx="1"/>
            <a:endCxn id="5845"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850" name="Google Shape;5850;p296"/>
          <p:cNvCxnSpPr>
            <a:stCxn id="5844" idx="4"/>
            <a:endCxn id="5847"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851" name="Google Shape;5851;p296"/>
          <p:cNvCxnSpPr>
            <a:stCxn id="5844" idx="5"/>
            <a:endCxn id="5846"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852" name="Google Shape;5852;p296"/>
          <p:cNvCxnSpPr>
            <a:stCxn id="5846" idx="2"/>
            <a:endCxn id="5845"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853" name="Google Shape;5853;p296"/>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296"/>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296"/>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296"/>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7" name="Google Shape;5857;p296"/>
          <p:cNvCxnSpPr>
            <a:stCxn id="5853" idx="3"/>
            <a:endCxn id="5854"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858" name="Google Shape;5858;p296"/>
          <p:cNvCxnSpPr>
            <a:stCxn id="5856" idx="0"/>
            <a:endCxn id="5854"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859" name="Google Shape;5859;p296"/>
          <p:cNvCxnSpPr>
            <a:stCxn id="5853" idx="5"/>
            <a:endCxn id="5855"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860" name="Google Shape;5860;p296"/>
          <p:cNvCxnSpPr>
            <a:stCxn id="5855" idx="2"/>
            <a:endCxn id="5854"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861" name="Google Shape;5861;p296"/>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2" name="Google Shape;5862;p296"/>
          <p:cNvCxnSpPr>
            <a:stCxn id="5861" idx="0"/>
            <a:endCxn id="5854"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863" name="Google Shape;5863;p296"/>
          <p:cNvCxnSpPr>
            <a:stCxn id="5855" idx="3"/>
            <a:endCxn id="5856"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864" name="Google Shape;5864;p296"/>
          <p:cNvCxnSpPr>
            <a:stCxn id="5855" idx="3"/>
            <a:endCxn id="5861"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865" name="Google Shape;5865;p296"/>
          <p:cNvCxnSpPr>
            <a:stCxn id="5853" idx="4"/>
            <a:endCxn id="5861"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866" name="Google Shape;5866;p296"/>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296"/>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296"/>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9" name="Google Shape;5869;p296"/>
          <p:cNvCxnSpPr>
            <a:stCxn id="5866" idx="3"/>
            <a:endCxn id="5867"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870" name="Google Shape;5870;p296"/>
          <p:cNvCxnSpPr>
            <a:stCxn id="5866" idx="5"/>
            <a:endCxn id="5868"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871" name="Google Shape;5871;p296"/>
          <p:cNvCxnSpPr>
            <a:stCxn id="5868" idx="2"/>
            <a:endCxn id="5867"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872" name="Google Shape;5872;p296"/>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3" name="Google Shape;5873;p296"/>
          <p:cNvCxnSpPr>
            <a:stCxn id="5872" idx="2"/>
            <a:endCxn id="5867"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874" name="Google Shape;5874;p296"/>
          <p:cNvCxnSpPr>
            <a:stCxn id="5872" idx="0"/>
            <a:endCxn id="5866"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875" name="Google Shape;5875;p296"/>
          <p:cNvCxnSpPr>
            <a:stCxn id="5846" idx="5"/>
            <a:endCxn id="5867"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876" name="Google Shape;5876;p296"/>
          <p:cNvCxnSpPr>
            <a:stCxn id="5846" idx="7"/>
            <a:endCxn id="5856"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877" name="Google Shape;5877;p296"/>
          <p:cNvCxnSpPr>
            <a:stCxn id="5861" idx="3"/>
            <a:endCxn id="5866"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878" name="Google Shape;5878;p296"/>
          <p:cNvCxnSpPr>
            <a:stCxn id="5855" idx="4"/>
            <a:endCxn id="5868"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879" name="Google Shape;5879;p296"/>
          <p:cNvCxnSpPr>
            <a:stCxn id="5844" idx="6"/>
            <a:endCxn id="5861"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880" name="Google Shape;5880;p296"/>
          <p:cNvCxnSpPr>
            <a:stCxn id="5847" idx="6"/>
            <a:endCxn id="5866"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881" name="Google Shape;5881;p296"/>
          <p:cNvGrpSpPr/>
          <p:nvPr/>
        </p:nvGrpSpPr>
        <p:grpSpPr>
          <a:xfrm>
            <a:off x="7426813" y="3603880"/>
            <a:ext cx="1182300" cy="1066200"/>
            <a:chOff x="7426813" y="3603880"/>
            <a:chExt cx="1182300" cy="1066200"/>
          </a:xfrm>
        </p:grpSpPr>
        <p:sp>
          <p:nvSpPr>
            <p:cNvPr id="5882" name="Google Shape;5882;p296"/>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83" name="Google Shape;5883;p296"/>
            <p:cNvCxnSpPr>
              <a:stCxn id="5882"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884" name="Google Shape;5884;p296"/>
            <p:cNvCxnSpPr>
              <a:endCxn id="5882"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885" name="Google Shape;5885;p296"/>
            <p:cNvCxnSpPr>
              <a:stCxn id="5882"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9" name="Shape 5889"/>
        <p:cNvGrpSpPr/>
        <p:nvPr/>
      </p:nvGrpSpPr>
      <p:grpSpPr>
        <a:xfrm>
          <a:off x="0" y="0"/>
          <a:ext cx="0" cy="0"/>
          <a:chOff x="0" y="0"/>
          <a:chExt cx="0" cy="0"/>
        </a:xfrm>
      </p:grpSpPr>
      <p:sp>
        <p:nvSpPr>
          <p:cNvPr id="5890" name="Google Shape;5890;p29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
        <p:nvSpPr>
          <p:cNvPr id="5891" name="Google Shape;5891;p297"/>
          <p:cNvSpPr txBox="1"/>
          <p:nvPr>
            <p:ph idx="1" type="body"/>
          </p:nvPr>
        </p:nvSpPr>
        <p:spPr>
          <a:xfrm>
            <a:off x="311700" y="1225225"/>
            <a:ext cx="4692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K-connectivity (graph theory) can represent  concept of </a:t>
            </a:r>
            <a:r>
              <a:rPr b="1" lang="en"/>
              <a:t>social</a:t>
            </a:r>
            <a:r>
              <a:rPr lang="en"/>
              <a:t> </a:t>
            </a:r>
            <a:r>
              <a:rPr b="1" lang="en"/>
              <a:t>cohesion</a:t>
            </a:r>
            <a:r>
              <a:rPr lang="en"/>
              <a:t> (network theory):</a:t>
            </a:r>
            <a:endParaRPr/>
          </a:p>
          <a:p>
            <a:pPr indent="-317500" lvl="1" marL="914400" rtl="0" algn="l">
              <a:spcBef>
                <a:spcPts val="0"/>
              </a:spcBef>
              <a:spcAft>
                <a:spcPts val="0"/>
              </a:spcAft>
              <a:buSzPts val="1400"/>
              <a:buChar char="○"/>
            </a:pPr>
            <a:r>
              <a:rPr lang="en"/>
              <a:t>The </a:t>
            </a:r>
            <a:r>
              <a:rPr b="1" lang="en"/>
              <a:t>more k-connectivity </a:t>
            </a:r>
            <a:r>
              <a:rPr lang="en"/>
              <a:t>the </a:t>
            </a:r>
            <a:r>
              <a:rPr b="1" lang="en"/>
              <a:t>more</a:t>
            </a:r>
            <a:r>
              <a:rPr lang="en"/>
              <a:t> </a:t>
            </a:r>
            <a:r>
              <a:rPr b="1" lang="en"/>
              <a:t>cohesive (integrated)</a:t>
            </a:r>
            <a:r>
              <a:rPr lang="en"/>
              <a:t> the group</a:t>
            </a:r>
            <a:endParaRPr/>
          </a:p>
          <a:p>
            <a:pPr indent="-317500" lvl="2" marL="1371600" rtl="0" algn="l">
              <a:spcBef>
                <a:spcPts val="0"/>
              </a:spcBef>
              <a:spcAft>
                <a:spcPts val="0"/>
              </a:spcAft>
              <a:buSzPts val="1400"/>
              <a:buChar char="■"/>
            </a:pPr>
            <a:r>
              <a:rPr lang="en"/>
              <a:t>More people would have to be removed to disrupt the group</a:t>
            </a:r>
            <a:endParaRPr/>
          </a:p>
          <a:p>
            <a:pPr indent="-317500" lvl="1" marL="914400" rtl="0" algn="l">
              <a:spcBef>
                <a:spcPts val="0"/>
              </a:spcBef>
              <a:spcAft>
                <a:spcPts val="0"/>
              </a:spcAft>
              <a:buSzPts val="1400"/>
              <a:buChar char="○"/>
            </a:pPr>
            <a:r>
              <a:rPr b="1" lang="en"/>
              <a:t>Any graph can be split into subgraphs with any given level of k-connectivity</a:t>
            </a:r>
            <a:endParaRPr b="1"/>
          </a:p>
          <a:p>
            <a:pPr indent="0" lvl="0" marL="914400" rtl="0" algn="l">
              <a:spcBef>
                <a:spcPts val="0"/>
              </a:spcBef>
              <a:spcAft>
                <a:spcPts val="0"/>
              </a:spcAft>
              <a:buNone/>
            </a:pPr>
            <a:r>
              <a:t/>
            </a:r>
            <a:endParaRPr/>
          </a:p>
        </p:txBody>
      </p:sp>
      <p:sp>
        <p:nvSpPr>
          <p:cNvPr id="5892" name="Google Shape;5892;p297"/>
          <p:cNvSpPr/>
          <p:nvPr/>
        </p:nvSpPr>
        <p:spPr>
          <a:xfrm>
            <a:off x="5844988" y="20950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297"/>
          <p:cNvSpPr/>
          <p:nvPr/>
        </p:nvSpPr>
        <p:spPr>
          <a:xfrm>
            <a:off x="5370463" y="2640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297"/>
          <p:cNvSpPr/>
          <p:nvPr/>
        </p:nvSpPr>
        <p:spPr>
          <a:xfrm>
            <a:off x="6370588" y="2529613"/>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297"/>
          <p:cNvSpPr/>
          <p:nvPr/>
        </p:nvSpPr>
        <p:spPr>
          <a:xfrm>
            <a:off x="5875288" y="308213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96" name="Google Shape;5896;p297"/>
          <p:cNvCxnSpPr>
            <a:stCxn id="5892" idx="3"/>
            <a:endCxn id="5893" idx="7"/>
          </p:cNvCxnSpPr>
          <p:nvPr/>
        </p:nvCxnSpPr>
        <p:spPr>
          <a:xfrm flipH="1">
            <a:off x="5516674" y="2241301"/>
            <a:ext cx="353400" cy="424800"/>
          </a:xfrm>
          <a:prstGeom prst="straightConnector1">
            <a:avLst/>
          </a:prstGeom>
          <a:noFill/>
          <a:ln cap="flat" cmpd="sng" w="19050">
            <a:solidFill>
              <a:srgbClr val="666666"/>
            </a:solidFill>
            <a:prstDash val="solid"/>
            <a:round/>
            <a:headEnd len="med" w="med" type="none"/>
            <a:tailEnd len="med" w="med" type="none"/>
          </a:ln>
        </p:spPr>
      </p:cxnSp>
      <p:cxnSp>
        <p:nvCxnSpPr>
          <p:cNvPr id="5897" name="Google Shape;5897;p297"/>
          <p:cNvCxnSpPr>
            <a:stCxn id="5895" idx="1"/>
            <a:endCxn id="5893" idx="5"/>
          </p:cNvCxnSpPr>
          <p:nvPr/>
        </p:nvCxnSpPr>
        <p:spPr>
          <a:xfrm rot="10800000">
            <a:off x="5516674" y="2787124"/>
            <a:ext cx="383700" cy="320100"/>
          </a:xfrm>
          <a:prstGeom prst="straightConnector1">
            <a:avLst/>
          </a:prstGeom>
          <a:noFill/>
          <a:ln cap="flat" cmpd="sng" w="19050">
            <a:solidFill>
              <a:srgbClr val="666666"/>
            </a:solidFill>
            <a:prstDash val="solid"/>
            <a:round/>
            <a:headEnd len="med" w="med" type="none"/>
            <a:tailEnd len="med" w="med" type="none"/>
          </a:ln>
        </p:spPr>
      </p:cxnSp>
      <p:cxnSp>
        <p:nvCxnSpPr>
          <p:cNvPr id="5898" name="Google Shape;5898;p297"/>
          <p:cNvCxnSpPr>
            <a:stCxn id="5892" idx="4"/>
            <a:endCxn id="5895" idx="1"/>
          </p:cNvCxnSpPr>
          <p:nvPr/>
        </p:nvCxnSpPr>
        <p:spPr>
          <a:xfrm flipH="1">
            <a:off x="5900338" y="2266388"/>
            <a:ext cx="30300" cy="840900"/>
          </a:xfrm>
          <a:prstGeom prst="straightConnector1">
            <a:avLst/>
          </a:prstGeom>
          <a:noFill/>
          <a:ln cap="flat" cmpd="sng" w="19050">
            <a:solidFill>
              <a:srgbClr val="666666"/>
            </a:solidFill>
            <a:prstDash val="solid"/>
            <a:round/>
            <a:headEnd len="med" w="med" type="none"/>
            <a:tailEnd len="med" w="med" type="none"/>
          </a:ln>
        </p:spPr>
      </p:cxnSp>
      <p:cxnSp>
        <p:nvCxnSpPr>
          <p:cNvPr id="5899" name="Google Shape;5899;p297"/>
          <p:cNvCxnSpPr>
            <a:stCxn id="5892" idx="5"/>
            <a:endCxn id="5894" idx="1"/>
          </p:cNvCxnSpPr>
          <p:nvPr/>
        </p:nvCxnSpPr>
        <p:spPr>
          <a:xfrm>
            <a:off x="5991201" y="2241301"/>
            <a:ext cx="404400" cy="313500"/>
          </a:xfrm>
          <a:prstGeom prst="straightConnector1">
            <a:avLst/>
          </a:prstGeom>
          <a:noFill/>
          <a:ln cap="flat" cmpd="sng" w="19050">
            <a:solidFill>
              <a:srgbClr val="666666"/>
            </a:solidFill>
            <a:prstDash val="solid"/>
            <a:round/>
            <a:headEnd len="med" w="med" type="none"/>
            <a:tailEnd len="med" w="med" type="none"/>
          </a:ln>
        </p:spPr>
      </p:cxnSp>
      <p:cxnSp>
        <p:nvCxnSpPr>
          <p:cNvPr id="5900" name="Google Shape;5900;p297"/>
          <p:cNvCxnSpPr>
            <a:stCxn id="5894" idx="2"/>
            <a:endCxn id="5893" idx="6"/>
          </p:cNvCxnSpPr>
          <p:nvPr/>
        </p:nvCxnSpPr>
        <p:spPr>
          <a:xfrm flipH="1">
            <a:off x="5541688" y="2615263"/>
            <a:ext cx="828900" cy="111300"/>
          </a:xfrm>
          <a:prstGeom prst="straightConnector1">
            <a:avLst/>
          </a:prstGeom>
          <a:noFill/>
          <a:ln cap="flat" cmpd="sng" w="19050">
            <a:solidFill>
              <a:srgbClr val="666666"/>
            </a:solidFill>
            <a:prstDash val="solid"/>
            <a:round/>
            <a:headEnd len="med" w="med" type="none"/>
            <a:tailEnd len="med" w="med" type="none"/>
          </a:ln>
        </p:spPr>
      </p:cxnSp>
      <p:sp>
        <p:nvSpPr>
          <p:cNvPr id="5901" name="Google Shape;5901;p297"/>
          <p:cNvSpPr/>
          <p:nvPr/>
        </p:nvSpPr>
        <p:spPr>
          <a:xfrm>
            <a:off x="7820950" y="6538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297"/>
          <p:cNvSpPr/>
          <p:nvPr/>
        </p:nvSpPr>
        <p:spPr>
          <a:xfrm>
            <a:off x="7200175" y="9267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297"/>
          <p:cNvSpPr/>
          <p:nvPr/>
        </p:nvSpPr>
        <p:spPr>
          <a:xfrm>
            <a:off x="8181075" y="1237988"/>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297"/>
          <p:cNvSpPr/>
          <p:nvPr/>
        </p:nvSpPr>
        <p:spPr>
          <a:xfrm>
            <a:off x="7246000" y="1494713"/>
            <a:ext cx="171300" cy="171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05" name="Google Shape;5905;p297"/>
          <p:cNvCxnSpPr>
            <a:stCxn id="5901" idx="3"/>
            <a:endCxn id="5902" idx="7"/>
          </p:cNvCxnSpPr>
          <p:nvPr/>
        </p:nvCxnSpPr>
        <p:spPr>
          <a:xfrm flipH="1">
            <a:off x="7346536" y="800026"/>
            <a:ext cx="499500" cy="151800"/>
          </a:xfrm>
          <a:prstGeom prst="straightConnector1">
            <a:avLst/>
          </a:prstGeom>
          <a:noFill/>
          <a:ln cap="flat" cmpd="sng" w="19050">
            <a:solidFill>
              <a:srgbClr val="666666"/>
            </a:solidFill>
            <a:prstDash val="solid"/>
            <a:round/>
            <a:headEnd len="med" w="med" type="none"/>
            <a:tailEnd len="med" w="med" type="none"/>
          </a:ln>
        </p:spPr>
      </p:cxnSp>
      <p:cxnSp>
        <p:nvCxnSpPr>
          <p:cNvPr id="5906" name="Google Shape;5906;p297"/>
          <p:cNvCxnSpPr>
            <a:stCxn id="5904" idx="0"/>
            <a:endCxn id="5902" idx="4"/>
          </p:cNvCxnSpPr>
          <p:nvPr/>
        </p:nvCxnSpPr>
        <p:spPr>
          <a:xfrm rot="10800000">
            <a:off x="7285750" y="1098113"/>
            <a:ext cx="45900" cy="396600"/>
          </a:xfrm>
          <a:prstGeom prst="straightConnector1">
            <a:avLst/>
          </a:prstGeom>
          <a:noFill/>
          <a:ln cap="flat" cmpd="sng" w="19050">
            <a:solidFill>
              <a:srgbClr val="666666"/>
            </a:solidFill>
            <a:prstDash val="solid"/>
            <a:round/>
            <a:headEnd len="med" w="med" type="none"/>
            <a:tailEnd len="med" w="med" type="none"/>
          </a:ln>
        </p:spPr>
      </p:cxnSp>
      <p:cxnSp>
        <p:nvCxnSpPr>
          <p:cNvPr id="5907" name="Google Shape;5907;p297"/>
          <p:cNvCxnSpPr>
            <a:stCxn id="5901" idx="5"/>
            <a:endCxn id="5903" idx="1"/>
          </p:cNvCxnSpPr>
          <p:nvPr/>
        </p:nvCxnSpPr>
        <p:spPr>
          <a:xfrm>
            <a:off x="7967164" y="800026"/>
            <a:ext cx="239100" cy="462900"/>
          </a:xfrm>
          <a:prstGeom prst="straightConnector1">
            <a:avLst/>
          </a:prstGeom>
          <a:noFill/>
          <a:ln cap="flat" cmpd="sng" w="19050">
            <a:solidFill>
              <a:srgbClr val="666666"/>
            </a:solidFill>
            <a:prstDash val="solid"/>
            <a:round/>
            <a:headEnd len="med" w="med" type="none"/>
            <a:tailEnd len="med" w="med" type="none"/>
          </a:ln>
        </p:spPr>
      </p:cxnSp>
      <p:cxnSp>
        <p:nvCxnSpPr>
          <p:cNvPr id="5908" name="Google Shape;5908;p297"/>
          <p:cNvCxnSpPr>
            <a:stCxn id="5903" idx="2"/>
            <a:endCxn id="5902" idx="6"/>
          </p:cNvCxnSpPr>
          <p:nvPr/>
        </p:nvCxnSpPr>
        <p:spPr>
          <a:xfrm rot="10800000">
            <a:off x="7371375" y="1012538"/>
            <a:ext cx="809700" cy="311100"/>
          </a:xfrm>
          <a:prstGeom prst="straightConnector1">
            <a:avLst/>
          </a:prstGeom>
          <a:noFill/>
          <a:ln cap="flat" cmpd="sng" w="19050">
            <a:solidFill>
              <a:srgbClr val="666666"/>
            </a:solidFill>
            <a:prstDash val="solid"/>
            <a:round/>
            <a:headEnd len="med" w="med" type="none"/>
            <a:tailEnd len="med" w="med" type="none"/>
          </a:ln>
        </p:spPr>
      </p:cxnSp>
      <p:sp>
        <p:nvSpPr>
          <p:cNvPr id="5909" name="Google Shape;5909;p297"/>
          <p:cNvSpPr/>
          <p:nvPr/>
        </p:nvSpPr>
        <p:spPr>
          <a:xfrm>
            <a:off x="7820950" y="1806138"/>
            <a:ext cx="171300" cy="171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10" name="Google Shape;5910;p297"/>
          <p:cNvCxnSpPr>
            <a:stCxn id="5909" idx="0"/>
            <a:endCxn id="5902" idx="6"/>
          </p:cNvCxnSpPr>
          <p:nvPr/>
        </p:nvCxnSpPr>
        <p:spPr>
          <a:xfrm rot="10800000">
            <a:off x="7371400" y="1012338"/>
            <a:ext cx="535200" cy="793800"/>
          </a:xfrm>
          <a:prstGeom prst="straightConnector1">
            <a:avLst/>
          </a:prstGeom>
          <a:noFill/>
          <a:ln cap="flat" cmpd="sng" w="19050">
            <a:solidFill>
              <a:srgbClr val="666666"/>
            </a:solidFill>
            <a:prstDash val="solid"/>
            <a:round/>
            <a:headEnd len="med" w="med" type="none"/>
            <a:tailEnd len="med" w="med" type="none"/>
          </a:ln>
        </p:spPr>
      </p:cxnSp>
      <p:cxnSp>
        <p:nvCxnSpPr>
          <p:cNvPr id="5911" name="Google Shape;5911;p297"/>
          <p:cNvCxnSpPr>
            <a:stCxn id="5903" idx="3"/>
            <a:endCxn id="5904" idx="6"/>
          </p:cNvCxnSpPr>
          <p:nvPr/>
        </p:nvCxnSpPr>
        <p:spPr>
          <a:xfrm flipH="1">
            <a:off x="7417161" y="1384201"/>
            <a:ext cx="789000" cy="196200"/>
          </a:xfrm>
          <a:prstGeom prst="straightConnector1">
            <a:avLst/>
          </a:prstGeom>
          <a:noFill/>
          <a:ln cap="flat" cmpd="sng" w="19050">
            <a:solidFill>
              <a:srgbClr val="666666"/>
            </a:solidFill>
            <a:prstDash val="solid"/>
            <a:round/>
            <a:headEnd len="med" w="med" type="none"/>
            <a:tailEnd len="med" w="med" type="none"/>
          </a:ln>
        </p:spPr>
      </p:cxnSp>
      <p:cxnSp>
        <p:nvCxnSpPr>
          <p:cNvPr id="5912" name="Google Shape;5912;p297"/>
          <p:cNvCxnSpPr>
            <a:stCxn id="5903" idx="3"/>
            <a:endCxn id="5909" idx="1"/>
          </p:cNvCxnSpPr>
          <p:nvPr/>
        </p:nvCxnSpPr>
        <p:spPr>
          <a:xfrm flipH="1">
            <a:off x="7846161" y="1384201"/>
            <a:ext cx="360000" cy="447000"/>
          </a:xfrm>
          <a:prstGeom prst="straightConnector1">
            <a:avLst/>
          </a:prstGeom>
          <a:noFill/>
          <a:ln cap="flat" cmpd="sng" w="19050">
            <a:solidFill>
              <a:srgbClr val="666666"/>
            </a:solidFill>
            <a:prstDash val="solid"/>
            <a:round/>
            <a:headEnd len="med" w="med" type="none"/>
            <a:tailEnd len="med" w="med" type="none"/>
          </a:ln>
        </p:spPr>
      </p:cxnSp>
      <p:cxnSp>
        <p:nvCxnSpPr>
          <p:cNvPr id="5913" name="Google Shape;5913;p297"/>
          <p:cNvCxnSpPr>
            <a:stCxn id="5901" idx="4"/>
            <a:endCxn id="5909" idx="0"/>
          </p:cNvCxnSpPr>
          <p:nvPr/>
        </p:nvCxnSpPr>
        <p:spPr>
          <a:xfrm>
            <a:off x="7906600" y="825113"/>
            <a:ext cx="0" cy="981000"/>
          </a:xfrm>
          <a:prstGeom prst="straightConnector1">
            <a:avLst/>
          </a:prstGeom>
          <a:noFill/>
          <a:ln cap="flat" cmpd="sng" w="19050">
            <a:solidFill>
              <a:srgbClr val="666666"/>
            </a:solidFill>
            <a:prstDash val="solid"/>
            <a:round/>
            <a:headEnd len="med" w="med" type="none"/>
            <a:tailEnd len="med" w="med" type="none"/>
          </a:ln>
        </p:spPr>
      </p:cxnSp>
      <p:sp>
        <p:nvSpPr>
          <p:cNvPr id="5914" name="Google Shape;5914;p297"/>
          <p:cNvSpPr/>
          <p:nvPr/>
        </p:nvSpPr>
        <p:spPr>
          <a:xfrm rot="-1281263">
            <a:off x="7726111" y="3127097"/>
            <a:ext cx="171365" cy="171365"/>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297"/>
          <p:cNvSpPr/>
          <p:nvPr/>
        </p:nvSpPr>
        <p:spPr>
          <a:xfrm rot="-1281263">
            <a:off x="7310069" y="3774485"/>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6" name="Google Shape;5916;p297"/>
          <p:cNvSpPr/>
          <p:nvPr/>
        </p:nvSpPr>
        <p:spPr>
          <a:xfrm rot="-1281263">
            <a:off x="8557828" y="343973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17" name="Google Shape;5917;p297"/>
          <p:cNvCxnSpPr>
            <a:stCxn id="5914" idx="3"/>
            <a:endCxn id="5915" idx="7"/>
          </p:cNvCxnSpPr>
          <p:nvPr/>
        </p:nvCxnSpPr>
        <p:spPr>
          <a:xfrm flipH="1">
            <a:off x="7430028" y="3291269"/>
            <a:ext cx="347400" cy="490500"/>
          </a:xfrm>
          <a:prstGeom prst="straightConnector1">
            <a:avLst/>
          </a:prstGeom>
          <a:noFill/>
          <a:ln cap="flat" cmpd="sng" w="19050">
            <a:solidFill>
              <a:srgbClr val="666666"/>
            </a:solidFill>
            <a:prstDash val="solid"/>
            <a:round/>
            <a:headEnd len="med" w="med" type="none"/>
            <a:tailEnd len="med" w="med" type="none"/>
          </a:ln>
        </p:spPr>
      </p:cxnSp>
      <p:cxnSp>
        <p:nvCxnSpPr>
          <p:cNvPr id="5918" name="Google Shape;5918;p297"/>
          <p:cNvCxnSpPr>
            <a:stCxn id="5914" idx="5"/>
            <a:endCxn id="5916" idx="1"/>
          </p:cNvCxnSpPr>
          <p:nvPr/>
        </p:nvCxnSpPr>
        <p:spPr>
          <a:xfrm>
            <a:off x="7890283" y="3247145"/>
            <a:ext cx="674700" cy="243900"/>
          </a:xfrm>
          <a:prstGeom prst="straightConnector1">
            <a:avLst/>
          </a:prstGeom>
          <a:noFill/>
          <a:ln cap="flat" cmpd="sng" w="19050">
            <a:solidFill>
              <a:srgbClr val="666666"/>
            </a:solidFill>
            <a:prstDash val="solid"/>
            <a:round/>
            <a:headEnd len="med" w="med" type="none"/>
            <a:tailEnd len="med" w="med" type="none"/>
          </a:ln>
        </p:spPr>
      </p:cxnSp>
      <p:cxnSp>
        <p:nvCxnSpPr>
          <p:cNvPr id="5919" name="Google Shape;5919;p297"/>
          <p:cNvCxnSpPr>
            <a:stCxn id="5916" idx="2"/>
            <a:endCxn id="5915" idx="6"/>
          </p:cNvCxnSpPr>
          <p:nvPr/>
        </p:nvCxnSpPr>
        <p:spPr>
          <a:xfrm flipH="1">
            <a:off x="7475611" y="3556619"/>
            <a:ext cx="1088100" cy="272400"/>
          </a:xfrm>
          <a:prstGeom prst="straightConnector1">
            <a:avLst/>
          </a:prstGeom>
          <a:noFill/>
          <a:ln cap="flat" cmpd="sng" w="19050">
            <a:solidFill>
              <a:srgbClr val="666666"/>
            </a:solidFill>
            <a:prstDash val="solid"/>
            <a:round/>
            <a:headEnd len="med" w="med" type="none"/>
            <a:tailEnd len="med" w="med" type="none"/>
          </a:ln>
        </p:spPr>
      </p:cxnSp>
      <p:sp>
        <p:nvSpPr>
          <p:cNvPr id="5920" name="Google Shape;5920;p297"/>
          <p:cNvSpPr/>
          <p:nvPr/>
        </p:nvSpPr>
        <p:spPr>
          <a:xfrm rot="-1281263">
            <a:off x="8001037" y="3919934"/>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21" name="Google Shape;5921;p297"/>
          <p:cNvCxnSpPr>
            <a:stCxn id="5920" idx="2"/>
            <a:endCxn id="5915" idx="5"/>
          </p:cNvCxnSpPr>
          <p:nvPr/>
        </p:nvCxnSpPr>
        <p:spPr>
          <a:xfrm rot="10800000">
            <a:off x="7474120" y="3894616"/>
            <a:ext cx="532800" cy="142200"/>
          </a:xfrm>
          <a:prstGeom prst="straightConnector1">
            <a:avLst/>
          </a:prstGeom>
          <a:noFill/>
          <a:ln cap="flat" cmpd="sng" w="19050">
            <a:solidFill>
              <a:srgbClr val="666666"/>
            </a:solidFill>
            <a:prstDash val="solid"/>
            <a:round/>
            <a:headEnd len="med" w="med" type="none"/>
            <a:tailEnd len="med" w="med" type="none"/>
          </a:ln>
        </p:spPr>
      </p:cxnSp>
      <p:cxnSp>
        <p:nvCxnSpPr>
          <p:cNvPr id="5922" name="Google Shape;5922;p297"/>
          <p:cNvCxnSpPr>
            <a:stCxn id="5920" idx="0"/>
            <a:endCxn id="5914" idx="3"/>
          </p:cNvCxnSpPr>
          <p:nvPr/>
        </p:nvCxnSpPr>
        <p:spPr>
          <a:xfrm rot="10800000">
            <a:off x="7777420" y="3291316"/>
            <a:ext cx="278100" cy="634500"/>
          </a:xfrm>
          <a:prstGeom prst="straightConnector1">
            <a:avLst/>
          </a:prstGeom>
          <a:noFill/>
          <a:ln cap="flat" cmpd="sng" w="19050">
            <a:solidFill>
              <a:srgbClr val="666666"/>
            </a:solidFill>
            <a:prstDash val="solid"/>
            <a:round/>
            <a:headEnd len="med" w="med" type="none"/>
            <a:tailEnd len="med" w="med" type="none"/>
          </a:ln>
        </p:spPr>
      </p:cxnSp>
      <p:cxnSp>
        <p:nvCxnSpPr>
          <p:cNvPr id="5923" name="Google Shape;5923;p297"/>
          <p:cNvCxnSpPr>
            <a:stCxn id="5894" idx="5"/>
            <a:endCxn id="5915" idx="1"/>
          </p:cNvCxnSpPr>
          <p:nvPr/>
        </p:nvCxnSpPr>
        <p:spPr>
          <a:xfrm>
            <a:off x="6516801" y="2675826"/>
            <a:ext cx="800400" cy="1149900"/>
          </a:xfrm>
          <a:prstGeom prst="straightConnector1">
            <a:avLst/>
          </a:prstGeom>
          <a:noFill/>
          <a:ln cap="flat" cmpd="sng" w="19050">
            <a:solidFill>
              <a:srgbClr val="666666"/>
            </a:solidFill>
            <a:prstDash val="solid"/>
            <a:round/>
            <a:headEnd len="med" w="med" type="none"/>
            <a:tailEnd len="med" w="med" type="none"/>
          </a:ln>
        </p:spPr>
      </p:cxnSp>
      <p:cxnSp>
        <p:nvCxnSpPr>
          <p:cNvPr id="5924" name="Google Shape;5924;p297"/>
          <p:cNvCxnSpPr>
            <a:stCxn id="5894" idx="7"/>
            <a:endCxn id="5904" idx="3"/>
          </p:cNvCxnSpPr>
          <p:nvPr/>
        </p:nvCxnSpPr>
        <p:spPr>
          <a:xfrm flipH="1" rot="10800000">
            <a:off x="6516801" y="1640899"/>
            <a:ext cx="754200" cy="913800"/>
          </a:xfrm>
          <a:prstGeom prst="straightConnector1">
            <a:avLst/>
          </a:prstGeom>
          <a:noFill/>
          <a:ln cap="flat" cmpd="sng" w="19050">
            <a:solidFill>
              <a:srgbClr val="666666"/>
            </a:solidFill>
            <a:prstDash val="solid"/>
            <a:round/>
            <a:headEnd len="med" w="med" type="none"/>
            <a:tailEnd len="med" w="med" type="none"/>
          </a:ln>
        </p:spPr>
      </p:cxnSp>
      <p:cxnSp>
        <p:nvCxnSpPr>
          <p:cNvPr id="5925" name="Google Shape;5925;p297"/>
          <p:cNvCxnSpPr>
            <a:stCxn id="5909" idx="3"/>
            <a:endCxn id="5914" idx="7"/>
          </p:cNvCxnSpPr>
          <p:nvPr/>
        </p:nvCxnSpPr>
        <p:spPr>
          <a:xfrm>
            <a:off x="7846036" y="1952351"/>
            <a:ext cx="0" cy="1182000"/>
          </a:xfrm>
          <a:prstGeom prst="straightConnector1">
            <a:avLst/>
          </a:prstGeom>
          <a:noFill/>
          <a:ln cap="flat" cmpd="sng" w="19050">
            <a:solidFill>
              <a:srgbClr val="666666"/>
            </a:solidFill>
            <a:prstDash val="solid"/>
            <a:round/>
            <a:headEnd len="med" w="med" type="none"/>
            <a:tailEnd len="med" w="med" type="none"/>
          </a:ln>
        </p:spPr>
      </p:cxnSp>
      <p:cxnSp>
        <p:nvCxnSpPr>
          <p:cNvPr id="5926" name="Google Shape;5926;p297"/>
          <p:cNvCxnSpPr>
            <a:stCxn id="5903" idx="4"/>
            <a:endCxn id="5916" idx="0"/>
          </p:cNvCxnSpPr>
          <p:nvPr/>
        </p:nvCxnSpPr>
        <p:spPr>
          <a:xfrm>
            <a:off x="8266725" y="1409288"/>
            <a:ext cx="345600" cy="2036400"/>
          </a:xfrm>
          <a:prstGeom prst="straightConnector1">
            <a:avLst/>
          </a:prstGeom>
          <a:noFill/>
          <a:ln cap="flat" cmpd="sng" w="19050">
            <a:solidFill>
              <a:srgbClr val="666666"/>
            </a:solidFill>
            <a:prstDash val="solid"/>
            <a:round/>
            <a:headEnd len="med" w="med" type="none"/>
            <a:tailEnd len="med" w="med" type="none"/>
          </a:ln>
        </p:spPr>
      </p:cxnSp>
      <p:cxnSp>
        <p:nvCxnSpPr>
          <p:cNvPr id="5927" name="Google Shape;5927;p297"/>
          <p:cNvCxnSpPr>
            <a:stCxn id="5892" idx="6"/>
            <a:endCxn id="5909" idx="2"/>
          </p:cNvCxnSpPr>
          <p:nvPr/>
        </p:nvCxnSpPr>
        <p:spPr>
          <a:xfrm flipH="1" rot="10800000">
            <a:off x="6016288" y="1891838"/>
            <a:ext cx="1804800" cy="288900"/>
          </a:xfrm>
          <a:prstGeom prst="straightConnector1">
            <a:avLst/>
          </a:prstGeom>
          <a:noFill/>
          <a:ln cap="flat" cmpd="sng" w="19050">
            <a:solidFill>
              <a:srgbClr val="666666"/>
            </a:solidFill>
            <a:prstDash val="solid"/>
            <a:round/>
            <a:headEnd len="med" w="med" type="none"/>
            <a:tailEnd len="med" w="med" type="none"/>
          </a:ln>
        </p:spPr>
      </p:cxnSp>
      <p:cxnSp>
        <p:nvCxnSpPr>
          <p:cNvPr id="5928" name="Google Shape;5928;p297"/>
          <p:cNvCxnSpPr>
            <a:stCxn id="5895" idx="6"/>
            <a:endCxn id="5914" idx="1"/>
          </p:cNvCxnSpPr>
          <p:nvPr/>
        </p:nvCxnSpPr>
        <p:spPr>
          <a:xfrm>
            <a:off x="6046588" y="3167788"/>
            <a:ext cx="1686600" cy="10500"/>
          </a:xfrm>
          <a:prstGeom prst="straightConnector1">
            <a:avLst/>
          </a:prstGeom>
          <a:noFill/>
          <a:ln cap="flat" cmpd="sng" w="19050">
            <a:solidFill>
              <a:srgbClr val="666666"/>
            </a:solidFill>
            <a:prstDash val="solid"/>
            <a:round/>
            <a:headEnd len="med" w="med" type="none"/>
            <a:tailEnd len="med" w="med" type="none"/>
          </a:ln>
        </p:spPr>
      </p:cxnSp>
      <p:grpSp>
        <p:nvGrpSpPr>
          <p:cNvPr id="5929" name="Google Shape;5929;p297"/>
          <p:cNvGrpSpPr/>
          <p:nvPr/>
        </p:nvGrpSpPr>
        <p:grpSpPr>
          <a:xfrm>
            <a:off x="7426813" y="3603880"/>
            <a:ext cx="1182300" cy="1066200"/>
            <a:chOff x="7426813" y="3603880"/>
            <a:chExt cx="1182300" cy="1066200"/>
          </a:xfrm>
        </p:grpSpPr>
        <p:sp>
          <p:nvSpPr>
            <p:cNvPr id="5930" name="Google Shape;5930;p297"/>
            <p:cNvSpPr/>
            <p:nvPr/>
          </p:nvSpPr>
          <p:spPr>
            <a:xfrm rot="-1281263">
              <a:off x="7726031" y="4473397"/>
              <a:ext cx="171365" cy="171365"/>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31" name="Google Shape;5931;p297"/>
            <p:cNvCxnSpPr>
              <a:stCxn id="5930" idx="0"/>
            </p:cNvCxnSpPr>
            <p:nvPr/>
          </p:nvCxnSpPr>
          <p:spPr>
            <a:xfrm rot="10800000">
              <a:off x="7426813" y="3939880"/>
              <a:ext cx="353700" cy="539400"/>
            </a:xfrm>
            <a:prstGeom prst="straightConnector1">
              <a:avLst/>
            </a:prstGeom>
            <a:noFill/>
            <a:ln cap="flat" cmpd="sng" w="19050">
              <a:solidFill>
                <a:srgbClr val="666666"/>
              </a:solidFill>
              <a:prstDash val="solid"/>
              <a:round/>
              <a:headEnd len="med" w="med" type="none"/>
              <a:tailEnd len="med" w="med" type="none"/>
            </a:ln>
          </p:spPr>
        </p:cxnSp>
        <p:cxnSp>
          <p:nvCxnSpPr>
            <p:cNvPr id="5932" name="Google Shape;5932;p297"/>
            <p:cNvCxnSpPr>
              <a:endCxn id="5930" idx="6"/>
            </p:cNvCxnSpPr>
            <p:nvPr/>
          </p:nvCxnSpPr>
          <p:spPr>
            <a:xfrm flipH="1">
              <a:off x="7891513" y="3603880"/>
              <a:ext cx="717600" cy="924000"/>
            </a:xfrm>
            <a:prstGeom prst="straightConnector1">
              <a:avLst/>
            </a:prstGeom>
            <a:noFill/>
            <a:ln cap="flat" cmpd="sng" w="19050">
              <a:solidFill>
                <a:srgbClr val="666666"/>
              </a:solidFill>
              <a:prstDash val="solid"/>
              <a:round/>
              <a:headEnd len="med" w="med" type="none"/>
              <a:tailEnd len="med" w="med" type="none"/>
            </a:ln>
          </p:spPr>
        </p:cxnSp>
        <p:cxnSp>
          <p:nvCxnSpPr>
            <p:cNvPr id="5933" name="Google Shape;5933;p297"/>
            <p:cNvCxnSpPr>
              <a:stCxn id="5930" idx="6"/>
            </p:cNvCxnSpPr>
            <p:nvPr/>
          </p:nvCxnSpPr>
          <p:spPr>
            <a:xfrm flipH="1" rot="10800000">
              <a:off x="7891513" y="4036780"/>
              <a:ext cx="115500" cy="4911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7" name="Shape 5937"/>
        <p:cNvGrpSpPr/>
        <p:nvPr/>
      </p:nvGrpSpPr>
      <p:grpSpPr>
        <a:xfrm>
          <a:off x="0" y="0"/>
          <a:ext cx="0" cy="0"/>
          <a:chOff x="0" y="0"/>
          <a:chExt cx="0" cy="0"/>
        </a:xfrm>
      </p:grpSpPr>
      <p:sp>
        <p:nvSpPr>
          <p:cNvPr id="5938" name="Google Shape;5938;p298"/>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5939" name="Google Shape;5939;p298"/>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5940" name="Google Shape;5940;p298"/>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5941" name="Google Shape;5941;p298"/>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5942" name="Google Shape;5942;p298"/>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5943" name="Google Shape;5943;p298"/>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5944" name="Google Shape;5944;p298"/>
          <p:cNvCxnSpPr>
            <a:endCxn id="5940"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5945" name="Google Shape;5945;p298"/>
          <p:cNvCxnSpPr>
            <a:stCxn id="5942" idx="0"/>
            <a:endCxn id="5940"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5946" name="Google Shape;5946;p298"/>
          <p:cNvCxnSpPr>
            <a:stCxn id="5939" idx="1"/>
            <a:endCxn id="5938"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5947" name="Google Shape;5947;p298"/>
          <p:cNvCxnSpPr>
            <a:stCxn id="5948" idx="1"/>
            <a:endCxn id="5940"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5949" name="Google Shape;5949;p298"/>
          <p:cNvCxnSpPr>
            <a:stCxn id="5941" idx="0"/>
            <a:endCxn id="5938"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5950" name="Google Shape;5950;p298"/>
          <p:cNvCxnSpPr>
            <a:stCxn id="5941" idx="5"/>
            <a:endCxn id="5951"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5952" name="Google Shape;5952;p298"/>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5951" name="Google Shape;5951;p298"/>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5948" name="Google Shape;5948;p298"/>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5953" name="Google Shape;5953;p298"/>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5954" name="Google Shape;5954;p298"/>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5955" name="Google Shape;5955;p298"/>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5956" name="Google Shape;5956;p298"/>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5957" name="Google Shape;5957;p298"/>
          <p:cNvCxnSpPr>
            <a:stCxn id="5955" idx="2"/>
            <a:endCxn id="5954"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5958" name="Google Shape;5958;p298"/>
          <p:cNvCxnSpPr>
            <a:stCxn id="5953" idx="2"/>
            <a:endCxn id="5954"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5959" name="Google Shape;5959;p298"/>
          <p:cNvCxnSpPr>
            <a:stCxn id="5955" idx="6"/>
            <a:endCxn id="5956"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5960" name="Google Shape;5960;p298"/>
          <p:cNvCxnSpPr>
            <a:stCxn id="5961" idx="4"/>
            <a:endCxn id="5956"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5961" name="Google Shape;5961;p298"/>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5962" name="Google Shape;5962;p298"/>
          <p:cNvCxnSpPr>
            <a:stCxn id="5941" idx="3"/>
            <a:endCxn id="5943"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5963" name="Google Shape;5963;p298"/>
          <p:cNvCxnSpPr>
            <a:stCxn id="5939" idx="4"/>
            <a:endCxn id="5952"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5964" name="Google Shape;5964;p298"/>
          <p:cNvCxnSpPr>
            <a:stCxn id="5939" idx="4"/>
            <a:endCxn id="5948"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5965" name="Google Shape;5965;p298"/>
          <p:cNvCxnSpPr>
            <a:stCxn id="5942" idx="4"/>
            <a:endCxn id="5943"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5966" name="Google Shape;5966;p298"/>
          <p:cNvCxnSpPr>
            <a:stCxn id="5942" idx="5"/>
            <a:endCxn id="5951"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5967" name="Google Shape;5967;p298"/>
          <p:cNvCxnSpPr>
            <a:stCxn id="5943" idx="6"/>
            <a:endCxn id="5948"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5968" name="Google Shape;5968;p298"/>
          <p:cNvCxnSpPr>
            <a:stCxn id="5952" idx="3"/>
            <a:endCxn id="5948"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5969" name="Google Shape;5969;p298"/>
          <p:cNvCxnSpPr>
            <a:stCxn id="5952" idx="4"/>
            <a:endCxn id="5951"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5970" name="Google Shape;5970;p298"/>
          <p:cNvCxnSpPr>
            <a:stCxn id="5953" idx="6"/>
            <a:endCxn id="5961"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5971" name="Google Shape;5971;p298"/>
          <p:cNvCxnSpPr>
            <a:stCxn id="5953" idx="5"/>
            <a:endCxn id="5956"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5972" name="Google Shape;5972;p298"/>
          <p:cNvCxnSpPr>
            <a:stCxn id="5961" idx="3"/>
            <a:endCxn id="5955"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5973" name="Google Shape;5973;p298"/>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5974" name="Google Shape;5974;p298"/>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5975" name="Google Shape;5975;p298"/>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5976" name="Google Shape;5976;p298"/>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5977" name="Google Shape;5977;p298"/>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5978" name="Google Shape;5978;p298"/>
          <p:cNvSpPr/>
          <p:nvPr/>
        </p:nvSpPr>
        <p:spPr>
          <a:xfrm>
            <a:off x="5023143" y="258953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5979" name="Google Shape;5979;p298"/>
          <p:cNvCxnSpPr>
            <a:endCxn id="5975"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5980" name="Google Shape;5980;p298"/>
          <p:cNvCxnSpPr>
            <a:stCxn id="5977" idx="0"/>
            <a:endCxn id="5975"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5981" name="Google Shape;5981;p298"/>
          <p:cNvCxnSpPr>
            <a:stCxn id="5974" idx="1"/>
            <a:endCxn id="5973"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5982" name="Google Shape;5982;p298"/>
          <p:cNvCxnSpPr>
            <a:stCxn id="5983" idx="1"/>
            <a:endCxn id="5975" idx="5"/>
          </p:cNvCxnSpPr>
          <p:nvPr/>
        </p:nvCxnSpPr>
        <p:spPr>
          <a:xfrm rot="10800000">
            <a:off x="5128893" y="1839991"/>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5984" name="Google Shape;5984;p298"/>
          <p:cNvCxnSpPr>
            <a:stCxn id="5976" idx="0"/>
            <a:endCxn id="5973"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5985" name="Google Shape;5985;p298"/>
          <p:cNvCxnSpPr>
            <a:stCxn id="5976" idx="5"/>
            <a:endCxn id="5986"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5987" name="Google Shape;5987;p298"/>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5986" name="Google Shape;5986;p298"/>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5983" name="Google Shape;5983;p298"/>
          <p:cNvSpPr/>
          <p:nvPr/>
        </p:nvSpPr>
        <p:spPr>
          <a:xfrm>
            <a:off x="5589993" y="2663941"/>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5988" name="Google Shape;5988;p298"/>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5989" name="Google Shape;5989;p298"/>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5990" name="Google Shape;5990;p298"/>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5991" name="Google Shape;5991;p298"/>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5992" name="Google Shape;5992;p298"/>
          <p:cNvCxnSpPr>
            <a:stCxn id="5990" idx="2"/>
            <a:endCxn id="5989"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5993" name="Google Shape;5993;p298"/>
          <p:cNvCxnSpPr>
            <a:stCxn id="5988" idx="2"/>
            <a:endCxn id="5989"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5994" name="Google Shape;5994;p298"/>
          <p:cNvCxnSpPr>
            <a:stCxn id="5990" idx="6"/>
            <a:endCxn id="5991"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5995" name="Google Shape;5995;p298"/>
          <p:cNvCxnSpPr>
            <a:stCxn id="5996" idx="4"/>
            <a:endCxn id="5991"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5996" name="Google Shape;5996;p298"/>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5997" name="Google Shape;5997;p298"/>
          <p:cNvCxnSpPr>
            <a:stCxn id="5976" idx="3"/>
            <a:endCxn id="5978" idx="3"/>
          </p:cNvCxnSpPr>
          <p:nvPr/>
        </p:nvCxnSpPr>
        <p:spPr>
          <a:xfrm flipH="1">
            <a:off x="5321814" y="2137589"/>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5998" name="Google Shape;5998;p298"/>
          <p:cNvCxnSpPr>
            <a:stCxn id="5974" idx="4"/>
            <a:endCxn id="5987"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5999" name="Google Shape;5999;p298"/>
          <p:cNvCxnSpPr>
            <a:stCxn id="5974" idx="4"/>
            <a:endCxn id="5983" idx="0"/>
          </p:cNvCxnSpPr>
          <p:nvPr/>
        </p:nvCxnSpPr>
        <p:spPr>
          <a:xfrm flipH="1">
            <a:off x="5739522" y="1883545"/>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000" name="Google Shape;6000;p298"/>
          <p:cNvCxnSpPr>
            <a:stCxn id="5977" idx="4"/>
            <a:endCxn id="5978" idx="0"/>
          </p:cNvCxnSpPr>
          <p:nvPr/>
        </p:nvCxnSpPr>
        <p:spPr>
          <a:xfrm>
            <a:off x="5023195" y="2385489"/>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001" name="Google Shape;6001;p298"/>
          <p:cNvCxnSpPr>
            <a:stCxn id="5977" idx="5"/>
            <a:endCxn id="5986"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002" name="Google Shape;6002;p298"/>
          <p:cNvCxnSpPr>
            <a:stCxn id="5978" idx="3"/>
            <a:endCxn id="5983" idx="1"/>
          </p:cNvCxnSpPr>
          <p:nvPr/>
        </p:nvCxnSpPr>
        <p:spPr>
          <a:xfrm>
            <a:off x="5321943" y="2738484"/>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003" name="Google Shape;6003;p298"/>
          <p:cNvCxnSpPr>
            <a:stCxn id="5987" idx="3"/>
            <a:endCxn id="5983" idx="3"/>
          </p:cNvCxnSpPr>
          <p:nvPr/>
        </p:nvCxnSpPr>
        <p:spPr>
          <a:xfrm flipH="1">
            <a:off x="5888855" y="2269990"/>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004" name="Google Shape;6004;p298"/>
          <p:cNvCxnSpPr>
            <a:stCxn id="5987" idx="4"/>
            <a:endCxn id="5986"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005" name="Google Shape;6005;p298"/>
          <p:cNvCxnSpPr>
            <a:stCxn id="5988" idx="6"/>
            <a:endCxn id="5996"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006" name="Google Shape;6006;p298"/>
          <p:cNvCxnSpPr>
            <a:stCxn id="5988" idx="5"/>
            <a:endCxn id="5991"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007" name="Google Shape;6007;p298"/>
          <p:cNvCxnSpPr>
            <a:stCxn id="5996" idx="3"/>
            <a:endCxn id="5990"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008" name="Google Shape;6008;p298"/>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009" name="Google Shape;6009;p298"/>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010" name="Google Shape;6010;p298"/>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011" name="Google Shape;6011;p298"/>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012" name="Google Shape;6012;p298"/>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013" name="Google Shape;6013;p298"/>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014" name="Google Shape;6014;p298"/>
          <p:cNvCxnSpPr>
            <a:endCxn id="6010"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015" name="Google Shape;6015;p298"/>
          <p:cNvCxnSpPr>
            <a:stCxn id="6012" idx="0"/>
            <a:endCxn id="6010"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016" name="Google Shape;6016;p298"/>
          <p:cNvCxnSpPr>
            <a:stCxn id="6009" idx="1"/>
            <a:endCxn id="6008"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017" name="Google Shape;6017;p298"/>
          <p:cNvCxnSpPr>
            <a:stCxn id="6018" idx="1"/>
            <a:endCxn id="6010" idx="5"/>
          </p:cNvCxnSpPr>
          <p:nvPr/>
        </p:nvCxnSpPr>
        <p:spPr>
          <a:xfrm rot="10800000">
            <a:off x="2896297" y="1839995"/>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019" name="Google Shape;6019;p298"/>
          <p:cNvCxnSpPr>
            <a:stCxn id="6011" idx="0"/>
            <a:endCxn id="6008"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020" name="Google Shape;6020;p298"/>
          <p:cNvCxnSpPr>
            <a:stCxn id="6011" idx="5"/>
            <a:endCxn id="6021"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022" name="Google Shape;6022;p298"/>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021" name="Google Shape;6021;p298"/>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018" name="Google Shape;6018;p298"/>
          <p:cNvSpPr/>
          <p:nvPr/>
        </p:nvSpPr>
        <p:spPr>
          <a:xfrm>
            <a:off x="3357397" y="2663945"/>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023" name="Google Shape;6023;p298"/>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024" name="Google Shape;6024;p298"/>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025" name="Google Shape;6025;p298"/>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026" name="Google Shape;6026;p298"/>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027" name="Google Shape;6027;p298"/>
          <p:cNvCxnSpPr>
            <a:stCxn id="6025" idx="2"/>
            <a:endCxn id="6024"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028" name="Google Shape;6028;p298"/>
          <p:cNvCxnSpPr>
            <a:stCxn id="6023" idx="2"/>
            <a:endCxn id="6024"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029" name="Google Shape;6029;p298"/>
          <p:cNvCxnSpPr>
            <a:stCxn id="6025" idx="6"/>
            <a:endCxn id="6026"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030" name="Google Shape;6030;p298"/>
          <p:cNvCxnSpPr>
            <a:stCxn id="6031" idx="4"/>
            <a:endCxn id="6026"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6031" name="Google Shape;6031;p298"/>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032" name="Google Shape;6032;p298"/>
          <p:cNvCxnSpPr>
            <a:stCxn id="6011" idx="3"/>
            <a:endCxn id="6013"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033" name="Google Shape;6033;p298"/>
          <p:cNvCxnSpPr>
            <a:stCxn id="6009" idx="4"/>
            <a:endCxn id="6022"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034" name="Google Shape;6034;p298"/>
          <p:cNvCxnSpPr>
            <a:stCxn id="6009" idx="4"/>
            <a:endCxn id="6018" idx="0"/>
          </p:cNvCxnSpPr>
          <p:nvPr/>
        </p:nvCxnSpPr>
        <p:spPr>
          <a:xfrm flipH="1">
            <a:off x="3506926" y="1883548"/>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035" name="Google Shape;6035;p298"/>
          <p:cNvCxnSpPr>
            <a:stCxn id="6012" idx="4"/>
            <a:endCxn id="6013"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036" name="Google Shape;6036;p298"/>
          <p:cNvCxnSpPr>
            <a:stCxn id="6012" idx="5"/>
            <a:endCxn id="6021"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037" name="Google Shape;6037;p298"/>
          <p:cNvCxnSpPr>
            <a:stCxn id="6013" idx="6"/>
            <a:endCxn id="6018" idx="1"/>
          </p:cNvCxnSpPr>
          <p:nvPr/>
        </p:nvCxnSpPr>
        <p:spPr>
          <a:xfrm>
            <a:off x="3089347" y="2738487"/>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038" name="Google Shape;6038;p298"/>
          <p:cNvCxnSpPr>
            <a:stCxn id="6022" idx="3"/>
            <a:endCxn id="6018" idx="3"/>
          </p:cNvCxnSpPr>
          <p:nvPr/>
        </p:nvCxnSpPr>
        <p:spPr>
          <a:xfrm flipH="1">
            <a:off x="3656259" y="2269993"/>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039" name="Google Shape;6039;p298"/>
          <p:cNvCxnSpPr>
            <a:stCxn id="6022" idx="4"/>
            <a:endCxn id="6021"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040" name="Google Shape;6040;p298"/>
          <p:cNvCxnSpPr>
            <a:stCxn id="6023" idx="6"/>
            <a:endCxn id="6031"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041" name="Google Shape;6041;p298"/>
          <p:cNvCxnSpPr>
            <a:stCxn id="6023" idx="5"/>
            <a:endCxn id="6026"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042" name="Google Shape;6042;p298"/>
          <p:cNvCxnSpPr>
            <a:stCxn id="6031" idx="3"/>
            <a:endCxn id="6025"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043" name="Google Shape;6043;p298"/>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044" name="Google Shape;6044;p298"/>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045" name="Google Shape;6045;p298"/>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046" name="Google Shape;6046;p298"/>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047" name="Google Shape;6047;p298"/>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048" name="Google Shape;6048;p298"/>
          <p:cNvSpPr/>
          <p:nvPr/>
        </p:nvSpPr>
        <p:spPr>
          <a:xfrm>
            <a:off x="7281643" y="2534909"/>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049" name="Google Shape;6049;p298"/>
          <p:cNvCxnSpPr>
            <a:endCxn id="6045"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050" name="Google Shape;6050;p298"/>
          <p:cNvCxnSpPr>
            <a:stCxn id="6047" idx="0"/>
            <a:endCxn id="6045"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051" name="Google Shape;6051;p298"/>
          <p:cNvCxnSpPr>
            <a:stCxn id="6044" idx="1"/>
            <a:endCxn id="6043"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052" name="Google Shape;6052;p298"/>
          <p:cNvCxnSpPr>
            <a:stCxn id="6053" idx="1"/>
            <a:endCxn id="6045" idx="5"/>
          </p:cNvCxnSpPr>
          <p:nvPr/>
        </p:nvCxnSpPr>
        <p:spPr>
          <a:xfrm rot="10800000">
            <a:off x="7387393" y="1785366"/>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054" name="Google Shape;6054;p298"/>
          <p:cNvCxnSpPr>
            <a:stCxn id="6046" idx="0"/>
            <a:endCxn id="6043"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055" name="Google Shape;6055;p298"/>
          <p:cNvCxnSpPr>
            <a:stCxn id="6046" idx="5"/>
            <a:endCxn id="6056" idx="1"/>
          </p:cNvCxnSpPr>
          <p:nvPr/>
        </p:nvCxnSpPr>
        <p:spPr>
          <a:xfrm>
            <a:off x="7954197" y="2082964"/>
            <a:ext cx="545100" cy="567000"/>
          </a:xfrm>
          <a:prstGeom prst="straightConnector1">
            <a:avLst/>
          </a:prstGeom>
          <a:noFill/>
          <a:ln cap="flat" cmpd="sng" w="19050">
            <a:solidFill>
              <a:srgbClr val="666666"/>
            </a:solidFill>
            <a:prstDash val="solid"/>
            <a:round/>
            <a:headEnd len="med" w="med" type="none"/>
            <a:tailEnd len="med" w="med" type="none"/>
          </a:ln>
        </p:spPr>
      </p:cxnSp>
      <p:sp>
        <p:nvSpPr>
          <p:cNvPr id="6057" name="Google Shape;6057;p298"/>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056" name="Google Shape;6056;p298"/>
          <p:cNvSpPr/>
          <p:nvPr/>
        </p:nvSpPr>
        <p:spPr>
          <a:xfrm>
            <a:off x="8499297" y="250101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9</a:t>
            </a:r>
            <a:endParaRPr>
              <a:solidFill>
                <a:srgbClr val="FFFFFF"/>
              </a:solidFill>
            </a:endParaRPr>
          </a:p>
        </p:txBody>
      </p:sp>
      <p:sp>
        <p:nvSpPr>
          <p:cNvPr id="6053" name="Google Shape;6053;p298"/>
          <p:cNvSpPr/>
          <p:nvPr/>
        </p:nvSpPr>
        <p:spPr>
          <a:xfrm>
            <a:off x="7848493" y="2609316"/>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058" name="Google Shape;6058;p298"/>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059" name="Google Shape;6059;p298"/>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060" name="Google Shape;6060;p298"/>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061" name="Google Shape;6061;p298"/>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062" name="Google Shape;6062;p298"/>
          <p:cNvCxnSpPr>
            <a:stCxn id="6060" idx="2"/>
            <a:endCxn id="6059"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063" name="Google Shape;6063;p298"/>
          <p:cNvCxnSpPr>
            <a:stCxn id="6058" idx="2"/>
            <a:endCxn id="6059"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064" name="Google Shape;6064;p298"/>
          <p:cNvCxnSpPr>
            <a:stCxn id="6060" idx="6"/>
            <a:endCxn id="6061"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6065" name="Google Shape;6065;p298"/>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066" name="Google Shape;6066;p298"/>
          <p:cNvCxnSpPr>
            <a:stCxn id="6046" idx="3"/>
            <a:endCxn id="6048" idx="3"/>
          </p:cNvCxnSpPr>
          <p:nvPr/>
        </p:nvCxnSpPr>
        <p:spPr>
          <a:xfrm flipH="1">
            <a:off x="7580314" y="2082964"/>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067" name="Google Shape;6067;p298"/>
          <p:cNvCxnSpPr>
            <a:stCxn id="6044" idx="4"/>
            <a:endCxn id="6057"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068" name="Google Shape;6068;p298"/>
          <p:cNvCxnSpPr>
            <a:stCxn id="6044" idx="4"/>
            <a:endCxn id="6053" idx="0"/>
          </p:cNvCxnSpPr>
          <p:nvPr/>
        </p:nvCxnSpPr>
        <p:spPr>
          <a:xfrm flipH="1">
            <a:off x="7998022" y="1828920"/>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069" name="Google Shape;6069;p298"/>
          <p:cNvCxnSpPr>
            <a:stCxn id="6047" idx="4"/>
            <a:endCxn id="6048" idx="0"/>
          </p:cNvCxnSpPr>
          <p:nvPr/>
        </p:nvCxnSpPr>
        <p:spPr>
          <a:xfrm>
            <a:off x="7281695" y="2330864"/>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070" name="Google Shape;6070;p298"/>
          <p:cNvCxnSpPr>
            <a:stCxn id="6047" idx="5"/>
            <a:endCxn id="6056" idx="1"/>
          </p:cNvCxnSpPr>
          <p:nvPr/>
        </p:nvCxnSpPr>
        <p:spPr>
          <a:xfrm>
            <a:off x="7387337" y="2287238"/>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071" name="Google Shape;6071;p298"/>
          <p:cNvCxnSpPr>
            <a:stCxn id="6048" idx="3"/>
            <a:endCxn id="6053" idx="1"/>
          </p:cNvCxnSpPr>
          <p:nvPr/>
        </p:nvCxnSpPr>
        <p:spPr>
          <a:xfrm>
            <a:off x="7580443" y="2683859"/>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072" name="Google Shape;6072;p298"/>
          <p:cNvCxnSpPr>
            <a:stCxn id="6057" idx="3"/>
            <a:endCxn id="6053" idx="3"/>
          </p:cNvCxnSpPr>
          <p:nvPr/>
        </p:nvCxnSpPr>
        <p:spPr>
          <a:xfrm flipH="1">
            <a:off x="8147355" y="2215365"/>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073" name="Google Shape;6073;p298"/>
          <p:cNvCxnSpPr>
            <a:stCxn id="6058" idx="6"/>
            <a:endCxn id="6065"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074" name="Google Shape;6074;p298"/>
          <p:cNvCxnSpPr>
            <a:stCxn id="6058" idx="5"/>
            <a:endCxn id="6061"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075" name="Google Shape;6075;p298"/>
          <p:cNvCxnSpPr>
            <a:stCxn id="6065" idx="3"/>
            <a:endCxn id="6060"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cxnSp>
        <p:nvCxnSpPr>
          <p:cNvPr id="6076" name="Google Shape;6076;p298"/>
          <p:cNvCxnSpPr>
            <a:stCxn id="6018" idx="2"/>
            <a:endCxn id="6023" idx="0"/>
          </p:cNvCxnSpPr>
          <p:nvPr/>
        </p:nvCxnSpPr>
        <p:spPr>
          <a:xfrm>
            <a:off x="3506797" y="2961845"/>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077" name="Google Shape;6077;p298"/>
          <p:cNvCxnSpPr>
            <a:stCxn id="5983" idx="2"/>
            <a:endCxn id="5988" idx="0"/>
          </p:cNvCxnSpPr>
          <p:nvPr/>
        </p:nvCxnSpPr>
        <p:spPr>
          <a:xfrm>
            <a:off x="5739393" y="2961841"/>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078" name="Google Shape;6078;p298"/>
          <p:cNvCxnSpPr>
            <a:stCxn id="5978" idx="2"/>
            <a:endCxn id="5989" idx="0"/>
          </p:cNvCxnSpPr>
          <p:nvPr/>
        </p:nvCxnSpPr>
        <p:spPr>
          <a:xfrm flipH="1">
            <a:off x="5023143" y="2887434"/>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079" name="Google Shape;6079;p298"/>
          <p:cNvCxnSpPr>
            <a:stCxn id="5978" idx="2"/>
            <a:endCxn id="5988" idx="1"/>
          </p:cNvCxnSpPr>
          <p:nvPr/>
        </p:nvCxnSpPr>
        <p:spPr>
          <a:xfrm>
            <a:off x="5172543" y="2887434"/>
            <a:ext cx="514200" cy="600900"/>
          </a:xfrm>
          <a:prstGeom prst="straightConnector1">
            <a:avLst/>
          </a:prstGeom>
          <a:noFill/>
          <a:ln cap="flat" cmpd="sng" w="19050">
            <a:solidFill>
              <a:srgbClr val="666666"/>
            </a:solidFill>
            <a:prstDash val="solid"/>
            <a:round/>
            <a:headEnd len="med" w="med" type="none"/>
            <a:tailEnd len="med" w="med" type="none"/>
          </a:ln>
        </p:spPr>
      </p:cxnSp>
      <p:cxnSp>
        <p:nvCxnSpPr>
          <p:cNvPr id="6080" name="Google Shape;6080;p298"/>
          <p:cNvCxnSpPr>
            <a:stCxn id="6048" idx="2"/>
            <a:endCxn id="6059" idx="0"/>
          </p:cNvCxnSpPr>
          <p:nvPr/>
        </p:nvCxnSpPr>
        <p:spPr>
          <a:xfrm flipH="1">
            <a:off x="7281643" y="2832809"/>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081" name="Google Shape;6081;p298"/>
          <p:cNvCxnSpPr>
            <a:stCxn id="6053" idx="2"/>
            <a:endCxn id="6058" idx="0"/>
          </p:cNvCxnSpPr>
          <p:nvPr/>
        </p:nvCxnSpPr>
        <p:spPr>
          <a:xfrm>
            <a:off x="7997893" y="2907216"/>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082" name="Google Shape;6082;p298"/>
          <p:cNvCxnSpPr>
            <a:stCxn id="6056" idx="2"/>
            <a:endCxn id="6065" idx="0"/>
          </p:cNvCxnSpPr>
          <p:nvPr/>
        </p:nvCxnSpPr>
        <p:spPr>
          <a:xfrm>
            <a:off x="8648697" y="2798914"/>
            <a:ext cx="0" cy="528300"/>
          </a:xfrm>
          <a:prstGeom prst="straightConnector1">
            <a:avLst/>
          </a:prstGeom>
          <a:noFill/>
          <a:ln cap="flat" cmpd="sng" w="19050">
            <a:solidFill>
              <a:srgbClr val="666666"/>
            </a:solidFill>
            <a:prstDash val="solid"/>
            <a:round/>
            <a:headEnd len="med" w="med" type="none"/>
            <a:tailEnd len="med" w="med" type="none"/>
          </a:ln>
        </p:spPr>
      </p:cxnSp>
      <p:cxnSp>
        <p:nvCxnSpPr>
          <p:cNvPr id="6083" name="Google Shape;6083;p298"/>
          <p:cNvCxnSpPr>
            <a:stCxn id="6057" idx="4"/>
            <a:endCxn id="6056" idx="0"/>
          </p:cNvCxnSpPr>
          <p:nvPr/>
        </p:nvCxnSpPr>
        <p:spPr>
          <a:xfrm>
            <a:off x="8648697" y="2258991"/>
            <a:ext cx="0" cy="242100"/>
          </a:xfrm>
          <a:prstGeom prst="straightConnector1">
            <a:avLst/>
          </a:prstGeom>
          <a:noFill/>
          <a:ln cap="flat" cmpd="sng" w="19050">
            <a:solidFill>
              <a:srgbClr val="666666"/>
            </a:solidFill>
            <a:prstDash val="solid"/>
            <a:round/>
            <a:headEnd len="med" w="med" type="none"/>
            <a:tailEnd len="med" w="med" type="none"/>
          </a:ln>
        </p:spPr>
      </p:cxnSp>
      <p:sp>
        <p:nvSpPr>
          <p:cNvPr id="6084" name="Google Shape;6084;p29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8" name="Shape 6088"/>
        <p:cNvGrpSpPr/>
        <p:nvPr/>
      </p:nvGrpSpPr>
      <p:grpSpPr>
        <a:xfrm>
          <a:off x="0" y="0"/>
          <a:ext cx="0" cy="0"/>
          <a:chOff x="0" y="0"/>
          <a:chExt cx="0" cy="0"/>
        </a:xfrm>
      </p:grpSpPr>
      <p:sp>
        <p:nvSpPr>
          <p:cNvPr id="6089" name="Google Shape;6089;p299"/>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090" name="Google Shape;6090;p299"/>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091" name="Google Shape;6091;p299"/>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092" name="Google Shape;6092;p299"/>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093" name="Google Shape;6093;p299"/>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094" name="Google Shape;6094;p299"/>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095" name="Google Shape;6095;p299"/>
          <p:cNvCxnSpPr>
            <a:endCxn id="6091"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096" name="Google Shape;6096;p299"/>
          <p:cNvCxnSpPr>
            <a:stCxn id="6093" idx="0"/>
            <a:endCxn id="6091"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097" name="Google Shape;6097;p299"/>
          <p:cNvCxnSpPr>
            <a:stCxn id="6090" idx="1"/>
            <a:endCxn id="6089"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098" name="Google Shape;6098;p299"/>
          <p:cNvCxnSpPr>
            <a:stCxn id="6099" idx="1"/>
            <a:endCxn id="6091"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6100" name="Google Shape;6100;p299"/>
          <p:cNvCxnSpPr>
            <a:stCxn id="6092" idx="0"/>
            <a:endCxn id="6089"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101" name="Google Shape;6101;p299"/>
          <p:cNvCxnSpPr>
            <a:stCxn id="6092" idx="5"/>
            <a:endCxn id="6102"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103" name="Google Shape;6103;p299"/>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102" name="Google Shape;6102;p299"/>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099" name="Google Shape;6099;p299"/>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6104" name="Google Shape;6104;p299"/>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105" name="Google Shape;6105;p299"/>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106" name="Google Shape;6106;p299"/>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107" name="Google Shape;6107;p299"/>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108" name="Google Shape;6108;p299"/>
          <p:cNvCxnSpPr>
            <a:stCxn id="6106" idx="2"/>
            <a:endCxn id="6105"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109" name="Google Shape;6109;p299"/>
          <p:cNvCxnSpPr>
            <a:stCxn id="6104" idx="2"/>
            <a:endCxn id="6105"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110" name="Google Shape;6110;p299"/>
          <p:cNvCxnSpPr>
            <a:stCxn id="6106" idx="6"/>
            <a:endCxn id="6107"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111" name="Google Shape;6111;p299"/>
          <p:cNvCxnSpPr>
            <a:stCxn id="6112" idx="4"/>
            <a:endCxn id="6107"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6112" name="Google Shape;6112;p299"/>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113" name="Google Shape;6113;p299"/>
          <p:cNvCxnSpPr>
            <a:stCxn id="6092" idx="3"/>
            <a:endCxn id="6094"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114" name="Google Shape;6114;p299"/>
          <p:cNvCxnSpPr>
            <a:stCxn id="6090" idx="4"/>
            <a:endCxn id="6103"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115" name="Google Shape;6115;p299"/>
          <p:cNvCxnSpPr>
            <a:stCxn id="6090" idx="4"/>
            <a:endCxn id="6099"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116" name="Google Shape;6116;p299"/>
          <p:cNvCxnSpPr>
            <a:stCxn id="6093" idx="4"/>
            <a:endCxn id="6094"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117" name="Google Shape;6117;p299"/>
          <p:cNvCxnSpPr>
            <a:stCxn id="6093" idx="5"/>
            <a:endCxn id="6102"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118" name="Google Shape;6118;p299"/>
          <p:cNvCxnSpPr>
            <a:stCxn id="6094" idx="6"/>
            <a:endCxn id="6099"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119" name="Google Shape;6119;p299"/>
          <p:cNvCxnSpPr>
            <a:stCxn id="6103" idx="3"/>
            <a:endCxn id="6099"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120" name="Google Shape;6120;p299"/>
          <p:cNvCxnSpPr>
            <a:stCxn id="6103" idx="4"/>
            <a:endCxn id="6102"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121" name="Google Shape;6121;p299"/>
          <p:cNvCxnSpPr>
            <a:stCxn id="6104" idx="6"/>
            <a:endCxn id="6112"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122" name="Google Shape;6122;p299"/>
          <p:cNvCxnSpPr>
            <a:stCxn id="6104" idx="5"/>
            <a:endCxn id="6107"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123" name="Google Shape;6123;p299"/>
          <p:cNvCxnSpPr>
            <a:stCxn id="6112" idx="3"/>
            <a:endCxn id="6106"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124" name="Google Shape;6124;p299"/>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125" name="Google Shape;6125;p299"/>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126" name="Google Shape;6126;p299"/>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127" name="Google Shape;6127;p299"/>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128" name="Google Shape;6128;p299"/>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129" name="Google Shape;6129;p299"/>
          <p:cNvSpPr/>
          <p:nvPr/>
        </p:nvSpPr>
        <p:spPr>
          <a:xfrm>
            <a:off x="5023143" y="258953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130" name="Google Shape;6130;p299"/>
          <p:cNvCxnSpPr>
            <a:endCxn id="6126"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131" name="Google Shape;6131;p299"/>
          <p:cNvCxnSpPr>
            <a:stCxn id="6128" idx="0"/>
            <a:endCxn id="6126"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132" name="Google Shape;6132;p299"/>
          <p:cNvCxnSpPr>
            <a:stCxn id="6125" idx="1"/>
            <a:endCxn id="6124"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133" name="Google Shape;6133;p299"/>
          <p:cNvCxnSpPr>
            <a:stCxn id="6134" idx="1"/>
            <a:endCxn id="6126" idx="5"/>
          </p:cNvCxnSpPr>
          <p:nvPr/>
        </p:nvCxnSpPr>
        <p:spPr>
          <a:xfrm rot="10800000">
            <a:off x="5128893" y="1839991"/>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135" name="Google Shape;6135;p299"/>
          <p:cNvCxnSpPr>
            <a:stCxn id="6127" idx="0"/>
            <a:endCxn id="6124"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136" name="Google Shape;6136;p299"/>
          <p:cNvCxnSpPr>
            <a:stCxn id="6127" idx="5"/>
            <a:endCxn id="6137"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138" name="Google Shape;6138;p299"/>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137" name="Google Shape;6137;p299"/>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134" name="Google Shape;6134;p299"/>
          <p:cNvSpPr/>
          <p:nvPr/>
        </p:nvSpPr>
        <p:spPr>
          <a:xfrm>
            <a:off x="5589993" y="2663941"/>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139" name="Google Shape;6139;p299"/>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140" name="Google Shape;6140;p299"/>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141" name="Google Shape;6141;p299"/>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142" name="Google Shape;6142;p299"/>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143" name="Google Shape;6143;p299"/>
          <p:cNvCxnSpPr>
            <a:stCxn id="6141" idx="2"/>
            <a:endCxn id="6140"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144" name="Google Shape;6144;p299"/>
          <p:cNvCxnSpPr>
            <a:stCxn id="6139" idx="2"/>
            <a:endCxn id="6140"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145" name="Google Shape;6145;p299"/>
          <p:cNvCxnSpPr>
            <a:stCxn id="6141" idx="6"/>
            <a:endCxn id="6142"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146" name="Google Shape;6146;p299"/>
          <p:cNvCxnSpPr>
            <a:stCxn id="6147" idx="4"/>
            <a:endCxn id="6142"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6147" name="Google Shape;6147;p299"/>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148" name="Google Shape;6148;p299"/>
          <p:cNvCxnSpPr>
            <a:stCxn id="6127" idx="3"/>
            <a:endCxn id="6129" idx="3"/>
          </p:cNvCxnSpPr>
          <p:nvPr/>
        </p:nvCxnSpPr>
        <p:spPr>
          <a:xfrm flipH="1">
            <a:off x="5321814" y="2137589"/>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149" name="Google Shape;6149;p299"/>
          <p:cNvCxnSpPr>
            <a:stCxn id="6125" idx="4"/>
            <a:endCxn id="6138"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150" name="Google Shape;6150;p299"/>
          <p:cNvCxnSpPr>
            <a:stCxn id="6125" idx="4"/>
            <a:endCxn id="6134" idx="0"/>
          </p:cNvCxnSpPr>
          <p:nvPr/>
        </p:nvCxnSpPr>
        <p:spPr>
          <a:xfrm flipH="1">
            <a:off x="5739522" y="1883545"/>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151" name="Google Shape;6151;p299"/>
          <p:cNvCxnSpPr>
            <a:stCxn id="6128" idx="4"/>
            <a:endCxn id="6129" idx="0"/>
          </p:cNvCxnSpPr>
          <p:nvPr/>
        </p:nvCxnSpPr>
        <p:spPr>
          <a:xfrm>
            <a:off x="5023195" y="2385489"/>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152" name="Google Shape;6152;p299"/>
          <p:cNvCxnSpPr>
            <a:stCxn id="6128" idx="5"/>
            <a:endCxn id="6137"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153" name="Google Shape;6153;p299"/>
          <p:cNvCxnSpPr>
            <a:stCxn id="6129" idx="3"/>
            <a:endCxn id="6134" idx="1"/>
          </p:cNvCxnSpPr>
          <p:nvPr/>
        </p:nvCxnSpPr>
        <p:spPr>
          <a:xfrm>
            <a:off x="5321943" y="2738484"/>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154" name="Google Shape;6154;p299"/>
          <p:cNvCxnSpPr>
            <a:stCxn id="6138" idx="3"/>
            <a:endCxn id="6134" idx="3"/>
          </p:cNvCxnSpPr>
          <p:nvPr/>
        </p:nvCxnSpPr>
        <p:spPr>
          <a:xfrm flipH="1">
            <a:off x="5888855" y="2269990"/>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155" name="Google Shape;6155;p299"/>
          <p:cNvCxnSpPr>
            <a:stCxn id="6138" idx="4"/>
            <a:endCxn id="6137"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156" name="Google Shape;6156;p299"/>
          <p:cNvCxnSpPr>
            <a:stCxn id="6139" idx="6"/>
            <a:endCxn id="6147"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157" name="Google Shape;6157;p299"/>
          <p:cNvCxnSpPr>
            <a:stCxn id="6139" idx="5"/>
            <a:endCxn id="6142"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158" name="Google Shape;6158;p299"/>
          <p:cNvCxnSpPr>
            <a:stCxn id="6147" idx="3"/>
            <a:endCxn id="6141"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159" name="Google Shape;6159;p299"/>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160" name="Google Shape;6160;p299"/>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161" name="Google Shape;6161;p299"/>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162" name="Google Shape;6162;p299"/>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163" name="Google Shape;6163;p299"/>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164" name="Google Shape;6164;p299"/>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165" name="Google Shape;6165;p299"/>
          <p:cNvCxnSpPr>
            <a:endCxn id="6161"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166" name="Google Shape;6166;p299"/>
          <p:cNvCxnSpPr>
            <a:stCxn id="6163" idx="0"/>
            <a:endCxn id="6161"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167" name="Google Shape;6167;p299"/>
          <p:cNvCxnSpPr>
            <a:stCxn id="6160" idx="1"/>
            <a:endCxn id="6159"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168" name="Google Shape;6168;p299"/>
          <p:cNvCxnSpPr>
            <a:stCxn id="6169" idx="1"/>
            <a:endCxn id="6161" idx="5"/>
          </p:cNvCxnSpPr>
          <p:nvPr/>
        </p:nvCxnSpPr>
        <p:spPr>
          <a:xfrm rot="10800000">
            <a:off x="2896297" y="1839995"/>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170" name="Google Shape;6170;p299"/>
          <p:cNvCxnSpPr>
            <a:stCxn id="6162" idx="0"/>
            <a:endCxn id="6159"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171" name="Google Shape;6171;p299"/>
          <p:cNvCxnSpPr>
            <a:stCxn id="6162" idx="5"/>
            <a:endCxn id="6172"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173" name="Google Shape;6173;p299"/>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172" name="Google Shape;6172;p299"/>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169" name="Google Shape;6169;p299"/>
          <p:cNvSpPr/>
          <p:nvPr/>
        </p:nvSpPr>
        <p:spPr>
          <a:xfrm>
            <a:off x="3357397" y="2663945"/>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174" name="Google Shape;6174;p299"/>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175" name="Google Shape;6175;p299"/>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176" name="Google Shape;6176;p299"/>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177" name="Google Shape;6177;p299"/>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178" name="Google Shape;6178;p299"/>
          <p:cNvCxnSpPr>
            <a:stCxn id="6176" idx="2"/>
            <a:endCxn id="6175"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179" name="Google Shape;6179;p299"/>
          <p:cNvCxnSpPr>
            <a:stCxn id="6174" idx="2"/>
            <a:endCxn id="6175"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180" name="Google Shape;6180;p299"/>
          <p:cNvCxnSpPr>
            <a:stCxn id="6176" idx="6"/>
            <a:endCxn id="6177"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181" name="Google Shape;6181;p299"/>
          <p:cNvCxnSpPr>
            <a:stCxn id="6182" idx="4"/>
            <a:endCxn id="6177"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6182" name="Google Shape;6182;p299"/>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183" name="Google Shape;6183;p299"/>
          <p:cNvCxnSpPr>
            <a:stCxn id="6162" idx="3"/>
            <a:endCxn id="6164"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184" name="Google Shape;6184;p299"/>
          <p:cNvCxnSpPr>
            <a:stCxn id="6160" idx="4"/>
            <a:endCxn id="6173"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185" name="Google Shape;6185;p299"/>
          <p:cNvCxnSpPr>
            <a:stCxn id="6160" idx="4"/>
            <a:endCxn id="6169" idx="0"/>
          </p:cNvCxnSpPr>
          <p:nvPr/>
        </p:nvCxnSpPr>
        <p:spPr>
          <a:xfrm flipH="1">
            <a:off x="3506926" y="1883548"/>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186" name="Google Shape;6186;p299"/>
          <p:cNvCxnSpPr>
            <a:stCxn id="6163" idx="4"/>
            <a:endCxn id="6164"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187" name="Google Shape;6187;p299"/>
          <p:cNvCxnSpPr>
            <a:stCxn id="6163" idx="5"/>
            <a:endCxn id="6172"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188" name="Google Shape;6188;p299"/>
          <p:cNvCxnSpPr>
            <a:stCxn id="6164" idx="6"/>
            <a:endCxn id="6169" idx="1"/>
          </p:cNvCxnSpPr>
          <p:nvPr/>
        </p:nvCxnSpPr>
        <p:spPr>
          <a:xfrm>
            <a:off x="3089347" y="2738487"/>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189" name="Google Shape;6189;p299"/>
          <p:cNvCxnSpPr>
            <a:stCxn id="6173" idx="3"/>
            <a:endCxn id="6169" idx="3"/>
          </p:cNvCxnSpPr>
          <p:nvPr/>
        </p:nvCxnSpPr>
        <p:spPr>
          <a:xfrm flipH="1">
            <a:off x="3656259" y="2269993"/>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190" name="Google Shape;6190;p299"/>
          <p:cNvCxnSpPr>
            <a:stCxn id="6173" idx="4"/>
            <a:endCxn id="6172"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191" name="Google Shape;6191;p299"/>
          <p:cNvCxnSpPr>
            <a:stCxn id="6174" idx="6"/>
            <a:endCxn id="6182"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192" name="Google Shape;6192;p299"/>
          <p:cNvCxnSpPr>
            <a:stCxn id="6174" idx="5"/>
            <a:endCxn id="6177"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193" name="Google Shape;6193;p299"/>
          <p:cNvCxnSpPr>
            <a:stCxn id="6182" idx="3"/>
            <a:endCxn id="6176"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194" name="Google Shape;6194;p299"/>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195" name="Google Shape;6195;p299"/>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196" name="Google Shape;6196;p299"/>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197" name="Google Shape;6197;p299"/>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198" name="Google Shape;6198;p299"/>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199" name="Google Shape;6199;p299"/>
          <p:cNvSpPr/>
          <p:nvPr/>
        </p:nvSpPr>
        <p:spPr>
          <a:xfrm>
            <a:off x="7281643" y="2534909"/>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200" name="Google Shape;6200;p299"/>
          <p:cNvCxnSpPr>
            <a:endCxn id="6196"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201" name="Google Shape;6201;p299"/>
          <p:cNvCxnSpPr>
            <a:stCxn id="6198" idx="0"/>
            <a:endCxn id="6196"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202" name="Google Shape;6202;p299"/>
          <p:cNvCxnSpPr>
            <a:stCxn id="6195" idx="1"/>
            <a:endCxn id="6194"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203" name="Google Shape;6203;p299"/>
          <p:cNvCxnSpPr>
            <a:stCxn id="6204" idx="1"/>
            <a:endCxn id="6196" idx="5"/>
          </p:cNvCxnSpPr>
          <p:nvPr/>
        </p:nvCxnSpPr>
        <p:spPr>
          <a:xfrm rot="10800000">
            <a:off x="7387393" y="1785366"/>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205" name="Google Shape;6205;p299"/>
          <p:cNvCxnSpPr>
            <a:stCxn id="6197" idx="0"/>
            <a:endCxn id="6194"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206" name="Google Shape;6206;p299"/>
          <p:cNvCxnSpPr>
            <a:stCxn id="6197" idx="5"/>
            <a:endCxn id="6207" idx="1"/>
          </p:cNvCxnSpPr>
          <p:nvPr/>
        </p:nvCxnSpPr>
        <p:spPr>
          <a:xfrm>
            <a:off x="7954197" y="2082964"/>
            <a:ext cx="545100" cy="567000"/>
          </a:xfrm>
          <a:prstGeom prst="straightConnector1">
            <a:avLst/>
          </a:prstGeom>
          <a:noFill/>
          <a:ln cap="flat" cmpd="sng" w="19050">
            <a:solidFill>
              <a:srgbClr val="666666"/>
            </a:solidFill>
            <a:prstDash val="solid"/>
            <a:round/>
            <a:headEnd len="med" w="med" type="none"/>
            <a:tailEnd len="med" w="med" type="none"/>
          </a:ln>
        </p:spPr>
      </p:cxnSp>
      <p:sp>
        <p:nvSpPr>
          <p:cNvPr id="6208" name="Google Shape;6208;p299"/>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207" name="Google Shape;6207;p299"/>
          <p:cNvSpPr/>
          <p:nvPr/>
        </p:nvSpPr>
        <p:spPr>
          <a:xfrm>
            <a:off x="8499297" y="250101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9</a:t>
            </a:r>
            <a:endParaRPr>
              <a:solidFill>
                <a:srgbClr val="FFFFFF"/>
              </a:solidFill>
            </a:endParaRPr>
          </a:p>
        </p:txBody>
      </p:sp>
      <p:sp>
        <p:nvSpPr>
          <p:cNvPr id="6204" name="Google Shape;6204;p299"/>
          <p:cNvSpPr/>
          <p:nvPr/>
        </p:nvSpPr>
        <p:spPr>
          <a:xfrm>
            <a:off x="7848493" y="2609316"/>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209" name="Google Shape;6209;p299"/>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210" name="Google Shape;6210;p299"/>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211" name="Google Shape;6211;p299"/>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212" name="Google Shape;6212;p299"/>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213" name="Google Shape;6213;p299"/>
          <p:cNvCxnSpPr>
            <a:stCxn id="6211" idx="2"/>
            <a:endCxn id="6210"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214" name="Google Shape;6214;p299"/>
          <p:cNvCxnSpPr>
            <a:stCxn id="6209" idx="2"/>
            <a:endCxn id="6210"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215" name="Google Shape;6215;p299"/>
          <p:cNvCxnSpPr>
            <a:stCxn id="6211" idx="6"/>
            <a:endCxn id="6212"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6216" name="Google Shape;6216;p299"/>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217" name="Google Shape;6217;p299"/>
          <p:cNvCxnSpPr>
            <a:stCxn id="6197" idx="3"/>
            <a:endCxn id="6199" idx="3"/>
          </p:cNvCxnSpPr>
          <p:nvPr/>
        </p:nvCxnSpPr>
        <p:spPr>
          <a:xfrm flipH="1">
            <a:off x="7580314" y="2082964"/>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218" name="Google Shape;6218;p299"/>
          <p:cNvCxnSpPr>
            <a:stCxn id="6195" idx="4"/>
            <a:endCxn id="6208"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219" name="Google Shape;6219;p299"/>
          <p:cNvCxnSpPr>
            <a:stCxn id="6195" idx="4"/>
            <a:endCxn id="6204" idx="0"/>
          </p:cNvCxnSpPr>
          <p:nvPr/>
        </p:nvCxnSpPr>
        <p:spPr>
          <a:xfrm flipH="1">
            <a:off x="7998022" y="1828920"/>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220" name="Google Shape;6220;p299"/>
          <p:cNvCxnSpPr>
            <a:stCxn id="6198" idx="4"/>
            <a:endCxn id="6199" idx="0"/>
          </p:cNvCxnSpPr>
          <p:nvPr/>
        </p:nvCxnSpPr>
        <p:spPr>
          <a:xfrm>
            <a:off x="7281695" y="2330864"/>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221" name="Google Shape;6221;p299"/>
          <p:cNvCxnSpPr>
            <a:stCxn id="6198" idx="5"/>
            <a:endCxn id="6207" idx="1"/>
          </p:cNvCxnSpPr>
          <p:nvPr/>
        </p:nvCxnSpPr>
        <p:spPr>
          <a:xfrm>
            <a:off x="7387337" y="2287238"/>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222" name="Google Shape;6222;p299"/>
          <p:cNvCxnSpPr>
            <a:stCxn id="6199" idx="3"/>
            <a:endCxn id="6204" idx="1"/>
          </p:cNvCxnSpPr>
          <p:nvPr/>
        </p:nvCxnSpPr>
        <p:spPr>
          <a:xfrm>
            <a:off x="7580443" y="2683859"/>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223" name="Google Shape;6223;p299"/>
          <p:cNvCxnSpPr>
            <a:stCxn id="6208" idx="3"/>
            <a:endCxn id="6204" idx="3"/>
          </p:cNvCxnSpPr>
          <p:nvPr/>
        </p:nvCxnSpPr>
        <p:spPr>
          <a:xfrm flipH="1">
            <a:off x="8147355" y="2215365"/>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224" name="Google Shape;6224;p299"/>
          <p:cNvCxnSpPr>
            <a:stCxn id="6209" idx="6"/>
            <a:endCxn id="6216"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225" name="Google Shape;6225;p299"/>
          <p:cNvCxnSpPr>
            <a:stCxn id="6209" idx="5"/>
            <a:endCxn id="6212"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226" name="Google Shape;6226;p299"/>
          <p:cNvCxnSpPr>
            <a:stCxn id="6216" idx="3"/>
            <a:endCxn id="6211"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cxnSp>
        <p:nvCxnSpPr>
          <p:cNvPr id="6227" name="Google Shape;6227;p299"/>
          <p:cNvCxnSpPr>
            <a:stCxn id="6169" idx="2"/>
            <a:endCxn id="6174" idx="0"/>
          </p:cNvCxnSpPr>
          <p:nvPr/>
        </p:nvCxnSpPr>
        <p:spPr>
          <a:xfrm>
            <a:off x="3506797" y="2961845"/>
            <a:ext cx="52800" cy="482700"/>
          </a:xfrm>
          <a:prstGeom prst="straightConnector1">
            <a:avLst/>
          </a:prstGeom>
          <a:noFill/>
          <a:ln cap="flat" cmpd="sng" w="19050">
            <a:solidFill>
              <a:srgbClr val="666666"/>
            </a:solidFill>
            <a:prstDash val="solid"/>
            <a:round/>
            <a:headEnd len="med" w="med" type="none"/>
            <a:tailEnd len="med" w="med" type="none"/>
          </a:ln>
        </p:spPr>
      </p:cxnSp>
      <p:sp>
        <p:nvSpPr>
          <p:cNvPr id="6228" name="Google Shape;6228;p299"/>
          <p:cNvSpPr txBox="1"/>
          <p:nvPr/>
        </p:nvSpPr>
        <p:spPr>
          <a:xfrm>
            <a:off x="734725" y="466462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0</a:t>
            </a:r>
            <a:endParaRPr b="1">
              <a:solidFill>
                <a:srgbClr val="0000FF"/>
              </a:solidFill>
              <a:latin typeface="Open Sans"/>
              <a:ea typeface="Open Sans"/>
              <a:cs typeface="Open Sans"/>
              <a:sym typeface="Open Sans"/>
            </a:endParaRPr>
          </a:p>
        </p:txBody>
      </p:sp>
      <p:cxnSp>
        <p:nvCxnSpPr>
          <p:cNvPr id="6229" name="Google Shape;6229;p299"/>
          <p:cNvCxnSpPr>
            <a:stCxn id="6134" idx="2"/>
            <a:endCxn id="6139" idx="0"/>
          </p:cNvCxnSpPr>
          <p:nvPr/>
        </p:nvCxnSpPr>
        <p:spPr>
          <a:xfrm>
            <a:off x="5739393" y="2961841"/>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230" name="Google Shape;6230;p299"/>
          <p:cNvCxnSpPr>
            <a:stCxn id="6129" idx="2"/>
            <a:endCxn id="6140" idx="0"/>
          </p:cNvCxnSpPr>
          <p:nvPr/>
        </p:nvCxnSpPr>
        <p:spPr>
          <a:xfrm flipH="1">
            <a:off x="5023143" y="2887434"/>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231" name="Google Shape;6231;p299"/>
          <p:cNvCxnSpPr>
            <a:stCxn id="6129" idx="2"/>
            <a:endCxn id="6139" idx="1"/>
          </p:cNvCxnSpPr>
          <p:nvPr/>
        </p:nvCxnSpPr>
        <p:spPr>
          <a:xfrm>
            <a:off x="5172543" y="2887434"/>
            <a:ext cx="514200" cy="600900"/>
          </a:xfrm>
          <a:prstGeom prst="straightConnector1">
            <a:avLst/>
          </a:prstGeom>
          <a:noFill/>
          <a:ln cap="flat" cmpd="sng" w="19050">
            <a:solidFill>
              <a:srgbClr val="666666"/>
            </a:solidFill>
            <a:prstDash val="solid"/>
            <a:round/>
            <a:headEnd len="med" w="med" type="none"/>
            <a:tailEnd len="med" w="med" type="none"/>
          </a:ln>
        </p:spPr>
      </p:cxnSp>
      <p:cxnSp>
        <p:nvCxnSpPr>
          <p:cNvPr id="6232" name="Google Shape;6232;p299"/>
          <p:cNvCxnSpPr>
            <a:stCxn id="6199" idx="2"/>
            <a:endCxn id="6210" idx="0"/>
          </p:cNvCxnSpPr>
          <p:nvPr/>
        </p:nvCxnSpPr>
        <p:spPr>
          <a:xfrm flipH="1">
            <a:off x="7281643" y="2832809"/>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233" name="Google Shape;6233;p299"/>
          <p:cNvCxnSpPr>
            <a:stCxn id="6204" idx="2"/>
            <a:endCxn id="6209" idx="0"/>
          </p:cNvCxnSpPr>
          <p:nvPr/>
        </p:nvCxnSpPr>
        <p:spPr>
          <a:xfrm>
            <a:off x="7997893" y="2907216"/>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234" name="Google Shape;6234;p299"/>
          <p:cNvCxnSpPr>
            <a:stCxn id="6207" idx="2"/>
            <a:endCxn id="6216" idx="0"/>
          </p:cNvCxnSpPr>
          <p:nvPr/>
        </p:nvCxnSpPr>
        <p:spPr>
          <a:xfrm>
            <a:off x="8648697" y="2798914"/>
            <a:ext cx="0" cy="528300"/>
          </a:xfrm>
          <a:prstGeom prst="straightConnector1">
            <a:avLst/>
          </a:prstGeom>
          <a:noFill/>
          <a:ln cap="flat" cmpd="sng" w="19050">
            <a:solidFill>
              <a:srgbClr val="666666"/>
            </a:solidFill>
            <a:prstDash val="solid"/>
            <a:round/>
            <a:headEnd len="med" w="med" type="none"/>
            <a:tailEnd len="med" w="med" type="none"/>
          </a:ln>
        </p:spPr>
      </p:cxnSp>
      <p:cxnSp>
        <p:nvCxnSpPr>
          <p:cNvPr id="6235" name="Google Shape;6235;p299"/>
          <p:cNvCxnSpPr>
            <a:stCxn id="6208" idx="4"/>
            <a:endCxn id="6207" idx="0"/>
          </p:cNvCxnSpPr>
          <p:nvPr/>
        </p:nvCxnSpPr>
        <p:spPr>
          <a:xfrm>
            <a:off x="8648697" y="2258991"/>
            <a:ext cx="0" cy="242100"/>
          </a:xfrm>
          <a:prstGeom prst="straightConnector1">
            <a:avLst/>
          </a:prstGeom>
          <a:noFill/>
          <a:ln cap="flat" cmpd="sng" w="19050">
            <a:solidFill>
              <a:srgbClr val="666666"/>
            </a:solidFill>
            <a:prstDash val="solid"/>
            <a:round/>
            <a:headEnd len="med" w="med" type="none"/>
            <a:tailEnd len="med" w="med" type="none"/>
          </a:ln>
        </p:spPr>
      </p:cxnSp>
      <p:sp>
        <p:nvSpPr>
          <p:cNvPr id="6236" name="Google Shape;6236;p299"/>
          <p:cNvSpPr txBox="1"/>
          <p:nvPr/>
        </p:nvSpPr>
        <p:spPr>
          <a:xfrm>
            <a:off x="461100" y="3007700"/>
            <a:ext cx="2283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Already </a:t>
            </a:r>
            <a:r>
              <a:rPr b="1" lang="en" sz="1200">
                <a:solidFill>
                  <a:srgbClr val="0000FF"/>
                </a:solidFill>
                <a:latin typeface="Open Sans"/>
                <a:ea typeface="Open Sans"/>
                <a:cs typeface="Open Sans"/>
                <a:sym typeface="Open Sans"/>
              </a:rPr>
              <a:t>disconnected</a:t>
            </a:r>
            <a:r>
              <a:rPr b="1" lang="en" sz="1200">
                <a:solidFill>
                  <a:srgbClr val="0000FF"/>
                </a:solidFill>
                <a:latin typeface="Open Sans"/>
                <a:ea typeface="Open Sans"/>
                <a:cs typeface="Open Sans"/>
                <a:sym typeface="Open Sans"/>
              </a:rPr>
              <a:t>!</a:t>
            </a:r>
            <a:endParaRPr b="1" sz="1200">
              <a:solidFill>
                <a:srgbClr val="0000FF"/>
              </a:solidFill>
              <a:latin typeface="Open Sans"/>
              <a:ea typeface="Open Sans"/>
              <a:cs typeface="Open Sans"/>
              <a:sym typeface="Open Sans"/>
            </a:endParaRPr>
          </a:p>
        </p:txBody>
      </p:sp>
      <p:sp>
        <p:nvSpPr>
          <p:cNvPr id="6237" name="Google Shape;6237;p29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1" name="Shape 6241"/>
        <p:cNvGrpSpPr/>
        <p:nvPr/>
      </p:nvGrpSpPr>
      <p:grpSpPr>
        <a:xfrm>
          <a:off x="0" y="0"/>
          <a:ext cx="0" cy="0"/>
          <a:chOff x="0" y="0"/>
          <a:chExt cx="0" cy="0"/>
        </a:xfrm>
      </p:grpSpPr>
      <p:sp>
        <p:nvSpPr>
          <p:cNvPr id="6242" name="Google Shape;6242;p300"/>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243" name="Google Shape;6243;p300"/>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244" name="Google Shape;6244;p300"/>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245" name="Google Shape;6245;p300"/>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246" name="Google Shape;6246;p300"/>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247" name="Google Shape;6247;p300"/>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248" name="Google Shape;6248;p300"/>
          <p:cNvCxnSpPr>
            <a:endCxn id="6244"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249" name="Google Shape;6249;p300"/>
          <p:cNvCxnSpPr>
            <a:stCxn id="6246" idx="0"/>
            <a:endCxn id="6244"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250" name="Google Shape;6250;p300"/>
          <p:cNvCxnSpPr>
            <a:stCxn id="6243" idx="1"/>
            <a:endCxn id="6242"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251" name="Google Shape;6251;p300"/>
          <p:cNvCxnSpPr>
            <a:stCxn id="6252" idx="1"/>
            <a:endCxn id="6244"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6253" name="Google Shape;6253;p300"/>
          <p:cNvCxnSpPr>
            <a:stCxn id="6245" idx="0"/>
            <a:endCxn id="6242"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254" name="Google Shape;6254;p300"/>
          <p:cNvCxnSpPr>
            <a:stCxn id="6245" idx="5"/>
            <a:endCxn id="6255"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256" name="Google Shape;6256;p300"/>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255" name="Google Shape;6255;p300"/>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252" name="Google Shape;6252;p300"/>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6257" name="Google Shape;6257;p300"/>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258" name="Google Shape;6258;p300"/>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259" name="Google Shape;6259;p300"/>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260" name="Google Shape;6260;p300"/>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261" name="Google Shape;6261;p300"/>
          <p:cNvCxnSpPr>
            <a:stCxn id="6259" idx="2"/>
            <a:endCxn id="6258"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262" name="Google Shape;6262;p300"/>
          <p:cNvCxnSpPr>
            <a:stCxn id="6257" idx="2"/>
            <a:endCxn id="6258"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263" name="Google Shape;6263;p300"/>
          <p:cNvCxnSpPr>
            <a:stCxn id="6259" idx="6"/>
            <a:endCxn id="6260"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264" name="Google Shape;6264;p300"/>
          <p:cNvCxnSpPr>
            <a:stCxn id="6265" idx="4"/>
            <a:endCxn id="6260"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6265" name="Google Shape;6265;p300"/>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266" name="Google Shape;6266;p300"/>
          <p:cNvCxnSpPr>
            <a:stCxn id="6245" idx="3"/>
            <a:endCxn id="6247"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267" name="Google Shape;6267;p300"/>
          <p:cNvCxnSpPr>
            <a:stCxn id="6243" idx="4"/>
            <a:endCxn id="6256"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268" name="Google Shape;6268;p300"/>
          <p:cNvCxnSpPr>
            <a:stCxn id="6243" idx="4"/>
            <a:endCxn id="6252"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269" name="Google Shape;6269;p300"/>
          <p:cNvCxnSpPr>
            <a:stCxn id="6246" idx="4"/>
            <a:endCxn id="6247"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270" name="Google Shape;6270;p300"/>
          <p:cNvCxnSpPr>
            <a:stCxn id="6246" idx="5"/>
            <a:endCxn id="6255"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271" name="Google Shape;6271;p300"/>
          <p:cNvCxnSpPr>
            <a:stCxn id="6247" idx="6"/>
            <a:endCxn id="6252"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272" name="Google Shape;6272;p300"/>
          <p:cNvCxnSpPr>
            <a:stCxn id="6256" idx="3"/>
            <a:endCxn id="6252"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273" name="Google Shape;6273;p300"/>
          <p:cNvCxnSpPr>
            <a:stCxn id="6256" idx="4"/>
            <a:endCxn id="6255"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274" name="Google Shape;6274;p300"/>
          <p:cNvCxnSpPr>
            <a:stCxn id="6257" idx="6"/>
            <a:endCxn id="6265"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275" name="Google Shape;6275;p300"/>
          <p:cNvCxnSpPr>
            <a:stCxn id="6257" idx="5"/>
            <a:endCxn id="6260"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276" name="Google Shape;6276;p300"/>
          <p:cNvCxnSpPr>
            <a:stCxn id="6265" idx="3"/>
            <a:endCxn id="6259"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277" name="Google Shape;6277;p300"/>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278" name="Google Shape;6278;p300"/>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279" name="Google Shape;6279;p300"/>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280" name="Google Shape;6280;p300"/>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281" name="Google Shape;6281;p300"/>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282" name="Google Shape;6282;p300"/>
          <p:cNvSpPr/>
          <p:nvPr/>
        </p:nvSpPr>
        <p:spPr>
          <a:xfrm>
            <a:off x="5023143" y="258953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283" name="Google Shape;6283;p300"/>
          <p:cNvCxnSpPr>
            <a:endCxn id="6279"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284" name="Google Shape;6284;p300"/>
          <p:cNvCxnSpPr>
            <a:stCxn id="6281" idx="0"/>
            <a:endCxn id="6279"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285" name="Google Shape;6285;p300"/>
          <p:cNvCxnSpPr>
            <a:stCxn id="6278" idx="1"/>
            <a:endCxn id="6277"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286" name="Google Shape;6286;p300"/>
          <p:cNvCxnSpPr>
            <a:stCxn id="6287" idx="1"/>
            <a:endCxn id="6279" idx="5"/>
          </p:cNvCxnSpPr>
          <p:nvPr/>
        </p:nvCxnSpPr>
        <p:spPr>
          <a:xfrm rot="10800000">
            <a:off x="5128893" y="1839991"/>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288" name="Google Shape;6288;p300"/>
          <p:cNvCxnSpPr>
            <a:stCxn id="6280" idx="0"/>
            <a:endCxn id="6277"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289" name="Google Shape;6289;p300"/>
          <p:cNvCxnSpPr>
            <a:stCxn id="6280" idx="5"/>
            <a:endCxn id="6290"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291" name="Google Shape;6291;p300"/>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290" name="Google Shape;6290;p300"/>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287" name="Google Shape;6287;p300"/>
          <p:cNvSpPr/>
          <p:nvPr/>
        </p:nvSpPr>
        <p:spPr>
          <a:xfrm>
            <a:off x="5589993" y="2663941"/>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292" name="Google Shape;6292;p300"/>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293" name="Google Shape;6293;p300"/>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294" name="Google Shape;6294;p300"/>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295" name="Google Shape;6295;p300"/>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296" name="Google Shape;6296;p300"/>
          <p:cNvCxnSpPr>
            <a:stCxn id="6294" idx="2"/>
            <a:endCxn id="6293"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297" name="Google Shape;6297;p300"/>
          <p:cNvCxnSpPr>
            <a:stCxn id="6292" idx="2"/>
            <a:endCxn id="6293"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298" name="Google Shape;6298;p300"/>
          <p:cNvCxnSpPr>
            <a:stCxn id="6294" idx="6"/>
            <a:endCxn id="6295"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299" name="Google Shape;6299;p300"/>
          <p:cNvCxnSpPr>
            <a:stCxn id="6300" idx="4"/>
            <a:endCxn id="6295"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6300" name="Google Shape;6300;p300"/>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301" name="Google Shape;6301;p300"/>
          <p:cNvCxnSpPr>
            <a:stCxn id="6280" idx="3"/>
            <a:endCxn id="6282" idx="3"/>
          </p:cNvCxnSpPr>
          <p:nvPr/>
        </p:nvCxnSpPr>
        <p:spPr>
          <a:xfrm flipH="1">
            <a:off x="5321814" y="2137589"/>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302" name="Google Shape;6302;p300"/>
          <p:cNvCxnSpPr>
            <a:stCxn id="6278" idx="4"/>
            <a:endCxn id="6291"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303" name="Google Shape;6303;p300"/>
          <p:cNvCxnSpPr>
            <a:stCxn id="6278" idx="4"/>
            <a:endCxn id="6287" idx="0"/>
          </p:cNvCxnSpPr>
          <p:nvPr/>
        </p:nvCxnSpPr>
        <p:spPr>
          <a:xfrm flipH="1">
            <a:off x="5739522" y="1883545"/>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304" name="Google Shape;6304;p300"/>
          <p:cNvCxnSpPr>
            <a:stCxn id="6281" idx="4"/>
            <a:endCxn id="6282" idx="0"/>
          </p:cNvCxnSpPr>
          <p:nvPr/>
        </p:nvCxnSpPr>
        <p:spPr>
          <a:xfrm>
            <a:off x="5023195" y="2385489"/>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305" name="Google Shape;6305;p300"/>
          <p:cNvCxnSpPr>
            <a:stCxn id="6281" idx="5"/>
            <a:endCxn id="6290"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306" name="Google Shape;6306;p300"/>
          <p:cNvCxnSpPr>
            <a:stCxn id="6282" idx="3"/>
            <a:endCxn id="6287" idx="1"/>
          </p:cNvCxnSpPr>
          <p:nvPr/>
        </p:nvCxnSpPr>
        <p:spPr>
          <a:xfrm>
            <a:off x="5321943" y="2738484"/>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307" name="Google Shape;6307;p300"/>
          <p:cNvCxnSpPr>
            <a:stCxn id="6291" idx="3"/>
            <a:endCxn id="6287" idx="3"/>
          </p:cNvCxnSpPr>
          <p:nvPr/>
        </p:nvCxnSpPr>
        <p:spPr>
          <a:xfrm flipH="1">
            <a:off x="5888855" y="2269990"/>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308" name="Google Shape;6308;p300"/>
          <p:cNvCxnSpPr>
            <a:stCxn id="6291" idx="4"/>
            <a:endCxn id="6290"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309" name="Google Shape;6309;p300"/>
          <p:cNvCxnSpPr>
            <a:stCxn id="6292" idx="6"/>
            <a:endCxn id="6300"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310" name="Google Shape;6310;p300"/>
          <p:cNvCxnSpPr>
            <a:stCxn id="6292" idx="5"/>
            <a:endCxn id="6295"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311" name="Google Shape;6311;p300"/>
          <p:cNvCxnSpPr>
            <a:stCxn id="6300" idx="3"/>
            <a:endCxn id="6294"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312" name="Google Shape;6312;p300"/>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313" name="Google Shape;6313;p300"/>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314" name="Google Shape;6314;p300"/>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315" name="Google Shape;6315;p300"/>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316" name="Google Shape;6316;p300"/>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317" name="Google Shape;6317;p300"/>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318" name="Google Shape;6318;p300"/>
          <p:cNvCxnSpPr>
            <a:endCxn id="6314"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319" name="Google Shape;6319;p300"/>
          <p:cNvCxnSpPr>
            <a:stCxn id="6316" idx="0"/>
            <a:endCxn id="6314"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320" name="Google Shape;6320;p300"/>
          <p:cNvCxnSpPr>
            <a:stCxn id="6313" idx="1"/>
            <a:endCxn id="6312"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321" name="Google Shape;6321;p300"/>
          <p:cNvCxnSpPr>
            <a:stCxn id="6322" idx="1"/>
            <a:endCxn id="6314" idx="5"/>
          </p:cNvCxnSpPr>
          <p:nvPr/>
        </p:nvCxnSpPr>
        <p:spPr>
          <a:xfrm rot="10800000">
            <a:off x="2896297" y="1839995"/>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323" name="Google Shape;6323;p300"/>
          <p:cNvCxnSpPr>
            <a:stCxn id="6315" idx="0"/>
            <a:endCxn id="6312"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324" name="Google Shape;6324;p300"/>
          <p:cNvCxnSpPr>
            <a:stCxn id="6315" idx="5"/>
            <a:endCxn id="6325"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326" name="Google Shape;6326;p300"/>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325" name="Google Shape;6325;p300"/>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322" name="Google Shape;6322;p300"/>
          <p:cNvSpPr/>
          <p:nvPr/>
        </p:nvSpPr>
        <p:spPr>
          <a:xfrm>
            <a:off x="3357397" y="2663945"/>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327" name="Google Shape;6327;p300"/>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328" name="Google Shape;6328;p300"/>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329" name="Google Shape;6329;p300"/>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330" name="Google Shape;6330;p300"/>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331" name="Google Shape;6331;p300"/>
          <p:cNvCxnSpPr>
            <a:stCxn id="6329" idx="2"/>
            <a:endCxn id="6328"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332" name="Google Shape;6332;p300"/>
          <p:cNvCxnSpPr>
            <a:stCxn id="6327" idx="2"/>
            <a:endCxn id="6328"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333" name="Google Shape;6333;p300"/>
          <p:cNvCxnSpPr>
            <a:stCxn id="6329" idx="6"/>
            <a:endCxn id="6330"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334" name="Google Shape;6334;p300"/>
          <p:cNvCxnSpPr>
            <a:stCxn id="6335" idx="4"/>
            <a:endCxn id="6330"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6335" name="Google Shape;6335;p300"/>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336" name="Google Shape;6336;p300"/>
          <p:cNvCxnSpPr>
            <a:stCxn id="6315" idx="3"/>
            <a:endCxn id="6317"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337" name="Google Shape;6337;p300"/>
          <p:cNvCxnSpPr>
            <a:stCxn id="6313" idx="4"/>
            <a:endCxn id="6326"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338" name="Google Shape;6338;p300"/>
          <p:cNvCxnSpPr>
            <a:stCxn id="6313" idx="4"/>
            <a:endCxn id="6322" idx="0"/>
          </p:cNvCxnSpPr>
          <p:nvPr/>
        </p:nvCxnSpPr>
        <p:spPr>
          <a:xfrm flipH="1">
            <a:off x="3506926" y="1883548"/>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339" name="Google Shape;6339;p300"/>
          <p:cNvCxnSpPr>
            <a:stCxn id="6316" idx="4"/>
            <a:endCxn id="6317"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340" name="Google Shape;6340;p300"/>
          <p:cNvCxnSpPr>
            <a:stCxn id="6316" idx="5"/>
            <a:endCxn id="6325"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341" name="Google Shape;6341;p300"/>
          <p:cNvCxnSpPr>
            <a:stCxn id="6317" idx="6"/>
            <a:endCxn id="6322" idx="1"/>
          </p:cNvCxnSpPr>
          <p:nvPr/>
        </p:nvCxnSpPr>
        <p:spPr>
          <a:xfrm>
            <a:off x="3089347" y="2738487"/>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342" name="Google Shape;6342;p300"/>
          <p:cNvCxnSpPr>
            <a:stCxn id="6326" idx="3"/>
            <a:endCxn id="6322" idx="3"/>
          </p:cNvCxnSpPr>
          <p:nvPr/>
        </p:nvCxnSpPr>
        <p:spPr>
          <a:xfrm flipH="1">
            <a:off x="3656259" y="2269993"/>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343" name="Google Shape;6343;p300"/>
          <p:cNvCxnSpPr>
            <a:stCxn id="6326" idx="4"/>
            <a:endCxn id="6325"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344" name="Google Shape;6344;p300"/>
          <p:cNvCxnSpPr>
            <a:stCxn id="6327" idx="6"/>
            <a:endCxn id="6335"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345" name="Google Shape;6345;p300"/>
          <p:cNvCxnSpPr>
            <a:stCxn id="6327" idx="5"/>
            <a:endCxn id="6330"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346" name="Google Shape;6346;p300"/>
          <p:cNvCxnSpPr>
            <a:stCxn id="6335" idx="3"/>
            <a:endCxn id="6329"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347" name="Google Shape;6347;p300"/>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348" name="Google Shape;6348;p300"/>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349" name="Google Shape;6349;p300"/>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350" name="Google Shape;6350;p300"/>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351" name="Google Shape;6351;p300"/>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352" name="Google Shape;6352;p300"/>
          <p:cNvSpPr/>
          <p:nvPr/>
        </p:nvSpPr>
        <p:spPr>
          <a:xfrm>
            <a:off x="7281643" y="2534909"/>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353" name="Google Shape;6353;p300"/>
          <p:cNvCxnSpPr>
            <a:endCxn id="6349"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354" name="Google Shape;6354;p300"/>
          <p:cNvCxnSpPr>
            <a:stCxn id="6351" idx="0"/>
            <a:endCxn id="6349"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355" name="Google Shape;6355;p300"/>
          <p:cNvCxnSpPr>
            <a:stCxn id="6348" idx="1"/>
            <a:endCxn id="6347"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356" name="Google Shape;6356;p300"/>
          <p:cNvCxnSpPr>
            <a:stCxn id="6357" idx="1"/>
            <a:endCxn id="6349" idx="5"/>
          </p:cNvCxnSpPr>
          <p:nvPr/>
        </p:nvCxnSpPr>
        <p:spPr>
          <a:xfrm rot="10800000">
            <a:off x="7387393" y="1785366"/>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358" name="Google Shape;6358;p300"/>
          <p:cNvCxnSpPr>
            <a:stCxn id="6350" idx="0"/>
            <a:endCxn id="6347"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359" name="Google Shape;6359;p300"/>
          <p:cNvCxnSpPr>
            <a:stCxn id="6350" idx="5"/>
            <a:endCxn id="6360" idx="1"/>
          </p:cNvCxnSpPr>
          <p:nvPr/>
        </p:nvCxnSpPr>
        <p:spPr>
          <a:xfrm>
            <a:off x="7954197" y="2082964"/>
            <a:ext cx="545100" cy="567000"/>
          </a:xfrm>
          <a:prstGeom prst="straightConnector1">
            <a:avLst/>
          </a:prstGeom>
          <a:noFill/>
          <a:ln cap="flat" cmpd="sng" w="19050">
            <a:solidFill>
              <a:srgbClr val="666666"/>
            </a:solidFill>
            <a:prstDash val="solid"/>
            <a:round/>
            <a:headEnd len="med" w="med" type="none"/>
            <a:tailEnd len="med" w="med" type="none"/>
          </a:ln>
        </p:spPr>
      </p:cxnSp>
      <p:sp>
        <p:nvSpPr>
          <p:cNvPr id="6361" name="Google Shape;6361;p300"/>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360" name="Google Shape;6360;p300"/>
          <p:cNvSpPr/>
          <p:nvPr/>
        </p:nvSpPr>
        <p:spPr>
          <a:xfrm>
            <a:off x="8499297" y="250101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9</a:t>
            </a:r>
            <a:endParaRPr>
              <a:solidFill>
                <a:srgbClr val="FFFFFF"/>
              </a:solidFill>
            </a:endParaRPr>
          </a:p>
        </p:txBody>
      </p:sp>
      <p:sp>
        <p:nvSpPr>
          <p:cNvPr id="6357" name="Google Shape;6357;p300"/>
          <p:cNvSpPr/>
          <p:nvPr/>
        </p:nvSpPr>
        <p:spPr>
          <a:xfrm>
            <a:off x="7848493" y="2609316"/>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362" name="Google Shape;6362;p300"/>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363" name="Google Shape;6363;p300"/>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364" name="Google Shape;6364;p300"/>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365" name="Google Shape;6365;p300"/>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366" name="Google Shape;6366;p300"/>
          <p:cNvCxnSpPr>
            <a:stCxn id="6364" idx="2"/>
            <a:endCxn id="6363"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367" name="Google Shape;6367;p300"/>
          <p:cNvCxnSpPr>
            <a:stCxn id="6362" idx="2"/>
            <a:endCxn id="6363"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368" name="Google Shape;6368;p300"/>
          <p:cNvCxnSpPr>
            <a:stCxn id="6364" idx="6"/>
            <a:endCxn id="6365"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6369" name="Google Shape;6369;p300"/>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370" name="Google Shape;6370;p300"/>
          <p:cNvCxnSpPr>
            <a:stCxn id="6350" idx="3"/>
            <a:endCxn id="6352" idx="3"/>
          </p:cNvCxnSpPr>
          <p:nvPr/>
        </p:nvCxnSpPr>
        <p:spPr>
          <a:xfrm flipH="1">
            <a:off x="7580314" y="2082964"/>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371" name="Google Shape;6371;p300"/>
          <p:cNvCxnSpPr>
            <a:stCxn id="6348" idx="4"/>
            <a:endCxn id="6361"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372" name="Google Shape;6372;p300"/>
          <p:cNvCxnSpPr>
            <a:stCxn id="6348" idx="4"/>
            <a:endCxn id="6357" idx="0"/>
          </p:cNvCxnSpPr>
          <p:nvPr/>
        </p:nvCxnSpPr>
        <p:spPr>
          <a:xfrm flipH="1">
            <a:off x="7998022" y="1828920"/>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373" name="Google Shape;6373;p300"/>
          <p:cNvCxnSpPr>
            <a:stCxn id="6351" idx="4"/>
            <a:endCxn id="6352" idx="0"/>
          </p:cNvCxnSpPr>
          <p:nvPr/>
        </p:nvCxnSpPr>
        <p:spPr>
          <a:xfrm>
            <a:off x="7281695" y="2330864"/>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374" name="Google Shape;6374;p300"/>
          <p:cNvCxnSpPr>
            <a:stCxn id="6351" idx="5"/>
            <a:endCxn id="6360" idx="1"/>
          </p:cNvCxnSpPr>
          <p:nvPr/>
        </p:nvCxnSpPr>
        <p:spPr>
          <a:xfrm>
            <a:off x="7387337" y="2287238"/>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375" name="Google Shape;6375;p300"/>
          <p:cNvCxnSpPr>
            <a:stCxn id="6352" idx="3"/>
            <a:endCxn id="6357" idx="1"/>
          </p:cNvCxnSpPr>
          <p:nvPr/>
        </p:nvCxnSpPr>
        <p:spPr>
          <a:xfrm>
            <a:off x="7580443" y="2683859"/>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376" name="Google Shape;6376;p300"/>
          <p:cNvCxnSpPr>
            <a:stCxn id="6361" idx="3"/>
            <a:endCxn id="6357" idx="3"/>
          </p:cNvCxnSpPr>
          <p:nvPr/>
        </p:nvCxnSpPr>
        <p:spPr>
          <a:xfrm flipH="1">
            <a:off x="8147355" y="2215365"/>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377" name="Google Shape;6377;p300"/>
          <p:cNvCxnSpPr>
            <a:stCxn id="6362" idx="6"/>
            <a:endCxn id="6369"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378" name="Google Shape;6378;p300"/>
          <p:cNvCxnSpPr>
            <a:stCxn id="6362" idx="5"/>
            <a:endCxn id="6365"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379" name="Google Shape;6379;p300"/>
          <p:cNvCxnSpPr>
            <a:stCxn id="6369" idx="3"/>
            <a:endCxn id="6364"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cxnSp>
        <p:nvCxnSpPr>
          <p:cNvPr id="6380" name="Google Shape;6380;p300"/>
          <p:cNvCxnSpPr>
            <a:stCxn id="6322" idx="2"/>
            <a:endCxn id="6327" idx="0"/>
          </p:cNvCxnSpPr>
          <p:nvPr/>
        </p:nvCxnSpPr>
        <p:spPr>
          <a:xfrm>
            <a:off x="3506797" y="2961845"/>
            <a:ext cx="52800" cy="482700"/>
          </a:xfrm>
          <a:prstGeom prst="straightConnector1">
            <a:avLst/>
          </a:prstGeom>
          <a:noFill/>
          <a:ln cap="flat" cmpd="sng" w="19050">
            <a:solidFill>
              <a:srgbClr val="666666"/>
            </a:solidFill>
            <a:prstDash val="solid"/>
            <a:round/>
            <a:headEnd len="med" w="med" type="none"/>
            <a:tailEnd len="med" w="med" type="none"/>
          </a:ln>
        </p:spPr>
      </p:cxnSp>
      <p:sp>
        <p:nvSpPr>
          <p:cNvPr id="6381" name="Google Shape;6381;p300"/>
          <p:cNvSpPr txBox="1"/>
          <p:nvPr/>
        </p:nvSpPr>
        <p:spPr>
          <a:xfrm>
            <a:off x="734725" y="466462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0</a:t>
            </a:r>
            <a:endParaRPr b="1">
              <a:solidFill>
                <a:srgbClr val="0000FF"/>
              </a:solidFill>
              <a:latin typeface="Open Sans"/>
              <a:ea typeface="Open Sans"/>
              <a:cs typeface="Open Sans"/>
              <a:sym typeface="Open Sans"/>
            </a:endParaRPr>
          </a:p>
        </p:txBody>
      </p:sp>
      <p:cxnSp>
        <p:nvCxnSpPr>
          <p:cNvPr id="6382" name="Google Shape;6382;p300"/>
          <p:cNvCxnSpPr>
            <a:stCxn id="6287" idx="2"/>
            <a:endCxn id="6292" idx="0"/>
          </p:cNvCxnSpPr>
          <p:nvPr/>
        </p:nvCxnSpPr>
        <p:spPr>
          <a:xfrm>
            <a:off x="5739393" y="2961841"/>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383" name="Google Shape;6383;p300"/>
          <p:cNvCxnSpPr>
            <a:stCxn id="6282" idx="2"/>
            <a:endCxn id="6293" idx="0"/>
          </p:cNvCxnSpPr>
          <p:nvPr/>
        </p:nvCxnSpPr>
        <p:spPr>
          <a:xfrm flipH="1">
            <a:off x="5023143" y="2887434"/>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384" name="Google Shape;6384;p300"/>
          <p:cNvCxnSpPr>
            <a:stCxn id="6282" idx="2"/>
            <a:endCxn id="6292" idx="1"/>
          </p:cNvCxnSpPr>
          <p:nvPr/>
        </p:nvCxnSpPr>
        <p:spPr>
          <a:xfrm>
            <a:off x="5172543" y="2887434"/>
            <a:ext cx="514200" cy="600900"/>
          </a:xfrm>
          <a:prstGeom prst="straightConnector1">
            <a:avLst/>
          </a:prstGeom>
          <a:noFill/>
          <a:ln cap="flat" cmpd="sng" w="19050">
            <a:solidFill>
              <a:srgbClr val="666666"/>
            </a:solidFill>
            <a:prstDash val="solid"/>
            <a:round/>
            <a:headEnd len="med" w="med" type="none"/>
            <a:tailEnd len="med" w="med" type="none"/>
          </a:ln>
        </p:spPr>
      </p:cxnSp>
      <p:cxnSp>
        <p:nvCxnSpPr>
          <p:cNvPr id="6385" name="Google Shape;6385;p300"/>
          <p:cNvCxnSpPr>
            <a:stCxn id="6352" idx="2"/>
            <a:endCxn id="6363" idx="0"/>
          </p:cNvCxnSpPr>
          <p:nvPr/>
        </p:nvCxnSpPr>
        <p:spPr>
          <a:xfrm flipH="1">
            <a:off x="7281643" y="2832809"/>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386" name="Google Shape;6386;p300"/>
          <p:cNvCxnSpPr>
            <a:stCxn id="6357" idx="2"/>
            <a:endCxn id="6362" idx="0"/>
          </p:cNvCxnSpPr>
          <p:nvPr/>
        </p:nvCxnSpPr>
        <p:spPr>
          <a:xfrm>
            <a:off x="7997893" y="2907216"/>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387" name="Google Shape;6387;p300"/>
          <p:cNvCxnSpPr>
            <a:stCxn id="6360" idx="2"/>
            <a:endCxn id="6369" idx="0"/>
          </p:cNvCxnSpPr>
          <p:nvPr/>
        </p:nvCxnSpPr>
        <p:spPr>
          <a:xfrm>
            <a:off x="8648697" y="2798914"/>
            <a:ext cx="0" cy="528300"/>
          </a:xfrm>
          <a:prstGeom prst="straightConnector1">
            <a:avLst/>
          </a:prstGeom>
          <a:noFill/>
          <a:ln cap="flat" cmpd="sng" w="19050">
            <a:solidFill>
              <a:srgbClr val="666666"/>
            </a:solidFill>
            <a:prstDash val="solid"/>
            <a:round/>
            <a:headEnd len="med" w="med" type="none"/>
            <a:tailEnd len="med" w="med" type="none"/>
          </a:ln>
        </p:spPr>
      </p:cxnSp>
      <p:cxnSp>
        <p:nvCxnSpPr>
          <p:cNvPr id="6388" name="Google Shape;6388;p300"/>
          <p:cNvCxnSpPr>
            <a:stCxn id="6361" idx="4"/>
            <a:endCxn id="6360" idx="0"/>
          </p:cNvCxnSpPr>
          <p:nvPr/>
        </p:nvCxnSpPr>
        <p:spPr>
          <a:xfrm>
            <a:off x="8648697" y="2258991"/>
            <a:ext cx="0" cy="242100"/>
          </a:xfrm>
          <a:prstGeom prst="straightConnector1">
            <a:avLst/>
          </a:prstGeom>
          <a:noFill/>
          <a:ln cap="flat" cmpd="sng" w="19050">
            <a:solidFill>
              <a:srgbClr val="666666"/>
            </a:solidFill>
            <a:prstDash val="solid"/>
            <a:round/>
            <a:headEnd len="med" w="med" type="none"/>
            <a:tailEnd len="med" w="med" type="none"/>
          </a:ln>
        </p:spPr>
      </p:cxnSp>
      <p:sp>
        <p:nvSpPr>
          <p:cNvPr id="6389" name="Google Shape;6389;p300"/>
          <p:cNvSpPr txBox="1"/>
          <p:nvPr/>
        </p:nvSpPr>
        <p:spPr>
          <a:xfrm>
            <a:off x="461100" y="3007700"/>
            <a:ext cx="2283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Already disconnected!</a:t>
            </a:r>
            <a:endParaRPr b="1" sz="1200">
              <a:solidFill>
                <a:srgbClr val="0000FF"/>
              </a:solidFill>
              <a:latin typeface="Open Sans"/>
              <a:ea typeface="Open Sans"/>
              <a:cs typeface="Open Sans"/>
              <a:sym typeface="Open Sans"/>
            </a:endParaRPr>
          </a:p>
        </p:txBody>
      </p:sp>
      <p:sp>
        <p:nvSpPr>
          <p:cNvPr id="6390" name="Google Shape;6390;p30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4" name="Shape 6394"/>
        <p:cNvGrpSpPr/>
        <p:nvPr/>
      </p:nvGrpSpPr>
      <p:grpSpPr>
        <a:xfrm>
          <a:off x="0" y="0"/>
          <a:ext cx="0" cy="0"/>
          <a:chOff x="0" y="0"/>
          <a:chExt cx="0" cy="0"/>
        </a:xfrm>
      </p:grpSpPr>
      <p:sp>
        <p:nvSpPr>
          <p:cNvPr id="6395" name="Google Shape;6395;p301"/>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396" name="Google Shape;6396;p301"/>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397" name="Google Shape;6397;p301"/>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398" name="Google Shape;6398;p301"/>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399" name="Google Shape;6399;p301"/>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400" name="Google Shape;6400;p301"/>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401" name="Google Shape;6401;p301"/>
          <p:cNvCxnSpPr>
            <a:endCxn id="6397"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402" name="Google Shape;6402;p301"/>
          <p:cNvCxnSpPr>
            <a:stCxn id="6399" idx="0"/>
            <a:endCxn id="6397"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403" name="Google Shape;6403;p301"/>
          <p:cNvCxnSpPr>
            <a:stCxn id="6396" idx="1"/>
            <a:endCxn id="6395"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404" name="Google Shape;6404;p301"/>
          <p:cNvCxnSpPr>
            <a:stCxn id="6405" idx="1"/>
            <a:endCxn id="6397"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6406" name="Google Shape;6406;p301"/>
          <p:cNvCxnSpPr>
            <a:stCxn id="6398" idx="0"/>
            <a:endCxn id="6395"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407" name="Google Shape;6407;p301"/>
          <p:cNvCxnSpPr>
            <a:stCxn id="6398" idx="5"/>
            <a:endCxn id="6408"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409" name="Google Shape;6409;p301"/>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408" name="Google Shape;6408;p301"/>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405" name="Google Shape;6405;p301"/>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6410" name="Google Shape;6410;p301"/>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411" name="Google Shape;6411;p301"/>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412" name="Google Shape;6412;p301"/>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413" name="Google Shape;6413;p301"/>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414" name="Google Shape;6414;p301"/>
          <p:cNvCxnSpPr>
            <a:stCxn id="6412" idx="2"/>
            <a:endCxn id="6411"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415" name="Google Shape;6415;p301"/>
          <p:cNvCxnSpPr>
            <a:stCxn id="6410" idx="2"/>
            <a:endCxn id="6411"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416" name="Google Shape;6416;p301"/>
          <p:cNvCxnSpPr>
            <a:stCxn id="6412" idx="6"/>
            <a:endCxn id="6413"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417" name="Google Shape;6417;p301"/>
          <p:cNvCxnSpPr>
            <a:stCxn id="6418" idx="4"/>
            <a:endCxn id="6413"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6418" name="Google Shape;6418;p301"/>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419" name="Google Shape;6419;p301"/>
          <p:cNvCxnSpPr>
            <a:stCxn id="6398" idx="3"/>
            <a:endCxn id="6400"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420" name="Google Shape;6420;p301"/>
          <p:cNvCxnSpPr>
            <a:stCxn id="6396" idx="4"/>
            <a:endCxn id="6409"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421" name="Google Shape;6421;p301"/>
          <p:cNvCxnSpPr>
            <a:stCxn id="6396" idx="4"/>
            <a:endCxn id="6405"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422" name="Google Shape;6422;p301"/>
          <p:cNvCxnSpPr>
            <a:stCxn id="6399" idx="4"/>
            <a:endCxn id="6400"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423" name="Google Shape;6423;p301"/>
          <p:cNvCxnSpPr>
            <a:stCxn id="6399" idx="5"/>
            <a:endCxn id="6408"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424" name="Google Shape;6424;p301"/>
          <p:cNvCxnSpPr>
            <a:stCxn id="6400" idx="6"/>
            <a:endCxn id="6405"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425" name="Google Shape;6425;p301"/>
          <p:cNvCxnSpPr>
            <a:stCxn id="6409" idx="3"/>
            <a:endCxn id="6405"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426" name="Google Shape;6426;p301"/>
          <p:cNvCxnSpPr>
            <a:stCxn id="6409" idx="4"/>
            <a:endCxn id="6408"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427" name="Google Shape;6427;p301"/>
          <p:cNvCxnSpPr>
            <a:stCxn id="6410" idx="6"/>
            <a:endCxn id="6418"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428" name="Google Shape;6428;p301"/>
          <p:cNvCxnSpPr>
            <a:stCxn id="6410" idx="5"/>
            <a:endCxn id="6413"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429" name="Google Shape;6429;p301"/>
          <p:cNvCxnSpPr>
            <a:stCxn id="6418" idx="3"/>
            <a:endCxn id="6412"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430" name="Google Shape;6430;p301"/>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431" name="Google Shape;6431;p301"/>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432" name="Google Shape;6432;p301"/>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433" name="Google Shape;6433;p301"/>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434" name="Google Shape;6434;p301"/>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435" name="Google Shape;6435;p301"/>
          <p:cNvSpPr/>
          <p:nvPr/>
        </p:nvSpPr>
        <p:spPr>
          <a:xfrm>
            <a:off x="5023143" y="258953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436" name="Google Shape;6436;p301"/>
          <p:cNvCxnSpPr>
            <a:endCxn id="6432"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437" name="Google Shape;6437;p301"/>
          <p:cNvCxnSpPr>
            <a:stCxn id="6434" idx="0"/>
            <a:endCxn id="6432"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438" name="Google Shape;6438;p301"/>
          <p:cNvCxnSpPr>
            <a:stCxn id="6431" idx="1"/>
            <a:endCxn id="6430"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439" name="Google Shape;6439;p301"/>
          <p:cNvCxnSpPr>
            <a:stCxn id="6440" idx="1"/>
            <a:endCxn id="6432" idx="5"/>
          </p:cNvCxnSpPr>
          <p:nvPr/>
        </p:nvCxnSpPr>
        <p:spPr>
          <a:xfrm rot="10800000">
            <a:off x="5128893" y="1839991"/>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441" name="Google Shape;6441;p301"/>
          <p:cNvCxnSpPr>
            <a:stCxn id="6433" idx="0"/>
            <a:endCxn id="6430"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442" name="Google Shape;6442;p301"/>
          <p:cNvCxnSpPr>
            <a:stCxn id="6433" idx="5"/>
            <a:endCxn id="6443"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444" name="Google Shape;6444;p301"/>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443" name="Google Shape;6443;p301"/>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440" name="Google Shape;6440;p301"/>
          <p:cNvSpPr/>
          <p:nvPr/>
        </p:nvSpPr>
        <p:spPr>
          <a:xfrm>
            <a:off x="5589993" y="2663941"/>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445" name="Google Shape;6445;p301"/>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446" name="Google Shape;6446;p301"/>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447" name="Google Shape;6447;p301"/>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448" name="Google Shape;6448;p301"/>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449" name="Google Shape;6449;p301"/>
          <p:cNvCxnSpPr>
            <a:stCxn id="6447" idx="2"/>
            <a:endCxn id="6446"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450" name="Google Shape;6450;p301"/>
          <p:cNvCxnSpPr>
            <a:stCxn id="6445" idx="2"/>
            <a:endCxn id="6446"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451" name="Google Shape;6451;p301"/>
          <p:cNvCxnSpPr>
            <a:stCxn id="6447" idx="6"/>
            <a:endCxn id="6448"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452" name="Google Shape;6452;p301"/>
          <p:cNvCxnSpPr>
            <a:stCxn id="6453" idx="4"/>
            <a:endCxn id="6448"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6453" name="Google Shape;6453;p301"/>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454" name="Google Shape;6454;p301"/>
          <p:cNvCxnSpPr>
            <a:stCxn id="6433" idx="3"/>
            <a:endCxn id="6435" idx="3"/>
          </p:cNvCxnSpPr>
          <p:nvPr/>
        </p:nvCxnSpPr>
        <p:spPr>
          <a:xfrm flipH="1">
            <a:off x="5321814" y="2137589"/>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455" name="Google Shape;6455;p301"/>
          <p:cNvCxnSpPr>
            <a:stCxn id="6431" idx="4"/>
            <a:endCxn id="6444"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456" name="Google Shape;6456;p301"/>
          <p:cNvCxnSpPr>
            <a:stCxn id="6431" idx="4"/>
            <a:endCxn id="6440" idx="0"/>
          </p:cNvCxnSpPr>
          <p:nvPr/>
        </p:nvCxnSpPr>
        <p:spPr>
          <a:xfrm flipH="1">
            <a:off x="5739522" y="1883545"/>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457" name="Google Shape;6457;p301"/>
          <p:cNvCxnSpPr>
            <a:stCxn id="6434" idx="4"/>
            <a:endCxn id="6435" idx="0"/>
          </p:cNvCxnSpPr>
          <p:nvPr/>
        </p:nvCxnSpPr>
        <p:spPr>
          <a:xfrm>
            <a:off x="5023195" y="2385489"/>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458" name="Google Shape;6458;p301"/>
          <p:cNvCxnSpPr>
            <a:stCxn id="6434" idx="5"/>
            <a:endCxn id="6443"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459" name="Google Shape;6459;p301"/>
          <p:cNvCxnSpPr>
            <a:stCxn id="6435" idx="3"/>
            <a:endCxn id="6440" idx="1"/>
          </p:cNvCxnSpPr>
          <p:nvPr/>
        </p:nvCxnSpPr>
        <p:spPr>
          <a:xfrm>
            <a:off x="5321943" y="2738484"/>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460" name="Google Shape;6460;p301"/>
          <p:cNvCxnSpPr>
            <a:stCxn id="6444" idx="3"/>
            <a:endCxn id="6440" idx="3"/>
          </p:cNvCxnSpPr>
          <p:nvPr/>
        </p:nvCxnSpPr>
        <p:spPr>
          <a:xfrm flipH="1">
            <a:off x="5888855" y="2269990"/>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461" name="Google Shape;6461;p301"/>
          <p:cNvCxnSpPr>
            <a:stCxn id="6444" idx="4"/>
            <a:endCxn id="6443"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462" name="Google Shape;6462;p301"/>
          <p:cNvCxnSpPr>
            <a:stCxn id="6445" idx="6"/>
            <a:endCxn id="6453"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463" name="Google Shape;6463;p301"/>
          <p:cNvCxnSpPr>
            <a:stCxn id="6445" idx="5"/>
            <a:endCxn id="6448"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464" name="Google Shape;6464;p301"/>
          <p:cNvCxnSpPr>
            <a:stCxn id="6453" idx="3"/>
            <a:endCxn id="6447"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465" name="Google Shape;6465;p301"/>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466" name="Google Shape;6466;p301"/>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467" name="Google Shape;6467;p301"/>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468" name="Google Shape;6468;p301"/>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469" name="Google Shape;6469;p301"/>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470" name="Google Shape;6470;p301"/>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471" name="Google Shape;6471;p301"/>
          <p:cNvCxnSpPr>
            <a:endCxn id="6467"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472" name="Google Shape;6472;p301"/>
          <p:cNvCxnSpPr>
            <a:stCxn id="6469" idx="0"/>
            <a:endCxn id="6467"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473" name="Google Shape;6473;p301"/>
          <p:cNvCxnSpPr>
            <a:stCxn id="6466" idx="1"/>
            <a:endCxn id="6465"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474" name="Google Shape;6474;p301"/>
          <p:cNvCxnSpPr>
            <a:stCxn id="6468" idx="0"/>
            <a:endCxn id="6465"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475" name="Google Shape;6475;p301"/>
          <p:cNvCxnSpPr>
            <a:stCxn id="6468" idx="5"/>
            <a:endCxn id="6476"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477" name="Google Shape;6477;p301"/>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476" name="Google Shape;6476;p301"/>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478" name="Google Shape;6478;p301"/>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479" name="Google Shape;6479;p301"/>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480" name="Google Shape;6480;p301"/>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481" name="Google Shape;6481;p301"/>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482" name="Google Shape;6482;p301"/>
          <p:cNvCxnSpPr>
            <a:stCxn id="6480" idx="2"/>
            <a:endCxn id="6479"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483" name="Google Shape;6483;p301"/>
          <p:cNvCxnSpPr>
            <a:stCxn id="6478" idx="2"/>
            <a:endCxn id="6479"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484" name="Google Shape;6484;p301"/>
          <p:cNvCxnSpPr>
            <a:stCxn id="6480" idx="6"/>
            <a:endCxn id="6481"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485" name="Google Shape;6485;p301"/>
          <p:cNvCxnSpPr>
            <a:stCxn id="6486" idx="4"/>
            <a:endCxn id="6481"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6486" name="Google Shape;6486;p301"/>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487" name="Google Shape;6487;p301"/>
          <p:cNvCxnSpPr>
            <a:stCxn id="6468" idx="3"/>
            <a:endCxn id="6470"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488" name="Google Shape;6488;p301"/>
          <p:cNvCxnSpPr>
            <a:stCxn id="6466" idx="4"/>
            <a:endCxn id="6477"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489" name="Google Shape;6489;p301"/>
          <p:cNvCxnSpPr>
            <a:stCxn id="6469" idx="4"/>
            <a:endCxn id="6470"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490" name="Google Shape;6490;p301"/>
          <p:cNvCxnSpPr>
            <a:stCxn id="6469" idx="5"/>
            <a:endCxn id="6476"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491" name="Google Shape;6491;p301"/>
          <p:cNvCxnSpPr>
            <a:stCxn id="6477" idx="4"/>
            <a:endCxn id="6476"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492" name="Google Shape;6492;p301"/>
          <p:cNvCxnSpPr>
            <a:stCxn id="6478" idx="6"/>
            <a:endCxn id="6486"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493" name="Google Shape;6493;p301"/>
          <p:cNvCxnSpPr>
            <a:stCxn id="6478" idx="5"/>
            <a:endCxn id="6481"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494" name="Google Shape;6494;p301"/>
          <p:cNvCxnSpPr>
            <a:stCxn id="6486" idx="3"/>
            <a:endCxn id="6480"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495" name="Google Shape;6495;p301"/>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496" name="Google Shape;6496;p301"/>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497" name="Google Shape;6497;p301"/>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498" name="Google Shape;6498;p301"/>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499" name="Google Shape;6499;p301"/>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500" name="Google Shape;6500;p301"/>
          <p:cNvSpPr/>
          <p:nvPr/>
        </p:nvSpPr>
        <p:spPr>
          <a:xfrm>
            <a:off x="7281643" y="2534909"/>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501" name="Google Shape;6501;p301"/>
          <p:cNvCxnSpPr>
            <a:endCxn id="6497"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502" name="Google Shape;6502;p301"/>
          <p:cNvCxnSpPr>
            <a:stCxn id="6499" idx="0"/>
            <a:endCxn id="6497"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503" name="Google Shape;6503;p301"/>
          <p:cNvCxnSpPr>
            <a:stCxn id="6496" idx="1"/>
            <a:endCxn id="6495"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504" name="Google Shape;6504;p301"/>
          <p:cNvCxnSpPr>
            <a:stCxn id="6505" idx="1"/>
            <a:endCxn id="6497" idx="5"/>
          </p:cNvCxnSpPr>
          <p:nvPr/>
        </p:nvCxnSpPr>
        <p:spPr>
          <a:xfrm rot="10800000">
            <a:off x="7387393" y="1785366"/>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506" name="Google Shape;6506;p301"/>
          <p:cNvCxnSpPr>
            <a:stCxn id="6498" idx="0"/>
            <a:endCxn id="6495"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507" name="Google Shape;6507;p301"/>
          <p:cNvCxnSpPr>
            <a:stCxn id="6498" idx="5"/>
            <a:endCxn id="6508" idx="1"/>
          </p:cNvCxnSpPr>
          <p:nvPr/>
        </p:nvCxnSpPr>
        <p:spPr>
          <a:xfrm>
            <a:off x="7954197" y="2082964"/>
            <a:ext cx="545100" cy="567000"/>
          </a:xfrm>
          <a:prstGeom prst="straightConnector1">
            <a:avLst/>
          </a:prstGeom>
          <a:noFill/>
          <a:ln cap="flat" cmpd="sng" w="19050">
            <a:solidFill>
              <a:srgbClr val="666666"/>
            </a:solidFill>
            <a:prstDash val="solid"/>
            <a:round/>
            <a:headEnd len="med" w="med" type="none"/>
            <a:tailEnd len="med" w="med" type="none"/>
          </a:ln>
        </p:spPr>
      </p:cxnSp>
      <p:sp>
        <p:nvSpPr>
          <p:cNvPr id="6509" name="Google Shape;6509;p301"/>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508" name="Google Shape;6508;p301"/>
          <p:cNvSpPr/>
          <p:nvPr/>
        </p:nvSpPr>
        <p:spPr>
          <a:xfrm>
            <a:off x="8499297" y="250101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9</a:t>
            </a:r>
            <a:endParaRPr>
              <a:solidFill>
                <a:srgbClr val="FFFFFF"/>
              </a:solidFill>
            </a:endParaRPr>
          </a:p>
        </p:txBody>
      </p:sp>
      <p:sp>
        <p:nvSpPr>
          <p:cNvPr id="6505" name="Google Shape;6505;p301"/>
          <p:cNvSpPr/>
          <p:nvPr/>
        </p:nvSpPr>
        <p:spPr>
          <a:xfrm>
            <a:off x="7848493" y="2609316"/>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510" name="Google Shape;6510;p301"/>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511" name="Google Shape;6511;p301"/>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512" name="Google Shape;6512;p301"/>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513" name="Google Shape;6513;p301"/>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514" name="Google Shape;6514;p301"/>
          <p:cNvCxnSpPr>
            <a:stCxn id="6512" idx="2"/>
            <a:endCxn id="6511"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515" name="Google Shape;6515;p301"/>
          <p:cNvCxnSpPr>
            <a:stCxn id="6510" idx="2"/>
            <a:endCxn id="6511"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516" name="Google Shape;6516;p301"/>
          <p:cNvCxnSpPr>
            <a:stCxn id="6512" idx="6"/>
            <a:endCxn id="6513"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6517" name="Google Shape;6517;p301"/>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518" name="Google Shape;6518;p301"/>
          <p:cNvCxnSpPr>
            <a:stCxn id="6498" idx="3"/>
            <a:endCxn id="6500" idx="3"/>
          </p:cNvCxnSpPr>
          <p:nvPr/>
        </p:nvCxnSpPr>
        <p:spPr>
          <a:xfrm flipH="1">
            <a:off x="7580314" y="2082964"/>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519" name="Google Shape;6519;p301"/>
          <p:cNvCxnSpPr>
            <a:stCxn id="6496" idx="4"/>
            <a:endCxn id="6509"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520" name="Google Shape;6520;p301"/>
          <p:cNvCxnSpPr>
            <a:stCxn id="6496" idx="4"/>
            <a:endCxn id="6505" idx="0"/>
          </p:cNvCxnSpPr>
          <p:nvPr/>
        </p:nvCxnSpPr>
        <p:spPr>
          <a:xfrm flipH="1">
            <a:off x="7998022" y="1828920"/>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521" name="Google Shape;6521;p301"/>
          <p:cNvCxnSpPr>
            <a:stCxn id="6499" idx="4"/>
            <a:endCxn id="6500" idx="0"/>
          </p:cNvCxnSpPr>
          <p:nvPr/>
        </p:nvCxnSpPr>
        <p:spPr>
          <a:xfrm>
            <a:off x="7281695" y="2330864"/>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522" name="Google Shape;6522;p301"/>
          <p:cNvCxnSpPr>
            <a:stCxn id="6499" idx="5"/>
            <a:endCxn id="6508" idx="1"/>
          </p:cNvCxnSpPr>
          <p:nvPr/>
        </p:nvCxnSpPr>
        <p:spPr>
          <a:xfrm>
            <a:off x="7387337" y="2287238"/>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523" name="Google Shape;6523;p301"/>
          <p:cNvCxnSpPr>
            <a:stCxn id="6500" idx="3"/>
            <a:endCxn id="6505" idx="1"/>
          </p:cNvCxnSpPr>
          <p:nvPr/>
        </p:nvCxnSpPr>
        <p:spPr>
          <a:xfrm>
            <a:off x="7580443" y="2683859"/>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524" name="Google Shape;6524;p301"/>
          <p:cNvCxnSpPr>
            <a:stCxn id="6509" idx="3"/>
            <a:endCxn id="6505" idx="3"/>
          </p:cNvCxnSpPr>
          <p:nvPr/>
        </p:nvCxnSpPr>
        <p:spPr>
          <a:xfrm flipH="1">
            <a:off x="8147355" y="2215365"/>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525" name="Google Shape;6525;p301"/>
          <p:cNvCxnSpPr>
            <a:stCxn id="6510" idx="6"/>
            <a:endCxn id="6517"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526" name="Google Shape;6526;p301"/>
          <p:cNvCxnSpPr>
            <a:stCxn id="6510" idx="5"/>
            <a:endCxn id="6513"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527" name="Google Shape;6527;p301"/>
          <p:cNvCxnSpPr>
            <a:stCxn id="6517" idx="3"/>
            <a:endCxn id="6512"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528" name="Google Shape;6528;p301"/>
          <p:cNvSpPr txBox="1"/>
          <p:nvPr/>
        </p:nvSpPr>
        <p:spPr>
          <a:xfrm>
            <a:off x="734725" y="466462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0</a:t>
            </a:r>
            <a:endParaRPr b="1">
              <a:solidFill>
                <a:srgbClr val="0000FF"/>
              </a:solidFill>
              <a:latin typeface="Open Sans"/>
              <a:ea typeface="Open Sans"/>
              <a:cs typeface="Open Sans"/>
              <a:sym typeface="Open Sans"/>
            </a:endParaRPr>
          </a:p>
        </p:txBody>
      </p:sp>
      <p:sp>
        <p:nvSpPr>
          <p:cNvPr id="6529" name="Google Shape;6529;p301"/>
          <p:cNvSpPr txBox="1"/>
          <p:nvPr/>
        </p:nvSpPr>
        <p:spPr>
          <a:xfrm>
            <a:off x="3064250" y="4685100"/>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1</a:t>
            </a:r>
            <a:endParaRPr b="1">
              <a:solidFill>
                <a:srgbClr val="0000FF"/>
              </a:solidFill>
              <a:latin typeface="Open Sans"/>
              <a:ea typeface="Open Sans"/>
              <a:cs typeface="Open Sans"/>
              <a:sym typeface="Open Sans"/>
            </a:endParaRPr>
          </a:p>
        </p:txBody>
      </p:sp>
      <p:cxnSp>
        <p:nvCxnSpPr>
          <p:cNvPr id="6530" name="Google Shape;6530;p301"/>
          <p:cNvCxnSpPr>
            <a:stCxn id="6440" idx="2"/>
            <a:endCxn id="6445" idx="0"/>
          </p:cNvCxnSpPr>
          <p:nvPr/>
        </p:nvCxnSpPr>
        <p:spPr>
          <a:xfrm>
            <a:off x="5739393" y="2961841"/>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531" name="Google Shape;6531;p301"/>
          <p:cNvCxnSpPr>
            <a:stCxn id="6435" idx="2"/>
            <a:endCxn id="6446" idx="0"/>
          </p:cNvCxnSpPr>
          <p:nvPr/>
        </p:nvCxnSpPr>
        <p:spPr>
          <a:xfrm flipH="1">
            <a:off x="5023143" y="2887434"/>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532" name="Google Shape;6532;p301"/>
          <p:cNvCxnSpPr>
            <a:stCxn id="6435" idx="2"/>
            <a:endCxn id="6445" idx="1"/>
          </p:cNvCxnSpPr>
          <p:nvPr/>
        </p:nvCxnSpPr>
        <p:spPr>
          <a:xfrm>
            <a:off x="5172543" y="2887434"/>
            <a:ext cx="514200" cy="600900"/>
          </a:xfrm>
          <a:prstGeom prst="straightConnector1">
            <a:avLst/>
          </a:prstGeom>
          <a:noFill/>
          <a:ln cap="flat" cmpd="sng" w="19050">
            <a:solidFill>
              <a:srgbClr val="666666"/>
            </a:solidFill>
            <a:prstDash val="solid"/>
            <a:round/>
            <a:headEnd len="med" w="med" type="none"/>
            <a:tailEnd len="med" w="med" type="none"/>
          </a:ln>
        </p:spPr>
      </p:cxnSp>
      <p:cxnSp>
        <p:nvCxnSpPr>
          <p:cNvPr id="6533" name="Google Shape;6533;p301"/>
          <p:cNvCxnSpPr>
            <a:stCxn id="6500" idx="2"/>
            <a:endCxn id="6511" idx="0"/>
          </p:cNvCxnSpPr>
          <p:nvPr/>
        </p:nvCxnSpPr>
        <p:spPr>
          <a:xfrm flipH="1">
            <a:off x="7281643" y="2832809"/>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534" name="Google Shape;6534;p301"/>
          <p:cNvCxnSpPr>
            <a:stCxn id="6505" idx="2"/>
            <a:endCxn id="6510" idx="0"/>
          </p:cNvCxnSpPr>
          <p:nvPr/>
        </p:nvCxnSpPr>
        <p:spPr>
          <a:xfrm>
            <a:off x="7997893" y="2907216"/>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535" name="Google Shape;6535;p301"/>
          <p:cNvCxnSpPr>
            <a:stCxn id="6508" idx="2"/>
            <a:endCxn id="6517" idx="0"/>
          </p:cNvCxnSpPr>
          <p:nvPr/>
        </p:nvCxnSpPr>
        <p:spPr>
          <a:xfrm>
            <a:off x="8648697" y="2798914"/>
            <a:ext cx="0" cy="528300"/>
          </a:xfrm>
          <a:prstGeom prst="straightConnector1">
            <a:avLst/>
          </a:prstGeom>
          <a:noFill/>
          <a:ln cap="flat" cmpd="sng" w="19050">
            <a:solidFill>
              <a:srgbClr val="666666"/>
            </a:solidFill>
            <a:prstDash val="solid"/>
            <a:round/>
            <a:headEnd len="med" w="med" type="none"/>
            <a:tailEnd len="med" w="med" type="none"/>
          </a:ln>
        </p:spPr>
      </p:cxnSp>
      <p:sp>
        <p:nvSpPr>
          <p:cNvPr id="6536" name="Google Shape;6536;p301"/>
          <p:cNvSpPr txBox="1"/>
          <p:nvPr/>
        </p:nvSpPr>
        <p:spPr>
          <a:xfrm>
            <a:off x="2977725" y="2996863"/>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6537" name="Google Shape;6537;p30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1" name="Shape 6541"/>
        <p:cNvGrpSpPr/>
        <p:nvPr/>
      </p:nvGrpSpPr>
      <p:grpSpPr>
        <a:xfrm>
          <a:off x="0" y="0"/>
          <a:ext cx="0" cy="0"/>
          <a:chOff x="0" y="0"/>
          <a:chExt cx="0" cy="0"/>
        </a:xfrm>
      </p:grpSpPr>
      <p:sp>
        <p:nvSpPr>
          <p:cNvPr id="6542" name="Google Shape;6542;p302"/>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543" name="Google Shape;6543;p302"/>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544" name="Google Shape;6544;p302"/>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545" name="Google Shape;6545;p302"/>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546" name="Google Shape;6546;p302"/>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547" name="Google Shape;6547;p302"/>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548" name="Google Shape;6548;p302"/>
          <p:cNvCxnSpPr>
            <a:endCxn id="6544"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549" name="Google Shape;6549;p302"/>
          <p:cNvCxnSpPr>
            <a:stCxn id="6546" idx="0"/>
            <a:endCxn id="6544"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550" name="Google Shape;6550;p302"/>
          <p:cNvCxnSpPr>
            <a:stCxn id="6543" idx="1"/>
            <a:endCxn id="6542"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551" name="Google Shape;6551;p302"/>
          <p:cNvCxnSpPr>
            <a:stCxn id="6552" idx="1"/>
            <a:endCxn id="6544"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6553" name="Google Shape;6553;p302"/>
          <p:cNvCxnSpPr>
            <a:stCxn id="6545" idx="0"/>
            <a:endCxn id="6542"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554" name="Google Shape;6554;p302"/>
          <p:cNvCxnSpPr>
            <a:stCxn id="6545" idx="5"/>
            <a:endCxn id="6555"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556" name="Google Shape;6556;p302"/>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555" name="Google Shape;6555;p302"/>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552" name="Google Shape;6552;p302"/>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6557" name="Google Shape;6557;p302"/>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558" name="Google Shape;6558;p302"/>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559" name="Google Shape;6559;p302"/>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560" name="Google Shape;6560;p302"/>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561" name="Google Shape;6561;p302"/>
          <p:cNvCxnSpPr>
            <a:stCxn id="6559" idx="2"/>
            <a:endCxn id="6558"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562" name="Google Shape;6562;p302"/>
          <p:cNvCxnSpPr>
            <a:stCxn id="6557" idx="2"/>
            <a:endCxn id="6558"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563" name="Google Shape;6563;p302"/>
          <p:cNvCxnSpPr>
            <a:stCxn id="6559" idx="6"/>
            <a:endCxn id="6560"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564" name="Google Shape;6564;p302"/>
          <p:cNvCxnSpPr>
            <a:stCxn id="6565" idx="4"/>
            <a:endCxn id="6560"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6565" name="Google Shape;6565;p302"/>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566" name="Google Shape;6566;p302"/>
          <p:cNvCxnSpPr>
            <a:stCxn id="6545" idx="3"/>
            <a:endCxn id="6547"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567" name="Google Shape;6567;p302"/>
          <p:cNvCxnSpPr>
            <a:stCxn id="6543" idx="4"/>
            <a:endCxn id="6556"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568" name="Google Shape;6568;p302"/>
          <p:cNvCxnSpPr>
            <a:stCxn id="6543" idx="4"/>
            <a:endCxn id="6552"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569" name="Google Shape;6569;p302"/>
          <p:cNvCxnSpPr>
            <a:stCxn id="6546" idx="4"/>
            <a:endCxn id="6547"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570" name="Google Shape;6570;p302"/>
          <p:cNvCxnSpPr>
            <a:stCxn id="6546" idx="5"/>
            <a:endCxn id="6555"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571" name="Google Shape;6571;p302"/>
          <p:cNvCxnSpPr>
            <a:stCxn id="6547" idx="6"/>
            <a:endCxn id="6552"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572" name="Google Shape;6572;p302"/>
          <p:cNvCxnSpPr>
            <a:stCxn id="6556" idx="3"/>
            <a:endCxn id="6552"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573" name="Google Shape;6573;p302"/>
          <p:cNvCxnSpPr>
            <a:stCxn id="6556" idx="4"/>
            <a:endCxn id="6555"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574" name="Google Shape;6574;p302"/>
          <p:cNvCxnSpPr>
            <a:stCxn id="6557" idx="6"/>
            <a:endCxn id="6565"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575" name="Google Shape;6575;p302"/>
          <p:cNvCxnSpPr>
            <a:stCxn id="6557" idx="5"/>
            <a:endCxn id="6560"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576" name="Google Shape;6576;p302"/>
          <p:cNvCxnSpPr>
            <a:stCxn id="6565" idx="3"/>
            <a:endCxn id="6559"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577" name="Google Shape;6577;p302"/>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578" name="Google Shape;6578;p302"/>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579" name="Google Shape;6579;p302"/>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580" name="Google Shape;6580;p302"/>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581" name="Google Shape;6581;p302"/>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582" name="Google Shape;6582;p302"/>
          <p:cNvSpPr/>
          <p:nvPr/>
        </p:nvSpPr>
        <p:spPr>
          <a:xfrm>
            <a:off x="5023143" y="258953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583" name="Google Shape;6583;p302"/>
          <p:cNvCxnSpPr>
            <a:endCxn id="6579"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584" name="Google Shape;6584;p302"/>
          <p:cNvCxnSpPr>
            <a:stCxn id="6581" idx="0"/>
            <a:endCxn id="6579"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585" name="Google Shape;6585;p302"/>
          <p:cNvCxnSpPr>
            <a:stCxn id="6578" idx="1"/>
            <a:endCxn id="6577"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586" name="Google Shape;6586;p302"/>
          <p:cNvCxnSpPr>
            <a:stCxn id="6587" idx="1"/>
            <a:endCxn id="6579" idx="5"/>
          </p:cNvCxnSpPr>
          <p:nvPr/>
        </p:nvCxnSpPr>
        <p:spPr>
          <a:xfrm rot="10800000">
            <a:off x="5128893" y="1839991"/>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588" name="Google Shape;6588;p302"/>
          <p:cNvCxnSpPr>
            <a:stCxn id="6580" idx="0"/>
            <a:endCxn id="6577"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589" name="Google Shape;6589;p302"/>
          <p:cNvCxnSpPr>
            <a:stCxn id="6580" idx="5"/>
            <a:endCxn id="6590"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591" name="Google Shape;6591;p302"/>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590" name="Google Shape;6590;p302"/>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587" name="Google Shape;6587;p302"/>
          <p:cNvSpPr/>
          <p:nvPr/>
        </p:nvSpPr>
        <p:spPr>
          <a:xfrm>
            <a:off x="5589993" y="2663941"/>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592" name="Google Shape;6592;p302"/>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593" name="Google Shape;6593;p302"/>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594" name="Google Shape;6594;p302"/>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595" name="Google Shape;6595;p302"/>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596" name="Google Shape;6596;p302"/>
          <p:cNvCxnSpPr>
            <a:stCxn id="6594" idx="2"/>
            <a:endCxn id="6593"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597" name="Google Shape;6597;p302"/>
          <p:cNvCxnSpPr>
            <a:stCxn id="6592" idx="2"/>
            <a:endCxn id="6593"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598" name="Google Shape;6598;p302"/>
          <p:cNvCxnSpPr>
            <a:stCxn id="6594" idx="6"/>
            <a:endCxn id="6595"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599" name="Google Shape;6599;p302"/>
          <p:cNvCxnSpPr>
            <a:stCxn id="6600" idx="4"/>
            <a:endCxn id="6595"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6600" name="Google Shape;6600;p302"/>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601" name="Google Shape;6601;p302"/>
          <p:cNvCxnSpPr>
            <a:stCxn id="6580" idx="3"/>
            <a:endCxn id="6582" idx="3"/>
          </p:cNvCxnSpPr>
          <p:nvPr/>
        </p:nvCxnSpPr>
        <p:spPr>
          <a:xfrm flipH="1">
            <a:off x="5321814" y="2137589"/>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602" name="Google Shape;6602;p302"/>
          <p:cNvCxnSpPr>
            <a:stCxn id="6578" idx="4"/>
            <a:endCxn id="6591"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603" name="Google Shape;6603;p302"/>
          <p:cNvCxnSpPr>
            <a:stCxn id="6578" idx="4"/>
            <a:endCxn id="6587" idx="0"/>
          </p:cNvCxnSpPr>
          <p:nvPr/>
        </p:nvCxnSpPr>
        <p:spPr>
          <a:xfrm flipH="1">
            <a:off x="5739522" y="1883545"/>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604" name="Google Shape;6604;p302"/>
          <p:cNvCxnSpPr>
            <a:stCxn id="6581" idx="4"/>
            <a:endCxn id="6582" idx="0"/>
          </p:cNvCxnSpPr>
          <p:nvPr/>
        </p:nvCxnSpPr>
        <p:spPr>
          <a:xfrm>
            <a:off x="5023195" y="2385489"/>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605" name="Google Shape;6605;p302"/>
          <p:cNvCxnSpPr>
            <a:stCxn id="6581" idx="5"/>
            <a:endCxn id="6590"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606" name="Google Shape;6606;p302"/>
          <p:cNvCxnSpPr>
            <a:stCxn id="6582" idx="3"/>
            <a:endCxn id="6587" idx="1"/>
          </p:cNvCxnSpPr>
          <p:nvPr/>
        </p:nvCxnSpPr>
        <p:spPr>
          <a:xfrm>
            <a:off x="5321943" y="2738484"/>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607" name="Google Shape;6607;p302"/>
          <p:cNvCxnSpPr>
            <a:stCxn id="6591" idx="3"/>
            <a:endCxn id="6587" idx="3"/>
          </p:cNvCxnSpPr>
          <p:nvPr/>
        </p:nvCxnSpPr>
        <p:spPr>
          <a:xfrm flipH="1">
            <a:off x="5888855" y="2269990"/>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608" name="Google Shape;6608;p302"/>
          <p:cNvCxnSpPr>
            <a:stCxn id="6591" idx="4"/>
            <a:endCxn id="6590"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609" name="Google Shape;6609;p302"/>
          <p:cNvCxnSpPr>
            <a:stCxn id="6592" idx="6"/>
            <a:endCxn id="6600"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610" name="Google Shape;6610;p302"/>
          <p:cNvCxnSpPr>
            <a:stCxn id="6592" idx="5"/>
            <a:endCxn id="6595"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611" name="Google Shape;6611;p302"/>
          <p:cNvCxnSpPr>
            <a:stCxn id="6600" idx="3"/>
            <a:endCxn id="6594"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612" name="Google Shape;6612;p302"/>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613" name="Google Shape;6613;p302"/>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614" name="Google Shape;6614;p302"/>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615" name="Google Shape;6615;p302"/>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616" name="Google Shape;6616;p302"/>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617" name="Google Shape;6617;p302"/>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618" name="Google Shape;6618;p302"/>
          <p:cNvCxnSpPr>
            <a:endCxn id="6614"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619" name="Google Shape;6619;p302"/>
          <p:cNvCxnSpPr>
            <a:stCxn id="6616" idx="0"/>
            <a:endCxn id="6614"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620" name="Google Shape;6620;p302"/>
          <p:cNvCxnSpPr>
            <a:stCxn id="6613" idx="1"/>
            <a:endCxn id="6612"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621" name="Google Shape;6621;p302"/>
          <p:cNvCxnSpPr>
            <a:stCxn id="6615" idx="0"/>
            <a:endCxn id="6612"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622" name="Google Shape;6622;p302"/>
          <p:cNvCxnSpPr>
            <a:stCxn id="6615" idx="5"/>
            <a:endCxn id="6623"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624" name="Google Shape;6624;p302"/>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623" name="Google Shape;6623;p302"/>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625" name="Google Shape;6625;p302"/>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626" name="Google Shape;6626;p302"/>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627" name="Google Shape;6627;p302"/>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628" name="Google Shape;6628;p302"/>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629" name="Google Shape;6629;p302"/>
          <p:cNvCxnSpPr>
            <a:stCxn id="6627" idx="2"/>
            <a:endCxn id="6626"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630" name="Google Shape;6630;p302"/>
          <p:cNvCxnSpPr>
            <a:stCxn id="6625" idx="2"/>
            <a:endCxn id="6626"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631" name="Google Shape;6631;p302"/>
          <p:cNvCxnSpPr>
            <a:stCxn id="6627" idx="6"/>
            <a:endCxn id="6628"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632" name="Google Shape;6632;p302"/>
          <p:cNvCxnSpPr>
            <a:stCxn id="6633" idx="4"/>
            <a:endCxn id="6628"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6633" name="Google Shape;6633;p302"/>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634" name="Google Shape;6634;p302"/>
          <p:cNvCxnSpPr>
            <a:stCxn id="6615" idx="3"/>
            <a:endCxn id="6617"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635" name="Google Shape;6635;p302"/>
          <p:cNvCxnSpPr>
            <a:stCxn id="6613" idx="4"/>
            <a:endCxn id="6624"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636" name="Google Shape;6636;p302"/>
          <p:cNvCxnSpPr>
            <a:stCxn id="6616" idx="4"/>
            <a:endCxn id="6617"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637" name="Google Shape;6637;p302"/>
          <p:cNvCxnSpPr>
            <a:stCxn id="6616" idx="5"/>
            <a:endCxn id="6623"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638" name="Google Shape;6638;p302"/>
          <p:cNvCxnSpPr>
            <a:stCxn id="6624" idx="4"/>
            <a:endCxn id="6623"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639" name="Google Shape;6639;p302"/>
          <p:cNvCxnSpPr>
            <a:stCxn id="6625" idx="6"/>
            <a:endCxn id="6633"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640" name="Google Shape;6640;p302"/>
          <p:cNvCxnSpPr>
            <a:stCxn id="6625" idx="5"/>
            <a:endCxn id="6628"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641" name="Google Shape;6641;p302"/>
          <p:cNvCxnSpPr>
            <a:stCxn id="6633" idx="3"/>
            <a:endCxn id="6627"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642" name="Google Shape;6642;p302"/>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643" name="Google Shape;6643;p302"/>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644" name="Google Shape;6644;p302"/>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645" name="Google Shape;6645;p302"/>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646" name="Google Shape;6646;p302"/>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647" name="Google Shape;6647;p302"/>
          <p:cNvSpPr/>
          <p:nvPr/>
        </p:nvSpPr>
        <p:spPr>
          <a:xfrm>
            <a:off x="7281643" y="2534909"/>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648" name="Google Shape;6648;p302"/>
          <p:cNvCxnSpPr>
            <a:endCxn id="6644"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649" name="Google Shape;6649;p302"/>
          <p:cNvCxnSpPr>
            <a:stCxn id="6646" idx="0"/>
            <a:endCxn id="6644"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650" name="Google Shape;6650;p302"/>
          <p:cNvCxnSpPr>
            <a:stCxn id="6643" idx="1"/>
            <a:endCxn id="6642"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651" name="Google Shape;6651;p302"/>
          <p:cNvCxnSpPr>
            <a:stCxn id="6652" idx="1"/>
            <a:endCxn id="6644" idx="5"/>
          </p:cNvCxnSpPr>
          <p:nvPr/>
        </p:nvCxnSpPr>
        <p:spPr>
          <a:xfrm rot="10800000">
            <a:off x="7387393" y="1785366"/>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653" name="Google Shape;6653;p302"/>
          <p:cNvCxnSpPr>
            <a:stCxn id="6645" idx="0"/>
            <a:endCxn id="6642"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654" name="Google Shape;6654;p302"/>
          <p:cNvCxnSpPr>
            <a:stCxn id="6645" idx="5"/>
            <a:endCxn id="6655" idx="1"/>
          </p:cNvCxnSpPr>
          <p:nvPr/>
        </p:nvCxnSpPr>
        <p:spPr>
          <a:xfrm>
            <a:off x="7954197" y="2082964"/>
            <a:ext cx="545100" cy="567000"/>
          </a:xfrm>
          <a:prstGeom prst="straightConnector1">
            <a:avLst/>
          </a:prstGeom>
          <a:noFill/>
          <a:ln cap="flat" cmpd="sng" w="19050">
            <a:solidFill>
              <a:srgbClr val="666666"/>
            </a:solidFill>
            <a:prstDash val="solid"/>
            <a:round/>
            <a:headEnd len="med" w="med" type="none"/>
            <a:tailEnd len="med" w="med" type="none"/>
          </a:ln>
        </p:spPr>
      </p:cxnSp>
      <p:sp>
        <p:nvSpPr>
          <p:cNvPr id="6656" name="Google Shape;6656;p302"/>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655" name="Google Shape;6655;p302"/>
          <p:cNvSpPr/>
          <p:nvPr/>
        </p:nvSpPr>
        <p:spPr>
          <a:xfrm>
            <a:off x="8499297" y="250101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9</a:t>
            </a:r>
            <a:endParaRPr>
              <a:solidFill>
                <a:srgbClr val="FFFFFF"/>
              </a:solidFill>
            </a:endParaRPr>
          </a:p>
        </p:txBody>
      </p:sp>
      <p:sp>
        <p:nvSpPr>
          <p:cNvPr id="6652" name="Google Shape;6652;p302"/>
          <p:cNvSpPr/>
          <p:nvPr/>
        </p:nvSpPr>
        <p:spPr>
          <a:xfrm>
            <a:off x="7848493" y="2609316"/>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657" name="Google Shape;6657;p302"/>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658" name="Google Shape;6658;p302"/>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659" name="Google Shape;6659;p302"/>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660" name="Google Shape;6660;p302"/>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661" name="Google Shape;6661;p302"/>
          <p:cNvCxnSpPr>
            <a:stCxn id="6659" idx="2"/>
            <a:endCxn id="6658"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662" name="Google Shape;6662;p302"/>
          <p:cNvCxnSpPr>
            <a:stCxn id="6657" idx="2"/>
            <a:endCxn id="6658"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663" name="Google Shape;6663;p302"/>
          <p:cNvCxnSpPr>
            <a:stCxn id="6659" idx="6"/>
            <a:endCxn id="6660"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6664" name="Google Shape;6664;p302"/>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665" name="Google Shape;6665;p302"/>
          <p:cNvCxnSpPr>
            <a:stCxn id="6645" idx="3"/>
            <a:endCxn id="6647" idx="3"/>
          </p:cNvCxnSpPr>
          <p:nvPr/>
        </p:nvCxnSpPr>
        <p:spPr>
          <a:xfrm flipH="1">
            <a:off x="7580314" y="2082964"/>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666" name="Google Shape;6666;p302"/>
          <p:cNvCxnSpPr>
            <a:stCxn id="6643" idx="4"/>
            <a:endCxn id="6656"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667" name="Google Shape;6667;p302"/>
          <p:cNvCxnSpPr>
            <a:stCxn id="6643" idx="4"/>
            <a:endCxn id="6652" idx="0"/>
          </p:cNvCxnSpPr>
          <p:nvPr/>
        </p:nvCxnSpPr>
        <p:spPr>
          <a:xfrm flipH="1">
            <a:off x="7998022" y="1828920"/>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668" name="Google Shape;6668;p302"/>
          <p:cNvCxnSpPr>
            <a:stCxn id="6646" idx="4"/>
            <a:endCxn id="6647" idx="0"/>
          </p:cNvCxnSpPr>
          <p:nvPr/>
        </p:nvCxnSpPr>
        <p:spPr>
          <a:xfrm>
            <a:off x="7281695" y="2330864"/>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669" name="Google Shape;6669;p302"/>
          <p:cNvCxnSpPr>
            <a:stCxn id="6646" idx="5"/>
            <a:endCxn id="6655" idx="1"/>
          </p:cNvCxnSpPr>
          <p:nvPr/>
        </p:nvCxnSpPr>
        <p:spPr>
          <a:xfrm>
            <a:off x="7387337" y="2287238"/>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670" name="Google Shape;6670;p302"/>
          <p:cNvCxnSpPr>
            <a:stCxn id="6647" idx="3"/>
            <a:endCxn id="6652" idx="1"/>
          </p:cNvCxnSpPr>
          <p:nvPr/>
        </p:nvCxnSpPr>
        <p:spPr>
          <a:xfrm>
            <a:off x="7580443" y="2683859"/>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671" name="Google Shape;6671;p302"/>
          <p:cNvCxnSpPr>
            <a:stCxn id="6656" idx="3"/>
            <a:endCxn id="6652" idx="3"/>
          </p:cNvCxnSpPr>
          <p:nvPr/>
        </p:nvCxnSpPr>
        <p:spPr>
          <a:xfrm flipH="1">
            <a:off x="8147355" y="2215365"/>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672" name="Google Shape;6672;p302"/>
          <p:cNvCxnSpPr>
            <a:stCxn id="6657" idx="6"/>
            <a:endCxn id="6664"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673" name="Google Shape;6673;p302"/>
          <p:cNvCxnSpPr>
            <a:stCxn id="6657" idx="5"/>
            <a:endCxn id="6660"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674" name="Google Shape;6674;p302"/>
          <p:cNvCxnSpPr>
            <a:stCxn id="6664" idx="3"/>
            <a:endCxn id="6659"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675" name="Google Shape;6675;p302"/>
          <p:cNvSpPr txBox="1"/>
          <p:nvPr/>
        </p:nvSpPr>
        <p:spPr>
          <a:xfrm>
            <a:off x="734725" y="466462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0</a:t>
            </a:r>
            <a:endParaRPr b="1">
              <a:solidFill>
                <a:srgbClr val="0000FF"/>
              </a:solidFill>
              <a:latin typeface="Open Sans"/>
              <a:ea typeface="Open Sans"/>
              <a:cs typeface="Open Sans"/>
              <a:sym typeface="Open Sans"/>
            </a:endParaRPr>
          </a:p>
        </p:txBody>
      </p:sp>
      <p:sp>
        <p:nvSpPr>
          <p:cNvPr id="6676" name="Google Shape;6676;p302"/>
          <p:cNvSpPr txBox="1"/>
          <p:nvPr/>
        </p:nvSpPr>
        <p:spPr>
          <a:xfrm>
            <a:off x="3064250" y="4685100"/>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1</a:t>
            </a:r>
            <a:endParaRPr b="1">
              <a:solidFill>
                <a:srgbClr val="0000FF"/>
              </a:solidFill>
              <a:latin typeface="Open Sans"/>
              <a:ea typeface="Open Sans"/>
              <a:cs typeface="Open Sans"/>
              <a:sym typeface="Open Sans"/>
            </a:endParaRPr>
          </a:p>
        </p:txBody>
      </p:sp>
      <p:cxnSp>
        <p:nvCxnSpPr>
          <p:cNvPr id="6677" name="Google Shape;6677;p302"/>
          <p:cNvCxnSpPr>
            <a:stCxn id="6587" idx="2"/>
            <a:endCxn id="6592" idx="0"/>
          </p:cNvCxnSpPr>
          <p:nvPr/>
        </p:nvCxnSpPr>
        <p:spPr>
          <a:xfrm>
            <a:off x="5739393" y="2961841"/>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678" name="Google Shape;6678;p302"/>
          <p:cNvCxnSpPr>
            <a:stCxn id="6582" idx="2"/>
            <a:endCxn id="6593" idx="0"/>
          </p:cNvCxnSpPr>
          <p:nvPr/>
        </p:nvCxnSpPr>
        <p:spPr>
          <a:xfrm flipH="1">
            <a:off x="5023143" y="2887434"/>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679" name="Google Shape;6679;p302"/>
          <p:cNvCxnSpPr>
            <a:stCxn id="6582" idx="2"/>
            <a:endCxn id="6592" idx="1"/>
          </p:cNvCxnSpPr>
          <p:nvPr/>
        </p:nvCxnSpPr>
        <p:spPr>
          <a:xfrm>
            <a:off x="5172543" y="2887434"/>
            <a:ext cx="514200" cy="600900"/>
          </a:xfrm>
          <a:prstGeom prst="straightConnector1">
            <a:avLst/>
          </a:prstGeom>
          <a:noFill/>
          <a:ln cap="flat" cmpd="sng" w="19050">
            <a:solidFill>
              <a:srgbClr val="666666"/>
            </a:solidFill>
            <a:prstDash val="solid"/>
            <a:round/>
            <a:headEnd len="med" w="med" type="none"/>
            <a:tailEnd len="med" w="med" type="none"/>
          </a:ln>
        </p:spPr>
      </p:cxnSp>
      <p:cxnSp>
        <p:nvCxnSpPr>
          <p:cNvPr id="6680" name="Google Shape;6680;p302"/>
          <p:cNvCxnSpPr>
            <a:stCxn id="6647" idx="2"/>
            <a:endCxn id="6658" idx="0"/>
          </p:cNvCxnSpPr>
          <p:nvPr/>
        </p:nvCxnSpPr>
        <p:spPr>
          <a:xfrm flipH="1">
            <a:off x="7281643" y="2832809"/>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681" name="Google Shape;6681;p302"/>
          <p:cNvCxnSpPr>
            <a:stCxn id="6652" idx="2"/>
            <a:endCxn id="6657" idx="0"/>
          </p:cNvCxnSpPr>
          <p:nvPr/>
        </p:nvCxnSpPr>
        <p:spPr>
          <a:xfrm>
            <a:off x="7997893" y="2907216"/>
            <a:ext cx="52800" cy="482700"/>
          </a:xfrm>
          <a:prstGeom prst="straightConnector1">
            <a:avLst/>
          </a:prstGeom>
          <a:noFill/>
          <a:ln cap="flat" cmpd="sng" w="19050">
            <a:solidFill>
              <a:srgbClr val="666666"/>
            </a:solidFill>
            <a:prstDash val="solid"/>
            <a:round/>
            <a:headEnd len="med" w="med" type="none"/>
            <a:tailEnd len="med" w="med" type="none"/>
          </a:ln>
        </p:spPr>
      </p:cxnSp>
      <p:cxnSp>
        <p:nvCxnSpPr>
          <p:cNvPr id="6682" name="Google Shape;6682;p302"/>
          <p:cNvCxnSpPr>
            <a:stCxn id="6655" idx="2"/>
            <a:endCxn id="6664" idx="0"/>
          </p:cNvCxnSpPr>
          <p:nvPr/>
        </p:nvCxnSpPr>
        <p:spPr>
          <a:xfrm>
            <a:off x="8648697" y="2798914"/>
            <a:ext cx="0" cy="528300"/>
          </a:xfrm>
          <a:prstGeom prst="straightConnector1">
            <a:avLst/>
          </a:prstGeom>
          <a:noFill/>
          <a:ln cap="flat" cmpd="sng" w="19050">
            <a:solidFill>
              <a:srgbClr val="666666"/>
            </a:solidFill>
            <a:prstDash val="solid"/>
            <a:round/>
            <a:headEnd len="med" w="med" type="none"/>
            <a:tailEnd len="med" w="med" type="none"/>
          </a:ln>
        </p:spPr>
      </p:cxnSp>
      <p:sp>
        <p:nvSpPr>
          <p:cNvPr id="6683" name="Google Shape;6683;p302"/>
          <p:cNvSpPr txBox="1"/>
          <p:nvPr/>
        </p:nvSpPr>
        <p:spPr>
          <a:xfrm>
            <a:off x="2977725" y="2996863"/>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6684" name="Google Shape;6684;p30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8" name="Shape 6688"/>
        <p:cNvGrpSpPr/>
        <p:nvPr/>
      </p:nvGrpSpPr>
      <p:grpSpPr>
        <a:xfrm>
          <a:off x="0" y="0"/>
          <a:ext cx="0" cy="0"/>
          <a:chOff x="0" y="0"/>
          <a:chExt cx="0" cy="0"/>
        </a:xfrm>
      </p:grpSpPr>
      <p:sp>
        <p:nvSpPr>
          <p:cNvPr id="6689" name="Google Shape;6689;p303"/>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690" name="Google Shape;6690;p303"/>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691" name="Google Shape;6691;p303"/>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692" name="Google Shape;6692;p303"/>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693" name="Google Shape;6693;p303"/>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694" name="Google Shape;6694;p303"/>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695" name="Google Shape;6695;p303"/>
          <p:cNvCxnSpPr>
            <a:endCxn id="6691"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696" name="Google Shape;6696;p303"/>
          <p:cNvCxnSpPr>
            <a:stCxn id="6693" idx="0"/>
            <a:endCxn id="6691"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697" name="Google Shape;6697;p303"/>
          <p:cNvCxnSpPr>
            <a:stCxn id="6690" idx="1"/>
            <a:endCxn id="6689"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698" name="Google Shape;6698;p303"/>
          <p:cNvCxnSpPr>
            <a:stCxn id="6699" idx="1"/>
            <a:endCxn id="6691"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6700" name="Google Shape;6700;p303"/>
          <p:cNvCxnSpPr>
            <a:stCxn id="6692" idx="0"/>
            <a:endCxn id="6689"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701" name="Google Shape;6701;p303"/>
          <p:cNvCxnSpPr>
            <a:stCxn id="6692" idx="5"/>
            <a:endCxn id="6702"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703" name="Google Shape;6703;p303"/>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702" name="Google Shape;6702;p303"/>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699" name="Google Shape;6699;p303"/>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6704" name="Google Shape;6704;p303"/>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705" name="Google Shape;6705;p303"/>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706" name="Google Shape;6706;p303"/>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707" name="Google Shape;6707;p303"/>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708" name="Google Shape;6708;p303"/>
          <p:cNvCxnSpPr>
            <a:stCxn id="6706" idx="2"/>
            <a:endCxn id="6705"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709" name="Google Shape;6709;p303"/>
          <p:cNvCxnSpPr>
            <a:stCxn id="6704" idx="2"/>
            <a:endCxn id="6705"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710" name="Google Shape;6710;p303"/>
          <p:cNvCxnSpPr>
            <a:stCxn id="6706" idx="6"/>
            <a:endCxn id="6707"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711" name="Google Shape;6711;p303"/>
          <p:cNvCxnSpPr>
            <a:stCxn id="6712" idx="4"/>
            <a:endCxn id="6707"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6712" name="Google Shape;6712;p303"/>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713" name="Google Shape;6713;p303"/>
          <p:cNvCxnSpPr>
            <a:stCxn id="6692" idx="3"/>
            <a:endCxn id="6694"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714" name="Google Shape;6714;p303"/>
          <p:cNvCxnSpPr>
            <a:stCxn id="6690" idx="4"/>
            <a:endCxn id="6703"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715" name="Google Shape;6715;p303"/>
          <p:cNvCxnSpPr>
            <a:stCxn id="6690" idx="4"/>
            <a:endCxn id="6699"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716" name="Google Shape;6716;p303"/>
          <p:cNvCxnSpPr>
            <a:stCxn id="6693" idx="4"/>
            <a:endCxn id="6694"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717" name="Google Shape;6717;p303"/>
          <p:cNvCxnSpPr>
            <a:stCxn id="6693" idx="5"/>
            <a:endCxn id="6702"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718" name="Google Shape;6718;p303"/>
          <p:cNvCxnSpPr>
            <a:stCxn id="6694" idx="6"/>
            <a:endCxn id="6699"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719" name="Google Shape;6719;p303"/>
          <p:cNvCxnSpPr>
            <a:stCxn id="6703" idx="3"/>
            <a:endCxn id="6699"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720" name="Google Shape;6720;p303"/>
          <p:cNvCxnSpPr>
            <a:stCxn id="6703" idx="4"/>
            <a:endCxn id="6702"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721" name="Google Shape;6721;p303"/>
          <p:cNvCxnSpPr>
            <a:stCxn id="6704" idx="6"/>
            <a:endCxn id="6712"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722" name="Google Shape;6722;p303"/>
          <p:cNvCxnSpPr>
            <a:stCxn id="6704" idx="5"/>
            <a:endCxn id="6707"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723" name="Google Shape;6723;p303"/>
          <p:cNvCxnSpPr>
            <a:stCxn id="6712" idx="3"/>
            <a:endCxn id="6706"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724" name="Google Shape;6724;p303"/>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725" name="Google Shape;6725;p303"/>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726" name="Google Shape;6726;p303"/>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727" name="Google Shape;6727;p303"/>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728" name="Google Shape;6728;p303"/>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cxnSp>
        <p:nvCxnSpPr>
          <p:cNvPr id="6729" name="Google Shape;6729;p303"/>
          <p:cNvCxnSpPr>
            <a:endCxn id="6726"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730" name="Google Shape;6730;p303"/>
          <p:cNvCxnSpPr>
            <a:stCxn id="6728" idx="0"/>
            <a:endCxn id="6726"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731" name="Google Shape;6731;p303"/>
          <p:cNvCxnSpPr>
            <a:stCxn id="6725" idx="1"/>
            <a:endCxn id="6724"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732" name="Google Shape;6732;p303"/>
          <p:cNvCxnSpPr>
            <a:stCxn id="6727" idx="0"/>
            <a:endCxn id="6724"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733" name="Google Shape;6733;p303"/>
          <p:cNvCxnSpPr>
            <a:stCxn id="6727" idx="5"/>
            <a:endCxn id="6734"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735" name="Google Shape;6735;p303"/>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734" name="Google Shape;6734;p303"/>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736" name="Google Shape;6736;p303"/>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737" name="Google Shape;6737;p303"/>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738" name="Google Shape;6738;p303"/>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739" name="Google Shape;6739;p303"/>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740" name="Google Shape;6740;p303"/>
          <p:cNvCxnSpPr>
            <a:stCxn id="6738" idx="2"/>
            <a:endCxn id="6737"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741" name="Google Shape;6741;p303"/>
          <p:cNvCxnSpPr>
            <a:stCxn id="6736" idx="2"/>
            <a:endCxn id="6737"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742" name="Google Shape;6742;p303"/>
          <p:cNvCxnSpPr>
            <a:stCxn id="6738" idx="6"/>
            <a:endCxn id="6739"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743" name="Google Shape;6743;p303"/>
          <p:cNvCxnSpPr>
            <a:stCxn id="6744" idx="4"/>
            <a:endCxn id="6739"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6744" name="Google Shape;6744;p303"/>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745" name="Google Shape;6745;p303"/>
          <p:cNvCxnSpPr>
            <a:stCxn id="6725" idx="4"/>
            <a:endCxn id="6735"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746" name="Google Shape;6746;p303"/>
          <p:cNvCxnSpPr>
            <a:stCxn id="6728" idx="5"/>
            <a:endCxn id="6734"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747" name="Google Shape;6747;p303"/>
          <p:cNvCxnSpPr>
            <a:stCxn id="6735" idx="4"/>
            <a:endCxn id="6734"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748" name="Google Shape;6748;p303"/>
          <p:cNvCxnSpPr>
            <a:stCxn id="6736" idx="6"/>
            <a:endCxn id="6744"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749" name="Google Shape;6749;p303"/>
          <p:cNvCxnSpPr>
            <a:stCxn id="6736" idx="5"/>
            <a:endCxn id="6739"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750" name="Google Shape;6750;p303"/>
          <p:cNvCxnSpPr>
            <a:stCxn id="6744" idx="3"/>
            <a:endCxn id="6738"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751" name="Google Shape;6751;p303"/>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752" name="Google Shape;6752;p303"/>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753" name="Google Shape;6753;p303"/>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754" name="Google Shape;6754;p303"/>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755" name="Google Shape;6755;p303"/>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756" name="Google Shape;6756;p303"/>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757" name="Google Shape;6757;p303"/>
          <p:cNvCxnSpPr>
            <a:endCxn id="6753"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758" name="Google Shape;6758;p303"/>
          <p:cNvCxnSpPr>
            <a:stCxn id="6755" idx="0"/>
            <a:endCxn id="6753"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759" name="Google Shape;6759;p303"/>
          <p:cNvCxnSpPr>
            <a:stCxn id="6752" idx="1"/>
            <a:endCxn id="6751"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760" name="Google Shape;6760;p303"/>
          <p:cNvCxnSpPr>
            <a:stCxn id="6754" idx="0"/>
            <a:endCxn id="6751"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761" name="Google Shape;6761;p303"/>
          <p:cNvCxnSpPr>
            <a:stCxn id="6754" idx="5"/>
            <a:endCxn id="6762"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763" name="Google Shape;6763;p303"/>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762" name="Google Shape;6762;p303"/>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764" name="Google Shape;6764;p303"/>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765" name="Google Shape;6765;p303"/>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766" name="Google Shape;6766;p303"/>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767" name="Google Shape;6767;p303"/>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768" name="Google Shape;6768;p303"/>
          <p:cNvCxnSpPr>
            <a:stCxn id="6766" idx="2"/>
            <a:endCxn id="6765"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769" name="Google Shape;6769;p303"/>
          <p:cNvCxnSpPr>
            <a:stCxn id="6764" idx="2"/>
            <a:endCxn id="6765"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770" name="Google Shape;6770;p303"/>
          <p:cNvCxnSpPr>
            <a:stCxn id="6766" idx="6"/>
            <a:endCxn id="6767"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771" name="Google Shape;6771;p303"/>
          <p:cNvCxnSpPr>
            <a:stCxn id="6772" idx="4"/>
            <a:endCxn id="6767"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6772" name="Google Shape;6772;p303"/>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773" name="Google Shape;6773;p303"/>
          <p:cNvCxnSpPr>
            <a:stCxn id="6754" idx="3"/>
            <a:endCxn id="6756"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774" name="Google Shape;6774;p303"/>
          <p:cNvCxnSpPr>
            <a:stCxn id="6752" idx="4"/>
            <a:endCxn id="6763"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775" name="Google Shape;6775;p303"/>
          <p:cNvCxnSpPr>
            <a:stCxn id="6755" idx="4"/>
            <a:endCxn id="6756"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776" name="Google Shape;6776;p303"/>
          <p:cNvCxnSpPr>
            <a:stCxn id="6755" idx="5"/>
            <a:endCxn id="6762"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777" name="Google Shape;6777;p303"/>
          <p:cNvCxnSpPr>
            <a:stCxn id="6763" idx="4"/>
            <a:endCxn id="6762"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778" name="Google Shape;6778;p303"/>
          <p:cNvCxnSpPr>
            <a:stCxn id="6764" idx="6"/>
            <a:endCxn id="6772"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779" name="Google Shape;6779;p303"/>
          <p:cNvCxnSpPr>
            <a:stCxn id="6764" idx="5"/>
            <a:endCxn id="6767"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780" name="Google Shape;6780;p303"/>
          <p:cNvCxnSpPr>
            <a:stCxn id="6772" idx="3"/>
            <a:endCxn id="6766"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781" name="Google Shape;6781;p303"/>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782" name="Google Shape;6782;p303"/>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783" name="Google Shape;6783;p303"/>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784" name="Google Shape;6784;p303"/>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785" name="Google Shape;6785;p303"/>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786" name="Google Shape;6786;p303"/>
          <p:cNvSpPr/>
          <p:nvPr/>
        </p:nvSpPr>
        <p:spPr>
          <a:xfrm>
            <a:off x="7281643" y="2534909"/>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6</a:t>
            </a:r>
            <a:endParaRPr>
              <a:solidFill>
                <a:srgbClr val="FFFFFF"/>
              </a:solidFill>
            </a:endParaRPr>
          </a:p>
        </p:txBody>
      </p:sp>
      <p:cxnSp>
        <p:nvCxnSpPr>
          <p:cNvPr id="6787" name="Google Shape;6787;p303"/>
          <p:cNvCxnSpPr>
            <a:endCxn id="6783"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788" name="Google Shape;6788;p303"/>
          <p:cNvCxnSpPr>
            <a:stCxn id="6785" idx="0"/>
            <a:endCxn id="6783"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789" name="Google Shape;6789;p303"/>
          <p:cNvCxnSpPr>
            <a:stCxn id="6782" idx="1"/>
            <a:endCxn id="6781"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790" name="Google Shape;6790;p303"/>
          <p:cNvCxnSpPr>
            <a:stCxn id="6791" idx="1"/>
            <a:endCxn id="6783" idx="5"/>
          </p:cNvCxnSpPr>
          <p:nvPr/>
        </p:nvCxnSpPr>
        <p:spPr>
          <a:xfrm rot="10800000">
            <a:off x="7387393" y="1785366"/>
            <a:ext cx="461100" cy="972900"/>
          </a:xfrm>
          <a:prstGeom prst="straightConnector1">
            <a:avLst/>
          </a:prstGeom>
          <a:noFill/>
          <a:ln cap="flat" cmpd="sng" w="19050">
            <a:solidFill>
              <a:srgbClr val="666666"/>
            </a:solidFill>
            <a:prstDash val="solid"/>
            <a:round/>
            <a:headEnd len="med" w="med" type="none"/>
            <a:tailEnd len="med" w="med" type="none"/>
          </a:ln>
        </p:spPr>
      </p:cxnSp>
      <p:cxnSp>
        <p:nvCxnSpPr>
          <p:cNvPr id="6792" name="Google Shape;6792;p303"/>
          <p:cNvCxnSpPr>
            <a:stCxn id="6784" idx="0"/>
            <a:endCxn id="6781"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793" name="Google Shape;6793;p303"/>
          <p:cNvCxnSpPr>
            <a:stCxn id="6784" idx="5"/>
            <a:endCxn id="6794" idx="1"/>
          </p:cNvCxnSpPr>
          <p:nvPr/>
        </p:nvCxnSpPr>
        <p:spPr>
          <a:xfrm>
            <a:off x="7954197" y="2082964"/>
            <a:ext cx="545100" cy="567000"/>
          </a:xfrm>
          <a:prstGeom prst="straightConnector1">
            <a:avLst/>
          </a:prstGeom>
          <a:noFill/>
          <a:ln cap="flat" cmpd="sng" w="19050">
            <a:solidFill>
              <a:srgbClr val="666666"/>
            </a:solidFill>
            <a:prstDash val="solid"/>
            <a:round/>
            <a:headEnd len="med" w="med" type="none"/>
            <a:tailEnd len="med" w="med" type="none"/>
          </a:ln>
        </p:spPr>
      </p:cxnSp>
      <p:sp>
        <p:nvSpPr>
          <p:cNvPr id="6795" name="Google Shape;6795;p303"/>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794" name="Google Shape;6794;p303"/>
          <p:cNvSpPr/>
          <p:nvPr/>
        </p:nvSpPr>
        <p:spPr>
          <a:xfrm>
            <a:off x="8499297" y="250101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9</a:t>
            </a:r>
            <a:endParaRPr>
              <a:solidFill>
                <a:srgbClr val="FFFFFF"/>
              </a:solidFill>
            </a:endParaRPr>
          </a:p>
        </p:txBody>
      </p:sp>
      <p:sp>
        <p:nvSpPr>
          <p:cNvPr id="6791" name="Google Shape;6791;p303"/>
          <p:cNvSpPr/>
          <p:nvPr/>
        </p:nvSpPr>
        <p:spPr>
          <a:xfrm>
            <a:off x="7848493" y="2609316"/>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7</a:t>
            </a:r>
            <a:endParaRPr>
              <a:solidFill>
                <a:srgbClr val="FFFFFF"/>
              </a:solidFill>
            </a:endParaRPr>
          </a:p>
        </p:txBody>
      </p:sp>
      <p:sp>
        <p:nvSpPr>
          <p:cNvPr id="6796" name="Google Shape;6796;p303"/>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797" name="Google Shape;6797;p303"/>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798" name="Google Shape;6798;p303"/>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799" name="Google Shape;6799;p303"/>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800" name="Google Shape;6800;p303"/>
          <p:cNvCxnSpPr>
            <a:stCxn id="6798" idx="2"/>
            <a:endCxn id="6797"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801" name="Google Shape;6801;p303"/>
          <p:cNvCxnSpPr>
            <a:stCxn id="6796" idx="2"/>
            <a:endCxn id="6797"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802" name="Google Shape;6802;p303"/>
          <p:cNvCxnSpPr>
            <a:stCxn id="6798" idx="6"/>
            <a:endCxn id="6799"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6803" name="Google Shape;6803;p303"/>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804" name="Google Shape;6804;p303"/>
          <p:cNvCxnSpPr>
            <a:stCxn id="6784" idx="3"/>
            <a:endCxn id="6786" idx="3"/>
          </p:cNvCxnSpPr>
          <p:nvPr/>
        </p:nvCxnSpPr>
        <p:spPr>
          <a:xfrm flipH="1">
            <a:off x="7580314" y="2082964"/>
            <a:ext cx="162600" cy="600900"/>
          </a:xfrm>
          <a:prstGeom prst="straightConnector1">
            <a:avLst/>
          </a:prstGeom>
          <a:noFill/>
          <a:ln cap="flat" cmpd="sng" w="19050">
            <a:solidFill>
              <a:srgbClr val="666666"/>
            </a:solidFill>
            <a:prstDash val="solid"/>
            <a:round/>
            <a:headEnd len="med" w="med" type="none"/>
            <a:tailEnd len="med" w="med" type="none"/>
          </a:ln>
        </p:spPr>
      </p:cxnSp>
      <p:cxnSp>
        <p:nvCxnSpPr>
          <p:cNvPr id="6805" name="Google Shape;6805;p303"/>
          <p:cNvCxnSpPr>
            <a:stCxn id="6782" idx="4"/>
            <a:endCxn id="6795"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806" name="Google Shape;6806;p303"/>
          <p:cNvCxnSpPr>
            <a:stCxn id="6782" idx="4"/>
            <a:endCxn id="6791" idx="0"/>
          </p:cNvCxnSpPr>
          <p:nvPr/>
        </p:nvCxnSpPr>
        <p:spPr>
          <a:xfrm flipH="1">
            <a:off x="7998022" y="1828920"/>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807" name="Google Shape;6807;p303"/>
          <p:cNvCxnSpPr>
            <a:stCxn id="6785" idx="4"/>
            <a:endCxn id="6786" idx="0"/>
          </p:cNvCxnSpPr>
          <p:nvPr/>
        </p:nvCxnSpPr>
        <p:spPr>
          <a:xfrm>
            <a:off x="7281695" y="2330864"/>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808" name="Google Shape;6808;p303"/>
          <p:cNvCxnSpPr>
            <a:stCxn id="6785" idx="5"/>
            <a:endCxn id="6794" idx="1"/>
          </p:cNvCxnSpPr>
          <p:nvPr/>
        </p:nvCxnSpPr>
        <p:spPr>
          <a:xfrm>
            <a:off x="7387337" y="2287238"/>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809" name="Google Shape;6809;p303"/>
          <p:cNvCxnSpPr>
            <a:stCxn id="6786" idx="3"/>
            <a:endCxn id="6791" idx="1"/>
          </p:cNvCxnSpPr>
          <p:nvPr/>
        </p:nvCxnSpPr>
        <p:spPr>
          <a:xfrm>
            <a:off x="7580443" y="2683859"/>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810" name="Google Shape;6810;p303"/>
          <p:cNvCxnSpPr>
            <a:stCxn id="6795" idx="3"/>
            <a:endCxn id="6791" idx="3"/>
          </p:cNvCxnSpPr>
          <p:nvPr/>
        </p:nvCxnSpPr>
        <p:spPr>
          <a:xfrm flipH="1">
            <a:off x="8147355" y="2215365"/>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811" name="Google Shape;6811;p303"/>
          <p:cNvCxnSpPr>
            <a:stCxn id="6796" idx="6"/>
            <a:endCxn id="6803"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812" name="Google Shape;6812;p303"/>
          <p:cNvCxnSpPr>
            <a:stCxn id="6796" idx="5"/>
            <a:endCxn id="6799"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813" name="Google Shape;6813;p303"/>
          <p:cNvCxnSpPr>
            <a:stCxn id="6803" idx="3"/>
            <a:endCxn id="6798"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814" name="Google Shape;6814;p303"/>
          <p:cNvSpPr txBox="1"/>
          <p:nvPr/>
        </p:nvSpPr>
        <p:spPr>
          <a:xfrm>
            <a:off x="734725" y="466462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0</a:t>
            </a:r>
            <a:endParaRPr b="1">
              <a:solidFill>
                <a:srgbClr val="0000FF"/>
              </a:solidFill>
              <a:latin typeface="Open Sans"/>
              <a:ea typeface="Open Sans"/>
              <a:cs typeface="Open Sans"/>
              <a:sym typeface="Open Sans"/>
            </a:endParaRPr>
          </a:p>
        </p:txBody>
      </p:sp>
      <p:sp>
        <p:nvSpPr>
          <p:cNvPr id="6815" name="Google Shape;6815;p303"/>
          <p:cNvSpPr txBox="1"/>
          <p:nvPr/>
        </p:nvSpPr>
        <p:spPr>
          <a:xfrm>
            <a:off x="3064250" y="4685100"/>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1</a:t>
            </a:r>
            <a:endParaRPr b="1">
              <a:solidFill>
                <a:srgbClr val="0000FF"/>
              </a:solidFill>
              <a:latin typeface="Open Sans"/>
              <a:ea typeface="Open Sans"/>
              <a:cs typeface="Open Sans"/>
              <a:sym typeface="Open Sans"/>
            </a:endParaRPr>
          </a:p>
        </p:txBody>
      </p:sp>
      <p:cxnSp>
        <p:nvCxnSpPr>
          <p:cNvPr id="6816" name="Google Shape;6816;p303"/>
          <p:cNvCxnSpPr>
            <a:stCxn id="6786" idx="2"/>
            <a:endCxn id="6797" idx="0"/>
          </p:cNvCxnSpPr>
          <p:nvPr/>
        </p:nvCxnSpPr>
        <p:spPr>
          <a:xfrm flipH="1">
            <a:off x="7281643" y="2832809"/>
            <a:ext cx="149400" cy="642300"/>
          </a:xfrm>
          <a:prstGeom prst="straightConnector1">
            <a:avLst/>
          </a:prstGeom>
          <a:noFill/>
          <a:ln cap="flat" cmpd="sng" w="19050">
            <a:solidFill>
              <a:srgbClr val="666666"/>
            </a:solidFill>
            <a:prstDash val="solid"/>
            <a:round/>
            <a:headEnd len="med" w="med" type="none"/>
            <a:tailEnd len="med" w="med" type="none"/>
          </a:ln>
        </p:spPr>
      </p:cxnSp>
      <p:cxnSp>
        <p:nvCxnSpPr>
          <p:cNvPr id="6817" name="Google Shape;6817;p303"/>
          <p:cNvCxnSpPr>
            <a:stCxn id="6791" idx="2"/>
            <a:endCxn id="6796" idx="0"/>
          </p:cNvCxnSpPr>
          <p:nvPr/>
        </p:nvCxnSpPr>
        <p:spPr>
          <a:xfrm>
            <a:off x="7997893" y="2907216"/>
            <a:ext cx="52800" cy="482700"/>
          </a:xfrm>
          <a:prstGeom prst="straightConnector1">
            <a:avLst/>
          </a:prstGeom>
          <a:noFill/>
          <a:ln cap="flat" cmpd="sng" w="19050">
            <a:solidFill>
              <a:srgbClr val="666666"/>
            </a:solidFill>
            <a:prstDash val="solid"/>
            <a:round/>
            <a:headEnd len="med" w="med" type="none"/>
            <a:tailEnd len="med" w="med" type="none"/>
          </a:ln>
        </p:spPr>
      </p:cxnSp>
      <p:sp>
        <p:nvSpPr>
          <p:cNvPr id="6818" name="Google Shape;6818;p303"/>
          <p:cNvSpPr txBox="1"/>
          <p:nvPr/>
        </p:nvSpPr>
        <p:spPr>
          <a:xfrm>
            <a:off x="5296850" y="472957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2</a:t>
            </a:r>
            <a:endParaRPr b="1">
              <a:solidFill>
                <a:srgbClr val="0000FF"/>
              </a:solidFill>
              <a:latin typeface="Open Sans"/>
              <a:ea typeface="Open Sans"/>
              <a:cs typeface="Open Sans"/>
              <a:sym typeface="Open Sans"/>
            </a:endParaRPr>
          </a:p>
        </p:txBody>
      </p:sp>
      <p:cxnSp>
        <p:nvCxnSpPr>
          <p:cNvPr id="6819" name="Google Shape;6819;p303"/>
          <p:cNvCxnSpPr>
            <a:stCxn id="6794" idx="2"/>
            <a:endCxn id="6803" idx="0"/>
          </p:cNvCxnSpPr>
          <p:nvPr/>
        </p:nvCxnSpPr>
        <p:spPr>
          <a:xfrm>
            <a:off x="8648697" y="2798914"/>
            <a:ext cx="0" cy="528300"/>
          </a:xfrm>
          <a:prstGeom prst="straightConnector1">
            <a:avLst/>
          </a:prstGeom>
          <a:noFill/>
          <a:ln cap="flat" cmpd="sng" w="19050">
            <a:solidFill>
              <a:srgbClr val="666666"/>
            </a:solidFill>
            <a:prstDash val="solid"/>
            <a:round/>
            <a:headEnd len="med" w="med" type="none"/>
            <a:tailEnd len="med" w="med" type="none"/>
          </a:ln>
        </p:spPr>
      </p:cxnSp>
      <p:sp>
        <p:nvSpPr>
          <p:cNvPr id="6820" name="Google Shape;6820;p303"/>
          <p:cNvSpPr txBox="1"/>
          <p:nvPr/>
        </p:nvSpPr>
        <p:spPr>
          <a:xfrm>
            <a:off x="5055200" y="2979900"/>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6821" name="Google Shape;6821;p303"/>
          <p:cNvSpPr txBox="1"/>
          <p:nvPr/>
        </p:nvSpPr>
        <p:spPr>
          <a:xfrm>
            <a:off x="2977725" y="2996863"/>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6822" name="Google Shape;6822;p30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6" name="Shape 6826"/>
        <p:cNvGrpSpPr/>
        <p:nvPr/>
      </p:nvGrpSpPr>
      <p:grpSpPr>
        <a:xfrm>
          <a:off x="0" y="0"/>
          <a:ext cx="0" cy="0"/>
          <a:chOff x="0" y="0"/>
          <a:chExt cx="0" cy="0"/>
        </a:xfrm>
      </p:grpSpPr>
      <p:sp>
        <p:nvSpPr>
          <p:cNvPr id="6827" name="Google Shape;6827;p304"/>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828" name="Google Shape;6828;p304"/>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829" name="Google Shape;6829;p304"/>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830" name="Google Shape;6830;p304"/>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831" name="Google Shape;6831;p304"/>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832" name="Google Shape;6832;p304"/>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833" name="Google Shape;6833;p304"/>
          <p:cNvCxnSpPr>
            <a:endCxn id="6829"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834" name="Google Shape;6834;p304"/>
          <p:cNvCxnSpPr>
            <a:stCxn id="6831" idx="0"/>
            <a:endCxn id="6829"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835" name="Google Shape;6835;p304"/>
          <p:cNvCxnSpPr>
            <a:stCxn id="6828" idx="1"/>
            <a:endCxn id="6827"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836" name="Google Shape;6836;p304"/>
          <p:cNvCxnSpPr>
            <a:stCxn id="6837" idx="1"/>
            <a:endCxn id="6829"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6838" name="Google Shape;6838;p304"/>
          <p:cNvCxnSpPr>
            <a:stCxn id="6830" idx="0"/>
            <a:endCxn id="6827"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839" name="Google Shape;6839;p304"/>
          <p:cNvCxnSpPr>
            <a:stCxn id="6830" idx="5"/>
            <a:endCxn id="6840"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841" name="Google Shape;6841;p304"/>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840" name="Google Shape;6840;p304"/>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837" name="Google Shape;6837;p304"/>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6842" name="Google Shape;6842;p304"/>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843" name="Google Shape;6843;p304"/>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844" name="Google Shape;6844;p304"/>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845" name="Google Shape;6845;p304"/>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846" name="Google Shape;6846;p304"/>
          <p:cNvCxnSpPr>
            <a:stCxn id="6844" idx="2"/>
            <a:endCxn id="6843"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847" name="Google Shape;6847;p304"/>
          <p:cNvCxnSpPr>
            <a:stCxn id="6842" idx="2"/>
            <a:endCxn id="6843"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848" name="Google Shape;6848;p304"/>
          <p:cNvCxnSpPr>
            <a:stCxn id="6844" idx="6"/>
            <a:endCxn id="6845"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849" name="Google Shape;6849;p304"/>
          <p:cNvCxnSpPr>
            <a:stCxn id="6850" idx="4"/>
            <a:endCxn id="6845"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6850" name="Google Shape;6850;p304"/>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851" name="Google Shape;6851;p304"/>
          <p:cNvCxnSpPr>
            <a:stCxn id="6830" idx="3"/>
            <a:endCxn id="6832"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852" name="Google Shape;6852;p304"/>
          <p:cNvCxnSpPr>
            <a:stCxn id="6828" idx="4"/>
            <a:endCxn id="6841"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853" name="Google Shape;6853;p304"/>
          <p:cNvCxnSpPr>
            <a:stCxn id="6828" idx="4"/>
            <a:endCxn id="6837"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854" name="Google Shape;6854;p304"/>
          <p:cNvCxnSpPr>
            <a:stCxn id="6831" idx="4"/>
            <a:endCxn id="6832"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855" name="Google Shape;6855;p304"/>
          <p:cNvCxnSpPr>
            <a:stCxn id="6831" idx="5"/>
            <a:endCxn id="6840"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856" name="Google Shape;6856;p304"/>
          <p:cNvCxnSpPr>
            <a:stCxn id="6832" idx="6"/>
            <a:endCxn id="6837"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857" name="Google Shape;6857;p304"/>
          <p:cNvCxnSpPr>
            <a:stCxn id="6841" idx="3"/>
            <a:endCxn id="6837"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858" name="Google Shape;6858;p304"/>
          <p:cNvCxnSpPr>
            <a:stCxn id="6841" idx="4"/>
            <a:endCxn id="6840"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859" name="Google Shape;6859;p304"/>
          <p:cNvCxnSpPr>
            <a:stCxn id="6842" idx="6"/>
            <a:endCxn id="6850"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860" name="Google Shape;6860;p304"/>
          <p:cNvCxnSpPr>
            <a:stCxn id="6842" idx="5"/>
            <a:endCxn id="6845"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861" name="Google Shape;6861;p304"/>
          <p:cNvCxnSpPr>
            <a:stCxn id="6850" idx="3"/>
            <a:endCxn id="6844"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862" name="Google Shape;6862;p304"/>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863" name="Google Shape;6863;p304"/>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864" name="Google Shape;6864;p304"/>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865" name="Google Shape;6865;p304"/>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866" name="Google Shape;6866;p304"/>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cxnSp>
        <p:nvCxnSpPr>
          <p:cNvPr id="6867" name="Google Shape;6867;p304"/>
          <p:cNvCxnSpPr>
            <a:endCxn id="6864"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868" name="Google Shape;6868;p304"/>
          <p:cNvCxnSpPr>
            <a:stCxn id="6866" idx="0"/>
            <a:endCxn id="6864"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869" name="Google Shape;6869;p304"/>
          <p:cNvCxnSpPr>
            <a:stCxn id="6863" idx="1"/>
            <a:endCxn id="6862"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870" name="Google Shape;6870;p304"/>
          <p:cNvCxnSpPr>
            <a:stCxn id="6865" idx="0"/>
            <a:endCxn id="6862"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871" name="Google Shape;6871;p304"/>
          <p:cNvCxnSpPr>
            <a:stCxn id="6865" idx="5"/>
            <a:endCxn id="6872"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873" name="Google Shape;6873;p304"/>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872" name="Google Shape;6872;p304"/>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874" name="Google Shape;6874;p304"/>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875" name="Google Shape;6875;p304"/>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876" name="Google Shape;6876;p304"/>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877" name="Google Shape;6877;p304"/>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878" name="Google Shape;6878;p304"/>
          <p:cNvCxnSpPr>
            <a:stCxn id="6876" idx="2"/>
            <a:endCxn id="6875"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879" name="Google Shape;6879;p304"/>
          <p:cNvCxnSpPr>
            <a:stCxn id="6874" idx="2"/>
            <a:endCxn id="6875"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880" name="Google Shape;6880;p304"/>
          <p:cNvCxnSpPr>
            <a:stCxn id="6876" idx="6"/>
            <a:endCxn id="6877"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881" name="Google Shape;6881;p304"/>
          <p:cNvCxnSpPr>
            <a:stCxn id="6882" idx="4"/>
            <a:endCxn id="6877"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6882" name="Google Shape;6882;p304"/>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883" name="Google Shape;6883;p304"/>
          <p:cNvCxnSpPr>
            <a:stCxn id="6863" idx="4"/>
            <a:endCxn id="6873"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884" name="Google Shape;6884;p304"/>
          <p:cNvCxnSpPr>
            <a:stCxn id="6866" idx="5"/>
            <a:endCxn id="6872"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885" name="Google Shape;6885;p304"/>
          <p:cNvCxnSpPr>
            <a:stCxn id="6873" idx="4"/>
            <a:endCxn id="6872"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886" name="Google Shape;6886;p304"/>
          <p:cNvCxnSpPr>
            <a:stCxn id="6874" idx="6"/>
            <a:endCxn id="6882"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887" name="Google Shape;6887;p304"/>
          <p:cNvCxnSpPr>
            <a:stCxn id="6874" idx="5"/>
            <a:endCxn id="6877"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888" name="Google Shape;6888;p304"/>
          <p:cNvCxnSpPr>
            <a:stCxn id="6882" idx="3"/>
            <a:endCxn id="6876"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889" name="Google Shape;6889;p304"/>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890" name="Google Shape;6890;p304"/>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891" name="Google Shape;6891;p304"/>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892" name="Google Shape;6892;p304"/>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893" name="Google Shape;6893;p304"/>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894" name="Google Shape;6894;p304"/>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895" name="Google Shape;6895;p304"/>
          <p:cNvCxnSpPr>
            <a:endCxn id="6891"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896" name="Google Shape;6896;p304"/>
          <p:cNvCxnSpPr>
            <a:stCxn id="6893" idx="0"/>
            <a:endCxn id="6891"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897" name="Google Shape;6897;p304"/>
          <p:cNvCxnSpPr>
            <a:stCxn id="6890" idx="1"/>
            <a:endCxn id="6889"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898" name="Google Shape;6898;p304"/>
          <p:cNvCxnSpPr>
            <a:stCxn id="6892" idx="0"/>
            <a:endCxn id="6889"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899" name="Google Shape;6899;p304"/>
          <p:cNvCxnSpPr>
            <a:stCxn id="6892" idx="5"/>
            <a:endCxn id="6900"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901" name="Google Shape;6901;p304"/>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900" name="Google Shape;6900;p304"/>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902" name="Google Shape;6902;p304"/>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903" name="Google Shape;6903;p304"/>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904" name="Google Shape;6904;p304"/>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905" name="Google Shape;6905;p304"/>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906" name="Google Shape;6906;p304"/>
          <p:cNvCxnSpPr>
            <a:stCxn id="6904" idx="2"/>
            <a:endCxn id="6903"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907" name="Google Shape;6907;p304"/>
          <p:cNvCxnSpPr>
            <a:stCxn id="6902" idx="2"/>
            <a:endCxn id="6903"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908" name="Google Shape;6908;p304"/>
          <p:cNvCxnSpPr>
            <a:stCxn id="6904" idx="6"/>
            <a:endCxn id="6905"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909" name="Google Shape;6909;p304"/>
          <p:cNvCxnSpPr>
            <a:stCxn id="6910" idx="4"/>
            <a:endCxn id="6905"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6910" name="Google Shape;6910;p304"/>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911" name="Google Shape;6911;p304"/>
          <p:cNvCxnSpPr>
            <a:stCxn id="6892" idx="3"/>
            <a:endCxn id="6894"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912" name="Google Shape;6912;p304"/>
          <p:cNvCxnSpPr>
            <a:stCxn id="6890" idx="4"/>
            <a:endCxn id="6901"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913" name="Google Shape;6913;p304"/>
          <p:cNvCxnSpPr>
            <a:stCxn id="6893" idx="4"/>
            <a:endCxn id="6894"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914" name="Google Shape;6914;p304"/>
          <p:cNvCxnSpPr>
            <a:stCxn id="6893" idx="5"/>
            <a:endCxn id="6900"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915" name="Google Shape;6915;p304"/>
          <p:cNvCxnSpPr>
            <a:stCxn id="6901" idx="4"/>
            <a:endCxn id="6900"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916" name="Google Shape;6916;p304"/>
          <p:cNvCxnSpPr>
            <a:stCxn id="6902" idx="6"/>
            <a:endCxn id="6910"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917" name="Google Shape;6917;p304"/>
          <p:cNvCxnSpPr>
            <a:stCxn id="6902" idx="5"/>
            <a:endCxn id="6905"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918" name="Google Shape;6918;p304"/>
          <p:cNvCxnSpPr>
            <a:stCxn id="6910" idx="3"/>
            <a:endCxn id="6904"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919" name="Google Shape;6919;p304"/>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920" name="Google Shape;6920;p304"/>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921" name="Google Shape;6921;p304"/>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922" name="Google Shape;6922;p304"/>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923" name="Google Shape;6923;p304"/>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cxnSp>
        <p:nvCxnSpPr>
          <p:cNvPr id="6924" name="Google Shape;6924;p304"/>
          <p:cNvCxnSpPr>
            <a:endCxn id="6921"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925" name="Google Shape;6925;p304"/>
          <p:cNvCxnSpPr>
            <a:stCxn id="6923" idx="0"/>
            <a:endCxn id="6921"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926" name="Google Shape;6926;p304"/>
          <p:cNvCxnSpPr>
            <a:stCxn id="6920" idx="1"/>
            <a:endCxn id="6919"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927" name="Google Shape;6927;p304"/>
          <p:cNvCxnSpPr>
            <a:stCxn id="6922" idx="0"/>
            <a:endCxn id="6919"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928" name="Google Shape;6928;p304"/>
          <p:cNvCxnSpPr>
            <a:stCxn id="6922" idx="5"/>
            <a:endCxn id="6929" idx="1"/>
          </p:cNvCxnSpPr>
          <p:nvPr/>
        </p:nvCxnSpPr>
        <p:spPr>
          <a:xfrm>
            <a:off x="7954197" y="2082964"/>
            <a:ext cx="545100" cy="567000"/>
          </a:xfrm>
          <a:prstGeom prst="straightConnector1">
            <a:avLst/>
          </a:prstGeom>
          <a:noFill/>
          <a:ln cap="flat" cmpd="sng" w="19050">
            <a:solidFill>
              <a:srgbClr val="666666"/>
            </a:solidFill>
            <a:prstDash val="solid"/>
            <a:round/>
            <a:headEnd len="med" w="med" type="none"/>
            <a:tailEnd len="med" w="med" type="none"/>
          </a:ln>
        </p:spPr>
      </p:cxnSp>
      <p:sp>
        <p:nvSpPr>
          <p:cNvPr id="6930" name="Google Shape;6930;p304"/>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929" name="Google Shape;6929;p304"/>
          <p:cNvSpPr/>
          <p:nvPr/>
        </p:nvSpPr>
        <p:spPr>
          <a:xfrm>
            <a:off x="8499297" y="2501014"/>
            <a:ext cx="298800" cy="297900"/>
          </a:xfrm>
          <a:prstGeom prst="rect">
            <a:avLst/>
          </a:prstGeom>
          <a:solidFill>
            <a:srgbClr val="0000FF"/>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FFFFFF"/>
                </a:solidFill>
              </a:rPr>
              <a:t>9</a:t>
            </a:r>
            <a:endParaRPr>
              <a:solidFill>
                <a:srgbClr val="FFFFFF"/>
              </a:solidFill>
            </a:endParaRPr>
          </a:p>
        </p:txBody>
      </p:sp>
      <p:sp>
        <p:nvSpPr>
          <p:cNvPr id="6931" name="Google Shape;6931;p304"/>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932" name="Google Shape;6932;p304"/>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933" name="Google Shape;6933;p304"/>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934" name="Google Shape;6934;p304"/>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935" name="Google Shape;6935;p304"/>
          <p:cNvCxnSpPr>
            <a:stCxn id="6933" idx="2"/>
            <a:endCxn id="6932"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936" name="Google Shape;6936;p304"/>
          <p:cNvCxnSpPr>
            <a:stCxn id="6931" idx="2"/>
            <a:endCxn id="6932"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937" name="Google Shape;6937;p304"/>
          <p:cNvCxnSpPr>
            <a:stCxn id="6933" idx="6"/>
            <a:endCxn id="6934"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6938" name="Google Shape;6938;p304"/>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939" name="Google Shape;6939;p304"/>
          <p:cNvCxnSpPr>
            <a:stCxn id="6920" idx="4"/>
            <a:endCxn id="6930"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940" name="Google Shape;6940;p304"/>
          <p:cNvCxnSpPr>
            <a:stCxn id="6931" idx="6"/>
            <a:endCxn id="6938"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941" name="Google Shape;6941;p304"/>
          <p:cNvCxnSpPr>
            <a:stCxn id="6931" idx="5"/>
            <a:endCxn id="6934"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942" name="Google Shape;6942;p304"/>
          <p:cNvCxnSpPr>
            <a:stCxn id="6938" idx="3"/>
            <a:endCxn id="6933"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943" name="Google Shape;6943;p304"/>
          <p:cNvSpPr txBox="1"/>
          <p:nvPr/>
        </p:nvSpPr>
        <p:spPr>
          <a:xfrm>
            <a:off x="734725" y="466462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0</a:t>
            </a:r>
            <a:endParaRPr b="1">
              <a:solidFill>
                <a:srgbClr val="0000FF"/>
              </a:solidFill>
              <a:latin typeface="Open Sans"/>
              <a:ea typeface="Open Sans"/>
              <a:cs typeface="Open Sans"/>
              <a:sym typeface="Open Sans"/>
            </a:endParaRPr>
          </a:p>
        </p:txBody>
      </p:sp>
      <p:sp>
        <p:nvSpPr>
          <p:cNvPr id="6944" name="Google Shape;6944;p304"/>
          <p:cNvSpPr txBox="1"/>
          <p:nvPr/>
        </p:nvSpPr>
        <p:spPr>
          <a:xfrm>
            <a:off x="3064250" y="4685100"/>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1</a:t>
            </a:r>
            <a:endParaRPr b="1">
              <a:solidFill>
                <a:srgbClr val="0000FF"/>
              </a:solidFill>
              <a:latin typeface="Open Sans"/>
              <a:ea typeface="Open Sans"/>
              <a:cs typeface="Open Sans"/>
              <a:sym typeface="Open Sans"/>
            </a:endParaRPr>
          </a:p>
        </p:txBody>
      </p:sp>
      <p:sp>
        <p:nvSpPr>
          <p:cNvPr id="6945" name="Google Shape;6945;p304"/>
          <p:cNvSpPr txBox="1"/>
          <p:nvPr/>
        </p:nvSpPr>
        <p:spPr>
          <a:xfrm>
            <a:off x="5296850" y="472957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2</a:t>
            </a:r>
            <a:endParaRPr b="1">
              <a:solidFill>
                <a:srgbClr val="0000FF"/>
              </a:solidFill>
              <a:latin typeface="Open Sans"/>
              <a:ea typeface="Open Sans"/>
              <a:cs typeface="Open Sans"/>
              <a:sym typeface="Open Sans"/>
            </a:endParaRPr>
          </a:p>
        </p:txBody>
      </p:sp>
      <p:cxnSp>
        <p:nvCxnSpPr>
          <p:cNvPr id="6946" name="Google Shape;6946;p304"/>
          <p:cNvCxnSpPr>
            <a:stCxn id="6929" idx="2"/>
            <a:endCxn id="6938" idx="0"/>
          </p:cNvCxnSpPr>
          <p:nvPr/>
        </p:nvCxnSpPr>
        <p:spPr>
          <a:xfrm>
            <a:off x="8648697" y="2798914"/>
            <a:ext cx="0" cy="528300"/>
          </a:xfrm>
          <a:prstGeom prst="straightConnector1">
            <a:avLst/>
          </a:prstGeom>
          <a:noFill/>
          <a:ln cap="flat" cmpd="sng" w="19050">
            <a:solidFill>
              <a:srgbClr val="666666"/>
            </a:solidFill>
            <a:prstDash val="solid"/>
            <a:round/>
            <a:headEnd len="med" w="med" type="none"/>
            <a:tailEnd len="med" w="med" type="none"/>
          </a:ln>
        </p:spPr>
      </p:cxnSp>
      <p:sp>
        <p:nvSpPr>
          <p:cNvPr id="6947" name="Google Shape;6947;p304"/>
          <p:cNvSpPr txBox="1"/>
          <p:nvPr/>
        </p:nvSpPr>
        <p:spPr>
          <a:xfrm>
            <a:off x="2977725" y="2996863"/>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6948" name="Google Shape;6948;p304"/>
          <p:cNvSpPr txBox="1"/>
          <p:nvPr/>
        </p:nvSpPr>
        <p:spPr>
          <a:xfrm>
            <a:off x="5055200" y="2979900"/>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6949" name="Google Shape;6949;p304"/>
          <p:cNvSpPr txBox="1"/>
          <p:nvPr/>
        </p:nvSpPr>
        <p:spPr>
          <a:xfrm>
            <a:off x="7181050" y="2956588"/>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Not yet</a:t>
            </a:r>
            <a:r>
              <a:rPr b="1" lang="en" sz="1200">
                <a:solidFill>
                  <a:srgbClr val="0000FF"/>
                </a:solidFill>
                <a:latin typeface="Open Sans"/>
                <a:ea typeface="Open Sans"/>
                <a:cs typeface="Open Sans"/>
                <a:sym typeface="Open Sans"/>
              </a:rPr>
              <a:t>!</a:t>
            </a:r>
            <a:endParaRPr b="1" sz="1200">
              <a:solidFill>
                <a:srgbClr val="0000FF"/>
              </a:solidFill>
              <a:latin typeface="Open Sans"/>
              <a:ea typeface="Open Sans"/>
              <a:cs typeface="Open Sans"/>
              <a:sym typeface="Open Sans"/>
            </a:endParaRPr>
          </a:p>
        </p:txBody>
      </p:sp>
      <p:sp>
        <p:nvSpPr>
          <p:cNvPr id="6950" name="Google Shape;6950;p30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4" name="Shape 6954"/>
        <p:cNvGrpSpPr/>
        <p:nvPr/>
      </p:nvGrpSpPr>
      <p:grpSpPr>
        <a:xfrm>
          <a:off x="0" y="0"/>
          <a:ext cx="0" cy="0"/>
          <a:chOff x="0" y="0"/>
          <a:chExt cx="0" cy="0"/>
        </a:xfrm>
      </p:grpSpPr>
      <p:sp>
        <p:nvSpPr>
          <p:cNvPr id="6955" name="Google Shape;6955;p305"/>
          <p:cNvSpPr/>
          <p:nvPr/>
        </p:nvSpPr>
        <p:spPr>
          <a:xfrm>
            <a:off x="878548" y="11813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956" name="Google Shape;6956;p305"/>
          <p:cNvSpPr/>
          <p:nvPr/>
        </p:nvSpPr>
        <p:spPr>
          <a:xfrm>
            <a:off x="1379915"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957" name="Google Shape;6957;p305"/>
          <p:cNvSpPr/>
          <p:nvPr/>
        </p:nvSpPr>
        <p:spPr>
          <a:xfrm>
            <a:off x="311688" y="15651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958" name="Google Shape;6958;p305"/>
          <p:cNvSpPr/>
          <p:nvPr/>
        </p:nvSpPr>
        <p:spPr>
          <a:xfrm>
            <a:off x="878548" y="18628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959" name="Google Shape;6959;p305"/>
          <p:cNvSpPr/>
          <p:nvPr/>
        </p:nvSpPr>
        <p:spPr>
          <a:xfrm>
            <a:off x="311688" y="206712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6960" name="Google Shape;6960;p305"/>
          <p:cNvSpPr/>
          <p:nvPr/>
        </p:nvSpPr>
        <p:spPr>
          <a:xfrm>
            <a:off x="461035" y="256907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6961" name="Google Shape;6961;p305"/>
          <p:cNvCxnSpPr>
            <a:endCxn id="6957" idx="7"/>
          </p:cNvCxnSpPr>
          <p:nvPr/>
        </p:nvCxnSpPr>
        <p:spPr>
          <a:xfrm flipH="1">
            <a:off x="566729" y="1435709"/>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962" name="Google Shape;6962;p305"/>
          <p:cNvCxnSpPr>
            <a:stCxn id="6959" idx="0"/>
            <a:endCxn id="6957" idx="4"/>
          </p:cNvCxnSpPr>
          <p:nvPr/>
        </p:nvCxnSpPr>
        <p:spPr>
          <a:xfrm rot="10800000">
            <a:off x="461088" y="1863128"/>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963" name="Google Shape;6963;p305"/>
          <p:cNvCxnSpPr>
            <a:stCxn id="6956" idx="1"/>
            <a:endCxn id="6955" idx="5"/>
          </p:cNvCxnSpPr>
          <p:nvPr/>
        </p:nvCxnSpPr>
        <p:spPr>
          <a:xfrm rot="10800000">
            <a:off x="1133573" y="1435709"/>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964" name="Google Shape;6964;p305"/>
          <p:cNvCxnSpPr>
            <a:stCxn id="6965" idx="1"/>
            <a:endCxn id="6957" idx="5"/>
          </p:cNvCxnSpPr>
          <p:nvPr/>
        </p:nvCxnSpPr>
        <p:spPr>
          <a:xfrm rot="10800000">
            <a:off x="566743" y="1819506"/>
            <a:ext cx="504900" cy="867600"/>
          </a:xfrm>
          <a:prstGeom prst="straightConnector1">
            <a:avLst/>
          </a:prstGeom>
          <a:noFill/>
          <a:ln cap="flat" cmpd="sng" w="19050">
            <a:solidFill>
              <a:srgbClr val="666666"/>
            </a:solidFill>
            <a:prstDash val="solid"/>
            <a:round/>
            <a:headEnd len="med" w="med" type="none"/>
            <a:tailEnd len="med" w="med" type="none"/>
          </a:ln>
        </p:spPr>
      </p:cxnSp>
      <p:cxnSp>
        <p:nvCxnSpPr>
          <p:cNvPr id="6966" name="Google Shape;6966;p305"/>
          <p:cNvCxnSpPr>
            <a:stCxn id="6958" idx="0"/>
            <a:endCxn id="6955" idx="4"/>
          </p:cNvCxnSpPr>
          <p:nvPr/>
        </p:nvCxnSpPr>
        <p:spPr>
          <a:xfrm rot="10800000">
            <a:off x="1027948" y="1479154"/>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967" name="Google Shape;6967;p305"/>
          <p:cNvCxnSpPr>
            <a:stCxn id="6958" idx="5"/>
            <a:endCxn id="6968" idx="1"/>
          </p:cNvCxnSpPr>
          <p:nvPr/>
        </p:nvCxnSpPr>
        <p:spPr>
          <a:xfrm>
            <a:off x="1133589" y="2117127"/>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6969" name="Google Shape;6969;p305"/>
          <p:cNvSpPr/>
          <p:nvPr/>
        </p:nvSpPr>
        <p:spPr>
          <a:xfrm>
            <a:off x="1678689" y="199525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6968" name="Google Shape;6968;p305"/>
          <p:cNvSpPr/>
          <p:nvPr/>
        </p:nvSpPr>
        <p:spPr>
          <a:xfrm>
            <a:off x="1678689" y="253517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6965" name="Google Shape;6965;p305"/>
          <p:cNvSpPr/>
          <p:nvPr/>
        </p:nvSpPr>
        <p:spPr>
          <a:xfrm>
            <a:off x="1027885" y="264347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sp>
        <p:nvSpPr>
          <p:cNvPr id="6970" name="Google Shape;6970;p305"/>
          <p:cNvSpPr/>
          <p:nvPr/>
        </p:nvSpPr>
        <p:spPr>
          <a:xfrm>
            <a:off x="1080784" y="342412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6971" name="Google Shape;6971;p305"/>
          <p:cNvSpPr/>
          <p:nvPr/>
        </p:nvSpPr>
        <p:spPr>
          <a:xfrm>
            <a:off x="311688" y="350929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6972" name="Google Shape;6972;p305"/>
          <p:cNvSpPr/>
          <p:nvPr/>
        </p:nvSpPr>
        <p:spPr>
          <a:xfrm>
            <a:off x="610422" y="417388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6973" name="Google Shape;6973;p305"/>
          <p:cNvSpPr/>
          <p:nvPr/>
        </p:nvSpPr>
        <p:spPr>
          <a:xfrm>
            <a:off x="1678447" y="401308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6974" name="Google Shape;6974;p305"/>
          <p:cNvCxnSpPr>
            <a:stCxn id="6972" idx="2"/>
            <a:endCxn id="6971" idx="5"/>
          </p:cNvCxnSpPr>
          <p:nvPr/>
        </p:nvCxnSpPr>
        <p:spPr>
          <a:xfrm rot="10800000">
            <a:off x="566622" y="3763633"/>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6975" name="Google Shape;6975;p305"/>
          <p:cNvCxnSpPr>
            <a:stCxn id="6970" idx="2"/>
            <a:endCxn id="6971" idx="6"/>
          </p:cNvCxnSpPr>
          <p:nvPr/>
        </p:nvCxnSpPr>
        <p:spPr>
          <a:xfrm flipH="1">
            <a:off x="610384" y="3573076"/>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6976" name="Google Shape;6976;p305"/>
          <p:cNvCxnSpPr>
            <a:stCxn id="6972" idx="6"/>
            <a:endCxn id="6973" idx="3"/>
          </p:cNvCxnSpPr>
          <p:nvPr/>
        </p:nvCxnSpPr>
        <p:spPr>
          <a:xfrm flipH="1" rot="10800000">
            <a:off x="909222" y="4271833"/>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6977" name="Google Shape;6977;p305"/>
          <p:cNvCxnSpPr>
            <a:stCxn id="6978" idx="4"/>
            <a:endCxn id="6973" idx="0"/>
          </p:cNvCxnSpPr>
          <p:nvPr/>
        </p:nvCxnSpPr>
        <p:spPr>
          <a:xfrm>
            <a:off x="1827997" y="3664522"/>
            <a:ext cx="0" cy="348600"/>
          </a:xfrm>
          <a:prstGeom prst="straightConnector1">
            <a:avLst/>
          </a:prstGeom>
          <a:noFill/>
          <a:ln cap="flat" cmpd="sng" w="19050">
            <a:solidFill>
              <a:srgbClr val="666666"/>
            </a:solidFill>
            <a:prstDash val="solid"/>
            <a:round/>
            <a:headEnd len="med" w="med" type="none"/>
            <a:tailEnd len="med" w="med" type="none"/>
          </a:ln>
        </p:spPr>
      </p:cxnSp>
      <p:sp>
        <p:nvSpPr>
          <p:cNvPr id="6978" name="Google Shape;6978;p305"/>
          <p:cNvSpPr/>
          <p:nvPr/>
        </p:nvSpPr>
        <p:spPr>
          <a:xfrm>
            <a:off x="1678447" y="3361522"/>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6979" name="Google Shape;6979;p305"/>
          <p:cNvCxnSpPr>
            <a:stCxn id="6958" idx="3"/>
            <a:endCxn id="6960" idx="7"/>
          </p:cNvCxnSpPr>
          <p:nvPr/>
        </p:nvCxnSpPr>
        <p:spPr>
          <a:xfrm flipH="1">
            <a:off x="716206" y="2117127"/>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6980" name="Google Shape;6980;p305"/>
          <p:cNvCxnSpPr>
            <a:stCxn id="6956" idx="4"/>
            <a:endCxn id="6969" idx="1"/>
          </p:cNvCxnSpPr>
          <p:nvPr/>
        </p:nvCxnSpPr>
        <p:spPr>
          <a:xfrm>
            <a:off x="1529315" y="1863083"/>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6981" name="Google Shape;6981;p305"/>
          <p:cNvCxnSpPr>
            <a:stCxn id="6956" idx="4"/>
            <a:endCxn id="6965" idx="0"/>
          </p:cNvCxnSpPr>
          <p:nvPr/>
        </p:nvCxnSpPr>
        <p:spPr>
          <a:xfrm flipH="1">
            <a:off x="1177415" y="1863083"/>
            <a:ext cx="351900" cy="780300"/>
          </a:xfrm>
          <a:prstGeom prst="straightConnector1">
            <a:avLst/>
          </a:prstGeom>
          <a:noFill/>
          <a:ln cap="flat" cmpd="sng" w="19050">
            <a:solidFill>
              <a:srgbClr val="666666"/>
            </a:solidFill>
            <a:prstDash val="solid"/>
            <a:round/>
            <a:headEnd len="med" w="med" type="none"/>
            <a:tailEnd len="med" w="med" type="none"/>
          </a:ln>
        </p:spPr>
      </p:cxnSp>
      <p:cxnSp>
        <p:nvCxnSpPr>
          <p:cNvPr id="6982" name="Google Shape;6982;p305"/>
          <p:cNvCxnSpPr>
            <a:stCxn id="6959" idx="4"/>
            <a:endCxn id="6960" idx="0"/>
          </p:cNvCxnSpPr>
          <p:nvPr/>
        </p:nvCxnSpPr>
        <p:spPr>
          <a:xfrm>
            <a:off x="461088" y="2365028"/>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6983" name="Google Shape;6983;p305"/>
          <p:cNvCxnSpPr>
            <a:stCxn id="6959" idx="5"/>
            <a:endCxn id="6968" idx="2"/>
          </p:cNvCxnSpPr>
          <p:nvPr/>
        </p:nvCxnSpPr>
        <p:spPr>
          <a:xfrm>
            <a:off x="566729" y="2321401"/>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6984" name="Google Shape;6984;p305"/>
          <p:cNvCxnSpPr>
            <a:stCxn id="6960" idx="6"/>
            <a:endCxn id="6965" idx="2"/>
          </p:cNvCxnSpPr>
          <p:nvPr/>
        </p:nvCxnSpPr>
        <p:spPr>
          <a:xfrm>
            <a:off x="759835" y="2718022"/>
            <a:ext cx="268200" cy="74400"/>
          </a:xfrm>
          <a:prstGeom prst="straightConnector1">
            <a:avLst/>
          </a:prstGeom>
          <a:noFill/>
          <a:ln cap="flat" cmpd="sng" w="19050">
            <a:solidFill>
              <a:srgbClr val="666666"/>
            </a:solidFill>
            <a:prstDash val="solid"/>
            <a:round/>
            <a:headEnd len="med" w="med" type="none"/>
            <a:tailEnd len="med" w="med" type="none"/>
          </a:ln>
        </p:spPr>
      </p:cxnSp>
      <p:cxnSp>
        <p:nvCxnSpPr>
          <p:cNvPr id="6985" name="Google Shape;6985;p305"/>
          <p:cNvCxnSpPr>
            <a:stCxn id="6969" idx="3"/>
            <a:endCxn id="6965" idx="6"/>
          </p:cNvCxnSpPr>
          <p:nvPr/>
        </p:nvCxnSpPr>
        <p:spPr>
          <a:xfrm flipH="1">
            <a:off x="1326747" y="2249528"/>
            <a:ext cx="395700" cy="543000"/>
          </a:xfrm>
          <a:prstGeom prst="straightConnector1">
            <a:avLst/>
          </a:prstGeom>
          <a:noFill/>
          <a:ln cap="flat" cmpd="sng" w="19050">
            <a:solidFill>
              <a:srgbClr val="666666"/>
            </a:solidFill>
            <a:prstDash val="solid"/>
            <a:round/>
            <a:headEnd len="med" w="med" type="none"/>
            <a:tailEnd len="med" w="med" type="none"/>
          </a:ln>
        </p:spPr>
      </p:cxnSp>
      <p:cxnSp>
        <p:nvCxnSpPr>
          <p:cNvPr id="6986" name="Google Shape;6986;p305"/>
          <p:cNvCxnSpPr>
            <a:stCxn id="6969" idx="4"/>
            <a:endCxn id="6968" idx="0"/>
          </p:cNvCxnSpPr>
          <p:nvPr/>
        </p:nvCxnSpPr>
        <p:spPr>
          <a:xfrm>
            <a:off x="1828089" y="2293154"/>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6987" name="Google Shape;6987;p305"/>
          <p:cNvCxnSpPr>
            <a:stCxn id="6970" idx="6"/>
            <a:endCxn id="6978" idx="3"/>
          </p:cNvCxnSpPr>
          <p:nvPr/>
        </p:nvCxnSpPr>
        <p:spPr>
          <a:xfrm>
            <a:off x="1379584" y="3573076"/>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6988" name="Google Shape;6988;p305"/>
          <p:cNvCxnSpPr>
            <a:stCxn id="6970" idx="5"/>
            <a:endCxn id="6973" idx="1"/>
          </p:cNvCxnSpPr>
          <p:nvPr/>
        </p:nvCxnSpPr>
        <p:spPr>
          <a:xfrm>
            <a:off x="1335826" y="3678399"/>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6989" name="Google Shape;6989;p305"/>
          <p:cNvCxnSpPr>
            <a:stCxn id="6978" idx="3"/>
            <a:endCxn id="6972" idx="7"/>
          </p:cNvCxnSpPr>
          <p:nvPr/>
        </p:nvCxnSpPr>
        <p:spPr>
          <a:xfrm flipH="1">
            <a:off x="865450" y="3620149"/>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6990" name="Google Shape;6990;p305"/>
          <p:cNvSpPr/>
          <p:nvPr/>
        </p:nvSpPr>
        <p:spPr>
          <a:xfrm>
            <a:off x="5440655" y="120184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6991" name="Google Shape;6991;p305"/>
          <p:cNvSpPr/>
          <p:nvPr/>
        </p:nvSpPr>
        <p:spPr>
          <a:xfrm>
            <a:off x="5942022"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6992" name="Google Shape;6992;p305"/>
          <p:cNvSpPr/>
          <p:nvPr/>
        </p:nvSpPr>
        <p:spPr>
          <a:xfrm>
            <a:off x="4873795" y="15856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6993" name="Google Shape;6993;p305"/>
          <p:cNvSpPr/>
          <p:nvPr/>
        </p:nvSpPr>
        <p:spPr>
          <a:xfrm>
            <a:off x="5440655" y="188331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994" name="Google Shape;6994;p305"/>
          <p:cNvSpPr/>
          <p:nvPr/>
        </p:nvSpPr>
        <p:spPr>
          <a:xfrm>
            <a:off x="4873795" y="208758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cxnSp>
        <p:nvCxnSpPr>
          <p:cNvPr id="6995" name="Google Shape;6995;p305"/>
          <p:cNvCxnSpPr>
            <a:endCxn id="6992" idx="7"/>
          </p:cNvCxnSpPr>
          <p:nvPr/>
        </p:nvCxnSpPr>
        <p:spPr>
          <a:xfrm flipH="1">
            <a:off x="5128837" y="1456171"/>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6996" name="Google Shape;6996;p305"/>
          <p:cNvCxnSpPr>
            <a:stCxn id="6994" idx="0"/>
            <a:endCxn id="6992" idx="4"/>
          </p:cNvCxnSpPr>
          <p:nvPr/>
        </p:nvCxnSpPr>
        <p:spPr>
          <a:xfrm rot="10800000">
            <a:off x="5023195" y="1883589"/>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6997" name="Google Shape;6997;p305"/>
          <p:cNvCxnSpPr>
            <a:stCxn id="6991" idx="1"/>
            <a:endCxn id="6990" idx="5"/>
          </p:cNvCxnSpPr>
          <p:nvPr/>
        </p:nvCxnSpPr>
        <p:spPr>
          <a:xfrm rot="10800000">
            <a:off x="5695681" y="1456171"/>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6998" name="Google Shape;6998;p305"/>
          <p:cNvCxnSpPr>
            <a:stCxn id="6993" idx="0"/>
            <a:endCxn id="6990" idx="4"/>
          </p:cNvCxnSpPr>
          <p:nvPr/>
        </p:nvCxnSpPr>
        <p:spPr>
          <a:xfrm rot="10800000">
            <a:off x="5590055" y="1499615"/>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6999" name="Google Shape;6999;p305"/>
          <p:cNvCxnSpPr>
            <a:stCxn id="6993" idx="5"/>
            <a:endCxn id="7000" idx="1"/>
          </p:cNvCxnSpPr>
          <p:nvPr/>
        </p:nvCxnSpPr>
        <p:spPr>
          <a:xfrm>
            <a:off x="5695697" y="2137589"/>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7001" name="Google Shape;7001;p305"/>
          <p:cNvSpPr/>
          <p:nvPr/>
        </p:nvSpPr>
        <p:spPr>
          <a:xfrm>
            <a:off x="6240797" y="20157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000" name="Google Shape;7000;p305"/>
          <p:cNvSpPr/>
          <p:nvPr/>
        </p:nvSpPr>
        <p:spPr>
          <a:xfrm>
            <a:off x="6240797" y="255563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002" name="Google Shape;7002;p305"/>
          <p:cNvSpPr/>
          <p:nvPr/>
        </p:nvSpPr>
        <p:spPr>
          <a:xfrm>
            <a:off x="5642892" y="344458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003" name="Google Shape;7003;p305"/>
          <p:cNvSpPr/>
          <p:nvPr/>
        </p:nvSpPr>
        <p:spPr>
          <a:xfrm>
            <a:off x="4873795" y="352975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004" name="Google Shape;7004;p305"/>
          <p:cNvSpPr/>
          <p:nvPr/>
        </p:nvSpPr>
        <p:spPr>
          <a:xfrm>
            <a:off x="5172530" y="41943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005" name="Google Shape;7005;p305"/>
          <p:cNvSpPr/>
          <p:nvPr/>
        </p:nvSpPr>
        <p:spPr>
          <a:xfrm>
            <a:off x="6240555" y="403354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7006" name="Google Shape;7006;p305"/>
          <p:cNvCxnSpPr>
            <a:stCxn id="7004" idx="2"/>
            <a:endCxn id="7003" idx="5"/>
          </p:cNvCxnSpPr>
          <p:nvPr/>
        </p:nvCxnSpPr>
        <p:spPr>
          <a:xfrm rot="10800000">
            <a:off x="5128730" y="3784095"/>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7007" name="Google Shape;7007;p305"/>
          <p:cNvCxnSpPr>
            <a:stCxn id="7002" idx="2"/>
            <a:endCxn id="7003" idx="6"/>
          </p:cNvCxnSpPr>
          <p:nvPr/>
        </p:nvCxnSpPr>
        <p:spPr>
          <a:xfrm flipH="1">
            <a:off x="5172492" y="3593538"/>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7008" name="Google Shape;7008;p305"/>
          <p:cNvCxnSpPr>
            <a:stCxn id="7004" idx="6"/>
            <a:endCxn id="7005" idx="3"/>
          </p:cNvCxnSpPr>
          <p:nvPr/>
        </p:nvCxnSpPr>
        <p:spPr>
          <a:xfrm flipH="1" rot="10800000">
            <a:off x="5471330" y="4292295"/>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7009" name="Google Shape;7009;p305"/>
          <p:cNvCxnSpPr>
            <a:stCxn id="7010" idx="4"/>
            <a:endCxn id="7005" idx="0"/>
          </p:cNvCxnSpPr>
          <p:nvPr/>
        </p:nvCxnSpPr>
        <p:spPr>
          <a:xfrm>
            <a:off x="6390105" y="3684984"/>
            <a:ext cx="0" cy="348600"/>
          </a:xfrm>
          <a:prstGeom prst="straightConnector1">
            <a:avLst/>
          </a:prstGeom>
          <a:noFill/>
          <a:ln cap="flat" cmpd="sng" w="19050">
            <a:solidFill>
              <a:srgbClr val="666666"/>
            </a:solidFill>
            <a:prstDash val="solid"/>
            <a:round/>
            <a:headEnd len="med" w="med" type="none"/>
            <a:tailEnd len="med" w="med" type="none"/>
          </a:ln>
        </p:spPr>
      </p:cxnSp>
      <p:sp>
        <p:nvSpPr>
          <p:cNvPr id="7010" name="Google Shape;7010;p305"/>
          <p:cNvSpPr/>
          <p:nvPr/>
        </p:nvSpPr>
        <p:spPr>
          <a:xfrm>
            <a:off x="6240555" y="3381984"/>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7011" name="Google Shape;7011;p305"/>
          <p:cNvCxnSpPr>
            <a:stCxn id="6991" idx="4"/>
            <a:endCxn id="7001" idx="1"/>
          </p:cNvCxnSpPr>
          <p:nvPr/>
        </p:nvCxnSpPr>
        <p:spPr>
          <a:xfrm>
            <a:off x="6091422" y="1883545"/>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7012" name="Google Shape;7012;p305"/>
          <p:cNvCxnSpPr>
            <a:stCxn id="6994" idx="5"/>
            <a:endCxn id="7000" idx="2"/>
          </p:cNvCxnSpPr>
          <p:nvPr/>
        </p:nvCxnSpPr>
        <p:spPr>
          <a:xfrm>
            <a:off x="5128837" y="2341863"/>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7013" name="Google Shape;7013;p305"/>
          <p:cNvCxnSpPr>
            <a:stCxn id="7001" idx="4"/>
            <a:endCxn id="7000" idx="0"/>
          </p:cNvCxnSpPr>
          <p:nvPr/>
        </p:nvCxnSpPr>
        <p:spPr>
          <a:xfrm>
            <a:off x="6390197" y="2313616"/>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7014" name="Google Shape;7014;p305"/>
          <p:cNvCxnSpPr>
            <a:stCxn id="7002" idx="6"/>
            <a:endCxn id="7010" idx="3"/>
          </p:cNvCxnSpPr>
          <p:nvPr/>
        </p:nvCxnSpPr>
        <p:spPr>
          <a:xfrm>
            <a:off x="5941692" y="3593538"/>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7015" name="Google Shape;7015;p305"/>
          <p:cNvCxnSpPr>
            <a:stCxn id="7002" idx="5"/>
            <a:endCxn id="7005" idx="1"/>
          </p:cNvCxnSpPr>
          <p:nvPr/>
        </p:nvCxnSpPr>
        <p:spPr>
          <a:xfrm>
            <a:off x="5897934" y="3698861"/>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7016" name="Google Shape;7016;p305"/>
          <p:cNvCxnSpPr>
            <a:stCxn id="7010" idx="3"/>
            <a:endCxn id="7004" idx="7"/>
          </p:cNvCxnSpPr>
          <p:nvPr/>
        </p:nvCxnSpPr>
        <p:spPr>
          <a:xfrm flipH="1">
            <a:off x="5427557" y="3640611"/>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7017" name="Google Shape;7017;p305"/>
          <p:cNvSpPr/>
          <p:nvPr/>
        </p:nvSpPr>
        <p:spPr>
          <a:xfrm>
            <a:off x="3208059" y="1201845"/>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018" name="Google Shape;7018;p305"/>
          <p:cNvSpPr/>
          <p:nvPr/>
        </p:nvSpPr>
        <p:spPr>
          <a:xfrm>
            <a:off x="3709426"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019" name="Google Shape;7019;p305"/>
          <p:cNvSpPr/>
          <p:nvPr/>
        </p:nvSpPr>
        <p:spPr>
          <a:xfrm>
            <a:off x="2641199" y="15856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020" name="Google Shape;7020;p305"/>
          <p:cNvSpPr/>
          <p:nvPr/>
        </p:nvSpPr>
        <p:spPr>
          <a:xfrm>
            <a:off x="3208059" y="18833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021" name="Google Shape;7021;p305"/>
          <p:cNvSpPr/>
          <p:nvPr/>
        </p:nvSpPr>
        <p:spPr>
          <a:xfrm>
            <a:off x="2641199" y="208759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7022" name="Google Shape;7022;p305"/>
          <p:cNvSpPr/>
          <p:nvPr/>
        </p:nvSpPr>
        <p:spPr>
          <a:xfrm>
            <a:off x="2790547" y="2589537"/>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7023" name="Google Shape;7023;p305"/>
          <p:cNvCxnSpPr>
            <a:endCxn id="7019" idx="7"/>
          </p:cNvCxnSpPr>
          <p:nvPr/>
        </p:nvCxnSpPr>
        <p:spPr>
          <a:xfrm flipH="1">
            <a:off x="2896241" y="1456175"/>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7024" name="Google Shape;7024;p305"/>
          <p:cNvCxnSpPr>
            <a:stCxn id="7021" idx="0"/>
            <a:endCxn id="7019" idx="4"/>
          </p:cNvCxnSpPr>
          <p:nvPr/>
        </p:nvCxnSpPr>
        <p:spPr>
          <a:xfrm rot="10800000">
            <a:off x="2790599" y="1883593"/>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7025" name="Google Shape;7025;p305"/>
          <p:cNvCxnSpPr>
            <a:stCxn id="7018" idx="1"/>
            <a:endCxn id="7017" idx="5"/>
          </p:cNvCxnSpPr>
          <p:nvPr/>
        </p:nvCxnSpPr>
        <p:spPr>
          <a:xfrm rot="10800000">
            <a:off x="3463085" y="1456175"/>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7026" name="Google Shape;7026;p305"/>
          <p:cNvCxnSpPr>
            <a:stCxn id="7020" idx="0"/>
            <a:endCxn id="7017" idx="4"/>
          </p:cNvCxnSpPr>
          <p:nvPr/>
        </p:nvCxnSpPr>
        <p:spPr>
          <a:xfrm rot="10800000">
            <a:off x="3357459" y="1499619"/>
            <a:ext cx="0" cy="383700"/>
          </a:xfrm>
          <a:prstGeom prst="straightConnector1">
            <a:avLst/>
          </a:prstGeom>
          <a:noFill/>
          <a:ln cap="flat" cmpd="sng" w="19050">
            <a:solidFill>
              <a:srgbClr val="666666"/>
            </a:solidFill>
            <a:prstDash val="solid"/>
            <a:round/>
            <a:headEnd len="med" w="med" type="none"/>
            <a:tailEnd len="med" w="med" type="none"/>
          </a:ln>
        </p:spPr>
      </p:cxnSp>
      <p:cxnSp>
        <p:nvCxnSpPr>
          <p:cNvPr id="7027" name="Google Shape;7027;p305"/>
          <p:cNvCxnSpPr>
            <a:stCxn id="7020" idx="5"/>
            <a:endCxn id="7028" idx="1"/>
          </p:cNvCxnSpPr>
          <p:nvPr/>
        </p:nvCxnSpPr>
        <p:spPr>
          <a:xfrm>
            <a:off x="3463101" y="2137592"/>
            <a:ext cx="588900" cy="461700"/>
          </a:xfrm>
          <a:prstGeom prst="straightConnector1">
            <a:avLst/>
          </a:prstGeom>
          <a:noFill/>
          <a:ln cap="flat" cmpd="sng" w="19050">
            <a:solidFill>
              <a:srgbClr val="666666"/>
            </a:solidFill>
            <a:prstDash val="solid"/>
            <a:round/>
            <a:headEnd len="med" w="med" type="none"/>
            <a:tailEnd len="med" w="med" type="none"/>
          </a:ln>
        </p:spPr>
      </p:cxnSp>
      <p:sp>
        <p:nvSpPr>
          <p:cNvPr id="7029" name="Google Shape;7029;p305"/>
          <p:cNvSpPr/>
          <p:nvPr/>
        </p:nvSpPr>
        <p:spPr>
          <a:xfrm>
            <a:off x="4008201" y="2015719"/>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028" name="Google Shape;7028;p305"/>
          <p:cNvSpPr/>
          <p:nvPr/>
        </p:nvSpPr>
        <p:spPr>
          <a:xfrm>
            <a:off x="4008201" y="255564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030" name="Google Shape;7030;p305"/>
          <p:cNvSpPr/>
          <p:nvPr/>
        </p:nvSpPr>
        <p:spPr>
          <a:xfrm>
            <a:off x="3410296" y="34445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031" name="Google Shape;7031;p305"/>
          <p:cNvSpPr/>
          <p:nvPr/>
        </p:nvSpPr>
        <p:spPr>
          <a:xfrm>
            <a:off x="2641199" y="352976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032" name="Google Shape;7032;p305"/>
          <p:cNvSpPr/>
          <p:nvPr/>
        </p:nvSpPr>
        <p:spPr>
          <a:xfrm>
            <a:off x="2939934" y="4194348"/>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033" name="Google Shape;7033;p305"/>
          <p:cNvSpPr/>
          <p:nvPr/>
        </p:nvSpPr>
        <p:spPr>
          <a:xfrm>
            <a:off x="4007959" y="4033547"/>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7034" name="Google Shape;7034;p305"/>
          <p:cNvCxnSpPr>
            <a:stCxn id="7032" idx="2"/>
            <a:endCxn id="7031" idx="5"/>
          </p:cNvCxnSpPr>
          <p:nvPr/>
        </p:nvCxnSpPr>
        <p:spPr>
          <a:xfrm rot="10800000">
            <a:off x="2896134" y="3784098"/>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7035" name="Google Shape;7035;p305"/>
          <p:cNvCxnSpPr>
            <a:stCxn id="7030" idx="2"/>
            <a:endCxn id="7031" idx="6"/>
          </p:cNvCxnSpPr>
          <p:nvPr/>
        </p:nvCxnSpPr>
        <p:spPr>
          <a:xfrm flipH="1">
            <a:off x="2939896" y="3593541"/>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7036" name="Google Shape;7036;p305"/>
          <p:cNvCxnSpPr>
            <a:stCxn id="7032" idx="6"/>
            <a:endCxn id="7033" idx="3"/>
          </p:cNvCxnSpPr>
          <p:nvPr/>
        </p:nvCxnSpPr>
        <p:spPr>
          <a:xfrm flipH="1" rot="10800000">
            <a:off x="3238734" y="4292298"/>
            <a:ext cx="813000" cy="51000"/>
          </a:xfrm>
          <a:prstGeom prst="straightConnector1">
            <a:avLst/>
          </a:prstGeom>
          <a:noFill/>
          <a:ln cap="flat" cmpd="sng" w="19050">
            <a:solidFill>
              <a:srgbClr val="666666"/>
            </a:solidFill>
            <a:prstDash val="solid"/>
            <a:round/>
            <a:headEnd len="med" w="med" type="none"/>
            <a:tailEnd len="med" w="med" type="none"/>
          </a:ln>
        </p:spPr>
      </p:cxnSp>
      <p:cxnSp>
        <p:nvCxnSpPr>
          <p:cNvPr id="7037" name="Google Shape;7037;p305"/>
          <p:cNvCxnSpPr>
            <a:stCxn id="7038" idx="4"/>
            <a:endCxn id="7033" idx="0"/>
          </p:cNvCxnSpPr>
          <p:nvPr/>
        </p:nvCxnSpPr>
        <p:spPr>
          <a:xfrm>
            <a:off x="4157509" y="3684988"/>
            <a:ext cx="0" cy="348600"/>
          </a:xfrm>
          <a:prstGeom prst="straightConnector1">
            <a:avLst/>
          </a:prstGeom>
          <a:noFill/>
          <a:ln cap="flat" cmpd="sng" w="19050">
            <a:solidFill>
              <a:srgbClr val="666666"/>
            </a:solidFill>
            <a:prstDash val="solid"/>
            <a:round/>
            <a:headEnd len="med" w="med" type="none"/>
            <a:tailEnd len="med" w="med" type="none"/>
          </a:ln>
        </p:spPr>
      </p:cxnSp>
      <p:sp>
        <p:nvSpPr>
          <p:cNvPr id="7038" name="Google Shape;7038;p305"/>
          <p:cNvSpPr/>
          <p:nvPr/>
        </p:nvSpPr>
        <p:spPr>
          <a:xfrm>
            <a:off x="4007959" y="3381988"/>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7039" name="Google Shape;7039;p305"/>
          <p:cNvCxnSpPr>
            <a:stCxn id="7020" idx="3"/>
            <a:endCxn id="7022" idx="7"/>
          </p:cNvCxnSpPr>
          <p:nvPr/>
        </p:nvCxnSpPr>
        <p:spPr>
          <a:xfrm flipH="1">
            <a:off x="3045718" y="2137592"/>
            <a:ext cx="206100" cy="495600"/>
          </a:xfrm>
          <a:prstGeom prst="straightConnector1">
            <a:avLst/>
          </a:prstGeom>
          <a:noFill/>
          <a:ln cap="flat" cmpd="sng" w="19050">
            <a:solidFill>
              <a:srgbClr val="666666"/>
            </a:solidFill>
            <a:prstDash val="solid"/>
            <a:round/>
            <a:headEnd len="med" w="med" type="none"/>
            <a:tailEnd len="med" w="med" type="none"/>
          </a:ln>
        </p:spPr>
      </p:cxnSp>
      <p:cxnSp>
        <p:nvCxnSpPr>
          <p:cNvPr id="7040" name="Google Shape;7040;p305"/>
          <p:cNvCxnSpPr>
            <a:stCxn id="7018" idx="4"/>
            <a:endCxn id="7029" idx="1"/>
          </p:cNvCxnSpPr>
          <p:nvPr/>
        </p:nvCxnSpPr>
        <p:spPr>
          <a:xfrm>
            <a:off x="3858826" y="1883548"/>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7041" name="Google Shape;7041;p305"/>
          <p:cNvCxnSpPr>
            <a:stCxn id="7021" idx="4"/>
            <a:endCxn id="7022" idx="0"/>
          </p:cNvCxnSpPr>
          <p:nvPr/>
        </p:nvCxnSpPr>
        <p:spPr>
          <a:xfrm>
            <a:off x="2790599" y="2385493"/>
            <a:ext cx="149400" cy="204000"/>
          </a:xfrm>
          <a:prstGeom prst="straightConnector1">
            <a:avLst/>
          </a:prstGeom>
          <a:noFill/>
          <a:ln cap="flat" cmpd="sng" w="19050">
            <a:solidFill>
              <a:srgbClr val="666666"/>
            </a:solidFill>
            <a:prstDash val="solid"/>
            <a:round/>
            <a:headEnd len="med" w="med" type="none"/>
            <a:tailEnd len="med" w="med" type="none"/>
          </a:ln>
        </p:spPr>
      </p:cxnSp>
      <p:cxnSp>
        <p:nvCxnSpPr>
          <p:cNvPr id="7042" name="Google Shape;7042;p305"/>
          <p:cNvCxnSpPr>
            <a:stCxn id="7021" idx="5"/>
            <a:endCxn id="7028" idx="2"/>
          </p:cNvCxnSpPr>
          <p:nvPr/>
        </p:nvCxnSpPr>
        <p:spPr>
          <a:xfrm>
            <a:off x="2896241" y="2341866"/>
            <a:ext cx="1112100" cy="362700"/>
          </a:xfrm>
          <a:prstGeom prst="straightConnector1">
            <a:avLst/>
          </a:prstGeom>
          <a:noFill/>
          <a:ln cap="flat" cmpd="sng" w="19050">
            <a:solidFill>
              <a:srgbClr val="666666"/>
            </a:solidFill>
            <a:prstDash val="solid"/>
            <a:round/>
            <a:headEnd len="med" w="med" type="none"/>
            <a:tailEnd len="med" w="med" type="none"/>
          </a:ln>
        </p:spPr>
      </p:cxnSp>
      <p:cxnSp>
        <p:nvCxnSpPr>
          <p:cNvPr id="7043" name="Google Shape;7043;p305"/>
          <p:cNvCxnSpPr>
            <a:stCxn id="7029" idx="4"/>
            <a:endCxn id="7028" idx="0"/>
          </p:cNvCxnSpPr>
          <p:nvPr/>
        </p:nvCxnSpPr>
        <p:spPr>
          <a:xfrm>
            <a:off x="4157601" y="2313619"/>
            <a:ext cx="0" cy="242100"/>
          </a:xfrm>
          <a:prstGeom prst="straightConnector1">
            <a:avLst/>
          </a:prstGeom>
          <a:noFill/>
          <a:ln cap="flat" cmpd="sng" w="19050">
            <a:solidFill>
              <a:srgbClr val="666666"/>
            </a:solidFill>
            <a:prstDash val="solid"/>
            <a:round/>
            <a:headEnd len="med" w="med" type="none"/>
            <a:tailEnd len="med" w="med" type="none"/>
          </a:ln>
        </p:spPr>
      </p:cxnSp>
      <p:cxnSp>
        <p:nvCxnSpPr>
          <p:cNvPr id="7044" name="Google Shape;7044;p305"/>
          <p:cNvCxnSpPr>
            <a:stCxn id="7030" idx="6"/>
            <a:endCxn id="7038" idx="3"/>
          </p:cNvCxnSpPr>
          <p:nvPr/>
        </p:nvCxnSpPr>
        <p:spPr>
          <a:xfrm>
            <a:off x="3709096" y="3593541"/>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7045" name="Google Shape;7045;p305"/>
          <p:cNvCxnSpPr>
            <a:stCxn id="7030" idx="5"/>
            <a:endCxn id="7033" idx="1"/>
          </p:cNvCxnSpPr>
          <p:nvPr/>
        </p:nvCxnSpPr>
        <p:spPr>
          <a:xfrm>
            <a:off x="3665338" y="3698865"/>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7046" name="Google Shape;7046;p305"/>
          <p:cNvCxnSpPr>
            <a:stCxn id="7038" idx="3"/>
            <a:endCxn id="7032" idx="7"/>
          </p:cNvCxnSpPr>
          <p:nvPr/>
        </p:nvCxnSpPr>
        <p:spPr>
          <a:xfrm flipH="1">
            <a:off x="3194961" y="3640614"/>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7047" name="Google Shape;7047;p305"/>
          <p:cNvSpPr/>
          <p:nvPr/>
        </p:nvSpPr>
        <p:spPr>
          <a:xfrm>
            <a:off x="7699155" y="1147216"/>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048" name="Google Shape;7048;p305"/>
          <p:cNvSpPr/>
          <p:nvPr/>
        </p:nvSpPr>
        <p:spPr>
          <a:xfrm>
            <a:off x="8200522"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049" name="Google Shape;7049;p305"/>
          <p:cNvSpPr/>
          <p:nvPr/>
        </p:nvSpPr>
        <p:spPr>
          <a:xfrm>
            <a:off x="7132295" y="15310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050" name="Google Shape;7050;p305"/>
          <p:cNvSpPr/>
          <p:nvPr/>
        </p:nvSpPr>
        <p:spPr>
          <a:xfrm>
            <a:off x="7699155" y="182869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051" name="Google Shape;7051;p305"/>
          <p:cNvSpPr/>
          <p:nvPr/>
        </p:nvSpPr>
        <p:spPr>
          <a:xfrm>
            <a:off x="7132295" y="2032964"/>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cxnSp>
        <p:nvCxnSpPr>
          <p:cNvPr id="7052" name="Google Shape;7052;p305"/>
          <p:cNvCxnSpPr>
            <a:endCxn id="7049" idx="7"/>
          </p:cNvCxnSpPr>
          <p:nvPr/>
        </p:nvCxnSpPr>
        <p:spPr>
          <a:xfrm flipH="1">
            <a:off x="7387337" y="1401546"/>
            <a:ext cx="355200" cy="173100"/>
          </a:xfrm>
          <a:prstGeom prst="straightConnector1">
            <a:avLst/>
          </a:prstGeom>
          <a:noFill/>
          <a:ln cap="flat" cmpd="sng" w="19050">
            <a:solidFill>
              <a:srgbClr val="666666"/>
            </a:solidFill>
            <a:prstDash val="solid"/>
            <a:round/>
            <a:headEnd len="med" w="med" type="none"/>
            <a:tailEnd len="med" w="med" type="none"/>
          </a:ln>
        </p:spPr>
      </p:cxnSp>
      <p:cxnSp>
        <p:nvCxnSpPr>
          <p:cNvPr id="7053" name="Google Shape;7053;p305"/>
          <p:cNvCxnSpPr>
            <a:stCxn id="7051" idx="0"/>
            <a:endCxn id="7049" idx="4"/>
          </p:cNvCxnSpPr>
          <p:nvPr/>
        </p:nvCxnSpPr>
        <p:spPr>
          <a:xfrm rot="10800000">
            <a:off x="7281695" y="1828964"/>
            <a:ext cx="0" cy="204000"/>
          </a:xfrm>
          <a:prstGeom prst="straightConnector1">
            <a:avLst/>
          </a:prstGeom>
          <a:noFill/>
          <a:ln cap="flat" cmpd="sng" w="19050">
            <a:solidFill>
              <a:srgbClr val="666666"/>
            </a:solidFill>
            <a:prstDash val="solid"/>
            <a:round/>
            <a:headEnd len="med" w="med" type="none"/>
            <a:tailEnd len="med" w="med" type="none"/>
          </a:ln>
        </p:spPr>
      </p:cxnSp>
      <p:cxnSp>
        <p:nvCxnSpPr>
          <p:cNvPr id="7054" name="Google Shape;7054;p305"/>
          <p:cNvCxnSpPr>
            <a:stCxn id="7048" idx="1"/>
            <a:endCxn id="7047" idx="5"/>
          </p:cNvCxnSpPr>
          <p:nvPr/>
        </p:nvCxnSpPr>
        <p:spPr>
          <a:xfrm rot="10800000">
            <a:off x="7954181" y="1401546"/>
            <a:ext cx="290100" cy="173100"/>
          </a:xfrm>
          <a:prstGeom prst="straightConnector1">
            <a:avLst/>
          </a:prstGeom>
          <a:noFill/>
          <a:ln cap="flat" cmpd="sng" w="19050">
            <a:solidFill>
              <a:srgbClr val="666666"/>
            </a:solidFill>
            <a:prstDash val="solid"/>
            <a:round/>
            <a:headEnd len="med" w="med" type="none"/>
            <a:tailEnd len="med" w="med" type="none"/>
          </a:ln>
        </p:spPr>
      </p:cxnSp>
      <p:cxnSp>
        <p:nvCxnSpPr>
          <p:cNvPr id="7055" name="Google Shape;7055;p305"/>
          <p:cNvCxnSpPr>
            <a:stCxn id="7050" idx="0"/>
            <a:endCxn id="7047" idx="4"/>
          </p:cNvCxnSpPr>
          <p:nvPr/>
        </p:nvCxnSpPr>
        <p:spPr>
          <a:xfrm rot="10800000">
            <a:off x="7848555" y="1444990"/>
            <a:ext cx="0" cy="383700"/>
          </a:xfrm>
          <a:prstGeom prst="straightConnector1">
            <a:avLst/>
          </a:prstGeom>
          <a:noFill/>
          <a:ln cap="flat" cmpd="sng" w="19050">
            <a:solidFill>
              <a:srgbClr val="666666"/>
            </a:solidFill>
            <a:prstDash val="solid"/>
            <a:round/>
            <a:headEnd len="med" w="med" type="none"/>
            <a:tailEnd len="med" w="med" type="none"/>
          </a:ln>
        </p:spPr>
      </p:cxnSp>
      <p:sp>
        <p:nvSpPr>
          <p:cNvPr id="7056" name="Google Shape;7056;p305"/>
          <p:cNvSpPr/>
          <p:nvPr/>
        </p:nvSpPr>
        <p:spPr>
          <a:xfrm>
            <a:off x="8499297" y="1961091"/>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057" name="Google Shape;7057;p305"/>
          <p:cNvSpPr/>
          <p:nvPr/>
        </p:nvSpPr>
        <p:spPr>
          <a:xfrm>
            <a:off x="7901392" y="3389963"/>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058" name="Google Shape;7058;p305"/>
          <p:cNvSpPr/>
          <p:nvPr/>
        </p:nvSpPr>
        <p:spPr>
          <a:xfrm>
            <a:off x="7132295" y="3475132"/>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059" name="Google Shape;7059;p305"/>
          <p:cNvSpPr/>
          <p:nvPr/>
        </p:nvSpPr>
        <p:spPr>
          <a:xfrm>
            <a:off x="7431030" y="4139720"/>
            <a:ext cx="298800" cy="2979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060" name="Google Shape;7060;p305"/>
          <p:cNvSpPr/>
          <p:nvPr/>
        </p:nvSpPr>
        <p:spPr>
          <a:xfrm>
            <a:off x="8499055" y="397891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cxnSp>
        <p:nvCxnSpPr>
          <p:cNvPr id="7061" name="Google Shape;7061;p305"/>
          <p:cNvCxnSpPr>
            <a:stCxn id="7059" idx="2"/>
            <a:endCxn id="7058" idx="5"/>
          </p:cNvCxnSpPr>
          <p:nvPr/>
        </p:nvCxnSpPr>
        <p:spPr>
          <a:xfrm rot="10800000">
            <a:off x="7387230" y="3729470"/>
            <a:ext cx="43800" cy="559200"/>
          </a:xfrm>
          <a:prstGeom prst="straightConnector1">
            <a:avLst/>
          </a:prstGeom>
          <a:noFill/>
          <a:ln cap="flat" cmpd="sng" w="19050">
            <a:solidFill>
              <a:srgbClr val="666666"/>
            </a:solidFill>
            <a:prstDash val="solid"/>
            <a:round/>
            <a:headEnd len="med" w="med" type="none"/>
            <a:tailEnd len="med" w="med" type="none"/>
          </a:ln>
        </p:spPr>
      </p:cxnSp>
      <p:cxnSp>
        <p:nvCxnSpPr>
          <p:cNvPr id="7062" name="Google Shape;7062;p305"/>
          <p:cNvCxnSpPr>
            <a:stCxn id="7057" idx="2"/>
            <a:endCxn id="7058" idx="6"/>
          </p:cNvCxnSpPr>
          <p:nvPr/>
        </p:nvCxnSpPr>
        <p:spPr>
          <a:xfrm flipH="1">
            <a:off x="7430992" y="3538913"/>
            <a:ext cx="470400" cy="85200"/>
          </a:xfrm>
          <a:prstGeom prst="straightConnector1">
            <a:avLst/>
          </a:prstGeom>
          <a:noFill/>
          <a:ln cap="flat" cmpd="sng" w="19050">
            <a:solidFill>
              <a:srgbClr val="666666"/>
            </a:solidFill>
            <a:prstDash val="solid"/>
            <a:round/>
            <a:headEnd len="med" w="med" type="none"/>
            <a:tailEnd len="med" w="med" type="none"/>
          </a:ln>
        </p:spPr>
      </p:cxnSp>
      <p:cxnSp>
        <p:nvCxnSpPr>
          <p:cNvPr id="7063" name="Google Shape;7063;p305"/>
          <p:cNvCxnSpPr>
            <a:stCxn id="7059" idx="6"/>
            <a:endCxn id="7060" idx="3"/>
          </p:cNvCxnSpPr>
          <p:nvPr/>
        </p:nvCxnSpPr>
        <p:spPr>
          <a:xfrm flipH="1" rot="10800000">
            <a:off x="7729830" y="4237670"/>
            <a:ext cx="813000" cy="51000"/>
          </a:xfrm>
          <a:prstGeom prst="straightConnector1">
            <a:avLst/>
          </a:prstGeom>
          <a:noFill/>
          <a:ln cap="flat" cmpd="sng" w="19050">
            <a:solidFill>
              <a:srgbClr val="666666"/>
            </a:solidFill>
            <a:prstDash val="solid"/>
            <a:round/>
            <a:headEnd len="med" w="med" type="none"/>
            <a:tailEnd len="med" w="med" type="none"/>
          </a:ln>
        </p:spPr>
      </p:cxnSp>
      <p:sp>
        <p:nvSpPr>
          <p:cNvPr id="7064" name="Google Shape;7064;p305"/>
          <p:cNvSpPr/>
          <p:nvPr/>
        </p:nvSpPr>
        <p:spPr>
          <a:xfrm>
            <a:off x="8499055" y="3327359"/>
            <a:ext cx="299100" cy="303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cxnSp>
        <p:nvCxnSpPr>
          <p:cNvPr id="7065" name="Google Shape;7065;p305"/>
          <p:cNvCxnSpPr>
            <a:stCxn id="7048" idx="4"/>
            <a:endCxn id="7056" idx="1"/>
          </p:cNvCxnSpPr>
          <p:nvPr/>
        </p:nvCxnSpPr>
        <p:spPr>
          <a:xfrm>
            <a:off x="8349922" y="1828920"/>
            <a:ext cx="193200" cy="175800"/>
          </a:xfrm>
          <a:prstGeom prst="straightConnector1">
            <a:avLst/>
          </a:prstGeom>
          <a:noFill/>
          <a:ln cap="flat" cmpd="sng" w="19050">
            <a:solidFill>
              <a:srgbClr val="666666"/>
            </a:solidFill>
            <a:prstDash val="solid"/>
            <a:round/>
            <a:headEnd len="med" w="med" type="none"/>
            <a:tailEnd len="med" w="med" type="none"/>
          </a:ln>
        </p:spPr>
      </p:cxnSp>
      <p:cxnSp>
        <p:nvCxnSpPr>
          <p:cNvPr id="7066" name="Google Shape;7066;p305"/>
          <p:cNvCxnSpPr>
            <a:stCxn id="7057" idx="6"/>
            <a:endCxn id="7064" idx="3"/>
          </p:cNvCxnSpPr>
          <p:nvPr/>
        </p:nvCxnSpPr>
        <p:spPr>
          <a:xfrm>
            <a:off x="8200192" y="3538913"/>
            <a:ext cx="342600" cy="47100"/>
          </a:xfrm>
          <a:prstGeom prst="straightConnector1">
            <a:avLst/>
          </a:prstGeom>
          <a:noFill/>
          <a:ln cap="flat" cmpd="sng" w="19050">
            <a:solidFill>
              <a:srgbClr val="666666"/>
            </a:solidFill>
            <a:prstDash val="solid"/>
            <a:round/>
            <a:headEnd len="med" w="med" type="none"/>
            <a:tailEnd len="med" w="med" type="none"/>
          </a:ln>
        </p:spPr>
      </p:cxnSp>
      <p:cxnSp>
        <p:nvCxnSpPr>
          <p:cNvPr id="7067" name="Google Shape;7067;p305"/>
          <p:cNvCxnSpPr>
            <a:stCxn id="7057" idx="5"/>
            <a:endCxn id="7060" idx="1"/>
          </p:cNvCxnSpPr>
          <p:nvPr/>
        </p:nvCxnSpPr>
        <p:spPr>
          <a:xfrm>
            <a:off x="8156434" y="3644236"/>
            <a:ext cx="386400" cy="379200"/>
          </a:xfrm>
          <a:prstGeom prst="straightConnector1">
            <a:avLst/>
          </a:prstGeom>
          <a:noFill/>
          <a:ln cap="flat" cmpd="sng" w="19050">
            <a:solidFill>
              <a:srgbClr val="666666"/>
            </a:solidFill>
            <a:prstDash val="solid"/>
            <a:round/>
            <a:headEnd len="med" w="med" type="none"/>
            <a:tailEnd len="med" w="med" type="none"/>
          </a:ln>
        </p:spPr>
      </p:cxnSp>
      <p:cxnSp>
        <p:nvCxnSpPr>
          <p:cNvPr id="7068" name="Google Shape;7068;p305"/>
          <p:cNvCxnSpPr>
            <a:stCxn id="7064" idx="3"/>
            <a:endCxn id="7059" idx="7"/>
          </p:cNvCxnSpPr>
          <p:nvPr/>
        </p:nvCxnSpPr>
        <p:spPr>
          <a:xfrm flipH="1">
            <a:off x="7686057" y="3585986"/>
            <a:ext cx="856800" cy="597300"/>
          </a:xfrm>
          <a:prstGeom prst="straightConnector1">
            <a:avLst/>
          </a:prstGeom>
          <a:noFill/>
          <a:ln cap="flat" cmpd="sng" w="19050">
            <a:solidFill>
              <a:srgbClr val="666666"/>
            </a:solidFill>
            <a:prstDash val="solid"/>
            <a:round/>
            <a:headEnd len="med" w="med" type="none"/>
            <a:tailEnd len="med" w="med" type="none"/>
          </a:ln>
        </p:spPr>
      </p:cxnSp>
      <p:sp>
        <p:nvSpPr>
          <p:cNvPr id="7069" name="Google Shape;7069;p305"/>
          <p:cNvSpPr txBox="1"/>
          <p:nvPr/>
        </p:nvSpPr>
        <p:spPr>
          <a:xfrm>
            <a:off x="734725" y="466462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0</a:t>
            </a:r>
            <a:endParaRPr b="1">
              <a:solidFill>
                <a:srgbClr val="0000FF"/>
              </a:solidFill>
              <a:latin typeface="Open Sans"/>
              <a:ea typeface="Open Sans"/>
              <a:cs typeface="Open Sans"/>
              <a:sym typeface="Open Sans"/>
            </a:endParaRPr>
          </a:p>
        </p:txBody>
      </p:sp>
      <p:sp>
        <p:nvSpPr>
          <p:cNvPr id="7070" name="Google Shape;7070;p305"/>
          <p:cNvSpPr txBox="1"/>
          <p:nvPr/>
        </p:nvSpPr>
        <p:spPr>
          <a:xfrm>
            <a:off x="3064250" y="4685100"/>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1</a:t>
            </a:r>
            <a:endParaRPr b="1">
              <a:solidFill>
                <a:srgbClr val="0000FF"/>
              </a:solidFill>
              <a:latin typeface="Open Sans"/>
              <a:ea typeface="Open Sans"/>
              <a:cs typeface="Open Sans"/>
              <a:sym typeface="Open Sans"/>
            </a:endParaRPr>
          </a:p>
        </p:txBody>
      </p:sp>
      <p:sp>
        <p:nvSpPr>
          <p:cNvPr id="7071" name="Google Shape;7071;p305"/>
          <p:cNvSpPr txBox="1"/>
          <p:nvPr/>
        </p:nvSpPr>
        <p:spPr>
          <a:xfrm>
            <a:off x="5296850" y="472957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2</a:t>
            </a:r>
            <a:endParaRPr b="1">
              <a:solidFill>
                <a:srgbClr val="0000FF"/>
              </a:solidFill>
              <a:latin typeface="Open Sans"/>
              <a:ea typeface="Open Sans"/>
              <a:cs typeface="Open Sans"/>
              <a:sym typeface="Open Sans"/>
            </a:endParaRPr>
          </a:p>
        </p:txBody>
      </p:sp>
      <p:sp>
        <p:nvSpPr>
          <p:cNvPr id="7072" name="Google Shape;7072;p305"/>
          <p:cNvSpPr txBox="1"/>
          <p:nvPr/>
        </p:nvSpPr>
        <p:spPr>
          <a:xfrm>
            <a:off x="7603775" y="4729575"/>
            <a:ext cx="990900" cy="2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FF"/>
                </a:solidFill>
                <a:latin typeface="Open Sans"/>
                <a:ea typeface="Open Sans"/>
                <a:cs typeface="Open Sans"/>
                <a:sym typeface="Open Sans"/>
              </a:rPr>
              <a:t>K = 3</a:t>
            </a:r>
            <a:endParaRPr b="1">
              <a:solidFill>
                <a:srgbClr val="0000FF"/>
              </a:solidFill>
              <a:latin typeface="Open Sans"/>
              <a:ea typeface="Open Sans"/>
              <a:cs typeface="Open Sans"/>
              <a:sym typeface="Open Sans"/>
            </a:endParaRPr>
          </a:p>
        </p:txBody>
      </p:sp>
      <p:sp>
        <p:nvSpPr>
          <p:cNvPr id="7073" name="Google Shape;7073;p305"/>
          <p:cNvSpPr txBox="1"/>
          <p:nvPr/>
        </p:nvSpPr>
        <p:spPr>
          <a:xfrm>
            <a:off x="2977725" y="2996863"/>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7074" name="Google Shape;7074;p305"/>
          <p:cNvSpPr txBox="1"/>
          <p:nvPr/>
        </p:nvSpPr>
        <p:spPr>
          <a:xfrm>
            <a:off x="5055200" y="2979900"/>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7075" name="Google Shape;7075;p305"/>
          <p:cNvSpPr txBox="1"/>
          <p:nvPr/>
        </p:nvSpPr>
        <p:spPr>
          <a:xfrm>
            <a:off x="7181050" y="2956588"/>
            <a:ext cx="1335000" cy="27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Open Sans"/>
                <a:ea typeface="Open Sans"/>
                <a:cs typeface="Open Sans"/>
                <a:sym typeface="Open Sans"/>
              </a:rPr>
              <a:t>disconnected!</a:t>
            </a:r>
            <a:endParaRPr b="1" sz="1200">
              <a:solidFill>
                <a:srgbClr val="0000FF"/>
              </a:solidFill>
              <a:latin typeface="Open Sans"/>
              <a:ea typeface="Open Sans"/>
              <a:cs typeface="Open Sans"/>
              <a:sym typeface="Open Sans"/>
            </a:endParaRPr>
          </a:p>
        </p:txBody>
      </p:sp>
      <p:sp>
        <p:nvSpPr>
          <p:cNvPr id="7076" name="Google Shape;7076;p30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connectivity: Cutsets</a:t>
            </a:r>
            <a:endParaRPr/>
          </a:p>
        </p:txBody>
      </p:sp>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0" name="Shape 7080"/>
        <p:cNvGrpSpPr/>
        <p:nvPr/>
      </p:nvGrpSpPr>
      <p:grpSpPr>
        <a:xfrm>
          <a:off x="0" y="0"/>
          <a:ext cx="0" cy="0"/>
          <a:chOff x="0" y="0"/>
          <a:chExt cx="0" cy="0"/>
        </a:xfrm>
      </p:grpSpPr>
      <p:sp>
        <p:nvSpPr>
          <p:cNvPr id="7081" name="Google Shape;7081;p30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082" name="Google Shape;7082;p30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idea of cutsets leads to the </a:t>
            </a:r>
            <a:r>
              <a:rPr b="1" lang="en"/>
              <a:t>Cohesive Blocking</a:t>
            </a:r>
            <a:r>
              <a:rPr lang="en"/>
              <a:t> approach for the identification of nested cohesive subgroups (</a:t>
            </a:r>
            <a:r>
              <a:rPr lang="en" u="sng">
                <a:solidFill>
                  <a:schemeClr val="hlink"/>
                </a:solidFill>
                <a:hlinkClick r:id="rId3"/>
              </a:rPr>
              <a:t>Moody and White 2003</a:t>
            </a:r>
            <a:r>
              <a:rPr lang="en"/>
              <a:t>):</a:t>
            </a:r>
            <a:endParaRPr/>
          </a:p>
          <a:p>
            <a:pPr indent="-317500" lvl="1" marL="914400" rtl="0" algn="l">
              <a:spcBef>
                <a:spcPts val="0"/>
              </a:spcBef>
              <a:spcAft>
                <a:spcPts val="0"/>
              </a:spcAft>
              <a:buSzPts val="1400"/>
              <a:buChar char="○"/>
            </a:pPr>
            <a:r>
              <a:rPr lang="en"/>
              <a:t>Identify the k-connectivity of the input graph</a:t>
            </a:r>
            <a:endParaRPr/>
          </a:p>
          <a:p>
            <a:pPr indent="-317500" lvl="1" marL="914400" rtl="0" algn="l">
              <a:spcBef>
                <a:spcPts val="0"/>
              </a:spcBef>
              <a:spcAft>
                <a:spcPts val="0"/>
              </a:spcAft>
              <a:buSzPts val="1400"/>
              <a:buChar char="○"/>
            </a:pPr>
            <a:r>
              <a:rPr lang="en"/>
              <a:t>Remove the k-cutset (vertices)</a:t>
            </a:r>
            <a:endParaRPr/>
          </a:p>
          <a:p>
            <a:pPr indent="-317500" lvl="1" marL="914400" rtl="0" algn="l">
              <a:spcBef>
                <a:spcPts val="0"/>
              </a:spcBef>
              <a:spcAft>
                <a:spcPts val="0"/>
              </a:spcAft>
              <a:buSzPts val="1400"/>
              <a:buChar char="○"/>
            </a:pPr>
            <a:r>
              <a:rPr lang="en"/>
              <a:t>Do the same on the resulting subgraphs until no more subdivisions can be obtained </a:t>
            </a:r>
            <a:endParaRPr/>
          </a:p>
          <a:p>
            <a:pPr indent="0" lvl="0" marL="914400" rtl="0" algn="l">
              <a:spcBef>
                <a:spcPts val="0"/>
              </a:spcBef>
              <a:spcAft>
                <a:spcPts val="0"/>
              </a:spcAft>
              <a:buNone/>
            </a:pPr>
            <a:r>
              <a:t/>
            </a:r>
            <a:endParaRPr/>
          </a:p>
        </p:txBody>
      </p:sp>
      <p:pic>
        <p:nvPicPr>
          <p:cNvPr id="7083" name="Google Shape;7083;p306"/>
          <p:cNvPicPr preferRelativeResize="0"/>
          <p:nvPr/>
        </p:nvPicPr>
        <p:blipFill rotWithShape="1">
          <a:blip r:embed="rId4">
            <a:alphaModFix/>
          </a:blip>
          <a:srcRect b="8822" l="15423" r="5080" t="11127"/>
          <a:stretch/>
        </p:blipFill>
        <p:spPr>
          <a:xfrm>
            <a:off x="665000" y="2835335"/>
            <a:ext cx="2417050" cy="2066950"/>
          </a:xfrm>
          <a:prstGeom prst="rect">
            <a:avLst/>
          </a:prstGeom>
          <a:noFill/>
          <a:ln>
            <a:noFill/>
          </a:ln>
        </p:spPr>
      </p:pic>
      <p:pic>
        <p:nvPicPr>
          <p:cNvPr id="7084" name="Google Shape;7084;p306"/>
          <p:cNvPicPr preferRelativeResize="0"/>
          <p:nvPr/>
        </p:nvPicPr>
        <p:blipFill rotWithShape="1">
          <a:blip r:embed="rId5">
            <a:alphaModFix/>
          </a:blip>
          <a:srcRect b="17073" l="0" r="0" t="6299"/>
          <a:stretch/>
        </p:blipFill>
        <p:spPr>
          <a:xfrm>
            <a:off x="6475925" y="3065812"/>
            <a:ext cx="2095775" cy="1605975"/>
          </a:xfrm>
          <a:prstGeom prst="rect">
            <a:avLst/>
          </a:prstGeom>
          <a:noFill/>
          <a:ln>
            <a:noFill/>
          </a:ln>
        </p:spPr>
      </p:pic>
      <p:pic>
        <p:nvPicPr>
          <p:cNvPr id="7085" name="Google Shape;7085;p306"/>
          <p:cNvPicPr preferRelativeResize="0"/>
          <p:nvPr/>
        </p:nvPicPr>
        <p:blipFill>
          <a:blip r:embed="rId6">
            <a:alphaModFix/>
          </a:blip>
          <a:stretch>
            <a:fillRect/>
          </a:stretch>
        </p:blipFill>
        <p:spPr>
          <a:xfrm>
            <a:off x="3234450" y="2895325"/>
            <a:ext cx="2923736" cy="2095775"/>
          </a:xfrm>
          <a:prstGeom prst="rect">
            <a:avLst/>
          </a:prstGeom>
          <a:noFill/>
          <a:ln>
            <a:noFill/>
          </a:ln>
        </p:spPr>
      </p:pic>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9" name="Shape 7089"/>
        <p:cNvGrpSpPr/>
        <p:nvPr/>
      </p:nvGrpSpPr>
      <p:grpSpPr>
        <a:xfrm>
          <a:off x="0" y="0"/>
          <a:ext cx="0" cy="0"/>
          <a:chOff x="0" y="0"/>
          <a:chExt cx="0" cy="0"/>
        </a:xfrm>
      </p:grpSpPr>
      <p:sp>
        <p:nvSpPr>
          <p:cNvPr id="7090" name="Google Shape;7090;p307"/>
          <p:cNvSpPr/>
          <p:nvPr/>
        </p:nvSpPr>
        <p:spPr>
          <a:xfrm>
            <a:off x="913295" y="11472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091" name="Google Shape;7091;p307"/>
          <p:cNvSpPr/>
          <p:nvPr/>
        </p:nvSpPr>
        <p:spPr>
          <a:xfrm>
            <a:off x="1445385"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092" name="Google Shape;7092;p307"/>
          <p:cNvSpPr/>
          <p:nvPr/>
        </p:nvSpPr>
        <p:spPr>
          <a:xfrm>
            <a:off x="311700"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093" name="Google Shape;7093;p307"/>
          <p:cNvSpPr/>
          <p:nvPr/>
        </p:nvSpPr>
        <p:spPr>
          <a:xfrm>
            <a:off x="913295" y="185551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094" name="Google Shape;7094;p307"/>
          <p:cNvSpPr/>
          <p:nvPr/>
        </p:nvSpPr>
        <p:spPr>
          <a:xfrm>
            <a:off x="311700" y="21649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7095" name="Google Shape;7095;p307"/>
          <p:cNvSpPr/>
          <p:nvPr/>
        </p:nvSpPr>
        <p:spPr>
          <a:xfrm>
            <a:off x="913295" y="2434838"/>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sp>
        <p:nvSpPr>
          <p:cNvPr id="7096" name="Google Shape;7096;p307"/>
          <p:cNvSpPr/>
          <p:nvPr/>
        </p:nvSpPr>
        <p:spPr>
          <a:xfrm>
            <a:off x="1445758" y="2165711"/>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cxnSp>
        <p:nvCxnSpPr>
          <p:cNvPr id="7097" name="Google Shape;7097;p307"/>
          <p:cNvCxnSpPr>
            <a:endCxn id="7092" idx="7"/>
          </p:cNvCxnSpPr>
          <p:nvPr/>
        </p:nvCxnSpPr>
        <p:spPr>
          <a:xfrm flipH="1">
            <a:off x="582362" y="1411129"/>
            <a:ext cx="377400" cy="180300"/>
          </a:xfrm>
          <a:prstGeom prst="straightConnector1">
            <a:avLst/>
          </a:prstGeom>
          <a:noFill/>
          <a:ln cap="flat" cmpd="sng" w="19050">
            <a:solidFill>
              <a:srgbClr val="666666"/>
            </a:solidFill>
            <a:prstDash val="solid"/>
            <a:round/>
            <a:headEnd len="med" w="med" type="none"/>
            <a:tailEnd len="med" w="med" type="none"/>
          </a:ln>
        </p:spPr>
      </p:cxnSp>
      <p:cxnSp>
        <p:nvCxnSpPr>
          <p:cNvPr id="7098" name="Google Shape;7098;p307"/>
          <p:cNvCxnSpPr>
            <a:stCxn id="7094" idx="0"/>
            <a:endCxn id="7092" idx="4"/>
          </p:cNvCxnSpPr>
          <p:nvPr/>
        </p:nvCxnSpPr>
        <p:spPr>
          <a:xfrm rot="10800000">
            <a:off x="470250" y="1855304"/>
            <a:ext cx="0" cy="309600"/>
          </a:xfrm>
          <a:prstGeom prst="straightConnector1">
            <a:avLst/>
          </a:prstGeom>
          <a:noFill/>
          <a:ln cap="flat" cmpd="sng" w="19050">
            <a:solidFill>
              <a:srgbClr val="999999"/>
            </a:solidFill>
            <a:prstDash val="solid"/>
            <a:round/>
            <a:headEnd len="med" w="med" type="none"/>
            <a:tailEnd len="med" w="med" type="none"/>
          </a:ln>
        </p:spPr>
      </p:cxnSp>
      <p:cxnSp>
        <p:nvCxnSpPr>
          <p:cNvPr id="7099" name="Google Shape;7099;p307"/>
          <p:cNvCxnSpPr>
            <a:stCxn id="7095" idx="2"/>
            <a:endCxn id="7094" idx="5"/>
          </p:cNvCxnSpPr>
          <p:nvPr/>
        </p:nvCxnSpPr>
        <p:spPr>
          <a:xfrm rot="10800000">
            <a:off x="582395" y="2428988"/>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100" name="Google Shape;7100;p307"/>
          <p:cNvCxnSpPr>
            <a:stCxn id="7093" idx="2"/>
            <a:endCxn id="7094" idx="6"/>
          </p:cNvCxnSpPr>
          <p:nvPr/>
        </p:nvCxnSpPr>
        <p:spPr>
          <a:xfrm flipH="1">
            <a:off x="628895" y="2010169"/>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101" name="Google Shape;7101;p307"/>
          <p:cNvCxnSpPr>
            <a:stCxn id="7095" idx="2"/>
            <a:endCxn id="7092" idx="4"/>
          </p:cNvCxnSpPr>
          <p:nvPr/>
        </p:nvCxnSpPr>
        <p:spPr>
          <a:xfrm rot="10800000">
            <a:off x="470195" y="1855388"/>
            <a:ext cx="443100" cy="734100"/>
          </a:xfrm>
          <a:prstGeom prst="straightConnector1">
            <a:avLst/>
          </a:prstGeom>
          <a:noFill/>
          <a:ln cap="flat" cmpd="sng" w="19050">
            <a:solidFill>
              <a:srgbClr val="666666"/>
            </a:solidFill>
            <a:prstDash val="solid"/>
            <a:round/>
            <a:headEnd len="med" w="med" type="none"/>
            <a:tailEnd len="med" w="med" type="none"/>
          </a:ln>
        </p:spPr>
      </p:cxnSp>
      <p:cxnSp>
        <p:nvCxnSpPr>
          <p:cNvPr id="7102" name="Google Shape;7102;p307"/>
          <p:cNvCxnSpPr>
            <a:stCxn id="7091" idx="2"/>
            <a:endCxn id="7093" idx="7"/>
          </p:cNvCxnSpPr>
          <p:nvPr/>
        </p:nvCxnSpPr>
        <p:spPr>
          <a:xfrm flipH="1">
            <a:off x="1184085" y="1700783"/>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103" name="Google Shape;7103;p307"/>
          <p:cNvCxnSpPr>
            <a:stCxn id="7091" idx="2"/>
            <a:endCxn id="7092" idx="6"/>
          </p:cNvCxnSpPr>
          <p:nvPr/>
        </p:nvCxnSpPr>
        <p:spPr>
          <a:xfrm rot="10800000">
            <a:off x="628785" y="1700783"/>
            <a:ext cx="816600" cy="0"/>
          </a:xfrm>
          <a:prstGeom prst="straightConnector1">
            <a:avLst/>
          </a:prstGeom>
          <a:noFill/>
          <a:ln cap="flat" cmpd="sng" w="19050">
            <a:solidFill>
              <a:srgbClr val="666666"/>
            </a:solidFill>
            <a:prstDash val="solid"/>
            <a:round/>
            <a:headEnd len="med" w="med" type="none"/>
            <a:tailEnd len="med" w="med" type="none"/>
          </a:ln>
        </p:spPr>
      </p:cxnSp>
      <p:cxnSp>
        <p:nvCxnSpPr>
          <p:cNvPr id="7104" name="Google Shape;7104;p307"/>
          <p:cNvCxnSpPr>
            <a:stCxn id="7091" idx="0"/>
            <a:endCxn id="7090" idx="5"/>
          </p:cNvCxnSpPr>
          <p:nvPr/>
        </p:nvCxnSpPr>
        <p:spPr>
          <a:xfrm rot="10800000">
            <a:off x="1183935" y="1411133"/>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105" name="Google Shape;7105;p307"/>
          <p:cNvCxnSpPr>
            <a:stCxn id="7096" idx="7"/>
            <a:endCxn id="7091" idx="4"/>
          </p:cNvCxnSpPr>
          <p:nvPr/>
        </p:nvCxnSpPr>
        <p:spPr>
          <a:xfrm rot="10800000">
            <a:off x="1603876" y="1855441"/>
            <a:ext cx="112800" cy="356400"/>
          </a:xfrm>
          <a:prstGeom prst="straightConnector1">
            <a:avLst/>
          </a:prstGeom>
          <a:noFill/>
          <a:ln cap="flat" cmpd="sng" w="19050">
            <a:solidFill>
              <a:srgbClr val="666666"/>
            </a:solidFill>
            <a:prstDash val="solid"/>
            <a:round/>
            <a:headEnd len="med" w="med" type="none"/>
            <a:tailEnd len="med" w="med" type="none"/>
          </a:ln>
        </p:spPr>
      </p:cxnSp>
      <p:cxnSp>
        <p:nvCxnSpPr>
          <p:cNvPr id="7106" name="Google Shape;7106;p307"/>
          <p:cNvCxnSpPr>
            <a:stCxn id="7096" idx="2"/>
            <a:endCxn id="7093" idx="6"/>
          </p:cNvCxnSpPr>
          <p:nvPr/>
        </p:nvCxnSpPr>
        <p:spPr>
          <a:xfrm rot="10800000">
            <a:off x="1230358" y="2010311"/>
            <a:ext cx="215400" cy="312900"/>
          </a:xfrm>
          <a:prstGeom prst="straightConnector1">
            <a:avLst/>
          </a:prstGeom>
          <a:noFill/>
          <a:ln cap="flat" cmpd="sng" w="19050">
            <a:solidFill>
              <a:srgbClr val="666666"/>
            </a:solidFill>
            <a:prstDash val="solid"/>
            <a:round/>
            <a:headEnd len="med" w="med" type="none"/>
            <a:tailEnd len="med" w="med" type="none"/>
          </a:ln>
        </p:spPr>
      </p:cxnSp>
      <p:cxnSp>
        <p:nvCxnSpPr>
          <p:cNvPr id="7107" name="Google Shape;7107;p307"/>
          <p:cNvCxnSpPr>
            <a:stCxn id="7095" idx="0"/>
            <a:endCxn id="7093" idx="4"/>
          </p:cNvCxnSpPr>
          <p:nvPr/>
        </p:nvCxnSpPr>
        <p:spPr>
          <a:xfrm rot="10800000">
            <a:off x="1071845" y="2164838"/>
            <a:ext cx="0" cy="270000"/>
          </a:xfrm>
          <a:prstGeom prst="straightConnector1">
            <a:avLst/>
          </a:prstGeom>
          <a:noFill/>
          <a:ln cap="flat" cmpd="sng" w="19050">
            <a:solidFill>
              <a:srgbClr val="666666"/>
            </a:solidFill>
            <a:prstDash val="solid"/>
            <a:round/>
            <a:headEnd len="med" w="med" type="none"/>
            <a:tailEnd len="med" w="med" type="none"/>
          </a:ln>
        </p:spPr>
      </p:cxnSp>
      <p:cxnSp>
        <p:nvCxnSpPr>
          <p:cNvPr id="7108" name="Google Shape;7108;p307"/>
          <p:cNvCxnSpPr>
            <a:stCxn id="7095" idx="6"/>
            <a:endCxn id="7096" idx="3"/>
          </p:cNvCxnSpPr>
          <p:nvPr/>
        </p:nvCxnSpPr>
        <p:spPr>
          <a:xfrm flipH="1" rot="10800000">
            <a:off x="1230395" y="2434688"/>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109" name="Google Shape;7109;p307"/>
          <p:cNvCxnSpPr>
            <a:stCxn id="7094" idx="6"/>
            <a:endCxn id="7096" idx="2"/>
          </p:cNvCxnSpPr>
          <p:nvPr/>
        </p:nvCxnSpPr>
        <p:spPr>
          <a:xfrm>
            <a:off x="628800" y="2319554"/>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110" name="Google Shape;7110;p307"/>
          <p:cNvCxnSpPr>
            <a:stCxn id="7094" idx="6"/>
            <a:endCxn id="7090" idx="4"/>
          </p:cNvCxnSpPr>
          <p:nvPr/>
        </p:nvCxnSpPr>
        <p:spPr>
          <a:xfrm flipH="1" rot="10800000">
            <a:off x="628800" y="1456454"/>
            <a:ext cx="443100" cy="863100"/>
          </a:xfrm>
          <a:prstGeom prst="straightConnector1">
            <a:avLst/>
          </a:prstGeom>
          <a:noFill/>
          <a:ln cap="flat" cmpd="sng" w="19050">
            <a:solidFill>
              <a:srgbClr val="666666"/>
            </a:solidFill>
            <a:prstDash val="solid"/>
            <a:round/>
            <a:headEnd len="med" w="med" type="none"/>
            <a:tailEnd len="med" w="med" type="none"/>
          </a:ln>
        </p:spPr>
      </p:cxnSp>
      <p:cxnSp>
        <p:nvCxnSpPr>
          <p:cNvPr id="7111" name="Google Shape;7111;p307"/>
          <p:cNvCxnSpPr>
            <a:stCxn id="7093" idx="0"/>
            <a:endCxn id="7090" idx="4"/>
          </p:cNvCxnSpPr>
          <p:nvPr/>
        </p:nvCxnSpPr>
        <p:spPr>
          <a:xfrm rot="10800000">
            <a:off x="1071845" y="1456519"/>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112" name="Google Shape;7112;p307"/>
          <p:cNvCxnSpPr>
            <a:stCxn id="7090" idx="4"/>
            <a:endCxn id="7096" idx="1"/>
          </p:cNvCxnSpPr>
          <p:nvPr/>
        </p:nvCxnSpPr>
        <p:spPr>
          <a:xfrm>
            <a:off x="1071845" y="1456525"/>
            <a:ext cx="420300" cy="755400"/>
          </a:xfrm>
          <a:prstGeom prst="straightConnector1">
            <a:avLst/>
          </a:prstGeom>
          <a:noFill/>
          <a:ln cap="flat" cmpd="sng" w="19050">
            <a:solidFill>
              <a:srgbClr val="666666"/>
            </a:solidFill>
            <a:prstDash val="solid"/>
            <a:round/>
            <a:headEnd len="med" w="med" type="none"/>
            <a:tailEnd len="med" w="med" type="none"/>
          </a:ln>
        </p:spPr>
      </p:cxnSp>
      <p:cxnSp>
        <p:nvCxnSpPr>
          <p:cNvPr id="7113" name="Google Shape;7113;p307"/>
          <p:cNvCxnSpPr>
            <a:stCxn id="7095" idx="6"/>
            <a:endCxn id="7091" idx="3"/>
          </p:cNvCxnSpPr>
          <p:nvPr/>
        </p:nvCxnSpPr>
        <p:spPr>
          <a:xfrm flipH="1" rot="10800000">
            <a:off x="1230395" y="1810088"/>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114" name="Google Shape;7114;p307"/>
          <p:cNvCxnSpPr>
            <a:stCxn id="7093" idx="1"/>
            <a:endCxn id="7092" idx="6"/>
          </p:cNvCxnSpPr>
          <p:nvPr/>
        </p:nvCxnSpPr>
        <p:spPr>
          <a:xfrm rot="10800000">
            <a:off x="628834" y="1700715"/>
            <a:ext cx="330900" cy="200100"/>
          </a:xfrm>
          <a:prstGeom prst="straightConnector1">
            <a:avLst/>
          </a:prstGeom>
          <a:noFill/>
          <a:ln cap="flat" cmpd="sng" w="19050">
            <a:solidFill>
              <a:srgbClr val="666666"/>
            </a:solidFill>
            <a:prstDash val="solid"/>
            <a:round/>
            <a:headEnd len="med" w="med" type="none"/>
            <a:tailEnd len="med" w="med" type="none"/>
          </a:ln>
        </p:spPr>
      </p:cxnSp>
      <p:sp>
        <p:nvSpPr>
          <p:cNvPr id="7115" name="Google Shape;7115;p307"/>
          <p:cNvSpPr/>
          <p:nvPr/>
        </p:nvSpPr>
        <p:spPr>
          <a:xfrm>
            <a:off x="1128323" y="311777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17</a:t>
            </a:r>
            <a:endParaRPr/>
          </a:p>
        </p:txBody>
      </p:sp>
      <p:sp>
        <p:nvSpPr>
          <p:cNvPr id="7116" name="Google Shape;7116;p307"/>
          <p:cNvSpPr/>
          <p:nvPr/>
        </p:nvSpPr>
        <p:spPr>
          <a:xfrm>
            <a:off x="1660413"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19</a:t>
            </a:r>
            <a:endParaRPr/>
          </a:p>
        </p:txBody>
      </p:sp>
      <p:sp>
        <p:nvSpPr>
          <p:cNvPr id="7117" name="Google Shape;7117;p307"/>
          <p:cNvSpPr/>
          <p:nvPr/>
        </p:nvSpPr>
        <p:spPr>
          <a:xfrm>
            <a:off x="596234"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18</a:t>
            </a:r>
            <a:endParaRPr/>
          </a:p>
        </p:txBody>
      </p:sp>
      <p:sp>
        <p:nvSpPr>
          <p:cNvPr id="7118" name="Google Shape;7118;p307"/>
          <p:cNvSpPr/>
          <p:nvPr/>
        </p:nvSpPr>
        <p:spPr>
          <a:xfrm>
            <a:off x="1128323" y="382607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20</a:t>
            </a:r>
            <a:endParaRPr/>
          </a:p>
        </p:txBody>
      </p:sp>
      <p:sp>
        <p:nvSpPr>
          <p:cNvPr id="7119" name="Google Shape;7119;p307"/>
          <p:cNvSpPr/>
          <p:nvPr/>
        </p:nvSpPr>
        <p:spPr>
          <a:xfrm>
            <a:off x="526728" y="413545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21</a:t>
            </a:r>
            <a:endParaRPr/>
          </a:p>
        </p:txBody>
      </p:sp>
      <p:sp>
        <p:nvSpPr>
          <p:cNvPr id="7120" name="Google Shape;7120;p307"/>
          <p:cNvSpPr/>
          <p:nvPr/>
        </p:nvSpPr>
        <p:spPr>
          <a:xfrm>
            <a:off x="1128323" y="440539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23</a:t>
            </a:r>
            <a:endParaRPr/>
          </a:p>
        </p:txBody>
      </p:sp>
      <p:sp>
        <p:nvSpPr>
          <p:cNvPr id="7121" name="Google Shape;7121;p307"/>
          <p:cNvSpPr/>
          <p:nvPr/>
        </p:nvSpPr>
        <p:spPr>
          <a:xfrm>
            <a:off x="1660786" y="4136262"/>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22</a:t>
            </a:r>
            <a:endParaRPr/>
          </a:p>
        </p:txBody>
      </p:sp>
      <p:cxnSp>
        <p:nvCxnSpPr>
          <p:cNvPr id="7122" name="Google Shape;7122;p307"/>
          <p:cNvCxnSpPr>
            <a:stCxn id="7115" idx="3"/>
            <a:endCxn id="7117" idx="7"/>
          </p:cNvCxnSpPr>
          <p:nvPr/>
        </p:nvCxnSpPr>
        <p:spPr>
          <a:xfrm flipH="1">
            <a:off x="866962" y="3381780"/>
            <a:ext cx="307800" cy="180300"/>
          </a:xfrm>
          <a:prstGeom prst="straightConnector1">
            <a:avLst/>
          </a:prstGeom>
          <a:noFill/>
          <a:ln cap="flat" cmpd="sng" w="19050">
            <a:solidFill>
              <a:srgbClr val="666666"/>
            </a:solidFill>
            <a:prstDash val="solid"/>
            <a:round/>
            <a:headEnd len="med" w="med" type="none"/>
            <a:tailEnd len="med" w="med" type="none"/>
          </a:ln>
        </p:spPr>
      </p:cxnSp>
      <p:cxnSp>
        <p:nvCxnSpPr>
          <p:cNvPr id="7123" name="Google Shape;7123;p307"/>
          <p:cNvCxnSpPr>
            <a:stCxn id="7120" idx="2"/>
            <a:endCxn id="7119" idx="5"/>
          </p:cNvCxnSpPr>
          <p:nvPr/>
        </p:nvCxnSpPr>
        <p:spPr>
          <a:xfrm rot="10800000">
            <a:off x="797423" y="4399540"/>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124" name="Google Shape;7124;p307"/>
          <p:cNvCxnSpPr>
            <a:stCxn id="7118" idx="2"/>
            <a:endCxn id="7119" idx="6"/>
          </p:cNvCxnSpPr>
          <p:nvPr/>
        </p:nvCxnSpPr>
        <p:spPr>
          <a:xfrm flipH="1">
            <a:off x="843923" y="3980720"/>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125" name="Google Shape;7125;p307"/>
          <p:cNvCxnSpPr>
            <a:stCxn id="7119" idx="0"/>
            <a:endCxn id="7117" idx="4"/>
          </p:cNvCxnSpPr>
          <p:nvPr/>
        </p:nvCxnSpPr>
        <p:spPr>
          <a:xfrm flipH="1" rot="10800000">
            <a:off x="685278" y="3825856"/>
            <a:ext cx="69600" cy="309600"/>
          </a:xfrm>
          <a:prstGeom prst="straightConnector1">
            <a:avLst/>
          </a:prstGeom>
          <a:noFill/>
          <a:ln cap="flat" cmpd="sng" w="19050">
            <a:solidFill>
              <a:srgbClr val="666666"/>
            </a:solidFill>
            <a:prstDash val="solid"/>
            <a:round/>
            <a:headEnd len="med" w="med" type="none"/>
            <a:tailEnd len="med" w="med" type="none"/>
          </a:ln>
        </p:spPr>
      </p:cxnSp>
      <p:cxnSp>
        <p:nvCxnSpPr>
          <p:cNvPr id="7126" name="Google Shape;7126;p307"/>
          <p:cNvCxnSpPr>
            <a:stCxn id="7116" idx="2"/>
            <a:endCxn id="7118" idx="7"/>
          </p:cNvCxnSpPr>
          <p:nvPr/>
        </p:nvCxnSpPr>
        <p:spPr>
          <a:xfrm flipH="1">
            <a:off x="1399113" y="3671335"/>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127" name="Google Shape;7127;p307"/>
          <p:cNvCxnSpPr>
            <a:stCxn id="7116" idx="0"/>
            <a:endCxn id="7115" idx="5"/>
          </p:cNvCxnSpPr>
          <p:nvPr/>
        </p:nvCxnSpPr>
        <p:spPr>
          <a:xfrm rot="10800000">
            <a:off x="1398963" y="3381685"/>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128" name="Google Shape;7128;p307"/>
          <p:cNvCxnSpPr>
            <a:stCxn id="7121" idx="0"/>
            <a:endCxn id="7116" idx="4"/>
          </p:cNvCxnSpPr>
          <p:nvPr/>
        </p:nvCxnSpPr>
        <p:spPr>
          <a:xfrm rot="10800000">
            <a:off x="1818886" y="3826062"/>
            <a:ext cx="600" cy="310200"/>
          </a:xfrm>
          <a:prstGeom prst="straightConnector1">
            <a:avLst/>
          </a:prstGeom>
          <a:noFill/>
          <a:ln cap="flat" cmpd="sng" w="19050">
            <a:solidFill>
              <a:srgbClr val="666666"/>
            </a:solidFill>
            <a:prstDash val="solid"/>
            <a:round/>
            <a:headEnd len="med" w="med" type="none"/>
            <a:tailEnd len="med" w="med" type="none"/>
          </a:ln>
        </p:spPr>
      </p:cxnSp>
      <p:cxnSp>
        <p:nvCxnSpPr>
          <p:cNvPr id="7129" name="Google Shape;7129;p307"/>
          <p:cNvCxnSpPr>
            <a:stCxn id="7120" idx="6"/>
            <a:endCxn id="7121" idx="3"/>
          </p:cNvCxnSpPr>
          <p:nvPr/>
        </p:nvCxnSpPr>
        <p:spPr>
          <a:xfrm flipH="1" rot="10800000">
            <a:off x="1445423" y="4405240"/>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130" name="Google Shape;7130;p307"/>
          <p:cNvCxnSpPr>
            <a:stCxn id="7119" idx="6"/>
            <a:endCxn id="7121" idx="2"/>
          </p:cNvCxnSpPr>
          <p:nvPr/>
        </p:nvCxnSpPr>
        <p:spPr>
          <a:xfrm>
            <a:off x="843828" y="4290106"/>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131" name="Google Shape;7131;p307"/>
          <p:cNvCxnSpPr>
            <a:stCxn id="7118" idx="0"/>
            <a:endCxn id="7115" idx="4"/>
          </p:cNvCxnSpPr>
          <p:nvPr/>
        </p:nvCxnSpPr>
        <p:spPr>
          <a:xfrm rot="10800000">
            <a:off x="1286873" y="3427070"/>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132" name="Google Shape;7132;p307"/>
          <p:cNvCxnSpPr>
            <a:stCxn id="7120" idx="6"/>
            <a:endCxn id="7116" idx="3"/>
          </p:cNvCxnSpPr>
          <p:nvPr/>
        </p:nvCxnSpPr>
        <p:spPr>
          <a:xfrm flipH="1" rot="10800000">
            <a:off x="1445423" y="3780640"/>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133" name="Google Shape;7133;p307"/>
          <p:cNvCxnSpPr>
            <a:stCxn id="7118" idx="1"/>
            <a:endCxn id="7117" idx="6"/>
          </p:cNvCxnSpPr>
          <p:nvPr/>
        </p:nvCxnSpPr>
        <p:spPr>
          <a:xfrm rot="10800000">
            <a:off x="913462" y="3671266"/>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134" name="Google Shape;7134;p307"/>
          <p:cNvCxnSpPr>
            <a:stCxn id="7119" idx="1"/>
            <a:endCxn id="7094" idx="4"/>
          </p:cNvCxnSpPr>
          <p:nvPr/>
        </p:nvCxnSpPr>
        <p:spPr>
          <a:xfrm rot="10800000">
            <a:off x="470266" y="2474352"/>
            <a:ext cx="102900" cy="1706400"/>
          </a:xfrm>
          <a:prstGeom prst="straightConnector1">
            <a:avLst/>
          </a:prstGeom>
          <a:noFill/>
          <a:ln cap="flat" cmpd="sng" w="19050">
            <a:solidFill>
              <a:srgbClr val="666666"/>
            </a:solidFill>
            <a:prstDash val="solid"/>
            <a:round/>
            <a:headEnd len="med" w="med" type="none"/>
            <a:tailEnd len="med" w="med" type="none"/>
          </a:ln>
        </p:spPr>
      </p:cxnSp>
      <p:cxnSp>
        <p:nvCxnSpPr>
          <p:cNvPr id="7135" name="Google Shape;7135;p307"/>
          <p:cNvCxnSpPr>
            <a:stCxn id="7116" idx="0"/>
            <a:endCxn id="7096" idx="4"/>
          </p:cNvCxnSpPr>
          <p:nvPr/>
        </p:nvCxnSpPr>
        <p:spPr>
          <a:xfrm rot="10800000">
            <a:off x="1604463" y="2480785"/>
            <a:ext cx="214500" cy="1035900"/>
          </a:xfrm>
          <a:prstGeom prst="straightConnector1">
            <a:avLst/>
          </a:prstGeom>
          <a:noFill/>
          <a:ln cap="flat" cmpd="sng" w="19050">
            <a:solidFill>
              <a:srgbClr val="666666"/>
            </a:solidFill>
            <a:prstDash val="solid"/>
            <a:round/>
            <a:headEnd len="med" w="med" type="none"/>
            <a:tailEnd len="med" w="med" type="none"/>
          </a:ln>
        </p:spPr>
      </p:cxnSp>
      <p:sp>
        <p:nvSpPr>
          <p:cNvPr id="7136" name="Google Shape;7136;p307"/>
          <p:cNvSpPr/>
          <p:nvPr/>
        </p:nvSpPr>
        <p:spPr>
          <a:xfrm>
            <a:off x="2195893" y="18556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137" name="Google Shape;7137;p307"/>
          <p:cNvSpPr/>
          <p:nvPr/>
        </p:nvSpPr>
        <p:spPr>
          <a:xfrm>
            <a:off x="2195893" y="27130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138" name="Google Shape;7138;p307"/>
          <p:cNvSpPr/>
          <p:nvPr/>
        </p:nvSpPr>
        <p:spPr>
          <a:xfrm>
            <a:off x="256379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139" name="Google Shape;7139;p307"/>
          <p:cNvSpPr/>
          <p:nvPr/>
        </p:nvSpPr>
        <p:spPr>
          <a:xfrm>
            <a:off x="2880801"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140" name="Google Shape;7140;p307"/>
          <p:cNvSpPr/>
          <p:nvPr/>
        </p:nvSpPr>
        <p:spPr>
          <a:xfrm>
            <a:off x="3749082" y="1679501"/>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141" name="Google Shape;7141;p307"/>
          <p:cNvSpPr/>
          <p:nvPr/>
        </p:nvSpPr>
        <p:spPr>
          <a:xfrm>
            <a:off x="327440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sp>
        <p:nvSpPr>
          <p:cNvPr id="7142" name="Google Shape;7142;p307"/>
          <p:cNvSpPr/>
          <p:nvPr/>
        </p:nvSpPr>
        <p:spPr>
          <a:xfrm>
            <a:off x="4341627" y="2211777"/>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sp>
        <p:nvSpPr>
          <p:cNvPr id="7143" name="Google Shape;7143;p307"/>
          <p:cNvSpPr/>
          <p:nvPr/>
        </p:nvSpPr>
        <p:spPr>
          <a:xfrm>
            <a:off x="3374610" y="291580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15</a:t>
            </a:r>
            <a:endParaRPr/>
          </a:p>
        </p:txBody>
      </p:sp>
      <p:sp>
        <p:nvSpPr>
          <p:cNvPr id="7144" name="Google Shape;7144;p307"/>
          <p:cNvSpPr/>
          <p:nvPr/>
        </p:nvSpPr>
        <p:spPr>
          <a:xfrm>
            <a:off x="4223529" y="307246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16</a:t>
            </a:r>
            <a:endParaRPr/>
          </a:p>
        </p:txBody>
      </p:sp>
      <p:cxnSp>
        <p:nvCxnSpPr>
          <p:cNvPr id="7145" name="Google Shape;7145;p307"/>
          <p:cNvCxnSpPr>
            <a:stCxn id="7096" idx="6"/>
            <a:endCxn id="7136" idx="3"/>
          </p:cNvCxnSpPr>
          <p:nvPr/>
        </p:nvCxnSpPr>
        <p:spPr>
          <a:xfrm flipH="1" rot="10800000">
            <a:off x="1763158" y="2119511"/>
            <a:ext cx="479100" cy="203700"/>
          </a:xfrm>
          <a:prstGeom prst="straightConnector1">
            <a:avLst/>
          </a:prstGeom>
          <a:noFill/>
          <a:ln cap="flat" cmpd="sng" w="19050">
            <a:solidFill>
              <a:srgbClr val="666666"/>
            </a:solidFill>
            <a:prstDash val="solid"/>
            <a:round/>
            <a:headEnd len="med" w="med" type="none"/>
            <a:tailEnd len="med" w="med" type="none"/>
          </a:ln>
        </p:spPr>
      </p:cxnSp>
      <p:cxnSp>
        <p:nvCxnSpPr>
          <p:cNvPr id="7146" name="Google Shape;7146;p307"/>
          <p:cNvCxnSpPr>
            <a:stCxn id="7137" idx="2"/>
            <a:endCxn id="7096" idx="6"/>
          </p:cNvCxnSpPr>
          <p:nvPr/>
        </p:nvCxnSpPr>
        <p:spPr>
          <a:xfrm rot="10800000">
            <a:off x="1763293" y="2323154"/>
            <a:ext cx="432600" cy="544500"/>
          </a:xfrm>
          <a:prstGeom prst="straightConnector1">
            <a:avLst/>
          </a:prstGeom>
          <a:noFill/>
          <a:ln cap="flat" cmpd="sng" w="19050">
            <a:solidFill>
              <a:srgbClr val="666666"/>
            </a:solidFill>
            <a:prstDash val="solid"/>
            <a:round/>
            <a:headEnd len="med" w="med" type="none"/>
            <a:tailEnd len="med" w="med" type="none"/>
          </a:ln>
        </p:spPr>
      </p:cxnSp>
      <p:cxnSp>
        <p:nvCxnSpPr>
          <p:cNvPr id="7147" name="Google Shape;7147;p307"/>
          <p:cNvCxnSpPr>
            <a:stCxn id="7138" idx="2"/>
            <a:endCxn id="7096" idx="6"/>
          </p:cNvCxnSpPr>
          <p:nvPr/>
        </p:nvCxnSpPr>
        <p:spPr>
          <a:xfrm rot="10800000">
            <a:off x="1763093" y="2323249"/>
            <a:ext cx="800700" cy="131400"/>
          </a:xfrm>
          <a:prstGeom prst="straightConnector1">
            <a:avLst/>
          </a:prstGeom>
          <a:noFill/>
          <a:ln cap="flat" cmpd="sng" w="19050">
            <a:solidFill>
              <a:srgbClr val="666666"/>
            </a:solidFill>
            <a:prstDash val="solid"/>
            <a:round/>
            <a:headEnd len="med" w="med" type="none"/>
            <a:tailEnd len="med" w="med" type="none"/>
          </a:ln>
        </p:spPr>
      </p:cxnSp>
      <p:cxnSp>
        <p:nvCxnSpPr>
          <p:cNvPr id="7148" name="Google Shape;7148;p307"/>
          <p:cNvCxnSpPr>
            <a:stCxn id="7137" idx="0"/>
            <a:endCxn id="7136" idx="4"/>
          </p:cNvCxnSpPr>
          <p:nvPr/>
        </p:nvCxnSpPr>
        <p:spPr>
          <a:xfrm rot="10800000">
            <a:off x="2354443" y="2164904"/>
            <a:ext cx="0" cy="548100"/>
          </a:xfrm>
          <a:prstGeom prst="straightConnector1">
            <a:avLst/>
          </a:prstGeom>
          <a:noFill/>
          <a:ln cap="flat" cmpd="sng" w="19050">
            <a:solidFill>
              <a:srgbClr val="666666"/>
            </a:solidFill>
            <a:prstDash val="solid"/>
            <a:round/>
            <a:headEnd len="med" w="med" type="none"/>
            <a:tailEnd len="med" w="med" type="none"/>
          </a:ln>
        </p:spPr>
      </p:cxnSp>
      <p:cxnSp>
        <p:nvCxnSpPr>
          <p:cNvPr id="7149" name="Google Shape;7149;p307"/>
          <p:cNvCxnSpPr>
            <a:stCxn id="7138" idx="0"/>
            <a:endCxn id="7136" idx="5"/>
          </p:cNvCxnSpPr>
          <p:nvPr/>
        </p:nvCxnSpPr>
        <p:spPr>
          <a:xfrm rot="10800000">
            <a:off x="2466443" y="2119699"/>
            <a:ext cx="255900" cy="180300"/>
          </a:xfrm>
          <a:prstGeom prst="straightConnector1">
            <a:avLst/>
          </a:prstGeom>
          <a:noFill/>
          <a:ln cap="flat" cmpd="sng" w="19050">
            <a:solidFill>
              <a:srgbClr val="666666"/>
            </a:solidFill>
            <a:prstDash val="solid"/>
            <a:round/>
            <a:headEnd len="med" w="med" type="none"/>
            <a:tailEnd len="med" w="med" type="none"/>
          </a:ln>
        </p:spPr>
      </p:cxnSp>
      <p:cxnSp>
        <p:nvCxnSpPr>
          <p:cNvPr id="7150" name="Google Shape;7150;p307"/>
          <p:cNvCxnSpPr>
            <a:stCxn id="7137" idx="6"/>
            <a:endCxn id="7138" idx="4"/>
          </p:cNvCxnSpPr>
          <p:nvPr/>
        </p:nvCxnSpPr>
        <p:spPr>
          <a:xfrm flipH="1" rot="10800000">
            <a:off x="2512993" y="2609354"/>
            <a:ext cx="209400" cy="258300"/>
          </a:xfrm>
          <a:prstGeom prst="straightConnector1">
            <a:avLst/>
          </a:prstGeom>
          <a:noFill/>
          <a:ln cap="flat" cmpd="sng" w="19050">
            <a:solidFill>
              <a:srgbClr val="666666"/>
            </a:solidFill>
            <a:prstDash val="solid"/>
            <a:round/>
            <a:headEnd len="med" w="med" type="none"/>
            <a:tailEnd len="med" w="med" type="none"/>
          </a:ln>
        </p:spPr>
      </p:cxnSp>
      <p:cxnSp>
        <p:nvCxnSpPr>
          <p:cNvPr id="7151" name="Google Shape;7151;p307"/>
          <p:cNvCxnSpPr>
            <a:stCxn id="7136" idx="6"/>
            <a:endCxn id="7139" idx="2"/>
          </p:cNvCxnSpPr>
          <p:nvPr/>
        </p:nvCxnSpPr>
        <p:spPr>
          <a:xfrm flipH="1" rot="10800000">
            <a:off x="2512993" y="1700675"/>
            <a:ext cx="367800" cy="309600"/>
          </a:xfrm>
          <a:prstGeom prst="straightConnector1">
            <a:avLst/>
          </a:prstGeom>
          <a:noFill/>
          <a:ln cap="flat" cmpd="sng" w="19050">
            <a:solidFill>
              <a:srgbClr val="666666"/>
            </a:solidFill>
            <a:prstDash val="solid"/>
            <a:round/>
            <a:headEnd len="med" w="med" type="none"/>
            <a:tailEnd len="med" w="med" type="none"/>
          </a:ln>
        </p:spPr>
      </p:cxnSp>
      <p:cxnSp>
        <p:nvCxnSpPr>
          <p:cNvPr id="7152" name="Google Shape;7152;p307"/>
          <p:cNvCxnSpPr>
            <a:stCxn id="7140" idx="2"/>
            <a:endCxn id="7139" idx="6"/>
          </p:cNvCxnSpPr>
          <p:nvPr/>
        </p:nvCxnSpPr>
        <p:spPr>
          <a:xfrm rot="10800000">
            <a:off x="3197982" y="1700651"/>
            <a:ext cx="551100" cy="133500"/>
          </a:xfrm>
          <a:prstGeom prst="straightConnector1">
            <a:avLst/>
          </a:prstGeom>
          <a:noFill/>
          <a:ln cap="flat" cmpd="sng" w="19050">
            <a:solidFill>
              <a:srgbClr val="666666"/>
            </a:solidFill>
            <a:prstDash val="solid"/>
            <a:round/>
            <a:headEnd len="med" w="med" type="none"/>
            <a:tailEnd len="med" w="med" type="none"/>
          </a:ln>
        </p:spPr>
      </p:cxnSp>
      <p:cxnSp>
        <p:nvCxnSpPr>
          <p:cNvPr id="7153" name="Google Shape;7153;p307"/>
          <p:cNvCxnSpPr>
            <a:stCxn id="7142" idx="1"/>
            <a:endCxn id="7140" idx="5"/>
          </p:cNvCxnSpPr>
          <p:nvPr/>
        </p:nvCxnSpPr>
        <p:spPr>
          <a:xfrm rot="10800000">
            <a:off x="4019665" y="1943573"/>
            <a:ext cx="368400" cy="313500"/>
          </a:xfrm>
          <a:prstGeom prst="straightConnector1">
            <a:avLst/>
          </a:prstGeom>
          <a:noFill/>
          <a:ln cap="flat" cmpd="sng" w="19050">
            <a:solidFill>
              <a:srgbClr val="666666"/>
            </a:solidFill>
            <a:prstDash val="solid"/>
            <a:round/>
            <a:headEnd len="med" w="med" type="none"/>
            <a:tailEnd len="med" w="med" type="none"/>
          </a:ln>
        </p:spPr>
      </p:cxnSp>
      <p:cxnSp>
        <p:nvCxnSpPr>
          <p:cNvPr id="7154" name="Google Shape;7154;p307"/>
          <p:cNvCxnSpPr>
            <a:stCxn id="7141" idx="7"/>
            <a:endCxn id="7140" idx="4"/>
          </p:cNvCxnSpPr>
          <p:nvPr/>
        </p:nvCxnSpPr>
        <p:spPr>
          <a:xfrm flipH="1" rot="10800000">
            <a:off x="3545065" y="1988895"/>
            <a:ext cx="362700" cy="356400"/>
          </a:xfrm>
          <a:prstGeom prst="straightConnector1">
            <a:avLst/>
          </a:prstGeom>
          <a:noFill/>
          <a:ln cap="flat" cmpd="sng" w="19050">
            <a:solidFill>
              <a:srgbClr val="666666"/>
            </a:solidFill>
            <a:prstDash val="solid"/>
            <a:round/>
            <a:headEnd len="med" w="med" type="none"/>
            <a:tailEnd len="med" w="med" type="none"/>
          </a:ln>
        </p:spPr>
      </p:cxnSp>
      <p:cxnSp>
        <p:nvCxnSpPr>
          <p:cNvPr id="7155" name="Google Shape;7155;p307"/>
          <p:cNvCxnSpPr>
            <a:stCxn id="7144" idx="1"/>
            <a:endCxn id="7141" idx="5"/>
          </p:cNvCxnSpPr>
          <p:nvPr/>
        </p:nvCxnSpPr>
        <p:spPr>
          <a:xfrm rot="10800000">
            <a:off x="3545168" y="2563956"/>
            <a:ext cx="724800" cy="553800"/>
          </a:xfrm>
          <a:prstGeom prst="straightConnector1">
            <a:avLst/>
          </a:prstGeom>
          <a:noFill/>
          <a:ln cap="flat" cmpd="sng" w="19050">
            <a:solidFill>
              <a:srgbClr val="666666"/>
            </a:solidFill>
            <a:prstDash val="solid"/>
            <a:round/>
            <a:headEnd len="med" w="med" type="none"/>
            <a:tailEnd len="med" w="med" type="none"/>
          </a:ln>
        </p:spPr>
      </p:cxnSp>
      <p:cxnSp>
        <p:nvCxnSpPr>
          <p:cNvPr id="7156" name="Google Shape;7156;p307"/>
          <p:cNvCxnSpPr>
            <a:stCxn id="7144" idx="2"/>
            <a:endCxn id="7143" idx="5"/>
          </p:cNvCxnSpPr>
          <p:nvPr/>
        </p:nvCxnSpPr>
        <p:spPr>
          <a:xfrm rot="10800000">
            <a:off x="3645129" y="3179710"/>
            <a:ext cx="578400" cy="47400"/>
          </a:xfrm>
          <a:prstGeom prst="straightConnector1">
            <a:avLst/>
          </a:prstGeom>
          <a:noFill/>
          <a:ln cap="flat" cmpd="sng" w="19050">
            <a:solidFill>
              <a:srgbClr val="666666"/>
            </a:solidFill>
            <a:prstDash val="solid"/>
            <a:round/>
            <a:headEnd len="med" w="med" type="none"/>
            <a:tailEnd len="med" w="med" type="none"/>
          </a:ln>
        </p:spPr>
      </p:cxnSp>
      <p:cxnSp>
        <p:nvCxnSpPr>
          <p:cNvPr id="7157" name="Google Shape;7157;p307"/>
          <p:cNvCxnSpPr>
            <a:stCxn id="7143" idx="2"/>
            <a:endCxn id="7137" idx="6"/>
          </p:cNvCxnSpPr>
          <p:nvPr/>
        </p:nvCxnSpPr>
        <p:spPr>
          <a:xfrm rot="10800000">
            <a:off x="2513010" y="2867656"/>
            <a:ext cx="861600" cy="202800"/>
          </a:xfrm>
          <a:prstGeom prst="straightConnector1">
            <a:avLst/>
          </a:prstGeom>
          <a:noFill/>
          <a:ln cap="flat" cmpd="sng" w="19050">
            <a:solidFill>
              <a:srgbClr val="666666"/>
            </a:solidFill>
            <a:prstDash val="solid"/>
            <a:round/>
            <a:headEnd len="med" w="med" type="none"/>
            <a:tailEnd len="med" w="med" type="none"/>
          </a:ln>
        </p:spPr>
      </p:cxnSp>
      <p:cxnSp>
        <p:nvCxnSpPr>
          <p:cNvPr id="7158" name="Google Shape;7158;p307"/>
          <p:cNvCxnSpPr>
            <a:stCxn id="7144" idx="0"/>
            <a:endCxn id="7142" idx="4"/>
          </p:cNvCxnSpPr>
          <p:nvPr/>
        </p:nvCxnSpPr>
        <p:spPr>
          <a:xfrm flipH="1" rot="10800000">
            <a:off x="4382079" y="2521060"/>
            <a:ext cx="118200" cy="551400"/>
          </a:xfrm>
          <a:prstGeom prst="straightConnector1">
            <a:avLst/>
          </a:prstGeom>
          <a:noFill/>
          <a:ln cap="flat" cmpd="sng" w="19050">
            <a:solidFill>
              <a:srgbClr val="666666"/>
            </a:solidFill>
            <a:prstDash val="solid"/>
            <a:round/>
            <a:headEnd len="med" w="med" type="none"/>
            <a:tailEnd len="med" w="med" type="none"/>
          </a:ln>
        </p:spPr>
      </p:cxnSp>
      <p:cxnSp>
        <p:nvCxnSpPr>
          <p:cNvPr id="7159" name="Google Shape;7159;p307"/>
          <p:cNvCxnSpPr>
            <a:stCxn id="7141" idx="2"/>
            <a:endCxn id="7138" idx="6"/>
          </p:cNvCxnSpPr>
          <p:nvPr/>
        </p:nvCxnSpPr>
        <p:spPr>
          <a:xfrm rot="10800000">
            <a:off x="2880803" y="2454649"/>
            <a:ext cx="393600" cy="0"/>
          </a:xfrm>
          <a:prstGeom prst="straightConnector1">
            <a:avLst/>
          </a:prstGeom>
          <a:noFill/>
          <a:ln cap="flat" cmpd="sng" w="19050">
            <a:solidFill>
              <a:srgbClr val="666666"/>
            </a:solidFill>
            <a:prstDash val="solid"/>
            <a:round/>
            <a:headEnd len="med" w="med" type="none"/>
            <a:tailEnd len="med" w="med" type="none"/>
          </a:ln>
        </p:spPr>
      </p:cxnSp>
      <p:sp>
        <p:nvSpPr>
          <p:cNvPr id="7160" name="Google Shape;7160;p307"/>
          <p:cNvSpPr txBox="1"/>
          <p:nvPr>
            <p:ph type="title"/>
          </p:nvPr>
        </p:nvSpPr>
        <p:spPr>
          <a:xfrm>
            <a:off x="311700" y="315925"/>
            <a:ext cx="5405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161" name="Google Shape;7161;p307"/>
          <p:cNvSpPr/>
          <p:nvPr/>
        </p:nvSpPr>
        <p:spPr>
          <a:xfrm>
            <a:off x="6584850" y="1958150"/>
            <a:ext cx="863100" cy="4179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G</a:t>
            </a:r>
            <a:endParaRPr b="1"/>
          </a:p>
        </p:txBody>
      </p:sp>
      <p:sp>
        <p:nvSpPr>
          <p:cNvPr id="7162" name="Google Shape;7162;p307"/>
          <p:cNvSpPr txBox="1"/>
          <p:nvPr>
            <p:ph idx="4294967295" type="body"/>
          </p:nvPr>
        </p:nvSpPr>
        <p:spPr>
          <a:xfrm>
            <a:off x="5342550" y="315925"/>
            <a:ext cx="3580800" cy="176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AutoNum type="arabicPeriod"/>
            </a:pPr>
            <a:r>
              <a:rPr lang="en" sz="1400">
                <a:solidFill>
                  <a:srgbClr val="000000"/>
                </a:solidFill>
              </a:rPr>
              <a:t>Identify the k-connectivity of the input graph (G)</a:t>
            </a:r>
            <a:endParaRPr sz="1400">
              <a:solidFill>
                <a:srgbClr val="000000"/>
              </a:solidFill>
            </a:endParaRPr>
          </a:p>
          <a:p>
            <a:pPr indent="-317500" lvl="0" marL="457200" rtl="0" algn="l">
              <a:spcBef>
                <a:spcPts val="0"/>
              </a:spcBef>
              <a:spcAft>
                <a:spcPts val="0"/>
              </a:spcAft>
              <a:buClr>
                <a:srgbClr val="000000"/>
              </a:buClr>
              <a:buSzPts val="1400"/>
              <a:buAutoNum type="arabicPeriod"/>
            </a:pPr>
            <a:r>
              <a:rPr lang="en" sz="1400">
                <a:solidFill>
                  <a:srgbClr val="000000"/>
                </a:solidFill>
              </a:rPr>
              <a:t>Remove the k-cutset (vertices)</a:t>
            </a:r>
            <a:endParaRPr sz="1400">
              <a:solidFill>
                <a:srgbClr val="000000"/>
              </a:solidFill>
            </a:endParaRPr>
          </a:p>
          <a:p>
            <a:pPr indent="-317500" lvl="0" marL="457200" rtl="0" algn="l">
              <a:spcBef>
                <a:spcPts val="0"/>
              </a:spcBef>
              <a:spcAft>
                <a:spcPts val="0"/>
              </a:spcAft>
              <a:buClr>
                <a:srgbClr val="000000"/>
              </a:buClr>
              <a:buSzPts val="1400"/>
              <a:buAutoNum type="arabicPeriod"/>
            </a:pPr>
            <a:r>
              <a:rPr lang="en" sz="1400">
                <a:solidFill>
                  <a:srgbClr val="000000"/>
                </a:solidFill>
              </a:rPr>
              <a:t>Do the same on the resulting subgraphs until no more subdivisions can be obtained </a:t>
            </a:r>
            <a:endParaRPr sz="1400">
              <a:solidFill>
                <a:srgbClr val="000000"/>
              </a:solidFill>
            </a:endParaRPr>
          </a:p>
          <a:p>
            <a:pPr indent="0" lvl="0" marL="914400" rtl="0" algn="l">
              <a:spcBef>
                <a:spcPts val="1600"/>
              </a:spcBef>
              <a:spcAft>
                <a:spcPts val="1600"/>
              </a:spcAft>
              <a:buNone/>
            </a:pPr>
            <a:r>
              <a:t/>
            </a:r>
            <a:endParaRPr sz="1400">
              <a:solidFill>
                <a:srgbClr val="000000"/>
              </a:solidFill>
            </a:endParaRPr>
          </a:p>
        </p:txBody>
      </p:sp>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6" name="Shape 7166"/>
        <p:cNvGrpSpPr/>
        <p:nvPr/>
      </p:nvGrpSpPr>
      <p:grpSpPr>
        <a:xfrm>
          <a:off x="0" y="0"/>
          <a:ext cx="0" cy="0"/>
          <a:chOff x="0" y="0"/>
          <a:chExt cx="0" cy="0"/>
        </a:xfrm>
      </p:grpSpPr>
      <p:sp>
        <p:nvSpPr>
          <p:cNvPr id="7167" name="Google Shape;7167;p308"/>
          <p:cNvSpPr/>
          <p:nvPr/>
        </p:nvSpPr>
        <p:spPr>
          <a:xfrm>
            <a:off x="913295" y="11472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168" name="Google Shape;7168;p308"/>
          <p:cNvSpPr/>
          <p:nvPr/>
        </p:nvSpPr>
        <p:spPr>
          <a:xfrm>
            <a:off x="1445385"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169" name="Google Shape;7169;p308"/>
          <p:cNvSpPr/>
          <p:nvPr/>
        </p:nvSpPr>
        <p:spPr>
          <a:xfrm>
            <a:off x="311700"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170" name="Google Shape;7170;p308"/>
          <p:cNvSpPr/>
          <p:nvPr/>
        </p:nvSpPr>
        <p:spPr>
          <a:xfrm>
            <a:off x="913295" y="185551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171" name="Google Shape;7171;p308"/>
          <p:cNvSpPr/>
          <p:nvPr/>
        </p:nvSpPr>
        <p:spPr>
          <a:xfrm>
            <a:off x="311700" y="21649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7172" name="Google Shape;7172;p308"/>
          <p:cNvSpPr/>
          <p:nvPr/>
        </p:nvSpPr>
        <p:spPr>
          <a:xfrm>
            <a:off x="913295" y="2434838"/>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sp>
        <p:nvSpPr>
          <p:cNvPr id="7173" name="Google Shape;7173;p308"/>
          <p:cNvSpPr/>
          <p:nvPr/>
        </p:nvSpPr>
        <p:spPr>
          <a:xfrm>
            <a:off x="1445758" y="2165711"/>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cxnSp>
        <p:nvCxnSpPr>
          <p:cNvPr id="7174" name="Google Shape;7174;p308"/>
          <p:cNvCxnSpPr>
            <a:endCxn id="7169" idx="7"/>
          </p:cNvCxnSpPr>
          <p:nvPr/>
        </p:nvCxnSpPr>
        <p:spPr>
          <a:xfrm flipH="1">
            <a:off x="582362" y="1411129"/>
            <a:ext cx="377400" cy="180300"/>
          </a:xfrm>
          <a:prstGeom prst="straightConnector1">
            <a:avLst/>
          </a:prstGeom>
          <a:noFill/>
          <a:ln cap="flat" cmpd="sng" w="19050">
            <a:solidFill>
              <a:srgbClr val="666666"/>
            </a:solidFill>
            <a:prstDash val="solid"/>
            <a:round/>
            <a:headEnd len="med" w="med" type="none"/>
            <a:tailEnd len="med" w="med" type="none"/>
          </a:ln>
        </p:spPr>
      </p:cxnSp>
      <p:cxnSp>
        <p:nvCxnSpPr>
          <p:cNvPr id="7175" name="Google Shape;7175;p308"/>
          <p:cNvCxnSpPr>
            <a:stCxn id="7171" idx="0"/>
            <a:endCxn id="7169" idx="4"/>
          </p:cNvCxnSpPr>
          <p:nvPr/>
        </p:nvCxnSpPr>
        <p:spPr>
          <a:xfrm rot="10800000">
            <a:off x="470250" y="1855304"/>
            <a:ext cx="0" cy="309600"/>
          </a:xfrm>
          <a:prstGeom prst="straightConnector1">
            <a:avLst/>
          </a:prstGeom>
          <a:noFill/>
          <a:ln cap="flat" cmpd="sng" w="19050">
            <a:solidFill>
              <a:srgbClr val="999999"/>
            </a:solidFill>
            <a:prstDash val="solid"/>
            <a:round/>
            <a:headEnd len="med" w="med" type="none"/>
            <a:tailEnd len="med" w="med" type="none"/>
          </a:ln>
        </p:spPr>
      </p:cxnSp>
      <p:cxnSp>
        <p:nvCxnSpPr>
          <p:cNvPr id="7176" name="Google Shape;7176;p308"/>
          <p:cNvCxnSpPr>
            <a:stCxn id="7172" idx="2"/>
            <a:endCxn id="7171" idx="5"/>
          </p:cNvCxnSpPr>
          <p:nvPr/>
        </p:nvCxnSpPr>
        <p:spPr>
          <a:xfrm rot="10800000">
            <a:off x="582395" y="2428988"/>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177" name="Google Shape;7177;p308"/>
          <p:cNvCxnSpPr>
            <a:stCxn id="7170" idx="2"/>
            <a:endCxn id="7171" idx="6"/>
          </p:cNvCxnSpPr>
          <p:nvPr/>
        </p:nvCxnSpPr>
        <p:spPr>
          <a:xfrm flipH="1">
            <a:off x="628895" y="2010169"/>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178" name="Google Shape;7178;p308"/>
          <p:cNvCxnSpPr>
            <a:stCxn id="7172" idx="2"/>
            <a:endCxn id="7169" idx="4"/>
          </p:cNvCxnSpPr>
          <p:nvPr/>
        </p:nvCxnSpPr>
        <p:spPr>
          <a:xfrm rot="10800000">
            <a:off x="470195" y="1855388"/>
            <a:ext cx="443100" cy="734100"/>
          </a:xfrm>
          <a:prstGeom prst="straightConnector1">
            <a:avLst/>
          </a:prstGeom>
          <a:noFill/>
          <a:ln cap="flat" cmpd="sng" w="19050">
            <a:solidFill>
              <a:srgbClr val="666666"/>
            </a:solidFill>
            <a:prstDash val="solid"/>
            <a:round/>
            <a:headEnd len="med" w="med" type="none"/>
            <a:tailEnd len="med" w="med" type="none"/>
          </a:ln>
        </p:spPr>
      </p:cxnSp>
      <p:cxnSp>
        <p:nvCxnSpPr>
          <p:cNvPr id="7179" name="Google Shape;7179;p308"/>
          <p:cNvCxnSpPr>
            <a:stCxn id="7168" idx="2"/>
            <a:endCxn id="7170" idx="7"/>
          </p:cNvCxnSpPr>
          <p:nvPr/>
        </p:nvCxnSpPr>
        <p:spPr>
          <a:xfrm flipH="1">
            <a:off x="1184085" y="1700783"/>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180" name="Google Shape;7180;p308"/>
          <p:cNvCxnSpPr>
            <a:stCxn id="7168" idx="2"/>
            <a:endCxn id="7169" idx="6"/>
          </p:cNvCxnSpPr>
          <p:nvPr/>
        </p:nvCxnSpPr>
        <p:spPr>
          <a:xfrm rot="10800000">
            <a:off x="628785" y="1700783"/>
            <a:ext cx="816600" cy="0"/>
          </a:xfrm>
          <a:prstGeom prst="straightConnector1">
            <a:avLst/>
          </a:prstGeom>
          <a:noFill/>
          <a:ln cap="flat" cmpd="sng" w="19050">
            <a:solidFill>
              <a:srgbClr val="666666"/>
            </a:solidFill>
            <a:prstDash val="solid"/>
            <a:round/>
            <a:headEnd len="med" w="med" type="none"/>
            <a:tailEnd len="med" w="med" type="none"/>
          </a:ln>
        </p:spPr>
      </p:cxnSp>
      <p:cxnSp>
        <p:nvCxnSpPr>
          <p:cNvPr id="7181" name="Google Shape;7181;p308"/>
          <p:cNvCxnSpPr>
            <a:stCxn id="7168" idx="0"/>
            <a:endCxn id="7167" idx="5"/>
          </p:cNvCxnSpPr>
          <p:nvPr/>
        </p:nvCxnSpPr>
        <p:spPr>
          <a:xfrm rot="10800000">
            <a:off x="1183935" y="1411133"/>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182" name="Google Shape;7182;p308"/>
          <p:cNvCxnSpPr>
            <a:stCxn id="7173" idx="7"/>
            <a:endCxn id="7168" idx="4"/>
          </p:cNvCxnSpPr>
          <p:nvPr/>
        </p:nvCxnSpPr>
        <p:spPr>
          <a:xfrm rot="10800000">
            <a:off x="1603876" y="1855441"/>
            <a:ext cx="112800" cy="356400"/>
          </a:xfrm>
          <a:prstGeom prst="straightConnector1">
            <a:avLst/>
          </a:prstGeom>
          <a:noFill/>
          <a:ln cap="flat" cmpd="sng" w="19050">
            <a:solidFill>
              <a:srgbClr val="666666"/>
            </a:solidFill>
            <a:prstDash val="solid"/>
            <a:round/>
            <a:headEnd len="med" w="med" type="none"/>
            <a:tailEnd len="med" w="med" type="none"/>
          </a:ln>
        </p:spPr>
      </p:cxnSp>
      <p:cxnSp>
        <p:nvCxnSpPr>
          <p:cNvPr id="7183" name="Google Shape;7183;p308"/>
          <p:cNvCxnSpPr>
            <a:stCxn id="7173" idx="2"/>
            <a:endCxn id="7170" idx="6"/>
          </p:cNvCxnSpPr>
          <p:nvPr/>
        </p:nvCxnSpPr>
        <p:spPr>
          <a:xfrm rot="10800000">
            <a:off x="1230358" y="2010311"/>
            <a:ext cx="215400" cy="312900"/>
          </a:xfrm>
          <a:prstGeom prst="straightConnector1">
            <a:avLst/>
          </a:prstGeom>
          <a:noFill/>
          <a:ln cap="flat" cmpd="sng" w="19050">
            <a:solidFill>
              <a:srgbClr val="666666"/>
            </a:solidFill>
            <a:prstDash val="solid"/>
            <a:round/>
            <a:headEnd len="med" w="med" type="none"/>
            <a:tailEnd len="med" w="med" type="none"/>
          </a:ln>
        </p:spPr>
      </p:cxnSp>
      <p:cxnSp>
        <p:nvCxnSpPr>
          <p:cNvPr id="7184" name="Google Shape;7184;p308"/>
          <p:cNvCxnSpPr>
            <a:stCxn id="7172" idx="0"/>
            <a:endCxn id="7170" idx="4"/>
          </p:cNvCxnSpPr>
          <p:nvPr/>
        </p:nvCxnSpPr>
        <p:spPr>
          <a:xfrm rot="10800000">
            <a:off x="1071845" y="2164838"/>
            <a:ext cx="0" cy="270000"/>
          </a:xfrm>
          <a:prstGeom prst="straightConnector1">
            <a:avLst/>
          </a:prstGeom>
          <a:noFill/>
          <a:ln cap="flat" cmpd="sng" w="19050">
            <a:solidFill>
              <a:srgbClr val="666666"/>
            </a:solidFill>
            <a:prstDash val="solid"/>
            <a:round/>
            <a:headEnd len="med" w="med" type="none"/>
            <a:tailEnd len="med" w="med" type="none"/>
          </a:ln>
        </p:spPr>
      </p:cxnSp>
      <p:cxnSp>
        <p:nvCxnSpPr>
          <p:cNvPr id="7185" name="Google Shape;7185;p308"/>
          <p:cNvCxnSpPr>
            <a:stCxn id="7172" idx="6"/>
            <a:endCxn id="7173" idx="3"/>
          </p:cNvCxnSpPr>
          <p:nvPr/>
        </p:nvCxnSpPr>
        <p:spPr>
          <a:xfrm flipH="1" rot="10800000">
            <a:off x="1230395" y="2434688"/>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186" name="Google Shape;7186;p308"/>
          <p:cNvCxnSpPr>
            <a:stCxn id="7171" idx="6"/>
            <a:endCxn id="7173" idx="2"/>
          </p:cNvCxnSpPr>
          <p:nvPr/>
        </p:nvCxnSpPr>
        <p:spPr>
          <a:xfrm>
            <a:off x="628800" y="2319554"/>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187" name="Google Shape;7187;p308"/>
          <p:cNvCxnSpPr>
            <a:stCxn id="7171" idx="6"/>
            <a:endCxn id="7167" idx="4"/>
          </p:cNvCxnSpPr>
          <p:nvPr/>
        </p:nvCxnSpPr>
        <p:spPr>
          <a:xfrm flipH="1" rot="10800000">
            <a:off x="628800" y="1456454"/>
            <a:ext cx="443100" cy="863100"/>
          </a:xfrm>
          <a:prstGeom prst="straightConnector1">
            <a:avLst/>
          </a:prstGeom>
          <a:noFill/>
          <a:ln cap="flat" cmpd="sng" w="19050">
            <a:solidFill>
              <a:srgbClr val="666666"/>
            </a:solidFill>
            <a:prstDash val="solid"/>
            <a:round/>
            <a:headEnd len="med" w="med" type="none"/>
            <a:tailEnd len="med" w="med" type="none"/>
          </a:ln>
        </p:spPr>
      </p:cxnSp>
      <p:cxnSp>
        <p:nvCxnSpPr>
          <p:cNvPr id="7188" name="Google Shape;7188;p308"/>
          <p:cNvCxnSpPr>
            <a:stCxn id="7170" idx="0"/>
            <a:endCxn id="7167" idx="4"/>
          </p:cNvCxnSpPr>
          <p:nvPr/>
        </p:nvCxnSpPr>
        <p:spPr>
          <a:xfrm rot="10800000">
            <a:off x="1071845" y="1456519"/>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189" name="Google Shape;7189;p308"/>
          <p:cNvCxnSpPr>
            <a:stCxn id="7167" idx="4"/>
            <a:endCxn id="7173" idx="1"/>
          </p:cNvCxnSpPr>
          <p:nvPr/>
        </p:nvCxnSpPr>
        <p:spPr>
          <a:xfrm>
            <a:off x="1071845" y="1456525"/>
            <a:ext cx="420300" cy="755400"/>
          </a:xfrm>
          <a:prstGeom prst="straightConnector1">
            <a:avLst/>
          </a:prstGeom>
          <a:noFill/>
          <a:ln cap="flat" cmpd="sng" w="19050">
            <a:solidFill>
              <a:srgbClr val="666666"/>
            </a:solidFill>
            <a:prstDash val="solid"/>
            <a:round/>
            <a:headEnd len="med" w="med" type="none"/>
            <a:tailEnd len="med" w="med" type="none"/>
          </a:ln>
        </p:spPr>
      </p:cxnSp>
      <p:cxnSp>
        <p:nvCxnSpPr>
          <p:cNvPr id="7190" name="Google Shape;7190;p308"/>
          <p:cNvCxnSpPr>
            <a:stCxn id="7172" idx="6"/>
            <a:endCxn id="7168" idx="3"/>
          </p:cNvCxnSpPr>
          <p:nvPr/>
        </p:nvCxnSpPr>
        <p:spPr>
          <a:xfrm flipH="1" rot="10800000">
            <a:off x="1230395" y="1810088"/>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191" name="Google Shape;7191;p308"/>
          <p:cNvCxnSpPr>
            <a:stCxn id="7170" idx="1"/>
            <a:endCxn id="7169" idx="6"/>
          </p:cNvCxnSpPr>
          <p:nvPr/>
        </p:nvCxnSpPr>
        <p:spPr>
          <a:xfrm rot="10800000">
            <a:off x="628834" y="1700715"/>
            <a:ext cx="330900" cy="200100"/>
          </a:xfrm>
          <a:prstGeom prst="straightConnector1">
            <a:avLst/>
          </a:prstGeom>
          <a:noFill/>
          <a:ln cap="flat" cmpd="sng" w="19050">
            <a:solidFill>
              <a:srgbClr val="666666"/>
            </a:solidFill>
            <a:prstDash val="solid"/>
            <a:round/>
            <a:headEnd len="med" w="med" type="none"/>
            <a:tailEnd len="med" w="med" type="none"/>
          </a:ln>
        </p:spPr>
      </p:cxnSp>
      <p:sp>
        <p:nvSpPr>
          <p:cNvPr id="7192" name="Google Shape;7192;p308"/>
          <p:cNvSpPr/>
          <p:nvPr/>
        </p:nvSpPr>
        <p:spPr>
          <a:xfrm>
            <a:off x="1128323" y="311777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17</a:t>
            </a:r>
            <a:endParaRPr/>
          </a:p>
        </p:txBody>
      </p:sp>
      <p:sp>
        <p:nvSpPr>
          <p:cNvPr id="7193" name="Google Shape;7193;p308"/>
          <p:cNvSpPr/>
          <p:nvPr/>
        </p:nvSpPr>
        <p:spPr>
          <a:xfrm>
            <a:off x="1660413"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19</a:t>
            </a:r>
            <a:endParaRPr/>
          </a:p>
        </p:txBody>
      </p:sp>
      <p:sp>
        <p:nvSpPr>
          <p:cNvPr id="7194" name="Google Shape;7194;p308"/>
          <p:cNvSpPr/>
          <p:nvPr/>
        </p:nvSpPr>
        <p:spPr>
          <a:xfrm>
            <a:off x="596234"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18</a:t>
            </a:r>
            <a:endParaRPr/>
          </a:p>
        </p:txBody>
      </p:sp>
      <p:sp>
        <p:nvSpPr>
          <p:cNvPr id="7195" name="Google Shape;7195;p308"/>
          <p:cNvSpPr/>
          <p:nvPr/>
        </p:nvSpPr>
        <p:spPr>
          <a:xfrm>
            <a:off x="1128323" y="382607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20</a:t>
            </a:r>
            <a:endParaRPr/>
          </a:p>
        </p:txBody>
      </p:sp>
      <p:sp>
        <p:nvSpPr>
          <p:cNvPr id="7196" name="Google Shape;7196;p308"/>
          <p:cNvSpPr/>
          <p:nvPr/>
        </p:nvSpPr>
        <p:spPr>
          <a:xfrm>
            <a:off x="526728" y="413545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21</a:t>
            </a:r>
            <a:endParaRPr/>
          </a:p>
        </p:txBody>
      </p:sp>
      <p:sp>
        <p:nvSpPr>
          <p:cNvPr id="7197" name="Google Shape;7197;p308"/>
          <p:cNvSpPr/>
          <p:nvPr/>
        </p:nvSpPr>
        <p:spPr>
          <a:xfrm>
            <a:off x="1128323" y="440539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23</a:t>
            </a:r>
            <a:endParaRPr/>
          </a:p>
        </p:txBody>
      </p:sp>
      <p:sp>
        <p:nvSpPr>
          <p:cNvPr id="7198" name="Google Shape;7198;p308"/>
          <p:cNvSpPr/>
          <p:nvPr/>
        </p:nvSpPr>
        <p:spPr>
          <a:xfrm>
            <a:off x="1660786" y="4136262"/>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22</a:t>
            </a:r>
            <a:endParaRPr/>
          </a:p>
        </p:txBody>
      </p:sp>
      <p:cxnSp>
        <p:nvCxnSpPr>
          <p:cNvPr id="7199" name="Google Shape;7199;p308"/>
          <p:cNvCxnSpPr>
            <a:stCxn id="7192" idx="3"/>
            <a:endCxn id="7194" idx="7"/>
          </p:cNvCxnSpPr>
          <p:nvPr/>
        </p:nvCxnSpPr>
        <p:spPr>
          <a:xfrm flipH="1">
            <a:off x="866962" y="3381780"/>
            <a:ext cx="307800" cy="180300"/>
          </a:xfrm>
          <a:prstGeom prst="straightConnector1">
            <a:avLst/>
          </a:prstGeom>
          <a:noFill/>
          <a:ln cap="flat" cmpd="sng" w="19050">
            <a:solidFill>
              <a:srgbClr val="666666"/>
            </a:solidFill>
            <a:prstDash val="solid"/>
            <a:round/>
            <a:headEnd len="med" w="med" type="none"/>
            <a:tailEnd len="med" w="med" type="none"/>
          </a:ln>
        </p:spPr>
      </p:cxnSp>
      <p:cxnSp>
        <p:nvCxnSpPr>
          <p:cNvPr id="7200" name="Google Shape;7200;p308"/>
          <p:cNvCxnSpPr>
            <a:stCxn id="7197" idx="2"/>
            <a:endCxn id="7196" idx="5"/>
          </p:cNvCxnSpPr>
          <p:nvPr/>
        </p:nvCxnSpPr>
        <p:spPr>
          <a:xfrm rot="10800000">
            <a:off x="797423" y="4399540"/>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201" name="Google Shape;7201;p308"/>
          <p:cNvCxnSpPr>
            <a:stCxn id="7195" idx="2"/>
            <a:endCxn id="7196" idx="6"/>
          </p:cNvCxnSpPr>
          <p:nvPr/>
        </p:nvCxnSpPr>
        <p:spPr>
          <a:xfrm flipH="1">
            <a:off x="843923" y="3980720"/>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202" name="Google Shape;7202;p308"/>
          <p:cNvCxnSpPr>
            <a:stCxn id="7196" idx="0"/>
            <a:endCxn id="7194" idx="4"/>
          </p:cNvCxnSpPr>
          <p:nvPr/>
        </p:nvCxnSpPr>
        <p:spPr>
          <a:xfrm flipH="1" rot="10800000">
            <a:off x="685278" y="3825856"/>
            <a:ext cx="69600" cy="309600"/>
          </a:xfrm>
          <a:prstGeom prst="straightConnector1">
            <a:avLst/>
          </a:prstGeom>
          <a:noFill/>
          <a:ln cap="flat" cmpd="sng" w="19050">
            <a:solidFill>
              <a:srgbClr val="666666"/>
            </a:solidFill>
            <a:prstDash val="solid"/>
            <a:round/>
            <a:headEnd len="med" w="med" type="none"/>
            <a:tailEnd len="med" w="med" type="none"/>
          </a:ln>
        </p:spPr>
      </p:cxnSp>
      <p:cxnSp>
        <p:nvCxnSpPr>
          <p:cNvPr id="7203" name="Google Shape;7203;p308"/>
          <p:cNvCxnSpPr>
            <a:stCxn id="7193" idx="2"/>
            <a:endCxn id="7195" idx="7"/>
          </p:cNvCxnSpPr>
          <p:nvPr/>
        </p:nvCxnSpPr>
        <p:spPr>
          <a:xfrm flipH="1">
            <a:off x="1399113" y="3671335"/>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204" name="Google Shape;7204;p308"/>
          <p:cNvCxnSpPr>
            <a:stCxn id="7193" idx="0"/>
            <a:endCxn id="7192" idx="5"/>
          </p:cNvCxnSpPr>
          <p:nvPr/>
        </p:nvCxnSpPr>
        <p:spPr>
          <a:xfrm rot="10800000">
            <a:off x="1398963" y="3381685"/>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205" name="Google Shape;7205;p308"/>
          <p:cNvCxnSpPr>
            <a:stCxn id="7198" idx="0"/>
            <a:endCxn id="7193" idx="4"/>
          </p:cNvCxnSpPr>
          <p:nvPr/>
        </p:nvCxnSpPr>
        <p:spPr>
          <a:xfrm rot="10800000">
            <a:off x="1818886" y="3826062"/>
            <a:ext cx="600" cy="310200"/>
          </a:xfrm>
          <a:prstGeom prst="straightConnector1">
            <a:avLst/>
          </a:prstGeom>
          <a:noFill/>
          <a:ln cap="flat" cmpd="sng" w="19050">
            <a:solidFill>
              <a:srgbClr val="666666"/>
            </a:solidFill>
            <a:prstDash val="solid"/>
            <a:round/>
            <a:headEnd len="med" w="med" type="none"/>
            <a:tailEnd len="med" w="med" type="none"/>
          </a:ln>
        </p:spPr>
      </p:cxnSp>
      <p:cxnSp>
        <p:nvCxnSpPr>
          <p:cNvPr id="7206" name="Google Shape;7206;p308"/>
          <p:cNvCxnSpPr>
            <a:stCxn id="7197" idx="6"/>
            <a:endCxn id="7198" idx="3"/>
          </p:cNvCxnSpPr>
          <p:nvPr/>
        </p:nvCxnSpPr>
        <p:spPr>
          <a:xfrm flipH="1" rot="10800000">
            <a:off x="1445423" y="4405240"/>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207" name="Google Shape;7207;p308"/>
          <p:cNvCxnSpPr>
            <a:stCxn id="7196" idx="6"/>
            <a:endCxn id="7198" idx="2"/>
          </p:cNvCxnSpPr>
          <p:nvPr/>
        </p:nvCxnSpPr>
        <p:spPr>
          <a:xfrm>
            <a:off x="843828" y="4290106"/>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208" name="Google Shape;7208;p308"/>
          <p:cNvCxnSpPr>
            <a:stCxn id="7195" idx="0"/>
            <a:endCxn id="7192" idx="4"/>
          </p:cNvCxnSpPr>
          <p:nvPr/>
        </p:nvCxnSpPr>
        <p:spPr>
          <a:xfrm rot="10800000">
            <a:off x="1286873" y="3427070"/>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209" name="Google Shape;7209;p308"/>
          <p:cNvCxnSpPr>
            <a:stCxn id="7197" idx="6"/>
            <a:endCxn id="7193" idx="3"/>
          </p:cNvCxnSpPr>
          <p:nvPr/>
        </p:nvCxnSpPr>
        <p:spPr>
          <a:xfrm flipH="1" rot="10800000">
            <a:off x="1445423" y="3780640"/>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210" name="Google Shape;7210;p308"/>
          <p:cNvCxnSpPr>
            <a:stCxn id="7195" idx="1"/>
            <a:endCxn id="7194" idx="6"/>
          </p:cNvCxnSpPr>
          <p:nvPr/>
        </p:nvCxnSpPr>
        <p:spPr>
          <a:xfrm rot="10800000">
            <a:off x="913462" y="3671266"/>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211" name="Google Shape;7211;p308"/>
          <p:cNvCxnSpPr>
            <a:stCxn id="7196" idx="1"/>
            <a:endCxn id="7171" idx="4"/>
          </p:cNvCxnSpPr>
          <p:nvPr/>
        </p:nvCxnSpPr>
        <p:spPr>
          <a:xfrm rot="10800000">
            <a:off x="470266" y="2474352"/>
            <a:ext cx="102900" cy="1706400"/>
          </a:xfrm>
          <a:prstGeom prst="straightConnector1">
            <a:avLst/>
          </a:prstGeom>
          <a:noFill/>
          <a:ln cap="flat" cmpd="sng" w="19050">
            <a:solidFill>
              <a:srgbClr val="666666"/>
            </a:solidFill>
            <a:prstDash val="solid"/>
            <a:round/>
            <a:headEnd len="med" w="med" type="none"/>
            <a:tailEnd len="med" w="med" type="none"/>
          </a:ln>
        </p:spPr>
      </p:cxnSp>
      <p:cxnSp>
        <p:nvCxnSpPr>
          <p:cNvPr id="7212" name="Google Shape;7212;p308"/>
          <p:cNvCxnSpPr>
            <a:stCxn id="7193" idx="0"/>
            <a:endCxn id="7173" idx="4"/>
          </p:cNvCxnSpPr>
          <p:nvPr/>
        </p:nvCxnSpPr>
        <p:spPr>
          <a:xfrm rot="10800000">
            <a:off x="1604463" y="2480785"/>
            <a:ext cx="214500" cy="1035900"/>
          </a:xfrm>
          <a:prstGeom prst="straightConnector1">
            <a:avLst/>
          </a:prstGeom>
          <a:noFill/>
          <a:ln cap="flat" cmpd="sng" w="19050">
            <a:solidFill>
              <a:srgbClr val="666666"/>
            </a:solidFill>
            <a:prstDash val="solid"/>
            <a:round/>
            <a:headEnd len="med" w="med" type="none"/>
            <a:tailEnd len="med" w="med" type="none"/>
          </a:ln>
        </p:spPr>
      </p:cxnSp>
      <p:sp>
        <p:nvSpPr>
          <p:cNvPr id="7213" name="Google Shape;7213;p308"/>
          <p:cNvSpPr/>
          <p:nvPr/>
        </p:nvSpPr>
        <p:spPr>
          <a:xfrm>
            <a:off x="2195893" y="18556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214" name="Google Shape;7214;p308"/>
          <p:cNvSpPr/>
          <p:nvPr/>
        </p:nvSpPr>
        <p:spPr>
          <a:xfrm>
            <a:off x="2195893" y="27130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215" name="Google Shape;7215;p308"/>
          <p:cNvSpPr/>
          <p:nvPr/>
        </p:nvSpPr>
        <p:spPr>
          <a:xfrm>
            <a:off x="256379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216" name="Google Shape;7216;p308"/>
          <p:cNvSpPr/>
          <p:nvPr/>
        </p:nvSpPr>
        <p:spPr>
          <a:xfrm>
            <a:off x="2880801"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217" name="Google Shape;7217;p308"/>
          <p:cNvSpPr/>
          <p:nvPr/>
        </p:nvSpPr>
        <p:spPr>
          <a:xfrm>
            <a:off x="3749082" y="1679501"/>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218" name="Google Shape;7218;p308"/>
          <p:cNvSpPr/>
          <p:nvPr/>
        </p:nvSpPr>
        <p:spPr>
          <a:xfrm>
            <a:off x="327440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sp>
        <p:nvSpPr>
          <p:cNvPr id="7219" name="Google Shape;7219;p308"/>
          <p:cNvSpPr/>
          <p:nvPr/>
        </p:nvSpPr>
        <p:spPr>
          <a:xfrm>
            <a:off x="4341627" y="2211777"/>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sp>
        <p:nvSpPr>
          <p:cNvPr id="7220" name="Google Shape;7220;p308"/>
          <p:cNvSpPr/>
          <p:nvPr/>
        </p:nvSpPr>
        <p:spPr>
          <a:xfrm>
            <a:off x="3374610" y="291580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15</a:t>
            </a:r>
            <a:endParaRPr/>
          </a:p>
        </p:txBody>
      </p:sp>
      <p:sp>
        <p:nvSpPr>
          <p:cNvPr id="7221" name="Google Shape;7221;p308"/>
          <p:cNvSpPr/>
          <p:nvPr/>
        </p:nvSpPr>
        <p:spPr>
          <a:xfrm>
            <a:off x="4223529" y="307246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16</a:t>
            </a:r>
            <a:endParaRPr/>
          </a:p>
        </p:txBody>
      </p:sp>
      <p:cxnSp>
        <p:nvCxnSpPr>
          <p:cNvPr id="7222" name="Google Shape;7222;p308"/>
          <p:cNvCxnSpPr>
            <a:stCxn id="7173" idx="6"/>
            <a:endCxn id="7213" idx="3"/>
          </p:cNvCxnSpPr>
          <p:nvPr/>
        </p:nvCxnSpPr>
        <p:spPr>
          <a:xfrm flipH="1" rot="10800000">
            <a:off x="1763158" y="2119511"/>
            <a:ext cx="479100" cy="203700"/>
          </a:xfrm>
          <a:prstGeom prst="straightConnector1">
            <a:avLst/>
          </a:prstGeom>
          <a:noFill/>
          <a:ln cap="flat" cmpd="sng" w="19050">
            <a:solidFill>
              <a:srgbClr val="666666"/>
            </a:solidFill>
            <a:prstDash val="solid"/>
            <a:round/>
            <a:headEnd len="med" w="med" type="none"/>
            <a:tailEnd len="med" w="med" type="none"/>
          </a:ln>
        </p:spPr>
      </p:cxnSp>
      <p:cxnSp>
        <p:nvCxnSpPr>
          <p:cNvPr id="7223" name="Google Shape;7223;p308"/>
          <p:cNvCxnSpPr>
            <a:stCxn id="7214" idx="2"/>
            <a:endCxn id="7173" idx="6"/>
          </p:cNvCxnSpPr>
          <p:nvPr/>
        </p:nvCxnSpPr>
        <p:spPr>
          <a:xfrm rot="10800000">
            <a:off x="1763293" y="2323154"/>
            <a:ext cx="432600" cy="544500"/>
          </a:xfrm>
          <a:prstGeom prst="straightConnector1">
            <a:avLst/>
          </a:prstGeom>
          <a:noFill/>
          <a:ln cap="flat" cmpd="sng" w="19050">
            <a:solidFill>
              <a:srgbClr val="666666"/>
            </a:solidFill>
            <a:prstDash val="solid"/>
            <a:round/>
            <a:headEnd len="med" w="med" type="none"/>
            <a:tailEnd len="med" w="med" type="none"/>
          </a:ln>
        </p:spPr>
      </p:cxnSp>
      <p:cxnSp>
        <p:nvCxnSpPr>
          <p:cNvPr id="7224" name="Google Shape;7224;p308"/>
          <p:cNvCxnSpPr>
            <a:stCxn id="7215" idx="2"/>
            <a:endCxn id="7173" idx="6"/>
          </p:cNvCxnSpPr>
          <p:nvPr/>
        </p:nvCxnSpPr>
        <p:spPr>
          <a:xfrm rot="10800000">
            <a:off x="1763093" y="2323249"/>
            <a:ext cx="800700" cy="131400"/>
          </a:xfrm>
          <a:prstGeom prst="straightConnector1">
            <a:avLst/>
          </a:prstGeom>
          <a:noFill/>
          <a:ln cap="flat" cmpd="sng" w="19050">
            <a:solidFill>
              <a:srgbClr val="666666"/>
            </a:solidFill>
            <a:prstDash val="solid"/>
            <a:round/>
            <a:headEnd len="med" w="med" type="none"/>
            <a:tailEnd len="med" w="med" type="none"/>
          </a:ln>
        </p:spPr>
      </p:cxnSp>
      <p:cxnSp>
        <p:nvCxnSpPr>
          <p:cNvPr id="7225" name="Google Shape;7225;p308"/>
          <p:cNvCxnSpPr>
            <a:stCxn id="7214" idx="0"/>
            <a:endCxn id="7213" idx="4"/>
          </p:cNvCxnSpPr>
          <p:nvPr/>
        </p:nvCxnSpPr>
        <p:spPr>
          <a:xfrm rot="10800000">
            <a:off x="2354443" y="2164904"/>
            <a:ext cx="0" cy="548100"/>
          </a:xfrm>
          <a:prstGeom prst="straightConnector1">
            <a:avLst/>
          </a:prstGeom>
          <a:noFill/>
          <a:ln cap="flat" cmpd="sng" w="19050">
            <a:solidFill>
              <a:srgbClr val="666666"/>
            </a:solidFill>
            <a:prstDash val="solid"/>
            <a:round/>
            <a:headEnd len="med" w="med" type="none"/>
            <a:tailEnd len="med" w="med" type="none"/>
          </a:ln>
        </p:spPr>
      </p:cxnSp>
      <p:cxnSp>
        <p:nvCxnSpPr>
          <p:cNvPr id="7226" name="Google Shape;7226;p308"/>
          <p:cNvCxnSpPr>
            <a:stCxn id="7215" idx="0"/>
            <a:endCxn id="7213" idx="5"/>
          </p:cNvCxnSpPr>
          <p:nvPr/>
        </p:nvCxnSpPr>
        <p:spPr>
          <a:xfrm rot="10800000">
            <a:off x="2466443" y="2119699"/>
            <a:ext cx="255900" cy="180300"/>
          </a:xfrm>
          <a:prstGeom prst="straightConnector1">
            <a:avLst/>
          </a:prstGeom>
          <a:noFill/>
          <a:ln cap="flat" cmpd="sng" w="19050">
            <a:solidFill>
              <a:srgbClr val="666666"/>
            </a:solidFill>
            <a:prstDash val="solid"/>
            <a:round/>
            <a:headEnd len="med" w="med" type="none"/>
            <a:tailEnd len="med" w="med" type="none"/>
          </a:ln>
        </p:spPr>
      </p:cxnSp>
      <p:cxnSp>
        <p:nvCxnSpPr>
          <p:cNvPr id="7227" name="Google Shape;7227;p308"/>
          <p:cNvCxnSpPr>
            <a:stCxn id="7214" idx="6"/>
            <a:endCxn id="7215" idx="4"/>
          </p:cNvCxnSpPr>
          <p:nvPr/>
        </p:nvCxnSpPr>
        <p:spPr>
          <a:xfrm flipH="1" rot="10800000">
            <a:off x="2512993" y="2609354"/>
            <a:ext cx="209400" cy="258300"/>
          </a:xfrm>
          <a:prstGeom prst="straightConnector1">
            <a:avLst/>
          </a:prstGeom>
          <a:noFill/>
          <a:ln cap="flat" cmpd="sng" w="19050">
            <a:solidFill>
              <a:srgbClr val="666666"/>
            </a:solidFill>
            <a:prstDash val="solid"/>
            <a:round/>
            <a:headEnd len="med" w="med" type="none"/>
            <a:tailEnd len="med" w="med" type="none"/>
          </a:ln>
        </p:spPr>
      </p:cxnSp>
      <p:cxnSp>
        <p:nvCxnSpPr>
          <p:cNvPr id="7228" name="Google Shape;7228;p308"/>
          <p:cNvCxnSpPr>
            <a:stCxn id="7213" idx="6"/>
            <a:endCxn id="7216" idx="2"/>
          </p:cNvCxnSpPr>
          <p:nvPr/>
        </p:nvCxnSpPr>
        <p:spPr>
          <a:xfrm flipH="1" rot="10800000">
            <a:off x="2512993" y="1700675"/>
            <a:ext cx="367800" cy="309600"/>
          </a:xfrm>
          <a:prstGeom prst="straightConnector1">
            <a:avLst/>
          </a:prstGeom>
          <a:noFill/>
          <a:ln cap="flat" cmpd="sng" w="19050">
            <a:solidFill>
              <a:srgbClr val="666666"/>
            </a:solidFill>
            <a:prstDash val="solid"/>
            <a:round/>
            <a:headEnd len="med" w="med" type="none"/>
            <a:tailEnd len="med" w="med" type="none"/>
          </a:ln>
        </p:spPr>
      </p:cxnSp>
      <p:cxnSp>
        <p:nvCxnSpPr>
          <p:cNvPr id="7229" name="Google Shape;7229;p308"/>
          <p:cNvCxnSpPr>
            <a:stCxn id="7217" idx="2"/>
            <a:endCxn id="7216" idx="6"/>
          </p:cNvCxnSpPr>
          <p:nvPr/>
        </p:nvCxnSpPr>
        <p:spPr>
          <a:xfrm rot="10800000">
            <a:off x="3197982" y="1700651"/>
            <a:ext cx="551100" cy="133500"/>
          </a:xfrm>
          <a:prstGeom prst="straightConnector1">
            <a:avLst/>
          </a:prstGeom>
          <a:noFill/>
          <a:ln cap="flat" cmpd="sng" w="19050">
            <a:solidFill>
              <a:srgbClr val="666666"/>
            </a:solidFill>
            <a:prstDash val="solid"/>
            <a:round/>
            <a:headEnd len="med" w="med" type="none"/>
            <a:tailEnd len="med" w="med" type="none"/>
          </a:ln>
        </p:spPr>
      </p:cxnSp>
      <p:cxnSp>
        <p:nvCxnSpPr>
          <p:cNvPr id="7230" name="Google Shape;7230;p308"/>
          <p:cNvCxnSpPr>
            <a:stCxn id="7219" idx="1"/>
            <a:endCxn id="7217" idx="5"/>
          </p:cNvCxnSpPr>
          <p:nvPr/>
        </p:nvCxnSpPr>
        <p:spPr>
          <a:xfrm rot="10800000">
            <a:off x="4019665" y="1943573"/>
            <a:ext cx="368400" cy="313500"/>
          </a:xfrm>
          <a:prstGeom prst="straightConnector1">
            <a:avLst/>
          </a:prstGeom>
          <a:noFill/>
          <a:ln cap="flat" cmpd="sng" w="19050">
            <a:solidFill>
              <a:srgbClr val="666666"/>
            </a:solidFill>
            <a:prstDash val="solid"/>
            <a:round/>
            <a:headEnd len="med" w="med" type="none"/>
            <a:tailEnd len="med" w="med" type="none"/>
          </a:ln>
        </p:spPr>
      </p:cxnSp>
      <p:cxnSp>
        <p:nvCxnSpPr>
          <p:cNvPr id="7231" name="Google Shape;7231;p308"/>
          <p:cNvCxnSpPr>
            <a:stCxn id="7218" idx="7"/>
            <a:endCxn id="7217" idx="4"/>
          </p:cNvCxnSpPr>
          <p:nvPr/>
        </p:nvCxnSpPr>
        <p:spPr>
          <a:xfrm flipH="1" rot="10800000">
            <a:off x="3545065" y="1988895"/>
            <a:ext cx="362700" cy="356400"/>
          </a:xfrm>
          <a:prstGeom prst="straightConnector1">
            <a:avLst/>
          </a:prstGeom>
          <a:noFill/>
          <a:ln cap="flat" cmpd="sng" w="19050">
            <a:solidFill>
              <a:srgbClr val="666666"/>
            </a:solidFill>
            <a:prstDash val="solid"/>
            <a:round/>
            <a:headEnd len="med" w="med" type="none"/>
            <a:tailEnd len="med" w="med" type="none"/>
          </a:ln>
        </p:spPr>
      </p:cxnSp>
      <p:cxnSp>
        <p:nvCxnSpPr>
          <p:cNvPr id="7232" name="Google Shape;7232;p308"/>
          <p:cNvCxnSpPr>
            <a:stCxn id="7221" idx="1"/>
            <a:endCxn id="7218" idx="5"/>
          </p:cNvCxnSpPr>
          <p:nvPr/>
        </p:nvCxnSpPr>
        <p:spPr>
          <a:xfrm rot="10800000">
            <a:off x="3545168" y="2563956"/>
            <a:ext cx="724800" cy="553800"/>
          </a:xfrm>
          <a:prstGeom prst="straightConnector1">
            <a:avLst/>
          </a:prstGeom>
          <a:noFill/>
          <a:ln cap="flat" cmpd="sng" w="19050">
            <a:solidFill>
              <a:srgbClr val="666666"/>
            </a:solidFill>
            <a:prstDash val="solid"/>
            <a:round/>
            <a:headEnd len="med" w="med" type="none"/>
            <a:tailEnd len="med" w="med" type="none"/>
          </a:ln>
        </p:spPr>
      </p:cxnSp>
      <p:cxnSp>
        <p:nvCxnSpPr>
          <p:cNvPr id="7233" name="Google Shape;7233;p308"/>
          <p:cNvCxnSpPr>
            <a:stCxn id="7221" idx="2"/>
            <a:endCxn id="7220" idx="5"/>
          </p:cNvCxnSpPr>
          <p:nvPr/>
        </p:nvCxnSpPr>
        <p:spPr>
          <a:xfrm rot="10800000">
            <a:off x="3645129" y="3179710"/>
            <a:ext cx="578400" cy="47400"/>
          </a:xfrm>
          <a:prstGeom prst="straightConnector1">
            <a:avLst/>
          </a:prstGeom>
          <a:noFill/>
          <a:ln cap="flat" cmpd="sng" w="19050">
            <a:solidFill>
              <a:srgbClr val="666666"/>
            </a:solidFill>
            <a:prstDash val="solid"/>
            <a:round/>
            <a:headEnd len="med" w="med" type="none"/>
            <a:tailEnd len="med" w="med" type="none"/>
          </a:ln>
        </p:spPr>
      </p:cxnSp>
      <p:cxnSp>
        <p:nvCxnSpPr>
          <p:cNvPr id="7234" name="Google Shape;7234;p308"/>
          <p:cNvCxnSpPr>
            <a:stCxn id="7220" idx="2"/>
            <a:endCxn id="7214" idx="6"/>
          </p:cNvCxnSpPr>
          <p:nvPr/>
        </p:nvCxnSpPr>
        <p:spPr>
          <a:xfrm rot="10800000">
            <a:off x="2513010" y="2867656"/>
            <a:ext cx="861600" cy="202800"/>
          </a:xfrm>
          <a:prstGeom prst="straightConnector1">
            <a:avLst/>
          </a:prstGeom>
          <a:noFill/>
          <a:ln cap="flat" cmpd="sng" w="19050">
            <a:solidFill>
              <a:srgbClr val="666666"/>
            </a:solidFill>
            <a:prstDash val="solid"/>
            <a:round/>
            <a:headEnd len="med" w="med" type="none"/>
            <a:tailEnd len="med" w="med" type="none"/>
          </a:ln>
        </p:spPr>
      </p:cxnSp>
      <p:cxnSp>
        <p:nvCxnSpPr>
          <p:cNvPr id="7235" name="Google Shape;7235;p308"/>
          <p:cNvCxnSpPr>
            <a:stCxn id="7221" idx="0"/>
            <a:endCxn id="7219" idx="4"/>
          </p:cNvCxnSpPr>
          <p:nvPr/>
        </p:nvCxnSpPr>
        <p:spPr>
          <a:xfrm flipH="1" rot="10800000">
            <a:off x="4382079" y="2521060"/>
            <a:ext cx="118200" cy="551400"/>
          </a:xfrm>
          <a:prstGeom prst="straightConnector1">
            <a:avLst/>
          </a:prstGeom>
          <a:noFill/>
          <a:ln cap="flat" cmpd="sng" w="19050">
            <a:solidFill>
              <a:srgbClr val="666666"/>
            </a:solidFill>
            <a:prstDash val="solid"/>
            <a:round/>
            <a:headEnd len="med" w="med" type="none"/>
            <a:tailEnd len="med" w="med" type="none"/>
          </a:ln>
        </p:spPr>
      </p:cxnSp>
      <p:cxnSp>
        <p:nvCxnSpPr>
          <p:cNvPr id="7236" name="Google Shape;7236;p308"/>
          <p:cNvCxnSpPr>
            <a:stCxn id="7218" idx="2"/>
            <a:endCxn id="7215" idx="6"/>
          </p:cNvCxnSpPr>
          <p:nvPr/>
        </p:nvCxnSpPr>
        <p:spPr>
          <a:xfrm rot="10800000">
            <a:off x="2880803" y="2454649"/>
            <a:ext cx="393600" cy="0"/>
          </a:xfrm>
          <a:prstGeom prst="straightConnector1">
            <a:avLst/>
          </a:prstGeom>
          <a:noFill/>
          <a:ln cap="flat" cmpd="sng" w="19050">
            <a:solidFill>
              <a:srgbClr val="666666"/>
            </a:solidFill>
            <a:prstDash val="solid"/>
            <a:round/>
            <a:headEnd len="med" w="med" type="none"/>
            <a:tailEnd len="med" w="med" type="none"/>
          </a:ln>
        </p:spPr>
      </p:cxnSp>
      <p:sp>
        <p:nvSpPr>
          <p:cNvPr id="7237" name="Google Shape;7237;p308"/>
          <p:cNvSpPr txBox="1"/>
          <p:nvPr>
            <p:ph type="title"/>
          </p:nvPr>
        </p:nvSpPr>
        <p:spPr>
          <a:xfrm>
            <a:off x="311700" y="315925"/>
            <a:ext cx="5405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238" name="Google Shape;7238;p308"/>
          <p:cNvSpPr txBox="1"/>
          <p:nvPr/>
        </p:nvSpPr>
        <p:spPr>
          <a:xfrm>
            <a:off x="2691175" y="3706850"/>
            <a:ext cx="2476200" cy="11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This graph is 1-connected! Can you tell which node we need to remove?</a:t>
            </a:r>
            <a:endParaRPr b="1">
              <a:solidFill>
                <a:srgbClr val="FF0000"/>
              </a:solidFill>
              <a:latin typeface="Open Sans"/>
              <a:ea typeface="Open Sans"/>
              <a:cs typeface="Open Sans"/>
              <a:sym typeface="Open Sans"/>
            </a:endParaRPr>
          </a:p>
        </p:txBody>
      </p:sp>
      <p:sp>
        <p:nvSpPr>
          <p:cNvPr id="7239" name="Google Shape;7239;p308"/>
          <p:cNvSpPr/>
          <p:nvPr/>
        </p:nvSpPr>
        <p:spPr>
          <a:xfrm>
            <a:off x="6584850" y="1958150"/>
            <a:ext cx="863100" cy="4179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G</a:t>
            </a:r>
            <a:endParaRPr b="1"/>
          </a:p>
        </p:txBody>
      </p:sp>
      <p:sp>
        <p:nvSpPr>
          <p:cNvPr id="7240" name="Google Shape;7240;p308"/>
          <p:cNvSpPr txBox="1"/>
          <p:nvPr>
            <p:ph idx="4294967295" type="body"/>
          </p:nvPr>
        </p:nvSpPr>
        <p:spPr>
          <a:xfrm>
            <a:off x="5342550" y="315925"/>
            <a:ext cx="3580800" cy="17655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F0000"/>
              </a:buClr>
              <a:buSzPts val="1400"/>
              <a:buAutoNum type="arabicPeriod"/>
            </a:pPr>
            <a:r>
              <a:rPr b="1" lang="en" sz="1400">
                <a:solidFill>
                  <a:srgbClr val="FF0000"/>
                </a:solidFill>
              </a:rPr>
              <a:t>Identify the k-connectivity of the input graph </a:t>
            </a:r>
            <a:r>
              <a:rPr b="1" lang="en" sz="1400">
                <a:solidFill>
                  <a:srgbClr val="FF0000"/>
                </a:solidFill>
              </a:rPr>
              <a:t>(G)</a:t>
            </a:r>
            <a:endParaRPr b="1" sz="1400">
              <a:solidFill>
                <a:srgbClr val="FF0000"/>
              </a:solidFill>
            </a:endParaRPr>
          </a:p>
          <a:p>
            <a:pPr indent="-317500" lvl="0" marL="457200" rtl="0" algn="l">
              <a:spcBef>
                <a:spcPts val="0"/>
              </a:spcBef>
              <a:spcAft>
                <a:spcPts val="0"/>
              </a:spcAft>
              <a:buClr>
                <a:srgbClr val="000000"/>
              </a:buClr>
              <a:buSzPts val="1400"/>
              <a:buAutoNum type="arabicPeriod"/>
            </a:pPr>
            <a:r>
              <a:rPr lang="en" sz="1400">
                <a:solidFill>
                  <a:srgbClr val="000000"/>
                </a:solidFill>
              </a:rPr>
              <a:t>Remove the k-cutset (vertices)</a:t>
            </a:r>
            <a:endParaRPr sz="1400">
              <a:solidFill>
                <a:srgbClr val="000000"/>
              </a:solidFill>
            </a:endParaRPr>
          </a:p>
          <a:p>
            <a:pPr indent="-317500" lvl="0" marL="457200" rtl="0" algn="l">
              <a:spcBef>
                <a:spcPts val="0"/>
              </a:spcBef>
              <a:spcAft>
                <a:spcPts val="0"/>
              </a:spcAft>
              <a:buSzPts val="1400"/>
              <a:buAutoNum type="arabicPeriod"/>
            </a:pPr>
            <a:r>
              <a:rPr lang="en" sz="1400"/>
              <a:t>Do the same on the resulting subgraphs until no more subdivisions can be obtained </a:t>
            </a:r>
            <a:endParaRPr sz="1400"/>
          </a:p>
          <a:p>
            <a:pPr indent="0" lvl="0" marL="914400" rtl="0" algn="l">
              <a:spcBef>
                <a:spcPts val="1600"/>
              </a:spcBef>
              <a:spcAft>
                <a:spcPts val="1600"/>
              </a:spcAft>
              <a:buNone/>
            </a:pPr>
            <a:r>
              <a:t/>
            </a:r>
            <a:endParaRPr sz="1400"/>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4" name="Shape 7244"/>
        <p:cNvGrpSpPr/>
        <p:nvPr/>
      </p:nvGrpSpPr>
      <p:grpSpPr>
        <a:xfrm>
          <a:off x="0" y="0"/>
          <a:ext cx="0" cy="0"/>
          <a:chOff x="0" y="0"/>
          <a:chExt cx="0" cy="0"/>
        </a:xfrm>
      </p:grpSpPr>
      <p:sp>
        <p:nvSpPr>
          <p:cNvPr id="7245" name="Google Shape;7245;p309"/>
          <p:cNvSpPr/>
          <p:nvPr/>
        </p:nvSpPr>
        <p:spPr>
          <a:xfrm>
            <a:off x="913295" y="11472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246" name="Google Shape;7246;p309"/>
          <p:cNvSpPr/>
          <p:nvPr/>
        </p:nvSpPr>
        <p:spPr>
          <a:xfrm>
            <a:off x="1445385"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247" name="Google Shape;7247;p309"/>
          <p:cNvSpPr/>
          <p:nvPr/>
        </p:nvSpPr>
        <p:spPr>
          <a:xfrm>
            <a:off x="311700"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248" name="Google Shape;7248;p309"/>
          <p:cNvSpPr/>
          <p:nvPr/>
        </p:nvSpPr>
        <p:spPr>
          <a:xfrm>
            <a:off x="913295" y="185551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249" name="Google Shape;7249;p309"/>
          <p:cNvSpPr/>
          <p:nvPr/>
        </p:nvSpPr>
        <p:spPr>
          <a:xfrm>
            <a:off x="311700" y="21649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7250" name="Google Shape;7250;p309"/>
          <p:cNvSpPr/>
          <p:nvPr/>
        </p:nvSpPr>
        <p:spPr>
          <a:xfrm>
            <a:off x="913295" y="2434838"/>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sp>
        <p:nvSpPr>
          <p:cNvPr id="7251" name="Google Shape;7251;p309"/>
          <p:cNvSpPr/>
          <p:nvPr/>
        </p:nvSpPr>
        <p:spPr>
          <a:xfrm>
            <a:off x="1445758" y="2165711"/>
            <a:ext cx="317400" cy="3150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7</a:t>
            </a:r>
            <a:endParaRPr/>
          </a:p>
        </p:txBody>
      </p:sp>
      <p:cxnSp>
        <p:nvCxnSpPr>
          <p:cNvPr id="7252" name="Google Shape;7252;p309"/>
          <p:cNvCxnSpPr>
            <a:endCxn id="7247" idx="7"/>
          </p:cNvCxnSpPr>
          <p:nvPr/>
        </p:nvCxnSpPr>
        <p:spPr>
          <a:xfrm flipH="1">
            <a:off x="582362" y="1411129"/>
            <a:ext cx="377400" cy="180300"/>
          </a:xfrm>
          <a:prstGeom prst="straightConnector1">
            <a:avLst/>
          </a:prstGeom>
          <a:noFill/>
          <a:ln cap="flat" cmpd="sng" w="19050">
            <a:solidFill>
              <a:srgbClr val="666666"/>
            </a:solidFill>
            <a:prstDash val="solid"/>
            <a:round/>
            <a:headEnd len="med" w="med" type="none"/>
            <a:tailEnd len="med" w="med" type="none"/>
          </a:ln>
        </p:spPr>
      </p:cxnSp>
      <p:cxnSp>
        <p:nvCxnSpPr>
          <p:cNvPr id="7253" name="Google Shape;7253;p309"/>
          <p:cNvCxnSpPr>
            <a:stCxn id="7249" idx="0"/>
            <a:endCxn id="7247" idx="4"/>
          </p:cNvCxnSpPr>
          <p:nvPr/>
        </p:nvCxnSpPr>
        <p:spPr>
          <a:xfrm rot="10800000">
            <a:off x="470250" y="1855304"/>
            <a:ext cx="0" cy="309600"/>
          </a:xfrm>
          <a:prstGeom prst="straightConnector1">
            <a:avLst/>
          </a:prstGeom>
          <a:noFill/>
          <a:ln cap="flat" cmpd="sng" w="19050">
            <a:solidFill>
              <a:srgbClr val="999999"/>
            </a:solidFill>
            <a:prstDash val="solid"/>
            <a:round/>
            <a:headEnd len="med" w="med" type="none"/>
            <a:tailEnd len="med" w="med" type="none"/>
          </a:ln>
        </p:spPr>
      </p:cxnSp>
      <p:cxnSp>
        <p:nvCxnSpPr>
          <p:cNvPr id="7254" name="Google Shape;7254;p309"/>
          <p:cNvCxnSpPr>
            <a:stCxn id="7250" idx="2"/>
            <a:endCxn id="7249" idx="5"/>
          </p:cNvCxnSpPr>
          <p:nvPr/>
        </p:nvCxnSpPr>
        <p:spPr>
          <a:xfrm rot="10800000">
            <a:off x="582395" y="2428988"/>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255" name="Google Shape;7255;p309"/>
          <p:cNvCxnSpPr>
            <a:stCxn id="7248" idx="2"/>
            <a:endCxn id="7249" idx="6"/>
          </p:cNvCxnSpPr>
          <p:nvPr/>
        </p:nvCxnSpPr>
        <p:spPr>
          <a:xfrm flipH="1">
            <a:off x="628895" y="2010169"/>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256" name="Google Shape;7256;p309"/>
          <p:cNvCxnSpPr>
            <a:stCxn id="7250" idx="2"/>
            <a:endCxn id="7247" idx="4"/>
          </p:cNvCxnSpPr>
          <p:nvPr/>
        </p:nvCxnSpPr>
        <p:spPr>
          <a:xfrm rot="10800000">
            <a:off x="470195" y="1855388"/>
            <a:ext cx="443100" cy="734100"/>
          </a:xfrm>
          <a:prstGeom prst="straightConnector1">
            <a:avLst/>
          </a:prstGeom>
          <a:noFill/>
          <a:ln cap="flat" cmpd="sng" w="19050">
            <a:solidFill>
              <a:srgbClr val="666666"/>
            </a:solidFill>
            <a:prstDash val="solid"/>
            <a:round/>
            <a:headEnd len="med" w="med" type="none"/>
            <a:tailEnd len="med" w="med" type="none"/>
          </a:ln>
        </p:spPr>
      </p:cxnSp>
      <p:cxnSp>
        <p:nvCxnSpPr>
          <p:cNvPr id="7257" name="Google Shape;7257;p309"/>
          <p:cNvCxnSpPr>
            <a:stCxn id="7246" idx="2"/>
            <a:endCxn id="7248" idx="7"/>
          </p:cNvCxnSpPr>
          <p:nvPr/>
        </p:nvCxnSpPr>
        <p:spPr>
          <a:xfrm flipH="1">
            <a:off x="1184085" y="1700783"/>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258" name="Google Shape;7258;p309"/>
          <p:cNvCxnSpPr>
            <a:stCxn id="7246" idx="2"/>
            <a:endCxn id="7247" idx="6"/>
          </p:cNvCxnSpPr>
          <p:nvPr/>
        </p:nvCxnSpPr>
        <p:spPr>
          <a:xfrm rot="10800000">
            <a:off x="628785" y="1700783"/>
            <a:ext cx="816600" cy="0"/>
          </a:xfrm>
          <a:prstGeom prst="straightConnector1">
            <a:avLst/>
          </a:prstGeom>
          <a:noFill/>
          <a:ln cap="flat" cmpd="sng" w="19050">
            <a:solidFill>
              <a:srgbClr val="666666"/>
            </a:solidFill>
            <a:prstDash val="solid"/>
            <a:round/>
            <a:headEnd len="med" w="med" type="none"/>
            <a:tailEnd len="med" w="med" type="none"/>
          </a:ln>
        </p:spPr>
      </p:cxnSp>
      <p:cxnSp>
        <p:nvCxnSpPr>
          <p:cNvPr id="7259" name="Google Shape;7259;p309"/>
          <p:cNvCxnSpPr>
            <a:stCxn id="7246" idx="0"/>
            <a:endCxn id="7245" idx="5"/>
          </p:cNvCxnSpPr>
          <p:nvPr/>
        </p:nvCxnSpPr>
        <p:spPr>
          <a:xfrm rot="10800000">
            <a:off x="1183935" y="1411133"/>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260" name="Google Shape;7260;p309"/>
          <p:cNvCxnSpPr>
            <a:stCxn id="7251" idx="7"/>
            <a:endCxn id="7246" idx="4"/>
          </p:cNvCxnSpPr>
          <p:nvPr/>
        </p:nvCxnSpPr>
        <p:spPr>
          <a:xfrm rot="10800000">
            <a:off x="1603876" y="1855441"/>
            <a:ext cx="112800" cy="356400"/>
          </a:xfrm>
          <a:prstGeom prst="straightConnector1">
            <a:avLst/>
          </a:prstGeom>
          <a:noFill/>
          <a:ln cap="flat" cmpd="sng" w="19050">
            <a:solidFill>
              <a:srgbClr val="666666"/>
            </a:solidFill>
            <a:prstDash val="solid"/>
            <a:round/>
            <a:headEnd len="med" w="med" type="none"/>
            <a:tailEnd len="med" w="med" type="none"/>
          </a:ln>
        </p:spPr>
      </p:cxnSp>
      <p:cxnSp>
        <p:nvCxnSpPr>
          <p:cNvPr id="7261" name="Google Shape;7261;p309"/>
          <p:cNvCxnSpPr>
            <a:stCxn id="7251" idx="2"/>
            <a:endCxn id="7248" idx="6"/>
          </p:cNvCxnSpPr>
          <p:nvPr/>
        </p:nvCxnSpPr>
        <p:spPr>
          <a:xfrm rot="10800000">
            <a:off x="1230358" y="2010311"/>
            <a:ext cx="215400" cy="312900"/>
          </a:xfrm>
          <a:prstGeom prst="straightConnector1">
            <a:avLst/>
          </a:prstGeom>
          <a:noFill/>
          <a:ln cap="flat" cmpd="sng" w="19050">
            <a:solidFill>
              <a:srgbClr val="666666"/>
            </a:solidFill>
            <a:prstDash val="solid"/>
            <a:round/>
            <a:headEnd len="med" w="med" type="none"/>
            <a:tailEnd len="med" w="med" type="none"/>
          </a:ln>
        </p:spPr>
      </p:cxnSp>
      <p:cxnSp>
        <p:nvCxnSpPr>
          <p:cNvPr id="7262" name="Google Shape;7262;p309"/>
          <p:cNvCxnSpPr>
            <a:stCxn id="7250" idx="0"/>
            <a:endCxn id="7248" idx="4"/>
          </p:cNvCxnSpPr>
          <p:nvPr/>
        </p:nvCxnSpPr>
        <p:spPr>
          <a:xfrm rot="10800000">
            <a:off x="1071845" y="2164838"/>
            <a:ext cx="0" cy="270000"/>
          </a:xfrm>
          <a:prstGeom prst="straightConnector1">
            <a:avLst/>
          </a:prstGeom>
          <a:noFill/>
          <a:ln cap="flat" cmpd="sng" w="19050">
            <a:solidFill>
              <a:srgbClr val="666666"/>
            </a:solidFill>
            <a:prstDash val="solid"/>
            <a:round/>
            <a:headEnd len="med" w="med" type="none"/>
            <a:tailEnd len="med" w="med" type="none"/>
          </a:ln>
        </p:spPr>
      </p:cxnSp>
      <p:cxnSp>
        <p:nvCxnSpPr>
          <p:cNvPr id="7263" name="Google Shape;7263;p309"/>
          <p:cNvCxnSpPr>
            <a:stCxn id="7250" idx="6"/>
            <a:endCxn id="7251" idx="3"/>
          </p:cNvCxnSpPr>
          <p:nvPr/>
        </p:nvCxnSpPr>
        <p:spPr>
          <a:xfrm flipH="1" rot="10800000">
            <a:off x="1230395" y="2434688"/>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264" name="Google Shape;7264;p309"/>
          <p:cNvCxnSpPr>
            <a:stCxn id="7249" idx="6"/>
            <a:endCxn id="7251" idx="2"/>
          </p:cNvCxnSpPr>
          <p:nvPr/>
        </p:nvCxnSpPr>
        <p:spPr>
          <a:xfrm>
            <a:off x="628800" y="2319554"/>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265" name="Google Shape;7265;p309"/>
          <p:cNvCxnSpPr>
            <a:stCxn id="7249" idx="6"/>
            <a:endCxn id="7245" idx="4"/>
          </p:cNvCxnSpPr>
          <p:nvPr/>
        </p:nvCxnSpPr>
        <p:spPr>
          <a:xfrm flipH="1" rot="10800000">
            <a:off x="628800" y="1456454"/>
            <a:ext cx="443100" cy="863100"/>
          </a:xfrm>
          <a:prstGeom prst="straightConnector1">
            <a:avLst/>
          </a:prstGeom>
          <a:noFill/>
          <a:ln cap="flat" cmpd="sng" w="19050">
            <a:solidFill>
              <a:srgbClr val="666666"/>
            </a:solidFill>
            <a:prstDash val="solid"/>
            <a:round/>
            <a:headEnd len="med" w="med" type="none"/>
            <a:tailEnd len="med" w="med" type="none"/>
          </a:ln>
        </p:spPr>
      </p:cxnSp>
      <p:cxnSp>
        <p:nvCxnSpPr>
          <p:cNvPr id="7266" name="Google Shape;7266;p309"/>
          <p:cNvCxnSpPr>
            <a:stCxn id="7248" idx="0"/>
            <a:endCxn id="7245" idx="4"/>
          </p:cNvCxnSpPr>
          <p:nvPr/>
        </p:nvCxnSpPr>
        <p:spPr>
          <a:xfrm rot="10800000">
            <a:off x="1071845" y="1456519"/>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267" name="Google Shape;7267;p309"/>
          <p:cNvCxnSpPr>
            <a:stCxn id="7245" idx="4"/>
            <a:endCxn id="7251" idx="1"/>
          </p:cNvCxnSpPr>
          <p:nvPr/>
        </p:nvCxnSpPr>
        <p:spPr>
          <a:xfrm>
            <a:off x="1071845" y="1456525"/>
            <a:ext cx="420300" cy="755400"/>
          </a:xfrm>
          <a:prstGeom prst="straightConnector1">
            <a:avLst/>
          </a:prstGeom>
          <a:noFill/>
          <a:ln cap="flat" cmpd="sng" w="19050">
            <a:solidFill>
              <a:srgbClr val="666666"/>
            </a:solidFill>
            <a:prstDash val="solid"/>
            <a:round/>
            <a:headEnd len="med" w="med" type="none"/>
            <a:tailEnd len="med" w="med" type="none"/>
          </a:ln>
        </p:spPr>
      </p:cxnSp>
      <p:cxnSp>
        <p:nvCxnSpPr>
          <p:cNvPr id="7268" name="Google Shape;7268;p309"/>
          <p:cNvCxnSpPr>
            <a:stCxn id="7250" idx="6"/>
            <a:endCxn id="7246" idx="3"/>
          </p:cNvCxnSpPr>
          <p:nvPr/>
        </p:nvCxnSpPr>
        <p:spPr>
          <a:xfrm flipH="1" rot="10800000">
            <a:off x="1230395" y="1810088"/>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269" name="Google Shape;7269;p309"/>
          <p:cNvCxnSpPr>
            <a:stCxn id="7248" idx="1"/>
            <a:endCxn id="7247" idx="6"/>
          </p:cNvCxnSpPr>
          <p:nvPr/>
        </p:nvCxnSpPr>
        <p:spPr>
          <a:xfrm rot="10800000">
            <a:off x="628834" y="1700715"/>
            <a:ext cx="330900" cy="200100"/>
          </a:xfrm>
          <a:prstGeom prst="straightConnector1">
            <a:avLst/>
          </a:prstGeom>
          <a:noFill/>
          <a:ln cap="flat" cmpd="sng" w="19050">
            <a:solidFill>
              <a:srgbClr val="666666"/>
            </a:solidFill>
            <a:prstDash val="solid"/>
            <a:round/>
            <a:headEnd len="med" w="med" type="none"/>
            <a:tailEnd len="med" w="med" type="none"/>
          </a:ln>
        </p:spPr>
      </p:cxnSp>
      <p:sp>
        <p:nvSpPr>
          <p:cNvPr id="7270" name="Google Shape;7270;p309"/>
          <p:cNvSpPr/>
          <p:nvPr/>
        </p:nvSpPr>
        <p:spPr>
          <a:xfrm>
            <a:off x="1128323" y="311777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17</a:t>
            </a:r>
            <a:endParaRPr/>
          </a:p>
        </p:txBody>
      </p:sp>
      <p:sp>
        <p:nvSpPr>
          <p:cNvPr id="7271" name="Google Shape;7271;p309"/>
          <p:cNvSpPr/>
          <p:nvPr/>
        </p:nvSpPr>
        <p:spPr>
          <a:xfrm>
            <a:off x="1660413"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19</a:t>
            </a:r>
            <a:endParaRPr/>
          </a:p>
        </p:txBody>
      </p:sp>
      <p:sp>
        <p:nvSpPr>
          <p:cNvPr id="7272" name="Google Shape;7272;p309"/>
          <p:cNvSpPr/>
          <p:nvPr/>
        </p:nvSpPr>
        <p:spPr>
          <a:xfrm>
            <a:off x="596234"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18</a:t>
            </a:r>
            <a:endParaRPr/>
          </a:p>
        </p:txBody>
      </p:sp>
      <p:sp>
        <p:nvSpPr>
          <p:cNvPr id="7273" name="Google Shape;7273;p309"/>
          <p:cNvSpPr/>
          <p:nvPr/>
        </p:nvSpPr>
        <p:spPr>
          <a:xfrm>
            <a:off x="1128323" y="382607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20</a:t>
            </a:r>
            <a:endParaRPr/>
          </a:p>
        </p:txBody>
      </p:sp>
      <p:sp>
        <p:nvSpPr>
          <p:cNvPr id="7274" name="Google Shape;7274;p309"/>
          <p:cNvSpPr/>
          <p:nvPr/>
        </p:nvSpPr>
        <p:spPr>
          <a:xfrm>
            <a:off x="526728" y="413545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21</a:t>
            </a:r>
            <a:endParaRPr/>
          </a:p>
        </p:txBody>
      </p:sp>
      <p:sp>
        <p:nvSpPr>
          <p:cNvPr id="7275" name="Google Shape;7275;p309"/>
          <p:cNvSpPr/>
          <p:nvPr/>
        </p:nvSpPr>
        <p:spPr>
          <a:xfrm>
            <a:off x="1128323" y="440539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23</a:t>
            </a:r>
            <a:endParaRPr/>
          </a:p>
        </p:txBody>
      </p:sp>
      <p:sp>
        <p:nvSpPr>
          <p:cNvPr id="7276" name="Google Shape;7276;p309"/>
          <p:cNvSpPr/>
          <p:nvPr/>
        </p:nvSpPr>
        <p:spPr>
          <a:xfrm>
            <a:off x="1660786" y="4136262"/>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22</a:t>
            </a:r>
            <a:endParaRPr/>
          </a:p>
        </p:txBody>
      </p:sp>
      <p:cxnSp>
        <p:nvCxnSpPr>
          <p:cNvPr id="7277" name="Google Shape;7277;p309"/>
          <p:cNvCxnSpPr>
            <a:stCxn id="7270" idx="3"/>
            <a:endCxn id="7272" idx="7"/>
          </p:cNvCxnSpPr>
          <p:nvPr/>
        </p:nvCxnSpPr>
        <p:spPr>
          <a:xfrm flipH="1">
            <a:off x="866962" y="3381780"/>
            <a:ext cx="307800" cy="180300"/>
          </a:xfrm>
          <a:prstGeom prst="straightConnector1">
            <a:avLst/>
          </a:prstGeom>
          <a:noFill/>
          <a:ln cap="flat" cmpd="sng" w="19050">
            <a:solidFill>
              <a:srgbClr val="666666"/>
            </a:solidFill>
            <a:prstDash val="solid"/>
            <a:round/>
            <a:headEnd len="med" w="med" type="none"/>
            <a:tailEnd len="med" w="med" type="none"/>
          </a:ln>
        </p:spPr>
      </p:cxnSp>
      <p:cxnSp>
        <p:nvCxnSpPr>
          <p:cNvPr id="7278" name="Google Shape;7278;p309"/>
          <p:cNvCxnSpPr>
            <a:stCxn id="7275" idx="2"/>
            <a:endCxn id="7274" idx="5"/>
          </p:cNvCxnSpPr>
          <p:nvPr/>
        </p:nvCxnSpPr>
        <p:spPr>
          <a:xfrm rot="10800000">
            <a:off x="797423" y="4399540"/>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279" name="Google Shape;7279;p309"/>
          <p:cNvCxnSpPr>
            <a:stCxn id="7273" idx="2"/>
            <a:endCxn id="7274" idx="6"/>
          </p:cNvCxnSpPr>
          <p:nvPr/>
        </p:nvCxnSpPr>
        <p:spPr>
          <a:xfrm flipH="1">
            <a:off x="843923" y="3980720"/>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280" name="Google Shape;7280;p309"/>
          <p:cNvCxnSpPr>
            <a:stCxn id="7274" idx="0"/>
            <a:endCxn id="7272" idx="4"/>
          </p:cNvCxnSpPr>
          <p:nvPr/>
        </p:nvCxnSpPr>
        <p:spPr>
          <a:xfrm flipH="1" rot="10800000">
            <a:off x="685278" y="3825856"/>
            <a:ext cx="69600" cy="309600"/>
          </a:xfrm>
          <a:prstGeom prst="straightConnector1">
            <a:avLst/>
          </a:prstGeom>
          <a:noFill/>
          <a:ln cap="flat" cmpd="sng" w="19050">
            <a:solidFill>
              <a:srgbClr val="666666"/>
            </a:solidFill>
            <a:prstDash val="solid"/>
            <a:round/>
            <a:headEnd len="med" w="med" type="none"/>
            <a:tailEnd len="med" w="med" type="none"/>
          </a:ln>
        </p:spPr>
      </p:cxnSp>
      <p:cxnSp>
        <p:nvCxnSpPr>
          <p:cNvPr id="7281" name="Google Shape;7281;p309"/>
          <p:cNvCxnSpPr>
            <a:stCxn id="7271" idx="2"/>
            <a:endCxn id="7273" idx="7"/>
          </p:cNvCxnSpPr>
          <p:nvPr/>
        </p:nvCxnSpPr>
        <p:spPr>
          <a:xfrm flipH="1">
            <a:off x="1399113" y="3671335"/>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282" name="Google Shape;7282;p309"/>
          <p:cNvCxnSpPr>
            <a:stCxn id="7271" idx="0"/>
            <a:endCxn id="7270" idx="5"/>
          </p:cNvCxnSpPr>
          <p:nvPr/>
        </p:nvCxnSpPr>
        <p:spPr>
          <a:xfrm rot="10800000">
            <a:off x="1398963" y="3381685"/>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283" name="Google Shape;7283;p309"/>
          <p:cNvCxnSpPr>
            <a:stCxn id="7276" idx="0"/>
            <a:endCxn id="7271" idx="4"/>
          </p:cNvCxnSpPr>
          <p:nvPr/>
        </p:nvCxnSpPr>
        <p:spPr>
          <a:xfrm rot="10800000">
            <a:off x="1818886" y="3826062"/>
            <a:ext cx="600" cy="310200"/>
          </a:xfrm>
          <a:prstGeom prst="straightConnector1">
            <a:avLst/>
          </a:prstGeom>
          <a:noFill/>
          <a:ln cap="flat" cmpd="sng" w="19050">
            <a:solidFill>
              <a:srgbClr val="666666"/>
            </a:solidFill>
            <a:prstDash val="solid"/>
            <a:round/>
            <a:headEnd len="med" w="med" type="none"/>
            <a:tailEnd len="med" w="med" type="none"/>
          </a:ln>
        </p:spPr>
      </p:cxnSp>
      <p:cxnSp>
        <p:nvCxnSpPr>
          <p:cNvPr id="7284" name="Google Shape;7284;p309"/>
          <p:cNvCxnSpPr>
            <a:stCxn id="7275" idx="6"/>
            <a:endCxn id="7276" idx="3"/>
          </p:cNvCxnSpPr>
          <p:nvPr/>
        </p:nvCxnSpPr>
        <p:spPr>
          <a:xfrm flipH="1" rot="10800000">
            <a:off x="1445423" y="4405240"/>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285" name="Google Shape;7285;p309"/>
          <p:cNvCxnSpPr>
            <a:stCxn id="7274" idx="6"/>
            <a:endCxn id="7276" idx="2"/>
          </p:cNvCxnSpPr>
          <p:nvPr/>
        </p:nvCxnSpPr>
        <p:spPr>
          <a:xfrm>
            <a:off x="843828" y="4290106"/>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286" name="Google Shape;7286;p309"/>
          <p:cNvCxnSpPr>
            <a:stCxn id="7273" idx="0"/>
            <a:endCxn id="7270" idx="4"/>
          </p:cNvCxnSpPr>
          <p:nvPr/>
        </p:nvCxnSpPr>
        <p:spPr>
          <a:xfrm rot="10800000">
            <a:off x="1286873" y="3427070"/>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287" name="Google Shape;7287;p309"/>
          <p:cNvCxnSpPr>
            <a:stCxn id="7275" idx="6"/>
            <a:endCxn id="7271" idx="3"/>
          </p:cNvCxnSpPr>
          <p:nvPr/>
        </p:nvCxnSpPr>
        <p:spPr>
          <a:xfrm flipH="1" rot="10800000">
            <a:off x="1445423" y="3780640"/>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288" name="Google Shape;7288;p309"/>
          <p:cNvCxnSpPr>
            <a:stCxn id="7273" idx="1"/>
            <a:endCxn id="7272" idx="6"/>
          </p:cNvCxnSpPr>
          <p:nvPr/>
        </p:nvCxnSpPr>
        <p:spPr>
          <a:xfrm rot="10800000">
            <a:off x="913462" y="3671266"/>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289" name="Google Shape;7289;p309"/>
          <p:cNvCxnSpPr>
            <a:stCxn id="7274" idx="1"/>
            <a:endCxn id="7249" idx="4"/>
          </p:cNvCxnSpPr>
          <p:nvPr/>
        </p:nvCxnSpPr>
        <p:spPr>
          <a:xfrm rot="10800000">
            <a:off x="470266" y="2474352"/>
            <a:ext cx="102900" cy="1706400"/>
          </a:xfrm>
          <a:prstGeom prst="straightConnector1">
            <a:avLst/>
          </a:prstGeom>
          <a:noFill/>
          <a:ln cap="flat" cmpd="sng" w="19050">
            <a:solidFill>
              <a:srgbClr val="666666"/>
            </a:solidFill>
            <a:prstDash val="solid"/>
            <a:round/>
            <a:headEnd len="med" w="med" type="none"/>
            <a:tailEnd len="med" w="med" type="none"/>
          </a:ln>
        </p:spPr>
      </p:cxnSp>
      <p:cxnSp>
        <p:nvCxnSpPr>
          <p:cNvPr id="7290" name="Google Shape;7290;p309"/>
          <p:cNvCxnSpPr>
            <a:stCxn id="7271" idx="0"/>
            <a:endCxn id="7251" idx="4"/>
          </p:cNvCxnSpPr>
          <p:nvPr/>
        </p:nvCxnSpPr>
        <p:spPr>
          <a:xfrm rot="10800000">
            <a:off x="1604463" y="2480785"/>
            <a:ext cx="214500" cy="1035900"/>
          </a:xfrm>
          <a:prstGeom prst="straightConnector1">
            <a:avLst/>
          </a:prstGeom>
          <a:noFill/>
          <a:ln cap="flat" cmpd="sng" w="19050">
            <a:solidFill>
              <a:srgbClr val="666666"/>
            </a:solidFill>
            <a:prstDash val="solid"/>
            <a:round/>
            <a:headEnd len="med" w="med" type="none"/>
            <a:tailEnd len="med" w="med" type="none"/>
          </a:ln>
        </p:spPr>
      </p:cxnSp>
      <p:sp>
        <p:nvSpPr>
          <p:cNvPr id="7291" name="Google Shape;7291;p309"/>
          <p:cNvSpPr/>
          <p:nvPr/>
        </p:nvSpPr>
        <p:spPr>
          <a:xfrm>
            <a:off x="2195893" y="18556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292" name="Google Shape;7292;p309"/>
          <p:cNvSpPr/>
          <p:nvPr/>
        </p:nvSpPr>
        <p:spPr>
          <a:xfrm>
            <a:off x="2195893" y="27130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293" name="Google Shape;7293;p309"/>
          <p:cNvSpPr/>
          <p:nvPr/>
        </p:nvSpPr>
        <p:spPr>
          <a:xfrm>
            <a:off x="256379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294" name="Google Shape;7294;p309"/>
          <p:cNvSpPr/>
          <p:nvPr/>
        </p:nvSpPr>
        <p:spPr>
          <a:xfrm>
            <a:off x="2880801"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295" name="Google Shape;7295;p309"/>
          <p:cNvSpPr/>
          <p:nvPr/>
        </p:nvSpPr>
        <p:spPr>
          <a:xfrm>
            <a:off x="3749082" y="1679501"/>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296" name="Google Shape;7296;p309"/>
          <p:cNvSpPr/>
          <p:nvPr/>
        </p:nvSpPr>
        <p:spPr>
          <a:xfrm>
            <a:off x="327440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sp>
        <p:nvSpPr>
          <p:cNvPr id="7297" name="Google Shape;7297;p309"/>
          <p:cNvSpPr/>
          <p:nvPr/>
        </p:nvSpPr>
        <p:spPr>
          <a:xfrm>
            <a:off x="4341627" y="2211777"/>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sp>
        <p:nvSpPr>
          <p:cNvPr id="7298" name="Google Shape;7298;p309"/>
          <p:cNvSpPr/>
          <p:nvPr/>
        </p:nvSpPr>
        <p:spPr>
          <a:xfrm>
            <a:off x="3374610" y="291580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15</a:t>
            </a:r>
            <a:endParaRPr/>
          </a:p>
        </p:txBody>
      </p:sp>
      <p:sp>
        <p:nvSpPr>
          <p:cNvPr id="7299" name="Google Shape;7299;p309"/>
          <p:cNvSpPr/>
          <p:nvPr/>
        </p:nvSpPr>
        <p:spPr>
          <a:xfrm>
            <a:off x="4223529" y="307246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16</a:t>
            </a:r>
            <a:endParaRPr/>
          </a:p>
        </p:txBody>
      </p:sp>
      <p:cxnSp>
        <p:nvCxnSpPr>
          <p:cNvPr id="7300" name="Google Shape;7300;p309"/>
          <p:cNvCxnSpPr>
            <a:stCxn id="7251" idx="6"/>
            <a:endCxn id="7291" idx="3"/>
          </p:cNvCxnSpPr>
          <p:nvPr/>
        </p:nvCxnSpPr>
        <p:spPr>
          <a:xfrm flipH="1" rot="10800000">
            <a:off x="1763158" y="2119511"/>
            <a:ext cx="479100" cy="203700"/>
          </a:xfrm>
          <a:prstGeom prst="straightConnector1">
            <a:avLst/>
          </a:prstGeom>
          <a:noFill/>
          <a:ln cap="flat" cmpd="sng" w="19050">
            <a:solidFill>
              <a:srgbClr val="666666"/>
            </a:solidFill>
            <a:prstDash val="solid"/>
            <a:round/>
            <a:headEnd len="med" w="med" type="none"/>
            <a:tailEnd len="med" w="med" type="none"/>
          </a:ln>
        </p:spPr>
      </p:cxnSp>
      <p:cxnSp>
        <p:nvCxnSpPr>
          <p:cNvPr id="7301" name="Google Shape;7301;p309"/>
          <p:cNvCxnSpPr>
            <a:stCxn id="7292" idx="2"/>
            <a:endCxn id="7251" idx="6"/>
          </p:cNvCxnSpPr>
          <p:nvPr/>
        </p:nvCxnSpPr>
        <p:spPr>
          <a:xfrm rot="10800000">
            <a:off x="1763293" y="2323154"/>
            <a:ext cx="432600" cy="544500"/>
          </a:xfrm>
          <a:prstGeom prst="straightConnector1">
            <a:avLst/>
          </a:prstGeom>
          <a:noFill/>
          <a:ln cap="flat" cmpd="sng" w="19050">
            <a:solidFill>
              <a:srgbClr val="666666"/>
            </a:solidFill>
            <a:prstDash val="solid"/>
            <a:round/>
            <a:headEnd len="med" w="med" type="none"/>
            <a:tailEnd len="med" w="med" type="none"/>
          </a:ln>
        </p:spPr>
      </p:cxnSp>
      <p:cxnSp>
        <p:nvCxnSpPr>
          <p:cNvPr id="7302" name="Google Shape;7302;p309"/>
          <p:cNvCxnSpPr>
            <a:stCxn id="7293" idx="2"/>
            <a:endCxn id="7251" idx="6"/>
          </p:cNvCxnSpPr>
          <p:nvPr/>
        </p:nvCxnSpPr>
        <p:spPr>
          <a:xfrm rot="10800000">
            <a:off x="1763093" y="2323249"/>
            <a:ext cx="800700" cy="131400"/>
          </a:xfrm>
          <a:prstGeom prst="straightConnector1">
            <a:avLst/>
          </a:prstGeom>
          <a:noFill/>
          <a:ln cap="flat" cmpd="sng" w="19050">
            <a:solidFill>
              <a:srgbClr val="666666"/>
            </a:solidFill>
            <a:prstDash val="solid"/>
            <a:round/>
            <a:headEnd len="med" w="med" type="none"/>
            <a:tailEnd len="med" w="med" type="none"/>
          </a:ln>
        </p:spPr>
      </p:cxnSp>
      <p:cxnSp>
        <p:nvCxnSpPr>
          <p:cNvPr id="7303" name="Google Shape;7303;p309"/>
          <p:cNvCxnSpPr>
            <a:stCxn id="7292" idx="0"/>
            <a:endCxn id="7291" idx="4"/>
          </p:cNvCxnSpPr>
          <p:nvPr/>
        </p:nvCxnSpPr>
        <p:spPr>
          <a:xfrm rot="10800000">
            <a:off x="2354443" y="2164904"/>
            <a:ext cx="0" cy="548100"/>
          </a:xfrm>
          <a:prstGeom prst="straightConnector1">
            <a:avLst/>
          </a:prstGeom>
          <a:noFill/>
          <a:ln cap="flat" cmpd="sng" w="19050">
            <a:solidFill>
              <a:srgbClr val="666666"/>
            </a:solidFill>
            <a:prstDash val="solid"/>
            <a:round/>
            <a:headEnd len="med" w="med" type="none"/>
            <a:tailEnd len="med" w="med" type="none"/>
          </a:ln>
        </p:spPr>
      </p:cxnSp>
      <p:cxnSp>
        <p:nvCxnSpPr>
          <p:cNvPr id="7304" name="Google Shape;7304;p309"/>
          <p:cNvCxnSpPr>
            <a:stCxn id="7293" idx="0"/>
            <a:endCxn id="7291" idx="5"/>
          </p:cNvCxnSpPr>
          <p:nvPr/>
        </p:nvCxnSpPr>
        <p:spPr>
          <a:xfrm rot="10800000">
            <a:off x="2466443" y="2119699"/>
            <a:ext cx="255900" cy="180300"/>
          </a:xfrm>
          <a:prstGeom prst="straightConnector1">
            <a:avLst/>
          </a:prstGeom>
          <a:noFill/>
          <a:ln cap="flat" cmpd="sng" w="19050">
            <a:solidFill>
              <a:srgbClr val="666666"/>
            </a:solidFill>
            <a:prstDash val="solid"/>
            <a:round/>
            <a:headEnd len="med" w="med" type="none"/>
            <a:tailEnd len="med" w="med" type="none"/>
          </a:ln>
        </p:spPr>
      </p:cxnSp>
      <p:cxnSp>
        <p:nvCxnSpPr>
          <p:cNvPr id="7305" name="Google Shape;7305;p309"/>
          <p:cNvCxnSpPr>
            <a:stCxn id="7292" idx="6"/>
            <a:endCxn id="7293" idx="4"/>
          </p:cNvCxnSpPr>
          <p:nvPr/>
        </p:nvCxnSpPr>
        <p:spPr>
          <a:xfrm flipH="1" rot="10800000">
            <a:off x="2512993" y="2609354"/>
            <a:ext cx="209400" cy="258300"/>
          </a:xfrm>
          <a:prstGeom prst="straightConnector1">
            <a:avLst/>
          </a:prstGeom>
          <a:noFill/>
          <a:ln cap="flat" cmpd="sng" w="19050">
            <a:solidFill>
              <a:srgbClr val="666666"/>
            </a:solidFill>
            <a:prstDash val="solid"/>
            <a:round/>
            <a:headEnd len="med" w="med" type="none"/>
            <a:tailEnd len="med" w="med" type="none"/>
          </a:ln>
        </p:spPr>
      </p:cxnSp>
      <p:cxnSp>
        <p:nvCxnSpPr>
          <p:cNvPr id="7306" name="Google Shape;7306;p309"/>
          <p:cNvCxnSpPr>
            <a:stCxn id="7291" idx="6"/>
            <a:endCxn id="7294" idx="2"/>
          </p:cNvCxnSpPr>
          <p:nvPr/>
        </p:nvCxnSpPr>
        <p:spPr>
          <a:xfrm flipH="1" rot="10800000">
            <a:off x="2512993" y="1700675"/>
            <a:ext cx="367800" cy="309600"/>
          </a:xfrm>
          <a:prstGeom prst="straightConnector1">
            <a:avLst/>
          </a:prstGeom>
          <a:noFill/>
          <a:ln cap="flat" cmpd="sng" w="19050">
            <a:solidFill>
              <a:srgbClr val="666666"/>
            </a:solidFill>
            <a:prstDash val="solid"/>
            <a:round/>
            <a:headEnd len="med" w="med" type="none"/>
            <a:tailEnd len="med" w="med" type="none"/>
          </a:ln>
        </p:spPr>
      </p:cxnSp>
      <p:cxnSp>
        <p:nvCxnSpPr>
          <p:cNvPr id="7307" name="Google Shape;7307;p309"/>
          <p:cNvCxnSpPr>
            <a:stCxn id="7295" idx="2"/>
            <a:endCxn id="7294" idx="6"/>
          </p:cNvCxnSpPr>
          <p:nvPr/>
        </p:nvCxnSpPr>
        <p:spPr>
          <a:xfrm rot="10800000">
            <a:off x="3197982" y="1700651"/>
            <a:ext cx="551100" cy="133500"/>
          </a:xfrm>
          <a:prstGeom prst="straightConnector1">
            <a:avLst/>
          </a:prstGeom>
          <a:noFill/>
          <a:ln cap="flat" cmpd="sng" w="19050">
            <a:solidFill>
              <a:srgbClr val="666666"/>
            </a:solidFill>
            <a:prstDash val="solid"/>
            <a:round/>
            <a:headEnd len="med" w="med" type="none"/>
            <a:tailEnd len="med" w="med" type="none"/>
          </a:ln>
        </p:spPr>
      </p:cxnSp>
      <p:cxnSp>
        <p:nvCxnSpPr>
          <p:cNvPr id="7308" name="Google Shape;7308;p309"/>
          <p:cNvCxnSpPr>
            <a:stCxn id="7297" idx="1"/>
            <a:endCxn id="7295" idx="5"/>
          </p:cNvCxnSpPr>
          <p:nvPr/>
        </p:nvCxnSpPr>
        <p:spPr>
          <a:xfrm rot="10800000">
            <a:off x="4019665" y="1943573"/>
            <a:ext cx="368400" cy="313500"/>
          </a:xfrm>
          <a:prstGeom prst="straightConnector1">
            <a:avLst/>
          </a:prstGeom>
          <a:noFill/>
          <a:ln cap="flat" cmpd="sng" w="19050">
            <a:solidFill>
              <a:srgbClr val="666666"/>
            </a:solidFill>
            <a:prstDash val="solid"/>
            <a:round/>
            <a:headEnd len="med" w="med" type="none"/>
            <a:tailEnd len="med" w="med" type="none"/>
          </a:ln>
        </p:spPr>
      </p:cxnSp>
      <p:cxnSp>
        <p:nvCxnSpPr>
          <p:cNvPr id="7309" name="Google Shape;7309;p309"/>
          <p:cNvCxnSpPr>
            <a:stCxn id="7296" idx="7"/>
            <a:endCxn id="7295" idx="4"/>
          </p:cNvCxnSpPr>
          <p:nvPr/>
        </p:nvCxnSpPr>
        <p:spPr>
          <a:xfrm flipH="1" rot="10800000">
            <a:off x="3545065" y="1988895"/>
            <a:ext cx="362700" cy="356400"/>
          </a:xfrm>
          <a:prstGeom prst="straightConnector1">
            <a:avLst/>
          </a:prstGeom>
          <a:noFill/>
          <a:ln cap="flat" cmpd="sng" w="19050">
            <a:solidFill>
              <a:srgbClr val="666666"/>
            </a:solidFill>
            <a:prstDash val="solid"/>
            <a:round/>
            <a:headEnd len="med" w="med" type="none"/>
            <a:tailEnd len="med" w="med" type="none"/>
          </a:ln>
        </p:spPr>
      </p:cxnSp>
      <p:cxnSp>
        <p:nvCxnSpPr>
          <p:cNvPr id="7310" name="Google Shape;7310;p309"/>
          <p:cNvCxnSpPr>
            <a:stCxn id="7299" idx="1"/>
            <a:endCxn id="7296" idx="5"/>
          </p:cNvCxnSpPr>
          <p:nvPr/>
        </p:nvCxnSpPr>
        <p:spPr>
          <a:xfrm rot="10800000">
            <a:off x="3545168" y="2563956"/>
            <a:ext cx="724800" cy="553800"/>
          </a:xfrm>
          <a:prstGeom prst="straightConnector1">
            <a:avLst/>
          </a:prstGeom>
          <a:noFill/>
          <a:ln cap="flat" cmpd="sng" w="19050">
            <a:solidFill>
              <a:srgbClr val="666666"/>
            </a:solidFill>
            <a:prstDash val="solid"/>
            <a:round/>
            <a:headEnd len="med" w="med" type="none"/>
            <a:tailEnd len="med" w="med" type="none"/>
          </a:ln>
        </p:spPr>
      </p:cxnSp>
      <p:cxnSp>
        <p:nvCxnSpPr>
          <p:cNvPr id="7311" name="Google Shape;7311;p309"/>
          <p:cNvCxnSpPr>
            <a:stCxn id="7299" idx="2"/>
            <a:endCxn id="7298" idx="5"/>
          </p:cNvCxnSpPr>
          <p:nvPr/>
        </p:nvCxnSpPr>
        <p:spPr>
          <a:xfrm rot="10800000">
            <a:off x="3645129" y="3179710"/>
            <a:ext cx="578400" cy="47400"/>
          </a:xfrm>
          <a:prstGeom prst="straightConnector1">
            <a:avLst/>
          </a:prstGeom>
          <a:noFill/>
          <a:ln cap="flat" cmpd="sng" w="19050">
            <a:solidFill>
              <a:srgbClr val="666666"/>
            </a:solidFill>
            <a:prstDash val="solid"/>
            <a:round/>
            <a:headEnd len="med" w="med" type="none"/>
            <a:tailEnd len="med" w="med" type="none"/>
          </a:ln>
        </p:spPr>
      </p:cxnSp>
      <p:cxnSp>
        <p:nvCxnSpPr>
          <p:cNvPr id="7312" name="Google Shape;7312;p309"/>
          <p:cNvCxnSpPr>
            <a:stCxn id="7298" idx="2"/>
            <a:endCxn id="7292" idx="6"/>
          </p:cNvCxnSpPr>
          <p:nvPr/>
        </p:nvCxnSpPr>
        <p:spPr>
          <a:xfrm rot="10800000">
            <a:off x="2513010" y="2867656"/>
            <a:ext cx="861600" cy="202800"/>
          </a:xfrm>
          <a:prstGeom prst="straightConnector1">
            <a:avLst/>
          </a:prstGeom>
          <a:noFill/>
          <a:ln cap="flat" cmpd="sng" w="19050">
            <a:solidFill>
              <a:srgbClr val="666666"/>
            </a:solidFill>
            <a:prstDash val="solid"/>
            <a:round/>
            <a:headEnd len="med" w="med" type="none"/>
            <a:tailEnd len="med" w="med" type="none"/>
          </a:ln>
        </p:spPr>
      </p:cxnSp>
      <p:cxnSp>
        <p:nvCxnSpPr>
          <p:cNvPr id="7313" name="Google Shape;7313;p309"/>
          <p:cNvCxnSpPr>
            <a:stCxn id="7299" idx="0"/>
            <a:endCxn id="7297" idx="4"/>
          </p:cNvCxnSpPr>
          <p:nvPr/>
        </p:nvCxnSpPr>
        <p:spPr>
          <a:xfrm flipH="1" rot="10800000">
            <a:off x="4382079" y="2521060"/>
            <a:ext cx="118200" cy="551400"/>
          </a:xfrm>
          <a:prstGeom prst="straightConnector1">
            <a:avLst/>
          </a:prstGeom>
          <a:noFill/>
          <a:ln cap="flat" cmpd="sng" w="19050">
            <a:solidFill>
              <a:srgbClr val="666666"/>
            </a:solidFill>
            <a:prstDash val="solid"/>
            <a:round/>
            <a:headEnd len="med" w="med" type="none"/>
            <a:tailEnd len="med" w="med" type="none"/>
          </a:ln>
        </p:spPr>
      </p:cxnSp>
      <p:cxnSp>
        <p:nvCxnSpPr>
          <p:cNvPr id="7314" name="Google Shape;7314;p309"/>
          <p:cNvCxnSpPr>
            <a:stCxn id="7296" idx="2"/>
            <a:endCxn id="7293" idx="6"/>
          </p:cNvCxnSpPr>
          <p:nvPr/>
        </p:nvCxnSpPr>
        <p:spPr>
          <a:xfrm rot="10800000">
            <a:off x="2880803" y="2454649"/>
            <a:ext cx="393600" cy="0"/>
          </a:xfrm>
          <a:prstGeom prst="straightConnector1">
            <a:avLst/>
          </a:prstGeom>
          <a:noFill/>
          <a:ln cap="flat" cmpd="sng" w="19050">
            <a:solidFill>
              <a:srgbClr val="666666"/>
            </a:solidFill>
            <a:prstDash val="solid"/>
            <a:round/>
            <a:headEnd len="med" w="med" type="none"/>
            <a:tailEnd len="med" w="med" type="none"/>
          </a:ln>
        </p:spPr>
      </p:cxnSp>
      <p:sp>
        <p:nvSpPr>
          <p:cNvPr id="7315" name="Google Shape;7315;p309"/>
          <p:cNvSpPr txBox="1"/>
          <p:nvPr>
            <p:ph type="title"/>
          </p:nvPr>
        </p:nvSpPr>
        <p:spPr>
          <a:xfrm>
            <a:off x="311700" y="315925"/>
            <a:ext cx="5405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316" name="Google Shape;7316;p309"/>
          <p:cNvSpPr txBox="1"/>
          <p:nvPr/>
        </p:nvSpPr>
        <p:spPr>
          <a:xfrm>
            <a:off x="2691175" y="3706850"/>
            <a:ext cx="2476200" cy="11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This graph is 1-connected! Can you tell which node we need to remove?</a:t>
            </a:r>
            <a:endParaRPr b="1">
              <a:solidFill>
                <a:srgbClr val="FF0000"/>
              </a:solidFill>
              <a:latin typeface="Open Sans"/>
              <a:ea typeface="Open Sans"/>
              <a:cs typeface="Open Sans"/>
              <a:sym typeface="Open Sans"/>
            </a:endParaRPr>
          </a:p>
        </p:txBody>
      </p:sp>
      <p:sp>
        <p:nvSpPr>
          <p:cNvPr id="7317" name="Google Shape;7317;p309"/>
          <p:cNvSpPr/>
          <p:nvPr/>
        </p:nvSpPr>
        <p:spPr>
          <a:xfrm>
            <a:off x="6584850" y="1958150"/>
            <a:ext cx="863100" cy="4179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G</a:t>
            </a:r>
            <a:endParaRPr b="1"/>
          </a:p>
        </p:txBody>
      </p:sp>
      <p:sp>
        <p:nvSpPr>
          <p:cNvPr id="7318" name="Google Shape;7318;p309"/>
          <p:cNvSpPr txBox="1"/>
          <p:nvPr>
            <p:ph idx="4294967295" type="body"/>
          </p:nvPr>
        </p:nvSpPr>
        <p:spPr>
          <a:xfrm>
            <a:off x="5342550" y="315925"/>
            <a:ext cx="3580800" cy="176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AutoNum type="arabicPeriod"/>
            </a:pPr>
            <a:r>
              <a:rPr lang="en" sz="1400">
                <a:solidFill>
                  <a:srgbClr val="000000"/>
                </a:solidFill>
              </a:rPr>
              <a:t>Identify the k-connectivity of the input graph (G)</a:t>
            </a:r>
            <a:endParaRPr sz="1400">
              <a:solidFill>
                <a:srgbClr val="000000"/>
              </a:solidFill>
            </a:endParaRPr>
          </a:p>
          <a:p>
            <a:pPr indent="-317500" lvl="0" marL="457200" rtl="0" algn="l">
              <a:spcBef>
                <a:spcPts val="0"/>
              </a:spcBef>
              <a:spcAft>
                <a:spcPts val="0"/>
              </a:spcAft>
              <a:buClr>
                <a:srgbClr val="FF0000"/>
              </a:buClr>
              <a:buSzPts val="1400"/>
              <a:buAutoNum type="arabicPeriod"/>
            </a:pPr>
            <a:r>
              <a:rPr b="1" lang="en" sz="1400">
                <a:solidFill>
                  <a:srgbClr val="FF0000"/>
                </a:solidFill>
              </a:rPr>
              <a:t>Remove the k-cutset (vertices)</a:t>
            </a:r>
            <a:endParaRPr b="1" sz="1400">
              <a:solidFill>
                <a:srgbClr val="FF0000"/>
              </a:solidFill>
            </a:endParaRPr>
          </a:p>
          <a:p>
            <a:pPr indent="-317500" lvl="0" marL="457200" rtl="0" algn="l">
              <a:spcBef>
                <a:spcPts val="0"/>
              </a:spcBef>
              <a:spcAft>
                <a:spcPts val="0"/>
              </a:spcAft>
              <a:buSzPts val="1400"/>
              <a:buAutoNum type="arabicPeriod"/>
            </a:pPr>
            <a:r>
              <a:rPr lang="en" sz="1400"/>
              <a:t>Do the same on the resulting subgraphs until no more subdivisions can be obtained </a:t>
            </a:r>
            <a:endParaRPr sz="1400"/>
          </a:p>
          <a:p>
            <a:pPr indent="0" lvl="0" marL="914400" rtl="0" algn="l">
              <a:spcBef>
                <a:spcPts val="1600"/>
              </a:spcBef>
              <a:spcAft>
                <a:spcPts val="1600"/>
              </a:spcAft>
              <a:buNone/>
            </a:pPr>
            <a:r>
              <a:t/>
            </a:r>
            <a:endParaRPr sz="1400"/>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2" name="Shape 7322"/>
        <p:cNvGrpSpPr/>
        <p:nvPr/>
      </p:nvGrpSpPr>
      <p:grpSpPr>
        <a:xfrm>
          <a:off x="0" y="0"/>
          <a:ext cx="0" cy="0"/>
          <a:chOff x="0" y="0"/>
          <a:chExt cx="0" cy="0"/>
        </a:xfrm>
      </p:grpSpPr>
      <p:sp>
        <p:nvSpPr>
          <p:cNvPr id="7323" name="Google Shape;7323;p310"/>
          <p:cNvSpPr/>
          <p:nvPr/>
        </p:nvSpPr>
        <p:spPr>
          <a:xfrm>
            <a:off x="913295" y="11472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324" name="Google Shape;7324;p310"/>
          <p:cNvSpPr/>
          <p:nvPr/>
        </p:nvSpPr>
        <p:spPr>
          <a:xfrm>
            <a:off x="1445385"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325" name="Google Shape;7325;p310"/>
          <p:cNvSpPr/>
          <p:nvPr/>
        </p:nvSpPr>
        <p:spPr>
          <a:xfrm>
            <a:off x="311700"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326" name="Google Shape;7326;p310"/>
          <p:cNvSpPr/>
          <p:nvPr/>
        </p:nvSpPr>
        <p:spPr>
          <a:xfrm>
            <a:off x="913295" y="185551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327" name="Google Shape;7327;p310"/>
          <p:cNvSpPr/>
          <p:nvPr/>
        </p:nvSpPr>
        <p:spPr>
          <a:xfrm>
            <a:off x="311700" y="21649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7328" name="Google Shape;7328;p310"/>
          <p:cNvSpPr/>
          <p:nvPr/>
        </p:nvSpPr>
        <p:spPr>
          <a:xfrm>
            <a:off x="913295" y="2434838"/>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7329" name="Google Shape;7329;p310"/>
          <p:cNvCxnSpPr>
            <a:endCxn id="7325" idx="7"/>
          </p:cNvCxnSpPr>
          <p:nvPr/>
        </p:nvCxnSpPr>
        <p:spPr>
          <a:xfrm flipH="1">
            <a:off x="582362" y="1411129"/>
            <a:ext cx="377400" cy="180300"/>
          </a:xfrm>
          <a:prstGeom prst="straightConnector1">
            <a:avLst/>
          </a:prstGeom>
          <a:noFill/>
          <a:ln cap="flat" cmpd="sng" w="19050">
            <a:solidFill>
              <a:srgbClr val="666666"/>
            </a:solidFill>
            <a:prstDash val="solid"/>
            <a:round/>
            <a:headEnd len="med" w="med" type="none"/>
            <a:tailEnd len="med" w="med" type="none"/>
          </a:ln>
        </p:spPr>
      </p:cxnSp>
      <p:cxnSp>
        <p:nvCxnSpPr>
          <p:cNvPr id="7330" name="Google Shape;7330;p310"/>
          <p:cNvCxnSpPr>
            <a:stCxn id="7327" idx="0"/>
            <a:endCxn id="7325" idx="4"/>
          </p:cNvCxnSpPr>
          <p:nvPr/>
        </p:nvCxnSpPr>
        <p:spPr>
          <a:xfrm rot="10800000">
            <a:off x="470250" y="1855304"/>
            <a:ext cx="0" cy="309600"/>
          </a:xfrm>
          <a:prstGeom prst="straightConnector1">
            <a:avLst/>
          </a:prstGeom>
          <a:noFill/>
          <a:ln cap="flat" cmpd="sng" w="19050">
            <a:solidFill>
              <a:srgbClr val="999999"/>
            </a:solidFill>
            <a:prstDash val="solid"/>
            <a:round/>
            <a:headEnd len="med" w="med" type="none"/>
            <a:tailEnd len="med" w="med" type="none"/>
          </a:ln>
        </p:spPr>
      </p:cxnSp>
      <p:cxnSp>
        <p:nvCxnSpPr>
          <p:cNvPr id="7331" name="Google Shape;7331;p310"/>
          <p:cNvCxnSpPr>
            <a:stCxn id="7328" idx="2"/>
            <a:endCxn id="7327" idx="5"/>
          </p:cNvCxnSpPr>
          <p:nvPr/>
        </p:nvCxnSpPr>
        <p:spPr>
          <a:xfrm rot="10800000">
            <a:off x="582395" y="2428988"/>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332" name="Google Shape;7332;p310"/>
          <p:cNvCxnSpPr>
            <a:stCxn id="7326" idx="2"/>
            <a:endCxn id="7327" idx="6"/>
          </p:cNvCxnSpPr>
          <p:nvPr/>
        </p:nvCxnSpPr>
        <p:spPr>
          <a:xfrm flipH="1">
            <a:off x="628895" y="2010169"/>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333" name="Google Shape;7333;p310"/>
          <p:cNvCxnSpPr>
            <a:stCxn id="7328" idx="2"/>
            <a:endCxn id="7325" idx="4"/>
          </p:cNvCxnSpPr>
          <p:nvPr/>
        </p:nvCxnSpPr>
        <p:spPr>
          <a:xfrm rot="10800000">
            <a:off x="470195" y="1855388"/>
            <a:ext cx="443100" cy="734100"/>
          </a:xfrm>
          <a:prstGeom prst="straightConnector1">
            <a:avLst/>
          </a:prstGeom>
          <a:noFill/>
          <a:ln cap="flat" cmpd="sng" w="19050">
            <a:solidFill>
              <a:srgbClr val="666666"/>
            </a:solidFill>
            <a:prstDash val="solid"/>
            <a:round/>
            <a:headEnd len="med" w="med" type="none"/>
            <a:tailEnd len="med" w="med" type="none"/>
          </a:ln>
        </p:spPr>
      </p:cxnSp>
      <p:cxnSp>
        <p:nvCxnSpPr>
          <p:cNvPr id="7334" name="Google Shape;7334;p310"/>
          <p:cNvCxnSpPr>
            <a:stCxn id="7324" idx="2"/>
            <a:endCxn id="7326" idx="7"/>
          </p:cNvCxnSpPr>
          <p:nvPr/>
        </p:nvCxnSpPr>
        <p:spPr>
          <a:xfrm flipH="1">
            <a:off x="1184085" y="1700783"/>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335" name="Google Shape;7335;p310"/>
          <p:cNvCxnSpPr>
            <a:stCxn id="7324" idx="2"/>
            <a:endCxn id="7325" idx="6"/>
          </p:cNvCxnSpPr>
          <p:nvPr/>
        </p:nvCxnSpPr>
        <p:spPr>
          <a:xfrm rot="10800000">
            <a:off x="628785" y="1700783"/>
            <a:ext cx="816600" cy="0"/>
          </a:xfrm>
          <a:prstGeom prst="straightConnector1">
            <a:avLst/>
          </a:prstGeom>
          <a:noFill/>
          <a:ln cap="flat" cmpd="sng" w="19050">
            <a:solidFill>
              <a:srgbClr val="666666"/>
            </a:solidFill>
            <a:prstDash val="solid"/>
            <a:round/>
            <a:headEnd len="med" w="med" type="none"/>
            <a:tailEnd len="med" w="med" type="none"/>
          </a:ln>
        </p:spPr>
      </p:cxnSp>
      <p:cxnSp>
        <p:nvCxnSpPr>
          <p:cNvPr id="7336" name="Google Shape;7336;p310"/>
          <p:cNvCxnSpPr>
            <a:stCxn id="7324" idx="0"/>
            <a:endCxn id="7323" idx="5"/>
          </p:cNvCxnSpPr>
          <p:nvPr/>
        </p:nvCxnSpPr>
        <p:spPr>
          <a:xfrm rot="10800000">
            <a:off x="1183935" y="1411133"/>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337" name="Google Shape;7337;p310"/>
          <p:cNvCxnSpPr>
            <a:stCxn id="7328" idx="0"/>
            <a:endCxn id="7326" idx="4"/>
          </p:cNvCxnSpPr>
          <p:nvPr/>
        </p:nvCxnSpPr>
        <p:spPr>
          <a:xfrm rot="10800000">
            <a:off x="1071845" y="2164838"/>
            <a:ext cx="0" cy="270000"/>
          </a:xfrm>
          <a:prstGeom prst="straightConnector1">
            <a:avLst/>
          </a:prstGeom>
          <a:noFill/>
          <a:ln cap="flat" cmpd="sng" w="19050">
            <a:solidFill>
              <a:srgbClr val="666666"/>
            </a:solidFill>
            <a:prstDash val="solid"/>
            <a:round/>
            <a:headEnd len="med" w="med" type="none"/>
            <a:tailEnd len="med" w="med" type="none"/>
          </a:ln>
        </p:spPr>
      </p:cxnSp>
      <p:cxnSp>
        <p:nvCxnSpPr>
          <p:cNvPr id="7338" name="Google Shape;7338;p310"/>
          <p:cNvCxnSpPr>
            <a:stCxn id="7327" idx="6"/>
            <a:endCxn id="7323" idx="4"/>
          </p:cNvCxnSpPr>
          <p:nvPr/>
        </p:nvCxnSpPr>
        <p:spPr>
          <a:xfrm flipH="1" rot="10800000">
            <a:off x="628800" y="1456454"/>
            <a:ext cx="443100" cy="863100"/>
          </a:xfrm>
          <a:prstGeom prst="straightConnector1">
            <a:avLst/>
          </a:prstGeom>
          <a:noFill/>
          <a:ln cap="flat" cmpd="sng" w="19050">
            <a:solidFill>
              <a:srgbClr val="666666"/>
            </a:solidFill>
            <a:prstDash val="solid"/>
            <a:round/>
            <a:headEnd len="med" w="med" type="none"/>
            <a:tailEnd len="med" w="med" type="none"/>
          </a:ln>
        </p:spPr>
      </p:cxnSp>
      <p:cxnSp>
        <p:nvCxnSpPr>
          <p:cNvPr id="7339" name="Google Shape;7339;p310"/>
          <p:cNvCxnSpPr>
            <a:stCxn id="7326" idx="0"/>
            <a:endCxn id="7323" idx="4"/>
          </p:cNvCxnSpPr>
          <p:nvPr/>
        </p:nvCxnSpPr>
        <p:spPr>
          <a:xfrm rot="10800000">
            <a:off x="1071845" y="1456519"/>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340" name="Google Shape;7340;p310"/>
          <p:cNvCxnSpPr>
            <a:stCxn id="7328" idx="6"/>
            <a:endCxn id="7324" idx="3"/>
          </p:cNvCxnSpPr>
          <p:nvPr/>
        </p:nvCxnSpPr>
        <p:spPr>
          <a:xfrm flipH="1" rot="10800000">
            <a:off x="1230395" y="1810088"/>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341" name="Google Shape;7341;p310"/>
          <p:cNvCxnSpPr>
            <a:stCxn id="7326" idx="1"/>
            <a:endCxn id="7325" idx="6"/>
          </p:cNvCxnSpPr>
          <p:nvPr/>
        </p:nvCxnSpPr>
        <p:spPr>
          <a:xfrm rot="10800000">
            <a:off x="628834" y="1700715"/>
            <a:ext cx="330900" cy="200100"/>
          </a:xfrm>
          <a:prstGeom prst="straightConnector1">
            <a:avLst/>
          </a:prstGeom>
          <a:noFill/>
          <a:ln cap="flat" cmpd="sng" w="19050">
            <a:solidFill>
              <a:srgbClr val="666666"/>
            </a:solidFill>
            <a:prstDash val="solid"/>
            <a:round/>
            <a:headEnd len="med" w="med" type="none"/>
            <a:tailEnd len="med" w="med" type="none"/>
          </a:ln>
        </p:spPr>
      </p:cxnSp>
      <p:sp>
        <p:nvSpPr>
          <p:cNvPr id="7342" name="Google Shape;7342;p310"/>
          <p:cNvSpPr/>
          <p:nvPr/>
        </p:nvSpPr>
        <p:spPr>
          <a:xfrm>
            <a:off x="1128323" y="311777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17</a:t>
            </a:r>
            <a:endParaRPr/>
          </a:p>
        </p:txBody>
      </p:sp>
      <p:sp>
        <p:nvSpPr>
          <p:cNvPr id="7343" name="Google Shape;7343;p310"/>
          <p:cNvSpPr/>
          <p:nvPr/>
        </p:nvSpPr>
        <p:spPr>
          <a:xfrm>
            <a:off x="1660413"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19</a:t>
            </a:r>
            <a:endParaRPr/>
          </a:p>
        </p:txBody>
      </p:sp>
      <p:sp>
        <p:nvSpPr>
          <p:cNvPr id="7344" name="Google Shape;7344;p310"/>
          <p:cNvSpPr/>
          <p:nvPr/>
        </p:nvSpPr>
        <p:spPr>
          <a:xfrm>
            <a:off x="596234"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18</a:t>
            </a:r>
            <a:endParaRPr/>
          </a:p>
        </p:txBody>
      </p:sp>
      <p:sp>
        <p:nvSpPr>
          <p:cNvPr id="7345" name="Google Shape;7345;p310"/>
          <p:cNvSpPr/>
          <p:nvPr/>
        </p:nvSpPr>
        <p:spPr>
          <a:xfrm>
            <a:off x="1128323" y="382607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20</a:t>
            </a:r>
            <a:endParaRPr/>
          </a:p>
        </p:txBody>
      </p:sp>
      <p:sp>
        <p:nvSpPr>
          <p:cNvPr id="7346" name="Google Shape;7346;p310"/>
          <p:cNvSpPr/>
          <p:nvPr/>
        </p:nvSpPr>
        <p:spPr>
          <a:xfrm>
            <a:off x="526728" y="413545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21</a:t>
            </a:r>
            <a:endParaRPr/>
          </a:p>
        </p:txBody>
      </p:sp>
      <p:sp>
        <p:nvSpPr>
          <p:cNvPr id="7347" name="Google Shape;7347;p310"/>
          <p:cNvSpPr/>
          <p:nvPr/>
        </p:nvSpPr>
        <p:spPr>
          <a:xfrm>
            <a:off x="1128323" y="440539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23</a:t>
            </a:r>
            <a:endParaRPr/>
          </a:p>
        </p:txBody>
      </p:sp>
      <p:sp>
        <p:nvSpPr>
          <p:cNvPr id="7348" name="Google Shape;7348;p310"/>
          <p:cNvSpPr/>
          <p:nvPr/>
        </p:nvSpPr>
        <p:spPr>
          <a:xfrm>
            <a:off x="1660786" y="4136262"/>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22</a:t>
            </a:r>
            <a:endParaRPr/>
          </a:p>
        </p:txBody>
      </p:sp>
      <p:cxnSp>
        <p:nvCxnSpPr>
          <p:cNvPr id="7349" name="Google Shape;7349;p310"/>
          <p:cNvCxnSpPr>
            <a:stCxn id="7342" idx="3"/>
            <a:endCxn id="7344" idx="7"/>
          </p:cNvCxnSpPr>
          <p:nvPr/>
        </p:nvCxnSpPr>
        <p:spPr>
          <a:xfrm flipH="1">
            <a:off x="866962" y="3381780"/>
            <a:ext cx="307800" cy="180300"/>
          </a:xfrm>
          <a:prstGeom prst="straightConnector1">
            <a:avLst/>
          </a:prstGeom>
          <a:noFill/>
          <a:ln cap="flat" cmpd="sng" w="19050">
            <a:solidFill>
              <a:srgbClr val="666666"/>
            </a:solidFill>
            <a:prstDash val="solid"/>
            <a:round/>
            <a:headEnd len="med" w="med" type="none"/>
            <a:tailEnd len="med" w="med" type="none"/>
          </a:ln>
        </p:spPr>
      </p:cxnSp>
      <p:cxnSp>
        <p:nvCxnSpPr>
          <p:cNvPr id="7350" name="Google Shape;7350;p310"/>
          <p:cNvCxnSpPr>
            <a:stCxn id="7347" idx="2"/>
            <a:endCxn id="7346" idx="5"/>
          </p:cNvCxnSpPr>
          <p:nvPr/>
        </p:nvCxnSpPr>
        <p:spPr>
          <a:xfrm rot="10800000">
            <a:off x="797423" y="4399540"/>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351" name="Google Shape;7351;p310"/>
          <p:cNvCxnSpPr>
            <a:stCxn id="7345" idx="2"/>
            <a:endCxn id="7346" idx="6"/>
          </p:cNvCxnSpPr>
          <p:nvPr/>
        </p:nvCxnSpPr>
        <p:spPr>
          <a:xfrm flipH="1">
            <a:off x="843923" y="3980720"/>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352" name="Google Shape;7352;p310"/>
          <p:cNvCxnSpPr>
            <a:stCxn id="7346" idx="0"/>
            <a:endCxn id="7344" idx="4"/>
          </p:cNvCxnSpPr>
          <p:nvPr/>
        </p:nvCxnSpPr>
        <p:spPr>
          <a:xfrm flipH="1" rot="10800000">
            <a:off x="685278" y="3825856"/>
            <a:ext cx="69600" cy="309600"/>
          </a:xfrm>
          <a:prstGeom prst="straightConnector1">
            <a:avLst/>
          </a:prstGeom>
          <a:noFill/>
          <a:ln cap="flat" cmpd="sng" w="19050">
            <a:solidFill>
              <a:srgbClr val="666666"/>
            </a:solidFill>
            <a:prstDash val="solid"/>
            <a:round/>
            <a:headEnd len="med" w="med" type="none"/>
            <a:tailEnd len="med" w="med" type="none"/>
          </a:ln>
        </p:spPr>
      </p:cxnSp>
      <p:cxnSp>
        <p:nvCxnSpPr>
          <p:cNvPr id="7353" name="Google Shape;7353;p310"/>
          <p:cNvCxnSpPr>
            <a:stCxn id="7343" idx="2"/>
            <a:endCxn id="7345" idx="7"/>
          </p:cNvCxnSpPr>
          <p:nvPr/>
        </p:nvCxnSpPr>
        <p:spPr>
          <a:xfrm flipH="1">
            <a:off x="1399113" y="3671335"/>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354" name="Google Shape;7354;p310"/>
          <p:cNvCxnSpPr>
            <a:stCxn id="7343" idx="0"/>
            <a:endCxn id="7342" idx="5"/>
          </p:cNvCxnSpPr>
          <p:nvPr/>
        </p:nvCxnSpPr>
        <p:spPr>
          <a:xfrm rot="10800000">
            <a:off x="1398963" y="3381685"/>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355" name="Google Shape;7355;p310"/>
          <p:cNvCxnSpPr>
            <a:stCxn id="7348" idx="0"/>
            <a:endCxn id="7343" idx="4"/>
          </p:cNvCxnSpPr>
          <p:nvPr/>
        </p:nvCxnSpPr>
        <p:spPr>
          <a:xfrm rot="10800000">
            <a:off x="1818886" y="3826062"/>
            <a:ext cx="600" cy="310200"/>
          </a:xfrm>
          <a:prstGeom prst="straightConnector1">
            <a:avLst/>
          </a:prstGeom>
          <a:noFill/>
          <a:ln cap="flat" cmpd="sng" w="19050">
            <a:solidFill>
              <a:srgbClr val="666666"/>
            </a:solidFill>
            <a:prstDash val="solid"/>
            <a:round/>
            <a:headEnd len="med" w="med" type="none"/>
            <a:tailEnd len="med" w="med" type="none"/>
          </a:ln>
        </p:spPr>
      </p:cxnSp>
      <p:cxnSp>
        <p:nvCxnSpPr>
          <p:cNvPr id="7356" name="Google Shape;7356;p310"/>
          <p:cNvCxnSpPr>
            <a:stCxn id="7347" idx="6"/>
            <a:endCxn id="7348" idx="3"/>
          </p:cNvCxnSpPr>
          <p:nvPr/>
        </p:nvCxnSpPr>
        <p:spPr>
          <a:xfrm flipH="1" rot="10800000">
            <a:off x="1445423" y="4405240"/>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357" name="Google Shape;7357;p310"/>
          <p:cNvCxnSpPr>
            <a:stCxn id="7346" idx="6"/>
            <a:endCxn id="7348" idx="2"/>
          </p:cNvCxnSpPr>
          <p:nvPr/>
        </p:nvCxnSpPr>
        <p:spPr>
          <a:xfrm>
            <a:off x="843828" y="4290106"/>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358" name="Google Shape;7358;p310"/>
          <p:cNvCxnSpPr>
            <a:stCxn id="7345" idx="0"/>
            <a:endCxn id="7342" idx="4"/>
          </p:cNvCxnSpPr>
          <p:nvPr/>
        </p:nvCxnSpPr>
        <p:spPr>
          <a:xfrm rot="10800000">
            <a:off x="1286873" y="3427070"/>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359" name="Google Shape;7359;p310"/>
          <p:cNvCxnSpPr>
            <a:stCxn id="7347" idx="6"/>
            <a:endCxn id="7343" idx="3"/>
          </p:cNvCxnSpPr>
          <p:nvPr/>
        </p:nvCxnSpPr>
        <p:spPr>
          <a:xfrm flipH="1" rot="10800000">
            <a:off x="1445423" y="3780640"/>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360" name="Google Shape;7360;p310"/>
          <p:cNvCxnSpPr>
            <a:stCxn id="7345" idx="1"/>
            <a:endCxn id="7344" idx="6"/>
          </p:cNvCxnSpPr>
          <p:nvPr/>
        </p:nvCxnSpPr>
        <p:spPr>
          <a:xfrm rot="10800000">
            <a:off x="913462" y="3671266"/>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361" name="Google Shape;7361;p310"/>
          <p:cNvCxnSpPr>
            <a:stCxn id="7346" idx="1"/>
            <a:endCxn id="7327" idx="4"/>
          </p:cNvCxnSpPr>
          <p:nvPr/>
        </p:nvCxnSpPr>
        <p:spPr>
          <a:xfrm rot="10800000">
            <a:off x="470266" y="2474352"/>
            <a:ext cx="102900" cy="1706400"/>
          </a:xfrm>
          <a:prstGeom prst="straightConnector1">
            <a:avLst/>
          </a:prstGeom>
          <a:noFill/>
          <a:ln cap="flat" cmpd="sng" w="19050">
            <a:solidFill>
              <a:srgbClr val="666666"/>
            </a:solidFill>
            <a:prstDash val="solid"/>
            <a:round/>
            <a:headEnd len="med" w="med" type="none"/>
            <a:tailEnd len="med" w="med" type="none"/>
          </a:ln>
        </p:spPr>
      </p:cxnSp>
      <p:sp>
        <p:nvSpPr>
          <p:cNvPr id="7362" name="Google Shape;7362;p310"/>
          <p:cNvSpPr/>
          <p:nvPr/>
        </p:nvSpPr>
        <p:spPr>
          <a:xfrm>
            <a:off x="2195893" y="18556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363" name="Google Shape;7363;p310"/>
          <p:cNvSpPr/>
          <p:nvPr/>
        </p:nvSpPr>
        <p:spPr>
          <a:xfrm>
            <a:off x="2195893" y="27130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364" name="Google Shape;7364;p310"/>
          <p:cNvSpPr/>
          <p:nvPr/>
        </p:nvSpPr>
        <p:spPr>
          <a:xfrm>
            <a:off x="256379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365" name="Google Shape;7365;p310"/>
          <p:cNvSpPr/>
          <p:nvPr/>
        </p:nvSpPr>
        <p:spPr>
          <a:xfrm>
            <a:off x="2880801"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366" name="Google Shape;7366;p310"/>
          <p:cNvSpPr/>
          <p:nvPr/>
        </p:nvSpPr>
        <p:spPr>
          <a:xfrm>
            <a:off x="3749082" y="1679501"/>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367" name="Google Shape;7367;p310"/>
          <p:cNvSpPr/>
          <p:nvPr/>
        </p:nvSpPr>
        <p:spPr>
          <a:xfrm>
            <a:off x="327440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sp>
        <p:nvSpPr>
          <p:cNvPr id="7368" name="Google Shape;7368;p310"/>
          <p:cNvSpPr/>
          <p:nvPr/>
        </p:nvSpPr>
        <p:spPr>
          <a:xfrm>
            <a:off x="4341627" y="2211777"/>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sp>
        <p:nvSpPr>
          <p:cNvPr id="7369" name="Google Shape;7369;p310"/>
          <p:cNvSpPr/>
          <p:nvPr/>
        </p:nvSpPr>
        <p:spPr>
          <a:xfrm>
            <a:off x="3374610" y="291580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15</a:t>
            </a:r>
            <a:endParaRPr/>
          </a:p>
        </p:txBody>
      </p:sp>
      <p:sp>
        <p:nvSpPr>
          <p:cNvPr id="7370" name="Google Shape;7370;p310"/>
          <p:cNvSpPr/>
          <p:nvPr/>
        </p:nvSpPr>
        <p:spPr>
          <a:xfrm>
            <a:off x="4223529" y="307246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16</a:t>
            </a:r>
            <a:endParaRPr/>
          </a:p>
        </p:txBody>
      </p:sp>
      <p:cxnSp>
        <p:nvCxnSpPr>
          <p:cNvPr id="7371" name="Google Shape;7371;p310"/>
          <p:cNvCxnSpPr>
            <a:stCxn id="7363" idx="0"/>
            <a:endCxn id="7362" idx="4"/>
          </p:cNvCxnSpPr>
          <p:nvPr/>
        </p:nvCxnSpPr>
        <p:spPr>
          <a:xfrm rot="10800000">
            <a:off x="2354443" y="2164904"/>
            <a:ext cx="0" cy="548100"/>
          </a:xfrm>
          <a:prstGeom prst="straightConnector1">
            <a:avLst/>
          </a:prstGeom>
          <a:noFill/>
          <a:ln cap="flat" cmpd="sng" w="19050">
            <a:solidFill>
              <a:srgbClr val="666666"/>
            </a:solidFill>
            <a:prstDash val="solid"/>
            <a:round/>
            <a:headEnd len="med" w="med" type="none"/>
            <a:tailEnd len="med" w="med" type="none"/>
          </a:ln>
        </p:spPr>
      </p:cxnSp>
      <p:cxnSp>
        <p:nvCxnSpPr>
          <p:cNvPr id="7372" name="Google Shape;7372;p310"/>
          <p:cNvCxnSpPr>
            <a:stCxn id="7364" idx="0"/>
            <a:endCxn id="7362" idx="5"/>
          </p:cNvCxnSpPr>
          <p:nvPr/>
        </p:nvCxnSpPr>
        <p:spPr>
          <a:xfrm rot="10800000">
            <a:off x="2466443" y="2119699"/>
            <a:ext cx="255900" cy="180300"/>
          </a:xfrm>
          <a:prstGeom prst="straightConnector1">
            <a:avLst/>
          </a:prstGeom>
          <a:noFill/>
          <a:ln cap="flat" cmpd="sng" w="19050">
            <a:solidFill>
              <a:srgbClr val="666666"/>
            </a:solidFill>
            <a:prstDash val="solid"/>
            <a:round/>
            <a:headEnd len="med" w="med" type="none"/>
            <a:tailEnd len="med" w="med" type="none"/>
          </a:ln>
        </p:spPr>
      </p:cxnSp>
      <p:cxnSp>
        <p:nvCxnSpPr>
          <p:cNvPr id="7373" name="Google Shape;7373;p310"/>
          <p:cNvCxnSpPr>
            <a:stCxn id="7363" idx="6"/>
            <a:endCxn id="7364" idx="4"/>
          </p:cNvCxnSpPr>
          <p:nvPr/>
        </p:nvCxnSpPr>
        <p:spPr>
          <a:xfrm flipH="1" rot="10800000">
            <a:off x="2512993" y="2609354"/>
            <a:ext cx="209400" cy="258300"/>
          </a:xfrm>
          <a:prstGeom prst="straightConnector1">
            <a:avLst/>
          </a:prstGeom>
          <a:noFill/>
          <a:ln cap="flat" cmpd="sng" w="19050">
            <a:solidFill>
              <a:srgbClr val="666666"/>
            </a:solidFill>
            <a:prstDash val="solid"/>
            <a:round/>
            <a:headEnd len="med" w="med" type="none"/>
            <a:tailEnd len="med" w="med" type="none"/>
          </a:ln>
        </p:spPr>
      </p:cxnSp>
      <p:cxnSp>
        <p:nvCxnSpPr>
          <p:cNvPr id="7374" name="Google Shape;7374;p310"/>
          <p:cNvCxnSpPr>
            <a:stCxn id="7362" idx="6"/>
            <a:endCxn id="7365" idx="2"/>
          </p:cNvCxnSpPr>
          <p:nvPr/>
        </p:nvCxnSpPr>
        <p:spPr>
          <a:xfrm flipH="1" rot="10800000">
            <a:off x="2512993" y="1700675"/>
            <a:ext cx="367800" cy="309600"/>
          </a:xfrm>
          <a:prstGeom prst="straightConnector1">
            <a:avLst/>
          </a:prstGeom>
          <a:noFill/>
          <a:ln cap="flat" cmpd="sng" w="19050">
            <a:solidFill>
              <a:srgbClr val="666666"/>
            </a:solidFill>
            <a:prstDash val="solid"/>
            <a:round/>
            <a:headEnd len="med" w="med" type="none"/>
            <a:tailEnd len="med" w="med" type="none"/>
          </a:ln>
        </p:spPr>
      </p:cxnSp>
      <p:cxnSp>
        <p:nvCxnSpPr>
          <p:cNvPr id="7375" name="Google Shape;7375;p310"/>
          <p:cNvCxnSpPr>
            <a:stCxn id="7366" idx="2"/>
            <a:endCxn id="7365" idx="6"/>
          </p:cNvCxnSpPr>
          <p:nvPr/>
        </p:nvCxnSpPr>
        <p:spPr>
          <a:xfrm rot="10800000">
            <a:off x="3197982" y="1700651"/>
            <a:ext cx="551100" cy="133500"/>
          </a:xfrm>
          <a:prstGeom prst="straightConnector1">
            <a:avLst/>
          </a:prstGeom>
          <a:noFill/>
          <a:ln cap="flat" cmpd="sng" w="19050">
            <a:solidFill>
              <a:srgbClr val="666666"/>
            </a:solidFill>
            <a:prstDash val="solid"/>
            <a:round/>
            <a:headEnd len="med" w="med" type="none"/>
            <a:tailEnd len="med" w="med" type="none"/>
          </a:ln>
        </p:spPr>
      </p:cxnSp>
      <p:cxnSp>
        <p:nvCxnSpPr>
          <p:cNvPr id="7376" name="Google Shape;7376;p310"/>
          <p:cNvCxnSpPr>
            <a:stCxn id="7368" idx="1"/>
            <a:endCxn id="7366" idx="5"/>
          </p:cNvCxnSpPr>
          <p:nvPr/>
        </p:nvCxnSpPr>
        <p:spPr>
          <a:xfrm rot="10800000">
            <a:off x="4019665" y="1943573"/>
            <a:ext cx="368400" cy="313500"/>
          </a:xfrm>
          <a:prstGeom prst="straightConnector1">
            <a:avLst/>
          </a:prstGeom>
          <a:noFill/>
          <a:ln cap="flat" cmpd="sng" w="19050">
            <a:solidFill>
              <a:srgbClr val="666666"/>
            </a:solidFill>
            <a:prstDash val="solid"/>
            <a:round/>
            <a:headEnd len="med" w="med" type="none"/>
            <a:tailEnd len="med" w="med" type="none"/>
          </a:ln>
        </p:spPr>
      </p:cxnSp>
      <p:cxnSp>
        <p:nvCxnSpPr>
          <p:cNvPr id="7377" name="Google Shape;7377;p310"/>
          <p:cNvCxnSpPr>
            <a:stCxn id="7367" idx="7"/>
            <a:endCxn id="7366" idx="4"/>
          </p:cNvCxnSpPr>
          <p:nvPr/>
        </p:nvCxnSpPr>
        <p:spPr>
          <a:xfrm flipH="1" rot="10800000">
            <a:off x="3545065" y="1988895"/>
            <a:ext cx="362700" cy="356400"/>
          </a:xfrm>
          <a:prstGeom prst="straightConnector1">
            <a:avLst/>
          </a:prstGeom>
          <a:noFill/>
          <a:ln cap="flat" cmpd="sng" w="19050">
            <a:solidFill>
              <a:srgbClr val="666666"/>
            </a:solidFill>
            <a:prstDash val="solid"/>
            <a:round/>
            <a:headEnd len="med" w="med" type="none"/>
            <a:tailEnd len="med" w="med" type="none"/>
          </a:ln>
        </p:spPr>
      </p:cxnSp>
      <p:cxnSp>
        <p:nvCxnSpPr>
          <p:cNvPr id="7378" name="Google Shape;7378;p310"/>
          <p:cNvCxnSpPr>
            <a:stCxn id="7370" idx="1"/>
            <a:endCxn id="7367" idx="5"/>
          </p:cNvCxnSpPr>
          <p:nvPr/>
        </p:nvCxnSpPr>
        <p:spPr>
          <a:xfrm rot="10800000">
            <a:off x="3545168" y="2563956"/>
            <a:ext cx="724800" cy="553800"/>
          </a:xfrm>
          <a:prstGeom prst="straightConnector1">
            <a:avLst/>
          </a:prstGeom>
          <a:noFill/>
          <a:ln cap="flat" cmpd="sng" w="19050">
            <a:solidFill>
              <a:srgbClr val="666666"/>
            </a:solidFill>
            <a:prstDash val="solid"/>
            <a:round/>
            <a:headEnd len="med" w="med" type="none"/>
            <a:tailEnd len="med" w="med" type="none"/>
          </a:ln>
        </p:spPr>
      </p:cxnSp>
      <p:cxnSp>
        <p:nvCxnSpPr>
          <p:cNvPr id="7379" name="Google Shape;7379;p310"/>
          <p:cNvCxnSpPr>
            <a:stCxn id="7370" idx="2"/>
            <a:endCxn id="7369" idx="5"/>
          </p:cNvCxnSpPr>
          <p:nvPr/>
        </p:nvCxnSpPr>
        <p:spPr>
          <a:xfrm rot="10800000">
            <a:off x="3645129" y="3179710"/>
            <a:ext cx="578400" cy="47400"/>
          </a:xfrm>
          <a:prstGeom prst="straightConnector1">
            <a:avLst/>
          </a:prstGeom>
          <a:noFill/>
          <a:ln cap="flat" cmpd="sng" w="19050">
            <a:solidFill>
              <a:srgbClr val="666666"/>
            </a:solidFill>
            <a:prstDash val="solid"/>
            <a:round/>
            <a:headEnd len="med" w="med" type="none"/>
            <a:tailEnd len="med" w="med" type="none"/>
          </a:ln>
        </p:spPr>
      </p:cxnSp>
      <p:cxnSp>
        <p:nvCxnSpPr>
          <p:cNvPr id="7380" name="Google Shape;7380;p310"/>
          <p:cNvCxnSpPr>
            <a:stCxn id="7369" idx="2"/>
            <a:endCxn id="7363" idx="6"/>
          </p:cNvCxnSpPr>
          <p:nvPr/>
        </p:nvCxnSpPr>
        <p:spPr>
          <a:xfrm rot="10800000">
            <a:off x="2513010" y="2867656"/>
            <a:ext cx="861600" cy="202800"/>
          </a:xfrm>
          <a:prstGeom prst="straightConnector1">
            <a:avLst/>
          </a:prstGeom>
          <a:noFill/>
          <a:ln cap="flat" cmpd="sng" w="19050">
            <a:solidFill>
              <a:srgbClr val="666666"/>
            </a:solidFill>
            <a:prstDash val="solid"/>
            <a:round/>
            <a:headEnd len="med" w="med" type="none"/>
            <a:tailEnd len="med" w="med" type="none"/>
          </a:ln>
        </p:spPr>
      </p:cxnSp>
      <p:cxnSp>
        <p:nvCxnSpPr>
          <p:cNvPr id="7381" name="Google Shape;7381;p310"/>
          <p:cNvCxnSpPr>
            <a:stCxn id="7370" idx="0"/>
            <a:endCxn id="7368" idx="4"/>
          </p:cNvCxnSpPr>
          <p:nvPr/>
        </p:nvCxnSpPr>
        <p:spPr>
          <a:xfrm flipH="1" rot="10800000">
            <a:off x="4382079" y="2521060"/>
            <a:ext cx="118200" cy="551400"/>
          </a:xfrm>
          <a:prstGeom prst="straightConnector1">
            <a:avLst/>
          </a:prstGeom>
          <a:noFill/>
          <a:ln cap="flat" cmpd="sng" w="19050">
            <a:solidFill>
              <a:srgbClr val="666666"/>
            </a:solidFill>
            <a:prstDash val="solid"/>
            <a:round/>
            <a:headEnd len="med" w="med" type="none"/>
            <a:tailEnd len="med" w="med" type="none"/>
          </a:ln>
        </p:spPr>
      </p:cxnSp>
      <p:cxnSp>
        <p:nvCxnSpPr>
          <p:cNvPr id="7382" name="Google Shape;7382;p310"/>
          <p:cNvCxnSpPr>
            <a:stCxn id="7367" idx="2"/>
            <a:endCxn id="7364" idx="6"/>
          </p:cNvCxnSpPr>
          <p:nvPr/>
        </p:nvCxnSpPr>
        <p:spPr>
          <a:xfrm rot="10800000">
            <a:off x="2880803" y="2454649"/>
            <a:ext cx="393600" cy="0"/>
          </a:xfrm>
          <a:prstGeom prst="straightConnector1">
            <a:avLst/>
          </a:prstGeom>
          <a:noFill/>
          <a:ln cap="flat" cmpd="sng" w="19050">
            <a:solidFill>
              <a:srgbClr val="666666"/>
            </a:solidFill>
            <a:prstDash val="solid"/>
            <a:round/>
            <a:headEnd len="med" w="med" type="none"/>
            <a:tailEnd len="med" w="med" type="none"/>
          </a:ln>
        </p:spPr>
      </p:cxnSp>
      <p:sp>
        <p:nvSpPr>
          <p:cNvPr id="7383" name="Google Shape;7383;p310"/>
          <p:cNvSpPr txBox="1"/>
          <p:nvPr>
            <p:ph idx="4294967295" type="body"/>
          </p:nvPr>
        </p:nvSpPr>
        <p:spPr>
          <a:xfrm>
            <a:off x="5342550" y="315925"/>
            <a:ext cx="3580800" cy="176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sz="1400"/>
              <a:t>Identify the k-connectivity of the input graph (G)</a:t>
            </a:r>
            <a:endParaRPr sz="1400">
              <a:solidFill>
                <a:srgbClr val="000000"/>
              </a:solidFill>
            </a:endParaRPr>
          </a:p>
          <a:p>
            <a:pPr indent="-317500" lvl="0" marL="457200" rtl="0" algn="l">
              <a:spcBef>
                <a:spcPts val="0"/>
              </a:spcBef>
              <a:spcAft>
                <a:spcPts val="0"/>
              </a:spcAft>
              <a:buClr>
                <a:srgbClr val="FF0000"/>
              </a:buClr>
              <a:buSzPts val="1400"/>
              <a:buAutoNum type="arabicPeriod"/>
            </a:pPr>
            <a:r>
              <a:rPr b="1" lang="en" sz="1400">
                <a:solidFill>
                  <a:srgbClr val="FF0000"/>
                </a:solidFill>
              </a:rPr>
              <a:t>Remove the k-cutset (vertices)</a:t>
            </a:r>
            <a:endParaRPr b="1" sz="1400">
              <a:solidFill>
                <a:srgbClr val="FF0000"/>
              </a:solidFill>
            </a:endParaRPr>
          </a:p>
          <a:p>
            <a:pPr indent="-317500" lvl="0" marL="457200" rtl="0" algn="l">
              <a:spcBef>
                <a:spcPts val="0"/>
              </a:spcBef>
              <a:spcAft>
                <a:spcPts val="0"/>
              </a:spcAft>
              <a:buSzPts val="1400"/>
              <a:buAutoNum type="arabicPeriod"/>
            </a:pPr>
            <a:r>
              <a:rPr lang="en" sz="1400"/>
              <a:t>Do the same on the resulting subgraphs until no more subdivisions can be obtained </a:t>
            </a:r>
            <a:endParaRPr sz="1400"/>
          </a:p>
          <a:p>
            <a:pPr indent="0" lvl="0" marL="914400" rtl="0" algn="l">
              <a:spcBef>
                <a:spcPts val="1600"/>
              </a:spcBef>
              <a:spcAft>
                <a:spcPts val="1600"/>
              </a:spcAft>
              <a:buNone/>
            </a:pPr>
            <a:r>
              <a:t/>
            </a:r>
            <a:endParaRPr sz="1400"/>
          </a:p>
        </p:txBody>
      </p:sp>
      <p:sp>
        <p:nvSpPr>
          <p:cNvPr id="7384" name="Google Shape;7384;p310"/>
          <p:cNvSpPr txBox="1"/>
          <p:nvPr>
            <p:ph type="title"/>
          </p:nvPr>
        </p:nvSpPr>
        <p:spPr>
          <a:xfrm>
            <a:off x="311700" y="315925"/>
            <a:ext cx="5405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385" name="Google Shape;7385;p310"/>
          <p:cNvSpPr/>
          <p:nvPr/>
        </p:nvSpPr>
        <p:spPr>
          <a:xfrm>
            <a:off x="6584850" y="1958150"/>
            <a:ext cx="863100" cy="4179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G</a:t>
            </a:r>
            <a:endParaRPr b="1"/>
          </a:p>
        </p:txBody>
      </p:sp>
      <p:cxnSp>
        <p:nvCxnSpPr>
          <p:cNvPr id="7386" name="Google Shape;7386;p310"/>
          <p:cNvCxnSpPr>
            <a:stCxn id="7385" idx="4"/>
            <a:endCxn id="7387" idx="0"/>
          </p:cNvCxnSpPr>
          <p:nvPr/>
        </p:nvCxnSpPr>
        <p:spPr>
          <a:xfrm flipH="1">
            <a:off x="6296100" y="2376050"/>
            <a:ext cx="720300" cy="770400"/>
          </a:xfrm>
          <a:prstGeom prst="straightConnector1">
            <a:avLst/>
          </a:prstGeom>
          <a:noFill/>
          <a:ln cap="flat" cmpd="sng" w="19050">
            <a:solidFill>
              <a:srgbClr val="666666"/>
            </a:solidFill>
            <a:prstDash val="solid"/>
            <a:round/>
            <a:headEnd len="med" w="med" type="none"/>
            <a:tailEnd len="med" w="med" type="triangle"/>
          </a:ln>
        </p:spPr>
      </p:cxnSp>
      <p:cxnSp>
        <p:nvCxnSpPr>
          <p:cNvPr id="7388" name="Google Shape;7388;p310"/>
          <p:cNvCxnSpPr>
            <a:stCxn id="7385" idx="4"/>
            <a:endCxn id="7389" idx="0"/>
          </p:cNvCxnSpPr>
          <p:nvPr/>
        </p:nvCxnSpPr>
        <p:spPr>
          <a:xfrm>
            <a:off x="7016400" y="2376050"/>
            <a:ext cx="902700" cy="738000"/>
          </a:xfrm>
          <a:prstGeom prst="straightConnector1">
            <a:avLst/>
          </a:prstGeom>
          <a:noFill/>
          <a:ln cap="flat" cmpd="sng" w="19050">
            <a:solidFill>
              <a:srgbClr val="666666"/>
            </a:solidFill>
            <a:prstDash val="solid"/>
            <a:round/>
            <a:headEnd len="med" w="med" type="none"/>
            <a:tailEnd len="med" w="med" type="triangle"/>
          </a:ln>
        </p:spPr>
      </p:cxnSp>
      <p:sp>
        <p:nvSpPr>
          <p:cNvPr id="7389" name="Google Shape;7389;p310"/>
          <p:cNvSpPr/>
          <p:nvPr/>
        </p:nvSpPr>
        <p:spPr>
          <a:xfrm>
            <a:off x="7318725" y="3114100"/>
            <a:ext cx="12006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b="1" lang="en" sz="1200">
                <a:solidFill>
                  <a:srgbClr val="FF0000"/>
                </a:solidFill>
              </a:rPr>
              <a:t>7</a:t>
            </a:r>
            <a:r>
              <a:rPr lang="en" sz="1200"/>
              <a:t>, 8, 9, 10, 11, 12, 13, 14, 15, 16</a:t>
            </a:r>
            <a:endParaRPr sz="1200"/>
          </a:p>
        </p:txBody>
      </p:sp>
      <p:sp>
        <p:nvSpPr>
          <p:cNvPr id="7387" name="Google Shape;7387;p310"/>
          <p:cNvSpPr/>
          <p:nvPr/>
        </p:nvSpPr>
        <p:spPr>
          <a:xfrm>
            <a:off x="5581050" y="3146455"/>
            <a:ext cx="14298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lang="en" sz="1200"/>
              <a:t>1, 2, 3, 4, 5, 6, 7, 17, 18, 19, 20, 21, 22, 23</a:t>
            </a:r>
            <a:endParaRPr sz="1200"/>
          </a:p>
        </p:txBody>
      </p:sp>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3" name="Shape 7393"/>
        <p:cNvGrpSpPr/>
        <p:nvPr/>
      </p:nvGrpSpPr>
      <p:grpSpPr>
        <a:xfrm>
          <a:off x="0" y="0"/>
          <a:ext cx="0" cy="0"/>
          <a:chOff x="0" y="0"/>
          <a:chExt cx="0" cy="0"/>
        </a:xfrm>
      </p:grpSpPr>
      <p:sp>
        <p:nvSpPr>
          <p:cNvPr id="7394" name="Google Shape;7394;p311"/>
          <p:cNvSpPr/>
          <p:nvPr/>
        </p:nvSpPr>
        <p:spPr>
          <a:xfrm>
            <a:off x="913295" y="11472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395" name="Google Shape;7395;p311"/>
          <p:cNvSpPr/>
          <p:nvPr/>
        </p:nvSpPr>
        <p:spPr>
          <a:xfrm>
            <a:off x="1445385"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396" name="Google Shape;7396;p311"/>
          <p:cNvSpPr/>
          <p:nvPr/>
        </p:nvSpPr>
        <p:spPr>
          <a:xfrm>
            <a:off x="311700"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397" name="Google Shape;7397;p311"/>
          <p:cNvSpPr/>
          <p:nvPr/>
        </p:nvSpPr>
        <p:spPr>
          <a:xfrm>
            <a:off x="913295" y="185551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398" name="Google Shape;7398;p311"/>
          <p:cNvSpPr/>
          <p:nvPr/>
        </p:nvSpPr>
        <p:spPr>
          <a:xfrm>
            <a:off x="311700" y="21649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7399" name="Google Shape;7399;p311"/>
          <p:cNvSpPr/>
          <p:nvPr/>
        </p:nvSpPr>
        <p:spPr>
          <a:xfrm>
            <a:off x="913295" y="2434838"/>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7400" name="Google Shape;7400;p311"/>
          <p:cNvCxnSpPr>
            <a:endCxn id="7396" idx="7"/>
          </p:cNvCxnSpPr>
          <p:nvPr/>
        </p:nvCxnSpPr>
        <p:spPr>
          <a:xfrm flipH="1">
            <a:off x="582362" y="1411129"/>
            <a:ext cx="377400" cy="180300"/>
          </a:xfrm>
          <a:prstGeom prst="straightConnector1">
            <a:avLst/>
          </a:prstGeom>
          <a:noFill/>
          <a:ln cap="flat" cmpd="sng" w="19050">
            <a:solidFill>
              <a:srgbClr val="666666"/>
            </a:solidFill>
            <a:prstDash val="solid"/>
            <a:round/>
            <a:headEnd len="med" w="med" type="none"/>
            <a:tailEnd len="med" w="med" type="none"/>
          </a:ln>
        </p:spPr>
      </p:cxnSp>
      <p:cxnSp>
        <p:nvCxnSpPr>
          <p:cNvPr id="7401" name="Google Shape;7401;p311"/>
          <p:cNvCxnSpPr>
            <a:stCxn id="7398" idx="0"/>
            <a:endCxn id="7396" idx="4"/>
          </p:cNvCxnSpPr>
          <p:nvPr/>
        </p:nvCxnSpPr>
        <p:spPr>
          <a:xfrm rot="10800000">
            <a:off x="470250" y="1855304"/>
            <a:ext cx="0" cy="309600"/>
          </a:xfrm>
          <a:prstGeom prst="straightConnector1">
            <a:avLst/>
          </a:prstGeom>
          <a:noFill/>
          <a:ln cap="flat" cmpd="sng" w="19050">
            <a:solidFill>
              <a:srgbClr val="999999"/>
            </a:solidFill>
            <a:prstDash val="solid"/>
            <a:round/>
            <a:headEnd len="med" w="med" type="none"/>
            <a:tailEnd len="med" w="med" type="none"/>
          </a:ln>
        </p:spPr>
      </p:cxnSp>
      <p:cxnSp>
        <p:nvCxnSpPr>
          <p:cNvPr id="7402" name="Google Shape;7402;p311"/>
          <p:cNvCxnSpPr>
            <a:stCxn id="7399" idx="2"/>
            <a:endCxn id="7398" idx="5"/>
          </p:cNvCxnSpPr>
          <p:nvPr/>
        </p:nvCxnSpPr>
        <p:spPr>
          <a:xfrm rot="10800000">
            <a:off x="582395" y="2428988"/>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403" name="Google Shape;7403;p311"/>
          <p:cNvCxnSpPr>
            <a:stCxn id="7397" idx="2"/>
            <a:endCxn id="7398" idx="6"/>
          </p:cNvCxnSpPr>
          <p:nvPr/>
        </p:nvCxnSpPr>
        <p:spPr>
          <a:xfrm flipH="1">
            <a:off x="628895" y="2010169"/>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404" name="Google Shape;7404;p311"/>
          <p:cNvCxnSpPr>
            <a:stCxn id="7399" idx="2"/>
            <a:endCxn id="7396" idx="4"/>
          </p:cNvCxnSpPr>
          <p:nvPr/>
        </p:nvCxnSpPr>
        <p:spPr>
          <a:xfrm rot="10800000">
            <a:off x="470195" y="1855388"/>
            <a:ext cx="443100" cy="734100"/>
          </a:xfrm>
          <a:prstGeom prst="straightConnector1">
            <a:avLst/>
          </a:prstGeom>
          <a:noFill/>
          <a:ln cap="flat" cmpd="sng" w="19050">
            <a:solidFill>
              <a:srgbClr val="666666"/>
            </a:solidFill>
            <a:prstDash val="solid"/>
            <a:round/>
            <a:headEnd len="med" w="med" type="none"/>
            <a:tailEnd len="med" w="med" type="none"/>
          </a:ln>
        </p:spPr>
      </p:cxnSp>
      <p:cxnSp>
        <p:nvCxnSpPr>
          <p:cNvPr id="7405" name="Google Shape;7405;p311"/>
          <p:cNvCxnSpPr>
            <a:stCxn id="7395" idx="2"/>
            <a:endCxn id="7397" idx="7"/>
          </p:cNvCxnSpPr>
          <p:nvPr/>
        </p:nvCxnSpPr>
        <p:spPr>
          <a:xfrm flipH="1">
            <a:off x="1184085" y="1700783"/>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406" name="Google Shape;7406;p311"/>
          <p:cNvCxnSpPr>
            <a:stCxn id="7395" idx="2"/>
            <a:endCxn id="7396" idx="6"/>
          </p:cNvCxnSpPr>
          <p:nvPr/>
        </p:nvCxnSpPr>
        <p:spPr>
          <a:xfrm rot="10800000">
            <a:off x="628785" y="1700783"/>
            <a:ext cx="816600" cy="0"/>
          </a:xfrm>
          <a:prstGeom prst="straightConnector1">
            <a:avLst/>
          </a:prstGeom>
          <a:noFill/>
          <a:ln cap="flat" cmpd="sng" w="19050">
            <a:solidFill>
              <a:srgbClr val="666666"/>
            </a:solidFill>
            <a:prstDash val="solid"/>
            <a:round/>
            <a:headEnd len="med" w="med" type="none"/>
            <a:tailEnd len="med" w="med" type="none"/>
          </a:ln>
        </p:spPr>
      </p:cxnSp>
      <p:cxnSp>
        <p:nvCxnSpPr>
          <p:cNvPr id="7407" name="Google Shape;7407;p311"/>
          <p:cNvCxnSpPr>
            <a:stCxn id="7395" idx="0"/>
            <a:endCxn id="7394" idx="5"/>
          </p:cNvCxnSpPr>
          <p:nvPr/>
        </p:nvCxnSpPr>
        <p:spPr>
          <a:xfrm rot="10800000">
            <a:off x="1183935" y="1411133"/>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408" name="Google Shape;7408;p311"/>
          <p:cNvCxnSpPr>
            <a:stCxn id="7399" idx="0"/>
            <a:endCxn id="7397" idx="4"/>
          </p:cNvCxnSpPr>
          <p:nvPr/>
        </p:nvCxnSpPr>
        <p:spPr>
          <a:xfrm rot="10800000">
            <a:off x="1071845" y="2164838"/>
            <a:ext cx="0" cy="270000"/>
          </a:xfrm>
          <a:prstGeom prst="straightConnector1">
            <a:avLst/>
          </a:prstGeom>
          <a:noFill/>
          <a:ln cap="flat" cmpd="sng" w="19050">
            <a:solidFill>
              <a:srgbClr val="666666"/>
            </a:solidFill>
            <a:prstDash val="solid"/>
            <a:round/>
            <a:headEnd len="med" w="med" type="none"/>
            <a:tailEnd len="med" w="med" type="none"/>
          </a:ln>
        </p:spPr>
      </p:cxnSp>
      <p:cxnSp>
        <p:nvCxnSpPr>
          <p:cNvPr id="7409" name="Google Shape;7409;p311"/>
          <p:cNvCxnSpPr>
            <a:stCxn id="7398" idx="6"/>
            <a:endCxn id="7394" idx="4"/>
          </p:cNvCxnSpPr>
          <p:nvPr/>
        </p:nvCxnSpPr>
        <p:spPr>
          <a:xfrm flipH="1" rot="10800000">
            <a:off x="628800" y="1456454"/>
            <a:ext cx="443100" cy="863100"/>
          </a:xfrm>
          <a:prstGeom prst="straightConnector1">
            <a:avLst/>
          </a:prstGeom>
          <a:noFill/>
          <a:ln cap="flat" cmpd="sng" w="19050">
            <a:solidFill>
              <a:srgbClr val="666666"/>
            </a:solidFill>
            <a:prstDash val="solid"/>
            <a:round/>
            <a:headEnd len="med" w="med" type="none"/>
            <a:tailEnd len="med" w="med" type="none"/>
          </a:ln>
        </p:spPr>
      </p:cxnSp>
      <p:cxnSp>
        <p:nvCxnSpPr>
          <p:cNvPr id="7410" name="Google Shape;7410;p311"/>
          <p:cNvCxnSpPr>
            <a:stCxn id="7397" idx="0"/>
            <a:endCxn id="7394" idx="4"/>
          </p:cNvCxnSpPr>
          <p:nvPr/>
        </p:nvCxnSpPr>
        <p:spPr>
          <a:xfrm rot="10800000">
            <a:off x="1071845" y="1456519"/>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411" name="Google Shape;7411;p311"/>
          <p:cNvCxnSpPr>
            <a:stCxn id="7399" idx="6"/>
            <a:endCxn id="7395" idx="3"/>
          </p:cNvCxnSpPr>
          <p:nvPr/>
        </p:nvCxnSpPr>
        <p:spPr>
          <a:xfrm flipH="1" rot="10800000">
            <a:off x="1230395" y="1810088"/>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412" name="Google Shape;7412;p311"/>
          <p:cNvCxnSpPr>
            <a:stCxn id="7397" idx="1"/>
            <a:endCxn id="7396" idx="6"/>
          </p:cNvCxnSpPr>
          <p:nvPr/>
        </p:nvCxnSpPr>
        <p:spPr>
          <a:xfrm rot="10800000">
            <a:off x="628834" y="1700715"/>
            <a:ext cx="330900" cy="200100"/>
          </a:xfrm>
          <a:prstGeom prst="straightConnector1">
            <a:avLst/>
          </a:prstGeom>
          <a:noFill/>
          <a:ln cap="flat" cmpd="sng" w="19050">
            <a:solidFill>
              <a:srgbClr val="666666"/>
            </a:solidFill>
            <a:prstDash val="solid"/>
            <a:round/>
            <a:headEnd len="med" w="med" type="none"/>
            <a:tailEnd len="med" w="med" type="none"/>
          </a:ln>
        </p:spPr>
      </p:cxnSp>
      <p:sp>
        <p:nvSpPr>
          <p:cNvPr id="7413" name="Google Shape;7413;p311"/>
          <p:cNvSpPr/>
          <p:nvPr/>
        </p:nvSpPr>
        <p:spPr>
          <a:xfrm>
            <a:off x="1128323" y="311777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17</a:t>
            </a:r>
            <a:endParaRPr/>
          </a:p>
        </p:txBody>
      </p:sp>
      <p:sp>
        <p:nvSpPr>
          <p:cNvPr id="7414" name="Google Shape;7414;p311"/>
          <p:cNvSpPr/>
          <p:nvPr/>
        </p:nvSpPr>
        <p:spPr>
          <a:xfrm>
            <a:off x="1660413"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19</a:t>
            </a:r>
            <a:endParaRPr/>
          </a:p>
        </p:txBody>
      </p:sp>
      <p:sp>
        <p:nvSpPr>
          <p:cNvPr id="7415" name="Google Shape;7415;p311"/>
          <p:cNvSpPr/>
          <p:nvPr/>
        </p:nvSpPr>
        <p:spPr>
          <a:xfrm>
            <a:off x="596234"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18</a:t>
            </a:r>
            <a:endParaRPr/>
          </a:p>
        </p:txBody>
      </p:sp>
      <p:sp>
        <p:nvSpPr>
          <p:cNvPr id="7416" name="Google Shape;7416;p311"/>
          <p:cNvSpPr/>
          <p:nvPr/>
        </p:nvSpPr>
        <p:spPr>
          <a:xfrm>
            <a:off x="1128323" y="382607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20</a:t>
            </a:r>
            <a:endParaRPr/>
          </a:p>
        </p:txBody>
      </p:sp>
      <p:sp>
        <p:nvSpPr>
          <p:cNvPr id="7417" name="Google Shape;7417;p311"/>
          <p:cNvSpPr/>
          <p:nvPr/>
        </p:nvSpPr>
        <p:spPr>
          <a:xfrm>
            <a:off x="526728" y="413545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21</a:t>
            </a:r>
            <a:endParaRPr/>
          </a:p>
        </p:txBody>
      </p:sp>
      <p:sp>
        <p:nvSpPr>
          <p:cNvPr id="7418" name="Google Shape;7418;p311"/>
          <p:cNvSpPr/>
          <p:nvPr/>
        </p:nvSpPr>
        <p:spPr>
          <a:xfrm>
            <a:off x="1128323" y="440539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23</a:t>
            </a:r>
            <a:endParaRPr/>
          </a:p>
        </p:txBody>
      </p:sp>
      <p:sp>
        <p:nvSpPr>
          <p:cNvPr id="7419" name="Google Shape;7419;p311"/>
          <p:cNvSpPr/>
          <p:nvPr/>
        </p:nvSpPr>
        <p:spPr>
          <a:xfrm>
            <a:off x="1660786" y="4136262"/>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22</a:t>
            </a:r>
            <a:endParaRPr/>
          </a:p>
        </p:txBody>
      </p:sp>
      <p:cxnSp>
        <p:nvCxnSpPr>
          <p:cNvPr id="7420" name="Google Shape;7420;p311"/>
          <p:cNvCxnSpPr>
            <a:stCxn id="7413" idx="3"/>
            <a:endCxn id="7415" idx="7"/>
          </p:cNvCxnSpPr>
          <p:nvPr/>
        </p:nvCxnSpPr>
        <p:spPr>
          <a:xfrm flipH="1">
            <a:off x="866962" y="3381780"/>
            <a:ext cx="307800" cy="180300"/>
          </a:xfrm>
          <a:prstGeom prst="straightConnector1">
            <a:avLst/>
          </a:prstGeom>
          <a:noFill/>
          <a:ln cap="flat" cmpd="sng" w="19050">
            <a:solidFill>
              <a:srgbClr val="666666"/>
            </a:solidFill>
            <a:prstDash val="solid"/>
            <a:round/>
            <a:headEnd len="med" w="med" type="none"/>
            <a:tailEnd len="med" w="med" type="none"/>
          </a:ln>
        </p:spPr>
      </p:cxnSp>
      <p:cxnSp>
        <p:nvCxnSpPr>
          <p:cNvPr id="7421" name="Google Shape;7421;p311"/>
          <p:cNvCxnSpPr>
            <a:stCxn id="7418" idx="2"/>
            <a:endCxn id="7417" idx="5"/>
          </p:cNvCxnSpPr>
          <p:nvPr/>
        </p:nvCxnSpPr>
        <p:spPr>
          <a:xfrm rot="10800000">
            <a:off x="797423" y="4399540"/>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422" name="Google Shape;7422;p311"/>
          <p:cNvCxnSpPr>
            <a:stCxn id="7416" idx="2"/>
            <a:endCxn id="7417" idx="6"/>
          </p:cNvCxnSpPr>
          <p:nvPr/>
        </p:nvCxnSpPr>
        <p:spPr>
          <a:xfrm flipH="1">
            <a:off x="843923" y="3980720"/>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423" name="Google Shape;7423;p311"/>
          <p:cNvCxnSpPr>
            <a:stCxn id="7417" idx="0"/>
            <a:endCxn id="7415" idx="4"/>
          </p:cNvCxnSpPr>
          <p:nvPr/>
        </p:nvCxnSpPr>
        <p:spPr>
          <a:xfrm flipH="1" rot="10800000">
            <a:off x="685278" y="3825856"/>
            <a:ext cx="69600" cy="309600"/>
          </a:xfrm>
          <a:prstGeom prst="straightConnector1">
            <a:avLst/>
          </a:prstGeom>
          <a:noFill/>
          <a:ln cap="flat" cmpd="sng" w="19050">
            <a:solidFill>
              <a:srgbClr val="666666"/>
            </a:solidFill>
            <a:prstDash val="solid"/>
            <a:round/>
            <a:headEnd len="med" w="med" type="none"/>
            <a:tailEnd len="med" w="med" type="none"/>
          </a:ln>
        </p:spPr>
      </p:cxnSp>
      <p:cxnSp>
        <p:nvCxnSpPr>
          <p:cNvPr id="7424" name="Google Shape;7424;p311"/>
          <p:cNvCxnSpPr>
            <a:stCxn id="7414" idx="2"/>
            <a:endCxn id="7416" idx="7"/>
          </p:cNvCxnSpPr>
          <p:nvPr/>
        </p:nvCxnSpPr>
        <p:spPr>
          <a:xfrm flipH="1">
            <a:off x="1399113" y="3671335"/>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425" name="Google Shape;7425;p311"/>
          <p:cNvCxnSpPr>
            <a:stCxn id="7414" idx="0"/>
            <a:endCxn id="7413" idx="5"/>
          </p:cNvCxnSpPr>
          <p:nvPr/>
        </p:nvCxnSpPr>
        <p:spPr>
          <a:xfrm rot="10800000">
            <a:off x="1398963" y="3381685"/>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426" name="Google Shape;7426;p311"/>
          <p:cNvCxnSpPr>
            <a:stCxn id="7419" idx="0"/>
            <a:endCxn id="7414" idx="4"/>
          </p:cNvCxnSpPr>
          <p:nvPr/>
        </p:nvCxnSpPr>
        <p:spPr>
          <a:xfrm rot="10800000">
            <a:off x="1818886" y="3826062"/>
            <a:ext cx="600" cy="310200"/>
          </a:xfrm>
          <a:prstGeom prst="straightConnector1">
            <a:avLst/>
          </a:prstGeom>
          <a:noFill/>
          <a:ln cap="flat" cmpd="sng" w="19050">
            <a:solidFill>
              <a:srgbClr val="666666"/>
            </a:solidFill>
            <a:prstDash val="solid"/>
            <a:round/>
            <a:headEnd len="med" w="med" type="none"/>
            <a:tailEnd len="med" w="med" type="none"/>
          </a:ln>
        </p:spPr>
      </p:cxnSp>
      <p:cxnSp>
        <p:nvCxnSpPr>
          <p:cNvPr id="7427" name="Google Shape;7427;p311"/>
          <p:cNvCxnSpPr>
            <a:stCxn id="7418" idx="6"/>
            <a:endCxn id="7419" idx="3"/>
          </p:cNvCxnSpPr>
          <p:nvPr/>
        </p:nvCxnSpPr>
        <p:spPr>
          <a:xfrm flipH="1" rot="10800000">
            <a:off x="1445423" y="4405240"/>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428" name="Google Shape;7428;p311"/>
          <p:cNvCxnSpPr>
            <a:stCxn id="7417" idx="6"/>
            <a:endCxn id="7419" idx="2"/>
          </p:cNvCxnSpPr>
          <p:nvPr/>
        </p:nvCxnSpPr>
        <p:spPr>
          <a:xfrm>
            <a:off x="843828" y="4290106"/>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429" name="Google Shape;7429;p311"/>
          <p:cNvCxnSpPr>
            <a:stCxn id="7416" idx="0"/>
            <a:endCxn id="7413" idx="4"/>
          </p:cNvCxnSpPr>
          <p:nvPr/>
        </p:nvCxnSpPr>
        <p:spPr>
          <a:xfrm rot="10800000">
            <a:off x="1286873" y="3427070"/>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430" name="Google Shape;7430;p311"/>
          <p:cNvCxnSpPr>
            <a:stCxn id="7418" idx="6"/>
            <a:endCxn id="7414" idx="3"/>
          </p:cNvCxnSpPr>
          <p:nvPr/>
        </p:nvCxnSpPr>
        <p:spPr>
          <a:xfrm flipH="1" rot="10800000">
            <a:off x="1445423" y="3780640"/>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431" name="Google Shape;7431;p311"/>
          <p:cNvCxnSpPr>
            <a:stCxn id="7416" idx="1"/>
            <a:endCxn id="7415" idx="6"/>
          </p:cNvCxnSpPr>
          <p:nvPr/>
        </p:nvCxnSpPr>
        <p:spPr>
          <a:xfrm rot="10800000">
            <a:off x="913462" y="3671266"/>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432" name="Google Shape;7432;p311"/>
          <p:cNvCxnSpPr>
            <a:stCxn id="7417" idx="1"/>
            <a:endCxn id="7398" idx="4"/>
          </p:cNvCxnSpPr>
          <p:nvPr/>
        </p:nvCxnSpPr>
        <p:spPr>
          <a:xfrm rot="10800000">
            <a:off x="470266" y="2474352"/>
            <a:ext cx="102900" cy="1706400"/>
          </a:xfrm>
          <a:prstGeom prst="straightConnector1">
            <a:avLst/>
          </a:prstGeom>
          <a:noFill/>
          <a:ln cap="flat" cmpd="sng" w="19050">
            <a:solidFill>
              <a:srgbClr val="666666"/>
            </a:solidFill>
            <a:prstDash val="solid"/>
            <a:round/>
            <a:headEnd len="med" w="med" type="none"/>
            <a:tailEnd len="med" w="med" type="none"/>
          </a:ln>
        </p:spPr>
      </p:cxnSp>
      <p:sp>
        <p:nvSpPr>
          <p:cNvPr id="7433" name="Google Shape;7433;p311"/>
          <p:cNvSpPr/>
          <p:nvPr/>
        </p:nvSpPr>
        <p:spPr>
          <a:xfrm>
            <a:off x="2195893" y="18556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434" name="Google Shape;7434;p311"/>
          <p:cNvSpPr/>
          <p:nvPr/>
        </p:nvSpPr>
        <p:spPr>
          <a:xfrm>
            <a:off x="2195893" y="27130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435" name="Google Shape;7435;p311"/>
          <p:cNvSpPr/>
          <p:nvPr/>
        </p:nvSpPr>
        <p:spPr>
          <a:xfrm>
            <a:off x="256379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436" name="Google Shape;7436;p311"/>
          <p:cNvSpPr/>
          <p:nvPr/>
        </p:nvSpPr>
        <p:spPr>
          <a:xfrm>
            <a:off x="2880801"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437" name="Google Shape;7437;p311"/>
          <p:cNvSpPr/>
          <p:nvPr/>
        </p:nvSpPr>
        <p:spPr>
          <a:xfrm>
            <a:off x="3749082" y="1679501"/>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438" name="Google Shape;7438;p311"/>
          <p:cNvSpPr/>
          <p:nvPr/>
        </p:nvSpPr>
        <p:spPr>
          <a:xfrm>
            <a:off x="327440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sp>
        <p:nvSpPr>
          <p:cNvPr id="7439" name="Google Shape;7439;p311"/>
          <p:cNvSpPr/>
          <p:nvPr/>
        </p:nvSpPr>
        <p:spPr>
          <a:xfrm>
            <a:off x="4341627" y="2211777"/>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sp>
        <p:nvSpPr>
          <p:cNvPr id="7440" name="Google Shape;7440;p311"/>
          <p:cNvSpPr/>
          <p:nvPr/>
        </p:nvSpPr>
        <p:spPr>
          <a:xfrm>
            <a:off x="3374610" y="291580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15</a:t>
            </a:r>
            <a:endParaRPr/>
          </a:p>
        </p:txBody>
      </p:sp>
      <p:sp>
        <p:nvSpPr>
          <p:cNvPr id="7441" name="Google Shape;7441;p311"/>
          <p:cNvSpPr/>
          <p:nvPr/>
        </p:nvSpPr>
        <p:spPr>
          <a:xfrm>
            <a:off x="4223529" y="307246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16</a:t>
            </a:r>
            <a:endParaRPr/>
          </a:p>
        </p:txBody>
      </p:sp>
      <p:cxnSp>
        <p:nvCxnSpPr>
          <p:cNvPr id="7442" name="Google Shape;7442;p311"/>
          <p:cNvCxnSpPr>
            <a:stCxn id="7434" idx="0"/>
            <a:endCxn id="7433" idx="4"/>
          </p:cNvCxnSpPr>
          <p:nvPr/>
        </p:nvCxnSpPr>
        <p:spPr>
          <a:xfrm rot="10800000">
            <a:off x="2354443" y="2164904"/>
            <a:ext cx="0" cy="548100"/>
          </a:xfrm>
          <a:prstGeom prst="straightConnector1">
            <a:avLst/>
          </a:prstGeom>
          <a:noFill/>
          <a:ln cap="flat" cmpd="sng" w="19050">
            <a:solidFill>
              <a:srgbClr val="666666"/>
            </a:solidFill>
            <a:prstDash val="solid"/>
            <a:round/>
            <a:headEnd len="med" w="med" type="none"/>
            <a:tailEnd len="med" w="med" type="none"/>
          </a:ln>
        </p:spPr>
      </p:cxnSp>
      <p:cxnSp>
        <p:nvCxnSpPr>
          <p:cNvPr id="7443" name="Google Shape;7443;p311"/>
          <p:cNvCxnSpPr>
            <a:stCxn id="7435" idx="0"/>
            <a:endCxn id="7433" idx="5"/>
          </p:cNvCxnSpPr>
          <p:nvPr/>
        </p:nvCxnSpPr>
        <p:spPr>
          <a:xfrm rot="10800000">
            <a:off x="2466443" y="2119699"/>
            <a:ext cx="255900" cy="180300"/>
          </a:xfrm>
          <a:prstGeom prst="straightConnector1">
            <a:avLst/>
          </a:prstGeom>
          <a:noFill/>
          <a:ln cap="flat" cmpd="sng" w="19050">
            <a:solidFill>
              <a:srgbClr val="666666"/>
            </a:solidFill>
            <a:prstDash val="solid"/>
            <a:round/>
            <a:headEnd len="med" w="med" type="none"/>
            <a:tailEnd len="med" w="med" type="none"/>
          </a:ln>
        </p:spPr>
      </p:cxnSp>
      <p:cxnSp>
        <p:nvCxnSpPr>
          <p:cNvPr id="7444" name="Google Shape;7444;p311"/>
          <p:cNvCxnSpPr>
            <a:stCxn id="7434" idx="6"/>
            <a:endCxn id="7435" idx="4"/>
          </p:cNvCxnSpPr>
          <p:nvPr/>
        </p:nvCxnSpPr>
        <p:spPr>
          <a:xfrm flipH="1" rot="10800000">
            <a:off x="2512993" y="2609354"/>
            <a:ext cx="209400" cy="258300"/>
          </a:xfrm>
          <a:prstGeom prst="straightConnector1">
            <a:avLst/>
          </a:prstGeom>
          <a:noFill/>
          <a:ln cap="flat" cmpd="sng" w="19050">
            <a:solidFill>
              <a:srgbClr val="666666"/>
            </a:solidFill>
            <a:prstDash val="solid"/>
            <a:round/>
            <a:headEnd len="med" w="med" type="none"/>
            <a:tailEnd len="med" w="med" type="none"/>
          </a:ln>
        </p:spPr>
      </p:cxnSp>
      <p:cxnSp>
        <p:nvCxnSpPr>
          <p:cNvPr id="7445" name="Google Shape;7445;p311"/>
          <p:cNvCxnSpPr>
            <a:stCxn id="7433" idx="6"/>
            <a:endCxn id="7436" idx="2"/>
          </p:cNvCxnSpPr>
          <p:nvPr/>
        </p:nvCxnSpPr>
        <p:spPr>
          <a:xfrm flipH="1" rot="10800000">
            <a:off x="2512993" y="1700675"/>
            <a:ext cx="367800" cy="309600"/>
          </a:xfrm>
          <a:prstGeom prst="straightConnector1">
            <a:avLst/>
          </a:prstGeom>
          <a:noFill/>
          <a:ln cap="flat" cmpd="sng" w="19050">
            <a:solidFill>
              <a:srgbClr val="666666"/>
            </a:solidFill>
            <a:prstDash val="solid"/>
            <a:round/>
            <a:headEnd len="med" w="med" type="none"/>
            <a:tailEnd len="med" w="med" type="none"/>
          </a:ln>
        </p:spPr>
      </p:cxnSp>
      <p:cxnSp>
        <p:nvCxnSpPr>
          <p:cNvPr id="7446" name="Google Shape;7446;p311"/>
          <p:cNvCxnSpPr>
            <a:stCxn id="7437" idx="2"/>
            <a:endCxn id="7436" idx="6"/>
          </p:cNvCxnSpPr>
          <p:nvPr/>
        </p:nvCxnSpPr>
        <p:spPr>
          <a:xfrm rot="10800000">
            <a:off x="3197982" y="1700651"/>
            <a:ext cx="551100" cy="133500"/>
          </a:xfrm>
          <a:prstGeom prst="straightConnector1">
            <a:avLst/>
          </a:prstGeom>
          <a:noFill/>
          <a:ln cap="flat" cmpd="sng" w="19050">
            <a:solidFill>
              <a:srgbClr val="666666"/>
            </a:solidFill>
            <a:prstDash val="solid"/>
            <a:round/>
            <a:headEnd len="med" w="med" type="none"/>
            <a:tailEnd len="med" w="med" type="none"/>
          </a:ln>
        </p:spPr>
      </p:cxnSp>
      <p:cxnSp>
        <p:nvCxnSpPr>
          <p:cNvPr id="7447" name="Google Shape;7447;p311"/>
          <p:cNvCxnSpPr>
            <a:stCxn id="7439" idx="1"/>
            <a:endCxn id="7437" idx="5"/>
          </p:cNvCxnSpPr>
          <p:nvPr/>
        </p:nvCxnSpPr>
        <p:spPr>
          <a:xfrm rot="10800000">
            <a:off x="4019665" y="1943573"/>
            <a:ext cx="368400" cy="313500"/>
          </a:xfrm>
          <a:prstGeom prst="straightConnector1">
            <a:avLst/>
          </a:prstGeom>
          <a:noFill/>
          <a:ln cap="flat" cmpd="sng" w="19050">
            <a:solidFill>
              <a:srgbClr val="666666"/>
            </a:solidFill>
            <a:prstDash val="solid"/>
            <a:round/>
            <a:headEnd len="med" w="med" type="none"/>
            <a:tailEnd len="med" w="med" type="none"/>
          </a:ln>
        </p:spPr>
      </p:cxnSp>
      <p:cxnSp>
        <p:nvCxnSpPr>
          <p:cNvPr id="7448" name="Google Shape;7448;p311"/>
          <p:cNvCxnSpPr>
            <a:stCxn id="7438" idx="7"/>
            <a:endCxn id="7437" idx="4"/>
          </p:cNvCxnSpPr>
          <p:nvPr/>
        </p:nvCxnSpPr>
        <p:spPr>
          <a:xfrm flipH="1" rot="10800000">
            <a:off x="3545065" y="1988895"/>
            <a:ext cx="362700" cy="356400"/>
          </a:xfrm>
          <a:prstGeom prst="straightConnector1">
            <a:avLst/>
          </a:prstGeom>
          <a:noFill/>
          <a:ln cap="flat" cmpd="sng" w="19050">
            <a:solidFill>
              <a:srgbClr val="666666"/>
            </a:solidFill>
            <a:prstDash val="solid"/>
            <a:round/>
            <a:headEnd len="med" w="med" type="none"/>
            <a:tailEnd len="med" w="med" type="none"/>
          </a:ln>
        </p:spPr>
      </p:cxnSp>
      <p:cxnSp>
        <p:nvCxnSpPr>
          <p:cNvPr id="7449" name="Google Shape;7449;p311"/>
          <p:cNvCxnSpPr>
            <a:stCxn id="7441" idx="1"/>
            <a:endCxn id="7438" idx="5"/>
          </p:cNvCxnSpPr>
          <p:nvPr/>
        </p:nvCxnSpPr>
        <p:spPr>
          <a:xfrm rot="10800000">
            <a:off x="3545168" y="2563956"/>
            <a:ext cx="724800" cy="553800"/>
          </a:xfrm>
          <a:prstGeom prst="straightConnector1">
            <a:avLst/>
          </a:prstGeom>
          <a:noFill/>
          <a:ln cap="flat" cmpd="sng" w="19050">
            <a:solidFill>
              <a:srgbClr val="666666"/>
            </a:solidFill>
            <a:prstDash val="solid"/>
            <a:round/>
            <a:headEnd len="med" w="med" type="none"/>
            <a:tailEnd len="med" w="med" type="none"/>
          </a:ln>
        </p:spPr>
      </p:cxnSp>
      <p:cxnSp>
        <p:nvCxnSpPr>
          <p:cNvPr id="7450" name="Google Shape;7450;p311"/>
          <p:cNvCxnSpPr>
            <a:stCxn id="7441" idx="2"/>
            <a:endCxn id="7440" idx="5"/>
          </p:cNvCxnSpPr>
          <p:nvPr/>
        </p:nvCxnSpPr>
        <p:spPr>
          <a:xfrm rot="10800000">
            <a:off x="3645129" y="3179710"/>
            <a:ext cx="578400" cy="47400"/>
          </a:xfrm>
          <a:prstGeom prst="straightConnector1">
            <a:avLst/>
          </a:prstGeom>
          <a:noFill/>
          <a:ln cap="flat" cmpd="sng" w="19050">
            <a:solidFill>
              <a:srgbClr val="666666"/>
            </a:solidFill>
            <a:prstDash val="solid"/>
            <a:round/>
            <a:headEnd len="med" w="med" type="none"/>
            <a:tailEnd len="med" w="med" type="none"/>
          </a:ln>
        </p:spPr>
      </p:cxnSp>
      <p:cxnSp>
        <p:nvCxnSpPr>
          <p:cNvPr id="7451" name="Google Shape;7451;p311"/>
          <p:cNvCxnSpPr>
            <a:stCxn id="7440" idx="2"/>
            <a:endCxn id="7434" idx="6"/>
          </p:cNvCxnSpPr>
          <p:nvPr/>
        </p:nvCxnSpPr>
        <p:spPr>
          <a:xfrm rot="10800000">
            <a:off x="2513010" y="2867656"/>
            <a:ext cx="861600" cy="202800"/>
          </a:xfrm>
          <a:prstGeom prst="straightConnector1">
            <a:avLst/>
          </a:prstGeom>
          <a:noFill/>
          <a:ln cap="flat" cmpd="sng" w="19050">
            <a:solidFill>
              <a:srgbClr val="666666"/>
            </a:solidFill>
            <a:prstDash val="solid"/>
            <a:round/>
            <a:headEnd len="med" w="med" type="none"/>
            <a:tailEnd len="med" w="med" type="none"/>
          </a:ln>
        </p:spPr>
      </p:cxnSp>
      <p:cxnSp>
        <p:nvCxnSpPr>
          <p:cNvPr id="7452" name="Google Shape;7452;p311"/>
          <p:cNvCxnSpPr>
            <a:stCxn id="7441" idx="0"/>
            <a:endCxn id="7439" idx="4"/>
          </p:cNvCxnSpPr>
          <p:nvPr/>
        </p:nvCxnSpPr>
        <p:spPr>
          <a:xfrm flipH="1" rot="10800000">
            <a:off x="4382079" y="2521060"/>
            <a:ext cx="118200" cy="551400"/>
          </a:xfrm>
          <a:prstGeom prst="straightConnector1">
            <a:avLst/>
          </a:prstGeom>
          <a:noFill/>
          <a:ln cap="flat" cmpd="sng" w="19050">
            <a:solidFill>
              <a:srgbClr val="666666"/>
            </a:solidFill>
            <a:prstDash val="solid"/>
            <a:round/>
            <a:headEnd len="med" w="med" type="none"/>
            <a:tailEnd len="med" w="med" type="none"/>
          </a:ln>
        </p:spPr>
      </p:cxnSp>
      <p:cxnSp>
        <p:nvCxnSpPr>
          <p:cNvPr id="7453" name="Google Shape;7453;p311"/>
          <p:cNvCxnSpPr>
            <a:stCxn id="7438" idx="2"/>
            <a:endCxn id="7435" idx="6"/>
          </p:cNvCxnSpPr>
          <p:nvPr/>
        </p:nvCxnSpPr>
        <p:spPr>
          <a:xfrm rot="10800000">
            <a:off x="2880803" y="2454649"/>
            <a:ext cx="393600" cy="0"/>
          </a:xfrm>
          <a:prstGeom prst="straightConnector1">
            <a:avLst/>
          </a:prstGeom>
          <a:noFill/>
          <a:ln cap="flat" cmpd="sng" w="19050">
            <a:solidFill>
              <a:srgbClr val="666666"/>
            </a:solidFill>
            <a:prstDash val="solid"/>
            <a:round/>
            <a:headEnd len="med" w="med" type="none"/>
            <a:tailEnd len="med" w="med" type="none"/>
          </a:ln>
        </p:spPr>
      </p:cxnSp>
      <p:sp>
        <p:nvSpPr>
          <p:cNvPr id="7454" name="Google Shape;7454;p311"/>
          <p:cNvSpPr txBox="1"/>
          <p:nvPr>
            <p:ph idx="4294967295" type="body"/>
          </p:nvPr>
        </p:nvSpPr>
        <p:spPr>
          <a:xfrm>
            <a:off x="5342550" y="315925"/>
            <a:ext cx="3580800" cy="176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AutoNum type="arabicPeriod"/>
            </a:pPr>
            <a:r>
              <a:rPr lang="en" sz="1400">
                <a:solidFill>
                  <a:srgbClr val="000000"/>
                </a:solidFill>
              </a:rPr>
              <a:t>Identify the k-connectivity of the input graph (G)</a:t>
            </a:r>
            <a:endParaRPr sz="1400">
              <a:solidFill>
                <a:srgbClr val="000000"/>
              </a:solidFill>
            </a:endParaRPr>
          </a:p>
          <a:p>
            <a:pPr indent="-317500" lvl="0" marL="457200" rtl="0" algn="l">
              <a:spcBef>
                <a:spcPts val="0"/>
              </a:spcBef>
              <a:spcAft>
                <a:spcPts val="0"/>
              </a:spcAft>
              <a:buClr>
                <a:srgbClr val="000000"/>
              </a:buClr>
              <a:buSzPts val="1400"/>
              <a:buAutoNum type="arabicPeriod"/>
            </a:pPr>
            <a:r>
              <a:rPr lang="en" sz="1400">
                <a:solidFill>
                  <a:srgbClr val="000000"/>
                </a:solidFill>
              </a:rPr>
              <a:t>Remove the k-cutset (vertices)</a:t>
            </a:r>
            <a:endParaRPr sz="1400">
              <a:solidFill>
                <a:srgbClr val="000000"/>
              </a:solidFill>
            </a:endParaRPr>
          </a:p>
          <a:p>
            <a:pPr indent="-317500" lvl="0" marL="457200" rtl="0" algn="l">
              <a:spcBef>
                <a:spcPts val="0"/>
              </a:spcBef>
              <a:spcAft>
                <a:spcPts val="0"/>
              </a:spcAft>
              <a:buClr>
                <a:srgbClr val="FF0000"/>
              </a:buClr>
              <a:buSzPts val="1400"/>
              <a:buAutoNum type="arabicPeriod"/>
            </a:pPr>
            <a:r>
              <a:rPr b="1" lang="en" sz="1400">
                <a:solidFill>
                  <a:srgbClr val="FF0000"/>
                </a:solidFill>
              </a:rPr>
              <a:t>Do the same on the resulting subgraphs until no more subdivisions can be obtained </a:t>
            </a:r>
            <a:endParaRPr b="1" sz="1400">
              <a:solidFill>
                <a:srgbClr val="FF0000"/>
              </a:solidFill>
            </a:endParaRPr>
          </a:p>
          <a:p>
            <a:pPr indent="0" lvl="0" marL="914400" rtl="0" algn="l">
              <a:spcBef>
                <a:spcPts val="1600"/>
              </a:spcBef>
              <a:spcAft>
                <a:spcPts val="1600"/>
              </a:spcAft>
              <a:buNone/>
            </a:pPr>
            <a:r>
              <a:t/>
            </a:r>
            <a:endParaRPr sz="1400"/>
          </a:p>
        </p:txBody>
      </p:sp>
      <p:sp>
        <p:nvSpPr>
          <p:cNvPr id="7455" name="Google Shape;7455;p311"/>
          <p:cNvSpPr txBox="1"/>
          <p:nvPr>
            <p:ph type="title"/>
          </p:nvPr>
        </p:nvSpPr>
        <p:spPr>
          <a:xfrm>
            <a:off x="311700" y="315925"/>
            <a:ext cx="5405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456" name="Google Shape;7456;p311"/>
          <p:cNvSpPr txBox="1"/>
          <p:nvPr/>
        </p:nvSpPr>
        <p:spPr>
          <a:xfrm>
            <a:off x="2691175" y="3706850"/>
            <a:ext cx="2476200" cy="11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Who’s next?</a:t>
            </a:r>
            <a:endParaRPr b="1">
              <a:solidFill>
                <a:srgbClr val="FF0000"/>
              </a:solidFill>
              <a:latin typeface="Open Sans"/>
              <a:ea typeface="Open Sans"/>
              <a:cs typeface="Open Sans"/>
              <a:sym typeface="Open Sans"/>
            </a:endParaRPr>
          </a:p>
        </p:txBody>
      </p:sp>
      <p:sp>
        <p:nvSpPr>
          <p:cNvPr id="7457" name="Google Shape;7457;p311"/>
          <p:cNvSpPr/>
          <p:nvPr/>
        </p:nvSpPr>
        <p:spPr>
          <a:xfrm>
            <a:off x="6584850" y="1958150"/>
            <a:ext cx="863100" cy="4179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G</a:t>
            </a:r>
            <a:endParaRPr b="1"/>
          </a:p>
        </p:txBody>
      </p:sp>
      <p:cxnSp>
        <p:nvCxnSpPr>
          <p:cNvPr id="7458" name="Google Shape;7458;p311"/>
          <p:cNvCxnSpPr>
            <a:stCxn id="7457" idx="4"/>
            <a:endCxn id="7459" idx="0"/>
          </p:cNvCxnSpPr>
          <p:nvPr/>
        </p:nvCxnSpPr>
        <p:spPr>
          <a:xfrm flipH="1">
            <a:off x="6296100" y="2376050"/>
            <a:ext cx="720300" cy="770400"/>
          </a:xfrm>
          <a:prstGeom prst="straightConnector1">
            <a:avLst/>
          </a:prstGeom>
          <a:noFill/>
          <a:ln cap="flat" cmpd="sng" w="19050">
            <a:solidFill>
              <a:srgbClr val="666666"/>
            </a:solidFill>
            <a:prstDash val="solid"/>
            <a:round/>
            <a:headEnd len="med" w="med" type="none"/>
            <a:tailEnd len="med" w="med" type="triangle"/>
          </a:ln>
        </p:spPr>
      </p:cxnSp>
      <p:cxnSp>
        <p:nvCxnSpPr>
          <p:cNvPr id="7460" name="Google Shape;7460;p311"/>
          <p:cNvCxnSpPr>
            <a:stCxn id="7457" idx="4"/>
            <a:endCxn id="7461" idx="0"/>
          </p:cNvCxnSpPr>
          <p:nvPr/>
        </p:nvCxnSpPr>
        <p:spPr>
          <a:xfrm>
            <a:off x="7016400" y="2376050"/>
            <a:ext cx="902700" cy="738000"/>
          </a:xfrm>
          <a:prstGeom prst="straightConnector1">
            <a:avLst/>
          </a:prstGeom>
          <a:noFill/>
          <a:ln cap="flat" cmpd="sng" w="19050">
            <a:solidFill>
              <a:srgbClr val="666666"/>
            </a:solidFill>
            <a:prstDash val="solid"/>
            <a:round/>
            <a:headEnd len="med" w="med" type="none"/>
            <a:tailEnd len="med" w="med" type="triangle"/>
          </a:ln>
        </p:spPr>
      </p:cxnSp>
      <p:sp>
        <p:nvSpPr>
          <p:cNvPr id="7461" name="Google Shape;7461;p311"/>
          <p:cNvSpPr/>
          <p:nvPr/>
        </p:nvSpPr>
        <p:spPr>
          <a:xfrm>
            <a:off x="7318725" y="3114100"/>
            <a:ext cx="12006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b="1" lang="en" sz="1200">
                <a:solidFill>
                  <a:srgbClr val="FF0000"/>
                </a:solidFill>
              </a:rPr>
              <a:t>7</a:t>
            </a:r>
            <a:r>
              <a:rPr lang="en" sz="1200"/>
              <a:t>, 8, 9, 10, 11, 12, 13, 14, 15, 16</a:t>
            </a:r>
            <a:endParaRPr sz="1200"/>
          </a:p>
        </p:txBody>
      </p:sp>
      <p:sp>
        <p:nvSpPr>
          <p:cNvPr id="7459" name="Google Shape;7459;p311"/>
          <p:cNvSpPr/>
          <p:nvPr/>
        </p:nvSpPr>
        <p:spPr>
          <a:xfrm>
            <a:off x="5581050" y="3146455"/>
            <a:ext cx="14298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lang="en" sz="1200"/>
              <a:t>1, 2, 3, 4, 5, 6, 7, 17, 18, 19, 20, 21, 22, 23</a:t>
            </a:r>
            <a:endParaRPr sz="1200"/>
          </a:p>
        </p:txBody>
      </p:sp>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5" name="Shape 7465"/>
        <p:cNvGrpSpPr/>
        <p:nvPr/>
      </p:nvGrpSpPr>
      <p:grpSpPr>
        <a:xfrm>
          <a:off x="0" y="0"/>
          <a:ext cx="0" cy="0"/>
          <a:chOff x="0" y="0"/>
          <a:chExt cx="0" cy="0"/>
        </a:xfrm>
      </p:grpSpPr>
      <p:sp>
        <p:nvSpPr>
          <p:cNvPr id="7466" name="Google Shape;7466;p312"/>
          <p:cNvSpPr/>
          <p:nvPr/>
        </p:nvSpPr>
        <p:spPr>
          <a:xfrm>
            <a:off x="913295" y="11472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467" name="Google Shape;7467;p312"/>
          <p:cNvSpPr/>
          <p:nvPr/>
        </p:nvSpPr>
        <p:spPr>
          <a:xfrm>
            <a:off x="1445385"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468" name="Google Shape;7468;p312"/>
          <p:cNvSpPr/>
          <p:nvPr/>
        </p:nvSpPr>
        <p:spPr>
          <a:xfrm>
            <a:off x="311700"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469" name="Google Shape;7469;p312"/>
          <p:cNvSpPr/>
          <p:nvPr/>
        </p:nvSpPr>
        <p:spPr>
          <a:xfrm>
            <a:off x="913295" y="185551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470" name="Google Shape;7470;p312"/>
          <p:cNvSpPr/>
          <p:nvPr/>
        </p:nvSpPr>
        <p:spPr>
          <a:xfrm>
            <a:off x="311700" y="2164904"/>
            <a:ext cx="317100" cy="309300"/>
          </a:xfrm>
          <a:prstGeom prst="ellipse">
            <a:avLst/>
          </a:prstGeom>
          <a:solidFill>
            <a:srgbClr val="FF0000"/>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5</a:t>
            </a:r>
            <a:endParaRPr/>
          </a:p>
        </p:txBody>
      </p:sp>
      <p:sp>
        <p:nvSpPr>
          <p:cNvPr id="7471" name="Google Shape;7471;p312"/>
          <p:cNvSpPr/>
          <p:nvPr/>
        </p:nvSpPr>
        <p:spPr>
          <a:xfrm>
            <a:off x="913295" y="2434838"/>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7472" name="Google Shape;7472;p312"/>
          <p:cNvCxnSpPr>
            <a:endCxn id="7468" idx="7"/>
          </p:cNvCxnSpPr>
          <p:nvPr/>
        </p:nvCxnSpPr>
        <p:spPr>
          <a:xfrm flipH="1">
            <a:off x="582362" y="1411129"/>
            <a:ext cx="377400" cy="180300"/>
          </a:xfrm>
          <a:prstGeom prst="straightConnector1">
            <a:avLst/>
          </a:prstGeom>
          <a:noFill/>
          <a:ln cap="flat" cmpd="sng" w="19050">
            <a:solidFill>
              <a:srgbClr val="666666"/>
            </a:solidFill>
            <a:prstDash val="solid"/>
            <a:round/>
            <a:headEnd len="med" w="med" type="none"/>
            <a:tailEnd len="med" w="med" type="none"/>
          </a:ln>
        </p:spPr>
      </p:cxnSp>
      <p:cxnSp>
        <p:nvCxnSpPr>
          <p:cNvPr id="7473" name="Google Shape;7473;p312"/>
          <p:cNvCxnSpPr>
            <a:stCxn id="7470" idx="0"/>
            <a:endCxn id="7468" idx="4"/>
          </p:cNvCxnSpPr>
          <p:nvPr/>
        </p:nvCxnSpPr>
        <p:spPr>
          <a:xfrm rot="10800000">
            <a:off x="470250" y="1855304"/>
            <a:ext cx="0" cy="309600"/>
          </a:xfrm>
          <a:prstGeom prst="straightConnector1">
            <a:avLst/>
          </a:prstGeom>
          <a:noFill/>
          <a:ln cap="flat" cmpd="sng" w="19050">
            <a:solidFill>
              <a:srgbClr val="999999"/>
            </a:solidFill>
            <a:prstDash val="solid"/>
            <a:round/>
            <a:headEnd len="med" w="med" type="none"/>
            <a:tailEnd len="med" w="med" type="none"/>
          </a:ln>
        </p:spPr>
      </p:cxnSp>
      <p:cxnSp>
        <p:nvCxnSpPr>
          <p:cNvPr id="7474" name="Google Shape;7474;p312"/>
          <p:cNvCxnSpPr>
            <a:stCxn id="7471" idx="2"/>
            <a:endCxn id="7470" idx="5"/>
          </p:cNvCxnSpPr>
          <p:nvPr/>
        </p:nvCxnSpPr>
        <p:spPr>
          <a:xfrm rot="10800000">
            <a:off x="582395" y="2428988"/>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475" name="Google Shape;7475;p312"/>
          <p:cNvCxnSpPr>
            <a:stCxn id="7469" idx="2"/>
            <a:endCxn id="7470" idx="6"/>
          </p:cNvCxnSpPr>
          <p:nvPr/>
        </p:nvCxnSpPr>
        <p:spPr>
          <a:xfrm flipH="1">
            <a:off x="628895" y="2010169"/>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476" name="Google Shape;7476;p312"/>
          <p:cNvCxnSpPr>
            <a:stCxn id="7471" idx="2"/>
            <a:endCxn id="7468" idx="4"/>
          </p:cNvCxnSpPr>
          <p:nvPr/>
        </p:nvCxnSpPr>
        <p:spPr>
          <a:xfrm rot="10800000">
            <a:off x="470195" y="1855388"/>
            <a:ext cx="443100" cy="734100"/>
          </a:xfrm>
          <a:prstGeom prst="straightConnector1">
            <a:avLst/>
          </a:prstGeom>
          <a:noFill/>
          <a:ln cap="flat" cmpd="sng" w="19050">
            <a:solidFill>
              <a:srgbClr val="666666"/>
            </a:solidFill>
            <a:prstDash val="solid"/>
            <a:round/>
            <a:headEnd len="med" w="med" type="none"/>
            <a:tailEnd len="med" w="med" type="none"/>
          </a:ln>
        </p:spPr>
      </p:cxnSp>
      <p:cxnSp>
        <p:nvCxnSpPr>
          <p:cNvPr id="7477" name="Google Shape;7477;p312"/>
          <p:cNvCxnSpPr>
            <a:stCxn id="7467" idx="2"/>
            <a:endCxn id="7469" idx="7"/>
          </p:cNvCxnSpPr>
          <p:nvPr/>
        </p:nvCxnSpPr>
        <p:spPr>
          <a:xfrm flipH="1">
            <a:off x="1184085" y="1700783"/>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478" name="Google Shape;7478;p312"/>
          <p:cNvCxnSpPr>
            <a:stCxn id="7467" idx="2"/>
            <a:endCxn id="7468" idx="6"/>
          </p:cNvCxnSpPr>
          <p:nvPr/>
        </p:nvCxnSpPr>
        <p:spPr>
          <a:xfrm rot="10800000">
            <a:off x="628785" y="1700783"/>
            <a:ext cx="816600" cy="0"/>
          </a:xfrm>
          <a:prstGeom prst="straightConnector1">
            <a:avLst/>
          </a:prstGeom>
          <a:noFill/>
          <a:ln cap="flat" cmpd="sng" w="19050">
            <a:solidFill>
              <a:srgbClr val="666666"/>
            </a:solidFill>
            <a:prstDash val="solid"/>
            <a:round/>
            <a:headEnd len="med" w="med" type="none"/>
            <a:tailEnd len="med" w="med" type="none"/>
          </a:ln>
        </p:spPr>
      </p:cxnSp>
      <p:cxnSp>
        <p:nvCxnSpPr>
          <p:cNvPr id="7479" name="Google Shape;7479;p312"/>
          <p:cNvCxnSpPr>
            <a:stCxn id="7467" idx="0"/>
            <a:endCxn id="7466" idx="5"/>
          </p:cNvCxnSpPr>
          <p:nvPr/>
        </p:nvCxnSpPr>
        <p:spPr>
          <a:xfrm rot="10800000">
            <a:off x="1183935" y="1411133"/>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480" name="Google Shape;7480;p312"/>
          <p:cNvCxnSpPr>
            <a:stCxn id="7471" idx="0"/>
            <a:endCxn id="7469" idx="4"/>
          </p:cNvCxnSpPr>
          <p:nvPr/>
        </p:nvCxnSpPr>
        <p:spPr>
          <a:xfrm rot="10800000">
            <a:off x="1071845" y="2164838"/>
            <a:ext cx="0" cy="270000"/>
          </a:xfrm>
          <a:prstGeom prst="straightConnector1">
            <a:avLst/>
          </a:prstGeom>
          <a:noFill/>
          <a:ln cap="flat" cmpd="sng" w="19050">
            <a:solidFill>
              <a:srgbClr val="666666"/>
            </a:solidFill>
            <a:prstDash val="solid"/>
            <a:round/>
            <a:headEnd len="med" w="med" type="none"/>
            <a:tailEnd len="med" w="med" type="none"/>
          </a:ln>
        </p:spPr>
      </p:cxnSp>
      <p:cxnSp>
        <p:nvCxnSpPr>
          <p:cNvPr id="7481" name="Google Shape;7481;p312"/>
          <p:cNvCxnSpPr>
            <a:stCxn id="7470" idx="6"/>
            <a:endCxn id="7466" idx="4"/>
          </p:cNvCxnSpPr>
          <p:nvPr/>
        </p:nvCxnSpPr>
        <p:spPr>
          <a:xfrm flipH="1" rot="10800000">
            <a:off x="628800" y="1456454"/>
            <a:ext cx="443100" cy="863100"/>
          </a:xfrm>
          <a:prstGeom prst="straightConnector1">
            <a:avLst/>
          </a:prstGeom>
          <a:noFill/>
          <a:ln cap="flat" cmpd="sng" w="19050">
            <a:solidFill>
              <a:srgbClr val="666666"/>
            </a:solidFill>
            <a:prstDash val="solid"/>
            <a:round/>
            <a:headEnd len="med" w="med" type="none"/>
            <a:tailEnd len="med" w="med" type="none"/>
          </a:ln>
        </p:spPr>
      </p:cxnSp>
      <p:cxnSp>
        <p:nvCxnSpPr>
          <p:cNvPr id="7482" name="Google Shape;7482;p312"/>
          <p:cNvCxnSpPr>
            <a:stCxn id="7469" idx="0"/>
            <a:endCxn id="7466" idx="4"/>
          </p:cNvCxnSpPr>
          <p:nvPr/>
        </p:nvCxnSpPr>
        <p:spPr>
          <a:xfrm rot="10800000">
            <a:off x="1071845" y="1456519"/>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483" name="Google Shape;7483;p312"/>
          <p:cNvCxnSpPr>
            <a:stCxn id="7471" idx="6"/>
            <a:endCxn id="7467" idx="3"/>
          </p:cNvCxnSpPr>
          <p:nvPr/>
        </p:nvCxnSpPr>
        <p:spPr>
          <a:xfrm flipH="1" rot="10800000">
            <a:off x="1230395" y="1810088"/>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484" name="Google Shape;7484;p312"/>
          <p:cNvCxnSpPr>
            <a:stCxn id="7469" idx="1"/>
            <a:endCxn id="7468" idx="6"/>
          </p:cNvCxnSpPr>
          <p:nvPr/>
        </p:nvCxnSpPr>
        <p:spPr>
          <a:xfrm rot="10800000">
            <a:off x="628834" y="1700715"/>
            <a:ext cx="330900" cy="200100"/>
          </a:xfrm>
          <a:prstGeom prst="straightConnector1">
            <a:avLst/>
          </a:prstGeom>
          <a:noFill/>
          <a:ln cap="flat" cmpd="sng" w="19050">
            <a:solidFill>
              <a:srgbClr val="666666"/>
            </a:solidFill>
            <a:prstDash val="solid"/>
            <a:round/>
            <a:headEnd len="med" w="med" type="none"/>
            <a:tailEnd len="med" w="med" type="none"/>
          </a:ln>
        </p:spPr>
      </p:cxnSp>
      <p:sp>
        <p:nvSpPr>
          <p:cNvPr id="7485" name="Google Shape;7485;p312"/>
          <p:cNvSpPr/>
          <p:nvPr/>
        </p:nvSpPr>
        <p:spPr>
          <a:xfrm>
            <a:off x="1128323" y="311777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17</a:t>
            </a:r>
            <a:endParaRPr/>
          </a:p>
        </p:txBody>
      </p:sp>
      <p:sp>
        <p:nvSpPr>
          <p:cNvPr id="7486" name="Google Shape;7486;p312"/>
          <p:cNvSpPr/>
          <p:nvPr/>
        </p:nvSpPr>
        <p:spPr>
          <a:xfrm>
            <a:off x="1660413"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19</a:t>
            </a:r>
            <a:endParaRPr/>
          </a:p>
        </p:txBody>
      </p:sp>
      <p:sp>
        <p:nvSpPr>
          <p:cNvPr id="7487" name="Google Shape;7487;p312"/>
          <p:cNvSpPr/>
          <p:nvPr/>
        </p:nvSpPr>
        <p:spPr>
          <a:xfrm>
            <a:off x="596234"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18</a:t>
            </a:r>
            <a:endParaRPr/>
          </a:p>
        </p:txBody>
      </p:sp>
      <p:sp>
        <p:nvSpPr>
          <p:cNvPr id="7488" name="Google Shape;7488;p312"/>
          <p:cNvSpPr/>
          <p:nvPr/>
        </p:nvSpPr>
        <p:spPr>
          <a:xfrm>
            <a:off x="1128323" y="382607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20</a:t>
            </a:r>
            <a:endParaRPr/>
          </a:p>
        </p:txBody>
      </p:sp>
      <p:sp>
        <p:nvSpPr>
          <p:cNvPr id="7489" name="Google Shape;7489;p312"/>
          <p:cNvSpPr/>
          <p:nvPr/>
        </p:nvSpPr>
        <p:spPr>
          <a:xfrm>
            <a:off x="526728" y="413545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21</a:t>
            </a:r>
            <a:endParaRPr/>
          </a:p>
        </p:txBody>
      </p:sp>
      <p:sp>
        <p:nvSpPr>
          <p:cNvPr id="7490" name="Google Shape;7490;p312"/>
          <p:cNvSpPr/>
          <p:nvPr/>
        </p:nvSpPr>
        <p:spPr>
          <a:xfrm>
            <a:off x="1128323" y="440539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23</a:t>
            </a:r>
            <a:endParaRPr/>
          </a:p>
        </p:txBody>
      </p:sp>
      <p:sp>
        <p:nvSpPr>
          <p:cNvPr id="7491" name="Google Shape;7491;p312"/>
          <p:cNvSpPr/>
          <p:nvPr/>
        </p:nvSpPr>
        <p:spPr>
          <a:xfrm>
            <a:off x="1660786" y="4136262"/>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22</a:t>
            </a:r>
            <a:endParaRPr/>
          </a:p>
        </p:txBody>
      </p:sp>
      <p:cxnSp>
        <p:nvCxnSpPr>
          <p:cNvPr id="7492" name="Google Shape;7492;p312"/>
          <p:cNvCxnSpPr>
            <a:stCxn id="7485" idx="3"/>
            <a:endCxn id="7487" idx="7"/>
          </p:cNvCxnSpPr>
          <p:nvPr/>
        </p:nvCxnSpPr>
        <p:spPr>
          <a:xfrm flipH="1">
            <a:off x="866962" y="3381780"/>
            <a:ext cx="307800" cy="180300"/>
          </a:xfrm>
          <a:prstGeom prst="straightConnector1">
            <a:avLst/>
          </a:prstGeom>
          <a:noFill/>
          <a:ln cap="flat" cmpd="sng" w="19050">
            <a:solidFill>
              <a:srgbClr val="666666"/>
            </a:solidFill>
            <a:prstDash val="solid"/>
            <a:round/>
            <a:headEnd len="med" w="med" type="none"/>
            <a:tailEnd len="med" w="med" type="none"/>
          </a:ln>
        </p:spPr>
      </p:cxnSp>
      <p:cxnSp>
        <p:nvCxnSpPr>
          <p:cNvPr id="7493" name="Google Shape;7493;p312"/>
          <p:cNvCxnSpPr>
            <a:stCxn id="7490" idx="2"/>
            <a:endCxn id="7489" idx="5"/>
          </p:cNvCxnSpPr>
          <p:nvPr/>
        </p:nvCxnSpPr>
        <p:spPr>
          <a:xfrm rot="10800000">
            <a:off x="797423" y="4399540"/>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494" name="Google Shape;7494;p312"/>
          <p:cNvCxnSpPr>
            <a:stCxn id="7488" idx="2"/>
            <a:endCxn id="7489" idx="6"/>
          </p:cNvCxnSpPr>
          <p:nvPr/>
        </p:nvCxnSpPr>
        <p:spPr>
          <a:xfrm flipH="1">
            <a:off x="843923" y="3980720"/>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495" name="Google Shape;7495;p312"/>
          <p:cNvCxnSpPr>
            <a:stCxn id="7489" idx="0"/>
            <a:endCxn id="7487" idx="4"/>
          </p:cNvCxnSpPr>
          <p:nvPr/>
        </p:nvCxnSpPr>
        <p:spPr>
          <a:xfrm flipH="1" rot="10800000">
            <a:off x="685278" y="3825856"/>
            <a:ext cx="69600" cy="309600"/>
          </a:xfrm>
          <a:prstGeom prst="straightConnector1">
            <a:avLst/>
          </a:prstGeom>
          <a:noFill/>
          <a:ln cap="flat" cmpd="sng" w="19050">
            <a:solidFill>
              <a:srgbClr val="666666"/>
            </a:solidFill>
            <a:prstDash val="solid"/>
            <a:round/>
            <a:headEnd len="med" w="med" type="none"/>
            <a:tailEnd len="med" w="med" type="none"/>
          </a:ln>
        </p:spPr>
      </p:cxnSp>
      <p:cxnSp>
        <p:nvCxnSpPr>
          <p:cNvPr id="7496" name="Google Shape;7496;p312"/>
          <p:cNvCxnSpPr>
            <a:stCxn id="7486" idx="2"/>
            <a:endCxn id="7488" idx="7"/>
          </p:cNvCxnSpPr>
          <p:nvPr/>
        </p:nvCxnSpPr>
        <p:spPr>
          <a:xfrm flipH="1">
            <a:off x="1399113" y="3671335"/>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497" name="Google Shape;7497;p312"/>
          <p:cNvCxnSpPr>
            <a:stCxn id="7486" idx="0"/>
            <a:endCxn id="7485" idx="5"/>
          </p:cNvCxnSpPr>
          <p:nvPr/>
        </p:nvCxnSpPr>
        <p:spPr>
          <a:xfrm rot="10800000">
            <a:off x="1398963" y="3381685"/>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498" name="Google Shape;7498;p312"/>
          <p:cNvCxnSpPr>
            <a:stCxn id="7491" idx="0"/>
            <a:endCxn id="7486" idx="4"/>
          </p:cNvCxnSpPr>
          <p:nvPr/>
        </p:nvCxnSpPr>
        <p:spPr>
          <a:xfrm rot="10800000">
            <a:off x="1818886" y="3826062"/>
            <a:ext cx="600" cy="310200"/>
          </a:xfrm>
          <a:prstGeom prst="straightConnector1">
            <a:avLst/>
          </a:prstGeom>
          <a:noFill/>
          <a:ln cap="flat" cmpd="sng" w="19050">
            <a:solidFill>
              <a:srgbClr val="666666"/>
            </a:solidFill>
            <a:prstDash val="solid"/>
            <a:round/>
            <a:headEnd len="med" w="med" type="none"/>
            <a:tailEnd len="med" w="med" type="none"/>
          </a:ln>
        </p:spPr>
      </p:cxnSp>
      <p:cxnSp>
        <p:nvCxnSpPr>
          <p:cNvPr id="7499" name="Google Shape;7499;p312"/>
          <p:cNvCxnSpPr>
            <a:stCxn id="7490" idx="6"/>
            <a:endCxn id="7491" idx="3"/>
          </p:cNvCxnSpPr>
          <p:nvPr/>
        </p:nvCxnSpPr>
        <p:spPr>
          <a:xfrm flipH="1" rot="10800000">
            <a:off x="1445423" y="4405240"/>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500" name="Google Shape;7500;p312"/>
          <p:cNvCxnSpPr>
            <a:stCxn id="7489" idx="6"/>
            <a:endCxn id="7491" idx="2"/>
          </p:cNvCxnSpPr>
          <p:nvPr/>
        </p:nvCxnSpPr>
        <p:spPr>
          <a:xfrm>
            <a:off x="843828" y="4290106"/>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501" name="Google Shape;7501;p312"/>
          <p:cNvCxnSpPr>
            <a:stCxn id="7488" idx="0"/>
            <a:endCxn id="7485" idx="4"/>
          </p:cNvCxnSpPr>
          <p:nvPr/>
        </p:nvCxnSpPr>
        <p:spPr>
          <a:xfrm rot="10800000">
            <a:off x="1286873" y="3427070"/>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502" name="Google Shape;7502;p312"/>
          <p:cNvCxnSpPr>
            <a:stCxn id="7490" idx="6"/>
            <a:endCxn id="7486" idx="3"/>
          </p:cNvCxnSpPr>
          <p:nvPr/>
        </p:nvCxnSpPr>
        <p:spPr>
          <a:xfrm flipH="1" rot="10800000">
            <a:off x="1445423" y="3780640"/>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503" name="Google Shape;7503;p312"/>
          <p:cNvCxnSpPr>
            <a:stCxn id="7488" idx="1"/>
            <a:endCxn id="7487" idx="6"/>
          </p:cNvCxnSpPr>
          <p:nvPr/>
        </p:nvCxnSpPr>
        <p:spPr>
          <a:xfrm rot="10800000">
            <a:off x="913462" y="3671266"/>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504" name="Google Shape;7504;p312"/>
          <p:cNvCxnSpPr>
            <a:stCxn id="7489" idx="1"/>
            <a:endCxn id="7470" idx="4"/>
          </p:cNvCxnSpPr>
          <p:nvPr/>
        </p:nvCxnSpPr>
        <p:spPr>
          <a:xfrm rot="10800000">
            <a:off x="470266" y="2474352"/>
            <a:ext cx="102900" cy="1706400"/>
          </a:xfrm>
          <a:prstGeom prst="straightConnector1">
            <a:avLst/>
          </a:prstGeom>
          <a:noFill/>
          <a:ln cap="flat" cmpd="sng" w="19050">
            <a:solidFill>
              <a:srgbClr val="666666"/>
            </a:solidFill>
            <a:prstDash val="solid"/>
            <a:round/>
            <a:headEnd len="med" w="med" type="none"/>
            <a:tailEnd len="med" w="med" type="none"/>
          </a:ln>
        </p:spPr>
      </p:cxnSp>
      <p:sp>
        <p:nvSpPr>
          <p:cNvPr id="7505" name="Google Shape;7505;p312"/>
          <p:cNvSpPr/>
          <p:nvPr/>
        </p:nvSpPr>
        <p:spPr>
          <a:xfrm>
            <a:off x="2195893" y="18556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506" name="Google Shape;7506;p312"/>
          <p:cNvSpPr/>
          <p:nvPr/>
        </p:nvSpPr>
        <p:spPr>
          <a:xfrm>
            <a:off x="2195893" y="27130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507" name="Google Shape;7507;p312"/>
          <p:cNvSpPr/>
          <p:nvPr/>
        </p:nvSpPr>
        <p:spPr>
          <a:xfrm>
            <a:off x="256379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508" name="Google Shape;7508;p312"/>
          <p:cNvSpPr/>
          <p:nvPr/>
        </p:nvSpPr>
        <p:spPr>
          <a:xfrm>
            <a:off x="2880801"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509" name="Google Shape;7509;p312"/>
          <p:cNvSpPr/>
          <p:nvPr/>
        </p:nvSpPr>
        <p:spPr>
          <a:xfrm>
            <a:off x="3749082" y="1679501"/>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510" name="Google Shape;7510;p312"/>
          <p:cNvSpPr/>
          <p:nvPr/>
        </p:nvSpPr>
        <p:spPr>
          <a:xfrm>
            <a:off x="327440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sp>
        <p:nvSpPr>
          <p:cNvPr id="7511" name="Google Shape;7511;p312"/>
          <p:cNvSpPr/>
          <p:nvPr/>
        </p:nvSpPr>
        <p:spPr>
          <a:xfrm>
            <a:off x="4341627" y="2211777"/>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sp>
        <p:nvSpPr>
          <p:cNvPr id="7512" name="Google Shape;7512;p312"/>
          <p:cNvSpPr/>
          <p:nvPr/>
        </p:nvSpPr>
        <p:spPr>
          <a:xfrm>
            <a:off x="3374610" y="291580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15</a:t>
            </a:r>
            <a:endParaRPr/>
          </a:p>
        </p:txBody>
      </p:sp>
      <p:sp>
        <p:nvSpPr>
          <p:cNvPr id="7513" name="Google Shape;7513;p312"/>
          <p:cNvSpPr/>
          <p:nvPr/>
        </p:nvSpPr>
        <p:spPr>
          <a:xfrm>
            <a:off x="4223529" y="307246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16</a:t>
            </a:r>
            <a:endParaRPr/>
          </a:p>
        </p:txBody>
      </p:sp>
      <p:cxnSp>
        <p:nvCxnSpPr>
          <p:cNvPr id="7514" name="Google Shape;7514;p312"/>
          <p:cNvCxnSpPr>
            <a:stCxn id="7506" idx="0"/>
            <a:endCxn id="7505" idx="4"/>
          </p:cNvCxnSpPr>
          <p:nvPr/>
        </p:nvCxnSpPr>
        <p:spPr>
          <a:xfrm rot="10800000">
            <a:off x="2354443" y="2164904"/>
            <a:ext cx="0" cy="548100"/>
          </a:xfrm>
          <a:prstGeom prst="straightConnector1">
            <a:avLst/>
          </a:prstGeom>
          <a:noFill/>
          <a:ln cap="flat" cmpd="sng" w="19050">
            <a:solidFill>
              <a:srgbClr val="666666"/>
            </a:solidFill>
            <a:prstDash val="solid"/>
            <a:round/>
            <a:headEnd len="med" w="med" type="none"/>
            <a:tailEnd len="med" w="med" type="none"/>
          </a:ln>
        </p:spPr>
      </p:cxnSp>
      <p:cxnSp>
        <p:nvCxnSpPr>
          <p:cNvPr id="7515" name="Google Shape;7515;p312"/>
          <p:cNvCxnSpPr>
            <a:stCxn id="7507" idx="0"/>
            <a:endCxn id="7505" idx="5"/>
          </p:cNvCxnSpPr>
          <p:nvPr/>
        </p:nvCxnSpPr>
        <p:spPr>
          <a:xfrm rot="10800000">
            <a:off x="2466443" y="2119699"/>
            <a:ext cx="255900" cy="180300"/>
          </a:xfrm>
          <a:prstGeom prst="straightConnector1">
            <a:avLst/>
          </a:prstGeom>
          <a:noFill/>
          <a:ln cap="flat" cmpd="sng" w="19050">
            <a:solidFill>
              <a:srgbClr val="666666"/>
            </a:solidFill>
            <a:prstDash val="solid"/>
            <a:round/>
            <a:headEnd len="med" w="med" type="none"/>
            <a:tailEnd len="med" w="med" type="none"/>
          </a:ln>
        </p:spPr>
      </p:cxnSp>
      <p:cxnSp>
        <p:nvCxnSpPr>
          <p:cNvPr id="7516" name="Google Shape;7516;p312"/>
          <p:cNvCxnSpPr>
            <a:stCxn id="7506" idx="6"/>
            <a:endCxn id="7507" idx="4"/>
          </p:cNvCxnSpPr>
          <p:nvPr/>
        </p:nvCxnSpPr>
        <p:spPr>
          <a:xfrm flipH="1" rot="10800000">
            <a:off x="2512993" y="2609354"/>
            <a:ext cx="209400" cy="258300"/>
          </a:xfrm>
          <a:prstGeom prst="straightConnector1">
            <a:avLst/>
          </a:prstGeom>
          <a:noFill/>
          <a:ln cap="flat" cmpd="sng" w="19050">
            <a:solidFill>
              <a:srgbClr val="666666"/>
            </a:solidFill>
            <a:prstDash val="solid"/>
            <a:round/>
            <a:headEnd len="med" w="med" type="none"/>
            <a:tailEnd len="med" w="med" type="none"/>
          </a:ln>
        </p:spPr>
      </p:cxnSp>
      <p:cxnSp>
        <p:nvCxnSpPr>
          <p:cNvPr id="7517" name="Google Shape;7517;p312"/>
          <p:cNvCxnSpPr>
            <a:stCxn id="7505" idx="6"/>
            <a:endCxn id="7508" idx="2"/>
          </p:cNvCxnSpPr>
          <p:nvPr/>
        </p:nvCxnSpPr>
        <p:spPr>
          <a:xfrm flipH="1" rot="10800000">
            <a:off x="2512993" y="1700675"/>
            <a:ext cx="367800" cy="309600"/>
          </a:xfrm>
          <a:prstGeom prst="straightConnector1">
            <a:avLst/>
          </a:prstGeom>
          <a:noFill/>
          <a:ln cap="flat" cmpd="sng" w="19050">
            <a:solidFill>
              <a:srgbClr val="666666"/>
            </a:solidFill>
            <a:prstDash val="solid"/>
            <a:round/>
            <a:headEnd len="med" w="med" type="none"/>
            <a:tailEnd len="med" w="med" type="none"/>
          </a:ln>
        </p:spPr>
      </p:cxnSp>
      <p:cxnSp>
        <p:nvCxnSpPr>
          <p:cNvPr id="7518" name="Google Shape;7518;p312"/>
          <p:cNvCxnSpPr>
            <a:stCxn id="7509" idx="2"/>
            <a:endCxn id="7508" idx="6"/>
          </p:cNvCxnSpPr>
          <p:nvPr/>
        </p:nvCxnSpPr>
        <p:spPr>
          <a:xfrm rot="10800000">
            <a:off x="3197982" y="1700651"/>
            <a:ext cx="551100" cy="133500"/>
          </a:xfrm>
          <a:prstGeom prst="straightConnector1">
            <a:avLst/>
          </a:prstGeom>
          <a:noFill/>
          <a:ln cap="flat" cmpd="sng" w="19050">
            <a:solidFill>
              <a:srgbClr val="666666"/>
            </a:solidFill>
            <a:prstDash val="solid"/>
            <a:round/>
            <a:headEnd len="med" w="med" type="none"/>
            <a:tailEnd len="med" w="med" type="none"/>
          </a:ln>
        </p:spPr>
      </p:cxnSp>
      <p:cxnSp>
        <p:nvCxnSpPr>
          <p:cNvPr id="7519" name="Google Shape;7519;p312"/>
          <p:cNvCxnSpPr>
            <a:stCxn id="7511" idx="1"/>
            <a:endCxn id="7509" idx="5"/>
          </p:cNvCxnSpPr>
          <p:nvPr/>
        </p:nvCxnSpPr>
        <p:spPr>
          <a:xfrm rot="10800000">
            <a:off x="4019665" y="1943573"/>
            <a:ext cx="368400" cy="313500"/>
          </a:xfrm>
          <a:prstGeom prst="straightConnector1">
            <a:avLst/>
          </a:prstGeom>
          <a:noFill/>
          <a:ln cap="flat" cmpd="sng" w="19050">
            <a:solidFill>
              <a:srgbClr val="666666"/>
            </a:solidFill>
            <a:prstDash val="solid"/>
            <a:round/>
            <a:headEnd len="med" w="med" type="none"/>
            <a:tailEnd len="med" w="med" type="none"/>
          </a:ln>
        </p:spPr>
      </p:cxnSp>
      <p:cxnSp>
        <p:nvCxnSpPr>
          <p:cNvPr id="7520" name="Google Shape;7520;p312"/>
          <p:cNvCxnSpPr>
            <a:stCxn id="7510" idx="7"/>
            <a:endCxn id="7509" idx="4"/>
          </p:cNvCxnSpPr>
          <p:nvPr/>
        </p:nvCxnSpPr>
        <p:spPr>
          <a:xfrm flipH="1" rot="10800000">
            <a:off x="3545065" y="1988895"/>
            <a:ext cx="362700" cy="356400"/>
          </a:xfrm>
          <a:prstGeom prst="straightConnector1">
            <a:avLst/>
          </a:prstGeom>
          <a:noFill/>
          <a:ln cap="flat" cmpd="sng" w="19050">
            <a:solidFill>
              <a:srgbClr val="666666"/>
            </a:solidFill>
            <a:prstDash val="solid"/>
            <a:round/>
            <a:headEnd len="med" w="med" type="none"/>
            <a:tailEnd len="med" w="med" type="none"/>
          </a:ln>
        </p:spPr>
      </p:cxnSp>
      <p:cxnSp>
        <p:nvCxnSpPr>
          <p:cNvPr id="7521" name="Google Shape;7521;p312"/>
          <p:cNvCxnSpPr>
            <a:stCxn id="7513" idx="1"/>
            <a:endCxn id="7510" idx="5"/>
          </p:cNvCxnSpPr>
          <p:nvPr/>
        </p:nvCxnSpPr>
        <p:spPr>
          <a:xfrm rot="10800000">
            <a:off x="3545168" y="2563956"/>
            <a:ext cx="724800" cy="553800"/>
          </a:xfrm>
          <a:prstGeom prst="straightConnector1">
            <a:avLst/>
          </a:prstGeom>
          <a:noFill/>
          <a:ln cap="flat" cmpd="sng" w="19050">
            <a:solidFill>
              <a:srgbClr val="666666"/>
            </a:solidFill>
            <a:prstDash val="solid"/>
            <a:round/>
            <a:headEnd len="med" w="med" type="none"/>
            <a:tailEnd len="med" w="med" type="none"/>
          </a:ln>
        </p:spPr>
      </p:cxnSp>
      <p:cxnSp>
        <p:nvCxnSpPr>
          <p:cNvPr id="7522" name="Google Shape;7522;p312"/>
          <p:cNvCxnSpPr>
            <a:stCxn id="7513" idx="2"/>
            <a:endCxn id="7512" idx="5"/>
          </p:cNvCxnSpPr>
          <p:nvPr/>
        </p:nvCxnSpPr>
        <p:spPr>
          <a:xfrm rot="10800000">
            <a:off x="3645129" y="3179710"/>
            <a:ext cx="578400" cy="47400"/>
          </a:xfrm>
          <a:prstGeom prst="straightConnector1">
            <a:avLst/>
          </a:prstGeom>
          <a:noFill/>
          <a:ln cap="flat" cmpd="sng" w="19050">
            <a:solidFill>
              <a:srgbClr val="666666"/>
            </a:solidFill>
            <a:prstDash val="solid"/>
            <a:round/>
            <a:headEnd len="med" w="med" type="none"/>
            <a:tailEnd len="med" w="med" type="none"/>
          </a:ln>
        </p:spPr>
      </p:cxnSp>
      <p:cxnSp>
        <p:nvCxnSpPr>
          <p:cNvPr id="7523" name="Google Shape;7523;p312"/>
          <p:cNvCxnSpPr>
            <a:stCxn id="7512" idx="2"/>
            <a:endCxn id="7506" idx="6"/>
          </p:cNvCxnSpPr>
          <p:nvPr/>
        </p:nvCxnSpPr>
        <p:spPr>
          <a:xfrm rot="10800000">
            <a:off x="2513010" y="2867656"/>
            <a:ext cx="861600" cy="202800"/>
          </a:xfrm>
          <a:prstGeom prst="straightConnector1">
            <a:avLst/>
          </a:prstGeom>
          <a:noFill/>
          <a:ln cap="flat" cmpd="sng" w="19050">
            <a:solidFill>
              <a:srgbClr val="666666"/>
            </a:solidFill>
            <a:prstDash val="solid"/>
            <a:round/>
            <a:headEnd len="med" w="med" type="none"/>
            <a:tailEnd len="med" w="med" type="none"/>
          </a:ln>
        </p:spPr>
      </p:cxnSp>
      <p:cxnSp>
        <p:nvCxnSpPr>
          <p:cNvPr id="7524" name="Google Shape;7524;p312"/>
          <p:cNvCxnSpPr>
            <a:stCxn id="7513" idx="0"/>
            <a:endCxn id="7511" idx="4"/>
          </p:cNvCxnSpPr>
          <p:nvPr/>
        </p:nvCxnSpPr>
        <p:spPr>
          <a:xfrm flipH="1" rot="10800000">
            <a:off x="4382079" y="2521060"/>
            <a:ext cx="118200" cy="551400"/>
          </a:xfrm>
          <a:prstGeom prst="straightConnector1">
            <a:avLst/>
          </a:prstGeom>
          <a:noFill/>
          <a:ln cap="flat" cmpd="sng" w="19050">
            <a:solidFill>
              <a:srgbClr val="666666"/>
            </a:solidFill>
            <a:prstDash val="solid"/>
            <a:round/>
            <a:headEnd len="med" w="med" type="none"/>
            <a:tailEnd len="med" w="med" type="none"/>
          </a:ln>
        </p:spPr>
      </p:cxnSp>
      <p:cxnSp>
        <p:nvCxnSpPr>
          <p:cNvPr id="7525" name="Google Shape;7525;p312"/>
          <p:cNvCxnSpPr>
            <a:stCxn id="7510" idx="2"/>
            <a:endCxn id="7507" idx="6"/>
          </p:cNvCxnSpPr>
          <p:nvPr/>
        </p:nvCxnSpPr>
        <p:spPr>
          <a:xfrm rot="10800000">
            <a:off x="2880803" y="2454649"/>
            <a:ext cx="393600" cy="0"/>
          </a:xfrm>
          <a:prstGeom prst="straightConnector1">
            <a:avLst/>
          </a:prstGeom>
          <a:noFill/>
          <a:ln cap="flat" cmpd="sng" w="19050">
            <a:solidFill>
              <a:srgbClr val="666666"/>
            </a:solidFill>
            <a:prstDash val="solid"/>
            <a:round/>
            <a:headEnd len="med" w="med" type="none"/>
            <a:tailEnd len="med" w="med" type="none"/>
          </a:ln>
        </p:spPr>
      </p:cxnSp>
      <p:sp>
        <p:nvSpPr>
          <p:cNvPr id="7526" name="Google Shape;7526;p312"/>
          <p:cNvSpPr txBox="1"/>
          <p:nvPr>
            <p:ph idx="4294967295" type="body"/>
          </p:nvPr>
        </p:nvSpPr>
        <p:spPr>
          <a:xfrm>
            <a:off x="5342550" y="315925"/>
            <a:ext cx="3580800" cy="176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AutoNum type="arabicPeriod"/>
            </a:pPr>
            <a:r>
              <a:rPr lang="en" sz="1400">
                <a:solidFill>
                  <a:srgbClr val="000000"/>
                </a:solidFill>
              </a:rPr>
              <a:t>Identify the k-connectivity of the input graph (G)</a:t>
            </a:r>
            <a:endParaRPr sz="1400">
              <a:solidFill>
                <a:srgbClr val="000000"/>
              </a:solidFill>
            </a:endParaRPr>
          </a:p>
          <a:p>
            <a:pPr indent="-317500" lvl="0" marL="457200" rtl="0" algn="l">
              <a:spcBef>
                <a:spcPts val="0"/>
              </a:spcBef>
              <a:spcAft>
                <a:spcPts val="0"/>
              </a:spcAft>
              <a:buClr>
                <a:srgbClr val="000000"/>
              </a:buClr>
              <a:buSzPts val="1400"/>
              <a:buAutoNum type="arabicPeriod"/>
            </a:pPr>
            <a:r>
              <a:rPr lang="en" sz="1400">
                <a:solidFill>
                  <a:srgbClr val="000000"/>
                </a:solidFill>
              </a:rPr>
              <a:t>Remove the k-cutset (vertices)</a:t>
            </a:r>
            <a:endParaRPr sz="1400">
              <a:solidFill>
                <a:srgbClr val="000000"/>
              </a:solidFill>
            </a:endParaRPr>
          </a:p>
          <a:p>
            <a:pPr indent="-317500" lvl="0" marL="457200" rtl="0" algn="l">
              <a:spcBef>
                <a:spcPts val="0"/>
              </a:spcBef>
              <a:spcAft>
                <a:spcPts val="0"/>
              </a:spcAft>
              <a:buClr>
                <a:srgbClr val="FF0000"/>
              </a:buClr>
              <a:buSzPts val="1400"/>
              <a:buAutoNum type="arabicPeriod"/>
            </a:pPr>
            <a:r>
              <a:rPr b="1" lang="en" sz="1400">
                <a:solidFill>
                  <a:srgbClr val="FF0000"/>
                </a:solidFill>
              </a:rPr>
              <a:t>Do the same on the resulting subgraphs until no more subdivisions can be obtained </a:t>
            </a:r>
            <a:endParaRPr b="1" sz="1400">
              <a:solidFill>
                <a:srgbClr val="FF0000"/>
              </a:solidFill>
            </a:endParaRPr>
          </a:p>
          <a:p>
            <a:pPr indent="0" lvl="0" marL="914400" rtl="0" algn="l">
              <a:spcBef>
                <a:spcPts val="1600"/>
              </a:spcBef>
              <a:spcAft>
                <a:spcPts val="1600"/>
              </a:spcAft>
              <a:buNone/>
            </a:pPr>
            <a:r>
              <a:t/>
            </a:r>
            <a:endParaRPr sz="1400"/>
          </a:p>
        </p:txBody>
      </p:sp>
      <p:sp>
        <p:nvSpPr>
          <p:cNvPr id="7527" name="Google Shape;7527;p312"/>
          <p:cNvSpPr txBox="1"/>
          <p:nvPr>
            <p:ph type="title"/>
          </p:nvPr>
        </p:nvSpPr>
        <p:spPr>
          <a:xfrm>
            <a:off x="311700" y="315925"/>
            <a:ext cx="5405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528" name="Google Shape;7528;p312"/>
          <p:cNvSpPr txBox="1"/>
          <p:nvPr/>
        </p:nvSpPr>
        <p:spPr>
          <a:xfrm>
            <a:off x="2691175" y="3706850"/>
            <a:ext cx="2476200" cy="11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That’s right! </a:t>
            </a:r>
            <a:endParaRPr b="1">
              <a:solidFill>
                <a:srgbClr val="FF0000"/>
              </a:solidFill>
              <a:latin typeface="Open Sans"/>
              <a:ea typeface="Open Sans"/>
              <a:cs typeface="Open Sans"/>
              <a:sym typeface="Open Sans"/>
            </a:endParaRPr>
          </a:p>
        </p:txBody>
      </p:sp>
      <p:sp>
        <p:nvSpPr>
          <p:cNvPr id="7529" name="Google Shape;7529;p312"/>
          <p:cNvSpPr/>
          <p:nvPr/>
        </p:nvSpPr>
        <p:spPr>
          <a:xfrm>
            <a:off x="6584850" y="1958150"/>
            <a:ext cx="863100" cy="4179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G</a:t>
            </a:r>
            <a:endParaRPr b="1"/>
          </a:p>
        </p:txBody>
      </p:sp>
      <p:cxnSp>
        <p:nvCxnSpPr>
          <p:cNvPr id="7530" name="Google Shape;7530;p312"/>
          <p:cNvCxnSpPr>
            <a:stCxn id="7529" idx="4"/>
            <a:endCxn id="7531" idx="0"/>
          </p:cNvCxnSpPr>
          <p:nvPr/>
        </p:nvCxnSpPr>
        <p:spPr>
          <a:xfrm flipH="1">
            <a:off x="6296100" y="2376050"/>
            <a:ext cx="720300" cy="770400"/>
          </a:xfrm>
          <a:prstGeom prst="straightConnector1">
            <a:avLst/>
          </a:prstGeom>
          <a:noFill/>
          <a:ln cap="flat" cmpd="sng" w="19050">
            <a:solidFill>
              <a:srgbClr val="666666"/>
            </a:solidFill>
            <a:prstDash val="solid"/>
            <a:round/>
            <a:headEnd len="med" w="med" type="none"/>
            <a:tailEnd len="med" w="med" type="triangle"/>
          </a:ln>
        </p:spPr>
      </p:cxnSp>
      <p:cxnSp>
        <p:nvCxnSpPr>
          <p:cNvPr id="7532" name="Google Shape;7532;p312"/>
          <p:cNvCxnSpPr>
            <a:stCxn id="7529" idx="4"/>
            <a:endCxn id="7533" idx="0"/>
          </p:cNvCxnSpPr>
          <p:nvPr/>
        </p:nvCxnSpPr>
        <p:spPr>
          <a:xfrm>
            <a:off x="7016400" y="2376050"/>
            <a:ext cx="902700" cy="738000"/>
          </a:xfrm>
          <a:prstGeom prst="straightConnector1">
            <a:avLst/>
          </a:prstGeom>
          <a:noFill/>
          <a:ln cap="flat" cmpd="sng" w="19050">
            <a:solidFill>
              <a:srgbClr val="666666"/>
            </a:solidFill>
            <a:prstDash val="solid"/>
            <a:round/>
            <a:headEnd len="med" w="med" type="none"/>
            <a:tailEnd len="med" w="med" type="triangle"/>
          </a:ln>
        </p:spPr>
      </p:cxnSp>
      <p:sp>
        <p:nvSpPr>
          <p:cNvPr id="7533" name="Google Shape;7533;p312"/>
          <p:cNvSpPr/>
          <p:nvPr/>
        </p:nvSpPr>
        <p:spPr>
          <a:xfrm>
            <a:off x="7318725" y="3114100"/>
            <a:ext cx="12006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b="1" lang="en" sz="1200">
                <a:solidFill>
                  <a:srgbClr val="FF0000"/>
                </a:solidFill>
              </a:rPr>
              <a:t>7</a:t>
            </a:r>
            <a:r>
              <a:rPr lang="en" sz="1200"/>
              <a:t>, 8, 9, 10, 11, 12, 13, 14, 15, 16</a:t>
            </a:r>
            <a:endParaRPr sz="1200"/>
          </a:p>
        </p:txBody>
      </p:sp>
      <p:sp>
        <p:nvSpPr>
          <p:cNvPr id="7531" name="Google Shape;7531;p312"/>
          <p:cNvSpPr/>
          <p:nvPr/>
        </p:nvSpPr>
        <p:spPr>
          <a:xfrm>
            <a:off x="5581050" y="3146455"/>
            <a:ext cx="14298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lang="en" sz="1200"/>
              <a:t>1, 2, 3, 4, 5, 6, 7, 17, 18, 19, 20, 21, 22, 23</a:t>
            </a:r>
            <a:endParaRPr sz="1200"/>
          </a:p>
        </p:txBody>
      </p:sp>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7" name="Shape 7537"/>
        <p:cNvGrpSpPr/>
        <p:nvPr/>
      </p:nvGrpSpPr>
      <p:grpSpPr>
        <a:xfrm>
          <a:off x="0" y="0"/>
          <a:ext cx="0" cy="0"/>
          <a:chOff x="0" y="0"/>
          <a:chExt cx="0" cy="0"/>
        </a:xfrm>
      </p:grpSpPr>
      <p:sp>
        <p:nvSpPr>
          <p:cNvPr id="7538" name="Google Shape;7538;p313"/>
          <p:cNvSpPr/>
          <p:nvPr/>
        </p:nvSpPr>
        <p:spPr>
          <a:xfrm>
            <a:off x="913295" y="11472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a:t>
            </a:r>
            <a:endParaRPr/>
          </a:p>
        </p:txBody>
      </p:sp>
      <p:sp>
        <p:nvSpPr>
          <p:cNvPr id="7539" name="Google Shape;7539;p313"/>
          <p:cNvSpPr/>
          <p:nvPr/>
        </p:nvSpPr>
        <p:spPr>
          <a:xfrm>
            <a:off x="1445385"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7540" name="Google Shape;7540;p313"/>
          <p:cNvSpPr/>
          <p:nvPr/>
        </p:nvSpPr>
        <p:spPr>
          <a:xfrm>
            <a:off x="311700"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7541" name="Google Shape;7541;p313"/>
          <p:cNvSpPr/>
          <p:nvPr/>
        </p:nvSpPr>
        <p:spPr>
          <a:xfrm>
            <a:off x="913295" y="185551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4</a:t>
            </a:r>
            <a:endParaRPr/>
          </a:p>
        </p:txBody>
      </p:sp>
      <p:sp>
        <p:nvSpPr>
          <p:cNvPr id="7542" name="Google Shape;7542;p313"/>
          <p:cNvSpPr/>
          <p:nvPr/>
        </p:nvSpPr>
        <p:spPr>
          <a:xfrm>
            <a:off x="913295" y="2434838"/>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6</a:t>
            </a:r>
            <a:endParaRPr/>
          </a:p>
        </p:txBody>
      </p:sp>
      <p:cxnSp>
        <p:nvCxnSpPr>
          <p:cNvPr id="7543" name="Google Shape;7543;p313"/>
          <p:cNvCxnSpPr>
            <a:endCxn id="7540" idx="7"/>
          </p:cNvCxnSpPr>
          <p:nvPr/>
        </p:nvCxnSpPr>
        <p:spPr>
          <a:xfrm flipH="1">
            <a:off x="582362" y="1411129"/>
            <a:ext cx="377400" cy="180300"/>
          </a:xfrm>
          <a:prstGeom prst="straightConnector1">
            <a:avLst/>
          </a:prstGeom>
          <a:noFill/>
          <a:ln cap="flat" cmpd="sng" w="19050">
            <a:solidFill>
              <a:srgbClr val="666666"/>
            </a:solidFill>
            <a:prstDash val="solid"/>
            <a:round/>
            <a:headEnd len="med" w="med" type="none"/>
            <a:tailEnd len="med" w="med" type="none"/>
          </a:ln>
        </p:spPr>
      </p:cxnSp>
      <p:cxnSp>
        <p:nvCxnSpPr>
          <p:cNvPr id="7544" name="Google Shape;7544;p313"/>
          <p:cNvCxnSpPr>
            <a:stCxn id="7542" idx="2"/>
            <a:endCxn id="7540" idx="4"/>
          </p:cNvCxnSpPr>
          <p:nvPr/>
        </p:nvCxnSpPr>
        <p:spPr>
          <a:xfrm rot="10800000">
            <a:off x="470195" y="1855388"/>
            <a:ext cx="443100" cy="734100"/>
          </a:xfrm>
          <a:prstGeom prst="straightConnector1">
            <a:avLst/>
          </a:prstGeom>
          <a:noFill/>
          <a:ln cap="flat" cmpd="sng" w="19050">
            <a:solidFill>
              <a:srgbClr val="666666"/>
            </a:solidFill>
            <a:prstDash val="solid"/>
            <a:round/>
            <a:headEnd len="med" w="med" type="none"/>
            <a:tailEnd len="med" w="med" type="none"/>
          </a:ln>
        </p:spPr>
      </p:cxnSp>
      <p:cxnSp>
        <p:nvCxnSpPr>
          <p:cNvPr id="7545" name="Google Shape;7545;p313"/>
          <p:cNvCxnSpPr>
            <a:stCxn id="7539" idx="2"/>
            <a:endCxn id="7541" idx="7"/>
          </p:cNvCxnSpPr>
          <p:nvPr/>
        </p:nvCxnSpPr>
        <p:spPr>
          <a:xfrm flipH="1">
            <a:off x="1184085" y="1700783"/>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546" name="Google Shape;7546;p313"/>
          <p:cNvCxnSpPr>
            <a:stCxn id="7539" idx="2"/>
            <a:endCxn id="7540" idx="6"/>
          </p:cNvCxnSpPr>
          <p:nvPr/>
        </p:nvCxnSpPr>
        <p:spPr>
          <a:xfrm rot="10800000">
            <a:off x="628785" y="1700783"/>
            <a:ext cx="816600" cy="0"/>
          </a:xfrm>
          <a:prstGeom prst="straightConnector1">
            <a:avLst/>
          </a:prstGeom>
          <a:noFill/>
          <a:ln cap="flat" cmpd="sng" w="19050">
            <a:solidFill>
              <a:srgbClr val="666666"/>
            </a:solidFill>
            <a:prstDash val="solid"/>
            <a:round/>
            <a:headEnd len="med" w="med" type="none"/>
            <a:tailEnd len="med" w="med" type="none"/>
          </a:ln>
        </p:spPr>
      </p:cxnSp>
      <p:cxnSp>
        <p:nvCxnSpPr>
          <p:cNvPr id="7547" name="Google Shape;7547;p313"/>
          <p:cNvCxnSpPr>
            <a:stCxn id="7539" idx="0"/>
            <a:endCxn id="7538" idx="5"/>
          </p:cNvCxnSpPr>
          <p:nvPr/>
        </p:nvCxnSpPr>
        <p:spPr>
          <a:xfrm rot="10800000">
            <a:off x="1183935" y="1411133"/>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548" name="Google Shape;7548;p313"/>
          <p:cNvCxnSpPr>
            <a:stCxn id="7542" idx="0"/>
            <a:endCxn id="7541" idx="4"/>
          </p:cNvCxnSpPr>
          <p:nvPr/>
        </p:nvCxnSpPr>
        <p:spPr>
          <a:xfrm rot="10800000">
            <a:off x="1071845" y="2164838"/>
            <a:ext cx="0" cy="270000"/>
          </a:xfrm>
          <a:prstGeom prst="straightConnector1">
            <a:avLst/>
          </a:prstGeom>
          <a:noFill/>
          <a:ln cap="flat" cmpd="sng" w="19050">
            <a:solidFill>
              <a:srgbClr val="666666"/>
            </a:solidFill>
            <a:prstDash val="solid"/>
            <a:round/>
            <a:headEnd len="med" w="med" type="none"/>
            <a:tailEnd len="med" w="med" type="none"/>
          </a:ln>
        </p:spPr>
      </p:cxnSp>
      <p:cxnSp>
        <p:nvCxnSpPr>
          <p:cNvPr id="7549" name="Google Shape;7549;p313"/>
          <p:cNvCxnSpPr>
            <a:stCxn id="7541" idx="0"/>
            <a:endCxn id="7538" idx="4"/>
          </p:cNvCxnSpPr>
          <p:nvPr/>
        </p:nvCxnSpPr>
        <p:spPr>
          <a:xfrm rot="10800000">
            <a:off x="1071845" y="1456519"/>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550" name="Google Shape;7550;p313"/>
          <p:cNvCxnSpPr>
            <a:stCxn id="7542" idx="6"/>
            <a:endCxn id="7539" idx="3"/>
          </p:cNvCxnSpPr>
          <p:nvPr/>
        </p:nvCxnSpPr>
        <p:spPr>
          <a:xfrm flipH="1" rot="10800000">
            <a:off x="1230395" y="1810088"/>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551" name="Google Shape;7551;p313"/>
          <p:cNvCxnSpPr>
            <a:stCxn id="7541" idx="1"/>
            <a:endCxn id="7540" idx="6"/>
          </p:cNvCxnSpPr>
          <p:nvPr/>
        </p:nvCxnSpPr>
        <p:spPr>
          <a:xfrm rot="10800000">
            <a:off x="628834" y="1700715"/>
            <a:ext cx="330900" cy="200100"/>
          </a:xfrm>
          <a:prstGeom prst="straightConnector1">
            <a:avLst/>
          </a:prstGeom>
          <a:noFill/>
          <a:ln cap="flat" cmpd="sng" w="19050">
            <a:solidFill>
              <a:srgbClr val="666666"/>
            </a:solidFill>
            <a:prstDash val="solid"/>
            <a:round/>
            <a:headEnd len="med" w="med" type="none"/>
            <a:tailEnd len="med" w="med" type="none"/>
          </a:ln>
        </p:spPr>
      </p:cxnSp>
      <p:sp>
        <p:nvSpPr>
          <p:cNvPr id="7552" name="Google Shape;7552;p313"/>
          <p:cNvSpPr/>
          <p:nvPr/>
        </p:nvSpPr>
        <p:spPr>
          <a:xfrm>
            <a:off x="1128323" y="311777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17</a:t>
            </a:r>
            <a:endParaRPr/>
          </a:p>
        </p:txBody>
      </p:sp>
      <p:sp>
        <p:nvSpPr>
          <p:cNvPr id="7553" name="Google Shape;7553;p313"/>
          <p:cNvSpPr/>
          <p:nvPr/>
        </p:nvSpPr>
        <p:spPr>
          <a:xfrm>
            <a:off x="1660413"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19</a:t>
            </a:r>
            <a:endParaRPr/>
          </a:p>
        </p:txBody>
      </p:sp>
      <p:sp>
        <p:nvSpPr>
          <p:cNvPr id="7554" name="Google Shape;7554;p313"/>
          <p:cNvSpPr/>
          <p:nvPr/>
        </p:nvSpPr>
        <p:spPr>
          <a:xfrm>
            <a:off x="596234" y="351668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18</a:t>
            </a:r>
            <a:endParaRPr/>
          </a:p>
        </p:txBody>
      </p:sp>
      <p:sp>
        <p:nvSpPr>
          <p:cNvPr id="7555" name="Google Shape;7555;p313"/>
          <p:cNvSpPr/>
          <p:nvPr/>
        </p:nvSpPr>
        <p:spPr>
          <a:xfrm>
            <a:off x="1128323" y="382607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20</a:t>
            </a:r>
            <a:endParaRPr/>
          </a:p>
        </p:txBody>
      </p:sp>
      <p:sp>
        <p:nvSpPr>
          <p:cNvPr id="7556" name="Google Shape;7556;p313"/>
          <p:cNvSpPr/>
          <p:nvPr/>
        </p:nvSpPr>
        <p:spPr>
          <a:xfrm>
            <a:off x="526728" y="413545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21</a:t>
            </a:r>
            <a:endParaRPr/>
          </a:p>
        </p:txBody>
      </p:sp>
      <p:sp>
        <p:nvSpPr>
          <p:cNvPr id="7557" name="Google Shape;7557;p313"/>
          <p:cNvSpPr/>
          <p:nvPr/>
        </p:nvSpPr>
        <p:spPr>
          <a:xfrm>
            <a:off x="1128323" y="440539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23</a:t>
            </a:r>
            <a:endParaRPr/>
          </a:p>
        </p:txBody>
      </p:sp>
      <p:sp>
        <p:nvSpPr>
          <p:cNvPr id="7558" name="Google Shape;7558;p313"/>
          <p:cNvSpPr/>
          <p:nvPr/>
        </p:nvSpPr>
        <p:spPr>
          <a:xfrm>
            <a:off x="1660786" y="4136262"/>
            <a:ext cx="317400" cy="3150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22</a:t>
            </a:r>
            <a:endParaRPr/>
          </a:p>
        </p:txBody>
      </p:sp>
      <p:cxnSp>
        <p:nvCxnSpPr>
          <p:cNvPr id="7559" name="Google Shape;7559;p313"/>
          <p:cNvCxnSpPr>
            <a:stCxn id="7552" idx="3"/>
            <a:endCxn id="7554" idx="7"/>
          </p:cNvCxnSpPr>
          <p:nvPr/>
        </p:nvCxnSpPr>
        <p:spPr>
          <a:xfrm flipH="1">
            <a:off x="866962" y="3381780"/>
            <a:ext cx="307800" cy="180300"/>
          </a:xfrm>
          <a:prstGeom prst="straightConnector1">
            <a:avLst/>
          </a:prstGeom>
          <a:noFill/>
          <a:ln cap="flat" cmpd="sng" w="19050">
            <a:solidFill>
              <a:srgbClr val="666666"/>
            </a:solidFill>
            <a:prstDash val="solid"/>
            <a:round/>
            <a:headEnd len="med" w="med" type="none"/>
            <a:tailEnd len="med" w="med" type="none"/>
          </a:ln>
        </p:spPr>
      </p:cxnSp>
      <p:cxnSp>
        <p:nvCxnSpPr>
          <p:cNvPr id="7560" name="Google Shape;7560;p313"/>
          <p:cNvCxnSpPr>
            <a:stCxn id="7557" idx="2"/>
            <a:endCxn id="7556" idx="5"/>
          </p:cNvCxnSpPr>
          <p:nvPr/>
        </p:nvCxnSpPr>
        <p:spPr>
          <a:xfrm rot="10800000">
            <a:off x="797423" y="4399540"/>
            <a:ext cx="330900" cy="160500"/>
          </a:xfrm>
          <a:prstGeom prst="straightConnector1">
            <a:avLst/>
          </a:prstGeom>
          <a:noFill/>
          <a:ln cap="flat" cmpd="sng" w="19050">
            <a:solidFill>
              <a:srgbClr val="666666"/>
            </a:solidFill>
            <a:prstDash val="solid"/>
            <a:round/>
            <a:headEnd len="med" w="med" type="none"/>
            <a:tailEnd len="med" w="med" type="none"/>
          </a:ln>
        </p:spPr>
      </p:cxnSp>
      <p:cxnSp>
        <p:nvCxnSpPr>
          <p:cNvPr id="7561" name="Google Shape;7561;p313"/>
          <p:cNvCxnSpPr>
            <a:stCxn id="7555" idx="2"/>
            <a:endCxn id="7556" idx="6"/>
          </p:cNvCxnSpPr>
          <p:nvPr/>
        </p:nvCxnSpPr>
        <p:spPr>
          <a:xfrm flipH="1">
            <a:off x="843923" y="3980720"/>
            <a:ext cx="284400" cy="309300"/>
          </a:xfrm>
          <a:prstGeom prst="straightConnector1">
            <a:avLst/>
          </a:prstGeom>
          <a:noFill/>
          <a:ln cap="flat" cmpd="sng" w="19050">
            <a:solidFill>
              <a:srgbClr val="666666"/>
            </a:solidFill>
            <a:prstDash val="solid"/>
            <a:round/>
            <a:headEnd len="med" w="med" type="none"/>
            <a:tailEnd len="med" w="med" type="none"/>
          </a:ln>
        </p:spPr>
      </p:cxnSp>
      <p:cxnSp>
        <p:nvCxnSpPr>
          <p:cNvPr id="7562" name="Google Shape;7562;p313"/>
          <p:cNvCxnSpPr>
            <a:stCxn id="7556" idx="0"/>
            <a:endCxn id="7554" idx="4"/>
          </p:cNvCxnSpPr>
          <p:nvPr/>
        </p:nvCxnSpPr>
        <p:spPr>
          <a:xfrm flipH="1" rot="10800000">
            <a:off x="685278" y="3825856"/>
            <a:ext cx="69600" cy="309600"/>
          </a:xfrm>
          <a:prstGeom prst="straightConnector1">
            <a:avLst/>
          </a:prstGeom>
          <a:noFill/>
          <a:ln cap="flat" cmpd="sng" w="19050">
            <a:solidFill>
              <a:srgbClr val="666666"/>
            </a:solidFill>
            <a:prstDash val="solid"/>
            <a:round/>
            <a:headEnd len="med" w="med" type="none"/>
            <a:tailEnd len="med" w="med" type="none"/>
          </a:ln>
        </p:spPr>
      </p:cxnSp>
      <p:cxnSp>
        <p:nvCxnSpPr>
          <p:cNvPr id="7563" name="Google Shape;7563;p313"/>
          <p:cNvCxnSpPr>
            <a:stCxn id="7553" idx="2"/>
            <a:endCxn id="7555" idx="7"/>
          </p:cNvCxnSpPr>
          <p:nvPr/>
        </p:nvCxnSpPr>
        <p:spPr>
          <a:xfrm flipH="1">
            <a:off x="1399113" y="3671335"/>
            <a:ext cx="261300" cy="200100"/>
          </a:xfrm>
          <a:prstGeom prst="straightConnector1">
            <a:avLst/>
          </a:prstGeom>
          <a:noFill/>
          <a:ln cap="flat" cmpd="sng" w="19050">
            <a:solidFill>
              <a:srgbClr val="666666"/>
            </a:solidFill>
            <a:prstDash val="solid"/>
            <a:round/>
            <a:headEnd len="med" w="med" type="none"/>
            <a:tailEnd len="med" w="med" type="none"/>
          </a:ln>
        </p:spPr>
      </p:cxnSp>
      <p:cxnSp>
        <p:nvCxnSpPr>
          <p:cNvPr id="7564" name="Google Shape;7564;p313"/>
          <p:cNvCxnSpPr>
            <a:stCxn id="7553" idx="0"/>
            <a:endCxn id="7552" idx="5"/>
          </p:cNvCxnSpPr>
          <p:nvPr/>
        </p:nvCxnSpPr>
        <p:spPr>
          <a:xfrm rot="10800000">
            <a:off x="1398963" y="3381685"/>
            <a:ext cx="420000" cy="135000"/>
          </a:xfrm>
          <a:prstGeom prst="straightConnector1">
            <a:avLst/>
          </a:prstGeom>
          <a:noFill/>
          <a:ln cap="flat" cmpd="sng" w="19050">
            <a:solidFill>
              <a:srgbClr val="666666"/>
            </a:solidFill>
            <a:prstDash val="solid"/>
            <a:round/>
            <a:headEnd len="med" w="med" type="none"/>
            <a:tailEnd len="med" w="med" type="none"/>
          </a:ln>
        </p:spPr>
      </p:cxnSp>
      <p:cxnSp>
        <p:nvCxnSpPr>
          <p:cNvPr id="7565" name="Google Shape;7565;p313"/>
          <p:cNvCxnSpPr>
            <a:stCxn id="7558" idx="0"/>
            <a:endCxn id="7553" idx="4"/>
          </p:cNvCxnSpPr>
          <p:nvPr/>
        </p:nvCxnSpPr>
        <p:spPr>
          <a:xfrm rot="10800000">
            <a:off x="1818886" y="3826062"/>
            <a:ext cx="600" cy="310200"/>
          </a:xfrm>
          <a:prstGeom prst="straightConnector1">
            <a:avLst/>
          </a:prstGeom>
          <a:noFill/>
          <a:ln cap="flat" cmpd="sng" w="19050">
            <a:solidFill>
              <a:srgbClr val="666666"/>
            </a:solidFill>
            <a:prstDash val="solid"/>
            <a:round/>
            <a:headEnd len="med" w="med" type="none"/>
            <a:tailEnd len="med" w="med" type="none"/>
          </a:ln>
        </p:spPr>
      </p:cxnSp>
      <p:cxnSp>
        <p:nvCxnSpPr>
          <p:cNvPr id="7566" name="Google Shape;7566;p313"/>
          <p:cNvCxnSpPr>
            <a:stCxn id="7557" idx="6"/>
            <a:endCxn id="7558" idx="3"/>
          </p:cNvCxnSpPr>
          <p:nvPr/>
        </p:nvCxnSpPr>
        <p:spPr>
          <a:xfrm flipH="1" rot="10800000">
            <a:off x="1445423" y="4405240"/>
            <a:ext cx="261900" cy="154800"/>
          </a:xfrm>
          <a:prstGeom prst="straightConnector1">
            <a:avLst/>
          </a:prstGeom>
          <a:noFill/>
          <a:ln cap="flat" cmpd="sng" w="19050">
            <a:solidFill>
              <a:srgbClr val="666666"/>
            </a:solidFill>
            <a:prstDash val="solid"/>
            <a:round/>
            <a:headEnd len="med" w="med" type="none"/>
            <a:tailEnd len="med" w="med" type="none"/>
          </a:ln>
        </p:spPr>
      </p:cxnSp>
      <p:cxnSp>
        <p:nvCxnSpPr>
          <p:cNvPr id="7567" name="Google Shape;7567;p313"/>
          <p:cNvCxnSpPr>
            <a:stCxn id="7556" idx="6"/>
            <a:endCxn id="7558" idx="2"/>
          </p:cNvCxnSpPr>
          <p:nvPr/>
        </p:nvCxnSpPr>
        <p:spPr>
          <a:xfrm>
            <a:off x="843828" y="4290106"/>
            <a:ext cx="816900" cy="3600"/>
          </a:xfrm>
          <a:prstGeom prst="straightConnector1">
            <a:avLst/>
          </a:prstGeom>
          <a:noFill/>
          <a:ln cap="flat" cmpd="sng" w="19050">
            <a:solidFill>
              <a:srgbClr val="666666"/>
            </a:solidFill>
            <a:prstDash val="solid"/>
            <a:round/>
            <a:headEnd len="med" w="med" type="none"/>
            <a:tailEnd len="med" w="med" type="none"/>
          </a:ln>
        </p:spPr>
      </p:cxnSp>
      <p:cxnSp>
        <p:nvCxnSpPr>
          <p:cNvPr id="7568" name="Google Shape;7568;p313"/>
          <p:cNvCxnSpPr>
            <a:stCxn id="7555" idx="0"/>
            <a:endCxn id="7552" idx="4"/>
          </p:cNvCxnSpPr>
          <p:nvPr/>
        </p:nvCxnSpPr>
        <p:spPr>
          <a:xfrm rot="10800000">
            <a:off x="1286873" y="3427070"/>
            <a:ext cx="0" cy="399000"/>
          </a:xfrm>
          <a:prstGeom prst="straightConnector1">
            <a:avLst/>
          </a:prstGeom>
          <a:noFill/>
          <a:ln cap="flat" cmpd="sng" w="19050">
            <a:solidFill>
              <a:srgbClr val="666666"/>
            </a:solidFill>
            <a:prstDash val="solid"/>
            <a:round/>
            <a:headEnd len="med" w="med" type="none"/>
            <a:tailEnd len="med" w="med" type="none"/>
          </a:ln>
        </p:spPr>
      </p:cxnSp>
      <p:cxnSp>
        <p:nvCxnSpPr>
          <p:cNvPr id="7569" name="Google Shape;7569;p313"/>
          <p:cNvCxnSpPr>
            <a:stCxn id="7557" idx="6"/>
            <a:endCxn id="7553" idx="3"/>
          </p:cNvCxnSpPr>
          <p:nvPr/>
        </p:nvCxnSpPr>
        <p:spPr>
          <a:xfrm flipH="1" rot="10800000">
            <a:off x="1445423" y="3780640"/>
            <a:ext cx="261300" cy="779400"/>
          </a:xfrm>
          <a:prstGeom prst="straightConnector1">
            <a:avLst/>
          </a:prstGeom>
          <a:noFill/>
          <a:ln cap="flat" cmpd="sng" w="19050">
            <a:solidFill>
              <a:srgbClr val="666666"/>
            </a:solidFill>
            <a:prstDash val="solid"/>
            <a:round/>
            <a:headEnd len="med" w="med" type="none"/>
            <a:tailEnd len="med" w="med" type="none"/>
          </a:ln>
        </p:spPr>
      </p:cxnSp>
      <p:cxnSp>
        <p:nvCxnSpPr>
          <p:cNvPr id="7570" name="Google Shape;7570;p313"/>
          <p:cNvCxnSpPr>
            <a:stCxn id="7555" idx="1"/>
            <a:endCxn id="7554" idx="6"/>
          </p:cNvCxnSpPr>
          <p:nvPr/>
        </p:nvCxnSpPr>
        <p:spPr>
          <a:xfrm rot="10800000">
            <a:off x="913462" y="3671266"/>
            <a:ext cx="261300" cy="200100"/>
          </a:xfrm>
          <a:prstGeom prst="straightConnector1">
            <a:avLst/>
          </a:prstGeom>
          <a:noFill/>
          <a:ln cap="flat" cmpd="sng" w="19050">
            <a:solidFill>
              <a:srgbClr val="666666"/>
            </a:solidFill>
            <a:prstDash val="solid"/>
            <a:round/>
            <a:headEnd len="med" w="med" type="none"/>
            <a:tailEnd len="med" w="med" type="none"/>
          </a:ln>
        </p:spPr>
      </p:cxnSp>
      <p:sp>
        <p:nvSpPr>
          <p:cNvPr id="7571" name="Google Shape;7571;p313"/>
          <p:cNvSpPr/>
          <p:nvPr/>
        </p:nvSpPr>
        <p:spPr>
          <a:xfrm>
            <a:off x="2195893" y="1855625"/>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8</a:t>
            </a:r>
            <a:endParaRPr/>
          </a:p>
        </p:txBody>
      </p:sp>
      <p:sp>
        <p:nvSpPr>
          <p:cNvPr id="7572" name="Google Shape;7572;p313"/>
          <p:cNvSpPr/>
          <p:nvPr/>
        </p:nvSpPr>
        <p:spPr>
          <a:xfrm>
            <a:off x="2195893" y="2713004"/>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14</a:t>
            </a:r>
            <a:endParaRPr/>
          </a:p>
        </p:txBody>
      </p:sp>
      <p:sp>
        <p:nvSpPr>
          <p:cNvPr id="7573" name="Google Shape;7573;p313"/>
          <p:cNvSpPr/>
          <p:nvPr/>
        </p:nvSpPr>
        <p:spPr>
          <a:xfrm>
            <a:off x="256379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11</a:t>
            </a:r>
            <a:endParaRPr/>
          </a:p>
        </p:txBody>
      </p:sp>
      <p:sp>
        <p:nvSpPr>
          <p:cNvPr id="7574" name="Google Shape;7574;p313"/>
          <p:cNvSpPr/>
          <p:nvPr/>
        </p:nvSpPr>
        <p:spPr>
          <a:xfrm>
            <a:off x="2880801" y="1546133"/>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9</a:t>
            </a:r>
            <a:endParaRPr/>
          </a:p>
        </p:txBody>
      </p:sp>
      <p:sp>
        <p:nvSpPr>
          <p:cNvPr id="7575" name="Google Shape;7575;p313"/>
          <p:cNvSpPr/>
          <p:nvPr/>
        </p:nvSpPr>
        <p:spPr>
          <a:xfrm>
            <a:off x="3749082" y="1679501"/>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10</a:t>
            </a:r>
            <a:endParaRPr/>
          </a:p>
        </p:txBody>
      </p:sp>
      <p:sp>
        <p:nvSpPr>
          <p:cNvPr id="7576" name="Google Shape;7576;p313"/>
          <p:cNvSpPr/>
          <p:nvPr/>
        </p:nvSpPr>
        <p:spPr>
          <a:xfrm>
            <a:off x="3274403" y="2299999"/>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12</a:t>
            </a:r>
            <a:endParaRPr/>
          </a:p>
        </p:txBody>
      </p:sp>
      <p:sp>
        <p:nvSpPr>
          <p:cNvPr id="7577" name="Google Shape;7577;p313"/>
          <p:cNvSpPr/>
          <p:nvPr/>
        </p:nvSpPr>
        <p:spPr>
          <a:xfrm>
            <a:off x="4341627" y="2211777"/>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13</a:t>
            </a:r>
            <a:endParaRPr/>
          </a:p>
        </p:txBody>
      </p:sp>
      <p:sp>
        <p:nvSpPr>
          <p:cNvPr id="7578" name="Google Shape;7578;p313"/>
          <p:cNvSpPr/>
          <p:nvPr/>
        </p:nvSpPr>
        <p:spPr>
          <a:xfrm>
            <a:off x="3374610" y="2915806"/>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15</a:t>
            </a:r>
            <a:endParaRPr/>
          </a:p>
        </p:txBody>
      </p:sp>
      <p:sp>
        <p:nvSpPr>
          <p:cNvPr id="7579" name="Google Shape;7579;p313"/>
          <p:cNvSpPr/>
          <p:nvPr/>
        </p:nvSpPr>
        <p:spPr>
          <a:xfrm>
            <a:off x="4223529" y="3072460"/>
            <a:ext cx="317100" cy="309300"/>
          </a:xfrm>
          <a:prstGeom prst="ellipse">
            <a:avLst/>
          </a:prstGeom>
          <a:solidFill>
            <a:schemeClr val="lt2"/>
          </a:solidFill>
          <a:ln cap="flat" cmpd="sng" w="19050">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t>16</a:t>
            </a:r>
            <a:endParaRPr/>
          </a:p>
        </p:txBody>
      </p:sp>
      <p:cxnSp>
        <p:nvCxnSpPr>
          <p:cNvPr id="7580" name="Google Shape;7580;p313"/>
          <p:cNvCxnSpPr>
            <a:stCxn id="7572" idx="0"/>
            <a:endCxn id="7571" idx="4"/>
          </p:cNvCxnSpPr>
          <p:nvPr/>
        </p:nvCxnSpPr>
        <p:spPr>
          <a:xfrm rot="10800000">
            <a:off x="2354443" y="2164904"/>
            <a:ext cx="0" cy="548100"/>
          </a:xfrm>
          <a:prstGeom prst="straightConnector1">
            <a:avLst/>
          </a:prstGeom>
          <a:noFill/>
          <a:ln cap="flat" cmpd="sng" w="19050">
            <a:solidFill>
              <a:srgbClr val="666666"/>
            </a:solidFill>
            <a:prstDash val="solid"/>
            <a:round/>
            <a:headEnd len="med" w="med" type="none"/>
            <a:tailEnd len="med" w="med" type="none"/>
          </a:ln>
        </p:spPr>
      </p:cxnSp>
      <p:cxnSp>
        <p:nvCxnSpPr>
          <p:cNvPr id="7581" name="Google Shape;7581;p313"/>
          <p:cNvCxnSpPr>
            <a:stCxn id="7573" idx="0"/>
            <a:endCxn id="7571" idx="5"/>
          </p:cNvCxnSpPr>
          <p:nvPr/>
        </p:nvCxnSpPr>
        <p:spPr>
          <a:xfrm rot="10800000">
            <a:off x="2466443" y="2119699"/>
            <a:ext cx="255900" cy="180300"/>
          </a:xfrm>
          <a:prstGeom prst="straightConnector1">
            <a:avLst/>
          </a:prstGeom>
          <a:noFill/>
          <a:ln cap="flat" cmpd="sng" w="19050">
            <a:solidFill>
              <a:srgbClr val="666666"/>
            </a:solidFill>
            <a:prstDash val="solid"/>
            <a:round/>
            <a:headEnd len="med" w="med" type="none"/>
            <a:tailEnd len="med" w="med" type="none"/>
          </a:ln>
        </p:spPr>
      </p:cxnSp>
      <p:cxnSp>
        <p:nvCxnSpPr>
          <p:cNvPr id="7582" name="Google Shape;7582;p313"/>
          <p:cNvCxnSpPr>
            <a:stCxn id="7572" idx="6"/>
            <a:endCxn id="7573" idx="4"/>
          </p:cNvCxnSpPr>
          <p:nvPr/>
        </p:nvCxnSpPr>
        <p:spPr>
          <a:xfrm flipH="1" rot="10800000">
            <a:off x="2512993" y="2609354"/>
            <a:ext cx="209400" cy="258300"/>
          </a:xfrm>
          <a:prstGeom prst="straightConnector1">
            <a:avLst/>
          </a:prstGeom>
          <a:noFill/>
          <a:ln cap="flat" cmpd="sng" w="19050">
            <a:solidFill>
              <a:srgbClr val="666666"/>
            </a:solidFill>
            <a:prstDash val="solid"/>
            <a:round/>
            <a:headEnd len="med" w="med" type="none"/>
            <a:tailEnd len="med" w="med" type="none"/>
          </a:ln>
        </p:spPr>
      </p:cxnSp>
      <p:cxnSp>
        <p:nvCxnSpPr>
          <p:cNvPr id="7583" name="Google Shape;7583;p313"/>
          <p:cNvCxnSpPr>
            <a:stCxn id="7571" idx="6"/>
            <a:endCxn id="7574" idx="2"/>
          </p:cNvCxnSpPr>
          <p:nvPr/>
        </p:nvCxnSpPr>
        <p:spPr>
          <a:xfrm flipH="1" rot="10800000">
            <a:off x="2512993" y="1700675"/>
            <a:ext cx="367800" cy="309600"/>
          </a:xfrm>
          <a:prstGeom prst="straightConnector1">
            <a:avLst/>
          </a:prstGeom>
          <a:noFill/>
          <a:ln cap="flat" cmpd="sng" w="19050">
            <a:solidFill>
              <a:srgbClr val="666666"/>
            </a:solidFill>
            <a:prstDash val="solid"/>
            <a:round/>
            <a:headEnd len="med" w="med" type="none"/>
            <a:tailEnd len="med" w="med" type="none"/>
          </a:ln>
        </p:spPr>
      </p:cxnSp>
      <p:cxnSp>
        <p:nvCxnSpPr>
          <p:cNvPr id="7584" name="Google Shape;7584;p313"/>
          <p:cNvCxnSpPr>
            <a:stCxn id="7575" idx="2"/>
            <a:endCxn id="7574" idx="6"/>
          </p:cNvCxnSpPr>
          <p:nvPr/>
        </p:nvCxnSpPr>
        <p:spPr>
          <a:xfrm rot="10800000">
            <a:off x="3197982" y="1700651"/>
            <a:ext cx="551100" cy="133500"/>
          </a:xfrm>
          <a:prstGeom prst="straightConnector1">
            <a:avLst/>
          </a:prstGeom>
          <a:noFill/>
          <a:ln cap="flat" cmpd="sng" w="19050">
            <a:solidFill>
              <a:srgbClr val="666666"/>
            </a:solidFill>
            <a:prstDash val="solid"/>
            <a:round/>
            <a:headEnd len="med" w="med" type="none"/>
            <a:tailEnd len="med" w="med" type="none"/>
          </a:ln>
        </p:spPr>
      </p:cxnSp>
      <p:cxnSp>
        <p:nvCxnSpPr>
          <p:cNvPr id="7585" name="Google Shape;7585;p313"/>
          <p:cNvCxnSpPr>
            <a:stCxn id="7577" idx="1"/>
            <a:endCxn id="7575" idx="5"/>
          </p:cNvCxnSpPr>
          <p:nvPr/>
        </p:nvCxnSpPr>
        <p:spPr>
          <a:xfrm rot="10800000">
            <a:off x="4019665" y="1943573"/>
            <a:ext cx="368400" cy="313500"/>
          </a:xfrm>
          <a:prstGeom prst="straightConnector1">
            <a:avLst/>
          </a:prstGeom>
          <a:noFill/>
          <a:ln cap="flat" cmpd="sng" w="19050">
            <a:solidFill>
              <a:srgbClr val="666666"/>
            </a:solidFill>
            <a:prstDash val="solid"/>
            <a:round/>
            <a:headEnd len="med" w="med" type="none"/>
            <a:tailEnd len="med" w="med" type="none"/>
          </a:ln>
        </p:spPr>
      </p:cxnSp>
      <p:cxnSp>
        <p:nvCxnSpPr>
          <p:cNvPr id="7586" name="Google Shape;7586;p313"/>
          <p:cNvCxnSpPr>
            <a:stCxn id="7576" idx="7"/>
            <a:endCxn id="7575" idx="4"/>
          </p:cNvCxnSpPr>
          <p:nvPr/>
        </p:nvCxnSpPr>
        <p:spPr>
          <a:xfrm flipH="1" rot="10800000">
            <a:off x="3545065" y="1988895"/>
            <a:ext cx="362700" cy="356400"/>
          </a:xfrm>
          <a:prstGeom prst="straightConnector1">
            <a:avLst/>
          </a:prstGeom>
          <a:noFill/>
          <a:ln cap="flat" cmpd="sng" w="19050">
            <a:solidFill>
              <a:srgbClr val="666666"/>
            </a:solidFill>
            <a:prstDash val="solid"/>
            <a:round/>
            <a:headEnd len="med" w="med" type="none"/>
            <a:tailEnd len="med" w="med" type="none"/>
          </a:ln>
        </p:spPr>
      </p:cxnSp>
      <p:cxnSp>
        <p:nvCxnSpPr>
          <p:cNvPr id="7587" name="Google Shape;7587;p313"/>
          <p:cNvCxnSpPr>
            <a:stCxn id="7579" idx="1"/>
            <a:endCxn id="7576" idx="5"/>
          </p:cNvCxnSpPr>
          <p:nvPr/>
        </p:nvCxnSpPr>
        <p:spPr>
          <a:xfrm rot="10800000">
            <a:off x="3545168" y="2563956"/>
            <a:ext cx="724800" cy="553800"/>
          </a:xfrm>
          <a:prstGeom prst="straightConnector1">
            <a:avLst/>
          </a:prstGeom>
          <a:noFill/>
          <a:ln cap="flat" cmpd="sng" w="19050">
            <a:solidFill>
              <a:srgbClr val="666666"/>
            </a:solidFill>
            <a:prstDash val="solid"/>
            <a:round/>
            <a:headEnd len="med" w="med" type="none"/>
            <a:tailEnd len="med" w="med" type="none"/>
          </a:ln>
        </p:spPr>
      </p:cxnSp>
      <p:cxnSp>
        <p:nvCxnSpPr>
          <p:cNvPr id="7588" name="Google Shape;7588;p313"/>
          <p:cNvCxnSpPr>
            <a:stCxn id="7579" idx="2"/>
            <a:endCxn id="7578" idx="5"/>
          </p:cNvCxnSpPr>
          <p:nvPr/>
        </p:nvCxnSpPr>
        <p:spPr>
          <a:xfrm rot="10800000">
            <a:off x="3645129" y="3179710"/>
            <a:ext cx="578400" cy="47400"/>
          </a:xfrm>
          <a:prstGeom prst="straightConnector1">
            <a:avLst/>
          </a:prstGeom>
          <a:noFill/>
          <a:ln cap="flat" cmpd="sng" w="19050">
            <a:solidFill>
              <a:srgbClr val="666666"/>
            </a:solidFill>
            <a:prstDash val="solid"/>
            <a:round/>
            <a:headEnd len="med" w="med" type="none"/>
            <a:tailEnd len="med" w="med" type="none"/>
          </a:ln>
        </p:spPr>
      </p:cxnSp>
      <p:cxnSp>
        <p:nvCxnSpPr>
          <p:cNvPr id="7589" name="Google Shape;7589;p313"/>
          <p:cNvCxnSpPr>
            <a:stCxn id="7578" idx="2"/>
            <a:endCxn id="7572" idx="6"/>
          </p:cNvCxnSpPr>
          <p:nvPr/>
        </p:nvCxnSpPr>
        <p:spPr>
          <a:xfrm rot="10800000">
            <a:off x="2513010" y="2867656"/>
            <a:ext cx="861600" cy="202800"/>
          </a:xfrm>
          <a:prstGeom prst="straightConnector1">
            <a:avLst/>
          </a:prstGeom>
          <a:noFill/>
          <a:ln cap="flat" cmpd="sng" w="19050">
            <a:solidFill>
              <a:srgbClr val="666666"/>
            </a:solidFill>
            <a:prstDash val="solid"/>
            <a:round/>
            <a:headEnd len="med" w="med" type="none"/>
            <a:tailEnd len="med" w="med" type="none"/>
          </a:ln>
        </p:spPr>
      </p:cxnSp>
      <p:cxnSp>
        <p:nvCxnSpPr>
          <p:cNvPr id="7590" name="Google Shape;7590;p313"/>
          <p:cNvCxnSpPr>
            <a:stCxn id="7579" idx="0"/>
            <a:endCxn id="7577" idx="4"/>
          </p:cNvCxnSpPr>
          <p:nvPr/>
        </p:nvCxnSpPr>
        <p:spPr>
          <a:xfrm flipH="1" rot="10800000">
            <a:off x="4382079" y="2521060"/>
            <a:ext cx="118200" cy="551400"/>
          </a:xfrm>
          <a:prstGeom prst="straightConnector1">
            <a:avLst/>
          </a:prstGeom>
          <a:noFill/>
          <a:ln cap="flat" cmpd="sng" w="19050">
            <a:solidFill>
              <a:srgbClr val="666666"/>
            </a:solidFill>
            <a:prstDash val="solid"/>
            <a:round/>
            <a:headEnd len="med" w="med" type="none"/>
            <a:tailEnd len="med" w="med" type="none"/>
          </a:ln>
        </p:spPr>
      </p:cxnSp>
      <p:cxnSp>
        <p:nvCxnSpPr>
          <p:cNvPr id="7591" name="Google Shape;7591;p313"/>
          <p:cNvCxnSpPr>
            <a:stCxn id="7576" idx="2"/>
            <a:endCxn id="7573" idx="6"/>
          </p:cNvCxnSpPr>
          <p:nvPr/>
        </p:nvCxnSpPr>
        <p:spPr>
          <a:xfrm rot="10800000">
            <a:off x="2880803" y="2454649"/>
            <a:ext cx="393600" cy="0"/>
          </a:xfrm>
          <a:prstGeom prst="straightConnector1">
            <a:avLst/>
          </a:prstGeom>
          <a:noFill/>
          <a:ln cap="flat" cmpd="sng" w="19050">
            <a:solidFill>
              <a:srgbClr val="666666"/>
            </a:solidFill>
            <a:prstDash val="solid"/>
            <a:round/>
            <a:headEnd len="med" w="med" type="none"/>
            <a:tailEnd len="med" w="med" type="none"/>
          </a:ln>
        </p:spPr>
      </p:cxnSp>
      <p:sp>
        <p:nvSpPr>
          <p:cNvPr id="7592" name="Google Shape;7592;p313"/>
          <p:cNvSpPr txBox="1"/>
          <p:nvPr>
            <p:ph idx="4294967295" type="body"/>
          </p:nvPr>
        </p:nvSpPr>
        <p:spPr>
          <a:xfrm>
            <a:off x="5342550" y="315925"/>
            <a:ext cx="3580800" cy="176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AutoNum type="arabicPeriod"/>
            </a:pPr>
            <a:r>
              <a:rPr lang="en" sz="1400">
                <a:solidFill>
                  <a:srgbClr val="000000"/>
                </a:solidFill>
              </a:rPr>
              <a:t>Identify the k-connectivity of the input graph (G)</a:t>
            </a:r>
            <a:endParaRPr sz="1400">
              <a:solidFill>
                <a:srgbClr val="000000"/>
              </a:solidFill>
            </a:endParaRPr>
          </a:p>
          <a:p>
            <a:pPr indent="-317500" lvl="0" marL="457200" rtl="0" algn="l">
              <a:spcBef>
                <a:spcPts val="0"/>
              </a:spcBef>
              <a:spcAft>
                <a:spcPts val="0"/>
              </a:spcAft>
              <a:buClr>
                <a:srgbClr val="000000"/>
              </a:buClr>
              <a:buSzPts val="1400"/>
              <a:buAutoNum type="arabicPeriod"/>
            </a:pPr>
            <a:r>
              <a:rPr lang="en" sz="1400">
                <a:solidFill>
                  <a:srgbClr val="000000"/>
                </a:solidFill>
              </a:rPr>
              <a:t>Remove the k-cutset (vertices)</a:t>
            </a:r>
            <a:endParaRPr sz="1400">
              <a:solidFill>
                <a:srgbClr val="000000"/>
              </a:solidFill>
            </a:endParaRPr>
          </a:p>
          <a:p>
            <a:pPr indent="-317500" lvl="0" marL="457200" rtl="0" algn="l">
              <a:spcBef>
                <a:spcPts val="0"/>
              </a:spcBef>
              <a:spcAft>
                <a:spcPts val="0"/>
              </a:spcAft>
              <a:buClr>
                <a:srgbClr val="FF0000"/>
              </a:buClr>
              <a:buSzPts val="1400"/>
              <a:buAutoNum type="arabicPeriod"/>
            </a:pPr>
            <a:r>
              <a:rPr b="1" lang="en" sz="1400">
                <a:solidFill>
                  <a:srgbClr val="FF0000"/>
                </a:solidFill>
              </a:rPr>
              <a:t>Do the same on the resulting subgraphs until no more subdivisions can be obtained </a:t>
            </a:r>
            <a:endParaRPr b="1" sz="1400">
              <a:solidFill>
                <a:srgbClr val="FF0000"/>
              </a:solidFill>
            </a:endParaRPr>
          </a:p>
          <a:p>
            <a:pPr indent="0" lvl="0" marL="914400" rtl="0" algn="l">
              <a:spcBef>
                <a:spcPts val="1600"/>
              </a:spcBef>
              <a:spcAft>
                <a:spcPts val="1600"/>
              </a:spcAft>
              <a:buNone/>
            </a:pPr>
            <a:r>
              <a:t/>
            </a:r>
            <a:endParaRPr sz="1400"/>
          </a:p>
        </p:txBody>
      </p:sp>
      <p:sp>
        <p:nvSpPr>
          <p:cNvPr id="7593" name="Google Shape;7593;p313"/>
          <p:cNvSpPr txBox="1"/>
          <p:nvPr>
            <p:ph type="title"/>
          </p:nvPr>
        </p:nvSpPr>
        <p:spPr>
          <a:xfrm>
            <a:off x="311700" y="315925"/>
            <a:ext cx="5405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Cohesive Blocking </a:t>
            </a:r>
            <a:endParaRPr/>
          </a:p>
        </p:txBody>
      </p:sp>
      <p:sp>
        <p:nvSpPr>
          <p:cNvPr id="7594" name="Google Shape;7594;p313"/>
          <p:cNvSpPr/>
          <p:nvPr/>
        </p:nvSpPr>
        <p:spPr>
          <a:xfrm>
            <a:off x="6584850" y="1958150"/>
            <a:ext cx="863100" cy="417900"/>
          </a:xfrm>
          <a:prstGeom prst="ellipse">
            <a:avLst/>
          </a:prstGeom>
          <a:solidFill>
            <a:srgbClr val="CCA67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G</a:t>
            </a:r>
            <a:endParaRPr b="1"/>
          </a:p>
        </p:txBody>
      </p:sp>
      <p:cxnSp>
        <p:nvCxnSpPr>
          <p:cNvPr id="7595" name="Google Shape;7595;p313"/>
          <p:cNvCxnSpPr>
            <a:stCxn id="7594" idx="4"/>
            <a:endCxn id="7596" idx="0"/>
          </p:cNvCxnSpPr>
          <p:nvPr/>
        </p:nvCxnSpPr>
        <p:spPr>
          <a:xfrm flipH="1">
            <a:off x="6296100" y="2376050"/>
            <a:ext cx="720300" cy="770400"/>
          </a:xfrm>
          <a:prstGeom prst="straightConnector1">
            <a:avLst/>
          </a:prstGeom>
          <a:noFill/>
          <a:ln cap="flat" cmpd="sng" w="19050">
            <a:solidFill>
              <a:srgbClr val="666666"/>
            </a:solidFill>
            <a:prstDash val="solid"/>
            <a:round/>
            <a:headEnd len="med" w="med" type="none"/>
            <a:tailEnd len="med" w="med" type="triangle"/>
          </a:ln>
        </p:spPr>
      </p:cxnSp>
      <p:cxnSp>
        <p:nvCxnSpPr>
          <p:cNvPr id="7597" name="Google Shape;7597;p313"/>
          <p:cNvCxnSpPr>
            <a:stCxn id="7594" idx="4"/>
            <a:endCxn id="7598" idx="0"/>
          </p:cNvCxnSpPr>
          <p:nvPr/>
        </p:nvCxnSpPr>
        <p:spPr>
          <a:xfrm>
            <a:off x="7016400" y="2376050"/>
            <a:ext cx="902700" cy="738000"/>
          </a:xfrm>
          <a:prstGeom prst="straightConnector1">
            <a:avLst/>
          </a:prstGeom>
          <a:noFill/>
          <a:ln cap="flat" cmpd="sng" w="19050">
            <a:solidFill>
              <a:srgbClr val="666666"/>
            </a:solidFill>
            <a:prstDash val="solid"/>
            <a:round/>
            <a:headEnd len="med" w="med" type="none"/>
            <a:tailEnd len="med" w="med" type="triangle"/>
          </a:ln>
        </p:spPr>
      </p:cxnSp>
      <p:sp>
        <p:nvSpPr>
          <p:cNvPr id="7598" name="Google Shape;7598;p313"/>
          <p:cNvSpPr/>
          <p:nvPr/>
        </p:nvSpPr>
        <p:spPr>
          <a:xfrm>
            <a:off x="7318725" y="3114100"/>
            <a:ext cx="12006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b="1" lang="en" sz="1200">
                <a:solidFill>
                  <a:srgbClr val="FF0000"/>
                </a:solidFill>
              </a:rPr>
              <a:t>7</a:t>
            </a:r>
            <a:r>
              <a:rPr lang="en" sz="1200"/>
              <a:t>, 8, 9, 10, 11, 12, 13, 14, 15, 16</a:t>
            </a:r>
            <a:endParaRPr sz="1200"/>
          </a:p>
        </p:txBody>
      </p:sp>
      <p:sp>
        <p:nvSpPr>
          <p:cNvPr id="7596" name="Google Shape;7596;p313"/>
          <p:cNvSpPr/>
          <p:nvPr/>
        </p:nvSpPr>
        <p:spPr>
          <a:xfrm>
            <a:off x="5581050" y="3146455"/>
            <a:ext cx="1429800" cy="6060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lang="en" sz="1200"/>
              <a:t>1, 2, 3, 4, 5, 6, 7, 17, 18, 19, 20, 21, 22, 23</a:t>
            </a:r>
            <a:endParaRPr sz="1200"/>
          </a:p>
        </p:txBody>
      </p:sp>
      <p:cxnSp>
        <p:nvCxnSpPr>
          <p:cNvPr id="7599" name="Google Shape;7599;p313"/>
          <p:cNvCxnSpPr>
            <a:stCxn id="7596" idx="2"/>
            <a:endCxn id="7600" idx="0"/>
          </p:cNvCxnSpPr>
          <p:nvPr/>
        </p:nvCxnSpPr>
        <p:spPr>
          <a:xfrm flipH="1">
            <a:off x="5767350" y="3752455"/>
            <a:ext cx="528600" cy="573000"/>
          </a:xfrm>
          <a:prstGeom prst="straightConnector1">
            <a:avLst/>
          </a:prstGeom>
          <a:noFill/>
          <a:ln cap="flat" cmpd="sng" w="19050">
            <a:solidFill>
              <a:srgbClr val="666666"/>
            </a:solidFill>
            <a:prstDash val="solid"/>
            <a:round/>
            <a:headEnd len="med" w="med" type="none"/>
            <a:tailEnd len="med" w="med" type="triangle"/>
          </a:ln>
        </p:spPr>
      </p:cxnSp>
      <p:cxnSp>
        <p:nvCxnSpPr>
          <p:cNvPr id="7601" name="Google Shape;7601;p313"/>
          <p:cNvCxnSpPr>
            <a:stCxn id="7596" idx="2"/>
            <a:endCxn id="7602" idx="0"/>
          </p:cNvCxnSpPr>
          <p:nvPr/>
        </p:nvCxnSpPr>
        <p:spPr>
          <a:xfrm>
            <a:off x="6295950" y="3752455"/>
            <a:ext cx="579000" cy="573000"/>
          </a:xfrm>
          <a:prstGeom prst="straightConnector1">
            <a:avLst/>
          </a:prstGeom>
          <a:noFill/>
          <a:ln cap="flat" cmpd="sng" w="19050">
            <a:solidFill>
              <a:srgbClr val="666666"/>
            </a:solidFill>
            <a:prstDash val="solid"/>
            <a:round/>
            <a:headEnd len="med" w="med" type="none"/>
            <a:tailEnd len="med" w="med" type="triangle"/>
          </a:ln>
        </p:spPr>
      </p:cxnSp>
      <p:sp>
        <p:nvSpPr>
          <p:cNvPr id="7600" name="Google Shape;7600;p313"/>
          <p:cNvSpPr/>
          <p:nvPr/>
        </p:nvSpPr>
        <p:spPr>
          <a:xfrm>
            <a:off x="5359175" y="4325375"/>
            <a:ext cx="816600" cy="6348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lang="en" sz="1200"/>
              <a:t>1, 2, 3, 4, </a:t>
            </a:r>
            <a:r>
              <a:rPr b="1" lang="en" sz="1200">
                <a:solidFill>
                  <a:srgbClr val="FF0000"/>
                </a:solidFill>
              </a:rPr>
              <a:t>5</a:t>
            </a:r>
            <a:r>
              <a:rPr lang="en" sz="1200"/>
              <a:t>, 6</a:t>
            </a:r>
            <a:endParaRPr sz="1200"/>
          </a:p>
        </p:txBody>
      </p:sp>
      <p:sp>
        <p:nvSpPr>
          <p:cNvPr id="7602" name="Google Shape;7602;p313"/>
          <p:cNvSpPr/>
          <p:nvPr/>
        </p:nvSpPr>
        <p:spPr>
          <a:xfrm>
            <a:off x="6367575" y="4325375"/>
            <a:ext cx="1014900" cy="634800"/>
          </a:xfrm>
          <a:prstGeom prst="bracePair">
            <a:avLst/>
          </a:prstGeom>
          <a:noFill/>
          <a:ln cap="flat" cmpd="sng" w="19050">
            <a:solidFill>
              <a:srgbClr val="666666"/>
            </a:solidFill>
            <a:prstDash val="solid"/>
            <a:round/>
            <a:headEnd len="sm" w="sm" type="none"/>
            <a:tailEnd len="sm" w="sm" type="none"/>
          </a:ln>
        </p:spPr>
        <p:txBody>
          <a:bodyPr anchorCtr="0" anchor="ctr" bIns="0" lIns="45700" spcFirstLastPara="1" rIns="45700" wrap="square" tIns="0">
            <a:noAutofit/>
          </a:bodyPr>
          <a:lstStyle/>
          <a:p>
            <a:pPr indent="0" lvl="0" marL="0" rtl="0" algn="l">
              <a:spcBef>
                <a:spcPts val="0"/>
              </a:spcBef>
              <a:spcAft>
                <a:spcPts val="0"/>
              </a:spcAft>
              <a:buNone/>
            </a:pPr>
            <a:r>
              <a:rPr lang="en" sz="1200"/>
              <a:t>17, 18, 19, 20, 21, 22, 23</a:t>
            </a:r>
            <a:endParaRPr sz="1200"/>
          </a:p>
        </p:txBody>
      </p:sp>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6" name="Shape 7606"/>
        <p:cNvGrpSpPr/>
        <p:nvPr/>
      </p:nvGrpSpPr>
      <p:grpSpPr>
        <a:xfrm>
          <a:off x="0" y="0"/>
          <a:ext cx="0" cy="0"/>
          <a:chOff x="0" y="0"/>
          <a:chExt cx="0" cy="0"/>
        </a:xfrm>
      </p:grpSpPr>
      <p:sp>
        <p:nvSpPr>
          <p:cNvPr id="7607" name="Google Shape;7607;p3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Summary of key terms</a:t>
            </a:r>
            <a:endParaRPr/>
          </a:p>
        </p:txBody>
      </p:sp>
      <p:sp>
        <p:nvSpPr>
          <p:cNvPr id="7608" name="Google Shape;7608;p3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Subgraph:</a:t>
            </a:r>
            <a:r>
              <a:rPr lang="en"/>
              <a:t> A subset (G’) of the node and the edge set of a graph (G)</a:t>
            </a:r>
            <a:endParaRPr/>
          </a:p>
          <a:p>
            <a:pPr indent="-342900" lvl="0" marL="457200" rtl="0" algn="l">
              <a:spcBef>
                <a:spcPts val="0"/>
              </a:spcBef>
              <a:spcAft>
                <a:spcPts val="0"/>
              </a:spcAft>
              <a:buSzPts val="1800"/>
              <a:buChar char="●"/>
            </a:pPr>
            <a:r>
              <a:rPr b="1" lang="en"/>
              <a:t>Connected subgraph: </a:t>
            </a:r>
            <a:r>
              <a:rPr lang="en"/>
              <a:t>All nodes in the subgraph can reach other nodes in the subgraph via some path within the subset of edges</a:t>
            </a:r>
            <a:endParaRPr/>
          </a:p>
          <a:p>
            <a:pPr indent="-342900" lvl="0" marL="457200" rtl="0" algn="l">
              <a:spcBef>
                <a:spcPts val="0"/>
              </a:spcBef>
              <a:spcAft>
                <a:spcPts val="0"/>
              </a:spcAft>
              <a:buSzPts val="1800"/>
              <a:buChar char="●"/>
            </a:pPr>
            <a:r>
              <a:rPr b="1" lang="en"/>
              <a:t>Maximal subgraph:</a:t>
            </a:r>
            <a:r>
              <a:rPr lang="en"/>
              <a:t> A subgraph is maximal with re</a:t>
            </a:r>
            <a:r>
              <a:rPr lang="en"/>
              <a:t>sp</a:t>
            </a:r>
            <a:r>
              <a:rPr lang="en"/>
              <a:t>ect to property </a:t>
            </a:r>
            <a:r>
              <a:rPr i="1" lang="en"/>
              <a:t>p</a:t>
            </a:r>
            <a:r>
              <a:rPr lang="en"/>
              <a:t> (e.d., completeness, connectivity) when no more nodes or edges can be added to the subgraph without losing that property</a:t>
            </a:r>
            <a:endParaRPr/>
          </a:p>
          <a:p>
            <a:pPr indent="-317500" lvl="1" marL="914400" rtl="0" algn="l">
              <a:spcBef>
                <a:spcPts val="0"/>
              </a:spcBef>
              <a:spcAft>
                <a:spcPts val="0"/>
              </a:spcAft>
              <a:buSzPts val="1400"/>
              <a:buChar char="○"/>
            </a:pPr>
            <a:r>
              <a:rPr lang="en"/>
              <a:t>Maximally connected subgraph, maximally complete subgraph, etc.</a:t>
            </a:r>
            <a:endParaRPr/>
          </a:p>
          <a:p>
            <a:pPr indent="-342900" lvl="0" marL="457200" rtl="0" algn="l">
              <a:spcBef>
                <a:spcPts val="0"/>
              </a:spcBef>
              <a:spcAft>
                <a:spcPts val="0"/>
              </a:spcAft>
              <a:buSzPts val="1800"/>
              <a:buChar char="●"/>
            </a:pPr>
            <a:r>
              <a:rPr b="1" lang="en"/>
              <a:t>Clique:</a:t>
            </a:r>
            <a:r>
              <a:rPr lang="en"/>
              <a:t> Maximally complete subgraph</a:t>
            </a:r>
            <a:endParaRPr/>
          </a:p>
          <a:p>
            <a:pPr indent="-342900" lvl="0" marL="457200" rtl="0" algn="l">
              <a:spcBef>
                <a:spcPts val="0"/>
              </a:spcBef>
              <a:spcAft>
                <a:spcPts val="0"/>
              </a:spcAft>
              <a:buSzPts val="1800"/>
              <a:buChar char="●"/>
            </a:pPr>
            <a:r>
              <a:rPr b="1" lang="en"/>
              <a:t>Clique Size</a:t>
            </a:r>
            <a:r>
              <a:rPr b="1" lang="en"/>
              <a:t>:</a:t>
            </a:r>
            <a:r>
              <a:rPr lang="en"/>
              <a:t> Number of nodes in a clique</a:t>
            </a:r>
            <a:endParaRPr/>
          </a:p>
          <a:p>
            <a:pPr indent="-342900" lvl="0" marL="457200" rtl="0" algn="l">
              <a:spcBef>
                <a:spcPts val="0"/>
              </a:spcBef>
              <a:spcAft>
                <a:spcPts val="0"/>
              </a:spcAft>
              <a:buSzPts val="1800"/>
              <a:buChar char="●"/>
            </a:pPr>
            <a:r>
              <a:rPr b="1" lang="en"/>
              <a:t>n</a:t>
            </a:r>
            <a:r>
              <a:rPr b="1" lang="en"/>
              <a:t>-Clique: </a:t>
            </a:r>
            <a:r>
              <a:rPr lang="en"/>
              <a:t>A subgraph in which every node can reach every other node inside the subgraph via a path of </a:t>
            </a:r>
            <a:r>
              <a:rPr i="1" lang="en"/>
              <a:t>minimum length n</a:t>
            </a:r>
            <a:endParaRPr/>
          </a:p>
        </p:txBody>
      </p:sp>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2" name="Shape 7612"/>
        <p:cNvGrpSpPr/>
        <p:nvPr/>
      </p:nvGrpSpPr>
      <p:grpSpPr>
        <a:xfrm>
          <a:off x="0" y="0"/>
          <a:ext cx="0" cy="0"/>
          <a:chOff x="0" y="0"/>
          <a:chExt cx="0" cy="0"/>
        </a:xfrm>
      </p:grpSpPr>
      <p:sp>
        <p:nvSpPr>
          <p:cNvPr id="7613" name="Google Shape;7613;p3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Summary of key terms</a:t>
            </a:r>
            <a:endParaRPr/>
          </a:p>
        </p:txBody>
      </p:sp>
      <p:sp>
        <p:nvSpPr>
          <p:cNvPr id="7614" name="Google Shape;7614;p31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Connected graph: </a:t>
            </a:r>
            <a:r>
              <a:rPr lang="en"/>
              <a:t>All nodes in the graph can reach every other node via a path regardless of length (</a:t>
            </a:r>
            <a:r>
              <a:rPr i="1" lang="en">
                <a:latin typeface="Pacifico"/>
                <a:ea typeface="Pacifico"/>
                <a:cs typeface="Pacifico"/>
                <a:sym typeface="Pacifico"/>
              </a:rPr>
              <a:t>l</a:t>
            </a:r>
            <a:r>
              <a:rPr i="1" lang="en"/>
              <a:t> </a:t>
            </a:r>
            <a:r>
              <a:rPr lang="en"/>
              <a:t>&lt; ∞)</a:t>
            </a:r>
            <a:endParaRPr/>
          </a:p>
          <a:p>
            <a:pPr indent="-342900" lvl="0" marL="457200" rtl="0" algn="l">
              <a:spcBef>
                <a:spcPts val="0"/>
              </a:spcBef>
              <a:spcAft>
                <a:spcPts val="0"/>
              </a:spcAft>
              <a:buSzPts val="1800"/>
              <a:buChar char="●"/>
            </a:pPr>
            <a:r>
              <a:rPr b="1" lang="en"/>
              <a:t>Disconnected graph: </a:t>
            </a:r>
            <a:r>
              <a:rPr lang="en"/>
              <a:t>Some nodes in the graph cannot reach other nodes via any path (e.g., for at least one pair of nodes </a:t>
            </a:r>
            <a:r>
              <a:rPr i="1" lang="en">
                <a:latin typeface="Pacifico"/>
                <a:ea typeface="Pacifico"/>
                <a:cs typeface="Pacifico"/>
                <a:sym typeface="Pacifico"/>
              </a:rPr>
              <a:t>l</a:t>
            </a:r>
            <a:r>
              <a:rPr i="1" lang="en"/>
              <a:t> </a:t>
            </a:r>
            <a:r>
              <a:rPr baseline="-25000" i="1" lang="en"/>
              <a:t>uv</a:t>
            </a:r>
            <a:r>
              <a:rPr i="1" lang="en"/>
              <a:t>= </a:t>
            </a:r>
            <a:r>
              <a:rPr lang="en"/>
              <a:t>∞)</a:t>
            </a:r>
            <a:endParaRPr i="1"/>
          </a:p>
          <a:p>
            <a:pPr indent="-342900" lvl="0" marL="457200" rtl="0" algn="l">
              <a:spcBef>
                <a:spcPts val="0"/>
              </a:spcBef>
              <a:spcAft>
                <a:spcPts val="0"/>
              </a:spcAft>
              <a:buSzPts val="1800"/>
              <a:buChar char="●"/>
            </a:pPr>
            <a:r>
              <a:rPr b="1" lang="en"/>
              <a:t>Components: </a:t>
            </a:r>
            <a:r>
              <a:rPr lang="en"/>
              <a:t>Maximally connected subgraphs inside a disconnected graph</a:t>
            </a:r>
            <a:endParaRPr/>
          </a:p>
          <a:p>
            <a:pPr indent="-342900" lvl="0" marL="457200" rtl="0" algn="l">
              <a:spcBef>
                <a:spcPts val="0"/>
              </a:spcBef>
              <a:spcAft>
                <a:spcPts val="0"/>
              </a:spcAft>
              <a:buSzPts val="1800"/>
              <a:buChar char="●"/>
            </a:pPr>
            <a:r>
              <a:rPr b="1" lang="en"/>
              <a:t>Giant Component: </a:t>
            </a:r>
            <a:r>
              <a:rPr lang="en"/>
              <a:t>The maximally connected subgraph in a disconnected graph with the largest number of nodes</a:t>
            </a:r>
            <a:endParaRPr/>
          </a:p>
          <a:p>
            <a:pPr indent="-342900" lvl="0" marL="457200" rtl="0" algn="l">
              <a:spcBef>
                <a:spcPts val="0"/>
              </a:spcBef>
              <a:spcAft>
                <a:spcPts val="0"/>
              </a:spcAft>
              <a:buSzPts val="1800"/>
              <a:buChar char="●"/>
            </a:pPr>
            <a:r>
              <a:rPr b="1" i="1" lang="en"/>
              <a:t>k-</a:t>
            </a:r>
            <a:r>
              <a:rPr b="1" lang="en"/>
              <a:t>Connected component</a:t>
            </a:r>
            <a:r>
              <a:rPr lang="en"/>
              <a:t>: A component in which every node can reach </a:t>
            </a:r>
            <a:r>
              <a:rPr lang="en"/>
              <a:t>every</a:t>
            </a:r>
            <a:r>
              <a:rPr lang="en"/>
              <a:t> other node inside the component via a path of minimum length </a:t>
            </a:r>
            <a:r>
              <a:rPr i="1" lang="en"/>
              <a:t>k</a:t>
            </a:r>
            <a:endParaRPr i="1"/>
          </a:p>
          <a:p>
            <a:pPr indent="0" lvl="0" marL="914400" rtl="0" algn="l">
              <a:spcBef>
                <a:spcPts val="0"/>
              </a:spcBef>
              <a:spcAft>
                <a:spcPts val="0"/>
              </a:spcAft>
              <a:buNone/>
            </a:pPr>
            <a:r>
              <a:t/>
            </a:r>
            <a:endParaRPr i="1"/>
          </a:p>
        </p:txBody>
      </p:sp>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8" name="Shape 7618"/>
        <p:cNvGrpSpPr/>
        <p:nvPr/>
      </p:nvGrpSpPr>
      <p:grpSpPr>
        <a:xfrm>
          <a:off x="0" y="0"/>
          <a:ext cx="0" cy="0"/>
          <a:chOff x="0" y="0"/>
          <a:chExt cx="0" cy="0"/>
        </a:xfrm>
      </p:grpSpPr>
      <p:sp>
        <p:nvSpPr>
          <p:cNvPr id="7619" name="Google Shape;7619;p3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Summary of key terms</a:t>
            </a:r>
            <a:endParaRPr/>
          </a:p>
        </p:txBody>
      </p:sp>
      <p:sp>
        <p:nvSpPr>
          <p:cNvPr id="7620" name="Google Shape;7620;p31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Bridges: </a:t>
            </a:r>
            <a:r>
              <a:rPr lang="en"/>
              <a:t>An edge that if it were removed would disconnect the graph</a:t>
            </a:r>
            <a:endParaRPr/>
          </a:p>
          <a:p>
            <a:pPr indent="-342900" lvl="0" marL="457200" rtl="0" algn="l">
              <a:spcBef>
                <a:spcPts val="0"/>
              </a:spcBef>
              <a:spcAft>
                <a:spcPts val="0"/>
              </a:spcAft>
              <a:buSzPts val="1800"/>
              <a:buChar char="●"/>
            </a:pPr>
            <a:r>
              <a:rPr b="1" lang="en"/>
              <a:t>Edge cutset: </a:t>
            </a:r>
            <a:r>
              <a:rPr lang="en"/>
              <a:t>Minimum number of edges whose removal would disconnect the graph</a:t>
            </a:r>
            <a:endParaRPr/>
          </a:p>
          <a:p>
            <a:pPr indent="-342900" lvl="0" marL="457200" rtl="0" algn="l">
              <a:spcBef>
                <a:spcPts val="0"/>
              </a:spcBef>
              <a:spcAft>
                <a:spcPts val="0"/>
              </a:spcAft>
              <a:buSzPts val="1800"/>
              <a:buChar char="●"/>
            </a:pPr>
            <a:r>
              <a:rPr b="1" lang="en"/>
              <a:t>Node </a:t>
            </a:r>
            <a:r>
              <a:rPr b="1" lang="en"/>
              <a:t>cutset: </a:t>
            </a:r>
            <a:r>
              <a:rPr lang="en"/>
              <a:t>Minimum number of nodes whose removal would disconnect the graph</a:t>
            </a:r>
            <a:endParaRPr/>
          </a:p>
          <a:p>
            <a:pPr indent="-342900" lvl="0" marL="457200" rtl="0" algn="l">
              <a:spcBef>
                <a:spcPts val="0"/>
              </a:spcBef>
              <a:spcAft>
                <a:spcPts val="0"/>
              </a:spcAft>
              <a:buSzPts val="1800"/>
              <a:buChar char="●"/>
            </a:pPr>
            <a:r>
              <a:rPr b="1" lang="en"/>
              <a:t>uv-cutset:</a:t>
            </a:r>
            <a:r>
              <a:rPr lang="en"/>
              <a:t> Number of nodes whose removal would disconnect a pair of nodes (uv)</a:t>
            </a:r>
            <a:endParaRPr/>
          </a:p>
          <a:p>
            <a:pPr indent="-342900" lvl="0" marL="457200" rtl="0" algn="l">
              <a:spcBef>
                <a:spcPts val="0"/>
              </a:spcBef>
              <a:spcAft>
                <a:spcPts val="0"/>
              </a:spcAft>
              <a:buSzPts val="1800"/>
              <a:buChar char="●"/>
            </a:pPr>
            <a:r>
              <a:rPr b="1" lang="en"/>
              <a:t>Menger’s Theorem: </a:t>
            </a:r>
            <a:r>
              <a:rPr lang="en"/>
              <a:t>Important result in graph theory!</a:t>
            </a:r>
            <a:endParaRPr/>
          </a:p>
          <a:p>
            <a:pPr indent="-342900" lvl="0" marL="457200" rtl="0" algn="l">
              <a:spcBef>
                <a:spcPts val="0"/>
              </a:spcBef>
              <a:spcAft>
                <a:spcPts val="0"/>
              </a:spcAft>
              <a:buSzPts val="1800"/>
              <a:buChar char="●"/>
            </a:pPr>
            <a:r>
              <a:rPr b="1" lang="en"/>
              <a:t>Cohesive Blocking: </a:t>
            </a:r>
            <a:r>
              <a:rPr lang="en"/>
              <a:t>A way to find densely connected subgroups in a graph by removing nodes in the node cutset </a:t>
            </a:r>
            <a:endParaRPr/>
          </a:p>
        </p:txBody>
      </p:sp>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4" name="Shape 7624"/>
        <p:cNvGrpSpPr/>
        <p:nvPr/>
      </p:nvGrpSpPr>
      <p:grpSpPr>
        <a:xfrm>
          <a:off x="0" y="0"/>
          <a:ext cx="0" cy="0"/>
          <a:chOff x="0" y="0"/>
          <a:chExt cx="0" cy="0"/>
        </a:xfrm>
      </p:grpSpPr>
      <p:sp>
        <p:nvSpPr>
          <p:cNvPr id="7625" name="Google Shape;7625;p3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theory: Weighted graphs</a:t>
            </a:r>
            <a:endParaRPr/>
          </a:p>
        </p:txBody>
      </p:sp>
      <p:sp>
        <p:nvSpPr>
          <p:cNvPr id="7626" name="Google Shape;7626;p317"/>
          <p:cNvSpPr txBox="1"/>
          <p:nvPr>
            <p:ph idx="1" type="body"/>
          </p:nvPr>
        </p:nvSpPr>
        <p:spPr>
          <a:xfrm>
            <a:off x="311700" y="1225225"/>
            <a:ext cx="496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Often it is useful to associate numerical values with the edges (uv) of a graph: </a:t>
            </a:r>
            <a:endParaRPr/>
          </a:p>
          <a:p>
            <a:pPr indent="-317500" lvl="1" marL="914400" rtl="0" algn="l">
              <a:spcBef>
                <a:spcPts val="0"/>
              </a:spcBef>
              <a:spcAft>
                <a:spcPts val="0"/>
              </a:spcAft>
              <a:buSzPts val="1400"/>
              <a:buChar char="○"/>
            </a:pPr>
            <a:r>
              <a:rPr lang="en"/>
              <a:t>This is called the edge weight (w</a:t>
            </a:r>
            <a:r>
              <a:rPr baseline="-25000" lang="en"/>
              <a:t>uv</a:t>
            </a:r>
            <a:r>
              <a:rPr lang="en"/>
              <a:t>)</a:t>
            </a:r>
            <a:endParaRPr baseline="-25000"/>
          </a:p>
          <a:p>
            <a:pPr indent="-317500" lvl="1" marL="914400" rtl="0" algn="l">
              <a:spcBef>
                <a:spcPts val="0"/>
              </a:spcBef>
              <a:spcAft>
                <a:spcPts val="0"/>
              </a:spcAft>
              <a:buSzPts val="1400"/>
              <a:buChar char="○"/>
            </a:pPr>
            <a:r>
              <a:rPr lang="en"/>
              <a:t>This may be used to represent:</a:t>
            </a:r>
            <a:endParaRPr/>
          </a:p>
          <a:p>
            <a:pPr indent="-317500" lvl="2" marL="1371600" rtl="0" algn="l">
              <a:spcBef>
                <a:spcPts val="0"/>
              </a:spcBef>
              <a:spcAft>
                <a:spcPts val="0"/>
              </a:spcAft>
              <a:buSzPts val="1400"/>
              <a:buChar char="■"/>
            </a:pPr>
            <a:r>
              <a:rPr lang="en"/>
              <a:t>the </a:t>
            </a:r>
            <a:r>
              <a:rPr b="1" lang="en"/>
              <a:t>strength</a:t>
            </a:r>
            <a:r>
              <a:rPr lang="en"/>
              <a:t> of the relationship joining two people </a:t>
            </a:r>
            <a:endParaRPr/>
          </a:p>
          <a:p>
            <a:pPr indent="-317500" lvl="2" marL="1371600" rtl="0" algn="l">
              <a:spcBef>
                <a:spcPts val="0"/>
              </a:spcBef>
              <a:spcAft>
                <a:spcPts val="0"/>
              </a:spcAft>
              <a:buSzPts val="1400"/>
              <a:buChar char="■"/>
            </a:pPr>
            <a:r>
              <a:rPr lang="en"/>
              <a:t>the amount of something (e.g. information) that </a:t>
            </a:r>
            <a:r>
              <a:rPr b="1" lang="en"/>
              <a:t>flows</a:t>
            </a:r>
            <a:r>
              <a:rPr lang="en"/>
              <a:t> via the ties</a:t>
            </a:r>
            <a:endParaRPr/>
          </a:p>
          <a:p>
            <a:pPr indent="-342900" lvl="0" marL="457200" rtl="0" algn="l">
              <a:spcBef>
                <a:spcPts val="0"/>
              </a:spcBef>
              <a:spcAft>
                <a:spcPts val="0"/>
              </a:spcAft>
              <a:buSzPts val="1800"/>
              <a:buChar char="●"/>
            </a:pPr>
            <a:r>
              <a:rPr lang="en"/>
              <a:t>Graphs that featured edge weights are called weighted (valued) graphs:</a:t>
            </a:r>
            <a:endParaRPr/>
          </a:p>
          <a:p>
            <a:pPr indent="-317500" lvl="1" marL="914400" rtl="0" algn="l">
              <a:spcBef>
                <a:spcPts val="0"/>
              </a:spcBef>
              <a:spcAft>
                <a:spcPts val="0"/>
              </a:spcAft>
              <a:buSzPts val="1400"/>
              <a:buChar char="○"/>
            </a:pPr>
            <a:r>
              <a:rPr lang="en"/>
              <a:t>Binary graphs can be thought of as a constrained case of weighted graphs</a:t>
            </a:r>
            <a:endParaRPr/>
          </a:p>
          <a:p>
            <a:pPr indent="0" lvl="0" marL="0" rtl="0" algn="l">
              <a:spcBef>
                <a:spcPts val="0"/>
              </a:spcBef>
              <a:spcAft>
                <a:spcPts val="0"/>
              </a:spcAft>
              <a:buNone/>
            </a:pPr>
            <a:r>
              <a:t/>
            </a:r>
            <a:endParaRPr/>
          </a:p>
        </p:txBody>
      </p:sp>
      <p:pic>
        <p:nvPicPr>
          <p:cNvPr id="7627" name="Google Shape;7627;p317"/>
          <p:cNvPicPr preferRelativeResize="0"/>
          <p:nvPr/>
        </p:nvPicPr>
        <p:blipFill>
          <a:blip r:embed="rId3">
            <a:alphaModFix/>
          </a:blip>
          <a:stretch>
            <a:fillRect/>
          </a:stretch>
        </p:blipFill>
        <p:spPr>
          <a:xfrm>
            <a:off x="5281201" y="1423099"/>
            <a:ext cx="3551100" cy="2297313"/>
          </a:xfrm>
          <a:prstGeom prst="rect">
            <a:avLst/>
          </a:prstGeom>
          <a:noFill/>
          <a:ln>
            <a:noFill/>
          </a:ln>
        </p:spPr>
      </p:pic>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1" name="Shape 7631"/>
        <p:cNvGrpSpPr/>
        <p:nvPr/>
      </p:nvGrpSpPr>
      <p:grpSpPr>
        <a:xfrm>
          <a:off x="0" y="0"/>
          <a:ext cx="0" cy="0"/>
          <a:chOff x="0" y="0"/>
          <a:chExt cx="0" cy="0"/>
        </a:xfrm>
      </p:grpSpPr>
      <p:sp>
        <p:nvSpPr>
          <p:cNvPr id="7632" name="Google Shape;7632;p3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One mode projections as weighted graphs</a:t>
            </a:r>
            <a:endParaRPr/>
          </a:p>
        </p:txBody>
      </p:sp>
      <p:sp>
        <p:nvSpPr>
          <p:cNvPr id="7633" name="Google Shape;7633;p31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One mode projections of two mode networks can be thought of as matrix representations of weighted graphs</a:t>
            </a:r>
            <a:endParaRPr/>
          </a:p>
          <a:p>
            <a:pPr indent="-317500" lvl="1" marL="914400" rtl="0" algn="l">
              <a:spcBef>
                <a:spcPts val="0"/>
              </a:spcBef>
              <a:spcAft>
                <a:spcPts val="0"/>
              </a:spcAft>
              <a:buSzPts val="1400"/>
              <a:buChar char="○"/>
            </a:pPr>
            <a:r>
              <a:rPr i="1" lang="en"/>
              <a:t>People are linked to one another is they share memberships</a:t>
            </a:r>
            <a:endParaRPr i="1"/>
          </a:p>
          <a:p>
            <a:pPr indent="-317500" lvl="2" marL="1371600" rtl="0" algn="l">
              <a:spcBef>
                <a:spcPts val="0"/>
              </a:spcBef>
              <a:spcAft>
                <a:spcPts val="0"/>
              </a:spcAft>
              <a:buSzPts val="1400"/>
              <a:buChar char="■"/>
            </a:pPr>
            <a:r>
              <a:rPr lang="en"/>
              <a:t>The more shared memberships the stronger the link (w</a:t>
            </a:r>
            <a:r>
              <a:rPr baseline="-25000" lang="en"/>
              <a:t>ij</a:t>
            </a:r>
            <a:r>
              <a:rPr lang="en"/>
              <a:t>)</a:t>
            </a:r>
            <a:endParaRPr/>
          </a:p>
          <a:p>
            <a:pPr indent="-317500" lvl="1" marL="914400" rtl="0" algn="l">
              <a:spcBef>
                <a:spcPts val="0"/>
              </a:spcBef>
              <a:spcAft>
                <a:spcPts val="0"/>
              </a:spcAft>
              <a:buSzPts val="1400"/>
              <a:buChar char="○"/>
            </a:pPr>
            <a:r>
              <a:rPr i="1" lang="en"/>
              <a:t>Groups are linked to one another if they share members</a:t>
            </a:r>
            <a:endParaRPr i="1"/>
          </a:p>
          <a:p>
            <a:pPr indent="-317500" lvl="2" marL="1371600" rtl="0" algn="l">
              <a:spcBef>
                <a:spcPts val="0"/>
              </a:spcBef>
              <a:spcAft>
                <a:spcPts val="0"/>
              </a:spcAft>
              <a:buSzPts val="1400"/>
              <a:buChar char="■"/>
            </a:pPr>
            <a:r>
              <a:rPr lang="en"/>
              <a:t>The more shared members the stronger the link (w</a:t>
            </a:r>
            <a:r>
              <a:rPr baseline="-25000" lang="en"/>
              <a:t>ij</a:t>
            </a:r>
            <a:r>
              <a:rPr lang="en"/>
              <a:t>)</a:t>
            </a:r>
            <a:endParaRPr/>
          </a:p>
          <a:p>
            <a:pPr indent="-317500" lvl="1" marL="914400" rtl="0" algn="l">
              <a:spcBef>
                <a:spcPts val="0"/>
              </a:spcBef>
              <a:spcAft>
                <a:spcPts val="0"/>
              </a:spcAft>
              <a:buSzPts val="1400"/>
              <a:buChar char="○"/>
            </a:pPr>
            <a:r>
              <a:rPr lang="en"/>
              <a:t>We can binarize the weighted one-mode representation to get back to simple graphs</a:t>
            </a:r>
            <a:endParaRPr/>
          </a:p>
          <a:p>
            <a:pPr indent="-317500" lvl="2" marL="1371600" rtl="0" algn="l">
              <a:spcBef>
                <a:spcPts val="0"/>
              </a:spcBef>
              <a:spcAft>
                <a:spcPts val="0"/>
              </a:spcAft>
              <a:buSzPts val="1400"/>
              <a:buChar char="■"/>
            </a:pPr>
            <a:r>
              <a:rPr lang="en"/>
              <a:t>c*</a:t>
            </a:r>
            <a:r>
              <a:rPr baseline="-25000" lang="en"/>
              <a:t>ij</a:t>
            </a:r>
            <a:r>
              <a:rPr lang="en"/>
              <a:t> = 1 </a:t>
            </a:r>
            <a:r>
              <a:rPr i="1" lang="en"/>
              <a:t>if</a:t>
            </a:r>
            <a:r>
              <a:rPr lang="en"/>
              <a:t> c</a:t>
            </a:r>
            <a:r>
              <a:rPr baseline="-25000" lang="en"/>
              <a:t>ij </a:t>
            </a:r>
            <a:r>
              <a:rPr lang="en"/>
              <a:t>&gt; ϴ, </a:t>
            </a:r>
            <a:r>
              <a:rPr i="1" lang="en"/>
              <a:t>else</a:t>
            </a:r>
            <a:r>
              <a:rPr lang="en"/>
              <a:t> c*</a:t>
            </a:r>
            <a:r>
              <a:rPr baseline="-25000" lang="en"/>
              <a:t>ij</a:t>
            </a:r>
            <a:r>
              <a:rPr lang="en"/>
              <a:t> = 0; g*</a:t>
            </a:r>
            <a:r>
              <a:rPr baseline="-25000" lang="en"/>
              <a:t>ij</a:t>
            </a:r>
            <a:r>
              <a:rPr lang="en"/>
              <a:t> = 1 </a:t>
            </a:r>
            <a:r>
              <a:rPr i="1" lang="en"/>
              <a:t>if</a:t>
            </a:r>
            <a:r>
              <a:rPr lang="en"/>
              <a:t> g</a:t>
            </a:r>
            <a:r>
              <a:rPr baseline="-25000" lang="en"/>
              <a:t>ij </a:t>
            </a:r>
            <a:r>
              <a:rPr lang="en"/>
              <a:t>&gt; ϴ, </a:t>
            </a:r>
            <a:r>
              <a:rPr i="1" lang="en"/>
              <a:t>else</a:t>
            </a:r>
            <a:r>
              <a:rPr lang="en"/>
              <a:t> g*</a:t>
            </a:r>
            <a:r>
              <a:rPr baseline="-25000" lang="en"/>
              <a:t>ij</a:t>
            </a:r>
            <a:r>
              <a:rPr lang="en"/>
              <a:t> = 0 </a:t>
            </a:r>
            <a:endParaRPr/>
          </a:p>
          <a:p>
            <a:pPr indent="-317500" lvl="3" marL="1828800" rtl="0" algn="l">
              <a:spcBef>
                <a:spcPts val="0"/>
              </a:spcBef>
              <a:spcAft>
                <a:spcPts val="0"/>
              </a:spcAft>
              <a:buClr>
                <a:srgbClr val="FF0000"/>
              </a:buClr>
              <a:buSzPts val="1400"/>
              <a:buChar char="●"/>
            </a:pPr>
            <a:r>
              <a:rPr lang="en">
                <a:solidFill>
                  <a:srgbClr val="FF0000"/>
                </a:solidFill>
              </a:rPr>
              <a:t>Note that co-membership and overlap relations are symmetric!</a:t>
            </a:r>
            <a:endParaRPr>
              <a:solidFill>
                <a:srgbClr val="FF0000"/>
              </a:solidFill>
            </a:endParaRPr>
          </a:p>
          <a:p>
            <a:pPr indent="-317500" lvl="1" marL="914400" rtl="0" algn="l">
              <a:spcBef>
                <a:spcPts val="0"/>
              </a:spcBef>
              <a:spcAft>
                <a:spcPts val="0"/>
              </a:spcAft>
              <a:buSzPts val="1400"/>
              <a:buChar char="○"/>
            </a:pPr>
            <a:r>
              <a:rPr b="1" lang="en"/>
              <a:t>We can then calculate degree, betweenness, closeness, eigenvector, and other indices of vertex prominence and position  </a:t>
            </a:r>
            <a:endParaRPr b="1"/>
          </a:p>
          <a:p>
            <a:pPr indent="0" lvl="0" marL="1371600" rtl="0" algn="l">
              <a:spcBef>
                <a:spcPts val="0"/>
              </a:spcBef>
              <a:spcAft>
                <a:spcPts val="0"/>
              </a:spcAft>
              <a:buNone/>
            </a:pPr>
            <a:r>
              <a:t/>
            </a:r>
            <a:endParaRPr/>
          </a:p>
        </p:txBody>
      </p:sp>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7637" name="Shape 7637"/>
        <p:cNvGrpSpPr/>
        <p:nvPr/>
      </p:nvGrpSpPr>
      <p:grpSpPr>
        <a:xfrm>
          <a:off x="0" y="0"/>
          <a:ext cx="0" cy="0"/>
          <a:chOff x="0" y="0"/>
          <a:chExt cx="0" cy="0"/>
        </a:xfrm>
      </p:grpSpPr>
      <p:sp>
        <p:nvSpPr>
          <p:cNvPr id="7638" name="Google Shape;7638;p319"/>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Whole Network Level</a:t>
            </a:r>
            <a:endParaRPr/>
          </a:p>
        </p:txBody>
      </p:sp>
      <p:sp>
        <p:nvSpPr>
          <p:cNvPr id="7639" name="Google Shape;7639;p319"/>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3" name="Shape 7643"/>
        <p:cNvGrpSpPr/>
        <p:nvPr/>
      </p:nvGrpSpPr>
      <p:grpSpPr>
        <a:xfrm>
          <a:off x="0" y="0"/>
          <a:ext cx="0" cy="0"/>
          <a:chOff x="0" y="0"/>
          <a:chExt cx="0" cy="0"/>
        </a:xfrm>
      </p:grpSpPr>
      <p:grpSp>
        <p:nvGrpSpPr>
          <p:cNvPr id="7644" name="Google Shape;7644;p320"/>
          <p:cNvGrpSpPr/>
          <p:nvPr/>
        </p:nvGrpSpPr>
        <p:grpSpPr>
          <a:xfrm>
            <a:off x="4725650" y="1479057"/>
            <a:ext cx="3820529" cy="747300"/>
            <a:chOff x="4530625" y="1206568"/>
            <a:chExt cx="3820529" cy="747300"/>
          </a:xfrm>
        </p:grpSpPr>
        <p:cxnSp>
          <p:nvCxnSpPr>
            <p:cNvPr id="7645" name="Google Shape;7645;p320"/>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7646" name="Google Shape;7646;p320"/>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320"/>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7648" name="Google Shape;7648;p320"/>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7649" name="Google Shape;7649;p320"/>
          <p:cNvGrpSpPr/>
          <p:nvPr/>
        </p:nvGrpSpPr>
        <p:grpSpPr>
          <a:xfrm>
            <a:off x="5769175" y="3491301"/>
            <a:ext cx="2777004" cy="747300"/>
            <a:chOff x="5574150" y="3083456"/>
            <a:chExt cx="2777004" cy="747300"/>
          </a:xfrm>
        </p:grpSpPr>
        <p:cxnSp>
          <p:nvCxnSpPr>
            <p:cNvPr id="7650" name="Google Shape;7650;p320"/>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7651" name="Google Shape;7651;p320"/>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2" name="Google Shape;7652;p320"/>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7653" name="Google Shape;7653;p320"/>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7654" name="Google Shape;7654;p320"/>
          <p:cNvGrpSpPr/>
          <p:nvPr/>
        </p:nvGrpSpPr>
        <p:grpSpPr>
          <a:xfrm>
            <a:off x="597801" y="1980193"/>
            <a:ext cx="3468724" cy="747300"/>
            <a:chOff x="744101" y="1672393"/>
            <a:chExt cx="3468724" cy="747300"/>
          </a:xfrm>
        </p:grpSpPr>
        <p:cxnSp>
          <p:nvCxnSpPr>
            <p:cNvPr id="7655" name="Google Shape;7655;p320"/>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7656" name="Google Shape;7656;p320"/>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7" name="Google Shape;7657;p320"/>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7658" name="Google Shape;7658;p320"/>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7659" name="Google Shape;7659;p320"/>
          <p:cNvGrpSpPr/>
          <p:nvPr/>
        </p:nvGrpSpPr>
        <p:grpSpPr>
          <a:xfrm>
            <a:off x="597801" y="2897769"/>
            <a:ext cx="3021694" cy="747300"/>
            <a:chOff x="744101" y="2507609"/>
            <a:chExt cx="3021694" cy="747300"/>
          </a:xfrm>
        </p:grpSpPr>
        <p:cxnSp>
          <p:nvCxnSpPr>
            <p:cNvPr id="7660" name="Google Shape;7660;p320"/>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7661" name="Google Shape;7661;p320"/>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320"/>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7663" name="Google Shape;7663;p320"/>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7664" name="Google Shape;7664;p320"/>
          <p:cNvGrpSpPr/>
          <p:nvPr/>
        </p:nvGrpSpPr>
        <p:grpSpPr>
          <a:xfrm>
            <a:off x="2811509" y="1603902"/>
            <a:ext cx="3509178" cy="3257208"/>
            <a:chOff x="3318063" y="1368287"/>
            <a:chExt cx="2408000" cy="2993482"/>
          </a:xfrm>
        </p:grpSpPr>
        <p:sp>
          <p:nvSpPr>
            <p:cNvPr id="7665" name="Google Shape;7665;p320"/>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66" name="Google Shape;7666;p320"/>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67" name="Google Shape;7667;p320"/>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68" name="Google Shape;7668;p320"/>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69" name="Google Shape;7669;p320"/>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0" name="Google Shape;7670;p320"/>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1" name="Google Shape;7671;p320"/>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2" name="Google Shape;7672;p320"/>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3" name="Google Shape;7673;p320"/>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4" name="Google Shape;7674;p320"/>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5" name="Google Shape;7675;p320"/>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6" name="Google Shape;7676;p320"/>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7" name="Google Shape;7677;p320"/>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8" name="Google Shape;7678;p320"/>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79" name="Google Shape;7679;p320"/>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80" name="Google Shape;7680;p320"/>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681" name="Google Shape;7681;p320"/>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7682" name="Google Shape;7682;p320"/>
          <p:cNvGrpSpPr/>
          <p:nvPr/>
        </p:nvGrpSpPr>
        <p:grpSpPr>
          <a:xfrm>
            <a:off x="5259475" y="2411864"/>
            <a:ext cx="3286704" cy="747300"/>
            <a:chOff x="5064450" y="2086419"/>
            <a:chExt cx="3286704" cy="747300"/>
          </a:xfrm>
        </p:grpSpPr>
        <p:cxnSp>
          <p:nvCxnSpPr>
            <p:cNvPr id="7683" name="Google Shape;7683;p320"/>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7684" name="Google Shape;7684;p320"/>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5" name="Google Shape;7685;p320"/>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7686" name="Google Shape;7686;p320"/>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7687" name="Google Shape;7687;p320"/>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7688" name="Google Shape;7688;p3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2" name="Shape 7692"/>
        <p:cNvGrpSpPr/>
        <p:nvPr/>
      </p:nvGrpSpPr>
      <p:grpSpPr>
        <a:xfrm>
          <a:off x="0" y="0"/>
          <a:ext cx="0" cy="0"/>
          <a:chOff x="0" y="0"/>
          <a:chExt cx="0" cy="0"/>
        </a:xfrm>
      </p:grpSpPr>
      <p:grpSp>
        <p:nvGrpSpPr>
          <p:cNvPr id="7693" name="Google Shape;7693;p321"/>
          <p:cNvGrpSpPr/>
          <p:nvPr/>
        </p:nvGrpSpPr>
        <p:grpSpPr>
          <a:xfrm>
            <a:off x="4725650" y="1479057"/>
            <a:ext cx="3820529" cy="747300"/>
            <a:chOff x="4530625" y="1206568"/>
            <a:chExt cx="3820529" cy="747300"/>
          </a:xfrm>
        </p:grpSpPr>
        <p:cxnSp>
          <p:nvCxnSpPr>
            <p:cNvPr id="7694" name="Google Shape;7694;p321"/>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7695" name="Google Shape;7695;p321"/>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321"/>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7697" name="Google Shape;7697;p321"/>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7698" name="Google Shape;7698;p321"/>
          <p:cNvGrpSpPr/>
          <p:nvPr/>
        </p:nvGrpSpPr>
        <p:grpSpPr>
          <a:xfrm>
            <a:off x="5769175" y="3491301"/>
            <a:ext cx="2777004" cy="747300"/>
            <a:chOff x="5574150" y="3083456"/>
            <a:chExt cx="2777004" cy="747300"/>
          </a:xfrm>
        </p:grpSpPr>
        <p:cxnSp>
          <p:nvCxnSpPr>
            <p:cNvPr id="7699" name="Google Shape;7699;p321"/>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7700" name="Google Shape;7700;p321"/>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1" name="Google Shape;7701;p321"/>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7702" name="Google Shape;7702;p321"/>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7703" name="Google Shape;7703;p321"/>
          <p:cNvGrpSpPr/>
          <p:nvPr/>
        </p:nvGrpSpPr>
        <p:grpSpPr>
          <a:xfrm>
            <a:off x="597801" y="1980193"/>
            <a:ext cx="3468724" cy="747300"/>
            <a:chOff x="744101" y="1672393"/>
            <a:chExt cx="3468724" cy="747300"/>
          </a:xfrm>
        </p:grpSpPr>
        <p:cxnSp>
          <p:nvCxnSpPr>
            <p:cNvPr id="7704" name="Google Shape;7704;p321"/>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7705" name="Google Shape;7705;p321"/>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6" name="Google Shape;7706;p321"/>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7707" name="Google Shape;7707;p321"/>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7708" name="Google Shape;7708;p321"/>
          <p:cNvGrpSpPr/>
          <p:nvPr/>
        </p:nvGrpSpPr>
        <p:grpSpPr>
          <a:xfrm>
            <a:off x="597801" y="2897769"/>
            <a:ext cx="3021694" cy="747300"/>
            <a:chOff x="744101" y="2507609"/>
            <a:chExt cx="3021694" cy="747300"/>
          </a:xfrm>
        </p:grpSpPr>
        <p:cxnSp>
          <p:nvCxnSpPr>
            <p:cNvPr id="7709" name="Google Shape;7709;p321"/>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7710" name="Google Shape;7710;p321"/>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1" name="Google Shape;7711;p321"/>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7712" name="Google Shape;7712;p321"/>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7713" name="Google Shape;7713;p321"/>
          <p:cNvGrpSpPr/>
          <p:nvPr/>
        </p:nvGrpSpPr>
        <p:grpSpPr>
          <a:xfrm>
            <a:off x="2811509" y="1603902"/>
            <a:ext cx="3509178" cy="3257208"/>
            <a:chOff x="3318063" y="1368287"/>
            <a:chExt cx="2408000" cy="2993482"/>
          </a:xfrm>
        </p:grpSpPr>
        <p:sp>
          <p:nvSpPr>
            <p:cNvPr id="7714" name="Google Shape;7714;p321"/>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15" name="Google Shape;7715;p321"/>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16" name="Google Shape;7716;p321"/>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17" name="Google Shape;7717;p321"/>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18" name="Google Shape;7718;p321"/>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19" name="Google Shape;7719;p321"/>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0" name="Google Shape;7720;p321"/>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1" name="Google Shape;7721;p321"/>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2" name="Google Shape;7722;p321"/>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3" name="Google Shape;7723;p321"/>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4" name="Google Shape;7724;p321"/>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5" name="Google Shape;7725;p321"/>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6" name="Google Shape;7726;p321"/>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7" name="Google Shape;7727;p321"/>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8" name="Google Shape;7728;p321"/>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29" name="Google Shape;7729;p321"/>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7730" name="Google Shape;7730;p321"/>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7731" name="Google Shape;7731;p321"/>
          <p:cNvGrpSpPr/>
          <p:nvPr/>
        </p:nvGrpSpPr>
        <p:grpSpPr>
          <a:xfrm>
            <a:off x="5259475" y="2411864"/>
            <a:ext cx="3286704" cy="747300"/>
            <a:chOff x="5064450" y="2086419"/>
            <a:chExt cx="3286704" cy="747300"/>
          </a:xfrm>
        </p:grpSpPr>
        <p:cxnSp>
          <p:nvCxnSpPr>
            <p:cNvPr id="7732" name="Google Shape;7732;p321"/>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7733" name="Google Shape;7733;p321"/>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321"/>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7735" name="Google Shape;7735;p321"/>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7736" name="Google Shape;7736;p321"/>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7737" name="Google Shape;7737;p3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
        <p:nvSpPr>
          <p:cNvPr id="7738" name="Google Shape;7738;p321"/>
          <p:cNvSpPr/>
          <p:nvPr/>
        </p:nvSpPr>
        <p:spPr>
          <a:xfrm>
            <a:off x="4804775" y="3357950"/>
            <a:ext cx="4196100" cy="10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rgbClr val="FF0000"/>
              </a:solidFill>
            </a:endParaRPr>
          </a:p>
        </p:txBody>
      </p:sp>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2" name="Shape 7742"/>
        <p:cNvGrpSpPr/>
        <p:nvPr/>
      </p:nvGrpSpPr>
      <p:grpSpPr>
        <a:xfrm>
          <a:off x="0" y="0"/>
          <a:ext cx="0" cy="0"/>
          <a:chOff x="0" y="0"/>
          <a:chExt cx="0" cy="0"/>
        </a:xfrm>
      </p:grpSpPr>
      <p:sp>
        <p:nvSpPr>
          <p:cNvPr id="7743" name="Google Shape;7743;p3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Key properties of whole networks</a:t>
            </a:r>
            <a:endParaRPr/>
          </a:p>
        </p:txBody>
      </p:sp>
      <p:sp>
        <p:nvSpPr>
          <p:cNvPr id="7744" name="Google Shape;7744;p322"/>
          <p:cNvSpPr txBox="1"/>
          <p:nvPr>
            <p:ph idx="1" type="body"/>
          </p:nvPr>
        </p:nvSpPr>
        <p:spPr>
          <a:xfrm>
            <a:off x="311700" y="1225225"/>
            <a:ext cx="415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have already seen three of the main ones:</a:t>
            </a:r>
            <a:endParaRPr/>
          </a:p>
          <a:p>
            <a:pPr indent="-317500" lvl="1" marL="914400" rtl="0" algn="l">
              <a:spcBef>
                <a:spcPts val="0"/>
              </a:spcBef>
              <a:spcAft>
                <a:spcPts val="0"/>
              </a:spcAft>
              <a:buSzPts val="1400"/>
              <a:buChar char="○"/>
            </a:pPr>
            <a:r>
              <a:rPr b="1" lang="en"/>
              <a:t>Number of nodes (graph order): N</a:t>
            </a:r>
            <a:endParaRPr b="1"/>
          </a:p>
          <a:p>
            <a:pPr indent="-317500" lvl="1" marL="914400" rtl="0" algn="l">
              <a:spcBef>
                <a:spcPts val="0"/>
              </a:spcBef>
              <a:spcAft>
                <a:spcPts val="0"/>
              </a:spcAft>
              <a:buSzPts val="1400"/>
              <a:buChar char="○"/>
            </a:pPr>
            <a:r>
              <a:rPr b="1" lang="en"/>
              <a:t>Number of links (graph size): E</a:t>
            </a:r>
            <a:endParaRPr b="1"/>
          </a:p>
          <a:p>
            <a:pPr indent="-317500" lvl="1" marL="914400" rtl="0" algn="l">
              <a:spcBef>
                <a:spcPts val="0"/>
              </a:spcBef>
              <a:spcAft>
                <a:spcPts val="0"/>
              </a:spcAft>
              <a:buSzPts val="1400"/>
              <a:buChar char="○"/>
            </a:pPr>
            <a:r>
              <a:rPr b="1" lang="en"/>
              <a:t>Density: E / (N(N-1)/2)</a:t>
            </a:r>
            <a:endParaRPr b="1"/>
          </a:p>
          <a:p>
            <a:pPr indent="0" lvl="0" marL="457200" marR="0" rtl="0" algn="l">
              <a:lnSpc>
                <a:spcPct val="115000"/>
              </a:lnSpc>
              <a:spcBef>
                <a:spcPts val="0"/>
              </a:spcBef>
              <a:spcAft>
                <a:spcPts val="1600"/>
              </a:spcAft>
              <a:buNone/>
            </a:pPr>
            <a:r>
              <a:t/>
            </a:r>
            <a:endParaRPr b="1"/>
          </a:p>
        </p:txBody>
      </p:sp>
      <p:pic>
        <p:nvPicPr>
          <p:cNvPr id="7745" name="Google Shape;7745;p322"/>
          <p:cNvPicPr preferRelativeResize="0"/>
          <p:nvPr/>
        </p:nvPicPr>
        <p:blipFill>
          <a:blip r:embed="rId3">
            <a:alphaModFix/>
          </a:blip>
          <a:stretch>
            <a:fillRect/>
          </a:stretch>
        </p:blipFill>
        <p:spPr>
          <a:xfrm>
            <a:off x="4723026" y="1371225"/>
            <a:ext cx="4109275" cy="3061999"/>
          </a:xfrm>
          <a:prstGeom prst="rect">
            <a:avLst/>
          </a:prstGeom>
          <a:noFill/>
          <a:ln>
            <a:noFill/>
          </a:ln>
        </p:spPr>
      </p:pic>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9" name="Shape 7749"/>
        <p:cNvGrpSpPr/>
        <p:nvPr/>
      </p:nvGrpSpPr>
      <p:grpSpPr>
        <a:xfrm>
          <a:off x="0" y="0"/>
          <a:ext cx="0" cy="0"/>
          <a:chOff x="0" y="0"/>
          <a:chExt cx="0" cy="0"/>
        </a:xfrm>
      </p:grpSpPr>
      <p:sp>
        <p:nvSpPr>
          <p:cNvPr id="7750" name="Google Shape;7750;p3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Key properties of whole networks</a:t>
            </a:r>
            <a:endParaRPr/>
          </a:p>
        </p:txBody>
      </p:sp>
      <p:sp>
        <p:nvSpPr>
          <p:cNvPr id="7751" name="Google Shape;7751;p323"/>
          <p:cNvSpPr txBox="1"/>
          <p:nvPr>
            <p:ph idx="1" type="body"/>
          </p:nvPr>
        </p:nvSpPr>
        <p:spPr>
          <a:xfrm>
            <a:off x="311700" y="1225225"/>
            <a:ext cx="46320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will discuss additional ones:</a:t>
            </a:r>
            <a:endParaRPr/>
          </a:p>
          <a:p>
            <a:pPr indent="-317500" lvl="1" marL="914400" rtl="0" algn="l">
              <a:spcBef>
                <a:spcPts val="0"/>
              </a:spcBef>
              <a:spcAft>
                <a:spcPts val="0"/>
              </a:spcAft>
              <a:buSzPts val="1400"/>
              <a:buChar char="○"/>
            </a:pPr>
            <a:r>
              <a:rPr lang="en"/>
              <a:t>Degree based:</a:t>
            </a:r>
            <a:endParaRPr/>
          </a:p>
          <a:p>
            <a:pPr indent="-317500" lvl="2" marL="1371600" rtl="0" algn="l">
              <a:spcBef>
                <a:spcPts val="0"/>
              </a:spcBef>
              <a:spcAft>
                <a:spcPts val="0"/>
              </a:spcAft>
              <a:buSzPts val="1400"/>
              <a:buChar char="■"/>
            </a:pPr>
            <a:r>
              <a:rPr b="1" lang="en"/>
              <a:t>Max/min degree</a:t>
            </a:r>
            <a:endParaRPr b="1"/>
          </a:p>
          <a:p>
            <a:pPr indent="-317500" lvl="2" marL="1371600" rtl="0" algn="l">
              <a:spcBef>
                <a:spcPts val="0"/>
              </a:spcBef>
              <a:spcAft>
                <a:spcPts val="0"/>
              </a:spcAft>
              <a:buSzPts val="1400"/>
              <a:buChar char="■"/>
            </a:pPr>
            <a:r>
              <a:rPr b="1" lang="en"/>
              <a:t>Average degree: d</a:t>
            </a:r>
            <a:r>
              <a:rPr b="1" baseline="-25000" lang="en"/>
              <a:t>avg</a:t>
            </a:r>
            <a:endParaRPr b="1" baseline="-25000"/>
          </a:p>
          <a:p>
            <a:pPr indent="-317500" lvl="2" marL="1371600" rtl="0" algn="l">
              <a:spcBef>
                <a:spcPts val="0"/>
              </a:spcBef>
              <a:spcAft>
                <a:spcPts val="0"/>
              </a:spcAft>
              <a:buSzPts val="1400"/>
              <a:buChar char="■"/>
            </a:pPr>
            <a:r>
              <a:rPr b="1" lang="en"/>
              <a:t>Degree distribution</a:t>
            </a:r>
            <a:endParaRPr b="1"/>
          </a:p>
          <a:p>
            <a:pPr indent="-317500" lvl="2" marL="1371600" rtl="0" algn="l">
              <a:spcBef>
                <a:spcPts val="0"/>
              </a:spcBef>
              <a:spcAft>
                <a:spcPts val="0"/>
              </a:spcAft>
              <a:buSzPts val="1400"/>
              <a:buChar char="■"/>
            </a:pPr>
            <a:r>
              <a:rPr b="1" lang="en"/>
              <a:t>Degree Centralization: C</a:t>
            </a:r>
            <a:r>
              <a:rPr b="1" baseline="-25000" lang="en"/>
              <a:t>d</a:t>
            </a:r>
            <a:endParaRPr b="1" baseline="-25000"/>
          </a:p>
          <a:p>
            <a:pPr indent="-317500" lvl="1" marL="914400" rtl="0" algn="l">
              <a:spcBef>
                <a:spcPts val="0"/>
              </a:spcBef>
              <a:spcAft>
                <a:spcPts val="0"/>
              </a:spcAft>
              <a:buSzPts val="1400"/>
              <a:buChar char="○"/>
            </a:pPr>
            <a:r>
              <a:rPr lang="en"/>
              <a:t>Path based:</a:t>
            </a:r>
            <a:endParaRPr/>
          </a:p>
          <a:p>
            <a:pPr indent="-317500" lvl="2" marL="1371600" rtl="0" algn="l">
              <a:spcBef>
                <a:spcPts val="0"/>
              </a:spcBef>
              <a:spcAft>
                <a:spcPts val="0"/>
              </a:spcAft>
              <a:buSzPts val="1400"/>
              <a:buChar char="■"/>
            </a:pPr>
            <a:r>
              <a:rPr b="1" lang="en"/>
              <a:t>Network Diameter: D</a:t>
            </a:r>
            <a:endParaRPr b="1"/>
          </a:p>
          <a:p>
            <a:pPr indent="-317500" lvl="2" marL="1371600" rtl="0" algn="l">
              <a:spcBef>
                <a:spcPts val="0"/>
              </a:spcBef>
              <a:spcAft>
                <a:spcPts val="0"/>
              </a:spcAft>
              <a:buSzPts val="1400"/>
              <a:buChar char="■"/>
            </a:pPr>
            <a:r>
              <a:rPr b="1" lang="en"/>
              <a:t>Average shortest path: L</a:t>
            </a:r>
            <a:endParaRPr b="1"/>
          </a:p>
          <a:p>
            <a:pPr indent="-317500" lvl="2" marL="1371600" rtl="0" algn="l">
              <a:spcBef>
                <a:spcPts val="0"/>
              </a:spcBef>
              <a:spcAft>
                <a:spcPts val="0"/>
              </a:spcAft>
              <a:buSzPts val="1400"/>
              <a:buChar char="■"/>
            </a:pPr>
            <a:r>
              <a:rPr b="1" lang="en"/>
              <a:t>Hierarchy: H</a:t>
            </a:r>
            <a:endParaRPr b="1"/>
          </a:p>
          <a:p>
            <a:pPr indent="-317500" lvl="1" marL="914400" rtl="0" algn="l">
              <a:spcBef>
                <a:spcPts val="0"/>
              </a:spcBef>
              <a:spcAft>
                <a:spcPts val="0"/>
              </a:spcAft>
              <a:buSzPts val="1400"/>
              <a:buChar char="○"/>
            </a:pPr>
            <a:r>
              <a:rPr lang="en"/>
              <a:t>Dyad based:</a:t>
            </a:r>
            <a:endParaRPr/>
          </a:p>
          <a:p>
            <a:pPr indent="-317500" lvl="2" marL="1371600" rtl="0" algn="l">
              <a:spcBef>
                <a:spcPts val="0"/>
              </a:spcBef>
              <a:spcAft>
                <a:spcPts val="0"/>
              </a:spcAft>
              <a:buSzPts val="1400"/>
              <a:buChar char="■"/>
            </a:pPr>
            <a:r>
              <a:rPr b="1" lang="en"/>
              <a:t>Reciprocity: R </a:t>
            </a:r>
            <a:endParaRPr b="1"/>
          </a:p>
          <a:p>
            <a:pPr indent="-317500" lvl="1" marL="914400" rtl="0" algn="l">
              <a:spcBef>
                <a:spcPts val="0"/>
              </a:spcBef>
              <a:spcAft>
                <a:spcPts val="0"/>
              </a:spcAft>
              <a:buSzPts val="1400"/>
              <a:buChar char="○"/>
            </a:pPr>
            <a:r>
              <a:rPr lang="en"/>
              <a:t>Node based:</a:t>
            </a:r>
            <a:endParaRPr/>
          </a:p>
          <a:p>
            <a:pPr indent="-317500" lvl="2" marL="1371600" rtl="0" algn="l">
              <a:spcBef>
                <a:spcPts val="0"/>
              </a:spcBef>
              <a:spcAft>
                <a:spcPts val="0"/>
              </a:spcAft>
              <a:buSzPts val="1400"/>
              <a:buChar char="■"/>
            </a:pPr>
            <a:r>
              <a:rPr b="1" lang="en"/>
              <a:t>Average clustering coefficient: c</a:t>
            </a:r>
            <a:r>
              <a:rPr b="1" baseline="-25000" lang="en"/>
              <a:t>avg</a:t>
            </a:r>
            <a:endParaRPr b="1" baseline="-25000"/>
          </a:p>
          <a:p>
            <a:pPr indent="0" lvl="0" marL="914400" marR="0" rtl="0" algn="l">
              <a:lnSpc>
                <a:spcPct val="115000"/>
              </a:lnSpc>
              <a:spcBef>
                <a:spcPts val="0"/>
              </a:spcBef>
              <a:spcAft>
                <a:spcPts val="0"/>
              </a:spcAft>
              <a:buNone/>
            </a:pPr>
            <a:r>
              <a:t/>
            </a:r>
            <a:endParaRPr/>
          </a:p>
          <a:p>
            <a:pPr indent="0" lvl="0" marL="457200" marR="0" rtl="0" algn="l">
              <a:lnSpc>
                <a:spcPct val="115000"/>
              </a:lnSpc>
              <a:spcBef>
                <a:spcPts val="1600"/>
              </a:spcBef>
              <a:spcAft>
                <a:spcPts val="0"/>
              </a:spcAft>
              <a:buNone/>
            </a:pPr>
            <a:r>
              <a:t/>
            </a:r>
            <a:endParaRPr/>
          </a:p>
          <a:p>
            <a:pPr indent="0" lvl="0" marL="457200" marR="0" rtl="0" algn="l">
              <a:lnSpc>
                <a:spcPct val="115000"/>
              </a:lnSpc>
              <a:spcBef>
                <a:spcPts val="1600"/>
              </a:spcBef>
              <a:spcAft>
                <a:spcPts val="1600"/>
              </a:spcAft>
              <a:buNone/>
            </a:pPr>
            <a:r>
              <a:t/>
            </a:r>
            <a:endParaRPr b="1"/>
          </a:p>
        </p:txBody>
      </p:sp>
      <p:pic>
        <p:nvPicPr>
          <p:cNvPr id="7752" name="Google Shape;7752;p323"/>
          <p:cNvPicPr preferRelativeResize="0"/>
          <p:nvPr/>
        </p:nvPicPr>
        <p:blipFill>
          <a:blip r:embed="rId3">
            <a:alphaModFix/>
          </a:blip>
          <a:stretch>
            <a:fillRect/>
          </a:stretch>
        </p:blipFill>
        <p:spPr>
          <a:xfrm>
            <a:off x="4723026" y="1371225"/>
            <a:ext cx="4109275" cy="3061999"/>
          </a:xfrm>
          <a:prstGeom prst="rect">
            <a:avLst/>
          </a:prstGeom>
          <a:noFill/>
          <a:ln>
            <a:noFill/>
          </a:ln>
        </p:spPr>
      </p:pic>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6" name="Shape 7756"/>
        <p:cNvGrpSpPr/>
        <p:nvPr/>
      </p:nvGrpSpPr>
      <p:grpSpPr>
        <a:xfrm>
          <a:off x="0" y="0"/>
          <a:ext cx="0" cy="0"/>
          <a:chOff x="0" y="0"/>
          <a:chExt cx="0" cy="0"/>
        </a:xfrm>
      </p:grpSpPr>
      <p:sp>
        <p:nvSpPr>
          <p:cNvPr id="7757" name="Google Shape;7757;p3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7758" name="Google Shape;7758;p324"/>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759" name="Google Shape;7759;p324"/>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760" name="Google Shape;7760;p324"/>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761" name="Google Shape;7761;p324"/>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762" name="Google Shape;7762;p324"/>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763" name="Google Shape;7763;p324"/>
          <p:cNvCxnSpPr>
            <a:stCxn id="7759" idx="4"/>
            <a:endCxn id="7760"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764" name="Google Shape;7764;p324"/>
          <p:cNvCxnSpPr>
            <a:stCxn id="7759" idx="5"/>
            <a:endCxn id="7761"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765" name="Google Shape;7765;p324"/>
          <p:cNvCxnSpPr>
            <a:stCxn id="7760" idx="2"/>
            <a:endCxn id="7758"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766" name="Google Shape;7766;p324"/>
          <p:cNvCxnSpPr>
            <a:stCxn id="7759" idx="3"/>
            <a:endCxn id="7758"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767" name="Google Shape;7767;p324"/>
          <p:cNvCxnSpPr>
            <a:stCxn id="7760" idx="6"/>
            <a:endCxn id="7761"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768" name="Google Shape;7768;p324"/>
          <p:cNvCxnSpPr>
            <a:stCxn id="7759" idx="2"/>
            <a:endCxn id="7762"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sp>
        <p:nvSpPr>
          <p:cNvPr id="7769" name="Google Shape;7769;p324"/>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770" name="Google Shape;7770;p324"/>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771" name="Google Shape;7771;p324"/>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772" name="Google Shape;7772;p324"/>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773" name="Google Shape;7773;p324"/>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774" name="Google Shape;7774;p324"/>
          <p:cNvCxnSpPr>
            <a:stCxn id="7770" idx="4"/>
            <a:endCxn id="7771"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775" name="Google Shape;7775;p324"/>
          <p:cNvCxnSpPr>
            <a:stCxn id="7770" idx="5"/>
            <a:endCxn id="7772"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776" name="Google Shape;7776;p324"/>
          <p:cNvCxnSpPr>
            <a:stCxn id="7771" idx="2"/>
            <a:endCxn id="7769"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777" name="Google Shape;7777;p324"/>
          <p:cNvCxnSpPr>
            <a:stCxn id="7770" idx="3"/>
            <a:endCxn id="7769"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778" name="Google Shape;7778;p324"/>
          <p:cNvCxnSpPr>
            <a:stCxn id="7771" idx="6"/>
            <a:endCxn id="7772"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779" name="Google Shape;7779;p324"/>
          <p:cNvCxnSpPr>
            <a:stCxn id="7773" idx="1"/>
            <a:endCxn id="7769"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780" name="Google Shape;7780;p324"/>
          <p:cNvCxnSpPr>
            <a:stCxn id="7771" idx="4"/>
            <a:endCxn id="7773"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7781" name="Google Shape;7781;p324"/>
          <p:cNvCxnSpPr>
            <a:stCxn id="7772" idx="3"/>
            <a:endCxn id="7773"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Tree>
  </p:cSld>
  <p:clrMapOvr>
    <a:masterClrMapping/>
  </p:clrMapOvr>
</p:sld>
</file>

<file path=ppt/slides/slide3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5" name="Shape 7785"/>
        <p:cNvGrpSpPr/>
        <p:nvPr/>
      </p:nvGrpSpPr>
      <p:grpSpPr>
        <a:xfrm>
          <a:off x="0" y="0"/>
          <a:ext cx="0" cy="0"/>
          <a:chOff x="0" y="0"/>
          <a:chExt cx="0" cy="0"/>
        </a:xfrm>
      </p:grpSpPr>
      <p:sp>
        <p:nvSpPr>
          <p:cNvPr id="7786" name="Google Shape;7786;p3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graphicFrame>
        <p:nvGraphicFramePr>
          <p:cNvPr id="7787" name="Google Shape;7787;p325"/>
          <p:cNvGraphicFramePr/>
          <p:nvPr/>
        </p:nvGraphicFramePr>
        <p:xfrm>
          <a:off x="508013" y="3547350"/>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7788" name="Google Shape;7788;p325"/>
          <p:cNvGraphicFramePr/>
          <p:nvPr/>
        </p:nvGraphicFramePr>
        <p:xfrm>
          <a:off x="4781638" y="3564150"/>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789" name="Google Shape;7789;p325"/>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790" name="Google Shape;7790;p325"/>
          <p:cNvSpPr txBox="1"/>
          <p:nvPr/>
        </p:nvSpPr>
        <p:spPr>
          <a:xfrm>
            <a:off x="4781650" y="45767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791" name="Google Shape;7791;p325"/>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792" name="Google Shape;7792;p325"/>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793" name="Google Shape;7793;p325"/>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794" name="Google Shape;7794;p325"/>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795" name="Google Shape;7795;p325"/>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796" name="Google Shape;7796;p325"/>
          <p:cNvCxnSpPr>
            <a:stCxn id="7792" idx="4"/>
            <a:endCxn id="7793"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797" name="Google Shape;7797;p325"/>
          <p:cNvCxnSpPr>
            <a:stCxn id="7792" idx="5"/>
            <a:endCxn id="7794"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798" name="Google Shape;7798;p325"/>
          <p:cNvCxnSpPr>
            <a:stCxn id="7793" idx="2"/>
            <a:endCxn id="7791"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799" name="Google Shape;7799;p325"/>
          <p:cNvCxnSpPr>
            <a:stCxn id="7792" idx="3"/>
            <a:endCxn id="7791"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00" name="Google Shape;7800;p325"/>
          <p:cNvCxnSpPr>
            <a:stCxn id="7793" idx="6"/>
            <a:endCxn id="7794"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01" name="Google Shape;7801;p325"/>
          <p:cNvCxnSpPr>
            <a:stCxn id="7792" idx="2"/>
            <a:endCxn id="7795" idx="2"/>
          </p:cNvCxnSpPr>
          <p:nvPr/>
        </p:nvCxnSpPr>
        <p:spPr>
          <a:xfrm>
            <a:off x="1466967" y="1403600"/>
            <a:ext cx="600" cy="1830900"/>
          </a:xfrm>
          <a:prstGeom prst="curvedConnector3">
            <a:avLst>
              <a:gd fmla="val -194106925" name="adj1"/>
            </a:avLst>
          </a:prstGeom>
          <a:noFill/>
          <a:ln cap="flat" cmpd="sng" w="28575">
            <a:solidFill>
              <a:srgbClr val="666666"/>
            </a:solidFill>
            <a:prstDash val="solid"/>
            <a:round/>
            <a:headEnd len="med" w="med" type="none"/>
            <a:tailEnd len="med" w="med" type="none"/>
          </a:ln>
        </p:spPr>
      </p:cxnSp>
      <p:sp>
        <p:nvSpPr>
          <p:cNvPr id="7802" name="Google Shape;7802;p325"/>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803" name="Google Shape;7803;p325"/>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804" name="Google Shape;7804;p325"/>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805" name="Google Shape;7805;p325"/>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806" name="Google Shape;7806;p325"/>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807" name="Google Shape;7807;p325"/>
          <p:cNvCxnSpPr>
            <a:stCxn id="7803" idx="4"/>
            <a:endCxn id="7804"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808" name="Google Shape;7808;p325"/>
          <p:cNvCxnSpPr>
            <a:stCxn id="7803" idx="5"/>
            <a:endCxn id="7805"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09" name="Google Shape;7809;p325"/>
          <p:cNvCxnSpPr>
            <a:stCxn id="7804" idx="2"/>
            <a:endCxn id="7802"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10" name="Google Shape;7810;p325"/>
          <p:cNvCxnSpPr>
            <a:stCxn id="7803" idx="3"/>
            <a:endCxn id="7802"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11" name="Google Shape;7811;p325"/>
          <p:cNvCxnSpPr>
            <a:stCxn id="7804" idx="6"/>
            <a:endCxn id="7805"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12" name="Google Shape;7812;p325"/>
          <p:cNvCxnSpPr>
            <a:stCxn id="7806" idx="1"/>
            <a:endCxn id="7802"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813" name="Google Shape;7813;p325"/>
          <p:cNvCxnSpPr>
            <a:stCxn id="7804" idx="4"/>
            <a:endCxn id="7806"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7814" name="Google Shape;7814;p325"/>
          <p:cNvCxnSpPr>
            <a:stCxn id="7805" idx="3"/>
            <a:endCxn id="7806"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Tree>
  </p:cSld>
  <p:clrMapOvr>
    <a:masterClrMapping/>
  </p:clrMapOvr>
</p:sld>
</file>

<file path=ppt/slides/slide3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8" name="Shape 7818"/>
        <p:cNvGrpSpPr/>
        <p:nvPr/>
      </p:nvGrpSpPr>
      <p:grpSpPr>
        <a:xfrm>
          <a:off x="0" y="0"/>
          <a:ext cx="0" cy="0"/>
          <a:chOff x="0" y="0"/>
          <a:chExt cx="0" cy="0"/>
        </a:xfrm>
      </p:grpSpPr>
      <p:sp>
        <p:nvSpPr>
          <p:cNvPr id="7819" name="Google Shape;7819;p3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7820" name="Google Shape;7820;p326"/>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821" name="Google Shape;7821;p326"/>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822" name="Google Shape;7822;p326"/>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823" name="Google Shape;7823;p326"/>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824" name="Google Shape;7824;p326"/>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825" name="Google Shape;7825;p326"/>
          <p:cNvCxnSpPr>
            <a:stCxn id="7821" idx="4"/>
            <a:endCxn id="7822"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826" name="Google Shape;7826;p326"/>
          <p:cNvCxnSpPr>
            <a:stCxn id="7821" idx="5"/>
            <a:endCxn id="7823"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27" name="Google Shape;7827;p326"/>
          <p:cNvCxnSpPr>
            <a:stCxn id="7822" idx="2"/>
            <a:endCxn id="7820"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28" name="Google Shape;7828;p326"/>
          <p:cNvCxnSpPr>
            <a:stCxn id="7821" idx="3"/>
            <a:endCxn id="7820"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29" name="Google Shape;7829;p326"/>
          <p:cNvCxnSpPr>
            <a:stCxn id="7822" idx="6"/>
            <a:endCxn id="7823"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30" name="Google Shape;7830;p326"/>
          <p:cNvCxnSpPr>
            <a:stCxn id="7821" idx="2"/>
            <a:endCxn id="7824"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7831" name="Google Shape;7831;p326"/>
          <p:cNvGraphicFramePr/>
          <p:nvPr/>
        </p:nvGraphicFramePr>
        <p:xfrm>
          <a:off x="508013" y="3547350"/>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7832" name="Google Shape;7832;p326"/>
          <p:cNvGraphicFramePr/>
          <p:nvPr/>
        </p:nvGraphicFramePr>
        <p:xfrm>
          <a:off x="4781638" y="3564163"/>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833" name="Google Shape;7833;p326"/>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834" name="Google Shape;7834;p326"/>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835" name="Google Shape;7835;p326"/>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7836" name="Google Shape;7836;p326"/>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p:txBody>
      </p:sp>
      <p:sp>
        <p:nvSpPr>
          <p:cNvPr id="7837" name="Google Shape;7837;p326"/>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838" name="Google Shape;7838;p326"/>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839" name="Google Shape;7839;p326"/>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840" name="Google Shape;7840;p326"/>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841" name="Google Shape;7841;p326"/>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842" name="Google Shape;7842;p326"/>
          <p:cNvCxnSpPr>
            <a:stCxn id="7838" idx="4"/>
            <a:endCxn id="7839"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843" name="Google Shape;7843;p326"/>
          <p:cNvCxnSpPr>
            <a:stCxn id="7838" idx="5"/>
            <a:endCxn id="7840"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44" name="Google Shape;7844;p326"/>
          <p:cNvCxnSpPr>
            <a:stCxn id="7839" idx="2"/>
            <a:endCxn id="7837"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45" name="Google Shape;7845;p326"/>
          <p:cNvCxnSpPr>
            <a:stCxn id="7838" idx="3"/>
            <a:endCxn id="7837"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46" name="Google Shape;7846;p326"/>
          <p:cNvCxnSpPr>
            <a:stCxn id="7839" idx="6"/>
            <a:endCxn id="7840"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47" name="Google Shape;7847;p326"/>
          <p:cNvCxnSpPr>
            <a:stCxn id="7841" idx="1"/>
            <a:endCxn id="7837"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848" name="Google Shape;7848;p326"/>
          <p:cNvCxnSpPr>
            <a:stCxn id="7839" idx="4"/>
            <a:endCxn id="7841"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7849" name="Google Shape;7849;p326"/>
          <p:cNvCxnSpPr>
            <a:stCxn id="7840" idx="3"/>
            <a:endCxn id="7841"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7850" name="Google Shape;7850;p326"/>
          <p:cNvSpPr txBox="1"/>
          <p:nvPr/>
        </p:nvSpPr>
        <p:spPr>
          <a:xfrm>
            <a:off x="24068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a:t>
            </a:r>
            <a:r>
              <a:rPr lang="en">
                <a:solidFill>
                  <a:schemeClr val="dk1"/>
                </a:solidFill>
                <a:latin typeface="Open Sans"/>
                <a:ea typeface="Open Sans"/>
                <a:cs typeface="Open Sans"/>
                <a:sym typeface="Open Sans"/>
              </a:rPr>
              <a:t> = (4 + 3 + 2 + 1 + 2)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
        <p:nvSpPr>
          <p:cNvPr id="7851" name="Google Shape;7851;p326"/>
          <p:cNvSpPr txBox="1"/>
          <p:nvPr/>
        </p:nvSpPr>
        <p:spPr>
          <a:xfrm>
            <a:off x="64747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(3 + 4 + 3 + 3 + 3)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sld>
</file>

<file path=ppt/slides/slide3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5" name="Shape 7855"/>
        <p:cNvGrpSpPr/>
        <p:nvPr/>
      </p:nvGrpSpPr>
      <p:grpSpPr>
        <a:xfrm>
          <a:off x="0" y="0"/>
          <a:ext cx="0" cy="0"/>
          <a:chOff x="0" y="0"/>
          <a:chExt cx="0" cy="0"/>
        </a:xfrm>
      </p:grpSpPr>
      <p:sp>
        <p:nvSpPr>
          <p:cNvPr id="7856" name="Google Shape;7856;p3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7857" name="Google Shape;7857;p327"/>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858" name="Google Shape;7858;p327"/>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859" name="Google Shape;7859;p327"/>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860" name="Google Shape;7860;p327"/>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861" name="Google Shape;7861;p327"/>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862" name="Google Shape;7862;p327"/>
          <p:cNvCxnSpPr>
            <a:stCxn id="7858" idx="4"/>
            <a:endCxn id="7859"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863" name="Google Shape;7863;p327"/>
          <p:cNvCxnSpPr>
            <a:stCxn id="7858" idx="5"/>
            <a:endCxn id="7860"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64" name="Google Shape;7864;p327"/>
          <p:cNvCxnSpPr>
            <a:stCxn id="7859" idx="2"/>
            <a:endCxn id="7857"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65" name="Google Shape;7865;p327"/>
          <p:cNvCxnSpPr>
            <a:stCxn id="7858" idx="3"/>
            <a:endCxn id="7857"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66" name="Google Shape;7866;p327"/>
          <p:cNvCxnSpPr>
            <a:stCxn id="7859" idx="6"/>
            <a:endCxn id="7860"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67" name="Google Shape;7867;p327"/>
          <p:cNvCxnSpPr>
            <a:stCxn id="7858" idx="2"/>
            <a:endCxn id="7861"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7868" name="Google Shape;7868;p327"/>
          <p:cNvGraphicFramePr/>
          <p:nvPr/>
        </p:nvGraphicFramePr>
        <p:xfrm>
          <a:off x="508013" y="3547350"/>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7869" name="Google Shape;7869;p327"/>
          <p:cNvGraphicFramePr/>
          <p:nvPr/>
        </p:nvGraphicFramePr>
        <p:xfrm>
          <a:off x="4781638" y="3564163"/>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870" name="Google Shape;7870;p327"/>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871" name="Google Shape;7871;p327"/>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872" name="Google Shape;7872;p327"/>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a:t>
            </a:r>
            <a:r>
              <a:rPr lang="en">
                <a:latin typeface="Open Sans"/>
                <a:ea typeface="Open Sans"/>
                <a:cs typeface="Open Sans"/>
                <a:sym typeface="Open Sans"/>
              </a:rPr>
              <a:t>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7873" name="Google Shape;7873;p327"/>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a:t>
            </a:r>
            <a:r>
              <a:rPr lang="en">
                <a:latin typeface="Open Sans"/>
                <a:ea typeface="Open Sans"/>
                <a:cs typeface="Open Sans"/>
                <a:sym typeface="Open Sans"/>
              </a:rPr>
              <a:t> = 3.2</a:t>
            </a:r>
            <a:endParaRPr>
              <a:latin typeface="Open Sans"/>
              <a:ea typeface="Open Sans"/>
              <a:cs typeface="Open Sans"/>
              <a:sym typeface="Open Sans"/>
            </a:endParaRPr>
          </a:p>
        </p:txBody>
      </p:sp>
      <p:sp>
        <p:nvSpPr>
          <p:cNvPr id="7874" name="Google Shape;7874;p327"/>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875" name="Google Shape;7875;p327"/>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876" name="Google Shape;7876;p327"/>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877" name="Google Shape;7877;p327"/>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878" name="Google Shape;7878;p327"/>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879" name="Google Shape;7879;p327"/>
          <p:cNvCxnSpPr>
            <a:stCxn id="7875" idx="4"/>
            <a:endCxn id="7876"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880" name="Google Shape;7880;p327"/>
          <p:cNvCxnSpPr>
            <a:stCxn id="7875" idx="5"/>
            <a:endCxn id="7877"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81" name="Google Shape;7881;p327"/>
          <p:cNvCxnSpPr>
            <a:stCxn id="7876" idx="2"/>
            <a:endCxn id="7874"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82" name="Google Shape;7882;p327"/>
          <p:cNvCxnSpPr>
            <a:stCxn id="7875" idx="3"/>
            <a:endCxn id="7874"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883" name="Google Shape;7883;p327"/>
          <p:cNvCxnSpPr>
            <a:stCxn id="7876" idx="6"/>
            <a:endCxn id="7877"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884" name="Google Shape;7884;p327"/>
          <p:cNvCxnSpPr>
            <a:stCxn id="7878" idx="1"/>
            <a:endCxn id="7874"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885" name="Google Shape;7885;p327"/>
          <p:cNvCxnSpPr>
            <a:stCxn id="7876" idx="4"/>
            <a:endCxn id="7878"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7886" name="Google Shape;7886;p327"/>
          <p:cNvCxnSpPr>
            <a:stCxn id="7877" idx="3"/>
            <a:endCxn id="7878"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7887" name="Google Shape;7887;p327"/>
          <p:cNvSpPr txBox="1"/>
          <p:nvPr/>
        </p:nvSpPr>
        <p:spPr>
          <a:xfrm>
            <a:off x="24068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(4 + 3 + 2 + 1 + 2)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
        <p:nvSpPr>
          <p:cNvPr id="7888" name="Google Shape;7888;p327"/>
          <p:cNvSpPr txBox="1"/>
          <p:nvPr/>
        </p:nvSpPr>
        <p:spPr>
          <a:xfrm>
            <a:off x="64747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(3 + 4 + 3 + 3 + 3)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sld>
</file>

<file path=ppt/slides/slide3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2" name="Shape 7892"/>
        <p:cNvGrpSpPr/>
        <p:nvPr/>
      </p:nvGrpSpPr>
      <p:grpSpPr>
        <a:xfrm>
          <a:off x="0" y="0"/>
          <a:ext cx="0" cy="0"/>
          <a:chOff x="0" y="0"/>
          <a:chExt cx="0" cy="0"/>
        </a:xfrm>
      </p:grpSpPr>
      <p:sp>
        <p:nvSpPr>
          <p:cNvPr id="7893" name="Google Shape;7893;p3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7894" name="Google Shape;7894;p328"/>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895" name="Google Shape;7895;p328"/>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896" name="Google Shape;7896;p328"/>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897" name="Google Shape;7897;p328"/>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898" name="Google Shape;7898;p328"/>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899" name="Google Shape;7899;p328"/>
          <p:cNvCxnSpPr>
            <a:stCxn id="7895" idx="4"/>
            <a:endCxn id="7896"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900" name="Google Shape;7900;p328"/>
          <p:cNvCxnSpPr>
            <a:stCxn id="7895" idx="5"/>
            <a:endCxn id="7897"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01" name="Google Shape;7901;p328"/>
          <p:cNvCxnSpPr>
            <a:stCxn id="7896" idx="2"/>
            <a:endCxn id="7894"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02" name="Google Shape;7902;p328"/>
          <p:cNvCxnSpPr>
            <a:stCxn id="7895" idx="3"/>
            <a:endCxn id="7894"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03" name="Google Shape;7903;p328"/>
          <p:cNvCxnSpPr>
            <a:stCxn id="7896" idx="6"/>
            <a:endCxn id="7897"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04" name="Google Shape;7904;p328"/>
          <p:cNvCxnSpPr>
            <a:stCxn id="7895" idx="2"/>
            <a:endCxn id="7898"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7905" name="Google Shape;7905;p328"/>
          <p:cNvGraphicFramePr/>
          <p:nvPr/>
        </p:nvGraphicFramePr>
        <p:xfrm>
          <a:off x="508013" y="3547350"/>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7906" name="Google Shape;7906;p328"/>
          <p:cNvGraphicFramePr/>
          <p:nvPr/>
        </p:nvGraphicFramePr>
        <p:xfrm>
          <a:off x="4781638" y="3564163"/>
          <a:ext cx="3000000" cy="3000000"/>
        </p:xfrm>
        <a:graphic>
          <a:graphicData uri="http://schemas.openxmlformats.org/drawingml/2006/table">
            <a:tbl>
              <a:tblPr>
                <a:noFill/>
                <a:tableStyleId>{7DE59CC5-BFA2-4C44-9D40-4E4266A2D9C1}</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907" name="Google Shape;7907;p328"/>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908" name="Google Shape;7908;p328"/>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7909" name="Google Shape;7909;p328"/>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7910" name="Google Shape;7910;p328"/>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3.2</a:t>
            </a:r>
            <a:endParaRPr>
              <a:latin typeface="Open Sans"/>
              <a:ea typeface="Open Sans"/>
              <a:cs typeface="Open Sans"/>
              <a:sym typeface="Open Sans"/>
            </a:endParaRPr>
          </a:p>
        </p:txBody>
      </p:sp>
      <p:sp>
        <p:nvSpPr>
          <p:cNvPr id="7911" name="Google Shape;7911;p328"/>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912" name="Google Shape;7912;p328"/>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913" name="Google Shape;7913;p328"/>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914" name="Google Shape;7914;p328"/>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915" name="Google Shape;7915;p328"/>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916" name="Google Shape;7916;p328"/>
          <p:cNvCxnSpPr>
            <a:stCxn id="7912" idx="4"/>
            <a:endCxn id="7913"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917" name="Google Shape;7917;p328"/>
          <p:cNvCxnSpPr>
            <a:stCxn id="7912" idx="5"/>
            <a:endCxn id="7914"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18" name="Google Shape;7918;p328"/>
          <p:cNvCxnSpPr>
            <a:stCxn id="7913" idx="2"/>
            <a:endCxn id="7911"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19" name="Google Shape;7919;p328"/>
          <p:cNvCxnSpPr>
            <a:stCxn id="7912" idx="3"/>
            <a:endCxn id="7911"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20" name="Google Shape;7920;p328"/>
          <p:cNvCxnSpPr>
            <a:stCxn id="7913" idx="6"/>
            <a:endCxn id="7914"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21" name="Google Shape;7921;p328"/>
          <p:cNvCxnSpPr>
            <a:stCxn id="7915" idx="1"/>
            <a:endCxn id="7911"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922" name="Google Shape;7922;p328"/>
          <p:cNvCxnSpPr>
            <a:stCxn id="7913" idx="4"/>
            <a:endCxn id="7915"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7923" name="Google Shape;7923;p328"/>
          <p:cNvCxnSpPr>
            <a:stCxn id="7914" idx="3"/>
            <a:endCxn id="7915"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7924" name="Google Shape;7924;p328"/>
          <p:cNvSpPr txBox="1"/>
          <p:nvPr/>
        </p:nvSpPr>
        <p:spPr>
          <a:xfrm>
            <a:off x="24068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(4 + 3 + 2 + 1 + 2)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
        <p:nvSpPr>
          <p:cNvPr id="7925" name="Google Shape;7925;p328"/>
          <p:cNvSpPr txBox="1"/>
          <p:nvPr/>
        </p:nvSpPr>
        <p:spPr>
          <a:xfrm>
            <a:off x="64747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(3 + 4 + 3 + 3 + 3)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sld>
</file>

<file path=ppt/slides/slide3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9" name="Shape 7929"/>
        <p:cNvGrpSpPr/>
        <p:nvPr/>
      </p:nvGrpSpPr>
      <p:grpSpPr>
        <a:xfrm>
          <a:off x="0" y="0"/>
          <a:ext cx="0" cy="0"/>
          <a:chOff x="0" y="0"/>
          <a:chExt cx="0" cy="0"/>
        </a:xfrm>
      </p:grpSpPr>
      <p:sp>
        <p:nvSpPr>
          <p:cNvPr id="7930" name="Google Shape;7930;p3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7931" name="Google Shape;7931;p329"/>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932" name="Google Shape;7932;p329"/>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933" name="Google Shape;7933;p329"/>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934" name="Google Shape;7934;p329"/>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935" name="Google Shape;7935;p329"/>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936" name="Google Shape;7936;p329"/>
          <p:cNvCxnSpPr>
            <a:stCxn id="7932" idx="4"/>
            <a:endCxn id="7933"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937" name="Google Shape;7937;p329"/>
          <p:cNvCxnSpPr>
            <a:stCxn id="7932" idx="5"/>
            <a:endCxn id="7934"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38" name="Google Shape;7938;p329"/>
          <p:cNvCxnSpPr>
            <a:stCxn id="7933" idx="2"/>
            <a:endCxn id="7931"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39" name="Google Shape;7939;p329"/>
          <p:cNvCxnSpPr>
            <a:stCxn id="7932" idx="3"/>
            <a:endCxn id="7931"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40" name="Google Shape;7940;p329"/>
          <p:cNvCxnSpPr>
            <a:stCxn id="7933" idx="6"/>
            <a:endCxn id="7934"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41" name="Google Shape;7941;p329"/>
          <p:cNvCxnSpPr>
            <a:stCxn id="7932" idx="2"/>
            <a:endCxn id="7935"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7942" name="Google Shape;7942;p329"/>
          <p:cNvGraphicFramePr/>
          <p:nvPr/>
        </p:nvGraphicFramePr>
        <p:xfrm>
          <a:off x="508013" y="3547350"/>
          <a:ext cx="3000000" cy="3000000"/>
        </p:xfrm>
        <a:graphic>
          <a:graphicData uri="http://schemas.openxmlformats.org/drawingml/2006/table">
            <a:tbl>
              <a:tblPr>
                <a:noFill/>
                <a:tableStyleId>{7DE59CC5-BFA2-4C44-9D40-4E4266A2D9C1}</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1</a:t>
                      </a:r>
                      <a:r>
                        <a:rPr lang="en"/>
                        <a:t>/5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0.4</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943" name="Google Shape;7943;p329"/>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Distribution</a:t>
            </a:r>
            <a:endParaRPr sz="1800">
              <a:latin typeface="Economica"/>
              <a:ea typeface="Economica"/>
              <a:cs typeface="Economica"/>
              <a:sym typeface="Economica"/>
            </a:endParaRPr>
          </a:p>
        </p:txBody>
      </p:sp>
      <p:sp>
        <p:nvSpPr>
          <p:cNvPr id="7944" name="Google Shape;7944;p329"/>
          <p:cNvSpPr txBox="1"/>
          <p:nvPr/>
        </p:nvSpPr>
        <p:spPr>
          <a:xfrm>
            <a:off x="478165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Economica"/>
                <a:ea typeface="Economica"/>
                <a:cs typeface="Economica"/>
                <a:sym typeface="Economica"/>
              </a:rPr>
              <a:t>Degree Distribution</a:t>
            </a:r>
            <a:endParaRPr sz="1800">
              <a:latin typeface="Economica"/>
              <a:ea typeface="Economica"/>
              <a:cs typeface="Economica"/>
              <a:sym typeface="Economica"/>
            </a:endParaRPr>
          </a:p>
        </p:txBody>
      </p:sp>
      <p:graphicFrame>
        <p:nvGraphicFramePr>
          <p:cNvPr id="7945" name="Google Shape;7945;p329"/>
          <p:cNvGraphicFramePr/>
          <p:nvPr/>
        </p:nvGraphicFramePr>
        <p:xfrm>
          <a:off x="4781638" y="3547338"/>
          <a:ext cx="3000000" cy="3000000"/>
        </p:xfrm>
        <a:graphic>
          <a:graphicData uri="http://schemas.openxmlformats.org/drawingml/2006/table">
            <a:tbl>
              <a:tblPr>
                <a:noFill/>
                <a:tableStyleId>{7DE59CC5-BFA2-4C44-9D40-4E4266A2D9C1}</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0.8</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946" name="Google Shape;7946;p329"/>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947" name="Google Shape;7947;p329"/>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948" name="Google Shape;7948;p329"/>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949" name="Google Shape;7949;p329"/>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950" name="Google Shape;7950;p329"/>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951" name="Google Shape;7951;p329"/>
          <p:cNvCxnSpPr>
            <a:stCxn id="7947" idx="4"/>
            <a:endCxn id="7948"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952" name="Google Shape;7952;p329"/>
          <p:cNvCxnSpPr>
            <a:stCxn id="7947" idx="5"/>
            <a:endCxn id="7949"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53" name="Google Shape;7953;p329"/>
          <p:cNvCxnSpPr>
            <a:stCxn id="7948" idx="2"/>
            <a:endCxn id="7946"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54" name="Google Shape;7954;p329"/>
          <p:cNvCxnSpPr>
            <a:stCxn id="7947" idx="3"/>
            <a:endCxn id="7946"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955" name="Google Shape;7955;p329"/>
          <p:cNvCxnSpPr>
            <a:stCxn id="7948" idx="6"/>
            <a:endCxn id="7949"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956" name="Google Shape;7956;p329"/>
          <p:cNvCxnSpPr>
            <a:stCxn id="7950" idx="1"/>
            <a:endCxn id="7946"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957" name="Google Shape;7957;p329"/>
          <p:cNvCxnSpPr>
            <a:stCxn id="7948" idx="4"/>
            <a:endCxn id="7950"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7958" name="Google Shape;7958;p329"/>
          <p:cNvCxnSpPr>
            <a:stCxn id="7949" idx="3"/>
            <a:endCxn id="7950"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7959" name="Google Shape;7959;p329"/>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7960" name="Google Shape;7960;p329"/>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3.2</a:t>
            </a:r>
            <a:endParaRPr>
              <a:latin typeface="Open Sans"/>
              <a:ea typeface="Open Sans"/>
              <a:cs typeface="Open Sans"/>
              <a:sym typeface="Open Sans"/>
            </a:endParaRPr>
          </a:p>
        </p:txBody>
      </p:sp>
      <p:sp>
        <p:nvSpPr>
          <p:cNvPr id="7961" name="Google Shape;7961;p329"/>
          <p:cNvSpPr txBox="1"/>
          <p:nvPr/>
        </p:nvSpPr>
        <p:spPr>
          <a:xfrm>
            <a:off x="6667425" y="224925"/>
            <a:ext cx="22035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degree distribution (p</a:t>
            </a:r>
            <a:r>
              <a:rPr b="1" baseline="-25000" lang="en">
                <a:solidFill>
                  <a:srgbClr val="FF0000"/>
                </a:solidFill>
                <a:latin typeface="Open Sans"/>
                <a:ea typeface="Open Sans"/>
                <a:cs typeface="Open Sans"/>
                <a:sym typeface="Open Sans"/>
              </a:rPr>
              <a:t>k</a:t>
            </a:r>
            <a:r>
              <a:rPr b="1" lang="en">
                <a:solidFill>
                  <a:srgbClr val="FF0000"/>
                </a:solidFill>
                <a:latin typeface="Open Sans"/>
                <a:ea typeface="Open Sans"/>
                <a:cs typeface="Open Sans"/>
                <a:sym typeface="Open Sans"/>
              </a:rPr>
              <a:t>) is the probability of observing a node with degree k for each value of degree in the network!</a:t>
            </a:r>
            <a:endParaRPr b="1">
              <a:solidFill>
                <a:srgbClr val="FF0000"/>
              </a:solidFill>
              <a:latin typeface="Open Sans"/>
              <a:ea typeface="Open Sans"/>
              <a:cs typeface="Open Sans"/>
              <a:sym typeface="Open Sans"/>
            </a:endParaRPr>
          </a:p>
        </p:txBody>
      </p:sp>
      <p:cxnSp>
        <p:nvCxnSpPr>
          <p:cNvPr id="7962" name="Google Shape;7962;p329"/>
          <p:cNvCxnSpPr>
            <a:stCxn id="7961" idx="3"/>
            <a:endCxn id="7944" idx="3"/>
          </p:cNvCxnSpPr>
          <p:nvPr/>
        </p:nvCxnSpPr>
        <p:spPr>
          <a:xfrm flipH="1">
            <a:off x="7176225" y="1140375"/>
            <a:ext cx="1694700" cy="3647100"/>
          </a:xfrm>
          <a:prstGeom prst="bentConnector3">
            <a:avLst>
              <a:gd fmla="val -2760" name="adj1"/>
            </a:avLst>
          </a:prstGeom>
          <a:noFill/>
          <a:ln cap="flat" cmpd="sng" w="28575">
            <a:solidFill>
              <a:srgbClr val="FF0000"/>
            </a:solidFill>
            <a:prstDash val="solid"/>
            <a:round/>
            <a:headEnd len="med" w="med" type="none"/>
            <a:tailEnd len="med" w="med" type="stealth"/>
          </a:ln>
        </p:spPr>
      </p:cxnSp>
    </p:spTree>
  </p:cSld>
  <p:clrMapOvr>
    <a:masterClrMapping/>
  </p:clrMapOvr>
</p:sld>
</file>

<file path=ppt/slides/slide3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6" name="Shape 7966"/>
        <p:cNvGrpSpPr/>
        <p:nvPr/>
      </p:nvGrpSpPr>
      <p:grpSpPr>
        <a:xfrm>
          <a:off x="0" y="0"/>
          <a:ext cx="0" cy="0"/>
          <a:chOff x="0" y="0"/>
          <a:chExt cx="0" cy="0"/>
        </a:xfrm>
      </p:grpSpPr>
      <p:sp>
        <p:nvSpPr>
          <p:cNvPr id="7967" name="Google Shape;7967;p3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graphicFrame>
        <p:nvGraphicFramePr>
          <p:cNvPr id="7968" name="Google Shape;7968;p330"/>
          <p:cNvGraphicFramePr/>
          <p:nvPr/>
        </p:nvGraphicFramePr>
        <p:xfrm>
          <a:off x="508013" y="3547350"/>
          <a:ext cx="3000000" cy="3000000"/>
        </p:xfrm>
        <a:graphic>
          <a:graphicData uri="http://schemas.openxmlformats.org/drawingml/2006/table">
            <a:tbl>
              <a:tblPr>
                <a:noFill/>
                <a:tableStyleId>{7DE59CC5-BFA2-4C44-9D40-4E4266A2D9C1}</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0.4</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969" name="Google Shape;7969;p330"/>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Distribution</a:t>
            </a:r>
            <a:endParaRPr sz="1800">
              <a:latin typeface="Economica"/>
              <a:ea typeface="Economica"/>
              <a:cs typeface="Economica"/>
              <a:sym typeface="Economica"/>
            </a:endParaRPr>
          </a:p>
        </p:txBody>
      </p:sp>
      <p:sp>
        <p:nvSpPr>
          <p:cNvPr id="7970" name="Google Shape;7970;p330"/>
          <p:cNvSpPr txBox="1"/>
          <p:nvPr/>
        </p:nvSpPr>
        <p:spPr>
          <a:xfrm>
            <a:off x="478165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Economica"/>
                <a:ea typeface="Economica"/>
                <a:cs typeface="Economica"/>
                <a:sym typeface="Economica"/>
              </a:rPr>
              <a:t>Degree Distribution</a:t>
            </a:r>
            <a:endParaRPr sz="1800">
              <a:latin typeface="Economica"/>
              <a:ea typeface="Economica"/>
              <a:cs typeface="Economica"/>
              <a:sym typeface="Economica"/>
            </a:endParaRPr>
          </a:p>
        </p:txBody>
      </p:sp>
      <p:graphicFrame>
        <p:nvGraphicFramePr>
          <p:cNvPr id="7971" name="Google Shape;7971;p330"/>
          <p:cNvGraphicFramePr/>
          <p:nvPr/>
        </p:nvGraphicFramePr>
        <p:xfrm>
          <a:off x="4781638" y="3547338"/>
          <a:ext cx="3000000" cy="3000000"/>
        </p:xfrm>
        <a:graphic>
          <a:graphicData uri="http://schemas.openxmlformats.org/drawingml/2006/table">
            <a:tbl>
              <a:tblPr>
                <a:noFill/>
                <a:tableStyleId>{7DE59CC5-BFA2-4C44-9D40-4E4266A2D9C1}</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0.8</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7972" name="Google Shape;7972;p330" title="Chart"/>
          <p:cNvPicPr preferRelativeResize="0"/>
          <p:nvPr/>
        </p:nvPicPr>
        <p:blipFill>
          <a:blip r:embed="rId3">
            <a:alphaModFix/>
          </a:blip>
          <a:stretch>
            <a:fillRect/>
          </a:stretch>
        </p:blipFill>
        <p:spPr>
          <a:xfrm>
            <a:off x="152400" y="1299625"/>
            <a:ext cx="3388665" cy="2095325"/>
          </a:xfrm>
          <a:prstGeom prst="rect">
            <a:avLst/>
          </a:prstGeom>
          <a:noFill/>
          <a:ln>
            <a:noFill/>
          </a:ln>
        </p:spPr>
      </p:pic>
      <p:pic>
        <p:nvPicPr>
          <p:cNvPr id="7973" name="Google Shape;7973;p330" title="Chart"/>
          <p:cNvPicPr preferRelativeResize="0"/>
          <p:nvPr/>
        </p:nvPicPr>
        <p:blipFill>
          <a:blip r:embed="rId4">
            <a:alphaModFix/>
          </a:blip>
          <a:stretch>
            <a:fillRect/>
          </a:stretch>
        </p:blipFill>
        <p:spPr>
          <a:xfrm>
            <a:off x="4305727" y="1299625"/>
            <a:ext cx="3388626" cy="2095300"/>
          </a:xfrm>
          <a:prstGeom prst="rect">
            <a:avLst/>
          </a:prstGeom>
          <a:noFill/>
          <a:ln>
            <a:noFill/>
          </a:ln>
        </p:spPr>
      </p:pic>
      <p:sp>
        <p:nvSpPr>
          <p:cNvPr id="7974" name="Google Shape;7974;p330"/>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7975" name="Google Shape;7975;p330"/>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3.2</a:t>
            </a:r>
            <a:endParaRPr>
              <a:latin typeface="Open Sans"/>
              <a:ea typeface="Open Sans"/>
              <a:cs typeface="Open Sans"/>
              <a:sym typeface="Open Sans"/>
            </a:endParaRPr>
          </a:p>
        </p:txBody>
      </p:sp>
    </p:spTree>
  </p:cSld>
  <p:clrMapOvr>
    <a:masterClrMapping/>
  </p:clrMapOvr>
</p:sld>
</file>

<file path=ppt/slides/slide3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9" name="Shape 7979"/>
        <p:cNvGrpSpPr/>
        <p:nvPr/>
      </p:nvGrpSpPr>
      <p:grpSpPr>
        <a:xfrm>
          <a:off x="0" y="0"/>
          <a:ext cx="0" cy="0"/>
          <a:chOff x="0" y="0"/>
          <a:chExt cx="0" cy="0"/>
        </a:xfrm>
      </p:grpSpPr>
      <p:sp>
        <p:nvSpPr>
          <p:cNvPr id="7980" name="Google Shape;7980;p3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grpSp>
        <p:nvGrpSpPr>
          <p:cNvPr id="7981" name="Google Shape;7981;p331"/>
          <p:cNvGrpSpPr/>
          <p:nvPr/>
        </p:nvGrpSpPr>
        <p:grpSpPr>
          <a:xfrm>
            <a:off x="459802" y="1147225"/>
            <a:ext cx="8224398" cy="2267500"/>
            <a:chOff x="311702" y="1147225"/>
            <a:chExt cx="8224398" cy="2267500"/>
          </a:xfrm>
        </p:grpSpPr>
        <p:sp>
          <p:nvSpPr>
            <p:cNvPr id="7982" name="Google Shape;7982;p331"/>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7983" name="Google Shape;7983;p331"/>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7984" name="Google Shape;7984;p331"/>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7985" name="Google Shape;7985;p331"/>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7986" name="Google Shape;7986;p331"/>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 Users</a:t>
              </a:r>
              <a:endParaRPr sz="1800">
                <a:latin typeface="Economica"/>
                <a:ea typeface="Economica"/>
                <a:cs typeface="Economica"/>
                <a:sym typeface="Economica"/>
              </a:endParaRPr>
            </a:p>
          </p:txBody>
        </p:sp>
        <p:pic>
          <p:nvPicPr>
            <p:cNvPr id="7987" name="Google Shape;7987;p331"/>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7988" name="Google Shape;7988;p331"/>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7989" name="Google Shape;7989;p331"/>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7990" name="Google Shape;7990;p331"/>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Tree>
  </p:cSld>
  <p:clrMapOvr>
    <a:masterClrMapping/>
  </p:clrMapOvr>
</p:sld>
</file>

<file path=ppt/slides/slide3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4" name="Shape 7994"/>
        <p:cNvGrpSpPr/>
        <p:nvPr/>
      </p:nvGrpSpPr>
      <p:grpSpPr>
        <a:xfrm>
          <a:off x="0" y="0"/>
          <a:ext cx="0" cy="0"/>
          <a:chOff x="0" y="0"/>
          <a:chExt cx="0" cy="0"/>
        </a:xfrm>
      </p:grpSpPr>
      <p:sp>
        <p:nvSpPr>
          <p:cNvPr id="7995" name="Google Shape;7995;p3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7996" name="Google Shape;7996;p332"/>
          <p:cNvSpPr txBox="1"/>
          <p:nvPr>
            <p:ph idx="1" type="body"/>
          </p:nvPr>
        </p:nvSpPr>
        <p:spPr>
          <a:xfrm>
            <a:off x="311700" y="1225225"/>
            <a:ext cx="523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Flashback:</a:t>
            </a:r>
            <a:endParaRPr/>
          </a:p>
          <a:p>
            <a:pPr indent="-317500" lvl="1" marL="914400" rtl="0" algn="l">
              <a:spcBef>
                <a:spcPts val="0"/>
              </a:spcBef>
              <a:spcAft>
                <a:spcPts val="0"/>
              </a:spcAft>
              <a:buSzPts val="1400"/>
              <a:buChar char="○"/>
            </a:pPr>
            <a:r>
              <a:rPr lang="en"/>
              <a:t>In a network, shortest paths </a:t>
            </a:r>
            <a:r>
              <a:rPr lang="en"/>
              <a:t>between</a:t>
            </a:r>
            <a:r>
              <a:rPr lang="en"/>
              <a:t> two nodes are also called </a:t>
            </a:r>
            <a:r>
              <a:rPr b="1" lang="en"/>
              <a:t>geodesics</a:t>
            </a:r>
            <a:endParaRPr b="1"/>
          </a:p>
          <a:p>
            <a:pPr indent="-342900" lvl="0" marL="457200" rtl="0" algn="l">
              <a:spcBef>
                <a:spcPts val="0"/>
              </a:spcBef>
              <a:spcAft>
                <a:spcPts val="0"/>
              </a:spcAft>
              <a:buSzPts val="1800"/>
              <a:buChar char="●"/>
            </a:pPr>
            <a:r>
              <a:rPr lang="en"/>
              <a:t>The </a:t>
            </a:r>
            <a:r>
              <a:rPr b="1" lang="en"/>
              <a:t>diameter </a:t>
            </a:r>
            <a:r>
              <a:rPr lang="en"/>
              <a:t>(D) of a network is the length of the longest shortest path between two nodes</a:t>
            </a:r>
            <a:endParaRPr/>
          </a:p>
          <a:p>
            <a:pPr indent="-342900" lvl="0" marL="457200" rtl="0" algn="l">
              <a:spcBef>
                <a:spcPts val="0"/>
              </a:spcBef>
              <a:spcAft>
                <a:spcPts val="0"/>
              </a:spcAft>
              <a:buSzPts val="1800"/>
              <a:buChar char="●"/>
            </a:pPr>
            <a:r>
              <a:rPr lang="en"/>
              <a:t>We can also compute the </a:t>
            </a:r>
            <a:r>
              <a:rPr b="1" lang="en"/>
              <a:t>average shortest path length</a:t>
            </a:r>
            <a:r>
              <a:rPr lang="en"/>
              <a:t> </a:t>
            </a:r>
            <a:r>
              <a:rPr b="1" lang="en"/>
              <a:t>(L)</a:t>
            </a:r>
            <a:r>
              <a:rPr lang="en"/>
              <a:t> between all pairs of nodes in a network</a:t>
            </a:r>
            <a:endParaRPr/>
          </a:p>
          <a:p>
            <a:pPr indent="-317500" lvl="1" marL="914400" rtl="0" algn="l">
              <a:spcBef>
                <a:spcPts val="0"/>
              </a:spcBef>
              <a:spcAft>
                <a:spcPts val="0"/>
              </a:spcAft>
              <a:buSzPts val="1400"/>
              <a:buChar char="○"/>
            </a:pPr>
            <a:r>
              <a:rPr lang="en"/>
              <a:t>Can only be computed for </a:t>
            </a:r>
            <a:r>
              <a:rPr b="1" lang="en"/>
              <a:t>connected graphs</a:t>
            </a:r>
            <a:r>
              <a:rPr lang="en"/>
              <a:t> or in the </a:t>
            </a:r>
            <a:r>
              <a:rPr b="1" lang="en"/>
              <a:t>giant component </a:t>
            </a:r>
            <a:r>
              <a:rPr lang="en"/>
              <a:t>of disconnected ones</a:t>
            </a:r>
            <a:endParaRPr/>
          </a:p>
          <a:p>
            <a:pPr indent="0" lvl="0" marL="0" rtl="0" algn="l">
              <a:spcBef>
                <a:spcPts val="0"/>
              </a:spcBef>
              <a:spcAft>
                <a:spcPts val="0"/>
              </a:spcAft>
              <a:buNone/>
            </a:pPr>
            <a:r>
              <a:t/>
            </a:r>
            <a:endParaRPr/>
          </a:p>
        </p:txBody>
      </p:sp>
      <p:pic>
        <p:nvPicPr>
          <p:cNvPr id="7997" name="Google Shape;7997;p332"/>
          <p:cNvPicPr preferRelativeResize="0"/>
          <p:nvPr/>
        </p:nvPicPr>
        <p:blipFill rotWithShape="1">
          <a:blip r:embed="rId3">
            <a:alphaModFix/>
          </a:blip>
          <a:srcRect b="10373" l="12259" r="8186" t="11220"/>
          <a:stretch/>
        </p:blipFill>
        <p:spPr>
          <a:xfrm>
            <a:off x="5542200" y="1270175"/>
            <a:ext cx="3311974" cy="3264100"/>
          </a:xfrm>
          <a:prstGeom prst="rect">
            <a:avLst/>
          </a:prstGeom>
          <a:noFill/>
          <a:ln>
            <a:noFill/>
          </a:ln>
        </p:spPr>
      </p:pic>
    </p:spTree>
  </p:cSld>
  <p:clrMapOvr>
    <a:masterClrMapping/>
  </p:clrMapOvr>
</p:sld>
</file>

<file path=ppt/slides/slide3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1" name="Shape 8001"/>
        <p:cNvGrpSpPr/>
        <p:nvPr/>
      </p:nvGrpSpPr>
      <p:grpSpPr>
        <a:xfrm>
          <a:off x="0" y="0"/>
          <a:ext cx="0" cy="0"/>
          <a:chOff x="0" y="0"/>
          <a:chExt cx="0" cy="0"/>
        </a:xfrm>
      </p:grpSpPr>
      <p:sp>
        <p:nvSpPr>
          <p:cNvPr id="8002" name="Google Shape;8002;p3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grpSp>
        <p:nvGrpSpPr>
          <p:cNvPr id="8003" name="Google Shape;8003;p333"/>
          <p:cNvGrpSpPr/>
          <p:nvPr/>
        </p:nvGrpSpPr>
        <p:grpSpPr>
          <a:xfrm>
            <a:off x="459802" y="1147225"/>
            <a:ext cx="8224398" cy="2267500"/>
            <a:chOff x="311702" y="1147225"/>
            <a:chExt cx="8224398" cy="2267500"/>
          </a:xfrm>
        </p:grpSpPr>
        <p:sp>
          <p:nvSpPr>
            <p:cNvPr id="8004" name="Google Shape;8004;p333"/>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8005" name="Google Shape;8005;p333"/>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8006" name="Google Shape;8006;p333"/>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8007" name="Google Shape;8007;p333"/>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8008" name="Google Shape;8008;p333"/>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8009" name="Google Shape;8009;p333"/>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8010" name="Google Shape;8010;p333"/>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8011" name="Google Shape;8011;p333"/>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8012" name="Google Shape;8012;p333"/>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Tree>
  </p:cSld>
  <p:clrMapOvr>
    <a:masterClrMapping/>
  </p:clrMapOvr>
</p:sld>
</file>

<file path=ppt/slides/slide3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6" name="Shape 8016"/>
        <p:cNvGrpSpPr/>
        <p:nvPr/>
      </p:nvGrpSpPr>
      <p:grpSpPr>
        <a:xfrm>
          <a:off x="0" y="0"/>
          <a:ext cx="0" cy="0"/>
          <a:chOff x="0" y="0"/>
          <a:chExt cx="0" cy="0"/>
        </a:xfrm>
      </p:grpSpPr>
      <p:sp>
        <p:nvSpPr>
          <p:cNvPr id="8017" name="Google Shape;8017;p3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grpSp>
        <p:nvGrpSpPr>
          <p:cNvPr id="8018" name="Google Shape;8018;p334"/>
          <p:cNvGrpSpPr/>
          <p:nvPr/>
        </p:nvGrpSpPr>
        <p:grpSpPr>
          <a:xfrm>
            <a:off x="459802" y="1147225"/>
            <a:ext cx="8224398" cy="2267500"/>
            <a:chOff x="311702" y="1147225"/>
            <a:chExt cx="8224398" cy="2267500"/>
          </a:xfrm>
        </p:grpSpPr>
        <p:sp>
          <p:nvSpPr>
            <p:cNvPr id="8019" name="Google Shape;8019;p334"/>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8020" name="Google Shape;8020;p334"/>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8021" name="Google Shape;8021;p334"/>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8022" name="Google Shape;8022;p334"/>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8023" name="Google Shape;8023;p334"/>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8024" name="Google Shape;8024;p334"/>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8025" name="Google Shape;8025;p334"/>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8026" name="Google Shape;8026;p334"/>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8027" name="Google Shape;8027;p334"/>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8028" name="Google Shape;8028;p334"/>
          <p:cNvSpPr/>
          <p:nvPr/>
        </p:nvSpPr>
        <p:spPr>
          <a:xfrm>
            <a:off x="328050" y="4359900"/>
            <a:ext cx="707100" cy="282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9" name="Google Shape;8029;p334"/>
          <p:cNvSpPr/>
          <p:nvPr/>
        </p:nvSpPr>
        <p:spPr>
          <a:xfrm>
            <a:off x="3418675" y="4359900"/>
            <a:ext cx="707100" cy="282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0" name="Google Shape;8030;p334"/>
          <p:cNvSpPr/>
          <p:nvPr/>
        </p:nvSpPr>
        <p:spPr>
          <a:xfrm>
            <a:off x="6200675" y="4388225"/>
            <a:ext cx="707100" cy="282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1" name="Google Shape;8031;p334"/>
          <p:cNvSpPr txBox="1"/>
          <p:nvPr/>
        </p:nvSpPr>
        <p:spPr>
          <a:xfrm>
            <a:off x="1485350" y="3999850"/>
            <a:ext cx="1157400" cy="6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L is small!</a:t>
            </a:r>
            <a:endParaRPr b="1">
              <a:solidFill>
                <a:srgbClr val="FF0000"/>
              </a:solidFill>
              <a:latin typeface="Open Sans"/>
              <a:ea typeface="Open Sans"/>
              <a:cs typeface="Open Sans"/>
              <a:sym typeface="Open Sans"/>
            </a:endParaRPr>
          </a:p>
        </p:txBody>
      </p:sp>
    </p:spTree>
  </p:cSld>
  <p:clrMapOvr>
    <a:masterClrMapping/>
  </p:clrMapOvr>
</p:sld>
</file>

<file path=ppt/slides/slide3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5" name="Shape 8035"/>
        <p:cNvGrpSpPr/>
        <p:nvPr/>
      </p:nvGrpSpPr>
      <p:grpSpPr>
        <a:xfrm>
          <a:off x="0" y="0"/>
          <a:ext cx="0" cy="0"/>
          <a:chOff x="0" y="0"/>
          <a:chExt cx="0" cy="0"/>
        </a:xfrm>
      </p:grpSpPr>
      <p:sp>
        <p:nvSpPr>
          <p:cNvPr id="8036" name="Google Shape;8036;p3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Dyad-based network properties</a:t>
            </a:r>
            <a:endParaRPr/>
          </a:p>
        </p:txBody>
      </p:sp>
      <p:grpSp>
        <p:nvGrpSpPr>
          <p:cNvPr id="8037" name="Google Shape;8037;p335"/>
          <p:cNvGrpSpPr/>
          <p:nvPr/>
        </p:nvGrpSpPr>
        <p:grpSpPr>
          <a:xfrm>
            <a:off x="459802" y="1147225"/>
            <a:ext cx="8224398" cy="2267500"/>
            <a:chOff x="311702" y="1147225"/>
            <a:chExt cx="8224398" cy="2267500"/>
          </a:xfrm>
        </p:grpSpPr>
        <p:sp>
          <p:nvSpPr>
            <p:cNvPr id="8038" name="Google Shape;8038;p335"/>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8039" name="Google Shape;8039;p335"/>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8040" name="Google Shape;8040;p335"/>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8041" name="Google Shape;8041;p335"/>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8042" name="Google Shape;8042;p335"/>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8043" name="Google Shape;8043;p335"/>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8044" name="Google Shape;8044;p335"/>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b="1" lang="en" sz="1200">
                <a:solidFill>
                  <a:schemeClr val="dk1"/>
                </a:solidFill>
                <a:latin typeface="Economica"/>
                <a:ea typeface="Economica"/>
                <a:cs typeface="Economica"/>
                <a:sym typeface="Economica"/>
              </a:rPr>
              <a:t>R = 0.75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8045" name="Google Shape;8045;p335"/>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b="1" lang="en" sz="1200">
                <a:solidFill>
                  <a:schemeClr val="dk1"/>
                </a:solidFill>
                <a:latin typeface="Economica"/>
                <a:ea typeface="Economica"/>
                <a:cs typeface="Economica"/>
                <a:sym typeface="Economica"/>
              </a:rPr>
              <a:t>R = 1.0</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8046" name="Google Shape;8046;p335"/>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b="1" lang="en" sz="1200">
                <a:solidFill>
                  <a:schemeClr val="dk1"/>
                </a:solidFill>
                <a:latin typeface="Economica"/>
                <a:ea typeface="Economica"/>
                <a:cs typeface="Economica"/>
                <a:sym typeface="Economica"/>
              </a:rPr>
              <a:t>R = 0.38</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Tree>
  </p:cSld>
  <p:clrMapOvr>
    <a:masterClrMapping/>
  </p:clrMapOvr>
</p:sld>
</file>

<file path=ppt/slides/slide3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0" name="Shape 8050"/>
        <p:cNvGrpSpPr/>
        <p:nvPr/>
      </p:nvGrpSpPr>
      <p:grpSpPr>
        <a:xfrm>
          <a:off x="0" y="0"/>
          <a:ext cx="0" cy="0"/>
          <a:chOff x="0" y="0"/>
          <a:chExt cx="0" cy="0"/>
        </a:xfrm>
      </p:grpSpPr>
      <p:sp>
        <p:nvSpPr>
          <p:cNvPr id="8051" name="Google Shape;8051;p3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Node-based network properties</a:t>
            </a:r>
            <a:endParaRPr/>
          </a:p>
        </p:txBody>
      </p:sp>
      <p:sp>
        <p:nvSpPr>
          <p:cNvPr id="8052" name="Google Shape;8052;p33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Flashback:</a:t>
            </a:r>
            <a:endParaRPr b="1"/>
          </a:p>
          <a:p>
            <a:pPr indent="-317500" lvl="1" marL="914400" rtl="0" algn="l">
              <a:spcBef>
                <a:spcPts val="0"/>
              </a:spcBef>
              <a:spcAft>
                <a:spcPts val="0"/>
              </a:spcAft>
              <a:buSzPts val="1400"/>
              <a:buChar char="○"/>
            </a:pPr>
            <a:r>
              <a:rPr lang="en"/>
              <a:t>Clustering coefficient at the ego-network level:</a:t>
            </a:r>
            <a:endParaRPr/>
          </a:p>
          <a:p>
            <a:pPr indent="0" lvl="0" marL="457200" rtl="0" algn="l">
              <a:spcBef>
                <a:spcPts val="0"/>
              </a:spcBef>
              <a:spcAft>
                <a:spcPts val="0"/>
              </a:spcAft>
              <a:buNone/>
            </a:pPr>
            <a:r>
              <a:t/>
            </a:r>
            <a:endParaRPr/>
          </a:p>
          <a:p>
            <a:pPr indent="-317500" lvl="1" marL="914400" rtl="0" algn="l">
              <a:spcBef>
                <a:spcPts val="0"/>
              </a:spcBef>
              <a:spcAft>
                <a:spcPts val="0"/>
              </a:spcAft>
              <a:buSzPts val="1400"/>
              <a:buChar char="○"/>
            </a:pPr>
            <a:r>
              <a:rPr lang="en"/>
              <a:t>Where g</a:t>
            </a:r>
            <a:r>
              <a:rPr baseline="-25000" lang="en"/>
              <a:t>jk</a:t>
            </a:r>
            <a:r>
              <a:rPr lang="en"/>
              <a:t> = 1 if i's j</a:t>
            </a:r>
            <a:r>
              <a:rPr baseline="30000" lang="en"/>
              <a:t>th</a:t>
            </a:r>
            <a:r>
              <a:rPr lang="en"/>
              <a:t> neighbor is connected to her k</a:t>
            </a:r>
            <a:r>
              <a:rPr baseline="30000" lang="en"/>
              <a:t>th</a:t>
            </a:r>
            <a:r>
              <a:rPr lang="en"/>
              <a:t> neighbor, and k</a:t>
            </a:r>
            <a:r>
              <a:rPr baseline="-25000" lang="en"/>
              <a:t>i</a:t>
            </a:r>
            <a:r>
              <a:rPr lang="en"/>
              <a:t> is i's total number of neighbors.</a:t>
            </a:r>
            <a:endParaRPr/>
          </a:p>
          <a:p>
            <a:pPr indent="-317500" lvl="0" marL="457200" rtl="0" algn="l">
              <a:spcBef>
                <a:spcPts val="0"/>
              </a:spcBef>
              <a:spcAft>
                <a:spcPts val="0"/>
              </a:spcAft>
              <a:buSzPts val="1400"/>
              <a:buChar char="●"/>
            </a:pPr>
            <a:r>
              <a:rPr lang="en" sz="1400"/>
              <a:t>The </a:t>
            </a:r>
            <a:r>
              <a:rPr b="1" lang="en" sz="1400"/>
              <a:t>Average Clustering Coefficient </a:t>
            </a:r>
            <a:r>
              <a:rPr lang="en" sz="1400"/>
              <a:t>at the network level is just the sum of each node’s clustering coefficient divided by total number of nodes:</a:t>
            </a:r>
            <a:endParaRPr sz="1400"/>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053" name="Google Shape;8053;p336"/>
          <p:cNvPicPr preferRelativeResize="0"/>
          <p:nvPr/>
        </p:nvPicPr>
        <p:blipFill>
          <a:blip r:embed="rId3">
            <a:alphaModFix/>
          </a:blip>
          <a:stretch>
            <a:fillRect/>
          </a:stretch>
        </p:blipFill>
        <p:spPr>
          <a:xfrm>
            <a:off x="5556075" y="1484538"/>
            <a:ext cx="1715750" cy="939275"/>
          </a:xfrm>
          <a:prstGeom prst="rect">
            <a:avLst/>
          </a:prstGeom>
          <a:noFill/>
          <a:ln>
            <a:noFill/>
          </a:ln>
        </p:spPr>
      </p:pic>
      <p:pic>
        <p:nvPicPr>
          <p:cNvPr id="8054" name="Google Shape;8054;p336"/>
          <p:cNvPicPr preferRelativeResize="0"/>
          <p:nvPr/>
        </p:nvPicPr>
        <p:blipFill>
          <a:blip r:embed="rId4">
            <a:alphaModFix/>
          </a:blip>
          <a:stretch>
            <a:fillRect/>
          </a:stretch>
        </p:blipFill>
        <p:spPr>
          <a:xfrm>
            <a:off x="5599589" y="3440023"/>
            <a:ext cx="1628707" cy="879879"/>
          </a:xfrm>
          <a:prstGeom prst="rect">
            <a:avLst/>
          </a:prstGeom>
          <a:noFill/>
          <a:ln>
            <a:noFill/>
          </a:ln>
        </p:spPr>
      </p:pic>
    </p:spTree>
  </p:cSld>
  <p:clrMapOvr>
    <a:masterClrMapping/>
  </p:clrMapOvr>
</p:sld>
</file>

<file path=ppt/slides/slide3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8" name="Shape 8058"/>
        <p:cNvGrpSpPr/>
        <p:nvPr/>
      </p:nvGrpSpPr>
      <p:grpSpPr>
        <a:xfrm>
          <a:off x="0" y="0"/>
          <a:ext cx="0" cy="0"/>
          <a:chOff x="0" y="0"/>
          <a:chExt cx="0" cy="0"/>
        </a:xfrm>
      </p:grpSpPr>
      <p:sp>
        <p:nvSpPr>
          <p:cNvPr id="8059" name="Google Shape;8059;p3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Node-based network properties</a:t>
            </a:r>
            <a:endParaRPr/>
          </a:p>
        </p:txBody>
      </p:sp>
      <p:grpSp>
        <p:nvGrpSpPr>
          <p:cNvPr id="8060" name="Google Shape;8060;p337"/>
          <p:cNvGrpSpPr/>
          <p:nvPr/>
        </p:nvGrpSpPr>
        <p:grpSpPr>
          <a:xfrm>
            <a:off x="459802" y="1147225"/>
            <a:ext cx="8224398" cy="2267500"/>
            <a:chOff x="311702" y="1147225"/>
            <a:chExt cx="8224398" cy="2267500"/>
          </a:xfrm>
        </p:grpSpPr>
        <p:sp>
          <p:nvSpPr>
            <p:cNvPr id="8061" name="Google Shape;8061;p337"/>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8062" name="Google Shape;8062;p337"/>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8063" name="Google Shape;8063;p337"/>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8064" name="Google Shape;8064;p337"/>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8065" name="Google Shape;8065;p337"/>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8066" name="Google Shape;8066;p337"/>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8067" name="Google Shape;8067;p337"/>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None/>
            </a:pPr>
            <a:r>
              <a:rPr b="1" lang="en" sz="1200">
                <a:solidFill>
                  <a:schemeClr val="dk1"/>
                </a:solidFill>
                <a:latin typeface="Economica"/>
                <a:ea typeface="Economica"/>
                <a:cs typeface="Economica"/>
                <a:sym typeface="Economica"/>
              </a:rPr>
              <a:t>R = 0.75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C = 0.12</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8068" name="Google Shape;8068;p337"/>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None/>
            </a:pPr>
            <a:r>
              <a:rPr b="1" lang="en" sz="1200">
                <a:solidFill>
                  <a:schemeClr val="dk1"/>
                </a:solidFill>
                <a:latin typeface="Economica"/>
                <a:ea typeface="Economica"/>
                <a:cs typeface="Economica"/>
                <a:sym typeface="Economica"/>
              </a:rPr>
              <a:t>R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C = 0.15</a:t>
            </a:r>
            <a:endParaRPr b="1" sz="1200">
              <a:latin typeface="Economica"/>
              <a:ea typeface="Economica"/>
              <a:cs typeface="Economica"/>
              <a:sym typeface="Economica"/>
            </a:endParaRPr>
          </a:p>
        </p:txBody>
      </p:sp>
      <p:sp>
        <p:nvSpPr>
          <p:cNvPr id="8069" name="Google Shape;8069;p337"/>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None/>
            </a:pPr>
            <a:r>
              <a:rPr b="1" lang="en" sz="1200">
                <a:solidFill>
                  <a:schemeClr val="dk1"/>
                </a:solidFill>
                <a:latin typeface="Economica"/>
                <a:ea typeface="Economica"/>
                <a:cs typeface="Economica"/>
                <a:sym typeface="Economica"/>
              </a:rPr>
              <a:t>R = 0.38</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C = 0.14</a:t>
            </a:r>
            <a:endParaRPr b="1" sz="1200">
              <a:latin typeface="Economica"/>
              <a:ea typeface="Economica"/>
              <a:cs typeface="Economica"/>
              <a:sym typeface="Economica"/>
            </a:endParaRPr>
          </a:p>
        </p:txBody>
      </p:sp>
    </p:spTree>
  </p:cSld>
  <p:clrMapOvr>
    <a:masterClrMapping/>
  </p:clrMapOvr>
</p:sld>
</file>

<file path=ppt/slides/slide3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8073" name="Shape 8073"/>
        <p:cNvGrpSpPr/>
        <p:nvPr/>
      </p:nvGrpSpPr>
      <p:grpSpPr>
        <a:xfrm>
          <a:off x="0" y="0"/>
          <a:ext cx="0" cy="0"/>
          <a:chOff x="0" y="0"/>
          <a:chExt cx="0" cy="0"/>
        </a:xfrm>
      </p:grpSpPr>
      <p:sp>
        <p:nvSpPr>
          <p:cNvPr id="8074" name="Google Shape;8074;p338"/>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Small World Networks</a:t>
            </a:r>
            <a:endParaRPr/>
          </a:p>
        </p:txBody>
      </p:sp>
      <p:sp>
        <p:nvSpPr>
          <p:cNvPr id="8075" name="Google Shape;8075;p338"/>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9" name="Shape 8079"/>
        <p:cNvGrpSpPr/>
        <p:nvPr/>
      </p:nvGrpSpPr>
      <p:grpSpPr>
        <a:xfrm>
          <a:off x="0" y="0"/>
          <a:ext cx="0" cy="0"/>
          <a:chOff x="0" y="0"/>
          <a:chExt cx="0" cy="0"/>
        </a:xfrm>
      </p:grpSpPr>
      <p:sp>
        <p:nvSpPr>
          <p:cNvPr id="8080" name="Google Shape;8080;p3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081" name="Google Shape;8081;p339"/>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pic>
        <p:nvPicPr>
          <p:cNvPr id="8082" name="Google Shape;8082;p339"/>
          <p:cNvPicPr preferRelativeResize="0"/>
          <p:nvPr/>
        </p:nvPicPr>
        <p:blipFill rotWithShape="1">
          <a:blip r:embed="rId3">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6" name="Shape 8086"/>
        <p:cNvGrpSpPr/>
        <p:nvPr/>
      </p:nvGrpSpPr>
      <p:grpSpPr>
        <a:xfrm>
          <a:off x="0" y="0"/>
          <a:ext cx="0" cy="0"/>
          <a:chOff x="0" y="0"/>
          <a:chExt cx="0" cy="0"/>
        </a:xfrm>
      </p:grpSpPr>
      <p:sp>
        <p:nvSpPr>
          <p:cNvPr id="8087" name="Google Shape;8087;p3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088" name="Google Shape;8088;p340"/>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089" name="Google Shape;8089;p340"/>
          <p:cNvSpPr txBox="1"/>
          <p:nvPr>
            <p:ph idx="1" type="body"/>
          </p:nvPr>
        </p:nvSpPr>
        <p:spPr>
          <a:xfrm>
            <a:off x="5143500" y="1225225"/>
            <a:ext cx="3722400" cy="3646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b="1"/>
          </a:p>
          <a:p>
            <a:pPr indent="-317500" lvl="1" marL="914400" rtl="0" algn="l">
              <a:spcBef>
                <a:spcPts val="0"/>
              </a:spcBef>
              <a:spcAft>
                <a:spcPts val="0"/>
              </a:spcAft>
              <a:buSzPts val="1400"/>
              <a:buChar char="○"/>
            </a:pPr>
            <a:r>
              <a:rPr b="1" lang="en"/>
              <a:t>7.8 billion</a:t>
            </a:r>
            <a:r>
              <a:rPr lang="en"/>
              <a:t> as of March 2020!</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090" name="Google Shape;8090;p340"/>
          <p:cNvPicPr preferRelativeResize="0"/>
          <p:nvPr/>
        </p:nvPicPr>
        <p:blipFill rotWithShape="1">
          <a:blip r:embed="rId3">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4" name="Shape 8094"/>
        <p:cNvGrpSpPr/>
        <p:nvPr/>
      </p:nvGrpSpPr>
      <p:grpSpPr>
        <a:xfrm>
          <a:off x="0" y="0"/>
          <a:ext cx="0" cy="0"/>
          <a:chOff x="0" y="0"/>
          <a:chExt cx="0" cy="0"/>
        </a:xfrm>
      </p:grpSpPr>
      <p:sp>
        <p:nvSpPr>
          <p:cNvPr id="8095" name="Google Shape;8095;p3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096" name="Google Shape;8096;p341"/>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097" name="Google Shape;8097;p341"/>
          <p:cNvSpPr txBox="1"/>
          <p:nvPr>
            <p:ph idx="1" type="body"/>
          </p:nvPr>
        </p:nvSpPr>
        <p:spPr>
          <a:xfrm>
            <a:off x="5143500" y="1225225"/>
            <a:ext cx="3722400" cy="2401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a:p>
          <a:p>
            <a:pPr indent="-342900" lvl="0" marL="457200" rtl="0" algn="l">
              <a:spcBef>
                <a:spcPts val="0"/>
              </a:spcBef>
              <a:spcAft>
                <a:spcPts val="0"/>
              </a:spcAft>
              <a:buSzPts val="1800"/>
              <a:buChar char="●"/>
            </a:pPr>
            <a:r>
              <a:rPr b="1" lang="en"/>
              <a:t>Sp</a:t>
            </a:r>
            <a:r>
              <a:rPr b="1" lang="en"/>
              <a:t>arse</a:t>
            </a:r>
            <a:endParaRPr b="1"/>
          </a:p>
          <a:p>
            <a:pPr indent="-317500" lvl="1" marL="914400" rtl="0" algn="l">
              <a:spcBef>
                <a:spcPts val="0"/>
              </a:spcBef>
              <a:spcAft>
                <a:spcPts val="0"/>
              </a:spcAft>
              <a:buSzPts val="1400"/>
              <a:buChar char="○"/>
            </a:pPr>
            <a:r>
              <a:rPr b="1" lang="en"/>
              <a:t>Density </a:t>
            </a:r>
            <a:r>
              <a:rPr lang="en"/>
              <a:t>(</a:t>
            </a:r>
            <a:r>
              <a:rPr i="1" lang="en"/>
              <a:t>d</a:t>
            </a:r>
            <a:r>
              <a:rPr lang="en"/>
              <a:t>) is </a:t>
            </a:r>
            <a:r>
              <a:rPr b="1" lang="en"/>
              <a:t>low</a:t>
            </a:r>
            <a:r>
              <a:rPr lang="en"/>
              <a:t>:</a:t>
            </a:r>
            <a:endParaRPr/>
          </a:p>
          <a:p>
            <a:pPr indent="-317500" lvl="1" marL="914400" rtl="0" algn="l">
              <a:spcBef>
                <a:spcPts val="0"/>
              </a:spcBef>
              <a:spcAft>
                <a:spcPts val="0"/>
              </a:spcAft>
              <a:buSzPts val="1400"/>
              <a:buChar char="○"/>
            </a:pPr>
            <a:r>
              <a:rPr lang="en"/>
              <a:t>Number of </a:t>
            </a:r>
            <a:r>
              <a:rPr b="1" lang="en"/>
              <a:t>connected pairs</a:t>
            </a:r>
            <a:r>
              <a:rPr lang="en"/>
              <a:t> of people in the world (E) is </a:t>
            </a:r>
            <a:r>
              <a:rPr b="1" lang="en"/>
              <a:t>small </a:t>
            </a:r>
            <a:r>
              <a:rPr lang="en"/>
              <a:t>relative </a:t>
            </a:r>
            <a:r>
              <a:rPr b="1" lang="en"/>
              <a:t>graph size</a:t>
            </a:r>
            <a:r>
              <a:rPr lang="en"/>
              <a:t>:</a:t>
            </a:r>
            <a:endParaRPr/>
          </a:p>
          <a:p>
            <a:pPr indent="0" lvl="0" marL="1371600" rtl="0" algn="l">
              <a:spcBef>
                <a:spcPts val="0"/>
              </a:spcBef>
              <a:spcAft>
                <a:spcPts val="0"/>
              </a:spcAft>
              <a:buNone/>
            </a:pPr>
            <a:r>
              <a:t/>
            </a:r>
            <a:endParaRPr/>
          </a:p>
          <a:p>
            <a:pPr indent="0" lvl="0" marL="0" rtl="0" algn="l">
              <a:spcBef>
                <a:spcPts val="0"/>
              </a:spcBef>
              <a:spcAft>
                <a:spcPts val="0"/>
              </a:spcAft>
              <a:buNone/>
            </a:pPr>
            <a:r>
              <a:t/>
            </a:r>
            <a:endParaRPr/>
          </a:p>
        </p:txBody>
      </p:sp>
      <p:pic>
        <p:nvPicPr>
          <p:cNvPr descr="d = \frac{E}{N(N-1)}= \frac{E}{7.8 \times 10^9(7.8 \times 10^9-1)}= tiny" id="8098" name="Google Shape;8098;p341" title="MathEquation,#000000"/>
          <p:cNvPicPr preferRelativeResize="0"/>
          <p:nvPr/>
        </p:nvPicPr>
        <p:blipFill>
          <a:blip r:embed="rId3">
            <a:alphaModFix/>
          </a:blip>
          <a:stretch>
            <a:fillRect/>
          </a:stretch>
        </p:blipFill>
        <p:spPr>
          <a:xfrm>
            <a:off x="4321850" y="3053600"/>
            <a:ext cx="4470024" cy="497300"/>
          </a:xfrm>
          <a:prstGeom prst="rect">
            <a:avLst/>
          </a:prstGeom>
          <a:noFill/>
          <a:ln>
            <a:noFill/>
          </a:ln>
        </p:spPr>
      </p:pic>
      <p:pic>
        <p:nvPicPr>
          <p:cNvPr id="8099" name="Google Shape;8099;p341"/>
          <p:cNvPicPr preferRelativeResize="0"/>
          <p:nvPr/>
        </p:nvPicPr>
        <p:blipFill rotWithShape="1">
          <a:blip r:embed="rId4">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3" name="Shape 8103"/>
        <p:cNvGrpSpPr/>
        <p:nvPr/>
      </p:nvGrpSpPr>
      <p:grpSpPr>
        <a:xfrm>
          <a:off x="0" y="0"/>
          <a:ext cx="0" cy="0"/>
          <a:chOff x="0" y="0"/>
          <a:chExt cx="0" cy="0"/>
        </a:xfrm>
      </p:grpSpPr>
      <p:sp>
        <p:nvSpPr>
          <p:cNvPr id="8104" name="Google Shape;8104;p3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105" name="Google Shape;8105;p342"/>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106" name="Google Shape;8106;p342"/>
          <p:cNvSpPr txBox="1"/>
          <p:nvPr>
            <p:ph idx="1" type="body"/>
          </p:nvPr>
        </p:nvSpPr>
        <p:spPr>
          <a:xfrm>
            <a:off x="5143500" y="1225225"/>
            <a:ext cx="3722400" cy="1653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a:p>
          <a:p>
            <a:pPr indent="-342900" lvl="0" marL="457200" rtl="0" algn="l">
              <a:spcBef>
                <a:spcPts val="0"/>
              </a:spcBef>
              <a:spcAft>
                <a:spcPts val="0"/>
              </a:spcAft>
              <a:buSzPts val="1800"/>
              <a:buChar char="●"/>
            </a:pPr>
            <a:r>
              <a:rPr b="1" lang="en"/>
              <a:t>Sp</a:t>
            </a:r>
            <a:r>
              <a:rPr b="1" lang="en"/>
              <a:t>arse</a:t>
            </a:r>
            <a:endParaRPr/>
          </a:p>
          <a:p>
            <a:pPr indent="-317500" lvl="1" marL="914400" rtl="0" algn="l">
              <a:spcBef>
                <a:spcPts val="0"/>
              </a:spcBef>
              <a:spcAft>
                <a:spcPts val="0"/>
              </a:spcAft>
              <a:buSzPts val="1400"/>
              <a:buChar char="○"/>
            </a:pPr>
            <a:r>
              <a:rPr b="1" lang="en"/>
              <a:t>Average degree </a:t>
            </a:r>
            <a:r>
              <a:rPr lang="en"/>
              <a:t>(d) is </a:t>
            </a:r>
            <a:r>
              <a:rPr b="1" lang="en"/>
              <a:t>small </a:t>
            </a:r>
            <a:r>
              <a:rPr lang="en"/>
              <a:t>relative to </a:t>
            </a:r>
            <a:r>
              <a:rPr b="1" lang="en"/>
              <a:t>graph order</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frac{d}{N} = \frac{d}{7.8 \times 10^9} = tiny" id="8107" name="Google Shape;8107;p342" title="MathEquation,#000000"/>
          <p:cNvPicPr preferRelativeResize="0"/>
          <p:nvPr/>
        </p:nvPicPr>
        <p:blipFill>
          <a:blip r:embed="rId3">
            <a:alphaModFix/>
          </a:blip>
          <a:stretch>
            <a:fillRect/>
          </a:stretch>
        </p:blipFill>
        <p:spPr>
          <a:xfrm>
            <a:off x="5468388" y="2571759"/>
            <a:ext cx="2776624" cy="565740"/>
          </a:xfrm>
          <a:prstGeom prst="rect">
            <a:avLst/>
          </a:prstGeom>
          <a:noFill/>
          <a:ln>
            <a:noFill/>
          </a:ln>
        </p:spPr>
      </p:pic>
      <p:pic>
        <p:nvPicPr>
          <p:cNvPr id="8108" name="Google Shape;8108;p342"/>
          <p:cNvPicPr preferRelativeResize="0"/>
          <p:nvPr/>
        </p:nvPicPr>
        <p:blipFill rotWithShape="1">
          <a:blip r:embed="rId4">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2" name="Shape 8112"/>
        <p:cNvGrpSpPr/>
        <p:nvPr/>
      </p:nvGrpSpPr>
      <p:grpSpPr>
        <a:xfrm>
          <a:off x="0" y="0"/>
          <a:ext cx="0" cy="0"/>
          <a:chOff x="0" y="0"/>
          <a:chExt cx="0" cy="0"/>
        </a:xfrm>
      </p:grpSpPr>
      <p:sp>
        <p:nvSpPr>
          <p:cNvPr id="8113" name="Google Shape;8113;p3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114" name="Google Shape;8114;p343"/>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115" name="Google Shape;8115;p343"/>
          <p:cNvSpPr txBox="1"/>
          <p:nvPr>
            <p:ph idx="1" type="body"/>
          </p:nvPr>
        </p:nvSpPr>
        <p:spPr>
          <a:xfrm>
            <a:off x="5143500" y="1225225"/>
            <a:ext cx="3722400" cy="193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b="1"/>
          </a:p>
          <a:p>
            <a:pPr indent="-342900" lvl="0" marL="457200" rtl="0" algn="l">
              <a:spcBef>
                <a:spcPts val="0"/>
              </a:spcBef>
              <a:spcAft>
                <a:spcPts val="0"/>
              </a:spcAft>
              <a:buSzPts val="1800"/>
              <a:buChar char="●"/>
            </a:pPr>
            <a:r>
              <a:rPr b="1" lang="en"/>
              <a:t>Sp</a:t>
            </a:r>
            <a:r>
              <a:rPr b="1" lang="en"/>
              <a:t>arse</a:t>
            </a:r>
            <a:endParaRPr b="1"/>
          </a:p>
          <a:p>
            <a:pPr indent="-342900" lvl="0" marL="457200" rtl="0" algn="l">
              <a:spcBef>
                <a:spcPts val="0"/>
              </a:spcBef>
              <a:spcAft>
                <a:spcPts val="0"/>
              </a:spcAft>
              <a:buSzPts val="1800"/>
              <a:buChar char="●"/>
            </a:pPr>
            <a:r>
              <a:rPr b="1" lang="en"/>
              <a:t>Decentralized</a:t>
            </a:r>
            <a:endParaRPr b="1"/>
          </a:p>
          <a:p>
            <a:pPr indent="-317500" lvl="1" marL="914400" rtl="0" algn="l">
              <a:spcBef>
                <a:spcPts val="0"/>
              </a:spcBef>
              <a:spcAft>
                <a:spcPts val="0"/>
              </a:spcAft>
              <a:buSzPts val="1400"/>
              <a:buChar char="○"/>
            </a:pPr>
            <a:r>
              <a:rPr b="1" lang="en"/>
              <a:t>Maximum degree</a:t>
            </a:r>
            <a:r>
              <a:rPr lang="en"/>
              <a:t> (d</a:t>
            </a:r>
            <a:r>
              <a:rPr baseline="30000" lang="en"/>
              <a:t>MAX</a:t>
            </a:r>
            <a:r>
              <a:rPr lang="en"/>
              <a:t>) is </a:t>
            </a:r>
            <a:r>
              <a:rPr b="1" lang="en"/>
              <a:t>small </a:t>
            </a:r>
            <a:r>
              <a:rPr lang="en"/>
              <a:t>relative to graph order:</a:t>
            </a:r>
            <a:endParaRPr/>
          </a:p>
          <a:p>
            <a:pPr indent="0" lvl="0" marL="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descr="\frac{d^{MAX}}{N} = \frac{d^{MAX}}{7.8 \times 10^9} = tiny" id="8116" name="Google Shape;8116;p343" title="MathEquation,#000000"/>
          <p:cNvPicPr preferRelativeResize="0"/>
          <p:nvPr/>
        </p:nvPicPr>
        <p:blipFill>
          <a:blip r:embed="rId3">
            <a:alphaModFix/>
          </a:blip>
          <a:stretch>
            <a:fillRect/>
          </a:stretch>
        </p:blipFill>
        <p:spPr>
          <a:xfrm>
            <a:off x="5397100" y="2880638"/>
            <a:ext cx="3215190" cy="635000"/>
          </a:xfrm>
          <a:prstGeom prst="rect">
            <a:avLst/>
          </a:prstGeom>
          <a:noFill/>
          <a:ln>
            <a:noFill/>
          </a:ln>
        </p:spPr>
      </p:pic>
      <p:pic>
        <p:nvPicPr>
          <p:cNvPr id="8117" name="Google Shape;8117;p343"/>
          <p:cNvPicPr preferRelativeResize="0"/>
          <p:nvPr/>
        </p:nvPicPr>
        <p:blipFill rotWithShape="1">
          <a:blip r:embed="rId4">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1" name="Shape 8121"/>
        <p:cNvGrpSpPr/>
        <p:nvPr/>
      </p:nvGrpSpPr>
      <p:grpSpPr>
        <a:xfrm>
          <a:off x="0" y="0"/>
          <a:ext cx="0" cy="0"/>
          <a:chOff x="0" y="0"/>
          <a:chExt cx="0" cy="0"/>
        </a:xfrm>
      </p:grpSpPr>
      <p:sp>
        <p:nvSpPr>
          <p:cNvPr id="8122" name="Google Shape;8122;p3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123" name="Google Shape;8123;p344"/>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124" name="Google Shape;8124;p344"/>
          <p:cNvSpPr txBox="1"/>
          <p:nvPr>
            <p:ph idx="1" type="body"/>
          </p:nvPr>
        </p:nvSpPr>
        <p:spPr>
          <a:xfrm>
            <a:off x="5143500" y="1225225"/>
            <a:ext cx="3722400" cy="303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b="1"/>
          </a:p>
          <a:p>
            <a:pPr indent="-342900" lvl="0" marL="457200" rtl="0" algn="l">
              <a:spcBef>
                <a:spcPts val="0"/>
              </a:spcBef>
              <a:spcAft>
                <a:spcPts val="0"/>
              </a:spcAft>
              <a:buSzPts val="1800"/>
              <a:buChar char="●"/>
            </a:pPr>
            <a:r>
              <a:rPr b="1" lang="en"/>
              <a:t>Sp</a:t>
            </a:r>
            <a:r>
              <a:rPr b="1" lang="en"/>
              <a:t>arse</a:t>
            </a:r>
            <a:endParaRPr b="1"/>
          </a:p>
          <a:p>
            <a:pPr indent="-342900" lvl="0" marL="457200" rtl="0" algn="l">
              <a:spcBef>
                <a:spcPts val="0"/>
              </a:spcBef>
              <a:spcAft>
                <a:spcPts val="0"/>
              </a:spcAft>
              <a:buSzPts val="1800"/>
              <a:buChar char="●"/>
            </a:pPr>
            <a:r>
              <a:rPr b="1" lang="en"/>
              <a:t>Decentralized</a:t>
            </a:r>
            <a:endParaRPr b="1"/>
          </a:p>
          <a:p>
            <a:pPr indent="-342900" lvl="0" marL="457200" rtl="0" algn="l">
              <a:spcBef>
                <a:spcPts val="0"/>
              </a:spcBef>
              <a:spcAft>
                <a:spcPts val="0"/>
              </a:spcAft>
              <a:buSzPts val="1800"/>
              <a:buChar char="●"/>
            </a:pPr>
            <a:r>
              <a:rPr b="1" lang="en"/>
              <a:t>Clustered</a:t>
            </a:r>
            <a:endParaRPr b="1"/>
          </a:p>
          <a:p>
            <a:pPr indent="-317500" lvl="1" marL="914400" rtl="0" algn="l">
              <a:spcBef>
                <a:spcPts val="0"/>
              </a:spcBef>
              <a:spcAft>
                <a:spcPts val="0"/>
              </a:spcAft>
              <a:buSzPts val="1400"/>
              <a:buChar char="○"/>
            </a:pPr>
            <a:r>
              <a:rPr b="1" lang="en"/>
              <a:t>Transitivity</a:t>
            </a:r>
            <a:r>
              <a:rPr lang="en"/>
              <a:t>: Friends of friends tend to be friends </a:t>
            </a:r>
            <a:endParaRPr/>
          </a:p>
          <a:p>
            <a:pPr indent="-317500" lvl="1" marL="914400" rtl="0" algn="l">
              <a:spcBef>
                <a:spcPts val="0"/>
              </a:spcBef>
              <a:spcAft>
                <a:spcPts val="0"/>
              </a:spcAft>
              <a:buSzPts val="1400"/>
              <a:buChar char="○"/>
            </a:pPr>
            <a:r>
              <a:rPr lang="en"/>
              <a:t>Most ego-networks have </a:t>
            </a:r>
            <a:r>
              <a:rPr b="1" lang="en"/>
              <a:t>clustering coefficients</a:t>
            </a:r>
            <a:r>
              <a:rPr lang="en"/>
              <a:t> above zero</a:t>
            </a:r>
            <a:endParaRPr/>
          </a:p>
          <a:p>
            <a:pPr indent="-317500" lvl="1" marL="914400" rtl="0" algn="l">
              <a:spcBef>
                <a:spcPts val="0"/>
              </a:spcBef>
              <a:spcAft>
                <a:spcPts val="0"/>
              </a:spcAft>
              <a:buSzPts val="1400"/>
              <a:buChar char="○"/>
            </a:pPr>
            <a:r>
              <a:rPr b="1" lang="en"/>
              <a:t>Average clustering coefficient</a:t>
            </a:r>
            <a:r>
              <a:rPr lang="en"/>
              <a:t> is larger than zero</a:t>
            </a:r>
            <a:endParaRPr/>
          </a:p>
          <a:p>
            <a:pPr indent="0" lvl="0" marL="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125" name="Google Shape;8125;p344"/>
          <p:cNvPicPr preferRelativeResize="0"/>
          <p:nvPr/>
        </p:nvPicPr>
        <p:blipFill rotWithShape="1">
          <a:blip r:embed="rId3">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9" name="Shape 8129"/>
        <p:cNvGrpSpPr/>
        <p:nvPr/>
      </p:nvGrpSpPr>
      <p:grpSpPr>
        <a:xfrm>
          <a:off x="0" y="0"/>
          <a:ext cx="0" cy="0"/>
          <a:chOff x="0" y="0"/>
          <a:chExt cx="0" cy="0"/>
        </a:xfrm>
      </p:grpSpPr>
      <p:sp>
        <p:nvSpPr>
          <p:cNvPr id="8130" name="Google Shape;8130;p3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131" name="Google Shape;8131;p345"/>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132" name="Google Shape;8132;p345"/>
          <p:cNvSpPr txBox="1"/>
          <p:nvPr>
            <p:ph idx="1" type="body"/>
          </p:nvPr>
        </p:nvSpPr>
        <p:spPr>
          <a:xfrm>
            <a:off x="5143500" y="1225225"/>
            <a:ext cx="3722400" cy="303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b="1"/>
          </a:p>
          <a:p>
            <a:pPr indent="-342900" lvl="0" marL="457200" rtl="0" algn="l">
              <a:spcBef>
                <a:spcPts val="0"/>
              </a:spcBef>
              <a:spcAft>
                <a:spcPts val="0"/>
              </a:spcAft>
              <a:buSzPts val="1800"/>
              <a:buChar char="●"/>
            </a:pPr>
            <a:r>
              <a:rPr b="1" lang="en"/>
              <a:t>Sp</a:t>
            </a:r>
            <a:r>
              <a:rPr b="1" lang="en"/>
              <a:t>arse</a:t>
            </a:r>
            <a:endParaRPr b="1"/>
          </a:p>
          <a:p>
            <a:pPr indent="-342900" lvl="0" marL="457200" rtl="0" algn="l">
              <a:spcBef>
                <a:spcPts val="0"/>
              </a:spcBef>
              <a:spcAft>
                <a:spcPts val="0"/>
              </a:spcAft>
              <a:buSzPts val="1800"/>
              <a:buChar char="●"/>
            </a:pPr>
            <a:r>
              <a:rPr b="1" lang="en"/>
              <a:t>Decentralized</a:t>
            </a:r>
            <a:endParaRPr b="1"/>
          </a:p>
          <a:p>
            <a:pPr indent="-342900" lvl="0" marL="457200" rtl="0" algn="l">
              <a:spcBef>
                <a:spcPts val="0"/>
              </a:spcBef>
              <a:spcAft>
                <a:spcPts val="0"/>
              </a:spcAft>
              <a:buSzPts val="1800"/>
              <a:buChar char="●"/>
            </a:pPr>
            <a:r>
              <a:rPr b="1" lang="en"/>
              <a:t>Clustered</a:t>
            </a:r>
            <a:endParaRPr b="1"/>
          </a:p>
          <a:p>
            <a:pPr indent="-342900" lvl="0" marL="457200" rtl="0" algn="l">
              <a:spcBef>
                <a:spcPts val="0"/>
              </a:spcBef>
              <a:spcAft>
                <a:spcPts val="0"/>
              </a:spcAft>
              <a:buSzPts val="1800"/>
              <a:buChar char="●"/>
            </a:pPr>
            <a:r>
              <a:rPr b="1" lang="en"/>
              <a:t>Subgroup structure</a:t>
            </a:r>
            <a:endParaRPr b="1"/>
          </a:p>
          <a:p>
            <a:pPr indent="-317500" lvl="1" marL="914400" rtl="0" algn="l">
              <a:spcBef>
                <a:spcPts val="0"/>
              </a:spcBef>
              <a:spcAft>
                <a:spcPts val="0"/>
              </a:spcAft>
              <a:buSzPts val="1400"/>
              <a:buChar char="○"/>
            </a:pPr>
            <a:r>
              <a:rPr lang="en"/>
              <a:t>Most connections in </a:t>
            </a:r>
            <a:r>
              <a:rPr b="1" lang="en"/>
              <a:t>densely connected subgraphs</a:t>
            </a:r>
            <a:endParaRPr b="1"/>
          </a:p>
          <a:p>
            <a:pPr indent="-317500" lvl="1" marL="914400" rtl="0" algn="l">
              <a:spcBef>
                <a:spcPts val="0"/>
              </a:spcBef>
              <a:spcAft>
                <a:spcPts val="0"/>
              </a:spcAft>
              <a:buSzPts val="1400"/>
              <a:buChar char="○"/>
            </a:pPr>
            <a:r>
              <a:rPr lang="en"/>
              <a:t>Only a few between</a:t>
            </a:r>
            <a:endParaRPr/>
          </a:p>
          <a:p>
            <a:pPr indent="-317500" lvl="1" marL="914400" rtl="0" algn="l">
              <a:spcBef>
                <a:spcPts val="0"/>
              </a:spcBef>
              <a:spcAft>
                <a:spcPts val="0"/>
              </a:spcAft>
              <a:buSzPts val="1400"/>
              <a:buChar char="○"/>
            </a:pPr>
            <a:r>
              <a:rPr lang="en"/>
              <a:t>Graph can be </a:t>
            </a:r>
            <a:r>
              <a:rPr lang="en"/>
              <a:t>sp</a:t>
            </a:r>
            <a:r>
              <a:rPr lang="en"/>
              <a:t>lit into </a:t>
            </a:r>
            <a:r>
              <a:rPr b="1" lang="en"/>
              <a:t>cohesive subgroups</a:t>
            </a:r>
            <a:endParaRPr b="1"/>
          </a:p>
          <a:p>
            <a:pPr indent="0" lvl="0" marL="91440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133" name="Google Shape;8133;p345"/>
          <p:cNvPicPr preferRelativeResize="0"/>
          <p:nvPr/>
        </p:nvPicPr>
        <p:blipFill rotWithShape="1">
          <a:blip r:embed="rId3">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7" name="Shape 8137"/>
        <p:cNvGrpSpPr/>
        <p:nvPr/>
      </p:nvGrpSpPr>
      <p:grpSpPr>
        <a:xfrm>
          <a:off x="0" y="0"/>
          <a:ext cx="0" cy="0"/>
          <a:chOff x="0" y="0"/>
          <a:chExt cx="0" cy="0"/>
        </a:xfrm>
      </p:grpSpPr>
      <p:sp>
        <p:nvSpPr>
          <p:cNvPr id="8138" name="Google Shape;8138;p3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139" name="Google Shape;8139;p346"/>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140" name="Google Shape;8140;p346"/>
          <p:cNvSpPr txBox="1"/>
          <p:nvPr>
            <p:ph idx="1" type="body"/>
          </p:nvPr>
        </p:nvSpPr>
        <p:spPr>
          <a:xfrm>
            <a:off x="5143500" y="1225225"/>
            <a:ext cx="3722400" cy="303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b="1"/>
          </a:p>
          <a:p>
            <a:pPr indent="-342900" lvl="0" marL="457200" rtl="0" algn="l">
              <a:spcBef>
                <a:spcPts val="0"/>
              </a:spcBef>
              <a:spcAft>
                <a:spcPts val="0"/>
              </a:spcAft>
              <a:buSzPts val="1800"/>
              <a:buChar char="●"/>
            </a:pPr>
            <a:r>
              <a:rPr b="1" lang="en"/>
              <a:t>Sp</a:t>
            </a:r>
            <a:r>
              <a:rPr b="1" lang="en"/>
              <a:t>arse</a:t>
            </a:r>
            <a:endParaRPr b="1"/>
          </a:p>
          <a:p>
            <a:pPr indent="-342900" lvl="0" marL="457200" rtl="0" algn="l">
              <a:spcBef>
                <a:spcPts val="0"/>
              </a:spcBef>
              <a:spcAft>
                <a:spcPts val="0"/>
              </a:spcAft>
              <a:buSzPts val="1800"/>
              <a:buChar char="●"/>
            </a:pPr>
            <a:r>
              <a:rPr b="1" lang="en"/>
              <a:t>Decentralized</a:t>
            </a:r>
            <a:endParaRPr b="1"/>
          </a:p>
          <a:p>
            <a:pPr indent="-342900" lvl="0" marL="457200" rtl="0" algn="l">
              <a:spcBef>
                <a:spcPts val="0"/>
              </a:spcBef>
              <a:spcAft>
                <a:spcPts val="0"/>
              </a:spcAft>
              <a:buSzPts val="1800"/>
              <a:buChar char="●"/>
            </a:pPr>
            <a:r>
              <a:rPr b="1" lang="en"/>
              <a:t>Clustered</a:t>
            </a:r>
            <a:endParaRPr b="1"/>
          </a:p>
          <a:p>
            <a:pPr indent="-342900" lvl="0" marL="457200" rtl="0" algn="l">
              <a:spcBef>
                <a:spcPts val="0"/>
              </a:spcBef>
              <a:spcAft>
                <a:spcPts val="0"/>
              </a:spcAft>
              <a:buSzPts val="1800"/>
              <a:buChar char="●"/>
            </a:pPr>
            <a:r>
              <a:rPr b="1" lang="en"/>
              <a:t>Subgroup structure</a:t>
            </a:r>
            <a:endParaRPr b="1"/>
          </a:p>
          <a:p>
            <a:pPr indent="-342900" lvl="0" marL="457200" rtl="0" algn="l">
              <a:spcBef>
                <a:spcPts val="0"/>
              </a:spcBef>
              <a:spcAft>
                <a:spcPts val="0"/>
              </a:spcAft>
              <a:buClr>
                <a:srgbClr val="000000"/>
              </a:buClr>
              <a:buSzPts val="1800"/>
              <a:buChar char="●"/>
            </a:pPr>
            <a:r>
              <a:rPr b="1" lang="en">
                <a:solidFill>
                  <a:srgbClr val="000000"/>
                </a:solidFill>
              </a:rPr>
              <a:t>Six degrees of separation</a:t>
            </a:r>
            <a:endParaRPr b="1">
              <a:solidFill>
                <a:srgbClr val="000000"/>
              </a:solidFill>
            </a:endParaRPr>
          </a:p>
          <a:p>
            <a:pPr indent="-317500" lvl="1" marL="914400" rtl="0" algn="l">
              <a:spcBef>
                <a:spcPts val="0"/>
              </a:spcBef>
              <a:spcAft>
                <a:spcPts val="0"/>
              </a:spcAft>
              <a:buSzPts val="1400"/>
              <a:buChar char="○"/>
            </a:pPr>
            <a:r>
              <a:rPr lang="en"/>
              <a:t>Average shortest path length between people is (relatively) small</a:t>
            </a:r>
            <a:endParaRPr/>
          </a:p>
          <a:p>
            <a:pPr indent="0" lvl="0" marL="91440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141" name="Google Shape;8141;p346"/>
          <p:cNvPicPr preferRelativeResize="0"/>
          <p:nvPr/>
        </p:nvPicPr>
        <p:blipFill rotWithShape="1">
          <a:blip r:embed="rId3">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5" name="Shape 8145"/>
        <p:cNvGrpSpPr/>
        <p:nvPr/>
      </p:nvGrpSpPr>
      <p:grpSpPr>
        <a:xfrm>
          <a:off x="0" y="0"/>
          <a:ext cx="0" cy="0"/>
          <a:chOff x="0" y="0"/>
          <a:chExt cx="0" cy="0"/>
        </a:xfrm>
      </p:grpSpPr>
      <p:sp>
        <p:nvSpPr>
          <p:cNvPr id="8146" name="Google Shape;8146;p3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147" name="Google Shape;8147;p347"/>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148" name="Google Shape;8148;p347"/>
          <p:cNvSpPr txBox="1"/>
          <p:nvPr>
            <p:ph idx="1" type="body"/>
          </p:nvPr>
        </p:nvSpPr>
        <p:spPr>
          <a:xfrm>
            <a:off x="5143500" y="1225225"/>
            <a:ext cx="3722400" cy="303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Order </a:t>
            </a:r>
            <a:r>
              <a:rPr lang="en"/>
              <a:t>(N) is </a:t>
            </a:r>
            <a:r>
              <a:rPr b="1" lang="en"/>
              <a:t>large</a:t>
            </a:r>
            <a:endParaRPr b="1"/>
          </a:p>
          <a:p>
            <a:pPr indent="-342900" lvl="0" marL="457200" rtl="0" algn="l">
              <a:spcBef>
                <a:spcPts val="0"/>
              </a:spcBef>
              <a:spcAft>
                <a:spcPts val="0"/>
              </a:spcAft>
              <a:buSzPts val="1800"/>
              <a:buChar char="●"/>
            </a:pPr>
            <a:r>
              <a:rPr b="1" lang="en"/>
              <a:t>Sp</a:t>
            </a:r>
            <a:r>
              <a:rPr b="1" lang="en"/>
              <a:t>arse</a:t>
            </a:r>
            <a:endParaRPr b="1"/>
          </a:p>
          <a:p>
            <a:pPr indent="-342900" lvl="0" marL="457200" rtl="0" algn="l">
              <a:spcBef>
                <a:spcPts val="0"/>
              </a:spcBef>
              <a:spcAft>
                <a:spcPts val="0"/>
              </a:spcAft>
              <a:buSzPts val="1800"/>
              <a:buChar char="●"/>
            </a:pPr>
            <a:r>
              <a:rPr b="1" lang="en"/>
              <a:t>Decentralized</a:t>
            </a:r>
            <a:endParaRPr b="1"/>
          </a:p>
          <a:p>
            <a:pPr indent="-342900" lvl="0" marL="457200" rtl="0" algn="l">
              <a:spcBef>
                <a:spcPts val="0"/>
              </a:spcBef>
              <a:spcAft>
                <a:spcPts val="0"/>
              </a:spcAft>
              <a:buSzPts val="1800"/>
              <a:buChar char="●"/>
            </a:pPr>
            <a:r>
              <a:rPr b="1" lang="en"/>
              <a:t>Clustered</a:t>
            </a:r>
            <a:endParaRPr b="1"/>
          </a:p>
          <a:p>
            <a:pPr indent="-342900" lvl="0" marL="457200" rtl="0" algn="l">
              <a:spcBef>
                <a:spcPts val="0"/>
              </a:spcBef>
              <a:spcAft>
                <a:spcPts val="0"/>
              </a:spcAft>
              <a:buSzPts val="1800"/>
              <a:buChar char="●"/>
            </a:pPr>
            <a:r>
              <a:rPr b="1" lang="en"/>
              <a:t>Subgroup structure</a:t>
            </a:r>
            <a:endParaRPr b="1"/>
          </a:p>
          <a:p>
            <a:pPr indent="-342900" lvl="0" marL="457200" rtl="0" algn="l">
              <a:spcBef>
                <a:spcPts val="0"/>
              </a:spcBef>
              <a:spcAft>
                <a:spcPts val="0"/>
              </a:spcAft>
              <a:buClr>
                <a:srgbClr val="FF0000"/>
              </a:buClr>
              <a:buSzPts val="1800"/>
              <a:buChar char="●"/>
            </a:pPr>
            <a:r>
              <a:rPr b="1" lang="en">
                <a:solidFill>
                  <a:srgbClr val="FF0000"/>
                </a:solidFill>
              </a:rPr>
              <a:t>Six degrees of separation</a:t>
            </a:r>
            <a:endParaRPr b="1">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149" name="Google Shape;8149;p347"/>
          <p:cNvPicPr preferRelativeResize="0"/>
          <p:nvPr/>
        </p:nvPicPr>
        <p:blipFill rotWithShape="1">
          <a:blip r:embed="rId3">
            <a:alphaModFix/>
          </a:blip>
          <a:srcRect b="0" l="0" r="0" t="3985"/>
          <a:stretch/>
        </p:blipFill>
        <p:spPr>
          <a:xfrm>
            <a:off x="984250" y="2442325"/>
            <a:ext cx="3190588" cy="2475925"/>
          </a:xfrm>
          <a:prstGeom prst="rect">
            <a:avLst/>
          </a:prstGeom>
          <a:noFill/>
          <a:ln>
            <a:noFill/>
          </a:ln>
        </p:spPr>
      </p:pic>
      <p:sp>
        <p:nvSpPr>
          <p:cNvPr id="8150" name="Google Shape;8150;p347"/>
          <p:cNvSpPr txBox="1"/>
          <p:nvPr/>
        </p:nvSpPr>
        <p:spPr>
          <a:xfrm>
            <a:off x="5750250" y="3626450"/>
            <a:ext cx="25089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This last thing is weird!</a:t>
            </a:r>
            <a:endParaRPr b="1">
              <a:solidFill>
                <a:srgbClr val="FF0000"/>
              </a:solidFill>
              <a:latin typeface="Open Sans"/>
              <a:ea typeface="Open Sans"/>
              <a:cs typeface="Open Sans"/>
              <a:sym typeface="Open Sans"/>
            </a:endParaRPr>
          </a:p>
        </p:txBody>
      </p:sp>
    </p:spTree>
  </p:cSld>
  <p:clrMapOvr>
    <a:masterClrMapping/>
  </p:clrMapOvr>
</p:sld>
</file>

<file path=ppt/slides/slide3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4" name="Shape 8154"/>
        <p:cNvGrpSpPr/>
        <p:nvPr/>
      </p:nvGrpSpPr>
      <p:grpSpPr>
        <a:xfrm>
          <a:off x="0" y="0"/>
          <a:ext cx="0" cy="0"/>
          <a:chOff x="0" y="0"/>
          <a:chExt cx="0" cy="0"/>
        </a:xfrm>
      </p:grpSpPr>
      <p:sp>
        <p:nvSpPr>
          <p:cNvPr id="8155" name="Google Shape;8155;p3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world as a network</a:t>
            </a:r>
            <a:endParaRPr/>
          </a:p>
        </p:txBody>
      </p:sp>
      <p:sp>
        <p:nvSpPr>
          <p:cNvPr id="8156" name="Google Shape;8156;p348"/>
          <p:cNvSpPr txBox="1"/>
          <p:nvPr>
            <p:ph idx="1" type="body"/>
          </p:nvPr>
        </p:nvSpPr>
        <p:spPr>
          <a:xfrm>
            <a:off x="311700" y="1225225"/>
            <a:ext cx="4535700" cy="121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Imagine that the entire world (or a big place like the U. S.) as a network</a:t>
            </a:r>
            <a:endParaRPr/>
          </a:p>
          <a:p>
            <a:pPr indent="-317500" lvl="1" marL="914400" rtl="0" algn="l">
              <a:spcBef>
                <a:spcPts val="0"/>
              </a:spcBef>
              <a:spcAft>
                <a:spcPts val="0"/>
              </a:spcAft>
              <a:buClr>
                <a:srgbClr val="0000FF"/>
              </a:buClr>
              <a:buSzPts val="1400"/>
              <a:buChar char="○"/>
            </a:pPr>
            <a:r>
              <a:rPr i="1" lang="en">
                <a:solidFill>
                  <a:srgbClr val="0000FF"/>
                </a:solidFill>
              </a:rPr>
              <a:t>What can we deduce to be true of the graph the represents this network?</a:t>
            </a:r>
            <a:endParaRPr i="1">
              <a:solidFill>
                <a:srgbClr val="0000FF"/>
              </a:solidFill>
            </a:endParaRPr>
          </a:p>
          <a:p>
            <a:pPr indent="0" lvl="0" marL="0" rtl="0" algn="l">
              <a:spcBef>
                <a:spcPts val="0"/>
              </a:spcBef>
              <a:spcAft>
                <a:spcPts val="0"/>
              </a:spcAft>
              <a:buNone/>
            </a:pPr>
            <a:r>
              <a:t/>
            </a:r>
            <a:endParaRPr/>
          </a:p>
        </p:txBody>
      </p:sp>
      <p:sp>
        <p:nvSpPr>
          <p:cNvPr id="8157" name="Google Shape;8157;p348"/>
          <p:cNvSpPr txBox="1"/>
          <p:nvPr>
            <p:ph idx="1" type="body"/>
          </p:nvPr>
        </p:nvSpPr>
        <p:spPr>
          <a:xfrm>
            <a:off x="5143500" y="1225225"/>
            <a:ext cx="3722400" cy="3522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en">
                <a:solidFill>
                  <a:srgbClr val="000000"/>
                </a:solidFill>
              </a:rPr>
              <a:t>In a large, </a:t>
            </a:r>
            <a:r>
              <a:rPr lang="en">
                <a:solidFill>
                  <a:srgbClr val="000000"/>
                </a:solidFill>
              </a:rPr>
              <a:t>sp</a:t>
            </a:r>
            <a:r>
              <a:rPr lang="en">
                <a:solidFill>
                  <a:srgbClr val="000000"/>
                </a:solidFill>
              </a:rPr>
              <a:t>arse, decentralized graph, with clustering and subgroup structure:</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Any two random individuals should (on average) be separated by a </a:t>
            </a:r>
            <a:r>
              <a:rPr b="1" lang="en">
                <a:solidFill>
                  <a:srgbClr val="000000"/>
                </a:solidFill>
              </a:rPr>
              <a:t>long shortest paths </a:t>
            </a:r>
            <a:endParaRPr b="1">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But real world shows “six degrees of separation” effect</a:t>
            </a:r>
            <a:endParaRPr>
              <a:solidFill>
                <a:srgbClr val="000000"/>
              </a:solidFill>
            </a:endParaRPr>
          </a:p>
          <a:p>
            <a:pPr indent="-317500" lvl="1" marL="914400" rtl="0" algn="l">
              <a:spcBef>
                <a:spcPts val="0"/>
              </a:spcBef>
              <a:spcAft>
                <a:spcPts val="0"/>
              </a:spcAft>
              <a:buClr>
                <a:srgbClr val="0000FF"/>
              </a:buClr>
              <a:buSzPts val="1400"/>
              <a:buChar char="○"/>
            </a:pPr>
            <a:r>
              <a:rPr i="1" lang="en">
                <a:solidFill>
                  <a:srgbClr val="0000FF"/>
                </a:solidFill>
              </a:rPr>
              <a:t>Six is a small number</a:t>
            </a:r>
            <a:endParaRPr i="1">
              <a:solidFill>
                <a:srgbClr val="0000FF"/>
              </a:solidFill>
            </a:endParaRPr>
          </a:p>
          <a:p>
            <a:pPr indent="-317500" lvl="1" marL="914400" rtl="0" algn="l">
              <a:spcBef>
                <a:spcPts val="0"/>
              </a:spcBef>
              <a:spcAft>
                <a:spcPts val="0"/>
              </a:spcAft>
              <a:buClr>
                <a:srgbClr val="FF0000"/>
              </a:buClr>
              <a:buSzPts val="1400"/>
              <a:buChar char="○"/>
            </a:pPr>
            <a:r>
              <a:rPr b="1" lang="en">
                <a:solidFill>
                  <a:srgbClr val="FF0000"/>
                </a:solidFill>
              </a:rPr>
              <a:t>It’s a small world!</a:t>
            </a:r>
            <a:endParaRPr b="1">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158" name="Google Shape;8158;p348"/>
          <p:cNvPicPr preferRelativeResize="0"/>
          <p:nvPr/>
        </p:nvPicPr>
        <p:blipFill rotWithShape="1">
          <a:blip r:embed="rId3">
            <a:alphaModFix/>
          </a:blip>
          <a:srcRect b="0" l="0" r="0" t="3985"/>
          <a:stretch/>
        </p:blipFill>
        <p:spPr>
          <a:xfrm>
            <a:off x="984250" y="2442325"/>
            <a:ext cx="3190588" cy="2475925"/>
          </a:xfrm>
          <a:prstGeom prst="rect">
            <a:avLst/>
          </a:prstGeom>
          <a:noFill/>
          <a:ln>
            <a:noFill/>
          </a:ln>
        </p:spPr>
      </p:pic>
    </p:spTree>
  </p:cSld>
  <p:clrMapOvr>
    <a:masterClrMapping/>
  </p:clrMapOvr>
</p:sld>
</file>

<file path=ppt/slides/slide3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2" name="Shape 8162"/>
        <p:cNvGrpSpPr/>
        <p:nvPr/>
      </p:nvGrpSpPr>
      <p:grpSpPr>
        <a:xfrm>
          <a:off x="0" y="0"/>
          <a:ext cx="0" cy="0"/>
          <a:chOff x="0" y="0"/>
          <a:chExt cx="0" cy="0"/>
        </a:xfrm>
      </p:grpSpPr>
      <p:sp>
        <p:nvSpPr>
          <p:cNvPr id="8163" name="Google Shape;8163;p3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 </a:t>
            </a:r>
            <a:endParaRPr/>
          </a:p>
        </p:txBody>
      </p:sp>
      <p:sp>
        <p:nvSpPr>
          <p:cNvPr id="8164" name="Google Shape;8164;p349"/>
          <p:cNvSpPr txBox="1"/>
          <p:nvPr>
            <p:ph idx="1" type="body"/>
          </p:nvPr>
        </p:nvSpPr>
        <p:spPr>
          <a:xfrm>
            <a:off x="311700" y="1225225"/>
            <a:ext cx="529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Classic study by Travers and Milgram (1969)</a:t>
            </a:r>
            <a:endParaRPr/>
          </a:p>
          <a:p>
            <a:pPr indent="-342900" lvl="0" marL="457200" rtl="0" algn="l">
              <a:spcBef>
                <a:spcPts val="0"/>
              </a:spcBef>
              <a:spcAft>
                <a:spcPts val="0"/>
              </a:spcAft>
              <a:buSzPts val="1800"/>
              <a:buChar char="●"/>
            </a:pPr>
            <a:r>
              <a:rPr lang="en"/>
              <a:t>Target  (Boston stockbroker)</a:t>
            </a:r>
            <a:endParaRPr/>
          </a:p>
          <a:p>
            <a:pPr indent="-317500" lvl="1" marL="914400" rtl="0" algn="l">
              <a:spcBef>
                <a:spcPts val="0"/>
              </a:spcBef>
              <a:spcAft>
                <a:spcPts val="0"/>
              </a:spcAft>
              <a:buSzPts val="1400"/>
              <a:buChar char="○"/>
            </a:pPr>
            <a:r>
              <a:rPr lang="en"/>
              <a:t>296 participants ("starting persons")</a:t>
            </a:r>
            <a:endParaRPr/>
          </a:p>
          <a:p>
            <a:pPr indent="-317500" lvl="1" marL="914400" rtl="0" algn="l">
              <a:spcBef>
                <a:spcPts val="0"/>
              </a:spcBef>
              <a:spcAft>
                <a:spcPts val="0"/>
              </a:spcAft>
              <a:buSzPts val="1400"/>
              <a:buChar char="○"/>
            </a:pPr>
            <a:r>
              <a:rPr lang="en"/>
              <a:t>196 from Nebraska</a:t>
            </a:r>
            <a:endParaRPr/>
          </a:p>
          <a:p>
            <a:pPr indent="-317500" lvl="2" marL="1371600" rtl="0" algn="l">
              <a:spcBef>
                <a:spcPts val="0"/>
              </a:spcBef>
              <a:spcAft>
                <a:spcPts val="0"/>
              </a:spcAft>
              <a:buSzPts val="1400"/>
              <a:buChar char="■"/>
            </a:pPr>
            <a:r>
              <a:rPr lang="en"/>
              <a:t>100 Stockbrokers</a:t>
            </a:r>
            <a:endParaRPr/>
          </a:p>
          <a:p>
            <a:pPr indent="-317500" lvl="2" marL="1371600" rtl="0" algn="l">
              <a:spcBef>
                <a:spcPts val="0"/>
              </a:spcBef>
              <a:spcAft>
                <a:spcPts val="0"/>
              </a:spcAft>
              <a:buSzPts val="1400"/>
              <a:buChar char="■"/>
            </a:pPr>
            <a:r>
              <a:rPr lang="en"/>
              <a:t>96 Random</a:t>
            </a:r>
            <a:endParaRPr/>
          </a:p>
          <a:p>
            <a:pPr indent="-317500" lvl="1" marL="914400" rtl="0" algn="l">
              <a:spcBef>
                <a:spcPts val="0"/>
              </a:spcBef>
              <a:spcAft>
                <a:spcPts val="0"/>
              </a:spcAft>
              <a:buSzPts val="1400"/>
              <a:buChar char="○"/>
            </a:pPr>
            <a:r>
              <a:rPr lang="en"/>
              <a:t>100 from Boston</a:t>
            </a:r>
            <a:endParaRPr/>
          </a:p>
          <a:p>
            <a:pPr indent="-317500" lvl="1" marL="914400" rtl="0" algn="l">
              <a:spcBef>
                <a:spcPts val="0"/>
              </a:spcBef>
              <a:spcAft>
                <a:spcPts val="0"/>
              </a:spcAft>
              <a:buSzPts val="1400"/>
              <a:buChar char="○"/>
            </a:pPr>
            <a:r>
              <a:rPr lang="en"/>
              <a:t>217 forwarded packet so get to target person</a:t>
            </a:r>
            <a:endParaRPr/>
          </a:p>
          <a:p>
            <a:pPr indent="-317500" lvl="1" marL="914400" rtl="0" algn="l">
              <a:spcBef>
                <a:spcPts val="0"/>
              </a:spcBef>
              <a:spcAft>
                <a:spcPts val="0"/>
              </a:spcAft>
              <a:buSzPts val="1400"/>
              <a:buChar char="○"/>
            </a:pPr>
            <a:r>
              <a:rPr lang="en"/>
              <a:t>453 Intermediaries enlisted by the participants</a:t>
            </a:r>
            <a:endParaRPr/>
          </a:p>
          <a:p>
            <a:pPr indent="0" lvl="0" marL="0" rtl="0" algn="l">
              <a:spcBef>
                <a:spcPts val="0"/>
              </a:spcBef>
              <a:spcAft>
                <a:spcPts val="0"/>
              </a:spcAft>
              <a:buNone/>
            </a:pPr>
            <a:r>
              <a:t/>
            </a:r>
            <a:endParaRPr/>
          </a:p>
        </p:txBody>
      </p:sp>
      <p:pic>
        <p:nvPicPr>
          <p:cNvPr id="8165" name="Google Shape;8165;p349"/>
          <p:cNvPicPr preferRelativeResize="0"/>
          <p:nvPr/>
        </p:nvPicPr>
        <p:blipFill>
          <a:blip r:embed="rId3">
            <a:alphaModFix/>
          </a:blip>
          <a:stretch>
            <a:fillRect/>
          </a:stretch>
        </p:blipFill>
        <p:spPr>
          <a:xfrm>
            <a:off x="6120075" y="1225225"/>
            <a:ext cx="2440524" cy="3354001"/>
          </a:xfrm>
          <a:prstGeom prst="rect">
            <a:avLst/>
          </a:prstGeom>
          <a:noFill/>
          <a:ln>
            <a:noFill/>
          </a:ln>
        </p:spPr>
      </p:pic>
    </p:spTree>
  </p:cSld>
  <p:clrMapOvr>
    <a:masterClrMapping/>
  </p:clrMapOvr>
</p:sld>
</file>

<file path=ppt/slides/slide3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9" name="Shape 8169"/>
        <p:cNvGrpSpPr/>
        <p:nvPr/>
      </p:nvGrpSpPr>
      <p:grpSpPr>
        <a:xfrm>
          <a:off x="0" y="0"/>
          <a:ext cx="0" cy="0"/>
          <a:chOff x="0" y="0"/>
          <a:chExt cx="0" cy="0"/>
        </a:xfrm>
      </p:grpSpPr>
      <p:sp>
        <p:nvSpPr>
          <p:cNvPr id="8170" name="Google Shape;8170;p3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171" name="Google Shape;8171;p350"/>
          <p:cNvSpPr txBox="1"/>
          <p:nvPr>
            <p:ph idx="1" type="body"/>
          </p:nvPr>
        </p:nvSpPr>
        <p:spPr>
          <a:xfrm>
            <a:off x="311700" y="1225225"/>
            <a:ext cx="529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Target  (Boston stockbroker)</a:t>
            </a:r>
            <a:endParaRPr/>
          </a:p>
          <a:p>
            <a:pPr indent="-317500" lvl="1" marL="914400" rtl="0" algn="l">
              <a:spcBef>
                <a:spcPts val="0"/>
              </a:spcBef>
              <a:spcAft>
                <a:spcPts val="0"/>
              </a:spcAft>
              <a:buSzPts val="1400"/>
              <a:buChar char="○"/>
            </a:pPr>
            <a:r>
              <a:rPr lang="en"/>
              <a:t>296 participants ("starting persons")</a:t>
            </a:r>
            <a:endParaRPr/>
          </a:p>
          <a:p>
            <a:pPr indent="-317500" lvl="1" marL="914400" rtl="0" algn="l">
              <a:spcBef>
                <a:spcPts val="0"/>
              </a:spcBef>
              <a:spcAft>
                <a:spcPts val="0"/>
              </a:spcAft>
              <a:buSzPts val="1400"/>
              <a:buChar char="○"/>
            </a:pPr>
            <a:r>
              <a:rPr lang="en"/>
              <a:t>196 from Nebraska</a:t>
            </a:r>
            <a:endParaRPr/>
          </a:p>
          <a:p>
            <a:pPr indent="-317500" lvl="2" marL="1371600" rtl="0" algn="l">
              <a:spcBef>
                <a:spcPts val="0"/>
              </a:spcBef>
              <a:spcAft>
                <a:spcPts val="0"/>
              </a:spcAft>
              <a:buSzPts val="1400"/>
              <a:buChar char="■"/>
            </a:pPr>
            <a:r>
              <a:rPr lang="en"/>
              <a:t>100 Stockbrokers</a:t>
            </a:r>
            <a:endParaRPr/>
          </a:p>
          <a:p>
            <a:pPr indent="-317500" lvl="2" marL="1371600" rtl="0" algn="l">
              <a:spcBef>
                <a:spcPts val="0"/>
              </a:spcBef>
              <a:spcAft>
                <a:spcPts val="0"/>
              </a:spcAft>
              <a:buSzPts val="1400"/>
              <a:buChar char="■"/>
            </a:pPr>
            <a:r>
              <a:rPr lang="en"/>
              <a:t>96 Random</a:t>
            </a:r>
            <a:endParaRPr/>
          </a:p>
          <a:p>
            <a:pPr indent="-317500" lvl="1" marL="914400" rtl="0" algn="l">
              <a:spcBef>
                <a:spcPts val="0"/>
              </a:spcBef>
              <a:spcAft>
                <a:spcPts val="0"/>
              </a:spcAft>
              <a:buSzPts val="1400"/>
              <a:buChar char="○"/>
            </a:pPr>
            <a:r>
              <a:rPr lang="en"/>
              <a:t>100 from Boston</a:t>
            </a:r>
            <a:endParaRPr/>
          </a:p>
          <a:p>
            <a:pPr indent="-317500" lvl="1" marL="914400" rtl="0" algn="l">
              <a:spcBef>
                <a:spcPts val="0"/>
              </a:spcBef>
              <a:spcAft>
                <a:spcPts val="0"/>
              </a:spcAft>
              <a:buSzPts val="1400"/>
              <a:buChar char="○"/>
            </a:pPr>
            <a:r>
              <a:rPr lang="en"/>
              <a:t>217 forwarded packet so get to target person</a:t>
            </a:r>
            <a:endParaRPr/>
          </a:p>
          <a:p>
            <a:pPr indent="-317500" lvl="1" marL="914400" rtl="0" algn="l">
              <a:spcBef>
                <a:spcPts val="0"/>
              </a:spcBef>
              <a:spcAft>
                <a:spcPts val="0"/>
              </a:spcAft>
              <a:buSzPts val="1400"/>
              <a:buChar char="○"/>
            </a:pPr>
            <a:r>
              <a:rPr lang="en"/>
              <a:t>453 Intermediaries enlisted by the participants</a:t>
            </a:r>
            <a:endParaRPr/>
          </a:p>
          <a:p>
            <a:pPr indent="-342900" lvl="0" marL="457200" rtl="0" algn="l">
              <a:spcBef>
                <a:spcPts val="0"/>
              </a:spcBef>
              <a:spcAft>
                <a:spcPts val="0"/>
              </a:spcAft>
              <a:buSzPts val="1800"/>
              <a:buChar char="●"/>
            </a:pPr>
            <a:r>
              <a:rPr lang="en"/>
              <a:t>64 completed chains (29%)</a:t>
            </a:r>
            <a:endParaRPr/>
          </a:p>
          <a:p>
            <a:pPr indent="-317500" lvl="2" marL="1371600" rtl="0" algn="l">
              <a:spcBef>
                <a:spcPts val="0"/>
              </a:spcBef>
              <a:spcAft>
                <a:spcPts val="0"/>
              </a:spcAft>
              <a:buSzPts val="1400"/>
              <a:buChar char="■"/>
            </a:pPr>
            <a:r>
              <a:rPr lang="en"/>
              <a:t>Mean path length: 5.2</a:t>
            </a:r>
            <a:endParaRPr/>
          </a:p>
          <a:p>
            <a:pPr indent="0" lvl="0" marL="0" rtl="0" algn="l">
              <a:spcBef>
                <a:spcPts val="0"/>
              </a:spcBef>
              <a:spcAft>
                <a:spcPts val="0"/>
              </a:spcAft>
              <a:buNone/>
            </a:pPr>
            <a:r>
              <a:t/>
            </a:r>
            <a:endParaRPr/>
          </a:p>
        </p:txBody>
      </p:sp>
      <p:pic>
        <p:nvPicPr>
          <p:cNvPr id="8172" name="Google Shape;8172;p350"/>
          <p:cNvPicPr preferRelativeResize="0"/>
          <p:nvPr/>
        </p:nvPicPr>
        <p:blipFill rotWithShape="1">
          <a:blip r:embed="rId3">
            <a:alphaModFix/>
          </a:blip>
          <a:srcRect b="0" l="0" r="0" t="8717"/>
          <a:stretch/>
        </p:blipFill>
        <p:spPr>
          <a:xfrm>
            <a:off x="5497150" y="1562837"/>
            <a:ext cx="3335149" cy="2678775"/>
          </a:xfrm>
          <a:prstGeom prst="rect">
            <a:avLst/>
          </a:prstGeom>
          <a:noFill/>
          <a:ln>
            <a:noFill/>
          </a:ln>
        </p:spPr>
      </p:pic>
    </p:spTree>
  </p:cSld>
  <p:clrMapOvr>
    <a:masterClrMapping/>
  </p:clrMapOvr>
</p:sld>
</file>

<file path=ppt/slides/slide3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6" name="Shape 8176"/>
        <p:cNvGrpSpPr/>
        <p:nvPr/>
      </p:nvGrpSpPr>
      <p:grpSpPr>
        <a:xfrm>
          <a:off x="0" y="0"/>
          <a:ext cx="0" cy="0"/>
          <a:chOff x="0" y="0"/>
          <a:chExt cx="0" cy="0"/>
        </a:xfrm>
      </p:grpSpPr>
      <p:sp>
        <p:nvSpPr>
          <p:cNvPr id="8177" name="Google Shape;8177;p3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178" name="Google Shape;8178;p351"/>
          <p:cNvSpPr txBox="1"/>
          <p:nvPr>
            <p:ph idx="1" type="body"/>
          </p:nvPr>
        </p:nvSpPr>
        <p:spPr>
          <a:xfrm>
            <a:off x="311700" y="1225225"/>
            <a:ext cx="529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Target  (Boston stockbroker)</a:t>
            </a:r>
            <a:endParaRPr/>
          </a:p>
          <a:p>
            <a:pPr indent="-317500" lvl="1" marL="914400" rtl="0" algn="l">
              <a:spcBef>
                <a:spcPts val="0"/>
              </a:spcBef>
              <a:spcAft>
                <a:spcPts val="0"/>
              </a:spcAft>
              <a:buSzPts val="1400"/>
              <a:buChar char="○"/>
            </a:pPr>
            <a:r>
              <a:rPr lang="en"/>
              <a:t>296 participants ("starting persons")</a:t>
            </a:r>
            <a:endParaRPr/>
          </a:p>
          <a:p>
            <a:pPr indent="-317500" lvl="1" marL="914400" rtl="0" algn="l">
              <a:spcBef>
                <a:spcPts val="0"/>
              </a:spcBef>
              <a:spcAft>
                <a:spcPts val="0"/>
              </a:spcAft>
              <a:buSzPts val="1400"/>
              <a:buChar char="○"/>
            </a:pPr>
            <a:r>
              <a:rPr lang="en"/>
              <a:t>196 from Nebraska</a:t>
            </a:r>
            <a:endParaRPr/>
          </a:p>
          <a:p>
            <a:pPr indent="-317500" lvl="2" marL="1371600" rtl="0" algn="l">
              <a:spcBef>
                <a:spcPts val="0"/>
              </a:spcBef>
              <a:spcAft>
                <a:spcPts val="0"/>
              </a:spcAft>
              <a:buSzPts val="1400"/>
              <a:buChar char="■"/>
            </a:pPr>
            <a:r>
              <a:rPr lang="en"/>
              <a:t>100 Stockbrokers</a:t>
            </a:r>
            <a:endParaRPr/>
          </a:p>
          <a:p>
            <a:pPr indent="-317500" lvl="2" marL="1371600" rtl="0" algn="l">
              <a:spcBef>
                <a:spcPts val="0"/>
              </a:spcBef>
              <a:spcAft>
                <a:spcPts val="0"/>
              </a:spcAft>
              <a:buSzPts val="1400"/>
              <a:buChar char="■"/>
            </a:pPr>
            <a:r>
              <a:rPr lang="en"/>
              <a:t>96 Random</a:t>
            </a:r>
            <a:endParaRPr/>
          </a:p>
          <a:p>
            <a:pPr indent="-317500" lvl="1" marL="914400" rtl="0" algn="l">
              <a:spcBef>
                <a:spcPts val="0"/>
              </a:spcBef>
              <a:spcAft>
                <a:spcPts val="0"/>
              </a:spcAft>
              <a:buSzPts val="1400"/>
              <a:buChar char="○"/>
            </a:pPr>
            <a:r>
              <a:rPr lang="en"/>
              <a:t>100 from Boston</a:t>
            </a:r>
            <a:endParaRPr/>
          </a:p>
          <a:p>
            <a:pPr indent="-317500" lvl="1" marL="914400" rtl="0" algn="l">
              <a:spcBef>
                <a:spcPts val="0"/>
              </a:spcBef>
              <a:spcAft>
                <a:spcPts val="0"/>
              </a:spcAft>
              <a:buSzPts val="1400"/>
              <a:buChar char="○"/>
            </a:pPr>
            <a:r>
              <a:rPr lang="en"/>
              <a:t>217 forwarded packet so get to target person</a:t>
            </a:r>
            <a:endParaRPr/>
          </a:p>
          <a:p>
            <a:pPr indent="-317500" lvl="1" marL="914400" rtl="0" algn="l">
              <a:spcBef>
                <a:spcPts val="0"/>
              </a:spcBef>
              <a:spcAft>
                <a:spcPts val="0"/>
              </a:spcAft>
              <a:buSzPts val="1400"/>
              <a:buChar char="○"/>
            </a:pPr>
            <a:r>
              <a:rPr lang="en"/>
              <a:t>453 Intermediaries enlisted by the participants</a:t>
            </a:r>
            <a:endParaRPr/>
          </a:p>
          <a:p>
            <a:pPr indent="-342900" lvl="0" marL="457200" rtl="0" algn="l">
              <a:spcBef>
                <a:spcPts val="0"/>
              </a:spcBef>
              <a:spcAft>
                <a:spcPts val="0"/>
              </a:spcAft>
              <a:buSzPts val="1800"/>
              <a:buChar char="●"/>
            </a:pPr>
            <a:r>
              <a:rPr lang="en"/>
              <a:t>232 incomplete chains (71%)</a:t>
            </a:r>
            <a:endParaRPr/>
          </a:p>
          <a:p>
            <a:pPr indent="-317500" lvl="1" marL="914400" rtl="0" algn="l">
              <a:spcBef>
                <a:spcPts val="0"/>
              </a:spcBef>
              <a:spcAft>
                <a:spcPts val="0"/>
              </a:spcAft>
              <a:buSzPts val="1400"/>
              <a:buChar char="○"/>
            </a:pPr>
            <a:r>
              <a:rPr lang="en"/>
              <a:t>Mean path length: 2.6</a:t>
            </a:r>
            <a:endParaRPr/>
          </a:p>
          <a:p>
            <a:pPr indent="0" lvl="0" marL="0" rtl="0" algn="l">
              <a:spcBef>
                <a:spcPts val="0"/>
              </a:spcBef>
              <a:spcAft>
                <a:spcPts val="0"/>
              </a:spcAft>
              <a:buNone/>
            </a:pPr>
            <a:r>
              <a:t/>
            </a:r>
            <a:endParaRPr/>
          </a:p>
        </p:txBody>
      </p:sp>
      <p:pic>
        <p:nvPicPr>
          <p:cNvPr id="8179" name="Google Shape;8179;p351"/>
          <p:cNvPicPr preferRelativeResize="0"/>
          <p:nvPr/>
        </p:nvPicPr>
        <p:blipFill rotWithShape="1">
          <a:blip r:embed="rId3">
            <a:alphaModFix/>
          </a:blip>
          <a:srcRect b="0" l="8298" r="9384" t="0"/>
          <a:stretch/>
        </p:blipFill>
        <p:spPr>
          <a:xfrm>
            <a:off x="5397350" y="1469400"/>
            <a:ext cx="3434949" cy="2865649"/>
          </a:xfrm>
          <a:prstGeom prst="rect">
            <a:avLst/>
          </a:prstGeom>
          <a:noFill/>
          <a:ln>
            <a:noFill/>
          </a:ln>
        </p:spPr>
      </p:pic>
    </p:spTree>
  </p:cSld>
  <p:clrMapOvr>
    <a:masterClrMapping/>
  </p:clrMapOvr>
</p:sld>
</file>

<file path=ppt/slides/slide3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3" name="Shape 8183"/>
        <p:cNvGrpSpPr/>
        <p:nvPr/>
      </p:nvGrpSpPr>
      <p:grpSpPr>
        <a:xfrm>
          <a:off x="0" y="0"/>
          <a:ext cx="0" cy="0"/>
          <a:chOff x="0" y="0"/>
          <a:chExt cx="0" cy="0"/>
        </a:xfrm>
      </p:grpSpPr>
      <p:sp>
        <p:nvSpPr>
          <p:cNvPr id="8184" name="Google Shape;8184;p3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185" name="Google Shape;8185;p352"/>
          <p:cNvSpPr txBox="1"/>
          <p:nvPr>
            <p:ph idx="1" type="body"/>
          </p:nvPr>
        </p:nvSpPr>
        <p:spPr>
          <a:xfrm>
            <a:off x="311700" y="1225225"/>
            <a:ext cx="55950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Out of the 64 completed chains 26 people made the final link</a:t>
            </a:r>
            <a:endParaRPr/>
          </a:p>
          <a:p>
            <a:pPr indent="-342900" lvl="0" marL="457200" rtl="0" algn="l">
              <a:spcBef>
                <a:spcPts val="0"/>
              </a:spcBef>
              <a:spcAft>
                <a:spcPts val="0"/>
              </a:spcAft>
              <a:buSzPts val="1800"/>
              <a:buChar char="●"/>
            </a:pPr>
            <a:r>
              <a:rPr lang="en"/>
              <a:t>16 (25%) reached the target via a single neighbor: "Mr. G."</a:t>
            </a:r>
            <a:endParaRPr/>
          </a:p>
          <a:p>
            <a:pPr indent="-317500" lvl="1" marL="914400" rtl="0" algn="l">
              <a:spcBef>
                <a:spcPts val="0"/>
              </a:spcBef>
              <a:spcAft>
                <a:spcPts val="0"/>
              </a:spcAft>
              <a:buSzPts val="1400"/>
              <a:buChar char="○"/>
            </a:pPr>
            <a:r>
              <a:rPr lang="en"/>
              <a:t>Another accounted for 10 </a:t>
            </a:r>
            <a:endParaRPr/>
          </a:p>
          <a:p>
            <a:pPr indent="-317500" lvl="1" marL="914400" rtl="0" algn="l">
              <a:spcBef>
                <a:spcPts val="0"/>
              </a:spcBef>
              <a:spcAft>
                <a:spcPts val="0"/>
              </a:spcAft>
              <a:buSzPts val="1400"/>
              <a:buChar char="○"/>
            </a:pPr>
            <a:r>
              <a:rPr lang="en"/>
              <a:t>Another for 5</a:t>
            </a:r>
            <a:endParaRPr/>
          </a:p>
          <a:p>
            <a:pPr indent="-317500" lvl="1" marL="914400" rtl="0" algn="l">
              <a:spcBef>
                <a:spcPts val="0"/>
              </a:spcBef>
              <a:spcAft>
                <a:spcPts val="0"/>
              </a:spcAft>
              <a:buSzPts val="1400"/>
              <a:buChar char="○"/>
            </a:pPr>
            <a:r>
              <a:rPr lang="en"/>
              <a:t>The top three account for 48% of completions </a:t>
            </a:r>
            <a:endParaRPr/>
          </a:p>
          <a:p>
            <a:pPr indent="-342900" lvl="0" marL="457200" rtl="0" algn="l">
              <a:spcBef>
                <a:spcPts val="0"/>
              </a:spcBef>
              <a:spcAft>
                <a:spcPts val="0"/>
              </a:spcAft>
              <a:buSzPts val="1800"/>
              <a:buChar char="●"/>
            </a:pPr>
            <a:r>
              <a:rPr lang="en"/>
              <a:t>86% of “starters” sent the letter to friends and acquaintances</a:t>
            </a:r>
            <a:endParaRPr/>
          </a:p>
          <a:p>
            <a:pPr indent="-317500" lvl="1" marL="914400" rtl="0" algn="l">
              <a:spcBef>
                <a:spcPts val="0"/>
              </a:spcBef>
              <a:spcAft>
                <a:spcPts val="0"/>
              </a:spcAft>
              <a:buSzPts val="1400"/>
              <a:buChar char="○"/>
            </a:pPr>
            <a:r>
              <a:rPr lang="en"/>
              <a:t>14% send it to relatives</a:t>
            </a:r>
            <a:endParaRPr/>
          </a:p>
          <a:p>
            <a:pPr indent="-317500" lvl="1" marL="914400" rtl="0" algn="l">
              <a:spcBef>
                <a:spcPts val="0"/>
              </a:spcBef>
              <a:spcAft>
                <a:spcPts val="0"/>
              </a:spcAft>
              <a:buSzPts val="1400"/>
              <a:buChar char="○"/>
            </a:pPr>
            <a:r>
              <a:rPr lang="en"/>
              <a:t>age, gender, SES homophily in Intermediary choice </a:t>
            </a:r>
            <a:endParaRPr/>
          </a:p>
          <a:p>
            <a:pPr indent="0" lvl="0" marL="0" rtl="0" algn="l">
              <a:spcBef>
                <a:spcPts val="0"/>
              </a:spcBef>
              <a:spcAft>
                <a:spcPts val="0"/>
              </a:spcAft>
              <a:buNone/>
            </a:pPr>
            <a:r>
              <a:t/>
            </a:r>
            <a:endParaRPr/>
          </a:p>
        </p:txBody>
      </p:sp>
      <p:grpSp>
        <p:nvGrpSpPr>
          <p:cNvPr id="8186" name="Google Shape;8186;p352"/>
          <p:cNvGrpSpPr/>
          <p:nvPr/>
        </p:nvGrpSpPr>
        <p:grpSpPr>
          <a:xfrm>
            <a:off x="5906704" y="1225215"/>
            <a:ext cx="2609404" cy="3435684"/>
            <a:chOff x="4963250" y="1775572"/>
            <a:chExt cx="3496454" cy="4805152"/>
          </a:xfrm>
        </p:grpSpPr>
        <p:pic>
          <p:nvPicPr>
            <p:cNvPr id="8187" name="Google Shape;8187;p352"/>
            <p:cNvPicPr preferRelativeResize="0"/>
            <p:nvPr/>
          </p:nvPicPr>
          <p:blipFill>
            <a:blip r:embed="rId3">
              <a:alphaModFix/>
            </a:blip>
            <a:stretch>
              <a:fillRect/>
            </a:stretch>
          </p:blipFill>
          <p:spPr>
            <a:xfrm>
              <a:off x="4963250" y="1775572"/>
              <a:ext cx="3496454" cy="4805152"/>
            </a:xfrm>
            <a:prstGeom prst="rect">
              <a:avLst/>
            </a:prstGeom>
            <a:noFill/>
            <a:ln>
              <a:noFill/>
            </a:ln>
          </p:spPr>
        </p:pic>
        <p:sp>
          <p:nvSpPr>
            <p:cNvPr id="8188" name="Google Shape;8188;p352"/>
            <p:cNvSpPr/>
            <p:nvPr/>
          </p:nvSpPr>
          <p:spPr>
            <a:xfrm>
              <a:off x="6578075" y="2405550"/>
              <a:ext cx="843900" cy="861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9" name="Google Shape;8189;p352"/>
            <p:cNvSpPr/>
            <p:nvPr/>
          </p:nvSpPr>
          <p:spPr>
            <a:xfrm>
              <a:off x="6511800" y="3458925"/>
              <a:ext cx="843900" cy="861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0" name="Google Shape;8190;p352"/>
            <p:cNvSpPr/>
            <p:nvPr/>
          </p:nvSpPr>
          <p:spPr>
            <a:xfrm>
              <a:off x="6511800" y="4206150"/>
              <a:ext cx="843900" cy="861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4" name="Shape 8194"/>
        <p:cNvGrpSpPr/>
        <p:nvPr/>
      </p:nvGrpSpPr>
      <p:grpSpPr>
        <a:xfrm>
          <a:off x="0" y="0"/>
          <a:ext cx="0" cy="0"/>
          <a:chOff x="0" y="0"/>
          <a:chExt cx="0" cy="0"/>
        </a:xfrm>
      </p:grpSpPr>
      <p:sp>
        <p:nvSpPr>
          <p:cNvPr id="8195" name="Google Shape;8195;p3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196" name="Google Shape;8196;p353"/>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Muhammad and Watts (2003) Replication of Milgram</a:t>
            </a:r>
            <a:endParaRPr/>
          </a:p>
          <a:p>
            <a:pPr indent="-317500" lvl="1" marL="914400" rtl="0" algn="l">
              <a:spcBef>
                <a:spcPts val="0"/>
              </a:spcBef>
              <a:spcAft>
                <a:spcPts val="0"/>
              </a:spcAft>
              <a:buSzPts val="1400"/>
              <a:buChar char="○"/>
            </a:pPr>
            <a:r>
              <a:rPr lang="en"/>
              <a:t>Internet based social experiment</a:t>
            </a:r>
            <a:endParaRPr/>
          </a:p>
          <a:p>
            <a:pPr indent="-317500" lvl="2" marL="1371600" rtl="0" algn="l">
              <a:spcBef>
                <a:spcPts val="0"/>
              </a:spcBef>
              <a:spcAft>
                <a:spcPts val="0"/>
              </a:spcAft>
              <a:buSzPts val="1400"/>
              <a:buChar char="■"/>
            </a:pPr>
            <a:r>
              <a:rPr lang="en"/>
              <a:t>18 target persons from 13 countries randomly allocated </a:t>
            </a:r>
            <a:endParaRPr/>
          </a:p>
          <a:p>
            <a:pPr indent="-317500" lvl="2" marL="1371600" rtl="0" algn="l">
              <a:spcBef>
                <a:spcPts val="0"/>
              </a:spcBef>
              <a:spcAft>
                <a:spcPts val="0"/>
              </a:spcAft>
              <a:buSzPts val="1400"/>
              <a:buChar char="■"/>
            </a:pPr>
            <a:r>
              <a:rPr lang="en"/>
              <a:t>98,847 participants registered, 25% initiated a chain</a:t>
            </a:r>
            <a:endParaRPr/>
          </a:p>
          <a:p>
            <a:pPr indent="-317500" lvl="2" marL="1371600" rtl="0" algn="l">
              <a:spcBef>
                <a:spcPts val="0"/>
              </a:spcBef>
              <a:spcAft>
                <a:spcPts val="0"/>
              </a:spcAft>
              <a:buSzPts val="1400"/>
              <a:buChar char="■"/>
            </a:pPr>
            <a:r>
              <a:rPr lang="en"/>
              <a:t>61,168 total participants from 166 countries (including intermediaries)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8197" name="Google Shape;8197;p353"/>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3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1" name="Shape 8201"/>
        <p:cNvGrpSpPr/>
        <p:nvPr/>
      </p:nvGrpSpPr>
      <p:grpSpPr>
        <a:xfrm>
          <a:off x="0" y="0"/>
          <a:ext cx="0" cy="0"/>
          <a:chOff x="0" y="0"/>
          <a:chExt cx="0" cy="0"/>
        </a:xfrm>
      </p:grpSpPr>
      <p:sp>
        <p:nvSpPr>
          <p:cNvPr id="8202" name="Google Shape;8202;p3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03" name="Google Shape;8203;p354"/>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More than half from North America</a:t>
            </a:r>
            <a:endParaRPr/>
          </a:p>
          <a:p>
            <a:pPr indent="-317500" lvl="2" marL="1371600" rtl="0" algn="l">
              <a:spcBef>
                <a:spcPts val="0"/>
              </a:spcBef>
              <a:spcAft>
                <a:spcPts val="0"/>
              </a:spcAft>
              <a:buSzPts val="1400"/>
              <a:buChar char="■"/>
            </a:pPr>
            <a:r>
              <a:rPr lang="en"/>
              <a:t>Middle Class</a:t>
            </a:r>
            <a:endParaRPr/>
          </a:p>
          <a:p>
            <a:pPr indent="-317500" lvl="2" marL="1371600" rtl="0" algn="l">
              <a:spcBef>
                <a:spcPts val="0"/>
              </a:spcBef>
              <a:spcAft>
                <a:spcPts val="0"/>
              </a:spcAft>
              <a:buSzPts val="1400"/>
              <a:buChar char="■"/>
            </a:pPr>
            <a:r>
              <a:rPr lang="en"/>
              <a:t>Professional, College Educated</a:t>
            </a:r>
            <a:endParaRPr/>
          </a:p>
          <a:p>
            <a:pPr indent="-317500" lvl="2" marL="1371600" rtl="0" algn="l">
              <a:spcBef>
                <a:spcPts val="0"/>
              </a:spcBef>
              <a:spcAft>
                <a:spcPts val="0"/>
              </a:spcAft>
              <a:buSzPts val="1400"/>
              <a:buChar char="■"/>
            </a:pPr>
            <a:r>
              <a:rPr lang="en"/>
              <a:t>Largely Christian</a:t>
            </a:r>
            <a:endParaRPr/>
          </a:p>
          <a:p>
            <a:pPr indent="0" lvl="0" marL="457200" rtl="0" algn="l">
              <a:spcBef>
                <a:spcPts val="0"/>
              </a:spcBef>
              <a:spcAft>
                <a:spcPts val="0"/>
              </a:spcAft>
              <a:buNone/>
            </a:pPr>
            <a:r>
              <a:t/>
            </a:r>
            <a:endParaRPr/>
          </a:p>
        </p:txBody>
      </p:sp>
      <p:pic>
        <p:nvPicPr>
          <p:cNvPr id="8204" name="Google Shape;8204;p354"/>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3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8" name="Shape 8208"/>
        <p:cNvGrpSpPr/>
        <p:nvPr/>
      </p:nvGrpSpPr>
      <p:grpSpPr>
        <a:xfrm>
          <a:off x="0" y="0"/>
          <a:ext cx="0" cy="0"/>
          <a:chOff x="0" y="0"/>
          <a:chExt cx="0" cy="0"/>
        </a:xfrm>
      </p:grpSpPr>
      <p:sp>
        <p:nvSpPr>
          <p:cNvPr id="8209" name="Google Shape;8209;p3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10" name="Google Shape;8210;p355"/>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Strong preference for:</a:t>
            </a:r>
            <a:endParaRPr/>
          </a:p>
          <a:p>
            <a:pPr indent="-317500" lvl="2" marL="1371600" rtl="0" algn="l">
              <a:spcBef>
                <a:spcPts val="0"/>
              </a:spcBef>
              <a:spcAft>
                <a:spcPts val="0"/>
              </a:spcAft>
              <a:buSzPts val="1400"/>
              <a:buChar char="■"/>
            </a:pPr>
            <a:r>
              <a:rPr lang="en"/>
              <a:t>Friends as role relations (rather than kin or co-workers)</a:t>
            </a:r>
            <a:endParaRPr/>
          </a:p>
          <a:p>
            <a:pPr indent="-317500" lvl="2" marL="1371600" rtl="0" algn="l">
              <a:spcBef>
                <a:spcPts val="0"/>
              </a:spcBef>
              <a:spcAft>
                <a:spcPts val="0"/>
              </a:spcAft>
              <a:buSzPts val="1400"/>
              <a:buChar char="■"/>
            </a:pPr>
            <a:r>
              <a:rPr lang="en"/>
              <a:t>Ties embedded in work and school affiliations </a:t>
            </a:r>
            <a:endParaRPr/>
          </a:p>
          <a:p>
            <a:pPr indent="-317500" lvl="2" marL="1371600" rtl="0" algn="l">
              <a:spcBef>
                <a:spcPts val="0"/>
              </a:spcBef>
              <a:spcAft>
                <a:spcPts val="0"/>
              </a:spcAft>
              <a:buSzPts val="1400"/>
              <a:buChar char="■"/>
            </a:pPr>
            <a:r>
              <a:rPr lang="en"/>
              <a:t>Ties of Intermediate strength (closeness)</a:t>
            </a:r>
            <a:endParaRPr/>
          </a:p>
          <a:p>
            <a:pPr indent="-317500" lvl="2" marL="1371600" rtl="0" algn="l">
              <a:spcBef>
                <a:spcPts val="0"/>
              </a:spcBef>
              <a:spcAft>
                <a:spcPts val="0"/>
              </a:spcAft>
              <a:buSzPts val="1400"/>
              <a:buChar char="■"/>
            </a:pPr>
            <a:r>
              <a:rPr lang="en"/>
              <a:t>Same-gender ties</a:t>
            </a:r>
            <a:endParaRPr/>
          </a:p>
        </p:txBody>
      </p:sp>
      <p:pic>
        <p:nvPicPr>
          <p:cNvPr id="8211" name="Google Shape;8211;p355"/>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3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5" name="Shape 8215"/>
        <p:cNvGrpSpPr/>
        <p:nvPr/>
      </p:nvGrpSpPr>
      <p:grpSpPr>
        <a:xfrm>
          <a:off x="0" y="0"/>
          <a:ext cx="0" cy="0"/>
          <a:chOff x="0" y="0"/>
          <a:chExt cx="0" cy="0"/>
        </a:xfrm>
      </p:grpSpPr>
      <p:sp>
        <p:nvSpPr>
          <p:cNvPr id="8216" name="Google Shape;8216;p3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17" name="Google Shape;8217;p356"/>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Most effective chains more likely to feature:</a:t>
            </a:r>
            <a:endParaRPr/>
          </a:p>
          <a:p>
            <a:pPr indent="-317500" lvl="2" marL="1371600" rtl="0" algn="l">
              <a:spcBef>
                <a:spcPts val="0"/>
              </a:spcBef>
              <a:spcAft>
                <a:spcPts val="0"/>
              </a:spcAft>
              <a:buSzPts val="1400"/>
              <a:buChar char="■"/>
            </a:pPr>
            <a:r>
              <a:rPr lang="en"/>
              <a:t>Professional ties (in contrast to friend and kin) as role relations</a:t>
            </a:r>
            <a:endParaRPr/>
          </a:p>
          <a:p>
            <a:pPr indent="-317500" lvl="2" marL="1371600" rtl="0" algn="l">
              <a:spcBef>
                <a:spcPts val="0"/>
              </a:spcBef>
              <a:spcAft>
                <a:spcPts val="0"/>
              </a:spcAft>
              <a:buSzPts val="1400"/>
              <a:buChar char="■"/>
            </a:pPr>
            <a:r>
              <a:rPr lang="en"/>
              <a:t>Work or higher education ties as foci</a:t>
            </a:r>
            <a:endParaRPr/>
          </a:p>
          <a:p>
            <a:pPr indent="-317500" lvl="2" marL="1371600" rtl="0" algn="l">
              <a:spcBef>
                <a:spcPts val="0"/>
              </a:spcBef>
              <a:spcAft>
                <a:spcPts val="0"/>
              </a:spcAft>
              <a:buSzPts val="1400"/>
              <a:buChar char="■"/>
            </a:pPr>
            <a:r>
              <a:rPr lang="en"/>
              <a:t>Either causal or “not close” ties in terms of strength</a:t>
            </a:r>
            <a:endParaRPr/>
          </a:p>
          <a:p>
            <a:pPr indent="-317500" lvl="3" marL="1828800" rtl="0" algn="l">
              <a:spcBef>
                <a:spcPts val="0"/>
              </a:spcBef>
              <a:spcAft>
                <a:spcPts val="0"/>
              </a:spcAft>
              <a:buSzPts val="1400"/>
              <a:buChar char="●"/>
            </a:pPr>
            <a:r>
              <a:rPr lang="en"/>
              <a:t>Why this pattern?</a:t>
            </a:r>
            <a:endParaRPr/>
          </a:p>
        </p:txBody>
      </p:sp>
      <p:pic>
        <p:nvPicPr>
          <p:cNvPr id="8218" name="Google Shape;8218;p356"/>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3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2" name="Shape 8222"/>
        <p:cNvGrpSpPr/>
        <p:nvPr/>
      </p:nvGrpSpPr>
      <p:grpSpPr>
        <a:xfrm>
          <a:off x="0" y="0"/>
          <a:ext cx="0" cy="0"/>
          <a:chOff x="0" y="0"/>
          <a:chExt cx="0" cy="0"/>
        </a:xfrm>
      </p:grpSpPr>
      <p:sp>
        <p:nvSpPr>
          <p:cNvPr id="8223" name="Google Shape;8223;p3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24" name="Google Shape;8224;p357"/>
          <p:cNvSpPr txBox="1"/>
          <p:nvPr>
            <p:ph idx="1" type="body"/>
          </p:nvPr>
        </p:nvSpPr>
        <p:spPr>
          <a:xfrm>
            <a:off x="311700" y="1225225"/>
            <a:ext cx="8520600" cy="123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Geographic proximity and similarity of occupation were the primary search heuristics</a:t>
            </a:r>
            <a:endParaRPr/>
          </a:p>
          <a:p>
            <a:pPr indent="-317500" lvl="2" marL="1371600" rtl="0" algn="l">
              <a:spcBef>
                <a:spcPts val="0"/>
              </a:spcBef>
              <a:spcAft>
                <a:spcPts val="0"/>
              </a:spcAft>
              <a:buSzPts val="1400"/>
              <a:buChar char="■"/>
            </a:pPr>
            <a:r>
              <a:rPr lang="en"/>
              <a:t>Number of friends ("hub heuristic") almost never used</a:t>
            </a:r>
            <a:endParaRPr/>
          </a:p>
          <a:p>
            <a:pPr indent="-317500" lvl="2" marL="1371600" rtl="0" algn="l">
              <a:spcBef>
                <a:spcPts val="0"/>
              </a:spcBef>
              <a:spcAft>
                <a:spcPts val="0"/>
              </a:spcAft>
              <a:buSzPts val="1400"/>
              <a:buChar char="■"/>
            </a:pPr>
            <a:r>
              <a:rPr lang="en"/>
              <a:t>Proximity declines and homophily increases in importance with chain length</a:t>
            </a:r>
            <a:endParaRPr/>
          </a:p>
          <a:p>
            <a:pPr indent="0" lvl="0" marL="457200" rtl="0" algn="l">
              <a:spcBef>
                <a:spcPts val="0"/>
              </a:spcBef>
              <a:spcAft>
                <a:spcPts val="0"/>
              </a:spcAft>
              <a:buNone/>
            </a:pPr>
            <a:r>
              <a:t/>
            </a:r>
            <a:endParaRPr/>
          </a:p>
        </p:txBody>
      </p:sp>
      <p:pic>
        <p:nvPicPr>
          <p:cNvPr id="8225" name="Google Shape;8225;p357"/>
          <p:cNvPicPr preferRelativeResize="0"/>
          <p:nvPr/>
        </p:nvPicPr>
        <p:blipFill>
          <a:blip r:embed="rId3">
            <a:alphaModFix/>
          </a:blip>
          <a:stretch>
            <a:fillRect/>
          </a:stretch>
        </p:blipFill>
        <p:spPr>
          <a:xfrm>
            <a:off x="1709200" y="2456125"/>
            <a:ext cx="5725601" cy="2349225"/>
          </a:xfrm>
          <a:prstGeom prst="rect">
            <a:avLst/>
          </a:prstGeom>
          <a:noFill/>
          <a:ln>
            <a:noFill/>
          </a:ln>
        </p:spPr>
      </p:pic>
    </p:spTree>
  </p:cSld>
  <p:clrMapOvr>
    <a:masterClrMapping/>
  </p:clrMapOvr>
</p:sld>
</file>

<file path=ppt/slides/slide3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9" name="Shape 8229"/>
        <p:cNvGrpSpPr/>
        <p:nvPr/>
      </p:nvGrpSpPr>
      <p:grpSpPr>
        <a:xfrm>
          <a:off x="0" y="0"/>
          <a:ext cx="0" cy="0"/>
          <a:chOff x="0" y="0"/>
          <a:chExt cx="0" cy="0"/>
        </a:xfrm>
      </p:grpSpPr>
      <p:sp>
        <p:nvSpPr>
          <p:cNvPr id="8230" name="Google Shape;8230;p3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31" name="Google Shape;8231;p358"/>
          <p:cNvSpPr txBox="1"/>
          <p:nvPr>
            <p:ph idx="1" type="body"/>
          </p:nvPr>
        </p:nvSpPr>
        <p:spPr>
          <a:xfrm>
            <a:off x="311700" y="1225225"/>
            <a:ext cx="29007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384 completed chains (out 24,163); Average (L): 4.05</a:t>
            </a:r>
            <a:endParaRPr/>
          </a:p>
          <a:p>
            <a:pPr indent="-342900" lvl="0" marL="457200" rtl="0" algn="l">
              <a:spcBef>
                <a:spcPts val="0"/>
              </a:spcBef>
              <a:spcAft>
                <a:spcPts val="0"/>
              </a:spcAft>
              <a:buSzPts val="1800"/>
              <a:buChar char="●"/>
            </a:pPr>
            <a:r>
              <a:rPr lang="en"/>
              <a:t>Corrected for attrition the median chain length is between 5 and 7</a:t>
            </a:r>
            <a:endParaRPr/>
          </a:p>
        </p:txBody>
      </p:sp>
      <p:pic>
        <p:nvPicPr>
          <p:cNvPr id="8232" name="Google Shape;8232;p358"/>
          <p:cNvPicPr preferRelativeResize="0"/>
          <p:nvPr/>
        </p:nvPicPr>
        <p:blipFill>
          <a:blip r:embed="rId3">
            <a:alphaModFix/>
          </a:blip>
          <a:stretch>
            <a:fillRect/>
          </a:stretch>
        </p:blipFill>
        <p:spPr>
          <a:xfrm>
            <a:off x="3365000" y="1517350"/>
            <a:ext cx="5467300" cy="2986951"/>
          </a:xfrm>
          <a:prstGeom prst="rect">
            <a:avLst/>
          </a:prstGeom>
          <a:noFill/>
          <a:ln>
            <a:noFill/>
          </a:ln>
        </p:spPr>
      </p:pic>
    </p:spTree>
  </p:cSld>
  <p:clrMapOvr>
    <a:masterClrMapping/>
  </p:clrMapOvr>
</p:sld>
</file>

<file path=ppt/slides/slide3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6" name="Shape 8236"/>
        <p:cNvGrpSpPr/>
        <p:nvPr/>
      </p:nvGrpSpPr>
      <p:grpSpPr>
        <a:xfrm>
          <a:off x="0" y="0"/>
          <a:ext cx="0" cy="0"/>
          <a:chOff x="0" y="0"/>
          <a:chExt cx="0" cy="0"/>
        </a:xfrm>
      </p:grpSpPr>
      <p:sp>
        <p:nvSpPr>
          <p:cNvPr id="8237" name="Google Shape;8237;p3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38" name="Google Shape;8238;p359"/>
          <p:cNvSpPr txBox="1"/>
          <p:nvPr>
            <p:ph idx="1" type="body"/>
          </p:nvPr>
        </p:nvSpPr>
        <p:spPr>
          <a:xfrm>
            <a:off x="311700" y="1225225"/>
            <a:ext cx="85206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Why are real human social networks (seemingly) searchable? </a:t>
            </a:r>
            <a:endParaRPr/>
          </a:p>
          <a:p>
            <a:pPr indent="-317500" lvl="1" marL="914400" rtl="0" algn="l">
              <a:spcBef>
                <a:spcPts val="0"/>
              </a:spcBef>
              <a:spcAft>
                <a:spcPts val="0"/>
              </a:spcAft>
              <a:buSzPts val="1400"/>
              <a:buChar char="○"/>
            </a:pPr>
            <a:r>
              <a:rPr lang="en"/>
              <a:t>Watts, Dodds and Newman (2002) propose a model in which organization around nested groups (communities) is key:</a:t>
            </a:r>
            <a:endParaRPr/>
          </a:p>
          <a:p>
            <a:pPr indent="-317500" lvl="2" marL="1371600" rtl="0" algn="l">
              <a:spcBef>
                <a:spcPts val="0"/>
              </a:spcBef>
              <a:spcAft>
                <a:spcPts val="0"/>
              </a:spcAft>
              <a:buSzPts val="1400"/>
              <a:buChar char="■"/>
            </a:pPr>
            <a:r>
              <a:rPr lang="en"/>
              <a:t>Individuals interpret the world as a set of (nested) groups</a:t>
            </a:r>
            <a:endParaRPr/>
          </a:p>
          <a:p>
            <a:pPr indent="-317500" lvl="2" marL="1371600" rtl="0" algn="l">
              <a:spcBef>
                <a:spcPts val="0"/>
              </a:spcBef>
              <a:spcAft>
                <a:spcPts val="0"/>
              </a:spcAft>
              <a:buSzPts val="1400"/>
              <a:buChar char="■"/>
            </a:pPr>
            <a:r>
              <a:rPr lang="en"/>
              <a:t>They bottom out at a (cognitively) manageable group size</a:t>
            </a:r>
            <a:endParaRPr/>
          </a:p>
          <a:p>
            <a:pPr indent="-342900" lvl="0" marL="457200" rtl="0" algn="l">
              <a:spcBef>
                <a:spcPts val="0"/>
              </a:spcBef>
              <a:spcAft>
                <a:spcPts val="0"/>
              </a:spcAft>
              <a:buSzPts val="1800"/>
              <a:buChar char="●"/>
            </a:pPr>
            <a:r>
              <a:rPr lang="en"/>
              <a:t>Research on the search strategies used in natural contexts lead to a simple heuristic used to construct a path to a random person</a:t>
            </a:r>
            <a:endParaRPr/>
          </a:p>
          <a:p>
            <a:pPr indent="-317500" lvl="1" marL="914400" rtl="0" algn="l">
              <a:spcBef>
                <a:spcPts val="0"/>
              </a:spcBef>
              <a:spcAft>
                <a:spcPts val="0"/>
              </a:spcAft>
              <a:buSzPts val="1400"/>
              <a:buChar char="○"/>
            </a:pPr>
            <a:r>
              <a:rPr lang="en"/>
              <a:t>Use homophily on certain characteristics as a proxy for graph-theoretic distance between target and contact (proximity strategy)</a:t>
            </a:r>
            <a:endParaRPr/>
          </a:p>
          <a:p>
            <a:pPr indent="-342900" lvl="0" marL="457200" rtl="0" algn="l">
              <a:spcBef>
                <a:spcPts val="0"/>
              </a:spcBef>
              <a:spcAft>
                <a:spcPts val="0"/>
              </a:spcAft>
              <a:buSzPts val="1800"/>
              <a:buChar char="●"/>
            </a:pPr>
            <a:r>
              <a:rPr lang="en"/>
              <a:t>Another useful heuristic</a:t>
            </a:r>
            <a:endParaRPr/>
          </a:p>
          <a:p>
            <a:pPr indent="-317500" lvl="1" marL="914400" rtl="0" algn="l">
              <a:spcBef>
                <a:spcPts val="0"/>
              </a:spcBef>
              <a:spcAft>
                <a:spcPts val="0"/>
              </a:spcAft>
              <a:buSzPts val="1400"/>
              <a:buChar char="○"/>
            </a:pPr>
            <a:r>
              <a:rPr lang="en"/>
              <a:t>Use characteristics associated with connectivity (e.g. high status characteristics) to select a contact (hub strategy)</a:t>
            </a:r>
            <a:endParaRPr/>
          </a:p>
          <a:p>
            <a:pPr indent="0" lvl="0" marL="0" rtl="0" algn="l">
              <a:spcBef>
                <a:spcPts val="0"/>
              </a:spcBef>
              <a:spcAft>
                <a:spcPts val="0"/>
              </a:spcAft>
              <a:buNone/>
            </a:pPr>
            <a:r>
              <a:t/>
            </a:r>
            <a:endParaRPr/>
          </a:p>
        </p:txBody>
      </p:sp>
    </p:spTree>
  </p:cSld>
  <p:clrMapOvr>
    <a:masterClrMapping/>
  </p:clrMapOvr>
</p:sld>
</file>

<file path=ppt/slides/slide3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42" name="Shape 8242"/>
        <p:cNvGrpSpPr/>
        <p:nvPr/>
      </p:nvGrpSpPr>
      <p:grpSpPr>
        <a:xfrm>
          <a:off x="0" y="0"/>
          <a:ext cx="0" cy="0"/>
          <a:chOff x="0" y="0"/>
          <a:chExt cx="0" cy="0"/>
        </a:xfrm>
      </p:grpSpPr>
      <p:sp>
        <p:nvSpPr>
          <p:cNvPr id="8243" name="Google Shape;8243;p3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44" name="Google Shape;8244;p360"/>
          <p:cNvSpPr txBox="1"/>
          <p:nvPr>
            <p:ph idx="1" type="body"/>
          </p:nvPr>
        </p:nvSpPr>
        <p:spPr>
          <a:xfrm>
            <a:off x="311700" y="1225225"/>
            <a:ext cx="85206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may differentiate between the two facets of the SW phenomenon as providing answers to two different empirical questions:</a:t>
            </a:r>
            <a:endParaRPr/>
          </a:p>
          <a:p>
            <a:pPr indent="-317500" lvl="1" marL="914400" rtl="0" algn="l">
              <a:spcBef>
                <a:spcPts val="0"/>
              </a:spcBef>
              <a:spcAft>
                <a:spcPts val="0"/>
              </a:spcAft>
              <a:buSzPts val="1400"/>
              <a:buChar char="○"/>
            </a:pPr>
            <a:r>
              <a:rPr lang="en"/>
              <a:t>SW1: Why should there exist short chains of acquaintances linking together arbitrary pairs of strangers? 	</a:t>
            </a:r>
            <a:endParaRPr/>
          </a:p>
          <a:p>
            <a:pPr indent="-317500" lvl="2" marL="1371600" rtl="0" algn="l">
              <a:spcBef>
                <a:spcPts val="0"/>
              </a:spcBef>
              <a:spcAft>
                <a:spcPts val="0"/>
              </a:spcAft>
              <a:buSzPts val="1400"/>
              <a:buChar char="■"/>
            </a:pPr>
            <a:r>
              <a:rPr lang="en"/>
              <a:t>This is the </a:t>
            </a:r>
            <a:r>
              <a:rPr b="1" lang="en"/>
              <a:t>Small World Problem</a:t>
            </a:r>
            <a:endParaRPr b="1"/>
          </a:p>
          <a:p>
            <a:pPr indent="-317500" lvl="1" marL="914400" rtl="0" algn="l">
              <a:spcBef>
                <a:spcPts val="0"/>
              </a:spcBef>
              <a:spcAft>
                <a:spcPts val="0"/>
              </a:spcAft>
              <a:buSzPts val="1400"/>
              <a:buChar char="○"/>
            </a:pPr>
            <a:r>
              <a:rPr lang="en"/>
              <a:t>SW2: Given SW1, why should an agent be able to find short chains of acquaintances that links her to a random stranger? </a:t>
            </a:r>
            <a:endParaRPr/>
          </a:p>
          <a:p>
            <a:pPr indent="-317500" lvl="2" marL="1371600" rtl="0" algn="l">
              <a:spcBef>
                <a:spcPts val="0"/>
              </a:spcBef>
              <a:spcAft>
                <a:spcPts val="0"/>
              </a:spcAft>
              <a:buSzPts val="1400"/>
              <a:buChar char="■"/>
            </a:pPr>
            <a:r>
              <a:rPr lang="en"/>
              <a:t>This is the </a:t>
            </a:r>
            <a:r>
              <a:rPr b="1" lang="en"/>
              <a:t>Search Problem</a:t>
            </a:r>
            <a:endParaRPr b="1"/>
          </a:p>
          <a:p>
            <a:pPr indent="-342900" lvl="0" marL="457200" rtl="0" algn="l">
              <a:spcBef>
                <a:spcPts val="0"/>
              </a:spcBef>
              <a:spcAft>
                <a:spcPts val="0"/>
              </a:spcAft>
              <a:buSzPts val="1800"/>
              <a:buChar char="●"/>
            </a:pPr>
            <a:r>
              <a:rPr lang="en"/>
              <a:t>The problem: not all small world networks are searchable </a:t>
            </a:r>
            <a:endParaRPr/>
          </a:p>
          <a:p>
            <a:pPr indent="-317500" lvl="1" marL="914400" rtl="0" algn="l">
              <a:spcBef>
                <a:spcPts val="0"/>
              </a:spcBef>
              <a:spcAft>
                <a:spcPts val="0"/>
              </a:spcAft>
              <a:buSzPts val="1400"/>
              <a:buChar char="○"/>
            </a:pPr>
            <a:r>
              <a:rPr lang="en"/>
              <a:t>Kleinberg (2000) showed that searchable SW structures exist for only a very limited range of random connectivity</a:t>
            </a:r>
            <a:endParaRPr/>
          </a:p>
          <a:p>
            <a:pPr indent="-317500" lvl="1" marL="914400" rtl="0" algn="l">
              <a:spcBef>
                <a:spcPts val="0"/>
              </a:spcBef>
              <a:spcAft>
                <a:spcPts val="0"/>
              </a:spcAft>
              <a:buSzPts val="1400"/>
              <a:buChar char="○"/>
            </a:pPr>
            <a:r>
              <a:rPr lang="en"/>
              <a:t>Too much randomness and navigability is lost</a:t>
            </a:r>
            <a:endParaRPr/>
          </a:p>
          <a:p>
            <a:pPr indent="0" lvl="0" marL="0" rtl="0" algn="l">
              <a:spcBef>
                <a:spcPts val="0"/>
              </a:spcBef>
              <a:spcAft>
                <a:spcPts val="0"/>
              </a:spcAft>
              <a:buNone/>
            </a:pPr>
            <a:r>
              <a:t/>
            </a:r>
            <a:endParaRPr/>
          </a:p>
        </p:txBody>
      </p:sp>
    </p:spTree>
  </p:cSld>
  <p:clrMapOvr>
    <a:masterClrMapping/>
  </p:clrMapOvr>
</p:sld>
</file>

<file path=ppt/slides/slide3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48" name="Shape 8248"/>
        <p:cNvGrpSpPr/>
        <p:nvPr/>
      </p:nvGrpSpPr>
      <p:grpSpPr>
        <a:xfrm>
          <a:off x="0" y="0"/>
          <a:ext cx="0" cy="0"/>
          <a:chOff x="0" y="0"/>
          <a:chExt cx="0" cy="0"/>
        </a:xfrm>
      </p:grpSpPr>
      <p:sp>
        <p:nvSpPr>
          <p:cNvPr id="8249" name="Google Shape;8249;p3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50" name="Google Shape;8250;p361"/>
          <p:cNvSpPr txBox="1"/>
          <p:nvPr>
            <p:ph idx="1" type="body"/>
          </p:nvPr>
        </p:nvSpPr>
        <p:spPr>
          <a:xfrm>
            <a:off x="311700" y="1225225"/>
            <a:ext cx="85206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may differentiate between the two facets of the SW phenomenon as providing answers to two different empirical questions:</a:t>
            </a:r>
            <a:endParaRPr/>
          </a:p>
          <a:p>
            <a:pPr indent="-317500" lvl="1" marL="914400" rtl="0" algn="l">
              <a:spcBef>
                <a:spcPts val="0"/>
              </a:spcBef>
              <a:spcAft>
                <a:spcPts val="0"/>
              </a:spcAft>
              <a:buSzPts val="1400"/>
              <a:buChar char="○"/>
            </a:pPr>
            <a:r>
              <a:rPr lang="en"/>
              <a:t>SW1: Why should there exist short chains of acquaintances linking together arbitrary pairs of strangers? 	</a:t>
            </a:r>
            <a:endParaRPr/>
          </a:p>
          <a:p>
            <a:pPr indent="-317500" lvl="2" marL="1371600" rtl="0" algn="l">
              <a:spcBef>
                <a:spcPts val="0"/>
              </a:spcBef>
              <a:spcAft>
                <a:spcPts val="0"/>
              </a:spcAft>
              <a:buSzPts val="1400"/>
              <a:buChar char="■"/>
            </a:pPr>
            <a:r>
              <a:rPr lang="en"/>
              <a:t>This is the </a:t>
            </a:r>
            <a:r>
              <a:rPr b="1" lang="en"/>
              <a:t>Small World Problem</a:t>
            </a:r>
            <a:endParaRPr b="1"/>
          </a:p>
          <a:p>
            <a:pPr indent="-317500" lvl="1" marL="914400" rtl="0" algn="l">
              <a:spcBef>
                <a:spcPts val="0"/>
              </a:spcBef>
              <a:spcAft>
                <a:spcPts val="0"/>
              </a:spcAft>
              <a:buSzPts val="1400"/>
              <a:buChar char="○"/>
            </a:pPr>
            <a:r>
              <a:rPr lang="en"/>
              <a:t>SW2: Given SW1, why should an agent be able to find short chains of acquaintances that links her to a random stranger? </a:t>
            </a:r>
            <a:endParaRPr/>
          </a:p>
          <a:p>
            <a:pPr indent="-317500" lvl="2" marL="1371600" rtl="0" algn="l">
              <a:spcBef>
                <a:spcPts val="0"/>
              </a:spcBef>
              <a:spcAft>
                <a:spcPts val="0"/>
              </a:spcAft>
              <a:buSzPts val="1400"/>
              <a:buChar char="■"/>
            </a:pPr>
            <a:r>
              <a:rPr lang="en"/>
              <a:t>This is the </a:t>
            </a:r>
            <a:r>
              <a:rPr b="1" lang="en"/>
              <a:t>Search Problem</a:t>
            </a:r>
            <a:endParaRPr b="1"/>
          </a:p>
          <a:p>
            <a:pPr indent="-342900" lvl="0" marL="457200" rtl="0" algn="l">
              <a:spcBef>
                <a:spcPts val="0"/>
              </a:spcBef>
              <a:spcAft>
                <a:spcPts val="0"/>
              </a:spcAft>
              <a:buSzPts val="1800"/>
              <a:buChar char="●"/>
            </a:pPr>
            <a:r>
              <a:rPr lang="en"/>
              <a:t>The two issues are distinct because SW1 can hold without SW2 being true</a:t>
            </a:r>
            <a:endParaRPr/>
          </a:p>
          <a:p>
            <a:pPr indent="-317500" lvl="1" marL="914400" rtl="0" algn="l">
              <a:spcBef>
                <a:spcPts val="0"/>
              </a:spcBef>
              <a:spcAft>
                <a:spcPts val="0"/>
              </a:spcAft>
              <a:buSzPts val="1400"/>
              <a:buChar char="○"/>
            </a:pPr>
            <a:r>
              <a:rPr lang="en"/>
              <a:t>Real human social networks are both “small” and “searchable” different theories apply:</a:t>
            </a:r>
            <a:endParaRPr/>
          </a:p>
          <a:p>
            <a:pPr indent="-317500" lvl="2" marL="1371600" rtl="0" algn="l">
              <a:spcBef>
                <a:spcPts val="0"/>
              </a:spcBef>
              <a:spcAft>
                <a:spcPts val="0"/>
              </a:spcAft>
              <a:buSzPts val="1400"/>
              <a:buChar char="■"/>
            </a:pPr>
            <a:r>
              <a:rPr lang="en"/>
              <a:t>Structural</a:t>
            </a:r>
            <a:endParaRPr/>
          </a:p>
          <a:p>
            <a:pPr indent="-317500" lvl="2" marL="1371600" rtl="0" algn="l">
              <a:spcBef>
                <a:spcPts val="0"/>
              </a:spcBef>
              <a:spcAft>
                <a:spcPts val="0"/>
              </a:spcAft>
              <a:buSzPts val="1400"/>
              <a:buChar char="■"/>
            </a:pPr>
            <a:r>
              <a:rPr lang="en"/>
              <a:t>Social psychological/heuristics</a:t>
            </a:r>
            <a:endParaRPr/>
          </a:p>
          <a:p>
            <a:pPr indent="0" lvl="0" marL="457200" rtl="0" algn="l">
              <a:spcBef>
                <a:spcPts val="0"/>
              </a:spcBef>
              <a:spcAft>
                <a:spcPts val="0"/>
              </a:spcAft>
              <a:buNone/>
            </a:pPr>
            <a:r>
              <a:rPr lang="en"/>
              <a:t> </a:t>
            </a:r>
            <a:endParaRPr/>
          </a:p>
          <a:p>
            <a:pPr indent="0" lvl="0" marL="0" rtl="0" algn="l">
              <a:spcBef>
                <a:spcPts val="0"/>
              </a:spcBef>
              <a:spcAft>
                <a:spcPts val="0"/>
              </a:spcAft>
              <a:buNone/>
            </a:pPr>
            <a:r>
              <a:t/>
            </a:r>
            <a:endParaRPr/>
          </a:p>
        </p:txBody>
      </p:sp>
    </p:spTree>
  </p:cSld>
  <p:clrMapOvr>
    <a:masterClrMapping/>
  </p:clrMapOvr>
</p:sld>
</file>

<file path=ppt/slides/slide3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54" name="Shape 8254"/>
        <p:cNvGrpSpPr/>
        <p:nvPr/>
      </p:nvGrpSpPr>
      <p:grpSpPr>
        <a:xfrm>
          <a:off x="0" y="0"/>
          <a:ext cx="0" cy="0"/>
          <a:chOff x="0" y="0"/>
          <a:chExt cx="0" cy="0"/>
        </a:xfrm>
      </p:grpSpPr>
      <p:sp>
        <p:nvSpPr>
          <p:cNvPr id="8255" name="Google Shape;8255;p3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graphicFrame>
        <p:nvGraphicFramePr>
          <p:cNvPr id="8256" name="Google Shape;8256;p362"/>
          <p:cNvGraphicFramePr/>
          <p:nvPr/>
        </p:nvGraphicFramePr>
        <p:xfrm>
          <a:off x="464950" y="1147235"/>
          <a:ext cx="3000000" cy="3000000"/>
        </p:xfrm>
        <a:graphic>
          <a:graphicData uri="http://schemas.openxmlformats.org/drawingml/2006/table">
            <a:tbl>
              <a:tblPr>
                <a:noFill/>
                <a:tableStyleId>{ADEDD61C-FC12-4F99-8BC0-93F9548867E3}</a:tableStyleId>
              </a:tblPr>
              <a:tblGrid>
                <a:gridCol w="3351450"/>
                <a:gridCol w="1632725"/>
                <a:gridCol w="3229925"/>
              </a:tblGrid>
              <a:tr h="417000">
                <a:tc>
                  <a:txBody>
                    <a:bodyPr/>
                    <a:lstStyle/>
                    <a:p>
                      <a:pPr indent="0" lvl="0" marL="0" rtl="0" algn="ctr">
                        <a:spcBef>
                          <a:spcPts val="0"/>
                        </a:spcBef>
                        <a:spcAft>
                          <a:spcPts val="0"/>
                        </a:spcAft>
                        <a:buNone/>
                      </a:pPr>
                      <a:r>
                        <a:rPr b="1" lang="en" sz="1800">
                          <a:latin typeface="Open Sans"/>
                          <a:ea typeface="Open Sans"/>
                          <a:cs typeface="Open Sans"/>
                          <a:sym typeface="Open Sans"/>
                        </a:rPr>
                        <a:t>SW1</a:t>
                      </a:r>
                      <a:endParaRPr b="1" sz="1800">
                        <a:latin typeface="Open Sans"/>
                        <a:ea typeface="Open Sans"/>
                        <a:cs typeface="Open Sans"/>
                        <a:sym typeface="Open Sans"/>
                      </a:endParaRPr>
                    </a:p>
                  </a:txBody>
                  <a:tcPr marT="91425" marB="91425" marR="91425" marL="91425"/>
                </a:tc>
                <a:tc>
                  <a:txBody>
                    <a:bodyPr/>
                    <a:lstStyle/>
                    <a:p>
                      <a:pPr indent="0" lvl="0" marL="0" rtl="0" algn="ctr">
                        <a:spcBef>
                          <a:spcPts val="0"/>
                        </a:spcBef>
                        <a:spcAft>
                          <a:spcPts val="0"/>
                        </a:spcAft>
                        <a:buNone/>
                      </a:pPr>
                      <a:r>
                        <a:t/>
                      </a:r>
                      <a:endParaRPr b="1" sz="1800">
                        <a:latin typeface="Open Sans"/>
                        <a:ea typeface="Open Sans"/>
                        <a:cs typeface="Open Sans"/>
                        <a:sym typeface="Open Sans"/>
                      </a:endParaRPr>
                    </a:p>
                  </a:txBody>
                  <a:tcPr marT="91425" marB="91425" marR="91425" marL="91425"/>
                </a:tc>
                <a:tc>
                  <a:txBody>
                    <a:bodyPr/>
                    <a:lstStyle/>
                    <a:p>
                      <a:pPr indent="0" lvl="0" marL="0" rtl="0" algn="ctr">
                        <a:spcBef>
                          <a:spcPts val="0"/>
                        </a:spcBef>
                        <a:spcAft>
                          <a:spcPts val="0"/>
                        </a:spcAft>
                        <a:buNone/>
                      </a:pPr>
                      <a:r>
                        <a:rPr b="1" lang="en" sz="1800">
                          <a:latin typeface="Open Sans"/>
                          <a:ea typeface="Open Sans"/>
                          <a:cs typeface="Open Sans"/>
                          <a:sym typeface="Open Sans"/>
                        </a:rPr>
                        <a:t>SW2</a:t>
                      </a:r>
                      <a:endParaRPr b="1" sz="1800">
                        <a:latin typeface="Open Sans"/>
                        <a:ea typeface="Open Sans"/>
                        <a:cs typeface="Open Sans"/>
                        <a:sym typeface="Open Sans"/>
                      </a:endParaRPr>
                    </a:p>
                  </a:txBody>
                  <a:tcPr marT="91425" marB="91425" marR="91425" marL="91425"/>
                </a:tc>
              </a:tr>
              <a:tr h="964350">
                <a:tc>
                  <a:txBody>
                    <a:bodyPr/>
                    <a:lstStyle/>
                    <a:p>
                      <a:pPr indent="0" lvl="0" marL="0" rtl="0" algn="l">
                        <a:spcBef>
                          <a:spcPts val="0"/>
                        </a:spcBef>
                        <a:spcAft>
                          <a:spcPts val="0"/>
                        </a:spcAft>
                        <a:buNone/>
                      </a:pPr>
                      <a:r>
                        <a:rPr lang="en" sz="1800">
                          <a:latin typeface="Open Sans"/>
                          <a:ea typeface="Open Sans"/>
                          <a:cs typeface="Open Sans"/>
                          <a:sym typeface="Open Sans"/>
                        </a:rPr>
                        <a:t>Contagion/</a:t>
                      </a:r>
                      <a:r>
                        <a:rPr lang="en" sz="1800">
                          <a:latin typeface="Open Sans"/>
                          <a:ea typeface="Open Sans"/>
                          <a:cs typeface="Open Sans"/>
                          <a:sym typeface="Open Sans"/>
                        </a:rPr>
                        <a:t>Sp</a:t>
                      </a:r>
                      <a:r>
                        <a:rPr lang="en" sz="1800">
                          <a:latin typeface="Open Sans"/>
                          <a:ea typeface="Open Sans"/>
                          <a:cs typeface="Open Sans"/>
                          <a:sym typeface="Open Sans"/>
                        </a:rPr>
                        <a:t>read/</a:t>
                      </a:r>
                      <a:endParaRPr sz="1800">
                        <a:latin typeface="Open Sans"/>
                        <a:ea typeface="Open Sans"/>
                        <a:cs typeface="Open Sans"/>
                        <a:sym typeface="Open Sans"/>
                      </a:endParaRPr>
                    </a:p>
                    <a:p>
                      <a:pPr indent="0" lvl="0" marL="0" rtl="0" algn="l">
                        <a:spcBef>
                          <a:spcPts val="0"/>
                        </a:spcBef>
                        <a:spcAft>
                          <a:spcPts val="0"/>
                        </a:spcAft>
                        <a:buNone/>
                      </a:pPr>
                      <a:r>
                        <a:rPr lang="en" sz="1800">
                          <a:latin typeface="Open Sans"/>
                          <a:ea typeface="Open Sans"/>
                          <a:cs typeface="Open Sans"/>
                          <a:sym typeface="Open Sans"/>
                        </a:rPr>
                        <a:t>Transmission/Diffusion (unguided)</a:t>
                      </a:r>
                      <a:endParaRPr sz="1800">
                        <a:latin typeface="Open Sans"/>
                        <a:ea typeface="Open Sans"/>
                        <a:cs typeface="Open Sans"/>
                        <a:sym typeface="Open Sans"/>
                      </a:endParaRPr>
                    </a:p>
                  </a:txBody>
                  <a:tcPr marT="91425" marB="91425" marR="91425" marL="91425" anchor="ctr"/>
                </a:tc>
                <a:tc>
                  <a:txBody>
                    <a:bodyPr/>
                    <a:lstStyle/>
                    <a:p>
                      <a:pPr indent="0" lvl="0" marL="0" rtl="0" algn="ctr">
                        <a:spcBef>
                          <a:spcPts val="0"/>
                        </a:spcBef>
                        <a:spcAft>
                          <a:spcPts val="0"/>
                        </a:spcAft>
                        <a:buNone/>
                      </a:pPr>
                      <a:r>
                        <a:rPr i="1" lang="en" sz="1800">
                          <a:latin typeface="Open Sans"/>
                          <a:ea typeface="Open Sans"/>
                          <a:cs typeface="Open Sans"/>
                          <a:sym typeface="Open Sans"/>
                        </a:rPr>
                        <a:t>Process</a:t>
                      </a:r>
                      <a:endParaRPr i="1" sz="1800">
                        <a:latin typeface="Open Sans"/>
                        <a:ea typeface="Open Sans"/>
                        <a:cs typeface="Open Sans"/>
                        <a:sym typeface="Open Sans"/>
                      </a:endParaRPr>
                    </a:p>
                  </a:txBody>
                  <a:tcPr marT="91425" marB="91425" marR="91425" marL="91425" anchor="ctr"/>
                </a:tc>
                <a:tc>
                  <a:txBody>
                    <a:bodyPr/>
                    <a:lstStyle/>
                    <a:p>
                      <a:pPr indent="0" lvl="0" marL="0" rtl="0" algn="l">
                        <a:spcBef>
                          <a:spcPts val="0"/>
                        </a:spcBef>
                        <a:spcAft>
                          <a:spcPts val="0"/>
                        </a:spcAft>
                        <a:buNone/>
                      </a:pPr>
                      <a:r>
                        <a:rPr lang="en" sz="1800">
                          <a:latin typeface="Open Sans"/>
                          <a:ea typeface="Open Sans"/>
                          <a:cs typeface="Open Sans"/>
                          <a:sym typeface="Open Sans"/>
                        </a:rPr>
                        <a:t>Directed Search (guided)</a:t>
                      </a:r>
                      <a:endParaRPr sz="1800">
                        <a:latin typeface="Open Sans"/>
                        <a:ea typeface="Open Sans"/>
                        <a:cs typeface="Open Sans"/>
                        <a:sym typeface="Open Sans"/>
                      </a:endParaRPr>
                    </a:p>
                  </a:txBody>
                  <a:tcPr marT="91425" marB="91425" marR="91425" marL="91425" anchor="ctr"/>
                </a:tc>
              </a:tr>
              <a:tr h="689225">
                <a:tc>
                  <a:txBody>
                    <a:bodyPr/>
                    <a:lstStyle/>
                    <a:p>
                      <a:pPr indent="0" lvl="0" marL="0" rtl="0" algn="l">
                        <a:spcBef>
                          <a:spcPts val="0"/>
                        </a:spcBef>
                        <a:spcAft>
                          <a:spcPts val="0"/>
                        </a:spcAft>
                        <a:buNone/>
                      </a:pPr>
                      <a:r>
                        <a:rPr lang="en" sz="1800">
                          <a:latin typeface="Open Sans"/>
                          <a:ea typeface="Open Sans"/>
                          <a:cs typeface="Open Sans"/>
                          <a:sym typeface="Open Sans"/>
                        </a:rPr>
                        <a:t>Small World Structure </a:t>
                      </a:r>
                      <a:endParaRPr sz="1800">
                        <a:latin typeface="Open Sans"/>
                        <a:ea typeface="Open Sans"/>
                        <a:cs typeface="Open Sans"/>
                        <a:sym typeface="Open Sans"/>
                      </a:endParaRPr>
                    </a:p>
                    <a:p>
                      <a:pPr indent="0" lvl="0" marL="0" rtl="0" algn="l">
                        <a:spcBef>
                          <a:spcPts val="0"/>
                        </a:spcBef>
                        <a:spcAft>
                          <a:spcPts val="0"/>
                        </a:spcAft>
                        <a:buNone/>
                      </a:pPr>
                      <a:r>
                        <a:rPr lang="en" sz="1800">
                          <a:latin typeface="Open Sans"/>
                          <a:ea typeface="Open Sans"/>
                          <a:cs typeface="Open Sans"/>
                          <a:sym typeface="Open Sans"/>
                        </a:rPr>
                        <a:t>(Big C plus Small L)</a:t>
                      </a:r>
                      <a:endParaRPr sz="1800">
                        <a:latin typeface="Open Sans"/>
                        <a:ea typeface="Open Sans"/>
                        <a:cs typeface="Open Sans"/>
                        <a:sym typeface="Open Sans"/>
                      </a:endParaRPr>
                    </a:p>
                  </a:txBody>
                  <a:tcPr marT="91425" marB="91425" marR="91425" marL="91425" anchor="ctr"/>
                </a:tc>
                <a:tc>
                  <a:txBody>
                    <a:bodyPr/>
                    <a:lstStyle/>
                    <a:p>
                      <a:pPr indent="0" lvl="0" marL="0" rtl="0" algn="ctr">
                        <a:spcBef>
                          <a:spcPts val="0"/>
                        </a:spcBef>
                        <a:spcAft>
                          <a:spcPts val="0"/>
                        </a:spcAft>
                        <a:buNone/>
                      </a:pPr>
                      <a:r>
                        <a:rPr i="1" lang="en" sz="1800">
                          <a:latin typeface="Open Sans"/>
                          <a:ea typeface="Open Sans"/>
                          <a:cs typeface="Open Sans"/>
                          <a:sym typeface="Open Sans"/>
                        </a:rPr>
                        <a:t>Structure</a:t>
                      </a:r>
                      <a:endParaRPr i="1" sz="1800">
                        <a:latin typeface="Open Sans"/>
                        <a:ea typeface="Open Sans"/>
                        <a:cs typeface="Open Sans"/>
                        <a:sym typeface="Open Sans"/>
                      </a:endParaRPr>
                    </a:p>
                  </a:txBody>
                  <a:tcPr marT="91425" marB="91425" marR="91425" marL="91425" anchor="ctr"/>
                </a:tc>
                <a:tc>
                  <a:txBody>
                    <a:bodyPr/>
                    <a:lstStyle/>
                    <a:p>
                      <a:pPr indent="0" lvl="0" marL="0" rtl="0" algn="l">
                        <a:spcBef>
                          <a:spcPts val="0"/>
                        </a:spcBef>
                        <a:spcAft>
                          <a:spcPts val="0"/>
                        </a:spcAft>
                        <a:buNone/>
                      </a:pPr>
                      <a:r>
                        <a:rPr lang="en" sz="1800">
                          <a:latin typeface="Open Sans"/>
                          <a:ea typeface="Open Sans"/>
                          <a:cs typeface="Open Sans"/>
                          <a:sym typeface="Open Sans"/>
                        </a:rPr>
                        <a:t>Searchable Network Structure</a:t>
                      </a:r>
                      <a:endParaRPr sz="1800">
                        <a:latin typeface="Open Sans"/>
                        <a:ea typeface="Open Sans"/>
                        <a:cs typeface="Open Sans"/>
                        <a:sym typeface="Open Sans"/>
                      </a:endParaRPr>
                    </a:p>
                  </a:txBody>
                  <a:tcPr marT="91425" marB="91425" marR="91425" marL="91425" anchor="ctr"/>
                </a:tc>
              </a:tr>
              <a:tr h="1239450">
                <a:tc>
                  <a:txBody>
                    <a:bodyPr/>
                    <a:lstStyle/>
                    <a:p>
                      <a:pPr indent="0" lvl="0" marL="0" rtl="0" algn="l">
                        <a:spcBef>
                          <a:spcPts val="0"/>
                        </a:spcBef>
                        <a:spcAft>
                          <a:spcPts val="0"/>
                        </a:spcAft>
                        <a:buNone/>
                      </a:pPr>
                      <a:r>
                        <a:rPr lang="en" sz="1800">
                          <a:latin typeface="Open Sans"/>
                          <a:ea typeface="Open Sans"/>
                          <a:cs typeface="Open Sans"/>
                          <a:sym typeface="Open Sans"/>
                        </a:rPr>
                        <a:t>Agent-Level Representation of Whole Network Structure ("It's a small world!")</a:t>
                      </a:r>
                      <a:endParaRPr sz="1800">
                        <a:latin typeface="Open Sans"/>
                        <a:ea typeface="Open Sans"/>
                        <a:cs typeface="Open Sans"/>
                        <a:sym typeface="Open Sans"/>
                      </a:endParaRPr>
                    </a:p>
                  </a:txBody>
                  <a:tcPr marT="91425" marB="91425" marR="91425" marL="91425" anchor="ctr"/>
                </a:tc>
                <a:tc>
                  <a:txBody>
                    <a:bodyPr/>
                    <a:lstStyle/>
                    <a:p>
                      <a:pPr indent="0" lvl="0" marL="0" rtl="0" algn="ctr">
                        <a:spcBef>
                          <a:spcPts val="0"/>
                        </a:spcBef>
                        <a:spcAft>
                          <a:spcPts val="0"/>
                        </a:spcAft>
                        <a:buNone/>
                      </a:pPr>
                      <a:r>
                        <a:rPr i="1" lang="en" sz="1800">
                          <a:latin typeface="Open Sans"/>
                          <a:ea typeface="Open Sans"/>
                          <a:cs typeface="Open Sans"/>
                          <a:sym typeface="Open Sans"/>
                        </a:rPr>
                        <a:t>Cognition</a:t>
                      </a:r>
                      <a:endParaRPr i="1" sz="1800">
                        <a:latin typeface="Open Sans"/>
                        <a:ea typeface="Open Sans"/>
                        <a:cs typeface="Open Sans"/>
                        <a:sym typeface="Open Sans"/>
                      </a:endParaRPr>
                    </a:p>
                  </a:txBody>
                  <a:tcPr marT="91425" marB="91425" marR="91425" marL="91425" anchor="ctr"/>
                </a:tc>
                <a:tc>
                  <a:txBody>
                    <a:bodyPr/>
                    <a:lstStyle/>
                    <a:p>
                      <a:pPr indent="0" lvl="0" marL="0" rtl="0" algn="l">
                        <a:spcBef>
                          <a:spcPts val="0"/>
                        </a:spcBef>
                        <a:spcAft>
                          <a:spcPts val="0"/>
                        </a:spcAft>
                        <a:buNone/>
                      </a:pPr>
                      <a:r>
                        <a:rPr lang="en" sz="1800">
                          <a:latin typeface="Open Sans"/>
                          <a:ea typeface="Open Sans"/>
                          <a:cs typeface="Open Sans"/>
                          <a:sym typeface="Open Sans"/>
                        </a:rPr>
                        <a:t>Agent-Level Representation of Local Search Paths/Search Heuristics</a:t>
                      </a:r>
                      <a:endParaRPr sz="1800">
                        <a:latin typeface="Open Sans"/>
                        <a:ea typeface="Open Sans"/>
                        <a:cs typeface="Open Sans"/>
                        <a:sym typeface="Open Sans"/>
                      </a:endParaRPr>
                    </a:p>
                  </a:txBody>
                  <a:tcPr marT="91425" marB="91425" marR="91425" marL="91425" anchor="ctr"/>
                </a:tc>
              </a:tr>
            </a:tbl>
          </a:graphicData>
        </a:graphic>
      </p:graphicFrame>
    </p:spTree>
  </p:cSld>
  <p:clrMapOvr>
    <a:masterClrMapping/>
  </p:clrMapOvr>
</p:sld>
</file>

<file path=ppt/slides/slide3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60" name="Shape 8260"/>
        <p:cNvGrpSpPr/>
        <p:nvPr/>
      </p:nvGrpSpPr>
      <p:grpSpPr>
        <a:xfrm>
          <a:off x="0" y="0"/>
          <a:ext cx="0" cy="0"/>
          <a:chOff x="0" y="0"/>
          <a:chExt cx="0" cy="0"/>
        </a:xfrm>
      </p:grpSpPr>
      <p:sp>
        <p:nvSpPr>
          <p:cNvPr id="8261" name="Google Shape;8261;p3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62" name="Google Shape;8262;p363"/>
          <p:cNvSpPr txBox="1"/>
          <p:nvPr>
            <p:ph idx="1" type="body"/>
          </p:nvPr>
        </p:nvSpPr>
        <p:spPr>
          <a:xfrm>
            <a:off x="311700" y="1225225"/>
            <a:ext cx="85206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Why are real human social networks (seemingly) searchable? </a:t>
            </a:r>
            <a:endParaRPr/>
          </a:p>
          <a:p>
            <a:pPr indent="-317500" lvl="1" marL="914400" rtl="0" algn="l">
              <a:spcBef>
                <a:spcPts val="0"/>
              </a:spcBef>
              <a:spcAft>
                <a:spcPts val="0"/>
              </a:spcAft>
              <a:buSzPts val="1400"/>
              <a:buChar char="○"/>
            </a:pPr>
            <a:r>
              <a:rPr lang="en"/>
              <a:t>Watts, Dodds and Newman (2002) propose a model in which organization around nested groups (communities) is key:</a:t>
            </a:r>
            <a:endParaRPr/>
          </a:p>
          <a:p>
            <a:pPr indent="-317500" lvl="2" marL="1371600" rtl="0" algn="l">
              <a:spcBef>
                <a:spcPts val="0"/>
              </a:spcBef>
              <a:spcAft>
                <a:spcPts val="0"/>
              </a:spcAft>
              <a:buSzPts val="1400"/>
              <a:buChar char="■"/>
            </a:pPr>
            <a:r>
              <a:rPr lang="en"/>
              <a:t>Individuals interpret the world as a set of (nested) groups</a:t>
            </a:r>
            <a:endParaRPr/>
          </a:p>
          <a:p>
            <a:pPr indent="-317500" lvl="2" marL="1371600" rtl="0" algn="l">
              <a:spcBef>
                <a:spcPts val="0"/>
              </a:spcBef>
              <a:spcAft>
                <a:spcPts val="0"/>
              </a:spcAft>
              <a:buSzPts val="1400"/>
              <a:buChar char="■"/>
            </a:pPr>
            <a:r>
              <a:rPr lang="en"/>
              <a:t>They bottom out at a (cognitively) manageable group size</a:t>
            </a:r>
            <a:endParaRPr/>
          </a:p>
          <a:p>
            <a:pPr indent="-342900" lvl="0" marL="457200" rtl="0" algn="l">
              <a:spcBef>
                <a:spcPts val="0"/>
              </a:spcBef>
              <a:spcAft>
                <a:spcPts val="0"/>
              </a:spcAft>
              <a:buSzPts val="1800"/>
              <a:buChar char="●"/>
            </a:pPr>
            <a:r>
              <a:rPr lang="en"/>
              <a:t>At the cognitive level individuals have two kinds of (partial) information:</a:t>
            </a:r>
            <a:endParaRPr/>
          </a:p>
          <a:p>
            <a:pPr indent="-317500" lvl="1" marL="914400" rtl="0" algn="l">
              <a:spcBef>
                <a:spcPts val="0"/>
              </a:spcBef>
              <a:spcAft>
                <a:spcPts val="0"/>
              </a:spcAft>
              <a:buSzPts val="1400"/>
              <a:buChar char="○"/>
            </a:pPr>
            <a:r>
              <a:rPr lang="en"/>
              <a:t>Social (group) distance (global but not equivalent to graph-theoretic distance)</a:t>
            </a:r>
            <a:endParaRPr/>
          </a:p>
          <a:p>
            <a:pPr indent="-317500" lvl="2" marL="1371600" rtl="0" algn="l">
              <a:spcBef>
                <a:spcPts val="0"/>
              </a:spcBef>
              <a:spcAft>
                <a:spcPts val="0"/>
              </a:spcAft>
              <a:buSzPts val="1400"/>
              <a:buChar char="■"/>
            </a:pPr>
            <a:r>
              <a:rPr lang="en"/>
              <a:t>Each agent knows the his own and his neighbor's (plus target's) position in the group structure</a:t>
            </a:r>
            <a:endParaRPr/>
          </a:p>
          <a:p>
            <a:pPr indent="-317500" lvl="2" marL="1371600" rtl="0" algn="l">
              <a:spcBef>
                <a:spcPts val="0"/>
              </a:spcBef>
              <a:spcAft>
                <a:spcPts val="0"/>
              </a:spcAft>
              <a:buSzPts val="1400"/>
              <a:buChar char="■"/>
            </a:pPr>
            <a:r>
              <a:rPr lang="en"/>
              <a:t>Otherwise ignorant of social distance between herself and others</a:t>
            </a:r>
            <a:endParaRPr/>
          </a:p>
          <a:p>
            <a:pPr indent="-317500" lvl="2" marL="1371600" rtl="0" algn="l">
              <a:spcBef>
                <a:spcPts val="0"/>
              </a:spcBef>
              <a:spcAft>
                <a:spcPts val="0"/>
              </a:spcAft>
              <a:buSzPts val="1400"/>
              <a:buChar char="■"/>
            </a:pPr>
            <a:r>
              <a:rPr lang="en"/>
              <a:t>Each member i of a message chain forwards the message to the neighbor j who is closest to the target t in terms of social distance in the nested group hierarchy</a:t>
            </a:r>
            <a:endParaRPr/>
          </a:p>
          <a:p>
            <a:pPr indent="0" lvl="0" marL="914400" rtl="0" algn="l">
              <a:spcBef>
                <a:spcPts val="0"/>
              </a:spcBef>
              <a:spcAft>
                <a:spcPts val="0"/>
              </a:spcAft>
              <a:buNone/>
            </a:pPr>
            <a:r>
              <a:t/>
            </a:r>
            <a:endParaRPr/>
          </a:p>
          <a:p>
            <a:pPr indent="0" lvl="0" marL="457200" marR="0" rtl="0" algn="l">
              <a:lnSpc>
                <a:spcPct val="115000"/>
              </a:lnSpc>
              <a:spcBef>
                <a:spcPts val="0"/>
              </a:spcBef>
              <a:spcAft>
                <a:spcPts val="1600"/>
              </a:spcAft>
              <a:buNone/>
            </a:pPr>
            <a:r>
              <a:t/>
            </a:r>
            <a:endParaRPr/>
          </a:p>
        </p:txBody>
      </p:sp>
    </p:spTree>
  </p:cSld>
  <p:clrMapOvr>
    <a:masterClrMapping/>
  </p:clrMapOvr>
</p:sld>
</file>

<file path=ppt/slides/slide3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66" name="Shape 8266"/>
        <p:cNvGrpSpPr/>
        <p:nvPr/>
      </p:nvGrpSpPr>
      <p:grpSpPr>
        <a:xfrm>
          <a:off x="0" y="0"/>
          <a:ext cx="0" cy="0"/>
          <a:chOff x="0" y="0"/>
          <a:chExt cx="0" cy="0"/>
        </a:xfrm>
      </p:grpSpPr>
      <p:sp>
        <p:nvSpPr>
          <p:cNvPr id="8267" name="Google Shape;8267;p36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68" name="Google Shape;8268;p364"/>
          <p:cNvSpPr txBox="1"/>
          <p:nvPr>
            <p:ph idx="1" type="body"/>
          </p:nvPr>
        </p:nvSpPr>
        <p:spPr>
          <a:xfrm>
            <a:off x="311700" y="1225225"/>
            <a:ext cx="85206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Why are real human social networks (seemingly) searchable? </a:t>
            </a:r>
            <a:endParaRPr/>
          </a:p>
          <a:p>
            <a:pPr indent="-317500" lvl="1" marL="914400" rtl="0" algn="l">
              <a:spcBef>
                <a:spcPts val="0"/>
              </a:spcBef>
              <a:spcAft>
                <a:spcPts val="0"/>
              </a:spcAft>
              <a:buSzPts val="1400"/>
              <a:buChar char="○"/>
            </a:pPr>
            <a:r>
              <a:rPr lang="en"/>
              <a:t>Watts, Dodds and Newman (2002) propose a model in which organization around nested groups (communities) is key:</a:t>
            </a:r>
            <a:endParaRPr/>
          </a:p>
          <a:p>
            <a:pPr indent="-317500" lvl="2" marL="1371600" rtl="0" algn="l">
              <a:spcBef>
                <a:spcPts val="0"/>
              </a:spcBef>
              <a:spcAft>
                <a:spcPts val="0"/>
              </a:spcAft>
              <a:buSzPts val="1400"/>
              <a:buChar char="■"/>
            </a:pPr>
            <a:r>
              <a:rPr lang="en"/>
              <a:t>Individuals interpret the world as a set of (nested) groups</a:t>
            </a:r>
            <a:endParaRPr/>
          </a:p>
          <a:p>
            <a:pPr indent="-317500" lvl="2" marL="1371600" rtl="0" algn="l">
              <a:spcBef>
                <a:spcPts val="0"/>
              </a:spcBef>
              <a:spcAft>
                <a:spcPts val="0"/>
              </a:spcAft>
              <a:buSzPts val="1400"/>
              <a:buChar char="■"/>
            </a:pPr>
            <a:r>
              <a:rPr lang="en"/>
              <a:t>They bottom out at a (cognitively) manageable group size</a:t>
            </a:r>
            <a:endParaRPr/>
          </a:p>
          <a:p>
            <a:pPr indent="-342900" lvl="0" marL="457200" rtl="0" algn="l">
              <a:spcBef>
                <a:spcPts val="0"/>
              </a:spcBef>
              <a:spcAft>
                <a:spcPts val="0"/>
              </a:spcAft>
              <a:buSzPts val="1800"/>
              <a:buChar char="●"/>
            </a:pPr>
            <a:r>
              <a:rPr lang="en"/>
              <a:t>Research on the search strategies used in natural contexts lead to a simple heuristic used to construct a path to a random person</a:t>
            </a:r>
            <a:endParaRPr/>
          </a:p>
          <a:p>
            <a:pPr indent="-317500" lvl="1" marL="914400" rtl="0" algn="l">
              <a:spcBef>
                <a:spcPts val="0"/>
              </a:spcBef>
              <a:spcAft>
                <a:spcPts val="0"/>
              </a:spcAft>
              <a:buSzPts val="1400"/>
              <a:buChar char="○"/>
            </a:pPr>
            <a:r>
              <a:rPr lang="en"/>
              <a:t>Use homophily on certain characteristics as a proxy for graph-theoretic distance between target and contact (proximity strategy)</a:t>
            </a:r>
            <a:endParaRPr/>
          </a:p>
          <a:p>
            <a:pPr indent="-342900" lvl="0" marL="457200" rtl="0" algn="l">
              <a:spcBef>
                <a:spcPts val="0"/>
              </a:spcBef>
              <a:spcAft>
                <a:spcPts val="0"/>
              </a:spcAft>
              <a:buSzPts val="1800"/>
              <a:buChar char="●"/>
            </a:pPr>
            <a:r>
              <a:rPr lang="en"/>
              <a:t>Another useful heuristic</a:t>
            </a:r>
            <a:endParaRPr/>
          </a:p>
          <a:p>
            <a:pPr indent="-317500" lvl="1" marL="914400" rtl="0" algn="l">
              <a:spcBef>
                <a:spcPts val="0"/>
              </a:spcBef>
              <a:spcAft>
                <a:spcPts val="0"/>
              </a:spcAft>
              <a:buSzPts val="1400"/>
              <a:buChar char="○"/>
            </a:pPr>
            <a:r>
              <a:rPr lang="en"/>
              <a:t>Use characteristics associated with connectivity (e.g. high status characteristics) to select a contact (hub strategy)</a:t>
            </a:r>
            <a:endParaRPr/>
          </a:p>
          <a:p>
            <a:pPr indent="0" lvl="0" marL="0" rtl="0" algn="l">
              <a:spcBef>
                <a:spcPts val="0"/>
              </a:spcBef>
              <a:spcAft>
                <a:spcPts val="0"/>
              </a:spcAft>
              <a:buNone/>
            </a:pPr>
            <a:r>
              <a:t/>
            </a:r>
            <a:endParaRPr/>
          </a:p>
        </p:txBody>
      </p:sp>
    </p:spTree>
  </p:cSld>
  <p:clrMapOvr>
    <a:masterClrMapping/>
  </p:clrMapOvr>
</p:sld>
</file>

<file path=ppt/slides/slide3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72" name="Shape 8272"/>
        <p:cNvGrpSpPr/>
        <p:nvPr/>
      </p:nvGrpSpPr>
      <p:grpSpPr>
        <a:xfrm>
          <a:off x="0" y="0"/>
          <a:ext cx="0" cy="0"/>
          <a:chOff x="0" y="0"/>
          <a:chExt cx="0" cy="0"/>
        </a:xfrm>
      </p:grpSpPr>
      <p:sp>
        <p:nvSpPr>
          <p:cNvPr id="8273" name="Google Shape;8273;p3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74" name="Google Shape;8274;p365"/>
          <p:cNvSpPr txBox="1"/>
          <p:nvPr>
            <p:ph idx="1" type="body"/>
          </p:nvPr>
        </p:nvSpPr>
        <p:spPr>
          <a:xfrm>
            <a:off x="311700" y="1225225"/>
            <a:ext cx="85206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Killworth and Bernard's (1979) "Reversal Small World" Experiment</a:t>
            </a:r>
            <a:endParaRPr/>
          </a:p>
          <a:p>
            <a:pPr indent="-317500" lvl="1" marL="914400" rtl="0" algn="l">
              <a:spcBef>
                <a:spcPts val="0"/>
              </a:spcBef>
              <a:spcAft>
                <a:spcPts val="0"/>
              </a:spcAft>
              <a:buSzPts val="1400"/>
              <a:buChar char="○"/>
            </a:pPr>
            <a:r>
              <a:rPr lang="en"/>
              <a:t>Useful for studying natural search strategies</a:t>
            </a:r>
            <a:endParaRPr/>
          </a:p>
          <a:p>
            <a:pPr indent="-317500" lvl="2" marL="1371600" rtl="0" algn="l">
              <a:spcBef>
                <a:spcPts val="0"/>
              </a:spcBef>
              <a:spcAft>
                <a:spcPts val="0"/>
              </a:spcAft>
              <a:buSzPts val="1400"/>
              <a:buChar char="■"/>
            </a:pPr>
            <a:r>
              <a:rPr lang="en"/>
              <a:t>Instead of multiple starters and one target participants are presented with a (long, more than a thousand) list of targets</a:t>
            </a:r>
            <a:endParaRPr/>
          </a:p>
          <a:p>
            <a:pPr indent="-317500" lvl="3" marL="1828800" rtl="0" algn="l">
              <a:spcBef>
                <a:spcPts val="0"/>
              </a:spcBef>
              <a:spcAft>
                <a:spcPts val="0"/>
              </a:spcAft>
              <a:buSzPts val="1400"/>
              <a:buChar char="●"/>
            </a:pPr>
            <a:r>
              <a:rPr lang="en"/>
              <a:t>Each target had a different mix of socio-demographic characteristics (gender, race, occupation, etc.)</a:t>
            </a:r>
            <a:endParaRPr/>
          </a:p>
          <a:p>
            <a:pPr indent="-317500" lvl="3" marL="1828800" rtl="0" algn="l">
              <a:spcBef>
                <a:spcPts val="0"/>
              </a:spcBef>
              <a:spcAft>
                <a:spcPts val="0"/>
              </a:spcAft>
              <a:buSzPts val="1400"/>
              <a:buChar char="●"/>
            </a:pPr>
            <a:r>
              <a:rPr lang="en"/>
              <a:t>Participants are asked to name the contact that they would use as the first link in trying to reach that particular target</a:t>
            </a:r>
            <a:endParaRPr/>
          </a:p>
          <a:p>
            <a:pPr indent="-317500" lvl="3" marL="1828800" rtl="0" algn="l">
              <a:spcBef>
                <a:spcPts val="0"/>
              </a:spcBef>
              <a:spcAft>
                <a:spcPts val="0"/>
              </a:spcAft>
              <a:buSzPts val="1400"/>
              <a:buChar char="●"/>
            </a:pPr>
            <a:r>
              <a:rPr lang="en"/>
              <a:t>Participants reported contact's gender, relationship to self, reason for selection</a:t>
            </a:r>
            <a:endParaRPr/>
          </a:p>
          <a:p>
            <a:pPr indent="-317500" lvl="2" marL="1371600" rtl="0" algn="l">
              <a:spcBef>
                <a:spcPts val="0"/>
              </a:spcBef>
              <a:spcAft>
                <a:spcPts val="0"/>
              </a:spcAft>
              <a:buSzPts val="1400"/>
              <a:buChar char="■"/>
            </a:pPr>
            <a:r>
              <a:rPr lang="en"/>
              <a:t>This is a kind of “search name generator”</a:t>
            </a:r>
            <a:endParaRPr/>
          </a:p>
        </p:txBody>
      </p:sp>
    </p:spTree>
  </p:cSld>
  <p:clrMapOvr>
    <a:masterClrMapping/>
  </p:clrMapOvr>
</p:sld>
</file>

<file path=ppt/slides/slide3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78" name="Shape 8278"/>
        <p:cNvGrpSpPr/>
        <p:nvPr/>
      </p:nvGrpSpPr>
      <p:grpSpPr>
        <a:xfrm>
          <a:off x="0" y="0"/>
          <a:ext cx="0" cy="0"/>
          <a:chOff x="0" y="0"/>
          <a:chExt cx="0" cy="0"/>
        </a:xfrm>
      </p:grpSpPr>
      <p:sp>
        <p:nvSpPr>
          <p:cNvPr id="8279" name="Google Shape;8279;p36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80" name="Google Shape;8280;p366"/>
          <p:cNvSpPr txBox="1"/>
          <p:nvPr>
            <p:ph idx="1" type="body"/>
          </p:nvPr>
        </p:nvSpPr>
        <p:spPr>
          <a:xfrm>
            <a:off x="311700" y="1225225"/>
            <a:ext cx="33813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Persons choose from three main category of contacts:</a:t>
            </a:r>
            <a:endParaRPr/>
          </a:p>
          <a:p>
            <a:pPr indent="-317500" lvl="1" marL="914400" rtl="0" algn="l">
              <a:spcBef>
                <a:spcPts val="0"/>
              </a:spcBef>
              <a:spcAft>
                <a:spcPts val="0"/>
              </a:spcAft>
              <a:buSzPts val="1400"/>
              <a:buChar char="○"/>
            </a:pPr>
            <a:r>
              <a:rPr lang="en"/>
              <a:t>Friends </a:t>
            </a:r>
            <a:endParaRPr/>
          </a:p>
          <a:p>
            <a:pPr indent="-317500" lvl="1" marL="914400" rtl="0" algn="l">
              <a:spcBef>
                <a:spcPts val="0"/>
              </a:spcBef>
              <a:spcAft>
                <a:spcPts val="0"/>
              </a:spcAft>
              <a:buSzPts val="1400"/>
              <a:buChar char="○"/>
            </a:pPr>
            <a:r>
              <a:rPr lang="en"/>
              <a:t>Acquaintances</a:t>
            </a:r>
            <a:endParaRPr/>
          </a:p>
          <a:p>
            <a:pPr indent="-317500" lvl="1" marL="914400" rtl="0" algn="l">
              <a:spcBef>
                <a:spcPts val="0"/>
              </a:spcBef>
              <a:spcAft>
                <a:spcPts val="0"/>
              </a:spcAft>
              <a:buSzPts val="1400"/>
              <a:buChar char="○"/>
            </a:pPr>
            <a:r>
              <a:rPr lang="en"/>
              <a:t>Family</a:t>
            </a:r>
            <a:endParaRPr/>
          </a:p>
          <a:p>
            <a:pPr indent="-342900" lvl="0" marL="457200" rtl="0" algn="l">
              <a:spcBef>
                <a:spcPts val="0"/>
              </a:spcBef>
              <a:spcAft>
                <a:spcPts val="0"/>
              </a:spcAft>
              <a:buSzPts val="1800"/>
              <a:buChar char="●"/>
            </a:pPr>
            <a:r>
              <a:rPr lang="en"/>
              <a:t>82% of contacts were non-kin</a:t>
            </a:r>
            <a:endParaRPr/>
          </a:p>
          <a:p>
            <a:pPr indent="-342900" lvl="0" marL="457200" rtl="0" algn="l">
              <a:spcBef>
                <a:spcPts val="0"/>
              </a:spcBef>
              <a:spcAft>
                <a:spcPts val="0"/>
              </a:spcAft>
              <a:buSzPts val="1800"/>
              <a:buChar char="●"/>
            </a:pPr>
            <a:r>
              <a:rPr lang="en"/>
              <a:t>Males more likely to be chosen</a:t>
            </a:r>
            <a:endParaRPr/>
          </a:p>
          <a:p>
            <a:pPr indent="-317500" lvl="1" marL="914400" rtl="0" algn="l">
              <a:spcBef>
                <a:spcPts val="0"/>
              </a:spcBef>
              <a:spcAft>
                <a:spcPts val="0"/>
              </a:spcAft>
              <a:buSzPts val="1400"/>
              <a:buChar char="○"/>
            </a:pPr>
            <a:r>
              <a:rPr lang="en"/>
              <a:t>Homophily by gender</a:t>
            </a:r>
            <a:endParaRPr/>
          </a:p>
          <a:p>
            <a:pPr indent="0" lvl="0" marL="0" rtl="0" algn="l">
              <a:spcBef>
                <a:spcPts val="0"/>
              </a:spcBef>
              <a:spcAft>
                <a:spcPts val="0"/>
              </a:spcAft>
              <a:buNone/>
            </a:pPr>
            <a:r>
              <a:t/>
            </a:r>
            <a:endParaRPr/>
          </a:p>
        </p:txBody>
      </p:sp>
      <p:pic>
        <p:nvPicPr>
          <p:cNvPr id="8281" name="Google Shape;8281;p366"/>
          <p:cNvPicPr preferRelativeResize="0"/>
          <p:nvPr/>
        </p:nvPicPr>
        <p:blipFill>
          <a:blip r:embed="rId3">
            <a:alphaModFix/>
          </a:blip>
          <a:stretch>
            <a:fillRect/>
          </a:stretch>
        </p:blipFill>
        <p:spPr>
          <a:xfrm>
            <a:off x="5161300" y="1225225"/>
            <a:ext cx="2627098" cy="3571201"/>
          </a:xfrm>
          <a:prstGeom prst="rect">
            <a:avLst/>
          </a:prstGeom>
          <a:noFill/>
          <a:ln>
            <a:noFill/>
          </a:ln>
        </p:spPr>
      </p:pic>
    </p:spTree>
  </p:cSld>
  <p:clrMapOvr>
    <a:masterClrMapping/>
  </p:clrMapOvr>
</p:sld>
</file>

<file path=ppt/slides/slide3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85" name="Shape 8285"/>
        <p:cNvGrpSpPr/>
        <p:nvPr/>
      </p:nvGrpSpPr>
      <p:grpSpPr>
        <a:xfrm>
          <a:off x="0" y="0"/>
          <a:ext cx="0" cy="0"/>
          <a:chOff x="0" y="0"/>
          <a:chExt cx="0" cy="0"/>
        </a:xfrm>
      </p:grpSpPr>
      <p:sp>
        <p:nvSpPr>
          <p:cNvPr id="8286" name="Google Shape;8286;p36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pic>
        <p:nvPicPr>
          <p:cNvPr id="8287" name="Google Shape;8287;p367"/>
          <p:cNvPicPr preferRelativeResize="0"/>
          <p:nvPr/>
        </p:nvPicPr>
        <p:blipFill>
          <a:blip r:embed="rId3">
            <a:alphaModFix/>
          </a:blip>
          <a:stretch>
            <a:fillRect/>
          </a:stretch>
        </p:blipFill>
        <p:spPr>
          <a:xfrm>
            <a:off x="4427700" y="1678462"/>
            <a:ext cx="4404599" cy="2664727"/>
          </a:xfrm>
          <a:prstGeom prst="rect">
            <a:avLst/>
          </a:prstGeom>
          <a:noFill/>
          <a:ln>
            <a:noFill/>
          </a:ln>
        </p:spPr>
      </p:pic>
      <p:sp>
        <p:nvSpPr>
          <p:cNvPr id="8288" name="Google Shape;8288;p367"/>
          <p:cNvSpPr txBox="1"/>
          <p:nvPr>
            <p:ph idx="1" type="body"/>
          </p:nvPr>
        </p:nvSpPr>
        <p:spPr>
          <a:xfrm>
            <a:off x="311700" y="1225225"/>
            <a:ext cx="38619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Men di</a:t>
            </a:r>
            <a:r>
              <a:rPr lang="en"/>
              <a:t>sp</a:t>
            </a:r>
            <a:r>
              <a:rPr lang="en"/>
              <a:t>layed stronger same gender bias</a:t>
            </a:r>
            <a:endParaRPr/>
          </a:p>
          <a:p>
            <a:pPr indent="-317500" lvl="1" marL="914400" rtl="0" algn="l">
              <a:spcBef>
                <a:spcPts val="0"/>
              </a:spcBef>
              <a:spcAft>
                <a:spcPts val="0"/>
              </a:spcAft>
              <a:buSzPts val="1400"/>
              <a:buChar char="○"/>
            </a:pPr>
            <a:r>
              <a:rPr lang="en"/>
              <a:t>Were more also more likely to use acquaintances</a:t>
            </a:r>
            <a:endParaRPr/>
          </a:p>
          <a:p>
            <a:pPr indent="-342900" lvl="0" marL="457200" rtl="0" algn="l">
              <a:spcBef>
                <a:spcPts val="0"/>
              </a:spcBef>
              <a:spcAft>
                <a:spcPts val="0"/>
              </a:spcAft>
              <a:buSzPts val="1800"/>
              <a:buChar char="●"/>
            </a:pPr>
            <a:r>
              <a:rPr lang="en"/>
              <a:t>Women more likely to rely on kin</a:t>
            </a:r>
            <a:endParaRPr/>
          </a:p>
        </p:txBody>
      </p:sp>
    </p:spTree>
  </p:cSld>
  <p:clrMapOvr>
    <a:masterClrMapping/>
  </p:clrMapOvr>
</p:sld>
</file>

<file path=ppt/slides/slide3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92" name="Shape 8292"/>
        <p:cNvGrpSpPr/>
        <p:nvPr/>
      </p:nvGrpSpPr>
      <p:grpSpPr>
        <a:xfrm>
          <a:off x="0" y="0"/>
          <a:ext cx="0" cy="0"/>
          <a:chOff x="0" y="0"/>
          <a:chExt cx="0" cy="0"/>
        </a:xfrm>
      </p:grpSpPr>
      <p:sp>
        <p:nvSpPr>
          <p:cNvPr id="8293" name="Google Shape;8293;p36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294" name="Google Shape;8294;p368"/>
          <p:cNvSpPr txBox="1"/>
          <p:nvPr>
            <p:ph idx="1" type="body"/>
          </p:nvPr>
        </p:nvSpPr>
        <p:spPr>
          <a:xfrm>
            <a:off x="311700" y="1225225"/>
            <a:ext cx="4091700" cy="3242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generates a small world?</a:t>
            </a:r>
            <a:endParaRPr/>
          </a:p>
          <a:p>
            <a:pPr indent="-317500" lvl="1" marL="914400" rtl="0" algn="l">
              <a:spcBef>
                <a:spcPts val="0"/>
              </a:spcBef>
              <a:spcAft>
                <a:spcPts val="0"/>
              </a:spcAft>
              <a:buSzPts val="1400"/>
              <a:buChar char="○"/>
            </a:pPr>
            <a:r>
              <a:rPr lang="en"/>
              <a:t>The Barabasi-Albert Model</a:t>
            </a:r>
            <a:endParaRPr/>
          </a:p>
          <a:p>
            <a:pPr indent="-317500" lvl="2" marL="1371600" rtl="0" algn="l">
              <a:spcBef>
                <a:spcPts val="0"/>
              </a:spcBef>
              <a:spcAft>
                <a:spcPts val="0"/>
              </a:spcAft>
              <a:buSzPts val="1400"/>
              <a:buChar char="■"/>
            </a:pPr>
            <a:r>
              <a:rPr lang="en"/>
              <a:t>Incoming vertices connect to existing with ones with p ~ k(i)</a:t>
            </a:r>
            <a:endParaRPr/>
          </a:p>
          <a:p>
            <a:pPr indent="-317500" lvl="3" marL="1828800" rtl="0" algn="l">
              <a:spcBef>
                <a:spcPts val="0"/>
              </a:spcBef>
              <a:spcAft>
                <a:spcPts val="0"/>
              </a:spcAft>
              <a:buSzPts val="1400"/>
              <a:buChar char="●"/>
            </a:pPr>
            <a:r>
              <a:rPr lang="en"/>
              <a:t>Where k(i) is i’s degree</a:t>
            </a:r>
            <a:endParaRPr/>
          </a:p>
          <a:p>
            <a:pPr indent="-317500" lvl="1" marL="914400" rtl="0" algn="l">
              <a:spcBef>
                <a:spcPts val="0"/>
              </a:spcBef>
              <a:spcAft>
                <a:spcPts val="0"/>
              </a:spcAft>
              <a:buSzPts val="1400"/>
              <a:buChar char="○"/>
            </a:pPr>
            <a:r>
              <a:rPr lang="en"/>
              <a:t>Generates:  scale-free degree distribution (80-20, power distribution)</a:t>
            </a:r>
            <a:endParaRPr/>
          </a:p>
          <a:p>
            <a:pPr indent="-317500" lvl="1" marL="914400" rtl="0" algn="l">
              <a:spcBef>
                <a:spcPts val="0"/>
              </a:spcBef>
              <a:spcAft>
                <a:spcPts val="0"/>
              </a:spcAft>
              <a:buSzPts val="1400"/>
              <a:buChar char="○"/>
            </a:pPr>
            <a:r>
              <a:rPr lang="en"/>
              <a:t>Small World, small diameter</a:t>
            </a:r>
            <a:endParaRPr/>
          </a:p>
          <a:p>
            <a:pPr indent="-317500" lvl="2" marL="1371600" rtl="0" algn="l">
              <a:spcBef>
                <a:spcPts val="0"/>
              </a:spcBef>
              <a:spcAft>
                <a:spcPts val="0"/>
              </a:spcAft>
              <a:buSzPts val="1400"/>
              <a:buChar char="■"/>
            </a:pPr>
            <a:r>
              <a:rPr lang="en"/>
              <a:t>WHY?  Hubs</a:t>
            </a:r>
            <a:endParaRPr/>
          </a:p>
          <a:p>
            <a:pPr indent="-317500" lvl="1" marL="914400" rtl="0" algn="l">
              <a:spcBef>
                <a:spcPts val="0"/>
              </a:spcBef>
              <a:spcAft>
                <a:spcPts val="0"/>
              </a:spcAft>
              <a:buSzPts val="1400"/>
              <a:buChar char="○"/>
            </a:pPr>
            <a:r>
              <a:rPr lang="en"/>
              <a:t>But…</a:t>
            </a:r>
            <a:endParaRPr/>
          </a:p>
          <a:p>
            <a:pPr indent="-317500" lvl="2" marL="1371600" rtl="0" algn="l">
              <a:spcBef>
                <a:spcPts val="0"/>
              </a:spcBef>
              <a:spcAft>
                <a:spcPts val="0"/>
              </a:spcAft>
              <a:buSzPts val="1400"/>
              <a:buChar char="■"/>
            </a:pPr>
            <a:r>
              <a:rPr lang="en"/>
              <a:t>low clustering coefficient</a:t>
            </a:r>
            <a:endParaRPr/>
          </a:p>
          <a:p>
            <a:pPr indent="0" lvl="0" marL="914400" rtl="0" algn="l">
              <a:spcBef>
                <a:spcPts val="0"/>
              </a:spcBef>
              <a:spcAft>
                <a:spcPts val="0"/>
              </a:spcAft>
              <a:buNone/>
            </a:pPr>
            <a:r>
              <a:t/>
            </a:r>
            <a:endParaRPr/>
          </a:p>
        </p:txBody>
      </p:sp>
      <p:pic>
        <p:nvPicPr>
          <p:cNvPr descr="maxresdefault.jpg" id="8295" name="Google Shape;8295;p368"/>
          <p:cNvPicPr preferRelativeResize="0"/>
          <p:nvPr/>
        </p:nvPicPr>
        <p:blipFill rotWithShape="1">
          <a:blip r:embed="rId3">
            <a:alphaModFix/>
          </a:blip>
          <a:srcRect b="0" l="17660" r="10521" t="0"/>
          <a:stretch/>
        </p:blipFill>
        <p:spPr>
          <a:xfrm>
            <a:off x="4403400" y="1225225"/>
            <a:ext cx="4139472" cy="3242099"/>
          </a:xfrm>
          <a:prstGeom prst="rect">
            <a:avLst/>
          </a:prstGeom>
          <a:noFill/>
          <a:ln>
            <a:noFill/>
          </a:ln>
        </p:spPr>
      </p:pic>
    </p:spTree>
  </p:cSld>
  <p:clrMapOvr>
    <a:masterClrMapping/>
  </p:clrMapOvr>
</p:sld>
</file>

<file path=ppt/slides/slide3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9" name="Shape 8299"/>
        <p:cNvGrpSpPr/>
        <p:nvPr/>
      </p:nvGrpSpPr>
      <p:grpSpPr>
        <a:xfrm>
          <a:off x="0" y="0"/>
          <a:ext cx="0" cy="0"/>
          <a:chOff x="0" y="0"/>
          <a:chExt cx="0" cy="0"/>
        </a:xfrm>
      </p:grpSpPr>
      <p:sp>
        <p:nvSpPr>
          <p:cNvPr id="8300" name="Google Shape;8300;p36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 (toy) model of the small world</a:t>
            </a:r>
            <a:endParaRPr/>
          </a:p>
        </p:txBody>
      </p:sp>
      <p:sp>
        <p:nvSpPr>
          <p:cNvPr id="8301" name="Google Shape;8301;p369"/>
          <p:cNvSpPr txBox="1"/>
          <p:nvPr>
            <p:ph idx="1" type="body"/>
          </p:nvPr>
        </p:nvSpPr>
        <p:spPr>
          <a:xfrm>
            <a:off x="311700" y="1225225"/>
            <a:ext cx="8600400" cy="2002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generates a small world?</a:t>
            </a:r>
            <a:endParaRPr/>
          </a:p>
          <a:p>
            <a:pPr indent="-317500" lvl="1" marL="914400" rtl="0" algn="l">
              <a:spcBef>
                <a:spcPts val="0"/>
              </a:spcBef>
              <a:spcAft>
                <a:spcPts val="0"/>
              </a:spcAft>
              <a:buSzPts val="1400"/>
              <a:buChar char="○"/>
            </a:pPr>
            <a:r>
              <a:rPr lang="en"/>
              <a:t>The Watts-Strogatz Model</a:t>
            </a:r>
            <a:endParaRPr/>
          </a:p>
          <a:p>
            <a:pPr indent="-317500" lvl="2" marL="1371600" rtl="0" algn="l">
              <a:spcBef>
                <a:spcPts val="0"/>
              </a:spcBef>
              <a:spcAft>
                <a:spcPts val="0"/>
              </a:spcAft>
              <a:buSzPts val="1400"/>
              <a:buChar char="■"/>
            </a:pPr>
            <a:r>
              <a:rPr i="1" lang="en"/>
              <a:t>p</a:t>
            </a:r>
            <a:r>
              <a:rPr lang="en"/>
              <a:t> - randomness parameter (proportion of links that are allowed to be non-local)</a:t>
            </a:r>
            <a:endParaRPr/>
          </a:p>
          <a:p>
            <a:pPr indent="-317500" lvl="2" marL="1371600" rtl="0" algn="l">
              <a:spcBef>
                <a:spcPts val="0"/>
              </a:spcBef>
              <a:spcAft>
                <a:spcPts val="0"/>
              </a:spcAft>
              <a:buSzPts val="1400"/>
              <a:buChar char="■"/>
            </a:pPr>
            <a:r>
              <a:rPr lang="en"/>
              <a:t>G = (N, E)  N vertices, E edges</a:t>
            </a:r>
            <a:endParaRPr/>
          </a:p>
          <a:p>
            <a:pPr indent="-317500" lvl="2" marL="1371600" rtl="0" algn="l">
              <a:spcBef>
                <a:spcPts val="0"/>
              </a:spcBef>
              <a:spcAft>
                <a:spcPts val="0"/>
              </a:spcAft>
              <a:buSzPts val="1400"/>
              <a:buChar char="■"/>
            </a:pPr>
            <a:r>
              <a:rPr lang="en"/>
              <a:t>K = N. of neighbors assigned to each vertex</a:t>
            </a:r>
            <a:endParaRPr/>
          </a:p>
          <a:p>
            <a:pPr indent="-317500" lvl="2" marL="1371600" rtl="0" algn="l">
              <a:spcBef>
                <a:spcPts val="0"/>
              </a:spcBef>
              <a:spcAft>
                <a:spcPts val="0"/>
              </a:spcAft>
              <a:buSzPts val="1400"/>
              <a:buChar char="■"/>
            </a:pPr>
            <a:r>
              <a:rPr lang="en"/>
              <a:t>L(p) = Average path length between two vertices</a:t>
            </a:r>
            <a:endParaRPr/>
          </a:p>
          <a:p>
            <a:pPr indent="-317500" lvl="2" marL="1371600" rtl="0" algn="l">
              <a:spcBef>
                <a:spcPts val="0"/>
              </a:spcBef>
              <a:spcAft>
                <a:spcPts val="0"/>
              </a:spcAft>
              <a:buSzPts val="1400"/>
              <a:buChar char="■"/>
            </a:pPr>
            <a:r>
              <a:rPr lang="en"/>
              <a:t>C(p) = Average clustering coefficient</a:t>
            </a:r>
            <a:endParaRPr/>
          </a:p>
        </p:txBody>
      </p:sp>
      <p:pic>
        <p:nvPicPr>
          <p:cNvPr id="8302" name="Google Shape;8302;p369"/>
          <p:cNvPicPr preferRelativeResize="0"/>
          <p:nvPr/>
        </p:nvPicPr>
        <p:blipFill>
          <a:blip r:embed="rId3">
            <a:alphaModFix/>
          </a:blip>
          <a:stretch>
            <a:fillRect/>
          </a:stretch>
        </p:blipFill>
        <p:spPr>
          <a:xfrm>
            <a:off x="2786287" y="3227425"/>
            <a:ext cx="3571425" cy="1697150"/>
          </a:xfrm>
          <a:prstGeom prst="rect">
            <a:avLst/>
          </a:prstGeom>
          <a:noFill/>
          <a:ln>
            <a:noFill/>
          </a:ln>
        </p:spPr>
      </p:pic>
    </p:spTree>
  </p:cSld>
  <p:clrMapOvr>
    <a:masterClrMapping/>
  </p:clrMapOvr>
</p:sld>
</file>

<file path=ppt/slides/slide3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6" name="Shape 8306"/>
        <p:cNvGrpSpPr/>
        <p:nvPr/>
      </p:nvGrpSpPr>
      <p:grpSpPr>
        <a:xfrm>
          <a:off x="0" y="0"/>
          <a:ext cx="0" cy="0"/>
          <a:chOff x="0" y="0"/>
          <a:chExt cx="0" cy="0"/>
        </a:xfrm>
      </p:grpSpPr>
      <p:sp>
        <p:nvSpPr>
          <p:cNvPr id="8307" name="Google Shape;8307;p3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308" name="Google Shape;8308;p370"/>
          <p:cNvSpPr txBox="1"/>
          <p:nvPr>
            <p:ph idx="1" type="body"/>
          </p:nvPr>
        </p:nvSpPr>
        <p:spPr>
          <a:xfrm>
            <a:off x="311700" y="1225225"/>
            <a:ext cx="4091700" cy="3242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generates a small world?</a:t>
            </a:r>
            <a:endParaRPr/>
          </a:p>
          <a:p>
            <a:pPr indent="-317500" lvl="1" marL="914400" rtl="0" algn="l">
              <a:spcBef>
                <a:spcPts val="0"/>
              </a:spcBef>
              <a:spcAft>
                <a:spcPts val="0"/>
              </a:spcAft>
              <a:buSzPts val="1400"/>
              <a:buChar char="○"/>
            </a:pPr>
            <a:r>
              <a:rPr lang="en"/>
              <a:t>The Watts-Strogatz Model</a:t>
            </a:r>
            <a:endParaRPr/>
          </a:p>
          <a:p>
            <a:pPr indent="-317500" lvl="2" marL="1371600" rtl="0" algn="l">
              <a:spcBef>
                <a:spcPts val="0"/>
              </a:spcBef>
              <a:spcAft>
                <a:spcPts val="0"/>
              </a:spcAft>
              <a:buSzPts val="1400"/>
              <a:buChar char="■"/>
            </a:pPr>
            <a:r>
              <a:rPr lang="en"/>
              <a:t>Random rewiring --&gt; shortcuts</a:t>
            </a:r>
            <a:endParaRPr/>
          </a:p>
          <a:p>
            <a:pPr indent="-317500" lvl="2" marL="1371600" rtl="0" algn="l">
              <a:spcBef>
                <a:spcPts val="0"/>
              </a:spcBef>
              <a:spcAft>
                <a:spcPts val="0"/>
              </a:spcAft>
              <a:buSzPts val="1400"/>
              <a:buChar char="■"/>
            </a:pPr>
            <a:r>
              <a:rPr lang="en"/>
              <a:t>high nonlinear effect on L</a:t>
            </a:r>
            <a:endParaRPr/>
          </a:p>
          <a:p>
            <a:pPr indent="-317500" lvl="2" marL="1371600" rtl="0" algn="l">
              <a:spcBef>
                <a:spcPts val="0"/>
              </a:spcBef>
              <a:spcAft>
                <a:spcPts val="0"/>
              </a:spcAft>
              <a:buSzPts val="1400"/>
              <a:buChar char="■"/>
            </a:pPr>
            <a:r>
              <a:rPr lang="en"/>
              <a:t>only a linear effect on C</a:t>
            </a:r>
            <a:endParaRPr/>
          </a:p>
          <a:p>
            <a:pPr indent="-317500" lvl="2" marL="1371600" rtl="0" algn="l">
              <a:spcBef>
                <a:spcPts val="0"/>
              </a:spcBef>
              <a:spcAft>
                <a:spcPts val="0"/>
              </a:spcAft>
              <a:buSzPts val="1400"/>
              <a:buChar char="■"/>
            </a:pPr>
            <a:r>
              <a:rPr lang="en"/>
              <a:t>Only need a small fraction of short cuts</a:t>
            </a:r>
            <a:endParaRPr/>
          </a:p>
          <a:p>
            <a:pPr indent="-317500" lvl="2" marL="1371600" rtl="0" algn="l">
              <a:spcBef>
                <a:spcPts val="0"/>
              </a:spcBef>
              <a:spcAft>
                <a:spcPts val="0"/>
              </a:spcAft>
              <a:buSzPts val="1400"/>
              <a:buChar char="■"/>
            </a:pPr>
            <a:r>
              <a:rPr lang="en"/>
              <a:t>Range of p where L(p)  is small world like AND C(p) is large (like in real social networks)</a:t>
            </a:r>
            <a:endParaRPr/>
          </a:p>
          <a:p>
            <a:pPr indent="-317500" lvl="2" marL="1371600" rtl="0" algn="l">
              <a:spcBef>
                <a:spcPts val="0"/>
              </a:spcBef>
              <a:spcAft>
                <a:spcPts val="0"/>
              </a:spcAft>
              <a:buSzPts val="1400"/>
              <a:buChar char="■"/>
            </a:pPr>
            <a:r>
              <a:rPr lang="en"/>
              <a:t>Implications for diffusion</a:t>
            </a:r>
            <a:endParaRPr/>
          </a:p>
        </p:txBody>
      </p:sp>
      <p:pic>
        <p:nvPicPr>
          <p:cNvPr id="8309" name="Google Shape;8309;p370"/>
          <p:cNvPicPr preferRelativeResize="0"/>
          <p:nvPr/>
        </p:nvPicPr>
        <p:blipFill>
          <a:blip r:embed="rId3">
            <a:alphaModFix/>
          </a:blip>
          <a:stretch>
            <a:fillRect/>
          </a:stretch>
        </p:blipFill>
        <p:spPr>
          <a:xfrm>
            <a:off x="4403400" y="1388200"/>
            <a:ext cx="4418250" cy="2916151"/>
          </a:xfrm>
          <a:prstGeom prst="rect">
            <a:avLst/>
          </a:prstGeom>
          <a:noFill/>
          <a:ln>
            <a:noFill/>
          </a:ln>
        </p:spPr>
      </p:pic>
    </p:spTree>
  </p:cSld>
  <p:clrMapOvr>
    <a:masterClrMapping/>
  </p:clrMapOvr>
</p:sld>
</file>

<file path=ppt/slides/slide3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3" name="Shape 8313"/>
        <p:cNvGrpSpPr/>
        <p:nvPr/>
      </p:nvGrpSpPr>
      <p:grpSpPr>
        <a:xfrm>
          <a:off x="0" y="0"/>
          <a:ext cx="0" cy="0"/>
          <a:chOff x="0" y="0"/>
          <a:chExt cx="0" cy="0"/>
        </a:xfrm>
      </p:grpSpPr>
      <p:sp>
        <p:nvSpPr>
          <p:cNvPr id="8314" name="Google Shape;8314;p3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pic>
        <p:nvPicPr>
          <p:cNvPr id="8315" name="Google Shape;8315;p371"/>
          <p:cNvPicPr preferRelativeResize="0"/>
          <p:nvPr/>
        </p:nvPicPr>
        <p:blipFill>
          <a:blip r:embed="rId3">
            <a:alphaModFix/>
          </a:blip>
          <a:stretch>
            <a:fillRect/>
          </a:stretch>
        </p:blipFill>
        <p:spPr>
          <a:xfrm>
            <a:off x="2215988" y="1250150"/>
            <a:ext cx="4712033" cy="3691475"/>
          </a:xfrm>
          <a:prstGeom prst="rect">
            <a:avLst/>
          </a:prstGeom>
          <a:noFill/>
          <a:ln>
            <a:noFill/>
          </a:ln>
        </p:spPr>
      </p:pic>
    </p:spTree>
  </p:cSld>
  <p:clrMapOvr>
    <a:masterClrMapping/>
  </p:clrMapOvr>
</p:sld>
</file>

<file path=ppt/slides/slide3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9" name="Shape 8319"/>
        <p:cNvGrpSpPr/>
        <p:nvPr/>
      </p:nvGrpSpPr>
      <p:grpSpPr>
        <a:xfrm>
          <a:off x="0" y="0"/>
          <a:ext cx="0" cy="0"/>
          <a:chOff x="0" y="0"/>
          <a:chExt cx="0" cy="0"/>
        </a:xfrm>
      </p:grpSpPr>
      <p:sp>
        <p:nvSpPr>
          <p:cNvPr id="8320" name="Google Shape;8320;p37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pic>
        <p:nvPicPr>
          <p:cNvPr id="8321" name="Google Shape;8321;p372">
            <a:hlinkClick r:id="rId3"/>
          </p:cNvPr>
          <p:cNvPicPr preferRelativeResize="0"/>
          <p:nvPr/>
        </p:nvPicPr>
        <p:blipFill>
          <a:blip r:embed="rId4">
            <a:alphaModFix/>
          </a:blip>
          <a:stretch>
            <a:fillRect/>
          </a:stretch>
        </p:blipFill>
        <p:spPr>
          <a:xfrm>
            <a:off x="2224063" y="1147225"/>
            <a:ext cx="4695870" cy="3691475"/>
          </a:xfrm>
          <a:prstGeom prst="rect">
            <a:avLst/>
          </a:prstGeom>
          <a:noFill/>
          <a:ln>
            <a:noFill/>
          </a:ln>
        </p:spPr>
      </p:pic>
    </p:spTree>
  </p:cSld>
  <p:clrMapOvr>
    <a:masterClrMapping/>
  </p:clrMapOvr>
</p:sld>
</file>

<file path=ppt/slides/slide3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8325" name="Shape 8325"/>
        <p:cNvGrpSpPr/>
        <p:nvPr/>
      </p:nvGrpSpPr>
      <p:grpSpPr>
        <a:xfrm>
          <a:off x="0" y="0"/>
          <a:ext cx="0" cy="0"/>
          <a:chOff x="0" y="0"/>
          <a:chExt cx="0" cy="0"/>
        </a:xfrm>
      </p:grpSpPr>
      <p:sp>
        <p:nvSpPr>
          <p:cNvPr id="8326" name="Google Shape;8326;p373"/>
          <p:cNvSpPr txBox="1"/>
          <p:nvPr>
            <p:ph type="ctrTitle"/>
          </p:nvPr>
        </p:nvSpPr>
        <p:spPr>
          <a:xfrm>
            <a:off x="3044700" y="945562"/>
            <a:ext cx="3054600" cy="203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Social</a:t>
            </a:r>
            <a:r>
              <a:rPr lang="en"/>
              <a:t> Position in Networks</a:t>
            </a:r>
            <a:endParaRPr/>
          </a:p>
        </p:txBody>
      </p:sp>
      <p:sp>
        <p:nvSpPr>
          <p:cNvPr id="8327" name="Google Shape;8327;p373"/>
          <p:cNvSpPr txBox="1"/>
          <p:nvPr>
            <p:ph idx="1" type="subTitle"/>
          </p:nvPr>
        </p:nvSpPr>
        <p:spPr>
          <a:xfrm>
            <a:off x="3044700" y="3116580"/>
            <a:ext cx="3054600" cy="70146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1" name="Shape 8331"/>
        <p:cNvGrpSpPr/>
        <p:nvPr/>
      </p:nvGrpSpPr>
      <p:grpSpPr>
        <a:xfrm>
          <a:off x="0" y="0"/>
          <a:ext cx="0" cy="0"/>
          <a:chOff x="0" y="0"/>
          <a:chExt cx="0" cy="0"/>
        </a:xfrm>
      </p:grpSpPr>
      <p:sp>
        <p:nvSpPr>
          <p:cNvPr id="8332" name="Google Shape;8332;p37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33" name="Google Shape;8333;p374"/>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standard social science </a:t>
            </a:r>
            <a:r>
              <a:rPr lang="en">
                <a:solidFill>
                  <a:srgbClr val="FF0000"/>
                </a:solidFill>
              </a:rPr>
              <a:t>social position</a:t>
            </a:r>
            <a:r>
              <a:rPr lang="en">
                <a:solidFill>
                  <a:schemeClr val="accent5"/>
                </a:solidFill>
              </a:rPr>
              <a:t> </a:t>
            </a:r>
            <a:r>
              <a:rPr lang="en"/>
              <a:t>is measured either:</a:t>
            </a:r>
            <a:endParaRPr/>
          </a:p>
          <a:p>
            <a:pPr indent="-317500" lvl="1" marL="914400" rtl="0" algn="l">
              <a:spcBef>
                <a:spcPts val="0"/>
              </a:spcBef>
              <a:spcAft>
                <a:spcPts val="0"/>
              </a:spcAft>
              <a:buSzPts val="1400"/>
              <a:buChar char="○"/>
            </a:pPr>
            <a:r>
              <a:rPr lang="en"/>
              <a:t>As a </a:t>
            </a:r>
            <a:r>
              <a:rPr b="1" lang="en"/>
              <a:t>rank </a:t>
            </a:r>
            <a:r>
              <a:rPr lang="en"/>
              <a:t>on some kind of ordinal or continuous </a:t>
            </a:r>
            <a:r>
              <a:rPr b="1" lang="en"/>
              <a:t>scale</a:t>
            </a:r>
            <a:endParaRPr b="1"/>
          </a:p>
          <a:p>
            <a:pPr indent="-317500" lvl="2" marL="1371600" rtl="0" algn="l">
              <a:spcBef>
                <a:spcPts val="0"/>
              </a:spcBef>
              <a:spcAft>
                <a:spcPts val="0"/>
              </a:spcAft>
              <a:buSzPts val="1400"/>
              <a:buChar char="■"/>
            </a:pPr>
            <a:r>
              <a:rPr lang="en"/>
              <a:t>Wealth, income, education</a:t>
            </a:r>
            <a:endParaRPr/>
          </a:p>
          <a:p>
            <a:pPr indent="-317500" lvl="1" marL="914400" rtl="0" algn="l">
              <a:spcBef>
                <a:spcPts val="0"/>
              </a:spcBef>
              <a:spcAft>
                <a:spcPts val="0"/>
              </a:spcAft>
              <a:buSzPts val="1400"/>
              <a:buChar char="○"/>
            </a:pPr>
            <a:r>
              <a:rPr lang="en"/>
              <a:t>As </a:t>
            </a:r>
            <a:r>
              <a:rPr b="1" lang="en"/>
              <a:t>membership </a:t>
            </a:r>
            <a:r>
              <a:rPr lang="en"/>
              <a:t>in some kind of nominal </a:t>
            </a:r>
            <a:r>
              <a:rPr b="1" lang="en"/>
              <a:t>category</a:t>
            </a:r>
            <a:endParaRPr b="1"/>
          </a:p>
          <a:p>
            <a:pPr indent="-317500" lvl="2" marL="1371600" rtl="0" algn="l">
              <a:spcBef>
                <a:spcPts val="0"/>
              </a:spcBef>
              <a:spcAft>
                <a:spcPts val="0"/>
              </a:spcAft>
              <a:buSzPts val="1400"/>
              <a:buChar char="■"/>
            </a:pPr>
            <a:r>
              <a:rPr lang="en"/>
              <a:t>Gender, race, marital status</a:t>
            </a:r>
            <a:endParaRPr/>
          </a:p>
          <a:p>
            <a:pPr indent="-317500" lvl="1" marL="914400" rtl="0" algn="l">
              <a:spcBef>
                <a:spcPts val="0"/>
              </a:spcBef>
              <a:spcAft>
                <a:spcPts val="0"/>
              </a:spcAft>
              <a:buSzPts val="1400"/>
              <a:buChar char="○"/>
            </a:pPr>
            <a:r>
              <a:rPr lang="en"/>
              <a:t>Standard social science measures social position as </a:t>
            </a:r>
            <a:r>
              <a:rPr b="1" lang="en"/>
              <a:t>attribute similarity</a:t>
            </a:r>
            <a:endParaRPr b="1"/>
          </a:p>
          <a:p>
            <a:pPr indent="0" lvl="0" marL="914400" rtl="0" algn="l">
              <a:spcBef>
                <a:spcPts val="0"/>
              </a:spcBef>
              <a:spcAft>
                <a:spcPts val="0"/>
              </a:spcAft>
              <a:buNone/>
            </a:pPr>
            <a:r>
              <a:t/>
            </a:r>
            <a:endParaRPr i="1"/>
          </a:p>
          <a:p>
            <a:pPr indent="0" lvl="0" marL="914400" marR="0" rtl="0" algn="l">
              <a:lnSpc>
                <a:spcPct val="115000"/>
              </a:lnSpc>
              <a:spcBef>
                <a:spcPts val="0"/>
              </a:spcBef>
              <a:spcAft>
                <a:spcPts val="0"/>
              </a:spcAft>
              <a:buNone/>
            </a:pPr>
            <a:r>
              <a:t/>
            </a:r>
            <a:endParaRPr b="1"/>
          </a:p>
          <a:p>
            <a:pPr indent="0" lvl="0" marL="457200" marR="0" rtl="0" algn="l">
              <a:lnSpc>
                <a:spcPct val="115000"/>
              </a:lnSpc>
              <a:spcBef>
                <a:spcPts val="1600"/>
              </a:spcBef>
              <a:spcAft>
                <a:spcPts val="0"/>
              </a:spcAft>
              <a:buNone/>
            </a:pPr>
            <a:r>
              <a:t/>
            </a:r>
            <a:endParaRPr/>
          </a:p>
          <a:p>
            <a:pPr indent="0" lvl="0" marL="457200" rtl="0" algn="l">
              <a:spcBef>
                <a:spcPts val="1600"/>
              </a:spcBef>
              <a:spcAft>
                <a:spcPts val="0"/>
              </a:spcAft>
              <a:buNone/>
            </a:pPr>
            <a:r>
              <a:t/>
            </a:r>
            <a:endParaRPr/>
          </a:p>
        </p:txBody>
      </p:sp>
    </p:spTree>
  </p:cSld>
  <p:clrMapOvr>
    <a:masterClrMapping/>
  </p:clrMapOvr>
</p:sld>
</file>

<file path=ppt/slides/slide3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7" name="Shape 8337"/>
        <p:cNvGrpSpPr/>
        <p:nvPr/>
      </p:nvGrpSpPr>
      <p:grpSpPr>
        <a:xfrm>
          <a:off x="0" y="0"/>
          <a:ext cx="0" cy="0"/>
          <a:chOff x="0" y="0"/>
          <a:chExt cx="0" cy="0"/>
        </a:xfrm>
      </p:grpSpPr>
      <p:sp>
        <p:nvSpPr>
          <p:cNvPr id="8338" name="Google Shape;8338;p375"/>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39" name="Google Shape;8339;p375"/>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standard social science </a:t>
            </a:r>
            <a:r>
              <a:rPr lang="en">
                <a:solidFill>
                  <a:srgbClr val="FF0000"/>
                </a:solidFill>
              </a:rPr>
              <a:t>social position</a:t>
            </a:r>
            <a:r>
              <a:rPr lang="en">
                <a:solidFill>
                  <a:schemeClr val="accent5"/>
                </a:solidFill>
              </a:rPr>
              <a:t> </a:t>
            </a:r>
            <a:r>
              <a:rPr lang="en"/>
              <a:t>is measured either:</a:t>
            </a:r>
            <a:endParaRPr/>
          </a:p>
          <a:p>
            <a:pPr indent="-317500" lvl="1" marL="914400" rtl="0" algn="l">
              <a:spcBef>
                <a:spcPts val="0"/>
              </a:spcBef>
              <a:spcAft>
                <a:spcPts val="0"/>
              </a:spcAft>
              <a:buSzPts val="1400"/>
              <a:buChar char="○"/>
            </a:pPr>
            <a:r>
              <a:rPr lang="en"/>
              <a:t>As a </a:t>
            </a:r>
            <a:r>
              <a:rPr b="1" lang="en"/>
              <a:t>rank </a:t>
            </a:r>
            <a:r>
              <a:rPr lang="en"/>
              <a:t>on some kind of ordinal or continuous </a:t>
            </a:r>
            <a:r>
              <a:rPr b="1" lang="en"/>
              <a:t>scale</a:t>
            </a:r>
            <a:endParaRPr b="1"/>
          </a:p>
          <a:p>
            <a:pPr indent="-317500" lvl="2" marL="1371600" rtl="0" algn="l">
              <a:spcBef>
                <a:spcPts val="0"/>
              </a:spcBef>
              <a:spcAft>
                <a:spcPts val="0"/>
              </a:spcAft>
              <a:buSzPts val="1400"/>
              <a:buChar char="■"/>
            </a:pPr>
            <a:r>
              <a:rPr lang="en"/>
              <a:t>Wealth, income, education</a:t>
            </a:r>
            <a:endParaRPr/>
          </a:p>
          <a:p>
            <a:pPr indent="-317500" lvl="1" marL="914400" rtl="0" algn="l">
              <a:spcBef>
                <a:spcPts val="0"/>
              </a:spcBef>
              <a:spcAft>
                <a:spcPts val="0"/>
              </a:spcAft>
              <a:buSzPts val="1400"/>
              <a:buChar char="○"/>
            </a:pPr>
            <a:r>
              <a:rPr lang="en"/>
              <a:t>As </a:t>
            </a:r>
            <a:r>
              <a:rPr b="1" lang="en"/>
              <a:t>membership </a:t>
            </a:r>
            <a:r>
              <a:rPr lang="en"/>
              <a:t>in some kind of nominal </a:t>
            </a:r>
            <a:r>
              <a:rPr b="1" lang="en"/>
              <a:t>category</a:t>
            </a:r>
            <a:endParaRPr b="1"/>
          </a:p>
          <a:p>
            <a:pPr indent="-317500" lvl="2" marL="1371600" rtl="0" algn="l">
              <a:spcBef>
                <a:spcPts val="0"/>
              </a:spcBef>
              <a:spcAft>
                <a:spcPts val="0"/>
              </a:spcAft>
              <a:buSzPts val="1400"/>
              <a:buChar char="■"/>
            </a:pPr>
            <a:r>
              <a:rPr lang="en"/>
              <a:t>Gender, race, marital status</a:t>
            </a:r>
            <a:endParaRPr/>
          </a:p>
          <a:p>
            <a:pPr indent="-317500" lvl="1" marL="914400" rtl="0" algn="l">
              <a:spcBef>
                <a:spcPts val="0"/>
              </a:spcBef>
              <a:spcAft>
                <a:spcPts val="0"/>
              </a:spcAft>
              <a:buSzPts val="1400"/>
              <a:buChar char="○"/>
            </a:pPr>
            <a:r>
              <a:rPr lang="en"/>
              <a:t>Standard social science measures social position as </a:t>
            </a:r>
            <a:r>
              <a:rPr b="1" lang="en"/>
              <a:t>attribute similarity</a:t>
            </a:r>
            <a:endParaRPr b="1"/>
          </a:p>
          <a:p>
            <a:pPr indent="-317500" lvl="2" marL="1371600" rtl="0" algn="l">
              <a:spcBef>
                <a:spcPts val="0"/>
              </a:spcBef>
              <a:spcAft>
                <a:spcPts val="0"/>
              </a:spcAft>
              <a:buSzPts val="1400"/>
              <a:buChar char="■"/>
            </a:pPr>
            <a:r>
              <a:rPr i="1" lang="en"/>
              <a:t>Two actors occupy the same social position is they have the same rank on scale (e.g., college educated) or are members of the same nominal category (e.g., gender)</a:t>
            </a:r>
            <a:endParaRPr i="1"/>
          </a:p>
          <a:p>
            <a:pPr indent="0" lvl="0" marL="914400" marR="0" rtl="0" algn="l">
              <a:lnSpc>
                <a:spcPct val="115000"/>
              </a:lnSpc>
              <a:spcBef>
                <a:spcPts val="0"/>
              </a:spcBef>
              <a:spcAft>
                <a:spcPts val="0"/>
              </a:spcAft>
              <a:buNone/>
            </a:pPr>
            <a:r>
              <a:t/>
            </a:r>
            <a:endParaRPr b="1"/>
          </a:p>
          <a:p>
            <a:pPr indent="0" lvl="0" marL="457200" marR="0" rtl="0" algn="l">
              <a:lnSpc>
                <a:spcPct val="115000"/>
              </a:lnSpc>
              <a:spcBef>
                <a:spcPts val="1600"/>
              </a:spcBef>
              <a:spcAft>
                <a:spcPts val="0"/>
              </a:spcAft>
              <a:buNone/>
            </a:pPr>
            <a:r>
              <a:t/>
            </a:r>
            <a:endParaRPr/>
          </a:p>
          <a:p>
            <a:pPr indent="0" lvl="0" marL="457200" rtl="0" algn="l">
              <a:spcBef>
                <a:spcPts val="1600"/>
              </a:spcBef>
              <a:spcAft>
                <a:spcPts val="0"/>
              </a:spcAft>
              <a:buNone/>
            </a:pPr>
            <a:r>
              <a:t/>
            </a:r>
            <a:endParaRPr/>
          </a:p>
        </p:txBody>
      </p:sp>
    </p:spTree>
  </p:cSld>
  <p:clrMapOvr>
    <a:masterClrMapping/>
  </p:clrMapOvr>
</p:sld>
</file>

<file path=ppt/slides/slide3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3" name="Shape 8343"/>
        <p:cNvGrpSpPr/>
        <p:nvPr/>
      </p:nvGrpSpPr>
      <p:grpSpPr>
        <a:xfrm>
          <a:off x="0" y="0"/>
          <a:ext cx="0" cy="0"/>
          <a:chOff x="0" y="0"/>
          <a:chExt cx="0" cy="0"/>
        </a:xfrm>
      </p:grpSpPr>
      <p:sp>
        <p:nvSpPr>
          <p:cNvPr id="8344" name="Google Shape;8344;p376"/>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45" name="Google Shape;8345;p376"/>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standard social science </a:t>
            </a:r>
            <a:r>
              <a:rPr lang="en">
                <a:solidFill>
                  <a:srgbClr val="FF0000"/>
                </a:solidFill>
              </a:rPr>
              <a:t>social position</a:t>
            </a:r>
            <a:r>
              <a:rPr lang="en">
                <a:solidFill>
                  <a:schemeClr val="accent5"/>
                </a:solidFill>
              </a:rPr>
              <a:t> </a:t>
            </a:r>
            <a:r>
              <a:rPr lang="en"/>
              <a:t>is measured either:</a:t>
            </a:r>
            <a:endParaRPr/>
          </a:p>
          <a:p>
            <a:pPr indent="-317500" lvl="1" marL="914400" rtl="0" algn="l">
              <a:spcBef>
                <a:spcPts val="0"/>
              </a:spcBef>
              <a:spcAft>
                <a:spcPts val="0"/>
              </a:spcAft>
              <a:buSzPts val="1400"/>
              <a:buChar char="○"/>
            </a:pPr>
            <a:r>
              <a:rPr lang="en"/>
              <a:t>As a </a:t>
            </a:r>
            <a:r>
              <a:rPr b="1" lang="en"/>
              <a:t>rank </a:t>
            </a:r>
            <a:r>
              <a:rPr lang="en"/>
              <a:t>on some kind of ordinal or continuous </a:t>
            </a:r>
            <a:r>
              <a:rPr b="1" lang="en"/>
              <a:t>scale</a:t>
            </a:r>
            <a:endParaRPr b="1"/>
          </a:p>
          <a:p>
            <a:pPr indent="-317500" lvl="2" marL="1371600" rtl="0" algn="l">
              <a:spcBef>
                <a:spcPts val="0"/>
              </a:spcBef>
              <a:spcAft>
                <a:spcPts val="0"/>
              </a:spcAft>
              <a:buSzPts val="1400"/>
              <a:buChar char="■"/>
            </a:pPr>
            <a:r>
              <a:rPr lang="en"/>
              <a:t>Wealth, income, education</a:t>
            </a:r>
            <a:endParaRPr/>
          </a:p>
          <a:p>
            <a:pPr indent="-317500" lvl="1" marL="914400" rtl="0" algn="l">
              <a:spcBef>
                <a:spcPts val="0"/>
              </a:spcBef>
              <a:spcAft>
                <a:spcPts val="0"/>
              </a:spcAft>
              <a:buSzPts val="1400"/>
              <a:buChar char="○"/>
            </a:pPr>
            <a:r>
              <a:rPr lang="en"/>
              <a:t>As </a:t>
            </a:r>
            <a:r>
              <a:rPr b="1" lang="en"/>
              <a:t>membership </a:t>
            </a:r>
            <a:r>
              <a:rPr lang="en"/>
              <a:t>in some kind of nominal </a:t>
            </a:r>
            <a:r>
              <a:rPr b="1" lang="en"/>
              <a:t>category</a:t>
            </a:r>
            <a:endParaRPr b="1"/>
          </a:p>
          <a:p>
            <a:pPr indent="-317500" lvl="2" marL="1371600" rtl="0" algn="l">
              <a:spcBef>
                <a:spcPts val="0"/>
              </a:spcBef>
              <a:spcAft>
                <a:spcPts val="0"/>
              </a:spcAft>
              <a:buSzPts val="1400"/>
              <a:buChar char="■"/>
            </a:pPr>
            <a:r>
              <a:rPr lang="en"/>
              <a:t>Gender, race, marital status</a:t>
            </a:r>
            <a:endParaRPr/>
          </a:p>
          <a:p>
            <a:pPr indent="-317500" lvl="1" marL="914400" rtl="0" algn="l">
              <a:spcBef>
                <a:spcPts val="0"/>
              </a:spcBef>
              <a:spcAft>
                <a:spcPts val="0"/>
              </a:spcAft>
              <a:buSzPts val="1400"/>
              <a:buChar char="○"/>
            </a:pPr>
            <a:r>
              <a:rPr lang="en"/>
              <a:t>Standard social science measures social position as </a:t>
            </a:r>
            <a:r>
              <a:rPr b="1" lang="en"/>
              <a:t>attribute similarity</a:t>
            </a:r>
            <a:endParaRPr b="1"/>
          </a:p>
          <a:p>
            <a:pPr indent="-317500" lvl="2" marL="1371600" rtl="0" algn="l">
              <a:spcBef>
                <a:spcPts val="0"/>
              </a:spcBef>
              <a:spcAft>
                <a:spcPts val="0"/>
              </a:spcAft>
              <a:buSzPts val="1400"/>
              <a:buChar char="■"/>
            </a:pPr>
            <a:r>
              <a:rPr i="1" lang="en"/>
              <a:t>Two actors occupy the same social position is they have the same rank on scale (e.g., college educated) or are members of the same nominal category (e.g., gender)</a:t>
            </a:r>
            <a:endParaRPr i="1"/>
          </a:p>
          <a:p>
            <a:pPr indent="-342900" lvl="0" marL="457200" rtl="0" algn="l">
              <a:spcBef>
                <a:spcPts val="0"/>
              </a:spcBef>
              <a:spcAft>
                <a:spcPts val="0"/>
              </a:spcAft>
              <a:buSzPts val="1800"/>
              <a:buChar char="●"/>
            </a:pPr>
            <a:r>
              <a:rPr lang="en"/>
              <a:t>In </a:t>
            </a:r>
            <a:r>
              <a:rPr b="1" lang="en"/>
              <a:t>social network analysis</a:t>
            </a:r>
            <a:r>
              <a:rPr lang="en"/>
              <a:t> </a:t>
            </a:r>
            <a:r>
              <a:rPr lang="en">
                <a:solidFill>
                  <a:srgbClr val="FF0000"/>
                </a:solidFill>
              </a:rPr>
              <a:t>social position </a:t>
            </a:r>
            <a:r>
              <a:rPr lang="en"/>
              <a:t>is measured by the pattern of relations each actor has with other actor in the network</a:t>
            </a:r>
            <a:endParaRPr/>
          </a:p>
          <a:p>
            <a:pPr indent="-317500" lvl="1" marL="914400" rtl="0" algn="l">
              <a:spcBef>
                <a:spcPts val="0"/>
              </a:spcBef>
              <a:spcAft>
                <a:spcPts val="0"/>
              </a:spcAft>
              <a:buSzPts val="1400"/>
              <a:buChar char="○"/>
            </a:pPr>
            <a:r>
              <a:rPr lang="en"/>
              <a:t>Social network analysis measures social position as </a:t>
            </a:r>
            <a:r>
              <a:rPr b="1" lang="en"/>
              <a:t>relational similarity</a:t>
            </a:r>
            <a:endParaRPr b="1"/>
          </a:p>
          <a:p>
            <a:pPr indent="0" lvl="0" marL="0" rtl="0" algn="l">
              <a:spcBef>
                <a:spcPts val="0"/>
              </a:spcBef>
              <a:spcAft>
                <a:spcPts val="0"/>
              </a:spcAft>
              <a:buNone/>
            </a:pPr>
            <a:r>
              <a:t/>
            </a:r>
            <a:endParaRPr b="1"/>
          </a:p>
          <a:p>
            <a:pPr indent="0" lvl="0" marL="914400" rtl="0" algn="l">
              <a:spcBef>
                <a:spcPts val="0"/>
              </a:spcBef>
              <a:spcAft>
                <a:spcPts val="0"/>
              </a:spcAft>
              <a:buNone/>
            </a:pPr>
            <a:r>
              <a:t/>
            </a:r>
            <a:endParaRPr i="1"/>
          </a:p>
          <a:p>
            <a:pPr indent="0" lvl="0" marL="914400" marR="0" rtl="0" algn="l">
              <a:lnSpc>
                <a:spcPct val="115000"/>
              </a:lnSpc>
              <a:spcBef>
                <a:spcPts val="0"/>
              </a:spcBef>
              <a:spcAft>
                <a:spcPts val="0"/>
              </a:spcAft>
              <a:buNone/>
            </a:pPr>
            <a:r>
              <a:t/>
            </a:r>
            <a:endParaRPr b="1"/>
          </a:p>
          <a:p>
            <a:pPr indent="0" lvl="0" marL="457200" marR="0" rtl="0" algn="l">
              <a:lnSpc>
                <a:spcPct val="115000"/>
              </a:lnSpc>
              <a:spcBef>
                <a:spcPts val="1600"/>
              </a:spcBef>
              <a:spcAft>
                <a:spcPts val="0"/>
              </a:spcAft>
              <a:buNone/>
            </a:pPr>
            <a:r>
              <a:t/>
            </a:r>
            <a:endParaRPr/>
          </a:p>
          <a:p>
            <a:pPr indent="0" lvl="0" marL="457200" rtl="0" algn="l">
              <a:spcBef>
                <a:spcPts val="1600"/>
              </a:spcBef>
              <a:spcAft>
                <a:spcPts val="0"/>
              </a:spcAft>
              <a:buNone/>
            </a:pPr>
            <a:r>
              <a:t/>
            </a:r>
            <a:endParaRPr/>
          </a:p>
        </p:txBody>
      </p:sp>
    </p:spTree>
  </p:cSld>
  <p:clrMapOvr>
    <a:masterClrMapping/>
  </p:clrMapOvr>
</p:sld>
</file>

<file path=ppt/slides/slide3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9" name="Shape 8349"/>
        <p:cNvGrpSpPr/>
        <p:nvPr/>
      </p:nvGrpSpPr>
      <p:grpSpPr>
        <a:xfrm>
          <a:off x="0" y="0"/>
          <a:ext cx="0" cy="0"/>
          <a:chOff x="0" y="0"/>
          <a:chExt cx="0" cy="0"/>
        </a:xfrm>
      </p:grpSpPr>
      <p:sp>
        <p:nvSpPr>
          <p:cNvPr id="8350" name="Google Shape;8350;p377"/>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51" name="Google Shape;8351;p377"/>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standard social science </a:t>
            </a:r>
            <a:r>
              <a:rPr lang="en">
                <a:solidFill>
                  <a:srgbClr val="FF0000"/>
                </a:solidFill>
              </a:rPr>
              <a:t>social position</a:t>
            </a:r>
            <a:r>
              <a:rPr lang="en">
                <a:solidFill>
                  <a:schemeClr val="accent5"/>
                </a:solidFill>
              </a:rPr>
              <a:t> </a:t>
            </a:r>
            <a:r>
              <a:rPr lang="en"/>
              <a:t>is measured either:</a:t>
            </a:r>
            <a:endParaRPr/>
          </a:p>
          <a:p>
            <a:pPr indent="-317500" lvl="1" marL="914400" rtl="0" algn="l">
              <a:spcBef>
                <a:spcPts val="0"/>
              </a:spcBef>
              <a:spcAft>
                <a:spcPts val="0"/>
              </a:spcAft>
              <a:buSzPts val="1400"/>
              <a:buChar char="○"/>
            </a:pPr>
            <a:r>
              <a:rPr lang="en"/>
              <a:t>As a </a:t>
            </a:r>
            <a:r>
              <a:rPr b="1" lang="en"/>
              <a:t>rank </a:t>
            </a:r>
            <a:r>
              <a:rPr lang="en"/>
              <a:t>on some kind of ordinal or continuous </a:t>
            </a:r>
            <a:r>
              <a:rPr b="1" lang="en"/>
              <a:t>scale</a:t>
            </a:r>
            <a:endParaRPr b="1"/>
          </a:p>
          <a:p>
            <a:pPr indent="-317500" lvl="2" marL="1371600" rtl="0" algn="l">
              <a:spcBef>
                <a:spcPts val="0"/>
              </a:spcBef>
              <a:spcAft>
                <a:spcPts val="0"/>
              </a:spcAft>
              <a:buSzPts val="1400"/>
              <a:buChar char="■"/>
            </a:pPr>
            <a:r>
              <a:rPr lang="en"/>
              <a:t>Wealth, income, education</a:t>
            </a:r>
            <a:endParaRPr/>
          </a:p>
          <a:p>
            <a:pPr indent="-317500" lvl="1" marL="914400" rtl="0" algn="l">
              <a:spcBef>
                <a:spcPts val="0"/>
              </a:spcBef>
              <a:spcAft>
                <a:spcPts val="0"/>
              </a:spcAft>
              <a:buSzPts val="1400"/>
              <a:buChar char="○"/>
            </a:pPr>
            <a:r>
              <a:rPr lang="en"/>
              <a:t>As </a:t>
            </a:r>
            <a:r>
              <a:rPr b="1" lang="en"/>
              <a:t>membership </a:t>
            </a:r>
            <a:r>
              <a:rPr lang="en"/>
              <a:t>in some kind of nominal </a:t>
            </a:r>
            <a:r>
              <a:rPr b="1" lang="en"/>
              <a:t>category</a:t>
            </a:r>
            <a:endParaRPr b="1"/>
          </a:p>
          <a:p>
            <a:pPr indent="-317500" lvl="2" marL="1371600" rtl="0" algn="l">
              <a:spcBef>
                <a:spcPts val="0"/>
              </a:spcBef>
              <a:spcAft>
                <a:spcPts val="0"/>
              </a:spcAft>
              <a:buSzPts val="1400"/>
              <a:buChar char="■"/>
            </a:pPr>
            <a:r>
              <a:rPr lang="en"/>
              <a:t>Gender, race, marital status</a:t>
            </a:r>
            <a:endParaRPr/>
          </a:p>
          <a:p>
            <a:pPr indent="-317500" lvl="1" marL="914400" rtl="0" algn="l">
              <a:spcBef>
                <a:spcPts val="0"/>
              </a:spcBef>
              <a:spcAft>
                <a:spcPts val="0"/>
              </a:spcAft>
              <a:buSzPts val="1400"/>
              <a:buChar char="○"/>
            </a:pPr>
            <a:r>
              <a:rPr lang="en"/>
              <a:t>Standard social science measures social position as </a:t>
            </a:r>
            <a:r>
              <a:rPr b="1" lang="en"/>
              <a:t>attribute similarity</a:t>
            </a:r>
            <a:endParaRPr b="1"/>
          </a:p>
          <a:p>
            <a:pPr indent="-317500" lvl="2" marL="1371600" rtl="0" algn="l">
              <a:spcBef>
                <a:spcPts val="0"/>
              </a:spcBef>
              <a:spcAft>
                <a:spcPts val="0"/>
              </a:spcAft>
              <a:buSzPts val="1400"/>
              <a:buChar char="■"/>
            </a:pPr>
            <a:r>
              <a:rPr i="1" lang="en"/>
              <a:t>Two actors occupy the same social position is they have the same rank on scale (e.g., college educated) or are members of the same nominal category (e.g., gender)</a:t>
            </a:r>
            <a:endParaRPr i="1"/>
          </a:p>
          <a:p>
            <a:pPr indent="-342900" lvl="0" marL="457200" rtl="0" algn="l">
              <a:spcBef>
                <a:spcPts val="0"/>
              </a:spcBef>
              <a:spcAft>
                <a:spcPts val="0"/>
              </a:spcAft>
              <a:buSzPts val="1800"/>
              <a:buChar char="●"/>
            </a:pPr>
            <a:r>
              <a:rPr lang="en"/>
              <a:t>In </a:t>
            </a:r>
            <a:r>
              <a:rPr b="1" lang="en"/>
              <a:t>social network analysis</a:t>
            </a:r>
            <a:r>
              <a:rPr lang="en"/>
              <a:t> </a:t>
            </a:r>
            <a:r>
              <a:rPr lang="en">
                <a:solidFill>
                  <a:srgbClr val="FF0000"/>
                </a:solidFill>
              </a:rPr>
              <a:t>social position </a:t>
            </a:r>
            <a:r>
              <a:rPr lang="en"/>
              <a:t>is measured by the pattern of relations each actor has with other actor in the network</a:t>
            </a:r>
            <a:endParaRPr/>
          </a:p>
          <a:p>
            <a:pPr indent="-317500" lvl="1" marL="914400" rtl="0" algn="l">
              <a:spcBef>
                <a:spcPts val="0"/>
              </a:spcBef>
              <a:spcAft>
                <a:spcPts val="0"/>
              </a:spcAft>
              <a:buSzPts val="1400"/>
              <a:buChar char="○"/>
            </a:pPr>
            <a:r>
              <a:rPr lang="en"/>
              <a:t>Social network analysis measures social position as </a:t>
            </a:r>
            <a:r>
              <a:rPr b="1" lang="en"/>
              <a:t>relational similarity</a:t>
            </a:r>
            <a:endParaRPr b="1"/>
          </a:p>
          <a:p>
            <a:pPr indent="-317500" lvl="2" marL="1371600" rtl="0" algn="l">
              <a:spcBef>
                <a:spcPts val="0"/>
              </a:spcBef>
              <a:spcAft>
                <a:spcPts val="0"/>
              </a:spcAft>
              <a:buSzPts val="1400"/>
              <a:buChar char="■"/>
            </a:pPr>
            <a:r>
              <a:rPr i="1" lang="en"/>
              <a:t>Two actors occupy the same social position is they have the same (or similar) sets of ties to other actors in the network</a:t>
            </a:r>
            <a:endParaRPr i="1"/>
          </a:p>
          <a:p>
            <a:pPr indent="0" lvl="0" marL="1371600" rtl="0" algn="l">
              <a:spcBef>
                <a:spcPts val="0"/>
              </a:spcBef>
              <a:spcAft>
                <a:spcPts val="0"/>
              </a:spcAft>
              <a:buNone/>
            </a:pPr>
            <a:r>
              <a:t/>
            </a:r>
            <a:endParaRPr b="1"/>
          </a:p>
          <a:p>
            <a:pPr indent="0" lvl="0" marL="914400" rtl="0" algn="l">
              <a:spcBef>
                <a:spcPts val="0"/>
              </a:spcBef>
              <a:spcAft>
                <a:spcPts val="0"/>
              </a:spcAft>
              <a:buNone/>
            </a:pPr>
            <a:r>
              <a:t/>
            </a:r>
            <a:endParaRPr i="1"/>
          </a:p>
          <a:p>
            <a:pPr indent="0" lvl="0" marL="914400" marR="0" rtl="0" algn="l">
              <a:lnSpc>
                <a:spcPct val="115000"/>
              </a:lnSpc>
              <a:spcBef>
                <a:spcPts val="0"/>
              </a:spcBef>
              <a:spcAft>
                <a:spcPts val="0"/>
              </a:spcAft>
              <a:buNone/>
            </a:pPr>
            <a:r>
              <a:t/>
            </a:r>
            <a:endParaRPr b="1"/>
          </a:p>
          <a:p>
            <a:pPr indent="0" lvl="0" marL="457200" marR="0" rtl="0" algn="l">
              <a:lnSpc>
                <a:spcPct val="115000"/>
              </a:lnSpc>
              <a:spcBef>
                <a:spcPts val="1600"/>
              </a:spcBef>
              <a:spcAft>
                <a:spcPts val="0"/>
              </a:spcAft>
              <a:buNone/>
            </a:pPr>
            <a:r>
              <a:t/>
            </a:r>
            <a:endParaRPr/>
          </a:p>
          <a:p>
            <a:pPr indent="0" lvl="0" marL="457200" rtl="0" algn="l">
              <a:spcBef>
                <a:spcPts val="1600"/>
              </a:spcBef>
              <a:spcAft>
                <a:spcPts val="0"/>
              </a:spcAft>
              <a:buNone/>
            </a:pPr>
            <a:r>
              <a:t/>
            </a:r>
            <a:endParaRPr/>
          </a:p>
        </p:txBody>
      </p:sp>
    </p:spTree>
  </p:cSld>
  <p:clrMapOvr>
    <a:masterClrMapping/>
  </p:clrMapOvr>
</p:sld>
</file>

<file path=ppt/slides/slide3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5" name="Shape 8355"/>
        <p:cNvGrpSpPr/>
        <p:nvPr/>
      </p:nvGrpSpPr>
      <p:grpSpPr>
        <a:xfrm>
          <a:off x="0" y="0"/>
          <a:ext cx="0" cy="0"/>
          <a:chOff x="0" y="0"/>
          <a:chExt cx="0" cy="0"/>
        </a:xfrm>
      </p:grpSpPr>
      <p:sp>
        <p:nvSpPr>
          <p:cNvPr id="8356" name="Google Shape;8356;p378"/>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57" name="Google Shape;8357;p378"/>
          <p:cNvSpPr txBox="1"/>
          <p:nvPr>
            <p:ph idx="1" type="body"/>
          </p:nvPr>
        </p:nvSpPr>
        <p:spPr>
          <a:xfrm>
            <a:off x="311700" y="1225215"/>
            <a:ext cx="5029800" cy="339471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Positional analysis</a:t>
            </a:r>
            <a:r>
              <a:rPr lang="en"/>
              <a:t> </a:t>
            </a:r>
            <a:r>
              <a:rPr lang="en"/>
              <a:t>is the branch of social network analysis in charge of: </a:t>
            </a:r>
            <a:endParaRPr/>
          </a:p>
          <a:p>
            <a:pPr indent="-317500" lvl="1" marL="914400" rtl="0" algn="l">
              <a:spcBef>
                <a:spcPts val="0"/>
              </a:spcBef>
              <a:spcAft>
                <a:spcPts val="0"/>
              </a:spcAft>
              <a:buSzPts val="1400"/>
              <a:buChar char="○"/>
            </a:pPr>
            <a:r>
              <a:rPr lang="en"/>
              <a:t>Defining different notions of network position</a:t>
            </a:r>
            <a:endParaRPr/>
          </a:p>
          <a:p>
            <a:pPr indent="-317500" lvl="2" marL="1371600" rtl="0" algn="l">
              <a:spcBef>
                <a:spcPts val="0"/>
              </a:spcBef>
              <a:spcAft>
                <a:spcPts val="0"/>
              </a:spcAft>
              <a:buSzPts val="1400"/>
              <a:buChar char="■"/>
            </a:pPr>
            <a:r>
              <a:rPr lang="en"/>
              <a:t>Using graph theory</a:t>
            </a:r>
            <a:endParaRPr/>
          </a:p>
          <a:p>
            <a:pPr indent="-317500" lvl="1" marL="914400" rtl="0" algn="l">
              <a:spcBef>
                <a:spcPts val="0"/>
              </a:spcBef>
              <a:spcAft>
                <a:spcPts val="0"/>
              </a:spcAft>
              <a:buSzPts val="1400"/>
              <a:buChar char="○"/>
            </a:pPr>
            <a:r>
              <a:rPr lang="en"/>
              <a:t>Developing techniques to measure them:</a:t>
            </a:r>
            <a:endParaRPr/>
          </a:p>
          <a:p>
            <a:pPr indent="-317500" lvl="2" marL="1371600" rtl="0" algn="l">
              <a:spcBef>
                <a:spcPts val="0"/>
              </a:spcBef>
              <a:spcAft>
                <a:spcPts val="0"/>
              </a:spcAft>
              <a:buSzPts val="1400"/>
              <a:buChar char="■"/>
            </a:pPr>
            <a:r>
              <a:rPr lang="en"/>
              <a:t>Using matrix algebra</a:t>
            </a:r>
            <a:endParaRPr/>
          </a:p>
          <a:p>
            <a:pPr indent="-317500" lvl="1" marL="914400" rtl="0" algn="l">
              <a:spcBef>
                <a:spcPts val="0"/>
              </a:spcBef>
              <a:spcAft>
                <a:spcPts val="0"/>
              </a:spcAft>
              <a:buSzPts val="1400"/>
              <a:buChar char="○"/>
            </a:pPr>
            <a:r>
              <a:rPr lang="en"/>
              <a:t>Our usual “three-step” shuffle</a:t>
            </a:r>
            <a:endParaRPr/>
          </a:p>
        </p:txBody>
      </p:sp>
      <p:graphicFrame>
        <p:nvGraphicFramePr>
          <p:cNvPr id="8358" name="Google Shape;8358;p378"/>
          <p:cNvGraphicFramePr/>
          <p:nvPr/>
        </p:nvGraphicFramePr>
        <p:xfrm>
          <a:off x="5891688" y="2256147"/>
          <a:ext cx="3000000" cy="3000000"/>
        </p:xfrm>
        <a:graphic>
          <a:graphicData uri="http://schemas.openxmlformats.org/drawingml/2006/table">
            <a:tbl>
              <a:tblPr>
                <a:noFill/>
                <a:tableStyleId>{7DE59CC5-BFA2-4C44-9D40-4E4266A2D9C1}</a:tableStyleId>
              </a:tblPr>
              <a:tblGrid>
                <a:gridCol w="398425"/>
                <a:gridCol w="398425"/>
                <a:gridCol w="398425"/>
                <a:gridCol w="398425"/>
                <a:gridCol w="398425"/>
                <a:gridCol w="398425"/>
              </a:tblGrid>
              <a:tr h="343975">
                <a:tc>
                  <a:txBody>
                    <a:bodyPr/>
                    <a:lstStyle/>
                    <a:p>
                      <a:pPr indent="0" lvl="0" marL="0" rtl="0" algn="l">
                        <a:spcBef>
                          <a:spcPts val="0"/>
                        </a:spcBef>
                        <a:spcAft>
                          <a:spcPts val="0"/>
                        </a:spcAft>
                        <a:buNone/>
                      </a:pPr>
                      <a:r>
                        <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a</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b</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c</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d</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e</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40650">
                <a:tc>
                  <a:txBody>
                    <a:bodyPr/>
                    <a:lstStyle/>
                    <a:p>
                      <a:pPr indent="0" lvl="0" marL="0" rtl="0" algn="l">
                        <a:spcBef>
                          <a:spcPts val="0"/>
                        </a:spcBef>
                        <a:spcAft>
                          <a:spcPts val="0"/>
                        </a:spcAft>
                        <a:buNone/>
                      </a:pPr>
                      <a:r>
                        <a:rPr lang="en" sz="1300"/>
                        <a:t>a</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a:t>
                      </a:r>
                      <a:endParaRPr sz="1300"/>
                    </a:p>
                  </a:txBody>
                  <a:tcPr marT="82275" marB="8227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1</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0</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0</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0</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r>
              <a:tr h="340650">
                <a:tc>
                  <a:txBody>
                    <a:bodyPr/>
                    <a:lstStyle/>
                    <a:p>
                      <a:pPr indent="0" lvl="0" marL="0" rtl="0" algn="l">
                        <a:spcBef>
                          <a:spcPts val="0"/>
                        </a:spcBef>
                        <a:spcAft>
                          <a:spcPts val="0"/>
                        </a:spcAft>
                        <a:buNone/>
                      </a:pPr>
                      <a:r>
                        <a:rPr lang="en" sz="1300"/>
                        <a:t>b</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1</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r>
              <a:tr h="340650">
                <a:tc>
                  <a:txBody>
                    <a:bodyPr/>
                    <a:lstStyle/>
                    <a:p>
                      <a:pPr indent="0" lvl="0" marL="0" rtl="0" algn="l">
                        <a:spcBef>
                          <a:spcPts val="0"/>
                        </a:spcBef>
                        <a:spcAft>
                          <a:spcPts val="0"/>
                        </a:spcAft>
                        <a:buNone/>
                      </a:pPr>
                      <a:r>
                        <a:rPr lang="en" sz="1300"/>
                        <a:t>c</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0</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r>
              <a:tr h="343975">
                <a:tc>
                  <a:txBody>
                    <a:bodyPr/>
                    <a:lstStyle/>
                    <a:p>
                      <a:pPr indent="0" lvl="0" marL="0" rtl="0" algn="l">
                        <a:spcBef>
                          <a:spcPts val="0"/>
                        </a:spcBef>
                        <a:spcAft>
                          <a:spcPts val="0"/>
                        </a:spcAft>
                        <a:buNone/>
                      </a:pPr>
                      <a:r>
                        <a:rPr lang="en" sz="1300"/>
                        <a:t>d</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0</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r>
              <a:tr h="343975">
                <a:tc>
                  <a:txBody>
                    <a:bodyPr/>
                    <a:lstStyle/>
                    <a:p>
                      <a:pPr indent="0" lvl="0" marL="0" rtl="0" algn="l">
                        <a:spcBef>
                          <a:spcPts val="0"/>
                        </a:spcBef>
                        <a:spcAft>
                          <a:spcPts val="0"/>
                        </a:spcAft>
                        <a:buNone/>
                      </a:pPr>
                      <a:r>
                        <a:rPr lang="en" sz="1300"/>
                        <a:t>e</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0</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a:t>
                      </a:r>
                      <a:endParaRPr sz="1300"/>
                    </a:p>
                  </a:txBody>
                  <a:tcPr marT="82275" marB="82275" marR="91425" marL="91425" anchor="ctr"/>
                </a:tc>
              </a:tr>
            </a:tbl>
          </a:graphicData>
        </a:graphic>
      </p:graphicFrame>
      <p:grpSp>
        <p:nvGrpSpPr>
          <p:cNvPr id="8359" name="Google Shape;8359;p378"/>
          <p:cNvGrpSpPr/>
          <p:nvPr/>
        </p:nvGrpSpPr>
        <p:grpSpPr>
          <a:xfrm>
            <a:off x="5341637" y="803350"/>
            <a:ext cx="3490675" cy="1452782"/>
            <a:chOff x="5264900" y="3059073"/>
            <a:chExt cx="3490675" cy="1614202"/>
          </a:xfrm>
        </p:grpSpPr>
        <p:pic>
          <p:nvPicPr>
            <p:cNvPr id="8360" name="Google Shape;8360;p378"/>
            <p:cNvPicPr preferRelativeResize="0"/>
            <p:nvPr/>
          </p:nvPicPr>
          <p:blipFill rotWithShape="1">
            <a:blip r:embed="rId3">
              <a:alphaModFix/>
            </a:blip>
            <a:srcRect b="54218" l="50926" r="2550" t="22708"/>
            <a:stretch/>
          </p:blipFill>
          <p:spPr>
            <a:xfrm>
              <a:off x="5264900" y="3059073"/>
              <a:ext cx="3490675" cy="1321700"/>
            </a:xfrm>
            <a:prstGeom prst="rect">
              <a:avLst/>
            </a:prstGeom>
            <a:noFill/>
            <a:ln>
              <a:noFill/>
            </a:ln>
          </p:spPr>
        </p:pic>
        <p:sp>
          <p:nvSpPr>
            <p:cNvPr id="8361" name="Google Shape;8361;p378"/>
            <p:cNvSpPr txBox="1"/>
            <p:nvPr/>
          </p:nvSpPr>
          <p:spPr>
            <a:xfrm>
              <a:off x="5782900" y="43807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grpSp>
    </p:spTree>
  </p:cSld>
  <p:clrMapOvr>
    <a:masterClrMapping/>
  </p:clrMapOvr>
</p:sld>
</file>

<file path=ppt/slides/slide3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5" name="Shape 8365"/>
        <p:cNvGrpSpPr/>
        <p:nvPr/>
      </p:nvGrpSpPr>
      <p:grpSpPr>
        <a:xfrm>
          <a:off x="0" y="0"/>
          <a:ext cx="0" cy="0"/>
          <a:chOff x="0" y="0"/>
          <a:chExt cx="0" cy="0"/>
        </a:xfrm>
      </p:grpSpPr>
      <p:sp>
        <p:nvSpPr>
          <p:cNvPr id="8366" name="Google Shape;8366;p379"/>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67" name="Google Shape;8367;p379"/>
          <p:cNvSpPr txBox="1"/>
          <p:nvPr>
            <p:ph idx="1" type="body"/>
          </p:nvPr>
        </p:nvSpPr>
        <p:spPr>
          <a:xfrm>
            <a:off x="311700" y="1225215"/>
            <a:ext cx="5029800" cy="339471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Positional analysis</a:t>
            </a:r>
            <a:r>
              <a:rPr lang="en"/>
              <a:t> is the branch of social network analysis in charge of: </a:t>
            </a:r>
            <a:endParaRPr/>
          </a:p>
          <a:p>
            <a:pPr indent="-317500" lvl="1" marL="914400" rtl="0" algn="l">
              <a:spcBef>
                <a:spcPts val="0"/>
              </a:spcBef>
              <a:spcAft>
                <a:spcPts val="0"/>
              </a:spcAft>
              <a:buSzPts val="1400"/>
              <a:buChar char="○"/>
            </a:pPr>
            <a:r>
              <a:rPr lang="en"/>
              <a:t>Defining different notions of network position</a:t>
            </a:r>
            <a:endParaRPr/>
          </a:p>
          <a:p>
            <a:pPr indent="-317500" lvl="2" marL="1371600" rtl="0" algn="l">
              <a:spcBef>
                <a:spcPts val="0"/>
              </a:spcBef>
              <a:spcAft>
                <a:spcPts val="0"/>
              </a:spcAft>
              <a:buSzPts val="1400"/>
              <a:buChar char="■"/>
            </a:pPr>
            <a:r>
              <a:rPr lang="en"/>
              <a:t>Using graph theory</a:t>
            </a:r>
            <a:endParaRPr/>
          </a:p>
          <a:p>
            <a:pPr indent="-317500" lvl="1" marL="914400" rtl="0" algn="l">
              <a:spcBef>
                <a:spcPts val="0"/>
              </a:spcBef>
              <a:spcAft>
                <a:spcPts val="0"/>
              </a:spcAft>
              <a:buSzPts val="1400"/>
              <a:buChar char="○"/>
            </a:pPr>
            <a:r>
              <a:rPr lang="en"/>
              <a:t>Developing techniques to measure them:</a:t>
            </a:r>
            <a:endParaRPr/>
          </a:p>
          <a:p>
            <a:pPr indent="-317500" lvl="2" marL="1371600" rtl="0" algn="l">
              <a:spcBef>
                <a:spcPts val="0"/>
              </a:spcBef>
              <a:spcAft>
                <a:spcPts val="0"/>
              </a:spcAft>
              <a:buSzPts val="1400"/>
              <a:buChar char="■"/>
            </a:pPr>
            <a:r>
              <a:rPr lang="en"/>
              <a:t>Using matrix algebra</a:t>
            </a:r>
            <a:endParaRPr b="1"/>
          </a:p>
          <a:p>
            <a:pPr indent="-342900" lvl="0" marL="457200" rtl="0" algn="l">
              <a:spcBef>
                <a:spcPts val="0"/>
              </a:spcBef>
              <a:spcAft>
                <a:spcPts val="0"/>
              </a:spcAft>
              <a:buSzPts val="1800"/>
              <a:buChar char="●"/>
            </a:pPr>
            <a:r>
              <a:rPr lang="en"/>
              <a:t>The position of actor </a:t>
            </a:r>
            <a:r>
              <a:rPr b="1" lang="en"/>
              <a:t>b</a:t>
            </a:r>
            <a:r>
              <a:rPr lang="en"/>
              <a:t> in the network is given by their pattern of relations to other actors</a:t>
            </a:r>
            <a:endParaRPr/>
          </a:p>
          <a:p>
            <a:pPr indent="-317500" lvl="1" marL="914400" rtl="0" algn="l">
              <a:spcBef>
                <a:spcPts val="0"/>
              </a:spcBef>
              <a:spcAft>
                <a:spcPts val="0"/>
              </a:spcAft>
              <a:buClr>
                <a:srgbClr val="FF0000"/>
              </a:buClr>
              <a:buSzPts val="1400"/>
              <a:buChar char="○"/>
            </a:pPr>
            <a:r>
              <a:rPr i="1" lang="en">
                <a:solidFill>
                  <a:srgbClr val="FF0000"/>
                </a:solidFill>
              </a:rPr>
              <a:t>How similar (or different) in terms of their connectivity pattern is b from other actors?</a:t>
            </a:r>
            <a:endParaRPr i="1">
              <a:solidFill>
                <a:srgbClr val="FF0000"/>
              </a:solidFill>
            </a:endParaRPr>
          </a:p>
          <a:p>
            <a:pPr indent="-317500" lvl="1" marL="914400" rtl="0" algn="l">
              <a:spcBef>
                <a:spcPts val="0"/>
              </a:spcBef>
              <a:spcAft>
                <a:spcPts val="0"/>
              </a:spcAft>
              <a:buClr>
                <a:srgbClr val="FF0000"/>
              </a:buClr>
              <a:buSzPts val="1400"/>
              <a:buChar char="○"/>
            </a:pPr>
            <a:r>
              <a:rPr i="1" lang="en">
                <a:solidFill>
                  <a:srgbClr val="FF0000"/>
                </a:solidFill>
              </a:rPr>
              <a:t>Can we create groups or classes of actors based on their relational similarity?</a:t>
            </a:r>
            <a:endParaRPr i="1">
              <a:solidFill>
                <a:srgbClr val="FF0000"/>
              </a:solidFill>
            </a:endParaRPr>
          </a:p>
        </p:txBody>
      </p:sp>
      <p:graphicFrame>
        <p:nvGraphicFramePr>
          <p:cNvPr id="8368" name="Google Shape;8368;p379"/>
          <p:cNvGraphicFramePr/>
          <p:nvPr/>
        </p:nvGraphicFramePr>
        <p:xfrm>
          <a:off x="5891688" y="2256147"/>
          <a:ext cx="3000000" cy="3000000"/>
        </p:xfrm>
        <a:graphic>
          <a:graphicData uri="http://schemas.openxmlformats.org/drawingml/2006/table">
            <a:tbl>
              <a:tblPr>
                <a:noFill/>
                <a:tableStyleId>{7DE59CC5-BFA2-4C44-9D40-4E4266A2D9C1}</a:tableStyleId>
              </a:tblPr>
              <a:tblGrid>
                <a:gridCol w="398425"/>
                <a:gridCol w="398425"/>
                <a:gridCol w="398425"/>
                <a:gridCol w="398425"/>
                <a:gridCol w="398425"/>
                <a:gridCol w="398425"/>
              </a:tblGrid>
              <a:tr h="343975">
                <a:tc>
                  <a:txBody>
                    <a:bodyPr/>
                    <a:lstStyle/>
                    <a:p>
                      <a:pPr indent="0" lvl="0" marL="0" rtl="0" algn="l">
                        <a:spcBef>
                          <a:spcPts val="0"/>
                        </a:spcBef>
                        <a:spcAft>
                          <a:spcPts val="0"/>
                        </a:spcAft>
                        <a:buNone/>
                      </a:pPr>
                      <a:r>
                        <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a</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b</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c</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d</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300"/>
                        <a:t>e</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40650">
                <a:tc>
                  <a:txBody>
                    <a:bodyPr/>
                    <a:lstStyle/>
                    <a:p>
                      <a:pPr indent="0" lvl="0" marL="0" rtl="0" algn="l">
                        <a:spcBef>
                          <a:spcPts val="0"/>
                        </a:spcBef>
                        <a:spcAft>
                          <a:spcPts val="0"/>
                        </a:spcAft>
                        <a:buNone/>
                      </a:pPr>
                      <a:r>
                        <a:rPr lang="en" sz="1300"/>
                        <a:t>a</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a:t>
                      </a:r>
                      <a:endParaRPr sz="1300"/>
                    </a:p>
                  </a:txBody>
                  <a:tcPr marT="82275" marB="82275" marR="91425" marL="91425" anchor="ctr">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1</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0</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0</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c>
                  <a:txBody>
                    <a:bodyPr/>
                    <a:lstStyle/>
                    <a:p>
                      <a:pPr indent="0" lvl="0" marL="0" rtl="0" algn="ctr">
                        <a:spcBef>
                          <a:spcPts val="0"/>
                        </a:spcBef>
                        <a:spcAft>
                          <a:spcPts val="0"/>
                        </a:spcAft>
                        <a:buNone/>
                      </a:pPr>
                      <a:r>
                        <a:rPr lang="en" sz="1300"/>
                        <a:t>0</a:t>
                      </a:r>
                      <a:endParaRPr sz="1300"/>
                    </a:p>
                  </a:txBody>
                  <a:tcPr marT="82275" marB="82275" marR="91425" marL="91425" anchor="ctr">
                    <a:lnT cap="flat" cmpd="sng" w="9525">
                      <a:solidFill>
                        <a:srgbClr val="9E9E9E">
                          <a:alpha val="0"/>
                        </a:srgbClr>
                      </a:solidFill>
                      <a:prstDash val="solid"/>
                      <a:round/>
                      <a:headEnd len="sm" w="sm" type="none"/>
                      <a:tailEnd len="sm" w="sm" type="none"/>
                    </a:lnT>
                  </a:tcPr>
                </a:tc>
              </a:tr>
              <a:tr h="340650">
                <a:tc>
                  <a:txBody>
                    <a:bodyPr/>
                    <a:lstStyle/>
                    <a:p>
                      <a:pPr indent="0" lvl="0" marL="0" rtl="0" algn="l">
                        <a:spcBef>
                          <a:spcPts val="0"/>
                        </a:spcBef>
                        <a:spcAft>
                          <a:spcPts val="0"/>
                        </a:spcAft>
                        <a:buNone/>
                      </a:pPr>
                      <a:r>
                        <a:rPr lang="en" sz="1300"/>
                        <a:t>b</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1</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r>
              <a:tr h="340650">
                <a:tc>
                  <a:txBody>
                    <a:bodyPr/>
                    <a:lstStyle/>
                    <a:p>
                      <a:pPr indent="0" lvl="0" marL="0" rtl="0" algn="l">
                        <a:spcBef>
                          <a:spcPts val="0"/>
                        </a:spcBef>
                        <a:spcAft>
                          <a:spcPts val="0"/>
                        </a:spcAft>
                        <a:buNone/>
                      </a:pPr>
                      <a:r>
                        <a:rPr lang="en" sz="1300"/>
                        <a:t>c</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0</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r>
              <a:tr h="343975">
                <a:tc>
                  <a:txBody>
                    <a:bodyPr/>
                    <a:lstStyle/>
                    <a:p>
                      <a:pPr indent="0" lvl="0" marL="0" rtl="0" algn="l">
                        <a:spcBef>
                          <a:spcPts val="0"/>
                        </a:spcBef>
                        <a:spcAft>
                          <a:spcPts val="0"/>
                        </a:spcAft>
                        <a:buNone/>
                      </a:pPr>
                      <a:r>
                        <a:rPr lang="en" sz="1300"/>
                        <a:t>d</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0</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a:t>
                      </a:r>
                      <a:endParaRPr sz="1300"/>
                    </a:p>
                  </a:txBody>
                  <a:tcPr marT="82275" marB="82275" marR="91425" marL="91425" anchor="ctr"/>
                </a:tc>
                <a:tc>
                  <a:txBody>
                    <a:bodyPr/>
                    <a:lstStyle/>
                    <a:p>
                      <a:pPr indent="0" lvl="0" marL="0" rtl="0" algn="ctr">
                        <a:spcBef>
                          <a:spcPts val="0"/>
                        </a:spcBef>
                        <a:spcAft>
                          <a:spcPts val="0"/>
                        </a:spcAft>
                        <a:buNone/>
                      </a:pPr>
                      <a:r>
                        <a:rPr lang="en" sz="1300"/>
                        <a:t>0</a:t>
                      </a:r>
                      <a:endParaRPr sz="1300"/>
                    </a:p>
                  </a:txBody>
                  <a:tcPr marT="82275" marB="82275" marR="91425" marL="91425" anchor="ctr"/>
                </a:tc>
              </a:tr>
              <a:tr h="343975">
                <a:tc>
                  <a:txBody>
                    <a:bodyPr/>
                    <a:lstStyle/>
                    <a:p>
                      <a:pPr indent="0" lvl="0" marL="0" rtl="0" algn="l">
                        <a:spcBef>
                          <a:spcPts val="0"/>
                        </a:spcBef>
                        <a:spcAft>
                          <a:spcPts val="0"/>
                        </a:spcAft>
                        <a:buNone/>
                      </a:pPr>
                      <a:r>
                        <a:rPr lang="en" sz="1300"/>
                        <a:t>e</a:t>
                      </a:r>
                      <a:endParaRPr sz="1300"/>
                    </a:p>
                  </a:txBody>
                  <a:tcPr marT="82275" marB="822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t>0</a:t>
                      </a:r>
                      <a:endParaRPr sz="1300"/>
                    </a:p>
                  </a:txBody>
                  <a:tcPr marT="82275" marB="82275" marR="91425" marL="91425" anchor="ctr">
                    <a:lnL cap="flat" cmpd="sng" w="9525">
                      <a:solidFill>
                        <a:srgbClr val="9E9E9E">
                          <a:alpha val="0"/>
                        </a:srgbClr>
                      </a:solidFill>
                      <a:prstDash val="solid"/>
                      <a:round/>
                      <a:headEnd len="sm" w="sm" type="none"/>
                      <a:tailEnd len="sm" w="sm" type="none"/>
                    </a:lnL>
                  </a:tcPr>
                </a:tc>
                <a:tc>
                  <a:txBody>
                    <a:bodyPr/>
                    <a:lstStyle/>
                    <a:p>
                      <a:pPr indent="0" lvl="0" marL="0" rtl="0" algn="ctr">
                        <a:spcBef>
                          <a:spcPts val="0"/>
                        </a:spcBef>
                        <a:spcAft>
                          <a:spcPts val="0"/>
                        </a:spcAft>
                        <a:buNone/>
                      </a:pPr>
                      <a:r>
                        <a:rPr lang="en" sz="1300"/>
                        <a:t>0</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1</a:t>
                      </a:r>
                      <a:endParaRPr sz="1300"/>
                    </a:p>
                  </a:txBody>
                  <a:tcPr marT="82275" marB="82275" marR="91425" marL="91425" anchor="ctr"/>
                </a:tc>
                <a:tc>
                  <a:txBody>
                    <a:bodyPr/>
                    <a:lstStyle/>
                    <a:p>
                      <a:pPr indent="0" lvl="0" marL="0" rtl="0" algn="ctr">
                        <a:spcBef>
                          <a:spcPts val="0"/>
                        </a:spcBef>
                        <a:spcAft>
                          <a:spcPts val="0"/>
                        </a:spcAft>
                        <a:buNone/>
                      </a:pPr>
                      <a:r>
                        <a:rPr lang="en" sz="1300"/>
                        <a:t>--</a:t>
                      </a:r>
                      <a:endParaRPr sz="1300"/>
                    </a:p>
                  </a:txBody>
                  <a:tcPr marT="82275" marB="82275" marR="91425" marL="91425" anchor="ctr"/>
                </a:tc>
              </a:tr>
            </a:tbl>
          </a:graphicData>
        </a:graphic>
      </p:graphicFrame>
      <p:grpSp>
        <p:nvGrpSpPr>
          <p:cNvPr id="8369" name="Google Shape;8369;p379"/>
          <p:cNvGrpSpPr/>
          <p:nvPr/>
        </p:nvGrpSpPr>
        <p:grpSpPr>
          <a:xfrm>
            <a:off x="5341637" y="803350"/>
            <a:ext cx="3490675" cy="1452782"/>
            <a:chOff x="5264900" y="3059073"/>
            <a:chExt cx="3490675" cy="1614202"/>
          </a:xfrm>
        </p:grpSpPr>
        <p:pic>
          <p:nvPicPr>
            <p:cNvPr id="8370" name="Google Shape;8370;p379"/>
            <p:cNvPicPr preferRelativeResize="0"/>
            <p:nvPr/>
          </p:nvPicPr>
          <p:blipFill rotWithShape="1">
            <a:blip r:embed="rId3">
              <a:alphaModFix/>
            </a:blip>
            <a:srcRect b="54218" l="50926" r="2550" t="22708"/>
            <a:stretch/>
          </p:blipFill>
          <p:spPr>
            <a:xfrm>
              <a:off x="5264900" y="3059073"/>
              <a:ext cx="3490675" cy="1321700"/>
            </a:xfrm>
            <a:prstGeom prst="rect">
              <a:avLst/>
            </a:prstGeom>
            <a:noFill/>
            <a:ln>
              <a:noFill/>
            </a:ln>
          </p:spPr>
        </p:pic>
        <p:sp>
          <p:nvSpPr>
            <p:cNvPr id="8371" name="Google Shape;8371;p379"/>
            <p:cNvSpPr txBox="1"/>
            <p:nvPr/>
          </p:nvSpPr>
          <p:spPr>
            <a:xfrm>
              <a:off x="5782900" y="4380775"/>
              <a:ext cx="24642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Directed Graph</a:t>
              </a:r>
              <a:endParaRPr b="1" sz="1800">
                <a:solidFill>
                  <a:srgbClr val="0000FF"/>
                </a:solidFill>
                <a:latin typeface="Economica"/>
                <a:ea typeface="Economica"/>
                <a:cs typeface="Economica"/>
                <a:sym typeface="Economica"/>
              </a:endParaRPr>
            </a:p>
          </p:txBody>
        </p:sp>
      </p:grpSp>
      <p:sp>
        <p:nvSpPr>
          <p:cNvPr id="8372" name="Google Shape;8372;p379"/>
          <p:cNvSpPr/>
          <p:nvPr/>
        </p:nvSpPr>
        <p:spPr>
          <a:xfrm>
            <a:off x="6032750" y="1048118"/>
            <a:ext cx="655800" cy="54162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3" name="Google Shape;8373;p379"/>
          <p:cNvSpPr/>
          <p:nvPr/>
        </p:nvSpPr>
        <p:spPr>
          <a:xfrm>
            <a:off x="6178275" y="2905492"/>
            <a:ext cx="2156400" cy="494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4" name="Google Shape;8374;p379"/>
          <p:cNvSpPr/>
          <p:nvPr/>
        </p:nvSpPr>
        <p:spPr>
          <a:xfrm>
            <a:off x="6621450" y="2529720"/>
            <a:ext cx="516000" cy="189891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8" name="Shape 8378"/>
        <p:cNvGrpSpPr/>
        <p:nvPr/>
      </p:nvGrpSpPr>
      <p:grpSpPr>
        <a:xfrm>
          <a:off x="0" y="0"/>
          <a:ext cx="0" cy="0"/>
          <a:chOff x="0" y="0"/>
          <a:chExt cx="0" cy="0"/>
        </a:xfrm>
      </p:grpSpPr>
      <p:sp>
        <p:nvSpPr>
          <p:cNvPr id="8379" name="Google Shape;8379;p380"/>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80" name="Google Shape;8380;p380"/>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Steps in </a:t>
            </a:r>
            <a:r>
              <a:rPr b="1" lang="en"/>
              <a:t>positional analysis:</a:t>
            </a:r>
            <a:endParaRPr b="1"/>
          </a:p>
          <a:p>
            <a:pPr indent="-317500" lvl="1" marL="914400" rtl="0" algn="l">
              <a:spcBef>
                <a:spcPts val="0"/>
              </a:spcBef>
              <a:spcAft>
                <a:spcPts val="0"/>
              </a:spcAft>
              <a:buSzPts val="1400"/>
              <a:buChar char="○"/>
            </a:pPr>
            <a:r>
              <a:rPr lang="en"/>
              <a:t>Define a network-based notion of social position using graph theory</a:t>
            </a:r>
            <a:endParaRPr/>
          </a:p>
          <a:p>
            <a:pPr indent="-317500" lvl="2" marL="1371600" rtl="0" algn="l">
              <a:spcBef>
                <a:spcPts val="0"/>
              </a:spcBef>
              <a:spcAft>
                <a:spcPts val="0"/>
              </a:spcAft>
              <a:buSzPts val="1400"/>
              <a:buChar char="■"/>
            </a:pPr>
            <a:r>
              <a:rPr lang="en"/>
              <a:t>This is usually an </a:t>
            </a:r>
            <a:r>
              <a:rPr b="1" lang="en"/>
              <a:t>equivalence relation</a:t>
            </a:r>
            <a:endParaRPr/>
          </a:p>
          <a:p>
            <a:pPr indent="-317500" lvl="1" marL="914400" rtl="0" algn="l">
              <a:spcBef>
                <a:spcPts val="0"/>
              </a:spcBef>
              <a:spcAft>
                <a:spcPts val="0"/>
              </a:spcAft>
              <a:buSzPts val="1400"/>
              <a:buChar char="○"/>
            </a:pPr>
            <a:r>
              <a:rPr lang="en"/>
              <a:t>Translate that notion into a matrix representation</a:t>
            </a:r>
            <a:endParaRPr/>
          </a:p>
          <a:p>
            <a:pPr indent="-317500" lvl="1" marL="914400" rtl="0" algn="l">
              <a:spcBef>
                <a:spcPts val="0"/>
              </a:spcBef>
              <a:spcAft>
                <a:spcPts val="0"/>
              </a:spcAft>
              <a:buClr>
                <a:srgbClr val="FF0000"/>
              </a:buClr>
              <a:buSzPts val="1400"/>
              <a:buChar char="○"/>
            </a:pPr>
            <a:r>
              <a:rPr lang="en">
                <a:solidFill>
                  <a:srgbClr val="FF0000"/>
                </a:solidFill>
              </a:rPr>
              <a:t>Group actors (nodes) in the network based on whether they share the same position</a:t>
            </a:r>
            <a:endParaRPr>
              <a:solidFill>
                <a:srgbClr val="FF0000"/>
              </a:solidFill>
            </a:endParaRPr>
          </a:p>
          <a:p>
            <a:pPr indent="-317500" lvl="1" marL="914400" rtl="0" algn="l">
              <a:spcBef>
                <a:spcPts val="0"/>
              </a:spcBef>
              <a:spcAft>
                <a:spcPts val="0"/>
              </a:spcAft>
              <a:buSzPts val="1400"/>
              <a:buChar char="○"/>
            </a:pPr>
            <a:r>
              <a:rPr lang="en"/>
              <a:t>Rearrange the </a:t>
            </a:r>
            <a:r>
              <a:rPr lang="en"/>
              <a:t>adjacency</a:t>
            </a:r>
            <a:r>
              <a:rPr lang="en"/>
              <a:t> matrix so that actors in the same position are near one another</a:t>
            </a:r>
            <a:endParaRPr/>
          </a:p>
          <a:p>
            <a:pPr indent="-317500" lvl="1" marL="914400" rtl="0" algn="l">
              <a:spcBef>
                <a:spcPts val="0"/>
              </a:spcBef>
              <a:spcAft>
                <a:spcPts val="0"/>
              </a:spcAft>
              <a:buSzPts val="1400"/>
              <a:buChar char="○"/>
            </a:pPr>
            <a:r>
              <a:rPr lang="en"/>
              <a:t>Check to see how actors in the same position are connected to:</a:t>
            </a:r>
            <a:endParaRPr/>
          </a:p>
          <a:p>
            <a:pPr indent="-317500" lvl="2" marL="1371600" rtl="0" algn="l">
              <a:spcBef>
                <a:spcPts val="0"/>
              </a:spcBef>
              <a:spcAft>
                <a:spcPts val="0"/>
              </a:spcAft>
              <a:buSzPts val="1400"/>
              <a:buChar char="■"/>
            </a:pPr>
            <a:r>
              <a:rPr lang="en"/>
              <a:t>Other actors that share the same position</a:t>
            </a:r>
            <a:endParaRPr/>
          </a:p>
          <a:p>
            <a:pPr indent="-317500" lvl="2" marL="1371600" rtl="0" algn="l">
              <a:spcBef>
                <a:spcPts val="0"/>
              </a:spcBef>
              <a:spcAft>
                <a:spcPts val="0"/>
              </a:spcAft>
              <a:buSzPts val="1400"/>
              <a:buChar char="■"/>
            </a:pPr>
            <a:r>
              <a:rPr lang="en"/>
              <a:t>Other actors in different positions </a:t>
            </a:r>
            <a:endParaRPr/>
          </a:p>
          <a:p>
            <a:pPr indent="-317500" lvl="1" marL="914400" rtl="0" algn="l">
              <a:spcBef>
                <a:spcPts val="0"/>
              </a:spcBef>
              <a:spcAft>
                <a:spcPts val="0"/>
              </a:spcAft>
              <a:buSzPts val="1400"/>
              <a:buChar char="○"/>
            </a:pPr>
            <a:r>
              <a:rPr lang="en"/>
              <a:t>Come up with a simplified version of the network in which positions (cluster of actors) are the “nodes”</a:t>
            </a:r>
            <a:endParaRPr/>
          </a:p>
          <a:p>
            <a:pPr indent="0" lvl="0" marL="1371600" rtl="0" algn="l">
              <a:spcBef>
                <a:spcPts val="0"/>
              </a:spcBef>
              <a:spcAft>
                <a:spcPts val="0"/>
              </a:spcAft>
              <a:buNone/>
            </a:pPr>
            <a:r>
              <a:t/>
            </a:r>
            <a:endParaRPr/>
          </a:p>
        </p:txBody>
      </p:sp>
    </p:spTree>
  </p:cSld>
  <p:clrMapOvr>
    <a:masterClrMapping/>
  </p:clrMapOvr>
</p:sld>
</file>

<file path=ppt/slides/slide3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4" name="Shape 8384"/>
        <p:cNvGrpSpPr/>
        <p:nvPr/>
      </p:nvGrpSpPr>
      <p:grpSpPr>
        <a:xfrm>
          <a:off x="0" y="0"/>
          <a:ext cx="0" cy="0"/>
          <a:chOff x="0" y="0"/>
          <a:chExt cx="0" cy="0"/>
        </a:xfrm>
      </p:grpSpPr>
      <p:sp>
        <p:nvSpPr>
          <p:cNvPr id="8385" name="Google Shape;8385;p381"/>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position in networks</a:t>
            </a:r>
            <a:endParaRPr/>
          </a:p>
        </p:txBody>
      </p:sp>
      <p:sp>
        <p:nvSpPr>
          <p:cNvPr id="8386" name="Google Shape;8386;p381"/>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Steps in </a:t>
            </a:r>
            <a:r>
              <a:rPr b="1" lang="en"/>
              <a:t>positional analysis:</a:t>
            </a:r>
            <a:endParaRPr b="1"/>
          </a:p>
          <a:p>
            <a:pPr indent="-317500" lvl="1" marL="914400" rtl="0" algn="l">
              <a:spcBef>
                <a:spcPts val="0"/>
              </a:spcBef>
              <a:spcAft>
                <a:spcPts val="0"/>
              </a:spcAft>
              <a:buSzPts val="1400"/>
              <a:buChar char="○"/>
            </a:pPr>
            <a:r>
              <a:rPr lang="en"/>
              <a:t>Define a network-based notion of social position using graph theory</a:t>
            </a:r>
            <a:endParaRPr/>
          </a:p>
          <a:p>
            <a:pPr indent="-317500" lvl="2" marL="1371600" rtl="0" algn="l">
              <a:spcBef>
                <a:spcPts val="0"/>
              </a:spcBef>
              <a:spcAft>
                <a:spcPts val="0"/>
              </a:spcAft>
              <a:buSzPts val="1400"/>
              <a:buChar char="■"/>
            </a:pPr>
            <a:r>
              <a:rPr lang="en"/>
              <a:t>This is usually an </a:t>
            </a:r>
            <a:r>
              <a:rPr b="1" lang="en"/>
              <a:t>equivalence relation</a:t>
            </a:r>
            <a:endParaRPr b="1"/>
          </a:p>
          <a:p>
            <a:pPr indent="-317500" lvl="1" marL="914400" rtl="0" algn="l">
              <a:spcBef>
                <a:spcPts val="0"/>
              </a:spcBef>
              <a:spcAft>
                <a:spcPts val="0"/>
              </a:spcAft>
              <a:buSzPts val="1400"/>
              <a:buChar char="○"/>
            </a:pPr>
            <a:r>
              <a:rPr lang="en"/>
              <a:t>Translate that notion into a matrix representation</a:t>
            </a:r>
            <a:endParaRPr/>
          </a:p>
          <a:p>
            <a:pPr indent="-317500" lvl="1" marL="914400" rtl="0" algn="l">
              <a:spcBef>
                <a:spcPts val="0"/>
              </a:spcBef>
              <a:spcAft>
                <a:spcPts val="0"/>
              </a:spcAft>
              <a:buClr>
                <a:srgbClr val="FF0000"/>
              </a:buClr>
              <a:buSzPts val="1400"/>
              <a:buChar char="○"/>
            </a:pPr>
            <a:r>
              <a:rPr lang="en">
                <a:solidFill>
                  <a:srgbClr val="FF0000"/>
                </a:solidFill>
              </a:rPr>
              <a:t>Group </a:t>
            </a:r>
            <a:r>
              <a:rPr lang="en">
                <a:solidFill>
                  <a:srgbClr val="FF0000"/>
                </a:solidFill>
              </a:rPr>
              <a:t>actors (nodes) in the network based on whether they share the same position</a:t>
            </a:r>
            <a:endParaRPr>
              <a:solidFill>
                <a:srgbClr val="FF0000"/>
              </a:solidFill>
            </a:endParaRPr>
          </a:p>
          <a:p>
            <a:pPr indent="-317500" lvl="1" marL="914400" rtl="0" algn="l">
              <a:spcBef>
                <a:spcPts val="0"/>
              </a:spcBef>
              <a:spcAft>
                <a:spcPts val="0"/>
              </a:spcAft>
              <a:buSzPts val="1400"/>
              <a:buChar char="○"/>
            </a:pPr>
            <a:r>
              <a:rPr lang="en"/>
              <a:t>Rearrange the adjacency matrix so that actors in the same position are near one another</a:t>
            </a:r>
            <a:endParaRPr/>
          </a:p>
          <a:p>
            <a:pPr indent="-317500" lvl="1" marL="914400" rtl="0" algn="l">
              <a:spcBef>
                <a:spcPts val="0"/>
              </a:spcBef>
              <a:spcAft>
                <a:spcPts val="0"/>
              </a:spcAft>
              <a:buSzPts val="1400"/>
              <a:buChar char="○"/>
            </a:pPr>
            <a:r>
              <a:rPr lang="en"/>
              <a:t>Check to see how actors in the same position are connected to:</a:t>
            </a:r>
            <a:endParaRPr/>
          </a:p>
          <a:p>
            <a:pPr indent="-317500" lvl="2" marL="1371600" rtl="0" algn="l">
              <a:spcBef>
                <a:spcPts val="0"/>
              </a:spcBef>
              <a:spcAft>
                <a:spcPts val="0"/>
              </a:spcAft>
              <a:buSzPts val="1400"/>
              <a:buChar char="■"/>
            </a:pPr>
            <a:r>
              <a:rPr lang="en"/>
              <a:t>Other actors that share the same position</a:t>
            </a:r>
            <a:endParaRPr/>
          </a:p>
          <a:p>
            <a:pPr indent="-317500" lvl="2" marL="1371600" rtl="0" algn="l">
              <a:spcBef>
                <a:spcPts val="0"/>
              </a:spcBef>
              <a:spcAft>
                <a:spcPts val="0"/>
              </a:spcAft>
              <a:buSzPts val="1400"/>
              <a:buChar char="■"/>
            </a:pPr>
            <a:r>
              <a:rPr lang="en"/>
              <a:t>Other actors in different positions </a:t>
            </a:r>
            <a:endParaRPr/>
          </a:p>
          <a:p>
            <a:pPr indent="-317500" lvl="1" marL="914400" rtl="0" algn="l">
              <a:spcBef>
                <a:spcPts val="0"/>
              </a:spcBef>
              <a:spcAft>
                <a:spcPts val="0"/>
              </a:spcAft>
              <a:buSzPts val="1400"/>
              <a:buChar char="○"/>
            </a:pPr>
            <a:r>
              <a:rPr lang="en"/>
              <a:t>Come up with a simplified version of the network in which positions (cluster of actors) are the “nodes”</a:t>
            </a:r>
            <a:endParaRPr/>
          </a:p>
          <a:p>
            <a:pPr indent="-317500" lvl="2" marL="1371600" rtl="0" algn="l">
              <a:spcBef>
                <a:spcPts val="0"/>
              </a:spcBef>
              <a:spcAft>
                <a:spcPts val="0"/>
              </a:spcAft>
              <a:buClr>
                <a:srgbClr val="FF0000"/>
              </a:buClr>
              <a:buSzPts val="1400"/>
              <a:buChar char="■"/>
            </a:pPr>
            <a:r>
              <a:rPr lang="en">
                <a:solidFill>
                  <a:srgbClr val="FF0000"/>
                </a:solidFill>
              </a:rPr>
              <a:t>This simplified structure is a network of </a:t>
            </a:r>
            <a:r>
              <a:rPr b="1" lang="en">
                <a:solidFill>
                  <a:srgbClr val="FF0000"/>
                </a:solidFill>
              </a:rPr>
              <a:t>relations between positions</a:t>
            </a:r>
            <a:r>
              <a:rPr lang="en">
                <a:solidFill>
                  <a:srgbClr val="FF0000"/>
                </a:solidFill>
              </a:rPr>
              <a:t>!</a:t>
            </a:r>
            <a:endParaRPr>
              <a:solidFill>
                <a:srgbClr val="FF0000"/>
              </a:solidFill>
            </a:endParaRPr>
          </a:p>
          <a:p>
            <a:pPr indent="-317500" lvl="2" marL="1371600" rtl="0" algn="l">
              <a:spcBef>
                <a:spcPts val="0"/>
              </a:spcBef>
              <a:spcAft>
                <a:spcPts val="0"/>
              </a:spcAft>
              <a:buSzPts val="1400"/>
              <a:buChar char="■"/>
            </a:pPr>
            <a:r>
              <a:rPr lang="en"/>
              <a:t>But it is still based on the original relations between actors</a:t>
            </a:r>
            <a:endParaRPr/>
          </a:p>
        </p:txBody>
      </p:sp>
    </p:spTree>
  </p:cSld>
  <p:clrMapOvr>
    <a:masterClrMapping/>
  </p:clrMapOvr>
</p:sld>
</file>

<file path=ppt/slides/slide3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0" name="Shape 8390"/>
        <p:cNvGrpSpPr/>
        <p:nvPr/>
      </p:nvGrpSpPr>
      <p:grpSpPr>
        <a:xfrm>
          <a:off x="0" y="0"/>
          <a:ext cx="0" cy="0"/>
          <a:chOff x="0" y="0"/>
          <a:chExt cx="0" cy="0"/>
        </a:xfrm>
      </p:grpSpPr>
      <p:sp>
        <p:nvSpPr>
          <p:cNvPr id="8391" name="Google Shape;8391;p382"/>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Differences between positional and clique analysis</a:t>
            </a:r>
            <a:endParaRPr/>
          </a:p>
        </p:txBody>
      </p:sp>
      <p:sp>
        <p:nvSpPr>
          <p:cNvPr id="8392" name="Google Shape;8392;p382"/>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b="1" lang="en"/>
              <a:t>Positional analysis</a:t>
            </a:r>
            <a:r>
              <a:rPr lang="en"/>
              <a:t> is both similar and different than </a:t>
            </a:r>
            <a:r>
              <a:rPr b="1" lang="en"/>
              <a:t>cohesive subgroup (clique) analysis</a:t>
            </a:r>
            <a:r>
              <a:rPr lang="en"/>
              <a:t>:</a:t>
            </a:r>
            <a:endParaRPr/>
          </a:p>
          <a:p>
            <a:pPr indent="-317500" lvl="1" marL="914400" marR="0" rtl="0" algn="l">
              <a:lnSpc>
                <a:spcPct val="115000"/>
              </a:lnSpc>
              <a:spcBef>
                <a:spcPts val="0"/>
              </a:spcBef>
              <a:spcAft>
                <a:spcPts val="0"/>
              </a:spcAft>
              <a:buSzPts val="1400"/>
              <a:buChar char="○"/>
            </a:pPr>
            <a:r>
              <a:rPr lang="en"/>
              <a:t>Both partition the original set of actors (nodes) into subsets (subgraphs). </a:t>
            </a:r>
            <a:endParaRPr/>
          </a:p>
          <a:p>
            <a:pPr indent="-317500" lvl="1" marL="914400" marR="0" rtl="0" algn="l">
              <a:lnSpc>
                <a:spcPct val="115000"/>
              </a:lnSpc>
              <a:spcBef>
                <a:spcPts val="0"/>
              </a:spcBef>
              <a:spcAft>
                <a:spcPts val="0"/>
              </a:spcAft>
              <a:buSzPts val="1400"/>
              <a:buChar char="○"/>
            </a:pPr>
            <a:r>
              <a:rPr lang="en"/>
              <a:t>However:</a:t>
            </a:r>
            <a:endParaRPr/>
          </a:p>
          <a:p>
            <a:pPr indent="-317500" lvl="2" marL="1371600" marR="0" rtl="0" algn="l">
              <a:lnSpc>
                <a:spcPct val="115000"/>
              </a:lnSpc>
              <a:spcBef>
                <a:spcPts val="0"/>
              </a:spcBef>
              <a:spcAft>
                <a:spcPts val="0"/>
              </a:spcAft>
              <a:buSzPts val="1400"/>
              <a:buChar char="■"/>
            </a:pPr>
            <a:r>
              <a:rPr lang="en"/>
              <a:t>In </a:t>
            </a:r>
            <a:r>
              <a:rPr b="1" lang="en"/>
              <a:t>cohesive subgroup analysis</a:t>
            </a:r>
            <a:r>
              <a:rPr lang="en"/>
              <a:t> the aim is to find clusters of actors that are </a:t>
            </a:r>
            <a:r>
              <a:rPr i="1" lang="en"/>
              <a:t>strongly connected to one another</a:t>
            </a:r>
            <a:endParaRPr i="1"/>
          </a:p>
          <a:p>
            <a:pPr indent="-317500" lvl="2" marL="1371600" marR="0" rtl="0" algn="l">
              <a:lnSpc>
                <a:spcPct val="115000"/>
              </a:lnSpc>
              <a:spcBef>
                <a:spcPts val="0"/>
              </a:spcBef>
              <a:spcAft>
                <a:spcPts val="0"/>
              </a:spcAft>
              <a:buSzPts val="1400"/>
              <a:buChar char="■"/>
            </a:pPr>
            <a:r>
              <a:rPr lang="en"/>
              <a:t>In </a:t>
            </a:r>
            <a:r>
              <a:rPr b="1" lang="en"/>
              <a:t>positional analysis</a:t>
            </a:r>
            <a:r>
              <a:rPr lang="en"/>
              <a:t> the aim is to find cluster of actors who have </a:t>
            </a:r>
            <a:r>
              <a:rPr i="1" lang="en"/>
              <a:t>the same pattern of connections to other actors</a:t>
            </a:r>
            <a:endParaRPr i="1"/>
          </a:p>
          <a:p>
            <a:pPr indent="0" lvl="0" marL="1371600" marR="0" rtl="0" algn="l">
              <a:lnSpc>
                <a:spcPct val="115000"/>
              </a:lnSpc>
              <a:spcBef>
                <a:spcPts val="1600"/>
              </a:spcBef>
              <a:spcAft>
                <a:spcPts val="1600"/>
              </a:spcAft>
              <a:buNone/>
            </a:pPr>
            <a:r>
              <a:t/>
            </a:r>
            <a:endParaRPr b="1">
              <a:solidFill>
                <a:srgbClr val="FF0000"/>
              </a:solidFill>
            </a:endParaRPr>
          </a:p>
        </p:txBody>
      </p:sp>
      <p:pic>
        <p:nvPicPr>
          <p:cNvPr id="8393" name="Google Shape;8393;p382"/>
          <p:cNvPicPr preferRelativeResize="0"/>
          <p:nvPr/>
        </p:nvPicPr>
        <p:blipFill>
          <a:blip r:embed="rId3">
            <a:alphaModFix/>
          </a:blip>
          <a:stretch>
            <a:fillRect/>
          </a:stretch>
        </p:blipFill>
        <p:spPr>
          <a:xfrm>
            <a:off x="2788050" y="3521678"/>
            <a:ext cx="3211111" cy="1420492"/>
          </a:xfrm>
          <a:prstGeom prst="rect">
            <a:avLst/>
          </a:prstGeom>
          <a:noFill/>
          <a:ln>
            <a:noFill/>
          </a:ln>
        </p:spPr>
      </p:pic>
    </p:spTree>
  </p:cSld>
  <p:clrMapOvr>
    <a:masterClrMapping/>
  </p:clrMapOvr>
</p:sld>
</file>

<file path=ppt/slides/slide3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7" name="Shape 8397"/>
        <p:cNvGrpSpPr/>
        <p:nvPr/>
      </p:nvGrpSpPr>
      <p:grpSpPr>
        <a:xfrm>
          <a:off x="0" y="0"/>
          <a:ext cx="0" cy="0"/>
          <a:chOff x="0" y="0"/>
          <a:chExt cx="0" cy="0"/>
        </a:xfrm>
      </p:grpSpPr>
      <p:sp>
        <p:nvSpPr>
          <p:cNvPr id="8398" name="Google Shape;8398;p383"/>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Differences between positional and clique analysis</a:t>
            </a:r>
            <a:endParaRPr/>
          </a:p>
        </p:txBody>
      </p:sp>
      <p:sp>
        <p:nvSpPr>
          <p:cNvPr id="8399" name="Google Shape;8399;p383"/>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b="1" lang="en"/>
              <a:t>Positional analysis</a:t>
            </a:r>
            <a:r>
              <a:rPr lang="en"/>
              <a:t> is both similar and different than </a:t>
            </a:r>
            <a:r>
              <a:rPr b="1" lang="en"/>
              <a:t>cohesive subgroup (clique) analysis</a:t>
            </a:r>
            <a:r>
              <a:rPr lang="en"/>
              <a:t>:</a:t>
            </a:r>
            <a:endParaRPr/>
          </a:p>
          <a:p>
            <a:pPr indent="-317500" lvl="1" marL="914400" marR="0" rtl="0" algn="l">
              <a:lnSpc>
                <a:spcPct val="115000"/>
              </a:lnSpc>
              <a:spcBef>
                <a:spcPts val="0"/>
              </a:spcBef>
              <a:spcAft>
                <a:spcPts val="0"/>
              </a:spcAft>
              <a:buSzPts val="1400"/>
              <a:buChar char="○"/>
            </a:pPr>
            <a:r>
              <a:rPr lang="en"/>
              <a:t>Both partition the original set of actors (nodes) into subsets (subgraphs). But</a:t>
            </a:r>
            <a:endParaRPr/>
          </a:p>
          <a:p>
            <a:pPr indent="-317500" lvl="1" marL="914400" marR="0" rtl="0" algn="l">
              <a:lnSpc>
                <a:spcPct val="115000"/>
              </a:lnSpc>
              <a:spcBef>
                <a:spcPts val="0"/>
              </a:spcBef>
              <a:spcAft>
                <a:spcPts val="0"/>
              </a:spcAft>
              <a:buSzPts val="1400"/>
              <a:buChar char="○"/>
            </a:pPr>
            <a:r>
              <a:rPr lang="en"/>
              <a:t>Actors in the </a:t>
            </a:r>
            <a:r>
              <a:rPr i="1" lang="en"/>
              <a:t>same position</a:t>
            </a:r>
            <a:r>
              <a:rPr lang="en"/>
              <a:t> in a network </a:t>
            </a:r>
            <a:r>
              <a:rPr b="1" lang="en"/>
              <a:t>don’t need to be directly connected to one another!</a:t>
            </a:r>
            <a:endParaRPr b="1"/>
          </a:p>
          <a:p>
            <a:pPr indent="-317500" lvl="3" marL="1828800" rtl="0" algn="l">
              <a:spcBef>
                <a:spcPts val="0"/>
              </a:spcBef>
              <a:spcAft>
                <a:spcPts val="0"/>
              </a:spcAft>
              <a:buSzPts val="1400"/>
              <a:buChar char="●"/>
            </a:pPr>
            <a:r>
              <a:rPr lang="en"/>
              <a:t>Although they could</a:t>
            </a:r>
            <a:endParaRPr/>
          </a:p>
          <a:p>
            <a:pPr indent="-317500" lvl="2" marL="1371600" rtl="0" algn="l">
              <a:spcBef>
                <a:spcPts val="0"/>
              </a:spcBef>
              <a:spcAft>
                <a:spcPts val="0"/>
              </a:spcAft>
              <a:buSzPts val="1400"/>
              <a:buChar char="■"/>
            </a:pPr>
            <a:r>
              <a:rPr lang="en"/>
              <a:t>Actors in the </a:t>
            </a:r>
            <a:r>
              <a:rPr i="1" lang="en"/>
              <a:t>same subgroup</a:t>
            </a:r>
            <a:r>
              <a:rPr lang="en"/>
              <a:t> n</a:t>
            </a:r>
            <a:r>
              <a:rPr b="1" lang="en"/>
              <a:t>eed to be directly or indirectly connected to one another</a:t>
            </a:r>
            <a:endParaRPr b="1"/>
          </a:p>
          <a:p>
            <a:pPr indent="0" lvl="0" marL="1371600" marR="0" rtl="0" algn="l">
              <a:lnSpc>
                <a:spcPct val="115000"/>
              </a:lnSpc>
              <a:spcBef>
                <a:spcPts val="0"/>
              </a:spcBef>
              <a:spcAft>
                <a:spcPts val="1600"/>
              </a:spcAft>
              <a:buNone/>
            </a:pPr>
            <a:r>
              <a:t/>
            </a:r>
            <a:endParaRPr b="1">
              <a:solidFill>
                <a:srgbClr val="FF0000"/>
              </a:solidFill>
            </a:endParaRPr>
          </a:p>
        </p:txBody>
      </p:sp>
      <p:pic>
        <p:nvPicPr>
          <p:cNvPr id="8400" name="Google Shape;8400;p383"/>
          <p:cNvPicPr preferRelativeResize="0"/>
          <p:nvPr/>
        </p:nvPicPr>
        <p:blipFill>
          <a:blip r:embed="rId3">
            <a:alphaModFix/>
          </a:blip>
          <a:stretch>
            <a:fillRect/>
          </a:stretch>
        </p:blipFill>
        <p:spPr>
          <a:xfrm>
            <a:off x="2788050" y="3521678"/>
            <a:ext cx="3211111" cy="1420492"/>
          </a:xfrm>
          <a:prstGeom prst="rect">
            <a:avLst/>
          </a:prstGeom>
          <a:noFill/>
          <a:ln>
            <a:noFill/>
          </a:ln>
        </p:spPr>
      </p:pic>
    </p:spTree>
  </p:cSld>
  <p:clrMapOvr>
    <a:masterClrMapping/>
  </p:clrMapOvr>
</p:sld>
</file>

<file path=ppt/slides/slide3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4" name="Shape 8404"/>
        <p:cNvGrpSpPr/>
        <p:nvPr/>
      </p:nvGrpSpPr>
      <p:grpSpPr>
        <a:xfrm>
          <a:off x="0" y="0"/>
          <a:ext cx="0" cy="0"/>
          <a:chOff x="0" y="0"/>
          <a:chExt cx="0" cy="0"/>
        </a:xfrm>
      </p:grpSpPr>
      <p:sp>
        <p:nvSpPr>
          <p:cNvPr id="8405" name="Google Shape;8405;p38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an equivalence relation? (graph theory)</a:t>
            </a:r>
            <a:endParaRPr/>
          </a:p>
        </p:txBody>
      </p:sp>
      <p:sp>
        <p:nvSpPr>
          <p:cNvPr id="8406" name="Google Shape;8406;p384"/>
          <p:cNvSpPr txBox="1"/>
          <p:nvPr>
            <p:ph idx="1" type="body"/>
          </p:nvPr>
        </p:nvSpPr>
        <p:spPr>
          <a:xfrm>
            <a:off x="311700" y="1225219"/>
            <a:ext cx="8520600" cy="214623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Given a graph G = E, V an </a:t>
            </a:r>
            <a:r>
              <a:rPr b="1" lang="en"/>
              <a:t>e</a:t>
            </a:r>
            <a:r>
              <a:rPr b="1" lang="en"/>
              <a:t>quivalence</a:t>
            </a:r>
            <a:r>
              <a:rPr lang="en"/>
              <a:t> relation imposes a </a:t>
            </a:r>
            <a:r>
              <a:rPr b="1" lang="en"/>
              <a:t>partition</a:t>
            </a:r>
            <a:r>
              <a:rPr lang="en"/>
              <a:t> on the vertex set V = {u</a:t>
            </a:r>
            <a:r>
              <a:rPr baseline="-25000" lang="en"/>
              <a:t>1</a:t>
            </a:r>
            <a:r>
              <a:rPr lang="en"/>
              <a:t>, u</a:t>
            </a:r>
            <a:r>
              <a:rPr baseline="-25000" lang="en"/>
              <a:t>2,</a:t>
            </a:r>
            <a:r>
              <a:rPr lang="en"/>
              <a:t>...,u</a:t>
            </a:r>
            <a:r>
              <a:rPr baseline="-25000" lang="en"/>
              <a:t>n</a:t>
            </a:r>
            <a:r>
              <a:rPr lang="en"/>
              <a:t>}</a:t>
            </a:r>
            <a:endParaRPr/>
          </a:p>
          <a:p>
            <a:pPr indent="-317500" lvl="1" marL="914400" rtl="0" algn="l">
              <a:spcBef>
                <a:spcPts val="0"/>
              </a:spcBef>
              <a:spcAft>
                <a:spcPts val="0"/>
              </a:spcAft>
              <a:buSzPts val="1400"/>
              <a:buChar char="○"/>
            </a:pPr>
            <a:r>
              <a:rPr lang="en"/>
              <a:t>A Partition P = {C</a:t>
            </a:r>
            <a:r>
              <a:rPr baseline="-25000" lang="en"/>
              <a:t>1</a:t>
            </a:r>
            <a:r>
              <a:rPr lang="en"/>
              <a:t>...C</a:t>
            </a:r>
            <a:r>
              <a:rPr baseline="-25000" lang="en"/>
              <a:t>k</a:t>
            </a:r>
            <a:r>
              <a:rPr lang="en"/>
              <a:t>} of V is a set of </a:t>
            </a:r>
            <a:r>
              <a:rPr b="1" lang="en"/>
              <a:t>non-empty</a:t>
            </a:r>
            <a:r>
              <a:rPr lang="en"/>
              <a:t>, </a:t>
            </a:r>
            <a:r>
              <a:rPr b="1" lang="en"/>
              <a:t>disjoint</a:t>
            </a:r>
            <a:r>
              <a:rPr lang="en"/>
              <a:t> subsets called </a:t>
            </a:r>
            <a:r>
              <a:rPr b="1" lang="en"/>
              <a:t>equivalence classes or blocks</a:t>
            </a:r>
            <a:endParaRPr b="1"/>
          </a:p>
          <a:p>
            <a:pPr indent="-317500" lvl="1" marL="914400" rtl="0" algn="l">
              <a:spcBef>
                <a:spcPts val="0"/>
              </a:spcBef>
              <a:spcAft>
                <a:spcPts val="0"/>
              </a:spcAft>
              <a:buSzPts val="1400"/>
              <a:buChar char="○"/>
            </a:pPr>
            <a:r>
              <a:rPr lang="en"/>
              <a:t>Nodes in an equivalence class share an (</a:t>
            </a:r>
            <a:r>
              <a:rPr lang="en"/>
              <a:t>reflexive, symmetric, transitive) </a:t>
            </a:r>
            <a:r>
              <a:rPr b="1" lang="en"/>
              <a:t>equivalence</a:t>
            </a:r>
            <a:r>
              <a:rPr lang="en"/>
              <a:t> </a:t>
            </a:r>
            <a:r>
              <a:rPr b="1" lang="en"/>
              <a:t>relation</a:t>
            </a:r>
            <a:r>
              <a:rPr lang="en"/>
              <a:t> (≣) </a:t>
            </a:r>
            <a:endParaRPr/>
          </a:p>
          <a:p>
            <a:pPr indent="-317500" lvl="2" marL="1371600" rtl="0" algn="l">
              <a:spcBef>
                <a:spcPts val="0"/>
              </a:spcBef>
              <a:spcAft>
                <a:spcPts val="0"/>
              </a:spcAft>
              <a:buSzPts val="1400"/>
              <a:buChar char="■"/>
            </a:pPr>
            <a:r>
              <a:rPr i="1" lang="en"/>
              <a:t>Reflexive</a:t>
            </a:r>
            <a:r>
              <a:rPr lang="en"/>
              <a:t>: is vertex is equivalent to itself </a:t>
            </a:r>
            <a:r>
              <a:rPr lang="en"/>
              <a:t>U</a:t>
            </a:r>
            <a:r>
              <a:rPr baseline="-25000" lang="en"/>
              <a:t>i</a:t>
            </a:r>
            <a:r>
              <a:rPr lang="en"/>
              <a:t> ≣ U</a:t>
            </a:r>
            <a:r>
              <a:rPr baseline="-25000" lang="en"/>
              <a:t>i</a:t>
            </a:r>
            <a:endParaRPr/>
          </a:p>
          <a:p>
            <a:pPr indent="-317500" lvl="2" marL="1371600" rtl="0" algn="l">
              <a:spcBef>
                <a:spcPts val="0"/>
              </a:spcBef>
              <a:spcAft>
                <a:spcPts val="0"/>
              </a:spcAft>
              <a:buSzPts val="1400"/>
              <a:buChar char="■"/>
            </a:pPr>
            <a:r>
              <a:rPr i="1" lang="en"/>
              <a:t>S</a:t>
            </a:r>
            <a:r>
              <a:rPr i="1" lang="en"/>
              <a:t>ymmetric</a:t>
            </a:r>
            <a:r>
              <a:rPr lang="en"/>
              <a:t>: if U</a:t>
            </a:r>
            <a:r>
              <a:rPr baseline="-25000" lang="en"/>
              <a:t>i</a:t>
            </a:r>
            <a:r>
              <a:rPr lang="en"/>
              <a:t> ≣ U</a:t>
            </a:r>
            <a:r>
              <a:rPr baseline="-25000" lang="en"/>
              <a:t>j</a:t>
            </a:r>
            <a:r>
              <a:rPr lang="en"/>
              <a:t> then </a:t>
            </a:r>
            <a:r>
              <a:rPr lang="en"/>
              <a:t>U</a:t>
            </a:r>
            <a:r>
              <a:rPr baseline="-25000" lang="en"/>
              <a:t>j</a:t>
            </a:r>
            <a:r>
              <a:rPr lang="en"/>
              <a:t> ≣ U</a:t>
            </a:r>
            <a:r>
              <a:rPr baseline="-25000" lang="en"/>
              <a:t>i</a:t>
            </a:r>
            <a:r>
              <a:rPr lang="en"/>
              <a:t> </a:t>
            </a:r>
            <a:endParaRPr/>
          </a:p>
          <a:p>
            <a:pPr indent="-317500" lvl="2" marL="1371600" rtl="0" algn="l">
              <a:spcBef>
                <a:spcPts val="0"/>
              </a:spcBef>
              <a:spcAft>
                <a:spcPts val="0"/>
              </a:spcAft>
              <a:buSzPts val="1400"/>
              <a:buChar char="■"/>
            </a:pPr>
            <a:r>
              <a:rPr i="1" lang="en"/>
              <a:t>Transitive</a:t>
            </a:r>
            <a:r>
              <a:rPr lang="en"/>
              <a:t>:U</a:t>
            </a:r>
            <a:r>
              <a:rPr baseline="-25000" lang="en"/>
              <a:t>i</a:t>
            </a:r>
            <a:r>
              <a:rPr lang="en"/>
              <a:t> ≣ U</a:t>
            </a:r>
            <a:r>
              <a:rPr baseline="-25000" lang="en"/>
              <a:t>j</a:t>
            </a:r>
            <a:r>
              <a:rPr lang="en"/>
              <a:t> and U</a:t>
            </a:r>
            <a:r>
              <a:rPr baseline="-25000" lang="en"/>
              <a:t>j</a:t>
            </a:r>
            <a:r>
              <a:rPr lang="en"/>
              <a:t> ≣ U</a:t>
            </a:r>
            <a:r>
              <a:rPr baseline="-25000" lang="en"/>
              <a:t>k</a:t>
            </a:r>
            <a:r>
              <a:rPr lang="en"/>
              <a:t> then U</a:t>
            </a:r>
            <a:r>
              <a:rPr baseline="-25000" lang="en"/>
              <a:t>i</a:t>
            </a:r>
            <a:r>
              <a:rPr lang="en"/>
              <a:t> ≣ U</a:t>
            </a:r>
            <a:r>
              <a:rPr baseline="-25000" lang="en"/>
              <a:t>k</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8407" name="Google Shape;8407;p384"/>
          <p:cNvPicPr preferRelativeResize="0"/>
          <p:nvPr/>
        </p:nvPicPr>
        <p:blipFill>
          <a:blip r:embed="rId3">
            <a:alphaModFix/>
          </a:blip>
          <a:stretch>
            <a:fillRect/>
          </a:stretch>
        </p:blipFill>
        <p:spPr>
          <a:xfrm>
            <a:off x="2788050" y="3521678"/>
            <a:ext cx="3211111" cy="1420492"/>
          </a:xfrm>
          <a:prstGeom prst="rect">
            <a:avLst/>
          </a:prstGeom>
          <a:noFill/>
          <a:ln>
            <a:noFill/>
          </a:ln>
        </p:spPr>
      </p:pic>
    </p:spTree>
  </p:cSld>
  <p:clrMapOvr>
    <a:masterClrMapping/>
  </p:clrMapOvr>
</p:sld>
</file>

<file path=ppt/slides/slide3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1" name="Shape 8411"/>
        <p:cNvGrpSpPr/>
        <p:nvPr/>
      </p:nvGrpSpPr>
      <p:grpSpPr>
        <a:xfrm>
          <a:off x="0" y="0"/>
          <a:ext cx="0" cy="0"/>
          <a:chOff x="0" y="0"/>
          <a:chExt cx="0" cy="0"/>
        </a:xfrm>
      </p:grpSpPr>
      <p:sp>
        <p:nvSpPr>
          <p:cNvPr id="8412" name="Google Shape;8412;p385"/>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413" name="Google Shape;8413;p385"/>
          <p:cNvSpPr txBox="1"/>
          <p:nvPr>
            <p:ph idx="1" type="body"/>
          </p:nvPr>
        </p:nvSpPr>
        <p:spPr>
          <a:xfrm>
            <a:off x="311700" y="1225220"/>
            <a:ext cx="8520600" cy="162405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Structural equivalence </a:t>
            </a:r>
            <a:r>
              <a:rPr lang="en"/>
              <a:t>is the simplest of the equivalence notions in positional analysis</a:t>
            </a:r>
            <a:endParaRPr/>
          </a:p>
          <a:p>
            <a:pPr indent="-317500" lvl="1" marL="914400" rtl="0" algn="l">
              <a:spcBef>
                <a:spcPts val="0"/>
              </a:spcBef>
              <a:spcAft>
                <a:spcPts val="0"/>
              </a:spcAft>
              <a:buClr>
                <a:srgbClr val="FF0000"/>
              </a:buClr>
              <a:buSzPts val="1400"/>
              <a:buChar char="○"/>
            </a:pPr>
            <a:r>
              <a:rPr b="1" i="1" lang="en">
                <a:solidFill>
                  <a:srgbClr val="FF0000"/>
                </a:solidFill>
              </a:rPr>
              <a:t>Two nodes u and v are structurally equivalent if they are connected to the same others</a:t>
            </a:r>
            <a:endParaRPr b="1" i="1">
              <a:solidFill>
                <a:srgbClr val="FF0000"/>
              </a:solidFill>
            </a:endParaRPr>
          </a:p>
          <a:p>
            <a:pPr indent="-317500" lvl="1" marL="914400" rtl="0" algn="l">
              <a:spcBef>
                <a:spcPts val="0"/>
              </a:spcBef>
              <a:spcAft>
                <a:spcPts val="0"/>
              </a:spcAft>
              <a:buSzPts val="1400"/>
              <a:buChar char="○"/>
            </a:pPr>
            <a:r>
              <a:rPr lang="en"/>
              <a:t>If N(a) is the set of vertices vertex is connected to (a’s neighborhood)</a:t>
            </a:r>
            <a:endParaRPr/>
          </a:p>
          <a:p>
            <a:pPr indent="-317500" lvl="1" marL="914400" rtl="0" algn="l">
              <a:spcBef>
                <a:spcPts val="0"/>
              </a:spcBef>
              <a:spcAft>
                <a:spcPts val="0"/>
              </a:spcAft>
              <a:buSzPts val="1400"/>
              <a:buChar char="○"/>
            </a:pPr>
            <a:r>
              <a:rPr lang="en"/>
              <a:t>If N(b) is the set of vertices vertex b is connected to (b’s neighborhood)</a:t>
            </a:r>
            <a:endParaRPr/>
          </a:p>
          <a:p>
            <a:pPr indent="-317500" lvl="2" marL="1371600" rtl="0" algn="l">
              <a:spcBef>
                <a:spcPts val="0"/>
              </a:spcBef>
              <a:spcAft>
                <a:spcPts val="0"/>
              </a:spcAft>
              <a:buSzPts val="1400"/>
              <a:buChar char="■"/>
            </a:pPr>
            <a:r>
              <a:rPr b="1" lang="en"/>
              <a:t>Then a and b are structurally equivalent if N(a) = N(b)</a:t>
            </a:r>
            <a:endParaRPr b="1"/>
          </a:p>
          <a:p>
            <a:pPr indent="-317500" lvl="3" marL="1828800" rtl="0" algn="l">
              <a:spcBef>
                <a:spcPts val="0"/>
              </a:spcBef>
              <a:spcAft>
                <a:spcPts val="0"/>
              </a:spcAft>
              <a:buSzPts val="1400"/>
              <a:buChar char="●"/>
            </a:pPr>
            <a:r>
              <a:rPr b="1" lang="en"/>
              <a:t>Without counting a or b!</a:t>
            </a:r>
            <a:endParaRPr b="1"/>
          </a:p>
          <a:p>
            <a:pPr indent="0" lvl="0" marL="0" marR="0" rtl="0" algn="l">
              <a:lnSpc>
                <a:spcPct val="115000"/>
              </a:lnSpc>
              <a:spcBef>
                <a:spcPts val="0"/>
              </a:spcBef>
              <a:spcAft>
                <a:spcPts val="1600"/>
              </a:spcAft>
              <a:buNone/>
            </a:pPr>
            <a:r>
              <a:t/>
            </a:r>
            <a:endParaRPr/>
          </a:p>
        </p:txBody>
      </p:sp>
      <p:pic>
        <p:nvPicPr>
          <p:cNvPr id="8414" name="Google Shape;8414;p385"/>
          <p:cNvPicPr preferRelativeResize="0"/>
          <p:nvPr/>
        </p:nvPicPr>
        <p:blipFill>
          <a:blip r:embed="rId3">
            <a:alphaModFix/>
          </a:blip>
          <a:stretch>
            <a:fillRect/>
          </a:stretch>
        </p:blipFill>
        <p:spPr>
          <a:xfrm>
            <a:off x="489787" y="3194533"/>
            <a:ext cx="2112821" cy="1828800"/>
          </a:xfrm>
          <a:prstGeom prst="rect">
            <a:avLst/>
          </a:prstGeom>
          <a:noFill/>
          <a:ln>
            <a:noFill/>
          </a:ln>
        </p:spPr>
      </p:pic>
      <p:pic>
        <p:nvPicPr>
          <p:cNvPr id="8415" name="Google Shape;8415;p385"/>
          <p:cNvPicPr preferRelativeResize="0"/>
          <p:nvPr/>
        </p:nvPicPr>
        <p:blipFill>
          <a:blip r:embed="rId4">
            <a:alphaModFix/>
          </a:blip>
          <a:stretch>
            <a:fillRect/>
          </a:stretch>
        </p:blipFill>
        <p:spPr>
          <a:xfrm>
            <a:off x="3515594" y="3207413"/>
            <a:ext cx="2112831" cy="1722787"/>
          </a:xfrm>
          <a:prstGeom prst="rect">
            <a:avLst/>
          </a:prstGeom>
          <a:noFill/>
          <a:ln>
            <a:noFill/>
          </a:ln>
        </p:spPr>
      </p:pic>
      <p:pic>
        <p:nvPicPr>
          <p:cNvPr id="8416" name="Google Shape;8416;p385"/>
          <p:cNvPicPr preferRelativeResize="0"/>
          <p:nvPr/>
        </p:nvPicPr>
        <p:blipFill>
          <a:blip r:embed="rId5">
            <a:alphaModFix/>
          </a:blip>
          <a:stretch>
            <a:fillRect/>
          </a:stretch>
        </p:blipFill>
        <p:spPr>
          <a:xfrm>
            <a:off x="6271222" y="3191536"/>
            <a:ext cx="2383011" cy="1738670"/>
          </a:xfrm>
          <a:prstGeom prst="rect">
            <a:avLst/>
          </a:prstGeom>
          <a:noFill/>
          <a:ln>
            <a:noFill/>
          </a:ln>
        </p:spPr>
      </p:pic>
      <p:sp>
        <p:nvSpPr>
          <p:cNvPr id="8417" name="Google Shape;8417;p385"/>
          <p:cNvSpPr/>
          <p:nvPr/>
        </p:nvSpPr>
        <p:spPr>
          <a:xfrm>
            <a:off x="1428275" y="4007813"/>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8" name="Google Shape;8418;p385"/>
          <p:cNvSpPr/>
          <p:nvPr/>
        </p:nvSpPr>
        <p:spPr>
          <a:xfrm>
            <a:off x="1395050" y="3191505"/>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9" name="Google Shape;8419;p385"/>
          <p:cNvSpPr/>
          <p:nvPr/>
        </p:nvSpPr>
        <p:spPr>
          <a:xfrm>
            <a:off x="2335025" y="37230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0" name="Google Shape;8420;p385"/>
          <p:cNvSpPr/>
          <p:nvPr/>
        </p:nvSpPr>
        <p:spPr>
          <a:xfrm>
            <a:off x="2099225" y="471070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1" name="Google Shape;8421;p385"/>
          <p:cNvSpPr/>
          <p:nvPr/>
        </p:nvSpPr>
        <p:spPr>
          <a:xfrm>
            <a:off x="951675" y="478662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2" name="Google Shape;8422;p385"/>
          <p:cNvSpPr/>
          <p:nvPr/>
        </p:nvSpPr>
        <p:spPr>
          <a:xfrm>
            <a:off x="489775" y="3907934"/>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3" name="Google Shape;8423;p385"/>
          <p:cNvSpPr/>
          <p:nvPr/>
        </p:nvSpPr>
        <p:spPr>
          <a:xfrm>
            <a:off x="3515600" y="3173800"/>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4" name="Google Shape;8424;p385"/>
          <p:cNvSpPr/>
          <p:nvPr/>
        </p:nvSpPr>
        <p:spPr>
          <a:xfrm>
            <a:off x="3515600" y="3950000"/>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5" name="Google Shape;8425;p385"/>
          <p:cNvSpPr/>
          <p:nvPr/>
        </p:nvSpPr>
        <p:spPr>
          <a:xfrm>
            <a:off x="3479500" y="4726188"/>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6" name="Google Shape;8426;p385"/>
          <p:cNvSpPr/>
          <p:nvPr/>
        </p:nvSpPr>
        <p:spPr>
          <a:xfrm>
            <a:off x="5392625" y="317425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7" name="Google Shape;8427;p385"/>
          <p:cNvSpPr/>
          <p:nvPr/>
        </p:nvSpPr>
        <p:spPr>
          <a:xfrm>
            <a:off x="5392625" y="3942510"/>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8" name="Google Shape;8428;p385"/>
          <p:cNvSpPr/>
          <p:nvPr/>
        </p:nvSpPr>
        <p:spPr>
          <a:xfrm>
            <a:off x="5392625" y="472664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9" name="Google Shape;8429;p385"/>
          <p:cNvSpPr/>
          <p:nvPr/>
        </p:nvSpPr>
        <p:spPr>
          <a:xfrm>
            <a:off x="6541425" y="37230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0" name="Google Shape;8430;p385"/>
          <p:cNvSpPr/>
          <p:nvPr/>
        </p:nvSpPr>
        <p:spPr>
          <a:xfrm>
            <a:off x="6809000" y="45499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1" name="Google Shape;8431;p385"/>
          <p:cNvSpPr/>
          <p:nvPr/>
        </p:nvSpPr>
        <p:spPr>
          <a:xfrm>
            <a:off x="7385950" y="317424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2" name="Google Shape;8432;p385"/>
          <p:cNvSpPr/>
          <p:nvPr/>
        </p:nvSpPr>
        <p:spPr>
          <a:xfrm>
            <a:off x="8161500" y="37230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3" name="Google Shape;8433;p385"/>
          <p:cNvSpPr/>
          <p:nvPr/>
        </p:nvSpPr>
        <p:spPr>
          <a:xfrm>
            <a:off x="7925700" y="45499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7" name="Shape 8437"/>
        <p:cNvGrpSpPr/>
        <p:nvPr/>
      </p:nvGrpSpPr>
      <p:grpSpPr>
        <a:xfrm>
          <a:off x="0" y="0"/>
          <a:ext cx="0" cy="0"/>
          <a:chOff x="0" y="0"/>
          <a:chExt cx="0" cy="0"/>
        </a:xfrm>
      </p:grpSpPr>
      <p:sp>
        <p:nvSpPr>
          <p:cNvPr id="8438" name="Google Shape;8438;p386"/>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439" name="Google Shape;8439;p386"/>
          <p:cNvSpPr txBox="1"/>
          <p:nvPr>
            <p:ph idx="1" type="body"/>
          </p:nvPr>
        </p:nvSpPr>
        <p:spPr>
          <a:xfrm>
            <a:off x="311700" y="1225215"/>
            <a:ext cx="8520600" cy="16934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Structurally equivalent actors:</a:t>
            </a:r>
            <a:endParaRPr/>
          </a:p>
          <a:p>
            <a:pPr indent="-317500" lvl="1" marL="914400" rtl="0" algn="l">
              <a:spcBef>
                <a:spcPts val="0"/>
              </a:spcBef>
              <a:spcAft>
                <a:spcPts val="0"/>
              </a:spcAft>
              <a:buSzPts val="1400"/>
              <a:buChar char="○"/>
            </a:pPr>
            <a:r>
              <a:rPr b="1" lang="en"/>
              <a:t>Have the same ego-networks </a:t>
            </a:r>
            <a:r>
              <a:rPr lang="en"/>
              <a:t>(they are connected to the same set of others)</a:t>
            </a:r>
            <a:endParaRPr/>
          </a:p>
          <a:p>
            <a:pPr indent="-317500" lvl="1" marL="914400" rtl="0" algn="l">
              <a:spcBef>
                <a:spcPts val="0"/>
              </a:spcBef>
              <a:spcAft>
                <a:spcPts val="0"/>
              </a:spcAft>
              <a:buSzPts val="1400"/>
              <a:buChar char="○"/>
            </a:pPr>
            <a:r>
              <a:rPr lang="en" sz="1400"/>
              <a:t>Are part of the same </a:t>
            </a:r>
            <a:r>
              <a:rPr b="1" lang="en" sz="1400"/>
              <a:t>cohesive subset</a:t>
            </a:r>
            <a:r>
              <a:rPr lang="en" sz="1400"/>
              <a:t> (they are connected by at least a path of length 2)</a:t>
            </a:r>
            <a:endParaRPr sz="1400"/>
          </a:p>
          <a:p>
            <a:pPr indent="-317500" lvl="1" marL="914400" rtl="0" algn="l">
              <a:spcBef>
                <a:spcPts val="0"/>
              </a:spcBef>
              <a:spcAft>
                <a:spcPts val="0"/>
              </a:spcAft>
              <a:buSzPts val="1400"/>
              <a:buChar char="○"/>
            </a:pPr>
            <a:r>
              <a:rPr lang="en"/>
              <a:t>H</a:t>
            </a:r>
            <a:r>
              <a:rPr lang="en"/>
              <a:t>ave the same </a:t>
            </a:r>
            <a:r>
              <a:rPr b="1" lang="en"/>
              <a:t>graph theoretic attributes</a:t>
            </a:r>
            <a:r>
              <a:rPr lang="en"/>
              <a:t> (e.g., centrality, clustering coefficient, etc.)</a:t>
            </a:r>
            <a:endParaRPr/>
          </a:p>
          <a:p>
            <a:pPr indent="-317500" lvl="2" marL="1371600" rtl="0" algn="l">
              <a:spcBef>
                <a:spcPts val="0"/>
              </a:spcBef>
              <a:spcAft>
                <a:spcPts val="0"/>
              </a:spcAft>
              <a:buClr>
                <a:srgbClr val="FF0000"/>
              </a:buClr>
              <a:buSzPts val="1400"/>
              <a:buChar char="■"/>
            </a:pPr>
            <a:r>
              <a:rPr b="1" i="1" lang="en">
                <a:solidFill>
                  <a:srgbClr val="FF0000"/>
                </a:solidFill>
              </a:rPr>
              <a:t>But not necessarily the reverse!</a:t>
            </a:r>
            <a:endParaRPr b="1" i="1">
              <a:solidFill>
                <a:srgbClr val="FF0000"/>
              </a:solidFill>
            </a:endParaRPr>
          </a:p>
          <a:p>
            <a:pPr indent="-317500" lvl="3" marL="1828800" rtl="0" algn="l">
              <a:spcBef>
                <a:spcPts val="0"/>
              </a:spcBef>
              <a:spcAft>
                <a:spcPts val="0"/>
              </a:spcAft>
              <a:buClr>
                <a:srgbClr val="000000"/>
              </a:buClr>
              <a:buSzPts val="1400"/>
              <a:buChar char="●"/>
            </a:pPr>
            <a:r>
              <a:rPr i="1" lang="en">
                <a:solidFill>
                  <a:srgbClr val="000000"/>
                </a:solidFill>
              </a:rPr>
              <a:t>Two actors can have the same graph theoretic attributes but not be connected to the same others</a:t>
            </a:r>
            <a:endParaRPr i="1">
              <a:solidFill>
                <a:srgbClr val="000000"/>
              </a:solidFill>
            </a:endParaRPr>
          </a:p>
          <a:p>
            <a:pPr indent="0" lvl="0" marL="0" rtl="0" algn="l">
              <a:spcBef>
                <a:spcPts val="0"/>
              </a:spcBef>
              <a:spcAft>
                <a:spcPts val="0"/>
              </a:spcAft>
              <a:buNone/>
            </a:pPr>
            <a:r>
              <a:t/>
            </a:r>
            <a:endParaRPr/>
          </a:p>
          <a:p>
            <a:pPr indent="0" lvl="0" marL="1371600" rtl="0" algn="l">
              <a:spcBef>
                <a:spcPts val="0"/>
              </a:spcBef>
              <a:spcAft>
                <a:spcPts val="0"/>
              </a:spcAft>
              <a:buNone/>
            </a:pPr>
            <a:r>
              <a:t/>
            </a:r>
            <a:endParaRPr/>
          </a:p>
        </p:txBody>
      </p:sp>
      <p:pic>
        <p:nvPicPr>
          <p:cNvPr id="8440" name="Google Shape;8440;p386"/>
          <p:cNvPicPr preferRelativeResize="0"/>
          <p:nvPr/>
        </p:nvPicPr>
        <p:blipFill>
          <a:blip r:embed="rId3">
            <a:alphaModFix/>
          </a:blip>
          <a:stretch>
            <a:fillRect/>
          </a:stretch>
        </p:blipFill>
        <p:spPr>
          <a:xfrm>
            <a:off x="489787" y="3194533"/>
            <a:ext cx="2112821" cy="1828800"/>
          </a:xfrm>
          <a:prstGeom prst="rect">
            <a:avLst/>
          </a:prstGeom>
          <a:noFill/>
          <a:ln>
            <a:noFill/>
          </a:ln>
        </p:spPr>
      </p:pic>
      <p:pic>
        <p:nvPicPr>
          <p:cNvPr id="8441" name="Google Shape;8441;p386"/>
          <p:cNvPicPr preferRelativeResize="0"/>
          <p:nvPr/>
        </p:nvPicPr>
        <p:blipFill>
          <a:blip r:embed="rId4">
            <a:alphaModFix/>
          </a:blip>
          <a:stretch>
            <a:fillRect/>
          </a:stretch>
        </p:blipFill>
        <p:spPr>
          <a:xfrm>
            <a:off x="3515594" y="3207413"/>
            <a:ext cx="2112831" cy="1722787"/>
          </a:xfrm>
          <a:prstGeom prst="rect">
            <a:avLst/>
          </a:prstGeom>
          <a:noFill/>
          <a:ln>
            <a:noFill/>
          </a:ln>
        </p:spPr>
      </p:pic>
      <p:pic>
        <p:nvPicPr>
          <p:cNvPr id="8442" name="Google Shape;8442;p386"/>
          <p:cNvPicPr preferRelativeResize="0"/>
          <p:nvPr/>
        </p:nvPicPr>
        <p:blipFill>
          <a:blip r:embed="rId5">
            <a:alphaModFix/>
          </a:blip>
          <a:stretch>
            <a:fillRect/>
          </a:stretch>
        </p:blipFill>
        <p:spPr>
          <a:xfrm>
            <a:off x="6271222" y="3191536"/>
            <a:ext cx="2383011" cy="1738670"/>
          </a:xfrm>
          <a:prstGeom prst="rect">
            <a:avLst/>
          </a:prstGeom>
          <a:noFill/>
          <a:ln>
            <a:noFill/>
          </a:ln>
        </p:spPr>
      </p:pic>
      <p:sp>
        <p:nvSpPr>
          <p:cNvPr id="8443" name="Google Shape;8443;p386"/>
          <p:cNvSpPr/>
          <p:nvPr/>
        </p:nvSpPr>
        <p:spPr>
          <a:xfrm>
            <a:off x="1428275" y="4007813"/>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4" name="Google Shape;8444;p386"/>
          <p:cNvSpPr/>
          <p:nvPr/>
        </p:nvSpPr>
        <p:spPr>
          <a:xfrm>
            <a:off x="1395050" y="3191505"/>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5" name="Google Shape;8445;p386"/>
          <p:cNvSpPr/>
          <p:nvPr/>
        </p:nvSpPr>
        <p:spPr>
          <a:xfrm>
            <a:off x="2335025" y="37230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6" name="Google Shape;8446;p386"/>
          <p:cNvSpPr/>
          <p:nvPr/>
        </p:nvSpPr>
        <p:spPr>
          <a:xfrm>
            <a:off x="2099225" y="471070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7" name="Google Shape;8447;p386"/>
          <p:cNvSpPr/>
          <p:nvPr/>
        </p:nvSpPr>
        <p:spPr>
          <a:xfrm>
            <a:off x="951675" y="478662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8" name="Google Shape;8448;p386"/>
          <p:cNvSpPr/>
          <p:nvPr/>
        </p:nvSpPr>
        <p:spPr>
          <a:xfrm>
            <a:off x="489775" y="3907934"/>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9" name="Google Shape;8449;p386"/>
          <p:cNvSpPr/>
          <p:nvPr/>
        </p:nvSpPr>
        <p:spPr>
          <a:xfrm>
            <a:off x="3515600" y="3173800"/>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0" name="Google Shape;8450;p386"/>
          <p:cNvSpPr/>
          <p:nvPr/>
        </p:nvSpPr>
        <p:spPr>
          <a:xfrm>
            <a:off x="3515600" y="3950000"/>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1" name="Google Shape;8451;p386"/>
          <p:cNvSpPr/>
          <p:nvPr/>
        </p:nvSpPr>
        <p:spPr>
          <a:xfrm>
            <a:off x="3479500" y="4726188"/>
            <a:ext cx="235800" cy="237600"/>
          </a:xfrm>
          <a:prstGeom prst="ellipse">
            <a:avLst/>
          </a:prstGeom>
          <a:solidFill>
            <a:srgbClr val="00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2" name="Google Shape;8452;p386"/>
          <p:cNvSpPr/>
          <p:nvPr/>
        </p:nvSpPr>
        <p:spPr>
          <a:xfrm>
            <a:off x="5392625" y="317425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3" name="Google Shape;8453;p386"/>
          <p:cNvSpPr/>
          <p:nvPr/>
        </p:nvSpPr>
        <p:spPr>
          <a:xfrm>
            <a:off x="5392625" y="3942510"/>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4" name="Google Shape;8454;p386"/>
          <p:cNvSpPr/>
          <p:nvPr/>
        </p:nvSpPr>
        <p:spPr>
          <a:xfrm>
            <a:off x="5392625" y="472664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5" name="Google Shape;8455;p386"/>
          <p:cNvSpPr/>
          <p:nvPr/>
        </p:nvSpPr>
        <p:spPr>
          <a:xfrm>
            <a:off x="6541425" y="37230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6" name="Google Shape;8456;p386"/>
          <p:cNvSpPr/>
          <p:nvPr/>
        </p:nvSpPr>
        <p:spPr>
          <a:xfrm>
            <a:off x="6809000" y="45499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7" name="Google Shape;8457;p386"/>
          <p:cNvSpPr/>
          <p:nvPr/>
        </p:nvSpPr>
        <p:spPr>
          <a:xfrm>
            <a:off x="7385950" y="3174248"/>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8" name="Google Shape;8458;p386"/>
          <p:cNvSpPr/>
          <p:nvPr/>
        </p:nvSpPr>
        <p:spPr>
          <a:xfrm>
            <a:off x="8161500" y="37230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9" name="Google Shape;8459;p386"/>
          <p:cNvSpPr/>
          <p:nvPr/>
        </p:nvSpPr>
        <p:spPr>
          <a:xfrm>
            <a:off x="7925700" y="4549923"/>
            <a:ext cx="235800" cy="236700"/>
          </a:xfrm>
          <a:prstGeom prst="ellipse">
            <a:avLst/>
          </a:prstGeom>
          <a:solidFill>
            <a:srgbClr val="FF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0" name="Google Shape;8460;p386"/>
          <p:cNvSpPr/>
          <p:nvPr/>
        </p:nvSpPr>
        <p:spPr>
          <a:xfrm>
            <a:off x="3282788" y="2942588"/>
            <a:ext cx="893100" cy="2051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1" name="Google Shape;8461;p386"/>
          <p:cNvSpPr/>
          <p:nvPr/>
        </p:nvSpPr>
        <p:spPr>
          <a:xfrm>
            <a:off x="5034988" y="2942588"/>
            <a:ext cx="893100" cy="2051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5" name="Shape 8465"/>
        <p:cNvGrpSpPr/>
        <p:nvPr/>
      </p:nvGrpSpPr>
      <p:grpSpPr>
        <a:xfrm>
          <a:off x="0" y="0"/>
          <a:ext cx="0" cy="0"/>
          <a:chOff x="0" y="0"/>
          <a:chExt cx="0" cy="0"/>
        </a:xfrm>
      </p:grpSpPr>
      <p:sp>
        <p:nvSpPr>
          <p:cNvPr id="8466" name="Google Shape;8466;p387"/>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467" name="Google Shape;8467;p387"/>
          <p:cNvSpPr txBox="1"/>
          <p:nvPr>
            <p:ph idx="1" type="body"/>
          </p:nvPr>
        </p:nvSpPr>
        <p:spPr>
          <a:xfrm>
            <a:off x="311700" y="1225216"/>
            <a:ext cx="8520600" cy="135378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Kin and </a:t>
            </a:r>
            <a:r>
              <a:rPr lang="en"/>
              <a:t>hierarchical</a:t>
            </a:r>
            <a:r>
              <a:rPr lang="en"/>
              <a:t> relations provide the basic model of structural equivalence</a:t>
            </a:r>
            <a:endParaRPr/>
          </a:p>
          <a:p>
            <a:pPr indent="-317500" lvl="1" marL="914400" marR="0" rtl="0" algn="l">
              <a:lnSpc>
                <a:spcPct val="115000"/>
              </a:lnSpc>
              <a:spcBef>
                <a:spcPts val="0"/>
              </a:spcBef>
              <a:spcAft>
                <a:spcPts val="0"/>
              </a:spcAft>
              <a:buSzPts val="1400"/>
              <a:buChar char="○"/>
            </a:pPr>
            <a:r>
              <a:rPr lang="en"/>
              <a:t>Parents are structural equivalent (in relation to off</a:t>
            </a:r>
            <a:r>
              <a:rPr lang="en"/>
              <a:t>sp</a:t>
            </a:r>
            <a:r>
              <a:rPr lang="en"/>
              <a:t>ring)</a:t>
            </a:r>
            <a:endParaRPr/>
          </a:p>
          <a:p>
            <a:pPr indent="-317500" lvl="1" marL="914400" marR="0" rtl="0" algn="l">
              <a:lnSpc>
                <a:spcPct val="115000"/>
              </a:lnSpc>
              <a:spcBef>
                <a:spcPts val="0"/>
              </a:spcBef>
              <a:spcAft>
                <a:spcPts val="0"/>
              </a:spcAft>
              <a:buSzPts val="1400"/>
              <a:buChar char="○"/>
            </a:pPr>
            <a:r>
              <a:rPr lang="en"/>
              <a:t>Siblings are structurally equivalent (in relation to parents)</a:t>
            </a:r>
            <a:endParaRPr/>
          </a:p>
          <a:p>
            <a:pPr indent="-317500" lvl="1" marL="914400" marR="0" rtl="0" algn="l">
              <a:lnSpc>
                <a:spcPct val="115000"/>
              </a:lnSpc>
              <a:spcBef>
                <a:spcPts val="0"/>
              </a:spcBef>
              <a:spcAft>
                <a:spcPts val="0"/>
              </a:spcAft>
              <a:buSzPts val="1400"/>
              <a:buChar char="○"/>
            </a:pPr>
            <a:r>
              <a:rPr lang="en"/>
              <a:t>In work settings people at the same level of the hierarchy are structurally equivalent</a:t>
            </a:r>
            <a:endParaRPr/>
          </a:p>
        </p:txBody>
      </p:sp>
      <p:sp>
        <p:nvSpPr>
          <p:cNvPr id="8468" name="Google Shape;8468;p387"/>
          <p:cNvSpPr/>
          <p:nvPr/>
        </p:nvSpPr>
        <p:spPr>
          <a:xfrm>
            <a:off x="1035360" y="4271740"/>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9" name="Google Shape;8469;p387"/>
          <p:cNvSpPr/>
          <p:nvPr/>
        </p:nvSpPr>
        <p:spPr>
          <a:xfrm>
            <a:off x="1035360" y="3165140"/>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0" name="Google Shape;8470;p387"/>
          <p:cNvSpPr/>
          <p:nvPr/>
        </p:nvSpPr>
        <p:spPr>
          <a:xfrm>
            <a:off x="2823669" y="3165140"/>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1" name="Google Shape;8471;p387"/>
          <p:cNvSpPr/>
          <p:nvPr/>
        </p:nvSpPr>
        <p:spPr>
          <a:xfrm>
            <a:off x="2823669" y="4271740"/>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72" name="Google Shape;8472;p387"/>
          <p:cNvCxnSpPr>
            <a:stCxn id="8469" idx="5"/>
            <a:endCxn id="8471" idx="1"/>
          </p:cNvCxnSpPr>
          <p:nvPr/>
        </p:nvCxnSpPr>
        <p:spPr>
          <a:xfrm>
            <a:off x="1369270" y="3438696"/>
            <a:ext cx="1511700" cy="879900"/>
          </a:xfrm>
          <a:prstGeom prst="straightConnector1">
            <a:avLst/>
          </a:prstGeom>
          <a:noFill/>
          <a:ln cap="flat" cmpd="sng" w="28575">
            <a:solidFill>
              <a:schemeClr val="dk2"/>
            </a:solidFill>
            <a:prstDash val="solid"/>
            <a:round/>
            <a:headEnd len="med" w="med" type="none"/>
            <a:tailEnd len="med" w="med" type="triangle"/>
          </a:ln>
        </p:spPr>
      </p:cxnSp>
      <p:cxnSp>
        <p:nvCxnSpPr>
          <p:cNvPr id="8473" name="Google Shape;8473;p387"/>
          <p:cNvCxnSpPr>
            <a:stCxn id="8469" idx="4"/>
            <a:endCxn id="8468" idx="0"/>
          </p:cNvCxnSpPr>
          <p:nvPr/>
        </p:nvCxnSpPr>
        <p:spPr>
          <a:xfrm>
            <a:off x="1230960" y="3485630"/>
            <a:ext cx="0" cy="786000"/>
          </a:xfrm>
          <a:prstGeom prst="straightConnector1">
            <a:avLst/>
          </a:prstGeom>
          <a:noFill/>
          <a:ln cap="flat" cmpd="sng" w="28575">
            <a:solidFill>
              <a:schemeClr val="dk2"/>
            </a:solidFill>
            <a:prstDash val="solid"/>
            <a:round/>
            <a:headEnd len="med" w="med" type="none"/>
            <a:tailEnd len="med" w="med" type="triangle"/>
          </a:ln>
        </p:spPr>
      </p:cxnSp>
      <p:cxnSp>
        <p:nvCxnSpPr>
          <p:cNvPr id="8474" name="Google Shape;8474;p387"/>
          <p:cNvCxnSpPr>
            <a:stCxn id="8470" idx="4"/>
            <a:endCxn id="8471" idx="0"/>
          </p:cNvCxnSpPr>
          <p:nvPr/>
        </p:nvCxnSpPr>
        <p:spPr>
          <a:xfrm>
            <a:off x="3019269" y="3485630"/>
            <a:ext cx="0" cy="786000"/>
          </a:xfrm>
          <a:prstGeom prst="straightConnector1">
            <a:avLst/>
          </a:prstGeom>
          <a:noFill/>
          <a:ln cap="flat" cmpd="sng" w="28575">
            <a:solidFill>
              <a:schemeClr val="dk2"/>
            </a:solidFill>
            <a:prstDash val="solid"/>
            <a:round/>
            <a:headEnd len="med" w="med" type="none"/>
            <a:tailEnd len="med" w="med" type="triangle"/>
          </a:ln>
        </p:spPr>
      </p:cxnSp>
      <p:cxnSp>
        <p:nvCxnSpPr>
          <p:cNvPr id="8475" name="Google Shape;8475;p387"/>
          <p:cNvCxnSpPr>
            <a:stCxn id="8470" idx="3"/>
            <a:endCxn id="8468" idx="7"/>
          </p:cNvCxnSpPr>
          <p:nvPr/>
        </p:nvCxnSpPr>
        <p:spPr>
          <a:xfrm flipH="1">
            <a:off x="1369259" y="3438696"/>
            <a:ext cx="1511700" cy="879900"/>
          </a:xfrm>
          <a:prstGeom prst="straightConnector1">
            <a:avLst/>
          </a:prstGeom>
          <a:noFill/>
          <a:ln cap="flat" cmpd="sng" w="28575">
            <a:solidFill>
              <a:schemeClr val="dk2"/>
            </a:solidFill>
            <a:prstDash val="solid"/>
            <a:round/>
            <a:headEnd len="med" w="med" type="none"/>
            <a:tailEnd len="med" w="med" type="triangle"/>
          </a:ln>
        </p:spPr>
      </p:cxnSp>
      <p:sp>
        <p:nvSpPr>
          <p:cNvPr id="8476" name="Google Shape;8476;p387"/>
          <p:cNvSpPr txBox="1"/>
          <p:nvPr/>
        </p:nvSpPr>
        <p:spPr>
          <a:xfrm>
            <a:off x="638296" y="2837202"/>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Parent</a:t>
            </a:r>
            <a:endParaRPr b="1">
              <a:latin typeface="Economica"/>
              <a:ea typeface="Economica"/>
              <a:cs typeface="Economica"/>
              <a:sym typeface="Economica"/>
            </a:endParaRPr>
          </a:p>
        </p:txBody>
      </p:sp>
      <p:sp>
        <p:nvSpPr>
          <p:cNvPr id="8477" name="Google Shape;8477;p387"/>
          <p:cNvSpPr txBox="1"/>
          <p:nvPr/>
        </p:nvSpPr>
        <p:spPr>
          <a:xfrm>
            <a:off x="2426605" y="2837202"/>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Parent</a:t>
            </a:r>
            <a:endParaRPr b="1">
              <a:latin typeface="Economica"/>
              <a:ea typeface="Economica"/>
              <a:cs typeface="Economica"/>
              <a:sym typeface="Economica"/>
            </a:endParaRPr>
          </a:p>
        </p:txBody>
      </p:sp>
      <p:sp>
        <p:nvSpPr>
          <p:cNvPr id="8478" name="Google Shape;8478;p387"/>
          <p:cNvSpPr txBox="1"/>
          <p:nvPr/>
        </p:nvSpPr>
        <p:spPr>
          <a:xfrm>
            <a:off x="638296" y="4592270"/>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Son</a:t>
            </a:r>
            <a:endParaRPr b="1">
              <a:latin typeface="Economica"/>
              <a:ea typeface="Economica"/>
              <a:cs typeface="Economica"/>
              <a:sym typeface="Economica"/>
            </a:endParaRPr>
          </a:p>
        </p:txBody>
      </p:sp>
      <p:sp>
        <p:nvSpPr>
          <p:cNvPr id="8479" name="Google Shape;8479;p387"/>
          <p:cNvSpPr txBox="1"/>
          <p:nvPr/>
        </p:nvSpPr>
        <p:spPr>
          <a:xfrm>
            <a:off x="2426605" y="4592270"/>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Daughter</a:t>
            </a:r>
            <a:endParaRPr b="1">
              <a:latin typeface="Economica"/>
              <a:ea typeface="Economica"/>
              <a:cs typeface="Economica"/>
              <a:sym typeface="Economica"/>
            </a:endParaRPr>
          </a:p>
        </p:txBody>
      </p:sp>
      <p:sp>
        <p:nvSpPr>
          <p:cNvPr id="8480" name="Google Shape;8480;p387"/>
          <p:cNvSpPr/>
          <p:nvPr/>
        </p:nvSpPr>
        <p:spPr>
          <a:xfrm>
            <a:off x="5954191" y="4305497"/>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1" name="Google Shape;8481;p387"/>
          <p:cNvSpPr/>
          <p:nvPr/>
        </p:nvSpPr>
        <p:spPr>
          <a:xfrm>
            <a:off x="5954191" y="3198897"/>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2" name="Google Shape;8482;p387"/>
          <p:cNvSpPr/>
          <p:nvPr/>
        </p:nvSpPr>
        <p:spPr>
          <a:xfrm>
            <a:off x="7742500" y="3198897"/>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3" name="Google Shape;8483;p387"/>
          <p:cNvSpPr/>
          <p:nvPr/>
        </p:nvSpPr>
        <p:spPr>
          <a:xfrm>
            <a:off x="7742500" y="4305497"/>
            <a:ext cx="391200" cy="32049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84" name="Google Shape;8484;p387"/>
          <p:cNvCxnSpPr>
            <a:stCxn id="8481" idx="5"/>
            <a:endCxn id="8483" idx="1"/>
          </p:cNvCxnSpPr>
          <p:nvPr/>
        </p:nvCxnSpPr>
        <p:spPr>
          <a:xfrm>
            <a:off x="6288101" y="3472453"/>
            <a:ext cx="1511700" cy="879900"/>
          </a:xfrm>
          <a:prstGeom prst="straightConnector1">
            <a:avLst/>
          </a:prstGeom>
          <a:noFill/>
          <a:ln cap="flat" cmpd="sng" w="28575">
            <a:solidFill>
              <a:schemeClr val="dk2"/>
            </a:solidFill>
            <a:prstDash val="solid"/>
            <a:round/>
            <a:headEnd len="med" w="med" type="none"/>
            <a:tailEnd len="med" w="med" type="triangle"/>
          </a:ln>
        </p:spPr>
      </p:cxnSp>
      <p:cxnSp>
        <p:nvCxnSpPr>
          <p:cNvPr id="8485" name="Google Shape;8485;p387"/>
          <p:cNvCxnSpPr>
            <a:stCxn id="8481" idx="4"/>
            <a:endCxn id="8480" idx="0"/>
          </p:cNvCxnSpPr>
          <p:nvPr/>
        </p:nvCxnSpPr>
        <p:spPr>
          <a:xfrm>
            <a:off x="6149791" y="3519387"/>
            <a:ext cx="0" cy="786000"/>
          </a:xfrm>
          <a:prstGeom prst="straightConnector1">
            <a:avLst/>
          </a:prstGeom>
          <a:noFill/>
          <a:ln cap="flat" cmpd="sng" w="28575">
            <a:solidFill>
              <a:schemeClr val="dk2"/>
            </a:solidFill>
            <a:prstDash val="solid"/>
            <a:round/>
            <a:headEnd len="med" w="med" type="none"/>
            <a:tailEnd len="med" w="med" type="triangle"/>
          </a:ln>
        </p:spPr>
      </p:cxnSp>
      <p:cxnSp>
        <p:nvCxnSpPr>
          <p:cNvPr id="8486" name="Google Shape;8486;p387"/>
          <p:cNvCxnSpPr>
            <a:stCxn id="8482" idx="4"/>
            <a:endCxn id="8483" idx="0"/>
          </p:cNvCxnSpPr>
          <p:nvPr/>
        </p:nvCxnSpPr>
        <p:spPr>
          <a:xfrm>
            <a:off x="7938100" y="3519387"/>
            <a:ext cx="0" cy="786000"/>
          </a:xfrm>
          <a:prstGeom prst="straightConnector1">
            <a:avLst/>
          </a:prstGeom>
          <a:noFill/>
          <a:ln cap="flat" cmpd="sng" w="28575">
            <a:solidFill>
              <a:schemeClr val="dk2"/>
            </a:solidFill>
            <a:prstDash val="solid"/>
            <a:round/>
            <a:headEnd len="med" w="med" type="none"/>
            <a:tailEnd len="med" w="med" type="triangle"/>
          </a:ln>
        </p:spPr>
      </p:cxnSp>
      <p:cxnSp>
        <p:nvCxnSpPr>
          <p:cNvPr id="8487" name="Google Shape;8487;p387"/>
          <p:cNvCxnSpPr>
            <a:stCxn id="8482" idx="3"/>
            <a:endCxn id="8480" idx="7"/>
          </p:cNvCxnSpPr>
          <p:nvPr/>
        </p:nvCxnSpPr>
        <p:spPr>
          <a:xfrm flipH="1">
            <a:off x="6288090" y="3472453"/>
            <a:ext cx="1511700" cy="879900"/>
          </a:xfrm>
          <a:prstGeom prst="straightConnector1">
            <a:avLst/>
          </a:prstGeom>
          <a:noFill/>
          <a:ln cap="flat" cmpd="sng" w="28575">
            <a:solidFill>
              <a:schemeClr val="dk2"/>
            </a:solidFill>
            <a:prstDash val="solid"/>
            <a:round/>
            <a:headEnd len="med" w="med" type="none"/>
            <a:tailEnd len="med" w="med" type="triangle"/>
          </a:ln>
        </p:spPr>
      </p:cxnSp>
      <p:sp>
        <p:nvSpPr>
          <p:cNvPr id="8488" name="Google Shape;8488;p387"/>
          <p:cNvSpPr txBox="1"/>
          <p:nvPr/>
        </p:nvSpPr>
        <p:spPr>
          <a:xfrm>
            <a:off x="5557127" y="2870959"/>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Supervisor</a:t>
            </a:r>
            <a:endParaRPr b="1">
              <a:latin typeface="Economica"/>
              <a:ea typeface="Economica"/>
              <a:cs typeface="Economica"/>
              <a:sym typeface="Economica"/>
            </a:endParaRPr>
          </a:p>
        </p:txBody>
      </p:sp>
      <p:sp>
        <p:nvSpPr>
          <p:cNvPr id="8489" name="Google Shape;8489;p387"/>
          <p:cNvSpPr txBox="1"/>
          <p:nvPr/>
        </p:nvSpPr>
        <p:spPr>
          <a:xfrm>
            <a:off x="7345436" y="2870959"/>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Supervisor</a:t>
            </a:r>
            <a:endParaRPr b="1">
              <a:latin typeface="Economica"/>
              <a:ea typeface="Economica"/>
              <a:cs typeface="Economica"/>
              <a:sym typeface="Economica"/>
            </a:endParaRPr>
          </a:p>
        </p:txBody>
      </p:sp>
      <p:sp>
        <p:nvSpPr>
          <p:cNvPr id="8490" name="Google Shape;8490;p387"/>
          <p:cNvSpPr txBox="1"/>
          <p:nvPr/>
        </p:nvSpPr>
        <p:spPr>
          <a:xfrm>
            <a:off x="5557127" y="4626027"/>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Worker</a:t>
            </a:r>
            <a:endParaRPr b="1">
              <a:latin typeface="Economica"/>
              <a:ea typeface="Economica"/>
              <a:cs typeface="Economica"/>
              <a:sym typeface="Economica"/>
            </a:endParaRPr>
          </a:p>
        </p:txBody>
      </p:sp>
      <p:sp>
        <p:nvSpPr>
          <p:cNvPr id="8491" name="Google Shape;8491;p387"/>
          <p:cNvSpPr txBox="1"/>
          <p:nvPr/>
        </p:nvSpPr>
        <p:spPr>
          <a:xfrm>
            <a:off x="7345436" y="4626027"/>
            <a:ext cx="1185300" cy="26028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Worker</a:t>
            </a:r>
            <a:endParaRPr b="1">
              <a:latin typeface="Economica"/>
              <a:ea typeface="Economica"/>
              <a:cs typeface="Economica"/>
              <a:sym typeface="Economica"/>
            </a:endParaRPr>
          </a:p>
        </p:txBody>
      </p:sp>
      <p:sp>
        <p:nvSpPr>
          <p:cNvPr id="8492" name="Google Shape;8492;p387"/>
          <p:cNvSpPr/>
          <p:nvPr/>
        </p:nvSpPr>
        <p:spPr>
          <a:xfrm>
            <a:off x="466600" y="2809148"/>
            <a:ext cx="3267000" cy="78597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3" name="Google Shape;8493;p387"/>
          <p:cNvSpPr/>
          <p:nvPr/>
        </p:nvSpPr>
        <p:spPr>
          <a:xfrm>
            <a:off x="466600" y="4107410"/>
            <a:ext cx="3267000" cy="78597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4" name="Google Shape;8494;p387"/>
          <p:cNvSpPr/>
          <p:nvPr/>
        </p:nvSpPr>
        <p:spPr>
          <a:xfrm>
            <a:off x="5410397" y="2809148"/>
            <a:ext cx="3267000" cy="78597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5" name="Google Shape;8495;p387"/>
          <p:cNvSpPr/>
          <p:nvPr/>
        </p:nvSpPr>
        <p:spPr>
          <a:xfrm>
            <a:off x="5410397" y="4107410"/>
            <a:ext cx="3267000" cy="78597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9" name="Shape 8499"/>
        <p:cNvGrpSpPr/>
        <p:nvPr/>
      </p:nvGrpSpPr>
      <p:grpSpPr>
        <a:xfrm>
          <a:off x="0" y="0"/>
          <a:ext cx="0" cy="0"/>
          <a:chOff x="0" y="0"/>
          <a:chExt cx="0" cy="0"/>
        </a:xfrm>
      </p:grpSpPr>
      <p:sp>
        <p:nvSpPr>
          <p:cNvPr id="8500" name="Google Shape;8500;p388"/>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501" name="Google Shape;8501;p388"/>
          <p:cNvSpPr txBox="1"/>
          <p:nvPr/>
        </p:nvSpPr>
        <p:spPr>
          <a:xfrm>
            <a:off x="3604950" y="4377758"/>
            <a:ext cx="2008800" cy="42039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sp>
        <p:nvSpPr>
          <p:cNvPr id="8502" name="Google Shape;8502;p388"/>
          <p:cNvSpPr txBox="1"/>
          <p:nvPr>
            <p:ph idx="1" type="body"/>
          </p:nvPr>
        </p:nvSpPr>
        <p:spPr>
          <a:xfrm>
            <a:off x="311700" y="1225221"/>
            <a:ext cx="8520600" cy="144126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positional analysis </a:t>
            </a:r>
            <a:r>
              <a:rPr lang="en"/>
              <a:t>finds a set of positions P = {l, m, n…}</a:t>
            </a:r>
            <a:endParaRPr/>
          </a:p>
          <a:p>
            <a:pPr indent="-317500" lvl="1" marL="914400" rtl="0" algn="l">
              <a:spcBef>
                <a:spcPts val="0"/>
              </a:spcBef>
              <a:spcAft>
                <a:spcPts val="0"/>
              </a:spcAft>
              <a:buSzPts val="1400"/>
              <a:buChar char="○"/>
            </a:pPr>
            <a:r>
              <a:rPr lang="en"/>
              <a:t>Where each position (blocks) is a subset of the nodes in the original network that are seen as equivalent </a:t>
            </a:r>
            <a:endParaRPr/>
          </a:p>
          <a:p>
            <a:pPr indent="-317500" lvl="2" marL="1371600" rtl="0" algn="l">
              <a:spcBef>
                <a:spcPts val="0"/>
              </a:spcBef>
              <a:spcAft>
                <a:spcPts val="0"/>
              </a:spcAft>
              <a:buSzPts val="1400"/>
              <a:buChar char="■"/>
            </a:pPr>
            <a:r>
              <a:rPr lang="en"/>
              <a:t>The symbol for equivalence is ≣</a:t>
            </a:r>
            <a:endParaRPr/>
          </a:p>
          <a:p>
            <a:pPr indent="-317500" lvl="3" marL="1828800" rtl="0" algn="l">
              <a:spcBef>
                <a:spcPts val="0"/>
              </a:spcBef>
              <a:spcAft>
                <a:spcPts val="0"/>
              </a:spcAft>
              <a:buSzPts val="1400"/>
              <a:buChar char="●"/>
            </a:pPr>
            <a:r>
              <a:rPr lang="en"/>
              <a:t>X ≣ Y reads as “X is (structurally) equivalent to Y”</a:t>
            </a:r>
            <a:endParaRPr/>
          </a:p>
          <a:p>
            <a:pPr indent="0" lvl="0" marL="914400" rtl="0" algn="l">
              <a:spcBef>
                <a:spcPts val="0"/>
              </a:spcBef>
              <a:spcAft>
                <a:spcPts val="0"/>
              </a:spcAft>
              <a:buNone/>
            </a:pPr>
            <a:r>
              <a:t/>
            </a:r>
            <a:endParaRPr/>
          </a:p>
        </p:txBody>
      </p:sp>
      <p:sp>
        <p:nvSpPr>
          <p:cNvPr id="8503" name="Google Shape;8503;p388"/>
          <p:cNvSpPr/>
          <p:nvPr/>
        </p:nvSpPr>
        <p:spPr>
          <a:xfrm>
            <a:off x="831375" y="2879280"/>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504" name="Google Shape;8504;p388"/>
          <p:cNvSpPr/>
          <p:nvPr/>
        </p:nvSpPr>
        <p:spPr>
          <a:xfrm>
            <a:off x="831575" y="4042913"/>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505" name="Google Shape;8505;p388"/>
          <p:cNvSpPr/>
          <p:nvPr/>
        </p:nvSpPr>
        <p:spPr>
          <a:xfrm>
            <a:off x="2577325" y="2879280"/>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506" name="Google Shape;8506;p388"/>
          <p:cNvSpPr/>
          <p:nvPr/>
        </p:nvSpPr>
        <p:spPr>
          <a:xfrm>
            <a:off x="2577325" y="4042913"/>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507" name="Google Shape;8507;p388"/>
          <p:cNvSpPr/>
          <p:nvPr/>
        </p:nvSpPr>
        <p:spPr>
          <a:xfrm>
            <a:off x="3642825" y="3461063"/>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508" name="Google Shape;8508;p388"/>
          <p:cNvSpPr/>
          <p:nvPr/>
        </p:nvSpPr>
        <p:spPr>
          <a:xfrm>
            <a:off x="4963225" y="3461130"/>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509" name="Google Shape;8509;p388"/>
          <p:cNvSpPr/>
          <p:nvPr/>
        </p:nvSpPr>
        <p:spPr>
          <a:xfrm>
            <a:off x="6039875" y="2879280"/>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510" name="Google Shape;8510;p388"/>
          <p:cNvSpPr/>
          <p:nvPr/>
        </p:nvSpPr>
        <p:spPr>
          <a:xfrm>
            <a:off x="6039875" y="4101885"/>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511" name="Google Shape;8511;p388"/>
          <p:cNvSpPr/>
          <p:nvPr/>
        </p:nvSpPr>
        <p:spPr>
          <a:xfrm>
            <a:off x="7785825" y="2879280"/>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512" name="Google Shape;8512;p388"/>
          <p:cNvSpPr/>
          <p:nvPr/>
        </p:nvSpPr>
        <p:spPr>
          <a:xfrm>
            <a:off x="7785725" y="4101885"/>
            <a:ext cx="601500" cy="52218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513" name="Google Shape;8513;p388"/>
          <p:cNvCxnSpPr>
            <a:stCxn id="8503" idx="6"/>
            <a:endCxn id="8505" idx="2"/>
          </p:cNvCxnSpPr>
          <p:nvPr/>
        </p:nvCxnSpPr>
        <p:spPr>
          <a:xfrm>
            <a:off x="1432875" y="3140370"/>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514" name="Google Shape;8514;p388"/>
          <p:cNvCxnSpPr>
            <a:stCxn id="8503" idx="5"/>
            <a:endCxn id="8506" idx="1"/>
          </p:cNvCxnSpPr>
          <p:nvPr/>
        </p:nvCxnSpPr>
        <p:spPr>
          <a:xfrm>
            <a:off x="1344787" y="3324989"/>
            <a:ext cx="1320600" cy="794400"/>
          </a:xfrm>
          <a:prstGeom prst="straightConnector1">
            <a:avLst/>
          </a:prstGeom>
          <a:noFill/>
          <a:ln cap="flat" cmpd="sng" w="28575">
            <a:solidFill>
              <a:schemeClr val="dk2"/>
            </a:solidFill>
            <a:prstDash val="solid"/>
            <a:round/>
            <a:headEnd len="med" w="med" type="none"/>
            <a:tailEnd len="med" w="med" type="none"/>
          </a:ln>
        </p:spPr>
      </p:cxnSp>
      <p:cxnSp>
        <p:nvCxnSpPr>
          <p:cNvPr id="8515" name="Google Shape;8515;p388"/>
          <p:cNvCxnSpPr>
            <a:stCxn id="8504" idx="7"/>
            <a:endCxn id="8505" idx="3"/>
          </p:cNvCxnSpPr>
          <p:nvPr/>
        </p:nvCxnSpPr>
        <p:spPr>
          <a:xfrm flipH="1" rot="10800000">
            <a:off x="1344987" y="3324984"/>
            <a:ext cx="1320300" cy="794400"/>
          </a:xfrm>
          <a:prstGeom prst="straightConnector1">
            <a:avLst/>
          </a:prstGeom>
          <a:noFill/>
          <a:ln cap="flat" cmpd="sng" w="28575">
            <a:solidFill>
              <a:schemeClr val="dk2"/>
            </a:solidFill>
            <a:prstDash val="solid"/>
            <a:round/>
            <a:headEnd len="med" w="med" type="none"/>
            <a:tailEnd len="med" w="med" type="none"/>
          </a:ln>
        </p:spPr>
      </p:cxnSp>
      <p:cxnSp>
        <p:nvCxnSpPr>
          <p:cNvPr id="8516" name="Google Shape;8516;p388"/>
          <p:cNvCxnSpPr>
            <a:stCxn id="8503" idx="4"/>
            <a:endCxn id="8504" idx="0"/>
          </p:cNvCxnSpPr>
          <p:nvPr/>
        </p:nvCxnSpPr>
        <p:spPr>
          <a:xfrm>
            <a:off x="1132125" y="3401460"/>
            <a:ext cx="300" cy="641400"/>
          </a:xfrm>
          <a:prstGeom prst="straightConnector1">
            <a:avLst/>
          </a:prstGeom>
          <a:noFill/>
          <a:ln cap="flat" cmpd="sng" w="28575">
            <a:solidFill>
              <a:schemeClr val="dk2"/>
            </a:solidFill>
            <a:prstDash val="solid"/>
            <a:round/>
            <a:headEnd len="med" w="med" type="none"/>
            <a:tailEnd len="med" w="med" type="none"/>
          </a:ln>
        </p:spPr>
      </p:cxnSp>
      <p:cxnSp>
        <p:nvCxnSpPr>
          <p:cNvPr id="8517" name="Google Shape;8517;p388"/>
          <p:cNvCxnSpPr>
            <a:stCxn id="8504" idx="6"/>
            <a:endCxn id="8506" idx="2"/>
          </p:cNvCxnSpPr>
          <p:nvPr/>
        </p:nvCxnSpPr>
        <p:spPr>
          <a:xfrm>
            <a:off x="1433075" y="4304003"/>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518" name="Google Shape;8518;p388"/>
          <p:cNvCxnSpPr>
            <a:stCxn id="8505" idx="6"/>
            <a:endCxn id="8507" idx="1"/>
          </p:cNvCxnSpPr>
          <p:nvPr/>
        </p:nvCxnSpPr>
        <p:spPr>
          <a:xfrm>
            <a:off x="3178825" y="3140370"/>
            <a:ext cx="552000" cy="397200"/>
          </a:xfrm>
          <a:prstGeom prst="straightConnector1">
            <a:avLst/>
          </a:prstGeom>
          <a:noFill/>
          <a:ln cap="flat" cmpd="sng" w="28575">
            <a:solidFill>
              <a:schemeClr val="dk2"/>
            </a:solidFill>
            <a:prstDash val="solid"/>
            <a:round/>
            <a:headEnd len="med" w="med" type="none"/>
            <a:tailEnd len="med" w="med" type="none"/>
          </a:ln>
        </p:spPr>
      </p:cxnSp>
      <p:cxnSp>
        <p:nvCxnSpPr>
          <p:cNvPr id="8519" name="Google Shape;8519;p388"/>
          <p:cNvCxnSpPr>
            <a:stCxn id="8507" idx="3"/>
            <a:endCxn id="8506" idx="6"/>
          </p:cNvCxnSpPr>
          <p:nvPr/>
        </p:nvCxnSpPr>
        <p:spPr>
          <a:xfrm flipH="1">
            <a:off x="3178913" y="3906771"/>
            <a:ext cx="552000" cy="397200"/>
          </a:xfrm>
          <a:prstGeom prst="straightConnector1">
            <a:avLst/>
          </a:prstGeom>
          <a:noFill/>
          <a:ln cap="flat" cmpd="sng" w="28575">
            <a:solidFill>
              <a:schemeClr val="dk2"/>
            </a:solidFill>
            <a:prstDash val="solid"/>
            <a:round/>
            <a:headEnd len="med" w="med" type="none"/>
            <a:tailEnd len="med" w="med" type="none"/>
          </a:ln>
        </p:spPr>
      </p:cxnSp>
      <p:cxnSp>
        <p:nvCxnSpPr>
          <p:cNvPr id="8520" name="Google Shape;8520;p388"/>
          <p:cNvCxnSpPr>
            <a:stCxn id="8508" idx="2"/>
            <a:endCxn id="8507" idx="6"/>
          </p:cNvCxnSpPr>
          <p:nvPr/>
        </p:nvCxnSpPr>
        <p:spPr>
          <a:xfrm rot="10800000">
            <a:off x="4244425" y="3722220"/>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521" name="Google Shape;8521;p388"/>
          <p:cNvCxnSpPr>
            <a:stCxn id="8509" idx="2"/>
            <a:endCxn id="8508" idx="7"/>
          </p:cNvCxnSpPr>
          <p:nvPr/>
        </p:nvCxnSpPr>
        <p:spPr>
          <a:xfrm flipH="1">
            <a:off x="5476775" y="3140370"/>
            <a:ext cx="563100" cy="397200"/>
          </a:xfrm>
          <a:prstGeom prst="straightConnector1">
            <a:avLst/>
          </a:prstGeom>
          <a:noFill/>
          <a:ln cap="flat" cmpd="sng" w="28575">
            <a:solidFill>
              <a:schemeClr val="dk2"/>
            </a:solidFill>
            <a:prstDash val="solid"/>
            <a:round/>
            <a:headEnd len="med" w="med" type="none"/>
            <a:tailEnd len="med" w="med" type="none"/>
          </a:ln>
        </p:spPr>
      </p:cxnSp>
      <p:cxnSp>
        <p:nvCxnSpPr>
          <p:cNvPr id="8522" name="Google Shape;8522;p388"/>
          <p:cNvCxnSpPr>
            <a:stCxn id="8510" idx="2"/>
            <a:endCxn id="8508" idx="5"/>
          </p:cNvCxnSpPr>
          <p:nvPr/>
        </p:nvCxnSpPr>
        <p:spPr>
          <a:xfrm rot="10800000">
            <a:off x="5476775" y="3906975"/>
            <a:ext cx="563100" cy="456000"/>
          </a:xfrm>
          <a:prstGeom prst="straightConnector1">
            <a:avLst/>
          </a:prstGeom>
          <a:noFill/>
          <a:ln cap="flat" cmpd="sng" w="28575">
            <a:solidFill>
              <a:schemeClr val="dk2"/>
            </a:solidFill>
            <a:prstDash val="solid"/>
            <a:round/>
            <a:headEnd len="med" w="med" type="none"/>
            <a:tailEnd len="med" w="med" type="none"/>
          </a:ln>
        </p:spPr>
      </p:cxnSp>
      <p:cxnSp>
        <p:nvCxnSpPr>
          <p:cNvPr id="8523" name="Google Shape;8523;p388"/>
          <p:cNvCxnSpPr>
            <a:stCxn id="8509" idx="5"/>
            <a:endCxn id="8512" idx="1"/>
          </p:cNvCxnSpPr>
          <p:nvPr/>
        </p:nvCxnSpPr>
        <p:spPr>
          <a:xfrm>
            <a:off x="6553287" y="3324989"/>
            <a:ext cx="1320600" cy="853500"/>
          </a:xfrm>
          <a:prstGeom prst="straightConnector1">
            <a:avLst/>
          </a:prstGeom>
          <a:noFill/>
          <a:ln cap="flat" cmpd="sng" w="28575">
            <a:solidFill>
              <a:schemeClr val="dk2"/>
            </a:solidFill>
            <a:prstDash val="solid"/>
            <a:round/>
            <a:headEnd len="med" w="med" type="none"/>
            <a:tailEnd len="med" w="med" type="none"/>
          </a:ln>
        </p:spPr>
      </p:cxnSp>
      <p:cxnSp>
        <p:nvCxnSpPr>
          <p:cNvPr id="8524" name="Google Shape;8524;p388"/>
          <p:cNvCxnSpPr>
            <a:stCxn id="8511" idx="3"/>
            <a:endCxn id="8510" idx="7"/>
          </p:cNvCxnSpPr>
          <p:nvPr/>
        </p:nvCxnSpPr>
        <p:spPr>
          <a:xfrm flipH="1">
            <a:off x="6553313" y="3324989"/>
            <a:ext cx="1320600" cy="853500"/>
          </a:xfrm>
          <a:prstGeom prst="straightConnector1">
            <a:avLst/>
          </a:prstGeom>
          <a:noFill/>
          <a:ln cap="flat" cmpd="sng" w="28575">
            <a:solidFill>
              <a:schemeClr val="dk2"/>
            </a:solidFill>
            <a:prstDash val="solid"/>
            <a:round/>
            <a:headEnd len="med" w="med" type="none"/>
            <a:tailEnd len="med" w="med" type="none"/>
          </a:ln>
        </p:spPr>
      </p:cxnSp>
      <p:cxnSp>
        <p:nvCxnSpPr>
          <p:cNvPr id="8525" name="Google Shape;8525;p388"/>
          <p:cNvCxnSpPr>
            <a:stCxn id="8511" idx="2"/>
            <a:endCxn id="8509" idx="6"/>
          </p:cNvCxnSpPr>
          <p:nvPr/>
        </p:nvCxnSpPr>
        <p:spPr>
          <a:xfrm rot="10800000">
            <a:off x="6641325" y="3140370"/>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526" name="Google Shape;8526;p388"/>
          <p:cNvCxnSpPr>
            <a:stCxn id="8511" idx="4"/>
            <a:endCxn id="8512" idx="0"/>
          </p:cNvCxnSpPr>
          <p:nvPr/>
        </p:nvCxnSpPr>
        <p:spPr>
          <a:xfrm>
            <a:off x="8086575" y="3401460"/>
            <a:ext cx="0" cy="700500"/>
          </a:xfrm>
          <a:prstGeom prst="straightConnector1">
            <a:avLst/>
          </a:prstGeom>
          <a:noFill/>
          <a:ln cap="flat" cmpd="sng" w="28575">
            <a:solidFill>
              <a:schemeClr val="dk2"/>
            </a:solidFill>
            <a:prstDash val="solid"/>
            <a:round/>
            <a:headEnd len="med" w="med" type="none"/>
            <a:tailEnd len="med" w="med" type="none"/>
          </a:ln>
        </p:spPr>
      </p:cxnSp>
      <p:cxnSp>
        <p:nvCxnSpPr>
          <p:cNvPr id="8527" name="Google Shape;8527;p388"/>
          <p:cNvCxnSpPr>
            <a:stCxn id="8512" idx="2"/>
            <a:endCxn id="8510" idx="6"/>
          </p:cNvCxnSpPr>
          <p:nvPr/>
        </p:nvCxnSpPr>
        <p:spPr>
          <a:xfrm rot="10800000">
            <a:off x="6641525" y="4362975"/>
            <a:ext cx="11442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1" name="Shape 8531"/>
        <p:cNvGrpSpPr/>
        <p:nvPr/>
      </p:nvGrpSpPr>
      <p:grpSpPr>
        <a:xfrm>
          <a:off x="0" y="0"/>
          <a:ext cx="0" cy="0"/>
          <a:chOff x="0" y="0"/>
          <a:chExt cx="0" cy="0"/>
        </a:xfrm>
      </p:grpSpPr>
      <p:sp>
        <p:nvSpPr>
          <p:cNvPr id="8532" name="Google Shape;8532;p389"/>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533" name="Google Shape;8533;p389"/>
          <p:cNvSpPr txBox="1"/>
          <p:nvPr/>
        </p:nvSpPr>
        <p:spPr>
          <a:xfrm>
            <a:off x="3604950" y="4377758"/>
            <a:ext cx="2008800" cy="42039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sp>
        <p:nvSpPr>
          <p:cNvPr id="8534" name="Google Shape;8534;p389"/>
          <p:cNvSpPr txBox="1"/>
          <p:nvPr>
            <p:ph idx="1" type="body"/>
          </p:nvPr>
        </p:nvSpPr>
        <p:spPr>
          <a:xfrm>
            <a:off x="311700" y="1225221"/>
            <a:ext cx="8520600" cy="144126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positional analysis </a:t>
            </a:r>
            <a:r>
              <a:rPr lang="en"/>
              <a:t>finds a set of positions P = {l, m, n…}</a:t>
            </a:r>
            <a:endParaRPr/>
          </a:p>
          <a:p>
            <a:pPr indent="-317500" lvl="1" marL="914400" rtl="0" algn="l">
              <a:spcBef>
                <a:spcPts val="0"/>
              </a:spcBef>
              <a:spcAft>
                <a:spcPts val="0"/>
              </a:spcAft>
              <a:buSzPts val="1400"/>
              <a:buChar char="○"/>
            </a:pPr>
            <a:r>
              <a:rPr lang="en"/>
              <a:t>Where each position (blocks) is a subset of the nodes in the original network that are seen as equivalent </a:t>
            </a:r>
            <a:endParaRPr/>
          </a:p>
          <a:p>
            <a:pPr indent="-317500" lvl="1" marL="914400" rtl="0" algn="l">
              <a:spcBef>
                <a:spcPts val="0"/>
              </a:spcBef>
              <a:spcAft>
                <a:spcPts val="0"/>
              </a:spcAft>
              <a:buSzPts val="1400"/>
              <a:buChar char="○"/>
            </a:pPr>
            <a:r>
              <a:rPr lang="en"/>
              <a:t>In the case of positions defined as </a:t>
            </a:r>
            <a:r>
              <a:rPr b="1" lang="en"/>
              <a:t>structural equivalence</a:t>
            </a:r>
            <a:r>
              <a:rPr lang="en"/>
              <a:t> below:</a:t>
            </a:r>
            <a:endParaRPr/>
          </a:p>
          <a:p>
            <a:pPr indent="-317500" lvl="2" marL="1371600" rtl="0" algn="l">
              <a:spcBef>
                <a:spcPts val="0"/>
              </a:spcBef>
              <a:spcAft>
                <a:spcPts val="0"/>
              </a:spcAft>
              <a:buSzPts val="1400"/>
              <a:buChar char="■"/>
            </a:pPr>
            <a:r>
              <a:rPr lang="en"/>
              <a:t>P = {a ≣ c}, {b ≣ d}, {e ≣ e}, {f ≣ f}, {g ≣ i}, {h ≣ j}</a:t>
            </a:r>
            <a:endParaRPr/>
          </a:p>
        </p:txBody>
      </p:sp>
      <p:grpSp>
        <p:nvGrpSpPr>
          <p:cNvPr id="8535" name="Google Shape;8535;p389"/>
          <p:cNvGrpSpPr/>
          <p:nvPr/>
        </p:nvGrpSpPr>
        <p:grpSpPr>
          <a:xfrm>
            <a:off x="831375" y="2879280"/>
            <a:ext cx="7555950" cy="1918868"/>
            <a:chOff x="831375" y="3199200"/>
            <a:chExt cx="7555950" cy="2132075"/>
          </a:xfrm>
        </p:grpSpPr>
        <p:grpSp>
          <p:nvGrpSpPr>
            <p:cNvPr id="8536" name="Google Shape;8536;p389"/>
            <p:cNvGrpSpPr/>
            <p:nvPr/>
          </p:nvGrpSpPr>
          <p:grpSpPr>
            <a:xfrm>
              <a:off x="831375" y="3199200"/>
              <a:ext cx="7555950" cy="1938650"/>
              <a:chOff x="868500" y="3078125"/>
              <a:chExt cx="7555950" cy="1938650"/>
            </a:xfrm>
          </p:grpSpPr>
          <p:sp>
            <p:nvSpPr>
              <p:cNvPr id="8537" name="Google Shape;8537;p389"/>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538" name="Google Shape;8538;p389"/>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539" name="Google Shape;8539;p389"/>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540" name="Google Shape;8540;p389"/>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541" name="Google Shape;8541;p389"/>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542" name="Google Shape;8542;p389"/>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543" name="Google Shape;8543;p389"/>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544" name="Google Shape;8544;p389"/>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545" name="Google Shape;8545;p389"/>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546" name="Google Shape;8546;p389"/>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547" name="Google Shape;8547;p389"/>
              <p:cNvCxnSpPr>
                <a:stCxn id="8537" idx="6"/>
                <a:endCxn id="8539"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548" name="Google Shape;8548;p389"/>
              <p:cNvCxnSpPr>
                <a:stCxn id="8537" idx="5"/>
                <a:endCxn id="8540"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549" name="Google Shape;8549;p389"/>
              <p:cNvCxnSpPr>
                <a:stCxn id="8538" idx="7"/>
                <a:endCxn id="8539"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550" name="Google Shape;8550;p389"/>
              <p:cNvCxnSpPr>
                <a:stCxn id="8537" idx="4"/>
                <a:endCxn id="8538"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551" name="Google Shape;8551;p389"/>
              <p:cNvCxnSpPr>
                <a:stCxn id="8538" idx="6"/>
                <a:endCxn id="8540"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552" name="Google Shape;8552;p389"/>
              <p:cNvCxnSpPr>
                <a:stCxn id="8539" idx="6"/>
                <a:endCxn id="8541"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553" name="Google Shape;8553;p389"/>
              <p:cNvCxnSpPr>
                <a:stCxn id="8541" idx="3"/>
                <a:endCxn id="8540"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554" name="Google Shape;8554;p389"/>
              <p:cNvCxnSpPr>
                <a:stCxn id="8542" idx="2"/>
                <a:endCxn id="8541"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555" name="Google Shape;8555;p389"/>
              <p:cNvCxnSpPr>
                <a:stCxn id="8543" idx="2"/>
                <a:endCxn id="8542"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556" name="Google Shape;8556;p389"/>
              <p:cNvCxnSpPr>
                <a:stCxn id="8544" idx="2"/>
                <a:endCxn id="8542"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557" name="Google Shape;8557;p389"/>
              <p:cNvCxnSpPr>
                <a:stCxn id="8543" idx="5"/>
                <a:endCxn id="8546"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558" name="Google Shape;8558;p389"/>
              <p:cNvCxnSpPr>
                <a:stCxn id="8545" idx="3"/>
                <a:endCxn id="8544"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559" name="Google Shape;8559;p389"/>
              <p:cNvCxnSpPr>
                <a:stCxn id="8545" idx="2"/>
                <a:endCxn id="8543"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560" name="Google Shape;8560;p389"/>
              <p:cNvCxnSpPr>
                <a:stCxn id="8545" idx="4"/>
                <a:endCxn id="8546"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561" name="Google Shape;8561;p389"/>
              <p:cNvCxnSpPr>
                <a:stCxn id="8546" idx="2"/>
                <a:endCxn id="8544"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8562" name="Google Shape;8562;p389"/>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a:t>
              </a:r>
              <a:r>
                <a:rPr lang="en"/>
                <a:t>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6" name="Shape 8566"/>
        <p:cNvGrpSpPr/>
        <p:nvPr/>
      </p:nvGrpSpPr>
      <p:grpSpPr>
        <a:xfrm>
          <a:off x="0" y="0"/>
          <a:ext cx="0" cy="0"/>
          <a:chOff x="0" y="0"/>
          <a:chExt cx="0" cy="0"/>
        </a:xfrm>
      </p:grpSpPr>
      <p:sp>
        <p:nvSpPr>
          <p:cNvPr id="8567" name="Google Shape;8567;p390"/>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568" name="Google Shape;8568;p390"/>
          <p:cNvSpPr txBox="1"/>
          <p:nvPr/>
        </p:nvSpPr>
        <p:spPr>
          <a:xfrm>
            <a:off x="3604950" y="4377758"/>
            <a:ext cx="2008800" cy="42039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sp>
        <p:nvSpPr>
          <p:cNvPr id="8569" name="Google Shape;8569;p390"/>
          <p:cNvSpPr txBox="1"/>
          <p:nvPr>
            <p:ph idx="1" type="body"/>
          </p:nvPr>
        </p:nvSpPr>
        <p:spPr>
          <a:xfrm>
            <a:off x="311700" y="1225221"/>
            <a:ext cx="8520600" cy="144126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positional analysis </a:t>
            </a:r>
            <a:r>
              <a:rPr lang="en"/>
              <a:t>finds a set of positions P = {l, m, n…}</a:t>
            </a:r>
            <a:endParaRPr/>
          </a:p>
          <a:p>
            <a:pPr indent="-317500" lvl="1" marL="914400" rtl="0" algn="l">
              <a:spcBef>
                <a:spcPts val="0"/>
              </a:spcBef>
              <a:spcAft>
                <a:spcPts val="0"/>
              </a:spcAft>
              <a:buSzPts val="1400"/>
              <a:buChar char="○"/>
            </a:pPr>
            <a:r>
              <a:rPr lang="en"/>
              <a:t>Where each position (blocks) is a subset of the nodes in the original network that are seen as equivalent </a:t>
            </a:r>
            <a:endParaRPr/>
          </a:p>
          <a:p>
            <a:pPr indent="-317500" lvl="1" marL="914400" rtl="0" algn="l">
              <a:spcBef>
                <a:spcPts val="0"/>
              </a:spcBef>
              <a:spcAft>
                <a:spcPts val="0"/>
              </a:spcAft>
              <a:buSzPts val="1400"/>
              <a:buChar char="○"/>
            </a:pPr>
            <a:r>
              <a:rPr lang="en"/>
              <a:t>In the case of positions defined as </a:t>
            </a:r>
            <a:r>
              <a:rPr b="1" lang="en"/>
              <a:t>structural equivalence</a:t>
            </a:r>
            <a:r>
              <a:rPr lang="en"/>
              <a:t> below:</a:t>
            </a:r>
            <a:endParaRPr/>
          </a:p>
          <a:p>
            <a:pPr indent="-317500" lvl="2" marL="1371600" rtl="0" algn="l">
              <a:spcBef>
                <a:spcPts val="0"/>
              </a:spcBef>
              <a:spcAft>
                <a:spcPts val="0"/>
              </a:spcAft>
              <a:buSzPts val="1400"/>
              <a:buChar char="■"/>
            </a:pPr>
            <a:r>
              <a:rPr lang="en"/>
              <a:t>P = {a ≣ c}, {b ≣ d}, {e ≣ e}, {f ≣ f}, {g ≣ i}, {h ≣ j}</a:t>
            </a:r>
            <a:endParaRPr/>
          </a:p>
          <a:p>
            <a:pPr indent="0" lvl="0" marL="0" rtl="0" algn="l">
              <a:spcBef>
                <a:spcPts val="0"/>
              </a:spcBef>
              <a:spcAft>
                <a:spcPts val="0"/>
              </a:spcAft>
              <a:buNone/>
            </a:pPr>
            <a:r>
              <a:t/>
            </a:r>
            <a:endParaRPr/>
          </a:p>
        </p:txBody>
      </p:sp>
      <p:grpSp>
        <p:nvGrpSpPr>
          <p:cNvPr id="8570" name="Google Shape;8570;p390"/>
          <p:cNvGrpSpPr/>
          <p:nvPr/>
        </p:nvGrpSpPr>
        <p:grpSpPr>
          <a:xfrm>
            <a:off x="831375" y="2879280"/>
            <a:ext cx="7555950" cy="1918868"/>
            <a:chOff x="831375" y="3199200"/>
            <a:chExt cx="7555950" cy="2132075"/>
          </a:xfrm>
        </p:grpSpPr>
        <p:grpSp>
          <p:nvGrpSpPr>
            <p:cNvPr id="8571" name="Google Shape;8571;p390"/>
            <p:cNvGrpSpPr/>
            <p:nvPr/>
          </p:nvGrpSpPr>
          <p:grpSpPr>
            <a:xfrm>
              <a:off x="831375" y="3199200"/>
              <a:ext cx="7555950" cy="1938650"/>
              <a:chOff x="868500" y="3078125"/>
              <a:chExt cx="7555950" cy="1938650"/>
            </a:xfrm>
          </p:grpSpPr>
          <p:sp>
            <p:nvSpPr>
              <p:cNvPr id="8572" name="Google Shape;8572;p390"/>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573" name="Google Shape;8573;p390"/>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574" name="Google Shape;8574;p390"/>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575" name="Google Shape;8575;p390"/>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576" name="Google Shape;8576;p390"/>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577" name="Google Shape;8577;p390"/>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578" name="Google Shape;8578;p390"/>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579" name="Google Shape;8579;p390"/>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580" name="Google Shape;8580;p390"/>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581" name="Google Shape;8581;p390"/>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582" name="Google Shape;8582;p390"/>
              <p:cNvCxnSpPr>
                <a:stCxn id="8572" idx="6"/>
                <a:endCxn id="8574"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583" name="Google Shape;8583;p390"/>
              <p:cNvCxnSpPr>
                <a:stCxn id="8572" idx="5"/>
                <a:endCxn id="8575"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584" name="Google Shape;8584;p390"/>
              <p:cNvCxnSpPr>
                <a:stCxn id="8573" idx="7"/>
                <a:endCxn id="8574"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585" name="Google Shape;8585;p390"/>
              <p:cNvCxnSpPr>
                <a:stCxn id="8572" idx="4"/>
                <a:endCxn id="8573"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586" name="Google Shape;8586;p390"/>
              <p:cNvCxnSpPr>
                <a:stCxn id="8573" idx="6"/>
                <a:endCxn id="8575"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587" name="Google Shape;8587;p390"/>
              <p:cNvCxnSpPr>
                <a:stCxn id="8574" idx="6"/>
                <a:endCxn id="8576"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588" name="Google Shape;8588;p390"/>
              <p:cNvCxnSpPr>
                <a:stCxn id="8576" idx="3"/>
                <a:endCxn id="8575"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589" name="Google Shape;8589;p390"/>
              <p:cNvCxnSpPr>
                <a:stCxn id="8577" idx="2"/>
                <a:endCxn id="8576"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590" name="Google Shape;8590;p390"/>
              <p:cNvCxnSpPr>
                <a:stCxn id="8578" idx="2"/>
                <a:endCxn id="8577"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591" name="Google Shape;8591;p390"/>
              <p:cNvCxnSpPr>
                <a:stCxn id="8579" idx="2"/>
                <a:endCxn id="8577"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592" name="Google Shape;8592;p390"/>
              <p:cNvCxnSpPr>
                <a:stCxn id="8578" idx="5"/>
                <a:endCxn id="8581"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593" name="Google Shape;8593;p390"/>
              <p:cNvCxnSpPr>
                <a:stCxn id="8580" idx="3"/>
                <a:endCxn id="8579"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594" name="Google Shape;8594;p390"/>
              <p:cNvCxnSpPr>
                <a:stCxn id="8580" idx="2"/>
                <a:endCxn id="8578"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595" name="Google Shape;8595;p390"/>
              <p:cNvCxnSpPr>
                <a:stCxn id="8580" idx="4"/>
                <a:endCxn id="8581"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596" name="Google Shape;8596;p390"/>
              <p:cNvCxnSpPr>
                <a:stCxn id="8581" idx="2"/>
                <a:endCxn id="8579"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8597" name="Google Shape;8597;p390"/>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
        <p:nvSpPr>
          <p:cNvPr id="8598" name="Google Shape;8598;p390"/>
          <p:cNvSpPr/>
          <p:nvPr/>
        </p:nvSpPr>
        <p:spPr>
          <a:xfrm>
            <a:off x="636225" y="2724772"/>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9" name="Google Shape;8599;p390"/>
          <p:cNvSpPr/>
          <p:nvPr/>
        </p:nvSpPr>
        <p:spPr>
          <a:xfrm>
            <a:off x="2404225" y="2744437"/>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0" name="Google Shape;8600;p390"/>
          <p:cNvSpPr/>
          <p:nvPr/>
        </p:nvSpPr>
        <p:spPr>
          <a:xfrm>
            <a:off x="3446825" y="2744437"/>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1" name="Google Shape;8601;p390"/>
          <p:cNvSpPr/>
          <p:nvPr/>
        </p:nvSpPr>
        <p:spPr>
          <a:xfrm>
            <a:off x="4786200" y="2744437"/>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2" name="Google Shape;8602;p390"/>
          <p:cNvSpPr/>
          <p:nvPr/>
        </p:nvSpPr>
        <p:spPr>
          <a:xfrm>
            <a:off x="5882075" y="2744437"/>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3" name="Google Shape;8603;p390"/>
          <p:cNvSpPr/>
          <p:nvPr/>
        </p:nvSpPr>
        <p:spPr>
          <a:xfrm>
            <a:off x="7541850" y="2744437"/>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7" name="Shape 8607"/>
        <p:cNvGrpSpPr/>
        <p:nvPr/>
      </p:nvGrpSpPr>
      <p:grpSpPr>
        <a:xfrm>
          <a:off x="0" y="0"/>
          <a:ext cx="0" cy="0"/>
          <a:chOff x="0" y="0"/>
          <a:chExt cx="0" cy="0"/>
        </a:xfrm>
      </p:grpSpPr>
      <p:sp>
        <p:nvSpPr>
          <p:cNvPr id="8608" name="Google Shape;8608;p391"/>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609" name="Google Shape;8609;p391"/>
          <p:cNvSpPr txBox="1"/>
          <p:nvPr>
            <p:ph idx="1" type="body"/>
          </p:nvPr>
        </p:nvSpPr>
        <p:spPr>
          <a:xfrm>
            <a:off x="311700" y="1225215"/>
            <a:ext cx="8520600" cy="108702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Structurally equivalent actors:</a:t>
            </a:r>
            <a:endParaRPr/>
          </a:p>
          <a:p>
            <a:pPr indent="-317500" lvl="1" marL="914400" rtl="0" algn="l">
              <a:spcBef>
                <a:spcPts val="0"/>
              </a:spcBef>
              <a:spcAft>
                <a:spcPts val="0"/>
              </a:spcAft>
              <a:buSzPts val="1400"/>
              <a:buChar char="○"/>
            </a:pPr>
            <a:r>
              <a:rPr b="1" lang="en"/>
              <a:t>Have the same ego-networks </a:t>
            </a:r>
            <a:r>
              <a:rPr lang="en"/>
              <a:t>(they are connected to the same set of others)</a:t>
            </a:r>
            <a:endParaRPr/>
          </a:p>
          <a:p>
            <a:pPr indent="-317500" lvl="1" marL="914400" rtl="0" algn="l">
              <a:spcBef>
                <a:spcPts val="0"/>
              </a:spcBef>
              <a:spcAft>
                <a:spcPts val="0"/>
              </a:spcAft>
              <a:buSzPts val="1400"/>
              <a:buChar char="○"/>
            </a:pPr>
            <a:r>
              <a:rPr lang="en" sz="1400"/>
              <a:t>Are part of the same </a:t>
            </a:r>
            <a:r>
              <a:rPr b="1" lang="en" sz="1400"/>
              <a:t>cohesive subset</a:t>
            </a:r>
            <a:r>
              <a:rPr lang="en" sz="1400"/>
              <a:t> (they are connected by at least a path of length 2)</a:t>
            </a:r>
            <a:endParaRPr sz="1400"/>
          </a:p>
          <a:p>
            <a:pPr indent="-317500" lvl="1" marL="914400" rtl="0" algn="l">
              <a:spcBef>
                <a:spcPts val="0"/>
              </a:spcBef>
              <a:spcAft>
                <a:spcPts val="0"/>
              </a:spcAft>
              <a:buSzPts val="1400"/>
              <a:buChar char="○"/>
            </a:pPr>
            <a:r>
              <a:rPr lang="en"/>
              <a:t>Have the same </a:t>
            </a:r>
            <a:r>
              <a:rPr b="1" lang="en"/>
              <a:t>graph theoretic attributes</a:t>
            </a:r>
            <a:r>
              <a:rPr lang="en"/>
              <a:t> (e.g., centrality, clustering coefficient, etc.)</a:t>
            </a:r>
            <a:endParaRPr/>
          </a:p>
          <a:p>
            <a:pPr indent="0" lvl="0" marL="1371600" rtl="0" algn="l">
              <a:spcBef>
                <a:spcPts val="0"/>
              </a:spcBef>
              <a:spcAft>
                <a:spcPts val="0"/>
              </a:spcAft>
              <a:buNone/>
            </a:pPr>
            <a:r>
              <a:t/>
            </a:r>
            <a:endParaRPr/>
          </a:p>
        </p:txBody>
      </p:sp>
      <p:grpSp>
        <p:nvGrpSpPr>
          <p:cNvPr id="8610" name="Google Shape;8610;p391"/>
          <p:cNvGrpSpPr/>
          <p:nvPr/>
        </p:nvGrpSpPr>
        <p:grpSpPr>
          <a:xfrm>
            <a:off x="831375" y="2879280"/>
            <a:ext cx="7555950" cy="1918868"/>
            <a:chOff x="831375" y="3199200"/>
            <a:chExt cx="7555950" cy="2132075"/>
          </a:xfrm>
        </p:grpSpPr>
        <p:grpSp>
          <p:nvGrpSpPr>
            <p:cNvPr id="8611" name="Google Shape;8611;p391"/>
            <p:cNvGrpSpPr/>
            <p:nvPr/>
          </p:nvGrpSpPr>
          <p:grpSpPr>
            <a:xfrm>
              <a:off x="831375" y="3199200"/>
              <a:ext cx="7555950" cy="1938650"/>
              <a:chOff x="868500" y="3078125"/>
              <a:chExt cx="7555950" cy="1938650"/>
            </a:xfrm>
          </p:grpSpPr>
          <p:sp>
            <p:nvSpPr>
              <p:cNvPr id="8612" name="Google Shape;8612;p391"/>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613" name="Google Shape;8613;p391"/>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614" name="Google Shape;8614;p391"/>
              <p:cNvSpPr/>
              <p:nvPr/>
            </p:nvSpPr>
            <p:spPr>
              <a:xfrm>
                <a:off x="2614450" y="3078125"/>
                <a:ext cx="601500" cy="580200"/>
              </a:xfrm>
              <a:prstGeom prst="ellipse">
                <a:avLst/>
              </a:prstGeom>
              <a:solidFill>
                <a:srgbClr val="6AA84F"/>
              </a:solid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615" name="Google Shape;8615;p391"/>
              <p:cNvSpPr/>
              <p:nvPr/>
            </p:nvSpPr>
            <p:spPr>
              <a:xfrm>
                <a:off x="2614450" y="4371050"/>
                <a:ext cx="601500" cy="580200"/>
              </a:xfrm>
              <a:prstGeom prst="ellipse">
                <a:avLst/>
              </a:prstGeom>
              <a:solidFill>
                <a:srgbClr val="6AA84F"/>
              </a:solid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616" name="Google Shape;8616;p391"/>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617" name="Google Shape;8617;p391"/>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618" name="Google Shape;8618;p391"/>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619" name="Google Shape;8619;p391"/>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620" name="Google Shape;8620;p391"/>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621" name="Google Shape;8621;p391"/>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622" name="Google Shape;8622;p391"/>
              <p:cNvCxnSpPr>
                <a:stCxn id="8612" idx="6"/>
                <a:endCxn id="8614" idx="2"/>
              </p:cNvCxnSpPr>
              <p:nvPr/>
            </p:nvCxnSpPr>
            <p:spPr>
              <a:xfrm>
                <a:off x="1470000" y="3368225"/>
                <a:ext cx="1144500" cy="0"/>
              </a:xfrm>
              <a:prstGeom prst="straightConnector1">
                <a:avLst/>
              </a:prstGeom>
              <a:noFill/>
              <a:ln cap="flat" cmpd="sng" w="76200">
                <a:solidFill>
                  <a:srgbClr val="FF0000"/>
                </a:solidFill>
                <a:prstDash val="solid"/>
                <a:round/>
                <a:headEnd len="med" w="med" type="none"/>
                <a:tailEnd len="med" w="med" type="none"/>
              </a:ln>
            </p:spPr>
          </p:cxnSp>
          <p:cxnSp>
            <p:nvCxnSpPr>
              <p:cNvPr id="8623" name="Google Shape;8623;p391"/>
              <p:cNvCxnSpPr>
                <a:stCxn id="8612" idx="5"/>
                <a:endCxn id="8615" idx="1"/>
              </p:cNvCxnSpPr>
              <p:nvPr/>
            </p:nvCxnSpPr>
            <p:spPr>
              <a:xfrm>
                <a:off x="1381912" y="3573357"/>
                <a:ext cx="1320600" cy="882600"/>
              </a:xfrm>
              <a:prstGeom prst="straightConnector1">
                <a:avLst/>
              </a:prstGeom>
              <a:noFill/>
              <a:ln cap="flat" cmpd="sng" w="76200">
                <a:solidFill>
                  <a:srgbClr val="FF0000"/>
                </a:solidFill>
                <a:prstDash val="solid"/>
                <a:round/>
                <a:headEnd len="med" w="med" type="none"/>
                <a:tailEnd len="med" w="med" type="none"/>
              </a:ln>
            </p:spPr>
          </p:cxnSp>
          <p:cxnSp>
            <p:nvCxnSpPr>
              <p:cNvPr id="8624" name="Google Shape;8624;p391"/>
              <p:cNvCxnSpPr>
                <a:stCxn id="8613" idx="7"/>
                <a:endCxn id="8614" idx="3"/>
              </p:cNvCxnSpPr>
              <p:nvPr/>
            </p:nvCxnSpPr>
            <p:spPr>
              <a:xfrm flipH="1" rot="10800000">
                <a:off x="1382112" y="3573418"/>
                <a:ext cx="1320300" cy="882600"/>
              </a:xfrm>
              <a:prstGeom prst="straightConnector1">
                <a:avLst/>
              </a:prstGeom>
              <a:noFill/>
              <a:ln cap="flat" cmpd="sng" w="76200">
                <a:solidFill>
                  <a:srgbClr val="FF0000"/>
                </a:solidFill>
                <a:prstDash val="solid"/>
                <a:round/>
                <a:headEnd len="med" w="med" type="none"/>
                <a:tailEnd len="med" w="med" type="none"/>
              </a:ln>
            </p:spPr>
          </p:cxnSp>
          <p:cxnSp>
            <p:nvCxnSpPr>
              <p:cNvPr id="8625" name="Google Shape;8625;p391"/>
              <p:cNvCxnSpPr>
                <a:stCxn id="8612" idx="4"/>
                <a:endCxn id="8613"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626" name="Google Shape;8626;p391"/>
              <p:cNvCxnSpPr>
                <a:stCxn id="8613" idx="6"/>
                <a:endCxn id="8615" idx="2"/>
              </p:cNvCxnSpPr>
              <p:nvPr/>
            </p:nvCxnSpPr>
            <p:spPr>
              <a:xfrm>
                <a:off x="1470200" y="4661150"/>
                <a:ext cx="1144200" cy="0"/>
              </a:xfrm>
              <a:prstGeom prst="straightConnector1">
                <a:avLst/>
              </a:prstGeom>
              <a:noFill/>
              <a:ln cap="flat" cmpd="sng" w="76200">
                <a:solidFill>
                  <a:srgbClr val="FF0000"/>
                </a:solidFill>
                <a:prstDash val="solid"/>
                <a:round/>
                <a:headEnd len="med" w="med" type="none"/>
                <a:tailEnd len="med" w="med" type="none"/>
              </a:ln>
            </p:spPr>
          </p:cxnSp>
          <p:cxnSp>
            <p:nvCxnSpPr>
              <p:cNvPr id="8627" name="Google Shape;8627;p391"/>
              <p:cNvCxnSpPr>
                <a:stCxn id="8614" idx="6"/>
                <a:endCxn id="8616"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628" name="Google Shape;8628;p391"/>
              <p:cNvCxnSpPr>
                <a:stCxn id="8616" idx="3"/>
                <a:endCxn id="8615"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629" name="Google Shape;8629;p391"/>
              <p:cNvCxnSpPr>
                <a:stCxn id="8617" idx="2"/>
                <a:endCxn id="8616"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630" name="Google Shape;8630;p391"/>
              <p:cNvCxnSpPr>
                <a:stCxn id="8618" idx="2"/>
                <a:endCxn id="8617"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631" name="Google Shape;8631;p391"/>
              <p:cNvCxnSpPr>
                <a:stCxn id="8619" idx="2"/>
                <a:endCxn id="8617"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632" name="Google Shape;8632;p391"/>
              <p:cNvCxnSpPr>
                <a:stCxn id="8618" idx="5"/>
                <a:endCxn id="8621"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633" name="Google Shape;8633;p391"/>
              <p:cNvCxnSpPr>
                <a:stCxn id="8620" idx="3"/>
                <a:endCxn id="8619"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634" name="Google Shape;8634;p391"/>
              <p:cNvCxnSpPr>
                <a:stCxn id="8620" idx="2"/>
                <a:endCxn id="8618"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635" name="Google Shape;8635;p391"/>
              <p:cNvCxnSpPr>
                <a:stCxn id="8620" idx="4"/>
                <a:endCxn id="8621"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636" name="Google Shape;8636;p391"/>
              <p:cNvCxnSpPr>
                <a:stCxn id="8621" idx="2"/>
                <a:endCxn id="8619"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8637" name="Google Shape;8637;p391"/>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
        <p:nvSpPr>
          <p:cNvPr id="8638" name="Google Shape;8638;p391"/>
          <p:cNvSpPr/>
          <p:nvPr/>
        </p:nvSpPr>
        <p:spPr>
          <a:xfrm>
            <a:off x="636225" y="2724772"/>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2" name="Shape 8642"/>
        <p:cNvGrpSpPr/>
        <p:nvPr/>
      </p:nvGrpSpPr>
      <p:grpSpPr>
        <a:xfrm>
          <a:off x="0" y="0"/>
          <a:ext cx="0" cy="0"/>
          <a:chOff x="0" y="0"/>
          <a:chExt cx="0" cy="0"/>
        </a:xfrm>
      </p:grpSpPr>
      <p:sp>
        <p:nvSpPr>
          <p:cNvPr id="8643" name="Google Shape;8643;p392"/>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8644" name="Google Shape;8644;p392"/>
          <p:cNvSpPr txBox="1"/>
          <p:nvPr>
            <p:ph idx="1" type="body"/>
          </p:nvPr>
        </p:nvSpPr>
        <p:spPr>
          <a:xfrm>
            <a:off x="311700" y="1225215"/>
            <a:ext cx="8520600" cy="149958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Structurally equivalent actors:</a:t>
            </a:r>
            <a:endParaRPr/>
          </a:p>
          <a:p>
            <a:pPr indent="-317500" lvl="1" marL="914400" rtl="0" algn="l">
              <a:spcBef>
                <a:spcPts val="0"/>
              </a:spcBef>
              <a:spcAft>
                <a:spcPts val="0"/>
              </a:spcAft>
              <a:buSzPts val="1400"/>
              <a:buChar char="○"/>
            </a:pPr>
            <a:r>
              <a:rPr b="1" lang="en"/>
              <a:t>Have the same ego-networks </a:t>
            </a:r>
            <a:r>
              <a:rPr lang="en"/>
              <a:t>(they are connected to the same set of others)</a:t>
            </a:r>
            <a:endParaRPr/>
          </a:p>
          <a:p>
            <a:pPr indent="-317500" lvl="1" marL="914400" rtl="0" algn="l">
              <a:spcBef>
                <a:spcPts val="0"/>
              </a:spcBef>
              <a:spcAft>
                <a:spcPts val="0"/>
              </a:spcAft>
              <a:buSzPts val="1400"/>
              <a:buChar char="○"/>
            </a:pPr>
            <a:r>
              <a:rPr lang="en" sz="1400"/>
              <a:t>Are part of the same </a:t>
            </a:r>
            <a:r>
              <a:rPr b="1" lang="en" sz="1400"/>
              <a:t>cohesive subset</a:t>
            </a:r>
            <a:r>
              <a:rPr lang="en" sz="1400"/>
              <a:t> (they are connected by at least a path of length 2)</a:t>
            </a:r>
            <a:endParaRPr sz="1400"/>
          </a:p>
          <a:p>
            <a:pPr indent="-317500" lvl="1" marL="914400" rtl="0" algn="l">
              <a:spcBef>
                <a:spcPts val="0"/>
              </a:spcBef>
              <a:spcAft>
                <a:spcPts val="0"/>
              </a:spcAft>
              <a:buSzPts val="1400"/>
              <a:buChar char="○"/>
            </a:pPr>
            <a:r>
              <a:rPr lang="en"/>
              <a:t>Have the same </a:t>
            </a:r>
            <a:r>
              <a:rPr b="1" lang="en"/>
              <a:t>graph theoretic attributes</a:t>
            </a:r>
            <a:r>
              <a:rPr lang="en"/>
              <a:t> (e.g., centrality, clustering coefficient, etc.)</a:t>
            </a:r>
            <a:endParaRPr/>
          </a:p>
          <a:p>
            <a:pPr indent="-317500" lvl="2" marL="1371600" rtl="0" algn="l">
              <a:spcBef>
                <a:spcPts val="0"/>
              </a:spcBef>
              <a:spcAft>
                <a:spcPts val="0"/>
              </a:spcAft>
              <a:buClr>
                <a:srgbClr val="FF0000"/>
              </a:buClr>
              <a:buSzPts val="1400"/>
              <a:buChar char="■"/>
            </a:pPr>
            <a:r>
              <a:rPr b="1" i="1" lang="en">
                <a:solidFill>
                  <a:srgbClr val="FF0000"/>
                </a:solidFill>
              </a:rPr>
              <a:t>But not necessarily the reverse!</a:t>
            </a:r>
            <a:endParaRPr b="1" i="1">
              <a:solidFill>
                <a:srgbClr val="FF0000"/>
              </a:solidFill>
            </a:endParaRPr>
          </a:p>
          <a:p>
            <a:pPr indent="-317500" lvl="2" marL="1371600" rtl="0" algn="l">
              <a:spcBef>
                <a:spcPts val="0"/>
              </a:spcBef>
              <a:spcAft>
                <a:spcPts val="0"/>
              </a:spcAft>
              <a:buClr>
                <a:srgbClr val="000000"/>
              </a:buClr>
              <a:buSzPts val="1400"/>
              <a:buChar char="■"/>
            </a:pPr>
            <a:r>
              <a:rPr i="1" lang="en">
                <a:solidFill>
                  <a:srgbClr val="000000"/>
                </a:solidFill>
              </a:rPr>
              <a:t>A</a:t>
            </a:r>
            <a:r>
              <a:rPr i="1" lang="en">
                <a:solidFill>
                  <a:srgbClr val="000000"/>
                </a:solidFill>
              </a:rPr>
              <a:t>ctors can have same graph theoretic attributes but not be connected to the same others</a:t>
            </a:r>
            <a:endParaRPr i="1">
              <a:solidFill>
                <a:srgbClr val="000000"/>
              </a:solidFill>
            </a:endParaRPr>
          </a:p>
          <a:p>
            <a:pPr indent="0" lvl="0" marL="0" rtl="0" algn="l">
              <a:spcBef>
                <a:spcPts val="0"/>
              </a:spcBef>
              <a:spcAft>
                <a:spcPts val="0"/>
              </a:spcAft>
              <a:buNone/>
            </a:pPr>
            <a:r>
              <a:t/>
            </a:r>
            <a:endParaRPr/>
          </a:p>
          <a:p>
            <a:pPr indent="0" lvl="0" marL="1371600" rtl="0" algn="l">
              <a:spcBef>
                <a:spcPts val="0"/>
              </a:spcBef>
              <a:spcAft>
                <a:spcPts val="0"/>
              </a:spcAft>
              <a:buNone/>
            </a:pPr>
            <a:r>
              <a:t/>
            </a:r>
            <a:endParaRPr/>
          </a:p>
        </p:txBody>
      </p:sp>
      <p:grpSp>
        <p:nvGrpSpPr>
          <p:cNvPr id="8645" name="Google Shape;8645;p392"/>
          <p:cNvGrpSpPr/>
          <p:nvPr/>
        </p:nvGrpSpPr>
        <p:grpSpPr>
          <a:xfrm>
            <a:off x="831375" y="2879280"/>
            <a:ext cx="7555950" cy="1918868"/>
            <a:chOff x="831375" y="3199200"/>
            <a:chExt cx="7555950" cy="2132075"/>
          </a:xfrm>
        </p:grpSpPr>
        <p:grpSp>
          <p:nvGrpSpPr>
            <p:cNvPr id="8646" name="Google Shape;8646;p392"/>
            <p:cNvGrpSpPr/>
            <p:nvPr/>
          </p:nvGrpSpPr>
          <p:grpSpPr>
            <a:xfrm>
              <a:off x="831375" y="3199200"/>
              <a:ext cx="7555950" cy="1938650"/>
              <a:chOff x="868500" y="3078125"/>
              <a:chExt cx="7555950" cy="1938650"/>
            </a:xfrm>
          </p:grpSpPr>
          <p:sp>
            <p:nvSpPr>
              <p:cNvPr id="8647" name="Google Shape;8647;p392"/>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648" name="Google Shape;8648;p392"/>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649" name="Google Shape;8649;p392"/>
              <p:cNvSpPr/>
              <p:nvPr/>
            </p:nvSpPr>
            <p:spPr>
              <a:xfrm>
                <a:off x="2614450" y="3078125"/>
                <a:ext cx="601500" cy="580200"/>
              </a:xfrm>
              <a:prstGeom prst="ellipse">
                <a:avLst/>
              </a:prstGeom>
              <a:solidFill>
                <a:srgbClr val="6AA84F"/>
              </a:solid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650" name="Google Shape;8650;p392"/>
              <p:cNvSpPr/>
              <p:nvPr/>
            </p:nvSpPr>
            <p:spPr>
              <a:xfrm>
                <a:off x="2614450" y="4371050"/>
                <a:ext cx="601500" cy="580200"/>
              </a:xfrm>
              <a:prstGeom prst="ellipse">
                <a:avLst/>
              </a:prstGeom>
              <a:solidFill>
                <a:srgbClr val="6AA84F"/>
              </a:solid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651" name="Google Shape;8651;p392"/>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652" name="Google Shape;8652;p392"/>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653" name="Google Shape;8653;p392"/>
              <p:cNvSpPr/>
              <p:nvPr/>
            </p:nvSpPr>
            <p:spPr>
              <a:xfrm>
                <a:off x="6077000" y="3078125"/>
                <a:ext cx="601500" cy="580200"/>
              </a:xfrm>
              <a:prstGeom prst="ellipse">
                <a:avLst/>
              </a:prstGeom>
              <a:solidFill>
                <a:srgbClr val="E69138"/>
              </a:solid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654" name="Google Shape;8654;p392"/>
              <p:cNvSpPr/>
              <p:nvPr/>
            </p:nvSpPr>
            <p:spPr>
              <a:xfrm>
                <a:off x="6077000" y="4436575"/>
                <a:ext cx="601500" cy="580200"/>
              </a:xfrm>
              <a:prstGeom prst="ellipse">
                <a:avLst/>
              </a:prstGeom>
              <a:solidFill>
                <a:srgbClr val="E69138"/>
              </a:solid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655" name="Google Shape;8655;p392"/>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656" name="Google Shape;8656;p392"/>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657" name="Google Shape;8657;p392"/>
              <p:cNvCxnSpPr>
                <a:stCxn id="8647" idx="6"/>
                <a:endCxn id="8649" idx="2"/>
              </p:cNvCxnSpPr>
              <p:nvPr/>
            </p:nvCxnSpPr>
            <p:spPr>
              <a:xfrm>
                <a:off x="1470000" y="3368225"/>
                <a:ext cx="1144500" cy="0"/>
              </a:xfrm>
              <a:prstGeom prst="straightConnector1">
                <a:avLst/>
              </a:prstGeom>
              <a:noFill/>
              <a:ln cap="flat" cmpd="sng" w="76200">
                <a:solidFill>
                  <a:srgbClr val="FF0000"/>
                </a:solidFill>
                <a:prstDash val="solid"/>
                <a:round/>
                <a:headEnd len="med" w="med" type="none"/>
                <a:tailEnd len="med" w="med" type="none"/>
              </a:ln>
            </p:spPr>
          </p:cxnSp>
          <p:cxnSp>
            <p:nvCxnSpPr>
              <p:cNvPr id="8658" name="Google Shape;8658;p392"/>
              <p:cNvCxnSpPr>
                <a:stCxn id="8647" idx="5"/>
                <a:endCxn id="8650" idx="1"/>
              </p:cNvCxnSpPr>
              <p:nvPr/>
            </p:nvCxnSpPr>
            <p:spPr>
              <a:xfrm>
                <a:off x="1381912" y="3573357"/>
                <a:ext cx="1320600" cy="882600"/>
              </a:xfrm>
              <a:prstGeom prst="straightConnector1">
                <a:avLst/>
              </a:prstGeom>
              <a:noFill/>
              <a:ln cap="flat" cmpd="sng" w="76200">
                <a:solidFill>
                  <a:srgbClr val="FF0000"/>
                </a:solidFill>
                <a:prstDash val="solid"/>
                <a:round/>
                <a:headEnd len="med" w="med" type="none"/>
                <a:tailEnd len="med" w="med" type="none"/>
              </a:ln>
            </p:spPr>
          </p:cxnSp>
          <p:cxnSp>
            <p:nvCxnSpPr>
              <p:cNvPr id="8659" name="Google Shape;8659;p392"/>
              <p:cNvCxnSpPr>
                <a:stCxn id="8648" idx="7"/>
                <a:endCxn id="8649" idx="3"/>
              </p:cNvCxnSpPr>
              <p:nvPr/>
            </p:nvCxnSpPr>
            <p:spPr>
              <a:xfrm flipH="1" rot="10800000">
                <a:off x="1382112" y="3573418"/>
                <a:ext cx="1320300" cy="882600"/>
              </a:xfrm>
              <a:prstGeom prst="straightConnector1">
                <a:avLst/>
              </a:prstGeom>
              <a:noFill/>
              <a:ln cap="flat" cmpd="sng" w="76200">
                <a:solidFill>
                  <a:srgbClr val="FF0000"/>
                </a:solidFill>
                <a:prstDash val="solid"/>
                <a:round/>
                <a:headEnd len="med" w="med" type="none"/>
                <a:tailEnd len="med" w="med" type="none"/>
              </a:ln>
            </p:spPr>
          </p:cxnSp>
          <p:cxnSp>
            <p:nvCxnSpPr>
              <p:cNvPr id="8660" name="Google Shape;8660;p392"/>
              <p:cNvCxnSpPr>
                <a:stCxn id="8647" idx="4"/>
                <a:endCxn id="8648"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661" name="Google Shape;8661;p392"/>
              <p:cNvCxnSpPr>
                <a:stCxn id="8648" idx="6"/>
                <a:endCxn id="8650" idx="2"/>
              </p:cNvCxnSpPr>
              <p:nvPr/>
            </p:nvCxnSpPr>
            <p:spPr>
              <a:xfrm>
                <a:off x="1470200" y="4661150"/>
                <a:ext cx="1144200" cy="0"/>
              </a:xfrm>
              <a:prstGeom prst="straightConnector1">
                <a:avLst/>
              </a:prstGeom>
              <a:noFill/>
              <a:ln cap="flat" cmpd="sng" w="76200">
                <a:solidFill>
                  <a:srgbClr val="FF0000"/>
                </a:solidFill>
                <a:prstDash val="solid"/>
                <a:round/>
                <a:headEnd len="med" w="med" type="none"/>
                <a:tailEnd len="med" w="med" type="none"/>
              </a:ln>
            </p:spPr>
          </p:cxnSp>
          <p:cxnSp>
            <p:nvCxnSpPr>
              <p:cNvPr id="8662" name="Google Shape;8662;p392"/>
              <p:cNvCxnSpPr>
                <a:stCxn id="8649" idx="6"/>
                <a:endCxn id="8651"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663" name="Google Shape;8663;p392"/>
              <p:cNvCxnSpPr>
                <a:stCxn id="8651" idx="3"/>
                <a:endCxn id="8650"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664" name="Google Shape;8664;p392"/>
              <p:cNvCxnSpPr>
                <a:stCxn id="8652" idx="2"/>
                <a:endCxn id="8651"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665" name="Google Shape;8665;p392"/>
              <p:cNvCxnSpPr>
                <a:stCxn id="8653" idx="2"/>
                <a:endCxn id="8652"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666" name="Google Shape;8666;p392"/>
              <p:cNvCxnSpPr>
                <a:stCxn id="8654" idx="2"/>
                <a:endCxn id="8652"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667" name="Google Shape;8667;p392"/>
              <p:cNvCxnSpPr>
                <a:stCxn id="8653" idx="5"/>
                <a:endCxn id="8656" idx="1"/>
              </p:cNvCxnSpPr>
              <p:nvPr/>
            </p:nvCxnSpPr>
            <p:spPr>
              <a:xfrm>
                <a:off x="6590412" y="3573357"/>
                <a:ext cx="1320600" cy="948300"/>
              </a:xfrm>
              <a:prstGeom prst="straightConnector1">
                <a:avLst/>
              </a:prstGeom>
              <a:noFill/>
              <a:ln cap="flat" cmpd="sng" w="76200">
                <a:solidFill>
                  <a:srgbClr val="FF0000"/>
                </a:solidFill>
                <a:prstDash val="solid"/>
                <a:round/>
                <a:headEnd len="med" w="med" type="none"/>
                <a:tailEnd len="med" w="med" type="none"/>
              </a:ln>
            </p:spPr>
          </p:cxnSp>
          <p:cxnSp>
            <p:nvCxnSpPr>
              <p:cNvPr id="8668" name="Google Shape;8668;p392"/>
              <p:cNvCxnSpPr>
                <a:stCxn id="8655" idx="3"/>
                <a:endCxn id="8654" idx="7"/>
              </p:cNvCxnSpPr>
              <p:nvPr/>
            </p:nvCxnSpPr>
            <p:spPr>
              <a:xfrm flipH="1">
                <a:off x="6590438" y="3573357"/>
                <a:ext cx="1320600" cy="948300"/>
              </a:xfrm>
              <a:prstGeom prst="straightConnector1">
                <a:avLst/>
              </a:prstGeom>
              <a:noFill/>
              <a:ln cap="flat" cmpd="sng" w="76200">
                <a:solidFill>
                  <a:srgbClr val="FF0000"/>
                </a:solidFill>
                <a:prstDash val="solid"/>
                <a:round/>
                <a:headEnd len="med" w="med" type="none"/>
                <a:tailEnd len="med" w="med" type="none"/>
              </a:ln>
            </p:spPr>
          </p:cxnSp>
          <p:cxnSp>
            <p:nvCxnSpPr>
              <p:cNvPr id="8669" name="Google Shape;8669;p392"/>
              <p:cNvCxnSpPr>
                <a:stCxn id="8655" idx="2"/>
                <a:endCxn id="8653" idx="6"/>
              </p:cNvCxnSpPr>
              <p:nvPr/>
            </p:nvCxnSpPr>
            <p:spPr>
              <a:xfrm rot="10800000">
                <a:off x="6678450" y="3368225"/>
                <a:ext cx="1144500" cy="0"/>
              </a:xfrm>
              <a:prstGeom prst="straightConnector1">
                <a:avLst/>
              </a:prstGeom>
              <a:noFill/>
              <a:ln cap="flat" cmpd="sng" w="76200">
                <a:solidFill>
                  <a:srgbClr val="FF0000"/>
                </a:solidFill>
                <a:prstDash val="solid"/>
                <a:round/>
                <a:headEnd len="med" w="med" type="none"/>
                <a:tailEnd len="med" w="med" type="none"/>
              </a:ln>
            </p:spPr>
          </p:cxnSp>
          <p:cxnSp>
            <p:nvCxnSpPr>
              <p:cNvPr id="8670" name="Google Shape;8670;p392"/>
              <p:cNvCxnSpPr>
                <a:stCxn id="8655" idx="4"/>
                <a:endCxn id="8656"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671" name="Google Shape;8671;p392"/>
              <p:cNvCxnSpPr>
                <a:stCxn id="8656" idx="2"/>
                <a:endCxn id="8654" idx="6"/>
              </p:cNvCxnSpPr>
              <p:nvPr/>
            </p:nvCxnSpPr>
            <p:spPr>
              <a:xfrm rot="10800000">
                <a:off x="6678650" y="4726675"/>
                <a:ext cx="1144200" cy="0"/>
              </a:xfrm>
              <a:prstGeom prst="straightConnector1">
                <a:avLst/>
              </a:prstGeom>
              <a:noFill/>
              <a:ln cap="flat" cmpd="sng" w="76200">
                <a:solidFill>
                  <a:srgbClr val="FF0000"/>
                </a:solidFill>
                <a:prstDash val="solid"/>
                <a:round/>
                <a:headEnd len="med" w="med" type="none"/>
                <a:tailEnd len="med" w="med" type="none"/>
              </a:ln>
            </p:spPr>
          </p:cxnSp>
        </p:grpSp>
        <p:sp>
          <p:nvSpPr>
            <p:cNvPr id="8672" name="Google Shape;8672;p392"/>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
        <p:nvSpPr>
          <p:cNvPr id="8673" name="Google Shape;8673;p392"/>
          <p:cNvSpPr/>
          <p:nvPr/>
        </p:nvSpPr>
        <p:spPr>
          <a:xfrm>
            <a:off x="636225" y="2724772"/>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4" name="Google Shape;8674;p392"/>
          <p:cNvSpPr/>
          <p:nvPr/>
        </p:nvSpPr>
        <p:spPr>
          <a:xfrm>
            <a:off x="7622475" y="2826212"/>
            <a:ext cx="932400" cy="197181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8" name="Shape 8678"/>
        <p:cNvGrpSpPr/>
        <p:nvPr/>
      </p:nvGrpSpPr>
      <p:grpSpPr>
        <a:xfrm>
          <a:off x="0" y="0"/>
          <a:ext cx="0" cy="0"/>
          <a:chOff x="0" y="0"/>
          <a:chExt cx="0" cy="0"/>
        </a:xfrm>
      </p:grpSpPr>
      <p:sp>
        <p:nvSpPr>
          <p:cNvPr id="8679" name="Google Shape;8679;p393"/>
          <p:cNvSpPr/>
          <p:nvPr/>
        </p:nvSpPr>
        <p:spPr>
          <a:xfrm>
            <a:off x="2419325" y="2846250"/>
            <a:ext cx="932400" cy="18273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0" name="Google Shape;8680;p393"/>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grpSp>
        <p:nvGrpSpPr>
          <p:cNvPr id="8681" name="Google Shape;8681;p393"/>
          <p:cNvGrpSpPr/>
          <p:nvPr/>
        </p:nvGrpSpPr>
        <p:grpSpPr>
          <a:xfrm>
            <a:off x="831375" y="2879280"/>
            <a:ext cx="7555950" cy="1918868"/>
            <a:chOff x="831375" y="3199200"/>
            <a:chExt cx="7555950" cy="2132075"/>
          </a:xfrm>
        </p:grpSpPr>
        <p:grpSp>
          <p:nvGrpSpPr>
            <p:cNvPr id="8682" name="Google Shape;8682;p393"/>
            <p:cNvGrpSpPr/>
            <p:nvPr/>
          </p:nvGrpSpPr>
          <p:grpSpPr>
            <a:xfrm>
              <a:off x="831375" y="3199200"/>
              <a:ext cx="7555950" cy="1938650"/>
              <a:chOff x="868500" y="3078125"/>
              <a:chExt cx="7555950" cy="1938650"/>
            </a:xfrm>
          </p:grpSpPr>
          <p:sp>
            <p:nvSpPr>
              <p:cNvPr id="8683" name="Google Shape;8683;p393"/>
              <p:cNvSpPr/>
              <p:nvPr/>
            </p:nvSpPr>
            <p:spPr>
              <a:xfrm>
                <a:off x="868500" y="3078125"/>
                <a:ext cx="601500" cy="580200"/>
              </a:xfrm>
              <a:prstGeom prst="ellipse">
                <a:avLst/>
              </a:prstGeom>
              <a:solidFill>
                <a:srgbClr val="FF0000"/>
              </a:solidFill>
              <a:ln cap="flat" cmpd="sng" w="762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684" name="Google Shape;8684;p393"/>
              <p:cNvSpPr/>
              <p:nvPr/>
            </p:nvSpPr>
            <p:spPr>
              <a:xfrm>
                <a:off x="868700" y="4371050"/>
                <a:ext cx="601500" cy="580200"/>
              </a:xfrm>
              <a:prstGeom prst="ellipse">
                <a:avLst/>
              </a:prstGeom>
              <a:solidFill>
                <a:srgbClr val="FF0000"/>
              </a:solidFill>
              <a:ln cap="flat" cmpd="sng" w="762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685" name="Google Shape;8685;p393"/>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686" name="Google Shape;8686;p393"/>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687" name="Google Shape;8687;p393"/>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688" name="Google Shape;8688;p393"/>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689" name="Google Shape;8689;p393"/>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690" name="Google Shape;8690;p393"/>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691" name="Google Shape;8691;p393"/>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692" name="Google Shape;8692;p393"/>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693" name="Google Shape;8693;p393"/>
              <p:cNvCxnSpPr>
                <a:stCxn id="8683" idx="6"/>
                <a:endCxn id="8685" idx="2"/>
              </p:cNvCxnSpPr>
              <p:nvPr/>
            </p:nvCxnSpPr>
            <p:spPr>
              <a:xfrm>
                <a:off x="1470000" y="3368225"/>
                <a:ext cx="1144500" cy="0"/>
              </a:xfrm>
              <a:prstGeom prst="straightConnector1">
                <a:avLst/>
              </a:prstGeom>
              <a:noFill/>
              <a:ln cap="flat" cmpd="sng" w="76200">
                <a:solidFill>
                  <a:srgbClr val="0000FF"/>
                </a:solidFill>
                <a:prstDash val="solid"/>
                <a:round/>
                <a:headEnd len="med" w="med" type="none"/>
                <a:tailEnd len="med" w="med" type="none"/>
              </a:ln>
            </p:spPr>
          </p:cxnSp>
          <p:cxnSp>
            <p:nvCxnSpPr>
              <p:cNvPr id="8694" name="Google Shape;8694;p393"/>
              <p:cNvCxnSpPr>
                <a:stCxn id="8683" idx="5"/>
                <a:endCxn id="8686" idx="1"/>
              </p:cNvCxnSpPr>
              <p:nvPr/>
            </p:nvCxnSpPr>
            <p:spPr>
              <a:xfrm>
                <a:off x="1381912" y="3573357"/>
                <a:ext cx="1320600" cy="882600"/>
              </a:xfrm>
              <a:prstGeom prst="straightConnector1">
                <a:avLst/>
              </a:prstGeom>
              <a:noFill/>
              <a:ln cap="flat" cmpd="sng" w="76200">
                <a:solidFill>
                  <a:srgbClr val="0000FF"/>
                </a:solidFill>
                <a:prstDash val="solid"/>
                <a:round/>
                <a:headEnd len="med" w="med" type="none"/>
                <a:tailEnd len="med" w="med" type="none"/>
              </a:ln>
            </p:spPr>
          </p:cxnSp>
          <p:cxnSp>
            <p:nvCxnSpPr>
              <p:cNvPr id="8695" name="Google Shape;8695;p393"/>
              <p:cNvCxnSpPr>
                <a:stCxn id="8684" idx="7"/>
                <a:endCxn id="8685" idx="3"/>
              </p:cNvCxnSpPr>
              <p:nvPr/>
            </p:nvCxnSpPr>
            <p:spPr>
              <a:xfrm flipH="1" rot="10800000">
                <a:off x="1382112" y="3573418"/>
                <a:ext cx="1320300" cy="882600"/>
              </a:xfrm>
              <a:prstGeom prst="straightConnector1">
                <a:avLst/>
              </a:prstGeom>
              <a:noFill/>
              <a:ln cap="flat" cmpd="sng" w="76200">
                <a:solidFill>
                  <a:srgbClr val="0000FF"/>
                </a:solidFill>
                <a:prstDash val="solid"/>
                <a:round/>
                <a:headEnd len="med" w="med" type="none"/>
                <a:tailEnd len="med" w="med" type="none"/>
              </a:ln>
            </p:spPr>
          </p:cxnSp>
          <p:cxnSp>
            <p:nvCxnSpPr>
              <p:cNvPr id="8696" name="Google Shape;8696;p393"/>
              <p:cNvCxnSpPr>
                <a:stCxn id="8683" idx="4"/>
                <a:endCxn id="8684"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697" name="Google Shape;8697;p393"/>
              <p:cNvCxnSpPr>
                <a:stCxn id="8684" idx="6"/>
                <a:endCxn id="8686" idx="2"/>
              </p:cNvCxnSpPr>
              <p:nvPr/>
            </p:nvCxnSpPr>
            <p:spPr>
              <a:xfrm>
                <a:off x="1470200" y="4661150"/>
                <a:ext cx="1144200" cy="0"/>
              </a:xfrm>
              <a:prstGeom prst="straightConnector1">
                <a:avLst/>
              </a:prstGeom>
              <a:noFill/>
              <a:ln cap="flat" cmpd="sng" w="76200">
                <a:solidFill>
                  <a:srgbClr val="0000FF"/>
                </a:solidFill>
                <a:prstDash val="solid"/>
                <a:round/>
                <a:headEnd len="med" w="med" type="none"/>
                <a:tailEnd len="med" w="med" type="none"/>
              </a:ln>
            </p:spPr>
          </p:cxnSp>
          <p:cxnSp>
            <p:nvCxnSpPr>
              <p:cNvPr id="8698" name="Google Shape;8698;p393"/>
              <p:cNvCxnSpPr>
                <a:stCxn id="8685" idx="6"/>
                <a:endCxn id="8687"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699" name="Google Shape;8699;p393"/>
              <p:cNvCxnSpPr>
                <a:stCxn id="8687" idx="3"/>
                <a:endCxn id="8686"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700" name="Google Shape;8700;p393"/>
              <p:cNvCxnSpPr>
                <a:stCxn id="8688" idx="2"/>
                <a:endCxn id="8687"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701" name="Google Shape;8701;p393"/>
              <p:cNvCxnSpPr>
                <a:stCxn id="8689" idx="2"/>
                <a:endCxn id="8688"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702" name="Google Shape;8702;p393"/>
              <p:cNvCxnSpPr>
                <a:stCxn id="8690" idx="2"/>
                <a:endCxn id="8688"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703" name="Google Shape;8703;p393"/>
              <p:cNvCxnSpPr>
                <a:stCxn id="8689" idx="5"/>
                <a:endCxn id="8692"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704" name="Google Shape;8704;p393"/>
              <p:cNvCxnSpPr>
                <a:stCxn id="8691" idx="3"/>
                <a:endCxn id="8690"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705" name="Google Shape;8705;p393"/>
              <p:cNvCxnSpPr>
                <a:stCxn id="8691" idx="2"/>
                <a:endCxn id="8689"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706" name="Google Shape;8706;p393"/>
              <p:cNvCxnSpPr>
                <a:stCxn id="8691" idx="4"/>
                <a:endCxn id="8692"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707" name="Google Shape;8707;p393"/>
              <p:cNvCxnSpPr>
                <a:stCxn id="8692" idx="2"/>
                <a:endCxn id="8690"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8708" name="Google Shape;8708;p393"/>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
        <p:nvSpPr>
          <p:cNvPr id="8709" name="Google Shape;8709;p393"/>
          <p:cNvSpPr txBox="1"/>
          <p:nvPr>
            <p:ph idx="1" type="body"/>
          </p:nvPr>
        </p:nvSpPr>
        <p:spPr>
          <a:xfrm>
            <a:off x="311700" y="1225215"/>
            <a:ext cx="8520600" cy="149958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Structurally equivalent actors:</a:t>
            </a:r>
            <a:endParaRPr/>
          </a:p>
          <a:p>
            <a:pPr indent="-317500" lvl="1" marL="914400" rtl="0" algn="l">
              <a:spcBef>
                <a:spcPts val="0"/>
              </a:spcBef>
              <a:spcAft>
                <a:spcPts val="0"/>
              </a:spcAft>
              <a:buSzPts val="1400"/>
              <a:buChar char="○"/>
            </a:pPr>
            <a:r>
              <a:rPr b="1" lang="en"/>
              <a:t>Have the same ego-networks </a:t>
            </a:r>
            <a:r>
              <a:rPr lang="en"/>
              <a:t>(they are connected to the same set of others)</a:t>
            </a:r>
            <a:endParaRPr/>
          </a:p>
          <a:p>
            <a:pPr indent="-317500" lvl="1" marL="914400" rtl="0" algn="l">
              <a:spcBef>
                <a:spcPts val="0"/>
              </a:spcBef>
              <a:spcAft>
                <a:spcPts val="0"/>
              </a:spcAft>
              <a:buSzPts val="1400"/>
              <a:buChar char="○"/>
            </a:pPr>
            <a:r>
              <a:rPr lang="en" sz="1400"/>
              <a:t>Are part of the same </a:t>
            </a:r>
            <a:r>
              <a:rPr b="1" lang="en" sz="1400"/>
              <a:t>cohesive subset</a:t>
            </a:r>
            <a:r>
              <a:rPr lang="en" sz="1400"/>
              <a:t> (they are connected by at least a path of length 2)</a:t>
            </a:r>
            <a:endParaRPr sz="1400"/>
          </a:p>
          <a:p>
            <a:pPr indent="-317500" lvl="1" marL="914400" rtl="0" algn="l">
              <a:spcBef>
                <a:spcPts val="0"/>
              </a:spcBef>
              <a:spcAft>
                <a:spcPts val="0"/>
              </a:spcAft>
              <a:buSzPts val="1400"/>
              <a:buChar char="○"/>
            </a:pPr>
            <a:r>
              <a:rPr lang="en"/>
              <a:t>Have the same </a:t>
            </a:r>
            <a:r>
              <a:rPr b="1" lang="en"/>
              <a:t>graph theoretic attributes</a:t>
            </a:r>
            <a:r>
              <a:rPr lang="en"/>
              <a:t> (e.g., centrality, clustering coefficient, etc.)</a:t>
            </a:r>
            <a:endParaRPr/>
          </a:p>
          <a:p>
            <a:pPr indent="-317500" lvl="2" marL="1371600" rtl="0" algn="l">
              <a:spcBef>
                <a:spcPts val="0"/>
              </a:spcBef>
              <a:spcAft>
                <a:spcPts val="0"/>
              </a:spcAft>
              <a:buSzPts val="1400"/>
              <a:buChar char="■"/>
            </a:pPr>
            <a:r>
              <a:rPr i="1" lang="en"/>
              <a:t>Actors can be structurally equivalent even if they are not connected to one another!</a:t>
            </a:r>
            <a:endParaRPr i="1"/>
          </a:p>
          <a:p>
            <a:pPr indent="-317500" lvl="3" marL="1828800" rtl="0" algn="l">
              <a:spcBef>
                <a:spcPts val="0"/>
              </a:spcBef>
              <a:spcAft>
                <a:spcPts val="0"/>
              </a:spcAft>
              <a:buClr>
                <a:srgbClr val="0000FF"/>
              </a:buClr>
              <a:buSzPts val="1400"/>
              <a:buChar char="●"/>
            </a:pPr>
            <a:r>
              <a:rPr i="1" lang="en">
                <a:solidFill>
                  <a:srgbClr val="0000FF"/>
                </a:solidFill>
              </a:rPr>
              <a:t>b ≣ d even though b and d are not connected!</a:t>
            </a:r>
            <a:endParaRPr i="1">
              <a:solidFill>
                <a:srgbClr val="0000FF"/>
              </a:solidFill>
            </a:endParaRPr>
          </a:p>
          <a:p>
            <a:pPr indent="0" lvl="0" marL="1371600" rtl="0" algn="l">
              <a:spcBef>
                <a:spcPts val="0"/>
              </a:spcBef>
              <a:spcAft>
                <a:spcPts val="0"/>
              </a:spcAft>
              <a:buNone/>
            </a:pPr>
            <a:r>
              <a:t/>
            </a:r>
            <a:endParaRPr/>
          </a:p>
        </p:txBody>
      </p:sp>
    </p:spTree>
  </p:cSld>
  <p:clrMapOvr>
    <a:masterClrMapping/>
  </p:clrMapOvr>
</p:sld>
</file>

<file path=ppt/slides/slide3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13" name="Shape 8713"/>
        <p:cNvGrpSpPr/>
        <p:nvPr/>
      </p:nvGrpSpPr>
      <p:grpSpPr>
        <a:xfrm>
          <a:off x="0" y="0"/>
          <a:ext cx="0" cy="0"/>
          <a:chOff x="0" y="0"/>
          <a:chExt cx="0" cy="0"/>
        </a:xfrm>
      </p:grpSpPr>
      <p:sp>
        <p:nvSpPr>
          <p:cNvPr id="8714" name="Google Shape;8714;p39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Roles and positions in networks (Graph Theory)</a:t>
            </a:r>
            <a:endParaRPr/>
          </a:p>
        </p:txBody>
      </p:sp>
      <p:sp>
        <p:nvSpPr>
          <p:cNvPr id="8715" name="Google Shape;8715;p394"/>
          <p:cNvSpPr txBox="1"/>
          <p:nvPr>
            <p:ph idx="1" type="body"/>
          </p:nvPr>
        </p:nvSpPr>
        <p:spPr>
          <a:xfrm>
            <a:off x="311700" y="1225220"/>
            <a:ext cx="8520600" cy="171531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Once vertices are partitioned</a:t>
            </a:r>
            <a:r>
              <a:rPr lang="en"/>
              <a:t> into positions or blocks (disjoint subsets of nodes)  we may be interested in the </a:t>
            </a:r>
            <a:r>
              <a:rPr b="1" lang="en"/>
              <a:t>connections among the blocks</a:t>
            </a:r>
            <a:endParaRPr b="1"/>
          </a:p>
          <a:p>
            <a:pPr indent="-317500" lvl="1" marL="914400" rtl="0" algn="l">
              <a:spcBef>
                <a:spcPts val="0"/>
              </a:spcBef>
              <a:spcAft>
                <a:spcPts val="0"/>
              </a:spcAft>
              <a:buClr>
                <a:srgbClr val="FF0000"/>
              </a:buClr>
              <a:buSzPts val="1400"/>
              <a:buChar char="○"/>
            </a:pPr>
            <a:r>
              <a:rPr i="1" lang="en">
                <a:solidFill>
                  <a:srgbClr val="FF0000"/>
                </a:solidFill>
              </a:rPr>
              <a:t>Two blocks are connected via  the adjacency relations of their re</a:t>
            </a:r>
            <a:r>
              <a:rPr i="1" lang="en">
                <a:solidFill>
                  <a:srgbClr val="FF0000"/>
                </a:solidFill>
              </a:rPr>
              <a:t>sp</a:t>
            </a:r>
            <a:r>
              <a:rPr i="1" lang="en">
                <a:solidFill>
                  <a:srgbClr val="FF0000"/>
                </a:solidFill>
              </a:rPr>
              <a:t>ective vertices in the original networ</a:t>
            </a:r>
            <a:r>
              <a:rPr i="1" lang="en">
                <a:solidFill>
                  <a:srgbClr val="FF0000"/>
                </a:solidFill>
              </a:rPr>
              <a:t>k</a:t>
            </a:r>
            <a:endParaRPr i="1">
              <a:solidFill>
                <a:srgbClr val="FF0000"/>
              </a:solidFill>
            </a:endParaRPr>
          </a:p>
          <a:p>
            <a:pPr indent="-317500" lvl="1" marL="914400" rtl="0" algn="l">
              <a:spcBef>
                <a:spcPts val="0"/>
              </a:spcBef>
              <a:spcAft>
                <a:spcPts val="0"/>
              </a:spcAft>
              <a:buSzPts val="1400"/>
              <a:buChar char="○"/>
            </a:pPr>
            <a:r>
              <a:rPr lang="en"/>
              <a:t>A reduced representation showing the roles and their relations is called a </a:t>
            </a:r>
            <a:r>
              <a:rPr b="1" lang="en"/>
              <a:t>role graph</a:t>
            </a:r>
            <a:r>
              <a:rPr lang="en"/>
              <a:t> or</a:t>
            </a:r>
            <a:r>
              <a:rPr b="1" lang="en"/>
              <a:t> image graph </a:t>
            </a:r>
            <a:r>
              <a:rPr lang="en"/>
              <a:t>and its corresponding matrix an </a:t>
            </a:r>
            <a:r>
              <a:rPr b="1" lang="en"/>
              <a:t>image matrix </a:t>
            </a:r>
            <a:endParaRPr b="1"/>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8716" name="Google Shape;8716;p394"/>
          <p:cNvGrpSpPr/>
          <p:nvPr/>
        </p:nvGrpSpPr>
        <p:grpSpPr>
          <a:xfrm>
            <a:off x="831375" y="2879280"/>
            <a:ext cx="7555950" cy="1918868"/>
            <a:chOff x="831375" y="3199200"/>
            <a:chExt cx="7555950" cy="2132075"/>
          </a:xfrm>
        </p:grpSpPr>
        <p:grpSp>
          <p:nvGrpSpPr>
            <p:cNvPr id="8717" name="Google Shape;8717;p394"/>
            <p:cNvGrpSpPr/>
            <p:nvPr/>
          </p:nvGrpSpPr>
          <p:grpSpPr>
            <a:xfrm>
              <a:off x="831375" y="3199200"/>
              <a:ext cx="7555950" cy="1938650"/>
              <a:chOff x="868500" y="3078125"/>
              <a:chExt cx="7555950" cy="1938650"/>
            </a:xfrm>
          </p:grpSpPr>
          <p:sp>
            <p:nvSpPr>
              <p:cNvPr id="8718" name="Google Shape;8718;p394"/>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719" name="Google Shape;8719;p394"/>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720" name="Google Shape;8720;p394"/>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721" name="Google Shape;8721;p394"/>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722" name="Google Shape;8722;p394"/>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723" name="Google Shape;8723;p394"/>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724" name="Google Shape;8724;p394"/>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725" name="Google Shape;8725;p394"/>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726" name="Google Shape;8726;p394"/>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727" name="Google Shape;8727;p394"/>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728" name="Google Shape;8728;p394"/>
              <p:cNvCxnSpPr>
                <a:stCxn id="8718" idx="6"/>
                <a:endCxn id="8720"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729" name="Google Shape;8729;p394"/>
              <p:cNvCxnSpPr>
                <a:stCxn id="8718" idx="5"/>
                <a:endCxn id="8721"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730" name="Google Shape;8730;p394"/>
              <p:cNvCxnSpPr>
                <a:stCxn id="8719" idx="7"/>
                <a:endCxn id="8720"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731" name="Google Shape;8731;p394"/>
              <p:cNvCxnSpPr>
                <a:stCxn id="8718" idx="4"/>
                <a:endCxn id="8719"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732" name="Google Shape;8732;p394"/>
              <p:cNvCxnSpPr>
                <a:stCxn id="8719" idx="6"/>
                <a:endCxn id="8721"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733" name="Google Shape;8733;p394"/>
              <p:cNvCxnSpPr>
                <a:stCxn id="8720" idx="6"/>
                <a:endCxn id="8722"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734" name="Google Shape;8734;p394"/>
              <p:cNvCxnSpPr>
                <a:stCxn id="8722" idx="3"/>
                <a:endCxn id="8721"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735" name="Google Shape;8735;p394"/>
              <p:cNvCxnSpPr>
                <a:stCxn id="8723" idx="2"/>
                <a:endCxn id="8722"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736" name="Google Shape;8736;p394"/>
              <p:cNvCxnSpPr>
                <a:stCxn id="8724" idx="2"/>
                <a:endCxn id="8723"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737" name="Google Shape;8737;p394"/>
              <p:cNvCxnSpPr>
                <a:stCxn id="8725" idx="2"/>
                <a:endCxn id="8723"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738" name="Google Shape;8738;p394"/>
              <p:cNvCxnSpPr>
                <a:stCxn id="8724" idx="5"/>
                <a:endCxn id="8727"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739" name="Google Shape;8739;p394"/>
              <p:cNvCxnSpPr>
                <a:stCxn id="8726" idx="3"/>
                <a:endCxn id="8725"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740" name="Google Shape;8740;p394"/>
              <p:cNvCxnSpPr>
                <a:stCxn id="8726" idx="2"/>
                <a:endCxn id="8724"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741" name="Google Shape;8741;p394"/>
              <p:cNvCxnSpPr>
                <a:stCxn id="8726" idx="4"/>
                <a:endCxn id="8727"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742" name="Google Shape;8742;p394"/>
              <p:cNvCxnSpPr>
                <a:stCxn id="8727" idx="2"/>
                <a:endCxn id="8725"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8743" name="Google Shape;8743;p394"/>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7" name="Shape 8747"/>
        <p:cNvGrpSpPr/>
        <p:nvPr/>
      </p:nvGrpSpPr>
      <p:grpSpPr>
        <a:xfrm>
          <a:off x="0" y="0"/>
          <a:ext cx="0" cy="0"/>
          <a:chOff x="0" y="0"/>
          <a:chExt cx="0" cy="0"/>
        </a:xfrm>
      </p:grpSpPr>
      <p:sp>
        <p:nvSpPr>
          <p:cNvPr id="8748" name="Google Shape;8748;p395"/>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a:t>
            </a:r>
            <a:endParaRPr/>
          </a:p>
        </p:txBody>
      </p:sp>
      <p:sp>
        <p:nvSpPr>
          <p:cNvPr id="8749" name="Google Shape;8749;p395"/>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a blockmodel?</a:t>
            </a:r>
            <a:endParaRPr/>
          </a:p>
          <a:p>
            <a:pPr indent="-317500" lvl="1" marL="914400" rtl="0" algn="l">
              <a:spcBef>
                <a:spcPts val="0"/>
              </a:spcBef>
              <a:spcAft>
                <a:spcPts val="0"/>
              </a:spcAft>
              <a:buSzPts val="1400"/>
              <a:buChar char="○"/>
            </a:pPr>
            <a:r>
              <a:rPr lang="en"/>
              <a:t>A procedure to reorder the rows of matrix (representing nodes and their relations) such that:</a:t>
            </a:r>
            <a:endParaRPr/>
          </a:p>
          <a:p>
            <a:pPr indent="-317500" lvl="2" marL="1371600" rtl="0" algn="l">
              <a:spcBef>
                <a:spcPts val="0"/>
              </a:spcBef>
              <a:spcAft>
                <a:spcPts val="0"/>
              </a:spcAft>
              <a:buSzPts val="1400"/>
              <a:buChar char="■"/>
            </a:pPr>
            <a:r>
              <a:rPr lang="en"/>
              <a:t>Rows that are close together are closer to being (structural or regularly) equivalent than rows that are far apart</a:t>
            </a:r>
            <a:endParaRPr/>
          </a:p>
          <a:p>
            <a:pPr indent="-317500" lvl="3" marL="1828800" rtl="0" algn="l">
              <a:spcBef>
                <a:spcPts val="0"/>
              </a:spcBef>
              <a:spcAft>
                <a:spcPts val="0"/>
              </a:spcAft>
              <a:buSzPts val="1400"/>
              <a:buChar char="●"/>
            </a:pPr>
            <a:r>
              <a:rPr lang="en"/>
              <a:t>The matrix can then be divided into </a:t>
            </a:r>
            <a:r>
              <a:rPr b="1" lang="en"/>
              <a:t>blocks</a:t>
            </a:r>
            <a:r>
              <a:rPr lang="en"/>
              <a:t> </a:t>
            </a:r>
            <a:endParaRPr/>
          </a:p>
          <a:p>
            <a:pPr indent="-317500" lvl="2" marL="1371600" rtl="0" algn="l">
              <a:spcBef>
                <a:spcPts val="0"/>
              </a:spcBef>
              <a:spcAft>
                <a:spcPts val="0"/>
              </a:spcAft>
              <a:buSzPts val="1400"/>
              <a:buChar char="■"/>
            </a:pPr>
            <a:r>
              <a:rPr lang="en"/>
              <a:t>Blocks contain disjoint set of actors and thus define “positions” in the network</a:t>
            </a:r>
            <a:endParaRPr/>
          </a:p>
          <a:p>
            <a:pPr indent="-317500" lvl="1" marL="914400" rtl="0" algn="l">
              <a:spcBef>
                <a:spcPts val="0"/>
              </a:spcBef>
              <a:spcAft>
                <a:spcPts val="0"/>
              </a:spcAft>
              <a:buSzPts val="1400"/>
              <a:buChar char="○"/>
            </a:pPr>
            <a:r>
              <a:rPr lang="en"/>
              <a:t>Actors in block may or may not connections among themselves</a:t>
            </a:r>
            <a:endParaRPr/>
          </a:p>
          <a:p>
            <a:pPr indent="-317500" lvl="2" marL="1371600" rtl="0" algn="l">
              <a:spcBef>
                <a:spcPts val="0"/>
              </a:spcBef>
              <a:spcAft>
                <a:spcPts val="0"/>
              </a:spcAft>
              <a:buSzPts val="1400"/>
              <a:buChar char="■"/>
            </a:pPr>
            <a:r>
              <a:rPr b="1" lang="en"/>
              <a:t>Diagonal blocks</a:t>
            </a:r>
            <a:endParaRPr b="1"/>
          </a:p>
          <a:p>
            <a:pPr indent="-317500" lvl="1" marL="914400" rtl="0" algn="l">
              <a:spcBef>
                <a:spcPts val="0"/>
              </a:spcBef>
              <a:spcAft>
                <a:spcPts val="0"/>
              </a:spcAft>
              <a:buSzPts val="1400"/>
              <a:buChar char="○"/>
            </a:pPr>
            <a:r>
              <a:rPr lang="en"/>
              <a:t>Actors in a block may have connections with actors in other blocks</a:t>
            </a:r>
            <a:endParaRPr/>
          </a:p>
          <a:p>
            <a:pPr indent="-317500" lvl="2" marL="1371600" rtl="0" algn="l">
              <a:spcBef>
                <a:spcPts val="0"/>
              </a:spcBef>
              <a:spcAft>
                <a:spcPts val="0"/>
              </a:spcAft>
              <a:buSzPts val="1400"/>
              <a:buChar char="■"/>
            </a:pPr>
            <a:r>
              <a:rPr b="1" lang="en"/>
              <a:t>Off-diagonal blocks</a:t>
            </a:r>
            <a:endParaRPr b="1"/>
          </a:p>
          <a:p>
            <a:pPr indent="-342900" lvl="0" marL="457200" rtl="0" algn="l">
              <a:spcBef>
                <a:spcPts val="0"/>
              </a:spcBef>
              <a:spcAft>
                <a:spcPts val="0"/>
              </a:spcAft>
              <a:buSzPts val="1800"/>
              <a:buChar char="●"/>
            </a:pPr>
            <a:r>
              <a:rPr i="1" lang="en"/>
              <a:t>We can think of blockmodeling as an attempt to reduce a matrix of N x N actors and their relations to a reduced matrix of B x B blocks and their relations</a:t>
            </a:r>
            <a:endParaRPr i="1"/>
          </a:p>
        </p:txBody>
      </p:sp>
    </p:spTree>
  </p:cSld>
  <p:clrMapOvr>
    <a:masterClrMapping/>
  </p:clrMapOvr>
</p:sld>
</file>

<file path=ppt/slides/slide3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3" name="Shape 8753"/>
        <p:cNvGrpSpPr/>
        <p:nvPr/>
      </p:nvGrpSpPr>
      <p:grpSpPr>
        <a:xfrm>
          <a:off x="0" y="0"/>
          <a:ext cx="0" cy="0"/>
          <a:chOff x="0" y="0"/>
          <a:chExt cx="0" cy="0"/>
        </a:xfrm>
      </p:grpSpPr>
      <p:sp>
        <p:nvSpPr>
          <p:cNvPr id="8754" name="Google Shape;8754;p396"/>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sp>
        <p:nvSpPr>
          <p:cNvPr id="8755" name="Google Shape;8755;p396"/>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Original </a:t>
            </a:r>
            <a:r>
              <a:rPr b="1" lang="en" sz="1800">
                <a:latin typeface="Economica"/>
                <a:ea typeface="Economica"/>
                <a:cs typeface="Economica"/>
                <a:sym typeface="Economica"/>
              </a:rPr>
              <a:t>Adjacency</a:t>
            </a:r>
            <a:r>
              <a:rPr b="1" lang="en" sz="1800">
                <a:latin typeface="Economica"/>
                <a:ea typeface="Economica"/>
                <a:cs typeface="Economica"/>
                <a:sym typeface="Economica"/>
              </a:rPr>
              <a:t> Matrix</a:t>
            </a:r>
            <a:endParaRPr b="1" sz="1800">
              <a:latin typeface="Economica"/>
              <a:ea typeface="Economica"/>
              <a:cs typeface="Economica"/>
              <a:sym typeface="Economica"/>
            </a:endParaRPr>
          </a:p>
        </p:txBody>
      </p:sp>
      <p:graphicFrame>
        <p:nvGraphicFramePr>
          <p:cNvPr id="8756" name="Google Shape;8756;p396"/>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grpSp>
        <p:nvGrpSpPr>
          <p:cNvPr id="8757" name="Google Shape;8757;p396"/>
          <p:cNvGrpSpPr/>
          <p:nvPr/>
        </p:nvGrpSpPr>
        <p:grpSpPr>
          <a:xfrm>
            <a:off x="3902833" y="2609971"/>
            <a:ext cx="4966526" cy="1207217"/>
            <a:chOff x="868500" y="3078125"/>
            <a:chExt cx="7555950" cy="1938650"/>
          </a:xfrm>
        </p:grpSpPr>
        <p:sp>
          <p:nvSpPr>
            <p:cNvPr id="8758" name="Google Shape;8758;p396"/>
            <p:cNvSpPr/>
            <p:nvPr/>
          </p:nvSpPr>
          <p:spPr>
            <a:xfrm>
              <a:off x="8685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759" name="Google Shape;8759;p396"/>
            <p:cNvSpPr/>
            <p:nvPr/>
          </p:nvSpPr>
          <p:spPr>
            <a:xfrm>
              <a:off x="86870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760" name="Google Shape;8760;p396"/>
            <p:cNvSpPr/>
            <p:nvPr/>
          </p:nvSpPr>
          <p:spPr>
            <a:xfrm>
              <a:off x="26144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761" name="Google Shape;8761;p396"/>
            <p:cNvSpPr/>
            <p:nvPr/>
          </p:nvSpPr>
          <p:spPr>
            <a:xfrm>
              <a:off x="261445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762" name="Google Shape;8762;p396"/>
            <p:cNvSpPr/>
            <p:nvPr/>
          </p:nvSpPr>
          <p:spPr>
            <a:xfrm>
              <a:off x="3679950" y="37245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763" name="Google Shape;8763;p396"/>
            <p:cNvSpPr/>
            <p:nvPr/>
          </p:nvSpPr>
          <p:spPr>
            <a:xfrm>
              <a:off x="5000350" y="37246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764" name="Google Shape;8764;p396"/>
            <p:cNvSpPr/>
            <p:nvPr/>
          </p:nvSpPr>
          <p:spPr>
            <a:xfrm>
              <a:off x="60770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765" name="Google Shape;8765;p396"/>
            <p:cNvSpPr/>
            <p:nvPr/>
          </p:nvSpPr>
          <p:spPr>
            <a:xfrm>
              <a:off x="607700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766" name="Google Shape;8766;p396"/>
            <p:cNvSpPr/>
            <p:nvPr/>
          </p:nvSpPr>
          <p:spPr>
            <a:xfrm>
              <a:off x="78229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767" name="Google Shape;8767;p396"/>
            <p:cNvSpPr/>
            <p:nvPr/>
          </p:nvSpPr>
          <p:spPr>
            <a:xfrm>
              <a:off x="782285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768" name="Google Shape;8768;p396"/>
            <p:cNvCxnSpPr>
              <a:stCxn id="8758" idx="6"/>
              <a:endCxn id="8760"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769" name="Google Shape;8769;p396"/>
            <p:cNvCxnSpPr>
              <a:stCxn id="8758" idx="5"/>
              <a:endCxn id="8761"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770" name="Google Shape;8770;p396"/>
            <p:cNvCxnSpPr>
              <a:stCxn id="8759" idx="7"/>
              <a:endCxn id="8760"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771" name="Google Shape;8771;p396"/>
            <p:cNvCxnSpPr>
              <a:stCxn id="8758" idx="4"/>
              <a:endCxn id="8759"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772" name="Google Shape;8772;p396"/>
            <p:cNvCxnSpPr>
              <a:stCxn id="8759" idx="6"/>
              <a:endCxn id="8761"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773" name="Google Shape;8773;p396"/>
            <p:cNvCxnSpPr>
              <a:stCxn id="8760" idx="6"/>
              <a:endCxn id="8762"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774" name="Google Shape;8774;p396"/>
            <p:cNvCxnSpPr>
              <a:stCxn id="8762" idx="3"/>
              <a:endCxn id="8761"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775" name="Google Shape;8775;p396"/>
            <p:cNvCxnSpPr>
              <a:stCxn id="8763" idx="2"/>
              <a:endCxn id="8762"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776" name="Google Shape;8776;p396"/>
            <p:cNvCxnSpPr>
              <a:stCxn id="8764" idx="2"/>
              <a:endCxn id="8763"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777" name="Google Shape;8777;p396"/>
            <p:cNvCxnSpPr>
              <a:stCxn id="8765" idx="2"/>
              <a:endCxn id="8763"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778" name="Google Shape;8778;p396"/>
            <p:cNvCxnSpPr>
              <a:stCxn id="8764" idx="5"/>
              <a:endCxn id="8767"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779" name="Google Shape;8779;p396"/>
            <p:cNvCxnSpPr>
              <a:stCxn id="8766" idx="3"/>
              <a:endCxn id="8765"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780" name="Google Shape;8780;p396"/>
            <p:cNvCxnSpPr>
              <a:stCxn id="8766" idx="2"/>
              <a:endCxn id="8764"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781" name="Google Shape;8781;p396"/>
            <p:cNvCxnSpPr>
              <a:stCxn id="8766" idx="4"/>
              <a:endCxn id="8767"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782" name="Google Shape;8782;p396"/>
            <p:cNvCxnSpPr>
              <a:stCxn id="8767" idx="2"/>
              <a:endCxn id="8765"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Tree>
  </p:cSld>
  <p:clrMapOvr>
    <a:masterClrMapping/>
  </p:clrMapOvr>
</p:sld>
</file>

<file path=ppt/slides/slide3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6" name="Shape 8786"/>
        <p:cNvGrpSpPr/>
        <p:nvPr/>
      </p:nvGrpSpPr>
      <p:grpSpPr>
        <a:xfrm>
          <a:off x="0" y="0"/>
          <a:ext cx="0" cy="0"/>
          <a:chOff x="0" y="0"/>
          <a:chExt cx="0" cy="0"/>
        </a:xfrm>
      </p:grpSpPr>
      <p:sp>
        <p:nvSpPr>
          <p:cNvPr id="8787" name="Google Shape;8787;p397"/>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sp>
        <p:nvSpPr>
          <p:cNvPr id="8788" name="Google Shape;8788;p397"/>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8789" name="Google Shape;8789;p397"/>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grpSp>
        <p:nvGrpSpPr>
          <p:cNvPr id="8790" name="Google Shape;8790;p397"/>
          <p:cNvGrpSpPr/>
          <p:nvPr/>
        </p:nvGrpSpPr>
        <p:grpSpPr>
          <a:xfrm>
            <a:off x="3922267" y="2622005"/>
            <a:ext cx="4952925" cy="1183139"/>
            <a:chOff x="868500" y="3078125"/>
            <a:chExt cx="7555950" cy="1938650"/>
          </a:xfrm>
        </p:grpSpPr>
        <p:sp>
          <p:nvSpPr>
            <p:cNvPr id="8791" name="Google Shape;8791;p397"/>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792" name="Google Shape;8792;p397"/>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793" name="Google Shape;8793;p397"/>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794" name="Google Shape;8794;p397"/>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795" name="Google Shape;8795;p397"/>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796" name="Google Shape;8796;p397"/>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797" name="Google Shape;8797;p397"/>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798" name="Google Shape;8798;p397"/>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799" name="Google Shape;8799;p397"/>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800" name="Google Shape;8800;p397"/>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801" name="Google Shape;8801;p397"/>
            <p:cNvCxnSpPr>
              <a:stCxn id="8791" idx="6"/>
              <a:endCxn id="8793"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802" name="Google Shape;8802;p397"/>
            <p:cNvCxnSpPr>
              <a:stCxn id="8791" idx="5"/>
              <a:endCxn id="8794"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803" name="Google Shape;8803;p397"/>
            <p:cNvCxnSpPr>
              <a:stCxn id="8792" idx="7"/>
              <a:endCxn id="8793"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804" name="Google Shape;8804;p397"/>
            <p:cNvCxnSpPr>
              <a:stCxn id="8791" idx="4"/>
              <a:endCxn id="8792"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805" name="Google Shape;8805;p397"/>
            <p:cNvCxnSpPr>
              <a:stCxn id="8792" idx="6"/>
              <a:endCxn id="8794"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806" name="Google Shape;8806;p397"/>
            <p:cNvCxnSpPr>
              <a:stCxn id="8793" idx="6"/>
              <a:endCxn id="8795"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807" name="Google Shape;8807;p397"/>
            <p:cNvCxnSpPr>
              <a:stCxn id="8795" idx="3"/>
              <a:endCxn id="8794"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808" name="Google Shape;8808;p397"/>
            <p:cNvCxnSpPr>
              <a:stCxn id="8796" idx="2"/>
              <a:endCxn id="8795"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809" name="Google Shape;8809;p397"/>
            <p:cNvCxnSpPr>
              <a:stCxn id="8797" idx="2"/>
              <a:endCxn id="8796"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810" name="Google Shape;8810;p397"/>
            <p:cNvCxnSpPr>
              <a:stCxn id="8798" idx="2"/>
              <a:endCxn id="8796"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811" name="Google Shape;8811;p397"/>
            <p:cNvCxnSpPr>
              <a:stCxn id="8797" idx="5"/>
              <a:endCxn id="8800"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812" name="Google Shape;8812;p397"/>
            <p:cNvCxnSpPr>
              <a:stCxn id="8799" idx="3"/>
              <a:endCxn id="8798"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813" name="Google Shape;8813;p397"/>
            <p:cNvCxnSpPr>
              <a:stCxn id="8799" idx="2"/>
              <a:endCxn id="8797"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814" name="Google Shape;8814;p397"/>
            <p:cNvCxnSpPr>
              <a:stCxn id="8799" idx="4"/>
              <a:endCxn id="8800"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815" name="Google Shape;8815;p397"/>
            <p:cNvCxnSpPr>
              <a:stCxn id="8800" idx="2"/>
              <a:endCxn id="8798"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Tree>
  </p:cSld>
  <p:clrMapOvr>
    <a:masterClrMapping/>
  </p:clrMapOvr>
</p:sld>
</file>

<file path=ppt/slides/slide3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9" name="Shape 8819"/>
        <p:cNvGrpSpPr/>
        <p:nvPr/>
      </p:nvGrpSpPr>
      <p:grpSpPr>
        <a:xfrm>
          <a:off x="0" y="0"/>
          <a:ext cx="0" cy="0"/>
          <a:chOff x="0" y="0"/>
          <a:chExt cx="0" cy="0"/>
        </a:xfrm>
      </p:grpSpPr>
      <p:sp>
        <p:nvSpPr>
          <p:cNvPr id="8820" name="Google Shape;8820;p398"/>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sp>
        <p:nvSpPr>
          <p:cNvPr id="8821" name="Google Shape;8821;p398"/>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8822" name="Google Shape;8822;p398"/>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F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a:t>
                      </a:r>
                      <a:endParaRPr sz="1100">
                        <a:solidFill>
                          <a:srgbClr val="FF00FF"/>
                        </a:solidFill>
                      </a:endParaRPr>
                    </a:p>
                  </a:txBody>
                  <a:tcPr marT="0" marB="0" marR="0" marL="0" anchor="ctr">
                    <a:lnL cap="flat" cmpd="sng" w="28575">
                      <a:solidFill>
                        <a:srgbClr val="FF00FF"/>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FF00FF"/>
                      </a:solidFill>
                      <a:prstDash val="solid"/>
                      <a:round/>
                      <a:headEnd len="sm" w="sm" type="none"/>
                      <a:tailEnd len="sm" w="sm" type="none"/>
                    </a:lnT>
                    <a:lnB cap="flat" cmpd="sng" w="28575">
                      <a:solidFill>
                        <a:srgbClr val="FF00F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28575">
                      <a:solidFill>
                        <a:srgbClr val="FF00F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3C78D8"/>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FF00F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a:t>
                      </a:r>
                      <a:endParaRPr sz="1100">
                        <a:solidFill>
                          <a:srgbClr val="1155CC"/>
                        </a:solidFill>
                      </a:endParaRPr>
                    </a:p>
                  </a:txBody>
                  <a:tcPr marT="0" marB="0" marR="0" marL="0" anchor="ctr">
                    <a:lnL cap="flat" cmpd="sng" w="2857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tcPr>
                </a:tc>
              </a:tr>
            </a:tbl>
          </a:graphicData>
        </a:graphic>
      </p:graphicFrame>
      <p:grpSp>
        <p:nvGrpSpPr>
          <p:cNvPr id="8823" name="Google Shape;8823;p398"/>
          <p:cNvGrpSpPr/>
          <p:nvPr/>
        </p:nvGrpSpPr>
        <p:grpSpPr>
          <a:xfrm>
            <a:off x="3922267" y="2622005"/>
            <a:ext cx="4952925" cy="1183139"/>
            <a:chOff x="868500" y="3078125"/>
            <a:chExt cx="7555950" cy="1938650"/>
          </a:xfrm>
        </p:grpSpPr>
        <p:sp>
          <p:nvSpPr>
            <p:cNvPr id="8824" name="Google Shape;8824;p398"/>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825" name="Google Shape;8825;p398"/>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826" name="Google Shape;8826;p398"/>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827" name="Google Shape;8827;p398"/>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828" name="Google Shape;8828;p398"/>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829" name="Google Shape;8829;p398"/>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830" name="Google Shape;8830;p398"/>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831" name="Google Shape;8831;p398"/>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832" name="Google Shape;8832;p398"/>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833" name="Google Shape;8833;p398"/>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834" name="Google Shape;8834;p398"/>
            <p:cNvCxnSpPr>
              <a:stCxn id="8824" idx="6"/>
              <a:endCxn id="8826"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835" name="Google Shape;8835;p398"/>
            <p:cNvCxnSpPr>
              <a:stCxn id="8824" idx="5"/>
              <a:endCxn id="8827"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836" name="Google Shape;8836;p398"/>
            <p:cNvCxnSpPr>
              <a:stCxn id="8825" idx="7"/>
              <a:endCxn id="8826"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837" name="Google Shape;8837;p398"/>
            <p:cNvCxnSpPr>
              <a:stCxn id="8824" idx="4"/>
              <a:endCxn id="8825"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838" name="Google Shape;8838;p398"/>
            <p:cNvCxnSpPr>
              <a:stCxn id="8825" idx="6"/>
              <a:endCxn id="8827"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839" name="Google Shape;8839;p398"/>
            <p:cNvCxnSpPr>
              <a:stCxn id="8826" idx="6"/>
              <a:endCxn id="8828"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840" name="Google Shape;8840;p398"/>
            <p:cNvCxnSpPr>
              <a:stCxn id="8828" idx="3"/>
              <a:endCxn id="8827"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841" name="Google Shape;8841;p398"/>
            <p:cNvCxnSpPr>
              <a:stCxn id="8829" idx="2"/>
              <a:endCxn id="8828"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842" name="Google Shape;8842;p398"/>
            <p:cNvCxnSpPr>
              <a:stCxn id="8830" idx="2"/>
              <a:endCxn id="8829"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843" name="Google Shape;8843;p398"/>
            <p:cNvCxnSpPr>
              <a:stCxn id="8831" idx="2"/>
              <a:endCxn id="8829"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844" name="Google Shape;8844;p398"/>
            <p:cNvCxnSpPr>
              <a:stCxn id="8830" idx="5"/>
              <a:endCxn id="8833"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845" name="Google Shape;8845;p398"/>
            <p:cNvCxnSpPr>
              <a:stCxn id="8832" idx="3"/>
              <a:endCxn id="8831"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846" name="Google Shape;8846;p398"/>
            <p:cNvCxnSpPr>
              <a:stCxn id="8832" idx="2"/>
              <a:endCxn id="8830"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847" name="Google Shape;8847;p398"/>
            <p:cNvCxnSpPr>
              <a:stCxn id="8832" idx="4"/>
              <a:endCxn id="8833"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848" name="Google Shape;8848;p398"/>
            <p:cNvCxnSpPr>
              <a:stCxn id="8833" idx="2"/>
              <a:endCxn id="8831"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Tree>
  </p:cSld>
  <p:clrMapOvr>
    <a:masterClrMapping/>
  </p:clrMapOvr>
</p:sld>
</file>

<file path=ppt/slides/slide3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2" name="Shape 8852"/>
        <p:cNvGrpSpPr/>
        <p:nvPr/>
      </p:nvGrpSpPr>
      <p:grpSpPr>
        <a:xfrm>
          <a:off x="0" y="0"/>
          <a:ext cx="0" cy="0"/>
          <a:chOff x="0" y="0"/>
          <a:chExt cx="0" cy="0"/>
        </a:xfrm>
      </p:grpSpPr>
      <p:sp>
        <p:nvSpPr>
          <p:cNvPr id="8853" name="Google Shape;8853;p399"/>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sp>
        <p:nvSpPr>
          <p:cNvPr id="8854" name="Google Shape;8854;p399"/>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Original Adjacency Matrix</a:t>
            </a:r>
            <a:endParaRPr b="1" sz="1800">
              <a:latin typeface="Economica"/>
              <a:ea typeface="Economica"/>
              <a:cs typeface="Economica"/>
              <a:sym typeface="Economica"/>
            </a:endParaRPr>
          </a:p>
        </p:txBody>
      </p:sp>
      <p:graphicFrame>
        <p:nvGraphicFramePr>
          <p:cNvPr id="8855" name="Google Shape;8855;p399"/>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8856" name="Google Shape;8856;p399"/>
          <p:cNvSpPr/>
          <p:nvPr/>
        </p:nvSpPr>
        <p:spPr>
          <a:xfrm>
            <a:off x="3933600" y="2861764"/>
            <a:ext cx="1402500" cy="70362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7" name="Google Shape;8857;p399"/>
          <p:cNvSpPr txBox="1"/>
          <p:nvPr/>
        </p:nvSpPr>
        <p:spPr>
          <a:xfrm>
            <a:off x="55369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8858" name="Google Shape;8858;p399"/>
          <p:cNvGraphicFramePr/>
          <p:nvPr/>
        </p:nvGraphicFramePr>
        <p:xfrm>
          <a:off x="55684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8859" name="Google Shape;8859;p399"/>
          <p:cNvSpPr txBox="1"/>
          <p:nvPr/>
        </p:nvSpPr>
        <p:spPr>
          <a:xfrm>
            <a:off x="3705000" y="3498908"/>
            <a:ext cx="1863300" cy="129033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sz="1200">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sz="1200">
              <a:solidFill>
                <a:srgbClr val="FF0000"/>
              </a:solidFill>
              <a:latin typeface="Open Sans"/>
              <a:ea typeface="Open Sans"/>
              <a:cs typeface="Open Sans"/>
              <a:sym typeface="Open Sans"/>
            </a:endParaRPr>
          </a:p>
          <a:p>
            <a:pPr indent="0" lvl="0" marL="0" rtl="0" algn="l">
              <a:spcBef>
                <a:spcPts val="0"/>
              </a:spcBef>
              <a:spcAft>
                <a:spcPts val="0"/>
              </a:spcAft>
              <a:buNone/>
            </a:pPr>
            <a:r>
              <a:rPr b="1" lang="en" sz="1200">
                <a:solidFill>
                  <a:srgbClr val="FF0000"/>
                </a:solidFill>
                <a:latin typeface="Open Sans"/>
                <a:ea typeface="Open Sans"/>
                <a:cs typeface="Open Sans"/>
                <a:sym typeface="Open Sans"/>
              </a:rPr>
              <a:t>Re-arranging the rows and columns of a matrix is called a </a:t>
            </a:r>
            <a:r>
              <a:rPr b="1" lang="en" sz="1200">
                <a:solidFill>
                  <a:srgbClr val="0000FF"/>
                </a:solidFill>
                <a:latin typeface="Open Sans"/>
                <a:ea typeface="Open Sans"/>
                <a:cs typeface="Open Sans"/>
                <a:sym typeface="Open Sans"/>
              </a:rPr>
              <a:t>permutation</a:t>
            </a:r>
            <a:endParaRPr b="1" sz="1200">
              <a:solidFill>
                <a:srgbClr val="0000FF"/>
              </a:solidFill>
              <a:latin typeface="Open Sans"/>
              <a:ea typeface="Open Sans"/>
              <a:cs typeface="Open Sans"/>
              <a:sym typeface="Open Sans"/>
            </a:endParaRPr>
          </a:p>
        </p:txBody>
      </p:sp>
      <p:sp>
        <p:nvSpPr>
          <p:cNvPr id="8860" name="Google Shape;8860;p399"/>
          <p:cNvSpPr txBox="1"/>
          <p:nvPr/>
        </p:nvSpPr>
        <p:spPr>
          <a:xfrm>
            <a:off x="3705000" y="1637865"/>
            <a:ext cx="1863300" cy="129033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F0000"/>
                </a:solidFill>
                <a:latin typeface="Open Sans"/>
                <a:ea typeface="Open Sans"/>
                <a:cs typeface="Open Sans"/>
                <a:sym typeface="Open Sans"/>
              </a:rPr>
              <a:t>Re-arranging the rows and columns of the adjacency </a:t>
            </a:r>
            <a:r>
              <a:rPr b="1" lang="en" sz="1200">
                <a:solidFill>
                  <a:srgbClr val="FF0000"/>
                </a:solidFill>
                <a:latin typeface="Open Sans"/>
                <a:ea typeface="Open Sans"/>
                <a:cs typeface="Open Sans"/>
                <a:sym typeface="Open Sans"/>
              </a:rPr>
              <a:t>matrix</a:t>
            </a:r>
            <a:r>
              <a:rPr b="1" lang="en" sz="1200">
                <a:solidFill>
                  <a:srgbClr val="FF0000"/>
                </a:solidFill>
                <a:latin typeface="Open Sans"/>
                <a:ea typeface="Open Sans"/>
                <a:cs typeface="Open Sans"/>
                <a:sym typeface="Open Sans"/>
              </a:rPr>
              <a:t> does </a:t>
            </a:r>
            <a:r>
              <a:rPr b="1" lang="en" sz="1200">
                <a:solidFill>
                  <a:srgbClr val="0000FF"/>
                </a:solidFill>
                <a:latin typeface="Open Sans"/>
                <a:ea typeface="Open Sans"/>
                <a:cs typeface="Open Sans"/>
                <a:sym typeface="Open Sans"/>
              </a:rPr>
              <a:t>not </a:t>
            </a:r>
            <a:r>
              <a:rPr b="1" lang="en" sz="1200">
                <a:solidFill>
                  <a:srgbClr val="FF0000"/>
                </a:solidFill>
                <a:latin typeface="Open Sans"/>
                <a:ea typeface="Open Sans"/>
                <a:cs typeface="Open Sans"/>
                <a:sym typeface="Open Sans"/>
              </a:rPr>
              <a:t>change the original information!</a:t>
            </a:r>
            <a:endParaRPr b="1" sz="1200">
              <a:solidFill>
                <a:srgbClr val="0000FF"/>
              </a:solidFill>
              <a:latin typeface="Open Sans"/>
              <a:ea typeface="Open Sans"/>
              <a:cs typeface="Open Sans"/>
              <a:sym typeface="Open Sans"/>
            </a:endParaRPr>
          </a:p>
        </p:txBody>
      </p:sp>
    </p:spTree>
  </p:cSld>
  <p:clrMapOvr>
    <a:masterClrMapping/>
  </p:clrMapOvr>
</p:sld>
</file>

<file path=ppt/slides/slide3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4" name="Shape 8864"/>
        <p:cNvGrpSpPr/>
        <p:nvPr/>
      </p:nvGrpSpPr>
      <p:grpSpPr>
        <a:xfrm>
          <a:off x="0" y="0"/>
          <a:ext cx="0" cy="0"/>
          <a:chOff x="0" y="0"/>
          <a:chExt cx="0" cy="0"/>
        </a:xfrm>
      </p:grpSpPr>
      <p:sp>
        <p:nvSpPr>
          <p:cNvPr id="8865" name="Google Shape;8865;p400"/>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grpSp>
        <p:nvGrpSpPr>
          <p:cNvPr id="8866" name="Google Shape;8866;p400"/>
          <p:cNvGrpSpPr/>
          <p:nvPr/>
        </p:nvGrpSpPr>
        <p:grpSpPr>
          <a:xfrm>
            <a:off x="3922267" y="2622005"/>
            <a:ext cx="4952925" cy="1183139"/>
            <a:chOff x="868500" y="3078125"/>
            <a:chExt cx="7555950" cy="1938650"/>
          </a:xfrm>
        </p:grpSpPr>
        <p:sp>
          <p:nvSpPr>
            <p:cNvPr id="8867" name="Google Shape;8867;p400"/>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868" name="Google Shape;8868;p400"/>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869" name="Google Shape;8869;p400"/>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870" name="Google Shape;8870;p400"/>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871" name="Google Shape;8871;p400"/>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872" name="Google Shape;8872;p400"/>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873" name="Google Shape;8873;p400"/>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874" name="Google Shape;8874;p400"/>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875" name="Google Shape;8875;p400"/>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876" name="Google Shape;8876;p400"/>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877" name="Google Shape;8877;p400"/>
            <p:cNvCxnSpPr>
              <a:stCxn id="8867" idx="6"/>
              <a:endCxn id="8869"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878" name="Google Shape;8878;p400"/>
            <p:cNvCxnSpPr>
              <a:stCxn id="8867" idx="5"/>
              <a:endCxn id="8870"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879" name="Google Shape;8879;p400"/>
            <p:cNvCxnSpPr>
              <a:stCxn id="8868" idx="7"/>
              <a:endCxn id="8869"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880" name="Google Shape;8880;p400"/>
            <p:cNvCxnSpPr>
              <a:stCxn id="8867" idx="4"/>
              <a:endCxn id="8868"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881" name="Google Shape;8881;p400"/>
            <p:cNvCxnSpPr>
              <a:stCxn id="8868" idx="6"/>
              <a:endCxn id="8870"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882" name="Google Shape;8882;p400"/>
            <p:cNvCxnSpPr>
              <a:stCxn id="8869" idx="6"/>
              <a:endCxn id="8871"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883" name="Google Shape;8883;p400"/>
            <p:cNvCxnSpPr>
              <a:stCxn id="8871" idx="3"/>
              <a:endCxn id="8870"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884" name="Google Shape;8884;p400"/>
            <p:cNvCxnSpPr>
              <a:stCxn id="8872" idx="2"/>
              <a:endCxn id="8871"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885" name="Google Shape;8885;p400"/>
            <p:cNvCxnSpPr>
              <a:stCxn id="8873" idx="2"/>
              <a:endCxn id="8872"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886" name="Google Shape;8886;p400"/>
            <p:cNvCxnSpPr>
              <a:stCxn id="8874" idx="2"/>
              <a:endCxn id="8872"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887" name="Google Shape;8887;p400"/>
            <p:cNvCxnSpPr>
              <a:stCxn id="8873" idx="5"/>
              <a:endCxn id="8876"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888" name="Google Shape;8888;p400"/>
            <p:cNvCxnSpPr>
              <a:stCxn id="8875" idx="3"/>
              <a:endCxn id="8874"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889" name="Google Shape;8889;p400"/>
            <p:cNvCxnSpPr>
              <a:stCxn id="8875" idx="2"/>
              <a:endCxn id="8873"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890" name="Google Shape;8890;p400"/>
            <p:cNvCxnSpPr>
              <a:stCxn id="8875" idx="4"/>
              <a:endCxn id="8876"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891" name="Google Shape;8891;p400"/>
            <p:cNvCxnSpPr>
              <a:stCxn id="8876" idx="2"/>
              <a:endCxn id="8874"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
        <p:nvSpPr>
          <p:cNvPr id="8892" name="Google Shape;8892;p400"/>
          <p:cNvSpPr txBox="1"/>
          <p:nvPr/>
        </p:nvSpPr>
        <p:spPr>
          <a:xfrm>
            <a:off x="4733600" y="1494450"/>
            <a:ext cx="2964300" cy="7176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Blocks fall along the diagonal of the matrix with re-arranged rows!</a:t>
            </a:r>
            <a:endParaRPr b="1">
              <a:solidFill>
                <a:srgbClr val="FF0000"/>
              </a:solidFill>
              <a:latin typeface="Open Sans"/>
              <a:ea typeface="Open Sans"/>
              <a:cs typeface="Open Sans"/>
              <a:sym typeface="Open Sans"/>
            </a:endParaRPr>
          </a:p>
        </p:txBody>
      </p:sp>
      <p:cxnSp>
        <p:nvCxnSpPr>
          <p:cNvPr id="8893" name="Google Shape;8893;p400"/>
          <p:cNvCxnSpPr>
            <a:stCxn id="8892" idx="1"/>
          </p:cNvCxnSpPr>
          <p:nvPr/>
        </p:nvCxnSpPr>
        <p:spPr>
          <a:xfrm flipH="1">
            <a:off x="2498900" y="1853280"/>
            <a:ext cx="2234700" cy="1240800"/>
          </a:xfrm>
          <a:prstGeom prst="straightConnector1">
            <a:avLst/>
          </a:prstGeom>
          <a:noFill/>
          <a:ln cap="flat" cmpd="sng" w="19050">
            <a:solidFill>
              <a:srgbClr val="FF0000"/>
            </a:solidFill>
            <a:prstDash val="solid"/>
            <a:round/>
            <a:headEnd len="med" w="med" type="none"/>
            <a:tailEnd len="med" w="med" type="triangle"/>
          </a:ln>
        </p:spPr>
      </p:cxnSp>
      <p:sp>
        <p:nvSpPr>
          <p:cNvPr id="8894" name="Google Shape;8894;p400"/>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8895" name="Google Shape;8895;p400"/>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F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FF"/>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FF00FF"/>
                      </a:solidFill>
                      <a:prstDash val="solid"/>
                      <a:round/>
                      <a:headEnd len="sm" w="sm" type="none"/>
                      <a:tailEnd len="sm" w="sm" type="none"/>
                    </a:lnT>
                    <a:lnB cap="flat" cmpd="sng" w="28575">
                      <a:solidFill>
                        <a:srgbClr val="FF00FF"/>
                      </a:solidFill>
                      <a:prstDash val="solid"/>
                      <a:round/>
                      <a:headEnd len="sm" w="sm" type="none"/>
                      <a:tailEnd len="sm" w="sm" type="none"/>
                    </a:lnB>
                    <a:solidFill>
                      <a:srgbClr val="FF00FF"/>
                    </a:solidFill>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28575">
                      <a:solidFill>
                        <a:srgbClr val="FF00F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3C78D8"/>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FF00F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3C78D8"/>
                    </a:solidFill>
                  </a:tcPr>
                </a:tc>
              </a:tr>
            </a:tbl>
          </a:graphicData>
        </a:graphic>
      </p:graphicFrame>
    </p:spTree>
  </p:cSld>
  <p:clrMapOvr>
    <a:masterClrMapping/>
  </p:clrMapOvr>
</p:sld>
</file>

<file path=ppt/slides/slide3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9" name="Shape 8899"/>
        <p:cNvGrpSpPr/>
        <p:nvPr/>
      </p:nvGrpSpPr>
      <p:grpSpPr>
        <a:xfrm>
          <a:off x="0" y="0"/>
          <a:ext cx="0" cy="0"/>
          <a:chOff x="0" y="0"/>
          <a:chExt cx="0" cy="0"/>
        </a:xfrm>
      </p:grpSpPr>
      <p:sp>
        <p:nvSpPr>
          <p:cNvPr id="8900" name="Google Shape;8900;p401"/>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grpSp>
        <p:nvGrpSpPr>
          <p:cNvPr id="8901" name="Google Shape;8901;p401"/>
          <p:cNvGrpSpPr/>
          <p:nvPr/>
        </p:nvGrpSpPr>
        <p:grpSpPr>
          <a:xfrm>
            <a:off x="3922267" y="2622005"/>
            <a:ext cx="4952925" cy="1183139"/>
            <a:chOff x="868500" y="3078125"/>
            <a:chExt cx="7555950" cy="1938650"/>
          </a:xfrm>
        </p:grpSpPr>
        <p:sp>
          <p:nvSpPr>
            <p:cNvPr id="8902" name="Google Shape;8902;p401"/>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903" name="Google Shape;8903;p401"/>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904" name="Google Shape;8904;p401"/>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905" name="Google Shape;8905;p401"/>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906" name="Google Shape;8906;p401"/>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907" name="Google Shape;8907;p401"/>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908" name="Google Shape;8908;p401"/>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909" name="Google Shape;8909;p401"/>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910" name="Google Shape;8910;p401"/>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911" name="Google Shape;8911;p401"/>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912" name="Google Shape;8912;p401"/>
            <p:cNvCxnSpPr>
              <a:stCxn id="8902" idx="6"/>
              <a:endCxn id="8904"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913" name="Google Shape;8913;p401"/>
            <p:cNvCxnSpPr>
              <a:stCxn id="8902" idx="5"/>
              <a:endCxn id="8905"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914" name="Google Shape;8914;p401"/>
            <p:cNvCxnSpPr>
              <a:stCxn id="8903" idx="7"/>
              <a:endCxn id="8904"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915" name="Google Shape;8915;p401"/>
            <p:cNvCxnSpPr>
              <a:stCxn id="8902" idx="4"/>
              <a:endCxn id="8903"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916" name="Google Shape;8916;p401"/>
            <p:cNvCxnSpPr>
              <a:stCxn id="8903" idx="6"/>
              <a:endCxn id="8905"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917" name="Google Shape;8917;p401"/>
            <p:cNvCxnSpPr>
              <a:stCxn id="8904" idx="6"/>
              <a:endCxn id="8906"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918" name="Google Shape;8918;p401"/>
            <p:cNvCxnSpPr>
              <a:stCxn id="8906" idx="3"/>
              <a:endCxn id="8905"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919" name="Google Shape;8919;p401"/>
            <p:cNvCxnSpPr>
              <a:stCxn id="8907" idx="2"/>
              <a:endCxn id="8906"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920" name="Google Shape;8920;p401"/>
            <p:cNvCxnSpPr>
              <a:stCxn id="8908" idx="2"/>
              <a:endCxn id="8907"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921" name="Google Shape;8921;p401"/>
            <p:cNvCxnSpPr>
              <a:stCxn id="8909" idx="2"/>
              <a:endCxn id="8907"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922" name="Google Shape;8922;p401"/>
            <p:cNvCxnSpPr>
              <a:stCxn id="8908" idx="5"/>
              <a:endCxn id="8911"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923" name="Google Shape;8923;p401"/>
            <p:cNvCxnSpPr>
              <a:stCxn id="8910" idx="3"/>
              <a:endCxn id="8909"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924" name="Google Shape;8924;p401"/>
            <p:cNvCxnSpPr>
              <a:stCxn id="8910" idx="2"/>
              <a:endCxn id="8908"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925" name="Google Shape;8925;p401"/>
            <p:cNvCxnSpPr>
              <a:stCxn id="8910" idx="4"/>
              <a:endCxn id="8911"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926" name="Google Shape;8926;p401"/>
            <p:cNvCxnSpPr>
              <a:stCxn id="8911" idx="2"/>
              <a:endCxn id="8909"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
        <p:nvSpPr>
          <p:cNvPr id="8927" name="Google Shape;8927;p401"/>
          <p:cNvSpPr txBox="1"/>
          <p:nvPr/>
        </p:nvSpPr>
        <p:spPr>
          <a:xfrm>
            <a:off x="4643138" y="1937858"/>
            <a:ext cx="3330300" cy="51435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latin typeface="Open Sans"/>
                <a:ea typeface="Open Sans"/>
                <a:cs typeface="Open Sans"/>
                <a:sym typeface="Open Sans"/>
              </a:rPr>
              <a:t>The off-block cells have the same values for each block!</a:t>
            </a:r>
            <a:endParaRPr b="1">
              <a:solidFill>
                <a:srgbClr val="0000FF"/>
              </a:solidFill>
              <a:latin typeface="Open Sans"/>
              <a:ea typeface="Open Sans"/>
              <a:cs typeface="Open Sans"/>
              <a:sym typeface="Open Sans"/>
            </a:endParaRPr>
          </a:p>
        </p:txBody>
      </p:sp>
      <p:cxnSp>
        <p:nvCxnSpPr>
          <p:cNvPr id="8928" name="Google Shape;8928;p401"/>
          <p:cNvCxnSpPr>
            <a:stCxn id="8927" idx="1"/>
          </p:cNvCxnSpPr>
          <p:nvPr/>
        </p:nvCxnSpPr>
        <p:spPr>
          <a:xfrm flipH="1">
            <a:off x="3665438" y="2195033"/>
            <a:ext cx="977700" cy="8100"/>
          </a:xfrm>
          <a:prstGeom prst="straightConnector1">
            <a:avLst/>
          </a:prstGeom>
          <a:noFill/>
          <a:ln cap="flat" cmpd="sng" w="19050">
            <a:solidFill>
              <a:srgbClr val="0000FF"/>
            </a:solidFill>
            <a:prstDash val="solid"/>
            <a:round/>
            <a:headEnd len="med" w="med" type="none"/>
            <a:tailEnd len="med" w="med" type="triangle"/>
          </a:ln>
        </p:spPr>
      </p:cxnSp>
      <p:sp>
        <p:nvSpPr>
          <p:cNvPr id="8929" name="Google Shape;8929;p401"/>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8930" name="Google Shape;8930;p401"/>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4A86E8"/>
                          </a:solidFill>
                        </a:rPr>
                        <a:t>f</a:t>
                      </a:r>
                      <a:endParaRPr b="1" sz="1100">
                        <a:solidFill>
                          <a:srgbClr val="4A86E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F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FF"/>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FF00FF"/>
                      </a:solidFill>
                      <a:prstDash val="solid"/>
                      <a:round/>
                      <a:headEnd len="sm" w="sm" type="none"/>
                      <a:tailEnd len="sm" w="sm" type="none"/>
                    </a:lnT>
                    <a:lnB cap="flat" cmpd="sng" w="28575">
                      <a:solidFill>
                        <a:srgbClr val="FF00FF"/>
                      </a:solidFill>
                      <a:prstDash val="solid"/>
                      <a:round/>
                      <a:headEnd len="sm" w="sm" type="none"/>
                      <a:tailEnd len="sm" w="sm" type="none"/>
                    </a:lnB>
                    <a:solidFill>
                      <a:srgbClr val="FF00FF"/>
                    </a:solidFill>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28575">
                      <a:solidFill>
                        <a:srgbClr val="FF00F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3C78D8"/>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4A86E8"/>
                          </a:solidFill>
                        </a:rPr>
                        <a:t>f</a:t>
                      </a:r>
                      <a:endParaRPr b="1" sz="1100">
                        <a:solidFill>
                          <a:srgbClr val="4A86E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FF00F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3C78D8"/>
                    </a:solidFill>
                  </a:tcPr>
                </a:tc>
              </a:tr>
            </a:tbl>
          </a:graphicData>
        </a:graphic>
      </p:graphicFrame>
    </p:spTree>
  </p:cSld>
  <p:clrMapOvr>
    <a:masterClrMapping/>
  </p:clrMapOvr>
</p:sld>
</file>

<file path=ppt/slides/slide3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4" name="Shape 8934"/>
        <p:cNvGrpSpPr/>
        <p:nvPr/>
      </p:nvGrpSpPr>
      <p:grpSpPr>
        <a:xfrm>
          <a:off x="0" y="0"/>
          <a:ext cx="0" cy="0"/>
          <a:chOff x="0" y="0"/>
          <a:chExt cx="0" cy="0"/>
        </a:xfrm>
      </p:grpSpPr>
      <p:sp>
        <p:nvSpPr>
          <p:cNvPr id="8935" name="Google Shape;8935;p402"/>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grpSp>
        <p:nvGrpSpPr>
          <p:cNvPr id="8936" name="Google Shape;8936;p402"/>
          <p:cNvGrpSpPr/>
          <p:nvPr/>
        </p:nvGrpSpPr>
        <p:grpSpPr>
          <a:xfrm>
            <a:off x="3922267" y="2622005"/>
            <a:ext cx="4952925" cy="1183139"/>
            <a:chOff x="868500" y="3078125"/>
            <a:chExt cx="7555950" cy="1938650"/>
          </a:xfrm>
        </p:grpSpPr>
        <p:sp>
          <p:nvSpPr>
            <p:cNvPr id="8937" name="Google Shape;8937;p402"/>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938" name="Google Shape;8938;p402"/>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939" name="Google Shape;8939;p402"/>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940" name="Google Shape;8940;p402"/>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941" name="Google Shape;8941;p402"/>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942" name="Google Shape;8942;p402"/>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943" name="Google Shape;8943;p402"/>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944" name="Google Shape;8944;p402"/>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945" name="Google Shape;8945;p402"/>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946" name="Google Shape;8946;p402"/>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947" name="Google Shape;8947;p402"/>
            <p:cNvCxnSpPr>
              <a:stCxn id="8937" idx="6"/>
              <a:endCxn id="8939"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948" name="Google Shape;8948;p402"/>
            <p:cNvCxnSpPr>
              <a:stCxn id="8937" idx="5"/>
              <a:endCxn id="8940"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949" name="Google Shape;8949;p402"/>
            <p:cNvCxnSpPr>
              <a:stCxn id="8938" idx="7"/>
              <a:endCxn id="8939"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950" name="Google Shape;8950;p402"/>
            <p:cNvCxnSpPr>
              <a:stCxn id="8937" idx="4"/>
              <a:endCxn id="8938"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951" name="Google Shape;8951;p402"/>
            <p:cNvCxnSpPr>
              <a:stCxn id="8938" idx="6"/>
              <a:endCxn id="8940"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952" name="Google Shape;8952;p402"/>
            <p:cNvCxnSpPr>
              <a:stCxn id="8939" idx="6"/>
              <a:endCxn id="8941"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953" name="Google Shape;8953;p402"/>
            <p:cNvCxnSpPr>
              <a:stCxn id="8941" idx="3"/>
              <a:endCxn id="8940"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954" name="Google Shape;8954;p402"/>
            <p:cNvCxnSpPr>
              <a:stCxn id="8942" idx="2"/>
              <a:endCxn id="8941"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955" name="Google Shape;8955;p402"/>
            <p:cNvCxnSpPr>
              <a:stCxn id="8943" idx="2"/>
              <a:endCxn id="8942"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956" name="Google Shape;8956;p402"/>
            <p:cNvCxnSpPr>
              <a:stCxn id="8944" idx="2"/>
              <a:endCxn id="8942"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957" name="Google Shape;8957;p402"/>
            <p:cNvCxnSpPr>
              <a:stCxn id="8943" idx="5"/>
              <a:endCxn id="8946"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958" name="Google Shape;8958;p402"/>
            <p:cNvCxnSpPr>
              <a:stCxn id="8945" idx="3"/>
              <a:endCxn id="8944"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959" name="Google Shape;8959;p402"/>
            <p:cNvCxnSpPr>
              <a:stCxn id="8945" idx="2"/>
              <a:endCxn id="8943"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960" name="Google Shape;8960;p402"/>
            <p:cNvCxnSpPr>
              <a:stCxn id="8945" idx="4"/>
              <a:endCxn id="8946"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961" name="Google Shape;8961;p402"/>
            <p:cNvCxnSpPr>
              <a:stCxn id="8946" idx="2"/>
              <a:endCxn id="8944"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
        <p:nvSpPr>
          <p:cNvPr id="8962" name="Google Shape;8962;p402"/>
          <p:cNvSpPr txBox="1"/>
          <p:nvPr/>
        </p:nvSpPr>
        <p:spPr>
          <a:xfrm>
            <a:off x="4733588" y="1929758"/>
            <a:ext cx="3330300" cy="51435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0000FF"/>
                </a:solidFill>
                <a:latin typeface="Open Sans"/>
                <a:ea typeface="Open Sans"/>
                <a:cs typeface="Open Sans"/>
                <a:sym typeface="Open Sans"/>
              </a:rPr>
              <a:t>The off-block cells have the same values for each block!</a:t>
            </a:r>
            <a:endParaRPr b="1">
              <a:solidFill>
                <a:srgbClr val="0000FF"/>
              </a:solidFill>
              <a:latin typeface="Open Sans"/>
              <a:ea typeface="Open Sans"/>
              <a:cs typeface="Open Sans"/>
              <a:sym typeface="Open Sans"/>
            </a:endParaRPr>
          </a:p>
          <a:p>
            <a:pPr indent="0" lvl="0" marL="0" rtl="0" algn="l">
              <a:spcBef>
                <a:spcPts val="0"/>
              </a:spcBef>
              <a:spcAft>
                <a:spcPts val="0"/>
              </a:spcAft>
              <a:buNone/>
            </a:pPr>
            <a:r>
              <a:t/>
            </a:r>
            <a:endParaRPr b="1">
              <a:solidFill>
                <a:srgbClr val="0000FF"/>
              </a:solidFill>
              <a:latin typeface="Open Sans"/>
              <a:ea typeface="Open Sans"/>
              <a:cs typeface="Open Sans"/>
              <a:sym typeface="Open Sans"/>
            </a:endParaRPr>
          </a:p>
        </p:txBody>
      </p:sp>
      <p:cxnSp>
        <p:nvCxnSpPr>
          <p:cNvPr id="8963" name="Google Shape;8963;p402"/>
          <p:cNvCxnSpPr>
            <a:stCxn id="8962" idx="1"/>
          </p:cNvCxnSpPr>
          <p:nvPr/>
        </p:nvCxnSpPr>
        <p:spPr>
          <a:xfrm flipH="1">
            <a:off x="3699788" y="2186933"/>
            <a:ext cx="1033800" cy="576900"/>
          </a:xfrm>
          <a:prstGeom prst="straightConnector1">
            <a:avLst/>
          </a:prstGeom>
          <a:noFill/>
          <a:ln cap="flat" cmpd="sng" w="19050">
            <a:solidFill>
              <a:srgbClr val="0000FF"/>
            </a:solidFill>
            <a:prstDash val="solid"/>
            <a:round/>
            <a:headEnd len="med" w="med" type="none"/>
            <a:tailEnd len="med" w="med" type="triangle"/>
          </a:ln>
        </p:spPr>
      </p:cxnSp>
      <p:sp>
        <p:nvSpPr>
          <p:cNvPr id="8964" name="Google Shape;8964;p402"/>
          <p:cNvSpPr txBox="1"/>
          <p:nvPr/>
        </p:nvSpPr>
        <p:spPr>
          <a:xfrm>
            <a:off x="4619988" y="4054680"/>
            <a:ext cx="3330300" cy="51435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People assigned to the same block are connected to the same others!</a:t>
            </a:r>
            <a:endParaRPr b="1">
              <a:solidFill>
                <a:srgbClr val="FF0000"/>
              </a:solidFill>
              <a:latin typeface="Open Sans"/>
              <a:ea typeface="Open Sans"/>
              <a:cs typeface="Open Sans"/>
              <a:sym typeface="Open Sans"/>
            </a:endParaRPr>
          </a:p>
        </p:txBody>
      </p:sp>
      <p:sp>
        <p:nvSpPr>
          <p:cNvPr id="8965" name="Google Shape;8965;p402"/>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8966" name="Google Shape;8966;p402"/>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C27BA0"/>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000000"/>
                      </a:solidFill>
                      <a:prstDash val="solid"/>
                      <a:round/>
                      <a:headEnd len="sm" w="sm" type="none"/>
                      <a:tailEnd len="sm" w="sm" type="none"/>
                    </a:lnL>
                    <a:lnR cap="flat" cmpd="sng" w="28575">
                      <a:solidFill>
                        <a:srgbClr val="C27BA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C27BA0"/>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28575">
                      <a:solidFill>
                        <a:srgbClr val="C27BA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1</a:t>
                      </a:r>
                      <a:endParaRPr b="1" sz="1100">
                        <a:solidFill>
                          <a:srgbClr val="0000FF"/>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0000FF"/>
                          </a:solidFill>
                        </a:rPr>
                        <a:t>0</a:t>
                      </a:r>
                      <a:endParaRPr b="1" sz="1100">
                        <a:solidFill>
                          <a:srgbClr val="0000FF"/>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C27BA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F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FF"/>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FF00FF"/>
                      </a:solidFill>
                      <a:prstDash val="solid"/>
                      <a:round/>
                      <a:headEnd len="sm" w="sm" type="none"/>
                      <a:tailEnd len="sm" w="sm" type="none"/>
                    </a:lnT>
                    <a:lnB cap="flat" cmpd="sng" w="28575">
                      <a:solidFill>
                        <a:srgbClr val="FF00FF"/>
                      </a:solidFill>
                      <a:prstDash val="solid"/>
                      <a:round/>
                      <a:headEnd len="sm" w="sm" type="none"/>
                      <a:tailEnd len="sm" w="sm" type="none"/>
                    </a:lnB>
                    <a:solidFill>
                      <a:srgbClr val="FF00FF"/>
                    </a:solidFill>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28575">
                      <a:solidFill>
                        <a:srgbClr val="FF00F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3C78D8"/>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FF00F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3C78D8"/>
                    </a:solidFill>
                  </a:tcPr>
                </a:tc>
              </a:tr>
            </a:tbl>
          </a:graphicData>
        </a:graphic>
      </p:graphicFrame>
    </p:spTree>
  </p:cSld>
  <p:clrMapOvr>
    <a:masterClrMapping/>
  </p:clrMapOvr>
</p:sld>
</file>

<file path=ppt/slides/slide3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0" name="Shape 8970"/>
        <p:cNvGrpSpPr/>
        <p:nvPr/>
      </p:nvGrpSpPr>
      <p:grpSpPr>
        <a:xfrm>
          <a:off x="0" y="0"/>
          <a:ext cx="0" cy="0"/>
          <a:chOff x="0" y="0"/>
          <a:chExt cx="0" cy="0"/>
        </a:xfrm>
      </p:grpSpPr>
      <p:graphicFrame>
        <p:nvGraphicFramePr>
          <p:cNvPr id="8971" name="Google Shape;8971;p403"/>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F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FF"/>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FF00FF"/>
                      </a:solidFill>
                      <a:prstDash val="solid"/>
                      <a:round/>
                      <a:headEnd len="sm" w="sm" type="none"/>
                      <a:tailEnd len="sm" w="sm" type="none"/>
                    </a:lnT>
                    <a:lnB cap="flat" cmpd="sng" w="28575">
                      <a:solidFill>
                        <a:srgbClr val="FF00FF"/>
                      </a:solidFill>
                      <a:prstDash val="solid"/>
                      <a:round/>
                      <a:headEnd len="sm" w="sm" type="none"/>
                      <a:tailEnd len="sm" w="sm" type="none"/>
                    </a:lnB>
                    <a:solidFill>
                      <a:srgbClr val="FF00FF"/>
                    </a:solidFill>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28575">
                      <a:solidFill>
                        <a:srgbClr val="FF00F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3C78D8"/>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FF00F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3C78D8"/>
                    </a:solidFill>
                  </a:tcPr>
                </a:tc>
              </a:tr>
            </a:tbl>
          </a:graphicData>
        </a:graphic>
      </p:graphicFrame>
      <p:sp>
        <p:nvSpPr>
          <p:cNvPr id="8972" name="Google Shape;8972;p403"/>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grpSp>
        <p:nvGrpSpPr>
          <p:cNvPr id="8973" name="Google Shape;8973;p403"/>
          <p:cNvGrpSpPr/>
          <p:nvPr/>
        </p:nvGrpSpPr>
        <p:grpSpPr>
          <a:xfrm>
            <a:off x="3922267" y="2622005"/>
            <a:ext cx="4952925" cy="1183139"/>
            <a:chOff x="868500" y="3078125"/>
            <a:chExt cx="7555950" cy="1938650"/>
          </a:xfrm>
        </p:grpSpPr>
        <p:sp>
          <p:nvSpPr>
            <p:cNvPr id="8974" name="Google Shape;8974;p403"/>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8975" name="Google Shape;8975;p403"/>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8976" name="Google Shape;8976;p403"/>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8977" name="Google Shape;8977;p403"/>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8978" name="Google Shape;8978;p403"/>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8979" name="Google Shape;8979;p403"/>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8980" name="Google Shape;8980;p403"/>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8981" name="Google Shape;8981;p403"/>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8982" name="Google Shape;8982;p403"/>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8983" name="Google Shape;8983;p403"/>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8984" name="Google Shape;8984;p403"/>
            <p:cNvCxnSpPr>
              <a:stCxn id="8974" idx="6"/>
              <a:endCxn id="8976"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985" name="Google Shape;8985;p403"/>
            <p:cNvCxnSpPr>
              <a:stCxn id="8974" idx="5"/>
              <a:endCxn id="8977"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8986" name="Google Shape;8986;p403"/>
            <p:cNvCxnSpPr>
              <a:stCxn id="8975" idx="7"/>
              <a:endCxn id="8976"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8987" name="Google Shape;8987;p403"/>
            <p:cNvCxnSpPr>
              <a:stCxn id="8974" idx="4"/>
              <a:endCxn id="8975"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8988" name="Google Shape;8988;p403"/>
            <p:cNvCxnSpPr>
              <a:stCxn id="8975" idx="6"/>
              <a:endCxn id="8977"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8989" name="Google Shape;8989;p403"/>
            <p:cNvCxnSpPr>
              <a:stCxn id="8976" idx="6"/>
              <a:endCxn id="8978"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990" name="Google Shape;8990;p403"/>
            <p:cNvCxnSpPr>
              <a:stCxn id="8978" idx="3"/>
              <a:endCxn id="8977"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8991" name="Google Shape;8991;p403"/>
            <p:cNvCxnSpPr>
              <a:stCxn id="8979" idx="2"/>
              <a:endCxn id="8978"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8992" name="Google Shape;8992;p403"/>
            <p:cNvCxnSpPr>
              <a:stCxn id="8980" idx="2"/>
              <a:endCxn id="8979"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8993" name="Google Shape;8993;p403"/>
            <p:cNvCxnSpPr>
              <a:stCxn id="8981" idx="2"/>
              <a:endCxn id="8979"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8994" name="Google Shape;8994;p403"/>
            <p:cNvCxnSpPr>
              <a:stCxn id="8980" idx="5"/>
              <a:endCxn id="8983"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995" name="Google Shape;8995;p403"/>
            <p:cNvCxnSpPr>
              <a:stCxn id="8982" idx="3"/>
              <a:endCxn id="8981"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8996" name="Google Shape;8996;p403"/>
            <p:cNvCxnSpPr>
              <a:stCxn id="8982" idx="2"/>
              <a:endCxn id="8980"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8997" name="Google Shape;8997;p403"/>
            <p:cNvCxnSpPr>
              <a:stCxn id="8982" idx="4"/>
              <a:endCxn id="8983"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8998" name="Google Shape;8998;p403"/>
            <p:cNvCxnSpPr>
              <a:stCxn id="8983" idx="2"/>
              <a:endCxn id="8981"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
        <p:nvSpPr>
          <p:cNvPr id="8999" name="Google Shape;8999;p403"/>
          <p:cNvSpPr txBox="1"/>
          <p:nvPr/>
        </p:nvSpPr>
        <p:spPr>
          <a:xfrm>
            <a:off x="4665152" y="1571693"/>
            <a:ext cx="3234300" cy="43389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Some diagonal blocks have ones inside</a:t>
            </a:r>
            <a:endParaRPr b="1">
              <a:solidFill>
                <a:srgbClr val="FF0000"/>
              </a:solidFill>
              <a:latin typeface="Open Sans"/>
              <a:ea typeface="Open Sans"/>
              <a:cs typeface="Open Sans"/>
              <a:sym typeface="Open Sans"/>
            </a:endParaRPr>
          </a:p>
        </p:txBody>
      </p:sp>
      <p:cxnSp>
        <p:nvCxnSpPr>
          <p:cNvPr id="9000" name="Google Shape;9000;p403"/>
          <p:cNvCxnSpPr>
            <a:stCxn id="8999" idx="1"/>
          </p:cNvCxnSpPr>
          <p:nvPr/>
        </p:nvCxnSpPr>
        <p:spPr>
          <a:xfrm flipH="1">
            <a:off x="1861952" y="1788638"/>
            <a:ext cx="2803200" cy="924600"/>
          </a:xfrm>
          <a:prstGeom prst="straightConnector1">
            <a:avLst/>
          </a:prstGeom>
          <a:noFill/>
          <a:ln cap="flat" cmpd="sng" w="19050">
            <a:solidFill>
              <a:srgbClr val="FF0000"/>
            </a:solidFill>
            <a:prstDash val="solid"/>
            <a:round/>
            <a:headEnd len="med" w="med" type="none"/>
            <a:tailEnd len="med" w="med" type="triangle"/>
          </a:ln>
        </p:spPr>
      </p:cxnSp>
      <p:sp>
        <p:nvSpPr>
          <p:cNvPr id="9001" name="Google Shape;9001;p403"/>
          <p:cNvSpPr txBox="1"/>
          <p:nvPr/>
        </p:nvSpPr>
        <p:spPr>
          <a:xfrm>
            <a:off x="5200363" y="4274933"/>
            <a:ext cx="3330300" cy="51435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Others just have zeroes</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rPr b="1" lang="en">
                <a:solidFill>
                  <a:srgbClr val="FF0000"/>
                </a:solidFill>
                <a:latin typeface="Open Sans"/>
                <a:ea typeface="Open Sans"/>
                <a:cs typeface="Open Sans"/>
                <a:sym typeface="Open Sans"/>
              </a:rPr>
              <a:t>(These are called </a:t>
            </a:r>
            <a:r>
              <a:rPr b="1" lang="en">
                <a:solidFill>
                  <a:srgbClr val="0000FF"/>
                </a:solidFill>
                <a:latin typeface="Open Sans"/>
                <a:ea typeface="Open Sans"/>
                <a:cs typeface="Open Sans"/>
                <a:sym typeface="Open Sans"/>
              </a:rPr>
              <a:t>zero-blocks</a:t>
            </a:r>
            <a:r>
              <a:rPr b="1" lang="en">
                <a:solidFill>
                  <a:srgbClr val="FF0000"/>
                </a:solidFill>
                <a:latin typeface="Open Sans"/>
                <a:ea typeface="Open Sans"/>
                <a:cs typeface="Open Sans"/>
                <a:sym typeface="Open Sans"/>
              </a:rPr>
              <a:t>)</a:t>
            </a:r>
            <a:endParaRPr b="1">
              <a:solidFill>
                <a:srgbClr val="FF0000"/>
              </a:solidFill>
              <a:latin typeface="Open Sans"/>
              <a:ea typeface="Open Sans"/>
              <a:cs typeface="Open Sans"/>
              <a:sym typeface="Open Sans"/>
            </a:endParaRPr>
          </a:p>
        </p:txBody>
      </p:sp>
      <p:cxnSp>
        <p:nvCxnSpPr>
          <p:cNvPr id="9002" name="Google Shape;9002;p403"/>
          <p:cNvCxnSpPr>
            <a:stCxn id="9001" idx="1"/>
          </p:cNvCxnSpPr>
          <p:nvPr/>
        </p:nvCxnSpPr>
        <p:spPr>
          <a:xfrm rot="10800000">
            <a:off x="2329663" y="3467707"/>
            <a:ext cx="2870700" cy="1064400"/>
          </a:xfrm>
          <a:prstGeom prst="straightConnector1">
            <a:avLst/>
          </a:prstGeom>
          <a:noFill/>
          <a:ln cap="flat" cmpd="sng" w="19050">
            <a:solidFill>
              <a:srgbClr val="FF0000"/>
            </a:solidFill>
            <a:prstDash val="solid"/>
            <a:round/>
            <a:headEnd len="med" w="med" type="none"/>
            <a:tailEnd len="med" w="med" type="triangle"/>
          </a:ln>
        </p:spPr>
      </p:cxnSp>
      <p:sp>
        <p:nvSpPr>
          <p:cNvPr id="9003" name="Google Shape;9003;p403"/>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spTree>
  </p:cSld>
  <p:clrMapOvr>
    <a:masterClrMapping/>
  </p:clrMapOvr>
</p:sld>
</file>

<file path=ppt/slides/slide3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7" name="Shape 9007"/>
        <p:cNvGrpSpPr/>
        <p:nvPr/>
      </p:nvGrpSpPr>
      <p:grpSpPr>
        <a:xfrm>
          <a:off x="0" y="0"/>
          <a:ext cx="0" cy="0"/>
          <a:chOff x="0" y="0"/>
          <a:chExt cx="0" cy="0"/>
        </a:xfrm>
      </p:grpSpPr>
      <p:graphicFrame>
        <p:nvGraphicFramePr>
          <p:cNvPr id="9008" name="Google Shape;9008;p404"/>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a</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00"/>
                          </a:solidFill>
                        </a:rPr>
                        <a:t>c</a:t>
                      </a:r>
                      <a:endParaRPr b="1"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1</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00"/>
                          </a:solidFill>
                        </a:rPr>
                        <a:t>0</a:t>
                      </a:r>
                      <a:endParaRPr sz="1100">
                        <a:solidFill>
                          <a:srgbClr val="FF000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h</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C27BA0"/>
                          </a:solidFill>
                        </a:rPr>
                        <a:t>j</a:t>
                      </a:r>
                      <a:endParaRPr b="1"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C27BA0"/>
                    </a:solidFill>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1</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C27BA0"/>
                          </a:solidFill>
                        </a:rPr>
                        <a:t>0</a:t>
                      </a:r>
                      <a:endParaRPr sz="1100">
                        <a:solidFill>
                          <a:srgbClr val="C27BA0"/>
                        </a:solidFill>
                      </a:endParaRPr>
                    </a:p>
                  </a:txBody>
                  <a:tcPr marT="0" marB="0" marR="0" marL="0" anchor="ctr">
                    <a:lnL cap="flat" cmpd="sng" w="9525">
                      <a:solidFill>
                        <a:srgbClr val="00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b</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6AA84F"/>
                          </a:solidFill>
                        </a:rPr>
                        <a:t>d</a:t>
                      </a:r>
                      <a:endParaRPr b="1"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1</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6AA84F"/>
                          </a:solidFill>
                        </a:rPr>
                        <a:t>0</a:t>
                      </a:r>
                      <a:endParaRPr sz="1100">
                        <a:solidFill>
                          <a:srgbClr val="6AA84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g</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E69138"/>
                          </a:solidFill>
                        </a:rPr>
                        <a:t>i</a:t>
                      </a:r>
                      <a:endParaRPr b="1"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solidFill>
                            <a:srgbClr val="E69138"/>
                          </a:solidFill>
                        </a:rPr>
                        <a:t>0</a:t>
                      </a:r>
                      <a:endParaRPr sz="1100">
                        <a:solidFill>
                          <a:srgbClr val="E69138"/>
                        </a:solidFill>
                      </a:endParaRPr>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FF"/>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E69138"/>
                          </a:solidFill>
                        </a:rPr>
                        <a:t>1</a:t>
                      </a:r>
                      <a:endParaRPr sz="1100">
                        <a:solidFill>
                          <a:srgbClr val="E69138"/>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solidFill>
                            <a:srgbClr val="FF00FF"/>
                          </a:solidFill>
                        </a:rPr>
                        <a:t>e</a:t>
                      </a:r>
                      <a:endParaRPr b="1"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FF00FF"/>
                          </a:solidFill>
                        </a:rPr>
                        <a:t>0</a:t>
                      </a:r>
                      <a:endParaRPr sz="1100">
                        <a:solidFill>
                          <a:srgbClr val="FF00FF"/>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FF"/>
                      </a:solidFill>
                      <a:prstDash val="solid"/>
                      <a:round/>
                      <a:headEnd len="sm" w="sm" type="none"/>
                      <a:tailEnd len="sm" w="sm" type="none"/>
                    </a:lnL>
                    <a:lnR cap="flat" cmpd="sng" w="28575">
                      <a:solidFill>
                        <a:srgbClr val="FF00FF"/>
                      </a:solidFill>
                      <a:prstDash val="solid"/>
                      <a:round/>
                      <a:headEnd len="sm" w="sm" type="none"/>
                      <a:tailEnd len="sm" w="sm" type="none"/>
                    </a:lnR>
                    <a:lnT cap="flat" cmpd="sng" w="28575">
                      <a:solidFill>
                        <a:srgbClr val="FF00FF"/>
                      </a:solidFill>
                      <a:prstDash val="solid"/>
                      <a:round/>
                      <a:headEnd len="sm" w="sm" type="none"/>
                      <a:tailEnd len="sm" w="sm" type="none"/>
                    </a:lnT>
                    <a:lnB cap="flat" cmpd="sng" w="28575">
                      <a:solidFill>
                        <a:srgbClr val="FF00FF"/>
                      </a:solidFill>
                      <a:prstDash val="solid"/>
                      <a:round/>
                      <a:headEnd len="sm" w="sm" type="none"/>
                      <a:tailEnd len="sm" w="sm" type="none"/>
                    </a:lnB>
                    <a:solidFill>
                      <a:srgbClr val="FF00FF"/>
                    </a:solidFill>
                  </a:tcPr>
                </a:tc>
                <a:tc>
                  <a:txBody>
                    <a:bodyPr/>
                    <a:lstStyle/>
                    <a:p>
                      <a:pPr indent="0" lvl="0" marL="0" rtl="0" algn="ctr">
                        <a:spcBef>
                          <a:spcPts val="0"/>
                        </a:spcBef>
                        <a:spcAft>
                          <a:spcPts val="0"/>
                        </a:spcAft>
                        <a:buNone/>
                      </a:pPr>
                      <a:r>
                        <a:rPr lang="en" sz="1100">
                          <a:solidFill>
                            <a:srgbClr val="FF00FF"/>
                          </a:solidFill>
                        </a:rPr>
                        <a:t>1</a:t>
                      </a:r>
                      <a:endParaRPr sz="1100">
                        <a:solidFill>
                          <a:srgbClr val="FF00FF"/>
                        </a:solidFill>
                      </a:endParaRPr>
                    </a:p>
                  </a:txBody>
                  <a:tcPr marT="0" marB="0" marR="0" marL="0" anchor="ctr">
                    <a:lnL cap="flat" cmpd="sng" w="28575">
                      <a:solidFill>
                        <a:srgbClr val="FF00F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3C78D8"/>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0</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1155CC"/>
                          </a:solidFill>
                        </a:rPr>
                        <a:t>1</a:t>
                      </a:r>
                      <a:endParaRPr sz="1100">
                        <a:solidFill>
                          <a:srgbClr val="1155CC"/>
                        </a:solidFill>
                      </a:endParaRPr>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FF00F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3C78D8"/>
                    </a:solidFill>
                  </a:tcPr>
                </a:tc>
              </a:tr>
            </a:tbl>
          </a:graphicData>
        </a:graphic>
      </p:graphicFrame>
      <p:sp>
        <p:nvSpPr>
          <p:cNvPr id="9009" name="Google Shape;9009;p404"/>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sp>
        <p:nvSpPr>
          <p:cNvPr id="9010" name="Google Shape;9010;p40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grpSp>
        <p:nvGrpSpPr>
          <p:cNvPr id="9011" name="Google Shape;9011;p404"/>
          <p:cNvGrpSpPr/>
          <p:nvPr/>
        </p:nvGrpSpPr>
        <p:grpSpPr>
          <a:xfrm>
            <a:off x="3922267" y="2622005"/>
            <a:ext cx="4952925" cy="1183139"/>
            <a:chOff x="868500" y="3078125"/>
            <a:chExt cx="7555950" cy="1938650"/>
          </a:xfrm>
        </p:grpSpPr>
        <p:sp>
          <p:nvSpPr>
            <p:cNvPr id="9012" name="Google Shape;9012;p404"/>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9013" name="Google Shape;9013;p404"/>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9014" name="Google Shape;9014;p404"/>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9015" name="Google Shape;9015;p404"/>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9016" name="Google Shape;9016;p404"/>
            <p:cNvSpPr/>
            <p:nvPr/>
          </p:nvSpPr>
          <p:spPr>
            <a:xfrm>
              <a:off x="3679950" y="3724550"/>
              <a:ext cx="601500" cy="580200"/>
            </a:xfrm>
            <a:prstGeom prst="ellipse">
              <a:avLst/>
            </a:prstGeom>
            <a:solidFill>
              <a:srgbClr val="FF00F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9017" name="Google Shape;9017;p404"/>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9018" name="Google Shape;9018;p404"/>
            <p:cNvSpPr/>
            <p:nvPr/>
          </p:nvSpPr>
          <p:spPr>
            <a:xfrm>
              <a:off x="6077000" y="307812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9019" name="Google Shape;9019;p404"/>
            <p:cNvSpPr/>
            <p:nvPr/>
          </p:nvSpPr>
          <p:spPr>
            <a:xfrm>
              <a:off x="6077000" y="4436575"/>
              <a:ext cx="601500" cy="580200"/>
            </a:xfrm>
            <a:prstGeom prst="ellipse">
              <a:avLst/>
            </a:prstGeom>
            <a:solidFill>
              <a:srgbClr val="E6913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9020" name="Google Shape;9020;p404"/>
            <p:cNvSpPr/>
            <p:nvPr/>
          </p:nvSpPr>
          <p:spPr>
            <a:xfrm>
              <a:off x="7822950" y="307812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9021" name="Google Shape;9021;p404"/>
            <p:cNvSpPr/>
            <p:nvPr/>
          </p:nvSpPr>
          <p:spPr>
            <a:xfrm>
              <a:off x="7822850" y="4436575"/>
              <a:ext cx="601500" cy="580200"/>
            </a:xfrm>
            <a:prstGeom prst="ellipse">
              <a:avLst/>
            </a:prstGeom>
            <a:solidFill>
              <a:srgbClr val="C27BA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9022" name="Google Shape;9022;p404"/>
            <p:cNvCxnSpPr>
              <a:stCxn id="9012" idx="6"/>
              <a:endCxn id="9014"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023" name="Google Shape;9023;p404"/>
            <p:cNvCxnSpPr>
              <a:stCxn id="9012" idx="5"/>
              <a:endCxn id="9015"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9024" name="Google Shape;9024;p404"/>
            <p:cNvCxnSpPr>
              <a:stCxn id="9013" idx="7"/>
              <a:endCxn id="9014"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9025" name="Google Shape;9025;p404"/>
            <p:cNvCxnSpPr>
              <a:stCxn id="9012" idx="4"/>
              <a:endCxn id="9013"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9026" name="Google Shape;9026;p404"/>
            <p:cNvCxnSpPr>
              <a:stCxn id="9013" idx="6"/>
              <a:endCxn id="9015"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9027" name="Google Shape;9027;p404"/>
            <p:cNvCxnSpPr>
              <a:stCxn id="9014" idx="6"/>
              <a:endCxn id="9016"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028" name="Google Shape;9028;p404"/>
            <p:cNvCxnSpPr>
              <a:stCxn id="9016" idx="3"/>
              <a:endCxn id="9015"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029" name="Google Shape;9029;p404"/>
            <p:cNvCxnSpPr>
              <a:stCxn id="9017" idx="2"/>
              <a:endCxn id="9016"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9030" name="Google Shape;9030;p404"/>
            <p:cNvCxnSpPr>
              <a:stCxn id="9018" idx="2"/>
              <a:endCxn id="9017"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9031" name="Google Shape;9031;p404"/>
            <p:cNvCxnSpPr>
              <a:stCxn id="9019" idx="2"/>
              <a:endCxn id="9017"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9032" name="Google Shape;9032;p404"/>
            <p:cNvCxnSpPr>
              <a:stCxn id="9018" idx="5"/>
              <a:endCxn id="9021"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033" name="Google Shape;9033;p404"/>
            <p:cNvCxnSpPr>
              <a:stCxn id="9020" idx="3"/>
              <a:endCxn id="9019"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034" name="Google Shape;9034;p404"/>
            <p:cNvCxnSpPr>
              <a:stCxn id="9020" idx="2"/>
              <a:endCxn id="9018"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035" name="Google Shape;9035;p404"/>
            <p:cNvCxnSpPr>
              <a:stCxn id="9020" idx="4"/>
              <a:endCxn id="9021"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9036" name="Google Shape;9036;p404"/>
            <p:cNvCxnSpPr>
              <a:stCxn id="9021" idx="2"/>
              <a:endCxn id="9019" idx="6"/>
            </p:cNvCxnSpPr>
            <p:nvPr/>
          </p:nvCxnSpPr>
          <p:spPr>
            <a:xfrm rot="10800000">
              <a:off x="6678350" y="4726675"/>
              <a:ext cx="1144500" cy="0"/>
            </a:xfrm>
            <a:prstGeom prst="straightConnector1">
              <a:avLst/>
            </a:prstGeom>
            <a:noFill/>
            <a:ln cap="flat" cmpd="sng" w="28575">
              <a:solidFill>
                <a:schemeClr val="dk2"/>
              </a:solidFill>
              <a:prstDash val="solid"/>
              <a:round/>
              <a:headEnd len="med" w="med" type="none"/>
              <a:tailEnd len="med" w="med" type="none"/>
            </a:ln>
          </p:spPr>
        </p:cxnSp>
      </p:grpSp>
      <p:sp>
        <p:nvSpPr>
          <p:cNvPr id="9037" name="Google Shape;9037;p404"/>
          <p:cNvSpPr txBox="1"/>
          <p:nvPr/>
        </p:nvSpPr>
        <p:spPr>
          <a:xfrm>
            <a:off x="4665152" y="1571693"/>
            <a:ext cx="3234300" cy="43389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Some blocks have ones inside</a:t>
            </a:r>
            <a:endParaRPr b="1">
              <a:solidFill>
                <a:srgbClr val="FF0000"/>
              </a:solidFill>
              <a:latin typeface="Open Sans"/>
              <a:ea typeface="Open Sans"/>
              <a:cs typeface="Open Sans"/>
              <a:sym typeface="Open Sans"/>
            </a:endParaRPr>
          </a:p>
        </p:txBody>
      </p:sp>
      <p:cxnSp>
        <p:nvCxnSpPr>
          <p:cNvPr id="9038" name="Google Shape;9038;p404"/>
          <p:cNvCxnSpPr>
            <a:stCxn id="9037" idx="1"/>
          </p:cNvCxnSpPr>
          <p:nvPr/>
        </p:nvCxnSpPr>
        <p:spPr>
          <a:xfrm flipH="1">
            <a:off x="1861952" y="1788638"/>
            <a:ext cx="2803200" cy="924600"/>
          </a:xfrm>
          <a:prstGeom prst="straightConnector1">
            <a:avLst/>
          </a:prstGeom>
          <a:noFill/>
          <a:ln cap="flat" cmpd="sng" w="19050">
            <a:solidFill>
              <a:srgbClr val="FF0000"/>
            </a:solidFill>
            <a:prstDash val="solid"/>
            <a:round/>
            <a:headEnd len="med" w="med" type="none"/>
            <a:tailEnd len="med" w="med" type="triangle"/>
          </a:ln>
        </p:spPr>
      </p:cxnSp>
      <p:sp>
        <p:nvSpPr>
          <p:cNvPr id="9039" name="Google Shape;9039;p404"/>
          <p:cNvSpPr txBox="1"/>
          <p:nvPr/>
        </p:nvSpPr>
        <p:spPr>
          <a:xfrm>
            <a:off x="5200375" y="4274933"/>
            <a:ext cx="3330300" cy="6798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latin typeface="Open Sans"/>
                <a:ea typeface="Open Sans"/>
                <a:cs typeface="Open Sans"/>
                <a:sym typeface="Open Sans"/>
              </a:rPr>
              <a:t>Diagonal Z</a:t>
            </a:r>
            <a:r>
              <a:rPr b="1" lang="en">
                <a:solidFill>
                  <a:srgbClr val="0000FF"/>
                </a:solidFill>
                <a:latin typeface="Open Sans"/>
                <a:ea typeface="Open Sans"/>
                <a:cs typeface="Open Sans"/>
                <a:sym typeface="Open Sans"/>
              </a:rPr>
              <a:t>ero-blocks</a:t>
            </a:r>
            <a:r>
              <a:rPr b="1" lang="en">
                <a:solidFill>
                  <a:srgbClr val="FF0000"/>
                </a:solidFill>
                <a:latin typeface="Open Sans"/>
                <a:ea typeface="Open Sans"/>
                <a:cs typeface="Open Sans"/>
                <a:sym typeface="Open Sans"/>
              </a:rPr>
              <a:t> indicate structurally equivalent actors who are not connected to one another</a:t>
            </a:r>
            <a:endParaRPr b="1">
              <a:solidFill>
                <a:srgbClr val="FF0000"/>
              </a:solidFill>
              <a:latin typeface="Open Sans"/>
              <a:ea typeface="Open Sans"/>
              <a:cs typeface="Open Sans"/>
              <a:sym typeface="Open Sans"/>
            </a:endParaRPr>
          </a:p>
        </p:txBody>
      </p:sp>
      <p:cxnSp>
        <p:nvCxnSpPr>
          <p:cNvPr id="9040" name="Google Shape;9040;p404"/>
          <p:cNvCxnSpPr/>
          <p:nvPr/>
        </p:nvCxnSpPr>
        <p:spPr>
          <a:xfrm rot="10800000">
            <a:off x="2329575" y="3467768"/>
            <a:ext cx="2908500" cy="109107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3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4" name="Shape 9044"/>
        <p:cNvGrpSpPr/>
        <p:nvPr/>
      </p:nvGrpSpPr>
      <p:grpSpPr>
        <a:xfrm>
          <a:off x="0" y="0"/>
          <a:ext cx="0" cy="0"/>
          <a:chOff x="0" y="0"/>
          <a:chExt cx="0" cy="0"/>
        </a:xfrm>
      </p:grpSpPr>
      <p:sp>
        <p:nvSpPr>
          <p:cNvPr id="9045" name="Google Shape;9045;p405"/>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sp>
        <p:nvSpPr>
          <p:cNvPr id="9046" name="Google Shape;9046;p405"/>
          <p:cNvSpPr txBox="1"/>
          <p:nvPr/>
        </p:nvSpPr>
        <p:spPr>
          <a:xfrm>
            <a:off x="4960525" y="114725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Image Graph</a:t>
            </a:r>
            <a:endParaRPr b="1" sz="1800">
              <a:latin typeface="Economica"/>
              <a:ea typeface="Economica"/>
              <a:cs typeface="Economica"/>
              <a:sym typeface="Economica"/>
            </a:endParaRPr>
          </a:p>
        </p:txBody>
      </p:sp>
      <p:sp>
        <p:nvSpPr>
          <p:cNvPr id="9047" name="Google Shape;9047;p405"/>
          <p:cNvSpPr txBox="1"/>
          <p:nvPr>
            <p:ph idx="4294967295" type="body"/>
          </p:nvPr>
        </p:nvSpPr>
        <p:spPr>
          <a:xfrm>
            <a:off x="311700" y="1225210"/>
            <a:ext cx="4121700" cy="349407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Once vertices are partitioned into positions or blocks (disjoint subsets of nodes)  we may be interested in the </a:t>
            </a:r>
            <a:r>
              <a:rPr b="1" lang="en"/>
              <a:t>connections among the blocks</a:t>
            </a:r>
            <a:endParaRPr b="1"/>
          </a:p>
          <a:p>
            <a:pPr indent="-317500" lvl="1" marL="914400" rtl="0" algn="l">
              <a:spcBef>
                <a:spcPts val="0"/>
              </a:spcBef>
              <a:spcAft>
                <a:spcPts val="0"/>
              </a:spcAft>
              <a:buClr>
                <a:srgbClr val="FF0000"/>
              </a:buClr>
              <a:buSzPts val="1400"/>
              <a:buChar char="○"/>
            </a:pPr>
            <a:r>
              <a:rPr i="1" lang="en">
                <a:solidFill>
                  <a:srgbClr val="FF0000"/>
                </a:solidFill>
              </a:rPr>
              <a:t>Two blocks are connected via  the adjacency relations of their re</a:t>
            </a:r>
            <a:r>
              <a:rPr i="1" lang="en">
                <a:solidFill>
                  <a:srgbClr val="FF0000"/>
                </a:solidFill>
              </a:rPr>
              <a:t>sp</a:t>
            </a:r>
            <a:r>
              <a:rPr i="1" lang="en">
                <a:solidFill>
                  <a:srgbClr val="FF0000"/>
                </a:solidFill>
              </a:rPr>
              <a:t>ective vertices in the original network</a:t>
            </a:r>
            <a:endParaRPr i="1">
              <a:solidFill>
                <a:srgbClr val="FF0000"/>
              </a:solidFill>
            </a:endParaRPr>
          </a:p>
          <a:p>
            <a:pPr indent="-317500" lvl="1" marL="914400" rtl="0" algn="l">
              <a:spcBef>
                <a:spcPts val="0"/>
              </a:spcBef>
              <a:spcAft>
                <a:spcPts val="0"/>
              </a:spcAft>
              <a:buSzPts val="1400"/>
              <a:buChar char="○"/>
            </a:pPr>
            <a:r>
              <a:rPr lang="en"/>
              <a:t>A reduced representation showing the roles and their relations is called an </a:t>
            </a:r>
            <a:r>
              <a:rPr b="1" lang="en"/>
              <a:t>image graph </a:t>
            </a:r>
            <a:endParaRPr/>
          </a:p>
          <a:p>
            <a:pPr indent="-317500" lvl="1" marL="914400" rtl="0" algn="l">
              <a:spcBef>
                <a:spcPts val="0"/>
              </a:spcBef>
              <a:spcAft>
                <a:spcPts val="0"/>
              </a:spcAft>
              <a:buSzPts val="1400"/>
              <a:buChar char="○"/>
            </a:pPr>
            <a:r>
              <a:rPr lang="en"/>
              <a:t>The </a:t>
            </a:r>
            <a:r>
              <a:rPr lang="en"/>
              <a:t>corre</a:t>
            </a:r>
            <a:r>
              <a:rPr lang="en"/>
              <a:t>sp</a:t>
            </a:r>
            <a:r>
              <a:rPr lang="en"/>
              <a:t>onding matrix is called an </a:t>
            </a:r>
            <a:r>
              <a:rPr b="1" lang="en"/>
              <a:t>image matrix </a:t>
            </a:r>
            <a:endParaRPr b="1"/>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9048" name="Google Shape;9048;p405"/>
          <p:cNvSpPr/>
          <p:nvPr/>
        </p:nvSpPr>
        <p:spPr>
          <a:xfrm>
            <a:off x="5118025" y="1845068"/>
            <a:ext cx="945000" cy="83133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a, c</a:t>
            </a:r>
            <a:endParaRPr sz="1800">
              <a:latin typeface="Oxygen"/>
              <a:ea typeface="Oxygen"/>
              <a:cs typeface="Oxygen"/>
              <a:sym typeface="Oxygen"/>
            </a:endParaRPr>
          </a:p>
        </p:txBody>
      </p:sp>
      <p:sp>
        <p:nvSpPr>
          <p:cNvPr id="9049" name="Google Shape;9049;p405"/>
          <p:cNvSpPr/>
          <p:nvPr/>
        </p:nvSpPr>
        <p:spPr>
          <a:xfrm>
            <a:off x="5118025" y="2935057"/>
            <a:ext cx="945000" cy="83133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h, j</a:t>
            </a:r>
            <a:endParaRPr sz="1800">
              <a:latin typeface="Oxygen"/>
              <a:ea typeface="Oxygen"/>
              <a:cs typeface="Oxygen"/>
              <a:sym typeface="Oxygen"/>
            </a:endParaRPr>
          </a:p>
        </p:txBody>
      </p:sp>
      <p:sp>
        <p:nvSpPr>
          <p:cNvPr id="9050" name="Google Shape;9050;p405"/>
          <p:cNvSpPr/>
          <p:nvPr/>
        </p:nvSpPr>
        <p:spPr>
          <a:xfrm>
            <a:off x="7340425" y="1845068"/>
            <a:ext cx="945000" cy="83133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b, d</a:t>
            </a:r>
            <a:endParaRPr sz="1800">
              <a:latin typeface="Oxygen"/>
              <a:ea typeface="Oxygen"/>
              <a:cs typeface="Oxygen"/>
              <a:sym typeface="Oxygen"/>
            </a:endParaRPr>
          </a:p>
        </p:txBody>
      </p:sp>
      <p:sp>
        <p:nvSpPr>
          <p:cNvPr id="9051" name="Google Shape;9051;p405"/>
          <p:cNvSpPr/>
          <p:nvPr/>
        </p:nvSpPr>
        <p:spPr>
          <a:xfrm>
            <a:off x="7340425" y="2935057"/>
            <a:ext cx="945000" cy="83133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g, i</a:t>
            </a:r>
            <a:endParaRPr sz="1800">
              <a:latin typeface="Oxygen"/>
              <a:ea typeface="Oxygen"/>
              <a:cs typeface="Oxygen"/>
              <a:sym typeface="Oxygen"/>
            </a:endParaRPr>
          </a:p>
        </p:txBody>
      </p:sp>
      <p:sp>
        <p:nvSpPr>
          <p:cNvPr id="9052" name="Google Shape;9052;p405"/>
          <p:cNvSpPr/>
          <p:nvPr/>
        </p:nvSpPr>
        <p:spPr>
          <a:xfrm>
            <a:off x="5118025" y="4025048"/>
            <a:ext cx="945000" cy="83133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e</a:t>
            </a:r>
            <a:endParaRPr sz="1800">
              <a:latin typeface="Oxygen"/>
              <a:ea typeface="Oxygen"/>
              <a:cs typeface="Oxygen"/>
              <a:sym typeface="Oxygen"/>
            </a:endParaRPr>
          </a:p>
        </p:txBody>
      </p:sp>
      <p:sp>
        <p:nvSpPr>
          <p:cNvPr id="9053" name="Google Shape;9053;p405"/>
          <p:cNvSpPr/>
          <p:nvPr/>
        </p:nvSpPr>
        <p:spPr>
          <a:xfrm>
            <a:off x="7340425" y="4025048"/>
            <a:ext cx="945000" cy="83133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f</a:t>
            </a:r>
            <a:endParaRPr sz="1800">
              <a:latin typeface="Oxygen"/>
              <a:ea typeface="Oxygen"/>
              <a:cs typeface="Oxygen"/>
              <a:sym typeface="Oxygen"/>
            </a:endParaRPr>
          </a:p>
        </p:txBody>
      </p:sp>
      <p:cxnSp>
        <p:nvCxnSpPr>
          <p:cNvPr id="9054" name="Google Shape;9054;p405"/>
          <p:cNvCxnSpPr>
            <a:stCxn id="9048" idx="6"/>
            <a:endCxn id="9050" idx="2"/>
          </p:cNvCxnSpPr>
          <p:nvPr/>
        </p:nvCxnSpPr>
        <p:spPr>
          <a:xfrm>
            <a:off x="6063025" y="226073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055" name="Google Shape;9055;p405"/>
          <p:cNvCxnSpPr>
            <a:stCxn id="9052" idx="6"/>
            <a:endCxn id="9050" idx="3"/>
          </p:cNvCxnSpPr>
          <p:nvPr/>
        </p:nvCxnSpPr>
        <p:spPr>
          <a:xfrm flipH="1" rot="10800000">
            <a:off x="6063025" y="2554613"/>
            <a:ext cx="1415700" cy="1886100"/>
          </a:xfrm>
          <a:prstGeom prst="straightConnector1">
            <a:avLst/>
          </a:prstGeom>
          <a:noFill/>
          <a:ln cap="flat" cmpd="sng" w="38100">
            <a:solidFill>
              <a:schemeClr val="dk2"/>
            </a:solidFill>
            <a:prstDash val="solid"/>
            <a:round/>
            <a:headEnd len="med" w="med" type="none"/>
            <a:tailEnd len="med" w="med" type="none"/>
          </a:ln>
        </p:spPr>
      </p:cxnSp>
      <p:cxnSp>
        <p:nvCxnSpPr>
          <p:cNvPr id="9056" name="Google Shape;9056;p405"/>
          <p:cNvCxnSpPr>
            <a:stCxn id="9052" idx="6"/>
            <a:endCxn id="9053" idx="2"/>
          </p:cNvCxnSpPr>
          <p:nvPr/>
        </p:nvCxnSpPr>
        <p:spPr>
          <a:xfrm>
            <a:off x="6063025" y="444071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057" name="Google Shape;9057;p405"/>
          <p:cNvCxnSpPr>
            <a:stCxn id="9049" idx="6"/>
            <a:endCxn id="9051" idx="2"/>
          </p:cNvCxnSpPr>
          <p:nvPr/>
        </p:nvCxnSpPr>
        <p:spPr>
          <a:xfrm>
            <a:off x="6063025" y="335072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058" name="Google Shape;9058;p405"/>
          <p:cNvCxnSpPr>
            <a:stCxn id="9048" idx="2"/>
            <a:endCxn id="9048" idx="0"/>
          </p:cNvCxnSpPr>
          <p:nvPr/>
        </p:nvCxnSpPr>
        <p:spPr>
          <a:xfrm flipH="1" rot="10800000">
            <a:off x="5118025" y="184493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059" name="Google Shape;9059;p405"/>
          <p:cNvCxnSpPr>
            <a:stCxn id="9049" idx="2"/>
            <a:endCxn id="9049" idx="0"/>
          </p:cNvCxnSpPr>
          <p:nvPr/>
        </p:nvCxnSpPr>
        <p:spPr>
          <a:xfrm flipH="1" rot="10800000">
            <a:off x="5118025" y="293492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060" name="Google Shape;9060;p405"/>
          <p:cNvCxnSpPr>
            <a:stCxn id="9053" idx="0"/>
            <a:endCxn id="9051" idx="4"/>
          </p:cNvCxnSpPr>
          <p:nvPr/>
        </p:nvCxnSpPr>
        <p:spPr>
          <a:xfrm rot="10800000">
            <a:off x="7812925" y="3766448"/>
            <a:ext cx="0" cy="2586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3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4" name="Shape 9064"/>
        <p:cNvGrpSpPr/>
        <p:nvPr/>
      </p:nvGrpSpPr>
      <p:grpSpPr>
        <a:xfrm>
          <a:off x="0" y="0"/>
          <a:ext cx="0" cy="0"/>
          <a:chOff x="0" y="0"/>
          <a:chExt cx="0" cy="0"/>
        </a:xfrm>
      </p:grpSpPr>
      <p:sp>
        <p:nvSpPr>
          <p:cNvPr id="9065" name="Google Shape;9065;p406"/>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sp>
        <p:nvSpPr>
          <p:cNvPr id="9066" name="Google Shape;9066;p406"/>
          <p:cNvSpPr txBox="1"/>
          <p:nvPr/>
        </p:nvSpPr>
        <p:spPr>
          <a:xfrm>
            <a:off x="4960525" y="114725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Image Graph</a:t>
            </a:r>
            <a:endParaRPr b="1" sz="1800">
              <a:latin typeface="Economica"/>
              <a:ea typeface="Economica"/>
              <a:cs typeface="Economica"/>
              <a:sym typeface="Economica"/>
            </a:endParaRPr>
          </a:p>
        </p:txBody>
      </p:sp>
      <p:sp>
        <p:nvSpPr>
          <p:cNvPr id="9067" name="Google Shape;9067;p406"/>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9068" name="Google Shape;9068;p406"/>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9069" name="Google Shape;9069;p406"/>
          <p:cNvSpPr/>
          <p:nvPr/>
        </p:nvSpPr>
        <p:spPr>
          <a:xfrm>
            <a:off x="5118025" y="1845068"/>
            <a:ext cx="945000" cy="83133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a, c</a:t>
            </a:r>
            <a:endParaRPr sz="1800">
              <a:latin typeface="Oxygen"/>
              <a:ea typeface="Oxygen"/>
              <a:cs typeface="Oxygen"/>
              <a:sym typeface="Oxygen"/>
            </a:endParaRPr>
          </a:p>
        </p:txBody>
      </p:sp>
      <p:sp>
        <p:nvSpPr>
          <p:cNvPr id="9070" name="Google Shape;9070;p406"/>
          <p:cNvSpPr/>
          <p:nvPr/>
        </p:nvSpPr>
        <p:spPr>
          <a:xfrm>
            <a:off x="5118025" y="2935057"/>
            <a:ext cx="945000" cy="83133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h, j</a:t>
            </a:r>
            <a:endParaRPr sz="1800">
              <a:latin typeface="Oxygen"/>
              <a:ea typeface="Oxygen"/>
              <a:cs typeface="Oxygen"/>
              <a:sym typeface="Oxygen"/>
            </a:endParaRPr>
          </a:p>
        </p:txBody>
      </p:sp>
      <p:sp>
        <p:nvSpPr>
          <p:cNvPr id="9071" name="Google Shape;9071;p406"/>
          <p:cNvSpPr/>
          <p:nvPr/>
        </p:nvSpPr>
        <p:spPr>
          <a:xfrm>
            <a:off x="7340425" y="1845068"/>
            <a:ext cx="945000" cy="83133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b, d</a:t>
            </a:r>
            <a:endParaRPr sz="1800">
              <a:latin typeface="Oxygen"/>
              <a:ea typeface="Oxygen"/>
              <a:cs typeface="Oxygen"/>
              <a:sym typeface="Oxygen"/>
            </a:endParaRPr>
          </a:p>
        </p:txBody>
      </p:sp>
      <p:sp>
        <p:nvSpPr>
          <p:cNvPr id="9072" name="Google Shape;9072;p406"/>
          <p:cNvSpPr/>
          <p:nvPr/>
        </p:nvSpPr>
        <p:spPr>
          <a:xfrm>
            <a:off x="7340425" y="2935057"/>
            <a:ext cx="945000" cy="83133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g, i</a:t>
            </a:r>
            <a:endParaRPr sz="1800">
              <a:latin typeface="Oxygen"/>
              <a:ea typeface="Oxygen"/>
              <a:cs typeface="Oxygen"/>
              <a:sym typeface="Oxygen"/>
            </a:endParaRPr>
          </a:p>
        </p:txBody>
      </p:sp>
      <p:sp>
        <p:nvSpPr>
          <p:cNvPr id="9073" name="Google Shape;9073;p406"/>
          <p:cNvSpPr/>
          <p:nvPr/>
        </p:nvSpPr>
        <p:spPr>
          <a:xfrm>
            <a:off x="5118025" y="4025048"/>
            <a:ext cx="945000" cy="83133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e</a:t>
            </a:r>
            <a:endParaRPr sz="1800">
              <a:latin typeface="Oxygen"/>
              <a:ea typeface="Oxygen"/>
              <a:cs typeface="Oxygen"/>
              <a:sym typeface="Oxygen"/>
            </a:endParaRPr>
          </a:p>
        </p:txBody>
      </p:sp>
      <p:sp>
        <p:nvSpPr>
          <p:cNvPr id="9074" name="Google Shape;9074;p406"/>
          <p:cNvSpPr/>
          <p:nvPr/>
        </p:nvSpPr>
        <p:spPr>
          <a:xfrm>
            <a:off x="7340425" y="4025048"/>
            <a:ext cx="945000" cy="83133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f</a:t>
            </a:r>
            <a:endParaRPr sz="1800">
              <a:latin typeface="Oxygen"/>
              <a:ea typeface="Oxygen"/>
              <a:cs typeface="Oxygen"/>
              <a:sym typeface="Oxygen"/>
            </a:endParaRPr>
          </a:p>
        </p:txBody>
      </p:sp>
      <p:cxnSp>
        <p:nvCxnSpPr>
          <p:cNvPr id="9075" name="Google Shape;9075;p406"/>
          <p:cNvCxnSpPr>
            <a:stCxn id="9069" idx="6"/>
            <a:endCxn id="9071" idx="2"/>
          </p:cNvCxnSpPr>
          <p:nvPr/>
        </p:nvCxnSpPr>
        <p:spPr>
          <a:xfrm>
            <a:off x="6063025" y="226073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076" name="Google Shape;9076;p406"/>
          <p:cNvCxnSpPr>
            <a:stCxn id="9073" idx="6"/>
            <a:endCxn id="9071" idx="3"/>
          </p:cNvCxnSpPr>
          <p:nvPr/>
        </p:nvCxnSpPr>
        <p:spPr>
          <a:xfrm flipH="1" rot="10800000">
            <a:off x="6063025" y="2554613"/>
            <a:ext cx="1415700" cy="1886100"/>
          </a:xfrm>
          <a:prstGeom prst="straightConnector1">
            <a:avLst/>
          </a:prstGeom>
          <a:noFill/>
          <a:ln cap="flat" cmpd="sng" w="38100">
            <a:solidFill>
              <a:schemeClr val="dk2"/>
            </a:solidFill>
            <a:prstDash val="solid"/>
            <a:round/>
            <a:headEnd len="med" w="med" type="none"/>
            <a:tailEnd len="med" w="med" type="none"/>
          </a:ln>
        </p:spPr>
      </p:cxnSp>
      <p:cxnSp>
        <p:nvCxnSpPr>
          <p:cNvPr id="9077" name="Google Shape;9077;p406"/>
          <p:cNvCxnSpPr>
            <a:stCxn id="9073" idx="6"/>
            <a:endCxn id="9074" idx="2"/>
          </p:cNvCxnSpPr>
          <p:nvPr/>
        </p:nvCxnSpPr>
        <p:spPr>
          <a:xfrm>
            <a:off x="6063025" y="444071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078" name="Google Shape;9078;p406"/>
          <p:cNvCxnSpPr>
            <a:stCxn id="9070" idx="6"/>
            <a:endCxn id="9072" idx="2"/>
          </p:cNvCxnSpPr>
          <p:nvPr/>
        </p:nvCxnSpPr>
        <p:spPr>
          <a:xfrm>
            <a:off x="6063025" y="335072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079" name="Google Shape;9079;p406"/>
          <p:cNvCxnSpPr>
            <a:stCxn id="9069" idx="2"/>
            <a:endCxn id="9069" idx="0"/>
          </p:cNvCxnSpPr>
          <p:nvPr/>
        </p:nvCxnSpPr>
        <p:spPr>
          <a:xfrm flipH="1" rot="10800000">
            <a:off x="5118025" y="184493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080" name="Google Shape;9080;p406"/>
          <p:cNvCxnSpPr>
            <a:stCxn id="9070" idx="2"/>
            <a:endCxn id="9070" idx="0"/>
          </p:cNvCxnSpPr>
          <p:nvPr/>
        </p:nvCxnSpPr>
        <p:spPr>
          <a:xfrm flipH="1" rot="10800000">
            <a:off x="5118025" y="293492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081" name="Google Shape;9081;p406"/>
          <p:cNvCxnSpPr>
            <a:stCxn id="9074" idx="0"/>
            <a:endCxn id="9072" idx="4"/>
          </p:cNvCxnSpPr>
          <p:nvPr/>
        </p:nvCxnSpPr>
        <p:spPr>
          <a:xfrm rot="10800000">
            <a:off x="7812925" y="3766448"/>
            <a:ext cx="0" cy="2586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3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5" name="Shape 9085"/>
        <p:cNvGrpSpPr/>
        <p:nvPr/>
      </p:nvGrpSpPr>
      <p:grpSpPr>
        <a:xfrm>
          <a:off x="0" y="0"/>
          <a:ext cx="0" cy="0"/>
          <a:chOff x="0" y="0"/>
          <a:chExt cx="0" cy="0"/>
        </a:xfrm>
      </p:grpSpPr>
      <p:sp>
        <p:nvSpPr>
          <p:cNvPr id="9086" name="Google Shape;9086;p407"/>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structural equivalence</a:t>
            </a:r>
            <a:endParaRPr/>
          </a:p>
        </p:txBody>
      </p:sp>
      <p:sp>
        <p:nvSpPr>
          <p:cNvPr id="9087" name="Google Shape;9087;p407"/>
          <p:cNvSpPr txBox="1"/>
          <p:nvPr/>
        </p:nvSpPr>
        <p:spPr>
          <a:xfrm>
            <a:off x="4960525" y="114725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Image Graph</a:t>
            </a:r>
            <a:endParaRPr b="1" sz="1800">
              <a:latin typeface="Economica"/>
              <a:ea typeface="Economica"/>
              <a:cs typeface="Economica"/>
              <a:sym typeface="Economica"/>
            </a:endParaRPr>
          </a:p>
        </p:txBody>
      </p:sp>
      <p:sp>
        <p:nvSpPr>
          <p:cNvPr id="9088" name="Google Shape;9088;p407"/>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9089" name="Google Shape;9089;p407"/>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9525">
                      <a:solidFill>
                        <a:srgbClr val="6AA84F"/>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9525">
                      <a:solidFill>
                        <a:srgbClr val="6AA84F"/>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9525">
                      <a:solidFill>
                        <a:srgbClr val="6AA84F"/>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 sz="1100"/>
                        <a:t>1</a:t>
                      </a:r>
                      <a:endParaRPr b="1" sz="1100"/>
                    </a:p>
                  </a:txBody>
                  <a:tcPr marT="0" marB="0" marR="0" marL="0" anchor="ctr">
                    <a:lnL cap="flat" cmpd="sng" w="9525">
                      <a:solidFill>
                        <a:srgbClr val="6AA84F"/>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9090" name="Google Shape;9090;p407"/>
          <p:cNvSpPr txBox="1"/>
          <p:nvPr/>
        </p:nvSpPr>
        <p:spPr>
          <a:xfrm>
            <a:off x="6178075" y="1581052"/>
            <a:ext cx="1047300" cy="63099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0000"/>
                </a:solidFill>
                <a:latin typeface="Open Sans"/>
                <a:ea typeface="Open Sans"/>
                <a:cs typeface="Open Sans"/>
                <a:sym typeface="Open Sans"/>
              </a:rPr>
              <a:t>Blocks {a,c} and {b,d} are connected!</a:t>
            </a:r>
            <a:endParaRPr b="1" sz="1200">
              <a:solidFill>
                <a:srgbClr val="FF0000"/>
              </a:solidFill>
              <a:latin typeface="Open Sans"/>
              <a:ea typeface="Open Sans"/>
              <a:cs typeface="Open Sans"/>
              <a:sym typeface="Open Sans"/>
            </a:endParaRPr>
          </a:p>
        </p:txBody>
      </p:sp>
      <p:sp>
        <p:nvSpPr>
          <p:cNvPr id="9091" name="Google Shape;9091;p407"/>
          <p:cNvSpPr/>
          <p:nvPr/>
        </p:nvSpPr>
        <p:spPr>
          <a:xfrm>
            <a:off x="5118025" y="1845068"/>
            <a:ext cx="945000" cy="83133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a, c</a:t>
            </a:r>
            <a:endParaRPr sz="1800">
              <a:latin typeface="Oxygen"/>
              <a:ea typeface="Oxygen"/>
              <a:cs typeface="Oxygen"/>
              <a:sym typeface="Oxygen"/>
            </a:endParaRPr>
          </a:p>
        </p:txBody>
      </p:sp>
      <p:sp>
        <p:nvSpPr>
          <p:cNvPr id="9092" name="Google Shape;9092;p407"/>
          <p:cNvSpPr/>
          <p:nvPr/>
        </p:nvSpPr>
        <p:spPr>
          <a:xfrm>
            <a:off x="5118025" y="2935057"/>
            <a:ext cx="945000" cy="83133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h, j</a:t>
            </a:r>
            <a:endParaRPr sz="1800">
              <a:latin typeface="Oxygen"/>
              <a:ea typeface="Oxygen"/>
              <a:cs typeface="Oxygen"/>
              <a:sym typeface="Oxygen"/>
            </a:endParaRPr>
          </a:p>
        </p:txBody>
      </p:sp>
      <p:sp>
        <p:nvSpPr>
          <p:cNvPr id="9093" name="Google Shape;9093;p407"/>
          <p:cNvSpPr/>
          <p:nvPr/>
        </p:nvSpPr>
        <p:spPr>
          <a:xfrm>
            <a:off x="7340425" y="1845068"/>
            <a:ext cx="945000" cy="83133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b, d</a:t>
            </a:r>
            <a:endParaRPr sz="1800">
              <a:latin typeface="Oxygen"/>
              <a:ea typeface="Oxygen"/>
              <a:cs typeface="Oxygen"/>
              <a:sym typeface="Oxygen"/>
            </a:endParaRPr>
          </a:p>
        </p:txBody>
      </p:sp>
      <p:sp>
        <p:nvSpPr>
          <p:cNvPr id="9094" name="Google Shape;9094;p407"/>
          <p:cNvSpPr/>
          <p:nvPr/>
        </p:nvSpPr>
        <p:spPr>
          <a:xfrm>
            <a:off x="7340425" y="2935057"/>
            <a:ext cx="945000" cy="83133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g, i</a:t>
            </a:r>
            <a:endParaRPr sz="1800">
              <a:latin typeface="Oxygen"/>
              <a:ea typeface="Oxygen"/>
              <a:cs typeface="Oxygen"/>
              <a:sym typeface="Oxygen"/>
            </a:endParaRPr>
          </a:p>
        </p:txBody>
      </p:sp>
      <p:sp>
        <p:nvSpPr>
          <p:cNvPr id="9095" name="Google Shape;9095;p407"/>
          <p:cNvSpPr/>
          <p:nvPr/>
        </p:nvSpPr>
        <p:spPr>
          <a:xfrm>
            <a:off x="5118025" y="4025048"/>
            <a:ext cx="945000" cy="83133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e</a:t>
            </a:r>
            <a:endParaRPr sz="1800">
              <a:latin typeface="Oxygen"/>
              <a:ea typeface="Oxygen"/>
              <a:cs typeface="Oxygen"/>
              <a:sym typeface="Oxygen"/>
            </a:endParaRPr>
          </a:p>
        </p:txBody>
      </p:sp>
      <p:sp>
        <p:nvSpPr>
          <p:cNvPr id="9096" name="Google Shape;9096;p407"/>
          <p:cNvSpPr/>
          <p:nvPr/>
        </p:nvSpPr>
        <p:spPr>
          <a:xfrm>
            <a:off x="7340425" y="4025048"/>
            <a:ext cx="945000" cy="83133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f</a:t>
            </a:r>
            <a:endParaRPr sz="1800">
              <a:latin typeface="Oxygen"/>
              <a:ea typeface="Oxygen"/>
              <a:cs typeface="Oxygen"/>
              <a:sym typeface="Oxygen"/>
            </a:endParaRPr>
          </a:p>
        </p:txBody>
      </p:sp>
      <p:cxnSp>
        <p:nvCxnSpPr>
          <p:cNvPr id="9097" name="Google Shape;9097;p407"/>
          <p:cNvCxnSpPr>
            <a:stCxn id="9091" idx="6"/>
            <a:endCxn id="9093" idx="2"/>
          </p:cNvCxnSpPr>
          <p:nvPr/>
        </p:nvCxnSpPr>
        <p:spPr>
          <a:xfrm>
            <a:off x="6063025" y="2260733"/>
            <a:ext cx="1277400" cy="0"/>
          </a:xfrm>
          <a:prstGeom prst="straightConnector1">
            <a:avLst/>
          </a:prstGeom>
          <a:noFill/>
          <a:ln cap="flat" cmpd="sng" w="76200">
            <a:solidFill>
              <a:srgbClr val="FF0000"/>
            </a:solidFill>
            <a:prstDash val="solid"/>
            <a:round/>
            <a:headEnd len="med" w="med" type="none"/>
            <a:tailEnd len="med" w="med" type="none"/>
          </a:ln>
        </p:spPr>
      </p:cxnSp>
      <p:cxnSp>
        <p:nvCxnSpPr>
          <p:cNvPr id="9098" name="Google Shape;9098;p407"/>
          <p:cNvCxnSpPr>
            <a:stCxn id="9095" idx="6"/>
            <a:endCxn id="9093" idx="3"/>
          </p:cNvCxnSpPr>
          <p:nvPr/>
        </p:nvCxnSpPr>
        <p:spPr>
          <a:xfrm flipH="1" rot="10800000">
            <a:off x="6063025" y="2554613"/>
            <a:ext cx="1415700" cy="1886100"/>
          </a:xfrm>
          <a:prstGeom prst="straightConnector1">
            <a:avLst/>
          </a:prstGeom>
          <a:noFill/>
          <a:ln cap="flat" cmpd="sng" w="38100">
            <a:solidFill>
              <a:schemeClr val="dk2"/>
            </a:solidFill>
            <a:prstDash val="solid"/>
            <a:round/>
            <a:headEnd len="med" w="med" type="none"/>
            <a:tailEnd len="med" w="med" type="none"/>
          </a:ln>
        </p:spPr>
      </p:cxnSp>
      <p:cxnSp>
        <p:nvCxnSpPr>
          <p:cNvPr id="9099" name="Google Shape;9099;p407"/>
          <p:cNvCxnSpPr>
            <a:stCxn id="9095" idx="6"/>
            <a:endCxn id="9096" idx="2"/>
          </p:cNvCxnSpPr>
          <p:nvPr/>
        </p:nvCxnSpPr>
        <p:spPr>
          <a:xfrm>
            <a:off x="6063025" y="444071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00" name="Google Shape;9100;p407"/>
          <p:cNvCxnSpPr>
            <a:stCxn id="9092" idx="6"/>
            <a:endCxn id="9094" idx="2"/>
          </p:cNvCxnSpPr>
          <p:nvPr/>
        </p:nvCxnSpPr>
        <p:spPr>
          <a:xfrm>
            <a:off x="6063025" y="335072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01" name="Google Shape;9101;p407"/>
          <p:cNvCxnSpPr>
            <a:stCxn id="9091" idx="2"/>
            <a:endCxn id="9091" idx="0"/>
          </p:cNvCxnSpPr>
          <p:nvPr/>
        </p:nvCxnSpPr>
        <p:spPr>
          <a:xfrm flipH="1" rot="10800000">
            <a:off x="5118025" y="184493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102" name="Google Shape;9102;p407"/>
          <p:cNvCxnSpPr>
            <a:stCxn id="9092" idx="2"/>
            <a:endCxn id="9092" idx="0"/>
          </p:cNvCxnSpPr>
          <p:nvPr/>
        </p:nvCxnSpPr>
        <p:spPr>
          <a:xfrm flipH="1" rot="10800000">
            <a:off x="5118025" y="293492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103" name="Google Shape;9103;p407"/>
          <p:cNvCxnSpPr>
            <a:stCxn id="9096" idx="0"/>
            <a:endCxn id="9094" idx="4"/>
          </p:cNvCxnSpPr>
          <p:nvPr/>
        </p:nvCxnSpPr>
        <p:spPr>
          <a:xfrm rot="10800000">
            <a:off x="7812925" y="3766448"/>
            <a:ext cx="0" cy="2586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3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7" name="Shape 9107"/>
        <p:cNvGrpSpPr/>
        <p:nvPr/>
      </p:nvGrpSpPr>
      <p:grpSpPr>
        <a:xfrm>
          <a:off x="0" y="0"/>
          <a:ext cx="0" cy="0"/>
          <a:chOff x="0" y="0"/>
          <a:chExt cx="0" cy="0"/>
        </a:xfrm>
      </p:grpSpPr>
      <p:sp>
        <p:nvSpPr>
          <p:cNvPr id="9108" name="Google Shape;9108;p408"/>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9109" name="Google Shape;9109;p408"/>
          <p:cNvSpPr txBox="1"/>
          <p:nvPr/>
        </p:nvSpPr>
        <p:spPr>
          <a:xfrm>
            <a:off x="4960525" y="114725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Image Graph</a:t>
            </a:r>
            <a:endParaRPr b="1" sz="1800">
              <a:latin typeface="Economica"/>
              <a:ea typeface="Economica"/>
              <a:cs typeface="Economica"/>
              <a:sym typeface="Economica"/>
            </a:endParaRPr>
          </a:p>
        </p:txBody>
      </p:sp>
      <p:sp>
        <p:nvSpPr>
          <p:cNvPr id="9110" name="Google Shape;9110;p408"/>
          <p:cNvSpPr txBox="1"/>
          <p:nvPr/>
        </p:nvSpPr>
        <p:spPr>
          <a:xfrm>
            <a:off x="311700" y="1147253"/>
            <a:ext cx="33933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Blocked Matrix</a:t>
            </a:r>
            <a:endParaRPr b="1" sz="1800">
              <a:latin typeface="Economica"/>
              <a:ea typeface="Economica"/>
              <a:cs typeface="Economica"/>
              <a:sym typeface="Economica"/>
            </a:endParaRPr>
          </a:p>
        </p:txBody>
      </p:sp>
      <p:graphicFrame>
        <p:nvGraphicFramePr>
          <p:cNvPr id="9111" name="Google Shape;9111;p408"/>
          <p:cNvGraphicFramePr/>
          <p:nvPr/>
        </p:nvGraphicFramePr>
        <p:xfrm>
          <a:off x="343225" y="1637858"/>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E69138"/>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28575">
                      <a:solidFill>
                        <a:srgbClr val="E69138"/>
                      </a:solidFill>
                      <a:prstDash val="solid"/>
                      <a:round/>
                      <a:headEnd len="sm" w="sm" type="none"/>
                      <a:tailEnd len="sm" w="sm" type="none"/>
                    </a:lnL>
                    <a:lnR cap="flat" cmpd="sng" w="952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b="1" lang="en" sz="1100"/>
                        <a:t>0</a:t>
                      </a:r>
                      <a:endParaRPr b="1" sz="1100"/>
                    </a:p>
                  </a:txBody>
                  <a:tcPr marT="0" marB="0" marR="0" marL="0" anchor="ctr">
                    <a:lnL cap="flat" cmpd="sng" w="9525">
                      <a:solidFill>
                        <a:srgbClr val="E69138"/>
                      </a:solidFill>
                      <a:prstDash val="solid"/>
                      <a:round/>
                      <a:headEnd len="sm" w="sm" type="none"/>
                      <a:tailEnd len="sm" w="sm" type="none"/>
                    </a:lnL>
                    <a:lnR cap="flat" cmpd="sng" w="28575">
                      <a:solidFill>
                        <a:srgbClr val="E69138"/>
                      </a:solidFill>
                      <a:prstDash val="solid"/>
                      <a:round/>
                      <a:headEnd len="sm" w="sm" type="none"/>
                      <a:tailEnd len="sm" w="sm" type="none"/>
                    </a:lnR>
                    <a:lnT cap="flat" cmpd="sng" w="9525">
                      <a:solidFill>
                        <a:srgbClr val="E69138"/>
                      </a:solidFill>
                      <a:prstDash val="solid"/>
                      <a:round/>
                      <a:headEnd len="sm" w="sm" type="none"/>
                      <a:tailEnd len="sm" w="sm" type="none"/>
                    </a:lnT>
                    <a:lnB cap="flat" cmpd="sng" w="28575">
                      <a:solidFill>
                        <a:srgbClr val="E69138"/>
                      </a:solidFill>
                      <a:prstDash val="solid"/>
                      <a:round/>
                      <a:headEnd len="sm" w="sm" type="none"/>
                      <a:tailEnd len="sm" w="sm" type="none"/>
                    </a:lnB>
                    <a:solidFill>
                      <a:srgbClr val="E69138"/>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E69138"/>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E69138"/>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9112" name="Google Shape;9112;p408"/>
          <p:cNvSpPr txBox="1"/>
          <p:nvPr/>
        </p:nvSpPr>
        <p:spPr>
          <a:xfrm>
            <a:off x="6132850" y="2676398"/>
            <a:ext cx="10062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Nothing here!</a:t>
            </a:r>
            <a:endParaRPr b="1">
              <a:solidFill>
                <a:srgbClr val="FF0000"/>
              </a:solidFill>
              <a:latin typeface="Open Sans"/>
              <a:ea typeface="Open Sans"/>
              <a:cs typeface="Open Sans"/>
              <a:sym typeface="Open Sans"/>
            </a:endParaRPr>
          </a:p>
        </p:txBody>
      </p:sp>
      <p:sp>
        <p:nvSpPr>
          <p:cNvPr id="9113" name="Google Shape;9113;p408"/>
          <p:cNvSpPr/>
          <p:nvPr/>
        </p:nvSpPr>
        <p:spPr>
          <a:xfrm>
            <a:off x="5118025" y="1845068"/>
            <a:ext cx="945000" cy="83133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a, c</a:t>
            </a:r>
            <a:endParaRPr sz="1800">
              <a:latin typeface="Oxygen"/>
              <a:ea typeface="Oxygen"/>
              <a:cs typeface="Oxygen"/>
              <a:sym typeface="Oxygen"/>
            </a:endParaRPr>
          </a:p>
        </p:txBody>
      </p:sp>
      <p:sp>
        <p:nvSpPr>
          <p:cNvPr id="9114" name="Google Shape;9114;p408"/>
          <p:cNvSpPr/>
          <p:nvPr/>
        </p:nvSpPr>
        <p:spPr>
          <a:xfrm>
            <a:off x="5118025" y="2935057"/>
            <a:ext cx="945000" cy="83133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h, j</a:t>
            </a:r>
            <a:endParaRPr sz="1800">
              <a:latin typeface="Oxygen"/>
              <a:ea typeface="Oxygen"/>
              <a:cs typeface="Oxygen"/>
              <a:sym typeface="Oxygen"/>
            </a:endParaRPr>
          </a:p>
        </p:txBody>
      </p:sp>
      <p:sp>
        <p:nvSpPr>
          <p:cNvPr id="9115" name="Google Shape;9115;p408"/>
          <p:cNvSpPr/>
          <p:nvPr/>
        </p:nvSpPr>
        <p:spPr>
          <a:xfrm>
            <a:off x="7340425" y="1845068"/>
            <a:ext cx="945000" cy="83133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b, d</a:t>
            </a:r>
            <a:endParaRPr sz="1800">
              <a:latin typeface="Oxygen"/>
              <a:ea typeface="Oxygen"/>
              <a:cs typeface="Oxygen"/>
              <a:sym typeface="Oxygen"/>
            </a:endParaRPr>
          </a:p>
        </p:txBody>
      </p:sp>
      <p:sp>
        <p:nvSpPr>
          <p:cNvPr id="9116" name="Google Shape;9116;p408"/>
          <p:cNvSpPr/>
          <p:nvPr/>
        </p:nvSpPr>
        <p:spPr>
          <a:xfrm>
            <a:off x="7340425" y="2935057"/>
            <a:ext cx="945000" cy="83133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g, i</a:t>
            </a:r>
            <a:endParaRPr sz="1800">
              <a:latin typeface="Oxygen"/>
              <a:ea typeface="Oxygen"/>
              <a:cs typeface="Oxygen"/>
              <a:sym typeface="Oxygen"/>
            </a:endParaRPr>
          </a:p>
        </p:txBody>
      </p:sp>
      <p:sp>
        <p:nvSpPr>
          <p:cNvPr id="9117" name="Google Shape;9117;p408"/>
          <p:cNvSpPr/>
          <p:nvPr/>
        </p:nvSpPr>
        <p:spPr>
          <a:xfrm>
            <a:off x="5118025" y="4025048"/>
            <a:ext cx="945000" cy="83133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e</a:t>
            </a:r>
            <a:endParaRPr sz="1800">
              <a:latin typeface="Oxygen"/>
              <a:ea typeface="Oxygen"/>
              <a:cs typeface="Oxygen"/>
              <a:sym typeface="Oxygen"/>
            </a:endParaRPr>
          </a:p>
        </p:txBody>
      </p:sp>
      <p:sp>
        <p:nvSpPr>
          <p:cNvPr id="9118" name="Google Shape;9118;p408"/>
          <p:cNvSpPr/>
          <p:nvPr/>
        </p:nvSpPr>
        <p:spPr>
          <a:xfrm>
            <a:off x="7340425" y="4025048"/>
            <a:ext cx="945000" cy="83133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f</a:t>
            </a:r>
            <a:endParaRPr sz="1800">
              <a:latin typeface="Oxygen"/>
              <a:ea typeface="Oxygen"/>
              <a:cs typeface="Oxygen"/>
              <a:sym typeface="Oxygen"/>
            </a:endParaRPr>
          </a:p>
        </p:txBody>
      </p:sp>
      <p:cxnSp>
        <p:nvCxnSpPr>
          <p:cNvPr id="9119" name="Google Shape;9119;p408"/>
          <p:cNvCxnSpPr>
            <a:stCxn id="9113" idx="6"/>
            <a:endCxn id="9115" idx="2"/>
          </p:cNvCxnSpPr>
          <p:nvPr/>
        </p:nvCxnSpPr>
        <p:spPr>
          <a:xfrm>
            <a:off x="6063025" y="226073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20" name="Google Shape;9120;p408"/>
          <p:cNvCxnSpPr>
            <a:stCxn id="9117" idx="6"/>
            <a:endCxn id="9115" idx="3"/>
          </p:cNvCxnSpPr>
          <p:nvPr/>
        </p:nvCxnSpPr>
        <p:spPr>
          <a:xfrm flipH="1" rot="10800000">
            <a:off x="6063025" y="2554613"/>
            <a:ext cx="1415700" cy="1886100"/>
          </a:xfrm>
          <a:prstGeom prst="straightConnector1">
            <a:avLst/>
          </a:prstGeom>
          <a:noFill/>
          <a:ln cap="flat" cmpd="sng" w="38100">
            <a:solidFill>
              <a:schemeClr val="dk2"/>
            </a:solidFill>
            <a:prstDash val="solid"/>
            <a:round/>
            <a:headEnd len="med" w="med" type="none"/>
            <a:tailEnd len="med" w="med" type="none"/>
          </a:ln>
        </p:spPr>
      </p:cxnSp>
      <p:cxnSp>
        <p:nvCxnSpPr>
          <p:cNvPr id="9121" name="Google Shape;9121;p408"/>
          <p:cNvCxnSpPr>
            <a:stCxn id="9117" idx="6"/>
            <a:endCxn id="9118" idx="2"/>
          </p:cNvCxnSpPr>
          <p:nvPr/>
        </p:nvCxnSpPr>
        <p:spPr>
          <a:xfrm>
            <a:off x="6063025" y="444071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22" name="Google Shape;9122;p408"/>
          <p:cNvCxnSpPr>
            <a:stCxn id="9114" idx="6"/>
            <a:endCxn id="9116" idx="2"/>
          </p:cNvCxnSpPr>
          <p:nvPr/>
        </p:nvCxnSpPr>
        <p:spPr>
          <a:xfrm>
            <a:off x="6063025" y="335072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23" name="Google Shape;9123;p408"/>
          <p:cNvCxnSpPr>
            <a:stCxn id="9113" idx="2"/>
            <a:endCxn id="9113" idx="0"/>
          </p:cNvCxnSpPr>
          <p:nvPr/>
        </p:nvCxnSpPr>
        <p:spPr>
          <a:xfrm flipH="1" rot="10800000">
            <a:off x="5118025" y="184493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124" name="Google Shape;9124;p408"/>
          <p:cNvCxnSpPr>
            <a:stCxn id="9114" idx="2"/>
            <a:endCxn id="9114" idx="0"/>
          </p:cNvCxnSpPr>
          <p:nvPr/>
        </p:nvCxnSpPr>
        <p:spPr>
          <a:xfrm flipH="1" rot="10800000">
            <a:off x="5118025" y="293492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125" name="Google Shape;9125;p408"/>
          <p:cNvCxnSpPr>
            <a:stCxn id="9118" idx="0"/>
            <a:endCxn id="9116" idx="4"/>
          </p:cNvCxnSpPr>
          <p:nvPr/>
        </p:nvCxnSpPr>
        <p:spPr>
          <a:xfrm rot="10800000">
            <a:off x="7812925" y="3766448"/>
            <a:ext cx="0" cy="2586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3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9" name="Shape 9129"/>
        <p:cNvGrpSpPr/>
        <p:nvPr/>
      </p:nvGrpSpPr>
      <p:grpSpPr>
        <a:xfrm>
          <a:off x="0" y="0"/>
          <a:ext cx="0" cy="0"/>
          <a:chOff x="0" y="0"/>
          <a:chExt cx="0" cy="0"/>
        </a:xfrm>
      </p:grpSpPr>
      <p:sp>
        <p:nvSpPr>
          <p:cNvPr id="9130" name="Google Shape;9130;p409"/>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9131" name="Google Shape;9131;p409"/>
          <p:cNvSpPr txBox="1"/>
          <p:nvPr/>
        </p:nvSpPr>
        <p:spPr>
          <a:xfrm>
            <a:off x="4960525" y="114725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Image Graph</a:t>
            </a:r>
            <a:endParaRPr b="1" sz="1800">
              <a:latin typeface="Economica"/>
              <a:ea typeface="Economica"/>
              <a:cs typeface="Economica"/>
              <a:sym typeface="Economica"/>
            </a:endParaRPr>
          </a:p>
        </p:txBody>
      </p:sp>
      <p:sp>
        <p:nvSpPr>
          <p:cNvPr id="9132" name="Google Shape;9132;p409"/>
          <p:cNvSpPr txBox="1"/>
          <p:nvPr/>
        </p:nvSpPr>
        <p:spPr>
          <a:xfrm>
            <a:off x="6132850" y="2676398"/>
            <a:ext cx="1006200" cy="42444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Nothing here!</a:t>
            </a:r>
            <a:endParaRPr b="1">
              <a:solidFill>
                <a:srgbClr val="FF0000"/>
              </a:solidFill>
              <a:latin typeface="Open Sans"/>
              <a:ea typeface="Open Sans"/>
              <a:cs typeface="Open Sans"/>
              <a:sym typeface="Open Sans"/>
            </a:endParaRPr>
          </a:p>
        </p:txBody>
      </p:sp>
      <p:sp>
        <p:nvSpPr>
          <p:cNvPr id="9133" name="Google Shape;9133;p409"/>
          <p:cNvSpPr/>
          <p:nvPr/>
        </p:nvSpPr>
        <p:spPr>
          <a:xfrm>
            <a:off x="5118025" y="1845068"/>
            <a:ext cx="945000" cy="83133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a, c</a:t>
            </a:r>
            <a:endParaRPr sz="1800">
              <a:latin typeface="Oxygen"/>
              <a:ea typeface="Oxygen"/>
              <a:cs typeface="Oxygen"/>
              <a:sym typeface="Oxygen"/>
            </a:endParaRPr>
          </a:p>
        </p:txBody>
      </p:sp>
      <p:sp>
        <p:nvSpPr>
          <p:cNvPr id="9134" name="Google Shape;9134;p409"/>
          <p:cNvSpPr/>
          <p:nvPr/>
        </p:nvSpPr>
        <p:spPr>
          <a:xfrm>
            <a:off x="5118025" y="2935057"/>
            <a:ext cx="945000" cy="83133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h, j</a:t>
            </a:r>
            <a:endParaRPr sz="1800">
              <a:latin typeface="Oxygen"/>
              <a:ea typeface="Oxygen"/>
              <a:cs typeface="Oxygen"/>
              <a:sym typeface="Oxygen"/>
            </a:endParaRPr>
          </a:p>
        </p:txBody>
      </p:sp>
      <p:sp>
        <p:nvSpPr>
          <p:cNvPr id="9135" name="Google Shape;9135;p409"/>
          <p:cNvSpPr/>
          <p:nvPr/>
        </p:nvSpPr>
        <p:spPr>
          <a:xfrm>
            <a:off x="7340425" y="1845068"/>
            <a:ext cx="945000" cy="83133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b, d</a:t>
            </a:r>
            <a:endParaRPr sz="1800">
              <a:latin typeface="Oxygen"/>
              <a:ea typeface="Oxygen"/>
              <a:cs typeface="Oxygen"/>
              <a:sym typeface="Oxygen"/>
            </a:endParaRPr>
          </a:p>
        </p:txBody>
      </p:sp>
      <p:sp>
        <p:nvSpPr>
          <p:cNvPr id="9136" name="Google Shape;9136;p409"/>
          <p:cNvSpPr/>
          <p:nvPr/>
        </p:nvSpPr>
        <p:spPr>
          <a:xfrm>
            <a:off x="7340425" y="2935057"/>
            <a:ext cx="945000" cy="83133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g, i</a:t>
            </a:r>
            <a:endParaRPr sz="1800">
              <a:latin typeface="Oxygen"/>
              <a:ea typeface="Oxygen"/>
              <a:cs typeface="Oxygen"/>
              <a:sym typeface="Oxygen"/>
            </a:endParaRPr>
          </a:p>
        </p:txBody>
      </p:sp>
      <p:sp>
        <p:nvSpPr>
          <p:cNvPr id="9137" name="Google Shape;9137;p409"/>
          <p:cNvSpPr/>
          <p:nvPr/>
        </p:nvSpPr>
        <p:spPr>
          <a:xfrm>
            <a:off x="5118025" y="4025048"/>
            <a:ext cx="945000" cy="83133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e</a:t>
            </a:r>
            <a:endParaRPr sz="1800">
              <a:latin typeface="Oxygen"/>
              <a:ea typeface="Oxygen"/>
              <a:cs typeface="Oxygen"/>
              <a:sym typeface="Oxygen"/>
            </a:endParaRPr>
          </a:p>
        </p:txBody>
      </p:sp>
      <p:sp>
        <p:nvSpPr>
          <p:cNvPr id="9138" name="Google Shape;9138;p409"/>
          <p:cNvSpPr/>
          <p:nvPr/>
        </p:nvSpPr>
        <p:spPr>
          <a:xfrm>
            <a:off x="7340425" y="4025048"/>
            <a:ext cx="945000" cy="83133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f</a:t>
            </a:r>
            <a:endParaRPr sz="1800">
              <a:latin typeface="Oxygen"/>
              <a:ea typeface="Oxygen"/>
              <a:cs typeface="Oxygen"/>
              <a:sym typeface="Oxygen"/>
            </a:endParaRPr>
          </a:p>
        </p:txBody>
      </p:sp>
      <p:cxnSp>
        <p:nvCxnSpPr>
          <p:cNvPr id="9139" name="Google Shape;9139;p409"/>
          <p:cNvCxnSpPr>
            <a:stCxn id="9133" idx="6"/>
            <a:endCxn id="9135" idx="2"/>
          </p:cNvCxnSpPr>
          <p:nvPr/>
        </p:nvCxnSpPr>
        <p:spPr>
          <a:xfrm>
            <a:off x="6063025" y="226073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40" name="Google Shape;9140;p409"/>
          <p:cNvCxnSpPr>
            <a:stCxn id="9137" idx="6"/>
            <a:endCxn id="9135" idx="3"/>
          </p:cNvCxnSpPr>
          <p:nvPr/>
        </p:nvCxnSpPr>
        <p:spPr>
          <a:xfrm flipH="1" rot="10800000">
            <a:off x="6063025" y="2554613"/>
            <a:ext cx="1415700" cy="1886100"/>
          </a:xfrm>
          <a:prstGeom prst="straightConnector1">
            <a:avLst/>
          </a:prstGeom>
          <a:noFill/>
          <a:ln cap="flat" cmpd="sng" w="38100">
            <a:solidFill>
              <a:schemeClr val="dk2"/>
            </a:solidFill>
            <a:prstDash val="solid"/>
            <a:round/>
            <a:headEnd len="med" w="med" type="none"/>
            <a:tailEnd len="med" w="med" type="none"/>
          </a:ln>
        </p:spPr>
      </p:cxnSp>
      <p:cxnSp>
        <p:nvCxnSpPr>
          <p:cNvPr id="9141" name="Google Shape;9141;p409"/>
          <p:cNvCxnSpPr>
            <a:stCxn id="9137" idx="6"/>
            <a:endCxn id="9138" idx="2"/>
          </p:cNvCxnSpPr>
          <p:nvPr/>
        </p:nvCxnSpPr>
        <p:spPr>
          <a:xfrm>
            <a:off x="6063025" y="444071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42" name="Google Shape;9142;p409"/>
          <p:cNvCxnSpPr>
            <a:stCxn id="9134" idx="6"/>
            <a:endCxn id="9136" idx="2"/>
          </p:cNvCxnSpPr>
          <p:nvPr/>
        </p:nvCxnSpPr>
        <p:spPr>
          <a:xfrm>
            <a:off x="6063025" y="3350723"/>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143" name="Google Shape;9143;p409"/>
          <p:cNvCxnSpPr>
            <a:stCxn id="9133" idx="2"/>
            <a:endCxn id="9133" idx="0"/>
          </p:cNvCxnSpPr>
          <p:nvPr/>
        </p:nvCxnSpPr>
        <p:spPr>
          <a:xfrm flipH="1" rot="10800000">
            <a:off x="5118025" y="184493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144" name="Google Shape;9144;p409"/>
          <p:cNvCxnSpPr>
            <a:stCxn id="9134" idx="2"/>
            <a:endCxn id="9134" idx="0"/>
          </p:cNvCxnSpPr>
          <p:nvPr/>
        </p:nvCxnSpPr>
        <p:spPr>
          <a:xfrm flipH="1" rot="10800000">
            <a:off x="5118025" y="2934923"/>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145" name="Google Shape;9145;p409"/>
          <p:cNvCxnSpPr>
            <a:stCxn id="9138" idx="0"/>
            <a:endCxn id="9136" idx="4"/>
          </p:cNvCxnSpPr>
          <p:nvPr/>
        </p:nvCxnSpPr>
        <p:spPr>
          <a:xfrm rot="10800000">
            <a:off x="7812925" y="3766448"/>
            <a:ext cx="0" cy="258600"/>
          </a:xfrm>
          <a:prstGeom prst="straightConnector1">
            <a:avLst/>
          </a:prstGeom>
          <a:noFill/>
          <a:ln cap="flat" cmpd="sng" w="38100">
            <a:solidFill>
              <a:schemeClr val="dk2"/>
            </a:solidFill>
            <a:prstDash val="solid"/>
            <a:round/>
            <a:headEnd len="med" w="med" type="none"/>
            <a:tailEnd len="med" w="med" type="none"/>
          </a:ln>
        </p:spPr>
      </p:cxnSp>
      <p:sp>
        <p:nvSpPr>
          <p:cNvPr id="9146" name="Google Shape;9146;p409"/>
          <p:cNvSpPr txBox="1"/>
          <p:nvPr/>
        </p:nvSpPr>
        <p:spPr>
          <a:xfrm>
            <a:off x="748100" y="1664246"/>
            <a:ext cx="33933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Image Matrix</a:t>
            </a:r>
            <a:endParaRPr b="1" sz="1800">
              <a:latin typeface="Economica"/>
              <a:ea typeface="Economica"/>
              <a:cs typeface="Economica"/>
              <a:sym typeface="Economica"/>
            </a:endParaRPr>
          </a:p>
        </p:txBody>
      </p:sp>
      <p:graphicFrame>
        <p:nvGraphicFramePr>
          <p:cNvPr id="9147" name="Google Shape;9147;p409"/>
          <p:cNvGraphicFramePr/>
          <p:nvPr/>
        </p:nvGraphicFramePr>
        <p:xfrm>
          <a:off x="483350" y="2148255"/>
          <a:ext cx="3000000" cy="3000000"/>
        </p:xfrm>
        <a:graphic>
          <a:graphicData uri="http://schemas.openxmlformats.org/drawingml/2006/table">
            <a:tbl>
              <a:tblPr>
                <a:noFill/>
                <a:tableStyleId>{7DE59CC5-BFA2-4C44-9D40-4E4266A2D9C1}</a:tableStyleId>
              </a:tblPr>
              <a:tblGrid>
                <a:gridCol w="560400"/>
                <a:gridCol w="560400"/>
                <a:gridCol w="560400"/>
                <a:gridCol w="560400"/>
                <a:gridCol w="560400"/>
                <a:gridCol w="560400"/>
                <a:gridCol w="560400"/>
              </a:tblGrid>
              <a:tr h="322550">
                <a:tc>
                  <a:txBody>
                    <a:bodyPr/>
                    <a:lstStyle/>
                    <a:p>
                      <a:pPr indent="0" lvl="0" marL="0" rtl="0" algn="l">
                        <a:spcBef>
                          <a:spcPts val="0"/>
                        </a:spcBef>
                        <a:spcAft>
                          <a:spcPts val="0"/>
                        </a:spcAft>
                        <a:buNone/>
                      </a:pPr>
                      <a:r>
                        <a:t/>
                      </a:r>
                      <a:endParaRPr sz="1300"/>
                    </a:p>
                  </a:txBody>
                  <a:tcPr marT="0" marB="0" marR="0" marL="0"/>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a, c</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b, d</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h, j</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g, i</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e</a:t>
                      </a:r>
                      <a:endParaRPr b="1" sz="1600">
                        <a:solidFill>
                          <a:schemeClr val="dk1"/>
                        </a:solidFill>
                        <a:latin typeface="Oxygen"/>
                        <a:ea typeface="Oxygen"/>
                        <a:cs typeface="Oxygen"/>
                        <a:sym typeface="Oxygen"/>
                      </a:endParaRPr>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f</a:t>
                      </a:r>
                      <a:endParaRPr b="1" sz="1600">
                        <a:solidFill>
                          <a:schemeClr val="dk1"/>
                        </a:solidFill>
                        <a:latin typeface="Oxygen"/>
                        <a:ea typeface="Oxygen"/>
                        <a:cs typeface="Oxygen"/>
                        <a:sym typeface="Oxygen"/>
                      </a:endParaRPr>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a, c</a:t>
                      </a:r>
                      <a:endParaRPr b="1" sz="1300"/>
                    </a:p>
                  </a:txBody>
                  <a:tcPr marT="0" marB="0" marR="0" marL="91425"/>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b, d</a:t>
                      </a:r>
                      <a:endParaRPr b="1" sz="1300"/>
                    </a:p>
                  </a:txBody>
                  <a:tcPr marT="0" marB="0" marR="0" marL="91425"/>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h, j</a:t>
                      </a:r>
                      <a:endParaRPr b="1" sz="1300"/>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g, i</a:t>
                      </a:r>
                      <a:endParaRPr b="1" sz="1600">
                        <a:solidFill>
                          <a:schemeClr val="dk1"/>
                        </a:solidFill>
                        <a:latin typeface="Oxygen"/>
                        <a:ea typeface="Oxygen"/>
                        <a:cs typeface="Oxygen"/>
                        <a:sym typeface="Oxygen"/>
                      </a:endParaRPr>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e</a:t>
                      </a:r>
                      <a:endParaRPr b="1" sz="1600">
                        <a:solidFill>
                          <a:schemeClr val="dk1"/>
                        </a:solidFill>
                        <a:latin typeface="Oxygen"/>
                        <a:ea typeface="Oxygen"/>
                        <a:cs typeface="Oxygen"/>
                        <a:sym typeface="Oxygen"/>
                      </a:endParaRPr>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f</a:t>
                      </a:r>
                      <a:endParaRPr b="1" sz="1600">
                        <a:solidFill>
                          <a:schemeClr val="dk1"/>
                        </a:solidFill>
                        <a:latin typeface="Oxygen"/>
                        <a:ea typeface="Oxygen"/>
                        <a:cs typeface="Oxygen"/>
                        <a:sym typeface="Oxygen"/>
                      </a:endParaRPr>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bl>
          </a:graphicData>
        </a:graphic>
      </p:graphicFrame>
    </p:spTree>
  </p:cSld>
  <p:clrMapOvr>
    <a:masterClrMapping/>
  </p:clrMapOvr>
</p:sld>
</file>

<file path=ppt/slides/slide3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1" name="Shape 9151"/>
        <p:cNvGrpSpPr/>
        <p:nvPr/>
      </p:nvGrpSpPr>
      <p:grpSpPr>
        <a:xfrm>
          <a:off x="0" y="0"/>
          <a:ext cx="0" cy="0"/>
          <a:chOff x="0" y="0"/>
          <a:chExt cx="0" cy="0"/>
        </a:xfrm>
      </p:grpSpPr>
      <p:sp>
        <p:nvSpPr>
          <p:cNvPr id="9152" name="Google Shape;9152;p410"/>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Structural Equivalence </a:t>
            </a:r>
            <a:endParaRPr/>
          </a:p>
        </p:txBody>
      </p:sp>
      <p:sp>
        <p:nvSpPr>
          <p:cNvPr id="9153" name="Google Shape;9153;p410"/>
          <p:cNvSpPr txBox="1"/>
          <p:nvPr/>
        </p:nvSpPr>
        <p:spPr>
          <a:xfrm>
            <a:off x="4365900" y="4067190"/>
            <a:ext cx="4466400" cy="91665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Open Sans"/>
              <a:buChar char="●"/>
            </a:pPr>
            <a:r>
              <a:rPr lang="en">
                <a:latin typeface="Economica"/>
                <a:ea typeface="Economica"/>
                <a:cs typeface="Economica"/>
                <a:sym typeface="Economica"/>
              </a:rPr>
              <a:t>When all (or most) of the links within or between groups are present these are said to be </a:t>
            </a:r>
            <a:r>
              <a:rPr b="1" lang="en">
                <a:latin typeface="Economica"/>
                <a:ea typeface="Economica"/>
                <a:cs typeface="Economica"/>
                <a:sym typeface="Economica"/>
              </a:rPr>
              <a:t>complete</a:t>
            </a:r>
            <a:r>
              <a:rPr lang="en">
                <a:latin typeface="Economica"/>
                <a:ea typeface="Economica"/>
                <a:cs typeface="Economica"/>
                <a:sym typeface="Economica"/>
              </a:rPr>
              <a:t> block relations</a:t>
            </a:r>
            <a:endParaRPr>
              <a:latin typeface="Economica"/>
              <a:ea typeface="Economica"/>
              <a:cs typeface="Economica"/>
              <a:sym typeface="Economica"/>
            </a:endParaRPr>
          </a:p>
          <a:p>
            <a:pPr indent="-317500" lvl="0" marL="457200" rtl="0" algn="l">
              <a:spcBef>
                <a:spcPts val="0"/>
              </a:spcBef>
              <a:spcAft>
                <a:spcPts val="0"/>
              </a:spcAft>
              <a:buSzPts val="1400"/>
              <a:buFont typeface="Open Sans"/>
              <a:buChar char="●"/>
            </a:pPr>
            <a:r>
              <a:rPr lang="en">
                <a:latin typeface="Economica"/>
                <a:ea typeface="Economica"/>
                <a:cs typeface="Economica"/>
                <a:sym typeface="Economica"/>
              </a:rPr>
              <a:t>When all (or most) of the links within or between blocks are absent these are said to be </a:t>
            </a:r>
            <a:r>
              <a:rPr b="1" lang="en">
                <a:latin typeface="Economica"/>
                <a:ea typeface="Economica"/>
                <a:cs typeface="Economica"/>
                <a:sym typeface="Economica"/>
              </a:rPr>
              <a:t>null</a:t>
            </a:r>
            <a:r>
              <a:rPr lang="en">
                <a:latin typeface="Economica"/>
                <a:ea typeface="Economica"/>
                <a:cs typeface="Economica"/>
                <a:sym typeface="Economica"/>
              </a:rPr>
              <a:t> block relations</a:t>
            </a:r>
            <a:endParaRPr>
              <a:latin typeface="Economica"/>
              <a:ea typeface="Economica"/>
              <a:cs typeface="Economica"/>
              <a:sym typeface="Economica"/>
            </a:endParaRPr>
          </a:p>
        </p:txBody>
      </p:sp>
      <p:sp>
        <p:nvSpPr>
          <p:cNvPr id="9154" name="Google Shape;9154;p410"/>
          <p:cNvSpPr txBox="1"/>
          <p:nvPr>
            <p:ph idx="4294967295" type="body"/>
          </p:nvPr>
        </p:nvSpPr>
        <p:spPr>
          <a:xfrm>
            <a:off x="311700" y="1225210"/>
            <a:ext cx="4121700" cy="349407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Once vertices are partitioned into positions or blocks (disjoint subsets of nodes)  we may be interested in the </a:t>
            </a:r>
            <a:r>
              <a:rPr b="1" lang="en"/>
              <a:t>connections among the blocks</a:t>
            </a:r>
            <a:endParaRPr b="1"/>
          </a:p>
          <a:p>
            <a:pPr indent="-317500" lvl="1" marL="914400" rtl="0" algn="l">
              <a:spcBef>
                <a:spcPts val="0"/>
              </a:spcBef>
              <a:spcAft>
                <a:spcPts val="0"/>
              </a:spcAft>
              <a:buClr>
                <a:srgbClr val="FF0000"/>
              </a:buClr>
              <a:buSzPts val="1400"/>
              <a:buChar char="○"/>
            </a:pPr>
            <a:r>
              <a:rPr i="1" lang="en">
                <a:solidFill>
                  <a:srgbClr val="FF0000"/>
                </a:solidFill>
              </a:rPr>
              <a:t>Two blocks are connected via  the adjacency relations of their re</a:t>
            </a:r>
            <a:r>
              <a:rPr i="1" lang="en">
                <a:solidFill>
                  <a:srgbClr val="FF0000"/>
                </a:solidFill>
              </a:rPr>
              <a:t>sp</a:t>
            </a:r>
            <a:r>
              <a:rPr i="1" lang="en">
                <a:solidFill>
                  <a:srgbClr val="FF0000"/>
                </a:solidFill>
              </a:rPr>
              <a:t>ective vertices in the original network</a:t>
            </a:r>
            <a:endParaRPr i="1">
              <a:solidFill>
                <a:srgbClr val="FF0000"/>
              </a:solidFill>
            </a:endParaRPr>
          </a:p>
          <a:p>
            <a:pPr indent="-317500" lvl="1" marL="914400" rtl="0" algn="l">
              <a:spcBef>
                <a:spcPts val="0"/>
              </a:spcBef>
              <a:spcAft>
                <a:spcPts val="0"/>
              </a:spcAft>
              <a:buSzPts val="1400"/>
              <a:buChar char="○"/>
            </a:pPr>
            <a:r>
              <a:rPr lang="en"/>
              <a:t>A reduced representation showing the roles and their relations is called an </a:t>
            </a:r>
            <a:r>
              <a:rPr b="1" lang="en"/>
              <a:t>image graph </a:t>
            </a:r>
            <a:endParaRPr/>
          </a:p>
          <a:p>
            <a:pPr indent="-317500" lvl="1" marL="914400" rtl="0" algn="l">
              <a:spcBef>
                <a:spcPts val="0"/>
              </a:spcBef>
              <a:spcAft>
                <a:spcPts val="0"/>
              </a:spcAft>
              <a:buSzPts val="1400"/>
              <a:buChar char="○"/>
            </a:pPr>
            <a:r>
              <a:rPr lang="en"/>
              <a:t>The corre</a:t>
            </a:r>
            <a:r>
              <a:rPr lang="en"/>
              <a:t>sp</a:t>
            </a:r>
            <a:r>
              <a:rPr lang="en"/>
              <a:t>onding matrix is called an </a:t>
            </a:r>
            <a:r>
              <a:rPr b="1" lang="en"/>
              <a:t>image matrix </a:t>
            </a:r>
            <a:endParaRPr b="1"/>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9155" name="Google Shape;9155;p410"/>
          <p:cNvSpPr txBox="1"/>
          <p:nvPr/>
        </p:nvSpPr>
        <p:spPr>
          <a:xfrm>
            <a:off x="5174250" y="1236251"/>
            <a:ext cx="33933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Structural Equivalence Image Matrix</a:t>
            </a:r>
            <a:endParaRPr b="1" sz="1800">
              <a:latin typeface="Economica"/>
              <a:ea typeface="Economica"/>
              <a:cs typeface="Economica"/>
              <a:sym typeface="Economica"/>
            </a:endParaRPr>
          </a:p>
        </p:txBody>
      </p:sp>
      <p:graphicFrame>
        <p:nvGraphicFramePr>
          <p:cNvPr id="9156" name="Google Shape;9156;p410"/>
          <p:cNvGraphicFramePr/>
          <p:nvPr/>
        </p:nvGraphicFramePr>
        <p:xfrm>
          <a:off x="4909500" y="1720260"/>
          <a:ext cx="3000000" cy="3000000"/>
        </p:xfrm>
        <a:graphic>
          <a:graphicData uri="http://schemas.openxmlformats.org/drawingml/2006/table">
            <a:tbl>
              <a:tblPr>
                <a:noFill/>
                <a:tableStyleId>{7DE59CC5-BFA2-4C44-9D40-4E4266A2D9C1}</a:tableStyleId>
              </a:tblPr>
              <a:tblGrid>
                <a:gridCol w="560400"/>
                <a:gridCol w="560400"/>
                <a:gridCol w="560400"/>
                <a:gridCol w="560400"/>
                <a:gridCol w="560400"/>
                <a:gridCol w="560400"/>
                <a:gridCol w="560400"/>
              </a:tblGrid>
              <a:tr h="322550">
                <a:tc>
                  <a:txBody>
                    <a:bodyPr/>
                    <a:lstStyle/>
                    <a:p>
                      <a:pPr indent="0" lvl="0" marL="0" rtl="0" algn="l">
                        <a:spcBef>
                          <a:spcPts val="0"/>
                        </a:spcBef>
                        <a:spcAft>
                          <a:spcPts val="0"/>
                        </a:spcAft>
                        <a:buNone/>
                      </a:pPr>
                      <a:r>
                        <a:t/>
                      </a:r>
                      <a:endParaRPr sz="1300"/>
                    </a:p>
                  </a:txBody>
                  <a:tcPr marT="0" marB="0" marR="0" marL="0"/>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a, c</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b, d</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h, j</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g, i</a:t>
                      </a:r>
                      <a:endParaRPr b="1" sz="1300"/>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e</a:t>
                      </a:r>
                      <a:endParaRPr b="1" sz="1600">
                        <a:solidFill>
                          <a:schemeClr val="dk1"/>
                        </a:solidFill>
                        <a:latin typeface="Oxygen"/>
                        <a:ea typeface="Oxygen"/>
                        <a:cs typeface="Oxygen"/>
                        <a:sym typeface="Oxygen"/>
                      </a:endParaRPr>
                    </a:p>
                  </a:txBody>
                  <a:tcPr marT="0" marB="0" marR="0" marL="0" anchor="ct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f</a:t>
                      </a:r>
                      <a:endParaRPr b="1" sz="1600">
                        <a:solidFill>
                          <a:schemeClr val="dk1"/>
                        </a:solidFill>
                        <a:latin typeface="Oxygen"/>
                        <a:ea typeface="Oxygen"/>
                        <a:cs typeface="Oxygen"/>
                        <a:sym typeface="Oxygen"/>
                      </a:endParaRPr>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a, c</a:t>
                      </a:r>
                      <a:endParaRPr b="1" sz="1300"/>
                    </a:p>
                  </a:txBody>
                  <a:tcPr marT="0" marB="0" marR="0" marL="91425"/>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b, d</a:t>
                      </a:r>
                      <a:endParaRPr b="1" sz="1300"/>
                    </a:p>
                  </a:txBody>
                  <a:tcPr marT="0" marB="0" marR="0" marL="91425"/>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h, j</a:t>
                      </a:r>
                      <a:endParaRPr b="1" sz="1300"/>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g, i</a:t>
                      </a:r>
                      <a:endParaRPr b="1" sz="1600">
                        <a:solidFill>
                          <a:schemeClr val="dk1"/>
                        </a:solidFill>
                        <a:latin typeface="Oxygen"/>
                        <a:ea typeface="Oxygen"/>
                        <a:cs typeface="Oxygen"/>
                        <a:sym typeface="Oxygen"/>
                      </a:endParaRPr>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e</a:t>
                      </a:r>
                      <a:endParaRPr b="1" sz="1600">
                        <a:solidFill>
                          <a:schemeClr val="dk1"/>
                        </a:solidFill>
                        <a:latin typeface="Oxygen"/>
                        <a:ea typeface="Oxygen"/>
                        <a:cs typeface="Oxygen"/>
                        <a:sym typeface="Oxygen"/>
                      </a:endParaRPr>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r>
              <a:tr h="322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f</a:t>
                      </a:r>
                      <a:endParaRPr b="1" sz="1600">
                        <a:solidFill>
                          <a:schemeClr val="dk1"/>
                        </a:solidFill>
                        <a:latin typeface="Oxygen"/>
                        <a:ea typeface="Oxygen"/>
                        <a:cs typeface="Oxygen"/>
                        <a:sym typeface="Oxygen"/>
                      </a:endParaRPr>
                    </a:p>
                  </a:txBody>
                  <a:tcPr marT="0" marB="0" marR="0" marL="91425"/>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1</a:t>
                      </a:r>
                      <a:endParaRPr sz="1300"/>
                    </a:p>
                  </a:txBody>
                  <a:tcPr marT="0" marB="0" marR="0" marL="0" anchor="ctr"/>
                </a:tc>
                <a:tc>
                  <a:txBody>
                    <a:bodyPr/>
                    <a:lstStyle/>
                    <a:p>
                      <a:pPr indent="0" lvl="0" marL="0" rtl="0" algn="ctr">
                        <a:spcBef>
                          <a:spcPts val="0"/>
                        </a:spcBef>
                        <a:spcAft>
                          <a:spcPts val="0"/>
                        </a:spcAft>
                        <a:buNone/>
                      </a:pPr>
                      <a:r>
                        <a:rPr lang="en" sz="1300"/>
                        <a:t>0</a:t>
                      </a:r>
                      <a:endParaRPr sz="1300"/>
                    </a:p>
                  </a:txBody>
                  <a:tcPr marT="0" marB="0" marR="0" marL="0" anchor="ctr"/>
                </a:tc>
              </a:tr>
            </a:tbl>
          </a:graphicData>
        </a:graphic>
      </p:graphicFrame>
    </p:spTree>
  </p:cSld>
  <p:clrMapOvr>
    <a:masterClrMapping/>
  </p:clrMapOvr>
</p:sld>
</file>

<file path=ppt/slides/slide3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0" name="Shape 9160"/>
        <p:cNvGrpSpPr/>
        <p:nvPr/>
      </p:nvGrpSpPr>
      <p:grpSpPr>
        <a:xfrm>
          <a:off x="0" y="0"/>
          <a:ext cx="0" cy="0"/>
          <a:chOff x="0" y="0"/>
          <a:chExt cx="0" cy="0"/>
        </a:xfrm>
      </p:grpSpPr>
      <p:sp>
        <p:nvSpPr>
          <p:cNvPr id="9161" name="Google Shape;9161;p411"/>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a:t>
            </a:r>
            <a:endParaRPr/>
          </a:p>
        </p:txBody>
      </p:sp>
      <p:sp>
        <p:nvSpPr>
          <p:cNvPr id="9162" name="Google Shape;9162;p411"/>
          <p:cNvSpPr txBox="1"/>
          <p:nvPr>
            <p:ph idx="1" type="body"/>
          </p:nvPr>
        </p:nvSpPr>
        <p:spPr>
          <a:xfrm>
            <a:off x="311700" y="1225221"/>
            <a:ext cx="8520600" cy="144126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Theoretically, the notion of role implies </a:t>
            </a:r>
            <a:r>
              <a:rPr i="1" lang="en"/>
              <a:t>similar </a:t>
            </a:r>
            <a:r>
              <a:rPr lang="en"/>
              <a:t>patterns of connectivity to </a:t>
            </a:r>
            <a:r>
              <a:rPr i="1" lang="en"/>
              <a:t>similarly positioned </a:t>
            </a:r>
            <a:r>
              <a:rPr lang="en"/>
              <a:t>actors not to literally the same actors</a:t>
            </a:r>
            <a:endParaRPr/>
          </a:p>
          <a:p>
            <a:pPr indent="-317500" lvl="1" marL="914400" marR="0" rtl="0" algn="l">
              <a:lnSpc>
                <a:spcPct val="115000"/>
              </a:lnSpc>
              <a:spcBef>
                <a:spcPts val="0"/>
              </a:spcBef>
              <a:spcAft>
                <a:spcPts val="0"/>
              </a:spcAft>
              <a:buSzPts val="1400"/>
              <a:buChar char="○"/>
            </a:pPr>
            <a:r>
              <a:rPr lang="en"/>
              <a:t>Structural equivalence is the wrong measure in this case </a:t>
            </a:r>
            <a:endParaRPr/>
          </a:p>
          <a:p>
            <a:pPr indent="-317500" lvl="1" marL="914400" marR="0" rtl="0" algn="l">
              <a:lnSpc>
                <a:spcPct val="115000"/>
              </a:lnSpc>
              <a:spcBef>
                <a:spcPts val="0"/>
              </a:spcBef>
              <a:spcAft>
                <a:spcPts val="0"/>
              </a:spcAft>
              <a:buSzPts val="1400"/>
              <a:buChar char="○"/>
            </a:pPr>
            <a:r>
              <a:rPr lang="en"/>
              <a:t>Need a more flexible notion of equivalence: </a:t>
            </a:r>
            <a:r>
              <a:rPr b="1" lang="en"/>
              <a:t>Regular equivalence</a:t>
            </a:r>
            <a:endParaRPr b="1"/>
          </a:p>
          <a:p>
            <a:pPr indent="0" lvl="0" marL="914400" rtl="0" algn="l">
              <a:spcBef>
                <a:spcPts val="1600"/>
              </a:spcBef>
              <a:spcAft>
                <a:spcPts val="0"/>
              </a:spcAft>
              <a:buNone/>
            </a:pPr>
            <a:r>
              <a:t/>
            </a:r>
            <a:endParaRPr/>
          </a:p>
        </p:txBody>
      </p:sp>
      <p:grpSp>
        <p:nvGrpSpPr>
          <p:cNvPr id="9163" name="Google Shape;9163;p411"/>
          <p:cNvGrpSpPr/>
          <p:nvPr/>
        </p:nvGrpSpPr>
        <p:grpSpPr>
          <a:xfrm>
            <a:off x="831375" y="2879280"/>
            <a:ext cx="7555950" cy="1918868"/>
            <a:chOff x="831375" y="3199200"/>
            <a:chExt cx="7555950" cy="2132075"/>
          </a:xfrm>
        </p:grpSpPr>
        <p:grpSp>
          <p:nvGrpSpPr>
            <p:cNvPr id="9164" name="Google Shape;9164;p411"/>
            <p:cNvGrpSpPr/>
            <p:nvPr/>
          </p:nvGrpSpPr>
          <p:grpSpPr>
            <a:xfrm>
              <a:off x="831375" y="3199200"/>
              <a:ext cx="7555950" cy="1938650"/>
              <a:chOff x="868500" y="3078125"/>
              <a:chExt cx="7555950" cy="1938650"/>
            </a:xfrm>
          </p:grpSpPr>
          <p:sp>
            <p:nvSpPr>
              <p:cNvPr id="9165" name="Google Shape;9165;p411"/>
              <p:cNvSpPr/>
              <p:nvPr/>
            </p:nvSpPr>
            <p:spPr>
              <a:xfrm>
                <a:off x="8685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9166" name="Google Shape;9166;p411"/>
              <p:cNvSpPr/>
              <p:nvPr/>
            </p:nvSpPr>
            <p:spPr>
              <a:xfrm>
                <a:off x="86870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9167" name="Google Shape;9167;p411"/>
              <p:cNvSpPr/>
              <p:nvPr/>
            </p:nvSpPr>
            <p:spPr>
              <a:xfrm>
                <a:off x="26144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9168" name="Google Shape;9168;p411"/>
              <p:cNvSpPr/>
              <p:nvPr/>
            </p:nvSpPr>
            <p:spPr>
              <a:xfrm>
                <a:off x="261445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9169" name="Google Shape;9169;p411"/>
              <p:cNvSpPr/>
              <p:nvPr/>
            </p:nvSpPr>
            <p:spPr>
              <a:xfrm>
                <a:off x="3679950" y="37245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9170" name="Google Shape;9170;p411"/>
              <p:cNvSpPr/>
              <p:nvPr/>
            </p:nvSpPr>
            <p:spPr>
              <a:xfrm>
                <a:off x="5000350" y="37246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9171" name="Google Shape;9171;p411"/>
              <p:cNvSpPr/>
              <p:nvPr/>
            </p:nvSpPr>
            <p:spPr>
              <a:xfrm>
                <a:off x="60770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9172" name="Google Shape;9172;p411"/>
              <p:cNvSpPr/>
              <p:nvPr/>
            </p:nvSpPr>
            <p:spPr>
              <a:xfrm>
                <a:off x="607700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9173" name="Google Shape;9173;p411"/>
              <p:cNvSpPr/>
              <p:nvPr/>
            </p:nvSpPr>
            <p:spPr>
              <a:xfrm>
                <a:off x="78229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9174" name="Google Shape;9174;p411"/>
              <p:cNvSpPr/>
              <p:nvPr/>
            </p:nvSpPr>
            <p:spPr>
              <a:xfrm>
                <a:off x="782285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9175" name="Google Shape;9175;p411"/>
              <p:cNvCxnSpPr>
                <a:stCxn id="9165" idx="6"/>
                <a:endCxn id="9167"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176" name="Google Shape;9176;p411"/>
              <p:cNvCxnSpPr>
                <a:stCxn id="9165" idx="5"/>
                <a:endCxn id="9168"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9177" name="Google Shape;9177;p411"/>
              <p:cNvCxnSpPr>
                <a:stCxn id="9166" idx="7"/>
                <a:endCxn id="9167"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9178" name="Google Shape;9178;p411"/>
              <p:cNvCxnSpPr>
                <a:stCxn id="9165" idx="4"/>
                <a:endCxn id="9166"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9179" name="Google Shape;9179;p411"/>
              <p:cNvCxnSpPr>
                <a:stCxn id="9166" idx="6"/>
                <a:endCxn id="9168"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9180" name="Google Shape;9180;p411"/>
              <p:cNvCxnSpPr>
                <a:stCxn id="9167" idx="6"/>
                <a:endCxn id="9169"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181" name="Google Shape;9181;p411"/>
              <p:cNvCxnSpPr>
                <a:stCxn id="9169" idx="3"/>
                <a:endCxn id="9168"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182" name="Google Shape;9182;p411"/>
              <p:cNvCxnSpPr>
                <a:stCxn id="9170" idx="2"/>
                <a:endCxn id="9169"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9183" name="Google Shape;9183;p411"/>
              <p:cNvCxnSpPr>
                <a:stCxn id="9171" idx="2"/>
                <a:endCxn id="9170"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9184" name="Google Shape;9184;p411"/>
              <p:cNvCxnSpPr>
                <a:stCxn id="9172" idx="2"/>
                <a:endCxn id="9170"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9185" name="Google Shape;9185;p411"/>
              <p:cNvCxnSpPr>
                <a:stCxn id="9171" idx="5"/>
                <a:endCxn id="9174"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186" name="Google Shape;9186;p411"/>
              <p:cNvCxnSpPr>
                <a:stCxn id="9173" idx="3"/>
                <a:endCxn id="9172"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187" name="Google Shape;9187;p411"/>
              <p:cNvCxnSpPr>
                <a:stCxn id="9173" idx="2"/>
                <a:endCxn id="9171"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188" name="Google Shape;9188;p411"/>
              <p:cNvCxnSpPr>
                <a:stCxn id="9173" idx="4"/>
                <a:endCxn id="9174"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9189" name="Google Shape;9189;p411"/>
              <p:cNvCxnSpPr>
                <a:stCxn id="9174" idx="2"/>
                <a:endCxn id="9172"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9190" name="Google Shape;9190;p411"/>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4" name="Shape 9194"/>
        <p:cNvGrpSpPr/>
        <p:nvPr/>
      </p:nvGrpSpPr>
      <p:grpSpPr>
        <a:xfrm>
          <a:off x="0" y="0"/>
          <a:ext cx="0" cy="0"/>
          <a:chOff x="0" y="0"/>
          <a:chExt cx="0" cy="0"/>
        </a:xfrm>
      </p:grpSpPr>
      <p:sp>
        <p:nvSpPr>
          <p:cNvPr id="9195" name="Google Shape;9195;p412"/>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 </a:t>
            </a:r>
            <a:endParaRPr/>
          </a:p>
        </p:txBody>
      </p:sp>
      <p:sp>
        <p:nvSpPr>
          <p:cNvPr id="9196" name="Google Shape;9196;p412"/>
          <p:cNvSpPr txBox="1"/>
          <p:nvPr>
            <p:ph idx="1" type="body"/>
          </p:nvPr>
        </p:nvSpPr>
        <p:spPr>
          <a:xfrm>
            <a:off x="311700" y="1225215"/>
            <a:ext cx="4006800" cy="335394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Structural and regular equivalence embody two intuitive but different conceptions of “similarity” between two actors:</a:t>
            </a:r>
            <a:endParaRPr/>
          </a:p>
          <a:p>
            <a:pPr indent="-317500" lvl="1" marL="914400" marR="0" rtl="0" algn="l">
              <a:lnSpc>
                <a:spcPct val="115000"/>
              </a:lnSpc>
              <a:spcBef>
                <a:spcPts val="0"/>
              </a:spcBef>
              <a:spcAft>
                <a:spcPts val="0"/>
              </a:spcAft>
              <a:buSzPts val="1400"/>
              <a:buChar char="○"/>
            </a:pPr>
            <a:r>
              <a:rPr i="1" lang="en"/>
              <a:t>Structural equivalence:</a:t>
            </a:r>
            <a:endParaRPr i="1"/>
          </a:p>
          <a:p>
            <a:pPr indent="-317500" lvl="2" marL="1371600" marR="0" rtl="0" algn="l">
              <a:lnSpc>
                <a:spcPct val="115000"/>
              </a:lnSpc>
              <a:spcBef>
                <a:spcPts val="0"/>
              </a:spcBef>
              <a:spcAft>
                <a:spcPts val="0"/>
              </a:spcAft>
              <a:buSzPts val="1400"/>
              <a:buChar char="■"/>
            </a:pPr>
            <a:r>
              <a:rPr lang="en"/>
              <a:t> Two actors are similar if they have similar relationships to the </a:t>
            </a:r>
            <a:r>
              <a:rPr b="1" lang="en"/>
              <a:t>same</a:t>
            </a:r>
            <a:r>
              <a:rPr lang="en"/>
              <a:t> actors or objects</a:t>
            </a:r>
            <a:endParaRPr/>
          </a:p>
          <a:p>
            <a:pPr indent="-317500" lvl="1" marL="914400" marR="0" rtl="0" algn="l">
              <a:lnSpc>
                <a:spcPct val="115000"/>
              </a:lnSpc>
              <a:spcBef>
                <a:spcPts val="0"/>
              </a:spcBef>
              <a:spcAft>
                <a:spcPts val="0"/>
              </a:spcAft>
              <a:buSzPts val="1400"/>
              <a:buChar char="○"/>
            </a:pPr>
            <a:r>
              <a:rPr i="1" lang="en"/>
              <a:t>Regular equivalence:</a:t>
            </a:r>
            <a:endParaRPr i="1"/>
          </a:p>
          <a:p>
            <a:pPr indent="-317500" lvl="2" marL="1371600" marR="0" rtl="0" algn="l">
              <a:lnSpc>
                <a:spcPct val="115000"/>
              </a:lnSpc>
              <a:spcBef>
                <a:spcPts val="0"/>
              </a:spcBef>
              <a:spcAft>
                <a:spcPts val="0"/>
              </a:spcAft>
              <a:buSzPts val="1400"/>
              <a:buChar char="■"/>
            </a:pPr>
            <a:r>
              <a:rPr lang="en"/>
              <a:t>Two actors are similar if they have similar relationships to </a:t>
            </a:r>
            <a:r>
              <a:rPr b="1" lang="en"/>
              <a:t>similar</a:t>
            </a:r>
            <a:r>
              <a:rPr lang="en"/>
              <a:t> actors or objects</a:t>
            </a:r>
            <a:endParaRPr/>
          </a:p>
          <a:p>
            <a:pPr indent="0" lvl="0" marL="0" marR="0" rtl="0" algn="l">
              <a:lnSpc>
                <a:spcPct val="115000"/>
              </a:lnSpc>
              <a:spcBef>
                <a:spcPts val="1600"/>
              </a:spcBef>
              <a:spcAft>
                <a:spcPts val="1600"/>
              </a:spcAft>
              <a:buNone/>
            </a:pPr>
            <a:r>
              <a:t/>
            </a:r>
            <a:endParaRPr/>
          </a:p>
        </p:txBody>
      </p:sp>
      <p:pic>
        <p:nvPicPr>
          <p:cNvPr descr="Regular_equivalence.jpg" id="9197" name="Google Shape;9197;p412"/>
          <p:cNvPicPr preferRelativeResize="0"/>
          <p:nvPr/>
        </p:nvPicPr>
        <p:blipFill>
          <a:blip r:embed="rId3">
            <a:alphaModFix/>
          </a:blip>
          <a:stretch>
            <a:fillRect/>
          </a:stretch>
        </p:blipFill>
        <p:spPr>
          <a:xfrm>
            <a:off x="4318475" y="1765923"/>
            <a:ext cx="4062443" cy="2272523"/>
          </a:xfrm>
          <a:prstGeom prst="rect">
            <a:avLst/>
          </a:prstGeom>
          <a:noFill/>
          <a:ln>
            <a:noFill/>
          </a:ln>
        </p:spPr>
      </p:pic>
    </p:spTree>
  </p:cSld>
  <p:clrMapOvr>
    <a:masterClrMapping/>
  </p:clrMapOvr>
</p:sld>
</file>

<file path=ppt/slides/slide3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1" name="Shape 9201"/>
        <p:cNvGrpSpPr/>
        <p:nvPr/>
      </p:nvGrpSpPr>
      <p:grpSpPr>
        <a:xfrm>
          <a:off x="0" y="0"/>
          <a:ext cx="0" cy="0"/>
          <a:chOff x="0" y="0"/>
          <a:chExt cx="0" cy="0"/>
        </a:xfrm>
      </p:grpSpPr>
      <p:sp>
        <p:nvSpPr>
          <p:cNvPr id="9202" name="Google Shape;9202;p413"/>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 </a:t>
            </a:r>
            <a:endParaRPr/>
          </a:p>
        </p:txBody>
      </p:sp>
      <p:sp>
        <p:nvSpPr>
          <p:cNvPr id="9203" name="Google Shape;9203;p413"/>
          <p:cNvSpPr txBox="1"/>
          <p:nvPr>
            <p:ph idx="1" type="body"/>
          </p:nvPr>
        </p:nvSpPr>
        <p:spPr>
          <a:xfrm>
            <a:off x="311700" y="1225215"/>
            <a:ext cx="8520600" cy="150822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Intuition:</a:t>
            </a:r>
            <a:endParaRPr/>
          </a:p>
          <a:p>
            <a:pPr indent="-317500" lvl="1" marL="914400" rtl="0" algn="l">
              <a:spcBef>
                <a:spcPts val="0"/>
              </a:spcBef>
              <a:spcAft>
                <a:spcPts val="0"/>
              </a:spcAft>
              <a:buSzPts val="1400"/>
              <a:buChar char="○"/>
            </a:pPr>
            <a:r>
              <a:rPr lang="en"/>
              <a:t>Two </a:t>
            </a:r>
            <a:r>
              <a:rPr b="1" lang="en"/>
              <a:t>people</a:t>
            </a:r>
            <a:r>
              <a:rPr lang="en"/>
              <a:t> are regularly equivalent if they are </a:t>
            </a:r>
            <a:r>
              <a:rPr b="1" lang="en"/>
              <a:t>friends</a:t>
            </a:r>
            <a:r>
              <a:rPr lang="en"/>
              <a:t> with the </a:t>
            </a:r>
            <a:r>
              <a:rPr i="1" lang="en">
                <a:solidFill>
                  <a:srgbClr val="FF0000"/>
                </a:solidFill>
              </a:rPr>
              <a:t>similar</a:t>
            </a:r>
            <a:r>
              <a:rPr lang="en"/>
              <a:t> set of </a:t>
            </a:r>
            <a:r>
              <a:rPr b="1" lang="en"/>
              <a:t>people</a:t>
            </a:r>
            <a:endParaRPr b="1"/>
          </a:p>
          <a:p>
            <a:pPr indent="-317500" lvl="1" marL="914400" rtl="0" algn="l">
              <a:spcBef>
                <a:spcPts val="0"/>
              </a:spcBef>
              <a:spcAft>
                <a:spcPts val="0"/>
              </a:spcAft>
              <a:buSzPts val="1400"/>
              <a:buChar char="○"/>
            </a:pPr>
            <a:r>
              <a:rPr lang="en"/>
              <a:t>Two </a:t>
            </a:r>
            <a:r>
              <a:rPr b="1" lang="en"/>
              <a:t>papers</a:t>
            </a:r>
            <a:r>
              <a:rPr lang="en"/>
              <a:t> are regularly equivalent if they </a:t>
            </a:r>
            <a:r>
              <a:rPr b="1" lang="en"/>
              <a:t>cite</a:t>
            </a:r>
            <a:r>
              <a:rPr lang="en"/>
              <a:t> a </a:t>
            </a:r>
            <a:r>
              <a:rPr i="1" lang="en">
                <a:solidFill>
                  <a:srgbClr val="FF0000"/>
                </a:solidFill>
              </a:rPr>
              <a:t>similar</a:t>
            </a:r>
            <a:r>
              <a:rPr lang="en"/>
              <a:t> set of other </a:t>
            </a:r>
            <a:r>
              <a:rPr b="1" lang="en"/>
              <a:t>papers</a:t>
            </a:r>
            <a:endParaRPr b="1"/>
          </a:p>
          <a:p>
            <a:pPr indent="-317500" lvl="1" marL="914400" rtl="0" algn="l">
              <a:spcBef>
                <a:spcPts val="0"/>
              </a:spcBef>
              <a:spcAft>
                <a:spcPts val="0"/>
              </a:spcAft>
              <a:buSzPts val="1400"/>
              <a:buChar char="○"/>
            </a:pPr>
            <a:r>
              <a:rPr lang="en"/>
              <a:t>Two </a:t>
            </a:r>
            <a:r>
              <a:rPr b="1" lang="en"/>
              <a:t>sp</a:t>
            </a:r>
            <a:r>
              <a:rPr b="1" lang="en"/>
              <a:t>ecies</a:t>
            </a:r>
            <a:r>
              <a:rPr lang="en"/>
              <a:t> are regularly equivalent if they </a:t>
            </a:r>
            <a:r>
              <a:rPr b="1" lang="en"/>
              <a:t>feed</a:t>
            </a:r>
            <a:r>
              <a:rPr lang="en"/>
              <a:t> on </a:t>
            </a:r>
            <a:r>
              <a:rPr i="1" lang="en">
                <a:solidFill>
                  <a:srgbClr val="FF0000"/>
                </a:solidFill>
              </a:rPr>
              <a:t>similar</a:t>
            </a:r>
            <a:r>
              <a:rPr lang="en"/>
              <a:t> set of </a:t>
            </a:r>
            <a:r>
              <a:rPr b="1" lang="en"/>
              <a:t>prey</a:t>
            </a:r>
            <a:endParaRPr b="1"/>
          </a:p>
          <a:p>
            <a:pPr indent="-317500" lvl="1" marL="914400" rtl="0" algn="l">
              <a:spcBef>
                <a:spcPts val="0"/>
              </a:spcBef>
              <a:spcAft>
                <a:spcPts val="0"/>
              </a:spcAft>
              <a:buSzPts val="1400"/>
              <a:buChar char="○"/>
            </a:pPr>
            <a:r>
              <a:rPr lang="en"/>
              <a:t>Two </a:t>
            </a:r>
            <a:r>
              <a:rPr b="1" lang="en"/>
              <a:t>clubs</a:t>
            </a:r>
            <a:r>
              <a:rPr lang="en"/>
              <a:t> are regularly equivalent if they </a:t>
            </a:r>
            <a:r>
              <a:rPr b="1" lang="en"/>
              <a:t>share</a:t>
            </a:r>
            <a:r>
              <a:rPr lang="en"/>
              <a:t> </a:t>
            </a:r>
            <a:r>
              <a:rPr i="1" lang="en">
                <a:solidFill>
                  <a:srgbClr val="FF0000"/>
                </a:solidFill>
              </a:rPr>
              <a:t>similar</a:t>
            </a:r>
            <a:r>
              <a:rPr lang="en"/>
              <a:t> set of </a:t>
            </a:r>
            <a:r>
              <a:rPr b="1" lang="en"/>
              <a:t>members</a:t>
            </a:r>
            <a:endParaRPr b="1"/>
          </a:p>
          <a:p>
            <a:pPr indent="-317500" lvl="1" marL="914400" rtl="0" algn="l">
              <a:spcBef>
                <a:spcPts val="0"/>
              </a:spcBef>
              <a:spcAft>
                <a:spcPts val="0"/>
              </a:spcAft>
              <a:buSzPts val="1400"/>
              <a:buChar char="○"/>
            </a:pPr>
            <a:r>
              <a:rPr lang="en"/>
              <a:t>Two </a:t>
            </a:r>
            <a:r>
              <a:rPr b="1" lang="en"/>
              <a:t>countries</a:t>
            </a:r>
            <a:r>
              <a:rPr lang="en"/>
              <a:t> are regularly equivalent if they </a:t>
            </a:r>
            <a:r>
              <a:rPr b="1" lang="en"/>
              <a:t>trade</a:t>
            </a:r>
            <a:r>
              <a:rPr lang="en"/>
              <a:t> with a </a:t>
            </a:r>
            <a:r>
              <a:rPr i="1" lang="en">
                <a:solidFill>
                  <a:srgbClr val="FF0000"/>
                </a:solidFill>
              </a:rPr>
              <a:t>similar</a:t>
            </a:r>
            <a:r>
              <a:rPr lang="en"/>
              <a:t> set of </a:t>
            </a:r>
            <a:r>
              <a:rPr b="1" lang="en"/>
              <a:t>countries</a:t>
            </a:r>
            <a:endParaRPr b="1"/>
          </a:p>
          <a:p>
            <a:pPr indent="0" lvl="0" marL="0" marR="0" rtl="0" algn="l">
              <a:lnSpc>
                <a:spcPct val="115000"/>
              </a:lnSpc>
              <a:spcBef>
                <a:spcPts val="0"/>
              </a:spcBef>
              <a:spcAft>
                <a:spcPts val="1600"/>
              </a:spcAft>
              <a:buNone/>
            </a:pPr>
            <a:r>
              <a:t/>
            </a:r>
            <a:endParaRPr/>
          </a:p>
        </p:txBody>
      </p:sp>
      <p:pic>
        <p:nvPicPr>
          <p:cNvPr descr="Regular_equivalence.jpg" id="9204" name="Google Shape;9204;p413"/>
          <p:cNvPicPr preferRelativeResize="0"/>
          <p:nvPr/>
        </p:nvPicPr>
        <p:blipFill>
          <a:blip r:embed="rId3">
            <a:alphaModFix/>
          </a:blip>
          <a:stretch>
            <a:fillRect/>
          </a:stretch>
        </p:blipFill>
        <p:spPr>
          <a:xfrm>
            <a:off x="2364600" y="2905500"/>
            <a:ext cx="3715875" cy="2078650"/>
          </a:xfrm>
          <a:prstGeom prst="rect">
            <a:avLst/>
          </a:prstGeom>
          <a:noFill/>
          <a:ln>
            <a:noFill/>
          </a:ln>
        </p:spPr>
      </p:pic>
    </p:spTree>
  </p:cSld>
  <p:clrMapOvr>
    <a:masterClrMapping/>
  </p:clrMapOvr>
</p:sld>
</file>

<file path=ppt/slides/slide3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8" name="Shape 9208"/>
        <p:cNvGrpSpPr/>
        <p:nvPr/>
      </p:nvGrpSpPr>
      <p:grpSpPr>
        <a:xfrm>
          <a:off x="0" y="0"/>
          <a:ext cx="0" cy="0"/>
          <a:chOff x="0" y="0"/>
          <a:chExt cx="0" cy="0"/>
        </a:xfrm>
      </p:grpSpPr>
      <p:sp>
        <p:nvSpPr>
          <p:cNvPr id="9209" name="Google Shape;9209;p41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 </a:t>
            </a:r>
            <a:endParaRPr/>
          </a:p>
        </p:txBody>
      </p:sp>
      <p:sp>
        <p:nvSpPr>
          <p:cNvPr id="9210" name="Google Shape;9210;p414"/>
          <p:cNvSpPr txBox="1"/>
          <p:nvPr>
            <p:ph idx="1" type="body"/>
          </p:nvPr>
        </p:nvSpPr>
        <p:spPr>
          <a:xfrm>
            <a:off x="311700" y="1225215"/>
            <a:ext cx="8520600" cy="150822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Intuition:</a:t>
            </a:r>
            <a:endParaRPr/>
          </a:p>
          <a:p>
            <a:pPr indent="-317500" lvl="1" marL="914400" rtl="0" algn="l">
              <a:spcBef>
                <a:spcPts val="0"/>
              </a:spcBef>
              <a:spcAft>
                <a:spcPts val="0"/>
              </a:spcAft>
              <a:buSzPts val="1400"/>
              <a:buChar char="○"/>
            </a:pPr>
            <a:r>
              <a:rPr lang="en"/>
              <a:t>Two </a:t>
            </a:r>
            <a:r>
              <a:rPr b="1" lang="en"/>
              <a:t>people</a:t>
            </a:r>
            <a:r>
              <a:rPr lang="en"/>
              <a:t> are regularly equivalent if they are </a:t>
            </a:r>
            <a:r>
              <a:rPr b="1" lang="en"/>
              <a:t>friends</a:t>
            </a:r>
            <a:r>
              <a:rPr lang="en"/>
              <a:t> with the </a:t>
            </a:r>
            <a:r>
              <a:rPr i="1" lang="en"/>
              <a:t>similar</a:t>
            </a:r>
            <a:r>
              <a:rPr lang="en"/>
              <a:t> set of </a:t>
            </a:r>
            <a:r>
              <a:rPr b="1" lang="en"/>
              <a:t>people</a:t>
            </a:r>
            <a:endParaRPr b="1"/>
          </a:p>
          <a:p>
            <a:pPr indent="-317500" lvl="1" marL="914400" rtl="0" algn="l">
              <a:spcBef>
                <a:spcPts val="0"/>
              </a:spcBef>
              <a:spcAft>
                <a:spcPts val="0"/>
              </a:spcAft>
              <a:buSzPts val="1400"/>
              <a:buChar char="○"/>
            </a:pPr>
            <a:r>
              <a:rPr lang="en"/>
              <a:t>Two </a:t>
            </a:r>
            <a:r>
              <a:rPr b="1" lang="en"/>
              <a:t>papers</a:t>
            </a:r>
            <a:r>
              <a:rPr lang="en"/>
              <a:t> are regularly equivalent if they </a:t>
            </a:r>
            <a:r>
              <a:rPr b="1" lang="en"/>
              <a:t>cite</a:t>
            </a:r>
            <a:r>
              <a:rPr lang="en"/>
              <a:t> a </a:t>
            </a:r>
            <a:r>
              <a:rPr i="1" lang="en"/>
              <a:t>similar</a:t>
            </a:r>
            <a:r>
              <a:rPr lang="en"/>
              <a:t> set of other </a:t>
            </a:r>
            <a:r>
              <a:rPr b="1" lang="en"/>
              <a:t>papers</a:t>
            </a:r>
            <a:endParaRPr b="1"/>
          </a:p>
          <a:p>
            <a:pPr indent="-317500" lvl="1" marL="914400" rtl="0" algn="l">
              <a:spcBef>
                <a:spcPts val="0"/>
              </a:spcBef>
              <a:spcAft>
                <a:spcPts val="0"/>
              </a:spcAft>
              <a:buSzPts val="1400"/>
              <a:buChar char="○"/>
            </a:pPr>
            <a:r>
              <a:rPr lang="en"/>
              <a:t>Two </a:t>
            </a:r>
            <a:r>
              <a:rPr b="1" lang="en"/>
              <a:t>sp</a:t>
            </a:r>
            <a:r>
              <a:rPr b="1" lang="en"/>
              <a:t>ecies</a:t>
            </a:r>
            <a:r>
              <a:rPr lang="en"/>
              <a:t> are regularly equivalent if they </a:t>
            </a:r>
            <a:r>
              <a:rPr b="1" lang="en"/>
              <a:t>feed</a:t>
            </a:r>
            <a:r>
              <a:rPr lang="en"/>
              <a:t> on </a:t>
            </a:r>
            <a:r>
              <a:rPr i="1" lang="en"/>
              <a:t>similar</a:t>
            </a:r>
            <a:r>
              <a:rPr lang="en"/>
              <a:t> set of </a:t>
            </a:r>
            <a:r>
              <a:rPr b="1" lang="en"/>
              <a:t>prey</a:t>
            </a:r>
            <a:endParaRPr b="1"/>
          </a:p>
          <a:p>
            <a:pPr indent="-317500" lvl="1" marL="914400" rtl="0" algn="l">
              <a:spcBef>
                <a:spcPts val="0"/>
              </a:spcBef>
              <a:spcAft>
                <a:spcPts val="0"/>
              </a:spcAft>
              <a:buSzPts val="1400"/>
              <a:buChar char="○"/>
            </a:pPr>
            <a:r>
              <a:rPr lang="en"/>
              <a:t>Two </a:t>
            </a:r>
            <a:r>
              <a:rPr b="1" lang="en"/>
              <a:t>clubs</a:t>
            </a:r>
            <a:r>
              <a:rPr lang="en"/>
              <a:t> are regularly equivalent if they </a:t>
            </a:r>
            <a:r>
              <a:rPr b="1" lang="en"/>
              <a:t>share</a:t>
            </a:r>
            <a:r>
              <a:rPr lang="en"/>
              <a:t> </a:t>
            </a:r>
            <a:r>
              <a:rPr i="1" lang="en"/>
              <a:t>similar</a:t>
            </a:r>
            <a:r>
              <a:rPr lang="en"/>
              <a:t> set of </a:t>
            </a:r>
            <a:r>
              <a:rPr b="1" lang="en"/>
              <a:t>members</a:t>
            </a:r>
            <a:endParaRPr b="1"/>
          </a:p>
          <a:p>
            <a:pPr indent="-317500" lvl="1" marL="914400" rtl="0" algn="l">
              <a:spcBef>
                <a:spcPts val="0"/>
              </a:spcBef>
              <a:spcAft>
                <a:spcPts val="0"/>
              </a:spcAft>
              <a:buSzPts val="1400"/>
              <a:buChar char="○"/>
            </a:pPr>
            <a:r>
              <a:rPr lang="en"/>
              <a:t>Two </a:t>
            </a:r>
            <a:r>
              <a:rPr b="1" lang="en"/>
              <a:t>countries</a:t>
            </a:r>
            <a:r>
              <a:rPr lang="en"/>
              <a:t> are regularly equivalent if they </a:t>
            </a:r>
            <a:r>
              <a:rPr b="1" lang="en"/>
              <a:t>trade</a:t>
            </a:r>
            <a:r>
              <a:rPr lang="en"/>
              <a:t> with a </a:t>
            </a:r>
            <a:r>
              <a:rPr i="1" lang="en"/>
              <a:t>similar</a:t>
            </a:r>
            <a:r>
              <a:rPr lang="en"/>
              <a:t> set of </a:t>
            </a:r>
            <a:r>
              <a:rPr b="1" lang="en"/>
              <a:t>countries</a:t>
            </a:r>
            <a:endParaRPr b="1"/>
          </a:p>
          <a:p>
            <a:pPr indent="0" lvl="0" marL="0" marR="0" rtl="0" algn="l">
              <a:lnSpc>
                <a:spcPct val="115000"/>
              </a:lnSpc>
              <a:spcBef>
                <a:spcPts val="0"/>
              </a:spcBef>
              <a:spcAft>
                <a:spcPts val="1600"/>
              </a:spcAft>
              <a:buNone/>
            </a:pPr>
            <a:r>
              <a:t/>
            </a:r>
            <a:endParaRPr/>
          </a:p>
        </p:txBody>
      </p:sp>
      <p:pic>
        <p:nvPicPr>
          <p:cNvPr descr="Regular_equivalence.jpg" id="9211" name="Google Shape;9211;p414"/>
          <p:cNvPicPr preferRelativeResize="0"/>
          <p:nvPr/>
        </p:nvPicPr>
        <p:blipFill>
          <a:blip r:embed="rId3">
            <a:alphaModFix/>
          </a:blip>
          <a:stretch>
            <a:fillRect/>
          </a:stretch>
        </p:blipFill>
        <p:spPr>
          <a:xfrm>
            <a:off x="2315087" y="2733378"/>
            <a:ext cx="4062443" cy="2272523"/>
          </a:xfrm>
          <a:prstGeom prst="rect">
            <a:avLst/>
          </a:prstGeom>
          <a:noFill/>
          <a:ln>
            <a:noFill/>
          </a:ln>
        </p:spPr>
      </p:pic>
      <p:sp>
        <p:nvSpPr>
          <p:cNvPr id="9212" name="Google Shape;9212;p414"/>
          <p:cNvSpPr txBox="1"/>
          <p:nvPr/>
        </p:nvSpPr>
        <p:spPr>
          <a:xfrm>
            <a:off x="660875" y="3453953"/>
            <a:ext cx="1902300" cy="83133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Where similarity is graph theoretic similarity!</a:t>
            </a:r>
            <a:endParaRPr b="1">
              <a:solidFill>
                <a:srgbClr val="FF0000"/>
              </a:solidFill>
            </a:endParaRPr>
          </a:p>
        </p:txBody>
      </p:sp>
    </p:spTree>
  </p:cSld>
  <p:clrMapOvr>
    <a:masterClrMapping/>
  </p:clrMapOvr>
</p:sld>
</file>

<file path=ppt/slides/slide3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6" name="Shape 9216"/>
        <p:cNvGrpSpPr/>
        <p:nvPr/>
      </p:nvGrpSpPr>
      <p:grpSpPr>
        <a:xfrm>
          <a:off x="0" y="0"/>
          <a:ext cx="0" cy="0"/>
          <a:chOff x="0" y="0"/>
          <a:chExt cx="0" cy="0"/>
        </a:xfrm>
      </p:grpSpPr>
      <p:sp>
        <p:nvSpPr>
          <p:cNvPr id="9217" name="Google Shape;9217;p415"/>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a:t>
            </a:r>
            <a:endParaRPr/>
          </a:p>
        </p:txBody>
      </p:sp>
      <p:sp>
        <p:nvSpPr>
          <p:cNvPr id="9218" name="Google Shape;9218;p415"/>
          <p:cNvSpPr txBox="1"/>
          <p:nvPr>
            <p:ph idx="1" type="body"/>
          </p:nvPr>
        </p:nvSpPr>
        <p:spPr>
          <a:xfrm>
            <a:off x="311700" y="1225221"/>
            <a:ext cx="8520600" cy="144126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Theoretically, the notion of role implies similar patterns of connectivity to similarly positioned actors not to literally the same actors</a:t>
            </a:r>
            <a:endParaRPr/>
          </a:p>
          <a:p>
            <a:pPr indent="-317500" lvl="1" marL="914400" marR="0" rtl="0" algn="l">
              <a:lnSpc>
                <a:spcPct val="115000"/>
              </a:lnSpc>
              <a:spcBef>
                <a:spcPts val="0"/>
              </a:spcBef>
              <a:spcAft>
                <a:spcPts val="0"/>
              </a:spcAft>
              <a:buSzPts val="1400"/>
              <a:buChar char="○"/>
            </a:pPr>
            <a:r>
              <a:rPr lang="en"/>
              <a:t>Structural equivalence is the wrong measure in this case </a:t>
            </a:r>
            <a:endParaRPr/>
          </a:p>
          <a:p>
            <a:pPr indent="-317500" lvl="1" marL="914400" marR="0" rtl="0" algn="l">
              <a:lnSpc>
                <a:spcPct val="115000"/>
              </a:lnSpc>
              <a:spcBef>
                <a:spcPts val="0"/>
              </a:spcBef>
              <a:spcAft>
                <a:spcPts val="0"/>
              </a:spcAft>
              <a:buSzPts val="1400"/>
              <a:buChar char="○"/>
            </a:pPr>
            <a:r>
              <a:rPr lang="en"/>
              <a:t>N</a:t>
            </a:r>
            <a:r>
              <a:rPr lang="en"/>
              <a:t>eed a more flexible notion of equivalence: </a:t>
            </a:r>
            <a:r>
              <a:rPr b="1" lang="en"/>
              <a:t>Regular equivalence</a:t>
            </a:r>
            <a:endParaRPr/>
          </a:p>
          <a:p>
            <a:pPr indent="0" lvl="0" marL="1371600" rtl="0" algn="l">
              <a:spcBef>
                <a:spcPts val="1600"/>
              </a:spcBef>
              <a:spcAft>
                <a:spcPts val="0"/>
              </a:spcAft>
              <a:buNone/>
            </a:pPr>
            <a:r>
              <a:t/>
            </a:r>
            <a:endParaRPr/>
          </a:p>
        </p:txBody>
      </p:sp>
      <p:grpSp>
        <p:nvGrpSpPr>
          <p:cNvPr id="9219" name="Google Shape;9219;p415"/>
          <p:cNvGrpSpPr/>
          <p:nvPr/>
        </p:nvGrpSpPr>
        <p:grpSpPr>
          <a:xfrm>
            <a:off x="831375" y="2879280"/>
            <a:ext cx="7555950" cy="1918868"/>
            <a:chOff x="831375" y="3199200"/>
            <a:chExt cx="7555950" cy="2132075"/>
          </a:xfrm>
        </p:grpSpPr>
        <p:grpSp>
          <p:nvGrpSpPr>
            <p:cNvPr id="9220" name="Google Shape;9220;p415"/>
            <p:cNvGrpSpPr/>
            <p:nvPr/>
          </p:nvGrpSpPr>
          <p:grpSpPr>
            <a:xfrm>
              <a:off x="831375" y="3199200"/>
              <a:ext cx="7555950" cy="1938650"/>
              <a:chOff x="868500" y="3078125"/>
              <a:chExt cx="7555950" cy="1938650"/>
            </a:xfrm>
          </p:grpSpPr>
          <p:sp>
            <p:nvSpPr>
              <p:cNvPr id="9221" name="Google Shape;9221;p415"/>
              <p:cNvSpPr/>
              <p:nvPr/>
            </p:nvSpPr>
            <p:spPr>
              <a:xfrm>
                <a:off x="8685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9222" name="Google Shape;9222;p415"/>
              <p:cNvSpPr/>
              <p:nvPr/>
            </p:nvSpPr>
            <p:spPr>
              <a:xfrm>
                <a:off x="86870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9223" name="Google Shape;9223;p415"/>
              <p:cNvSpPr/>
              <p:nvPr/>
            </p:nvSpPr>
            <p:spPr>
              <a:xfrm>
                <a:off x="26144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9224" name="Google Shape;9224;p415"/>
              <p:cNvSpPr/>
              <p:nvPr/>
            </p:nvSpPr>
            <p:spPr>
              <a:xfrm>
                <a:off x="261445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9225" name="Google Shape;9225;p415"/>
              <p:cNvSpPr/>
              <p:nvPr/>
            </p:nvSpPr>
            <p:spPr>
              <a:xfrm>
                <a:off x="3679950" y="37245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9226" name="Google Shape;9226;p415"/>
              <p:cNvSpPr/>
              <p:nvPr/>
            </p:nvSpPr>
            <p:spPr>
              <a:xfrm>
                <a:off x="5000350" y="37246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9227" name="Google Shape;9227;p415"/>
              <p:cNvSpPr/>
              <p:nvPr/>
            </p:nvSpPr>
            <p:spPr>
              <a:xfrm>
                <a:off x="60770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9228" name="Google Shape;9228;p415"/>
              <p:cNvSpPr/>
              <p:nvPr/>
            </p:nvSpPr>
            <p:spPr>
              <a:xfrm>
                <a:off x="607700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9229" name="Google Shape;9229;p415"/>
              <p:cNvSpPr/>
              <p:nvPr/>
            </p:nvSpPr>
            <p:spPr>
              <a:xfrm>
                <a:off x="78229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9230" name="Google Shape;9230;p415"/>
              <p:cNvSpPr/>
              <p:nvPr/>
            </p:nvSpPr>
            <p:spPr>
              <a:xfrm>
                <a:off x="782285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9231" name="Google Shape;9231;p415"/>
              <p:cNvCxnSpPr>
                <a:stCxn id="9221" idx="6"/>
                <a:endCxn id="9223"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232" name="Google Shape;9232;p415"/>
              <p:cNvCxnSpPr>
                <a:stCxn id="9221" idx="5"/>
                <a:endCxn id="9224"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9233" name="Google Shape;9233;p415"/>
              <p:cNvCxnSpPr>
                <a:stCxn id="9222" idx="7"/>
                <a:endCxn id="9223"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9234" name="Google Shape;9234;p415"/>
              <p:cNvCxnSpPr>
                <a:stCxn id="9221" idx="4"/>
                <a:endCxn id="9222"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9235" name="Google Shape;9235;p415"/>
              <p:cNvCxnSpPr>
                <a:stCxn id="9222" idx="6"/>
                <a:endCxn id="9224"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9236" name="Google Shape;9236;p415"/>
              <p:cNvCxnSpPr>
                <a:stCxn id="9223" idx="6"/>
                <a:endCxn id="9225"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237" name="Google Shape;9237;p415"/>
              <p:cNvCxnSpPr>
                <a:stCxn id="9225" idx="3"/>
                <a:endCxn id="9224"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238" name="Google Shape;9238;p415"/>
              <p:cNvCxnSpPr>
                <a:stCxn id="9226" idx="2"/>
                <a:endCxn id="9225"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9239" name="Google Shape;9239;p415"/>
              <p:cNvCxnSpPr>
                <a:stCxn id="9227" idx="2"/>
                <a:endCxn id="9226"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9240" name="Google Shape;9240;p415"/>
              <p:cNvCxnSpPr>
                <a:stCxn id="9228" idx="2"/>
                <a:endCxn id="9226"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9241" name="Google Shape;9241;p415"/>
              <p:cNvCxnSpPr>
                <a:stCxn id="9227" idx="5"/>
                <a:endCxn id="9230"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242" name="Google Shape;9242;p415"/>
              <p:cNvCxnSpPr>
                <a:stCxn id="9229" idx="3"/>
                <a:endCxn id="9228"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243" name="Google Shape;9243;p415"/>
              <p:cNvCxnSpPr>
                <a:stCxn id="9229" idx="2"/>
                <a:endCxn id="9227"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244" name="Google Shape;9244;p415"/>
              <p:cNvCxnSpPr>
                <a:stCxn id="9229" idx="4"/>
                <a:endCxn id="9230"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9245" name="Google Shape;9245;p415"/>
              <p:cNvCxnSpPr>
                <a:stCxn id="9230" idx="2"/>
                <a:endCxn id="9228"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9246" name="Google Shape;9246;p415"/>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0" name="Shape 9250"/>
        <p:cNvGrpSpPr/>
        <p:nvPr/>
      </p:nvGrpSpPr>
      <p:grpSpPr>
        <a:xfrm>
          <a:off x="0" y="0"/>
          <a:ext cx="0" cy="0"/>
          <a:chOff x="0" y="0"/>
          <a:chExt cx="0" cy="0"/>
        </a:xfrm>
      </p:grpSpPr>
      <p:sp>
        <p:nvSpPr>
          <p:cNvPr id="9251" name="Google Shape;9251;p416"/>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 </a:t>
            </a:r>
            <a:endParaRPr/>
          </a:p>
        </p:txBody>
      </p:sp>
      <p:sp>
        <p:nvSpPr>
          <p:cNvPr id="9252" name="Google Shape;9252;p416"/>
          <p:cNvSpPr txBox="1"/>
          <p:nvPr>
            <p:ph idx="1" type="body"/>
          </p:nvPr>
        </p:nvSpPr>
        <p:spPr>
          <a:xfrm>
            <a:off x="311700" y="1225221"/>
            <a:ext cx="8520600" cy="138321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Theoretically, the notion of role implies similar patterns of connectivity to </a:t>
            </a:r>
            <a:r>
              <a:rPr b="1" lang="en"/>
              <a:t>similarly positioned</a:t>
            </a:r>
            <a:r>
              <a:rPr lang="en"/>
              <a:t> actors not to literally the </a:t>
            </a:r>
            <a:r>
              <a:rPr b="1" lang="en"/>
              <a:t>same </a:t>
            </a:r>
            <a:r>
              <a:rPr lang="en"/>
              <a:t>actors</a:t>
            </a:r>
            <a:endParaRPr/>
          </a:p>
          <a:p>
            <a:pPr indent="-317500" lvl="1" marL="914400" rtl="0" algn="l">
              <a:spcBef>
                <a:spcPts val="0"/>
              </a:spcBef>
              <a:spcAft>
                <a:spcPts val="0"/>
              </a:spcAft>
              <a:buSzPts val="1400"/>
              <a:buChar char="○"/>
            </a:pPr>
            <a:r>
              <a:rPr lang="en"/>
              <a:t>Structural equivalence is the wrong measure in this case </a:t>
            </a:r>
            <a:endParaRPr/>
          </a:p>
          <a:p>
            <a:pPr indent="-317500" lvl="2" marL="1371600" rtl="0" algn="l">
              <a:spcBef>
                <a:spcPts val="0"/>
              </a:spcBef>
              <a:spcAft>
                <a:spcPts val="0"/>
              </a:spcAft>
              <a:buSzPts val="1400"/>
              <a:buChar char="■"/>
            </a:pPr>
            <a:r>
              <a:rPr lang="en"/>
              <a:t>Need a more flexible notion of equivalence: </a:t>
            </a:r>
            <a:r>
              <a:rPr b="1" lang="en"/>
              <a:t>Regular equivalence</a:t>
            </a:r>
            <a:endParaRPr b="1"/>
          </a:p>
          <a:p>
            <a:pPr indent="-317500" lvl="2" marL="1371600" rtl="0" algn="l">
              <a:spcBef>
                <a:spcPts val="0"/>
              </a:spcBef>
              <a:spcAft>
                <a:spcPts val="0"/>
              </a:spcAft>
              <a:buSzPts val="1400"/>
              <a:buChar char="■"/>
            </a:pPr>
            <a:r>
              <a:rPr lang="en"/>
              <a:t>P = {a ≣ b ≣ h ≣ j}, {b ≣ d ≣ g ≣ i}, {e ≣ f}</a:t>
            </a:r>
            <a:endParaRPr/>
          </a:p>
          <a:p>
            <a:pPr indent="0" lvl="0" marL="1371600" rtl="0" algn="l">
              <a:spcBef>
                <a:spcPts val="0"/>
              </a:spcBef>
              <a:spcAft>
                <a:spcPts val="0"/>
              </a:spcAft>
              <a:buNone/>
            </a:pPr>
            <a:r>
              <a:t/>
            </a:r>
            <a:endParaRPr b="1"/>
          </a:p>
          <a:p>
            <a:pPr indent="0" lvl="0" marL="1371600" rtl="0" algn="l">
              <a:spcBef>
                <a:spcPts val="0"/>
              </a:spcBef>
              <a:spcAft>
                <a:spcPts val="0"/>
              </a:spcAft>
              <a:buNone/>
            </a:pPr>
            <a:r>
              <a:t/>
            </a:r>
            <a:endParaRPr/>
          </a:p>
        </p:txBody>
      </p:sp>
      <p:grpSp>
        <p:nvGrpSpPr>
          <p:cNvPr id="9253" name="Google Shape;9253;p416"/>
          <p:cNvGrpSpPr/>
          <p:nvPr/>
        </p:nvGrpSpPr>
        <p:grpSpPr>
          <a:xfrm>
            <a:off x="831375" y="2879280"/>
            <a:ext cx="7555950" cy="1918868"/>
            <a:chOff x="831375" y="3199200"/>
            <a:chExt cx="7555950" cy="2132075"/>
          </a:xfrm>
        </p:grpSpPr>
        <p:grpSp>
          <p:nvGrpSpPr>
            <p:cNvPr id="9254" name="Google Shape;9254;p416"/>
            <p:cNvGrpSpPr/>
            <p:nvPr/>
          </p:nvGrpSpPr>
          <p:grpSpPr>
            <a:xfrm>
              <a:off x="831375" y="3199200"/>
              <a:ext cx="7555950" cy="1938650"/>
              <a:chOff x="868500" y="3078125"/>
              <a:chExt cx="7555950" cy="1938650"/>
            </a:xfrm>
          </p:grpSpPr>
          <p:sp>
            <p:nvSpPr>
              <p:cNvPr id="9255" name="Google Shape;9255;p416"/>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9256" name="Google Shape;9256;p416"/>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9257" name="Google Shape;9257;p416"/>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9258" name="Google Shape;9258;p416"/>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9259" name="Google Shape;9259;p416"/>
              <p:cNvSpPr/>
              <p:nvPr/>
            </p:nvSpPr>
            <p:spPr>
              <a:xfrm>
                <a:off x="3679950" y="3724550"/>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9260" name="Google Shape;9260;p416"/>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9261" name="Google Shape;9261;p416"/>
              <p:cNvSpPr/>
              <p:nvPr/>
            </p:nvSpPr>
            <p:spPr>
              <a:xfrm>
                <a:off x="607700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9262" name="Google Shape;9262;p416"/>
              <p:cNvSpPr/>
              <p:nvPr/>
            </p:nvSpPr>
            <p:spPr>
              <a:xfrm>
                <a:off x="6077000" y="443657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9263" name="Google Shape;9263;p416"/>
              <p:cNvSpPr/>
              <p:nvPr/>
            </p:nvSpPr>
            <p:spPr>
              <a:xfrm>
                <a:off x="782295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9264" name="Google Shape;9264;p416"/>
              <p:cNvSpPr/>
              <p:nvPr/>
            </p:nvSpPr>
            <p:spPr>
              <a:xfrm>
                <a:off x="7822850" y="443657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9265" name="Google Shape;9265;p416"/>
              <p:cNvCxnSpPr>
                <a:stCxn id="9255" idx="6"/>
                <a:endCxn id="9257"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266" name="Google Shape;9266;p416"/>
              <p:cNvCxnSpPr>
                <a:stCxn id="9255" idx="5"/>
                <a:endCxn id="9258"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9267" name="Google Shape;9267;p416"/>
              <p:cNvCxnSpPr>
                <a:stCxn id="9256" idx="7"/>
                <a:endCxn id="9257"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9268" name="Google Shape;9268;p416"/>
              <p:cNvCxnSpPr>
                <a:stCxn id="9255" idx="4"/>
                <a:endCxn id="9256"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9269" name="Google Shape;9269;p416"/>
              <p:cNvCxnSpPr>
                <a:stCxn id="9256" idx="6"/>
                <a:endCxn id="9258"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9270" name="Google Shape;9270;p416"/>
              <p:cNvCxnSpPr>
                <a:stCxn id="9257" idx="6"/>
                <a:endCxn id="9259"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271" name="Google Shape;9271;p416"/>
              <p:cNvCxnSpPr>
                <a:stCxn id="9259" idx="3"/>
                <a:endCxn id="9258"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272" name="Google Shape;9272;p416"/>
              <p:cNvCxnSpPr>
                <a:stCxn id="9260" idx="2"/>
                <a:endCxn id="9259"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9273" name="Google Shape;9273;p416"/>
              <p:cNvCxnSpPr>
                <a:stCxn id="9261" idx="2"/>
                <a:endCxn id="9260"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9274" name="Google Shape;9274;p416"/>
              <p:cNvCxnSpPr>
                <a:stCxn id="9262" idx="2"/>
                <a:endCxn id="9260"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9275" name="Google Shape;9275;p416"/>
              <p:cNvCxnSpPr>
                <a:stCxn id="9261" idx="5"/>
                <a:endCxn id="9264"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276" name="Google Shape;9276;p416"/>
              <p:cNvCxnSpPr>
                <a:stCxn id="9263" idx="3"/>
                <a:endCxn id="9262"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277" name="Google Shape;9277;p416"/>
              <p:cNvCxnSpPr>
                <a:stCxn id="9263" idx="2"/>
                <a:endCxn id="9261"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278" name="Google Shape;9278;p416"/>
              <p:cNvCxnSpPr>
                <a:stCxn id="9263" idx="4"/>
                <a:endCxn id="9264"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9279" name="Google Shape;9279;p416"/>
              <p:cNvCxnSpPr>
                <a:stCxn id="9264" idx="2"/>
                <a:endCxn id="9262"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9280" name="Google Shape;9280;p416"/>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a:t>
              </a:r>
              <a:r>
                <a:rPr lang="en"/>
                <a:t>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4" name="Shape 9284"/>
        <p:cNvGrpSpPr/>
        <p:nvPr/>
      </p:nvGrpSpPr>
      <p:grpSpPr>
        <a:xfrm>
          <a:off x="0" y="0"/>
          <a:ext cx="0" cy="0"/>
          <a:chOff x="0" y="0"/>
          <a:chExt cx="0" cy="0"/>
        </a:xfrm>
      </p:grpSpPr>
      <p:sp>
        <p:nvSpPr>
          <p:cNvPr id="9285" name="Google Shape;9285;p417"/>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 </a:t>
            </a:r>
            <a:endParaRPr/>
          </a:p>
        </p:txBody>
      </p:sp>
      <p:sp>
        <p:nvSpPr>
          <p:cNvPr id="9286" name="Google Shape;9286;p417"/>
          <p:cNvSpPr txBox="1"/>
          <p:nvPr>
            <p:ph idx="1" type="body"/>
          </p:nvPr>
        </p:nvSpPr>
        <p:spPr>
          <a:xfrm>
            <a:off x="311700" y="1225221"/>
            <a:ext cx="8520600" cy="138321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Theoretically, the notion of role implies similar patterns of connectivity to </a:t>
            </a:r>
            <a:r>
              <a:rPr b="1" lang="en"/>
              <a:t>similarly positioned</a:t>
            </a:r>
            <a:r>
              <a:rPr lang="en"/>
              <a:t> actors not to literally the </a:t>
            </a:r>
            <a:r>
              <a:rPr b="1" lang="en"/>
              <a:t>same </a:t>
            </a:r>
            <a:r>
              <a:rPr lang="en"/>
              <a:t>actors</a:t>
            </a:r>
            <a:endParaRPr/>
          </a:p>
          <a:p>
            <a:pPr indent="-317500" lvl="1" marL="914400" rtl="0" algn="l">
              <a:spcBef>
                <a:spcPts val="0"/>
              </a:spcBef>
              <a:spcAft>
                <a:spcPts val="0"/>
              </a:spcAft>
              <a:buSzPts val="1400"/>
              <a:buChar char="○"/>
            </a:pPr>
            <a:r>
              <a:rPr lang="en"/>
              <a:t>Structural equivalence is the wrong measure in this case </a:t>
            </a:r>
            <a:endParaRPr/>
          </a:p>
          <a:p>
            <a:pPr indent="-317500" lvl="2" marL="1371600" rtl="0" algn="l">
              <a:spcBef>
                <a:spcPts val="0"/>
              </a:spcBef>
              <a:spcAft>
                <a:spcPts val="0"/>
              </a:spcAft>
              <a:buSzPts val="1400"/>
              <a:buChar char="■"/>
            </a:pPr>
            <a:r>
              <a:rPr lang="en"/>
              <a:t>Two nodes are </a:t>
            </a:r>
            <a:r>
              <a:rPr b="1" lang="en"/>
              <a:t>regularly equivalent</a:t>
            </a:r>
            <a:r>
              <a:rPr lang="en"/>
              <a:t> if they are connected to </a:t>
            </a:r>
            <a:r>
              <a:rPr b="1" lang="en"/>
              <a:t>equivalent</a:t>
            </a:r>
            <a:r>
              <a:rPr lang="en"/>
              <a:t> others</a:t>
            </a:r>
            <a:endParaRPr b="1"/>
          </a:p>
          <a:p>
            <a:pPr indent="-317500" lvl="2" marL="1371600" rtl="0" algn="l">
              <a:spcBef>
                <a:spcPts val="0"/>
              </a:spcBef>
              <a:spcAft>
                <a:spcPts val="0"/>
              </a:spcAft>
              <a:buSzPts val="1400"/>
              <a:buChar char="■"/>
            </a:pPr>
            <a:r>
              <a:rPr lang="en"/>
              <a:t>P = {a ≣ b ≣ h ≣ j}, {b ≣ d ≣ g ≣ i}, {e ≣ f}</a:t>
            </a:r>
            <a:endParaRPr/>
          </a:p>
          <a:p>
            <a:pPr indent="0" lvl="0" marL="1371600" rtl="0" algn="l">
              <a:spcBef>
                <a:spcPts val="0"/>
              </a:spcBef>
              <a:spcAft>
                <a:spcPts val="0"/>
              </a:spcAft>
              <a:buNone/>
            </a:pPr>
            <a:r>
              <a:t/>
            </a:r>
            <a:endParaRPr b="1"/>
          </a:p>
          <a:p>
            <a:pPr indent="0" lvl="0" marL="1371600" rtl="0" algn="l">
              <a:spcBef>
                <a:spcPts val="0"/>
              </a:spcBef>
              <a:spcAft>
                <a:spcPts val="0"/>
              </a:spcAft>
              <a:buNone/>
            </a:pPr>
            <a:r>
              <a:t/>
            </a:r>
            <a:endParaRPr/>
          </a:p>
        </p:txBody>
      </p:sp>
      <p:grpSp>
        <p:nvGrpSpPr>
          <p:cNvPr id="9287" name="Google Shape;9287;p417"/>
          <p:cNvGrpSpPr/>
          <p:nvPr/>
        </p:nvGrpSpPr>
        <p:grpSpPr>
          <a:xfrm>
            <a:off x="831375" y="2879280"/>
            <a:ext cx="7555950" cy="1918868"/>
            <a:chOff x="831375" y="3199200"/>
            <a:chExt cx="7555950" cy="2132075"/>
          </a:xfrm>
        </p:grpSpPr>
        <p:grpSp>
          <p:nvGrpSpPr>
            <p:cNvPr id="9288" name="Google Shape;9288;p417"/>
            <p:cNvGrpSpPr/>
            <p:nvPr/>
          </p:nvGrpSpPr>
          <p:grpSpPr>
            <a:xfrm>
              <a:off x="831375" y="3199200"/>
              <a:ext cx="7555950" cy="1938650"/>
              <a:chOff x="868500" y="3078125"/>
              <a:chExt cx="7555950" cy="1938650"/>
            </a:xfrm>
          </p:grpSpPr>
          <p:sp>
            <p:nvSpPr>
              <p:cNvPr id="9289" name="Google Shape;9289;p417"/>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9290" name="Google Shape;9290;p417"/>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9291" name="Google Shape;9291;p417"/>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9292" name="Google Shape;9292;p417"/>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9293" name="Google Shape;9293;p417"/>
              <p:cNvSpPr/>
              <p:nvPr/>
            </p:nvSpPr>
            <p:spPr>
              <a:xfrm>
                <a:off x="3679950" y="3724550"/>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9294" name="Google Shape;9294;p417"/>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9295" name="Google Shape;9295;p417"/>
              <p:cNvSpPr/>
              <p:nvPr/>
            </p:nvSpPr>
            <p:spPr>
              <a:xfrm>
                <a:off x="607700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9296" name="Google Shape;9296;p417"/>
              <p:cNvSpPr/>
              <p:nvPr/>
            </p:nvSpPr>
            <p:spPr>
              <a:xfrm>
                <a:off x="6077000" y="443657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9297" name="Google Shape;9297;p417"/>
              <p:cNvSpPr/>
              <p:nvPr/>
            </p:nvSpPr>
            <p:spPr>
              <a:xfrm>
                <a:off x="782295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9298" name="Google Shape;9298;p417"/>
              <p:cNvSpPr/>
              <p:nvPr/>
            </p:nvSpPr>
            <p:spPr>
              <a:xfrm>
                <a:off x="7822850" y="443657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9299" name="Google Shape;9299;p417"/>
              <p:cNvCxnSpPr>
                <a:stCxn id="9289" idx="6"/>
                <a:endCxn id="9291"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300" name="Google Shape;9300;p417"/>
              <p:cNvCxnSpPr>
                <a:stCxn id="9289" idx="5"/>
                <a:endCxn id="9292"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9301" name="Google Shape;9301;p417"/>
              <p:cNvCxnSpPr>
                <a:stCxn id="9290" idx="7"/>
                <a:endCxn id="9291"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9302" name="Google Shape;9302;p417"/>
              <p:cNvCxnSpPr>
                <a:stCxn id="9289" idx="4"/>
                <a:endCxn id="9290"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9303" name="Google Shape;9303;p417"/>
              <p:cNvCxnSpPr>
                <a:stCxn id="9290" idx="6"/>
                <a:endCxn id="9292"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9304" name="Google Shape;9304;p417"/>
              <p:cNvCxnSpPr>
                <a:stCxn id="9291" idx="6"/>
                <a:endCxn id="9293"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305" name="Google Shape;9305;p417"/>
              <p:cNvCxnSpPr>
                <a:stCxn id="9293" idx="3"/>
                <a:endCxn id="9292"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306" name="Google Shape;9306;p417"/>
              <p:cNvCxnSpPr>
                <a:stCxn id="9294" idx="2"/>
                <a:endCxn id="9293"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9307" name="Google Shape;9307;p417"/>
              <p:cNvCxnSpPr>
                <a:stCxn id="9295" idx="2"/>
                <a:endCxn id="9294"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9308" name="Google Shape;9308;p417"/>
              <p:cNvCxnSpPr>
                <a:stCxn id="9296" idx="2"/>
                <a:endCxn id="9294"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9309" name="Google Shape;9309;p417"/>
              <p:cNvCxnSpPr>
                <a:stCxn id="9295" idx="5"/>
                <a:endCxn id="9298"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310" name="Google Shape;9310;p417"/>
              <p:cNvCxnSpPr>
                <a:stCxn id="9297" idx="3"/>
                <a:endCxn id="9296"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311" name="Google Shape;9311;p417"/>
              <p:cNvCxnSpPr>
                <a:stCxn id="9297" idx="2"/>
                <a:endCxn id="9295"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312" name="Google Shape;9312;p417"/>
              <p:cNvCxnSpPr>
                <a:stCxn id="9297" idx="4"/>
                <a:endCxn id="9298"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9313" name="Google Shape;9313;p417"/>
              <p:cNvCxnSpPr>
                <a:stCxn id="9298" idx="2"/>
                <a:endCxn id="9296"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9314" name="Google Shape;9314;p417"/>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8" name="Shape 9318"/>
        <p:cNvGrpSpPr/>
        <p:nvPr/>
      </p:nvGrpSpPr>
      <p:grpSpPr>
        <a:xfrm>
          <a:off x="0" y="0"/>
          <a:ext cx="0" cy="0"/>
          <a:chOff x="0" y="0"/>
          <a:chExt cx="0" cy="0"/>
        </a:xfrm>
      </p:grpSpPr>
      <p:sp>
        <p:nvSpPr>
          <p:cNvPr id="9319" name="Google Shape;9319;p418"/>
          <p:cNvSpPr/>
          <p:nvPr/>
        </p:nvSpPr>
        <p:spPr>
          <a:xfrm>
            <a:off x="5250200" y="2377463"/>
            <a:ext cx="945000" cy="83133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a, c, h, j</a:t>
            </a:r>
            <a:endParaRPr sz="1800">
              <a:latin typeface="Oxygen"/>
              <a:ea typeface="Oxygen"/>
              <a:cs typeface="Oxygen"/>
              <a:sym typeface="Oxygen"/>
            </a:endParaRPr>
          </a:p>
        </p:txBody>
      </p:sp>
      <p:sp>
        <p:nvSpPr>
          <p:cNvPr id="9320" name="Google Shape;9320;p418"/>
          <p:cNvSpPr/>
          <p:nvPr/>
        </p:nvSpPr>
        <p:spPr>
          <a:xfrm>
            <a:off x="5250200" y="3467453"/>
            <a:ext cx="945000" cy="83133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e</a:t>
            </a:r>
            <a:r>
              <a:rPr lang="en" sz="1800">
                <a:latin typeface="Oxygen"/>
                <a:ea typeface="Oxygen"/>
                <a:cs typeface="Oxygen"/>
                <a:sym typeface="Oxygen"/>
              </a:rPr>
              <a:t>, f</a:t>
            </a:r>
            <a:endParaRPr sz="1800">
              <a:latin typeface="Oxygen"/>
              <a:ea typeface="Oxygen"/>
              <a:cs typeface="Oxygen"/>
              <a:sym typeface="Oxygen"/>
            </a:endParaRPr>
          </a:p>
        </p:txBody>
      </p:sp>
      <p:sp>
        <p:nvSpPr>
          <p:cNvPr id="9321" name="Google Shape;9321;p418"/>
          <p:cNvSpPr/>
          <p:nvPr/>
        </p:nvSpPr>
        <p:spPr>
          <a:xfrm>
            <a:off x="7472600" y="2377463"/>
            <a:ext cx="945000" cy="83133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b, d, g, i</a:t>
            </a:r>
            <a:endParaRPr sz="1800">
              <a:latin typeface="Oxygen"/>
              <a:ea typeface="Oxygen"/>
              <a:cs typeface="Oxygen"/>
              <a:sym typeface="Oxygen"/>
            </a:endParaRPr>
          </a:p>
        </p:txBody>
      </p:sp>
      <p:cxnSp>
        <p:nvCxnSpPr>
          <p:cNvPr id="9322" name="Google Shape;9322;p418"/>
          <p:cNvCxnSpPr>
            <a:stCxn id="9319" idx="6"/>
            <a:endCxn id="9321" idx="2"/>
          </p:cNvCxnSpPr>
          <p:nvPr/>
        </p:nvCxnSpPr>
        <p:spPr>
          <a:xfrm>
            <a:off x="6195200" y="2793128"/>
            <a:ext cx="1277400" cy="0"/>
          </a:xfrm>
          <a:prstGeom prst="straightConnector1">
            <a:avLst/>
          </a:prstGeom>
          <a:noFill/>
          <a:ln cap="flat" cmpd="sng" w="38100">
            <a:solidFill>
              <a:schemeClr val="dk2"/>
            </a:solidFill>
            <a:prstDash val="solid"/>
            <a:round/>
            <a:headEnd len="med" w="med" type="none"/>
            <a:tailEnd len="med" w="med" type="none"/>
          </a:ln>
        </p:spPr>
      </p:cxnSp>
      <p:sp>
        <p:nvSpPr>
          <p:cNvPr id="9323" name="Google Shape;9323;p418"/>
          <p:cNvSpPr txBox="1"/>
          <p:nvPr/>
        </p:nvSpPr>
        <p:spPr>
          <a:xfrm>
            <a:off x="5240000" y="130943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Corre</a:t>
            </a:r>
            <a:r>
              <a:rPr b="1" lang="en" sz="1800">
                <a:latin typeface="Economica"/>
                <a:ea typeface="Economica"/>
                <a:cs typeface="Economica"/>
                <a:sym typeface="Economica"/>
              </a:rPr>
              <a:t>sp</a:t>
            </a:r>
            <a:r>
              <a:rPr b="1" lang="en" sz="1800">
                <a:latin typeface="Economica"/>
                <a:ea typeface="Economica"/>
                <a:cs typeface="Economica"/>
                <a:sym typeface="Economica"/>
              </a:rPr>
              <a:t>onding Image Graph</a:t>
            </a:r>
            <a:endParaRPr b="1" sz="1800">
              <a:latin typeface="Economica"/>
              <a:ea typeface="Economica"/>
              <a:cs typeface="Economica"/>
              <a:sym typeface="Economica"/>
            </a:endParaRPr>
          </a:p>
        </p:txBody>
      </p:sp>
      <p:cxnSp>
        <p:nvCxnSpPr>
          <p:cNvPr id="9324" name="Google Shape;9324;p418"/>
          <p:cNvCxnSpPr>
            <a:stCxn id="9319" idx="2"/>
            <a:endCxn id="9319" idx="0"/>
          </p:cNvCxnSpPr>
          <p:nvPr/>
        </p:nvCxnSpPr>
        <p:spPr>
          <a:xfrm flipH="1" rot="10800000">
            <a:off x="5250200" y="2377328"/>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325" name="Google Shape;9325;p418"/>
          <p:cNvCxnSpPr>
            <a:stCxn id="9320" idx="2"/>
            <a:endCxn id="9320" idx="0"/>
          </p:cNvCxnSpPr>
          <p:nvPr/>
        </p:nvCxnSpPr>
        <p:spPr>
          <a:xfrm flipH="1" rot="10800000">
            <a:off x="5250200" y="3467318"/>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326" name="Google Shape;9326;p418"/>
          <p:cNvCxnSpPr>
            <a:stCxn id="9320" idx="6"/>
            <a:endCxn id="9321" idx="3"/>
          </p:cNvCxnSpPr>
          <p:nvPr/>
        </p:nvCxnSpPr>
        <p:spPr>
          <a:xfrm flipH="1" rot="10800000">
            <a:off x="6195200" y="3086918"/>
            <a:ext cx="1415700" cy="796200"/>
          </a:xfrm>
          <a:prstGeom prst="straightConnector1">
            <a:avLst/>
          </a:prstGeom>
          <a:noFill/>
          <a:ln cap="flat" cmpd="sng" w="38100">
            <a:solidFill>
              <a:schemeClr val="dk2"/>
            </a:solidFill>
            <a:prstDash val="solid"/>
            <a:round/>
            <a:headEnd len="med" w="med" type="none"/>
            <a:tailEnd len="med" w="med" type="none"/>
          </a:ln>
        </p:spPr>
      </p:cxnSp>
      <p:sp>
        <p:nvSpPr>
          <p:cNvPr id="9327" name="Google Shape;9327;p418"/>
          <p:cNvSpPr txBox="1"/>
          <p:nvPr/>
        </p:nvSpPr>
        <p:spPr>
          <a:xfrm>
            <a:off x="1040575" y="1230300"/>
            <a:ext cx="33933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Regular</a:t>
            </a:r>
            <a:r>
              <a:rPr b="1" lang="en" sz="1800">
                <a:latin typeface="Economica"/>
                <a:ea typeface="Economica"/>
                <a:cs typeface="Economica"/>
                <a:sym typeface="Economica"/>
              </a:rPr>
              <a:t> Equivalence Blocked Matrix</a:t>
            </a:r>
            <a:endParaRPr b="1" sz="1800">
              <a:latin typeface="Economica"/>
              <a:ea typeface="Economica"/>
              <a:cs typeface="Economica"/>
              <a:sym typeface="Economica"/>
            </a:endParaRPr>
          </a:p>
        </p:txBody>
      </p:sp>
      <p:sp>
        <p:nvSpPr>
          <p:cNvPr id="9328" name="Google Shape;9328;p418"/>
          <p:cNvSpPr txBox="1"/>
          <p:nvPr>
            <p:ph idx="4294967295"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regular equivalence</a:t>
            </a:r>
            <a:endParaRPr/>
          </a:p>
        </p:txBody>
      </p:sp>
      <p:graphicFrame>
        <p:nvGraphicFramePr>
          <p:cNvPr id="9329" name="Google Shape;9329;p418"/>
          <p:cNvGraphicFramePr/>
          <p:nvPr/>
        </p:nvGraphicFramePr>
        <p:xfrm>
          <a:off x="1040575" y="1654733"/>
          <a:ext cx="3000000" cy="3000000"/>
        </p:xfrm>
        <a:graphic>
          <a:graphicData uri="http://schemas.openxmlformats.org/drawingml/2006/table">
            <a:tbl>
              <a:tblPr>
                <a:noFill/>
                <a:tableStyleId>{7DE59CC5-BFA2-4C44-9D40-4E4266A2D9C1}</a:tableStyleId>
              </a:tblPr>
              <a:tblGrid>
                <a:gridCol w="302750"/>
                <a:gridCol w="302750"/>
                <a:gridCol w="302750"/>
                <a:gridCol w="302750"/>
                <a:gridCol w="302750"/>
                <a:gridCol w="302750"/>
                <a:gridCol w="302750"/>
                <a:gridCol w="302750"/>
                <a:gridCol w="302750"/>
                <a:gridCol w="302750"/>
                <a:gridCol w="302750"/>
              </a:tblGrid>
              <a:tr h="287825">
                <a:tc>
                  <a:txBody>
                    <a:bodyPr/>
                    <a:lstStyle/>
                    <a:p>
                      <a:pPr indent="0" lvl="0" marL="0" rtl="0" algn="ctr">
                        <a:spcBef>
                          <a:spcPts val="0"/>
                        </a:spcBef>
                        <a:spcAft>
                          <a:spcPts val="0"/>
                        </a:spcAft>
                        <a:buNone/>
                      </a:pPr>
                      <a:r>
                        <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a</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c</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h</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j</a:t>
                      </a:r>
                      <a:endParaRPr b="1" sz="1100"/>
                    </a:p>
                  </a:txBody>
                  <a:tcPr marT="0" marB="0" marR="0" marL="0" anchor="ctr">
                    <a:lnL cap="flat" cmpd="sng" w="9525">
                      <a:solidFill>
                        <a:srgbClr val="B7B7B7"/>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FF0000"/>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28575">
                      <a:solidFill>
                        <a:srgbClr val="6AA84F"/>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b</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28575">
                      <a:solidFill>
                        <a:srgbClr val="FF0000"/>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d</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g</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6AA84F"/>
                      </a:solidFill>
                      <a:prstDash val="solid"/>
                      <a:round/>
                      <a:headEnd len="sm" w="sm" type="none"/>
                      <a:tailEnd len="sm" w="sm" type="none"/>
                    </a:lnT>
                    <a:lnB cap="flat" cmpd="sng" w="952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i</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6AA84F"/>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2857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6AA84F"/>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6AA84F"/>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6AA84F"/>
                      </a:solidFill>
                      <a:prstDash val="solid"/>
                      <a:round/>
                      <a:headEnd len="sm" w="sm" type="none"/>
                      <a:tailEnd len="sm" w="sm" type="none"/>
                    </a:lnT>
                    <a:lnB cap="flat" cmpd="sng" w="28575">
                      <a:solidFill>
                        <a:srgbClr val="6AA84F"/>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6350">
                <a:tc>
                  <a:txBody>
                    <a:bodyPr/>
                    <a:lstStyle/>
                    <a:p>
                      <a:pPr indent="0" lvl="0" marL="0" rtl="0" algn="ctr">
                        <a:spcBef>
                          <a:spcPts val="0"/>
                        </a:spcBef>
                        <a:spcAft>
                          <a:spcPts val="0"/>
                        </a:spcAft>
                        <a:buNone/>
                      </a:pPr>
                      <a:r>
                        <a:rPr b="1" lang="en" sz="1100"/>
                        <a:t>e</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28575">
                      <a:solidFill>
                        <a:srgbClr val="6AA84F"/>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0" marB="0" marR="0" marL="0" anchor="ctr">
                    <a:lnL cap="flat" cmpd="sng" w="28575">
                      <a:solidFill>
                        <a:srgbClr val="3C78D8"/>
                      </a:solidFill>
                      <a:prstDash val="solid"/>
                      <a:round/>
                      <a:headEnd len="sm" w="sm" type="none"/>
                      <a:tailEnd len="sm" w="sm" type="none"/>
                    </a:lnL>
                    <a:lnR cap="flat" cmpd="sng" w="9525">
                      <a:solidFill>
                        <a:srgbClr val="3C78D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3C78D8"/>
                      </a:solidFill>
                      <a:prstDash val="solid"/>
                      <a:round/>
                      <a:headEnd len="sm" w="sm" type="none"/>
                      <a:tailEnd len="sm" w="sm" type="none"/>
                    </a:lnB>
                    <a:solidFill>
                      <a:srgbClr val="3C78D8"/>
                    </a:solidFill>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3C78D8"/>
                      </a:solidFill>
                      <a:prstDash val="solid"/>
                      <a:round/>
                      <a:headEnd len="sm" w="sm" type="none"/>
                      <a:tailEnd len="sm" w="sm" type="none"/>
                    </a:lnB>
                    <a:solidFill>
                      <a:srgbClr val="3C78D8"/>
                    </a:solidFill>
                  </a:tcPr>
                </a:tc>
              </a:tr>
              <a:tr h="286350">
                <a:tc>
                  <a:txBody>
                    <a:bodyPr/>
                    <a:lstStyle/>
                    <a:p>
                      <a:pPr indent="0" lvl="0" marL="0" rtl="0" algn="ctr">
                        <a:spcBef>
                          <a:spcPts val="0"/>
                        </a:spcBef>
                        <a:spcAft>
                          <a:spcPts val="0"/>
                        </a:spcAft>
                        <a:buNone/>
                      </a:pPr>
                      <a:r>
                        <a:rPr b="1" lang="en" sz="1100"/>
                        <a:t>f</a:t>
                      </a:r>
                      <a:endParaRPr b="1"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0</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9525">
                      <a:solidFill>
                        <a:srgbClr val="B7B7B7"/>
                      </a:solidFill>
                      <a:prstDash val="solid"/>
                      <a:round/>
                      <a:headEnd len="sm" w="sm" type="none"/>
                      <a:tailEnd len="sm" w="sm" type="none"/>
                    </a:lnL>
                    <a:lnR cap="flat" cmpd="sng" w="28575">
                      <a:solidFill>
                        <a:srgbClr val="3C78D8"/>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 sz="1100"/>
                        <a:t>1</a:t>
                      </a:r>
                      <a:endParaRPr sz="1100"/>
                    </a:p>
                  </a:txBody>
                  <a:tcPr marT="0" marB="0" marR="0" marL="0" anchor="ctr">
                    <a:lnL cap="flat" cmpd="sng" w="28575">
                      <a:solidFill>
                        <a:srgbClr val="3C78D8"/>
                      </a:solidFill>
                      <a:prstDash val="solid"/>
                      <a:round/>
                      <a:headEnd len="sm" w="sm" type="none"/>
                      <a:tailEnd len="sm" w="sm" type="none"/>
                    </a:lnL>
                    <a:lnR cap="flat" cmpd="sng" w="9525">
                      <a:solidFill>
                        <a:srgbClr val="3C78D8"/>
                      </a:solidFill>
                      <a:prstDash val="solid"/>
                      <a:round/>
                      <a:headEnd len="sm" w="sm" type="none"/>
                      <a:tailEnd len="sm" w="sm" type="none"/>
                    </a:lnR>
                    <a:lnT cap="flat" cmpd="sng" w="952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3C78D8"/>
                    </a:solidFill>
                  </a:tcPr>
                </a:tc>
                <a:tc>
                  <a:txBody>
                    <a:bodyPr/>
                    <a:lstStyle/>
                    <a:p>
                      <a:pPr indent="0" lvl="0" marL="0" rtl="0" algn="ctr">
                        <a:spcBef>
                          <a:spcPts val="0"/>
                        </a:spcBef>
                        <a:spcAft>
                          <a:spcPts val="0"/>
                        </a:spcAft>
                        <a:buNone/>
                      </a:pPr>
                      <a:r>
                        <a:rPr lang="en" sz="1100"/>
                        <a:t>--</a:t>
                      </a:r>
                      <a:endParaRPr sz="1100"/>
                    </a:p>
                  </a:txBody>
                  <a:tcPr marT="0" marB="0" marR="0" marL="0" anchor="ctr">
                    <a:lnL cap="flat" cmpd="sng" w="9525">
                      <a:solidFill>
                        <a:srgbClr val="3C78D8"/>
                      </a:solidFill>
                      <a:prstDash val="solid"/>
                      <a:round/>
                      <a:headEnd len="sm" w="sm" type="none"/>
                      <a:tailEnd len="sm" w="sm" type="none"/>
                    </a:lnL>
                    <a:lnR cap="flat" cmpd="sng" w="28575">
                      <a:solidFill>
                        <a:srgbClr val="3C78D8"/>
                      </a:solidFill>
                      <a:prstDash val="solid"/>
                      <a:round/>
                      <a:headEnd len="sm" w="sm" type="none"/>
                      <a:tailEnd len="sm" w="sm" type="none"/>
                    </a:lnR>
                    <a:lnT cap="flat" cmpd="sng" w="952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3C78D8"/>
                    </a:solidFill>
                  </a:tcPr>
                </a:tc>
              </a:tr>
            </a:tbl>
          </a:graphicData>
        </a:graphic>
      </p:graphicFrame>
    </p:spTree>
  </p:cSld>
  <p:clrMapOvr>
    <a:masterClrMapping/>
  </p:clrMapOvr>
</p:sld>
</file>

<file path=ppt/slides/slide3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3" name="Shape 9333"/>
        <p:cNvGrpSpPr/>
        <p:nvPr/>
      </p:nvGrpSpPr>
      <p:grpSpPr>
        <a:xfrm>
          <a:off x="0" y="0"/>
          <a:ext cx="0" cy="0"/>
          <a:chOff x="0" y="0"/>
          <a:chExt cx="0" cy="0"/>
        </a:xfrm>
      </p:grpSpPr>
      <p:graphicFrame>
        <p:nvGraphicFramePr>
          <p:cNvPr id="9334" name="Google Shape;9334;p419"/>
          <p:cNvGraphicFramePr/>
          <p:nvPr/>
        </p:nvGraphicFramePr>
        <p:xfrm>
          <a:off x="648063" y="1836945"/>
          <a:ext cx="3000000" cy="3000000"/>
        </p:xfrm>
        <a:graphic>
          <a:graphicData uri="http://schemas.openxmlformats.org/drawingml/2006/table">
            <a:tbl>
              <a:tblPr>
                <a:noFill/>
                <a:tableStyleId>{7DE59CC5-BFA2-4C44-9D40-4E4266A2D9C1}</a:tableStyleId>
              </a:tblPr>
              <a:tblGrid>
                <a:gridCol w="1057400"/>
                <a:gridCol w="1057400"/>
                <a:gridCol w="1057400"/>
                <a:gridCol w="1057400"/>
              </a:tblGrid>
              <a:tr h="619550">
                <a:tc>
                  <a:txBody>
                    <a:bodyPr/>
                    <a:lstStyle/>
                    <a:p>
                      <a:pPr indent="0" lvl="0" marL="0" rtl="0" algn="l">
                        <a:spcBef>
                          <a:spcPts val="0"/>
                        </a:spcBef>
                        <a:spcAft>
                          <a:spcPts val="0"/>
                        </a:spcAft>
                        <a:buNone/>
                      </a:pPr>
                      <a:r>
                        <a:t/>
                      </a:r>
                      <a:endParaRPr b="1" sz="1600"/>
                    </a:p>
                  </a:txBody>
                  <a:tcPr marT="82275" marB="8227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a, c, h, j</a:t>
                      </a:r>
                      <a:endParaRPr b="1" sz="1600">
                        <a:solidFill>
                          <a:schemeClr val="dk1"/>
                        </a:solidFill>
                        <a:latin typeface="Oxygen"/>
                        <a:ea typeface="Oxygen"/>
                        <a:cs typeface="Oxygen"/>
                        <a:sym typeface="Oxygen"/>
                      </a:endParaRPr>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b, d, g, i</a:t>
                      </a:r>
                      <a:endParaRPr b="1" sz="1600">
                        <a:solidFill>
                          <a:schemeClr val="dk1"/>
                        </a:solidFill>
                        <a:latin typeface="Oxygen"/>
                        <a:ea typeface="Oxygen"/>
                        <a:cs typeface="Oxygen"/>
                        <a:sym typeface="Oxygen"/>
                      </a:endParaRPr>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Oxygen"/>
                          <a:ea typeface="Oxygen"/>
                          <a:cs typeface="Oxygen"/>
                          <a:sym typeface="Oxygen"/>
                        </a:rPr>
                        <a:t>e, f</a:t>
                      </a:r>
                      <a:endParaRPr b="1" sz="1600">
                        <a:solidFill>
                          <a:schemeClr val="dk1"/>
                        </a:solidFill>
                        <a:latin typeface="Oxygen"/>
                        <a:ea typeface="Oxygen"/>
                        <a:cs typeface="Oxygen"/>
                        <a:sym typeface="Oxygen"/>
                      </a:endParaRPr>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619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a, c, h, j</a:t>
                      </a:r>
                      <a:endParaRPr b="1" sz="1600"/>
                    </a:p>
                  </a:txBody>
                  <a:tcPr marT="82275" marB="8227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1</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1</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0</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619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b, d, g, i</a:t>
                      </a:r>
                      <a:endParaRPr b="1" sz="1600"/>
                    </a:p>
                  </a:txBody>
                  <a:tcPr marT="82275" marB="8227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1</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0</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1</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619550">
                <a:tc>
                  <a:txBody>
                    <a:bodyPr/>
                    <a:lstStyle/>
                    <a:p>
                      <a:pPr indent="0" lvl="0" marL="0" rtl="0" algn="l">
                        <a:spcBef>
                          <a:spcPts val="0"/>
                        </a:spcBef>
                        <a:spcAft>
                          <a:spcPts val="0"/>
                        </a:spcAft>
                        <a:buNone/>
                      </a:pPr>
                      <a:r>
                        <a:rPr b="1" lang="en" sz="1600">
                          <a:solidFill>
                            <a:schemeClr val="dk1"/>
                          </a:solidFill>
                          <a:latin typeface="Oxygen"/>
                          <a:ea typeface="Oxygen"/>
                          <a:cs typeface="Oxygen"/>
                          <a:sym typeface="Oxygen"/>
                        </a:rPr>
                        <a:t>e</a:t>
                      </a:r>
                      <a:r>
                        <a:rPr b="1" lang="en" sz="1600">
                          <a:solidFill>
                            <a:schemeClr val="dk1"/>
                          </a:solidFill>
                          <a:latin typeface="Oxygen"/>
                          <a:ea typeface="Oxygen"/>
                          <a:cs typeface="Oxygen"/>
                          <a:sym typeface="Oxygen"/>
                        </a:rPr>
                        <a:t>, f</a:t>
                      </a:r>
                      <a:endParaRPr b="1" sz="1600"/>
                    </a:p>
                  </a:txBody>
                  <a:tcPr marT="82275" marB="8227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0</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1</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1</a:t>
                      </a:r>
                      <a:endParaRPr sz="1600"/>
                    </a:p>
                  </a:txBody>
                  <a:tcPr marT="82275" marB="8227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335" name="Google Shape;9335;p419"/>
          <p:cNvSpPr txBox="1"/>
          <p:nvPr/>
        </p:nvSpPr>
        <p:spPr>
          <a:xfrm>
            <a:off x="1041013" y="130943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chemeClr val="dk1"/>
                </a:solidFill>
                <a:latin typeface="Economica"/>
                <a:ea typeface="Economica"/>
                <a:cs typeface="Economica"/>
                <a:sym typeface="Economica"/>
              </a:rPr>
              <a:t>Regular Equivalence Image Matrix</a:t>
            </a:r>
            <a:endParaRPr b="1" sz="1800">
              <a:solidFill>
                <a:schemeClr val="dk1"/>
              </a:solidFill>
              <a:latin typeface="Economica"/>
              <a:ea typeface="Economica"/>
              <a:cs typeface="Economica"/>
              <a:sym typeface="Economica"/>
            </a:endParaRPr>
          </a:p>
          <a:p>
            <a:pPr indent="0" lvl="0" marL="0" rtl="0" algn="ctr">
              <a:spcBef>
                <a:spcPts val="0"/>
              </a:spcBef>
              <a:spcAft>
                <a:spcPts val="0"/>
              </a:spcAft>
              <a:buNone/>
            </a:pPr>
            <a:r>
              <a:t/>
            </a:r>
            <a:endParaRPr b="1" sz="1800">
              <a:latin typeface="Economica"/>
              <a:ea typeface="Economica"/>
              <a:cs typeface="Economica"/>
              <a:sym typeface="Economica"/>
            </a:endParaRPr>
          </a:p>
        </p:txBody>
      </p:sp>
      <p:sp>
        <p:nvSpPr>
          <p:cNvPr id="9336" name="Google Shape;9336;p419"/>
          <p:cNvSpPr txBox="1"/>
          <p:nvPr>
            <p:ph idx="4294967295"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regular equivalence</a:t>
            </a:r>
            <a:endParaRPr/>
          </a:p>
        </p:txBody>
      </p:sp>
      <p:sp>
        <p:nvSpPr>
          <p:cNvPr id="9337" name="Google Shape;9337;p419"/>
          <p:cNvSpPr txBox="1"/>
          <p:nvPr/>
        </p:nvSpPr>
        <p:spPr>
          <a:xfrm>
            <a:off x="5240000" y="1309433"/>
            <a:ext cx="3177600" cy="42444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Corre</a:t>
            </a:r>
            <a:r>
              <a:rPr b="1" lang="en" sz="1800">
                <a:latin typeface="Economica"/>
                <a:ea typeface="Economica"/>
                <a:cs typeface="Economica"/>
                <a:sym typeface="Economica"/>
              </a:rPr>
              <a:t>sp</a:t>
            </a:r>
            <a:r>
              <a:rPr b="1" lang="en" sz="1800">
                <a:latin typeface="Economica"/>
                <a:ea typeface="Economica"/>
                <a:cs typeface="Economica"/>
                <a:sym typeface="Economica"/>
              </a:rPr>
              <a:t>onding Image Graph</a:t>
            </a:r>
            <a:endParaRPr b="1" sz="1800">
              <a:latin typeface="Economica"/>
              <a:ea typeface="Economica"/>
              <a:cs typeface="Economica"/>
              <a:sym typeface="Economica"/>
            </a:endParaRPr>
          </a:p>
        </p:txBody>
      </p:sp>
      <p:sp>
        <p:nvSpPr>
          <p:cNvPr id="9338" name="Google Shape;9338;p419"/>
          <p:cNvSpPr/>
          <p:nvPr/>
        </p:nvSpPr>
        <p:spPr>
          <a:xfrm>
            <a:off x="5250200" y="2377463"/>
            <a:ext cx="945000" cy="83133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a, c, h, j</a:t>
            </a:r>
            <a:endParaRPr sz="1800">
              <a:latin typeface="Oxygen"/>
              <a:ea typeface="Oxygen"/>
              <a:cs typeface="Oxygen"/>
              <a:sym typeface="Oxygen"/>
            </a:endParaRPr>
          </a:p>
        </p:txBody>
      </p:sp>
      <p:sp>
        <p:nvSpPr>
          <p:cNvPr id="9339" name="Google Shape;9339;p419"/>
          <p:cNvSpPr/>
          <p:nvPr/>
        </p:nvSpPr>
        <p:spPr>
          <a:xfrm>
            <a:off x="5250200" y="3467453"/>
            <a:ext cx="945000" cy="83133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e, f</a:t>
            </a:r>
            <a:endParaRPr sz="1800">
              <a:latin typeface="Oxygen"/>
              <a:ea typeface="Oxygen"/>
              <a:cs typeface="Oxygen"/>
              <a:sym typeface="Oxygen"/>
            </a:endParaRPr>
          </a:p>
        </p:txBody>
      </p:sp>
      <p:sp>
        <p:nvSpPr>
          <p:cNvPr id="9340" name="Google Shape;9340;p419"/>
          <p:cNvSpPr/>
          <p:nvPr/>
        </p:nvSpPr>
        <p:spPr>
          <a:xfrm>
            <a:off x="7472600" y="2377463"/>
            <a:ext cx="945000" cy="83133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Oxygen"/>
                <a:ea typeface="Oxygen"/>
                <a:cs typeface="Oxygen"/>
                <a:sym typeface="Oxygen"/>
              </a:rPr>
              <a:t>b, d, g, i</a:t>
            </a:r>
            <a:endParaRPr sz="1800">
              <a:latin typeface="Oxygen"/>
              <a:ea typeface="Oxygen"/>
              <a:cs typeface="Oxygen"/>
              <a:sym typeface="Oxygen"/>
            </a:endParaRPr>
          </a:p>
        </p:txBody>
      </p:sp>
      <p:cxnSp>
        <p:nvCxnSpPr>
          <p:cNvPr id="9341" name="Google Shape;9341;p419"/>
          <p:cNvCxnSpPr>
            <a:stCxn id="9338" idx="6"/>
            <a:endCxn id="9340" idx="2"/>
          </p:cNvCxnSpPr>
          <p:nvPr/>
        </p:nvCxnSpPr>
        <p:spPr>
          <a:xfrm>
            <a:off x="6195200" y="2793128"/>
            <a:ext cx="1277400" cy="0"/>
          </a:xfrm>
          <a:prstGeom prst="straightConnector1">
            <a:avLst/>
          </a:prstGeom>
          <a:noFill/>
          <a:ln cap="flat" cmpd="sng" w="38100">
            <a:solidFill>
              <a:schemeClr val="dk2"/>
            </a:solidFill>
            <a:prstDash val="solid"/>
            <a:round/>
            <a:headEnd len="med" w="med" type="none"/>
            <a:tailEnd len="med" w="med" type="none"/>
          </a:ln>
        </p:spPr>
      </p:cxnSp>
      <p:cxnSp>
        <p:nvCxnSpPr>
          <p:cNvPr id="9342" name="Google Shape;9342;p419"/>
          <p:cNvCxnSpPr>
            <a:stCxn id="9338" idx="2"/>
            <a:endCxn id="9338" idx="0"/>
          </p:cNvCxnSpPr>
          <p:nvPr/>
        </p:nvCxnSpPr>
        <p:spPr>
          <a:xfrm flipH="1" rot="10800000">
            <a:off x="5250200" y="2377328"/>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343" name="Google Shape;9343;p419"/>
          <p:cNvCxnSpPr>
            <a:stCxn id="9339" idx="2"/>
            <a:endCxn id="9339" idx="0"/>
          </p:cNvCxnSpPr>
          <p:nvPr/>
        </p:nvCxnSpPr>
        <p:spPr>
          <a:xfrm flipH="1" rot="10800000">
            <a:off x="5250200" y="3467318"/>
            <a:ext cx="472500" cy="415800"/>
          </a:xfrm>
          <a:prstGeom prst="curvedConnector4">
            <a:avLst>
              <a:gd fmla="val -50397" name="adj1"/>
              <a:gd fmla="val 151510" name="adj2"/>
            </a:avLst>
          </a:prstGeom>
          <a:noFill/>
          <a:ln cap="flat" cmpd="sng" w="38100">
            <a:solidFill>
              <a:schemeClr val="dk2"/>
            </a:solidFill>
            <a:prstDash val="solid"/>
            <a:round/>
            <a:headEnd len="med" w="med" type="none"/>
            <a:tailEnd len="med" w="med" type="none"/>
          </a:ln>
        </p:spPr>
      </p:cxnSp>
      <p:cxnSp>
        <p:nvCxnSpPr>
          <p:cNvPr id="9344" name="Google Shape;9344;p419"/>
          <p:cNvCxnSpPr>
            <a:stCxn id="9339" idx="6"/>
            <a:endCxn id="9340" idx="3"/>
          </p:cNvCxnSpPr>
          <p:nvPr/>
        </p:nvCxnSpPr>
        <p:spPr>
          <a:xfrm flipH="1" rot="10800000">
            <a:off x="6195200" y="3086918"/>
            <a:ext cx="1415700" cy="7962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3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8" name="Shape 9348"/>
        <p:cNvGrpSpPr/>
        <p:nvPr/>
      </p:nvGrpSpPr>
      <p:grpSpPr>
        <a:xfrm>
          <a:off x="0" y="0"/>
          <a:ext cx="0" cy="0"/>
          <a:chOff x="0" y="0"/>
          <a:chExt cx="0" cy="0"/>
        </a:xfrm>
      </p:grpSpPr>
      <p:sp>
        <p:nvSpPr>
          <p:cNvPr id="9349" name="Google Shape;9349;p420"/>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based on regular equivalence</a:t>
            </a:r>
            <a:endParaRPr/>
          </a:p>
        </p:txBody>
      </p:sp>
      <p:sp>
        <p:nvSpPr>
          <p:cNvPr id="9350" name="Google Shape;9350;p420"/>
          <p:cNvSpPr txBox="1"/>
          <p:nvPr>
            <p:ph idx="1" type="body"/>
          </p:nvPr>
        </p:nvSpPr>
        <p:spPr>
          <a:xfrm>
            <a:off x="311700" y="1225220"/>
            <a:ext cx="8520600" cy="161541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If two actors are regularly equivalent they have the same graph theoretic attributes, and </a:t>
            </a:r>
            <a:r>
              <a:rPr b="1" lang="en"/>
              <a:t>vice versa:</a:t>
            </a:r>
            <a:endParaRPr b="1"/>
          </a:p>
          <a:p>
            <a:pPr indent="-317500" lvl="1" marL="914400" rtl="0" algn="l">
              <a:spcBef>
                <a:spcPts val="0"/>
              </a:spcBef>
              <a:spcAft>
                <a:spcPts val="0"/>
              </a:spcAft>
              <a:buSzPts val="1400"/>
              <a:buChar char="○"/>
            </a:pPr>
            <a:r>
              <a:rPr lang="en"/>
              <a:t>If two actors share all graph theoretic attributes they are regularly equivalent</a:t>
            </a:r>
            <a:endParaRPr/>
          </a:p>
          <a:p>
            <a:pPr indent="-317500" lvl="1" marL="914400" rtl="0" algn="l">
              <a:spcBef>
                <a:spcPts val="0"/>
              </a:spcBef>
              <a:spcAft>
                <a:spcPts val="0"/>
              </a:spcAft>
              <a:buSzPts val="1400"/>
              <a:buChar char="○"/>
            </a:pPr>
            <a:r>
              <a:rPr lang="en"/>
              <a:t>Regular equivalence is a </a:t>
            </a:r>
            <a:r>
              <a:rPr b="1" lang="en"/>
              <a:t>non-local</a:t>
            </a:r>
            <a:r>
              <a:rPr b="1" lang="en"/>
              <a:t> concept</a:t>
            </a:r>
            <a:endParaRPr/>
          </a:p>
        </p:txBody>
      </p:sp>
      <p:grpSp>
        <p:nvGrpSpPr>
          <p:cNvPr id="9351" name="Google Shape;9351;p420"/>
          <p:cNvGrpSpPr/>
          <p:nvPr/>
        </p:nvGrpSpPr>
        <p:grpSpPr>
          <a:xfrm>
            <a:off x="831375" y="2879280"/>
            <a:ext cx="7555950" cy="1918868"/>
            <a:chOff x="831375" y="3199200"/>
            <a:chExt cx="7555950" cy="2132075"/>
          </a:xfrm>
        </p:grpSpPr>
        <p:grpSp>
          <p:nvGrpSpPr>
            <p:cNvPr id="9352" name="Google Shape;9352;p420"/>
            <p:cNvGrpSpPr/>
            <p:nvPr/>
          </p:nvGrpSpPr>
          <p:grpSpPr>
            <a:xfrm>
              <a:off x="831375" y="3199200"/>
              <a:ext cx="7555950" cy="1938650"/>
              <a:chOff x="868500" y="3078125"/>
              <a:chExt cx="7555950" cy="1938650"/>
            </a:xfrm>
          </p:grpSpPr>
          <p:sp>
            <p:nvSpPr>
              <p:cNvPr id="9353" name="Google Shape;9353;p420"/>
              <p:cNvSpPr/>
              <p:nvPr/>
            </p:nvSpPr>
            <p:spPr>
              <a:xfrm>
                <a:off x="86850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sp>
            <p:nvSpPr>
              <p:cNvPr id="9354" name="Google Shape;9354;p420"/>
              <p:cNvSpPr/>
              <p:nvPr/>
            </p:nvSpPr>
            <p:spPr>
              <a:xfrm>
                <a:off x="868700" y="4371050"/>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a:t>
                </a:r>
                <a:endParaRPr sz="1800"/>
              </a:p>
            </p:txBody>
          </p:sp>
          <p:sp>
            <p:nvSpPr>
              <p:cNvPr id="9355" name="Google Shape;9355;p420"/>
              <p:cNvSpPr/>
              <p:nvPr/>
            </p:nvSpPr>
            <p:spPr>
              <a:xfrm>
                <a:off x="261445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9356" name="Google Shape;9356;p420"/>
              <p:cNvSpPr/>
              <p:nvPr/>
            </p:nvSpPr>
            <p:spPr>
              <a:xfrm>
                <a:off x="2614450" y="4371050"/>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d</a:t>
                </a:r>
                <a:endParaRPr sz="1800"/>
              </a:p>
            </p:txBody>
          </p:sp>
          <p:sp>
            <p:nvSpPr>
              <p:cNvPr id="9357" name="Google Shape;9357;p420"/>
              <p:cNvSpPr/>
              <p:nvPr/>
            </p:nvSpPr>
            <p:spPr>
              <a:xfrm>
                <a:off x="3679950" y="3724550"/>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9358" name="Google Shape;9358;p420"/>
              <p:cNvSpPr/>
              <p:nvPr/>
            </p:nvSpPr>
            <p:spPr>
              <a:xfrm>
                <a:off x="5000350" y="3724625"/>
                <a:ext cx="601500" cy="580200"/>
              </a:xfrm>
              <a:prstGeom prst="ellipse">
                <a:avLst/>
              </a:prstGeom>
              <a:solidFill>
                <a:srgbClr val="3C78D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f</a:t>
                </a:r>
                <a:endParaRPr sz="1800"/>
              </a:p>
            </p:txBody>
          </p:sp>
          <p:sp>
            <p:nvSpPr>
              <p:cNvPr id="9359" name="Google Shape;9359;p420"/>
              <p:cNvSpPr/>
              <p:nvPr/>
            </p:nvSpPr>
            <p:spPr>
              <a:xfrm>
                <a:off x="6077000" y="307812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sp>
            <p:nvSpPr>
              <p:cNvPr id="9360" name="Google Shape;9360;p420"/>
              <p:cNvSpPr/>
              <p:nvPr/>
            </p:nvSpPr>
            <p:spPr>
              <a:xfrm>
                <a:off x="6077000" y="4436575"/>
                <a:ext cx="601500" cy="580200"/>
              </a:xfrm>
              <a:prstGeom prst="ellipse">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9361" name="Google Shape;9361;p420"/>
              <p:cNvSpPr/>
              <p:nvPr/>
            </p:nvSpPr>
            <p:spPr>
              <a:xfrm>
                <a:off x="7822950" y="307812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h</a:t>
                </a:r>
                <a:endParaRPr sz="1800"/>
              </a:p>
            </p:txBody>
          </p:sp>
          <p:sp>
            <p:nvSpPr>
              <p:cNvPr id="9362" name="Google Shape;9362;p420"/>
              <p:cNvSpPr/>
              <p:nvPr/>
            </p:nvSpPr>
            <p:spPr>
              <a:xfrm>
                <a:off x="7822850" y="4436575"/>
                <a:ext cx="601500" cy="580200"/>
              </a:xfrm>
              <a:prstGeom prst="ellipse">
                <a:avLst/>
              </a:prstGeom>
              <a:solidFill>
                <a:srgbClr val="FF0000"/>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j</a:t>
                </a:r>
                <a:endParaRPr sz="1800"/>
              </a:p>
            </p:txBody>
          </p:sp>
          <p:cxnSp>
            <p:nvCxnSpPr>
              <p:cNvPr id="9363" name="Google Shape;9363;p420"/>
              <p:cNvCxnSpPr>
                <a:stCxn id="9353" idx="6"/>
                <a:endCxn id="9355"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364" name="Google Shape;9364;p420"/>
              <p:cNvCxnSpPr>
                <a:stCxn id="9353" idx="5"/>
                <a:endCxn id="9356"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9365" name="Google Shape;9365;p420"/>
              <p:cNvCxnSpPr>
                <a:stCxn id="9354" idx="7"/>
                <a:endCxn id="9355"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9366" name="Google Shape;9366;p420"/>
              <p:cNvCxnSpPr>
                <a:stCxn id="9353" idx="4"/>
                <a:endCxn id="9354"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9367" name="Google Shape;9367;p420"/>
              <p:cNvCxnSpPr>
                <a:stCxn id="9354" idx="6"/>
                <a:endCxn id="9356"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9368" name="Google Shape;9368;p420"/>
              <p:cNvCxnSpPr>
                <a:stCxn id="9355" idx="6"/>
                <a:endCxn id="9357"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369" name="Google Shape;9369;p420"/>
              <p:cNvCxnSpPr>
                <a:stCxn id="9357" idx="3"/>
                <a:endCxn id="9356"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370" name="Google Shape;9370;p420"/>
              <p:cNvCxnSpPr>
                <a:stCxn id="9358" idx="2"/>
                <a:endCxn id="9357"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9371" name="Google Shape;9371;p420"/>
              <p:cNvCxnSpPr>
                <a:stCxn id="9359" idx="2"/>
                <a:endCxn id="9358"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9372" name="Google Shape;9372;p420"/>
              <p:cNvCxnSpPr>
                <a:stCxn id="9360" idx="2"/>
                <a:endCxn id="9358"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9373" name="Google Shape;9373;p420"/>
              <p:cNvCxnSpPr>
                <a:stCxn id="9359" idx="5"/>
                <a:endCxn id="9362"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374" name="Google Shape;9374;p420"/>
              <p:cNvCxnSpPr>
                <a:stCxn id="9361" idx="3"/>
                <a:endCxn id="9360"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375" name="Google Shape;9375;p420"/>
              <p:cNvCxnSpPr>
                <a:stCxn id="9361" idx="2"/>
                <a:endCxn id="9359"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376" name="Google Shape;9376;p420"/>
              <p:cNvCxnSpPr>
                <a:stCxn id="9361" idx="4"/>
                <a:endCxn id="9362"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9377" name="Google Shape;9377;p420"/>
              <p:cNvCxnSpPr>
                <a:stCxn id="9362" idx="2"/>
                <a:endCxn id="9360"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9378" name="Google Shape;9378;p420"/>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2" name="Shape 9382"/>
        <p:cNvGrpSpPr/>
        <p:nvPr/>
      </p:nvGrpSpPr>
      <p:grpSpPr>
        <a:xfrm>
          <a:off x="0" y="0"/>
          <a:ext cx="0" cy="0"/>
          <a:chOff x="0" y="0"/>
          <a:chExt cx="0" cy="0"/>
        </a:xfrm>
      </p:grpSpPr>
      <p:sp>
        <p:nvSpPr>
          <p:cNvPr id="9383" name="Google Shape;9383;p421"/>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Notions of Equivalence: Regular Equivalence </a:t>
            </a:r>
            <a:endParaRPr/>
          </a:p>
        </p:txBody>
      </p:sp>
      <p:sp>
        <p:nvSpPr>
          <p:cNvPr id="9384" name="Google Shape;9384;p421"/>
          <p:cNvSpPr txBox="1"/>
          <p:nvPr>
            <p:ph idx="1" type="body"/>
          </p:nvPr>
        </p:nvSpPr>
        <p:spPr>
          <a:xfrm>
            <a:off x="311700" y="1225220"/>
            <a:ext cx="8520600" cy="161541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If two actors are regularly equivalent they have the same graph theoretic attributes, and </a:t>
            </a:r>
            <a:r>
              <a:rPr b="1" lang="en"/>
              <a:t>vice versa:</a:t>
            </a:r>
            <a:endParaRPr b="1"/>
          </a:p>
          <a:p>
            <a:pPr indent="-317500" lvl="1" marL="914400" rtl="0" algn="l">
              <a:spcBef>
                <a:spcPts val="0"/>
              </a:spcBef>
              <a:spcAft>
                <a:spcPts val="0"/>
              </a:spcAft>
              <a:buSzPts val="1400"/>
              <a:buChar char="○"/>
            </a:pPr>
            <a:r>
              <a:rPr lang="en"/>
              <a:t>If two actors share all graph theoretic attributes they are regularly equivalent</a:t>
            </a:r>
            <a:endParaRPr/>
          </a:p>
          <a:p>
            <a:pPr indent="-317500" lvl="1" marL="914400" rtl="0" algn="l">
              <a:spcBef>
                <a:spcPts val="0"/>
              </a:spcBef>
              <a:spcAft>
                <a:spcPts val="0"/>
              </a:spcAft>
              <a:buSzPts val="1400"/>
              <a:buChar char="○"/>
            </a:pPr>
            <a:r>
              <a:rPr lang="en"/>
              <a:t>Regular equivalence is a </a:t>
            </a:r>
            <a:r>
              <a:rPr b="1" lang="en"/>
              <a:t>non-local concept</a:t>
            </a:r>
            <a:endParaRPr b="1"/>
          </a:p>
          <a:p>
            <a:pPr indent="-317500" lvl="1" marL="914400" rtl="0" algn="l">
              <a:spcBef>
                <a:spcPts val="0"/>
              </a:spcBef>
              <a:spcAft>
                <a:spcPts val="0"/>
              </a:spcAft>
              <a:buSzPts val="1400"/>
              <a:buChar char="○"/>
            </a:pPr>
            <a:r>
              <a:rPr b="1" lang="en"/>
              <a:t>Simple trick: if you have a graph and lose the “vertex labels” nodes that cannot be told apart are regularly equivalent</a:t>
            </a:r>
            <a:endParaRPr b="1"/>
          </a:p>
        </p:txBody>
      </p:sp>
      <p:grpSp>
        <p:nvGrpSpPr>
          <p:cNvPr id="9385" name="Google Shape;9385;p421"/>
          <p:cNvGrpSpPr/>
          <p:nvPr/>
        </p:nvGrpSpPr>
        <p:grpSpPr>
          <a:xfrm>
            <a:off x="831375" y="2879280"/>
            <a:ext cx="7555950" cy="1918868"/>
            <a:chOff x="831375" y="3199200"/>
            <a:chExt cx="7555950" cy="2132075"/>
          </a:xfrm>
        </p:grpSpPr>
        <p:grpSp>
          <p:nvGrpSpPr>
            <p:cNvPr id="9386" name="Google Shape;9386;p421"/>
            <p:cNvGrpSpPr/>
            <p:nvPr/>
          </p:nvGrpSpPr>
          <p:grpSpPr>
            <a:xfrm>
              <a:off x="831375" y="3199200"/>
              <a:ext cx="7555950" cy="1938650"/>
              <a:chOff x="868500" y="3078125"/>
              <a:chExt cx="7555950" cy="1938650"/>
            </a:xfrm>
          </p:grpSpPr>
          <p:sp>
            <p:nvSpPr>
              <p:cNvPr id="9387" name="Google Shape;9387;p421"/>
              <p:cNvSpPr/>
              <p:nvPr/>
            </p:nvSpPr>
            <p:spPr>
              <a:xfrm>
                <a:off x="8685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88" name="Google Shape;9388;p421"/>
              <p:cNvSpPr/>
              <p:nvPr/>
            </p:nvSpPr>
            <p:spPr>
              <a:xfrm>
                <a:off x="86870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89" name="Google Shape;9389;p421"/>
              <p:cNvSpPr/>
              <p:nvPr/>
            </p:nvSpPr>
            <p:spPr>
              <a:xfrm>
                <a:off x="26144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90" name="Google Shape;9390;p421"/>
              <p:cNvSpPr/>
              <p:nvPr/>
            </p:nvSpPr>
            <p:spPr>
              <a:xfrm>
                <a:off x="2614450" y="43710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91" name="Google Shape;9391;p421"/>
              <p:cNvSpPr/>
              <p:nvPr/>
            </p:nvSpPr>
            <p:spPr>
              <a:xfrm>
                <a:off x="3679950" y="3724550"/>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92" name="Google Shape;9392;p421"/>
              <p:cNvSpPr/>
              <p:nvPr/>
            </p:nvSpPr>
            <p:spPr>
              <a:xfrm>
                <a:off x="5000350" y="37246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93" name="Google Shape;9393;p421"/>
              <p:cNvSpPr/>
              <p:nvPr/>
            </p:nvSpPr>
            <p:spPr>
              <a:xfrm>
                <a:off x="607700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94" name="Google Shape;9394;p421"/>
              <p:cNvSpPr/>
              <p:nvPr/>
            </p:nvSpPr>
            <p:spPr>
              <a:xfrm>
                <a:off x="607700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95" name="Google Shape;9395;p421"/>
              <p:cNvSpPr/>
              <p:nvPr/>
            </p:nvSpPr>
            <p:spPr>
              <a:xfrm>
                <a:off x="7822950" y="307812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9396" name="Google Shape;9396;p421"/>
              <p:cNvSpPr/>
              <p:nvPr/>
            </p:nvSpPr>
            <p:spPr>
              <a:xfrm>
                <a:off x="7822850" y="4436575"/>
                <a:ext cx="601500" cy="580200"/>
              </a:xfrm>
              <a:prstGeom prst="ellipse">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cxnSp>
            <p:nvCxnSpPr>
              <p:cNvPr id="9397" name="Google Shape;9397;p421"/>
              <p:cNvCxnSpPr>
                <a:stCxn id="9387" idx="6"/>
                <a:endCxn id="9389" idx="2"/>
              </p:cNvCxnSpPr>
              <p:nvPr/>
            </p:nvCxnSpPr>
            <p:spPr>
              <a:xfrm>
                <a:off x="147000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398" name="Google Shape;9398;p421"/>
              <p:cNvCxnSpPr>
                <a:stCxn id="9387" idx="5"/>
                <a:endCxn id="9390" idx="1"/>
              </p:cNvCxnSpPr>
              <p:nvPr/>
            </p:nvCxnSpPr>
            <p:spPr>
              <a:xfrm>
                <a:off x="1381912" y="3573357"/>
                <a:ext cx="1320600" cy="882600"/>
              </a:xfrm>
              <a:prstGeom prst="straightConnector1">
                <a:avLst/>
              </a:prstGeom>
              <a:noFill/>
              <a:ln cap="flat" cmpd="sng" w="28575">
                <a:solidFill>
                  <a:schemeClr val="dk2"/>
                </a:solidFill>
                <a:prstDash val="solid"/>
                <a:round/>
                <a:headEnd len="med" w="med" type="none"/>
                <a:tailEnd len="med" w="med" type="none"/>
              </a:ln>
            </p:spPr>
          </p:cxnSp>
          <p:cxnSp>
            <p:nvCxnSpPr>
              <p:cNvPr id="9399" name="Google Shape;9399;p421"/>
              <p:cNvCxnSpPr>
                <a:stCxn id="9388" idx="7"/>
                <a:endCxn id="9389" idx="3"/>
              </p:cNvCxnSpPr>
              <p:nvPr/>
            </p:nvCxnSpPr>
            <p:spPr>
              <a:xfrm flipH="1" rot="10800000">
                <a:off x="1382112" y="3573418"/>
                <a:ext cx="1320300" cy="882600"/>
              </a:xfrm>
              <a:prstGeom prst="straightConnector1">
                <a:avLst/>
              </a:prstGeom>
              <a:noFill/>
              <a:ln cap="flat" cmpd="sng" w="28575">
                <a:solidFill>
                  <a:schemeClr val="dk2"/>
                </a:solidFill>
                <a:prstDash val="solid"/>
                <a:round/>
                <a:headEnd len="med" w="med" type="none"/>
                <a:tailEnd len="med" w="med" type="none"/>
              </a:ln>
            </p:spPr>
          </p:cxnSp>
          <p:cxnSp>
            <p:nvCxnSpPr>
              <p:cNvPr id="9400" name="Google Shape;9400;p421"/>
              <p:cNvCxnSpPr>
                <a:stCxn id="9387" idx="4"/>
                <a:endCxn id="9388" idx="0"/>
              </p:cNvCxnSpPr>
              <p:nvPr/>
            </p:nvCxnSpPr>
            <p:spPr>
              <a:xfrm>
                <a:off x="1169250" y="3658325"/>
                <a:ext cx="300" cy="712800"/>
              </a:xfrm>
              <a:prstGeom prst="straightConnector1">
                <a:avLst/>
              </a:prstGeom>
              <a:noFill/>
              <a:ln cap="flat" cmpd="sng" w="28575">
                <a:solidFill>
                  <a:schemeClr val="dk2"/>
                </a:solidFill>
                <a:prstDash val="solid"/>
                <a:round/>
                <a:headEnd len="med" w="med" type="none"/>
                <a:tailEnd len="med" w="med" type="none"/>
              </a:ln>
            </p:spPr>
          </p:cxnSp>
          <p:cxnSp>
            <p:nvCxnSpPr>
              <p:cNvPr id="9401" name="Google Shape;9401;p421"/>
              <p:cNvCxnSpPr>
                <a:stCxn id="9388" idx="6"/>
                <a:endCxn id="9390" idx="2"/>
              </p:cNvCxnSpPr>
              <p:nvPr/>
            </p:nvCxnSpPr>
            <p:spPr>
              <a:xfrm>
                <a:off x="1470200" y="4661150"/>
                <a:ext cx="1144200" cy="0"/>
              </a:xfrm>
              <a:prstGeom prst="straightConnector1">
                <a:avLst/>
              </a:prstGeom>
              <a:noFill/>
              <a:ln cap="flat" cmpd="sng" w="28575">
                <a:solidFill>
                  <a:schemeClr val="dk2"/>
                </a:solidFill>
                <a:prstDash val="solid"/>
                <a:round/>
                <a:headEnd len="med" w="med" type="none"/>
                <a:tailEnd len="med" w="med" type="none"/>
              </a:ln>
            </p:spPr>
          </p:cxnSp>
          <p:cxnSp>
            <p:nvCxnSpPr>
              <p:cNvPr id="9402" name="Google Shape;9402;p421"/>
              <p:cNvCxnSpPr>
                <a:stCxn id="9389" idx="6"/>
                <a:endCxn id="9391" idx="1"/>
              </p:cNvCxnSpPr>
              <p:nvPr/>
            </p:nvCxnSpPr>
            <p:spPr>
              <a:xfrm>
                <a:off x="3215950" y="3368225"/>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403" name="Google Shape;9403;p421"/>
              <p:cNvCxnSpPr>
                <a:stCxn id="9391" idx="3"/>
                <a:endCxn id="9390" idx="6"/>
              </p:cNvCxnSpPr>
              <p:nvPr/>
            </p:nvCxnSpPr>
            <p:spPr>
              <a:xfrm flipH="1">
                <a:off x="3216038" y="4219782"/>
                <a:ext cx="552000" cy="441300"/>
              </a:xfrm>
              <a:prstGeom prst="straightConnector1">
                <a:avLst/>
              </a:prstGeom>
              <a:noFill/>
              <a:ln cap="flat" cmpd="sng" w="28575">
                <a:solidFill>
                  <a:schemeClr val="dk2"/>
                </a:solidFill>
                <a:prstDash val="solid"/>
                <a:round/>
                <a:headEnd len="med" w="med" type="none"/>
                <a:tailEnd len="med" w="med" type="none"/>
              </a:ln>
            </p:spPr>
          </p:cxnSp>
          <p:cxnSp>
            <p:nvCxnSpPr>
              <p:cNvPr id="9404" name="Google Shape;9404;p421"/>
              <p:cNvCxnSpPr>
                <a:stCxn id="9392" idx="2"/>
                <a:endCxn id="9391" idx="6"/>
              </p:cNvCxnSpPr>
              <p:nvPr/>
            </p:nvCxnSpPr>
            <p:spPr>
              <a:xfrm rot="10800000">
                <a:off x="4281550" y="4014725"/>
                <a:ext cx="718800" cy="0"/>
              </a:xfrm>
              <a:prstGeom prst="straightConnector1">
                <a:avLst/>
              </a:prstGeom>
              <a:noFill/>
              <a:ln cap="flat" cmpd="sng" w="28575">
                <a:solidFill>
                  <a:schemeClr val="dk2"/>
                </a:solidFill>
                <a:prstDash val="solid"/>
                <a:round/>
                <a:headEnd len="med" w="med" type="none"/>
                <a:tailEnd len="med" w="med" type="none"/>
              </a:ln>
            </p:spPr>
          </p:cxnSp>
          <p:cxnSp>
            <p:nvCxnSpPr>
              <p:cNvPr id="9405" name="Google Shape;9405;p421"/>
              <p:cNvCxnSpPr>
                <a:stCxn id="9393" idx="2"/>
                <a:endCxn id="9392" idx="7"/>
              </p:cNvCxnSpPr>
              <p:nvPr/>
            </p:nvCxnSpPr>
            <p:spPr>
              <a:xfrm flipH="1">
                <a:off x="5513900" y="3368225"/>
                <a:ext cx="563100" cy="441300"/>
              </a:xfrm>
              <a:prstGeom prst="straightConnector1">
                <a:avLst/>
              </a:prstGeom>
              <a:noFill/>
              <a:ln cap="flat" cmpd="sng" w="28575">
                <a:solidFill>
                  <a:schemeClr val="dk2"/>
                </a:solidFill>
                <a:prstDash val="solid"/>
                <a:round/>
                <a:headEnd len="med" w="med" type="none"/>
                <a:tailEnd len="med" w="med" type="none"/>
              </a:ln>
            </p:spPr>
          </p:cxnSp>
          <p:cxnSp>
            <p:nvCxnSpPr>
              <p:cNvPr id="9406" name="Google Shape;9406;p421"/>
              <p:cNvCxnSpPr>
                <a:stCxn id="9394" idx="2"/>
                <a:endCxn id="9392" idx="5"/>
              </p:cNvCxnSpPr>
              <p:nvPr/>
            </p:nvCxnSpPr>
            <p:spPr>
              <a:xfrm rot="10800000">
                <a:off x="5513900" y="4219975"/>
                <a:ext cx="563100" cy="506700"/>
              </a:xfrm>
              <a:prstGeom prst="straightConnector1">
                <a:avLst/>
              </a:prstGeom>
              <a:noFill/>
              <a:ln cap="flat" cmpd="sng" w="28575">
                <a:solidFill>
                  <a:schemeClr val="dk2"/>
                </a:solidFill>
                <a:prstDash val="solid"/>
                <a:round/>
                <a:headEnd len="med" w="med" type="none"/>
                <a:tailEnd len="med" w="med" type="none"/>
              </a:ln>
            </p:spPr>
          </p:cxnSp>
          <p:cxnSp>
            <p:nvCxnSpPr>
              <p:cNvPr id="9407" name="Google Shape;9407;p421"/>
              <p:cNvCxnSpPr>
                <a:stCxn id="9393" idx="5"/>
                <a:endCxn id="9396" idx="1"/>
              </p:cNvCxnSpPr>
              <p:nvPr/>
            </p:nvCxnSpPr>
            <p:spPr>
              <a:xfrm>
                <a:off x="6590412"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408" name="Google Shape;9408;p421"/>
              <p:cNvCxnSpPr>
                <a:stCxn id="9395" idx="3"/>
                <a:endCxn id="9394" idx="7"/>
              </p:cNvCxnSpPr>
              <p:nvPr/>
            </p:nvCxnSpPr>
            <p:spPr>
              <a:xfrm flipH="1">
                <a:off x="6590438" y="3573357"/>
                <a:ext cx="1320600" cy="948300"/>
              </a:xfrm>
              <a:prstGeom prst="straightConnector1">
                <a:avLst/>
              </a:prstGeom>
              <a:noFill/>
              <a:ln cap="flat" cmpd="sng" w="28575">
                <a:solidFill>
                  <a:schemeClr val="dk2"/>
                </a:solidFill>
                <a:prstDash val="solid"/>
                <a:round/>
                <a:headEnd len="med" w="med" type="none"/>
                <a:tailEnd len="med" w="med" type="none"/>
              </a:ln>
            </p:spPr>
          </p:cxnSp>
          <p:cxnSp>
            <p:nvCxnSpPr>
              <p:cNvPr id="9409" name="Google Shape;9409;p421"/>
              <p:cNvCxnSpPr>
                <a:stCxn id="9395" idx="2"/>
                <a:endCxn id="9393" idx="6"/>
              </p:cNvCxnSpPr>
              <p:nvPr/>
            </p:nvCxnSpPr>
            <p:spPr>
              <a:xfrm rot="10800000">
                <a:off x="6678450" y="3368225"/>
                <a:ext cx="1144500" cy="0"/>
              </a:xfrm>
              <a:prstGeom prst="straightConnector1">
                <a:avLst/>
              </a:prstGeom>
              <a:noFill/>
              <a:ln cap="flat" cmpd="sng" w="28575">
                <a:solidFill>
                  <a:schemeClr val="dk2"/>
                </a:solidFill>
                <a:prstDash val="solid"/>
                <a:round/>
                <a:headEnd len="med" w="med" type="none"/>
                <a:tailEnd len="med" w="med" type="none"/>
              </a:ln>
            </p:spPr>
          </p:cxnSp>
          <p:cxnSp>
            <p:nvCxnSpPr>
              <p:cNvPr id="9410" name="Google Shape;9410;p421"/>
              <p:cNvCxnSpPr>
                <a:stCxn id="9395" idx="4"/>
                <a:endCxn id="9396" idx="0"/>
              </p:cNvCxnSpPr>
              <p:nvPr/>
            </p:nvCxnSpPr>
            <p:spPr>
              <a:xfrm>
                <a:off x="8123700" y="3658325"/>
                <a:ext cx="0" cy="778200"/>
              </a:xfrm>
              <a:prstGeom prst="straightConnector1">
                <a:avLst/>
              </a:prstGeom>
              <a:noFill/>
              <a:ln cap="flat" cmpd="sng" w="28575">
                <a:solidFill>
                  <a:schemeClr val="dk2"/>
                </a:solidFill>
                <a:prstDash val="solid"/>
                <a:round/>
                <a:headEnd len="med" w="med" type="none"/>
                <a:tailEnd len="med" w="med" type="none"/>
              </a:ln>
            </p:spPr>
          </p:cxnSp>
          <p:cxnSp>
            <p:nvCxnSpPr>
              <p:cNvPr id="9411" name="Google Shape;9411;p421"/>
              <p:cNvCxnSpPr>
                <a:stCxn id="9396" idx="2"/>
                <a:endCxn id="9394" idx="6"/>
              </p:cNvCxnSpPr>
              <p:nvPr/>
            </p:nvCxnSpPr>
            <p:spPr>
              <a:xfrm rot="10800000">
                <a:off x="6678650" y="4726675"/>
                <a:ext cx="1144200" cy="0"/>
              </a:xfrm>
              <a:prstGeom prst="straightConnector1">
                <a:avLst/>
              </a:prstGeom>
              <a:noFill/>
              <a:ln cap="flat" cmpd="sng" w="28575">
                <a:solidFill>
                  <a:schemeClr val="dk2"/>
                </a:solidFill>
                <a:prstDash val="solid"/>
                <a:round/>
                <a:headEnd len="med" w="med" type="none"/>
                <a:tailEnd len="med" w="med" type="none"/>
              </a:ln>
            </p:spPr>
          </p:cxnSp>
        </p:grpSp>
        <p:sp>
          <p:nvSpPr>
            <p:cNvPr id="9412" name="Google Shape;9412;p421"/>
            <p:cNvSpPr txBox="1"/>
            <p:nvPr/>
          </p:nvSpPr>
          <p:spPr>
            <a:xfrm>
              <a:off x="3604950" y="4864175"/>
              <a:ext cx="20088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Borgatti and Everett’s</a:t>
              </a:r>
              <a:endParaRPr/>
            </a:p>
            <a:p>
              <a:pPr indent="0" lvl="0" marL="0" rtl="0" algn="ctr">
                <a:spcBef>
                  <a:spcPts val="0"/>
                </a:spcBef>
                <a:spcAft>
                  <a:spcPts val="0"/>
                </a:spcAft>
                <a:buNone/>
              </a:pPr>
              <a:r>
                <a:rPr lang="en"/>
                <a:t>“Thinking Graph”</a:t>
              </a:r>
              <a:endParaRPr/>
            </a:p>
          </p:txBody>
        </p:sp>
      </p:grpSp>
    </p:spTree>
  </p:cSld>
  <p:clrMapOvr>
    <a:masterClrMapping/>
  </p:clrMapOvr>
</p:sld>
</file>

<file path=ppt/slides/slide3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6" name="Shape 9416"/>
        <p:cNvGrpSpPr/>
        <p:nvPr/>
      </p:nvGrpSpPr>
      <p:grpSpPr>
        <a:xfrm>
          <a:off x="0" y="0"/>
          <a:ext cx="0" cy="0"/>
          <a:chOff x="0" y="0"/>
          <a:chExt cx="0" cy="0"/>
        </a:xfrm>
      </p:grpSpPr>
      <p:sp>
        <p:nvSpPr>
          <p:cNvPr id="9417" name="Google Shape;9417;p422"/>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worry about equivalence?</a:t>
            </a:r>
            <a:endParaRPr/>
          </a:p>
        </p:txBody>
      </p:sp>
      <p:pic>
        <p:nvPicPr>
          <p:cNvPr id="9418" name="Google Shape;9418;p422"/>
          <p:cNvPicPr preferRelativeResize="0"/>
          <p:nvPr/>
        </p:nvPicPr>
        <p:blipFill>
          <a:blip r:embed="rId3">
            <a:alphaModFix/>
          </a:blip>
          <a:stretch>
            <a:fillRect/>
          </a:stretch>
        </p:blipFill>
        <p:spPr>
          <a:xfrm>
            <a:off x="152400" y="1284415"/>
            <a:ext cx="7955278" cy="3127382"/>
          </a:xfrm>
          <a:prstGeom prst="rect">
            <a:avLst/>
          </a:prstGeom>
          <a:noFill/>
          <a:ln>
            <a:noFill/>
          </a:ln>
        </p:spPr>
      </p:pic>
    </p:spTree>
  </p:cSld>
  <p:clrMapOvr>
    <a:masterClrMapping/>
  </p:clrMapOvr>
</p:sld>
</file>

<file path=ppt/slides/slide3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22" name="Shape 9422"/>
        <p:cNvGrpSpPr/>
        <p:nvPr/>
      </p:nvGrpSpPr>
      <p:grpSpPr>
        <a:xfrm>
          <a:off x="0" y="0"/>
          <a:ext cx="0" cy="0"/>
          <a:chOff x="0" y="0"/>
          <a:chExt cx="0" cy="0"/>
        </a:xfrm>
      </p:grpSpPr>
      <p:sp>
        <p:nvSpPr>
          <p:cNvPr id="9423" name="Google Shape;9423;p423"/>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a:t>
            </a:r>
            <a:endParaRPr/>
          </a:p>
        </p:txBody>
      </p:sp>
      <p:sp>
        <p:nvSpPr>
          <p:cNvPr id="9424" name="Google Shape;9424;p423"/>
          <p:cNvSpPr txBox="1"/>
          <p:nvPr>
            <p:ph idx="1" type="body"/>
          </p:nvPr>
        </p:nvSpPr>
        <p:spPr>
          <a:xfrm>
            <a:off x="311700" y="1225221"/>
            <a:ext cx="8520600" cy="1517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most real world applications the strong graph-theoretic definitions of structural or regular equivalence are unlikely to hold</a:t>
            </a:r>
            <a:endParaRPr/>
          </a:p>
          <a:p>
            <a:pPr indent="-317500" lvl="1" marL="914400" rtl="0" algn="l">
              <a:spcBef>
                <a:spcPts val="0"/>
              </a:spcBef>
              <a:spcAft>
                <a:spcPts val="0"/>
              </a:spcAft>
              <a:buSzPts val="1400"/>
              <a:buChar char="○"/>
            </a:pPr>
            <a:r>
              <a:rPr lang="en"/>
              <a:t>Attempts to come up with approximations of </a:t>
            </a:r>
            <a:r>
              <a:rPr b="1" lang="en"/>
              <a:t>graph theoretic equivalence relations</a:t>
            </a:r>
            <a:r>
              <a:rPr lang="en"/>
              <a:t> for the purposes of vertex classification using </a:t>
            </a:r>
            <a:r>
              <a:rPr b="1" lang="en"/>
              <a:t>matrix algebra</a:t>
            </a:r>
            <a:r>
              <a:rPr lang="en"/>
              <a:t> is called </a:t>
            </a:r>
            <a:r>
              <a:rPr b="1" lang="en"/>
              <a:t>blockmodeling</a:t>
            </a:r>
            <a:endParaRPr b="1"/>
          </a:p>
        </p:txBody>
      </p:sp>
      <p:pic>
        <p:nvPicPr>
          <p:cNvPr id="9425" name="Google Shape;9425;p423"/>
          <p:cNvPicPr preferRelativeResize="0"/>
          <p:nvPr/>
        </p:nvPicPr>
        <p:blipFill>
          <a:blip r:embed="rId3">
            <a:alphaModFix/>
          </a:blip>
          <a:stretch>
            <a:fillRect/>
          </a:stretch>
        </p:blipFill>
        <p:spPr>
          <a:xfrm>
            <a:off x="1480338" y="2743213"/>
            <a:ext cx="5564981" cy="1835944"/>
          </a:xfrm>
          <a:prstGeom prst="rect">
            <a:avLst/>
          </a:prstGeom>
          <a:noFill/>
          <a:ln>
            <a:noFill/>
          </a:ln>
        </p:spPr>
      </p:pic>
    </p:spTree>
  </p:cSld>
  <p:clrMapOvr>
    <a:masterClrMapping/>
  </p:clrMapOvr>
</p:sld>
</file>

<file path=ppt/slides/slide3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29" name="Shape 9429"/>
        <p:cNvGrpSpPr/>
        <p:nvPr/>
      </p:nvGrpSpPr>
      <p:grpSpPr>
        <a:xfrm>
          <a:off x="0" y="0"/>
          <a:ext cx="0" cy="0"/>
          <a:chOff x="0" y="0"/>
          <a:chExt cx="0" cy="0"/>
        </a:xfrm>
      </p:grpSpPr>
      <p:sp>
        <p:nvSpPr>
          <p:cNvPr id="9430" name="Google Shape;9430;p42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a:t>
            </a:r>
            <a:endParaRPr/>
          </a:p>
        </p:txBody>
      </p:sp>
      <p:sp>
        <p:nvSpPr>
          <p:cNvPr id="9431" name="Google Shape;9431;p424"/>
          <p:cNvSpPr txBox="1"/>
          <p:nvPr>
            <p:ph idx="1" type="body"/>
          </p:nvPr>
        </p:nvSpPr>
        <p:spPr>
          <a:xfrm>
            <a:off x="311700" y="1225221"/>
            <a:ext cx="8520600" cy="1517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most real world applications the strong graph-theoretic definitions of structural or regular equivalence are unlikely to hold</a:t>
            </a:r>
            <a:endParaRPr/>
          </a:p>
          <a:p>
            <a:pPr indent="-317500" lvl="1" marL="914400" rtl="0" algn="l">
              <a:spcBef>
                <a:spcPts val="0"/>
              </a:spcBef>
              <a:spcAft>
                <a:spcPts val="0"/>
              </a:spcAft>
              <a:buSzPts val="1400"/>
              <a:buChar char="○"/>
            </a:pPr>
            <a:r>
              <a:rPr lang="en"/>
              <a:t>Rather than thinking that two or more actors are exactly structural or </a:t>
            </a:r>
            <a:r>
              <a:rPr lang="en"/>
              <a:t>regulatory</a:t>
            </a:r>
            <a:r>
              <a:rPr lang="en"/>
              <a:t> equivalent we come up with a </a:t>
            </a:r>
            <a:r>
              <a:rPr lang="en"/>
              <a:t>measurement</a:t>
            </a:r>
            <a:r>
              <a:rPr lang="en"/>
              <a:t> criterion for determining degrees of equivalence</a:t>
            </a:r>
            <a:endParaRPr/>
          </a:p>
          <a:p>
            <a:pPr indent="-317500" lvl="2" marL="1371600" rtl="0" algn="l">
              <a:spcBef>
                <a:spcPts val="0"/>
              </a:spcBef>
              <a:spcAft>
                <a:spcPts val="0"/>
              </a:spcAft>
              <a:buSzPts val="1400"/>
              <a:buChar char="■"/>
            </a:pPr>
            <a:r>
              <a:rPr lang="en"/>
              <a:t>With exact equivalence as a limiting case</a:t>
            </a:r>
            <a:endParaRPr/>
          </a:p>
        </p:txBody>
      </p:sp>
      <p:pic>
        <p:nvPicPr>
          <p:cNvPr id="9432" name="Google Shape;9432;p424"/>
          <p:cNvPicPr preferRelativeResize="0"/>
          <p:nvPr/>
        </p:nvPicPr>
        <p:blipFill>
          <a:blip r:embed="rId3">
            <a:alphaModFix/>
          </a:blip>
          <a:stretch>
            <a:fillRect/>
          </a:stretch>
        </p:blipFill>
        <p:spPr>
          <a:xfrm>
            <a:off x="1480338" y="2743213"/>
            <a:ext cx="5564981" cy="1835944"/>
          </a:xfrm>
          <a:prstGeom prst="rect">
            <a:avLst/>
          </a:prstGeom>
          <a:noFill/>
          <a:ln>
            <a:noFill/>
          </a:ln>
        </p:spPr>
      </p:pic>
    </p:spTree>
  </p:cSld>
  <p:clrMapOvr>
    <a:masterClrMapping/>
  </p:clrMapOvr>
</p:sld>
</file>

<file path=ppt/slides/slide4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36" name="Shape 9436"/>
        <p:cNvGrpSpPr/>
        <p:nvPr/>
      </p:nvGrpSpPr>
      <p:grpSpPr>
        <a:xfrm>
          <a:off x="0" y="0"/>
          <a:ext cx="0" cy="0"/>
          <a:chOff x="0" y="0"/>
          <a:chExt cx="0" cy="0"/>
        </a:xfrm>
      </p:grpSpPr>
      <p:sp>
        <p:nvSpPr>
          <p:cNvPr id="9437" name="Google Shape;9437;p425"/>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a:t>
            </a:r>
            <a:endParaRPr/>
          </a:p>
        </p:txBody>
      </p:sp>
      <p:sp>
        <p:nvSpPr>
          <p:cNvPr id="9438" name="Google Shape;9438;p425"/>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Basic task in deterministic blockmodeling is to come up with a criterion for "approximate" equivalence:</a:t>
            </a:r>
            <a:endParaRPr/>
          </a:p>
          <a:p>
            <a:pPr indent="-317500" lvl="1" marL="914400" rtl="0" algn="l">
              <a:spcBef>
                <a:spcPts val="0"/>
              </a:spcBef>
              <a:spcAft>
                <a:spcPts val="0"/>
              </a:spcAft>
              <a:buSzPts val="1400"/>
              <a:buChar char="○"/>
            </a:pPr>
            <a:r>
              <a:rPr lang="en"/>
              <a:t>The </a:t>
            </a:r>
            <a:r>
              <a:rPr b="1" lang="en"/>
              <a:t>Euclidean distance</a:t>
            </a:r>
            <a:r>
              <a:rPr lang="en"/>
              <a:t> (Burt 1976)</a:t>
            </a:r>
            <a:endParaRPr/>
          </a:p>
          <a:p>
            <a:pPr indent="-317500" lvl="1" marL="914400" rtl="0" algn="l">
              <a:spcBef>
                <a:spcPts val="0"/>
              </a:spcBef>
              <a:spcAft>
                <a:spcPts val="0"/>
              </a:spcAft>
              <a:buSzPts val="1400"/>
              <a:buChar char="○"/>
            </a:pPr>
            <a:r>
              <a:rPr lang="en"/>
              <a:t>The</a:t>
            </a:r>
            <a:r>
              <a:rPr b="1" lang="en"/>
              <a:t> Pearson product-moment correlation</a:t>
            </a:r>
            <a:r>
              <a:rPr lang="en"/>
              <a:t> (Breiger, Boorman and Arabie 1975) </a:t>
            </a:r>
            <a:endParaRPr/>
          </a:p>
          <a:p>
            <a:pPr indent="0" lvl="0" marL="0" rtl="0" algn="l">
              <a:spcBef>
                <a:spcPts val="0"/>
              </a:spcBef>
              <a:spcAft>
                <a:spcPts val="0"/>
              </a:spcAft>
              <a:buNone/>
            </a:pPr>
            <a:r>
              <a:t/>
            </a:r>
            <a:endParaRPr/>
          </a:p>
        </p:txBody>
      </p:sp>
      <p:pic>
        <p:nvPicPr>
          <p:cNvPr id="9439" name="Google Shape;9439;p425"/>
          <p:cNvPicPr preferRelativeResize="0"/>
          <p:nvPr/>
        </p:nvPicPr>
        <p:blipFill>
          <a:blip r:embed="rId3">
            <a:alphaModFix/>
          </a:blip>
          <a:stretch>
            <a:fillRect/>
          </a:stretch>
        </p:blipFill>
        <p:spPr>
          <a:xfrm>
            <a:off x="1480338" y="2743213"/>
            <a:ext cx="5564981" cy="1835944"/>
          </a:xfrm>
          <a:prstGeom prst="rect">
            <a:avLst/>
          </a:prstGeom>
          <a:noFill/>
          <a:ln>
            <a:noFill/>
          </a:ln>
        </p:spPr>
      </p:pic>
    </p:spTree>
  </p:cSld>
  <p:clrMapOvr>
    <a:masterClrMapping/>
  </p:clrMapOvr>
</p:sld>
</file>

<file path=ppt/slides/slide4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43" name="Shape 9443"/>
        <p:cNvGrpSpPr/>
        <p:nvPr/>
      </p:nvGrpSpPr>
      <p:grpSpPr>
        <a:xfrm>
          <a:off x="0" y="0"/>
          <a:ext cx="0" cy="0"/>
          <a:chOff x="0" y="0"/>
          <a:chExt cx="0" cy="0"/>
        </a:xfrm>
      </p:grpSpPr>
      <p:sp>
        <p:nvSpPr>
          <p:cNvPr id="9444" name="Google Shape;9444;p426"/>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a:t>
            </a:r>
            <a:endParaRPr/>
          </a:p>
        </p:txBody>
      </p:sp>
      <p:sp>
        <p:nvSpPr>
          <p:cNvPr id="9445" name="Google Shape;9445;p426"/>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For two actors i and j, the Euclidean distance in an </a:t>
            </a:r>
            <a:r>
              <a:rPr b="1" lang="en"/>
              <a:t>undirected</a:t>
            </a:r>
            <a:r>
              <a:rPr lang="en"/>
              <a:t> graph is defined as:</a:t>
            </a:r>
            <a:endParaRPr/>
          </a:p>
          <a:p>
            <a:pPr indent="0" lvl="0" marL="0" rtl="0" algn="l">
              <a:spcBef>
                <a:spcPts val="0"/>
              </a:spcBef>
              <a:spcAft>
                <a:spcPts val="0"/>
              </a:spcAft>
              <a:buNone/>
            </a:pPr>
            <a:r>
              <a:t/>
            </a:r>
            <a:endParaRPr>
              <a:latin typeface="Josefin Slab"/>
              <a:ea typeface="Josefin Slab"/>
              <a:cs typeface="Josefin Slab"/>
              <a:sym typeface="Josefin Slab"/>
            </a:endParaRPr>
          </a:p>
        </p:txBody>
      </p:sp>
      <p:pic>
        <p:nvPicPr>
          <p:cNvPr id="9446" name="Google Shape;9446;p426"/>
          <p:cNvPicPr preferRelativeResize="0"/>
          <p:nvPr/>
        </p:nvPicPr>
        <p:blipFill>
          <a:blip r:embed="rId3">
            <a:alphaModFix/>
          </a:blip>
          <a:stretch>
            <a:fillRect/>
          </a:stretch>
        </p:blipFill>
        <p:spPr>
          <a:xfrm>
            <a:off x="1480338" y="2743213"/>
            <a:ext cx="5564981" cy="1835944"/>
          </a:xfrm>
          <a:prstGeom prst="rect">
            <a:avLst/>
          </a:prstGeom>
          <a:noFill/>
          <a:ln>
            <a:noFill/>
          </a:ln>
        </p:spPr>
      </p:pic>
      <p:pic>
        <p:nvPicPr>
          <p:cNvPr descr="d_{ij} = \sqrt{\sum_{k \neq i,j}(a_{ik}-a_{jk})^2+\sum_{k \neq i,j}(a_{ki}-a_{kj})^2}" id="9447" name="Google Shape;9447;p426" title="MathEquation,#000000"/>
          <p:cNvPicPr preferRelativeResize="0"/>
          <p:nvPr/>
        </p:nvPicPr>
        <p:blipFill>
          <a:blip r:embed="rId4">
            <a:alphaModFix/>
          </a:blip>
          <a:stretch>
            <a:fillRect/>
          </a:stretch>
        </p:blipFill>
        <p:spPr>
          <a:xfrm>
            <a:off x="1217688" y="1826235"/>
            <a:ext cx="6037763" cy="611325"/>
          </a:xfrm>
          <a:prstGeom prst="rect">
            <a:avLst/>
          </a:prstGeom>
          <a:noFill/>
          <a:ln>
            <a:noFill/>
          </a:ln>
        </p:spPr>
      </p:pic>
      <p:sp>
        <p:nvSpPr>
          <p:cNvPr id="9448" name="Google Shape;9448;p426"/>
          <p:cNvSpPr/>
          <p:nvPr/>
        </p:nvSpPr>
        <p:spPr>
          <a:xfrm>
            <a:off x="5026475" y="1774283"/>
            <a:ext cx="3095100" cy="71523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52" name="Shape 9452"/>
        <p:cNvGrpSpPr/>
        <p:nvPr/>
      </p:nvGrpSpPr>
      <p:grpSpPr>
        <a:xfrm>
          <a:off x="0" y="0"/>
          <a:ext cx="0" cy="0"/>
          <a:chOff x="0" y="0"/>
          <a:chExt cx="0" cy="0"/>
        </a:xfrm>
      </p:grpSpPr>
      <p:sp>
        <p:nvSpPr>
          <p:cNvPr id="9453" name="Google Shape;9453;p427"/>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a:t>
            </a:r>
            <a:endParaRPr/>
          </a:p>
        </p:txBody>
      </p:sp>
      <p:sp>
        <p:nvSpPr>
          <p:cNvPr id="9454" name="Google Shape;9454;p427"/>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For two actors i and j, the Euclidean distance in an </a:t>
            </a:r>
            <a:r>
              <a:rPr b="1" lang="en"/>
              <a:t>directed graph</a:t>
            </a:r>
            <a:r>
              <a:rPr lang="en"/>
              <a:t> is defined as:</a:t>
            </a:r>
            <a:endParaRPr/>
          </a:p>
          <a:p>
            <a:pPr indent="0" lvl="0" marL="0" rtl="0" algn="l">
              <a:spcBef>
                <a:spcPts val="0"/>
              </a:spcBef>
              <a:spcAft>
                <a:spcPts val="0"/>
              </a:spcAft>
              <a:buNone/>
            </a:pPr>
            <a:r>
              <a:t/>
            </a:r>
            <a:endParaRPr>
              <a:latin typeface="Josefin Slab"/>
              <a:ea typeface="Josefin Slab"/>
              <a:cs typeface="Josefin Slab"/>
              <a:sym typeface="Josefin Slab"/>
            </a:endParaRPr>
          </a:p>
        </p:txBody>
      </p:sp>
      <p:pic>
        <p:nvPicPr>
          <p:cNvPr id="9455" name="Google Shape;9455;p427"/>
          <p:cNvPicPr preferRelativeResize="0"/>
          <p:nvPr/>
        </p:nvPicPr>
        <p:blipFill>
          <a:blip r:embed="rId3">
            <a:alphaModFix/>
          </a:blip>
          <a:stretch>
            <a:fillRect/>
          </a:stretch>
        </p:blipFill>
        <p:spPr>
          <a:xfrm>
            <a:off x="1480338" y="2743213"/>
            <a:ext cx="5564981" cy="1835944"/>
          </a:xfrm>
          <a:prstGeom prst="rect">
            <a:avLst/>
          </a:prstGeom>
          <a:noFill/>
          <a:ln>
            <a:noFill/>
          </a:ln>
        </p:spPr>
      </p:pic>
      <p:pic>
        <p:nvPicPr>
          <p:cNvPr descr="d_{ij} = \sqrt{\sum_{k \neq i,j}(a_{ik}-a_{jk})^2+\sum_{k \neq i,j}(a_{ki}-a_{kj})^2}" id="9456" name="Google Shape;9456;p427" title="MathEquation,#000000"/>
          <p:cNvPicPr preferRelativeResize="0"/>
          <p:nvPr/>
        </p:nvPicPr>
        <p:blipFill>
          <a:blip r:embed="rId4">
            <a:alphaModFix/>
          </a:blip>
          <a:stretch>
            <a:fillRect/>
          </a:stretch>
        </p:blipFill>
        <p:spPr>
          <a:xfrm>
            <a:off x="1217688" y="1826235"/>
            <a:ext cx="6037763" cy="611325"/>
          </a:xfrm>
          <a:prstGeom prst="rect">
            <a:avLst/>
          </a:prstGeom>
          <a:noFill/>
          <a:ln>
            <a:noFill/>
          </a:ln>
        </p:spPr>
      </p:pic>
    </p:spTree>
  </p:cSld>
  <p:clrMapOvr>
    <a:masterClrMapping/>
  </p:clrMapOvr>
</p:sld>
</file>

<file path=ppt/slides/slide4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60" name="Shape 9460"/>
        <p:cNvGrpSpPr/>
        <p:nvPr/>
      </p:nvGrpSpPr>
      <p:grpSpPr>
        <a:xfrm>
          <a:off x="0" y="0"/>
          <a:ext cx="0" cy="0"/>
          <a:chOff x="0" y="0"/>
          <a:chExt cx="0" cy="0"/>
        </a:xfrm>
      </p:grpSpPr>
      <p:sp>
        <p:nvSpPr>
          <p:cNvPr id="9461" name="Google Shape;9461;p428"/>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a:t>
            </a:r>
            <a:endParaRPr/>
          </a:p>
        </p:txBody>
      </p:sp>
      <p:sp>
        <p:nvSpPr>
          <p:cNvPr id="9462" name="Google Shape;9462;p428"/>
          <p:cNvSpPr txBox="1"/>
          <p:nvPr>
            <p:ph idx="1" type="body"/>
          </p:nvPr>
        </p:nvSpPr>
        <p:spPr>
          <a:xfrm>
            <a:off x="311700" y="1225222"/>
            <a:ext cx="8520600" cy="1123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Ronald Burt's Euclidean distance approach, the basic idea is to:</a:t>
            </a:r>
            <a:endParaRPr/>
          </a:p>
          <a:p>
            <a:pPr indent="-317500" lvl="1" marL="914400" rtl="0" algn="l">
              <a:spcBef>
                <a:spcPts val="0"/>
              </a:spcBef>
              <a:spcAft>
                <a:spcPts val="0"/>
              </a:spcAft>
              <a:buSzPts val="1400"/>
              <a:buChar char="○"/>
            </a:pPr>
            <a:r>
              <a:rPr lang="en"/>
              <a:t>Generate the distance matrix D capturing the extent to which actors are more or less equivalent</a:t>
            </a:r>
            <a:endParaRPr/>
          </a:p>
          <a:p>
            <a:pPr indent="-317500" lvl="1" marL="914400" rtl="0" algn="l">
              <a:spcBef>
                <a:spcPts val="0"/>
              </a:spcBef>
              <a:spcAft>
                <a:spcPts val="0"/>
              </a:spcAft>
              <a:buSzPts val="1400"/>
              <a:buChar char="○"/>
            </a:pPr>
            <a:r>
              <a:rPr lang="en"/>
              <a:t>Group together the actors that are most equivalent according to some criterion</a:t>
            </a:r>
            <a:endParaRPr/>
          </a:p>
          <a:p>
            <a:pPr indent="0" lvl="0" marL="0" rtl="0" algn="l">
              <a:spcBef>
                <a:spcPts val="0"/>
              </a:spcBef>
              <a:spcAft>
                <a:spcPts val="0"/>
              </a:spcAft>
              <a:buNone/>
            </a:pPr>
            <a:r>
              <a:t/>
            </a:r>
            <a:endParaRPr/>
          </a:p>
        </p:txBody>
      </p:sp>
      <p:pic>
        <p:nvPicPr>
          <p:cNvPr id="9463" name="Google Shape;9463;p428"/>
          <p:cNvPicPr preferRelativeResize="0"/>
          <p:nvPr/>
        </p:nvPicPr>
        <p:blipFill>
          <a:blip r:embed="rId3">
            <a:alphaModFix/>
          </a:blip>
          <a:stretch>
            <a:fillRect/>
          </a:stretch>
        </p:blipFill>
        <p:spPr>
          <a:xfrm>
            <a:off x="1480338" y="2743213"/>
            <a:ext cx="5564981" cy="1835944"/>
          </a:xfrm>
          <a:prstGeom prst="rect">
            <a:avLst/>
          </a:prstGeom>
          <a:noFill/>
          <a:ln>
            <a:noFill/>
          </a:ln>
        </p:spPr>
      </p:pic>
    </p:spTree>
  </p:cSld>
  <p:clrMapOvr>
    <a:masterClrMapping/>
  </p:clrMapOvr>
</p:sld>
</file>

<file path=ppt/slides/slide4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67" name="Shape 9467"/>
        <p:cNvGrpSpPr/>
        <p:nvPr/>
      </p:nvGrpSpPr>
      <p:grpSpPr>
        <a:xfrm>
          <a:off x="0" y="0"/>
          <a:ext cx="0" cy="0"/>
          <a:chOff x="0" y="0"/>
          <a:chExt cx="0" cy="0"/>
        </a:xfrm>
      </p:grpSpPr>
      <p:sp>
        <p:nvSpPr>
          <p:cNvPr id="9468" name="Google Shape;9468;p429"/>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(Deterministic)</a:t>
            </a:r>
            <a:endParaRPr/>
          </a:p>
        </p:txBody>
      </p:sp>
      <p:sp>
        <p:nvSpPr>
          <p:cNvPr id="9469" name="Google Shape;9469;p429"/>
          <p:cNvSpPr txBox="1"/>
          <p:nvPr>
            <p:ph idx="1" type="body"/>
          </p:nvPr>
        </p:nvSpPr>
        <p:spPr>
          <a:xfrm>
            <a:off x="311700" y="1225221"/>
            <a:ext cx="8520600" cy="1517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For a given adjacency matrix A, the correlation matrix C is the matrix containing the Pearson product moment correlations between the re</a:t>
            </a:r>
            <a:r>
              <a:rPr lang="en"/>
              <a:t>sp</a:t>
            </a:r>
            <a:r>
              <a:rPr lang="en"/>
              <a:t>ective row and columns for two actors r</a:t>
            </a:r>
            <a:r>
              <a:rPr baseline="-25000" lang="en"/>
              <a:t>ij</a:t>
            </a:r>
            <a:endParaRPr baseline="-25000"/>
          </a:p>
          <a:p>
            <a:pPr indent="-317500" lvl="1" marL="914400" rtl="0" algn="l">
              <a:spcBef>
                <a:spcPts val="0"/>
              </a:spcBef>
              <a:spcAft>
                <a:spcPts val="0"/>
              </a:spcAft>
              <a:buSzPts val="1400"/>
              <a:buChar char="○"/>
            </a:pPr>
            <a:r>
              <a:rPr lang="en"/>
              <a:t>r</a:t>
            </a:r>
            <a:r>
              <a:rPr baseline="-25000" lang="en"/>
              <a:t>ij</a:t>
            </a:r>
            <a:r>
              <a:rPr lang="en"/>
              <a:t>= &lt; 0 means actors are very different (not structurally equivalent) and </a:t>
            </a:r>
            <a:r>
              <a:rPr lang="en"/>
              <a:t>r</a:t>
            </a:r>
            <a:r>
              <a:rPr baseline="-25000" lang="en"/>
              <a:t>ij</a:t>
            </a:r>
            <a:r>
              <a:rPr lang="en"/>
              <a:t>&gt; 0 means actors are approaching structurally equivalence (+1 means they are perfectly equivalent)</a:t>
            </a:r>
            <a:endParaRPr/>
          </a:p>
          <a:p>
            <a:pPr indent="0" lvl="0" marL="457200" rtl="0" algn="l">
              <a:spcBef>
                <a:spcPts val="0"/>
              </a:spcBef>
              <a:spcAft>
                <a:spcPts val="0"/>
              </a:spcAft>
              <a:buNone/>
            </a:pPr>
            <a:r>
              <a:t/>
            </a:r>
            <a:endParaRPr/>
          </a:p>
        </p:txBody>
      </p:sp>
      <p:pic>
        <p:nvPicPr>
          <p:cNvPr id="9470" name="Google Shape;9470;p429"/>
          <p:cNvPicPr preferRelativeResize="0"/>
          <p:nvPr/>
        </p:nvPicPr>
        <p:blipFill>
          <a:blip r:embed="rId3">
            <a:alphaModFix/>
          </a:blip>
          <a:stretch>
            <a:fillRect/>
          </a:stretch>
        </p:blipFill>
        <p:spPr>
          <a:xfrm>
            <a:off x="1480338" y="2743213"/>
            <a:ext cx="5564981" cy="1835944"/>
          </a:xfrm>
          <a:prstGeom prst="rect">
            <a:avLst/>
          </a:prstGeom>
          <a:noFill/>
          <a:ln>
            <a:noFill/>
          </a:ln>
        </p:spPr>
      </p:pic>
    </p:spTree>
  </p:cSld>
  <p:clrMapOvr>
    <a:masterClrMapping/>
  </p:clrMapOvr>
</p:sld>
</file>

<file path=ppt/slides/slide4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74" name="Shape 9474"/>
        <p:cNvGrpSpPr/>
        <p:nvPr/>
      </p:nvGrpSpPr>
      <p:grpSpPr>
        <a:xfrm>
          <a:off x="0" y="0"/>
          <a:ext cx="0" cy="0"/>
          <a:chOff x="0" y="0"/>
          <a:chExt cx="0" cy="0"/>
        </a:xfrm>
      </p:grpSpPr>
      <p:sp>
        <p:nvSpPr>
          <p:cNvPr id="9475" name="Google Shape;9475;p430"/>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Blockmodeling (Deterministic)</a:t>
            </a:r>
            <a:endParaRPr/>
          </a:p>
        </p:txBody>
      </p:sp>
      <p:sp>
        <p:nvSpPr>
          <p:cNvPr id="9476" name="Google Shape;9476;p430"/>
          <p:cNvSpPr txBox="1"/>
          <p:nvPr>
            <p:ph idx="1" type="body"/>
          </p:nvPr>
        </p:nvSpPr>
        <p:spPr>
          <a:xfrm>
            <a:off x="311700" y="1225221"/>
            <a:ext cx="8520600" cy="142128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Breiger, Boorman and Arabie's CONCOR strategy, the basic idea is to:</a:t>
            </a:r>
            <a:endParaRPr/>
          </a:p>
          <a:p>
            <a:pPr indent="-317500" lvl="1" marL="914400" rtl="0" algn="l">
              <a:spcBef>
                <a:spcPts val="0"/>
              </a:spcBef>
              <a:spcAft>
                <a:spcPts val="0"/>
              </a:spcAft>
              <a:buSzPts val="1400"/>
              <a:buChar char="○"/>
            </a:pPr>
            <a:r>
              <a:rPr lang="en"/>
              <a:t>Generate the (initial) correlation matrix C</a:t>
            </a:r>
            <a:r>
              <a:rPr baseline="-25000" lang="en"/>
              <a:t>1</a:t>
            </a:r>
            <a:r>
              <a:rPr lang="en"/>
              <a:t> from the original adjacency matrix</a:t>
            </a:r>
            <a:endParaRPr/>
          </a:p>
          <a:p>
            <a:pPr indent="-317500" lvl="1" marL="914400" rtl="0" algn="l">
              <a:spcBef>
                <a:spcPts val="0"/>
              </a:spcBef>
              <a:spcAft>
                <a:spcPts val="0"/>
              </a:spcAft>
              <a:buSzPts val="1400"/>
              <a:buChar char="○"/>
            </a:pPr>
            <a:r>
              <a:rPr lang="en"/>
              <a:t>Iteratively obtain further</a:t>
            </a:r>
            <a:r>
              <a:rPr b="1" lang="en"/>
              <a:t> correlation matrices of correlation matrices</a:t>
            </a:r>
            <a:r>
              <a:rPr lang="en"/>
              <a:t> {C</a:t>
            </a:r>
            <a:r>
              <a:rPr baseline="-25000" lang="en"/>
              <a:t>2,</a:t>
            </a:r>
            <a:r>
              <a:rPr lang="en"/>
              <a:t> C</a:t>
            </a:r>
            <a:r>
              <a:rPr baseline="-25000" lang="en"/>
              <a:t>3</a:t>
            </a:r>
            <a:r>
              <a:rPr lang="en"/>
              <a:t>, ...} </a:t>
            </a:r>
            <a:endParaRPr/>
          </a:p>
          <a:p>
            <a:pPr indent="-317500" lvl="1" marL="914400" rtl="0" algn="l">
              <a:spcBef>
                <a:spcPts val="0"/>
              </a:spcBef>
              <a:spcAft>
                <a:spcPts val="0"/>
              </a:spcAft>
              <a:buSzPts val="1400"/>
              <a:buChar char="○"/>
            </a:pPr>
            <a:r>
              <a:rPr lang="en"/>
              <a:t>until we have a "final" correlation matrix C</a:t>
            </a:r>
            <a:r>
              <a:rPr baseline="-25000" lang="en"/>
              <a:t>k</a:t>
            </a:r>
            <a:r>
              <a:rPr lang="en"/>
              <a:t> that contains only +1 and -1 entries</a:t>
            </a:r>
            <a:endParaRPr/>
          </a:p>
          <a:p>
            <a:pPr indent="-317500" lvl="1" marL="914400" rtl="0" algn="l">
              <a:spcBef>
                <a:spcPts val="0"/>
              </a:spcBef>
              <a:spcAft>
                <a:spcPts val="0"/>
              </a:spcAft>
              <a:buSzPts val="1400"/>
              <a:buChar char="○"/>
            </a:pPr>
            <a:r>
              <a:rPr lang="en"/>
              <a:t>Group together actors that have +1 similarities next to another </a:t>
            </a:r>
            <a:endParaRPr/>
          </a:p>
        </p:txBody>
      </p:sp>
      <p:pic>
        <p:nvPicPr>
          <p:cNvPr id="9477" name="Google Shape;9477;p430"/>
          <p:cNvPicPr preferRelativeResize="0"/>
          <p:nvPr/>
        </p:nvPicPr>
        <p:blipFill>
          <a:blip r:embed="rId3">
            <a:alphaModFix/>
          </a:blip>
          <a:stretch>
            <a:fillRect/>
          </a:stretch>
        </p:blipFill>
        <p:spPr>
          <a:xfrm>
            <a:off x="1480338" y="2743213"/>
            <a:ext cx="5564981" cy="1835944"/>
          </a:xfrm>
          <a:prstGeom prst="rect">
            <a:avLst/>
          </a:prstGeom>
          <a:noFill/>
          <a:ln>
            <a:noFill/>
          </a:ln>
        </p:spPr>
      </p:pic>
    </p:spTree>
  </p:cSld>
  <p:clrMapOvr>
    <a:masterClrMapping/>
  </p:clrMapOvr>
</p:sld>
</file>

<file path=ppt/slides/slide4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81" name="Shape 9481"/>
        <p:cNvGrpSpPr/>
        <p:nvPr/>
      </p:nvGrpSpPr>
      <p:grpSpPr>
        <a:xfrm>
          <a:off x="0" y="0"/>
          <a:ext cx="0" cy="0"/>
          <a:chOff x="0" y="0"/>
          <a:chExt cx="0" cy="0"/>
        </a:xfrm>
      </p:grpSpPr>
      <p:sp>
        <p:nvSpPr>
          <p:cNvPr id="9482" name="Google Shape;9482;p431"/>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Extensions of blockmodeling</a:t>
            </a:r>
            <a:endParaRPr/>
          </a:p>
        </p:txBody>
      </p:sp>
      <p:sp>
        <p:nvSpPr>
          <p:cNvPr id="9483" name="Google Shape;9483;p431"/>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Blockmodeling for two mode networks</a:t>
            </a:r>
            <a:endParaRPr/>
          </a:p>
          <a:p>
            <a:pPr indent="-342900" lvl="0" marL="457200" rtl="0" algn="l">
              <a:spcBef>
                <a:spcPts val="0"/>
              </a:spcBef>
              <a:spcAft>
                <a:spcPts val="0"/>
              </a:spcAft>
              <a:buSzPts val="1800"/>
              <a:buChar char="●"/>
            </a:pPr>
            <a:r>
              <a:rPr lang="en"/>
              <a:t>Blockmodeling for valued graphs</a:t>
            </a:r>
            <a:endParaRPr/>
          </a:p>
          <a:p>
            <a:pPr indent="-342900" lvl="0" marL="457200" rtl="0" algn="l">
              <a:spcBef>
                <a:spcPts val="0"/>
              </a:spcBef>
              <a:spcAft>
                <a:spcPts val="0"/>
              </a:spcAft>
              <a:buSzPts val="1800"/>
              <a:buChar char="●"/>
            </a:pPr>
            <a:r>
              <a:rPr lang="en"/>
              <a:t>Blockmodeling for </a:t>
            </a:r>
            <a:r>
              <a:rPr lang="en"/>
              <a:t>multi-relational</a:t>
            </a:r>
            <a:r>
              <a:rPr lang="en"/>
              <a:t> networks</a:t>
            </a:r>
            <a:endParaRPr/>
          </a:p>
          <a:p>
            <a:pPr indent="-342900" lvl="0" marL="457200" rtl="0" algn="l">
              <a:spcBef>
                <a:spcPts val="0"/>
              </a:spcBef>
              <a:spcAft>
                <a:spcPts val="0"/>
              </a:spcAft>
              <a:buSzPts val="1800"/>
              <a:buChar char="●"/>
            </a:pPr>
            <a:r>
              <a:rPr lang="en"/>
              <a:t>In all cases procedure is similar:</a:t>
            </a:r>
            <a:endParaRPr/>
          </a:p>
          <a:p>
            <a:pPr indent="-317500" lvl="1" marL="914400" rtl="0" algn="l">
              <a:spcBef>
                <a:spcPts val="0"/>
              </a:spcBef>
              <a:spcAft>
                <a:spcPts val="0"/>
              </a:spcAft>
              <a:buSzPts val="1400"/>
              <a:buChar char="○"/>
            </a:pPr>
            <a:r>
              <a:rPr lang="en"/>
              <a:t>Come up with a </a:t>
            </a:r>
            <a:r>
              <a:rPr b="1" lang="en"/>
              <a:t>Blocking</a:t>
            </a:r>
            <a:r>
              <a:rPr lang="en"/>
              <a:t> criterion</a:t>
            </a:r>
            <a:endParaRPr/>
          </a:p>
          <a:p>
            <a:pPr indent="-317500" lvl="2" marL="1371600" rtl="0" algn="l">
              <a:spcBef>
                <a:spcPts val="0"/>
              </a:spcBef>
              <a:spcAft>
                <a:spcPts val="0"/>
              </a:spcAft>
              <a:buSzPts val="1400"/>
              <a:buChar char="■"/>
            </a:pPr>
            <a:r>
              <a:rPr lang="en"/>
              <a:t>The Blocking criterion produces:</a:t>
            </a:r>
            <a:endParaRPr/>
          </a:p>
          <a:p>
            <a:pPr indent="-317500" lvl="3" marL="1828800" rtl="0" algn="l">
              <a:spcBef>
                <a:spcPts val="0"/>
              </a:spcBef>
              <a:spcAft>
                <a:spcPts val="0"/>
              </a:spcAft>
              <a:buSzPts val="1400"/>
              <a:buChar char="●"/>
            </a:pPr>
            <a:r>
              <a:rPr lang="en"/>
              <a:t>A (dis)similarity matrix between nodes</a:t>
            </a:r>
            <a:endParaRPr/>
          </a:p>
          <a:p>
            <a:pPr indent="-317500" lvl="3" marL="1828800" rtl="0" algn="l">
              <a:spcBef>
                <a:spcPts val="0"/>
              </a:spcBef>
              <a:spcAft>
                <a:spcPts val="0"/>
              </a:spcAft>
              <a:buSzPts val="1400"/>
              <a:buChar char="●"/>
            </a:pPr>
            <a:r>
              <a:rPr lang="en"/>
              <a:t>A clustering of nodes into classes:</a:t>
            </a:r>
            <a:endParaRPr/>
          </a:p>
          <a:p>
            <a:pPr indent="-317500" lvl="1" marL="914400" rtl="0" algn="l">
              <a:spcBef>
                <a:spcPts val="0"/>
              </a:spcBef>
              <a:spcAft>
                <a:spcPts val="0"/>
              </a:spcAft>
              <a:buSzPts val="1400"/>
              <a:buChar char="○"/>
            </a:pPr>
            <a:r>
              <a:rPr lang="en"/>
              <a:t>Come up with a </a:t>
            </a:r>
            <a:r>
              <a:rPr b="1" lang="en"/>
              <a:t>Modeling </a:t>
            </a:r>
            <a:r>
              <a:rPr lang="en"/>
              <a:t>criterion</a:t>
            </a:r>
            <a:endParaRPr/>
          </a:p>
          <a:p>
            <a:pPr indent="-317500" lvl="2" marL="1371600" rtl="0" algn="l">
              <a:spcBef>
                <a:spcPts val="0"/>
              </a:spcBef>
              <a:spcAft>
                <a:spcPts val="0"/>
              </a:spcAft>
              <a:buSzPts val="1400"/>
              <a:buChar char="■"/>
            </a:pPr>
            <a:r>
              <a:rPr lang="en"/>
              <a:t>The modelling criterion produces:</a:t>
            </a:r>
            <a:endParaRPr/>
          </a:p>
          <a:p>
            <a:pPr indent="-317500" lvl="3" marL="1828800" rtl="0" algn="l">
              <a:spcBef>
                <a:spcPts val="0"/>
              </a:spcBef>
              <a:spcAft>
                <a:spcPts val="0"/>
              </a:spcAft>
              <a:buSzPts val="1400"/>
              <a:buChar char="●"/>
            </a:pPr>
            <a:r>
              <a:rPr lang="en"/>
              <a:t>A reduced </a:t>
            </a:r>
            <a:r>
              <a:rPr b="1" lang="en"/>
              <a:t>image matrix</a:t>
            </a:r>
            <a:r>
              <a:rPr lang="en"/>
              <a:t> of blocks and their internal and external relations</a:t>
            </a:r>
            <a:endParaRPr/>
          </a:p>
          <a:p>
            <a:pPr indent="-317500" lvl="3" marL="1828800" rtl="0" algn="l">
              <a:spcBef>
                <a:spcPts val="0"/>
              </a:spcBef>
              <a:spcAft>
                <a:spcPts val="0"/>
              </a:spcAft>
              <a:buSzPts val="1400"/>
              <a:buChar char="●"/>
            </a:pPr>
            <a:r>
              <a:rPr lang="en"/>
              <a:t>Which may (or may not) be compared to a hypothesized ideal image matrix</a:t>
            </a:r>
            <a:endParaRPr/>
          </a:p>
        </p:txBody>
      </p:sp>
    </p:spTree>
  </p:cSld>
  <p:clrMapOvr>
    <a:masterClrMapping/>
  </p:clrMapOvr>
</p:sld>
</file>

<file path=ppt/slides/slide4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87" name="Shape 9487"/>
        <p:cNvGrpSpPr/>
        <p:nvPr/>
      </p:nvGrpSpPr>
      <p:grpSpPr>
        <a:xfrm>
          <a:off x="0" y="0"/>
          <a:ext cx="0" cy="0"/>
          <a:chOff x="0" y="0"/>
          <a:chExt cx="0" cy="0"/>
        </a:xfrm>
      </p:grpSpPr>
      <p:sp>
        <p:nvSpPr>
          <p:cNvPr id="9488" name="Google Shape;9488;p4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Block’s theory of social circles</a:t>
            </a:r>
            <a:endParaRPr/>
          </a:p>
        </p:txBody>
      </p:sp>
      <p:sp>
        <p:nvSpPr>
          <p:cNvPr id="9489" name="Google Shape;9489;p43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Social circles</a:t>
            </a:r>
            <a:r>
              <a:rPr lang="en"/>
              <a:t> are the sites (times and places) in which individuals meet</a:t>
            </a:r>
            <a:endParaRPr/>
          </a:p>
          <a:p>
            <a:pPr indent="-317500" lvl="1" marL="914400" rtl="0" algn="l">
              <a:spcBef>
                <a:spcPts val="0"/>
              </a:spcBef>
              <a:spcAft>
                <a:spcPts val="0"/>
              </a:spcAft>
              <a:buSzPts val="1400"/>
              <a:buChar char="○"/>
            </a:pPr>
            <a:r>
              <a:rPr lang="en"/>
              <a:t>Also referred to as </a:t>
            </a:r>
            <a:r>
              <a:rPr b="1" lang="en"/>
              <a:t>social foci </a:t>
            </a:r>
            <a:r>
              <a:rPr lang="en"/>
              <a:t>or </a:t>
            </a:r>
            <a:r>
              <a:rPr b="1" lang="en"/>
              <a:t>social situations</a:t>
            </a:r>
            <a:endParaRPr/>
          </a:p>
          <a:p>
            <a:pPr indent="-342900" lvl="0" marL="457200" rtl="0" algn="l">
              <a:spcBef>
                <a:spcPts val="0"/>
              </a:spcBef>
              <a:spcAft>
                <a:spcPts val="0"/>
              </a:spcAft>
              <a:buSzPts val="1800"/>
              <a:buChar char="●"/>
            </a:pPr>
            <a:r>
              <a:rPr lang="en"/>
              <a:t>Social circles can be either </a:t>
            </a:r>
            <a:r>
              <a:rPr b="1" lang="en"/>
              <a:t>dyadic </a:t>
            </a:r>
            <a:r>
              <a:rPr lang="en"/>
              <a:t>or </a:t>
            </a:r>
            <a:r>
              <a:rPr b="1" lang="en"/>
              <a:t>group-based </a:t>
            </a:r>
            <a:endParaRPr b="1"/>
          </a:p>
          <a:p>
            <a:pPr indent="-317500" lvl="1" marL="914400" rtl="0" algn="l">
              <a:spcBef>
                <a:spcPts val="0"/>
              </a:spcBef>
              <a:spcAft>
                <a:spcPts val="0"/>
              </a:spcAft>
              <a:buSzPts val="1400"/>
              <a:buChar char="○"/>
            </a:pPr>
            <a:r>
              <a:rPr i="1" lang="en"/>
              <a:t>Dyadic circles</a:t>
            </a:r>
            <a:r>
              <a:rPr lang="en"/>
              <a:t>: Two people meet </a:t>
            </a:r>
            <a:endParaRPr/>
          </a:p>
          <a:p>
            <a:pPr indent="-317500" lvl="1" marL="914400" rtl="0" algn="l">
              <a:spcBef>
                <a:spcPts val="0"/>
              </a:spcBef>
              <a:spcAft>
                <a:spcPts val="0"/>
              </a:spcAft>
              <a:buSzPts val="1400"/>
              <a:buChar char="○"/>
            </a:pPr>
            <a:r>
              <a:rPr i="1" lang="en"/>
              <a:t>Group-based circles</a:t>
            </a:r>
            <a:r>
              <a:rPr lang="en"/>
              <a:t>: Three or more people meet</a:t>
            </a:r>
            <a:endParaRPr/>
          </a:p>
          <a:p>
            <a:pPr indent="-342900" lvl="0" marL="457200" rtl="0" algn="l">
              <a:spcBef>
                <a:spcPts val="0"/>
              </a:spcBef>
              <a:spcAft>
                <a:spcPts val="0"/>
              </a:spcAft>
              <a:buSzPts val="1800"/>
              <a:buChar char="●"/>
            </a:pPr>
            <a:r>
              <a:rPr lang="en"/>
              <a:t>Social circles can be either </a:t>
            </a:r>
            <a:r>
              <a:rPr b="1" lang="en"/>
              <a:t>endogenous </a:t>
            </a:r>
            <a:r>
              <a:rPr lang="en"/>
              <a:t>or </a:t>
            </a:r>
            <a:r>
              <a:rPr b="1" lang="en"/>
              <a:t>exogenous</a:t>
            </a:r>
            <a:endParaRPr b="1"/>
          </a:p>
          <a:p>
            <a:pPr indent="-317500" lvl="1" marL="914400" rtl="0" algn="l">
              <a:spcBef>
                <a:spcPts val="0"/>
              </a:spcBef>
              <a:spcAft>
                <a:spcPts val="0"/>
              </a:spcAft>
              <a:buSzPts val="1400"/>
              <a:buChar char="○"/>
            </a:pPr>
            <a:r>
              <a:rPr i="1" lang="en"/>
              <a:t>Endogenous circles</a:t>
            </a:r>
            <a:r>
              <a:rPr lang="en"/>
              <a:t>: People meet for fun and sociability</a:t>
            </a:r>
            <a:endParaRPr/>
          </a:p>
          <a:p>
            <a:pPr indent="-317500" lvl="2" marL="1371600" rtl="0" algn="l">
              <a:spcBef>
                <a:spcPts val="0"/>
              </a:spcBef>
              <a:spcAft>
                <a:spcPts val="0"/>
              </a:spcAft>
              <a:buSzPts val="1400"/>
              <a:buChar char="■"/>
            </a:pPr>
            <a:r>
              <a:rPr lang="en"/>
              <a:t>Party, hanging out, drink at the pub</a:t>
            </a:r>
            <a:endParaRPr/>
          </a:p>
          <a:p>
            <a:pPr indent="-317500" lvl="1" marL="914400" rtl="0" algn="l">
              <a:spcBef>
                <a:spcPts val="0"/>
              </a:spcBef>
              <a:spcAft>
                <a:spcPts val="0"/>
              </a:spcAft>
              <a:buSzPts val="1400"/>
              <a:buChar char="○"/>
            </a:pPr>
            <a:r>
              <a:rPr i="1" lang="en"/>
              <a:t>Exogenous circles</a:t>
            </a:r>
            <a:r>
              <a:rPr lang="en"/>
              <a:t>: People meet to get something done or pursue a given interest</a:t>
            </a:r>
            <a:endParaRPr/>
          </a:p>
          <a:p>
            <a:pPr indent="-317500" lvl="2" marL="1371600" rtl="0" algn="l">
              <a:spcBef>
                <a:spcPts val="0"/>
              </a:spcBef>
              <a:spcAft>
                <a:spcPts val="0"/>
              </a:spcAft>
              <a:buSzPts val="1400"/>
              <a:buChar char="■"/>
            </a:pPr>
            <a:r>
              <a:rPr lang="en"/>
              <a:t>Work, Chess Club, Parent-teacher association, etc.</a:t>
            </a:r>
            <a:endParaRPr/>
          </a:p>
        </p:txBody>
      </p:sp>
    </p:spTree>
  </p:cSld>
  <p:clrMapOvr>
    <a:masterClrMapping/>
  </p:clrMapOvr>
</p:sld>
</file>

<file path=ppt/slides/slide4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93" name="Shape 9493"/>
        <p:cNvGrpSpPr/>
        <p:nvPr/>
      </p:nvGrpSpPr>
      <p:grpSpPr>
        <a:xfrm>
          <a:off x="0" y="0"/>
          <a:ext cx="0" cy="0"/>
          <a:chOff x="0" y="0"/>
          <a:chExt cx="0" cy="0"/>
        </a:xfrm>
      </p:grpSpPr>
      <p:sp>
        <p:nvSpPr>
          <p:cNvPr id="9494" name="Google Shape;9494;p4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Block’s theory of social circles</a:t>
            </a:r>
            <a:endParaRPr/>
          </a:p>
        </p:txBody>
      </p:sp>
      <p:sp>
        <p:nvSpPr>
          <p:cNvPr id="9495" name="Google Shape;9495;p433"/>
          <p:cNvSpPr txBox="1"/>
          <p:nvPr>
            <p:ph idx="1" type="body"/>
          </p:nvPr>
        </p:nvSpPr>
        <p:spPr>
          <a:xfrm>
            <a:off x="311700" y="1225225"/>
            <a:ext cx="40911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Different types of circles foster distinct tie formation processes:</a:t>
            </a:r>
            <a:endParaRPr/>
          </a:p>
          <a:p>
            <a:pPr indent="-317500" lvl="1" marL="914400" rtl="0" algn="l">
              <a:spcBef>
                <a:spcPts val="0"/>
              </a:spcBef>
              <a:spcAft>
                <a:spcPts val="0"/>
              </a:spcAft>
              <a:buSzPts val="1400"/>
              <a:buChar char="○"/>
            </a:pPr>
            <a:r>
              <a:rPr lang="en"/>
              <a:t>Dyadic endogenous circles lead to </a:t>
            </a:r>
            <a:r>
              <a:rPr b="1" lang="en"/>
              <a:t>reciprocity</a:t>
            </a:r>
            <a:endParaRPr b="1"/>
          </a:p>
          <a:p>
            <a:pPr indent="-317500" lvl="1" marL="914400" rtl="0" algn="l">
              <a:spcBef>
                <a:spcPts val="0"/>
              </a:spcBef>
              <a:spcAft>
                <a:spcPts val="0"/>
              </a:spcAft>
              <a:buSzPts val="1400"/>
              <a:buChar char="○"/>
            </a:pPr>
            <a:r>
              <a:rPr lang="en"/>
              <a:t>Group-based endogenous circles lead to </a:t>
            </a:r>
            <a:r>
              <a:rPr b="1" lang="en"/>
              <a:t>transitivity</a:t>
            </a:r>
            <a:endParaRPr b="1"/>
          </a:p>
          <a:p>
            <a:pPr indent="-317500" lvl="1" marL="914400" rtl="0" algn="l">
              <a:spcBef>
                <a:spcPts val="0"/>
              </a:spcBef>
              <a:spcAft>
                <a:spcPts val="0"/>
              </a:spcAft>
              <a:buSzPts val="1400"/>
              <a:buChar char="○"/>
            </a:pPr>
            <a:r>
              <a:rPr lang="en"/>
              <a:t>Group-based exogenous circles lead to </a:t>
            </a:r>
            <a:r>
              <a:rPr b="1" lang="en"/>
              <a:t>homophily</a:t>
            </a:r>
            <a:endParaRPr b="1"/>
          </a:p>
        </p:txBody>
      </p:sp>
      <p:sp>
        <p:nvSpPr>
          <p:cNvPr id="9496" name="Google Shape;9496;p433"/>
          <p:cNvSpPr/>
          <p:nvPr/>
        </p:nvSpPr>
        <p:spPr>
          <a:xfrm>
            <a:off x="5739800" y="1127550"/>
            <a:ext cx="1926300" cy="5484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Social Circles</a:t>
            </a:r>
            <a:endParaRPr b="1" sz="1200">
              <a:latin typeface="Comfortaa"/>
              <a:ea typeface="Comfortaa"/>
              <a:cs typeface="Comfortaa"/>
              <a:sym typeface="Comfortaa"/>
            </a:endParaRPr>
          </a:p>
        </p:txBody>
      </p:sp>
      <p:cxnSp>
        <p:nvCxnSpPr>
          <p:cNvPr id="9497" name="Google Shape;9497;p433"/>
          <p:cNvCxnSpPr>
            <a:stCxn id="9496" idx="4"/>
            <a:endCxn id="9498" idx="0"/>
          </p:cNvCxnSpPr>
          <p:nvPr/>
        </p:nvCxnSpPr>
        <p:spPr>
          <a:xfrm flipH="1">
            <a:off x="5604050" y="1675950"/>
            <a:ext cx="1098900" cy="408600"/>
          </a:xfrm>
          <a:prstGeom prst="straightConnector1">
            <a:avLst/>
          </a:prstGeom>
          <a:noFill/>
          <a:ln cap="flat" cmpd="sng" w="28575">
            <a:solidFill>
              <a:schemeClr val="dk2"/>
            </a:solidFill>
            <a:prstDash val="solid"/>
            <a:round/>
            <a:headEnd len="med" w="med" type="none"/>
            <a:tailEnd len="med" w="med" type="none"/>
          </a:ln>
        </p:spPr>
      </p:cxnSp>
      <p:sp>
        <p:nvSpPr>
          <p:cNvPr id="9498" name="Google Shape;9498;p433"/>
          <p:cNvSpPr/>
          <p:nvPr/>
        </p:nvSpPr>
        <p:spPr>
          <a:xfrm>
            <a:off x="4640900" y="2084550"/>
            <a:ext cx="1926300" cy="4872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Endogenous</a:t>
            </a:r>
            <a:endParaRPr b="1" sz="1200">
              <a:latin typeface="Comfortaa"/>
              <a:ea typeface="Comfortaa"/>
              <a:cs typeface="Comfortaa"/>
              <a:sym typeface="Comfortaa"/>
            </a:endParaRPr>
          </a:p>
          <a:p>
            <a:pPr indent="0" lvl="0" marL="0" rtl="0" algn="ctr">
              <a:spcBef>
                <a:spcPts val="0"/>
              </a:spcBef>
              <a:spcAft>
                <a:spcPts val="0"/>
              </a:spcAft>
              <a:buNone/>
            </a:pPr>
            <a:r>
              <a:rPr lang="en" sz="1200">
                <a:latin typeface="Comfortaa"/>
                <a:ea typeface="Comfortaa"/>
                <a:cs typeface="Comfortaa"/>
                <a:sym typeface="Comfortaa"/>
              </a:rPr>
              <a:t>(meet for fun)</a:t>
            </a:r>
            <a:endParaRPr sz="1200">
              <a:latin typeface="Comfortaa"/>
              <a:ea typeface="Comfortaa"/>
              <a:cs typeface="Comfortaa"/>
              <a:sym typeface="Comfortaa"/>
            </a:endParaRPr>
          </a:p>
        </p:txBody>
      </p:sp>
      <p:sp>
        <p:nvSpPr>
          <p:cNvPr id="9499" name="Google Shape;9499;p433"/>
          <p:cNvSpPr/>
          <p:nvPr/>
        </p:nvSpPr>
        <p:spPr>
          <a:xfrm>
            <a:off x="6805400" y="2084550"/>
            <a:ext cx="1926300" cy="4872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Exogenous</a:t>
            </a:r>
            <a:endParaRPr b="1" sz="1200">
              <a:latin typeface="Comfortaa"/>
              <a:ea typeface="Comfortaa"/>
              <a:cs typeface="Comfortaa"/>
              <a:sym typeface="Comfortaa"/>
            </a:endParaRPr>
          </a:p>
          <a:p>
            <a:pPr indent="0" lvl="0" marL="0" rtl="0" algn="ctr">
              <a:spcBef>
                <a:spcPts val="0"/>
              </a:spcBef>
              <a:spcAft>
                <a:spcPts val="0"/>
              </a:spcAft>
              <a:buNone/>
            </a:pPr>
            <a:r>
              <a:rPr lang="en" sz="1200">
                <a:latin typeface="Comfortaa"/>
                <a:ea typeface="Comfortaa"/>
                <a:cs typeface="Comfortaa"/>
                <a:sym typeface="Comfortaa"/>
              </a:rPr>
              <a:t>(meet for activities)</a:t>
            </a:r>
            <a:endParaRPr sz="1200">
              <a:latin typeface="Comfortaa"/>
              <a:ea typeface="Comfortaa"/>
              <a:cs typeface="Comfortaa"/>
              <a:sym typeface="Comfortaa"/>
            </a:endParaRPr>
          </a:p>
        </p:txBody>
      </p:sp>
      <p:cxnSp>
        <p:nvCxnSpPr>
          <p:cNvPr id="9500" name="Google Shape;9500;p433"/>
          <p:cNvCxnSpPr>
            <a:stCxn id="9498" idx="2"/>
            <a:endCxn id="9501" idx="0"/>
          </p:cNvCxnSpPr>
          <p:nvPr/>
        </p:nvCxnSpPr>
        <p:spPr>
          <a:xfrm flipH="1">
            <a:off x="4980950" y="2571750"/>
            <a:ext cx="623100" cy="340200"/>
          </a:xfrm>
          <a:prstGeom prst="straightConnector1">
            <a:avLst/>
          </a:prstGeom>
          <a:noFill/>
          <a:ln cap="flat" cmpd="sng" w="28575">
            <a:solidFill>
              <a:schemeClr val="dk2"/>
            </a:solidFill>
            <a:prstDash val="solid"/>
            <a:round/>
            <a:headEnd len="med" w="med" type="none"/>
            <a:tailEnd len="med" w="med" type="none"/>
          </a:ln>
        </p:spPr>
      </p:cxnSp>
      <p:sp>
        <p:nvSpPr>
          <p:cNvPr id="9501" name="Google Shape;9501;p433"/>
          <p:cNvSpPr/>
          <p:nvPr/>
        </p:nvSpPr>
        <p:spPr>
          <a:xfrm>
            <a:off x="4640900" y="2911800"/>
            <a:ext cx="679800" cy="3105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Comfortaa"/>
                <a:ea typeface="Comfortaa"/>
                <a:cs typeface="Comfortaa"/>
                <a:sym typeface="Comfortaa"/>
              </a:rPr>
              <a:t>Dyad</a:t>
            </a:r>
            <a:endParaRPr b="1" sz="1100">
              <a:latin typeface="Comfortaa"/>
              <a:ea typeface="Comfortaa"/>
              <a:cs typeface="Comfortaa"/>
              <a:sym typeface="Comfortaa"/>
            </a:endParaRPr>
          </a:p>
        </p:txBody>
      </p:sp>
      <p:sp>
        <p:nvSpPr>
          <p:cNvPr id="9502" name="Google Shape;9502;p433"/>
          <p:cNvSpPr/>
          <p:nvPr/>
        </p:nvSpPr>
        <p:spPr>
          <a:xfrm>
            <a:off x="5864825" y="2911800"/>
            <a:ext cx="679800" cy="3105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Comfortaa"/>
                <a:ea typeface="Comfortaa"/>
                <a:cs typeface="Comfortaa"/>
                <a:sym typeface="Comfortaa"/>
              </a:rPr>
              <a:t>Group</a:t>
            </a:r>
            <a:endParaRPr b="1" sz="1100">
              <a:latin typeface="Comfortaa"/>
              <a:ea typeface="Comfortaa"/>
              <a:cs typeface="Comfortaa"/>
              <a:sym typeface="Comfortaa"/>
            </a:endParaRPr>
          </a:p>
        </p:txBody>
      </p:sp>
      <p:cxnSp>
        <p:nvCxnSpPr>
          <p:cNvPr id="9503" name="Google Shape;9503;p433"/>
          <p:cNvCxnSpPr>
            <a:stCxn id="9498" idx="2"/>
            <a:endCxn id="9502" idx="0"/>
          </p:cNvCxnSpPr>
          <p:nvPr/>
        </p:nvCxnSpPr>
        <p:spPr>
          <a:xfrm>
            <a:off x="5604050" y="2571750"/>
            <a:ext cx="600600" cy="340200"/>
          </a:xfrm>
          <a:prstGeom prst="straightConnector1">
            <a:avLst/>
          </a:prstGeom>
          <a:noFill/>
          <a:ln cap="flat" cmpd="sng" w="28575">
            <a:solidFill>
              <a:schemeClr val="dk2"/>
            </a:solidFill>
            <a:prstDash val="solid"/>
            <a:round/>
            <a:headEnd len="med" w="med" type="none"/>
            <a:tailEnd len="med" w="med" type="none"/>
          </a:ln>
        </p:spPr>
      </p:cxnSp>
      <p:cxnSp>
        <p:nvCxnSpPr>
          <p:cNvPr id="9504" name="Google Shape;9504;p433"/>
          <p:cNvCxnSpPr>
            <a:stCxn id="9501" idx="2"/>
            <a:endCxn id="9505" idx="0"/>
          </p:cNvCxnSpPr>
          <p:nvPr/>
        </p:nvCxnSpPr>
        <p:spPr>
          <a:xfrm>
            <a:off x="4980800" y="3222300"/>
            <a:ext cx="0" cy="525600"/>
          </a:xfrm>
          <a:prstGeom prst="straightConnector1">
            <a:avLst/>
          </a:prstGeom>
          <a:noFill/>
          <a:ln cap="flat" cmpd="sng" w="28575">
            <a:solidFill>
              <a:schemeClr val="dk2"/>
            </a:solidFill>
            <a:prstDash val="solid"/>
            <a:round/>
            <a:headEnd len="med" w="med" type="none"/>
            <a:tailEnd len="med" w="med" type="none"/>
          </a:ln>
        </p:spPr>
      </p:cxnSp>
      <p:grpSp>
        <p:nvGrpSpPr>
          <p:cNvPr id="9506" name="Google Shape;9506;p433"/>
          <p:cNvGrpSpPr/>
          <p:nvPr/>
        </p:nvGrpSpPr>
        <p:grpSpPr>
          <a:xfrm>
            <a:off x="4518925" y="3748000"/>
            <a:ext cx="923740" cy="831273"/>
            <a:chOff x="3787410" y="3640659"/>
            <a:chExt cx="1191000" cy="1087200"/>
          </a:xfrm>
        </p:grpSpPr>
        <p:sp>
          <p:nvSpPr>
            <p:cNvPr id="9505" name="Google Shape;9505;p433"/>
            <p:cNvSpPr/>
            <p:nvPr/>
          </p:nvSpPr>
          <p:spPr>
            <a:xfrm>
              <a:off x="3787410" y="3640659"/>
              <a:ext cx="1191000" cy="1087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ctr">
                <a:spcBef>
                  <a:spcPts val="0"/>
                </a:spcBef>
                <a:spcAft>
                  <a:spcPts val="0"/>
                </a:spcAft>
                <a:buNone/>
              </a:pPr>
              <a:r>
                <a:t/>
              </a:r>
              <a:endParaRPr sz="1100"/>
            </a:p>
          </p:txBody>
        </p:sp>
        <p:sp>
          <p:nvSpPr>
            <p:cNvPr id="9507" name="Google Shape;9507;p433"/>
            <p:cNvSpPr/>
            <p:nvPr/>
          </p:nvSpPr>
          <p:spPr>
            <a:xfrm>
              <a:off x="3893150" y="4054075"/>
              <a:ext cx="204000" cy="20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8" name="Google Shape;9508;p433"/>
            <p:cNvSpPr/>
            <p:nvPr/>
          </p:nvSpPr>
          <p:spPr>
            <a:xfrm>
              <a:off x="4668675" y="4054075"/>
              <a:ext cx="204000" cy="2040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09" name="Google Shape;9509;p433"/>
            <p:cNvCxnSpPr>
              <a:stCxn id="9508" idx="0"/>
              <a:endCxn id="9507" idx="0"/>
            </p:cNvCxnSpPr>
            <p:nvPr/>
          </p:nvCxnSpPr>
          <p:spPr>
            <a:xfrm rot="5400000">
              <a:off x="4382625" y="3666625"/>
              <a:ext cx="600" cy="775500"/>
            </a:xfrm>
            <a:prstGeom prst="curvedConnector3">
              <a:avLst>
                <a:gd fmla="val -34604150" name="adj1"/>
              </a:avLst>
            </a:prstGeom>
            <a:noFill/>
            <a:ln cap="flat" cmpd="sng" w="19050">
              <a:solidFill>
                <a:schemeClr val="dk2"/>
              </a:solidFill>
              <a:prstDash val="solid"/>
              <a:round/>
              <a:headEnd len="med" w="med" type="none"/>
              <a:tailEnd len="med" w="med" type="triangle"/>
            </a:ln>
          </p:spPr>
        </p:cxnSp>
        <p:cxnSp>
          <p:nvCxnSpPr>
            <p:cNvPr id="9510" name="Google Shape;9510;p433"/>
            <p:cNvCxnSpPr>
              <a:stCxn id="9507" idx="4"/>
              <a:endCxn id="9508" idx="4"/>
            </p:cNvCxnSpPr>
            <p:nvPr/>
          </p:nvCxnSpPr>
          <p:spPr>
            <a:xfrm flipH="1" rot="-5400000">
              <a:off x="4382600" y="3870625"/>
              <a:ext cx="600" cy="775500"/>
            </a:xfrm>
            <a:prstGeom prst="curvedConnector3">
              <a:avLst>
                <a:gd fmla="val 34604150" name="adj1"/>
              </a:avLst>
            </a:prstGeom>
            <a:noFill/>
            <a:ln cap="flat" cmpd="sng" w="19050">
              <a:solidFill>
                <a:schemeClr val="dk2"/>
              </a:solidFill>
              <a:prstDash val="solid"/>
              <a:round/>
              <a:headEnd len="med" w="med" type="none"/>
              <a:tailEnd len="med" w="med" type="triangle"/>
            </a:ln>
          </p:spPr>
        </p:cxnSp>
      </p:grpSp>
      <p:grpSp>
        <p:nvGrpSpPr>
          <p:cNvPr id="9511" name="Google Shape;9511;p433"/>
          <p:cNvGrpSpPr/>
          <p:nvPr/>
        </p:nvGrpSpPr>
        <p:grpSpPr>
          <a:xfrm>
            <a:off x="5709850" y="3743062"/>
            <a:ext cx="987339" cy="831241"/>
            <a:chOff x="5614399" y="3829471"/>
            <a:chExt cx="1191000" cy="965100"/>
          </a:xfrm>
        </p:grpSpPr>
        <p:sp>
          <p:nvSpPr>
            <p:cNvPr id="9512" name="Google Shape;9512;p433"/>
            <p:cNvSpPr/>
            <p:nvPr/>
          </p:nvSpPr>
          <p:spPr>
            <a:xfrm>
              <a:off x="5614399" y="3829471"/>
              <a:ext cx="1191000" cy="965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ctr">
                <a:spcBef>
                  <a:spcPts val="0"/>
                </a:spcBef>
                <a:spcAft>
                  <a:spcPts val="0"/>
                </a:spcAft>
                <a:buNone/>
              </a:pPr>
              <a:r>
                <a:t/>
              </a:r>
              <a:endParaRPr sz="1100"/>
            </a:p>
          </p:txBody>
        </p:sp>
        <p:sp>
          <p:nvSpPr>
            <p:cNvPr id="9513" name="Google Shape;9513;p433"/>
            <p:cNvSpPr/>
            <p:nvPr/>
          </p:nvSpPr>
          <p:spPr>
            <a:xfrm>
              <a:off x="5728838" y="4499675"/>
              <a:ext cx="204000" cy="20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4" name="Google Shape;9514;p433"/>
            <p:cNvSpPr/>
            <p:nvPr/>
          </p:nvSpPr>
          <p:spPr>
            <a:xfrm>
              <a:off x="6504363" y="4499675"/>
              <a:ext cx="204000" cy="2040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5" name="Google Shape;9515;p433"/>
            <p:cNvSpPr/>
            <p:nvPr/>
          </p:nvSpPr>
          <p:spPr>
            <a:xfrm>
              <a:off x="6116588" y="3972300"/>
              <a:ext cx="204000" cy="2040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16" name="Google Shape;9516;p433"/>
            <p:cNvCxnSpPr>
              <a:stCxn id="9515" idx="3"/>
              <a:endCxn id="9513" idx="7"/>
            </p:cNvCxnSpPr>
            <p:nvPr/>
          </p:nvCxnSpPr>
          <p:spPr>
            <a:xfrm flipH="1">
              <a:off x="5902863" y="4146425"/>
              <a:ext cx="243600" cy="383100"/>
            </a:xfrm>
            <a:prstGeom prst="straightConnector1">
              <a:avLst/>
            </a:prstGeom>
            <a:noFill/>
            <a:ln cap="flat" cmpd="sng" w="19050">
              <a:solidFill>
                <a:schemeClr val="dk2"/>
              </a:solidFill>
              <a:prstDash val="solid"/>
              <a:round/>
              <a:headEnd len="med" w="med" type="none"/>
              <a:tailEnd len="med" w="med" type="none"/>
            </a:ln>
          </p:spPr>
        </p:cxnSp>
        <p:cxnSp>
          <p:nvCxnSpPr>
            <p:cNvPr id="9517" name="Google Shape;9517;p433"/>
            <p:cNvCxnSpPr>
              <a:stCxn id="9515" idx="5"/>
              <a:endCxn id="9514" idx="1"/>
            </p:cNvCxnSpPr>
            <p:nvPr/>
          </p:nvCxnSpPr>
          <p:spPr>
            <a:xfrm>
              <a:off x="6290712" y="4146425"/>
              <a:ext cx="243600" cy="383100"/>
            </a:xfrm>
            <a:prstGeom prst="straightConnector1">
              <a:avLst/>
            </a:prstGeom>
            <a:noFill/>
            <a:ln cap="flat" cmpd="sng" w="19050">
              <a:solidFill>
                <a:schemeClr val="dk2"/>
              </a:solidFill>
              <a:prstDash val="solid"/>
              <a:round/>
              <a:headEnd len="med" w="med" type="none"/>
              <a:tailEnd len="med" w="med" type="none"/>
            </a:ln>
          </p:spPr>
        </p:cxnSp>
        <p:cxnSp>
          <p:nvCxnSpPr>
            <p:cNvPr id="9518" name="Google Shape;9518;p433"/>
            <p:cNvCxnSpPr>
              <a:stCxn id="9514" idx="2"/>
              <a:endCxn id="9513" idx="6"/>
            </p:cNvCxnSpPr>
            <p:nvPr/>
          </p:nvCxnSpPr>
          <p:spPr>
            <a:xfrm rot="10800000">
              <a:off x="5932863" y="4601675"/>
              <a:ext cx="571500" cy="0"/>
            </a:xfrm>
            <a:prstGeom prst="straightConnector1">
              <a:avLst/>
            </a:prstGeom>
            <a:noFill/>
            <a:ln cap="flat" cmpd="sng" w="19050">
              <a:solidFill>
                <a:schemeClr val="dk2"/>
              </a:solidFill>
              <a:prstDash val="solid"/>
              <a:round/>
              <a:headEnd len="med" w="med" type="none"/>
              <a:tailEnd len="med" w="med" type="none"/>
            </a:ln>
          </p:spPr>
        </p:cxnSp>
      </p:grpSp>
      <p:grpSp>
        <p:nvGrpSpPr>
          <p:cNvPr id="9519" name="Google Shape;9519;p433"/>
          <p:cNvGrpSpPr/>
          <p:nvPr/>
        </p:nvGrpSpPr>
        <p:grpSpPr>
          <a:xfrm>
            <a:off x="7264850" y="3736651"/>
            <a:ext cx="987339" cy="844054"/>
            <a:chOff x="7337190" y="3702793"/>
            <a:chExt cx="1191000" cy="972300"/>
          </a:xfrm>
        </p:grpSpPr>
        <p:grpSp>
          <p:nvGrpSpPr>
            <p:cNvPr id="9520" name="Google Shape;9520;p433"/>
            <p:cNvGrpSpPr/>
            <p:nvPr/>
          </p:nvGrpSpPr>
          <p:grpSpPr>
            <a:xfrm>
              <a:off x="7337190" y="3702793"/>
              <a:ext cx="1191000" cy="972300"/>
              <a:chOff x="3787415" y="3702793"/>
              <a:chExt cx="1191000" cy="972300"/>
            </a:xfrm>
          </p:grpSpPr>
          <p:sp>
            <p:nvSpPr>
              <p:cNvPr id="9521" name="Google Shape;9521;p433"/>
              <p:cNvSpPr/>
              <p:nvPr/>
            </p:nvSpPr>
            <p:spPr>
              <a:xfrm>
                <a:off x="3787415" y="3702793"/>
                <a:ext cx="1191000" cy="972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ctr">
                  <a:spcBef>
                    <a:spcPts val="0"/>
                  </a:spcBef>
                  <a:spcAft>
                    <a:spcPts val="0"/>
                  </a:spcAft>
                  <a:buNone/>
                </a:pPr>
                <a:r>
                  <a:t/>
                </a:r>
                <a:endParaRPr sz="1200"/>
              </a:p>
            </p:txBody>
          </p:sp>
          <p:sp>
            <p:nvSpPr>
              <p:cNvPr id="9522" name="Google Shape;9522;p433"/>
              <p:cNvSpPr/>
              <p:nvPr/>
            </p:nvSpPr>
            <p:spPr>
              <a:xfrm>
                <a:off x="3893150" y="3909766"/>
                <a:ext cx="204000" cy="20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3" name="Google Shape;9523;p433"/>
              <p:cNvSpPr/>
              <p:nvPr/>
            </p:nvSpPr>
            <p:spPr>
              <a:xfrm>
                <a:off x="4668675" y="3909766"/>
                <a:ext cx="204000" cy="20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524" name="Google Shape;9524;p433"/>
            <p:cNvCxnSpPr>
              <a:stCxn id="9522" idx="6"/>
              <a:endCxn id="9523" idx="2"/>
            </p:cNvCxnSpPr>
            <p:nvPr/>
          </p:nvCxnSpPr>
          <p:spPr>
            <a:xfrm>
              <a:off x="7646925" y="4011766"/>
              <a:ext cx="571500" cy="0"/>
            </a:xfrm>
            <a:prstGeom prst="straightConnector1">
              <a:avLst/>
            </a:prstGeom>
            <a:noFill/>
            <a:ln cap="flat" cmpd="sng" w="28575">
              <a:solidFill>
                <a:schemeClr val="dk2"/>
              </a:solidFill>
              <a:prstDash val="solid"/>
              <a:round/>
              <a:headEnd len="med" w="med" type="none"/>
              <a:tailEnd len="med" w="med" type="none"/>
            </a:ln>
          </p:spPr>
        </p:cxnSp>
      </p:grpSp>
      <p:cxnSp>
        <p:nvCxnSpPr>
          <p:cNvPr id="9525" name="Google Shape;9525;p433"/>
          <p:cNvCxnSpPr>
            <a:stCxn id="9502" idx="2"/>
            <a:endCxn id="9512" idx="0"/>
          </p:cNvCxnSpPr>
          <p:nvPr/>
        </p:nvCxnSpPr>
        <p:spPr>
          <a:xfrm flipH="1">
            <a:off x="6203525" y="3222300"/>
            <a:ext cx="1200" cy="520800"/>
          </a:xfrm>
          <a:prstGeom prst="straightConnector1">
            <a:avLst/>
          </a:prstGeom>
          <a:noFill/>
          <a:ln cap="flat" cmpd="sng" w="28575">
            <a:solidFill>
              <a:schemeClr val="dk2"/>
            </a:solidFill>
            <a:prstDash val="solid"/>
            <a:round/>
            <a:headEnd len="med" w="med" type="none"/>
            <a:tailEnd len="med" w="med" type="none"/>
          </a:ln>
        </p:spPr>
      </p:cxnSp>
      <p:sp>
        <p:nvSpPr>
          <p:cNvPr id="9526" name="Google Shape;9526;p433"/>
          <p:cNvSpPr/>
          <p:nvPr/>
        </p:nvSpPr>
        <p:spPr>
          <a:xfrm>
            <a:off x="7010750" y="2911800"/>
            <a:ext cx="1495500" cy="3105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Comfortaa"/>
                <a:ea typeface="Comfortaa"/>
                <a:cs typeface="Comfortaa"/>
                <a:sym typeface="Comfortaa"/>
              </a:rPr>
              <a:t>Dyad or Group</a:t>
            </a:r>
            <a:endParaRPr b="1" sz="1100">
              <a:latin typeface="Comfortaa"/>
              <a:ea typeface="Comfortaa"/>
              <a:cs typeface="Comfortaa"/>
              <a:sym typeface="Comfortaa"/>
            </a:endParaRPr>
          </a:p>
        </p:txBody>
      </p:sp>
      <p:cxnSp>
        <p:nvCxnSpPr>
          <p:cNvPr id="9527" name="Google Shape;9527;p433"/>
          <p:cNvCxnSpPr>
            <a:stCxn id="9499" idx="2"/>
            <a:endCxn id="9526" idx="0"/>
          </p:cNvCxnSpPr>
          <p:nvPr/>
        </p:nvCxnSpPr>
        <p:spPr>
          <a:xfrm flipH="1">
            <a:off x="7758650" y="2571750"/>
            <a:ext cx="9900" cy="340200"/>
          </a:xfrm>
          <a:prstGeom prst="straightConnector1">
            <a:avLst/>
          </a:prstGeom>
          <a:noFill/>
          <a:ln cap="flat" cmpd="sng" w="28575">
            <a:solidFill>
              <a:schemeClr val="dk2"/>
            </a:solidFill>
            <a:prstDash val="solid"/>
            <a:round/>
            <a:headEnd len="med" w="med" type="none"/>
            <a:tailEnd len="med" w="med" type="none"/>
          </a:ln>
        </p:spPr>
      </p:cxnSp>
      <p:cxnSp>
        <p:nvCxnSpPr>
          <p:cNvPr id="9528" name="Google Shape;9528;p433"/>
          <p:cNvCxnSpPr>
            <a:stCxn id="9496" idx="4"/>
            <a:endCxn id="9499" idx="0"/>
          </p:cNvCxnSpPr>
          <p:nvPr/>
        </p:nvCxnSpPr>
        <p:spPr>
          <a:xfrm>
            <a:off x="6702950" y="1675950"/>
            <a:ext cx="1065600" cy="408600"/>
          </a:xfrm>
          <a:prstGeom prst="straightConnector1">
            <a:avLst/>
          </a:prstGeom>
          <a:noFill/>
          <a:ln cap="flat" cmpd="sng" w="28575">
            <a:solidFill>
              <a:schemeClr val="dk2"/>
            </a:solidFill>
            <a:prstDash val="solid"/>
            <a:round/>
            <a:headEnd len="med" w="med" type="none"/>
            <a:tailEnd len="med" w="med" type="none"/>
          </a:ln>
        </p:spPr>
      </p:cxnSp>
      <p:cxnSp>
        <p:nvCxnSpPr>
          <p:cNvPr id="9529" name="Google Shape;9529;p433"/>
          <p:cNvCxnSpPr>
            <a:stCxn id="9526" idx="2"/>
            <a:endCxn id="9521" idx="0"/>
          </p:cNvCxnSpPr>
          <p:nvPr/>
        </p:nvCxnSpPr>
        <p:spPr>
          <a:xfrm>
            <a:off x="7758500" y="3222300"/>
            <a:ext cx="0" cy="514500"/>
          </a:xfrm>
          <a:prstGeom prst="straightConnector1">
            <a:avLst/>
          </a:prstGeom>
          <a:noFill/>
          <a:ln cap="flat" cmpd="sng" w="28575">
            <a:solidFill>
              <a:schemeClr val="dk2"/>
            </a:solidFill>
            <a:prstDash val="solid"/>
            <a:round/>
            <a:headEnd len="med" w="med" type="none"/>
            <a:tailEnd len="med" w="med" type="none"/>
          </a:ln>
        </p:spPr>
      </p:cxnSp>
      <p:sp>
        <p:nvSpPr>
          <p:cNvPr id="9530" name="Google Shape;9530;p433"/>
          <p:cNvSpPr txBox="1"/>
          <p:nvPr/>
        </p:nvSpPr>
        <p:spPr>
          <a:xfrm>
            <a:off x="4518925" y="4643200"/>
            <a:ext cx="9873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Reciprocity</a:t>
            </a:r>
            <a:endParaRPr sz="1200">
              <a:latin typeface="Open Sans"/>
              <a:ea typeface="Open Sans"/>
              <a:cs typeface="Open Sans"/>
              <a:sym typeface="Open Sans"/>
            </a:endParaRPr>
          </a:p>
        </p:txBody>
      </p:sp>
      <p:sp>
        <p:nvSpPr>
          <p:cNvPr id="9531" name="Google Shape;9531;p433"/>
          <p:cNvSpPr txBox="1"/>
          <p:nvPr/>
        </p:nvSpPr>
        <p:spPr>
          <a:xfrm>
            <a:off x="5662500" y="4643200"/>
            <a:ext cx="9873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Transitivity</a:t>
            </a:r>
            <a:endParaRPr sz="1200">
              <a:latin typeface="Open Sans"/>
              <a:ea typeface="Open Sans"/>
              <a:cs typeface="Open Sans"/>
              <a:sym typeface="Open Sans"/>
            </a:endParaRPr>
          </a:p>
        </p:txBody>
      </p:sp>
      <p:sp>
        <p:nvSpPr>
          <p:cNvPr id="9532" name="Google Shape;9532;p433"/>
          <p:cNvSpPr txBox="1"/>
          <p:nvPr/>
        </p:nvSpPr>
        <p:spPr>
          <a:xfrm>
            <a:off x="7267500" y="4643200"/>
            <a:ext cx="9873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Homophily</a:t>
            </a:r>
            <a:endParaRPr sz="1200">
              <a:latin typeface="Open Sans"/>
              <a:ea typeface="Open Sans"/>
              <a:cs typeface="Open Sans"/>
              <a:sym typeface="Open Sans"/>
            </a:endParaRPr>
          </a:p>
        </p:txBody>
      </p:sp>
      <p:grpSp>
        <p:nvGrpSpPr>
          <p:cNvPr id="9533" name="Google Shape;9533;p433"/>
          <p:cNvGrpSpPr/>
          <p:nvPr/>
        </p:nvGrpSpPr>
        <p:grpSpPr>
          <a:xfrm>
            <a:off x="7352492" y="4272948"/>
            <a:ext cx="812026" cy="177092"/>
            <a:chOff x="7442925" y="4054075"/>
            <a:chExt cx="979525" cy="204000"/>
          </a:xfrm>
        </p:grpSpPr>
        <p:grpSp>
          <p:nvGrpSpPr>
            <p:cNvPr id="9534" name="Google Shape;9534;p433"/>
            <p:cNvGrpSpPr/>
            <p:nvPr/>
          </p:nvGrpSpPr>
          <p:grpSpPr>
            <a:xfrm>
              <a:off x="7442925" y="4054075"/>
              <a:ext cx="979525" cy="204000"/>
              <a:chOff x="3893150" y="4054075"/>
              <a:chExt cx="979525" cy="204000"/>
            </a:xfrm>
          </p:grpSpPr>
          <p:sp>
            <p:nvSpPr>
              <p:cNvPr id="9535" name="Google Shape;9535;p433"/>
              <p:cNvSpPr/>
              <p:nvPr/>
            </p:nvSpPr>
            <p:spPr>
              <a:xfrm>
                <a:off x="3893150" y="4054075"/>
                <a:ext cx="204000" cy="2040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6" name="Google Shape;9536;p433"/>
              <p:cNvSpPr/>
              <p:nvPr/>
            </p:nvSpPr>
            <p:spPr>
              <a:xfrm>
                <a:off x="4668675" y="4054075"/>
                <a:ext cx="204000" cy="2040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537" name="Google Shape;9537;p433"/>
            <p:cNvCxnSpPr>
              <a:stCxn id="9535" idx="6"/>
              <a:endCxn id="9536" idx="2"/>
            </p:cNvCxnSpPr>
            <p:nvPr/>
          </p:nvCxnSpPr>
          <p:spPr>
            <a:xfrm>
              <a:off x="7646925" y="4156075"/>
              <a:ext cx="571500" cy="0"/>
            </a:xfrm>
            <a:prstGeom prst="straightConnector1">
              <a:avLst/>
            </a:prstGeom>
            <a:noFill/>
            <a:ln cap="flat" cmpd="sng" w="28575">
              <a:solidFill>
                <a:schemeClr val="dk2"/>
              </a:solidFill>
              <a:prstDash val="solid"/>
              <a:round/>
              <a:headEnd len="med" w="med" type="none"/>
              <a:tailEnd len="med" w="med" type="none"/>
            </a:ln>
          </p:spPr>
        </p:cxnSp>
      </p:grpSp>
    </p:spTree>
  </p:cSld>
  <p:clrMapOvr>
    <a:masterClrMapping/>
  </p:clrMapOvr>
</p:sld>
</file>

<file path=ppt/slides/slide4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1" name="Shape 9541"/>
        <p:cNvGrpSpPr/>
        <p:nvPr/>
      </p:nvGrpSpPr>
      <p:grpSpPr>
        <a:xfrm>
          <a:off x="0" y="0"/>
          <a:ext cx="0" cy="0"/>
          <a:chOff x="0" y="0"/>
          <a:chExt cx="0" cy="0"/>
        </a:xfrm>
      </p:grpSpPr>
      <p:sp>
        <p:nvSpPr>
          <p:cNvPr id="9542" name="Google Shape;9542;p43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Basic findings of research on innovation diffusion</a:t>
            </a:r>
            <a:endParaRPr/>
          </a:p>
        </p:txBody>
      </p:sp>
      <p:sp>
        <p:nvSpPr>
          <p:cNvPr id="9543" name="Google Shape;9543;p434"/>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Early adopters (innovators, opinion leaders) are well-connected</a:t>
            </a:r>
            <a:endParaRPr/>
          </a:p>
          <a:p>
            <a:pPr indent="-317500" lvl="1" marL="914400" rtl="0" algn="l">
              <a:spcBef>
                <a:spcPts val="0"/>
              </a:spcBef>
              <a:spcAft>
                <a:spcPts val="0"/>
              </a:spcAft>
              <a:buSzPts val="1400"/>
              <a:buChar char="○"/>
            </a:pPr>
            <a:r>
              <a:rPr lang="en"/>
              <a:t>Central, well-integrated, prominent</a:t>
            </a:r>
            <a:endParaRPr/>
          </a:p>
          <a:p>
            <a:pPr indent="-317500" lvl="1" marL="914400" rtl="0" algn="l">
              <a:spcBef>
                <a:spcPts val="0"/>
              </a:spcBef>
              <a:spcAft>
                <a:spcPts val="0"/>
              </a:spcAft>
              <a:buSzPts val="1400"/>
              <a:buChar char="○"/>
            </a:pPr>
            <a:r>
              <a:rPr lang="en"/>
              <a:t>Well connected persons more likely to adopt innovations with low cost/benefit ratios</a:t>
            </a:r>
            <a:endParaRPr/>
          </a:p>
          <a:p>
            <a:pPr indent="-342900" lvl="0" marL="457200" rtl="0" algn="l">
              <a:spcBef>
                <a:spcPts val="0"/>
              </a:spcBef>
              <a:spcAft>
                <a:spcPts val="0"/>
              </a:spcAft>
              <a:buSzPts val="1800"/>
              <a:buChar char="●"/>
            </a:pPr>
            <a:r>
              <a:rPr lang="en"/>
              <a:t>Peripheral persons more likely to adopt risky innovations</a:t>
            </a:r>
            <a:endParaRPr/>
          </a:p>
          <a:p>
            <a:pPr indent="-317500" lvl="1" marL="914400" rtl="0" algn="l">
              <a:spcBef>
                <a:spcPts val="0"/>
              </a:spcBef>
              <a:spcAft>
                <a:spcPts val="0"/>
              </a:spcAft>
              <a:buSzPts val="1400"/>
              <a:buChar char="○"/>
            </a:pPr>
            <a:r>
              <a:rPr lang="en"/>
              <a:t>Cost/benefit ratio is high; uncertainty in payoff</a:t>
            </a:r>
            <a:endParaRPr/>
          </a:p>
          <a:p>
            <a:pPr indent="-317500" lvl="1" marL="914400" rtl="0" algn="l">
              <a:spcBef>
                <a:spcPts val="0"/>
              </a:spcBef>
              <a:spcAft>
                <a:spcPts val="0"/>
              </a:spcAft>
              <a:buSzPts val="1400"/>
              <a:buChar char="○"/>
            </a:pPr>
            <a:r>
              <a:rPr lang="en"/>
              <a:t>Risk-taking linked to reputation</a:t>
            </a:r>
            <a:endParaRPr/>
          </a:p>
          <a:p>
            <a:pPr indent="-317500" lvl="2" marL="1371600" rtl="0" algn="l">
              <a:spcBef>
                <a:spcPts val="0"/>
              </a:spcBef>
              <a:spcAft>
                <a:spcPts val="0"/>
              </a:spcAft>
              <a:buSzPts val="1400"/>
              <a:buChar char="■"/>
            </a:pPr>
            <a:r>
              <a:rPr lang="en"/>
              <a:t>But that also means most risky innovations fail unless they reach an opinion leader</a:t>
            </a:r>
            <a:endParaRPr/>
          </a:p>
          <a:p>
            <a:pPr indent="-342900" lvl="0" marL="457200" rtl="0" algn="l">
              <a:spcBef>
                <a:spcPts val="0"/>
              </a:spcBef>
              <a:spcAft>
                <a:spcPts val="0"/>
              </a:spcAft>
              <a:buSzPts val="1800"/>
              <a:buChar char="●"/>
            </a:pPr>
            <a:r>
              <a:rPr lang="en"/>
              <a:t>Social isolates more likely to be “laggards”</a:t>
            </a:r>
            <a:endParaRPr/>
          </a:p>
          <a:p>
            <a:pPr indent="-342900" lvl="0" marL="457200" rtl="0" algn="l">
              <a:spcBef>
                <a:spcPts val="0"/>
              </a:spcBef>
              <a:spcAft>
                <a:spcPts val="0"/>
              </a:spcAft>
              <a:buSzPts val="1800"/>
              <a:buChar char="●"/>
            </a:pPr>
            <a:r>
              <a:rPr lang="en"/>
              <a:t>Being a </a:t>
            </a:r>
            <a:r>
              <a:rPr b="1" lang="en"/>
              <a:t>bridge </a:t>
            </a:r>
            <a:r>
              <a:rPr lang="en"/>
              <a:t>is associated with </a:t>
            </a:r>
            <a:r>
              <a:rPr b="1" lang="en"/>
              <a:t>early adoption</a:t>
            </a:r>
            <a:endParaRPr b="1"/>
          </a:p>
          <a:p>
            <a:pPr indent="-317500" lvl="1" marL="914400" rtl="0" algn="l">
              <a:spcBef>
                <a:spcPts val="0"/>
              </a:spcBef>
              <a:spcAft>
                <a:spcPts val="0"/>
              </a:spcAft>
              <a:buSzPts val="1400"/>
              <a:buChar char="○"/>
            </a:pPr>
            <a:r>
              <a:rPr lang="en"/>
              <a:t>Betweenness</a:t>
            </a:r>
            <a:endParaRPr/>
          </a:p>
          <a:p>
            <a:pPr indent="-317500" lvl="1" marL="914400" rtl="0" algn="l">
              <a:spcBef>
                <a:spcPts val="0"/>
              </a:spcBef>
              <a:spcAft>
                <a:spcPts val="0"/>
              </a:spcAft>
              <a:buSzPts val="1400"/>
              <a:buChar char="○"/>
            </a:pPr>
            <a:r>
              <a:rPr lang="en"/>
              <a:t>Structural holes</a:t>
            </a:r>
            <a:endParaRPr/>
          </a:p>
        </p:txBody>
      </p:sp>
    </p:spTree>
  </p:cSld>
  <p:clrMapOvr>
    <a:masterClrMapping/>
  </p:clrMapOvr>
</p:sld>
</file>

<file path=ppt/slides/slide4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47" name="Shape 9547"/>
        <p:cNvGrpSpPr/>
        <p:nvPr/>
      </p:nvGrpSpPr>
      <p:grpSpPr>
        <a:xfrm>
          <a:off x="0" y="0"/>
          <a:ext cx="0" cy="0"/>
          <a:chOff x="0" y="0"/>
          <a:chExt cx="0" cy="0"/>
        </a:xfrm>
      </p:grpSpPr>
      <p:sp>
        <p:nvSpPr>
          <p:cNvPr id="9548" name="Google Shape;9548;p435"/>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Burt’s positional equivalence model</a:t>
            </a:r>
            <a:endParaRPr/>
          </a:p>
        </p:txBody>
      </p:sp>
      <p:sp>
        <p:nvSpPr>
          <p:cNvPr id="9549" name="Google Shape;9549;p435"/>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Reanalysis of Coleman et. al. (1957, 1966) study of diffusion of a new drug, tetracycline</a:t>
            </a:r>
            <a:endParaRPr/>
          </a:p>
          <a:p>
            <a:pPr indent="-342900" lvl="0" marL="457200" rtl="0" algn="l">
              <a:spcBef>
                <a:spcPts val="0"/>
              </a:spcBef>
              <a:spcAft>
                <a:spcPts val="0"/>
              </a:spcAft>
              <a:buSzPts val="1800"/>
              <a:buChar char="●"/>
            </a:pPr>
            <a:r>
              <a:rPr i="1" lang="en"/>
              <a:t>Coleman</a:t>
            </a:r>
            <a:r>
              <a:rPr lang="en"/>
              <a:t> claimed that diffusion patterns indicative of diffusion via </a:t>
            </a:r>
            <a:r>
              <a:rPr b="1" lang="en"/>
              <a:t>cohesion</a:t>
            </a:r>
            <a:endParaRPr b="1"/>
          </a:p>
          <a:p>
            <a:pPr indent="-342900" lvl="0" marL="457200" rtl="0" algn="l">
              <a:spcBef>
                <a:spcPts val="0"/>
              </a:spcBef>
              <a:spcAft>
                <a:spcPts val="0"/>
              </a:spcAft>
              <a:buSzPts val="1800"/>
              <a:buChar char="●"/>
            </a:pPr>
            <a:r>
              <a:rPr lang="en"/>
              <a:t>Burt hypothesized that </a:t>
            </a:r>
            <a:r>
              <a:rPr b="1" lang="en"/>
              <a:t>structural equivalence</a:t>
            </a:r>
            <a:r>
              <a:rPr lang="en"/>
              <a:t> could explain diffusion pattern</a:t>
            </a:r>
            <a:endParaRPr/>
          </a:p>
          <a:p>
            <a:pPr indent="-317500" lvl="1" marL="914400" rtl="0" algn="l">
              <a:spcBef>
                <a:spcPts val="0"/>
              </a:spcBef>
              <a:spcAft>
                <a:spcPts val="0"/>
              </a:spcAft>
              <a:buSzPts val="1400"/>
              <a:buChar char="○"/>
            </a:pPr>
            <a:r>
              <a:rPr lang="en"/>
              <a:t>Study</a:t>
            </a:r>
            <a:endParaRPr/>
          </a:p>
          <a:p>
            <a:pPr indent="-317500" lvl="2" marL="1371600" rtl="0" algn="l">
              <a:spcBef>
                <a:spcPts val="0"/>
              </a:spcBef>
              <a:spcAft>
                <a:spcPts val="0"/>
              </a:spcAft>
              <a:buSzPts val="1400"/>
              <a:buChar char="■"/>
            </a:pPr>
            <a:r>
              <a:rPr lang="en"/>
              <a:t>4 Illinois cities</a:t>
            </a:r>
            <a:endParaRPr/>
          </a:p>
          <a:p>
            <a:pPr indent="-317500" lvl="2" marL="1371600" rtl="0" algn="l">
              <a:spcBef>
                <a:spcPts val="0"/>
              </a:spcBef>
              <a:spcAft>
                <a:spcPts val="0"/>
              </a:spcAft>
              <a:buSzPts val="1400"/>
              <a:buChar char="■"/>
            </a:pPr>
            <a:r>
              <a:rPr lang="en"/>
              <a:t>130 (of 152, 85%) general practitioners, internists, pediatricians (and 4 </a:t>
            </a:r>
            <a:r>
              <a:rPr lang="en"/>
              <a:t>sp</a:t>
            </a:r>
            <a:r>
              <a:rPr lang="en"/>
              <a:t>ecialists)</a:t>
            </a:r>
            <a:endParaRPr/>
          </a:p>
          <a:p>
            <a:pPr indent="-317500" lvl="2" marL="1371600" rtl="0" algn="l">
              <a:spcBef>
                <a:spcPts val="0"/>
              </a:spcBef>
              <a:spcAft>
                <a:spcPts val="0"/>
              </a:spcAft>
              <a:buSzPts val="1400"/>
              <a:buChar char="■"/>
            </a:pPr>
            <a:r>
              <a:rPr lang="en"/>
              <a:t>pharmacy records used to code when physician first prescribed tetracycline</a:t>
            </a:r>
            <a:endParaRPr/>
          </a:p>
          <a:p>
            <a:pPr indent="-317500" lvl="2" marL="1371600" rtl="0" algn="l">
              <a:spcBef>
                <a:spcPts val="0"/>
              </a:spcBef>
              <a:spcAft>
                <a:spcPts val="0"/>
              </a:spcAft>
              <a:buSzPts val="1400"/>
              <a:buChar char="■"/>
            </a:pPr>
            <a:r>
              <a:rPr lang="en"/>
              <a:t>network data from 2 name generators (advice and discuss) in physician surveys</a:t>
            </a:r>
            <a:endParaRPr/>
          </a:p>
        </p:txBody>
      </p:sp>
    </p:spTree>
  </p:cSld>
  <p:clrMapOvr>
    <a:masterClrMapping/>
  </p:clrMapOvr>
</p:sld>
</file>

<file path=ppt/slides/slide4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53" name="Shape 9553"/>
        <p:cNvGrpSpPr/>
        <p:nvPr/>
      </p:nvGrpSpPr>
      <p:grpSpPr>
        <a:xfrm>
          <a:off x="0" y="0"/>
          <a:ext cx="0" cy="0"/>
          <a:chOff x="0" y="0"/>
          <a:chExt cx="0" cy="0"/>
        </a:xfrm>
      </p:grpSpPr>
      <p:sp>
        <p:nvSpPr>
          <p:cNvPr id="9554" name="Google Shape;9554;p436"/>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Cohesion (influence) vs. Equivalence (similarity)</a:t>
            </a:r>
            <a:endParaRPr/>
          </a:p>
        </p:txBody>
      </p:sp>
      <p:sp>
        <p:nvSpPr>
          <p:cNvPr id="9555" name="Google Shape;9555;p436"/>
          <p:cNvSpPr txBox="1"/>
          <p:nvPr>
            <p:ph idx="1" type="body"/>
          </p:nvPr>
        </p:nvSpPr>
        <p:spPr>
          <a:xfrm>
            <a:off x="311700" y="1225215"/>
            <a:ext cx="5446200" cy="339417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Both Equivalence (similar relations with same people) and Cohesion (via strong tie between ego and alter) predict diffusion</a:t>
            </a:r>
            <a:endParaRPr/>
          </a:p>
          <a:p>
            <a:pPr indent="-317500" lvl="1" marL="914400" rtl="0" algn="l">
              <a:spcBef>
                <a:spcPts val="0"/>
              </a:spcBef>
              <a:spcAft>
                <a:spcPts val="0"/>
              </a:spcAft>
              <a:buSzPts val="1400"/>
              <a:buChar char="○"/>
            </a:pPr>
            <a:r>
              <a:rPr lang="en"/>
              <a:t>Cohesion but not Equivalence predicts restricted contagion (because of conflicting affiliations)</a:t>
            </a:r>
            <a:endParaRPr/>
          </a:p>
          <a:p>
            <a:pPr indent="-317500" lvl="1" marL="914400" rtl="0" algn="l">
              <a:spcBef>
                <a:spcPts val="0"/>
              </a:spcBef>
              <a:spcAft>
                <a:spcPts val="0"/>
              </a:spcAft>
              <a:buSzPts val="1400"/>
              <a:buChar char="○"/>
            </a:pPr>
            <a:r>
              <a:rPr lang="en"/>
              <a:t>Equivalence predicts contagion via competition for status</a:t>
            </a:r>
            <a:endParaRPr/>
          </a:p>
          <a:p>
            <a:pPr indent="-342900" lvl="0" marL="457200" rtl="0" algn="l">
              <a:spcBef>
                <a:spcPts val="0"/>
              </a:spcBef>
              <a:spcAft>
                <a:spcPts val="0"/>
              </a:spcAft>
              <a:buSzPts val="1800"/>
              <a:buChar char="●"/>
            </a:pPr>
            <a:r>
              <a:rPr lang="en"/>
              <a:t>Mechanisms:</a:t>
            </a:r>
            <a:endParaRPr/>
          </a:p>
          <a:p>
            <a:pPr indent="-317500" lvl="1" marL="914400" rtl="0" algn="l">
              <a:spcBef>
                <a:spcPts val="0"/>
              </a:spcBef>
              <a:spcAft>
                <a:spcPts val="0"/>
              </a:spcAft>
              <a:buSzPts val="1400"/>
              <a:buChar char="○"/>
            </a:pPr>
            <a:r>
              <a:rPr lang="en"/>
              <a:t>Physical proximity: can "see" alters behaviors</a:t>
            </a:r>
            <a:endParaRPr/>
          </a:p>
          <a:p>
            <a:pPr indent="-317500" lvl="1" marL="914400" rtl="0" algn="l">
              <a:spcBef>
                <a:spcPts val="0"/>
              </a:spcBef>
              <a:spcAft>
                <a:spcPts val="0"/>
              </a:spcAft>
              <a:buSzPts val="1400"/>
              <a:buChar char="○"/>
            </a:pPr>
            <a:r>
              <a:rPr lang="en"/>
              <a:t>Cohesion:  communication, social proximity</a:t>
            </a:r>
            <a:endParaRPr/>
          </a:p>
          <a:p>
            <a:pPr indent="-317500" lvl="1" marL="914400" rtl="0" algn="l">
              <a:spcBef>
                <a:spcPts val="0"/>
              </a:spcBef>
              <a:spcAft>
                <a:spcPts val="0"/>
              </a:spcAft>
              <a:buSzPts val="1400"/>
              <a:buChar char="○"/>
            </a:pPr>
            <a:r>
              <a:rPr lang="en"/>
              <a:t>Competition, relative standing: structural equivalence</a:t>
            </a:r>
            <a:endParaRPr/>
          </a:p>
          <a:p>
            <a:pPr indent="-317500" lvl="1" marL="914400" rtl="0" algn="l">
              <a:spcBef>
                <a:spcPts val="0"/>
              </a:spcBef>
              <a:spcAft>
                <a:spcPts val="0"/>
              </a:spcAft>
              <a:buSzPts val="1400"/>
              <a:buChar char="○"/>
            </a:pPr>
            <a:r>
              <a:rPr lang="en"/>
              <a:t>2 similar physicians keeping up with each other</a:t>
            </a:r>
            <a:endParaRPr/>
          </a:p>
        </p:txBody>
      </p:sp>
      <p:pic>
        <p:nvPicPr>
          <p:cNvPr id="9556" name="Google Shape;9556;p436"/>
          <p:cNvPicPr preferRelativeResize="0"/>
          <p:nvPr/>
        </p:nvPicPr>
        <p:blipFill>
          <a:blip r:embed="rId3">
            <a:alphaModFix/>
          </a:blip>
          <a:stretch>
            <a:fillRect/>
          </a:stretch>
        </p:blipFill>
        <p:spPr>
          <a:xfrm>
            <a:off x="5904775" y="1186234"/>
            <a:ext cx="2634770" cy="3472132"/>
          </a:xfrm>
          <a:prstGeom prst="rect">
            <a:avLst/>
          </a:prstGeom>
          <a:noFill/>
          <a:ln>
            <a:noFill/>
          </a:ln>
        </p:spPr>
      </p:pic>
    </p:spTree>
  </p:cSld>
  <p:clrMapOvr>
    <a:masterClrMapping/>
  </p:clrMapOvr>
</p:sld>
</file>

<file path=ppt/slides/slide4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0" name="Shape 9560"/>
        <p:cNvGrpSpPr/>
        <p:nvPr/>
      </p:nvGrpSpPr>
      <p:grpSpPr>
        <a:xfrm>
          <a:off x="0" y="0"/>
          <a:ext cx="0" cy="0"/>
          <a:chOff x="0" y="0"/>
          <a:chExt cx="0" cy="0"/>
        </a:xfrm>
      </p:grpSpPr>
      <p:sp>
        <p:nvSpPr>
          <p:cNvPr id="9561" name="Google Shape;9561;p437"/>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
            </a:r>
            <a:r>
              <a:rPr lang="en"/>
              <a:t>ositional equivalence</a:t>
            </a:r>
            <a:r>
              <a:rPr lang="en"/>
              <a:t> model</a:t>
            </a:r>
            <a:endParaRPr/>
          </a:p>
        </p:txBody>
      </p:sp>
      <p:sp>
        <p:nvSpPr>
          <p:cNvPr id="9562" name="Google Shape;9562;p437"/>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Cohesion-based network models of diffusion presume that diffusion only happens between </a:t>
            </a:r>
            <a:r>
              <a:rPr b="1" lang="en"/>
              <a:t>connected</a:t>
            </a:r>
            <a:r>
              <a:rPr lang="en"/>
              <a:t> actors (direct influence)</a:t>
            </a:r>
            <a:endParaRPr/>
          </a:p>
          <a:p>
            <a:pPr indent="-317500" lvl="1" marL="914400" rtl="0" algn="l">
              <a:spcBef>
                <a:spcPts val="0"/>
              </a:spcBef>
              <a:spcAft>
                <a:spcPts val="0"/>
              </a:spcAft>
              <a:buSzPts val="1400"/>
              <a:buChar char="○"/>
            </a:pPr>
            <a:r>
              <a:rPr lang="en"/>
              <a:t>However, the diffusion mechanism can sometimes operate among </a:t>
            </a:r>
            <a:r>
              <a:rPr b="1" lang="en"/>
              <a:t>disconnected </a:t>
            </a:r>
            <a:r>
              <a:rPr lang="en"/>
              <a:t>actors</a:t>
            </a:r>
            <a:endParaRPr/>
          </a:p>
          <a:p>
            <a:pPr indent="-342900" lvl="0" marL="457200" rtl="0" algn="l">
              <a:spcBef>
                <a:spcPts val="0"/>
              </a:spcBef>
              <a:spcAft>
                <a:spcPts val="0"/>
              </a:spcAft>
              <a:buSzPts val="1800"/>
              <a:buChar char="●"/>
            </a:pPr>
            <a:r>
              <a:rPr lang="en"/>
              <a:t>This is diffusion via </a:t>
            </a:r>
            <a:r>
              <a:rPr b="1" lang="en"/>
              <a:t>positional equivalence </a:t>
            </a:r>
            <a:r>
              <a:rPr lang="en"/>
              <a:t>(indirect influence)</a:t>
            </a:r>
            <a:endParaRPr/>
          </a:p>
          <a:p>
            <a:pPr indent="-317500" lvl="1" marL="914400" rtl="0" algn="l">
              <a:spcBef>
                <a:spcPts val="0"/>
              </a:spcBef>
              <a:spcAft>
                <a:spcPts val="0"/>
              </a:spcAft>
              <a:buSzPts val="1400"/>
              <a:buChar char="○"/>
            </a:pPr>
            <a:r>
              <a:rPr lang="en"/>
              <a:t>Flashback: Positionally equivalent actors don’t have to be necessarily connected to one another!</a:t>
            </a:r>
            <a:endParaRPr/>
          </a:p>
        </p:txBody>
      </p:sp>
      <p:pic>
        <p:nvPicPr>
          <p:cNvPr id="9563" name="Google Shape;9563;p437"/>
          <p:cNvPicPr preferRelativeResize="0"/>
          <p:nvPr/>
        </p:nvPicPr>
        <p:blipFill>
          <a:blip r:embed="rId3">
            <a:alphaModFix/>
          </a:blip>
          <a:stretch>
            <a:fillRect/>
          </a:stretch>
        </p:blipFill>
        <p:spPr>
          <a:xfrm>
            <a:off x="2115399" y="2949156"/>
            <a:ext cx="4913191" cy="1931467"/>
          </a:xfrm>
          <a:prstGeom prst="rect">
            <a:avLst/>
          </a:prstGeom>
          <a:noFill/>
          <a:ln>
            <a:noFill/>
          </a:ln>
        </p:spPr>
      </p:pic>
    </p:spTree>
  </p:cSld>
  <p:clrMapOvr>
    <a:masterClrMapping/>
  </p:clrMapOvr>
</p:sld>
</file>

<file path=ppt/slides/slide4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7" name="Shape 9567"/>
        <p:cNvGrpSpPr/>
        <p:nvPr/>
      </p:nvGrpSpPr>
      <p:grpSpPr>
        <a:xfrm>
          <a:off x="0" y="0"/>
          <a:ext cx="0" cy="0"/>
          <a:chOff x="0" y="0"/>
          <a:chExt cx="0" cy="0"/>
        </a:xfrm>
      </p:grpSpPr>
      <p:sp>
        <p:nvSpPr>
          <p:cNvPr id="9568" name="Google Shape;9568;p438"/>
          <p:cNvSpPr txBox="1"/>
          <p:nvPr>
            <p:ph idx="1" type="body"/>
          </p:nvPr>
        </p:nvSpPr>
        <p:spPr>
          <a:xfrm>
            <a:off x="311700" y="1225221"/>
            <a:ext cx="8520600" cy="154116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Cohesion-based network models of diffusion presume that diffusion only happens between </a:t>
            </a:r>
            <a:r>
              <a:rPr b="1" lang="en"/>
              <a:t>connected</a:t>
            </a:r>
            <a:r>
              <a:rPr lang="en"/>
              <a:t> actors (direct influence)</a:t>
            </a:r>
            <a:endParaRPr/>
          </a:p>
          <a:p>
            <a:pPr indent="-317500" lvl="1" marL="914400" rtl="0" algn="l">
              <a:spcBef>
                <a:spcPts val="0"/>
              </a:spcBef>
              <a:spcAft>
                <a:spcPts val="0"/>
              </a:spcAft>
              <a:buSzPts val="1400"/>
              <a:buChar char="○"/>
            </a:pPr>
            <a:r>
              <a:rPr lang="en"/>
              <a:t>However, the diffusion mechanism can sometimes operate among </a:t>
            </a:r>
            <a:r>
              <a:rPr b="1" lang="en"/>
              <a:t>disconnected </a:t>
            </a:r>
            <a:r>
              <a:rPr lang="en"/>
              <a:t>actors</a:t>
            </a:r>
            <a:endParaRPr/>
          </a:p>
          <a:p>
            <a:pPr indent="-342900" lvl="0" marL="457200" rtl="0" algn="l">
              <a:spcBef>
                <a:spcPts val="0"/>
              </a:spcBef>
              <a:spcAft>
                <a:spcPts val="0"/>
              </a:spcAft>
              <a:buSzPts val="1800"/>
              <a:buChar char="●"/>
            </a:pPr>
            <a:r>
              <a:rPr lang="en"/>
              <a:t>This is diffusion via </a:t>
            </a:r>
            <a:r>
              <a:rPr b="1" lang="en"/>
              <a:t>positional equivalence </a:t>
            </a:r>
            <a:r>
              <a:rPr lang="en"/>
              <a:t>(indirect influence)</a:t>
            </a:r>
            <a:endParaRPr/>
          </a:p>
          <a:p>
            <a:pPr indent="-317500" lvl="1" marL="914400" rtl="0" algn="l">
              <a:spcBef>
                <a:spcPts val="0"/>
              </a:spcBef>
              <a:spcAft>
                <a:spcPts val="0"/>
              </a:spcAft>
              <a:buSzPts val="1400"/>
              <a:buChar char="○"/>
            </a:pPr>
            <a:r>
              <a:rPr lang="en"/>
              <a:t>Mechanism: Comparison to similarly positioned others</a:t>
            </a:r>
            <a:endParaRPr/>
          </a:p>
        </p:txBody>
      </p:sp>
      <p:sp>
        <p:nvSpPr>
          <p:cNvPr id="9569" name="Google Shape;9569;p438"/>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Positional equivalence model</a:t>
            </a:r>
            <a:endParaRPr/>
          </a:p>
        </p:txBody>
      </p:sp>
      <p:sp>
        <p:nvSpPr>
          <p:cNvPr id="9570" name="Google Shape;9570;p438"/>
          <p:cNvSpPr/>
          <p:nvPr/>
        </p:nvSpPr>
        <p:spPr>
          <a:xfrm>
            <a:off x="2061300" y="3260588"/>
            <a:ext cx="687600" cy="589680"/>
          </a:xfrm>
          <a:prstGeom prst="ellipse">
            <a:avLst/>
          </a:prstGeom>
          <a:solidFill>
            <a:srgbClr val="E69138"/>
          </a:solidFill>
          <a:ln cap="flat" cmpd="sng" w="9525">
            <a:solidFill>
              <a:srgbClr val="999999"/>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Source</a:t>
            </a:r>
            <a:endParaRPr b="1">
              <a:solidFill>
                <a:srgbClr val="FFFFFF"/>
              </a:solidFill>
              <a:latin typeface="Economica"/>
              <a:ea typeface="Economica"/>
              <a:cs typeface="Economica"/>
              <a:sym typeface="Economica"/>
            </a:endParaRPr>
          </a:p>
        </p:txBody>
      </p:sp>
      <p:sp>
        <p:nvSpPr>
          <p:cNvPr id="9571" name="Google Shape;9571;p438"/>
          <p:cNvSpPr/>
          <p:nvPr/>
        </p:nvSpPr>
        <p:spPr>
          <a:xfrm>
            <a:off x="5331100" y="4065368"/>
            <a:ext cx="687600" cy="58968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Alter</a:t>
            </a:r>
            <a:endParaRPr b="1">
              <a:solidFill>
                <a:srgbClr val="FFFFFF"/>
              </a:solidFill>
            </a:endParaRPr>
          </a:p>
        </p:txBody>
      </p:sp>
      <p:sp>
        <p:nvSpPr>
          <p:cNvPr id="9572" name="Google Shape;9572;p438"/>
          <p:cNvSpPr/>
          <p:nvPr/>
        </p:nvSpPr>
        <p:spPr>
          <a:xfrm>
            <a:off x="4136048" y="2844338"/>
            <a:ext cx="818700" cy="26892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Innovation</a:t>
            </a:r>
            <a:endParaRPr b="1">
              <a:latin typeface="Economica"/>
              <a:ea typeface="Economica"/>
              <a:cs typeface="Economica"/>
              <a:sym typeface="Economica"/>
            </a:endParaRPr>
          </a:p>
        </p:txBody>
      </p:sp>
      <p:cxnSp>
        <p:nvCxnSpPr>
          <p:cNvPr id="9573" name="Google Shape;9573;p438"/>
          <p:cNvCxnSpPr>
            <a:stCxn id="9570" idx="7"/>
            <a:endCxn id="9572" idx="1"/>
          </p:cNvCxnSpPr>
          <p:nvPr/>
        </p:nvCxnSpPr>
        <p:spPr>
          <a:xfrm rot="-5400000">
            <a:off x="3208003" y="2419044"/>
            <a:ext cx="368100" cy="1487700"/>
          </a:xfrm>
          <a:prstGeom prst="curvedConnector2">
            <a:avLst/>
          </a:prstGeom>
          <a:noFill/>
          <a:ln cap="flat" cmpd="sng" w="28575">
            <a:solidFill>
              <a:schemeClr val="dk2"/>
            </a:solidFill>
            <a:prstDash val="solid"/>
            <a:round/>
            <a:headEnd len="med" w="med" type="none"/>
            <a:tailEnd len="med" w="med" type="none"/>
          </a:ln>
        </p:spPr>
      </p:cxnSp>
      <p:cxnSp>
        <p:nvCxnSpPr>
          <p:cNvPr id="9574" name="Google Shape;9574;p438"/>
          <p:cNvCxnSpPr>
            <a:stCxn id="9572" idx="3"/>
            <a:endCxn id="9575" idx="1"/>
          </p:cNvCxnSpPr>
          <p:nvPr/>
        </p:nvCxnSpPr>
        <p:spPr>
          <a:xfrm>
            <a:off x="4954748" y="2978798"/>
            <a:ext cx="1487700" cy="368100"/>
          </a:xfrm>
          <a:prstGeom prst="curvedConnector2">
            <a:avLst/>
          </a:prstGeom>
          <a:noFill/>
          <a:ln cap="flat" cmpd="sng" w="28575">
            <a:solidFill>
              <a:schemeClr val="dk2"/>
            </a:solidFill>
            <a:prstDash val="solid"/>
            <a:round/>
            <a:headEnd len="med" w="med" type="none"/>
            <a:tailEnd len="med" w="med" type="triangle"/>
          </a:ln>
        </p:spPr>
      </p:cxnSp>
      <p:sp>
        <p:nvSpPr>
          <p:cNvPr id="9576" name="Google Shape;9576;p438"/>
          <p:cNvSpPr/>
          <p:nvPr/>
        </p:nvSpPr>
        <p:spPr>
          <a:xfrm>
            <a:off x="4091950" y="3420967"/>
            <a:ext cx="906900" cy="268920"/>
          </a:xfrm>
          <a:prstGeom prst="rect">
            <a:avLst/>
          </a:pr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Comparison</a:t>
            </a:r>
            <a:endParaRPr b="1">
              <a:latin typeface="Economica"/>
              <a:ea typeface="Economica"/>
              <a:cs typeface="Economica"/>
              <a:sym typeface="Economica"/>
            </a:endParaRPr>
          </a:p>
        </p:txBody>
      </p:sp>
      <p:cxnSp>
        <p:nvCxnSpPr>
          <p:cNvPr id="9577" name="Google Shape;9577;p438"/>
          <p:cNvCxnSpPr>
            <a:stCxn id="9570" idx="6"/>
            <a:endCxn id="9576" idx="1"/>
          </p:cNvCxnSpPr>
          <p:nvPr/>
        </p:nvCxnSpPr>
        <p:spPr>
          <a:xfrm>
            <a:off x="2748900" y="3555428"/>
            <a:ext cx="1343100" cy="600"/>
          </a:xfrm>
          <a:prstGeom prst="curvedConnector3">
            <a:avLst>
              <a:gd fmla="val 49998" name="adj1"/>
            </a:avLst>
          </a:prstGeom>
          <a:noFill/>
          <a:ln cap="flat" cmpd="sng" w="19050">
            <a:solidFill>
              <a:schemeClr val="dk2"/>
            </a:solidFill>
            <a:prstDash val="dash"/>
            <a:round/>
            <a:headEnd len="med" w="med" type="none"/>
            <a:tailEnd len="med" w="med" type="none"/>
          </a:ln>
        </p:spPr>
      </p:cxnSp>
      <p:cxnSp>
        <p:nvCxnSpPr>
          <p:cNvPr id="9578" name="Google Shape;9578;p438"/>
          <p:cNvCxnSpPr>
            <a:stCxn id="9576" idx="3"/>
            <a:endCxn id="9575" idx="2"/>
          </p:cNvCxnSpPr>
          <p:nvPr/>
        </p:nvCxnSpPr>
        <p:spPr>
          <a:xfrm>
            <a:off x="4998850" y="3555427"/>
            <a:ext cx="1343100" cy="600"/>
          </a:xfrm>
          <a:prstGeom prst="curvedConnector3">
            <a:avLst>
              <a:gd fmla="val 49998" name="adj1"/>
            </a:avLst>
          </a:prstGeom>
          <a:noFill/>
          <a:ln cap="flat" cmpd="sng" w="19050">
            <a:solidFill>
              <a:schemeClr val="dk2"/>
            </a:solidFill>
            <a:prstDash val="dash"/>
            <a:round/>
            <a:headEnd len="med" w="med" type="none"/>
            <a:tailEnd len="med" w="med" type="none"/>
          </a:ln>
        </p:spPr>
      </p:cxnSp>
      <p:sp>
        <p:nvSpPr>
          <p:cNvPr id="9579" name="Google Shape;9579;p438"/>
          <p:cNvSpPr/>
          <p:nvPr/>
        </p:nvSpPr>
        <p:spPr>
          <a:xfrm>
            <a:off x="7352700" y="3984390"/>
            <a:ext cx="687600" cy="58968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b="1" lang="en">
                <a:solidFill>
                  <a:schemeClr val="lt1"/>
                </a:solidFill>
                <a:latin typeface="Economica"/>
                <a:ea typeface="Economica"/>
                <a:cs typeface="Economica"/>
                <a:sym typeface="Economica"/>
              </a:rPr>
              <a:t>Alter</a:t>
            </a:r>
            <a:endParaRPr b="1">
              <a:solidFill>
                <a:srgbClr val="FFFFFF"/>
              </a:solidFill>
            </a:endParaRPr>
          </a:p>
        </p:txBody>
      </p:sp>
      <p:sp>
        <p:nvSpPr>
          <p:cNvPr id="9580" name="Google Shape;9580;p438"/>
          <p:cNvSpPr/>
          <p:nvPr/>
        </p:nvSpPr>
        <p:spPr>
          <a:xfrm>
            <a:off x="6341900" y="4427080"/>
            <a:ext cx="687600" cy="5898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b="1" lang="en">
                <a:solidFill>
                  <a:schemeClr val="lt1"/>
                </a:solidFill>
                <a:latin typeface="Economica"/>
                <a:ea typeface="Economica"/>
                <a:cs typeface="Economica"/>
                <a:sym typeface="Economica"/>
              </a:rPr>
              <a:t>Alter</a:t>
            </a:r>
            <a:endParaRPr b="1">
              <a:solidFill>
                <a:srgbClr val="FFFFFF"/>
              </a:solidFill>
            </a:endParaRPr>
          </a:p>
        </p:txBody>
      </p:sp>
      <p:sp>
        <p:nvSpPr>
          <p:cNvPr id="9575" name="Google Shape;9575;p438"/>
          <p:cNvSpPr/>
          <p:nvPr/>
        </p:nvSpPr>
        <p:spPr>
          <a:xfrm>
            <a:off x="6341900" y="3260588"/>
            <a:ext cx="687600" cy="58968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Adopter</a:t>
            </a:r>
            <a:endParaRPr b="1">
              <a:solidFill>
                <a:srgbClr val="FFFFFF"/>
              </a:solidFill>
            </a:endParaRPr>
          </a:p>
        </p:txBody>
      </p:sp>
      <p:cxnSp>
        <p:nvCxnSpPr>
          <p:cNvPr id="9581" name="Google Shape;9581;p438"/>
          <p:cNvCxnSpPr/>
          <p:nvPr/>
        </p:nvCxnSpPr>
        <p:spPr>
          <a:xfrm flipH="1" rot="-5400000">
            <a:off x="6685730" y="4278930"/>
            <a:ext cx="540" cy="6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9582" name="Google Shape;9582;p438"/>
          <p:cNvCxnSpPr>
            <a:stCxn id="9580" idx="0"/>
            <a:endCxn id="9575" idx="4"/>
          </p:cNvCxnSpPr>
          <p:nvPr/>
        </p:nvCxnSpPr>
        <p:spPr>
          <a:xfrm rot="-5400000">
            <a:off x="6397550" y="4138330"/>
            <a:ext cx="576900" cy="600"/>
          </a:xfrm>
          <a:prstGeom prst="curvedConnector3">
            <a:avLst>
              <a:gd fmla="val 49992" name="adj1"/>
            </a:avLst>
          </a:prstGeom>
          <a:noFill/>
          <a:ln cap="flat" cmpd="sng" w="28575">
            <a:solidFill>
              <a:schemeClr val="dk2"/>
            </a:solidFill>
            <a:prstDash val="solid"/>
            <a:round/>
            <a:headEnd len="med" w="med" type="none"/>
            <a:tailEnd len="med" w="med" type="none"/>
          </a:ln>
        </p:spPr>
      </p:cxnSp>
      <p:sp>
        <p:nvSpPr>
          <p:cNvPr id="9583" name="Google Shape;9583;p438"/>
          <p:cNvSpPr/>
          <p:nvPr/>
        </p:nvSpPr>
        <p:spPr>
          <a:xfrm>
            <a:off x="1103700" y="3984390"/>
            <a:ext cx="687600" cy="58968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Alter</a:t>
            </a:r>
            <a:endParaRPr b="1">
              <a:solidFill>
                <a:srgbClr val="FFFFFF"/>
              </a:solidFill>
            </a:endParaRPr>
          </a:p>
        </p:txBody>
      </p:sp>
      <p:sp>
        <p:nvSpPr>
          <p:cNvPr id="9584" name="Google Shape;9584;p438"/>
          <p:cNvSpPr/>
          <p:nvPr/>
        </p:nvSpPr>
        <p:spPr>
          <a:xfrm>
            <a:off x="3072100" y="4065368"/>
            <a:ext cx="687600" cy="58968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lt1"/>
                </a:solidFill>
                <a:latin typeface="Economica"/>
                <a:ea typeface="Economica"/>
                <a:cs typeface="Economica"/>
                <a:sym typeface="Economica"/>
              </a:rPr>
              <a:t>Alter</a:t>
            </a:r>
            <a:endParaRPr b="1">
              <a:solidFill>
                <a:srgbClr val="FFFFFF"/>
              </a:solidFill>
            </a:endParaRPr>
          </a:p>
        </p:txBody>
      </p:sp>
      <p:sp>
        <p:nvSpPr>
          <p:cNvPr id="9585" name="Google Shape;9585;p438"/>
          <p:cNvSpPr/>
          <p:nvPr/>
        </p:nvSpPr>
        <p:spPr>
          <a:xfrm>
            <a:off x="2061300" y="4427030"/>
            <a:ext cx="687600" cy="5898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lt1"/>
                </a:solidFill>
                <a:latin typeface="Economica"/>
                <a:ea typeface="Economica"/>
                <a:cs typeface="Economica"/>
                <a:sym typeface="Economica"/>
              </a:rPr>
              <a:t>Alter</a:t>
            </a:r>
            <a:endParaRPr b="1">
              <a:solidFill>
                <a:srgbClr val="FFFFFF"/>
              </a:solidFill>
            </a:endParaRPr>
          </a:p>
        </p:txBody>
      </p:sp>
      <p:cxnSp>
        <p:nvCxnSpPr>
          <p:cNvPr id="9586" name="Google Shape;9586;p438"/>
          <p:cNvCxnSpPr/>
          <p:nvPr/>
        </p:nvCxnSpPr>
        <p:spPr>
          <a:xfrm flipH="1" rot="-5400000">
            <a:off x="2405130" y="4426350"/>
            <a:ext cx="540" cy="6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9587" name="Google Shape;9587;p438"/>
          <p:cNvCxnSpPr>
            <a:stCxn id="9570" idx="4"/>
            <a:endCxn id="9585" idx="0"/>
          </p:cNvCxnSpPr>
          <p:nvPr/>
        </p:nvCxnSpPr>
        <p:spPr>
          <a:xfrm flipH="1" rot="-5400000">
            <a:off x="2116950" y="4138418"/>
            <a:ext cx="576900" cy="600"/>
          </a:xfrm>
          <a:prstGeom prst="curvedConnector3">
            <a:avLst>
              <a:gd fmla="val 49988" name="adj1"/>
            </a:avLst>
          </a:prstGeom>
          <a:noFill/>
          <a:ln cap="flat" cmpd="sng" w="28575">
            <a:solidFill>
              <a:schemeClr val="dk2"/>
            </a:solidFill>
            <a:prstDash val="solid"/>
            <a:round/>
            <a:headEnd len="med" w="med" type="none"/>
            <a:tailEnd len="med" w="med" type="none"/>
          </a:ln>
        </p:spPr>
      </p:cxnSp>
      <p:cxnSp>
        <p:nvCxnSpPr>
          <p:cNvPr id="9588" name="Google Shape;9588;p438"/>
          <p:cNvCxnSpPr>
            <a:stCxn id="9570" idx="3"/>
            <a:endCxn id="9583" idx="7"/>
          </p:cNvCxnSpPr>
          <p:nvPr/>
        </p:nvCxnSpPr>
        <p:spPr>
          <a:xfrm flipH="1">
            <a:off x="1690697" y="3763911"/>
            <a:ext cx="471300" cy="306900"/>
          </a:xfrm>
          <a:prstGeom prst="straightConnector1">
            <a:avLst/>
          </a:prstGeom>
          <a:noFill/>
          <a:ln cap="flat" cmpd="sng" w="28575">
            <a:solidFill>
              <a:schemeClr val="dk2"/>
            </a:solidFill>
            <a:prstDash val="solid"/>
            <a:round/>
            <a:headEnd len="med" w="med" type="none"/>
            <a:tailEnd len="med" w="med" type="none"/>
          </a:ln>
        </p:spPr>
      </p:cxnSp>
      <p:cxnSp>
        <p:nvCxnSpPr>
          <p:cNvPr id="9589" name="Google Shape;9589;p438"/>
          <p:cNvCxnSpPr>
            <a:stCxn id="9575" idx="3"/>
            <a:endCxn id="9571" idx="7"/>
          </p:cNvCxnSpPr>
          <p:nvPr/>
        </p:nvCxnSpPr>
        <p:spPr>
          <a:xfrm flipH="1">
            <a:off x="5917897" y="3763911"/>
            <a:ext cx="524700" cy="387900"/>
          </a:xfrm>
          <a:prstGeom prst="straightConnector1">
            <a:avLst/>
          </a:prstGeom>
          <a:noFill/>
          <a:ln cap="flat" cmpd="sng" w="28575">
            <a:solidFill>
              <a:schemeClr val="dk2"/>
            </a:solidFill>
            <a:prstDash val="solid"/>
            <a:round/>
            <a:headEnd len="med" w="med" type="none"/>
            <a:tailEnd len="med" w="med" type="none"/>
          </a:ln>
        </p:spPr>
      </p:cxnSp>
      <p:cxnSp>
        <p:nvCxnSpPr>
          <p:cNvPr id="9590" name="Google Shape;9590;p438"/>
          <p:cNvCxnSpPr>
            <a:stCxn id="9570" idx="5"/>
            <a:endCxn id="9584" idx="1"/>
          </p:cNvCxnSpPr>
          <p:nvPr/>
        </p:nvCxnSpPr>
        <p:spPr>
          <a:xfrm>
            <a:off x="2648203" y="3763911"/>
            <a:ext cx="524700" cy="387900"/>
          </a:xfrm>
          <a:prstGeom prst="straightConnector1">
            <a:avLst/>
          </a:prstGeom>
          <a:noFill/>
          <a:ln cap="flat" cmpd="sng" w="28575">
            <a:solidFill>
              <a:schemeClr val="dk2"/>
            </a:solidFill>
            <a:prstDash val="solid"/>
            <a:round/>
            <a:headEnd len="med" w="med" type="none"/>
            <a:tailEnd len="med" w="med" type="none"/>
          </a:ln>
        </p:spPr>
      </p:cxnSp>
      <p:cxnSp>
        <p:nvCxnSpPr>
          <p:cNvPr id="9591" name="Google Shape;9591;p438"/>
          <p:cNvCxnSpPr>
            <a:stCxn id="9575" idx="5"/>
            <a:endCxn id="9579" idx="1"/>
          </p:cNvCxnSpPr>
          <p:nvPr/>
        </p:nvCxnSpPr>
        <p:spPr>
          <a:xfrm>
            <a:off x="6928803" y="3763911"/>
            <a:ext cx="524700" cy="306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4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95" name="Shape 9595"/>
        <p:cNvGrpSpPr/>
        <p:nvPr/>
      </p:nvGrpSpPr>
      <p:grpSpPr>
        <a:xfrm>
          <a:off x="0" y="0"/>
          <a:ext cx="0" cy="0"/>
          <a:chOff x="0" y="0"/>
          <a:chExt cx="0" cy="0"/>
        </a:xfrm>
      </p:grpSpPr>
      <p:sp>
        <p:nvSpPr>
          <p:cNvPr id="9596" name="Google Shape;9596;p439"/>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Diffusion or Contagion?</a:t>
            </a:r>
            <a:endParaRPr/>
          </a:p>
        </p:txBody>
      </p:sp>
      <p:sp>
        <p:nvSpPr>
          <p:cNvPr id="9597" name="Google Shape;9597;p439"/>
          <p:cNvSpPr txBox="1"/>
          <p:nvPr>
            <p:ph idx="1" type="body"/>
          </p:nvPr>
        </p:nvSpPr>
        <p:spPr>
          <a:xfrm>
            <a:off x="3515525" y="1225215"/>
            <a:ext cx="53169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k = probability of adopting independently</a:t>
            </a:r>
            <a:endParaRPr/>
          </a:p>
          <a:p>
            <a:pPr indent="-342900" lvl="0" marL="457200" rtl="0" algn="l">
              <a:spcBef>
                <a:spcPts val="0"/>
              </a:spcBef>
              <a:spcAft>
                <a:spcPts val="0"/>
              </a:spcAft>
              <a:buSzPts val="1800"/>
              <a:buChar char="●"/>
            </a:pPr>
            <a:r>
              <a:rPr lang="en"/>
              <a:t>y = proportion who have not adopted</a:t>
            </a:r>
            <a:endParaRPr/>
          </a:p>
          <a:p>
            <a:pPr indent="-342900" lvl="0" marL="457200" rtl="0" algn="l">
              <a:spcBef>
                <a:spcPts val="0"/>
              </a:spcBef>
              <a:spcAft>
                <a:spcPts val="0"/>
              </a:spcAft>
              <a:buSzPts val="1800"/>
              <a:buChar char="●"/>
            </a:pPr>
            <a:r>
              <a:rPr lang="en"/>
              <a:t>Diffusion:  </a:t>
            </a:r>
            <a:endParaRPr/>
          </a:p>
          <a:p>
            <a:pPr indent="-317500" lvl="1" marL="914400" rtl="0" algn="l">
              <a:spcBef>
                <a:spcPts val="0"/>
              </a:spcBef>
              <a:spcAft>
                <a:spcPts val="0"/>
              </a:spcAft>
              <a:buSzPts val="1400"/>
              <a:buChar char="○"/>
            </a:pPr>
            <a:r>
              <a:rPr lang="en"/>
              <a:t>Equal probability (k) of adopting in each time period and for each person</a:t>
            </a:r>
            <a:endParaRPr/>
          </a:p>
          <a:p>
            <a:pPr indent="-317500" lvl="1" marL="914400" rtl="0" algn="l">
              <a:spcBef>
                <a:spcPts val="0"/>
              </a:spcBef>
              <a:spcAft>
                <a:spcPts val="0"/>
              </a:spcAft>
              <a:buSzPts val="1400"/>
              <a:buChar char="○"/>
            </a:pPr>
            <a:r>
              <a:rPr lang="en"/>
              <a:t>not a function of exposure (p)</a:t>
            </a:r>
            <a:endParaRPr/>
          </a:p>
          <a:p>
            <a:pPr indent="-342900" lvl="0" marL="457200" rtl="0" algn="l">
              <a:spcBef>
                <a:spcPts val="0"/>
              </a:spcBef>
              <a:spcAft>
                <a:spcPts val="0"/>
              </a:spcAft>
              <a:buSzPts val="1800"/>
              <a:buChar char="●"/>
            </a:pPr>
            <a:r>
              <a:rPr lang="en"/>
              <a:t>Contagion: </a:t>
            </a:r>
            <a:endParaRPr/>
          </a:p>
          <a:p>
            <a:pPr indent="-317500" lvl="1" marL="914400" rtl="0" algn="l">
              <a:spcBef>
                <a:spcPts val="0"/>
              </a:spcBef>
              <a:spcAft>
                <a:spcPts val="0"/>
              </a:spcAft>
              <a:buSzPts val="1400"/>
              <a:buChar char="○"/>
            </a:pPr>
            <a:r>
              <a:rPr lang="en"/>
              <a:t>Equal probability of adopting (k) but also adoption a function of number of others who have adopted.</a:t>
            </a:r>
            <a:endParaRPr/>
          </a:p>
        </p:txBody>
      </p:sp>
      <p:pic>
        <p:nvPicPr>
          <p:cNvPr id="9598" name="Google Shape;9598;p439"/>
          <p:cNvPicPr preferRelativeResize="0"/>
          <p:nvPr/>
        </p:nvPicPr>
        <p:blipFill>
          <a:blip r:embed="rId3">
            <a:alphaModFix/>
          </a:blip>
          <a:stretch>
            <a:fillRect/>
          </a:stretch>
        </p:blipFill>
        <p:spPr>
          <a:xfrm>
            <a:off x="311707" y="1147249"/>
            <a:ext cx="2883435" cy="3548856"/>
          </a:xfrm>
          <a:prstGeom prst="rect">
            <a:avLst/>
          </a:prstGeom>
          <a:noFill/>
          <a:ln>
            <a:noFill/>
          </a:ln>
        </p:spPr>
      </p:pic>
    </p:spTree>
  </p:cSld>
  <p:clrMapOvr>
    <a:masterClrMapping/>
  </p:clrMapOvr>
</p:sld>
</file>

<file path=ppt/slides/slide4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02" name="Shape 9602"/>
        <p:cNvGrpSpPr/>
        <p:nvPr/>
      </p:nvGrpSpPr>
      <p:grpSpPr>
        <a:xfrm>
          <a:off x="0" y="0"/>
          <a:ext cx="0" cy="0"/>
          <a:chOff x="0" y="0"/>
          <a:chExt cx="0" cy="0"/>
        </a:xfrm>
      </p:grpSpPr>
      <p:sp>
        <p:nvSpPr>
          <p:cNvPr id="9603" name="Google Shape;9603;p440"/>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Cumulative Adoption Results</a:t>
            </a:r>
            <a:endParaRPr/>
          </a:p>
        </p:txBody>
      </p:sp>
      <p:sp>
        <p:nvSpPr>
          <p:cNvPr id="9604" name="Google Shape;9604;p440"/>
          <p:cNvSpPr txBox="1"/>
          <p:nvPr>
            <p:ph idx="1" type="body"/>
          </p:nvPr>
        </p:nvSpPr>
        <p:spPr>
          <a:xfrm>
            <a:off x="3694425" y="1225215"/>
            <a:ext cx="51378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Diffusion by Cohesion:  </a:t>
            </a:r>
            <a:endParaRPr/>
          </a:p>
          <a:p>
            <a:pPr indent="-317500" lvl="1" marL="914400" rtl="0" algn="l">
              <a:spcBef>
                <a:spcPts val="0"/>
              </a:spcBef>
              <a:spcAft>
                <a:spcPts val="0"/>
              </a:spcAft>
              <a:buSzPts val="1400"/>
              <a:buChar char="○"/>
            </a:pPr>
            <a:r>
              <a:rPr lang="en"/>
              <a:t>Adoption pattern when ego adopts after alter adopts </a:t>
            </a:r>
            <a:endParaRPr/>
          </a:p>
          <a:p>
            <a:pPr indent="-342900" lvl="0" marL="457200" rtl="0" algn="l">
              <a:spcBef>
                <a:spcPts val="0"/>
              </a:spcBef>
              <a:spcAft>
                <a:spcPts val="0"/>
              </a:spcAft>
              <a:buSzPts val="1800"/>
              <a:buChar char="●"/>
            </a:pPr>
            <a:r>
              <a:rPr lang="en"/>
              <a:t>Diffusion by Structural Equivalence:</a:t>
            </a:r>
            <a:endParaRPr/>
          </a:p>
          <a:p>
            <a:pPr indent="-317500" lvl="1" marL="914400" rtl="0" algn="l">
              <a:spcBef>
                <a:spcPts val="0"/>
              </a:spcBef>
              <a:spcAft>
                <a:spcPts val="0"/>
              </a:spcAft>
              <a:buSzPts val="1400"/>
              <a:buChar char="○"/>
            </a:pPr>
            <a:r>
              <a:rPr lang="en"/>
              <a:t>Adoption pattern when ego adopts after peers adopt</a:t>
            </a:r>
            <a:endParaRPr/>
          </a:p>
          <a:p>
            <a:pPr indent="-317500" lvl="1" marL="914400" rtl="0" algn="l">
              <a:spcBef>
                <a:spcPts val="0"/>
              </a:spcBef>
              <a:spcAft>
                <a:spcPts val="0"/>
              </a:spcAft>
              <a:buSzPts val="1400"/>
              <a:buChar char="○"/>
            </a:pPr>
            <a:r>
              <a:rPr lang="en"/>
              <a:t>In both cases rate of adoption early on is higher than expected by contagion</a:t>
            </a:r>
            <a:endParaRPr/>
          </a:p>
          <a:p>
            <a:pPr indent="-317500" lvl="1" marL="914400" rtl="0" algn="l">
              <a:spcBef>
                <a:spcPts val="0"/>
              </a:spcBef>
              <a:spcAft>
                <a:spcPts val="0"/>
              </a:spcAft>
              <a:buSzPts val="1400"/>
              <a:buChar char="○"/>
            </a:pPr>
            <a:r>
              <a:rPr lang="en"/>
              <a:t>Contagion is not the only process at work</a:t>
            </a:r>
            <a:endParaRPr/>
          </a:p>
          <a:p>
            <a:pPr indent="-317500" lvl="1" marL="914400" rtl="0" algn="l">
              <a:spcBef>
                <a:spcPts val="0"/>
              </a:spcBef>
              <a:spcAft>
                <a:spcPts val="0"/>
              </a:spcAft>
              <a:buSzPts val="1400"/>
              <a:buChar char="○"/>
            </a:pPr>
            <a:r>
              <a:rPr lang="en"/>
              <a:t>High early adoption rate indicative of diffusion without contagion</a:t>
            </a:r>
            <a:endParaRPr/>
          </a:p>
        </p:txBody>
      </p:sp>
      <p:pic>
        <p:nvPicPr>
          <p:cNvPr id="9605" name="Google Shape;9605;p440"/>
          <p:cNvPicPr preferRelativeResize="0"/>
          <p:nvPr/>
        </p:nvPicPr>
        <p:blipFill>
          <a:blip r:embed="rId3">
            <a:alphaModFix/>
          </a:blip>
          <a:stretch>
            <a:fillRect/>
          </a:stretch>
        </p:blipFill>
        <p:spPr>
          <a:xfrm>
            <a:off x="311709" y="1147245"/>
            <a:ext cx="3044452" cy="3532530"/>
          </a:xfrm>
          <a:prstGeom prst="rect">
            <a:avLst/>
          </a:prstGeom>
          <a:noFill/>
          <a:ln>
            <a:noFill/>
          </a:ln>
        </p:spPr>
      </p:pic>
    </p:spTree>
  </p:cSld>
  <p:clrMapOvr>
    <a:masterClrMapping/>
  </p:clrMapOvr>
</p:sld>
</file>

<file path=ppt/slides/slide4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09" name="Shape 9609"/>
        <p:cNvGrpSpPr/>
        <p:nvPr/>
      </p:nvGrpSpPr>
      <p:grpSpPr>
        <a:xfrm>
          <a:off x="0" y="0"/>
          <a:ext cx="0" cy="0"/>
          <a:chOff x="0" y="0"/>
          <a:chExt cx="0" cy="0"/>
        </a:xfrm>
      </p:grpSpPr>
      <p:sp>
        <p:nvSpPr>
          <p:cNvPr id="9610" name="Google Shape;9610;p441"/>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Results </a:t>
            </a:r>
            <a:endParaRPr/>
          </a:p>
        </p:txBody>
      </p:sp>
      <p:sp>
        <p:nvSpPr>
          <p:cNvPr id="9611" name="Google Shape;9611;p441"/>
          <p:cNvSpPr txBox="1"/>
          <p:nvPr>
            <p:ph idx="1" type="body"/>
          </p:nvPr>
        </p:nvSpPr>
        <p:spPr>
          <a:xfrm>
            <a:off x="457200" y="1200150"/>
            <a:ext cx="3917400" cy="372573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Results from regressions:</a:t>
            </a:r>
            <a:endParaRPr/>
          </a:p>
          <a:p>
            <a:pPr indent="-317500" lvl="1" marL="914400" rtl="0" algn="l">
              <a:spcBef>
                <a:spcPts val="0"/>
              </a:spcBef>
              <a:spcAft>
                <a:spcPts val="0"/>
              </a:spcAft>
              <a:buSzPts val="1400"/>
              <a:buChar char="○"/>
            </a:pPr>
            <a:r>
              <a:rPr lang="en"/>
              <a:t>No evidence of contagion from advisors and discussion partners</a:t>
            </a:r>
            <a:endParaRPr/>
          </a:p>
          <a:p>
            <a:pPr indent="-317500" lvl="1" marL="914400" rtl="0" algn="l">
              <a:spcBef>
                <a:spcPts val="0"/>
              </a:spcBef>
              <a:spcAft>
                <a:spcPts val="0"/>
              </a:spcAft>
              <a:buSzPts val="1400"/>
              <a:buChar char="○"/>
            </a:pPr>
            <a:r>
              <a:rPr lang="en"/>
              <a:t>Strong evidence of diffusion between month in which peers adopted (structurally equivalent doctors) and ego adopting</a:t>
            </a:r>
            <a:endParaRPr/>
          </a:p>
          <a:p>
            <a:pPr indent="-317500" lvl="1" marL="914400" rtl="0" algn="l">
              <a:spcBef>
                <a:spcPts val="0"/>
              </a:spcBef>
              <a:spcAft>
                <a:spcPts val="0"/>
              </a:spcAft>
              <a:buSzPts val="1400"/>
              <a:buChar char="○"/>
            </a:pPr>
            <a:r>
              <a:rPr lang="en"/>
              <a:t>Personal factors determined adoption, i.e. predi</a:t>
            </a:r>
            <a:r>
              <a:rPr lang="en"/>
              <a:t>sp</a:t>
            </a:r>
            <a:r>
              <a:rPr lang="en"/>
              <a:t>osition to adopt</a:t>
            </a:r>
            <a:endParaRPr/>
          </a:p>
          <a:p>
            <a:pPr indent="-317500" lvl="1" marL="914400" rtl="0" algn="l">
              <a:spcBef>
                <a:spcPts val="0"/>
              </a:spcBef>
              <a:spcAft>
                <a:spcPts val="0"/>
              </a:spcAft>
              <a:buSzPts val="1400"/>
              <a:buChar char="○"/>
            </a:pPr>
            <a:r>
              <a:rPr lang="en"/>
              <a:t>Contagion independent of personal preference</a:t>
            </a:r>
            <a:endParaRPr/>
          </a:p>
          <a:p>
            <a:pPr indent="0" lvl="0" marL="457200" rtl="0" algn="l">
              <a:spcBef>
                <a:spcPts val="0"/>
              </a:spcBef>
              <a:spcAft>
                <a:spcPts val="0"/>
              </a:spcAft>
              <a:buNone/>
            </a:pPr>
            <a:r>
              <a:t/>
            </a:r>
            <a:endParaRPr/>
          </a:p>
          <a:p>
            <a:pPr indent="0" lvl="0" marL="0" marR="0" rtl="0" algn="l">
              <a:lnSpc>
                <a:spcPct val="115000"/>
              </a:lnSpc>
              <a:spcBef>
                <a:spcPts val="0"/>
              </a:spcBef>
              <a:spcAft>
                <a:spcPts val="1600"/>
              </a:spcAft>
              <a:buNone/>
            </a:pPr>
            <a:r>
              <a:t/>
            </a:r>
            <a:endParaRPr/>
          </a:p>
        </p:txBody>
      </p:sp>
      <p:pic>
        <p:nvPicPr>
          <p:cNvPr id="9612" name="Google Shape;9612;p441"/>
          <p:cNvPicPr preferRelativeResize="0"/>
          <p:nvPr/>
        </p:nvPicPr>
        <p:blipFill rotWithShape="1">
          <a:blip r:embed="rId3">
            <a:alphaModFix/>
          </a:blip>
          <a:srcRect b="0" l="14693" r="10305" t="12709"/>
          <a:stretch/>
        </p:blipFill>
        <p:spPr>
          <a:xfrm>
            <a:off x="4374525" y="1404280"/>
            <a:ext cx="4414749" cy="2995807"/>
          </a:xfrm>
          <a:prstGeom prst="rect">
            <a:avLst/>
          </a:prstGeom>
          <a:noFill/>
          <a:ln>
            <a:noFill/>
          </a:ln>
        </p:spPr>
      </p:pic>
    </p:spTree>
  </p:cSld>
  <p:clrMapOvr>
    <a:masterClrMapping/>
  </p:clrMapOvr>
</p:sld>
</file>

<file path=ppt/slides/slide4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16" name="Shape 9616"/>
        <p:cNvGrpSpPr/>
        <p:nvPr/>
      </p:nvGrpSpPr>
      <p:grpSpPr>
        <a:xfrm>
          <a:off x="0" y="0"/>
          <a:ext cx="0" cy="0"/>
          <a:chOff x="0" y="0"/>
          <a:chExt cx="0" cy="0"/>
        </a:xfrm>
      </p:grpSpPr>
      <p:sp>
        <p:nvSpPr>
          <p:cNvPr id="9617" name="Google Shape;9617;p442"/>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Implications</a:t>
            </a:r>
            <a:endParaRPr/>
          </a:p>
        </p:txBody>
      </p:sp>
      <p:sp>
        <p:nvSpPr>
          <p:cNvPr id="9618" name="Google Shape;9618;p442"/>
          <p:cNvSpPr txBox="1"/>
          <p:nvPr>
            <p:ph idx="1" type="body"/>
          </p:nvPr>
        </p:nvSpPr>
        <p:spPr>
          <a:xfrm>
            <a:off x="311700" y="1225215"/>
            <a:ext cx="41058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Diffusion not via contagion (adjacency) but equivalence</a:t>
            </a:r>
            <a:endParaRPr/>
          </a:p>
          <a:p>
            <a:pPr indent="-317500" lvl="1" marL="914400" rtl="0" algn="l">
              <a:spcBef>
                <a:spcPts val="0"/>
              </a:spcBef>
              <a:spcAft>
                <a:spcPts val="0"/>
              </a:spcAft>
              <a:buSzPts val="1400"/>
              <a:buChar char="○"/>
            </a:pPr>
            <a:r>
              <a:rPr lang="en"/>
              <a:t>Why?  Relative standing competition.  Do not want to be a late adopter.</a:t>
            </a:r>
            <a:endParaRPr/>
          </a:p>
          <a:p>
            <a:pPr indent="-342900" lvl="0" marL="457200" rtl="0" algn="l">
              <a:spcBef>
                <a:spcPts val="0"/>
              </a:spcBef>
              <a:spcAft>
                <a:spcPts val="0"/>
              </a:spcAft>
              <a:buSzPts val="1800"/>
              <a:buChar char="●"/>
            </a:pPr>
            <a:r>
              <a:rPr lang="en"/>
              <a:t>Heterogeneity in predi</a:t>
            </a:r>
            <a:r>
              <a:rPr lang="en"/>
              <a:t>sp</a:t>
            </a:r>
            <a:r>
              <a:rPr lang="en"/>
              <a:t>osition to adopt leads to critical mass needed to get diffusion by equivalence to take off</a:t>
            </a:r>
            <a:endParaRPr/>
          </a:p>
          <a:p>
            <a:pPr indent="0" lvl="0" marL="0" rtl="0" algn="l">
              <a:spcBef>
                <a:spcPts val="0"/>
              </a:spcBef>
              <a:spcAft>
                <a:spcPts val="0"/>
              </a:spcAft>
              <a:buNone/>
            </a:pPr>
            <a:r>
              <a:t/>
            </a:r>
            <a:endParaRPr/>
          </a:p>
        </p:txBody>
      </p:sp>
      <p:pic>
        <p:nvPicPr>
          <p:cNvPr id="9619" name="Google Shape;9619;p442"/>
          <p:cNvPicPr preferRelativeResize="0"/>
          <p:nvPr/>
        </p:nvPicPr>
        <p:blipFill rotWithShape="1">
          <a:blip r:embed="rId3">
            <a:alphaModFix/>
          </a:blip>
          <a:srcRect b="0" l="14693" r="10305" t="12709"/>
          <a:stretch/>
        </p:blipFill>
        <p:spPr>
          <a:xfrm>
            <a:off x="4374525" y="1404280"/>
            <a:ext cx="4414749" cy="2995807"/>
          </a:xfrm>
          <a:prstGeom prst="rect">
            <a:avLst/>
          </a:prstGeom>
          <a:noFill/>
          <a:ln>
            <a:noFill/>
          </a:ln>
        </p:spPr>
      </p:pic>
    </p:spTree>
  </p:cSld>
  <p:clrMapOvr>
    <a:masterClrMapping/>
  </p:clrMapOvr>
</p:sld>
</file>

<file path=ppt/slides/slide4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23" name="Shape 9623"/>
        <p:cNvGrpSpPr/>
        <p:nvPr/>
      </p:nvGrpSpPr>
      <p:grpSpPr>
        <a:xfrm>
          <a:off x="0" y="0"/>
          <a:ext cx="0" cy="0"/>
          <a:chOff x="0" y="0"/>
          <a:chExt cx="0" cy="0"/>
        </a:xfrm>
      </p:grpSpPr>
      <p:sp>
        <p:nvSpPr>
          <p:cNvPr id="9624" name="Google Shape;9624;p443"/>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Question: Why do things diffuse?</a:t>
            </a:r>
            <a:endParaRPr/>
          </a:p>
        </p:txBody>
      </p:sp>
      <p:sp>
        <p:nvSpPr>
          <p:cNvPr id="9625" name="Google Shape;9625;p443"/>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Overall something diffuses faster if:</a:t>
            </a:r>
            <a:endParaRPr/>
          </a:p>
          <a:p>
            <a:pPr indent="-317500" lvl="1" marL="914400" rtl="0" algn="l">
              <a:spcBef>
                <a:spcPts val="0"/>
              </a:spcBef>
              <a:spcAft>
                <a:spcPts val="0"/>
              </a:spcAft>
              <a:buSzPts val="1400"/>
              <a:buChar char="○"/>
            </a:pPr>
            <a:r>
              <a:rPr lang="en"/>
              <a:t>It is familiar rather than unfamiliar</a:t>
            </a:r>
            <a:endParaRPr/>
          </a:p>
          <a:p>
            <a:pPr indent="-317500" lvl="1" marL="914400" rtl="0" algn="l">
              <a:spcBef>
                <a:spcPts val="0"/>
              </a:spcBef>
              <a:spcAft>
                <a:spcPts val="0"/>
              </a:spcAft>
              <a:buSzPts val="1400"/>
              <a:buChar char="○"/>
            </a:pPr>
            <a:r>
              <a:rPr lang="en"/>
              <a:t>It is relatively inconsequential</a:t>
            </a:r>
            <a:endParaRPr/>
          </a:p>
          <a:p>
            <a:pPr indent="-317500" lvl="1" marL="914400" rtl="0" algn="l">
              <a:spcBef>
                <a:spcPts val="0"/>
              </a:spcBef>
              <a:spcAft>
                <a:spcPts val="0"/>
              </a:spcAft>
              <a:buSzPts val="1400"/>
              <a:buChar char="○"/>
            </a:pPr>
            <a:r>
              <a:rPr lang="en"/>
              <a:t>Benefits outweigh costs</a:t>
            </a:r>
            <a:endParaRPr/>
          </a:p>
          <a:p>
            <a:pPr indent="-317500" lvl="1" marL="914400" rtl="0" algn="l">
              <a:spcBef>
                <a:spcPts val="0"/>
              </a:spcBef>
              <a:spcAft>
                <a:spcPts val="0"/>
              </a:spcAft>
              <a:buSzPts val="1400"/>
              <a:buChar char="○"/>
            </a:pPr>
            <a:r>
              <a:rPr lang="en"/>
              <a:t>The source is high status </a:t>
            </a:r>
            <a:endParaRPr/>
          </a:p>
          <a:p>
            <a:pPr indent="-317500" lvl="1" marL="914400" rtl="0" algn="l">
              <a:spcBef>
                <a:spcPts val="0"/>
              </a:spcBef>
              <a:spcAft>
                <a:spcPts val="0"/>
              </a:spcAft>
              <a:buSzPts val="1400"/>
              <a:buChar char="○"/>
            </a:pPr>
            <a:r>
              <a:rPr lang="en"/>
              <a:t>Source and target share social attributes</a:t>
            </a:r>
            <a:endParaRPr/>
          </a:p>
          <a:p>
            <a:pPr indent="-317500" lvl="1" marL="914400" rtl="0" algn="l">
              <a:spcBef>
                <a:spcPts val="0"/>
              </a:spcBef>
              <a:spcAft>
                <a:spcPts val="0"/>
              </a:spcAft>
              <a:buSzPts val="1400"/>
              <a:buChar char="○"/>
            </a:pPr>
            <a:r>
              <a:rPr lang="en"/>
              <a:t>Source and target are geographically proximate</a:t>
            </a:r>
            <a:endParaRPr/>
          </a:p>
          <a:p>
            <a:pPr indent="-317500" lvl="1" marL="914400" rtl="0" algn="l">
              <a:spcBef>
                <a:spcPts val="0"/>
              </a:spcBef>
              <a:spcAft>
                <a:spcPts val="0"/>
              </a:spcAft>
              <a:buSzPts val="1400"/>
              <a:buChar char="○"/>
            </a:pPr>
            <a:r>
              <a:rPr lang="en"/>
              <a:t>Source and target share overlapping social foci</a:t>
            </a:r>
            <a:endParaRPr/>
          </a:p>
          <a:p>
            <a:pPr indent="-317500" lvl="1" marL="914400" rtl="0" algn="l">
              <a:spcBef>
                <a:spcPts val="0"/>
              </a:spcBef>
              <a:spcAft>
                <a:spcPts val="0"/>
              </a:spcAft>
              <a:buSzPts val="1400"/>
              <a:buChar char="○"/>
            </a:pPr>
            <a:r>
              <a:rPr lang="en"/>
              <a:t>The network structure is conducive to diffusion</a:t>
            </a:r>
            <a:endParaRPr/>
          </a:p>
          <a:p>
            <a:pPr indent="-317500" lvl="2" marL="1371600" rtl="0" algn="l">
              <a:spcBef>
                <a:spcPts val="0"/>
              </a:spcBef>
              <a:spcAft>
                <a:spcPts val="0"/>
              </a:spcAft>
              <a:buSzPts val="1400"/>
              <a:buChar char="■"/>
            </a:pPr>
            <a:r>
              <a:rPr lang="en"/>
              <a:t>Centralization v. </a:t>
            </a:r>
            <a:r>
              <a:rPr lang="en"/>
              <a:t>Decentralization</a:t>
            </a:r>
            <a:endParaRPr/>
          </a:p>
          <a:p>
            <a:pPr indent="-317500" lvl="2" marL="1371600" rtl="0" algn="l">
              <a:spcBef>
                <a:spcPts val="0"/>
              </a:spcBef>
              <a:spcAft>
                <a:spcPts val="0"/>
              </a:spcAft>
              <a:buSzPts val="1400"/>
              <a:buChar char="■"/>
            </a:pPr>
            <a:r>
              <a:rPr lang="en"/>
              <a:t>Connectivity v. Segmentation</a:t>
            </a:r>
            <a:endParaRPr/>
          </a:p>
          <a:p>
            <a:pPr indent="-317500" lvl="2" marL="1371600" rtl="0" algn="l">
              <a:spcBef>
                <a:spcPts val="0"/>
              </a:spcBef>
              <a:spcAft>
                <a:spcPts val="0"/>
              </a:spcAft>
              <a:buSzPts val="1400"/>
              <a:buChar char="■"/>
            </a:pPr>
            <a:r>
              <a:rPr lang="en"/>
              <a:t>Density v. </a:t>
            </a:r>
            <a:r>
              <a:rPr lang="en"/>
              <a:t>Sp</a:t>
            </a:r>
            <a:r>
              <a:rPr lang="en"/>
              <a:t>arseness</a:t>
            </a:r>
            <a:endParaRPr/>
          </a:p>
          <a:p>
            <a:pPr indent="-317500" lvl="2" marL="1371600" rtl="0" algn="l">
              <a:spcBef>
                <a:spcPts val="0"/>
              </a:spcBef>
              <a:spcAft>
                <a:spcPts val="0"/>
              </a:spcAft>
              <a:buSzPts val="1400"/>
              <a:buChar char="■"/>
            </a:pPr>
            <a:r>
              <a:rPr lang="en"/>
              <a:t>Strong ties v. Weak ties</a:t>
            </a:r>
            <a:endParaRPr/>
          </a:p>
          <a:p>
            <a:pPr indent="-317500" lvl="2" marL="1371600" rtl="0" algn="l">
              <a:spcBef>
                <a:spcPts val="0"/>
              </a:spcBef>
              <a:spcAft>
                <a:spcPts val="0"/>
              </a:spcAft>
              <a:buSzPts val="1400"/>
              <a:buChar char="■"/>
            </a:pPr>
            <a:r>
              <a:rPr lang="en"/>
              <a:t>Bridging v. Redundant Ties</a:t>
            </a:r>
            <a:endParaRPr/>
          </a:p>
          <a:p>
            <a:pPr indent="0" lvl="0" marL="0" rtl="0" algn="l">
              <a:spcBef>
                <a:spcPts val="0"/>
              </a:spcBef>
              <a:spcAft>
                <a:spcPts val="0"/>
              </a:spcAft>
              <a:buNone/>
            </a:pPr>
            <a:r>
              <a:t/>
            </a:r>
            <a:endParaRPr/>
          </a:p>
        </p:txBody>
      </p:sp>
    </p:spTree>
  </p:cSld>
  <p:clrMapOvr>
    <a:masterClrMapping/>
  </p:clrMapOvr>
</p:sld>
</file>

<file path=ppt/slides/slide4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29" name="Shape 9629"/>
        <p:cNvGrpSpPr/>
        <p:nvPr/>
      </p:nvGrpSpPr>
      <p:grpSpPr>
        <a:xfrm>
          <a:off x="0" y="0"/>
          <a:ext cx="0" cy="0"/>
          <a:chOff x="0" y="0"/>
          <a:chExt cx="0" cy="0"/>
        </a:xfrm>
      </p:grpSpPr>
      <p:sp>
        <p:nvSpPr>
          <p:cNvPr id="9630" name="Google Shape;9630;p444"/>
          <p:cNvSpPr txBox="1"/>
          <p:nvPr>
            <p:ph type="title"/>
          </p:nvPr>
        </p:nvSpPr>
        <p:spPr>
          <a:xfrm>
            <a:off x="311700" y="315925"/>
            <a:ext cx="8520600" cy="83133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 Why do things diffuse?</a:t>
            </a:r>
            <a:endParaRPr/>
          </a:p>
        </p:txBody>
      </p:sp>
      <p:sp>
        <p:nvSpPr>
          <p:cNvPr id="9631" name="Google Shape;9631;p444"/>
          <p:cNvSpPr txBox="1"/>
          <p:nvPr>
            <p:ph idx="1" type="body"/>
          </p:nvPr>
        </p:nvSpPr>
        <p:spPr>
          <a:xfrm>
            <a:off x="311700" y="1225225"/>
            <a:ext cx="8520600" cy="335394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Factors Accounting for Why Things </a:t>
            </a:r>
            <a:r>
              <a:rPr lang="en"/>
              <a:t>Sp</a:t>
            </a:r>
            <a:r>
              <a:rPr lang="en"/>
              <a:t>read</a:t>
            </a:r>
            <a:endParaRPr/>
          </a:p>
          <a:p>
            <a:pPr indent="-317500" lvl="1" marL="914400" rtl="0" algn="l">
              <a:spcBef>
                <a:spcPts val="0"/>
              </a:spcBef>
              <a:spcAft>
                <a:spcPts val="0"/>
              </a:spcAft>
              <a:buSzPts val="1400"/>
              <a:buChar char="○"/>
            </a:pPr>
            <a:r>
              <a:rPr i="1" lang="en"/>
              <a:t>Characteristics of the object being diffused</a:t>
            </a:r>
            <a:endParaRPr i="1"/>
          </a:p>
          <a:p>
            <a:pPr indent="-317500" lvl="2" marL="1371600" rtl="0" algn="l">
              <a:spcBef>
                <a:spcPts val="0"/>
              </a:spcBef>
              <a:spcAft>
                <a:spcPts val="0"/>
              </a:spcAft>
              <a:buSzPts val="1400"/>
              <a:buChar char="■"/>
            </a:pPr>
            <a:r>
              <a:rPr lang="en"/>
              <a:t>Familiar/unfamiliar</a:t>
            </a:r>
            <a:endParaRPr/>
          </a:p>
          <a:p>
            <a:pPr indent="-317500" lvl="2" marL="1371600" rtl="0" algn="l">
              <a:spcBef>
                <a:spcPts val="0"/>
              </a:spcBef>
              <a:spcAft>
                <a:spcPts val="0"/>
              </a:spcAft>
              <a:buSzPts val="1400"/>
              <a:buChar char="■"/>
            </a:pPr>
            <a:r>
              <a:rPr lang="en"/>
              <a:t>High risk (consequential) v. low risk</a:t>
            </a:r>
            <a:endParaRPr/>
          </a:p>
          <a:p>
            <a:pPr indent="-317500" lvl="2" marL="1371600" rtl="0" algn="l">
              <a:spcBef>
                <a:spcPts val="0"/>
              </a:spcBef>
              <a:spcAft>
                <a:spcPts val="0"/>
              </a:spcAft>
              <a:buSzPts val="1400"/>
              <a:buChar char="■"/>
            </a:pPr>
            <a:r>
              <a:rPr lang="en"/>
              <a:t>Cost/benefit ratio</a:t>
            </a:r>
            <a:endParaRPr/>
          </a:p>
          <a:p>
            <a:pPr indent="-317500" lvl="1" marL="914400" rtl="0" algn="l">
              <a:spcBef>
                <a:spcPts val="0"/>
              </a:spcBef>
              <a:spcAft>
                <a:spcPts val="0"/>
              </a:spcAft>
              <a:buSzPts val="1400"/>
              <a:buChar char="○"/>
            </a:pPr>
            <a:r>
              <a:rPr i="1" lang="en"/>
              <a:t>Characteristics of the source and adopter</a:t>
            </a:r>
            <a:endParaRPr i="1"/>
          </a:p>
          <a:p>
            <a:pPr indent="-317500" lvl="2" marL="1371600" rtl="0" algn="l">
              <a:spcBef>
                <a:spcPts val="0"/>
              </a:spcBef>
              <a:spcAft>
                <a:spcPts val="0"/>
              </a:spcAft>
              <a:buSzPts val="1400"/>
              <a:buChar char="■"/>
            </a:pPr>
            <a:r>
              <a:rPr lang="en"/>
              <a:t>Individual versus collective actor</a:t>
            </a:r>
            <a:endParaRPr/>
          </a:p>
          <a:p>
            <a:pPr indent="-317500" lvl="2" marL="1371600" rtl="0" algn="l">
              <a:spcBef>
                <a:spcPts val="0"/>
              </a:spcBef>
              <a:spcAft>
                <a:spcPts val="0"/>
              </a:spcAft>
              <a:buSzPts val="1400"/>
              <a:buChar char="■"/>
            </a:pPr>
            <a:r>
              <a:rPr lang="en"/>
              <a:t>High status v. Low status actor</a:t>
            </a:r>
            <a:endParaRPr/>
          </a:p>
          <a:p>
            <a:pPr indent="-317500" lvl="2" marL="1371600" rtl="0" algn="l">
              <a:spcBef>
                <a:spcPts val="0"/>
              </a:spcBef>
              <a:spcAft>
                <a:spcPts val="0"/>
              </a:spcAft>
              <a:buSzPts val="1400"/>
              <a:buChar char="■"/>
            </a:pPr>
            <a:r>
              <a:rPr lang="en"/>
              <a:t>Similar v. dissimilar</a:t>
            </a:r>
            <a:endParaRPr/>
          </a:p>
          <a:p>
            <a:pPr indent="-317500" lvl="1" marL="914400" rtl="0" algn="l">
              <a:spcBef>
                <a:spcPts val="0"/>
              </a:spcBef>
              <a:spcAft>
                <a:spcPts val="0"/>
              </a:spcAft>
              <a:buSzPts val="1400"/>
              <a:buChar char="○"/>
            </a:pPr>
            <a:r>
              <a:rPr i="1" lang="en"/>
              <a:t>Environmental Context</a:t>
            </a:r>
            <a:endParaRPr i="1"/>
          </a:p>
          <a:p>
            <a:pPr indent="-317500" lvl="2" marL="1371600" rtl="0" algn="l">
              <a:spcBef>
                <a:spcPts val="0"/>
              </a:spcBef>
              <a:spcAft>
                <a:spcPts val="0"/>
              </a:spcAft>
              <a:buSzPts val="1400"/>
              <a:buChar char="■"/>
            </a:pPr>
            <a:r>
              <a:rPr lang="en"/>
              <a:t>Proximity</a:t>
            </a:r>
            <a:endParaRPr/>
          </a:p>
          <a:p>
            <a:pPr indent="-317500" lvl="2" marL="1371600" rtl="0" algn="l">
              <a:spcBef>
                <a:spcPts val="0"/>
              </a:spcBef>
              <a:spcAft>
                <a:spcPts val="0"/>
              </a:spcAft>
              <a:buSzPts val="1400"/>
              <a:buChar char="■"/>
            </a:pPr>
            <a:r>
              <a:rPr lang="en"/>
              <a:t>Social Foci</a:t>
            </a:r>
            <a:endParaRPr/>
          </a:p>
          <a:p>
            <a:pPr indent="-317500" lvl="2" marL="1371600" rtl="0" algn="l">
              <a:spcBef>
                <a:spcPts val="0"/>
              </a:spcBef>
              <a:spcAft>
                <a:spcPts val="0"/>
              </a:spcAft>
              <a:buSzPts val="1400"/>
              <a:buChar char="■"/>
            </a:pPr>
            <a:r>
              <a:rPr lang="en"/>
              <a:t>Network Structure </a:t>
            </a:r>
            <a:endParaRPr/>
          </a:p>
          <a:p>
            <a:pPr indent="0" lvl="0" marL="0" rtl="0" algn="l">
              <a:spcBef>
                <a:spcPts val="0"/>
              </a:spcBef>
              <a:spcAft>
                <a:spcPts val="0"/>
              </a:spcAft>
              <a:buNone/>
            </a:pPr>
            <a:r>
              <a:t/>
            </a:r>
            <a:endParaRPr/>
          </a:p>
        </p:txBody>
      </p:sp>
    </p:spTree>
  </p:cSld>
  <p:clrMapOvr>
    <a:masterClrMapping/>
  </p:clrMapOvr>
</p:sld>
</file>

<file path=ppt/slides/slide4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9635" name="Shape 9635"/>
        <p:cNvGrpSpPr/>
        <p:nvPr/>
      </p:nvGrpSpPr>
      <p:grpSpPr>
        <a:xfrm>
          <a:off x="0" y="0"/>
          <a:ext cx="0" cy="0"/>
          <a:chOff x="0" y="0"/>
          <a:chExt cx="0" cy="0"/>
        </a:xfrm>
      </p:grpSpPr>
      <p:sp>
        <p:nvSpPr>
          <p:cNvPr id="9636" name="Google Shape;9636;p445"/>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social </a:t>
            </a:r>
            <a:r>
              <a:rPr lang="en"/>
              <a:t>psychology</a:t>
            </a:r>
            <a:r>
              <a:rPr lang="en"/>
              <a:t> of social networks</a:t>
            </a:r>
            <a:endParaRPr/>
          </a:p>
        </p:txBody>
      </p:sp>
      <p:sp>
        <p:nvSpPr>
          <p:cNvPr id="9637" name="Google Shape;9637;p445"/>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1" name="Shape 9641"/>
        <p:cNvGrpSpPr/>
        <p:nvPr/>
      </p:nvGrpSpPr>
      <p:grpSpPr>
        <a:xfrm>
          <a:off x="0" y="0"/>
          <a:ext cx="0" cy="0"/>
          <a:chOff x="0" y="0"/>
          <a:chExt cx="0" cy="0"/>
        </a:xfrm>
      </p:grpSpPr>
      <p:sp>
        <p:nvSpPr>
          <p:cNvPr id="9642" name="Google Shape;9642;p4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Cognition and social networks</a:t>
            </a:r>
            <a:endParaRPr/>
          </a:p>
        </p:txBody>
      </p:sp>
      <p:sp>
        <p:nvSpPr>
          <p:cNvPr id="9643" name="Google Shape;9643;p44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Cognitive a</a:t>
            </a:r>
            <a:r>
              <a:rPr lang="en"/>
              <a:t>sp</a:t>
            </a:r>
            <a:r>
              <a:rPr lang="en"/>
              <a:t>ects of networks central to classical approaches such as </a:t>
            </a:r>
            <a:r>
              <a:rPr b="1" lang="en"/>
              <a:t>balance theory</a:t>
            </a:r>
            <a:endParaRPr b="1"/>
          </a:p>
          <a:p>
            <a:pPr indent="-342900" lvl="0" marL="457200" rtl="0" algn="l">
              <a:spcBef>
                <a:spcPts val="0"/>
              </a:spcBef>
              <a:spcAft>
                <a:spcPts val="0"/>
              </a:spcAft>
              <a:buSzPts val="1800"/>
              <a:buChar char="●"/>
            </a:pPr>
            <a:r>
              <a:rPr lang="en"/>
              <a:t>Recent work has rediscovered the cognitive psychological dimension of social networks</a:t>
            </a:r>
            <a:endParaRPr/>
          </a:p>
          <a:p>
            <a:pPr indent="-342900" lvl="0" marL="457200" rtl="0" algn="l">
              <a:spcBef>
                <a:spcPts val="0"/>
              </a:spcBef>
              <a:spcAft>
                <a:spcPts val="0"/>
              </a:spcAft>
              <a:buSzPts val="1800"/>
              <a:buChar char="●"/>
            </a:pPr>
            <a:r>
              <a:rPr lang="en"/>
              <a:t>Main contemporary cognitive-</a:t>
            </a:r>
            <a:r>
              <a:rPr lang="en"/>
              <a:t>psychological</a:t>
            </a:r>
            <a:r>
              <a:rPr lang="en"/>
              <a:t> approaches:</a:t>
            </a:r>
            <a:endParaRPr/>
          </a:p>
          <a:p>
            <a:pPr indent="-317500" lvl="1" marL="914400" rtl="0" algn="l">
              <a:spcBef>
                <a:spcPts val="0"/>
              </a:spcBef>
              <a:spcAft>
                <a:spcPts val="0"/>
              </a:spcAft>
              <a:buSzPts val="1400"/>
              <a:buChar char="○"/>
            </a:pPr>
            <a:r>
              <a:rPr lang="en"/>
              <a:t>Freeman’s theory of </a:t>
            </a:r>
            <a:r>
              <a:rPr b="1" lang="en"/>
              <a:t>schema-based network recall</a:t>
            </a:r>
            <a:endParaRPr b="1"/>
          </a:p>
          <a:p>
            <a:pPr indent="-317500" lvl="1" marL="914400" rtl="0" algn="l">
              <a:spcBef>
                <a:spcPts val="0"/>
              </a:spcBef>
              <a:spcAft>
                <a:spcPts val="0"/>
              </a:spcAft>
              <a:buSzPts val="1400"/>
              <a:buChar char="○"/>
            </a:pPr>
            <a:r>
              <a:rPr lang="en"/>
              <a:t>Krackhardt’s theory of </a:t>
            </a:r>
            <a:r>
              <a:rPr b="1" lang="en"/>
              <a:t>Cognitive Social Structures (CSS)</a:t>
            </a:r>
            <a:endParaRPr b="1"/>
          </a:p>
          <a:p>
            <a:pPr indent="-317500" lvl="1" marL="914400" rtl="0" algn="l">
              <a:spcBef>
                <a:spcPts val="0"/>
              </a:spcBef>
              <a:spcAft>
                <a:spcPts val="0"/>
              </a:spcAft>
              <a:buSzPts val="1400"/>
              <a:buChar char="○"/>
            </a:pPr>
            <a:r>
              <a:rPr lang="en"/>
              <a:t>Research linking </a:t>
            </a:r>
            <a:r>
              <a:rPr b="1" lang="en"/>
              <a:t>Personality</a:t>
            </a:r>
            <a:r>
              <a:rPr lang="en"/>
              <a:t> and </a:t>
            </a:r>
            <a:r>
              <a:rPr b="1" lang="en"/>
              <a:t>Social Network Outcomes</a:t>
            </a:r>
            <a:endParaRPr b="1"/>
          </a:p>
          <a:p>
            <a:pPr indent="0" lvl="0" marL="914400" rtl="0" algn="l">
              <a:spcBef>
                <a:spcPts val="0"/>
              </a:spcBef>
              <a:spcAft>
                <a:spcPts val="0"/>
              </a:spcAft>
              <a:buNone/>
            </a:pPr>
            <a:r>
              <a:t/>
            </a:r>
            <a:endParaRPr/>
          </a:p>
        </p:txBody>
      </p:sp>
    </p:spTree>
  </p:cSld>
  <p:clrMapOvr>
    <a:masterClrMapping/>
  </p:clrMapOvr>
</p:sld>
</file>

<file path=ppt/slides/slide4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7" name="Shape 9647"/>
        <p:cNvGrpSpPr/>
        <p:nvPr/>
      </p:nvGrpSpPr>
      <p:grpSpPr>
        <a:xfrm>
          <a:off x="0" y="0"/>
          <a:ext cx="0" cy="0"/>
          <a:chOff x="0" y="0"/>
          <a:chExt cx="0" cy="0"/>
        </a:xfrm>
      </p:grpSpPr>
      <p:sp>
        <p:nvSpPr>
          <p:cNvPr id="9648" name="Google Shape;9648;p4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Remembering Social Structures</a:t>
            </a:r>
            <a:endParaRPr/>
          </a:p>
        </p:txBody>
      </p:sp>
      <p:sp>
        <p:nvSpPr>
          <p:cNvPr id="9649" name="Google Shape;9649;p44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kinds of networks are easy for people to remember?</a:t>
            </a:r>
            <a:endParaRPr/>
          </a:p>
          <a:p>
            <a:pPr indent="-317500" lvl="1" marL="914400" rtl="0" algn="l">
              <a:spcBef>
                <a:spcPts val="0"/>
              </a:spcBef>
              <a:spcAft>
                <a:spcPts val="0"/>
              </a:spcAft>
              <a:buSzPts val="1400"/>
              <a:buChar char="○"/>
            </a:pPr>
            <a:r>
              <a:rPr lang="en"/>
              <a:t>People store network information in a cognitive template called a </a:t>
            </a:r>
            <a:r>
              <a:rPr b="1" lang="en"/>
              <a:t>schema</a:t>
            </a:r>
            <a:endParaRPr b="1"/>
          </a:p>
          <a:p>
            <a:pPr indent="-342900" lvl="0" marL="457200" rtl="0" algn="l">
              <a:spcBef>
                <a:spcPts val="0"/>
              </a:spcBef>
              <a:spcAft>
                <a:spcPts val="0"/>
              </a:spcAft>
              <a:buSzPts val="1800"/>
              <a:buChar char="●"/>
            </a:pPr>
            <a:r>
              <a:rPr lang="en"/>
              <a:t>Schemas influence memory</a:t>
            </a:r>
            <a:endParaRPr/>
          </a:p>
          <a:p>
            <a:pPr indent="-317500" lvl="1" marL="914400" rtl="0" algn="l">
              <a:spcBef>
                <a:spcPts val="0"/>
              </a:spcBef>
              <a:spcAft>
                <a:spcPts val="0"/>
              </a:spcAft>
              <a:buSzPts val="1400"/>
              <a:buChar char="○"/>
            </a:pPr>
            <a:r>
              <a:rPr lang="en"/>
              <a:t>We tend to more easily </a:t>
            </a:r>
            <a:r>
              <a:rPr b="1" lang="en"/>
              <a:t>remember</a:t>
            </a:r>
            <a:r>
              <a:rPr lang="en"/>
              <a:t> information that is </a:t>
            </a:r>
            <a:r>
              <a:rPr b="1" lang="en"/>
              <a:t>consistent </a:t>
            </a:r>
            <a:r>
              <a:rPr lang="en"/>
              <a:t>with stored schemas</a:t>
            </a:r>
            <a:endParaRPr/>
          </a:p>
          <a:p>
            <a:pPr indent="-317500" lvl="1" marL="914400" rtl="0" algn="l">
              <a:spcBef>
                <a:spcPts val="0"/>
              </a:spcBef>
              <a:spcAft>
                <a:spcPts val="0"/>
              </a:spcAft>
              <a:buSzPts val="1400"/>
              <a:buChar char="○"/>
            </a:pPr>
            <a:r>
              <a:rPr lang="en"/>
              <a:t>We tend to </a:t>
            </a:r>
            <a:r>
              <a:rPr b="1" lang="en"/>
              <a:t>forget</a:t>
            </a:r>
            <a:r>
              <a:rPr lang="en"/>
              <a:t> information that is </a:t>
            </a:r>
            <a:r>
              <a:rPr b="1" lang="en"/>
              <a:t>inconsistent</a:t>
            </a:r>
            <a:r>
              <a:rPr lang="en"/>
              <a:t> with stored schemas</a:t>
            </a:r>
            <a:endParaRPr/>
          </a:p>
          <a:p>
            <a:pPr indent="-317500" lvl="1" marL="914400" rtl="0" algn="l">
              <a:spcBef>
                <a:spcPts val="0"/>
              </a:spcBef>
              <a:spcAft>
                <a:spcPts val="0"/>
              </a:spcAft>
              <a:buSzPts val="1400"/>
              <a:buChar char="○"/>
            </a:pPr>
            <a:r>
              <a:rPr lang="en"/>
              <a:t>We tend to </a:t>
            </a:r>
            <a:r>
              <a:rPr b="1" lang="en"/>
              <a:t>change</a:t>
            </a:r>
            <a:r>
              <a:rPr lang="en"/>
              <a:t> schema </a:t>
            </a:r>
            <a:r>
              <a:rPr b="1" lang="en"/>
              <a:t>inconsistent</a:t>
            </a:r>
            <a:r>
              <a:rPr lang="en"/>
              <a:t> information into a schema </a:t>
            </a:r>
            <a:r>
              <a:rPr b="1" lang="en"/>
              <a:t>consistent</a:t>
            </a:r>
            <a:r>
              <a:rPr lang="en"/>
              <a:t> form</a:t>
            </a:r>
            <a:endParaRPr/>
          </a:p>
          <a:p>
            <a:pPr indent="-342900" lvl="0" marL="457200" rtl="0" algn="l">
              <a:spcBef>
                <a:spcPts val="0"/>
              </a:spcBef>
              <a:spcAft>
                <a:spcPts val="0"/>
              </a:spcAft>
              <a:buSzPts val="1800"/>
              <a:buChar char="●"/>
            </a:pPr>
            <a:r>
              <a:rPr lang="en"/>
              <a:t>What kinds of networks are easy to remember?</a:t>
            </a:r>
            <a:endParaRPr/>
          </a:p>
          <a:p>
            <a:pPr indent="-317500" lvl="1" marL="914400" marR="0" rtl="0" algn="l">
              <a:lnSpc>
                <a:spcPct val="115000"/>
              </a:lnSpc>
              <a:spcBef>
                <a:spcPts val="0"/>
              </a:spcBef>
              <a:spcAft>
                <a:spcPts val="0"/>
              </a:spcAft>
              <a:buClr>
                <a:schemeClr val="dk1"/>
              </a:buClr>
              <a:buSzPts val="1400"/>
              <a:buFont typeface="Open Sans"/>
              <a:buChar char="○"/>
            </a:pPr>
            <a:r>
              <a:rPr lang="en"/>
              <a:t>Networks with </a:t>
            </a:r>
            <a:r>
              <a:rPr b="1" lang="en"/>
              <a:t>hierarchical</a:t>
            </a:r>
            <a:r>
              <a:rPr lang="en"/>
              <a:t> structure are easier to remember</a:t>
            </a:r>
            <a:endParaRPr/>
          </a:p>
          <a:p>
            <a:pPr indent="-317500" lvl="1" marL="914400" rtl="0" algn="l">
              <a:spcBef>
                <a:spcPts val="0"/>
              </a:spcBef>
              <a:spcAft>
                <a:spcPts val="0"/>
              </a:spcAft>
              <a:buSzPts val="1400"/>
              <a:buChar char="○"/>
            </a:pPr>
            <a:r>
              <a:rPr lang="en"/>
              <a:t>Networks with </a:t>
            </a:r>
            <a:r>
              <a:rPr b="1" lang="en"/>
              <a:t>reciprocity</a:t>
            </a:r>
            <a:r>
              <a:rPr lang="en"/>
              <a:t> (if the relationship is friendship) are easier to remember</a:t>
            </a:r>
            <a:endParaRPr/>
          </a:p>
          <a:p>
            <a:pPr indent="-317500" lvl="1" marL="914400" rtl="0" algn="l">
              <a:spcBef>
                <a:spcPts val="0"/>
              </a:spcBef>
              <a:spcAft>
                <a:spcPts val="0"/>
              </a:spcAft>
              <a:buSzPts val="1400"/>
              <a:buChar char="○"/>
            </a:pPr>
            <a:r>
              <a:rPr lang="en"/>
              <a:t>Networks with </a:t>
            </a:r>
            <a:r>
              <a:rPr b="1" lang="en"/>
              <a:t>transitivity</a:t>
            </a:r>
            <a:r>
              <a:rPr lang="en"/>
              <a:t> are easier to remember</a:t>
            </a:r>
            <a:endParaRPr/>
          </a:p>
          <a:p>
            <a:pPr indent="-317500" lvl="1" marL="914400" rtl="0" algn="l">
              <a:spcBef>
                <a:spcPts val="0"/>
              </a:spcBef>
              <a:spcAft>
                <a:spcPts val="0"/>
              </a:spcAft>
              <a:buSzPts val="1400"/>
              <a:buChar char="○"/>
            </a:pPr>
            <a:r>
              <a:rPr lang="en"/>
              <a:t>Networks clustered into </a:t>
            </a:r>
            <a:r>
              <a:rPr b="1" lang="en"/>
              <a:t>subgroups</a:t>
            </a:r>
            <a:r>
              <a:rPr lang="en"/>
              <a:t> are easier to remember</a:t>
            </a:r>
            <a:endParaRPr/>
          </a:p>
          <a:p>
            <a:pPr indent="-317500" lvl="1" marL="914400" rtl="0" algn="l">
              <a:spcBef>
                <a:spcPts val="0"/>
              </a:spcBef>
              <a:spcAft>
                <a:spcPts val="0"/>
              </a:spcAft>
              <a:buSzPts val="1400"/>
              <a:buChar char="○"/>
            </a:pPr>
            <a:r>
              <a:rPr lang="en"/>
              <a:t>Networks featuring </a:t>
            </a:r>
            <a:r>
              <a:rPr b="1" lang="en"/>
              <a:t>balance</a:t>
            </a:r>
            <a:r>
              <a:rPr lang="en"/>
              <a:t> are easier to remember</a:t>
            </a:r>
            <a:endParaRPr/>
          </a:p>
          <a:p>
            <a:pPr indent="0" lvl="0" marL="457200" rtl="0" algn="l">
              <a:spcBef>
                <a:spcPts val="0"/>
              </a:spcBef>
              <a:spcAft>
                <a:spcPts val="0"/>
              </a:spcAft>
              <a:buNone/>
            </a:pPr>
            <a:r>
              <a:t/>
            </a:r>
            <a:endParaRPr/>
          </a:p>
        </p:txBody>
      </p:sp>
    </p:spTree>
  </p:cSld>
  <p:clrMapOvr>
    <a:masterClrMapping/>
  </p:clrMapOvr>
</p:sld>
</file>

<file path=ppt/slides/slide4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3" name="Shape 9653"/>
        <p:cNvGrpSpPr/>
        <p:nvPr/>
      </p:nvGrpSpPr>
      <p:grpSpPr>
        <a:xfrm>
          <a:off x="0" y="0"/>
          <a:ext cx="0" cy="0"/>
          <a:chOff x="0" y="0"/>
          <a:chExt cx="0" cy="0"/>
        </a:xfrm>
      </p:grpSpPr>
      <p:sp>
        <p:nvSpPr>
          <p:cNvPr id="9654" name="Google Shape;9654;p4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Schema-based network recall</a:t>
            </a:r>
            <a:endParaRPr/>
          </a:p>
        </p:txBody>
      </p:sp>
      <p:sp>
        <p:nvSpPr>
          <p:cNvPr id="9655" name="Google Shape;9655;p44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Bernard, Kilworth and Sailer showed that people have poor memories of who talks with who in social networks</a:t>
            </a:r>
            <a:endParaRPr/>
          </a:p>
          <a:p>
            <a:pPr indent="-317500" lvl="1" marL="914400" rtl="0" algn="l">
              <a:spcBef>
                <a:spcPts val="0"/>
              </a:spcBef>
              <a:spcAft>
                <a:spcPts val="0"/>
              </a:spcAft>
              <a:buSzPts val="1400"/>
              <a:buChar char="○"/>
            </a:pPr>
            <a:r>
              <a:rPr lang="en"/>
              <a:t>People are bad at recalling </a:t>
            </a:r>
            <a:r>
              <a:rPr lang="en"/>
              <a:t>sp</a:t>
            </a:r>
            <a:r>
              <a:rPr lang="en"/>
              <a:t>ecific interactions</a:t>
            </a:r>
            <a:endParaRPr/>
          </a:p>
          <a:p>
            <a:pPr indent="-317500" lvl="1" marL="914400" rtl="0" algn="l">
              <a:spcBef>
                <a:spcPts val="0"/>
              </a:spcBef>
              <a:spcAft>
                <a:spcPts val="0"/>
              </a:spcAft>
              <a:buSzPts val="1400"/>
              <a:buChar char="○"/>
            </a:pPr>
            <a:r>
              <a:rPr lang="en"/>
              <a:t>However, they seem to be good at recalling broad communication patterns</a:t>
            </a:r>
            <a:endParaRPr/>
          </a:p>
          <a:p>
            <a:pPr indent="-317500" lvl="2" marL="1371600" rtl="0" algn="l">
              <a:spcBef>
                <a:spcPts val="0"/>
              </a:spcBef>
              <a:spcAft>
                <a:spcPts val="0"/>
              </a:spcAft>
              <a:buSzPts val="1400"/>
              <a:buChar char="■"/>
            </a:pPr>
            <a:r>
              <a:rPr lang="en"/>
              <a:t>Who interacts frequently with whom</a:t>
            </a:r>
            <a:endParaRPr/>
          </a:p>
          <a:p>
            <a:pPr indent="-317500" lvl="2" marL="1371600" rtl="0" algn="l">
              <a:spcBef>
                <a:spcPts val="0"/>
              </a:spcBef>
              <a:spcAft>
                <a:spcPts val="0"/>
              </a:spcAft>
              <a:buSzPts val="1400"/>
              <a:buChar char="■"/>
            </a:pPr>
            <a:r>
              <a:rPr lang="en"/>
              <a:t>Who is somebody’s top contact</a:t>
            </a:r>
            <a:endParaRPr/>
          </a:p>
          <a:p>
            <a:pPr indent="-342900" lvl="0" marL="457200" rtl="0" algn="l">
              <a:spcBef>
                <a:spcPts val="0"/>
              </a:spcBef>
              <a:spcAft>
                <a:spcPts val="0"/>
              </a:spcAft>
              <a:buSzPts val="1800"/>
              <a:buChar char="●"/>
            </a:pPr>
            <a:r>
              <a:rPr lang="en"/>
              <a:t>Freeman proposed a theory of schema-based network recall to explain this discrepancy</a:t>
            </a:r>
            <a:endParaRPr/>
          </a:p>
          <a:p>
            <a:pPr indent="-317500" lvl="1" marL="914400" rtl="0" algn="l">
              <a:spcBef>
                <a:spcPts val="0"/>
              </a:spcBef>
              <a:spcAft>
                <a:spcPts val="0"/>
              </a:spcAft>
              <a:buSzPts val="1400"/>
              <a:buChar char="○"/>
            </a:pPr>
            <a:r>
              <a:rPr lang="en"/>
              <a:t>People tend to </a:t>
            </a:r>
            <a:r>
              <a:rPr lang="en"/>
              <a:t>commit</a:t>
            </a:r>
            <a:r>
              <a:rPr lang="en"/>
              <a:t> to memory not </a:t>
            </a:r>
            <a:r>
              <a:rPr lang="en"/>
              <a:t>sp</a:t>
            </a:r>
            <a:r>
              <a:rPr lang="en"/>
              <a:t>ecific interactions but the </a:t>
            </a:r>
            <a:r>
              <a:rPr b="1" lang="en"/>
              <a:t>broad previous history of interaction</a:t>
            </a:r>
            <a:r>
              <a:rPr lang="en"/>
              <a:t> between themselves and others and between alters</a:t>
            </a:r>
            <a:endParaRPr/>
          </a:p>
          <a:p>
            <a:pPr indent="0" lvl="0" marL="914400" rtl="0" algn="l">
              <a:spcBef>
                <a:spcPts val="0"/>
              </a:spcBef>
              <a:spcAft>
                <a:spcPts val="0"/>
              </a:spcAft>
              <a:buNone/>
            </a:pPr>
            <a:r>
              <a:t/>
            </a:r>
            <a:endParaRPr b="1"/>
          </a:p>
        </p:txBody>
      </p:sp>
    </p:spTree>
  </p:cSld>
  <p:clrMapOvr>
    <a:masterClrMapping/>
  </p:clrMapOvr>
</p:sld>
</file>

<file path=ppt/slides/slide4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9" name="Shape 9659"/>
        <p:cNvGrpSpPr/>
        <p:nvPr/>
      </p:nvGrpSpPr>
      <p:grpSpPr>
        <a:xfrm>
          <a:off x="0" y="0"/>
          <a:ext cx="0" cy="0"/>
          <a:chOff x="0" y="0"/>
          <a:chExt cx="0" cy="0"/>
        </a:xfrm>
      </p:grpSpPr>
      <p:sp>
        <p:nvSpPr>
          <p:cNvPr id="9660" name="Google Shape;9660;p4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Schema-based network recall</a:t>
            </a:r>
            <a:endParaRPr/>
          </a:p>
        </p:txBody>
      </p:sp>
      <p:sp>
        <p:nvSpPr>
          <p:cNvPr id="9661" name="Google Shape;9661;p44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Bernard, Kilworth and Sailer showed that people have poor memories of who talks with who in social networks</a:t>
            </a:r>
            <a:endParaRPr/>
          </a:p>
          <a:p>
            <a:pPr indent="-317500" lvl="1" marL="914400" rtl="0" algn="l">
              <a:spcBef>
                <a:spcPts val="0"/>
              </a:spcBef>
              <a:spcAft>
                <a:spcPts val="0"/>
              </a:spcAft>
              <a:buSzPts val="1400"/>
              <a:buChar char="○"/>
            </a:pPr>
            <a:r>
              <a:rPr lang="en"/>
              <a:t>People are bad at recalling specific interactions</a:t>
            </a:r>
            <a:endParaRPr/>
          </a:p>
          <a:p>
            <a:pPr indent="-317500" lvl="1" marL="914400" rtl="0" algn="l">
              <a:spcBef>
                <a:spcPts val="0"/>
              </a:spcBef>
              <a:spcAft>
                <a:spcPts val="0"/>
              </a:spcAft>
              <a:buSzPts val="1400"/>
              <a:buChar char="○"/>
            </a:pPr>
            <a:r>
              <a:rPr lang="en"/>
              <a:t>However, they seem to be good at recalling broad communication patterns</a:t>
            </a:r>
            <a:endParaRPr/>
          </a:p>
          <a:p>
            <a:pPr indent="-317500" lvl="2" marL="1371600" rtl="0" algn="l">
              <a:spcBef>
                <a:spcPts val="0"/>
              </a:spcBef>
              <a:spcAft>
                <a:spcPts val="0"/>
              </a:spcAft>
              <a:buSzPts val="1400"/>
              <a:buChar char="■"/>
            </a:pPr>
            <a:r>
              <a:rPr lang="en"/>
              <a:t>Who interacts frequently with whom</a:t>
            </a:r>
            <a:endParaRPr/>
          </a:p>
          <a:p>
            <a:pPr indent="-317500" lvl="2" marL="1371600" rtl="0" algn="l">
              <a:spcBef>
                <a:spcPts val="0"/>
              </a:spcBef>
              <a:spcAft>
                <a:spcPts val="0"/>
              </a:spcAft>
              <a:buSzPts val="1400"/>
              <a:buChar char="■"/>
            </a:pPr>
            <a:r>
              <a:rPr lang="en"/>
              <a:t>Who is somebody’s top contact</a:t>
            </a:r>
            <a:endParaRPr/>
          </a:p>
          <a:p>
            <a:pPr indent="-342900" lvl="0" marL="457200" marR="0" rtl="0" algn="l">
              <a:lnSpc>
                <a:spcPct val="115000"/>
              </a:lnSpc>
              <a:spcBef>
                <a:spcPts val="0"/>
              </a:spcBef>
              <a:spcAft>
                <a:spcPts val="0"/>
              </a:spcAft>
              <a:buClr>
                <a:schemeClr val="dk1"/>
              </a:buClr>
              <a:buSzPts val="1800"/>
              <a:buFont typeface="Open Sans"/>
              <a:buChar char="●"/>
            </a:pPr>
            <a:r>
              <a:rPr lang="en"/>
              <a:t>What are schemas?</a:t>
            </a:r>
            <a:endParaRPr/>
          </a:p>
          <a:p>
            <a:pPr indent="-317500" lvl="1" marL="914400" marR="0" rtl="0" algn="l">
              <a:lnSpc>
                <a:spcPct val="115000"/>
              </a:lnSpc>
              <a:spcBef>
                <a:spcPts val="0"/>
              </a:spcBef>
              <a:spcAft>
                <a:spcPts val="0"/>
              </a:spcAft>
              <a:buSzPts val="1400"/>
              <a:buChar char="○"/>
            </a:pPr>
            <a:r>
              <a:rPr lang="en"/>
              <a:t>[C]ognitive structures consisting of a fuzzy set of interrelated associations that influence individuals’ perceptions of the world around them” (Brands 2013: S88)</a:t>
            </a:r>
            <a:endParaRPr/>
          </a:p>
        </p:txBody>
      </p:sp>
    </p:spTree>
  </p:cSld>
  <p:clrMapOvr>
    <a:masterClrMapping/>
  </p:clrMapOvr>
</p:sld>
</file>

<file path=ppt/slides/slide4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5" name="Shape 9665"/>
        <p:cNvGrpSpPr/>
        <p:nvPr/>
      </p:nvGrpSpPr>
      <p:grpSpPr>
        <a:xfrm>
          <a:off x="0" y="0"/>
          <a:ext cx="0" cy="0"/>
          <a:chOff x="0" y="0"/>
          <a:chExt cx="0" cy="0"/>
        </a:xfrm>
      </p:grpSpPr>
      <p:sp>
        <p:nvSpPr>
          <p:cNvPr id="9666" name="Google Shape;9666;p4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Schema-based network recall</a:t>
            </a:r>
            <a:endParaRPr/>
          </a:p>
        </p:txBody>
      </p:sp>
      <p:sp>
        <p:nvSpPr>
          <p:cNvPr id="9667" name="Google Shape;9667;p45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balance schema:</a:t>
            </a:r>
            <a:endParaRPr/>
          </a:p>
          <a:p>
            <a:pPr indent="-317500" lvl="1" marL="914400" marR="0" rtl="0" algn="l">
              <a:lnSpc>
                <a:spcPct val="115000"/>
              </a:lnSpc>
              <a:spcBef>
                <a:spcPts val="0"/>
              </a:spcBef>
              <a:spcAft>
                <a:spcPts val="0"/>
              </a:spcAft>
              <a:buSzPts val="1400"/>
              <a:buChar char="○"/>
            </a:pPr>
            <a:r>
              <a:rPr lang="en"/>
              <a:t>Friends of friends are friends</a:t>
            </a:r>
            <a:endParaRPr/>
          </a:p>
          <a:p>
            <a:pPr indent="-317500" lvl="1" marL="914400" marR="0" rtl="0" algn="l">
              <a:lnSpc>
                <a:spcPct val="115000"/>
              </a:lnSpc>
              <a:spcBef>
                <a:spcPts val="0"/>
              </a:spcBef>
              <a:spcAft>
                <a:spcPts val="0"/>
              </a:spcAft>
              <a:buSzPts val="1400"/>
              <a:buChar char="○"/>
            </a:pPr>
            <a:r>
              <a:rPr lang="en"/>
              <a:t>Friends of enemies are enemies</a:t>
            </a:r>
            <a:endParaRPr/>
          </a:p>
          <a:p>
            <a:pPr indent="-342900" lvl="0" marL="457200" marR="0" rtl="0" algn="l">
              <a:lnSpc>
                <a:spcPct val="115000"/>
              </a:lnSpc>
              <a:spcBef>
                <a:spcPts val="0"/>
              </a:spcBef>
              <a:spcAft>
                <a:spcPts val="0"/>
              </a:spcAft>
              <a:buSzPts val="1800"/>
              <a:buChar char="●"/>
            </a:pPr>
            <a:r>
              <a:rPr lang="en"/>
              <a:t>People find it much easier to remember social structures that re</a:t>
            </a:r>
            <a:r>
              <a:rPr lang="en"/>
              <a:t>sp</a:t>
            </a:r>
            <a:r>
              <a:rPr lang="en"/>
              <a:t>ect the balance schema</a:t>
            </a:r>
            <a:endParaRPr/>
          </a:p>
          <a:p>
            <a:pPr indent="-342900" lvl="0" marL="457200" marR="0" rtl="0" algn="l">
              <a:lnSpc>
                <a:spcPct val="115000"/>
              </a:lnSpc>
              <a:spcBef>
                <a:spcPts val="0"/>
              </a:spcBef>
              <a:spcAft>
                <a:spcPts val="0"/>
              </a:spcAft>
              <a:buSzPts val="1800"/>
              <a:buChar char="●"/>
            </a:pPr>
            <a:r>
              <a:rPr lang="en"/>
              <a:t>People also tend to recall network as obeying the balance schema even if the original network violates the rules</a:t>
            </a:r>
            <a:endParaRPr/>
          </a:p>
          <a:p>
            <a:pPr indent="-317500" lvl="1" marL="914400" marR="0" rtl="0" algn="l">
              <a:lnSpc>
                <a:spcPct val="115000"/>
              </a:lnSpc>
              <a:spcBef>
                <a:spcPts val="0"/>
              </a:spcBef>
              <a:spcAft>
                <a:spcPts val="0"/>
              </a:spcAft>
              <a:buSzPts val="1400"/>
              <a:buChar char="○"/>
            </a:pPr>
            <a:r>
              <a:rPr lang="en"/>
              <a:t>They impose “balance” to social structures in their heads</a:t>
            </a:r>
            <a:endParaRPr/>
          </a:p>
        </p:txBody>
      </p:sp>
    </p:spTree>
  </p:cSld>
  <p:clrMapOvr>
    <a:masterClrMapping/>
  </p:clrMapOvr>
</p:sld>
</file>

<file path=ppt/slides/slide4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1" name="Shape 9671"/>
        <p:cNvGrpSpPr/>
        <p:nvPr/>
      </p:nvGrpSpPr>
      <p:grpSpPr>
        <a:xfrm>
          <a:off x="0" y="0"/>
          <a:ext cx="0" cy="0"/>
          <a:chOff x="0" y="0"/>
          <a:chExt cx="0" cy="0"/>
        </a:xfrm>
      </p:grpSpPr>
      <p:sp>
        <p:nvSpPr>
          <p:cNvPr id="9672" name="Google Shape;9672;p4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Schema-based network recall</a:t>
            </a:r>
            <a:endParaRPr/>
          </a:p>
        </p:txBody>
      </p:sp>
      <p:sp>
        <p:nvSpPr>
          <p:cNvPr id="9673" name="Google Shape;9673;p45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transitivity schema:</a:t>
            </a:r>
            <a:endParaRPr/>
          </a:p>
          <a:p>
            <a:pPr indent="-317500" lvl="1" marL="914400" marR="0" rtl="0" algn="l">
              <a:lnSpc>
                <a:spcPct val="115000"/>
              </a:lnSpc>
              <a:spcBef>
                <a:spcPts val="0"/>
              </a:spcBef>
              <a:spcAft>
                <a:spcPts val="0"/>
              </a:spcAft>
              <a:buSzPts val="1400"/>
              <a:buChar char="○"/>
            </a:pPr>
            <a:r>
              <a:rPr lang="en"/>
              <a:t>If a has a tie with b and a has a tie with c, b should have a tie with c</a:t>
            </a:r>
            <a:endParaRPr/>
          </a:p>
          <a:p>
            <a:pPr indent="-342900" lvl="0" marL="457200" marR="0" rtl="0" algn="l">
              <a:lnSpc>
                <a:spcPct val="115000"/>
              </a:lnSpc>
              <a:spcBef>
                <a:spcPts val="0"/>
              </a:spcBef>
              <a:spcAft>
                <a:spcPts val="0"/>
              </a:spcAft>
              <a:buSzPts val="1800"/>
              <a:buChar char="●"/>
            </a:pPr>
            <a:r>
              <a:rPr lang="en"/>
              <a:t>People find it much easier to remember social structures that re</a:t>
            </a:r>
            <a:r>
              <a:rPr lang="en"/>
              <a:t>sp</a:t>
            </a:r>
            <a:r>
              <a:rPr lang="en"/>
              <a:t>ect the transitivity shema</a:t>
            </a:r>
            <a:endParaRPr/>
          </a:p>
          <a:p>
            <a:pPr indent="-317500" lvl="1" marL="914400" marR="0" rtl="0" algn="l">
              <a:lnSpc>
                <a:spcPct val="115000"/>
              </a:lnSpc>
              <a:spcBef>
                <a:spcPts val="0"/>
              </a:spcBef>
              <a:spcAft>
                <a:spcPts val="0"/>
              </a:spcAft>
              <a:buSzPts val="1400"/>
              <a:buChar char="○"/>
            </a:pPr>
            <a:r>
              <a:rPr b="1" lang="en"/>
              <a:t>E</a:t>
            </a:r>
            <a:r>
              <a:rPr b="1" lang="en"/>
              <a:t>sp</a:t>
            </a:r>
            <a:r>
              <a:rPr b="1" lang="en"/>
              <a:t>ecially if these are hierarchical or dominance structures</a:t>
            </a:r>
            <a:endParaRPr b="1"/>
          </a:p>
          <a:p>
            <a:pPr indent="-317500" lvl="1" marL="914400" marR="0" rtl="0" algn="l">
              <a:lnSpc>
                <a:spcPct val="115000"/>
              </a:lnSpc>
              <a:spcBef>
                <a:spcPts val="0"/>
              </a:spcBef>
              <a:spcAft>
                <a:spcPts val="0"/>
              </a:spcAft>
              <a:buSzPts val="1400"/>
              <a:buChar char="○"/>
            </a:pPr>
            <a:r>
              <a:rPr lang="en"/>
              <a:t>People also tend to recall network as obeying the </a:t>
            </a:r>
            <a:r>
              <a:rPr lang="en"/>
              <a:t>transitivity</a:t>
            </a:r>
            <a:r>
              <a:rPr lang="en"/>
              <a:t> schema even if the original network violates the rules (e.g., has a lot of “open” triads)</a:t>
            </a:r>
            <a:endParaRPr/>
          </a:p>
          <a:p>
            <a:pPr indent="-317500" lvl="2" marL="1371600" marR="0" rtl="0" algn="l">
              <a:lnSpc>
                <a:spcPct val="115000"/>
              </a:lnSpc>
              <a:spcBef>
                <a:spcPts val="0"/>
              </a:spcBef>
              <a:spcAft>
                <a:spcPts val="0"/>
              </a:spcAft>
              <a:buSzPts val="1400"/>
              <a:buChar char="■"/>
            </a:pPr>
            <a:r>
              <a:rPr lang="en"/>
              <a:t>They impose “</a:t>
            </a:r>
            <a:r>
              <a:rPr lang="en"/>
              <a:t>transitivity</a:t>
            </a:r>
            <a:r>
              <a:rPr lang="en"/>
              <a:t>” to social structures in their heads</a:t>
            </a:r>
            <a:endParaRPr/>
          </a:p>
          <a:p>
            <a:pPr indent="-342900" lvl="0" marL="457200" marR="0" rtl="0" algn="l">
              <a:lnSpc>
                <a:spcPct val="115000"/>
              </a:lnSpc>
              <a:spcBef>
                <a:spcPts val="0"/>
              </a:spcBef>
              <a:spcAft>
                <a:spcPts val="0"/>
              </a:spcAft>
              <a:buSzPts val="1800"/>
              <a:buChar char="●"/>
            </a:pPr>
            <a:r>
              <a:rPr lang="en"/>
              <a:t>The same goes for the reciprocity schema</a:t>
            </a:r>
            <a:endParaRPr/>
          </a:p>
          <a:p>
            <a:pPr indent="-317500" lvl="1" marL="914400" marR="0" rtl="0" algn="l">
              <a:lnSpc>
                <a:spcPct val="115000"/>
              </a:lnSpc>
              <a:spcBef>
                <a:spcPts val="0"/>
              </a:spcBef>
              <a:spcAft>
                <a:spcPts val="0"/>
              </a:spcAft>
              <a:buSzPts val="1400"/>
              <a:buChar char="○"/>
            </a:pPr>
            <a:r>
              <a:rPr b="1" lang="en"/>
              <a:t>E</a:t>
            </a:r>
            <a:r>
              <a:rPr b="1" lang="en"/>
              <a:t>sp</a:t>
            </a:r>
            <a:r>
              <a:rPr b="1" lang="en"/>
              <a:t>ecially if the network is a friendship or positive sentiments network</a:t>
            </a:r>
            <a:endParaRPr b="1"/>
          </a:p>
          <a:p>
            <a:pPr indent="-317500" lvl="1" marL="914400" marR="0" rtl="0" algn="l">
              <a:lnSpc>
                <a:spcPct val="115000"/>
              </a:lnSpc>
              <a:spcBef>
                <a:spcPts val="0"/>
              </a:spcBef>
              <a:spcAft>
                <a:spcPts val="0"/>
              </a:spcAft>
              <a:buSzPts val="1400"/>
              <a:buChar char="○"/>
            </a:pPr>
            <a:r>
              <a:rPr lang="en"/>
              <a:t>The schema for friendship and liking is “reciprocal”</a:t>
            </a:r>
            <a:endParaRPr/>
          </a:p>
        </p:txBody>
      </p:sp>
    </p:spTree>
  </p:cSld>
  <p:clrMapOvr>
    <a:masterClrMapping/>
  </p:clrMapOvr>
</p:sld>
</file>

<file path=ppt/slides/slide4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7" name="Shape 9677"/>
        <p:cNvGrpSpPr/>
        <p:nvPr/>
      </p:nvGrpSpPr>
      <p:grpSpPr>
        <a:xfrm>
          <a:off x="0" y="0"/>
          <a:ext cx="0" cy="0"/>
          <a:chOff x="0" y="0"/>
          <a:chExt cx="0" cy="0"/>
        </a:xfrm>
      </p:grpSpPr>
      <p:sp>
        <p:nvSpPr>
          <p:cNvPr id="9678" name="Google Shape;9678;p4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sp>
        <p:nvSpPr>
          <p:cNvPr id="9679" name="Google Shape;9679;p45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are cognitive social structures?</a:t>
            </a:r>
            <a:endParaRPr/>
          </a:p>
          <a:p>
            <a:pPr indent="-317500" lvl="1" marL="914400" rtl="0" algn="l">
              <a:spcBef>
                <a:spcPts val="0"/>
              </a:spcBef>
              <a:spcAft>
                <a:spcPts val="0"/>
              </a:spcAft>
              <a:buSzPts val="1400"/>
              <a:buChar char="○"/>
            </a:pPr>
            <a:r>
              <a:rPr lang="en"/>
              <a:t>It is the network of connections between people (including yourself but also between others) as each person perceives it to be rather than as it “really” is</a:t>
            </a:r>
            <a:endParaRPr/>
          </a:p>
          <a:p>
            <a:pPr indent="-317500" lvl="1" marL="914400" rtl="0" algn="l">
              <a:spcBef>
                <a:spcPts val="0"/>
              </a:spcBef>
              <a:spcAft>
                <a:spcPts val="0"/>
              </a:spcAft>
              <a:buSzPts val="1400"/>
              <a:buChar char="○"/>
            </a:pPr>
            <a:r>
              <a:rPr lang="en"/>
              <a:t>We go from asking:</a:t>
            </a:r>
            <a:endParaRPr/>
          </a:p>
          <a:p>
            <a:pPr indent="-317500" lvl="2" marL="1371600" rtl="0" algn="l">
              <a:spcBef>
                <a:spcPts val="0"/>
              </a:spcBef>
              <a:spcAft>
                <a:spcPts val="0"/>
              </a:spcAft>
              <a:buClr>
                <a:srgbClr val="FF0000"/>
              </a:buClr>
              <a:buSzPts val="1400"/>
              <a:buChar char="■"/>
            </a:pPr>
            <a:r>
              <a:rPr i="1" lang="en">
                <a:solidFill>
                  <a:srgbClr val="FF0000"/>
                </a:solidFill>
              </a:rPr>
              <a:t>Is person i connected to person j?</a:t>
            </a:r>
            <a:endParaRPr i="1">
              <a:solidFill>
                <a:srgbClr val="FF0000"/>
              </a:solidFill>
            </a:endParaRPr>
          </a:p>
          <a:p>
            <a:pPr indent="-317500" lvl="1" marL="914400" rtl="0" algn="l">
              <a:spcBef>
                <a:spcPts val="0"/>
              </a:spcBef>
              <a:spcAft>
                <a:spcPts val="0"/>
              </a:spcAft>
              <a:buSzPts val="1400"/>
              <a:buChar char="○"/>
            </a:pPr>
            <a:r>
              <a:rPr lang="en"/>
              <a:t>To asking:</a:t>
            </a:r>
            <a:endParaRPr/>
          </a:p>
          <a:p>
            <a:pPr indent="-317500" lvl="2" marL="1371600" rtl="0" algn="l">
              <a:spcBef>
                <a:spcPts val="0"/>
              </a:spcBef>
              <a:spcAft>
                <a:spcPts val="0"/>
              </a:spcAft>
              <a:buClr>
                <a:srgbClr val="FF0000"/>
              </a:buClr>
              <a:buSzPts val="1400"/>
              <a:buChar char="■"/>
            </a:pPr>
            <a:r>
              <a:rPr i="1" lang="en">
                <a:solidFill>
                  <a:srgbClr val="FF0000"/>
                </a:solidFill>
              </a:rPr>
              <a:t>Does person k think that person i is connected to person j?</a:t>
            </a:r>
            <a:endParaRPr>
              <a:solidFill>
                <a:srgbClr val="FF0000"/>
              </a:solidFill>
            </a:endParaRPr>
          </a:p>
          <a:p>
            <a:pPr indent="-317500" lvl="1" marL="914400" rtl="0" algn="l">
              <a:spcBef>
                <a:spcPts val="0"/>
              </a:spcBef>
              <a:spcAft>
                <a:spcPts val="0"/>
              </a:spcAft>
              <a:buClr>
                <a:srgbClr val="000000"/>
              </a:buClr>
              <a:buSzPts val="1400"/>
              <a:buChar char="○"/>
            </a:pPr>
            <a:r>
              <a:rPr lang="en">
                <a:solidFill>
                  <a:srgbClr val="000000"/>
                </a:solidFill>
              </a:rPr>
              <a:t>This means that in a network of size N:</a:t>
            </a:r>
            <a:endParaRPr>
              <a:solidFill>
                <a:srgbClr val="000000"/>
              </a:solidFill>
            </a:endParaRPr>
          </a:p>
          <a:p>
            <a:pPr indent="-317500" lvl="2" marL="1371600" rtl="0" algn="l">
              <a:spcBef>
                <a:spcPts val="0"/>
              </a:spcBef>
              <a:spcAft>
                <a:spcPts val="0"/>
              </a:spcAft>
              <a:buClr>
                <a:srgbClr val="000000"/>
              </a:buClr>
              <a:buSzPts val="1400"/>
              <a:buChar char="■"/>
            </a:pPr>
            <a:r>
              <a:rPr lang="en">
                <a:solidFill>
                  <a:srgbClr val="000000"/>
                </a:solidFill>
              </a:rPr>
              <a:t>Each relationship in the network exists N times as recorded inside the head of each the people in the network!</a:t>
            </a:r>
            <a:endParaRPr>
              <a:solidFill>
                <a:srgbClr val="000000"/>
              </a:solidFill>
            </a:endParaRPr>
          </a:p>
          <a:p>
            <a:pPr indent="-317500" lvl="1" marL="914400" rtl="0" algn="l">
              <a:spcBef>
                <a:spcPts val="0"/>
              </a:spcBef>
              <a:spcAft>
                <a:spcPts val="0"/>
              </a:spcAft>
              <a:buClr>
                <a:srgbClr val="000000"/>
              </a:buClr>
              <a:buSzPts val="1400"/>
              <a:buChar char="○"/>
            </a:pPr>
            <a:r>
              <a:rPr lang="en">
                <a:solidFill>
                  <a:srgbClr val="000000"/>
                </a:solidFill>
              </a:rPr>
              <a:t>We go from a dyadic conception of relations (</a:t>
            </a:r>
            <a:r>
              <a:rPr b="1" lang="en">
                <a:solidFill>
                  <a:srgbClr val="000000"/>
                </a:solidFill>
              </a:rPr>
              <a:t>R</a:t>
            </a:r>
            <a:r>
              <a:rPr b="1" baseline="-25000" lang="en">
                <a:solidFill>
                  <a:srgbClr val="000000"/>
                </a:solidFill>
              </a:rPr>
              <a:t>ij</a:t>
            </a:r>
            <a:r>
              <a:rPr lang="en">
                <a:solidFill>
                  <a:srgbClr val="000000"/>
                </a:solidFill>
              </a:rPr>
              <a:t>) to a triadic one:</a:t>
            </a:r>
            <a:endParaRPr>
              <a:solidFill>
                <a:srgbClr val="000000"/>
              </a:solidFill>
            </a:endParaRPr>
          </a:p>
          <a:p>
            <a:pPr indent="-317500" lvl="2" marL="1371600" rtl="0" algn="l">
              <a:spcBef>
                <a:spcPts val="0"/>
              </a:spcBef>
              <a:spcAft>
                <a:spcPts val="0"/>
              </a:spcAft>
              <a:buClr>
                <a:srgbClr val="000000"/>
              </a:buClr>
              <a:buSzPts val="1400"/>
              <a:buChar char="■"/>
            </a:pPr>
            <a:r>
              <a:rPr b="1" lang="en">
                <a:solidFill>
                  <a:srgbClr val="000000"/>
                </a:solidFill>
              </a:rPr>
              <a:t>R</a:t>
            </a:r>
            <a:r>
              <a:rPr b="1" baseline="-25000" lang="en">
                <a:solidFill>
                  <a:srgbClr val="000000"/>
                </a:solidFill>
              </a:rPr>
              <a:t>ijk</a:t>
            </a:r>
            <a:r>
              <a:rPr lang="en">
                <a:solidFill>
                  <a:srgbClr val="000000"/>
                </a:solidFill>
              </a:rPr>
              <a:t> (person is connected to person j according to person k)</a:t>
            </a:r>
            <a:endParaRPr>
              <a:solidFill>
                <a:srgbClr val="000000"/>
              </a:solidFill>
            </a:endParaRPr>
          </a:p>
          <a:p>
            <a:pPr indent="0" lvl="0" marL="457200" rtl="0" algn="l">
              <a:spcBef>
                <a:spcPts val="0"/>
              </a:spcBef>
              <a:spcAft>
                <a:spcPts val="0"/>
              </a:spcAft>
              <a:buNone/>
            </a:pPr>
            <a:r>
              <a:t/>
            </a:r>
            <a:endParaRPr/>
          </a:p>
        </p:txBody>
      </p:sp>
    </p:spTree>
  </p:cSld>
  <p:clrMapOvr>
    <a:masterClrMapping/>
  </p:clrMapOvr>
</p:sld>
</file>

<file path=ppt/slides/slide4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3" name="Shape 9683"/>
        <p:cNvGrpSpPr/>
        <p:nvPr/>
      </p:nvGrpSpPr>
      <p:grpSpPr>
        <a:xfrm>
          <a:off x="0" y="0"/>
          <a:ext cx="0" cy="0"/>
          <a:chOff x="0" y="0"/>
          <a:chExt cx="0" cy="0"/>
        </a:xfrm>
      </p:grpSpPr>
      <p:sp>
        <p:nvSpPr>
          <p:cNvPr id="9684" name="Google Shape;9684;p4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 (CSS)</a:t>
            </a:r>
            <a:endParaRPr/>
          </a:p>
        </p:txBody>
      </p:sp>
      <p:sp>
        <p:nvSpPr>
          <p:cNvPr id="9685" name="Google Shape;9685;p45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
              <a:t>CSS </a:t>
            </a:r>
            <a:r>
              <a:rPr lang="en"/>
              <a:t>provides new ways of measuring social ties between two people</a:t>
            </a:r>
            <a:endParaRPr/>
          </a:p>
          <a:p>
            <a:pPr indent="-317500" lvl="1" marL="914400" rtl="0" algn="l">
              <a:spcBef>
                <a:spcPts val="0"/>
              </a:spcBef>
              <a:spcAft>
                <a:spcPts val="0"/>
              </a:spcAft>
              <a:buSzPts val="1400"/>
              <a:buChar char="○"/>
            </a:pPr>
            <a:r>
              <a:rPr lang="en"/>
              <a:t>Makes the standard approach (e.g., mutual nomination) a special case</a:t>
            </a:r>
            <a:endParaRPr/>
          </a:p>
          <a:p>
            <a:pPr indent="-342900" lvl="0" marL="457200" rtl="0" algn="l">
              <a:spcBef>
                <a:spcPts val="0"/>
              </a:spcBef>
              <a:spcAft>
                <a:spcPts val="0"/>
              </a:spcAft>
              <a:buSzPts val="1800"/>
              <a:buChar char="●"/>
            </a:pPr>
            <a:r>
              <a:rPr lang="en"/>
              <a:t>CSS modifies standard theories of networks as social capital </a:t>
            </a:r>
            <a:endParaRPr/>
          </a:p>
          <a:p>
            <a:pPr indent="-317500" lvl="1" marL="914400" rtl="0" algn="l">
              <a:spcBef>
                <a:spcPts val="0"/>
              </a:spcBef>
              <a:spcAft>
                <a:spcPts val="0"/>
              </a:spcAft>
              <a:buSzPts val="1400"/>
              <a:buChar char="○"/>
            </a:pPr>
            <a:r>
              <a:rPr lang="en"/>
              <a:t>Adds a perceptual component: </a:t>
            </a:r>
            <a:endParaRPr/>
          </a:p>
          <a:p>
            <a:pPr indent="-317500" lvl="2" marL="1371600" rtl="0" algn="l">
              <a:spcBef>
                <a:spcPts val="0"/>
              </a:spcBef>
              <a:spcAft>
                <a:spcPts val="0"/>
              </a:spcAft>
              <a:buSzPts val="1400"/>
              <a:buChar char="■"/>
            </a:pPr>
            <a:r>
              <a:rPr b="1" lang="en"/>
              <a:t>Connections can help but only if you see them!</a:t>
            </a:r>
            <a:endParaRPr b="1"/>
          </a:p>
          <a:p>
            <a:pPr indent="-342900" lvl="0" marL="457200" rtl="0" algn="l">
              <a:spcBef>
                <a:spcPts val="0"/>
              </a:spcBef>
              <a:spcAft>
                <a:spcPts val="0"/>
              </a:spcAft>
              <a:buSzPts val="1800"/>
              <a:buChar char="●"/>
            </a:pPr>
            <a:r>
              <a:rPr lang="en"/>
              <a:t>CSS focuses on three main questions:</a:t>
            </a:r>
            <a:endParaRPr/>
          </a:p>
          <a:p>
            <a:pPr indent="-317500" lvl="1" marL="914400" rtl="0" algn="l">
              <a:spcBef>
                <a:spcPts val="0"/>
              </a:spcBef>
              <a:spcAft>
                <a:spcPts val="0"/>
              </a:spcAft>
              <a:buSzPts val="1400"/>
              <a:buChar char="○"/>
            </a:pPr>
            <a:r>
              <a:rPr lang="en"/>
              <a:t>Is there a link between people’s network position (e.g., centrality) and the way the perceive the network?</a:t>
            </a:r>
            <a:endParaRPr/>
          </a:p>
          <a:p>
            <a:pPr indent="-317500" lvl="1" marL="914400" rtl="0" algn="l">
              <a:spcBef>
                <a:spcPts val="0"/>
              </a:spcBef>
              <a:spcAft>
                <a:spcPts val="0"/>
              </a:spcAft>
              <a:buSzPts val="1400"/>
              <a:buChar char="○"/>
            </a:pPr>
            <a:r>
              <a:rPr lang="en"/>
              <a:t>Is there a link between how people perceive the network they are in and how successful they are?</a:t>
            </a:r>
            <a:endParaRPr/>
          </a:p>
          <a:p>
            <a:pPr indent="-317500" lvl="1" marL="914400" rtl="0" algn="l">
              <a:spcBef>
                <a:spcPts val="0"/>
              </a:spcBef>
              <a:spcAft>
                <a:spcPts val="0"/>
              </a:spcAft>
              <a:buSzPts val="1400"/>
              <a:buChar char="○"/>
            </a:pPr>
            <a:r>
              <a:rPr lang="en"/>
              <a:t>Are there patterned similarities and differences between the way different people perceive the network?</a:t>
            </a:r>
            <a:endParaRPr/>
          </a:p>
          <a:p>
            <a:pPr indent="0" lvl="0" marL="457200" rtl="0" algn="l">
              <a:spcBef>
                <a:spcPts val="0"/>
              </a:spcBef>
              <a:spcAft>
                <a:spcPts val="0"/>
              </a:spcAft>
              <a:buNone/>
            </a:pPr>
            <a:r>
              <a:t/>
            </a:r>
            <a:endParaRPr/>
          </a:p>
        </p:txBody>
      </p:sp>
    </p:spTree>
  </p:cSld>
  <p:clrMapOvr>
    <a:masterClrMapping/>
  </p:clrMapOvr>
</p:sld>
</file>

<file path=ppt/slides/slide4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9" name="Shape 9689"/>
        <p:cNvGrpSpPr/>
        <p:nvPr/>
      </p:nvGrpSpPr>
      <p:grpSpPr>
        <a:xfrm>
          <a:off x="0" y="0"/>
          <a:ext cx="0" cy="0"/>
          <a:chOff x="0" y="0"/>
          <a:chExt cx="0" cy="0"/>
        </a:xfrm>
      </p:grpSpPr>
      <p:sp>
        <p:nvSpPr>
          <p:cNvPr id="9690" name="Google Shape;9690;p4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 (CSS)</a:t>
            </a:r>
            <a:endParaRPr/>
          </a:p>
        </p:txBody>
      </p:sp>
      <p:sp>
        <p:nvSpPr>
          <p:cNvPr id="9691" name="Google Shape;9691;p45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CSS Roster Method</a:t>
            </a:r>
            <a:endParaRPr/>
          </a:p>
          <a:p>
            <a:pPr indent="-342900" lvl="1" marL="914400" marR="0" rtl="0" algn="l">
              <a:lnSpc>
                <a:spcPct val="115000"/>
              </a:lnSpc>
              <a:spcBef>
                <a:spcPts val="0"/>
              </a:spcBef>
              <a:spcAft>
                <a:spcPts val="0"/>
              </a:spcAft>
              <a:buClr>
                <a:schemeClr val="dk1"/>
              </a:buClr>
              <a:buSzPts val="1800"/>
              <a:buFont typeface="Open Sans"/>
              <a:buChar char="○"/>
            </a:pPr>
            <a:r>
              <a:rPr lang="en"/>
              <a:t>Each person (i) is asked not just about their relations to other persons (j)</a:t>
            </a:r>
            <a:endParaRPr/>
          </a:p>
          <a:p>
            <a:pPr indent="-317500" lvl="1" marL="914400" rtl="0" algn="l">
              <a:spcBef>
                <a:spcPts val="0"/>
              </a:spcBef>
              <a:spcAft>
                <a:spcPts val="0"/>
              </a:spcAft>
              <a:buSzPts val="1400"/>
              <a:buChar char="○"/>
            </a:pPr>
            <a:r>
              <a:rPr lang="en"/>
              <a:t>But also about their </a:t>
            </a:r>
            <a:r>
              <a:rPr b="1" lang="en"/>
              <a:t>perception</a:t>
            </a:r>
            <a:r>
              <a:rPr lang="en"/>
              <a:t> of the existence of relations between each other pair of people in the system</a:t>
            </a:r>
            <a:endParaRPr/>
          </a:p>
          <a:p>
            <a:pPr indent="-317500" lvl="2" marL="1371600" rtl="0" algn="l">
              <a:spcBef>
                <a:spcPts val="0"/>
              </a:spcBef>
              <a:spcAft>
                <a:spcPts val="0"/>
              </a:spcAft>
              <a:buSzPts val="1400"/>
              <a:buChar char="■"/>
            </a:pPr>
            <a:r>
              <a:rPr b="1" lang="en"/>
              <a:t>R</a:t>
            </a:r>
            <a:r>
              <a:rPr b="1" baseline="-25000" lang="en"/>
              <a:t>ijk</a:t>
            </a:r>
            <a:r>
              <a:rPr b="1" lang="en"/>
              <a:t> </a:t>
            </a:r>
            <a:r>
              <a:rPr lang="en"/>
              <a:t>= 1 if person i thinks that there is a link of type </a:t>
            </a:r>
            <a:r>
              <a:rPr b="1" lang="en"/>
              <a:t>R </a:t>
            </a:r>
            <a:r>
              <a:rPr lang="en"/>
              <a:t>between j and k</a:t>
            </a:r>
            <a:endParaRPr/>
          </a:p>
          <a:p>
            <a:pPr indent="-317500" lvl="2" marL="1371600" rtl="0" algn="l">
              <a:spcBef>
                <a:spcPts val="0"/>
              </a:spcBef>
              <a:spcAft>
                <a:spcPts val="0"/>
              </a:spcAft>
              <a:buSzPts val="1400"/>
              <a:buChar char="■"/>
            </a:pPr>
            <a:r>
              <a:rPr b="1" lang="en"/>
              <a:t>R</a:t>
            </a:r>
            <a:r>
              <a:rPr b="1" baseline="-25000" lang="en"/>
              <a:t>ijk</a:t>
            </a:r>
            <a:r>
              <a:rPr b="1" lang="en"/>
              <a:t> </a:t>
            </a:r>
            <a:r>
              <a:rPr lang="en"/>
              <a:t>= 0 otherwise</a:t>
            </a:r>
            <a:endParaRPr/>
          </a:p>
          <a:p>
            <a:pPr indent="-317500" lvl="1" marL="914400" rtl="0" algn="l">
              <a:spcBef>
                <a:spcPts val="0"/>
              </a:spcBef>
              <a:spcAft>
                <a:spcPts val="0"/>
              </a:spcAft>
              <a:buSzPts val="1400"/>
              <a:buChar char="○"/>
            </a:pPr>
            <a:r>
              <a:rPr lang="en"/>
              <a:t>This yields </a:t>
            </a:r>
            <a:r>
              <a:rPr b="1" lang="en"/>
              <a:t>N</a:t>
            </a:r>
            <a:r>
              <a:rPr lang="en"/>
              <a:t> x </a:t>
            </a:r>
            <a:r>
              <a:rPr b="1" lang="en"/>
              <a:t>R</a:t>
            </a:r>
            <a:r>
              <a:rPr lang="en"/>
              <a:t> adjacency matrices of perceived relations </a:t>
            </a:r>
            <a:r>
              <a:rPr lang="en"/>
              <a:t>between</a:t>
            </a:r>
            <a:r>
              <a:rPr lang="en"/>
              <a:t> all people</a:t>
            </a:r>
            <a:endParaRPr/>
          </a:p>
          <a:p>
            <a:pPr indent="-317500" lvl="2" marL="1371600" rtl="0" algn="l">
              <a:spcBef>
                <a:spcPts val="0"/>
              </a:spcBef>
              <a:spcAft>
                <a:spcPts val="0"/>
              </a:spcAft>
              <a:buSzPts val="1400"/>
              <a:buChar char="■"/>
            </a:pPr>
            <a:r>
              <a:rPr lang="en"/>
              <a:t>One for each informant and each type of relation</a:t>
            </a:r>
            <a:endParaRPr/>
          </a:p>
          <a:p>
            <a:pPr indent="-317500" lvl="1" marL="914400" rtl="0" algn="l">
              <a:spcBef>
                <a:spcPts val="0"/>
              </a:spcBef>
              <a:spcAft>
                <a:spcPts val="0"/>
              </a:spcAft>
              <a:buSzPts val="1400"/>
              <a:buChar char="○"/>
            </a:pPr>
            <a:r>
              <a:rPr lang="en"/>
              <a:t>So if we are studying 20 people and ask them about two relations </a:t>
            </a:r>
            <a:r>
              <a:rPr lang="en"/>
              <a:t>(e.g., friendship, advice) we end up with:</a:t>
            </a:r>
            <a:endParaRPr/>
          </a:p>
          <a:p>
            <a:pPr indent="-317500" lvl="2" marL="1371600" rtl="0" algn="l">
              <a:spcBef>
                <a:spcPts val="0"/>
              </a:spcBef>
              <a:spcAft>
                <a:spcPts val="0"/>
              </a:spcAft>
              <a:buSzPts val="1400"/>
              <a:buChar char="■"/>
            </a:pPr>
            <a:r>
              <a:rPr lang="en"/>
              <a:t>20 X 2 = 40 adjacency matrices!</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Tree>
  </p:cSld>
  <p:clrMapOvr>
    <a:masterClrMapping/>
  </p:clrMapOvr>
</p:sld>
</file>

<file path=ppt/slides/slide4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5" name="Shape 9695"/>
        <p:cNvGrpSpPr/>
        <p:nvPr/>
      </p:nvGrpSpPr>
      <p:grpSpPr>
        <a:xfrm>
          <a:off x="0" y="0"/>
          <a:ext cx="0" cy="0"/>
          <a:chOff x="0" y="0"/>
          <a:chExt cx="0" cy="0"/>
        </a:xfrm>
      </p:grpSpPr>
      <p:sp>
        <p:nvSpPr>
          <p:cNvPr id="9696" name="Google Shape;9696;p4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pic>
        <p:nvPicPr>
          <p:cNvPr id="9697" name="Google Shape;9697;p455"/>
          <p:cNvPicPr preferRelativeResize="0"/>
          <p:nvPr/>
        </p:nvPicPr>
        <p:blipFill>
          <a:blip r:embed="rId3">
            <a:alphaModFix/>
          </a:blip>
          <a:stretch>
            <a:fillRect/>
          </a:stretch>
        </p:blipFill>
        <p:spPr>
          <a:xfrm>
            <a:off x="5583075" y="1147225"/>
            <a:ext cx="3249220" cy="3691474"/>
          </a:xfrm>
          <a:prstGeom prst="rect">
            <a:avLst/>
          </a:prstGeom>
          <a:noFill/>
          <a:ln>
            <a:noFill/>
          </a:ln>
        </p:spPr>
      </p:pic>
      <p:grpSp>
        <p:nvGrpSpPr>
          <p:cNvPr id="9698" name="Google Shape;9698;p455"/>
          <p:cNvGrpSpPr/>
          <p:nvPr/>
        </p:nvGrpSpPr>
        <p:grpSpPr>
          <a:xfrm>
            <a:off x="311700" y="1352175"/>
            <a:ext cx="4067400" cy="3281570"/>
            <a:chOff x="311700" y="1352175"/>
            <a:chExt cx="4067400" cy="3281570"/>
          </a:xfrm>
        </p:grpSpPr>
        <p:pic>
          <p:nvPicPr>
            <p:cNvPr id="9699" name="Google Shape;9699;p455"/>
            <p:cNvPicPr preferRelativeResize="0"/>
            <p:nvPr/>
          </p:nvPicPr>
          <p:blipFill>
            <a:blip r:embed="rId4">
              <a:alphaModFix/>
            </a:blip>
            <a:stretch>
              <a:fillRect/>
            </a:stretch>
          </p:blipFill>
          <p:spPr>
            <a:xfrm>
              <a:off x="311700" y="1352175"/>
              <a:ext cx="4067400" cy="3281570"/>
            </a:xfrm>
            <a:prstGeom prst="rect">
              <a:avLst/>
            </a:prstGeom>
            <a:noFill/>
            <a:ln>
              <a:noFill/>
            </a:ln>
          </p:spPr>
        </p:pic>
        <p:sp>
          <p:nvSpPr>
            <p:cNvPr id="9700" name="Google Shape;9700;p455"/>
            <p:cNvSpPr txBox="1"/>
            <p:nvPr/>
          </p:nvSpPr>
          <p:spPr>
            <a:xfrm>
              <a:off x="432750" y="1511875"/>
              <a:ext cx="389700" cy="358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grpSp>
    </p:spTree>
  </p:cSld>
  <p:clrMapOvr>
    <a:masterClrMapping/>
  </p:clrMapOvr>
</p:sld>
</file>

<file path=ppt/slides/slide4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4" name="Shape 9704"/>
        <p:cNvGrpSpPr/>
        <p:nvPr/>
      </p:nvGrpSpPr>
      <p:grpSpPr>
        <a:xfrm>
          <a:off x="0" y="0"/>
          <a:ext cx="0" cy="0"/>
          <a:chOff x="0" y="0"/>
          <a:chExt cx="0" cy="0"/>
        </a:xfrm>
      </p:grpSpPr>
      <p:sp>
        <p:nvSpPr>
          <p:cNvPr id="9705" name="Google Shape;9705;p4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grpSp>
        <p:nvGrpSpPr>
          <p:cNvPr id="9706" name="Google Shape;9706;p456"/>
          <p:cNvGrpSpPr/>
          <p:nvPr/>
        </p:nvGrpSpPr>
        <p:grpSpPr>
          <a:xfrm>
            <a:off x="311700" y="1352175"/>
            <a:ext cx="4067400" cy="3281570"/>
            <a:chOff x="311700" y="1352175"/>
            <a:chExt cx="4067400" cy="3281570"/>
          </a:xfrm>
        </p:grpSpPr>
        <p:pic>
          <p:nvPicPr>
            <p:cNvPr id="9707" name="Google Shape;9707;p456"/>
            <p:cNvPicPr preferRelativeResize="0"/>
            <p:nvPr/>
          </p:nvPicPr>
          <p:blipFill>
            <a:blip r:embed="rId3">
              <a:alphaModFix/>
            </a:blip>
            <a:stretch>
              <a:fillRect/>
            </a:stretch>
          </p:blipFill>
          <p:spPr>
            <a:xfrm>
              <a:off x="311700" y="1352175"/>
              <a:ext cx="4067400" cy="3281570"/>
            </a:xfrm>
            <a:prstGeom prst="rect">
              <a:avLst/>
            </a:prstGeom>
            <a:noFill/>
            <a:ln>
              <a:noFill/>
            </a:ln>
          </p:spPr>
        </p:pic>
        <p:sp>
          <p:nvSpPr>
            <p:cNvPr id="9708" name="Google Shape;9708;p456"/>
            <p:cNvSpPr txBox="1"/>
            <p:nvPr/>
          </p:nvSpPr>
          <p:spPr>
            <a:xfrm>
              <a:off x="432750" y="1511875"/>
              <a:ext cx="389700" cy="358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grpSp>
      <p:grpSp>
        <p:nvGrpSpPr>
          <p:cNvPr id="9709" name="Google Shape;9709;p456"/>
          <p:cNvGrpSpPr/>
          <p:nvPr/>
        </p:nvGrpSpPr>
        <p:grpSpPr>
          <a:xfrm>
            <a:off x="4771800" y="1186225"/>
            <a:ext cx="3662917" cy="3432000"/>
            <a:chOff x="4771800" y="1186225"/>
            <a:chExt cx="3662917" cy="3432000"/>
          </a:xfrm>
        </p:grpSpPr>
        <p:pic>
          <p:nvPicPr>
            <p:cNvPr id="9710" name="Google Shape;9710;p456"/>
            <p:cNvPicPr preferRelativeResize="0"/>
            <p:nvPr/>
          </p:nvPicPr>
          <p:blipFill>
            <a:blip r:embed="rId4">
              <a:alphaModFix/>
            </a:blip>
            <a:stretch>
              <a:fillRect/>
            </a:stretch>
          </p:blipFill>
          <p:spPr>
            <a:xfrm>
              <a:off x="4771800" y="1186225"/>
              <a:ext cx="3662917" cy="3432000"/>
            </a:xfrm>
            <a:prstGeom prst="rect">
              <a:avLst/>
            </a:prstGeom>
            <a:noFill/>
            <a:ln>
              <a:noFill/>
            </a:ln>
          </p:spPr>
        </p:pic>
        <p:sp>
          <p:nvSpPr>
            <p:cNvPr id="9711" name="Google Shape;9711;p456"/>
            <p:cNvSpPr txBox="1"/>
            <p:nvPr/>
          </p:nvSpPr>
          <p:spPr>
            <a:xfrm>
              <a:off x="4771800" y="1248175"/>
              <a:ext cx="389700" cy="358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grpSp>
    </p:spTree>
  </p:cSld>
  <p:clrMapOvr>
    <a:masterClrMapping/>
  </p:clrMapOvr>
</p:sld>
</file>

<file path=ppt/slides/slide4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5" name="Shape 9715"/>
        <p:cNvGrpSpPr/>
        <p:nvPr/>
      </p:nvGrpSpPr>
      <p:grpSpPr>
        <a:xfrm>
          <a:off x="0" y="0"/>
          <a:ext cx="0" cy="0"/>
          <a:chOff x="0" y="0"/>
          <a:chExt cx="0" cy="0"/>
        </a:xfrm>
      </p:grpSpPr>
      <p:sp>
        <p:nvSpPr>
          <p:cNvPr id="9716" name="Google Shape;9716;p4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 (CSS)</a:t>
            </a:r>
            <a:endParaRPr/>
          </a:p>
        </p:txBody>
      </p:sp>
      <p:sp>
        <p:nvSpPr>
          <p:cNvPr id="9717" name="Google Shape;9717;p45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ways of using the information contained in these matrices:</a:t>
            </a:r>
            <a:endParaRPr/>
          </a:p>
          <a:p>
            <a:pPr indent="-317500" lvl="1" marL="914400" rtl="0" algn="l">
              <a:spcBef>
                <a:spcPts val="0"/>
              </a:spcBef>
              <a:spcAft>
                <a:spcPts val="0"/>
              </a:spcAft>
              <a:buClr>
                <a:srgbClr val="FF0000"/>
              </a:buClr>
              <a:buSzPts val="1400"/>
              <a:buChar char="○"/>
            </a:pPr>
            <a:r>
              <a:rPr i="1" lang="en">
                <a:solidFill>
                  <a:srgbClr val="FF0000"/>
                </a:solidFill>
              </a:rPr>
              <a:t>Slices</a:t>
            </a:r>
            <a:endParaRPr i="1">
              <a:solidFill>
                <a:srgbClr val="FF0000"/>
              </a:solidFill>
            </a:endParaRPr>
          </a:p>
          <a:p>
            <a:pPr indent="-317500" lvl="1" marL="914400" rtl="0" algn="l">
              <a:spcBef>
                <a:spcPts val="0"/>
              </a:spcBef>
              <a:spcAft>
                <a:spcPts val="0"/>
              </a:spcAft>
              <a:buClr>
                <a:srgbClr val="FF0000"/>
              </a:buClr>
              <a:buSzPts val="1400"/>
              <a:buChar char="○"/>
            </a:pPr>
            <a:r>
              <a:rPr i="1" lang="en">
                <a:solidFill>
                  <a:srgbClr val="FF0000"/>
                </a:solidFill>
              </a:rPr>
              <a:t>Locally aggregated structures </a:t>
            </a:r>
            <a:endParaRPr i="1">
              <a:solidFill>
                <a:srgbClr val="FF0000"/>
              </a:solidFill>
            </a:endParaRPr>
          </a:p>
          <a:p>
            <a:pPr indent="-317500" lvl="1" marL="914400" rtl="0" algn="l">
              <a:spcBef>
                <a:spcPts val="0"/>
              </a:spcBef>
              <a:spcAft>
                <a:spcPts val="0"/>
              </a:spcAft>
              <a:buClr>
                <a:srgbClr val="FF0000"/>
              </a:buClr>
              <a:buSzPts val="1400"/>
              <a:buChar char="○"/>
            </a:pPr>
            <a:r>
              <a:rPr i="1" lang="en">
                <a:solidFill>
                  <a:srgbClr val="FF0000"/>
                </a:solidFill>
              </a:rPr>
              <a:t>Consensus structures</a:t>
            </a:r>
            <a:endParaRPr i="1">
              <a:solidFill>
                <a:srgbClr val="FF0000"/>
              </a:solidFill>
            </a:endParaRPr>
          </a:p>
          <a:p>
            <a:pPr indent="-342900" lvl="0" marL="457200" rtl="0" algn="l">
              <a:spcBef>
                <a:spcPts val="0"/>
              </a:spcBef>
              <a:spcAft>
                <a:spcPts val="0"/>
              </a:spcAft>
              <a:buSzPts val="1800"/>
              <a:buChar char="●"/>
            </a:pPr>
            <a:r>
              <a:rPr lang="en"/>
              <a:t>Slices</a:t>
            </a:r>
            <a:endParaRPr/>
          </a:p>
          <a:p>
            <a:pPr indent="-317500" lvl="1" marL="914400" rtl="0" algn="l">
              <a:spcBef>
                <a:spcPts val="0"/>
              </a:spcBef>
              <a:spcAft>
                <a:spcPts val="0"/>
              </a:spcAft>
              <a:buSzPts val="1400"/>
              <a:buChar char="○"/>
            </a:pPr>
            <a:r>
              <a:rPr lang="en"/>
              <a:t>The network as perceived by a given individual (k)</a:t>
            </a:r>
            <a:endParaRPr/>
          </a:p>
          <a:p>
            <a:pPr indent="-317500" lvl="2" marL="1371600" rtl="0" algn="l">
              <a:spcBef>
                <a:spcPts val="0"/>
              </a:spcBef>
              <a:spcAft>
                <a:spcPts val="0"/>
              </a:spcAft>
              <a:buSzPts val="1400"/>
              <a:buChar char="■"/>
            </a:pPr>
            <a:r>
              <a:rPr lang="en"/>
              <a:t>The k</a:t>
            </a:r>
            <a:r>
              <a:rPr baseline="30000" lang="en"/>
              <a:t>th</a:t>
            </a:r>
            <a:r>
              <a:rPr lang="en"/>
              <a:t> </a:t>
            </a:r>
            <a:r>
              <a:rPr lang="en"/>
              <a:t>adjacency</a:t>
            </a:r>
            <a:r>
              <a:rPr lang="en"/>
              <a:t> matrix</a:t>
            </a:r>
            <a:endParaRPr/>
          </a:p>
          <a:p>
            <a:pPr indent="-342900" lvl="0" marL="457200" rtl="0" algn="l">
              <a:spcBef>
                <a:spcPts val="0"/>
              </a:spcBef>
              <a:spcAft>
                <a:spcPts val="0"/>
              </a:spcAft>
              <a:buSzPts val="1800"/>
              <a:buChar char="●"/>
            </a:pPr>
            <a:r>
              <a:rPr lang="en"/>
              <a:t>Locally aggregated structure:</a:t>
            </a:r>
            <a:endParaRPr/>
          </a:p>
          <a:p>
            <a:pPr indent="-317500" lvl="1" marL="914400" rtl="0" algn="l">
              <a:spcBef>
                <a:spcPts val="0"/>
              </a:spcBef>
              <a:spcAft>
                <a:spcPts val="0"/>
              </a:spcAft>
              <a:buSzPts val="1400"/>
              <a:buChar char="○"/>
            </a:pPr>
            <a:r>
              <a:rPr lang="en"/>
              <a:t>i and j have a tie only if the </a:t>
            </a:r>
            <a:r>
              <a:rPr b="1" lang="en"/>
              <a:t>both agree</a:t>
            </a:r>
            <a:r>
              <a:rPr lang="en"/>
              <a:t> that there is a tie from i to j</a:t>
            </a:r>
            <a:endParaRPr/>
          </a:p>
          <a:p>
            <a:pPr indent="-342900" lvl="0" marL="457200" rtl="0" algn="l">
              <a:spcBef>
                <a:spcPts val="0"/>
              </a:spcBef>
              <a:spcAft>
                <a:spcPts val="0"/>
              </a:spcAft>
              <a:buSzPts val="1800"/>
              <a:buChar char="●"/>
            </a:pPr>
            <a:r>
              <a:rPr lang="en"/>
              <a:t>Consensus Structure:</a:t>
            </a:r>
            <a:endParaRPr/>
          </a:p>
          <a:p>
            <a:pPr indent="-317500" lvl="1" marL="914400" rtl="0" algn="l">
              <a:spcBef>
                <a:spcPts val="0"/>
              </a:spcBef>
              <a:spcAft>
                <a:spcPts val="0"/>
              </a:spcAft>
              <a:buSzPts val="1400"/>
              <a:buChar char="○"/>
            </a:pPr>
            <a:r>
              <a:rPr lang="en"/>
              <a:t>i and j have a tie only if </a:t>
            </a:r>
            <a:r>
              <a:rPr b="1" lang="en"/>
              <a:t>some proportion </a:t>
            </a:r>
            <a:r>
              <a:rPr lang="en"/>
              <a:t>of other people (e.g, &gt; 50%) agree that there is a tie from i to j</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914400" rtl="0" algn="l">
              <a:spcBef>
                <a:spcPts val="0"/>
              </a:spcBef>
              <a:spcAft>
                <a:spcPts val="0"/>
              </a:spcAft>
              <a:buNone/>
            </a:pPr>
            <a:r>
              <a:t/>
            </a:r>
            <a:endParaRPr/>
          </a:p>
        </p:txBody>
      </p:sp>
    </p:spTree>
  </p:cSld>
  <p:clrMapOvr>
    <a:masterClrMapping/>
  </p:clrMapOvr>
</p:sld>
</file>

<file path=ppt/slides/slide4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1" name="Shape 9721"/>
        <p:cNvGrpSpPr/>
        <p:nvPr/>
      </p:nvGrpSpPr>
      <p:grpSpPr>
        <a:xfrm>
          <a:off x="0" y="0"/>
          <a:ext cx="0" cy="0"/>
          <a:chOff x="0" y="0"/>
          <a:chExt cx="0" cy="0"/>
        </a:xfrm>
      </p:grpSpPr>
      <p:sp>
        <p:nvSpPr>
          <p:cNvPr id="9722" name="Google Shape;9722;p4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 (CSS)</a:t>
            </a:r>
            <a:endParaRPr/>
          </a:p>
        </p:txBody>
      </p:sp>
      <p:sp>
        <p:nvSpPr>
          <p:cNvPr id="9723" name="Google Shape;9723;p45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ways of using the information contained in these matrices:</a:t>
            </a:r>
            <a:endParaRPr/>
          </a:p>
          <a:p>
            <a:pPr indent="-317500" lvl="1" marL="914400" rtl="0" algn="l">
              <a:spcBef>
                <a:spcPts val="0"/>
              </a:spcBef>
              <a:spcAft>
                <a:spcPts val="0"/>
              </a:spcAft>
              <a:buClr>
                <a:srgbClr val="FF0000"/>
              </a:buClr>
              <a:buSzPts val="1400"/>
              <a:buChar char="○"/>
            </a:pPr>
            <a:r>
              <a:rPr i="1" lang="en">
                <a:solidFill>
                  <a:srgbClr val="FF0000"/>
                </a:solidFill>
              </a:rPr>
              <a:t>Slices</a:t>
            </a:r>
            <a:endParaRPr i="1">
              <a:solidFill>
                <a:srgbClr val="FF0000"/>
              </a:solidFill>
            </a:endParaRPr>
          </a:p>
          <a:p>
            <a:pPr indent="-317500" lvl="1" marL="914400" rtl="0" algn="l">
              <a:spcBef>
                <a:spcPts val="0"/>
              </a:spcBef>
              <a:spcAft>
                <a:spcPts val="0"/>
              </a:spcAft>
              <a:buClr>
                <a:srgbClr val="FF0000"/>
              </a:buClr>
              <a:buSzPts val="1400"/>
              <a:buChar char="○"/>
            </a:pPr>
            <a:r>
              <a:rPr i="1" lang="en">
                <a:solidFill>
                  <a:srgbClr val="FF0000"/>
                </a:solidFill>
              </a:rPr>
              <a:t>Locally aggregated structures </a:t>
            </a:r>
            <a:endParaRPr i="1">
              <a:solidFill>
                <a:srgbClr val="FF0000"/>
              </a:solidFill>
            </a:endParaRPr>
          </a:p>
          <a:p>
            <a:pPr indent="-317500" lvl="1" marL="914400" rtl="0" algn="l">
              <a:spcBef>
                <a:spcPts val="0"/>
              </a:spcBef>
              <a:spcAft>
                <a:spcPts val="0"/>
              </a:spcAft>
              <a:buClr>
                <a:srgbClr val="FF0000"/>
              </a:buClr>
              <a:buSzPts val="1400"/>
              <a:buChar char="○"/>
            </a:pPr>
            <a:r>
              <a:rPr i="1" lang="en">
                <a:solidFill>
                  <a:srgbClr val="FF0000"/>
                </a:solidFill>
              </a:rPr>
              <a:t>Consensus structures</a:t>
            </a:r>
            <a:endParaRPr/>
          </a:p>
          <a:p>
            <a:pPr indent="-342900" lvl="0" marL="457200" rtl="0" algn="l">
              <a:spcBef>
                <a:spcPts val="0"/>
              </a:spcBef>
              <a:spcAft>
                <a:spcPts val="0"/>
              </a:spcAft>
              <a:buSzPts val="1800"/>
              <a:buChar char="●"/>
            </a:pPr>
            <a:r>
              <a:rPr lang="en"/>
              <a:t>Cognitive Accuracy:</a:t>
            </a:r>
            <a:endParaRPr/>
          </a:p>
          <a:p>
            <a:pPr indent="-317500" lvl="1" marL="914400" rtl="0" algn="l">
              <a:spcBef>
                <a:spcPts val="0"/>
              </a:spcBef>
              <a:spcAft>
                <a:spcPts val="0"/>
              </a:spcAft>
              <a:buSzPts val="1400"/>
              <a:buChar char="○"/>
            </a:pPr>
            <a:r>
              <a:rPr lang="en"/>
              <a:t>Correlation between the network as perceived by k and either a locally aggregated or a consensus structure</a:t>
            </a:r>
            <a:endParaRPr/>
          </a:p>
          <a:p>
            <a:pPr indent="-317500" lvl="2" marL="1371600" rtl="0" algn="l">
              <a:spcBef>
                <a:spcPts val="0"/>
              </a:spcBef>
              <a:spcAft>
                <a:spcPts val="0"/>
              </a:spcAft>
              <a:buSzPts val="1400"/>
              <a:buChar char="■"/>
            </a:pPr>
            <a:r>
              <a:rPr lang="en"/>
              <a:t>+1 = Person has perfect representation of the network</a:t>
            </a:r>
            <a:endParaRPr/>
          </a:p>
          <a:p>
            <a:pPr indent="-317500" lvl="2" marL="1371600" rtl="0" algn="l">
              <a:spcBef>
                <a:spcPts val="0"/>
              </a:spcBef>
              <a:spcAft>
                <a:spcPts val="0"/>
              </a:spcAft>
              <a:buSzPts val="1400"/>
              <a:buChar char="■"/>
            </a:pPr>
            <a:r>
              <a:rPr lang="en"/>
              <a:t>-1 = Person’s representation is the opposite of reality</a:t>
            </a:r>
            <a:endParaRPr/>
          </a:p>
          <a:p>
            <a:pPr indent="-317500" lvl="2" marL="1371600" rtl="0" algn="l">
              <a:spcBef>
                <a:spcPts val="0"/>
              </a:spcBef>
              <a:spcAft>
                <a:spcPts val="0"/>
              </a:spcAft>
              <a:buSzPts val="1400"/>
              <a:buChar char="■"/>
            </a:pPr>
            <a:r>
              <a:rPr lang="en"/>
              <a:t>0 = No correlation between person perception and the network</a:t>
            </a:r>
            <a:endParaRPr/>
          </a:p>
          <a:p>
            <a:pPr indent="0" lvl="0" marL="457200" rtl="0" algn="l">
              <a:spcBef>
                <a:spcPts val="0"/>
              </a:spcBef>
              <a:spcAft>
                <a:spcPts val="0"/>
              </a:spcAft>
              <a:buNone/>
            </a:pPr>
            <a:r>
              <a:t/>
            </a:r>
            <a:endParaRPr/>
          </a:p>
        </p:txBody>
      </p:sp>
    </p:spTree>
  </p:cSld>
  <p:clrMapOvr>
    <a:masterClrMapping/>
  </p:clrMapOvr>
</p:sld>
</file>

<file path=ppt/slides/slide4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7" name="Shape 9727"/>
        <p:cNvGrpSpPr/>
        <p:nvPr/>
      </p:nvGrpSpPr>
      <p:grpSpPr>
        <a:xfrm>
          <a:off x="0" y="0"/>
          <a:ext cx="0" cy="0"/>
          <a:chOff x="0" y="0"/>
          <a:chExt cx="0" cy="0"/>
        </a:xfrm>
      </p:grpSpPr>
      <p:sp>
        <p:nvSpPr>
          <p:cNvPr id="9728" name="Google Shape;9728;p4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 (CSS)</a:t>
            </a:r>
            <a:endParaRPr/>
          </a:p>
        </p:txBody>
      </p:sp>
      <p:sp>
        <p:nvSpPr>
          <p:cNvPr id="9729" name="Google Shape;9729;p45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ways of using the information contained in these matrices:</a:t>
            </a:r>
            <a:endParaRPr/>
          </a:p>
          <a:p>
            <a:pPr indent="-317500" lvl="1" marL="914400" rtl="0" algn="l">
              <a:spcBef>
                <a:spcPts val="0"/>
              </a:spcBef>
              <a:spcAft>
                <a:spcPts val="0"/>
              </a:spcAft>
              <a:buClr>
                <a:srgbClr val="FF0000"/>
              </a:buClr>
              <a:buSzPts val="1400"/>
              <a:buChar char="○"/>
            </a:pPr>
            <a:r>
              <a:rPr i="1" lang="en">
                <a:solidFill>
                  <a:srgbClr val="FF0000"/>
                </a:solidFill>
              </a:rPr>
              <a:t>Slices</a:t>
            </a:r>
            <a:endParaRPr i="1">
              <a:solidFill>
                <a:srgbClr val="FF0000"/>
              </a:solidFill>
            </a:endParaRPr>
          </a:p>
          <a:p>
            <a:pPr indent="-317500" lvl="1" marL="914400" rtl="0" algn="l">
              <a:spcBef>
                <a:spcPts val="0"/>
              </a:spcBef>
              <a:spcAft>
                <a:spcPts val="0"/>
              </a:spcAft>
              <a:buClr>
                <a:srgbClr val="FF0000"/>
              </a:buClr>
              <a:buSzPts val="1400"/>
              <a:buChar char="○"/>
            </a:pPr>
            <a:r>
              <a:rPr i="1" lang="en">
                <a:solidFill>
                  <a:srgbClr val="FF0000"/>
                </a:solidFill>
              </a:rPr>
              <a:t>Locally aggregated structures </a:t>
            </a:r>
            <a:endParaRPr i="1">
              <a:solidFill>
                <a:srgbClr val="FF0000"/>
              </a:solidFill>
            </a:endParaRPr>
          </a:p>
          <a:p>
            <a:pPr indent="-317500" lvl="1" marL="914400" rtl="0" algn="l">
              <a:spcBef>
                <a:spcPts val="0"/>
              </a:spcBef>
              <a:spcAft>
                <a:spcPts val="0"/>
              </a:spcAft>
              <a:buClr>
                <a:srgbClr val="FF0000"/>
              </a:buClr>
              <a:buSzPts val="1400"/>
              <a:buChar char="○"/>
            </a:pPr>
            <a:r>
              <a:rPr i="1" lang="en">
                <a:solidFill>
                  <a:srgbClr val="FF0000"/>
                </a:solidFill>
              </a:rPr>
              <a:t>Consensus structures</a:t>
            </a:r>
            <a:endParaRPr/>
          </a:p>
          <a:p>
            <a:pPr indent="-342900" lvl="0" marL="457200" rtl="0" algn="l">
              <a:spcBef>
                <a:spcPts val="0"/>
              </a:spcBef>
              <a:spcAft>
                <a:spcPts val="0"/>
              </a:spcAft>
              <a:buSzPts val="1800"/>
              <a:buChar char="●"/>
            </a:pPr>
            <a:r>
              <a:rPr lang="en"/>
              <a:t>Dyadic cognitive Accuracy:</a:t>
            </a:r>
            <a:endParaRPr/>
          </a:p>
          <a:p>
            <a:pPr indent="-317500" lvl="1" marL="914400" rtl="0" algn="l">
              <a:spcBef>
                <a:spcPts val="0"/>
              </a:spcBef>
              <a:spcAft>
                <a:spcPts val="0"/>
              </a:spcAft>
              <a:buSzPts val="1400"/>
              <a:buChar char="○"/>
            </a:pPr>
            <a:r>
              <a:rPr lang="en"/>
              <a:t>Correlation between the network as perceived by k and the part of either a locally aggregated or a consensus structure featuring ties originating in a given sender (i)</a:t>
            </a:r>
            <a:endParaRPr/>
          </a:p>
          <a:p>
            <a:pPr indent="-317500" lvl="1" marL="914400" rtl="0" algn="l">
              <a:spcBef>
                <a:spcPts val="0"/>
              </a:spcBef>
              <a:spcAft>
                <a:spcPts val="0"/>
              </a:spcAft>
              <a:buSzPts val="1400"/>
              <a:buChar char="○"/>
            </a:pPr>
            <a:r>
              <a:rPr lang="en"/>
              <a:t>Tells us how good you are at perceiving ties originating from a given person</a:t>
            </a:r>
            <a:endParaRPr/>
          </a:p>
          <a:p>
            <a:pPr indent="0" lvl="0" marL="457200" rtl="0" algn="l">
              <a:spcBef>
                <a:spcPts val="0"/>
              </a:spcBef>
              <a:spcAft>
                <a:spcPts val="0"/>
              </a:spcAft>
              <a:buNone/>
            </a:pPr>
            <a:r>
              <a:t/>
            </a:r>
            <a:endParaRPr/>
          </a:p>
        </p:txBody>
      </p:sp>
    </p:spTree>
  </p:cSld>
  <p:clrMapOvr>
    <a:masterClrMapping/>
  </p:clrMapOvr>
</p:sld>
</file>

<file path=ppt/slides/slide4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3" name="Shape 9733"/>
        <p:cNvGrpSpPr/>
        <p:nvPr/>
      </p:nvGrpSpPr>
      <p:grpSpPr>
        <a:xfrm>
          <a:off x="0" y="0"/>
          <a:ext cx="0" cy="0"/>
          <a:chOff x="0" y="0"/>
          <a:chExt cx="0" cy="0"/>
        </a:xfrm>
      </p:grpSpPr>
      <p:sp>
        <p:nvSpPr>
          <p:cNvPr id="9734" name="Google Shape;9734;p4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sp>
        <p:nvSpPr>
          <p:cNvPr id="9735" name="Google Shape;9735;p46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Who has the most “veridical” view of the social network?</a:t>
            </a:r>
            <a:endParaRPr/>
          </a:p>
          <a:p>
            <a:pPr indent="-317500" lvl="1" marL="914400" rtl="0" algn="l">
              <a:spcBef>
                <a:spcPts val="0"/>
              </a:spcBef>
              <a:spcAft>
                <a:spcPts val="0"/>
              </a:spcAft>
              <a:buSzPts val="1400"/>
              <a:buChar char="○"/>
            </a:pPr>
            <a:r>
              <a:rPr lang="en"/>
              <a:t>Key questions:</a:t>
            </a:r>
            <a:endParaRPr/>
          </a:p>
          <a:p>
            <a:pPr indent="-317500" lvl="2" marL="1371600" rtl="0" algn="l">
              <a:spcBef>
                <a:spcPts val="0"/>
              </a:spcBef>
              <a:spcAft>
                <a:spcPts val="0"/>
              </a:spcAft>
              <a:buSzPts val="1400"/>
              <a:buChar char="■"/>
            </a:pPr>
            <a:r>
              <a:rPr lang="en"/>
              <a:t>Are people in</a:t>
            </a:r>
            <a:r>
              <a:rPr b="1" lang="en"/>
              <a:t> powerful positions</a:t>
            </a:r>
            <a:r>
              <a:rPr lang="en"/>
              <a:t> more or less likely to have accurate representations of the social structure?</a:t>
            </a:r>
            <a:endParaRPr/>
          </a:p>
          <a:p>
            <a:pPr indent="-317500" lvl="2" marL="1371600" rtl="0" algn="l">
              <a:spcBef>
                <a:spcPts val="0"/>
              </a:spcBef>
              <a:spcAft>
                <a:spcPts val="0"/>
              </a:spcAft>
              <a:buSzPts val="1400"/>
              <a:buChar char="■"/>
            </a:pPr>
            <a:r>
              <a:rPr lang="en"/>
              <a:t>Are people in certain </a:t>
            </a:r>
            <a:r>
              <a:rPr b="1" lang="en"/>
              <a:t>network positions </a:t>
            </a:r>
            <a:r>
              <a:rPr lang="en"/>
              <a:t>(e.g., central) more likely to have accurate representations of the social structure?</a:t>
            </a:r>
            <a:endParaRPr/>
          </a:p>
          <a:p>
            <a:pPr indent="-317500" lvl="3" marL="1828800" rtl="0" algn="l">
              <a:spcBef>
                <a:spcPts val="0"/>
              </a:spcBef>
              <a:spcAft>
                <a:spcPts val="0"/>
              </a:spcAft>
              <a:buSzPts val="1400"/>
              <a:buChar char="●"/>
            </a:pPr>
            <a:r>
              <a:rPr lang="en"/>
              <a:t>Does this depend on the type of network?</a:t>
            </a:r>
            <a:endParaRPr/>
          </a:p>
          <a:p>
            <a:pPr indent="-317500" lvl="4" marL="2286000" rtl="0" algn="l">
              <a:spcBef>
                <a:spcPts val="0"/>
              </a:spcBef>
              <a:spcAft>
                <a:spcPts val="0"/>
              </a:spcAft>
              <a:buSzPts val="1400"/>
              <a:buChar char="○"/>
            </a:pPr>
            <a:r>
              <a:rPr lang="en"/>
              <a:t>E.g., friendship, advice, etc. </a:t>
            </a:r>
            <a:endParaRPr/>
          </a:p>
          <a:p>
            <a:pPr indent="-317500" lvl="2" marL="1371600" rtl="0" algn="l">
              <a:spcBef>
                <a:spcPts val="0"/>
              </a:spcBef>
              <a:spcAft>
                <a:spcPts val="0"/>
              </a:spcAft>
              <a:buSzPts val="1400"/>
              <a:buChar char="■"/>
            </a:pPr>
            <a:r>
              <a:rPr lang="en"/>
              <a:t>Are people with certain </a:t>
            </a:r>
            <a:r>
              <a:rPr b="1" lang="en"/>
              <a:t>personality characteristics </a:t>
            </a:r>
            <a:r>
              <a:rPr lang="en"/>
              <a:t>more likely to have an accurate representation of the social structure?</a:t>
            </a:r>
            <a:endParaRPr/>
          </a:p>
          <a:p>
            <a:pPr indent="0" lvl="0" marL="0" marR="0" rtl="0" algn="l">
              <a:lnSpc>
                <a:spcPct val="115000"/>
              </a:lnSpc>
              <a:spcBef>
                <a:spcPts val="0"/>
              </a:spcBef>
              <a:spcAft>
                <a:spcPts val="1600"/>
              </a:spcAft>
              <a:buNone/>
            </a:pPr>
            <a:r>
              <a:t/>
            </a:r>
            <a:endParaRPr i="1"/>
          </a:p>
        </p:txBody>
      </p:sp>
    </p:spTree>
  </p:cSld>
  <p:clrMapOvr>
    <a:masterClrMapping/>
  </p:clrMapOvr>
</p:sld>
</file>

<file path=ppt/slides/slide4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9" name="Shape 9739"/>
        <p:cNvGrpSpPr/>
        <p:nvPr/>
      </p:nvGrpSpPr>
      <p:grpSpPr>
        <a:xfrm>
          <a:off x="0" y="0"/>
          <a:ext cx="0" cy="0"/>
          <a:chOff x="0" y="0"/>
          <a:chExt cx="0" cy="0"/>
        </a:xfrm>
      </p:grpSpPr>
      <p:sp>
        <p:nvSpPr>
          <p:cNvPr id="9740" name="Google Shape;9740;p4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sp>
        <p:nvSpPr>
          <p:cNvPr id="9741" name="Google Shape;9741;p46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Are people in</a:t>
            </a:r>
            <a:r>
              <a:rPr b="1" lang="en"/>
              <a:t> powerful positions</a:t>
            </a:r>
            <a:r>
              <a:rPr lang="en"/>
              <a:t> more or less likely to have accurate representations of the social structure?</a:t>
            </a:r>
            <a:endParaRPr/>
          </a:p>
          <a:p>
            <a:pPr indent="-317500" lvl="1" marL="914400" marR="0" rtl="0" algn="l">
              <a:lnSpc>
                <a:spcPct val="115000"/>
              </a:lnSpc>
              <a:spcBef>
                <a:spcPts val="0"/>
              </a:spcBef>
              <a:spcAft>
                <a:spcPts val="0"/>
              </a:spcAft>
              <a:buSzPts val="1400"/>
              <a:buChar char="○"/>
            </a:pPr>
            <a:r>
              <a:rPr lang="en"/>
              <a:t>Surprisingly, no!</a:t>
            </a:r>
            <a:endParaRPr/>
          </a:p>
          <a:p>
            <a:pPr indent="-317500" lvl="2" marL="1371600" marR="0" rtl="0" algn="l">
              <a:lnSpc>
                <a:spcPct val="115000"/>
              </a:lnSpc>
              <a:spcBef>
                <a:spcPts val="0"/>
              </a:spcBef>
              <a:spcAft>
                <a:spcPts val="0"/>
              </a:spcAft>
              <a:buSzPts val="1400"/>
              <a:buChar char="■"/>
            </a:pPr>
            <a:r>
              <a:rPr lang="en"/>
              <a:t>Organizational rank and formal position in organizations tends to have either no correlation or even be negatively correlated with accuracy</a:t>
            </a:r>
            <a:endParaRPr/>
          </a:p>
          <a:p>
            <a:pPr indent="-317500" lvl="1" marL="914400" marR="0" rtl="0" algn="l">
              <a:lnSpc>
                <a:spcPct val="115000"/>
              </a:lnSpc>
              <a:spcBef>
                <a:spcPts val="0"/>
              </a:spcBef>
              <a:spcAft>
                <a:spcPts val="0"/>
              </a:spcAft>
              <a:buSzPts val="1400"/>
              <a:buChar char="○"/>
            </a:pPr>
            <a:r>
              <a:rPr lang="en"/>
              <a:t>Why do you think this is?</a:t>
            </a:r>
            <a:endParaRPr/>
          </a:p>
        </p:txBody>
      </p:sp>
    </p:spTree>
  </p:cSld>
  <p:clrMapOvr>
    <a:masterClrMapping/>
  </p:clrMapOvr>
</p:sld>
</file>

<file path=ppt/slides/slide4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5" name="Shape 9745"/>
        <p:cNvGrpSpPr/>
        <p:nvPr/>
      </p:nvGrpSpPr>
      <p:grpSpPr>
        <a:xfrm>
          <a:off x="0" y="0"/>
          <a:ext cx="0" cy="0"/>
          <a:chOff x="0" y="0"/>
          <a:chExt cx="0" cy="0"/>
        </a:xfrm>
      </p:grpSpPr>
      <p:sp>
        <p:nvSpPr>
          <p:cNvPr id="9746" name="Google Shape;9746;p4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sp>
        <p:nvSpPr>
          <p:cNvPr id="9747" name="Google Shape;9747;p46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Are people in</a:t>
            </a:r>
            <a:r>
              <a:rPr b="1" lang="en"/>
              <a:t> powerful positions</a:t>
            </a:r>
            <a:r>
              <a:rPr lang="en"/>
              <a:t> more or less likely to have accurate representations of the social structure?</a:t>
            </a:r>
            <a:endParaRPr/>
          </a:p>
          <a:p>
            <a:pPr indent="-317500" lvl="1" marL="914400" marR="0" rtl="0" algn="l">
              <a:lnSpc>
                <a:spcPct val="115000"/>
              </a:lnSpc>
              <a:spcBef>
                <a:spcPts val="0"/>
              </a:spcBef>
              <a:spcAft>
                <a:spcPts val="0"/>
              </a:spcAft>
              <a:buSzPts val="1400"/>
              <a:buChar char="○"/>
            </a:pPr>
            <a:r>
              <a:rPr lang="en"/>
              <a:t>Surprisingly, no!</a:t>
            </a:r>
            <a:endParaRPr/>
          </a:p>
          <a:p>
            <a:pPr indent="-317500" lvl="2" marL="1371600" marR="0" rtl="0" algn="l">
              <a:lnSpc>
                <a:spcPct val="115000"/>
              </a:lnSpc>
              <a:spcBef>
                <a:spcPts val="0"/>
              </a:spcBef>
              <a:spcAft>
                <a:spcPts val="0"/>
              </a:spcAft>
              <a:buSzPts val="1400"/>
              <a:buChar char="■"/>
            </a:pPr>
            <a:r>
              <a:rPr lang="en"/>
              <a:t>Organizational rank and formal position in organizations tends to have either no correlation or even be negatively correlated with accuracy</a:t>
            </a:r>
            <a:endParaRPr/>
          </a:p>
          <a:p>
            <a:pPr indent="-317500" lvl="1" marL="914400" marR="0" rtl="0" algn="l">
              <a:lnSpc>
                <a:spcPct val="115000"/>
              </a:lnSpc>
              <a:spcBef>
                <a:spcPts val="0"/>
              </a:spcBef>
              <a:spcAft>
                <a:spcPts val="0"/>
              </a:spcAft>
              <a:buSzPts val="1400"/>
              <a:buChar char="○"/>
            </a:pPr>
            <a:r>
              <a:rPr lang="en"/>
              <a:t>Why do you think this is?</a:t>
            </a:r>
            <a:endParaRPr/>
          </a:p>
          <a:p>
            <a:pPr indent="-317500" lvl="2" marL="1371600" marR="0" rtl="0" algn="l">
              <a:lnSpc>
                <a:spcPct val="115000"/>
              </a:lnSpc>
              <a:spcBef>
                <a:spcPts val="0"/>
              </a:spcBef>
              <a:spcAft>
                <a:spcPts val="0"/>
              </a:spcAft>
              <a:buSzPts val="1400"/>
              <a:buChar char="■"/>
            </a:pPr>
            <a:r>
              <a:rPr lang="en"/>
              <a:t>Those in formal power are removed from the everyday informal interactions of others</a:t>
            </a:r>
            <a:endParaRPr/>
          </a:p>
          <a:p>
            <a:pPr indent="-317500" lvl="2" marL="1371600" marR="0" rtl="0" algn="l">
              <a:lnSpc>
                <a:spcPct val="115000"/>
              </a:lnSpc>
              <a:spcBef>
                <a:spcPts val="0"/>
              </a:spcBef>
              <a:spcAft>
                <a:spcPts val="0"/>
              </a:spcAft>
              <a:buSzPts val="1400"/>
              <a:buChar char="■"/>
            </a:pPr>
            <a:r>
              <a:rPr i="1" lang="en"/>
              <a:t>However, when managers do have accurate representations of the social networks of their subordinates they are rated as better and more effective</a:t>
            </a:r>
            <a:endParaRPr i="1"/>
          </a:p>
        </p:txBody>
      </p:sp>
    </p:spTree>
  </p:cSld>
  <p:clrMapOvr>
    <a:masterClrMapping/>
  </p:clrMapOvr>
</p:sld>
</file>

<file path=ppt/slides/slide4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1" name="Shape 9751"/>
        <p:cNvGrpSpPr/>
        <p:nvPr/>
      </p:nvGrpSpPr>
      <p:grpSpPr>
        <a:xfrm>
          <a:off x="0" y="0"/>
          <a:ext cx="0" cy="0"/>
          <a:chOff x="0" y="0"/>
          <a:chExt cx="0" cy="0"/>
        </a:xfrm>
      </p:grpSpPr>
      <p:sp>
        <p:nvSpPr>
          <p:cNvPr id="9752" name="Google Shape;9752;p4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sp>
        <p:nvSpPr>
          <p:cNvPr id="9753" name="Google Shape;9753;p46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Are people in certain </a:t>
            </a:r>
            <a:r>
              <a:rPr b="1" lang="en"/>
              <a:t>network positions</a:t>
            </a:r>
            <a:r>
              <a:rPr lang="en"/>
              <a:t> (e.g., central) more likely to have accurate representations of the social structure?</a:t>
            </a:r>
            <a:endParaRPr/>
          </a:p>
          <a:p>
            <a:pPr indent="-317500" lvl="1" marL="914400" rtl="0" algn="l">
              <a:spcBef>
                <a:spcPts val="0"/>
              </a:spcBef>
              <a:spcAft>
                <a:spcPts val="0"/>
              </a:spcAft>
              <a:buSzPts val="1400"/>
              <a:buChar char="○"/>
            </a:pPr>
            <a:r>
              <a:rPr lang="en"/>
              <a:t>In general, yes!</a:t>
            </a:r>
            <a:endParaRPr/>
          </a:p>
          <a:p>
            <a:pPr indent="-317500" lvl="1" marL="914400" rtl="0" algn="l">
              <a:spcBef>
                <a:spcPts val="0"/>
              </a:spcBef>
              <a:spcAft>
                <a:spcPts val="0"/>
              </a:spcAft>
              <a:buSzPts val="1400"/>
              <a:buChar char="○"/>
            </a:pPr>
            <a:r>
              <a:rPr lang="en"/>
              <a:t>Centrality,</a:t>
            </a:r>
            <a:r>
              <a:rPr b="1" lang="en"/>
              <a:t> in particular in-degree centrality,</a:t>
            </a:r>
            <a:r>
              <a:rPr lang="en"/>
              <a:t> has been shown to be positively correlated with accuracy in the informal advice and friendship networks in organizations</a:t>
            </a:r>
            <a:endParaRPr/>
          </a:p>
          <a:p>
            <a:pPr indent="-342900" lvl="0" marL="457200" rtl="0" algn="l">
              <a:spcBef>
                <a:spcPts val="0"/>
              </a:spcBef>
              <a:spcAft>
                <a:spcPts val="0"/>
              </a:spcAft>
              <a:buSzPts val="1800"/>
              <a:buChar char="●"/>
            </a:pPr>
            <a:r>
              <a:rPr lang="en"/>
              <a:t>Predictors of dyadic accuracy:</a:t>
            </a:r>
            <a:endParaRPr/>
          </a:p>
          <a:p>
            <a:pPr indent="-317500" lvl="1" marL="914400" rtl="0" algn="l">
              <a:spcBef>
                <a:spcPts val="0"/>
              </a:spcBef>
              <a:spcAft>
                <a:spcPts val="0"/>
              </a:spcAft>
              <a:buSzPts val="1400"/>
              <a:buChar char="○"/>
            </a:pPr>
            <a:r>
              <a:rPr lang="en"/>
              <a:t>Central people are more accurate at reporting ties originating from other central people!</a:t>
            </a:r>
            <a:endParaRPr/>
          </a:p>
          <a:p>
            <a:pPr indent="-317500" lvl="1" marL="914400" rtl="0" algn="l">
              <a:spcBef>
                <a:spcPts val="0"/>
              </a:spcBef>
              <a:spcAft>
                <a:spcPts val="0"/>
              </a:spcAft>
              <a:buSzPts val="1400"/>
              <a:buChar char="○"/>
            </a:pPr>
            <a:r>
              <a:rPr lang="en"/>
              <a:t>You are more accurate in reporting ties originating from people you are “close to” (in the graph theoretic sense)</a:t>
            </a:r>
            <a:endParaRPr/>
          </a:p>
        </p:txBody>
      </p:sp>
    </p:spTree>
  </p:cSld>
  <p:clrMapOvr>
    <a:masterClrMapping/>
  </p:clrMapOvr>
</p:sld>
</file>

<file path=ppt/slides/slide4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7" name="Shape 9757"/>
        <p:cNvGrpSpPr/>
        <p:nvPr/>
      </p:nvGrpSpPr>
      <p:grpSpPr>
        <a:xfrm>
          <a:off x="0" y="0"/>
          <a:ext cx="0" cy="0"/>
          <a:chOff x="0" y="0"/>
          <a:chExt cx="0" cy="0"/>
        </a:xfrm>
      </p:grpSpPr>
      <p:sp>
        <p:nvSpPr>
          <p:cNvPr id="9758" name="Google Shape;9758;p46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sp>
        <p:nvSpPr>
          <p:cNvPr id="9759" name="Google Shape;9759;p46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Are people in certain </a:t>
            </a:r>
            <a:r>
              <a:rPr b="1" lang="en"/>
              <a:t>network positions</a:t>
            </a:r>
            <a:r>
              <a:rPr lang="en"/>
              <a:t> (e.g., central) more likely to have accurate representations of the social structure?</a:t>
            </a:r>
            <a:endParaRPr/>
          </a:p>
          <a:p>
            <a:pPr indent="-317500" lvl="1" marL="914400" rtl="0" algn="l">
              <a:spcBef>
                <a:spcPts val="0"/>
              </a:spcBef>
              <a:spcAft>
                <a:spcPts val="0"/>
              </a:spcAft>
              <a:buSzPts val="1400"/>
              <a:buChar char="○"/>
            </a:pPr>
            <a:r>
              <a:rPr lang="en"/>
              <a:t>In general, yes!</a:t>
            </a:r>
            <a:endParaRPr/>
          </a:p>
          <a:p>
            <a:pPr indent="-317500" lvl="1" marL="914400" rtl="0" algn="l">
              <a:spcBef>
                <a:spcPts val="0"/>
              </a:spcBef>
              <a:spcAft>
                <a:spcPts val="0"/>
              </a:spcAft>
              <a:buSzPts val="1400"/>
              <a:buChar char="○"/>
            </a:pPr>
            <a:r>
              <a:rPr lang="en"/>
              <a:t>Centrality,</a:t>
            </a:r>
            <a:r>
              <a:rPr b="1" lang="en"/>
              <a:t> in particular in-degree centrality,</a:t>
            </a:r>
            <a:r>
              <a:rPr lang="en"/>
              <a:t> has been shown to be positively correlated with accuracy in the informal advice and friendship networks in organizations</a:t>
            </a:r>
            <a:endParaRPr/>
          </a:p>
          <a:p>
            <a:pPr indent="-342900" lvl="0" marL="457200" rtl="0" algn="l">
              <a:spcBef>
                <a:spcPts val="0"/>
              </a:spcBef>
              <a:spcAft>
                <a:spcPts val="0"/>
              </a:spcAft>
              <a:buSzPts val="1800"/>
              <a:buChar char="●"/>
            </a:pPr>
            <a:r>
              <a:rPr lang="en"/>
              <a:t>Predictors of dyadic accuracy</a:t>
            </a:r>
            <a:endParaRPr/>
          </a:p>
          <a:p>
            <a:pPr indent="-342900" lvl="0" marL="457200" rtl="0" algn="l">
              <a:spcBef>
                <a:spcPts val="0"/>
              </a:spcBef>
              <a:spcAft>
                <a:spcPts val="0"/>
              </a:spcAft>
              <a:buSzPts val="1800"/>
              <a:buChar char="●"/>
            </a:pPr>
            <a:r>
              <a:rPr lang="en"/>
              <a:t>Consequences of accuracy:</a:t>
            </a:r>
            <a:endParaRPr/>
          </a:p>
          <a:p>
            <a:pPr indent="-317500" lvl="1" marL="914400" rtl="0" algn="l">
              <a:spcBef>
                <a:spcPts val="0"/>
              </a:spcBef>
              <a:spcAft>
                <a:spcPts val="0"/>
              </a:spcAft>
              <a:buSzPts val="1400"/>
              <a:buChar char="○"/>
            </a:pPr>
            <a:r>
              <a:rPr b="1" lang="en"/>
              <a:t>The accuracy principle:</a:t>
            </a:r>
            <a:endParaRPr b="1"/>
          </a:p>
          <a:p>
            <a:pPr indent="-317500" lvl="2" marL="1371600" rtl="0" algn="l">
              <a:spcBef>
                <a:spcPts val="0"/>
              </a:spcBef>
              <a:spcAft>
                <a:spcPts val="0"/>
              </a:spcAft>
              <a:buSzPts val="1400"/>
              <a:buChar char="■"/>
            </a:pPr>
            <a:r>
              <a:rPr i="1" lang="en"/>
              <a:t>People who have more accurate network perceptions are perceived as more powerful and influential than people who have inaccurate perceptions</a:t>
            </a:r>
            <a:endParaRPr/>
          </a:p>
        </p:txBody>
      </p:sp>
    </p:spTree>
  </p:cSld>
  <p:clrMapOvr>
    <a:masterClrMapping/>
  </p:clrMapOvr>
</p:sld>
</file>

<file path=ppt/slides/slide4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3" name="Shape 9763"/>
        <p:cNvGrpSpPr/>
        <p:nvPr/>
      </p:nvGrpSpPr>
      <p:grpSpPr>
        <a:xfrm>
          <a:off x="0" y="0"/>
          <a:ext cx="0" cy="0"/>
          <a:chOff x="0" y="0"/>
          <a:chExt cx="0" cy="0"/>
        </a:xfrm>
      </p:grpSpPr>
      <p:sp>
        <p:nvSpPr>
          <p:cNvPr id="9764" name="Google Shape;9764;p46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Cognitive Social Structures</a:t>
            </a:r>
            <a:endParaRPr/>
          </a:p>
        </p:txBody>
      </p:sp>
      <p:sp>
        <p:nvSpPr>
          <p:cNvPr id="9765" name="Google Shape;9765;p46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Who has the most “veridical” view of the social network?</a:t>
            </a:r>
            <a:endParaRPr/>
          </a:p>
          <a:p>
            <a:pPr indent="-317500" lvl="1" marL="914400" rtl="0" algn="l">
              <a:spcBef>
                <a:spcPts val="0"/>
              </a:spcBef>
              <a:spcAft>
                <a:spcPts val="0"/>
              </a:spcAft>
              <a:buSzPts val="1400"/>
              <a:buChar char="○"/>
            </a:pPr>
            <a:r>
              <a:rPr lang="en"/>
              <a:t>Sources of accuracy:</a:t>
            </a:r>
            <a:endParaRPr/>
          </a:p>
          <a:p>
            <a:pPr indent="-317500" lvl="2" marL="1371600" rtl="0" algn="l">
              <a:spcBef>
                <a:spcPts val="0"/>
              </a:spcBef>
              <a:spcAft>
                <a:spcPts val="0"/>
              </a:spcAft>
              <a:buSzPts val="1400"/>
              <a:buChar char="■"/>
            </a:pPr>
            <a:r>
              <a:rPr b="1" lang="en"/>
              <a:t>The centrality principle:</a:t>
            </a:r>
            <a:endParaRPr b="1"/>
          </a:p>
          <a:p>
            <a:pPr indent="-317500" lvl="3" marL="1828800" rtl="0" algn="l">
              <a:spcBef>
                <a:spcPts val="0"/>
              </a:spcBef>
              <a:spcAft>
                <a:spcPts val="0"/>
              </a:spcAft>
              <a:buSzPts val="1400"/>
              <a:buChar char="●"/>
            </a:pPr>
            <a:r>
              <a:rPr i="1" lang="en"/>
              <a:t>More central people have a more accurate view of the social structure in terms of reporting “correctly” who is tied to whom</a:t>
            </a:r>
            <a:endParaRPr i="1"/>
          </a:p>
          <a:p>
            <a:pPr indent="-317500" lvl="4" marL="2286000" rtl="0" algn="l">
              <a:spcBef>
                <a:spcPts val="0"/>
              </a:spcBef>
              <a:spcAft>
                <a:spcPts val="0"/>
              </a:spcAft>
              <a:buSzPts val="1400"/>
              <a:buChar char="○"/>
            </a:pPr>
            <a:r>
              <a:rPr lang="en"/>
              <a:t>Correct = agrees with the re</a:t>
            </a:r>
            <a:r>
              <a:rPr lang="en"/>
              <a:t>sp</a:t>
            </a:r>
            <a:r>
              <a:rPr lang="en"/>
              <a:t>ective alters</a:t>
            </a:r>
            <a:endParaRPr i="1"/>
          </a:p>
          <a:p>
            <a:pPr indent="-317500" lvl="2" marL="1371600" rtl="0" algn="l">
              <a:spcBef>
                <a:spcPts val="0"/>
              </a:spcBef>
              <a:spcAft>
                <a:spcPts val="0"/>
              </a:spcAft>
              <a:buSzPts val="1400"/>
              <a:buChar char="■"/>
            </a:pPr>
            <a:r>
              <a:rPr b="1" lang="en"/>
              <a:t>The clique principle:</a:t>
            </a:r>
            <a:r>
              <a:rPr lang="en"/>
              <a:t> </a:t>
            </a:r>
            <a:endParaRPr/>
          </a:p>
          <a:p>
            <a:pPr indent="-317500" lvl="3" marL="1828800" rtl="0" algn="l">
              <a:spcBef>
                <a:spcPts val="0"/>
              </a:spcBef>
              <a:spcAft>
                <a:spcPts val="0"/>
              </a:spcAft>
              <a:buSzPts val="1400"/>
              <a:buChar char="●"/>
            </a:pPr>
            <a:r>
              <a:rPr i="1" lang="en"/>
              <a:t>People who are members of well connected cliques are more likely to have accurate perceptions of the social network than isolate or peripheral people</a:t>
            </a:r>
            <a:endParaRPr i="1"/>
          </a:p>
          <a:p>
            <a:pPr indent="-317500" lvl="2" marL="1371600" rtl="0" algn="l">
              <a:spcBef>
                <a:spcPts val="0"/>
              </a:spcBef>
              <a:spcAft>
                <a:spcPts val="0"/>
              </a:spcAft>
              <a:buSzPts val="1400"/>
              <a:buChar char="■"/>
            </a:pPr>
            <a:r>
              <a:rPr b="1" lang="en"/>
              <a:t>The role principle: </a:t>
            </a:r>
            <a:endParaRPr b="1"/>
          </a:p>
          <a:p>
            <a:pPr indent="-317500" lvl="3" marL="1828800" rtl="0" algn="l">
              <a:spcBef>
                <a:spcPts val="0"/>
              </a:spcBef>
              <a:spcAft>
                <a:spcPts val="0"/>
              </a:spcAft>
              <a:buSzPts val="1400"/>
              <a:buChar char="●"/>
            </a:pPr>
            <a:r>
              <a:rPr i="1" lang="en"/>
              <a:t>People with similar positions in the social network (e.g., structurally equivalent) will have similar perceptions of the overall network structure</a:t>
            </a:r>
            <a:endParaRPr i="1"/>
          </a:p>
          <a:p>
            <a:pPr indent="0" lvl="0" marL="0" marR="0" rtl="0" algn="l">
              <a:lnSpc>
                <a:spcPct val="115000"/>
              </a:lnSpc>
              <a:spcBef>
                <a:spcPts val="0"/>
              </a:spcBef>
              <a:spcAft>
                <a:spcPts val="1600"/>
              </a:spcAft>
              <a:buNone/>
            </a:pPr>
            <a:r>
              <a:t/>
            </a:r>
            <a:endParaRPr i="1"/>
          </a:p>
        </p:txBody>
      </p:sp>
    </p:spTree>
  </p:cSld>
  <p:clrMapOvr>
    <a:masterClrMapping/>
  </p:clrMapOvr>
</p:sld>
</file>

<file path=ppt/slides/slide4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9" name="Shape 9769"/>
        <p:cNvGrpSpPr/>
        <p:nvPr/>
      </p:nvGrpSpPr>
      <p:grpSpPr>
        <a:xfrm>
          <a:off x="0" y="0"/>
          <a:ext cx="0" cy="0"/>
          <a:chOff x="0" y="0"/>
          <a:chExt cx="0" cy="0"/>
        </a:xfrm>
      </p:grpSpPr>
      <p:sp>
        <p:nvSpPr>
          <p:cNvPr id="9770" name="Google Shape;9770;p46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771" name="Google Shape;9771;p466"/>
          <p:cNvSpPr txBox="1"/>
          <p:nvPr>
            <p:ph idx="1" type="body"/>
          </p:nvPr>
        </p:nvSpPr>
        <p:spPr>
          <a:xfrm>
            <a:off x="311700" y="1225225"/>
            <a:ext cx="508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Big five (aka five factor model)</a:t>
            </a:r>
            <a:endParaRPr/>
          </a:p>
          <a:p>
            <a:pPr indent="-317500" lvl="1" marL="914400" rtl="0" algn="l">
              <a:spcBef>
                <a:spcPts val="0"/>
              </a:spcBef>
              <a:spcAft>
                <a:spcPts val="0"/>
              </a:spcAft>
              <a:buSzPts val="1400"/>
              <a:buChar char="○"/>
            </a:pPr>
            <a:r>
              <a:rPr lang="en"/>
              <a:t>Most well-established personality inventory</a:t>
            </a:r>
            <a:endParaRPr/>
          </a:p>
          <a:p>
            <a:pPr indent="-317500" lvl="2" marL="1371600" rtl="0" algn="l">
              <a:spcBef>
                <a:spcPts val="0"/>
              </a:spcBef>
              <a:spcAft>
                <a:spcPts val="0"/>
              </a:spcAft>
              <a:buSzPts val="1400"/>
              <a:buChar char="■"/>
            </a:pPr>
            <a:r>
              <a:rPr b="1" lang="en"/>
              <a:t>Extraversion</a:t>
            </a:r>
            <a:r>
              <a:rPr lang="en"/>
              <a:t>/</a:t>
            </a:r>
            <a:r>
              <a:rPr i="1" lang="en"/>
              <a:t>Introversion</a:t>
            </a:r>
            <a:endParaRPr i="1"/>
          </a:p>
          <a:p>
            <a:pPr indent="-317500" lvl="3" marL="1828800" rtl="0" algn="l">
              <a:spcBef>
                <a:spcPts val="0"/>
              </a:spcBef>
              <a:spcAft>
                <a:spcPts val="0"/>
              </a:spcAft>
              <a:buSzPts val="1400"/>
              <a:buChar char="●"/>
            </a:pPr>
            <a:r>
              <a:rPr lang="en"/>
              <a:t>Gets a high from interaction</a:t>
            </a:r>
            <a:endParaRPr/>
          </a:p>
          <a:p>
            <a:pPr indent="-317500" lvl="2" marL="1371600" rtl="0" algn="l">
              <a:spcBef>
                <a:spcPts val="0"/>
              </a:spcBef>
              <a:spcAft>
                <a:spcPts val="0"/>
              </a:spcAft>
              <a:buSzPts val="1400"/>
              <a:buChar char="■"/>
            </a:pPr>
            <a:r>
              <a:rPr b="1" lang="en"/>
              <a:t>Openness</a:t>
            </a:r>
            <a:r>
              <a:rPr lang="en"/>
              <a:t>/</a:t>
            </a:r>
            <a:r>
              <a:rPr i="1" lang="en"/>
              <a:t>Cautiousness</a:t>
            </a:r>
            <a:endParaRPr i="1"/>
          </a:p>
          <a:p>
            <a:pPr indent="-317500" lvl="3" marL="1828800" rtl="0" algn="l">
              <a:spcBef>
                <a:spcPts val="0"/>
              </a:spcBef>
              <a:spcAft>
                <a:spcPts val="0"/>
              </a:spcAft>
              <a:buSzPts val="1400"/>
              <a:buChar char="●"/>
            </a:pPr>
            <a:r>
              <a:rPr lang="en"/>
              <a:t>Like experiencing new things</a:t>
            </a:r>
            <a:endParaRPr/>
          </a:p>
          <a:p>
            <a:pPr indent="-317500" lvl="2" marL="1371600" rtl="0" algn="l">
              <a:spcBef>
                <a:spcPts val="0"/>
              </a:spcBef>
              <a:spcAft>
                <a:spcPts val="0"/>
              </a:spcAft>
              <a:buSzPts val="1400"/>
              <a:buChar char="■"/>
            </a:pPr>
            <a:r>
              <a:rPr b="1" lang="en"/>
              <a:t>Neuroticism</a:t>
            </a:r>
            <a:r>
              <a:rPr lang="en"/>
              <a:t>/</a:t>
            </a:r>
            <a:r>
              <a:rPr i="1" lang="en"/>
              <a:t>Stability</a:t>
            </a:r>
            <a:endParaRPr i="1"/>
          </a:p>
          <a:p>
            <a:pPr indent="-317500" lvl="3" marL="1828800" rtl="0" algn="l">
              <a:spcBef>
                <a:spcPts val="0"/>
              </a:spcBef>
              <a:spcAft>
                <a:spcPts val="0"/>
              </a:spcAft>
              <a:buSzPts val="1400"/>
              <a:buChar char="●"/>
            </a:pPr>
            <a:r>
              <a:rPr lang="en"/>
              <a:t>Experiences negative emotions</a:t>
            </a:r>
            <a:endParaRPr/>
          </a:p>
          <a:p>
            <a:pPr indent="-317500" lvl="2" marL="1371600" rtl="0" algn="l">
              <a:spcBef>
                <a:spcPts val="0"/>
              </a:spcBef>
              <a:spcAft>
                <a:spcPts val="0"/>
              </a:spcAft>
              <a:buSzPts val="1400"/>
              <a:buChar char="■"/>
            </a:pPr>
            <a:r>
              <a:rPr b="1" lang="en"/>
              <a:t>Agreeableness</a:t>
            </a:r>
            <a:r>
              <a:rPr lang="en"/>
              <a:t>/</a:t>
            </a:r>
            <a:r>
              <a:rPr i="1" lang="en"/>
              <a:t>Detachment</a:t>
            </a:r>
            <a:endParaRPr i="1"/>
          </a:p>
          <a:p>
            <a:pPr indent="-317500" lvl="3" marL="1828800" rtl="0" algn="l">
              <a:spcBef>
                <a:spcPts val="0"/>
              </a:spcBef>
              <a:spcAft>
                <a:spcPts val="0"/>
              </a:spcAft>
              <a:buSzPts val="1400"/>
              <a:buChar char="●"/>
            </a:pPr>
            <a:r>
              <a:rPr lang="en"/>
              <a:t>Niceness, resolves conflicts</a:t>
            </a:r>
            <a:endParaRPr/>
          </a:p>
          <a:p>
            <a:pPr indent="-317500" lvl="2" marL="1371600" rtl="0" algn="l">
              <a:spcBef>
                <a:spcPts val="0"/>
              </a:spcBef>
              <a:spcAft>
                <a:spcPts val="0"/>
              </a:spcAft>
              <a:buSzPts val="1400"/>
              <a:buChar char="■"/>
            </a:pPr>
            <a:r>
              <a:rPr b="1" lang="en"/>
              <a:t>Conscientiousness</a:t>
            </a:r>
            <a:r>
              <a:rPr lang="en"/>
              <a:t>/</a:t>
            </a:r>
            <a:r>
              <a:rPr i="1" lang="en"/>
              <a:t>Carefreeness</a:t>
            </a:r>
            <a:endParaRPr i="1"/>
          </a:p>
          <a:p>
            <a:pPr indent="-317500" lvl="3" marL="1828800" rtl="0" algn="l">
              <a:spcBef>
                <a:spcPts val="0"/>
              </a:spcBef>
              <a:spcAft>
                <a:spcPts val="0"/>
              </a:spcAft>
              <a:buSzPts val="1400"/>
              <a:buChar char="●"/>
            </a:pPr>
            <a:r>
              <a:rPr lang="en"/>
              <a:t>Organization, reliability</a:t>
            </a:r>
            <a:endParaRPr/>
          </a:p>
        </p:txBody>
      </p:sp>
      <p:pic>
        <p:nvPicPr>
          <p:cNvPr id="9772" name="Google Shape;9772;p466"/>
          <p:cNvPicPr preferRelativeResize="0"/>
          <p:nvPr/>
        </p:nvPicPr>
        <p:blipFill>
          <a:blip r:embed="rId3">
            <a:alphaModFix/>
          </a:blip>
          <a:stretch>
            <a:fillRect/>
          </a:stretch>
        </p:blipFill>
        <p:spPr>
          <a:xfrm>
            <a:off x="5401300" y="1225225"/>
            <a:ext cx="3572397" cy="3691477"/>
          </a:xfrm>
          <a:prstGeom prst="rect">
            <a:avLst/>
          </a:prstGeom>
          <a:noFill/>
          <a:ln>
            <a:noFill/>
          </a:ln>
        </p:spPr>
      </p:pic>
    </p:spTree>
  </p:cSld>
  <p:clrMapOvr>
    <a:masterClrMapping/>
  </p:clrMapOvr>
</p:sld>
</file>

<file path=ppt/slides/slide4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6" name="Shape 9776"/>
        <p:cNvGrpSpPr/>
        <p:nvPr/>
      </p:nvGrpSpPr>
      <p:grpSpPr>
        <a:xfrm>
          <a:off x="0" y="0"/>
          <a:ext cx="0" cy="0"/>
          <a:chOff x="0" y="0"/>
          <a:chExt cx="0" cy="0"/>
        </a:xfrm>
      </p:grpSpPr>
      <p:sp>
        <p:nvSpPr>
          <p:cNvPr id="9777" name="Google Shape;9777;p46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778" name="Google Shape;9778;p467"/>
          <p:cNvSpPr txBox="1"/>
          <p:nvPr>
            <p:ph idx="1" type="body"/>
          </p:nvPr>
        </p:nvSpPr>
        <p:spPr>
          <a:xfrm>
            <a:off x="311700" y="1225225"/>
            <a:ext cx="508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Big five (aka five factor model)</a:t>
            </a:r>
            <a:endParaRPr/>
          </a:p>
          <a:p>
            <a:pPr indent="-317500" lvl="1" marL="914400" rtl="0" algn="l">
              <a:spcBef>
                <a:spcPts val="0"/>
              </a:spcBef>
              <a:spcAft>
                <a:spcPts val="0"/>
              </a:spcAft>
              <a:buSzPts val="1400"/>
              <a:buChar char="○"/>
            </a:pPr>
            <a:r>
              <a:rPr lang="en"/>
              <a:t>Most well-established personality inventory</a:t>
            </a:r>
            <a:endParaRPr/>
          </a:p>
          <a:p>
            <a:pPr indent="-317500" lvl="2" marL="1371600" rtl="0" algn="l">
              <a:spcBef>
                <a:spcPts val="0"/>
              </a:spcBef>
              <a:spcAft>
                <a:spcPts val="0"/>
              </a:spcAft>
              <a:buSzPts val="1400"/>
              <a:buChar char="■"/>
            </a:pPr>
            <a:r>
              <a:rPr b="1" lang="en"/>
              <a:t>Extraversion</a:t>
            </a:r>
            <a:r>
              <a:rPr lang="en"/>
              <a:t>/Introversion</a:t>
            </a:r>
            <a:endParaRPr/>
          </a:p>
          <a:p>
            <a:pPr indent="-317500" lvl="3" marL="1828800" rtl="0" algn="l">
              <a:spcBef>
                <a:spcPts val="0"/>
              </a:spcBef>
              <a:spcAft>
                <a:spcPts val="0"/>
              </a:spcAft>
              <a:buSzPts val="1400"/>
              <a:buChar char="●"/>
            </a:pPr>
            <a:r>
              <a:rPr lang="en"/>
              <a:t>Gets a high from interaction</a:t>
            </a:r>
            <a:endParaRPr/>
          </a:p>
          <a:p>
            <a:pPr indent="-317500" lvl="2" marL="1371600" rtl="0" algn="l">
              <a:spcBef>
                <a:spcPts val="0"/>
              </a:spcBef>
              <a:spcAft>
                <a:spcPts val="0"/>
              </a:spcAft>
              <a:buSzPts val="1400"/>
              <a:buChar char="■"/>
            </a:pPr>
            <a:r>
              <a:rPr b="1" lang="en"/>
              <a:t>Openness</a:t>
            </a:r>
            <a:r>
              <a:rPr lang="en"/>
              <a:t>/Cautiousness</a:t>
            </a:r>
            <a:endParaRPr/>
          </a:p>
          <a:p>
            <a:pPr indent="-317500" lvl="3" marL="1828800" rtl="0" algn="l">
              <a:spcBef>
                <a:spcPts val="0"/>
              </a:spcBef>
              <a:spcAft>
                <a:spcPts val="0"/>
              </a:spcAft>
              <a:buSzPts val="1400"/>
              <a:buChar char="●"/>
            </a:pPr>
            <a:r>
              <a:rPr lang="en"/>
              <a:t>Likes experiencing new things</a:t>
            </a:r>
            <a:endParaRPr/>
          </a:p>
          <a:p>
            <a:pPr indent="-317500" lvl="2" marL="1371600" rtl="0" algn="l">
              <a:spcBef>
                <a:spcPts val="0"/>
              </a:spcBef>
              <a:spcAft>
                <a:spcPts val="0"/>
              </a:spcAft>
              <a:buSzPts val="1400"/>
              <a:buChar char="■"/>
            </a:pPr>
            <a:r>
              <a:rPr b="1" lang="en"/>
              <a:t>Neuroticism</a:t>
            </a:r>
            <a:r>
              <a:rPr lang="en"/>
              <a:t>/Stability</a:t>
            </a:r>
            <a:endParaRPr/>
          </a:p>
          <a:p>
            <a:pPr indent="-317500" lvl="3" marL="1828800" rtl="0" algn="l">
              <a:spcBef>
                <a:spcPts val="0"/>
              </a:spcBef>
              <a:spcAft>
                <a:spcPts val="0"/>
              </a:spcAft>
              <a:buSzPts val="1400"/>
              <a:buChar char="●"/>
            </a:pPr>
            <a:r>
              <a:rPr lang="en"/>
              <a:t>Experiences negative emotions</a:t>
            </a:r>
            <a:endParaRPr/>
          </a:p>
          <a:p>
            <a:pPr indent="-317500" lvl="2" marL="1371600" rtl="0" algn="l">
              <a:spcBef>
                <a:spcPts val="0"/>
              </a:spcBef>
              <a:spcAft>
                <a:spcPts val="0"/>
              </a:spcAft>
              <a:buSzPts val="1400"/>
              <a:buChar char="■"/>
            </a:pPr>
            <a:r>
              <a:rPr b="1" lang="en"/>
              <a:t>Agreeableness</a:t>
            </a:r>
            <a:r>
              <a:rPr lang="en"/>
              <a:t>/Detachment</a:t>
            </a:r>
            <a:endParaRPr/>
          </a:p>
          <a:p>
            <a:pPr indent="-317500" lvl="3" marL="1828800" rtl="0" algn="l">
              <a:spcBef>
                <a:spcPts val="0"/>
              </a:spcBef>
              <a:spcAft>
                <a:spcPts val="0"/>
              </a:spcAft>
              <a:buSzPts val="1400"/>
              <a:buChar char="●"/>
            </a:pPr>
            <a:r>
              <a:rPr lang="en"/>
              <a:t>Niceness, resolves conflicts</a:t>
            </a:r>
            <a:endParaRPr/>
          </a:p>
          <a:p>
            <a:pPr indent="-317500" lvl="2" marL="1371600" rtl="0" algn="l">
              <a:spcBef>
                <a:spcPts val="0"/>
              </a:spcBef>
              <a:spcAft>
                <a:spcPts val="0"/>
              </a:spcAft>
              <a:buSzPts val="1400"/>
              <a:buChar char="■"/>
            </a:pPr>
            <a:r>
              <a:rPr b="1" lang="en"/>
              <a:t>Conscientiousness</a:t>
            </a:r>
            <a:r>
              <a:rPr lang="en"/>
              <a:t>/Carefreeness</a:t>
            </a:r>
            <a:endParaRPr/>
          </a:p>
          <a:p>
            <a:pPr indent="-317500" lvl="3" marL="1828800" rtl="0" algn="l">
              <a:spcBef>
                <a:spcPts val="0"/>
              </a:spcBef>
              <a:spcAft>
                <a:spcPts val="0"/>
              </a:spcAft>
              <a:buSzPts val="1400"/>
              <a:buChar char="●"/>
            </a:pPr>
            <a:r>
              <a:rPr lang="en"/>
              <a:t>Organization, reliability</a:t>
            </a:r>
            <a:endParaRPr/>
          </a:p>
        </p:txBody>
      </p:sp>
      <p:pic>
        <p:nvPicPr>
          <p:cNvPr id="9779" name="Google Shape;9779;p467"/>
          <p:cNvPicPr preferRelativeResize="0"/>
          <p:nvPr/>
        </p:nvPicPr>
        <p:blipFill>
          <a:blip r:embed="rId3">
            <a:alphaModFix/>
          </a:blip>
          <a:stretch>
            <a:fillRect/>
          </a:stretch>
        </p:blipFill>
        <p:spPr>
          <a:xfrm>
            <a:off x="5401300" y="1225225"/>
            <a:ext cx="3572397" cy="3691477"/>
          </a:xfrm>
          <a:prstGeom prst="rect">
            <a:avLst/>
          </a:prstGeom>
          <a:noFill/>
          <a:ln>
            <a:noFill/>
          </a:ln>
        </p:spPr>
      </p:pic>
      <p:sp>
        <p:nvSpPr>
          <p:cNvPr id="9780" name="Google Shape;9780;p467"/>
          <p:cNvSpPr txBox="1"/>
          <p:nvPr/>
        </p:nvSpPr>
        <p:spPr>
          <a:xfrm>
            <a:off x="214550" y="4473275"/>
            <a:ext cx="4208400" cy="4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Economica"/>
                <a:ea typeface="Economica"/>
                <a:cs typeface="Economica"/>
                <a:sym typeface="Economica"/>
              </a:rPr>
              <a:t>Factors are bipolar (both ends are actual traits) not unidimensional!</a:t>
            </a:r>
            <a:endParaRPr b="1">
              <a:solidFill>
                <a:srgbClr val="FF0000"/>
              </a:solidFill>
              <a:latin typeface="Economica"/>
              <a:ea typeface="Economica"/>
              <a:cs typeface="Economica"/>
              <a:sym typeface="Economica"/>
            </a:endParaRPr>
          </a:p>
        </p:txBody>
      </p:sp>
      <p:sp>
        <p:nvSpPr>
          <p:cNvPr id="9781" name="Google Shape;9781;p467"/>
          <p:cNvSpPr txBox="1"/>
          <p:nvPr/>
        </p:nvSpPr>
        <p:spPr>
          <a:xfrm>
            <a:off x="6199300" y="167975"/>
            <a:ext cx="2774400" cy="4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Economica"/>
                <a:ea typeface="Economica"/>
                <a:cs typeface="Economica"/>
                <a:sym typeface="Economica"/>
              </a:rPr>
              <a:t>Neither end is necessarily “good” or “bad”</a:t>
            </a:r>
            <a:endParaRPr b="1">
              <a:solidFill>
                <a:srgbClr val="FF0000"/>
              </a:solidFill>
              <a:latin typeface="Economica"/>
              <a:ea typeface="Economica"/>
              <a:cs typeface="Economica"/>
              <a:sym typeface="Economica"/>
            </a:endParaRPr>
          </a:p>
        </p:txBody>
      </p:sp>
    </p:spTree>
  </p:cSld>
  <p:clrMapOvr>
    <a:masterClrMapping/>
  </p:clrMapOvr>
</p:sld>
</file>

<file path=ppt/slides/slide4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5" name="Shape 9785"/>
        <p:cNvGrpSpPr/>
        <p:nvPr/>
      </p:nvGrpSpPr>
      <p:grpSpPr>
        <a:xfrm>
          <a:off x="0" y="0"/>
          <a:ext cx="0" cy="0"/>
          <a:chOff x="0" y="0"/>
          <a:chExt cx="0" cy="0"/>
        </a:xfrm>
      </p:grpSpPr>
      <p:sp>
        <p:nvSpPr>
          <p:cNvPr id="9786" name="Google Shape;9786;p46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787" name="Google Shape;9787;p468"/>
          <p:cNvSpPr txBox="1"/>
          <p:nvPr>
            <p:ph idx="1" type="body"/>
          </p:nvPr>
        </p:nvSpPr>
        <p:spPr>
          <a:xfrm>
            <a:off x="311700" y="1225225"/>
            <a:ext cx="5089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Big five (aka five factor model)</a:t>
            </a:r>
            <a:endParaRPr/>
          </a:p>
          <a:p>
            <a:pPr indent="-317500" lvl="1" marL="914400" rtl="0" algn="l">
              <a:spcBef>
                <a:spcPts val="0"/>
              </a:spcBef>
              <a:spcAft>
                <a:spcPts val="0"/>
              </a:spcAft>
              <a:buSzPts val="1400"/>
              <a:buChar char="○"/>
            </a:pPr>
            <a:r>
              <a:rPr lang="en"/>
              <a:t>Most well-established personality inventory</a:t>
            </a:r>
            <a:endParaRPr/>
          </a:p>
          <a:p>
            <a:pPr indent="-317500" lvl="2" marL="1371600" rtl="0" algn="l">
              <a:spcBef>
                <a:spcPts val="0"/>
              </a:spcBef>
              <a:spcAft>
                <a:spcPts val="0"/>
              </a:spcAft>
              <a:buSzPts val="1400"/>
              <a:buChar char="■"/>
            </a:pPr>
            <a:r>
              <a:rPr lang="en"/>
              <a:t>Extraversion/</a:t>
            </a:r>
            <a:r>
              <a:rPr b="1" lang="en"/>
              <a:t>Introversion</a:t>
            </a:r>
            <a:endParaRPr b="1"/>
          </a:p>
          <a:p>
            <a:pPr indent="-317500" lvl="3" marL="1828800" rtl="0" algn="l">
              <a:spcBef>
                <a:spcPts val="0"/>
              </a:spcBef>
              <a:spcAft>
                <a:spcPts val="0"/>
              </a:spcAft>
              <a:buSzPts val="1400"/>
              <a:buChar char="●"/>
            </a:pPr>
            <a:r>
              <a:rPr lang="en"/>
              <a:t>Prefers self-reflection</a:t>
            </a:r>
            <a:endParaRPr/>
          </a:p>
          <a:p>
            <a:pPr indent="-317500" lvl="2" marL="1371600" rtl="0" algn="l">
              <a:spcBef>
                <a:spcPts val="0"/>
              </a:spcBef>
              <a:spcAft>
                <a:spcPts val="0"/>
              </a:spcAft>
              <a:buSzPts val="1400"/>
              <a:buChar char="■"/>
            </a:pPr>
            <a:r>
              <a:rPr lang="en"/>
              <a:t>Openness/</a:t>
            </a:r>
            <a:r>
              <a:rPr b="1" lang="en"/>
              <a:t>Cautiousness</a:t>
            </a:r>
            <a:endParaRPr b="1"/>
          </a:p>
          <a:p>
            <a:pPr indent="-317500" lvl="3" marL="1828800" rtl="0" algn="l">
              <a:spcBef>
                <a:spcPts val="0"/>
              </a:spcBef>
              <a:spcAft>
                <a:spcPts val="0"/>
              </a:spcAft>
              <a:buSzPts val="1400"/>
              <a:buChar char="●"/>
            </a:pPr>
            <a:r>
              <a:rPr lang="en"/>
              <a:t>Likes consistency and predictability</a:t>
            </a:r>
            <a:endParaRPr/>
          </a:p>
          <a:p>
            <a:pPr indent="-317500" lvl="2" marL="1371600" rtl="0" algn="l">
              <a:spcBef>
                <a:spcPts val="0"/>
              </a:spcBef>
              <a:spcAft>
                <a:spcPts val="0"/>
              </a:spcAft>
              <a:buSzPts val="1400"/>
              <a:buChar char="■"/>
            </a:pPr>
            <a:r>
              <a:rPr lang="en"/>
              <a:t>Neuroticism/</a:t>
            </a:r>
            <a:r>
              <a:rPr b="1" lang="en"/>
              <a:t>Stability</a:t>
            </a:r>
            <a:endParaRPr b="1"/>
          </a:p>
          <a:p>
            <a:pPr indent="-317500" lvl="3" marL="1828800" rtl="0" algn="l">
              <a:spcBef>
                <a:spcPts val="0"/>
              </a:spcBef>
              <a:spcAft>
                <a:spcPts val="0"/>
              </a:spcAft>
              <a:buSzPts val="1400"/>
              <a:buChar char="●"/>
            </a:pPr>
            <a:r>
              <a:rPr lang="en"/>
              <a:t>Is more emotionally “balanced”</a:t>
            </a:r>
            <a:endParaRPr/>
          </a:p>
          <a:p>
            <a:pPr indent="-317500" lvl="2" marL="1371600" rtl="0" algn="l">
              <a:spcBef>
                <a:spcPts val="0"/>
              </a:spcBef>
              <a:spcAft>
                <a:spcPts val="0"/>
              </a:spcAft>
              <a:buSzPts val="1400"/>
              <a:buChar char="■"/>
            </a:pPr>
            <a:r>
              <a:rPr lang="en"/>
              <a:t>Agreeableness/</a:t>
            </a:r>
            <a:r>
              <a:rPr b="1" lang="en"/>
              <a:t>Detachment</a:t>
            </a:r>
            <a:endParaRPr b="1"/>
          </a:p>
          <a:p>
            <a:pPr indent="-317500" lvl="3" marL="1828800" rtl="0" algn="l">
              <a:spcBef>
                <a:spcPts val="0"/>
              </a:spcBef>
              <a:spcAft>
                <a:spcPts val="0"/>
              </a:spcAft>
              <a:buSzPts val="1400"/>
              <a:buChar char="●"/>
            </a:pPr>
            <a:r>
              <a:rPr lang="en"/>
              <a:t>Distant/Emotionally neutral</a:t>
            </a:r>
            <a:endParaRPr/>
          </a:p>
          <a:p>
            <a:pPr indent="-317500" lvl="2" marL="1371600" rtl="0" algn="l">
              <a:spcBef>
                <a:spcPts val="0"/>
              </a:spcBef>
              <a:spcAft>
                <a:spcPts val="0"/>
              </a:spcAft>
              <a:buSzPts val="1400"/>
              <a:buChar char="■"/>
            </a:pPr>
            <a:r>
              <a:rPr lang="en"/>
              <a:t>Conscientiousness/</a:t>
            </a:r>
            <a:r>
              <a:rPr b="1" lang="en"/>
              <a:t>Carefreeness</a:t>
            </a:r>
            <a:endParaRPr b="1"/>
          </a:p>
          <a:p>
            <a:pPr indent="-317500" lvl="3" marL="1828800" rtl="0" algn="l">
              <a:spcBef>
                <a:spcPts val="0"/>
              </a:spcBef>
              <a:spcAft>
                <a:spcPts val="0"/>
              </a:spcAft>
              <a:buSzPts val="1400"/>
              <a:buChar char="●"/>
            </a:pPr>
            <a:r>
              <a:rPr lang="en"/>
              <a:t>Spontaneous/disorganized</a:t>
            </a:r>
            <a:endParaRPr/>
          </a:p>
        </p:txBody>
      </p:sp>
      <p:pic>
        <p:nvPicPr>
          <p:cNvPr id="9788" name="Google Shape;9788;p468"/>
          <p:cNvPicPr preferRelativeResize="0"/>
          <p:nvPr/>
        </p:nvPicPr>
        <p:blipFill>
          <a:blip r:embed="rId3">
            <a:alphaModFix/>
          </a:blip>
          <a:stretch>
            <a:fillRect/>
          </a:stretch>
        </p:blipFill>
        <p:spPr>
          <a:xfrm>
            <a:off x="5401300" y="1225225"/>
            <a:ext cx="3572397" cy="3691477"/>
          </a:xfrm>
          <a:prstGeom prst="rect">
            <a:avLst/>
          </a:prstGeom>
          <a:noFill/>
          <a:ln>
            <a:noFill/>
          </a:ln>
        </p:spPr>
      </p:pic>
      <p:sp>
        <p:nvSpPr>
          <p:cNvPr id="9789" name="Google Shape;9789;p468"/>
          <p:cNvSpPr txBox="1"/>
          <p:nvPr/>
        </p:nvSpPr>
        <p:spPr>
          <a:xfrm>
            <a:off x="214550" y="4473275"/>
            <a:ext cx="4208400" cy="4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Economica"/>
                <a:ea typeface="Economica"/>
                <a:cs typeface="Economica"/>
                <a:sym typeface="Economica"/>
              </a:rPr>
              <a:t>Factors are bipolar (both ends are actual traits) not unidimensional!</a:t>
            </a:r>
            <a:endParaRPr b="1">
              <a:solidFill>
                <a:srgbClr val="FF0000"/>
              </a:solidFill>
              <a:latin typeface="Economica"/>
              <a:ea typeface="Economica"/>
              <a:cs typeface="Economica"/>
              <a:sym typeface="Economica"/>
            </a:endParaRPr>
          </a:p>
        </p:txBody>
      </p:sp>
      <p:sp>
        <p:nvSpPr>
          <p:cNvPr id="9790" name="Google Shape;9790;p468"/>
          <p:cNvSpPr txBox="1"/>
          <p:nvPr/>
        </p:nvSpPr>
        <p:spPr>
          <a:xfrm>
            <a:off x="6199300" y="167975"/>
            <a:ext cx="2774400" cy="4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Economica"/>
                <a:ea typeface="Economica"/>
                <a:cs typeface="Economica"/>
                <a:sym typeface="Economica"/>
              </a:rPr>
              <a:t>Neither end is necessarily “good” or “bad”</a:t>
            </a:r>
            <a:endParaRPr b="1">
              <a:solidFill>
                <a:srgbClr val="FF0000"/>
              </a:solidFill>
              <a:latin typeface="Economica"/>
              <a:ea typeface="Economica"/>
              <a:cs typeface="Economica"/>
              <a:sym typeface="Economica"/>
            </a:endParaRPr>
          </a:p>
        </p:txBody>
      </p:sp>
    </p:spTree>
  </p:cSld>
  <p:clrMapOvr>
    <a:masterClrMapping/>
  </p:clrMapOvr>
</p:sld>
</file>

<file path=ppt/slides/slide4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94" name="Shape 9794"/>
        <p:cNvGrpSpPr/>
        <p:nvPr/>
      </p:nvGrpSpPr>
      <p:grpSpPr>
        <a:xfrm>
          <a:off x="0" y="0"/>
          <a:ext cx="0" cy="0"/>
          <a:chOff x="0" y="0"/>
          <a:chExt cx="0" cy="0"/>
        </a:xfrm>
      </p:grpSpPr>
      <p:sp>
        <p:nvSpPr>
          <p:cNvPr id="9795" name="Google Shape;9795;p46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Networks: Dunbar Circles</a:t>
            </a:r>
            <a:endParaRPr/>
          </a:p>
        </p:txBody>
      </p:sp>
      <p:graphicFrame>
        <p:nvGraphicFramePr>
          <p:cNvPr id="9796" name="Google Shape;9796;p469"/>
          <p:cNvGraphicFramePr/>
          <p:nvPr/>
        </p:nvGraphicFramePr>
        <p:xfrm>
          <a:off x="4029625" y="4534250"/>
          <a:ext cx="3000000" cy="3000000"/>
        </p:xfrm>
        <a:graphic>
          <a:graphicData uri="http://schemas.openxmlformats.org/drawingml/2006/table">
            <a:tbl>
              <a:tblPr>
                <a:noFill/>
                <a:tableStyleId>{7DE59CC5-BFA2-4C44-9D40-4E4266A2D9C1}</a:tableStyleId>
              </a:tblPr>
              <a:tblGrid>
                <a:gridCol w="382850"/>
                <a:gridCol w="382850"/>
                <a:gridCol w="382850"/>
                <a:gridCol w="382850"/>
              </a:tblGrid>
              <a:tr h="212500">
                <a:tc>
                  <a:txBody>
                    <a:bodyPr/>
                    <a:lstStyle/>
                    <a:p>
                      <a:pPr indent="0" lvl="0" marL="0" rtl="0" algn="l">
                        <a:spcBef>
                          <a:spcPts val="0"/>
                        </a:spcBef>
                        <a:spcAft>
                          <a:spcPts val="0"/>
                        </a:spcAft>
                        <a:buNone/>
                      </a:pPr>
                      <a:r>
                        <a:t/>
                      </a:r>
                      <a:endParaRPr/>
                    </a:p>
                  </a:txBody>
                  <a:tcPr marT="0" marB="0" marR="0" marL="0">
                    <a:solidFill>
                      <a:srgbClr val="E6B8AF"/>
                    </a:solidFill>
                  </a:tcPr>
                </a:tc>
                <a:tc>
                  <a:txBody>
                    <a:bodyPr/>
                    <a:lstStyle/>
                    <a:p>
                      <a:pPr indent="0" lvl="0" marL="0" rtl="0" algn="l">
                        <a:spcBef>
                          <a:spcPts val="0"/>
                        </a:spcBef>
                        <a:spcAft>
                          <a:spcPts val="0"/>
                        </a:spcAft>
                        <a:buNone/>
                      </a:pPr>
                      <a:r>
                        <a:t/>
                      </a:r>
                      <a:endParaRPr/>
                    </a:p>
                  </a:txBody>
                  <a:tcPr marT="0" marB="0" marR="0" marL="0">
                    <a:solidFill>
                      <a:srgbClr val="DD7E6B"/>
                    </a:solidFill>
                  </a:tcPr>
                </a:tc>
                <a:tc>
                  <a:txBody>
                    <a:bodyPr/>
                    <a:lstStyle/>
                    <a:p>
                      <a:pPr indent="0" lvl="0" marL="0" rtl="0" algn="l">
                        <a:spcBef>
                          <a:spcPts val="0"/>
                        </a:spcBef>
                        <a:spcAft>
                          <a:spcPts val="0"/>
                        </a:spcAft>
                        <a:buNone/>
                      </a:pPr>
                      <a:r>
                        <a:t/>
                      </a:r>
                      <a:endParaRPr/>
                    </a:p>
                  </a:txBody>
                  <a:tcPr marT="0" marB="0" marR="0" marL="0">
                    <a:solidFill>
                      <a:srgbClr val="CC4125"/>
                    </a:solidFill>
                  </a:tcPr>
                </a:tc>
                <a:tc>
                  <a:txBody>
                    <a:bodyPr/>
                    <a:lstStyle/>
                    <a:p>
                      <a:pPr indent="0" lvl="0" marL="0" rtl="0" algn="l">
                        <a:spcBef>
                          <a:spcPts val="0"/>
                        </a:spcBef>
                        <a:spcAft>
                          <a:spcPts val="0"/>
                        </a:spcAft>
                        <a:buNone/>
                      </a:pPr>
                      <a:r>
                        <a:t/>
                      </a:r>
                      <a:endParaRPr/>
                    </a:p>
                  </a:txBody>
                  <a:tcPr marT="0" marB="0" marR="0" marL="0">
                    <a:solidFill>
                      <a:srgbClr val="A61C00"/>
                    </a:solidFill>
                  </a:tcPr>
                </a:tc>
              </a:tr>
            </a:tbl>
          </a:graphicData>
        </a:graphic>
      </p:graphicFrame>
      <p:grpSp>
        <p:nvGrpSpPr>
          <p:cNvPr id="9797" name="Google Shape;9797;p469"/>
          <p:cNvGrpSpPr/>
          <p:nvPr/>
        </p:nvGrpSpPr>
        <p:grpSpPr>
          <a:xfrm>
            <a:off x="4029563" y="4828220"/>
            <a:ext cx="1531500" cy="212499"/>
            <a:chOff x="3947725" y="4311925"/>
            <a:chExt cx="1531500" cy="240275"/>
          </a:xfrm>
        </p:grpSpPr>
        <p:cxnSp>
          <p:nvCxnSpPr>
            <p:cNvPr id="9798" name="Google Shape;9798;p469"/>
            <p:cNvCxnSpPr/>
            <p:nvPr/>
          </p:nvCxnSpPr>
          <p:spPr>
            <a:xfrm>
              <a:off x="3950875" y="4311925"/>
              <a:ext cx="1525200" cy="0"/>
            </a:xfrm>
            <a:prstGeom prst="straightConnector1">
              <a:avLst/>
            </a:prstGeom>
            <a:noFill/>
            <a:ln cap="flat" cmpd="sng" w="28575">
              <a:solidFill>
                <a:schemeClr val="dk2"/>
              </a:solidFill>
              <a:prstDash val="solid"/>
              <a:round/>
              <a:headEnd len="med" w="med" type="none"/>
              <a:tailEnd len="med" w="med" type="triangle"/>
            </a:ln>
          </p:spPr>
        </p:cxnSp>
        <p:sp>
          <p:nvSpPr>
            <p:cNvPr id="9799" name="Google Shape;9799;p469"/>
            <p:cNvSpPr txBox="1"/>
            <p:nvPr/>
          </p:nvSpPr>
          <p:spPr>
            <a:xfrm>
              <a:off x="3947725" y="4338900"/>
              <a:ext cx="1531500" cy="21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Tie Strength</a:t>
              </a:r>
              <a:endParaRPr b="1">
                <a:latin typeface="Economica"/>
                <a:ea typeface="Economica"/>
                <a:cs typeface="Economica"/>
                <a:sym typeface="Economica"/>
              </a:endParaRPr>
            </a:p>
          </p:txBody>
        </p:sp>
      </p:grpSp>
      <p:sp>
        <p:nvSpPr>
          <p:cNvPr id="9800" name="Google Shape;9800;p469"/>
          <p:cNvSpPr txBox="1"/>
          <p:nvPr>
            <p:ph idx="1" type="body"/>
          </p:nvPr>
        </p:nvSpPr>
        <p:spPr>
          <a:xfrm>
            <a:off x="311700" y="1225225"/>
            <a:ext cx="4958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Support clique (~ 4 - 5)</a:t>
            </a:r>
            <a:endParaRPr/>
          </a:p>
          <a:p>
            <a:pPr indent="-317500" lvl="1" marL="914400" rtl="0" algn="l">
              <a:spcBef>
                <a:spcPts val="0"/>
              </a:spcBef>
              <a:spcAft>
                <a:spcPts val="0"/>
              </a:spcAft>
              <a:buSzPts val="1400"/>
              <a:buChar char="○"/>
            </a:pPr>
            <a:r>
              <a:rPr lang="en"/>
              <a:t>Your most intimate kin and best friends you can rely on them for crises and emergencies</a:t>
            </a:r>
            <a:endParaRPr/>
          </a:p>
          <a:p>
            <a:pPr indent="-342900" lvl="0" marL="457200" rtl="0" algn="l">
              <a:spcBef>
                <a:spcPts val="0"/>
              </a:spcBef>
              <a:spcAft>
                <a:spcPts val="0"/>
              </a:spcAft>
              <a:buSzPts val="1800"/>
              <a:buChar char="●"/>
            </a:pPr>
            <a:r>
              <a:rPr lang="en"/>
              <a:t>Sympathy group (~12 - 15)</a:t>
            </a:r>
            <a:endParaRPr/>
          </a:p>
          <a:p>
            <a:pPr indent="-317500" lvl="1" marL="914400" rtl="0" algn="l">
              <a:spcBef>
                <a:spcPts val="0"/>
              </a:spcBef>
              <a:spcAft>
                <a:spcPts val="0"/>
              </a:spcAft>
              <a:buSzPts val="1400"/>
              <a:buChar char="○"/>
            </a:pPr>
            <a:r>
              <a:rPr lang="en"/>
              <a:t>Kin and good friends that can provide some services and that you interact with often</a:t>
            </a:r>
            <a:endParaRPr/>
          </a:p>
          <a:p>
            <a:pPr indent="-342900" lvl="0" marL="457200" rtl="0" algn="l">
              <a:spcBef>
                <a:spcPts val="0"/>
              </a:spcBef>
              <a:spcAft>
                <a:spcPts val="0"/>
              </a:spcAft>
              <a:buSzPts val="1800"/>
              <a:buChar char="●"/>
            </a:pPr>
            <a:r>
              <a:rPr lang="en"/>
              <a:t>Affinity group (~ 45 - 50)</a:t>
            </a:r>
            <a:endParaRPr/>
          </a:p>
          <a:p>
            <a:pPr indent="-317500" lvl="1" marL="914400" rtl="0" algn="l">
              <a:spcBef>
                <a:spcPts val="0"/>
              </a:spcBef>
              <a:spcAft>
                <a:spcPts val="0"/>
              </a:spcAft>
              <a:buSzPts val="1400"/>
              <a:buChar char="○"/>
            </a:pPr>
            <a:r>
              <a:rPr lang="en"/>
              <a:t>More casual but still close friends, extended family</a:t>
            </a:r>
            <a:endParaRPr/>
          </a:p>
          <a:p>
            <a:pPr indent="-342900" lvl="0" marL="457200" rtl="0" algn="l">
              <a:spcBef>
                <a:spcPts val="0"/>
              </a:spcBef>
              <a:spcAft>
                <a:spcPts val="0"/>
              </a:spcAft>
              <a:buSzPts val="1800"/>
              <a:buChar char="●"/>
            </a:pPr>
            <a:r>
              <a:rPr lang="en"/>
              <a:t>Active Network (~120 - 150)</a:t>
            </a:r>
            <a:endParaRPr/>
          </a:p>
          <a:p>
            <a:pPr indent="-317500" lvl="1" marL="914400" rtl="0" algn="l">
              <a:spcBef>
                <a:spcPts val="0"/>
              </a:spcBef>
              <a:spcAft>
                <a:spcPts val="0"/>
              </a:spcAft>
              <a:buSzPts val="1400"/>
              <a:buChar char="○"/>
            </a:pPr>
            <a:r>
              <a:rPr lang="en"/>
              <a:t>Total number people that you know by face/name and interact with at least once a year</a:t>
            </a:r>
            <a:endParaRPr/>
          </a:p>
          <a:p>
            <a:pPr indent="0" lvl="0" marL="457200" rtl="0" algn="l">
              <a:spcBef>
                <a:spcPts val="0"/>
              </a:spcBef>
              <a:spcAft>
                <a:spcPts val="0"/>
              </a:spcAft>
              <a:buNone/>
            </a:pPr>
            <a:r>
              <a:t/>
            </a:r>
            <a:endParaRPr/>
          </a:p>
        </p:txBody>
      </p:sp>
      <p:sp>
        <p:nvSpPr>
          <p:cNvPr id="9801" name="Google Shape;9801;p469"/>
          <p:cNvSpPr/>
          <p:nvPr/>
        </p:nvSpPr>
        <p:spPr>
          <a:xfrm>
            <a:off x="5006625" y="976225"/>
            <a:ext cx="3972900" cy="3852000"/>
          </a:xfrm>
          <a:prstGeom prst="ellipse">
            <a:avLst/>
          </a:prstGeom>
          <a:solidFill>
            <a:srgbClr val="E6B8AF"/>
          </a:solidFill>
          <a:ln cap="flat" cmpd="sng" w="19050">
            <a:solidFill>
              <a:srgbClr val="E6B8A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2" name="Google Shape;9802;p469"/>
          <p:cNvSpPr/>
          <p:nvPr/>
        </p:nvSpPr>
        <p:spPr>
          <a:xfrm>
            <a:off x="6585534" y="2586779"/>
            <a:ext cx="815100" cy="474900"/>
          </a:xfrm>
          <a:prstGeom prst="ellipse">
            <a:avLst/>
          </a:prstGeom>
          <a:solidFill>
            <a:srgbClr val="E6B8AF"/>
          </a:solidFill>
          <a:ln cap="flat" cmpd="sng" w="19050">
            <a:solidFill>
              <a:srgbClr val="E6B8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9803" name="Google Shape;9803;p469"/>
          <p:cNvSpPr/>
          <p:nvPr/>
        </p:nvSpPr>
        <p:spPr>
          <a:xfrm>
            <a:off x="5561025" y="2081125"/>
            <a:ext cx="2864100" cy="2747100"/>
          </a:xfrm>
          <a:prstGeom prst="ellipse">
            <a:avLst/>
          </a:prstGeom>
          <a:solidFill>
            <a:srgbClr val="DD7E6B"/>
          </a:solidFill>
          <a:ln cap="flat" cmpd="sng" w="19050">
            <a:solidFill>
              <a:srgbClr val="DD7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4" name="Google Shape;9804;p469"/>
          <p:cNvSpPr/>
          <p:nvPr/>
        </p:nvSpPr>
        <p:spPr>
          <a:xfrm>
            <a:off x="6059775" y="3111625"/>
            <a:ext cx="1866600" cy="1716600"/>
          </a:xfrm>
          <a:prstGeom prst="ellipse">
            <a:avLst/>
          </a:prstGeom>
          <a:solidFill>
            <a:srgbClr val="CC4125"/>
          </a:solidFill>
          <a:ln cap="flat" cmpd="sng" w="1905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5" name="Google Shape;9805;p469"/>
          <p:cNvSpPr/>
          <p:nvPr/>
        </p:nvSpPr>
        <p:spPr>
          <a:xfrm>
            <a:off x="6547425" y="3996925"/>
            <a:ext cx="891300" cy="831300"/>
          </a:xfrm>
          <a:prstGeom prst="ellipse">
            <a:avLst/>
          </a:prstGeom>
          <a:solidFill>
            <a:srgbClr val="A61C00"/>
          </a:solidFill>
          <a:ln cap="flat" cmpd="sng" w="19050">
            <a:solidFill>
              <a:srgbClr val="A61C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1C232"/>
                </a:solidFill>
              </a:rPr>
              <a:t>Ego</a:t>
            </a:r>
            <a:endParaRPr b="1">
              <a:solidFill>
                <a:srgbClr val="F1C232"/>
              </a:solidFill>
            </a:endParaRPr>
          </a:p>
        </p:txBody>
      </p:sp>
      <p:sp>
        <p:nvSpPr>
          <p:cNvPr id="9806" name="Google Shape;9806;p469"/>
          <p:cNvSpPr txBox="1"/>
          <p:nvPr/>
        </p:nvSpPr>
        <p:spPr>
          <a:xfrm>
            <a:off x="6230475" y="3996925"/>
            <a:ext cx="15252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Support Clique (4-5)</a:t>
            </a:r>
            <a:endParaRPr b="1">
              <a:solidFill>
                <a:srgbClr val="FFD966"/>
              </a:solidFill>
              <a:latin typeface="Economica"/>
              <a:ea typeface="Economica"/>
              <a:cs typeface="Economica"/>
              <a:sym typeface="Economica"/>
            </a:endParaRPr>
          </a:p>
        </p:txBody>
      </p:sp>
      <p:sp>
        <p:nvSpPr>
          <p:cNvPr id="9807" name="Google Shape;9807;p469"/>
          <p:cNvSpPr txBox="1"/>
          <p:nvPr/>
        </p:nvSpPr>
        <p:spPr>
          <a:xfrm>
            <a:off x="6230475" y="3395639"/>
            <a:ext cx="15252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Sympathy Group (12-15)</a:t>
            </a:r>
            <a:endParaRPr b="1">
              <a:solidFill>
                <a:srgbClr val="FFD966"/>
              </a:solidFill>
              <a:latin typeface="Economica"/>
              <a:ea typeface="Economica"/>
              <a:cs typeface="Economica"/>
              <a:sym typeface="Economica"/>
            </a:endParaRPr>
          </a:p>
        </p:txBody>
      </p:sp>
      <p:sp>
        <p:nvSpPr>
          <p:cNvPr id="9808" name="Google Shape;9808;p469"/>
          <p:cNvSpPr txBox="1"/>
          <p:nvPr/>
        </p:nvSpPr>
        <p:spPr>
          <a:xfrm>
            <a:off x="6159375" y="2438425"/>
            <a:ext cx="16674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Affinity Group (45-50</a:t>
            </a:r>
            <a:endParaRPr b="1">
              <a:solidFill>
                <a:srgbClr val="FFD966"/>
              </a:solidFill>
              <a:latin typeface="Economica"/>
              <a:ea typeface="Economica"/>
              <a:cs typeface="Economica"/>
              <a:sym typeface="Economica"/>
            </a:endParaRPr>
          </a:p>
        </p:txBody>
      </p:sp>
      <p:sp>
        <p:nvSpPr>
          <p:cNvPr id="9809" name="Google Shape;9809;p469"/>
          <p:cNvSpPr txBox="1"/>
          <p:nvPr/>
        </p:nvSpPr>
        <p:spPr>
          <a:xfrm>
            <a:off x="6088125" y="1480521"/>
            <a:ext cx="18099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00"/>
                </a:solidFill>
                <a:latin typeface="Economica"/>
                <a:ea typeface="Economica"/>
                <a:cs typeface="Economica"/>
                <a:sym typeface="Economica"/>
              </a:rPr>
              <a:t>Active Network(120-150)</a:t>
            </a:r>
            <a:endParaRPr b="1">
              <a:solidFill>
                <a:srgbClr val="FFFF00"/>
              </a:solidFill>
              <a:latin typeface="Economica"/>
              <a:ea typeface="Economica"/>
              <a:cs typeface="Economica"/>
              <a:sym typeface="Economica"/>
            </a:endParaRPr>
          </a:p>
        </p:txBody>
      </p:sp>
    </p:spTree>
  </p:cSld>
  <p:clrMapOvr>
    <a:masterClrMapping/>
  </p:clrMapOvr>
</p:sld>
</file>

<file path=ppt/slides/slide4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13" name="Shape 9813"/>
        <p:cNvGrpSpPr/>
        <p:nvPr/>
      </p:nvGrpSpPr>
      <p:grpSpPr>
        <a:xfrm>
          <a:off x="0" y="0"/>
          <a:ext cx="0" cy="0"/>
          <a:chOff x="0" y="0"/>
          <a:chExt cx="0" cy="0"/>
        </a:xfrm>
      </p:grpSpPr>
      <p:sp>
        <p:nvSpPr>
          <p:cNvPr id="9814" name="Google Shape;9814;p4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you measure tie strength?</a:t>
            </a:r>
            <a:endParaRPr/>
          </a:p>
        </p:txBody>
      </p:sp>
      <p:sp>
        <p:nvSpPr>
          <p:cNvPr id="9815" name="Google Shape;9815;p470"/>
          <p:cNvSpPr txBox="1"/>
          <p:nvPr>
            <p:ph idx="1" type="body"/>
          </p:nvPr>
        </p:nvSpPr>
        <p:spPr>
          <a:xfrm>
            <a:off x="311700" y="1225225"/>
            <a:ext cx="4763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Best approach: </a:t>
            </a:r>
            <a:endParaRPr/>
          </a:p>
          <a:p>
            <a:pPr indent="-317500" lvl="1" marL="914400" rtl="0" algn="l">
              <a:spcBef>
                <a:spcPts val="0"/>
              </a:spcBef>
              <a:spcAft>
                <a:spcPts val="0"/>
              </a:spcAft>
              <a:buSzPts val="1400"/>
              <a:buChar char="○"/>
            </a:pPr>
            <a:r>
              <a:rPr lang="en"/>
              <a:t>Marsden and Campbell’s (1984) Indicator/Predictor Model</a:t>
            </a:r>
            <a:endParaRPr/>
          </a:p>
          <a:p>
            <a:pPr indent="-342900" lvl="0" marL="457200" marR="0" rtl="0" algn="l">
              <a:lnSpc>
                <a:spcPct val="115000"/>
              </a:lnSpc>
              <a:spcBef>
                <a:spcPts val="0"/>
              </a:spcBef>
              <a:spcAft>
                <a:spcPts val="0"/>
              </a:spcAft>
              <a:buClr>
                <a:schemeClr val="dk1"/>
              </a:buClr>
              <a:buSzPts val="1800"/>
              <a:buFont typeface="Open Sans"/>
              <a:buChar char="●"/>
            </a:pPr>
            <a:r>
              <a:rPr lang="en"/>
              <a:t>Predictors tell us that a strong tie is </a:t>
            </a:r>
            <a:r>
              <a:rPr b="1" lang="en"/>
              <a:t>more</a:t>
            </a:r>
            <a:r>
              <a:rPr lang="en"/>
              <a:t> or </a:t>
            </a:r>
            <a:r>
              <a:rPr b="1" lang="en"/>
              <a:t>less</a:t>
            </a:r>
            <a:r>
              <a:rPr lang="en"/>
              <a:t> likely to </a:t>
            </a:r>
            <a:r>
              <a:rPr b="1" lang="en"/>
              <a:t>form</a:t>
            </a:r>
            <a:endParaRPr b="1"/>
          </a:p>
          <a:p>
            <a:pPr indent="-317500" lvl="1" marL="914400" marR="0" rtl="0" algn="l">
              <a:lnSpc>
                <a:spcPct val="115000"/>
              </a:lnSpc>
              <a:spcBef>
                <a:spcPts val="0"/>
              </a:spcBef>
              <a:spcAft>
                <a:spcPts val="0"/>
              </a:spcAft>
              <a:buSzPts val="1400"/>
              <a:buChar char="○"/>
            </a:pPr>
            <a:r>
              <a:rPr lang="en"/>
              <a:t>E.g., people who are similar are more likely to form strong ties</a:t>
            </a:r>
            <a:endParaRPr/>
          </a:p>
          <a:p>
            <a:pPr indent="-342900" lvl="0" marL="457200" marR="0" rtl="0" algn="l">
              <a:lnSpc>
                <a:spcPct val="115000"/>
              </a:lnSpc>
              <a:spcBef>
                <a:spcPts val="0"/>
              </a:spcBef>
              <a:spcAft>
                <a:spcPts val="0"/>
              </a:spcAft>
              <a:buSzPts val="1800"/>
              <a:buChar char="●"/>
            </a:pPr>
            <a:r>
              <a:rPr lang="en"/>
              <a:t>Indicators tell us that an </a:t>
            </a:r>
            <a:r>
              <a:rPr b="1" lang="en"/>
              <a:t>existing</a:t>
            </a:r>
            <a:r>
              <a:rPr lang="en"/>
              <a:t> tie is </a:t>
            </a:r>
            <a:r>
              <a:rPr b="1" lang="en"/>
              <a:t>more</a:t>
            </a:r>
            <a:r>
              <a:rPr lang="en"/>
              <a:t> or </a:t>
            </a:r>
            <a:r>
              <a:rPr b="1" lang="en"/>
              <a:t>less</a:t>
            </a:r>
            <a:r>
              <a:rPr lang="en"/>
              <a:t> </a:t>
            </a:r>
            <a:r>
              <a:rPr b="1" lang="en"/>
              <a:t>strong</a:t>
            </a:r>
            <a:endParaRPr b="1"/>
          </a:p>
          <a:p>
            <a:pPr indent="-317500" lvl="1" marL="914400" marR="0" rtl="0" algn="l">
              <a:lnSpc>
                <a:spcPct val="115000"/>
              </a:lnSpc>
              <a:spcBef>
                <a:spcPts val="0"/>
              </a:spcBef>
              <a:spcAft>
                <a:spcPts val="0"/>
              </a:spcAft>
              <a:buSzPts val="1400"/>
              <a:buChar char="○"/>
            </a:pPr>
            <a:r>
              <a:rPr lang="en"/>
              <a:t>The more indicators the stronger</a:t>
            </a:r>
            <a:endParaRPr/>
          </a:p>
          <a:p>
            <a:pPr indent="-317500" lvl="2" marL="1371600" marR="0" rtl="0" algn="l">
              <a:lnSpc>
                <a:spcPct val="115000"/>
              </a:lnSpc>
              <a:spcBef>
                <a:spcPts val="0"/>
              </a:spcBef>
              <a:spcAft>
                <a:spcPts val="0"/>
              </a:spcAft>
              <a:buSzPts val="1400"/>
              <a:buChar char="■"/>
            </a:pPr>
            <a:r>
              <a:rPr lang="en"/>
              <a:t>Closeness + Interaction + Support</a:t>
            </a:r>
            <a:endParaRPr/>
          </a:p>
          <a:p>
            <a:pPr indent="0" lvl="0" marL="0" rtl="0" algn="l">
              <a:spcBef>
                <a:spcPts val="0"/>
              </a:spcBef>
              <a:spcAft>
                <a:spcPts val="0"/>
              </a:spcAft>
              <a:buNone/>
            </a:pPr>
            <a:r>
              <a:t/>
            </a:r>
            <a:endParaRPr/>
          </a:p>
        </p:txBody>
      </p:sp>
      <p:sp>
        <p:nvSpPr>
          <p:cNvPr id="9816" name="Google Shape;9816;p470"/>
          <p:cNvSpPr/>
          <p:nvPr/>
        </p:nvSpPr>
        <p:spPr>
          <a:xfrm>
            <a:off x="6143000" y="2758175"/>
            <a:ext cx="2100000" cy="653100"/>
          </a:xfrm>
          <a:prstGeom prst="ellipse">
            <a:avLst/>
          </a:prstGeom>
          <a:solidFill>
            <a:srgbClr val="6AA84F"/>
          </a:solid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Economica"/>
                <a:ea typeface="Economica"/>
                <a:cs typeface="Economica"/>
                <a:sym typeface="Economica"/>
              </a:rPr>
              <a:t>Tie Strength</a:t>
            </a:r>
            <a:endParaRPr sz="2000">
              <a:latin typeface="Economica"/>
              <a:ea typeface="Economica"/>
              <a:cs typeface="Economica"/>
              <a:sym typeface="Economica"/>
            </a:endParaRPr>
          </a:p>
        </p:txBody>
      </p:sp>
      <p:sp>
        <p:nvSpPr>
          <p:cNvPr id="9817" name="Google Shape;9817;p470"/>
          <p:cNvSpPr/>
          <p:nvPr/>
        </p:nvSpPr>
        <p:spPr>
          <a:xfrm>
            <a:off x="5558250" y="4062075"/>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Sentiment</a:t>
            </a:r>
            <a:endParaRPr sz="1600">
              <a:latin typeface="Economica"/>
              <a:ea typeface="Economica"/>
              <a:cs typeface="Economica"/>
              <a:sym typeface="Economica"/>
            </a:endParaRPr>
          </a:p>
        </p:txBody>
      </p:sp>
      <p:sp>
        <p:nvSpPr>
          <p:cNvPr id="9818" name="Google Shape;9818;p470"/>
          <p:cNvSpPr/>
          <p:nvPr/>
        </p:nvSpPr>
        <p:spPr>
          <a:xfrm>
            <a:off x="67244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Interaction</a:t>
            </a:r>
            <a:endParaRPr sz="1600">
              <a:latin typeface="Economica"/>
              <a:ea typeface="Economica"/>
              <a:cs typeface="Economica"/>
              <a:sym typeface="Economica"/>
            </a:endParaRPr>
          </a:p>
        </p:txBody>
      </p:sp>
      <p:sp>
        <p:nvSpPr>
          <p:cNvPr id="9819" name="Google Shape;9819;p470"/>
          <p:cNvSpPr/>
          <p:nvPr/>
        </p:nvSpPr>
        <p:spPr>
          <a:xfrm>
            <a:off x="7783227" y="4062082"/>
            <a:ext cx="919200" cy="320100"/>
          </a:xfrm>
          <a:prstGeom prst="rect">
            <a:avLst/>
          </a:prstGeom>
          <a:solidFill>
            <a:srgbClr val="CCA67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Exchange</a:t>
            </a:r>
            <a:endParaRPr sz="1600">
              <a:latin typeface="Economica"/>
              <a:ea typeface="Economica"/>
              <a:cs typeface="Economica"/>
              <a:sym typeface="Economica"/>
            </a:endParaRPr>
          </a:p>
        </p:txBody>
      </p:sp>
      <p:cxnSp>
        <p:nvCxnSpPr>
          <p:cNvPr id="9820" name="Google Shape;9820;p470"/>
          <p:cNvCxnSpPr>
            <a:stCxn id="9816" idx="4"/>
            <a:endCxn id="9817" idx="0"/>
          </p:cNvCxnSpPr>
          <p:nvPr/>
        </p:nvCxnSpPr>
        <p:spPr>
          <a:xfrm flipH="1">
            <a:off x="6017900" y="3411275"/>
            <a:ext cx="1175100" cy="650700"/>
          </a:xfrm>
          <a:prstGeom prst="straightConnector1">
            <a:avLst/>
          </a:prstGeom>
          <a:noFill/>
          <a:ln cap="flat" cmpd="sng" w="28575">
            <a:solidFill>
              <a:srgbClr val="B7B7B7"/>
            </a:solidFill>
            <a:prstDash val="solid"/>
            <a:round/>
            <a:headEnd len="med" w="med" type="none"/>
            <a:tailEnd len="med" w="med" type="triangle"/>
          </a:ln>
        </p:spPr>
      </p:cxnSp>
      <p:cxnSp>
        <p:nvCxnSpPr>
          <p:cNvPr id="9821" name="Google Shape;9821;p470"/>
          <p:cNvCxnSpPr>
            <a:stCxn id="9816" idx="4"/>
            <a:endCxn id="9818" idx="0"/>
          </p:cNvCxnSpPr>
          <p:nvPr/>
        </p:nvCxnSpPr>
        <p:spPr>
          <a:xfrm flipH="1">
            <a:off x="7184000" y="3411275"/>
            <a:ext cx="9000" cy="650700"/>
          </a:xfrm>
          <a:prstGeom prst="straightConnector1">
            <a:avLst/>
          </a:prstGeom>
          <a:noFill/>
          <a:ln cap="flat" cmpd="sng" w="28575">
            <a:solidFill>
              <a:srgbClr val="B7B7B7"/>
            </a:solidFill>
            <a:prstDash val="solid"/>
            <a:round/>
            <a:headEnd len="med" w="med" type="none"/>
            <a:tailEnd len="med" w="med" type="triangle"/>
          </a:ln>
        </p:spPr>
      </p:cxnSp>
      <p:cxnSp>
        <p:nvCxnSpPr>
          <p:cNvPr id="9822" name="Google Shape;9822;p470"/>
          <p:cNvCxnSpPr>
            <a:stCxn id="9816" idx="4"/>
            <a:endCxn id="9819" idx="0"/>
          </p:cNvCxnSpPr>
          <p:nvPr/>
        </p:nvCxnSpPr>
        <p:spPr>
          <a:xfrm>
            <a:off x="7193000" y="3411275"/>
            <a:ext cx="1049700" cy="650700"/>
          </a:xfrm>
          <a:prstGeom prst="straightConnector1">
            <a:avLst/>
          </a:prstGeom>
          <a:noFill/>
          <a:ln cap="flat" cmpd="sng" w="28575">
            <a:solidFill>
              <a:srgbClr val="B7B7B7"/>
            </a:solidFill>
            <a:prstDash val="solid"/>
            <a:round/>
            <a:headEnd len="med" w="med" type="none"/>
            <a:tailEnd len="med" w="med" type="triangle"/>
          </a:ln>
        </p:spPr>
      </p:cxnSp>
      <p:sp>
        <p:nvSpPr>
          <p:cNvPr id="9823" name="Google Shape;9823;p470"/>
          <p:cNvSpPr/>
          <p:nvPr/>
        </p:nvSpPr>
        <p:spPr>
          <a:xfrm>
            <a:off x="7383350" y="1539475"/>
            <a:ext cx="1518000" cy="567900"/>
          </a:xfrm>
          <a:prstGeom prst="rect">
            <a:avLst/>
          </a:prstGeom>
          <a:solidFill>
            <a:srgbClr val="A4C2F4"/>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Similarities</a:t>
            </a:r>
            <a:endParaRPr sz="1600">
              <a:latin typeface="Economica"/>
              <a:ea typeface="Economica"/>
              <a:cs typeface="Economica"/>
              <a:sym typeface="Economica"/>
            </a:endParaRPr>
          </a:p>
        </p:txBody>
      </p:sp>
      <p:sp>
        <p:nvSpPr>
          <p:cNvPr id="9824" name="Google Shape;9824;p470"/>
          <p:cNvSpPr/>
          <p:nvPr/>
        </p:nvSpPr>
        <p:spPr>
          <a:xfrm>
            <a:off x="5528438" y="1539475"/>
            <a:ext cx="1518000" cy="567900"/>
          </a:xfrm>
          <a:prstGeom prst="rect">
            <a:avLst/>
          </a:prstGeom>
          <a:solidFill>
            <a:srgbClr val="A4C2F4"/>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Economica"/>
                <a:ea typeface="Economica"/>
                <a:cs typeface="Economica"/>
                <a:sym typeface="Economica"/>
              </a:rPr>
              <a:t>Role Relations</a:t>
            </a:r>
            <a:endParaRPr sz="1600">
              <a:latin typeface="Economica"/>
              <a:ea typeface="Economica"/>
              <a:cs typeface="Economica"/>
              <a:sym typeface="Economica"/>
            </a:endParaRPr>
          </a:p>
        </p:txBody>
      </p:sp>
      <p:cxnSp>
        <p:nvCxnSpPr>
          <p:cNvPr id="9825" name="Google Shape;9825;p470"/>
          <p:cNvCxnSpPr>
            <a:stCxn id="9824" idx="2"/>
            <a:endCxn id="9816" idx="0"/>
          </p:cNvCxnSpPr>
          <p:nvPr/>
        </p:nvCxnSpPr>
        <p:spPr>
          <a:xfrm>
            <a:off x="6287438" y="2107375"/>
            <a:ext cx="905700" cy="650700"/>
          </a:xfrm>
          <a:prstGeom prst="straightConnector1">
            <a:avLst/>
          </a:prstGeom>
          <a:noFill/>
          <a:ln cap="flat" cmpd="sng" w="28575">
            <a:solidFill>
              <a:srgbClr val="B7B7B7"/>
            </a:solidFill>
            <a:prstDash val="solid"/>
            <a:round/>
            <a:headEnd len="med" w="med" type="none"/>
            <a:tailEnd len="med" w="med" type="triangle"/>
          </a:ln>
        </p:spPr>
      </p:cxnSp>
      <p:cxnSp>
        <p:nvCxnSpPr>
          <p:cNvPr id="9826" name="Google Shape;9826;p470"/>
          <p:cNvCxnSpPr>
            <a:stCxn id="9823" idx="2"/>
            <a:endCxn id="9816" idx="0"/>
          </p:cNvCxnSpPr>
          <p:nvPr/>
        </p:nvCxnSpPr>
        <p:spPr>
          <a:xfrm flipH="1">
            <a:off x="7193150" y="2107375"/>
            <a:ext cx="949200" cy="650700"/>
          </a:xfrm>
          <a:prstGeom prst="straightConnector1">
            <a:avLst/>
          </a:prstGeom>
          <a:noFill/>
          <a:ln cap="flat" cmpd="sng" w="28575">
            <a:solidFill>
              <a:srgbClr val="B7B7B7"/>
            </a:solidFill>
            <a:prstDash val="solid"/>
            <a:round/>
            <a:headEnd len="med" w="med" type="none"/>
            <a:tailEnd len="med" w="med" type="triangle"/>
          </a:ln>
        </p:spPr>
      </p:cxnSp>
      <p:sp>
        <p:nvSpPr>
          <p:cNvPr id="9827" name="Google Shape;9827;p470"/>
          <p:cNvSpPr txBox="1"/>
          <p:nvPr/>
        </p:nvSpPr>
        <p:spPr>
          <a:xfrm>
            <a:off x="6546525" y="45114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Indicators</a:t>
            </a:r>
            <a:endParaRPr b="1" sz="1800">
              <a:latin typeface="Economica"/>
              <a:ea typeface="Economica"/>
              <a:cs typeface="Economica"/>
              <a:sym typeface="Economica"/>
            </a:endParaRPr>
          </a:p>
        </p:txBody>
      </p:sp>
      <p:sp>
        <p:nvSpPr>
          <p:cNvPr id="9828" name="Google Shape;9828;p470"/>
          <p:cNvSpPr txBox="1"/>
          <p:nvPr/>
        </p:nvSpPr>
        <p:spPr>
          <a:xfrm>
            <a:off x="6546525" y="1078650"/>
            <a:ext cx="1275000" cy="32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conomica"/>
                <a:ea typeface="Economica"/>
                <a:cs typeface="Economica"/>
                <a:sym typeface="Economica"/>
              </a:rPr>
              <a:t>Predictors</a:t>
            </a:r>
            <a:endParaRPr b="1" sz="1800">
              <a:latin typeface="Economica"/>
              <a:ea typeface="Economica"/>
              <a:cs typeface="Economica"/>
              <a:sym typeface="Economica"/>
            </a:endParaRPr>
          </a:p>
        </p:txBody>
      </p:sp>
    </p:spTree>
  </p:cSld>
  <p:clrMapOvr>
    <a:masterClrMapping/>
  </p:clrMapOvr>
</p:sld>
</file>

<file path=ppt/slides/slide4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32" name="Shape 9832"/>
        <p:cNvGrpSpPr/>
        <p:nvPr/>
      </p:nvGrpSpPr>
      <p:grpSpPr>
        <a:xfrm>
          <a:off x="0" y="0"/>
          <a:ext cx="0" cy="0"/>
          <a:chOff x="0" y="0"/>
          <a:chExt cx="0" cy="0"/>
        </a:xfrm>
      </p:grpSpPr>
      <p:sp>
        <p:nvSpPr>
          <p:cNvPr id="9833" name="Google Shape;9833;p4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834" name="Google Shape;9834;p471"/>
          <p:cNvSpPr txBox="1"/>
          <p:nvPr>
            <p:ph idx="1" type="body"/>
          </p:nvPr>
        </p:nvSpPr>
        <p:spPr>
          <a:xfrm>
            <a:off x="311700" y="1225225"/>
            <a:ext cx="47658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People high in trait extraversion:</a:t>
            </a:r>
            <a:endParaRPr/>
          </a:p>
          <a:p>
            <a:pPr indent="-317500" lvl="1" marL="914400" marR="0" rtl="0" algn="l">
              <a:lnSpc>
                <a:spcPct val="115000"/>
              </a:lnSpc>
              <a:spcBef>
                <a:spcPts val="0"/>
              </a:spcBef>
              <a:spcAft>
                <a:spcPts val="0"/>
              </a:spcAft>
              <a:buSzPts val="1400"/>
              <a:buChar char="○"/>
            </a:pPr>
            <a:r>
              <a:rPr lang="en"/>
              <a:t>Have larger networks at all layers</a:t>
            </a:r>
            <a:endParaRPr/>
          </a:p>
          <a:p>
            <a:pPr indent="-317500" lvl="1" marL="914400" marR="0" rtl="0" algn="l">
              <a:lnSpc>
                <a:spcPct val="115000"/>
              </a:lnSpc>
              <a:spcBef>
                <a:spcPts val="0"/>
              </a:spcBef>
              <a:spcAft>
                <a:spcPts val="0"/>
              </a:spcAft>
              <a:buSzPts val="1400"/>
              <a:buChar char="○"/>
            </a:pPr>
            <a:r>
              <a:rPr lang="en"/>
              <a:t>Tend to be part of strong tie triads</a:t>
            </a:r>
            <a:endParaRPr/>
          </a:p>
          <a:p>
            <a:pPr indent="-317500" lvl="1" marL="914400" marR="0" rtl="0" algn="l">
              <a:lnSpc>
                <a:spcPct val="115000"/>
              </a:lnSpc>
              <a:spcBef>
                <a:spcPts val="0"/>
              </a:spcBef>
              <a:spcAft>
                <a:spcPts val="0"/>
              </a:spcAft>
              <a:buSzPts val="1400"/>
              <a:buChar char="○"/>
            </a:pPr>
            <a:r>
              <a:rPr lang="en"/>
              <a:t>More likely to introduce friends of friends</a:t>
            </a:r>
            <a:endParaRPr/>
          </a:p>
          <a:p>
            <a:pPr indent="-317500" lvl="1" marL="914400" marR="0" rtl="0" algn="l">
              <a:lnSpc>
                <a:spcPct val="115000"/>
              </a:lnSpc>
              <a:spcBef>
                <a:spcPts val="0"/>
              </a:spcBef>
              <a:spcAft>
                <a:spcPts val="0"/>
              </a:spcAft>
              <a:buSzPts val="1400"/>
              <a:buChar char="○"/>
            </a:pPr>
            <a:r>
              <a:rPr lang="en"/>
              <a:t>Add new contacts at a faster rate</a:t>
            </a:r>
            <a:endParaRPr/>
          </a:p>
          <a:p>
            <a:pPr indent="-317500" lvl="1" marL="914400" marR="0" rtl="0" algn="l">
              <a:lnSpc>
                <a:spcPct val="115000"/>
              </a:lnSpc>
              <a:spcBef>
                <a:spcPts val="0"/>
              </a:spcBef>
              <a:spcAft>
                <a:spcPts val="0"/>
              </a:spcAft>
              <a:buSzPts val="1400"/>
              <a:buChar char="○"/>
            </a:pPr>
            <a:r>
              <a:rPr lang="en"/>
              <a:t>Have higher indegree and outdegree centrality</a:t>
            </a:r>
            <a:endParaRPr/>
          </a:p>
          <a:p>
            <a:pPr indent="-342900" lvl="0" marL="457200" marR="0" rtl="0" algn="l">
              <a:lnSpc>
                <a:spcPct val="115000"/>
              </a:lnSpc>
              <a:spcBef>
                <a:spcPts val="0"/>
              </a:spcBef>
              <a:spcAft>
                <a:spcPts val="0"/>
              </a:spcAft>
              <a:buSzPts val="1800"/>
              <a:buChar char="●"/>
            </a:pPr>
            <a:r>
              <a:rPr lang="en"/>
              <a:t>People high in trait neuroticism:</a:t>
            </a:r>
            <a:endParaRPr/>
          </a:p>
          <a:p>
            <a:pPr indent="-317500" lvl="1" marL="914400" marR="0" rtl="0" algn="l">
              <a:lnSpc>
                <a:spcPct val="115000"/>
              </a:lnSpc>
              <a:spcBef>
                <a:spcPts val="0"/>
              </a:spcBef>
              <a:spcAft>
                <a:spcPts val="0"/>
              </a:spcAft>
              <a:buSzPts val="1400"/>
              <a:buChar char="○"/>
            </a:pPr>
            <a:r>
              <a:rPr lang="en"/>
              <a:t>Have smaller ego-networks </a:t>
            </a:r>
            <a:endParaRPr/>
          </a:p>
          <a:p>
            <a:pPr indent="-317500" lvl="1" marL="914400" marR="0" rtl="0" algn="l">
              <a:lnSpc>
                <a:spcPct val="115000"/>
              </a:lnSpc>
              <a:spcBef>
                <a:spcPts val="0"/>
              </a:spcBef>
              <a:spcAft>
                <a:spcPts val="0"/>
              </a:spcAft>
              <a:buSzPts val="1400"/>
              <a:buChar char="○"/>
            </a:pPr>
            <a:r>
              <a:rPr lang="en"/>
              <a:t>Tend to be part of weak tie triads</a:t>
            </a:r>
            <a:endParaRPr/>
          </a:p>
          <a:p>
            <a:pPr indent="-317500" lvl="1" marL="914400" marR="0" rtl="0" algn="l">
              <a:lnSpc>
                <a:spcPct val="115000"/>
              </a:lnSpc>
              <a:spcBef>
                <a:spcPts val="0"/>
              </a:spcBef>
              <a:spcAft>
                <a:spcPts val="0"/>
              </a:spcAft>
              <a:buSzPts val="1400"/>
              <a:buChar char="○"/>
            </a:pPr>
            <a:r>
              <a:rPr lang="en"/>
              <a:t>Are less like to introduce friends of friends</a:t>
            </a:r>
            <a:endParaRPr/>
          </a:p>
        </p:txBody>
      </p:sp>
      <p:graphicFrame>
        <p:nvGraphicFramePr>
          <p:cNvPr id="9835" name="Google Shape;9835;p471"/>
          <p:cNvGraphicFramePr/>
          <p:nvPr/>
        </p:nvGraphicFramePr>
        <p:xfrm>
          <a:off x="4029625" y="4534250"/>
          <a:ext cx="3000000" cy="3000000"/>
        </p:xfrm>
        <a:graphic>
          <a:graphicData uri="http://schemas.openxmlformats.org/drawingml/2006/table">
            <a:tbl>
              <a:tblPr>
                <a:noFill/>
                <a:tableStyleId>{7DE59CC5-BFA2-4C44-9D40-4E4266A2D9C1}</a:tableStyleId>
              </a:tblPr>
              <a:tblGrid>
                <a:gridCol w="382850"/>
                <a:gridCol w="382850"/>
                <a:gridCol w="382850"/>
                <a:gridCol w="382850"/>
              </a:tblGrid>
              <a:tr h="212500">
                <a:tc>
                  <a:txBody>
                    <a:bodyPr/>
                    <a:lstStyle/>
                    <a:p>
                      <a:pPr indent="0" lvl="0" marL="0" rtl="0" algn="l">
                        <a:spcBef>
                          <a:spcPts val="0"/>
                        </a:spcBef>
                        <a:spcAft>
                          <a:spcPts val="0"/>
                        </a:spcAft>
                        <a:buNone/>
                      </a:pPr>
                      <a:r>
                        <a:t/>
                      </a:r>
                      <a:endParaRPr/>
                    </a:p>
                  </a:txBody>
                  <a:tcPr marT="0" marB="0" marR="0" marL="0">
                    <a:solidFill>
                      <a:srgbClr val="E6B8AF"/>
                    </a:solidFill>
                  </a:tcPr>
                </a:tc>
                <a:tc>
                  <a:txBody>
                    <a:bodyPr/>
                    <a:lstStyle/>
                    <a:p>
                      <a:pPr indent="0" lvl="0" marL="0" rtl="0" algn="l">
                        <a:spcBef>
                          <a:spcPts val="0"/>
                        </a:spcBef>
                        <a:spcAft>
                          <a:spcPts val="0"/>
                        </a:spcAft>
                        <a:buNone/>
                      </a:pPr>
                      <a:r>
                        <a:t/>
                      </a:r>
                      <a:endParaRPr/>
                    </a:p>
                  </a:txBody>
                  <a:tcPr marT="0" marB="0" marR="0" marL="0">
                    <a:solidFill>
                      <a:srgbClr val="DD7E6B"/>
                    </a:solidFill>
                  </a:tcPr>
                </a:tc>
                <a:tc>
                  <a:txBody>
                    <a:bodyPr/>
                    <a:lstStyle/>
                    <a:p>
                      <a:pPr indent="0" lvl="0" marL="0" rtl="0" algn="l">
                        <a:spcBef>
                          <a:spcPts val="0"/>
                        </a:spcBef>
                        <a:spcAft>
                          <a:spcPts val="0"/>
                        </a:spcAft>
                        <a:buNone/>
                      </a:pPr>
                      <a:r>
                        <a:t/>
                      </a:r>
                      <a:endParaRPr/>
                    </a:p>
                  </a:txBody>
                  <a:tcPr marT="0" marB="0" marR="0" marL="0">
                    <a:solidFill>
                      <a:srgbClr val="CC4125"/>
                    </a:solidFill>
                  </a:tcPr>
                </a:tc>
                <a:tc>
                  <a:txBody>
                    <a:bodyPr/>
                    <a:lstStyle/>
                    <a:p>
                      <a:pPr indent="0" lvl="0" marL="0" rtl="0" algn="l">
                        <a:spcBef>
                          <a:spcPts val="0"/>
                        </a:spcBef>
                        <a:spcAft>
                          <a:spcPts val="0"/>
                        </a:spcAft>
                        <a:buNone/>
                      </a:pPr>
                      <a:r>
                        <a:t/>
                      </a:r>
                      <a:endParaRPr/>
                    </a:p>
                  </a:txBody>
                  <a:tcPr marT="0" marB="0" marR="0" marL="0">
                    <a:solidFill>
                      <a:srgbClr val="A61C00"/>
                    </a:solidFill>
                  </a:tcPr>
                </a:tc>
              </a:tr>
            </a:tbl>
          </a:graphicData>
        </a:graphic>
      </p:graphicFrame>
      <p:grpSp>
        <p:nvGrpSpPr>
          <p:cNvPr id="9836" name="Google Shape;9836;p471"/>
          <p:cNvGrpSpPr/>
          <p:nvPr/>
        </p:nvGrpSpPr>
        <p:grpSpPr>
          <a:xfrm>
            <a:off x="4029563" y="4828220"/>
            <a:ext cx="1531500" cy="212499"/>
            <a:chOff x="3947725" y="4311925"/>
            <a:chExt cx="1531500" cy="240275"/>
          </a:xfrm>
        </p:grpSpPr>
        <p:cxnSp>
          <p:nvCxnSpPr>
            <p:cNvPr id="9837" name="Google Shape;9837;p471"/>
            <p:cNvCxnSpPr/>
            <p:nvPr/>
          </p:nvCxnSpPr>
          <p:spPr>
            <a:xfrm>
              <a:off x="3950875" y="4311925"/>
              <a:ext cx="1525200" cy="0"/>
            </a:xfrm>
            <a:prstGeom prst="straightConnector1">
              <a:avLst/>
            </a:prstGeom>
            <a:noFill/>
            <a:ln cap="flat" cmpd="sng" w="28575">
              <a:solidFill>
                <a:schemeClr val="dk2"/>
              </a:solidFill>
              <a:prstDash val="solid"/>
              <a:round/>
              <a:headEnd len="med" w="med" type="none"/>
              <a:tailEnd len="med" w="med" type="triangle"/>
            </a:ln>
          </p:spPr>
        </p:cxnSp>
        <p:sp>
          <p:nvSpPr>
            <p:cNvPr id="9838" name="Google Shape;9838;p471"/>
            <p:cNvSpPr txBox="1"/>
            <p:nvPr/>
          </p:nvSpPr>
          <p:spPr>
            <a:xfrm>
              <a:off x="3947725" y="4338900"/>
              <a:ext cx="1531500" cy="21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Tie Strength</a:t>
              </a:r>
              <a:endParaRPr b="1">
                <a:latin typeface="Economica"/>
                <a:ea typeface="Economica"/>
                <a:cs typeface="Economica"/>
                <a:sym typeface="Economica"/>
              </a:endParaRPr>
            </a:p>
          </p:txBody>
        </p:sp>
      </p:grpSp>
      <p:sp>
        <p:nvSpPr>
          <p:cNvPr id="9839" name="Google Shape;9839;p471"/>
          <p:cNvSpPr/>
          <p:nvPr/>
        </p:nvSpPr>
        <p:spPr>
          <a:xfrm>
            <a:off x="5006625" y="976225"/>
            <a:ext cx="3972900" cy="3852000"/>
          </a:xfrm>
          <a:prstGeom prst="ellipse">
            <a:avLst/>
          </a:prstGeom>
          <a:solidFill>
            <a:srgbClr val="E6B8AF"/>
          </a:solidFill>
          <a:ln cap="flat" cmpd="sng" w="19050">
            <a:solidFill>
              <a:srgbClr val="E6B8A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0" name="Google Shape;9840;p471"/>
          <p:cNvSpPr/>
          <p:nvPr/>
        </p:nvSpPr>
        <p:spPr>
          <a:xfrm>
            <a:off x="6585534" y="2586779"/>
            <a:ext cx="815100" cy="474900"/>
          </a:xfrm>
          <a:prstGeom prst="ellipse">
            <a:avLst/>
          </a:prstGeom>
          <a:solidFill>
            <a:srgbClr val="E6B8AF"/>
          </a:solidFill>
          <a:ln cap="flat" cmpd="sng" w="19050">
            <a:solidFill>
              <a:srgbClr val="E6B8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9841" name="Google Shape;9841;p471"/>
          <p:cNvSpPr/>
          <p:nvPr/>
        </p:nvSpPr>
        <p:spPr>
          <a:xfrm>
            <a:off x="5561025" y="2081125"/>
            <a:ext cx="2864100" cy="2747100"/>
          </a:xfrm>
          <a:prstGeom prst="ellipse">
            <a:avLst/>
          </a:prstGeom>
          <a:solidFill>
            <a:srgbClr val="DD7E6B"/>
          </a:solidFill>
          <a:ln cap="flat" cmpd="sng" w="19050">
            <a:solidFill>
              <a:srgbClr val="DD7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2" name="Google Shape;9842;p471"/>
          <p:cNvSpPr/>
          <p:nvPr/>
        </p:nvSpPr>
        <p:spPr>
          <a:xfrm>
            <a:off x="6059775" y="3111625"/>
            <a:ext cx="1866600" cy="1716600"/>
          </a:xfrm>
          <a:prstGeom prst="ellipse">
            <a:avLst/>
          </a:prstGeom>
          <a:solidFill>
            <a:srgbClr val="CC4125"/>
          </a:solidFill>
          <a:ln cap="flat" cmpd="sng" w="1905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3" name="Google Shape;9843;p471"/>
          <p:cNvSpPr/>
          <p:nvPr/>
        </p:nvSpPr>
        <p:spPr>
          <a:xfrm>
            <a:off x="6547425" y="3996925"/>
            <a:ext cx="891300" cy="831300"/>
          </a:xfrm>
          <a:prstGeom prst="ellipse">
            <a:avLst/>
          </a:prstGeom>
          <a:solidFill>
            <a:srgbClr val="A61C00"/>
          </a:solidFill>
          <a:ln cap="flat" cmpd="sng" w="19050">
            <a:solidFill>
              <a:srgbClr val="A61C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1C232"/>
                </a:solidFill>
              </a:rPr>
              <a:t>Ego</a:t>
            </a:r>
            <a:endParaRPr b="1">
              <a:solidFill>
                <a:srgbClr val="F1C232"/>
              </a:solidFill>
            </a:endParaRPr>
          </a:p>
        </p:txBody>
      </p:sp>
      <p:sp>
        <p:nvSpPr>
          <p:cNvPr id="9844" name="Google Shape;9844;p471"/>
          <p:cNvSpPr txBox="1"/>
          <p:nvPr/>
        </p:nvSpPr>
        <p:spPr>
          <a:xfrm>
            <a:off x="6230475" y="3996925"/>
            <a:ext cx="15252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Support Clique (4-5)</a:t>
            </a:r>
            <a:endParaRPr b="1">
              <a:solidFill>
                <a:srgbClr val="FFD966"/>
              </a:solidFill>
              <a:latin typeface="Economica"/>
              <a:ea typeface="Economica"/>
              <a:cs typeface="Economica"/>
              <a:sym typeface="Economica"/>
            </a:endParaRPr>
          </a:p>
        </p:txBody>
      </p:sp>
      <p:sp>
        <p:nvSpPr>
          <p:cNvPr id="9845" name="Google Shape;9845;p471"/>
          <p:cNvSpPr txBox="1"/>
          <p:nvPr/>
        </p:nvSpPr>
        <p:spPr>
          <a:xfrm>
            <a:off x="6230475" y="3395639"/>
            <a:ext cx="15252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Sympathy Group (12-15)</a:t>
            </a:r>
            <a:endParaRPr b="1">
              <a:solidFill>
                <a:srgbClr val="FFD966"/>
              </a:solidFill>
              <a:latin typeface="Economica"/>
              <a:ea typeface="Economica"/>
              <a:cs typeface="Economica"/>
              <a:sym typeface="Economica"/>
            </a:endParaRPr>
          </a:p>
        </p:txBody>
      </p:sp>
      <p:sp>
        <p:nvSpPr>
          <p:cNvPr id="9846" name="Google Shape;9846;p471"/>
          <p:cNvSpPr txBox="1"/>
          <p:nvPr/>
        </p:nvSpPr>
        <p:spPr>
          <a:xfrm>
            <a:off x="6159375" y="2438425"/>
            <a:ext cx="16674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Affinity Group (45-50</a:t>
            </a:r>
            <a:endParaRPr b="1">
              <a:solidFill>
                <a:srgbClr val="FFD966"/>
              </a:solidFill>
              <a:latin typeface="Economica"/>
              <a:ea typeface="Economica"/>
              <a:cs typeface="Economica"/>
              <a:sym typeface="Economica"/>
            </a:endParaRPr>
          </a:p>
        </p:txBody>
      </p:sp>
      <p:sp>
        <p:nvSpPr>
          <p:cNvPr id="9847" name="Google Shape;9847;p471"/>
          <p:cNvSpPr txBox="1"/>
          <p:nvPr/>
        </p:nvSpPr>
        <p:spPr>
          <a:xfrm>
            <a:off x="6088125" y="1480521"/>
            <a:ext cx="18099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00"/>
                </a:solidFill>
                <a:latin typeface="Economica"/>
                <a:ea typeface="Economica"/>
                <a:cs typeface="Economica"/>
                <a:sym typeface="Economica"/>
              </a:rPr>
              <a:t>Active Network(120-150)</a:t>
            </a:r>
            <a:endParaRPr b="1">
              <a:solidFill>
                <a:srgbClr val="FFFF00"/>
              </a:solidFill>
              <a:latin typeface="Economica"/>
              <a:ea typeface="Economica"/>
              <a:cs typeface="Economica"/>
              <a:sym typeface="Economica"/>
            </a:endParaRPr>
          </a:p>
        </p:txBody>
      </p:sp>
    </p:spTree>
  </p:cSld>
  <p:clrMapOvr>
    <a:masterClrMapping/>
  </p:clrMapOvr>
</p:sld>
</file>

<file path=ppt/slides/slide4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51" name="Shape 9851"/>
        <p:cNvGrpSpPr/>
        <p:nvPr/>
      </p:nvGrpSpPr>
      <p:grpSpPr>
        <a:xfrm>
          <a:off x="0" y="0"/>
          <a:ext cx="0" cy="0"/>
          <a:chOff x="0" y="0"/>
          <a:chExt cx="0" cy="0"/>
        </a:xfrm>
      </p:grpSpPr>
      <p:sp>
        <p:nvSpPr>
          <p:cNvPr id="9852" name="Google Shape;9852;p47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853" name="Google Shape;9853;p472"/>
          <p:cNvSpPr txBox="1"/>
          <p:nvPr>
            <p:ph idx="1" type="body"/>
          </p:nvPr>
        </p:nvSpPr>
        <p:spPr>
          <a:xfrm>
            <a:off x="311700" y="1225225"/>
            <a:ext cx="47658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People high in trait extraversion:</a:t>
            </a:r>
            <a:endParaRPr/>
          </a:p>
          <a:p>
            <a:pPr indent="-317500" lvl="1" marL="914400" marR="0" rtl="0" algn="l">
              <a:lnSpc>
                <a:spcPct val="115000"/>
              </a:lnSpc>
              <a:spcBef>
                <a:spcPts val="0"/>
              </a:spcBef>
              <a:spcAft>
                <a:spcPts val="0"/>
              </a:spcAft>
              <a:buSzPts val="1400"/>
              <a:buChar char="○"/>
            </a:pPr>
            <a:r>
              <a:rPr lang="en"/>
              <a:t>Have larger networks at all layers</a:t>
            </a:r>
            <a:endParaRPr/>
          </a:p>
          <a:p>
            <a:pPr indent="-317500" lvl="1" marL="914400" marR="0" rtl="0" algn="l">
              <a:lnSpc>
                <a:spcPct val="115000"/>
              </a:lnSpc>
              <a:spcBef>
                <a:spcPts val="0"/>
              </a:spcBef>
              <a:spcAft>
                <a:spcPts val="0"/>
              </a:spcAft>
              <a:buSzPts val="1400"/>
              <a:buChar char="○"/>
            </a:pPr>
            <a:r>
              <a:rPr lang="en"/>
              <a:t>Tend to be part of strong tie triads</a:t>
            </a:r>
            <a:endParaRPr/>
          </a:p>
          <a:p>
            <a:pPr indent="-317500" lvl="1" marL="914400" marR="0" rtl="0" algn="l">
              <a:lnSpc>
                <a:spcPct val="115000"/>
              </a:lnSpc>
              <a:spcBef>
                <a:spcPts val="0"/>
              </a:spcBef>
              <a:spcAft>
                <a:spcPts val="0"/>
              </a:spcAft>
              <a:buSzPts val="1400"/>
              <a:buChar char="○"/>
            </a:pPr>
            <a:r>
              <a:rPr lang="en"/>
              <a:t>More likely to introduce friends of friends</a:t>
            </a:r>
            <a:endParaRPr/>
          </a:p>
          <a:p>
            <a:pPr indent="-317500" lvl="1" marL="914400" marR="0" rtl="0" algn="l">
              <a:lnSpc>
                <a:spcPct val="115000"/>
              </a:lnSpc>
              <a:spcBef>
                <a:spcPts val="0"/>
              </a:spcBef>
              <a:spcAft>
                <a:spcPts val="0"/>
              </a:spcAft>
              <a:buSzPts val="1400"/>
              <a:buChar char="○"/>
            </a:pPr>
            <a:r>
              <a:rPr lang="en"/>
              <a:t>Add new contacts at a faster rate</a:t>
            </a:r>
            <a:endParaRPr/>
          </a:p>
          <a:p>
            <a:pPr indent="-317500" lvl="1" marL="914400" marR="0" rtl="0" algn="l">
              <a:lnSpc>
                <a:spcPct val="115000"/>
              </a:lnSpc>
              <a:spcBef>
                <a:spcPts val="0"/>
              </a:spcBef>
              <a:spcAft>
                <a:spcPts val="0"/>
              </a:spcAft>
              <a:buSzPts val="1400"/>
              <a:buChar char="○"/>
            </a:pPr>
            <a:r>
              <a:rPr lang="en"/>
              <a:t>Have higher indegree and outdegree centrality</a:t>
            </a:r>
            <a:endParaRPr/>
          </a:p>
          <a:p>
            <a:pPr indent="-342900" lvl="0" marL="457200" marR="0" rtl="0" algn="l">
              <a:lnSpc>
                <a:spcPct val="115000"/>
              </a:lnSpc>
              <a:spcBef>
                <a:spcPts val="0"/>
              </a:spcBef>
              <a:spcAft>
                <a:spcPts val="0"/>
              </a:spcAft>
              <a:buSzPts val="1800"/>
              <a:buChar char="●"/>
            </a:pPr>
            <a:r>
              <a:rPr lang="en"/>
              <a:t>People high in trait agreeableness:</a:t>
            </a:r>
            <a:endParaRPr/>
          </a:p>
          <a:p>
            <a:pPr indent="-317500" lvl="1" marL="914400" marR="0" rtl="0" algn="l">
              <a:lnSpc>
                <a:spcPct val="115000"/>
              </a:lnSpc>
              <a:spcBef>
                <a:spcPts val="0"/>
              </a:spcBef>
              <a:spcAft>
                <a:spcPts val="0"/>
              </a:spcAft>
              <a:buSzPts val="1400"/>
              <a:buChar char="○"/>
            </a:pPr>
            <a:r>
              <a:rPr lang="en"/>
              <a:t>Have higher indegree</a:t>
            </a:r>
            <a:endParaRPr/>
          </a:p>
          <a:p>
            <a:pPr indent="-317500" lvl="1" marL="914400" marR="0" rtl="0" algn="l">
              <a:lnSpc>
                <a:spcPct val="115000"/>
              </a:lnSpc>
              <a:spcBef>
                <a:spcPts val="0"/>
              </a:spcBef>
              <a:spcAft>
                <a:spcPts val="0"/>
              </a:spcAft>
              <a:buSzPts val="1400"/>
              <a:buChar char="○"/>
            </a:pPr>
            <a:r>
              <a:rPr lang="en"/>
              <a:t>Add new contacts at a faster rate</a:t>
            </a:r>
            <a:endParaRPr/>
          </a:p>
          <a:p>
            <a:pPr indent="0" lvl="0" marL="914400" marR="0" rtl="0" algn="l">
              <a:lnSpc>
                <a:spcPct val="115000"/>
              </a:lnSpc>
              <a:spcBef>
                <a:spcPts val="1600"/>
              </a:spcBef>
              <a:spcAft>
                <a:spcPts val="1600"/>
              </a:spcAft>
              <a:buNone/>
            </a:pPr>
            <a:r>
              <a:t/>
            </a:r>
            <a:endParaRPr/>
          </a:p>
        </p:txBody>
      </p:sp>
      <p:graphicFrame>
        <p:nvGraphicFramePr>
          <p:cNvPr id="9854" name="Google Shape;9854;p472"/>
          <p:cNvGraphicFramePr/>
          <p:nvPr/>
        </p:nvGraphicFramePr>
        <p:xfrm>
          <a:off x="4029625" y="4534250"/>
          <a:ext cx="3000000" cy="3000000"/>
        </p:xfrm>
        <a:graphic>
          <a:graphicData uri="http://schemas.openxmlformats.org/drawingml/2006/table">
            <a:tbl>
              <a:tblPr>
                <a:noFill/>
                <a:tableStyleId>{7DE59CC5-BFA2-4C44-9D40-4E4266A2D9C1}</a:tableStyleId>
              </a:tblPr>
              <a:tblGrid>
                <a:gridCol w="382850"/>
                <a:gridCol w="382850"/>
                <a:gridCol w="382850"/>
                <a:gridCol w="382850"/>
              </a:tblGrid>
              <a:tr h="212500">
                <a:tc>
                  <a:txBody>
                    <a:bodyPr/>
                    <a:lstStyle/>
                    <a:p>
                      <a:pPr indent="0" lvl="0" marL="0" rtl="0" algn="l">
                        <a:spcBef>
                          <a:spcPts val="0"/>
                        </a:spcBef>
                        <a:spcAft>
                          <a:spcPts val="0"/>
                        </a:spcAft>
                        <a:buNone/>
                      </a:pPr>
                      <a:r>
                        <a:t/>
                      </a:r>
                      <a:endParaRPr/>
                    </a:p>
                  </a:txBody>
                  <a:tcPr marT="0" marB="0" marR="0" marL="0">
                    <a:solidFill>
                      <a:srgbClr val="E6B8AF"/>
                    </a:solidFill>
                  </a:tcPr>
                </a:tc>
                <a:tc>
                  <a:txBody>
                    <a:bodyPr/>
                    <a:lstStyle/>
                    <a:p>
                      <a:pPr indent="0" lvl="0" marL="0" rtl="0" algn="l">
                        <a:spcBef>
                          <a:spcPts val="0"/>
                        </a:spcBef>
                        <a:spcAft>
                          <a:spcPts val="0"/>
                        </a:spcAft>
                        <a:buNone/>
                      </a:pPr>
                      <a:r>
                        <a:t/>
                      </a:r>
                      <a:endParaRPr/>
                    </a:p>
                  </a:txBody>
                  <a:tcPr marT="0" marB="0" marR="0" marL="0">
                    <a:solidFill>
                      <a:srgbClr val="DD7E6B"/>
                    </a:solidFill>
                  </a:tcPr>
                </a:tc>
                <a:tc>
                  <a:txBody>
                    <a:bodyPr/>
                    <a:lstStyle/>
                    <a:p>
                      <a:pPr indent="0" lvl="0" marL="0" rtl="0" algn="l">
                        <a:spcBef>
                          <a:spcPts val="0"/>
                        </a:spcBef>
                        <a:spcAft>
                          <a:spcPts val="0"/>
                        </a:spcAft>
                        <a:buNone/>
                      </a:pPr>
                      <a:r>
                        <a:t/>
                      </a:r>
                      <a:endParaRPr/>
                    </a:p>
                  </a:txBody>
                  <a:tcPr marT="0" marB="0" marR="0" marL="0">
                    <a:solidFill>
                      <a:srgbClr val="CC4125"/>
                    </a:solidFill>
                  </a:tcPr>
                </a:tc>
                <a:tc>
                  <a:txBody>
                    <a:bodyPr/>
                    <a:lstStyle/>
                    <a:p>
                      <a:pPr indent="0" lvl="0" marL="0" rtl="0" algn="l">
                        <a:spcBef>
                          <a:spcPts val="0"/>
                        </a:spcBef>
                        <a:spcAft>
                          <a:spcPts val="0"/>
                        </a:spcAft>
                        <a:buNone/>
                      </a:pPr>
                      <a:r>
                        <a:t/>
                      </a:r>
                      <a:endParaRPr/>
                    </a:p>
                  </a:txBody>
                  <a:tcPr marT="0" marB="0" marR="0" marL="0">
                    <a:solidFill>
                      <a:srgbClr val="A61C00"/>
                    </a:solidFill>
                  </a:tcPr>
                </a:tc>
              </a:tr>
            </a:tbl>
          </a:graphicData>
        </a:graphic>
      </p:graphicFrame>
      <p:grpSp>
        <p:nvGrpSpPr>
          <p:cNvPr id="9855" name="Google Shape;9855;p472"/>
          <p:cNvGrpSpPr/>
          <p:nvPr/>
        </p:nvGrpSpPr>
        <p:grpSpPr>
          <a:xfrm>
            <a:off x="4029563" y="4828220"/>
            <a:ext cx="1531500" cy="212499"/>
            <a:chOff x="3947725" y="4311925"/>
            <a:chExt cx="1531500" cy="240275"/>
          </a:xfrm>
        </p:grpSpPr>
        <p:cxnSp>
          <p:nvCxnSpPr>
            <p:cNvPr id="9856" name="Google Shape;9856;p472"/>
            <p:cNvCxnSpPr/>
            <p:nvPr/>
          </p:nvCxnSpPr>
          <p:spPr>
            <a:xfrm>
              <a:off x="3950875" y="4311925"/>
              <a:ext cx="1525200" cy="0"/>
            </a:xfrm>
            <a:prstGeom prst="straightConnector1">
              <a:avLst/>
            </a:prstGeom>
            <a:noFill/>
            <a:ln cap="flat" cmpd="sng" w="28575">
              <a:solidFill>
                <a:schemeClr val="dk2"/>
              </a:solidFill>
              <a:prstDash val="solid"/>
              <a:round/>
              <a:headEnd len="med" w="med" type="none"/>
              <a:tailEnd len="med" w="med" type="triangle"/>
            </a:ln>
          </p:spPr>
        </p:cxnSp>
        <p:sp>
          <p:nvSpPr>
            <p:cNvPr id="9857" name="Google Shape;9857;p472"/>
            <p:cNvSpPr txBox="1"/>
            <p:nvPr/>
          </p:nvSpPr>
          <p:spPr>
            <a:xfrm>
              <a:off x="3947725" y="4338900"/>
              <a:ext cx="1531500" cy="21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Tie Strength</a:t>
              </a:r>
              <a:endParaRPr b="1">
                <a:latin typeface="Economica"/>
                <a:ea typeface="Economica"/>
                <a:cs typeface="Economica"/>
                <a:sym typeface="Economica"/>
              </a:endParaRPr>
            </a:p>
          </p:txBody>
        </p:sp>
      </p:grpSp>
      <p:sp>
        <p:nvSpPr>
          <p:cNvPr id="9858" name="Google Shape;9858;p472"/>
          <p:cNvSpPr/>
          <p:nvPr/>
        </p:nvSpPr>
        <p:spPr>
          <a:xfrm>
            <a:off x="5006625" y="976225"/>
            <a:ext cx="3972900" cy="3852000"/>
          </a:xfrm>
          <a:prstGeom prst="ellipse">
            <a:avLst/>
          </a:prstGeom>
          <a:solidFill>
            <a:srgbClr val="E6B8AF"/>
          </a:solidFill>
          <a:ln cap="flat" cmpd="sng" w="19050">
            <a:solidFill>
              <a:srgbClr val="E6B8A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9" name="Google Shape;9859;p472"/>
          <p:cNvSpPr/>
          <p:nvPr/>
        </p:nvSpPr>
        <p:spPr>
          <a:xfrm>
            <a:off x="6585534" y="2586779"/>
            <a:ext cx="815100" cy="474900"/>
          </a:xfrm>
          <a:prstGeom prst="ellipse">
            <a:avLst/>
          </a:prstGeom>
          <a:solidFill>
            <a:srgbClr val="E6B8AF"/>
          </a:solidFill>
          <a:ln cap="flat" cmpd="sng" w="19050">
            <a:solidFill>
              <a:srgbClr val="E6B8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Habibi"/>
                <a:ea typeface="Habibi"/>
                <a:cs typeface="Habibi"/>
                <a:sym typeface="Habibi"/>
              </a:rPr>
              <a:t>Ego</a:t>
            </a:r>
            <a:endParaRPr b="1" sz="1800">
              <a:solidFill>
                <a:srgbClr val="FFFFFF"/>
              </a:solidFill>
              <a:latin typeface="Habibi"/>
              <a:ea typeface="Habibi"/>
              <a:cs typeface="Habibi"/>
              <a:sym typeface="Habibi"/>
            </a:endParaRPr>
          </a:p>
        </p:txBody>
      </p:sp>
      <p:sp>
        <p:nvSpPr>
          <p:cNvPr id="9860" name="Google Shape;9860;p472"/>
          <p:cNvSpPr/>
          <p:nvPr/>
        </p:nvSpPr>
        <p:spPr>
          <a:xfrm>
            <a:off x="5561025" y="2081125"/>
            <a:ext cx="2864100" cy="2747100"/>
          </a:xfrm>
          <a:prstGeom prst="ellipse">
            <a:avLst/>
          </a:prstGeom>
          <a:solidFill>
            <a:srgbClr val="DD7E6B"/>
          </a:solidFill>
          <a:ln cap="flat" cmpd="sng" w="19050">
            <a:solidFill>
              <a:srgbClr val="DD7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1" name="Google Shape;9861;p472"/>
          <p:cNvSpPr/>
          <p:nvPr/>
        </p:nvSpPr>
        <p:spPr>
          <a:xfrm>
            <a:off x="6059775" y="3111625"/>
            <a:ext cx="1866600" cy="1716600"/>
          </a:xfrm>
          <a:prstGeom prst="ellipse">
            <a:avLst/>
          </a:prstGeom>
          <a:solidFill>
            <a:srgbClr val="CC4125"/>
          </a:solidFill>
          <a:ln cap="flat" cmpd="sng" w="1905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2" name="Google Shape;9862;p472"/>
          <p:cNvSpPr/>
          <p:nvPr/>
        </p:nvSpPr>
        <p:spPr>
          <a:xfrm>
            <a:off x="6547425" y="3996925"/>
            <a:ext cx="891300" cy="831300"/>
          </a:xfrm>
          <a:prstGeom prst="ellipse">
            <a:avLst/>
          </a:prstGeom>
          <a:solidFill>
            <a:srgbClr val="A61C00"/>
          </a:solidFill>
          <a:ln cap="flat" cmpd="sng" w="19050">
            <a:solidFill>
              <a:srgbClr val="A61C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1C232"/>
                </a:solidFill>
              </a:rPr>
              <a:t>Ego</a:t>
            </a:r>
            <a:endParaRPr b="1">
              <a:solidFill>
                <a:srgbClr val="F1C232"/>
              </a:solidFill>
            </a:endParaRPr>
          </a:p>
        </p:txBody>
      </p:sp>
      <p:sp>
        <p:nvSpPr>
          <p:cNvPr id="9863" name="Google Shape;9863;p472"/>
          <p:cNvSpPr txBox="1"/>
          <p:nvPr/>
        </p:nvSpPr>
        <p:spPr>
          <a:xfrm>
            <a:off x="6230475" y="3996925"/>
            <a:ext cx="15252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Support Clique (4-5)</a:t>
            </a:r>
            <a:endParaRPr b="1">
              <a:solidFill>
                <a:srgbClr val="FFD966"/>
              </a:solidFill>
              <a:latin typeface="Economica"/>
              <a:ea typeface="Economica"/>
              <a:cs typeface="Economica"/>
              <a:sym typeface="Economica"/>
            </a:endParaRPr>
          </a:p>
        </p:txBody>
      </p:sp>
      <p:sp>
        <p:nvSpPr>
          <p:cNvPr id="9864" name="Google Shape;9864;p472"/>
          <p:cNvSpPr txBox="1"/>
          <p:nvPr/>
        </p:nvSpPr>
        <p:spPr>
          <a:xfrm>
            <a:off x="6230475" y="3395639"/>
            <a:ext cx="15252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Sympathy Group (12-15)</a:t>
            </a:r>
            <a:endParaRPr b="1">
              <a:solidFill>
                <a:srgbClr val="FFD966"/>
              </a:solidFill>
              <a:latin typeface="Economica"/>
              <a:ea typeface="Economica"/>
              <a:cs typeface="Economica"/>
              <a:sym typeface="Economica"/>
            </a:endParaRPr>
          </a:p>
        </p:txBody>
      </p:sp>
      <p:sp>
        <p:nvSpPr>
          <p:cNvPr id="9865" name="Google Shape;9865;p472"/>
          <p:cNvSpPr txBox="1"/>
          <p:nvPr/>
        </p:nvSpPr>
        <p:spPr>
          <a:xfrm>
            <a:off x="6159375" y="2438425"/>
            <a:ext cx="16674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D966"/>
                </a:solidFill>
                <a:latin typeface="Economica"/>
                <a:ea typeface="Economica"/>
                <a:cs typeface="Economica"/>
                <a:sym typeface="Economica"/>
              </a:rPr>
              <a:t>Affinity Group (45-50</a:t>
            </a:r>
            <a:endParaRPr b="1">
              <a:solidFill>
                <a:srgbClr val="FFD966"/>
              </a:solidFill>
              <a:latin typeface="Economica"/>
              <a:ea typeface="Economica"/>
              <a:cs typeface="Economica"/>
              <a:sym typeface="Economica"/>
            </a:endParaRPr>
          </a:p>
        </p:txBody>
      </p:sp>
      <p:sp>
        <p:nvSpPr>
          <p:cNvPr id="9866" name="Google Shape;9866;p472"/>
          <p:cNvSpPr txBox="1"/>
          <p:nvPr/>
        </p:nvSpPr>
        <p:spPr>
          <a:xfrm>
            <a:off x="6088125" y="1480521"/>
            <a:ext cx="1809900" cy="26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00"/>
                </a:solidFill>
                <a:latin typeface="Economica"/>
                <a:ea typeface="Economica"/>
                <a:cs typeface="Economica"/>
                <a:sym typeface="Economica"/>
              </a:rPr>
              <a:t>Active Network(120-150)</a:t>
            </a:r>
            <a:endParaRPr b="1">
              <a:solidFill>
                <a:srgbClr val="FFFF00"/>
              </a:solidFill>
              <a:latin typeface="Economica"/>
              <a:ea typeface="Economica"/>
              <a:cs typeface="Economica"/>
              <a:sym typeface="Economica"/>
            </a:endParaRPr>
          </a:p>
        </p:txBody>
      </p:sp>
    </p:spTree>
  </p:cSld>
  <p:clrMapOvr>
    <a:masterClrMapping/>
  </p:clrMapOvr>
</p:sld>
</file>

<file path=ppt/slides/slide4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0" name="Shape 9870"/>
        <p:cNvGrpSpPr/>
        <p:nvPr/>
      </p:nvGrpSpPr>
      <p:grpSpPr>
        <a:xfrm>
          <a:off x="0" y="0"/>
          <a:ext cx="0" cy="0"/>
          <a:chOff x="0" y="0"/>
          <a:chExt cx="0" cy="0"/>
        </a:xfrm>
      </p:grpSpPr>
      <p:sp>
        <p:nvSpPr>
          <p:cNvPr id="9871" name="Google Shape;9871;p47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872" name="Google Shape;9872;p473"/>
          <p:cNvSpPr txBox="1"/>
          <p:nvPr>
            <p:ph idx="1" type="body"/>
          </p:nvPr>
        </p:nvSpPr>
        <p:spPr>
          <a:xfrm>
            <a:off x="311700" y="1225225"/>
            <a:ext cx="5669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Self monitoring:</a:t>
            </a:r>
            <a:endParaRPr/>
          </a:p>
          <a:p>
            <a:pPr indent="-317500" lvl="1" marL="914400" rtl="0" algn="l">
              <a:spcBef>
                <a:spcPts val="0"/>
              </a:spcBef>
              <a:spcAft>
                <a:spcPts val="0"/>
              </a:spcAft>
              <a:buSzPts val="1400"/>
              <a:buChar char="○"/>
            </a:pPr>
            <a:r>
              <a:rPr b="1" lang="en"/>
              <a:t>Are you a “social </a:t>
            </a:r>
            <a:r>
              <a:rPr b="1" lang="en"/>
              <a:t>chameleon” who changes depending on who you are interacting with and the social context or are you the same person regardless?</a:t>
            </a:r>
            <a:endParaRPr b="1"/>
          </a:p>
          <a:p>
            <a:pPr indent="-317500" lvl="1" marL="914400" rtl="0" algn="l">
              <a:spcBef>
                <a:spcPts val="0"/>
              </a:spcBef>
              <a:spcAft>
                <a:spcPts val="0"/>
              </a:spcAft>
              <a:buSzPts val="1400"/>
              <a:buChar char="○"/>
            </a:pPr>
            <a:r>
              <a:rPr i="1" lang="en">
                <a:solidFill>
                  <a:srgbClr val="FF0000"/>
                </a:solidFill>
              </a:rPr>
              <a:t>“[I]ndividuals high in self-monitoring...regulate their expressive self-presentation for the sake of desired public appearance</a:t>
            </a:r>
            <a:r>
              <a:rPr i="1" lang="en"/>
              <a:t>…[they are] highly responsive to cues of social and interpersonally-appropriate performances. Individuals low in self-monitoring...lack...the motivation to...reflect [on] their own enduring and momentary inner states, including their attitudes, traits and beliefs” </a:t>
            </a:r>
            <a:r>
              <a:rPr i="1" lang="en"/>
              <a:t> </a:t>
            </a:r>
            <a:r>
              <a:rPr lang="en"/>
              <a:t>(Snyder and Gangestad, 1986, p. 128)</a:t>
            </a:r>
            <a:endParaRPr/>
          </a:p>
        </p:txBody>
      </p:sp>
      <p:pic>
        <p:nvPicPr>
          <p:cNvPr id="9873" name="Google Shape;9873;p473"/>
          <p:cNvPicPr preferRelativeResize="0"/>
          <p:nvPr/>
        </p:nvPicPr>
        <p:blipFill>
          <a:blip r:embed="rId3">
            <a:alphaModFix/>
          </a:blip>
          <a:stretch>
            <a:fillRect/>
          </a:stretch>
        </p:blipFill>
        <p:spPr>
          <a:xfrm>
            <a:off x="5981400" y="1956775"/>
            <a:ext cx="2857800" cy="1890911"/>
          </a:xfrm>
          <a:prstGeom prst="rect">
            <a:avLst/>
          </a:prstGeom>
          <a:noFill/>
          <a:ln>
            <a:noFill/>
          </a:ln>
        </p:spPr>
      </p:pic>
    </p:spTree>
  </p:cSld>
  <p:clrMapOvr>
    <a:masterClrMapping/>
  </p:clrMapOvr>
</p:sld>
</file>

<file path=ppt/slides/slide4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7" name="Shape 9877"/>
        <p:cNvGrpSpPr/>
        <p:nvPr/>
      </p:nvGrpSpPr>
      <p:grpSpPr>
        <a:xfrm>
          <a:off x="0" y="0"/>
          <a:ext cx="0" cy="0"/>
          <a:chOff x="0" y="0"/>
          <a:chExt cx="0" cy="0"/>
        </a:xfrm>
      </p:grpSpPr>
      <p:sp>
        <p:nvSpPr>
          <p:cNvPr id="9878" name="Google Shape;9878;p47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879" name="Google Shape;9879;p474"/>
          <p:cNvSpPr txBox="1"/>
          <p:nvPr>
            <p:ph idx="1" type="body"/>
          </p:nvPr>
        </p:nvSpPr>
        <p:spPr>
          <a:xfrm>
            <a:off x="311700" y="1225225"/>
            <a:ext cx="5669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Self monitoring:</a:t>
            </a:r>
            <a:endParaRPr/>
          </a:p>
          <a:p>
            <a:pPr indent="-317500" lvl="1" marL="914400" rtl="0" algn="l">
              <a:spcBef>
                <a:spcPts val="0"/>
              </a:spcBef>
              <a:spcAft>
                <a:spcPts val="0"/>
              </a:spcAft>
              <a:buSzPts val="1400"/>
              <a:buChar char="○"/>
            </a:pPr>
            <a:r>
              <a:rPr b="1" lang="en"/>
              <a:t>Are you a “social chameleon” who changes depending on who you are interacting with and the social context or are you the same person regardless?</a:t>
            </a:r>
            <a:endParaRPr b="1"/>
          </a:p>
          <a:p>
            <a:pPr indent="-342900" lvl="0" marL="457200" rtl="0" algn="l">
              <a:spcBef>
                <a:spcPts val="0"/>
              </a:spcBef>
              <a:spcAft>
                <a:spcPts val="0"/>
              </a:spcAft>
              <a:buSzPts val="1800"/>
              <a:buChar char="●"/>
            </a:pPr>
            <a:r>
              <a:rPr lang="en"/>
              <a:t>Self-monitoring is a type of social skill:</a:t>
            </a:r>
            <a:endParaRPr/>
          </a:p>
          <a:p>
            <a:pPr indent="-317500" lvl="1" marL="914400" rtl="0" algn="l">
              <a:spcBef>
                <a:spcPts val="0"/>
              </a:spcBef>
              <a:spcAft>
                <a:spcPts val="0"/>
              </a:spcAft>
              <a:buSzPts val="1400"/>
              <a:buChar char="○"/>
            </a:pPr>
            <a:r>
              <a:rPr lang="en"/>
              <a:t>Use of humor in interaction</a:t>
            </a:r>
            <a:endParaRPr/>
          </a:p>
          <a:p>
            <a:pPr indent="-317500" lvl="1" marL="914400" rtl="0" algn="l">
              <a:spcBef>
                <a:spcPts val="0"/>
              </a:spcBef>
              <a:spcAft>
                <a:spcPts val="0"/>
              </a:spcAft>
              <a:buSzPts val="1400"/>
              <a:buChar char="○"/>
            </a:pPr>
            <a:r>
              <a:rPr lang="en"/>
              <a:t>Appropriate pace in conversation</a:t>
            </a:r>
            <a:endParaRPr/>
          </a:p>
          <a:p>
            <a:pPr indent="-317500" lvl="1" marL="914400" rtl="0" algn="l">
              <a:spcBef>
                <a:spcPts val="0"/>
              </a:spcBef>
              <a:spcAft>
                <a:spcPts val="0"/>
              </a:spcAft>
              <a:buSzPts val="1400"/>
              <a:buChar char="○"/>
            </a:pPr>
            <a:r>
              <a:rPr lang="en"/>
              <a:t>Less likely to do “self-talk”</a:t>
            </a:r>
            <a:endParaRPr/>
          </a:p>
          <a:p>
            <a:pPr indent="-317500" lvl="1" marL="914400" rtl="0" algn="l">
              <a:spcBef>
                <a:spcPts val="0"/>
              </a:spcBef>
              <a:spcAft>
                <a:spcPts val="0"/>
              </a:spcAft>
              <a:buSzPts val="1400"/>
              <a:buChar char="○"/>
            </a:pPr>
            <a:r>
              <a:rPr lang="en"/>
              <a:t>More likely to do “other talk”</a:t>
            </a:r>
            <a:endParaRPr/>
          </a:p>
          <a:p>
            <a:pPr indent="-317500" lvl="1" marL="914400" rtl="0" algn="l">
              <a:spcBef>
                <a:spcPts val="0"/>
              </a:spcBef>
              <a:spcAft>
                <a:spcPts val="0"/>
              </a:spcAft>
              <a:buSzPts val="1400"/>
              <a:buChar char="○"/>
            </a:pPr>
            <a:r>
              <a:rPr lang="en"/>
              <a:t>Likely to collaborate and compromise</a:t>
            </a:r>
            <a:endParaRPr/>
          </a:p>
        </p:txBody>
      </p:sp>
      <p:pic>
        <p:nvPicPr>
          <p:cNvPr id="9880" name="Google Shape;9880;p474"/>
          <p:cNvPicPr preferRelativeResize="0"/>
          <p:nvPr/>
        </p:nvPicPr>
        <p:blipFill>
          <a:blip r:embed="rId3">
            <a:alphaModFix/>
          </a:blip>
          <a:stretch>
            <a:fillRect/>
          </a:stretch>
        </p:blipFill>
        <p:spPr>
          <a:xfrm>
            <a:off x="5981400" y="1956775"/>
            <a:ext cx="2857800" cy="1890911"/>
          </a:xfrm>
          <a:prstGeom prst="rect">
            <a:avLst/>
          </a:prstGeom>
          <a:noFill/>
          <a:ln>
            <a:noFill/>
          </a:ln>
        </p:spPr>
      </p:pic>
    </p:spTree>
  </p:cSld>
  <p:clrMapOvr>
    <a:masterClrMapping/>
  </p:clrMapOvr>
</p:sld>
</file>

<file path=ppt/slides/slide4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4" name="Shape 9884"/>
        <p:cNvGrpSpPr/>
        <p:nvPr/>
      </p:nvGrpSpPr>
      <p:grpSpPr>
        <a:xfrm>
          <a:off x="0" y="0"/>
          <a:ext cx="0" cy="0"/>
          <a:chOff x="0" y="0"/>
          <a:chExt cx="0" cy="0"/>
        </a:xfrm>
      </p:grpSpPr>
      <p:sp>
        <p:nvSpPr>
          <p:cNvPr id="9885" name="Google Shape;9885;p47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social networks</a:t>
            </a:r>
            <a:endParaRPr/>
          </a:p>
        </p:txBody>
      </p:sp>
      <p:sp>
        <p:nvSpPr>
          <p:cNvPr id="9886" name="Google Shape;9886;p475"/>
          <p:cNvSpPr txBox="1"/>
          <p:nvPr>
            <p:ph idx="1" type="body"/>
          </p:nvPr>
        </p:nvSpPr>
        <p:spPr>
          <a:xfrm>
            <a:off x="311700" y="1225225"/>
            <a:ext cx="5669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Self monitoring:</a:t>
            </a:r>
            <a:endParaRPr/>
          </a:p>
          <a:p>
            <a:pPr indent="-317500" lvl="1" marL="914400" rtl="0" algn="l">
              <a:spcBef>
                <a:spcPts val="0"/>
              </a:spcBef>
              <a:spcAft>
                <a:spcPts val="0"/>
              </a:spcAft>
              <a:buSzPts val="1400"/>
              <a:buChar char="○"/>
            </a:pPr>
            <a:r>
              <a:rPr b="1" lang="en"/>
              <a:t>Are you a “social chameleon” who changes depending on who you are interacting with and the social context or are you the same person regardless?</a:t>
            </a:r>
            <a:endParaRPr b="1"/>
          </a:p>
          <a:p>
            <a:pPr indent="-342900" lvl="0" marL="457200" rtl="0" algn="l">
              <a:spcBef>
                <a:spcPts val="0"/>
              </a:spcBef>
              <a:spcAft>
                <a:spcPts val="0"/>
              </a:spcAft>
              <a:buSzPts val="1800"/>
              <a:buChar char="●"/>
            </a:pPr>
            <a:r>
              <a:rPr lang="en"/>
              <a:t>Self-monitors:</a:t>
            </a:r>
            <a:endParaRPr/>
          </a:p>
          <a:p>
            <a:pPr indent="-317500" lvl="1" marL="914400" rtl="0" algn="l">
              <a:spcBef>
                <a:spcPts val="0"/>
              </a:spcBef>
              <a:spcAft>
                <a:spcPts val="0"/>
              </a:spcAft>
              <a:buSzPts val="1400"/>
              <a:buChar char="○"/>
            </a:pPr>
            <a:r>
              <a:rPr lang="en"/>
              <a:t>Have higher indegree</a:t>
            </a:r>
            <a:endParaRPr/>
          </a:p>
          <a:p>
            <a:pPr indent="-317500" lvl="2" marL="1371600" rtl="0" algn="l">
              <a:spcBef>
                <a:spcPts val="0"/>
              </a:spcBef>
              <a:spcAft>
                <a:spcPts val="0"/>
              </a:spcAft>
              <a:buSzPts val="1400"/>
              <a:buChar char="■"/>
            </a:pPr>
            <a:r>
              <a:rPr lang="en"/>
              <a:t>In both sentiment (e.g., friendship) and exchange (e.g., advice) networks</a:t>
            </a:r>
            <a:endParaRPr/>
          </a:p>
          <a:p>
            <a:pPr indent="-317500" lvl="1" marL="914400" rtl="0" algn="l">
              <a:spcBef>
                <a:spcPts val="0"/>
              </a:spcBef>
              <a:spcAft>
                <a:spcPts val="0"/>
              </a:spcAft>
              <a:buSzPts val="1400"/>
              <a:buChar char="○"/>
            </a:pPr>
            <a:r>
              <a:rPr lang="en"/>
              <a:t>More likely to bridge structural holes</a:t>
            </a:r>
            <a:endParaRPr/>
          </a:p>
          <a:p>
            <a:pPr indent="-317500" lvl="2" marL="1371600" rtl="0" algn="l">
              <a:spcBef>
                <a:spcPts val="0"/>
              </a:spcBef>
              <a:spcAft>
                <a:spcPts val="0"/>
              </a:spcAft>
              <a:buSzPts val="1400"/>
              <a:buChar char="■"/>
            </a:pPr>
            <a:r>
              <a:rPr lang="en"/>
              <a:t>Betweenness</a:t>
            </a:r>
            <a:r>
              <a:rPr lang="en"/>
              <a:t> centrality</a:t>
            </a:r>
            <a:endParaRPr/>
          </a:p>
          <a:p>
            <a:pPr indent="-317500" lvl="2" marL="1371600" rtl="0" algn="l">
              <a:spcBef>
                <a:spcPts val="0"/>
              </a:spcBef>
              <a:spcAft>
                <a:spcPts val="0"/>
              </a:spcAft>
              <a:buSzPts val="1400"/>
              <a:buChar char="■"/>
            </a:pPr>
            <a:r>
              <a:rPr lang="en"/>
              <a:t>But only in sentiment networks</a:t>
            </a:r>
            <a:endParaRPr/>
          </a:p>
        </p:txBody>
      </p:sp>
      <p:pic>
        <p:nvPicPr>
          <p:cNvPr id="9887" name="Google Shape;9887;p475"/>
          <p:cNvPicPr preferRelativeResize="0"/>
          <p:nvPr/>
        </p:nvPicPr>
        <p:blipFill>
          <a:blip r:embed="rId3">
            <a:alphaModFix/>
          </a:blip>
          <a:stretch>
            <a:fillRect/>
          </a:stretch>
        </p:blipFill>
        <p:spPr>
          <a:xfrm>
            <a:off x="5981400" y="1956775"/>
            <a:ext cx="2857800" cy="1890911"/>
          </a:xfrm>
          <a:prstGeom prst="rect">
            <a:avLst/>
          </a:prstGeom>
          <a:noFill/>
          <a:ln>
            <a:noFill/>
          </a:ln>
        </p:spPr>
      </p:pic>
    </p:spTree>
  </p:cSld>
  <p:clrMapOvr>
    <a:masterClrMapping/>
  </p:clrMapOvr>
</p:sld>
</file>

<file path=ppt/slides/slide4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1" name="Shape 9891"/>
        <p:cNvGrpSpPr/>
        <p:nvPr/>
      </p:nvGrpSpPr>
      <p:grpSpPr>
        <a:xfrm>
          <a:off x="0" y="0"/>
          <a:ext cx="0" cy="0"/>
          <a:chOff x="0" y="0"/>
          <a:chExt cx="0" cy="0"/>
        </a:xfrm>
      </p:grpSpPr>
      <p:sp>
        <p:nvSpPr>
          <p:cNvPr id="9892" name="Google Shape;9892;p47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Personality traits and cognitive accuracy</a:t>
            </a:r>
            <a:endParaRPr/>
          </a:p>
        </p:txBody>
      </p:sp>
      <p:sp>
        <p:nvSpPr>
          <p:cNvPr id="9893" name="Google Shape;9893;p47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Some personality traits are linked to cognitive accuracy</a:t>
            </a:r>
            <a:endParaRPr/>
          </a:p>
          <a:p>
            <a:pPr indent="-317500" lvl="1" marL="914400" rtl="0" algn="l">
              <a:spcBef>
                <a:spcPts val="0"/>
              </a:spcBef>
              <a:spcAft>
                <a:spcPts val="0"/>
              </a:spcAft>
              <a:buSzPts val="1400"/>
              <a:buChar char="○"/>
            </a:pPr>
            <a:r>
              <a:rPr b="1" lang="en"/>
              <a:t>Need for achievement</a:t>
            </a:r>
            <a:endParaRPr b="1"/>
          </a:p>
          <a:p>
            <a:pPr indent="-317500" lvl="2" marL="1371600" rtl="0" algn="l">
              <a:spcBef>
                <a:spcPts val="0"/>
              </a:spcBef>
              <a:spcAft>
                <a:spcPts val="0"/>
              </a:spcAft>
              <a:buSzPts val="1400"/>
              <a:buChar char="■"/>
            </a:pPr>
            <a:r>
              <a:rPr lang="en"/>
              <a:t>Extent to which instrumental success is a valued goal</a:t>
            </a:r>
            <a:endParaRPr/>
          </a:p>
          <a:p>
            <a:pPr indent="-317500" lvl="3" marL="1828800" rtl="0" algn="l">
              <a:spcBef>
                <a:spcPts val="0"/>
              </a:spcBef>
              <a:spcAft>
                <a:spcPts val="0"/>
              </a:spcAft>
              <a:buSzPts val="1400"/>
              <a:buChar char="●"/>
            </a:pPr>
            <a:r>
              <a:rPr i="1" lang="en"/>
              <a:t>More accuracy in </a:t>
            </a:r>
            <a:r>
              <a:rPr i="1" lang="en"/>
              <a:t>sentiment</a:t>
            </a:r>
            <a:r>
              <a:rPr i="1" lang="en"/>
              <a:t> and exchange networks</a:t>
            </a:r>
            <a:endParaRPr i="1"/>
          </a:p>
          <a:p>
            <a:pPr indent="-317500" lvl="1" marL="914400" rtl="0" algn="l">
              <a:spcBef>
                <a:spcPts val="0"/>
              </a:spcBef>
              <a:spcAft>
                <a:spcPts val="0"/>
              </a:spcAft>
              <a:buSzPts val="1400"/>
              <a:buChar char="○"/>
            </a:pPr>
            <a:r>
              <a:rPr b="1" lang="en"/>
              <a:t>Need for attachment</a:t>
            </a:r>
            <a:endParaRPr b="1"/>
          </a:p>
          <a:p>
            <a:pPr indent="-317500" lvl="2" marL="1371600" rtl="0" algn="l">
              <a:spcBef>
                <a:spcPts val="0"/>
              </a:spcBef>
              <a:spcAft>
                <a:spcPts val="0"/>
              </a:spcAft>
              <a:buSzPts val="1400"/>
              <a:buChar char="■"/>
            </a:pPr>
            <a:r>
              <a:rPr lang="en"/>
              <a:t>Extent to which being liked by others is an important goal</a:t>
            </a:r>
            <a:endParaRPr/>
          </a:p>
          <a:p>
            <a:pPr indent="-317500" lvl="3" marL="1828800" rtl="0" algn="l">
              <a:spcBef>
                <a:spcPts val="0"/>
              </a:spcBef>
              <a:spcAft>
                <a:spcPts val="0"/>
              </a:spcAft>
              <a:buSzPts val="1400"/>
              <a:buChar char="●"/>
            </a:pPr>
            <a:r>
              <a:rPr i="1" lang="en"/>
              <a:t>More accuracy in sentiment but not exchange networks</a:t>
            </a:r>
            <a:endParaRPr i="1"/>
          </a:p>
          <a:p>
            <a:pPr indent="-317500" lvl="1" marL="914400" rtl="0" algn="l">
              <a:spcBef>
                <a:spcPts val="0"/>
              </a:spcBef>
              <a:spcAft>
                <a:spcPts val="0"/>
              </a:spcAft>
              <a:buSzPts val="1400"/>
              <a:buChar char="○"/>
            </a:pPr>
            <a:r>
              <a:rPr b="1" lang="en"/>
              <a:t>Need for closure</a:t>
            </a:r>
            <a:endParaRPr b="1"/>
          </a:p>
          <a:p>
            <a:pPr indent="-317500" lvl="2" marL="1371600" rtl="0" algn="l">
              <a:spcBef>
                <a:spcPts val="0"/>
              </a:spcBef>
              <a:spcAft>
                <a:spcPts val="0"/>
              </a:spcAft>
              <a:buSzPts val="1400"/>
              <a:buChar char="■"/>
            </a:pPr>
            <a:r>
              <a:rPr lang="en"/>
              <a:t>Extent to which order and lack of ambiguity are important</a:t>
            </a:r>
            <a:endParaRPr/>
          </a:p>
          <a:p>
            <a:pPr indent="-317500" lvl="3" marL="1828800" rtl="0" algn="l">
              <a:spcBef>
                <a:spcPts val="0"/>
              </a:spcBef>
              <a:spcAft>
                <a:spcPts val="0"/>
              </a:spcAft>
              <a:buSzPts val="1400"/>
              <a:buChar char="●"/>
            </a:pPr>
            <a:r>
              <a:rPr i="1" lang="en"/>
              <a:t>Less accurate perceptions of whether friends of friends are tied (overestimate)</a:t>
            </a:r>
            <a:endParaRPr i="1"/>
          </a:p>
          <a:p>
            <a:pPr indent="-317500" lvl="3" marL="1828800" rtl="0" algn="l">
              <a:spcBef>
                <a:spcPts val="0"/>
              </a:spcBef>
              <a:spcAft>
                <a:spcPts val="0"/>
              </a:spcAft>
              <a:buSzPts val="1400"/>
              <a:buChar char="●"/>
            </a:pPr>
            <a:r>
              <a:rPr i="1" lang="en"/>
              <a:t>Less accurate perceptions of homophily (overestimate)</a:t>
            </a:r>
            <a:endParaRPr i="1"/>
          </a:p>
          <a:p>
            <a:pPr indent="0" lvl="0" marL="91440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