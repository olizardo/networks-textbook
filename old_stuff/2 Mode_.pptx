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</p:sldIdLst>
  <p:sldSz cy="5143500" cx="9144000"/>
  <p:notesSz cx="6858000" cy="9144000"/>
  <p:embeddedFontLst>
    <p:embeddedFont>
      <p:font typeface="Economica"/>
      <p:regular r:id="rId56"/>
      <p:bold r:id="rId57"/>
      <p:italic r:id="rId58"/>
      <p:boldItalic r:id="rId59"/>
    </p:embeddedFont>
    <p:embeddedFont>
      <p:font typeface="Open Sans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OpenSans-italic.fntdata"/><Relationship Id="rId61" Type="http://schemas.openxmlformats.org/officeDocument/2006/relationships/font" Target="fonts/OpenSans-bold.fntdata"/><Relationship Id="rId20" Type="http://schemas.openxmlformats.org/officeDocument/2006/relationships/slide" Target="slides/slide16.xml"/><Relationship Id="rId63" Type="http://schemas.openxmlformats.org/officeDocument/2006/relationships/font" Target="fonts/OpenSans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OpenSans-regular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Economica-bold.fntdata"/><Relationship Id="rId12" Type="http://schemas.openxmlformats.org/officeDocument/2006/relationships/slide" Target="slides/slide8.xml"/><Relationship Id="rId56" Type="http://schemas.openxmlformats.org/officeDocument/2006/relationships/font" Target="fonts/Economica-regular.fntdata"/><Relationship Id="rId15" Type="http://schemas.openxmlformats.org/officeDocument/2006/relationships/slide" Target="slides/slide11.xml"/><Relationship Id="rId59" Type="http://schemas.openxmlformats.org/officeDocument/2006/relationships/font" Target="fonts/Economica-boldItalic.fntdata"/><Relationship Id="rId14" Type="http://schemas.openxmlformats.org/officeDocument/2006/relationships/slide" Target="slides/slide10.xml"/><Relationship Id="rId58" Type="http://schemas.openxmlformats.org/officeDocument/2006/relationships/font" Target="fonts/Economica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bdbbb156d_0_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bdbbb156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bdbbb156d_0_1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bdbbb156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bdbbb156d_0_1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bdbbb156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bdbbb156d_0_2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bdbbb156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b69f605d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b69f605d_0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69f605d_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b69f605d_01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0a4ede5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20a4ede59_0_6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0a4ede5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20a4ede59_0_5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4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b69f605d_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b69f605d_08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99fea6b7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199fea6b7_0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99fea6b7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199fea6b7_01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6cc8a06cc987a8871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6cc8a06cc987a88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bdbbb156d_1_3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bdbbb156d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bdbbb156d_0_3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bdbbb156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99fea6b7_02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99fea6b7_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99fea6b7_03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99fea6b7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99fea6b7_0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199fea6b7_0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Look at Sum d(i,k) n2 vs. n5</a:t>
            </a:r>
            <a:endParaRPr/>
          </a:p>
        </p:txBody>
      </p:sp>
      <p:sp>
        <p:nvSpPr>
          <p:cNvPr id="207" name="Google Shape;207;g199fea6b7_013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99fea6b7_0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199fea6b7_0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For an event:  irony,  if most members not in any other events, higher betweeness centrality, i.e. non-central actors create high event betweeness centrality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For an actor, if it belongs to an event with only one member (it), the actor gains betw centrality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LIKE  actors bridge events and have more centrality to the extent that only they do so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events bridge actors and more more centrality to the extent that only the event does so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Events: Look at n2 to n6,  must go through M2, which gives M2 higher centrality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Actors:  Look at N5 vs. N4 (or N2).  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	N5 connects all three events, while N4 and N2 connect none (because they only belong to one event).  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199fea6b7_013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99fea6b7_0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g199fea6b7_0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Subsets.  For example n5 set (m1, m2, m3)  covers n3 (m2, m3) , which covers n4 (m3) and n2 (m2)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In this case no overlaps among events</a:t>
            </a:r>
            <a:endParaRPr/>
          </a:p>
        </p:txBody>
      </p:sp>
      <p:sp>
        <p:nvSpPr>
          <p:cNvPr id="222" name="Google Shape;222;g199fea6b7_014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6cc8a06cc987a8872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6cc8a06cc987a88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6cc8a06cc987a8873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6cc8a06cc987a88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6cc8a06cc987a8874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6cc8a06cc987a88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6cc8a06cc987a8873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6cc8a06cc987a88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9a2b772d_0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9a2b772d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99fea6b7_015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99fea6b7_0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99fea6b7_016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99fea6b7_0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99fea6b7_016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99fea6b7_0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99fea6b7_018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99fea6b7_0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99fea6b7_017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99fea6b7_0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99fea6b7_018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99fea6b7_0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99fea6b7_020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99fea6b7_0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99fea6b7_019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99fea6b7_0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9a24a6e5_0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9a24a6e5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9a24a6e5_05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9a24a6e5_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9a24a6e5_06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9a24a6e5_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9a24a6e5_015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9a24a6e5_0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9a24a6e5_016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9a24a6e5_0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9a24a6e5_017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9a24a6e5_0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5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9a24a6e5_0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19a24a6e5_024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9a24a6e5_0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19a24a6e5_030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9a2b772d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19a2b772d_02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9a2b772d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19a2b772d_02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9a2b772d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19a2b772d_04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fc4f326f71_0_0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fc4f326f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9a2b772d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19a2b772d_03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9a2b772d_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19a2b772d_06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9a2b772d_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19a2b772d_05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5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Relationship Id="rId4" Type="http://schemas.openxmlformats.org/officeDocument/2006/relationships/image" Target="../media/image43.png"/><Relationship Id="rId5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18.png"/><Relationship Id="rId6" Type="http://schemas.openxmlformats.org/officeDocument/2006/relationships/image" Target="../media/image49.png"/><Relationship Id="rId7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9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8.png"/><Relationship Id="rId4" Type="http://schemas.openxmlformats.org/officeDocument/2006/relationships/image" Target="../media/image32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8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Two-Mode (Bipartite) Networks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aka Affiliation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Data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What if you do NOT have social network data?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i.e. information on interactions among persons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What if you have attendance data?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who is a member of which club?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who went to which social event?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who is a member of which board of directors?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Can you generate a good representation of the social network?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Affiliation Data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Actors and movies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Scientists and papers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Persons and “organizations” (or events)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Persons and boards of directors that they are 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Broadway plays and the people that create/produce/act in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Persons and objects (e.g., books purchased on Amazon, movies from Netflix)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Photos and tags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Countries and products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two-mode </a:t>
            </a:r>
            <a:r>
              <a:rPr lang="en-US"/>
              <a:t>(</a:t>
            </a:r>
            <a:r>
              <a:rPr lang="en-US"/>
              <a:t>affiliation, </a:t>
            </a:r>
            <a:r>
              <a:rPr lang="en-US"/>
              <a:t>bipartite, dual, membership, hyper</a:t>
            </a:r>
            <a:r>
              <a:rPr lang="en-US"/>
              <a:t>) network consists of: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Two types of </a:t>
            </a:r>
            <a:r>
              <a:rPr lang="en-US"/>
              <a:t>vertices</a:t>
            </a:r>
            <a:r>
              <a:rPr lang="en-US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</a:t>
            </a:r>
            <a:r>
              <a:rPr lang="en-US"/>
              <a:t>dges </a:t>
            </a:r>
            <a:r>
              <a:rPr lang="en-US"/>
              <a:t>that join</a:t>
            </a:r>
            <a:r>
              <a:rPr lang="en-US"/>
              <a:t> between types but not within types.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Affiliation networks are composed of three elements: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set of actors (g)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collection of subsets of those actors (h)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relation (membership) linking each actor to each event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mode networks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two-mode network and one-mode projection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8475" y="1147225"/>
            <a:ext cx="5987049" cy="10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500525" y="2406450"/>
            <a:ext cx="79350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Letters are people;  numbers are clubs in which they are a member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Can read both up and down:  A is in Club 1;  Club 1 has as members A, B and C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Degree = size of the club; number of clubs in which a person is a member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One-mode projection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For clubs:  put an edge if they share at least 1 member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For persons:  put an edge if they are in at least 1 club together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Weighted edges:  # of members shared;  # of clubs both people are in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Degree:  # of people that a person is in the same club with ( # of 2-paths); # of clubs that a club shares people with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first detailed treatment of affiliation networks is due to Breiger (1974) in a now classic paper on "The duality of persons and groups"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Affiliation networks can be used to formalize a classic notion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relations between entities are co-constituted by their relations to another set of entities (Simmel 1971)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Duality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Persons are related by the set of group memberships they have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Events are related by the set of persons who participate in both </a:t>
            </a:r>
            <a:endParaRPr/>
          </a:p>
        </p:txBody>
      </p:sp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mode networks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198825" y="1142250"/>
            <a:ext cx="36207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Affiliation networks can be represented with an affiliation matrix </a:t>
            </a:r>
            <a:r>
              <a:rPr b="1" lang="en-US"/>
              <a:t>A </a:t>
            </a:r>
            <a:r>
              <a:rPr lang="en-US"/>
              <a:t>of dimensions </a:t>
            </a:r>
            <a:r>
              <a:rPr i="1" lang="en-US"/>
              <a:t>g</a:t>
            </a:r>
            <a:r>
              <a:rPr lang="en-US"/>
              <a:t> x </a:t>
            </a:r>
            <a:r>
              <a:rPr i="1" lang="en-US"/>
              <a:t>h</a:t>
            </a:r>
            <a:r>
              <a:rPr lang="en-US"/>
              <a:t>, where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g is the number of actors (rows)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h is the number of events (columns)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</a:t>
            </a:r>
            <a:r>
              <a:rPr baseline="-25000" lang="en-US"/>
              <a:t>ik</a:t>
            </a:r>
            <a:r>
              <a:rPr lang="en-US"/>
              <a:t> = 1 if actor i is affiliated with event k and zero otherwise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mode projections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8579" y="4264863"/>
            <a:ext cx="1351403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095" y="4264863"/>
            <a:ext cx="1385925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6699" y="918426"/>
            <a:ext cx="2947087" cy="31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198825" y="1142250"/>
            <a:ext cx="36207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affiliation matrix yields a co-membership matrix X</a:t>
            </a:r>
            <a:r>
              <a:rPr baseline="30000" lang="en-US"/>
              <a:t>M</a:t>
            </a:r>
            <a:r>
              <a:rPr lang="en-US"/>
              <a:t> and an event overlap matrix X</a:t>
            </a:r>
            <a:r>
              <a:rPr baseline="30000" lang="en-US"/>
              <a:t>N</a:t>
            </a:r>
            <a:r>
              <a:rPr lang="en-US"/>
              <a:t>, where: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ij</a:t>
            </a:r>
            <a:r>
              <a:rPr baseline="30000" lang="en-US"/>
              <a:t>th</a:t>
            </a:r>
            <a:r>
              <a:rPr lang="en-US"/>
              <a:t> cell of X</a:t>
            </a:r>
            <a:r>
              <a:rPr baseline="30000" lang="en-US"/>
              <a:t>M</a:t>
            </a:r>
            <a:r>
              <a:rPr lang="en-US"/>
              <a:t> records the number of common persons shared by events i and j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ij</a:t>
            </a:r>
            <a:r>
              <a:rPr baseline="30000" lang="en-US"/>
              <a:t>th</a:t>
            </a:r>
            <a:r>
              <a:rPr lang="en-US"/>
              <a:t> cell of X</a:t>
            </a:r>
            <a:r>
              <a:rPr baseline="30000" lang="en-US"/>
              <a:t>N</a:t>
            </a:r>
            <a:r>
              <a:rPr lang="en-US"/>
              <a:t> records the number of common events shared by actors and i and j</a:t>
            </a:r>
            <a:endParaRPr/>
          </a:p>
        </p:txBody>
      </p:sp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mode projections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8579" y="4264863"/>
            <a:ext cx="1351403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095" y="4264863"/>
            <a:ext cx="1385925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6699" y="918426"/>
            <a:ext cx="2947087" cy="31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198825" y="1142250"/>
            <a:ext cx="36207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Note that A uniquely determines both X</a:t>
            </a:r>
            <a:r>
              <a:rPr baseline="30000" lang="en-US"/>
              <a:t>M </a:t>
            </a:r>
            <a:r>
              <a:rPr lang="en-US"/>
              <a:t>and X</a:t>
            </a:r>
            <a:r>
              <a:rPr baseline="30000" lang="en-US"/>
              <a:t>N</a:t>
            </a:r>
            <a:endParaRPr baseline="30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However, the reverse is not true (Faust 1997)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given co-membership matrix or event-overlap matrix may be consistent with very different affiliation matrices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mode projections</a:t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8579" y="4264863"/>
            <a:ext cx="1351403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095" y="4264863"/>
            <a:ext cx="1385925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6699" y="918426"/>
            <a:ext cx="2947087" cy="31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bipartite graph</a:t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 rotWithShape="1">
          <a:blip r:embed="rId3">
            <a:alphaModFix/>
          </a:blip>
          <a:srcRect b="12049" l="0" r="0" t="0"/>
          <a:stretch/>
        </p:blipFill>
        <p:spPr>
          <a:xfrm>
            <a:off x="4224338" y="3270200"/>
            <a:ext cx="1720125" cy="113880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48150" y="1210500"/>
            <a:ext cx="5926800" cy="16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 affiliation network may also be represented as a bipartite graph X</a:t>
            </a:r>
            <a:r>
              <a:rPr baseline="30000" lang="en-US"/>
              <a:t>NM </a:t>
            </a:r>
            <a:r>
              <a:rPr lang="en-US"/>
              <a:t>of dimensions (g + 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Because links exist only across the two types of vertices, the bipartite graph of an affiliation network has two "zero blocks"</a:t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 rotWithShape="1">
          <a:blip r:embed="rId4">
            <a:alphaModFix/>
          </a:blip>
          <a:srcRect b="0" l="14581" r="0" t="0"/>
          <a:stretch/>
        </p:blipFill>
        <p:spPr>
          <a:xfrm>
            <a:off x="6274950" y="1379025"/>
            <a:ext cx="2557350" cy="3158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901600"/>
            <a:ext cx="3545706" cy="18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Centrality measures in affiliation networks can be motivated in four different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centrality of actors (number of events that they participate in)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centrality of events (number of actors that participate in the event)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relationship between the two (do central actors tend to participate in central events?)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dual constitution of the two (the centrality of an event is proportional to the centrality of the actors that participate in it and vice versa)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486200" y="1195800"/>
            <a:ext cx="8229600" cy="24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Using the bipartite graph (X</a:t>
            </a:r>
            <a:r>
              <a:rPr baseline="30000" lang="en-US"/>
              <a:t>NM</a:t>
            </a:r>
            <a:r>
              <a:rPr lang="en-US"/>
              <a:t>), we can define the degree centrality of an actor (the number of events that they participate in)   as: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-US"/>
              <a:t>And the same for the degree centrality of an event (size of the event):</a:t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0973" y="2025688"/>
            <a:ext cx="2940056" cy="493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3950" y="2981938"/>
            <a:ext cx="3075627" cy="493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6000" y="3070575"/>
            <a:ext cx="1711707" cy="180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0275" y="3475025"/>
            <a:ext cx="2867000" cy="146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457200" y="1200150"/>
            <a:ext cx="4456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may also define actor-level centrality from the co-membership matrix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(one mode projection)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row sum of the number of non-zero entries (a binarized version)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Gives us the number of distinct actors k</a:t>
            </a:r>
            <a:r>
              <a:rPr baseline="30000" lang="en-US"/>
              <a:t>N</a:t>
            </a:r>
            <a:r>
              <a:rPr lang="en-US"/>
              <a:t> with which an actor shares and event in common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Note: Based on 2-paths</a:t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3800" y="1381144"/>
            <a:ext cx="2423606" cy="4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3700" y="3062063"/>
            <a:ext cx="1711707" cy="180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2475" y="1928909"/>
            <a:ext cx="1666950" cy="1133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311700" y="1225225"/>
            <a:ext cx="467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row sum of the raw entries gives us the number of contacts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(double-counting actors each time they are encountered)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That an actor comes into contact with by virtue of participating in an event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This is equal to the sum of the sizes - 1 of the events in which the actor participates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7374" y="4169263"/>
            <a:ext cx="3552546" cy="314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7800" y="2363756"/>
            <a:ext cx="1711707" cy="180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0175" y="1188909"/>
            <a:ext cx="1666950" cy="1133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</a:t>
            </a:r>
            <a:endParaRPr/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454250" y="1200150"/>
            <a:ext cx="56040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Events may also be thought of as having a "degree centrality"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row sum of the entries of the event-overlap matrix gives us the sum of the number of memberships of all of the actors that participate in the event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There is a relationship between actor and event centrality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The centrality of an actor is equal to the sum of the sizes of the events that she participate in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The centrality of an event is equal to the sum of the number of memberships of the actors that participate in it</a:t>
            </a:r>
            <a:endParaRPr/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8250" y="1200151"/>
            <a:ext cx="2386019" cy="2516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9504" y="3716900"/>
            <a:ext cx="1820760" cy="115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One Mode Projection:  The Role of Social Foci </a:t>
            </a:r>
            <a:endParaRPr/>
          </a:p>
        </p:txBody>
      </p:sp>
      <p:sp>
        <p:nvSpPr>
          <p:cNvPr id="178" name="Google Shape;178;p28"/>
          <p:cNvSpPr txBox="1"/>
          <p:nvPr/>
        </p:nvSpPr>
        <p:spPr>
          <a:xfrm>
            <a:off x="202975" y="2174850"/>
            <a:ext cx="8940900" cy="24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share a focus →  engage in joint activities → form a tie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foci vary in how constraining they 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more constraining → more likely to interact → form a tie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larger the focus → less likely to interact →  less likely to form a tie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more foci two people are in (especially if compatible) →  form a tie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triadic closure:  share a focus with a common friend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bridging:  foci inhibit bridging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bridgers more likely to be in two less compatible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clustering coefficient:  higher when individual draws ties from the same foci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..a social, psychological, legal, or physical entity around which joint activities are organized (e.g., workplaces, voluntary organizations, hangouts, families, etc.).  -- Feld, Scott L. "The focused organization of social ties." American journal of sociology (1981), p 1016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 Formation</a:t>
            </a:r>
            <a:endParaRPr/>
          </a:p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When is a social tie more likely to occur between two persons?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Homophily:  when two persons are similar on some trait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Triadic closure:  when two persons have a friend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Proximity:  when two persons are affiliated with the same organization (place, event…)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One-mode (interpersonal) network is a measure of vertex similarity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Similarity → tie formation.  Why?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attracted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likely to meet, bump into each other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through a common friend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through a common affiliation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Eigenvector centrality in affiliation networks</a:t>
            </a:r>
            <a:endParaRPr/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457200" y="1200150"/>
            <a:ext cx="8229600" cy="17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eigenvector centralities of actors and events may be defined in the same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Actors gain centrality from participating in central events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Events gain centrality when highly central persons participate in them</a:t>
            </a:r>
            <a:endParaRPr/>
          </a:p>
        </p:txBody>
      </p:sp>
      <p:grpSp>
        <p:nvGrpSpPr>
          <p:cNvPr id="192" name="Google Shape;192;p30"/>
          <p:cNvGrpSpPr/>
          <p:nvPr/>
        </p:nvGrpSpPr>
        <p:grpSpPr>
          <a:xfrm>
            <a:off x="3411138" y="3093869"/>
            <a:ext cx="2321719" cy="902475"/>
            <a:chOff x="3024188" y="3398794"/>
            <a:chExt cx="2321719" cy="902475"/>
          </a:xfrm>
        </p:grpSpPr>
        <p:pic>
          <p:nvPicPr>
            <p:cNvPr id="193" name="Google Shape;193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24188" y="3398794"/>
              <a:ext cx="2321719" cy="3571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24188" y="3944081"/>
              <a:ext cx="2321719" cy="35718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Eigenvector centrality in affiliation networks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457200" y="1200150"/>
            <a:ext cx="82296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eigenvector centralities of actors and events may be defined in the same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Eigenvector centralities of two mode networks explicitly incorporates the duality between actor and event centralities: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01" name="Google Shape;201;p31"/>
          <p:cNvGrpSpPr/>
          <p:nvPr/>
        </p:nvGrpSpPr>
        <p:grpSpPr>
          <a:xfrm>
            <a:off x="2769613" y="2875525"/>
            <a:ext cx="3604763" cy="1255294"/>
            <a:chOff x="2148338" y="3108225"/>
            <a:chExt cx="3604763" cy="1255294"/>
          </a:xfrm>
        </p:grpSpPr>
        <p:pic>
          <p:nvPicPr>
            <p:cNvPr id="202" name="Google Shape;202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09800" y="3108225"/>
              <a:ext cx="3543300" cy="500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148338" y="3863456"/>
              <a:ext cx="3464719" cy="50006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Closeness</a:t>
            </a:r>
            <a:endParaRPr/>
          </a:p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Distances between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Actor and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Actor to all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an actor closeness centrality is a function of minimal distances from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any of its events to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any of its events to other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an event, closeness centrality is a function of minimal distances from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its actors to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its actors to other events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Betweenness</a:t>
            </a:r>
            <a:endParaRPr/>
          </a:p>
        </p:txBody>
      </p:sp>
      <p:sp>
        <p:nvSpPr>
          <p:cNvPr id="217" name="Google Shape;217;p33"/>
          <p:cNvSpPr txBox="1"/>
          <p:nvPr>
            <p:ph idx="1" type="body"/>
          </p:nvPr>
        </p:nvSpPr>
        <p:spPr>
          <a:xfrm>
            <a:off x="304800" y="1200150"/>
            <a:ext cx="53697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Actors always on geodesics between events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Events always on geodesics between 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 event gains </a:t>
            </a:r>
            <a:r>
              <a:rPr lang="en-US"/>
              <a:t>betweenness</a:t>
            </a:r>
            <a:r>
              <a:rPr lang="en-US"/>
              <a:t> centrality when pairs of its members only meet through that event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(i.e. its actors belong to no other events)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 actor gains </a:t>
            </a:r>
            <a:r>
              <a:rPr lang="en-US"/>
              <a:t>betweenness</a:t>
            </a:r>
            <a:r>
              <a:rPr lang="en-US"/>
              <a:t> centrality when it is the only actor that is affiliated with a pair of events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(i.e.  the actor is the only member of the event) </a:t>
            </a:r>
            <a:endParaRPr/>
          </a:p>
        </p:txBody>
      </p:sp>
      <p:pic>
        <p:nvPicPr>
          <p:cNvPr id="218" name="Google Shape;218;p33"/>
          <p:cNvPicPr preferRelativeResize="0"/>
          <p:nvPr/>
        </p:nvPicPr>
        <p:blipFill rotWithShape="1">
          <a:blip r:embed="rId3">
            <a:alphaModFix/>
          </a:blip>
          <a:srcRect b="0" l="14775" r="8632" t="0"/>
          <a:stretch/>
        </p:blipFill>
        <p:spPr>
          <a:xfrm>
            <a:off x="5873800" y="1200150"/>
            <a:ext cx="2958500" cy="342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Overlap</a:t>
            </a:r>
            <a:endParaRPr/>
          </a:p>
        </p:txBody>
      </p:sp>
      <p:sp>
        <p:nvSpPr>
          <p:cNvPr id="225" name="Google Shape;225;p34"/>
          <p:cNvSpPr txBox="1"/>
          <p:nvPr>
            <p:ph idx="1" type="body"/>
          </p:nvPr>
        </p:nvSpPr>
        <p:spPr>
          <a:xfrm>
            <a:off x="457200" y="1200150"/>
            <a:ext cx="52242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Events are a sets of 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Actors are sets of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Ascending lines connect actors to subset of events it is affiliated with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Descending lines connect connect each event to actors that it is affiliated with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Lines connecting actors (events) indicate subset relations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Lower actors in diagram are more central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Higher events in diagram are more central</a:t>
            </a:r>
            <a:endParaRPr/>
          </a:p>
        </p:txBody>
      </p:sp>
      <p:grpSp>
        <p:nvGrpSpPr>
          <p:cNvPr id="226" name="Google Shape;226;p34"/>
          <p:cNvGrpSpPr/>
          <p:nvPr/>
        </p:nvGrpSpPr>
        <p:grpSpPr>
          <a:xfrm>
            <a:off x="6073825" y="1200150"/>
            <a:ext cx="2571750" cy="3658451"/>
            <a:chOff x="5672625" y="1200150"/>
            <a:chExt cx="2571750" cy="3658451"/>
          </a:xfrm>
        </p:grpSpPr>
        <p:pic>
          <p:nvPicPr>
            <p:cNvPr id="227" name="Google Shape;22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72625" y="1200150"/>
              <a:ext cx="2571750" cy="16109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29800" y="2689281"/>
              <a:ext cx="2057400" cy="216931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Analyzing large scale two mode networks</a:t>
            </a:r>
            <a:endParaRPr/>
          </a:p>
        </p:txBody>
      </p:sp>
      <p:sp>
        <p:nvSpPr>
          <p:cNvPr id="234" name="Google Shape;234;p3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Some terminology: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bipartite graph G= (V</a:t>
            </a:r>
            <a:r>
              <a:rPr baseline="30000" lang="en-US"/>
              <a:t>T</a:t>
            </a:r>
            <a:r>
              <a:rPr lang="en-US"/>
              <a:t>, V</a:t>
            </a:r>
            <a:r>
              <a:rPr baseline="30000" lang="en-US"/>
              <a:t>B</a:t>
            </a:r>
            <a:r>
              <a:rPr lang="en-US"/>
              <a:t>, E)  is triplet consisting of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"Top" nodes (V</a:t>
            </a:r>
            <a:r>
              <a:rPr baseline="30000" lang="en-US"/>
              <a:t>T</a:t>
            </a:r>
            <a:r>
              <a:rPr lang="en-US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"Bottom" nodes (V</a:t>
            </a:r>
            <a:r>
              <a:rPr baseline="30000" lang="en-US"/>
              <a:t>B</a:t>
            </a:r>
            <a:r>
              <a:rPr lang="en-US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And a set of edges (E)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Nodes are in two disjoints sets such that links go from nodes in one set to nodes in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Basic statistics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Graph size: n = |V|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Number of edges: m = |E|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Average degree: 2m / 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Density: 2m / (n(n-1))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basic statistics to two mode networks</a:t>
            </a:r>
            <a:endParaRPr/>
          </a:p>
        </p:txBody>
      </p:sp>
      <p:sp>
        <p:nvSpPr>
          <p:cNvPr id="240" name="Google Shape;240;p36"/>
          <p:cNvSpPr txBox="1"/>
          <p:nvPr>
            <p:ph idx="1" type="body"/>
          </p:nvPr>
        </p:nvSpPr>
        <p:spPr>
          <a:xfrm>
            <a:off x="457200" y="1200150"/>
            <a:ext cx="8229600" cy="20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Standard approaches to analyzing two-mode networks involve deriving the one-mode projection, this approach is not always ideal: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Information loss: bipartite structure is lost after projection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Artifactual properties: Clustering/density in the one-mode projection may not reflect the actual magnitude/presence of those properties in the two-mode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Edge inflation:  m in the one-mode graph is much larger than in the bipartite graph (each actor/event contributes multi-edges)</a:t>
            </a:r>
            <a:endParaRPr/>
          </a:p>
        </p:txBody>
      </p:sp>
      <p:pic>
        <p:nvPicPr>
          <p:cNvPr id="241" name="Google Shape;24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3406852"/>
            <a:ext cx="8375098" cy="1296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basic statistics to two mode networks</a:t>
            </a:r>
            <a:endParaRPr/>
          </a:p>
        </p:txBody>
      </p:sp>
      <p:sp>
        <p:nvSpPr>
          <p:cNvPr id="247" name="Google Shape;247;p37"/>
          <p:cNvSpPr txBox="1"/>
          <p:nvPr>
            <p:ph idx="1" type="body"/>
          </p:nvPr>
        </p:nvSpPr>
        <p:spPr>
          <a:xfrm>
            <a:off x="457200" y="1200150"/>
            <a:ext cx="8229600" cy="21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To deal with this issue Latapy and colleagues (2008) have proposed a "projection-free" approach for the analysis of (large) two-mode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This involves extending and finding analogues for: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Basic statistics in the two-mode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Distributional analysis of degrees to the two mode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Notions of clustering for the two mode case</a:t>
            </a:r>
            <a:endParaRPr/>
          </a:p>
        </p:txBody>
      </p:sp>
      <p:pic>
        <p:nvPicPr>
          <p:cNvPr id="248" name="Google Shape;24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50" y="3401225"/>
            <a:ext cx="8040500" cy="139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basic statistics to two mode networks</a:t>
            </a:r>
            <a:endParaRPr/>
          </a:p>
        </p:txBody>
      </p:sp>
      <p:sp>
        <p:nvSpPr>
          <p:cNvPr id="254" name="Google Shape;254;p3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Number of (top) Nodes: n↑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Number of (bottom) Nodes: n↓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Number of  edges: 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Average  (top) degree: k↑ = m/n↑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Average  (bottom) degree: k↓ = m/n↓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Average Degree in the Bipartite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k = 2m / (n↑ + n↓)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Density in the two-mode graph: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δ(G) = m / (n↑n↓)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Density in the Bipartite Graph: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δ(G’) = 2m / (n↑ + n↓)(n↑ + n↓ - 1)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basic statistics to two mode networks</a:t>
            </a:r>
            <a:endParaRPr/>
          </a:p>
        </p:txBody>
      </p:sp>
      <p:pic>
        <p:nvPicPr>
          <p:cNvPr id="260" name="Google Shape;26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64502"/>
            <a:ext cx="8520599" cy="299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degree-distribution analysis </a:t>
            </a:r>
            <a:endParaRPr/>
          </a:p>
        </p:txBody>
      </p:sp>
      <p:sp>
        <p:nvSpPr>
          <p:cNvPr id="266" name="Google Shape;266;p4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</a:t>
            </a:r>
            <a:r>
              <a:rPr baseline="-25000" lang="en-US"/>
              <a:t>k</a:t>
            </a:r>
            <a:r>
              <a:rPr lang="en-US"/>
              <a:t>↑ Fraction of top nodes with degree 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</a:t>
            </a:r>
            <a:r>
              <a:rPr baseline="-25000" lang="en-US"/>
              <a:t>k</a:t>
            </a:r>
            <a:r>
              <a:rPr lang="en-US"/>
              <a:t>↓ Fraction of bottom nodes with degree 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We may be interested in whether the distribution of degrees is homogeneous (normal) or heterogeneous (long-tailed)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We can do this by comparing the observed distribution with the expected distribution of a random two-mode graph of the same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r↑↓ is the correlation between top and bottom degree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Degree distribution in two mode networks</a:t>
            </a:r>
            <a:endParaRPr/>
          </a:p>
        </p:txBody>
      </p:sp>
      <p:pic>
        <p:nvPicPr>
          <p:cNvPr id="272" name="Google Shape;27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79930"/>
            <a:ext cx="8520599" cy="3144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Degree correlations in two mode networks</a:t>
            </a:r>
            <a:endParaRPr/>
          </a:p>
        </p:txBody>
      </p:sp>
      <p:pic>
        <p:nvPicPr>
          <p:cNvPr id="278" name="Google Shape;27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71" y="1339804"/>
            <a:ext cx="8520601" cy="3137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neighborhood notions</a:t>
            </a:r>
            <a:endParaRPr/>
          </a:p>
        </p:txBody>
      </p:sp>
      <p:sp>
        <p:nvSpPr>
          <p:cNvPr id="284" name="Google Shape;284;p4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a (top or bottom) node v, the immediate neighborhood N(v) is the number of nodes of a different type directly linked to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may extend that notion to the Distance-2 neighbors N(N(v))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In the bipartite graph, these are the number of (top/bottom) nodes that a node of the same type can reach via a node of a different type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Gets at the same information as centrality in the one-mode co-membership matrix without losing the bipartite structure</a:t>
            </a:r>
            <a:endParaRPr/>
          </a:p>
        </p:txBody>
      </p:sp>
      <p:pic>
        <p:nvPicPr>
          <p:cNvPr id="285" name="Google Shape;28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088" y="3550463"/>
            <a:ext cx="5813822" cy="757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neighborhood notions</a:t>
            </a:r>
            <a:endParaRPr/>
          </a:p>
        </p:txBody>
      </p:sp>
      <p:sp>
        <p:nvSpPr>
          <p:cNvPr id="291" name="Google Shape;291;p4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key indicator of the "efficiency" with which a given node connects to others is given by the correlation between a node's degree and the number of distance-2 neighbors compared to the same correlation in the corresponding random two-mode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1600"/>
              </a:spcAft>
              <a:buSzPts val="1400"/>
              <a:buChar char="○"/>
            </a:pPr>
            <a:r>
              <a:rPr lang="en-US"/>
              <a:t>This information is usually lost in the one-mode projection</a:t>
            </a:r>
            <a:endParaRPr/>
          </a:p>
        </p:txBody>
      </p:sp>
      <p:pic>
        <p:nvPicPr>
          <p:cNvPr id="292" name="Google Shape;29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9888" y="3510338"/>
            <a:ext cx="5813822" cy="757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Corr. between top and bottom degree and N(N(v))</a:t>
            </a:r>
            <a:endParaRPr/>
          </a:p>
        </p:txBody>
      </p:sp>
      <p:pic>
        <p:nvPicPr>
          <p:cNvPr id="298" name="Google Shape;29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92277"/>
            <a:ext cx="8520601" cy="3139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clustering notions</a:t>
            </a:r>
            <a:endParaRPr/>
          </a:p>
        </p:txBody>
      </p:sp>
      <p:sp>
        <p:nvSpPr>
          <p:cNvPr id="304" name="Google Shape;304;p4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clustering coefficient between any two nodes cc.(u, v) which belong to the same set (top or bottom) is given by the intersection of their one-step neighborhood divided by their union: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This definition only applies to pair of nodes, but we want a measure of clustering at the node level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can do this by taking the average of clustering between u's distance-2 neighbors:</a:t>
            </a:r>
            <a:endParaRPr/>
          </a:p>
        </p:txBody>
      </p:sp>
      <p:pic>
        <p:nvPicPr>
          <p:cNvPr id="305" name="Google Shape;30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3895488"/>
            <a:ext cx="5813822" cy="757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4075" y="2022363"/>
            <a:ext cx="1596168" cy="450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2313" y="3587901"/>
            <a:ext cx="1796400" cy="450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clustering notions</a:t>
            </a:r>
            <a:endParaRPr/>
          </a:p>
        </p:txBody>
      </p:sp>
      <p:sp>
        <p:nvSpPr>
          <p:cNvPr id="313" name="Google Shape;313;p4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can follow a similar approach to define the average clustering for all top nodes: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And the average clustering for all bottom nodes: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Total graph clustering: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cc(G) = (n↑cc.(↑) + n↓cc.(↓)) / (n↑n↓)</a:t>
            </a:r>
            <a:endParaRPr/>
          </a:p>
        </p:txBody>
      </p:sp>
      <p:pic>
        <p:nvPicPr>
          <p:cNvPr id="314" name="Google Shape;31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088" y="3821988"/>
            <a:ext cx="5813822" cy="757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2713" y="1835719"/>
            <a:ext cx="1564481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5575" y="2941381"/>
            <a:ext cx="1578769" cy="500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Extensions of clustering notions</a:t>
            </a:r>
            <a:endParaRPr/>
          </a:p>
        </p:txBody>
      </p:sp>
      <p:sp>
        <p:nvSpPr>
          <p:cNvPr id="322" name="Google Shape;322;p48"/>
          <p:cNvSpPr txBox="1"/>
          <p:nvPr>
            <p:ph idx="1" type="body"/>
          </p:nvPr>
        </p:nvSpPr>
        <p:spPr>
          <a:xfrm>
            <a:off x="311700" y="1225225"/>
            <a:ext cx="8520600" cy="21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previous definition of clustering uses the average across top and bottom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We may also define a graph clustering measure that is the analogue to the "counting triangles" measures of one-mode (triadic) clustering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In the two-mode case, we count "Quadruplets" (four node sets with two nodes of each kind and least three edges) instead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323" name="Google Shape;323;p48"/>
          <p:cNvGrpSpPr/>
          <p:nvPr/>
        </p:nvGrpSpPr>
        <p:grpSpPr>
          <a:xfrm>
            <a:off x="1163437" y="2982775"/>
            <a:ext cx="6817138" cy="1730363"/>
            <a:chOff x="1067212" y="4748100"/>
            <a:chExt cx="6817138" cy="1730363"/>
          </a:xfrm>
        </p:grpSpPr>
        <p:cxnSp>
          <p:nvCxnSpPr>
            <p:cNvPr id="324" name="Google Shape;324;p48"/>
            <p:cNvCxnSpPr/>
            <p:nvPr/>
          </p:nvCxnSpPr>
          <p:spPr>
            <a:xfrm rot="10800000">
              <a:off x="6626900" y="6249863"/>
              <a:ext cx="685800" cy="0"/>
            </a:xfrm>
            <a:prstGeom prst="straightConnector1">
              <a:avLst/>
            </a:prstGeom>
            <a:noFill/>
            <a:ln cap="rnd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cxnSp>
          <p:nvCxnSpPr>
            <p:cNvPr id="325" name="Google Shape;325;p48"/>
            <p:cNvCxnSpPr/>
            <p:nvPr/>
          </p:nvCxnSpPr>
          <p:spPr>
            <a:xfrm rot="10800000">
              <a:off x="1524412" y="6191224"/>
              <a:ext cx="685800" cy="1500"/>
            </a:xfrm>
            <a:prstGeom prst="straightConnector1">
              <a:avLst/>
            </a:prstGeom>
            <a:noFill/>
            <a:ln cap="rnd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cxnSp>
          <p:nvCxnSpPr>
            <p:cNvPr id="326" name="Google Shape;326;p48"/>
            <p:cNvCxnSpPr/>
            <p:nvPr/>
          </p:nvCxnSpPr>
          <p:spPr>
            <a:xfrm>
              <a:off x="1524412" y="4976700"/>
              <a:ext cx="685800" cy="0"/>
            </a:xfrm>
            <a:prstGeom prst="straightConnector1">
              <a:avLst/>
            </a:prstGeom>
            <a:noFill/>
            <a:ln cap="rnd" cmpd="sng" w="38100">
              <a:solidFill>
                <a:srgbClr val="228AFF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sp>
          <p:nvSpPr>
            <p:cNvPr id="327" name="Google Shape;327;p48"/>
            <p:cNvSpPr/>
            <p:nvPr/>
          </p:nvSpPr>
          <p:spPr>
            <a:xfrm>
              <a:off x="1067212" y="4748100"/>
              <a:ext cx="457200" cy="457200"/>
            </a:xfrm>
            <a:prstGeom prst="flowChartConnector">
              <a:avLst/>
            </a:prstGeom>
            <a:solidFill>
              <a:srgbClr val="228AFF"/>
            </a:solidFill>
            <a:ln cap="rnd" cmpd="sng" w="25400">
              <a:solidFill>
                <a:srgbClr val="228A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8"/>
            <p:cNvSpPr/>
            <p:nvPr/>
          </p:nvSpPr>
          <p:spPr>
            <a:xfrm>
              <a:off x="2210212" y="5962537"/>
              <a:ext cx="457200" cy="457200"/>
            </a:xfrm>
            <a:prstGeom prst="flowChartConnector">
              <a:avLst/>
            </a:prstGeom>
            <a:solidFill>
              <a:srgbClr val="FF0000"/>
            </a:solidFill>
            <a:ln cap="rnd" cmpd="sng" w="254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8"/>
            <p:cNvSpPr/>
            <p:nvPr/>
          </p:nvSpPr>
          <p:spPr>
            <a:xfrm>
              <a:off x="1067212" y="5962537"/>
              <a:ext cx="457200" cy="457200"/>
            </a:xfrm>
            <a:prstGeom prst="flowChartConnector">
              <a:avLst/>
            </a:prstGeom>
            <a:solidFill>
              <a:srgbClr val="000000"/>
            </a:solidFill>
            <a:ln cap="rnd" cmpd="sng" w="254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8"/>
            <p:cNvSpPr/>
            <p:nvPr/>
          </p:nvSpPr>
          <p:spPr>
            <a:xfrm>
              <a:off x="2210212" y="4748100"/>
              <a:ext cx="457200" cy="457200"/>
            </a:xfrm>
            <a:prstGeom prst="flowChartConnector">
              <a:avLst/>
            </a:prstGeom>
            <a:solidFill>
              <a:srgbClr val="000000"/>
            </a:solidFill>
            <a:ln cap="rnd" cmpd="sng" w="254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31" name="Google Shape;331;p48"/>
            <p:cNvCxnSpPr/>
            <p:nvPr/>
          </p:nvCxnSpPr>
          <p:spPr>
            <a:xfrm rot="5400000">
              <a:off x="917212" y="5583900"/>
              <a:ext cx="757200" cy="0"/>
            </a:xfrm>
            <a:prstGeom prst="straightConnector1">
              <a:avLst/>
            </a:prstGeom>
            <a:noFill/>
            <a:ln cap="rnd" cmpd="sng" w="38100">
              <a:solidFill>
                <a:srgbClr val="228AFF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cxnSp>
          <p:nvCxnSpPr>
            <p:cNvPr id="332" name="Google Shape;332;p48"/>
            <p:cNvCxnSpPr/>
            <p:nvPr/>
          </p:nvCxnSpPr>
          <p:spPr>
            <a:xfrm rot="-5400000">
              <a:off x="2059375" y="5584774"/>
              <a:ext cx="757200" cy="1500"/>
            </a:xfrm>
            <a:prstGeom prst="straightConnector1">
              <a:avLst/>
            </a:prstGeom>
            <a:noFill/>
            <a:ln cap="rnd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sp>
          <p:nvSpPr>
            <p:cNvPr id="333" name="Google Shape;333;p48"/>
            <p:cNvSpPr txBox="1"/>
            <p:nvPr/>
          </p:nvSpPr>
          <p:spPr>
            <a:xfrm>
              <a:off x="1295812" y="5400574"/>
              <a:ext cx="10491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Realized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4" name="Google Shape;334;p48"/>
            <p:cNvCxnSpPr/>
            <p:nvPr/>
          </p:nvCxnSpPr>
          <p:spPr>
            <a:xfrm>
              <a:off x="6626900" y="5106863"/>
              <a:ext cx="685800" cy="1500"/>
            </a:xfrm>
            <a:prstGeom prst="straightConnector1">
              <a:avLst/>
            </a:prstGeom>
            <a:noFill/>
            <a:ln cap="rnd" cmpd="sng" w="38100">
              <a:solidFill>
                <a:srgbClr val="228AFF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cxnSp>
          <p:nvCxnSpPr>
            <p:cNvPr id="335" name="Google Shape;335;p48"/>
            <p:cNvCxnSpPr/>
            <p:nvPr/>
          </p:nvCxnSpPr>
          <p:spPr>
            <a:xfrm rot="-5400000">
              <a:off x="7199149" y="5679199"/>
              <a:ext cx="685800" cy="1500"/>
            </a:xfrm>
            <a:prstGeom prst="straightConnector1">
              <a:avLst/>
            </a:prstGeom>
            <a:noFill/>
            <a:ln cap="rnd" cmpd="sng" w="38100">
              <a:solidFill>
                <a:srgbClr val="EA9999">
                  <a:alpha val="44710"/>
                </a:srgbClr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sp>
          <p:nvSpPr>
            <p:cNvPr id="336" name="Google Shape;336;p48"/>
            <p:cNvSpPr/>
            <p:nvPr/>
          </p:nvSpPr>
          <p:spPr>
            <a:xfrm>
              <a:off x="6169700" y="4878263"/>
              <a:ext cx="457200" cy="457200"/>
            </a:xfrm>
            <a:prstGeom prst="flowChartConnector">
              <a:avLst/>
            </a:prstGeom>
            <a:solidFill>
              <a:srgbClr val="228AFF"/>
            </a:solidFill>
            <a:ln cap="rnd" cmpd="sng" w="25400">
              <a:solidFill>
                <a:srgbClr val="228A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8"/>
            <p:cNvSpPr/>
            <p:nvPr/>
          </p:nvSpPr>
          <p:spPr>
            <a:xfrm>
              <a:off x="7312700" y="6021263"/>
              <a:ext cx="457200" cy="457200"/>
            </a:xfrm>
            <a:prstGeom prst="flowChartConnector">
              <a:avLst/>
            </a:prstGeom>
            <a:solidFill>
              <a:srgbClr val="FF0000"/>
            </a:solidFill>
            <a:ln cap="rnd" cmpd="sng" w="254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8"/>
            <p:cNvSpPr/>
            <p:nvPr/>
          </p:nvSpPr>
          <p:spPr>
            <a:xfrm>
              <a:off x="6169700" y="6021263"/>
              <a:ext cx="457200" cy="457200"/>
            </a:xfrm>
            <a:prstGeom prst="flowChartConnector">
              <a:avLst/>
            </a:prstGeom>
            <a:solidFill>
              <a:srgbClr val="000000"/>
            </a:solidFill>
            <a:ln cap="rnd" cmpd="sng" w="254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8"/>
            <p:cNvSpPr/>
            <p:nvPr/>
          </p:nvSpPr>
          <p:spPr>
            <a:xfrm>
              <a:off x="7312700" y="4878263"/>
              <a:ext cx="457200" cy="457200"/>
            </a:xfrm>
            <a:prstGeom prst="flowChartConnector">
              <a:avLst/>
            </a:prstGeom>
            <a:solidFill>
              <a:srgbClr val="000000"/>
            </a:solidFill>
            <a:ln cap="rnd" cmpd="sng" w="254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40" name="Google Shape;340;p48"/>
            <p:cNvCxnSpPr/>
            <p:nvPr/>
          </p:nvCxnSpPr>
          <p:spPr>
            <a:xfrm rot="5400000">
              <a:off x="6053899" y="5678363"/>
              <a:ext cx="687300" cy="1500"/>
            </a:xfrm>
            <a:prstGeom prst="straightConnector1">
              <a:avLst/>
            </a:prstGeom>
            <a:noFill/>
            <a:ln cap="rnd" cmpd="sng" w="38100">
              <a:solidFill>
                <a:srgbClr val="228AFF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sp>
          <p:nvSpPr>
            <p:cNvPr id="341" name="Google Shape;341;p48"/>
            <p:cNvSpPr txBox="1"/>
            <p:nvPr/>
          </p:nvSpPr>
          <p:spPr>
            <a:xfrm>
              <a:off x="7598450" y="5521200"/>
              <a:ext cx="2859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48"/>
            <p:cNvSpPr txBox="1"/>
            <p:nvPr/>
          </p:nvSpPr>
          <p:spPr>
            <a:xfrm>
              <a:off x="6495650" y="5494163"/>
              <a:ext cx="9483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Possible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3" name="Google Shape;343;p4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04913" y="5206924"/>
              <a:ext cx="1933575" cy="571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clustering notions</a:t>
            </a:r>
            <a:endParaRPr/>
          </a:p>
        </p:txBody>
      </p:sp>
      <p:sp>
        <p:nvSpPr>
          <p:cNvPr id="349" name="Google Shape;349;p4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When there is heterogeneity in the (top or bottom) degree, the standard intersection over union strategy to measure dyadic clustering may not be effective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It is likely that one node's neighborhood will be completely swamped by the other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1600"/>
              </a:spcBef>
              <a:spcAft>
                <a:spcPts val="1600"/>
              </a:spcAft>
              <a:buSzPts val="1900"/>
              <a:buFont typeface="Calibri"/>
              <a:buChar char="●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In this case, a "min" or "max" clustering strategy may be most appropriate: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Google Shape;35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1175" y="3627331"/>
            <a:ext cx="2121694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8738" y="3627331"/>
            <a:ext cx="2093119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8738" y="4054388"/>
            <a:ext cx="5813822" cy="757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clustering notions</a:t>
            </a:r>
            <a:endParaRPr/>
          </a:p>
        </p:txBody>
      </p:sp>
      <p:pic>
        <p:nvPicPr>
          <p:cNvPr id="358" name="Google Shape;35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463" y="4051556"/>
            <a:ext cx="2121694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2788" y="4051556"/>
            <a:ext cx="2093119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0463" y="3221239"/>
            <a:ext cx="1569164" cy="443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02788" y="3279087"/>
            <a:ext cx="1113083" cy="327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1318746"/>
            <a:ext cx="6857999" cy="1684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Cumulative distribution of clustering coefficients</a:t>
            </a:r>
            <a:endParaRPr/>
          </a:p>
        </p:txBody>
      </p:sp>
      <p:pic>
        <p:nvPicPr>
          <p:cNvPr id="368" name="Google Shape;36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5" y="1307697"/>
            <a:ext cx="8520599" cy="3200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Cumulative distribution of cc. (real vs random)</a:t>
            </a:r>
            <a:endParaRPr/>
          </a:p>
        </p:txBody>
      </p:sp>
      <p:pic>
        <p:nvPicPr>
          <p:cNvPr id="374" name="Google Shape;37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7" y="2035969"/>
            <a:ext cx="5850733" cy="2175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Correlation between node degree and clustering</a:t>
            </a:r>
            <a:endParaRPr/>
          </a:p>
        </p:txBody>
      </p:sp>
      <p:pic>
        <p:nvPicPr>
          <p:cNvPr id="380" name="Google Shape;38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44123"/>
            <a:ext cx="8520600" cy="3127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888" y="1371534"/>
            <a:ext cx="6322220" cy="1100138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Redundancy in two-mode networks</a:t>
            </a:r>
            <a:endParaRPr/>
          </a:p>
        </p:txBody>
      </p:sp>
      <p:sp>
        <p:nvSpPr>
          <p:cNvPr id="387" name="Google Shape;387;p54"/>
          <p:cNvSpPr txBox="1"/>
          <p:nvPr/>
        </p:nvSpPr>
        <p:spPr>
          <a:xfrm>
            <a:off x="1689425" y="1353863"/>
            <a:ext cx="312600" cy="26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A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8" name="Google Shape;388;p54"/>
          <p:cNvSpPr txBox="1"/>
          <p:nvPr/>
        </p:nvSpPr>
        <p:spPr>
          <a:xfrm>
            <a:off x="921088" y="1380188"/>
            <a:ext cx="2499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B</a:t>
            </a:r>
            <a:endParaRPr/>
          </a:p>
        </p:txBody>
      </p:sp>
      <p:sp>
        <p:nvSpPr>
          <p:cNvPr id="389" name="Google Shape;389;p54"/>
          <p:cNvSpPr txBox="1"/>
          <p:nvPr/>
        </p:nvSpPr>
        <p:spPr>
          <a:xfrm>
            <a:off x="2541925" y="1371525"/>
            <a:ext cx="2961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C</a:t>
            </a:r>
            <a:endParaRPr/>
          </a:p>
        </p:txBody>
      </p:sp>
      <p:sp>
        <p:nvSpPr>
          <p:cNvPr id="390" name="Google Shape;390;p54"/>
          <p:cNvSpPr txBox="1"/>
          <p:nvPr/>
        </p:nvSpPr>
        <p:spPr>
          <a:xfrm>
            <a:off x="902668" y="2284397"/>
            <a:ext cx="20352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1        2       3        4</a:t>
            </a:r>
            <a:endParaRPr/>
          </a:p>
        </p:txBody>
      </p:sp>
      <p:grpSp>
        <p:nvGrpSpPr>
          <p:cNvPr id="391" name="Google Shape;391;p54"/>
          <p:cNvGrpSpPr/>
          <p:nvPr/>
        </p:nvGrpSpPr>
        <p:grpSpPr>
          <a:xfrm>
            <a:off x="1464991" y="2663879"/>
            <a:ext cx="1239245" cy="1997100"/>
            <a:chOff x="37150" y="0"/>
            <a:chExt cx="2944275" cy="3000000"/>
          </a:xfrm>
        </p:grpSpPr>
        <p:sp>
          <p:nvSpPr>
            <p:cNvPr id="392" name="Google Shape;392;p54"/>
            <p:cNvSpPr/>
            <p:nvPr/>
          </p:nvSpPr>
          <p:spPr>
            <a:xfrm>
              <a:off x="1118900" y="156250"/>
              <a:ext cx="511150" cy="328275"/>
            </a:xfrm>
            <a:custGeom>
              <a:rect b="b" l="l" r="r" t="t"/>
              <a:pathLst>
                <a:path extrusionOk="0" h="13131" w="20446">
                  <a:moveTo>
                    <a:pt x="12651" y="1461"/>
                  </a:moveTo>
                  <a:cubicBezTo>
                    <a:pt x="14142" y="1461"/>
                    <a:pt x="15227" y="1591"/>
                    <a:pt x="15906" y="1852"/>
                  </a:cubicBezTo>
                  <a:cubicBezTo>
                    <a:pt x="16585" y="2113"/>
                    <a:pt x="16924" y="2528"/>
                    <a:pt x="16924" y="3096"/>
                  </a:cubicBezTo>
                  <a:cubicBezTo>
                    <a:pt x="16924" y="3823"/>
                    <a:pt x="16421" y="4392"/>
                    <a:pt x="15414" y="4802"/>
                  </a:cubicBezTo>
                  <a:cubicBezTo>
                    <a:pt x="14407" y="5213"/>
                    <a:pt x="13008" y="5418"/>
                    <a:pt x="11216" y="5418"/>
                  </a:cubicBezTo>
                  <a:lnTo>
                    <a:pt x="6193" y="5418"/>
                  </a:lnTo>
                  <a:lnTo>
                    <a:pt x="7661" y="1461"/>
                  </a:lnTo>
                  <a:close/>
                  <a:moveTo>
                    <a:pt x="11083" y="6860"/>
                  </a:moveTo>
                  <a:cubicBezTo>
                    <a:pt x="12696" y="6860"/>
                    <a:pt x="13867" y="7018"/>
                    <a:pt x="14596" y="7335"/>
                  </a:cubicBezTo>
                  <a:cubicBezTo>
                    <a:pt x="15325" y="7652"/>
                    <a:pt x="15689" y="8156"/>
                    <a:pt x="15689" y="8848"/>
                  </a:cubicBezTo>
                  <a:cubicBezTo>
                    <a:pt x="15689" y="9744"/>
                    <a:pt x="15138" y="10439"/>
                    <a:pt x="14037" y="10932"/>
                  </a:cubicBezTo>
                  <a:cubicBezTo>
                    <a:pt x="12935" y="11424"/>
                    <a:pt x="11366" y="11670"/>
                    <a:pt x="9330" y="11670"/>
                  </a:cubicBezTo>
                  <a:lnTo>
                    <a:pt x="3906" y="11670"/>
                  </a:lnTo>
                  <a:lnTo>
                    <a:pt x="5675" y="6860"/>
                  </a:lnTo>
                  <a:close/>
                  <a:moveTo>
                    <a:pt x="4858" y="1"/>
                  </a:moveTo>
                  <a:lnTo>
                    <a:pt x="1" y="13130"/>
                  </a:lnTo>
                  <a:lnTo>
                    <a:pt x="8796" y="13130"/>
                  </a:lnTo>
                  <a:cubicBezTo>
                    <a:pt x="12012" y="13130"/>
                    <a:pt x="14546" y="12746"/>
                    <a:pt x="16398" y="11978"/>
                  </a:cubicBezTo>
                  <a:cubicBezTo>
                    <a:pt x="18251" y="11210"/>
                    <a:pt x="19177" y="10167"/>
                    <a:pt x="19177" y="8848"/>
                  </a:cubicBezTo>
                  <a:cubicBezTo>
                    <a:pt x="19177" y="8074"/>
                    <a:pt x="18832" y="7455"/>
                    <a:pt x="18142" y="6992"/>
                  </a:cubicBezTo>
                  <a:cubicBezTo>
                    <a:pt x="17452" y="6529"/>
                    <a:pt x="16418" y="6215"/>
                    <a:pt x="15038" y="6051"/>
                  </a:cubicBezTo>
                  <a:cubicBezTo>
                    <a:pt x="16651" y="5922"/>
                    <a:pt x="17956" y="5551"/>
                    <a:pt x="18952" y="4939"/>
                  </a:cubicBezTo>
                  <a:cubicBezTo>
                    <a:pt x="19948" y="4326"/>
                    <a:pt x="20445" y="3598"/>
                    <a:pt x="20445" y="2753"/>
                  </a:cubicBezTo>
                  <a:cubicBezTo>
                    <a:pt x="20445" y="1833"/>
                    <a:pt x="19867" y="1144"/>
                    <a:pt x="18710" y="687"/>
                  </a:cubicBezTo>
                  <a:cubicBezTo>
                    <a:pt x="17553" y="230"/>
                    <a:pt x="15806" y="1"/>
                    <a:pt x="1346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54"/>
            <p:cNvSpPr/>
            <p:nvPr/>
          </p:nvSpPr>
          <p:spPr>
            <a:xfrm>
              <a:off x="2274250" y="150325"/>
              <a:ext cx="557875" cy="340575"/>
            </a:xfrm>
            <a:custGeom>
              <a:rect b="b" l="l" r="r" t="t"/>
              <a:pathLst>
                <a:path extrusionOk="0" h="13623" w="22315">
                  <a:moveTo>
                    <a:pt x="14704" y="1"/>
                  </a:moveTo>
                  <a:cubicBezTo>
                    <a:pt x="12390" y="1"/>
                    <a:pt x="10362" y="212"/>
                    <a:pt x="8621" y="634"/>
                  </a:cubicBezTo>
                  <a:cubicBezTo>
                    <a:pt x="6880" y="1056"/>
                    <a:pt x="5330" y="1709"/>
                    <a:pt x="3973" y="2595"/>
                  </a:cubicBezTo>
                  <a:cubicBezTo>
                    <a:pt x="2693" y="3427"/>
                    <a:pt x="1712" y="4348"/>
                    <a:pt x="1027" y="5356"/>
                  </a:cubicBezTo>
                  <a:cubicBezTo>
                    <a:pt x="343" y="6364"/>
                    <a:pt x="1" y="7390"/>
                    <a:pt x="1" y="8434"/>
                  </a:cubicBezTo>
                  <a:cubicBezTo>
                    <a:pt x="1" y="10064"/>
                    <a:pt x="899" y="11336"/>
                    <a:pt x="2696" y="12250"/>
                  </a:cubicBezTo>
                  <a:cubicBezTo>
                    <a:pt x="4493" y="13165"/>
                    <a:pt x="6988" y="13622"/>
                    <a:pt x="10181" y="13622"/>
                  </a:cubicBezTo>
                  <a:cubicBezTo>
                    <a:pt x="11539" y="13622"/>
                    <a:pt x="12893" y="13546"/>
                    <a:pt x="14245" y="13393"/>
                  </a:cubicBezTo>
                  <a:cubicBezTo>
                    <a:pt x="15597" y="13241"/>
                    <a:pt x="16935" y="13015"/>
                    <a:pt x="18259" y="12716"/>
                  </a:cubicBezTo>
                  <a:lnTo>
                    <a:pt x="19043" y="10615"/>
                  </a:lnTo>
                  <a:lnTo>
                    <a:pt x="19043" y="10615"/>
                  </a:lnTo>
                  <a:cubicBezTo>
                    <a:pt x="17697" y="11136"/>
                    <a:pt x="16312" y="11528"/>
                    <a:pt x="14888" y="11789"/>
                  </a:cubicBezTo>
                  <a:cubicBezTo>
                    <a:pt x="13464" y="12049"/>
                    <a:pt x="11978" y="12180"/>
                    <a:pt x="10432" y="12180"/>
                  </a:cubicBezTo>
                  <a:cubicBezTo>
                    <a:pt x="8195" y="12180"/>
                    <a:pt x="6490" y="11866"/>
                    <a:pt x="5316" y="11239"/>
                  </a:cubicBezTo>
                  <a:cubicBezTo>
                    <a:pt x="4143" y="10612"/>
                    <a:pt x="3556" y="9700"/>
                    <a:pt x="3556" y="8504"/>
                  </a:cubicBezTo>
                  <a:cubicBezTo>
                    <a:pt x="3556" y="7789"/>
                    <a:pt x="3731" y="7078"/>
                    <a:pt x="4081" y="6372"/>
                  </a:cubicBezTo>
                  <a:cubicBezTo>
                    <a:pt x="4432" y="5665"/>
                    <a:pt x="4941" y="4995"/>
                    <a:pt x="5609" y="4362"/>
                  </a:cubicBezTo>
                  <a:cubicBezTo>
                    <a:pt x="6654" y="3377"/>
                    <a:pt x="7898" y="2645"/>
                    <a:pt x="9339" y="2164"/>
                  </a:cubicBezTo>
                  <a:cubicBezTo>
                    <a:pt x="10779" y="1683"/>
                    <a:pt x="12451" y="1443"/>
                    <a:pt x="14354" y="1443"/>
                  </a:cubicBezTo>
                  <a:cubicBezTo>
                    <a:pt x="15745" y="1443"/>
                    <a:pt x="17038" y="1580"/>
                    <a:pt x="18234" y="1856"/>
                  </a:cubicBezTo>
                  <a:cubicBezTo>
                    <a:pt x="19430" y="2132"/>
                    <a:pt x="20562" y="2554"/>
                    <a:pt x="21630" y="3122"/>
                  </a:cubicBezTo>
                  <a:lnTo>
                    <a:pt x="22315" y="1249"/>
                  </a:lnTo>
                  <a:cubicBezTo>
                    <a:pt x="21213" y="833"/>
                    <a:pt x="20025" y="521"/>
                    <a:pt x="18751" y="313"/>
                  </a:cubicBezTo>
                  <a:cubicBezTo>
                    <a:pt x="17477" y="105"/>
                    <a:pt x="16128" y="1"/>
                    <a:pt x="1470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54"/>
            <p:cNvSpPr/>
            <p:nvPr/>
          </p:nvSpPr>
          <p:spPr>
            <a:xfrm>
              <a:off x="208900" y="748425"/>
              <a:ext cx="372600" cy="328250"/>
            </a:xfrm>
            <a:custGeom>
              <a:rect b="b" l="l" r="r" t="t"/>
              <a:pathLst>
                <a:path extrusionOk="0" h="13130" w="14904">
                  <a:moveTo>
                    <a:pt x="10331" y="1"/>
                  </a:moveTo>
                  <a:lnTo>
                    <a:pt x="4139" y="634"/>
                  </a:lnTo>
                  <a:lnTo>
                    <a:pt x="3555" y="2164"/>
                  </a:lnTo>
                  <a:lnTo>
                    <a:pt x="9780" y="1531"/>
                  </a:lnTo>
                  <a:lnTo>
                    <a:pt x="6058" y="11635"/>
                  </a:lnTo>
                  <a:lnTo>
                    <a:pt x="551" y="11635"/>
                  </a:lnTo>
                  <a:lnTo>
                    <a:pt x="0" y="13130"/>
                  </a:lnTo>
                  <a:lnTo>
                    <a:pt x="14370" y="13130"/>
                  </a:lnTo>
                  <a:lnTo>
                    <a:pt x="14904" y="11635"/>
                  </a:lnTo>
                  <a:lnTo>
                    <a:pt x="9413" y="11635"/>
                  </a:lnTo>
                  <a:lnTo>
                    <a:pt x="1371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4"/>
            <p:cNvSpPr/>
            <p:nvPr/>
          </p:nvSpPr>
          <p:spPr>
            <a:xfrm>
              <a:off x="1384875" y="748425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9" y="1"/>
                  </a:moveTo>
                  <a:lnTo>
                    <a:pt x="1" y="634"/>
                  </a:lnTo>
                  <a:lnTo>
                    <a:pt x="1" y="2252"/>
                  </a:lnTo>
                  <a:lnTo>
                    <a:pt x="5992" y="1619"/>
                  </a:lnTo>
                  <a:lnTo>
                    <a:pt x="5992" y="11635"/>
                  </a:lnTo>
                  <a:lnTo>
                    <a:pt x="485" y="11635"/>
                  </a:lnTo>
                  <a:lnTo>
                    <a:pt x="485" y="13130"/>
                  </a:lnTo>
                  <a:lnTo>
                    <a:pt x="14838" y="13130"/>
                  </a:lnTo>
                  <a:lnTo>
                    <a:pt x="14838" y="11635"/>
                  </a:lnTo>
                  <a:lnTo>
                    <a:pt x="9330" y="11635"/>
                  </a:lnTo>
                  <a:lnTo>
                    <a:pt x="933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4"/>
            <p:cNvSpPr/>
            <p:nvPr/>
          </p:nvSpPr>
          <p:spPr>
            <a:xfrm>
              <a:off x="2378300" y="742500"/>
              <a:ext cx="430600" cy="340550"/>
            </a:xfrm>
            <a:custGeom>
              <a:rect b="b" l="l" r="r" t="t"/>
              <a:pathLst>
                <a:path extrusionOk="0" h="13622" w="17224">
                  <a:moveTo>
                    <a:pt x="8612" y="1407"/>
                  </a:moveTo>
                  <a:cubicBezTo>
                    <a:pt x="10359" y="1407"/>
                    <a:pt x="11669" y="1857"/>
                    <a:pt x="12542" y="2757"/>
                  </a:cubicBezTo>
                  <a:cubicBezTo>
                    <a:pt x="13416" y="3657"/>
                    <a:pt x="13853" y="5010"/>
                    <a:pt x="13853" y="6815"/>
                  </a:cubicBezTo>
                  <a:cubicBezTo>
                    <a:pt x="13853" y="8615"/>
                    <a:pt x="13416" y="9965"/>
                    <a:pt x="12542" y="10865"/>
                  </a:cubicBezTo>
                  <a:cubicBezTo>
                    <a:pt x="11669" y="11765"/>
                    <a:pt x="10359" y="12215"/>
                    <a:pt x="8612" y="12215"/>
                  </a:cubicBezTo>
                  <a:cubicBezTo>
                    <a:pt x="6876" y="12215"/>
                    <a:pt x="5572" y="11765"/>
                    <a:pt x="4698" y="10865"/>
                  </a:cubicBezTo>
                  <a:cubicBezTo>
                    <a:pt x="3825" y="9965"/>
                    <a:pt x="3388" y="8615"/>
                    <a:pt x="3388" y="6815"/>
                  </a:cubicBezTo>
                  <a:cubicBezTo>
                    <a:pt x="3388" y="5010"/>
                    <a:pt x="3825" y="3657"/>
                    <a:pt x="4698" y="2757"/>
                  </a:cubicBezTo>
                  <a:cubicBezTo>
                    <a:pt x="5572" y="1857"/>
                    <a:pt x="6876" y="1407"/>
                    <a:pt x="8612" y="1407"/>
                  </a:cubicBezTo>
                  <a:close/>
                  <a:moveTo>
                    <a:pt x="8612" y="0"/>
                  </a:moveTo>
                  <a:cubicBezTo>
                    <a:pt x="5819" y="0"/>
                    <a:pt x="3686" y="582"/>
                    <a:pt x="2212" y="1746"/>
                  </a:cubicBezTo>
                  <a:cubicBezTo>
                    <a:pt x="737" y="2910"/>
                    <a:pt x="0" y="4599"/>
                    <a:pt x="0" y="6815"/>
                  </a:cubicBezTo>
                  <a:cubicBezTo>
                    <a:pt x="0" y="9026"/>
                    <a:pt x="737" y="10713"/>
                    <a:pt x="2212" y="11876"/>
                  </a:cubicBezTo>
                  <a:cubicBezTo>
                    <a:pt x="3686" y="13040"/>
                    <a:pt x="5819" y="13622"/>
                    <a:pt x="8612" y="13622"/>
                  </a:cubicBezTo>
                  <a:cubicBezTo>
                    <a:pt x="11405" y="13622"/>
                    <a:pt x="13538" y="13040"/>
                    <a:pt x="15012" y="11876"/>
                  </a:cubicBezTo>
                  <a:cubicBezTo>
                    <a:pt x="16487" y="10713"/>
                    <a:pt x="17224" y="9026"/>
                    <a:pt x="17224" y="6815"/>
                  </a:cubicBezTo>
                  <a:cubicBezTo>
                    <a:pt x="17224" y="4599"/>
                    <a:pt x="16487" y="2910"/>
                    <a:pt x="15012" y="1746"/>
                  </a:cubicBezTo>
                  <a:cubicBezTo>
                    <a:pt x="13538" y="582"/>
                    <a:pt x="11405" y="0"/>
                    <a:pt x="86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4"/>
            <p:cNvSpPr/>
            <p:nvPr/>
          </p:nvSpPr>
          <p:spPr>
            <a:xfrm>
              <a:off x="170500" y="1334675"/>
              <a:ext cx="487375" cy="334175"/>
            </a:xfrm>
            <a:custGeom>
              <a:rect b="b" l="l" r="r" t="t"/>
              <a:pathLst>
                <a:path extrusionOk="0" h="13367" w="19495">
                  <a:moveTo>
                    <a:pt x="12234" y="0"/>
                  </a:moveTo>
                  <a:cubicBezTo>
                    <a:pt x="11166" y="0"/>
                    <a:pt x="10003" y="73"/>
                    <a:pt x="8746" y="220"/>
                  </a:cubicBezTo>
                  <a:cubicBezTo>
                    <a:pt x="7489" y="367"/>
                    <a:pt x="6170" y="583"/>
                    <a:pt x="4791" y="871"/>
                  </a:cubicBezTo>
                  <a:lnTo>
                    <a:pt x="4173" y="2629"/>
                  </a:lnTo>
                  <a:cubicBezTo>
                    <a:pt x="5642" y="2248"/>
                    <a:pt x="7021" y="1958"/>
                    <a:pt x="8312" y="1759"/>
                  </a:cubicBezTo>
                  <a:cubicBezTo>
                    <a:pt x="9603" y="1560"/>
                    <a:pt x="10777" y="1460"/>
                    <a:pt x="11834" y="1460"/>
                  </a:cubicBezTo>
                  <a:cubicBezTo>
                    <a:pt x="13057" y="1460"/>
                    <a:pt x="14048" y="1639"/>
                    <a:pt x="14804" y="1996"/>
                  </a:cubicBezTo>
                  <a:cubicBezTo>
                    <a:pt x="15561" y="2354"/>
                    <a:pt x="15939" y="2817"/>
                    <a:pt x="15939" y="3386"/>
                  </a:cubicBezTo>
                  <a:cubicBezTo>
                    <a:pt x="15939" y="3931"/>
                    <a:pt x="15625" y="4463"/>
                    <a:pt x="14996" y="4982"/>
                  </a:cubicBezTo>
                  <a:cubicBezTo>
                    <a:pt x="14368" y="5501"/>
                    <a:pt x="13302" y="6103"/>
                    <a:pt x="11800" y="6789"/>
                  </a:cubicBezTo>
                  <a:lnTo>
                    <a:pt x="552" y="11872"/>
                  </a:lnTo>
                  <a:lnTo>
                    <a:pt x="1" y="13367"/>
                  </a:lnTo>
                  <a:lnTo>
                    <a:pt x="16173" y="13367"/>
                  </a:lnTo>
                  <a:lnTo>
                    <a:pt x="16757" y="11889"/>
                  </a:lnTo>
                  <a:lnTo>
                    <a:pt x="4857" y="11889"/>
                  </a:lnTo>
                  <a:lnTo>
                    <a:pt x="15622" y="7026"/>
                  </a:lnTo>
                  <a:cubicBezTo>
                    <a:pt x="16935" y="6434"/>
                    <a:pt x="17909" y="5835"/>
                    <a:pt x="18543" y="5228"/>
                  </a:cubicBezTo>
                  <a:cubicBezTo>
                    <a:pt x="19177" y="4621"/>
                    <a:pt x="19494" y="3984"/>
                    <a:pt x="19494" y="3315"/>
                  </a:cubicBezTo>
                  <a:cubicBezTo>
                    <a:pt x="19494" y="2325"/>
                    <a:pt x="18829" y="1524"/>
                    <a:pt x="17500" y="915"/>
                  </a:cubicBezTo>
                  <a:cubicBezTo>
                    <a:pt x="16170" y="305"/>
                    <a:pt x="14415" y="0"/>
                    <a:pt x="122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4"/>
            <p:cNvSpPr/>
            <p:nvPr/>
          </p:nvSpPr>
          <p:spPr>
            <a:xfrm>
              <a:off x="1384875" y="1340600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9" y="1"/>
                  </a:moveTo>
                  <a:lnTo>
                    <a:pt x="1" y="634"/>
                  </a:lnTo>
                  <a:lnTo>
                    <a:pt x="1" y="2252"/>
                  </a:lnTo>
                  <a:lnTo>
                    <a:pt x="5992" y="1619"/>
                  </a:lnTo>
                  <a:lnTo>
                    <a:pt x="5992" y="11635"/>
                  </a:lnTo>
                  <a:lnTo>
                    <a:pt x="485" y="11635"/>
                  </a:lnTo>
                  <a:lnTo>
                    <a:pt x="485" y="13130"/>
                  </a:lnTo>
                  <a:lnTo>
                    <a:pt x="14838" y="13130"/>
                  </a:lnTo>
                  <a:lnTo>
                    <a:pt x="14838" y="11635"/>
                  </a:lnTo>
                  <a:lnTo>
                    <a:pt x="9330" y="11635"/>
                  </a:lnTo>
                  <a:lnTo>
                    <a:pt x="933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4"/>
            <p:cNvSpPr/>
            <p:nvPr/>
          </p:nvSpPr>
          <p:spPr>
            <a:xfrm>
              <a:off x="2415850" y="1340600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8" y="1"/>
                  </a:moveTo>
                  <a:lnTo>
                    <a:pt x="0" y="634"/>
                  </a:lnTo>
                  <a:lnTo>
                    <a:pt x="0" y="2252"/>
                  </a:lnTo>
                  <a:lnTo>
                    <a:pt x="5992" y="1619"/>
                  </a:lnTo>
                  <a:lnTo>
                    <a:pt x="5992" y="11635"/>
                  </a:lnTo>
                  <a:lnTo>
                    <a:pt x="484" y="11635"/>
                  </a:lnTo>
                  <a:lnTo>
                    <a:pt x="484" y="13130"/>
                  </a:lnTo>
                  <a:lnTo>
                    <a:pt x="14837" y="13130"/>
                  </a:lnTo>
                  <a:lnTo>
                    <a:pt x="14837" y="11635"/>
                  </a:lnTo>
                  <a:lnTo>
                    <a:pt x="9330" y="11635"/>
                  </a:lnTo>
                  <a:lnTo>
                    <a:pt x="933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54"/>
            <p:cNvSpPr/>
            <p:nvPr/>
          </p:nvSpPr>
          <p:spPr>
            <a:xfrm>
              <a:off x="168850" y="1926825"/>
              <a:ext cx="486925" cy="340575"/>
            </a:xfrm>
            <a:custGeom>
              <a:rect b="b" l="l" r="r" t="t"/>
              <a:pathLst>
                <a:path extrusionOk="0" h="13623" w="19477">
                  <a:moveTo>
                    <a:pt x="12300" y="1"/>
                  </a:moveTo>
                  <a:cubicBezTo>
                    <a:pt x="11188" y="1"/>
                    <a:pt x="10055" y="48"/>
                    <a:pt x="8904" y="142"/>
                  </a:cubicBezTo>
                  <a:cubicBezTo>
                    <a:pt x="7752" y="235"/>
                    <a:pt x="6565" y="376"/>
                    <a:pt x="5341" y="564"/>
                  </a:cubicBezTo>
                  <a:lnTo>
                    <a:pt x="4823" y="2147"/>
                  </a:lnTo>
                  <a:cubicBezTo>
                    <a:pt x="6025" y="1906"/>
                    <a:pt x="7185" y="1726"/>
                    <a:pt x="8303" y="1606"/>
                  </a:cubicBezTo>
                  <a:cubicBezTo>
                    <a:pt x="9421" y="1486"/>
                    <a:pt x="10514" y="1425"/>
                    <a:pt x="11582" y="1425"/>
                  </a:cubicBezTo>
                  <a:cubicBezTo>
                    <a:pt x="12996" y="1425"/>
                    <a:pt x="14091" y="1576"/>
                    <a:pt x="14870" y="1878"/>
                  </a:cubicBezTo>
                  <a:cubicBezTo>
                    <a:pt x="15649" y="2180"/>
                    <a:pt x="16039" y="2607"/>
                    <a:pt x="16039" y="3158"/>
                  </a:cubicBezTo>
                  <a:cubicBezTo>
                    <a:pt x="16039" y="3920"/>
                    <a:pt x="15507" y="4524"/>
                    <a:pt x="14445" y="4969"/>
                  </a:cubicBezTo>
                  <a:cubicBezTo>
                    <a:pt x="13382" y="5415"/>
                    <a:pt x="11927" y="5638"/>
                    <a:pt x="10080" y="5638"/>
                  </a:cubicBezTo>
                  <a:lnTo>
                    <a:pt x="7010" y="5638"/>
                  </a:lnTo>
                  <a:lnTo>
                    <a:pt x="6492" y="7080"/>
                  </a:lnTo>
                  <a:lnTo>
                    <a:pt x="9396" y="7080"/>
                  </a:lnTo>
                  <a:cubicBezTo>
                    <a:pt x="11010" y="7080"/>
                    <a:pt x="12250" y="7245"/>
                    <a:pt x="13118" y="7577"/>
                  </a:cubicBezTo>
                  <a:cubicBezTo>
                    <a:pt x="13986" y="7908"/>
                    <a:pt x="14420" y="8378"/>
                    <a:pt x="14420" y="8988"/>
                  </a:cubicBezTo>
                  <a:cubicBezTo>
                    <a:pt x="14420" y="9938"/>
                    <a:pt x="13738" y="10710"/>
                    <a:pt x="12375" y="11305"/>
                  </a:cubicBezTo>
                  <a:cubicBezTo>
                    <a:pt x="11012" y="11900"/>
                    <a:pt x="9235" y="12198"/>
                    <a:pt x="7043" y="12198"/>
                  </a:cubicBezTo>
                  <a:cubicBezTo>
                    <a:pt x="5930" y="12198"/>
                    <a:pt x="4843" y="12123"/>
                    <a:pt x="3780" y="11974"/>
                  </a:cubicBezTo>
                  <a:cubicBezTo>
                    <a:pt x="2718" y="11824"/>
                    <a:pt x="1663" y="11597"/>
                    <a:pt x="618" y="11292"/>
                  </a:cubicBezTo>
                  <a:lnTo>
                    <a:pt x="0" y="12972"/>
                  </a:lnTo>
                  <a:cubicBezTo>
                    <a:pt x="1102" y="13189"/>
                    <a:pt x="2186" y="13351"/>
                    <a:pt x="3254" y="13460"/>
                  </a:cubicBezTo>
                  <a:cubicBezTo>
                    <a:pt x="4323" y="13568"/>
                    <a:pt x="5380" y="13622"/>
                    <a:pt x="6425" y="13622"/>
                  </a:cubicBezTo>
                  <a:cubicBezTo>
                    <a:pt x="8083" y="13622"/>
                    <a:pt x="9546" y="13539"/>
                    <a:pt x="10815" y="13372"/>
                  </a:cubicBezTo>
                  <a:cubicBezTo>
                    <a:pt x="12083" y="13205"/>
                    <a:pt x="13174" y="12951"/>
                    <a:pt x="14086" y="12611"/>
                  </a:cubicBezTo>
                  <a:cubicBezTo>
                    <a:pt x="15288" y="12166"/>
                    <a:pt x="16208" y="11635"/>
                    <a:pt x="16848" y="11020"/>
                  </a:cubicBezTo>
                  <a:cubicBezTo>
                    <a:pt x="17488" y="10404"/>
                    <a:pt x="17808" y="9744"/>
                    <a:pt x="17808" y="9041"/>
                  </a:cubicBezTo>
                  <a:cubicBezTo>
                    <a:pt x="17808" y="8308"/>
                    <a:pt x="17479" y="7719"/>
                    <a:pt x="16823" y="7273"/>
                  </a:cubicBezTo>
                  <a:cubicBezTo>
                    <a:pt x="16167" y="6828"/>
                    <a:pt x="15137" y="6499"/>
                    <a:pt x="13735" y="6288"/>
                  </a:cubicBezTo>
                  <a:cubicBezTo>
                    <a:pt x="15527" y="6066"/>
                    <a:pt x="16931" y="5649"/>
                    <a:pt x="17949" y="5040"/>
                  </a:cubicBezTo>
                  <a:cubicBezTo>
                    <a:pt x="18968" y="4430"/>
                    <a:pt x="19477" y="3700"/>
                    <a:pt x="19477" y="2850"/>
                  </a:cubicBezTo>
                  <a:cubicBezTo>
                    <a:pt x="19477" y="1982"/>
                    <a:pt x="18831" y="1291"/>
                    <a:pt x="17541" y="775"/>
                  </a:cubicBezTo>
                  <a:cubicBezTo>
                    <a:pt x="16250" y="259"/>
                    <a:pt x="14503" y="1"/>
                    <a:pt x="123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54"/>
            <p:cNvSpPr/>
            <p:nvPr/>
          </p:nvSpPr>
          <p:spPr>
            <a:xfrm>
              <a:off x="1347325" y="1926825"/>
              <a:ext cx="430625" cy="340575"/>
            </a:xfrm>
            <a:custGeom>
              <a:rect b="b" l="l" r="r" t="t"/>
              <a:pathLst>
                <a:path extrusionOk="0" h="13623" w="17225">
                  <a:moveTo>
                    <a:pt x="8613" y="1408"/>
                  </a:moveTo>
                  <a:cubicBezTo>
                    <a:pt x="10359" y="1408"/>
                    <a:pt x="11670" y="1858"/>
                    <a:pt x="12543" y="2758"/>
                  </a:cubicBezTo>
                  <a:cubicBezTo>
                    <a:pt x="13416" y="3658"/>
                    <a:pt x="13853" y="5010"/>
                    <a:pt x="13853" y="6816"/>
                  </a:cubicBezTo>
                  <a:cubicBezTo>
                    <a:pt x="13853" y="8616"/>
                    <a:pt x="13416" y="9966"/>
                    <a:pt x="12543" y="10866"/>
                  </a:cubicBezTo>
                  <a:cubicBezTo>
                    <a:pt x="11670" y="11766"/>
                    <a:pt x="10359" y="12215"/>
                    <a:pt x="8613" y="12215"/>
                  </a:cubicBezTo>
                  <a:cubicBezTo>
                    <a:pt x="6877" y="12215"/>
                    <a:pt x="5572" y="11766"/>
                    <a:pt x="4699" y="10866"/>
                  </a:cubicBezTo>
                  <a:cubicBezTo>
                    <a:pt x="3826" y="9966"/>
                    <a:pt x="3389" y="8616"/>
                    <a:pt x="3389" y="6816"/>
                  </a:cubicBezTo>
                  <a:cubicBezTo>
                    <a:pt x="3389" y="5010"/>
                    <a:pt x="3826" y="3658"/>
                    <a:pt x="4699" y="2758"/>
                  </a:cubicBezTo>
                  <a:cubicBezTo>
                    <a:pt x="5572" y="1858"/>
                    <a:pt x="6877" y="1408"/>
                    <a:pt x="8613" y="1408"/>
                  </a:cubicBezTo>
                  <a:close/>
                  <a:moveTo>
                    <a:pt x="8613" y="1"/>
                  </a:moveTo>
                  <a:cubicBezTo>
                    <a:pt x="5820" y="1"/>
                    <a:pt x="3687" y="583"/>
                    <a:pt x="2212" y="1746"/>
                  </a:cubicBezTo>
                  <a:cubicBezTo>
                    <a:pt x="738" y="2910"/>
                    <a:pt x="1" y="4600"/>
                    <a:pt x="1" y="6816"/>
                  </a:cubicBezTo>
                  <a:cubicBezTo>
                    <a:pt x="1" y="9026"/>
                    <a:pt x="738" y="10713"/>
                    <a:pt x="2212" y="11877"/>
                  </a:cubicBezTo>
                  <a:cubicBezTo>
                    <a:pt x="3687" y="13041"/>
                    <a:pt x="5820" y="13622"/>
                    <a:pt x="8613" y="13622"/>
                  </a:cubicBezTo>
                  <a:cubicBezTo>
                    <a:pt x="11405" y="13622"/>
                    <a:pt x="13539" y="13041"/>
                    <a:pt x="15013" y="11877"/>
                  </a:cubicBezTo>
                  <a:cubicBezTo>
                    <a:pt x="16487" y="10713"/>
                    <a:pt x="17224" y="9026"/>
                    <a:pt x="17224" y="6816"/>
                  </a:cubicBezTo>
                  <a:cubicBezTo>
                    <a:pt x="17224" y="4600"/>
                    <a:pt x="16487" y="2910"/>
                    <a:pt x="15013" y="1746"/>
                  </a:cubicBezTo>
                  <a:cubicBezTo>
                    <a:pt x="13539" y="583"/>
                    <a:pt x="11405" y="1"/>
                    <a:pt x="8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54"/>
            <p:cNvSpPr/>
            <p:nvPr/>
          </p:nvSpPr>
          <p:spPr>
            <a:xfrm>
              <a:off x="2415850" y="1932775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8" y="0"/>
                  </a:moveTo>
                  <a:lnTo>
                    <a:pt x="0" y="633"/>
                  </a:lnTo>
                  <a:lnTo>
                    <a:pt x="0" y="2252"/>
                  </a:lnTo>
                  <a:lnTo>
                    <a:pt x="5992" y="1618"/>
                  </a:lnTo>
                  <a:lnTo>
                    <a:pt x="5992" y="11635"/>
                  </a:lnTo>
                  <a:lnTo>
                    <a:pt x="484" y="11635"/>
                  </a:lnTo>
                  <a:lnTo>
                    <a:pt x="484" y="13129"/>
                  </a:lnTo>
                  <a:lnTo>
                    <a:pt x="14837" y="13129"/>
                  </a:lnTo>
                  <a:lnTo>
                    <a:pt x="14837" y="11635"/>
                  </a:lnTo>
                  <a:lnTo>
                    <a:pt x="9330" y="11635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4"/>
            <p:cNvSpPr/>
            <p:nvPr/>
          </p:nvSpPr>
          <p:spPr>
            <a:xfrm>
              <a:off x="182600" y="2524950"/>
              <a:ext cx="467325" cy="328250"/>
            </a:xfrm>
            <a:custGeom>
              <a:rect b="b" l="l" r="r" t="t"/>
              <a:pathLst>
                <a:path extrusionOk="0" h="13130" w="18693">
                  <a:moveTo>
                    <a:pt x="14387" y="1548"/>
                  </a:moveTo>
                  <a:lnTo>
                    <a:pt x="11784" y="8556"/>
                  </a:lnTo>
                  <a:lnTo>
                    <a:pt x="3272" y="8556"/>
                  </a:lnTo>
                  <a:lnTo>
                    <a:pt x="14387" y="1548"/>
                  </a:lnTo>
                  <a:close/>
                  <a:moveTo>
                    <a:pt x="14087" y="0"/>
                  </a:moveTo>
                  <a:lnTo>
                    <a:pt x="652" y="8319"/>
                  </a:lnTo>
                  <a:lnTo>
                    <a:pt x="1" y="10034"/>
                  </a:lnTo>
                  <a:lnTo>
                    <a:pt x="11249" y="10034"/>
                  </a:lnTo>
                  <a:lnTo>
                    <a:pt x="10115" y="13129"/>
                  </a:lnTo>
                  <a:lnTo>
                    <a:pt x="13469" y="13129"/>
                  </a:lnTo>
                  <a:lnTo>
                    <a:pt x="14587" y="10034"/>
                  </a:lnTo>
                  <a:lnTo>
                    <a:pt x="18142" y="10034"/>
                  </a:lnTo>
                  <a:lnTo>
                    <a:pt x="18693" y="8556"/>
                  </a:lnTo>
                  <a:lnTo>
                    <a:pt x="15138" y="8556"/>
                  </a:lnTo>
                  <a:lnTo>
                    <a:pt x="183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4"/>
            <p:cNvSpPr/>
            <p:nvPr/>
          </p:nvSpPr>
          <p:spPr>
            <a:xfrm>
              <a:off x="1347325" y="2519000"/>
              <a:ext cx="430625" cy="340575"/>
            </a:xfrm>
            <a:custGeom>
              <a:rect b="b" l="l" r="r" t="t"/>
              <a:pathLst>
                <a:path extrusionOk="0" h="13623" w="17225">
                  <a:moveTo>
                    <a:pt x="8613" y="1408"/>
                  </a:moveTo>
                  <a:cubicBezTo>
                    <a:pt x="10359" y="1408"/>
                    <a:pt x="11670" y="1858"/>
                    <a:pt x="12543" y="2758"/>
                  </a:cubicBezTo>
                  <a:cubicBezTo>
                    <a:pt x="13416" y="3657"/>
                    <a:pt x="13853" y="5010"/>
                    <a:pt x="13853" y="6816"/>
                  </a:cubicBezTo>
                  <a:cubicBezTo>
                    <a:pt x="13853" y="8616"/>
                    <a:pt x="13416" y="9966"/>
                    <a:pt x="12543" y="10865"/>
                  </a:cubicBezTo>
                  <a:cubicBezTo>
                    <a:pt x="11670" y="11765"/>
                    <a:pt x="10359" y="12215"/>
                    <a:pt x="8613" y="12215"/>
                  </a:cubicBezTo>
                  <a:cubicBezTo>
                    <a:pt x="6877" y="12215"/>
                    <a:pt x="5572" y="11765"/>
                    <a:pt x="4699" y="10865"/>
                  </a:cubicBezTo>
                  <a:cubicBezTo>
                    <a:pt x="3826" y="9966"/>
                    <a:pt x="3389" y="8616"/>
                    <a:pt x="3389" y="6816"/>
                  </a:cubicBezTo>
                  <a:cubicBezTo>
                    <a:pt x="3389" y="5010"/>
                    <a:pt x="3826" y="3657"/>
                    <a:pt x="4699" y="2758"/>
                  </a:cubicBezTo>
                  <a:cubicBezTo>
                    <a:pt x="5572" y="1858"/>
                    <a:pt x="6877" y="1408"/>
                    <a:pt x="8613" y="1408"/>
                  </a:cubicBezTo>
                  <a:close/>
                  <a:moveTo>
                    <a:pt x="8613" y="1"/>
                  </a:moveTo>
                  <a:cubicBezTo>
                    <a:pt x="5820" y="1"/>
                    <a:pt x="3687" y="583"/>
                    <a:pt x="2212" y="1746"/>
                  </a:cubicBezTo>
                  <a:cubicBezTo>
                    <a:pt x="738" y="2910"/>
                    <a:pt x="1" y="4600"/>
                    <a:pt x="1" y="6816"/>
                  </a:cubicBezTo>
                  <a:cubicBezTo>
                    <a:pt x="1" y="9026"/>
                    <a:pt x="738" y="10713"/>
                    <a:pt x="2212" y="11877"/>
                  </a:cubicBezTo>
                  <a:cubicBezTo>
                    <a:pt x="3687" y="13040"/>
                    <a:pt x="5820" y="13622"/>
                    <a:pt x="8613" y="13622"/>
                  </a:cubicBezTo>
                  <a:cubicBezTo>
                    <a:pt x="11405" y="13622"/>
                    <a:pt x="13539" y="13040"/>
                    <a:pt x="15013" y="11877"/>
                  </a:cubicBezTo>
                  <a:cubicBezTo>
                    <a:pt x="16487" y="10713"/>
                    <a:pt x="17224" y="9026"/>
                    <a:pt x="17224" y="6816"/>
                  </a:cubicBezTo>
                  <a:cubicBezTo>
                    <a:pt x="17224" y="4600"/>
                    <a:pt x="16487" y="2910"/>
                    <a:pt x="15013" y="1746"/>
                  </a:cubicBezTo>
                  <a:cubicBezTo>
                    <a:pt x="13539" y="583"/>
                    <a:pt x="11405" y="1"/>
                    <a:pt x="8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4"/>
            <p:cNvSpPr/>
            <p:nvPr/>
          </p:nvSpPr>
          <p:spPr>
            <a:xfrm>
              <a:off x="2415850" y="2524950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8" y="0"/>
                  </a:moveTo>
                  <a:lnTo>
                    <a:pt x="0" y="633"/>
                  </a:lnTo>
                  <a:lnTo>
                    <a:pt x="0" y="2251"/>
                  </a:lnTo>
                  <a:lnTo>
                    <a:pt x="5992" y="1618"/>
                  </a:lnTo>
                  <a:lnTo>
                    <a:pt x="5992" y="11634"/>
                  </a:lnTo>
                  <a:lnTo>
                    <a:pt x="484" y="11634"/>
                  </a:lnTo>
                  <a:lnTo>
                    <a:pt x="484" y="13129"/>
                  </a:lnTo>
                  <a:lnTo>
                    <a:pt x="14837" y="13129"/>
                  </a:lnTo>
                  <a:lnTo>
                    <a:pt x="14837" y="11634"/>
                  </a:lnTo>
                  <a:lnTo>
                    <a:pt x="9330" y="11634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4"/>
            <p:cNvSpPr/>
            <p:nvPr/>
          </p:nvSpPr>
          <p:spPr>
            <a:xfrm>
              <a:off x="37150" y="0"/>
              <a:ext cx="2944275" cy="0"/>
            </a:xfrm>
            <a:custGeom>
              <a:rect b="b" l="l" r="r" t="t"/>
              <a:pathLst>
                <a:path extrusionOk="0" fill="none" h="0" w="117771">
                  <a:moveTo>
                    <a:pt x="0" y="0"/>
                  </a:moveTo>
                  <a:lnTo>
                    <a:pt x="117771" y="0"/>
                  </a:lnTo>
                </a:path>
              </a:pathLst>
            </a:custGeom>
            <a:noFill/>
            <a:ln cap="rnd" cmpd="sng" w="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4"/>
            <p:cNvSpPr/>
            <p:nvPr/>
          </p:nvSpPr>
          <p:spPr>
            <a:xfrm>
              <a:off x="37150" y="0"/>
              <a:ext cx="2944275" cy="39175"/>
            </a:xfrm>
            <a:custGeom>
              <a:rect b="b" l="l" r="r" t="t"/>
              <a:pathLst>
                <a:path extrusionOk="0" h="1567" w="117771">
                  <a:moveTo>
                    <a:pt x="0" y="0"/>
                  </a:moveTo>
                  <a:lnTo>
                    <a:pt x="0" y="1566"/>
                  </a:lnTo>
                  <a:lnTo>
                    <a:pt x="117771" y="1566"/>
                  </a:lnTo>
                  <a:lnTo>
                    <a:pt x="117771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54"/>
            <p:cNvSpPr/>
            <p:nvPr/>
          </p:nvSpPr>
          <p:spPr>
            <a:xfrm>
              <a:off x="37150" y="592150"/>
              <a:ext cx="2944275" cy="25"/>
            </a:xfrm>
            <a:custGeom>
              <a:rect b="b" l="l" r="r" t="t"/>
              <a:pathLst>
                <a:path extrusionOk="0" fill="none" h="1" w="117771">
                  <a:moveTo>
                    <a:pt x="0" y="1"/>
                  </a:moveTo>
                  <a:lnTo>
                    <a:pt x="117771" y="1"/>
                  </a:lnTo>
                </a:path>
              </a:pathLst>
            </a:custGeom>
            <a:noFill/>
            <a:ln cap="rnd" cmpd="sng" w="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54"/>
            <p:cNvSpPr/>
            <p:nvPr/>
          </p:nvSpPr>
          <p:spPr>
            <a:xfrm>
              <a:off x="37150" y="592150"/>
              <a:ext cx="2944275" cy="39175"/>
            </a:xfrm>
            <a:custGeom>
              <a:rect b="b" l="l" r="r" t="t"/>
              <a:pathLst>
                <a:path extrusionOk="0" h="1567" w="117771">
                  <a:moveTo>
                    <a:pt x="0" y="1"/>
                  </a:moveTo>
                  <a:lnTo>
                    <a:pt x="0" y="1567"/>
                  </a:lnTo>
                  <a:lnTo>
                    <a:pt x="117771" y="1567"/>
                  </a:lnTo>
                  <a:lnTo>
                    <a:pt x="11777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54"/>
            <p:cNvSpPr/>
            <p:nvPr/>
          </p:nvSpPr>
          <p:spPr>
            <a:xfrm>
              <a:off x="37150" y="2960825"/>
              <a:ext cx="2944275" cy="25"/>
            </a:xfrm>
            <a:custGeom>
              <a:rect b="b" l="l" r="r" t="t"/>
              <a:pathLst>
                <a:path extrusionOk="0" fill="none" h="1" w="117771">
                  <a:moveTo>
                    <a:pt x="0" y="1"/>
                  </a:moveTo>
                  <a:lnTo>
                    <a:pt x="117771" y="1"/>
                  </a:lnTo>
                </a:path>
              </a:pathLst>
            </a:custGeom>
            <a:noFill/>
            <a:ln cap="rnd" cmpd="sng" w="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54"/>
            <p:cNvSpPr/>
            <p:nvPr/>
          </p:nvSpPr>
          <p:spPr>
            <a:xfrm>
              <a:off x="37150" y="2960825"/>
              <a:ext cx="2944275" cy="39175"/>
            </a:xfrm>
            <a:custGeom>
              <a:rect b="b" l="l" r="r" t="t"/>
              <a:pathLst>
                <a:path extrusionOk="0" h="1567" w="117771">
                  <a:moveTo>
                    <a:pt x="0" y="1"/>
                  </a:moveTo>
                  <a:lnTo>
                    <a:pt x="0" y="1567"/>
                  </a:lnTo>
                  <a:lnTo>
                    <a:pt x="117771" y="1567"/>
                  </a:lnTo>
                  <a:lnTo>
                    <a:pt x="11777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54"/>
          <p:cNvGrpSpPr/>
          <p:nvPr/>
        </p:nvGrpSpPr>
        <p:grpSpPr>
          <a:xfrm>
            <a:off x="3562774" y="2708815"/>
            <a:ext cx="1905773" cy="1932300"/>
            <a:chOff x="23475" y="0"/>
            <a:chExt cx="2964800" cy="3000000"/>
          </a:xfrm>
        </p:grpSpPr>
        <p:sp>
          <p:nvSpPr>
            <p:cNvPr id="413" name="Google Shape;413;p54"/>
            <p:cNvSpPr/>
            <p:nvPr/>
          </p:nvSpPr>
          <p:spPr>
            <a:xfrm>
              <a:off x="842400" y="156250"/>
              <a:ext cx="235550" cy="328275"/>
            </a:xfrm>
            <a:custGeom>
              <a:rect b="b" l="l" r="r" t="t"/>
              <a:pathLst>
                <a:path extrusionOk="0" h="13131" w="9422">
                  <a:moveTo>
                    <a:pt x="6531" y="1"/>
                  </a:moveTo>
                  <a:lnTo>
                    <a:pt x="2617" y="634"/>
                  </a:lnTo>
                  <a:lnTo>
                    <a:pt x="2248" y="2164"/>
                  </a:lnTo>
                  <a:lnTo>
                    <a:pt x="6183" y="1531"/>
                  </a:lnTo>
                  <a:lnTo>
                    <a:pt x="3830" y="11635"/>
                  </a:lnTo>
                  <a:lnTo>
                    <a:pt x="349" y="11635"/>
                  </a:lnTo>
                  <a:lnTo>
                    <a:pt x="1" y="13130"/>
                  </a:lnTo>
                  <a:lnTo>
                    <a:pt x="9084" y="13130"/>
                  </a:lnTo>
                  <a:lnTo>
                    <a:pt x="9421" y="11635"/>
                  </a:lnTo>
                  <a:lnTo>
                    <a:pt x="5951" y="11635"/>
                  </a:lnTo>
                  <a:lnTo>
                    <a:pt x="867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54"/>
            <p:cNvSpPr/>
            <p:nvPr/>
          </p:nvSpPr>
          <p:spPr>
            <a:xfrm>
              <a:off x="1411100" y="150325"/>
              <a:ext cx="308050" cy="334200"/>
            </a:xfrm>
            <a:custGeom>
              <a:rect b="b" l="l" r="r" t="t"/>
              <a:pathLst>
                <a:path extrusionOk="0" h="13368" w="12322">
                  <a:moveTo>
                    <a:pt x="7733" y="1"/>
                  </a:moveTo>
                  <a:cubicBezTo>
                    <a:pt x="7058" y="1"/>
                    <a:pt x="6323" y="74"/>
                    <a:pt x="5528" y="220"/>
                  </a:cubicBezTo>
                  <a:cubicBezTo>
                    <a:pt x="4734" y="367"/>
                    <a:pt x="3900" y="584"/>
                    <a:pt x="3028" y="871"/>
                  </a:cubicBezTo>
                  <a:lnTo>
                    <a:pt x="2638" y="2630"/>
                  </a:lnTo>
                  <a:cubicBezTo>
                    <a:pt x="3566" y="2249"/>
                    <a:pt x="4438" y="1959"/>
                    <a:pt x="5254" y="1759"/>
                  </a:cubicBezTo>
                  <a:cubicBezTo>
                    <a:pt x="6070" y="1560"/>
                    <a:pt x="6812" y="1460"/>
                    <a:pt x="7480" y="1460"/>
                  </a:cubicBezTo>
                  <a:cubicBezTo>
                    <a:pt x="8253" y="1460"/>
                    <a:pt x="8879" y="1639"/>
                    <a:pt x="9358" y="1997"/>
                  </a:cubicBezTo>
                  <a:cubicBezTo>
                    <a:pt x="9836" y="2354"/>
                    <a:pt x="10075" y="2817"/>
                    <a:pt x="10075" y="3386"/>
                  </a:cubicBezTo>
                  <a:cubicBezTo>
                    <a:pt x="10075" y="3931"/>
                    <a:pt x="9876" y="4463"/>
                    <a:pt x="9479" y="4982"/>
                  </a:cubicBezTo>
                  <a:cubicBezTo>
                    <a:pt x="9082" y="5501"/>
                    <a:pt x="8408" y="6103"/>
                    <a:pt x="7459" y="6789"/>
                  </a:cubicBezTo>
                  <a:lnTo>
                    <a:pt x="349" y="11872"/>
                  </a:lnTo>
                  <a:lnTo>
                    <a:pt x="0" y="13367"/>
                  </a:lnTo>
                  <a:lnTo>
                    <a:pt x="10223" y="13367"/>
                  </a:lnTo>
                  <a:lnTo>
                    <a:pt x="10592" y="11890"/>
                  </a:lnTo>
                  <a:lnTo>
                    <a:pt x="3070" y="11890"/>
                  </a:lnTo>
                  <a:lnTo>
                    <a:pt x="9875" y="7027"/>
                  </a:lnTo>
                  <a:cubicBezTo>
                    <a:pt x="10704" y="6435"/>
                    <a:pt x="11320" y="5835"/>
                    <a:pt x="11721" y="5228"/>
                  </a:cubicBezTo>
                  <a:cubicBezTo>
                    <a:pt x="12122" y="4622"/>
                    <a:pt x="12322" y="3984"/>
                    <a:pt x="12322" y="3316"/>
                  </a:cubicBezTo>
                  <a:cubicBezTo>
                    <a:pt x="12322" y="2325"/>
                    <a:pt x="11902" y="1525"/>
                    <a:pt x="11061" y="915"/>
                  </a:cubicBezTo>
                  <a:cubicBezTo>
                    <a:pt x="10221" y="305"/>
                    <a:pt x="9111" y="1"/>
                    <a:pt x="77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54"/>
            <p:cNvSpPr/>
            <p:nvPr/>
          </p:nvSpPr>
          <p:spPr>
            <a:xfrm>
              <a:off x="1961900" y="150325"/>
              <a:ext cx="307800" cy="340575"/>
            </a:xfrm>
            <a:custGeom>
              <a:rect b="b" l="l" r="r" t="t"/>
              <a:pathLst>
                <a:path extrusionOk="0" h="13623" w="12312">
                  <a:moveTo>
                    <a:pt x="7775" y="1"/>
                  </a:moveTo>
                  <a:cubicBezTo>
                    <a:pt x="7072" y="1"/>
                    <a:pt x="6357" y="47"/>
                    <a:pt x="5629" y="141"/>
                  </a:cubicBezTo>
                  <a:cubicBezTo>
                    <a:pt x="4901" y="235"/>
                    <a:pt x="4150" y="376"/>
                    <a:pt x="3376" y="563"/>
                  </a:cubicBezTo>
                  <a:lnTo>
                    <a:pt x="3049" y="2146"/>
                  </a:lnTo>
                  <a:cubicBezTo>
                    <a:pt x="3809" y="1906"/>
                    <a:pt x="4542" y="1726"/>
                    <a:pt x="5249" y="1605"/>
                  </a:cubicBezTo>
                  <a:cubicBezTo>
                    <a:pt x="5956" y="1485"/>
                    <a:pt x="6647" y="1425"/>
                    <a:pt x="7322" y="1425"/>
                  </a:cubicBezTo>
                  <a:cubicBezTo>
                    <a:pt x="8215" y="1425"/>
                    <a:pt x="8908" y="1576"/>
                    <a:pt x="9400" y="1878"/>
                  </a:cubicBezTo>
                  <a:cubicBezTo>
                    <a:pt x="9892" y="2180"/>
                    <a:pt x="10138" y="2606"/>
                    <a:pt x="10138" y="3157"/>
                  </a:cubicBezTo>
                  <a:cubicBezTo>
                    <a:pt x="10138" y="3920"/>
                    <a:pt x="9803" y="4523"/>
                    <a:pt x="9131" y="4969"/>
                  </a:cubicBezTo>
                  <a:cubicBezTo>
                    <a:pt x="8459" y="5415"/>
                    <a:pt x="7540" y="5637"/>
                    <a:pt x="6372" y="5637"/>
                  </a:cubicBezTo>
                  <a:lnTo>
                    <a:pt x="4431" y="5637"/>
                  </a:lnTo>
                  <a:lnTo>
                    <a:pt x="4104" y="7080"/>
                  </a:lnTo>
                  <a:lnTo>
                    <a:pt x="5940" y="7080"/>
                  </a:lnTo>
                  <a:cubicBezTo>
                    <a:pt x="6960" y="7080"/>
                    <a:pt x="7744" y="7245"/>
                    <a:pt x="8292" y="7576"/>
                  </a:cubicBezTo>
                  <a:cubicBezTo>
                    <a:pt x="8841" y="7908"/>
                    <a:pt x="9115" y="8378"/>
                    <a:pt x="9115" y="8988"/>
                  </a:cubicBezTo>
                  <a:cubicBezTo>
                    <a:pt x="9115" y="9938"/>
                    <a:pt x="8684" y="10710"/>
                    <a:pt x="7823" y="11305"/>
                  </a:cubicBezTo>
                  <a:cubicBezTo>
                    <a:pt x="6961" y="11900"/>
                    <a:pt x="5838" y="12198"/>
                    <a:pt x="4452" y="12198"/>
                  </a:cubicBezTo>
                  <a:cubicBezTo>
                    <a:pt x="3749" y="12198"/>
                    <a:pt x="3062" y="12123"/>
                    <a:pt x="2390" y="11973"/>
                  </a:cubicBezTo>
                  <a:cubicBezTo>
                    <a:pt x="1718" y="11824"/>
                    <a:pt x="1052" y="11597"/>
                    <a:pt x="391" y="11292"/>
                  </a:cubicBezTo>
                  <a:lnTo>
                    <a:pt x="1" y="12971"/>
                  </a:lnTo>
                  <a:cubicBezTo>
                    <a:pt x="697" y="13188"/>
                    <a:pt x="1383" y="13351"/>
                    <a:pt x="2058" y="13459"/>
                  </a:cubicBezTo>
                  <a:cubicBezTo>
                    <a:pt x="2733" y="13568"/>
                    <a:pt x="3401" y="13622"/>
                    <a:pt x="4062" y="13622"/>
                  </a:cubicBezTo>
                  <a:cubicBezTo>
                    <a:pt x="5110" y="13622"/>
                    <a:pt x="6035" y="13539"/>
                    <a:pt x="6837" y="13371"/>
                  </a:cubicBezTo>
                  <a:cubicBezTo>
                    <a:pt x="7638" y="13204"/>
                    <a:pt x="8327" y="12951"/>
                    <a:pt x="8904" y="12611"/>
                  </a:cubicBezTo>
                  <a:cubicBezTo>
                    <a:pt x="9664" y="12165"/>
                    <a:pt x="10246" y="11635"/>
                    <a:pt x="10650" y="11019"/>
                  </a:cubicBezTo>
                  <a:cubicBezTo>
                    <a:pt x="11054" y="10404"/>
                    <a:pt x="11257" y="9744"/>
                    <a:pt x="11257" y="9041"/>
                  </a:cubicBezTo>
                  <a:cubicBezTo>
                    <a:pt x="11257" y="8308"/>
                    <a:pt x="11049" y="7719"/>
                    <a:pt x="10634" y="7273"/>
                  </a:cubicBezTo>
                  <a:cubicBezTo>
                    <a:pt x="10219" y="6827"/>
                    <a:pt x="9569" y="6499"/>
                    <a:pt x="8683" y="6288"/>
                  </a:cubicBezTo>
                  <a:cubicBezTo>
                    <a:pt x="9815" y="6065"/>
                    <a:pt x="10703" y="5649"/>
                    <a:pt x="11346" y="5039"/>
                  </a:cubicBezTo>
                  <a:cubicBezTo>
                    <a:pt x="11990" y="4430"/>
                    <a:pt x="12312" y="3700"/>
                    <a:pt x="12312" y="2850"/>
                  </a:cubicBezTo>
                  <a:cubicBezTo>
                    <a:pt x="12312" y="1982"/>
                    <a:pt x="11904" y="1290"/>
                    <a:pt x="11088" y="774"/>
                  </a:cubicBezTo>
                  <a:cubicBezTo>
                    <a:pt x="10272" y="258"/>
                    <a:pt x="9168" y="1"/>
                    <a:pt x="77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54"/>
            <p:cNvSpPr/>
            <p:nvPr/>
          </p:nvSpPr>
          <p:spPr>
            <a:xfrm>
              <a:off x="2522475" y="156250"/>
              <a:ext cx="295400" cy="328275"/>
            </a:xfrm>
            <a:custGeom>
              <a:rect b="b" l="l" r="r" t="t"/>
              <a:pathLst>
                <a:path extrusionOk="0" h="13131" w="11816">
                  <a:moveTo>
                    <a:pt x="9094" y="1549"/>
                  </a:moveTo>
                  <a:lnTo>
                    <a:pt x="7448" y="8557"/>
                  </a:lnTo>
                  <a:lnTo>
                    <a:pt x="2068" y="8557"/>
                  </a:lnTo>
                  <a:lnTo>
                    <a:pt x="9094" y="1549"/>
                  </a:lnTo>
                  <a:close/>
                  <a:moveTo>
                    <a:pt x="8904" y="1"/>
                  </a:moveTo>
                  <a:lnTo>
                    <a:pt x="412" y="8320"/>
                  </a:lnTo>
                  <a:lnTo>
                    <a:pt x="0" y="10035"/>
                  </a:lnTo>
                  <a:lnTo>
                    <a:pt x="7110" y="10035"/>
                  </a:lnTo>
                  <a:lnTo>
                    <a:pt x="6393" y="13130"/>
                  </a:lnTo>
                  <a:lnTo>
                    <a:pt x="8513" y="13130"/>
                  </a:lnTo>
                  <a:lnTo>
                    <a:pt x="9220" y="10035"/>
                  </a:lnTo>
                  <a:lnTo>
                    <a:pt x="11467" y="10035"/>
                  </a:lnTo>
                  <a:lnTo>
                    <a:pt x="11815" y="8557"/>
                  </a:lnTo>
                  <a:lnTo>
                    <a:pt x="9568" y="8557"/>
                  </a:lnTo>
                  <a:lnTo>
                    <a:pt x="1158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54"/>
            <p:cNvSpPr/>
            <p:nvPr/>
          </p:nvSpPr>
          <p:spPr>
            <a:xfrm>
              <a:off x="132025" y="748425"/>
              <a:ext cx="235550" cy="328250"/>
            </a:xfrm>
            <a:custGeom>
              <a:rect b="b" l="l" r="r" t="t"/>
              <a:pathLst>
                <a:path extrusionOk="0" h="13130" w="9422">
                  <a:moveTo>
                    <a:pt x="6531" y="1"/>
                  </a:moveTo>
                  <a:lnTo>
                    <a:pt x="2617" y="634"/>
                  </a:lnTo>
                  <a:lnTo>
                    <a:pt x="2248" y="2164"/>
                  </a:lnTo>
                  <a:lnTo>
                    <a:pt x="6183" y="1531"/>
                  </a:lnTo>
                  <a:lnTo>
                    <a:pt x="3830" y="11635"/>
                  </a:lnTo>
                  <a:lnTo>
                    <a:pt x="349" y="11635"/>
                  </a:lnTo>
                  <a:lnTo>
                    <a:pt x="1" y="13130"/>
                  </a:lnTo>
                  <a:lnTo>
                    <a:pt x="9084" y="13130"/>
                  </a:lnTo>
                  <a:lnTo>
                    <a:pt x="9421" y="11635"/>
                  </a:lnTo>
                  <a:lnTo>
                    <a:pt x="5951" y="11635"/>
                  </a:lnTo>
                  <a:lnTo>
                    <a:pt x="867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54"/>
            <p:cNvSpPr/>
            <p:nvPr/>
          </p:nvSpPr>
          <p:spPr>
            <a:xfrm>
              <a:off x="951450" y="742500"/>
              <a:ext cx="272175" cy="340550"/>
            </a:xfrm>
            <a:custGeom>
              <a:rect b="b" l="l" r="r" t="t"/>
              <a:pathLst>
                <a:path extrusionOk="0" h="13622" w="10887">
                  <a:moveTo>
                    <a:pt x="5444" y="1407"/>
                  </a:moveTo>
                  <a:cubicBezTo>
                    <a:pt x="6548" y="1407"/>
                    <a:pt x="7376" y="1857"/>
                    <a:pt x="7928" y="2757"/>
                  </a:cubicBezTo>
                  <a:cubicBezTo>
                    <a:pt x="8480" y="3657"/>
                    <a:pt x="8756" y="5010"/>
                    <a:pt x="8756" y="6815"/>
                  </a:cubicBezTo>
                  <a:cubicBezTo>
                    <a:pt x="8756" y="8615"/>
                    <a:pt x="8480" y="9965"/>
                    <a:pt x="7928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6" y="12215"/>
                    <a:pt x="3522" y="11765"/>
                    <a:pt x="2970" y="10865"/>
                  </a:cubicBezTo>
                  <a:cubicBezTo>
                    <a:pt x="2418" y="9965"/>
                    <a:pt x="2142" y="8615"/>
                    <a:pt x="2142" y="6815"/>
                  </a:cubicBezTo>
                  <a:cubicBezTo>
                    <a:pt x="2142" y="5010"/>
                    <a:pt x="2418" y="3657"/>
                    <a:pt x="2970" y="2757"/>
                  </a:cubicBezTo>
                  <a:cubicBezTo>
                    <a:pt x="3522" y="1857"/>
                    <a:pt x="4346" y="1407"/>
                    <a:pt x="5444" y="1407"/>
                  </a:cubicBezTo>
                  <a:close/>
                  <a:moveTo>
                    <a:pt x="5444" y="0"/>
                  </a:moveTo>
                  <a:cubicBezTo>
                    <a:pt x="3678" y="0"/>
                    <a:pt x="2330" y="582"/>
                    <a:pt x="1398" y="1746"/>
                  </a:cubicBezTo>
                  <a:cubicBezTo>
                    <a:pt x="466" y="2910"/>
                    <a:pt x="0" y="4599"/>
                    <a:pt x="0" y="6815"/>
                  </a:cubicBezTo>
                  <a:cubicBezTo>
                    <a:pt x="0" y="9026"/>
                    <a:pt x="466" y="10713"/>
                    <a:pt x="1398" y="11876"/>
                  </a:cubicBezTo>
                  <a:cubicBezTo>
                    <a:pt x="2330" y="13040"/>
                    <a:pt x="3678" y="13622"/>
                    <a:pt x="5444" y="13622"/>
                  </a:cubicBezTo>
                  <a:cubicBezTo>
                    <a:pt x="7209" y="13622"/>
                    <a:pt x="8557" y="13040"/>
                    <a:pt x="9489" y="11876"/>
                  </a:cubicBezTo>
                  <a:cubicBezTo>
                    <a:pt x="10421" y="10713"/>
                    <a:pt x="10887" y="9026"/>
                    <a:pt x="10887" y="6815"/>
                  </a:cubicBezTo>
                  <a:cubicBezTo>
                    <a:pt x="10887" y="4599"/>
                    <a:pt x="10421" y="2910"/>
                    <a:pt x="9489" y="1746"/>
                  </a:cubicBezTo>
                  <a:cubicBezTo>
                    <a:pt x="8557" y="582"/>
                    <a:pt x="7209" y="0"/>
                    <a:pt x="54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54"/>
            <p:cNvSpPr/>
            <p:nvPr/>
          </p:nvSpPr>
          <p:spPr>
            <a:xfrm>
              <a:off x="1568125" y="748425"/>
              <a:ext cx="234500" cy="328250"/>
            </a:xfrm>
            <a:custGeom>
              <a:rect b="b" l="l" r="r" t="t"/>
              <a:pathLst>
                <a:path extrusionOk="0" h="13130" w="9380">
                  <a:moveTo>
                    <a:pt x="3767" y="1"/>
                  </a:moveTo>
                  <a:lnTo>
                    <a:pt x="1" y="634"/>
                  </a:lnTo>
                  <a:lnTo>
                    <a:pt x="1" y="2252"/>
                  </a:lnTo>
                  <a:lnTo>
                    <a:pt x="3788" y="1619"/>
                  </a:lnTo>
                  <a:lnTo>
                    <a:pt x="3788" y="11635"/>
                  </a:lnTo>
                  <a:lnTo>
                    <a:pt x="307" y="11635"/>
                  </a:lnTo>
                  <a:lnTo>
                    <a:pt x="307" y="13130"/>
                  </a:lnTo>
                  <a:lnTo>
                    <a:pt x="9379" y="13130"/>
                  </a:lnTo>
                  <a:lnTo>
                    <a:pt x="9379" y="11635"/>
                  </a:lnTo>
                  <a:lnTo>
                    <a:pt x="5898" y="11635"/>
                  </a:lnTo>
                  <a:lnTo>
                    <a:pt x="589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54"/>
            <p:cNvSpPr/>
            <p:nvPr/>
          </p:nvSpPr>
          <p:spPr>
            <a:xfrm>
              <a:off x="2096250" y="742500"/>
              <a:ext cx="272200" cy="340550"/>
            </a:xfrm>
            <a:custGeom>
              <a:rect b="b" l="l" r="r" t="t"/>
              <a:pathLst>
                <a:path extrusionOk="0" h="13622" w="10888">
                  <a:moveTo>
                    <a:pt x="5444" y="1407"/>
                  </a:moveTo>
                  <a:cubicBezTo>
                    <a:pt x="6548" y="1407"/>
                    <a:pt x="7376" y="1857"/>
                    <a:pt x="7929" y="2757"/>
                  </a:cubicBezTo>
                  <a:cubicBezTo>
                    <a:pt x="8481" y="3657"/>
                    <a:pt x="8757" y="5010"/>
                    <a:pt x="8757" y="6815"/>
                  </a:cubicBezTo>
                  <a:cubicBezTo>
                    <a:pt x="8757" y="8615"/>
                    <a:pt x="8481" y="9965"/>
                    <a:pt x="7929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7" y="12215"/>
                    <a:pt x="3522" y="11765"/>
                    <a:pt x="2970" y="10865"/>
                  </a:cubicBezTo>
                  <a:cubicBezTo>
                    <a:pt x="2418" y="9965"/>
                    <a:pt x="2142" y="8615"/>
                    <a:pt x="2142" y="6815"/>
                  </a:cubicBezTo>
                  <a:cubicBezTo>
                    <a:pt x="2142" y="5010"/>
                    <a:pt x="2418" y="3657"/>
                    <a:pt x="2970" y="2757"/>
                  </a:cubicBezTo>
                  <a:cubicBezTo>
                    <a:pt x="3522" y="1857"/>
                    <a:pt x="4347" y="1407"/>
                    <a:pt x="5444" y="1407"/>
                  </a:cubicBezTo>
                  <a:close/>
                  <a:moveTo>
                    <a:pt x="5444" y="0"/>
                  </a:moveTo>
                  <a:cubicBezTo>
                    <a:pt x="3679" y="0"/>
                    <a:pt x="2330" y="582"/>
                    <a:pt x="1399" y="1746"/>
                  </a:cubicBezTo>
                  <a:cubicBezTo>
                    <a:pt x="467" y="2910"/>
                    <a:pt x="1" y="4599"/>
                    <a:pt x="1" y="6815"/>
                  </a:cubicBezTo>
                  <a:cubicBezTo>
                    <a:pt x="1" y="9026"/>
                    <a:pt x="467" y="10713"/>
                    <a:pt x="1399" y="11876"/>
                  </a:cubicBezTo>
                  <a:cubicBezTo>
                    <a:pt x="2330" y="13040"/>
                    <a:pt x="3679" y="13622"/>
                    <a:pt x="5444" y="13622"/>
                  </a:cubicBezTo>
                  <a:cubicBezTo>
                    <a:pt x="7209" y="13622"/>
                    <a:pt x="8558" y="13040"/>
                    <a:pt x="9490" y="11876"/>
                  </a:cubicBezTo>
                  <a:cubicBezTo>
                    <a:pt x="10422" y="10713"/>
                    <a:pt x="10888" y="9026"/>
                    <a:pt x="10888" y="6815"/>
                  </a:cubicBezTo>
                  <a:cubicBezTo>
                    <a:pt x="10888" y="4599"/>
                    <a:pt x="10422" y="2910"/>
                    <a:pt x="9490" y="1746"/>
                  </a:cubicBezTo>
                  <a:cubicBezTo>
                    <a:pt x="8558" y="582"/>
                    <a:pt x="7209" y="0"/>
                    <a:pt x="54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54"/>
            <p:cNvSpPr/>
            <p:nvPr/>
          </p:nvSpPr>
          <p:spPr>
            <a:xfrm>
              <a:off x="2648125" y="742500"/>
              <a:ext cx="272175" cy="340550"/>
            </a:xfrm>
            <a:custGeom>
              <a:rect b="b" l="l" r="r" t="t"/>
              <a:pathLst>
                <a:path extrusionOk="0" h="13622" w="10887">
                  <a:moveTo>
                    <a:pt x="5444" y="1407"/>
                  </a:moveTo>
                  <a:cubicBezTo>
                    <a:pt x="6548" y="1407"/>
                    <a:pt x="7376" y="1857"/>
                    <a:pt x="7928" y="2757"/>
                  </a:cubicBezTo>
                  <a:cubicBezTo>
                    <a:pt x="8480" y="3657"/>
                    <a:pt x="8756" y="5010"/>
                    <a:pt x="8756" y="6815"/>
                  </a:cubicBezTo>
                  <a:cubicBezTo>
                    <a:pt x="8756" y="8615"/>
                    <a:pt x="8480" y="9965"/>
                    <a:pt x="7928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6" y="12215"/>
                    <a:pt x="3522" y="11765"/>
                    <a:pt x="2970" y="10865"/>
                  </a:cubicBezTo>
                  <a:cubicBezTo>
                    <a:pt x="2418" y="9965"/>
                    <a:pt x="2142" y="8615"/>
                    <a:pt x="2142" y="6815"/>
                  </a:cubicBezTo>
                  <a:cubicBezTo>
                    <a:pt x="2142" y="5010"/>
                    <a:pt x="2418" y="3657"/>
                    <a:pt x="2970" y="2757"/>
                  </a:cubicBezTo>
                  <a:cubicBezTo>
                    <a:pt x="3522" y="1857"/>
                    <a:pt x="4346" y="1407"/>
                    <a:pt x="5444" y="1407"/>
                  </a:cubicBezTo>
                  <a:close/>
                  <a:moveTo>
                    <a:pt x="5444" y="0"/>
                  </a:moveTo>
                  <a:cubicBezTo>
                    <a:pt x="3678" y="0"/>
                    <a:pt x="2330" y="582"/>
                    <a:pt x="1398" y="1746"/>
                  </a:cubicBezTo>
                  <a:cubicBezTo>
                    <a:pt x="466" y="2910"/>
                    <a:pt x="0" y="4599"/>
                    <a:pt x="0" y="6815"/>
                  </a:cubicBezTo>
                  <a:cubicBezTo>
                    <a:pt x="0" y="9026"/>
                    <a:pt x="466" y="10713"/>
                    <a:pt x="1398" y="11876"/>
                  </a:cubicBezTo>
                  <a:cubicBezTo>
                    <a:pt x="2330" y="13040"/>
                    <a:pt x="3678" y="13622"/>
                    <a:pt x="5444" y="13622"/>
                  </a:cubicBezTo>
                  <a:cubicBezTo>
                    <a:pt x="7209" y="13622"/>
                    <a:pt x="8557" y="13040"/>
                    <a:pt x="9489" y="11876"/>
                  </a:cubicBezTo>
                  <a:cubicBezTo>
                    <a:pt x="10421" y="10713"/>
                    <a:pt x="10887" y="9026"/>
                    <a:pt x="10887" y="6815"/>
                  </a:cubicBezTo>
                  <a:cubicBezTo>
                    <a:pt x="10887" y="4599"/>
                    <a:pt x="10421" y="2910"/>
                    <a:pt x="9489" y="1746"/>
                  </a:cubicBezTo>
                  <a:cubicBezTo>
                    <a:pt x="8557" y="582"/>
                    <a:pt x="7209" y="0"/>
                    <a:pt x="54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54"/>
            <p:cNvSpPr/>
            <p:nvPr/>
          </p:nvSpPr>
          <p:spPr>
            <a:xfrm>
              <a:off x="107775" y="1334675"/>
              <a:ext cx="308050" cy="334175"/>
            </a:xfrm>
            <a:custGeom>
              <a:rect b="b" l="l" r="r" t="t"/>
              <a:pathLst>
                <a:path extrusionOk="0" h="13367" w="12322">
                  <a:moveTo>
                    <a:pt x="7733" y="0"/>
                  </a:moveTo>
                  <a:cubicBezTo>
                    <a:pt x="7058" y="0"/>
                    <a:pt x="6323" y="73"/>
                    <a:pt x="5528" y="220"/>
                  </a:cubicBezTo>
                  <a:cubicBezTo>
                    <a:pt x="4733" y="367"/>
                    <a:pt x="3900" y="583"/>
                    <a:pt x="3028" y="871"/>
                  </a:cubicBezTo>
                  <a:lnTo>
                    <a:pt x="2638" y="2629"/>
                  </a:lnTo>
                  <a:cubicBezTo>
                    <a:pt x="3566" y="2248"/>
                    <a:pt x="4438" y="1958"/>
                    <a:pt x="5254" y="1759"/>
                  </a:cubicBezTo>
                  <a:cubicBezTo>
                    <a:pt x="6070" y="1560"/>
                    <a:pt x="6812" y="1460"/>
                    <a:pt x="7480" y="1460"/>
                  </a:cubicBezTo>
                  <a:cubicBezTo>
                    <a:pt x="8253" y="1460"/>
                    <a:pt x="8879" y="1639"/>
                    <a:pt x="9358" y="1996"/>
                  </a:cubicBezTo>
                  <a:cubicBezTo>
                    <a:pt x="9836" y="2354"/>
                    <a:pt x="10075" y="2817"/>
                    <a:pt x="10075" y="3386"/>
                  </a:cubicBezTo>
                  <a:cubicBezTo>
                    <a:pt x="10075" y="3931"/>
                    <a:pt x="9876" y="4463"/>
                    <a:pt x="9479" y="4982"/>
                  </a:cubicBezTo>
                  <a:cubicBezTo>
                    <a:pt x="9082" y="5501"/>
                    <a:pt x="8408" y="6103"/>
                    <a:pt x="7459" y="6789"/>
                  </a:cubicBezTo>
                  <a:lnTo>
                    <a:pt x="349" y="11872"/>
                  </a:lnTo>
                  <a:lnTo>
                    <a:pt x="0" y="13367"/>
                  </a:lnTo>
                  <a:lnTo>
                    <a:pt x="10223" y="13367"/>
                  </a:lnTo>
                  <a:lnTo>
                    <a:pt x="10592" y="11889"/>
                  </a:lnTo>
                  <a:lnTo>
                    <a:pt x="3070" y="11889"/>
                  </a:lnTo>
                  <a:lnTo>
                    <a:pt x="9874" y="7026"/>
                  </a:lnTo>
                  <a:cubicBezTo>
                    <a:pt x="10704" y="6434"/>
                    <a:pt x="11320" y="5835"/>
                    <a:pt x="11721" y="5228"/>
                  </a:cubicBezTo>
                  <a:cubicBezTo>
                    <a:pt x="12121" y="4621"/>
                    <a:pt x="12322" y="3984"/>
                    <a:pt x="12322" y="3315"/>
                  </a:cubicBezTo>
                  <a:cubicBezTo>
                    <a:pt x="12322" y="2325"/>
                    <a:pt x="11902" y="1524"/>
                    <a:pt x="11061" y="915"/>
                  </a:cubicBezTo>
                  <a:cubicBezTo>
                    <a:pt x="10221" y="305"/>
                    <a:pt x="9111" y="0"/>
                    <a:pt x="77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54"/>
            <p:cNvSpPr/>
            <p:nvPr/>
          </p:nvSpPr>
          <p:spPr>
            <a:xfrm>
              <a:off x="976750" y="1340600"/>
              <a:ext cx="277750" cy="328250"/>
            </a:xfrm>
            <a:custGeom>
              <a:rect b="b" l="l" r="r" t="t"/>
              <a:pathLst>
                <a:path extrusionOk="0" h="13130" w="11110">
                  <a:moveTo>
                    <a:pt x="3662" y="1"/>
                  </a:moveTo>
                  <a:lnTo>
                    <a:pt x="1" y="634"/>
                  </a:lnTo>
                  <a:lnTo>
                    <a:pt x="1" y="2938"/>
                  </a:lnTo>
                  <a:lnTo>
                    <a:pt x="3683" y="2305"/>
                  </a:lnTo>
                  <a:lnTo>
                    <a:pt x="3683" y="10791"/>
                  </a:lnTo>
                  <a:lnTo>
                    <a:pt x="96" y="10791"/>
                  </a:lnTo>
                  <a:lnTo>
                    <a:pt x="96" y="13130"/>
                  </a:lnTo>
                  <a:lnTo>
                    <a:pt x="11109" y="13130"/>
                  </a:lnTo>
                  <a:lnTo>
                    <a:pt x="11109" y="10791"/>
                  </a:lnTo>
                  <a:lnTo>
                    <a:pt x="7523" y="10791"/>
                  </a:lnTo>
                  <a:lnTo>
                    <a:pt x="752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54"/>
            <p:cNvSpPr/>
            <p:nvPr/>
          </p:nvSpPr>
          <p:spPr>
            <a:xfrm>
              <a:off x="1544400" y="1334675"/>
              <a:ext cx="272200" cy="340550"/>
            </a:xfrm>
            <a:custGeom>
              <a:rect b="b" l="l" r="r" t="t"/>
              <a:pathLst>
                <a:path extrusionOk="0" h="13622" w="10888">
                  <a:moveTo>
                    <a:pt x="5444" y="1407"/>
                  </a:moveTo>
                  <a:cubicBezTo>
                    <a:pt x="6548" y="1407"/>
                    <a:pt x="7376" y="1857"/>
                    <a:pt x="7928" y="2757"/>
                  </a:cubicBezTo>
                  <a:cubicBezTo>
                    <a:pt x="8480" y="3657"/>
                    <a:pt x="8756" y="5010"/>
                    <a:pt x="8756" y="6815"/>
                  </a:cubicBezTo>
                  <a:cubicBezTo>
                    <a:pt x="8756" y="8615"/>
                    <a:pt x="8480" y="9965"/>
                    <a:pt x="7928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7" y="12215"/>
                    <a:pt x="3522" y="11765"/>
                    <a:pt x="2970" y="10865"/>
                  </a:cubicBezTo>
                  <a:cubicBezTo>
                    <a:pt x="2418" y="9965"/>
                    <a:pt x="2142" y="8615"/>
                    <a:pt x="2142" y="6815"/>
                  </a:cubicBezTo>
                  <a:cubicBezTo>
                    <a:pt x="2142" y="5010"/>
                    <a:pt x="2418" y="3657"/>
                    <a:pt x="2970" y="2757"/>
                  </a:cubicBezTo>
                  <a:cubicBezTo>
                    <a:pt x="3522" y="1857"/>
                    <a:pt x="4347" y="1407"/>
                    <a:pt x="5444" y="1407"/>
                  </a:cubicBezTo>
                  <a:close/>
                  <a:moveTo>
                    <a:pt x="5444" y="0"/>
                  </a:moveTo>
                  <a:cubicBezTo>
                    <a:pt x="3679" y="0"/>
                    <a:pt x="2330" y="582"/>
                    <a:pt x="1398" y="1746"/>
                  </a:cubicBezTo>
                  <a:cubicBezTo>
                    <a:pt x="466" y="2909"/>
                    <a:pt x="0" y="4599"/>
                    <a:pt x="0" y="6815"/>
                  </a:cubicBezTo>
                  <a:cubicBezTo>
                    <a:pt x="0" y="9025"/>
                    <a:pt x="466" y="10712"/>
                    <a:pt x="1398" y="11876"/>
                  </a:cubicBezTo>
                  <a:cubicBezTo>
                    <a:pt x="2330" y="13040"/>
                    <a:pt x="3679" y="13622"/>
                    <a:pt x="5444" y="13622"/>
                  </a:cubicBezTo>
                  <a:cubicBezTo>
                    <a:pt x="7209" y="13622"/>
                    <a:pt x="8558" y="13040"/>
                    <a:pt x="9489" y="11876"/>
                  </a:cubicBezTo>
                  <a:cubicBezTo>
                    <a:pt x="10421" y="10712"/>
                    <a:pt x="10887" y="9025"/>
                    <a:pt x="10887" y="6815"/>
                  </a:cubicBezTo>
                  <a:cubicBezTo>
                    <a:pt x="10887" y="4599"/>
                    <a:pt x="10421" y="2909"/>
                    <a:pt x="9489" y="1746"/>
                  </a:cubicBezTo>
                  <a:cubicBezTo>
                    <a:pt x="8558" y="582"/>
                    <a:pt x="7209" y="0"/>
                    <a:pt x="54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54"/>
            <p:cNvSpPr/>
            <p:nvPr/>
          </p:nvSpPr>
          <p:spPr>
            <a:xfrm>
              <a:off x="2120000" y="1340600"/>
              <a:ext cx="234475" cy="328250"/>
            </a:xfrm>
            <a:custGeom>
              <a:rect b="b" l="l" r="r" t="t"/>
              <a:pathLst>
                <a:path extrusionOk="0" h="13130" w="9379">
                  <a:moveTo>
                    <a:pt x="3766" y="1"/>
                  </a:moveTo>
                  <a:lnTo>
                    <a:pt x="0" y="634"/>
                  </a:lnTo>
                  <a:lnTo>
                    <a:pt x="0" y="2252"/>
                  </a:lnTo>
                  <a:lnTo>
                    <a:pt x="3787" y="1619"/>
                  </a:lnTo>
                  <a:lnTo>
                    <a:pt x="3787" y="11635"/>
                  </a:lnTo>
                  <a:lnTo>
                    <a:pt x="306" y="11635"/>
                  </a:lnTo>
                  <a:lnTo>
                    <a:pt x="306" y="13130"/>
                  </a:lnTo>
                  <a:lnTo>
                    <a:pt x="9378" y="13130"/>
                  </a:lnTo>
                  <a:lnTo>
                    <a:pt x="9378" y="11635"/>
                  </a:lnTo>
                  <a:lnTo>
                    <a:pt x="5897" y="11635"/>
                  </a:lnTo>
                  <a:lnTo>
                    <a:pt x="589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54"/>
            <p:cNvSpPr/>
            <p:nvPr/>
          </p:nvSpPr>
          <p:spPr>
            <a:xfrm>
              <a:off x="2671850" y="1340600"/>
              <a:ext cx="234475" cy="328250"/>
            </a:xfrm>
            <a:custGeom>
              <a:rect b="b" l="l" r="r" t="t"/>
              <a:pathLst>
                <a:path extrusionOk="0" h="13130" w="9379">
                  <a:moveTo>
                    <a:pt x="3767" y="1"/>
                  </a:moveTo>
                  <a:lnTo>
                    <a:pt x="1" y="634"/>
                  </a:lnTo>
                  <a:lnTo>
                    <a:pt x="1" y="2252"/>
                  </a:lnTo>
                  <a:lnTo>
                    <a:pt x="3788" y="1619"/>
                  </a:lnTo>
                  <a:lnTo>
                    <a:pt x="3788" y="11635"/>
                  </a:lnTo>
                  <a:lnTo>
                    <a:pt x="306" y="11635"/>
                  </a:lnTo>
                  <a:lnTo>
                    <a:pt x="306" y="13130"/>
                  </a:lnTo>
                  <a:lnTo>
                    <a:pt x="9379" y="13130"/>
                  </a:lnTo>
                  <a:lnTo>
                    <a:pt x="9379" y="11635"/>
                  </a:lnTo>
                  <a:lnTo>
                    <a:pt x="5898" y="11635"/>
                  </a:lnTo>
                  <a:lnTo>
                    <a:pt x="589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54"/>
            <p:cNvSpPr/>
            <p:nvPr/>
          </p:nvSpPr>
          <p:spPr>
            <a:xfrm>
              <a:off x="106725" y="1926825"/>
              <a:ext cx="307800" cy="340575"/>
            </a:xfrm>
            <a:custGeom>
              <a:rect b="b" l="l" r="r" t="t"/>
              <a:pathLst>
                <a:path extrusionOk="0" h="13623" w="12312">
                  <a:moveTo>
                    <a:pt x="7775" y="1"/>
                  </a:moveTo>
                  <a:cubicBezTo>
                    <a:pt x="7072" y="1"/>
                    <a:pt x="6356" y="48"/>
                    <a:pt x="5628" y="142"/>
                  </a:cubicBezTo>
                  <a:cubicBezTo>
                    <a:pt x="4900" y="235"/>
                    <a:pt x="4150" y="376"/>
                    <a:pt x="3376" y="564"/>
                  </a:cubicBezTo>
                  <a:lnTo>
                    <a:pt x="3049" y="2147"/>
                  </a:lnTo>
                  <a:cubicBezTo>
                    <a:pt x="3808" y="1906"/>
                    <a:pt x="4542" y="1726"/>
                    <a:pt x="5248" y="1606"/>
                  </a:cubicBezTo>
                  <a:cubicBezTo>
                    <a:pt x="5955" y="1486"/>
                    <a:pt x="6646" y="1425"/>
                    <a:pt x="7321" y="1425"/>
                  </a:cubicBezTo>
                  <a:cubicBezTo>
                    <a:pt x="8215" y="1425"/>
                    <a:pt x="8907" y="1576"/>
                    <a:pt x="9400" y="1878"/>
                  </a:cubicBezTo>
                  <a:cubicBezTo>
                    <a:pt x="9892" y="2180"/>
                    <a:pt x="10138" y="2607"/>
                    <a:pt x="10138" y="3158"/>
                  </a:cubicBezTo>
                  <a:cubicBezTo>
                    <a:pt x="10138" y="3920"/>
                    <a:pt x="9802" y="4524"/>
                    <a:pt x="9131" y="4969"/>
                  </a:cubicBezTo>
                  <a:cubicBezTo>
                    <a:pt x="8459" y="5415"/>
                    <a:pt x="7539" y="5638"/>
                    <a:pt x="6372" y="5638"/>
                  </a:cubicBezTo>
                  <a:lnTo>
                    <a:pt x="4431" y="5638"/>
                  </a:lnTo>
                  <a:lnTo>
                    <a:pt x="4104" y="7080"/>
                  </a:lnTo>
                  <a:lnTo>
                    <a:pt x="5939" y="7080"/>
                  </a:lnTo>
                  <a:cubicBezTo>
                    <a:pt x="6959" y="7080"/>
                    <a:pt x="7743" y="7245"/>
                    <a:pt x="8292" y="7577"/>
                  </a:cubicBezTo>
                  <a:cubicBezTo>
                    <a:pt x="8840" y="7908"/>
                    <a:pt x="9115" y="8378"/>
                    <a:pt x="9115" y="8988"/>
                  </a:cubicBezTo>
                  <a:cubicBezTo>
                    <a:pt x="9115" y="9938"/>
                    <a:pt x="8684" y="10710"/>
                    <a:pt x="7822" y="11305"/>
                  </a:cubicBezTo>
                  <a:cubicBezTo>
                    <a:pt x="6961" y="11900"/>
                    <a:pt x="5837" y="12198"/>
                    <a:pt x="4452" y="12198"/>
                  </a:cubicBezTo>
                  <a:cubicBezTo>
                    <a:pt x="3749" y="12198"/>
                    <a:pt x="3061" y="12123"/>
                    <a:pt x="2390" y="11974"/>
                  </a:cubicBezTo>
                  <a:cubicBezTo>
                    <a:pt x="1718" y="11824"/>
                    <a:pt x="1052" y="11597"/>
                    <a:pt x="391" y="11292"/>
                  </a:cubicBezTo>
                  <a:lnTo>
                    <a:pt x="0" y="12972"/>
                  </a:lnTo>
                  <a:cubicBezTo>
                    <a:pt x="696" y="13189"/>
                    <a:pt x="1382" y="13351"/>
                    <a:pt x="2057" y="13460"/>
                  </a:cubicBezTo>
                  <a:cubicBezTo>
                    <a:pt x="2732" y="13568"/>
                    <a:pt x="3401" y="13622"/>
                    <a:pt x="4062" y="13622"/>
                  </a:cubicBezTo>
                  <a:cubicBezTo>
                    <a:pt x="5110" y="13622"/>
                    <a:pt x="6034" y="13539"/>
                    <a:pt x="6836" y="13372"/>
                  </a:cubicBezTo>
                  <a:cubicBezTo>
                    <a:pt x="7638" y="13205"/>
                    <a:pt x="8327" y="12951"/>
                    <a:pt x="8904" y="12611"/>
                  </a:cubicBezTo>
                  <a:cubicBezTo>
                    <a:pt x="9663" y="12166"/>
                    <a:pt x="10245" y="11635"/>
                    <a:pt x="10650" y="11020"/>
                  </a:cubicBezTo>
                  <a:cubicBezTo>
                    <a:pt x="11054" y="10404"/>
                    <a:pt x="11256" y="9744"/>
                    <a:pt x="11256" y="9041"/>
                  </a:cubicBezTo>
                  <a:cubicBezTo>
                    <a:pt x="11256" y="8308"/>
                    <a:pt x="11049" y="7719"/>
                    <a:pt x="10634" y="7273"/>
                  </a:cubicBezTo>
                  <a:cubicBezTo>
                    <a:pt x="10219" y="6828"/>
                    <a:pt x="9568" y="6499"/>
                    <a:pt x="8682" y="6288"/>
                  </a:cubicBezTo>
                  <a:cubicBezTo>
                    <a:pt x="9814" y="6066"/>
                    <a:pt x="10702" y="5649"/>
                    <a:pt x="11346" y="5040"/>
                  </a:cubicBezTo>
                  <a:cubicBezTo>
                    <a:pt x="11989" y="4430"/>
                    <a:pt x="12311" y="3700"/>
                    <a:pt x="12311" y="2850"/>
                  </a:cubicBezTo>
                  <a:cubicBezTo>
                    <a:pt x="12311" y="1982"/>
                    <a:pt x="11903" y="1291"/>
                    <a:pt x="11087" y="775"/>
                  </a:cubicBezTo>
                  <a:cubicBezTo>
                    <a:pt x="10272" y="259"/>
                    <a:pt x="9167" y="1"/>
                    <a:pt x="77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54"/>
            <p:cNvSpPr/>
            <p:nvPr/>
          </p:nvSpPr>
          <p:spPr>
            <a:xfrm>
              <a:off x="941675" y="1926825"/>
              <a:ext cx="324150" cy="340575"/>
            </a:xfrm>
            <a:custGeom>
              <a:rect b="b" l="l" r="r" t="t"/>
              <a:pathLst>
                <a:path extrusionOk="0" h="13623" w="12966">
                  <a:moveTo>
                    <a:pt x="6489" y="2314"/>
                  </a:moveTo>
                  <a:cubicBezTo>
                    <a:pt x="7361" y="2314"/>
                    <a:pt x="7981" y="2649"/>
                    <a:pt x="8351" y="3321"/>
                  </a:cubicBezTo>
                  <a:cubicBezTo>
                    <a:pt x="8720" y="3992"/>
                    <a:pt x="8904" y="5148"/>
                    <a:pt x="8904" y="6790"/>
                  </a:cubicBezTo>
                  <a:cubicBezTo>
                    <a:pt x="8904" y="8449"/>
                    <a:pt x="8718" y="9618"/>
                    <a:pt x="8345" y="10298"/>
                  </a:cubicBezTo>
                  <a:cubicBezTo>
                    <a:pt x="7973" y="10978"/>
                    <a:pt x="7354" y="11319"/>
                    <a:pt x="6489" y="11319"/>
                  </a:cubicBezTo>
                  <a:cubicBezTo>
                    <a:pt x="5617" y="11319"/>
                    <a:pt x="4994" y="10978"/>
                    <a:pt x="4621" y="10298"/>
                  </a:cubicBezTo>
                  <a:cubicBezTo>
                    <a:pt x="4249" y="9618"/>
                    <a:pt x="4062" y="8449"/>
                    <a:pt x="4062" y="6790"/>
                  </a:cubicBezTo>
                  <a:cubicBezTo>
                    <a:pt x="4062" y="5148"/>
                    <a:pt x="4249" y="3992"/>
                    <a:pt x="4621" y="3321"/>
                  </a:cubicBezTo>
                  <a:cubicBezTo>
                    <a:pt x="4994" y="2649"/>
                    <a:pt x="5617" y="2314"/>
                    <a:pt x="6489" y="2314"/>
                  </a:cubicBezTo>
                  <a:close/>
                  <a:moveTo>
                    <a:pt x="6489" y="1"/>
                  </a:moveTo>
                  <a:cubicBezTo>
                    <a:pt x="4414" y="1"/>
                    <a:pt x="2814" y="592"/>
                    <a:pt x="1689" y="1773"/>
                  </a:cubicBezTo>
                  <a:cubicBezTo>
                    <a:pt x="564" y="2954"/>
                    <a:pt x="1" y="4635"/>
                    <a:pt x="1" y="6816"/>
                  </a:cubicBezTo>
                  <a:cubicBezTo>
                    <a:pt x="1" y="8991"/>
                    <a:pt x="564" y="10669"/>
                    <a:pt x="1689" y="11851"/>
                  </a:cubicBezTo>
                  <a:cubicBezTo>
                    <a:pt x="2814" y="13032"/>
                    <a:pt x="4414" y="13622"/>
                    <a:pt x="6489" y="13622"/>
                  </a:cubicBezTo>
                  <a:cubicBezTo>
                    <a:pt x="8556" y="13622"/>
                    <a:pt x="10153" y="13032"/>
                    <a:pt x="11278" y="11851"/>
                  </a:cubicBezTo>
                  <a:cubicBezTo>
                    <a:pt x="12403" y="10669"/>
                    <a:pt x="12966" y="8991"/>
                    <a:pt x="12966" y="6816"/>
                  </a:cubicBezTo>
                  <a:cubicBezTo>
                    <a:pt x="12966" y="4635"/>
                    <a:pt x="12403" y="2954"/>
                    <a:pt x="11278" y="1773"/>
                  </a:cubicBezTo>
                  <a:cubicBezTo>
                    <a:pt x="10153" y="592"/>
                    <a:pt x="8556" y="1"/>
                    <a:pt x="64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54"/>
            <p:cNvSpPr/>
            <p:nvPr/>
          </p:nvSpPr>
          <p:spPr>
            <a:xfrm>
              <a:off x="1569725" y="1932775"/>
              <a:ext cx="277725" cy="328250"/>
            </a:xfrm>
            <a:custGeom>
              <a:rect b="b" l="l" r="r" t="t"/>
              <a:pathLst>
                <a:path extrusionOk="0" h="13130" w="11109">
                  <a:moveTo>
                    <a:pt x="3661" y="0"/>
                  </a:moveTo>
                  <a:lnTo>
                    <a:pt x="0" y="633"/>
                  </a:lnTo>
                  <a:lnTo>
                    <a:pt x="0" y="2937"/>
                  </a:lnTo>
                  <a:lnTo>
                    <a:pt x="3682" y="2304"/>
                  </a:lnTo>
                  <a:lnTo>
                    <a:pt x="3682" y="10790"/>
                  </a:lnTo>
                  <a:lnTo>
                    <a:pt x="95" y="10790"/>
                  </a:lnTo>
                  <a:lnTo>
                    <a:pt x="95" y="13129"/>
                  </a:lnTo>
                  <a:lnTo>
                    <a:pt x="11108" y="13129"/>
                  </a:lnTo>
                  <a:lnTo>
                    <a:pt x="11108" y="10790"/>
                  </a:lnTo>
                  <a:lnTo>
                    <a:pt x="7522" y="10790"/>
                  </a:lnTo>
                  <a:lnTo>
                    <a:pt x="75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54"/>
            <p:cNvSpPr/>
            <p:nvPr/>
          </p:nvSpPr>
          <p:spPr>
            <a:xfrm>
              <a:off x="2096250" y="1926825"/>
              <a:ext cx="272200" cy="340575"/>
            </a:xfrm>
            <a:custGeom>
              <a:rect b="b" l="l" r="r" t="t"/>
              <a:pathLst>
                <a:path extrusionOk="0" h="13623" w="10888">
                  <a:moveTo>
                    <a:pt x="5444" y="1408"/>
                  </a:moveTo>
                  <a:cubicBezTo>
                    <a:pt x="6548" y="1408"/>
                    <a:pt x="7376" y="1858"/>
                    <a:pt x="7929" y="2758"/>
                  </a:cubicBezTo>
                  <a:cubicBezTo>
                    <a:pt x="8481" y="3658"/>
                    <a:pt x="8757" y="5010"/>
                    <a:pt x="8757" y="6816"/>
                  </a:cubicBezTo>
                  <a:cubicBezTo>
                    <a:pt x="8757" y="8616"/>
                    <a:pt x="8481" y="9966"/>
                    <a:pt x="7929" y="10866"/>
                  </a:cubicBezTo>
                  <a:cubicBezTo>
                    <a:pt x="7376" y="11766"/>
                    <a:pt x="6548" y="12215"/>
                    <a:pt x="5444" y="12215"/>
                  </a:cubicBezTo>
                  <a:cubicBezTo>
                    <a:pt x="4347" y="12215"/>
                    <a:pt x="3522" y="11766"/>
                    <a:pt x="2970" y="10866"/>
                  </a:cubicBezTo>
                  <a:cubicBezTo>
                    <a:pt x="2418" y="9966"/>
                    <a:pt x="2142" y="8616"/>
                    <a:pt x="2142" y="6816"/>
                  </a:cubicBezTo>
                  <a:cubicBezTo>
                    <a:pt x="2142" y="5010"/>
                    <a:pt x="2418" y="3658"/>
                    <a:pt x="2970" y="2758"/>
                  </a:cubicBezTo>
                  <a:cubicBezTo>
                    <a:pt x="3522" y="1858"/>
                    <a:pt x="4347" y="1408"/>
                    <a:pt x="5444" y="1408"/>
                  </a:cubicBezTo>
                  <a:close/>
                  <a:moveTo>
                    <a:pt x="5444" y="1"/>
                  </a:moveTo>
                  <a:cubicBezTo>
                    <a:pt x="3679" y="1"/>
                    <a:pt x="2330" y="583"/>
                    <a:pt x="1399" y="1746"/>
                  </a:cubicBezTo>
                  <a:cubicBezTo>
                    <a:pt x="467" y="2910"/>
                    <a:pt x="1" y="4600"/>
                    <a:pt x="1" y="6816"/>
                  </a:cubicBezTo>
                  <a:cubicBezTo>
                    <a:pt x="1" y="9026"/>
                    <a:pt x="467" y="10713"/>
                    <a:pt x="1399" y="11877"/>
                  </a:cubicBezTo>
                  <a:cubicBezTo>
                    <a:pt x="2330" y="13041"/>
                    <a:pt x="3679" y="13622"/>
                    <a:pt x="5444" y="13622"/>
                  </a:cubicBezTo>
                  <a:cubicBezTo>
                    <a:pt x="7209" y="13622"/>
                    <a:pt x="8558" y="13041"/>
                    <a:pt x="9490" y="11877"/>
                  </a:cubicBezTo>
                  <a:cubicBezTo>
                    <a:pt x="10422" y="10713"/>
                    <a:pt x="10888" y="9026"/>
                    <a:pt x="10888" y="6816"/>
                  </a:cubicBezTo>
                  <a:cubicBezTo>
                    <a:pt x="10888" y="4600"/>
                    <a:pt x="10422" y="2910"/>
                    <a:pt x="9490" y="1746"/>
                  </a:cubicBezTo>
                  <a:cubicBezTo>
                    <a:pt x="8558" y="583"/>
                    <a:pt x="7209" y="1"/>
                    <a:pt x="54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54"/>
            <p:cNvSpPr/>
            <p:nvPr/>
          </p:nvSpPr>
          <p:spPr>
            <a:xfrm>
              <a:off x="2671850" y="1932775"/>
              <a:ext cx="234475" cy="328250"/>
            </a:xfrm>
            <a:custGeom>
              <a:rect b="b" l="l" r="r" t="t"/>
              <a:pathLst>
                <a:path extrusionOk="0" h="13130" w="9379">
                  <a:moveTo>
                    <a:pt x="3767" y="0"/>
                  </a:moveTo>
                  <a:lnTo>
                    <a:pt x="1" y="633"/>
                  </a:lnTo>
                  <a:lnTo>
                    <a:pt x="1" y="2252"/>
                  </a:lnTo>
                  <a:lnTo>
                    <a:pt x="3788" y="1618"/>
                  </a:lnTo>
                  <a:lnTo>
                    <a:pt x="3788" y="11635"/>
                  </a:lnTo>
                  <a:lnTo>
                    <a:pt x="306" y="11635"/>
                  </a:lnTo>
                  <a:lnTo>
                    <a:pt x="306" y="13129"/>
                  </a:lnTo>
                  <a:lnTo>
                    <a:pt x="9379" y="13129"/>
                  </a:lnTo>
                  <a:lnTo>
                    <a:pt x="9379" y="11635"/>
                  </a:lnTo>
                  <a:lnTo>
                    <a:pt x="5898" y="11635"/>
                  </a:lnTo>
                  <a:lnTo>
                    <a:pt x="58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54"/>
            <p:cNvSpPr/>
            <p:nvPr/>
          </p:nvSpPr>
          <p:spPr>
            <a:xfrm>
              <a:off x="115425" y="2524950"/>
              <a:ext cx="295400" cy="328250"/>
            </a:xfrm>
            <a:custGeom>
              <a:rect b="b" l="l" r="r" t="t"/>
              <a:pathLst>
                <a:path extrusionOk="0" h="13130" w="11816">
                  <a:moveTo>
                    <a:pt x="9094" y="1548"/>
                  </a:moveTo>
                  <a:lnTo>
                    <a:pt x="7448" y="8556"/>
                  </a:lnTo>
                  <a:lnTo>
                    <a:pt x="2068" y="8556"/>
                  </a:lnTo>
                  <a:lnTo>
                    <a:pt x="9094" y="1548"/>
                  </a:lnTo>
                  <a:close/>
                  <a:moveTo>
                    <a:pt x="8904" y="0"/>
                  </a:moveTo>
                  <a:lnTo>
                    <a:pt x="412" y="8319"/>
                  </a:lnTo>
                  <a:lnTo>
                    <a:pt x="0" y="10034"/>
                  </a:lnTo>
                  <a:lnTo>
                    <a:pt x="7111" y="10034"/>
                  </a:lnTo>
                  <a:lnTo>
                    <a:pt x="6393" y="13129"/>
                  </a:lnTo>
                  <a:lnTo>
                    <a:pt x="8514" y="13129"/>
                  </a:lnTo>
                  <a:lnTo>
                    <a:pt x="9220" y="10034"/>
                  </a:lnTo>
                  <a:lnTo>
                    <a:pt x="11467" y="10034"/>
                  </a:lnTo>
                  <a:lnTo>
                    <a:pt x="11815" y="8556"/>
                  </a:lnTo>
                  <a:lnTo>
                    <a:pt x="9568" y="8556"/>
                  </a:lnTo>
                  <a:lnTo>
                    <a:pt x="1158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54"/>
            <p:cNvSpPr/>
            <p:nvPr/>
          </p:nvSpPr>
          <p:spPr>
            <a:xfrm>
              <a:off x="941675" y="2519000"/>
              <a:ext cx="324150" cy="340575"/>
            </a:xfrm>
            <a:custGeom>
              <a:rect b="b" l="l" r="r" t="t"/>
              <a:pathLst>
                <a:path extrusionOk="0" h="13623" w="12966">
                  <a:moveTo>
                    <a:pt x="6489" y="2313"/>
                  </a:moveTo>
                  <a:cubicBezTo>
                    <a:pt x="7361" y="2313"/>
                    <a:pt x="7981" y="2649"/>
                    <a:pt x="8351" y="3320"/>
                  </a:cubicBezTo>
                  <a:cubicBezTo>
                    <a:pt x="8720" y="3992"/>
                    <a:pt x="8904" y="5148"/>
                    <a:pt x="8904" y="6789"/>
                  </a:cubicBezTo>
                  <a:cubicBezTo>
                    <a:pt x="8904" y="8449"/>
                    <a:pt x="8718" y="9618"/>
                    <a:pt x="8345" y="10298"/>
                  </a:cubicBezTo>
                  <a:cubicBezTo>
                    <a:pt x="7973" y="10978"/>
                    <a:pt x="7354" y="11318"/>
                    <a:pt x="6489" y="11318"/>
                  </a:cubicBezTo>
                  <a:cubicBezTo>
                    <a:pt x="5617" y="11318"/>
                    <a:pt x="4994" y="10978"/>
                    <a:pt x="4621" y="10298"/>
                  </a:cubicBezTo>
                  <a:cubicBezTo>
                    <a:pt x="4249" y="9618"/>
                    <a:pt x="4062" y="8449"/>
                    <a:pt x="4062" y="6789"/>
                  </a:cubicBezTo>
                  <a:cubicBezTo>
                    <a:pt x="4062" y="5148"/>
                    <a:pt x="4249" y="3992"/>
                    <a:pt x="4621" y="3320"/>
                  </a:cubicBezTo>
                  <a:cubicBezTo>
                    <a:pt x="4994" y="2649"/>
                    <a:pt x="5617" y="2313"/>
                    <a:pt x="6489" y="2313"/>
                  </a:cubicBezTo>
                  <a:close/>
                  <a:moveTo>
                    <a:pt x="6489" y="1"/>
                  </a:moveTo>
                  <a:cubicBezTo>
                    <a:pt x="4414" y="1"/>
                    <a:pt x="2814" y="591"/>
                    <a:pt x="1689" y="1773"/>
                  </a:cubicBezTo>
                  <a:cubicBezTo>
                    <a:pt x="564" y="2954"/>
                    <a:pt x="1" y="4635"/>
                    <a:pt x="1" y="6816"/>
                  </a:cubicBezTo>
                  <a:cubicBezTo>
                    <a:pt x="1" y="8991"/>
                    <a:pt x="564" y="10669"/>
                    <a:pt x="1689" y="11850"/>
                  </a:cubicBezTo>
                  <a:cubicBezTo>
                    <a:pt x="2814" y="13032"/>
                    <a:pt x="4414" y="13622"/>
                    <a:pt x="6489" y="13622"/>
                  </a:cubicBezTo>
                  <a:cubicBezTo>
                    <a:pt x="8556" y="13622"/>
                    <a:pt x="10153" y="13032"/>
                    <a:pt x="11278" y="11850"/>
                  </a:cubicBezTo>
                  <a:cubicBezTo>
                    <a:pt x="12403" y="10669"/>
                    <a:pt x="12966" y="8991"/>
                    <a:pt x="12966" y="6816"/>
                  </a:cubicBezTo>
                  <a:cubicBezTo>
                    <a:pt x="12966" y="4635"/>
                    <a:pt x="12403" y="2954"/>
                    <a:pt x="11278" y="1773"/>
                  </a:cubicBezTo>
                  <a:cubicBezTo>
                    <a:pt x="10153" y="591"/>
                    <a:pt x="8556" y="1"/>
                    <a:pt x="64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54"/>
            <p:cNvSpPr/>
            <p:nvPr/>
          </p:nvSpPr>
          <p:spPr>
            <a:xfrm>
              <a:off x="1569725" y="2524950"/>
              <a:ext cx="277725" cy="328250"/>
            </a:xfrm>
            <a:custGeom>
              <a:rect b="b" l="l" r="r" t="t"/>
              <a:pathLst>
                <a:path extrusionOk="0" h="13130" w="11109">
                  <a:moveTo>
                    <a:pt x="3661" y="0"/>
                  </a:moveTo>
                  <a:lnTo>
                    <a:pt x="0" y="633"/>
                  </a:lnTo>
                  <a:lnTo>
                    <a:pt x="0" y="2937"/>
                  </a:lnTo>
                  <a:lnTo>
                    <a:pt x="3682" y="2304"/>
                  </a:lnTo>
                  <a:lnTo>
                    <a:pt x="3682" y="10790"/>
                  </a:lnTo>
                  <a:lnTo>
                    <a:pt x="95" y="10790"/>
                  </a:lnTo>
                  <a:lnTo>
                    <a:pt x="95" y="13129"/>
                  </a:lnTo>
                  <a:lnTo>
                    <a:pt x="11108" y="13129"/>
                  </a:lnTo>
                  <a:lnTo>
                    <a:pt x="11108" y="10790"/>
                  </a:lnTo>
                  <a:lnTo>
                    <a:pt x="7522" y="10790"/>
                  </a:lnTo>
                  <a:lnTo>
                    <a:pt x="75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54"/>
            <p:cNvSpPr/>
            <p:nvPr/>
          </p:nvSpPr>
          <p:spPr>
            <a:xfrm>
              <a:off x="2121575" y="2524950"/>
              <a:ext cx="277725" cy="328250"/>
            </a:xfrm>
            <a:custGeom>
              <a:rect b="b" l="l" r="r" t="t"/>
              <a:pathLst>
                <a:path extrusionOk="0" h="13130" w="11109">
                  <a:moveTo>
                    <a:pt x="3661" y="0"/>
                  </a:moveTo>
                  <a:lnTo>
                    <a:pt x="0" y="633"/>
                  </a:lnTo>
                  <a:lnTo>
                    <a:pt x="0" y="2937"/>
                  </a:lnTo>
                  <a:lnTo>
                    <a:pt x="3682" y="2304"/>
                  </a:lnTo>
                  <a:lnTo>
                    <a:pt x="3682" y="10790"/>
                  </a:lnTo>
                  <a:lnTo>
                    <a:pt x="95" y="10790"/>
                  </a:lnTo>
                  <a:lnTo>
                    <a:pt x="95" y="13129"/>
                  </a:lnTo>
                  <a:lnTo>
                    <a:pt x="11109" y="13129"/>
                  </a:lnTo>
                  <a:lnTo>
                    <a:pt x="11109" y="10790"/>
                  </a:lnTo>
                  <a:lnTo>
                    <a:pt x="7522" y="10790"/>
                  </a:lnTo>
                  <a:lnTo>
                    <a:pt x="75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54"/>
            <p:cNvSpPr/>
            <p:nvPr/>
          </p:nvSpPr>
          <p:spPr>
            <a:xfrm>
              <a:off x="2648125" y="2519000"/>
              <a:ext cx="272175" cy="340575"/>
            </a:xfrm>
            <a:custGeom>
              <a:rect b="b" l="l" r="r" t="t"/>
              <a:pathLst>
                <a:path extrusionOk="0" h="13623" w="10887">
                  <a:moveTo>
                    <a:pt x="5444" y="1408"/>
                  </a:moveTo>
                  <a:cubicBezTo>
                    <a:pt x="6548" y="1408"/>
                    <a:pt x="7376" y="1858"/>
                    <a:pt x="7928" y="2758"/>
                  </a:cubicBezTo>
                  <a:cubicBezTo>
                    <a:pt x="8480" y="3657"/>
                    <a:pt x="8756" y="5010"/>
                    <a:pt x="8756" y="6816"/>
                  </a:cubicBezTo>
                  <a:cubicBezTo>
                    <a:pt x="8756" y="8616"/>
                    <a:pt x="8480" y="9966"/>
                    <a:pt x="7928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6" y="12215"/>
                    <a:pt x="3522" y="11765"/>
                    <a:pt x="2970" y="10865"/>
                  </a:cubicBezTo>
                  <a:cubicBezTo>
                    <a:pt x="2418" y="9966"/>
                    <a:pt x="2142" y="8616"/>
                    <a:pt x="2142" y="6816"/>
                  </a:cubicBezTo>
                  <a:cubicBezTo>
                    <a:pt x="2142" y="5010"/>
                    <a:pt x="2418" y="3657"/>
                    <a:pt x="2970" y="2758"/>
                  </a:cubicBezTo>
                  <a:cubicBezTo>
                    <a:pt x="3522" y="1858"/>
                    <a:pt x="4346" y="1408"/>
                    <a:pt x="5444" y="1408"/>
                  </a:cubicBezTo>
                  <a:close/>
                  <a:moveTo>
                    <a:pt x="5444" y="1"/>
                  </a:moveTo>
                  <a:cubicBezTo>
                    <a:pt x="3678" y="1"/>
                    <a:pt x="2330" y="583"/>
                    <a:pt x="1398" y="1746"/>
                  </a:cubicBezTo>
                  <a:cubicBezTo>
                    <a:pt x="466" y="2910"/>
                    <a:pt x="0" y="4600"/>
                    <a:pt x="0" y="6816"/>
                  </a:cubicBezTo>
                  <a:cubicBezTo>
                    <a:pt x="0" y="9026"/>
                    <a:pt x="466" y="10713"/>
                    <a:pt x="1398" y="11877"/>
                  </a:cubicBezTo>
                  <a:cubicBezTo>
                    <a:pt x="2330" y="13040"/>
                    <a:pt x="3678" y="13622"/>
                    <a:pt x="5444" y="13622"/>
                  </a:cubicBezTo>
                  <a:cubicBezTo>
                    <a:pt x="7209" y="13622"/>
                    <a:pt x="8557" y="13040"/>
                    <a:pt x="9489" y="11877"/>
                  </a:cubicBezTo>
                  <a:cubicBezTo>
                    <a:pt x="10421" y="10713"/>
                    <a:pt x="10887" y="9026"/>
                    <a:pt x="10887" y="6816"/>
                  </a:cubicBezTo>
                  <a:cubicBezTo>
                    <a:pt x="10887" y="4600"/>
                    <a:pt x="10421" y="2910"/>
                    <a:pt x="9489" y="1746"/>
                  </a:cubicBezTo>
                  <a:cubicBezTo>
                    <a:pt x="8557" y="583"/>
                    <a:pt x="7209" y="1"/>
                    <a:pt x="54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54"/>
            <p:cNvSpPr/>
            <p:nvPr/>
          </p:nvSpPr>
          <p:spPr>
            <a:xfrm>
              <a:off x="23475" y="0"/>
              <a:ext cx="2964800" cy="0"/>
            </a:xfrm>
            <a:custGeom>
              <a:rect b="b" l="l" r="r" t="t"/>
              <a:pathLst>
                <a:path extrusionOk="0" fill="none" h="0" w="118592">
                  <a:moveTo>
                    <a:pt x="0" y="0"/>
                  </a:moveTo>
                  <a:lnTo>
                    <a:pt x="118591" y="0"/>
                  </a:lnTo>
                </a:path>
              </a:pathLst>
            </a:custGeom>
            <a:noFill/>
            <a:ln cap="rnd" cmpd="sng" w="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54"/>
            <p:cNvSpPr/>
            <p:nvPr/>
          </p:nvSpPr>
          <p:spPr>
            <a:xfrm>
              <a:off x="23475" y="0"/>
              <a:ext cx="2964800" cy="39175"/>
            </a:xfrm>
            <a:custGeom>
              <a:rect b="b" l="l" r="r" t="t"/>
              <a:pathLst>
                <a:path extrusionOk="0" h="1567" w="118592">
                  <a:moveTo>
                    <a:pt x="0" y="0"/>
                  </a:moveTo>
                  <a:lnTo>
                    <a:pt x="0" y="1566"/>
                  </a:lnTo>
                  <a:lnTo>
                    <a:pt x="118591" y="1566"/>
                  </a:lnTo>
                  <a:lnTo>
                    <a:pt x="118591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54"/>
            <p:cNvSpPr/>
            <p:nvPr/>
          </p:nvSpPr>
          <p:spPr>
            <a:xfrm>
              <a:off x="23475" y="592150"/>
              <a:ext cx="2964800" cy="25"/>
            </a:xfrm>
            <a:custGeom>
              <a:rect b="b" l="l" r="r" t="t"/>
              <a:pathLst>
                <a:path extrusionOk="0" fill="none" h="1" w="118592">
                  <a:moveTo>
                    <a:pt x="0" y="1"/>
                  </a:moveTo>
                  <a:lnTo>
                    <a:pt x="118591" y="1"/>
                  </a:lnTo>
                </a:path>
              </a:pathLst>
            </a:custGeom>
            <a:noFill/>
            <a:ln cap="rnd" cmpd="sng" w="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54"/>
            <p:cNvSpPr/>
            <p:nvPr/>
          </p:nvSpPr>
          <p:spPr>
            <a:xfrm>
              <a:off x="23475" y="592150"/>
              <a:ext cx="2964800" cy="39175"/>
            </a:xfrm>
            <a:custGeom>
              <a:rect b="b" l="l" r="r" t="t"/>
              <a:pathLst>
                <a:path extrusionOk="0" h="1567" w="118592">
                  <a:moveTo>
                    <a:pt x="0" y="1"/>
                  </a:moveTo>
                  <a:lnTo>
                    <a:pt x="0" y="1567"/>
                  </a:lnTo>
                  <a:lnTo>
                    <a:pt x="118591" y="1567"/>
                  </a:lnTo>
                  <a:lnTo>
                    <a:pt x="11859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54"/>
            <p:cNvSpPr/>
            <p:nvPr/>
          </p:nvSpPr>
          <p:spPr>
            <a:xfrm>
              <a:off x="23475" y="2960825"/>
              <a:ext cx="2964800" cy="25"/>
            </a:xfrm>
            <a:custGeom>
              <a:rect b="b" l="l" r="r" t="t"/>
              <a:pathLst>
                <a:path extrusionOk="0" fill="none" h="1" w="118592">
                  <a:moveTo>
                    <a:pt x="0" y="1"/>
                  </a:moveTo>
                  <a:lnTo>
                    <a:pt x="118591" y="1"/>
                  </a:lnTo>
                </a:path>
              </a:pathLst>
            </a:custGeom>
            <a:noFill/>
            <a:ln cap="rnd" cmpd="sng" w="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54"/>
            <p:cNvSpPr/>
            <p:nvPr/>
          </p:nvSpPr>
          <p:spPr>
            <a:xfrm>
              <a:off x="23475" y="2960825"/>
              <a:ext cx="2964800" cy="39175"/>
            </a:xfrm>
            <a:custGeom>
              <a:rect b="b" l="l" r="r" t="t"/>
              <a:pathLst>
                <a:path extrusionOk="0" h="1567" w="118592">
                  <a:moveTo>
                    <a:pt x="0" y="1"/>
                  </a:moveTo>
                  <a:lnTo>
                    <a:pt x="0" y="1567"/>
                  </a:lnTo>
                  <a:lnTo>
                    <a:pt x="118591" y="1567"/>
                  </a:lnTo>
                  <a:lnTo>
                    <a:pt x="11859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43" name="Google Shape;443;p54"/>
          <p:cNvCxnSpPr/>
          <p:nvPr/>
        </p:nvCxnSpPr>
        <p:spPr>
          <a:xfrm>
            <a:off x="2704122" y="3917978"/>
            <a:ext cx="835800" cy="12900"/>
          </a:xfrm>
          <a:prstGeom prst="straightConnector1">
            <a:avLst/>
          </a:prstGeom>
          <a:noFill/>
          <a:ln cap="rnd" cmpd="sng" w="50800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444" name="Google Shape;444;p54"/>
          <p:cNvSpPr txBox="1"/>
          <p:nvPr/>
        </p:nvSpPr>
        <p:spPr>
          <a:xfrm>
            <a:off x="5737700" y="3635375"/>
            <a:ext cx="19413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/ 6 = 0.66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54"/>
          <p:cNvSpPr/>
          <p:nvPr/>
        </p:nvSpPr>
        <p:spPr>
          <a:xfrm>
            <a:off x="3978111" y="3252884"/>
            <a:ext cx="1358100" cy="1343100"/>
          </a:xfrm>
          <a:prstGeom prst="rtTriangle">
            <a:avLst/>
          </a:prstGeom>
          <a:solidFill>
            <a:srgbClr val="CC0202">
              <a:alpha val="19609"/>
            </a:srgbClr>
          </a:solidFill>
          <a:ln cap="rnd" cmpd="sng" w="25400">
            <a:solidFill>
              <a:srgbClr val="385D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Cum. Distribution of redundancy (real vs random)</a:t>
            </a:r>
            <a:endParaRPr/>
          </a:p>
        </p:txBody>
      </p:sp>
      <p:pic>
        <p:nvPicPr>
          <p:cNvPr id="451" name="Google Shape;45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577525"/>
            <a:ext cx="8520599" cy="3186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Correlation between redundancy and node-degree</a:t>
            </a:r>
            <a:endParaRPr/>
          </a:p>
        </p:txBody>
      </p:sp>
      <p:pic>
        <p:nvPicPr>
          <p:cNvPr id="457" name="Google Shape;45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311056"/>
            <a:ext cx="8520599" cy="3132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centrality notions in two mode networks</a:t>
            </a:r>
            <a:endParaRPr/>
          </a:p>
        </p:txBody>
      </p:sp>
      <p:sp>
        <p:nvSpPr>
          <p:cNvPr id="463" name="Google Shape;463;p5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As Faust noted a distinctive feature of centrality scores in two-mode networks is that the scores in one-mode depend on the scores in the other mode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Hidalgo and Hausman (2009) show that this principle can be generalized to compute a set of recursive quantities that they refer to as the method of reflections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Different "levels" of reflection modify the substantive interpretation of a given centrality score across the two modes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centrality notions in two mode networks</a:t>
            </a:r>
            <a:endParaRPr/>
          </a:p>
        </p:txBody>
      </p:sp>
      <p:sp>
        <p:nvSpPr>
          <p:cNvPr id="469" name="Google Shape;469;p5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Consider the standard two-mode data matrix (A</a:t>
            </a:r>
            <a:r>
              <a:rPr baseline="-25000" lang="en-US"/>
              <a:t>ik</a:t>
            </a:r>
            <a:r>
              <a:rPr lang="en-US"/>
              <a:t>) with modes g and h.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Reflective centralities are given by the quantities: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with: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8063" y="2178819"/>
            <a:ext cx="1778794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4">
            <a:off x="3480198" y="2645663"/>
            <a:ext cx="1814513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4538" y="4150588"/>
            <a:ext cx="1085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33813" y="3639056"/>
            <a:ext cx="1107281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centrality notions in two mode networks</a:t>
            </a:r>
            <a:endParaRPr/>
          </a:p>
        </p:txBody>
      </p:sp>
      <p:pic>
        <p:nvPicPr>
          <p:cNvPr id="479" name="Google Shape;47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7222"/>
            <a:ext cx="8520600" cy="3347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 of Reflection</a:t>
            </a:r>
            <a:endParaRPr/>
          </a:p>
        </p:txBody>
      </p:sp>
      <p:pic>
        <p:nvPicPr>
          <p:cNvPr id="485" name="Google Shape;48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00" y="974150"/>
            <a:ext cx="6309374" cy="473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425" y="269963"/>
            <a:ext cx="4843149" cy="460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842" y="153601"/>
            <a:ext cx="3648313" cy="4836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087" y="266513"/>
            <a:ext cx="6869825" cy="461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