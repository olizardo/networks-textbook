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Dynamic view to explore the dyad level.  </a:t>
            </a:r>
            <a:endParaRPr/>
          </a:p>
        </p:txBody>
      </p:sp>
      <p:sp>
        <p:nvSpPr>
          <p:cNvPr id="93" name="Google Shape;93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FRIENDSHIP CHOICE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E.g.  A chooses (says) that B is A’s friend     Maureen &amp; Rich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Sparse matrices, lots of null dyads.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trade networks:  eschanges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communication network:  communicative interactions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neural network:  electronic charges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sex network:  sexual interactions  (diseases)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Ties = Pipes, Tubes, Wires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Flows = Liquid moving through, electricity, pathogen</a:t>
            </a:r>
            <a:endParaRPr/>
          </a:p>
        </p:txBody>
      </p:sp>
      <p:sp>
        <p:nvSpPr>
          <p:cNvPr id="133" name="Google Shape;133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present data about the counts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theorizing at the event level, and will be able to look at things at that level  (though lots of noise there ), and model with ABM and simulations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What you really want in a communication network is not initiation, but value content flows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40" name="Google Shape;140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also think of mij as </a:t>
            </a:r>
            <a:r>
              <a:rPr b="0" i="1" lang="en-US" sz="1800" u="none" cap="none" strike="noStrike">
                <a:latin typeface="Arial"/>
                <a:ea typeface="Arial"/>
                <a:cs typeface="Arial"/>
                <a:sym typeface="Arial"/>
              </a:rPr>
              <a:t>strength </a:t>
            </a: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of tie , i.e. arc, ie. directed tie.  ( relative to max mij???)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3 strengths: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Vertex strength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Arc Strength  ( “best friend”)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Edge Strength  (Bandwidth)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aggregated data over a discrete time period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mi+  on-ness of a node, </a:t>
            </a:r>
            <a:r>
              <a:rPr b="1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propensity </a:t>
            </a: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to engage in some behavior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mi+  stock  (maybe a function of inflow from prior time period that has not yet flowed out)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mij   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mij constrained by mi+: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mi+  stock  (maybe a function of inflow from prior time period that has not yet flowed out)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mij   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people with high vertex strength should have large outflows.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(1) EXCEPT:  if they are high degree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Then have to distribute activity among a large number of others.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(2) EXCEPT when they over or under disperce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some think of a weak tie as min(mij) over all of i’s j neighbors. 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39" name="Google Shape;23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mi+  stock  (maybe a function of inflow from prior time period that has not yet flowed out)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mij   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dispersion like an error term,  actors can over or under disperse from expected mij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Levels</a:t>
            </a:r>
            <a:endParaRPr/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level:  Actor/Agent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Centrality, Propensity, Attributes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Dyad:  Social tie formation and decay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Reciprocity, Strength, Similarity (Social Distance)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Underexplored because of data limitations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Triadic level:  Communities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Transitivity, clustering (social closure), embededness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57200" y="579437"/>
            <a:ext cx="8229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Dyadic Census:   Limitations of Binary Data</a:t>
            </a:r>
            <a:b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482600" y="4254500"/>
            <a:ext cx="8229600" cy="202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only binary data, oversimplified contrast between asymmetric and mutual pairs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dyads can be non-reciprocal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Among mutual dyads there can be variability in the level of reciprocity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to bring in intensity of tie (weighed edges)</a:t>
            </a:r>
            <a:endParaRPr/>
          </a:p>
          <a:p>
            <a:pPr indent="-203200" lvl="0" marL="3429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276600" y="1752600"/>
            <a:ext cx="1524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Dyad 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752600"/>
            <a:ext cx="1371600" cy="427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743200" y="2286000"/>
            <a:ext cx="2819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Dyad </a:t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2286000"/>
            <a:ext cx="1631950" cy="427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2743200" y="2895600"/>
            <a:ext cx="2819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Dyad 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7387" y="2895600"/>
            <a:ext cx="1631950" cy="427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2895600" y="3429000"/>
            <a:ext cx="2286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Dyad</a:t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200" y="3505200"/>
            <a:ext cx="1470025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4"/>
          <p:cNvGrpSpPr/>
          <p:nvPr/>
        </p:nvGrpSpPr>
        <p:grpSpPr>
          <a:xfrm>
            <a:off x="792162" y="1905000"/>
            <a:ext cx="1493837" cy="1752600"/>
            <a:chOff x="0" y="0"/>
            <a:chExt cx="2147483647" cy="2147483647"/>
          </a:xfrm>
        </p:grpSpPr>
        <p:cxnSp>
          <p:nvCxnSpPr>
            <p:cNvPr id="107" name="Google Shape;107;p14"/>
            <p:cNvCxnSpPr/>
            <p:nvPr/>
          </p:nvCxnSpPr>
          <p:spPr>
            <a:xfrm>
              <a:off x="504349929" y="1960745784"/>
              <a:ext cx="120496462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</p:cxnSp>
        <p:cxnSp>
          <p:nvCxnSpPr>
            <p:cNvPr id="108" name="Google Shape;108;p14"/>
            <p:cNvCxnSpPr/>
            <p:nvPr/>
          </p:nvCxnSpPr>
          <p:spPr>
            <a:xfrm>
              <a:off x="504349929" y="2147483647"/>
              <a:ext cx="120496462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grpSp>
          <p:nvGrpSpPr>
            <p:cNvPr id="109" name="Google Shape;109;p14"/>
            <p:cNvGrpSpPr/>
            <p:nvPr/>
          </p:nvGrpSpPr>
          <p:grpSpPr>
            <a:xfrm>
              <a:off x="0" y="0"/>
              <a:ext cx="2147483647" cy="2147483644"/>
              <a:chOff x="0" y="0"/>
              <a:chExt cx="2147483647" cy="2147483647"/>
            </a:xfrm>
          </p:grpSpPr>
          <p:grpSp>
            <p:nvGrpSpPr>
              <p:cNvPr id="110" name="Google Shape;110;p14"/>
              <p:cNvGrpSpPr/>
              <p:nvPr/>
            </p:nvGrpSpPr>
            <p:grpSpPr>
              <a:xfrm>
                <a:off x="0" y="0"/>
                <a:ext cx="2081302594" cy="186737706"/>
                <a:chOff x="762000" y="2590800"/>
                <a:chExt cx="1447800" cy="152400"/>
              </a:xfrm>
            </p:grpSpPr>
            <p:sp>
              <p:nvSpPr>
                <p:cNvPr id="111" name="Google Shape;111;p14"/>
                <p:cNvSpPr/>
                <p:nvPr/>
              </p:nvSpPr>
              <p:spPr>
                <a:xfrm>
                  <a:off x="7620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" name="Google Shape;112;p14"/>
                <p:cNvSpPr/>
                <p:nvPr/>
              </p:nvSpPr>
              <p:spPr>
                <a:xfrm>
                  <a:off x="20574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3" name="Google Shape;113;p14"/>
              <p:cNvGrpSpPr/>
              <p:nvPr/>
            </p:nvGrpSpPr>
            <p:grpSpPr>
              <a:xfrm>
                <a:off x="13692794" y="653581980"/>
                <a:ext cx="2069894078" cy="186737706"/>
                <a:chOff x="801687" y="2438400"/>
                <a:chExt cx="1439863" cy="152400"/>
              </a:xfrm>
            </p:grpSpPr>
            <p:sp>
              <p:nvSpPr>
                <p:cNvPr id="114" name="Google Shape;114;p14"/>
                <p:cNvSpPr/>
                <p:nvPr/>
              </p:nvSpPr>
              <p:spPr>
                <a:xfrm>
                  <a:off x="801687" y="24384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15;p14"/>
                <p:cNvSpPr/>
                <p:nvPr/>
              </p:nvSpPr>
              <p:spPr>
                <a:xfrm>
                  <a:off x="2089150" y="24384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6" name="Google Shape;116;p14"/>
                <p:cNvCxnSpPr/>
                <p:nvPr/>
              </p:nvCxnSpPr>
              <p:spPr>
                <a:xfrm>
                  <a:off x="1127125" y="2514600"/>
                  <a:ext cx="838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stealth"/>
                  <a:tailEnd len="sm" w="sm" type="none"/>
                </a:ln>
              </p:spPr>
            </p:cxnSp>
          </p:grpSp>
          <p:grpSp>
            <p:nvGrpSpPr>
              <p:cNvPr id="117" name="Google Shape;117;p14"/>
              <p:cNvGrpSpPr/>
              <p:nvPr/>
            </p:nvGrpSpPr>
            <p:grpSpPr>
              <a:xfrm>
                <a:off x="66181051" y="1960745940"/>
                <a:ext cx="2081302594" cy="186737706"/>
                <a:chOff x="762000" y="2590800"/>
                <a:chExt cx="1447800" cy="152400"/>
              </a:xfrm>
            </p:grpSpPr>
            <p:sp>
              <p:nvSpPr>
                <p:cNvPr id="118" name="Google Shape;118;p14"/>
                <p:cNvSpPr/>
                <p:nvPr/>
              </p:nvSpPr>
              <p:spPr>
                <a:xfrm>
                  <a:off x="7620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" name="Google Shape;119;p14"/>
                <p:cNvSpPr/>
                <p:nvPr/>
              </p:nvSpPr>
              <p:spPr>
                <a:xfrm>
                  <a:off x="20574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0" name="Google Shape;120;p14"/>
              <p:cNvSpPr/>
              <p:nvPr/>
            </p:nvSpPr>
            <p:spPr>
              <a:xfrm>
                <a:off x="20539922" y="1307165118"/>
                <a:ext cx="219080163" cy="18673402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1871346553" y="1307163883"/>
                <a:ext cx="219084474" cy="1867377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2" name="Google Shape;122;p14"/>
              <p:cNvCxnSpPr/>
              <p:nvPr/>
            </p:nvCxnSpPr>
            <p:spPr>
              <a:xfrm>
                <a:off x="488375828" y="1400532814"/>
                <a:ext cx="1204964621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stealth"/>
              </a:ln>
            </p:spPr>
          </p:cxnSp>
        </p:grpSp>
      </p:grp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Metaphor</a:t>
            </a:r>
            <a:endParaRPr/>
          </a:p>
        </p:txBody>
      </p:sp>
      <p:sp>
        <p:nvSpPr>
          <p:cNvPr id="129" name="Google Shape;129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Ties and Flows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(or within) ties there are flows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ties:  Large flows  (bandwidth)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Reciprocal ties:  Balanced flows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measures of both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 of flow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intensity of flow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Network “Flows”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Dyadic social interactions (playing tennis, having sex, talking with, colloborating together on, exchanging with, giving to, receiving from)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counts within a time window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traits:  initiating,  waiting times, sequencing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Communicative Interactions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Initiating, who provides information, time talking, length of messages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Reciprocity as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counts aggregated from information on the occurrence and traits of interactional events within a time window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temporal event sequence  A-&gt;B-&gt;A-&gt;B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Weighted Edge Graphs</a:t>
            </a:r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457200" y="1600200"/>
            <a:ext cx="82296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x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 if  there was an interaction between i and j within a given time period and i initiated that interaction (e.g., a call from i to j)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Outflow Parameter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Count of the number of interactions between i and j that were initiated by i  in a given time period (e.g., number of calls made by i to j)</a:t>
            </a:r>
            <a:endParaRPr/>
          </a:p>
          <a:p>
            <a:pPr indent="-88900" lvl="2" marL="11430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097462" y="4406900"/>
            <a:ext cx="2979737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x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x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</a:t>
            </a:r>
            <a:endParaRPr/>
          </a:p>
        </p:txBody>
      </p:sp>
      <p:grpSp>
        <p:nvGrpSpPr>
          <p:cNvPr id="146" name="Google Shape;146;p17"/>
          <p:cNvGrpSpPr/>
          <p:nvPr/>
        </p:nvGrpSpPr>
        <p:grpSpPr>
          <a:xfrm>
            <a:off x="1917700" y="4076700"/>
            <a:ext cx="2057400" cy="2306637"/>
            <a:chOff x="0" y="0"/>
            <a:chExt cx="2147483647" cy="2147483647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772976203"/>
              <a:ext cx="561726821" cy="501029763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585757848" y="0"/>
              <a:ext cx="561725798" cy="501030676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1585757848" y="772976203"/>
              <a:ext cx="561725798" cy="501029763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1585757848" y="1646452970"/>
              <a:ext cx="561725798" cy="501030676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cxnSp>
          <p:nvCxnSpPr>
            <p:cNvPr id="151" name="Google Shape;151;p17"/>
            <p:cNvCxnSpPr/>
            <p:nvPr/>
          </p:nvCxnSpPr>
          <p:spPr>
            <a:xfrm flipH="1" rot="10800000">
              <a:off x="561726756" y="501030775"/>
              <a:ext cx="1024032078" cy="51137596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52" name="Google Shape;152;p17"/>
            <p:cNvCxnSpPr/>
            <p:nvPr/>
          </p:nvCxnSpPr>
          <p:spPr>
            <a:xfrm>
              <a:off x="649547595" y="1022751850"/>
              <a:ext cx="81359210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53" name="Google Shape;153;p17"/>
            <p:cNvCxnSpPr/>
            <p:nvPr/>
          </p:nvCxnSpPr>
          <p:spPr>
            <a:xfrm>
              <a:off x="561726756" y="1022751850"/>
              <a:ext cx="1024032078" cy="623701325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54" name="Google Shape;154;p17"/>
            <p:cNvSpPr txBox="1"/>
            <p:nvPr/>
          </p:nvSpPr>
          <p:spPr>
            <a:xfrm>
              <a:off x="861751540" y="428634006"/>
              <a:ext cx="600633736" cy="343848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985413081" y="723773804"/>
              <a:ext cx="600633736" cy="343848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1056074302" y="1114916269"/>
              <a:ext cx="600633736" cy="343848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157" name="Google Shape;157;p17"/>
          <p:cNvSpPr txBox="1"/>
          <p:nvPr/>
        </p:nvSpPr>
        <p:spPr>
          <a:xfrm>
            <a:off x="5757862" y="5100637"/>
            <a:ext cx="1862137" cy="1062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5</a:t>
            </a:r>
            <a:b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85800" y="1943100"/>
            <a:ext cx="6731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85800" y="3217862"/>
            <a:ext cx="6731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Level Properties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457200" y="1600200"/>
            <a:ext cx="8229600" cy="2230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2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Out-degree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node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i.e. count of number of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 that i has initiated interaction with in a given time period (e.g., number of people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called)</a:t>
            </a:r>
            <a:endParaRPr/>
          </a:p>
          <a:p>
            <a:pPr indent="0" lvl="2" marL="9144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Strength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(activity level of a node): Count of the number of interactions initiated by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all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neighbors in a given time period (e.g., total number of calls made by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168" name="Google Shape;168;p18"/>
          <p:cNvGrpSpPr/>
          <p:nvPr/>
        </p:nvGrpSpPr>
        <p:grpSpPr>
          <a:xfrm>
            <a:off x="1612900" y="4021137"/>
            <a:ext cx="2057400" cy="2306637"/>
            <a:chOff x="0" y="0"/>
            <a:chExt cx="2147483647" cy="2147483647"/>
          </a:xfrm>
        </p:grpSpPr>
        <p:sp>
          <p:nvSpPr>
            <p:cNvPr id="169" name="Google Shape;169;p18"/>
            <p:cNvSpPr/>
            <p:nvPr/>
          </p:nvSpPr>
          <p:spPr>
            <a:xfrm>
              <a:off x="0" y="772975256"/>
              <a:ext cx="561726821" cy="501030670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1585757848" y="0"/>
              <a:ext cx="561725798" cy="501029757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1585757848" y="772975256"/>
              <a:ext cx="561725798" cy="501030670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585757848" y="1646453889"/>
              <a:ext cx="561725798" cy="501029757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cxnSp>
          <p:nvCxnSpPr>
            <p:cNvPr id="173" name="Google Shape;173;p18"/>
            <p:cNvCxnSpPr/>
            <p:nvPr/>
          </p:nvCxnSpPr>
          <p:spPr>
            <a:xfrm flipH="1" rot="10800000">
              <a:off x="561726756" y="501029831"/>
              <a:ext cx="1024032078" cy="511375954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74" name="Google Shape;174;p18"/>
            <p:cNvCxnSpPr/>
            <p:nvPr/>
          </p:nvCxnSpPr>
          <p:spPr>
            <a:xfrm>
              <a:off x="649547595" y="1022751838"/>
              <a:ext cx="81359210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75" name="Google Shape;175;p18"/>
            <p:cNvCxnSpPr/>
            <p:nvPr/>
          </p:nvCxnSpPr>
          <p:spPr>
            <a:xfrm>
              <a:off x="561726756" y="1022751838"/>
              <a:ext cx="1024032078" cy="62370131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76" name="Google Shape;176;p18"/>
            <p:cNvSpPr txBox="1"/>
            <p:nvPr/>
          </p:nvSpPr>
          <p:spPr>
            <a:xfrm>
              <a:off x="861751540" y="428634001"/>
              <a:ext cx="600633736" cy="343848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985413081" y="723773795"/>
              <a:ext cx="600633736" cy="343848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1056074302" y="1114916256"/>
              <a:ext cx="600633736" cy="343848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pic>
        <p:nvPicPr>
          <p:cNvPr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4559300"/>
            <a:ext cx="1590675" cy="75723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5486400" y="5465762"/>
            <a:ext cx="2573337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5 + 3 + 1 = 9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486400" y="3913187"/>
            <a:ext cx="2573337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1816100"/>
            <a:ext cx="666750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58800" y="3048000"/>
            <a:ext cx="939800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 Flows &amp; Vertex Strength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191" name="Google Shape;191;p19"/>
          <p:cNvGrpSpPr/>
          <p:nvPr/>
        </p:nvGrpSpPr>
        <p:grpSpPr>
          <a:xfrm>
            <a:off x="1146175" y="3429000"/>
            <a:ext cx="2058987" cy="2306637"/>
            <a:chOff x="0" y="0"/>
            <a:chExt cx="2147483647" cy="2147483647"/>
          </a:xfrm>
        </p:grpSpPr>
        <p:sp>
          <p:nvSpPr>
            <p:cNvPr id="192" name="Google Shape;192;p19"/>
            <p:cNvSpPr/>
            <p:nvPr/>
          </p:nvSpPr>
          <p:spPr>
            <a:xfrm>
              <a:off x="0" y="772976203"/>
              <a:ext cx="561292852" cy="501029763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586190794" y="0"/>
              <a:ext cx="561292852" cy="501030676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1586190794" y="772976203"/>
              <a:ext cx="561292852" cy="501029763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1586190794" y="1646452970"/>
              <a:ext cx="561292852" cy="501030676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cxnSp>
          <p:nvCxnSpPr>
            <p:cNvPr id="196" name="Google Shape;196;p19"/>
            <p:cNvCxnSpPr/>
            <p:nvPr/>
          </p:nvCxnSpPr>
          <p:spPr>
            <a:xfrm flipH="1" rot="10800000">
              <a:off x="561292767" y="501030775"/>
              <a:ext cx="1024896897" cy="51137596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97" name="Google Shape;197;p19"/>
            <p:cNvCxnSpPr/>
            <p:nvPr/>
          </p:nvCxnSpPr>
          <p:spPr>
            <a:xfrm>
              <a:off x="649046838" y="1022751850"/>
              <a:ext cx="812964044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98" name="Google Shape;198;p19"/>
            <p:cNvCxnSpPr/>
            <p:nvPr/>
          </p:nvCxnSpPr>
          <p:spPr>
            <a:xfrm>
              <a:off x="561292767" y="1022751850"/>
              <a:ext cx="1024896897" cy="623701325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99" name="Google Shape;199;p19"/>
            <p:cNvSpPr txBox="1"/>
            <p:nvPr/>
          </p:nvSpPr>
          <p:spPr>
            <a:xfrm>
              <a:off x="861751544" y="428634006"/>
              <a:ext cx="600633739" cy="343848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985413085" y="723773804"/>
              <a:ext cx="600633739" cy="343848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1056074307" y="1114916269"/>
              <a:ext cx="600633739" cy="343848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pic>
        <p:nvPicPr>
          <p:cNvPr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62" y="1560512"/>
            <a:ext cx="5287962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925" y="2259012"/>
            <a:ext cx="5095875" cy="78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4402137" y="3492500"/>
            <a:ext cx="42846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(m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(p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= 9*(5/9) 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402137" y="4656137"/>
            <a:ext cx="4284662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5/9 = .556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3/9 = .333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1/9 = .111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Nodal Degree and Arc Flows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213" name="Google Shape;213;p20"/>
          <p:cNvGrpSpPr/>
          <p:nvPr/>
        </p:nvGrpSpPr>
        <p:grpSpPr>
          <a:xfrm>
            <a:off x="3836987" y="1700212"/>
            <a:ext cx="2058987" cy="2306637"/>
            <a:chOff x="0" y="0"/>
            <a:chExt cx="2147483647" cy="2147483647"/>
          </a:xfrm>
        </p:grpSpPr>
        <p:sp>
          <p:nvSpPr>
            <p:cNvPr id="214" name="Google Shape;214;p20"/>
            <p:cNvSpPr/>
            <p:nvPr/>
          </p:nvSpPr>
          <p:spPr>
            <a:xfrm>
              <a:off x="0" y="772975256"/>
              <a:ext cx="561292852" cy="501030670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1586190794" y="0"/>
              <a:ext cx="561292852" cy="501029757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1586190794" y="772975256"/>
              <a:ext cx="561292852" cy="501030670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1586190794" y="1646453889"/>
              <a:ext cx="561292852" cy="501029757"/>
            </a:xfrm>
            <a:prstGeom prst="ellipse">
              <a:avLst/>
            </a:prstGeom>
            <a:gradFill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cxnSp>
          <p:nvCxnSpPr>
            <p:cNvPr id="218" name="Google Shape;218;p20"/>
            <p:cNvCxnSpPr/>
            <p:nvPr/>
          </p:nvCxnSpPr>
          <p:spPr>
            <a:xfrm flipH="1" rot="10800000">
              <a:off x="561292767" y="501029831"/>
              <a:ext cx="1024898942" cy="511375954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219" name="Google Shape;219;p20"/>
            <p:cNvCxnSpPr/>
            <p:nvPr/>
          </p:nvCxnSpPr>
          <p:spPr>
            <a:xfrm>
              <a:off x="649046838" y="1022751838"/>
              <a:ext cx="812964044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561292767" y="1022751838"/>
              <a:ext cx="1024898942" cy="62370131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21" name="Google Shape;221;p20"/>
            <p:cNvSpPr txBox="1"/>
            <p:nvPr/>
          </p:nvSpPr>
          <p:spPr>
            <a:xfrm>
              <a:off x="861751544" y="428634001"/>
              <a:ext cx="600633739" cy="343848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985413085" y="723773795"/>
              <a:ext cx="600633739" cy="343848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1056074307" y="1114916256"/>
              <a:ext cx="600633739" cy="343848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Calibri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pic>
        <p:nvPicPr>
          <p:cNvPr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14512"/>
            <a:ext cx="2379662" cy="82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512" y="2917825"/>
            <a:ext cx="3076575" cy="85248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1033462" y="4284662"/>
            <a:ext cx="6907212" cy="115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0" marL="2365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Outflow smaller for larger degree nodes</a:t>
            </a:r>
            <a:endParaRPr/>
          </a:p>
          <a:p>
            <a:pPr indent="-236537" lvl="0" marL="2365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Outflow larger for high vertex strength nodes</a:t>
            </a:r>
            <a:endParaRPr/>
          </a:p>
          <a:p>
            <a:pPr indent="-236537" lvl="0" marL="2365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Caveat:   d</a:t>
            </a:r>
            <a:r>
              <a:rPr b="0" baseline="-25000" i="0" lang="en-US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m</a:t>
            </a:r>
            <a:r>
              <a:rPr b="0" baseline="-25000" i="0" lang="en-US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</a:t>
            </a:r>
            <a:r>
              <a:rPr b="0" i="0" lang="en-US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correlated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 (arc) Strength</a:t>
            </a:r>
            <a:endParaRPr/>
          </a:p>
        </p:txBody>
      </p:sp>
      <p:sp>
        <p:nvSpPr>
          <p:cNvPr id="232" name="Google Shape;232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 Strength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Probability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 Flow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Strength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Dyadic (edge) strength  (bandwidth)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	</a:t>
            </a:r>
            <a:endParaRPr/>
          </a:p>
        </p:txBody>
      </p:sp>
      <p:pic>
        <p:nvPicPr>
          <p:cNvPr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0762" y="2265362"/>
            <a:ext cx="415925" cy="414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8362" y="2722562"/>
            <a:ext cx="4476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9125" y="3089275"/>
            <a:ext cx="1112837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9787" y="4081462"/>
            <a:ext cx="1565275" cy="52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Reciprocity</a:t>
            </a:r>
            <a:endParaRPr/>
          </a:p>
        </p:txBody>
      </p:sp>
      <p:sp>
        <p:nvSpPr>
          <p:cNvPr id="243" name="Google Shape;243;p22"/>
          <p:cNvSpPr txBox="1"/>
          <p:nvPr>
            <p:ph idx="4294967295" type="body"/>
          </p:nvPr>
        </p:nvSpPr>
        <p:spPr>
          <a:xfrm>
            <a:off x="457200" y="1684337"/>
            <a:ext cx="7772400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325" y="1684337"/>
            <a:ext cx="5064125" cy="557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1400" y="2500312"/>
            <a:ext cx="1695450" cy="884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1575" y="3595687"/>
            <a:ext cx="1301750" cy="45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1575" y="4067175"/>
            <a:ext cx="2147887" cy="45561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457200" y="4986337"/>
            <a:ext cx="7772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Measure of Reciprocity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1575" y="5537200"/>
            <a:ext cx="1520825" cy="45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Assortative Mixing	</a:t>
            </a:r>
            <a:endParaRPr/>
          </a:p>
        </p:txBody>
      </p:sp>
      <p:sp>
        <p:nvSpPr>
          <p:cNvPr id="255" name="Google Shape;255;p23"/>
          <p:cNvSpPr txBox="1"/>
          <p:nvPr>
            <p:ph idx="1" type="body"/>
          </p:nvPr>
        </p:nvSpPr>
        <p:spPr>
          <a:xfrm>
            <a:off x="457200" y="177006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Similarity/Difference between nodes (distance)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Degree (degree assortativity)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Euclidian Distance (homophily)   </a:t>
            </a:r>
            <a:endParaRPr/>
          </a:p>
        </p:txBody>
      </p:sp>
      <p:pic>
        <p:nvPicPr>
          <p:cNvPr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700337"/>
            <a:ext cx="17716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062" y="3417887"/>
            <a:ext cx="2160587" cy="598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