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Quattrocento"/>
      <p:regular r:id="rId27"/>
      <p:bold r:id="rId28"/>
    </p:embeddedFont>
    <p:embeddedFont>
      <p:font typeface="Economica"/>
      <p:regular r:id="rId29"/>
      <p:bold r:id="rId30"/>
      <p:italic r:id="rId31"/>
      <p:boldItalic r:id="rId32"/>
    </p:embeddedFont>
    <p:embeddedFont>
      <p:font typeface="Oxygen"/>
      <p:regular r:id="rId33"/>
      <p:bold r:id="rId34"/>
    </p:embeddedFont>
    <p:embeddedFont>
      <p:font typeface="Quattrocento Sans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4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Quattrocento-bold.fntdata"/><Relationship Id="rId27" Type="http://schemas.openxmlformats.org/officeDocument/2006/relationships/font" Target="fonts/Quattrocen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5.xml"/><Relationship Id="rId33" Type="http://schemas.openxmlformats.org/officeDocument/2006/relationships/font" Target="fonts/Oxygen-regular.fntdata"/><Relationship Id="rId10" Type="http://schemas.openxmlformats.org/officeDocument/2006/relationships/slide" Target="slides/slide4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6.xml"/><Relationship Id="rId34" Type="http://schemas.openxmlformats.org/officeDocument/2006/relationships/font" Target="fonts/Oxygen-bold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bold.fntdata"/><Relationship Id="rId17" Type="http://schemas.openxmlformats.org/officeDocument/2006/relationships/slide" Target="slides/slide11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0.xml"/><Relationship Id="rId38" Type="http://schemas.openxmlformats.org/officeDocument/2006/relationships/font" Target="fonts/Quattrocento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6255c6b491_0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6255c6b49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255c6b49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255c6b49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6255c6b49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6255c6b49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255c6b491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255c6b491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Attrition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Year 1, loss 28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Year 3 -  402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Year 4  - 253</a:t>
            </a: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6255c6b49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6255c6b49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255c6b49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255c6b49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255c6b49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255c6b49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tableau workbook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255c6b49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255c6b49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daily arcs file in excel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d80aba365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d80aba36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d80aba365_0_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d80aba36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255c6b49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255c6b49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Pdf and stata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255c6b491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255c6b49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codebook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stata data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255c6b491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255c6b491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6255c6b491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6255c6b491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974ed39d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974ed39d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d80aba36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d80aba36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d80aba36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d80aba36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d80aba365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d80aba365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7d80aba365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7d80aba365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457200" y="563760"/>
            <a:ext cx="8229600" cy="30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57200" y="3716392"/>
            <a:ext cx="8229600" cy="1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6" name="Google Shape;66;p14"/>
          <p:cNvCxnSpPr/>
          <p:nvPr/>
        </p:nvCxnSpPr>
        <p:spPr>
          <a:xfrm>
            <a:off x="457200" y="41148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>
            <a:off x="457200" y="3633383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None/>
              <a:defRPr b="0">
                <a:solidFill>
                  <a:srgbClr val="DA000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Quattrocento Sans"/>
              <a:buChar char="○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Font typeface="Oxygen"/>
              <a:buChar char="■"/>
              <a:defRPr sz="1800">
                <a:latin typeface="Oxygen"/>
                <a:ea typeface="Oxygen"/>
                <a:cs typeface="Oxygen"/>
                <a:sym typeface="Oxygen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Quattrocento Sans"/>
              <a:buChar char="●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72" name="Google Shape;72;p1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78" name="Google Shape;78;p1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82" name="Google Shape;82;p1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86" name="Google Shape;86;p18"/>
          <p:cNvCxnSpPr/>
          <p:nvPr/>
        </p:nvCxnSpPr>
        <p:spPr>
          <a:xfrm>
            <a:off x="457200" y="4317761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9"/>
          <p:cNvCxnSpPr/>
          <p:nvPr/>
        </p:nvCxnSpPr>
        <p:spPr>
          <a:xfrm>
            <a:off x="457200" y="113139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36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xygen"/>
              <a:buChar char="●"/>
              <a:defRPr sz="3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○"/>
              <a:defRPr sz="24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xygen"/>
              <a:buChar char="■"/>
              <a:defRPr sz="2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"/>
              <a:buChar char="●"/>
              <a:defRPr sz="1800">
                <a:solidFill>
                  <a:schemeClr val="dk1"/>
                </a:solidFill>
                <a:latin typeface="Quattrocento"/>
                <a:ea typeface="Quattrocento"/>
                <a:cs typeface="Quattrocento"/>
                <a:sym typeface="Quattrocento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1" name="Google Shape;61;p13"/>
          <p:cNvCxnSpPr/>
          <p:nvPr/>
        </p:nvCxnSpPr>
        <p:spPr>
          <a:xfrm>
            <a:off x="457200" y="502326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dk1"/>
                </a:solidFill>
              </a:defRPr>
            </a:lvl1pPr>
            <a:lvl2pPr lvl="1" rtl="0" algn="r">
              <a:buNone/>
              <a:defRPr sz="1300">
                <a:solidFill>
                  <a:schemeClr val="dk1"/>
                </a:solidFill>
              </a:defRPr>
            </a:lvl2pPr>
            <a:lvl3pPr lvl="2" rtl="0" algn="r">
              <a:buNone/>
              <a:defRPr sz="1300">
                <a:solidFill>
                  <a:schemeClr val="dk1"/>
                </a:solidFill>
              </a:defRPr>
            </a:lvl3pPr>
            <a:lvl4pPr lvl="3" rtl="0" algn="r">
              <a:buNone/>
              <a:defRPr sz="1300">
                <a:solidFill>
                  <a:schemeClr val="dk1"/>
                </a:solidFill>
              </a:defRPr>
            </a:lvl4pPr>
            <a:lvl5pPr lvl="4" rtl="0" algn="r">
              <a:buNone/>
              <a:defRPr sz="1300">
                <a:solidFill>
                  <a:schemeClr val="dk1"/>
                </a:solidFill>
              </a:defRPr>
            </a:lvl5pPr>
            <a:lvl6pPr lvl="5" rtl="0" algn="r">
              <a:buNone/>
              <a:defRPr sz="1300">
                <a:solidFill>
                  <a:schemeClr val="dk1"/>
                </a:solidFill>
              </a:defRPr>
            </a:lvl6pPr>
            <a:lvl7pPr lvl="6" rtl="0" algn="r">
              <a:buNone/>
              <a:defRPr sz="1300">
                <a:solidFill>
                  <a:schemeClr val="dk1"/>
                </a:solidFill>
              </a:defRPr>
            </a:lvl7pPr>
            <a:lvl8pPr lvl="7" rtl="0" algn="r">
              <a:buNone/>
              <a:defRPr sz="1300">
                <a:solidFill>
                  <a:schemeClr val="dk1"/>
                </a:solidFill>
              </a:defRPr>
            </a:lvl8pPr>
            <a:lvl9pPr lvl="8" rtl="0" algn="r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a/nd.edu/document/d/1KJWjqsnKy95DuKOmY-kMnUvoxeeOi7NJr5ZuTUJXDaY/edit?usp=sharing" TargetMode="External"/><Relationship Id="rId4" Type="http://schemas.openxmlformats.org/officeDocument/2006/relationships/hyperlink" Target="https://docs.google.com/spreadsheets/d/1pSh_3dLjlxSIOqzaG7fis4wi1ZDKdtM71XaiJis0FmM/edit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sites.nd.edu/nethealth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rive.google.com/file/d/1oV9Z2QRblb4eOier-D89kjNzdVp0vUOw/view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file/d/1Xejk8p3eDkb-uEGNXAdPMw1zm4mvbQrO/view" TargetMode="External"/><Relationship Id="rId4" Type="http://schemas.openxmlformats.org/officeDocument/2006/relationships/hyperlink" Target="https://drive.google.com/file/d/1dGOg-iqnV3daHTCNXRp48gJkUHrslRUu/view" TargetMode="External"/><Relationship Id="rId5" Type="http://schemas.openxmlformats.org/officeDocument/2006/relationships/hyperlink" Target="https://drive.google.com/file/d/1pRcrgtIsJhGd3nj_f_4h7wlFFA6yPQwZ/view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VxhBXH3GEKNcp1UrjlmMuU0FxM0ZnQaq/view" TargetMode="External"/><Relationship Id="rId4" Type="http://schemas.openxmlformats.org/officeDocument/2006/relationships/hyperlink" Target="https://drive.google.com/file/d/1WLTco13eQ1nDH3t9B-9KM5yys1W3ZFkH/view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file/d/1pC7JbOHg35SFFbna7gV7yqLaFFXhDtvq/view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sites.nd.edu/nethealth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open?id=1iwgAFhVSkqVykLb_cbk9cpanwxP_B70nzqJr2_MgXts" TargetMode="External"/><Relationship Id="rId4" Type="http://schemas.openxmlformats.org/officeDocument/2006/relationships/hyperlink" Target="https://docs.google.com/document/d/1cJcSUGDr2KuCzg0KIe7NZmktiRpoxhMiJIMwnfkMxtk/edit?usp=sharing" TargetMode="External"/><Relationship Id="rId10" Type="http://schemas.openxmlformats.org/officeDocument/2006/relationships/hyperlink" Target="https://drive.google.com/open?id=1eqfCeo6NV01qP85AwtaJ-xCMJO8r1qwEdZs7_A3qiPs" TargetMode="External"/><Relationship Id="rId9" Type="http://schemas.openxmlformats.org/officeDocument/2006/relationships/hyperlink" Target="https://drive.google.com/open?id=1GCvFgPpjZ0BrHkRjmF6x_QYK3hPrPp45o_cl2jD-e18" TargetMode="External"/><Relationship Id="rId5" Type="http://schemas.openxmlformats.org/officeDocument/2006/relationships/hyperlink" Target="https://drive.google.com/open?id=1r4HUR6Wd8IlwqojCviWiN9dDG265Stphg02Mw5dEswY" TargetMode="External"/><Relationship Id="rId6" Type="http://schemas.openxmlformats.org/officeDocument/2006/relationships/hyperlink" Target="https://drive.google.com/open?id=1xeXjY5kGtLaKV5Tjq-XgYDykxn9DfK_k8NpP6X6qPVc" TargetMode="External"/><Relationship Id="rId7" Type="http://schemas.openxmlformats.org/officeDocument/2006/relationships/hyperlink" Target="https://drive.google.com/open?id=1nP0KHz_wtlySTJBkWyIzexVKxJw1GQ_w7FBxYLFjiVM" TargetMode="External"/><Relationship Id="rId8" Type="http://schemas.openxmlformats.org/officeDocument/2006/relationships/hyperlink" Target="https://drive.google.com/open?id=1DDDKpXjrNMckbs-TTXfTOUwc_yUezaL-soxEca5z-n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rive.google.com/open?id=1PzRt9AhkAJ9yFpy-R8k_x14Muo8EiLGB&amp;authuser=dhachen@nd.edu&amp;usp=drive_fs" TargetMode="External"/><Relationship Id="rId4" Type="http://schemas.openxmlformats.org/officeDocument/2006/relationships/hyperlink" Target="https://drive.google.com/open?id=1QHm7wmWcZ5d3rx-jr8kluULdu-0pytwN&amp;authuser=dhachen@nd.edu&amp;usp=drive_fs" TargetMode="External"/><Relationship Id="rId5" Type="http://schemas.openxmlformats.org/officeDocument/2006/relationships/hyperlink" Target="https://drive.google.com/open?id=1QSXVyC8LZtayM89mvXdtfcOpSiQSSNxL&amp;authuser=dhachen@nd.edu&amp;usp=drive_fs" TargetMode="External"/><Relationship Id="rId6" Type="http://schemas.openxmlformats.org/officeDocument/2006/relationships/hyperlink" Target="https://drive.google.com/open?id=1OKkXXB0B0dAqZI7AtMqUrZjanuQDEP3A" TargetMode="External"/><Relationship Id="rId7" Type="http://schemas.openxmlformats.org/officeDocument/2006/relationships/hyperlink" Target="https://drive.google.com/open?id=1VxhBXH3GEKNcp1UrjlmMuU0FxM0ZnQaq" TargetMode="External"/><Relationship Id="rId8" Type="http://schemas.openxmlformats.org/officeDocument/2006/relationships/hyperlink" Target="https://drive.google.com/open?id=1WLTco13eQ1nDH3t9B-9KM5yys1W3ZFkH" TargetMode="Externa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open?id=1XKzz0wmvTDec3Xmd-INiIXcsqohdOt1J" TargetMode="External"/><Relationship Id="rId10" Type="http://schemas.openxmlformats.org/officeDocument/2006/relationships/hyperlink" Target="https://drive.google.com/open?id=1XsT2l9cPNtyV6IuKzthxDaLYGSVCxkus" TargetMode="External"/><Relationship Id="rId13" Type="http://schemas.openxmlformats.org/officeDocument/2006/relationships/hyperlink" Target="https://drive.google.com/open?id=1QHm7wmWcZ5d3rx-jr8kluULdu-0pytwN&amp;authuser=dhachen@nd.edu&amp;usp=drive_fs" TargetMode="External"/><Relationship Id="rId12" Type="http://schemas.openxmlformats.org/officeDocument/2006/relationships/hyperlink" Target="https://drive.google.com/open?id=1PzRt9AhkAJ9yFpy-R8k_x14Muo8EiLGB&amp;authuser=dhachen@nd.edu&amp;usp=drive_fs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rive.google.com/open?id=1XSU1VbhqJTVG_6tC2Ck1IYWummODf1Fg" TargetMode="External"/><Relationship Id="rId4" Type="http://schemas.openxmlformats.org/officeDocument/2006/relationships/hyperlink" Target="https://drive.google.com/open?id=1XSq31sybzHJkxn49eFg_UkfhbE16u1Wk" TargetMode="External"/><Relationship Id="rId9" Type="http://schemas.openxmlformats.org/officeDocument/2006/relationships/hyperlink" Target="https://drive.google.com/open?id=1XjfqwPBYu5-rfQoe3-G5G98OTtkWPw3b" TargetMode="External"/><Relationship Id="rId15" Type="http://schemas.openxmlformats.org/officeDocument/2006/relationships/hyperlink" Target="https://drive.google.com/open?id=1OKkXXB0B0dAqZI7AtMqUrZjanuQDEP3A" TargetMode="External"/><Relationship Id="rId14" Type="http://schemas.openxmlformats.org/officeDocument/2006/relationships/hyperlink" Target="https://drive.google.com/open?id=1QSXVyC8LZtayM89mvXdtfcOpSiQSSNxL&amp;authuser=dhachen@nd.edu&amp;usp=drive_fs" TargetMode="External"/><Relationship Id="rId17" Type="http://schemas.openxmlformats.org/officeDocument/2006/relationships/hyperlink" Target="https://drive.google.com/open?id=1WLTco13eQ1nDH3t9B-9KM5yys1W3ZFkH" TargetMode="External"/><Relationship Id="rId16" Type="http://schemas.openxmlformats.org/officeDocument/2006/relationships/hyperlink" Target="https://drive.google.com/open?id=1VxhBXH3GEKNcp1UrjlmMuU0FxM0ZnQaq" TargetMode="External"/><Relationship Id="rId5" Type="http://schemas.openxmlformats.org/officeDocument/2006/relationships/hyperlink" Target="https://drive.google.com/open?id=1XU5uRdbE0CVbTQngw4blhlw9Y1-wm26f" TargetMode="External"/><Relationship Id="rId6" Type="http://schemas.openxmlformats.org/officeDocument/2006/relationships/hyperlink" Target="https://drive.google.com/open?id=1XXXiKKufOyj-pRnua65g3PMJ5cwf3O3r" TargetMode="External"/><Relationship Id="rId7" Type="http://schemas.openxmlformats.org/officeDocument/2006/relationships/hyperlink" Target="https://drive.google.com/open?id=1Xcl_-sy--FQU6EmfHGMiunQcwq-A6j2q" TargetMode="External"/><Relationship Id="rId8" Type="http://schemas.openxmlformats.org/officeDocument/2006/relationships/hyperlink" Target="https://drive.google.com/open?id=1Xejk8p3eDkb-uEGNXAdPMw1zm4mvbQr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Data</a:t>
            </a:r>
            <a:endParaRPr/>
          </a:p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Study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4215150" y="1047750"/>
            <a:ext cx="4471800" cy="37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2-year + data collection effort funded by NSF using CDRs obtained from smartphones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162 Notre Dame students, full data for 70 weeks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6 million communication events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55,000 alters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25,000 mutual dyads, 13,000 with other ND students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~650 mutual dyads in which both persons are in NetSense study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ties with other ND students prior to arrival, so students begin with no ND friends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Watch as people form ties within and between status groups</a:t>
            </a:r>
            <a:endParaRPr sz="1600"/>
          </a:p>
        </p:txBody>
      </p:sp>
      <p:pic>
        <p:nvPicPr>
          <p:cNvPr descr="netsurveyNetworkHatND.jpg" id="103" name="Google Shape;103;p21"/>
          <p:cNvPicPr preferRelativeResize="0"/>
          <p:nvPr/>
        </p:nvPicPr>
        <p:blipFill rotWithShape="1">
          <a:blip r:embed="rId3">
            <a:alphaModFix/>
          </a:blip>
          <a:srcRect b="0" l="0" r="0" t="4003"/>
          <a:stretch/>
        </p:blipFill>
        <p:spPr>
          <a:xfrm>
            <a:off x="620400" y="1179125"/>
            <a:ext cx="3055027" cy="29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/>
        </p:nvSpPr>
        <p:spPr>
          <a:xfrm>
            <a:off x="447800" y="4196300"/>
            <a:ext cx="3529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Oxygen"/>
                <a:ea typeface="Oxygen"/>
                <a:cs typeface="Oxygen"/>
                <a:sym typeface="Oxygen"/>
              </a:rPr>
              <a:t>Striegel, Aaron et al. 2013. “Lessons Learned from the Netsense Smartphone Study.” Pp. 51–56 in Proceedings of the 5th ACM workshop on HotPlanet. ACM.</a:t>
            </a:r>
            <a:endParaRPr sz="10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NetSense Data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12475" y="1209100"/>
            <a:ext cx="84363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Behavioral Event Data:  Time-stamped communication event with to and from phone numbers    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Anonymized (</a:t>
            </a:r>
            <a:r>
              <a:rPr lang="en" u="sng">
                <a:solidFill>
                  <a:schemeClr val="hlink"/>
                </a:solidFill>
                <a:hlinkClick r:id="rId3"/>
              </a:rPr>
              <a:t>Codebook</a:t>
            </a:r>
            <a:r>
              <a:rPr lang="en"/>
              <a:t>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Arc weekly data:  73k arcs (directed edges); w</a:t>
            </a:r>
            <a:r>
              <a:rPr lang="en" sz="2400">
                <a:latin typeface="Oxygen"/>
                <a:ea typeface="Oxygen"/>
                <a:cs typeface="Oxygen"/>
                <a:sym typeface="Oxygen"/>
              </a:rPr>
              <a:t>ithin study, 1276 arcs</a:t>
            </a:r>
            <a:endParaRPr sz="2400">
              <a:latin typeface="Oxygen"/>
              <a:ea typeface="Oxygen"/>
              <a:cs typeface="Oxygen"/>
              <a:sym typeface="Oxygen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○"/>
            </a:pPr>
            <a:r>
              <a:rPr lang="en" u="sng">
                <a:solidFill>
                  <a:schemeClr val="hlink"/>
                </a:solidFill>
                <a:latin typeface="Oxygen"/>
                <a:ea typeface="Oxygen"/>
                <a:cs typeface="Oxygen"/>
                <a:sym typeface="Oxygen"/>
                <a:hlinkClick r:id="rId4"/>
              </a:rPr>
              <a:t>Codebook</a:t>
            </a:r>
            <a:endParaRPr>
              <a:latin typeface="Oxygen"/>
              <a:ea typeface="Oxygen"/>
              <a:cs typeface="Oxygen"/>
              <a:sym typeface="Oxyge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Oxygen"/>
              <a:buChar char="●"/>
            </a:pPr>
            <a:r>
              <a:rPr lang="en" sz="2400"/>
              <a:t>Basic (demographic) Survey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Network Survey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Courses and Grades Data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Suppl. material: coded clubs, activities, dorms; calendars 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	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229825" y="1147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collect a wide range of data at high temporal resolution on people’s social ties AND their behaviors, in particular physical activity and sleep habits.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model the co-evolution of ties and behaviors in order to test hypotheses about the explanation for nodal clustering in social networks.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NIH funded R01 grant.  Large team. Multiple years.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Innovative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Using remote mobile always-on sensors to gather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obtain “regular” social network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temporal resolution - event data (time stamped)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Website:  Data, Documentation </a:t>
            </a:r>
            <a:r>
              <a:rPr lang="en" u="sng">
                <a:solidFill>
                  <a:schemeClr val="hlink"/>
                </a:solidFill>
                <a:hlinkClick r:id="rId3"/>
              </a:rPr>
              <a:t>sites.nd.edu/nethealth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Began in Summer 2015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Tiers.  Total N = 698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Tier 1 recruited prior to arrival at ND.  N = 406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Tier 2 recruited via recommendations of Tier 1.  N = 94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Tier 3 recruited February 2016, N = 222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 = 24 took a survey, but never in study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Planned 2 year study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 compliance: Fitbit, Surveys, Data Syncs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Continued in Years 3-4 with smaller sample of higher compliance persons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Collected Data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Students g</a:t>
            </a:r>
            <a:r>
              <a:rPr lang="en"/>
              <a:t>iven Fitbits. Data uploaded to Fitbit Cloud and retrieved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Fitbits given to some students prior to arrival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Text and Call Data:  Downloaded by user to computer, synced with our secure servers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iPhone downloads have prior to ND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content retained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phone data:  App on phone, collects and transmits to servers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Survey:  administered every 3 months. Used Qualtrics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Survey:  administered every 3 months.   Used Qualtrics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network data:  Asked people to list up to 20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Alter-Alter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Grades and Courses:  administrative data (N = 220)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ID codes and Linking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Vertex ID codes created for all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In-study participants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Named alters through network surveys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Contacts called/texted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Complicated procedure involving clustertering together all ID codes from various devices (Fitbit, phone) and sources (surveys) that are likely to be the same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surveys asked subject to report name, email, and telephone of each contact.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Communication data used emails and phone numbers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Fitibt data has Fitbit id codes linked to individuals who have a Fitbit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</a:t>
            </a:r>
            <a:r>
              <a:rPr lang="en"/>
              <a:t> Code</a:t>
            </a:r>
            <a:r>
              <a:rPr lang="en"/>
              <a:t>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5 digit = In Study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 = Named Alters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7 = Unknown Other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Data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time-stamped data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 60 million communication records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Codebook</a:t>
            </a:r>
            <a:r>
              <a:rPr lang="en"/>
              <a:t>:  egoid, alterid, date, time, outgoing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Egoid is id for the person whose device recorded the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Variable </a:t>
            </a:r>
            <a:r>
              <a:rPr i="1" lang="en"/>
              <a:t>outgoing</a:t>
            </a:r>
            <a:r>
              <a:rPr lang="en"/>
              <a:t> allows user to reformat arc list so arcs are sender-receiver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 types are coded in terms of calls, sms, mms, WhatsApp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Most events (52m) are SMS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series for events allows us to track arc evolution over time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Derivative (Aggregated) Data (Within Study Dyads)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07530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Arcs/Edges list for specific time period (e.g. Fall 2015)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Daily Arcs file:  {i, j, date} records with frequency = number of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Weekly Arcs file: {i,j} records life of the tie information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first and last week active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Event frequency (weekly and cumulative; text and voice)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Age in weeks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Reciprocated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Semester Arcs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Weekly Nodes file: {i} records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Effective degree</a:t>
            </a:r>
            <a:r>
              <a:rPr lang="en"/>
              <a:t>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Active alters count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alters count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Dead alters count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Growth in N alters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 coefficient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268800" y="179150"/>
            <a:ext cx="86064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Interaction Events and Social Networks</a:t>
            </a:r>
            <a:endParaRPr sz="3400"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What is a social network?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Sets of vertices and edges:  G(N,M)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When does an edge between two vertices exist?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Social interaction event:  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</a:t>
            </a:r>
            <a:endParaRPr sz="18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communicative interaction</a:t>
            </a:r>
            <a:endParaRPr sz="1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Social Network Dynamics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Temporal pattern of the interactions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○"/>
            </a:pPr>
            <a:r>
              <a:rPr lang="en" sz="1800">
                <a:solidFill>
                  <a:srgbClr val="FF0000"/>
                </a:solidFill>
              </a:rPr>
              <a:t>Beginning and end to a sequence of interactions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Dating Social Ties: Effective and Active</a:t>
            </a:r>
            <a:endParaRPr sz="3200"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457200" y="1200150"/>
            <a:ext cx="35496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Begin date</a:t>
            </a:r>
            <a:r>
              <a:rPr lang="en" sz="1800"/>
              <a:t>:  time of first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| e</a:t>
            </a:r>
            <a:r>
              <a:rPr baseline="-25000" lang="en" sz="1800"/>
              <a:t>ij</a:t>
            </a:r>
            <a:r>
              <a:rPr lang="en" sz="1800"/>
              <a:t>(t&lt;t</a:t>
            </a:r>
            <a:r>
              <a:rPr baseline="-25000" lang="en" sz="1800"/>
              <a:t>k</a:t>
            </a:r>
            <a:r>
              <a:rPr lang="en" sz="1800"/>
              <a:t>) = 0  for all time points t &lt; t</a:t>
            </a:r>
            <a:r>
              <a:rPr baseline="-25000" lang="en" sz="1800"/>
              <a:t>k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End date</a:t>
            </a:r>
            <a:r>
              <a:rPr lang="en" sz="1800"/>
              <a:t>:  time of last interaction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 and e</a:t>
            </a:r>
            <a:r>
              <a:rPr baseline="-25000" lang="en" sz="1800"/>
              <a:t>ij</a:t>
            </a:r>
            <a:r>
              <a:rPr lang="en" sz="1800"/>
              <a:t>(t&gt;t</a:t>
            </a:r>
            <a:r>
              <a:rPr baseline="-25000" lang="en" sz="1800"/>
              <a:t>k</a:t>
            </a:r>
            <a:r>
              <a:rPr lang="en" sz="1800"/>
              <a:t>) = 0  for all time points t &gt;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Left and right censoring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4072975" y="1200150"/>
            <a:ext cx="4613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>
                <a:solidFill>
                  <a:srgbClr val="FF0000"/>
                </a:solidFill>
              </a:rPr>
              <a:t>Active Tie</a:t>
            </a:r>
            <a:r>
              <a:rPr lang="en" sz="1800"/>
              <a:t>:  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) = 1</a:t>
            </a:r>
            <a:endParaRPr sz="1800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Effective Tie</a:t>
            </a:r>
            <a:r>
              <a:rPr lang="en" sz="1800"/>
              <a:t>:</a:t>
            </a:r>
            <a:endParaRPr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ij</a:t>
            </a:r>
            <a:r>
              <a:rPr lang="en" sz="1800"/>
              <a:t>(t</a:t>
            </a:r>
            <a:r>
              <a:rPr baseline="-25000" lang="en" sz="1800"/>
              <a:t>k</a:t>
            </a:r>
            <a:r>
              <a:rPr lang="en" sz="1800"/>
              <a:t>,t</a:t>
            </a:r>
            <a:r>
              <a:rPr baseline="-25000" lang="en" sz="1800"/>
              <a:t>k+∆t</a:t>
            </a:r>
            <a:r>
              <a:rPr lang="en" sz="1800"/>
              <a:t>) = 1 if</a:t>
            </a:r>
            <a:endParaRPr sz="1800"/>
          </a:p>
          <a:p>
            <a:pPr indent="-342900" lvl="2" marL="1371600" rtl="0" algn="l">
              <a:spcBef>
                <a:spcPts val="48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 1  at some point in time t prior to t</a:t>
            </a:r>
            <a:r>
              <a:rPr baseline="-25000" lang="en" sz="1800"/>
              <a:t>k</a:t>
            </a:r>
            <a:endParaRPr baseline="-25000"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"/>
              <a:t>e</a:t>
            </a:r>
            <a:r>
              <a:rPr baseline="-25000" lang="en" sz="1800"/>
              <a:t>ij</a:t>
            </a:r>
            <a:r>
              <a:rPr lang="en" sz="1800"/>
              <a:t>(t) = 1  at some point in time t after t</a:t>
            </a:r>
            <a:r>
              <a:rPr baseline="-25000" lang="en" sz="1800"/>
              <a:t>k</a:t>
            </a:r>
            <a:endParaRPr baseline="-25000" sz="18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</a:rPr>
              <a:t>Effective tie implies there could be interaction between i and j at any time between t</a:t>
            </a:r>
            <a:r>
              <a:rPr baseline="-25000" lang="en" sz="1800">
                <a:solidFill>
                  <a:srgbClr val="CC0000"/>
                </a:solidFill>
              </a:rPr>
              <a:t>k</a:t>
            </a:r>
            <a:r>
              <a:rPr lang="en" sz="1800">
                <a:solidFill>
                  <a:srgbClr val="CC0000"/>
                </a:solidFill>
              </a:rPr>
              <a:t> and t</a:t>
            </a:r>
            <a:r>
              <a:rPr baseline="-25000" lang="en" sz="1800">
                <a:solidFill>
                  <a:srgbClr val="CC0000"/>
                </a:solidFill>
              </a:rPr>
              <a:t>k+∆t</a:t>
            </a:r>
            <a:endParaRPr sz="18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Survey Data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name generator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Wave 2  fed back names as checks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Information 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alter (gender, race, education, age, religion)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tie (how know, relation to ego, duration, frequency ,etc.)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 file where records are edgelist by wave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Codebook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Survey Data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of Variables and Scales  (Basic Survey Comparison sheet)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Background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Demographic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Education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Mental Health (depression, anxiety, stress)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Health (and expectations)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Social-</a:t>
            </a:r>
            <a:r>
              <a:rPr lang="en"/>
              <a:t>Psychological</a:t>
            </a:r>
            <a:r>
              <a:rPr lang="en"/>
              <a:t> Measures:  self-esteem, regulation, personality, efficacy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Activities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Attitudes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Usage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Information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scales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4"/>
              </a:rPr>
              <a:t>measures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Codebook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Codes (Clubs, Activities, Events; Health States)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3921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Fitbit Data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Activity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Sleep Data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Data</a:t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Course and Grades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ND Event Calendar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Weather event calendar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sites.nd.edu/nethealth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Data Summary - Sections</a:t>
            </a:r>
            <a:endParaRPr/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Sample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 Linkage and Identification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Communication Event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Basic Survey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Network Survey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Fitbit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Courses and Grades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NetHealth Data Summary - Data</a:t>
            </a:r>
            <a:endParaRPr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Communication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Basic Survey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Network Survey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Network Alter-Alter Survey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Fitbit Activity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Fitbit Sleep Data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>
                <a:latin typeface="Cambria"/>
                <a:ea typeface="Cambria"/>
                <a:cs typeface="Cambria"/>
                <a:sym typeface="Cambria"/>
              </a:rPr>
              <a:t>Courses and Grades Data</a:t>
            </a:r>
            <a:endParaRPr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NetHealth Data Summary - Codebooks</a:t>
            </a:r>
            <a:endParaRPr/>
          </a:p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Basic Survey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Network Survey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Alter-Alter Edge List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Communication Events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Fitbit Activity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" sz="24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Fitbit Sleep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NetHealth Data Summary - Tables &amp; Supp. Material</a:t>
            </a:r>
            <a:endParaRPr/>
          </a:p>
        </p:txBody>
      </p:sp>
      <p:sp>
        <p:nvSpPr>
          <p:cNvPr id="213" name="Google Shape;213;p39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1: Attrition Counts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2: Case Record Codes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3: Communication Event Type Codes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4:  Basic Survey Questions by Wave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5: Basic and Network Survey Questionnaires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6: Basic Survey Scales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7:  Consolidated Activities &amp; Clubs Coding Schema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8:  Musical Genres Codes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 9: Notre Dame Grade System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4" name="Google Shape;214;p39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latin typeface="Cambria"/>
                <a:ea typeface="Cambria"/>
                <a:cs typeface="Cambria"/>
                <a:sym typeface="Cambria"/>
              </a:rPr>
              <a:t>Codebooks  (pdfs)</a:t>
            </a:r>
            <a:endParaRPr b="1"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Basic Survey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Network Survey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Alter-Alter Edge List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Communication Events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Fitbit Activity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" sz="1800" u="sng">
                <a:solidFill>
                  <a:srgbClr val="1155CC"/>
                </a:solidFill>
                <a:latin typeface="Cambria"/>
                <a:ea typeface="Cambria"/>
                <a:cs typeface="Cambria"/>
                <a:sym typeface="Cambria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Fitbit Sleep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