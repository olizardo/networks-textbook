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178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</p:sldIdLst>
  <p:sldSz cy="5143500" cx="9144000"/>
  <p:notesSz cx="6858000" cy="9144000"/>
  <p:embeddedFontLst>
    <p:embeddedFont>
      <p:font typeface="Economica"/>
      <p:regular r:id="rId186"/>
      <p:bold r:id="rId187"/>
      <p:italic r:id="rId188"/>
      <p:boldItalic r:id="rId189"/>
    </p:embeddedFont>
    <p:embeddedFont>
      <p:font typeface="Cantarell"/>
      <p:regular r:id="rId190"/>
      <p:bold r:id="rId191"/>
      <p:italic r:id="rId192"/>
      <p:boldItalic r:id="rId193"/>
    </p:embeddedFont>
    <p:embeddedFont>
      <p:font typeface="Open Sans Medium"/>
      <p:regular r:id="rId194"/>
      <p:bold r:id="rId195"/>
      <p:italic r:id="rId196"/>
      <p:boldItalic r:id="rId197"/>
    </p:embeddedFont>
    <p:embeddedFont>
      <p:font typeface="Open Sans"/>
      <p:regular r:id="rId198"/>
      <p:bold r:id="rId199"/>
      <p:italic r:id="rId200"/>
      <p:boldItalic r:id="rId20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2360D0-0A39-4393-B752-CAD0FD4407F0}">
  <a:tblStyle styleId="{DE2360D0-0A39-4393-B752-CAD0FD4407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190" Type="http://schemas.openxmlformats.org/officeDocument/2006/relationships/font" Target="fonts/Cantarell-regular.fntdata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194" Type="http://schemas.openxmlformats.org/officeDocument/2006/relationships/font" Target="fonts/OpenSansMedium-regular.fntdata"/><Relationship Id="rId43" Type="http://schemas.openxmlformats.org/officeDocument/2006/relationships/slide" Target="slides/slide36.xml"/><Relationship Id="rId193" Type="http://schemas.openxmlformats.org/officeDocument/2006/relationships/font" Target="fonts/Cantarell-boldItalic.fntdata"/><Relationship Id="rId46" Type="http://schemas.openxmlformats.org/officeDocument/2006/relationships/slide" Target="slides/slide39.xml"/><Relationship Id="rId192" Type="http://schemas.openxmlformats.org/officeDocument/2006/relationships/font" Target="fonts/Cantarell-italic.fntdata"/><Relationship Id="rId45" Type="http://schemas.openxmlformats.org/officeDocument/2006/relationships/slide" Target="slides/slide38.xml"/><Relationship Id="rId191" Type="http://schemas.openxmlformats.org/officeDocument/2006/relationships/font" Target="fonts/Cantarell-bold.fntdata"/><Relationship Id="rId48" Type="http://schemas.openxmlformats.org/officeDocument/2006/relationships/slide" Target="slides/slide41.xml"/><Relationship Id="rId187" Type="http://schemas.openxmlformats.org/officeDocument/2006/relationships/font" Target="fonts/Economica-bold.fntdata"/><Relationship Id="rId47" Type="http://schemas.openxmlformats.org/officeDocument/2006/relationships/slide" Target="slides/slide40.xml"/><Relationship Id="rId186" Type="http://schemas.openxmlformats.org/officeDocument/2006/relationships/font" Target="fonts/Economica-regular.fntdata"/><Relationship Id="rId185" Type="http://schemas.openxmlformats.org/officeDocument/2006/relationships/slide" Target="slides/slide178.xml"/><Relationship Id="rId49" Type="http://schemas.openxmlformats.org/officeDocument/2006/relationships/slide" Target="slides/slide42.xml"/><Relationship Id="rId184" Type="http://schemas.openxmlformats.org/officeDocument/2006/relationships/slide" Target="slides/slide177.xml"/><Relationship Id="rId189" Type="http://schemas.openxmlformats.org/officeDocument/2006/relationships/font" Target="fonts/Economica-boldItalic.fntdata"/><Relationship Id="rId188" Type="http://schemas.openxmlformats.org/officeDocument/2006/relationships/font" Target="fonts/Economica-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slide" Target="slides/slide176.xml"/><Relationship Id="rId32" Type="http://schemas.openxmlformats.org/officeDocument/2006/relationships/slide" Target="slides/slide25.xml"/><Relationship Id="rId182" Type="http://schemas.openxmlformats.org/officeDocument/2006/relationships/slide" Target="slides/slide175.xml"/><Relationship Id="rId35" Type="http://schemas.openxmlformats.org/officeDocument/2006/relationships/slide" Target="slides/slide28.xml"/><Relationship Id="rId181" Type="http://schemas.openxmlformats.org/officeDocument/2006/relationships/slide" Target="slides/slide174.xml"/><Relationship Id="rId34" Type="http://schemas.openxmlformats.org/officeDocument/2006/relationships/slide" Target="slides/slide27.xml"/><Relationship Id="rId180" Type="http://schemas.openxmlformats.org/officeDocument/2006/relationships/slide" Target="slides/slide173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98" Type="http://schemas.openxmlformats.org/officeDocument/2006/relationships/font" Target="fonts/OpenSans-regular.fntdata"/><Relationship Id="rId14" Type="http://schemas.openxmlformats.org/officeDocument/2006/relationships/slide" Target="slides/slide7.xml"/><Relationship Id="rId197" Type="http://schemas.openxmlformats.org/officeDocument/2006/relationships/font" Target="fonts/OpenSansMedium-boldItalic.fntdata"/><Relationship Id="rId17" Type="http://schemas.openxmlformats.org/officeDocument/2006/relationships/slide" Target="slides/slide10.xml"/><Relationship Id="rId196" Type="http://schemas.openxmlformats.org/officeDocument/2006/relationships/font" Target="fonts/OpenSansMedium-italic.fntdata"/><Relationship Id="rId16" Type="http://schemas.openxmlformats.org/officeDocument/2006/relationships/slide" Target="slides/slide9.xml"/><Relationship Id="rId195" Type="http://schemas.openxmlformats.org/officeDocument/2006/relationships/font" Target="fonts/OpenSansMedium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99" Type="http://schemas.openxmlformats.org/officeDocument/2006/relationships/font" Target="fonts/OpenSans-bold.fntdata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121" Type="http://schemas.openxmlformats.org/officeDocument/2006/relationships/slide" Target="slides/slide114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10" Type="http://schemas.openxmlformats.org/officeDocument/2006/relationships/slide" Target="slides/slide103.xml"/><Relationship Id="rId114" Type="http://schemas.openxmlformats.org/officeDocument/2006/relationships/slide" Target="slides/slide107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201" Type="http://schemas.openxmlformats.org/officeDocument/2006/relationships/font" Target="fonts/OpenSans-boldItalic.fntdata"/><Relationship Id="rId200" Type="http://schemas.openxmlformats.org/officeDocument/2006/relationships/font" Target="fonts/Open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963f259b0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963f259b0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963f259b0_0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963f259b0_0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eadf0da66_3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aeadf0da66_3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eadf0da66_3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aeadf0da66_3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963f259b0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963f259b0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963f259b0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7963f259b0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7963f259b0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7963f259b0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0a6c98386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0a6c98386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0a6c983867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0a6c983867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eadf0da66_3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aeadf0da66_3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77ee91e0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477ee91e0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7963f259b0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7963f259b0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7963f259b0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7963f259b0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7963f259b0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7963f259b0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7963f259b0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7963f259b0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7963f259b0_0_1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7963f259b0_0_1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7963f259b0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7963f259b0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7963f259b0_0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7963f259b0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7963f259b0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7963f259b0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7963f259b0_0_1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7963f259b0_0_1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7963f259b0_0_1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7963f259b0_0_1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aeadf0da66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aeadf0da66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47b1a5c2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47b1a5c2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aeadf0da66_3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aeadf0da66_3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aeadf0da66_3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2aeadf0da66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47b1a5c2a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47b1a5c2a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aeadf0da66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aeadf0da66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aeadf0da66_3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aeadf0da66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aeadf0da66_3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aeadf0da66_3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aeadf0da66_3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aeadf0da66_3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aeadf0da66_3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aeadf0da66_3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2aeadf0da66_3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2aeadf0da66_3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aeadf0da66_3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aeadf0da66_3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aeadf0da66_3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aeadf0da66_3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dfc2ee9f4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dfc2ee9f4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dfc2ee9f49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3dfc2ee9f49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dfc2ee9f49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dfc2ee9f49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dfc2ee9f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dfc2ee9f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dfc2ee9f4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dfc2ee9f4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dfc2ee9f4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dfc2ee9f4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dfc2ee9f4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dfc2ee9f4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dfc2ee9f4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3dfc2ee9f4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fc2ee9f4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fc2ee9f4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dfc2ee9f4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dfc2ee9f4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dfc2ee9f49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3dfc2ee9f4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dfc2ee9f49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dfc2ee9f49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dfc2ee9f49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dfc2ee9f49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dfc2ee9f49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dfc2ee9f49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7963f259b0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7963f259b0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7963f259b0_0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7963f259b0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7963f259b0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7963f259b0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aede6dca6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aede6dca6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10a6c983867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10a6c983867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10a6c983867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10a6c983867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10a6c983867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10a6c983867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0a6c983867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0a6c983867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10a6c983867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10a6c983867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2aede6dca6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2aede6dca6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10a6c983867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10a6c983867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10a6c983867_2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10a6c983867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10a6c983867_2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10a6c983867_2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10a6c983867_2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10a6c983867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10a6c983867_2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10a6c983867_2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10a6c983867_2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10a6c983867_2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10a6c983867_2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10a6c983867_2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3477ee91e03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3477ee91e03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3477ee91e03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3477ee91e03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3477ee91e03_3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3477ee91e0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3477ee91e03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3477ee91e03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3477ee91e03_3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3477ee91e03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3477ee91e03_3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3477ee91e03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3477ee91e03_3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6" name="Google Shape;1626;g3477ee91e03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3477ee91e03_3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3477ee91e03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477ee91e03_3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3477ee91e03_3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3477ee91e03_3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3477ee91e03_3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3477ee91e03_3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3477ee91e03_3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477ee91e03_3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477ee91e03_3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g3477ee91e03_3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3477ee91e03_3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3477ee91e03_3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3477ee91e03_3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3477ee91e03_3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3477ee91e03_3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3477ee91e03_3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3477ee91e03_3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3477ee91e03_3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3477ee91e03_3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3477ee91e03_3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3477ee91e03_3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g3477ee91e03_3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1" name="Google Shape;1891;g3477ee91e03_3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3477ee91e03_3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3477ee91e03_3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3477ee91e03_3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3477ee91e03_3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g3477ee91e03_3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8" name="Google Shape;1958;g3477ee91e03_3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g3477ee91e03_3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2" name="Google Shape;1982;g3477ee91e03_3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g3477ee91e03_3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6" name="Google Shape;2006;g3477ee91e03_3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3477ee91e03_3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3477ee91e03_3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g3477ee91e03_3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3" name="Google Shape;2093;g3477ee91e03_3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g3477ee91e03_3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6" name="Google Shape;2136;g3477ee91e03_3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3477ee91e03_3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3477ee91e03_3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3477ee91e03_3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3477ee91e03_3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3477ee91e03_3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7" name="Google Shape;2267;g3477ee91e03_3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g3477ee91e03_3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8" name="Google Shape;2288;g3477ee91e03_3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g3477ee91e03_3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9" name="Google Shape;2309;g3477ee91e03_3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3477ee91e03_3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3477ee91e03_3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g3477ee91e03_3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3" name="Google Shape;2353;g3477ee91e03_3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3477ee91e03_3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3477ee91e03_3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g3477ee91e03_3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7" name="Google Shape;2397;g3477ee91e03_3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g3477ee91e03_3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9" name="Google Shape;2419;g3477ee91e03_3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g3477ee91e03_3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3" name="Google Shape;2463;g3477ee91e03_3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7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g3477ee91e03_3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9" name="Google Shape;2479;g3477ee91e03_3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9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g3d4dc75dac3_5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1" name="Google Shape;2501;g3d4dc75dac3_5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g3d4dc75dac3_5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2" name="Google Shape;2512;g3d4dc75dac3_5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g3d4dc75dac3_5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6" name="Google Shape;2526;g3d4dc75dac3_5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g3494f59bf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5" name="Google Shape;2535;g3494f59bf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g3494f59bfe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1" name="Google Shape;2541;g3494f59bfe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3494f59bfe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7" name="Google Shape;2547;g3494f59bfe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3477ee91e03_3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3" name="Google Shape;2553;g3477ee91e03_3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6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3477ee91e03_3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8" name="Google Shape;2558;g3477ee91e03_3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g34019550aa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8" name="Google Shape;2588;g34019550aa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34019550aa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34019550aa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6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7" name="Google Shape;2647;g34019550aae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8" name="Google Shape;2648;g34019550aa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6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7" name="Google Shape;2677;g34019550aa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8" name="Google Shape;2678;g34019550aa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g34019550aa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8" name="Google Shape;2708;g34019550aa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g34019550aa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9" name="Google Shape;2729;g34019550aa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8" name="Shape 2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9" name="Google Shape;2749;g34019550a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0" name="Google Shape;2750;g34019550a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g3477ee91e03_3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0" name="Google Shape;2780;g3477ee91e03_3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g3477ee91e03_3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0" name="Google Shape;2810;g3477ee91e03_3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9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g3477ee91e03_3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1" name="Google Shape;2841;g3477ee91e03_3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g3477ee91e03_3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1" name="Google Shape;2871;g3477ee91e03_3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g3477ee91e03_3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2" name="Google Shape;2902;g3477ee91e03_3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g3477ee91e03_3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3" name="Google Shape;2933;g3477ee91e03_3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2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g3477ee91e03_3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4" name="Google Shape;2964;g3477ee91e03_3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2" name="Shape 2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3477ee91e03_3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4" name="Google Shape;2994;g3477ee91e03_3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g3477ee91e03_3_1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5" name="Google Shape;3025;g3477ee91e03_3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g3477ee91e03_3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7" name="Google Shape;3057;g3477ee91e03_3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g3477ee91e03_3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0" name="Google Shape;3090;g3477ee91e03_3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g3477ee91e03_3_1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3" name="Google Shape;3123;g3477ee91e03_3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2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g3477ee91e03_3_1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4" name="Google Shape;3154;g3477ee91e03_3_1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4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g3477ee91e03_3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6" name="Google Shape;3186;g3477ee91e03_3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7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Google Shape;3218;g3477ee91e03_3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9" name="Google Shape;3219;g3477ee91e03_3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0" name="Shape 3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1" name="Google Shape;3251;g3477ee91e03_3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2" name="Google Shape;3252;g3477ee91e03_3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5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g3477ee91e03_3_1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7" name="Google Shape;3257;g3477ee91e03_3_1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5" name="Shape 3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g3477ee91e03_3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7" name="Google Shape;3287;g3477ee91e03_3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g3477ee91e03_3_1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7" name="Google Shape;3317;g3477ee91e03_3_1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5" name="Shape 3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6" name="Google Shape;3346;g3477ee91e03_3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7" name="Google Shape;3347;g3477ee91e03_3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g3477ee91e03_3_1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8" name="Google Shape;3378;g3477ee91e03_3_1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8" name="Shape 3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Google Shape;3409;g3477ee91e03_3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0" name="Google Shape;3410;g3477ee91e03_3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g3477ee91e03_3_1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3" name="Google Shape;3443;g3477ee91e03_3_1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g3477ee91e03_3_1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3" name="Google Shape;3473;g3477ee91e03_3_1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Google Shape;3502;g3477ee91e03_3_1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3" name="Google Shape;3503;g3477ee91e03_3_1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2" name="Shape 3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" name="Google Shape;3533;g3477ee91e03_3_1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4" name="Google Shape;3534;g3477ee91e03_3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g347b6383562_3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6" name="Google Shape;3566;g347b6383562_3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9" name="Shape 3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0" name="Google Shape;3570;g347b6383562_3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1" name="Google Shape;3571;g347b6383562_3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g347b6383562_3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1" name="Google Shape;3601;g347b6383562_3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9" name="Shape 3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0" name="Google Shape;3630;g347b6383562_34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1" name="Google Shape;3631;g347b6383562_34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0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g347b6383562_3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2" name="Google Shape;3662;g347b6383562_3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g347b6383562_34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3" name="Google Shape;3693;g347b6383562_34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2" name="Shape 3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3" name="Google Shape;3723;g347b6383562_34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4" name="Google Shape;3724;g347b6383562_34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3" name="Shape 3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4" name="Google Shape;3754;g347b6383562_34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5" name="Google Shape;3755;g347b6383562_34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4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Google Shape;3785;g347b6383562_34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6" name="Google Shape;3786;g347b6383562_34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5" name="Shape 3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6" name="Google Shape;3816;g347b6383562_34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7" name="Google Shape;3817;g347b6383562_34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0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g347b6383562_34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2" name="Google Shape;3822;g347b6383562_34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0" name="Shape 3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1" name="Google Shape;3851;g347b6383562_34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2" name="Google Shape;3852;g347b6383562_34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0" name="Shape 3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1" name="Google Shape;3881;g347b6383562_34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2" name="Google Shape;3882;g347b6383562_34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0" name="Shape 3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" name="Google Shape;3911;g347b6383562_34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2" name="Google Shape;3912;g347b6383562_34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0" name="Shape 3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Google Shape;3941;g3477ee91e03_3_1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2" name="Google Shape;3942;g3477ee91e03_3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5" name="Shape 3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6" name="Google Shape;3946;g3477ee91e03_3_1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7" name="Google Shape;3947;g3477ee91e03_3_1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g3477ee91e03_3_1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7" name="Google Shape;3977;g3477ee91e03_3_1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5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6" name="Google Shape;4006;g3477ee91e03_3_1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7" name="Google Shape;4007;g3477ee91e03_3_1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5" name="Shape 4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6" name="Google Shape;4036;g3477ee91e03_3_1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7" name="Google Shape;4037;g3477ee91e03_3_1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5" name="Shape 4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6" name="Google Shape;4066;g3477ee91e03_3_1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7" name="Google Shape;4067;g3477ee91e03_3_1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6" name="Shape 4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Google Shape;4097;g3477ee91e03_3_1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8" name="Google Shape;4098;g3477ee91e03_3_1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8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Google Shape;4129;g3477ee91e03_3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0" name="Google Shape;4130;g3477ee91e03_3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8" name="Shape 4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9" name="Google Shape;4159;g3477ee91e03_3_1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0" name="Google Shape;4160;g3477ee91e03_3_1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9" name="Shape 4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0" name="Google Shape;4190;g3477ee91e03_3_1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1" name="Google Shape;4191;g3477ee91e03_3_1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1" name="Shape 4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2" name="Google Shape;4222;g3477ee91e03_3_2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3" name="Google Shape;4223;g3477ee91e03_3_2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1" name="Shape 4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2" name="Google Shape;4252;g3477ee91e03_3_2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3" name="Google Shape;4253;g3477ee91e03_3_2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2" name="Shape 4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g3477ee91e03_3_2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4" name="Google Shape;4284;g3477ee91e03_3_2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3" name="Shape 4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4" name="Google Shape;4314;g3477ee91e03_3_2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5" name="Google Shape;4315;g3477ee91e03_3_2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4" name="Shape 4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5" name="Google Shape;4345;g3477ee91e03_3_2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6" name="Google Shape;4346;g3477ee91e03_3_2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5" name="Shape 4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6" name="Google Shape;4376;g3477ee91e03_3_2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7" name="Google Shape;4377;g3477ee91e03_3_2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6" name="Shape 4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7" name="Google Shape;4407;g3477ee91e03_3_2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8" name="Google Shape;4408;g3477ee91e03_3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9" name="Shape 4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0" name="Google Shape;4440;g3477ee91e03_3_2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1" name="Google Shape;4441;g3477ee91e03_3_2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2" name="Shape 4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3" name="Google Shape;4473;g3477ee91e03_3_2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4" name="Google Shape;4474;g3477ee91e03_3_2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.gif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1.gif"/><Relationship Id="rId4" Type="http://schemas.openxmlformats.org/officeDocument/2006/relationships/image" Target="../media/image1.gif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.gif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4.gif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9.gif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.gif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.gif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6.gif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7.gif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8.gif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0.gif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0.gif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2.gif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.gif"/><Relationship Id="rId4" Type="http://schemas.openxmlformats.org/officeDocument/2006/relationships/image" Target="../media/image4.gif"/><Relationship Id="rId5" Type="http://schemas.openxmlformats.org/officeDocument/2006/relationships/image" Target="../media/image9.gif"/><Relationship Id="rId6" Type="http://schemas.openxmlformats.org/officeDocument/2006/relationships/image" Target="../media/image3.gif"/><Relationship Id="rId7" Type="http://schemas.openxmlformats.org/officeDocument/2006/relationships/image" Target="../media/image5.gif"/></Relationships>
</file>

<file path=ppt/slides/_rels/slide10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5.gif"/><Relationship Id="rId5" Type="http://schemas.openxmlformats.org/officeDocument/2006/relationships/image" Target="../media/image2.gif"/><Relationship Id="rId6" Type="http://schemas.openxmlformats.org/officeDocument/2006/relationships/image" Target="../media/image4.gif"/><Relationship Id="rId7" Type="http://schemas.openxmlformats.org/officeDocument/2006/relationships/image" Target="../media/image9.gif"/><Relationship Id="rId8" Type="http://schemas.openxmlformats.org/officeDocument/2006/relationships/image" Target="../media/image3.gif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8.gif"/><Relationship Id="rId4" Type="http://schemas.openxmlformats.org/officeDocument/2006/relationships/image" Target="../media/image10.gif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3.gif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14.gif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5.gif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6.gif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13.gif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4.gif"/><Relationship Id="rId4" Type="http://schemas.openxmlformats.org/officeDocument/2006/relationships/image" Target="../media/image13.gif"/><Relationship Id="rId5" Type="http://schemas.openxmlformats.org/officeDocument/2006/relationships/image" Target="../media/image18.gif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7.gif"/><Relationship Id="rId4" Type="http://schemas.openxmlformats.org/officeDocument/2006/relationships/image" Target="../media/image14.gif"/><Relationship Id="rId5" Type="http://schemas.openxmlformats.org/officeDocument/2006/relationships/image" Target="../media/image13.gif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5.gif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6.gif"/><Relationship Id="rId4" Type="http://schemas.openxmlformats.org/officeDocument/2006/relationships/image" Target="../media/image15.gif"/><Relationship Id="rId5" Type="http://schemas.openxmlformats.org/officeDocument/2006/relationships/image" Target="../media/image19.gif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22.gif"/><Relationship Id="rId4" Type="http://schemas.openxmlformats.org/officeDocument/2006/relationships/image" Target="../media/image16.gif"/><Relationship Id="rId5" Type="http://schemas.openxmlformats.org/officeDocument/2006/relationships/image" Target="../media/image15.gif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20.gif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20.gif"/><Relationship Id="rId4" Type="http://schemas.openxmlformats.org/officeDocument/2006/relationships/image" Target="../media/image21.gif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20.gif"/><Relationship Id="rId4" Type="http://schemas.openxmlformats.org/officeDocument/2006/relationships/image" Target="../media/image21.gif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23.gif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23.gif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28.gif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32.gif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29.gif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27.gif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30.gif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33.gif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2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consisting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V</a:t>
            </a:r>
            <a:r>
              <a:rPr i="1" lang="en"/>
              <a:t>ertices represent actors or entities in the social network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8" name="Google Shape;118;p27"/>
          <p:cNvCxnSpPr>
            <a:stCxn id="117" idx="6"/>
            <a:endCxn id="11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2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" name="Google Shape;122;p27"/>
          <p:cNvCxnSpPr>
            <a:stCxn id="121" idx="4"/>
            <a:endCxn id="11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2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" name="Google Shape;124;p27"/>
          <p:cNvCxnSpPr>
            <a:stCxn id="117" idx="5"/>
            <a:endCxn id="12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6" name="Google Shape;126;p27"/>
          <p:cNvCxnSpPr>
            <a:stCxn id="125" idx="2"/>
            <a:endCxn id="11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" name="Google Shape;128;p27"/>
          <p:cNvCxnSpPr>
            <a:stCxn id="127" idx="2"/>
            <a:endCxn id="12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" name="Google Shape;130;p27"/>
          <p:cNvCxnSpPr>
            <a:stCxn id="129" idx="0"/>
            <a:endCxn id="12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7"/>
          <p:cNvCxnSpPr>
            <a:stCxn id="119" idx="4"/>
            <a:endCxn id="12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37" name="Google Shape;137;p28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consisting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</a:t>
            </a:r>
            <a:r>
              <a:rPr lang="en"/>
              <a:t>V</a:t>
            </a:r>
            <a:r>
              <a:rPr lang="en"/>
              <a:t>, </a:t>
            </a:r>
            <a:r>
              <a:rPr lang="en"/>
              <a:t>V</a:t>
            </a:r>
            <a:r>
              <a:rPr lang="en"/>
              <a:t>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Vertices represent actors or entities in the social network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Edges represent links, ties, relations in the social network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9" name="Google Shape;139;p28"/>
          <p:cNvCxnSpPr>
            <a:stCxn id="138" idx="6"/>
            <a:endCxn id="14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1" name="Google Shape;141;p2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" name="Google Shape;143;p28"/>
          <p:cNvCxnSpPr>
            <a:stCxn id="142" idx="4"/>
            <a:endCxn id="14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" name="Google Shape;145;p28"/>
          <p:cNvCxnSpPr>
            <a:stCxn id="138" idx="5"/>
            <a:endCxn id="14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" name="Google Shape;147;p28"/>
          <p:cNvCxnSpPr>
            <a:stCxn id="146" idx="2"/>
            <a:endCxn id="14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9" name="Google Shape;149;p28"/>
          <p:cNvCxnSpPr>
            <a:stCxn id="148" idx="2"/>
            <a:endCxn id="14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1" name="Google Shape;151;p28"/>
          <p:cNvCxnSpPr>
            <a:stCxn id="150" idx="0"/>
            <a:endCxn id="14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8"/>
          <p:cNvCxnSpPr>
            <a:stCxn id="140" idx="4"/>
            <a:endCxn id="14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(G) is an abstract mathematical object (not a picture!) consisting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Vertices represent actors or entities in the social network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Edges represent links, ties, relations in the social network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Such that G = (V, E)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graph is a set of two sets!</a:t>
            </a:r>
            <a:endParaRPr/>
          </a:p>
        </p:txBody>
      </p:sp>
      <p:sp>
        <p:nvSpPr>
          <p:cNvPr id="159" name="Google Shape;159;p2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0" name="Google Shape;160;p29"/>
          <p:cNvCxnSpPr>
            <a:stCxn id="159" idx="6"/>
            <a:endCxn id="16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2" name="Google Shape;162;p2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4" name="Google Shape;164;p29"/>
          <p:cNvCxnSpPr>
            <a:stCxn id="163" idx="4"/>
            <a:endCxn id="16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6" name="Google Shape;166;p29"/>
          <p:cNvCxnSpPr>
            <a:stCxn id="159" idx="5"/>
            <a:endCxn id="16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8" name="Google Shape;168;p29"/>
          <p:cNvCxnSpPr>
            <a:stCxn id="167" idx="2"/>
            <a:endCxn id="16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" name="Google Shape;170;p29"/>
          <p:cNvCxnSpPr>
            <a:stCxn id="169" idx="2"/>
            <a:endCxn id="16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2" name="Google Shape;172;p29"/>
          <p:cNvCxnSpPr>
            <a:stCxn id="171" idx="0"/>
            <a:endCxn id="16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9"/>
          <p:cNvCxnSpPr>
            <a:stCxn id="161" idx="4"/>
            <a:endCxn id="16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</p:txBody>
      </p:sp>
      <p:sp>
        <p:nvSpPr>
          <p:cNvPr id="180" name="Google Shape;180;p3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1" name="Google Shape;181;p30"/>
          <p:cNvCxnSpPr>
            <a:stCxn id="180" idx="6"/>
            <a:endCxn id="18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3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" name="Google Shape;185;p30"/>
          <p:cNvCxnSpPr>
            <a:stCxn id="184" idx="4"/>
            <a:endCxn id="18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3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" name="Google Shape;187;p30"/>
          <p:cNvCxnSpPr>
            <a:stCxn id="180" idx="5"/>
            <a:endCxn id="18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3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" name="Google Shape;189;p30"/>
          <p:cNvCxnSpPr>
            <a:stCxn id="188" idx="2"/>
            <a:endCxn id="18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3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" name="Google Shape;191;p30"/>
          <p:cNvCxnSpPr>
            <a:stCxn id="190" idx="2"/>
            <a:endCxn id="18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" name="Google Shape;193;p30"/>
          <p:cNvCxnSpPr>
            <a:stCxn id="192" idx="0"/>
            <a:endCxn id="19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30"/>
          <p:cNvCxnSpPr>
            <a:stCxn id="182" idx="4"/>
            <a:endCxn id="18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30"/>
          <p:cNvSpPr txBox="1"/>
          <p:nvPr/>
        </p:nvSpPr>
        <p:spPr>
          <a:xfrm>
            <a:off x="7413625" y="1453175"/>
            <a:ext cx="1367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Adjacent Vertices</a:t>
            </a:r>
            <a:endParaRPr sz="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6" name="Google Shape;196;p30"/>
          <p:cNvCxnSpPr>
            <a:stCxn id="195" idx="2"/>
            <a:endCxn id="188" idx="0"/>
          </p:cNvCxnSpPr>
          <p:nvPr/>
        </p:nvCxnSpPr>
        <p:spPr>
          <a:xfrm flipH="1">
            <a:off x="7575775" y="2015375"/>
            <a:ext cx="521700" cy="68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30"/>
          <p:cNvCxnSpPr>
            <a:stCxn id="195" idx="2"/>
            <a:endCxn id="190" idx="0"/>
          </p:cNvCxnSpPr>
          <p:nvPr/>
        </p:nvCxnSpPr>
        <p:spPr>
          <a:xfrm>
            <a:off x="8097475" y="2015375"/>
            <a:ext cx="607200" cy="68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</p:txBody>
      </p:sp>
      <p:sp>
        <p:nvSpPr>
          <p:cNvPr id="204" name="Google Shape;204;p3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5" name="Google Shape;205;p31"/>
          <p:cNvCxnSpPr>
            <a:stCxn id="204" idx="6"/>
            <a:endCxn id="20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3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8" name="Google Shape;208;p3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9" name="Google Shape;209;p31"/>
          <p:cNvCxnSpPr>
            <a:stCxn id="208" idx="4"/>
            <a:endCxn id="20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1" name="Google Shape;211;p31"/>
          <p:cNvCxnSpPr>
            <a:stCxn id="204" idx="5"/>
            <a:endCxn id="21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3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3" name="Google Shape;213;p31"/>
          <p:cNvCxnSpPr>
            <a:stCxn id="212" idx="2"/>
            <a:endCxn id="20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5" name="Google Shape;215;p31"/>
          <p:cNvCxnSpPr>
            <a:stCxn id="214" idx="2"/>
            <a:endCxn id="21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7" name="Google Shape;217;p31"/>
          <p:cNvCxnSpPr>
            <a:stCxn id="216" idx="0"/>
            <a:endCxn id="21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31"/>
          <p:cNvCxnSpPr>
            <a:stCxn id="206" idx="4"/>
            <a:endCxn id="21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31"/>
          <p:cNvSpPr txBox="1"/>
          <p:nvPr/>
        </p:nvSpPr>
        <p:spPr>
          <a:xfrm>
            <a:off x="7251900" y="1036400"/>
            <a:ext cx="1367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Nonadjacent Vertices</a:t>
            </a:r>
            <a:endParaRPr sz="8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0" name="Google Shape;220;p31"/>
          <p:cNvCxnSpPr>
            <a:stCxn id="219" idx="2"/>
            <a:endCxn id="208" idx="7"/>
          </p:cNvCxnSpPr>
          <p:nvPr/>
        </p:nvCxnSpPr>
        <p:spPr>
          <a:xfrm flipH="1">
            <a:off x="6726750" y="1598600"/>
            <a:ext cx="1209000" cy="1479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31"/>
          <p:cNvCxnSpPr>
            <a:stCxn id="219" idx="2"/>
            <a:endCxn id="212" idx="7"/>
          </p:cNvCxnSpPr>
          <p:nvPr/>
        </p:nvCxnSpPr>
        <p:spPr>
          <a:xfrm flipH="1">
            <a:off x="7690650" y="1598600"/>
            <a:ext cx="245100" cy="1147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27" name="Google Shape;227;p3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</p:txBody>
      </p:sp>
      <p:sp>
        <p:nvSpPr>
          <p:cNvPr id="228" name="Google Shape;228;p3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9" name="Google Shape;229;p32"/>
          <p:cNvCxnSpPr>
            <a:stCxn id="228" idx="6"/>
            <a:endCxn id="23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3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3" name="Google Shape;233;p32"/>
          <p:cNvCxnSpPr>
            <a:stCxn id="232" idx="4"/>
            <a:endCxn id="23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5" name="Google Shape;235;p32"/>
          <p:cNvCxnSpPr>
            <a:stCxn id="228" idx="5"/>
            <a:endCxn id="23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7" name="Google Shape;237;p32"/>
          <p:cNvCxnSpPr>
            <a:stCxn id="236" idx="2"/>
            <a:endCxn id="23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3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9" name="Google Shape;239;p32"/>
          <p:cNvCxnSpPr>
            <a:stCxn id="238" idx="2"/>
            <a:endCxn id="23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1" name="Google Shape;241;p32"/>
          <p:cNvCxnSpPr>
            <a:stCxn id="240" idx="0"/>
            <a:endCxn id="23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32"/>
          <p:cNvCxnSpPr>
            <a:stCxn id="230" idx="4"/>
            <a:endCxn id="23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2"/>
          <p:cNvSpPr txBox="1"/>
          <p:nvPr/>
        </p:nvSpPr>
        <p:spPr>
          <a:xfrm>
            <a:off x="5244275" y="4233700"/>
            <a:ext cx="13677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Isolate vertex</a:t>
            </a:r>
            <a:endParaRPr sz="800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44" name="Google Shape;244;p32"/>
          <p:cNvCxnSpPr>
            <a:stCxn id="243" idx="3"/>
            <a:endCxn id="231" idx="2"/>
          </p:cNvCxnSpPr>
          <p:nvPr/>
        </p:nvCxnSpPr>
        <p:spPr>
          <a:xfrm flipH="1" rot="10800000">
            <a:off x="6611975" y="3946600"/>
            <a:ext cx="801600" cy="473700"/>
          </a:xfrm>
          <a:prstGeom prst="straightConnector1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50" name="Google Shape;250;p3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edge is </a:t>
            </a:r>
            <a:r>
              <a:rPr b="1" lang="en">
                <a:solidFill>
                  <a:srgbClr val="FF0000"/>
                </a:solidFill>
              </a:rPr>
              <a:t>incident</a:t>
            </a:r>
            <a:r>
              <a:rPr lang="en"/>
              <a:t> on a node when it touches it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2" name="Google Shape;252;p33"/>
          <p:cNvCxnSpPr>
            <a:stCxn id="251" idx="6"/>
            <a:endCxn id="25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4" name="Google Shape;254;p3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6" name="Google Shape;256;p33"/>
          <p:cNvCxnSpPr>
            <a:stCxn id="255" idx="4"/>
            <a:endCxn id="25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8" name="Google Shape;258;p33"/>
          <p:cNvCxnSpPr>
            <a:stCxn id="251" idx="5"/>
            <a:endCxn id="25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0" name="Google Shape;260;p33"/>
          <p:cNvCxnSpPr>
            <a:stCxn id="259" idx="2"/>
            <a:endCxn id="25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3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2" name="Google Shape;262;p33"/>
          <p:cNvCxnSpPr>
            <a:stCxn id="261" idx="2"/>
            <a:endCxn id="25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4" name="Google Shape;264;p33"/>
          <p:cNvCxnSpPr>
            <a:stCxn id="263" idx="0"/>
            <a:endCxn id="26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3"/>
          <p:cNvCxnSpPr>
            <a:stCxn id="253" idx="4"/>
            <a:endCxn id="25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33"/>
          <p:cNvSpPr txBox="1"/>
          <p:nvPr/>
        </p:nvSpPr>
        <p:spPr>
          <a:xfrm>
            <a:off x="7413625" y="1184000"/>
            <a:ext cx="149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edge is incident on nodes V</a:t>
            </a:r>
            <a:r>
              <a:rPr b="1" baseline="-25000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and V</a:t>
            </a:r>
            <a:r>
              <a:rPr b="1" baseline="-25000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baseline="-25000" sz="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7" name="Google Shape;267;p33"/>
          <p:cNvCxnSpPr>
            <a:stCxn id="266" idx="2"/>
          </p:cNvCxnSpPr>
          <p:nvPr/>
        </p:nvCxnSpPr>
        <p:spPr>
          <a:xfrm flipH="1">
            <a:off x="7639075" y="2015300"/>
            <a:ext cx="521700" cy="68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33"/>
          <p:cNvCxnSpPr>
            <a:stCxn id="266" idx="2"/>
          </p:cNvCxnSpPr>
          <p:nvPr/>
        </p:nvCxnSpPr>
        <p:spPr>
          <a:xfrm>
            <a:off x="8160775" y="2015300"/>
            <a:ext cx="607200" cy="68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Adjacency Relations</a:t>
            </a:r>
            <a:endParaRPr/>
          </a:p>
        </p:txBody>
      </p:sp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1"/>
                </a:solidFill>
              </a:rPr>
              <a:t>adjacent</a:t>
            </a:r>
            <a:r>
              <a:rPr b="1" lang="en"/>
              <a:t> </a:t>
            </a:r>
            <a:r>
              <a:rPr lang="en"/>
              <a:t>if there is a link joining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of vertices are </a:t>
            </a:r>
            <a:r>
              <a:rPr b="1" lang="en">
                <a:solidFill>
                  <a:schemeClr val="accent5"/>
                </a:solidFill>
              </a:rPr>
              <a:t>nonadjacent</a:t>
            </a:r>
            <a:r>
              <a:rPr b="1" lang="en"/>
              <a:t> </a:t>
            </a:r>
            <a:r>
              <a:rPr lang="en"/>
              <a:t>if there is no link joining them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3C78D8"/>
                </a:solidFill>
              </a:rPr>
              <a:t>Isolates</a:t>
            </a:r>
            <a:r>
              <a:rPr lang="en"/>
              <a:t> are vertices with no incoming or outgoing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edge is </a:t>
            </a:r>
            <a:r>
              <a:rPr b="1" lang="en">
                <a:solidFill>
                  <a:srgbClr val="FF0000"/>
                </a:solidFill>
              </a:rPr>
              <a:t>incident</a:t>
            </a:r>
            <a:r>
              <a:rPr lang="en"/>
              <a:t> on a node when it touches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edge has two </a:t>
            </a:r>
            <a:r>
              <a:rPr b="1" lang="en">
                <a:solidFill>
                  <a:srgbClr val="351C75"/>
                </a:solidFill>
              </a:rPr>
              <a:t>end vertices</a:t>
            </a:r>
            <a:endParaRPr b="1">
              <a:solidFill>
                <a:srgbClr val="351C75"/>
              </a:solidFill>
            </a:endParaRPr>
          </a:p>
        </p:txBody>
      </p:sp>
      <p:sp>
        <p:nvSpPr>
          <p:cNvPr id="275" name="Google Shape;275;p3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6" name="Google Shape;276;p34"/>
          <p:cNvCxnSpPr>
            <a:stCxn id="275" idx="6"/>
            <a:endCxn id="27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0" name="Google Shape;280;p34"/>
          <p:cNvCxnSpPr>
            <a:stCxn id="279" idx="4"/>
            <a:endCxn id="27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2" name="Google Shape;282;p34"/>
          <p:cNvCxnSpPr>
            <a:stCxn id="275" idx="5"/>
            <a:endCxn id="28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8E7CC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4" name="Google Shape;284;p34"/>
          <p:cNvCxnSpPr>
            <a:stCxn id="283" idx="2"/>
            <a:endCxn id="27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8E7CC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6" name="Google Shape;286;p34"/>
          <p:cNvCxnSpPr>
            <a:stCxn id="285" idx="2"/>
            <a:endCxn id="28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3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8" name="Google Shape;288;p34"/>
          <p:cNvCxnSpPr>
            <a:stCxn id="287" idx="0"/>
            <a:endCxn id="28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>
            <a:stCxn id="277" idx="4"/>
            <a:endCxn id="28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4"/>
          <p:cNvSpPr txBox="1"/>
          <p:nvPr/>
        </p:nvSpPr>
        <p:spPr>
          <a:xfrm>
            <a:off x="7413625" y="1045800"/>
            <a:ext cx="1367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Nodes V</a:t>
            </a:r>
            <a:r>
              <a:rPr b="1" baseline="-25000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4 </a:t>
            </a:r>
            <a:r>
              <a:rPr b="1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and V</a:t>
            </a:r>
            <a:r>
              <a:rPr b="1" baseline="-25000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7 </a:t>
            </a:r>
            <a:r>
              <a:rPr b="1" lang="en" sz="1200">
                <a:solidFill>
                  <a:srgbClr val="351C75"/>
                </a:solidFill>
                <a:latin typeface="Open Sans"/>
                <a:ea typeface="Open Sans"/>
                <a:cs typeface="Open Sans"/>
                <a:sym typeface="Open Sans"/>
              </a:rPr>
              <a:t>are the end vertices of this edge</a:t>
            </a:r>
            <a:endParaRPr sz="800">
              <a:solidFill>
                <a:srgbClr val="351C7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91" name="Google Shape;291;p34"/>
          <p:cNvCxnSpPr>
            <a:stCxn id="290" idx="2"/>
          </p:cNvCxnSpPr>
          <p:nvPr/>
        </p:nvCxnSpPr>
        <p:spPr>
          <a:xfrm flipH="1">
            <a:off x="7575775" y="2015400"/>
            <a:ext cx="521700" cy="6843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34"/>
          <p:cNvCxnSpPr>
            <a:stCxn id="290" idx="2"/>
          </p:cNvCxnSpPr>
          <p:nvPr/>
        </p:nvCxnSpPr>
        <p:spPr>
          <a:xfrm>
            <a:off x="8097475" y="2015400"/>
            <a:ext cx="607200" cy="6843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98" name="Google Shape;298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Graph </a:t>
            </a:r>
            <a:r>
              <a:rPr lang="en"/>
              <a:t>is a set of nodes and set of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</a:t>
            </a:r>
            <a:r>
              <a:rPr lang="en"/>
              <a:t>relations between nodes in graph encode the social ties or social connections in the network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Adjacency </a:t>
            </a:r>
            <a:r>
              <a:rPr lang="en"/>
              <a:t>is a pairwise relation (involves two nodes at time)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Nonadjacent </a:t>
            </a:r>
            <a:r>
              <a:rPr lang="en"/>
              <a:t>nodes are not directly connected (although they may be indirectly connected)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Incidence</a:t>
            </a:r>
            <a:r>
              <a:rPr lang="en"/>
              <a:t> relations between nodes and edges in graph encode the connection between people and the social ties they have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Isolate </a:t>
            </a:r>
            <a:r>
              <a:rPr lang="en"/>
              <a:t>nodes are disconnected from the rest of the network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10" name="Google Shape;310;p3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1" name="Google Shape;311;p37"/>
          <p:cNvCxnSpPr>
            <a:stCxn id="310" idx="6"/>
            <a:endCxn id="31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" name="Google Shape;313;p3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4" name="Google Shape;314;p3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5" name="Google Shape;315;p37"/>
          <p:cNvCxnSpPr>
            <a:stCxn id="314" idx="4"/>
            <a:endCxn id="31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3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7" name="Google Shape;317;p37"/>
          <p:cNvCxnSpPr>
            <a:stCxn id="310" idx="5"/>
            <a:endCxn id="31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3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9" name="Google Shape;319;p37"/>
          <p:cNvCxnSpPr>
            <a:stCxn id="318" idx="2"/>
            <a:endCxn id="31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3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1" name="Google Shape;321;p37"/>
          <p:cNvCxnSpPr>
            <a:stCxn id="320" idx="2"/>
            <a:endCxn id="31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3" name="Google Shape;323;p37"/>
          <p:cNvCxnSpPr>
            <a:stCxn id="322" idx="0"/>
            <a:endCxn id="32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7"/>
          <p:cNvCxnSpPr>
            <a:stCxn id="312" idx="4"/>
            <a:endCxn id="31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30" name="Google Shape;330;p3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31" name="Google Shape;331;p3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2" name="Google Shape;332;p38"/>
          <p:cNvCxnSpPr>
            <a:stCxn id="331" idx="6"/>
            <a:endCxn id="33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6" name="Google Shape;336;p38"/>
          <p:cNvCxnSpPr>
            <a:stCxn id="335" idx="4"/>
            <a:endCxn id="33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3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8" name="Google Shape;338;p38"/>
          <p:cNvCxnSpPr>
            <a:stCxn id="331" idx="5"/>
            <a:endCxn id="33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3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0" name="Google Shape;340;p38"/>
          <p:cNvCxnSpPr>
            <a:stCxn id="339" idx="2"/>
            <a:endCxn id="33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2" name="Google Shape;342;p38"/>
          <p:cNvCxnSpPr>
            <a:stCxn id="341" idx="2"/>
            <a:endCxn id="33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3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4" name="Google Shape;344;p38"/>
          <p:cNvCxnSpPr>
            <a:stCxn id="343" idx="0"/>
            <a:endCxn id="34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8"/>
          <p:cNvCxnSpPr>
            <a:stCxn id="333" idx="4"/>
            <a:endCxn id="33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51" name="Google Shape;351;p3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2" name="Google Shape;352;p3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3" name="Google Shape;353;p39"/>
          <p:cNvCxnSpPr>
            <a:stCxn id="352" idx="6"/>
            <a:endCxn id="35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5" name="Google Shape;355;p3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6" name="Google Shape;356;p3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7" name="Google Shape;357;p39"/>
          <p:cNvCxnSpPr>
            <a:stCxn id="356" idx="4"/>
            <a:endCxn id="35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3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9" name="Google Shape;359;p39"/>
          <p:cNvCxnSpPr>
            <a:stCxn id="352" idx="5"/>
            <a:endCxn id="35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3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1" name="Google Shape;361;p39"/>
          <p:cNvCxnSpPr>
            <a:stCxn id="360" idx="2"/>
            <a:endCxn id="35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3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3" name="Google Shape;363;p39"/>
          <p:cNvCxnSpPr>
            <a:stCxn id="362" idx="2"/>
            <a:endCxn id="36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3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5" name="Google Shape;365;p39"/>
          <p:cNvCxnSpPr>
            <a:stCxn id="364" idx="0"/>
            <a:endCxn id="36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9"/>
          <p:cNvCxnSpPr>
            <a:stCxn id="354" idx="4"/>
            <a:endCxn id="35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72" name="Google Shape;372;p4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Voilà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73" name="Google Shape;373;p4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4" name="Google Shape;374;p4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6" name="Google Shape;376;p40"/>
          <p:cNvCxnSpPr>
            <a:stCxn id="375" idx="4"/>
            <a:endCxn id="37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4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84" name="Google Shape;384;p4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5" name="Google Shape;385;p41"/>
          <p:cNvCxnSpPr>
            <a:stCxn id="384" idx="6"/>
            <a:endCxn id="38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4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7" name="Google Shape;387;p4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8" name="Google Shape;388;p4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9" name="Google Shape;389;p41"/>
          <p:cNvCxnSpPr>
            <a:stCxn id="388" idx="4"/>
            <a:endCxn id="38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4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1" name="Google Shape;391;p41"/>
          <p:cNvCxnSpPr>
            <a:stCxn id="384" idx="5"/>
            <a:endCxn id="39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4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3" name="Google Shape;393;p41"/>
          <p:cNvCxnSpPr>
            <a:stCxn id="392" idx="2"/>
            <a:endCxn id="38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4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5" name="Google Shape;395;p41"/>
          <p:cNvCxnSpPr>
            <a:stCxn id="394" idx="2"/>
            <a:endCxn id="39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4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7" name="Google Shape;397;p41"/>
          <p:cNvCxnSpPr>
            <a:stCxn id="396" idx="0"/>
            <a:endCxn id="39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1"/>
          <p:cNvCxnSpPr>
            <a:stCxn id="386" idx="4"/>
            <a:endCxn id="39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04" name="Google Shape;404;p4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another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05" name="Google Shape;405;p4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6" name="Google Shape;406;p42"/>
          <p:cNvCxnSpPr>
            <a:stCxn id="405" idx="6"/>
            <a:endCxn id="40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4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8" name="Google Shape;408;p4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9" name="Google Shape;409;p4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0" name="Google Shape;410;p42"/>
          <p:cNvCxnSpPr>
            <a:stCxn id="409" idx="4"/>
            <a:endCxn id="40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4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2" name="Google Shape;412;p42"/>
          <p:cNvCxnSpPr>
            <a:stCxn id="405" idx="5"/>
            <a:endCxn id="41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4" name="Google Shape;414;p42"/>
          <p:cNvCxnSpPr>
            <a:stCxn id="413" idx="2"/>
            <a:endCxn id="40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4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6" name="Google Shape;416;p42"/>
          <p:cNvCxnSpPr>
            <a:stCxn id="415" idx="2"/>
            <a:endCxn id="41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4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8" name="Google Shape;418;p42"/>
          <p:cNvCxnSpPr>
            <a:stCxn id="417" idx="0"/>
            <a:endCxn id="41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2"/>
          <p:cNvCxnSpPr>
            <a:stCxn id="407" idx="4"/>
            <a:endCxn id="41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25" name="Google Shape;425;p4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another subgraph by picking the following subset of </a:t>
            </a:r>
            <a:r>
              <a:rPr i="1" lang="en"/>
              <a:t>vertices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Neat!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26" name="Google Shape;426;p4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7" name="Google Shape;427;p4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8" name="Google Shape;428;p4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9" name="Google Shape;429;p43"/>
          <p:cNvCxnSpPr>
            <a:stCxn id="428" idx="2"/>
            <a:endCxn id="42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" name="Google Shape;430;p4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1" name="Google Shape;431;p43"/>
          <p:cNvCxnSpPr>
            <a:stCxn id="430" idx="2"/>
            <a:endCxn id="42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43"/>
          <p:cNvCxnSpPr>
            <a:stCxn id="426" idx="4"/>
            <a:endCxn id="42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38" name="Google Shape;438;p4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39" name="Google Shape;439;p4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0" name="Google Shape;440;p44"/>
          <p:cNvCxnSpPr>
            <a:stCxn id="439" idx="6"/>
            <a:endCxn id="44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4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2" name="Google Shape;442;p4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3" name="Google Shape;443;p4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4" name="Google Shape;444;p44"/>
          <p:cNvCxnSpPr>
            <a:stCxn id="443" idx="4"/>
            <a:endCxn id="44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4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6" name="Google Shape;446;p44"/>
          <p:cNvCxnSpPr>
            <a:stCxn id="439" idx="5"/>
            <a:endCxn id="44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4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8" name="Google Shape;448;p44"/>
          <p:cNvCxnSpPr>
            <a:stCxn id="447" idx="2"/>
            <a:endCxn id="44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0" name="Google Shape;450;p44"/>
          <p:cNvCxnSpPr>
            <a:stCxn id="449" idx="2"/>
            <a:endCxn id="44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" name="Google Shape;451;p4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52" name="Google Shape;452;p44"/>
          <p:cNvCxnSpPr>
            <a:stCxn id="451" idx="0"/>
            <a:endCxn id="44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44"/>
          <p:cNvCxnSpPr>
            <a:stCxn id="441" idx="4"/>
            <a:endCxn id="44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59" name="Google Shape;459;p4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edges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</a:t>
            </a:r>
            <a:r>
              <a:rPr baseline="-25000" lang="en"/>
              <a:t> 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60" name="Google Shape;460;p4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1" name="Google Shape;461;p45"/>
          <p:cNvCxnSpPr>
            <a:stCxn id="460" idx="6"/>
            <a:endCxn id="46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4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3" name="Google Shape;463;p4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64" name="Google Shape;464;p4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5" name="Google Shape;465;p45"/>
          <p:cNvCxnSpPr>
            <a:stCxn id="464" idx="4"/>
            <a:endCxn id="46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4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7" name="Google Shape;467;p45"/>
          <p:cNvCxnSpPr>
            <a:stCxn id="460" idx="5"/>
            <a:endCxn id="46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69" name="Google Shape;469;p45"/>
          <p:cNvCxnSpPr>
            <a:stCxn id="468" idx="2"/>
            <a:endCxn id="46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4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1" name="Google Shape;471;p45"/>
          <p:cNvCxnSpPr>
            <a:stCxn id="470" idx="2"/>
            <a:endCxn id="46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4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73" name="Google Shape;473;p45"/>
          <p:cNvCxnSpPr>
            <a:stCxn id="472" idx="0"/>
            <a:endCxn id="47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5"/>
          <p:cNvCxnSpPr>
            <a:stCxn id="462" idx="4"/>
            <a:endCxn id="46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80" name="Google Shape;480;p4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a </a:t>
            </a:r>
            <a:r>
              <a:rPr b="1" lang="en"/>
              <a:t>subgraph</a:t>
            </a:r>
            <a:r>
              <a:rPr lang="en"/>
              <a:t> is any vertex </a:t>
            </a:r>
            <a:r>
              <a:rPr i="1" lang="en"/>
              <a:t>or</a:t>
            </a:r>
            <a:r>
              <a:rPr lang="en"/>
              <a:t> edge </a:t>
            </a:r>
            <a:r>
              <a:rPr b="1" lang="en"/>
              <a:t>subset</a:t>
            </a:r>
            <a:r>
              <a:rPr lang="en"/>
              <a:t> of the original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set, a </a:t>
            </a:r>
            <a:r>
              <a:rPr b="1" lang="en"/>
              <a:t>subset</a:t>
            </a:r>
            <a:r>
              <a:rPr lang="en"/>
              <a:t> is just a portion of the larger set of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“induce” (create) subgraphs by picking </a:t>
            </a:r>
            <a:r>
              <a:rPr i="1" lang="en"/>
              <a:t>either</a:t>
            </a:r>
            <a:r>
              <a:rPr lang="en"/>
              <a:t> </a:t>
            </a:r>
            <a:r>
              <a:rPr b="1" lang="en"/>
              <a:t>subsets of vertices</a:t>
            </a:r>
            <a:r>
              <a:rPr lang="en"/>
              <a:t> or </a:t>
            </a:r>
            <a:r>
              <a:rPr b="1" lang="en"/>
              <a:t>subsets of edges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us make a subgraph by picking the following subset of </a:t>
            </a:r>
            <a:r>
              <a:rPr i="1" lang="en"/>
              <a:t>edges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</a:t>
            </a:r>
            <a:r>
              <a:rPr baseline="-25000" lang="en"/>
              <a:t> 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Awesome!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81" name="Google Shape;481;p4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2" name="Google Shape;482;p46"/>
          <p:cNvCxnSpPr>
            <a:stCxn id="481" idx="6"/>
            <a:endCxn id="48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4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4" name="Google Shape;484;p4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5" name="Google Shape;485;p46"/>
          <p:cNvCxnSpPr>
            <a:stCxn id="484" idx="4"/>
            <a:endCxn id="48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87" name="Google Shape;487;p4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88" name="Google Shape;488;p46"/>
          <p:cNvCxnSpPr>
            <a:stCxn id="487" idx="2"/>
            <a:endCxn id="48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4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0" name="Google Shape;490;p46"/>
          <p:cNvCxnSpPr>
            <a:stCxn id="489" idx="0"/>
            <a:endCxn id="48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96" name="Google Shape;496;p4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97" name="Google Shape;497;p4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98" name="Google Shape;498;p47"/>
          <p:cNvCxnSpPr>
            <a:stCxn id="497" idx="6"/>
            <a:endCxn id="49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4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0" name="Google Shape;500;p4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01" name="Google Shape;501;p4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2" name="Google Shape;502;p47"/>
          <p:cNvCxnSpPr>
            <a:stCxn id="501" idx="4"/>
            <a:endCxn id="49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4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4" name="Google Shape;504;p47"/>
          <p:cNvCxnSpPr>
            <a:stCxn id="497" idx="5"/>
            <a:endCxn id="50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4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6" name="Google Shape;506;p47"/>
          <p:cNvCxnSpPr>
            <a:stCxn id="505" idx="2"/>
            <a:endCxn id="49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08" name="Google Shape;508;p47"/>
          <p:cNvCxnSpPr>
            <a:stCxn id="507" idx="2"/>
            <a:endCxn id="50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4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0" name="Google Shape;510;p47"/>
          <p:cNvCxnSpPr>
            <a:stCxn id="509" idx="0"/>
            <a:endCxn id="50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47"/>
          <p:cNvCxnSpPr>
            <a:stCxn id="499" idx="4"/>
            <a:endCxn id="50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17" name="Google Shape;517;p4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18" name="Google Shape;518;p4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9" name="Google Shape;519;p48"/>
          <p:cNvCxnSpPr>
            <a:stCxn id="518" idx="6"/>
            <a:endCxn id="52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1" name="Google Shape;521;p4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2" name="Google Shape;522;p4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3" name="Google Shape;523;p48"/>
          <p:cNvCxnSpPr>
            <a:stCxn id="522" idx="4"/>
            <a:endCxn id="52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4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5" name="Google Shape;525;p48"/>
          <p:cNvCxnSpPr>
            <a:stCxn id="518" idx="5"/>
            <a:endCxn id="52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4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7" name="Google Shape;527;p48"/>
          <p:cNvCxnSpPr>
            <a:stCxn id="526" idx="2"/>
            <a:endCxn id="52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4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9" name="Google Shape;529;p48"/>
          <p:cNvCxnSpPr>
            <a:stCxn id="528" idx="2"/>
            <a:endCxn id="52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1" name="Google Shape;531;p48"/>
          <p:cNvCxnSpPr>
            <a:stCxn id="530" idx="0"/>
            <a:endCxn id="52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48"/>
          <p:cNvCxnSpPr>
            <a:stCxn id="520" idx="4"/>
            <a:endCxn id="52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38" name="Google Shape;538;p4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G’ = G -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a </a:t>
            </a:r>
            <a:r>
              <a:rPr b="1" lang="en"/>
              <a:t>node-deleted subgraph</a:t>
            </a:r>
            <a:r>
              <a:rPr lang="en"/>
              <a:t> of the original graph 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we delete nodes the edges the nodes are </a:t>
            </a:r>
            <a:r>
              <a:rPr b="1" lang="en"/>
              <a:t>incident </a:t>
            </a:r>
            <a:r>
              <a:rPr lang="en"/>
              <a:t> to also disappear!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 v</a:t>
            </a:r>
            <a:r>
              <a:rPr baseline="-25000" lang="en"/>
              <a:t>1</a:t>
            </a:r>
            <a:r>
              <a:rPr lang="en"/>
              <a:t> is now another </a:t>
            </a:r>
            <a:r>
              <a:rPr b="1" lang="en"/>
              <a:t>isolate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39" name="Google Shape;539;p4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0" name="Google Shape;540;p4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1" name="Google Shape;541;p4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2" name="Google Shape;542;p4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3" name="Google Shape;543;p49"/>
          <p:cNvCxnSpPr>
            <a:stCxn id="539" idx="5"/>
            <a:endCxn id="54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" name="Google Shape;544;p4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5" name="Google Shape;545;p4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6" name="Google Shape;546;p49"/>
          <p:cNvCxnSpPr>
            <a:stCxn id="545" idx="0"/>
            <a:endCxn id="54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49"/>
          <p:cNvSpPr/>
          <p:nvPr/>
        </p:nvSpPr>
        <p:spPr>
          <a:xfrm>
            <a:off x="806700" y="1909850"/>
            <a:ext cx="2323500" cy="27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53" name="Google Shape;553;p5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54" name="Google Shape;554;p5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5" name="Google Shape;555;p50"/>
          <p:cNvCxnSpPr>
            <a:stCxn id="554" idx="6"/>
            <a:endCxn id="55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5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7" name="Google Shape;557;p5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8" name="Google Shape;558;p5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9" name="Google Shape;559;p50"/>
          <p:cNvCxnSpPr>
            <a:stCxn id="558" idx="4"/>
            <a:endCxn id="55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" name="Google Shape;560;p5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1" name="Google Shape;561;p50"/>
          <p:cNvCxnSpPr>
            <a:stCxn id="554" idx="5"/>
            <a:endCxn id="56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5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3" name="Google Shape;563;p50"/>
          <p:cNvCxnSpPr>
            <a:stCxn id="562" idx="2"/>
            <a:endCxn id="55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5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5" name="Google Shape;565;p50"/>
          <p:cNvCxnSpPr>
            <a:stCxn id="564" idx="2"/>
            <a:endCxn id="56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" name="Google Shape;566;p5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7" name="Google Shape;567;p50"/>
          <p:cNvCxnSpPr>
            <a:stCxn id="566" idx="0"/>
            <a:endCxn id="56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50"/>
          <p:cNvCxnSpPr>
            <a:stCxn id="556" idx="4"/>
            <a:endCxn id="56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74" name="Google Shape;574;p5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75" name="Google Shape;575;p5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6" name="Google Shape;576;p51"/>
          <p:cNvCxnSpPr>
            <a:stCxn id="575" idx="6"/>
            <a:endCxn id="57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5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78" name="Google Shape;578;p5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79" name="Google Shape;579;p5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0" name="Google Shape;580;p51"/>
          <p:cNvCxnSpPr>
            <a:stCxn id="579" idx="4"/>
            <a:endCxn id="57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5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2" name="Google Shape;582;p51"/>
          <p:cNvCxnSpPr>
            <a:stCxn id="575" idx="5"/>
            <a:endCxn id="58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5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4" name="Google Shape;584;p51"/>
          <p:cNvCxnSpPr>
            <a:stCxn id="583" idx="2"/>
            <a:endCxn id="57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5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6" name="Google Shape;586;p51"/>
          <p:cNvCxnSpPr>
            <a:stCxn id="585" idx="2"/>
            <a:endCxn id="58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5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88" name="Google Shape;588;p51"/>
          <p:cNvCxnSpPr>
            <a:stCxn id="587" idx="0"/>
            <a:endCxn id="58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51"/>
          <p:cNvCxnSpPr>
            <a:stCxn id="577" idx="4"/>
            <a:endCxn id="58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595" name="Google Shape;595;p5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G” = G - 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an </a:t>
            </a:r>
            <a:r>
              <a:rPr b="1" lang="en"/>
              <a:t>edge-deleted subgraph </a:t>
            </a:r>
            <a:r>
              <a:rPr lang="en"/>
              <a:t>of the original graph 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deleting edges the nodes that were </a:t>
            </a:r>
            <a:r>
              <a:rPr b="1" lang="en"/>
              <a:t>incident </a:t>
            </a:r>
            <a:r>
              <a:rPr lang="en"/>
              <a:t>to them remain!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 v</a:t>
            </a:r>
            <a:r>
              <a:rPr baseline="-25000" lang="en"/>
              <a:t>8</a:t>
            </a:r>
            <a:r>
              <a:rPr lang="en"/>
              <a:t> is now an isolate along with v</a:t>
            </a:r>
            <a:r>
              <a:rPr baseline="-25000" lang="en"/>
              <a:t>1</a:t>
            </a:r>
            <a:r>
              <a:rPr lang="en"/>
              <a:t> and v</a:t>
            </a:r>
            <a:r>
              <a:rPr baseline="-25000" lang="en"/>
              <a:t>6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96" name="Google Shape;596;p5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97" name="Google Shape;597;p52"/>
          <p:cNvCxnSpPr>
            <a:stCxn id="596" idx="6"/>
            <a:endCxn id="59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5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99" name="Google Shape;599;p5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0" name="Google Shape;600;p5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1" name="Google Shape;601;p5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02" name="Google Shape;602;p5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3" name="Google Shape;603;p52"/>
          <p:cNvCxnSpPr>
            <a:stCxn id="602" idx="2"/>
            <a:endCxn id="59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5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5" name="Google Shape;605;p52"/>
          <p:cNvCxnSpPr>
            <a:stCxn id="604" idx="2"/>
            <a:endCxn id="60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5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07" name="Google Shape;607;p52"/>
          <p:cNvCxnSpPr>
            <a:stCxn id="598" idx="4"/>
            <a:endCxn id="60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52"/>
          <p:cNvSpPr/>
          <p:nvPr/>
        </p:nvSpPr>
        <p:spPr>
          <a:xfrm>
            <a:off x="820500" y="2164975"/>
            <a:ext cx="2323500" cy="275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14" name="Google Shape;614;p53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delete </a:t>
            </a:r>
            <a:r>
              <a:rPr i="1" lang="en"/>
              <a:t>all</a:t>
            </a:r>
            <a:r>
              <a:rPr lang="en"/>
              <a:t> the edges in a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G’ = G - 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15" name="Google Shape;615;p5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6" name="Google Shape;616;p53"/>
          <p:cNvCxnSpPr>
            <a:stCxn id="615" idx="6"/>
            <a:endCxn id="61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5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8" name="Google Shape;618;p5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9" name="Google Shape;619;p5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0" name="Google Shape;620;p53"/>
          <p:cNvCxnSpPr>
            <a:stCxn id="619" idx="4"/>
            <a:endCxn id="61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5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2" name="Google Shape;622;p53"/>
          <p:cNvCxnSpPr>
            <a:stCxn id="615" idx="5"/>
            <a:endCxn id="62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5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4" name="Google Shape;624;p53"/>
          <p:cNvCxnSpPr>
            <a:stCxn id="623" idx="2"/>
            <a:endCxn id="61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" name="Google Shape;625;p5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6" name="Google Shape;626;p53"/>
          <p:cNvCxnSpPr>
            <a:stCxn id="625" idx="2"/>
            <a:endCxn id="62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5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8" name="Google Shape;628;p53"/>
          <p:cNvCxnSpPr>
            <a:stCxn id="627" idx="0"/>
            <a:endCxn id="62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53"/>
          <p:cNvCxnSpPr>
            <a:stCxn id="617" idx="4"/>
            <a:endCxn id="62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35" name="Google Shape;635;p54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delete </a:t>
            </a:r>
            <a:r>
              <a:rPr i="1" lang="en"/>
              <a:t>all</a:t>
            </a:r>
            <a:r>
              <a:rPr lang="en"/>
              <a:t> the edges in a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G’ = G -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graph is called the </a:t>
            </a:r>
            <a:r>
              <a:rPr b="1" lang="en"/>
              <a:t>empty graph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36" name="Google Shape;636;p5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7" name="Google Shape;637;p5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8" name="Google Shape;638;p5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39" name="Google Shape;639;p5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0" name="Google Shape;640;p5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1" name="Google Shape;641;p5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2" name="Google Shape;642;p5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3" name="Google Shape;643;p5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44" name="Google Shape;644;p54"/>
          <p:cNvSpPr/>
          <p:nvPr/>
        </p:nvSpPr>
        <p:spPr>
          <a:xfrm>
            <a:off x="5647375" y="34302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an empty graph!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45" name="Google Shape;645;p54"/>
          <p:cNvCxnSpPr>
            <a:stCxn id="644" idx="4"/>
          </p:cNvCxnSpPr>
          <p:nvPr/>
        </p:nvCxnSpPr>
        <p:spPr>
          <a:xfrm>
            <a:off x="7355425" y="1501025"/>
            <a:ext cx="15000" cy="58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51" name="Google Shape;651;p55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pick </a:t>
            </a:r>
            <a:r>
              <a:rPr i="1" lang="en"/>
              <a:t>one</a:t>
            </a:r>
            <a:r>
              <a:rPr lang="en"/>
              <a:t> node in the graph and delete all the nodes that are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adjacent</a:t>
            </a:r>
            <a:r>
              <a:rPr lang="en"/>
              <a:t> to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we choose you!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52" name="Google Shape;652;p5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3" name="Google Shape;653;p55"/>
          <p:cNvCxnSpPr>
            <a:stCxn id="652" idx="6"/>
            <a:endCxn id="65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5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5" name="Google Shape;655;p5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6" name="Google Shape;656;p5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7" name="Google Shape;657;p55"/>
          <p:cNvCxnSpPr>
            <a:stCxn id="656" idx="4"/>
            <a:endCxn id="65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5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59" name="Google Shape;659;p55"/>
          <p:cNvCxnSpPr>
            <a:stCxn id="652" idx="5"/>
            <a:endCxn id="65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5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1" name="Google Shape;661;p55"/>
          <p:cNvCxnSpPr>
            <a:stCxn id="660" idx="2"/>
            <a:endCxn id="65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2" name="Google Shape;662;p5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3" name="Google Shape;663;p55"/>
          <p:cNvCxnSpPr>
            <a:stCxn id="662" idx="2"/>
            <a:endCxn id="66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5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5" name="Google Shape;665;p55"/>
          <p:cNvCxnSpPr>
            <a:stCxn id="664" idx="0"/>
            <a:endCxn id="66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55"/>
          <p:cNvCxnSpPr>
            <a:stCxn id="654" idx="4"/>
            <a:endCxn id="65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72" name="Google Shape;672;p5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pick </a:t>
            </a:r>
            <a:r>
              <a:rPr i="1" lang="en"/>
              <a:t>one</a:t>
            </a:r>
            <a:r>
              <a:rPr lang="en"/>
              <a:t> node in the graph and delete all the nodes that are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adjacent</a:t>
            </a:r>
            <a:r>
              <a:rPr lang="en"/>
              <a:t> to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we choose you!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and v</a:t>
            </a:r>
            <a:r>
              <a:rPr baseline="-25000" lang="en"/>
              <a:t>8</a:t>
            </a:r>
            <a:r>
              <a:rPr lang="en"/>
              <a:t> are not adjacent to v</a:t>
            </a:r>
            <a:r>
              <a:rPr baseline="-25000" lang="en"/>
              <a:t>3</a:t>
            </a:r>
            <a:endParaRPr baseline="-25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73" name="Google Shape;673;p5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4" name="Google Shape;674;p56"/>
          <p:cNvCxnSpPr>
            <a:stCxn id="673" idx="6"/>
            <a:endCxn id="67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5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6" name="Google Shape;676;p5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7" name="Google Shape;677;p5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8" name="Google Shape;678;p56"/>
          <p:cNvCxnSpPr>
            <a:stCxn id="677" idx="4"/>
            <a:endCxn id="67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9" name="Google Shape;679;p5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0" name="Google Shape;680;p56"/>
          <p:cNvCxnSpPr>
            <a:stCxn id="673" idx="5"/>
            <a:endCxn id="67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5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2" name="Google Shape;682;p56"/>
          <p:cNvCxnSpPr>
            <a:stCxn id="681" idx="2"/>
            <a:endCxn id="67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5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4" name="Google Shape;684;p56"/>
          <p:cNvCxnSpPr>
            <a:stCxn id="683" idx="2"/>
            <a:endCxn id="68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5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6" name="Google Shape;686;p56"/>
          <p:cNvCxnSpPr>
            <a:stCxn id="685" idx="0"/>
            <a:endCxn id="68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56"/>
          <p:cNvCxnSpPr>
            <a:stCxn id="675" idx="4"/>
            <a:endCxn id="67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693" name="Google Shape;693;p5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pick </a:t>
            </a:r>
            <a:r>
              <a:rPr i="1" lang="en"/>
              <a:t>one</a:t>
            </a:r>
            <a:r>
              <a:rPr lang="en"/>
              <a:t> node in the graph and delete all the nodes that are not </a:t>
            </a:r>
            <a:r>
              <a:rPr b="1" lang="en"/>
              <a:t>adjacent</a:t>
            </a:r>
            <a:r>
              <a:rPr lang="en"/>
              <a:t> to it?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graph is called the </a:t>
            </a:r>
            <a:r>
              <a:rPr b="1" lang="en"/>
              <a:t>ego graph</a:t>
            </a:r>
            <a:r>
              <a:rPr lang="en"/>
              <a:t> corresponding  to node v</a:t>
            </a:r>
            <a:r>
              <a:rPr baseline="-25000" lang="en"/>
              <a:t>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 are called v</a:t>
            </a:r>
            <a:r>
              <a:rPr baseline="-25000" lang="en"/>
              <a:t>3</a:t>
            </a:r>
            <a:r>
              <a:rPr lang="en"/>
              <a:t>’s </a:t>
            </a:r>
            <a:r>
              <a:rPr b="1" lang="en"/>
              <a:t>alters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94" name="Google Shape;694;p5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5" name="Google Shape;695;p57"/>
          <p:cNvCxnSpPr>
            <a:stCxn id="694" idx="6"/>
            <a:endCxn id="69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6" name="Google Shape;696;p5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97" name="Google Shape;697;p5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98" name="Google Shape;698;p57"/>
          <p:cNvCxnSpPr>
            <a:stCxn id="697" idx="4"/>
            <a:endCxn id="69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5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0" name="Google Shape;700;p57"/>
          <p:cNvCxnSpPr>
            <a:stCxn id="694" idx="5"/>
            <a:endCxn id="69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1" name="Google Shape;701;p5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02" name="Google Shape;702;p57"/>
          <p:cNvCxnSpPr>
            <a:stCxn id="701" idx="2"/>
            <a:endCxn id="69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57"/>
          <p:cNvCxnSpPr>
            <a:stCxn id="696" idx="4"/>
            <a:endCxn id="69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09" name="Google Shape;709;p5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delete all the nodes in the graph?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10" name="Google Shape;710;p5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1" name="Google Shape;711;p58"/>
          <p:cNvCxnSpPr>
            <a:stCxn id="710" idx="6"/>
            <a:endCxn id="71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5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3" name="Google Shape;713;p5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14" name="Google Shape;714;p5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5" name="Google Shape;715;p58"/>
          <p:cNvCxnSpPr>
            <a:stCxn id="714" idx="4"/>
            <a:endCxn id="71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5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7" name="Google Shape;717;p58"/>
          <p:cNvCxnSpPr>
            <a:stCxn id="710" idx="5"/>
            <a:endCxn id="71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5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19" name="Google Shape;719;p58"/>
          <p:cNvCxnSpPr>
            <a:stCxn id="718" idx="2"/>
            <a:endCxn id="71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5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21" name="Google Shape;721;p58"/>
          <p:cNvCxnSpPr>
            <a:stCxn id="720" idx="2"/>
            <a:endCxn id="71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5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23" name="Google Shape;723;p58"/>
          <p:cNvCxnSpPr>
            <a:stCxn id="722" idx="0"/>
            <a:endCxn id="72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58"/>
          <p:cNvCxnSpPr>
            <a:stCxn id="712" idx="4"/>
            <a:endCxn id="71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730" name="Google Shape;730;p5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create subgraphs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deleting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if we delete all the nodes in the graph?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graph is (sometimes) called the </a:t>
            </a:r>
            <a:r>
              <a:rPr b="1" lang="en"/>
              <a:t>null graph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can’t see it but it still there!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New Graph via Vertex Fusion</a:t>
            </a:r>
            <a:endParaRPr/>
          </a:p>
        </p:txBody>
      </p:sp>
      <p:sp>
        <p:nvSpPr>
          <p:cNvPr id="736" name="Google Shape;736;p6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create a </a:t>
            </a:r>
            <a:r>
              <a:rPr b="1" lang="en"/>
              <a:t>new</a:t>
            </a:r>
            <a:r>
              <a:rPr lang="en"/>
              <a:t> graph from a graph by </a:t>
            </a:r>
            <a:r>
              <a:rPr b="1" lang="en"/>
              <a:t>fusing</a:t>
            </a:r>
            <a:r>
              <a:rPr lang="en"/>
              <a:t> two vertices: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we fuse two </a:t>
            </a:r>
            <a:r>
              <a:rPr lang="en"/>
              <a:t>vertices we replace the original two by a single 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we keep the adjacency relations of the originals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would happen if we fuse V</a:t>
            </a:r>
            <a:r>
              <a:rPr baseline="-25000" lang="en"/>
              <a:t>3</a:t>
            </a:r>
            <a:r>
              <a:rPr lang="en"/>
              <a:t> and V</a:t>
            </a:r>
            <a:r>
              <a:rPr baseline="-25000" lang="en"/>
              <a:t>7</a:t>
            </a:r>
            <a:r>
              <a:rPr lang="en"/>
              <a:t>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37" name="Google Shape;737;p6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8" name="Google Shape;738;p60"/>
          <p:cNvCxnSpPr>
            <a:stCxn id="737" idx="6"/>
            <a:endCxn id="73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" name="Google Shape;739;p6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0" name="Google Shape;740;p6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1" name="Google Shape;741;p6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2" name="Google Shape;742;p60"/>
          <p:cNvCxnSpPr>
            <a:stCxn id="741" idx="4"/>
            <a:endCxn id="73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3" name="Google Shape;743;p6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4" name="Google Shape;744;p60"/>
          <p:cNvCxnSpPr>
            <a:stCxn id="737" idx="5"/>
            <a:endCxn id="74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6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6" name="Google Shape;746;p60"/>
          <p:cNvCxnSpPr>
            <a:stCxn id="745" idx="2"/>
            <a:endCxn id="73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6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8" name="Google Shape;748;p60"/>
          <p:cNvCxnSpPr>
            <a:stCxn id="747" idx="2"/>
            <a:endCxn id="74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6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50" name="Google Shape;750;p60"/>
          <p:cNvCxnSpPr>
            <a:stCxn id="749" idx="0"/>
            <a:endCxn id="74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60"/>
          <p:cNvCxnSpPr>
            <a:stCxn id="739" idx="4"/>
            <a:endCxn id="74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New Graph via Vertex Fusion</a:t>
            </a:r>
            <a:endParaRPr/>
          </a:p>
        </p:txBody>
      </p:sp>
      <p:sp>
        <p:nvSpPr>
          <p:cNvPr id="757" name="Google Shape;757;p61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create a </a:t>
            </a:r>
            <a:r>
              <a:rPr b="1" lang="en"/>
              <a:t>new</a:t>
            </a:r>
            <a:r>
              <a:rPr lang="en"/>
              <a:t> graph from a graph by </a:t>
            </a:r>
            <a:r>
              <a:rPr b="1" lang="en"/>
              <a:t>fusing</a:t>
            </a:r>
            <a:r>
              <a:rPr lang="en"/>
              <a:t> two vertices: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we fuse two vertices we replace the original two by a single 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we keep the adjacency relations of the originals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would happen if we fuse V</a:t>
            </a:r>
            <a:r>
              <a:rPr baseline="-25000" lang="en"/>
              <a:t>3</a:t>
            </a:r>
            <a:r>
              <a:rPr lang="en"/>
              <a:t> and V</a:t>
            </a:r>
            <a:r>
              <a:rPr baseline="-25000" lang="en"/>
              <a:t>7</a:t>
            </a:r>
            <a:r>
              <a:rPr lang="en"/>
              <a:t>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new graph appears!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6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59" name="Google Shape;759;p61"/>
          <p:cNvCxnSpPr>
            <a:stCxn id="758" idx="6"/>
            <a:endCxn id="76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0" name="Google Shape;760;p6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ntarell"/>
                <a:ea typeface="Cantarell"/>
                <a:cs typeface="Cantarell"/>
                <a:sym typeface="Cantarell"/>
              </a:rPr>
              <a:t>3, 7</a:t>
            </a:r>
            <a:endParaRPr b="1" sz="8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1" name="Google Shape;761;p6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62" name="Google Shape;762;p6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3" name="Google Shape;763;p61"/>
          <p:cNvCxnSpPr>
            <a:stCxn id="762" idx="4"/>
            <a:endCxn id="76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6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5" name="Google Shape;765;p61"/>
          <p:cNvCxnSpPr>
            <a:stCxn id="758" idx="5"/>
            <a:endCxn id="76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6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7" name="Google Shape;767;p61"/>
          <p:cNvCxnSpPr>
            <a:stCxn id="766" idx="2"/>
            <a:endCxn id="76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6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69" name="Google Shape;769;p61"/>
          <p:cNvCxnSpPr>
            <a:stCxn id="760" idx="4"/>
            <a:endCxn id="76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61"/>
          <p:cNvCxnSpPr>
            <a:stCxn id="768" idx="1"/>
            <a:endCxn id="760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New Graph via Vertex Fusion</a:t>
            </a:r>
            <a:endParaRPr/>
          </a:p>
        </p:txBody>
      </p:sp>
      <p:sp>
        <p:nvSpPr>
          <p:cNvPr id="776" name="Google Shape;776;p62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create a </a:t>
            </a:r>
            <a:r>
              <a:rPr b="1" lang="en"/>
              <a:t>new</a:t>
            </a:r>
            <a:r>
              <a:rPr lang="en"/>
              <a:t> graph from a graph by </a:t>
            </a:r>
            <a:r>
              <a:rPr b="1" lang="en"/>
              <a:t>fusing</a:t>
            </a:r>
            <a:r>
              <a:rPr lang="en"/>
              <a:t> two vertices: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we fuse two vertices we replace the original two by a single 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we keep the adjacency relations of the originals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keep fusing to create a smaller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Here’s the </a:t>
            </a:r>
            <a:r>
              <a:rPr lang="en"/>
              <a:t>fusion</a:t>
            </a:r>
            <a:r>
              <a:rPr lang="en"/>
              <a:t> of V</a:t>
            </a:r>
            <a:r>
              <a:rPr baseline="-25000" lang="en"/>
              <a:t>2</a:t>
            </a:r>
            <a:r>
              <a:rPr lang="en"/>
              <a:t> and V</a:t>
            </a:r>
            <a:r>
              <a:rPr baseline="-25000" lang="en"/>
              <a:t>4</a:t>
            </a:r>
            <a:endParaRPr baseline="-25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6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ntarell"/>
                <a:ea typeface="Cantarell"/>
                <a:cs typeface="Cantarell"/>
                <a:sym typeface="Cantarell"/>
              </a:rPr>
              <a:t>2, 4</a:t>
            </a:r>
            <a:endParaRPr b="1" sz="8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78" name="Google Shape;778;p62"/>
          <p:cNvCxnSpPr>
            <a:stCxn id="777" idx="6"/>
            <a:endCxn id="77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6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Cantarell"/>
                <a:ea typeface="Cantarell"/>
                <a:cs typeface="Cantarell"/>
                <a:sym typeface="Cantarell"/>
              </a:rPr>
              <a:t>3, 7</a:t>
            </a:r>
            <a:endParaRPr b="1" sz="8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0" name="Google Shape;780;p6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1" name="Google Shape;781;p6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2" name="Google Shape;782;p62"/>
          <p:cNvCxnSpPr>
            <a:stCxn id="781" idx="4"/>
            <a:endCxn id="77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6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4" name="Google Shape;784;p62"/>
          <p:cNvCxnSpPr>
            <a:stCxn id="777" idx="5"/>
            <a:endCxn id="78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" name="Google Shape;785;p6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6" name="Google Shape;786;p62"/>
          <p:cNvCxnSpPr>
            <a:stCxn id="779" idx="4"/>
            <a:endCxn id="78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62"/>
          <p:cNvCxnSpPr>
            <a:stCxn id="785" idx="1"/>
            <a:endCxn id="779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798" name="Google Shape;798;p64"/>
          <p:cNvSpPr txBox="1"/>
          <p:nvPr>
            <p:ph idx="1" type="body"/>
          </p:nvPr>
        </p:nvSpPr>
        <p:spPr>
          <a:xfrm>
            <a:off x="311700" y="1225225"/>
            <a:ext cx="8520600" cy="10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graphs are just sets we can do set operations on them!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Union (⋃)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Intersection (⋂)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804" name="Google Shape;804;p65"/>
          <p:cNvSpPr txBox="1"/>
          <p:nvPr>
            <p:ph idx="1" type="body"/>
          </p:nvPr>
        </p:nvSpPr>
        <p:spPr>
          <a:xfrm>
            <a:off x="311700" y="1225225"/>
            <a:ext cx="85206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union of two graphs is just the union of the vertex and edge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V(G</a:t>
            </a:r>
            <a:r>
              <a:rPr baseline="-25000" lang="en"/>
              <a:t>1</a:t>
            </a:r>
            <a:r>
              <a:rPr lang="en"/>
              <a:t>) ⋃ V(G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⋃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65"/>
          <p:cNvSpPr/>
          <p:nvPr/>
        </p:nvSpPr>
        <p:spPr>
          <a:xfrm>
            <a:off x="31168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6" name="Google Shape;806;p65"/>
          <p:cNvCxnSpPr>
            <a:stCxn id="805" idx="6"/>
            <a:endCxn id="807" idx="2"/>
          </p:cNvCxnSpPr>
          <p:nvPr/>
        </p:nvCxnSpPr>
        <p:spPr>
          <a:xfrm>
            <a:off x="636288" y="346367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65"/>
          <p:cNvSpPr/>
          <p:nvPr/>
        </p:nvSpPr>
        <p:spPr>
          <a:xfrm>
            <a:off x="1378080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08" name="Google Shape;808;p65"/>
          <p:cNvSpPr/>
          <p:nvPr/>
        </p:nvSpPr>
        <p:spPr>
          <a:xfrm>
            <a:off x="1378059" y="2306713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09" name="Google Shape;809;p65"/>
          <p:cNvCxnSpPr>
            <a:stCxn id="808" idx="4"/>
            <a:endCxn id="807" idx="0"/>
          </p:cNvCxnSpPr>
          <p:nvPr/>
        </p:nvCxnSpPr>
        <p:spPr>
          <a:xfrm>
            <a:off x="1540359" y="2621713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0" name="Google Shape;810;p65"/>
          <p:cNvSpPr/>
          <p:nvPr/>
        </p:nvSpPr>
        <p:spPr>
          <a:xfrm>
            <a:off x="1378059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11" name="Google Shape;811;p65"/>
          <p:cNvCxnSpPr>
            <a:stCxn id="805" idx="5"/>
            <a:endCxn id="810" idx="1"/>
          </p:cNvCxnSpPr>
          <p:nvPr/>
        </p:nvCxnSpPr>
        <p:spPr>
          <a:xfrm>
            <a:off x="588751" y="3575045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65"/>
          <p:cNvSpPr/>
          <p:nvPr/>
        </p:nvSpPr>
        <p:spPr>
          <a:xfrm>
            <a:off x="234201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13" name="Google Shape;813;p65"/>
          <p:cNvCxnSpPr>
            <a:stCxn id="812" idx="2"/>
            <a:endCxn id="807" idx="6"/>
          </p:cNvCxnSpPr>
          <p:nvPr/>
        </p:nvCxnSpPr>
        <p:spPr>
          <a:xfrm rot="10800000">
            <a:off x="1702718" y="34636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4" name="Google Shape;814;p65"/>
          <p:cNvSpPr/>
          <p:nvPr/>
        </p:nvSpPr>
        <p:spPr>
          <a:xfrm>
            <a:off x="2342015" y="43956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15" name="Google Shape;815;p65"/>
          <p:cNvCxnSpPr>
            <a:stCxn id="814" idx="0"/>
            <a:endCxn id="812" idx="4"/>
          </p:cNvCxnSpPr>
          <p:nvPr/>
        </p:nvCxnSpPr>
        <p:spPr>
          <a:xfrm rot="10800000">
            <a:off x="2504315" y="36210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65"/>
          <p:cNvSpPr/>
          <p:nvPr/>
        </p:nvSpPr>
        <p:spPr>
          <a:xfrm>
            <a:off x="2342015" y="23067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17" name="Google Shape;817;p65"/>
          <p:cNvCxnSpPr>
            <a:stCxn id="807" idx="4"/>
            <a:endCxn id="810" idx="0"/>
          </p:cNvCxnSpPr>
          <p:nvPr/>
        </p:nvCxnSpPr>
        <p:spPr>
          <a:xfrm>
            <a:off x="1540380" y="36211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8" name="Google Shape;818;p65"/>
          <p:cNvSpPr/>
          <p:nvPr/>
        </p:nvSpPr>
        <p:spPr>
          <a:xfrm>
            <a:off x="3306005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19" name="Google Shape;819;p65"/>
          <p:cNvSpPr/>
          <p:nvPr/>
        </p:nvSpPr>
        <p:spPr>
          <a:xfrm>
            <a:off x="4269943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0" name="Google Shape;820;p65"/>
          <p:cNvSpPr/>
          <p:nvPr/>
        </p:nvSpPr>
        <p:spPr>
          <a:xfrm>
            <a:off x="3305984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21" name="Google Shape;821;p65"/>
          <p:cNvSpPr/>
          <p:nvPr/>
        </p:nvSpPr>
        <p:spPr>
          <a:xfrm>
            <a:off x="4269943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2" name="Google Shape;822;p65"/>
          <p:cNvCxnSpPr>
            <a:stCxn id="821" idx="2"/>
            <a:endCxn id="818" idx="6"/>
          </p:cNvCxnSpPr>
          <p:nvPr/>
        </p:nvCxnSpPr>
        <p:spPr>
          <a:xfrm rot="10800000">
            <a:off x="3630643" y="29188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65"/>
          <p:cNvSpPr/>
          <p:nvPr/>
        </p:nvSpPr>
        <p:spPr>
          <a:xfrm>
            <a:off x="5398740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4" name="Google Shape;824;p65"/>
          <p:cNvCxnSpPr>
            <a:stCxn id="823" idx="2"/>
            <a:endCxn id="821" idx="6"/>
          </p:cNvCxnSpPr>
          <p:nvPr/>
        </p:nvCxnSpPr>
        <p:spPr>
          <a:xfrm rot="10800000">
            <a:off x="4594440" y="2918876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65"/>
          <p:cNvSpPr/>
          <p:nvPr/>
        </p:nvSpPr>
        <p:spPr>
          <a:xfrm>
            <a:off x="5398740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26" name="Google Shape;826;p65"/>
          <p:cNvCxnSpPr>
            <a:stCxn id="825" idx="0"/>
            <a:endCxn id="823" idx="4"/>
          </p:cNvCxnSpPr>
          <p:nvPr/>
        </p:nvCxnSpPr>
        <p:spPr>
          <a:xfrm rot="10800000">
            <a:off x="5561040" y="3076284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65"/>
          <p:cNvCxnSpPr>
            <a:stCxn id="818" idx="4"/>
            <a:endCxn id="820" idx="0"/>
          </p:cNvCxnSpPr>
          <p:nvPr/>
        </p:nvCxnSpPr>
        <p:spPr>
          <a:xfrm>
            <a:off x="3468305" y="30763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65"/>
          <p:cNvCxnSpPr>
            <a:stCxn id="812" idx="0"/>
            <a:endCxn id="816" idx="4"/>
          </p:cNvCxnSpPr>
          <p:nvPr/>
        </p:nvCxnSpPr>
        <p:spPr>
          <a:xfrm rot="10800000">
            <a:off x="2504318" y="2621876"/>
            <a:ext cx="0" cy="684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65"/>
          <p:cNvCxnSpPr>
            <a:stCxn id="821" idx="4"/>
            <a:endCxn id="820" idx="7"/>
          </p:cNvCxnSpPr>
          <p:nvPr/>
        </p:nvCxnSpPr>
        <p:spPr>
          <a:xfrm flipH="1">
            <a:off x="3582943" y="3076376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65"/>
          <p:cNvCxnSpPr>
            <a:stCxn id="825" idx="1"/>
            <a:endCxn id="821" idx="5"/>
          </p:cNvCxnSpPr>
          <p:nvPr/>
        </p:nvCxnSpPr>
        <p:spPr>
          <a:xfrm rot="10800000">
            <a:off x="4546877" y="303031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65"/>
          <p:cNvCxnSpPr>
            <a:stCxn id="823" idx="3"/>
            <a:endCxn id="819" idx="7"/>
          </p:cNvCxnSpPr>
          <p:nvPr/>
        </p:nvCxnSpPr>
        <p:spPr>
          <a:xfrm flipH="1">
            <a:off x="4546877" y="303024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2" name="Google Shape;832;p65"/>
          <p:cNvSpPr txBox="1"/>
          <p:nvPr/>
        </p:nvSpPr>
        <p:spPr>
          <a:xfrm>
            <a:off x="2746675" y="32317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⋃</a:t>
            </a:r>
            <a:endParaRPr b="1" sz="2700"/>
          </a:p>
        </p:txBody>
      </p:sp>
      <p:sp>
        <p:nvSpPr>
          <p:cNvPr id="833" name="Google Shape;833;p65"/>
          <p:cNvSpPr/>
          <p:nvPr/>
        </p:nvSpPr>
        <p:spPr>
          <a:xfrm>
            <a:off x="311693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34" name="Google Shape;834;p65"/>
          <p:cNvSpPr txBox="1"/>
          <p:nvPr/>
        </p:nvSpPr>
        <p:spPr>
          <a:xfrm>
            <a:off x="126420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35" name="Google Shape;835;p65"/>
          <p:cNvSpPr txBox="1"/>
          <p:nvPr/>
        </p:nvSpPr>
        <p:spPr>
          <a:xfrm>
            <a:off x="425885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36" name="Google Shape;836;p65"/>
          <p:cNvSpPr txBox="1"/>
          <p:nvPr/>
        </p:nvSpPr>
        <p:spPr>
          <a:xfrm>
            <a:off x="5851088" y="323177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37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842" name="Google Shape;842;p66"/>
          <p:cNvSpPr txBox="1"/>
          <p:nvPr>
            <p:ph idx="1" type="body"/>
          </p:nvPr>
        </p:nvSpPr>
        <p:spPr>
          <a:xfrm>
            <a:off x="311700" y="1225225"/>
            <a:ext cx="85206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union of two graphs is just the union of the vertex and edge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V(G</a:t>
            </a:r>
            <a:r>
              <a:rPr baseline="-25000" lang="en"/>
              <a:t>1</a:t>
            </a:r>
            <a:r>
              <a:rPr lang="en"/>
              <a:t>) ⋃ V(G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⋃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V(G</a:t>
            </a:r>
            <a:r>
              <a:rPr baseline="-25000" lang="en"/>
              <a:t>1</a:t>
            </a:r>
            <a:r>
              <a:rPr lang="en"/>
              <a:t>) ⋃ V(G</a:t>
            </a:r>
            <a:r>
              <a:rPr baseline="-25000" lang="en"/>
              <a:t>2</a:t>
            </a:r>
            <a:r>
              <a:rPr lang="en"/>
              <a:t>) = </a:t>
            </a: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66"/>
          <p:cNvSpPr/>
          <p:nvPr/>
        </p:nvSpPr>
        <p:spPr>
          <a:xfrm>
            <a:off x="31168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4" name="Google Shape;844;p66"/>
          <p:cNvCxnSpPr>
            <a:stCxn id="843" idx="6"/>
            <a:endCxn id="845" idx="2"/>
          </p:cNvCxnSpPr>
          <p:nvPr/>
        </p:nvCxnSpPr>
        <p:spPr>
          <a:xfrm>
            <a:off x="636288" y="346367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66"/>
          <p:cNvSpPr/>
          <p:nvPr/>
        </p:nvSpPr>
        <p:spPr>
          <a:xfrm>
            <a:off x="1378080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46" name="Google Shape;846;p66"/>
          <p:cNvSpPr/>
          <p:nvPr/>
        </p:nvSpPr>
        <p:spPr>
          <a:xfrm>
            <a:off x="1378059" y="2306713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7" name="Google Shape;847;p66"/>
          <p:cNvCxnSpPr>
            <a:stCxn id="846" idx="4"/>
            <a:endCxn id="845" idx="0"/>
          </p:cNvCxnSpPr>
          <p:nvPr/>
        </p:nvCxnSpPr>
        <p:spPr>
          <a:xfrm>
            <a:off x="1540359" y="2621713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66"/>
          <p:cNvSpPr/>
          <p:nvPr/>
        </p:nvSpPr>
        <p:spPr>
          <a:xfrm>
            <a:off x="1378059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49" name="Google Shape;849;p66"/>
          <p:cNvCxnSpPr>
            <a:stCxn id="843" idx="5"/>
            <a:endCxn id="848" idx="1"/>
          </p:cNvCxnSpPr>
          <p:nvPr/>
        </p:nvCxnSpPr>
        <p:spPr>
          <a:xfrm>
            <a:off x="588751" y="3575045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66"/>
          <p:cNvSpPr/>
          <p:nvPr/>
        </p:nvSpPr>
        <p:spPr>
          <a:xfrm>
            <a:off x="234201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51" name="Google Shape;851;p66"/>
          <p:cNvCxnSpPr>
            <a:stCxn id="850" idx="2"/>
            <a:endCxn id="845" idx="6"/>
          </p:cNvCxnSpPr>
          <p:nvPr/>
        </p:nvCxnSpPr>
        <p:spPr>
          <a:xfrm rot="10800000">
            <a:off x="1702718" y="34636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2" name="Google Shape;852;p66"/>
          <p:cNvSpPr/>
          <p:nvPr/>
        </p:nvSpPr>
        <p:spPr>
          <a:xfrm>
            <a:off x="2342015" y="43956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53" name="Google Shape;853;p66"/>
          <p:cNvCxnSpPr>
            <a:stCxn id="852" idx="0"/>
            <a:endCxn id="850" idx="4"/>
          </p:cNvCxnSpPr>
          <p:nvPr/>
        </p:nvCxnSpPr>
        <p:spPr>
          <a:xfrm rot="10800000">
            <a:off x="2504315" y="36210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66"/>
          <p:cNvSpPr/>
          <p:nvPr/>
        </p:nvSpPr>
        <p:spPr>
          <a:xfrm>
            <a:off x="2342015" y="23067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55" name="Google Shape;855;p66"/>
          <p:cNvCxnSpPr>
            <a:stCxn id="845" idx="4"/>
            <a:endCxn id="848" idx="0"/>
          </p:cNvCxnSpPr>
          <p:nvPr/>
        </p:nvCxnSpPr>
        <p:spPr>
          <a:xfrm>
            <a:off x="1540380" y="36211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66"/>
          <p:cNvSpPr/>
          <p:nvPr/>
        </p:nvSpPr>
        <p:spPr>
          <a:xfrm>
            <a:off x="3306005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57" name="Google Shape;857;p66"/>
          <p:cNvSpPr/>
          <p:nvPr/>
        </p:nvSpPr>
        <p:spPr>
          <a:xfrm>
            <a:off x="4269943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58" name="Google Shape;858;p66"/>
          <p:cNvSpPr/>
          <p:nvPr/>
        </p:nvSpPr>
        <p:spPr>
          <a:xfrm>
            <a:off x="3305984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59" name="Google Shape;859;p66"/>
          <p:cNvSpPr/>
          <p:nvPr/>
        </p:nvSpPr>
        <p:spPr>
          <a:xfrm>
            <a:off x="4269943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0" name="Google Shape;860;p66"/>
          <p:cNvCxnSpPr>
            <a:stCxn id="859" idx="2"/>
            <a:endCxn id="856" idx="6"/>
          </p:cNvCxnSpPr>
          <p:nvPr/>
        </p:nvCxnSpPr>
        <p:spPr>
          <a:xfrm rot="10800000">
            <a:off x="3630643" y="29188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66"/>
          <p:cNvSpPr/>
          <p:nvPr/>
        </p:nvSpPr>
        <p:spPr>
          <a:xfrm>
            <a:off x="5398740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2" name="Google Shape;862;p66"/>
          <p:cNvCxnSpPr>
            <a:stCxn id="861" idx="2"/>
            <a:endCxn id="859" idx="6"/>
          </p:cNvCxnSpPr>
          <p:nvPr/>
        </p:nvCxnSpPr>
        <p:spPr>
          <a:xfrm rot="10800000">
            <a:off x="4594440" y="2918876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66"/>
          <p:cNvSpPr/>
          <p:nvPr/>
        </p:nvSpPr>
        <p:spPr>
          <a:xfrm>
            <a:off x="5398740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64" name="Google Shape;864;p66"/>
          <p:cNvCxnSpPr>
            <a:stCxn id="863" idx="0"/>
            <a:endCxn id="861" idx="4"/>
          </p:cNvCxnSpPr>
          <p:nvPr/>
        </p:nvCxnSpPr>
        <p:spPr>
          <a:xfrm rot="10800000">
            <a:off x="5561040" y="3076284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66"/>
          <p:cNvCxnSpPr>
            <a:stCxn id="856" idx="4"/>
            <a:endCxn id="858" idx="0"/>
          </p:cNvCxnSpPr>
          <p:nvPr/>
        </p:nvCxnSpPr>
        <p:spPr>
          <a:xfrm>
            <a:off x="3468305" y="30763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66"/>
          <p:cNvCxnSpPr>
            <a:stCxn id="850" idx="0"/>
            <a:endCxn id="854" idx="4"/>
          </p:cNvCxnSpPr>
          <p:nvPr/>
        </p:nvCxnSpPr>
        <p:spPr>
          <a:xfrm rot="10800000">
            <a:off x="2504318" y="2621876"/>
            <a:ext cx="0" cy="684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7" name="Google Shape;867;p66"/>
          <p:cNvCxnSpPr>
            <a:stCxn id="859" idx="4"/>
            <a:endCxn id="858" idx="7"/>
          </p:cNvCxnSpPr>
          <p:nvPr/>
        </p:nvCxnSpPr>
        <p:spPr>
          <a:xfrm flipH="1">
            <a:off x="3582943" y="3076376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66"/>
          <p:cNvCxnSpPr>
            <a:stCxn id="863" idx="1"/>
            <a:endCxn id="859" idx="5"/>
          </p:cNvCxnSpPr>
          <p:nvPr/>
        </p:nvCxnSpPr>
        <p:spPr>
          <a:xfrm rot="10800000">
            <a:off x="4546877" y="303031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66"/>
          <p:cNvCxnSpPr>
            <a:stCxn id="861" idx="3"/>
            <a:endCxn id="857" idx="7"/>
          </p:cNvCxnSpPr>
          <p:nvPr/>
        </p:nvCxnSpPr>
        <p:spPr>
          <a:xfrm flipH="1">
            <a:off x="4546877" y="303024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0" name="Google Shape;870;p66"/>
          <p:cNvSpPr txBox="1"/>
          <p:nvPr/>
        </p:nvSpPr>
        <p:spPr>
          <a:xfrm>
            <a:off x="2746675" y="32317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⋃</a:t>
            </a:r>
            <a:endParaRPr b="1" sz="2700"/>
          </a:p>
        </p:txBody>
      </p:sp>
      <p:sp>
        <p:nvSpPr>
          <p:cNvPr id="871" name="Google Shape;871;p66"/>
          <p:cNvSpPr/>
          <p:nvPr/>
        </p:nvSpPr>
        <p:spPr>
          <a:xfrm>
            <a:off x="311693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2" name="Google Shape;872;p66"/>
          <p:cNvSpPr txBox="1"/>
          <p:nvPr/>
        </p:nvSpPr>
        <p:spPr>
          <a:xfrm>
            <a:off x="126420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73" name="Google Shape;873;p66"/>
          <p:cNvSpPr txBox="1"/>
          <p:nvPr/>
        </p:nvSpPr>
        <p:spPr>
          <a:xfrm>
            <a:off x="425885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74" name="Google Shape;874;p66"/>
          <p:cNvSpPr txBox="1"/>
          <p:nvPr/>
        </p:nvSpPr>
        <p:spPr>
          <a:xfrm>
            <a:off x="5851088" y="323177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3700"/>
          </a:p>
        </p:txBody>
      </p:sp>
      <p:sp>
        <p:nvSpPr>
          <p:cNvPr id="875" name="Google Shape;875;p66"/>
          <p:cNvSpPr/>
          <p:nvPr/>
        </p:nvSpPr>
        <p:spPr>
          <a:xfrm>
            <a:off x="6408238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6" name="Google Shape;876;p66"/>
          <p:cNvSpPr/>
          <p:nvPr/>
        </p:nvSpPr>
        <p:spPr>
          <a:xfrm>
            <a:off x="7474630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7" name="Google Shape;877;p66"/>
          <p:cNvSpPr/>
          <p:nvPr/>
        </p:nvSpPr>
        <p:spPr>
          <a:xfrm>
            <a:off x="7474634" y="2296750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8" name="Google Shape;878;p66"/>
          <p:cNvSpPr/>
          <p:nvPr/>
        </p:nvSpPr>
        <p:spPr>
          <a:xfrm>
            <a:off x="6403397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79" name="Google Shape;879;p66"/>
          <p:cNvSpPr/>
          <p:nvPr/>
        </p:nvSpPr>
        <p:spPr>
          <a:xfrm>
            <a:off x="8613118" y="325266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80" name="Google Shape;880;p66"/>
          <p:cNvSpPr/>
          <p:nvPr/>
        </p:nvSpPr>
        <p:spPr>
          <a:xfrm>
            <a:off x="7997715" y="43283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81" name="Google Shape;881;p66"/>
          <p:cNvSpPr/>
          <p:nvPr/>
        </p:nvSpPr>
        <p:spPr>
          <a:xfrm>
            <a:off x="8043865" y="22838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82" name="Google Shape;882;p66"/>
          <p:cNvSpPr/>
          <p:nvPr/>
        </p:nvSpPr>
        <p:spPr>
          <a:xfrm>
            <a:off x="7077430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888" name="Google Shape;888;p67"/>
          <p:cNvSpPr txBox="1"/>
          <p:nvPr>
            <p:ph idx="1" type="body"/>
          </p:nvPr>
        </p:nvSpPr>
        <p:spPr>
          <a:xfrm>
            <a:off x="311700" y="1225225"/>
            <a:ext cx="8625900" cy="15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union of two graphs is just the union of the vertex and edge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E(G</a:t>
            </a:r>
            <a:r>
              <a:rPr baseline="-25000" lang="en"/>
              <a:t>1</a:t>
            </a:r>
            <a:r>
              <a:rPr lang="en"/>
              <a:t>) ⋃ E(G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 ⋃ {V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7"/>
          <p:cNvSpPr/>
          <p:nvPr/>
        </p:nvSpPr>
        <p:spPr>
          <a:xfrm>
            <a:off x="31168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0" name="Google Shape;890;p67"/>
          <p:cNvCxnSpPr>
            <a:stCxn id="889" idx="6"/>
            <a:endCxn id="891" idx="2"/>
          </p:cNvCxnSpPr>
          <p:nvPr/>
        </p:nvCxnSpPr>
        <p:spPr>
          <a:xfrm>
            <a:off x="636288" y="346367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67"/>
          <p:cNvSpPr/>
          <p:nvPr/>
        </p:nvSpPr>
        <p:spPr>
          <a:xfrm>
            <a:off x="1378080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892" name="Google Shape;892;p67"/>
          <p:cNvSpPr/>
          <p:nvPr/>
        </p:nvSpPr>
        <p:spPr>
          <a:xfrm>
            <a:off x="1378059" y="2306713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3" name="Google Shape;893;p67"/>
          <p:cNvCxnSpPr>
            <a:stCxn id="892" idx="4"/>
            <a:endCxn id="891" idx="0"/>
          </p:cNvCxnSpPr>
          <p:nvPr/>
        </p:nvCxnSpPr>
        <p:spPr>
          <a:xfrm>
            <a:off x="1540359" y="2621713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67"/>
          <p:cNvSpPr/>
          <p:nvPr/>
        </p:nvSpPr>
        <p:spPr>
          <a:xfrm>
            <a:off x="1378059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5" name="Google Shape;895;p67"/>
          <p:cNvCxnSpPr>
            <a:stCxn id="889" idx="5"/>
            <a:endCxn id="894" idx="1"/>
          </p:cNvCxnSpPr>
          <p:nvPr/>
        </p:nvCxnSpPr>
        <p:spPr>
          <a:xfrm>
            <a:off x="588751" y="3575045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6" name="Google Shape;896;p67"/>
          <p:cNvSpPr/>
          <p:nvPr/>
        </p:nvSpPr>
        <p:spPr>
          <a:xfrm>
            <a:off x="234201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7" name="Google Shape;897;p67"/>
          <p:cNvCxnSpPr>
            <a:stCxn id="896" idx="2"/>
            <a:endCxn id="891" idx="6"/>
          </p:cNvCxnSpPr>
          <p:nvPr/>
        </p:nvCxnSpPr>
        <p:spPr>
          <a:xfrm rot="10800000">
            <a:off x="1702718" y="34636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67"/>
          <p:cNvSpPr/>
          <p:nvPr/>
        </p:nvSpPr>
        <p:spPr>
          <a:xfrm>
            <a:off x="2342015" y="43956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899" name="Google Shape;899;p67"/>
          <p:cNvCxnSpPr>
            <a:stCxn id="898" idx="0"/>
            <a:endCxn id="896" idx="4"/>
          </p:cNvCxnSpPr>
          <p:nvPr/>
        </p:nvCxnSpPr>
        <p:spPr>
          <a:xfrm rot="10800000">
            <a:off x="2504315" y="36210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67"/>
          <p:cNvSpPr/>
          <p:nvPr/>
        </p:nvSpPr>
        <p:spPr>
          <a:xfrm>
            <a:off x="2342015" y="23067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01" name="Google Shape;901;p67"/>
          <p:cNvCxnSpPr>
            <a:stCxn id="891" idx="4"/>
            <a:endCxn id="894" idx="0"/>
          </p:cNvCxnSpPr>
          <p:nvPr/>
        </p:nvCxnSpPr>
        <p:spPr>
          <a:xfrm>
            <a:off x="1540380" y="36211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67"/>
          <p:cNvSpPr/>
          <p:nvPr/>
        </p:nvSpPr>
        <p:spPr>
          <a:xfrm>
            <a:off x="3306005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3" name="Google Shape;903;p67"/>
          <p:cNvSpPr/>
          <p:nvPr/>
        </p:nvSpPr>
        <p:spPr>
          <a:xfrm>
            <a:off x="4269943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4" name="Google Shape;904;p67"/>
          <p:cNvSpPr/>
          <p:nvPr/>
        </p:nvSpPr>
        <p:spPr>
          <a:xfrm>
            <a:off x="3305984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5" name="Google Shape;905;p67"/>
          <p:cNvSpPr/>
          <p:nvPr/>
        </p:nvSpPr>
        <p:spPr>
          <a:xfrm>
            <a:off x="4269943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06" name="Google Shape;906;p67"/>
          <p:cNvCxnSpPr>
            <a:stCxn id="905" idx="2"/>
            <a:endCxn id="902" idx="6"/>
          </p:cNvCxnSpPr>
          <p:nvPr/>
        </p:nvCxnSpPr>
        <p:spPr>
          <a:xfrm rot="10800000">
            <a:off x="3630643" y="29188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67"/>
          <p:cNvSpPr/>
          <p:nvPr/>
        </p:nvSpPr>
        <p:spPr>
          <a:xfrm>
            <a:off x="5398740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08" name="Google Shape;908;p67"/>
          <p:cNvCxnSpPr>
            <a:stCxn id="907" idx="2"/>
            <a:endCxn id="905" idx="6"/>
          </p:cNvCxnSpPr>
          <p:nvPr/>
        </p:nvCxnSpPr>
        <p:spPr>
          <a:xfrm rot="10800000">
            <a:off x="4594440" y="2918876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9" name="Google Shape;909;p67"/>
          <p:cNvSpPr/>
          <p:nvPr/>
        </p:nvSpPr>
        <p:spPr>
          <a:xfrm>
            <a:off x="5398740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10" name="Google Shape;910;p67"/>
          <p:cNvCxnSpPr>
            <a:stCxn id="909" idx="0"/>
            <a:endCxn id="907" idx="4"/>
          </p:cNvCxnSpPr>
          <p:nvPr/>
        </p:nvCxnSpPr>
        <p:spPr>
          <a:xfrm rot="10800000">
            <a:off x="5561040" y="3076284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67"/>
          <p:cNvCxnSpPr>
            <a:stCxn id="902" idx="4"/>
            <a:endCxn id="904" idx="0"/>
          </p:cNvCxnSpPr>
          <p:nvPr/>
        </p:nvCxnSpPr>
        <p:spPr>
          <a:xfrm>
            <a:off x="3468305" y="30763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67"/>
          <p:cNvCxnSpPr>
            <a:stCxn id="896" idx="0"/>
            <a:endCxn id="900" idx="4"/>
          </p:cNvCxnSpPr>
          <p:nvPr/>
        </p:nvCxnSpPr>
        <p:spPr>
          <a:xfrm rot="10800000">
            <a:off x="2504318" y="2621876"/>
            <a:ext cx="0" cy="684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67"/>
          <p:cNvCxnSpPr>
            <a:stCxn id="905" idx="4"/>
            <a:endCxn id="904" idx="7"/>
          </p:cNvCxnSpPr>
          <p:nvPr/>
        </p:nvCxnSpPr>
        <p:spPr>
          <a:xfrm flipH="1">
            <a:off x="3582943" y="3076376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67"/>
          <p:cNvCxnSpPr>
            <a:stCxn id="909" idx="1"/>
            <a:endCxn id="905" idx="5"/>
          </p:cNvCxnSpPr>
          <p:nvPr/>
        </p:nvCxnSpPr>
        <p:spPr>
          <a:xfrm rot="10800000">
            <a:off x="4546877" y="303031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67"/>
          <p:cNvCxnSpPr>
            <a:stCxn id="907" idx="3"/>
            <a:endCxn id="903" idx="7"/>
          </p:cNvCxnSpPr>
          <p:nvPr/>
        </p:nvCxnSpPr>
        <p:spPr>
          <a:xfrm flipH="1">
            <a:off x="4546877" y="303024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6" name="Google Shape;916;p67"/>
          <p:cNvSpPr txBox="1"/>
          <p:nvPr/>
        </p:nvSpPr>
        <p:spPr>
          <a:xfrm>
            <a:off x="2746675" y="32317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⋃</a:t>
            </a:r>
            <a:endParaRPr b="1" sz="2700"/>
          </a:p>
        </p:txBody>
      </p:sp>
      <p:sp>
        <p:nvSpPr>
          <p:cNvPr id="917" name="Google Shape;917;p67"/>
          <p:cNvSpPr/>
          <p:nvPr/>
        </p:nvSpPr>
        <p:spPr>
          <a:xfrm>
            <a:off x="311693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18" name="Google Shape;918;p67"/>
          <p:cNvSpPr txBox="1"/>
          <p:nvPr/>
        </p:nvSpPr>
        <p:spPr>
          <a:xfrm>
            <a:off x="126420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19" name="Google Shape;919;p67"/>
          <p:cNvSpPr txBox="1"/>
          <p:nvPr/>
        </p:nvSpPr>
        <p:spPr>
          <a:xfrm>
            <a:off x="425885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20" name="Google Shape;920;p67"/>
          <p:cNvSpPr txBox="1"/>
          <p:nvPr/>
        </p:nvSpPr>
        <p:spPr>
          <a:xfrm>
            <a:off x="5851088" y="323177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3700"/>
          </a:p>
        </p:txBody>
      </p:sp>
      <p:sp>
        <p:nvSpPr>
          <p:cNvPr id="921" name="Google Shape;921;p67"/>
          <p:cNvSpPr/>
          <p:nvPr/>
        </p:nvSpPr>
        <p:spPr>
          <a:xfrm>
            <a:off x="6408238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2" name="Google Shape;922;p67"/>
          <p:cNvSpPr/>
          <p:nvPr/>
        </p:nvSpPr>
        <p:spPr>
          <a:xfrm>
            <a:off x="7474630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3" name="Google Shape;923;p67"/>
          <p:cNvSpPr/>
          <p:nvPr/>
        </p:nvSpPr>
        <p:spPr>
          <a:xfrm>
            <a:off x="7474634" y="2296750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4" name="Google Shape;924;p67"/>
          <p:cNvSpPr/>
          <p:nvPr/>
        </p:nvSpPr>
        <p:spPr>
          <a:xfrm>
            <a:off x="6403397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5" name="Google Shape;925;p67"/>
          <p:cNvSpPr/>
          <p:nvPr/>
        </p:nvSpPr>
        <p:spPr>
          <a:xfrm>
            <a:off x="8613118" y="325266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6" name="Google Shape;926;p67"/>
          <p:cNvSpPr/>
          <p:nvPr/>
        </p:nvSpPr>
        <p:spPr>
          <a:xfrm>
            <a:off x="7997715" y="43283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7" name="Google Shape;927;p67"/>
          <p:cNvSpPr/>
          <p:nvPr/>
        </p:nvSpPr>
        <p:spPr>
          <a:xfrm>
            <a:off x="8043865" y="22838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28" name="Google Shape;928;p67"/>
          <p:cNvSpPr/>
          <p:nvPr/>
        </p:nvSpPr>
        <p:spPr>
          <a:xfrm>
            <a:off x="7077430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934" name="Google Shape;934;p68"/>
          <p:cNvSpPr txBox="1"/>
          <p:nvPr>
            <p:ph idx="1" type="body"/>
          </p:nvPr>
        </p:nvSpPr>
        <p:spPr>
          <a:xfrm>
            <a:off x="311700" y="1225225"/>
            <a:ext cx="8686200" cy="10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union of two graphs is just the union of the vertex and edge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E(G</a:t>
            </a:r>
            <a:r>
              <a:rPr baseline="-25000" lang="en"/>
              <a:t>1</a:t>
            </a:r>
            <a:r>
              <a:rPr lang="en"/>
              <a:t>) ⋃ E(G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 ⋃ {V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E(G</a:t>
            </a:r>
            <a:r>
              <a:rPr baseline="-25000" lang="en"/>
              <a:t>1</a:t>
            </a:r>
            <a:r>
              <a:rPr lang="en"/>
              <a:t>) ⋃ E(G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68"/>
          <p:cNvSpPr/>
          <p:nvPr/>
        </p:nvSpPr>
        <p:spPr>
          <a:xfrm>
            <a:off x="31168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6" name="Google Shape;936;p68"/>
          <p:cNvCxnSpPr>
            <a:stCxn id="935" idx="6"/>
            <a:endCxn id="937" idx="2"/>
          </p:cNvCxnSpPr>
          <p:nvPr/>
        </p:nvCxnSpPr>
        <p:spPr>
          <a:xfrm>
            <a:off x="636288" y="346367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7" name="Google Shape;937;p68"/>
          <p:cNvSpPr/>
          <p:nvPr/>
        </p:nvSpPr>
        <p:spPr>
          <a:xfrm>
            <a:off x="1378080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38" name="Google Shape;938;p68"/>
          <p:cNvSpPr/>
          <p:nvPr/>
        </p:nvSpPr>
        <p:spPr>
          <a:xfrm>
            <a:off x="1378059" y="2306713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39" name="Google Shape;939;p68"/>
          <p:cNvCxnSpPr>
            <a:stCxn id="938" idx="4"/>
            <a:endCxn id="937" idx="0"/>
          </p:cNvCxnSpPr>
          <p:nvPr/>
        </p:nvCxnSpPr>
        <p:spPr>
          <a:xfrm>
            <a:off x="1540359" y="2621713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0" name="Google Shape;940;p68"/>
          <p:cNvSpPr/>
          <p:nvPr/>
        </p:nvSpPr>
        <p:spPr>
          <a:xfrm>
            <a:off x="1378059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1" name="Google Shape;941;p68"/>
          <p:cNvCxnSpPr>
            <a:stCxn id="935" idx="5"/>
            <a:endCxn id="940" idx="1"/>
          </p:cNvCxnSpPr>
          <p:nvPr/>
        </p:nvCxnSpPr>
        <p:spPr>
          <a:xfrm>
            <a:off x="588751" y="3575045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2" name="Google Shape;942;p68"/>
          <p:cNvSpPr/>
          <p:nvPr/>
        </p:nvSpPr>
        <p:spPr>
          <a:xfrm>
            <a:off x="234201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3" name="Google Shape;943;p68"/>
          <p:cNvCxnSpPr>
            <a:stCxn id="942" idx="2"/>
            <a:endCxn id="937" idx="6"/>
          </p:cNvCxnSpPr>
          <p:nvPr/>
        </p:nvCxnSpPr>
        <p:spPr>
          <a:xfrm rot="10800000">
            <a:off x="1702718" y="34636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4" name="Google Shape;944;p68"/>
          <p:cNvSpPr/>
          <p:nvPr/>
        </p:nvSpPr>
        <p:spPr>
          <a:xfrm>
            <a:off x="2342015" y="43956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5" name="Google Shape;945;p68"/>
          <p:cNvCxnSpPr>
            <a:stCxn id="944" idx="0"/>
            <a:endCxn id="942" idx="4"/>
          </p:cNvCxnSpPr>
          <p:nvPr/>
        </p:nvCxnSpPr>
        <p:spPr>
          <a:xfrm rot="10800000">
            <a:off x="2504315" y="36210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6" name="Google Shape;946;p68"/>
          <p:cNvSpPr/>
          <p:nvPr/>
        </p:nvSpPr>
        <p:spPr>
          <a:xfrm>
            <a:off x="2342015" y="23067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47" name="Google Shape;947;p68"/>
          <p:cNvCxnSpPr>
            <a:stCxn id="937" idx="4"/>
            <a:endCxn id="940" idx="0"/>
          </p:cNvCxnSpPr>
          <p:nvPr/>
        </p:nvCxnSpPr>
        <p:spPr>
          <a:xfrm>
            <a:off x="1540380" y="36211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8" name="Google Shape;948;p68"/>
          <p:cNvSpPr/>
          <p:nvPr/>
        </p:nvSpPr>
        <p:spPr>
          <a:xfrm>
            <a:off x="3306005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49" name="Google Shape;949;p68"/>
          <p:cNvSpPr/>
          <p:nvPr/>
        </p:nvSpPr>
        <p:spPr>
          <a:xfrm>
            <a:off x="4269943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0" name="Google Shape;950;p68"/>
          <p:cNvSpPr/>
          <p:nvPr/>
        </p:nvSpPr>
        <p:spPr>
          <a:xfrm>
            <a:off x="3305984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51" name="Google Shape;951;p68"/>
          <p:cNvSpPr/>
          <p:nvPr/>
        </p:nvSpPr>
        <p:spPr>
          <a:xfrm>
            <a:off x="4269943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2" name="Google Shape;952;p68"/>
          <p:cNvCxnSpPr>
            <a:stCxn id="951" idx="2"/>
            <a:endCxn id="948" idx="6"/>
          </p:cNvCxnSpPr>
          <p:nvPr/>
        </p:nvCxnSpPr>
        <p:spPr>
          <a:xfrm rot="10800000">
            <a:off x="3630643" y="29188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68"/>
          <p:cNvSpPr/>
          <p:nvPr/>
        </p:nvSpPr>
        <p:spPr>
          <a:xfrm>
            <a:off x="5398740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4" name="Google Shape;954;p68"/>
          <p:cNvCxnSpPr>
            <a:stCxn id="953" idx="2"/>
            <a:endCxn id="951" idx="6"/>
          </p:cNvCxnSpPr>
          <p:nvPr/>
        </p:nvCxnSpPr>
        <p:spPr>
          <a:xfrm rot="10800000">
            <a:off x="4594440" y="2918876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5" name="Google Shape;955;p68"/>
          <p:cNvSpPr/>
          <p:nvPr/>
        </p:nvSpPr>
        <p:spPr>
          <a:xfrm>
            <a:off x="5398740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56" name="Google Shape;956;p68"/>
          <p:cNvCxnSpPr>
            <a:stCxn id="955" idx="0"/>
            <a:endCxn id="953" idx="4"/>
          </p:cNvCxnSpPr>
          <p:nvPr/>
        </p:nvCxnSpPr>
        <p:spPr>
          <a:xfrm rot="10800000">
            <a:off x="5561040" y="3076284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68"/>
          <p:cNvCxnSpPr>
            <a:stCxn id="948" idx="4"/>
            <a:endCxn id="950" idx="0"/>
          </p:cNvCxnSpPr>
          <p:nvPr/>
        </p:nvCxnSpPr>
        <p:spPr>
          <a:xfrm>
            <a:off x="3468305" y="30763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68"/>
          <p:cNvCxnSpPr>
            <a:stCxn id="942" idx="0"/>
            <a:endCxn id="946" idx="4"/>
          </p:cNvCxnSpPr>
          <p:nvPr/>
        </p:nvCxnSpPr>
        <p:spPr>
          <a:xfrm rot="10800000">
            <a:off x="2504318" y="2621876"/>
            <a:ext cx="0" cy="684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68"/>
          <p:cNvCxnSpPr>
            <a:stCxn id="951" idx="4"/>
            <a:endCxn id="950" idx="7"/>
          </p:cNvCxnSpPr>
          <p:nvPr/>
        </p:nvCxnSpPr>
        <p:spPr>
          <a:xfrm flipH="1">
            <a:off x="3582943" y="3076376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68"/>
          <p:cNvCxnSpPr>
            <a:stCxn id="955" idx="1"/>
            <a:endCxn id="951" idx="5"/>
          </p:cNvCxnSpPr>
          <p:nvPr/>
        </p:nvCxnSpPr>
        <p:spPr>
          <a:xfrm rot="10800000">
            <a:off x="4546877" y="303031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68"/>
          <p:cNvCxnSpPr>
            <a:stCxn id="953" idx="3"/>
            <a:endCxn id="949" idx="7"/>
          </p:cNvCxnSpPr>
          <p:nvPr/>
        </p:nvCxnSpPr>
        <p:spPr>
          <a:xfrm flipH="1">
            <a:off x="4546877" y="303024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68"/>
          <p:cNvSpPr txBox="1"/>
          <p:nvPr/>
        </p:nvSpPr>
        <p:spPr>
          <a:xfrm>
            <a:off x="2746675" y="32317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⋃</a:t>
            </a:r>
            <a:endParaRPr b="1" sz="2700"/>
          </a:p>
        </p:txBody>
      </p:sp>
      <p:sp>
        <p:nvSpPr>
          <p:cNvPr id="963" name="Google Shape;963;p68"/>
          <p:cNvSpPr txBox="1"/>
          <p:nvPr/>
        </p:nvSpPr>
        <p:spPr>
          <a:xfrm>
            <a:off x="5851088" y="323177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3700"/>
          </a:p>
        </p:txBody>
      </p:sp>
      <p:sp>
        <p:nvSpPr>
          <p:cNvPr id="964" name="Google Shape;964;p68"/>
          <p:cNvSpPr/>
          <p:nvPr/>
        </p:nvSpPr>
        <p:spPr>
          <a:xfrm>
            <a:off x="6408238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5" name="Google Shape;965;p68"/>
          <p:cNvCxnSpPr>
            <a:stCxn id="964" idx="6"/>
            <a:endCxn id="966" idx="2"/>
          </p:cNvCxnSpPr>
          <p:nvPr/>
        </p:nvCxnSpPr>
        <p:spPr>
          <a:xfrm>
            <a:off x="6732838" y="339632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68"/>
          <p:cNvSpPr/>
          <p:nvPr/>
        </p:nvSpPr>
        <p:spPr>
          <a:xfrm>
            <a:off x="7474630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7" name="Google Shape;967;p68"/>
          <p:cNvSpPr/>
          <p:nvPr/>
        </p:nvSpPr>
        <p:spPr>
          <a:xfrm>
            <a:off x="7474634" y="2296750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68" name="Google Shape;968;p68"/>
          <p:cNvCxnSpPr>
            <a:stCxn id="967" idx="4"/>
            <a:endCxn id="966" idx="0"/>
          </p:cNvCxnSpPr>
          <p:nvPr/>
        </p:nvCxnSpPr>
        <p:spPr>
          <a:xfrm>
            <a:off x="7636934" y="2611750"/>
            <a:ext cx="0" cy="627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68"/>
          <p:cNvSpPr/>
          <p:nvPr/>
        </p:nvSpPr>
        <p:spPr>
          <a:xfrm>
            <a:off x="6403397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0" name="Google Shape;970;p68"/>
          <p:cNvCxnSpPr>
            <a:stCxn id="964" idx="4"/>
            <a:endCxn id="969" idx="0"/>
          </p:cNvCxnSpPr>
          <p:nvPr/>
        </p:nvCxnSpPr>
        <p:spPr>
          <a:xfrm flipH="1">
            <a:off x="6565738" y="3553826"/>
            <a:ext cx="480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68"/>
          <p:cNvSpPr/>
          <p:nvPr/>
        </p:nvSpPr>
        <p:spPr>
          <a:xfrm>
            <a:off x="8613118" y="325266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2" name="Google Shape;972;p68"/>
          <p:cNvCxnSpPr>
            <a:stCxn id="971" idx="2"/>
            <a:endCxn id="966" idx="6"/>
          </p:cNvCxnSpPr>
          <p:nvPr/>
        </p:nvCxnSpPr>
        <p:spPr>
          <a:xfrm rot="10800000">
            <a:off x="7799218" y="3396364"/>
            <a:ext cx="813900" cy="13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68"/>
          <p:cNvSpPr/>
          <p:nvPr/>
        </p:nvSpPr>
        <p:spPr>
          <a:xfrm>
            <a:off x="7997715" y="43283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4" name="Google Shape;974;p68"/>
          <p:cNvCxnSpPr>
            <a:stCxn id="973" idx="0"/>
            <a:endCxn id="971" idx="4"/>
          </p:cNvCxnSpPr>
          <p:nvPr/>
        </p:nvCxnSpPr>
        <p:spPr>
          <a:xfrm flipH="1" rot="10800000">
            <a:off x="8160015" y="3567526"/>
            <a:ext cx="615300" cy="760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68"/>
          <p:cNvSpPr/>
          <p:nvPr/>
        </p:nvSpPr>
        <p:spPr>
          <a:xfrm>
            <a:off x="8043865" y="22838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76" name="Google Shape;976;p68"/>
          <p:cNvCxnSpPr>
            <a:stCxn id="966" idx="3"/>
            <a:endCxn id="969" idx="7"/>
          </p:cNvCxnSpPr>
          <p:nvPr/>
        </p:nvCxnSpPr>
        <p:spPr>
          <a:xfrm flipH="1">
            <a:off x="6680367" y="3507695"/>
            <a:ext cx="8418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68"/>
          <p:cNvCxnSpPr>
            <a:stCxn id="971" idx="0"/>
            <a:endCxn id="975" idx="4"/>
          </p:cNvCxnSpPr>
          <p:nvPr/>
        </p:nvCxnSpPr>
        <p:spPr>
          <a:xfrm rot="10800000">
            <a:off x="8206018" y="2598964"/>
            <a:ext cx="569400" cy="653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68"/>
          <p:cNvCxnSpPr>
            <a:stCxn id="969" idx="7"/>
            <a:endCxn id="971" idx="3"/>
          </p:cNvCxnSpPr>
          <p:nvPr/>
        </p:nvCxnSpPr>
        <p:spPr>
          <a:xfrm flipH="1" rot="10800000">
            <a:off x="6680460" y="3521565"/>
            <a:ext cx="1980300" cy="852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68"/>
          <p:cNvSpPr/>
          <p:nvPr/>
        </p:nvSpPr>
        <p:spPr>
          <a:xfrm>
            <a:off x="311693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80" name="Google Shape;980;p68"/>
          <p:cNvSpPr/>
          <p:nvPr/>
        </p:nvSpPr>
        <p:spPr>
          <a:xfrm>
            <a:off x="7077430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81" name="Google Shape;981;p68"/>
          <p:cNvCxnSpPr>
            <a:stCxn id="980" idx="6"/>
            <a:endCxn id="973" idx="2"/>
          </p:cNvCxnSpPr>
          <p:nvPr/>
        </p:nvCxnSpPr>
        <p:spPr>
          <a:xfrm>
            <a:off x="7402030" y="4485834"/>
            <a:ext cx="5958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68"/>
          <p:cNvCxnSpPr>
            <a:stCxn id="973" idx="0"/>
            <a:endCxn id="975" idx="4"/>
          </p:cNvCxnSpPr>
          <p:nvPr/>
        </p:nvCxnSpPr>
        <p:spPr>
          <a:xfrm flipH="1" rot="10800000">
            <a:off x="8160015" y="2598826"/>
            <a:ext cx="46200" cy="1729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988" name="Google Shape;988;p69"/>
          <p:cNvSpPr txBox="1"/>
          <p:nvPr>
            <p:ph idx="1" type="body"/>
          </p:nvPr>
        </p:nvSpPr>
        <p:spPr>
          <a:xfrm>
            <a:off x="311700" y="1225225"/>
            <a:ext cx="85206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intersection of two graphs is just the intersection of the vertex and edge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V(G</a:t>
            </a:r>
            <a:r>
              <a:rPr baseline="-25000" lang="en"/>
              <a:t>1</a:t>
            </a:r>
            <a:r>
              <a:rPr lang="en"/>
              <a:t>) ⋂ V(G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⋃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= {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9"/>
          <p:cNvSpPr/>
          <p:nvPr/>
        </p:nvSpPr>
        <p:spPr>
          <a:xfrm>
            <a:off x="31168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0" name="Google Shape;990;p69"/>
          <p:cNvCxnSpPr>
            <a:stCxn id="989" idx="6"/>
            <a:endCxn id="991" idx="2"/>
          </p:cNvCxnSpPr>
          <p:nvPr/>
        </p:nvCxnSpPr>
        <p:spPr>
          <a:xfrm>
            <a:off x="636288" y="346367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1" name="Google Shape;991;p69"/>
          <p:cNvSpPr/>
          <p:nvPr/>
        </p:nvSpPr>
        <p:spPr>
          <a:xfrm>
            <a:off x="1378080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92" name="Google Shape;992;p69"/>
          <p:cNvSpPr/>
          <p:nvPr/>
        </p:nvSpPr>
        <p:spPr>
          <a:xfrm>
            <a:off x="1378059" y="2306713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3" name="Google Shape;993;p69"/>
          <p:cNvCxnSpPr>
            <a:stCxn id="992" idx="4"/>
            <a:endCxn id="991" idx="0"/>
          </p:cNvCxnSpPr>
          <p:nvPr/>
        </p:nvCxnSpPr>
        <p:spPr>
          <a:xfrm>
            <a:off x="1540359" y="2621713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4" name="Google Shape;994;p69"/>
          <p:cNvSpPr/>
          <p:nvPr/>
        </p:nvSpPr>
        <p:spPr>
          <a:xfrm>
            <a:off x="1378059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5" name="Google Shape;995;p69"/>
          <p:cNvCxnSpPr>
            <a:stCxn id="989" idx="5"/>
            <a:endCxn id="994" idx="1"/>
          </p:cNvCxnSpPr>
          <p:nvPr/>
        </p:nvCxnSpPr>
        <p:spPr>
          <a:xfrm>
            <a:off x="588751" y="3575045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69"/>
          <p:cNvSpPr/>
          <p:nvPr/>
        </p:nvSpPr>
        <p:spPr>
          <a:xfrm>
            <a:off x="234201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7" name="Google Shape;997;p69"/>
          <p:cNvCxnSpPr>
            <a:stCxn id="996" idx="2"/>
            <a:endCxn id="991" idx="6"/>
          </p:cNvCxnSpPr>
          <p:nvPr/>
        </p:nvCxnSpPr>
        <p:spPr>
          <a:xfrm rot="10800000">
            <a:off x="1702718" y="34636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8" name="Google Shape;998;p69"/>
          <p:cNvSpPr/>
          <p:nvPr/>
        </p:nvSpPr>
        <p:spPr>
          <a:xfrm>
            <a:off x="2342015" y="43956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999" name="Google Shape;999;p69"/>
          <p:cNvCxnSpPr>
            <a:stCxn id="998" idx="0"/>
            <a:endCxn id="996" idx="4"/>
          </p:cNvCxnSpPr>
          <p:nvPr/>
        </p:nvCxnSpPr>
        <p:spPr>
          <a:xfrm rot="10800000">
            <a:off x="2504315" y="36210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0" name="Google Shape;1000;p69"/>
          <p:cNvSpPr/>
          <p:nvPr/>
        </p:nvSpPr>
        <p:spPr>
          <a:xfrm>
            <a:off x="2342015" y="23067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01" name="Google Shape;1001;p69"/>
          <p:cNvCxnSpPr>
            <a:stCxn id="991" idx="4"/>
            <a:endCxn id="994" idx="0"/>
          </p:cNvCxnSpPr>
          <p:nvPr/>
        </p:nvCxnSpPr>
        <p:spPr>
          <a:xfrm>
            <a:off x="1540380" y="36211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2" name="Google Shape;1002;p69"/>
          <p:cNvSpPr/>
          <p:nvPr/>
        </p:nvSpPr>
        <p:spPr>
          <a:xfrm>
            <a:off x="3306005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03" name="Google Shape;1003;p69"/>
          <p:cNvSpPr/>
          <p:nvPr/>
        </p:nvSpPr>
        <p:spPr>
          <a:xfrm>
            <a:off x="4269943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04" name="Google Shape;1004;p69"/>
          <p:cNvSpPr/>
          <p:nvPr/>
        </p:nvSpPr>
        <p:spPr>
          <a:xfrm>
            <a:off x="3305984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05" name="Google Shape;1005;p69"/>
          <p:cNvSpPr/>
          <p:nvPr/>
        </p:nvSpPr>
        <p:spPr>
          <a:xfrm>
            <a:off x="4269943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06" name="Google Shape;1006;p69"/>
          <p:cNvCxnSpPr>
            <a:stCxn id="1005" idx="2"/>
            <a:endCxn id="1002" idx="6"/>
          </p:cNvCxnSpPr>
          <p:nvPr/>
        </p:nvCxnSpPr>
        <p:spPr>
          <a:xfrm rot="10800000">
            <a:off x="3630643" y="29188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69"/>
          <p:cNvSpPr/>
          <p:nvPr/>
        </p:nvSpPr>
        <p:spPr>
          <a:xfrm>
            <a:off x="5398740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08" name="Google Shape;1008;p69"/>
          <p:cNvCxnSpPr>
            <a:stCxn id="1007" idx="2"/>
            <a:endCxn id="1005" idx="6"/>
          </p:cNvCxnSpPr>
          <p:nvPr/>
        </p:nvCxnSpPr>
        <p:spPr>
          <a:xfrm rot="10800000">
            <a:off x="4594440" y="2918876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69"/>
          <p:cNvSpPr/>
          <p:nvPr/>
        </p:nvSpPr>
        <p:spPr>
          <a:xfrm>
            <a:off x="5398740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10" name="Google Shape;1010;p69"/>
          <p:cNvCxnSpPr>
            <a:stCxn id="1009" idx="0"/>
            <a:endCxn id="1007" idx="4"/>
          </p:cNvCxnSpPr>
          <p:nvPr/>
        </p:nvCxnSpPr>
        <p:spPr>
          <a:xfrm rot="10800000">
            <a:off x="5561040" y="3076284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69"/>
          <p:cNvCxnSpPr>
            <a:stCxn id="1002" idx="4"/>
            <a:endCxn id="1004" idx="0"/>
          </p:cNvCxnSpPr>
          <p:nvPr/>
        </p:nvCxnSpPr>
        <p:spPr>
          <a:xfrm>
            <a:off x="3468305" y="30763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69"/>
          <p:cNvCxnSpPr>
            <a:stCxn id="996" idx="0"/>
            <a:endCxn id="1000" idx="4"/>
          </p:cNvCxnSpPr>
          <p:nvPr/>
        </p:nvCxnSpPr>
        <p:spPr>
          <a:xfrm rot="10800000">
            <a:off x="2504318" y="2621876"/>
            <a:ext cx="0" cy="684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69"/>
          <p:cNvCxnSpPr>
            <a:stCxn id="1005" idx="4"/>
            <a:endCxn id="1004" idx="7"/>
          </p:cNvCxnSpPr>
          <p:nvPr/>
        </p:nvCxnSpPr>
        <p:spPr>
          <a:xfrm flipH="1">
            <a:off x="3582943" y="3076376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69"/>
          <p:cNvCxnSpPr>
            <a:stCxn id="1009" idx="1"/>
            <a:endCxn id="1005" idx="5"/>
          </p:cNvCxnSpPr>
          <p:nvPr/>
        </p:nvCxnSpPr>
        <p:spPr>
          <a:xfrm rot="10800000">
            <a:off x="4546877" y="303031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69"/>
          <p:cNvCxnSpPr>
            <a:stCxn id="1007" idx="3"/>
            <a:endCxn id="1003" idx="7"/>
          </p:cNvCxnSpPr>
          <p:nvPr/>
        </p:nvCxnSpPr>
        <p:spPr>
          <a:xfrm flipH="1">
            <a:off x="4546877" y="303024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69"/>
          <p:cNvSpPr txBox="1"/>
          <p:nvPr/>
        </p:nvSpPr>
        <p:spPr>
          <a:xfrm>
            <a:off x="2746675" y="32317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⋂</a:t>
            </a:r>
            <a:endParaRPr b="1" sz="2700"/>
          </a:p>
        </p:txBody>
      </p:sp>
      <p:sp>
        <p:nvSpPr>
          <p:cNvPr id="1017" name="Google Shape;1017;p69"/>
          <p:cNvSpPr/>
          <p:nvPr/>
        </p:nvSpPr>
        <p:spPr>
          <a:xfrm>
            <a:off x="311693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18" name="Google Shape;1018;p69"/>
          <p:cNvSpPr txBox="1"/>
          <p:nvPr/>
        </p:nvSpPr>
        <p:spPr>
          <a:xfrm>
            <a:off x="126420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019" name="Google Shape;1019;p69"/>
          <p:cNvSpPr txBox="1"/>
          <p:nvPr/>
        </p:nvSpPr>
        <p:spPr>
          <a:xfrm>
            <a:off x="425885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020" name="Google Shape;1020;p69"/>
          <p:cNvSpPr txBox="1"/>
          <p:nvPr/>
        </p:nvSpPr>
        <p:spPr>
          <a:xfrm>
            <a:off x="5851088" y="323177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37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1026" name="Google Shape;1026;p70"/>
          <p:cNvSpPr txBox="1"/>
          <p:nvPr>
            <p:ph idx="1" type="body"/>
          </p:nvPr>
        </p:nvSpPr>
        <p:spPr>
          <a:xfrm>
            <a:off x="311700" y="1225225"/>
            <a:ext cx="85206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intersection of two graphs is just the intersection of the vertex and edge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V(G</a:t>
            </a:r>
            <a:r>
              <a:rPr baseline="-25000" lang="en"/>
              <a:t>1</a:t>
            </a:r>
            <a:r>
              <a:rPr lang="en"/>
              <a:t>) ⋂ V(G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⋃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= {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70"/>
          <p:cNvSpPr/>
          <p:nvPr/>
        </p:nvSpPr>
        <p:spPr>
          <a:xfrm>
            <a:off x="31168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28" name="Google Shape;1028;p70"/>
          <p:cNvCxnSpPr>
            <a:stCxn id="1027" idx="6"/>
            <a:endCxn id="1029" idx="2"/>
          </p:cNvCxnSpPr>
          <p:nvPr/>
        </p:nvCxnSpPr>
        <p:spPr>
          <a:xfrm>
            <a:off x="636288" y="346367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9" name="Google Shape;1029;p70"/>
          <p:cNvSpPr/>
          <p:nvPr/>
        </p:nvSpPr>
        <p:spPr>
          <a:xfrm>
            <a:off x="1378080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30" name="Google Shape;1030;p70"/>
          <p:cNvSpPr/>
          <p:nvPr/>
        </p:nvSpPr>
        <p:spPr>
          <a:xfrm>
            <a:off x="1378059" y="2306713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1" name="Google Shape;1031;p70"/>
          <p:cNvCxnSpPr>
            <a:stCxn id="1030" idx="4"/>
            <a:endCxn id="1029" idx="0"/>
          </p:cNvCxnSpPr>
          <p:nvPr/>
        </p:nvCxnSpPr>
        <p:spPr>
          <a:xfrm>
            <a:off x="1540359" y="2621713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70"/>
          <p:cNvSpPr/>
          <p:nvPr/>
        </p:nvSpPr>
        <p:spPr>
          <a:xfrm>
            <a:off x="1378059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3" name="Google Shape;1033;p70"/>
          <p:cNvCxnSpPr>
            <a:stCxn id="1027" idx="5"/>
            <a:endCxn id="1032" idx="1"/>
          </p:cNvCxnSpPr>
          <p:nvPr/>
        </p:nvCxnSpPr>
        <p:spPr>
          <a:xfrm>
            <a:off x="588751" y="3575045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70"/>
          <p:cNvSpPr/>
          <p:nvPr/>
        </p:nvSpPr>
        <p:spPr>
          <a:xfrm>
            <a:off x="234201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5" name="Google Shape;1035;p70"/>
          <p:cNvCxnSpPr>
            <a:stCxn id="1034" idx="2"/>
            <a:endCxn id="1029" idx="6"/>
          </p:cNvCxnSpPr>
          <p:nvPr/>
        </p:nvCxnSpPr>
        <p:spPr>
          <a:xfrm rot="10800000">
            <a:off x="1702718" y="34636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70"/>
          <p:cNvSpPr/>
          <p:nvPr/>
        </p:nvSpPr>
        <p:spPr>
          <a:xfrm>
            <a:off x="2342015" y="43956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7" name="Google Shape;1037;p70"/>
          <p:cNvCxnSpPr>
            <a:stCxn id="1036" idx="0"/>
            <a:endCxn id="1034" idx="4"/>
          </p:cNvCxnSpPr>
          <p:nvPr/>
        </p:nvCxnSpPr>
        <p:spPr>
          <a:xfrm rot="10800000">
            <a:off x="2504315" y="36210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70"/>
          <p:cNvSpPr/>
          <p:nvPr/>
        </p:nvSpPr>
        <p:spPr>
          <a:xfrm>
            <a:off x="2342015" y="23067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39" name="Google Shape;1039;p70"/>
          <p:cNvCxnSpPr>
            <a:stCxn id="1029" idx="4"/>
            <a:endCxn id="1032" idx="0"/>
          </p:cNvCxnSpPr>
          <p:nvPr/>
        </p:nvCxnSpPr>
        <p:spPr>
          <a:xfrm>
            <a:off x="1540380" y="36211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0" name="Google Shape;1040;p70"/>
          <p:cNvSpPr/>
          <p:nvPr/>
        </p:nvSpPr>
        <p:spPr>
          <a:xfrm>
            <a:off x="3306005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1" name="Google Shape;1041;p70"/>
          <p:cNvSpPr/>
          <p:nvPr/>
        </p:nvSpPr>
        <p:spPr>
          <a:xfrm>
            <a:off x="4269943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2" name="Google Shape;1042;p70"/>
          <p:cNvSpPr/>
          <p:nvPr/>
        </p:nvSpPr>
        <p:spPr>
          <a:xfrm>
            <a:off x="3305984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3" name="Google Shape;1043;p70"/>
          <p:cNvSpPr/>
          <p:nvPr/>
        </p:nvSpPr>
        <p:spPr>
          <a:xfrm>
            <a:off x="4269943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4" name="Google Shape;1044;p70"/>
          <p:cNvCxnSpPr>
            <a:stCxn id="1043" idx="2"/>
            <a:endCxn id="1040" idx="6"/>
          </p:cNvCxnSpPr>
          <p:nvPr/>
        </p:nvCxnSpPr>
        <p:spPr>
          <a:xfrm rot="10800000">
            <a:off x="3630643" y="29188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5" name="Google Shape;1045;p70"/>
          <p:cNvSpPr/>
          <p:nvPr/>
        </p:nvSpPr>
        <p:spPr>
          <a:xfrm>
            <a:off x="5398740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6" name="Google Shape;1046;p70"/>
          <p:cNvCxnSpPr>
            <a:stCxn id="1045" idx="2"/>
            <a:endCxn id="1043" idx="6"/>
          </p:cNvCxnSpPr>
          <p:nvPr/>
        </p:nvCxnSpPr>
        <p:spPr>
          <a:xfrm rot="10800000">
            <a:off x="4594440" y="2918876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70"/>
          <p:cNvSpPr/>
          <p:nvPr/>
        </p:nvSpPr>
        <p:spPr>
          <a:xfrm>
            <a:off x="5398740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48" name="Google Shape;1048;p70"/>
          <p:cNvCxnSpPr>
            <a:stCxn id="1047" idx="0"/>
            <a:endCxn id="1045" idx="4"/>
          </p:cNvCxnSpPr>
          <p:nvPr/>
        </p:nvCxnSpPr>
        <p:spPr>
          <a:xfrm rot="10800000">
            <a:off x="5561040" y="3076284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70"/>
          <p:cNvCxnSpPr>
            <a:stCxn id="1040" idx="4"/>
            <a:endCxn id="1042" idx="0"/>
          </p:cNvCxnSpPr>
          <p:nvPr/>
        </p:nvCxnSpPr>
        <p:spPr>
          <a:xfrm>
            <a:off x="3468305" y="30763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70"/>
          <p:cNvCxnSpPr>
            <a:stCxn id="1034" idx="0"/>
            <a:endCxn id="1038" idx="4"/>
          </p:cNvCxnSpPr>
          <p:nvPr/>
        </p:nvCxnSpPr>
        <p:spPr>
          <a:xfrm rot="10800000">
            <a:off x="2504318" y="2621876"/>
            <a:ext cx="0" cy="684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70"/>
          <p:cNvCxnSpPr>
            <a:stCxn id="1043" idx="4"/>
            <a:endCxn id="1042" idx="7"/>
          </p:cNvCxnSpPr>
          <p:nvPr/>
        </p:nvCxnSpPr>
        <p:spPr>
          <a:xfrm flipH="1">
            <a:off x="3582943" y="3076376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70"/>
          <p:cNvCxnSpPr>
            <a:stCxn id="1047" idx="1"/>
            <a:endCxn id="1043" idx="5"/>
          </p:cNvCxnSpPr>
          <p:nvPr/>
        </p:nvCxnSpPr>
        <p:spPr>
          <a:xfrm rot="10800000">
            <a:off x="4546877" y="303031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70"/>
          <p:cNvCxnSpPr>
            <a:stCxn id="1045" idx="3"/>
            <a:endCxn id="1041" idx="7"/>
          </p:cNvCxnSpPr>
          <p:nvPr/>
        </p:nvCxnSpPr>
        <p:spPr>
          <a:xfrm flipH="1">
            <a:off x="4546877" y="303024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4" name="Google Shape;1054;p70"/>
          <p:cNvSpPr txBox="1"/>
          <p:nvPr/>
        </p:nvSpPr>
        <p:spPr>
          <a:xfrm>
            <a:off x="2746675" y="32317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⋂</a:t>
            </a:r>
            <a:endParaRPr b="1" sz="2700"/>
          </a:p>
        </p:txBody>
      </p:sp>
      <p:sp>
        <p:nvSpPr>
          <p:cNvPr id="1055" name="Google Shape;1055;p70"/>
          <p:cNvSpPr/>
          <p:nvPr/>
        </p:nvSpPr>
        <p:spPr>
          <a:xfrm>
            <a:off x="311693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56" name="Google Shape;1056;p70"/>
          <p:cNvSpPr txBox="1"/>
          <p:nvPr/>
        </p:nvSpPr>
        <p:spPr>
          <a:xfrm>
            <a:off x="126420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057" name="Google Shape;1057;p70"/>
          <p:cNvSpPr txBox="1"/>
          <p:nvPr/>
        </p:nvSpPr>
        <p:spPr>
          <a:xfrm>
            <a:off x="425885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058" name="Google Shape;1058;p70"/>
          <p:cNvSpPr txBox="1"/>
          <p:nvPr/>
        </p:nvSpPr>
        <p:spPr>
          <a:xfrm>
            <a:off x="5851088" y="323177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3700"/>
          </a:p>
        </p:txBody>
      </p:sp>
      <p:sp>
        <p:nvSpPr>
          <p:cNvPr id="1059" name="Google Shape;1059;p70"/>
          <p:cNvSpPr/>
          <p:nvPr/>
        </p:nvSpPr>
        <p:spPr>
          <a:xfrm>
            <a:off x="7474630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0" name="Google Shape;1060;p70"/>
          <p:cNvSpPr/>
          <p:nvPr/>
        </p:nvSpPr>
        <p:spPr>
          <a:xfrm>
            <a:off x="6403397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1" name="Google Shape;1061;p70"/>
          <p:cNvSpPr/>
          <p:nvPr/>
        </p:nvSpPr>
        <p:spPr>
          <a:xfrm>
            <a:off x="8613118" y="325266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2" name="Google Shape;1062;p70"/>
          <p:cNvSpPr/>
          <p:nvPr/>
        </p:nvSpPr>
        <p:spPr>
          <a:xfrm>
            <a:off x="7997715" y="43283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3" name="Google Shape;1063;p70"/>
          <p:cNvSpPr/>
          <p:nvPr/>
        </p:nvSpPr>
        <p:spPr>
          <a:xfrm>
            <a:off x="8043865" y="22838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64" name="Google Shape;1064;p70"/>
          <p:cNvSpPr/>
          <p:nvPr/>
        </p:nvSpPr>
        <p:spPr>
          <a:xfrm>
            <a:off x="7077430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1070" name="Google Shape;1070;p71"/>
          <p:cNvSpPr txBox="1"/>
          <p:nvPr>
            <p:ph idx="1" type="body"/>
          </p:nvPr>
        </p:nvSpPr>
        <p:spPr>
          <a:xfrm>
            <a:off x="311700" y="1225225"/>
            <a:ext cx="87180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intersection of two graphs is just the intersection of the vertex and edge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E(G</a:t>
            </a:r>
            <a:r>
              <a:rPr baseline="-25000" lang="en"/>
              <a:t>1</a:t>
            </a:r>
            <a:r>
              <a:rPr lang="en"/>
              <a:t>) ⋂ E(G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 ⋂ {V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71"/>
          <p:cNvSpPr/>
          <p:nvPr/>
        </p:nvSpPr>
        <p:spPr>
          <a:xfrm>
            <a:off x="31168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2" name="Google Shape;1072;p71"/>
          <p:cNvCxnSpPr>
            <a:stCxn id="1071" idx="6"/>
            <a:endCxn id="1073" idx="2"/>
          </p:cNvCxnSpPr>
          <p:nvPr/>
        </p:nvCxnSpPr>
        <p:spPr>
          <a:xfrm>
            <a:off x="636288" y="346367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3" name="Google Shape;1073;p71"/>
          <p:cNvSpPr/>
          <p:nvPr/>
        </p:nvSpPr>
        <p:spPr>
          <a:xfrm>
            <a:off x="1378080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74" name="Google Shape;1074;p71"/>
          <p:cNvSpPr/>
          <p:nvPr/>
        </p:nvSpPr>
        <p:spPr>
          <a:xfrm>
            <a:off x="1378059" y="2306713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5" name="Google Shape;1075;p71"/>
          <p:cNvCxnSpPr>
            <a:stCxn id="1074" idx="4"/>
            <a:endCxn id="1073" idx="0"/>
          </p:cNvCxnSpPr>
          <p:nvPr/>
        </p:nvCxnSpPr>
        <p:spPr>
          <a:xfrm>
            <a:off x="1540359" y="2621713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6" name="Google Shape;1076;p71"/>
          <p:cNvSpPr/>
          <p:nvPr/>
        </p:nvSpPr>
        <p:spPr>
          <a:xfrm>
            <a:off x="1378059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7" name="Google Shape;1077;p71"/>
          <p:cNvCxnSpPr>
            <a:stCxn id="1071" idx="5"/>
            <a:endCxn id="1076" idx="1"/>
          </p:cNvCxnSpPr>
          <p:nvPr/>
        </p:nvCxnSpPr>
        <p:spPr>
          <a:xfrm>
            <a:off x="588751" y="3575045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71"/>
          <p:cNvSpPr/>
          <p:nvPr/>
        </p:nvSpPr>
        <p:spPr>
          <a:xfrm>
            <a:off x="234201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79" name="Google Shape;1079;p71"/>
          <p:cNvCxnSpPr>
            <a:stCxn id="1078" idx="2"/>
            <a:endCxn id="1073" idx="6"/>
          </p:cNvCxnSpPr>
          <p:nvPr/>
        </p:nvCxnSpPr>
        <p:spPr>
          <a:xfrm rot="10800000">
            <a:off x="1702718" y="34636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0" name="Google Shape;1080;p71"/>
          <p:cNvSpPr/>
          <p:nvPr/>
        </p:nvSpPr>
        <p:spPr>
          <a:xfrm>
            <a:off x="2342015" y="43956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1" name="Google Shape;1081;p71"/>
          <p:cNvCxnSpPr>
            <a:stCxn id="1080" idx="0"/>
            <a:endCxn id="1078" idx="4"/>
          </p:cNvCxnSpPr>
          <p:nvPr/>
        </p:nvCxnSpPr>
        <p:spPr>
          <a:xfrm rot="10800000">
            <a:off x="2504315" y="36210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2" name="Google Shape;1082;p71"/>
          <p:cNvSpPr/>
          <p:nvPr/>
        </p:nvSpPr>
        <p:spPr>
          <a:xfrm>
            <a:off x="2342015" y="23067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3" name="Google Shape;1083;p71"/>
          <p:cNvCxnSpPr>
            <a:stCxn id="1073" idx="4"/>
            <a:endCxn id="1076" idx="0"/>
          </p:cNvCxnSpPr>
          <p:nvPr/>
        </p:nvCxnSpPr>
        <p:spPr>
          <a:xfrm>
            <a:off x="1540380" y="36211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4" name="Google Shape;1084;p71"/>
          <p:cNvSpPr/>
          <p:nvPr/>
        </p:nvSpPr>
        <p:spPr>
          <a:xfrm>
            <a:off x="3306005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85" name="Google Shape;1085;p71"/>
          <p:cNvSpPr/>
          <p:nvPr/>
        </p:nvSpPr>
        <p:spPr>
          <a:xfrm>
            <a:off x="4269943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86" name="Google Shape;1086;p71"/>
          <p:cNvSpPr/>
          <p:nvPr/>
        </p:nvSpPr>
        <p:spPr>
          <a:xfrm>
            <a:off x="3305984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87" name="Google Shape;1087;p71"/>
          <p:cNvSpPr/>
          <p:nvPr/>
        </p:nvSpPr>
        <p:spPr>
          <a:xfrm>
            <a:off x="4269943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88" name="Google Shape;1088;p71"/>
          <p:cNvCxnSpPr>
            <a:stCxn id="1087" idx="2"/>
            <a:endCxn id="1084" idx="6"/>
          </p:cNvCxnSpPr>
          <p:nvPr/>
        </p:nvCxnSpPr>
        <p:spPr>
          <a:xfrm rot="10800000">
            <a:off x="3630643" y="29188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9" name="Google Shape;1089;p71"/>
          <p:cNvSpPr/>
          <p:nvPr/>
        </p:nvSpPr>
        <p:spPr>
          <a:xfrm>
            <a:off x="5398740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90" name="Google Shape;1090;p71"/>
          <p:cNvCxnSpPr>
            <a:stCxn id="1089" idx="2"/>
            <a:endCxn id="1087" idx="6"/>
          </p:cNvCxnSpPr>
          <p:nvPr/>
        </p:nvCxnSpPr>
        <p:spPr>
          <a:xfrm rot="10800000">
            <a:off x="4594440" y="2918876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1" name="Google Shape;1091;p71"/>
          <p:cNvSpPr/>
          <p:nvPr/>
        </p:nvSpPr>
        <p:spPr>
          <a:xfrm>
            <a:off x="5398740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092" name="Google Shape;1092;p71"/>
          <p:cNvCxnSpPr>
            <a:stCxn id="1091" idx="0"/>
            <a:endCxn id="1089" idx="4"/>
          </p:cNvCxnSpPr>
          <p:nvPr/>
        </p:nvCxnSpPr>
        <p:spPr>
          <a:xfrm rot="10800000">
            <a:off x="5561040" y="3076284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71"/>
          <p:cNvCxnSpPr>
            <a:stCxn id="1084" idx="4"/>
            <a:endCxn id="1086" idx="0"/>
          </p:cNvCxnSpPr>
          <p:nvPr/>
        </p:nvCxnSpPr>
        <p:spPr>
          <a:xfrm>
            <a:off x="3468305" y="30763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71"/>
          <p:cNvCxnSpPr>
            <a:stCxn id="1078" idx="0"/>
            <a:endCxn id="1082" idx="4"/>
          </p:cNvCxnSpPr>
          <p:nvPr/>
        </p:nvCxnSpPr>
        <p:spPr>
          <a:xfrm rot="10800000">
            <a:off x="2504318" y="2621876"/>
            <a:ext cx="0" cy="684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71"/>
          <p:cNvCxnSpPr>
            <a:stCxn id="1087" idx="4"/>
            <a:endCxn id="1086" idx="7"/>
          </p:cNvCxnSpPr>
          <p:nvPr/>
        </p:nvCxnSpPr>
        <p:spPr>
          <a:xfrm flipH="1">
            <a:off x="3582943" y="3076376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71"/>
          <p:cNvCxnSpPr>
            <a:stCxn id="1091" idx="1"/>
            <a:endCxn id="1087" idx="5"/>
          </p:cNvCxnSpPr>
          <p:nvPr/>
        </p:nvCxnSpPr>
        <p:spPr>
          <a:xfrm rot="10800000">
            <a:off x="4546877" y="303031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71"/>
          <p:cNvCxnSpPr>
            <a:stCxn id="1089" idx="3"/>
            <a:endCxn id="1085" idx="7"/>
          </p:cNvCxnSpPr>
          <p:nvPr/>
        </p:nvCxnSpPr>
        <p:spPr>
          <a:xfrm flipH="1">
            <a:off x="4546877" y="303024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71"/>
          <p:cNvSpPr txBox="1"/>
          <p:nvPr/>
        </p:nvSpPr>
        <p:spPr>
          <a:xfrm>
            <a:off x="2746675" y="32317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⋂</a:t>
            </a:r>
            <a:endParaRPr b="1" sz="2700"/>
          </a:p>
        </p:txBody>
      </p:sp>
      <p:sp>
        <p:nvSpPr>
          <p:cNvPr id="1099" name="Google Shape;1099;p71"/>
          <p:cNvSpPr/>
          <p:nvPr/>
        </p:nvSpPr>
        <p:spPr>
          <a:xfrm>
            <a:off x="311693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0" name="Google Shape;1100;p71"/>
          <p:cNvSpPr txBox="1"/>
          <p:nvPr/>
        </p:nvSpPr>
        <p:spPr>
          <a:xfrm>
            <a:off x="126420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01" name="Google Shape;1101;p71"/>
          <p:cNvSpPr txBox="1"/>
          <p:nvPr/>
        </p:nvSpPr>
        <p:spPr>
          <a:xfrm>
            <a:off x="425885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02" name="Google Shape;1102;p71"/>
          <p:cNvSpPr txBox="1"/>
          <p:nvPr/>
        </p:nvSpPr>
        <p:spPr>
          <a:xfrm>
            <a:off x="5851088" y="323177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3700"/>
          </a:p>
        </p:txBody>
      </p:sp>
      <p:sp>
        <p:nvSpPr>
          <p:cNvPr id="1103" name="Google Shape;1103;p71"/>
          <p:cNvSpPr/>
          <p:nvPr/>
        </p:nvSpPr>
        <p:spPr>
          <a:xfrm>
            <a:off x="7474630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4" name="Google Shape;1104;p71"/>
          <p:cNvSpPr/>
          <p:nvPr/>
        </p:nvSpPr>
        <p:spPr>
          <a:xfrm>
            <a:off x="6403397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5" name="Google Shape;1105;p71"/>
          <p:cNvSpPr/>
          <p:nvPr/>
        </p:nvSpPr>
        <p:spPr>
          <a:xfrm>
            <a:off x="8613118" y="325266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6" name="Google Shape;1106;p71"/>
          <p:cNvSpPr/>
          <p:nvPr/>
        </p:nvSpPr>
        <p:spPr>
          <a:xfrm>
            <a:off x="7997715" y="43283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7" name="Google Shape;1107;p71"/>
          <p:cNvSpPr/>
          <p:nvPr/>
        </p:nvSpPr>
        <p:spPr>
          <a:xfrm>
            <a:off x="8043865" y="22838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08" name="Google Shape;1108;p71"/>
          <p:cNvSpPr/>
          <p:nvPr/>
        </p:nvSpPr>
        <p:spPr>
          <a:xfrm>
            <a:off x="7077430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Operations on Graphs</a:t>
            </a:r>
            <a:endParaRPr/>
          </a:p>
        </p:txBody>
      </p:sp>
      <p:sp>
        <p:nvSpPr>
          <p:cNvPr id="1114" name="Google Shape;1114;p72"/>
          <p:cNvSpPr txBox="1"/>
          <p:nvPr>
            <p:ph idx="1" type="body"/>
          </p:nvPr>
        </p:nvSpPr>
        <p:spPr>
          <a:xfrm>
            <a:off x="311700" y="1225225"/>
            <a:ext cx="8718000" cy="11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intersection of two graphs is just the intersection of the vertex and edge sets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E(G</a:t>
            </a:r>
            <a:r>
              <a:rPr baseline="-25000" lang="en"/>
              <a:t>1</a:t>
            </a:r>
            <a:r>
              <a:rPr lang="en"/>
              <a:t>) ⋂ E(G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72"/>
          <p:cNvSpPr/>
          <p:nvPr/>
        </p:nvSpPr>
        <p:spPr>
          <a:xfrm>
            <a:off x="31168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16" name="Google Shape;1116;p72"/>
          <p:cNvCxnSpPr>
            <a:stCxn id="1115" idx="6"/>
            <a:endCxn id="1117" idx="2"/>
          </p:cNvCxnSpPr>
          <p:nvPr/>
        </p:nvCxnSpPr>
        <p:spPr>
          <a:xfrm>
            <a:off x="636288" y="3463676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72"/>
          <p:cNvSpPr/>
          <p:nvPr/>
        </p:nvSpPr>
        <p:spPr>
          <a:xfrm>
            <a:off x="1378080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18" name="Google Shape;1118;p72"/>
          <p:cNvSpPr/>
          <p:nvPr/>
        </p:nvSpPr>
        <p:spPr>
          <a:xfrm>
            <a:off x="1378059" y="2306713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19" name="Google Shape;1119;p72"/>
          <p:cNvCxnSpPr>
            <a:stCxn id="1118" idx="4"/>
            <a:endCxn id="1117" idx="0"/>
          </p:cNvCxnSpPr>
          <p:nvPr/>
        </p:nvCxnSpPr>
        <p:spPr>
          <a:xfrm>
            <a:off x="1540359" y="2621713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0" name="Google Shape;1120;p72"/>
          <p:cNvSpPr/>
          <p:nvPr/>
        </p:nvSpPr>
        <p:spPr>
          <a:xfrm>
            <a:off x="1378059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1" name="Google Shape;1121;p72"/>
          <p:cNvCxnSpPr>
            <a:stCxn id="1115" idx="5"/>
            <a:endCxn id="1120" idx="1"/>
          </p:cNvCxnSpPr>
          <p:nvPr/>
        </p:nvCxnSpPr>
        <p:spPr>
          <a:xfrm>
            <a:off x="588751" y="3575045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2" name="Google Shape;1122;p72"/>
          <p:cNvSpPr/>
          <p:nvPr/>
        </p:nvSpPr>
        <p:spPr>
          <a:xfrm>
            <a:off x="2342018" y="33061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3" name="Google Shape;1123;p72"/>
          <p:cNvCxnSpPr>
            <a:stCxn id="1122" idx="2"/>
            <a:endCxn id="1117" idx="6"/>
          </p:cNvCxnSpPr>
          <p:nvPr/>
        </p:nvCxnSpPr>
        <p:spPr>
          <a:xfrm rot="10800000">
            <a:off x="1702718" y="34636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72"/>
          <p:cNvSpPr/>
          <p:nvPr/>
        </p:nvSpPr>
        <p:spPr>
          <a:xfrm>
            <a:off x="2342015" y="43956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5" name="Google Shape;1125;p72"/>
          <p:cNvCxnSpPr>
            <a:stCxn id="1124" idx="0"/>
            <a:endCxn id="1122" idx="4"/>
          </p:cNvCxnSpPr>
          <p:nvPr/>
        </p:nvCxnSpPr>
        <p:spPr>
          <a:xfrm rot="10800000">
            <a:off x="2504315" y="36210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6" name="Google Shape;1126;p72"/>
          <p:cNvSpPr/>
          <p:nvPr/>
        </p:nvSpPr>
        <p:spPr>
          <a:xfrm>
            <a:off x="2342015" y="23067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27" name="Google Shape;1127;p72"/>
          <p:cNvCxnSpPr>
            <a:stCxn id="1117" idx="4"/>
            <a:endCxn id="1120" idx="0"/>
          </p:cNvCxnSpPr>
          <p:nvPr/>
        </p:nvCxnSpPr>
        <p:spPr>
          <a:xfrm>
            <a:off x="1540380" y="36211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" name="Google Shape;1128;p72"/>
          <p:cNvSpPr/>
          <p:nvPr/>
        </p:nvSpPr>
        <p:spPr>
          <a:xfrm>
            <a:off x="3306005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29" name="Google Shape;1129;p72"/>
          <p:cNvSpPr/>
          <p:nvPr/>
        </p:nvSpPr>
        <p:spPr>
          <a:xfrm>
            <a:off x="4269943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0" name="Google Shape;1130;p72"/>
          <p:cNvSpPr/>
          <p:nvPr/>
        </p:nvSpPr>
        <p:spPr>
          <a:xfrm>
            <a:off x="3305984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31" name="Google Shape;1131;p72"/>
          <p:cNvSpPr/>
          <p:nvPr/>
        </p:nvSpPr>
        <p:spPr>
          <a:xfrm>
            <a:off x="4269943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2" name="Google Shape;1132;p72"/>
          <p:cNvCxnSpPr>
            <a:stCxn id="1131" idx="2"/>
            <a:endCxn id="1128" idx="6"/>
          </p:cNvCxnSpPr>
          <p:nvPr/>
        </p:nvCxnSpPr>
        <p:spPr>
          <a:xfrm rot="10800000">
            <a:off x="3630643" y="2918876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72"/>
          <p:cNvSpPr/>
          <p:nvPr/>
        </p:nvSpPr>
        <p:spPr>
          <a:xfrm>
            <a:off x="5398740" y="276137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4" name="Google Shape;1134;p72"/>
          <p:cNvCxnSpPr>
            <a:stCxn id="1133" idx="2"/>
            <a:endCxn id="1131" idx="6"/>
          </p:cNvCxnSpPr>
          <p:nvPr/>
        </p:nvCxnSpPr>
        <p:spPr>
          <a:xfrm rot="10800000">
            <a:off x="4594440" y="2918876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5" name="Google Shape;1135;p72"/>
          <p:cNvSpPr/>
          <p:nvPr/>
        </p:nvSpPr>
        <p:spPr>
          <a:xfrm>
            <a:off x="5398740" y="38508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36" name="Google Shape;1136;p72"/>
          <p:cNvCxnSpPr>
            <a:stCxn id="1135" idx="0"/>
            <a:endCxn id="1133" idx="4"/>
          </p:cNvCxnSpPr>
          <p:nvPr/>
        </p:nvCxnSpPr>
        <p:spPr>
          <a:xfrm rot="10800000">
            <a:off x="5561040" y="3076284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72"/>
          <p:cNvCxnSpPr>
            <a:stCxn id="1128" idx="4"/>
            <a:endCxn id="1130" idx="0"/>
          </p:cNvCxnSpPr>
          <p:nvPr/>
        </p:nvCxnSpPr>
        <p:spPr>
          <a:xfrm>
            <a:off x="3468305" y="3076376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72"/>
          <p:cNvCxnSpPr>
            <a:stCxn id="1122" idx="0"/>
            <a:endCxn id="1126" idx="4"/>
          </p:cNvCxnSpPr>
          <p:nvPr/>
        </p:nvCxnSpPr>
        <p:spPr>
          <a:xfrm rot="10800000">
            <a:off x="2504318" y="2621876"/>
            <a:ext cx="0" cy="684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72"/>
          <p:cNvCxnSpPr>
            <a:stCxn id="1131" idx="4"/>
            <a:endCxn id="1130" idx="7"/>
          </p:cNvCxnSpPr>
          <p:nvPr/>
        </p:nvCxnSpPr>
        <p:spPr>
          <a:xfrm flipH="1">
            <a:off x="3582943" y="3076376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" name="Google Shape;1140;p72"/>
          <p:cNvCxnSpPr>
            <a:stCxn id="1135" idx="1"/>
            <a:endCxn id="1131" idx="5"/>
          </p:cNvCxnSpPr>
          <p:nvPr/>
        </p:nvCxnSpPr>
        <p:spPr>
          <a:xfrm rot="10800000">
            <a:off x="4546877" y="303031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1" name="Google Shape;1141;p72"/>
          <p:cNvCxnSpPr>
            <a:stCxn id="1133" idx="3"/>
            <a:endCxn id="1129" idx="7"/>
          </p:cNvCxnSpPr>
          <p:nvPr/>
        </p:nvCxnSpPr>
        <p:spPr>
          <a:xfrm flipH="1">
            <a:off x="4546877" y="3030245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2" name="Google Shape;1142;p72"/>
          <p:cNvSpPr txBox="1"/>
          <p:nvPr/>
        </p:nvSpPr>
        <p:spPr>
          <a:xfrm>
            <a:off x="2746675" y="32317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⋂</a:t>
            </a:r>
            <a:endParaRPr b="1" sz="2700"/>
          </a:p>
        </p:txBody>
      </p:sp>
      <p:sp>
        <p:nvSpPr>
          <p:cNvPr id="1143" name="Google Shape;1143;p72"/>
          <p:cNvSpPr/>
          <p:nvPr/>
        </p:nvSpPr>
        <p:spPr>
          <a:xfrm>
            <a:off x="311693" y="439568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4" name="Google Shape;1144;p72"/>
          <p:cNvSpPr txBox="1"/>
          <p:nvPr/>
        </p:nvSpPr>
        <p:spPr>
          <a:xfrm>
            <a:off x="126420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45" name="Google Shape;1145;p72"/>
          <p:cNvSpPr txBox="1"/>
          <p:nvPr/>
        </p:nvSpPr>
        <p:spPr>
          <a:xfrm>
            <a:off x="4258850" y="461602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</a:t>
            </a:r>
            <a:r>
              <a:rPr baseline="-25000" lang="en" sz="17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</a:t>
            </a:r>
            <a:endParaRPr baseline="-25000"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46" name="Google Shape;1146;p72"/>
          <p:cNvSpPr txBox="1"/>
          <p:nvPr/>
        </p:nvSpPr>
        <p:spPr>
          <a:xfrm>
            <a:off x="5851088" y="3231775"/>
            <a:ext cx="552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 sz="3700"/>
          </a:p>
        </p:txBody>
      </p:sp>
      <p:sp>
        <p:nvSpPr>
          <p:cNvPr id="1147" name="Google Shape;1147;p72"/>
          <p:cNvSpPr/>
          <p:nvPr/>
        </p:nvSpPr>
        <p:spPr>
          <a:xfrm>
            <a:off x="7474630" y="32388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8" name="Google Shape;1148;p72"/>
          <p:cNvSpPr/>
          <p:nvPr/>
        </p:nvSpPr>
        <p:spPr>
          <a:xfrm>
            <a:off x="6403397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8613118" y="325266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0" name="Google Shape;1150;p72"/>
          <p:cNvSpPr/>
          <p:nvPr/>
        </p:nvSpPr>
        <p:spPr>
          <a:xfrm>
            <a:off x="7997715" y="4328326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1" name="Google Shape;1151;p72"/>
          <p:cNvSpPr/>
          <p:nvPr/>
        </p:nvSpPr>
        <p:spPr>
          <a:xfrm>
            <a:off x="8043865" y="22838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52" name="Google Shape;1152;p72"/>
          <p:cNvSpPr/>
          <p:nvPr/>
        </p:nvSpPr>
        <p:spPr>
          <a:xfrm>
            <a:off x="7077430" y="4328334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53" name="Google Shape;1153;p72"/>
          <p:cNvCxnSpPr>
            <a:stCxn id="1149" idx="2"/>
            <a:endCxn id="1147" idx="6"/>
          </p:cNvCxnSpPr>
          <p:nvPr/>
        </p:nvCxnSpPr>
        <p:spPr>
          <a:xfrm rot="10800000">
            <a:off x="7799218" y="3396364"/>
            <a:ext cx="813900" cy="13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72"/>
          <p:cNvCxnSpPr>
            <a:stCxn id="1148" idx="0"/>
            <a:endCxn id="1147" idx="3"/>
          </p:cNvCxnSpPr>
          <p:nvPr/>
        </p:nvCxnSpPr>
        <p:spPr>
          <a:xfrm flipH="1" rot="10800000">
            <a:off x="6565697" y="3507834"/>
            <a:ext cx="9564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72"/>
          <p:cNvCxnSpPr>
            <a:stCxn id="1150" idx="7"/>
            <a:endCxn id="1149" idx="3"/>
          </p:cNvCxnSpPr>
          <p:nvPr/>
        </p:nvCxnSpPr>
        <p:spPr>
          <a:xfrm flipH="1" rot="10800000">
            <a:off x="8274779" y="3521557"/>
            <a:ext cx="385800" cy="852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72"/>
          <p:cNvCxnSpPr>
            <a:stCxn id="1149" idx="1"/>
            <a:endCxn id="1151" idx="5"/>
          </p:cNvCxnSpPr>
          <p:nvPr/>
        </p:nvCxnSpPr>
        <p:spPr>
          <a:xfrm rot="10800000">
            <a:off x="8321054" y="2552694"/>
            <a:ext cx="339600" cy="746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7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167" name="Google Shape;1167;p74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68" name="Google Shape;1168;p7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69" name="Google Shape;1169;p74"/>
          <p:cNvCxnSpPr>
            <a:stCxn id="1168" idx="6"/>
            <a:endCxn id="117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0" name="Google Shape;1170;p7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71" name="Google Shape;1171;p7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72" name="Google Shape;1172;p7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73" name="Google Shape;1173;p74"/>
          <p:cNvCxnSpPr>
            <a:stCxn id="1172" idx="4"/>
            <a:endCxn id="117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7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75" name="Google Shape;1175;p74"/>
          <p:cNvCxnSpPr>
            <a:stCxn id="1168" idx="5"/>
            <a:endCxn id="117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6" name="Google Shape;1176;p7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77" name="Google Shape;1177;p74"/>
          <p:cNvCxnSpPr>
            <a:stCxn id="1176" idx="2"/>
            <a:endCxn id="117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8" name="Google Shape;1178;p7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79" name="Google Shape;1179;p74"/>
          <p:cNvCxnSpPr>
            <a:stCxn id="1178" idx="2"/>
            <a:endCxn id="117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0" name="Google Shape;1180;p7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81" name="Google Shape;1181;p74"/>
          <p:cNvCxnSpPr>
            <a:stCxn id="1180" idx="0"/>
            <a:endCxn id="117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74"/>
          <p:cNvCxnSpPr>
            <a:stCxn id="1170" idx="4"/>
            <a:endCxn id="117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188" name="Google Shape;1188;p75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89" name="Google Shape;1189;p7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0" name="Google Shape;1190;p75"/>
          <p:cNvCxnSpPr>
            <a:stCxn id="1189" idx="6"/>
            <a:endCxn id="119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1" name="Google Shape;1191;p7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2" name="Google Shape;1192;p7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193" name="Google Shape;1193;p7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4" name="Google Shape;1194;p75"/>
          <p:cNvCxnSpPr>
            <a:stCxn id="1193" idx="4"/>
            <a:endCxn id="119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5" name="Google Shape;1195;p7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6" name="Google Shape;1196;p75"/>
          <p:cNvCxnSpPr>
            <a:stCxn id="1189" idx="5"/>
            <a:endCxn id="119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7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198" name="Google Shape;1198;p75"/>
          <p:cNvCxnSpPr>
            <a:stCxn id="1197" idx="2"/>
            <a:endCxn id="119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7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00" name="Google Shape;1200;p75"/>
          <p:cNvCxnSpPr>
            <a:stCxn id="1199" idx="2"/>
            <a:endCxn id="119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7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02" name="Google Shape;1202;p75"/>
          <p:cNvCxnSpPr>
            <a:stCxn id="1201" idx="0"/>
            <a:endCxn id="119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75"/>
          <p:cNvCxnSpPr>
            <a:stCxn id="1191" idx="4"/>
            <a:endCxn id="119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75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the neighbors of vertex 3!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205" name="Google Shape;1205;p75"/>
          <p:cNvCxnSpPr>
            <a:stCxn id="1204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211" name="Google Shape;1211;p76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lonely vertex v</a:t>
            </a:r>
            <a:r>
              <a:rPr baseline="-25000" lang="en"/>
              <a:t>6</a:t>
            </a:r>
            <a:r>
              <a:rPr lang="en"/>
              <a:t> has a 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just happens to be the empty set!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N(v</a:t>
            </a:r>
            <a:r>
              <a:rPr baseline="-25000" lang="en"/>
              <a:t>6</a:t>
            </a:r>
            <a:r>
              <a:rPr lang="en"/>
              <a:t>) = {∅}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12" name="Google Shape;1212;p7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13" name="Google Shape;1213;p76"/>
          <p:cNvCxnSpPr>
            <a:stCxn id="1212" idx="6"/>
            <a:endCxn id="121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4" name="Google Shape;1214;p7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5" name="Google Shape;1215;p7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16" name="Google Shape;1216;p7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17" name="Google Shape;1217;p76"/>
          <p:cNvCxnSpPr>
            <a:stCxn id="1216" idx="4"/>
            <a:endCxn id="121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8" name="Google Shape;1218;p7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19" name="Google Shape;1219;p76"/>
          <p:cNvCxnSpPr>
            <a:stCxn id="1212" idx="5"/>
            <a:endCxn id="121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0" name="Google Shape;1220;p7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1" name="Google Shape;1221;p76"/>
          <p:cNvCxnSpPr>
            <a:stCxn id="1220" idx="2"/>
            <a:endCxn id="121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7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3" name="Google Shape;1223;p76"/>
          <p:cNvCxnSpPr>
            <a:stCxn id="1222" idx="2"/>
            <a:endCxn id="122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4" name="Google Shape;1224;p7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25" name="Google Shape;1225;p76"/>
          <p:cNvCxnSpPr>
            <a:stCxn id="1224" idx="0"/>
            <a:endCxn id="122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76"/>
          <p:cNvCxnSpPr>
            <a:stCxn id="1214" idx="4"/>
            <a:endCxn id="121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7" name="Google Shape;1227;p76"/>
          <p:cNvSpPr txBox="1"/>
          <p:nvPr/>
        </p:nvSpPr>
        <p:spPr>
          <a:xfrm>
            <a:off x="7312625" y="4212450"/>
            <a:ext cx="235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233" name="Google Shape;1233;p77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lonely vertex v</a:t>
            </a:r>
            <a:r>
              <a:rPr baseline="-25000" lang="en"/>
              <a:t>6</a:t>
            </a:r>
            <a:r>
              <a:rPr lang="en"/>
              <a:t> has a 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just happens to be the empty set!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N(v</a:t>
            </a:r>
            <a:r>
              <a:rPr baseline="-25000" lang="en"/>
              <a:t>6</a:t>
            </a:r>
            <a:r>
              <a:rPr lang="en"/>
              <a:t>) = {∅}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34" name="Google Shape;1234;p7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5" name="Google Shape;1235;p77"/>
          <p:cNvCxnSpPr>
            <a:stCxn id="1234" idx="6"/>
            <a:endCxn id="123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7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37" name="Google Shape;1237;p7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38" name="Google Shape;1238;p7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39" name="Google Shape;1239;p77"/>
          <p:cNvCxnSpPr>
            <a:stCxn id="1238" idx="4"/>
            <a:endCxn id="123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0" name="Google Shape;1240;p7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1" name="Google Shape;1241;p77"/>
          <p:cNvCxnSpPr>
            <a:stCxn id="1234" idx="5"/>
            <a:endCxn id="124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2" name="Google Shape;1242;p7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3" name="Google Shape;1243;p77"/>
          <p:cNvCxnSpPr>
            <a:stCxn id="1242" idx="2"/>
            <a:endCxn id="123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4" name="Google Shape;1244;p7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5" name="Google Shape;1245;p77"/>
          <p:cNvCxnSpPr>
            <a:stCxn id="1244" idx="2"/>
            <a:endCxn id="124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7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47" name="Google Shape;1247;p77"/>
          <p:cNvCxnSpPr>
            <a:stCxn id="1246" idx="0"/>
            <a:endCxn id="124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77"/>
          <p:cNvCxnSpPr>
            <a:stCxn id="1236" idx="4"/>
            <a:endCxn id="124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9" name="Google Shape;1249;p77"/>
          <p:cNvSpPr txBox="1"/>
          <p:nvPr/>
        </p:nvSpPr>
        <p:spPr>
          <a:xfrm>
            <a:off x="7312625" y="4212450"/>
            <a:ext cx="235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0" name="Google Shape;1250;p77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mathematical symbol for the empty set (not the number zero)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251" name="Google Shape;1251;p77"/>
          <p:cNvCxnSpPr>
            <a:stCxn id="1250" idx="1"/>
          </p:cNvCxnSpPr>
          <p:nvPr/>
        </p:nvCxnSpPr>
        <p:spPr>
          <a:xfrm rot="10800000">
            <a:off x="2515851" y="3798335"/>
            <a:ext cx="378600" cy="9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257" name="Google Shape;1257;p78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58" name="Google Shape;1258;p7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59" name="Google Shape;1259;p78"/>
          <p:cNvCxnSpPr>
            <a:stCxn id="1258" idx="6"/>
            <a:endCxn id="126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0" name="Google Shape;1260;p7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61" name="Google Shape;1261;p7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62" name="Google Shape;1262;p7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63" name="Google Shape;1263;p78"/>
          <p:cNvCxnSpPr>
            <a:stCxn id="1262" idx="4"/>
            <a:endCxn id="126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7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65" name="Google Shape;1265;p78"/>
          <p:cNvCxnSpPr>
            <a:stCxn id="1258" idx="5"/>
            <a:endCxn id="126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7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67" name="Google Shape;1267;p78"/>
          <p:cNvCxnSpPr>
            <a:stCxn id="1266" idx="2"/>
            <a:endCxn id="126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8" name="Google Shape;1268;p7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69" name="Google Shape;1269;p78"/>
          <p:cNvCxnSpPr>
            <a:stCxn id="1268" idx="2"/>
            <a:endCxn id="126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0" name="Google Shape;1270;p7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71" name="Google Shape;1271;p78"/>
          <p:cNvCxnSpPr>
            <a:stCxn id="1260" idx="4"/>
            <a:endCxn id="126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277" name="Google Shape;1277;p7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that means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⋂ 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78" name="Google Shape;1278;p7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79" name="Google Shape;1279;p79"/>
          <p:cNvCxnSpPr>
            <a:stCxn id="1278" idx="6"/>
            <a:endCxn id="128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7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1" name="Google Shape;1281;p7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282" name="Google Shape;1282;p7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3" name="Google Shape;1283;p79"/>
          <p:cNvCxnSpPr>
            <a:stCxn id="1282" idx="4"/>
            <a:endCxn id="128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4" name="Google Shape;1284;p7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5" name="Google Shape;1285;p79"/>
          <p:cNvCxnSpPr>
            <a:stCxn id="1278" idx="5"/>
            <a:endCxn id="128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6" name="Google Shape;1286;p7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7" name="Google Shape;1287;p79"/>
          <p:cNvCxnSpPr>
            <a:stCxn id="1286" idx="2"/>
            <a:endCxn id="128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7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89" name="Google Shape;1289;p79"/>
          <p:cNvCxnSpPr>
            <a:stCxn id="1288" idx="2"/>
            <a:endCxn id="128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p7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91" name="Google Shape;1291;p79"/>
          <p:cNvCxnSpPr>
            <a:stCxn id="1280" idx="4"/>
            <a:endCxn id="128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297" name="Google Shape;1297;p80"/>
          <p:cNvSpPr txBox="1"/>
          <p:nvPr>
            <p:ph idx="1" type="body"/>
          </p:nvPr>
        </p:nvSpPr>
        <p:spPr>
          <a:xfrm>
            <a:off x="311700" y="1225225"/>
            <a:ext cx="4553100" cy="35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neighborhoods of two nodes can intersect: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that means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⋂ 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 is a </a:t>
            </a:r>
            <a:r>
              <a:rPr b="1" lang="en"/>
              <a:t>common neighbor </a:t>
            </a:r>
            <a:r>
              <a:rPr lang="en"/>
              <a:t>of v</a:t>
            </a:r>
            <a:r>
              <a:rPr baseline="-25000" lang="en"/>
              <a:t>2 </a:t>
            </a:r>
            <a:r>
              <a:rPr lang="en"/>
              <a:t>&amp; v</a:t>
            </a:r>
            <a:r>
              <a:rPr baseline="-25000" lang="en"/>
              <a:t>3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98" name="Google Shape;1298;p8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299" name="Google Shape;1299;p80"/>
          <p:cNvCxnSpPr>
            <a:stCxn id="1298" idx="6"/>
            <a:endCxn id="130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p8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1" name="Google Shape;1301;p8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02" name="Google Shape;1302;p8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3" name="Google Shape;1303;p80"/>
          <p:cNvCxnSpPr>
            <a:stCxn id="1302" idx="4"/>
            <a:endCxn id="130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p8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5" name="Google Shape;1305;p80"/>
          <p:cNvCxnSpPr>
            <a:stCxn id="1298" idx="5"/>
            <a:endCxn id="130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p8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7" name="Google Shape;1307;p80"/>
          <p:cNvCxnSpPr>
            <a:stCxn id="1306" idx="2"/>
            <a:endCxn id="130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8" name="Google Shape;1308;p8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09" name="Google Shape;1309;p80"/>
          <p:cNvCxnSpPr>
            <a:stCxn id="1308" idx="2"/>
            <a:endCxn id="130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0" name="Google Shape;1310;p8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11" name="Google Shape;1311;p80"/>
          <p:cNvCxnSpPr>
            <a:stCxn id="1300" idx="4"/>
            <a:endCxn id="130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317" name="Google Shape;1317;p81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have common neighbors even if they are not adjacent: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18" name="Google Shape;1318;p8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19" name="Google Shape;1319;p81"/>
          <p:cNvCxnSpPr>
            <a:stCxn id="1318" idx="6"/>
            <a:endCxn id="132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8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21" name="Google Shape;1321;p8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22" name="Google Shape;1322;p8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3" name="Google Shape;1323;p81"/>
          <p:cNvCxnSpPr>
            <a:stCxn id="1322" idx="4"/>
            <a:endCxn id="132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8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5" name="Google Shape;1325;p81"/>
          <p:cNvCxnSpPr>
            <a:stCxn id="1318" idx="5"/>
            <a:endCxn id="132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6" name="Google Shape;1326;p8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7" name="Google Shape;1327;p81"/>
          <p:cNvCxnSpPr>
            <a:stCxn id="1326" idx="2"/>
            <a:endCxn id="132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8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29" name="Google Shape;1329;p81"/>
          <p:cNvCxnSpPr>
            <a:stCxn id="1328" idx="2"/>
            <a:endCxn id="132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0" name="Google Shape;1330;p8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31" name="Google Shape;1331;p81"/>
          <p:cNvCxnSpPr>
            <a:stCxn id="1320" idx="4"/>
            <a:endCxn id="132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337" name="Google Shape;1337;p82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have common neighbors even if they are not adjacent: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</a:t>
            </a: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7</a:t>
            </a:r>
            <a:r>
              <a:rPr lang="en"/>
              <a:t>) = </a:t>
            </a:r>
            <a:r>
              <a:rPr lang="en"/>
              <a:t>{v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⋂ N(7) = {v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38" name="Google Shape;1338;p8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39" name="Google Shape;1339;p82"/>
          <p:cNvCxnSpPr>
            <a:stCxn id="1338" idx="6"/>
            <a:endCxn id="134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0" name="Google Shape;1340;p8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1" name="Google Shape;1341;p8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42" name="Google Shape;1342;p8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3" name="Google Shape;1343;p82"/>
          <p:cNvCxnSpPr>
            <a:stCxn id="1342" idx="4"/>
            <a:endCxn id="134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4" name="Google Shape;1344;p8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5" name="Google Shape;1345;p82"/>
          <p:cNvCxnSpPr>
            <a:stCxn id="1338" idx="5"/>
            <a:endCxn id="134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p8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7" name="Google Shape;1347;p82"/>
          <p:cNvCxnSpPr>
            <a:stCxn id="1346" idx="2"/>
            <a:endCxn id="134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8" name="Google Shape;1348;p8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49" name="Google Shape;1349;p82"/>
          <p:cNvCxnSpPr>
            <a:stCxn id="1348" idx="2"/>
            <a:endCxn id="134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0" name="Google Shape;1350;p8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51" name="Google Shape;1351;p82"/>
          <p:cNvCxnSpPr>
            <a:stCxn id="1340" idx="4"/>
            <a:endCxn id="134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82"/>
          <p:cNvSpPr/>
          <p:nvPr/>
        </p:nvSpPr>
        <p:spPr>
          <a:xfrm>
            <a:off x="1690275" y="3985500"/>
            <a:ext cx="3416100" cy="997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mathematical symbol for set intersection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353" name="Google Shape;1353;p82"/>
          <p:cNvCxnSpPr>
            <a:stCxn id="1352" idx="1"/>
          </p:cNvCxnSpPr>
          <p:nvPr/>
        </p:nvCxnSpPr>
        <p:spPr>
          <a:xfrm rot="10800000">
            <a:off x="1811951" y="4032024"/>
            <a:ext cx="378600" cy="99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359" name="Google Shape;1359;p83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can have common neighbors even if they are not adjacent: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= 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7</a:t>
            </a:r>
            <a:r>
              <a:rPr lang="en"/>
              <a:t>) = {v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3</a:t>
            </a:r>
            <a:r>
              <a:rPr lang="en"/>
              <a:t>) ⋂ N(7) = {v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 is a </a:t>
            </a:r>
            <a:r>
              <a:rPr b="1" lang="en"/>
              <a:t>common neighbor</a:t>
            </a:r>
            <a:r>
              <a:rPr lang="en"/>
              <a:t> of v</a:t>
            </a:r>
            <a:r>
              <a:rPr baseline="-25000" lang="en"/>
              <a:t>3</a:t>
            </a:r>
            <a:r>
              <a:rPr lang="en"/>
              <a:t> &amp; v</a:t>
            </a:r>
            <a:r>
              <a:rPr baseline="-25000" lang="en"/>
              <a:t>7</a:t>
            </a:r>
            <a:endParaRPr baseline="-25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60" name="Google Shape;1360;p8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1" name="Google Shape;1361;p83"/>
          <p:cNvCxnSpPr>
            <a:stCxn id="1360" idx="6"/>
            <a:endCxn id="136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2" name="Google Shape;1362;p8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63" name="Google Shape;1363;p8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64" name="Google Shape;1364;p8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5" name="Google Shape;1365;p83"/>
          <p:cNvCxnSpPr>
            <a:stCxn id="1364" idx="4"/>
            <a:endCxn id="136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8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7" name="Google Shape;1367;p83"/>
          <p:cNvCxnSpPr>
            <a:stCxn id="1360" idx="5"/>
            <a:endCxn id="136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8" name="Google Shape;1368;p8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69" name="Google Shape;1369;p83"/>
          <p:cNvCxnSpPr>
            <a:stCxn id="1368" idx="2"/>
            <a:endCxn id="136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0" name="Google Shape;1370;p8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71" name="Google Shape;1371;p83"/>
          <p:cNvCxnSpPr>
            <a:stCxn id="1370" idx="2"/>
            <a:endCxn id="136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2" name="Google Shape;1372;p8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73" name="Google Shape;1373;p83"/>
          <p:cNvCxnSpPr>
            <a:stCxn id="1362" idx="4"/>
            <a:endCxn id="136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379" name="Google Shape;1379;p84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</a:t>
            </a:r>
            <a:r>
              <a:rPr b="1" lang="en"/>
              <a:t>neighborhood union</a:t>
            </a:r>
            <a:r>
              <a:rPr lang="en"/>
              <a:t> works the same way!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80" name="Google Shape;1380;p8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1" name="Google Shape;1381;p84"/>
          <p:cNvCxnSpPr>
            <a:stCxn id="1380" idx="6"/>
            <a:endCxn id="138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8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83" name="Google Shape;1383;p8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384" name="Google Shape;1384;p8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5" name="Google Shape;1385;p84"/>
          <p:cNvCxnSpPr>
            <a:stCxn id="1384" idx="4"/>
            <a:endCxn id="138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6" name="Google Shape;1386;p8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7" name="Google Shape;1387;p84"/>
          <p:cNvCxnSpPr>
            <a:stCxn id="1380" idx="5"/>
            <a:endCxn id="138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8" name="Google Shape;1388;p8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89" name="Google Shape;1389;p84"/>
          <p:cNvCxnSpPr>
            <a:stCxn id="1388" idx="2"/>
            <a:endCxn id="138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8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91" name="Google Shape;1391;p84"/>
          <p:cNvCxnSpPr>
            <a:stCxn id="1390" idx="2"/>
            <a:endCxn id="138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8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393" name="Google Shape;1393;p84"/>
          <p:cNvCxnSpPr>
            <a:stCxn id="1382" idx="4"/>
            <a:endCxn id="138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Neighborhoods</a:t>
            </a:r>
            <a:endParaRPr/>
          </a:p>
        </p:txBody>
      </p:sp>
      <p:sp>
        <p:nvSpPr>
          <p:cNvPr id="1399" name="Google Shape;1399;p85"/>
          <p:cNvSpPr txBox="1"/>
          <p:nvPr>
            <p:ph idx="1" type="body"/>
          </p:nvPr>
        </p:nvSpPr>
        <p:spPr>
          <a:xfrm>
            <a:off x="311700" y="1225225"/>
            <a:ext cx="45720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graph, each vertex has a </a:t>
            </a:r>
            <a:r>
              <a:rPr b="1" lang="en"/>
              <a:t>neighborhood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neighborhood N(v) of each vertex is the </a:t>
            </a:r>
            <a:r>
              <a:rPr b="1" lang="en"/>
              <a:t>set</a:t>
            </a:r>
            <a:r>
              <a:rPr lang="en"/>
              <a:t> of all other vertices that are </a:t>
            </a:r>
            <a:r>
              <a:rPr b="1" lang="en"/>
              <a:t>adjacent to it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of the members of this set is called a node’s </a:t>
            </a:r>
            <a:r>
              <a:rPr b="1" lang="en"/>
              <a:t>neighbor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</a:t>
            </a:r>
            <a:r>
              <a:rPr b="1" lang="en"/>
              <a:t>neighborhood union</a:t>
            </a:r>
            <a:r>
              <a:rPr lang="en"/>
              <a:t> works the same way!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4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N(v</a:t>
            </a:r>
            <a:r>
              <a:rPr baseline="-25000" lang="en"/>
              <a:t>2</a:t>
            </a:r>
            <a:r>
              <a:rPr lang="en"/>
              <a:t>) ⋃ N(v</a:t>
            </a:r>
            <a:r>
              <a:rPr baseline="-25000" lang="en"/>
              <a:t>4</a:t>
            </a:r>
            <a:r>
              <a:rPr lang="en"/>
              <a:t>) = {v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00" name="Google Shape;1400;p8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1" name="Google Shape;1401;p85"/>
          <p:cNvCxnSpPr>
            <a:stCxn id="1400" idx="6"/>
            <a:endCxn id="140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2" name="Google Shape;1402;p8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3" name="Google Shape;1403;p8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04" name="Google Shape;1404;p8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5" name="Google Shape;1405;p85"/>
          <p:cNvCxnSpPr>
            <a:stCxn id="1404" idx="4"/>
            <a:endCxn id="140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6" name="Google Shape;1406;p8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7" name="Google Shape;1407;p85"/>
          <p:cNvCxnSpPr>
            <a:stCxn id="1400" idx="5"/>
            <a:endCxn id="140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8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09" name="Google Shape;1409;p85"/>
          <p:cNvCxnSpPr>
            <a:stCxn id="1408" idx="2"/>
            <a:endCxn id="140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0" name="Google Shape;1410;p8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11" name="Google Shape;1411;p85"/>
          <p:cNvCxnSpPr>
            <a:stCxn id="1410" idx="2"/>
            <a:endCxn id="140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2" name="Google Shape;1412;p8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13" name="Google Shape;1413;p85"/>
          <p:cNvCxnSpPr>
            <a:stCxn id="1402" idx="4"/>
            <a:endCxn id="140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1419" name="Google Shape;1419;p86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</a:t>
            </a:r>
            <a:r>
              <a:rPr lang="en"/>
              <a:t>|N(v)|</a:t>
            </a:r>
            <a:r>
              <a:rPr lang="en"/>
              <a:t>, where v is the name of the node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20" name="Google Shape;1420;p8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1" name="Google Shape;1421;p86"/>
          <p:cNvCxnSpPr>
            <a:stCxn id="1420" idx="6"/>
            <a:endCxn id="142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2" name="Google Shape;1422;p8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3" name="Google Shape;1423;p8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24" name="Google Shape;1424;p8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5" name="Google Shape;1425;p86"/>
          <p:cNvCxnSpPr>
            <a:stCxn id="1424" idx="4"/>
            <a:endCxn id="142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8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7" name="Google Shape;1427;p86"/>
          <p:cNvCxnSpPr>
            <a:stCxn id="1420" idx="5"/>
            <a:endCxn id="142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8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29" name="Google Shape;1429;p86"/>
          <p:cNvCxnSpPr>
            <a:stCxn id="1428" idx="2"/>
            <a:endCxn id="142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8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1" name="Google Shape;1431;p86"/>
          <p:cNvCxnSpPr>
            <a:stCxn id="1430" idx="2"/>
            <a:endCxn id="142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8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33" name="Google Shape;1433;p86"/>
          <p:cNvCxnSpPr>
            <a:stCxn id="1422" idx="4"/>
            <a:endCxn id="142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1439" name="Google Shape;1439;p87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</a:t>
            </a:r>
            <a:r>
              <a:rPr lang="en"/>
              <a:t>|N(v)|</a:t>
            </a:r>
            <a:r>
              <a:rPr lang="en"/>
              <a:t>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2</a:t>
            </a:r>
            <a:r>
              <a:rPr lang="en"/>
              <a:t>)| =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40" name="Google Shape;1440;p8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1" name="Google Shape;1441;p87"/>
          <p:cNvCxnSpPr>
            <a:stCxn id="1440" idx="6"/>
            <a:endCxn id="144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2" name="Google Shape;1442;p8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43" name="Google Shape;1443;p8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44" name="Google Shape;1444;p8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5" name="Google Shape;1445;p87"/>
          <p:cNvCxnSpPr>
            <a:stCxn id="1444" idx="4"/>
            <a:endCxn id="144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6" name="Google Shape;1446;p8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7" name="Google Shape;1447;p87"/>
          <p:cNvCxnSpPr>
            <a:stCxn id="1440" idx="5"/>
            <a:endCxn id="144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8" name="Google Shape;1448;p8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49" name="Google Shape;1449;p87"/>
          <p:cNvCxnSpPr>
            <a:stCxn id="1448" idx="2"/>
            <a:endCxn id="144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0" name="Google Shape;1450;p8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1" name="Google Shape;1451;p87"/>
          <p:cNvCxnSpPr>
            <a:stCxn id="1450" idx="2"/>
            <a:endCxn id="144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2" name="Google Shape;1452;p8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53" name="Google Shape;1453;p87"/>
          <p:cNvCxnSpPr>
            <a:stCxn id="1442" idx="4"/>
            <a:endCxn id="144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1459" name="Google Shape;1459;p88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</a:t>
            </a:r>
            <a:r>
              <a:rPr lang="en"/>
              <a:t>|N(v)|</a:t>
            </a:r>
            <a:r>
              <a:rPr lang="en"/>
              <a:t>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2</a:t>
            </a:r>
            <a:r>
              <a:rPr lang="en"/>
              <a:t>)|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3</a:t>
            </a:r>
            <a:r>
              <a:rPr lang="en"/>
              <a:t>)| = 4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60" name="Google Shape;1460;p8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61" name="Google Shape;1461;p88"/>
          <p:cNvCxnSpPr>
            <a:stCxn id="1460" idx="6"/>
            <a:endCxn id="146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2" name="Google Shape;1462;p8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63" name="Google Shape;1463;p8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64" name="Google Shape;1464;p8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65" name="Google Shape;1465;p88"/>
          <p:cNvCxnSpPr>
            <a:stCxn id="1464" idx="4"/>
            <a:endCxn id="146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6" name="Google Shape;1466;p8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67" name="Google Shape;1467;p88"/>
          <p:cNvCxnSpPr>
            <a:stCxn id="1460" idx="5"/>
            <a:endCxn id="146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8" name="Google Shape;1468;p8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69" name="Google Shape;1469;p88"/>
          <p:cNvCxnSpPr>
            <a:stCxn id="1468" idx="2"/>
            <a:endCxn id="146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0" name="Google Shape;1470;p8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1" name="Google Shape;1471;p88"/>
          <p:cNvCxnSpPr>
            <a:stCxn id="1470" idx="2"/>
            <a:endCxn id="146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2" name="Google Shape;1472;p8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73" name="Google Shape;1473;p88"/>
          <p:cNvCxnSpPr>
            <a:stCxn id="1462" idx="4"/>
            <a:endCxn id="146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1479" name="Google Shape;1479;p89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</a:t>
            </a:r>
            <a:r>
              <a:rPr lang="en"/>
              <a:t>|N(v)|</a:t>
            </a:r>
            <a:r>
              <a:rPr lang="en"/>
              <a:t>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2</a:t>
            </a:r>
            <a:r>
              <a:rPr lang="en"/>
              <a:t>)|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3</a:t>
            </a:r>
            <a:r>
              <a:rPr lang="en"/>
              <a:t>)| =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4</a:t>
            </a:r>
            <a:r>
              <a:rPr lang="en"/>
              <a:t>)| =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80" name="Google Shape;1480;p8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81" name="Google Shape;1481;p89"/>
          <p:cNvCxnSpPr>
            <a:stCxn id="1480" idx="6"/>
            <a:endCxn id="148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2" name="Google Shape;1482;p8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83" name="Google Shape;1483;p8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484" name="Google Shape;1484;p8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85" name="Google Shape;1485;p89"/>
          <p:cNvCxnSpPr>
            <a:stCxn id="1484" idx="4"/>
            <a:endCxn id="148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6" name="Google Shape;1486;p8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87" name="Google Shape;1487;p89"/>
          <p:cNvCxnSpPr>
            <a:stCxn id="1480" idx="5"/>
            <a:endCxn id="148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8" name="Google Shape;1488;p8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89" name="Google Shape;1489;p89"/>
          <p:cNvCxnSpPr>
            <a:stCxn id="1488" idx="2"/>
            <a:endCxn id="148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0" name="Google Shape;1490;p8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91" name="Google Shape;1491;p89"/>
          <p:cNvCxnSpPr>
            <a:stCxn id="1490" idx="2"/>
            <a:endCxn id="148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2" name="Google Shape;1492;p8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493" name="Google Shape;1493;p89"/>
          <p:cNvCxnSpPr>
            <a:stCxn id="1482" idx="4"/>
            <a:endCxn id="148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</a:t>
            </a:r>
            <a:endParaRPr/>
          </a:p>
        </p:txBody>
      </p:sp>
      <p:sp>
        <p:nvSpPr>
          <p:cNvPr id="1499" name="Google Shape;1499;p90"/>
          <p:cNvSpPr txBox="1"/>
          <p:nvPr>
            <p:ph idx="1" type="body"/>
          </p:nvPr>
        </p:nvSpPr>
        <p:spPr>
          <a:xfrm>
            <a:off x="311700" y="1225225"/>
            <a:ext cx="45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node’s </a:t>
            </a:r>
            <a:r>
              <a:rPr b="1" lang="en"/>
              <a:t>degree </a:t>
            </a:r>
            <a:r>
              <a:rPr lang="en"/>
              <a:t>is the </a:t>
            </a:r>
            <a:r>
              <a:rPr b="1" lang="en"/>
              <a:t>cardinality </a:t>
            </a:r>
            <a:r>
              <a:rPr lang="en"/>
              <a:t>of the set of neighbors of a given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a set is the number of members of that set!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written |N(v)|, where v is the name of the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2</a:t>
            </a:r>
            <a:r>
              <a:rPr lang="en"/>
              <a:t>)|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3</a:t>
            </a:r>
            <a:r>
              <a:rPr lang="en"/>
              <a:t>)| =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4</a:t>
            </a:r>
            <a:r>
              <a:rPr lang="en"/>
              <a:t>)| =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|N(v</a:t>
            </a:r>
            <a:r>
              <a:rPr baseline="-25000" lang="en"/>
              <a:t>6</a:t>
            </a:r>
            <a:r>
              <a:rPr lang="en"/>
              <a:t>)| = 0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500" name="Google Shape;1500;p9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01" name="Google Shape;1501;p90"/>
          <p:cNvCxnSpPr>
            <a:stCxn id="1500" idx="6"/>
            <a:endCxn id="150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9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3" name="Google Shape;1503;p9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04" name="Google Shape;1504;p9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05" name="Google Shape;1505;p90"/>
          <p:cNvCxnSpPr>
            <a:stCxn id="1504" idx="4"/>
            <a:endCxn id="150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6" name="Google Shape;1506;p9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07" name="Google Shape;1507;p90"/>
          <p:cNvCxnSpPr>
            <a:stCxn id="1500" idx="5"/>
            <a:endCxn id="150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8" name="Google Shape;1508;p9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09" name="Google Shape;1509;p90"/>
          <p:cNvCxnSpPr>
            <a:stCxn id="1508" idx="2"/>
            <a:endCxn id="150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0" name="Google Shape;1510;p9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11" name="Google Shape;1511;p90"/>
          <p:cNvCxnSpPr>
            <a:stCxn id="1510" idx="2"/>
            <a:endCxn id="150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9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13" name="Google Shape;1513;p90"/>
          <p:cNvCxnSpPr>
            <a:stCxn id="1502" idx="4"/>
            <a:endCxn id="150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9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Metrics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524" name="Google Shape;1524;p9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9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26" name="Google Shape;1526;p92"/>
          <p:cNvCxnSpPr>
            <a:stCxn id="1525" idx="6"/>
            <a:endCxn id="152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7" name="Google Shape;1527;p9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28" name="Google Shape;1528;p9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29" name="Google Shape;1529;p9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30" name="Google Shape;1530;p92"/>
          <p:cNvCxnSpPr>
            <a:stCxn id="1529" idx="4"/>
            <a:endCxn id="152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1" name="Google Shape;1531;p9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32" name="Google Shape;1532;p92"/>
          <p:cNvCxnSpPr>
            <a:stCxn id="1525" idx="5"/>
            <a:endCxn id="153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3" name="Google Shape;1533;p9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34" name="Google Shape;1534;p92"/>
          <p:cNvCxnSpPr>
            <a:stCxn id="1533" idx="2"/>
            <a:endCxn id="152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5" name="Google Shape;1535;p9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36" name="Google Shape;1536;p92"/>
          <p:cNvCxnSpPr>
            <a:stCxn id="1535" idx="2"/>
            <a:endCxn id="153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7" name="Google Shape;1537;p9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38" name="Google Shape;1538;p92"/>
          <p:cNvCxnSpPr>
            <a:stCxn id="1537" idx="0"/>
            <a:endCxn id="153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9" name="Google Shape;1539;p92"/>
          <p:cNvCxnSpPr>
            <a:stCxn id="1527" idx="4"/>
            <a:endCxn id="153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545" name="Google Shape;1545;p9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9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47" name="Google Shape;1547;p93"/>
          <p:cNvCxnSpPr>
            <a:stCxn id="1546" idx="6"/>
            <a:endCxn id="154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8" name="Google Shape;1548;p9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49" name="Google Shape;1549;p9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50" name="Google Shape;1550;p9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1" name="Google Shape;1551;p93"/>
          <p:cNvCxnSpPr>
            <a:stCxn id="1550" idx="4"/>
            <a:endCxn id="154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2" name="Google Shape;1552;p9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3" name="Google Shape;1553;p93"/>
          <p:cNvCxnSpPr>
            <a:stCxn id="1546" idx="5"/>
            <a:endCxn id="155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4" name="Google Shape;1554;p9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5" name="Google Shape;1555;p93"/>
          <p:cNvCxnSpPr>
            <a:stCxn id="1554" idx="2"/>
            <a:endCxn id="154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9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7" name="Google Shape;1557;p93"/>
          <p:cNvCxnSpPr>
            <a:stCxn id="1556" idx="2"/>
            <a:endCxn id="155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8" name="Google Shape;1558;p9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59" name="Google Shape;1559;p93"/>
          <p:cNvCxnSpPr>
            <a:stCxn id="1558" idx="0"/>
            <a:endCxn id="155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93"/>
          <p:cNvCxnSpPr>
            <a:stCxn id="1548" idx="4"/>
            <a:endCxn id="155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566" name="Google Shape;1566;p9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9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68" name="Google Shape;1568;p94"/>
          <p:cNvCxnSpPr>
            <a:stCxn id="1567" idx="6"/>
            <a:endCxn id="156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9" name="Google Shape;1569;p9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70" name="Google Shape;1570;p9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71" name="Google Shape;1571;p9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2" name="Google Shape;1572;p94"/>
          <p:cNvCxnSpPr>
            <a:stCxn id="1571" idx="4"/>
            <a:endCxn id="156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9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4" name="Google Shape;1574;p94"/>
          <p:cNvCxnSpPr>
            <a:stCxn id="1567" idx="5"/>
            <a:endCxn id="157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5" name="Google Shape;1575;p9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6" name="Google Shape;1576;p94"/>
          <p:cNvCxnSpPr>
            <a:stCxn id="1575" idx="2"/>
            <a:endCxn id="156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7" name="Google Shape;1577;p9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78" name="Google Shape;1578;p94"/>
          <p:cNvCxnSpPr>
            <a:stCxn id="1577" idx="2"/>
            <a:endCxn id="157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9" name="Google Shape;1579;p9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80" name="Google Shape;1580;p94"/>
          <p:cNvCxnSpPr>
            <a:stCxn id="1579" idx="0"/>
            <a:endCxn id="157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94"/>
          <p:cNvCxnSpPr>
            <a:stCxn id="1569" idx="4"/>
            <a:endCxn id="157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587" name="Google Shape;1587;p9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edge set (m)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9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89" name="Google Shape;1589;p95"/>
          <p:cNvCxnSpPr>
            <a:stCxn id="1588" idx="6"/>
            <a:endCxn id="1590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9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1" name="Google Shape;1591;p9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592" name="Google Shape;1592;p9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93" name="Google Shape;1593;p95"/>
          <p:cNvCxnSpPr>
            <a:stCxn id="1592" idx="4"/>
            <a:endCxn id="1590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4" name="Google Shape;1594;p9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95" name="Google Shape;1595;p95"/>
          <p:cNvCxnSpPr>
            <a:stCxn id="1588" idx="5"/>
            <a:endCxn id="1594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6" name="Google Shape;1596;p9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97" name="Google Shape;1597;p95"/>
          <p:cNvCxnSpPr>
            <a:stCxn id="1596" idx="2"/>
            <a:endCxn id="1590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8" name="Google Shape;1598;p9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599" name="Google Shape;1599;p95"/>
          <p:cNvCxnSpPr>
            <a:stCxn id="1598" idx="2"/>
            <a:endCxn id="1596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9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01" name="Google Shape;1601;p95"/>
          <p:cNvCxnSpPr>
            <a:stCxn id="1600" idx="0"/>
            <a:endCxn id="159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95"/>
          <p:cNvCxnSpPr>
            <a:stCxn id="1590" idx="4"/>
            <a:endCxn id="1594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Order and Size</a:t>
            </a:r>
            <a:endParaRPr/>
          </a:p>
        </p:txBody>
      </p:sp>
      <p:sp>
        <p:nvSpPr>
          <p:cNvPr id="1608" name="Google Shape;1608;p9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order</a:t>
            </a:r>
            <a:r>
              <a:rPr lang="en"/>
              <a:t> of a graph is the </a:t>
            </a:r>
            <a:r>
              <a:rPr b="1" lang="en"/>
              <a:t>cardinality</a:t>
            </a:r>
            <a:r>
              <a:rPr lang="en"/>
              <a:t> of the vertex set (n)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number of vertices: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|V| = n =  8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b="1" lang="en">
                <a:solidFill>
                  <a:srgbClr val="000000"/>
                </a:solidFill>
              </a:rPr>
              <a:t>size</a:t>
            </a:r>
            <a:r>
              <a:rPr lang="en">
                <a:solidFill>
                  <a:srgbClr val="000000"/>
                </a:solidFill>
              </a:rPr>
              <a:t> of a graph is the </a:t>
            </a:r>
            <a:r>
              <a:rPr b="1" lang="en">
                <a:solidFill>
                  <a:srgbClr val="000000"/>
                </a:solidFill>
              </a:rPr>
              <a:t>cardinality</a:t>
            </a:r>
            <a:r>
              <a:rPr lang="en">
                <a:solidFill>
                  <a:srgbClr val="000000"/>
                </a:solidFill>
              </a:rPr>
              <a:t> of the edge set (m) </a:t>
            </a:r>
            <a:endParaRPr>
              <a:solidFill>
                <a:srgbClr val="000000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This is the number of edges:</a:t>
            </a:r>
            <a:endParaRPr>
              <a:solidFill>
                <a:srgbClr val="000000"/>
              </a:solidFill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|E| = m = 7</a:t>
            </a:r>
            <a:endParaRPr>
              <a:solidFill>
                <a:srgbClr val="000000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9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0" name="Google Shape;1610;p96"/>
          <p:cNvCxnSpPr>
            <a:stCxn id="1609" idx="6"/>
            <a:endCxn id="161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9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12" name="Google Shape;1612;p9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13" name="Google Shape;1613;p9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4" name="Google Shape;1614;p96"/>
          <p:cNvCxnSpPr>
            <a:stCxn id="1613" idx="4"/>
            <a:endCxn id="161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5" name="Google Shape;1615;p9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6" name="Google Shape;1616;p96"/>
          <p:cNvCxnSpPr>
            <a:stCxn id="1609" idx="5"/>
            <a:endCxn id="161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7" name="Google Shape;1617;p9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18" name="Google Shape;1618;p96"/>
          <p:cNvCxnSpPr>
            <a:stCxn id="1617" idx="2"/>
            <a:endCxn id="161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9" name="Google Shape;1619;p9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20" name="Google Shape;1620;p96"/>
          <p:cNvCxnSpPr>
            <a:stCxn id="1619" idx="2"/>
            <a:endCxn id="161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1" name="Google Shape;1621;p9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22" name="Google Shape;1622;p96"/>
          <p:cNvCxnSpPr>
            <a:stCxn id="1621" idx="0"/>
            <a:endCxn id="161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3" name="Google Shape;1623;p96"/>
          <p:cNvCxnSpPr>
            <a:stCxn id="1611" idx="4"/>
            <a:endCxn id="161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629" name="Google Shape;1629;p9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9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31" name="Google Shape;1631;p97"/>
          <p:cNvCxnSpPr>
            <a:stCxn id="1630" idx="6"/>
            <a:endCxn id="163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2" name="Google Shape;1632;p9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33" name="Google Shape;1633;p9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34" name="Google Shape;1634;p9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35" name="Google Shape;1635;p97"/>
          <p:cNvCxnSpPr>
            <a:stCxn id="1634" idx="4"/>
            <a:endCxn id="163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6" name="Google Shape;1636;p9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37" name="Google Shape;1637;p97"/>
          <p:cNvCxnSpPr>
            <a:stCxn id="1630" idx="5"/>
            <a:endCxn id="163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8" name="Google Shape;1638;p9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39" name="Google Shape;1639;p97"/>
          <p:cNvCxnSpPr>
            <a:stCxn id="1638" idx="2"/>
            <a:endCxn id="163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0" name="Google Shape;1640;p9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41" name="Google Shape;1641;p97"/>
          <p:cNvCxnSpPr>
            <a:stCxn id="1640" idx="2"/>
            <a:endCxn id="163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2" name="Google Shape;1642;p9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43" name="Google Shape;1643;p97"/>
          <p:cNvCxnSpPr>
            <a:stCxn id="1642" idx="0"/>
            <a:endCxn id="164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4" name="Google Shape;1644;p97"/>
          <p:cNvCxnSpPr>
            <a:stCxn id="1632" idx="4"/>
            <a:endCxn id="163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45" name="Google Shape;1645;p97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9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652" name="Google Shape;1652;p9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3" name="Google Shape;1653;p98"/>
          <p:cNvCxnSpPr>
            <a:stCxn id="1652" idx="6"/>
            <a:endCxn id="165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4" name="Google Shape;1654;p9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5" name="Google Shape;1655;p9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56" name="Google Shape;1656;p9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7" name="Google Shape;1657;p98"/>
          <p:cNvCxnSpPr>
            <a:stCxn id="1656" idx="4"/>
            <a:endCxn id="165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8" name="Google Shape;1658;p9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59" name="Google Shape;1659;p98"/>
          <p:cNvCxnSpPr>
            <a:stCxn id="1652" idx="5"/>
            <a:endCxn id="165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0" name="Google Shape;1660;p9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61" name="Google Shape;1661;p98"/>
          <p:cNvCxnSpPr>
            <a:stCxn id="1660" idx="2"/>
            <a:endCxn id="165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2" name="Google Shape;1662;p9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63" name="Google Shape;1663;p98"/>
          <p:cNvCxnSpPr>
            <a:stCxn id="1662" idx="2"/>
            <a:endCxn id="166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4" name="Google Shape;1664;p9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65" name="Google Shape;1665;p98"/>
          <p:cNvCxnSpPr>
            <a:stCxn id="1664" idx="0"/>
            <a:endCxn id="166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6" name="Google Shape;1666;p98"/>
          <p:cNvCxnSpPr>
            <a:stCxn id="1654" idx="4"/>
            <a:endCxn id="165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67" name="Google Shape;1667;p98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673" name="Google Shape;1673;p9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sequence</a:t>
            </a:r>
            <a:r>
              <a:rPr lang="en"/>
              <a:t> is an </a:t>
            </a:r>
            <a:r>
              <a:rPr i="1" lang="en"/>
              <a:t>ordered</a:t>
            </a:r>
            <a:r>
              <a:rPr lang="en"/>
              <a:t> version of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9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75" name="Google Shape;1675;p99"/>
          <p:cNvCxnSpPr>
            <a:stCxn id="1674" idx="6"/>
            <a:endCxn id="167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6" name="Google Shape;1676;p9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77" name="Google Shape;1677;p9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78" name="Google Shape;1678;p9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79" name="Google Shape;1679;p99"/>
          <p:cNvCxnSpPr>
            <a:stCxn id="1678" idx="4"/>
            <a:endCxn id="167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0" name="Google Shape;1680;p9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81" name="Google Shape;1681;p99"/>
          <p:cNvCxnSpPr>
            <a:stCxn id="1674" idx="5"/>
            <a:endCxn id="168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2" name="Google Shape;1682;p9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83" name="Google Shape;1683;p99"/>
          <p:cNvCxnSpPr>
            <a:stCxn id="1682" idx="2"/>
            <a:endCxn id="167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4" name="Google Shape;1684;p9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85" name="Google Shape;1685;p99"/>
          <p:cNvCxnSpPr>
            <a:stCxn id="1684" idx="2"/>
            <a:endCxn id="168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6" name="Google Shape;1686;p9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87" name="Google Shape;1687;p99"/>
          <p:cNvCxnSpPr>
            <a:stCxn id="1686" idx="0"/>
            <a:endCxn id="168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8" name="Google Shape;1688;p99"/>
          <p:cNvCxnSpPr>
            <a:stCxn id="1676" idx="4"/>
            <a:endCxn id="168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89" name="Google Shape;1689;p99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Set and Degree Sequence</a:t>
            </a:r>
            <a:endParaRPr/>
          </a:p>
        </p:txBody>
      </p:sp>
      <p:sp>
        <p:nvSpPr>
          <p:cNvPr id="1695" name="Google Shape;1695;p10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set</a:t>
            </a:r>
            <a:r>
              <a:rPr lang="en"/>
              <a:t> (</a:t>
            </a:r>
            <a:r>
              <a:rPr b="1" lang="en"/>
              <a:t>k</a:t>
            </a:r>
            <a:r>
              <a:rPr lang="en"/>
              <a:t>) is a </a:t>
            </a:r>
            <a:r>
              <a:rPr i="1" lang="en"/>
              <a:t>vector</a:t>
            </a:r>
            <a:r>
              <a:rPr lang="en"/>
              <a:t> containing the degree of each node in the graph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sequence</a:t>
            </a:r>
            <a:r>
              <a:rPr lang="en"/>
              <a:t> is an </a:t>
            </a:r>
            <a:r>
              <a:rPr i="1" lang="en"/>
              <a:t>ordered</a:t>
            </a:r>
            <a:r>
              <a:rPr lang="en"/>
              <a:t> version of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0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697" name="Google Shape;1697;p100"/>
          <p:cNvCxnSpPr>
            <a:stCxn id="1696" idx="6"/>
            <a:endCxn id="169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8" name="Google Shape;1698;p10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99" name="Google Shape;1699;p10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00" name="Google Shape;1700;p10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1" name="Google Shape;1701;p100"/>
          <p:cNvCxnSpPr>
            <a:stCxn id="1700" idx="4"/>
            <a:endCxn id="169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2" name="Google Shape;1702;p10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3" name="Google Shape;1703;p100"/>
          <p:cNvCxnSpPr>
            <a:stCxn id="1696" idx="5"/>
            <a:endCxn id="170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4" name="Google Shape;1704;p10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5" name="Google Shape;1705;p100"/>
          <p:cNvCxnSpPr>
            <a:stCxn id="1704" idx="2"/>
            <a:endCxn id="169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6" name="Google Shape;1706;p10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7" name="Google Shape;1707;p100"/>
          <p:cNvCxnSpPr>
            <a:stCxn id="1706" idx="2"/>
            <a:endCxn id="170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8" name="Google Shape;1708;p10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09" name="Google Shape;1709;p100"/>
          <p:cNvCxnSpPr>
            <a:stCxn id="1708" idx="0"/>
            <a:endCxn id="170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0" name="Google Shape;1710;p100"/>
          <p:cNvCxnSpPr>
            <a:stCxn id="1698" idx="4"/>
            <a:endCxn id="170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11" name="Google Shape;1711;p100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12" name="Google Shape;1712;p100"/>
          <p:cNvGraphicFramePr/>
          <p:nvPr/>
        </p:nvGraphicFramePr>
        <p:xfrm>
          <a:off x="801050" y="418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10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719" name="Google Shape;1719;p10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20" name="Google Shape;1720;p101"/>
          <p:cNvCxnSpPr>
            <a:stCxn id="1719" idx="6"/>
            <a:endCxn id="172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1" name="Google Shape;1721;p10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2" name="Google Shape;1722;p10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23" name="Google Shape;1723;p10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24" name="Google Shape;1724;p101"/>
          <p:cNvCxnSpPr>
            <a:stCxn id="1723" idx="4"/>
            <a:endCxn id="172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5" name="Google Shape;1725;p10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26" name="Google Shape;1726;p101"/>
          <p:cNvCxnSpPr>
            <a:stCxn id="1719" idx="5"/>
            <a:endCxn id="172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7" name="Google Shape;1727;p10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28" name="Google Shape;1728;p101"/>
          <p:cNvCxnSpPr>
            <a:stCxn id="1727" idx="2"/>
            <a:endCxn id="172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9" name="Google Shape;1729;p10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30" name="Google Shape;1730;p101"/>
          <p:cNvCxnSpPr>
            <a:stCxn id="1729" idx="2"/>
            <a:endCxn id="172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1" name="Google Shape;1731;p10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32" name="Google Shape;1732;p101"/>
          <p:cNvCxnSpPr>
            <a:stCxn id="1731" idx="0"/>
            <a:endCxn id="172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3" name="Google Shape;1733;p101"/>
          <p:cNvCxnSpPr>
            <a:stCxn id="1721" idx="4"/>
            <a:endCxn id="172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34" name="Google Shape;1734;p101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0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741" name="Google Shape;1741;p10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2" name="Google Shape;1742;p102"/>
          <p:cNvCxnSpPr>
            <a:stCxn id="1741" idx="6"/>
            <a:endCxn id="174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3" name="Google Shape;1743;p10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44" name="Google Shape;1744;p10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45" name="Google Shape;1745;p10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6" name="Google Shape;1746;p102"/>
          <p:cNvCxnSpPr>
            <a:stCxn id="1745" idx="4"/>
            <a:endCxn id="174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7" name="Google Shape;1747;p10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8" name="Google Shape;1748;p102"/>
          <p:cNvCxnSpPr>
            <a:stCxn id="1741" idx="5"/>
            <a:endCxn id="174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9" name="Google Shape;1749;p10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50" name="Google Shape;1750;p102"/>
          <p:cNvCxnSpPr>
            <a:stCxn id="1749" idx="2"/>
            <a:endCxn id="174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1" name="Google Shape;1751;p10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52" name="Google Shape;1752;p102"/>
          <p:cNvCxnSpPr>
            <a:stCxn id="1751" idx="2"/>
            <a:endCxn id="174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3" name="Google Shape;1753;p10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54" name="Google Shape;1754;p102"/>
          <p:cNvCxnSpPr>
            <a:stCxn id="1753" idx="0"/>
            <a:endCxn id="175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5" name="Google Shape;1755;p102"/>
          <p:cNvCxnSpPr>
            <a:stCxn id="1743" idx="4"/>
            <a:endCxn id="174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56" name="Google Shape;1756;p102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103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763" name="Google Shape;1763;p10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64" name="Google Shape;1764;p103"/>
          <p:cNvCxnSpPr>
            <a:stCxn id="1763" idx="6"/>
            <a:endCxn id="176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5" name="Google Shape;1765;p10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66" name="Google Shape;1766;p10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67" name="Google Shape;1767;p10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68" name="Google Shape;1768;p103"/>
          <p:cNvCxnSpPr>
            <a:stCxn id="1767" idx="4"/>
            <a:endCxn id="176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9" name="Google Shape;1769;p10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70" name="Google Shape;1770;p103"/>
          <p:cNvCxnSpPr>
            <a:stCxn id="1763" idx="5"/>
            <a:endCxn id="176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1" name="Google Shape;1771;p10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72" name="Google Shape;1772;p103"/>
          <p:cNvCxnSpPr>
            <a:stCxn id="1771" idx="2"/>
            <a:endCxn id="176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3" name="Google Shape;1773;p10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74" name="Google Shape;1774;p103"/>
          <p:cNvCxnSpPr>
            <a:stCxn id="1773" idx="2"/>
            <a:endCxn id="177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10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76" name="Google Shape;1776;p103"/>
          <p:cNvCxnSpPr>
            <a:stCxn id="1775" idx="0"/>
            <a:endCxn id="177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103"/>
          <p:cNvCxnSpPr>
            <a:stCxn id="1765" idx="4"/>
            <a:endCxn id="176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78" name="Google Shape;1778;p103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10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min</a:t>
            </a:r>
            <a:r>
              <a:rPr lang="en" sz="1800"/>
              <a:t>= 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785" name="Google Shape;1785;p10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86" name="Google Shape;1786;p104"/>
          <p:cNvCxnSpPr>
            <a:stCxn id="1785" idx="6"/>
            <a:endCxn id="178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7" name="Google Shape;1787;p10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8" name="Google Shape;1788;p10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789" name="Google Shape;1789;p10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90" name="Google Shape;1790;p104"/>
          <p:cNvCxnSpPr>
            <a:stCxn id="1789" idx="4"/>
            <a:endCxn id="178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1" name="Google Shape;1791;p10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92" name="Google Shape;1792;p104"/>
          <p:cNvCxnSpPr>
            <a:stCxn id="1785" idx="5"/>
            <a:endCxn id="179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3" name="Google Shape;1793;p10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94" name="Google Shape;1794;p104"/>
          <p:cNvCxnSpPr>
            <a:stCxn id="1793" idx="2"/>
            <a:endCxn id="178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5" name="Google Shape;1795;p10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96" name="Google Shape;1796;p104"/>
          <p:cNvCxnSpPr>
            <a:stCxn id="1795" idx="2"/>
            <a:endCxn id="179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7" name="Google Shape;1797;p10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98" name="Google Shape;1798;p104"/>
          <p:cNvCxnSpPr>
            <a:stCxn id="1797" idx="0"/>
            <a:endCxn id="179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104"/>
          <p:cNvCxnSpPr>
            <a:stCxn id="1787" idx="4"/>
            <a:endCxn id="179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00" name="Google Shape;1800;p104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0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maximum degree </a:t>
            </a:r>
            <a:r>
              <a:rPr lang="en"/>
              <a:t>(k</a:t>
            </a:r>
            <a:r>
              <a:rPr baseline="-25000" lang="en"/>
              <a:t>max</a:t>
            </a:r>
            <a:r>
              <a:rPr lang="en"/>
              <a:t>) is the </a:t>
            </a:r>
            <a:r>
              <a:rPr b="1" lang="en"/>
              <a:t>largest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max</a:t>
            </a:r>
            <a:r>
              <a:rPr lang="en" sz="1800"/>
              <a:t> = 4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minimum degree</a:t>
            </a:r>
            <a:r>
              <a:rPr lang="en"/>
              <a:t> (k</a:t>
            </a:r>
            <a:r>
              <a:rPr baseline="-25000" lang="en"/>
              <a:t>min</a:t>
            </a:r>
            <a:r>
              <a:rPr lang="en"/>
              <a:t>) is the </a:t>
            </a:r>
            <a:r>
              <a:rPr b="1" lang="en"/>
              <a:t>smallest</a:t>
            </a:r>
            <a:r>
              <a:rPr lang="en"/>
              <a:t> number in the graph degree set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k</a:t>
            </a:r>
            <a:r>
              <a:rPr baseline="-25000" lang="en" sz="1800"/>
              <a:t>min</a:t>
            </a:r>
            <a:r>
              <a:rPr lang="en" sz="1800"/>
              <a:t>= 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and Minimum Degree </a:t>
            </a:r>
            <a:endParaRPr/>
          </a:p>
        </p:txBody>
      </p:sp>
      <p:sp>
        <p:nvSpPr>
          <p:cNvPr id="1807" name="Google Shape;1807;p10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08" name="Google Shape;1808;p105"/>
          <p:cNvCxnSpPr>
            <a:stCxn id="1807" idx="6"/>
            <a:endCxn id="180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9" name="Google Shape;1809;p10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0" name="Google Shape;1810;p10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11" name="Google Shape;1811;p10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12" name="Google Shape;1812;p105"/>
          <p:cNvCxnSpPr>
            <a:stCxn id="1811" idx="4"/>
            <a:endCxn id="180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3" name="Google Shape;1813;p10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14" name="Google Shape;1814;p105"/>
          <p:cNvCxnSpPr>
            <a:stCxn id="1807" idx="5"/>
            <a:endCxn id="181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5" name="Google Shape;1815;p10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16" name="Google Shape;1816;p105"/>
          <p:cNvCxnSpPr>
            <a:stCxn id="1815" idx="2"/>
            <a:endCxn id="180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7" name="Google Shape;1817;p10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18" name="Google Shape;1818;p105"/>
          <p:cNvCxnSpPr>
            <a:stCxn id="1817" idx="2"/>
            <a:endCxn id="181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9" name="Google Shape;1819;p10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20" name="Google Shape;1820;p105"/>
          <p:cNvCxnSpPr>
            <a:stCxn id="1819" idx="0"/>
            <a:endCxn id="181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1" name="Google Shape;1821;p105"/>
          <p:cNvCxnSpPr>
            <a:stCxn id="1809" idx="4"/>
            <a:endCxn id="181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22" name="Google Shape;1822;p105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0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range </a:t>
            </a:r>
            <a:r>
              <a:rPr lang="en"/>
              <a:t>(k</a:t>
            </a:r>
            <a:r>
              <a:rPr baseline="-25000" lang="en"/>
              <a:t>r</a:t>
            </a:r>
            <a:r>
              <a:rPr lang="en"/>
              <a:t>) is the </a:t>
            </a:r>
            <a:r>
              <a:rPr b="1" lang="en"/>
              <a:t>difference</a:t>
            </a:r>
            <a:r>
              <a:rPr lang="en"/>
              <a:t> between the maximum and minimum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Range</a:t>
            </a:r>
            <a:endParaRPr/>
          </a:p>
        </p:txBody>
      </p:sp>
      <p:sp>
        <p:nvSpPr>
          <p:cNvPr id="1829" name="Google Shape;1829;p10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30" name="Google Shape;1830;p106"/>
          <p:cNvCxnSpPr>
            <a:stCxn id="1829" idx="6"/>
            <a:endCxn id="183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1" name="Google Shape;1831;p10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32" name="Google Shape;1832;p10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33" name="Google Shape;1833;p10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34" name="Google Shape;1834;p106"/>
          <p:cNvCxnSpPr>
            <a:stCxn id="1833" idx="4"/>
            <a:endCxn id="183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5" name="Google Shape;1835;p10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36" name="Google Shape;1836;p106"/>
          <p:cNvCxnSpPr>
            <a:stCxn id="1829" idx="5"/>
            <a:endCxn id="183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7" name="Google Shape;1837;p10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38" name="Google Shape;1838;p106"/>
          <p:cNvCxnSpPr>
            <a:stCxn id="1837" idx="2"/>
            <a:endCxn id="183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9" name="Google Shape;1839;p10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40" name="Google Shape;1840;p106"/>
          <p:cNvCxnSpPr>
            <a:stCxn id="1839" idx="2"/>
            <a:endCxn id="183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1" name="Google Shape;1841;p10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42" name="Google Shape;1842;p106"/>
          <p:cNvCxnSpPr>
            <a:stCxn id="1841" idx="0"/>
            <a:endCxn id="183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106"/>
          <p:cNvCxnSpPr>
            <a:stCxn id="1831" idx="4"/>
            <a:endCxn id="183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44" name="Google Shape;1844;p106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0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degree range </a:t>
            </a:r>
            <a:r>
              <a:rPr lang="en"/>
              <a:t>(k</a:t>
            </a:r>
            <a:r>
              <a:rPr baseline="-25000" lang="en"/>
              <a:t>r</a:t>
            </a:r>
            <a:r>
              <a:rPr lang="en"/>
              <a:t>) is the </a:t>
            </a:r>
            <a:r>
              <a:rPr b="1" lang="en"/>
              <a:t>difference</a:t>
            </a:r>
            <a:r>
              <a:rPr lang="en"/>
              <a:t> between the maximum and minimum degrees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-25000" lang="en"/>
              <a:t>r</a:t>
            </a:r>
            <a:r>
              <a:rPr lang="en"/>
              <a:t> = (k</a:t>
            </a:r>
            <a:r>
              <a:rPr baseline="-25000" lang="en"/>
              <a:t>max</a:t>
            </a:r>
            <a:r>
              <a:rPr lang="en"/>
              <a:t>－ k</a:t>
            </a:r>
            <a:r>
              <a:rPr baseline="-25000" lang="en"/>
              <a:t>min</a:t>
            </a:r>
            <a:r>
              <a:rPr lang="en"/>
              <a:t>) = (4 － 0) = 4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Degree Range</a:t>
            </a:r>
            <a:endParaRPr/>
          </a:p>
        </p:txBody>
      </p:sp>
      <p:sp>
        <p:nvSpPr>
          <p:cNvPr id="1851" name="Google Shape;1851;p10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2" name="Google Shape;1852;p107"/>
          <p:cNvCxnSpPr>
            <a:stCxn id="1851" idx="6"/>
            <a:endCxn id="185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3" name="Google Shape;1853;p10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4" name="Google Shape;1854;p10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55" name="Google Shape;1855;p10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6" name="Google Shape;1856;p107"/>
          <p:cNvCxnSpPr>
            <a:stCxn id="1855" idx="4"/>
            <a:endCxn id="185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7" name="Google Shape;1857;p10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58" name="Google Shape;1858;p107"/>
          <p:cNvCxnSpPr>
            <a:stCxn id="1851" idx="5"/>
            <a:endCxn id="185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9" name="Google Shape;1859;p10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60" name="Google Shape;1860;p107"/>
          <p:cNvCxnSpPr>
            <a:stCxn id="1859" idx="2"/>
            <a:endCxn id="185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1" name="Google Shape;1861;p10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62" name="Google Shape;1862;p107"/>
          <p:cNvCxnSpPr>
            <a:stCxn id="1861" idx="2"/>
            <a:endCxn id="185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3" name="Google Shape;1863;p10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64" name="Google Shape;1864;p107"/>
          <p:cNvCxnSpPr>
            <a:stCxn id="1863" idx="0"/>
            <a:endCxn id="186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107"/>
          <p:cNvCxnSpPr>
            <a:stCxn id="1853" idx="4"/>
            <a:endCxn id="185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66" name="Google Shape;1866;p107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10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1873" name="Google Shape;1873;p10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4" name="Google Shape;1874;p108"/>
          <p:cNvCxnSpPr>
            <a:stCxn id="1873" idx="6"/>
            <a:endCxn id="187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5" name="Google Shape;1875;p10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6" name="Google Shape;1876;p10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77" name="Google Shape;1877;p10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78" name="Google Shape;1878;p108"/>
          <p:cNvCxnSpPr>
            <a:stCxn id="1877" idx="4"/>
            <a:endCxn id="187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9" name="Google Shape;1879;p10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80" name="Google Shape;1880;p108"/>
          <p:cNvCxnSpPr>
            <a:stCxn id="1873" idx="5"/>
            <a:endCxn id="187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1" name="Google Shape;1881;p10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82" name="Google Shape;1882;p108"/>
          <p:cNvCxnSpPr>
            <a:stCxn id="1881" idx="2"/>
            <a:endCxn id="187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3" name="Google Shape;1883;p10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84" name="Google Shape;1884;p108"/>
          <p:cNvCxnSpPr>
            <a:stCxn id="1883" idx="2"/>
            <a:endCxn id="188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5" name="Google Shape;1885;p10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86" name="Google Shape;1886;p108"/>
          <p:cNvCxnSpPr>
            <a:stCxn id="1885" idx="0"/>
            <a:endCxn id="188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7" name="Google Shape;1887;p108"/>
          <p:cNvCxnSpPr>
            <a:stCxn id="1875" idx="4"/>
            <a:endCxn id="187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88" name="Google Shape;1888;p108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0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-25000" lang="en"/>
              <a:t>i </a:t>
            </a:r>
            <a:r>
              <a:rPr lang="en"/>
              <a:t>= 1 + 2 + 4 + 2 + 2 + 0 + 2 + 1 = 14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1895" name="Google Shape;1895;p10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6" name="Google Shape;1896;p109"/>
          <p:cNvCxnSpPr>
            <a:stCxn id="1895" idx="6"/>
            <a:endCxn id="189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7" name="Google Shape;1897;p10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98" name="Google Shape;1898;p10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899" name="Google Shape;1899;p10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00" name="Google Shape;1900;p109"/>
          <p:cNvCxnSpPr>
            <a:stCxn id="1899" idx="4"/>
            <a:endCxn id="189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1" name="Google Shape;1901;p10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02" name="Google Shape;1902;p109"/>
          <p:cNvCxnSpPr>
            <a:stCxn id="1895" idx="5"/>
            <a:endCxn id="190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3" name="Google Shape;1903;p10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04" name="Google Shape;1904;p109"/>
          <p:cNvCxnSpPr>
            <a:stCxn id="1903" idx="2"/>
            <a:endCxn id="189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5" name="Google Shape;1905;p10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06" name="Google Shape;1906;p109"/>
          <p:cNvCxnSpPr>
            <a:stCxn id="1905" idx="2"/>
            <a:endCxn id="190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7" name="Google Shape;1907;p10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08" name="Google Shape;1908;p109"/>
          <p:cNvCxnSpPr>
            <a:stCxn id="1907" idx="0"/>
            <a:endCxn id="190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9" name="Google Shape;1909;p109"/>
          <p:cNvCxnSpPr>
            <a:stCxn id="1897" idx="4"/>
            <a:endCxn id="190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10" name="Google Shape;1910;p109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110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sum of degrees</a:t>
            </a:r>
            <a:r>
              <a:rPr lang="en"/>
              <a:t> (Σk</a:t>
            </a:r>
            <a:r>
              <a:rPr baseline="-25000" lang="en"/>
              <a:t>i</a:t>
            </a:r>
            <a:r>
              <a:rPr lang="en"/>
              <a:t>) is the sum of all the numbers in the graph degree set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-25000" lang="en"/>
              <a:t>i </a:t>
            </a:r>
            <a:r>
              <a:rPr lang="en"/>
              <a:t>= 1 + 2 + 4 + 2 + 2 + 0 + 2 + 1 = 14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 sum of degrees is equal to </a:t>
            </a:r>
            <a:r>
              <a:rPr b="1" lang="en"/>
              <a:t>twice</a:t>
            </a:r>
            <a:r>
              <a:rPr lang="en"/>
              <a:t> the number of </a:t>
            </a:r>
            <a:r>
              <a:rPr b="1" lang="en"/>
              <a:t>edges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Char char="■"/>
            </a:pPr>
            <a:r>
              <a:rPr lang="en" sz="1800"/>
              <a:t>Σk</a:t>
            </a:r>
            <a:r>
              <a:rPr baseline="-25000" lang="en" sz="1800"/>
              <a:t>i  </a:t>
            </a:r>
            <a:r>
              <a:rPr lang="en" sz="1800"/>
              <a:t>= 2m = 2 ✕ 7 = 14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1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Sum of Degrees</a:t>
            </a:r>
            <a:endParaRPr/>
          </a:p>
        </p:txBody>
      </p:sp>
      <p:sp>
        <p:nvSpPr>
          <p:cNvPr id="1917" name="Google Shape;1917;p11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18" name="Google Shape;1918;p110"/>
          <p:cNvCxnSpPr>
            <a:stCxn id="1917" idx="6"/>
            <a:endCxn id="191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9" name="Google Shape;1919;p11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20" name="Google Shape;1920;p11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21" name="Google Shape;1921;p11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22" name="Google Shape;1922;p110"/>
          <p:cNvCxnSpPr>
            <a:stCxn id="1921" idx="4"/>
            <a:endCxn id="191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3" name="Google Shape;1923;p11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24" name="Google Shape;1924;p110"/>
          <p:cNvCxnSpPr>
            <a:stCxn id="1917" idx="5"/>
            <a:endCxn id="192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5" name="Google Shape;1925;p11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26" name="Google Shape;1926;p110"/>
          <p:cNvCxnSpPr>
            <a:stCxn id="1925" idx="2"/>
            <a:endCxn id="191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7" name="Google Shape;1927;p11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28" name="Google Shape;1928;p110"/>
          <p:cNvCxnSpPr>
            <a:stCxn id="1927" idx="2"/>
            <a:endCxn id="192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9" name="Google Shape;1929;p11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30" name="Google Shape;1930;p110"/>
          <p:cNvCxnSpPr>
            <a:stCxn id="1929" idx="0"/>
            <a:endCxn id="192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110"/>
          <p:cNvCxnSpPr>
            <a:stCxn id="1919" idx="4"/>
            <a:endCxn id="192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32" name="Google Shape;1932;p110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11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average degree</a:t>
            </a:r>
            <a:r>
              <a:rPr lang="en"/>
              <a:t> (  ) is the ratio of the sum of the degrees (Σk</a:t>
            </a:r>
            <a:r>
              <a:rPr baseline="-25000" lang="en"/>
              <a:t>i</a:t>
            </a:r>
            <a:r>
              <a:rPr lang="en"/>
              <a:t>) to the </a:t>
            </a:r>
            <a:r>
              <a:rPr b="1" lang="en"/>
              <a:t>graph order </a:t>
            </a:r>
            <a:r>
              <a:rPr lang="en"/>
              <a:t>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Average Degree</a:t>
            </a:r>
            <a:endParaRPr/>
          </a:p>
        </p:txBody>
      </p:sp>
      <p:sp>
        <p:nvSpPr>
          <p:cNvPr id="1939" name="Google Shape;1939;p11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40" name="Google Shape;1940;p111"/>
          <p:cNvCxnSpPr>
            <a:stCxn id="1939" idx="6"/>
            <a:endCxn id="194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1" name="Google Shape;1941;p11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42" name="Google Shape;1942;p11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43" name="Google Shape;1943;p11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44" name="Google Shape;1944;p111"/>
          <p:cNvCxnSpPr>
            <a:stCxn id="1943" idx="4"/>
            <a:endCxn id="194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5" name="Google Shape;1945;p11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46" name="Google Shape;1946;p111"/>
          <p:cNvCxnSpPr>
            <a:stCxn id="1939" idx="5"/>
            <a:endCxn id="194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7" name="Google Shape;1947;p11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48" name="Google Shape;1948;p111"/>
          <p:cNvCxnSpPr>
            <a:stCxn id="1947" idx="2"/>
            <a:endCxn id="194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9" name="Google Shape;1949;p11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50" name="Google Shape;1950;p111"/>
          <p:cNvCxnSpPr>
            <a:stCxn id="1949" idx="2"/>
            <a:endCxn id="194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1" name="Google Shape;1951;p11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52" name="Google Shape;1952;p111"/>
          <p:cNvCxnSpPr>
            <a:stCxn id="1951" idx="0"/>
            <a:endCxn id="194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111"/>
          <p:cNvCxnSpPr>
            <a:stCxn id="1941" idx="4"/>
            <a:endCxn id="194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54" name="Google Shape;1954;p111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\overline{k}" id="1955" name="Google Shape;1955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1357050"/>
            <a:ext cx="137160" cy="219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112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</a:t>
            </a:r>
            <a:r>
              <a:rPr b="1" lang="en"/>
              <a:t>average degree</a:t>
            </a:r>
            <a:r>
              <a:rPr lang="en"/>
              <a:t> (  ) is the ratio of the sum of the degrees (Σk</a:t>
            </a:r>
            <a:r>
              <a:rPr baseline="-25000" lang="en"/>
              <a:t>i</a:t>
            </a:r>
            <a:r>
              <a:rPr lang="en"/>
              <a:t>) to the </a:t>
            </a:r>
            <a:r>
              <a:rPr b="1" lang="en"/>
              <a:t>graph order </a:t>
            </a:r>
            <a:r>
              <a:rPr lang="en"/>
              <a:t>(n)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Average Degree</a:t>
            </a:r>
            <a:endParaRPr/>
          </a:p>
        </p:txBody>
      </p:sp>
      <p:sp>
        <p:nvSpPr>
          <p:cNvPr id="1962" name="Google Shape;1962;p11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63" name="Google Shape;1963;p112"/>
          <p:cNvCxnSpPr>
            <a:stCxn id="1962" idx="6"/>
            <a:endCxn id="196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4" name="Google Shape;1964;p11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5" name="Google Shape;1965;p11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66" name="Google Shape;1966;p11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67" name="Google Shape;1967;p112"/>
          <p:cNvCxnSpPr>
            <a:stCxn id="1966" idx="4"/>
            <a:endCxn id="196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8" name="Google Shape;1968;p11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69" name="Google Shape;1969;p112"/>
          <p:cNvCxnSpPr>
            <a:stCxn id="1962" idx="5"/>
            <a:endCxn id="196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0" name="Google Shape;1970;p11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71" name="Google Shape;1971;p112"/>
          <p:cNvCxnSpPr>
            <a:stCxn id="1970" idx="2"/>
            <a:endCxn id="196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2" name="Google Shape;1972;p11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73" name="Google Shape;1973;p112"/>
          <p:cNvCxnSpPr>
            <a:stCxn id="1972" idx="2"/>
            <a:endCxn id="197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4" name="Google Shape;1974;p11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75" name="Google Shape;1975;p112"/>
          <p:cNvCxnSpPr>
            <a:stCxn id="1974" idx="0"/>
            <a:endCxn id="197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6" name="Google Shape;1976;p112"/>
          <p:cNvCxnSpPr>
            <a:stCxn id="1964" idx="4"/>
            <a:endCxn id="196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77" name="Google Shape;1977;p112"/>
          <p:cNvGraphicFramePr/>
          <p:nvPr/>
        </p:nvGraphicFramePr>
        <p:xfrm>
          <a:off x="801050" y="2506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\overline{k}" id="1978" name="Google Shape;1978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750" y="1357050"/>
            <a:ext cx="13716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overline{k} = \frac{\sum k_i}{n} = \frac{14}{8}=1.75" id="1979" name="Google Shape;1979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5850" y="3579925"/>
            <a:ext cx="2743201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1985" name="Google Shape;1985;p11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</a:t>
            </a:r>
            <a:r>
              <a:rPr i="1" lang="en"/>
              <a:t>n</a:t>
            </a:r>
            <a:r>
              <a:rPr lang="en"/>
              <a:t> is the number of edges that would exist if graph was </a:t>
            </a:r>
            <a:r>
              <a:rPr b="1" lang="en"/>
              <a:t>complete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6" name="Google Shape;1986;p113"/>
          <p:cNvCxnSpPr>
            <a:stCxn id="1987" idx="0"/>
            <a:endCxn id="1988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9" name="Google Shape;1989;p11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90" name="Google Shape;1990;p113"/>
          <p:cNvCxnSpPr>
            <a:stCxn id="1989" idx="6"/>
            <a:endCxn id="199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1" name="Google Shape;1991;p11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92" name="Google Shape;1992;p11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993" name="Google Shape;1993;p11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94" name="Google Shape;1994;p113"/>
          <p:cNvCxnSpPr>
            <a:stCxn id="1993" idx="4"/>
            <a:endCxn id="199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5" name="Google Shape;1995;p11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96" name="Google Shape;1996;p113"/>
          <p:cNvCxnSpPr>
            <a:stCxn id="1989" idx="5"/>
            <a:endCxn id="199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7" name="Google Shape;1997;p11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998" name="Google Shape;1998;p113"/>
          <p:cNvCxnSpPr>
            <a:stCxn id="1997" idx="2"/>
            <a:endCxn id="199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9" name="Google Shape;1999;p11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00" name="Google Shape;2000;p113"/>
          <p:cNvCxnSpPr>
            <a:stCxn id="1999" idx="2"/>
            <a:endCxn id="199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1" name="Google Shape;2001;p11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02" name="Google Shape;2002;p113"/>
          <p:cNvCxnSpPr>
            <a:stCxn id="2001" idx="0"/>
            <a:endCxn id="199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113"/>
          <p:cNvCxnSpPr>
            <a:stCxn id="1991" idx="4"/>
            <a:endCxn id="199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1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2009" name="Google Shape;2009;p114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11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11" name="Google Shape;2011;p114"/>
          <p:cNvCxnSpPr>
            <a:stCxn id="2010" idx="6"/>
            <a:endCxn id="201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2" name="Google Shape;2012;p11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13" name="Google Shape;2013;p11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14" name="Google Shape;2014;p11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15" name="Google Shape;2015;p114"/>
          <p:cNvCxnSpPr>
            <a:stCxn id="2014" idx="4"/>
            <a:endCxn id="201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6" name="Google Shape;2016;p11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17" name="Google Shape;2017;p114"/>
          <p:cNvCxnSpPr>
            <a:stCxn id="2010" idx="5"/>
            <a:endCxn id="201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8" name="Google Shape;2018;p11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19" name="Google Shape;2019;p114"/>
          <p:cNvCxnSpPr>
            <a:stCxn id="2018" idx="2"/>
            <a:endCxn id="201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0" name="Google Shape;2020;p11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21" name="Google Shape;2021;p114"/>
          <p:cNvCxnSpPr>
            <a:stCxn id="2020" idx="2"/>
            <a:endCxn id="201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2" name="Google Shape;2022;p11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23" name="Google Shape;2023;p114"/>
          <p:cNvCxnSpPr>
            <a:stCxn id="2022" idx="0"/>
            <a:endCxn id="202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4" name="Google Shape;2024;p114"/>
          <p:cNvCxnSpPr>
            <a:stCxn id="2012" idx="4"/>
            <a:endCxn id="201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5" name="Google Shape;2025;p114"/>
          <p:cNvCxnSpPr>
            <a:stCxn id="2010" idx="7"/>
            <a:endCxn id="2014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6" name="Google Shape;2026;p114"/>
          <p:cNvCxnSpPr>
            <a:stCxn id="2010" idx="0"/>
            <a:endCxn id="2018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114"/>
          <p:cNvCxnSpPr>
            <a:stCxn id="2014" idx="5"/>
            <a:endCxn id="201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114"/>
          <p:cNvCxnSpPr>
            <a:stCxn id="2018" idx="4"/>
            <a:endCxn id="2016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114"/>
          <p:cNvCxnSpPr>
            <a:stCxn id="2013" idx="2"/>
            <a:endCxn id="2016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0" name="Google Shape;2030;p114"/>
          <p:cNvCxnSpPr>
            <a:stCxn id="2018" idx="4"/>
            <a:endCxn id="2013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1" name="Google Shape;2031;p114"/>
          <p:cNvCxnSpPr>
            <a:stCxn id="2018" idx="4"/>
            <a:endCxn id="2022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2" name="Google Shape;2032;p114"/>
          <p:cNvCxnSpPr>
            <a:stCxn id="2022" idx="2"/>
            <a:endCxn id="2013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3" name="Google Shape;2033;p114"/>
          <p:cNvCxnSpPr>
            <a:stCxn id="2020" idx="3"/>
            <a:endCxn id="2013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4" name="Google Shape;2034;p114"/>
          <p:cNvCxnSpPr>
            <a:stCxn id="2020" idx="1"/>
            <a:endCxn id="201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5" name="Google Shape;2035;p114"/>
          <p:cNvCxnSpPr>
            <a:stCxn id="2013" idx="1"/>
            <a:endCxn id="2010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6" name="Google Shape;2036;p114"/>
          <p:cNvCxnSpPr>
            <a:stCxn id="2010" idx="0"/>
            <a:endCxn id="2020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7" name="Google Shape;2037;p114"/>
          <p:cNvCxnSpPr>
            <a:stCxn id="2022" idx="1"/>
            <a:endCxn id="2010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8" name="Google Shape;2038;p114"/>
          <p:cNvCxnSpPr>
            <a:stCxn id="2012" idx="0"/>
            <a:endCxn id="2020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9" name="Google Shape;2039;p114"/>
          <p:cNvCxnSpPr>
            <a:stCxn id="2022" idx="1"/>
            <a:endCxn id="2012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0" name="Google Shape;2040;p114"/>
          <p:cNvCxnSpPr>
            <a:stCxn id="2013" idx="1"/>
            <a:endCxn id="2012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1" name="Google Shape;2041;p114"/>
          <p:cNvCxnSpPr>
            <a:stCxn id="2014" idx="2"/>
            <a:endCxn id="2016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2" name="Google Shape;2042;p114"/>
          <p:cNvCxnSpPr>
            <a:stCxn id="2014" idx="6"/>
            <a:endCxn id="2022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3" name="Google Shape;2043;p114"/>
          <p:cNvCxnSpPr>
            <a:stCxn id="2022" idx="4"/>
            <a:endCxn id="2016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4" name="Google Shape;2044;p114"/>
          <p:cNvCxnSpPr>
            <a:stCxn id="2013" idx="0"/>
            <a:endCxn id="2014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5" name="Google Shape;2045;p114"/>
          <p:cNvCxnSpPr>
            <a:stCxn id="2020" idx="3"/>
            <a:endCxn id="2016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6" name="Google Shape;2046;p114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complete graph of order 8!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047" name="Google Shape;2047;p114"/>
          <p:cNvCxnSpPr>
            <a:stCxn id="2046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2053" name="Google Shape;2053;p115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11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55" name="Google Shape;2055;p115"/>
          <p:cNvCxnSpPr>
            <a:stCxn id="2054" idx="6"/>
            <a:endCxn id="2056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6" name="Google Shape;2056;p11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57" name="Google Shape;2057;p11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58" name="Google Shape;2058;p11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59" name="Google Shape;2059;p115"/>
          <p:cNvCxnSpPr>
            <a:stCxn id="2058" idx="4"/>
            <a:endCxn id="2056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0" name="Google Shape;2060;p11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61" name="Google Shape;2061;p115"/>
          <p:cNvCxnSpPr>
            <a:stCxn id="2054" idx="5"/>
            <a:endCxn id="2060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2" name="Google Shape;2062;p11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63" name="Google Shape;2063;p115"/>
          <p:cNvCxnSpPr>
            <a:stCxn id="2062" idx="2"/>
            <a:endCxn id="2056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4" name="Google Shape;2064;p11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65" name="Google Shape;2065;p115"/>
          <p:cNvCxnSpPr>
            <a:stCxn id="2064" idx="2"/>
            <a:endCxn id="2062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6" name="Google Shape;2066;p11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67" name="Google Shape;2067;p115"/>
          <p:cNvCxnSpPr>
            <a:stCxn id="2066" idx="0"/>
            <a:endCxn id="2064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115"/>
          <p:cNvCxnSpPr>
            <a:stCxn id="2056" idx="4"/>
            <a:endCxn id="2060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115"/>
          <p:cNvCxnSpPr>
            <a:stCxn id="2054" idx="7"/>
            <a:endCxn id="2058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0" name="Google Shape;2070;p115"/>
          <p:cNvCxnSpPr>
            <a:stCxn id="2054" idx="0"/>
            <a:endCxn id="2062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1" name="Google Shape;2071;p115"/>
          <p:cNvCxnSpPr>
            <a:stCxn id="2058" idx="5"/>
            <a:endCxn id="206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2" name="Google Shape;2072;p115"/>
          <p:cNvCxnSpPr>
            <a:stCxn id="2062" idx="4"/>
            <a:endCxn id="2060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3" name="Google Shape;2073;p115"/>
          <p:cNvCxnSpPr>
            <a:stCxn id="2057" idx="2"/>
            <a:endCxn id="2060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4" name="Google Shape;2074;p115"/>
          <p:cNvCxnSpPr>
            <a:stCxn id="2062" idx="4"/>
            <a:endCxn id="2057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5" name="Google Shape;2075;p115"/>
          <p:cNvCxnSpPr>
            <a:stCxn id="2062" idx="4"/>
            <a:endCxn id="2066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6" name="Google Shape;2076;p115"/>
          <p:cNvCxnSpPr>
            <a:stCxn id="2066" idx="2"/>
            <a:endCxn id="2057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7" name="Google Shape;2077;p115"/>
          <p:cNvCxnSpPr>
            <a:stCxn id="2064" idx="3"/>
            <a:endCxn id="2057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115"/>
          <p:cNvCxnSpPr>
            <a:stCxn id="2064" idx="1"/>
            <a:endCxn id="205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115"/>
          <p:cNvCxnSpPr>
            <a:stCxn id="2057" idx="1"/>
            <a:endCxn id="2054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115"/>
          <p:cNvCxnSpPr>
            <a:stCxn id="2054" idx="0"/>
            <a:endCxn id="2064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1" name="Google Shape;2081;p115"/>
          <p:cNvCxnSpPr>
            <a:stCxn id="2066" idx="1"/>
            <a:endCxn id="2054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2" name="Google Shape;2082;p115"/>
          <p:cNvCxnSpPr>
            <a:stCxn id="2056" idx="0"/>
            <a:endCxn id="2064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3" name="Google Shape;2083;p115"/>
          <p:cNvCxnSpPr>
            <a:stCxn id="2066" idx="1"/>
            <a:endCxn id="2056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4" name="Google Shape;2084;p115"/>
          <p:cNvCxnSpPr>
            <a:stCxn id="2057" idx="1"/>
            <a:endCxn id="2056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5" name="Google Shape;2085;p115"/>
          <p:cNvCxnSpPr>
            <a:stCxn id="2058" idx="2"/>
            <a:endCxn id="2060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6" name="Google Shape;2086;p115"/>
          <p:cNvCxnSpPr>
            <a:stCxn id="2058" idx="6"/>
            <a:endCxn id="2066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7" name="Google Shape;2087;p115"/>
          <p:cNvCxnSpPr>
            <a:stCxn id="2066" idx="4"/>
            <a:endCxn id="2060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8" name="Google Shape;2088;p115"/>
          <p:cNvCxnSpPr>
            <a:stCxn id="2057" idx="0"/>
            <a:endCxn id="2058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9" name="Google Shape;2089;p115"/>
          <p:cNvCxnSpPr>
            <a:stCxn id="2064" idx="3"/>
            <a:endCxn id="2060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n(n-1)}{2}" id="2090" name="Google Shape;2090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72" y="3593275"/>
            <a:ext cx="2624007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2096" name="Google Shape;2096;p116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11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98" name="Google Shape;2098;p116"/>
          <p:cNvCxnSpPr>
            <a:stCxn id="2097" idx="6"/>
            <a:endCxn id="209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9" name="Google Shape;2099;p11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00" name="Google Shape;2100;p11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01" name="Google Shape;2101;p11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02" name="Google Shape;2102;p116"/>
          <p:cNvCxnSpPr>
            <a:stCxn id="2101" idx="4"/>
            <a:endCxn id="209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3" name="Google Shape;2103;p11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04" name="Google Shape;2104;p116"/>
          <p:cNvCxnSpPr>
            <a:stCxn id="2097" idx="5"/>
            <a:endCxn id="210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5" name="Google Shape;2105;p11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06" name="Google Shape;2106;p116"/>
          <p:cNvCxnSpPr>
            <a:stCxn id="2105" idx="2"/>
            <a:endCxn id="209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7" name="Google Shape;2107;p11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08" name="Google Shape;2108;p116"/>
          <p:cNvCxnSpPr>
            <a:stCxn id="2107" idx="2"/>
            <a:endCxn id="210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9" name="Google Shape;2109;p11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10" name="Google Shape;2110;p116"/>
          <p:cNvCxnSpPr>
            <a:stCxn id="2109" idx="0"/>
            <a:endCxn id="210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1" name="Google Shape;2111;p116"/>
          <p:cNvCxnSpPr>
            <a:stCxn id="2099" idx="4"/>
            <a:endCxn id="210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2" name="Google Shape;2112;p116"/>
          <p:cNvCxnSpPr>
            <a:stCxn id="2097" idx="7"/>
            <a:endCxn id="2101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3" name="Google Shape;2113;p116"/>
          <p:cNvCxnSpPr>
            <a:stCxn id="2097" idx="0"/>
            <a:endCxn id="2105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4" name="Google Shape;2114;p116"/>
          <p:cNvCxnSpPr>
            <a:stCxn id="2101" idx="5"/>
            <a:endCxn id="210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5" name="Google Shape;2115;p116"/>
          <p:cNvCxnSpPr>
            <a:stCxn id="2105" idx="4"/>
            <a:endCxn id="2103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6" name="Google Shape;2116;p116"/>
          <p:cNvCxnSpPr>
            <a:stCxn id="2100" idx="2"/>
            <a:endCxn id="2103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7" name="Google Shape;2117;p116"/>
          <p:cNvCxnSpPr>
            <a:stCxn id="2105" idx="4"/>
            <a:endCxn id="2100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8" name="Google Shape;2118;p116"/>
          <p:cNvCxnSpPr>
            <a:stCxn id="2105" idx="4"/>
            <a:endCxn id="2109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9" name="Google Shape;2119;p116"/>
          <p:cNvCxnSpPr>
            <a:stCxn id="2109" idx="2"/>
            <a:endCxn id="2100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0" name="Google Shape;2120;p116"/>
          <p:cNvCxnSpPr>
            <a:stCxn id="2107" idx="3"/>
            <a:endCxn id="2100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1" name="Google Shape;2121;p116"/>
          <p:cNvCxnSpPr>
            <a:stCxn id="2107" idx="1"/>
            <a:endCxn id="210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116"/>
          <p:cNvCxnSpPr>
            <a:stCxn id="2100" idx="1"/>
            <a:endCxn id="2097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3" name="Google Shape;2123;p116"/>
          <p:cNvCxnSpPr>
            <a:stCxn id="2097" idx="0"/>
            <a:endCxn id="2107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116"/>
          <p:cNvCxnSpPr>
            <a:stCxn id="2109" idx="1"/>
            <a:endCxn id="2097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5" name="Google Shape;2125;p116"/>
          <p:cNvCxnSpPr>
            <a:stCxn id="2099" idx="0"/>
            <a:endCxn id="2107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116"/>
          <p:cNvCxnSpPr>
            <a:stCxn id="2109" idx="1"/>
            <a:endCxn id="2099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7" name="Google Shape;2127;p116"/>
          <p:cNvCxnSpPr>
            <a:stCxn id="2100" idx="1"/>
            <a:endCxn id="2099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8" name="Google Shape;2128;p116"/>
          <p:cNvCxnSpPr>
            <a:stCxn id="2101" idx="2"/>
            <a:endCxn id="2103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9" name="Google Shape;2129;p116"/>
          <p:cNvCxnSpPr>
            <a:stCxn id="2101" idx="6"/>
            <a:endCxn id="2109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0" name="Google Shape;2130;p116"/>
          <p:cNvCxnSpPr>
            <a:stCxn id="2109" idx="4"/>
            <a:endCxn id="2103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1" name="Google Shape;2131;p116"/>
          <p:cNvCxnSpPr>
            <a:stCxn id="2100" idx="0"/>
            <a:endCxn id="2101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2" name="Google Shape;2132;p116"/>
          <p:cNvCxnSpPr>
            <a:stCxn id="2107" idx="3"/>
            <a:endCxn id="2103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8\times(8-1)}{2}" id="2133" name="Google Shape;2133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775" y="3620877"/>
            <a:ext cx="2743201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2139" name="Google Shape;2139;p117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11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41" name="Google Shape;2141;p117"/>
          <p:cNvCxnSpPr>
            <a:stCxn id="2140" idx="6"/>
            <a:endCxn id="2142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2" name="Google Shape;2142;p11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43" name="Google Shape;2143;p11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44" name="Google Shape;2144;p11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45" name="Google Shape;2145;p117"/>
          <p:cNvCxnSpPr>
            <a:stCxn id="2144" idx="4"/>
            <a:endCxn id="2142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6" name="Google Shape;2146;p11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47" name="Google Shape;2147;p117"/>
          <p:cNvCxnSpPr>
            <a:stCxn id="2140" idx="5"/>
            <a:endCxn id="2146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8" name="Google Shape;2148;p11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49" name="Google Shape;2149;p117"/>
          <p:cNvCxnSpPr>
            <a:stCxn id="2148" idx="2"/>
            <a:endCxn id="2142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0" name="Google Shape;2150;p11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51" name="Google Shape;2151;p117"/>
          <p:cNvCxnSpPr>
            <a:stCxn id="2150" idx="2"/>
            <a:endCxn id="2148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2" name="Google Shape;2152;p11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53" name="Google Shape;2153;p117"/>
          <p:cNvCxnSpPr>
            <a:stCxn id="2152" idx="0"/>
            <a:endCxn id="2150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4" name="Google Shape;2154;p117"/>
          <p:cNvCxnSpPr>
            <a:stCxn id="2142" idx="4"/>
            <a:endCxn id="2146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5" name="Google Shape;2155;p117"/>
          <p:cNvCxnSpPr>
            <a:stCxn id="2140" idx="7"/>
            <a:endCxn id="2144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6" name="Google Shape;2156;p117"/>
          <p:cNvCxnSpPr>
            <a:stCxn id="2140" idx="0"/>
            <a:endCxn id="2148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7" name="Google Shape;2157;p117"/>
          <p:cNvCxnSpPr>
            <a:stCxn id="2144" idx="5"/>
            <a:endCxn id="214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8" name="Google Shape;2158;p117"/>
          <p:cNvCxnSpPr>
            <a:stCxn id="2148" idx="4"/>
            <a:endCxn id="2146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9" name="Google Shape;2159;p117"/>
          <p:cNvCxnSpPr>
            <a:stCxn id="2143" idx="2"/>
            <a:endCxn id="2146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0" name="Google Shape;2160;p117"/>
          <p:cNvCxnSpPr>
            <a:stCxn id="2148" idx="4"/>
            <a:endCxn id="2143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1" name="Google Shape;2161;p117"/>
          <p:cNvCxnSpPr>
            <a:stCxn id="2148" idx="4"/>
            <a:endCxn id="2152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2" name="Google Shape;2162;p117"/>
          <p:cNvCxnSpPr>
            <a:stCxn id="2152" idx="2"/>
            <a:endCxn id="2143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3" name="Google Shape;2163;p117"/>
          <p:cNvCxnSpPr>
            <a:stCxn id="2150" idx="3"/>
            <a:endCxn id="2143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4" name="Google Shape;2164;p117"/>
          <p:cNvCxnSpPr>
            <a:stCxn id="2150" idx="1"/>
            <a:endCxn id="214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5" name="Google Shape;2165;p117"/>
          <p:cNvCxnSpPr>
            <a:stCxn id="2143" idx="1"/>
            <a:endCxn id="2140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6" name="Google Shape;2166;p117"/>
          <p:cNvCxnSpPr>
            <a:stCxn id="2140" idx="0"/>
            <a:endCxn id="2150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7" name="Google Shape;2167;p117"/>
          <p:cNvCxnSpPr>
            <a:stCxn id="2152" idx="1"/>
            <a:endCxn id="2140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8" name="Google Shape;2168;p117"/>
          <p:cNvCxnSpPr>
            <a:stCxn id="2142" idx="0"/>
            <a:endCxn id="2150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9" name="Google Shape;2169;p117"/>
          <p:cNvCxnSpPr>
            <a:stCxn id="2152" idx="1"/>
            <a:endCxn id="2142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117"/>
          <p:cNvCxnSpPr>
            <a:stCxn id="2143" idx="1"/>
            <a:endCxn id="2142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117"/>
          <p:cNvCxnSpPr>
            <a:stCxn id="2144" idx="2"/>
            <a:endCxn id="2146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2" name="Google Shape;2172;p117"/>
          <p:cNvCxnSpPr>
            <a:stCxn id="2144" idx="6"/>
            <a:endCxn id="2152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3" name="Google Shape;2173;p117"/>
          <p:cNvCxnSpPr>
            <a:stCxn id="2152" idx="4"/>
            <a:endCxn id="2146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4" name="Google Shape;2174;p117"/>
          <p:cNvCxnSpPr>
            <a:stCxn id="2143" idx="0"/>
            <a:endCxn id="2144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5" name="Google Shape;2175;p117"/>
          <p:cNvCxnSpPr>
            <a:stCxn id="2150" idx="3"/>
            <a:endCxn id="2146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8\times7}{2}" id="2176" name="Google Shape;2176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283" y="3620877"/>
            <a:ext cx="2086184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2182" name="Google Shape;2182;p118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11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84" name="Google Shape;2184;p118"/>
          <p:cNvCxnSpPr>
            <a:stCxn id="2183" idx="6"/>
            <a:endCxn id="218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5" name="Google Shape;2185;p11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6" name="Google Shape;2186;p11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7" name="Google Shape;2187;p11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88" name="Google Shape;2188;p118"/>
          <p:cNvCxnSpPr>
            <a:stCxn id="2187" idx="4"/>
            <a:endCxn id="218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9" name="Google Shape;2189;p11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90" name="Google Shape;2190;p118"/>
          <p:cNvCxnSpPr>
            <a:stCxn id="2183" idx="5"/>
            <a:endCxn id="218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1" name="Google Shape;2191;p11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92" name="Google Shape;2192;p118"/>
          <p:cNvCxnSpPr>
            <a:stCxn id="2191" idx="2"/>
            <a:endCxn id="218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3" name="Google Shape;2193;p11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94" name="Google Shape;2194;p118"/>
          <p:cNvCxnSpPr>
            <a:stCxn id="2193" idx="2"/>
            <a:endCxn id="219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5" name="Google Shape;2195;p11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96" name="Google Shape;2196;p118"/>
          <p:cNvCxnSpPr>
            <a:stCxn id="2195" idx="0"/>
            <a:endCxn id="219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7" name="Google Shape;2197;p118"/>
          <p:cNvCxnSpPr>
            <a:stCxn id="2185" idx="4"/>
            <a:endCxn id="218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118"/>
          <p:cNvCxnSpPr>
            <a:stCxn id="2183" idx="7"/>
            <a:endCxn id="2187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9" name="Google Shape;2199;p118"/>
          <p:cNvCxnSpPr>
            <a:stCxn id="2183" idx="0"/>
            <a:endCxn id="2191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0" name="Google Shape;2200;p118"/>
          <p:cNvCxnSpPr>
            <a:stCxn id="2187" idx="5"/>
            <a:endCxn id="219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1" name="Google Shape;2201;p118"/>
          <p:cNvCxnSpPr>
            <a:stCxn id="2191" idx="4"/>
            <a:endCxn id="2189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2" name="Google Shape;2202;p118"/>
          <p:cNvCxnSpPr>
            <a:stCxn id="2186" idx="2"/>
            <a:endCxn id="2189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3" name="Google Shape;2203;p118"/>
          <p:cNvCxnSpPr>
            <a:stCxn id="2191" idx="4"/>
            <a:endCxn id="2186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4" name="Google Shape;2204;p118"/>
          <p:cNvCxnSpPr>
            <a:stCxn id="2191" idx="4"/>
            <a:endCxn id="2195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5" name="Google Shape;2205;p118"/>
          <p:cNvCxnSpPr>
            <a:stCxn id="2195" idx="2"/>
            <a:endCxn id="2186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6" name="Google Shape;2206;p118"/>
          <p:cNvCxnSpPr>
            <a:stCxn id="2193" idx="3"/>
            <a:endCxn id="2186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7" name="Google Shape;2207;p118"/>
          <p:cNvCxnSpPr>
            <a:stCxn id="2193" idx="1"/>
            <a:endCxn id="218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8" name="Google Shape;2208;p118"/>
          <p:cNvCxnSpPr>
            <a:stCxn id="2186" idx="1"/>
            <a:endCxn id="2183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9" name="Google Shape;2209;p118"/>
          <p:cNvCxnSpPr>
            <a:stCxn id="2183" idx="0"/>
            <a:endCxn id="2193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0" name="Google Shape;2210;p118"/>
          <p:cNvCxnSpPr>
            <a:stCxn id="2195" idx="1"/>
            <a:endCxn id="2183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1" name="Google Shape;2211;p118"/>
          <p:cNvCxnSpPr>
            <a:stCxn id="2185" idx="0"/>
            <a:endCxn id="2193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2" name="Google Shape;2212;p118"/>
          <p:cNvCxnSpPr>
            <a:stCxn id="2195" idx="1"/>
            <a:endCxn id="2185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3" name="Google Shape;2213;p118"/>
          <p:cNvCxnSpPr>
            <a:stCxn id="2186" idx="1"/>
            <a:endCxn id="2185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4" name="Google Shape;2214;p118"/>
          <p:cNvCxnSpPr>
            <a:stCxn id="2187" idx="2"/>
            <a:endCxn id="2189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5" name="Google Shape;2215;p118"/>
          <p:cNvCxnSpPr>
            <a:stCxn id="2187" idx="6"/>
            <a:endCxn id="2195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6" name="Google Shape;2216;p118"/>
          <p:cNvCxnSpPr>
            <a:stCxn id="2195" idx="4"/>
            <a:endCxn id="2189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118"/>
          <p:cNvCxnSpPr>
            <a:stCxn id="2186" idx="0"/>
            <a:endCxn id="2187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8" name="Google Shape;2218;p118"/>
          <p:cNvCxnSpPr>
            <a:stCxn id="2193" idx="3"/>
            <a:endCxn id="2189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\frac{56}{2}" id="2219" name="Google Shape;2219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57" y="3620877"/>
            <a:ext cx="1750836" cy="5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Maximum Size</a:t>
            </a:r>
            <a:endParaRPr/>
          </a:p>
        </p:txBody>
      </p:sp>
      <p:sp>
        <p:nvSpPr>
          <p:cNvPr id="2225" name="Google Shape;2225;p119"/>
          <p:cNvSpPr txBox="1"/>
          <p:nvPr>
            <p:ph idx="1" type="body"/>
          </p:nvPr>
        </p:nvSpPr>
        <p:spPr>
          <a:xfrm>
            <a:off x="311700" y="1225225"/>
            <a:ext cx="50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maximum size</a:t>
            </a:r>
            <a:r>
              <a:rPr lang="en"/>
              <a:t> of a graph of order n is the number of edges that would exist if graph was </a:t>
            </a:r>
            <a:r>
              <a:rPr b="1" lang="en"/>
              <a:t>complete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many total edges are there now?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try to count and get a headache, or we can use math: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11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27" name="Google Shape;2227;p119"/>
          <p:cNvCxnSpPr>
            <a:stCxn id="2226" idx="6"/>
            <a:endCxn id="2228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8" name="Google Shape;2228;p11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29" name="Google Shape;2229;p11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30" name="Google Shape;2230;p11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31" name="Google Shape;2231;p119"/>
          <p:cNvCxnSpPr>
            <a:stCxn id="2230" idx="4"/>
            <a:endCxn id="2228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2" name="Google Shape;2232;p11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33" name="Google Shape;2233;p119"/>
          <p:cNvCxnSpPr>
            <a:stCxn id="2226" idx="5"/>
            <a:endCxn id="2232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4" name="Google Shape;2234;p11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35" name="Google Shape;2235;p119"/>
          <p:cNvCxnSpPr>
            <a:stCxn id="2234" idx="2"/>
            <a:endCxn id="2228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6" name="Google Shape;2236;p11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37" name="Google Shape;2237;p119"/>
          <p:cNvCxnSpPr>
            <a:stCxn id="2236" idx="2"/>
            <a:endCxn id="2234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8" name="Google Shape;2238;p11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39" name="Google Shape;2239;p119"/>
          <p:cNvCxnSpPr>
            <a:stCxn id="2238" idx="0"/>
            <a:endCxn id="2236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0" name="Google Shape;2240;p119"/>
          <p:cNvCxnSpPr>
            <a:stCxn id="2228" idx="4"/>
            <a:endCxn id="2232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1" name="Google Shape;2241;p119"/>
          <p:cNvCxnSpPr>
            <a:stCxn id="2226" idx="7"/>
            <a:endCxn id="2230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2" name="Google Shape;2242;p119"/>
          <p:cNvCxnSpPr>
            <a:stCxn id="2226" idx="0"/>
            <a:endCxn id="2234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74231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3" name="Google Shape;2243;p119"/>
          <p:cNvCxnSpPr>
            <a:stCxn id="2230" idx="5"/>
            <a:endCxn id="223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4" name="Google Shape;2244;p119"/>
          <p:cNvCxnSpPr>
            <a:stCxn id="2234" idx="4"/>
            <a:endCxn id="2232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5" name="Google Shape;2245;p119"/>
          <p:cNvCxnSpPr>
            <a:stCxn id="2229" idx="2"/>
            <a:endCxn id="2232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6" name="Google Shape;2246;p119"/>
          <p:cNvCxnSpPr>
            <a:stCxn id="2234" idx="4"/>
            <a:endCxn id="2229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7" name="Google Shape;2247;p119"/>
          <p:cNvCxnSpPr>
            <a:stCxn id="2234" idx="4"/>
            <a:endCxn id="2238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8" name="Google Shape;2248;p119"/>
          <p:cNvCxnSpPr>
            <a:stCxn id="2238" idx="2"/>
            <a:endCxn id="2229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9" name="Google Shape;2249;p119"/>
          <p:cNvCxnSpPr>
            <a:stCxn id="2236" idx="3"/>
            <a:endCxn id="2229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0" name="Google Shape;2250;p119"/>
          <p:cNvCxnSpPr>
            <a:stCxn id="2236" idx="1"/>
            <a:endCxn id="223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1" name="Google Shape;2251;p119"/>
          <p:cNvCxnSpPr>
            <a:stCxn id="2229" idx="1"/>
            <a:endCxn id="2226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119"/>
          <p:cNvCxnSpPr>
            <a:stCxn id="2226" idx="0"/>
            <a:endCxn id="2236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119"/>
          <p:cNvCxnSpPr>
            <a:stCxn id="2238" idx="1"/>
            <a:endCxn id="2226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4" name="Google Shape;2254;p119"/>
          <p:cNvCxnSpPr>
            <a:stCxn id="2228" idx="0"/>
            <a:endCxn id="2236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5508350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5" name="Google Shape;2255;p119"/>
          <p:cNvCxnSpPr>
            <a:stCxn id="2238" idx="1"/>
            <a:endCxn id="2228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119"/>
          <p:cNvCxnSpPr>
            <a:stCxn id="2229" idx="1"/>
            <a:endCxn id="2228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7" name="Google Shape;2257;p119"/>
          <p:cNvCxnSpPr>
            <a:stCxn id="2230" idx="2"/>
            <a:endCxn id="2232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8" name="Google Shape;2258;p119"/>
          <p:cNvCxnSpPr>
            <a:stCxn id="2230" idx="6"/>
            <a:endCxn id="2238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9" name="Google Shape;2259;p119"/>
          <p:cNvCxnSpPr>
            <a:stCxn id="2238" idx="4"/>
            <a:endCxn id="2232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0" name="Google Shape;2260;p119"/>
          <p:cNvCxnSpPr>
            <a:stCxn id="2229" idx="0"/>
            <a:endCxn id="2230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1" name="Google Shape;2261;p119"/>
          <p:cNvCxnSpPr>
            <a:stCxn id="2236" idx="3"/>
            <a:endCxn id="2232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Max(E)=28" id="2262" name="Google Shape;2262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957" y="3766213"/>
            <a:ext cx="1750836" cy="298778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119"/>
          <p:cNvSpPr/>
          <p:nvPr/>
        </p:nvSpPr>
        <p:spPr>
          <a:xfrm>
            <a:off x="3535625" y="3728342"/>
            <a:ext cx="23010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28 edges in there!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264" name="Google Shape;2264;p119"/>
          <p:cNvCxnSpPr>
            <a:stCxn id="2263" idx="7"/>
          </p:cNvCxnSpPr>
          <p:nvPr/>
        </p:nvCxnSpPr>
        <p:spPr>
          <a:xfrm flipH="1" rot="10800000">
            <a:off x="5499651" y="3462327"/>
            <a:ext cx="3912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270" name="Google Shape;2270;p120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120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72" name="Google Shape;2272;p120"/>
          <p:cNvCxnSpPr>
            <a:stCxn id="2271" idx="6"/>
            <a:endCxn id="227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3" name="Google Shape;2273;p12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4" name="Google Shape;2274;p120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75" name="Google Shape;2275;p12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76" name="Google Shape;2276;p120"/>
          <p:cNvCxnSpPr>
            <a:stCxn id="2275" idx="4"/>
            <a:endCxn id="227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7" name="Google Shape;2277;p120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78" name="Google Shape;2278;p120"/>
          <p:cNvCxnSpPr>
            <a:stCxn id="2271" idx="5"/>
            <a:endCxn id="227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9" name="Google Shape;2279;p12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80" name="Google Shape;2280;p120"/>
          <p:cNvCxnSpPr>
            <a:stCxn id="2279" idx="2"/>
            <a:endCxn id="227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1" name="Google Shape;2281;p12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82" name="Google Shape;2282;p120"/>
          <p:cNvCxnSpPr>
            <a:stCxn id="2281" idx="2"/>
            <a:endCxn id="227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3" name="Google Shape;2283;p120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84" name="Google Shape;2284;p120"/>
          <p:cNvCxnSpPr>
            <a:stCxn id="2283" idx="0"/>
            <a:endCxn id="228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5" name="Google Shape;2285;p120"/>
          <p:cNvCxnSpPr>
            <a:stCxn id="2273" idx="4"/>
            <a:endCxn id="227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1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291" name="Google Shape;2291;p121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121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93" name="Google Shape;2293;p121"/>
          <p:cNvCxnSpPr>
            <a:stCxn id="2292" idx="6"/>
            <a:endCxn id="229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4" name="Google Shape;2294;p12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95" name="Google Shape;2295;p121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96" name="Google Shape;2296;p12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97" name="Google Shape;2297;p121"/>
          <p:cNvCxnSpPr>
            <a:stCxn id="2296" idx="4"/>
            <a:endCxn id="229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8" name="Google Shape;2298;p121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99" name="Google Shape;2299;p121"/>
          <p:cNvCxnSpPr>
            <a:stCxn id="2292" idx="5"/>
            <a:endCxn id="229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0" name="Google Shape;2300;p12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01" name="Google Shape;2301;p121"/>
          <p:cNvCxnSpPr>
            <a:stCxn id="2300" idx="2"/>
            <a:endCxn id="229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2" name="Google Shape;2302;p12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03" name="Google Shape;2303;p121"/>
          <p:cNvCxnSpPr>
            <a:stCxn id="2302" idx="2"/>
            <a:endCxn id="230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4" name="Google Shape;2304;p121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05" name="Google Shape;2305;p121"/>
          <p:cNvCxnSpPr>
            <a:stCxn id="2304" idx="0"/>
            <a:endCxn id="230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6" name="Google Shape;2306;p121"/>
          <p:cNvCxnSpPr>
            <a:stCxn id="2294" idx="4"/>
            <a:endCxn id="229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1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312" name="Google Shape;2312;p12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12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14" name="Google Shape;2314;p122"/>
          <p:cNvCxnSpPr>
            <a:stCxn id="2313" idx="6"/>
            <a:endCxn id="231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5" name="Google Shape;2315;p12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6" name="Google Shape;2316;p12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7" name="Google Shape;2317;p12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18" name="Google Shape;2318;p122"/>
          <p:cNvCxnSpPr>
            <a:stCxn id="2317" idx="4"/>
            <a:endCxn id="231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9" name="Google Shape;2319;p12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20" name="Google Shape;2320;p122"/>
          <p:cNvCxnSpPr>
            <a:stCxn id="2313" idx="5"/>
            <a:endCxn id="231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1" name="Google Shape;2321;p12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22" name="Google Shape;2322;p122"/>
          <p:cNvCxnSpPr>
            <a:stCxn id="2321" idx="2"/>
            <a:endCxn id="231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3" name="Google Shape;2323;p12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24" name="Google Shape;2324;p122"/>
          <p:cNvCxnSpPr>
            <a:stCxn id="2323" idx="2"/>
            <a:endCxn id="232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5" name="Google Shape;2325;p12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26" name="Google Shape;2326;p122"/>
          <p:cNvCxnSpPr>
            <a:stCxn id="2325" idx="0"/>
            <a:endCxn id="232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7" name="Google Shape;2327;p122"/>
          <p:cNvCxnSpPr>
            <a:stCxn id="2315" idx="4"/>
            <a:endCxn id="231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\frac{m}{\frac{n(n-1)}{2}}" id="2328" name="Google Shape;2328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848" y="3770786"/>
            <a:ext cx="1418303" cy="74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1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334" name="Google Shape;2334;p12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12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36" name="Google Shape;2336;p123"/>
          <p:cNvCxnSpPr>
            <a:stCxn id="2335" idx="6"/>
            <a:endCxn id="233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7" name="Google Shape;2337;p12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38" name="Google Shape;2338;p12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39" name="Google Shape;2339;p12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0" name="Google Shape;2340;p123"/>
          <p:cNvCxnSpPr>
            <a:stCxn id="2339" idx="4"/>
            <a:endCxn id="233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1" name="Google Shape;2341;p12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2" name="Google Shape;2342;p123"/>
          <p:cNvCxnSpPr>
            <a:stCxn id="2335" idx="5"/>
            <a:endCxn id="234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3" name="Google Shape;2343;p12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4" name="Google Shape;2344;p123"/>
          <p:cNvCxnSpPr>
            <a:stCxn id="2343" idx="2"/>
            <a:endCxn id="233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5" name="Google Shape;2345;p12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6" name="Google Shape;2346;p123"/>
          <p:cNvCxnSpPr>
            <a:stCxn id="2345" idx="2"/>
            <a:endCxn id="234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7" name="Google Shape;2347;p12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8" name="Google Shape;2348;p123"/>
          <p:cNvCxnSpPr>
            <a:stCxn id="2347" idx="0"/>
            <a:endCxn id="234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9" name="Google Shape;2349;p123"/>
          <p:cNvCxnSpPr>
            <a:stCxn id="2337" idx="4"/>
            <a:endCxn id="234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m\times\frac{2}{n(n-1)}" id="2350" name="Google Shape;2350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508" y="3872943"/>
            <a:ext cx="2101014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4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" name="Google Shape;2355;p1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356" name="Google Shape;2356;p124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7" name="Google Shape;2357;p124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58" name="Google Shape;2358;p124"/>
          <p:cNvCxnSpPr>
            <a:stCxn id="2357" idx="6"/>
            <a:endCxn id="2359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9" name="Google Shape;2359;p12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0" name="Google Shape;2360;p124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61" name="Google Shape;2361;p12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62" name="Google Shape;2362;p124"/>
          <p:cNvCxnSpPr>
            <a:stCxn id="2361" idx="4"/>
            <a:endCxn id="2359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3" name="Google Shape;2363;p124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64" name="Google Shape;2364;p124"/>
          <p:cNvCxnSpPr>
            <a:stCxn id="2357" idx="5"/>
            <a:endCxn id="2363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5" name="Google Shape;2365;p12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66" name="Google Shape;2366;p124"/>
          <p:cNvCxnSpPr>
            <a:stCxn id="2365" idx="2"/>
            <a:endCxn id="2359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7" name="Google Shape;2367;p12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68" name="Google Shape;2368;p124"/>
          <p:cNvCxnSpPr>
            <a:stCxn id="2367" idx="2"/>
            <a:endCxn id="2365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9" name="Google Shape;2369;p124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70" name="Google Shape;2370;p124"/>
          <p:cNvCxnSpPr>
            <a:stCxn id="2369" idx="0"/>
            <a:endCxn id="2367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1" name="Google Shape;2371;p124"/>
          <p:cNvCxnSpPr>
            <a:stCxn id="2359" idx="4"/>
            <a:endCxn id="2363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\frac{2m}{n(n-1)}" id="2372" name="Google Shape;2372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654" y="3873105"/>
            <a:ext cx="1526721" cy="62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1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378" name="Google Shape;2378;p12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find that out, we can compute the ratio between: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observed number of edges (M)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And the maximum possible for a graph of that order (Max(E))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9" name="Google Shape;2379;p125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80" name="Google Shape;2380;p125"/>
          <p:cNvCxnSpPr>
            <a:stCxn id="2379" idx="6"/>
            <a:endCxn id="2381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1" name="Google Shape;2381;p12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82" name="Google Shape;2382;p125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83" name="Google Shape;2383;p12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84" name="Google Shape;2384;p125"/>
          <p:cNvCxnSpPr>
            <a:stCxn id="2383" idx="4"/>
            <a:endCxn id="2381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5" name="Google Shape;2385;p125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86" name="Google Shape;2386;p125"/>
          <p:cNvCxnSpPr>
            <a:stCxn id="2379" idx="5"/>
            <a:endCxn id="2385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7" name="Google Shape;2387;p12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88" name="Google Shape;2388;p125"/>
          <p:cNvCxnSpPr>
            <a:stCxn id="2387" idx="2"/>
            <a:endCxn id="2381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9" name="Google Shape;2389;p12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90" name="Google Shape;2390;p125"/>
          <p:cNvCxnSpPr>
            <a:stCxn id="2389" idx="2"/>
            <a:endCxn id="2387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1" name="Google Shape;2391;p125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92" name="Google Shape;2392;p125"/>
          <p:cNvCxnSpPr>
            <a:stCxn id="2391" idx="0"/>
            <a:endCxn id="2389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3" name="Google Shape;2393;p125"/>
          <p:cNvCxnSpPr>
            <a:stCxn id="2381" idx="4"/>
            <a:endCxn id="2385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 = \frac{2 \times 7}{8 \times 7} = \frac{14}{56}=0.25" id="2394" name="Google Shape;2394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42" y="3835284"/>
            <a:ext cx="2743199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1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400" name="Google Shape;2400;p126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1" name="Google Shape;2401;p126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02" name="Google Shape;2402;p126"/>
          <p:cNvCxnSpPr>
            <a:stCxn id="2401" idx="6"/>
            <a:endCxn id="2403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3" name="Google Shape;2403;p12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4" name="Google Shape;2404;p126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05" name="Google Shape;2405;p12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06" name="Google Shape;2406;p126"/>
          <p:cNvCxnSpPr>
            <a:stCxn id="2405" idx="4"/>
            <a:endCxn id="2403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7" name="Google Shape;2407;p126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08" name="Google Shape;2408;p126"/>
          <p:cNvCxnSpPr>
            <a:stCxn id="2401" idx="5"/>
            <a:endCxn id="2407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9" name="Google Shape;2409;p12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10" name="Google Shape;2410;p126"/>
          <p:cNvCxnSpPr>
            <a:stCxn id="2409" idx="2"/>
            <a:endCxn id="2403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1" name="Google Shape;2411;p12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12" name="Google Shape;2412;p126"/>
          <p:cNvCxnSpPr>
            <a:stCxn id="2411" idx="2"/>
            <a:endCxn id="2409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3" name="Google Shape;2413;p126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14" name="Google Shape;2414;p126"/>
          <p:cNvCxnSpPr>
            <a:stCxn id="2413" idx="0"/>
            <a:endCxn id="2411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5" name="Google Shape;2415;p126"/>
          <p:cNvCxnSpPr>
            <a:stCxn id="2403" idx="4"/>
            <a:endCxn id="2407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 = \frac{2 \times 7}{8 \times 7} = \frac{14}{56}=0.25" id="2416" name="Google Shape;2416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942" y="3835284"/>
            <a:ext cx="2743199" cy="57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1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422" name="Google Shape;2422;p12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127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a density equal to one!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424" name="Google Shape;2424;p127"/>
          <p:cNvCxnSpPr>
            <a:stCxn id="2423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5" name="Google Shape;2425;p127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26" name="Google Shape;2426;p127"/>
          <p:cNvCxnSpPr>
            <a:stCxn id="2425" idx="6"/>
            <a:endCxn id="2427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7" name="Google Shape;2427;p12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8" name="Google Shape;2428;p127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29" name="Google Shape;2429;p12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0" name="Google Shape;2430;p127"/>
          <p:cNvCxnSpPr>
            <a:stCxn id="2429" idx="4"/>
            <a:endCxn id="2427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1" name="Google Shape;2431;p127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2" name="Google Shape;2432;p127"/>
          <p:cNvCxnSpPr>
            <a:stCxn id="2425" idx="5"/>
            <a:endCxn id="2431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3" name="Google Shape;2433;p12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4" name="Google Shape;2434;p127"/>
          <p:cNvCxnSpPr>
            <a:stCxn id="2433" idx="2"/>
            <a:endCxn id="2427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5" name="Google Shape;2435;p12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6" name="Google Shape;2436;p127"/>
          <p:cNvCxnSpPr>
            <a:stCxn id="2435" idx="2"/>
            <a:endCxn id="2433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7" name="Google Shape;2437;p127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8" name="Google Shape;2438;p127"/>
          <p:cNvCxnSpPr>
            <a:stCxn id="2437" idx="0"/>
            <a:endCxn id="2435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9" name="Google Shape;2439;p127"/>
          <p:cNvCxnSpPr>
            <a:stCxn id="2427" idx="4"/>
            <a:endCxn id="2431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0" name="Google Shape;2440;p127"/>
          <p:cNvCxnSpPr>
            <a:stCxn id="2425" idx="7"/>
            <a:endCxn id="2429" idx="3"/>
          </p:cNvCxnSpPr>
          <p:nvPr/>
        </p:nvCxnSpPr>
        <p:spPr>
          <a:xfrm flipH="1" rot="10800000">
            <a:off x="5660351" y="1969132"/>
            <a:ext cx="8367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1" name="Google Shape;2441;p127"/>
          <p:cNvCxnSpPr>
            <a:stCxn id="2425" idx="0"/>
            <a:endCxn id="2433" idx="7"/>
          </p:cNvCxnSpPr>
          <p:nvPr/>
        </p:nvCxnSpPr>
        <p:spPr>
          <a:xfrm flipH="1" rot="-5400000">
            <a:off x="6594988" y="1650301"/>
            <a:ext cx="46200" cy="2145000"/>
          </a:xfrm>
          <a:prstGeom prst="curvedConnector3">
            <a:avLst>
              <a:gd fmla="val -515422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2" name="Google Shape;2442;p127"/>
          <p:cNvCxnSpPr>
            <a:stCxn id="2429" idx="5"/>
            <a:endCxn id="243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3" name="Google Shape;2443;p127"/>
          <p:cNvCxnSpPr>
            <a:stCxn id="2433" idx="4"/>
            <a:endCxn id="2431" idx="7"/>
          </p:cNvCxnSpPr>
          <p:nvPr/>
        </p:nvCxnSpPr>
        <p:spPr>
          <a:xfrm flipH="1">
            <a:off x="6726618" y="3014701"/>
            <a:ext cx="8493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4" name="Google Shape;2444;p127"/>
          <p:cNvCxnSpPr>
            <a:stCxn id="2428" idx="2"/>
            <a:endCxn id="2431" idx="6"/>
          </p:cNvCxnSpPr>
          <p:nvPr/>
        </p:nvCxnSpPr>
        <p:spPr>
          <a:xfrm rot="10800000">
            <a:off x="6774318" y="3946709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5" name="Google Shape;2445;p127"/>
          <p:cNvCxnSpPr>
            <a:stCxn id="2433" idx="4"/>
            <a:endCxn id="2428" idx="0"/>
          </p:cNvCxnSpPr>
          <p:nvPr/>
        </p:nvCxnSpPr>
        <p:spPr>
          <a:xfrm>
            <a:off x="7575918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6" name="Google Shape;2446;p127"/>
          <p:cNvCxnSpPr>
            <a:stCxn id="2433" idx="4"/>
            <a:endCxn id="2437" idx="1"/>
          </p:cNvCxnSpPr>
          <p:nvPr/>
        </p:nvCxnSpPr>
        <p:spPr>
          <a:xfrm>
            <a:off x="7575918" y="3014701"/>
            <a:ext cx="1014000" cy="820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7" name="Google Shape;2447;p127"/>
          <p:cNvCxnSpPr>
            <a:stCxn id="2437" idx="2"/>
            <a:endCxn id="2428" idx="6"/>
          </p:cNvCxnSpPr>
          <p:nvPr/>
        </p:nvCxnSpPr>
        <p:spPr>
          <a:xfrm rot="10800000">
            <a:off x="7738115" y="3946709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8" name="Google Shape;2448;p127"/>
          <p:cNvCxnSpPr>
            <a:stCxn id="2435" idx="3"/>
            <a:endCxn id="2428" idx="7"/>
          </p:cNvCxnSpPr>
          <p:nvPr/>
        </p:nvCxnSpPr>
        <p:spPr>
          <a:xfrm flipH="1">
            <a:off x="7690552" y="2968570"/>
            <a:ext cx="899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9" name="Google Shape;2449;p127"/>
          <p:cNvCxnSpPr>
            <a:stCxn id="2435" idx="1"/>
            <a:endCxn id="242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0" name="Google Shape;2450;p127"/>
          <p:cNvCxnSpPr>
            <a:stCxn id="2428" idx="1"/>
            <a:endCxn id="2425" idx="5"/>
          </p:cNvCxnSpPr>
          <p:nvPr/>
        </p:nvCxnSpPr>
        <p:spPr>
          <a:xfrm rot="10800000">
            <a:off x="5660254" y="2968640"/>
            <a:ext cx="18009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1" name="Google Shape;2451;p127"/>
          <p:cNvCxnSpPr>
            <a:stCxn id="2425" idx="0"/>
            <a:endCxn id="2435" idx="0"/>
          </p:cNvCxnSpPr>
          <p:nvPr/>
        </p:nvCxnSpPr>
        <p:spPr>
          <a:xfrm flipH="1" rot="-5400000">
            <a:off x="7124788" y="1120501"/>
            <a:ext cx="600" cy="3159000"/>
          </a:xfrm>
          <a:prstGeom prst="curvedConnector3">
            <a:avLst>
              <a:gd fmla="val -54325176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2" name="Google Shape;2452;p127"/>
          <p:cNvCxnSpPr>
            <a:stCxn id="2437" idx="1"/>
            <a:endCxn id="2425" idx="5"/>
          </p:cNvCxnSpPr>
          <p:nvPr/>
        </p:nvCxnSpPr>
        <p:spPr>
          <a:xfrm rot="10800000">
            <a:off x="5660452" y="2968640"/>
            <a:ext cx="29295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3" name="Google Shape;2453;p127"/>
          <p:cNvCxnSpPr>
            <a:stCxn id="2427" idx="0"/>
            <a:endCxn id="2435" idx="0"/>
          </p:cNvCxnSpPr>
          <p:nvPr/>
        </p:nvCxnSpPr>
        <p:spPr>
          <a:xfrm flipH="1" rot="-5400000">
            <a:off x="7658080" y="1653601"/>
            <a:ext cx="600" cy="20928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4" name="Google Shape;2454;p127"/>
          <p:cNvCxnSpPr>
            <a:stCxn id="2437" idx="1"/>
            <a:endCxn id="2427" idx="5"/>
          </p:cNvCxnSpPr>
          <p:nvPr/>
        </p:nvCxnSpPr>
        <p:spPr>
          <a:xfrm rot="10800000">
            <a:off x="6726652" y="296864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5" name="Google Shape;2455;p127"/>
          <p:cNvCxnSpPr>
            <a:stCxn id="2428" idx="1"/>
            <a:endCxn id="2427" idx="5"/>
          </p:cNvCxnSpPr>
          <p:nvPr/>
        </p:nvCxnSpPr>
        <p:spPr>
          <a:xfrm rot="10800000">
            <a:off x="6726754" y="2968640"/>
            <a:ext cx="7344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6" name="Google Shape;2456;p127"/>
          <p:cNvCxnSpPr>
            <a:stCxn id="2429" idx="2"/>
            <a:endCxn id="2431" idx="2"/>
          </p:cNvCxnSpPr>
          <p:nvPr/>
        </p:nvCxnSpPr>
        <p:spPr>
          <a:xfrm>
            <a:off x="6449659" y="1857738"/>
            <a:ext cx="600" cy="2088900"/>
          </a:xfrm>
          <a:prstGeom prst="curvedConnector3">
            <a:avLst>
              <a:gd fmla="val -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7" name="Google Shape;2457;p127"/>
          <p:cNvCxnSpPr>
            <a:stCxn id="2429" idx="6"/>
            <a:endCxn id="2437" idx="1"/>
          </p:cNvCxnSpPr>
          <p:nvPr/>
        </p:nvCxnSpPr>
        <p:spPr>
          <a:xfrm>
            <a:off x="6774259" y="1857738"/>
            <a:ext cx="1815600" cy="1977600"/>
          </a:xfrm>
          <a:prstGeom prst="curvedConnector2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8" name="Google Shape;2458;p127"/>
          <p:cNvCxnSpPr>
            <a:stCxn id="2437" idx="4"/>
            <a:endCxn id="2431" idx="4"/>
          </p:cNvCxnSpPr>
          <p:nvPr/>
        </p:nvCxnSpPr>
        <p:spPr>
          <a:xfrm rot="5400000">
            <a:off x="7658015" y="3058109"/>
            <a:ext cx="600" cy="2092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9" name="Google Shape;2459;p127"/>
          <p:cNvCxnSpPr>
            <a:stCxn id="2428" idx="0"/>
            <a:endCxn id="2429" idx="5"/>
          </p:cNvCxnSpPr>
          <p:nvPr/>
        </p:nvCxnSpPr>
        <p:spPr>
          <a:xfrm rot="10800000">
            <a:off x="6726618" y="1969109"/>
            <a:ext cx="849300" cy="182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0" name="Google Shape;2460;p127"/>
          <p:cNvCxnSpPr>
            <a:stCxn id="2435" idx="3"/>
            <a:endCxn id="2431" idx="7"/>
          </p:cNvCxnSpPr>
          <p:nvPr/>
        </p:nvCxnSpPr>
        <p:spPr>
          <a:xfrm flipH="1">
            <a:off x="6726652" y="2968570"/>
            <a:ext cx="18633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1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466" name="Google Shape;2466;p128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Density (</a:t>
            </a:r>
            <a:r>
              <a:rPr i="1" lang="en"/>
              <a:t>d</a:t>
            </a:r>
            <a:r>
              <a:rPr lang="en"/>
              <a:t>) is always a number between 0 and 1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zero</a:t>
            </a:r>
            <a:r>
              <a:rPr lang="en"/>
              <a:t> the closer the observed graph is to the </a:t>
            </a:r>
            <a:r>
              <a:rPr b="1" lang="en"/>
              <a:t>empty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closer </a:t>
            </a:r>
            <a:r>
              <a:rPr i="1" lang="en"/>
              <a:t>d</a:t>
            </a:r>
            <a:r>
              <a:rPr lang="en"/>
              <a:t> is to </a:t>
            </a:r>
            <a:r>
              <a:rPr b="1" lang="en"/>
              <a:t>one</a:t>
            </a:r>
            <a:r>
              <a:rPr lang="en"/>
              <a:t> the closer the observed graph is to the </a:t>
            </a:r>
            <a:r>
              <a:rPr b="1" lang="en"/>
              <a:t>complete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128"/>
          <p:cNvSpPr/>
          <p:nvPr/>
        </p:nvSpPr>
        <p:spPr>
          <a:xfrm>
            <a:off x="2394175" y="3728350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has a density equal to zero!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468" name="Google Shape;2468;p128"/>
          <p:cNvCxnSpPr>
            <a:stCxn id="2467" idx="7"/>
          </p:cNvCxnSpPr>
          <p:nvPr/>
        </p:nvCxnSpPr>
        <p:spPr>
          <a:xfrm flipH="1" rot="10800000">
            <a:off x="5309999" y="3462335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9" name="Google Shape;2469;p128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0" name="Google Shape;2470;p12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1" name="Google Shape;2471;p128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2" name="Google Shape;2472;p12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3" name="Google Shape;2473;p128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4" name="Google Shape;2474;p12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5" name="Google Shape;2475;p12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6" name="Google Shape;2476;p128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p1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</a:t>
            </a:r>
            <a:endParaRPr/>
          </a:p>
        </p:txBody>
      </p:sp>
      <p:sp>
        <p:nvSpPr>
          <p:cNvPr id="2482" name="Google Shape;2482;p129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how close (or far) a given graph is from its maximum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called the </a:t>
            </a:r>
            <a:r>
              <a:rPr b="1" lang="en"/>
              <a:t>density </a:t>
            </a:r>
            <a:r>
              <a:rPr lang="en"/>
              <a:t>of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graph density can be interpreted in two other ways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the </a:t>
            </a:r>
            <a:r>
              <a:rPr b="1" lang="en"/>
              <a:t>percentage </a:t>
            </a:r>
            <a:r>
              <a:rPr lang="en"/>
              <a:t>of possible edges that are actually present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the </a:t>
            </a:r>
            <a:r>
              <a:rPr b="1" lang="en"/>
              <a:t>probability</a:t>
            </a:r>
            <a:r>
              <a:rPr lang="en"/>
              <a:t> that if we pick two nodes at random from the graph that there will be an edge linking them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129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84" name="Google Shape;2484;p129"/>
          <p:cNvCxnSpPr>
            <a:stCxn id="2483" idx="6"/>
            <a:endCxn id="248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5" name="Google Shape;2485;p12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6" name="Google Shape;2486;p129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7" name="Google Shape;2487;p12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88" name="Google Shape;2488;p129"/>
          <p:cNvCxnSpPr>
            <a:stCxn id="2487" idx="4"/>
            <a:endCxn id="248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9" name="Google Shape;2489;p129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90" name="Google Shape;2490;p129"/>
          <p:cNvCxnSpPr>
            <a:stCxn id="2483" idx="5"/>
            <a:endCxn id="248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1" name="Google Shape;2491;p12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92" name="Google Shape;2492;p129"/>
          <p:cNvCxnSpPr>
            <a:stCxn id="2491" idx="2"/>
            <a:endCxn id="248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3" name="Google Shape;2493;p12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94" name="Google Shape;2494;p129"/>
          <p:cNvCxnSpPr>
            <a:stCxn id="2493" idx="2"/>
            <a:endCxn id="249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5" name="Google Shape;2495;p129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96" name="Google Shape;2496;p129"/>
          <p:cNvCxnSpPr>
            <a:stCxn id="2495" idx="0"/>
            <a:endCxn id="249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7" name="Google Shape;2497;p129"/>
          <p:cNvCxnSpPr>
            <a:stCxn id="2485" idx="4"/>
            <a:endCxn id="248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=0.25" id="2498" name="Google Shape;2498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801" y="4182081"/>
            <a:ext cx="1371600" cy="27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1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Ways of Computing the Density</a:t>
            </a:r>
            <a:endParaRPr/>
          </a:p>
        </p:txBody>
      </p:sp>
      <p:sp>
        <p:nvSpPr>
          <p:cNvPr id="2504" name="Google Shape;2504;p130"/>
          <p:cNvSpPr txBox="1"/>
          <p:nvPr>
            <p:ph idx="1" type="body"/>
          </p:nvPr>
        </p:nvSpPr>
        <p:spPr>
          <a:xfrm>
            <a:off x="311700" y="1225225"/>
            <a:ext cx="3703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compute the density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Approach</a:t>
            </a:r>
            <a:r>
              <a:rPr b="1" lang="en"/>
              <a:t> 1: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First compute Max(E)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\frac{n(n-1)}{2}" id="2505" name="Google Shape;2505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297" y="1360463"/>
            <a:ext cx="2624007" cy="644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\frac{8\times(8-1)}{2}" id="2506" name="Google Shape;2506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688" y="2140490"/>
            <a:ext cx="2743201" cy="58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\frac{8\times7}{2}" id="2507" name="Google Shape;2507;p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688" y="2865315"/>
            <a:ext cx="2086184" cy="58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\frac{56}{2}" id="2508" name="Google Shape;2508;p1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1688" y="3632152"/>
            <a:ext cx="1750836" cy="58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28" id="2509" name="Google Shape;2509;p1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61688" y="4398975"/>
            <a:ext cx="1750836" cy="298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1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Ways of Computing the Density</a:t>
            </a:r>
            <a:endParaRPr/>
          </a:p>
        </p:txBody>
      </p:sp>
      <p:sp>
        <p:nvSpPr>
          <p:cNvPr id="2515" name="Google Shape;2515;p131"/>
          <p:cNvSpPr txBox="1"/>
          <p:nvPr>
            <p:ph idx="1" type="body"/>
          </p:nvPr>
        </p:nvSpPr>
        <p:spPr>
          <a:xfrm>
            <a:off x="311700" y="1225225"/>
            <a:ext cx="370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compute the density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Approach 1: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First compute Max(E)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Then use the formula: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 = \frac{m}{Max(E)}&#10;%414064cf-21e2-42b6-a396-1d3a3db5ff73" id="2516" name="Google Shape;251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950" y="2729938"/>
            <a:ext cx="15049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 = \frac{7}{28}&#10;%bac6165b-9c93-4910-9f26-641f36d4bd27" id="2517" name="Google Shape;2517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4950" y="3379975"/>
            <a:ext cx="8286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\frac{n(n-1)}{2}" id="2518" name="Google Shape;2518;p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297" y="1360463"/>
            <a:ext cx="2624007" cy="644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\frac{8\times(8-1)}{2}" id="2519" name="Google Shape;2519;p1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1688" y="2140490"/>
            <a:ext cx="2743201" cy="58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\frac{8\times7}{2}" id="2520" name="Google Shape;2520;p1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61688" y="2865315"/>
            <a:ext cx="2086184" cy="58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\frac{56}{2}" id="2521" name="Google Shape;2521;p1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1688" y="3632152"/>
            <a:ext cx="1750836" cy="589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x(E)=28" id="2522" name="Google Shape;2522;p1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61688" y="4398975"/>
            <a:ext cx="1750836" cy="298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 = 0.25&#10;%f4f8078b-b4e9-480c-a6f1-81db5285237b" id="2523" name="Google Shape;2523;p1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91056" y="4136375"/>
            <a:ext cx="9144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p1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Ways of Computing the Density</a:t>
            </a:r>
            <a:endParaRPr/>
          </a:p>
        </p:txBody>
      </p:sp>
      <p:sp>
        <p:nvSpPr>
          <p:cNvPr id="2529" name="Google Shape;2529;p132"/>
          <p:cNvSpPr txBox="1"/>
          <p:nvPr>
            <p:ph idx="1" type="body"/>
          </p:nvPr>
        </p:nvSpPr>
        <p:spPr>
          <a:xfrm>
            <a:off x="311700" y="1225225"/>
            <a:ext cx="3705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compute the density in two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Approach 2: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Just use the formula: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2m}{n(n-1)}" id="2530" name="Google Shape;2530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829" y="2571755"/>
            <a:ext cx="1526721" cy="628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 = \frac{2 \times 7}{8 \times 7} = \frac{14}{56}=0.25" id="2531" name="Google Shape;2531;p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5817" y="3465584"/>
            <a:ext cx="2743199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2532" name="Google Shape;2532;p132"/>
          <p:cNvSpPr/>
          <p:nvPr/>
        </p:nvSpPr>
        <p:spPr>
          <a:xfrm>
            <a:off x="5167675" y="1789475"/>
            <a:ext cx="3360300" cy="1676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Both give you the same answer!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6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1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Concepts (Subgraphs, Neighborhoods)</a:t>
            </a:r>
            <a:endParaRPr/>
          </a:p>
        </p:txBody>
      </p:sp>
      <p:sp>
        <p:nvSpPr>
          <p:cNvPr id="2538" name="Google Shape;2538;p1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Subg</a:t>
            </a:r>
            <a:r>
              <a:rPr b="1" lang="en"/>
              <a:t>raph: </a:t>
            </a:r>
            <a:r>
              <a:rPr lang="en"/>
              <a:t>A subset of either nodes or edges from the larger graph.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Node-deleted subgraph: </a:t>
            </a:r>
            <a:r>
              <a:rPr lang="en"/>
              <a:t>Subgraph obtained from removing 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Edge-</a:t>
            </a:r>
            <a:r>
              <a:rPr b="1" lang="en"/>
              <a:t>deleted</a:t>
            </a:r>
            <a:r>
              <a:rPr b="1" lang="en"/>
              <a:t> subgraph: </a:t>
            </a:r>
            <a:r>
              <a:rPr lang="en"/>
              <a:t>Subgraph obtained from removing edges.</a:t>
            </a:r>
            <a:r>
              <a:rPr b="1"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Node neighbors: </a:t>
            </a:r>
            <a:r>
              <a:rPr lang="en"/>
              <a:t>Set of nodes directly adjacent to another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Neighborhood intersection:</a:t>
            </a:r>
            <a:r>
              <a:rPr lang="en"/>
              <a:t> Set of neighbors shared by two 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Neighborhood union: </a:t>
            </a:r>
            <a:r>
              <a:rPr lang="en"/>
              <a:t>Set of neighbors directly adjacent to two other 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Node degree: </a:t>
            </a:r>
            <a:r>
              <a:rPr lang="en"/>
              <a:t>Number of nodes directly adjacent to another node.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1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Concepts (Degree)</a:t>
            </a:r>
            <a:endParaRPr/>
          </a:p>
        </p:txBody>
      </p:sp>
      <p:sp>
        <p:nvSpPr>
          <p:cNvPr id="2544" name="Google Shape;2544;p1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Degree Set</a:t>
            </a:r>
            <a:r>
              <a:rPr lang="en"/>
              <a:t>: Vector (list) of the degrees of each node in a graph.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Degree Sequence:</a:t>
            </a:r>
            <a:r>
              <a:rPr lang="en"/>
              <a:t> Ordered list of the degrees of each node in a graph from biggest to smallest.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Maximum Degree: </a:t>
            </a:r>
            <a:r>
              <a:rPr lang="en"/>
              <a:t>Largest number in the graph degree set.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Minimum Degree: </a:t>
            </a:r>
            <a:r>
              <a:rPr lang="en"/>
              <a:t>Smallest number in the graph degree set.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Degree Range: </a:t>
            </a:r>
            <a:r>
              <a:rPr lang="en"/>
              <a:t>Difference between a graph’s maximum and minimum degrees.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1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Concepts (Graph Metrics)</a:t>
            </a:r>
            <a:endParaRPr/>
          </a:p>
        </p:txBody>
      </p:sp>
      <p:sp>
        <p:nvSpPr>
          <p:cNvPr id="2550" name="Google Shape;2550;p1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Sum of Degrees: </a:t>
            </a:r>
            <a:r>
              <a:rPr lang="en"/>
              <a:t>Sum of each of the numbers in the graph degree set.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Average Degree</a:t>
            </a:r>
            <a:r>
              <a:rPr lang="en"/>
              <a:t>: The sum of degrees </a:t>
            </a:r>
            <a:r>
              <a:rPr lang="en"/>
              <a:t>divided</a:t>
            </a:r>
            <a:r>
              <a:rPr lang="en"/>
              <a:t> by the graph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Complete Graph</a:t>
            </a:r>
            <a:r>
              <a:rPr lang="en"/>
              <a:t>: A graph in which every node is adjacent to every other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Maximum Size</a:t>
            </a:r>
            <a:r>
              <a:rPr lang="en"/>
              <a:t>: Number of edges in a complete graph of a given order.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Graph Density</a:t>
            </a:r>
            <a:r>
              <a:rPr lang="en"/>
              <a:t>: Ratio of the observed number of edges in a graph (the graph size) to a graph’s maximum size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554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13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Elements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p1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Directed Graph?</a:t>
            </a:r>
            <a:endParaRPr/>
          </a:p>
        </p:txBody>
      </p:sp>
      <p:sp>
        <p:nvSpPr>
          <p:cNvPr id="2561" name="Google Shape;2561;p137"/>
          <p:cNvSpPr txBox="1"/>
          <p:nvPr>
            <p:ph idx="1" type="body"/>
          </p:nvPr>
        </p:nvSpPr>
        <p:spPr>
          <a:xfrm>
            <a:off x="311700" y="1225225"/>
            <a:ext cx="480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 a directed graph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13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3" name="Google Shape;2563;p13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4" name="Google Shape;2564;p13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5" name="Google Shape;2565;p13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6" name="Google Shape;2566;p13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7" name="Google Shape;2567;p13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8" name="Google Shape;2568;p13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69" name="Google Shape;2569;p13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70" name="Google Shape;2570;p137"/>
          <p:cNvCxnSpPr>
            <a:stCxn id="2562" idx="7"/>
            <a:endCxn id="256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1" name="Google Shape;2571;p137"/>
          <p:cNvCxnSpPr>
            <a:stCxn id="2565" idx="3"/>
            <a:endCxn id="256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2" name="Google Shape;2572;p137"/>
          <p:cNvCxnSpPr>
            <a:stCxn id="2567" idx="7"/>
            <a:endCxn id="256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3" name="Google Shape;2573;p137"/>
          <p:cNvCxnSpPr>
            <a:stCxn id="2568" idx="3"/>
            <a:endCxn id="256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4" name="Google Shape;2574;p137"/>
          <p:cNvCxnSpPr>
            <a:stCxn id="2564" idx="6"/>
            <a:endCxn id="256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5" name="Google Shape;2575;p137"/>
          <p:cNvCxnSpPr>
            <a:stCxn id="2567" idx="4"/>
            <a:endCxn id="256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6" name="Google Shape;2576;p137"/>
          <p:cNvCxnSpPr>
            <a:stCxn id="2563" idx="4"/>
            <a:endCxn id="256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7" name="Google Shape;2577;p137"/>
          <p:cNvCxnSpPr>
            <a:stCxn id="2562" idx="5"/>
            <a:endCxn id="256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8" name="Google Shape;2578;p137"/>
          <p:cNvCxnSpPr>
            <a:stCxn id="2562" idx="6"/>
            <a:endCxn id="256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9" name="Google Shape;2579;p137"/>
          <p:cNvCxnSpPr>
            <a:stCxn id="2564" idx="2"/>
            <a:endCxn id="256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0" name="Google Shape;2580;p137"/>
          <p:cNvCxnSpPr>
            <a:stCxn id="2569" idx="1"/>
            <a:endCxn id="256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1" name="Google Shape;2581;p137"/>
          <p:cNvCxnSpPr>
            <a:stCxn id="2568" idx="1"/>
            <a:endCxn id="256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2" name="Google Shape;2582;p137"/>
          <p:cNvCxnSpPr>
            <a:stCxn id="2565" idx="5"/>
            <a:endCxn id="256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3" name="Google Shape;2583;p137"/>
          <p:cNvCxnSpPr>
            <a:stCxn id="2563" idx="7"/>
            <a:endCxn id="256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4" name="Google Shape;2584;p137"/>
          <p:cNvCxnSpPr>
            <a:stCxn id="2567" idx="3"/>
            <a:endCxn id="256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5" name="Google Shape;2585;p137"/>
          <p:cNvCxnSpPr>
            <a:stCxn id="2563" idx="6"/>
            <a:endCxn id="256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1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Directed Graph?</a:t>
            </a:r>
            <a:endParaRPr/>
          </a:p>
        </p:txBody>
      </p:sp>
      <p:sp>
        <p:nvSpPr>
          <p:cNvPr id="2591" name="Google Shape;2591;p138"/>
          <p:cNvSpPr txBox="1"/>
          <p:nvPr>
            <p:ph idx="1" type="body"/>
          </p:nvPr>
        </p:nvSpPr>
        <p:spPr>
          <a:xfrm>
            <a:off x="311700" y="1225225"/>
            <a:ext cx="480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 a directed graph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vertex set works the same way as in a regular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edge set works differently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composed of </a:t>
            </a:r>
            <a:r>
              <a:rPr b="1" lang="en"/>
              <a:t>ordered pairs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13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3" name="Google Shape;2593;p13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4" name="Google Shape;2594;p13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5" name="Google Shape;2595;p13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6" name="Google Shape;2596;p13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7" name="Google Shape;2597;p13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8" name="Google Shape;2598;p13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99" name="Google Shape;2599;p13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00" name="Google Shape;2600;p138"/>
          <p:cNvCxnSpPr>
            <a:stCxn id="2592" idx="7"/>
            <a:endCxn id="259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1" name="Google Shape;2601;p138"/>
          <p:cNvCxnSpPr>
            <a:stCxn id="2595" idx="3"/>
            <a:endCxn id="259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2" name="Google Shape;2602;p138"/>
          <p:cNvCxnSpPr>
            <a:stCxn id="2597" idx="7"/>
            <a:endCxn id="259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3" name="Google Shape;2603;p138"/>
          <p:cNvCxnSpPr>
            <a:stCxn id="2598" idx="3"/>
            <a:endCxn id="259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4" name="Google Shape;2604;p138"/>
          <p:cNvCxnSpPr>
            <a:stCxn id="2594" idx="6"/>
            <a:endCxn id="259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5" name="Google Shape;2605;p138"/>
          <p:cNvCxnSpPr>
            <a:stCxn id="2597" idx="4"/>
            <a:endCxn id="259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6" name="Google Shape;2606;p138"/>
          <p:cNvCxnSpPr>
            <a:stCxn id="2593" idx="4"/>
            <a:endCxn id="259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7" name="Google Shape;2607;p138"/>
          <p:cNvCxnSpPr>
            <a:stCxn id="2592" idx="5"/>
            <a:endCxn id="259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8" name="Google Shape;2608;p138"/>
          <p:cNvCxnSpPr>
            <a:stCxn id="2592" idx="6"/>
            <a:endCxn id="259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9" name="Google Shape;2609;p138"/>
          <p:cNvCxnSpPr>
            <a:stCxn id="2594" idx="2"/>
            <a:endCxn id="259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0" name="Google Shape;2610;p138"/>
          <p:cNvCxnSpPr>
            <a:stCxn id="2599" idx="1"/>
            <a:endCxn id="259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1" name="Google Shape;2611;p138"/>
          <p:cNvCxnSpPr>
            <a:stCxn id="2598" idx="1"/>
            <a:endCxn id="259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2" name="Google Shape;2612;p138"/>
          <p:cNvCxnSpPr>
            <a:stCxn id="2595" idx="5"/>
            <a:endCxn id="259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3" name="Google Shape;2613;p138"/>
          <p:cNvCxnSpPr>
            <a:stCxn id="2593" idx="7"/>
            <a:endCxn id="259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4" name="Google Shape;2614;p138"/>
          <p:cNvCxnSpPr>
            <a:stCxn id="2597" idx="3"/>
            <a:endCxn id="259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5" name="Google Shape;2615;p138"/>
          <p:cNvCxnSpPr>
            <a:stCxn id="2593" idx="6"/>
            <a:endCxn id="259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1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Directed Graph?</a:t>
            </a:r>
            <a:endParaRPr/>
          </a:p>
        </p:txBody>
      </p:sp>
      <p:sp>
        <p:nvSpPr>
          <p:cNvPr id="2621" name="Google Shape;2621;p139"/>
          <p:cNvSpPr txBox="1"/>
          <p:nvPr>
            <p:ph idx="1" type="body"/>
          </p:nvPr>
        </p:nvSpPr>
        <p:spPr>
          <a:xfrm>
            <a:off x="311700" y="1225225"/>
            <a:ext cx="480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 a directed graph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2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 b="1">
              <a:solidFill>
                <a:schemeClr val="accent3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edge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node v</a:t>
            </a:r>
            <a:r>
              <a:rPr baseline="-25000" lang="en"/>
              <a:t>2</a:t>
            </a:r>
            <a:r>
              <a:rPr lang="en"/>
              <a:t> is the source node and node v</a:t>
            </a:r>
            <a:r>
              <a:rPr baseline="-25000" lang="en"/>
              <a:t>3</a:t>
            </a:r>
            <a:r>
              <a:rPr lang="en"/>
              <a:t> is the destination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2" name="Google Shape;2622;p13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3" name="Google Shape;2623;p13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4" name="Google Shape;2624;p13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5" name="Google Shape;2625;p13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6" name="Google Shape;2626;p13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7" name="Google Shape;2627;p13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8" name="Google Shape;2628;p13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9" name="Google Shape;2629;p13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30" name="Google Shape;2630;p139"/>
          <p:cNvCxnSpPr>
            <a:stCxn id="2622" idx="7"/>
            <a:endCxn id="262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1" name="Google Shape;2631;p139"/>
          <p:cNvCxnSpPr>
            <a:stCxn id="2625" idx="3"/>
            <a:endCxn id="262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2" name="Google Shape;2632;p139"/>
          <p:cNvCxnSpPr>
            <a:stCxn id="2627" idx="7"/>
            <a:endCxn id="262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3" name="Google Shape;2633;p139"/>
          <p:cNvCxnSpPr>
            <a:stCxn id="2628" idx="3"/>
            <a:endCxn id="262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4" name="Google Shape;2634;p139"/>
          <p:cNvCxnSpPr>
            <a:stCxn id="2624" idx="6"/>
            <a:endCxn id="262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5" name="Google Shape;2635;p139"/>
          <p:cNvCxnSpPr>
            <a:stCxn id="2627" idx="4"/>
            <a:endCxn id="262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6" name="Google Shape;2636;p139"/>
          <p:cNvCxnSpPr>
            <a:stCxn id="2623" idx="4"/>
            <a:endCxn id="262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7" name="Google Shape;2637;p139"/>
          <p:cNvCxnSpPr>
            <a:stCxn id="2622" idx="5"/>
            <a:endCxn id="262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8" name="Google Shape;2638;p139"/>
          <p:cNvCxnSpPr>
            <a:stCxn id="2622" idx="6"/>
            <a:endCxn id="262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9" name="Google Shape;2639;p139"/>
          <p:cNvCxnSpPr>
            <a:stCxn id="2624" idx="2"/>
            <a:endCxn id="262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0" name="Google Shape;2640;p139"/>
          <p:cNvCxnSpPr>
            <a:stCxn id="2629" idx="1"/>
            <a:endCxn id="262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1" name="Google Shape;2641;p139"/>
          <p:cNvCxnSpPr>
            <a:stCxn id="2628" idx="1"/>
            <a:endCxn id="262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2" name="Google Shape;2642;p139"/>
          <p:cNvCxnSpPr>
            <a:stCxn id="2625" idx="5"/>
            <a:endCxn id="262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3" name="Google Shape;2643;p139"/>
          <p:cNvCxnSpPr>
            <a:stCxn id="2623" idx="7"/>
            <a:endCxn id="262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4" name="Google Shape;2644;p139"/>
          <p:cNvCxnSpPr>
            <a:stCxn id="2627" idx="3"/>
            <a:endCxn id="262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5" name="Google Shape;2645;p139"/>
          <p:cNvCxnSpPr>
            <a:stCxn id="2623" idx="6"/>
            <a:endCxn id="262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1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Directed Graph?</a:t>
            </a:r>
            <a:endParaRPr/>
          </a:p>
        </p:txBody>
      </p:sp>
      <p:sp>
        <p:nvSpPr>
          <p:cNvPr id="2651" name="Google Shape;2651;p140"/>
          <p:cNvSpPr txBox="1"/>
          <p:nvPr>
            <p:ph idx="1" type="body"/>
          </p:nvPr>
        </p:nvSpPr>
        <p:spPr>
          <a:xfrm>
            <a:off x="311700" y="1225225"/>
            <a:ext cx="480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 a directed graph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2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means that when listing the edge set of a directed graph you should care about order: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 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exists but edge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 does not!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no edge where v</a:t>
            </a:r>
            <a:r>
              <a:rPr baseline="-25000" lang="en"/>
              <a:t>3</a:t>
            </a:r>
            <a:r>
              <a:rPr lang="en"/>
              <a:t> is source and v</a:t>
            </a:r>
            <a:r>
              <a:rPr baseline="-25000" lang="en"/>
              <a:t>2</a:t>
            </a:r>
            <a:r>
              <a:rPr lang="en"/>
              <a:t> is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14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3" name="Google Shape;2653;p14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4" name="Google Shape;2654;p14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5" name="Google Shape;2655;p14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6" name="Google Shape;2656;p14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7" name="Google Shape;2657;p14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8" name="Google Shape;2658;p14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59" name="Google Shape;2659;p14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60" name="Google Shape;2660;p140"/>
          <p:cNvCxnSpPr>
            <a:stCxn id="2652" idx="7"/>
            <a:endCxn id="265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1" name="Google Shape;2661;p140"/>
          <p:cNvCxnSpPr>
            <a:stCxn id="2655" idx="3"/>
            <a:endCxn id="265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2" name="Google Shape;2662;p140"/>
          <p:cNvCxnSpPr>
            <a:stCxn id="2657" idx="7"/>
            <a:endCxn id="265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3" name="Google Shape;2663;p140"/>
          <p:cNvCxnSpPr>
            <a:stCxn id="2658" idx="3"/>
            <a:endCxn id="265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4" name="Google Shape;2664;p140"/>
          <p:cNvCxnSpPr>
            <a:stCxn id="2654" idx="6"/>
            <a:endCxn id="265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5" name="Google Shape;2665;p140"/>
          <p:cNvCxnSpPr>
            <a:stCxn id="2657" idx="4"/>
            <a:endCxn id="265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6" name="Google Shape;2666;p140"/>
          <p:cNvCxnSpPr>
            <a:stCxn id="2653" idx="4"/>
            <a:endCxn id="265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7" name="Google Shape;2667;p140"/>
          <p:cNvCxnSpPr>
            <a:stCxn id="2652" idx="5"/>
            <a:endCxn id="265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8" name="Google Shape;2668;p140"/>
          <p:cNvCxnSpPr>
            <a:stCxn id="2652" idx="6"/>
            <a:endCxn id="265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9" name="Google Shape;2669;p140"/>
          <p:cNvCxnSpPr>
            <a:stCxn id="2654" idx="2"/>
            <a:endCxn id="265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0" name="Google Shape;2670;p140"/>
          <p:cNvCxnSpPr>
            <a:stCxn id="2659" idx="1"/>
            <a:endCxn id="265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1" name="Google Shape;2671;p140"/>
          <p:cNvCxnSpPr>
            <a:stCxn id="2658" idx="1"/>
            <a:endCxn id="265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2" name="Google Shape;2672;p140"/>
          <p:cNvCxnSpPr>
            <a:stCxn id="2655" idx="5"/>
            <a:endCxn id="265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3" name="Google Shape;2673;p140"/>
          <p:cNvCxnSpPr>
            <a:stCxn id="2653" idx="7"/>
            <a:endCxn id="265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4" name="Google Shape;2674;p140"/>
          <p:cNvCxnSpPr>
            <a:stCxn id="2657" idx="3"/>
            <a:endCxn id="265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5" name="Google Shape;2675;p140"/>
          <p:cNvCxnSpPr>
            <a:stCxn id="2653" idx="6"/>
            <a:endCxn id="265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1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Directed Graph?</a:t>
            </a:r>
            <a:endParaRPr/>
          </a:p>
        </p:txBody>
      </p:sp>
      <p:sp>
        <p:nvSpPr>
          <p:cNvPr id="2681" name="Google Shape;2681;p141"/>
          <p:cNvSpPr txBox="1"/>
          <p:nvPr>
            <p:ph idx="1" type="body"/>
          </p:nvPr>
        </p:nvSpPr>
        <p:spPr>
          <a:xfrm>
            <a:off x="311700" y="1225225"/>
            <a:ext cx="480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like before a directed graph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/>
              <a:t>vertex</a:t>
            </a:r>
            <a:r>
              <a:rPr lang="en"/>
              <a:t> </a:t>
            </a:r>
            <a:r>
              <a:rPr b="1" lang="en"/>
              <a:t>set</a:t>
            </a:r>
            <a:r>
              <a:rPr lang="en"/>
              <a:t> V, V(G)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}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</a:t>
            </a:r>
            <a:r>
              <a:rPr b="1" lang="en"/>
              <a:t>edge set</a:t>
            </a:r>
            <a:r>
              <a:rPr lang="en"/>
              <a:t> E, E(G)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1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3</a:t>
            </a:r>
            <a:r>
              <a:rPr lang="en"/>
              <a:t>,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3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1</a:t>
            </a:r>
            <a:r>
              <a:rPr baseline="-25000" lang="en"/>
              <a:t>, 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6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6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1, 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8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means that when listing the edge set of a directed graph you should care about order: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edges v</a:t>
            </a:r>
            <a:r>
              <a:rPr baseline="-25000" lang="en"/>
              <a:t>1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and</a:t>
            </a:r>
            <a:r>
              <a:rPr lang="en"/>
              <a:t>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 exist!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they are separate!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14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3" name="Google Shape;2683;p14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4" name="Google Shape;2684;p14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5" name="Google Shape;2685;p14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6" name="Google Shape;2686;p14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7" name="Google Shape;2687;p14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8" name="Google Shape;2688;p14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9" name="Google Shape;2689;p14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90" name="Google Shape;2690;p141"/>
          <p:cNvCxnSpPr>
            <a:stCxn id="2682" idx="7"/>
            <a:endCxn id="268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1" name="Google Shape;2691;p141"/>
          <p:cNvCxnSpPr>
            <a:stCxn id="2685" idx="3"/>
            <a:endCxn id="268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2" name="Google Shape;2692;p141"/>
          <p:cNvCxnSpPr>
            <a:stCxn id="2687" idx="7"/>
            <a:endCxn id="268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3" name="Google Shape;2693;p141"/>
          <p:cNvCxnSpPr>
            <a:stCxn id="2688" idx="3"/>
            <a:endCxn id="268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4" name="Google Shape;2694;p141"/>
          <p:cNvCxnSpPr>
            <a:stCxn id="2684" idx="6"/>
            <a:endCxn id="268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5" name="Google Shape;2695;p141"/>
          <p:cNvCxnSpPr>
            <a:stCxn id="2687" idx="4"/>
            <a:endCxn id="268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6" name="Google Shape;2696;p141"/>
          <p:cNvCxnSpPr>
            <a:stCxn id="2683" idx="4"/>
            <a:endCxn id="268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7" name="Google Shape;2697;p141"/>
          <p:cNvCxnSpPr>
            <a:stCxn id="2682" idx="5"/>
            <a:endCxn id="268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8" name="Google Shape;2698;p141"/>
          <p:cNvCxnSpPr>
            <a:stCxn id="2682" idx="6"/>
            <a:endCxn id="268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9" name="Google Shape;2699;p141"/>
          <p:cNvCxnSpPr>
            <a:stCxn id="2684" idx="2"/>
            <a:endCxn id="268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0" name="Google Shape;2700;p141"/>
          <p:cNvCxnSpPr>
            <a:stCxn id="2689" idx="1"/>
            <a:endCxn id="268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1" name="Google Shape;2701;p141"/>
          <p:cNvCxnSpPr>
            <a:stCxn id="2688" idx="1"/>
            <a:endCxn id="268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2" name="Google Shape;2702;p141"/>
          <p:cNvCxnSpPr>
            <a:stCxn id="2685" idx="5"/>
            <a:endCxn id="268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3" name="Google Shape;2703;p141"/>
          <p:cNvCxnSpPr>
            <a:stCxn id="2683" idx="7"/>
            <a:endCxn id="268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4" name="Google Shape;2704;p141"/>
          <p:cNvCxnSpPr>
            <a:stCxn id="2687" idx="3"/>
            <a:endCxn id="268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5" name="Google Shape;2705;p141"/>
          <p:cNvCxnSpPr>
            <a:stCxn id="2683" idx="6"/>
            <a:endCxn id="268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1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Directed Graph?</a:t>
            </a:r>
            <a:endParaRPr/>
          </a:p>
        </p:txBody>
      </p:sp>
      <p:sp>
        <p:nvSpPr>
          <p:cNvPr id="2711" name="Google Shape;2711;p142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different from the situation in an </a:t>
            </a:r>
            <a:r>
              <a:rPr b="1" lang="en"/>
              <a:t>undirected graph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undirected case edge order does not matter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edge set </a:t>
            </a:r>
            <a:r>
              <a:rPr lang="en"/>
              <a:t>consists</a:t>
            </a:r>
            <a:r>
              <a:rPr lang="en"/>
              <a:t> of </a:t>
            </a:r>
            <a:r>
              <a:rPr b="1" lang="en"/>
              <a:t>unordered pairs</a:t>
            </a:r>
            <a:r>
              <a:rPr lang="en"/>
              <a:t>:</a:t>
            </a:r>
            <a:r>
              <a:rPr lang="en"/>
              <a:t>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142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13" name="Google Shape;2713;p142"/>
          <p:cNvCxnSpPr>
            <a:stCxn id="2712" idx="6"/>
            <a:endCxn id="2714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4" name="Google Shape;2714;p14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5" name="Google Shape;2715;p142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6" name="Google Shape;2716;p14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17" name="Google Shape;2717;p142"/>
          <p:cNvCxnSpPr>
            <a:stCxn id="2716" idx="4"/>
            <a:endCxn id="2714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8" name="Google Shape;2718;p142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19" name="Google Shape;2719;p142"/>
          <p:cNvCxnSpPr>
            <a:stCxn id="2712" idx="5"/>
            <a:endCxn id="2718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0" name="Google Shape;2720;p14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21" name="Google Shape;2721;p142"/>
          <p:cNvCxnSpPr>
            <a:stCxn id="2720" idx="2"/>
            <a:endCxn id="2714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2" name="Google Shape;2722;p14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23" name="Google Shape;2723;p142"/>
          <p:cNvCxnSpPr>
            <a:stCxn id="2722" idx="2"/>
            <a:endCxn id="2720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4" name="Google Shape;2724;p142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25" name="Google Shape;2725;p142"/>
          <p:cNvCxnSpPr>
            <a:stCxn id="2724" idx="0"/>
            <a:endCxn id="2722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6" name="Google Shape;2726;p142"/>
          <p:cNvCxnSpPr>
            <a:stCxn id="2714" idx="4"/>
            <a:endCxn id="2718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143"/>
          <p:cNvSpPr txBox="1"/>
          <p:nvPr>
            <p:ph idx="1" type="body"/>
          </p:nvPr>
        </p:nvSpPr>
        <p:spPr>
          <a:xfrm>
            <a:off x="311700" y="1225225"/>
            <a:ext cx="4941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different from the situation in an </a:t>
            </a:r>
            <a:r>
              <a:rPr b="1" lang="en"/>
              <a:t>undirected graph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undirected case edge order does not matter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edge set consists of </a:t>
            </a:r>
            <a:r>
              <a:rPr b="1" lang="en"/>
              <a:t>unordered pairs</a:t>
            </a:r>
            <a:r>
              <a:rPr lang="en"/>
              <a:t>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2</a:t>
            </a:r>
            <a:r>
              <a:rPr b="1" lang="en">
                <a:solidFill>
                  <a:srgbClr val="FF0000"/>
                </a:solidFill>
              </a:rPr>
              <a:t>v</a:t>
            </a:r>
            <a:r>
              <a:rPr b="1" baseline="-25000" lang="en">
                <a:solidFill>
                  <a:srgbClr val="FF0000"/>
                </a:solidFill>
              </a:rPr>
              <a:t>3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1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5</a:t>
            </a:r>
            <a:r>
              <a:rPr lang="en"/>
              <a:t>,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4</a:t>
            </a:r>
            <a:r>
              <a:rPr lang="en"/>
              <a:t>, v</a:t>
            </a:r>
            <a:r>
              <a:rPr baseline="-25000" lang="en"/>
              <a:t>4</a:t>
            </a:r>
            <a:r>
              <a:rPr lang="en"/>
              <a:t>v</a:t>
            </a:r>
            <a:r>
              <a:rPr baseline="-25000" lang="en"/>
              <a:t>7</a:t>
            </a:r>
            <a:r>
              <a:rPr lang="en"/>
              <a:t>, v</a:t>
            </a:r>
            <a:r>
              <a:rPr baseline="-25000" lang="en"/>
              <a:t>5</a:t>
            </a: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, v</a:t>
            </a:r>
            <a:r>
              <a:rPr baseline="-25000" lang="en"/>
              <a:t>7</a:t>
            </a:r>
            <a:r>
              <a:rPr lang="en"/>
              <a:t>v</a:t>
            </a:r>
            <a:r>
              <a:rPr baseline="-25000" lang="en"/>
              <a:t>8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you can refer to this edge as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</a:t>
            </a:r>
            <a:r>
              <a:rPr baseline="-25000" lang="en"/>
              <a:t>2</a:t>
            </a:r>
            <a:r>
              <a:rPr lang="en"/>
              <a:t>v</a:t>
            </a:r>
            <a:r>
              <a:rPr baseline="-25000" lang="en"/>
              <a:t>3</a:t>
            </a:r>
            <a:r>
              <a:rPr lang="en"/>
              <a:t> or v</a:t>
            </a:r>
            <a:r>
              <a:rPr baseline="-25000" lang="en"/>
              <a:t>3</a:t>
            </a:r>
            <a:r>
              <a:rPr lang="en"/>
              <a:t>v</a:t>
            </a:r>
            <a:r>
              <a:rPr baseline="-25000"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does not matter!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long as you list it just once</a:t>
            </a:r>
            <a:endParaRPr/>
          </a:p>
        </p:txBody>
      </p:sp>
      <p:sp>
        <p:nvSpPr>
          <p:cNvPr id="2732" name="Google Shape;2732;p1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Directed Graph?</a:t>
            </a:r>
            <a:endParaRPr/>
          </a:p>
        </p:txBody>
      </p:sp>
      <p:sp>
        <p:nvSpPr>
          <p:cNvPr id="2733" name="Google Shape;2733;p143"/>
          <p:cNvSpPr/>
          <p:nvPr/>
        </p:nvSpPr>
        <p:spPr>
          <a:xfrm>
            <a:off x="538328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34" name="Google Shape;2734;p143"/>
          <p:cNvCxnSpPr>
            <a:stCxn id="2733" idx="6"/>
            <a:endCxn id="2735" idx="2"/>
          </p:cNvCxnSpPr>
          <p:nvPr/>
        </p:nvCxnSpPr>
        <p:spPr>
          <a:xfrm>
            <a:off x="5707888" y="2857201"/>
            <a:ext cx="7419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5" name="Google Shape;2735;p14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36" name="Google Shape;2736;p143"/>
          <p:cNvSpPr/>
          <p:nvPr/>
        </p:nvSpPr>
        <p:spPr>
          <a:xfrm>
            <a:off x="7413618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37" name="Google Shape;2737;p14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38" name="Google Shape;2738;p143"/>
          <p:cNvCxnSpPr>
            <a:stCxn id="2737" idx="4"/>
            <a:endCxn id="2735" idx="0"/>
          </p:cNvCxnSpPr>
          <p:nvPr/>
        </p:nvCxnSpPr>
        <p:spPr>
          <a:xfrm>
            <a:off x="6611959" y="2015238"/>
            <a:ext cx="0" cy="68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9" name="Google Shape;2739;p143"/>
          <p:cNvSpPr/>
          <p:nvPr/>
        </p:nvSpPr>
        <p:spPr>
          <a:xfrm>
            <a:off x="6449659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40" name="Google Shape;2740;p143"/>
          <p:cNvCxnSpPr>
            <a:stCxn id="2733" idx="5"/>
            <a:endCxn id="2739" idx="1"/>
          </p:cNvCxnSpPr>
          <p:nvPr/>
        </p:nvCxnSpPr>
        <p:spPr>
          <a:xfrm>
            <a:off x="5660351" y="2968570"/>
            <a:ext cx="836700" cy="866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1" name="Google Shape;2741;p14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42" name="Google Shape;2742;p143"/>
          <p:cNvCxnSpPr>
            <a:stCxn id="2741" idx="2"/>
            <a:endCxn id="2735" idx="6"/>
          </p:cNvCxnSpPr>
          <p:nvPr/>
        </p:nvCxnSpPr>
        <p:spPr>
          <a:xfrm rot="10800000">
            <a:off x="6774318" y="2857201"/>
            <a:ext cx="639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14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44" name="Google Shape;2744;p143"/>
          <p:cNvCxnSpPr>
            <a:stCxn id="2743" idx="2"/>
            <a:endCxn id="2741" idx="6"/>
          </p:cNvCxnSpPr>
          <p:nvPr/>
        </p:nvCxnSpPr>
        <p:spPr>
          <a:xfrm rot="10800000">
            <a:off x="7738115" y="2857201"/>
            <a:ext cx="8043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5" name="Google Shape;2745;p143"/>
          <p:cNvSpPr/>
          <p:nvPr/>
        </p:nvSpPr>
        <p:spPr>
          <a:xfrm>
            <a:off x="8542415" y="378920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46" name="Google Shape;2746;p143"/>
          <p:cNvCxnSpPr>
            <a:stCxn id="2745" idx="0"/>
            <a:endCxn id="2743" idx="4"/>
          </p:cNvCxnSpPr>
          <p:nvPr/>
        </p:nvCxnSpPr>
        <p:spPr>
          <a:xfrm rot="10800000">
            <a:off x="8704715" y="3014609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7" name="Google Shape;2747;p143"/>
          <p:cNvCxnSpPr>
            <a:stCxn id="2735" idx="4"/>
            <a:endCxn id="2739" idx="0"/>
          </p:cNvCxnSpPr>
          <p:nvPr/>
        </p:nvCxnSpPr>
        <p:spPr>
          <a:xfrm>
            <a:off x="6611980" y="3014701"/>
            <a:ext cx="0" cy="774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1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753" name="Google Shape;2753;p144"/>
          <p:cNvSpPr txBox="1"/>
          <p:nvPr>
            <p:ph idx="1" type="body"/>
          </p:nvPr>
        </p:nvSpPr>
        <p:spPr>
          <a:xfrm>
            <a:off x="311700" y="1225225"/>
            <a:ext cx="480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node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</a:t>
            </a:r>
            <a:r>
              <a:rPr b="1" lang="en"/>
              <a:t>out-neighbors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</a:t>
            </a:r>
            <a:r>
              <a:rPr baseline="-25000" lang="en"/>
              <a:t>out</a:t>
            </a:r>
            <a:r>
              <a:rPr lang="en"/>
              <a:t>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</a:t>
            </a:r>
            <a:r>
              <a:rPr b="1" lang="en"/>
              <a:t>in-neighbors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</a:t>
            </a:r>
            <a:r>
              <a:rPr baseline="-25000" lang="en"/>
              <a:t>in</a:t>
            </a:r>
            <a:r>
              <a:rPr lang="en"/>
              <a:t>(v)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14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5" name="Google Shape;2755;p14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6" name="Google Shape;2756;p14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7" name="Google Shape;2757;p14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8" name="Google Shape;2758;p14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59" name="Google Shape;2759;p14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60" name="Google Shape;2760;p14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61" name="Google Shape;2761;p14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62" name="Google Shape;2762;p144"/>
          <p:cNvCxnSpPr>
            <a:stCxn id="2754" idx="7"/>
            <a:endCxn id="275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3" name="Google Shape;2763;p144"/>
          <p:cNvCxnSpPr>
            <a:stCxn id="2757" idx="3"/>
            <a:endCxn id="275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4" name="Google Shape;2764;p144"/>
          <p:cNvCxnSpPr>
            <a:stCxn id="2759" idx="7"/>
            <a:endCxn id="276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5" name="Google Shape;2765;p144"/>
          <p:cNvCxnSpPr>
            <a:stCxn id="2760" idx="3"/>
            <a:endCxn id="275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6" name="Google Shape;2766;p144"/>
          <p:cNvCxnSpPr>
            <a:stCxn id="2756" idx="6"/>
            <a:endCxn id="276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7" name="Google Shape;2767;p144"/>
          <p:cNvCxnSpPr>
            <a:stCxn id="2759" idx="4"/>
            <a:endCxn id="275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8" name="Google Shape;2768;p144"/>
          <p:cNvCxnSpPr>
            <a:stCxn id="2755" idx="4"/>
            <a:endCxn id="275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9" name="Google Shape;2769;p144"/>
          <p:cNvCxnSpPr>
            <a:stCxn id="2754" idx="5"/>
            <a:endCxn id="275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0" name="Google Shape;2770;p144"/>
          <p:cNvCxnSpPr>
            <a:stCxn id="2754" idx="6"/>
            <a:endCxn id="275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1" name="Google Shape;2771;p144"/>
          <p:cNvCxnSpPr>
            <a:stCxn id="2756" idx="2"/>
            <a:endCxn id="275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2" name="Google Shape;2772;p144"/>
          <p:cNvCxnSpPr>
            <a:stCxn id="2761" idx="1"/>
            <a:endCxn id="275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3" name="Google Shape;2773;p144"/>
          <p:cNvCxnSpPr>
            <a:stCxn id="2760" idx="1"/>
            <a:endCxn id="275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4" name="Google Shape;2774;p144"/>
          <p:cNvCxnSpPr>
            <a:stCxn id="2757" idx="5"/>
            <a:endCxn id="275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5" name="Google Shape;2775;p144"/>
          <p:cNvCxnSpPr>
            <a:stCxn id="2755" idx="7"/>
            <a:endCxn id="275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6" name="Google Shape;2776;p144"/>
          <p:cNvCxnSpPr>
            <a:stCxn id="2759" idx="3"/>
            <a:endCxn id="275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7" name="Google Shape;2777;p144"/>
          <p:cNvCxnSpPr>
            <a:stCxn id="2755" idx="6"/>
            <a:endCxn id="275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1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783" name="Google Shape;2783;p145"/>
          <p:cNvSpPr txBox="1"/>
          <p:nvPr>
            <p:ph idx="1" type="body"/>
          </p:nvPr>
        </p:nvSpPr>
        <p:spPr>
          <a:xfrm>
            <a:off x="311700" y="1225225"/>
            <a:ext cx="4800600" cy="3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destination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out-neighbors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4" name="Google Shape;2784;p14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5" name="Google Shape;2785;p14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6" name="Google Shape;2786;p14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7" name="Google Shape;2787;p14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8" name="Google Shape;2788;p14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89" name="Google Shape;2789;p14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0" name="Google Shape;2790;p14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1" name="Google Shape;2791;p14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92" name="Google Shape;2792;p145"/>
          <p:cNvCxnSpPr>
            <a:stCxn id="2784" idx="7"/>
            <a:endCxn id="278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3" name="Google Shape;2793;p145"/>
          <p:cNvCxnSpPr>
            <a:stCxn id="2787" idx="3"/>
            <a:endCxn id="278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4" name="Google Shape;2794;p145"/>
          <p:cNvCxnSpPr>
            <a:stCxn id="2789" idx="7"/>
            <a:endCxn id="279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5" name="Google Shape;2795;p145"/>
          <p:cNvCxnSpPr>
            <a:stCxn id="2790" idx="3"/>
            <a:endCxn id="278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6" name="Google Shape;2796;p145"/>
          <p:cNvCxnSpPr>
            <a:stCxn id="2786" idx="6"/>
            <a:endCxn id="279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7" name="Google Shape;2797;p145"/>
          <p:cNvCxnSpPr>
            <a:stCxn id="2789" idx="4"/>
            <a:endCxn id="278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8" name="Google Shape;2798;p145"/>
          <p:cNvCxnSpPr>
            <a:stCxn id="2785" idx="4"/>
            <a:endCxn id="278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9" name="Google Shape;2799;p145"/>
          <p:cNvCxnSpPr>
            <a:stCxn id="2784" idx="5"/>
            <a:endCxn id="278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0" name="Google Shape;2800;p145"/>
          <p:cNvCxnSpPr>
            <a:stCxn id="2784" idx="6"/>
            <a:endCxn id="278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1" name="Google Shape;2801;p145"/>
          <p:cNvCxnSpPr>
            <a:stCxn id="2786" idx="2"/>
            <a:endCxn id="278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2" name="Google Shape;2802;p145"/>
          <p:cNvCxnSpPr>
            <a:stCxn id="2791" idx="1"/>
            <a:endCxn id="278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3" name="Google Shape;2803;p145"/>
          <p:cNvCxnSpPr>
            <a:stCxn id="2790" idx="1"/>
            <a:endCxn id="278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4" name="Google Shape;2804;p145"/>
          <p:cNvCxnSpPr>
            <a:stCxn id="2787" idx="5"/>
            <a:endCxn id="278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5" name="Google Shape;2805;p145"/>
          <p:cNvCxnSpPr>
            <a:stCxn id="2785" idx="7"/>
            <a:endCxn id="278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6" name="Google Shape;2806;p145"/>
          <p:cNvCxnSpPr>
            <a:stCxn id="2789" idx="3"/>
            <a:endCxn id="278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7" name="Google Shape;2807;p145"/>
          <p:cNvCxnSpPr>
            <a:stCxn id="2785" idx="6"/>
            <a:endCxn id="278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1" name="Shape 2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2" name="Google Shape;2812;p1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813" name="Google Shape;2813;p146"/>
          <p:cNvSpPr txBox="1"/>
          <p:nvPr>
            <p:ph idx="1" type="body"/>
          </p:nvPr>
        </p:nvSpPr>
        <p:spPr>
          <a:xfrm>
            <a:off x="311700" y="1225225"/>
            <a:ext cx="4800600" cy="33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destination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out-neighbors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3)=\{V_1, V_4, V_5\}" id="2814" name="Google Shape;2814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000" y="4147900"/>
            <a:ext cx="394175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815" name="Google Shape;2815;p14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6" name="Google Shape;2816;p14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7" name="Google Shape;2817;p14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8" name="Google Shape;2818;p14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19" name="Google Shape;2819;p14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0" name="Google Shape;2820;p14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1" name="Google Shape;2821;p14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2" name="Google Shape;2822;p14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23" name="Google Shape;2823;p146"/>
          <p:cNvCxnSpPr>
            <a:stCxn id="2815" idx="7"/>
            <a:endCxn id="281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4" name="Google Shape;2824;p146"/>
          <p:cNvCxnSpPr>
            <a:stCxn id="2818" idx="3"/>
            <a:endCxn id="281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5" name="Google Shape;2825;p146"/>
          <p:cNvCxnSpPr>
            <a:stCxn id="2820" idx="7"/>
            <a:endCxn id="282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6" name="Google Shape;2826;p146"/>
          <p:cNvCxnSpPr>
            <a:stCxn id="2821" idx="3"/>
            <a:endCxn id="282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7" name="Google Shape;2827;p146"/>
          <p:cNvCxnSpPr>
            <a:stCxn id="2817" idx="6"/>
            <a:endCxn id="282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8" name="Google Shape;2828;p146"/>
          <p:cNvCxnSpPr>
            <a:stCxn id="2820" idx="4"/>
            <a:endCxn id="281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9" name="Google Shape;2829;p146"/>
          <p:cNvCxnSpPr>
            <a:stCxn id="2816" idx="4"/>
            <a:endCxn id="281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0" name="Google Shape;2830;p146"/>
          <p:cNvCxnSpPr>
            <a:stCxn id="2815" idx="5"/>
            <a:endCxn id="281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1" name="Google Shape;2831;p146"/>
          <p:cNvCxnSpPr>
            <a:stCxn id="2815" idx="6"/>
            <a:endCxn id="281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2" name="Google Shape;2832;p146"/>
          <p:cNvCxnSpPr>
            <a:stCxn id="2817" idx="2"/>
            <a:endCxn id="281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3" name="Google Shape;2833;p146"/>
          <p:cNvCxnSpPr>
            <a:stCxn id="2822" idx="1"/>
            <a:endCxn id="282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4" name="Google Shape;2834;p146"/>
          <p:cNvCxnSpPr>
            <a:stCxn id="2821" idx="1"/>
            <a:endCxn id="281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5" name="Google Shape;2835;p146"/>
          <p:cNvCxnSpPr>
            <a:stCxn id="2818" idx="5"/>
            <a:endCxn id="282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6" name="Google Shape;2836;p146"/>
          <p:cNvCxnSpPr>
            <a:stCxn id="2816" idx="7"/>
            <a:endCxn id="281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7" name="Google Shape;2837;p146"/>
          <p:cNvCxnSpPr>
            <a:stCxn id="2820" idx="3"/>
            <a:endCxn id="281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8" name="Google Shape;2838;p146"/>
          <p:cNvCxnSpPr>
            <a:stCxn id="2816" idx="6"/>
            <a:endCxn id="282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1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844" name="Google Shape;2844;p147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source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in-neighbors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14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6" name="Google Shape;2846;p14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7" name="Google Shape;2847;p14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8" name="Google Shape;2848;p14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9" name="Google Shape;2849;p14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0" name="Google Shape;2850;p14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1" name="Google Shape;2851;p14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52" name="Google Shape;2852;p14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53" name="Google Shape;2853;p147"/>
          <p:cNvCxnSpPr>
            <a:stCxn id="2845" idx="7"/>
            <a:endCxn id="284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4" name="Google Shape;2854;p147"/>
          <p:cNvCxnSpPr>
            <a:stCxn id="2848" idx="3"/>
            <a:endCxn id="284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5" name="Google Shape;2855;p147"/>
          <p:cNvCxnSpPr>
            <a:stCxn id="2850" idx="7"/>
            <a:endCxn id="285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6" name="Google Shape;2856;p147"/>
          <p:cNvCxnSpPr>
            <a:stCxn id="2851" idx="3"/>
            <a:endCxn id="285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7" name="Google Shape;2857;p147"/>
          <p:cNvCxnSpPr>
            <a:stCxn id="2847" idx="6"/>
            <a:endCxn id="285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8" name="Google Shape;2858;p147"/>
          <p:cNvCxnSpPr>
            <a:stCxn id="2850" idx="4"/>
            <a:endCxn id="284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9" name="Google Shape;2859;p147"/>
          <p:cNvCxnSpPr>
            <a:stCxn id="2846" idx="4"/>
            <a:endCxn id="284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0" name="Google Shape;2860;p147"/>
          <p:cNvCxnSpPr>
            <a:stCxn id="2845" idx="5"/>
            <a:endCxn id="284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1" name="Google Shape;2861;p147"/>
          <p:cNvCxnSpPr>
            <a:stCxn id="2845" idx="6"/>
            <a:endCxn id="284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2" name="Google Shape;2862;p147"/>
          <p:cNvCxnSpPr>
            <a:stCxn id="2847" idx="2"/>
            <a:endCxn id="284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3" name="Google Shape;2863;p147"/>
          <p:cNvCxnSpPr>
            <a:stCxn id="2852" idx="1"/>
            <a:endCxn id="285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4" name="Google Shape;2864;p147"/>
          <p:cNvCxnSpPr>
            <a:stCxn id="2851" idx="1"/>
            <a:endCxn id="284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5" name="Google Shape;2865;p147"/>
          <p:cNvCxnSpPr>
            <a:stCxn id="2848" idx="5"/>
            <a:endCxn id="285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6" name="Google Shape;2866;p147"/>
          <p:cNvCxnSpPr>
            <a:stCxn id="2846" idx="7"/>
            <a:endCxn id="284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7" name="Google Shape;2867;p147"/>
          <p:cNvCxnSpPr>
            <a:stCxn id="2850" idx="3"/>
            <a:endCxn id="284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8" name="Google Shape;2868;p147"/>
          <p:cNvCxnSpPr>
            <a:stCxn id="2846" idx="6"/>
            <a:endCxn id="285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2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Google Shape;2873;p1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874" name="Google Shape;2874;p148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destination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out-neighbors</a:t>
            </a:r>
            <a:r>
              <a:rPr lang="en"/>
              <a:t>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7)=\{V_1, V_4\}" id="2875" name="Google Shape;2875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151376"/>
            <a:ext cx="3383881" cy="395519"/>
          </a:xfrm>
          <a:prstGeom prst="rect">
            <a:avLst/>
          </a:prstGeom>
          <a:noFill/>
          <a:ln>
            <a:noFill/>
          </a:ln>
        </p:spPr>
      </p:pic>
      <p:sp>
        <p:nvSpPr>
          <p:cNvPr id="2876" name="Google Shape;2876;p14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77" name="Google Shape;2877;p14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78" name="Google Shape;2878;p14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79" name="Google Shape;2879;p14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0" name="Google Shape;2880;p14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1" name="Google Shape;2881;p14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2" name="Google Shape;2882;p14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83" name="Google Shape;2883;p14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84" name="Google Shape;2884;p148"/>
          <p:cNvCxnSpPr>
            <a:stCxn id="2876" idx="7"/>
            <a:endCxn id="287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5" name="Google Shape;2885;p148"/>
          <p:cNvCxnSpPr>
            <a:stCxn id="2879" idx="3"/>
            <a:endCxn id="287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6" name="Google Shape;2886;p148"/>
          <p:cNvCxnSpPr>
            <a:stCxn id="2881" idx="7"/>
            <a:endCxn id="288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7" name="Google Shape;2887;p148"/>
          <p:cNvCxnSpPr>
            <a:stCxn id="2882" idx="3"/>
            <a:endCxn id="288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8" name="Google Shape;2888;p148"/>
          <p:cNvCxnSpPr>
            <a:stCxn id="2878" idx="6"/>
            <a:endCxn id="288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9" name="Google Shape;2889;p148"/>
          <p:cNvCxnSpPr>
            <a:stCxn id="2881" idx="4"/>
            <a:endCxn id="287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0" name="Google Shape;2890;p148"/>
          <p:cNvCxnSpPr>
            <a:stCxn id="2877" idx="4"/>
            <a:endCxn id="288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1" name="Google Shape;2891;p148"/>
          <p:cNvCxnSpPr>
            <a:stCxn id="2876" idx="5"/>
            <a:endCxn id="288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2" name="Google Shape;2892;p148"/>
          <p:cNvCxnSpPr>
            <a:stCxn id="2876" idx="6"/>
            <a:endCxn id="287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3" name="Google Shape;2893;p148"/>
          <p:cNvCxnSpPr>
            <a:stCxn id="2878" idx="2"/>
            <a:endCxn id="288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4" name="Google Shape;2894;p148"/>
          <p:cNvCxnSpPr>
            <a:stCxn id="2883" idx="1"/>
            <a:endCxn id="288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5" name="Google Shape;2895;p148"/>
          <p:cNvCxnSpPr>
            <a:stCxn id="2882" idx="1"/>
            <a:endCxn id="287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6" name="Google Shape;2896;p148"/>
          <p:cNvCxnSpPr>
            <a:stCxn id="2879" idx="5"/>
            <a:endCxn id="288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7" name="Google Shape;2897;p148"/>
          <p:cNvCxnSpPr>
            <a:stCxn id="2877" idx="7"/>
            <a:endCxn id="287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8" name="Google Shape;2898;p148"/>
          <p:cNvCxnSpPr>
            <a:stCxn id="2881" idx="3"/>
            <a:endCxn id="288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9" name="Google Shape;2899;p148"/>
          <p:cNvCxnSpPr>
            <a:stCxn id="2877" idx="6"/>
            <a:endCxn id="288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1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905" name="Google Shape;2905;p149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source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in-neighbors</a:t>
            </a:r>
            <a:r>
              <a:rPr lang="en"/>
              <a:t>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4)=\{V_1, V_3, V_7, V_8\}" id="2906" name="Google Shape;2906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151376"/>
            <a:ext cx="435460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907" name="Google Shape;2907;p14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08" name="Google Shape;2908;p14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09" name="Google Shape;2909;p14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0" name="Google Shape;2910;p14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1" name="Google Shape;2911;p14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2" name="Google Shape;2912;p14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3" name="Google Shape;2913;p14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14" name="Google Shape;2914;p14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15" name="Google Shape;2915;p149"/>
          <p:cNvCxnSpPr>
            <a:stCxn id="2907" idx="7"/>
            <a:endCxn id="291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6" name="Google Shape;2916;p149"/>
          <p:cNvCxnSpPr>
            <a:stCxn id="2910" idx="3"/>
            <a:endCxn id="290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7" name="Google Shape;2917;p149"/>
          <p:cNvCxnSpPr>
            <a:stCxn id="2912" idx="7"/>
            <a:endCxn id="291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8" name="Google Shape;2918;p149"/>
          <p:cNvCxnSpPr>
            <a:stCxn id="2913" idx="3"/>
            <a:endCxn id="291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9" name="Google Shape;2919;p149"/>
          <p:cNvCxnSpPr>
            <a:stCxn id="2909" idx="6"/>
            <a:endCxn id="291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0" name="Google Shape;2920;p149"/>
          <p:cNvCxnSpPr>
            <a:stCxn id="2912" idx="4"/>
            <a:endCxn id="290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1" name="Google Shape;2921;p149"/>
          <p:cNvCxnSpPr>
            <a:stCxn id="2908" idx="4"/>
            <a:endCxn id="291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2" name="Google Shape;2922;p149"/>
          <p:cNvCxnSpPr>
            <a:stCxn id="2907" idx="5"/>
            <a:endCxn id="291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3" name="Google Shape;2923;p149"/>
          <p:cNvCxnSpPr>
            <a:stCxn id="2907" idx="6"/>
            <a:endCxn id="290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4" name="Google Shape;2924;p149"/>
          <p:cNvCxnSpPr>
            <a:stCxn id="2909" idx="2"/>
            <a:endCxn id="291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5" name="Google Shape;2925;p149"/>
          <p:cNvCxnSpPr>
            <a:stCxn id="2914" idx="1"/>
            <a:endCxn id="291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6" name="Google Shape;2926;p149"/>
          <p:cNvCxnSpPr>
            <a:stCxn id="2913" idx="1"/>
            <a:endCxn id="291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7" name="Google Shape;2927;p149"/>
          <p:cNvCxnSpPr>
            <a:stCxn id="2910" idx="5"/>
            <a:endCxn id="291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8" name="Google Shape;2928;p149"/>
          <p:cNvCxnSpPr>
            <a:stCxn id="2908" idx="7"/>
            <a:endCxn id="291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9" name="Google Shape;2929;p149"/>
          <p:cNvCxnSpPr>
            <a:stCxn id="2912" idx="3"/>
            <a:endCxn id="291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0" name="Google Shape;2930;p149"/>
          <p:cNvCxnSpPr>
            <a:stCxn id="2908" idx="6"/>
            <a:endCxn id="291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4" name="Shape 2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5" name="Google Shape;2935;p1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936" name="Google Shape;2936;p150"/>
          <p:cNvSpPr txBox="1"/>
          <p:nvPr>
            <p:ph idx="1" type="body"/>
          </p:nvPr>
        </p:nvSpPr>
        <p:spPr>
          <a:xfrm>
            <a:off x="311700" y="1225225"/>
            <a:ext cx="4755000" cy="36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</a:t>
            </a:r>
            <a:r>
              <a:rPr b="1" lang="en"/>
              <a:t>directed graph</a:t>
            </a:r>
            <a:r>
              <a:rPr lang="en"/>
              <a:t>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</a:t>
            </a:r>
            <a:r>
              <a:rPr b="1" lang="en"/>
              <a:t>node neighborhoods</a:t>
            </a:r>
            <a:r>
              <a:rPr lang="en"/>
              <a:t> are defined differently than in </a:t>
            </a:r>
            <a:r>
              <a:rPr b="1" lang="en"/>
              <a:t>undirected graphs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node: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source</a:t>
            </a:r>
            <a:r>
              <a:rPr lang="en"/>
              <a:t> </a:t>
            </a:r>
            <a:r>
              <a:rPr b="1" lang="en"/>
              <a:t>nodes</a:t>
            </a:r>
            <a:r>
              <a:rPr lang="en"/>
              <a:t> of the directed links they are </a:t>
            </a:r>
            <a:r>
              <a:rPr b="1" lang="en"/>
              <a:t>incident</a:t>
            </a:r>
            <a:r>
              <a:rPr lang="en"/>
              <a:t> to are their </a:t>
            </a:r>
            <a:r>
              <a:rPr b="1" lang="en"/>
              <a:t>in-neighbors</a:t>
            </a:r>
            <a:r>
              <a:rPr lang="en"/>
              <a:t>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5)=\{V_2, V_3, V_4, V_6\}" id="2937" name="Google Shape;293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151376"/>
            <a:ext cx="4393921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938" name="Google Shape;2938;p15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39" name="Google Shape;2939;p15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0" name="Google Shape;2940;p15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1" name="Google Shape;2941;p15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2" name="Google Shape;2942;p15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3" name="Google Shape;2943;p15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4" name="Google Shape;2944;p15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5" name="Google Shape;2945;p15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46" name="Google Shape;2946;p150"/>
          <p:cNvCxnSpPr>
            <a:stCxn id="2938" idx="7"/>
            <a:endCxn id="294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7" name="Google Shape;2947;p150"/>
          <p:cNvCxnSpPr>
            <a:stCxn id="2941" idx="3"/>
            <a:endCxn id="293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8" name="Google Shape;2948;p150"/>
          <p:cNvCxnSpPr>
            <a:stCxn id="2943" idx="7"/>
            <a:endCxn id="294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9" name="Google Shape;2949;p150"/>
          <p:cNvCxnSpPr>
            <a:stCxn id="2944" idx="3"/>
            <a:endCxn id="294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0" name="Google Shape;2950;p150"/>
          <p:cNvCxnSpPr>
            <a:stCxn id="2940" idx="6"/>
            <a:endCxn id="294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1" name="Google Shape;2951;p150"/>
          <p:cNvCxnSpPr>
            <a:stCxn id="2943" idx="4"/>
            <a:endCxn id="294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2" name="Google Shape;2952;p150"/>
          <p:cNvCxnSpPr>
            <a:stCxn id="2939" idx="4"/>
            <a:endCxn id="294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3" name="Google Shape;2953;p150"/>
          <p:cNvCxnSpPr>
            <a:stCxn id="2938" idx="5"/>
            <a:endCxn id="294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4" name="Google Shape;2954;p150"/>
          <p:cNvCxnSpPr>
            <a:stCxn id="2938" idx="6"/>
            <a:endCxn id="293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5" name="Google Shape;2955;p150"/>
          <p:cNvCxnSpPr>
            <a:stCxn id="2940" idx="2"/>
            <a:endCxn id="294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6" name="Google Shape;2956;p150"/>
          <p:cNvCxnSpPr>
            <a:stCxn id="2945" idx="1"/>
            <a:endCxn id="294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7" name="Google Shape;2957;p150"/>
          <p:cNvCxnSpPr>
            <a:stCxn id="2944" idx="1"/>
            <a:endCxn id="294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8" name="Google Shape;2958;p150"/>
          <p:cNvCxnSpPr>
            <a:stCxn id="2941" idx="5"/>
            <a:endCxn id="294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9" name="Google Shape;2959;p150"/>
          <p:cNvCxnSpPr>
            <a:stCxn id="2939" idx="7"/>
            <a:endCxn id="294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0" name="Google Shape;2960;p150"/>
          <p:cNvCxnSpPr>
            <a:stCxn id="2943" idx="3"/>
            <a:endCxn id="294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1" name="Google Shape;2961;p150"/>
          <p:cNvCxnSpPr>
            <a:stCxn id="2939" idx="6"/>
            <a:endCxn id="294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p1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967" name="Google Shape;2967;p151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p15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69" name="Google Shape;2969;p15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0" name="Google Shape;2970;p15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1" name="Google Shape;2971;p15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2" name="Google Shape;2972;p15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3" name="Google Shape;2973;p15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4" name="Google Shape;2974;p15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5" name="Google Shape;2975;p15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76" name="Google Shape;2976;p151"/>
          <p:cNvCxnSpPr>
            <a:stCxn id="2968" idx="7"/>
            <a:endCxn id="297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7" name="Google Shape;2977;p151"/>
          <p:cNvCxnSpPr>
            <a:stCxn id="2971" idx="3"/>
            <a:endCxn id="296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8" name="Google Shape;2978;p151"/>
          <p:cNvCxnSpPr>
            <a:stCxn id="2973" idx="7"/>
            <a:endCxn id="297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9" name="Google Shape;2979;p151"/>
          <p:cNvCxnSpPr>
            <a:stCxn id="2974" idx="3"/>
            <a:endCxn id="297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0" name="Google Shape;2980;p151"/>
          <p:cNvCxnSpPr>
            <a:stCxn id="2970" idx="6"/>
            <a:endCxn id="297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1" name="Google Shape;2981;p151"/>
          <p:cNvCxnSpPr>
            <a:stCxn id="2973" idx="4"/>
            <a:endCxn id="297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2" name="Google Shape;2982;p151"/>
          <p:cNvCxnSpPr>
            <a:stCxn id="2969" idx="4"/>
            <a:endCxn id="297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3" name="Google Shape;2983;p151"/>
          <p:cNvCxnSpPr>
            <a:stCxn id="2968" idx="5"/>
            <a:endCxn id="297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4" name="Google Shape;2984;p151"/>
          <p:cNvCxnSpPr>
            <a:stCxn id="2968" idx="6"/>
            <a:endCxn id="296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5" name="Google Shape;2985;p151"/>
          <p:cNvCxnSpPr>
            <a:stCxn id="2970" idx="2"/>
            <a:endCxn id="297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6" name="Google Shape;2986;p151"/>
          <p:cNvCxnSpPr>
            <a:stCxn id="2975" idx="1"/>
            <a:endCxn id="297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7" name="Google Shape;2987;p151"/>
          <p:cNvCxnSpPr>
            <a:stCxn id="2974" idx="1"/>
            <a:endCxn id="297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8" name="Google Shape;2988;p151"/>
          <p:cNvCxnSpPr>
            <a:stCxn id="2971" idx="5"/>
            <a:endCxn id="297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9" name="Google Shape;2989;p151"/>
          <p:cNvCxnSpPr>
            <a:stCxn id="2969" idx="7"/>
            <a:endCxn id="297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0" name="Google Shape;2990;p151"/>
          <p:cNvCxnSpPr>
            <a:stCxn id="2973" idx="3"/>
            <a:endCxn id="297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1" name="Google Shape;2991;p151"/>
          <p:cNvCxnSpPr>
            <a:stCxn id="2969" idx="6"/>
            <a:endCxn id="297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5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1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2997" name="Google Shape;2997;p152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3)=\{V_1, V_4, V_5\}" id="2998" name="Google Shape;2998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2651760"/>
            <a:ext cx="394175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2999" name="Google Shape;2999;p15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0" name="Google Shape;3000;p15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1" name="Google Shape;3001;p15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2" name="Google Shape;3002;p15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3" name="Google Shape;3003;p15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4" name="Google Shape;3004;p15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5" name="Google Shape;3005;p15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06" name="Google Shape;3006;p15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07" name="Google Shape;3007;p152"/>
          <p:cNvCxnSpPr>
            <a:stCxn id="2999" idx="7"/>
            <a:endCxn id="300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8" name="Google Shape;3008;p152"/>
          <p:cNvCxnSpPr>
            <a:stCxn id="3002" idx="3"/>
            <a:endCxn id="300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9" name="Google Shape;3009;p152"/>
          <p:cNvCxnSpPr>
            <a:stCxn id="3004" idx="7"/>
            <a:endCxn id="300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0" name="Google Shape;3010;p152"/>
          <p:cNvCxnSpPr>
            <a:stCxn id="3005" idx="3"/>
            <a:endCxn id="300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1" name="Google Shape;3011;p152"/>
          <p:cNvCxnSpPr>
            <a:stCxn id="3001" idx="6"/>
            <a:endCxn id="300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2" name="Google Shape;3012;p152"/>
          <p:cNvCxnSpPr>
            <a:stCxn id="3004" idx="4"/>
            <a:endCxn id="300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3" name="Google Shape;3013;p152"/>
          <p:cNvCxnSpPr>
            <a:stCxn id="3000" idx="4"/>
            <a:endCxn id="300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4" name="Google Shape;3014;p152"/>
          <p:cNvCxnSpPr>
            <a:stCxn id="2999" idx="5"/>
            <a:endCxn id="300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5" name="Google Shape;3015;p152"/>
          <p:cNvCxnSpPr>
            <a:stCxn id="2999" idx="6"/>
            <a:endCxn id="300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6" name="Google Shape;3016;p152"/>
          <p:cNvCxnSpPr>
            <a:stCxn id="3001" idx="2"/>
            <a:endCxn id="300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7" name="Google Shape;3017;p152"/>
          <p:cNvCxnSpPr>
            <a:stCxn id="3006" idx="1"/>
            <a:endCxn id="300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8" name="Google Shape;3018;p152"/>
          <p:cNvCxnSpPr>
            <a:stCxn id="3005" idx="1"/>
            <a:endCxn id="300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9" name="Google Shape;3019;p152"/>
          <p:cNvCxnSpPr>
            <a:stCxn id="3002" idx="5"/>
            <a:endCxn id="300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0" name="Google Shape;3020;p152"/>
          <p:cNvCxnSpPr>
            <a:stCxn id="3000" idx="7"/>
            <a:endCxn id="300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1" name="Google Shape;3021;p152"/>
          <p:cNvCxnSpPr>
            <a:stCxn id="3004" idx="3"/>
            <a:endCxn id="300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2" name="Google Shape;3022;p152"/>
          <p:cNvCxnSpPr>
            <a:stCxn id="3000" idx="6"/>
            <a:endCxn id="300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p1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3028" name="Google Shape;3028;p153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7)=\{V_1, V_4\}" id="3029" name="Google Shape;3029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3200400"/>
            <a:ext cx="3383881" cy="395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out}(V_3)=\{V_1, V_4, V_5\}" id="3030" name="Google Shape;3030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2651760"/>
            <a:ext cx="394175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031" name="Google Shape;3031;p15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2" name="Google Shape;3032;p15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3" name="Google Shape;3033;p15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4" name="Google Shape;3034;p15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5" name="Google Shape;3035;p15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6" name="Google Shape;3036;p15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7" name="Google Shape;3037;p15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38" name="Google Shape;3038;p15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39" name="Google Shape;3039;p153"/>
          <p:cNvCxnSpPr>
            <a:stCxn id="3031" idx="7"/>
            <a:endCxn id="303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0" name="Google Shape;3040;p153"/>
          <p:cNvCxnSpPr>
            <a:stCxn id="3034" idx="3"/>
            <a:endCxn id="303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1" name="Google Shape;3041;p153"/>
          <p:cNvCxnSpPr>
            <a:stCxn id="3036" idx="7"/>
            <a:endCxn id="303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2" name="Google Shape;3042;p153"/>
          <p:cNvCxnSpPr>
            <a:stCxn id="3037" idx="3"/>
            <a:endCxn id="303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3" name="Google Shape;3043;p153"/>
          <p:cNvCxnSpPr>
            <a:stCxn id="3033" idx="6"/>
            <a:endCxn id="303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4" name="Google Shape;3044;p153"/>
          <p:cNvCxnSpPr>
            <a:stCxn id="3036" idx="4"/>
            <a:endCxn id="303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5" name="Google Shape;3045;p153"/>
          <p:cNvCxnSpPr>
            <a:stCxn id="3032" idx="4"/>
            <a:endCxn id="303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6" name="Google Shape;3046;p153"/>
          <p:cNvCxnSpPr>
            <a:stCxn id="3031" idx="5"/>
            <a:endCxn id="303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7" name="Google Shape;3047;p153"/>
          <p:cNvCxnSpPr>
            <a:stCxn id="3031" idx="6"/>
            <a:endCxn id="303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8" name="Google Shape;3048;p153"/>
          <p:cNvCxnSpPr>
            <a:stCxn id="3033" idx="2"/>
            <a:endCxn id="303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9" name="Google Shape;3049;p153"/>
          <p:cNvCxnSpPr>
            <a:stCxn id="3038" idx="1"/>
            <a:endCxn id="303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0" name="Google Shape;3050;p153"/>
          <p:cNvCxnSpPr>
            <a:stCxn id="3037" idx="1"/>
            <a:endCxn id="303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1" name="Google Shape;3051;p153"/>
          <p:cNvCxnSpPr>
            <a:stCxn id="3034" idx="5"/>
            <a:endCxn id="303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2" name="Google Shape;3052;p153"/>
          <p:cNvCxnSpPr>
            <a:stCxn id="3032" idx="7"/>
            <a:endCxn id="303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3" name="Google Shape;3053;p153"/>
          <p:cNvCxnSpPr>
            <a:stCxn id="3036" idx="3"/>
            <a:endCxn id="303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4" name="Google Shape;3054;p153"/>
          <p:cNvCxnSpPr>
            <a:stCxn id="3032" idx="6"/>
            <a:endCxn id="303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8" name="Shape 3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9" name="Google Shape;3059;p1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3060" name="Google Shape;3060;p154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out}(V_7)=\{V_1, V_4\}" id="3061" name="Google Shape;3061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3200400"/>
            <a:ext cx="3383881" cy="395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out}(V_3)=\{V_1, V_4, V_5\}" id="3062" name="Google Shape;3062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2651760"/>
            <a:ext cx="3941750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063" name="Google Shape;3063;p15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4" name="Google Shape;3064;p15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5" name="Google Shape;3065;p15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6" name="Google Shape;3066;p15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7" name="Google Shape;3067;p15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8" name="Google Shape;3068;p15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69" name="Google Shape;3069;p15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70" name="Google Shape;3070;p15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71" name="Google Shape;3071;p154"/>
          <p:cNvCxnSpPr>
            <a:stCxn id="3063" idx="7"/>
            <a:endCxn id="306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2" name="Google Shape;3072;p154"/>
          <p:cNvCxnSpPr>
            <a:stCxn id="3066" idx="3"/>
            <a:endCxn id="306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3" name="Google Shape;3073;p154"/>
          <p:cNvCxnSpPr>
            <a:stCxn id="3068" idx="7"/>
            <a:endCxn id="306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4" name="Google Shape;3074;p154"/>
          <p:cNvCxnSpPr>
            <a:stCxn id="3069" idx="3"/>
            <a:endCxn id="306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5" name="Google Shape;3075;p154"/>
          <p:cNvCxnSpPr>
            <a:stCxn id="3065" idx="6"/>
            <a:endCxn id="307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6" name="Google Shape;3076;p154"/>
          <p:cNvCxnSpPr>
            <a:stCxn id="3068" idx="4"/>
            <a:endCxn id="306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7" name="Google Shape;3077;p154"/>
          <p:cNvCxnSpPr>
            <a:stCxn id="3064" idx="4"/>
            <a:endCxn id="306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8" name="Google Shape;3078;p154"/>
          <p:cNvCxnSpPr>
            <a:stCxn id="3063" idx="5"/>
            <a:endCxn id="306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9" name="Google Shape;3079;p154"/>
          <p:cNvCxnSpPr>
            <a:stCxn id="3063" idx="6"/>
            <a:endCxn id="306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0" name="Google Shape;3080;p154"/>
          <p:cNvCxnSpPr>
            <a:stCxn id="3065" idx="2"/>
            <a:endCxn id="306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1" name="Google Shape;3081;p154"/>
          <p:cNvCxnSpPr>
            <a:stCxn id="3070" idx="1"/>
            <a:endCxn id="306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2" name="Google Shape;3082;p154"/>
          <p:cNvCxnSpPr>
            <a:stCxn id="3069" idx="1"/>
            <a:endCxn id="306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3" name="Google Shape;3083;p154"/>
          <p:cNvCxnSpPr>
            <a:stCxn id="3066" idx="5"/>
            <a:endCxn id="306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4" name="Google Shape;3084;p154"/>
          <p:cNvCxnSpPr>
            <a:stCxn id="3064" idx="7"/>
            <a:endCxn id="306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5" name="Google Shape;3085;p154"/>
          <p:cNvCxnSpPr>
            <a:stCxn id="3068" idx="3"/>
            <a:endCxn id="306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6" name="Google Shape;3086;p154"/>
          <p:cNvCxnSpPr>
            <a:stCxn id="3064" idx="6"/>
            <a:endCxn id="306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N_{out}(V_3) \cap N_{out}(V_7)=\{V_1, V_4\}" id="3087" name="Google Shape;3087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72" y="3749040"/>
            <a:ext cx="5268773" cy="39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p1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3093" name="Google Shape;3093;p155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4" name="Google Shape;3094;p15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5" name="Google Shape;3095;p15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6" name="Google Shape;3096;p15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7" name="Google Shape;3097;p15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8" name="Google Shape;3098;p15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99" name="Google Shape;3099;p15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00" name="Google Shape;3100;p15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01" name="Google Shape;3101;p15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02" name="Google Shape;3102;p155"/>
          <p:cNvCxnSpPr>
            <a:stCxn id="3094" idx="7"/>
            <a:endCxn id="309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3" name="Google Shape;3103;p155"/>
          <p:cNvCxnSpPr>
            <a:stCxn id="3097" idx="3"/>
            <a:endCxn id="309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4" name="Google Shape;3104;p155"/>
          <p:cNvCxnSpPr>
            <a:stCxn id="3099" idx="7"/>
            <a:endCxn id="310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5" name="Google Shape;3105;p155"/>
          <p:cNvCxnSpPr>
            <a:stCxn id="3100" idx="3"/>
            <a:endCxn id="309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6" name="Google Shape;3106;p155"/>
          <p:cNvCxnSpPr>
            <a:stCxn id="3096" idx="6"/>
            <a:endCxn id="310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7" name="Google Shape;3107;p155"/>
          <p:cNvCxnSpPr>
            <a:stCxn id="3099" idx="4"/>
            <a:endCxn id="309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8" name="Google Shape;3108;p155"/>
          <p:cNvCxnSpPr>
            <a:stCxn id="3095" idx="4"/>
            <a:endCxn id="309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9" name="Google Shape;3109;p155"/>
          <p:cNvCxnSpPr>
            <a:stCxn id="3094" idx="5"/>
            <a:endCxn id="309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0" name="Google Shape;3110;p155"/>
          <p:cNvCxnSpPr>
            <a:stCxn id="3094" idx="6"/>
            <a:endCxn id="309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1" name="Google Shape;3111;p155"/>
          <p:cNvCxnSpPr>
            <a:stCxn id="3096" idx="2"/>
            <a:endCxn id="309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2" name="Google Shape;3112;p155"/>
          <p:cNvCxnSpPr>
            <a:stCxn id="3101" idx="1"/>
            <a:endCxn id="309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3" name="Google Shape;3113;p155"/>
          <p:cNvCxnSpPr>
            <a:stCxn id="3100" idx="1"/>
            <a:endCxn id="309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4" name="Google Shape;3114;p155"/>
          <p:cNvCxnSpPr>
            <a:stCxn id="3097" idx="5"/>
            <a:endCxn id="309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5" name="Google Shape;3115;p155"/>
          <p:cNvCxnSpPr>
            <a:stCxn id="3095" idx="7"/>
            <a:endCxn id="309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6" name="Google Shape;3116;p155"/>
          <p:cNvCxnSpPr>
            <a:stCxn id="3099" idx="3"/>
            <a:endCxn id="309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7" name="Google Shape;3117;p155"/>
          <p:cNvCxnSpPr>
            <a:stCxn id="3095" idx="6"/>
            <a:endCxn id="309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N_{out}(V_3) \cup N_{out}(V_7)=\{V_1, V_4, V_5\}" id="3118" name="Google Shape;3118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3749040"/>
            <a:ext cx="5947028" cy="39319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N_{out}(V_7)=\{V_1, V_4\}" id="3119" name="Google Shape;3119;p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3200400"/>
            <a:ext cx="3383881" cy="395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out}(V_3)=\{V_1, V_4, V_5\}" id="3120" name="Google Shape;3120;p1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72" y="2651760"/>
            <a:ext cx="3941750" cy="39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4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p1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3126" name="Google Shape;3126;p156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4)=\{V_1, V_3, V_7, V_8\}" id="3127" name="Google Shape;3127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2651760"/>
            <a:ext cx="435460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128" name="Google Shape;3128;p15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29" name="Google Shape;3129;p15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0" name="Google Shape;3130;p15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1" name="Google Shape;3131;p15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2" name="Google Shape;3132;p15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3" name="Google Shape;3133;p15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4" name="Google Shape;3134;p15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35" name="Google Shape;3135;p15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36" name="Google Shape;3136;p156"/>
          <p:cNvCxnSpPr>
            <a:stCxn id="3128" idx="7"/>
            <a:endCxn id="313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7" name="Google Shape;3137;p156"/>
          <p:cNvCxnSpPr>
            <a:stCxn id="3131" idx="3"/>
            <a:endCxn id="312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8" name="Google Shape;3138;p156"/>
          <p:cNvCxnSpPr>
            <a:stCxn id="3133" idx="7"/>
            <a:endCxn id="313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9" name="Google Shape;3139;p156"/>
          <p:cNvCxnSpPr>
            <a:stCxn id="3134" idx="3"/>
            <a:endCxn id="313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0" name="Google Shape;3140;p156"/>
          <p:cNvCxnSpPr>
            <a:stCxn id="3130" idx="6"/>
            <a:endCxn id="313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1" name="Google Shape;3141;p156"/>
          <p:cNvCxnSpPr>
            <a:stCxn id="3133" idx="4"/>
            <a:endCxn id="313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2" name="Google Shape;3142;p156"/>
          <p:cNvCxnSpPr>
            <a:stCxn id="3129" idx="4"/>
            <a:endCxn id="313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3" name="Google Shape;3143;p156"/>
          <p:cNvCxnSpPr>
            <a:stCxn id="3128" idx="5"/>
            <a:endCxn id="313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4" name="Google Shape;3144;p156"/>
          <p:cNvCxnSpPr>
            <a:stCxn id="3128" idx="6"/>
            <a:endCxn id="312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5" name="Google Shape;3145;p156"/>
          <p:cNvCxnSpPr>
            <a:stCxn id="3130" idx="2"/>
            <a:endCxn id="313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6" name="Google Shape;3146;p156"/>
          <p:cNvCxnSpPr>
            <a:stCxn id="3135" idx="1"/>
            <a:endCxn id="313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7" name="Google Shape;3147;p156"/>
          <p:cNvCxnSpPr>
            <a:stCxn id="3134" idx="1"/>
            <a:endCxn id="313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8" name="Google Shape;3148;p156"/>
          <p:cNvCxnSpPr>
            <a:stCxn id="3131" idx="5"/>
            <a:endCxn id="313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9" name="Google Shape;3149;p156"/>
          <p:cNvCxnSpPr>
            <a:stCxn id="3129" idx="7"/>
            <a:endCxn id="313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0" name="Google Shape;3150;p156"/>
          <p:cNvCxnSpPr>
            <a:stCxn id="3133" idx="3"/>
            <a:endCxn id="313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1" name="Google Shape;3151;p156"/>
          <p:cNvCxnSpPr>
            <a:stCxn id="3129" idx="6"/>
            <a:endCxn id="313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5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p1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3157" name="Google Shape;3157;p157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5)=\{V_2, V_3, V_4, V_6\}" id="3158" name="Google Shape;3158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3200400"/>
            <a:ext cx="4393921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in}(V_4)=\{V_1, V_3, V_7, V_8\}" id="3159" name="Google Shape;3159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92" y="2651760"/>
            <a:ext cx="435460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160" name="Google Shape;3160;p15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1" name="Google Shape;3161;p15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2" name="Google Shape;3162;p15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3" name="Google Shape;3163;p15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4" name="Google Shape;3164;p15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5" name="Google Shape;3165;p15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6" name="Google Shape;3166;p15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67" name="Google Shape;3167;p15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68" name="Google Shape;3168;p157"/>
          <p:cNvCxnSpPr>
            <a:stCxn id="3160" idx="7"/>
            <a:endCxn id="316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9" name="Google Shape;3169;p157"/>
          <p:cNvCxnSpPr>
            <a:stCxn id="3163" idx="3"/>
            <a:endCxn id="316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0" name="Google Shape;3170;p157"/>
          <p:cNvCxnSpPr>
            <a:stCxn id="3165" idx="7"/>
            <a:endCxn id="316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1" name="Google Shape;3171;p157"/>
          <p:cNvCxnSpPr>
            <a:stCxn id="3166" idx="3"/>
            <a:endCxn id="316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2" name="Google Shape;3172;p157"/>
          <p:cNvCxnSpPr>
            <a:stCxn id="3162" idx="6"/>
            <a:endCxn id="316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3" name="Google Shape;3173;p157"/>
          <p:cNvCxnSpPr>
            <a:stCxn id="3165" idx="4"/>
            <a:endCxn id="316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4" name="Google Shape;3174;p157"/>
          <p:cNvCxnSpPr>
            <a:stCxn id="3161" idx="4"/>
            <a:endCxn id="316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5" name="Google Shape;3175;p157"/>
          <p:cNvCxnSpPr>
            <a:stCxn id="3160" idx="5"/>
            <a:endCxn id="316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6" name="Google Shape;3176;p157"/>
          <p:cNvCxnSpPr>
            <a:stCxn id="3160" idx="6"/>
            <a:endCxn id="316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7" name="Google Shape;3177;p157"/>
          <p:cNvCxnSpPr>
            <a:stCxn id="3162" idx="2"/>
            <a:endCxn id="316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8" name="Google Shape;3178;p157"/>
          <p:cNvCxnSpPr>
            <a:stCxn id="3167" idx="1"/>
            <a:endCxn id="316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9" name="Google Shape;3179;p157"/>
          <p:cNvCxnSpPr>
            <a:stCxn id="3166" idx="1"/>
            <a:endCxn id="316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0" name="Google Shape;3180;p157"/>
          <p:cNvCxnSpPr>
            <a:stCxn id="3163" idx="5"/>
            <a:endCxn id="316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1" name="Google Shape;3181;p157"/>
          <p:cNvCxnSpPr>
            <a:stCxn id="3161" idx="7"/>
            <a:endCxn id="316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2" name="Google Shape;3182;p157"/>
          <p:cNvCxnSpPr>
            <a:stCxn id="3165" idx="3"/>
            <a:endCxn id="316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3" name="Google Shape;3183;p157"/>
          <p:cNvCxnSpPr>
            <a:stCxn id="3161" idx="6"/>
            <a:endCxn id="316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1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3189" name="Google Shape;3189;p158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5)=\{V_2, V_3, V_4, V_6\}" id="3190" name="Google Shape;3190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3200400"/>
            <a:ext cx="4393921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in}(V_4)=\{V_1, V_3, V_7, V_8\}" id="3191" name="Google Shape;3191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92" y="2651760"/>
            <a:ext cx="4354602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in}(V_4) \cap N_{in}(V_5)=\{V_3\}" id="3192" name="Google Shape;3192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80" y="3749040"/>
            <a:ext cx="4433239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193" name="Google Shape;3193;p15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4" name="Google Shape;3194;p15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5" name="Google Shape;3195;p15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6" name="Google Shape;3196;p15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7" name="Google Shape;3197;p15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8" name="Google Shape;3198;p15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199" name="Google Shape;3199;p15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00" name="Google Shape;3200;p15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01" name="Google Shape;3201;p158"/>
          <p:cNvCxnSpPr>
            <a:stCxn id="3193" idx="7"/>
            <a:endCxn id="3196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2" name="Google Shape;3202;p158"/>
          <p:cNvCxnSpPr>
            <a:stCxn id="3196" idx="3"/>
            <a:endCxn id="3194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3" name="Google Shape;3203;p158"/>
          <p:cNvCxnSpPr>
            <a:stCxn id="3198" idx="7"/>
            <a:endCxn id="3199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4" name="Google Shape;3204;p158"/>
          <p:cNvCxnSpPr>
            <a:stCxn id="3199" idx="3"/>
            <a:endCxn id="3198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5" name="Google Shape;3205;p158"/>
          <p:cNvCxnSpPr>
            <a:stCxn id="3195" idx="6"/>
            <a:endCxn id="3200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6" name="Google Shape;3206;p158"/>
          <p:cNvCxnSpPr>
            <a:stCxn id="3198" idx="4"/>
            <a:endCxn id="3195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7" name="Google Shape;3207;p158"/>
          <p:cNvCxnSpPr>
            <a:stCxn id="3194" idx="4"/>
            <a:endCxn id="3197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8" name="Google Shape;3208;p158"/>
          <p:cNvCxnSpPr>
            <a:stCxn id="3193" idx="5"/>
            <a:endCxn id="3197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9" name="Google Shape;3209;p158"/>
          <p:cNvCxnSpPr>
            <a:stCxn id="3193" idx="6"/>
            <a:endCxn id="3194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0" name="Google Shape;3210;p158"/>
          <p:cNvCxnSpPr>
            <a:stCxn id="3195" idx="2"/>
            <a:endCxn id="3197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1" name="Google Shape;3211;p158"/>
          <p:cNvCxnSpPr>
            <a:stCxn id="3200" idx="1"/>
            <a:endCxn id="3198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2" name="Google Shape;3212;p158"/>
          <p:cNvCxnSpPr>
            <a:stCxn id="3199" idx="1"/>
            <a:endCxn id="3196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3" name="Google Shape;3213;p158"/>
          <p:cNvCxnSpPr>
            <a:stCxn id="3196" idx="5"/>
            <a:endCxn id="3198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4" name="Google Shape;3214;p158"/>
          <p:cNvCxnSpPr>
            <a:stCxn id="3194" idx="7"/>
            <a:endCxn id="3196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5" name="Google Shape;3215;p158"/>
          <p:cNvCxnSpPr>
            <a:stCxn id="3198" idx="3"/>
            <a:endCxn id="3197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6" name="Google Shape;3216;p158"/>
          <p:cNvCxnSpPr>
            <a:stCxn id="3194" idx="6"/>
            <a:endCxn id="3198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1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Neighborhoods in Directed Graphs</a:t>
            </a:r>
            <a:endParaRPr/>
          </a:p>
        </p:txBody>
      </p:sp>
      <p:sp>
        <p:nvSpPr>
          <p:cNvPr id="3222" name="Google Shape;3222;p159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In-neighborhood and out-neighborhood </a:t>
            </a:r>
            <a:r>
              <a:rPr b="1" lang="en"/>
              <a:t>intersection</a:t>
            </a:r>
            <a:r>
              <a:rPr lang="en"/>
              <a:t> and </a:t>
            </a:r>
            <a:r>
              <a:rPr b="1" lang="en"/>
              <a:t>union</a:t>
            </a:r>
            <a:r>
              <a:rPr lang="en"/>
              <a:t> work the same way as in undirected graphs!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N_{in}(V_4) \cup N_{in}(V_5)=\{V_1, V_2, V_3, V_4, V_6, V_7, V_8\}" id="3223" name="Google Shape;3223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097990"/>
            <a:ext cx="7263704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224" name="Google Shape;3224;p15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5" name="Google Shape;3225;p15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6" name="Google Shape;3226;p15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7" name="Google Shape;3227;p15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8" name="Google Shape;3228;p15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29" name="Google Shape;3229;p15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30" name="Google Shape;3230;p15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31" name="Google Shape;3231;p15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rgbClr val="C27BA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32" name="Google Shape;3232;p159"/>
          <p:cNvCxnSpPr>
            <a:stCxn id="3224" idx="7"/>
            <a:endCxn id="322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3" name="Google Shape;3233;p159"/>
          <p:cNvCxnSpPr>
            <a:stCxn id="3227" idx="3"/>
            <a:endCxn id="322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4" name="Google Shape;3234;p159"/>
          <p:cNvCxnSpPr>
            <a:stCxn id="3229" idx="7"/>
            <a:endCxn id="323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5" name="Google Shape;3235;p159"/>
          <p:cNvCxnSpPr>
            <a:stCxn id="3230" idx="3"/>
            <a:endCxn id="322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6" name="Google Shape;3236;p159"/>
          <p:cNvCxnSpPr>
            <a:stCxn id="3226" idx="6"/>
            <a:endCxn id="323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7" name="Google Shape;3237;p159"/>
          <p:cNvCxnSpPr>
            <a:stCxn id="3229" idx="4"/>
            <a:endCxn id="322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8" name="Google Shape;3238;p159"/>
          <p:cNvCxnSpPr>
            <a:stCxn id="3225" idx="4"/>
            <a:endCxn id="322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9" name="Google Shape;3239;p159"/>
          <p:cNvCxnSpPr>
            <a:stCxn id="3224" idx="5"/>
            <a:endCxn id="322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0" name="Google Shape;3240;p159"/>
          <p:cNvCxnSpPr>
            <a:stCxn id="3224" idx="6"/>
            <a:endCxn id="322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1" name="Google Shape;3241;p159"/>
          <p:cNvCxnSpPr>
            <a:stCxn id="3226" idx="2"/>
            <a:endCxn id="322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2" name="Google Shape;3242;p159"/>
          <p:cNvCxnSpPr>
            <a:stCxn id="3231" idx="1"/>
            <a:endCxn id="322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3" name="Google Shape;3243;p159"/>
          <p:cNvCxnSpPr>
            <a:stCxn id="3230" idx="1"/>
            <a:endCxn id="322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4" name="Google Shape;3244;p159"/>
          <p:cNvCxnSpPr>
            <a:stCxn id="3227" idx="5"/>
            <a:endCxn id="322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5" name="Google Shape;3245;p159"/>
          <p:cNvCxnSpPr>
            <a:stCxn id="3225" idx="7"/>
            <a:endCxn id="322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6" name="Google Shape;3246;p159"/>
          <p:cNvCxnSpPr>
            <a:stCxn id="3229" idx="3"/>
            <a:endCxn id="322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7" name="Google Shape;3247;p159"/>
          <p:cNvCxnSpPr>
            <a:stCxn id="3225" idx="6"/>
            <a:endCxn id="322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N_{in}(V_5)=\{V_2, V_3, V_4, V_6\}" id="3248" name="Google Shape;3248;p1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" y="3200400"/>
            <a:ext cx="4393921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_{in}(V_4)=\{V_1, V_3, V_7, V_8\}" id="3249" name="Google Shape;3249;p1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692" y="2651760"/>
            <a:ext cx="4354602" cy="39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253" name="Shape 3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4" name="Google Shape;3254;p16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in Directed Graphs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8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p1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260" name="Google Shape;3260;p161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16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62" name="Google Shape;3262;p16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63" name="Google Shape;3263;p16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64" name="Google Shape;3264;p16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65" name="Google Shape;3265;p16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66" name="Google Shape;3266;p16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67" name="Google Shape;3267;p16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68" name="Google Shape;3268;p16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69" name="Google Shape;3269;p161"/>
          <p:cNvCxnSpPr>
            <a:stCxn id="3261" idx="7"/>
            <a:endCxn id="326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0" name="Google Shape;3270;p161"/>
          <p:cNvCxnSpPr>
            <a:stCxn id="3264" idx="3"/>
            <a:endCxn id="326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1" name="Google Shape;3271;p161"/>
          <p:cNvCxnSpPr>
            <a:stCxn id="3266" idx="7"/>
            <a:endCxn id="326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2" name="Google Shape;3272;p161"/>
          <p:cNvCxnSpPr>
            <a:stCxn id="3267" idx="3"/>
            <a:endCxn id="326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3" name="Google Shape;3273;p161"/>
          <p:cNvCxnSpPr>
            <a:stCxn id="3263" idx="6"/>
            <a:endCxn id="326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4" name="Google Shape;3274;p161"/>
          <p:cNvCxnSpPr>
            <a:stCxn id="3266" idx="4"/>
            <a:endCxn id="326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5" name="Google Shape;3275;p161"/>
          <p:cNvCxnSpPr>
            <a:stCxn id="3262" idx="4"/>
            <a:endCxn id="326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6" name="Google Shape;3276;p161"/>
          <p:cNvCxnSpPr>
            <a:stCxn id="3261" idx="5"/>
            <a:endCxn id="326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7" name="Google Shape;3277;p161"/>
          <p:cNvCxnSpPr>
            <a:stCxn id="3261" idx="6"/>
            <a:endCxn id="326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8" name="Google Shape;3278;p161"/>
          <p:cNvCxnSpPr>
            <a:stCxn id="3263" idx="2"/>
            <a:endCxn id="326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9" name="Google Shape;3279;p161"/>
          <p:cNvCxnSpPr>
            <a:stCxn id="3268" idx="1"/>
            <a:endCxn id="326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0" name="Google Shape;3280;p161"/>
          <p:cNvCxnSpPr>
            <a:stCxn id="3267" idx="1"/>
            <a:endCxn id="326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1" name="Google Shape;3281;p161"/>
          <p:cNvCxnSpPr>
            <a:stCxn id="3264" idx="5"/>
            <a:endCxn id="326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2" name="Google Shape;3282;p161"/>
          <p:cNvCxnSpPr>
            <a:stCxn id="3262" idx="7"/>
            <a:endCxn id="326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3" name="Google Shape;3283;p161"/>
          <p:cNvCxnSpPr>
            <a:stCxn id="3266" idx="3"/>
            <a:endCxn id="326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4" name="Google Shape;3284;p161"/>
          <p:cNvCxnSpPr>
            <a:stCxn id="3262" idx="6"/>
            <a:endCxn id="326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8" name="Shape 3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Google Shape;3289;p1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290" name="Google Shape;3290;p162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p16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92" name="Google Shape;3292;p16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93" name="Google Shape;3293;p16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94" name="Google Shape;3294;p16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95" name="Google Shape;3295;p16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96" name="Google Shape;3296;p16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97" name="Google Shape;3297;p16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98" name="Google Shape;3298;p16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99" name="Google Shape;3299;p162"/>
          <p:cNvCxnSpPr>
            <a:stCxn id="3291" idx="7"/>
            <a:endCxn id="329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0" name="Google Shape;3300;p162"/>
          <p:cNvCxnSpPr>
            <a:stCxn id="3294" idx="3"/>
            <a:endCxn id="329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1" name="Google Shape;3301;p162"/>
          <p:cNvCxnSpPr>
            <a:stCxn id="3296" idx="7"/>
            <a:endCxn id="329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2" name="Google Shape;3302;p162"/>
          <p:cNvCxnSpPr>
            <a:stCxn id="3297" idx="3"/>
            <a:endCxn id="329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3" name="Google Shape;3303;p162"/>
          <p:cNvCxnSpPr>
            <a:stCxn id="3293" idx="6"/>
            <a:endCxn id="329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4" name="Google Shape;3304;p162"/>
          <p:cNvCxnSpPr>
            <a:stCxn id="3296" idx="4"/>
            <a:endCxn id="329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5" name="Google Shape;3305;p162"/>
          <p:cNvCxnSpPr>
            <a:stCxn id="3292" idx="4"/>
            <a:endCxn id="329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6" name="Google Shape;3306;p162"/>
          <p:cNvCxnSpPr>
            <a:stCxn id="3291" idx="5"/>
            <a:endCxn id="329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7" name="Google Shape;3307;p162"/>
          <p:cNvCxnSpPr>
            <a:stCxn id="3291" idx="6"/>
            <a:endCxn id="329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8" name="Google Shape;3308;p162"/>
          <p:cNvCxnSpPr>
            <a:stCxn id="3293" idx="2"/>
            <a:endCxn id="329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9" name="Google Shape;3309;p162"/>
          <p:cNvCxnSpPr>
            <a:stCxn id="3298" idx="1"/>
            <a:endCxn id="329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0" name="Google Shape;3310;p162"/>
          <p:cNvCxnSpPr>
            <a:stCxn id="3297" idx="1"/>
            <a:endCxn id="329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1" name="Google Shape;3311;p162"/>
          <p:cNvCxnSpPr>
            <a:stCxn id="3294" idx="5"/>
            <a:endCxn id="329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2" name="Google Shape;3312;p162"/>
          <p:cNvCxnSpPr>
            <a:stCxn id="3292" idx="7"/>
            <a:endCxn id="329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3" name="Google Shape;3313;p162"/>
          <p:cNvCxnSpPr>
            <a:stCxn id="3296" idx="3"/>
            <a:endCxn id="329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4" name="Google Shape;3314;p162"/>
          <p:cNvCxnSpPr>
            <a:stCxn id="3292" idx="6"/>
            <a:endCxn id="329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p1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320" name="Google Shape;3320;p163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1" name="Google Shape;3321;p16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2" name="Google Shape;3322;p16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3" name="Google Shape;3323;p16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4" name="Google Shape;3324;p16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5" name="Google Shape;3325;p16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6" name="Google Shape;3326;p16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7" name="Google Shape;3327;p16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28" name="Google Shape;3328;p16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29" name="Google Shape;3329;p163"/>
          <p:cNvCxnSpPr>
            <a:stCxn id="3321" idx="7"/>
            <a:endCxn id="332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0" name="Google Shape;3330;p163"/>
          <p:cNvCxnSpPr>
            <a:stCxn id="3324" idx="3"/>
            <a:endCxn id="332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1" name="Google Shape;3331;p163"/>
          <p:cNvCxnSpPr>
            <a:stCxn id="3326" idx="7"/>
            <a:endCxn id="332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2" name="Google Shape;3332;p163"/>
          <p:cNvCxnSpPr>
            <a:stCxn id="3327" idx="3"/>
            <a:endCxn id="332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3" name="Google Shape;3333;p163"/>
          <p:cNvCxnSpPr>
            <a:stCxn id="3323" idx="6"/>
            <a:endCxn id="332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4" name="Google Shape;3334;p163"/>
          <p:cNvCxnSpPr>
            <a:stCxn id="3326" idx="4"/>
            <a:endCxn id="332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5" name="Google Shape;3335;p163"/>
          <p:cNvCxnSpPr>
            <a:stCxn id="3322" idx="4"/>
            <a:endCxn id="332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6" name="Google Shape;3336;p163"/>
          <p:cNvCxnSpPr>
            <a:stCxn id="3321" idx="5"/>
            <a:endCxn id="332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7" name="Google Shape;3337;p163"/>
          <p:cNvCxnSpPr>
            <a:stCxn id="3321" idx="6"/>
            <a:endCxn id="332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8" name="Google Shape;3338;p163"/>
          <p:cNvCxnSpPr>
            <a:stCxn id="3323" idx="2"/>
            <a:endCxn id="332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9" name="Google Shape;3339;p163"/>
          <p:cNvCxnSpPr>
            <a:stCxn id="3328" idx="1"/>
            <a:endCxn id="332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0" name="Google Shape;3340;p163"/>
          <p:cNvCxnSpPr>
            <a:stCxn id="3327" idx="1"/>
            <a:endCxn id="332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1" name="Google Shape;3341;p163"/>
          <p:cNvCxnSpPr>
            <a:stCxn id="3324" idx="5"/>
            <a:endCxn id="332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2" name="Google Shape;3342;p163"/>
          <p:cNvCxnSpPr>
            <a:stCxn id="3322" idx="7"/>
            <a:endCxn id="332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3" name="Google Shape;3343;p163"/>
          <p:cNvCxnSpPr>
            <a:stCxn id="3326" idx="3"/>
            <a:endCxn id="332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4" name="Google Shape;3344;p163"/>
          <p:cNvCxnSpPr>
            <a:stCxn id="3322" idx="6"/>
            <a:endCxn id="332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8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p1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350" name="Google Shape;3350;p164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3351" name="Google Shape;3351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sp>
        <p:nvSpPr>
          <p:cNvPr id="3352" name="Google Shape;3352;p16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3" name="Google Shape;3353;p16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4" name="Google Shape;3354;p16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5" name="Google Shape;3355;p16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6" name="Google Shape;3356;p16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7" name="Google Shape;3357;p16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8" name="Google Shape;3358;p16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9" name="Google Shape;3359;p16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60" name="Google Shape;3360;p164"/>
          <p:cNvCxnSpPr>
            <a:stCxn id="3352" idx="7"/>
            <a:endCxn id="335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1" name="Google Shape;3361;p164"/>
          <p:cNvCxnSpPr>
            <a:stCxn id="3355" idx="3"/>
            <a:endCxn id="335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2" name="Google Shape;3362;p164"/>
          <p:cNvCxnSpPr>
            <a:stCxn id="3357" idx="7"/>
            <a:endCxn id="335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3" name="Google Shape;3363;p164"/>
          <p:cNvCxnSpPr>
            <a:stCxn id="3358" idx="3"/>
            <a:endCxn id="335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4" name="Google Shape;3364;p164"/>
          <p:cNvCxnSpPr>
            <a:stCxn id="3354" idx="6"/>
            <a:endCxn id="335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5" name="Google Shape;3365;p164"/>
          <p:cNvCxnSpPr>
            <a:stCxn id="3357" idx="4"/>
            <a:endCxn id="335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6" name="Google Shape;3366;p164"/>
          <p:cNvCxnSpPr>
            <a:stCxn id="3353" idx="4"/>
            <a:endCxn id="335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7" name="Google Shape;3367;p164"/>
          <p:cNvCxnSpPr>
            <a:stCxn id="3352" idx="5"/>
            <a:endCxn id="335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8" name="Google Shape;3368;p164"/>
          <p:cNvCxnSpPr>
            <a:stCxn id="3352" idx="6"/>
            <a:endCxn id="335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9" name="Google Shape;3369;p164"/>
          <p:cNvCxnSpPr>
            <a:stCxn id="3354" idx="2"/>
            <a:endCxn id="335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0" name="Google Shape;3370;p164"/>
          <p:cNvCxnSpPr>
            <a:stCxn id="3359" idx="1"/>
            <a:endCxn id="335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1" name="Google Shape;3371;p164"/>
          <p:cNvCxnSpPr>
            <a:stCxn id="3358" idx="1"/>
            <a:endCxn id="335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2" name="Google Shape;3372;p164"/>
          <p:cNvCxnSpPr>
            <a:stCxn id="3355" idx="5"/>
            <a:endCxn id="335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3" name="Google Shape;3373;p164"/>
          <p:cNvCxnSpPr>
            <a:stCxn id="3353" idx="7"/>
            <a:endCxn id="335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4" name="Google Shape;3374;p164"/>
          <p:cNvCxnSpPr>
            <a:stCxn id="3357" idx="3"/>
            <a:endCxn id="335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5" name="Google Shape;3375;p164"/>
          <p:cNvCxnSpPr>
            <a:stCxn id="3353" idx="6"/>
            <a:endCxn id="335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" name="Google Shape;3380;p1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381" name="Google Shape;3381;p165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So: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3382" name="Google Shape;3382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=\frac{m}{n(n-1)}" id="3383" name="Google Shape;3383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73" y="4104204"/>
            <a:ext cx="1828800" cy="6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3384" name="Google Shape;3384;p16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5" name="Google Shape;3385;p16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6" name="Google Shape;3386;p16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7" name="Google Shape;3387;p16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8" name="Google Shape;3388;p16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89" name="Google Shape;3389;p16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90" name="Google Shape;3390;p16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91" name="Google Shape;3391;p16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92" name="Google Shape;3392;p165"/>
          <p:cNvCxnSpPr>
            <a:stCxn id="3384" idx="7"/>
            <a:endCxn id="338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3" name="Google Shape;3393;p165"/>
          <p:cNvCxnSpPr>
            <a:stCxn id="3387" idx="3"/>
            <a:endCxn id="338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4" name="Google Shape;3394;p165"/>
          <p:cNvCxnSpPr>
            <a:stCxn id="3389" idx="7"/>
            <a:endCxn id="339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5" name="Google Shape;3395;p165"/>
          <p:cNvCxnSpPr>
            <a:stCxn id="3390" idx="3"/>
            <a:endCxn id="338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6" name="Google Shape;3396;p165"/>
          <p:cNvCxnSpPr>
            <a:stCxn id="3386" idx="6"/>
            <a:endCxn id="339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7" name="Google Shape;3397;p165"/>
          <p:cNvCxnSpPr>
            <a:stCxn id="3389" idx="4"/>
            <a:endCxn id="338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8" name="Google Shape;3398;p165"/>
          <p:cNvCxnSpPr>
            <a:stCxn id="3385" idx="4"/>
            <a:endCxn id="338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9" name="Google Shape;3399;p165"/>
          <p:cNvCxnSpPr>
            <a:stCxn id="3384" idx="5"/>
            <a:endCxn id="338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0" name="Google Shape;3400;p165"/>
          <p:cNvCxnSpPr>
            <a:stCxn id="3384" idx="6"/>
            <a:endCxn id="338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1" name="Google Shape;3401;p165"/>
          <p:cNvCxnSpPr>
            <a:stCxn id="3386" idx="2"/>
            <a:endCxn id="338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2" name="Google Shape;3402;p165"/>
          <p:cNvCxnSpPr>
            <a:stCxn id="3391" idx="1"/>
            <a:endCxn id="338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3" name="Google Shape;3403;p165"/>
          <p:cNvCxnSpPr>
            <a:stCxn id="3390" idx="1"/>
            <a:endCxn id="338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4" name="Google Shape;3404;p165"/>
          <p:cNvCxnSpPr>
            <a:stCxn id="3387" idx="5"/>
            <a:endCxn id="338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5" name="Google Shape;3405;p165"/>
          <p:cNvCxnSpPr>
            <a:stCxn id="3385" idx="7"/>
            <a:endCxn id="338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6" name="Google Shape;3406;p165"/>
          <p:cNvCxnSpPr>
            <a:stCxn id="3389" idx="3"/>
            <a:endCxn id="338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07" name="Google Shape;3407;p165"/>
          <p:cNvCxnSpPr>
            <a:stCxn id="3385" idx="6"/>
            <a:endCxn id="338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1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413" name="Google Shape;3413;p166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divide: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observed number of edges (m)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By the maximum possible for a graph of that order (Max(E))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 in a directed graph: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So: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x(E)=n(n-1)" id="3414" name="Google Shape;3414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72" y="3636543"/>
            <a:ext cx="2624006" cy="310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=\frac{m}{n(n-1)}" id="3415" name="Google Shape;3415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573" y="4104204"/>
            <a:ext cx="1828800" cy="672527"/>
          </a:xfrm>
          <a:prstGeom prst="rect">
            <a:avLst/>
          </a:prstGeom>
          <a:noFill/>
          <a:ln>
            <a:noFill/>
          </a:ln>
        </p:spPr>
      </p:pic>
      <p:sp>
        <p:nvSpPr>
          <p:cNvPr id="3416" name="Google Shape;3416;p166"/>
          <p:cNvSpPr/>
          <p:nvPr/>
        </p:nvSpPr>
        <p:spPr>
          <a:xfrm>
            <a:off x="3793300" y="4040550"/>
            <a:ext cx="2656500" cy="899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Even Simpler!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417" name="Google Shape;3417;p16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8" name="Google Shape;3418;p16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19" name="Google Shape;3419;p16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20" name="Google Shape;3420;p16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21" name="Google Shape;3421;p16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22" name="Google Shape;3422;p16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23" name="Google Shape;3423;p16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24" name="Google Shape;3424;p16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25" name="Google Shape;3425;p166"/>
          <p:cNvCxnSpPr>
            <a:stCxn id="3417" idx="7"/>
            <a:endCxn id="342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6" name="Google Shape;3426;p166"/>
          <p:cNvCxnSpPr>
            <a:stCxn id="3420" idx="3"/>
            <a:endCxn id="341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7" name="Google Shape;3427;p166"/>
          <p:cNvCxnSpPr>
            <a:stCxn id="3422" idx="7"/>
            <a:endCxn id="342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8" name="Google Shape;3428;p166"/>
          <p:cNvCxnSpPr>
            <a:stCxn id="3423" idx="3"/>
            <a:endCxn id="342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9" name="Google Shape;3429;p166"/>
          <p:cNvCxnSpPr>
            <a:stCxn id="3419" idx="6"/>
            <a:endCxn id="342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0" name="Google Shape;3430;p166"/>
          <p:cNvCxnSpPr>
            <a:stCxn id="3422" idx="4"/>
            <a:endCxn id="341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1" name="Google Shape;3431;p166"/>
          <p:cNvCxnSpPr>
            <a:stCxn id="3418" idx="4"/>
            <a:endCxn id="342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2" name="Google Shape;3432;p166"/>
          <p:cNvCxnSpPr>
            <a:stCxn id="3417" idx="5"/>
            <a:endCxn id="342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3" name="Google Shape;3433;p166"/>
          <p:cNvCxnSpPr>
            <a:stCxn id="3417" idx="6"/>
            <a:endCxn id="341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4" name="Google Shape;3434;p166"/>
          <p:cNvCxnSpPr>
            <a:stCxn id="3419" idx="2"/>
            <a:endCxn id="342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5" name="Google Shape;3435;p166"/>
          <p:cNvCxnSpPr>
            <a:stCxn id="3424" idx="1"/>
            <a:endCxn id="342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6" name="Google Shape;3436;p166"/>
          <p:cNvCxnSpPr>
            <a:stCxn id="3423" idx="1"/>
            <a:endCxn id="342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7" name="Google Shape;3437;p166"/>
          <p:cNvCxnSpPr>
            <a:stCxn id="3420" idx="5"/>
            <a:endCxn id="342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8" name="Google Shape;3438;p166"/>
          <p:cNvCxnSpPr>
            <a:stCxn id="3418" idx="7"/>
            <a:endCxn id="342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9" name="Google Shape;3439;p166"/>
          <p:cNvCxnSpPr>
            <a:stCxn id="3422" idx="3"/>
            <a:endCxn id="342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0" name="Google Shape;3440;p166"/>
          <p:cNvCxnSpPr>
            <a:stCxn id="3418" idx="6"/>
            <a:endCxn id="342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4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p1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446" name="Google Shape;3446;p167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7" name="Google Shape;3447;p16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48" name="Google Shape;3448;p16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49" name="Google Shape;3449;p16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50" name="Google Shape;3450;p16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51" name="Google Shape;3451;p16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52" name="Google Shape;3452;p16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53" name="Google Shape;3453;p16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54" name="Google Shape;3454;p16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55" name="Google Shape;3455;p167"/>
          <p:cNvCxnSpPr>
            <a:stCxn id="3447" idx="7"/>
            <a:endCxn id="345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6" name="Google Shape;3456;p167"/>
          <p:cNvCxnSpPr>
            <a:stCxn id="3450" idx="3"/>
            <a:endCxn id="344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7" name="Google Shape;3457;p167"/>
          <p:cNvCxnSpPr>
            <a:stCxn id="3452" idx="7"/>
            <a:endCxn id="345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8" name="Google Shape;3458;p167"/>
          <p:cNvCxnSpPr>
            <a:stCxn id="3453" idx="3"/>
            <a:endCxn id="345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9" name="Google Shape;3459;p167"/>
          <p:cNvCxnSpPr>
            <a:stCxn id="3449" idx="6"/>
            <a:endCxn id="345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0" name="Google Shape;3460;p167"/>
          <p:cNvCxnSpPr>
            <a:stCxn id="3452" idx="4"/>
            <a:endCxn id="344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1" name="Google Shape;3461;p167"/>
          <p:cNvCxnSpPr>
            <a:stCxn id="3448" idx="4"/>
            <a:endCxn id="345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2" name="Google Shape;3462;p167"/>
          <p:cNvCxnSpPr>
            <a:stCxn id="3447" idx="5"/>
            <a:endCxn id="345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3" name="Google Shape;3463;p167"/>
          <p:cNvCxnSpPr>
            <a:stCxn id="3447" idx="6"/>
            <a:endCxn id="344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4" name="Google Shape;3464;p167"/>
          <p:cNvCxnSpPr>
            <a:stCxn id="3449" idx="2"/>
            <a:endCxn id="345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5" name="Google Shape;3465;p167"/>
          <p:cNvCxnSpPr>
            <a:stCxn id="3454" idx="1"/>
            <a:endCxn id="345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6" name="Google Shape;3466;p167"/>
          <p:cNvCxnSpPr>
            <a:stCxn id="3453" idx="1"/>
            <a:endCxn id="345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7" name="Google Shape;3467;p167"/>
          <p:cNvCxnSpPr>
            <a:stCxn id="3450" idx="5"/>
            <a:endCxn id="345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8" name="Google Shape;3468;p167"/>
          <p:cNvCxnSpPr>
            <a:stCxn id="3448" idx="7"/>
            <a:endCxn id="345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9" name="Google Shape;3469;p167"/>
          <p:cNvCxnSpPr>
            <a:stCxn id="3452" idx="3"/>
            <a:endCxn id="345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0" name="Google Shape;3470;p167"/>
          <p:cNvCxnSpPr>
            <a:stCxn id="3448" idx="6"/>
            <a:endCxn id="345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4" name="Shape 3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Google Shape;3475;p1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476" name="Google Shape;3476;p168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16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78" name="Google Shape;3478;p16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79" name="Google Shape;3479;p16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80" name="Google Shape;3480;p16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81" name="Google Shape;3481;p16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82" name="Google Shape;3482;p16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83" name="Google Shape;3483;p16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484" name="Google Shape;3484;p16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85" name="Google Shape;3485;p168"/>
          <p:cNvCxnSpPr>
            <a:stCxn id="3477" idx="7"/>
            <a:endCxn id="348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6" name="Google Shape;3486;p168"/>
          <p:cNvCxnSpPr>
            <a:stCxn id="3480" idx="3"/>
            <a:endCxn id="347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7" name="Google Shape;3487;p168"/>
          <p:cNvCxnSpPr>
            <a:stCxn id="3482" idx="7"/>
            <a:endCxn id="348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8" name="Google Shape;3488;p168"/>
          <p:cNvCxnSpPr>
            <a:stCxn id="3483" idx="3"/>
            <a:endCxn id="348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9" name="Google Shape;3489;p168"/>
          <p:cNvCxnSpPr>
            <a:stCxn id="3479" idx="6"/>
            <a:endCxn id="348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0" name="Google Shape;3490;p168"/>
          <p:cNvCxnSpPr>
            <a:stCxn id="3482" idx="4"/>
            <a:endCxn id="347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1" name="Google Shape;3491;p168"/>
          <p:cNvCxnSpPr>
            <a:stCxn id="3478" idx="4"/>
            <a:endCxn id="348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2" name="Google Shape;3492;p168"/>
          <p:cNvCxnSpPr>
            <a:stCxn id="3477" idx="5"/>
            <a:endCxn id="348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3" name="Google Shape;3493;p168"/>
          <p:cNvCxnSpPr>
            <a:stCxn id="3477" idx="6"/>
            <a:endCxn id="347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4" name="Google Shape;3494;p168"/>
          <p:cNvCxnSpPr>
            <a:stCxn id="3479" idx="2"/>
            <a:endCxn id="348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5" name="Google Shape;3495;p168"/>
          <p:cNvCxnSpPr>
            <a:stCxn id="3484" idx="1"/>
            <a:endCxn id="348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6" name="Google Shape;3496;p168"/>
          <p:cNvCxnSpPr>
            <a:stCxn id="3483" idx="1"/>
            <a:endCxn id="348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7" name="Google Shape;3497;p168"/>
          <p:cNvCxnSpPr>
            <a:stCxn id="3480" idx="5"/>
            <a:endCxn id="348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8" name="Google Shape;3498;p168"/>
          <p:cNvCxnSpPr>
            <a:stCxn id="3478" idx="7"/>
            <a:endCxn id="348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9" name="Google Shape;3499;p168"/>
          <p:cNvCxnSpPr>
            <a:stCxn id="3482" idx="3"/>
            <a:endCxn id="348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0" name="Google Shape;3500;p168"/>
          <p:cNvCxnSpPr>
            <a:stCxn id="3478" idx="6"/>
            <a:endCxn id="348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4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p1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506" name="Google Shape;3506;p169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density is: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m}{n(n-1)}=\frac{16}{8(8-1)}=\frac{16}{8(7)}=\frac{16}{56}=0.29" id="3507" name="Google Shape;3507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2" y="3510751"/>
            <a:ext cx="5029199" cy="593446"/>
          </a:xfrm>
          <a:prstGeom prst="rect">
            <a:avLst/>
          </a:prstGeom>
          <a:noFill/>
          <a:ln>
            <a:noFill/>
          </a:ln>
        </p:spPr>
      </p:pic>
      <p:sp>
        <p:nvSpPr>
          <p:cNvPr id="3508" name="Google Shape;3508;p16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09" name="Google Shape;3509;p16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10" name="Google Shape;3510;p16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11" name="Google Shape;3511;p16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12" name="Google Shape;3512;p16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13" name="Google Shape;3513;p16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14" name="Google Shape;3514;p16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15" name="Google Shape;3515;p16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16" name="Google Shape;3516;p169"/>
          <p:cNvCxnSpPr>
            <a:stCxn id="3508" idx="7"/>
            <a:endCxn id="351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7" name="Google Shape;3517;p169"/>
          <p:cNvCxnSpPr>
            <a:stCxn id="3511" idx="3"/>
            <a:endCxn id="350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8" name="Google Shape;3518;p169"/>
          <p:cNvCxnSpPr>
            <a:stCxn id="3513" idx="7"/>
            <a:endCxn id="351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9" name="Google Shape;3519;p169"/>
          <p:cNvCxnSpPr>
            <a:stCxn id="3514" idx="3"/>
            <a:endCxn id="351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0" name="Google Shape;3520;p169"/>
          <p:cNvCxnSpPr>
            <a:stCxn id="3510" idx="6"/>
            <a:endCxn id="351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1" name="Google Shape;3521;p169"/>
          <p:cNvCxnSpPr>
            <a:stCxn id="3513" idx="4"/>
            <a:endCxn id="351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2" name="Google Shape;3522;p169"/>
          <p:cNvCxnSpPr>
            <a:stCxn id="3509" idx="4"/>
            <a:endCxn id="351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3" name="Google Shape;3523;p169"/>
          <p:cNvCxnSpPr>
            <a:stCxn id="3508" idx="5"/>
            <a:endCxn id="351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4" name="Google Shape;3524;p169"/>
          <p:cNvCxnSpPr>
            <a:stCxn id="3508" idx="6"/>
            <a:endCxn id="350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5" name="Google Shape;3525;p169"/>
          <p:cNvCxnSpPr>
            <a:stCxn id="3510" idx="2"/>
            <a:endCxn id="351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6" name="Google Shape;3526;p169"/>
          <p:cNvCxnSpPr>
            <a:stCxn id="3515" idx="1"/>
            <a:endCxn id="351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7" name="Google Shape;3527;p169"/>
          <p:cNvCxnSpPr>
            <a:stCxn id="3514" idx="1"/>
            <a:endCxn id="351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8" name="Google Shape;3528;p169"/>
          <p:cNvCxnSpPr>
            <a:stCxn id="3511" idx="5"/>
            <a:endCxn id="351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9" name="Google Shape;3529;p169"/>
          <p:cNvCxnSpPr>
            <a:stCxn id="3509" idx="7"/>
            <a:endCxn id="351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0" name="Google Shape;3530;p169"/>
          <p:cNvCxnSpPr>
            <a:stCxn id="3513" idx="3"/>
            <a:endCxn id="351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1" name="Google Shape;3531;p169"/>
          <p:cNvCxnSpPr>
            <a:stCxn id="3509" idx="6"/>
            <a:endCxn id="351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p1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Density in Directed Graphs</a:t>
            </a:r>
            <a:endParaRPr/>
          </a:p>
        </p:txBody>
      </p:sp>
      <p:sp>
        <p:nvSpPr>
          <p:cNvPr id="3537" name="Google Shape;3537;p170"/>
          <p:cNvSpPr txBox="1"/>
          <p:nvPr>
            <p:ph idx="1" type="body"/>
          </p:nvPr>
        </p:nvSpPr>
        <p:spPr>
          <a:xfrm>
            <a:off x="311700" y="1225225"/>
            <a:ext cx="521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graph we are studying is directed?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deal!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 = 16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density is: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=\frac{m}{n(n-1)}=\frac{16}{8(8-1)}=\frac{16}{8(7)}=\frac{16}{56}=0.29" id="3538" name="Google Shape;3538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2" y="3510751"/>
            <a:ext cx="5029199" cy="593446"/>
          </a:xfrm>
          <a:prstGeom prst="rect">
            <a:avLst/>
          </a:prstGeom>
          <a:noFill/>
          <a:ln>
            <a:noFill/>
          </a:ln>
        </p:spPr>
      </p:pic>
      <p:sp>
        <p:nvSpPr>
          <p:cNvPr id="3539" name="Google Shape;3539;p17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40" name="Google Shape;3540;p17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41" name="Google Shape;3541;p17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42" name="Google Shape;3542;p17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43" name="Google Shape;3543;p17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44" name="Google Shape;3544;p17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45" name="Google Shape;3545;p17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46" name="Google Shape;3546;p17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47" name="Google Shape;3547;p170"/>
          <p:cNvCxnSpPr>
            <a:stCxn id="3539" idx="7"/>
            <a:endCxn id="354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8" name="Google Shape;3548;p170"/>
          <p:cNvCxnSpPr>
            <a:stCxn id="3542" idx="3"/>
            <a:endCxn id="354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9" name="Google Shape;3549;p170"/>
          <p:cNvCxnSpPr>
            <a:stCxn id="3544" idx="7"/>
            <a:endCxn id="354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0" name="Google Shape;3550;p170"/>
          <p:cNvCxnSpPr>
            <a:stCxn id="3545" idx="3"/>
            <a:endCxn id="354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1" name="Google Shape;3551;p170"/>
          <p:cNvCxnSpPr>
            <a:stCxn id="3541" idx="6"/>
            <a:endCxn id="354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2" name="Google Shape;3552;p170"/>
          <p:cNvCxnSpPr>
            <a:stCxn id="3544" idx="4"/>
            <a:endCxn id="354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3" name="Google Shape;3553;p170"/>
          <p:cNvCxnSpPr>
            <a:stCxn id="3540" idx="4"/>
            <a:endCxn id="354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4" name="Google Shape;3554;p170"/>
          <p:cNvCxnSpPr>
            <a:stCxn id="3539" idx="5"/>
            <a:endCxn id="354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5" name="Google Shape;3555;p170"/>
          <p:cNvCxnSpPr>
            <a:stCxn id="3539" idx="6"/>
            <a:endCxn id="354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6" name="Google Shape;3556;p170"/>
          <p:cNvCxnSpPr>
            <a:stCxn id="3541" idx="2"/>
            <a:endCxn id="354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7" name="Google Shape;3557;p170"/>
          <p:cNvCxnSpPr>
            <a:stCxn id="3546" idx="1"/>
            <a:endCxn id="354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8" name="Google Shape;3558;p170"/>
          <p:cNvCxnSpPr>
            <a:stCxn id="3545" idx="1"/>
            <a:endCxn id="354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9" name="Google Shape;3559;p170"/>
          <p:cNvCxnSpPr>
            <a:stCxn id="3542" idx="5"/>
            <a:endCxn id="354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0" name="Google Shape;3560;p170"/>
          <p:cNvCxnSpPr>
            <a:stCxn id="3540" idx="7"/>
            <a:endCxn id="354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1" name="Google Shape;3561;p170"/>
          <p:cNvCxnSpPr>
            <a:stCxn id="3544" idx="3"/>
            <a:endCxn id="354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2" name="Google Shape;3562;p170"/>
          <p:cNvCxnSpPr>
            <a:stCxn id="3540" idx="6"/>
            <a:endCxn id="354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3" name="Google Shape;3563;p170"/>
          <p:cNvSpPr/>
          <p:nvPr/>
        </p:nvSpPr>
        <p:spPr>
          <a:xfrm>
            <a:off x="3793300" y="4040550"/>
            <a:ext cx="3186600" cy="899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29% of the possible edges that could exist are present!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567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8" name="Google Shape;3568;p17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 in Directed Graphs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2" name="Shape 3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" name="Google Shape;3573;p1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Degree in Directed Graphs</a:t>
            </a:r>
            <a:endParaRPr/>
          </a:p>
        </p:txBody>
      </p:sp>
      <p:sp>
        <p:nvSpPr>
          <p:cNvPr id="3574" name="Google Shape;3574;p172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now have </a:t>
            </a:r>
            <a:r>
              <a:rPr i="1" lang="en"/>
              <a:t>two</a:t>
            </a:r>
            <a:r>
              <a:rPr lang="en"/>
              <a:t> sets of </a:t>
            </a:r>
            <a:r>
              <a:rPr b="1" lang="en"/>
              <a:t>node neighborhoods</a:t>
            </a:r>
            <a:r>
              <a:rPr lang="en"/>
              <a:t> we have two different types of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Out-degree </a:t>
            </a:r>
            <a:r>
              <a:rPr lang="en"/>
              <a:t>(k</a:t>
            </a:r>
            <a:r>
              <a:rPr baseline="-25000" lang="en"/>
              <a:t>out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In-Degree </a:t>
            </a:r>
            <a:r>
              <a:rPr lang="en"/>
              <a:t>(k</a:t>
            </a:r>
            <a:r>
              <a:rPr baseline="-25000" lang="en"/>
              <a:t>in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5" name="Google Shape;3575;p17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76" name="Google Shape;3576;p17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77" name="Google Shape;3577;p17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78" name="Google Shape;3578;p17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79" name="Google Shape;3579;p17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80" name="Google Shape;3580;p17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81" name="Google Shape;3581;p17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82" name="Google Shape;3582;p17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583" name="Google Shape;3583;p172"/>
          <p:cNvCxnSpPr>
            <a:stCxn id="3575" idx="7"/>
            <a:endCxn id="357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4" name="Google Shape;3584;p172"/>
          <p:cNvCxnSpPr>
            <a:stCxn id="3578" idx="3"/>
            <a:endCxn id="357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5" name="Google Shape;3585;p172"/>
          <p:cNvCxnSpPr>
            <a:stCxn id="3580" idx="7"/>
            <a:endCxn id="358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6" name="Google Shape;3586;p172"/>
          <p:cNvCxnSpPr>
            <a:stCxn id="3581" idx="3"/>
            <a:endCxn id="358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7" name="Google Shape;3587;p172"/>
          <p:cNvCxnSpPr>
            <a:stCxn id="3577" idx="6"/>
            <a:endCxn id="358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8" name="Google Shape;3588;p172"/>
          <p:cNvCxnSpPr>
            <a:stCxn id="3580" idx="4"/>
            <a:endCxn id="357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9" name="Google Shape;3589;p172"/>
          <p:cNvCxnSpPr>
            <a:stCxn id="3576" idx="4"/>
            <a:endCxn id="357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0" name="Google Shape;3590;p172"/>
          <p:cNvCxnSpPr>
            <a:stCxn id="3575" idx="5"/>
            <a:endCxn id="357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1" name="Google Shape;3591;p172"/>
          <p:cNvCxnSpPr>
            <a:stCxn id="3575" idx="6"/>
            <a:endCxn id="357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2" name="Google Shape;3592;p172"/>
          <p:cNvCxnSpPr>
            <a:stCxn id="3577" idx="2"/>
            <a:endCxn id="357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3" name="Google Shape;3593;p172"/>
          <p:cNvCxnSpPr>
            <a:stCxn id="3582" idx="1"/>
            <a:endCxn id="358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4" name="Google Shape;3594;p172"/>
          <p:cNvCxnSpPr>
            <a:stCxn id="3581" idx="1"/>
            <a:endCxn id="357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5" name="Google Shape;3595;p172"/>
          <p:cNvCxnSpPr>
            <a:stCxn id="3578" idx="5"/>
            <a:endCxn id="358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6" name="Google Shape;3596;p172"/>
          <p:cNvCxnSpPr>
            <a:stCxn id="3576" idx="7"/>
            <a:endCxn id="357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7" name="Google Shape;3597;p172"/>
          <p:cNvCxnSpPr>
            <a:stCxn id="3580" idx="3"/>
            <a:endCxn id="357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8" name="Google Shape;3598;p172"/>
          <p:cNvCxnSpPr>
            <a:stCxn id="3576" idx="6"/>
            <a:endCxn id="358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2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p1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Out-Degree in Directed Graphs</a:t>
            </a:r>
            <a:endParaRPr/>
          </a:p>
        </p:txBody>
      </p:sp>
      <p:sp>
        <p:nvSpPr>
          <p:cNvPr id="3604" name="Google Shape;3604;p173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now have </a:t>
            </a:r>
            <a:r>
              <a:rPr i="1" lang="en"/>
              <a:t>two</a:t>
            </a:r>
            <a:r>
              <a:rPr lang="en"/>
              <a:t> sets of </a:t>
            </a:r>
            <a:r>
              <a:rPr b="1" lang="en"/>
              <a:t>node neighborhoods</a:t>
            </a:r>
            <a:r>
              <a:rPr lang="en"/>
              <a:t> we have two different types of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Out-degree </a:t>
            </a:r>
            <a:r>
              <a:rPr lang="en"/>
              <a:t>(k</a:t>
            </a:r>
            <a:r>
              <a:rPr baseline="-25000" lang="en"/>
              <a:t>out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In-Degree </a:t>
            </a:r>
            <a:r>
              <a:rPr lang="en"/>
              <a:t>(k</a:t>
            </a:r>
            <a:r>
              <a:rPr baseline="-25000" lang="en"/>
              <a:t>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Reminder: Degree is the </a:t>
            </a:r>
            <a:r>
              <a:rPr b="1" lang="en"/>
              <a:t>cardinality</a:t>
            </a:r>
            <a:r>
              <a:rPr lang="en"/>
              <a:t> (size) of the </a:t>
            </a:r>
            <a:r>
              <a:rPr b="1" lang="en"/>
              <a:t>node neighborhood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node’s </a:t>
            </a:r>
            <a:r>
              <a:rPr b="1" lang="en"/>
              <a:t>out-degree </a:t>
            </a:r>
            <a:r>
              <a:rPr lang="en"/>
              <a:t>is the cardinality of their </a:t>
            </a:r>
            <a:r>
              <a:rPr b="1" lang="en"/>
              <a:t>out-neighborhood</a:t>
            </a:r>
            <a:r>
              <a:rPr lang="en"/>
              <a:t> set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5" name="Google Shape;3605;p17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06" name="Google Shape;3606;p17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07" name="Google Shape;3607;p17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08" name="Google Shape;3608;p17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09" name="Google Shape;3609;p17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10" name="Google Shape;3610;p17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11" name="Google Shape;3611;p17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12" name="Google Shape;3612;p17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13" name="Google Shape;3613;p173"/>
          <p:cNvCxnSpPr>
            <a:stCxn id="3605" idx="7"/>
            <a:endCxn id="360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4" name="Google Shape;3614;p173"/>
          <p:cNvCxnSpPr>
            <a:stCxn id="3608" idx="3"/>
            <a:endCxn id="360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5" name="Google Shape;3615;p173"/>
          <p:cNvCxnSpPr>
            <a:stCxn id="3610" idx="7"/>
            <a:endCxn id="361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6" name="Google Shape;3616;p173"/>
          <p:cNvCxnSpPr>
            <a:stCxn id="3611" idx="3"/>
            <a:endCxn id="361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7" name="Google Shape;3617;p173"/>
          <p:cNvCxnSpPr>
            <a:stCxn id="3607" idx="6"/>
            <a:endCxn id="361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8" name="Google Shape;3618;p173"/>
          <p:cNvCxnSpPr>
            <a:stCxn id="3610" idx="4"/>
            <a:endCxn id="360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9" name="Google Shape;3619;p173"/>
          <p:cNvCxnSpPr>
            <a:stCxn id="3606" idx="4"/>
            <a:endCxn id="360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0" name="Google Shape;3620;p173"/>
          <p:cNvCxnSpPr>
            <a:stCxn id="3605" idx="5"/>
            <a:endCxn id="360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1" name="Google Shape;3621;p173"/>
          <p:cNvCxnSpPr>
            <a:stCxn id="3605" idx="6"/>
            <a:endCxn id="360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2" name="Google Shape;3622;p173"/>
          <p:cNvCxnSpPr>
            <a:stCxn id="3607" idx="2"/>
            <a:endCxn id="360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3" name="Google Shape;3623;p173"/>
          <p:cNvCxnSpPr>
            <a:stCxn id="3612" idx="1"/>
            <a:endCxn id="361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4" name="Google Shape;3624;p173"/>
          <p:cNvCxnSpPr>
            <a:stCxn id="3611" idx="1"/>
            <a:endCxn id="360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5" name="Google Shape;3625;p173"/>
          <p:cNvCxnSpPr>
            <a:stCxn id="3608" idx="5"/>
            <a:endCxn id="361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6" name="Google Shape;3626;p173"/>
          <p:cNvCxnSpPr>
            <a:stCxn id="3606" idx="7"/>
            <a:endCxn id="360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7" name="Google Shape;3627;p173"/>
          <p:cNvCxnSpPr>
            <a:stCxn id="3610" idx="3"/>
            <a:endCxn id="360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8" name="Google Shape;3628;p173"/>
          <p:cNvCxnSpPr>
            <a:stCxn id="3606" idx="6"/>
            <a:endCxn id="361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2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Google Shape;3633;p1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Out-Degree in Directed Graphs</a:t>
            </a:r>
            <a:endParaRPr/>
          </a:p>
        </p:txBody>
      </p:sp>
      <p:sp>
        <p:nvSpPr>
          <p:cNvPr id="3634" name="Google Shape;3634;p174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now have </a:t>
            </a:r>
            <a:r>
              <a:rPr i="1" lang="en"/>
              <a:t>two</a:t>
            </a:r>
            <a:r>
              <a:rPr lang="en"/>
              <a:t> sets of </a:t>
            </a:r>
            <a:r>
              <a:rPr b="1" lang="en"/>
              <a:t>node neighborhoods</a:t>
            </a:r>
            <a:r>
              <a:rPr lang="en"/>
              <a:t> we have two different types of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Out-degree </a:t>
            </a:r>
            <a:r>
              <a:rPr lang="en"/>
              <a:t>(k</a:t>
            </a:r>
            <a:r>
              <a:rPr baseline="-25000" lang="en"/>
              <a:t>out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In-Degree </a:t>
            </a:r>
            <a:r>
              <a:rPr lang="en"/>
              <a:t>(k</a:t>
            </a:r>
            <a:r>
              <a:rPr baseline="-25000" lang="en"/>
              <a:t>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Reminder: Degree is the </a:t>
            </a:r>
            <a:r>
              <a:rPr b="1" lang="en"/>
              <a:t>cardinality</a:t>
            </a:r>
            <a:r>
              <a:rPr lang="en"/>
              <a:t> (size) of the </a:t>
            </a:r>
            <a:r>
              <a:rPr b="1" lang="en"/>
              <a:t>node neighborhood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node’s </a:t>
            </a:r>
            <a:r>
              <a:rPr b="1" lang="en"/>
              <a:t>out-degree </a:t>
            </a:r>
            <a:r>
              <a:rPr lang="en"/>
              <a:t>is the cardinality of their </a:t>
            </a:r>
            <a:r>
              <a:rPr b="1" lang="en"/>
              <a:t>out-neighborhood</a:t>
            </a:r>
            <a:r>
              <a:rPr lang="en"/>
              <a:t> set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^{out}_{V_3} = |\{V_1, V_4, V_5\}| = 3" id="3635" name="Google Shape;3635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023360"/>
            <a:ext cx="3255281" cy="390355"/>
          </a:xfrm>
          <a:prstGeom prst="rect">
            <a:avLst/>
          </a:prstGeom>
          <a:noFill/>
          <a:ln>
            <a:noFill/>
          </a:ln>
        </p:spPr>
      </p:pic>
      <p:sp>
        <p:nvSpPr>
          <p:cNvPr id="3636" name="Google Shape;3636;p17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37" name="Google Shape;3637;p17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38" name="Google Shape;3638;p17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39" name="Google Shape;3639;p17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40" name="Google Shape;3640;p17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41" name="Google Shape;3641;p17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42" name="Google Shape;3642;p17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43" name="Google Shape;3643;p17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44" name="Google Shape;3644;p174"/>
          <p:cNvCxnSpPr>
            <a:stCxn id="3636" idx="7"/>
            <a:endCxn id="363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5" name="Google Shape;3645;p174"/>
          <p:cNvCxnSpPr>
            <a:stCxn id="3639" idx="3"/>
            <a:endCxn id="363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6" name="Google Shape;3646;p174"/>
          <p:cNvCxnSpPr>
            <a:stCxn id="3641" idx="7"/>
            <a:endCxn id="364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7" name="Google Shape;3647;p174"/>
          <p:cNvCxnSpPr>
            <a:stCxn id="3642" idx="3"/>
            <a:endCxn id="364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8" name="Google Shape;3648;p174"/>
          <p:cNvCxnSpPr>
            <a:stCxn id="3638" idx="6"/>
            <a:endCxn id="364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9" name="Google Shape;3649;p174"/>
          <p:cNvCxnSpPr>
            <a:stCxn id="3641" idx="4"/>
            <a:endCxn id="363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0" name="Google Shape;3650;p174"/>
          <p:cNvCxnSpPr>
            <a:stCxn id="3637" idx="4"/>
            <a:endCxn id="364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1" name="Google Shape;3651;p174"/>
          <p:cNvCxnSpPr>
            <a:stCxn id="3636" idx="5"/>
            <a:endCxn id="364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2" name="Google Shape;3652;p174"/>
          <p:cNvCxnSpPr>
            <a:stCxn id="3636" idx="6"/>
            <a:endCxn id="363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3" name="Google Shape;3653;p174"/>
          <p:cNvCxnSpPr>
            <a:stCxn id="3638" idx="2"/>
            <a:endCxn id="364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4" name="Google Shape;3654;p174"/>
          <p:cNvCxnSpPr>
            <a:stCxn id="3643" idx="1"/>
            <a:endCxn id="364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5" name="Google Shape;3655;p174"/>
          <p:cNvCxnSpPr>
            <a:stCxn id="3642" idx="1"/>
            <a:endCxn id="363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6" name="Google Shape;3656;p174"/>
          <p:cNvCxnSpPr>
            <a:stCxn id="3639" idx="5"/>
            <a:endCxn id="364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7" name="Google Shape;3657;p174"/>
          <p:cNvCxnSpPr>
            <a:stCxn id="3637" idx="7"/>
            <a:endCxn id="363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8" name="Google Shape;3658;p174"/>
          <p:cNvCxnSpPr>
            <a:stCxn id="3641" idx="3"/>
            <a:endCxn id="364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9" name="Google Shape;3659;p174"/>
          <p:cNvCxnSpPr>
            <a:stCxn id="3637" idx="6"/>
            <a:endCxn id="364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3" name="Shape 3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4" name="Google Shape;3664;p1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Out-Degree in Directed Graphs</a:t>
            </a:r>
            <a:endParaRPr/>
          </a:p>
        </p:txBody>
      </p:sp>
      <p:sp>
        <p:nvSpPr>
          <p:cNvPr id="3665" name="Google Shape;3665;p175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now have </a:t>
            </a:r>
            <a:r>
              <a:rPr i="1" lang="en"/>
              <a:t>two</a:t>
            </a:r>
            <a:r>
              <a:rPr lang="en"/>
              <a:t> sets of </a:t>
            </a:r>
            <a:r>
              <a:rPr b="1" lang="en"/>
              <a:t>node neighborhoods</a:t>
            </a:r>
            <a:r>
              <a:rPr lang="en"/>
              <a:t> we have two different types of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Out-degree </a:t>
            </a:r>
            <a:r>
              <a:rPr lang="en"/>
              <a:t>(k</a:t>
            </a:r>
            <a:r>
              <a:rPr baseline="-25000" lang="en"/>
              <a:t>out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In-Degree </a:t>
            </a:r>
            <a:r>
              <a:rPr lang="en"/>
              <a:t>(k</a:t>
            </a:r>
            <a:r>
              <a:rPr baseline="-25000" lang="en"/>
              <a:t>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Reminder: Degree is the </a:t>
            </a:r>
            <a:r>
              <a:rPr b="1" lang="en"/>
              <a:t>cardinality</a:t>
            </a:r>
            <a:r>
              <a:rPr lang="en"/>
              <a:t> (size) of the </a:t>
            </a:r>
            <a:r>
              <a:rPr b="1" lang="en"/>
              <a:t>node neighborhood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node’s </a:t>
            </a:r>
            <a:r>
              <a:rPr b="1" lang="en"/>
              <a:t>out-degree </a:t>
            </a:r>
            <a:r>
              <a:rPr lang="en"/>
              <a:t>is the cardinality of their </a:t>
            </a:r>
            <a:r>
              <a:rPr b="1" lang="en"/>
              <a:t>out-neighborhood</a:t>
            </a:r>
            <a:r>
              <a:rPr lang="en"/>
              <a:t> set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^{out}_{V_7} = |\{V_1, V_4\}| = 2" id="3666" name="Google Shape;3666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023360"/>
            <a:ext cx="2791663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67" name="Google Shape;3667;p17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68" name="Google Shape;3668;p17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69" name="Google Shape;3669;p17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0" name="Google Shape;3670;p17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1" name="Google Shape;3671;p17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2" name="Google Shape;3672;p17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3" name="Google Shape;3673;p17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74" name="Google Shape;3674;p17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75" name="Google Shape;3675;p175"/>
          <p:cNvCxnSpPr>
            <a:stCxn id="3667" idx="7"/>
            <a:endCxn id="367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6" name="Google Shape;3676;p175"/>
          <p:cNvCxnSpPr>
            <a:stCxn id="3670" idx="3"/>
            <a:endCxn id="366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7" name="Google Shape;3677;p175"/>
          <p:cNvCxnSpPr>
            <a:stCxn id="3672" idx="7"/>
            <a:endCxn id="367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8" name="Google Shape;3678;p175"/>
          <p:cNvCxnSpPr>
            <a:stCxn id="3673" idx="3"/>
            <a:endCxn id="367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9" name="Google Shape;3679;p175"/>
          <p:cNvCxnSpPr>
            <a:stCxn id="3669" idx="6"/>
            <a:endCxn id="367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0" name="Google Shape;3680;p175"/>
          <p:cNvCxnSpPr>
            <a:stCxn id="3672" idx="4"/>
            <a:endCxn id="366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1" name="Google Shape;3681;p175"/>
          <p:cNvCxnSpPr>
            <a:stCxn id="3668" idx="4"/>
            <a:endCxn id="367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2" name="Google Shape;3682;p175"/>
          <p:cNvCxnSpPr>
            <a:stCxn id="3667" idx="5"/>
            <a:endCxn id="367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3" name="Google Shape;3683;p175"/>
          <p:cNvCxnSpPr>
            <a:stCxn id="3667" idx="6"/>
            <a:endCxn id="366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4" name="Google Shape;3684;p175"/>
          <p:cNvCxnSpPr>
            <a:stCxn id="3669" idx="2"/>
            <a:endCxn id="367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5" name="Google Shape;3685;p175"/>
          <p:cNvCxnSpPr>
            <a:stCxn id="3674" idx="1"/>
            <a:endCxn id="367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6" name="Google Shape;3686;p175"/>
          <p:cNvCxnSpPr>
            <a:stCxn id="3673" idx="1"/>
            <a:endCxn id="367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7" name="Google Shape;3687;p175"/>
          <p:cNvCxnSpPr>
            <a:stCxn id="3670" idx="5"/>
            <a:endCxn id="367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8" name="Google Shape;3688;p175"/>
          <p:cNvCxnSpPr>
            <a:stCxn id="3668" idx="7"/>
            <a:endCxn id="367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9" name="Google Shape;3689;p175"/>
          <p:cNvCxnSpPr>
            <a:stCxn id="3672" idx="3"/>
            <a:endCxn id="367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0" name="Google Shape;3690;p175"/>
          <p:cNvCxnSpPr>
            <a:stCxn id="3668" idx="6"/>
            <a:endCxn id="367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4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1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Out-Degree in Directed Graphs</a:t>
            </a:r>
            <a:endParaRPr/>
          </a:p>
        </p:txBody>
      </p:sp>
      <p:sp>
        <p:nvSpPr>
          <p:cNvPr id="3696" name="Google Shape;3696;p176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now have </a:t>
            </a:r>
            <a:r>
              <a:rPr i="1" lang="en"/>
              <a:t>two</a:t>
            </a:r>
            <a:r>
              <a:rPr lang="en"/>
              <a:t> sets of </a:t>
            </a:r>
            <a:r>
              <a:rPr b="1" lang="en"/>
              <a:t>node neighborhoods</a:t>
            </a:r>
            <a:r>
              <a:rPr lang="en"/>
              <a:t> we have two different types of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Out-degree </a:t>
            </a:r>
            <a:r>
              <a:rPr lang="en"/>
              <a:t>(k</a:t>
            </a:r>
            <a:r>
              <a:rPr baseline="-25000" lang="en"/>
              <a:t>out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In-Degree </a:t>
            </a:r>
            <a:r>
              <a:rPr lang="en"/>
              <a:t>(k</a:t>
            </a:r>
            <a:r>
              <a:rPr baseline="-25000" lang="en"/>
              <a:t>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Reminder: Degree is the </a:t>
            </a:r>
            <a:r>
              <a:rPr b="1" lang="en"/>
              <a:t>cardinality</a:t>
            </a:r>
            <a:r>
              <a:rPr lang="en"/>
              <a:t> (size) of the </a:t>
            </a:r>
            <a:r>
              <a:rPr b="1" lang="en"/>
              <a:t>node neighborhood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node’s </a:t>
            </a:r>
            <a:r>
              <a:rPr b="1" lang="en"/>
              <a:t>out-degree </a:t>
            </a:r>
            <a:r>
              <a:rPr lang="en"/>
              <a:t>is the cardinality of their </a:t>
            </a:r>
            <a:r>
              <a:rPr b="1" lang="en"/>
              <a:t>out-neighborhood</a:t>
            </a:r>
            <a:r>
              <a:rPr lang="en"/>
              <a:t> set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^{out}_{V_5} = |\{\emptyset\}| = 0" id="3697" name="Google Shape;3697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023360"/>
            <a:ext cx="2251024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98" name="Google Shape;3698;p17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699" name="Google Shape;3699;p17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00" name="Google Shape;3700;p17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01" name="Google Shape;3701;p17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02" name="Google Shape;3702;p17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03" name="Google Shape;3703;p17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04" name="Google Shape;3704;p17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05" name="Google Shape;3705;p17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06" name="Google Shape;3706;p176"/>
          <p:cNvCxnSpPr>
            <a:stCxn id="3698" idx="7"/>
            <a:endCxn id="370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7" name="Google Shape;3707;p176"/>
          <p:cNvCxnSpPr>
            <a:stCxn id="3701" idx="3"/>
            <a:endCxn id="369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8" name="Google Shape;3708;p176"/>
          <p:cNvCxnSpPr>
            <a:stCxn id="3703" idx="7"/>
            <a:endCxn id="370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9" name="Google Shape;3709;p176"/>
          <p:cNvCxnSpPr>
            <a:stCxn id="3704" idx="3"/>
            <a:endCxn id="370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0" name="Google Shape;3710;p176"/>
          <p:cNvCxnSpPr>
            <a:stCxn id="3700" idx="6"/>
            <a:endCxn id="370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1" name="Google Shape;3711;p176"/>
          <p:cNvCxnSpPr>
            <a:stCxn id="3703" idx="4"/>
            <a:endCxn id="370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2" name="Google Shape;3712;p176"/>
          <p:cNvCxnSpPr>
            <a:stCxn id="3699" idx="4"/>
            <a:endCxn id="370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3" name="Google Shape;3713;p176"/>
          <p:cNvCxnSpPr>
            <a:stCxn id="3698" idx="5"/>
            <a:endCxn id="370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4" name="Google Shape;3714;p176"/>
          <p:cNvCxnSpPr>
            <a:stCxn id="3698" idx="6"/>
            <a:endCxn id="369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5" name="Google Shape;3715;p176"/>
          <p:cNvCxnSpPr>
            <a:stCxn id="3700" idx="2"/>
            <a:endCxn id="370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6" name="Google Shape;3716;p176"/>
          <p:cNvCxnSpPr>
            <a:stCxn id="3705" idx="1"/>
            <a:endCxn id="370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7" name="Google Shape;3717;p176"/>
          <p:cNvCxnSpPr>
            <a:stCxn id="3704" idx="1"/>
            <a:endCxn id="370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8" name="Google Shape;3718;p176"/>
          <p:cNvCxnSpPr>
            <a:stCxn id="3701" idx="5"/>
            <a:endCxn id="370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9" name="Google Shape;3719;p176"/>
          <p:cNvCxnSpPr>
            <a:stCxn id="3699" idx="7"/>
            <a:endCxn id="370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0" name="Google Shape;3720;p176"/>
          <p:cNvCxnSpPr>
            <a:stCxn id="3703" idx="3"/>
            <a:endCxn id="370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1" name="Google Shape;3721;p176"/>
          <p:cNvCxnSpPr>
            <a:stCxn id="3699" idx="6"/>
            <a:endCxn id="370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5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6" name="Google Shape;3726;p1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In-Degree in Directed Graphs</a:t>
            </a:r>
            <a:endParaRPr/>
          </a:p>
        </p:txBody>
      </p:sp>
      <p:sp>
        <p:nvSpPr>
          <p:cNvPr id="3727" name="Google Shape;3727;p177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now have </a:t>
            </a:r>
            <a:r>
              <a:rPr i="1" lang="en"/>
              <a:t>two</a:t>
            </a:r>
            <a:r>
              <a:rPr lang="en"/>
              <a:t> sets of </a:t>
            </a:r>
            <a:r>
              <a:rPr b="1" lang="en"/>
              <a:t>node neighborhoods</a:t>
            </a:r>
            <a:r>
              <a:rPr lang="en"/>
              <a:t> we have two different types of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Out-degree </a:t>
            </a:r>
            <a:r>
              <a:rPr lang="en"/>
              <a:t>(k</a:t>
            </a:r>
            <a:r>
              <a:rPr baseline="-25000" lang="en"/>
              <a:t>out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In-Degree </a:t>
            </a:r>
            <a:r>
              <a:rPr lang="en"/>
              <a:t>(k</a:t>
            </a:r>
            <a:r>
              <a:rPr baseline="-25000" lang="en"/>
              <a:t>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Reminder: Degree is the </a:t>
            </a:r>
            <a:r>
              <a:rPr b="1" lang="en"/>
              <a:t>cardinality</a:t>
            </a:r>
            <a:r>
              <a:rPr lang="en"/>
              <a:t> (size) of the </a:t>
            </a:r>
            <a:r>
              <a:rPr b="1" lang="en"/>
              <a:t>node neighborhood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node’s </a:t>
            </a:r>
            <a:r>
              <a:rPr b="1" lang="en"/>
              <a:t>in-degree </a:t>
            </a:r>
            <a:r>
              <a:rPr lang="en"/>
              <a:t>is the cardinality of their </a:t>
            </a:r>
            <a:r>
              <a:rPr b="1" lang="en"/>
              <a:t>in-neighborhood</a:t>
            </a:r>
            <a:r>
              <a:rPr lang="en"/>
              <a:t> set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^{in}_{V_4} = |\{V_1, V_3, V_7, V_8\}| = 4" id="3728" name="Google Shape;3728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023360"/>
            <a:ext cx="3578048" cy="387514"/>
          </a:xfrm>
          <a:prstGeom prst="rect">
            <a:avLst/>
          </a:prstGeom>
          <a:noFill/>
          <a:ln>
            <a:noFill/>
          </a:ln>
        </p:spPr>
      </p:pic>
      <p:sp>
        <p:nvSpPr>
          <p:cNvPr id="3729" name="Google Shape;3729;p17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0" name="Google Shape;3730;p17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1" name="Google Shape;3731;p17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2" name="Google Shape;3732;p17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3" name="Google Shape;3733;p17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4" name="Google Shape;3734;p17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5" name="Google Shape;3735;p17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6" name="Google Shape;3736;p17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37" name="Google Shape;3737;p177"/>
          <p:cNvCxnSpPr>
            <a:stCxn id="3729" idx="7"/>
            <a:endCxn id="373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8" name="Google Shape;3738;p177"/>
          <p:cNvCxnSpPr>
            <a:stCxn id="3732" idx="3"/>
            <a:endCxn id="373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9" name="Google Shape;3739;p177"/>
          <p:cNvCxnSpPr>
            <a:stCxn id="3734" idx="7"/>
            <a:endCxn id="373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0" name="Google Shape;3740;p177"/>
          <p:cNvCxnSpPr>
            <a:stCxn id="3735" idx="3"/>
            <a:endCxn id="373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1" name="Google Shape;3741;p177"/>
          <p:cNvCxnSpPr>
            <a:stCxn id="3731" idx="6"/>
            <a:endCxn id="373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2" name="Google Shape;3742;p177"/>
          <p:cNvCxnSpPr>
            <a:stCxn id="3734" idx="4"/>
            <a:endCxn id="373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3" name="Google Shape;3743;p177"/>
          <p:cNvCxnSpPr>
            <a:stCxn id="3730" idx="4"/>
            <a:endCxn id="373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4" name="Google Shape;3744;p177"/>
          <p:cNvCxnSpPr>
            <a:stCxn id="3729" idx="5"/>
            <a:endCxn id="373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5" name="Google Shape;3745;p177"/>
          <p:cNvCxnSpPr>
            <a:stCxn id="3729" idx="6"/>
            <a:endCxn id="373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6" name="Google Shape;3746;p177"/>
          <p:cNvCxnSpPr>
            <a:stCxn id="3731" idx="2"/>
            <a:endCxn id="373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7" name="Google Shape;3747;p177"/>
          <p:cNvCxnSpPr>
            <a:stCxn id="3736" idx="1"/>
            <a:endCxn id="373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8" name="Google Shape;3748;p177"/>
          <p:cNvCxnSpPr>
            <a:stCxn id="3735" idx="1"/>
            <a:endCxn id="373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9" name="Google Shape;3749;p177"/>
          <p:cNvCxnSpPr>
            <a:stCxn id="3732" idx="5"/>
            <a:endCxn id="373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0" name="Google Shape;3750;p177"/>
          <p:cNvCxnSpPr>
            <a:stCxn id="3730" idx="7"/>
            <a:endCxn id="373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1" name="Google Shape;3751;p177"/>
          <p:cNvCxnSpPr>
            <a:stCxn id="3734" idx="3"/>
            <a:endCxn id="373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2" name="Google Shape;3752;p177"/>
          <p:cNvCxnSpPr>
            <a:stCxn id="3730" idx="6"/>
            <a:endCxn id="373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6" name="Shape 3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7" name="Google Shape;3757;p1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In-Degree in Directed Graphs</a:t>
            </a:r>
            <a:endParaRPr/>
          </a:p>
        </p:txBody>
      </p:sp>
      <p:sp>
        <p:nvSpPr>
          <p:cNvPr id="3758" name="Google Shape;3758;p178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now have </a:t>
            </a:r>
            <a:r>
              <a:rPr i="1" lang="en"/>
              <a:t>two</a:t>
            </a:r>
            <a:r>
              <a:rPr lang="en"/>
              <a:t> sets of </a:t>
            </a:r>
            <a:r>
              <a:rPr b="1" lang="en"/>
              <a:t>node neighborhoods</a:t>
            </a:r>
            <a:r>
              <a:rPr lang="en"/>
              <a:t> we have two different types of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Out-degree </a:t>
            </a:r>
            <a:r>
              <a:rPr lang="en"/>
              <a:t>(k</a:t>
            </a:r>
            <a:r>
              <a:rPr baseline="-25000" lang="en"/>
              <a:t>out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In-Degree </a:t>
            </a:r>
            <a:r>
              <a:rPr lang="en"/>
              <a:t>(k</a:t>
            </a:r>
            <a:r>
              <a:rPr baseline="-25000" lang="en"/>
              <a:t>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Reminder: Degree is the </a:t>
            </a:r>
            <a:r>
              <a:rPr b="1" lang="en"/>
              <a:t>cardinality</a:t>
            </a:r>
            <a:r>
              <a:rPr lang="en"/>
              <a:t> (size) of the </a:t>
            </a:r>
            <a:r>
              <a:rPr b="1" lang="en"/>
              <a:t>node neighborhood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node’s </a:t>
            </a:r>
            <a:r>
              <a:rPr b="1" lang="en"/>
              <a:t>in-degree </a:t>
            </a:r>
            <a:r>
              <a:rPr lang="en"/>
              <a:t>is the cardinality of their </a:t>
            </a:r>
            <a:r>
              <a:rPr b="1" lang="en"/>
              <a:t>in-neighborhood</a:t>
            </a:r>
            <a:r>
              <a:rPr lang="en"/>
              <a:t> set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^{in}_{V_8} = |\{V_6\}| = 1" id="3759" name="Google Shape;3759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023360"/>
            <a:ext cx="2260854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760" name="Google Shape;3760;p17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61" name="Google Shape;3761;p17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62" name="Google Shape;3762;p17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63" name="Google Shape;3763;p17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64" name="Google Shape;3764;p17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65" name="Google Shape;3765;p17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66" name="Google Shape;3766;p17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67" name="Google Shape;3767;p17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68" name="Google Shape;3768;p178"/>
          <p:cNvCxnSpPr>
            <a:stCxn id="3760" idx="7"/>
            <a:endCxn id="376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9" name="Google Shape;3769;p178"/>
          <p:cNvCxnSpPr>
            <a:stCxn id="3763" idx="3"/>
            <a:endCxn id="376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0" name="Google Shape;3770;p178"/>
          <p:cNvCxnSpPr>
            <a:stCxn id="3765" idx="7"/>
            <a:endCxn id="376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1" name="Google Shape;3771;p178"/>
          <p:cNvCxnSpPr>
            <a:stCxn id="3766" idx="3"/>
            <a:endCxn id="376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2" name="Google Shape;3772;p178"/>
          <p:cNvCxnSpPr>
            <a:stCxn id="3762" idx="6"/>
            <a:endCxn id="376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3" name="Google Shape;3773;p178"/>
          <p:cNvCxnSpPr>
            <a:stCxn id="3765" idx="4"/>
            <a:endCxn id="376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4" name="Google Shape;3774;p178"/>
          <p:cNvCxnSpPr>
            <a:stCxn id="3761" idx="4"/>
            <a:endCxn id="376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5" name="Google Shape;3775;p178"/>
          <p:cNvCxnSpPr>
            <a:stCxn id="3760" idx="5"/>
            <a:endCxn id="376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6" name="Google Shape;3776;p178"/>
          <p:cNvCxnSpPr>
            <a:stCxn id="3760" idx="6"/>
            <a:endCxn id="376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7" name="Google Shape;3777;p178"/>
          <p:cNvCxnSpPr>
            <a:stCxn id="3762" idx="2"/>
            <a:endCxn id="376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8" name="Google Shape;3778;p178"/>
          <p:cNvCxnSpPr>
            <a:stCxn id="3767" idx="1"/>
            <a:endCxn id="376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9" name="Google Shape;3779;p178"/>
          <p:cNvCxnSpPr>
            <a:stCxn id="3766" idx="1"/>
            <a:endCxn id="376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0" name="Google Shape;3780;p178"/>
          <p:cNvCxnSpPr>
            <a:stCxn id="3763" idx="5"/>
            <a:endCxn id="376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1" name="Google Shape;3781;p178"/>
          <p:cNvCxnSpPr>
            <a:stCxn id="3761" idx="7"/>
            <a:endCxn id="376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2" name="Google Shape;3782;p178"/>
          <p:cNvCxnSpPr>
            <a:stCxn id="3765" idx="3"/>
            <a:endCxn id="376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3" name="Google Shape;3783;p178"/>
          <p:cNvCxnSpPr>
            <a:stCxn id="3761" idx="6"/>
            <a:endCxn id="376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7" name="Shape 3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" name="Google Shape;3788;p1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In-Degree in Directed Graphs</a:t>
            </a:r>
            <a:endParaRPr/>
          </a:p>
        </p:txBody>
      </p:sp>
      <p:sp>
        <p:nvSpPr>
          <p:cNvPr id="3789" name="Google Shape;3789;p179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now have </a:t>
            </a:r>
            <a:r>
              <a:rPr i="1" lang="en"/>
              <a:t>two</a:t>
            </a:r>
            <a:r>
              <a:rPr lang="en"/>
              <a:t> sets of </a:t>
            </a:r>
            <a:r>
              <a:rPr b="1" lang="en"/>
              <a:t>node neighborhoods</a:t>
            </a:r>
            <a:r>
              <a:rPr lang="en"/>
              <a:t> we have two different types of </a:t>
            </a:r>
            <a:r>
              <a:rPr b="1" lang="en"/>
              <a:t>degree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Out-degree </a:t>
            </a:r>
            <a:r>
              <a:rPr lang="en"/>
              <a:t>(k</a:t>
            </a:r>
            <a:r>
              <a:rPr baseline="-25000" lang="en"/>
              <a:t>out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In-Degree </a:t>
            </a:r>
            <a:r>
              <a:rPr lang="en"/>
              <a:t>(k</a:t>
            </a:r>
            <a:r>
              <a:rPr baseline="-25000" lang="en"/>
              <a:t>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Reminder: Degree is the </a:t>
            </a:r>
            <a:r>
              <a:rPr b="1" lang="en"/>
              <a:t>cardinality</a:t>
            </a:r>
            <a:r>
              <a:rPr lang="en"/>
              <a:t> (size) of the </a:t>
            </a:r>
            <a:r>
              <a:rPr b="1" lang="en"/>
              <a:t>node neighborhood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node’s </a:t>
            </a:r>
            <a:r>
              <a:rPr b="1" lang="en"/>
              <a:t>in-degree </a:t>
            </a:r>
            <a:r>
              <a:rPr lang="en"/>
              <a:t>is the cardinality of their </a:t>
            </a:r>
            <a:r>
              <a:rPr b="1" lang="en"/>
              <a:t>in-neighborhood</a:t>
            </a:r>
            <a:r>
              <a:rPr lang="en"/>
              <a:t> set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k^{in}_{V_2} = |\{\emptyset\}| = 0" id="3790" name="Google Shape;3790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672" y="4023360"/>
            <a:ext cx="2113407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791" name="Google Shape;3791;p17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2" name="Google Shape;3792;p17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3" name="Google Shape;3793;p17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4" name="Google Shape;3794;p17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5" name="Google Shape;3795;p17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6" name="Google Shape;3796;p17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7" name="Google Shape;3797;p17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98" name="Google Shape;3798;p17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99" name="Google Shape;3799;p179"/>
          <p:cNvCxnSpPr>
            <a:stCxn id="3791" idx="7"/>
            <a:endCxn id="379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0" name="Google Shape;3800;p179"/>
          <p:cNvCxnSpPr>
            <a:stCxn id="3794" idx="3"/>
            <a:endCxn id="379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1" name="Google Shape;3801;p179"/>
          <p:cNvCxnSpPr>
            <a:stCxn id="3796" idx="7"/>
            <a:endCxn id="379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2" name="Google Shape;3802;p179"/>
          <p:cNvCxnSpPr>
            <a:stCxn id="3797" idx="3"/>
            <a:endCxn id="379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3" name="Google Shape;3803;p179"/>
          <p:cNvCxnSpPr>
            <a:stCxn id="3793" idx="6"/>
            <a:endCxn id="379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4" name="Google Shape;3804;p179"/>
          <p:cNvCxnSpPr>
            <a:stCxn id="3796" idx="4"/>
            <a:endCxn id="379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5" name="Google Shape;3805;p179"/>
          <p:cNvCxnSpPr>
            <a:stCxn id="3792" idx="4"/>
            <a:endCxn id="379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6" name="Google Shape;3806;p179"/>
          <p:cNvCxnSpPr>
            <a:stCxn id="3791" idx="5"/>
            <a:endCxn id="379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7" name="Google Shape;3807;p179"/>
          <p:cNvCxnSpPr>
            <a:stCxn id="3791" idx="6"/>
            <a:endCxn id="379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8" name="Google Shape;3808;p179"/>
          <p:cNvCxnSpPr>
            <a:stCxn id="3793" idx="2"/>
            <a:endCxn id="379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9" name="Google Shape;3809;p179"/>
          <p:cNvCxnSpPr>
            <a:stCxn id="3798" idx="1"/>
            <a:endCxn id="379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0" name="Google Shape;3810;p179"/>
          <p:cNvCxnSpPr>
            <a:stCxn id="3797" idx="1"/>
            <a:endCxn id="379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1" name="Google Shape;3811;p179"/>
          <p:cNvCxnSpPr>
            <a:stCxn id="3794" idx="5"/>
            <a:endCxn id="379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2" name="Google Shape;3812;p179"/>
          <p:cNvCxnSpPr>
            <a:stCxn id="3792" idx="7"/>
            <a:endCxn id="379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3" name="Google Shape;3813;p179"/>
          <p:cNvCxnSpPr>
            <a:stCxn id="3796" idx="3"/>
            <a:endCxn id="379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4" name="Google Shape;3814;p179"/>
          <p:cNvCxnSpPr>
            <a:stCxn id="3792" idx="6"/>
            <a:endCxn id="379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818" name="Shape 3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" name="Google Shape;3819;p18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Nodes in Directed Graphs</a:t>
            </a:r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3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1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Nodes in Directed Graphs</a:t>
            </a:r>
            <a:endParaRPr/>
          </a:p>
        </p:txBody>
      </p:sp>
      <p:sp>
        <p:nvSpPr>
          <p:cNvPr id="3825" name="Google Shape;3825;p181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their in and out-degrees, there can be </a:t>
            </a:r>
            <a:r>
              <a:rPr i="1" lang="en"/>
              <a:t>three</a:t>
            </a:r>
            <a:r>
              <a:rPr lang="en"/>
              <a:t> types of nodes in a </a:t>
            </a:r>
            <a:r>
              <a:rPr b="1" lang="en"/>
              <a:t>directed graph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6" name="Google Shape;3826;p18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27" name="Google Shape;3827;p18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28" name="Google Shape;3828;p18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29" name="Google Shape;3829;p18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30" name="Google Shape;3830;p18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31" name="Google Shape;3831;p18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32" name="Google Shape;3832;p18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33" name="Google Shape;3833;p18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34" name="Google Shape;3834;p181"/>
          <p:cNvCxnSpPr>
            <a:stCxn id="3826" idx="7"/>
            <a:endCxn id="382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5" name="Google Shape;3835;p181"/>
          <p:cNvCxnSpPr>
            <a:stCxn id="3829" idx="3"/>
            <a:endCxn id="382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6" name="Google Shape;3836;p181"/>
          <p:cNvCxnSpPr>
            <a:stCxn id="3831" idx="7"/>
            <a:endCxn id="383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7" name="Google Shape;3837;p181"/>
          <p:cNvCxnSpPr>
            <a:stCxn id="3832" idx="3"/>
            <a:endCxn id="383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8" name="Google Shape;3838;p181"/>
          <p:cNvCxnSpPr>
            <a:stCxn id="3828" idx="6"/>
            <a:endCxn id="383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9" name="Google Shape;3839;p181"/>
          <p:cNvCxnSpPr>
            <a:stCxn id="3831" idx="4"/>
            <a:endCxn id="382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0" name="Google Shape;3840;p181"/>
          <p:cNvCxnSpPr>
            <a:stCxn id="3827" idx="4"/>
            <a:endCxn id="383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1" name="Google Shape;3841;p181"/>
          <p:cNvCxnSpPr>
            <a:stCxn id="3826" idx="5"/>
            <a:endCxn id="383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2" name="Google Shape;3842;p181"/>
          <p:cNvCxnSpPr>
            <a:stCxn id="3826" idx="6"/>
            <a:endCxn id="382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3" name="Google Shape;3843;p181"/>
          <p:cNvCxnSpPr>
            <a:stCxn id="3828" idx="2"/>
            <a:endCxn id="383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4" name="Google Shape;3844;p181"/>
          <p:cNvCxnSpPr>
            <a:stCxn id="3833" idx="1"/>
            <a:endCxn id="383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5" name="Google Shape;3845;p181"/>
          <p:cNvCxnSpPr>
            <a:stCxn id="3832" idx="1"/>
            <a:endCxn id="382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6" name="Google Shape;3846;p181"/>
          <p:cNvCxnSpPr>
            <a:stCxn id="3829" idx="5"/>
            <a:endCxn id="383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7" name="Google Shape;3847;p181"/>
          <p:cNvCxnSpPr>
            <a:stCxn id="3827" idx="7"/>
            <a:endCxn id="382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8" name="Google Shape;3848;p181"/>
          <p:cNvCxnSpPr>
            <a:stCxn id="3831" idx="3"/>
            <a:endCxn id="383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9" name="Google Shape;3849;p181"/>
          <p:cNvCxnSpPr>
            <a:stCxn id="3827" idx="6"/>
            <a:endCxn id="383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3" name="Shape 3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4" name="Google Shape;3854;p1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Nodes in Directed Graphs</a:t>
            </a:r>
            <a:endParaRPr/>
          </a:p>
        </p:txBody>
      </p:sp>
      <p:sp>
        <p:nvSpPr>
          <p:cNvPr id="3855" name="Google Shape;3855;p182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their in and out-degrees, there can be </a:t>
            </a:r>
            <a:r>
              <a:rPr i="1" lang="en"/>
              <a:t>three</a:t>
            </a:r>
            <a:r>
              <a:rPr lang="en"/>
              <a:t> types of nodes in a </a:t>
            </a:r>
            <a:r>
              <a:rPr b="1" lang="en"/>
              <a:t>directed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chemeClr val="accent3"/>
                </a:solidFill>
              </a:rPr>
              <a:t>Receiver</a:t>
            </a:r>
            <a:r>
              <a:rPr lang="en"/>
              <a:t> nodes are destination nodes for links but are never sources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in</a:t>
            </a:r>
            <a:r>
              <a:rPr lang="en"/>
              <a:t> &gt; 0 &amp; k</a:t>
            </a:r>
            <a:r>
              <a:rPr baseline="-25000" lang="en"/>
              <a:t>out</a:t>
            </a:r>
            <a:r>
              <a:rPr lang="en"/>
              <a:t> = 0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6" name="Google Shape;3856;p18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57" name="Google Shape;3857;p18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58" name="Google Shape;3858;p18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59" name="Google Shape;3859;p18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60" name="Google Shape;3860;p18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61" name="Google Shape;3861;p18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62" name="Google Shape;3862;p18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63" name="Google Shape;3863;p18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64" name="Google Shape;3864;p182"/>
          <p:cNvCxnSpPr>
            <a:stCxn id="3856" idx="7"/>
            <a:endCxn id="385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5" name="Google Shape;3865;p182"/>
          <p:cNvCxnSpPr>
            <a:stCxn id="3859" idx="3"/>
            <a:endCxn id="385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6" name="Google Shape;3866;p182"/>
          <p:cNvCxnSpPr>
            <a:stCxn id="3861" idx="7"/>
            <a:endCxn id="386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7" name="Google Shape;3867;p182"/>
          <p:cNvCxnSpPr>
            <a:stCxn id="3862" idx="3"/>
            <a:endCxn id="386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8" name="Google Shape;3868;p182"/>
          <p:cNvCxnSpPr>
            <a:stCxn id="3858" idx="6"/>
            <a:endCxn id="386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9" name="Google Shape;3869;p182"/>
          <p:cNvCxnSpPr>
            <a:stCxn id="3861" idx="4"/>
            <a:endCxn id="385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0" name="Google Shape;3870;p182"/>
          <p:cNvCxnSpPr>
            <a:stCxn id="3857" idx="4"/>
            <a:endCxn id="386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1" name="Google Shape;3871;p182"/>
          <p:cNvCxnSpPr>
            <a:stCxn id="3856" idx="5"/>
            <a:endCxn id="386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2" name="Google Shape;3872;p182"/>
          <p:cNvCxnSpPr>
            <a:stCxn id="3856" idx="6"/>
            <a:endCxn id="385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3" name="Google Shape;3873;p182"/>
          <p:cNvCxnSpPr>
            <a:stCxn id="3858" idx="2"/>
            <a:endCxn id="386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4" name="Google Shape;3874;p182"/>
          <p:cNvCxnSpPr>
            <a:stCxn id="3863" idx="1"/>
            <a:endCxn id="386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5" name="Google Shape;3875;p182"/>
          <p:cNvCxnSpPr>
            <a:stCxn id="3862" idx="1"/>
            <a:endCxn id="385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6" name="Google Shape;3876;p182"/>
          <p:cNvCxnSpPr>
            <a:stCxn id="3859" idx="5"/>
            <a:endCxn id="386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7" name="Google Shape;3877;p182"/>
          <p:cNvCxnSpPr>
            <a:stCxn id="3857" idx="7"/>
            <a:endCxn id="385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8" name="Google Shape;3878;p182"/>
          <p:cNvCxnSpPr>
            <a:stCxn id="3861" idx="3"/>
            <a:endCxn id="386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9" name="Google Shape;3879;p182"/>
          <p:cNvCxnSpPr>
            <a:stCxn id="3857" idx="6"/>
            <a:endCxn id="386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3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4" name="Google Shape;3884;p1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Nodes in Directed Graphs</a:t>
            </a:r>
            <a:endParaRPr/>
          </a:p>
        </p:txBody>
      </p:sp>
      <p:sp>
        <p:nvSpPr>
          <p:cNvPr id="3885" name="Google Shape;3885;p183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their in and out-degrees, there can be </a:t>
            </a:r>
            <a:r>
              <a:rPr i="1" lang="en"/>
              <a:t>three</a:t>
            </a:r>
            <a:r>
              <a:rPr lang="en"/>
              <a:t> types of nodes in a </a:t>
            </a:r>
            <a:r>
              <a:rPr b="1" lang="en"/>
              <a:t>directed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chemeClr val="accent3"/>
                </a:solidFill>
              </a:rPr>
              <a:t>Receiver</a:t>
            </a:r>
            <a:r>
              <a:rPr lang="en"/>
              <a:t> nodes are destination nodes for links but are never sources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in</a:t>
            </a:r>
            <a:r>
              <a:rPr lang="en"/>
              <a:t> &gt; 0 &amp; k</a:t>
            </a:r>
            <a:r>
              <a:rPr baseline="-25000" lang="en"/>
              <a:t>out</a:t>
            </a:r>
            <a:r>
              <a:rPr lang="en"/>
              <a:t> 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chemeClr val="accent6"/>
                </a:solidFill>
              </a:rPr>
              <a:t>Transmitter</a:t>
            </a:r>
            <a:r>
              <a:rPr b="1" lang="en"/>
              <a:t> </a:t>
            </a:r>
            <a:r>
              <a:rPr lang="en"/>
              <a:t> nodes are source nodes for links but are never destinations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in</a:t>
            </a:r>
            <a:r>
              <a:rPr lang="en"/>
              <a:t> = 0 &amp; k</a:t>
            </a:r>
            <a:r>
              <a:rPr baseline="-25000" lang="en"/>
              <a:t>out</a:t>
            </a:r>
            <a:r>
              <a:rPr lang="en"/>
              <a:t> &gt; 0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6" name="Google Shape;3886;p18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87" name="Google Shape;3887;p18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88" name="Google Shape;3888;p18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89" name="Google Shape;3889;p18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90" name="Google Shape;3890;p18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91" name="Google Shape;3891;p18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92" name="Google Shape;3892;p18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93" name="Google Shape;3893;p18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94" name="Google Shape;3894;p183"/>
          <p:cNvCxnSpPr>
            <a:stCxn id="3886" idx="7"/>
            <a:endCxn id="388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5" name="Google Shape;3895;p183"/>
          <p:cNvCxnSpPr>
            <a:stCxn id="3889" idx="3"/>
            <a:endCxn id="388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6" name="Google Shape;3896;p183"/>
          <p:cNvCxnSpPr>
            <a:stCxn id="3891" idx="7"/>
            <a:endCxn id="389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7" name="Google Shape;3897;p183"/>
          <p:cNvCxnSpPr>
            <a:stCxn id="3892" idx="3"/>
            <a:endCxn id="389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8" name="Google Shape;3898;p183"/>
          <p:cNvCxnSpPr>
            <a:stCxn id="3888" idx="6"/>
            <a:endCxn id="389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9" name="Google Shape;3899;p183"/>
          <p:cNvCxnSpPr>
            <a:stCxn id="3891" idx="4"/>
            <a:endCxn id="388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0" name="Google Shape;3900;p183"/>
          <p:cNvCxnSpPr>
            <a:stCxn id="3887" idx="4"/>
            <a:endCxn id="389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1" name="Google Shape;3901;p183"/>
          <p:cNvCxnSpPr>
            <a:stCxn id="3886" idx="5"/>
            <a:endCxn id="389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2" name="Google Shape;3902;p183"/>
          <p:cNvCxnSpPr>
            <a:stCxn id="3886" idx="6"/>
            <a:endCxn id="388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3" name="Google Shape;3903;p183"/>
          <p:cNvCxnSpPr>
            <a:stCxn id="3888" idx="2"/>
            <a:endCxn id="389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4" name="Google Shape;3904;p183"/>
          <p:cNvCxnSpPr>
            <a:stCxn id="3893" idx="1"/>
            <a:endCxn id="389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5" name="Google Shape;3905;p183"/>
          <p:cNvCxnSpPr>
            <a:stCxn id="3892" idx="1"/>
            <a:endCxn id="388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6" name="Google Shape;3906;p183"/>
          <p:cNvCxnSpPr>
            <a:stCxn id="3889" idx="5"/>
            <a:endCxn id="389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7" name="Google Shape;3907;p183"/>
          <p:cNvCxnSpPr>
            <a:stCxn id="3887" idx="7"/>
            <a:endCxn id="388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8" name="Google Shape;3908;p183"/>
          <p:cNvCxnSpPr>
            <a:stCxn id="3891" idx="3"/>
            <a:endCxn id="389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09" name="Google Shape;3909;p183"/>
          <p:cNvCxnSpPr>
            <a:stCxn id="3887" idx="6"/>
            <a:endCxn id="389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3" name="Shape 3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4" name="Google Shape;3914;p1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Nodes in Directed Graphs</a:t>
            </a:r>
            <a:endParaRPr/>
          </a:p>
        </p:txBody>
      </p:sp>
      <p:sp>
        <p:nvSpPr>
          <p:cNvPr id="3915" name="Google Shape;3915;p184"/>
          <p:cNvSpPr txBox="1"/>
          <p:nvPr>
            <p:ph idx="1" type="body"/>
          </p:nvPr>
        </p:nvSpPr>
        <p:spPr>
          <a:xfrm>
            <a:off x="311700" y="1225225"/>
            <a:ext cx="4800600" cy="372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Based on their in and out-degrees, there can be </a:t>
            </a:r>
            <a:r>
              <a:rPr i="1" lang="en"/>
              <a:t>three</a:t>
            </a:r>
            <a:r>
              <a:rPr lang="en"/>
              <a:t> types of nodes in a </a:t>
            </a:r>
            <a:r>
              <a:rPr b="1" lang="en"/>
              <a:t>directed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chemeClr val="accent3"/>
                </a:solidFill>
              </a:rPr>
              <a:t>Receiver</a:t>
            </a:r>
            <a:r>
              <a:rPr lang="en"/>
              <a:t> nodes are destination nodes for links but are never sources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in</a:t>
            </a:r>
            <a:r>
              <a:rPr lang="en"/>
              <a:t> &gt; 0 &amp; k</a:t>
            </a:r>
            <a:r>
              <a:rPr baseline="-25000" lang="en"/>
              <a:t>out</a:t>
            </a:r>
            <a:r>
              <a:rPr lang="en"/>
              <a:t> =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chemeClr val="accent6"/>
                </a:solidFill>
              </a:rPr>
              <a:t>Transmitter</a:t>
            </a:r>
            <a:r>
              <a:rPr b="1" lang="en"/>
              <a:t> </a:t>
            </a:r>
            <a:r>
              <a:rPr lang="en"/>
              <a:t> nodes are source nodes for links but are never destinations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in</a:t>
            </a:r>
            <a:r>
              <a:rPr lang="en"/>
              <a:t> = 0 &amp; k</a:t>
            </a:r>
            <a:r>
              <a:rPr baseline="-25000" lang="en"/>
              <a:t>out</a:t>
            </a:r>
            <a:r>
              <a:rPr lang="en"/>
              <a:t> &gt; 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solidFill>
                  <a:schemeClr val="lt2"/>
                </a:solidFill>
              </a:rPr>
              <a:t>Carrier</a:t>
            </a:r>
            <a:r>
              <a:rPr lang="en"/>
              <a:t> nodes are both sources and destinations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</a:t>
            </a:r>
            <a:r>
              <a:rPr baseline="-25000" lang="en"/>
              <a:t>in</a:t>
            </a:r>
            <a:r>
              <a:rPr lang="en"/>
              <a:t> &gt; 0 &amp; k</a:t>
            </a:r>
            <a:r>
              <a:rPr baseline="-25000" lang="en"/>
              <a:t>out</a:t>
            </a:r>
            <a:r>
              <a:rPr lang="en"/>
              <a:t> &gt; 0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6" name="Google Shape;3916;p18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17" name="Google Shape;3917;p18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18" name="Google Shape;3918;p18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19" name="Google Shape;3919;p18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20" name="Google Shape;3920;p18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21" name="Google Shape;3921;p18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22" name="Google Shape;3922;p18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23" name="Google Shape;3923;p18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24" name="Google Shape;3924;p184"/>
          <p:cNvCxnSpPr>
            <a:stCxn id="3916" idx="7"/>
            <a:endCxn id="3919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5" name="Google Shape;3925;p184"/>
          <p:cNvCxnSpPr>
            <a:stCxn id="3919" idx="3"/>
            <a:endCxn id="3917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6" name="Google Shape;3926;p184"/>
          <p:cNvCxnSpPr>
            <a:stCxn id="3921" idx="7"/>
            <a:endCxn id="3922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7" name="Google Shape;3927;p184"/>
          <p:cNvCxnSpPr>
            <a:stCxn id="3922" idx="3"/>
            <a:endCxn id="3921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8" name="Google Shape;3928;p184"/>
          <p:cNvCxnSpPr>
            <a:stCxn id="3918" idx="6"/>
            <a:endCxn id="3923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9" name="Google Shape;3929;p184"/>
          <p:cNvCxnSpPr>
            <a:stCxn id="3921" idx="4"/>
            <a:endCxn id="3918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0" name="Google Shape;3930;p184"/>
          <p:cNvCxnSpPr>
            <a:stCxn id="3917" idx="4"/>
            <a:endCxn id="3920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1" name="Google Shape;3931;p184"/>
          <p:cNvCxnSpPr>
            <a:stCxn id="3916" idx="5"/>
            <a:endCxn id="3920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2" name="Google Shape;3932;p184"/>
          <p:cNvCxnSpPr>
            <a:stCxn id="3916" idx="6"/>
            <a:endCxn id="3917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3" name="Google Shape;3933;p184"/>
          <p:cNvCxnSpPr>
            <a:stCxn id="3918" idx="2"/>
            <a:endCxn id="3920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4" name="Google Shape;3934;p184"/>
          <p:cNvCxnSpPr>
            <a:stCxn id="3923" idx="1"/>
            <a:endCxn id="3921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5" name="Google Shape;3935;p184"/>
          <p:cNvCxnSpPr>
            <a:stCxn id="3922" idx="1"/>
            <a:endCxn id="3919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6" name="Google Shape;3936;p184"/>
          <p:cNvCxnSpPr>
            <a:stCxn id="3919" idx="5"/>
            <a:endCxn id="3921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7" name="Google Shape;3937;p184"/>
          <p:cNvCxnSpPr>
            <a:stCxn id="3917" idx="7"/>
            <a:endCxn id="3919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8" name="Google Shape;3938;p184"/>
          <p:cNvCxnSpPr>
            <a:stCxn id="3921" idx="3"/>
            <a:endCxn id="3920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39" name="Google Shape;3939;p184"/>
          <p:cNvCxnSpPr>
            <a:stCxn id="3917" idx="6"/>
            <a:endCxn id="3921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p18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8" name="Shape 3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9" name="Google Shape;3949;p1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3950" name="Google Shape;3950;p186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1" name="Google Shape;3951;p18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52" name="Google Shape;3952;p18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53" name="Google Shape;3953;p18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54" name="Google Shape;3954;p18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55" name="Google Shape;3955;p18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56" name="Google Shape;3956;p18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57" name="Google Shape;3957;p18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58" name="Google Shape;3958;p18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59" name="Google Shape;3959;p186"/>
          <p:cNvCxnSpPr>
            <a:stCxn id="3951" idx="7"/>
            <a:endCxn id="395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0" name="Google Shape;3960;p186"/>
          <p:cNvCxnSpPr>
            <a:stCxn id="3954" idx="3"/>
            <a:endCxn id="395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1" name="Google Shape;3961;p186"/>
          <p:cNvCxnSpPr>
            <a:stCxn id="3956" idx="7"/>
            <a:endCxn id="395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2" name="Google Shape;3962;p186"/>
          <p:cNvCxnSpPr>
            <a:stCxn id="3957" idx="3"/>
            <a:endCxn id="395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3" name="Google Shape;3963;p186"/>
          <p:cNvCxnSpPr>
            <a:stCxn id="3953" idx="6"/>
            <a:endCxn id="395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4" name="Google Shape;3964;p186"/>
          <p:cNvCxnSpPr>
            <a:stCxn id="3956" idx="4"/>
            <a:endCxn id="395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5" name="Google Shape;3965;p186"/>
          <p:cNvCxnSpPr>
            <a:stCxn id="3952" idx="4"/>
            <a:endCxn id="395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6" name="Google Shape;3966;p186"/>
          <p:cNvCxnSpPr>
            <a:stCxn id="3951" idx="5"/>
            <a:endCxn id="395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7" name="Google Shape;3967;p186"/>
          <p:cNvCxnSpPr>
            <a:stCxn id="3951" idx="6"/>
            <a:endCxn id="395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8" name="Google Shape;3968;p186"/>
          <p:cNvCxnSpPr>
            <a:stCxn id="3953" idx="2"/>
            <a:endCxn id="395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69" name="Google Shape;3969;p186"/>
          <p:cNvCxnSpPr>
            <a:stCxn id="3958" idx="1"/>
            <a:endCxn id="395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0" name="Google Shape;3970;p186"/>
          <p:cNvCxnSpPr>
            <a:stCxn id="3957" idx="1"/>
            <a:endCxn id="395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1" name="Google Shape;3971;p186"/>
          <p:cNvCxnSpPr>
            <a:stCxn id="3954" idx="5"/>
            <a:endCxn id="395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2" name="Google Shape;3972;p186"/>
          <p:cNvCxnSpPr>
            <a:stCxn id="3952" idx="7"/>
            <a:endCxn id="395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3" name="Google Shape;3973;p186"/>
          <p:cNvCxnSpPr>
            <a:stCxn id="3956" idx="3"/>
            <a:endCxn id="395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4" name="Google Shape;3974;p186"/>
          <p:cNvCxnSpPr>
            <a:stCxn id="3952" idx="6"/>
            <a:endCxn id="395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p1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3980" name="Google Shape;3980;p187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sets and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and maximum degrees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1" name="Google Shape;3981;p18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82" name="Google Shape;3982;p18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83" name="Google Shape;3983;p18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84" name="Google Shape;3984;p18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85" name="Google Shape;3985;p18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86" name="Google Shape;3986;p18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87" name="Google Shape;3987;p18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988" name="Google Shape;3988;p18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89" name="Google Shape;3989;p187"/>
          <p:cNvCxnSpPr>
            <a:stCxn id="3981" idx="7"/>
            <a:endCxn id="398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0" name="Google Shape;3990;p187"/>
          <p:cNvCxnSpPr>
            <a:stCxn id="3984" idx="3"/>
            <a:endCxn id="398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1" name="Google Shape;3991;p187"/>
          <p:cNvCxnSpPr>
            <a:stCxn id="3986" idx="7"/>
            <a:endCxn id="398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2" name="Google Shape;3992;p187"/>
          <p:cNvCxnSpPr>
            <a:stCxn id="3987" idx="3"/>
            <a:endCxn id="398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3" name="Google Shape;3993;p187"/>
          <p:cNvCxnSpPr>
            <a:stCxn id="3983" idx="6"/>
            <a:endCxn id="398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4" name="Google Shape;3994;p187"/>
          <p:cNvCxnSpPr>
            <a:stCxn id="3986" idx="4"/>
            <a:endCxn id="398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5" name="Google Shape;3995;p187"/>
          <p:cNvCxnSpPr>
            <a:stCxn id="3982" idx="4"/>
            <a:endCxn id="398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6" name="Google Shape;3996;p187"/>
          <p:cNvCxnSpPr>
            <a:stCxn id="3981" idx="5"/>
            <a:endCxn id="398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7" name="Google Shape;3997;p187"/>
          <p:cNvCxnSpPr>
            <a:stCxn id="3981" idx="6"/>
            <a:endCxn id="398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8" name="Google Shape;3998;p187"/>
          <p:cNvCxnSpPr>
            <a:stCxn id="3983" idx="2"/>
            <a:endCxn id="398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9" name="Google Shape;3999;p187"/>
          <p:cNvCxnSpPr>
            <a:stCxn id="3988" idx="1"/>
            <a:endCxn id="398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0" name="Google Shape;4000;p187"/>
          <p:cNvCxnSpPr>
            <a:stCxn id="3987" idx="1"/>
            <a:endCxn id="398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1" name="Google Shape;4001;p187"/>
          <p:cNvCxnSpPr>
            <a:stCxn id="3984" idx="5"/>
            <a:endCxn id="398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2" name="Google Shape;4002;p187"/>
          <p:cNvCxnSpPr>
            <a:stCxn id="3982" idx="7"/>
            <a:endCxn id="398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3" name="Google Shape;4003;p187"/>
          <p:cNvCxnSpPr>
            <a:stCxn id="3986" idx="3"/>
            <a:endCxn id="398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4" name="Google Shape;4004;p187"/>
          <p:cNvCxnSpPr>
            <a:stCxn id="3982" idx="6"/>
            <a:endCxn id="398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8" name="Shape 4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Google Shape;4009;p1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 Degree Metrics</a:t>
            </a:r>
            <a:endParaRPr/>
          </a:p>
        </p:txBody>
      </p:sp>
      <p:sp>
        <p:nvSpPr>
          <p:cNvPr id="4010" name="Google Shape;4010;p188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compute </a:t>
            </a:r>
            <a:r>
              <a:rPr b="1" lang="en"/>
              <a:t>degree-based graph metrics</a:t>
            </a:r>
            <a:r>
              <a:rPr lang="en"/>
              <a:t> in the directed case just like we did for undirected graphs!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Degree sets and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degrees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and maximum degrees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difference is that now we have to distinguish between the out-degree and in-degree versions!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1" name="Google Shape;4011;p18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2" name="Google Shape;4012;p18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3" name="Google Shape;4013;p18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4" name="Google Shape;4014;p18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5" name="Google Shape;4015;p18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6" name="Google Shape;4016;p18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7" name="Google Shape;4017;p18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18" name="Google Shape;4018;p18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19" name="Google Shape;4019;p188"/>
          <p:cNvCxnSpPr>
            <a:stCxn id="4011" idx="7"/>
            <a:endCxn id="401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0" name="Google Shape;4020;p188"/>
          <p:cNvCxnSpPr>
            <a:stCxn id="4014" idx="3"/>
            <a:endCxn id="401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1" name="Google Shape;4021;p188"/>
          <p:cNvCxnSpPr>
            <a:stCxn id="4016" idx="7"/>
            <a:endCxn id="401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2" name="Google Shape;4022;p188"/>
          <p:cNvCxnSpPr>
            <a:stCxn id="4017" idx="3"/>
            <a:endCxn id="401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3" name="Google Shape;4023;p188"/>
          <p:cNvCxnSpPr>
            <a:stCxn id="4013" idx="6"/>
            <a:endCxn id="401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4" name="Google Shape;4024;p188"/>
          <p:cNvCxnSpPr>
            <a:stCxn id="4016" idx="4"/>
            <a:endCxn id="401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5" name="Google Shape;4025;p188"/>
          <p:cNvCxnSpPr>
            <a:stCxn id="4012" idx="4"/>
            <a:endCxn id="401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6" name="Google Shape;4026;p188"/>
          <p:cNvCxnSpPr>
            <a:stCxn id="4011" idx="5"/>
            <a:endCxn id="401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7" name="Google Shape;4027;p188"/>
          <p:cNvCxnSpPr>
            <a:stCxn id="4011" idx="6"/>
            <a:endCxn id="401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8" name="Google Shape;4028;p188"/>
          <p:cNvCxnSpPr>
            <a:stCxn id="4013" idx="2"/>
            <a:endCxn id="401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9" name="Google Shape;4029;p188"/>
          <p:cNvCxnSpPr>
            <a:stCxn id="4018" idx="1"/>
            <a:endCxn id="401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0" name="Google Shape;4030;p188"/>
          <p:cNvCxnSpPr>
            <a:stCxn id="4017" idx="1"/>
            <a:endCxn id="401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1" name="Google Shape;4031;p188"/>
          <p:cNvCxnSpPr>
            <a:stCxn id="4014" idx="5"/>
            <a:endCxn id="401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2" name="Google Shape;4032;p188"/>
          <p:cNvCxnSpPr>
            <a:stCxn id="4012" idx="7"/>
            <a:endCxn id="401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3" name="Google Shape;4033;p188"/>
          <p:cNvCxnSpPr>
            <a:stCxn id="4016" idx="3"/>
            <a:endCxn id="401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4" name="Google Shape;4034;p188"/>
          <p:cNvCxnSpPr>
            <a:stCxn id="4012" idx="6"/>
            <a:endCxn id="401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8" name="Shape 4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9" name="Google Shape;4039;p189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0" name="Google Shape;4040;p1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4041" name="Google Shape;4041;p18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42" name="Google Shape;4042;p18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43" name="Google Shape;4043;p18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44" name="Google Shape;4044;p18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45" name="Google Shape;4045;p18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46" name="Google Shape;4046;p18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47" name="Google Shape;4047;p18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48" name="Google Shape;4048;p18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49" name="Google Shape;4049;p189"/>
          <p:cNvCxnSpPr>
            <a:stCxn id="4041" idx="7"/>
            <a:endCxn id="404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0" name="Google Shape;4050;p189"/>
          <p:cNvCxnSpPr>
            <a:stCxn id="4044" idx="3"/>
            <a:endCxn id="404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1" name="Google Shape;4051;p189"/>
          <p:cNvCxnSpPr>
            <a:stCxn id="4046" idx="7"/>
            <a:endCxn id="404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2" name="Google Shape;4052;p189"/>
          <p:cNvCxnSpPr>
            <a:stCxn id="4047" idx="3"/>
            <a:endCxn id="404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3" name="Google Shape;4053;p189"/>
          <p:cNvCxnSpPr>
            <a:stCxn id="4043" idx="6"/>
            <a:endCxn id="404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4" name="Google Shape;4054;p189"/>
          <p:cNvCxnSpPr>
            <a:stCxn id="4046" idx="4"/>
            <a:endCxn id="404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5" name="Google Shape;4055;p189"/>
          <p:cNvCxnSpPr>
            <a:stCxn id="4042" idx="4"/>
            <a:endCxn id="404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6" name="Google Shape;4056;p189"/>
          <p:cNvCxnSpPr>
            <a:stCxn id="4041" idx="5"/>
            <a:endCxn id="404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7" name="Google Shape;4057;p189"/>
          <p:cNvCxnSpPr>
            <a:stCxn id="4041" idx="6"/>
            <a:endCxn id="404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8" name="Google Shape;4058;p189"/>
          <p:cNvCxnSpPr>
            <a:stCxn id="4043" idx="2"/>
            <a:endCxn id="404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9" name="Google Shape;4059;p189"/>
          <p:cNvCxnSpPr>
            <a:stCxn id="4048" idx="1"/>
            <a:endCxn id="404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0" name="Google Shape;4060;p189"/>
          <p:cNvCxnSpPr>
            <a:stCxn id="4047" idx="1"/>
            <a:endCxn id="404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1" name="Google Shape;4061;p189"/>
          <p:cNvCxnSpPr>
            <a:stCxn id="4044" idx="5"/>
            <a:endCxn id="404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2" name="Google Shape;4062;p189"/>
          <p:cNvCxnSpPr>
            <a:stCxn id="4042" idx="7"/>
            <a:endCxn id="404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3" name="Google Shape;4063;p189"/>
          <p:cNvCxnSpPr>
            <a:stCxn id="4046" idx="3"/>
            <a:endCxn id="404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4" name="Google Shape;4064;p189"/>
          <p:cNvCxnSpPr>
            <a:stCxn id="4042" idx="6"/>
            <a:endCxn id="404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8" name="Shape 4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9" name="Google Shape;4069;p190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0" name="Google Shape;4070;p1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4071" name="Google Shape;4071;p19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2" name="Google Shape;4072;p19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3" name="Google Shape;4073;p19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4" name="Google Shape;4074;p19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5" name="Google Shape;4075;p19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6" name="Google Shape;4076;p19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7" name="Google Shape;4077;p19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78" name="Google Shape;4078;p19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79" name="Google Shape;4079;p190"/>
          <p:cNvCxnSpPr>
            <a:stCxn id="4071" idx="7"/>
            <a:endCxn id="407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0" name="Google Shape;4080;p190"/>
          <p:cNvCxnSpPr>
            <a:stCxn id="4074" idx="3"/>
            <a:endCxn id="407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1" name="Google Shape;4081;p190"/>
          <p:cNvCxnSpPr>
            <a:stCxn id="4076" idx="7"/>
            <a:endCxn id="407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2" name="Google Shape;4082;p190"/>
          <p:cNvCxnSpPr>
            <a:stCxn id="4077" idx="3"/>
            <a:endCxn id="407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3" name="Google Shape;4083;p190"/>
          <p:cNvCxnSpPr>
            <a:stCxn id="4073" idx="6"/>
            <a:endCxn id="407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4" name="Google Shape;4084;p190"/>
          <p:cNvCxnSpPr>
            <a:stCxn id="4076" idx="4"/>
            <a:endCxn id="407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5" name="Google Shape;4085;p190"/>
          <p:cNvCxnSpPr>
            <a:stCxn id="4072" idx="4"/>
            <a:endCxn id="407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6" name="Google Shape;4086;p190"/>
          <p:cNvCxnSpPr>
            <a:stCxn id="4071" idx="5"/>
            <a:endCxn id="407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7" name="Google Shape;4087;p190"/>
          <p:cNvCxnSpPr>
            <a:stCxn id="4071" idx="6"/>
            <a:endCxn id="407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8" name="Google Shape;4088;p190"/>
          <p:cNvCxnSpPr>
            <a:stCxn id="4073" idx="2"/>
            <a:endCxn id="407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9" name="Google Shape;4089;p190"/>
          <p:cNvCxnSpPr>
            <a:stCxn id="4078" idx="1"/>
            <a:endCxn id="407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0" name="Google Shape;4090;p190"/>
          <p:cNvCxnSpPr>
            <a:stCxn id="4077" idx="1"/>
            <a:endCxn id="407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1" name="Google Shape;4091;p190"/>
          <p:cNvCxnSpPr>
            <a:stCxn id="4074" idx="5"/>
            <a:endCxn id="407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2" name="Google Shape;4092;p190"/>
          <p:cNvCxnSpPr>
            <a:stCxn id="4072" idx="7"/>
            <a:endCxn id="407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3" name="Google Shape;4093;p190"/>
          <p:cNvCxnSpPr>
            <a:stCxn id="4076" idx="3"/>
            <a:endCxn id="407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4" name="Google Shape;4094;p190"/>
          <p:cNvCxnSpPr>
            <a:stCxn id="4072" idx="6"/>
            <a:endCxn id="407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095" name="Google Shape;4095;p190"/>
          <p:cNvGraphicFramePr/>
          <p:nvPr/>
        </p:nvGraphicFramePr>
        <p:xfrm>
          <a:off x="801050" y="24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9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Google Shape;4100;p191"/>
          <p:cNvSpPr txBox="1"/>
          <p:nvPr>
            <p:ph idx="1" type="body"/>
          </p:nvPr>
        </p:nvSpPr>
        <p:spPr>
          <a:xfrm>
            <a:off x="311700" y="1225225"/>
            <a:ext cx="478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Set: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1" name="Google Shape;4101;p1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Sets</a:t>
            </a:r>
            <a:endParaRPr/>
          </a:p>
        </p:txBody>
      </p:sp>
      <p:sp>
        <p:nvSpPr>
          <p:cNvPr id="4102" name="Google Shape;4102;p19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03" name="Google Shape;4103;p19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04" name="Google Shape;4104;p19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05" name="Google Shape;4105;p19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06" name="Google Shape;4106;p19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07" name="Google Shape;4107;p19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08" name="Google Shape;4108;p19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09" name="Google Shape;4109;p19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10" name="Google Shape;4110;p191"/>
          <p:cNvCxnSpPr>
            <a:stCxn id="4102" idx="7"/>
            <a:endCxn id="410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1" name="Google Shape;4111;p191"/>
          <p:cNvCxnSpPr>
            <a:stCxn id="4105" idx="3"/>
            <a:endCxn id="410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2" name="Google Shape;4112;p191"/>
          <p:cNvCxnSpPr>
            <a:stCxn id="4107" idx="7"/>
            <a:endCxn id="410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3" name="Google Shape;4113;p191"/>
          <p:cNvCxnSpPr>
            <a:stCxn id="4108" idx="3"/>
            <a:endCxn id="410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4" name="Google Shape;4114;p191"/>
          <p:cNvCxnSpPr>
            <a:stCxn id="4104" idx="6"/>
            <a:endCxn id="410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5" name="Google Shape;4115;p191"/>
          <p:cNvCxnSpPr>
            <a:stCxn id="4107" idx="4"/>
            <a:endCxn id="410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6" name="Google Shape;4116;p191"/>
          <p:cNvCxnSpPr>
            <a:stCxn id="4103" idx="4"/>
            <a:endCxn id="410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7" name="Google Shape;4117;p191"/>
          <p:cNvCxnSpPr>
            <a:stCxn id="4102" idx="5"/>
            <a:endCxn id="410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8" name="Google Shape;4118;p191"/>
          <p:cNvCxnSpPr>
            <a:stCxn id="4102" idx="6"/>
            <a:endCxn id="410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9" name="Google Shape;4119;p191"/>
          <p:cNvCxnSpPr>
            <a:stCxn id="4104" idx="2"/>
            <a:endCxn id="410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0" name="Google Shape;4120;p191"/>
          <p:cNvCxnSpPr>
            <a:stCxn id="4109" idx="1"/>
            <a:endCxn id="410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1" name="Google Shape;4121;p191"/>
          <p:cNvCxnSpPr>
            <a:stCxn id="4108" idx="1"/>
            <a:endCxn id="410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2" name="Google Shape;4122;p191"/>
          <p:cNvCxnSpPr>
            <a:stCxn id="4105" idx="5"/>
            <a:endCxn id="410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3" name="Google Shape;4123;p191"/>
          <p:cNvCxnSpPr>
            <a:stCxn id="4103" idx="7"/>
            <a:endCxn id="410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4" name="Google Shape;4124;p191"/>
          <p:cNvCxnSpPr>
            <a:stCxn id="4107" idx="3"/>
            <a:endCxn id="410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5" name="Google Shape;4125;p191"/>
          <p:cNvCxnSpPr>
            <a:stCxn id="4103" idx="6"/>
            <a:endCxn id="410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126" name="Google Shape;4126;p191"/>
          <p:cNvGraphicFramePr/>
          <p:nvPr/>
        </p:nvGraphicFramePr>
        <p:xfrm>
          <a:off x="801050" y="2460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27" name="Google Shape;4127;p191"/>
          <p:cNvGraphicFramePr/>
          <p:nvPr/>
        </p:nvGraphicFramePr>
        <p:xfrm>
          <a:off x="801050" y="385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1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2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3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4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5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6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7</a:t>
                      </a:r>
                      <a:endParaRPr b="1" baseline="-25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</a:t>
                      </a:r>
                      <a:r>
                        <a:rPr b="1" baseline="-25000" lang="en"/>
                        <a:t>8</a:t>
                      </a:r>
                      <a:endParaRPr b="1" baseline="-25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1" name="Shape 4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2" name="Google Shape;4132;p192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3" name="Google Shape;4133;p1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4134" name="Google Shape;4134;p19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35" name="Google Shape;4135;p19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36" name="Google Shape;4136;p19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37" name="Google Shape;4137;p19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38" name="Google Shape;4138;p19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39" name="Google Shape;4139;p19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40" name="Google Shape;4140;p19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41" name="Google Shape;4141;p19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42" name="Google Shape;4142;p192"/>
          <p:cNvCxnSpPr>
            <a:stCxn id="4134" idx="7"/>
            <a:endCxn id="413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3" name="Google Shape;4143;p192"/>
          <p:cNvCxnSpPr>
            <a:stCxn id="4137" idx="3"/>
            <a:endCxn id="413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4" name="Google Shape;4144;p192"/>
          <p:cNvCxnSpPr>
            <a:stCxn id="4139" idx="7"/>
            <a:endCxn id="414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5" name="Google Shape;4145;p192"/>
          <p:cNvCxnSpPr>
            <a:stCxn id="4140" idx="3"/>
            <a:endCxn id="413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6" name="Google Shape;4146;p192"/>
          <p:cNvCxnSpPr>
            <a:stCxn id="4136" idx="6"/>
            <a:endCxn id="414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7" name="Google Shape;4147;p192"/>
          <p:cNvCxnSpPr>
            <a:stCxn id="4139" idx="4"/>
            <a:endCxn id="413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8" name="Google Shape;4148;p192"/>
          <p:cNvCxnSpPr>
            <a:stCxn id="4135" idx="4"/>
            <a:endCxn id="413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9" name="Google Shape;4149;p192"/>
          <p:cNvCxnSpPr>
            <a:stCxn id="4134" idx="5"/>
            <a:endCxn id="413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0" name="Google Shape;4150;p192"/>
          <p:cNvCxnSpPr>
            <a:stCxn id="4134" idx="6"/>
            <a:endCxn id="413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1" name="Google Shape;4151;p192"/>
          <p:cNvCxnSpPr>
            <a:stCxn id="4136" idx="2"/>
            <a:endCxn id="413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2" name="Google Shape;4152;p192"/>
          <p:cNvCxnSpPr>
            <a:stCxn id="4141" idx="1"/>
            <a:endCxn id="413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3" name="Google Shape;4153;p192"/>
          <p:cNvCxnSpPr>
            <a:stCxn id="4140" idx="1"/>
            <a:endCxn id="413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4" name="Google Shape;4154;p192"/>
          <p:cNvCxnSpPr>
            <a:stCxn id="4137" idx="5"/>
            <a:endCxn id="413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5" name="Google Shape;4155;p192"/>
          <p:cNvCxnSpPr>
            <a:stCxn id="4135" idx="7"/>
            <a:endCxn id="413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6" name="Google Shape;4156;p192"/>
          <p:cNvCxnSpPr>
            <a:stCxn id="4139" idx="3"/>
            <a:endCxn id="413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7" name="Google Shape;4157;p192"/>
          <p:cNvCxnSpPr>
            <a:stCxn id="4135" idx="6"/>
            <a:endCxn id="413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1" name="Shape 4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2" name="Google Shape;4162;p193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3" name="Google Shape;4163;p1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4164" name="Google Shape;4164;p19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65" name="Google Shape;4165;p19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66" name="Google Shape;4166;p19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67" name="Google Shape;4167;p19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68" name="Google Shape;4168;p19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69" name="Google Shape;4169;p19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70" name="Google Shape;4170;p19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71" name="Google Shape;4171;p19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72" name="Google Shape;4172;p193"/>
          <p:cNvCxnSpPr>
            <a:stCxn id="4164" idx="7"/>
            <a:endCxn id="4167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3" name="Google Shape;4173;p193"/>
          <p:cNvCxnSpPr>
            <a:stCxn id="4167" idx="3"/>
            <a:endCxn id="4165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4" name="Google Shape;4174;p193"/>
          <p:cNvCxnSpPr>
            <a:stCxn id="4169" idx="7"/>
            <a:endCxn id="4170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5" name="Google Shape;4175;p193"/>
          <p:cNvCxnSpPr>
            <a:stCxn id="4170" idx="3"/>
            <a:endCxn id="4169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6" name="Google Shape;4176;p193"/>
          <p:cNvCxnSpPr>
            <a:stCxn id="4166" idx="6"/>
            <a:endCxn id="4171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7" name="Google Shape;4177;p193"/>
          <p:cNvCxnSpPr>
            <a:stCxn id="4169" idx="4"/>
            <a:endCxn id="4166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8" name="Google Shape;4178;p193"/>
          <p:cNvCxnSpPr>
            <a:stCxn id="4165" idx="4"/>
            <a:endCxn id="4168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9" name="Google Shape;4179;p193"/>
          <p:cNvCxnSpPr>
            <a:stCxn id="4164" idx="5"/>
            <a:endCxn id="4168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0" name="Google Shape;4180;p193"/>
          <p:cNvCxnSpPr>
            <a:stCxn id="4164" idx="6"/>
            <a:endCxn id="4165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1" name="Google Shape;4181;p193"/>
          <p:cNvCxnSpPr>
            <a:stCxn id="4166" idx="2"/>
            <a:endCxn id="4168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2" name="Google Shape;4182;p193"/>
          <p:cNvCxnSpPr>
            <a:stCxn id="4171" idx="1"/>
            <a:endCxn id="4169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3" name="Google Shape;4183;p193"/>
          <p:cNvCxnSpPr>
            <a:stCxn id="4170" idx="1"/>
            <a:endCxn id="4167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4" name="Google Shape;4184;p193"/>
          <p:cNvCxnSpPr>
            <a:stCxn id="4167" idx="5"/>
            <a:endCxn id="4169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5" name="Google Shape;4185;p193"/>
          <p:cNvCxnSpPr>
            <a:stCxn id="4165" idx="7"/>
            <a:endCxn id="4167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6" name="Google Shape;4186;p193"/>
          <p:cNvCxnSpPr>
            <a:stCxn id="4169" idx="3"/>
            <a:endCxn id="4168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7" name="Google Shape;4187;p193"/>
          <p:cNvCxnSpPr>
            <a:stCxn id="4165" idx="6"/>
            <a:endCxn id="4169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188" name="Google Shape;4188;p193"/>
          <p:cNvGraphicFramePr/>
          <p:nvPr/>
        </p:nvGraphicFramePr>
        <p:xfrm>
          <a:off x="801050" y="285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2" name="Shape 4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3" name="Google Shape;4193;p194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sequences: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Out-Degree Sequence: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In-Degree Sequence: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4" name="Google Shape;4194;p1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Sequences</a:t>
            </a:r>
            <a:endParaRPr/>
          </a:p>
        </p:txBody>
      </p:sp>
      <p:sp>
        <p:nvSpPr>
          <p:cNvPr id="4195" name="Google Shape;4195;p194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96" name="Google Shape;4196;p194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97" name="Google Shape;4197;p194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98" name="Google Shape;4198;p194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199" name="Google Shape;4199;p194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00" name="Google Shape;4200;p194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01" name="Google Shape;4201;p194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02" name="Google Shape;4202;p194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03" name="Google Shape;4203;p194"/>
          <p:cNvCxnSpPr>
            <a:stCxn id="4195" idx="7"/>
            <a:endCxn id="419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4" name="Google Shape;4204;p194"/>
          <p:cNvCxnSpPr>
            <a:stCxn id="4198" idx="3"/>
            <a:endCxn id="419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5" name="Google Shape;4205;p194"/>
          <p:cNvCxnSpPr>
            <a:stCxn id="4200" idx="7"/>
            <a:endCxn id="420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6" name="Google Shape;4206;p194"/>
          <p:cNvCxnSpPr>
            <a:stCxn id="4201" idx="3"/>
            <a:endCxn id="420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7" name="Google Shape;4207;p194"/>
          <p:cNvCxnSpPr>
            <a:stCxn id="4197" idx="6"/>
            <a:endCxn id="420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8" name="Google Shape;4208;p194"/>
          <p:cNvCxnSpPr>
            <a:stCxn id="4200" idx="4"/>
            <a:endCxn id="419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9" name="Google Shape;4209;p194"/>
          <p:cNvCxnSpPr>
            <a:stCxn id="4196" idx="4"/>
            <a:endCxn id="419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0" name="Google Shape;4210;p194"/>
          <p:cNvCxnSpPr>
            <a:stCxn id="4195" idx="5"/>
            <a:endCxn id="419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1" name="Google Shape;4211;p194"/>
          <p:cNvCxnSpPr>
            <a:stCxn id="4195" idx="6"/>
            <a:endCxn id="419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2" name="Google Shape;4212;p194"/>
          <p:cNvCxnSpPr>
            <a:stCxn id="4197" idx="2"/>
            <a:endCxn id="419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3" name="Google Shape;4213;p194"/>
          <p:cNvCxnSpPr>
            <a:stCxn id="4202" idx="1"/>
            <a:endCxn id="420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4" name="Google Shape;4214;p194"/>
          <p:cNvCxnSpPr>
            <a:stCxn id="4201" idx="1"/>
            <a:endCxn id="419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5" name="Google Shape;4215;p194"/>
          <p:cNvCxnSpPr>
            <a:stCxn id="4198" idx="5"/>
            <a:endCxn id="420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6" name="Google Shape;4216;p194"/>
          <p:cNvCxnSpPr>
            <a:stCxn id="4196" idx="7"/>
            <a:endCxn id="419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7" name="Google Shape;4217;p194"/>
          <p:cNvCxnSpPr>
            <a:stCxn id="4200" idx="3"/>
            <a:endCxn id="419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18" name="Google Shape;4218;p194"/>
          <p:cNvCxnSpPr>
            <a:stCxn id="4196" idx="6"/>
            <a:endCxn id="420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219" name="Google Shape;4219;p194"/>
          <p:cNvGraphicFramePr/>
          <p:nvPr/>
        </p:nvGraphicFramePr>
        <p:xfrm>
          <a:off x="801050" y="285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220" name="Google Shape;4220;p194"/>
          <p:cNvGraphicFramePr/>
          <p:nvPr/>
        </p:nvGraphicFramePr>
        <p:xfrm>
          <a:off x="801050" y="3795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  <a:gridCol w="549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4" name="Shape 4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5" name="Google Shape;4225;p195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6" name="Google Shape;4226;p1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4227" name="Google Shape;4227;p195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28" name="Google Shape;4228;p195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29" name="Google Shape;4229;p195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30" name="Google Shape;4230;p195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31" name="Google Shape;4231;p195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32" name="Google Shape;4232;p195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33" name="Google Shape;4233;p195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34" name="Google Shape;4234;p195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35" name="Google Shape;4235;p195"/>
          <p:cNvCxnSpPr>
            <a:stCxn id="4227" idx="7"/>
            <a:endCxn id="423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6" name="Google Shape;4236;p195"/>
          <p:cNvCxnSpPr>
            <a:stCxn id="4230" idx="3"/>
            <a:endCxn id="422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7" name="Google Shape;4237;p195"/>
          <p:cNvCxnSpPr>
            <a:stCxn id="4232" idx="7"/>
            <a:endCxn id="423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8" name="Google Shape;4238;p195"/>
          <p:cNvCxnSpPr>
            <a:stCxn id="4233" idx="3"/>
            <a:endCxn id="423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9" name="Google Shape;4239;p195"/>
          <p:cNvCxnSpPr>
            <a:stCxn id="4229" idx="6"/>
            <a:endCxn id="423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0" name="Google Shape;4240;p195"/>
          <p:cNvCxnSpPr>
            <a:stCxn id="4232" idx="4"/>
            <a:endCxn id="422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1" name="Google Shape;4241;p195"/>
          <p:cNvCxnSpPr>
            <a:stCxn id="4228" idx="4"/>
            <a:endCxn id="423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2" name="Google Shape;4242;p195"/>
          <p:cNvCxnSpPr>
            <a:stCxn id="4227" idx="5"/>
            <a:endCxn id="423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3" name="Google Shape;4243;p195"/>
          <p:cNvCxnSpPr>
            <a:stCxn id="4227" idx="6"/>
            <a:endCxn id="422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4" name="Google Shape;4244;p195"/>
          <p:cNvCxnSpPr>
            <a:stCxn id="4229" idx="2"/>
            <a:endCxn id="423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5" name="Google Shape;4245;p195"/>
          <p:cNvCxnSpPr>
            <a:stCxn id="4234" idx="1"/>
            <a:endCxn id="423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6" name="Google Shape;4246;p195"/>
          <p:cNvCxnSpPr>
            <a:stCxn id="4233" idx="1"/>
            <a:endCxn id="423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7" name="Google Shape;4247;p195"/>
          <p:cNvCxnSpPr>
            <a:stCxn id="4230" idx="5"/>
            <a:endCxn id="423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8" name="Google Shape;4248;p195"/>
          <p:cNvCxnSpPr>
            <a:stCxn id="4228" idx="7"/>
            <a:endCxn id="423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9" name="Google Shape;4249;p195"/>
          <p:cNvCxnSpPr>
            <a:stCxn id="4232" idx="3"/>
            <a:endCxn id="423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0" name="Google Shape;4250;p195"/>
          <p:cNvCxnSpPr>
            <a:stCxn id="4228" idx="6"/>
            <a:endCxn id="423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4" name="Shape 4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5" name="Google Shape;4255;p196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mi</a:t>
            </a:r>
            <a:r>
              <a:rPr baseline="-25000" lang="en"/>
              <a:t>n</a:t>
            </a:r>
            <a:r>
              <a:rPr lang="en"/>
              <a:t>= 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6" name="Google Shape;4256;p1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4257" name="Google Shape;4257;p196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58" name="Google Shape;4258;p196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59" name="Google Shape;4259;p196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60" name="Google Shape;4260;p196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61" name="Google Shape;4261;p196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62" name="Google Shape;4262;p196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63" name="Google Shape;4263;p196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64" name="Google Shape;4264;p196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65" name="Google Shape;4265;p196"/>
          <p:cNvCxnSpPr>
            <a:stCxn id="4257" idx="7"/>
            <a:endCxn id="4260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6" name="Google Shape;4266;p196"/>
          <p:cNvCxnSpPr>
            <a:stCxn id="4260" idx="3"/>
            <a:endCxn id="4258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7" name="Google Shape;4267;p196"/>
          <p:cNvCxnSpPr>
            <a:stCxn id="4262" idx="7"/>
            <a:endCxn id="4263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8" name="Google Shape;4268;p196"/>
          <p:cNvCxnSpPr>
            <a:stCxn id="4263" idx="3"/>
            <a:endCxn id="4262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9" name="Google Shape;4269;p196"/>
          <p:cNvCxnSpPr>
            <a:stCxn id="4259" idx="6"/>
            <a:endCxn id="4264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0" name="Google Shape;4270;p196"/>
          <p:cNvCxnSpPr>
            <a:stCxn id="4262" idx="4"/>
            <a:endCxn id="4259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1" name="Google Shape;4271;p196"/>
          <p:cNvCxnSpPr>
            <a:stCxn id="4258" idx="4"/>
            <a:endCxn id="4261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2" name="Google Shape;4272;p196"/>
          <p:cNvCxnSpPr>
            <a:stCxn id="4257" idx="5"/>
            <a:endCxn id="4261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3" name="Google Shape;4273;p196"/>
          <p:cNvCxnSpPr>
            <a:stCxn id="4257" idx="6"/>
            <a:endCxn id="4258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4" name="Google Shape;4274;p196"/>
          <p:cNvCxnSpPr>
            <a:stCxn id="4259" idx="2"/>
            <a:endCxn id="4261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5" name="Google Shape;4275;p196"/>
          <p:cNvCxnSpPr>
            <a:stCxn id="4264" idx="1"/>
            <a:endCxn id="4262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6" name="Google Shape;4276;p196"/>
          <p:cNvCxnSpPr>
            <a:stCxn id="4263" idx="1"/>
            <a:endCxn id="4260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7" name="Google Shape;4277;p196"/>
          <p:cNvCxnSpPr>
            <a:stCxn id="4260" idx="5"/>
            <a:endCxn id="4262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8" name="Google Shape;4278;p196"/>
          <p:cNvCxnSpPr>
            <a:stCxn id="4258" idx="7"/>
            <a:endCxn id="4260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9" name="Google Shape;4279;p196"/>
          <p:cNvCxnSpPr>
            <a:stCxn id="4262" idx="3"/>
            <a:endCxn id="4261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0" name="Google Shape;4280;p196"/>
          <p:cNvCxnSpPr>
            <a:stCxn id="4258" idx="6"/>
            <a:endCxn id="4262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281" name="Google Shape;4281;p196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5" name="Shape 4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6" name="Google Shape;4286;p197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degree maxima and minima: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Out-Degree (k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Out-Degree (k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Maximum In-Degree (k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Minimum In-Degree (k</a:t>
            </a:r>
            <a:r>
              <a:rPr baseline="30000" lang="en"/>
              <a:t>in</a:t>
            </a:r>
            <a:r>
              <a:rPr baseline="-25000" lang="en"/>
              <a:t>min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max</a:t>
            </a:r>
            <a:r>
              <a:rPr lang="en"/>
              <a:t>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min</a:t>
            </a:r>
            <a:r>
              <a:rPr lang="en"/>
              <a:t>= 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max</a:t>
            </a:r>
            <a:r>
              <a:rPr lang="en"/>
              <a:t>= 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mi</a:t>
            </a:r>
            <a:r>
              <a:rPr baseline="-25000" lang="en"/>
              <a:t>n</a:t>
            </a:r>
            <a:r>
              <a:rPr lang="en"/>
              <a:t>=     0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7" name="Google Shape;4287;p1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Maximum and Minimum Degrees</a:t>
            </a:r>
            <a:endParaRPr/>
          </a:p>
        </p:txBody>
      </p:sp>
      <p:sp>
        <p:nvSpPr>
          <p:cNvPr id="4288" name="Google Shape;4288;p197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89" name="Google Shape;4289;p197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90" name="Google Shape;4290;p197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91" name="Google Shape;4291;p197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92" name="Google Shape;4292;p197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93" name="Google Shape;4293;p197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94" name="Google Shape;4294;p197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95" name="Google Shape;4295;p197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96" name="Google Shape;4296;p197"/>
          <p:cNvCxnSpPr>
            <a:stCxn id="4288" idx="7"/>
            <a:endCxn id="429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97" name="Google Shape;4297;p197"/>
          <p:cNvCxnSpPr>
            <a:stCxn id="4291" idx="3"/>
            <a:endCxn id="428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98" name="Google Shape;4298;p197"/>
          <p:cNvCxnSpPr>
            <a:stCxn id="4293" idx="7"/>
            <a:endCxn id="429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99" name="Google Shape;4299;p197"/>
          <p:cNvCxnSpPr>
            <a:stCxn id="4294" idx="3"/>
            <a:endCxn id="429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0" name="Google Shape;4300;p197"/>
          <p:cNvCxnSpPr>
            <a:stCxn id="4290" idx="6"/>
            <a:endCxn id="429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1" name="Google Shape;4301;p197"/>
          <p:cNvCxnSpPr>
            <a:stCxn id="4293" idx="4"/>
            <a:endCxn id="429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2" name="Google Shape;4302;p197"/>
          <p:cNvCxnSpPr>
            <a:stCxn id="4289" idx="4"/>
            <a:endCxn id="429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3" name="Google Shape;4303;p197"/>
          <p:cNvCxnSpPr>
            <a:stCxn id="4288" idx="5"/>
            <a:endCxn id="429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4" name="Google Shape;4304;p197"/>
          <p:cNvCxnSpPr>
            <a:stCxn id="4288" idx="6"/>
            <a:endCxn id="428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5" name="Google Shape;4305;p197"/>
          <p:cNvCxnSpPr>
            <a:stCxn id="4290" idx="2"/>
            <a:endCxn id="429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6" name="Google Shape;4306;p197"/>
          <p:cNvCxnSpPr>
            <a:stCxn id="4295" idx="1"/>
            <a:endCxn id="429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7" name="Google Shape;4307;p197"/>
          <p:cNvCxnSpPr>
            <a:stCxn id="4294" idx="1"/>
            <a:endCxn id="429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8" name="Google Shape;4308;p197"/>
          <p:cNvCxnSpPr>
            <a:stCxn id="4291" idx="5"/>
            <a:endCxn id="429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9" name="Google Shape;4309;p197"/>
          <p:cNvCxnSpPr>
            <a:stCxn id="4289" idx="7"/>
            <a:endCxn id="429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0" name="Google Shape;4310;p197"/>
          <p:cNvCxnSpPr>
            <a:stCxn id="4293" idx="3"/>
            <a:endCxn id="429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1" name="Google Shape;4311;p197"/>
          <p:cNvCxnSpPr>
            <a:stCxn id="4289" idx="6"/>
            <a:endCxn id="429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312" name="Google Shape;4312;p197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6" name="Shape 4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7" name="Google Shape;4317;p198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8" name="Google Shape;4318;p1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4319" name="Google Shape;4319;p198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0" name="Google Shape;4320;p198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1" name="Google Shape;4321;p198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2" name="Google Shape;4322;p198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3" name="Google Shape;4323;p198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4" name="Google Shape;4324;p198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5" name="Google Shape;4325;p198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26" name="Google Shape;4326;p198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27" name="Google Shape;4327;p198"/>
          <p:cNvCxnSpPr>
            <a:stCxn id="4319" idx="7"/>
            <a:endCxn id="4322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8" name="Google Shape;4328;p198"/>
          <p:cNvCxnSpPr>
            <a:stCxn id="4322" idx="3"/>
            <a:endCxn id="4320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9" name="Google Shape;4329;p198"/>
          <p:cNvCxnSpPr>
            <a:stCxn id="4324" idx="7"/>
            <a:endCxn id="4325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0" name="Google Shape;4330;p198"/>
          <p:cNvCxnSpPr>
            <a:stCxn id="4325" idx="3"/>
            <a:endCxn id="4324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1" name="Google Shape;4331;p198"/>
          <p:cNvCxnSpPr>
            <a:stCxn id="4321" idx="6"/>
            <a:endCxn id="4326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2" name="Google Shape;4332;p198"/>
          <p:cNvCxnSpPr>
            <a:stCxn id="4324" idx="4"/>
            <a:endCxn id="4321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3" name="Google Shape;4333;p198"/>
          <p:cNvCxnSpPr>
            <a:stCxn id="4320" idx="4"/>
            <a:endCxn id="4323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4" name="Google Shape;4334;p198"/>
          <p:cNvCxnSpPr>
            <a:stCxn id="4319" idx="5"/>
            <a:endCxn id="4323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5" name="Google Shape;4335;p198"/>
          <p:cNvCxnSpPr>
            <a:stCxn id="4319" idx="6"/>
            <a:endCxn id="4320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6" name="Google Shape;4336;p198"/>
          <p:cNvCxnSpPr>
            <a:stCxn id="4321" idx="2"/>
            <a:endCxn id="4323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7" name="Google Shape;4337;p198"/>
          <p:cNvCxnSpPr>
            <a:stCxn id="4326" idx="1"/>
            <a:endCxn id="4324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8" name="Google Shape;4338;p198"/>
          <p:cNvCxnSpPr>
            <a:stCxn id="4325" idx="1"/>
            <a:endCxn id="4322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9" name="Google Shape;4339;p198"/>
          <p:cNvCxnSpPr>
            <a:stCxn id="4322" idx="5"/>
            <a:endCxn id="4324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0" name="Google Shape;4340;p198"/>
          <p:cNvCxnSpPr>
            <a:stCxn id="4320" idx="7"/>
            <a:endCxn id="4322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1" name="Google Shape;4341;p198"/>
          <p:cNvCxnSpPr>
            <a:stCxn id="4324" idx="3"/>
            <a:endCxn id="4323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2" name="Google Shape;4342;p198"/>
          <p:cNvCxnSpPr>
            <a:stCxn id="4320" idx="6"/>
            <a:endCxn id="4324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343" name="Google Shape;4343;p198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7" name="Shape 4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8" name="Google Shape;4348;p199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9" name="Google Shape;4349;p1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4350" name="Google Shape;4350;p199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1" name="Google Shape;4351;p199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2" name="Google Shape;4352;p199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3" name="Google Shape;4353;p199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4" name="Google Shape;4354;p199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5" name="Google Shape;4355;p199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6" name="Google Shape;4356;p199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57" name="Google Shape;4357;p199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58" name="Google Shape;4358;p199"/>
          <p:cNvCxnSpPr>
            <a:stCxn id="4350" idx="7"/>
            <a:endCxn id="4353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9" name="Google Shape;4359;p199"/>
          <p:cNvCxnSpPr>
            <a:stCxn id="4353" idx="3"/>
            <a:endCxn id="4351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0" name="Google Shape;4360;p199"/>
          <p:cNvCxnSpPr>
            <a:stCxn id="4355" idx="7"/>
            <a:endCxn id="4356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1" name="Google Shape;4361;p199"/>
          <p:cNvCxnSpPr>
            <a:stCxn id="4356" idx="3"/>
            <a:endCxn id="4355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2" name="Google Shape;4362;p199"/>
          <p:cNvCxnSpPr>
            <a:stCxn id="4352" idx="6"/>
            <a:endCxn id="4357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3" name="Google Shape;4363;p199"/>
          <p:cNvCxnSpPr>
            <a:stCxn id="4355" idx="4"/>
            <a:endCxn id="4352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4" name="Google Shape;4364;p199"/>
          <p:cNvCxnSpPr>
            <a:stCxn id="4351" idx="4"/>
            <a:endCxn id="4354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5" name="Google Shape;4365;p199"/>
          <p:cNvCxnSpPr>
            <a:stCxn id="4350" idx="5"/>
            <a:endCxn id="4354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6" name="Google Shape;4366;p199"/>
          <p:cNvCxnSpPr>
            <a:stCxn id="4350" idx="6"/>
            <a:endCxn id="4351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7" name="Google Shape;4367;p199"/>
          <p:cNvCxnSpPr>
            <a:stCxn id="4352" idx="2"/>
            <a:endCxn id="4354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8" name="Google Shape;4368;p199"/>
          <p:cNvCxnSpPr>
            <a:stCxn id="4357" idx="1"/>
            <a:endCxn id="4355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9" name="Google Shape;4369;p199"/>
          <p:cNvCxnSpPr>
            <a:stCxn id="4356" idx="1"/>
            <a:endCxn id="4353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0" name="Google Shape;4370;p199"/>
          <p:cNvCxnSpPr>
            <a:stCxn id="4353" idx="5"/>
            <a:endCxn id="4355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1" name="Google Shape;4371;p199"/>
          <p:cNvCxnSpPr>
            <a:stCxn id="4351" idx="7"/>
            <a:endCxn id="4353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2" name="Google Shape;4372;p199"/>
          <p:cNvCxnSpPr>
            <a:stCxn id="4355" idx="3"/>
            <a:endCxn id="4354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3" name="Google Shape;4373;p199"/>
          <p:cNvCxnSpPr>
            <a:stCxn id="4351" idx="6"/>
            <a:endCxn id="4355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374" name="Google Shape;4374;p199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8" name="Shape 4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9" name="Google Shape;4379;p200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0" name="Google Shape;4380;p2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4381" name="Google Shape;4381;p200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2" name="Google Shape;4382;p200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3" name="Google Shape;4383;p200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4" name="Google Shape;4384;p200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5" name="Google Shape;4385;p200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6" name="Google Shape;4386;p200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7" name="Google Shape;4387;p200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388" name="Google Shape;4388;p200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389" name="Google Shape;4389;p200"/>
          <p:cNvCxnSpPr>
            <a:stCxn id="4381" idx="7"/>
            <a:endCxn id="4384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0" name="Google Shape;4390;p200"/>
          <p:cNvCxnSpPr>
            <a:stCxn id="4384" idx="3"/>
            <a:endCxn id="4382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1" name="Google Shape;4391;p200"/>
          <p:cNvCxnSpPr>
            <a:stCxn id="4386" idx="7"/>
            <a:endCxn id="4387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2" name="Google Shape;4392;p200"/>
          <p:cNvCxnSpPr>
            <a:stCxn id="4387" idx="3"/>
            <a:endCxn id="4386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3" name="Google Shape;4393;p200"/>
          <p:cNvCxnSpPr>
            <a:stCxn id="4383" idx="6"/>
            <a:endCxn id="4388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4" name="Google Shape;4394;p200"/>
          <p:cNvCxnSpPr>
            <a:stCxn id="4386" idx="4"/>
            <a:endCxn id="4383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5" name="Google Shape;4395;p200"/>
          <p:cNvCxnSpPr>
            <a:stCxn id="4382" idx="4"/>
            <a:endCxn id="4385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6" name="Google Shape;4396;p200"/>
          <p:cNvCxnSpPr>
            <a:stCxn id="4381" idx="5"/>
            <a:endCxn id="4385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7" name="Google Shape;4397;p200"/>
          <p:cNvCxnSpPr>
            <a:stCxn id="4381" idx="6"/>
            <a:endCxn id="4382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8" name="Google Shape;4398;p200"/>
          <p:cNvCxnSpPr>
            <a:stCxn id="4383" idx="2"/>
            <a:endCxn id="4385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99" name="Google Shape;4399;p200"/>
          <p:cNvCxnSpPr>
            <a:stCxn id="4388" idx="1"/>
            <a:endCxn id="4386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0" name="Google Shape;4400;p200"/>
          <p:cNvCxnSpPr>
            <a:stCxn id="4387" idx="1"/>
            <a:endCxn id="4384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1" name="Google Shape;4401;p200"/>
          <p:cNvCxnSpPr>
            <a:stCxn id="4384" idx="5"/>
            <a:endCxn id="4386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2" name="Google Shape;4402;p200"/>
          <p:cNvCxnSpPr>
            <a:stCxn id="4382" idx="7"/>
            <a:endCxn id="4384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3" name="Google Shape;4403;p200"/>
          <p:cNvCxnSpPr>
            <a:stCxn id="4386" idx="3"/>
            <a:endCxn id="4385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4" name="Google Shape;4404;p200"/>
          <p:cNvCxnSpPr>
            <a:stCxn id="4382" idx="6"/>
            <a:endCxn id="4386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4405" name="Google Shape;4405;p200"/>
          <p:cNvGraphicFramePr/>
          <p:nvPr/>
        </p:nvGraphicFramePr>
        <p:xfrm>
          <a:off x="2214575" y="4141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{DE2360D0-0A39-4393-B752-CAD0FD4407F0}</a:tableStyleId>
              </a:tblPr>
              <a:tblGrid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  <a:gridCol w="48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9" name="Shape 4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0" name="Google Shape;4410;p201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1" name="Google Shape;4411;p2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4412" name="Google Shape;4412;p201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13" name="Google Shape;4413;p201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14" name="Google Shape;4414;p201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15" name="Google Shape;4415;p201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16" name="Google Shape;4416;p201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17" name="Google Shape;4417;p201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18" name="Google Shape;4418;p201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19" name="Google Shape;4419;p201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20" name="Google Shape;4420;p201"/>
          <p:cNvCxnSpPr>
            <a:stCxn id="4412" idx="7"/>
            <a:endCxn id="4415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1" name="Google Shape;4421;p201"/>
          <p:cNvCxnSpPr>
            <a:stCxn id="4415" idx="3"/>
            <a:endCxn id="4413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2" name="Google Shape;4422;p201"/>
          <p:cNvCxnSpPr>
            <a:stCxn id="4417" idx="7"/>
            <a:endCxn id="4418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3" name="Google Shape;4423;p201"/>
          <p:cNvCxnSpPr>
            <a:stCxn id="4418" idx="3"/>
            <a:endCxn id="4417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4" name="Google Shape;4424;p201"/>
          <p:cNvCxnSpPr>
            <a:stCxn id="4414" idx="6"/>
            <a:endCxn id="4419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5" name="Google Shape;4425;p201"/>
          <p:cNvCxnSpPr>
            <a:stCxn id="4417" idx="4"/>
            <a:endCxn id="4414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6" name="Google Shape;4426;p201"/>
          <p:cNvCxnSpPr>
            <a:stCxn id="4413" idx="4"/>
            <a:endCxn id="4416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7" name="Google Shape;4427;p201"/>
          <p:cNvCxnSpPr>
            <a:stCxn id="4412" idx="5"/>
            <a:endCxn id="4416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8" name="Google Shape;4428;p201"/>
          <p:cNvCxnSpPr>
            <a:stCxn id="4412" idx="6"/>
            <a:endCxn id="4413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9" name="Google Shape;4429;p201"/>
          <p:cNvCxnSpPr>
            <a:stCxn id="4414" idx="2"/>
            <a:endCxn id="4416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0" name="Google Shape;4430;p201"/>
          <p:cNvCxnSpPr>
            <a:stCxn id="4419" idx="1"/>
            <a:endCxn id="4417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1" name="Google Shape;4431;p201"/>
          <p:cNvCxnSpPr>
            <a:stCxn id="4418" idx="1"/>
            <a:endCxn id="4415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2" name="Google Shape;4432;p201"/>
          <p:cNvCxnSpPr>
            <a:stCxn id="4415" idx="5"/>
            <a:endCxn id="4417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3" name="Google Shape;4433;p201"/>
          <p:cNvCxnSpPr>
            <a:stCxn id="4413" idx="7"/>
            <a:endCxn id="4415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4" name="Google Shape;4434;p201"/>
          <p:cNvCxnSpPr>
            <a:stCxn id="4417" idx="3"/>
            <a:endCxn id="4416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5" name="Google Shape;4435;p201"/>
          <p:cNvCxnSpPr>
            <a:stCxn id="4413" idx="6"/>
            <a:endCxn id="4417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6" name="Google Shape;4436;p201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a directed graph, the sum of the in and out degrees is always the same number!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437" name="Google Shape;4437;p201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38" name="Google Shape;4438;p201"/>
          <p:cNvCxnSpPr>
            <a:stCxn id="4436" idx="2"/>
            <a:endCxn id="4437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2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Google Shape;4443;p202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4" name="Google Shape;4444;p2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4445" name="Google Shape;4445;p202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46" name="Google Shape;4446;p202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47" name="Google Shape;4447;p202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48" name="Google Shape;4448;p202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49" name="Google Shape;4449;p202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50" name="Google Shape;4450;p202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51" name="Google Shape;4451;p202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52" name="Google Shape;4452;p202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53" name="Google Shape;4453;p202"/>
          <p:cNvCxnSpPr>
            <a:stCxn id="4445" idx="7"/>
            <a:endCxn id="4448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4" name="Google Shape;4454;p202"/>
          <p:cNvCxnSpPr>
            <a:stCxn id="4448" idx="3"/>
            <a:endCxn id="4446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5" name="Google Shape;4455;p202"/>
          <p:cNvCxnSpPr>
            <a:stCxn id="4450" idx="7"/>
            <a:endCxn id="4451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6" name="Google Shape;4456;p202"/>
          <p:cNvCxnSpPr>
            <a:stCxn id="4451" idx="3"/>
            <a:endCxn id="4450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7" name="Google Shape;4457;p202"/>
          <p:cNvCxnSpPr>
            <a:stCxn id="4447" idx="6"/>
            <a:endCxn id="4452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8" name="Google Shape;4458;p202"/>
          <p:cNvCxnSpPr>
            <a:stCxn id="4450" idx="4"/>
            <a:endCxn id="4447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9" name="Google Shape;4459;p202"/>
          <p:cNvCxnSpPr>
            <a:stCxn id="4446" idx="4"/>
            <a:endCxn id="4449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0" name="Google Shape;4460;p202"/>
          <p:cNvCxnSpPr>
            <a:stCxn id="4445" idx="5"/>
            <a:endCxn id="4449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1" name="Google Shape;4461;p202"/>
          <p:cNvCxnSpPr>
            <a:stCxn id="4445" idx="6"/>
            <a:endCxn id="4446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2" name="Google Shape;4462;p202"/>
          <p:cNvCxnSpPr>
            <a:stCxn id="4447" idx="2"/>
            <a:endCxn id="4449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3" name="Google Shape;4463;p202"/>
          <p:cNvCxnSpPr>
            <a:stCxn id="4452" idx="1"/>
            <a:endCxn id="4450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4" name="Google Shape;4464;p202"/>
          <p:cNvCxnSpPr>
            <a:stCxn id="4451" idx="1"/>
            <a:endCxn id="4448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5" name="Google Shape;4465;p202"/>
          <p:cNvCxnSpPr>
            <a:stCxn id="4448" idx="5"/>
            <a:endCxn id="4450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6" name="Google Shape;4466;p202"/>
          <p:cNvCxnSpPr>
            <a:stCxn id="4446" idx="7"/>
            <a:endCxn id="4448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7" name="Google Shape;4467;p202"/>
          <p:cNvCxnSpPr>
            <a:stCxn id="4450" idx="3"/>
            <a:endCxn id="4449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8" name="Google Shape;4468;p202"/>
          <p:cNvCxnSpPr>
            <a:stCxn id="4446" idx="6"/>
            <a:endCxn id="4450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9" name="Google Shape;4469;p202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sum of the in or out-degrees is also equal to graph size (m): The number of edges!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470" name="Google Shape;4470;p202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71" name="Google Shape;4471;p202"/>
          <p:cNvCxnSpPr>
            <a:stCxn id="4469" idx="2"/>
            <a:endCxn id="4470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5" name="Shape 4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6" name="Google Shape;4476;p203"/>
          <p:cNvSpPr txBox="1"/>
          <p:nvPr>
            <p:ph idx="1" type="body"/>
          </p:nvPr>
        </p:nvSpPr>
        <p:spPr>
          <a:xfrm>
            <a:off x="311700" y="1225225"/>
            <a:ext cx="5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</a:t>
            </a:r>
            <a:r>
              <a:rPr i="1" lang="en"/>
              <a:t>two</a:t>
            </a:r>
            <a:r>
              <a:rPr lang="en"/>
              <a:t> </a:t>
            </a:r>
            <a:r>
              <a:rPr b="1" lang="en"/>
              <a:t>degree ranges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Out-Degree Range (k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Directed Graphs have two </a:t>
            </a:r>
            <a:r>
              <a:rPr b="1" lang="en"/>
              <a:t>sums of degrees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Out-Degrees (Σk</a:t>
            </a:r>
            <a:r>
              <a:rPr baseline="30000" lang="en" sz="1300"/>
              <a:t>out</a:t>
            </a:r>
            <a:r>
              <a:rPr lang="en" sz="1300"/>
              <a:t>)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In-Degrees (Σk</a:t>
            </a:r>
            <a:r>
              <a:rPr baseline="30000" lang="en" sz="1300"/>
              <a:t>in</a:t>
            </a:r>
            <a:r>
              <a:rPr lang="en" sz="1300"/>
              <a:t>)</a:t>
            </a:r>
            <a:endParaRPr sz="13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out</a:t>
            </a:r>
            <a:r>
              <a:rPr baseline="-25000" lang="en"/>
              <a:t>r</a:t>
            </a:r>
            <a:r>
              <a:rPr lang="en"/>
              <a:t> = 3 - 0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baseline="30000" lang="en"/>
              <a:t>in</a:t>
            </a:r>
            <a:r>
              <a:rPr baseline="-25000" lang="en"/>
              <a:t>r</a:t>
            </a:r>
            <a:r>
              <a:rPr lang="en"/>
              <a:t> =  4 - 0 =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out</a:t>
            </a:r>
            <a:r>
              <a:rPr lang="en"/>
              <a:t>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Σk</a:t>
            </a:r>
            <a:r>
              <a:rPr baseline="30000" lang="en"/>
              <a:t>in</a:t>
            </a:r>
            <a:r>
              <a:rPr lang="en"/>
              <a:t> =  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7" name="Google Shape;4477;p2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Degree Ranges and Sums</a:t>
            </a:r>
            <a:endParaRPr/>
          </a:p>
        </p:txBody>
      </p:sp>
      <p:sp>
        <p:nvSpPr>
          <p:cNvPr id="4478" name="Google Shape;4478;p203"/>
          <p:cNvSpPr/>
          <p:nvPr/>
        </p:nvSpPr>
        <p:spPr>
          <a:xfrm>
            <a:off x="5320813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2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79" name="Google Shape;4479;p203"/>
          <p:cNvSpPr/>
          <p:nvPr/>
        </p:nvSpPr>
        <p:spPr>
          <a:xfrm>
            <a:off x="6449680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3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80" name="Google Shape;4480;p203"/>
          <p:cNvSpPr/>
          <p:nvPr/>
        </p:nvSpPr>
        <p:spPr>
          <a:xfrm>
            <a:off x="7413580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6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81" name="Google Shape;4481;p203"/>
          <p:cNvSpPr/>
          <p:nvPr/>
        </p:nvSpPr>
        <p:spPr>
          <a:xfrm>
            <a:off x="6449659" y="1700238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1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82" name="Google Shape;4482;p203"/>
          <p:cNvSpPr/>
          <p:nvPr/>
        </p:nvSpPr>
        <p:spPr>
          <a:xfrm>
            <a:off x="6449622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5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83" name="Google Shape;4483;p203"/>
          <p:cNvSpPr/>
          <p:nvPr/>
        </p:nvSpPr>
        <p:spPr>
          <a:xfrm>
            <a:off x="7413618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4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84" name="Google Shape;4484;p203"/>
          <p:cNvSpPr/>
          <p:nvPr/>
        </p:nvSpPr>
        <p:spPr>
          <a:xfrm>
            <a:off x="8542415" y="2699701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7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485" name="Google Shape;4485;p203"/>
          <p:cNvSpPr/>
          <p:nvPr/>
        </p:nvSpPr>
        <p:spPr>
          <a:xfrm>
            <a:off x="8542378" y="3699159"/>
            <a:ext cx="324600" cy="3150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Cantarell"/>
                <a:ea typeface="Cantarell"/>
                <a:cs typeface="Cantarell"/>
                <a:sym typeface="Cantarell"/>
              </a:rPr>
              <a:t>8</a:t>
            </a:r>
            <a:endParaRPr b="1" sz="1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486" name="Google Shape;4486;p203"/>
          <p:cNvCxnSpPr>
            <a:stCxn id="4478" idx="7"/>
            <a:endCxn id="4481" idx="2"/>
          </p:cNvCxnSpPr>
          <p:nvPr/>
        </p:nvCxnSpPr>
        <p:spPr>
          <a:xfrm flipH="1" rot="10800000">
            <a:off x="5597876" y="1857832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7" name="Google Shape;4487;p203"/>
          <p:cNvCxnSpPr>
            <a:stCxn id="4481" idx="3"/>
            <a:endCxn id="4479" idx="1"/>
          </p:cNvCxnSpPr>
          <p:nvPr/>
        </p:nvCxnSpPr>
        <p:spPr>
          <a:xfrm>
            <a:off x="6497196" y="1969107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8" name="Google Shape;4488;p203"/>
          <p:cNvCxnSpPr>
            <a:stCxn id="4483" idx="7"/>
            <a:endCxn id="4484" idx="1"/>
          </p:cNvCxnSpPr>
          <p:nvPr/>
        </p:nvCxnSpPr>
        <p:spPr>
          <a:xfrm>
            <a:off x="7690681" y="2745832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9" name="Google Shape;4489;p203"/>
          <p:cNvCxnSpPr>
            <a:stCxn id="4484" idx="3"/>
            <a:endCxn id="4483" idx="5"/>
          </p:cNvCxnSpPr>
          <p:nvPr/>
        </p:nvCxnSpPr>
        <p:spPr>
          <a:xfrm rot="10800000">
            <a:off x="7690552" y="2968570"/>
            <a:ext cx="899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0" name="Google Shape;4490;p203"/>
          <p:cNvCxnSpPr>
            <a:stCxn id="4480" idx="6"/>
            <a:endCxn id="4485" idx="2"/>
          </p:cNvCxnSpPr>
          <p:nvPr/>
        </p:nvCxnSpPr>
        <p:spPr>
          <a:xfrm>
            <a:off x="7738180" y="3856659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1" name="Google Shape;4491;p203"/>
          <p:cNvCxnSpPr>
            <a:stCxn id="4483" idx="4"/>
            <a:endCxn id="4480" idx="0"/>
          </p:cNvCxnSpPr>
          <p:nvPr/>
        </p:nvCxnSpPr>
        <p:spPr>
          <a:xfrm>
            <a:off x="7575918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2" name="Google Shape;4492;p203"/>
          <p:cNvCxnSpPr>
            <a:stCxn id="4479" idx="4"/>
            <a:endCxn id="4482" idx="0"/>
          </p:cNvCxnSpPr>
          <p:nvPr/>
        </p:nvCxnSpPr>
        <p:spPr>
          <a:xfrm>
            <a:off x="6611980" y="3014701"/>
            <a:ext cx="0" cy="68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3" name="Google Shape;4493;p203"/>
          <p:cNvCxnSpPr>
            <a:stCxn id="4478" idx="5"/>
            <a:endCxn id="4482" idx="2"/>
          </p:cNvCxnSpPr>
          <p:nvPr/>
        </p:nvCxnSpPr>
        <p:spPr>
          <a:xfrm>
            <a:off x="5597876" y="2968570"/>
            <a:ext cx="851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4" name="Google Shape;4494;p203"/>
          <p:cNvCxnSpPr>
            <a:stCxn id="4478" idx="6"/>
            <a:endCxn id="4479" idx="2"/>
          </p:cNvCxnSpPr>
          <p:nvPr/>
        </p:nvCxnSpPr>
        <p:spPr>
          <a:xfrm>
            <a:off x="5645413" y="2857201"/>
            <a:ext cx="804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5" name="Google Shape;4495;p203"/>
          <p:cNvCxnSpPr>
            <a:stCxn id="4480" idx="2"/>
            <a:endCxn id="4482" idx="6"/>
          </p:cNvCxnSpPr>
          <p:nvPr/>
        </p:nvCxnSpPr>
        <p:spPr>
          <a:xfrm rot="10800000">
            <a:off x="6774280" y="3856659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6" name="Google Shape;4496;p203"/>
          <p:cNvCxnSpPr>
            <a:stCxn id="4485" idx="1"/>
            <a:endCxn id="4483" idx="5"/>
          </p:cNvCxnSpPr>
          <p:nvPr/>
        </p:nvCxnSpPr>
        <p:spPr>
          <a:xfrm rot="10800000">
            <a:off x="7690814" y="2968590"/>
            <a:ext cx="8991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7" name="Google Shape;4497;p203"/>
          <p:cNvCxnSpPr>
            <a:stCxn id="4484" idx="1"/>
            <a:endCxn id="4481" idx="6"/>
          </p:cNvCxnSpPr>
          <p:nvPr/>
        </p:nvCxnSpPr>
        <p:spPr>
          <a:xfrm rot="10800000">
            <a:off x="6774352" y="1857832"/>
            <a:ext cx="18156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8" name="Google Shape;4498;p203"/>
          <p:cNvCxnSpPr>
            <a:stCxn id="4481" idx="5"/>
            <a:endCxn id="4483" idx="1"/>
          </p:cNvCxnSpPr>
          <p:nvPr/>
        </p:nvCxnSpPr>
        <p:spPr>
          <a:xfrm>
            <a:off x="6726723" y="1969107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9" name="Google Shape;4499;p203"/>
          <p:cNvCxnSpPr>
            <a:stCxn id="4479" idx="7"/>
            <a:endCxn id="4481" idx="5"/>
          </p:cNvCxnSpPr>
          <p:nvPr/>
        </p:nvCxnSpPr>
        <p:spPr>
          <a:xfrm rot="10800000">
            <a:off x="6726744" y="1969132"/>
            <a:ext cx="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0" name="Google Shape;4500;p203"/>
          <p:cNvCxnSpPr>
            <a:stCxn id="4483" idx="3"/>
            <a:endCxn id="4482" idx="7"/>
          </p:cNvCxnSpPr>
          <p:nvPr/>
        </p:nvCxnSpPr>
        <p:spPr>
          <a:xfrm flipH="1">
            <a:off x="6726754" y="2968570"/>
            <a:ext cx="734400" cy="7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1" name="Google Shape;4501;p203"/>
          <p:cNvCxnSpPr>
            <a:stCxn id="4479" idx="6"/>
            <a:endCxn id="4483" idx="2"/>
          </p:cNvCxnSpPr>
          <p:nvPr/>
        </p:nvCxnSpPr>
        <p:spPr>
          <a:xfrm>
            <a:off x="6774280" y="2857201"/>
            <a:ext cx="63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02" name="Google Shape;4502;p203"/>
          <p:cNvSpPr/>
          <p:nvPr/>
        </p:nvSpPr>
        <p:spPr>
          <a:xfrm>
            <a:off x="2822275" y="3661675"/>
            <a:ext cx="34161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also means that directed graphs have only ONE average degree!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503" name="Google Shape;4503;p203"/>
          <p:cNvSpPr/>
          <p:nvPr/>
        </p:nvSpPr>
        <p:spPr>
          <a:xfrm>
            <a:off x="353650" y="3865375"/>
            <a:ext cx="1855200" cy="75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04" name="Google Shape;4504;p203"/>
          <p:cNvCxnSpPr>
            <a:stCxn id="4502" idx="2"/>
            <a:endCxn id="4503" idx="3"/>
          </p:cNvCxnSpPr>
          <p:nvPr/>
        </p:nvCxnSpPr>
        <p:spPr>
          <a:xfrm rot="10800000">
            <a:off x="2208775" y="4240675"/>
            <a:ext cx="613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\overline{k}=\frac{\sum k_i}{n}=\frac{16}{8}=2" id="4505" name="Google Shape;4505;p2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3976" y="4175025"/>
            <a:ext cx="2523874" cy="64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