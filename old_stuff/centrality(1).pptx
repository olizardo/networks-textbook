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9144000"/>
  <p:notesSz cx="6858000" cy="9144000"/>
  <p:embeddedFontLst>
    <p:embeddedFont>
      <p:font typeface="Junge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842E17-D1FB-4262-A1A7-6D7D27C48073}">
  <a:tblStyle styleId="{25842E17-D1FB-4262-A1A7-6D7D27C480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Junge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9c6663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9c6663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9c6663b7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9c6663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8749dd73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8749dd7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8749dd73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8749dd7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8749dd73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8749dd7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749dd73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749dd7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8749dd73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8749dd7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8749dd73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8749dd7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749dd73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749dd7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37d2ba1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37d2ba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37d2ba1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37d2ba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37d2ba1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37d2ba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799df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799df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799df3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799df3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799df39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799df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799df39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799df3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749dd73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8749dd7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799df39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8799df3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799df39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799df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8799df39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8799df3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8799df39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8799df3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8799df39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8799df3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8799df39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8799df3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8799df39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8799df3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799df39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8799df3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8799df39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8799df3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8799df39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8799df3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8799df39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8799df3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8799df39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8799df3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9c6663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9c6663b7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Centrality: What is it?</a:t>
            </a:r>
            <a:endParaRPr/>
          </a:p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"Central" notion in network analysis (Freeman 1979)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However, ill-defined conceptually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Intuitively, vertex-level index of </a:t>
            </a:r>
            <a:r>
              <a:rPr b="1" lang="en-US"/>
              <a:t>prominence </a:t>
            </a:r>
            <a:r>
              <a:rPr lang="en-US"/>
              <a:t>or </a:t>
            </a:r>
            <a:r>
              <a:rPr b="1" lang="en-US"/>
              <a:t>importance</a:t>
            </a:r>
            <a:endParaRPr b="1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Dozens and dozens of centrality have and continue to be proposed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Only agreement is that centrality is a vertex-level construct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Centrality: What is it?</a:t>
            </a:r>
            <a:endParaRPr/>
          </a:p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Plethora of (sometimes inconsistent) substantive interpretations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Autonomy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Control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Risk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Exposure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Influence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Belongingness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Brokerage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Independence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Power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/>
              <a:t>Strategic Location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Centrality: A coherent category?</a:t>
            </a:r>
            <a:endParaRPr/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457200" y="1600200"/>
            <a:ext cx="4941900" cy="48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Font typeface="Junge"/>
              <a:buChar char="●"/>
            </a:pPr>
            <a:r>
              <a:rPr lang="en-US" sz="2600">
                <a:latin typeface="Junge"/>
                <a:ea typeface="Junge"/>
                <a:cs typeface="Junge"/>
                <a:sym typeface="Junge"/>
              </a:rPr>
              <a:t>Is there any criterion that is definitional of the notion of a centrality index?</a:t>
            </a:r>
            <a:endParaRPr sz="2600">
              <a:latin typeface="Junge"/>
              <a:ea typeface="Junge"/>
              <a:cs typeface="Junge"/>
              <a:sym typeface="Junge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Junge"/>
              <a:buChar char="●"/>
            </a:pPr>
            <a:r>
              <a:rPr lang="en-US" sz="2600">
                <a:latin typeface="Junge"/>
                <a:ea typeface="Junge"/>
                <a:cs typeface="Junge"/>
                <a:sym typeface="Junge"/>
              </a:rPr>
              <a:t>Is there anything that all measures of centrality have in common?</a:t>
            </a:r>
            <a:endParaRPr sz="2600">
              <a:latin typeface="Junge"/>
              <a:ea typeface="Junge"/>
              <a:cs typeface="Junge"/>
              <a:sym typeface="Junge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Junge"/>
              <a:buChar char="●"/>
            </a:pPr>
            <a:r>
              <a:rPr lang="en-US" sz="2600">
                <a:latin typeface="Junge"/>
                <a:ea typeface="Junge"/>
                <a:cs typeface="Junge"/>
                <a:sym typeface="Junge"/>
              </a:rPr>
              <a:t>Are there any structural properties of a vertex that are </a:t>
            </a:r>
            <a:r>
              <a:rPr i="1" lang="en-US" sz="2600">
                <a:latin typeface="Junge"/>
                <a:ea typeface="Junge"/>
                <a:cs typeface="Junge"/>
                <a:sym typeface="Junge"/>
              </a:rPr>
              <a:t>not </a:t>
            </a:r>
            <a:r>
              <a:rPr lang="en-US" sz="2600">
                <a:latin typeface="Junge"/>
                <a:ea typeface="Junge"/>
                <a:cs typeface="Junge"/>
                <a:sym typeface="Junge"/>
              </a:rPr>
              <a:t>a centrality measure?</a:t>
            </a:r>
            <a:endParaRPr sz="26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55" name="Google Shape;5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763" y="2622441"/>
            <a:ext cx="3679381" cy="280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Radial centralities: Degree C</a:t>
            </a:r>
            <a:r>
              <a:rPr baseline="-25000" lang="en-US"/>
              <a:t>d</a:t>
            </a:r>
            <a:r>
              <a:rPr lang="en-US"/>
              <a:t>(v</a:t>
            </a:r>
            <a:r>
              <a:rPr baseline="-25000" lang="en-US"/>
              <a:t>i</a:t>
            </a:r>
            <a:r>
              <a:rPr lang="en-US"/>
              <a:t>)</a:t>
            </a:r>
            <a:endParaRPr/>
          </a:p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9144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Simplest (local) centrality measure to compute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Most criterion and face validity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Based on the original adjacency matrix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In undirected graphs: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8288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Given by the row sum vector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81000" lvl="1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In directed graphs: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8288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i="1" lang="en-US" sz="1800">
                <a:latin typeface="Junge"/>
                <a:ea typeface="Junge"/>
                <a:cs typeface="Junge"/>
                <a:sym typeface="Junge"/>
              </a:rPr>
              <a:t>Outdegree 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given by the </a:t>
            </a:r>
            <a:r>
              <a:rPr i="1" lang="en-US" sz="1800">
                <a:latin typeface="Junge"/>
                <a:ea typeface="Junge"/>
                <a:cs typeface="Junge"/>
                <a:sym typeface="Junge"/>
              </a:rPr>
              <a:t>row 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sum vector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81000" lvl="2" marL="18288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i="1" lang="en-US" sz="1800">
                <a:latin typeface="Junge"/>
                <a:ea typeface="Junge"/>
                <a:cs typeface="Junge"/>
                <a:sym typeface="Junge"/>
              </a:rPr>
              <a:t>Indegree 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given by the </a:t>
            </a:r>
            <a:r>
              <a:rPr i="1" lang="en-US" sz="1800">
                <a:latin typeface="Junge"/>
                <a:ea typeface="Junge"/>
                <a:cs typeface="Junge"/>
                <a:sym typeface="Junge"/>
              </a:rPr>
              <a:t>column 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sum vector</a:t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62" name="Google Shape;6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775" y="5246898"/>
            <a:ext cx="3660451" cy="1245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Radial centralities: K-path centrality C</a:t>
            </a:r>
            <a:r>
              <a:rPr baseline="-25000" lang="en-US"/>
              <a:t>k-path</a:t>
            </a:r>
            <a:r>
              <a:rPr lang="en-US"/>
              <a:t>(v</a:t>
            </a:r>
            <a:r>
              <a:rPr baseline="-25000" lang="en-US"/>
              <a:t>i</a:t>
            </a:r>
            <a:r>
              <a:rPr lang="en-US"/>
              <a:t>)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 sz="2800">
                <a:latin typeface="Junge"/>
                <a:ea typeface="Junge"/>
                <a:cs typeface="Junge"/>
                <a:sym typeface="Junge"/>
              </a:rPr>
              <a:t>First proposed by Sade (1989)</a:t>
            </a:r>
            <a:endParaRPr sz="2800"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 sz="2800">
                <a:latin typeface="Junge"/>
                <a:ea typeface="Junge"/>
                <a:cs typeface="Junge"/>
                <a:sym typeface="Junge"/>
              </a:rPr>
              <a:t>Given by the sum of all paths of length </a:t>
            </a:r>
            <a:r>
              <a:rPr i="1" lang="en-US" sz="2800">
                <a:latin typeface="Junge"/>
                <a:ea typeface="Junge"/>
                <a:cs typeface="Junge"/>
                <a:sym typeface="Junge"/>
              </a:rPr>
              <a:t>k</a:t>
            </a:r>
            <a:r>
              <a:rPr lang="en-US" sz="2800">
                <a:latin typeface="Junge"/>
                <a:ea typeface="Junge"/>
                <a:cs typeface="Junge"/>
                <a:sym typeface="Junge"/>
              </a:rPr>
              <a:t> that have vertex v</a:t>
            </a:r>
            <a:r>
              <a:rPr baseline="-25000" lang="en-US" sz="2800">
                <a:latin typeface="Junge"/>
                <a:ea typeface="Junge"/>
                <a:cs typeface="Junge"/>
                <a:sym typeface="Junge"/>
              </a:rPr>
              <a:t>i</a:t>
            </a:r>
            <a:r>
              <a:rPr lang="en-US" sz="2800">
                <a:latin typeface="Junge"/>
                <a:ea typeface="Junge"/>
                <a:cs typeface="Junge"/>
                <a:sym typeface="Junge"/>
              </a:rPr>
              <a:t> as their first element</a:t>
            </a:r>
            <a:endParaRPr sz="28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Can be thought of as a generalization of degree centrality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Degree centrality = 1-path centrality, since all entries in the adjacency matrix indicate a path of length 1 from i to j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Procedure: take the row sum of matrix </a:t>
            </a:r>
            <a:r>
              <a:rPr b="1" lang="en-US" sz="2000">
                <a:latin typeface="Junge"/>
                <a:ea typeface="Junge"/>
                <a:cs typeface="Junge"/>
                <a:sym typeface="Junge"/>
              </a:rPr>
              <a:t>W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, where </a:t>
            </a:r>
            <a:r>
              <a:rPr b="1" lang="en-US" sz="2000">
                <a:latin typeface="Junge"/>
                <a:ea typeface="Junge"/>
                <a:cs typeface="Junge"/>
                <a:sym typeface="Junge"/>
              </a:rPr>
              <a:t>Wij 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is the number of paths of length k from i to j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0213" y="4843501"/>
            <a:ext cx="3263575" cy="1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Radial centralities: K-path centrality C</a:t>
            </a:r>
            <a:r>
              <a:rPr baseline="-25000" lang="en-US"/>
              <a:t>k-path</a:t>
            </a:r>
            <a:r>
              <a:rPr lang="en-US"/>
              <a:t>(v</a:t>
            </a:r>
            <a:r>
              <a:rPr baseline="-25000" lang="en-US"/>
              <a:t>i</a:t>
            </a:r>
            <a:r>
              <a:rPr lang="en-US"/>
              <a:t>)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 sz="2800">
                <a:latin typeface="Junge"/>
                <a:ea typeface="Junge"/>
                <a:cs typeface="Junge"/>
                <a:sym typeface="Junge"/>
              </a:rPr>
              <a:t>Further variations of k-path centrality can be obtained by restricting the </a:t>
            </a:r>
            <a:r>
              <a:rPr i="1" lang="en-US" sz="2800">
                <a:latin typeface="Junge"/>
                <a:ea typeface="Junge"/>
                <a:cs typeface="Junge"/>
                <a:sym typeface="Junge"/>
              </a:rPr>
              <a:t>kind of path </a:t>
            </a:r>
            <a:r>
              <a:rPr lang="en-US" sz="2800">
                <a:latin typeface="Junge"/>
                <a:ea typeface="Junge"/>
                <a:cs typeface="Junge"/>
                <a:sym typeface="Junge"/>
              </a:rPr>
              <a:t>over which it is computed</a:t>
            </a:r>
            <a:endParaRPr sz="28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Geodesic (shortest paths)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k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-path centrality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Vertex disjoint (minimal cutset)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k-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path centrality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Edge-disjoint (minimal edgecut)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k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-path centrality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All of these are measures of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reachability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 (closeness)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0213" y="4843501"/>
            <a:ext cx="3263575" cy="1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Radial centralities: K-path centrality C</a:t>
            </a:r>
            <a:r>
              <a:rPr baseline="-25000" lang="en-US"/>
              <a:t>k-path</a:t>
            </a:r>
            <a:r>
              <a:rPr lang="en-US"/>
              <a:t>(v</a:t>
            </a:r>
            <a:r>
              <a:rPr baseline="-25000" lang="en-US"/>
              <a:t>i</a:t>
            </a:r>
            <a:r>
              <a:rPr lang="en-US"/>
              <a:t>)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57200" y="1600200"/>
            <a:ext cx="8289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lang="en-US" sz="2600">
                <a:latin typeface="Junge"/>
                <a:ea typeface="Junge"/>
                <a:cs typeface="Junge"/>
                <a:sym typeface="Junge"/>
              </a:rPr>
              <a:t>Even further variations remove the restriction that only true graph theoretic paths are considered:</a:t>
            </a:r>
            <a:endParaRPr sz="26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Katz's (1953) Status Index C</a:t>
            </a:r>
            <a:r>
              <a:rPr baseline="-25000" lang="en-US" sz="2200">
                <a:latin typeface="Junge"/>
                <a:ea typeface="Junge"/>
                <a:cs typeface="Junge"/>
                <a:sym typeface="Junge"/>
              </a:rPr>
              <a:t>Katz</a:t>
            </a:r>
            <a:r>
              <a:rPr lang="en-US" sz="2200">
                <a:latin typeface="Junge"/>
                <a:ea typeface="Junge"/>
                <a:cs typeface="Junge"/>
                <a:sym typeface="Junge"/>
              </a:rPr>
              <a:t>(v</a:t>
            </a:r>
            <a:r>
              <a:rPr baseline="-25000" lang="en-US" sz="2200">
                <a:latin typeface="Junge"/>
                <a:ea typeface="Junge"/>
                <a:cs typeface="Junge"/>
                <a:sym typeface="Junge"/>
              </a:rPr>
              <a:t>i</a:t>
            </a:r>
            <a:r>
              <a:rPr lang="en-US" sz="2200">
                <a:latin typeface="Junge"/>
                <a:ea typeface="Junge"/>
                <a:cs typeface="Junge"/>
                <a:sym typeface="Junge"/>
              </a:rPr>
              <a:t>) is a (weighted) sum of all </a:t>
            </a:r>
            <a:r>
              <a:rPr i="1" lang="en-US" sz="2200">
                <a:latin typeface="Junge"/>
                <a:ea typeface="Junge"/>
                <a:cs typeface="Junge"/>
                <a:sym typeface="Junge"/>
              </a:rPr>
              <a:t>walks</a:t>
            </a:r>
            <a:r>
              <a:rPr lang="en-US" sz="2200">
                <a:latin typeface="Junge"/>
                <a:ea typeface="Junge"/>
                <a:cs typeface="Junge"/>
                <a:sym typeface="Junge"/>
              </a:rPr>
              <a:t> of length </a:t>
            </a:r>
            <a:r>
              <a:rPr i="1" lang="en-US" sz="2200">
                <a:latin typeface="Junge"/>
                <a:ea typeface="Junge"/>
                <a:cs typeface="Junge"/>
                <a:sym typeface="Junge"/>
              </a:rPr>
              <a:t>k </a:t>
            </a:r>
            <a:r>
              <a:rPr lang="en-US" sz="2200">
                <a:latin typeface="Junge"/>
                <a:ea typeface="Junge"/>
                <a:cs typeface="Junge"/>
                <a:sym typeface="Junge"/>
              </a:rPr>
              <a:t>(with longer walks made to count for less) that originate at v</a:t>
            </a:r>
            <a:r>
              <a:rPr baseline="-25000" lang="en-US" sz="2200">
                <a:latin typeface="Junge"/>
                <a:ea typeface="Junge"/>
                <a:cs typeface="Junge"/>
                <a:sym typeface="Junge"/>
              </a:rPr>
              <a:t>i</a:t>
            </a:r>
            <a:endParaRPr baseline="-25000" sz="2200">
              <a:latin typeface="Junge"/>
              <a:ea typeface="Junge"/>
              <a:cs typeface="Junge"/>
              <a:sym typeface="Junge"/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■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Computationally equivalent measures have been proposed by Hubell (1965), Bonacich (1972), and Friedkin (1991)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Walk-based measures are </a:t>
            </a:r>
            <a:r>
              <a:rPr i="1" lang="en-US" sz="2200">
                <a:latin typeface="Junge"/>
                <a:ea typeface="Junge"/>
                <a:cs typeface="Junge"/>
                <a:sym typeface="Junge"/>
              </a:rPr>
              <a:t>non-local</a:t>
            </a:r>
            <a:r>
              <a:rPr lang="en-US" sz="2200">
                <a:latin typeface="Junge"/>
                <a:ea typeface="Junge"/>
                <a:cs typeface="Junge"/>
                <a:sym typeface="Junge"/>
              </a:rPr>
              <a:t>, because the centrality of a vertex becomes a function of the centrality of the vertices that can be reached from that location.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■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 These are also known as </a:t>
            </a:r>
            <a:r>
              <a:rPr i="1" lang="en-US" sz="1800">
                <a:latin typeface="Junge"/>
                <a:ea typeface="Junge"/>
                <a:cs typeface="Junge"/>
                <a:sym typeface="Junge"/>
              </a:rPr>
              <a:t>feedback 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centralities</a:t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Feedback centralities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57200" y="1600200"/>
            <a:ext cx="44802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Basic idea: A vertex is more central, the more central its neighbors are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Katz's (1953) Status Index 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Hubell's (1965) Centrality Index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Bonacich's (1972)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Eigenvector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Centrality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Friedkin's (1991)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Total Effects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Centrality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	</a:t>
            </a:r>
            <a:endParaRPr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descr="eigenvectorcentrality.png"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825" y="2249000"/>
            <a:ext cx="4005975" cy="36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Feedback centralities: Bonacich Eigevector Centrality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57200" y="1600200"/>
            <a:ext cx="84270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Bonacich's Eigenvector centrality subsumes all radial (walk-based) measures based on feedback and "total effects"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We can compute the Eigenvector centrality of a vertex (v</a:t>
            </a:r>
            <a:r>
              <a:rPr baseline="-25000" lang="en-US">
                <a:latin typeface="Junge"/>
                <a:ea typeface="Junge"/>
                <a:cs typeface="Junge"/>
                <a:sym typeface="Junge"/>
              </a:rPr>
              <a:t>i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) as follows: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Factorize the adjacency matrix A using the Singular Value Decomposition (SVD):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A = UWV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Generate vector u from the first column of the matrix U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Create a new matrix (W) where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Wij = Aij x Uj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C</a:t>
            </a:r>
            <a:r>
              <a:rPr baseline="-25000" lang="en-US" sz="1800">
                <a:latin typeface="Junge"/>
                <a:ea typeface="Junge"/>
                <a:cs typeface="Junge"/>
                <a:sym typeface="Junge"/>
              </a:rPr>
              <a:t>Eigenvector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(v</a:t>
            </a:r>
            <a:r>
              <a:rPr baseline="-25000" lang="en-US" sz="1800">
                <a:latin typeface="Junge"/>
                <a:ea typeface="Junge"/>
                <a:cs typeface="Junge"/>
                <a:sym typeface="Junge"/>
              </a:rPr>
              <a:t>i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) = the sum of the i</a:t>
            </a:r>
            <a:r>
              <a:rPr baseline="30000" lang="en-US" sz="1800">
                <a:latin typeface="Junge"/>
                <a:ea typeface="Junge"/>
                <a:cs typeface="Junge"/>
                <a:sym typeface="Junge"/>
              </a:rPr>
              <a:t>th 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row of W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	</a:t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Medial Centralities: Shortest paths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57200" y="1600200"/>
            <a:ext cx="4920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Sabidussi's (1966) closeness centrality: C</a:t>
            </a:r>
            <a:r>
              <a:rPr baseline="-25000" lang="en-US">
                <a:latin typeface="Junge"/>
                <a:ea typeface="Junge"/>
                <a:cs typeface="Junge"/>
                <a:sym typeface="Junge"/>
              </a:rPr>
              <a:t>c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(v</a:t>
            </a:r>
            <a:r>
              <a:rPr baseline="-25000" lang="en-US">
                <a:latin typeface="Junge"/>
                <a:ea typeface="Junge"/>
                <a:cs typeface="Junge"/>
                <a:sym typeface="Junge"/>
              </a:rPr>
              <a:t>i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How many other vertices can v</a:t>
            </a:r>
            <a:r>
              <a:rPr baseline="-25000" lang="en-US">
                <a:latin typeface="Junge"/>
                <a:ea typeface="Junge"/>
                <a:cs typeface="Junge"/>
                <a:sym typeface="Junge"/>
              </a:rPr>
              <a:t>i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reach easily?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Reciprocal of the sum of of the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number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of shortest paths that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originate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in v</a:t>
            </a:r>
            <a:r>
              <a:rPr baseline="-25000" lang="en-US">
                <a:latin typeface="Junge"/>
                <a:ea typeface="Junge"/>
                <a:cs typeface="Junge"/>
                <a:sym typeface="Junge"/>
              </a:rPr>
              <a:t>i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 and end in all other vertices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Only defined for connected graphs</a:t>
            </a:r>
            <a:endParaRPr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2350" y="2655225"/>
            <a:ext cx="3454450" cy="285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Medial Centralities: Shortest paths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457200" y="1600200"/>
            <a:ext cx="41337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Shimbel's (1953) "stress" centrality: C</a:t>
            </a:r>
            <a:r>
              <a:rPr baseline="-25000" lang="en-US">
                <a:latin typeface="Junge"/>
                <a:ea typeface="Junge"/>
                <a:cs typeface="Junge"/>
                <a:sym typeface="Junge"/>
              </a:rPr>
              <a:t>s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(v</a:t>
            </a:r>
            <a:r>
              <a:rPr baseline="-25000" lang="en-US">
                <a:latin typeface="Junge"/>
                <a:ea typeface="Junge"/>
                <a:cs typeface="Junge"/>
                <a:sym typeface="Junge"/>
              </a:rPr>
              <a:t>i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How much flow goes through v</a:t>
            </a:r>
            <a:r>
              <a:rPr baseline="-25000" lang="en-US">
                <a:latin typeface="Junge"/>
                <a:ea typeface="Junge"/>
                <a:cs typeface="Junge"/>
                <a:sym typeface="Junge"/>
              </a:rPr>
              <a:t>i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 in the network?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Sum of of the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number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of shortest paths in G between all other pairs of vertices {v</a:t>
            </a:r>
            <a:r>
              <a:rPr baseline="-25000" lang="en-US">
                <a:latin typeface="Junge"/>
                <a:ea typeface="Junge"/>
                <a:cs typeface="Junge"/>
                <a:sym typeface="Junge"/>
              </a:rPr>
              <a:t>j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, v</a:t>
            </a:r>
            <a:r>
              <a:rPr baseline="-25000" lang="en-US">
                <a:latin typeface="Junge"/>
                <a:ea typeface="Junge"/>
                <a:cs typeface="Junge"/>
                <a:sym typeface="Junge"/>
              </a:rPr>
              <a:t>k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} that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contain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v</a:t>
            </a:r>
            <a:r>
              <a:rPr baseline="-25000" lang="en-US">
                <a:latin typeface="Junge"/>
                <a:ea typeface="Junge"/>
                <a:cs typeface="Junge"/>
                <a:sym typeface="Junge"/>
              </a:rPr>
              <a:t>i</a:t>
            </a:r>
            <a:endParaRPr baseline="-25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000" y="2690287"/>
            <a:ext cx="3914800" cy="278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Medial Centralities: Shortest paths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457200" y="1600200"/>
            <a:ext cx="50220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Freeman's (1977) Betweenness centrality: C</a:t>
            </a:r>
            <a:r>
              <a:rPr baseline="-25000" lang="en-US">
                <a:latin typeface="Junge"/>
                <a:ea typeface="Junge"/>
                <a:cs typeface="Junge"/>
                <a:sym typeface="Junge"/>
              </a:rPr>
              <a:t>b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(v</a:t>
            </a:r>
            <a:r>
              <a:rPr baseline="-25000" lang="en-US">
                <a:latin typeface="Junge"/>
                <a:ea typeface="Junge"/>
                <a:cs typeface="Junge"/>
                <a:sym typeface="Junge"/>
              </a:rPr>
              <a:t>i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What share of the entire network flow is controlled by v</a:t>
            </a:r>
            <a:r>
              <a:rPr baseline="-25000" lang="en-US" sz="2000">
                <a:latin typeface="Junge"/>
                <a:ea typeface="Junge"/>
                <a:cs typeface="Junge"/>
                <a:sym typeface="Junge"/>
              </a:rPr>
              <a:t>i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?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Sum of of the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proportion 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of shortest paths in G between all other pairs of vertices {v</a:t>
            </a:r>
            <a:r>
              <a:rPr baseline="-25000" lang="en-US" sz="2000">
                <a:latin typeface="Junge"/>
                <a:ea typeface="Junge"/>
                <a:cs typeface="Junge"/>
                <a:sym typeface="Junge"/>
              </a:rPr>
              <a:t>j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, v</a:t>
            </a:r>
            <a:r>
              <a:rPr baseline="-25000" lang="en-US" sz="2000">
                <a:latin typeface="Junge"/>
                <a:ea typeface="Junge"/>
                <a:cs typeface="Junge"/>
                <a:sym typeface="Junge"/>
              </a:rPr>
              <a:t>k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} that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contain 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v</a:t>
            </a:r>
            <a:r>
              <a:rPr baseline="-25000" lang="en-US" sz="2000">
                <a:latin typeface="Junge"/>
                <a:ea typeface="Junge"/>
                <a:cs typeface="Junge"/>
                <a:sym typeface="Junge"/>
              </a:rPr>
              <a:t>i </a:t>
            </a:r>
            <a:endParaRPr baseline="-25000" sz="20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Defined for both connected and unconnected graphs</a:t>
            </a:r>
            <a:endParaRPr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9200" y="3872979"/>
            <a:ext cx="3589724" cy="2694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typology of centrality measures 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457200" y="1600200"/>
            <a:ext cx="7184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Centrality measures appear to cluster around some key dimensions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What they all have in common is that: 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They all somehow index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the importance of the vertex in the walk structure of the network</a:t>
            </a:r>
            <a:endParaRPr i="1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Their computation is based on a matrix the pairwise closeness, amount of interaction, reachability, etc. between all pairs of vertices in the graph</a:t>
            </a:r>
            <a:endParaRPr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dimension: Walk Position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91875" y="1600200"/>
            <a:ext cx="48078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480"/>
              </a:spcBef>
              <a:spcAft>
                <a:spcPts val="0"/>
              </a:spcAft>
              <a:buSzPts val="3000"/>
              <a:buChar char="●"/>
            </a:pPr>
            <a:r>
              <a:rPr lang="en-US" sz="2400">
                <a:latin typeface="Junge"/>
                <a:ea typeface="Junge"/>
                <a:cs typeface="Junge"/>
                <a:sym typeface="Junge"/>
              </a:rPr>
              <a:t>A vertex is central insofar as a lot of walks of a certain </a:t>
            </a:r>
            <a:r>
              <a:rPr i="1" lang="en-US" sz="2400">
                <a:latin typeface="Junge"/>
                <a:ea typeface="Junge"/>
                <a:cs typeface="Junge"/>
                <a:sym typeface="Junge"/>
              </a:rPr>
              <a:t>type</a:t>
            </a:r>
            <a:r>
              <a:rPr lang="en-US" sz="2400">
                <a:latin typeface="Junge"/>
                <a:ea typeface="Junge"/>
                <a:cs typeface="Junge"/>
                <a:sym typeface="Junge"/>
              </a:rPr>
              <a:t> either:</a:t>
            </a:r>
            <a:endParaRPr sz="24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i="1" lang="en-US" sz="2400">
                <a:latin typeface="Junge"/>
                <a:ea typeface="Junge"/>
                <a:cs typeface="Junge"/>
                <a:sym typeface="Junge"/>
              </a:rPr>
              <a:t>Feature </a:t>
            </a:r>
            <a:r>
              <a:rPr lang="en-US" sz="2400">
                <a:latin typeface="Junge"/>
                <a:ea typeface="Junge"/>
                <a:cs typeface="Junge"/>
                <a:sym typeface="Junge"/>
              </a:rPr>
              <a:t>that node as their origin (or endpoint)</a:t>
            </a:r>
            <a:endParaRPr sz="2400"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These are "radial" measures (e.g. degree)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i="1" lang="en-US" sz="2400">
                <a:latin typeface="Junge"/>
                <a:ea typeface="Junge"/>
                <a:cs typeface="Junge"/>
                <a:sym typeface="Junge"/>
              </a:rPr>
              <a:t>Contain </a:t>
            </a:r>
            <a:r>
              <a:rPr lang="en-US" sz="2400">
                <a:latin typeface="Junge"/>
                <a:ea typeface="Junge"/>
                <a:cs typeface="Junge"/>
                <a:sym typeface="Junge"/>
              </a:rPr>
              <a:t>that node in the walk sequence </a:t>
            </a:r>
            <a:endParaRPr sz="2400"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These are "medial" measures (e.g. betweenness)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477" y="2271988"/>
            <a:ext cx="3232325" cy="3624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dimension: Walk Type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91875" y="1600200"/>
            <a:ext cx="53538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48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Within the radial and medial categories we may distinguish centralities measures that either: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i="1" lang="en-US">
                <a:latin typeface="Junge"/>
                <a:ea typeface="Junge"/>
                <a:cs typeface="Junge"/>
                <a:sym typeface="Junge"/>
              </a:rPr>
              <a:t>Restrict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the type of walk to be considered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Geodesics (shortest paths)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i="1" lang="en-US">
                <a:latin typeface="Junge"/>
                <a:ea typeface="Junge"/>
                <a:cs typeface="Junge"/>
                <a:sym typeface="Junge"/>
              </a:rPr>
              <a:t>k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-paths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Trails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edge(vertex)-disjoint</a:t>
            </a:r>
            <a:endParaRPr i="1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i="1" lang="en-US">
                <a:latin typeface="Junge"/>
                <a:ea typeface="Junge"/>
                <a:cs typeface="Junge"/>
                <a:sym typeface="Junge"/>
              </a:rPr>
              <a:t>Do not restrict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the type of walk to be considered</a:t>
            </a:r>
            <a:endParaRPr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477" y="2271988"/>
            <a:ext cx="3232325" cy="3624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dimension: Walk Property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91875" y="1600200"/>
            <a:ext cx="54102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48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Finally, we can distinguish measures depending on whether we are interested in either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The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number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 of walks of a certain type that either originate or contain a vertex (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volume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Or the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size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of walks of a certain type that either originate in or contain a vertex (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length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)</a:t>
            </a:r>
            <a:endParaRPr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477" y="2271988"/>
            <a:ext cx="3232325" cy="3624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spcBef>
                <a:spcPts val="640"/>
              </a:spcBef>
              <a:spcAft>
                <a:spcPts val="0"/>
              </a:spcAft>
              <a:buSzPts val="2000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Use the original adjacency matrix </a:t>
            </a:r>
            <a:r>
              <a:rPr b="1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 to construct a matrix </a:t>
            </a:r>
            <a:r>
              <a:rPr b="1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 that summarizes the strength of dyadic interactions across all pairs nodes.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marR="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ij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= 1/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d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ij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, where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d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ij 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is the distance between node and 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 and node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j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marR="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The distance measure is determined by the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walk type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and the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walk property 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chosen: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marR="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Number of geodesics (shortest paths)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marR="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Number of k-paths (e.g. 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degree centrality is based on the number of 1-paths)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marR="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Weighted measures (vertex streng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th)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marR="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Decide on an aggregation strategy: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marR="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Sum across rows (e.g. 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j 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= ∑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ij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).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marR="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Row average (e.g. 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= 1/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k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∑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ij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)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marR="0" rtl="0" algn="l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Row median, mode, maximum, etc.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</p:txBody>
      </p:sp>
      <p:sp>
        <p:nvSpPr>
          <p:cNvPr id="154" name="Google Shape;15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compute a radial centrality measure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spcBef>
                <a:spcPts val="640"/>
              </a:spcBef>
              <a:spcAft>
                <a:spcPts val="0"/>
              </a:spcAft>
              <a:buSzPts val="2000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Use the original adjacency matrix </a:t>
            </a:r>
            <a:r>
              <a:rPr b="1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 to construct a matrix </a:t>
            </a:r>
            <a:r>
              <a:rPr b="1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 that summarizes the strength of dyadic interactions across all pairs nodes.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marR="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ij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 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may be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the total number of paths through which something can flow or be transmitted from node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 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to node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j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Construct a new matrix </a:t>
            </a:r>
            <a:r>
              <a:rPr b="1" baseline="30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k</a:t>
            </a:r>
            <a:r>
              <a:rPr b="1" lang="en-US" sz="2000">
                <a:latin typeface="Junge"/>
                <a:ea typeface="Junge"/>
                <a:cs typeface="Junge"/>
                <a:sym typeface="Junge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, with row k and column k removed (with 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k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 being the node that we are interested in computing the centrality measure for).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Construct a new matrix </a:t>
            </a:r>
            <a:r>
              <a:rPr b="1" baseline="30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k</a:t>
            </a:r>
            <a:r>
              <a:rPr b="1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W*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that summarizes the strength of dyadic interactions across all pairs nodes without including the focal node.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marR="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Compute the quantity:  C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k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=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1/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k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(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k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</a:t>
            </a:r>
            <a:r>
              <a:rPr baseline="-25000" lang="en-US" sz="2000">
                <a:latin typeface="Junge"/>
                <a:ea typeface="Junge"/>
                <a:cs typeface="Junge"/>
                <a:sym typeface="Junge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− 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k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W*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i,j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)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marR="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Repeat for each node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k</a:t>
            </a:r>
            <a:r>
              <a:rPr b="0" i="0" lang="en-US" sz="2000" u="none" cap="none" strike="noStrike">
                <a:solidFill>
                  <a:schemeClr val="dk1"/>
                </a:solidFill>
                <a:latin typeface="Junge"/>
                <a:ea typeface="Junge"/>
                <a:cs typeface="Junge"/>
                <a:sym typeface="Junge"/>
              </a:rPr>
              <a:t>.  </a:t>
            </a:r>
            <a:endParaRPr b="0" i="0" sz="2000" u="none" cap="none" strike="noStrike">
              <a:solidFill>
                <a:schemeClr val="dk1"/>
              </a:solidFill>
              <a:latin typeface="Junge"/>
              <a:ea typeface="Junge"/>
              <a:cs typeface="Junge"/>
              <a:sym typeface="Junge"/>
            </a:endParaRPr>
          </a:p>
          <a:p>
            <a:pPr indent="-222250" lvl="0" marL="8001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compute a medial centrality measure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model-based perspective on centrality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538850" y="1600200"/>
            <a:ext cx="8229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So far we have considered centrality strictly from a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graph-theoretic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 perspective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However, we may also consider centrality measures from a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model-based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 perspective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A model-based perspective leads to a classification of centrality measures based on the substantive assumptions that each measure encodes about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how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things flow through the network (e.g. step by step, via shortest-paths, over vertex-disjoint paths, unrestrictedly, etc.)</a:t>
            </a:r>
            <a:endParaRPr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classification of flow processes: Used goods 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538850" y="1600200"/>
            <a:ext cx="55932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Discrete, indivisible objects 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Flows from vertex to vertex (spreads by transfer)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Can only be under the control of one vertex at a time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The same vertex may send the object multiple times but not via a previously used edge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Object can only flow via "trails" (edge-disjoint paths) in the network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9500" y="2702500"/>
            <a:ext cx="2375075" cy="27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classification of flow processes: Money</a:t>
            </a:r>
            <a:endParaRPr/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538850" y="1600200"/>
            <a:ext cx="57210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Discrete, indivisible objects whose use value remains constant after multiple uses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Flows from vertex to vertex (spreads by transfer)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Can only be under the control of one vertex at a time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The same vertex may send the object multiple times via a previously used edge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Object flows unrestrictedly via "walks" in the network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9424" y="2637500"/>
            <a:ext cx="2607375" cy="27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classification of flow processes: Gossip</a:t>
            </a:r>
            <a:endParaRPr/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538850" y="1600200"/>
            <a:ext cx="5942400" cy="53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Discrete piece of information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Flows from vertex to vertex (spreads by transfer)  but remains under the sender control thereafter (replication)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Can exist in multiple places at once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The same vertex may send information multiple times but not via a previously used edge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Object flows via "trails" in the network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1250" y="2192800"/>
            <a:ext cx="2551676" cy="300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classification of flow processes: Email</a:t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538850" y="1600200"/>
            <a:ext cx="6124800" cy="53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Discrete piece of information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Flows from vertex to vertex (spreads by transfer)  but remains under the sender control thereafter (replication)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Can exist in multiple places at once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i="1" lang="en-US">
                <a:latin typeface="Junge"/>
                <a:ea typeface="Junge"/>
                <a:cs typeface="Junge"/>
                <a:sym typeface="Junge"/>
              </a:rPr>
              <a:t>Can be sent via multiple edges at once (parallel duplication - broadcasting)</a:t>
            </a:r>
            <a:endParaRPr i="1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The same vertex may send information multiple times but not via a previously used edge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Object flows via "trails" in the network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94" name="Google Shape;19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2050" y="3060811"/>
            <a:ext cx="2249472" cy="2449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classification of flow processes: Infection</a:t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538850" y="1600200"/>
            <a:ext cx="8281800" cy="53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Virus or infection (with immunity)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This flow process is just like information (transfer, replication)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Except that persons cannot "receive" (become affected by) the same infection twice (due to immunity)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This means that (effectively) senders only use the same edge once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Infections spread via trails</a:t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201" name="Google Shape;20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0762" y="4664414"/>
            <a:ext cx="4122489" cy="188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classification of flow processes: Packages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538850" y="1600200"/>
            <a:ext cx="5235000" cy="53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Packages have: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Fixed destination (single-path) 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Strategic selection (shortest path)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Senders only send a package once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Receivers only receive it once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Packages travel via geodesics (shortest paths) in the network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208" name="Google Shape;20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9300" y="1910575"/>
            <a:ext cx="2857500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p35"/>
          <p:cNvGraphicFramePr/>
          <p:nvPr/>
        </p:nvGraphicFramePr>
        <p:xfrm>
          <a:off x="534650" y="235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{25842E17-D1FB-4262-A1A7-6D7D27C48073}</a:tableStyleId>
              </a:tblPr>
              <a:tblGrid>
                <a:gridCol w="2018675"/>
                <a:gridCol w="2018675"/>
                <a:gridCol w="2328175"/>
                <a:gridCol w="1709175"/>
              </a:tblGrid>
              <a:tr h="397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Parallel Duplication</a:t>
                      </a:r>
                      <a:endParaRPr b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Serial Duplication</a:t>
                      </a:r>
                      <a:endParaRPr b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Transfer</a:t>
                      </a:r>
                      <a:endParaRPr b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 anchor="b"/>
                </a:tc>
              </a:tr>
              <a:tr h="4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Geodesics (SPs)</a:t>
                      </a:r>
                      <a:endParaRPr i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--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--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Package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</a:tr>
              <a:tr h="4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Paths</a:t>
                      </a:r>
                      <a:endParaRPr i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--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Virus/Infection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Mooching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</a:tr>
              <a:tr h="4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Trails</a:t>
                      </a:r>
                      <a:endParaRPr i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Email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Gossip/Information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Used Goods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</a:tr>
              <a:tr h="4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Walks</a:t>
                      </a:r>
                      <a:endParaRPr i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Influence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Emotional Support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Money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14" name="Google Shape;214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Typology of Flow Processes (Borgatti 2005: 59)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guidelines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457200" y="1600200"/>
            <a:ext cx="8204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b="1" lang="en-US">
                <a:latin typeface="Junge"/>
                <a:ea typeface="Junge"/>
                <a:cs typeface="Junge"/>
                <a:sym typeface="Junge"/>
              </a:rPr>
              <a:t>Choose a measure that corresponds to the corresponding flow process</a:t>
            </a:r>
            <a:endParaRPr b="1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For instance, closeness centrality (which assumes that flow happens by SPs) should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not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be used if you are interested in who is more central in the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gossip or information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 network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The reason for this is that information travels via trails not SPs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If the thing that flows through the network does not follow restricted walks (such as SPs) a less restrictive measure should be used (e.g. Bonacich's Eigenvector centrality)</a:t>
            </a:r>
            <a:endParaRPr sz="22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guidelines</a:t>
            </a:r>
            <a:endParaRPr/>
          </a:p>
        </p:txBody>
      </p:sp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457200" y="1600200"/>
            <a:ext cx="8122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48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Beware of the implicit assumptions built into the construction of the measure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For instance, Freeman's betweenness centrality is meant to provide you with a measure of the extent to which a given vertex </a:t>
            </a:r>
            <a:r>
              <a:rPr i="1" lang="en-US" sz="2200">
                <a:latin typeface="Junge"/>
                <a:ea typeface="Junge"/>
                <a:cs typeface="Junge"/>
                <a:sym typeface="Junge"/>
              </a:rPr>
              <a:t>monopolizes </a:t>
            </a:r>
            <a:r>
              <a:rPr lang="en-US" sz="2200">
                <a:latin typeface="Junge"/>
                <a:ea typeface="Junge"/>
                <a:cs typeface="Junge"/>
                <a:sym typeface="Junge"/>
              </a:rPr>
              <a:t>the flow between all other vertices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This makes sense if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■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Things flow serially (no broadcast)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■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Via SPs (not walks or trails)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■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It is intended for a target (flow is intentional rather than random)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■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This assumptions only apply to a very narrow range of flow processes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■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It excludes information, gossip, or emotional support</a:t>
            </a:r>
            <a:endParaRPr sz="22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guidelines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457200" y="1600200"/>
            <a:ext cx="8122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48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Centrality measures constructed from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restricted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walks (e.g. shortest paths, trails) or from the </a:t>
            </a:r>
            <a:r>
              <a:rPr i="1" lang="en-US">
                <a:latin typeface="Junge"/>
                <a:ea typeface="Junge"/>
                <a:cs typeface="Junge"/>
                <a:sym typeface="Junge"/>
              </a:rPr>
              <a:t>length </a:t>
            </a:r>
            <a:r>
              <a:rPr lang="en-US">
                <a:latin typeface="Junge"/>
                <a:ea typeface="Junge"/>
                <a:cs typeface="Junge"/>
                <a:sym typeface="Junge"/>
              </a:rPr>
              <a:t>of walks of a given type are appropriate for: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Serial, transfer-based flow processes with intended targets removed from the sender by more than one step 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This includes flows of particular objects (e.g. letters, postcards, packages)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Flow of persons (migration from country to country)</a:t>
            </a:r>
            <a:endParaRPr sz="22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guidelines</a:t>
            </a:r>
            <a:endParaRPr/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457200" y="1600200"/>
            <a:ext cx="81987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480"/>
              </a:spcBef>
              <a:spcAft>
                <a:spcPts val="0"/>
              </a:spcAft>
              <a:buSzPts val="3000"/>
              <a:buChar char="●"/>
            </a:pPr>
            <a:r>
              <a:rPr lang="en-US" sz="2600">
                <a:latin typeface="Junge"/>
                <a:ea typeface="Junge"/>
                <a:cs typeface="Junge"/>
                <a:sym typeface="Junge"/>
              </a:rPr>
              <a:t>Centrality measures constructed from </a:t>
            </a:r>
            <a:r>
              <a:rPr i="1" lang="en-US" sz="2600">
                <a:latin typeface="Junge"/>
                <a:ea typeface="Junge"/>
                <a:cs typeface="Junge"/>
                <a:sym typeface="Junge"/>
              </a:rPr>
              <a:t>unrestricted </a:t>
            </a:r>
            <a:r>
              <a:rPr lang="en-US" sz="2600">
                <a:latin typeface="Junge"/>
                <a:ea typeface="Junge"/>
                <a:cs typeface="Junge"/>
                <a:sym typeface="Junge"/>
              </a:rPr>
              <a:t>walks or from the </a:t>
            </a:r>
            <a:r>
              <a:rPr i="1" lang="en-US" sz="2600">
                <a:latin typeface="Junge"/>
                <a:ea typeface="Junge"/>
                <a:cs typeface="Junge"/>
                <a:sym typeface="Junge"/>
              </a:rPr>
              <a:t>volume</a:t>
            </a:r>
            <a:r>
              <a:rPr lang="en-US" sz="2600">
                <a:latin typeface="Junge"/>
                <a:ea typeface="Junge"/>
                <a:cs typeface="Junge"/>
                <a:sym typeface="Junge"/>
              </a:rPr>
              <a:t> of walks of a given type number  are appropriate for:</a:t>
            </a:r>
            <a:endParaRPr sz="26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Parallel, duplication-based flow processes with intended or unintended targets directly connected to the sender, and with non-intended targets farther down the line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This includes gossip, information, emotional support (intended) or disease/infection (presumably unintended)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Influence both intended (command, leadership) and unintended (obesity, depression)</a:t>
            </a:r>
            <a:endParaRPr sz="22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