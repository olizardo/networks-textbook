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bb4121a7_0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" name="Google Shape;39;gbb4121a7_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bb4121a7_0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bb4121a7_0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bb4121a7_0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bb4121a7_0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bb4121a7_05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bb4121a7_0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b4121a7_0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b4121a7_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bb4121a7_0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bb4121a7_0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bb4121a7_0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bb4121a7_0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bb4121a7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bb4121a7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bb5e49c7_0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bb5e49c7_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bb5e49c7_0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bb5e49c7_0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bb5e49c7_0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bb5e49c7_0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bb5e49c7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bb5e49c7_0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bb5e49c7_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bb5e49c7_0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1830797e66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1830797e6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1830797e66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1830797e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57200" y="751680"/>
            <a:ext cx="8229600" cy="40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200"/>
              <a:buFont typeface="Arial"/>
              <a:buNone/>
              <a:defRPr b="1" i="0" sz="72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57200" y="4955190"/>
            <a:ext cx="8229600" cy="16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b="0" i="0" sz="4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>
            <a:off x="457200" y="54864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457200" y="4844510"/>
            <a:ext cx="8229600" cy="0"/>
          </a:xfrm>
          <a:prstGeom prst="straightConnector1">
            <a:avLst/>
          </a:prstGeom>
          <a:noFill/>
          <a:ln cap="flat" cmpd="sng" w="571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17" name="Google Shape;17;p3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rgbClr val="DA0002"/>
                </a:solidFill>
              </a:defRPr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457200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sp>
        <p:nvSpPr>
          <p:cNvPr id="21" name="Google Shape;21;p4"/>
          <p:cNvSpPr txBox="1"/>
          <p:nvPr>
            <p:ph idx="2" type="body"/>
          </p:nvPr>
        </p:nvSpPr>
        <p:spPr>
          <a:xfrm>
            <a:off x="4692274" y="1600200"/>
            <a:ext cx="39945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/>
        </p:txBody>
      </p:sp>
      <p:cxnSp>
        <p:nvCxnSpPr>
          <p:cNvPr id="22" name="Google Shape;22;p4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rgbClr val="DA000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cxnSp>
        <p:nvCxnSpPr>
          <p:cNvPr id="25" name="Google Shape;25;p5"/>
          <p:cNvCxnSpPr/>
          <p:nvPr/>
        </p:nvCxnSpPr>
        <p:spPr>
          <a:xfrm>
            <a:off x="457200" y="152400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idx="1" type="body"/>
          </p:nvPr>
        </p:nvSpPr>
        <p:spPr>
          <a:xfrm>
            <a:off x="457200" y="5875079"/>
            <a:ext cx="82296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1pPr>
            <a:lvl2pPr indent="-342900" lvl="1" marL="914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2pPr>
            <a:lvl3pPr indent="-342900" lvl="2" marL="1371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3pPr>
            <a:lvl4pPr indent="-342900" lvl="3" marL="1828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4pPr>
            <a:lvl5pPr indent="-342900" lvl="4" marL="22860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5pPr>
            <a:lvl6pPr indent="-342900" lvl="5" marL="2743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6pPr>
            <a:lvl7pPr indent="-342900" lvl="6" marL="32004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solidFill>
                  <a:schemeClr val="dk1"/>
                </a:solidFill>
              </a:defRPr>
            </a:lvl7pPr>
            <a:lvl8pPr indent="-342900" lvl="7" marL="36576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sz="1800">
                <a:solidFill>
                  <a:schemeClr val="dk1"/>
                </a:solidFill>
              </a:defRPr>
            </a:lvl8pPr>
            <a:lvl9pPr indent="-342900" lvl="8" marL="411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457200" y="5757014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Google Shape;30;p7"/>
          <p:cNvCxnSpPr/>
          <p:nvPr/>
        </p:nvCxnSpPr>
        <p:spPr>
          <a:xfrm>
            <a:off x="457200" y="150852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3" name="Google Shape;33;p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Char char="●"/>
              <a:def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Char char="●"/>
              <a:def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  <a:def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88900" lvl="0" marL="0" marR="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88900" lvl="1" marL="4572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8900" lvl="2" marL="9144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8900" lvl="3" marL="13716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8900" lvl="4" marL="18288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8900" lvl="5" marL="22860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8900" lvl="6" marL="2743200" marR="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8900" lvl="7" marL="3200400" marR="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8900" lvl="8" marL="3657600" marR="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-88900" lvl="0" marL="0" rtl="0" algn="r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/>
          </a:p>
          <a:p>
            <a:pPr indent="-88900" lvl="1" marL="4572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2" marL="9144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3" marL="13716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4" marL="18288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5" marL="22860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6" marL="2743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7" marL="3200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88900" lvl="8" marL="3657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Arial"/>
              <a:buNone/>
              <a:defRPr b="1" i="0" sz="3600" u="none" cap="none" strike="noStrik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●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○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■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○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■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8" name="Google Shape;8;p1"/>
          <p:cNvCxnSpPr/>
          <p:nvPr/>
        </p:nvCxnSpPr>
        <p:spPr>
          <a:xfrm>
            <a:off x="457200" y="6697680"/>
            <a:ext cx="8229600" cy="0"/>
          </a:xfrm>
          <a:prstGeom prst="straightConnector1">
            <a:avLst/>
          </a:prstGeom>
          <a:noFill/>
          <a:ln cap="flat" cmpd="sng" w="508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</a:t>
            </a:r>
            <a:br>
              <a:rPr lang="en-US"/>
            </a:br>
            <a:r>
              <a:rPr lang="en-US"/>
              <a:t>Exponential Random Graph Models</a:t>
            </a:r>
            <a:endParaRPr/>
          </a:p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Recent “paradigm shift” (or paradigm reversion) in network modeling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From “indices” to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p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-values (let’s get published!)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Statistical techniques (and even statistical thinking) slow to take off in network analysis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Relational data structures, complex interdependencies, and confusion as to what the unit of observation is make a mockery of traditional statistical techniques built on the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conditional independence assumption</a:t>
            </a:r>
            <a:endParaRPr i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In a traditional (rectangular, persons by variables) data set: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value of the response variable Y for the ith (Yi) person (should be) conditionally independent from the corresponding value of the response for the jth person (Yj)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given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their observed scores on a vector of predictors (X):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49" name="Google Shape;4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9897" y="4732768"/>
            <a:ext cx="6862055" cy="329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It is clear that this assumption will not hold in a relational data set where the response variable is the existence of a tie between persons (Aij):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Unless the network dynamics are fully explained by exogenous characteristics (no endogenous processes)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Forms of (endogenous) dependence include, reciprocity, transitivity, community structure, degree assortativity, and others.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56" name="Google Shape;56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3175" y="4649000"/>
            <a:ext cx="723900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62" name="Google Shape;62;p12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Promise to finally get at the generative processes that govern tie formation in network; from static “pictures of structure” to a window on “generative dynamics.”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But can't really do that; statistical models don't get at generative mechanism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Promises to "model" the way in which local processes give rise to global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But can't really do that either (see Toivonen et al 2009)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Same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ERGM compatible with a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multiplicity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of global structures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457200" y="1600200"/>
            <a:ext cx="8185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Allows us to conceive of the observed relational data as a (stochastic) realization of some (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unspecified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) underlying data generating process  (DGP)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 useful way to look at all data not just “network” or “relational” data.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Allow us to separate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endogenous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from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exogenous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stochastic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(random) effects on the tie formation process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Network =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Systematic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(Endogenous + Exogenous) +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Random</a:t>
            </a:r>
            <a:endParaRPr b="1"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57200" y="1600200"/>
            <a:ext cx="8179800" cy="49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basic insight: breaking free from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The Matrix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Thought you had a “network”?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Think again. You actually just have a binary response variable.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The variable is just presented in a funky format (a g x g matrix). So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j</a:t>
            </a:r>
            <a:r>
              <a:rPr lang="en-US" sz="3000">
                <a:latin typeface="Georgia"/>
                <a:ea typeface="Georgia"/>
                <a:cs typeface="Georgia"/>
                <a:sym typeface="Georgia"/>
              </a:rPr>
              <a:t>ust “string the matrix out” into a ([g(g-1)] x 1] vector.”</a:t>
            </a:r>
            <a:endParaRPr sz="3000"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Does it look like a nail now?  Then you know what to do:  use the social scientist's hammer on it.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8755" y="2072450"/>
            <a:ext cx="5410728" cy="1241216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377119" y="3689624"/>
            <a:ext cx="8154000" cy="28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Where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is the binary vector of "responses" (o, 1)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Theta is a coefficient vector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g(y)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a vector of "graph statistics"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k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a normalizing constant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77119" y="1643885"/>
            <a:ext cx="81540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A more intuitive way to understand the  systematic (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g(y)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) part of the ERGM model is via the notion of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change statistics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In an undirected graph a change statistic vector can be defined as: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48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Where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b="1" baseline="30000" lang="en-US">
                <a:latin typeface="Georgia"/>
                <a:ea typeface="Georgia"/>
                <a:cs typeface="Georgia"/>
                <a:sym typeface="Georgia"/>
              </a:rPr>
              <a:t>+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is the network realized when we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Yij= 1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 and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y</a:t>
            </a:r>
            <a:r>
              <a:rPr b="1" baseline="30000" lang="en-US">
                <a:latin typeface="Georgia"/>
                <a:ea typeface="Georgia"/>
                <a:cs typeface="Georgia"/>
                <a:sym typeface="Georgia"/>
              </a:rPr>
              <a:t>_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is the network realized when </a:t>
            </a:r>
            <a:r>
              <a:rPr i="1" lang="en-US">
                <a:latin typeface="Georgia"/>
                <a:ea typeface="Georgia"/>
                <a:cs typeface="Georgia"/>
                <a:sym typeface="Georgia"/>
              </a:rPr>
              <a:t>Yij = 0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, while keeping the rest of the graph intact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7048" y="4027828"/>
            <a:ext cx="4014141" cy="516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77119" y="1643885"/>
            <a:ext cx="50265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Constructing an “ergum”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dependent variable is the absence or presence of a tie.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Two classes of predictor variables: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independent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intra-dyadic)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Triadic balance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inter-dyadic)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Reciprocity, Homophily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487" y="2728679"/>
            <a:ext cx="3643313" cy="364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377119" y="1643885"/>
            <a:ext cx="5026500" cy="492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Constructing an “ergum”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dependent variable is the absence or presence of a tie.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Georgia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Two classes of predictor variables: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independent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intra-dyadic)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Triadic balance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Dyad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dependent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(or inter-dyadic) processes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2" marL="1371600" rtl="0" algn="l">
              <a:spcBef>
                <a:spcPts val="0"/>
              </a:spcBef>
              <a:spcAft>
                <a:spcPts val="0"/>
              </a:spcAft>
              <a:buSzPts val="2400"/>
              <a:buFont typeface="Georgia"/>
              <a:buChar char="■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Reciprocity, Homophily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70487" y="2728679"/>
            <a:ext cx="3643313" cy="3643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" y="1600200"/>
            <a:ext cx="8229600" cy="496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19100" lvl="0" marL="457200" marR="0" rtl="0" algn="l">
              <a:spcBef>
                <a:spcPts val="640"/>
              </a:spcBef>
              <a:spcAft>
                <a:spcPts val="0"/>
              </a:spcAft>
              <a:buSzPts val="3000"/>
              <a:buChar char="●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Models that presume that the network is generated through intra-dyadic processes can be built “the dumb way:”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Run a logistic regression on the strung out network with change-score indicators (e.g. “dummy variables”) for the relevant configuration of interest as predictors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419100" lvl="0" marL="457200" marR="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The classic Erdos-Renyi “Bernoulli” model is a dyad independent</a:t>
            </a:r>
            <a:endParaRPr sz="2800"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marR="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800">
                <a:latin typeface="Georgia"/>
                <a:ea typeface="Georgia"/>
                <a:cs typeface="Georgia"/>
                <a:sym typeface="Georgia"/>
              </a:rPr>
              <a:t>The classic Holland-Leindhart “p1 model” is a (more interesting) dyad independent model</a:t>
            </a:r>
            <a:endParaRPr b="0" i="0" sz="2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08" name="Google Shape;10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4887011" y="1661613"/>
            <a:ext cx="29289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Edge formation probability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5383711" y="5500702"/>
            <a:ext cx="12873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Mutuality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6565195" y="3116350"/>
            <a:ext cx="16431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Expansiveness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0"/>
          <p:cNvSpPr txBox="1"/>
          <p:nvPr/>
        </p:nvSpPr>
        <p:spPr>
          <a:xfrm>
            <a:off x="7598233" y="5715016"/>
            <a:ext cx="1303200" cy="36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Popularity</a:t>
            </a:r>
            <a:endParaRPr b="0" i="0" sz="1800" u="none" cap="none" strike="noStrike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cxnSp>
        <p:nvCxnSpPr>
          <p:cNvPr id="118" name="Google Shape;118;p20"/>
          <p:cNvCxnSpPr>
            <a:stCxn id="114" idx="2"/>
          </p:cNvCxnSpPr>
          <p:nvPr/>
        </p:nvCxnSpPr>
        <p:spPr>
          <a:xfrm flipH="1">
            <a:off x="6335261" y="2030913"/>
            <a:ext cx="16200" cy="51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8249" y="2544513"/>
            <a:ext cx="530542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992" y="4097710"/>
            <a:ext cx="8116016" cy="62324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20"/>
          <p:cNvCxnSpPr>
            <a:stCxn id="116" idx="2"/>
          </p:cNvCxnSpPr>
          <p:nvPr/>
        </p:nvCxnSpPr>
        <p:spPr>
          <a:xfrm>
            <a:off x="7386745" y="3485650"/>
            <a:ext cx="2700" cy="67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2" name="Google Shape;122;p20"/>
          <p:cNvCxnSpPr>
            <a:stCxn id="115" idx="0"/>
          </p:cNvCxnSpPr>
          <p:nvPr/>
        </p:nvCxnSpPr>
        <p:spPr>
          <a:xfrm rot="10800000">
            <a:off x="6021361" y="4635802"/>
            <a:ext cx="6000" cy="86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3" name="Google Shape;123;p20"/>
          <p:cNvCxnSpPr>
            <a:stCxn id="117" idx="0"/>
          </p:cNvCxnSpPr>
          <p:nvPr/>
        </p:nvCxnSpPr>
        <p:spPr>
          <a:xfrm flipH="1" rot="10800000">
            <a:off x="8249833" y="4601116"/>
            <a:ext cx="11100" cy="1113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Models that presume that the network is generated through intra-dyadic and inter-dyadic processes have to built the “smart” way.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Markov Chain Monte Carlo (MCMC) Estimation.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Why the complication?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32354" y="4467892"/>
            <a:ext cx="4248393" cy="2413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Predictors are direct functions of the response variable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 existence of a triadic or higher order structure is dependent on the i-&gt;j link).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Makes this class of ERGMs an </a:t>
            </a:r>
            <a:r>
              <a:rPr b="1" lang="en-US">
                <a:latin typeface="Georgia"/>
                <a:ea typeface="Georgia"/>
                <a:cs typeface="Georgia"/>
                <a:sym typeface="Georgia"/>
              </a:rPr>
              <a:t>autoregressive </a:t>
            </a:r>
            <a:r>
              <a:rPr lang="en-US">
                <a:latin typeface="Georgia"/>
                <a:ea typeface="Georgia"/>
                <a:cs typeface="Georgia"/>
                <a:sym typeface="Georgia"/>
              </a:rPr>
              <a:t>model.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37" name="Google Shape;13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0700" y="4821625"/>
            <a:ext cx="5562600" cy="8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ERGMs (ergums) Exponential Random Graph Models</a:t>
            </a:r>
            <a:endParaRPr/>
          </a:p>
        </p:txBody>
      </p:sp>
      <p:sp>
        <p:nvSpPr>
          <p:cNvPr id="143" name="Google Shape;143;p23"/>
          <p:cNvSpPr txBox="1"/>
          <p:nvPr>
            <p:ph idx="1" type="body"/>
          </p:nvPr>
        </p:nvSpPr>
        <p:spPr>
          <a:xfrm>
            <a:off x="457200" y="1600200"/>
            <a:ext cx="8198700" cy="286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Predictors are direct functions of the response variable </a:t>
            </a:r>
            <a:endParaRPr>
              <a:latin typeface="Georgia"/>
              <a:ea typeface="Georgia"/>
              <a:cs typeface="Georgia"/>
              <a:sym typeface="Georgia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>
                <a:latin typeface="Georgia"/>
                <a:ea typeface="Georgia"/>
                <a:cs typeface="Georgia"/>
                <a:sym typeface="Georgia"/>
              </a:rPr>
              <a:t>These models are somewhat cumbersome to build, because the specification of each “variable” requires some sort of cycling through the network.</a:t>
            </a:r>
            <a:endParaRPr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144" name="Google Shape;14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8662" y="4000504"/>
            <a:ext cx="7580591" cy="428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3042" y="4929198"/>
            <a:ext cx="5715000" cy="14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246023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wiss">
  <a:themeElements>
    <a:clrScheme name="Custom 218">
      <a:dk1>
        <a:srgbClr val="000000"/>
      </a:dk1>
      <a:lt1>
        <a:srgbClr val="FFFFFF"/>
      </a:lt1>
      <a:dk2>
        <a:srgbClr val="5B595A"/>
      </a:dk2>
      <a:lt2>
        <a:srgbClr val="CFD4D4"/>
      </a:lt2>
      <a:accent1>
        <a:srgbClr val="CC0202"/>
      </a:accent1>
      <a:accent2>
        <a:srgbClr val="228AFF"/>
      </a:accent2>
      <a:accent3>
        <a:srgbClr val="FBC82F"/>
      </a:accent3>
      <a:accent4>
        <a:srgbClr val="253E91"/>
      </a:accent4>
      <a:accent5>
        <a:srgbClr val="F68D0C"/>
      </a:accent5>
      <a:accent6>
        <a:srgbClr val="257E12"/>
      </a:accent6>
      <a:hlink>
        <a:srgbClr val="144C72"/>
      </a:hlink>
      <a:folHlink>
        <a:srgbClr val="8C9D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