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Merriweather"/>
      <p:regular r:id="rId18"/>
      <p:bold r:id="rId19"/>
      <p:italic r:id="rId20"/>
      <p:boldItalic r:id="rId21"/>
    </p:embeddedFont>
    <p:embeddedFont>
      <p:font typeface="DM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italic.fntdata"/><Relationship Id="rId22" Type="http://schemas.openxmlformats.org/officeDocument/2006/relationships/font" Target="fonts/DMSans-regular.fntdata"/><Relationship Id="rId21" Type="http://schemas.openxmlformats.org/officeDocument/2006/relationships/font" Target="fonts/Merriweather-boldItalic.fntdata"/><Relationship Id="rId24" Type="http://schemas.openxmlformats.org/officeDocument/2006/relationships/font" Target="fonts/DMSans-italic.fntdata"/><Relationship Id="rId23" Type="http://schemas.openxmlformats.org/officeDocument/2006/relationships/font" Target="fonts/DM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DM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erriweather-bold.fntdata"/><Relationship Id="rId18" Type="http://schemas.openxmlformats.org/officeDocument/2006/relationships/font" Target="fonts/Merriweath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13.png"/><Relationship Id="rId6" Type="http://schemas.openxmlformats.org/officeDocument/2006/relationships/image" Target="../media/image1.png"/><Relationship Id="rId7"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7.png"/><Relationship Id="rId6" Type="http://schemas.openxmlformats.org/officeDocument/2006/relationships/image" Target="../media/image16.png"/><Relationship Id="rId7"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B5C"/>
        </a:solidFill>
      </p:bgPr>
    </p:bg>
    <p:spTree>
      <p:nvGrpSpPr>
        <p:cNvPr id="83" name="Shape 83"/>
        <p:cNvGrpSpPr/>
        <p:nvPr/>
      </p:nvGrpSpPr>
      <p:grpSpPr>
        <a:xfrm>
          <a:off x="0" y="0"/>
          <a:ext cx="0" cy="0"/>
          <a:chOff x="0" y="0"/>
          <a:chExt cx="0" cy="0"/>
        </a:xfrm>
      </p:grpSpPr>
      <p:sp>
        <p:nvSpPr>
          <p:cNvPr id="84" name="Google Shape;84;p13"/>
          <p:cNvSpPr txBox="1"/>
          <p:nvPr/>
        </p:nvSpPr>
        <p:spPr>
          <a:xfrm>
            <a:off x="1595437" y="1993701"/>
            <a:ext cx="9001125" cy="1645741"/>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400" u="none" cap="none" strike="noStrike">
                <a:solidFill>
                  <a:srgbClr val="FFD100"/>
                </a:solidFill>
                <a:latin typeface="Merriweather"/>
                <a:ea typeface="Merriweather"/>
                <a:cs typeface="Merriweather"/>
                <a:sym typeface="Merriweather"/>
              </a:rPr>
              <a:t>Interdependent Sampling &amp; Social Influence</a:t>
            </a:r>
            <a:endParaRPr/>
          </a:p>
        </p:txBody>
      </p:sp>
      <p:sp>
        <p:nvSpPr>
          <p:cNvPr id="85" name="Google Shape;85;p13"/>
          <p:cNvSpPr txBox="1"/>
          <p:nvPr/>
        </p:nvSpPr>
        <p:spPr>
          <a:xfrm>
            <a:off x="2505075" y="3782317"/>
            <a:ext cx="7181850"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F9F6EE"/>
                </a:solidFill>
                <a:latin typeface="DM Sans"/>
                <a:ea typeface="DM Sans"/>
                <a:cs typeface="DM Sans"/>
                <a:sym typeface="DM Sans"/>
              </a:rPr>
              <a:t>A framework for understanding indirect attitude alignment</a:t>
            </a:r>
            <a:endParaRPr/>
          </a:p>
        </p:txBody>
      </p:sp>
      <p:sp>
        <p:nvSpPr>
          <p:cNvPr id="86" name="Google Shape;86;p13"/>
          <p:cNvSpPr txBox="1"/>
          <p:nvPr/>
        </p:nvSpPr>
        <p:spPr>
          <a:xfrm>
            <a:off x="3448050" y="4590008"/>
            <a:ext cx="52959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F9F6EE"/>
                </a:solidFill>
                <a:latin typeface="DM Sans"/>
                <a:ea typeface="DM Sans"/>
                <a:cs typeface="DM Sans"/>
                <a:sym typeface="DM Sans"/>
              </a:rPr>
              <a:t>Based on Denrell &amp; Le Mens (2007) • UCLA Social Network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EE"/>
        </a:solidFill>
      </p:bgPr>
    </p:bg>
    <p:spTree>
      <p:nvGrpSpPr>
        <p:cNvPr id="90" name="Shape 90"/>
        <p:cNvGrpSpPr/>
        <p:nvPr/>
      </p:nvGrpSpPr>
      <p:grpSpPr>
        <a:xfrm>
          <a:off x="0" y="0"/>
          <a:ext cx="0" cy="0"/>
          <a:chOff x="0" y="0"/>
          <a:chExt cx="0" cy="0"/>
        </a:xfrm>
      </p:grpSpPr>
      <p:sp>
        <p:nvSpPr>
          <p:cNvPr id="91" name="Google Shape;91;p14"/>
          <p:cNvSpPr/>
          <p:nvPr/>
        </p:nvSpPr>
        <p:spPr>
          <a:xfrm>
            <a:off x="5524500" y="2543175"/>
            <a:ext cx="1143000" cy="57150"/>
          </a:xfrm>
          <a:prstGeom prst="rect">
            <a:avLst/>
          </a:prstGeom>
          <a:solidFill>
            <a:srgbClr val="FFD1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 name="Google Shape;92;p14"/>
          <p:cNvSpPr txBox="1"/>
          <p:nvPr/>
        </p:nvSpPr>
        <p:spPr>
          <a:xfrm>
            <a:off x="3565683" y="2886075"/>
            <a:ext cx="5060632" cy="73149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003B5C"/>
                </a:solidFill>
                <a:latin typeface="Merriweather"/>
                <a:ea typeface="Merriweather"/>
                <a:cs typeface="Merriweather"/>
                <a:sym typeface="Merriweather"/>
              </a:rPr>
              <a:t>The Core Puzzle</a:t>
            </a:r>
            <a:endParaRPr/>
          </a:p>
        </p:txBody>
      </p:sp>
      <p:sp>
        <p:nvSpPr>
          <p:cNvPr id="93" name="Google Shape;93;p14"/>
          <p:cNvSpPr txBox="1"/>
          <p:nvPr/>
        </p:nvSpPr>
        <p:spPr>
          <a:xfrm>
            <a:off x="2286000" y="3808065"/>
            <a:ext cx="7620000" cy="7923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1E293B"/>
                </a:solidFill>
                <a:latin typeface="DM Sans"/>
                <a:ea typeface="DM Sans"/>
                <a:cs typeface="DM Sans"/>
                <a:sym typeface="DM Sans"/>
              </a:rPr>
              <a:t>Why do socially proximate individuals consistently develop similar attitudes and preferences, even in randomly assigned settings?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B5C"/>
        </a:solidFill>
      </p:bgPr>
    </p:bg>
    <p:spTree>
      <p:nvGrpSpPr>
        <p:cNvPr id="97" name="Shape 97"/>
        <p:cNvGrpSpPr/>
        <p:nvPr/>
      </p:nvGrpSpPr>
      <p:grpSpPr>
        <a:xfrm>
          <a:off x="0" y="0"/>
          <a:ext cx="0" cy="0"/>
          <a:chOff x="0" y="0"/>
          <a:chExt cx="0" cy="0"/>
        </a:xfrm>
      </p:grpSpPr>
      <p:pic>
        <p:nvPicPr>
          <p:cNvPr descr="image.png" id="98" name="Google Shape;98;p15"/>
          <p:cNvPicPr preferRelativeResize="0"/>
          <p:nvPr/>
        </p:nvPicPr>
        <p:blipFill rotWithShape="1">
          <a:blip r:embed="rId3">
            <a:alphaModFix/>
          </a:blip>
          <a:srcRect b="0" l="0" r="0" t="0"/>
          <a:stretch/>
        </p:blipFill>
        <p:spPr>
          <a:xfrm>
            <a:off x="571500" y="1789807"/>
            <a:ext cx="3429000" cy="4303216"/>
          </a:xfrm>
          <a:prstGeom prst="rect">
            <a:avLst/>
          </a:prstGeom>
          <a:noFill/>
          <a:ln>
            <a:noFill/>
          </a:ln>
        </p:spPr>
      </p:pic>
      <p:pic>
        <p:nvPicPr>
          <p:cNvPr descr="image.png" id="99" name="Google Shape;99;p15"/>
          <p:cNvPicPr preferRelativeResize="0"/>
          <p:nvPr/>
        </p:nvPicPr>
        <p:blipFill rotWithShape="1">
          <a:blip r:embed="rId4">
            <a:alphaModFix/>
          </a:blip>
          <a:srcRect b="0" l="0" r="0" t="0"/>
          <a:stretch/>
        </p:blipFill>
        <p:spPr>
          <a:xfrm>
            <a:off x="4381500" y="1789807"/>
            <a:ext cx="3429000" cy="4303216"/>
          </a:xfrm>
          <a:prstGeom prst="rect">
            <a:avLst/>
          </a:prstGeom>
          <a:noFill/>
          <a:ln>
            <a:noFill/>
          </a:ln>
        </p:spPr>
      </p:pic>
      <p:pic>
        <p:nvPicPr>
          <p:cNvPr descr="image.png" id="100" name="Google Shape;100;p15"/>
          <p:cNvPicPr preferRelativeResize="0"/>
          <p:nvPr/>
        </p:nvPicPr>
        <p:blipFill rotWithShape="1">
          <a:blip r:embed="rId4">
            <a:alphaModFix/>
          </a:blip>
          <a:srcRect b="0" l="0" r="0" t="0"/>
          <a:stretch/>
        </p:blipFill>
        <p:spPr>
          <a:xfrm>
            <a:off x="8191500" y="1789807"/>
            <a:ext cx="3429000" cy="4303216"/>
          </a:xfrm>
          <a:prstGeom prst="rect">
            <a:avLst/>
          </a:prstGeom>
          <a:noFill/>
          <a:ln>
            <a:noFill/>
          </a:ln>
        </p:spPr>
      </p:pic>
      <p:sp>
        <p:nvSpPr>
          <p:cNvPr id="101" name="Google Shape;101;p15"/>
          <p:cNvSpPr txBox="1"/>
          <p:nvPr/>
        </p:nvSpPr>
        <p:spPr>
          <a:xfrm>
            <a:off x="571500" y="47625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FD100"/>
                </a:solidFill>
                <a:latin typeface="Merriweather"/>
                <a:ea typeface="Merriweather"/>
                <a:cs typeface="Merriweather"/>
                <a:sym typeface="Merriweather"/>
              </a:rPr>
              <a:t>Traditional Explanations</a:t>
            </a:r>
            <a:endParaRPr/>
          </a:p>
        </p:txBody>
      </p:sp>
      <p:sp>
        <p:nvSpPr>
          <p:cNvPr id="102" name="Google Shape;102;p15"/>
          <p:cNvSpPr txBox="1"/>
          <p:nvPr/>
        </p:nvSpPr>
        <p:spPr>
          <a:xfrm>
            <a:off x="952500" y="3009007"/>
            <a:ext cx="2800350"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03B5C"/>
                </a:solidFill>
                <a:latin typeface="Merriweather"/>
                <a:ea typeface="Merriweather"/>
                <a:cs typeface="Merriweather"/>
                <a:sym typeface="Merriweather"/>
              </a:rPr>
              <a:t>Accuracy Motive</a:t>
            </a:r>
            <a:endParaRPr/>
          </a:p>
        </p:txBody>
      </p:sp>
      <p:sp>
        <p:nvSpPr>
          <p:cNvPr id="103" name="Google Shape;103;p15"/>
          <p:cNvSpPr txBox="1"/>
          <p:nvPr/>
        </p:nvSpPr>
        <p:spPr>
          <a:xfrm>
            <a:off x="952500" y="3517552"/>
            <a:ext cx="266700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Individuals believe that others have access to more or better information. Agreeing with the group is a heuristic for forming an accurate perception of reality.</a:t>
            </a:r>
            <a:endParaRPr/>
          </a:p>
        </p:txBody>
      </p:sp>
      <p:sp>
        <p:nvSpPr>
          <p:cNvPr id="104" name="Google Shape;104;p15"/>
          <p:cNvSpPr txBox="1"/>
          <p:nvPr/>
        </p:nvSpPr>
        <p:spPr>
          <a:xfrm>
            <a:off x="4762500" y="3009007"/>
            <a:ext cx="2800350" cy="731341"/>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03B5C"/>
                </a:solidFill>
                <a:latin typeface="Merriweather"/>
                <a:ea typeface="Merriweather"/>
                <a:cs typeface="Merriweather"/>
                <a:sym typeface="Merriweather"/>
              </a:rPr>
              <a:t>Normative Motive</a:t>
            </a:r>
            <a:endParaRPr/>
          </a:p>
        </p:txBody>
      </p:sp>
      <p:sp>
        <p:nvSpPr>
          <p:cNvPr id="105" name="Google Shape;105;p15"/>
          <p:cNvSpPr txBox="1"/>
          <p:nvPr/>
        </p:nvSpPr>
        <p:spPr>
          <a:xfrm>
            <a:off x="4762500" y="3883223"/>
            <a:ext cx="266700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Individuals comply to ensure satisfactory relationships. Expressing deviant opinions may lead to social sanctions, motivating conformity to get along.</a:t>
            </a:r>
            <a:endParaRPr/>
          </a:p>
        </p:txBody>
      </p:sp>
      <p:sp>
        <p:nvSpPr>
          <p:cNvPr id="106" name="Google Shape;106;p15"/>
          <p:cNvSpPr txBox="1"/>
          <p:nvPr/>
        </p:nvSpPr>
        <p:spPr>
          <a:xfrm>
            <a:off x="8572500" y="3009007"/>
            <a:ext cx="2800350"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03B5C"/>
                </a:solidFill>
                <a:latin typeface="Merriweather"/>
                <a:ea typeface="Merriweather"/>
                <a:cs typeface="Merriweather"/>
                <a:sym typeface="Merriweather"/>
              </a:rPr>
              <a:t>Identity Motive</a:t>
            </a:r>
            <a:endParaRPr/>
          </a:p>
        </p:txBody>
      </p:sp>
      <p:sp>
        <p:nvSpPr>
          <p:cNvPr id="107" name="Google Shape;107;p15"/>
          <p:cNvSpPr txBox="1"/>
          <p:nvPr/>
        </p:nvSpPr>
        <p:spPr>
          <a:xfrm>
            <a:off x="8572500" y="3517552"/>
            <a:ext cx="266700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Individuals shift attitudes to align with valued reference groups to ensure a favorable evaluation of the self and strengthen in-group identification.</a:t>
            </a:r>
            <a:endParaRPr/>
          </a:p>
        </p:txBody>
      </p:sp>
      <p:pic>
        <p:nvPicPr>
          <p:cNvPr descr="image.png" id="108" name="Google Shape;108;p15"/>
          <p:cNvPicPr preferRelativeResize="0"/>
          <p:nvPr/>
        </p:nvPicPr>
        <p:blipFill rotWithShape="1">
          <a:blip r:embed="rId5">
            <a:alphaModFix/>
          </a:blip>
          <a:srcRect b="0" l="0" r="0" t="0"/>
          <a:stretch/>
        </p:blipFill>
        <p:spPr>
          <a:xfrm>
            <a:off x="952500" y="2227957"/>
            <a:ext cx="457200" cy="457200"/>
          </a:xfrm>
          <a:prstGeom prst="rect">
            <a:avLst/>
          </a:prstGeom>
          <a:noFill/>
          <a:ln>
            <a:noFill/>
          </a:ln>
        </p:spPr>
      </p:pic>
      <p:pic>
        <p:nvPicPr>
          <p:cNvPr descr="image.png" id="109" name="Google Shape;109;p15"/>
          <p:cNvPicPr preferRelativeResize="0"/>
          <p:nvPr/>
        </p:nvPicPr>
        <p:blipFill rotWithShape="1">
          <a:blip r:embed="rId6">
            <a:alphaModFix/>
          </a:blip>
          <a:srcRect b="0" l="0" r="0" t="0"/>
          <a:stretch/>
        </p:blipFill>
        <p:spPr>
          <a:xfrm>
            <a:off x="4762500" y="2227957"/>
            <a:ext cx="571500" cy="457200"/>
          </a:xfrm>
          <a:prstGeom prst="rect">
            <a:avLst/>
          </a:prstGeom>
          <a:noFill/>
          <a:ln>
            <a:noFill/>
          </a:ln>
        </p:spPr>
      </p:pic>
      <p:pic>
        <p:nvPicPr>
          <p:cNvPr descr="image.png" id="110" name="Google Shape;110;p15"/>
          <p:cNvPicPr preferRelativeResize="0"/>
          <p:nvPr/>
        </p:nvPicPr>
        <p:blipFill rotWithShape="1">
          <a:blip r:embed="rId7">
            <a:alphaModFix/>
          </a:blip>
          <a:srcRect b="0" l="0" r="0" t="0"/>
          <a:stretch/>
        </p:blipFill>
        <p:spPr>
          <a:xfrm>
            <a:off x="8572500" y="2227957"/>
            <a:ext cx="342900" cy="457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EE"/>
        </a:solidFill>
      </p:bgPr>
    </p:bg>
    <p:spTree>
      <p:nvGrpSpPr>
        <p:cNvPr id="114" name="Shape 114"/>
        <p:cNvGrpSpPr/>
        <p:nvPr/>
      </p:nvGrpSpPr>
      <p:grpSpPr>
        <a:xfrm>
          <a:off x="0" y="0"/>
          <a:ext cx="0" cy="0"/>
          <a:chOff x="0" y="0"/>
          <a:chExt cx="0" cy="0"/>
        </a:xfrm>
      </p:grpSpPr>
      <p:pic>
        <p:nvPicPr>
          <p:cNvPr descr="image.png" id="115" name="Google Shape;115;p16"/>
          <p:cNvPicPr preferRelativeResize="0"/>
          <p:nvPr/>
        </p:nvPicPr>
        <p:blipFill rotWithShape="1">
          <a:blip r:embed="rId3">
            <a:alphaModFix/>
          </a:blip>
          <a:srcRect b="0" l="0" r="0" t="0"/>
          <a:stretch/>
        </p:blipFill>
        <p:spPr>
          <a:xfrm>
            <a:off x="6381750" y="2036266"/>
            <a:ext cx="5238750" cy="3810000"/>
          </a:xfrm>
          <a:prstGeom prst="rect">
            <a:avLst/>
          </a:prstGeom>
          <a:noFill/>
          <a:ln>
            <a:noFill/>
          </a:ln>
        </p:spPr>
      </p:pic>
      <p:sp>
        <p:nvSpPr>
          <p:cNvPr id="116" name="Google Shape;116;p16"/>
          <p:cNvSpPr txBox="1"/>
          <p:nvPr/>
        </p:nvSpPr>
        <p:spPr>
          <a:xfrm>
            <a:off x="571500" y="47625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03B5C"/>
                </a:solidFill>
                <a:latin typeface="Merriweather"/>
                <a:ea typeface="Merriweather"/>
                <a:cs typeface="Merriweather"/>
                <a:sym typeface="Merriweather"/>
              </a:rPr>
              <a:t>A New Perspective</a:t>
            </a:r>
            <a:endParaRPr/>
          </a:p>
        </p:txBody>
      </p:sp>
      <p:sp>
        <p:nvSpPr>
          <p:cNvPr id="117" name="Google Shape;117;p16"/>
          <p:cNvSpPr txBox="1"/>
          <p:nvPr/>
        </p:nvSpPr>
        <p:spPr>
          <a:xfrm>
            <a:off x="571500" y="1910655"/>
            <a:ext cx="523875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005B96"/>
                </a:solidFill>
                <a:latin typeface="DM Sans"/>
                <a:ea typeface="DM Sans"/>
                <a:cs typeface="DM Sans"/>
                <a:sym typeface="DM Sans"/>
              </a:rPr>
              <a:t>Indirect Influence via Behavior</a:t>
            </a:r>
            <a:endParaRPr/>
          </a:p>
        </p:txBody>
      </p:sp>
      <p:pic>
        <p:nvPicPr>
          <p:cNvPr descr="image.png" id="118" name="Google Shape;118;p16"/>
          <p:cNvPicPr preferRelativeResize="0"/>
          <p:nvPr/>
        </p:nvPicPr>
        <p:blipFill rotWithShape="1">
          <a:blip r:embed="rId4">
            <a:alphaModFix/>
          </a:blip>
          <a:srcRect b="0" l="0" r="0" t="0"/>
          <a:stretch/>
        </p:blipFill>
        <p:spPr>
          <a:xfrm>
            <a:off x="6381750" y="2036266"/>
            <a:ext cx="5238750" cy="3810000"/>
          </a:xfrm>
          <a:prstGeom prst="rect">
            <a:avLst/>
          </a:prstGeom>
          <a:noFill/>
          <a:ln>
            <a:noFill/>
          </a:ln>
        </p:spPr>
      </p:pic>
      <p:sp>
        <p:nvSpPr>
          <p:cNvPr id="119" name="Google Shape;119;p16"/>
          <p:cNvSpPr txBox="1"/>
          <p:nvPr/>
        </p:nvSpPr>
        <p:spPr>
          <a:xfrm>
            <a:off x="790575" y="2619226"/>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DM Sans"/>
                <a:ea typeface="DM Sans"/>
                <a:cs typeface="DM Sans"/>
                <a:sym typeface="DM Sans"/>
              </a:rPr>
              <a:t>•</a:t>
            </a:r>
            <a:endParaRPr/>
          </a:p>
        </p:txBody>
      </p:sp>
      <p:sp>
        <p:nvSpPr>
          <p:cNvPr id="120" name="Google Shape;120;p16"/>
          <p:cNvSpPr txBox="1"/>
          <p:nvPr/>
        </p:nvSpPr>
        <p:spPr>
          <a:xfrm>
            <a:off x="857250" y="2619226"/>
            <a:ext cx="4953000"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Existing theories focus on why A changes their mind when learning B's attitude.</a:t>
            </a:r>
            <a:endParaRPr/>
          </a:p>
        </p:txBody>
      </p:sp>
      <p:sp>
        <p:nvSpPr>
          <p:cNvPr id="121" name="Google Shape;121;p16"/>
          <p:cNvSpPr txBox="1"/>
          <p:nvPr/>
        </p:nvSpPr>
        <p:spPr>
          <a:xfrm>
            <a:off x="790575" y="3343126"/>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DM Sans"/>
                <a:ea typeface="DM Sans"/>
                <a:cs typeface="DM Sans"/>
                <a:sym typeface="DM Sans"/>
              </a:rPr>
              <a:t>•</a:t>
            </a:r>
            <a:endParaRPr/>
          </a:p>
        </p:txBody>
      </p:sp>
      <p:sp>
        <p:nvSpPr>
          <p:cNvPr id="122" name="Google Shape;122;p16"/>
          <p:cNvSpPr txBox="1"/>
          <p:nvPr/>
        </p:nvSpPr>
        <p:spPr>
          <a:xfrm>
            <a:off x="857250" y="3343126"/>
            <a:ext cx="4953000"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Denrell &amp; Le Mens propose an </a:t>
            </a:r>
            <a:r>
              <a:rPr b="1" i="0" lang="en-US" sz="1500" u="none" cap="none" strike="noStrike">
                <a:solidFill>
                  <a:srgbClr val="1E293B"/>
                </a:solidFill>
                <a:latin typeface="DM Sans"/>
                <a:ea typeface="DM Sans"/>
                <a:cs typeface="DM Sans"/>
                <a:sym typeface="DM Sans"/>
              </a:rPr>
              <a:t>indirect</a:t>
            </a:r>
            <a:r>
              <a:rPr b="0" i="0" lang="en-US" sz="1500" u="none" cap="none" strike="noStrike">
                <a:solidFill>
                  <a:srgbClr val="1E293B"/>
                </a:solidFill>
                <a:latin typeface="DM Sans"/>
                <a:ea typeface="DM Sans"/>
                <a:cs typeface="DM Sans"/>
                <a:sym typeface="DM Sans"/>
              </a:rPr>
              <a:t> effect: B's attitude dictates </a:t>
            </a:r>
            <a:r>
              <a:rPr b="0" i="1" lang="en-US" sz="1500" u="none" cap="none" strike="noStrike">
                <a:solidFill>
                  <a:srgbClr val="1E293B"/>
                </a:solidFill>
                <a:latin typeface="DM Sans"/>
                <a:ea typeface="DM Sans"/>
                <a:cs typeface="DM Sans"/>
                <a:sym typeface="DM Sans"/>
              </a:rPr>
              <a:t>what A experiences</a:t>
            </a:r>
            <a:r>
              <a:rPr b="0" i="0" lang="en-US" sz="1500" u="none" cap="none" strike="noStrike">
                <a:solidFill>
                  <a:srgbClr val="1E293B"/>
                </a:solidFill>
                <a:latin typeface="DM Sans"/>
                <a:ea typeface="DM Sans"/>
                <a:cs typeface="DM Sans"/>
                <a:sym typeface="DM Sans"/>
              </a:rPr>
              <a:t>.</a:t>
            </a:r>
            <a:endParaRPr/>
          </a:p>
        </p:txBody>
      </p:sp>
      <p:sp>
        <p:nvSpPr>
          <p:cNvPr id="123" name="Google Shape;123;p16"/>
          <p:cNvSpPr txBox="1"/>
          <p:nvPr/>
        </p:nvSpPr>
        <p:spPr>
          <a:xfrm>
            <a:off x="790575" y="4067026"/>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DM Sans"/>
                <a:ea typeface="DM Sans"/>
                <a:cs typeface="DM Sans"/>
                <a:sym typeface="DM Sans"/>
              </a:rPr>
              <a:t>•</a:t>
            </a:r>
            <a:endParaRPr/>
          </a:p>
        </p:txBody>
      </p:sp>
      <p:sp>
        <p:nvSpPr>
          <p:cNvPr id="124" name="Google Shape;124;p16"/>
          <p:cNvSpPr txBox="1"/>
          <p:nvPr/>
        </p:nvSpPr>
        <p:spPr>
          <a:xfrm>
            <a:off x="857250" y="4067026"/>
            <a:ext cx="4953000" cy="9144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If B enjoys a restaurant, A joins B there. A's evaluation is entirely independent, but A is exposed to the restaurant solely because of B.</a:t>
            </a:r>
            <a:endParaRPr/>
          </a:p>
        </p:txBody>
      </p:sp>
      <p:sp>
        <p:nvSpPr>
          <p:cNvPr id="125" name="Google Shape;125;p16"/>
          <p:cNvSpPr txBox="1"/>
          <p:nvPr/>
        </p:nvSpPr>
        <p:spPr>
          <a:xfrm>
            <a:off x="790575" y="5095726"/>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DM Sans"/>
                <a:ea typeface="DM Sans"/>
                <a:cs typeface="DM Sans"/>
                <a:sym typeface="DM Sans"/>
              </a:rPr>
              <a:t>•</a:t>
            </a:r>
            <a:endParaRPr/>
          </a:p>
        </p:txBody>
      </p:sp>
      <p:sp>
        <p:nvSpPr>
          <p:cNvPr id="126" name="Google Shape;126;p16"/>
          <p:cNvSpPr txBox="1"/>
          <p:nvPr/>
        </p:nvSpPr>
        <p:spPr>
          <a:xfrm>
            <a:off x="857250" y="5095726"/>
            <a:ext cx="4953000"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Friends don't change how you evaluate things; they change </a:t>
            </a:r>
            <a:r>
              <a:rPr b="0" i="1" lang="en-US" sz="1500" u="none" cap="none" strike="noStrike">
                <a:solidFill>
                  <a:srgbClr val="1E293B"/>
                </a:solidFill>
                <a:latin typeface="DM Sans"/>
                <a:ea typeface="DM Sans"/>
                <a:cs typeface="DM Sans"/>
                <a:sym typeface="DM Sans"/>
              </a:rPr>
              <a:t>what</a:t>
            </a:r>
            <a:r>
              <a:rPr b="0" i="0" lang="en-US" sz="1500" u="none" cap="none" strike="noStrike">
                <a:solidFill>
                  <a:srgbClr val="1E293B"/>
                </a:solidFill>
                <a:latin typeface="DM Sans"/>
                <a:ea typeface="DM Sans"/>
                <a:cs typeface="DM Sans"/>
                <a:sym typeface="DM Sans"/>
              </a:rPr>
              <a:t> you evaluate.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B5C"/>
        </a:solidFill>
      </p:bgPr>
    </p:bg>
    <p:spTree>
      <p:nvGrpSpPr>
        <p:cNvPr id="130" name="Shape 130"/>
        <p:cNvGrpSpPr/>
        <p:nvPr/>
      </p:nvGrpSpPr>
      <p:grpSpPr>
        <a:xfrm>
          <a:off x="0" y="0"/>
          <a:ext cx="0" cy="0"/>
          <a:chOff x="0" y="0"/>
          <a:chExt cx="0" cy="0"/>
        </a:xfrm>
      </p:grpSpPr>
      <p:pic>
        <p:nvPicPr>
          <p:cNvPr descr="image.png" id="131" name="Google Shape;131;p17"/>
          <p:cNvPicPr preferRelativeResize="0"/>
          <p:nvPr/>
        </p:nvPicPr>
        <p:blipFill rotWithShape="1">
          <a:blip r:embed="rId3">
            <a:alphaModFix/>
          </a:blip>
          <a:srcRect b="0" l="0" r="0" t="0"/>
          <a:stretch/>
        </p:blipFill>
        <p:spPr>
          <a:xfrm>
            <a:off x="571500" y="2391667"/>
            <a:ext cx="5238750" cy="3099345"/>
          </a:xfrm>
          <a:prstGeom prst="rect">
            <a:avLst/>
          </a:prstGeom>
          <a:noFill/>
          <a:ln>
            <a:noFill/>
          </a:ln>
        </p:spPr>
      </p:pic>
      <p:pic>
        <p:nvPicPr>
          <p:cNvPr descr="image.png" id="132" name="Google Shape;132;p17"/>
          <p:cNvPicPr preferRelativeResize="0"/>
          <p:nvPr/>
        </p:nvPicPr>
        <p:blipFill rotWithShape="1">
          <a:blip r:embed="rId3">
            <a:alphaModFix/>
          </a:blip>
          <a:srcRect b="0" l="0" r="0" t="0"/>
          <a:stretch/>
        </p:blipFill>
        <p:spPr>
          <a:xfrm>
            <a:off x="6381750" y="2391667"/>
            <a:ext cx="5238750" cy="3099345"/>
          </a:xfrm>
          <a:prstGeom prst="rect">
            <a:avLst/>
          </a:prstGeom>
          <a:noFill/>
          <a:ln>
            <a:noFill/>
          </a:ln>
        </p:spPr>
      </p:pic>
      <p:sp>
        <p:nvSpPr>
          <p:cNvPr id="133" name="Google Shape;133;p17"/>
          <p:cNvSpPr txBox="1"/>
          <p:nvPr/>
        </p:nvSpPr>
        <p:spPr>
          <a:xfrm>
            <a:off x="571500" y="47625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FD100"/>
                </a:solidFill>
                <a:latin typeface="Merriweather"/>
                <a:ea typeface="Merriweather"/>
                <a:cs typeface="Merriweather"/>
                <a:sym typeface="Merriweather"/>
              </a:rPr>
              <a:t>The Learning Model</a:t>
            </a:r>
            <a:endParaRPr/>
          </a:p>
        </p:txBody>
      </p:sp>
      <p:sp>
        <p:nvSpPr>
          <p:cNvPr id="134" name="Google Shape;134;p17"/>
          <p:cNvSpPr txBox="1"/>
          <p:nvPr/>
        </p:nvSpPr>
        <p:spPr>
          <a:xfrm>
            <a:off x="952500" y="2772667"/>
            <a:ext cx="4700587"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03B5C"/>
                </a:solidFill>
                <a:latin typeface="Merriweather"/>
                <a:ea typeface="Merriweather"/>
                <a:cs typeface="Merriweather"/>
                <a:sym typeface="Merriweather"/>
              </a:rPr>
              <a:t>Independent Experiences</a:t>
            </a:r>
            <a:endParaRPr/>
          </a:p>
        </p:txBody>
      </p:sp>
      <p:sp>
        <p:nvSpPr>
          <p:cNvPr id="135" name="Google Shape;135;p17"/>
          <p:cNvSpPr txBox="1"/>
          <p:nvPr/>
        </p:nvSpPr>
        <p:spPr>
          <a:xfrm>
            <a:off x="952500" y="3281213"/>
            <a:ext cx="447675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Whenever individuals sample an event, their experiences are independent random variables. They may have different tastes. If A and B go to a movie, A might love it while B hates it. Their attitudes do not converge merely because experiences are identical.</a:t>
            </a:r>
            <a:endParaRPr/>
          </a:p>
        </p:txBody>
      </p:sp>
      <p:sp>
        <p:nvSpPr>
          <p:cNvPr id="136" name="Google Shape;136;p17"/>
          <p:cNvSpPr txBox="1"/>
          <p:nvPr/>
        </p:nvSpPr>
        <p:spPr>
          <a:xfrm>
            <a:off x="6762750" y="2772667"/>
            <a:ext cx="4700587"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003B5C"/>
                </a:solidFill>
                <a:latin typeface="Merriweather"/>
                <a:ea typeface="Merriweather"/>
                <a:cs typeface="Merriweather"/>
                <a:sym typeface="Merriweather"/>
              </a:rPr>
              <a:t>Attitude Formation</a:t>
            </a:r>
            <a:endParaRPr/>
          </a:p>
        </p:txBody>
      </p:sp>
      <p:sp>
        <p:nvSpPr>
          <p:cNvPr id="137" name="Google Shape;137;p17"/>
          <p:cNvSpPr txBox="1"/>
          <p:nvPr/>
        </p:nvSpPr>
        <p:spPr>
          <a:xfrm>
            <a:off x="6762750" y="3281213"/>
            <a:ext cx="447675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Attitudes are modeled as an exponentially weighted average of past experiences. The current attitude is adjusted up or down based solely on personal evaluations of new experiences. Direct persuasion from peers is strictly absent from the model.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EE"/>
        </a:solidFill>
      </p:bgPr>
    </p:bg>
    <p:spTree>
      <p:nvGrpSpPr>
        <p:cNvPr id="141" name="Shape 141"/>
        <p:cNvGrpSpPr/>
        <p:nvPr/>
      </p:nvGrpSpPr>
      <p:grpSpPr>
        <a:xfrm>
          <a:off x="0" y="0"/>
          <a:ext cx="0" cy="0"/>
          <a:chOff x="0" y="0"/>
          <a:chExt cx="0" cy="0"/>
        </a:xfrm>
      </p:grpSpPr>
      <p:pic>
        <p:nvPicPr>
          <p:cNvPr descr="image.png" id="142" name="Google Shape;142;p18"/>
          <p:cNvPicPr preferRelativeResize="0"/>
          <p:nvPr/>
        </p:nvPicPr>
        <p:blipFill rotWithShape="1">
          <a:blip r:embed="rId3">
            <a:alphaModFix/>
          </a:blip>
          <a:srcRect b="0" l="0" r="0" t="0"/>
          <a:stretch/>
        </p:blipFill>
        <p:spPr>
          <a:xfrm>
            <a:off x="571500" y="1882973"/>
            <a:ext cx="5238750" cy="4116734"/>
          </a:xfrm>
          <a:prstGeom prst="rect">
            <a:avLst/>
          </a:prstGeom>
          <a:noFill/>
          <a:ln>
            <a:noFill/>
          </a:ln>
        </p:spPr>
      </p:pic>
      <p:pic>
        <p:nvPicPr>
          <p:cNvPr descr="image.png" id="143" name="Google Shape;143;p18"/>
          <p:cNvPicPr preferRelativeResize="0"/>
          <p:nvPr/>
        </p:nvPicPr>
        <p:blipFill rotWithShape="1">
          <a:blip r:embed="rId3">
            <a:alphaModFix/>
          </a:blip>
          <a:srcRect b="0" l="0" r="0" t="0"/>
          <a:stretch/>
        </p:blipFill>
        <p:spPr>
          <a:xfrm>
            <a:off x="6381750" y="1882973"/>
            <a:ext cx="5238750" cy="4116734"/>
          </a:xfrm>
          <a:prstGeom prst="rect">
            <a:avLst/>
          </a:prstGeom>
          <a:noFill/>
          <a:ln>
            <a:noFill/>
          </a:ln>
        </p:spPr>
      </p:pic>
      <p:pic>
        <p:nvPicPr>
          <p:cNvPr descr="image.png" id="144" name="Google Shape;144;p18"/>
          <p:cNvPicPr preferRelativeResize="0"/>
          <p:nvPr/>
        </p:nvPicPr>
        <p:blipFill rotWithShape="1">
          <a:blip r:embed="rId4">
            <a:alphaModFix/>
          </a:blip>
          <a:srcRect b="0" l="0" r="0" t="0"/>
          <a:stretch/>
        </p:blipFill>
        <p:spPr>
          <a:xfrm>
            <a:off x="952500" y="4487019"/>
            <a:ext cx="4476750" cy="1131689"/>
          </a:xfrm>
          <a:prstGeom prst="rect">
            <a:avLst/>
          </a:prstGeom>
          <a:noFill/>
          <a:ln>
            <a:noFill/>
          </a:ln>
        </p:spPr>
      </p:pic>
      <p:sp>
        <p:nvSpPr>
          <p:cNvPr id="145" name="Google Shape;145;p18"/>
          <p:cNvSpPr txBox="1"/>
          <p:nvPr/>
        </p:nvSpPr>
        <p:spPr>
          <a:xfrm>
            <a:off x="571500" y="47625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03B5C"/>
                </a:solidFill>
                <a:latin typeface="Merriweather"/>
                <a:ea typeface="Merriweather"/>
                <a:cs typeface="Merriweather"/>
                <a:sym typeface="Merriweather"/>
              </a:rPr>
              <a:t>Joint Sampling Decision</a:t>
            </a:r>
            <a:endParaRPr/>
          </a:p>
        </p:txBody>
      </p:sp>
      <p:sp>
        <p:nvSpPr>
          <p:cNvPr id="146" name="Google Shape;146;p18"/>
          <p:cNvSpPr txBox="1"/>
          <p:nvPr/>
        </p:nvSpPr>
        <p:spPr>
          <a:xfrm>
            <a:off x="952500" y="2263973"/>
            <a:ext cx="4700587"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D100"/>
                </a:solidFill>
                <a:latin typeface="Merriweather"/>
                <a:ea typeface="Merriweather"/>
                <a:cs typeface="Merriweather"/>
                <a:sym typeface="Merriweather"/>
              </a:rPr>
              <a:t>Individual Choice</a:t>
            </a:r>
            <a:endParaRPr/>
          </a:p>
        </p:txBody>
      </p:sp>
      <p:sp>
        <p:nvSpPr>
          <p:cNvPr id="147" name="Google Shape;147;p18"/>
          <p:cNvSpPr txBox="1"/>
          <p:nvPr/>
        </p:nvSpPr>
        <p:spPr>
          <a:xfrm>
            <a:off x="952500" y="2772519"/>
            <a:ext cx="4476750"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9F6EE"/>
                </a:solidFill>
                <a:latin typeface="DM Sans"/>
                <a:ea typeface="DM Sans"/>
                <a:cs typeface="DM Sans"/>
                <a:sym typeface="DM Sans"/>
              </a:rPr>
              <a:t>Left alone, an individual's desire to sample depends on their current attitude. Positive attitudes lead to approach; negative lead to avoidance. This is modeled using the exponential Luce choice model:</a:t>
            </a:r>
            <a:endParaRPr/>
          </a:p>
        </p:txBody>
      </p:sp>
      <p:sp>
        <p:nvSpPr>
          <p:cNvPr id="148" name="Google Shape;148;p18"/>
          <p:cNvSpPr txBox="1"/>
          <p:nvPr/>
        </p:nvSpPr>
        <p:spPr>
          <a:xfrm>
            <a:off x="6762750" y="2263973"/>
            <a:ext cx="4700587"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D100"/>
                </a:solidFill>
                <a:latin typeface="Merriweather"/>
                <a:ea typeface="Merriweather"/>
                <a:cs typeface="Merriweather"/>
                <a:sym typeface="Merriweather"/>
              </a:rPr>
              <a:t>Interdependent Sampling</a:t>
            </a:r>
            <a:endParaRPr/>
          </a:p>
        </p:txBody>
      </p:sp>
      <p:sp>
        <p:nvSpPr>
          <p:cNvPr id="149" name="Google Shape;149;p18"/>
          <p:cNvSpPr txBox="1"/>
          <p:nvPr/>
        </p:nvSpPr>
        <p:spPr>
          <a:xfrm>
            <a:off x="6762750" y="2772519"/>
            <a:ext cx="447675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9F6EE"/>
                </a:solidFill>
                <a:latin typeface="DM Sans"/>
                <a:ea typeface="DM Sans"/>
                <a:cs typeface="DM Sans"/>
                <a:sym typeface="DM Sans"/>
              </a:rPr>
              <a:t>In social relationships, decisions are often joint. The probability that A samples an activity is an increasing function of B's attitude. Even if A does not want to sample (due to a negative attitude), A might still do so if B wants to. This reciprocity alters A's exposure.</a:t>
            </a:r>
            <a:endParaRPr/>
          </a:p>
        </p:txBody>
      </p:sp>
      <p:pic>
        <p:nvPicPr>
          <p:cNvPr descr="image.png" id="150" name="Google Shape;150;p18"/>
          <p:cNvPicPr preferRelativeResize="0"/>
          <p:nvPr/>
        </p:nvPicPr>
        <p:blipFill rotWithShape="1">
          <a:blip r:embed="rId5">
            <a:alphaModFix/>
          </a:blip>
          <a:srcRect b="0" l="0" r="0" t="0"/>
          <a:stretch/>
        </p:blipFill>
        <p:spPr>
          <a:xfrm>
            <a:off x="1257300" y="4791819"/>
            <a:ext cx="2679352" cy="5220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B5C"/>
        </a:solidFill>
      </p:bgPr>
    </p:bg>
    <p:spTree>
      <p:nvGrpSpPr>
        <p:cNvPr id="154" name="Shape 154"/>
        <p:cNvGrpSpPr/>
        <p:nvPr/>
      </p:nvGrpSpPr>
      <p:grpSpPr>
        <a:xfrm>
          <a:off x="0" y="0"/>
          <a:ext cx="0" cy="0"/>
          <a:chOff x="0" y="0"/>
          <a:chExt cx="0" cy="0"/>
        </a:xfrm>
      </p:grpSpPr>
      <p:sp>
        <p:nvSpPr>
          <p:cNvPr id="155" name="Google Shape;155;p19"/>
          <p:cNvSpPr txBox="1"/>
          <p:nvPr/>
        </p:nvSpPr>
        <p:spPr>
          <a:xfrm>
            <a:off x="571500" y="571500"/>
            <a:ext cx="5500687"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FD100"/>
                </a:solidFill>
                <a:latin typeface="Merriweather"/>
                <a:ea typeface="Merriweather"/>
                <a:cs typeface="Merriweather"/>
                <a:sym typeface="Merriweather"/>
              </a:rPr>
              <a:t>Overcoming Negativity</a:t>
            </a:r>
            <a:endParaRPr/>
          </a:p>
        </p:txBody>
      </p:sp>
      <p:pic>
        <p:nvPicPr>
          <p:cNvPr descr="image.png" id="156" name="Google Shape;156;p19"/>
          <p:cNvPicPr preferRelativeResize="0"/>
          <p:nvPr/>
        </p:nvPicPr>
        <p:blipFill rotWithShape="1">
          <a:blip r:embed="rId3">
            <a:alphaModFix/>
          </a:blip>
          <a:srcRect b="0" l="0" r="0" t="0"/>
          <a:stretch/>
        </p:blipFill>
        <p:spPr>
          <a:xfrm>
            <a:off x="6381750" y="0"/>
            <a:ext cx="5810250" cy="6858000"/>
          </a:xfrm>
          <a:prstGeom prst="rect">
            <a:avLst/>
          </a:prstGeom>
          <a:noFill/>
          <a:ln>
            <a:noFill/>
          </a:ln>
        </p:spPr>
      </p:pic>
      <p:sp>
        <p:nvSpPr>
          <p:cNvPr id="157" name="Google Shape;157;p19"/>
          <p:cNvSpPr txBox="1"/>
          <p:nvPr/>
        </p:nvSpPr>
        <p:spPr>
          <a:xfrm>
            <a:off x="571500" y="2731740"/>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9F6EE"/>
                </a:solidFill>
                <a:latin typeface="DM Sans"/>
                <a:ea typeface="DM Sans"/>
                <a:cs typeface="DM Sans"/>
                <a:sym typeface="DM Sans"/>
              </a:rPr>
              <a:t>Independent learners suffer from a negativity bias: false negative beliefs persist because individuals avoid the object and never correct their view.</a:t>
            </a:r>
            <a:endParaRPr/>
          </a:p>
        </p:txBody>
      </p:sp>
      <p:sp>
        <p:nvSpPr>
          <p:cNvPr id="158" name="Google Shape;158;p19"/>
          <p:cNvSpPr txBox="1"/>
          <p:nvPr/>
        </p:nvSpPr>
        <p:spPr>
          <a:xfrm>
            <a:off x="571500" y="3646140"/>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9F6EE"/>
                </a:solidFill>
                <a:latin typeface="DM Sans"/>
                <a:ea typeface="DM Sans"/>
                <a:cs typeface="DM Sans"/>
                <a:sym typeface="DM Sans"/>
              </a:rPr>
              <a:t>Interdependent sampling forces re-evaluation. If B has a positive attitude, A is dragged along to sample again. This exposure gives A the chance to experience a positive outcome and update their false negative attitude.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EE"/>
        </a:solidFill>
      </p:bgPr>
    </p:bg>
    <p:spTree>
      <p:nvGrpSpPr>
        <p:cNvPr id="162" name="Shape 162"/>
        <p:cNvGrpSpPr/>
        <p:nvPr/>
      </p:nvGrpSpPr>
      <p:grpSpPr>
        <a:xfrm>
          <a:off x="0" y="0"/>
          <a:ext cx="0" cy="0"/>
          <a:chOff x="0" y="0"/>
          <a:chExt cx="0" cy="0"/>
        </a:xfrm>
      </p:grpSpPr>
      <p:pic>
        <p:nvPicPr>
          <p:cNvPr descr="image.png" id="163" name="Google Shape;163;p20"/>
          <p:cNvPicPr preferRelativeResize="0"/>
          <p:nvPr/>
        </p:nvPicPr>
        <p:blipFill rotWithShape="1">
          <a:blip r:embed="rId3">
            <a:alphaModFix/>
          </a:blip>
          <a:srcRect b="0" l="0" r="0" t="0"/>
          <a:stretch/>
        </p:blipFill>
        <p:spPr>
          <a:xfrm>
            <a:off x="571500" y="1255365"/>
            <a:ext cx="11049000" cy="5372100"/>
          </a:xfrm>
          <a:prstGeom prst="rect">
            <a:avLst/>
          </a:prstGeom>
          <a:noFill/>
          <a:ln>
            <a:noFill/>
          </a:ln>
        </p:spPr>
      </p:pic>
      <p:sp>
        <p:nvSpPr>
          <p:cNvPr id="164" name="Google Shape;164;p20"/>
          <p:cNvSpPr txBox="1"/>
          <p:nvPr/>
        </p:nvSpPr>
        <p:spPr>
          <a:xfrm>
            <a:off x="571500" y="230534"/>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03B5C"/>
                </a:solidFill>
                <a:latin typeface="Merriweather"/>
                <a:ea typeface="Merriweather"/>
                <a:cs typeface="Merriweather"/>
                <a:sym typeface="Merriweather"/>
              </a:rPr>
              <a:t>Asymmetric Influence</a:t>
            </a:r>
            <a:endParaRPr/>
          </a:p>
        </p:txBody>
      </p:sp>
      <p:sp>
        <p:nvSpPr>
          <p:cNvPr id="165" name="Google Shape;165;p20"/>
          <p:cNvSpPr txBox="1"/>
          <p:nvPr/>
        </p:nvSpPr>
        <p:spPr>
          <a:xfrm>
            <a:off x="571500" y="1255365"/>
            <a:ext cx="110490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The model predicts that A is heavily influenced by B when A's attitude is negative, but barely influenced when A's attitude is positive.</a:t>
            </a:r>
            <a:endParaRPr/>
          </a:p>
        </p:txBody>
      </p:sp>
      <p:sp>
        <p:nvSpPr>
          <p:cNvPr id="166" name="Google Shape;166;p20"/>
          <p:cNvSpPr txBox="1"/>
          <p:nvPr/>
        </p:nvSpPr>
        <p:spPr>
          <a:xfrm>
            <a:off x="1809750" y="6017865"/>
            <a:ext cx="85725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1500" u="none" cap="none" strike="noStrike">
                <a:solidFill>
                  <a:srgbClr val="1E293B"/>
                </a:solidFill>
                <a:latin typeface="DM Sans"/>
                <a:ea typeface="DM Sans"/>
                <a:cs typeface="DM Sans"/>
                <a:sym typeface="DM Sans"/>
              </a:rPr>
              <a:t>When A is positive, A samples anyway, so B's attitude matters little. When A is negative, A only samples if B pushes them, making B's attitude the critical variable for A's attitude change.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B5C"/>
        </a:solidFill>
      </p:bgPr>
    </p:bg>
    <p:spTree>
      <p:nvGrpSpPr>
        <p:cNvPr id="170" name="Shape 170"/>
        <p:cNvGrpSpPr/>
        <p:nvPr/>
      </p:nvGrpSpPr>
      <p:grpSpPr>
        <a:xfrm>
          <a:off x="0" y="0"/>
          <a:ext cx="0" cy="0"/>
          <a:chOff x="0" y="0"/>
          <a:chExt cx="0" cy="0"/>
        </a:xfrm>
      </p:grpSpPr>
      <p:pic>
        <p:nvPicPr>
          <p:cNvPr descr="image.png" id="171" name="Google Shape;171;p21"/>
          <p:cNvPicPr preferRelativeResize="0"/>
          <p:nvPr/>
        </p:nvPicPr>
        <p:blipFill rotWithShape="1">
          <a:blip r:embed="rId3">
            <a:alphaModFix/>
          </a:blip>
          <a:srcRect b="0" l="0" r="0" t="0"/>
          <a:stretch/>
        </p:blipFill>
        <p:spPr>
          <a:xfrm>
            <a:off x="6381750" y="2036415"/>
            <a:ext cx="5238750" cy="3810000"/>
          </a:xfrm>
          <a:prstGeom prst="rect">
            <a:avLst/>
          </a:prstGeom>
          <a:noFill/>
          <a:ln>
            <a:noFill/>
          </a:ln>
        </p:spPr>
      </p:pic>
      <p:sp>
        <p:nvSpPr>
          <p:cNvPr id="172" name="Google Shape;172;p21"/>
          <p:cNvSpPr txBox="1"/>
          <p:nvPr/>
        </p:nvSpPr>
        <p:spPr>
          <a:xfrm>
            <a:off x="571500" y="47625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FD100"/>
                </a:solidFill>
                <a:latin typeface="Merriweather"/>
                <a:ea typeface="Merriweather"/>
                <a:cs typeface="Merriweather"/>
                <a:sym typeface="Merriweather"/>
              </a:rPr>
              <a:t>Empirical Evidence</a:t>
            </a:r>
            <a:endParaRPr/>
          </a:p>
        </p:txBody>
      </p:sp>
      <p:sp>
        <p:nvSpPr>
          <p:cNvPr id="173" name="Google Shape;173;p21"/>
          <p:cNvSpPr txBox="1"/>
          <p:nvPr/>
        </p:nvSpPr>
        <p:spPr>
          <a:xfrm>
            <a:off x="571500" y="2120205"/>
            <a:ext cx="523875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FFD100"/>
                </a:solidFill>
                <a:latin typeface="DM Sans"/>
                <a:ea typeface="DM Sans"/>
                <a:cs typeface="DM Sans"/>
                <a:sym typeface="DM Sans"/>
              </a:rPr>
              <a:t>Newcomb's Fraternity Data (1961)</a:t>
            </a:r>
            <a:endParaRPr/>
          </a:p>
        </p:txBody>
      </p:sp>
      <p:pic>
        <p:nvPicPr>
          <p:cNvPr descr="image.png" id="174" name="Google Shape;174;p21"/>
          <p:cNvPicPr preferRelativeResize="0"/>
          <p:nvPr/>
        </p:nvPicPr>
        <p:blipFill rotWithShape="1">
          <a:blip r:embed="rId4">
            <a:alphaModFix/>
          </a:blip>
          <a:srcRect b="0" l="0" r="0" t="0"/>
          <a:stretch/>
        </p:blipFill>
        <p:spPr>
          <a:xfrm>
            <a:off x="6381750" y="2036415"/>
            <a:ext cx="5238750" cy="3810000"/>
          </a:xfrm>
          <a:prstGeom prst="rect">
            <a:avLst/>
          </a:prstGeom>
          <a:noFill/>
          <a:ln>
            <a:noFill/>
          </a:ln>
        </p:spPr>
      </p:pic>
      <p:sp>
        <p:nvSpPr>
          <p:cNvPr id="175" name="Google Shape;175;p21"/>
          <p:cNvSpPr txBox="1"/>
          <p:nvPr/>
        </p:nvSpPr>
        <p:spPr>
          <a:xfrm>
            <a:off x="790575" y="2828776"/>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F9F6EE"/>
                </a:solidFill>
                <a:latin typeface="DM Sans"/>
                <a:ea typeface="DM Sans"/>
                <a:cs typeface="DM Sans"/>
                <a:sym typeface="DM Sans"/>
              </a:rPr>
              <a:t>•</a:t>
            </a:r>
            <a:endParaRPr/>
          </a:p>
        </p:txBody>
      </p:sp>
      <p:sp>
        <p:nvSpPr>
          <p:cNvPr id="176" name="Google Shape;176;p21"/>
          <p:cNvSpPr txBox="1"/>
          <p:nvPr/>
        </p:nvSpPr>
        <p:spPr>
          <a:xfrm>
            <a:off x="857250" y="2828776"/>
            <a:ext cx="4953000"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9F6EE"/>
                </a:solidFill>
                <a:latin typeface="DM Sans"/>
                <a:ea typeface="DM Sans"/>
                <a:cs typeface="DM Sans"/>
                <a:sym typeface="DM Sans"/>
              </a:rPr>
              <a:t>Students assessed their "favorableness" toward peers over 16 weeks.</a:t>
            </a:r>
            <a:endParaRPr/>
          </a:p>
        </p:txBody>
      </p:sp>
      <p:sp>
        <p:nvSpPr>
          <p:cNvPr id="177" name="Google Shape;177;p21"/>
          <p:cNvSpPr txBox="1"/>
          <p:nvPr/>
        </p:nvSpPr>
        <p:spPr>
          <a:xfrm>
            <a:off x="790575" y="3552676"/>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F9F6EE"/>
                </a:solidFill>
                <a:latin typeface="DM Sans"/>
                <a:ea typeface="DM Sans"/>
                <a:cs typeface="DM Sans"/>
                <a:sym typeface="DM Sans"/>
              </a:rPr>
              <a:t>•</a:t>
            </a:r>
            <a:endParaRPr/>
          </a:p>
        </p:txBody>
      </p:sp>
      <p:sp>
        <p:nvSpPr>
          <p:cNvPr id="178" name="Google Shape;178;p21"/>
          <p:cNvSpPr txBox="1"/>
          <p:nvPr/>
        </p:nvSpPr>
        <p:spPr>
          <a:xfrm>
            <a:off x="857250" y="3552676"/>
            <a:ext cx="4953000" cy="9144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9F6EE"/>
                </a:solidFill>
                <a:latin typeface="DM Sans"/>
                <a:ea typeface="DM Sans"/>
                <a:cs typeface="DM Sans"/>
                <a:sym typeface="DM Sans"/>
              </a:rPr>
              <a:t>Regression analysis confirms the asymmetry: Student A's attitude toward Student C is significantly more influenced by Student B if A initially </a:t>
            </a:r>
            <a:r>
              <a:rPr b="1" i="0" lang="en-US" sz="1500" u="none" cap="none" strike="noStrike">
                <a:solidFill>
                  <a:srgbClr val="F9F6EE"/>
                </a:solidFill>
                <a:latin typeface="DM Sans"/>
                <a:ea typeface="DM Sans"/>
                <a:cs typeface="DM Sans"/>
                <a:sym typeface="DM Sans"/>
              </a:rPr>
              <a:t>dislikes</a:t>
            </a:r>
            <a:r>
              <a:rPr b="0" i="0" lang="en-US" sz="1500" u="none" cap="none" strike="noStrike">
                <a:solidFill>
                  <a:srgbClr val="F9F6EE"/>
                </a:solidFill>
                <a:latin typeface="DM Sans"/>
                <a:ea typeface="DM Sans"/>
                <a:cs typeface="DM Sans"/>
                <a:sym typeface="DM Sans"/>
              </a:rPr>
              <a:t> C.</a:t>
            </a:r>
            <a:endParaRPr/>
          </a:p>
        </p:txBody>
      </p:sp>
      <p:sp>
        <p:nvSpPr>
          <p:cNvPr id="179" name="Google Shape;179;p21"/>
          <p:cNvSpPr txBox="1"/>
          <p:nvPr/>
        </p:nvSpPr>
        <p:spPr>
          <a:xfrm>
            <a:off x="790575" y="4581376"/>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F9F6EE"/>
                </a:solidFill>
                <a:latin typeface="DM Sans"/>
                <a:ea typeface="DM Sans"/>
                <a:cs typeface="DM Sans"/>
                <a:sym typeface="DM Sans"/>
              </a:rPr>
              <a:t>•</a:t>
            </a:r>
            <a:endParaRPr/>
          </a:p>
        </p:txBody>
      </p:sp>
      <p:sp>
        <p:nvSpPr>
          <p:cNvPr id="180" name="Google Shape;180;p21"/>
          <p:cNvSpPr txBox="1"/>
          <p:nvPr/>
        </p:nvSpPr>
        <p:spPr>
          <a:xfrm>
            <a:off x="857250" y="4581376"/>
            <a:ext cx="4953000" cy="9144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9F6EE"/>
                </a:solidFill>
                <a:latin typeface="DM Sans"/>
                <a:ea typeface="DM Sans"/>
                <a:cs typeface="DM Sans"/>
                <a:sym typeface="DM Sans"/>
              </a:rPr>
              <a:t>Sacerdote (2001) found similar effects with Dartmouth roommates: students with the lowest academic backgrounds were most influenced by their peers.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EE"/>
        </a:solidFill>
      </p:bgPr>
    </p:bg>
    <p:spTree>
      <p:nvGrpSpPr>
        <p:cNvPr id="184" name="Shape 184"/>
        <p:cNvGrpSpPr/>
        <p:nvPr/>
      </p:nvGrpSpPr>
      <p:grpSpPr>
        <a:xfrm>
          <a:off x="0" y="0"/>
          <a:ext cx="0" cy="0"/>
          <a:chOff x="0" y="0"/>
          <a:chExt cx="0" cy="0"/>
        </a:xfrm>
      </p:grpSpPr>
      <p:pic>
        <p:nvPicPr>
          <p:cNvPr descr="image.png" id="185" name="Google Shape;185;p22"/>
          <p:cNvPicPr preferRelativeResize="0"/>
          <p:nvPr/>
        </p:nvPicPr>
        <p:blipFill rotWithShape="1">
          <a:blip r:embed="rId3">
            <a:alphaModFix/>
          </a:blip>
          <a:srcRect b="0" l="0" r="0" t="0"/>
          <a:stretch/>
        </p:blipFill>
        <p:spPr>
          <a:xfrm>
            <a:off x="571500" y="1637407"/>
            <a:ext cx="3429000" cy="4608016"/>
          </a:xfrm>
          <a:prstGeom prst="rect">
            <a:avLst/>
          </a:prstGeom>
          <a:noFill/>
          <a:ln>
            <a:noFill/>
          </a:ln>
        </p:spPr>
      </p:pic>
      <p:pic>
        <p:nvPicPr>
          <p:cNvPr descr="image.png" id="186" name="Google Shape;186;p22"/>
          <p:cNvPicPr preferRelativeResize="0"/>
          <p:nvPr/>
        </p:nvPicPr>
        <p:blipFill rotWithShape="1">
          <a:blip r:embed="rId4">
            <a:alphaModFix/>
          </a:blip>
          <a:srcRect b="0" l="0" r="0" t="0"/>
          <a:stretch/>
        </p:blipFill>
        <p:spPr>
          <a:xfrm>
            <a:off x="4381500" y="1637407"/>
            <a:ext cx="3429000" cy="4608016"/>
          </a:xfrm>
          <a:prstGeom prst="rect">
            <a:avLst/>
          </a:prstGeom>
          <a:noFill/>
          <a:ln>
            <a:noFill/>
          </a:ln>
        </p:spPr>
      </p:pic>
      <p:pic>
        <p:nvPicPr>
          <p:cNvPr descr="image.png" id="187" name="Google Shape;187;p22"/>
          <p:cNvPicPr preferRelativeResize="0"/>
          <p:nvPr/>
        </p:nvPicPr>
        <p:blipFill rotWithShape="1">
          <a:blip r:embed="rId4">
            <a:alphaModFix/>
          </a:blip>
          <a:srcRect b="0" l="0" r="0" t="0"/>
          <a:stretch/>
        </p:blipFill>
        <p:spPr>
          <a:xfrm>
            <a:off x="8191500" y="1637407"/>
            <a:ext cx="3429000" cy="4608016"/>
          </a:xfrm>
          <a:prstGeom prst="rect">
            <a:avLst/>
          </a:prstGeom>
          <a:noFill/>
          <a:ln>
            <a:noFill/>
          </a:ln>
        </p:spPr>
      </p:pic>
      <p:sp>
        <p:nvSpPr>
          <p:cNvPr id="188" name="Google Shape;188;p22"/>
          <p:cNvSpPr txBox="1"/>
          <p:nvPr/>
        </p:nvSpPr>
        <p:spPr>
          <a:xfrm>
            <a:off x="571500" y="47625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003B5C"/>
                </a:solidFill>
                <a:latin typeface="Merriweather"/>
                <a:ea typeface="Merriweather"/>
                <a:cs typeface="Merriweather"/>
                <a:sym typeface="Merriweather"/>
              </a:rPr>
              <a:t>Network Implications</a:t>
            </a:r>
            <a:endParaRPr/>
          </a:p>
        </p:txBody>
      </p:sp>
      <p:sp>
        <p:nvSpPr>
          <p:cNvPr id="189" name="Google Shape;189;p22"/>
          <p:cNvSpPr txBox="1"/>
          <p:nvPr/>
        </p:nvSpPr>
        <p:spPr>
          <a:xfrm>
            <a:off x="952500" y="2856607"/>
            <a:ext cx="2800350"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D100"/>
                </a:solidFill>
                <a:latin typeface="Merriweather"/>
                <a:ea typeface="Merriweather"/>
                <a:cs typeface="Merriweather"/>
                <a:sym typeface="Merriweather"/>
              </a:rPr>
              <a:t>Transitivity</a:t>
            </a:r>
            <a:endParaRPr/>
          </a:p>
        </p:txBody>
      </p:sp>
      <p:sp>
        <p:nvSpPr>
          <p:cNvPr id="190" name="Google Shape;190;p22"/>
          <p:cNvSpPr txBox="1"/>
          <p:nvPr/>
        </p:nvSpPr>
        <p:spPr>
          <a:xfrm>
            <a:off x="952500" y="3365152"/>
            <a:ext cx="266700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9F6EE"/>
                </a:solidFill>
                <a:latin typeface="DM Sans"/>
                <a:ea typeface="DM Sans"/>
                <a:cs typeface="DM Sans"/>
                <a:sym typeface="DM Sans"/>
              </a:rPr>
              <a:t>If A likes B, and B likes C, A is more likely to be exposed to C (through B's sampling). This repeated exposure naturally fosters a positive attitude toward C.</a:t>
            </a:r>
            <a:endParaRPr/>
          </a:p>
        </p:txBody>
      </p:sp>
      <p:sp>
        <p:nvSpPr>
          <p:cNvPr id="191" name="Google Shape;191;p22"/>
          <p:cNvSpPr txBox="1"/>
          <p:nvPr/>
        </p:nvSpPr>
        <p:spPr>
          <a:xfrm>
            <a:off x="4762500" y="2856607"/>
            <a:ext cx="2800350" cy="36567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D100"/>
                </a:solidFill>
                <a:latin typeface="Merriweather"/>
                <a:ea typeface="Merriweather"/>
                <a:cs typeface="Merriweather"/>
                <a:sym typeface="Merriweather"/>
              </a:rPr>
              <a:t>Reciprocity</a:t>
            </a:r>
            <a:endParaRPr/>
          </a:p>
        </p:txBody>
      </p:sp>
      <p:sp>
        <p:nvSpPr>
          <p:cNvPr id="192" name="Google Shape;192;p22"/>
          <p:cNvSpPr txBox="1"/>
          <p:nvPr/>
        </p:nvSpPr>
        <p:spPr>
          <a:xfrm>
            <a:off x="4762500" y="3365152"/>
            <a:ext cx="266700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9F6EE"/>
                </a:solidFill>
                <a:latin typeface="DM Sans"/>
                <a:ea typeface="DM Sans"/>
                <a:cs typeface="DM Sans"/>
                <a:sym typeface="DM Sans"/>
              </a:rPr>
              <a:t>If A likes B, A initiates contact. Even if B initially holds a negative impression, repeated exposure through A's approach allows B to update their impression positively.</a:t>
            </a:r>
            <a:endParaRPr/>
          </a:p>
        </p:txBody>
      </p:sp>
      <p:sp>
        <p:nvSpPr>
          <p:cNvPr id="193" name="Google Shape;193;p22"/>
          <p:cNvSpPr txBox="1"/>
          <p:nvPr/>
        </p:nvSpPr>
        <p:spPr>
          <a:xfrm>
            <a:off x="8572500" y="2856607"/>
            <a:ext cx="2800350" cy="731341"/>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D100"/>
                </a:solidFill>
                <a:latin typeface="Merriweather"/>
                <a:ea typeface="Merriweather"/>
                <a:cs typeface="Merriweather"/>
                <a:sym typeface="Merriweather"/>
              </a:rPr>
              <a:t>Power &amp; Attraction</a:t>
            </a:r>
            <a:endParaRPr/>
          </a:p>
        </p:txBody>
      </p:sp>
      <p:sp>
        <p:nvSpPr>
          <p:cNvPr id="194" name="Google Shape;194;p22"/>
          <p:cNvSpPr txBox="1"/>
          <p:nvPr/>
        </p:nvSpPr>
        <p:spPr>
          <a:xfrm>
            <a:off x="8572500" y="3730823"/>
            <a:ext cx="2667000" cy="2133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9F6EE"/>
                </a:solidFill>
                <a:latin typeface="DM Sans"/>
                <a:ea typeface="DM Sans"/>
                <a:cs typeface="DM Sans"/>
                <a:sym typeface="DM Sans"/>
              </a:rPr>
              <a:t>Powerful or attractive individuals dictate sampling. You join their activities because of who they are, inadvertently exposing yourself to their preferences and adopting them.</a:t>
            </a:r>
            <a:endParaRPr/>
          </a:p>
        </p:txBody>
      </p:sp>
      <p:pic>
        <p:nvPicPr>
          <p:cNvPr descr="image.png" id="195" name="Google Shape;195;p22"/>
          <p:cNvPicPr preferRelativeResize="0"/>
          <p:nvPr/>
        </p:nvPicPr>
        <p:blipFill rotWithShape="1">
          <a:blip r:embed="rId5">
            <a:alphaModFix/>
          </a:blip>
          <a:srcRect b="0" l="0" r="0" t="0"/>
          <a:stretch/>
        </p:blipFill>
        <p:spPr>
          <a:xfrm>
            <a:off x="952500" y="2075557"/>
            <a:ext cx="400050" cy="457200"/>
          </a:xfrm>
          <a:prstGeom prst="rect">
            <a:avLst/>
          </a:prstGeom>
          <a:noFill/>
          <a:ln>
            <a:noFill/>
          </a:ln>
        </p:spPr>
      </p:pic>
      <p:pic>
        <p:nvPicPr>
          <p:cNvPr descr="image.png" id="196" name="Google Shape;196;p22"/>
          <p:cNvPicPr preferRelativeResize="0"/>
          <p:nvPr/>
        </p:nvPicPr>
        <p:blipFill rotWithShape="1">
          <a:blip r:embed="rId6">
            <a:alphaModFix/>
          </a:blip>
          <a:srcRect b="0" l="0" r="0" t="0"/>
          <a:stretch/>
        </p:blipFill>
        <p:spPr>
          <a:xfrm>
            <a:off x="4762500" y="2075557"/>
            <a:ext cx="571500" cy="457200"/>
          </a:xfrm>
          <a:prstGeom prst="rect">
            <a:avLst/>
          </a:prstGeom>
          <a:noFill/>
          <a:ln>
            <a:noFill/>
          </a:ln>
        </p:spPr>
      </p:pic>
      <p:pic>
        <p:nvPicPr>
          <p:cNvPr descr="image.png" id="197" name="Google Shape;197;p22"/>
          <p:cNvPicPr preferRelativeResize="0"/>
          <p:nvPr/>
        </p:nvPicPr>
        <p:blipFill rotWithShape="1">
          <a:blip r:embed="rId7">
            <a:alphaModFix/>
          </a:blip>
          <a:srcRect b="0" l="0" r="0" t="0"/>
          <a:stretch/>
        </p:blipFill>
        <p:spPr>
          <a:xfrm>
            <a:off x="8572500" y="2075557"/>
            <a:ext cx="514350" cy="457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B5C"/>
        </a:solidFill>
      </p:bgPr>
    </p:bg>
    <p:spTree>
      <p:nvGrpSpPr>
        <p:cNvPr id="201" name="Shape 201"/>
        <p:cNvGrpSpPr/>
        <p:nvPr/>
      </p:nvGrpSpPr>
      <p:grpSpPr>
        <a:xfrm>
          <a:off x="0" y="0"/>
          <a:ext cx="0" cy="0"/>
          <a:chOff x="0" y="0"/>
          <a:chExt cx="0" cy="0"/>
        </a:xfrm>
      </p:grpSpPr>
      <p:sp>
        <p:nvSpPr>
          <p:cNvPr id="202" name="Google Shape;202;p23"/>
          <p:cNvSpPr/>
          <p:nvPr/>
        </p:nvSpPr>
        <p:spPr>
          <a:xfrm>
            <a:off x="5524500" y="2146994"/>
            <a:ext cx="1143000" cy="57150"/>
          </a:xfrm>
          <a:prstGeom prst="rect">
            <a:avLst/>
          </a:prstGeom>
          <a:solidFill>
            <a:srgbClr val="FFD1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3"/>
          <p:cNvSpPr txBox="1"/>
          <p:nvPr/>
        </p:nvSpPr>
        <p:spPr>
          <a:xfrm>
            <a:off x="4340780" y="2489894"/>
            <a:ext cx="3510438" cy="73149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FD100"/>
                </a:solidFill>
                <a:latin typeface="Merriweather"/>
                <a:ea typeface="Merriweather"/>
                <a:cs typeface="Merriweather"/>
                <a:sym typeface="Merriweather"/>
              </a:rPr>
              <a:t>Conclusion</a:t>
            </a:r>
            <a:endParaRPr/>
          </a:p>
        </p:txBody>
      </p:sp>
      <p:sp>
        <p:nvSpPr>
          <p:cNvPr id="204" name="Google Shape;204;p23"/>
          <p:cNvSpPr txBox="1"/>
          <p:nvPr/>
        </p:nvSpPr>
        <p:spPr>
          <a:xfrm>
            <a:off x="2286000" y="3411884"/>
            <a:ext cx="7620000" cy="15847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F9F6EE"/>
                </a:solidFill>
                <a:latin typeface="DM Sans"/>
                <a:ea typeface="DM Sans"/>
                <a:cs typeface="DM Sans"/>
                <a:sym typeface="DM Sans"/>
              </a:rPr>
              <a:t>Social influence does not strictly require a psychological desire to conform. A simple desire to share activities and time together is mathematically sufficient to drive attitude alignment across social networks.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EE"/>
        </a:solidFill>
      </p:bgPr>
    </p:bg>
    <p:spTree>
      <p:nvGrpSpPr>
        <p:cNvPr id="208" name="Shape 208"/>
        <p:cNvGrpSpPr/>
        <p:nvPr/>
      </p:nvGrpSpPr>
      <p:grpSpPr>
        <a:xfrm>
          <a:off x="0" y="0"/>
          <a:ext cx="0" cy="0"/>
          <a:chOff x="0" y="0"/>
          <a:chExt cx="0" cy="0"/>
        </a:xfrm>
      </p:grpSpPr>
      <p:sp>
        <p:nvSpPr>
          <p:cNvPr id="209" name="Google Shape;209;p24"/>
          <p:cNvSpPr txBox="1"/>
          <p:nvPr/>
        </p:nvSpPr>
        <p:spPr>
          <a:xfrm>
            <a:off x="295275" y="2335559"/>
            <a:ext cx="11601450" cy="91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6000" u="none" cap="none" strike="noStrike">
                <a:solidFill>
                  <a:srgbClr val="003B5C"/>
                </a:solidFill>
                <a:latin typeface="Merriweather"/>
                <a:ea typeface="Merriweather"/>
                <a:cs typeface="Merriweather"/>
                <a:sym typeface="Merriweather"/>
              </a:rPr>
              <a:t>Questions?</a:t>
            </a:r>
            <a:endParaRPr/>
          </a:p>
        </p:txBody>
      </p:sp>
      <p:sp>
        <p:nvSpPr>
          <p:cNvPr id="210" name="Google Shape;210;p24"/>
          <p:cNvSpPr txBox="1"/>
          <p:nvPr/>
        </p:nvSpPr>
        <p:spPr>
          <a:xfrm>
            <a:off x="571500" y="3440459"/>
            <a:ext cx="11049000"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1E293B"/>
                </a:solidFill>
                <a:latin typeface="DM Sans"/>
                <a:ea typeface="DM Sans"/>
                <a:cs typeface="DM Sans"/>
                <a:sym typeface="DM Sans"/>
              </a:rPr>
              <a:t>Thank you for your attention.</a:t>
            </a:r>
            <a:endParaRPr/>
          </a:p>
        </p:txBody>
      </p:sp>
      <p:sp>
        <p:nvSpPr>
          <p:cNvPr id="211" name="Google Shape;211;p24"/>
          <p:cNvSpPr txBox="1"/>
          <p:nvPr/>
        </p:nvSpPr>
        <p:spPr>
          <a:xfrm>
            <a:off x="571500" y="4217640"/>
            <a:ext cx="11049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500" u="none" cap="none" strike="noStrike">
                <a:solidFill>
                  <a:srgbClr val="005B96"/>
                </a:solidFill>
                <a:latin typeface="DM Sans"/>
                <a:ea typeface="DM Sans"/>
                <a:cs typeface="DM Sans"/>
                <a:sym typeface="DM Sans"/>
              </a:rPr>
              <a:t>UCLA Advanced Social Network Analysis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