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Economica"/>
      <p:regular r:id="rId29"/>
      <p:bold r:id="rId30"/>
      <p:italic r:id="rId31"/>
      <p:boldItalic r:id="rId32"/>
    </p:embeddedFont>
    <p:embeddedFont>
      <p:font typeface="Oxygen"/>
      <p:regular r:id="rId33"/>
      <p:bold r:id="rId34"/>
    </p:embeddedFont>
    <p:embeddedFont>
      <p:font typeface="Open Sans SemiBold"/>
      <p:regular r:id="rId35"/>
      <p:bold r:id="rId36"/>
      <p:italic r:id="rId37"/>
      <p:boldItalic r:id="rId38"/>
    </p:embeddedFont>
    <p:embeddedFont>
      <p:font typeface="Open Sans Medium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Medium-bold.fntdata"/><Relationship Id="rId20" Type="http://schemas.openxmlformats.org/officeDocument/2006/relationships/slide" Target="slides/slide15.xml"/><Relationship Id="rId42" Type="http://schemas.openxmlformats.org/officeDocument/2006/relationships/font" Target="fonts/OpenSansMedium-boldItalic.fntdata"/><Relationship Id="rId41" Type="http://schemas.openxmlformats.org/officeDocument/2006/relationships/font" Target="fonts/OpenSansMedium-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bold.fntdata"/><Relationship Id="rId21" Type="http://schemas.openxmlformats.org/officeDocument/2006/relationships/slide" Target="slides/slide16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9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8.xml"/><Relationship Id="rId45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conomic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conomica-italic.fntdata"/><Relationship Id="rId30" Type="http://schemas.openxmlformats.org/officeDocument/2006/relationships/font" Target="fonts/Economica-bold.fntdata"/><Relationship Id="rId11" Type="http://schemas.openxmlformats.org/officeDocument/2006/relationships/slide" Target="slides/slide6.xml"/><Relationship Id="rId33" Type="http://schemas.openxmlformats.org/officeDocument/2006/relationships/font" Target="fonts/Oxygen-regular.fntdata"/><Relationship Id="rId10" Type="http://schemas.openxmlformats.org/officeDocument/2006/relationships/slide" Target="slides/slide5.xml"/><Relationship Id="rId32" Type="http://schemas.openxmlformats.org/officeDocument/2006/relationships/font" Target="fonts/Economica-boldItalic.fntdata"/><Relationship Id="rId13" Type="http://schemas.openxmlformats.org/officeDocument/2006/relationships/slide" Target="slides/slide8.xml"/><Relationship Id="rId35" Type="http://schemas.openxmlformats.org/officeDocument/2006/relationships/font" Target="fonts/OpenSans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Oxygen-bold.fntdata"/><Relationship Id="rId15" Type="http://schemas.openxmlformats.org/officeDocument/2006/relationships/slide" Target="slides/slide10.xml"/><Relationship Id="rId37" Type="http://schemas.openxmlformats.org/officeDocument/2006/relationships/font" Target="fonts/OpenSansSemiBold-italic.fntdata"/><Relationship Id="rId14" Type="http://schemas.openxmlformats.org/officeDocument/2006/relationships/slide" Target="slides/slide9.xml"/><Relationship Id="rId36" Type="http://schemas.openxmlformats.org/officeDocument/2006/relationships/font" Target="fonts/OpenSansSemiBold-bold.fntdata"/><Relationship Id="rId17" Type="http://schemas.openxmlformats.org/officeDocument/2006/relationships/slide" Target="slides/slide12.xml"/><Relationship Id="rId39" Type="http://schemas.openxmlformats.org/officeDocument/2006/relationships/font" Target="fonts/OpenSansMedium-regular.fntdata"/><Relationship Id="rId16" Type="http://schemas.openxmlformats.org/officeDocument/2006/relationships/slide" Target="slides/slide11.xml"/><Relationship Id="rId38" Type="http://schemas.openxmlformats.org/officeDocument/2006/relationships/font" Target="fonts/OpenSansSemi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808c94bd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808c94bd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09e8482591_1_2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09e8482591_1_2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808c94b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808c94b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808c94bd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808c94bd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9646aa3e9_0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79646aa3e9_0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0698e97dce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0698e97dce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0698e97dce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0698e97dce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0698e97dce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0698e97dce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0698e97dce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0698e97dce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0698e97dce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0698e97dce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79646aa3e9_0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79646aa3e9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698e97dce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0698e97dce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79646aa3e9_0_1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79646aa3e9_0_1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09e8482591_1_2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09e8482591_1_2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79646aa3e9_0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79646aa3e9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0698e97dce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0698e97dce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0698e97dce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0698e97dce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79646aa3e9_0_1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79646aa3e9_0_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79646aa3e9_0_1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79646aa3e9_0_1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79646aa3e9_0_1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79646aa3e9_0_1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79646aa3e9_0_1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79646aa3e9_0_1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79646aa3e9_0_1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79646aa3e9_0_1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09e8482591_1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09e8482591_1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Valued Graphs in Social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 in Social Networks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Valued Graphs in Social Networks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5225"/>
            <a:ext cx="4164900" cy="3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 analysis </a:t>
            </a:r>
            <a:r>
              <a:rPr b="1" lang="en"/>
              <a:t>valued </a:t>
            </a:r>
            <a:r>
              <a:rPr lang="en"/>
              <a:t>graphs represent the </a:t>
            </a:r>
            <a:r>
              <a:rPr b="1" lang="en"/>
              <a:t>intensity</a:t>
            </a:r>
            <a:r>
              <a:rPr lang="en"/>
              <a:t> or </a:t>
            </a:r>
            <a:r>
              <a:rPr b="1" lang="en"/>
              <a:t>sentiment</a:t>
            </a:r>
            <a:r>
              <a:rPr lang="en"/>
              <a:t> of social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Relations can be </a:t>
            </a:r>
            <a:r>
              <a:rPr b="1" lang="en"/>
              <a:t>more</a:t>
            </a:r>
            <a:r>
              <a:rPr lang="en"/>
              <a:t> or </a:t>
            </a:r>
            <a:r>
              <a:rPr b="1" lang="en"/>
              <a:t>less</a:t>
            </a:r>
            <a:r>
              <a:rPr lang="en"/>
              <a:t> (intense, positive, negative, frequent)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7" name="Google Shape;77;p16"/>
          <p:cNvSpPr/>
          <p:nvPr/>
        </p:nvSpPr>
        <p:spPr>
          <a:xfrm>
            <a:off x="5543306" y="1090275"/>
            <a:ext cx="1896900" cy="593100"/>
          </a:xfrm>
          <a:prstGeom prst="diamond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171623" y="1945229"/>
            <a:ext cx="2640300" cy="46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Can the edge values be any number or only -1 or + 1?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79" name="Google Shape;79;p16"/>
          <p:cNvCxnSpPr>
            <a:stCxn id="77" idx="2"/>
            <a:endCxn id="78" idx="0"/>
          </p:cNvCxnSpPr>
          <p:nvPr/>
        </p:nvCxnSpPr>
        <p:spPr>
          <a:xfrm flipH="1" rot="-5400000">
            <a:off x="6361106" y="1814025"/>
            <a:ext cx="261900" cy="6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" name="Google Shape;80;p16"/>
          <p:cNvCxnSpPr>
            <a:stCxn id="78" idx="2"/>
            <a:endCxn id="81" idx="0"/>
          </p:cNvCxnSpPr>
          <p:nvPr/>
        </p:nvCxnSpPr>
        <p:spPr>
          <a:xfrm rot="5400000">
            <a:off x="5731873" y="2112929"/>
            <a:ext cx="460500" cy="10593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1" name="Google Shape;81;p16"/>
          <p:cNvSpPr/>
          <p:nvPr/>
        </p:nvSpPr>
        <p:spPr>
          <a:xfrm>
            <a:off x="4701071" y="2872815"/>
            <a:ext cx="1462800" cy="46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82" name="Google Shape;82;p16"/>
          <p:cNvCxnSpPr>
            <a:stCxn id="81" idx="2"/>
            <a:endCxn id="83" idx="0"/>
          </p:cNvCxnSpPr>
          <p:nvPr/>
        </p:nvCxnSpPr>
        <p:spPr>
          <a:xfrm rot="5400000">
            <a:off x="4777421" y="2986365"/>
            <a:ext cx="301500" cy="10086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6"/>
          <p:cNvSpPr/>
          <p:nvPr/>
        </p:nvSpPr>
        <p:spPr>
          <a:xfrm>
            <a:off x="3575304" y="3641397"/>
            <a:ext cx="1697100" cy="677400"/>
          </a:xfrm>
          <a:prstGeom prst="diamond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Weighted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84" name="Google Shape;84;p16"/>
          <p:cNvCxnSpPr>
            <a:stCxn id="78" idx="2"/>
            <a:endCxn id="85" idx="0"/>
          </p:cNvCxnSpPr>
          <p:nvPr/>
        </p:nvCxnSpPr>
        <p:spPr>
          <a:xfrm flipH="1" rot="-5400000">
            <a:off x="6703423" y="2200679"/>
            <a:ext cx="469800" cy="8931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5" name="Google Shape;85;p16"/>
          <p:cNvSpPr/>
          <p:nvPr/>
        </p:nvSpPr>
        <p:spPr>
          <a:xfrm>
            <a:off x="6653515" y="2882046"/>
            <a:ext cx="1462800" cy="46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583900" y="3978834"/>
            <a:ext cx="1697100" cy="677400"/>
          </a:xfrm>
          <a:prstGeom prst="diamond">
            <a:avLst/>
          </a:prstGeom>
          <a:solidFill>
            <a:srgbClr val="CC412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Weighted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5678145" y="4276783"/>
            <a:ext cx="1697100" cy="677400"/>
          </a:xfrm>
          <a:prstGeom prst="diamond">
            <a:avLst/>
          </a:prstGeom>
          <a:solidFill>
            <a:srgbClr val="B45F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Signed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7364667" y="4276759"/>
            <a:ext cx="1697100" cy="677400"/>
          </a:xfrm>
          <a:prstGeom prst="diamond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Signed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89" name="Google Shape;89;p16"/>
          <p:cNvCxnSpPr>
            <a:stCxn id="85" idx="2"/>
            <a:endCxn id="87" idx="0"/>
          </p:cNvCxnSpPr>
          <p:nvPr/>
        </p:nvCxnSpPr>
        <p:spPr>
          <a:xfrm rot="5400000">
            <a:off x="6491965" y="3383796"/>
            <a:ext cx="927600" cy="8583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6"/>
          <p:cNvCxnSpPr>
            <a:stCxn id="85" idx="2"/>
            <a:endCxn id="88" idx="0"/>
          </p:cNvCxnSpPr>
          <p:nvPr/>
        </p:nvCxnSpPr>
        <p:spPr>
          <a:xfrm flipH="1" rot="-5400000">
            <a:off x="7335265" y="3398796"/>
            <a:ext cx="927600" cy="8283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6"/>
          <p:cNvSpPr txBox="1"/>
          <p:nvPr/>
        </p:nvSpPr>
        <p:spPr>
          <a:xfrm>
            <a:off x="6837365" y="3729114"/>
            <a:ext cx="339900" cy="16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92" name="Google Shape;92;p16"/>
          <p:cNvCxnSpPr>
            <a:stCxn id="81" idx="2"/>
            <a:endCxn id="86" idx="0"/>
          </p:cNvCxnSpPr>
          <p:nvPr/>
        </p:nvCxnSpPr>
        <p:spPr>
          <a:xfrm>
            <a:off x="5432471" y="3339915"/>
            <a:ext cx="0" cy="63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6"/>
          <p:cNvSpPr txBox="1"/>
          <p:nvPr/>
        </p:nvSpPr>
        <p:spPr>
          <a:xfrm>
            <a:off x="5808310" y="2558587"/>
            <a:ext cx="413400" cy="16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 SemiBold"/>
                <a:ea typeface="Open Sans SemiBold"/>
                <a:cs typeface="Open Sans SemiBold"/>
                <a:sym typeface="Open Sans SemiBold"/>
              </a:rPr>
              <a:t>Any</a:t>
            </a:r>
            <a:endParaRPr sz="10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6763842" y="2563208"/>
            <a:ext cx="413400" cy="16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 SemiBold"/>
                <a:ea typeface="Open Sans SemiBold"/>
                <a:cs typeface="Open Sans SemiBold"/>
                <a:sym typeface="Open Sans SemiBold"/>
              </a:rPr>
              <a:t>+1/-1 </a:t>
            </a:r>
            <a:endParaRPr sz="10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5252884" y="3691798"/>
            <a:ext cx="339900" cy="16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7631602" y="3688172"/>
            <a:ext cx="339900" cy="16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700391" y="3406823"/>
            <a:ext cx="339900" cy="16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Valued Graphs in Social Networks</a:t>
            </a:r>
            <a:endParaRPr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311700" y="1225225"/>
            <a:ext cx="4164900" cy="3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 analysis </a:t>
            </a:r>
            <a:r>
              <a:rPr b="1" lang="en"/>
              <a:t>valued </a:t>
            </a:r>
            <a:r>
              <a:rPr lang="en"/>
              <a:t>graphs represent the </a:t>
            </a:r>
            <a:r>
              <a:rPr b="1" lang="en"/>
              <a:t>intensity</a:t>
            </a:r>
            <a:r>
              <a:rPr lang="en"/>
              <a:t> or </a:t>
            </a:r>
            <a:r>
              <a:rPr b="1" lang="en"/>
              <a:t>sentiment</a:t>
            </a:r>
            <a:r>
              <a:rPr lang="en"/>
              <a:t> of social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Relations can be </a:t>
            </a:r>
            <a:r>
              <a:rPr b="1" lang="en"/>
              <a:t>more</a:t>
            </a:r>
            <a:r>
              <a:rPr lang="en"/>
              <a:t> or </a:t>
            </a:r>
            <a:r>
              <a:rPr b="1" lang="en"/>
              <a:t>less</a:t>
            </a:r>
            <a:r>
              <a:rPr lang="en"/>
              <a:t> (intense, positive, negative, frequent)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Like before relationships have </a:t>
            </a:r>
            <a:r>
              <a:rPr b="1" lang="en"/>
              <a:t>directionality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Undirected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they also have a </a:t>
            </a:r>
            <a:r>
              <a:rPr b="1" lang="en"/>
              <a:t>weight</a:t>
            </a:r>
            <a:r>
              <a:rPr lang="en"/>
              <a:t> or a </a:t>
            </a:r>
            <a:r>
              <a:rPr b="1" lang="en"/>
              <a:t>sign</a:t>
            </a:r>
            <a:endParaRPr b="1"/>
          </a:p>
        </p:txBody>
      </p:sp>
      <p:sp>
        <p:nvSpPr>
          <p:cNvPr id="104" name="Google Shape;104;p17"/>
          <p:cNvSpPr/>
          <p:nvPr/>
        </p:nvSpPr>
        <p:spPr>
          <a:xfrm>
            <a:off x="5543306" y="1090275"/>
            <a:ext cx="1896900" cy="593100"/>
          </a:xfrm>
          <a:prstGeom prst="diamond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5171623" y="1945229"/>
            <a:ext cx="2640300" cy="46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Can the edge values be any number or only -1 or + 1?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106" name="Google Shape;106;p17"/>
          <p:cNvCxnSpPr>
            <a:stCxn id="104" idx="2"/>
            <a:endCxn id="105" idx="0"/>
          </p:cNvCxnSpPr>
          <p:nvPr/>
        </p:nvCxnSpPr>
        <p:spPr>
          <a:xfrm flipH="1" rot="-5400000">
            <a:off x="6361106" y="1814025"/>
            <a:ext cx="261900" cy="6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7" name="Google Shape;107;p17"/>
          <p:cNvCxnSpPr>
            <a:stCxn id="105" idx="2"/>
            <a:endCxn id="108" idx="0"/>
          </p:cNvCxnSpPr>
          <p:nvPr/>
        </p:nvCxnSpPr>
        <p:spPr>
          <a:xfrm rot="5400000">
            <a:off x="5731873" y="2112929"/>
            <a:ext cx="460500" cy="10593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8" name="Google Shape;108;p17"/>
          <p:cNvSpPr/>
          <p:nvPr/>
        </p:nvSpPr>
        <p:spPr>
          <a:xfrm>
            <a:off x="4701071" y="2872815"/>
            <a:ext cx="1462800" cy="46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09" name="Google Shape;109;p17"/>
          <p:cNvCxnSpPr>
            <a:stCxn id="108" idx="2"/>
            <a:endCxn id="110" idx="0"/>
          </p:cNvCxnSpPr>
          <p:nvPr/>
        </p:nvCxnSpPr>
        <p:spPr>
          <a:xfrm rot="5400000">
            <a:off x="4777421" y="2986365"/>
            <a:ext cx="301500" cy="10086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17"/>
          <p:cNvSpPr/>
          <p:nvPr/>
        </p:nvSpPr>
        <p:spPr>
          <a:xfrm>
            <a:off x="3575304" y="3641397"/>
            <a:ext cx="1697100" cy="677400"/>
          </a:xfrm>
          <a:prstGeom prst="diamond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Weighted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11" name="Google Shape;111;p17"/>
          <p:cNvCxnSpPr>
            <a:stCxn id="105" idx="2"/>
            <a:endCxn id="112" idx="0"/>
          </p:cNvCxnSpPr>
          <p:nvPr/>
        </p:nvCxnSpPr>
        <p:spPr>
          <a:xfrm flipH="1" rot="-5400000">
            <a:off x="6703423" y="2200679"/>
            <a:ext cx="469800" cy="8931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2" name="Google Shape;112;p17"/>
          <p:cNvSpPr/>
          <p:nvPr/>
        </p:nvSpPr>
        <p:spPr>
          <a:xfrm>
            <a:off x="6653515" y="2882046"/>
            <a:ext cx="1462800" cy="46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583900" y="3978834"/>
            <a:ext cx="1697100" cy="677400"/>
          </a:xfrm>
          <a:prstGeom prst="diamond">
            <a:avLst/>
          </a:prstGeom>
          <a:solidFill>
            <a:srgbClr val="CC412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Weighted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5678145" y="4276783"/>
            <a:ext cx="1697100" cy="677400"/>
          </a:xfrm>
          <a:prstGeom prst="diamond">
            <a:avLst/>
          </a:prstGeom>
          <a:solidFill>
            <a:srgbClr val="B45F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Signed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7364667" y="4276759"/>
            <a:ext cx="1697100" cy="677400"/>
          </a:xfrm>
          <a:prstGeom prst="diamond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Signed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16" name="Google Shape;116;p17"/>
          <p:cNvCxnSpPr>
            <a:stCxn id="112" idx="2"/>
            <a:endCxn id="114" idx="0"/>
          </p:cNvCxnSpPr>
          <p:nvPr/>
        </p:nvCxnSpPr>
        <p:spPr>
          <a:xfrm rot="5400000">
            <a:off x="6491965" y="3383796"/>
            <a:ext cx="927600" cy="8583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7"/>
          <p:cNvCxnSpPr>
            <a:stCxn id="112" idx="2"/>
            <a:endCxn id="115" idx="0"/>
          </p:cNvCxnSpPr>
          <p:nvPr/>
        </p:nvCxnSpPr>
        <p:spPr>
          <a:xfrm flipH="1" rot="-5400000">
            <a:off x="7335265" y="3398796"/>
            <a:ext cx="927600" cy="8283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7"/>
          <p:cNvSpPr txBox="1"/>
          <p:nvPr/>
        </p:nvSpPr>
        <p:spPr>
          <a:xfrm>
            <a:off x="6837365" y="3729114"/>
            <a:ext cx="339900" cy="16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19" name="Google Shape;119;p17"/>
          <p:cNvCxnSpPr>
            <a:stCxn id="108" idx="2"/>
            <a:endCxn id="113" idx="0"/>
          </p:cNvCxnSpPr>
          <p:nvPr/>
        </p:nvCxnSpPr>
        <p:spPr>
          <a:xfrm>
            <a:off x="5432471" y="3339915"/>
            <a:ext cx="0" cy="63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17"/>
          <p:cNvSpPr txBox="1"/>
          <p:nvPr/>
        </p:nvSpPr>
        <p:spPr>
          <a:xfrm>
            <a:off x="5808310" y="2558587"/>
            <a:ext cx="413400" cy="16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 SemiBold"/>
                <a:ea typeface="Open Sans SemiBold"/>
                <a:cs typeface="Open Sans SemiBold"/>
                <a:sym typeface="Open Sans SemiBold"/>
              </a:rPr>
              <a:t>Any</a:t>
            </a:r>
            <a:endParaRPr sz="10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6763842" y="2563208"/>
            <a:ext cx="413400" cy="16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 SemiBold"/>
                <a:ea typeface="Open Sans SemiBold"/>
                <a:cs typeface="Open Sans SemiBold"/>
                <a:sym typeface="Open Sans SemiBold"/>
              </a:rPr>
              <a:t>+1/-1 </a:t>
            </a:r>
            <a:endParaRPr sz="10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5252884" y="3691798"/>
            <a:ext cx="339900" cy="16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7631602" y="3688172"/>
            <a:ext cx="339900" cy="16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4700391" y="3406823"/>
            <a:ext cx="339900" cy="16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311700" y="1225225"/>
            <a:ext cx="408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6200025" y="43345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4" name="Google Shape;134;p18"/>
          <p:cNvCxnSpPr>
            <a:stCxn id="132" idx="5"/>
            <a:endCxn id="133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35" name="Google Shape;135;p1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8" name="Google Shape;138;p18"/>
          <p:cNvCxnSpPr>
            <a:stCxn id="133" idx="7"/>
            <a:endCxn id="13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9" name="Google Shape;139;p18"/>
          <p:cNvCxnSpPr>
            <a:stCxn id="137" idx="1"/>
            <a:endCxn id="13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" name="Google Shape;140;p18"/>
          <p:cNvCxnSpPr>
            <a:stCxn id="137" idx="3"/>
            <a:endCxn id="13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" name="Google Shape;141;p18"/>
          <p:cNvCxnSpPr>
            <a:stCxn id="136" idx="1"/>
            <a:endCxn id="135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2" name="Google Shape;142;p18"/>
          <p:cNvCxnSpPr>
            <a:stCxn id="136" idx="2"/>
            <a:endCxn id="133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3" name="Google Shape;143;p18"/>
          <p:cNvCxnSpPr>
            <a:stCxn id="136" idx="0"/>
            <a:endCxn id="133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4" name="Google Shape;144;p18"/>
          <p:cNvCxnSpPr>
            <a:stCxn id="136" idx="7"/>
            <a:endCxn id="135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" name="Google Shape;145;p18"/>
          <p:cNvCxnSpPr>
            <a:stCxn id="133" idx="1"/>
            <a:endCxn id="132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151" name="Google Shape;151;p19"/>
          <p:cNvSpPr txBox="1"/>
          <p:nvPr>
            <p:ph idx="1" type="body"/>
          </p:nvPr>
        </p:nvSpPr>
        <p:spPr>
          <a:xfrm>
            <a:off x="311700" y="1225225"/>
            <a:ext cx="4753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Numerical values associated with each edge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edge weight </a:t>
            </a:r>
            <a:r>
              <a:rPr lang="en"/>
              <a:t>(w</a:t>
            </a:r>
            <a:r>
              <a:rPr baseline="-25000" lang="en"/>
              <a:t>uv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 = {E, V, </a:t>
            </a:r>
            <a:r>
              <a:rPr b="1" lang="en"/>
              <a:t>w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 weights can be: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Decimals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(e.g., percentages or proportions)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6200025" y="43345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5" name="Google Shape;155;p19"/>
          <p:cNvCxnSpPr>
            <a:stCxn id="153" idx="5"/>
            <a:endCxn id="154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56" name="Google Shape;156;p1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9" name="Google Shape;159;p19"/>
          <p:cNvCxnSpPr>
            <a:stCxn id="154" idx="7"/>
            <a:endCxn id="15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0" name="Google Shape;160;p19"/>
          <p:cNvCxnSpPr>
            <a:stCxn id="158" idx="1"/>
            <a:endCxn id="15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" name="Google Shape;161;p19"/>
          <p:cNvCxnSpPr>
            <a:stCxn id="158" idx="3"/>
            <a:endCxn id="15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" name="Google Shape;162;p19"/>
          <p:cNvCxnSpPr>
            <a:stCxn id="157" idx="1"/>
            <a:endCxn id="156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3" name="Google Shape;163;p19"/>
          <p:cNvCxnSpPr>
            <a:stCxn id="157" idx="2"/>
            <a:endCxn id="154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4" name="Google Shape;164;p19"/>
          <p:cNvCxnSpPr>
            <a:stCxn id="157" idx="0"/>
            <a:endCxn id="154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5" name="Google Shape;165;p19"/>
          <p:cNvCxnSpPr>
            <a:stCxn id="157" idx="7"/>
            <a:endCxn id="156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" name="Google Shape;166;p19"/>
          <p:cNvCxnSpPr>
            <a:stCxn id="154" idx="1"/>
            <a:endCxn id="153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7" name="Google Shape;167;p19"/>
          <p:cNvSpPr txBox="1"/>
          <p:nvPr/>
        </p:nvSpPr>
        <p:spPr>
          <a:xfrm>
            <a:off x="5281200" y="23973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0.35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5327913" y="30696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0.78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 rot="-2700000">
            <a:off x="6462948" y="2061529"/>
            <a:ext cx="601182" cy="348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0.63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 rot="2573812">
            <a:off x="6229739" y="3464553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0.14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 rot="2573812">
            <a:off x="6704039" y="2948690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0.98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 rot="-5400000">
            <a:off x="6810373" y="2523361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 rot="-5400000">
            <a:off x="7452761" y="2515386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0.36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 rot="-2451147">
            <a:off x="7853906" y="3335323"/>
            <a:ext cx="601272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0.52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 rot="2850427">
            <a:off x="7893084" y="2170948"/>
            <a:ext cx="601334" cy="34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0.07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311700" y="1225225"/>
            <a:ext cx="4876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Numerical values associated with each edge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edge weight </a:t>
            </a:r>
            <a:r>
              <a:rPr lang="en"/>
              <a:t>(w</a:t>
            </a:r>
            <a:r>
              <a:rPr baseline="-25000" lang="en"/>
              <a:t>uv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 = {E, V, </a:t>
            </a:r>
            <a:r>
              <a:rPr b="1" lang="en"/>
              <a:t>w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 weights can be: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Decimals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(e.g., percentages or proportions)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(e.g., counts)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Unconnected dyads have a weight of zero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200025" y="43345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5" name="Google Shape;185;p20"/>
          <p:cNvCxnSpPr>
            <a:stCxn id="183" idx="5"/>
            <a:endCxn id="184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86" name="Google Shape;186;p2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9" name="Google Shape;189;p20"/>
          <p:cNvCxnSpPr>
            <a:stCxn id="184" idx="7"/>
            <a:endCxn id="18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0" name="Google Shape;190;p20"/>
          <p:cNvCxnSpPr>
            <a:stCxn id="188" idx="1"/>
            <a:endCxn id="18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1" name="Google Shape;191;p20"/>
          <p:cNvCxnSpPr>
            <a:stCxn id="188" idx="3"/>
            <a:endCxn id="18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2" name="Google Shape;192;p20"/>
          <p:cNvCxnSpPr>
            <a:stCxn id="187" idx="1"/>
            <a:endCxn id="186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3" name="Google Shape;193;p20"/>
          <p:cNvCxnSpPr>
            <a:stCxn id="187" idx="2"/>
            <a:endCxn id="184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4" name="Google Shape;194;p20"/>
          <p:cNvCxnSpPr>
            <a:stCxn id="187" idx="0"/>
            <a:endCxn id="184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5" name="Google Shape;195;p20"/>
          <p:cNvCxnSpPr>
            <a:stCxn id="187" idx="7"/>
            <a:endCxn id="186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6" name="Google Shape;196;p20"/>
          <p:cNvCxnSpPr>
            <a:stCxn id="184" idx="1"/>
            <a:endCxn id="183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97" name="Google Shape;197;p20"/>
          <p:cNvSpPr txBox="1"/>
          <p:nvPr/>
        </p:nvSpPr>
        <p:spPr>
          <a:xfrm>
            <a:off x="5281200" y="23973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327913" y="30696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12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 rot="-2700000">
            <a:off x="6462948" y="2061529"/>
            <a:ext cx="601182" cy="348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 rot="2573812">
            <a:off x="6229739" y="3464553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14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 rot="2573812">
            <a:off x="6704039" y="2948690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27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 rot="-5400000">
            <a:off x="6810373" y="2523361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23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 rot="-5400000">
            <a:off x="7452761" y="2515386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 rot="-2451147">
            <a:off x="7853906" y="3335323"/>
            <a:ext cx="601272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 rot="2850427">
            <a:off x="7893084" y="2170948"/>
            <a:ext cx="601334" cy="34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12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211" name="Google Shape;211;p21"/>
          <p:cNvSpPr txBox="1"/>
          <p:nvPr>
            <p:ph idx="1" type="body"/>
          </p:nvPr>
        </p:nvSpPr>
        <p:spPr>
          <a:xfrm>
            <a:off x="311700" y="1225225"/>
            <a:ext cx="4362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Numerical values linked to each edge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edge weight </a:t>
            </a:r>
            <a:r>
              <a:rPr lang="en"/>
              <a:t>(w</a:t>
            </a:r>
            <a:r>
              <a:rPr baseline="-25000" lang="en"/>
              <a:t>uv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{E, V, w}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go from a directed weighted graph to a regular directed graph by using a </a:t>
            </a:r>
            <a:r>
              <a:rPr b="1" lang="en"/>
              <a:t>cutoff: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200025" y="43345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5" name="Google Shape;215;p21"/>
          <p:cNvCxnSpPr>
            <a:stCxn id="213" idx="5"/>
            <a:endCxn id="214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16" name="Google Shape;216;p2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9" name="Google Shape;219;p21"/>
          <p:cNvCxnSpPr>
            <a:stCxn id="214" idx="7"/>
            <a:endCxn id="21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0" name="Google Shape;220;p21"/>
          <p:cNvCxnSpPr>
            <a:stCxn id="218" idx="1"/>
            <a:endCxn id="21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1" name="Google Shape;221;p21"/>
          <p:cNvCxnSpPr>
            <a:stCxn id="218" idx="3"/>
            <a:endCxn id="21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" name="Google Shape;222;p21"/>
          <p:cNvCxnSpPr>
            <a:stCxn id="217" idx="1"/>
            <a:endCxn id="216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3" name="Google Shape;223;p21"/>
          <p:cNvCxnSpPr>
            <a:stCxn id="217" idx="2"/>
            <a:endCxn id="214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4" name="Google Shape;224;p21"/>
          <p:cNvCxnSpPr>
            <a:stCxn id="217" idx="0"/>
            <a:endCxn id="214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5" name="Google Shape;225;p21"/>
          <p:cNvCxnSpPr>
            <a:stCxn id="217" idx="7"/>
            <a:endCxn id="216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6" name="Google Shape;226;p21"/>
          <p:cNvCxnSpPr>
            <a:stCxn id="214" idx="1"/>
            <a:endCxn id="213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7" name="Google Shape;227;p21"/>
          <p:cNvSpPr txBox="1"/>
          <p:nvPr/>
        </p:nvSpPr>
        <p:spPr>
          <a:xfrm>
            <a:off x="5281200" y="23973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0.35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5327913" y="30696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0.78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 rot="-2700000">
            <a:off x="6462948" y="2061529"/>
            <a:ext cx="601182" cy="348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0.63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 rot="2573812">
            <a:off x="6229739" y="3464553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0.14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 rot="2573812">
            <a:off x="6704039" y="2948690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0.98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 rot="-5400000">
            <a:off x="6810373" y="2523361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 rot="-5400000">
            <a:off x="7452761" y="2515386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0.36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 rot="-2451147">
            <a:off x="7853906" y="3335323"/>
            <a:ext cx="601272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0.52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 rot="2850427">
            <a:off x="7893084" y="2170948"/>
            <a:ext cx="601334" cy="34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0.07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241" name="Google Shape;241;p22"/>
          <p:cNvSpPr txBox="1"/>
          <p:nvPr>
            <p:ph idx="1" type="body"/>
          </p:nvPr>
        </p:nvSpPr>
        <p:spPr>
          <a:xfrm>
            <a:off x="311700" y="1225225"/>
            <a:ext cx="4362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Numerical values linked to each edge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edge weight </a:t>
            </a:r>
            <a:r>
              <a:rPr lang="en"/>
              <a:t>(w</a:t>
            </a:r>
            <a:r>
              <a:rPr baseline="-25000" lang="en"/>
              <a:t>uv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{E, V, w}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go from a directed weighted graph to a regular directed graph by using a </a:t>
            </a:r>
            <a:r>
              <a:rPr b="1" lang="en"/>
              <a:t>cutoff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b="1" lang="en"/>
              <a:t>w</a:t>
            </a:r>
            <a:r>
              <a:rPr lang="en"/>
              <a:t> &gt; 0.34 set the edge to 1.0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set </a:t>
            </a:r>
            <a:r>
              <a:rPr b="1" lang="en"/>
              <a:t>w </a:t>
            </a:r>
            <a:r>
              <a:rPr lang="en"/>
              <a:t>to zero (drop it)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200025" y="43345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5" name="Google Shape;245;p22"/>
          <p:cNvCxnSpPr>
            <a:stCxn id="243" idx="5"/>
            <a:endCxn id="244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6" name="Google Shape;246;p2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9" name="Google Shape;249;p22"/>
          <p:cNvCxnSpPr>
            <a:stCxn id="244" idx="7"/>
            <a:endCxn id="24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0" name="Google Shape;250;p22"/>
          <p:cNvCxnSpPr>
            <a:stCxn id="248" idx="1"/>
            <a:endCxn id="24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1" name="Google Shape;251;p22"/>
          <p:cNvCxnSpPr>
            <a:stCxn id="248" idx="3"/>
            <a:endCxn id="24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" name="Google Shape;252;p22"/>
          <p:cNvCxnSpPr>
            <a:stCxn id="247" idx="1"/>
            <a:endCxn id="246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3" name="Google Shape;253;p22"/>
          <p:cNvCxnSpPr>
            <a:stCxn id="247" idx="2"/>
            <a:endCxn id="244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4" name="Google Shape;254;p22"/>
          <p:cNvCxnSpPr>
            <a:stCxn id="247" idx="0"/>
            <a:endCxn id="244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" name="Google Shape;255;p22"/>
          <p:cNvCxnSpPr>
            <a:stCxn id="247" idx="7"/>
            <a:endCxn id="246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" name="Google Shape;256;p22"/>
          <p:cNvCxnSpPr>
            <a:stCxn id="244" idx="1"/>
            <a:endCxn id="243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57" name="Google Shape;257;p22"/>
          <p:cNvSpPr txBox="1"/>
          <p:nvPr/>
        </p:nvSpPr>
        <p:spPr>
          <a:xfrm>
            <a:off x="5281200" y="23973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0.35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5327913" y="30696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0.78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 rot="-2700000">
            <a:off x="6462948" y="2061529"/>
            <a:ext cx="601182" cy="348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0.63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 rot="2573812">
            <a:off x="6229739" y="3464553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0.14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 rot="2573812">
            <a:off x="6704039" y="2948690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0.98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 rot="-5400000">
            <a:off x="6810373" y="2523361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 rot="-5400000">
            <a:off x="7452761" y="2515386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0.36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 rot="-2451147">
            <a:off x="7853906" y="3335323"/>
            <a:ext cx="601272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0.52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 rot="2850427">
            <a:off x="7893084" y="2170948"/>
            <a:ext cx="601334" cy="34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0.07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271" name="Google Shape;271;p23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Numerical values linked to each edge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edge weight </a:t>
            </a:r>
            <a:r>
              <a:rPr lang="en"/>
              <a:t>(w</a:t>
            </a:r>
            <a:r>
              <a:rPr baseline="-25000" lang="en"/>
              <a:t>uv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{E, V, w}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go from a directed weighted graph to a regular directed graph by using a </a:t>
            </a:r>
            <a:r>
              <a:rPr b="1" lang="en"/>
              <a:t>cutoff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b="1" lang="en"/>
              <a:t>w</a:t>
            </a:r>
            <a:r>
              <a:rPr lang="en"/>
              <a:t> &gt; 0.34 set the edge to 1.0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set </a:t>
            </a:r>
            <a:r>
              <a:rPr b="1" lang="en"/>
              <a:t>w </a:t>
            </a:r>
            <a:r>
              <a:rPr lang="en"/>
              <a:t>to zero (drop it)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binarizing </a:t>
            </a:r>
            <a:r>
              <a:rPr lang="en"/>
              <a:t>the weighted graph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6200025" y="43345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5" name="Google Shape;275;p23"/>
          <p:cNvCxnSpPr>
            <a:stCxn id="273" idx="5"/>
            <a:endCxn id="274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76" name="Google Shape;276;p2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9" name="Google Shape;279;p23"/>
          <p:cNvCxnSpPr>
            <a:stCxn id="274" idx="7"/>
            <a:endCxn id="27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0" name="Google Shape;280;p23"/>
          <p:cNvCxnSpPr>
            <a:stCxn id="278" idx="3"/>
            <a:endCxn id="27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1" name="Google Shape;281;p23"/>
          <p:cNvCxnSpPr>
            <a:stCxn id="277" idx="0"/>
            <a:endCxn id="274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2" name="Google Shape;282;p23"/>
          <p:cNvCxnSpPr>
            <a:stCxn id="277" idx="7"/>
            <a:endCxn id="276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3" name="Google Shape;283;p23"/>
          <p:cNvCxnSpPr>
            <a:stCxn id="274" idx="1"/>
            <a:endCxn id="273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289" name="Google Shape;289;p24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Numerical values linked to each edge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edge weight </a:t>
            </a:r>
            <a:r>
              <a:rPr lang="en"/>
              <a:t>(w</a:t>
            </a:r>
            <a:r>
              <a:rPr baseline="-25000" lang="en"/>
              <a:t>uv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{E, V, w}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Weighted graphs can be either directed or undirected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6200025" y="4386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3" name="Google Shape;293;p24"/>
          <p:cNvCxnSpPr>
            <a:stCxn id="291" idx="6"/>
            <a:endCxn id="292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2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7" name="Google Shape;297;p24"/>
          <p:cNvCxnSpPr>
            <a:stCxn id="292" idx="7"/>
            <a:endCxn id="29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24"/>
          <p:cNvCxnSpPr>
            <a:stCxn id="296" idx="1"/>
            <a:endCxn id="29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24"/>
          <p:cNvCxnSpPr>
            <a:stCxn id="296" idx="3"/>
            <a:endCxn id="29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24"/>
          <p:cNvCxnSpPr>
            <a:stCxn id="295" idx="1"/>
            <a:endCxn id="292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24"/>
          <p:cNvCxnSpPr>
            <a:stCxn id="295" idx="0"/>
            <a:endCxn id="294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4"/>
          <p:cNvSpPr txBox="1"/>
          <p:nvPr/>
        </p:nvSpPr>
        <p:spPr>
          <a:xfrm>
            <a:off x="5327925" y="2601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0.35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 rot="-2700000">
            <a:off x="6462948" y="2061529"/>
            <a:ext cx="601182" cy="348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0.63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 rot="2573812">
            <a:off x="6462964" y="3403653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0.14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 rot="-5400000">
            <a:off x="6973098" y="2707198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 rot="-2451147">
            <a:off x="7853906" y="3335323"/>
            <a:ext cx="601272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0.52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p24"/>
          <p:cNvSpPr txBox="1"/>
          <p:nvPr/>
        </p:nvSpPr>
        <p:spPr>
          <a:xfrm rot="2850427">
            <a:off x="7795834" y="2119248"/>
            <a:ext cx="601334" cy="34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0.07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313" name="Google Shape;313;p25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Numerical values linked to each edge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edge weight </a:t>
            </a:r>
            <a:r>
              <a:rPr lang="en"/>
              <a:t>(w</a:t>
            </a:r>
            <a:r>
              <a:rPr baseline="-25000" lang="en"/>
              <a:t>uv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{E, V, w}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Weighted graphs can be either directed or undirected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Binarizing </a:t>
            </a:r>
            <a:r>
              <a:rPr lang="en"/>
              <a:t>an undirected weighted graph</a:t>
            </a:r>
            <a:r>
              <a:rPr lang="en"/>
              <a:t> returns a </a:t>
            </a:r>
            <a:r>
              <a:rPr b="1" lang="en"/>
              <a:t>simple graph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</a:t>
            </a:r>
            <a:r>
              <a:rPr b="1" lang="en"/>
              <a:t>w</a:t>
            </a:r>
            <a:r>
              <a:rPr lang="en"/>
              <a:t> &gt; 0.15 set the edge to 1.0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Otherwise set </a:t>
            </a:r>
            <a:r>
              <a:rPr b="1" lang="en"/>
              <a:t>w </a:t>
            </a:r>
            <a:r>
              <a:rPr lang="en"/>
              <a:t>to zero (drop it)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6200025" y="4386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7" name="Google Shape;317;p25"/>
          <p:cNvCxnSpPr>
            <a:stCxn id="315" idx="6"/>
            <a:endCxn id="31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1" name="Google Shape;321;p25"/>
          <p:cNvCxnSpPr>
            <a:stCxn id="316" idx="7"/>
            <a:endCxn id="31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25"/>
          <p:cNvCxnSpPr>
            <a:stCxn id="320" idx="3"/>
            <a:endCxn id="31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25"/>
          <p:cNvCxnSpPr>
            <a:stCxn id="319" idx="0"/>
            <a:endCxn id="31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329" name="Google Shape;329;p26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Weighted graphs can be used to represent </a:t>
            </a:r>
            <a:r>
              <a:rPr b="1" lang="en"/>
              <a:t>weighted networks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weighted network we not only measure the presence/absence of a tie, but also the </a:t>
            </a:r>
            <a:r>
              <a:rPr b="1" lang="en"/>
              <a:t>strength</a:t>
            </a:r>
            <a:r>
              <a:rPr b="1" lang="en"/>
              <a:t> of the tie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Proportion of time i and j spend together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texts from i to j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times i retweets j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times i goes to j for help or advice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6200025" y="43345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3" name="Google Shape;333;p26"/>
          <p:cNvCxnSpPr>
            <a:stCxn id="331" idx="5"/>
            <a:endCxn id="33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34" name="Google Shape;334;p2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7" name="Google Shape;337;p26"/>
          <p:cNvCxnSpPr>
            <a:stCxn id="332" idx="7"/>
            <a:endCxn id="33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38" name="Google Shape;338;p26"/>
          <p:cNvCxnSpPr>
            <a:stCxn id="336" idx="1"/>
            <a:endCxn id="33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9" name="Google Shape;339;p26"/>
          <p:cNvCxnSpPr>
            <a:stCxn id="336" idx="3"/>
            <a:endCxn id="33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0" name="Google Shape;340;p26"/>
          <p:cNvCxnSpPr>
            <a:stCxn id="335" idx="1"/>
            <a:endCxn id="33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41" name="Google Shape;341;p26"/>
          <p:cNvCxnSpPr>
            <a:stCxn id="335" idx="2"/>
            <a:endCxn id="332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42" name="Google Shape;342;p26"/>
          <p:cNvCxnSpPr>
            <a:stCxn id="335" idx="0"/>
            <a:endCxn id="332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3" name="Google Shape;343;p26"/>
          <p:cNvCxnSpPr>
            <a:stCxn id="335" idx="7"/>
            <a:endCxn id="33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4" name="Google Shape;344;p26"/>
          <p:cNvCxnSpPr>
            <a:stCxn id="332" idx="1"/>
            <a:endCxn id="33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45" name="Google Shape;345;p26"/>
          <p:cNvSpPr txBox="1"/>
          <p:nvPr/>
        </p:nvSpPr>
        <p:spPr>
          <a:xfrm>
            <a:off x="5281200" y="23973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0.35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5327913" y="30696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0.78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 rot="-2700000">
            <a:off x="6462948" y="2061529"/>
            <a:ext cx="601182" cy="348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0.63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" name="Google Shape;348;p26"/>
          <p:cNvSpPr txBox="1"/>
          <p:nvPr/>
        </p:nvSpPr>
        <p:spPr>
          <a:xfrm rot="2573812">
            <a:off x="6229739" y="3464553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0.14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9" name="Google Shape;349;p26"/>
          <p:cNvSpPr txBox="1"/>
          <p:nvPr/>
        </p:nvSpPr>
        <p:spPr>
          <a:xfrm rot="2573812">
            <a:off x="6704039" y="2948690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0.98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" name="Google Shape;350;p26"/>
          <p:cNvSpPr txBox="1"/>
          <p:nvPr/>
        </p:nvSpPr>
        <p:spPr>
          <a:xfrm rot="-5400000">
            <a:off x="6810373" y="2523361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26"/>
          <p:cNvSpPr txBox="1"/>
          <p:nvPr/>
        </p:nvSpPr>
        <p:spPr>
          <a:xfrm rot="-5400000">
            <a:off x="7452761" y="2515386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0.36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26"/>
          <p:cNvSpPr txBox="1"/>
          <p:nvPr/>
        </p:nvSpPr>
        <p:spPr>
          <a:xfrm rot="-2451147">
            <a:off x="7853906" y="3335323"/>
            <a:ext cx="601272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0.52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p26"/>
          <p:cNvSpPr txBox="1"/>
          <p:nvPr/>
        </p:nvSpPr>
        <p:spPr>
          <a:xfrm rot="2850427">
            <a:off x="7893084" y="2170948"/>
            <a:ext cx="601334" cy="34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0.07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 in Social Networks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364" name="Google Shape;364;p28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8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6" name="Google Shape;366;p28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7" name="Google Shape;367;p28"/>
          <p:cNvCxnSpPr>
            <a:stCxn id="365" idx="0"/>
            <a:endCxn id="366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28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0" name="Google Shape;370;p28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1" name="Google Shape;371;p28"/>
          <p:cNvCxnSpPr>
            <a:stCxn id="366" idx="7"/>
            <a:endCxn id="368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28"/>
          <p:cNvCxnSpPr>
            <a:stCxn id="370" idx="1"/>
            <a:endCxn id="368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28"/>
          <p:cNvCxnSpPr>
            <a:stCxn id="370" idx="3"/>
            <a:endCxn id="369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8"/>
          <p:cNvCxnSpPr>
            <a:stCxn id="369" idx="0"/>
            <a:endCxn id="368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28"/>
          <p:cNvCxnSpPr>
            <a:stCxn id="369" idx="0"/>
            <a:endCxn id="366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28"/>
          <p:cNvCxnSpPr>
            <a:stCxn id="365" idx="0"/>
            <a:endCxn id="368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28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8" name="Google Shape;378;p28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9" name="Google Shape;379;p28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0" name="Google Shape;380;p28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1" name="Google Shape;381;p28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28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4" name="Google Shape;384;p28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390" name="Google Shape;390;p29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solidFill>
                  <a:srgbClr val="0000FF"/>
                </a:solidFill>
              </a:rPr>
              <a:t>Positive links</a:t>
            </a:r>
            <a:r>
              <a:rPr lang="en"/>
              <a:t> (E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9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3" name="Google Shape;393;p29"/>
          <p:cNvCxnSpPr>
            <a:stCxn id="391" idx="0"/>
            <a:endCxn id="392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29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7" name="Google Shape;397;p29"/>
          <p:cNvCxnSpPr>
            <a:stCxn id="392" idx="7"/>
            <a:endCxn id="394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9"/>
          <p:cNvCxnSpPr>
            <a:stCxn id="396" idx="1"/>
            <a:endCxn id="394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9"/>
          <p:cNvCxnSpPr>
            <a:stCxn id="396" idx="3"/>
            <a:endCxn id="395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29"/>
          <p:cNvCxnSpPr>
            <a:stCxn id="395" idx="0"/>
            <a:endCxn id="394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29"/>
          <p:cNvCxnSpPr>
            <a:stCxn id="395" idx="0"/>
            <a:endCxn id="392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29"/>
          <p:cNvCxnSpPr>
            <a:stCxn id="391" idx="0"/>
            <a:endCxn id="394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29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5" name="Google Shape;405;p29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6" name="Google Shape;406;p29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7" name="Google Shape;407;p29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8" name="Google Shape;408;p29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9" name="Google Shape;409;p29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0" name="Google Shape;410;p29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416" name="Google Shape;416;p30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solidFill>
                  <a:srgbClr val="0000FF"/>
                </a:solidFill>
              </a:rPr>
              <a:t>Positive links</a:t>
            </a:r>
            <a:r>
              <a:rPr lang="en"/>
              <a:t> (E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Negative links</a:t>
            </a:r>
            <a:r>
              <a:rPr lang="en"/>
              <a:t> (E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G= {V, E</a:t>
            </a:r>
            <a:r>
              <a:rPr baseline="30000" lang="en"/>
              <a:t>+</a:t>
            </a:r>
            <a:r>
              <a:rPr lang="en"/>
              <a:t>, E</a:t>
            </a:r>
            <a:r>
              <a:rPr baseline="30000" lang="en"/>
              <a:t>-</a:t>
            </a:r>
            <a:r>
              <a:rPr lang="en"/>
              <a:t>}</a:t>
            </a:r>
            <a:endParaRPr/>
          </a:p>
        </p:txBody>
      </p:sp>
      <p:sp>
        <p:nvSpPr>
          <p:cNvPr id="417" name="Google Shape;417;p30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9" name="Google Shape;419;p30"/>
          <p:cNvCxnSpPr>
            <a:stCxn id="417" idx="0"/>
            <a:endCxn id="418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30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1" name="Google Shape;421;p30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2" name="Google Shape;422;p30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3" name="Google Shape;423;p30"/>
          <p:cNvCxnSpPr>
            <a:stCxn id="418" idx="7"/>
            <a:endCxn id="420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30"/>
          <p:cNvCxnSpPr>
            <a:stCxn id="422" idx="1"/>
            <a:endCxn id="420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30"/>
          <p:cNvCxnSpPr>
            <a:stCxn id="422" idx="3"/>
            <a:endCxn id="421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30"/>
          <p:cNvCxnSpPr>
            <a:stCxn id="421" idx="0"/>
            <a:endCxn id="420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0"/>
          <p:cNvCxnSpPr>
            <a:stCxn id="421" idx="0"/>
            <a:endCxn id="418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0"/>
          <p:cNvCxnSpPr>
            <a:stCxn id="417" idx="0"/>
            <a:endCxn id="420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" name="Google Shape;429;p30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0" name="Google Shape;430;p30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1" name="Google Shape;431;p30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2" name="Google Shape;432;p30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3" name="Google Shape;433;p30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4" name="Google Shape;434;p30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5" name="Google Shape;435;p30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6" name="Google Shape;436;p30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442" name="Google Shape;442;p31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Positive links</a:t>
            </a:r>
            <a:r>
              <a:rPr lang="en"/>
              <a:t> (E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Negative links</a:t>
            </a:r>
            <a:r>
              <a:rPr lang="en"/>
              <a:t> (E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G= {V, E</a:t>
            </a:r>
            <a:r>
              <a:rPr baseline="30000" lang="en"/>
              <a:t>+</a:t>
            </a:r>
            <a:r>
              <a:rPr lang="en"/>
              <a:t>, E</a:t>
            </a:r>
            <a:r>
              <a:rPr baseline="30000" lang="en"/>
              <a:t>-</a:t>
            </a:r>
            <a:r>
              <a:rPr lang="en"/>
              <a:t>}</a:t>
            </a:r>
            <a:endParaRPr/>
          </a:p>
        </p:txBody>
      </p:sp>
      <p:sp>
        <p:nvSpPr>
          <p:cNvPr id="443" name="Google Shape;443;p31"/>
          <p:cNvSpPr/>
          <p:nvPr/>
        </p:nvSpPr>
        <p:spPr>
          <a:xfrm>
            <a:off x="481825" y="3597475"/>
            <a:ext cx="3950400" cy="1318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Two sets are disjoint when they don’t share any members! (Their intersection is the empty set ∅)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44" name="Google Shape;444;p31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5" name="Google Shape;445;p31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6" name="Google Shape;446;p31"/>
          <p:cNvCxnSpPr>
            <a:stCxn id="444" idx="0"/>
            <a:endCxn id="445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31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9" name="Google Shape;449;p31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50" name="Google Shape;450;p31"/>
          <p:cNvCxnSpPr>
            <a:stCxn id="445" idx="7"/>
            <a:endCxn id="447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1"/>
          <p:cNvCxnSpPr>
            <a:stCxn id="449" idx="1"/>
            <a:endCxn id="447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1"/>
          <p:cNvCxnSpPr>
            <a:stCxn id="449" idx="3"/>
            <a:endCxn id="448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31"/>
          <p:cNvCxnSpPr>
            <a:stCxn id="448" idx="0"/>
            <a:endCxn id="447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31"/>
          <p:cNvCxnSpPr>
            <a:stCxn id="448" idx="0"/>
            <a:endCxn id="445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1"/>
          <p:cNvCxnSpPr>
            <a:stCxn id="444" idx="0"/>
            <a:endCxn id="447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31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7" name="Google Shape;457;p31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8" name="Google Shape;458;p31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9" name="Google Shape;459;p31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0" name="Google Shape;460;p31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1" name="Google Shape;461;p31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31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3" name="Google Shape;463;p31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469" name="Google Shape;469;p32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Positive links</a:t>
            </a:r>
            <a:r>
              <a:rPr lang="en"/>
              <a:t> (E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Negative links</a:t>
            </a:r>
            <a:r>
              <a:rPr lang="en"/>
              <a:t> (E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G= {V, E</a:t>
            </a:r>
            <a:r>
              <a:rPr baseline="30000" lang="en"/>
              <a:t>+</a:t>
            </a:r>
            <a:r>
              <a:rPr lang="en"/>
              <a:t>, E</a:t>
            </a:r>
            <a:r>
              <a:rPr baseline="30000" lang="en"/>
              <a:t>-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Signed graphs can be either directed or undirected</a:t>
            </a:r>
            <a:endParaRPr/>
          </a:p>
        </p:txBody>
      </p:sp>
      <p:sp>
        <p:nvSpPr>
          <p:cNvPr id="470" name="Google Shape;470;p32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2" name="Google Shape;472;p32"/>
          <p:cNvCxnSpPr>
            <a:stCxn id="470" idx="0"/>
            <a:endCxn id="471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32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4" name="Google Shape;474;p32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5" name="Google Shape;475;p32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6" name="Google Shape;476;p32"/>
          <p:cNvCxnSpPr>
            <a:stCxn id="471" idx="7"/>
            <a:endCxn id="473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32"/>
          <p:cNvCxnSpPr>
            <a:stCxn id="475" idx="1"/>
            <a:endCxn id="473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32"/>
          <p:cNvCxnSpPr>
            <a:stCxn id="475" idx="3"/>
            <a:endCxn id="474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32"/>
          <p:cNvCxnSpPr>
            <a:stCxn id="474" idx="0"/>
            <a:endCxn id="473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32"/>
          <p:cNvCxnSpPr>
            <a:stCxn id="474" idx="0"/>
            <a:endCxn id="471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32"/>
          <p:cNvCxnSpPr>
            <a:stCxn id="470" idx="0"/>
            <a:endCxn id="473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32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3" name="Google Shape;483;p32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4" name="Google Shape;484;p32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5" name="Google Shape;485;p32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6" name="Google Shape;486;p32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7" name="Google Shape;487;p32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8" name="Google Shape;488;p32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9" name="Google Shape;489;p32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495" name="Google Shape;495;p33"/>
          <p:cNvSpPr txBox="1"/>
          <p:nvPr>
            <p:ph idx="1" type="body"/>
          </p:nvPr>
        </p:nvSpPr>
        <p:spPr>
          <a:xfrm>
            <a:off x="311700" y="1225225"/>
            <a:ext cx="4565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can be used to represent </a:t>
            </a:r>
            <a:r>
              <a:rPr b="1" lang="en"/>
              <a:t>sentiment networks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sentiment network edges have a </a:t>
            </a:r>
            <a:r>
              <a:rPr b="1" lang="en"/>
              <a:t>bipolar</a:t>
            </a:r>
            <a:r>
              <a:rPr lang="en"/>
              <a:t> emotional or cognitive value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Likes and dislikes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Alliances/Enmities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theory of </a:t>
            </a:r>
            <a:r>
              <a:rPr b="1" lang="en"/>
              <a:t>structural balance</a:t>
            </a:r>
            <a:r>
              <a:rPr lang="en"/>
              <a:t> deals with sentiment relations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3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8" name="Google Shape;498;p33"/>
          <p:cNvCxnSpPr>
            <a:stCxn id="496" idx="0"/>
            <a:endCxn id="497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33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0" name="Google Shape;500;p33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1" name="Google Shape;501;p33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02" name="Google Shape;502;p33"/>
          <p:cNvCxnSpPr>
            <a:stCxn id="497" idx="7"/>
            <a:endCxn id="499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3"/>
          <p:cNvCxnSpPr>
            <a:stCxn id="501" idx="1"/>
            <a:endCxn id="499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3"/>
          <p:cNvCxnSpPr>
            <a:stCxn id="501" idx="3"/>
            <a:endCxn id="500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33"/>
          <p:cNvCxnSpPr>
            <a:stCxn id="500" idx="0"/>
            <a:endCxn id="499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3"/>
          <p:cNvCxnSpPr>
            <a:stCxn id="500" idx="0"/>
            <a:endCxn id="497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33"/>
          <p:cNvCxnSpPr>
            <a:stCxn id="496" idx="0"/>
            <a:endCxn id="499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33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9" name="Google Shape;509;p33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0" name="Google Shape;510;p33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1" name="Google Shape;511;p33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2" name="Google Shape;512;p33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3" name="Google Shape;513;p33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4" name="Google Shape;514;p33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5" name="Google Shape;515;p33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521" name="Google Shape;521;p34"/>
          <p:cNvSpPr txBox="1"/>
          <p:nvPr>
            <p:ph idx="1" type="body"/>
          </p:nvPr>
        </p:nvSpPr>
        <p:spPr>
          <a:xfrm>
            <a:off x="311700" y="1225225"/>
            <a:ext cx="4565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can be used to represent </a:t>
            </a:r>
            <a:r>
              <a:rPr b="1" lang="en"/>
              <a:t>sentiment networks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sentiment network edges have a </a:t>
            </a:r>
            <a:r>
              <a:rPr b="1" lang="en"/>
              <a:t>bipolar</a:t>
            </a:r>
            <a:r>
              <a:rPr lang="en"/>
              <a:t> emotional or cognitive value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Likes and dislikes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Alliances/Enmities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theory of </a:t>
            </a:r>
            <a:r>
              <a:rPr b="1" lang="en"/>
              <a:t>structural balance</a:t>
            </a:r>
            <a:r>
              <a:rPr lang="en"/>
              <a:t> deals with sentiment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we predict the sign of a new edge based on the sign of other edges?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4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3" name="Google Shape;523;p34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4" name="Google Shape;524;p34"/>
          <p:cNvCxnSpPr>
            <a:stCxn id="522" idx="0"/>
            <a:endCxn id="523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34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6" name="Google Shape;526;p34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7" name="Google Shape;527;p34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8" name="Google Shape;528;p34"/>
          <p:cNvCxnSpPr>
            <a:stCxn id="523" idx="7"/>
            <a:endCxn id="525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34"/>
          <p:cNvCxnSpPr>
            <a:stCxn id="527" idx="1"/>
            <a:endCxn id="525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34"/>
          <p:cNvCxnSpPr>
            <a:stCxn id="527" idx="3"/>
            <a:endCxn id="526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34"/>
          <p:cNvCxnSpPr>
            <a:stCxn id="526" idx="0"/>
            <a:endCxn id="525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34"/>
          <p:cNvCxnSpPr>
            <a:stCxn id="526" idx="0"/>
            <a:endCxn id="523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34"/>
          <p:cNvCxnSpPr>
            <a:stCxn id="522" idx="0"/>
            <a:endCxn id="525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" name="Google Shape;534;p34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5" name="Google Shape;535;p34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6" name="Google Shape;536;p34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7" name="Google Shape;537;p34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8" name="Google Shape;538;p34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9" name="Google Shape;539;p34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0" name="Google Shape;540;p34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41" name="Google Shape;541;p34"/>
          <p:cNvCxnSpPr>
            <a:stCxn id="522" idx="6"/>
            <a:endCxn id="526" idx="2"/>
          </p:cNvCxnSpPr>
          <p:nvPr/>
        </p:nvCxnSpPr>
        <p:spPr>
          <a:xfrm>
            <a:off x="5778050" y="4189850"/>
            <a:ext cx="744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42" name="Google Shape;542;p34"/>
          <p:cNvSpPr txBox="1"/>
          <p:nvPr/>
        </p:nvSpPr>
        <p:spPr>
          <a:xfrm>
            <a:off x="5849750" y="41898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3" name="Google Shape;543;p34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549" name="Google Shape;549;p35"/>
          <p:cNvSpPr txBox="1"/>
          <p:nvPr>
            <p:ph idx="1" type="body"/>
          </p:nvPr>
        </p:nvSpPr>
        <p:spPr>
          <a:xfrm>
            <a:off x="311700" y="1225225"/>
            <a:ext cx="4565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Signed graphs</a:t>
            </a:r>
            <a:r>
              <a:rPr lang="en">
                <a:solidFill>
                  <a:srgbClr val="000000"/>
                </a:solidFill>
              </a:rPr>
              <a:t> are can be used to represent </a:t>
            </a:r>
            <a:r>
              <a:rPr b="1" lang="en">
                <a:solidFill>
                  <a:srgbClr val="000000"/>
                </a:solidFill>
              </a:rPr>
              <a:t>sentiment networks</a:t>
            </a:r>
            <a:endParaRPr b="1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In a sentiment network edges have a </a:t>
            </a:r>
            <a:r>
              <a:rPr b="1" lang="en">
                <a:solidFill>
                  <a:srgbClr val="000000"/>
                </a:solidFill>
              </a:rPr>
              <a:t>bipolar</a:t>
            </a:r>
            <a:r>
              <a:rPr lang="en">
                <a:solidFill>
                  <a:srgbClr val="000000"/>
                </a:solidFill>
              </a:rPr>
              <a:t> emotional or cognitive value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Likes and dislikes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Alliances/Enmities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network theory of </a:t>
            </a:r>
            <a:r>
              <a:rPr b="1" lang="en">
                <a:solidFill>
                  <a:srgbClr val="000000"/>
                </a:solidFill>
              </a:rPr>
              <a:t>structural balance</a:t>
            </a:r>
            <a:r>
              <a:rPr lang="en">
                <a:solidFill>
                  <a:srgbClr val="000000"/>
                </a:solidFill>
              </a:rPr>
              <a:t> deals with sentiment relations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Can we predict the sign of an edge based on the sign of other edges?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Yes! (If people prefer balance)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50" name="Google Shape;550;p35"/>
          <p:cNvSpPr/>
          <p:nvPr/>
        </p:nvSpPr>
        <p:spPr>
          <a:xfrm>
            <a:off x="4992675" y="102625"/>
            <a:ext cx="1627200" cy="1122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tie should be negative!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51" name="Google Shape;551;p35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2" name="Google Shape;552;p35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53" name="Google Shape;553;p35"/>
          <p:cNvCxnSpPr>
            <a:stCxn id="551" idx="0"/>
            <a:endCxn id="552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4" name="Google Shape;554;p35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5" name="Google Shape;555;p35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6" name="Google Shape;556;p35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57" name="Google Shape;557;p35"/>
          <p:cNvCxnSpPr>
            <a:stCxn id="552" idx="7"/>
            <a:endCxn id="554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35"/>
          <p:cNvCxnSpPr>
            <a:stCxn id="556" idx="1"/>
            <a:endCxn id="554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35"/>
          <p:cNvCxnSpPr>
            <a:stCxn id="556" idx="3"/>
            <a:endCxn id="555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35"/>
          <p:cNvCxnSpPr>
            <a:stCxn id="555" idx="0"/>
            <a:endCxn id="554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35"/>
          <p:cNvCxnSpPr>
            <a:stCxn id="555" idx="0"/>
            <a:endCxn id="552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35"/>
          <p:cNvCxnSpPr>
            <a:stCxn id="551" idx="0"/>
            <a:endCxn id="554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" name="Google Shape;563;p35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4" name="Google Shape;564;p35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5" name="Google Shape;565;p35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6" name="Google Shape;566;p35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7" name="Google Shape;567;p35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8" name="Google Shape;568;p35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9" name="Google Shape;569;p35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70" name="Google Shape;570;p35"/>
          <p:cNvCxnSpPr>
            <a:stCxn id="551" idx="6"/>
            <a:endCxn id="555" idx="2"/>
          </p:cNvCxnSpPr>
          <p:nvPr/>
        </p:nvCxnSpPr>
        <p:spPr>
          <a:xfrm>
            <a:off x="5778050" y="4189850"/>
            <a:ext cx="744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" name="Google Shape;571;p35"/>
          <p:cNvSpPr txBox="1"/>
          <p:nvPr/>
        </p:nvSpPr>
        <p:spPr>
          <a:xfrm>
            <a:off x="5849750" y="41898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72" name="Google Shape;572;p35"/>
          <p:cNvCxnSpPr>
            <a:stCxn id="550" idx="4"/>
            <a:endCxn id="571" idx="0"/>
          </p:cNvCxnSpPr>
          <p:nvPr/>
        </p:nvCxnSpPr>
        <p:spPr>
          <a:xfrm>
            <a:off x="5806275" y="1225225"/>
            <a:ext cx="344100" cy="296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3" name="Google Shape;573;p35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8" name="Google Shape;578;p36"/>
          <p:cNvCxnSpPr>
            <a:stCxn id="579" idx="2"/>
            <a:endCxn id="580" idx="0"/>
          </p:cNvCxnSpPr>
          <p:nvPr/>
        </p:nvCxnSpPr>
        <p:spPr>
          <a:xfrm rot="5400000">
            <a:off x="2914525" y="-458525"/>
            <a:ext cx="569100" cy="2528400"/>
          </a:xfrm>
          <a:prstGeom prst="bentConnector3">
            <a:avLst>
              <a:gd fmla="val 2865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9" name="Google Shape;579;p36"/>
          <p:cNvSpPr/>
          <p:nvPr/>
        </p:nvSpPr>
        <p:spPr>
          <a:xfrm>
            <a:off x="2800825" y="31525"/>
            <a:ext cx="33249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Do the edges of the graph have a value attached to them?</a:t>
            </a:r>
            <a:endParaRPr sz="1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0" name="Google Shape;580;p36"/>
          <p:cNvSpPr/>
          <p:nvPr/>
        </p:nvSpPr>
        <p:spPr>
          <a:xfrm>
            <a:off x="940225" y="1090275"/>
            <a:ext cx="1989000" cy="6216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581" name="Google Shape;581;p36"/>
          <p:cNvSpPr/>
          <p:nvPr/>
        </p:nvSpPr>
        <p:spPr>
          <a:xfrm>
            <a:off x="5455050" y="1090275"/>
            <a:ext cx="1989000" cy="621600"/>
          </a:xfrm>
          <a:prstGeom prst="diamond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582" name="Google Shape;582;p36"/>
          <p:cNvCxnSpPr>
            <a:stCxn id="579" idx="2"/>
            <a:endCxn id="581" idx="0"/>
          </p:cNvCxnSpPr>
          <p:nvPr/>
        </p:nvCxnSpPr>
        <p:spPr>
          <a:xfrm flipH="1" rot="-5400000">
            <a:off x="5171875" y="-187475"/>
            <a:ext cx="569100" cy="1986300"/>
          </a:xfrm>
          <a:prstGeom prst="bentConnector3">
            <a:avLst>
              <a:gd fmla="val 2865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3" name="Google Shape;583;p36"/>
          <p:cNvSpPr txBox="1"/>
          <p:nvPr/>
        </p:nvSpPr>
        <p:spPr>
          <a:xfrm>
            <a:off x="3163450" y="605046"/>
            <a:ext cx="401400" cy="17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584" name="Google Shape;584;p36"/>
          <p:cNvSpPr txBox="1"/>
          <p:nvPr/>
        </p:nvSpPr>
        <p:spPr>
          <a:xfrm>
            <a:off x="5194994" y="605038"/>
            <a:ext cx="401400" cy="17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585" name="Google Shape;585;p36"/>
          <p:cNvSpPr/>
          <p:nvPr/>
        </p:nvSpPr>
        <p:spPr>
          <a:xfrm>
            <a:off x="1167925" y="1981263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Do the edges have a direction?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586" name="Google Shape;586;p36"/>
          <p:cNvCxnSpPr>
            <a:stCxn id="580" idx="2"/>
            <a:endCxn id="585" idx="0"/>
          </p:cNvCxnSpPr>
          <p:nvPr/>
        </p:nvCxnSpPr>
        <p:spPr>
          <a:xfrm flipH="1" rot="-5400000">
            <a:off x="1800325" y="1846275"/>
            <a:ext cx="2694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7" name="Google Shape;587;p36"/>
          <p:cNvCxnSpPr>
            <a:stCxn id="585" idx="2"/>
            <a:endCxn id="588" idx="0"/>
          </p:cNvCxnSpPr>
          <p:nvPr/>
        </p:nvCxnSpPr>
        <p:spPr>
          <a:xfrm rot="5400000">
            <a:off x="1087525" y="2306163"/>
            <a:ext cx="682500" cy="10119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36"/>
          <p:cNvCxnSpPr>
            <a:stCxn id="585" idx="2"/>
            <a:endCxn id="590" idx="0"/>
          </p:cNvCxnSpPr>
          <p:nvPr/>
        </p:nvCxnSpPr>
        <p:spPr>
          <a:xfrm flipH="1" rot="-5400000">
            <a:off x="1975225" y="2430363"/>
            <a:ext cx="686400" cy="767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8" name="Google Shape;588;p36"/>
          <p:cNvSpPr/>
          <p:nvPr/>
        </p:nvSpPr>
        <p:spPr>
          <a:xfrm>
            <a:off x="33175" y="3153500"/>
            <a:ext cx="1779300" cy="6216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591" name="Google Shape;591;p36"/>
          <p:cNvSpPr/>
          <p:nvPr/>
        </p:nvSpPr>
        <p:spPr>
          <a:xfrm>
            <a:off x="816375" y="4117725"/>
            <a:ext cx="1779300" cy="6216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590" name="Google Shape;590;p36"/>
          <p:cNvSpPr/>
          <p:nvPr/>
        </p:nvSpPr>
        <p:spPr>
          <a:xfrm>
            <a:off x="1935325" y="3157263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592" name="Google Shape;592;p36"/>
          <p:cNvCxnSpPr>
            <a:stCxn id="590" idx="2"/>
            <a:endCxn id="591" idx="0"/>
          </p:cNvCxnSpPr>
          <p:nvPr/>
        </p:nvCxnSpPr>
        <p:spPr>
          <a:xfrm rot="5400000">
            <a:off x="1968625" y="3384363"/>
            <a:ext cx="471000" cy="9960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36"/>
          <p:cNvCxnSpPr>
            <a:stCxn id="590" idx="2"/>
            <a:endCxn id="594" idx="0"/>
          </p:cNvCxnSpPr>
          <p:nvPr/>
        </p:nvCxnSpPr>
        <p:spPr>
          <a:xfrm flipH="1" rot="-5400000">
            <a:off x="2296975" y="4052013"/>
            <a:ext cx="8109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4" name="Google Shape;594;p36"/>
          <p:cNvSpPr/>
          <p:nvPr/>
        </p:nvSpPr>
        <p:spPr>
          <a:xfrm>
            <a:off x="1812475" y="4457725"/>
            <a:ext cx="1779300" cy="6216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595" name="Google Shape;595;p36"/>
          <p:cNvSpPr/>
          <p:nvPr/>
        </p:nvSpPr>
        <p:spPr>
          <a:xfrm>
            <a:off x="5065350" y="1986338"/>
            <a:ext cx="27684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Can the edge values be any number or only -1 or + 1?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596" name="Google Shape;596;p36"/>
          <p:cNvCxnSpPr>
            <a:stCxn id="581" idx="2"/>
            <a:endCxn id="595" idx="0"/>
          </p:cNvCxnSpPr>
          <p:nvPr/>
        </p:nvCxnSpPr>
        <p:spPr>
          <a:xfrm flipH="1" rot="-5400000">
            <a:off x="6312600" y="1848825"/>
            <a:ext cx="274500" cy="6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7" name="Google Shape;597;p36"/>
          <p:cNvCxnSpPr>
            <a:stCxn id="595" idx="2"/>
            <a:endCxn id="598" idx="0"/>
          </p:cNvCxnSpPr>
          <p:nvPr/>
        </p:nvCxnSpPr>
        <p:spPr>
          <a:xfrm rot="5400000">
            <a:off x="5652750" y="2161838"/>
            <a:ext cx="482700" cy="11109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98" name="Google Shape;598;p36"/>
          <p:cNvSpPr/>
          <p:nvPr/>
        </p:nvSpPr>
        <p:spPr>
          <a:xfrm>
            <a:off x="4571988" y="2958525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599" name="Google Shape;599;p36"/>
          <p:cNvCxnSpPr>
            <a:stCxn id="598" idx="2"/>
            <a:endCxn id="600" idx="0"/>
          </p:cNvCxnSpPr>
          <p:nvPr/>
        </p:nvCxnSpPr>
        <p:spPr>
          <a:xfrm rot="5400000">
            <a:off x="4652088" y="3077325"/>
            <a:ext cx="315900" cy="10575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36"/>
          <p:cNvSpPr/>
          <p:nvPr/>
        </p:nvSpPr>
        <p:spPr>
          <a:xfrm>
            <a:off x="3391650" y="3764063"/>
            <a:ext cx="1779300" cy="710100"/>
          </a:xfrm>
          <a:prstGeom prst="diamond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Weighted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601" name="Google Shape;601;p36"/>
          <p:cNvCxnSpPr>
            <a:stCxn id="595" idx="2"/>
            <a:endCxn id="602" idx="0"/>
          </p:cNvCxnSpPr>
          <p:nvPr/>
        </p:nvCxnSpPr>
        <p:spPr>
          <a:xfrm flipH="1" rot="-5400000">
            <a:off x="6671550" y="2253938"/>
            <a:ext cx="492300" cy="9363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02" name="Google Shape;602;p36"/>
          <p:cNvSpPr/>
          <p:nvPr/>
        </p:nvSpPr>
        <p:spPr>
          <a:xfrm>
            <a:off x="6619075" y="2968200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03" name="Google Shape;603;p36"/>
          <p:cNvSpPr/>
          <p:nvPr/>
        </p:nvSpPr>
        <p:spPr>
          <a:xfrm>
            <a:off x="4449138" y="4117725"/>
            <a:ext cx="1779300" cy="710100"/>
          </a:xfrm>
          <a:prstGeom prst="diamond">
            <a:avLst/>
          </a:prstGeom>
          <a:solidFill>
            <a:srgbClr val="CC412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Weighted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04" name="Google Shape;604;p36"/>
          <p:cNvSpPr/>
          <p:nvPr/>
        </p:nvSpPr>
        <p:spPr>
          <a:xfrm>
            <a:off x="5596425" y="4430000"/>
            <a:ext cx="1779300" cy="710100"/>
          </a:xfrm>
          <a:prstGeom prst="diamond">
            <a:avLst/>
          </a:prstGeom>
          <a:solidFill>
            <a:srgbClr val="B45F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Signed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05" name="Google Shape;605;p36"/>
          <p:cNvSpPr/>
          <p:nvPr/>
        </p:nvSpPr>
        <p:spPr>
          <a:xfrm>
            <a:off x="7364700" y="4429975"/>
            <a:ext cx="1779300" cy="710100"/>
          </a:xfrm>
          <a:prstGeom prst="diamond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Signed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606" name="Google Shape;606;p36"/>
          <p:cNvCxnSpPr>
            <a:stCxn id="602" idx="2"/>
            <a:endCxn id="604" idx="0"/>
          </p:cNvCxnSpPr>
          <p:nvPr/>
        </p:nvCxnSpPr>
        <p:spPr>
          <a:xfrm rot="5400000">
            <a:off x="6449875" y="3494100"/>
            <a:ext cx="972300" cy="8997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36"/>
          <p:cNvCxnSpPr>
            <a:stCxn id="602" idx="2"/>
            <a:endCxn id="605" idx="0"/>
          </p:cNvCxnSpPr>
          <p:nvPr/>
        </p:nvCxnSpPr>
        <p:spPr>
          <a:xfrm flipH="1" rot="-5400000">
            <a:off x="7333975" y="3509700"/>
            <a:ext cx="972300" cy="8685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" name="Google Shape;608;p36"/>
          <p:cNvSpPr txBox="1"/>
          <p:nvPr/>
        </p:nvSpPr>
        <p:spPr>
          <a:xfrm>
            <a:off x="1912525" y="3785238"/>
            <a:ext cx="5832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09" name="Google Shape;609;p36"/>
          <p:cNvSpPr txBox="1"/>
          <p:nvPr/>
        </p:nvSpPr>
        <p:spPr>
          <a:xfrm>
            <a:off x="2490617" y="4079497"/>
            <a:ext cx="4230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0" name="Google Shape;610;p36"/>
          <p:cNvSpPr txBox="1"/>
          <p:nvPr/>
        </p:nvSpPr>
        <p:spPr>
          <a:xfrm>
            <a:off x="6811838" y="385599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611" name="Google Shape;611;p36"/>
          <p:cNvCxnSpPr>
            <a:stCxn id="598" idx="2"/>
            <a:endCxn id="603" idx="0"/>
          </p:cNvCxnSpPr>
          <p:nvPr/>
        </p:nvCxnSpPr>
        <p:spPr>
          <a:xfrm>
            <a:off x="5338788" y="3448125"/>
            <a:ext cx="0" cy="6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36"/>
          <p:cNvSpPr txBox="1"/>
          <p:nvPr/>
        </p:nvSpPr>
        <p:spPr>
          <a:xfrm>
            <a:off x="5732900" y="2629188"/>
            <a:ext cx="433500" cy="17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 SemiBold"/>
                <a:ea typeface="Open Sans SemiBold"/>
                <a:cs typeface="Open Sans SemiBold"/>
                <a:sym typeface="Open Sans SemiBold"/>
              </a:rPr>
              <a:t>Any</a:t>
            </a:r>
            <a:endParaRPr sz="10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3" name="Google Shape;613;p36"/>
          <p:cNvSpPr txBox="1"/>
          <p:nvPr/>
        </p:nvSpPr>
        <p:spPr>
          <a:xfrm>
            <a:off x="6734750" y="2634031"/>
            <a:ext cx="433500" cy="17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 SemiBold"/>
                <a:ea typeface="Open Sans SemiBold"/>
                <a:cs typeface="Open Sans SemiBold"/>
                <a:sym typeface="Open Sans SemiBold"/>
              </a:rPr>
              <a:t>+1/-1 </a:t>
            </a:r>
            <a:endParaRPr sz="10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4" name="Google Shape;614;p36"/>
          <p:cNvSpPr txBox="1"/>
          <p:nvPr/>
        </p:nvSpPr>
        <p:spPr>
          <a:xfrm>
            <a:off x="1311000" y="269434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5" name="Google Shape;615;p36"/>
          <p:cNvSpPr txBox="1"/>
          <p:nvPr/>
        </p:nvSpPr>
        <p:spPr>
          <a:xfrm>
            <a:off x="5150550" y="381688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6" name="Google Shape;616;p36"/>
          <p:cNvSpPr txBox="1"/>
          <p:nvPr/>
        </p:nvSpPr>
        <p:spPr>
          <a:xfrm>
            <a:off x="2122975" y="269433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7" name="Google Shape;617;p36"/>
          <p:cNvSpPr txBox="1"/>
          <p:nvPr/>
        </p:nvSpPr>
        <p:spPr>
          <a:xfrm>
            <a:off x="7644575" y="381308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8" name="Google Shape;618;p36"/>
          <p:cNvSpPr txBox="1"/>
          <p:nvPr/>
        </p:nvSpPr>
        <p:spPr>
          <a:xfrm>
            <a:off x="4571275" y="3518210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