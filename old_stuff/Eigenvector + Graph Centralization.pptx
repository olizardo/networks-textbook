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embeddedFontLst>
    <p:embeddedFont>
      <p:font typeface="Economica"/>
      <p:regular r:id="rId23"/>
      <p:bold r:id="rId24"/>
      <p:italic r:id="rId25"/>
      <p:boldItalic r:id="rId26"/>
    </p:embeddedFont>
    <p:embeddedFont>
      <p:font typeface="Open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E9B5B18-489E-4665-AD7D-2D9B7C13BD52}">
  <a:tblStyle styleId="{3E9B5B18-489E-4665-AD7D-2D9B7C13BD5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18DA652-73CB-4869-902E-A27463A55059}"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Economica-bold.fntdata"/><Relationship Id="rId23" Type="http://schemas.openxmlformats.org/officeDocument/2006/relationships/font" Target="fonts/Economica-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Economica-boldItalic.fntdata"/><Relationship Id="rId25" Type="http://schemas.openxmlformats.org/officeDocument/2006/relationships/font" Target="fonts/Economica-italic.fntdata"/><Relationship Id="rId28" Type="http://schemas.openxmlformats.org/officeDocument/2006/relationships/font" Target="fonts/OpenSans-bold.fntdata"/><Relationship Id="rId27" Type="http://schemas.openxmlformats.org/officeDocument/2006/relationships/font" Target="fonts/OpenSans-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OpenSans-italic.fntdata"/><Relationship Id="rId7" Type="http://schemas.openxmlformats.org/officeDocument/2006/relationships/notesMaster" Target="notesMasters/notesMaster1.xml"/><Relationship Id="rId8" Type="http://schemas.openxmlformats.org/officeDocument/2006/relationships/slide" Target="slides/slide1.xml"/><Relationship Id="rId30" Type="http://schemas.openxmlformats.org/officeDocument/2006/relationships/font" Target="fonts/OpenSans-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0a07e02d85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0a07e02d85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0a07e02d85_0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0a07e02d85_0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0a07e02d85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0a07e02d85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0a07e02d85_0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0a07e02d85_0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0a07e02d85_0_8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0a07e02d85_0_8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0a07e02d85_0_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0a07e02d85_0_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0a07e02d85_0_1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0a07e02d85_0_1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0a07e02d85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0a07e02d85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0a07e02d85_0_1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0a07e02d85_0_1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0a07e02d85_0_10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0a07e02d85_0_10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0a07e02d85_0_1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0a07e02d85_0_1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0a07e02d85_0_1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0a07e02d85_0_1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0a07e02d85_0_1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0a07e02d85_0_1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0a07e02d85_0_1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0a07e02d85_0_1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0a07e02d85_0_1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30a07e02d85_0_1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6" name="Google Shape;56;p14"/>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7" name="Google Shape;57;p14"/>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58" name="Google Shape;58;p14"/>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5"/>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2" name="Google Shape;62;p15"/>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3" name="Google Shape;63;p15"/>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68" name="Google Shape;68;p1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72" name="Google Shape;72;p17"/>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3" name="Google Shape;73;p17"/>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77" name="Google Shape;77;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0" name="Google Shape;80;p19"/>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81" name="Google Shape;81;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0"/>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5" name="Google Shape;8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6" name="Shape 86"/>
        <p:cNvGrpSpPr/>
        <p:nvPr/>
      </p:nvGrpSpPr>
      <p:grpSpPr>
        <a:xfrm>
          <a:off x="0" y="0"/>
          <a:ext cx="0" cy="0"/>
          <a:chOff x="0" y="0"/>
          <a:chExt cx="0" cy="0"/>
        </a:xfrm>
      </p:grpSpPr>
      <p:sp>
        <p:nvSpPr>
          <p:cNvPr id="87" name="Google Shape;87;p21"/>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 name="Google Shape;88;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9" name="Google Shape;89;p21"/>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90" name="Google Shape;90;p21"/>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91" name="Google Shape;91;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92" name="Google Shape;92;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3" name="Shape 93"/>
        <p:cNvGrpSpPr/>
        <p:nvPr/>
      </p:nvGrpSpPr>
      <p:grpSpPr>
        <a:xfrm>
          <a:off x="0" y="0"/>
          <a:ext cx="0" cy="0"/>
          <a:chOff x="0" y="0"/>
          <a:chExt cx="0" cy="0"/>
        </a:xfrm>
      </p:grpSpPr>
      <p:sp>
        <p:nvSpPr>
          <p:cNvPr id="94" name="Google Shape;94;p22"/>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95" name="Google Shape;9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6" name="Shape 96"/>
        <p:cNvGrpSpPr/>
        <p:nvPr/>
      </p:nvGrpSpPr>
      <p:grpSpPr>
        <a:xfrm>
          <a:off x="0" y="0"/>
          <a:ext cx="0" cy="0"/>
          <a:chOff x="0" y="0"/>
          <a:chExt cx="0" cy="0"/>
        </a:xfrm>
      </p:grpSpPr>
      <p:sp>
        <p:nvSpPr>
          <p:cNvPr id="97" name="Google Shape;97;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3"/>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99" name="Google Shape;99;p23"/>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100" name="Google Shape;100;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103" name="Shape 103"/>
        <p:cNvGrpSpPr/>
        <p:nvPr/>
      </p:nvGrpSpPr>
      <p:grpSpPr>
        <a:xfrm>
          <a:off x="0" y="0"/>
          <a:ext cx="0" cy="0"/>
          <a:chOff x="0" y="0"/>
          <a:chExt cx="0" cy="0"/>
        </a:xfrm>
      </p:grpSpPr>
      <p:sp>
        <p:nvSpPr>
          <p:cNvPr id="104" name="Google Shape;104;p25"/>
          <p:cNvSpPr txBox="1"/>
          <p:nvPr>
            <p:ph type="title"/>
          </p:nvPr>
        </p:nvSpPr>
        <p:spPr>
          <a:xfrm>
            <a:off x="457200" y="205978"/>
            <a:ext cx="8229600" cy="857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4200"/>
              <a:buNone/>
              <a:defRPr sz="4400">
                <a:solidFill>
                  <a:schemeClr val="dk1"/>
                </a:solidFill>
                <a:latin typeface="Calibri"/>
                <a:ea typeface="Calibri"/>
                <a:cs typeface="Calibri"/>
                <a:sym typeface="Calibri"/>
              </a:defRPr>
            </a:lvl1pPr>
            <a:lvl2pPr lvl="1" algn="ctr">
              <a:spcBef>
                <a:spcPts val="0"/>
              </a:spcBef>
              <a:spcAft>
                <a:spcPts val="0"/>
              </a:spcAft>
              <a:buSzPts val="4200"/>
              <a:buNone/>
              <a:defRPr sz="4400">
                <a:solidFill>
                  <a:schemeClr val="dk1"/>
                </a:solidFill>
                <a:latin typeface="Calibri"/>
                <a:ea typeface="Calibri"/>
                <a:cs typeface="Calibri"/>
                <a:sym typeface="Calibri"/>
              </a:defRPr>
            </a:lvl2pPr>
            <a:lvl3pPr lvl="2" algn="ctr">
              <a:spcBef>
                <a:spcPts val="0"/>
              </a:spcBef>
              <a:spcAft>
                <a:spcPts val="0"/>
              </a:spcAft>
              <a:buSzPts val="4200"/>
              <a:buNone/>
              <a:defRPr sz="4400">
                <a:solidFill>
                  <a:schemeClr val="dk1"/>
                </a:solidFill>
                <a:latin typeface="Calibri"/>
                <a:ea typeface="Calibri"/>
                <a:cs typeface="Calibri"/>
                <a:sym typeface="Calibri"/>
              </a:defRPr>
            </a:lvl3pPr>
            <a:lvl4pPr lvl="3" algn="ctr">
              <a:spcBef>
                <a:spcPts val="0"/>
              </a:spcBef>
              <a:spcAft>
                <a:spcPts val="0"/>
              </a:spcAft>
              <a:buSzPts val="4200"/>
              <a:buNone/>
              <a:defRPr sz="4400">
                <a:solidFill>
                  <a:schemeClr val="dk1"/>
                </a:solidFill>
                <a:latin typeface="Calibri"/>
                <a:ea typeface="Calibri"/>
                <a:cs typeface="Calibri"/>
                <a:sym typeface="Calibri"/>
              </a:defRPr>
            </a:lvl4pPr>
            <a:lvl5pPr lvl="4" algn="ctr">
              <a:spcBef>
                <a:spcPts val="0"/>
              </a:spcBef>
              <a:spcAft>
                <a:spcPts val="0"/>
              </a:spcAft>
              <a:buSzPts val="4200"/>
              <a:buNone/>
              <a:defRPr sz="4400">
                <a:solidFill>
                  <a:schemeClr val="dk1"/>
                </a:solidFill>
                <a:latin typeface="Calibri"/>
                <a:ea typeface="Calibri"/>
                <a:cs typeface="Calibri"/>
                <a:sym typeface="Calibri"/>
              </a:defRPr>
            </a:lvl5pPr>
            <a:lvl6pPr lvl="5" marL="457200" algn="ctr">
              <a:spcBef>
                <a:spcPts val="0"/>
              </a:spcBef>
              <a:spcAft>
                <a:spcPts val="0"/>
              </a:spcAft>
              <a:buSzPts val="4200"/>
              <a:buNone/>
              <a:defRPr sz="4400">
                <a:solidFill>
                  <a:schemeClr val="dk1"/>
                </a:solidFill>
                <a:latin typeface="Calibri"/>
                <a:ea typeface="Calibri"/>
                <a:cs typeface="Calibri"/>
                <a:sym typeface="Calibri"/>
              </a:defRPr>
            </a:lvl6pPr>
            <a:lvl7pPr lvl="6" marL="914400" algn="ctr">
              <a:spcBef>
                <a:spcPts val="0"/>
              </a:spcBef>
              <a:spcAft>
                <a:spcPts val="0"/>
              </a:spcAft>
              <a:buSzPts val="4200"/>
              <a:buNone/>
              <a:defRPr sz="4400">
                <a:solidFill>
                  <a:schemeClr val="dk1"/>
                </a:solidFill>
                <a:latin typeface="Calibri"/>
                <a:ea typeface="Calibri"/>
                <a:cs typeface="Calibri"/>
                <a:sym typeface="Calibri"/>
              </a:defRPr>
            </a:lvl7pPr>
            <a:lvl8pPr lvl="7" marL="1371600" algn="ctr">
              <a:spcBef>
                <a:spcPts val="0"/>
              </a:spcBef>
              <a:spcAft>
                <a:spcPts val="0"/>
              </a:spcAft>
              <a:buSzPts val="4200"/>
              <a:buNone/>
              <a:defRPr sz="4400">
                <a:solidFill>
                  <a:schemeClr val="dk1"/>
                </a:solidFill>
                <a:latin typeface="Calibri"/>
                <a:ea typeface="Calibri"/>
                <a:cs typeface="Calibri"/>
                <a:sym typeface="Calibri"/>
              </a:defRPr>
            </a:lvl8pPr>
            <a:lvl9pPr lvl="8" marL="1828800" algn="ctr">
              <a:spcBef>
                <a:spcPts val="0"/>
              </a:spcBef>
              <a:spcAft>
                <a:spcPts val="0"/>
              </a:spcAft>
              <a:buSzPts val="4200"/>
              <a:buNone/>
              <a:defRPr sz="4400">
                <a:solidFill>
                  <a:schemeClr val="dk1"/>
                </a:solidFill>
                <a:latin typeface="Calibri"/>
                <a:ea typeface="Calibri"/>
                <a:cs typeface="Calibri"/>
                <a:sym typeface="Calibri"/>
              </a:defRPr>
            </a:lvl9pPr>
          </a:lstStyle>
          <a:p/>
        </p:txBody>
      </p:sp>
      <p:sp>
        <p:nvSpPr>
          <p:cNvPr id="105" name="Google Shape;105;p25"/>
          <p:cNvSpPr txBox="1"/>
          <p:nvPr>
            <p:ph idx="1" type="body"/>
          </p:nvPr>
        </p:nvSpPr>
        <p:spPr>
          <a:xfrm>
            <a:off x="457200" y="1200150"/>
            <a:ext cx="8229600" cy="3394500"/>
          </a:xfrm>
          <a:prstGeom prst="rect">
            <a:avLst/>
          </a:prstGeom>
          <a:noFill/>
          <a:ln>
            <a:noFill/>
          </a:ln>
        </p:spPr>
        <p:txBody>
          <a:bodyPr anchorCtr="0" anchor="t" bIns="91425" lIns="91425" spcFirstLastPara="1" rIns="91425" wrap="square" tIns="91425">
            <a:noAutofit/>
          </a:bodyPr>
          <a:lstStyle>
            <a:lvl1pPr indent="-342900" lvl="0" marL="457200" algn="l">
              <a:spcBef>
                <a:spcPts val="640"/>
              </a:spcBef>
              <a:spcAft>
                <a:spcPts val="0"/>
              </a:spcAft>
              <a:buClr>
                <a:schemeClr val="dk1"/>
              </a:buClr>
              <a:buSzPts val="1800"/>
              <a:buFont typeface="Calibri"/>
              <a:buChar char="●"/>
              <a:defRPr sz="3200">
                <a:solidFill>
                  <a:schemeClr val="dk1"/>
                </a:solidFill>
                <a:latin typeface="Calibri"/>
                <a:ea typeface="Calibri"/>
                <a:cs typeface="Calibri"/>
                <a:sym typeface="Calibri"/>
              </a:defRPr>
            </a:lvl1pPr>
            <a:lvl2pPr indent="-317500" lvl="1" marL="914400" algn="l">
              <a:spcBef>
                <a:spcPts val="560"/>
              </a:spcBef>
              <a:spcAft>
                <a:spcPts val="0"/>
              </a:spcAft>
              <a:buClr>
                <a:schemeClr val="dk1"/>
              </a:buClr>
              <a:buSzPts val="1400"/>
              <a:buFont typeface="Calibri"/>
              <a:buChar char="●"/>
              <a:defRPr sz="2800">
                <a:solidFill>
                  <a:schemeClr val="dk1"/>
                </a:solidFill>
                <a:latin typeface="Calibri"/>
                <a:ea typeface="Calibri"/>
                <a:cs typeface="Calibri"/>
                <a:sym typeface="Calibri"/>
              </a:defRPr>
            </a:lvl2pPr>
            <a:lvl3pPr indent="-317500" lvl="2" marL="1371600" algn="l">
              <a:spcBef>
                <a:spcPts val="480"/>
              </a:spcBef>
              <a:spcAft>
                <a:spcPts val="0"/>
              </a:spcAft>
              <a:buClr>
                <a:schemeClr val="dk1"/>
              </a:buClr>
              <a:buSzPts val="1400"/>
              <a:buFont typeface="Calibri"/>
              <a:buChar char="●"/>
              <a:defRPr sz="2400">
                <a:solidFill>
                  <a:schemeClr val="dk1"/>
                </a:solidFill>
                <a:latin typeface="Calibri"/>
                <a:ea typeface="Calibri"/>
                <a:cs typeface="Calibri"/>
                <a:sym typeface="Calibri"/>
              </a:defRPr>
            </a:lvl3pPr>
            <a:lvl4pPr indent="-317500" lvl="3" marL="182880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4pPr>
            <a:lvl5pPr indent="-317500" lvl="4" marL="228600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5pPr>
            <a:lvl6pPr indent="-317500" lvl="5" marL="274320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6pPr>
            <a:lvl7pPr indent="-317500" lvl="6" marL="3200400" algn="l">
              <a:spcBef>
                <a:spcPts val="1600"/>
              </a:spcBef>
              <a:spcAft>
                <a:spcPts val="0"/>
              </a:spcAft>
              <a:buClr>
                <a:schemeClr val="dk1"/>
              </a:buClr>
              <a:buSzPts val="1400"/>
              <a:buFont typeface="Calibri"/>
              <a:buChar char="●"/>
              <a:defRPr sz="2000">
                <a:solidFill>
                  <a:schemeClr val="dk1"/>
                </a:solidFill>
                <a:latin typeface="Calibri"/>
                <a:ea typeface="Calibri"/>
                <a:cs typeface="Calibri"/>
                <a:sym typeface="Calibri"/>
              </a:defRPr>
            </a:lvl7pPr>
            <a:lvl8pPr indent="-317500" lvl="7" marL="3657600" algn="l">
              <a:spcBef>
                <a:spcPts val="1600"/>
              </a:spcBef>
              <a:spcAft>
                <a:spcPts val="0"/>
              </a:spcAft>
              <a:buClr>
                <a:schemeClr val="dk1"/>
              </a:buClr>
              <a:buSzPts val="1400"/>
              <a:buFont typeface="Calibri"/>
              <a:buChar char="●"/>
              <a:defRPr sz="2000">
                <a:solidFill>
                  <a:schemeClr val="dk1"/>
                </a:solidFill>
                <a:latin typeface="Calibri"/>
                <a:ea typeface="Calibri"/>
                <a:cs typeface="Calibri"/>
                <a:sym typeface="Calibri"/>
              </a:defRPr>
            </a:lvl8pPr>
            <a:lvl9pPr indent="-317500" lvl="8" marL="4114800" algn="l">
              <a:spcBef>
                <a:spcPts val="1600"/>
              </a:spcBef>
              <a:spcAft>
                <a:spcPts val="1600"/>
              </a:spcAft>
              <a:buClr>
                <a:schemeClr val="dk1"/>
              </a:buClr>
              <a:buSzPts val="1400"/>
              <a:buFont typeface="Calibri"/>
              <a:buChar char="●"/>
              <a:defRPr sz="2000">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2.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52" name="Google Shape;52;p13"/>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6.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6.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5.gif"/><Relationship Id="rId5" Type="http://schemas.openxmlformats.org/officeDocument/2006/relationships/image" Target="../media/image6.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5.gif"/><Relationship Id="rId5" Type="http://schemas.openxmlformats.org/officeDocument/2006/relationships/image" Target="../media/image2.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gif"/><Relationship Id="rId4" Type="http://schemas.openxmlformats.org/officeDocument/2006/relationships/image" Target="../media/image1.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Eigenvector (C</a:t>
            </a:r>
            <a:r>
              <a:rPr baseline="-25000" lang="en"/>
              <a:t>Eig</a:t>
            </a:r>
            <a:r>
              <a:rPr lang="en"/>
              <a:t>)</a:t>
            </a:r>
            <a:endParaRPr/>
          </a:p>
        </p:txBody>
      </p:sp>
      <p:sp>
        <p:nvSpPr>
          <p:cNvPr id="111" name="Google Shape;111;p26"/>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12" name="Google Shape;112;p26"/>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13" name="Google Shape;113;p26"/>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14" name="Google Shape;114;p26"/>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15" name="Google Shape;115;p26"/>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16" name="Google Shape;116;p26"/>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17" name="Google Shape;117;p26"/>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18" name="Google Shape;118;p26"/>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19" name="Google Shape;119;p26"/>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20" name="Google Shape;120;p26"/>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21" name="Google Shape;121;p26"/>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22" name="Google Shape;122;p26"/>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23" name="Google Shape;123;p26"/>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24" name="Google Shape;124;p26"/>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25" name="Google Shape;125;p26"/>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26" name="Google Shape;126;p26"/>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27" name="Google Shape;127;p26"/>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28" name="Google Shape;128;p26"/>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29" name="Google Shape;129;p26"/>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30" name="Google Shape;130;p26"/>
          <p:cNvCxnSpPr>
            <a:stCxn id="129" idx="2"/>
            <a:endCxn id="128"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31" name="Google Shape;131;p26"/>
          <p:cNvCxnSpPr>
            <a:stCxn id="127" idx="0"/>
            <a:endCxn id="128"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32" name="Google Shape;132;p26"/>
          <p:cNvCxnSpPr>
            <a:stCxn id="126" idx="2"/>
            <a:endCxn id="127"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33" name="Google Shape;133;p26"/>
          <p:cNvCxnSpPr>
            <a:stCxn id="126" idx="2"/>
            <a:endCxn id="122"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34" name="Google Shape;134;p26"/>
          <p:cNvCxnSpPr>
            <a:stCxn id="126" idx="2"/>
            <a:endCxn id="125"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35" name="Google Shape;135;p26"/>
          <p:cNvCxnSpPr>
            <a:stCxn id="125" idx="2"/>
            <a:endCxn id="122"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136" name="Google Shape;136;p26"/>
          <p:cNvCxnSpPr>
            <a:stCxn id="125" idx="1"/>
            <a:endCxn id="121"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37" name="Google Shape;137;p26"/>
          <p:cNvCxnSpPr>
            <a:stCxn id="124" idx="0"/>
            <a:endCxn id="122"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38" name="Google Shape;138;p26"/>
          <p:cNvCxnSpPr>
            <a:stCxn id="123" idx="7"/>
            <a:endCxn id="122"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39" name="Google Shape;139;p26"/>
          <p:cNvCxnSpPr>
            <a:stCxn id="124" idx="1"/>
            <a:endCxn id="123"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40" name="Google Shape;140;p26"/>
          <p:cNvCxnSpPr>
            <a:stCxn id="122" idx="2"/>
            <a:endCxn id="120"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141" name="Google Shape;141;p26"/>
          <p:cNvCxnSpPr>
            <a:stCxn id="123" idx="0"/>
            <a:endCxn id="120"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42" name="Google Shape;142;p26"/>
          <p:cNvCxnSpPr>
            <a:stCxn id="122" idx="0"/>
            <a:endCxn id="121"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43" name="Google Shape;143;p26"/>
          <p:cNvCxnSpPr>
            <a:stCxn id="120" idx="7"/>
            <a:endCxn id="121"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144" name="Google Shape;144;p26"/>
          <p:cNvCxnSpPr>
            <a:stCxn id="120" idx="2"/>
            <a:endCxn id="118"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145" name="Google Shape;145;p26"/>
          <p:cNvCxnSpPr>
            <a:stCxn id="119" idx="0"/>
            <a:endCxn id="118"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146" name="Google Shape;146;p26"/>
          <p:cNvCxnSpPr>
            <a:stCxn id="118" idx="3"/>
            <a:endCxn id="117"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147" name="Google Shape;147;p26"/>
          <p:cNvCxnSpPr>
            <a:stCxn id="116" idx="5"/>
            <a:endCxn id="117"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48" name="Google Shape;148;p26"/>
          <p:cNvCxnSpPr>
            <a:stCxn id="113" idx="4"/>
            <a:endCxn id="116"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49" name="Google Shape;149;p26"/>
          <p:cNvCxnSpPr>
            <a:stCxn id="118" idx="1"/>
            <a:endCxn id="113"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150" name="Google Shape;150;p26"/>
          <p:cNvCxnSpPr>
            <a:stCxn id="116" idx="2"/>
            <a:endCxn id="115"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51" name="Google Shape;151;p26"/>
          <p:cNvCxnSpPr>
            <a:stCxn id="116" idx="0"/>
            <a:endCxn id="114"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52" name="Google Shape;152;p26"/>
          <p:cNvCxnSpPr>
            <a:stCxn id="114" idx="3"/>
            <a:endCxn id="115"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53" name="Google Shape;153;p26"/>
          <p:cNvCxnSpPr>
            <a:stCxn id="111" idx="4"/>
            <a:endCxn id="115"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54" name="Google Shape;154;p26"/>
          <p:cNvCxnSpPr>
            <a:stCxn id="112" idx="2"/>
            <a:endCxn id="111"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55" name="Google Shape;155;p26"/>
          <p:cNvCxnSpPr>
            <a:stCxn id="112" idx="3"/>
            <a:endCxn id="114"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56" name="Google Shape;156;p26"/>
          <p:cNvCxnSpPr>
            <a:stCxn id="113" idx="2"/>
            <a:endCxn id="111"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57" name="Google Shape;157;p26"/>
          <p:cNvCxnSpPr>
            <a:stCxn id="113" idx="1"/>
            <a:endCxn id="112"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58" name="Google Shape;158;p26"/>
          <p:cNvCxnSpPr>
            <a:stCxn id="113" idx="2"/>
            <a:endCxn id="114"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59" name="Google Shape;159;p26"/>
          <p:cNvCxnSpPr>
            <a:stCxn id="114" idx="1"/>
            <a:endCxn id="111"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60" name="Google Shape;160;p26"/>
          <p:cNvCxnSpPr>
            <a:stCxn id="122" idx="6"/>
            <a:endCxn id="127"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61" name="Google Shape;161;p26"/>
          <p:cNvSpPr txBox="1"/>
          <p:nvPr/>
        </p:nvSpPr>
        <p:spPr>
          <a:xfrm>
            <a:off x="2891325" y="1178425"/>
            <a:ext cx="4071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A node that is </a:t>
            </a:r>
            <a:r>
              <a:rPr b="1" lang="en">
                <a:latin typeface="Open Sans"/>
                <a:ea typeface="Open Sans"/>
                <a:cs typeface="Open Sans"/>
                <a:sym typeface="Open Sans"/>
              </a:rPr>
              <a:t>directly</a:t>
            </a:r>
            <a:r>
              <a:rPr lang="en">
                <a:latin typeface="Open Sans"/>
                <a:ea typeface="Open Sans"/>
                <a:cs typeface="Open Sans"/>
                <a:sym typeface="Open Sans"/>
              </a:rPr>
              <a:t> and </a:t>
            </a:r>
            <a:r>
              <a:rPr b="1" lang="en">
                <a:latin typeface="Open Sans"/>
                <a:ea typeface="Open Sans"/>
                <a:cs typeface="Open Sans"/>
                <a:sym typeface="Open Sans"/>
              </a:rPr>
              <a:t>indirectly </a:t>
            </a:r>
            <a:r>
              <a:rPr lang="en">
                <a:latin typeface="Open Sans"/>
                <a:ea typeface="Open Sans"/>
                <a:cs typeface="Open Sans"/>
                <a:sym typeface="Open Sans"/>
              </a:rPr>
              <a:t>connected to other nodes of high degree has the highest eigenvector centrality! </a:t>
            </a:r>
            <a:endParaRPr>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Eigenvector (C</a:t>
            </a:r>
            <a:r>
              <a:rPr baseline="-25000" lang="en"/>
              <a:t>Eig</a:t>
            </a:r>
            <a:r>
              <a:rPr lang="en"/>
              <a:t>)</a:t>
            </a:r>
            <a:endParaRPr/>
          </a:p>
        </p:txBody>
      </p:sp>
      <p:sp>
        <p:nvSpPr>
          <p:cNvPr id="167" name="Google Shape;167;p27"/>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68" name="Google Shape;168;p27"/>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69" name="Google Shape;169;p27"/>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70" name="Google Shape;170;p27"/>
          <p:cNvSpPr/>
          <p:nvPr/>
        </p:nvSpPr>
        <p:spPr>
          <a:xfrm>
            <a:off x="1409500" y="26983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71" name="Google Shape;171;p27"/>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72" name="Google Shape;172;p27"/>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73" name="Google Shape;173;p27"/>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74" name="Google Shape;174;p27"/>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75" name="Google Shape;175;p27"/>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76" name="Google Shape;176;p27"/>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77" name="Google Shape;177;p27"/>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78" name="Google Shape;178;p27"/>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79" name="Google Shape;179;p27"/>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80" name="Google Shape;180;p27"/>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81" name="Google Shape;181;p27"/>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82" name="Google Shape;182;p27"/>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83" name="Google Shape;183;p27"/>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84" name="Google Shape;184;p27"/>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85" name="Google Shape;185;p27"/>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86" name="Google Shape;186;p27"/>
          <p:cNvCxnSpPr>
            <a:stCxn id="185" idx="2"/>
            <a:endCxn id="18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87" name="Google Shape;187;p27"/>
          <p:cNvCxnSpPr>
            <a:stCxn id="183" idx="0"/>
            <a:endCxn id="18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88" name="Google Shape;188;p27"/>
          <p:cNvCxnSpPr>
            <a:stCxn id="182" idx="2"/>
            <a:endCxn id="18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89" name="Google Shape;189;p27"/>
          <p:cNvCxnSpPr>
            <a:stCxn id="182" idx="2"/>
            <a:endCxn id="178"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90" name="Google Shape;190;p27"/>
          <p:cNvCxnSpPr>
            <a:stCxn id="182" idx="2"/>
            <a:endCxn id="18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91" name="Google Shape;191;p27"/>
          <p:cNvCxnSpPr>
            <a:stCxn id="181" idx="2"/>
            <a:endCxn id="178"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192" name="Google Shape;192;p27"/>
          <p:cNvCxnSpPr>
            <a:stCxn id="181" idx="1"/>
            <a:endCxn id="17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93" name="Google Shape;193;p27"/>
          <p:cNvCxnSpPr>
            <a:stCxn id="180" idx="0"/>
            <a:endCxn id="178"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94" name="Google Shape;194;p27"/>
          <p:cNvCxnSpPr>
            <a:stCxn id="179" idx="7"/>
            <a:endCxn id="178"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95" name="Google Shape;195;p27"/>
          <p:cNvCxnSpPr>
            <a:stCxn id="180" idx="1"/>
            <a:endCxn id="17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96" name="Google Shape;196;p27"/>
          <p:cNvCxnSpPr>
            <a:stCxn id="178" idx="2"/>
            <a:endCxn id="176"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197" name="Google Shape;197;p27"/>
          <p:cNvCxnSpPr>
            <a:stCxn id="179" idx="0"/>
            <a:endCxn id="176"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98" name="Google Shape;198;p27"/>
          <p:cNvCxnSpPr>
            <a:stCxn id="178" idx="0"/>
            <a:endCxn id="177"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99" name="Google Shape;199;p27"/>
          <p:cNvCxnSpPr>
            <a:stCxn id="176" idx="7"/>
            <a:endCxn id="177"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200" name="Google Shape;200;p27"/>
          <p:cNvCxnSpPr>
            <a:stCxn id="176" idx="2"/>
            <a:endCxn id="174"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201" name="Google Shape;201;p27"/>
          <p:cNvCxnSpPr>
            <a:stCxn id="175" idx="0"/>
            <a:endCxn id="174"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202" name="Google Shape;202;p27"/>
          <p:cNvCxnSpPr>
            <a:stCxn id="174" idx="3"/>
            <a:endCxn id="173"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203" name="Google Shape;203;p27"/>
          <p:cNvCxnSpPr>
            <a:stCxn id="172" idx="5"/>
            <a:endCxn id="173"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04" name="Google Shape;204;p27"/>
          <p:cNvCxnSpPr>
            <a:stCxn id="169" idx="4"/>
            <a:endCxn id="17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05" name="Google Shape;205;p27"/>
          <p:cNvCxnSpPr>
            <a:stCxn id="174" idx="1"/>
            <a:endCxn id="169"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206" name="Google Shape;206;p27"/>
          <p:cNvCxnSpPr>
            <a:stCxn id="172" idx="2"/>
            <a:endCxn id="171"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07" name="Google Shape;207;p27"/>
          <p:cNvCxnSpPr>
            <a:stCxn id="172" idx="0"/>
            <a:endCxn id="17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08" name="Google Shape;208;p27"/>
          <p:cNvCxnSpPr>
            <a:stCxn id="170" idx="3"/>
            <a:endCxn id="17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09" name="Google Shape;209;p27"/>
          <p:cNvCxnSpPr>
            <a:stCxn id="167" idx="4"/>
            <a:endCxn id="17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10" name="Google Shape;210;p27"/>
          <p:cNvCxnSpPr>
            <a:stCxn id="168" idx="2"/>
            <a:endCxn id="16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11" name="Google Shape;211;p27"/>
          <p:cNvCxnSpPr>
            <a:stCxn id="168" idx="3"/>
            <a:endCxn id="17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12" name="Google Shape;212;p27"/>
          <p:cNvCxnSpPr>
            <a:stCxn id="169" idx="2"/>
            <a:endCxn id="16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13" name="Google Shape;213;p27"/>
          <p:cNvCxnSpPr>
            <a:stCxn id="169" idx="1"/>
            <a:endCxn id="16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14" name="Google Shape;214;p27"/>
          <p:cNvCxnSpPr>
            <a:stCxn id="169" idx="2"/>
            <a:endCxn id="170"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215" name="Google Shape;215;p27"/>
          <p:cNvCxnSpPr>
            <a:stCxn id="170" idx="1"/>
            <a:endCxn id="16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16" name="Google Shape;216;p27"/>
          <p:cNvCxnSpPr>
            <a:stCxn id="178" idx="6"/>
            <a:endCxn id="183"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217" name="Google Shape;217;p27"/>
          <p:cNvSpPr/>
          <p:nvPr/>
        </p:nvSpPr>
        <p:spPr>
          <a:xfrm>
            <a:off x="2807325" y="1196125"/>
            <a:ext cx="34023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graph, this node has the highest eigenvector centrality!</a:t>
            </a:r>
            <a:endParaRPr b="1">
              <a:solidFill>
                <a:srgbClr val="FF0000"/>
              </a:solidFill>
            </a:endParaRPr>
          </a:p>
        </p:txBody>
      </p:sp>
      <p:cxnSp>
        <p:nvCxnSpPr>
          <p:cNvPr id="218" name="Google Shape;218;p27"/>
          <p:cNvCxnSpPr>
            <a:stCxn id="217" idx="3"/>
            <a:endCxn id="170" idx="7"/>
          </p:cNvCxnSpPr>
          <p:nvPr/>
        </p:nvCxnSpPr>
        <p:spPr>
          <a:xfrm flipH="1">
            <a:off x="1870980" y="1905684"/>
            <a:ext cx="1434600" cy="8715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Eigenvector (C</a:t>
            </a:r>
            <a:r>
              <a:rPr baseline="-25000" lang="en"/>
              <a:t>Eig</a:t>
            </a:r>
            <a:r>
              <a:rPr lang="en"/>
              <a:t>)</a:t>
            </a:r>
            <a:endParaRPr/>
          </a:p>
        </p:txBody>
      </p:sp>
      <p:sp>
        <p:nvSpPr>
          <p:cNvPr id="224" name="Google Shape;224;p28"/>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25" name="Google Shape;225;p28"/>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26" name="Google Shape;226;p28"/>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27" name="Google Shape;227;p28"/>
          <p:cNvSpPr/>
          <p:nvPr/>
        </p:nvSpPr>
        <p:spPr>
          <a:xfrm>
            <a:off x="1409500" y="26983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28" name="Google Shape;228;p28"/>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29" name="Google Shape;229;p28"/>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30" name="Google Shape;230;p28"/>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31" name="Google Shape;231;p28"/>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32" name="Google Shape;232;p28"/>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33" name="Google Shape;233;p28"/>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34" name="Google Shape;234;p28"/>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35" name="Google Shape;235;p28"/>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36" name="Google Shape;236;p28"/>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37" name="Google Shape;237;p28"/>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38" name="Google Shape;238;p28"/>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39" name="Google Shape;239;p28"/>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40" name="Google Shape;240;p28"/>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41" name="Google Shape;241;p28"/>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42" name="Google Shape;242;p28"/>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43" name="Google Shape;243;p28"/>
          <p:cNvCxnSpPr>
            <a:stCxn id="242" idx="2"/>
            <a:endCxn id="241"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44" name="Google Shape;244;p28"/>
          <p:cNvCxnSpPr>
            <a:stCxn id="240" idx="0"/>
            <a:endCxn id="241"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45" name="Google Shape;245;p28"/>
          <p:cNvCxnSpPr>
            <a:stCxn id="239" idx="2"/>
            <a:endCxn id="240"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46" name="Google Shape;246;p28"/>
          <p:cNvCxnSpPr>
            <a:stCxn id="239" idx="2"/>
            <a:endCxn id="235"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247" name="Google Shape;247;p28"/>
          <p:cNvCxnSpPr>
            <a:stCxn id="239" idx="2"/>
            <a:endCxn id="238"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48" name="Google Shape;248;p28"/>
          <p:cNvCxnSpPr>
            <a:stCxn id="238" idx="2"/>
            <a:endCxn id="235"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249" name="Google Shape;249;p28"/>
          <p:cNvCxnSpPr>
            <a:stCxn id="238" idx="1"/>
            <a:endCxn id="234"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50" name="Google Shape;250;p28"/>
          <p:cNvCxnSpPr>
            <a:stCxn id="237" idx="0"/>
            <a:endCxn id="235"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251" name="Google Shape;251;p28"/>
          <p:cNvCxnSpPr>
            <a:stCxn id="236" idx="7"/>
            <a:endCxn id="235"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252" name="Google Shape;252;p28"/>
          <p:cNvCxnSpPr>
            <a:stCxn id="237" idx="1"/>
            <a:endCxn id="236"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53" name="Google Shape;253;p28"/>
          <p:cNvCxnSpPr>
            <a:stCxn id="235" idx="2"/>
            <a:endCxn id="233"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254" name="Google Shape;254;p28"/>
          <p:cNvCxnSpPr>
            <a:stCxn id="236" idx="0"/>
            <a:endCxn id="233"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255" name="Google Shape;255;p28"/>
          <p:cNvCxnSpPr>
            <a:stCxn id="235" idx="0"/>
            <a:endCxn id="234"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256" name="Google Shape;256;p28"/>
          <p:cNvCxnSpPr>
            <a:stCxn id="233" idx="7"/>
            <a:endCxn id="234"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257" name="Google Shape;257;p28"/>
          <p:cNvCxnSpPr>
            <a:stCxn id="233" idx="2"/>
            <a:endCxn id="231"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258" name="Google Shape;258;p28"/>
          <p:cNvCxnSpPr>
            <a:stCxn id="232" idx="0"/>
            <a:endCxn id="231"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259" name="Google Shape;259;p28"/>
          <p:cNvCxnSpPr>
            <a:stCxn id="231" idx="3"/>
            <a:endCxn id="230"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260" name="Google Shape;260;p28"/>
          <p:cNvCxnSpPr>
            <a:stCxn id="229" idx="5"/>
            <a:endCxn id="230" idx="0"/>
          </p:cNvCxnSpPr>
          <p:nvPr/>
        </p:nvCxnSpPr>
        <p:spPr>
          <a:xfrm>
            <a:off x="2350768" y="4039619"/>
            <a:ext cx="349500" cy="505200"/>
          </a:xfrm>
          <a:prstGeom prst="straightConnector1">
            <a:avLst/>
          </a:prstGeom>
          <a:noFill/>
          <a:ln cap="flat" cmpd="sng" w="38100">
            <a:solidFill>
              <a:srgbClr val="0000FF"/>
            </a:solidFill>
            <a:prstDash val="solid"/>
            <a:round/>
            <a:headEnd len="med" w="med" type="none"/>
            <a:tailEnd len="med" w="med" type="none"/>
          </a:ln>
        </p:spPr>
      </p:cxnSp>
      <p:cxnSp>
        <p:nvCxnSpPr>
          <p:cNvPr id="261" name="Google Shape;261;p28"/>
          <p:cNvCxnSpPr>
            <a:stCxn id="226" idx="4"/>
            <a:endCxn id="229" idx="7"/>
          </p:cNvCxnSpPr>
          <p:nvPr/>
        </p:nvCxnSpPr>
        <p:spPr>
          <a:xfrm flipH="1">
            <a:off x="2350625" y="2777163"/>
            <a:ext cx="933000" cy="881100"/>
          </a:xfrm>
          <a:prstGeom prst="straightConnector1">
            <a:avLst/>
          </a:prstGeom>
          <a:noFill/>
          <a:ln cap="flat" cmpd="sng" w="38100">
            <a:solidFill>
              <a:srgbClr val="0D5DDF"/>
            </a:solidFill>
            <a:prstDash val="solid"/>
            <a:round/>
            <a:headEnd len="med" w="med" type="none"/>
            <a:tailEnd len="med" w="med" type="none"/>
          </a:ln>
        </p:spPr>
      </p:cxnSp>
      <p:cxnSp>
        <p:nvCxnSpPr>
          <p:cNvPr id="262" name="Google Shape;262;p28"/>
          <p:cNvCxnSpPr>
            <a:stCxn id="231" idx="1"/>
            <a:endCxn id="226" idx="4"/>
          </p:cNvCxnSpPr>
          <p:nvPr/>
        </p:nvCxnSpPr>
        <p:spPr>
          <a:xfrm rot="10800000">
            <a:off x="3283732" y="2777218"/>
            <a:ext cx="392100" cy="647700"/>
          </a:xfrm>
          <a:prstGeom prst="straightConnector1">
            <a:avLst/>
          </a:prstGeom>
          <a:noFill/>
          <a:ln cap="flat" cmpd="sng" w="38100">
            <a:solidFill>
              <a:srgbClr val="0D5DDF"/>
            </a:solidFill>
            <a:prstDash val="solid"/>
            <a:round/>
            <a:headEnd len="med" w="med" type="none"/>
            <a:tailEnd len="med" w="med" type="none"/>
          </a:ln>
        </p:spPr>
      </p:cxnSp>
      <p:cxnSp>
        <p:nvCxnSpPr>
          <p:cNvPr id="263" name="Google Shape;263;p28"/>
          <p:cNvCxnSpPr>
            <a:stCxn id="229" idx="2"/>
            <a:endCxn id="228" idx="6"/>
          </p:cNvCxnSpPr>
          <p:nvPr/>
        </p:nvCxnSpPr>
        <p:spPr>
          <a:xfrm rot="10800000">
            <a:off x="838138" y="3687213"/>
            <a:ext cx="1051200" cy="161700"/>
          </a:xfrm>
          <a:prstGeom prst="straightConnector1">
            <a:avLst/>
          </a:prstGeom>
          <a:noFill/>
          <a:ln cap="flat" cmpd="sng" w="38100">
            <a:solidFill>
              <a:srgbClr val="0D5DDF"/>
            </a:solidFill>
            <a:prstDash val="solid"/>
            <a:round/>
            <a:headEnd len="med" w="med" type="none"/>
            <a:tailEnd len="med" w="med" type="none"/>
          </a:ln>
        </p:spPr>
      </p:cxnSp>
      <p:cxnSp>
        <p:nvCxnSpPr>
          <p:cNvPr id="264" name="Google Shape;264;p28"/>
          <p:cNvCxnSpPr>
            <a:stCxn id="229" idx="0"/>
            <a:endCxn id="227" idx="4"/>
          </p:cNvCxnSpPr>
          <p:nvPr/>
        </p:nvCxnSpPr>
        <p:spPr>
          <a:xfrm rot="10800000">
            <a:off x="1679938" y="3237813"/>
            <a:ext cx="479700" cy="341400"/>
          </a:xfrm>
          <a:prstGeom prst="straightConnector1">
            <a:avLst/>
          </a:prstGeom>
          <a:noFill/>
          <a:ln cap="flat" cmpd="sng" w="38100">
            <a:solidFill>
              <a:srgbClr val="FF0000"/>
            </a:solidFill>
            <a:prstDash val="solid"/>
            <a:round/>
            <a:headEnd len="med" w="med" type="none"/>
            <a:tailEnd len="med" w="med" type="none"/>
          </a:ln>
        </p:spPr>
      </p:cxnSp>
      <p:cxnSp>
        <p:nvCxnSpPr>
          <p:cNvPr id="265" name="Google Shape;265;p28"/>
          <p:cNvCxnSpPr>
            <a:stCxn id="227" idx="3"/>
            <a:endCxn id="228" idx="7"/>
          </p:cNvCxnSpPr>
          <p:nvPr/>
        </p:nvCxnSpPr>
        <p:spPr>
          <a:xfrm flipH="1">
            <a:off x="759069" y="3158732"/>
            <a:ext cx="729600" cy="337800"/>
          </a:xfrm>
          <a:prstGeom prst="straightConnector1">
            <a:avLst/>
          </a:prstGeom>
          <a:noFill/>
          <a:ln cap="flat" cmpd="sng" w="38100">
            <a:solidFill>
              <a:srgbClr val="FF0000"/>
            </a:solidFill>
            <a:prstDash val="solid"/>
            <a:round/>
            <a:headEnd len="med" w="med" type="none"/>
            <a:tailEnd len="med" w="med" type="none"/>
          </a:ln>
        </p:spPr>
      </p:cxnSp>
      <p:cxnSp>
        <p:nvCxnSpPr>
          <p:cNvPr id="266" name="Google Shape;266;p28"/>
          <p:cNvCxnSpPr>
            <a:stCxn id="224" idx="4"/>
            <a:endCxn id="228" idx="0"/>
          </p:cNvCxnSpPr>
          <p:nvPr/>
        </p:nvCxnSpPr>
        <p:spPr>
          <a:xfrm flipH="1">
            <a:off x="567838" y="2440513"/>
            <a:ext cx="48900" cy="977100"/>
          </a:xfrm>
          <a:prstGeom prst="straightConnector1">
            <a:avLst/>
          </a:prstGeom>
          <a:noFill/>
          <a:ln cap="flat" cmpd="sng" w="38100">
            <a:solidFill>
              <a:srgbClr val="0D5DDF"/>
            </a:solidFill>
            <a:prstDash val="solid"/>
            <a:round/>
            <a:headEnd len="med" w="med" type="none"/>
            <a:tailEnd len="med" w="med" type="none"/>
          </a:ln>
        </p:spPr>
      </p:cxnSp>
      <p:cxnSp>
        <p:nvCxnSpPr>
          <p:cNvPr id="267" name="Google Shape;267;p28"/>
          <p:cNvCxnSpPr>
            <a:stCxn id="225" idx="2"/>
            <a:endCxn id="224" idx="6"/>
          </p:cNvCxnSpPr>
          <p:nvPr/>
        </p:nvCxnSpPr>
        <p:spPr>
          <a:xfrm flipH="1">
            <a:off x="886938" y="1686625"/>
            <a:ext cx="1220700" cy="484200"/>
          </a:xfrm>
          <a:prstGeom prst="straightConnector1">
            <a:avLst/>
          </a:prstGeom>
          <a:noFill/>
          <a:ln cap="flat" cmpd="sng" w="38100">
            <a:solidFill>
              <a:srgbClr val="0D5DDF"/>
            </a:solidFill>
            <a:prstDash val="solid"/>
            <a:round/>
            <a:headEnd len="med" w="med" type="none"/>
            <a:tailEnd len="med" w="med" type="none"/>
          </a:ln>
        </p:spPr>
      </p:cxnSp>
      <p:cxnSp>
        <p:nvCxnSpPr>
          <p:cNvPr id="268" name="Google Shape;268;p28"/>
          <p:cNvCxnSpPr>
            <a:stCxn id="226" idx="2"/>
            <a:endCxn id="224" idx="6"/>
          </p:cNvCxnSpPr>
          <p:nvPr/>
        </p:nvCxnSpPr>
        <p:spPr>
          <a:xfrm rot="10800000">
            <a:off x="886925" y="2170863"/>
            <a:ext cx="2126400" cy="336600"/>
          </a:xfrm>
          <a:prstGeom prst="straightConnector1">
            <a:avLst/>
          </a:prstGeom>
          <a:noFill/>
          <a:ln cap="flat" cmpd="sng" w="38100">
            <a:solidFill>
              <a:srgbClr val="0D5DDF"/>
            </a:solidFill>
            <a:prstDash val="solid"/>
            <a:round/>
            <a:headEnd len="med" w="med" type="none"/>
            <a:tailEnd len="med" w="med" type="none"/>
          </a:ln>
        </p:spPr>
      </p:cxnSp>
      <p:cxnSp>
        <p:nvCxnSpPr>
          <p:cNvPr id="269" name="Google Shape;269;p28"/>
          <p:cNvCxnSpPr>
            <a:stCxn id="226" idx="1"/>
            <a:endCxn id="225" idx="5"/>
          </p:cNvCxnSpPr>
          <p:nvPr/>
        </p:nvCxnSpPr>
        <p:spPr>
          <a:xfrm rot="10800000">
            <a:off x="2568994" y="1877256"/>
            <a:ext cx="523500" cy="439500"/>
          </a:xfrm>
          <a:prstGeom prst="straightConnector1">
            <a:avLst/>
          </a:prstGeom>
          <a:noFill/>
          <a:ln cap="flat" cmpd="sng" w="38100">
            <a:solidFill>
              <a:srgbClr val="0D5DDF"/>
            </a:solidFill>
            <a:prstDash val="solid"/>
            <a:round/>
            <a:headEnd len="med" w="med" type="none"/>
            <a:tailEnd len="med" w="med" type="none"/>
          </a:ln>
        </p:spPr>
      </p:cxnSp>
      <p:cxnSp>
        <p:nvCxnSpPr>
          <p:cNvPr id="270" name="Google Shape;270;p28"/>
          <p:cNvCxnSpPr>
            <a:stCxn id="226" idx="2"/>
            <a:endCxn id="227" idx="7"/>
          </p:cNvCxnSpPr>
          <p:nvPr/>
        </p:nvCxnSpPr>
        <p:spPr>
          <a:xfrm flipH="1">
            <a:off x="1870925" y="2507463"/>
            <a:ext cx="1142400" cy="270000"/>
          </a:xfrm>
          <a:prstGeom prst="straightConnector1">
            <a:avLst/>
          </a:prstGeom>
          <a:noFill/>
          <a:ln cap="flat" cmpd="sng" w="38100">
            <a:solidFill>
              <a:srgbClr val="FF0000"/>
            </a:solidFill>
            <a:prstDash val="solid"/>
            <a:round/>
            <a:headEnd len="med" w="med" type="none"/>
            <a:tailEnd len="med" w="med" type="none"/>
          </a:ln>
        </p:spPr>
      </p:cxnSp>
      <p:cxnSp>
        <p:nvCxnSpPr>
          <p:cNvPr id="271" name="Google Shape;271;p28"/>
          <p:cNvCxnSpPr>
            <a:stCxn id="227" idx="1"/>
            <a:endCxn id="224" idx="5"/>
          </p:cNvCxnSpPr>
          <p:nvPr/>
        </p:nvCxnSpPr>
        <p:spPr>
          <a:xfrm rot="10800000">
            <a:off x="807969" y="2361518"/>
            <a:ext cx="680700" cy="415800"/>
          </a:xfrm>
          <a:prstGeom prst="straightConnector1">
            <a:avLst/>
          </a:prstGeom>
          <a:noFill/>
          <a:ln cap="flat" cmpd="sng" w="38100">
            <a:solidFill>
              <a:srgbClr val="FF0000"/>
            </a:solidFill>
            <a:prstDash val="solid"/>
            <a:round/>
            <a:headEnd len="med" w="med" type="none"/>
            <a:tailEnd len="med" w="med" type="none"/>
          </a:ln>
        </p:spPr>
      </p:cxnSp>
      <p:cxnSp>
        <p:nvCxnSpPr>
          <p:cNvPr id="272" name="Google Shape;272;p28"/>
          <p:cNvCxnSpPr>
            <a:stCxn id="235" idx="6"/>
            <a:endCxn id="240"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273" name="Google Shape;273;p28"/>
          <p:cNvSpPr txBox="1"/>
          <p:nvPr/>
        </p:nvSpPr>
        <p:spPr>
          <a:xfrm>
            <a:off x="2891325" y="1178425"/>
            <a:ext cx="4243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Node </a:t>
            </a:r>
            <a:r>
              <a:rPr b="1" lang="en">
                <a:latin typeface="Open Sans"/>
                <a:ea typeface="Open Sans"/>
                <a:cs typeface="Open Sans"/>
                <a:sym typeface="Open Sans"/>
              </a:rPr>
              <a:t>d</a:t>
            </a:r>
            <a:r>
              <a:rPr lang="en">
                <a:latin typeface="Open Sans"/>
                <a:ea typeface="Open Sans"/>
                <a:cs typeface="Open Sans"/>
                <a:sym typeface="Open Sans"/>
              </a:rPr>
              <a:t> is </a:t>
            </a:r>
            <a:r>
              <a:rPr b="1" lang="en">
                <a:latin typeface="Open Sans"/>
                <a:ea typeface="Open Sans"/>
                <a:cs typeface="Open Sans"/>
                <a:sym typeface="Open Sans"/>
              </a:rPr>
              <a:t>directly </a:t>
            </a:r>
            <a:r>
              <a:rPr lang="en">
                <a:latin typeface="Open Sans"/>
                <a:ea typeface="Open Sans"/>
                <a:cs typeface="Open Sans"/>
                <a:sym typeface="Open Sans"/>
              </a:rPr>
              <a:t>connected to other nodes that have high degree centrality (for this graph)</a:t>
            </a:r>
            <a:endParaRPr>
              <a:latin typeface="Open Sans"/>
              <a:ea typeface="Open Sans"/>
              <a:cs typeface="Open Sans"/>
              <a:sym typeface="Open Sans"/>
            </a:endParaRPr>
          </a:p>
        </p:txBody>
      </p:sp>
      <p:cxnSp>
        <p:nvCxnSpPr>
          <p:cNvPr id="274" name="Google Shape;274;p28"/>
          <p:cNvCxnSpPr>
            <a:stCxn id="225" idx="3"/>
            <a:endCxn id="227" idx="0"/>
          </p:cNvCxnSpPr>
          <p:nvPr/>
        </p:nvCxnSpPr>
        <p:spPr>
          <a:xfrm flipH="1">
            <a:off x="1679807" y="1877332"/>
            <a:ext cx="507000" cy="821100"/>
          </a:xfrm>
          <a:prstGeom prst="straightConnector1">
            <a:avLst/>
          </a:prstGeom>
          <a:noFill/>
          <a:ln cap="flat" cmpd="sng" w="38100">
            <a:solidFill>
              <a:srgbClr val="FF0000"/>
            </a:solidFill>
            <a:prstDash val="solid"/>
            <a:round/>
            <a:headEnd len="med" w="med" type="none"/>
            <a:tailEnd len="med" w="med" type="none"/>
          </a:ln>
        </p:spPr>
      </p:cxnSp>
      <p:sp>
        <p:nvSpPr>
          <p:cNvPr id="275" name="Google Shape;275;p28"/>
          <p:cNvSpPr txBox="1"/>
          <p:nvPr/>
        </p:nvSpPr>
        <p:spPr>
          <a:xfrm>
            <a:off x="2013150" y="1016625"/>
            <a:ext cx="72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(e) = 3</a:t>
            </a:r>
            <a:endParaRPr>
              <a:latin typeface="Economica"/>
              <a:ea typeface="Economica"/>
              <a:cs typeface="Economica"/>
              <a:sym typeface="Economica"/>
            </a:endParaRPr>
          </a:p>
        </p:txBody>
      </p:sp>
      <p:sp>
        <p:nvSpPr>
          <p:cNvPr id="276" name="Google Shape;276;p28"/>
          <p:cNvSpPr txBox="1"/>
          <p:nvPr/>
        </p:nvSpPr>
        <p:spPr>
          <a:xfrm>
            <a:off x="3553925" y="227667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(g) = 5</a:t>
            </a:r>
            <a:endParaRPr>
              <a:latin typeface="Economica"/>
              <a:ea typeface="Economica"/>
              <a:cs typeface="Economica"/>
              <a:sym typeface="Economica"/>
            </a:endParaRPr>
          </a:p>
        </p:txBody>
      </p:sp>
      <p:sp>
        <p:nvSpPr>
          <p:cNvPr id="277" name="Google Shape;277;p28"/>
          <p:cNvSpPr txBox="1"/>
          <p:nvPr/>
        </p:nvSpPr>
        <p:spPr>
          <a:xfrm>
            <a:off x="1732750" y="414467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(f) = 4</a:t>
            </a:r>
            <a:endParaRPr>
              <a:latin typeface="Economica"/>
              <a:ea typeface="Economica"/>
              <a:cs typeface="Economica"/>
              <a:sym typeface="Economica"/>
            </a:endParaRPr>
          </a:p>
        </p:txBody>
      </p:sp>
      <p:sp>
        <p:nvSpPr>
          <p:cNvPr id="278" name="Google Shape;278;p28"/>
          <p:cNvSpPr txBox="1"/>
          <p:nvPr/>
        </p:nvSpPr>
        <p:spPr>
          <a:xfrm>
            <a:off x="189850" y="409212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(a) = 3</a:t>
            </a:r>
            <a:endParaRPr>
              <a:latin typeface="Economica"/>
              <a:ea typeface="Economica"/>
              <a:cs typeface="Economica"/>
              <a:sym typeface="Economica"/>
            </a:endParaRPr>
          </a:p>
        </p:txBody>
      </p:sp>
      <p:sp>
        <p:nvSpPr>
          <p:cNvPr id="279" name="Google Shape;279;p28"/>
          <p:cNvSpPr txBox="1"/>
          <p:nvPr/>
        </p:nvSpPr>
        <p:spPr>
          <a:xfrm>
            <a:off x="189850" y="136582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(b) = 4</a:t>
            </a:r>
            <a:endParaRPr>
              <a:latin typeface="Economica"/>
              <a:ea typeface="Economica"/>
              <a:cs typeface="Economica"/>
              <a:sym typeface="Economic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Eigenvector (C</a:t>
            </a:r>
            <a:r>
              <a:rPr baseline="-25000" lang="en"/>
              <a:t>Eig</a:t>
            </a:r>
            <a:r>
              <a:rPr lang="en"/>
              <a:t>)</a:t>
            </a:r>
            <a:endParaRPr/>
          </a:p>
        </p:txBody>
      </p:sp>
      <p:sp>
        <p:nvSpPr>
          <p:cNvPr id="285" name="Google Shape;285;p29"/>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86" name="Google Shape;286;p29"/>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87" name="Google Shape;287;p29"/>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88" name="Google Shape;288;p29"/>
          <p:cNvSpPr/>
          <p:nvPr/>
        </p:nvSpPr>
        <p:spPr>
          <a:xfrm>
            <a:off x="1409500" y="26983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89" name="Google Shape;289;p29"/>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90" name="Google Shape;290;p29"/>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91" name="Google Shape;291;p29"/>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92" name="Google Shape;292;p29"/>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93" name="Google Shape;293;p29"/>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94" name="Google Shape;294;p29"/>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95" name="Google Shape;295;p29"/>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96" name="Google Shape;296;p29"/>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97" name="Google Shape;297;p29"/>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98" name="Google Shape;298;p29"/>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99" name="Google Shape;299;p29"/>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00" name="Google Shape;300;p29"/>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01" name="Google Shape;301;p29"/>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02" name="Google Shape;302;p29"/>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03" name="Google Shape;303;p29"/>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04" name="Google Shape;304;p29"/>
          <p:cNvCxnSpPr>
            <a:stCxn id="303" idx="2"/>
            <a:endCxn id="302"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05" name="Google Shape;305;p29"/>
          <p:cNvCxnSpPr>
            <a:stCxn id="301" idx="0"/>
            <a:endCxn id="302"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06" name="Google Shape;306;p29"/>
          <p:cNvCxnSpPr>
            <a:stCxn id="300" idx="2"/>
            <a:endCxn id="301"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07" name="Google Shape;307;p29"/>
          <p:cNvCxnSpPr>
            <a:stCxn id="300" idx="2"/>
            <a:endCxn id="296" idx="6"/>
          </p:cNvCxnSpPr>
          <p:nvPr/>
        </p:nvCxnSpPr>
        <p:spPr>
          <a:xfrm flipH="1">
            <a:off x="6630088" y="2929075"/>
            <a:ext cx="1675800" cy="686700"/>
          </a:xfrm>
          <a:prstGeom prst="straightConnector1">
            <a:avLst/>
          </a:prstGeom>
          <a:noFill/>
          <a:ln cap="flat" cmpd="sng" w="38100">
            <a:solidFill>
              <a:srgbClr val="0D5DDF"/>
            </a:solidFill>
            <a:prstDash val="solid"/>
            <a:round/>
            <a:headEnd len="med" w="med" type="none"/>
            <a:tailEnd len="med" w="med" type="none"/>
          </a:ln>
        </p:spPr>
      </p:cxnSp>
      <p:cxnSp>
        <p:nvCxnSpPr>
          <p:cNvPr id="308" name="Google Shape;308;p29"/>
          <p:cNvCxnSpPr>
            <a:stCxn id="300" idx="2"/>
            <a:endCxn id="299"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09" name="Google Shape;309;p29"/>
          <p:cNvCxnSpPr>
            <a:stCxn id="299" idx="2"/>
            <a:endCxn id="296" idx="6"/>
          </p:cNvCxnSpPr>
          <p:nvPr/>
        </p:nvCxnSpPr>
        <p:spPr>
          <a:xfrm rot="10800000">
            <a:off x="6630138" y="3615550"/>
            <a:ext cx="763800" cy="133500"/>
          </a:xfrm>
          <a:prstGeom prst="straightConnector1">
            <a:avLst/>
          </a:prstGeom>
          <a:noFill/>
          <a:ln cap="flat" cmpd="sng" w="38100">
            <a:solidFill>
              <a:srgbClr val="0D5DDF"/>
            </a:solidFill>
            <a:prstDash val="solid"/>
            <a:round/>
            <a:headEnd len="med" w="med" type="none"/>
            <a:tailEnd len="med" w="med" type="none"/>
          </a:ln>
        </p:spPr>
      </p:cxnSp>
      <p:cxnSp>
        <p:nvCxnSpPr>
          <p:cNvPr id="310" name="Google Shape;310;p29"/>
          <p:cNvCxnSpPr>
            <a:stCxn id="299" idx="1"/>
            <a:endCxn id="295"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11" name="Google Shape;311;p29"/>
          <p:cNvCxnSpPr>
            <a:stCxn id="298" idx="0"/>
            <a:endCxn id="296" idx="4"/>
          </p:cNvCxnSpPr>
          <p:nvPr/>
        </p:nvCxnSpPr>
        <p:spPr>
          <a:xfrm rot="10800000">
            <a:off x="6359913" y="3885475"/>
            <a:ext cx="746100" cy="539400"/>
          </a:xfrm>
          <a:prstGeom prst="straightConnector1">
            <a:avLst/>
          </a:prstGeom>
          <a:noFill/>
          <a:ln cap="flat" cmpd="sng" w="38100">
            <a:solidFill>
              <a:srgbClr val="0D5DDF"/>
            </a:solidFill>
            <a:prstDash val="solid"/>
            <a:round/>
            <a:headEnd len="med" w="med" type="none"/>
            <a:tailEnd len="med" w="med" type="none"/>
          </a:ln>
        </p:spPr>
      </p:cxnSp>
      <p:cxnSp>
        <p:nvCxnSpPr>
          <p:cNvPr id="312" name="Google Shape;312;p29"/>
          <p:cNvCxnSpPr>
            <a:stCxn id="297" idx="7"/>
            <a:endCxn id="296" idx="4"/>
          </p:cNvCxnSpPr>
          <p:nvPr/>
        </p:nvCxnSpPr>
        <p:spPr>
          <a:xfrm flipH="1" rot="10800000">
            <a:off x="5924918" y="3885318"/>
            <a:ext cx="435000" cy="510000"/>
          </a:xfrm>
          <a:prstGeom prst="straightConnector1">
            <a:avLst/>
          </a:prstGeom>
          <a:noFill/>
          <a:ln cap="flat" cmpd="sng" w="38100">
            <a:solidFill>
              <a:srgbClr val="0D5DDF"/>
            </a:solidFill>
            <a:prstDash val="solid"/>
            <a:round/>
            <a:headEnd len="med" w="med" type="none"/>
            <a:tailEnd len="med" w="med" type="none"/>
          </a:ln>
        </p:spPr>
      </p:cxnSp>
      <p:cxnSp>
        <p:nvCxnSpPr>
          <p:cNvPr id="313" name="Google Shape;313;p29"/>
          <p:cNvCxnSpPr>
            <a:stCxn id="298" idx="1"/>
            <a:endCxn id="297"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14" name="Google Shape;314;p29"/>
          <p:cNvCxnSpPr>
            <a:stCxn id="296" idx="2"/>
            <a:endCxn id="294" idx="6"/>
          </p:cNvCxnSpPr>
          <p:nvPr/>
        </p:nvCxnSpPr>
        <p:spPr>
          <a:xfrm rot="10800000">
            <a:off x="5463388" y="3615625"/>
            <a:ext cx="626100" cy="0"/>
          </a:xfrm>
          <a:prstGeom prst="straightConnector1">
            <a:avLst/>
          </a:prstGeom>
          <a:noFill/>
          <a:ln cap="flat" cmpd="sng" w="38100">
            <a:solidFill>
              <a:srgbClr val="FF0000"/>
            </a:solidFill>
            <a:prstDash val="solid"/>
            <a:round/>
            <a:headEnd len="med" w="med" type="none"/>
            <a:tailEnd len="med" w="med" type="none"/>
          </a:ln>
        </p:spPr>
      </p:cxnSp>
      <p:cxnSp>
        <p:nvCxnSpPr>
          <p:cNvPr id="315" name="Google Shape;315;p29"/>
          <p:cNvCxnSpPr>
            <a:stCxn id="297" idx="0"/>
            <a:endCxn id="294" idx="5"/>
          </p:cNvCxnSpPr>
          <p:nvPr/>
        </p:nvCxnSpPr>
        <p:spPr>
          <a:xfrm rot="10800000">
            <a:off x="5384288" y="3806325"/>
            <a:ext cx="349500" cy="510000"/>
          </a:xfrm>
          <a:prstGeom prst="straightConnector1">
            <a:avLst/>
          </a:prstGeom>
          <a:noFill/>
          <a:ln cap="flat" cmpd="sng" w="28575">
            <a:solidFill>
              <a:srgbClr val="B7B7B7"/>
            </a:solidFill>
            <a:prstDash val="solid"/>
            <a:round/>
            <a:headEnd len="med" w="med" type="none"/>
            <a:tailEnd len="med" w="med" type="none"/>
          </a:ln>
        </p:spPr>
      </p:cxnSp>
      <p:cxnSp>
        <p:nvCxnSpPr>
          <p:cNvPr id="316" name="Google Shape;316;p29"/>
          <p:cNvCxnSpPr>
            <a:stCxn id="296" idx="0"/>
            <a:endCxn id="295" idx="5"/>
          </p:cNvCxnSpPr>
          <p:nvPr/>
        </p:nvCxnSpPr>
        <p:spPr>
          <a:xfrm rot="10800000">
            <a:off x="5924788" y="2839825"/>
            <a:ext cx="435000" cy="506100"/>
          </a:xfrm>
          <a:prstGeom prst="straightConnector1">
            <a:avLst/>
          </a:prstGeom>
          <a:noFill/>
          <a:ln cap="flat" cmpd="sng" w="38100">
            <a:solidFill>
              <a:srgbClr val="0D5DDF"/>
            </a:solidFill>
            <a:prstDash val="solid"/>
            <a:round/>
            <a:headEnd len="med" w="med" type="none"/>
            <a:tailEnd len="med" w="med" type="none"/>
          </a:ln>
        </p:spPr>
      </p:cxnSp>
      <p:cxnSp>
        <p:nvCxnSpPr>
          <p:cNvPr id="317" name="Google Shape;317;p29"/>
          <p:cNvCxnSpPr>
            <a:stCxn id="294" idx="7"/>
            <a:endCxn id="295"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18" name="Google Shape;318;p29"/>
          <p:cNvCxnSpPr>
            <a:stCxn id="294" idx="2"/>
            <a:endCxn id="292"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319" name="Google Shape;319;p29"/>
          <p:cNvCxnSpPr>
            <a:stCxn id="293" idx="0"/>
            <a:endCxn id="292"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320" name="Google Shape;320;p29"/>
          <p:cNvCxnSpPr>
            <a:stCxn id="292" idx="3"/>
            <a:endCxn id="291"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21" name="Google Shape;321;p29"/>
          <p:cNvCxnSpPr>
            <a:stCxn id="290" idx="5"/>
            <a:endCxn id="291"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22" name="Google Shape;322;p29"/>
          <p:cNvCxnSpPr>
            <a:stCxn id="287" idx="4"/>
            <a:endCxn id="290"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23" name="Google Shape;323;p29"/>
          <p:cNvCxnSpPr>
            <a:stCxn id="292" idx="1"/>
            <a:endCxn id="287" idx="4"/>
          </p:cNvCxnSpPr>
          <p:nvPr/>
        </p:nvCxnSpPr>
        <p:spPr>
          <a:xfrm rot="10800000">
            <a:off x="3283732" y="2777218"/>
            <a:ext cx="392100" cy="647700"/>
          </a:xfrm>
          <a:prstGeom prst="straightConnector1">
            <a:avLst/>
          </a:prstGeom>
          <a:noFill/>
          <a:ln cap="flat" cmpd="sng" w="38100">
            <a:solidFill>
              <a:srgbClr val="FF0000"/>
            </a:solidFill>
            <a:prstDash val="solid"/>
            <a:round/>
            <a:headEnd len="med" w="med" type="none"/>
            <a:tailEnd len="med" w="med" type="none"/>
          </a:ln>
        </p:spPr>
      </p:cxnSp>
      <p:cxnSp>
        <p:nvCxnSpPr>
          <p:cNvPr id="324" name="Google Shape;324;p29"/>
          <p:cNvCxnSpPr>
            <a:stCxn id="290" idx="2"/>
            <a:endCxn id="289"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25" name="Google Shape;325;p29"/>
          <p:cNvCxnSpPr>
            <a:stCxn id="290" idx="0"/>
            <a:endCxn id="288"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26" name="Google Shape;326;p29"/>
          <p:cNvCxnSpPr>
            <a:stCxn id="288" idx="3"/>
            <a:endCxn id="289"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27" name="Google Shape;327;p29"/>
          <p:cNvCxnSpPr>
            <a:stCxn id="285" idx="4"/>
            <a:endCxn id="289"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28" name="Google Shape;328;p29"/>
          <p:cNvCxnSpPr>
            <a:stCxn id="286" idx="2"/>
            <a:endCxn id="285"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29" name="Google Shape;329;p29"/>
          <p:cNvCxnSpPr>
            <a:stCxn id="286" idx="3"/>
            <a:endCxn id="288"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30" name="Google Shape;330;p29"/>
          <p:cNvCxnSpPr>
            <a:stCxn id="287" idx="2"/>
            <a:endCxn id="285"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31" name="Google Shape;331;p29"/>
          <p:cNvCxnSpPr>
            <a:stCxn id="287" idx="1"/>
            <a:endCxn id="286"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32" name="Google Shape;332;p29"/>
          <p:cNvCxnSpPr>
            <a:stCxn id="287" idx="2"/>
            <a:endCxn id="288" idx="7"/>
          </p:cNvCxnSpPr>
          <p:nvPr/>
        </p:nvCxnSpPr>
        <p:spPr>
          <a:xfrm flipH="1">
            <a:off x="1870925" y="2507463"/>
            <a:ext cx="1142400" cy="270000"/>
          </a:xfrm>
          <a:prstGeom prst="straightConnector1">
            <a:avLst/>
          </a:prstGeom>
          <a:noFill/>
          <a:ln cap="flat" cmpd="sng" w="38100">
            <a:solidFill>
              <a:srgbClr val="FF0000"/>
            </a:solidFill>
            <a:prstDash val="solid"/>
            <a:round/>
            <a:headEnd len="med" w="med" type="none"/>
            <a:tailEnd len="med" w="med" type="none"/>
          </a:ln>
        </p:spPr>
      </p:cxnSp>
      <p:cxnSp>
        <p:nvCxnSpPr>
          <p:cNvPr id="333" name="Google Shape;333;p29"/>
          <p:cNvCxnSpPr>
            <a:stCxn id="288" idx="1"/>
            <a:endCxn id="285"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34" name="Google Shape;334;p29"/>
          <p:cNvCxnSpPr>
            <a:stCxn id="296" idx="6"/>
            <a:endCxn id="301" idx="3"/>
          </p:cNvCxnSpPr>
          <p:nvPr/>
        </p:nvCxnSpPr>
        <p:spPr>
          <a:xfrm flipH="1" rot="10800000">
            <a:off x="6630088" y="2957725"/>
            <a:ext cx="555000" cy="657900"/>
          </a:xfrm>
          <a:prstGeom prst="straightConnector1">
            <a:avLst/>
          </a:prstGeom>
          <a:noFill/>
          <a:ln cap="flat" cmpd="sng" w="38100">
            <a:solidFill>
              <a:srgbClr val="0D5DDF"/>
            </a:solidFill>
            <a:prstDash val="solid"/>
            <a:round/>
            <a:headEnd len="med" w="med" type="none"/>
            <a:tailEnd len="med" w="med" type="none"/>
          </a:ln>
        </p:spPr>
      </p:cxnSp>
      <p:sp>
        <p:nvSpPr>
          <p:cNvPr id="335" name="Google Shape;335;p29"/>
          <p:cNvSpPr txBox="1"/>
          <p:nvPr/>
        </p:nvSpPr>
        <p:spPr>
          <a:xfrm>
            <a:off x="2891325" y="1178425"/>
            <a:ext cx="4243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Node </a:t>
            </a:r>
            <a:r>
              <a:rPr b="1" lang="en">
                <a:latin typeface="Open Sans"/>
                <a:ea typeface="Open Sans"/>
                <a:cs typeface="Open Sans"/>
                <a:sym typeface="Open Sans"/>
              </a:rPr>
              <a:t>d</a:t>
            </a:r>
            <a:r>
              <a:rPr lang="en">
                <a:latin typeface="Open Sans"/>
                <a:ea typeface="Open Sans"/>
                <a:cs typeface="Open Sans"/>
                <a:sym typeface="Open Sans"/>
              </a:rPr>
              <a:t> is also </a:t>
            </a:r>
            <a:r>
              <a:rPr b="1" lang="en">
                <a:latin typeface="Open Sans"/>
                <a:ea typeface="Open Sans"/>
                <a:cs typeface="Open Sans"/>
                <a:sym typeface="Open Sans"/>
              </a:rPr>
              <a:t>indirectly</a:t>
            </a:r>
            <a:r>
              <a:rPr lang="en">
                <a:latin typeface="Open Sans"/>
                <a:ea typeface="Open Sans"/>
                <a:cs typeface="Open Sans"/>
                <a:sym typeface="Open Sans"/>
              </a:rPr>
              <a:t> connected to other high-degree nodes via relatively short paths</a:t>
            </a:r>
            <a:endParaRPr>
              <a:latin typeface="Open Sans"/>
              <a:ea typeface="Open Sans"/>
              <a:cs typeface="Open Sans"/>
              <a:sym typeface="Open Sans"/>
            </a:endParaRPr>
          </a:p>
        </p:txBody>
      </p:sp>
      <p:sp>
        <p:nvSpPr>
          <p:cNvPr id="336" name="Google Shape;336;p29"/>
          <p:cNvSpPr txBox="1"/>
          <p:nvPr/>
        </p:nvSpPr>
        <p:spPr>
          <a:xfrm>
            <a:off x="6187350" y="246052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(j) = 7</a:t>
            </a:r>
            <a:endParaRPr>
              <a:latin typeface="Economica"/>
              <a:ea typeface="Economica"/>
              <a:cs typeface="Economica"/>
              <a:sym typeface="Economic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Eigenvector (C</a:t>
            </a:r>
            <a:r>
              <a:rPr baseline="-25000" lang="en"/>
              <a:t>Eig</a:t>
            </a:r>
            <a:r>
              <a:rPr lang="en"/>
              <a:t>)</a:t>
            </a:r>
            <a:endParaRPr/>
          </a:p>
        </p:txBody>
      </p:sp>
      <p:sp>
        <p:nvSpPr>
          <p:cNvPr id="342" name="Google Shape;342;p30"/>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43" name="Google Shape;343;p30"/>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44" name="Google Shape;344;p30"/>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45" name="Google Shape;345;p30"/>
          <p:cNvSpPr/>
          <p:nvPr/>
        </p:nvSpPr>
        <p:spPr>
          <a:xfrm>
            <a:off x="1409500" y="26983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46" name="Google Shape;346;p30"/>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47" name="Google Shape;347;p30"/>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48" name="Google Shape;348;p30"/>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49" name="Google Shape;349;p30"/>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50" name="Google Shape;350;p30"/>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51" name="Google Shape;351;p30"/>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52" name="Google Shape;352;p30"/>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53" name="Google Shape;353;p30"/>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54" name="Google Shape;354;p30"/>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55" name="Google Shape;355;p30"/>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56" name="Google Shape;356;p30"/>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57" name="Google Shape;357;p30"/>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58" name="Google Shape;358;p30"/>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59" name="Google Shape;359;p30"/>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60" name="Google Shape;360;p30"/>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61" name="Google Shape;361;p30"/>
          <p:cNvCxnSpPr>
            <a:stCxn id="360" idx="2"/>
            <a:endCxn id="359"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62" name="Google Shape;362;p30"/>
          <p:cNvCxnSpPr>
            <a:stCxn id="358" idx="0"/>
            <a:endCxn id="359"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63" name="Google Shape;363;p30"/>
          <p:cNvCxnSpPr>
            <a:stCxn id="357" idx="2"/>
            <a:endCxn id="358"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64" name="Google Shape;364;p30"/>
          <p:cNvCxnSpPr>
            <a:stCxn id="357" idx="2"/>
            <a:endCxn id="353" idx="6"/>
          </p:cNvCxnSpPr>
          <p:nvPr/>
        </p:nvCxnSpPr>
        <p:spPr>
          <a:xfrm flipH="1">
            <a:off x="6630088" y="2929075"/>
            <a:ext cx="1675800" cy="686700"/>
          </a:xfrm>
          <a:prstGeom prst="straightConnector1">
            <a:avLst/>
          </a:prstGeom>
          <a:noFill/>
          <a:ln cap="flat" cmpd="sng" w="38100">
            <a:solidFill>
              <a:srgbClr val="0D5DDF"/>
            </a:solidFill>
            <a:prstDash val="solid"/>
            <a:round/>
            <a:headEnd len="med" w="med" type="none"/>
            <a:tailEnd len="med" w="med" type="none"/>
          </a:ln>
        </p:spPr>
      </p:cxnSp>
      <p:cxnSp>
        <p:nvCxnSpPr>
          <p:cNvPr id="365" name="Google Shape;365;p30"/>
          <p:cNvCxnSpPr>
            <a:stCxn id="357" idx="2"/>
            <a:endCxn id="356"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66" name="Google Shape;366;p30"/>
          <p:cNvCxnSpPr>
            <a:stCxn id="356" idx="2"/>
            <a:endCxn id="353" idx="6"/>
          </p:cNvCxnSpPr>
          <p:nvPr/>
        </p:nvCxnSpPr>
        <p:spPr>
          <a:xfrm rot="10800000">
            <a:off x="6630138" y="3615550"/>
            <a:ext cx="763800" cy="133500"/>
          </a:xfrm>
          <a:prstGeom prst="straightConnector1">
            <a:avLst/>
          </a:prstGeom>
          <a:noFill/>
          <a:ln cap="flat" cmpd="sng" w="38100">
            <a:solidFill>
              <a:srgbClr val="0D5DDF"/>
            </a:solidFill>
            <a:prstDash val="solid"/>
            <a:round/>
            <a:headEnd len="med" w="med" type="none"/>
            <a:tailEnd len="med" w="med" type="none"/>
          </a:ln>
        </p:spPr>
      </p:cxnSp>
      <p:cxnSp>
        <p:nvCxnSpPr>
          <p:cNvPr id="367" name="Google Shape;367;p30"/>
          <p:cNvCxnSpPr>
            <a:stCxn id="356" idx="1"/>
            <a:endCxn id="352"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68" name="Google Shape;368;p30"/>
          <p:cNvCxnSpPr>
            <a:stCxn id="355" idx="0"/>
            <a:endCxn id="353" idx="4"/>
          </p:cNvCxnSpPr>
          <p:nvPr/>
        </p:nvCxnSpPr>
        <p:spPr>
          <a:xfrm rot="10800000">
            <a:off x="6359913" y="3885475"/>
            <a:ext cx="746100" cy="539400"/>
          </a:xfrm>
          <a:prstGeom prst="straightConnector1">
            <a:avLst/>
          </a:prstGeom>
          <a:noFill/>
          <a:ln cap="flat" cmpd="sng" w="38100">
            <a:solidFill>
              <a:srgbClr val="0D5DDF"/>
            </a:solidFill>
            <a:prstDash val="solid"/>
            <a:round/>
            <a:headEnd len="med" w="med" type="none"/>
            <a:tailEnd len="med" w="med" type="none"/>
          </a:ln>
        </p:spPr>
      </p:cxnSp>
      <p:cxnSp>
        <p:nvCxnSpPr>
          <p:cNvPr id="369" name="Google Shape;369;p30"/>
          <p:cNvCxnSpPr>
            <a:stCxn id="354" idx="7"/>
            <a:endCxn id="353" idx="4"/>
          </p:cNvCxnSpPr>
          <p:nvPr/>
        </p:nvCxnSpPr>
        <p:spPr>
          <a:xfrm flipH="1" rot="10800000">
            <a:off x="5924918" y="3885318"/>
            <a:ext cx="435000" cy="510000"/>
          </a:xfrm>
          <a:prstGeom prst="straightConnector1">
            <a:avLst/>
          </a:prstGeom>
          <a:noFill/>
          <a:ln cap="flat" cmpd="sng" w="38100">
            <a:solidFill>
              <a:srgbClr val="0D5DDF"/>
            </a:solidFill>
            <a:prstDash val="solid"/>
            <a:round/>
            <a:headEnd len="med" w="med" type="none"/>
            <a:tailEnd len="med" w="med" type="none"/>
          </a:ln>
        </p:spPr>
      </p:cxnSp>
      <p:cxnSp>
        <p:nvCxnSpPr>
          <p:cNvPr id="370" name="Google Shape;370;p30"/>
          <p:cNvCxnSpPr>
            <a:stCxn id="355" idx="1"/>
            <a:endCxn id="354"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71" name="Google Shape;371;p30"/>
          <p:cNvCxnSpPr>
            <a:stCxn id="353" idx="2"/>
            <a:endCxn id="351" idx="6"/>
          </p:cNvCxnSpPr>
          <p:nvPr/>
        </p:nvCxnSpPr>
        <p:spPr>
          <a:xfrm rot="10800000">
            <a:off x="5463388" y="3615625"/>
            <a:ext cx="626100" cy="0"/>
          </a:xfrm>
          <a:prstGeom prst="straightConnector1">
            <a:avLst/>
          </a:prstGeom>
          <a:noFill/>
          <a:ln cap="flat" cmpd="sng" w="38100">
            <a:solidFill>
              <a:srgbClr val="FF0000"/>
            </a:solidFill>
            <a:prstDash val="solid"/>
            <a:round/>
            <a:headEnd len="med" w="med" type="none"/>
            <a:tailEnd len="med" w="med" type="none"/>
          </a:ln>
        </p:spPr>
      </p:cxnSp>
      <p:cxnSp>
        <p:nvCxnSpPr>
          <p:cNvPr id="372" name="Google Shape;372;p30"/>
          <p:cNvCxnSpPr>
            <a:stCxn id="354" idx="0"/>
            <a:endCxn id="351" idx="5"/>
          </p:cNvCxnSpPr>
          <p:nvPr/>
        </p:nvCxnSpPr>
        <p:spPr>
          <a:xfrm rot="10800000">
            <a:off x="5384288" y="3806325"/>
            <a:ext cx="349500" cy="510000"/>
          </a:xfrm>
          <a:prstGeom prst="straightConnector1">
            <a:avLst/>
          </a:prstGeom>
          <a:noFill/>
          <a:ln cap="flat" cmpd="sng" w="28575">
            <a:solidFill>
              <a:srgbClr val="B7B7B7"/>
            </a:solidFill>
            <a:prstDash val="solid"/>
            <a:round/>
            <a:headEnd len="med" w="med" type="none"/>
            <a:tailEnd len="med" w="med" type="none"/>
          </a:ln>
        </p:spPr>
      </p:cxnSp>
      <p:cxnSp>
        <p:nvCxnSpPr>
          <p:cNvPr id="373" name="Google Shape;373;p30"/>
          <p:cNvCxnSpPr>
            <a:stCxn id="353" idx="0"/>
            <a:endCxn id="352" idx="5"/>
          </p:cNvCxnSpPr>
          <p:nvPr/>
        </p:nvCxnSpPr>
        <p:spPr>
          <a:xfrm rot="10800000">
            <a:off x="5924788" y="2839825"/>
            <a:ext cx="435000" cy="506100"/>
          </a:xfrm>
          <a:prstGeom prst="straightConnector1">
            <a:avLst/>
          </a:prstGeom>
          <a:noFill/>
          <a:ln cap="flat" cmpd="sng" w="38100">
            <a:solidFill>
              <a:srgbClr val="0D5DDF"/>
            </a:solidFill>
            <a:prstDash val="solid"/>
            <a:round/>
            <a:headEnd len="med" w="med" type="none"/>
            <a:tailEnd len="med" w="med" type="none"/>
          </a:ln>
        </p:spPr>
      </p:cxnSp>
      <p:cxnSp>
        <p:nvCxnSpPr>
          <p:cNvPr id="374" name="Google Shape;374;p30"/>
          <p:cNvCxnSpPr>
            <a:stCxn id="351" idx="7"/>
            <a:endCxn id="352"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75" name="Google Shape;375;p30"/>
          <p:cNvCxnSpPr>
            <a:stCxn id="351" idx="2"/>
            <a:endCxn id="349"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376" name="Google Shape;376;p30"/>
          <p:cNvCxnSpPr>
            <a:stCxn id="350" idx="0"/>
            <a:endCxn id="349"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377" name="Google Shape;377;p30"/>
          <p:cNvCxnSpPr>
            <a:stCxn id="349" idx="3"/>
            <a:endCxn id="348"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78" name="Google Shape;378;p30"/>
          <p:cNvCxnSpPr>
            <a:stCxn id="347" idx="5"/>
            <a:endCxn id="348"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79" name="Google Shape;379;p30"/>
          <p:cNvCxnSpPr>
            <a:stCxn id="344" idx="4"/>
            <a:endCxn id="347"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80" name="Google Shape;380;p30"/>
          <p:cNvCxnSpPr>
            <a:stCxn id="349" idx="1"/>
            <a:endCxn id="344" idx="4"/>
          </p:cNvCxnSpPr>
          <p:nvPr/>
        </p:nvCxnSpPr>
        <p:spPr>
          <a:xfrm rot="10800000">
            <a:off x="3283732" y="2777218"/>
            <a:ext cx="392100" cy="647700"/>
          </a:xfrm>
          <a:prstGeom prst="straightConnector1">
            <a:avLst/>
          </a:prstGeom>
          <a:noFill/>
          <a:ln cap="flat" cmpd="sng" w="38100">
            <a:solidFill>
              <a:srgbClr val="FF0000"/>
            </a:solidFill>
            <a:prstDash val="solid"/>
            <a:round/>
            <a:headEnd len="med" w="med" type="none"/>
            <a:tailEnd len="med" w="med" type="none"/>
          </a:ln>
        </p:spPr>
      </p:cxnSp>
      <p:cxnSp>
        <p:nvCxnSpPr>
          <p:cNvPr id="381" name="Google Shape;381;p30"/>
          <p:cNvCxnSpPr>
            <a:stCxn id="347" idx="2"/>
            <a:endCxn id="346"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82" name="Google Shape;382;p30"/>
          <p:cNvCxnSpPr>
            <a:stCxn id="347" idx="0"/>
            <a:endCxn id="345"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83" name="Google Shape;383;p30"/>
          <p:cNvCxnSpPr>
            <a:stCxn id="345" idx="3"/>
            <a:endCxn id="346"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84" name="Google Shape;384;p30"/>
          <p:cNvCxnSpPr>
            <a:stCxn id="342" idx="4"/>
            <a:endCxn id="346"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85" name="Google Shape;385;p30"/>
          <p:cNvCxnSpPr>
            <a:stCxn id="343" idx="2"/>
            <a:endCxn id="342"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86" name="Google Shape;386;p30"/>
          <p:cNvCxnSpPr>
            <a:stCxn id="343" idx="3"/>
            <a:endCxn id="345"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87" name="Google Shape;387;p30"/>
          <p:cNvCxnSpPr>
            <a:stCxn id="344" idx="2"/>
            <a:endCxn id="342"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88" name="Google Shape;388;p30"/>
          <p:cNvCxnSpPr>
            <a:stCxn id="344" idx="1"/>
            <a:endCxn id="343"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89" name="Google Shape;389;p30"/>
          <p:cNvCxnSpPr>
            <a:stCxn id="344" idx="2"/>
            <a:endCxn id="345" idx="7"/>
          </p:cNvCxnSpPr>
          <p:nvPr/>
        </p:nvCxnSpPr>
        <p:spPr>
          <a:xfrm flipH="1">
            <a:off x="1870925" y="2507463"/>
            <a:ext cx="1142400" cy="270000"/>
          </a:xfrm>
          <a:prstGeom prst="straightConnector1">
            <a:avLst/>
          </a:prstGeom>
          <a:noFill/>
          <a:ln cap="flat" cmpd="sng" w="38100">
            <a:solidFill>
              <a:srgbClr val="FF0000"/>
            </a:solidFill>
            <a:prstDash val="solid"/>
            <a:round/>
            <a:headEnd len="med" w="med" type="none"/>
            <a:tailEnd len="med" w="med" type="none"/>
          </a:ln>
        </p:spPr>
      </p:cxnSp>
      <p:cxnSp>
        <p:nvCxnSpPr>
          <p:cNvPr id="390" name="Google Shape;390;p30"/>
          <p:cNvCxnSpPr>
            <a:stCxn id="345" idx="1"/>
            <a:endCxn id="342"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91" name="Google Shape;391;p30"/>
          <p:cNvCxnSpPr>
            <a:stCxn id="353" idx="6"/>
            <a:endCxn id="358" idx="3"/>
          </p:cNvCxnSpPr>
          <p:nvPr/>
        </p:nvCxnSpPr>
        <p:spPr>
          <a:xfrm flipH="1" rot="10800000">
            <a:off x="6630088" y="2957725"/>
            <a:ext cx="555000" cy="657900"/>
          </a:xfrm>
          <a:prstGeom prst="straightConnector1">
            <a:avLst/>
          </a:prstGeom>
          <a:noFill/>
          <a:ln cap="flat" cmpd="sng" w="38100">
            <a:solidFill>
              <a:srgbClr val="0D5DDF"/>
            </a:solidFill>
            <a:prstDash val="solid"/>
            <a:round/>
            <a:headEnd len="med" w="med" type="none"/>
            <a:tailEnd len="med" w="med" type="none"/>
          </a:ln>
        </p:spPr>
      </p:cxnSp>
      <p:sp>
        <p:nvSpPr>
          <p:cNvPr id="392" name="Google Shape;392;p30"/>
          <p:cNvSpPr txBox="1"/>
          <p:nvPr/>
        </p:nvSpPr>
        <p:spPr>
          <a:xfrm>
            <a:off x="2760600" y="1178425"/>
            <a:ext cx="4587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It is called “eigenvector” because it is calculated using a matrix algebra called </a:t>
            </a:r>
            <a:r>
              <a:rPr b="1" lang="en">
                <a:latin typeface="Open Sans"/>
                <a:ea typeface="Open Sans"/>
                <a:cs typeface="Open Sans"/>
                <a:sym typeface="Open Sans"/>
              </a:rPr>
              <a:t>eigenvalue decomposition </a:t>
            </a:r>
            <a:r>
              <a:rPr lang="en">
                <a:latin typeface="Open Sans"/>
                <a:ea typeface="Open Sans"/>
                <a:cs typeface="Open Sans"/>
                <a:sym typeface="Open Sans"/>
              </a:rPr>
              <a:t>to rank each node according to whether they are connected to well-connected others.</a:t>
            </a:r>
            <a:endParaRPr>
              <a:latin typeface="Open Sans"/>
              <a:ea typeface="Open Sans"/>
              <a:cs typeface="Open Sans"/>
              <a:sym typeface="Open Sans"/>
            </a:endParaRPr>
          </a:p>
        </p:txBody>
      </p:sp>
      <p:sp>
        <p:nvSpPr>
          <p:cNvPr id="393" name="Google Shape;393;p30"/>
          <p:cNvSpPr txBox="1"/>
          <p:nvPr/>
        </p:nvSpPr>
        <p:spPr>
          <a:xfrm>
            <a:off x="6187350" y="246052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(j) = 7</a:t>
            </a:r>
            <a:endParaRPr>
              <a:latin typeface="Economica"/>
              <a:ea typeface="Economica"/>
              <a:cs typeface="Economica"/>
              <a:sym typeface="Economic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Eigenvector (C</a:t>
            </a:r>
            <a:r>
              <a:rPr baseline="-25000" lang="en"/>
              <a:t>Eig</a:t>
            </a:r>
            <a:r>
              <a:rPr lang="en"/>
              <a:t>)</a:t>
            </a:r>
            <a:endParaRPr/>
          </a:p>
        </p:txBody>
      </p:sp>
      <p:sp>
        <p:nvSpPr>
          <p:cNvPr id="399" name="Google Shape;399;p31"/>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00" name="Google Shape;400;p31"/>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01" name="Google Shape;401;p31"/>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02" name="Google Shape;402;p31"/>
          <p:cNvSpPr/>
          <p:nvPr/>
        </p:nvSpPr>
        <p:spPr>
          <a:xfrm>
            <a:off x="1409500" y="26983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03" name="Google Shape;403;p31"/>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04" name="Google Shape;404;p31"/>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05" name="Google Shape;405;p31"/>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06" name="Google Shape;406;p31"/>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07" name="Google Shape;407;p31"/>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08" name="Google Shape;408;p31"/>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09" name="Google Shape;409;p31"/>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10" name="Google Shape;410;p31"/>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11" name="Google Shape;411;p31"/>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12" name="Google Shape;412;p31"/>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13" name="Google Shape;413;p31"/>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14" name="Google Shape;414;p31"/>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15" name="Google Shape;415;p31"/>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16" name="Google Shape;416;p31"/>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17" name="Google Shape;417;p31"/>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18" name="Google Shape;418;p31"/>
          <p:cNvCxnSpPr>
            <a:stCxn id="417" idx="2"/>
            <a:endCxn id="416"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419" name="Google Shape;419;p31"/>
          <p:cNvCxnSpPr>
            <a:stCxn id="415" idx="0"/>
            <a:endCxn id="416"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420" name="Google Shape;420;p31"/>
          <p:cNvCxnSpPr>
            <a:stCxn id="414" idx="2"/>
            <a:endCxn id="415"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421" name="Google Shape;421;p31"/>
          <p:cNvCxnSpPr>
            <a:stCxn id="414" idx="2"/>
            <a:endCxn id="410" idx="6"/>
          </p:cNvCxnSpPr>
          <p:nvPr/>
        </p:nvCxnSpPr>
        <p:spPr>
          <a:xfrm flipH="1">
            <a:off x="6630088" y="2929075"/>
            <a:ext cx="1675800" cy="686700"/>
          </a:xfrm>
          <a:prstGeom prst="straightConnector1">
            <a:avLst/>
          </a:prstGeom>
          <a:noFill/>
          <a:ln cap="flat" cmpd="sng" w="38100">
            <a:solidFill>
              <a:srgbClr val="0D5DDF"/>
            </a:solidFill>
            <a:prstDash val="solid"/>
            <a:round/>
            <a:headEnd len="med" w="med" type="none"/>
            <a:tailEnd len="med" w="med" type="none"/>
          </a:ln>
        </p:spPr>
      </p:cxnSp>
      <p:cxnSp>
        <p:nvCxnSpPr>
          <p:cNvPr id="422" name="Google Shape;422;p31"/>
          <p:cNvCxnSpPr>
            <a:stCxn id="414" idx="2"/>
            <a:endCxn id="413"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423" name="Google Shape;423;p31"/>
          <p:cNvCxnSpPr>
            <a:stCxn id="413" idx="2"/>
            <a:endCxn id="410" idx="6"/>
          </p:cNvCxnSpPr>
          <p:nvPr/>
        </p:nvCxnSpPr>
        <p:spPr>
          <a:xfrm rot="10800000">
            <a:off x="6630138" y="3615550"/>
            <a:ext cx="763800" cy="133500"/>
          </a:xfrm>
          <a:prstGeom prst="straightConnector1">
            <a:avLst/>
          </a:prstGeom>
          <a:noFill/>
          <a:ln cap="flat" cmpd="sng" w="38100">
            <a:solidFill>
              <a:srgbClr val="0D5DDF"/>
            </a:solidFill>
            <a:prstDash val="solid"/>
            <a:round/>
            <a:headEnd len="med" w="med" type="none"/>
            <a:tailEnd len="med" w="med" type="none"/>
          </a:ln>
        </p:spPr>
      </p:cxnSp>
      <p:cxnSp>
        <p:nvCxnSpPr>
          <p:cNvPr id="424" name="Google Shape;424;p31"/>
          <p:cNvCxnSpPr>
            <a:stCxn id="413" idx="1"/>
            <a:endCxn id="409"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425" name="Google Shape;425;p31"/>
          <p:cNvCxnSpPr>
            <a:stCxn id="412" idx="0"/>
            <a:endCxn id="410" idx="4"/>
          </p:cNvCxnSpPr>
          <p:nvPr/>
        </p:nvCxnSpPr>
        <p:spPr>
          <a:xfrm rot="10800000">
            <a:off x="6359913" y="3885475"/>
            <a:ext cx="746100" cy="539400"/>
          </a:xfrm>
          <a:prstGeom prst="straightConnector1">
            <a:avLst/>
          </a:prstGeom>
          <a:noFill/>
          <a:ln cap="flat" cmpd="sng" w="38100">
            <a:solidFill>
              <a:srgbClr val="0D5DDF"/>
            </a:solidFill>
            <a:prstDash val="solid"/>
            <a:round/>
            <a:headEnd len="med" w="med" type="none"/>
            <a:tailEnd len="med" w="med" type="none"/>
          </a:ln>
        </p:spPr>
      </p:cxnSp>
      <p:cxnSp>
        <p:nvCxnSpPr>
          <p:cNvPr id="426" name="Google Shape;426;p31"/>
          <p:cNvCxnSpPr>
            <a:stCxn id="411" idx="7"/>
            <a:endCxn id="410" idx="4"/>
          </p:cNvCxnSpPr>
          <p:nvPr/>
        </p:nvCxnSpPr>
        <p:spPr>
          <a:xfrm flipH="1" rot="10800000">
            <a:off x="5924918" y="3885318"/>
            <a:ext cx="435000" cy="510000"/>
          </a:xfrm>
          <a:prstGeom prst="straightConnector1">
            <a:avLst/>
          </a:prstGeom>
          <a:noFill/>
          <a:ln cap="flat" cmpd="sng" w="38100">
            <a:solidFill>
              <a:srgbClr val="0D5DDF"/>
            </a:solidFill>
            <a:prstDash val="solid"/>
            <a:round/>
            <a:headEnd len="med" w="med" type="none"/>
            <a:tailEnd len="med" w="med" type="none"/>
          </a:ln>
        </p:spPr>
      </p:cxnSp>
      <p:cxnSp>
        <p:nvCxnSpPr>
          <p:cNvPr id="427" name="Google Shape;427;p31"/>
          <p:cNvCxnSpPr>
            <a:stCxn id="412" idx="1"/>
            <a:endCxn id="411"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428" name="Google Shape;428;p31"/>
          <p:cNvCxnSpPr>
            <a:stCxn id="410" idx="2"/>
            <a:endCxn id="408" idx="6"/>
          </p:cNvCxnSpPr>
          <p:nvPr/>
        </p:nvCxnSpPr>
        <p:spPr>
          <a:xfrm rot="10800000">
            <a:off x="5463388" y="3615625"/>
            <a:ext cx="626100" cy="0"/>
          </a:xfrm>
          <a:prstGeom prst="straightConnector1">
            <a:avLst/>
          </a:prstGeom>
          <a:noFill/>
          <a:ln cap="flat" cmpd="sng" w="38100">
            <a:solidFill>
              <a:srgbClr val="FF0000"/>
            </a:solidFill>
            <a:prstDash val="solid"/>
            <a:round/>
            <a:headEnd len="med" w="med" type="none"/>
            <a:tailEnd len="med" w="med" type="none"/>
          </a:ln>
        </p:spPr>
      </p:cxnSp>
      <p:cxnSp>
        <p:nvCxnSpPr>
          <p:cNvPr id="429" name="Google Shape;429;p31"/>
          <p:cNvCxnSpPr>
            <a:stCxn id="411" idx="0"/>
            <a:endCxn id="408" idx="5"/>
          </p:cNvCxnSpPr>
          <p:nvPr/>
        </p:nvCxnSpPr>
        <p:spPr>
          <a:xfrm rot="10800000">
            <a:off x="5384288" y="3806325"/>
            <a:ext cx="349500" cy="510000"/>
          </a:xfrm>
          <a:prstGeom prst="straightConnector1">
            <a:avLst/>
          </a:prstGeom>
          <a:noFill/>
          <a:ln cap="flat" cmpd="sng" w="28575">
            <a:solidFill>
              <a:srgbClr val="B7B7B7"/>
            </a:solidFill>
            <a:prstDash val="solid"/>
            <a:round/>
            <a:headEnd len="med" w="med" type="none"/>
            <a:tailEnd len="med" w="med" type="none"/>
          </a:ln>
        </p:spPr>
      </p:cxnSp>
      <p:cxnSp>
        <p:nvCxnSpPr>
          <p:cNvPr id="430" name="Google Shape;430;p31"/>
          <p:cNvCxnSpPr>
            <a:stCxn id="410" idx="0"/>
            <a:endCxn id="409" idx="5"/>
          </p:cNvCxnSpPr>
          <p:nvPr/>
        </p:nvCxnSpPr>
        <p:spPr>
          <a:xfrm rot="10800000">
            <a:off x="5924788" y="2839825"/>
            <a:ext cx="435000" cy="506100"/>
          </a:xfrm>
          <a:prstGeom prst="straightConnector1">
            <a:avLst/>
          </a:prstGeom>
          <a:noFill/>
          <a:ln cap="flat" cmpd="sng" w="38100">
            <a:solidFill>
              <a:srgbClr val="0D5DDF"/>
            </a:solidFill>
            <a:prstDash val="solid"/>
            <a:round/>
            <a:headEnd len="med" w="med" type="none"/>
            <a:tailEnd len="med" w="med" type="none"/>
          </a:ln>
        </p:spPr>
      </p:cxnSp>
      <p:cxnSp>
        <p:nvCxnSpPr>
          <p:cNvPr id="431" name="Google Shape;431;p31"/>
          <p:cNvCxnSpPr>
            <a:stCxn id="408" idx="7"/>
            <a:endCxn id="409"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432" name="Google Shape;432;p31"/>
          <p:cNvCxnSpPr>
            <a:stCxn id="408" idx="2"/>
            <a:endCxn id="406"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433" name="Google Shape;433;p31"/>
          <p:cNvCxnSpPr>
            <a:stCxn id="407" idx="0"/>
            <a:endCxn id="406"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434" name="Google Shape;434;p31"/>
          <p:cNvCxnSpPr>
            <a:stCxn id="406" idx="3"/>
            <a:endCxn id="405"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435" name="Google Shape;435;p31"/>
          <p:cNvCxnSpPr>
            <a:stCxn id="404" idx="5"/>
            <a:endCxn id="405"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436" name="Google Shape;436;p31"/>
          <p:cNvCxnSpPr>
            <a:stCxn id="401" idx="4"/>
            <a:endCxn id="404"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437" name="Google Shape;437;p31"/>
          <p:cNvCxnSpPr>
            <a:stCxn id="406" idx="1"/>
            <a:endCxn id="401" idx="4"/>
          </p:cNvCxnSpPr>
          <p:nvPr/>
        </p:nvCxnSpPr>
        <p:spPr>
          <a:xfrm rot="10800000">
            <a:off x="3283732" y="2777218"/>
            <a:ext cx="392100" cy="647700"/>
          </a:xfrm>
          <a:prstGeom prst="straightConnector1">
            <a:avLst/>
          </a:prstGeom>
          <a:noFill/>
          <a:ln cap="flat" cmpd="sng" w="38100">
            <a:solidFill>
              <a:srgbClr val="FF0000"/>
            </a:solidFill>
            <a:prstDash val="solid"/>
            <a:round/>
            <a:headEnd len="med" w="med" type="none"/>
            <a:tailEnd len="med" w="med" type="none"/>
          </a:ln>
        </p:spPr>
      </p:cxnSp>
      <p:cxnSp>
        <p:nvCxnSpPr>
          <p:cNvPr id="438" name="Google Shape;438;p31"/>
          <p:cNvCxnSpPr>
            <a:stCxn id="404" idx="2"/>
            <a:endCxn id="403"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439" name="Google Shape;439;p31"/>
          <p:cNvCxnSpPr>
            <a:stCxn id="404" idx="0"/>
            <a:endCxn id="402"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440" name="Google Shape;440;p31"/>
          <p:cNvCxnSpPr>
            <a:stCxn id="402" idx="3"/>
            <a:endCxn id="403"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441" name="Google Shape;441;p31"/>
          <p:cNvCxnSpPr>
            <a:stCxn id="399" idx="4"/>
            <a:endCxn id="403"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442" name="Google Shape;442;p31"/>
          <p:cNvCxnSpPr>
            <a:stCxn id="400" idx="2"/>
            <a:endCxn id="399"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443" name="Google Shape;443;p31"/>
          <p:cNvCxnSpPr>
            <a:stCxn id="400" idx="3"/>
            <a:endCxn id="402"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444" name="Google Shape;444;p31"/>
          <p:cNvCxnSpPr>
            <a:stCxn id="401" idx="2"/>
            <a:endCxn id="399"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445" name="Google Shape;445;p31"/>
          <p:cNvCxnSpPr>
            <a:stCxn id="401" idx="1"/>
            <a:endCxn id="400"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446" name="Google Shape;446;p31"/>
          <p:cNvCxnSpPr>
            <a:stCxn id="401" idx="2"/>
            <a:endCxn id="402" idx="7"/>
          </p:cNvCxnSpPr>
          <p:nvPr/>
        </p:nvCxnSpPr>
        <p:spPr>
          <a:xfrm flipH="1">
            <a:off x="1870925" y="2507463"/>
            <a:ext cx="1142400" cy="270000"/>
          </a:xfrm>
          <a:prstGeom prst="straightConnector1">
            <a:avLst/>
          </a:prstGeom>
          <a:noFill/>
          <a:ln cap="flat" cmpd="sng" w="38100">
            <a:solidFill>
              <a:srgbClr val="FF0000"/>
            </a:solidFill>
            <a:prstDash val="solid"/>
            <a:round/>
            <a:headEnd len="med" w="med" type="none"/>
            <a:tailEnd len="med" w="med" type="none"/>
          </a:ln>
        </p:spPr>
      </p:cxnSp>
      <p:cxnSp>
        <p:nvCxnSpPr>
          <p:cNvPr id="447" name="Google Shape;447;p31"/>
          <p:cNvCxnSpPr>
            <a:stCxn id="402" idx="1"/>
            <a:endCxn id="399"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448" name="Google Shape;448;p31"/>
          <p:cNvCxnSpPr>
            <a:stCxn id="410" idx="6"/>
            <a:endCxn id="415" idx="3"/>
          </p:cNvCxnSpPr>
          <p:nvPr/>
        </p:nvCxnSpPr>
        <p:spPr>
          <a:xfrm flipH="1" rot="10800000">
            <a:off x="6630088" y="2957725"/>
            <a:ext cx="555000" cy="657900"/>
          </a:xfrm>
          <a:prstGeom prst="straightConnector1">
            <a:avLst/>
          </a:prstGeom>
          <a:noFill/>
          <a:ln cap="flat" cmpd="sng" w="38100">
            <a:solidFill>
              <a:srgbClr val="0D5DDF"/>
            </a:solidFill>
            <a:prstDash val="solid"/>
            <a:round/>
            <a:headEnd len="med" w="med" type="none"/>
            <a:tailEnd len="med" w="med" type="none"/>
          </a:ln>
        </p:spPr>
      </p:cxnSp>
      <p:sp>
        <p:nvSpPr>
          <p:cNvPr id="449" name="Google Shape;449;p31"/>
          <p:cNvSpPr txBox="1"/>
          <p:nvPr/>
        </p:nvSpPr>
        <p:spPr>
          <a:xfrm>
            <a:off x="2760600" y="1178425"/>
            <a:ext cx="458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Eigenvector centrality was discovered by a Professor of sociology at UCLA! (Bonacich 1978)</a:t>
            </a:r>
            <a:endParaRPr>
              <a:latin typeface="Open Sans"/>
              <a:ea typeface="Open Sans"/>
              <a:cs typeface="Open Sans"/>
              <a:sym typeface="Open Sans"/>
            </a:endParaRPr>
          </a:p>
        </p:txBody>
      </p:sp>
      <p:sp>
        <p:nvSpPr>
          <p:cNvPr id="450" name="Google Shape;450;p31"/>
          <p:cNvSpPr txBox="1"/>
          <p:nvPr/>
        </p:nvSpPr>
        <p:spPr>
          <a:xfrm>
            <a:off x="6187350" y="246052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(j) = 7</a:t>
            </a:r>
            <a:endParaRPr>
              <a:latin typeface="Economica"/>
              <a:ea typeface="Economica"/>
              <a:cs typeface="Economica"/>
              <a:sym typeface="Economic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2"/>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56" name="Google Shape;456;p32"/>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57" name="Google Shape;457;p32"/>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58" name="Google Shape;458;p32"/>
          <p:cNvSpPr/>
          <p:nvPr/>
        </p:nvSpPr>
        <p:spPr>
          <a:xfrm>
            <a:off x="1409500" y="26983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59" name="Google Shape;459;p32"/>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60" name="Google Shape;460;p32"/>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61" name="Google Shape;461;p32"/>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62" name="Google Shape;462;p32"/>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63" name="Google Shape;463;p32"/>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64" name="Google Shape;464;p32"/>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65" name="Google Shape;465;p32"/>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66" name="Google Shape;466;p32"/>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67" name="Google Shape;467;p32"/>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68" name="Google Shape;468;p32"/>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69" name="Google Shape;469;p32"/>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70" name="Google Shape;470;p32"/>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71" name="Google Shape;471;p32"/>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72" name="Google Shape;472;p32"/>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73" name="Google Shape;473;p32"/>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74" name="Google Shape;474;p32"/>
          <p:cNvCxnSpPr>
            <a:stCxn id="473" idx="2"/>
            <a:endCxn id="472"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475" name="Google Shape;475;p32"/>
          <p:cNvCxnSpPr>
            <a:stCxn id="471" idx="0"/>
            <a:endCxn id="472"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476" name="Google Shape;476;p32"/>
          <p:cNvCxnSpPr>
            <a:stCxn id="470" idx="2"/>
            <a:endCxn id="471"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477" name="Google Shape;477;p32"/>
          <p:cNvCxnSpPr>
            <a:stCxn id="470" idx="2"/>
            <a:endCxn id="466" idx="6"/>
          </p:cNvCxnSpPr>
          <p:nvPr/>
        </p:nvCxnSpPr>
        <p:spPr>
          <a:xfrm flipH="1">
            <a:off x="6630088" y="2929075"/>
            <a:ext cx="1675800" cy="686700"/>
          </a:xfrm>
          <a:prstGeom prst="straightConnector1">
            <a:avLst/>
          </a:prstGeom>
          <a:noFill/>
          <a:ln cap="flat" cmpd="sng" w="38100">
            <a:solidFill>
              <a:srgbClr val="0D5DDF"/>
            </a:solidFill>
            <a:prstDash val="solid"/>
            <a:round/>
            <a:headEnd len="med" w="med" type="none"/>
            <a:tailEnd len="med" w="med" type="none"/>
          </a:ln>
        </p:spPr>
      </p:cxnSp>
      <p:cxnSp>
        <p:nvCxnSpPr>
          <p:cNvPr id="478" name="Google Shape;478;p32"/>
          <p:cNvCxnSpPr>
            <a:stCxn id="470" idx="2"/>
            <a:endCxn id="469"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479" name="Google Shape;479;p32"/>
          <p:cNvCxnSpPr>
            <a:stCxn id="469" idx="2"/>
            <a:endCxn id="466" idx="6"/>
          </p:cNvCxnSpPr>
          <p:nvPr/>
        </p:nvCxnSpPr>
        <p:spPr>
          <a:xfrm rot="10800000">
            <a:off x="6630138" y="3615550"/>
            <a:ext cx="763800" cy="133500"/>
          </a:xfrm>
          <a:prstGeom prst="straightConnector1">
            <a:avLst/>
          </a:prstGeom>
          <a:noFill/>
          <a:ln cap="flat" cmpd="sng" w="38100">
            <a:solidFill>
              <a:srgbClr val="0D5DDF"/>
            </a:solidFill>
            <a:prstDash val="solid"/>
            <a:round/>
            <a:headEnd len="med" w="med" type="none"/>
            <a:tailEnd len="med" w="med" type="none"/>
          </a:ln>
        </p:spPr>
      </p:cxnSp>
      <p:cxnSp>
        <p:nvCxnSpPr>
          <p:cNvPr id="480" name="Google Shape;480;p32"/>
          <p:cNvCxnSpPr>
            <a:stCxn id="469" idx="1"/>
            <a:endCxn id="465"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481" name="Google Shape;481;p32"/>
          <p:cNvCxnSpPr>
            <a:stCxn id="468" idx="0"/>
            <a:endCxn id="466" idx="4"/>
          </p:cNvCxnSpPr>
          <p:nvPr/>
        </p:nvCxnSpPr>
        <p:spPr>
          <a:xfrm rot="10800000">
            <a:off x="6359913" y="3885475"/>
            <a:ext cx="746100" cy="539400"/>
          </a:xfrm>
          <a:prstGeom prst="straightConnector1">
            <a:avLst/>
          </a:prstGeom>
          <a:noFill/>
          <a:ln cap="flat" cmpd="sng" w="38100">
            <a:solidFill>
              <a:srgbClr val="0D5DDF"/>
            </a:solidFill>
            <a:prstDash val="solid"/>
            <a:round/>
            <a:headEnd len="med" w="med" type="none"/>
            <a:tailEnd len="med" w="med" type="none"/>
          </a:ln>
        </p:spPr>
      </p:cxnSp>
      <p:cxnSp>
        <p:nvCxnSpPr>
          <p:cNvPr id="482" name="Google Shape;482;p32"/>
          <p:cNvCxnSpPr>
            <a:stCxn id="467" idx="7"/>
            <a:endCxn id="466" idx="4"/>
          </p:cNvCxnSpPr>
          <p:nvPr/>
        </p:nvCxnSpPr>
        <p:spPr>
          <a:xfrm flipH="1" rot="10800000">
            <a:off x="5924918" y="3885318"/>
            <a:ext cx="435000" cy="510000"/>
          </a:xfrm>
          <a:prstGeom prst="straightConnector1">
            <a:avLst/>
          </a:prstGeom>
          <a:noFill/>
          <a:ln cap="flat" cmpd="sng" w="38100">
            <a:solidFill>
              <a:srgbClr val="0D5DDF"/>
            </a:solidFill>
            <a:prstDash val="solid"/>
            <a:round/>
            <a:headEnd len="med" w="med" type="none"/>
            <a:tailEnd len="med" w="med" type="none"/>
          </a:ln>
        </p:spPr>
      </p:cxnSp>
      <p:cxnSp>
        <p:nvCxnSpPr>
          <p:cNvPr id="483" name="Google Shape;483;p32"/>
          <p:cNvCxnSpPr>
            <a:stCxn id="468" idx="1"/>
            <a:endCxn id="467"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484" name="Google Shape;484;p32"/>
          <p:cNvCxnSpPr>
            <a:stCxn id="466" idx="2"/>
            <a:endCxn id="464" idx="6"/>
          </p:cNvCxnSpPr>
          <p:nvPr/>
        </p:nvCxnSpPr>
        <p:spPr>
          <a:xfrm rot="10800000">
            <a:off x="5463388" y="3615625"/>
            <a:ext cx="626100" cy="0"/>
          </a:xfrm>
          <a:prstGeom prst="straightConnector1">
            <a:avLst/>
          </a:prstGeom>
          <a:noFill/>
          <a:ln cap="flat" cmpd="sng" w="38100">
            <a:solidFill>
              <a:srgbClr val="FF0000"/>
            </a:solidFill>
            <a:prstDash val="solid"/>
            <a:round/>
            <a:headEnd len="med" w="med" type="none"/>
            <a:tailEnd len="med" w="med" type="none"/>
          </a:ln>
        </p:spPr>
      </p:cxnSp>
      <p:cxnSp>
        <p:nvCxnSpPr>
          <p:cNvPr id="485" name="Google Shape;485;p32"/>
          <p:cNvCxnSpPr>
            <a:stCxn id="467" idx="0"/>
            <a:endCxn id="464" idx="5"/>
          </p:cNvCxnSpPr>
          <p:nvPr/>
        </p:nvCxnSpPr>
        <p:spPr>
          <a:xfrm rot="10800000">
            <a:off x="5384288" y="3806325"/>
            <a:ext cx="349500" cy="510000"/>
          </a:xfrm>
          <a:prstGeom prst="straightConnector1">
            <a:avLst/>
          </a:prstGeom>
          <a:noFill/>
          <a:ln cap="flat" cmpd="sng" w="28575">
            <a:solidFill>
              <a:srgbClr val="B7B7B7"/>
            </a:solidFill>
            <a:prstDash val="solid"/>
            <a:round/>
            <a:headEnd len="med" w="med" type="none"/>
            <a:tailEnd len="med" w="med" type="none"/>
          </a:ln>
        </p:spPr>
      </p:cxnSp>
      <p:cxnSp>
        <p:nvCxnSpPr>
          <p:cNvPr id="486" name="Google Shape;486;p32"/>
          <p:cNvCxnSpPr>
            <a:stCxn id="466" idx="0"/>
            <a:endCxn id="465" idx="5"/>
          </p:cNvCxnSpPr>
          <p:nvPr/>
        </p:nvCxnSpPr>
        <p:spPr>
          <a:xfrm rot="10800000">
            <a:off x="5924788" y="2839825"/>
            <a:ext cx="435000" cy="506100"/>
          </a:xfrm>
          <a:prstGeom prst="straightConnector1">
            <a:avLst/>
          </a:prstGeom>
          <a:noFill/>
          <a:ln cap="flat" cmpd="sng" w="38100">
            <a:solidFill>
              <a:srgbClr val="0D5DDF"/>
            </a:solidFill>
            <a:prstDash val="solid"/>
            <a:round/>
            <a:headEnd len="med" w="med" type="none"/>
            <a:tailEnd len="med" w="med" type="none"/>
          </a:ln>
        </p:spPr>
      </p:cxnSp>
      <p:cxnSp>
        <p:nvCxnSpPr>
          <p:cNvPr id="487" name="Google Shape;487;p32"/>
          <p:cNvCxnSpPr>
            <a:stCxn id="464" idx="7"/>
            <a:endCxn id="465"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488" name="Google Shape;488;p32"/>
          <p:cNvCxnSpPr>
            <a:stCxn id="464" idx="2"/>
            <a:endCxn id="462"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489" name="Google Shape;489;p32"/>
          <p:cNvCxnSpPr>
            <a:stCxn id="463" idx="0"/>
            <a:endCxn id="462"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490" name="Google Shape;490;p32"/>
          <p:cNvCxnSpPr>
            <a:stCxn id="462" idx="3"/>
            <a:endCxn id="461"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491" name="Google Shape;491;p32"/>
          <p:cNvCxnSpPr>
            <a:stCxn id="460" idx="5"/>
            <a:endCxn id="461"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492" name="Google Shape;492;p32"/>
          <p:cNvCxnSpPr>
            <a:stCxn id="457" idx="4"/>
            <a:endCxn id="460"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493" name="Google Shape;493;p32"/>
          <p:cNvCxnSpPr>
            <a:stCxn id="462" idx="1"/>
            <a:endCxn id="457" idx="4"/>
          </p:cNvCxnSpPr>
          <p:nvPr/>
        </p:nvCxnSpPr>
        <p:spPr>
          <a:xfrm rot="10800000">
            <a:off x="3283732" y="2777218"/>
            <a:ext cx="392100" cy="647700"/>
          </a:xfrm>
          <a:prstGeom prst="straightConnector1">
            <a:avLst/>
          </a:prstGeom>
          <a:noFill/>
          <a:ln cap="flat" cmpd="sng" w="38100">
            <a:solidFill>
              <a:srgbClr val="FF0000"/>
            </a:solidFill>
            <a:prstDash val="solid"/>
            <a:round/>
            <a:headEnd len="med" w="med" type="none"/>
            <a:tailEnd len="med" w="med" type="none"/>
          </a:ln>
        </p:spPr>
      </p:cxnSp>
      <p:cxnSp>
        <p:nvCxnSpPr>
          <p:cNvPr id="494" name="Google Shape;494;p32"/>
          <p:cNvCxnSpPr>
            <a:stCxn id="460" idx="2"/>
            <a:endCxn id="459"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495" name="Google Shape;495;p32"/>
          <p:cNvCxnSpPr>
            <a:stCxn id="460" idx="0"/>
            <a:endCxn id="458"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496" name="Google Shape;496;p32"/>
          <p:cNvCxnSpPr>
            <a:stCxn id="458" idx="3"/>
            <a:endCxn id="459"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497" name="Google Shape;497;p32"/>
          <p:cNvCxnSpPr>
            <a:stCxn id="455" idx="4"/>
            <a:endCxn id="459"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498" name="Google Shape;498;p32"/>
          <p:cNvCxnSpPr>
            <a:stCxn id="456" idx="2"/>
            <a:endCxn id="455"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499" name="Google Shape;499;p32"/>
          <p:cNvCxnSpPr>
            <a:stCxn id="456" idx="3"/>
            <a:endCxn id="458"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500" name="Google Shape;500;p32"/>
          <p:cNvCxnSpPr>
            <a:stCxn id="457" idx="2"/>
            <a:endCxn id="455"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501" name="Google Shape;501;p32"/>
          <p:cNvCxnSpPr>
            <a:stCxn id="457" idx="1"/>
            <a:endCxn id="456"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502" name="Google Shape;502;p32"/>
          <p:cNvCxnSpPr>
            <a:stCxn id="457" idx="2"/>
            <a:endCxn id="458" idx="7"/>
          </p:cNvCxnSpPr>
          <p:nvPr/>
        </p:nvCxnSpPr>
        <p:spPr>
          <a:xfrm flipH="1">
            <a:off x="1870925" y="2507463"/>
            <a:ext cx="1142400" cy="270000"/>
          </a:xfrm>
          <a:prstGeom prst="straightConnector1">
            <a:avLst/>
          </a:prstGeom>
          <a:noFill/>
          <a:ln cap="flat" cmpd="sng" w="38100">
            <a:solidFill>
              <a:srgbClr val="FF0000"/>
            </a:solidFill>
            <a:prstDash val="solid"/>
            <a:round/>
            <a:headEnd len="med" w="med" type="none"/>
            <a:tailEnd len="med" w="med" type="none"/>
          </a:ln>
        </p:spPr>
      </p:cxnSp>
      <p:cxnSp>
        <p:nvCxnSpPr>
          <p:cNvPr id="503" name="Google Shape;503;p32"/>
          <p:cNvCxnSpPr>
            <a:stCxn id="458" idx="1"/>
            <a:endCxn id="455"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504" name="Google Shape;504;p32"/>
          <p:cNvCxnSpPr>
            <a:stCxn id="466" idx="6"/>
            <a:endCxn id="471" idx="3"/>
          </p:cNvCxnSpPr>
          <p:nvPr/>
        </p:nvCxnSpPr>
        <p:spPr>
          <a:xfrm flipH="1" rot="10800000">
            <a:off x="6630088" y="2957725"/>
            <a:ext cx="555000" cy="657900"/>
          </a:xfrm>
          <a:prstGeom prst="straightConnector1">
            <a:avLst/>
          </a:prstGeom>
          <a:noFill/>
          <a:ln cap="flat" cmpd="sng" w="38100">
            <a:solidFill>
              <a:srgbClr val="0D5DDF"/>
            </a:solidFill>
            <a:prstDash val="solid"/>
            <a:round/>
            <a:headEnd len="med" w="med" type="none"/>
            <a:tailEnd len="med" w="med" type="none"/>
          </a:ln>
        </p:spPr>
      </p:cxnSp>
      <p:sp>
        <p:nvSpPr>
          <p:cNvPr id="505" name="Google Shape;505;p32"/>
          <p:cNvSpPr txBox="1"/>
          <p:nvPr/>
        </p:nvSpPr>
        <p:spPr>
          <a:xfrm>
            <a:off x="2760600" y="1178425"/>
            <a:ext cx="458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Eigenvector centrality was discovered by a Professor of sociology at UCLA! (Bonacich 1978)</a:t>
            </a:r>
            <a:endParaRPr>
              <a:latin typeface="Open Sans"/>
              <a:ea typeface="Open Sans"/>
              <a:cs typeface="Open Sans"/>
              <a:sym typeface="Open Sans"/>
            </a:endParaRPr>
          </a:p>
        </p:txBody>
      </p:sp>
      <p:sp>
        <p:nvSpPr>
          <p:cNvPr id="506" name="Google Shape;506;p32"/>
          <p:cNvSpPr txBox="1"/>
          <p:nvPr/>
        </p:nvSpPr>
        <p:spPr>
          <a:xfrm>
            <a:off x="6187350" y="2460525"/>
            <a:ext cx="85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C</a:t>
            </a:r>
            <a:r>
              <a:rPr baseline="-25000" lang="en">
                <a:latin typeface="Economica"/>
                <a:ea typeface="Economica"/>
                <a:cs typeface="Economica"/>
                <a:sym typeface="Economica"/>
              </a:rPr>
              <a:t>deg</a:t>
            </a:r>
            <a:r>
              <a:rPr lang="en">
                <a:latin typeface="Economica"/>
                <a:ea typeface="Economica"/>
                <a:cs typeface="Economica"/>
                <a:sym typeface="Economica"/>
              </a:rPr>
              <a:t>(j) = 7</a:t>
            </a:r>
            <a:endParaRPr>
              <a:latin typeface="Economica"/>
              <a:ea typeface="Economica"/>
              <a:cs typeface="Economica"/>
              <a:sym typeface="Economica"/>
            </a:endParaRPr>
          </a:p>
        </p:txBody>
      </p:sp>
      <p:graphicFrame>
        <p:nvGraphicFramePr>
          <p:cNvPr id="507" name="Google Shape;507;p32"/>
          <p:cNvGraphicFramePr/>
          <p:nvPr/>
        </p:nvGraphicFramePr>
        <p:xfrm>
          <a:off x="490888" y="191975"/>
          <a:ext cx="3000000" cy="3000000"/>
        </p:xfrm>
        <a:graphic>
          <a:graphicData uri="http://schemas.openxmlformats.org/drawingml/2006/table">
            <a:tbl>
              <a:tblPr>
                <a:noFill/>
                <a:tableStyleId>{3E9B5B18-489E-4665-AD7D-2D9B7C13BD52}</a:tableStyleId>
              </a:tblPr>
              <a:tblGrid>
                <a:gridCol w="429975"/>
                <a:gridCol w="429975"/>
                <a:gridCol w="429975"/>
                <a:gridCol w="429975"/>
                <a:gridCol w="338775"/>
                <a:gridCol w="429975"/>
                <a:gridCol w="429975"/>
                <a:gridCol w="429975"/>
                <a:gridCol w="429975"/>
                <a:gridCol w="429975"/>
                <a:gridCol w="429975"/>
                <a:gridCol w="429975"/>
                <a:gridCol w="429975"/>
                <a:gridCol w="429975"/>
                <a:gridCol w="429975"/>
                <a:gridCol w="429975"/>
                <a:gridCol w="429975"/>
                <a:gridCol w="429975"/>
                <a:gridCol w="429975"/>
              </a:tblGrid>
              <a:tr h="2000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12.6</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16.1</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19</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13.6</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14.1</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18.1</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8</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6.6</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3.3</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3.8</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2.1</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Types of centrality measures and interpretations</a:t>
            </a:r>
            <a:endParaRPr/>
          </a:p>
        </p:txBody>
      </p:sp>
      <p:sp>
        <p:nvSpPr>
          <p:cNvPr id="513" name="Google Shape;513;p3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well is a node </a:t>
            </a:r>
            <a:r>
              <a:rPr b="1" lang="en"/>
              <a:t>directly</a:t>
            </a:r>
            <a:r>
              <a:rPr lang="en"/>
              <a:t> </a:t>
            </a:r>
            <a:r>
              <a:rPr b="1" lang="en"/>
              <a:t>connected </a:t>
            </a:r>
            <a:r>
              <a:rPr lang="en"/>
              <a:t>to others?</a:t>
            </a:r>
            <a:endParaRPr/>
          </a:p>
          <a:p>
            <a:pPr indent="-317500" lvl="1" marL="914400" rtl="0" algn="l">
              <a:spcBef>
                <a:spcPts val="0"/>
              </a:spcBef>
              <a:spcAft>
                <a:spcPts val="0"/>
              </a:spcAft>
              <a:buClr>
                <a:srgbClr val="FF0000"/>
              </a:buClr>
              <a:buSzPts val="1400"/>
              <a:buChar char="○"/>
            </a:pPr>
            <a:r>
              <a:rPr i="1" lang="en">
                <a:solidFill>
                  <a:srgbClr val="FF0000"/>
                </a:solidFill>
              </a:rPr>
              <a:t>Degree, indegree, outdegree: </a:t>
            </a:r>
            <a:r>
              <a:rPr lang="en"/>
              <a:t> Based on the number of </a:t>
            </a:r>
            <a:r>
              <a:rPr b="1" lang="en"/>
              <a:t>one-step</a:t>
            </a:r>
            <a:r>
              <a:rPr lang="en"/>
              <a:t> connections from that node to all others</a:t>
            </a:r>
            <a:endParaRPr/>
          </a:p>
          <a:p>
            <a:pPr indent="-342900" lvl="0" marL="457200" rtl="0" algn="l">
              <a:spcBef>
                <a:spcPts val="0"/>
              </a:spcBef>
              <a:spcAft>
                <a:spcPts val="0"/>
              </a:spcAft>
              <a:buSzPts val="1800"/>
              <a:buChar char="●"/>
            </a:pPr>
            <a:r>
              <a:rPr lang="en"/>
              <a:t>How well is a node </a:t>
            </a:r>
            <a:r>
              <a:rPr b="1" lang="en"/>
              <a:t>indirectly connected </a:t>
            </a:r>
            <a:r>
              <a:rPr lang="en"/>
              <a:t>to others?</a:t>
            </a:r>
            <a:endParaRPr/>
          </a:p>
          <a:p>
            <a:pPr indent="-317500" lvl="1" marL="914400" rtl="0" algn="l">
              <a:spcBef>
                <a:spcPts val="0"/>
              </a:spcBef>
              <a:spcAft>
                <a:spcPts val="0"/>
              </a:spcAft>
              <a:buClr>
                <a:srgbClr val="FF0000"/>
              </a:buClr>
              <a:buSzPts val="1400"/>
              <a:buChar char="○"/>
            </a:pPr>
            <a:r>
              <a:rPr i="1" lang="en">
                <a:solidFill>
                  <a:srgbClr val="FF0000"/>
                </a:solidFill>
              </a:rPr>
              <a:t>Closeness: </a:t>
            </a:r>
            <a:r>
              <a:rPr lang="en"/>
              <a:t>Based on the number </a:t>
            </a:r>
            <a:r>
              <a:rPr b="1" lang="en"/>
              <a:t>shortest paths</a:t>
            </a:r>
            <a:r>
              <a:rPr lang="en"/>
              <a:t> that begin with that node and </a:t>
            </a:r>
            <a:r>
              <a:rPr b="1" lang="en"/>
              <a:t>reach</a:t>
            </a:r>
            <a:r>
              <a:rPr lang="en"/>
              <a:t> the others</a:t>
            </a:r>
            <a:endParaRPr/>
          </a:p>
          <a:p>
            <a:pPr indent="-342900" lvl="0" marL="457200" rtl="0" algn="l">
              <a:spcBef>
                <a:spcPts val="0"/>
              </a:spcBef>
              <a:spcAft>
                <a:spcPts val="0"/>
              </a:spcAft>
              <a:buSzPts val="1800"/>
              <a:buChar char="●"/>
            </a:pPr>
            <a:r>
              <a:rPr lang="en"/>
              <a:t>How well can a node serve as an </a:t>
            </a:r>
            <a:r>
              <a:rPr b="1" lang="en"/>
              <a:t>intermediary </a:t>
            </a:r>
            <a:r>
              <a:rPr lang="en"/>
              <a:t>between other nodes?</a:t>
            </a:r>
            <a:endParaRPr/>
          </a:p>
          <a:p>
            <a:pPr indent="-317500" lvl="1" marL="914400" rtl="0" algn="l">
              <a:spcBef>
                <a:spcPts val="0"/>
              </a:spcBef>
              <a:spcAft>
                <a:spcPts val="0"/>
              </a:spcAft>
              <a:buClr>
                <a:srgbClr val="FF0000"/>
              </a:buClr>
              <a:buSzPts val="1400"/>
              <a:buChar char="○"/>
            </a:pPr>
            <a:r>
              <a:rPr i="1" lang="en">
                <a:solidFill>
                  <a:srgbClr val="FF0000"/>
                </a:solidFill>
              </a:rPr>
              <a:t>Betweenness: </a:t>
            </a:r>
            <a:r>
              <a:rPr lang="en"/>
              <a:t>Based on the proportion of </a:t>
            </a:r>
            <a:r>
              <a:rPr b="1" lang="en"/>
              <a:t>shortest paths</a:t>
            </a:r>
            <a:r>
              <a:rPr lang="en"/>
              <a:t> between all </a:t>
            </a:r>
            <a:r>
              <a:rPr b="1" lang="en"/>
              <a:t>other</a:t>
            </a:r>
            <a:r>
              <a:rPr lang="en"/>
              <a:t> </a:t>
            </a:r>
            <a:r>
              <a:rPr b="1" lang="en"/>
              <a:t>pairs</a:t>
            </a:r>
            <a:r>
              <a:rPr lang="en"/>
              <a:t> of nodes including that node </a:t>
            </a:r>
            <a:endParaRPr/>
          </a:p>
          <a:p>
            <a:pPr indent="-342900" lvl="0" marL="457200" rtl="0" algn="l">
              <a:spcBef>
                <a:spcPts val="0"/>
              </a:spcBef>
              <a:spcAft>
                <a:spcPts val="0"/>
              </a:spcAft>
              <a:buSzPts val="1800"/>
              <a:buChar char="●"/>
            </a:pPr>
            <a:r>
              <a:rPr lang="en"/>
              <a:t>How well is node connected to </a:t>
            </a:r>
            <a:r>
              <a:rPr b="1" lang="en"/>
              <a:t>highly connected</a:t>
            </a:r>
            <a:r>
              <a:rPr lang="en"/>
              <a:t> others?</a:t>
            </a:r>
            <a:endParaRPr/>
          </a:p>
          <a:p>
            <a:pPr indent="-317500" lvl="1" marL="914400" rtl="0" algn="l">
              <a:spcBef>
                <a:spcPts val="0"/>
              </a:spcBef>
              <a:spcAft>
                <a:spcPts val="0"/>
              </a:spcAft>
              <a:buClr>
                <a:srgbClr val="FF0000"/>
              </a:buClr>
              <a:buSzPts val="1400"/>
              <a:buChar char="○"/>
            </a:pPr>
            <a:r>
              <a:rPr i="1" lang="en">
                <a:solidFill>
                  <a:srgbClr val="FF0000"/>
                </a:solidFill>
              </a:rPr>
              <a:t>Eigenvector: </a:t>
            </a:r>
            <a:r>
              <a:rPr lang="en">
                <a:solidFill>
                  <a:srgbClr val="000000"/>
                </a:solidFill>
              </a:rPr>
              <a:t>Based on the direct and indirect connections of that node to other central nodes</a:t>
            </a:r>
            <a:endParaRPr>
              <a:solidFill>
                <a:srgbClr val="000000"/>
              </a:solidFill>
            </a:endParaRPr>
          </a:p>
          <a:p>
            <a:pPr indent="0" lvl="0" marL="1371600" rtl="0" algn="l">
              <a:spcBef>
                <a:spcPts val="0"/>
              </a:spcBef>
              <a:spcAft>
                <a:spcPts val="0"/>
              </a:spcAft>
              <a:buNone/>
            </a:pPr>
            <a:r>
              <a:t/>
            </a:r>
            <a:endParaRPr>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34"/>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Graph Centralization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Centralization</a:t>
            </a:r>
            <a:endParaRPr/>
          </a:p>
        </p:txBody>
      </p:sp>
      <p:sp>
        <p:nvSpPr>
          <p:cNvPr id="524" name="Google Shape;524;p35"/>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525" name="Google Shape;525;p35"/>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526" name="Google Shape;526;p35"/>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527" name="Google Shape;527;p35"/>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528" name="Google Shape;528;p35"/>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529" name="Google Shape;529;p35"/>
          <p:cNvCxnSpPr>
            <a:stCxn id="525" idx="4"/>
            <a:endCxn id="526"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530" name="Google Shape;530;p35"/>
          <p:cNvCxnSpPr>
            <a:stCxn id="526" idx="2"/>
            <a:endCxn id="524"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531" name="Google Shape;531;p35"/>
          <p:cNvCxnSpPr>
            <a:stCxn id="526" idx="6"/>
            <a:endCxn id="527"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532" name="Google Shape;532;p35"/>
          <p:cNvGraphicFramePr/>
          <p:nvPr/>
        </p:nvGraphicFramePr>
        <p:xfrm>
          <a:off x="508013" y="3547350"/>
          <a:ext cx="3000000" cy="3000000"/>
        </p:xfrm>
        <a:graphic>
          <a:graphicData uri="http://schemas.openxmlformats.org/drawingml/2006/table">
            <a:tbl>
              <a:tblPr>
                <a:noFill/>
                <a:tableStyleId>{318DA652-73CB-4869-902E-A27463A55059}</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33" name="Google Shape;533;p35"/>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534" name="Google Shape;534;p35"/>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535" name="Google Shape;535;p35"/>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latin typeface="Open Sans"/>
                <a:ea typeface="Open Sans"/>
                <a:cs typeface="Open Sans"/>
                <a:sym typeface="Open Sans"/>
              </a:rPr>
              <a:t>k</a:t>
            </a:r>
            <a:r>
              <a:rPr baseline="30000" lang="en">
                <a:latin typeface="Open Sans"/>
                <a:ea typeface="Open Sans"/>
                <a:cs typeface="Open Sans"/>
                <a:sym typeface="Open Sans"/>
              </a:rPr>
              <a:t>max</a:t>
            </a:r>
            <a:r>
              <a:rPr baseline="-25000" lang="en">
                <a:latin typeface="Open Sans"/>
                <a:ea typeface="Open Sans"/>
                <a:cs typeface="Open Sans"/>
                <a:sym typeface="Open Sans"/>
              </a:rPr>
              <a:t> </a:t>
            </a:r>
            <a:r>
              <a:rPr lang="en">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536" name="Google Shape;536;p35"/>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537" name="Google Shape;537;p35"/>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538" name="Google Shape;538;p35"/>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539" name="Google Shape;539;p35"/>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540" name="Google Shape;540;p35"/>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541" name="Google Shape;541;p35"/>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542" name="Google Shape;542;p35"/>
          <p:cNvCxnSpPr>
            <a:stCxn id="538" idx="4"/>
            <a:endCxn id="539"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543" name="Google Shape;543;p35"/>
          <p:cNvCxnSpPr>
            <a:stCxn id="538" idx="5"/>
            <a:endCxn id="540"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544" name="Google Shape;544;p35"/>
          <p:cNvCxnSpPr>
            <a:stCxn id="539" idx="2"/>
            <a:endCxn id="537"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545" name="Google Shape;545;p35"/>
          <p:cNvCxnSpPr>
            <a:stCxn id="538" idx="3"/>
            <a:endCxn id="537"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546" name="Google Shape;546;p35"/>
          <p:cNvCxnSpPr>
            <a:stCxn id="539" idx="6"/>
            <a:endCxn id="540"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547" name="Google Shape;547;p35"/>
          <p:cNvCxnSpPr>
            <a:stCxn id="541" idx="1"/>
            <a:endCxn id="537"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548" name="Google Shape;548;p35"/>
          <p:cNvCxnSpPr>
            <a:stCxn id="539" idx="4"/>
            <a:endCxn id="541"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549" name="Google Shape;549;p35"/>
          <p:cNvCxnSpPr>
            <a:stCxn id="540" idx="3"/>
            <a:endCxn id="541"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550" name="Google Shape;550;p35"/>
          <p:cNvCxnSpPr>
            <a:stCxn id="526" idx="4"/>
            <a:endCxn id="528"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551" name="Google Shape;551;p35"/>
          <p:cNvGraphicFramePr/>
          <p:nvPr/>
        </p:nvGraphicFramePr>
        <p:xfrm>
          <a:off x="4781638" y="3547350"/>
          <a:ext cx="3000000" cy="3000000"/>
        </p:xfrm>
        <a:graphic>
          <a:graphicData uri="http://schemas.openxmlformats.org/drawingml/2006/table">
            <a:tbl>
              <a:tblPr>
                <a:noFill/>
                <a:tableStyleId>{318DA652-73CB-4869-902E-A27463A55059}</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52" name="Google Shape;552;p35"/>
          <p:cNvSpPr txBox="1"/>
          <p:nvPr/>
        </p:nvSpPr>
        <p:spPr>
          <a:xfrm>
            <a:off x="6667425" y="224925"/>
            <a:ext cx="22035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Degree Centralization compares an observed network to one that is maximally centralized (the star graph of the same order)</a:t>
            </a:r>
            <a:endParaRPr b="1">
              <a:solidFill>
                <a:srgbClr val="FF0000"/>
              </a:solidFill>
              <a:latin typeface="Open Sans"/>
              <a:ea typeface="Open Sans"/>
              <a:cs typeface="Open Sans"/>
              <a:sym typeface="Open Sans"/>
            </a:endParaRPr>
          </a:p>
        </p:txBody>
      </p:sp>
      <p:pic>
        <p:nvPicPr>
          <p:cNvPr descr="C_d=\frac{\sum_i k^{max}-k_i}{C(max)}" id="553" name="Google Shape;553;p35"/>
          <p:cNvPicPr preferRelativeResize="0"/>
          <p:nvPr/>
        </p:nvPicPr>
        <p:blipFill>
          <a:blip r:embed="rId3">
            <a:alphaModFix/>
          </a:blip>
          <a:stretch>
            <a:fillRect/>
          </a:stretch>
        </p:blipFill>
        <p:spPr>
          <a:xfrm>
            <a:off x="2808489" y="1265400"/>
            <a:ext cx="2235824" cy="666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Centralization</a:t>
            </a:r>
            <a:endParaRPr/>
          </a:p>
        </p:txBody>
      </p:sp>
      <p:sp>
        <p:nvSpPr>
          <p:cNvPr id="559" name="Google Shape;559;p36"/>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560" name="Google Shape;560;p36"/>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561" name="Google Shape;561;p36"/>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562" name="Google Shape;562;p36"/>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563" name="Google Shape;563;p36"/>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564" name="Google Shape;564;p36"/>
          <p:cNvCxnSpPr>
            <a:stCxn id="560" idx="4"/>
            <a:endCxn id="561"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565" name="Google Shape;565;p36"/>
          <p:cNvCxnSpPr>
            <a:stCxn id="561" idx="2"/>
            <a:endCxn id="559"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566" name="Google Shape;566;p36"/>
          <p:cNvCxnSpPr>
            <a:stCxn id="561" idx="6"/>
            <a:endCxn id="562"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567" name="Google Shape;567;p36"/>
          <p:cNvGraphicFramePr/>
          <p:nvPr/>
        </p:nvGraphicFramePr>
        <p:xfrm>
          <a:off x="508013" y="3547350"/>
          <a:ext cx="3000000" cy="3000000"/>
        </p:xfrm>
        <a:graphic>
          <a:graphicData uri="http://schemas.openxmlformats.org/drawingml/2006/table">
            <a:tbl>
              <a:tblPr>
                <a:noFill/>
                <a:tableStyleId>{318DA652-73CB-4869-902E-A27463A55059}</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68" name="Google Shape;568;p36"/>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569" name="Google Shape;569;p36"/>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570" name="Google Shape;570;p36"/>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571" name="Google Shape;571;p36"/>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572" name="Google Shape;572;p36"/>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573" name="Google Shape;573;p36"/>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574" name="Google Shape;574;p36"/>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575" name="Google Shape;575;p36"/>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576" name="Google Shape;576;p36"/>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577" name="Google Shape;577;p36"/>
          <p:cNvCxnSpPr>
            <a:stCxn id="573" idx="4"/>
            <a:endCxn id="574"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578" name="Google Shape;578;p36"/>
          <p:cNvCxnSpPr>
            <a:stCxn id="573" idx="5"/>
            <a:endCxn id="575"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579" name="Google Shape;579;p36"/>
          <p:cNvCxnSpPr>
            <a:stCxn id="574" idx="2"/>
            <a:endCxn id="572"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580" name="Google Shape;580;p36"/>
          <p:cNvCxnSpPr>
            <a:stCxn id="573" idx="3"/>
            <a:endCxn id="572"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581" name="Google Shape;581;p36"/>
          <p:cNvCxnSpPr>
            <a:stCxn id="574" idx="6"/>
            <a:endCxn id="575"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582" name="Google Shape;582;p36"/>
          <p:cNvCxnSpPr>
            <a:stCxn id="576" idx="1"/>
            <a:endCxn id="572"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583" name="Google Shape;583;p36"/>
          <p:cNvCxnSpPr>
            <a:stCxn id="574" idx="4"/>
            <a:endCxn id="576"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584" name="Google Shape;584;p36"/>
          <p:cNvCxnSpPr>
            <a:stCxn id="575" idx="3"/>
            <a:endCxn id="576"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585" name="Google Shape;585;p36"/>
          <p:cNvCxnSpPr>
            <a:stCxn id="561" idx="4"/>
            <a:endCxn id="563"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586" name="Google Shape;586;p36"/>
          <p:cNvGraphicFramePr/>
          <p:nvPr/>
        </p:nvGraphicFramePr>
        <p:xfrm>
          <a:off x="4781638" y="3547350"/>
          <a:ext cx="3000000" cy="3000000"/>
        </p:xfrm>
        <a:graphic>
          <a:graphicData uri="http://schemas.openxmlformats.org/drawingml/2006/table">
            <a:tbl>
              <a:tblPr>
                <a:noFill/>
                <a:tableStyleId>{318DA652-73CB-4869-902E-A27463A55059}</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87" name="Google Shape;587;p36"/>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sum_i k^{max}-k_i}{C(max)}" id="588" name="Google Shape;588;p36"/>
          <p:cNvPicPr preferRelativeResize="0"/>
          <p:nvPr/>
        </p:nvPicPr>
        <p:blipFill>
          <a:blip r:embed="rId3">
            <a:alphaModFix/>
          </a:blip>
          <a:stretch>
            <a:fillRect/>
          </a:stretch>
        </p:blipFill>
        <p:spPr>
          <a:xfrm>
            <a:off x="2808489" y="1265400"/>
            <a:ext cx="2235824" cy="666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Centralization</a:t>
            </a:r>
            <a:endParaRPr/>
          </a:p>
        </p:txBody>
      </p:sp>
      <p:sp>
        <p:nvSpPr>
          <p:cNvPr id="594" name="Google Shape;594;p37"/>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595" name="Google Shape;595;p37"/>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596" name="Google Shape;596;p37"/>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597" name="Google Shape;597;p37"/>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598" name="Google Shape;598;p37"/>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599" name="Google Shape;599;p37"/>
          <p:cNvCxnSpPr>
            <a:stCxn id="595" idx="4"/>
            <a:endCxn id="596"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600" name="Google Shape;600;p37"/>
          <p:cNvCxnSpPr>
            <a:stCxn id="596" idx="2"/>
            <a:endCxn id="594"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601" name="Google Shape;601;p37"/>
          <p:cNvCxnSpPr>
            <a:stCxn id="596" idx="6"/>
            <a:endCxn id="597"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602" name="Google Shape;602;p37"/>
          <p:cNvGraphicFramePr/>
          <p:nvPr/>
        </p:nvGraphicFramePr>
        <p:xfrm>
          <a:off x="508013" y="3547350"/>
          <a:ext cx="3000000" cy="3000000"/>
        </p:xfrm>
        <a:graphic>
          <a:graphicData uri="http://schemas.openxmlformats.org/drawingml/2006/table">
            <a:tbl>
              <a:tblPr>
                <a:noFill/>
                <a:tableStyleId>{318DA652-73CB-4869-902E-A27463A55059}</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603" name="Google Shape;603;p37"/>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604" name="Google Shape;604;p37"/>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605" name="Google Shape;605;p37"/>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606" name="Google Shape;606;p37"/>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607" name="Google Shape;607;p37"/>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608" name="Google Shape;608;p37"/>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609" name="Google Shape;609;p37"/>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610" name="Google Shape;610;p37"/>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611" name="Google Shape;611;p37"/>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612" name="Google Shape;612;p37"/>
          <p:cNvCxnSpPr>
            <a:stCxn id="608" idx="4"/>
            <a:endCxn id="609"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613" name="Google Shape;613;p37"/>
          <p:cNvCxnSpPr>
            <a:stCxn id="608" idx="5"/>
            <a:endCxn id="610"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614" name="Google Shape;614;p37"/>
          <p:cNvCxnSpPr>
            <a:stCxn id="609" idx="2"/>
            <a:endCxn id="607"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615" name="Google Shape;615;p37"/>
          <p:cNvCxnSpPr>
            <a:stCxn id="608" idx="3"/>
            <a:endCxn id="607"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616" name="Google Shape;616;p37"/>
          <p:cNvCxnSpPr>
            <a:stCxn id="609" idx="6"/>
            <a:endCxn id="610"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617" name="Google Shape;617;p37"/>
          <p:cNvCxnSpPr>
            <a:stCxn id="611" idx="1"/>
            <a:endCxn id="607"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618" name="Google Shape;618;p37"/>
          <p:cNvCxnSpPr>
            <a:stCxn id="609" idx="4"/>
            <a:endCxn id="611"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619" name="Google Shape;619;p37"/>
          <p:cNvCxnSpPr>
            <a:stCxn id="610" idx="3"/>
            <a:endCxn id="611"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620" name="Google Shape;620;p37"/>
          <p:cNvCxnSpPr>
            <a:stCxn id="596" idx="4"/>
            <a:endCxn id="598"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621" name="Google Shape;621;p37"/>
          <p:cNvGraphicFramePr/>
          <p:nvPr/>
        </p:nvGraphicFramePr>
        <p:xfrm>
          <a:off x="4781638" y="3547350"/>
          <a:ext cx="3000000" cy="3000000"/>
        </p:xfrm>
        <a:graphic>
          <a:graphicData uri="http://schemas.openxmlformats.org/drawingml/2006/table">
            <a:tbl>
              <a:tblPr>
                <a:noFill/>
                <a:tableStyleId>{318DA652-73CB-4869-902E-A27463A55059}</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622" name="Google Shape;622;p37"/>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4}{12} = 0.33" id="623" name="Google Shape;623;p37" title="MathEquation,#000000"/>
          <p:cNvPicPr preferRelativeResize="0"/>
          <p:nvPr/>
        </p:nvPicPr>
        <p:blipFill>
          <a:blip r:embed="rId3">
            <a:alphaModFix/>
          </a:blip>
          <a:stretch>
            <a:fillRect/>
          </a:stretch>
        </p:blipFill>
        <p:spPr>
          <a:xfrm>
            <a:off x="6908144" y="2860587"/>
            <a:ext cx="2014342" cy="435600"/>
          </a:xfrm>
          <a:prstGeom prst="rect">
            <a:avLst/>
          </a:prstGeom>
          <a:noFill/>
          <a:ln>
            <a:noFill/>
          </a:ln>
        </p:spPr>
      </p:pic>
      <p:pic>
        <p:nvPicPr>
          <p:cNvPr descr="C(max) = (n-1)(n-2)" id="624" name="Google Shape;624;p37"/>
          <p:cNvPicPr preferRelativeResize="0"/>
          <p:nvPr/>
        </p:nvPicPr>
        <p:blipFill>
          <a:blip r:embed="rId4">
            <a:alphaModFix/>
          </a:blip>
          <a:stretch>
            <a:fillRect/>
          </a:stretch>
        </p:blipFill>
        <p:spPr>
          <a:xfrm>
            <a:off x="2808426" y="2860579"/>
            <a:ext cx="2235825" cy="208566"/>
          </a:xfrm>
          <a:prstGeom prst="rect">
            <a:avLst/>
          </a:prstGeom>
          <a:noFill/>
          <a:ln>
            <a:noFill/>
          </a:ln>
        </p:spPr>
      </p:pic>
      <p:pic>
        <p:nvPicPr>
          <p:cNvPr descr="C_d=\frac{\sum_i k^{max}-k_i}{C(max)}" id="625" name="Google Shape;625;p37"/>
          <p:cNvPicPr preferRelativeResize="0"/>
          <p:nvPr/>
        </p:nvPicPr>
        <p:blipFill>
          <a:blip r:embed="rId5">
            <a:alphaModFix/>
          </a:blip>
          <a:stretch>
            <a:fillRect/>
          </a:stretch>
        </p:blipFill>
        <p:spPr>
          <a:xfrm>
            <a:off x="2808489" y="1265400"/>
            <a:ext cx="2235824" cy="666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Centralization</a:t>
            </a:r>
            <a:endParaRPr/>
          </a:p>
        </p:txBody>
      </p:sp>
      <p:sp>
        <p:nvSpPr>
          <p:cNvPr id="631" name="Google Shape;631;p38"/>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632" name="Google Shape;632;p38"/>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633" name="Google Shape;633;p38"/>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634" name="Google Shape;634;p38"/>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635" name="Google Shape;635;p38"/>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636" name="Google Shape;636;p38"/>
          <p:cNvCxnSpPr>
            <a:stCxn id="632" idx="4"/>
            <a:endCxn id="633"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637" name="Google Shape;637;p38"/>
          <p:cNvCxnSpPr>
            <a:stCxn id="633" idx="2"/>
            <a:endCxn id="631"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638" name="Google Shape;638;p38"/>
          <p:cNvCxnSpPr>
            <a:stCxn id="633" idx="6"/>
            <a:endCxn id="634"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639" name="Google Shape;639;p38"/>
          <p:cNvGraphicFramePr/>
          <p:nvPr/>
        </p:nvGraphicFramePr>
        <p:xfrm>
          <a:off x="508013" y="3547350"/>
          <a:ext cx="3000000" cy="3000000"/>
        </p:xfrm>
        <a:graphic>
          <a:graphicData uri="http://schemas.openxmlformats.org/drawingml/2006/table">
            <a:tbl>
              <a:tblPr>
                <a:noFill/>
                <a:tableStyleId>{318DA652-73CB-4869-902E-A27463A55059}</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640" name="Google Shape;640;p38"/>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641" name="Google Shape;641;p38"/>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642" name="Google Shape;642;p38"/>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643" name="Google Shape;643;p38"/>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644" name="Google Shape;644;p38"/>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645" name="Google Shape;645;p38"/>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646" name="Google Shape;646;p38"/>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647" name="Google Shape;647;p38"/>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648" name="Google Shape;648;p38"/>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649" name="Google Shape;649;p38"/>
          <p:cNvCxnSpPr>
            <a:stCxn id="645" idx="4"/>
            <a:endCxn id="646"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650" name="Google Shape;650;p38"/>
          <p:cNvCxnSpPr>
            <a:stCxn id="645" idx="5"/>
            <a:endCxn id="647"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651" name="Google Shape;651;p38"/>
          <p:cNvCxnSpPr>
            <a:stCxn id="646" idx="2"/>
            <a:endCxn id="644"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652" name="Google Shape;652;p38"/>
          <p:cNvCxnSpPr>
            <a:stCxn id="645" idx="3"/>
            <a:endCxn id="644"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653" name="Google Shape;653;p38"/>
          <p:cNvCxnSpPr>
            <a:stCxn id="646" idx="6"/>
            <a:endCxn id="647"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654" name="Google Shape;654;p38"/>
          <p:cNvCxnSpPr>
            <a:stCxn id="648" idx="1"/>
            <a:endCxn id="644"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655" name="Google Shape;655;p38"/>
          <p:cNvCxnSpPr>
            <a:stCxn id="646" idx="4"/>
            <a:endCxn id="648"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656" name="Google Shape;656;p38"/>
          <p:cNvCxnSpPr>
            <a:stCxn id="647" idx="3"/>
            <a:endCxn id="648"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657" name="Google Shape;657;p38"/>
          <p:cNvCxnSpPr>
            <a:stCxn id="633" idx="4"/>
            <a:endCxn id="635"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658" name="Google Shape;658;p38"/>
          <p:cNvGraphicFramePr/>
          <p:nvPr/>
        </p:nvGraphicFramePr>
        <p:xfrm>
          <a:off x="4781638" y="3547350"/>
          <a:ext cx="3000000" cy="3000000"/>
        </p:xfrm>
        <a:graphic>
          <a:graphicData uri="http://schemas.openxmlformats.org/drawingml/2006/table">
            <a:tbl>
              <a:tblPr>
                <a:noFill/>
                <a:tableStyleId>{318DA652-73CB-4869-902E-A27463A55059}</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659" name="Google Shape;659;p38"/>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4}{12} = 0.33" id="660" name="Google Shape;660;p38" title="MathEquation,#000000"/>
          <p:cNvPicPr preferRelativeResize="0"/>
          <p:nvPr/>
        </p:nvPicPr>
        <p:blipFill>
          <a:blip r:embed="rId3">
            <a:alphaModFix/>
          </a:blip>
          <a:stretch>
            <a:fillRect/>
          </a:stretch>
        </p:blipFill>
        <p:spPr>
          <a:xfrm>
            <a:off x="6908144" y="2860587"/>
            <a:ext cx="2014342" cy="435600"/>
          </a:xfrm>
          <a:prstGeom prst="rect">
            <a:avLst/>
          </a:prstGeom>
          <a:noFill/>
          <a:ln>
            <a:noFill/>
          </a:ln>
        </p:spPr>
      </p:pic>
      <p:pic>
        <p:nvPicPr>
          <p:cNvPr descr="C(max) = (n-1)(n-2)" id="661" name="Google Shape;661;p38"/>
          <p:cNvPicPr preferRelativeResize="0"/>
          <p:nvPr/>
        </p:nvPicPr>
        <p:blipFill>
          <a:blip r:embed="rId4">
            <a:alphaModFix/>
          </a:blip>
          <a:stretch>
            <a:fillRect/>
          </a:stretch>
        </p:blipFill>
        <p:spPr>
          <a:xfrm>
            <a:off x="2808426" y="2860579"/>
            <a:ext cx="2235825" cy="208566"/>
          </a:xfrm>
          <a:prstGeom prst="rect">
            <a:avLst/>
          </a:prstGeom>
          <a:noFill/>
          <a:ln>
            <a:noFill/>
          </a:ln>
        </p:spPr>
      </p:pic>
      <p:pic>
        <p:nvPicPr>
          <p:cNvPr descr="C_d=\frac{\sum_i^{ }k^{\max}-k_i}{(n-1)(n-2)}" id="662" name="Google Shape;662;p38"/>
          <p:cNvPicPr preferRelativeResize="0"/>
          <p:nvPr/>
        </p:nvPicPr>
        <p:blipFill>
          <a:blip r:embed="rId5">
            <a:alphaModFix/>
          </a:blip>
          <a:stretch>
            <a:fillRect/>
          </a:stretch>
        </p:blipFill>
        <p:spPr>
          <a:xfrm>
            <a:off x="2808489" y="1288715"/>
            <a:ext cx="2235825" cy="62019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Centralization</a:t>
            </a:r>
            <a:endParaRPr/>
          </a:p>
        </p:txBody>
      </p:sp>
      <p:sp>
        <p:nvSpPr>
          <p:cNvPr id="668" name="Google Shape;668;p39"/>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669" name="Google Shape;669;p39"/>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670" name="Google Shape;670;p39"/>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671" name="Google Shape;671;p39"/>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672" name="Google Shape;672;p39"/>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673" name="Google Shape;673;p39"/>
          <p:cNvCxnSpPr>
            <a:stCxn id="669" idx="4"/>
            <a:endCxn id="670"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674" name="Google Shape;674;p39"/>
          <p:cNvCxnSpPr>
            <a:stCxn id="670" idx="2"/>
            <a:endCxn id="668"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675" name="Google Shape;675;p39"/>
          <p:cNvCxnSpPr>
            <a:stCxn id="670" idx="6"/>
            <a:endCxn id="671"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676" name="Google Shape;676;p39"/>
          <p:cNvGraphicFramePr/>
          <p:nvPr/>
        </p:nvGraphicFramePr>
        <p:xfrm>
          <a:off x="508013" y="3547350"/>
          <a:ext cx="3000000" cy="3000000"/>
        </p:xfrm>
        <a:graphic>
          <a:graphicData uri="http://schemas.openxmlformats.org/drawingml/2006/table">
            <a:tbl>
              <a:tblPr>
                <a:noFill/>
                <a:tableStyleId>{318DA652-73CB-4869-902E-A27463A55059}</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677" name="Google Shape;677;p39"/>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678" name="Google Shape;678;p39"/>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679" name="Google Shape;679;p39"/>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680" name="Google Shape;680;p39"/>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8</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681" name="Google Shape;681;p39"/>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682" name="Google Shape;682;p39"/>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683" name="Google Shape;683;p39"/>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684" name="Google Shape;684;p39"/>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685" name="Google Shape;685;p39"/>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686" name="Google Shape;686;p39"/>
          <p:cNvCxnSpPr>
            <a:stCxn id="682" idx="4"/>
            <a:endCxn id="683"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687" name="Google Shape;687;p39"/>
          <p:cNvCxnSpPr>
            <a:stCxn id="682" idx="5"/>
            <a:endCxn id="684"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688" name="Google Shape;688;p39"/>
          <p:cNvCxnSpPr>
            <a:stCxn id="683" idx="2"/>
            <a:endCxn id="681"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689" name="Google Shape;689;p39"/>
          <p:cNvCxnSpPr>
            <a:stCxn id="683" idx="6"/>
            <a:endCxn id="684"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690" name="Google Shape;690;p39"/>
          <p:cNvCxnSpPr>
            <a:stCxn id="685" idx="1"/>
            <a:endCxn id="681"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691" name="Google Shape;691;p39"/>
          <p:cNvCxnSpPr>
            <a:stCxn id="683" idx="4"/>
            <a:endCxn id="685"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692" name="Google Shape;692;p39"/>
          <p:cNvCxnSpPr>
            <a:stCxn id="670" idx="4"/>
            <a:endCxn id="672"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693" name="Google Shape;693;p39"/>
          <p:cNvGraphicFramePr/>
          <p:nvPr/>
        </p:nvGraphicFramePr>
        <p:xfrm>
          <a:off x="4781638" y="3547350"/>
          <a:ext cx="3000000" cy="3000000"/>
        </p:xfrm>
        <a:graphic>
          <a:graphicData uri="http://schemas.openxmlformats.org/drawingml/2006/table">
            <a:tbl>
              <a:tblPr>
                <a:noFill/>
                <a:tableStyleId>{318DA652-73CB-4869-902E-A27463A55059}</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694" name="Google Shape;694;p39"/>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The closest the graph centralization is to 1.0 the closer the observed graph is to the star graph</a:t>
            </a:r>
            <a:endParaRPr b="1">
              <a:solidFill>
                <a:srgbClr val="FF0000"/>
              </a:solidFill>
              <a:latin typeface="Open Sans"/>
              <a:ea typeface="Open Sans"/>
              <a:cs typeface="Open Sans"/>
              <a:sym typeface="Open Sans"/>
            </a:endParaRPr>
          </a:p>
        </p:txBody>
      </p:sp>
      <p:pic>
        <p:nvPicPr>
          <p:cNvPr descr="C_d=\frac{8}{12} = 0.66" id="695" name="Google Shape;695;p39" title="MathEquation,#000000"/>
          <p:cNvPicPr preferRelativeResize="0"/>
          <p:nvPr/>
        </p:nvPicPr>
        <p:blipFill>
          <a:blip r:embed="rId3">
            <a:alphaModFix/>
          </a:blip>
          <a:stretch>
            <a:fillRect/>
          </a:stretch>
        </p:blipFill>
        <p:spPr>
          <a:xfrm>
            <a:off x="6811675" y="2843069"/>
            <a:ext cx="2091750" cy="470644"/>
          </a:xfrm>
          <a:prstGeom prst="rect">
            <a:avLst/>
          </a:prstGeom>
          <a:noFill/>
          <a:ln>
            <a:noFill/>
          </a:ln>
        </p:spPr>
      </p:pic>
      <p:pic>
        <p:nvPicPr>
          <p:cNvPr descr="C_d=\frac{\sum_i^{ }k^{\max}-k_i}{(n-1)(n-2)}" id="696" name="Google Shape;696;p39"/>
          <p:cNvPicPr preferRelativeResize="0"/>
          <p:nvPr/>
        </p:nvPicPr>
        <p:blipFill>
          <a:blip r:embed="rId4">
            <a:alphaModFix/>
          </a:blip>
          <a:stretch>
            <a:fillRect/>
          </a:stretch>
        </p:blipFill>
        <p:spPr>
          <a:xfrm>
            <a:off x="2808489" y="1288715"/>
            <a:ext cx="2235825" cy="62019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Centralization</a:t>
            </a:r>
            <a:endParaRPr/>
          </a:p>
        </p:txBody>
      </p:sp>
      <p:sp>
        <p:nvSpPr>
          <p:cNvPr id="702" name="Google Shape;702;p40"/>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03" name="Google Shape;703;p40"/>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04" name="Google Shape;704;p40"/>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05" name="Google Shape;705;p40"/>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06" name="Google Shape;706;p40"/>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07" name="Google Shape;707;p40"/>
          <p:cNvCxnSpPr>
            <a:stCxn id="703" idx="4"/>
            <a:endCxn id="704"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08" name="Google Shape;708;p40"/>
          <p:cNvCxnSpPr>
            <a:stCxn id="704" idx="2"/>
            <a:endCxn id="702"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09" name="Google Shape;709;p40"/>
          <p:cNvCxnSpPr>
            <a:stCxn id="704" idx="6"/>
            <a:endCxn id="705"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710" name="Google Shape;710;p40"/>
          <p:cNvGraphicFramePr/>
          <p:nvPr/>
        </p:nvGraphicFramePr>
        <p:xfrm>
          <a:off x="508013" y="3547350"/>
          <a:ext cx="3000000" cy="3000000"/>
        </p:xfrm>
        <a:graphic>
          <a:graphicData uri="http://schemas.openxmlformats.org/drawingml/2006/table">
            <a:tbl>
              <a:tblPr>
                <a:noFill/>
                <a:tableStyleId>{318DA652-73CB-4869-902E-A27463A55059}</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11" name="Google Shape;711;p40"/>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712" name="Google Shape;712;p40"/>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713" name="Google Shape;713;p40"/>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714" name="Google Shape;714;p40"/>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0</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715" name="Google Shape;715;p40"/>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16" name="Google Shape;716;p40"/>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17" name="Google Shape;717;p40"/>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18" name="Google Shape;718;p40"/>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19" name="Google Shape;719;p40"/>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20" name="Google Shape;720;p40"/>
          <p:cNvCxnSpPr>
            <a:stCxn id="716" idx="4"/>
            <a:endCxn id="717"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721" name="Google Shape;721;p40"/>
          <p:cNvCxnSpPr>
            <a:stCxn id="716" idx="5"/>
            <a:endCxn id="718"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22" name="Google Shape;722;p40"/>
          <p:cNvCxnSpPr>
            <a:stCxn id="717" idx="2"/>
            <a:endCxn id="715"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23" name="Google Shape;723;p40"/>
          <p:cNvCxnSpPr>
            <a:stCxn id="717" idx="6"/>
            <a:endCxn id="718"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724" name="Google Shape;724;p40"/>
          <p:cNvCxnSpPr>
            <a:stCxn id="719" idx="1"/>
            <a:endCxn id="715"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725" name="Google Shape;725;p40"/>
          <p:cNvCxnSpPr>
            <a:stCxn id="717" idx="4"/>
            <a:endCxn id="719"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726" name="Google Shape;726;p40"/>
          <p:cNvCxnSpPr>
            <a:stCxn id="704" idx="4"/>
            <a:endCxn id="706"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727" name="Google Shape;727;p40"/>
          <p:cNvGraphicFramePr/>
          <p:nvPr/>
        </p:nvGraphicFramePr>
        <p:xfrm>
          <a:off x="4781638" y="3547350"/>
          <a:ext cx="3000000" cy="3000000"/>
        </p:xfrm>
        <a:graphic>
          <a:graphicData uri="http://schemas.openxmlformats.org/drawingml/2006/table">
            <a:tbl>
              <a:tblPr>
                <a:noFill/>
                <a:tableStyleId>{318DA652-73CB-4869-902E-A27463A55059}</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28" name="Google Shape;728;p40"/>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The opposite of the star graph is the regular graph. Everyone has the same degree and centralization is zero!</a:t>
            </a:r>
            <a:endParaRPr b="1">
              <a:solidFill>
                <a:srgbClr val="FF0000"/>
              </a:solidFill>
              <a:latin typeface="Open Sans"/>
              <a:ea typeface="Open Sans"/>
              <a:cs typeface="Open Sans"/>
              <a:sym typeface="Open Sans"/>
            </a:endParaRPr>
          </a:p>
        </p:txBody>
      </p:sp>
      <p:pic>
        <p:nvPicPr>
          <p:cNvPr descr="C_d=\frac{\sum_i^{ }k^{\max}-k_i}{(n-1)(n-2)}" id="729" name="Google Shape;729;p40"/>
          <p:cNvPicPr preferRelativeResize="0"/>
          <p:nvPr/>
        </p:nvPicPr>
        <p:blipFill>
          <a:blip r:embed="rId3">
            <a:alphaModFix/>
          </a:blip>
          <a:stretch>
            <a:fillRect/>
          </a:stretch>
        </p:blipFill>
        <p:spPr>
          <a:xfrm>
            <a:off x="2808489" y="1288715"/>
            <a:ext cx="2235825" cy="620194"/>
          </a:xfrm>
          <a:prstGeom prst="rect">
            <a:avLst/>
          </a:prstGeom>
          <a:noFill/>
          <a:ln>
            <a:noFill/>
          </a:ln>
        </p:spPr>
      </p:pic>
      <p:cxnSp>
        <p:nvCxnSpPr>
          <p:cNvPr id="730" name="Google Shape;730;p40"/>
          <p:cNvCxnSpPr>
            <a:stCxn id="716" idx="3"/>
            <a:endCxn id="715"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731" name="Google Shape;731;p40"/>
          <p:cNvCxnSpPr>
            <a:stCxn id="719" idx="7"/>
            <a:endCxn id="718" idx="3"/>
          </p:cNvCxnSpPr>
          <p:nvPr/>
        </p:nvCxnSpPr>
        <p:spPr>
          <a:xfrm flipH="1" rot="10800000">
            <a:off x="6147480"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732" name="Google Shape;732;p40"/>
          <p:cNvCxnSpPr>
            <a:stCxn id="715" idx="0"/>
            <a:endCxn id="718" idx="0"/>
          </p:cNvCxnSpPr>
          <p:nvPr/>
        </p:nvCxnSpPr>
        <p:spPr>
          <a:xfrm flipH="1" rot="-5400000">
            <a:off x="5978575" y="1162520"/>
            <a:ext cx="600" cy="2002200"/>
          </a:xfrm>
          <a:prstGeom prst="curvedConnector3">
            <a:avLst>
              <a:gd fmla="val -175453390" name="adj1"/>
            </a:avLst>
          </a:prstGeom>
          <a:noFill/>
          <a:ln cap="flat" cmpd="sng" w="28575">
            <a:solidFill>
              <a:srgbClr val="666666"/>
            </a:solidFill>
            <a:prstDash val="solid"/>
            <a:round/>
            <a:headEnd len="med" w="med" type="none"/>
            <a:tailEnd len="med" w="med" type="none"/>
          </a:ln>
        </p:spPr>
      </p:cxnSp>
      <p:cxnSp>
        <p:nvCxnSpPr>
          <p:cNvPr id="733" name="Google Shape;733;p40"/>
          <p:cNvCxnSpPr>
            <a:stCxn id="716" idx="6"/>
            <a:endCxn id="719" idx="6"/>
          </p:cNvCxnSpPr>
          <p:nvPr/>
        </p:nvCxnSpPr>
        <p:spPr>
          <a:xfrm>
            <a:off x="6217292" y="1437275"/>
            <a:ext cx="600" cy="1830900"/>
          </a:xfrm>
          <a:prstGeom prst="curvedConnector3">
            <a:avLst>
              <a:gd fmla="val 195372242" name="adj1"/>
            </a:avLst>
          </a:prstGeom>
          <a:noFill/>
          <a:ln cap="flat" cmpd="sng" w="28575">
            <a:solidFill>
              <a:srgbClr val="666666"/>
            </a:solidFill>
            <a:prstDash val="solid"/>
            <a:round/>
            <a:headEnd len="med" w="med" type="none"/>
            <a:tailEnd len="med" w="med" type="none"/>
          </a:ln>
        </p:spPr>
      </p:cxnSp>
      <p:pic>
        <p:nvPicPr>
          <p:cNvPr descr="C_d=\frac{0}{12}=0" id="734" name="Google Shape;734;p40"/>
          <p:cNvPicPr preferRelativeResize="0"/>
          <p:nvPr/>
        </p:nvPicPr>
        <p:blipFill>
          <a:blip r:embed="rId4">
            <a:alphaModFix/>
          </a:blip>
          <a:stretch>
            <a:fillRect/>
          </a:stretch>
        </p:blipFill>
        <p:spPr>
          <a:xfrm>
            <a:off x="3306641" y="2796494"/>
            <a:ext cx="1239517" cy="47064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