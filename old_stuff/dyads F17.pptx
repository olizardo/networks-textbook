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5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" name="Google Shape;3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a93f6851_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" name="Google Shape;45;ga93f685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1" marL="9144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1997 Social Networks Special Issue</a:t>
            </a:r>
            <a:endParaRPr>
              <a:solidFill>
                <a:schemeClr val="dk1"/>
              </a:solidFill>
            </a:endParaRPr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n">
                <a:solidFill>
                  <a:schemeClr val="dk1"/>
                </a:solidFill>
              </a:rPr>
              <a:t>Wellman:  Community Lost, Saved, Liberated; strong ties; life-course effects; not densisty or degree</a:t>
            </a:r>
            <a:endParaRPr>
              <a:solidFill>
                <a:schemeClr val="dk1"/>
              </a:solidFill>
            </a:endParaRPr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n">
                <a:solidFill>
                  <a:schemeClr val="dk1"/>
                </a:solidFill>
              </a:rPr>
              <a:t>Morgan:  Core and Periphery ties</a:t>
            </a:r>
            <a:endParaRPr>
              <a:solidFill>
                <a:schemeClr val="dk1"/>
              </a:solidFill>
            </a:endParaRPr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n"/>
              <a:t>Bidert  Life course  3 types of trajectories </a:t>
            </a:r>
            <a:endParaRPr/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n"/>
              <a:t>Martin:  Ego and dyad effect, e.g. homopholy, embeddedness. 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a93f6851_2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" name="Google Shape;51;ga93f6851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need measures of both direction of event and intensity of flow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648b75ec0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2648b75ec0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64269a9d4_0_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63" name="Google Shape;63;g264269a9d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64" name="Google Shape;64;g264269a9d4_0_5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libri"/>
              <a:buNone/>
            </a:pPr>
            <a:fld id="{00000000-1234-1234-1234-123412341234}" type="slidenum">
              <a:rPr b="0" i="0" lang="en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64269a9d4_0_15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264269a9d4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64269a9d4_0_15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64269a9d4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64269a9d4_0_16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264269a9d4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64269a9d4_0_17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264269a9d4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648b75ec0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2648b75ec0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64269a9d4_0_17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264269a9d4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64269a9d4_0_18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264269a9d4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+"/>
            </a:pPr>
            <a:r>
              <a:rPr lang="en"/>
              <a:t>Participant effect Older people more like to give than no exchange, and to give after receiving than not give after receiving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--     Net member effect:  if the tie is with an older person, less likely for ego to give than nothing, and less likely to give after receiving the minor service.    Reversed:  if tie is with a youger person more likely for ego to give to younger person, and more likely for ego to give after receiving 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64269a9d4_0_18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64269a9d4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64269a9d4_0_14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264269a9d4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a93f6851_2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a93f6851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a93f6851_2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a93f6851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a93f6851_2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a93f6851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a93f6851_2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a93f6851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a93f6851_25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a93f6851_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a93f6851_26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a93f6851_2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a93f6851_27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a93f6851_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logged means Rij = 0 when pij = pji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 if mi+ = mj+  reduces to  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a93f6851_27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a93f6851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bc1f5a32f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bc1f5a32f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264269a9d4_0_1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264269a9d4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a93f6851_21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a93f6851_2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a93f6851_21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a93f6851_2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a93f6851_21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a93f6851_2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a93f6851_21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a93f6851_2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648b75ec0_0_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2648b75ec0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457200" y="751680"/>
            <a:ext cx="8229600" cy="40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57200" y="4955190"/>
            <a:ext cx="8229600" cy="16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12" name="Google Shape;12;p2"/>
          <p:cNvCxnSpPr/>
          <p:nvPr/>
        </p:nvCxnSpPr>
        <p:spPr>
          <a:xfrm>
            <a:off x="457200" y="548640"/>
            <a:ext cx="8229600" cy="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" name="Google Shape;13;p2"/>
          <p:cNvCxnSpPr/>
          <p:nvPr/>
        </p:nvCxnSpPr>
        <p:spPr>
          <a:xfrm>
            <a:off x="457200" y="4844510"/>
            <a:ext cx="8229600" cy="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cxnSp>
        <p:nvCxnSpPr>
          <p:cNvPr id="17" name="Google Shape;17;p3"/>
          <p:cNvCxnSpPr/>
          <p:nvPr/>
        </p:nvCxnSpPr>
        <p:spPr>
          <a:xfrm>
            <a:off x="457200" y="1524000"/>
            <a:ext cx="8229600" cy="0"/>
          </a:xfrm>
          <a:prstGeom prst="straightConnector1">
            <a:avLst/>
          </a:prstGeom>
          <a:noFill/>
          <a:ln cap="flat" cmpd="sng" w="50800">
            <a:solidFill>
              <a:srgbClr val="DA000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457200" y="1600200"/>
            <a:ext cx="39945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21" name="Google Shape;21;p4"/>
          <p:cNvSpPr txBox="1"/>
          <p:nvPr>
            <p:ph idx="2" type="body"/>
          </p:nvPr>
        </p:nvSpPr>
        <p:spPr>
          <a:xfrm>
            <a:off x="4692274" y="1600200"/>
            <a:ext cx="39945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cxnSp>
        <p:nvCxnSpPr>
          <p:cNvPr id="22" name="Google Shape;22;p4"/>
          <p:cNvCxnSpPr/>
          <p:nvPr/>
        </p:nvCxnSpPr>
        <p:spPr>
          <a:xfrm>
            <a:off x="457200" y="1524000"/>
            <a:ext cx="8229600" cy="0"/>
          </a:xfrm>
          <a:prstGeom prst="straightConnector1">
            <a:avLst/>
          </a:prstGeom>
          <a:noFill/>
          <a:ln cap="flat" cmpd="sng" w="50800">
            <a:solidFill>
              <a:srgbClr val="DA000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cxnSp>
        <p:nvCxnSpPr>
          <p:cNvPr id="25" name="Google Shape;25;p5"/>
          <p:cNvCxnSpPr/>
          <p:nvPr/>
        </p:nvCxnSpPr>
        <p:spPr>
          <a:xfrm>
            <a:off x="457200" y="1524000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idx="1" type="body"/>
          </p:nvPr>
        </p:nvSpPr>
        <p:spPr>
          <a:xfrm>
            <a:off x="457200" y="5875079"/>
            <a:ext cx="82296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800">
                <a:solidFill>
                  <a:schemeClr val="dk1"/>
                </a:solidFill>
              </a:defRPr>
            </a:lvl1pPr>
            <a:lvl2pPr indent="-342900" lvl="1" marL="914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sz="1800">
                <a:solidFill>
                  <a:schemeClr val="dk1"/>
                </a:solidFill>
              </a:defRPr>
            </a:lvl2pPr>
            <a:lvl3pPr indent="-342900" lvl="2" marL="1371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sz="1800">
                <a:solidFill>
                  <a:schemeClr val="dk1"/>
                </a:solidFill>
              </a:defRPr>
            </a:lvl3pPr>
            <a:lvl4pPr indent="-342900" lvl="3" marL="1828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800">
                <a:solidFill>
                  <a:schemeClr val="dk1"/>
                </a:solidFill>
              </a:defRPr>
            </a:lvl4pPr>
            <a:lvl5pPr indent="-342900" lvl="4" marL="22860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sz="1800">
                <a:solidFill>
                  <a:schemeClr val="dk1"/>
                </a:solidFill>
              </a:defRPr>
            </a:lvl5pPr>
            <a:lvl6pPr indent="-342900" lvl="5" marL="2743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sz="1800">
                <a:solidFill>
                  <a:schemeClr val="dk1"/>
                </a:solidFill>
              </a:defRPr>
            </a:lvl6pPr>
            <a:lvl7pPr indent="-342900" lvl="6" marL="3200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800">
                <a:solidFill>
                  <a:schemeClr val="dk1"/>
                </a:solidFill>
              </a:defRPr>
            </a:lvl7pPr>
            <a:lvl8pPr indent="-342900" lvl="7" marL="3657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sz="1800">
                <a:solidFill>
                  <a:schemeClr val="dk1"/>
                </a:solidFill>
              </a:defRPr>
            </a:lvl8pPr>
            <a:lvl9pPr indent="-342900" lvl="8" marL="4114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sz="1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457200" y="5757014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Google Shape;30;p7"/>
          <p:cNvCxnSpPr/>
          <p:nvPr/>
        </p:nvCxnSpPr>
        <p:spPr>
          <a:xfrm>
            <a:off x="457200" y="150852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" name="Google Shape;33;p8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" name="Google Shape;34;p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●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○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8" name="Google Shape;8;p1"/>
          <p:cNvCxnSpPr/>
          <p:nvPr/>
        </p:nvCxnSpPr>
        <p:spPr>
          <a:xfrm>
            <a:off x="457200" y="6697680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1.png"/><Relationship Id="rId6" Type="http://schemas.openxmlformats.org/officeDocument/2006/relationships/image" Target="../media/image2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Relationship Id="rId4" Type="http://schemas.openxmlformats.org/officeDocument/2006/relationships/image" Target="../media/image11.png"/><Relationship Id="rId5" Type="http://schemas.openxmlformats.org/officeDocument/2006/relationships/image" Target="../media/image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9.png"/><Relationship Id="rId4" Type="http://schemas.openxmlformats.org/officeDocument/2006/relationships/image" Target="../media/image6.png"/><Relationship Id="rId5" Type="http://schemas.openxmlformats.org/officeDocument/2006/relationships/image" Target="../media/image2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Vertices to Edges</a:t>
            </a:r>
            <a:endParaRPr/>
          </a:p>
        </p:txBody>
      </p:sp>
      <p:sp>
        <p:nvSpPr>
          <p:cNvPr id="42" name="Google Shape;42;p9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600"/>
              </a:spcBef>
              <a:spcAft>
                <a:spcPts val="0"/>
              </a:spcAft>
              <a:buSzPts val="2200"/>
              <a:buChar char="●"/>
            </a:pPr>
            <a:r>
              <a:rPr lang="en" sz="2200">
                <a:solidFill>
                  <a:srgbClr val="000000"/>
                </a:solidFill>
              </a:rPr>
              <a:t>Focus so far has been on Vertices (Nodes)</a:t>
            </a:r>
            <a:endParaRPr sz="2200">
              <a:solidFill>
                <a:srgbClr val="000000"/>
              </a:solidFill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 sz="2200">
                <a:solidFill>
                  <a:srgbClr val="000000"/>
                </a:solidFill>
              </a:rPr>
              <a:t>Actors/Agents</a:t>
            </a:r>
            <a:endParaRPr sz="2200">
              <a:solidFill>
                <a:srgbClr val="000000"/>
              </a:solidFill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 sz="2200">
                <a:solidFill>
                  <a:srgbClr val="000000"/>
                </a:solidFill>
              </a:rPr>
              <a:t>Classical "variable" sociology</a:t>
            </a:r>
            <a:endParaRPr sz="2200">
              <a:solidFill>
                <a:srgbClr val="000000"/>
              </a:solidFill>
            </a:endParaRPr>
          </a:p>
          <a:p>
            <a:pPr indent="-368300" lvl="2" marL="1371600" rtl="0" algn="l"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" sz="2200">
                <a:solidFill>
                  <a:srgbClr val="000000"/>
                </a:solidFill>
              </a:rPr>
              <a:t>Model how trait of a person --&gt; Behavior</a:t>
            </a:r>
            <a:endParaRPr sz="2200">
              <a:solidFill>
                <a:srgbClr val="000000"/>
              </a:solidFill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 sz="2200">
                <a:solidFill>
                  <a:srgbClr val="000000"/>
                </a:solidFill>
              </a:rPr>
              <a:t>Structural (Network) Property:  Centrality, CC, Degree (Network Size), Network Composition</a:t>
            </a:r>
            <a:endParaRPr sz="2200">
              <a:solidFill>
                <a:srgbClr val="000000"/>
              </a:solidFill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 sz="2200">
                <a:solidFill>
                  <a:srgbClr val="000000"/>
                </a:solidFill>
              </a:rPr>
              <a:t>Ego Networks</a:t>
            </a:r>
            <a:endParaRPr sz="2200">
              <a:solidFill>
                <a:srgbClr val="000000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What about the edges (dyads)?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Critical for dynamic analysis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 sz="2200"/>
              <a:t>tie formation and persistence (or decay)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 sz="2200"/>
              <a:t>flows and weighted edges based on interaction events</a:t>
            </a:r>
            <a:endParaRPr sz="2200"/>
          </a:p>
          <a:p>
            <a:pPr indent="-368300" lvl="2" marL="1371600" rtl="0" algn="l"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" sz="2200"/>
              <a:t>Strength</a:t>
            </a:r>
            <a:r>
              <a:rPr lang="en" sz="2200"/>
              <a:t>, reciprocity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 sz="2200"/>
              <a:t>generative processes - network evolution model (rules) </a:t>
            </a:r>
            <a:endParaRPr sz="2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Dyads</a:t>
            </a:r>
            <a:endParaRPr/>
          </a:p>
        </p:txBody>
      </p:sp>
      <p:sp>
        <p:nvSpPr>
          <p:cNvPr id="48" name="Google Shape;48;p10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Binary arc data (presence/absence)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Dyadic Census - 3 states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Null Dyad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Asymmetric Dyad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Mutual Dyad 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Tie formation (link prediction) &amp; persistence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Longitudinal Data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Formation or Persistence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Social Ties and Interaction Events</a:t>
            </a:r>
            <a:endParaRPr/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60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What is a social tie? 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>
                <a:solidFill>
                  <a:srgbClr val="000000"/>
                </a:solidFill>
              </a:rPr>
              <a:t>Dyadic social interactions </a:t>
            </a:r>
            <a:endParaRPr sz="2200">
              <a:solidFill>
                <a:srgbClr val="000000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>
                <a:solidFill>
                  <a:srgbClr val="000000"/>
                </a:solidFill>
              </a:rPr>
              <a:t>playing tennis, having sex, talking with, collaborating together on, exchanging with, giving to, receiving from </a:t>
            </a:r>
            <a:endParaRPr sz="2000">
              <a:solidFill>
                <a:srgbClr val="000000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Events:  instances of interaction</a:t>
            </a:r>
            <a:endParaRPr sz="22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event traits:  initiating, waiting times, sequencing</a:t>
            </a:r>
            <a:endParaRPr sz="20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Communicative interactions</a:t>
            </a:r>
            <a:endParaRPr sz="22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>
                <a:solidFill>
                  <a:srgbClr val="000000"/>
                </a:solidFill>
              </a:rPr>
              <a:t>Initiating, who provides information, time talking, length of messages</a:t>
            </a:r>
            <a:endParaRPr sz="2000">
              <a:solidFill>
                <a:srgbClr val="000000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Char char="●"/>
            </a:pPr>
            <a:r>
              <a:rPr lang="en" sz="2200">
                <a:solidFill>
                  <a:srgbClr val="000000"/>
                </a:solidFill>
              </a:rPr>
              <a:t>Exchanges</a:t>
            </a:r>
            <a:endParaRPr sz="2200">
              <a:solidFill>
                <a:srgbClr val="000000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○"/>
            </a:pPr>
            <a:r>
              <a:rPr lang="en" sz="2000">
                <a:solidFill>
                  <a:srgbClr val="000000"/>
                </a:solidFill>
              </a:rPr>
              <a:t>Who gives what to who;  who receives what from whom</a:t>
            </a:r>
            <a:endParaRPr sz="2000">
              <a:solidFill>
                <a:srgbClr val="000000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Aggregating events by time period </a:t>
            </a:r>
            <a:endParaRPr sz="22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Tie:  at least one event (interaction, exchange) in a given time period</a:t>
            </a:r>
            <a:endParaRPr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Dyadic Relationships - 3 Types</a:t>
            </a:r>
            <a:endParaRPr/>
          </a:p>
        </p:txBody>
      </p:sp>
      <p:sp>
        <p:nvSpPr>
          <p:cNvPr id="60" name="Google Shape;60;p12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Symmetric (mutual):  If A R B then B R A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E.g.,  Spends time with, plays tennis with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Antisymmetric:  Can not be reciprocated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e.g. employer-employee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Asymmetric:  Can be reciprocated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Liking, advising, texting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200"/>
              <a:t>Martin, John Levi. Social structures. Princeton University Press, 2009.</a:t>
            </a:r>
            <a:endParaRPr sz="2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lang="en"/>
              <a:t>Dyadic Census  </a:t>
            </a:r>
            <a:endParaRPr/>
          </a:p>
        </p:txBody>
      </p:sp>
      <p:sp>
        <p:nvSpPr>
          <p:cNvPr id="67" name="Google Shape;67;p13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342900" marR="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3"/>
          <p:cNvSpPr txBox="1"/>
          <p:nvPr/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69" name="Google Shape;69;p13"/>
          <p:cNvSpPr txBox="1"/>
          <p:nvPr/>
        </p:nvSpPr>
        <p:spPr>
          <a:xfrm>
            <a:off x="3276600" y="1752600"/>
            <a:ext cx="15240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 Dyad </a:t>
            </a:r>
            <a:endParaRPr/>
          </a:p>
        </p:txBody>
      </p:sp>
      <p:pic>
        <p:nvPicPr>
          <p:cNvPr id="70" name="Google Shape;7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91200" y="1752600"/>
            <a:ext cx="1371600" cy="42690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3"/>
          <p:cNvSpPr txBox="1"/>
          <p:nvPr/>
        </p:nvSpPr>
        <p:spPr>
          <a:xfrm>
            <a:off x="2743200" y="2247900"/>
            <a:ext cx="28194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Asymmetric Dyad </a:t>
            </a:r>
            <a:endParaRPr/>
          </a:p>
        </p:txBody>
      </p:sp>
      <p:pic>
        <p:nvPicPr>
          <p:cNvPr id="72" name="Google Shape;72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91200" y="2286000"/>
            <a:ext cx="1632000" cy="4269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3"/>
          <p:cNvSpPr txBox="1"/>
          <p:nvPr/>
        </p:nvSpPr>
        <p:spPr>
          <a:xfrm>
            <a:off x="2743200" y="2743200"/>
            <a:ext cx="28194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Asymmetric Dyad </a:t>
            </a:r>
            <a:endParaRPr/>
          </a:p>
        </p:txBody>
      </p:sp>
      <p:pic>
        <p:nvPicPr>
          <p:cNvPr id="74" name="Google Shape;74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67387" y="2743200"/>
            <a:ext cx="1632000" cy="4269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3"/>
          <p:cNvSpPr txBox="1"/>
          <p:nvPr/>
        </p:nvSpPr>
        <p:spPr>
          <a:xfrm>
            <a:off x="2895600" y="3200400"/>
            <a:ext cx="22860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Mutual Dyad</a:t>
            </a:r>
            <a:endParaRPr/>
          </a:p>
        </p:txBody>
      </p:sp>
      <p:pic>
        <p:nvPicPr>
          <p:cNvPr id="76" name="Google Shape;76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91200" y="3200400"/>
            <a:ext cx="1470000" cy="381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7" name="Google Shape;77;p13"/>
          <p:cNvGrpSpPr/>
          <p:nvPr/>
        </p:nvGrpSpPr>
        <p:grpSpPr>
          <a:xfrm>
            <a:off x="754534" y="1821612"/>
            <a:ext cx="1422880" cy="1669352"/>
            <a:chOff x="0" y="0"/>
            <a:chExt cx="2147483646" cy="2147483647"/>
          </a:xfrm>
        </p:grpSpPr>
        <p:cxnSp>
          <p:nvCxnSpPr>
            <p:cNvPr id="78" name="Google Shape;78;p13"/>
            <p:cNvCxnSpPr/>
            <p:nvPr/>
          </p:nvCxnSpPr>
          <p:spPr>
            <a:xfrm>
              <a:off x="504349928" y="1960745784"/>
              <a:ext cx="120496465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stealth"/>
              <a:tailEnd len="sm" w="sm" type="none"/>
            </a:ln>
          </p:spPr>
        </p:cxnSp>
        <p:cxnSp>
          <p:nvCxnSpPr>
            <p:cNvPr id="79" name="Google Shape;79;p13"/>
            <p:cNvCxnSpPr/>
            <p:nvPr/>
          </p:nvCxnSpPr>
          <p:spPr>
            <a:xfrm>
              <a:off x="504349928" y="2147483647"/>
              <a:ext cx="120496465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stealth"/>
            </a:ln>
          </p:spPr>
        </p:cxnSp>
        <p:grpSp>
          <p:nvGrpSpPr>
            <p:cNvPr id="80" name="Google Shape;80;p13"/>
            <p:cNvGrpSpPr/>
            <p:nvPr/>
          </p:nvGrpSpPr>
          <p:grpSpPr>
            <a:xfrm>
              <a:off x="0" y="0"/>
              <a:ext cx="2147483646" cy="2147483647"/>
              <a:chOff x="0" y="0"/>
              <a:chExt cx="2147483646" cy="2147483647"/>
            </a:xfrm>
          </p:grpSpPr>
          <p:grpSp>
            <p:nvGrpSpPr>
              <p:cNvPr id="81" name="Google Shape;81;p13"/>
              <p:cNvGrpSpPr/>
              <p:nvPr/>
            </p:nvGrpSpPr>
            <p:grpSpPr>
              <a:xfrm>
                <a:off x="0" y="0"/>
                <a:ext cx="2081302594" cy="186737708"/>
                <a:chOff x="762000" y="2590800"/>
                <a:chExt cx="1447800" cy="152400"/>
              </a:xfrm>
            </p:grpSpPr>
            <p:sp>
              <p:nvSpPr>
                <p:cNvPr id="82" name="Google Shape;82;p13"/>
                <p:cNvSpPr/>
                <p:nvPr/>
              </p:nvSpPr>
              <p:spPr>
                <a:xfrm>
                  <a:off x="762000" y="2590800"/>
                  <a:ext cx="152400" cy="152400"/>
                </a:xfrm>
                <a:prstGeom prst="ellipse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3" name="Google Shape;83;p13"/>
                <p:cNvSpPr/>
                <p:nvPr/>
              </p:nvSpPr>
              <p:spPr>
                <a:xfrm>
                  <a:off x="2057400" y="2590800"/>
                  <a:ext cx="152400" cy="152400"/>
                </a:xfrm>
                <a:prstGeom prst="ellipse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84" name="Google Shape;84;p13"/>
              <p:cNvGrpSpPr/>
              <p:nvPr/>
            </p:nvGrpSpPr>
            <p:grpSpPr>
              <a:xfrm>
                <a:off x="13692796" y="653581979"/>
                <a:ext cx="2069894079" cy="186737708"/>
                <a:chOff x="801687" y="2438400"/>
                <a:chExt cx="1439863" cy="152400"/>
              </a:xfrm>
            </p:grpSpPr>
            <p:sp>
              <p:nvSpPr>
                <p:cNvPr id="85" name="Google Shape;85;p13"/>
                <p:cNvSpPr/>
                <p:nvPr/>
              </p:nvSpPr>
              <p:spPr>
                <a:xfrm>
                  <a:off x="801687" y="2438400"/>
                  <a:ext cx="152400" cy="152400"/>
                </a:xfrm>
                <a:prstGeom prst="ellipse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" name="Google Shape;86;p13"/>
                <p:cNvSpPr/>
                <p:nvPr/>
              </p:nvSpPr>
              <p:spPr>
                <a:xfrm>
                  <a:off x="2089150" y="2438400"/>
                  <a:ext cx="152400" cy="152400"/>
                </a:xfrm>
                <a:prstGeom prst="ellipse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87" name="Google Shape;87;p13"/>
                <p:cNvCxnSpPr/>
                <p:nvPr/>
              </p:nvCxnSpPr>
              <p:spPr>
                <a:xfrm>
                  <a:off x="1127125" y="2514600"/>
                  <a:ext cx="8382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stealth"/>
                  <a:tailEnd len="sm" w="sm" type="none"/>
                </a:ln>
              </p:spPr>
            </p:cxnSp>
          </p:grpSp>
          <p:grpSp>
            <p:nvGrpSpPr>
              <p:cNvPr id="88" name="Google Shape;88;p13"/>
              <p:cNvGrpSpPr/>
              <p:nvPr/>
            </p:nvGrpSpPr>
            <p:grpSpPr>
              <a:xfrm>
                <a:off x="66181051" y="1960745938"/>
                <a:ext cx="2081302594" cy="186737708"/>
                <a:chOff x="762000" y="2590800"/>
                <a:chExt cx="1447800" cy="152400"/>
              </a:xfrm>
            </p:grpSpPr>
            <p:sp>
              <p:nvSpPr>
                <p:cNvPr id="89" name="Google Shape;89;p13"/>
                <p:cNvSpPr/>
                <p:nvPr/>
              </p:nvSpPr>
              <p:spPr>
                <a:xfrm>
                  <a:off x="762000" y="2590800"/>
                  <a:ext cx="152400" cy="152400"/>
                </a:xfrm>
                <a:prstGeom prst="ellipse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" name="Google Shape;90;p13"/>
                <p:cNvSpPr/>
                <p:nvPr/>
              </p:nvSpPr>
              <p:spPr>
                <a:xfrm>
                  <a:off x="2057400" y="2590800"/>
                  <a:ext cx="152400" cy="152400"/>
                </a:xfrm>
                <a:prstGeom prst="ellipse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1" name="Google Shape;91;p13"/>
              <p:cNvSpPr/>
              <p:nvPr/>
            </p:nvSpPr>
            <p:spPr>
              <a:xfrm>
                <a:off x="20539922" y="1307165116"/>
                <a:ext cx="219080136" cy="186734003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Font typeface="Arial"/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" name="Google Shape;92;p13"/>
              <p:cNvSpPr/>
              <p:nvPr/>
            </p:nvSpPr>
            <p:spPr>
              <a:xfrm>
                <a:off x="1871346551" y="1307163881"/>
                <a:ext cx="219084483" cy="186737708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93" name="Google Shape;93;p13"/>
              <p:cNvCxnSpPr/>
              <p:nvPr/>
            </p:nvCxnSpPr>
            <p:spPr>
              <a:xfrm>
                <a:off x="488375827" y="1400532813"/>
                <a:ext cx="1204964659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stealth"/>
              </a:ln>
            </p:spPr>
          </p:cxnSp>
        </p:grpSp>
      </p:grpSp>
    </p:spTree>
  </p:cSld>
  <p:clrMapOvr>
    <a:masterClrMapping/>
  </p:clrMapOvr>
  <p:transition spd="slow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Norm of Reciprocity</a:t>
            </a:r>
            <a:endParaRPr/>
          </a:p>
        </p:txBody>
      </p:sp>
      <p:sp>
        <p:nvSpPr>
          <p:cNvPr id="99" name="Google Shape;99;p14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Golden rule:  Do unto others as you would have them do unto you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Reciprocity  =  mutual dyad 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Is this a norm?  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Social Support in Networks  (Wellman) </a:t>
            </a:r>
            <a:endParaRPr/>
          </a:p>
        </p:txBody>
      </p:sp>
      <p:sp>
        <p:nvSpPr>
          <p:cNvPr id="105" name="Google Shape;105;p15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Who is more likely to give support?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Who is more likely to receive support?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Are people more likely to </a:t>
            </a:r>
            <a:r>
              <a:rPr b="1" lang="en" sz="2000"/>
              <a:t>give</a:t>
            </a:r>
            <a:r>
              <a:rPr lang="en" sz="2000"/>
              <a:t> support if they have </a:t>
            </a:r>
            <a:r>
              <a:rPr b="1" lang="en" sz="2000"/>
              <a:t>received</a:t>
            </a:r>
            <a:r>
              <a:rPr lang="en" sz="2000"/>
              <a:t> support?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Types of support</a:t>
            </a:r>
            <a:endParaRPr sz="20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Emotional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Minor Services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Major Services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Financial</a:t>
            </a:r>
            <a:endParaRPr sz="17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Data:  1977-78 E. York Study:  29 people, 3335 ties, 335 active ties</a:t>
            </a:r>
            <a:endParaRPr sz="20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106" name="Google Shape;10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400" y="3991350"/>
            <a:ext cx="7981950" cy="2914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Causes of Giving Support</a:t>
            </a:r>
            <a:endParaRPr/>
          </a:p>
        </p:txBody>
      </p:sp>
      <p:sp>
        <p:nvSpPr>
          <p:cNvPr id="112" name="Google Shape;112;p16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Kin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Friendship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Neighbors (proximity, contact)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Demographic traits (gender, marital status, age, SES) 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Similarity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Tie Strength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Network Size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Reciprocity (Receiving support →  Give support)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Reciprocity:  Restricted &amp; Generalized</a:t>
            </a:r>
            <a:endParaRPr/>
          </a:p>
        </p:txBody>
      </p:sp>
      <p:pic>
        <p:nvPicPr>
          <p:cNvPr id="118" name="Google Shape;11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646253"/>
            <a:ext cx="8301350" cy="29927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7"/>
          <p:cNvSpPr txBox="1"/>
          <p:nvPr/>
        </p:nvSpPr>
        <p:spPr>
          <a:xfrm>
            <a:off x="696450" y="4733075"/>
            <a:ext cx="7028700" cy="16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People are more likely to give a type of support to someone if they have received support of that type from that person.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People more likely to give emotional support to someone if they have received major services from them (but not the reverse)</a:t>
            </a:r>
            <a:endParaRPr sz="2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Cumulative Logistic Regression</a:t>
            </a:r>
            <a:endParaRPr/>
          </a:p>
        </p:txBody>
      </p:sp>
      <p:sp>
        <p:nvSpPr>
          <p:cNvPr id="125" name="Google Shape;125;p18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Ordinal dependent variable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Estimated </a:t>
            </a:r>
            <a:r>
              <a:rPr lang="en"/>
              <a:t>coefficients</a:t>
            </a:r>
            <a:r>
              <a:rPr lang="en"/>
              <a:t> are effects of X on log odds of contrast between a lower category and the next higher category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Three categories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No exchange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One-way resource provision by network member to participant, but not in the other direction  (giving but not receiving)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Two-way (reciprocal) exchange of that resource (emotional support, etc.) between network member and participant  (giving and receiving)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Emotional Support</a:t>
            </a:r>
            <a:endParaRPr/>
          </a:p>
        </p:txBody>
      </p:sp>
      <p:pic>
        <p:nvPicPr>
          <p:cNvPr id="131" name="Google Shape;13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400" y="1632025"/>
            <a:ext cx="8057951" cy="531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Minor Services</a:t>
            </a:r>
            <a:endParaRPr/>
          </a:p>
        </p:txBody>
      </p:sp>
      <p:pic>
        <p:nvPicPr>
          <p:cNvPr id="137" name="Google Shape;13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000" y="1570038"/>
            <a:ext cx="7978034" cy="51355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Overall Model</a:t>
            </a:r>
            <a:endParaRPr/>
          </a:p>
        </p:txBody>
      </p:sp>
      <p:pic>
        <p:nvPicPr>
          <p:cNvPr id="143" name="Google Shape;14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570038"/>
            <a:ext cx="5210962" cy="5135562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1"/>
          <p:cNvSpPr txBox="1"/>
          <p:nvPr/>
        </p:nvSpPr>
        <p:spPr>
          <a:xfrm>
            <a:off x="6289450" y="1648775"/>
            <a:ext cx="2501700" cy="49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Two-step Model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" sz="2200"/>
              <a:t>Predictors of Receiving Support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" sz="2200"/>
              <a:t>Predictors of Reciprocating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lang="en"/>
              <a:t>Limitations of Binary Data</a:t>
            </a:r>
            <a:endParaRPr/>
          </a:p>
        </p:txBody>
      </p:sp>
      <p:sp>
        <p:nvSpPr>
          <p:cNvPr id="150" name="Google Shape;150;p22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342900" rtl="0" algn="l">
              <a:spcBef>
                <a:spcPts val="600"/>
              </a:spcBef>
              <a:spcAft>
                <a:spcPts val="0"/>
              </a:spcAft>
              <a:buSzPts val="3000"/>
              <a:buChar char="•"/>
            </a:pPr>
            <a:r>
              <a:rPr lang="en"/>
              <a:t>With only binary data, oversimplified contrast between non-symmetric and mutual dyads</a:t>
            </a:r>
            <a:endParaRPr/>
          </a:p>
          <a:p>
            <a:pPr indent="-393700" lvl="0" marL="342900" rtl="0" algn="l">
              <a:spcBef>
                <a:spcPts val="0"/>
              </a:spcBef>
              <a:spcAft>
                <a:spcPts val="0"/>
              </a:spcAft>
              <a:buSzPts val="3000"/>
              <a:buChar char="•"/>
            </a:pPr>
            <a:r>
              <a:rPr lang="en"/>
              <a:t>Mutual dyads can be non-reciprocal</a:t>
            </a:r>
            <a:endParaRPr/>
          </a:p>
          <a:p>
            <a:pPr indent="-393700" lvl="0" marL="342900" rtl="0" algn="l">
              <a:spcBef>
                <a:spcPts val="0"/>
              </a:spcBef>
              <a:spcAft>
                <a:spcPts val="0"/>
              </a:spcAft>
              <a:buSzPts val="3000"/>
              <a:buChar char="•"/>
            </a:pPr>
            <a:r>
              <a:rPr lang="en"/>
              <a:t>Among mutual dyads there can be variability in the level of reciprocity</a:t>
            </a:r>
            <a:endParaRPr/>
          </a:p>
          <a:p>
            <a:pPr indent="-393700" lvl="0" marL="342900" rtl="0" algn="l">
              <a:spcBef>
                <a:spcPts val="0"/>
              </a:spcBef>
              <a:spcAft>
                <a:spcPts val="0"/>
              </a:spcAft>
              <a:buSzPts val="3000"/>
              <a:buChar char="•"/>
            </a:pPr>
            <a:r>
              <a:rPr lang="en"/>
              <a:t>Need to bring in intensity of tie (weighted edges)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Social Ties and Interaction Events</a:t>
            </a:r>
            <a:endParaRPr/>
          </a:p>
        </p:txBody>
      </p:sp>
      <p:sp>
        <p:nvSpPr>
          <p:cNvPr id="156" name="Google Shape;156;p23"/>
          <p:cNvSpPr txBox="1"/>
          <p:nvPr>
            <p:ph idx="1" type="body"/>
          </p:nvPr>
        </p:nvSpPr>
        <p:spPr>
          <a:xfrm>
            <a:off x="457200" y="13716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Tie:  Link through which events occur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 sz="2400"/>
              <a:t>Through ties events (interactions &amp; exchanges of resources) "flow"</a:t>
            </a:r>
            <a:endParaRPr sz="2400"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Directed flow:  initiated event, sender (giver) and receiver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Strong ties:  Large flows (number of events), bandwidth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Reciprocal ties:  Balanced flows</a:t>
            </a:r>
            <a:endParaRPr/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>
                <a:solidFill>
                  <a:srgbClr val="000000"/>
                </a:solidFill>
              </a:rPr>
              <a:t>Balanced counts aggregated from information on the occurrence and traits of interactional events within a time window</a:t>
            </a:r>
            <a:endParaRPr>
              <a:solidFill>
                <a:srgbClr val="000000"/>
              </a:solidFill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>
                <a:solidFill>
                  <a:srgbClr val="000000"/>
                </a:solidFill>
              </a:rPr>
              <a:t>A temporal event sequence  A-&gt;B-&gt;A-&gt;B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Weighted Edge Graphs</a:t>
            </a:r>
            <a:endParaRPr/>
          </a:p>
        </p:txBody>
      </p:sp>
      <p:sp>
        <p:nvSpPr>
          <p:cNvPr id="162" name="Google Shape;162;p24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00"/>
                </a:solidFill>
              </a:rPr>
              <a:t>Arc</a:t>
            </a:r>
            <a:r>
              <a:rPr lang="en" sz="2200">
                <a:solidFill>
                  <a:srgbClr val="000000"/>
                </a:solidFill>
              </a:rPr>
              <a:t> </a:t>
            </a:r>
            <a:r>
              <a:rPr b="1" lang="en" sz="2200">
                <a:solidFill>
                  <a:srgbClr val="000000"/>
                </a:solidFill>
              </a:rPr>
              <a:t>(x</a:t>
            </a:r>
            <a:r>
              <a:rPr b="1" baseline="-25000" lang="en" sz="2200">
                <a:solidFill>
                  <a:srgbClr val="000000"/>
                </a:solidFill>
              </a:rPr>
              <a:t>ij</a:t>
            </a:r>
            <a:r>
              <a:rPr b="1" lang="en" sz="2200">
                <a:solidFill>
                  <a:srgbClr val="000000"/>
                </a:solidFill>
              </a:rPr>
              <a:t> = 1)</a:t>
            </a:r>
            <a:r>
              <a:rPr lang="en" sz="2200">
                <a:solidFill>
                  <a:srgbClr val="000000"/>
                </a:solidFill>
              </a:rPr>
              <a:t>:  if  there was an interaction between i and j within a given time period and i initiated that interaction (e.g., a call from i to j)</a:t>
            </a:r>
            <a:endParaRPr sz="2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00"/>
                </a:solidFill>
              </a:rPr>
              <a:t>Outflow Parameter (m</a:t>
            </a:r>
            <a:r>
              <a:rPr b="1" baseline="-25000" lang="en" sz="2200">
                <a:solidFill>
                  <a:srgbClr val="000000"/>
                </a:solidFill>
              </a:rPr>
              <a:t>ij</a:t>
            </a:r>
            <a:r>
              <a:rPr lang="en" sz="2200">
                <a:solidFill>
                  <a:srgbClr val="000000"/>
                </a:solidFill>
              </a:rPr>
              <a:t>):  Count of the number of interactions between i and j that were initiated by i  in a given time period (e.g., number of calls made by i to j)</a:t>
            </a:r>
            <a:endParaRPr sz="2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3" name="Google Shape;16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5452" y="4123500"/>
            <a:ext cx="2491325" cy="2535263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4"/>
          <p:cNvSpPr txBox="1"/>
          <p:nvPr/>
        </p:nvSpPr>
        <p:spPr>
          <a:xfrm>
            <a:off x="4594275" y="4206950"/>
            <a:ext cx="36156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x</a:t>
            </a:r>
            <a:r>
              <a:rPr baseline="-25000" lang="en" sz="2100"/>
              <a:t>12</a:t>
            </a:r>
            <a:r>
              <a:rPr lang="en" sz="2100"/>
              <a:t> = x</a:t>
            </a:r>
            <a:r>
              <a:rPr baseline="-25000" lang="en" sz="2100"/>
              <a:t>13</a:t>
            </a:r>
            <a:r>
              <a:rPr lang="en" sz="2100"/>
              <a:t> = x</a:t>
            </a:r>
            <a:r>
              <a:rPr baseline="-25000" lang="en" sz="2100"/>
              <a:t>14</a:t>
            </a:r>
            <a:r>
              <a:rPr lang="en" sz="2100"/>
              <a:t> = 1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m</a:t>
            </a:r>
            <a:r>
              <a:rPr baseline="-25000" lang="en" sz="2100"/>
              <a:t>12</a:t>
            </a:r>
            <a:r>
              <a:rPr lang="en" sz="2100"/>
              <a:t> = 5</a:t>
            </a:r>
            <a:endParaRPr sz="2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m</a:t>
            </a:r>
            <a:r>
              <a:rPr baseline="-25000" lang="en" sz="2100"/>
              <a:t>13</a:t>
            </a:r>
            <a:r>
              <a:rPr lang="en" sz="2100"/>
              <a:t> = 3</a:t>
            </a:r>
            <a:endParaRPr sz="2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m</a:t>
            </a:r>
            <a:r>
              <a:rPr baseline="-25000" lang="en" sz="2100"/>
              <a:t>14</a:t>
            </a:r>
            <a:r>
              <a:rPr lang="en" sz="2100"/>
              <a:t> = 1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Node Level Properties</a:t>
            </a:r>
            <a:endParaRPr/>
          </a:p>
        </p:txBody>
      </p:sp>
      <p:sp>
        <p:nvSpPr>
          <p:cNvPr id="170" name="Google Shape;170;p25"/>
          <p:cNvSpPr txBox="1"/>
          <p:nvPr>
            <p:ph idx="1" type="body"/>
          </p:nvPr>
        </p:nvSpPr>
        <p:spPr>
          <a:xfrm>
            <a:off x="476325" y="1645425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1" lang="en" sz="2400"/>
              <a:t>Out-degree (d</a:t>
            </a:r>
            <a:r>
              <a:rPr b="1" baseline="-25000" lang="en" sz="2400"/>
              <a:t>i</a:t>
            </a:r>
            <a:r>
              <a:rPr b="1" lang="en" sz="2400"/>
              <a:t>)</a:t>
            </a:r>
            <a:r>
              <a:rPr lang="en" sz="2400"/>
              <a:t>: </a:t>
            </a:r>
            <a:r>
              <a:rPr lang="en" sz="2400">
                <a:solidFill>
                  <a:srgbClr val="000000"/>
                </a:solidFill>
              </a:rPr>
              <a:t>count of number of </a:t>
            </a:r>
            <a:r>
              <a:rPr i="1" lang="en" sz="2400">
                <a:solidFill>
                  <a:srgbClr val="000000"/>
                </a:solidFill>
              </a:rPr>
              <a:t>j</a:t>
            </a:r>
            <a:r>
              <a:rPr lang="en" sz="2400">
                <a:solidFill>
                  <a:srgbClr val="000000"/>
                </a:solidFill>
              </a:rPr>
              <a:t> nodes that </a:t>
            </a:r>
            <a:r>
              <a:rPr i="1" lang="en" sz="2400"/>
              <a:t>i</a:t>
            </a:r>
            <a:r>
              <a:rPr lang="en" sz="2400">
                <a:solidFill>
                  <a:srgbClr val="000000"/>
                </a:solidFill>
              </a:rPr>
              <a:t> has initiated interaction with in a given time period (e.g., number of people </a:t>
            </a:r>
            <a:r>
              <a:rPr i="1" lang="en" sz="2400">
                <a:solidFill>
                  <a:srgbClr val="000000"/>
                </a:solidFill>
              </a:rPr>
              <a:t>i</a:t>
            </a:r>
            <a:r>
              <a:rPr lang="en" sz="2400">
                <a:solidFill>
                  <a:srgbClr val="000000"/>
                </a:solidFill>
              </a:rPr>
              <a:t> called)</a:t>
            </a:r>
            <a:endParaRPr sz="2400"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V</a:t>
            </a:r>
            <a:r>
              <a:rPr b="1" lang="en" sz="2400"/>
              <a:t>ertex Strength (m</a:t>
            </a:r>
            <a:r>
              <a:rPr b="1" baseline="-25000" lang="en" sz="2400"/>
              <a:t>i+</a:t>
            </a:r>
            <a:r>
              <a:rPr b="1" lang="en" sz="2400"/>
              <a:t>): </a:t>
            </a:r>
            <a:r>
              <a:rPr lang="en" sz="2400">
                <a:solidFill>
                  <a:srgbClr val="000000"/>
                </a:solidFill>
              </a:rPr>
              <a:t>activity level of a node, i.e.  count of the number of interactions initiated by </a:t>
            </a:r>
            <a:r>
              <a:rPr i="1" lang="en" sz="2400">
                <a:solidFill>
                  <a:srgbClr val="000000"/>
                </a:solidFill>
              </a:rPr>
              <a:t>i</a:t>
            </a:r>
            <a:r>
              <a:rPr lang="en" sz="2400">
                <a:solidFill>
                  <a:srgbClr val="000000"/>
                </a:solidFill>
              </a:rPr>
              <a:t> with all </a:t>
            </a:r>
            <a:r>
              <a:rPr i="1" lang="en" sz="2400">
                <a:solidFill>
                  <a:srgbClr val="000000"/>
                </a:solidFill>
              </a:rPr>
              <a:t>i</a:t>
            </a:r>
            <a:r>
              <a:rPr lang="en" sz="2400">
                <a:solidFill>
                  <a:srgbClr val="000000"/>
                </a:solidFill>
              </a:rPr>
              <a:t>’s </a:t>
            </a:r>
            <a:r>
              <a:rPr i="1" lang="en" sz="2400">
                <a:solidFill>
                  <a:srgbClr val="000000"/>
                </a:solidFill>
              </a:rPr>
              <a:t>j</a:t>
            </a:r>
            <a:r>
              <a:rPr lang="en" sz="2400">
                <a:solidFill>
                  <a:srgbClr val="000000"/>
                </a:solidFill>
              </a:rPr>
              <a:t> neighbors in a given time period (e.g., total number of calls made by </a:t>
            </a:r>
            <a:r>
              <a:rPr i="1" lang="en" sz="2400">
                <a:solidFill>
                  <a:srgbClr val="000000"/>
                </a:solidFill>
              </a:rPr>
              <a:t>i</a:t>
            </a:r>
            <a:r>
              <a:rPr lang="en" sz="2400">
                <a:solidFill>
                  <a:srgbClr val="000000"/>
                </a:solidFill>
              </a:rPr>
              <a:t>)</a:t>
            </a:r>
            <a:endParaRPr baseline="-25000" sz="2400"/>
          </a:p>
        </p:txBody>
      </p:sp>
      <p:pic>
        <p:nvPicPr>
          <p:cNvPr id="171" name="Google Shape;17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0518" y="4582750"/>
            <a:ext cx="1962853" cy="2220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91211" y="4705412"/>
            <a:ext cx="2049417" cy="97159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5"/>
          <p:cNvSpPr txBox="1"/>
          <p:nvPr/>
        </p:nvSpPr>
        <p:spPr>
          <a:xfrm>
            <a:off x="5845720" y="5600802"/>
            <a:ext cx="2707800" cy="6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m</a:t>
            </a:r>
            <a:r>
              <a:rPr baseline="-25000" lang="en" sz="2400"/>
              <a:t>1+</a:t>
            </a:r>
            <a:r>
              <a:rPr lang="en" sz="2400"/>
              <a:t> = 5+3+1 = 9</a:t>
            </a:r>
            <a:endParaRPr sz="2400"/>
          </a:p>
        </p:txBody>
      </p:sp>
      <p:sp>
        <p:nvSpPr>
          <p:cNvPr id="174" name="Google Shape;174;p25"/>
          <p:cNvSpPr txBox="1"/>
          <p:nvPr/>
        </p:nvSpPr>
        <p:spPr>
          <a:xfrm>
            <a:off x="5821200" y="4291552"/>
            <a:ext cx="2123400" cy="6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d</a:t>
            </a:r>
            <a:r>
              <a:rPr baseline="-25000" lang="en" sz="2400"/>
              <a:t>1</a:t>
            </a:r>
            <a:r>
              <a:rPr lang="en" sz="2400"/>
              <a:t> = 3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Arc Flows &amp; Vertex Strength</a:t>
            </a:r>
            <a:endParaRPr/>
          </a:p>
        </p:txBody>
      </p:sp>
      <p:sp>
        <p:nvSpPr>
          <p:cNvPr id="180" name="Google Shape;180;p26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2400"/>
              <a:t>conditional transition probability</a:t>
            </a:r>
            <a:r>
              <a:rPr lang="en" sz="2400"/>
              <a:t>:  probability, given that an event has been initiated by i, that it is with j. </a:t>
            </a:r>
            <a:endParaRPr sz="2400"/>
          </a:p>
        </p:txBody>
      </p:sp>
      <p:pic>
        <p:nvPicPr>
          <p:cNvPr id="181" name="Google Shape;18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1354" y="2714533"/>
            <a:ext cx="2094692" cy="658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86700" y="3724400"/>
            <a:ext cx="1521210" cy="719292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6"/>
          <p:cNvSpPr txBox="1"/>
          <p:nvPr/>
        </p:nvSpPr>
        <p:spPr>
          <a:xfrm>
            <a:off x="801547" y="5053965"/>
            <a:ext cx="3081300" cy="10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m</a:t>
            </a:r>
            <a:r>
              <a:rPr baseline="-25000" lang="en" sz="2400"/>
              <a:t>12</a:t>
            </a:r>
            <a:r>
              <a:rPr lang="en" sz="2400"/>
              <a:t> = (m</a:t>
            </a:r>
            <a:r>
              <a:rPr baseline="-25000" lang="en" sz="2400"/>
              <a:t>1+</a:t>
            </a:r>
            <a:r>
              <a:rPr lang="en" sz="2400"/>
              <a:t>) (p</a:t>
            </a:r>
            <a:r>
              <a:rPr baseline="-25000" lang="en" sz="2400"/>
              <a:t>12</a:t>
            </a:r>
            <a:r>
              <a:rPr lang="en" sz="2400"/>
              <a:t>)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5 = 9 x (5/9) 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184" name="Google Shape;184;p26"/>
          <p:cNvSpPr txBox="1"/>
          <p:nvPr/>
        </p:nvSpPr>
        <p:spPr>
          <a:xfrm>
            <a:off x="5194300" y="4635465"/>
            <a:ext cx="3419100" cy="19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400"/>
              <a:t>p</a:t>
            </a:r>
            <a:r>
              <a:rPr baseline="-25000" lang="en" sz="2400"/>
              <a:t>12</a:t>
            </a:r>
            <a:r>
              <a:rPr lang="en" sz="2400"/>
              <a:t> = 5/9 = .556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400"/>
              <a:t>p</a:t>
            </a:r>
            <a:r>
              <a:rPr baseline="-25000" lang="en" sz="2400"/>
              <a:t>13</a:t>
            </a:r>
            <a:r>
              <a:rPr lang="en" sz="2400"/>
              <a:t> = 3/9 = .333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400"/>
              <a:t>p</a:t>
            </a:r>
            <a:r>
              <a:rPr baseline="-25000" lang="en" sz="2400"/>
              <a:t>14</a:t>
            </a:r>
            <a:r>
              <a:rPr lang="en" sz="2400"/>
              <a:t> = 1/9 = .111</a:t>
            </a:r>
            <a:endParaRPr/>
          </a:p>
        </p:txBody>
      </p:sp>
      <p:pic>
        <p:nvPicPr>
          <p:cNvPr id="185" name="Google Shape;185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80323" y="2153400"/>
            <a:ext cx="1962853" cy="2220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Tie (Arc) Strength</a:t>
            </a:r>
            <a:endParaRPr/>
          </a:p>
        </p:txBody>
      </p:sp>
      <p:sp>
        <p:nvSpPr>
          <p:cNvPr id="191" name="Google Shape;191;p27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</a:rPr>
              <a:t>Arc Flow</a:t>
            </a:r>
            <a:r>
              <a:rPr lang="en"/>
              <a:t>:  m</a:t>
            </a:r>
            <a:r>
              <a:rPr baseline="-25000" lang="en"/>
              <a:t>ij</a:t>
            </a:r>
            <a:r>
              <a:rPr lang="en"/>
              <a:t> = (m</a:t>
            </a:r>
            <a:r>
              <a:rPr baseline="-25000" lang="en"/>
              <a:t>i+</a:t>
            </a:r>
            <a:r>
              <a:rPr lang="en"/>
              <a:t>) (p</a:t>
            </a:r>
            <a:r>
              <a:rPr baseline="-25000" lang="en"/>
              <a:t>ij</a:t>
            </a:r>
            <a:r>
              <a:rPr lang="en"/>
              <a:t>)</a:t>
            </a:r>
            <a:endParaRPr baseline="-250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</a:rPr>
              <a:t>Transition Probability</a:t>
            </a:r>
            <a:r>
              <a:rPr lang="en"/>
              <a:t>:	  p</a:t>
            </a:r>
            <a:r>
              <a:rPr baseline="-25000" lang="en"/>
              <a:t>ij</a:t>
            </a:r>
            <a:endParaRPr baseline="-250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</a:rPr>
              <a:t>Relative Strength</a:t>
            </a:r>
            <a:r>
              <a:rPr lang="en"/>
              <a:t>:		m</a:t>
            </a:r>
            <a:r>
              <a:rPr baseline="-25000" lang="en"/>
              <a:t>ij</a:t>
            </a:r>
            <a:r>
              <a:rPr lang="en"/>
              <a:t>/max(m</a:t>
            </a:r>
            <a:r>
              <a:rPr baseline="-25000" lang="en"/>
              <a:t>ik</a:t>
            </a:r>
            <a:r>
              <a:rPr lang="en"/>
              <a:t>)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</a:rPr>
              <a:t>Vertex Strength</a:t>
            </a:r>
            <a:r>
              <a:rPr lang="en"/>
              <a:t>:    m</a:t>
            </a:r>
            <a:r>
              <a:rPr baseline="-25000" lang="en"/>
              <a:t>i+</a:t>
            </a:r>
            <a:endParaRPr baseline="-250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</a:rPr>
              <a:t>Dyadic Edge Strength</a:t>
            </a:r>
            <a:r>
              <a:rPr lang="en"/>
              <a:t> </a:t>
            </a:r>
            <a:br>
              <a:rPr lang="en"/>
            </a:br>
            <a:r>
              <a:rPr lang="en"/>
              <a:t>(bandwidth)  </a:t>
            </a:r>
            <a:endParaRPr/>
          </a:p>
        </p:txBody>
      </p:sp>
      <p:pic>
        <p:nvPicPr>
          <p:cNvPr id="192" name="Google Shape;19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4050" y="4807388"/>
            <a:ext cx="2766616" cy="8464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Reciprocity:  Simple Model	</a:t>
            </a:r>
            <a:endParaRPr/>
          </a:p>
        </p:txBody>
      </p:sp>
      <p:sp>
        <p:nvSpPr>
          <p:cNvPr id="198" name="Google Shape;198;p28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</a:t>
            </a:r>
            <a:r>
              <a:rPr baseline="-25000" lang="en"/>
              <a:t>ij</a:t>
            </a:r>
            <a:r>
              <a:rPr lang="en"/>
              <a:t>(1) = |m</a:t>
            </a:r>
            <a:r>
              <a:rPr baseline="-25000" lang="en"/>
              <a:t>ij</a:t>
            </a:r>
            <a:r>
              <a:rPr lang="en"/>
              <a:t> - m</a:t>
            </a:r>
            <a:r>
              <a:rPr baseline="-25000" lang="en"/>
              <a:t>ji</a:t>
            </a:r>
            <a:r>
              <a:rPr lang="en"/>
              <a:t>|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</a:t>
            </a:r>
            <a:r>
              <a:rPr baseline="-25000" lang="en"/>
              <a:t>ij</a:t>
            </a:r>
            <a:r>
              <a:rPr lang="en"/>
              <a:t>(2) = ln(m</a:t>
            </a:r>
            <a:r>
              <a:rPr baseline="-25000" lang="en"/>
              <a:t>ij</a:t>
            </a:r>
            <a:r>
              <a:rPr lang="en"/>
              <a:t>) -  ln(m</a:t>
            </a:r>
            <a:r>
              <a:rPr baseline="-25000" lang="en"/>
              <a:t>ji</a:t>
            </a:r>
            <a:r>
              <a:rPr lang="en"/>
              <a:t>) = ln(m</a:t>
            </a:r>
            <a:r>
              <a:rPr baseline="-25000" lang="en"/>
              <a:t>ij</a:t>
            </a:r>
            <a:r>
              <a:rPr lang="en"/>
              <a:t>/m</a:t>
            </a:r>
            <a:r>
              <a:rPr baseline="-25000" lang="en"/>
              <a:t>ji</a:t>
            </a:r>
            <a:r>
              <a:rPr lang="en"/>
              <a:t>)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Reciprocity:  Behavioral Model</a:t>
            </a:r>
            <a:endParaRPr/>
          </a:p>
        </p:txBody>
      </p:sp>
      <p:sp>
        <p:nvSpPr>
          <p:cNvPr id="204" name="Google Shape;204;p29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 sz="2400"/>
              <a:t>Why would j initiate interaction with </a:t>
            </a:r>
            <a:r>
              <a:rPr i="1" lang="en" sz="2400"/>
              <a:t>i</a:t>
            </a:r>
            <a:r>
              <a:rPr lang="en" sz="2400"/>
              <a:t> more (or less) than </a:t>
            </a:r>
            <a:r>
              <a:rPr i="1" lang="en" sz="2400"/>
              <a:t>i</a:t>
            </a:r>
            <a:r>
              <a:rPr lang="en" sz="2400"/>
              <a:t> initiates interaction?</a:t>
            </a:r>
            <a:endParaRPr sz="2400"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 sz="2400"/>
              <a:t>Local knowledge: 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i="1" lang="en" sz="1800"/>
              <a:t>i</a:t>
            </a:r>
            <a:r>
              <a:rPr lang="en" sz="1800"/>
              <a:t> knows: m</a:t>
            </a:r>
            <a:r>
              <a:rPr baseline="-25000" lang="en" sz="1800"/>
              <a:t>ij</a:t>
            </a:r>
            <a:r>
              <a:rPr lang="en" sz="1800"/>
              <a:t>, m</a:t>
            </a:r>
            <a:r>
              <a:rPr baseline="-25000" lang="en" sz="1800"/>
              <a:t>ji</a:t>
            </a:r>
            <a:r>
              <a:rPr lang="en" sz="1800"/>
              <a:t>, d</a:t>
            </a:r>
            <a:r>
              <a:rPr baseline="-25000" lang="en" sz="1800"/>
              <a:t>i</a:t>
            </a:r>
            <a:r>
              <a:rPr lang="en" sz="1800"/>
              <a:t>, m</a:t>
            </a:r>
            <a:r>
              <a:rPr baseline="-25000" lang="en" sz="1800"/>
              <a:t>i+</a:t>
            </a:r>
            <a:endParaRPr baseline="-25000" sz="18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i="1" lang="en" sz="1800"/>
              <a:t>i</a:t>
            </a:r>
            <a:r>
              <a:rPr lang="en" sz="1800"/>
              <a:t> does not know: d</a:t>
            </a:r>
            <a:r>
              <a:rPr baseline="-25000" lang="en" sz="1800"/>
              <a:t>j</a:t>
            </a:r>
            <a:r>
              <a:rPr lang="en" sz="1800"/>
              <a:t>, m</a:t>
            </a:r>
            <a:r>
              <a:rPr baseline="-25000" lang="en" sz="1800"/>
              <a:t>j+</a:t>
            </a:r>
            <a:endParaRPr baseline="-25000" sz="18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 sz="1800"/>
              <a:t>assumes m</a:t>
            </a:r>
            <a:r>
              <a:rPr baseline="-25000" lang="en" sz="1800"/>
              <a:t>j+</a:t>
            </a:r>
            <a:r>
              <a:rPr lang="en" sz="1800"/>
              <a:t> = m</a:t>
            </a:r>
            <a:r>
              <a:rPr baseline="-25000" lang="en" sz="1800"/>
              <a:t>i+</a:t>
            </a:r>
            <a:r>
              <a:rPr lang="en" sz="1800"/>
              <a:t>, d</a:t>
            </a:r>
            <a:r>
              <a:rPr baseline="-25000" lang="en" sz="1800"/>
              <a:t>j</a:t>
            </a:r>
            <a:r>
              <a:rPr lang="en" sz="1800"/>
              <a:t>= d</a:t>
            </a:r>
            <a:r>
              <a:rPr baseline="-25000" lang="en" sz="1800"/>
              <a:t>i</a:t>
            </a:r>
            <a:endParaRPr baseline="-25000" sz="1800"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 sz="2400"/>
              <a:t>Weight  m</a:t>
            </a:r>
            <a:r>
              <a:rPr baseline="-25000" lang="en" sz="2400"/>
              <a:t>ij</a:t>
            </a:r>
            <a:r>
              <a:rPr lang="en" sz="2400"/>
              <a:t> by m</a:t>
            </a:r>
            <a:r>
              <a:rPr baseline="-25000" lang="en" sz="2400"/>
              <a:t>j+</a:t>
            </a:r>
            <a:r>
              <a:rPr lang="en" sz="2400"/>
              <a:t>/m</a:t>
            </a:r>
            <a:r>
              <a:rPr baseline="-25000" lang="en" sz="2400"/>
              <a:t>i+</a:t>
            </a:r>
            <a:endParaRPr baseline="-25000" sz="2400"/>
          </a:p>
          <a:p>
            <a:pPr indent="45720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/>
              <a:t>Rij(3) 	=  |m</a:t>
            </a:r>
            <a:r>
              <a:rPr baseline="-25000" lang="en" sz="2400"/>
              <a:t>ij</a:t>
            </a:r>
            <a:r>
              <a:rPr lang="en" sz="2400"/>
              <a:t>(</a:t>
            </a:r>
            <a:r>
              <a:rPr b="1" lang="en" sz="2400"/>
              <a:t>m</a:t>
            </a:r>
            <a:r>
              <a:rPr b="1" baseline="-25000" lang="en" sz="2400"/>
              <a:t>j+</a:t>
            </a:r>
            <a:r>
              <a:rPr b="1" lang="en" sz="2400"/>
              <a:t>/m</a:t>
            </a:r>
            <a:r>
              <a:rPr b="1" baseline="-25000" lang="en" sz="2400"/>
              <a:t>i+</a:t>
            </a:r>
            <a:r>
              <a:rPr lang="en" sz="2400"/>
              <a:t>) - m</a:t>
            </a:r>
            <a:r>
              <a:rPr baseline="-25000" lang="en" sz="2400"/>
              <a:t>ji</a:t>
            </a:r>
            <a:r>
              <a:rPr lang="en" sz="2400"/>
              <a:t>|</a:t>
            </a:r>
            <a:endParaRPr sz="2400"/>
          </a:p>
          <a:p>
            <a:pPr indent="45720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/>
              <a:t>Rij(4) 	= |ln[m</a:t>
            </a:r>
            <a:r>
              <a:rPr baseline="-25000" lang="en" sz="2400"/>
              <a:t>ij</a:t>
            </a:r>
            <a:r>
              <a:rPr lang="en" sz="2400"/>
              <a:t>(</a:t>
            </a:r>
            <a:r>
              <a:rPr b="1" lang="en" sz="2400"/>
              <a:t>m</a:t>
            </a:r>
            <a:r>
              <a:rPr b="1" baseline="-25000" lang="en" sz="2400"/>
              <a:t>j+</a:t>
            </a:r>
            <a:r>
              <a:rPr b="1" lang="en" sz="2400"/>
              <a:t>/m</a:t>
            </a:r>
            <a:r>
              <a:rPr b="1" baseline="-25000" lang="en" sz="2400"/>
              <a:t>i+</a:t>
            </a:r>
            <a:r>
              <a:rPr lang="en" sz="2400"/>
              <a:t>)] - ln[m</a:t>
            </a:r>
            <a:r>
              <a:rPr baseline="-25000" lang="en" sz="2400"/>
              <a:t>ji</a:t>
            </a:r>
            <a:r>
              <a:rPr lang="en" sz="2400"/>
              <a:t>]|</a:t>
            </a:r>
            <a:endParaRPr sz="2400"/>
          </a:p>
          <a:p>
            <a:pPr indent="457200" lvl="0" marL="13716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/>
              <a:t>= |ln[(m</a:t>
            </a:r>
            <a:r>
              <a:rPr baseline="-25000" lang="en" sz="2400"/>
              <a:t>ij</a:t>
            </a:r>
            <a:r>
              <a:rPr lang="en" sz="2400"/>
              <a:t>/m</a:t>
            </a:r>
            <a:r>
              <a:rPr baseline="-25000" lang="en" sz="2400"/>
              <a:t>i+</a:t>
            </a:r>
            <a:r>
              <a:rPr lang="en" sz="2400"/>
              <a:t>)/(m</a:t>
            </a:r>
            <a:r>
              <a:rPr baseline="-25000" lang="en" sz="2400"/>
              <a:t>ji</a:t>
            </a:r>
            <a:r>
              <a:rPr lang="en" sz="2400"/>
              <a:t>/m</a:t>
            </a:r>
            <a:r>
              <a:rPr baseline="-25000" lang="en" sz="2400"/>
              <a:t>j+</a:t>
            </a:r>
            <a:r>
              <a:rPr lang="en" sz="2400"/>
              <a:t>)]|</a:t>
            </a:r>
            <a:endParaRPr sz="2400"/>
          </a:p>
          <a:p>
            <a:pPr indent="457200" lvl="0" marL="137160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400"/>
              <a:t>= |ln (p</a:t>
            </a:r>
            <a:r>
              <a:rPr baseline="-25000" lang="en" sz="2400"/>
              <a:t>ij</a:t>
            </a:r>
            <a:r>
              <a:rPr lang="en" sz="2400"/>
              <a:t>/p</a:t>
            </a:r>
            <a:r>
              <a:rPr baseline="-25000" lang="en" sz="2400"/>
              <a:t>ji</a:t>
            </a:r>
            <a:r>
              <a:rPr lang="en" sz="2400"/>
              <a:t>)|= |ln(p</a:t>
            </a:r>
            <a:r>
              <a:rPr baseline="-25000" lang="en" sz="2400"/>
              <a:t>ij</a:t>
            </a:r>
            <a:r>
              <a:rPr lang="en" sz="2400"/>
              <a:t>) - ln(p</a:t>
            </a:r>
            <a:r>
              <a:rPr baseline="-25000" lang="en" sz="2400"/>
              <a:t>ji</a:t>
            </a:r>
            <a:r>
              <a:rPr lang="en" sz="2400"/>
              <a:t>)|</a:t>
            </a:r>
            <a:endParaRPr sz="2400"/>
          </a:p>
          <a:p>
            <a:pPr indent="45720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t/>
            </a:r>
            <a:endParaRPr/>
          </a:p>
          <a:p>
            <a:pPr indent="45720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Reciprocity:  Information Gain</a:t>
            </a:r>
            <a:endParaRPr/>
          </a:p>
        </p:txBody>
      </p:sp>
      <p:pic>
        <p:nvPicPr>
          <p:cNvPr id="210" name="Google Shape;21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4850" y="2356238"/>
            <a:ext cx="7734300" cy="3857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Directional Reciprocity</a:t>
            </a:r>
            <a:endParaRPr/>
          </a:p>
        </p:txBody>
      </p:sp>
      <p:pic>
        <p:nvPicPr>
          <p:cNvPr id="216" name="Google Shape;21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6725" y="1729475"/>
            <a:ext cx="3124200" cy="819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39625" y="2548625"/>
            <a:ext cx="2438400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41650" y="3391475"/>
            <a:ext cx="6200175" cy="3141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non-reciprocity</a:t>
            </a:r>
            <a:endParaRPr/>
          </a:p>
        </p:txBody>
      </p:sp>
      <p:sp>
        <p:nvSpPr>
          <p:cNvPr id="224" name="Google Shape;224;p32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Given norm of reciprocity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Two explanations for non-reciprocity: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AutoNum type="alphaLcPeriod"/>
            </a:pPr>
            <a:r>
              <a:rPr lang="en"/>
              <a:t>Degree disassortativity</a:t>
            </a:r>
            <a:endParaRPr/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"/>
              <a:t>A has more friends than B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AutoNum type="alphaLcPeriod"/>
            </a:pPr>
            <a:r>
              <a:rPr lang="en"/>
              <a:t>Unequal dispersion of activity among friends</a:t>
            </a:r>
            <a:endParaRPr/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"/>
              <a:t>A’s ties to her friends vary in their strength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	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Explaining (Non-)Reciprocity</a:t>
            </a:r>
            <a:endParaRPr/>
          </a:p>
        </p:txBody>
      </p:sp>
      <p:sp>
        <p:nvSpPr>
          <p:cNvPr id="230" name="Google Shape;230;p33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Out-Degree Mismatch 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1" name="Google Shape;231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1547" y="2726488"/>
            <a:ext cx="7040905" cy="29653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Explaining (Non-)Reciprocity</a:t>
            </a:r>
            <a:endParaRPr/>
          </a:p>
        </p:txBody>
      </p:sp>
      <p:pic>
        <p:nvPicPr>
          <p:cNvPr id="237" name="Google Shape;23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5650" y="4688335"/>
            <a:ext cx="4324194" cy="1985565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34"/>
          <p:cNvSpPr txBox="1"/>
          <p:nvPr/>
        </p:nvSpPr>
        <p:spPr>
          <a:xfrm>
            <a:off x="524275" y="1743045"/>
            <a:ext cx="5389800" cy="6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Unequal dispersion:  p</a:t>
            </a:r>
            <a:r>
              <a:rPr baseline="-25000" lang="en" sz="2400">
                <a:solidFill>
                  <a:schemeClr val="dk1"/>
                </a:solidFill>
              </a:rPr>
              <a:t>ij</a:t>
            </a:r>
            <a:r>
              <a:rPr lang="en" sz="2400">
                <a:solidFill>
                  <a:schemeClr val="dk1"/>
                </a:solidFill>
              </a:rPr>
              <a:t> ≠ p</a:t>
            </a:r>
            <a:r>
              <a:rPr baseline="-25000" lang="en" sz="2400">
                <a:solidFill>
                  <a:schemeClr val="dk1"/>
                </a:solidFill>
              </a:rPr>
              <a:t>ik</a:t>
            </a:r>
            <a:endParaRPr baseline="-25000"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pic>
        <p:nvPicPr>
          <p:cNvPr id="239" name="Google Shape;239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8688" y="2318350"/>
            <a:ext cx="5381625" cy="25908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34"/>
          <p:cNvSpPr txBox="1"/>
          <p:nvPr/>
        </p:nvSpPr>
        <p:spPr>
          <a:xfrm>
            <a:off x="6240875" y="2607775"/>
            <a:ext cx="2563200" cy="21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when equidispersion, vertex strength drops out and reciprocity a function of degree differences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degree differences --&gt; non-reciprocity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unequal dispersion --&gt; non-reciprocity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34"/>
          <p:cNvSpPr txBox="1"/>
          <p:nvPr/>
        </p:nvSpPr>
        <p:spPr>
          <a:xfrm>
            <a:off x="6144150" y="5277475"/>
            <a:ext cx="1992600" cy="10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same degree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red vertice overdisperses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Four Variants of Reciprocity</a:t>
            </a:r>
            <a:endParaRPr/>
          </a:p>
        </p:txBody>
      </p:sp>
      <p:sp>
        <p:nvSpPr>
          <p:cNvPr id="247" name="Google Shape;247;p35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AutoNum type="arabicPeriod"/>
            </a:pPr>
            <a:r>
              <a:rPr lang="en" sz="2200"/>
              <a:t>Observed Network:  Assortative &amp; non-equidispersed</a:t>
            </a:r>
            <a:endParaRPr sz="2200"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AutoNum type="arabicPeriod"/>
            </a:pPr>
            <a:r>
              <a:rPr lang="en" sz="2200"/>
              <a:t>Equi-dispersed Model: Assortative &amp; equidispersed</a:t>
            </a:r>
            <a:endParaRPr sz="2200"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AutoNum type="arabicPeriod"/>
            </a:pPr>
            <a:r>
              <a:rPr lang="en" sz="2200"/>
              <a:t>Rewired:  Non-assortative and non-equidispersed</a:t>
            </a:r>
            <a:endParaRPr sz="2200"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AutoNum type="arabicPeriod"/>
            </a:pPr>
            <a:r>
              <a:rPr lang="en" sz="2200"/>
              <a:t>Rewi</a:t>
            </a:r>
            <a:r>
              <a:rPr lang="en" sz="2400"/>
              <a:t>red with Equi-dispersion</a:t>
            </a:r>
            <a:endParaRPr sz="2400"/>
          </a:p>
        </p:txBody>
      </p:sp>
      <p:pic>
        <p:nvPicPr>
          <p:cNvPr id="248" name="Google Shape;24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47891" y="4346255"/>
            <a:ext cx="5473271" cy="18022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Reciprocity Distribution	</a:t>
            </a:r>
            <a:endParaRPr/>
          </a:p>
        </p:txBody>
      </p:sp>
      <p:sp>
        <p:nvSpPr>
          <p:cNvPr id="254" name="Google Shape;254;p36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27% of mutual dyads are reciprocal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58% partially reciprocal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14% non-reciprocal</a:t>
            </a:r>
            <a:endParaRPr sz="2400"/>
          </a:p>
        </p:txBody>
      </p:sp>
      <p:pic>
        <p:nvPicPr>
          <p:cNvPr id="255" name="Google Shape;255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24880" y="3220396"/>
            <a:ext cx="3899596" cy="30180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pic>
        <p:nvPicPr>
          <p:cNvPr id="261" name="Google Shape;261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78263" y="3182863"/>
            <a:ext cx="5153025" cy="3476625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37"/>
          <p:cNvSpPr txBox="1"/>
          <p:nvPr/>
        </p:nvSpPr>
        <p:spPr>
          <a:xfrm>
            <a:off x="693325" y="1838850"/>
            <a:ext cx="7898100" cy="12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Social Networks exhibit non-reciprocity because</a:t>
            </a:r>
            <a:endParaRPr sz="2400">
              <a:solidFill>
                <a:schemeClr val="dk1"/>
              </a:solidFill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lang="en" sz="2400">
                <a:solidFill>
                  <a:schemeClr val="dk1"/>
                </a:solidFill>
              </a:rPr>
              <a:t>not fully degree assortative</a:t>
            </a:r>
            <a:endParaRPr sz="2400">
              <a:solidFill>
                <a:schemeClr val="dk1"/>
              </a:solidFill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lang="en" sz="2400">
                <a:solidFill>
                  <a:schemeClr val="dk1"/>
                </a:solidFill>
              </a:rPr>
              <a:t>unequal dispersion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ustom">
  <a:themeElements>
    <a:clrScheme name="Custom 218">
      <a:dk1>
        <a:srgbClr val="000000"/>
      </a:dk1>
      <a:lt1>
        <a:srgbClr val="FFFFFF"/>
      </a:lt1>
      <a:dk2>
        <a:srgbClr val="5B595A"/>
      </a:dk2>
      <a:lt2>
        <a:srgbClr val="CFD4D4"/>
      </a:lt2>
      <a:accent1>
        <a:srgbClr val="CC0202"/>
      </a:accent1>
      <a:accent2>
        <a:srgbClr val="228AFF"/>
      </a:accent2>
      <a:accent3>
        <a:srgbClr val="FBC82F"/>
      </a:accent3>
      <a:accent4>
        <a:srgbClr val="253E91"/>
      </a:accent4>
      <a:accent5>
        <a:srgbClr val="F68D0C"/>
      </a:accent5>
      <a:accent6>
        <a:srgbClr val="257E12"/>
      </a:accent6>
      <a:hlink>
        <a:srgbClr val="144C72"/>
      </a:hlink>
      <a:folHlink>
        <a:srgbClr val="8C9D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