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Economica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79C15C-FDD7-4233-ACD8-12F4BD88DF27}">
  <a:tblStyle styleId="{F379C15C-FDD7-4233-ACD8-12F4BD88DF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Economic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Economica-italic.fntdata"/><Relationship Id="rId12" Type="http://schemas.openxmlformats.org/officeDocument/2006/relationships/slide" Target="slides/slide7.xml"/><Relationship Id="rId34" Type="http://schemas.openxmlformats.org/officeDocument/2006/relationships/font" Target="fonts/Economica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Economica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77e2396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77e2396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77e2396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77e2396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77e2396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77e2396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77e2396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77e2396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77e2396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77e2396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77e2396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77e2396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77e239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77e239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77e2396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77e2396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77e2396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77e2396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77e2396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77e2396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77e2396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77e2396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77e2396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77e2396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77e2396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77e2396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77e2396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777e2396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77e2396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77e2396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77e2396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77e2396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77e2396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77e2396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77e2396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77e2396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77e2396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77e2396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77e2396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77e2396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77e2396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77e2396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77e2396b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77e2396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77e2396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77e2396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77e2396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77e2396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77e2396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77e2396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777e2396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777e2396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strangers meet; what are the odds that they would have an acquaintance in common?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about being two (3, 4, 5, .... k) steps away from one another? (Pool and Kochen 1978)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Infinitesimally small if connections formed at random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Especially given the order of the underlying (world) graph: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7,609,397,962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that small in real world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Does it characterize other (non-social) networks?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does the SW property arise?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given (large-scale) network is a "small world"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the graph (N) is </a:t>
            </a:r>
            <a:r>
              <a:rPr b="1" lang="en"/>
              <a:t>large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is </a:t>
            </a:r>
            <a:r>
              <a:rPr b="1" lang="en"/>
              <a:t>sparse</a:t>
            </a:r>
            <a:r>
              <a:rPr lang="en"/>
              <a:t> (any node is on average connected to only a relatively small number of other nodes 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 ~ 10</a:t>
            </a:r>
            <a:r>
              <a:rPr baseline="30000" lang="en"/>
              <a:t>2 </a:t>
            </a:r>
            <a:r>
              <a:rPr lang="en"/>
              <a:t>in human social networks (Pool and Kochen 1978)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is </a:t>
            </a:r>
            <a:r>
              <a:rPr b="1" lang="en"/>
              <a:t>decentralized</a:t>
            </a:r>
            <a:r>
              <a:rPr lang="en"/>
              <a:t> (max degree is much smaller than the order of the graph </a:t>
            </a:r>
            <a:r>
              <a:rPr i="1" lang="en"/>
              <a:t>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exhibits </a:t>
            </a:r>
            <a:r>
              <a:rPr b="1" lang="en"/>
              <a:t>clustering</a:t>
            </a:r>
            <a:r>
              <a:rPr lang="en"/>
              <a:t> (friends of friends tend to be friends)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553555562_9eac4fa7d4_b.jpg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degree: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big is the typical person’s social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150?   300?   600?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people can the average person reach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2 hops:    k</a:t>
            </a:r>
            <a:r>
              <a:rPr baseline="30000" lang="en"/>
              <a:t>2	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3 hops:    k</a:t>
            </a:r>
            <a:r>
              <a:rPr baseline="30000" lang="en"/>
              <a:t>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l  hops:    k</a:t>
            </a:r>
            <a:r>
              <a:rPr baseline="30000" lang="en"/>
              <a:t>l</a:t>
            </a:r>
            <a:endParaRPr/>
          </a:p>
        </p:txBody>
      </p:sp>
      <p:pic>
        <p:nvPicPr>
          <p:cNvPr descr="2553555562_9eac4fa7d4_b.jpg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k is large, for small values of l the number of others a person can reach is very large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Ex,  k= 400, k</a:t>
            </a:r>
            <a:r>
              <a:rPr baseline="30000" lang="en"/>
              <a:t>2</a:t>
            </a:r>
            <a:r>
              <a:rPr lang="en"/>
              <a:t>=160,000, k</a:t>
            </a:r>
            <a:r>
              <a:rPr baseline="30000" lang="en"/>
              <a:t>3 </a:t>
            </a:r>
            <a:r>
              <a:rPr lang="en"/>
              <a:t>= 64,000,000, k</a:t>
            </a:r>
            <a:r>
              <a:rPr baseline="30000" lang="en"/>
              <a:t>4</a:t>
            </a:r>
            <a:r>
              <a:rPr lang="en"/>
              <a:t> = 25,600,000,000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Growth mechanism:  random 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is a random network a social network?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distribution is normal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clustering  (few triangles)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553555562_9eac4fa7d4_b.jpg"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1487750"/>
            <a:ext cx="3233098" cy="282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 study by Travers and Milgram (1969)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75" y="1225225"/>
            <a:ext cx="2440524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64 completed chains (29%)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Mean path length: 5.2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8717"/>
          <a:stretch/>
        </p:blipFill>
        <p:spPr>
          <a:xfrm>
            <a:off x="5497150" y="1562837"/>
            <a:ext cx="3335149" cy="26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25225"/>
            <a:ext cx="529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 (Boston stockbroker)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296 participants ("starting persons")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196 from Nebraska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100 Stockbrokers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96 Random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100 from Boston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217 forwarded packet so get to target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453 Intermediaries enlisted by the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232 incomplete chains (71%)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path length: 2.6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8298" r="9384" t="0"/>
          <a:stretch/>
        </p:blipFill>
        <p:spPr>
          <a:xfrm>
            <a:off x="5397350" y="1469400"/>
            <a:ext cx="3434949" cy="286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25225"/>
            <a:ext cx="559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 of the 64 completed chains 26 people made the final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16 (25%) reached the target via a single neighbor: "Mr. G."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accounted for 10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for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top three account for 48% of completions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86% of “starters” sent the letter to friends and acquaintances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14% send it to relatives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age, gender, SES homophily in Intermediary choice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21"/>
          <p:cNvGrpSpPr/>
          <p:nvPr/>
        </p:nvGrpSpPr>
        <p:grpSpPr>
          <a:xfrm>
            <a:off x="5906704" y="1225215"/>
            <a:ext cx="2609404" cy="3435684"/>
            <a:chOff x="4963250" y="1775572"/>
            <a:chExt cx="3496454" cy="4805152"/>
          </a:xfrm>
        </p:grpSpPr>
        <p:pic>
          <p:nvPicPr>
            <p:cNvPr id="119" name="Google Shape;11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3250" y="1775572"/>
              <a:ext cx="3496454" cy="4805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1"/>
            <p:cNvSpPr/>
            <p:nvPr/>
          </p:nvSpPr>
          <p:spPr>
            <a:xfrm>
              <a:off x="6578075" y="24055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511800" y="3458925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511800" y="42061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Internet based social experiment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18 target persons from 13 countries randomly allocated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98,847 participants registered, 25% initiated a chain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61,168 total participants from 166 countries (including intermediaries)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than half from North America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Middle Class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Professional, College Educated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Largely Christian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preference for: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as role relations (rather than kin or co-workers)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embedded in work and school affiliations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Ties of Intermediate strength (closeness)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Same-gender ties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22522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lang="en"/>
              <a:t>effective</a:t>
            </a:r>
            <a:r>
              <a:rPr lang="en"/>
              <a:t> chains more likely to feature: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Professional ties (in contrast to friend and kin) as role 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 or higher education ties as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Either causal or “not close” ties in terms of strength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this pattern?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575" y="2918725"/>
            <a:ext cx="5570849" cy="1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225225"/>
            <a:ext cx="8520600" cy="12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Dodds, Muhamad and Watts (2003) Replication of Milgram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Geographic proximity and similarity of occupation were the primary search heuristics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friends ("hub heuristic") almost never used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 declines and homophily increases in importance with chain length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00" y="2456125"/>
            <a:ext cx="5725601" cy="23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225225"/>
            <a:ext cx="29007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384 completed chains (out 24,163); Average (L): 4.05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Corrected for attrition the median chain length is between 5 and 7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5000" y="1517350"/>
            <a:ext cx="5467300" cy="298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differentiate between the two facets of the SW phenomenon as providing answers to two different empirical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SW1: Why should there exist short chains of acquaintances linking together arbitrary pairs of strangers?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Small World Problem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SW2: Given SW1, why should an agent be able to find short chains of acquaintances that links her to a random stranger?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Search Problem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problem: not all small world networks are searchable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Kleinberg (2000) showed that searchable SW structures exist for only a very limited range of random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much randomness and navigability is lost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differentiate between the two facets of the SW phenomenon as providing answers to two different empirical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SW1: Why should there exist short chains of acquaintances linking together arbitrary pairs of strangers?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Small World Problem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SW2: Given SW1, why should an agent be able to find short chains of acquaintances that links her to a random stranger?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</a:t>
            </a:r>
            <a:r>
              <a:rPr b="1" lang="en"/>
              <a:t>Search Problem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two issues are distinct because SW1 can hold without SW2 being true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 human social networks are both “small” and “searchable” different theories apply: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psychological/heuristics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graphicFrame>
        <p:nvGraphicFramePr>
          <p:cNvPr id="182" name="Google Shape;182;p30"/>
          <p:cNvGraphicFramePr/>
          <p:nvPr/>
        </p:nvGraphicFramePr>
        <p:xfrm>
          <a:off x="464950" y="1147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{F379C15C-FDD7-4233-ACD8-12F4BD88DF27}</a:tableStyleId>
              </a:tblPr>
              <a:tblGrid>
                <a:gridCol w="3351450"/>
                <a:gridCol w="1632725"/>
                <a:gridCol w="3229925"/>
              </a:tblGrid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SW1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SW2</a:t>
                      </a:r>
                      <a:endParaRPr b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96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Contagion/Spread/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Transmission/Diffusion (unguided)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Directed Search (guided)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Small World Structure 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(Big C plus Small L)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Structure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Searchable Network Structure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12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Agent-Level Representation of Whole Network Structure ("It's a small world!")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Cognition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Agent-Level Representation of Local Search Paths/Search Heuristics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real human social networks (seemingly) searchable?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Watts, Dodds and Newman (2002) propose a model in which organization around nested groups (communities) is key: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Individuals interpret the world as a set of (nested)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bottom out at a (cognitively) manageable group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cognitive level individuals have two kinds of (partial) information: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(group) distance (global but not equivalent to graph-theoretic distance)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agent knows the his own and his neighbor's (plus target's) position in the group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ignorant of social distance between herself and others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member i of a message chain forwards the message to the neighbor j who is closest to the target t in terms of social distance in the nested group hierarchy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real human social networks (seemingly) searchable?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Watts, Dodds and Newman (2002) propose a model in which organization around nested groups (communities) is key: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Individuals interpret the world as a set of (nested)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bottom out at a (cognitively) manageable group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on the search strategies used in natural contexts lead to a simple heuristic used to construct a path to a random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homophily on certain characteristics as a proxy for graph-theoretic distance between target and contact (proximity strategy)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useful heuristic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characteristics associated with connectivity (e.g. high status characteristics) to select a contact (hub strategy)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225225"/>
            <a:ext cx="85206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Killworth and Bernard's (1979) "Reversal Small World" Experiment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Useful for studying natural search strategies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 of multiple starters and one target participants are presented with a (long, more than a thousand) list of targets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target had a different mix of socio-demographic characteristics (gender, race, occupation, etc.)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are asked to name the contact that they would use as the first link in trying to reach that particular target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reported contact's gender, relationship to self, reason for selection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a kind of “search name generator”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225225"/>
            <a:ext cx="33813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choose from three main category of contacts: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Acquaintances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82% of contacts were non-kin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Males more likely to be chosen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by gender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300" y="1225225"/>
            <a:ext cx="2627098" cy="357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700" y="1678462"/>
            <a:ext cx="4404599" cy="266472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225225"/>
            <a:ext cx="3861900" cy="3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 displayed stronger same gender 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Were more also more likely to use acquaintances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Women more likely to rely on kin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Barabasi-Albert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Incoming vertices connect to existing with ones with p ~ k(i)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k(i) is i’s degree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Generates:  scale-free degree distribution (80-20, power distribution)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World, small diameter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  Hubs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But…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clustering coefficient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221" name="Google Shape;221;p36"/>
          <p:cNvPicPr preferRelativeResize="0"/>
          <p:nvPr/>
        </p:nvPicPr>
        <p:blipFill rotWithShape="1">
          <a:blip r:embed="rId3">
            <a:alphaModFix/>
          </a:blip>
          <a:srcRect b="0" l="17660" r="10521" t="0"/>
          <a:stretch/>
        </p:blipFill>
        <p:spPr>
          <a:xfrm>
            <a:off x="4403400" y="1225225"/>
            <a:ext cx="4139472" cy="324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Watts-Strogatz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</a:t>
            </a:r>
            <a:r>
              <a:rPr lang="en"/>
              <a:t> - randomness parameter (proportion of links that are allowed to be non-local)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(N, E)  N vertices, E edges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 = N. of neighbors assigned to each vertex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L(p) = Average path length between two vertices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C(p) = Average clustering coefficient</a:t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600" y="1845100"/>
            <a:ext cx="4213700" cy="20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225225"/>
            <a:ext cx="40917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Watts-Strogatz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Random rewiring --&gt; shortcuts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nonlinear effect on 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a linear effect on 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need a small fraction of short cuts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Range of p where L(p)  is small world like AND C(p) is large (like in real social networks)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Implications for diffusion</a:t>
            </a:r>
            <a:endParaRPr/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400" y="1388200"/>
            <a:ext cx="4418250" cy="291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225225"/>
            <a:ext cx="46449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generates a small world?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“Social Circles”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informal networks usually formed on the basis of some common interest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“Party rule”:  “Do you know X?”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Search for common friends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degree hubs within a circle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Overlapping via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bridges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hubs that are in multiple groups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600" y="1322275"/>
            <a:ext cx="37719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