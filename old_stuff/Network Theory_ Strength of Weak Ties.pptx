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</p:sldIdLst>
  <p:sldSz cy="5143500" cx="9144000"/>
  <p:notesSz cx="6858000" cy="9144000"/>
  <p:embeddedFontLst>
    <p:embeddedFont>
      <p:font typeface="Economica"/>
      <p:regular r:id="rId29"/>
      <p:bold r:id="rId30"/>
      <p:italic r:id="rId31"/>
      <p:boldItalic r:id="rId32"/>
    </p:embeddedFont>
    <p:embeddedFont>
      <p:font typeface="Open Sans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Economica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Economica-italic.fntdata"/><Relationship Id="rId30" Type="http://schemas.openxmlformats.org/officeDocument/2006/relationships/font" Target="fonts/Economica-bold.fntdata"/><Relationship Id="rId11" Type="http://schemas.openxmlformats.org/officeDocument/2006/relationships/slide" Target="slides/slide7.xml"/><Relationship Id="rId33" Type="http://schemas.openxmlformats.org/officeDocument/2006/relationships/font" Target="fonts/OpenSans-regular.fntdata"/><Relationship Id="rId10" Type="http://schemas.openxmlformats.org/officeDocument/2006/relationships/slide" Target="slides/slide6.xml"/><Relationship Id="rId32" Type="http://schemas.openxmlformats.org/officeDocument/2006/relationships/font" Target="fonts/Economica-boldItalic.fntdata"/><Relationship Id="rId13" Type="http://schemas.openxmlformats.org/officeDocument/2006/relationships/slide" Target="slides/slide9.xml"/><Relationship Id="rId35" Type="http://schemas.openxmlformats.org/officeDocument/2006/relationships/font" Target="fonts/OpenSans-italic.fntdata"/><Relationship Id="rId12" Type="http://schemas.openxmlformats.org/officeDocument/2006/relationships/slide" Target="slides/slide8.xml"/><Relationship Id="rId34" Type="http://schemas.openxmlformats.org/officeDocument/2006/relationships/font" Target="fonts/OpenSans-bold.fntdata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36" Type="http://schemas.openxmlformats.org/officeDocument/2006/relationships/font" Target="fonts/OpenSans-boldItalic.fnt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778e6a8d1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778e6a8d1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778e6a8d1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2778e6a8d1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2778e6a8d1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2778e6a8d1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778e6a8d1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778e6a8d1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778e6a8d1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2778e6a8d1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778e6a8d1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778e6a8d1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778e6a8d1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778e6a8d1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778e6a8d1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778e6a8d1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778e6a8d1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2778e6a8d1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778e6a8d1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2778e6a8d1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778e6a8d1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778e6a8d1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778e6a8d1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2778e6a8d1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79b0b9a8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279b0b9a8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79b0b9a87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279b0b9a87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279b0b9a87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279b0b9a87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79b0b9a87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79b0b9a87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279b0b9a87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279b0b9a87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79b0b9a87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279b0b9a87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79b0b9a87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279b0b9a87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279b0b9a87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279b0b9a87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279b0b9a87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279b0b9a87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279b0b9a87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279b0b9a87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279b0b9a87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279b0b9a87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gif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Strength</a:t>
            </a:r>
            <a:r>
              <a:rPr lang="en"/>
              <a:t> of Weak Ties</a:t>
            </a:r>
            <a:endParaRPr/>
          </a:p>
        </p:txBody>
      </p:sp>
      <p:sp>
        <p:nvSpPr>
          <p:cNvPr id="63" name="Google Shape;63;p13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Core elements of the theory</a:t>
            </a:r>
            <a:endParaRPr/>
          </a:p>
        </p:txBody>
      </p:sp>
      <p:sp>
        <p:nvSpPr>
          <p:cNvPr id="69" name="Google Shape;69;p14"/>
          <p:cNvSpPr txBox="1"/>
          <p:nvPr>
            <p:ph idx="1" type="body"/>
          </p:nvPr>
        </p:nvSpPr>
        <p:spPr>
          <a:xfrm>
            <a:off x="311700" y="1225225"/>
            <a:ext cx="4237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Acquaintances</a:t>
            </a:r>
            <a:r>
              <a:rPr lang="en"/>
              <a:t> less like to be connected to one another that close friends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graph theoretic terms: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subgraph of ego’s neighbors who are </a:t>
            </a:r>
            <a:r>
              <a:rPr b="1" lang="en"/>
              <a:t>strongly</a:t>
            </a:r>
            <a:r>
              <a:rPr lang="en"/>
              <a:t> tied to ego has </a:t>
            </a:r>
            <a:r>
              <a:rPr b="1" lang="en"/>
              <a:t>high</a:t>
            </a:r>
            <a:r>
              <a:rPr lang="en"/>
              <a:t> </a:t>
            </a:r>
            <a:r>
              <a:rPr b="1" lang="en"/>
              <a:t>density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subgraph of ego’s neighbors who are </a:t>
            </a:r>
            <a:r>
              <a:rPr b="1" lang="en"/>
              <a:t>weakly</a:t>
            </a:r>
            <a:r>
              <a:rPr lang="en"/>
              <a:t> tied to ego has </a:t>
            </a:r>
            <a:r>
              <a:rPr b="1" lang="en"/>
              <a:t>low</a:t>
            </a:r>
            <a:r>
              <a:rPr lang="en"/>
              <a:t> </a:t>
            </a:r>
            <a:r>
              <a:rPr b="1" lang="en"/>
              <a:t>density</a:t>
            </a:r>
            <a:endParaRPr b="1"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Fig%2525201Strong-Weak%252520ties-701724.jpg" id="70" name="Google Shape;7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49200" y="1294075"/>
            <a:ext cx="4283099" cy="3216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Core elements of the theory</a:t>
            </a:r>
            <a:endParaRPr/>
          </a:p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>
            <a:off x="311700" y="1225225"/>
            <a:ext cx="4237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Weak ties therefore function as </a:t>
            </a:r>
            <a:r>
              <a:rPr b="1" lang="en"/>
              <a:t>bridges</a:t>
            </a:r>
            <a:r>
              <a:rPr lang="en"/>
              <a:t> to parts of social structure to which ego wouldn’t otherwise have access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implies that: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Absent</a:t>
            </a:r>
            <a:r>
              <a:rPr lang="en"/>
              <a:t> weak ties will </a:t>
            </a:r>
            <a:r>
              <a:rPr b="1" lang="en"/>
              <a:t>not</a:t>
            </a:r>
            <a:r>
              <a:rPr lang="en"/>
              <a:t> have access to </a:t>
            </a:r>
            <a:r>
              <a:rPr b="1" lang="en"/>
              <a:t>distant</a:t>
            </a:r>
            <a:r>
              <a:rPr lang="en"/>
              <a:t> parts of the social system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Information will tend to be local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Lack</a:t>
            </a:r>
            <a:r>
              <a:rPr lang="en"/>
              <a:t> of weak ties may put ego at a </a:t>
            </a:r>
            <a:r>
              <a:rPr b="1" lang="en"/>
              <a:t>disadvantage</a:t>
            </a:r>
            <a:r>
              <a:rPr lang="en"/>
              <a:t> when </a:t>
            </a:r>
            <a:r>
              <a:rPr b="1" lang="en"/>
              <a:t>novel</a:t>
            </a:r>
            <a:r>
              <a:rPr lang="en"/>
              <a:t> information is </a:t>
            </a:r>
            <a:r>
              <a:rPr b="1" lang="en"/>
              <a:t>valuable</a:t>
            </a:r>
            <a:r>
              <a:rPr lang="en"/>
              <a:t> 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Fig%2525201Strong-Weak%252520ties-701724.jpg" id="77" name="Google Shape;7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49200" y="1294075"/>
            <a:ext cx="4283099" cy="3216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Core elements of the theory</a:t>
            </a:r>
            <a:endParaRPr/>
          </a:p>
        </p:txBody>
      </p:sp>
      <p:sp>
        <p:nvSpPr>
          <p:cNvPr id="83" name="Google Shape;83;p16"/>
          <p:cNvSpPr txBox="1"/>
          <p:nvPr>
            <p:ph idx="1" type="body"/>
          </p:nvPr>
        </p:nvSpPr>
        <p:spPr>
          <a:xfrm>
            <a:off x="311700" y="1225225"/>
            <a:ext cx="46242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At the level of the social system  absence of weak ties implies: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Fragmentation</a:t>
            </a:r>
            <a:r>
              <a:rPr lang="en"/>
              <a:t> into disconnected communities characterized by </a:t>
            </a:r>
            <a:r>
              <a:rPr b="1" lang="en"/>
              <a:t>strong tie clusters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Diffusion</a:t>
            </a:r>
            <a:r>
              <a:rPr lang="en"/>
              <a:t> of </a:t>
            </a:r>
            <a:r>
              <a:rPr b="1" lang="en"/>
              <a:t>new</a:t>
            </a:r>
            <a:r>
              <a:rPr lang="en"/>
              <a:t> ideas in such a system would be </a:t>
            </a:r>
            <a:r>
              <a:rPr b="1" lang="en"/>
              <a:t>difficult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Innovations remain trapped in local clusters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Collective</a:t>
            </a:r>
            <a:r>
              <a:rPr lang="en"/>
              <a:t> </a:t>
            </a:r>
            <a:r>
              <a:rPr b="1" lang="en"/>
              <a:t>action</a:t>
            </a:r>
            <a:r>
              <a:rPr lang="en"/>
              <a:t> and global </a:t>
            </a:r>
            <a:r>
              <a:rPr b="1" lang="en"/>
              <a:t>coordination</a:t>
            </a:r>
            <a:r>
              <a:rPr lang="en"/>
              <a:t> would be </a:t>
            </a:r>
            <a:r>
              <a:rPr b="1" lang="en"/>
              <a:t>difficult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Social divisions will be salient </a:t>
            </a:r>
            <a:endParaRPr/>
          </a:p>
        </p:txBody>
      </p:sp>
      <p:pic>
        <p:nvPicPr>
          <p:cNvPr descr="Strength-Weak-Ties.jpg" id="84" name="Google Shape;8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36050" y="1225225"/>
            <a:ext cx="3896240" cy="335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Core elements of the theory</a:t>
            </a:r>
            <a:endParaRPr/>
          </a:p>
        </p:txBody>
      </p:sp>
      <p:sp>
        <p:nvSpPr>
          <p:cNvPr id="90" name="Google Shape;90;p17"/>
          <p:cNvSpPr txBox="1"/>
          <p:nvPr>
            <p:ph idx="1" type="body"/>
          </p:nvPr>
        </p:nvSpPr>
        <p:spPr>
          <a:xfrm>
            <a:off x="311700" y="1225225"/>
            <a:ext cx="46242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Classical sociological theory presumed that weak ties bred alienation and disconnection from others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weak tie argument suggests that weak ties actually integrate people into wider social structures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Strong ties connect you similar others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Weak ties connect you to different others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Interacting with different others forces you to be flexible</a:t>
            </a:r>
            <a:endParaRPr/>
          </a:p>
        </p:txBody>
      </p:sp>
      <p:pic>
        <p:nvPicPr>
          <p:cNvPr descr="Strength-Weak-Ties.jpg" id="91" name="Google Shape;9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36050" y="1225225"/>
            <a:ext cx="3896240" cy="335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Application: Getting a job</a:t>
            </a:r>
            <a:endParaRPr/>
          </a:p>
        </p:txBody>
      </p:sp>
      <p:sp>
        <p:nvSpPr>
          <p:cNvPr id="97" name="Google Shape;97;p18"/>
          <p:cNvSpPr txBox="1"/>
          <p:nvPr>
            <p:ph idx="1" type="body"/>
          </p:nvPr>
        </p:nvSpPr>
        <p:spPr>
          <a:xfrm>
            <a:off x="311700" y="1225225"/>
            <a:ext cx="5259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If social mobility (e.g. finding new job opportunities) depends on (new) information access: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Then having weak ties will be correlated with mobility and other forms of success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Contacts with whom you are weakly connected will be more likely to know something you don’t know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Weak ties help you insofar as they connect you to others with access to both information and resources </a:t>
            </a:r>
            <a:endParaRPr/>
          </a:p>
        </p:txBody>
      </p:sp>
      <p:pic>
        <p:nvPicPr>
          <p:cNvPr descr="granov2.gif" id="98" name="Google Shape;9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50975" y="1225225"/>
            <a:ext cx="2981318" cy="3353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you measure tie </a:t>
            </a:r>
            <a:r>
              <a:rPr lang="en"/>
              <a:t>strength</a:t>
            </a:r>
            <a:r>
              <a:rPr lang="en"/>
              <a:t>?</a:t>
            </a:r>
            <a:endParaRPr/>
          </a:p>
        </p:txBody>
      </p:sp>
      <p:sp>
        <p:nvSpPr>
          <p:cNvPr id="104" name="Google Shape;104;p19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Multiple indicators have been suggested as (jointly?) making up the concept of tie strength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Time spent together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Relationship duration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Emotional intensity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Reciprocal exchanges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Intimacy and confiding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Which ones are the best indicators?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MIxes together frequency, sentiment, and exchange criteria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i="1" lang="en"/>
              <a:t>“</a:t>
            </a:r>
            <a:r>
              <a:rPr i="1" lang="en"/>
              <a:t>T</a:t>
            </a:r>
            <a:r>
              <a:rPr i="1" lang="en"/>
              <a:t>he strength of a tie is a (probably linear) combination of the amount of time, the emotional intensity, the intimacy (mutual confiding) and the reciprocal services which characterize the tie”</a:t>
            </a:r>
            <a:r>
              <a:rPr lang="en"/>
              <a:t> (Granovetter 1973:  1361)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you measure tie strength?</a:t>
            </a:r>
            <a:endParaRPr/>
          </a:p>
        </p:txBody>
      </p:sp>
      <p:sp>
        <p:nvSpPr>
          <p:cNvPr id="110" name="Google Shape;110;p20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Problems with previous approaches: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Some mix together role-relation and sentiment criteria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E.g. “Close Friends”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Some (even worse) </a:t>
            </a:r>
            <a:r>
              <a:rPr i="1" lang="en"/>
              <a:t>use</a:t>
            </a:r>
            <a:r>
              <a:rPr lang="en"/>
              <a:t> role-relations criteria to define tie strength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E.g. Kin and Friends are strong ties, acquaintances, co-workers, and neighbors are weak ties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Problem: You can be weakly connected some relatives and strongly connected to some co-workers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Others use purely frequency based criteria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Problem: You can be weakly connected to people you see frequently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Others use the number of kinds of relations connecting people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“Multiplex” ties are strong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But some multiplex relations can be weak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you measure tie strength?</a:t>
            </a:r>
            <a:endParaRPr/>
          </a:p>
        </p:txBody>
      </p:sp>
      <p:sp>
        <p:nvSpPr>
          <p:cNvPr id="116" name="Google Shape;116;p21"/>
          <p:cNvSpPr txBox="1"/>
          <p:nvPr>
            <p:ph idx="1" type="body"/>
          </p:nvPr>
        </p:nvSpPr>
        <p:spPr>
          <a:xfrm>
            <a:off x="311700" y="1225225"/>
            <a:ext cx="50097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Other approaches</a:t>
            </a:r>
            <a:r>
              <a:rPr lang="en"/>
              <a:t>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</a:pPr>
            <a:r>
              <a:rPr lang="en"/>
              <a:t>Duration of the </a:t>
            </a:r>
            <a:r>
              <a:rPr lang="en"/>
              <a:t>relationship</a:t>
            </a:r>
            <a:r>
              <a:rPr lang="en"/>
              <a:t>?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Provision and exchange of services and support?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Socio-demographic similarity?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Overlap in common memberships?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 we can imagine the weak/strong dimension cross-cutting all of these factors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Need to compare multiple indicators against suitable criteria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tie-strength-analysis-4-638.jpg" id="117" name="Google Shape;117;p21"/>
          <p:cNvPicPr preferRelativeResize="0"/>
          <p:nvPr/>
        </p:nvPicPr>
        <p:blipFill rotWithShape="1">
          <a:blip r:embed="rId3">
            <a:alphaModFix/>
          </a:blip>
          <a:srcRect b="15785" l="58125" r="0" t="16550"/>
          <a:stretch/>
        </p:blipFill>
        <p:spPr>
          <a:xfrm>
            <a:off x="5472675" y="1225225"/>
            <a:ext cx="2764511" cy="335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you measure tie strength?</a:t>
            </a:r>
            <a:endParaRPr/>
          </a:p>
        </p:txBody>
      </p:sp>
      <p:sp>
        <p:nvSpPr>
          <p:cNvPr id="123" name="Google Shape;123;p22"/>
          <p:cNvSpPr txBox="1"/>
          <p:nvPr>
            <p:ph idx="1" type="body"/>
          </p:nvPr>
        </p:nvSpPr>
        <p:spPr>
          <a:xfrm>
            <a:off x="311700" y="1225225"/>
            <a:ext cx="50097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One approach: 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Distinguish between </a:t>
            </a:r>
            <a:r>
              <a:rPr b="1" lang="en"/>
              <a:t>indicators</a:t>
            </a:r>
            <a:r>
              <a:rPr lang="en"/>
              <a:t> of tie strength and </a:t>
            </a:r>
            <a:r>
              <a:rPr b="1" lang="en"/>
              <a:t>predictors</a:t>
            </a:r>
            <a:r>
              <a:rPr lang="en"/>
              <a:t> of tie strength 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Indicators: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Closeness/Intimacy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Frequency of Interaction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Duration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Exchange/Support/Discussion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Predictors: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Role relations (Friend, Co-worker)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Common memberships/Foci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Social similarity</a:t>
            </a:r>
            <a:endParaRPr/>
          </a:p>
        </p:txBody>
      </p:sp>
      <p:grpSp>
        <p:nvGrpSpPr>
          <p:cNvPr id="124" name="Google Shape;124;p22"/>
          <p:cNvGrpSpPr/>
          <p:nvPr/>
        </p:nvGrpSpPr>
        <p:grpSpPr>
          <a:xfrm>
            <a:off x="6381450" y="1139175"/>
            <a:ext cx="1769826" cy="3526100"/>
            <a:chOff x="6452675" y="1299625"/>
            <a:chExt cx="1769826" cy="3526100"/>
          </a:xfrm>
        </p:grpSpPr>
        <p:pic>
          <p:nvPicPr>
            <p:cNvPr descr="Fig-1-Alternative-measurement-models.png" id="125" name="Google Shape;125;p22"/>
            <p:cNvPicPr preferRelativeResize="0"/>
            <p:nvPr/>
          </p:nvPicPr>
          <p:blipFill rotWithShape="1">
            <a:blip r:embed="rId3">
              <a:alphaModFix/>
            </a:blip>
            <a:srcRect b="0" l="0" r="49690" t="0"/>
            <a:stretch/>
          </p:blipFill>
          <p:spPr>
            <a:xfrm>
              <a:off x="6452675" y="1299625"/>
              <a:ext cx="1769825" cy="17630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Fig-1-Alternative-measurement-models.png" id="126" name="Google Shape;126;p22"/>
            <p:cNvPicPr preferRelativeResize="0"/>
            <p:nvPr/>
          </p:nvPicPr>
          <p:blipFill rotWithShape="1">
            <a:blip r:embed="rId3">
              <a:alphaModFix/>
            </a:blip>
            <a:srcRect b="0" l="49690" r="0" t="0"/>
            <a:stretch/>
          </p:blipFill>
          <p:spPr>
            <a:xfrm>
              <a:off x="6452675" y="3062675"/>
              <a:ext cx="1769825" cy="17630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you measure tie strength?</a:t>
            </a:r>
            <a:endParaRPr/>
          </a:p>
        </p:txBody>
      </p:sp>
      <p:sp>
        <p:nvSpPr>
          <p:cNvPr id="132" name="Google Shape;132;p23"/>
          <p:cNvSpPr txBox="1"/>
          <p:nvPr>
            <p:ph idx="1" type="body"/>
          </p:nvPr>
        </p:nvSpPr>
        <p:spPr>
          <a:xfrm>
            <a:off x="311700" y="1225225"/>
            <a:ext cx="50097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One approach: 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Distinguish between </a:t>
            </a:r>
            <a:r>
              <a:rPr b="1" lang="en"/>
              <a:t>indicators</a:t>
            </a:r>
            <a:r>
              <a:rPr lang="en"/>
              <a:t> of tie strength and </a:t>
            </a:r>
            <a:r>
              <a:rPr b="1" lang="en"/>
              <a:t>predictors</a:t>
            </a:r>
            <a:r>
              <a:rPr lang="en"/>
              <a:t> of tie strength 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From classic Marsden and Campbell Study: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Subjective </a:t>
            </a:r>
            <a:r>
              <a:rPr b="1" lang="en"/>
              <a:t>closeness</a:t>
            </a:r>
            <a:r>
              <a:rPr lang="en"/>
              <a:t> most reliable indicator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Frequency is confounded with other aspects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E.g. you see weak ties (neighbors, </a:t>
            </a:r>
            <a:r>
              <a:rPr lang="en"/>
              <a:t>coworkers</a:t>
            </a:r>
            <a:r>
              <a:rPr lang="en"/>
              <a:t> frequently)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E.g. You don’t see long running contacts frequently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Don’t want to use predictors as proxies</a:t>
            </a:r>
            <a:endParaRPr/>
          </a:p>
        </p:txBody>
      </p:sp>
      <p:grpSp>
        <p:nvGrpSpPr>
          <p:cNvPr id="133" name="Google Shape;133;p23"/>
          <p:cNvGrpSpPr/>
          <p:nvPr/>
        </p:nvGrpSpPr>
        <p:grpSpPr>
          <a:xfrm>
            <a:off x="6381450" y="1139175"/>
            <a:ext cx="1769826" cy="3526100"/>
            <a:chOff x="6452675" y="1299625"/>
            <a:chExt cx="1769826" cy="3526100"/>
          </a:xfrm>
        </p:grpSpPr>
        <p:pic>
          <p:nvPicPr>
            <p:cNvPr descr="Fig-1-Alternative-measurement-models.png" id="134" name="Google Shape;134;p23"/>
            <p:cNvPicPr preferRelativeResize="0"/>
            <p:nvPr/>
          </p:nvPicPr>
          <p:blipFill rotWithShape="1">
            <a:blip r:embed="rId3">
              <a:alphaModFix/>
            </a:blip>
            <a:srcRect b="0" l="0" r="49690" t="0"/>
            <a:stretch/>
          </p:blipFill>
          <p:spPr>
            <a:xfrm>
              <a:off x="6452675" y="1299625"/>
              <a:ext cx="1769825" cy="17630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Fig-1-Alternative-measurement-models.png" id="135" name="Google Shape;135;p23"/>
            <p:cNvPicPr preferRelativeResize="0"/>
            <p:nvPr/>
          </p:nvPicPr>
          <p:blipFill rotWithShape="1">
            <a:blip r:embed="rId3">
              <a:alphaModFix/>
            </a:blip>
            <a:srcRect b="0" l="49690" r="0" t="0"/>
            <a:stretch/>
          </p:blipFill>
          <p:spPr>
            <a:xfrm>
              <a:off x="6452675" y="3062675"/>
              <a:ext cx="1769825" cy="17630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you measure tie strength?</a:t>
            </a:r>
            <a:endParaRPr/>
          </a:p>
        </p:txBody>
      </p:sp>
      <p:sp>
        <p:nvSpPr>
          <p:cNvPr id="141" name="Google Shape;141;p24"/>
          <p:cNvSpPr txBox="1"/>
          <p:nvPr>
            <p:ph idx="1" type="body"/>
          </p:nvPr>
        </p:nvSpPr>
        <p:spPr>
          <a:xfrm>
            <a:off x="311700" y="1225225"/>
            <a:ext cx="50097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One approach: 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Distinguish between </a:t>
            </a:r>
            <a:r>
              <a:rPr b="1" lang="en"/>
              <a:t>indicators</a:t>
            </a:r>
            <a:r>
              <a:rPr lang="en"/>
              <a:t> of tie strength and </a:t>
            </a:r>
            <a:r>
              <a:rPr b="1" lang="en"/>
              <a:t>predictors</a:t>
            </a:r>
            <a:r>
              <a:rPr lang="en"/>
              <a:t> of tie strength 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From classic Marsden and Campbell Study: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May want to use multiple measures of intensity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Confiding and exchange indicators not necessarily a measure of strength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Consistent with Small (2013)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Duration and frequency are </a:t>
            </a:r>
            <a:r>
              <a:rPr lang="en"/>
              <a:t>confounded</a:t>
            </a:r>
            <a:r>
              <a:rPr lang="en"/>
              <a:t> by role-relations and foci</a:t>
            </a:r>
            <a:endParaRPr/>
          </a:p>
        </p:txBody>
      </p:sp>
      <p:grpSp>
        <p:nvGrpSpPr>
          <p:cNvPr id="142" name="Google Shape;142;p24"/>
          <p:cNvGrpSpPr/>
          <p:nvPr/>
        </p:nvGrpSpPr>
        <p:grpSpPr>
          <a:xfrm>
            <a:off x="6381450" y="1139175"/>
            <a:ext cx="1769826" cy="3526100"/>
            <a:chOff x="6452675" y="1299625"/>
            <a:chExt cx="1769826" cy="3526100"/>
          </a:xfrm>
        </p:grpSpPr>
        <p:pic>
          <p:nvPicPr>
            <p:cNvPr descr="Fig-1-Alternative-measurement-models.png" id="143" name="Google Shape;143;p24"/>
            <p:cNvPicPr preferRelativeResize="0"/>
            <p:nvPr/>
          </p:nvPicPr>
          <p:blipFill rotWithShape="1">
            <a:blip r:embed="rId3">
              <a:alphaModFix/>
            </a:blip>
            <a:srcRect b="0" l="0" r="49690" t="0"/>
            <a:stretch/>
          </p:blipFill>
          <p:spPr>
            <a:xfrm>
              <a:off x="6452675" y="1299625"/>
              <a:ext cx="1769825" cy="17630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Fig-1-Alternative-measurement-models.png" id="144" name="Google Shape;144;p24"/>
            <p:cNvPicPr preferRelativeResize="0"/>
            <p:nvPr/>
          </p:nvPicPr>
          <p:blipFill rotWithShape="1">
            <a:blip r:embed="rId3">
              <a:alphaModFix/>
            </a:blip>
            <a:srcRect b="0" l="49690" r="0" t="0"/>
            <a:stretch/>
          </p:blipFill>
          <p:spPr>
            <a:xfrm>
              <a:off x="6452675" y="3062675"/>
              <a:ext cx="1769825" cy="17630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you measure tie strength?</a:t>
            </a:r>
            <a:endParaRPr/>
          </a:p>
        </p:txBody>
      </p:sp>
      <p:sp>
        <p:nvSpPr>
          <p:cNvPr id="150" name="Google Shape;150;p25"/>
          <p:cNvSpPr txBox="1"/>
          <p:nvPr>
            <p:ph idx="1" type="body"/>
          </p:nvPr>
        </p:nvSpPr>
        <p:spPr>
          <a:xfrm>
            <a:off x="311700" y="1225225"/>
            <a:ext cx="50097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Outstanding issues: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Is tie strength a </a:t>
            </a:r>
            <a:r>
              <a:rPr lang="en"/>
              <a:t>unidimensional</a:t>
            </a:r>
            <a:r>
              <a:rPr lang="en"/>
              <a:t> or </a:t>
            </a:r>
            <a:r>
              <a:rPr lang="en"/>
              <a:t>multidimensional</a:t>
            </a:r>
            <a:r>
              <a:rPr lang="en"/>
              <a:t> construct?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Do we need to pay attention to the temporal or sequential evolution of tie-strength?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Is reciprocity (matching in the strength of </a:t>
            </a:r>
            <a:r>
              <a:rPr b="1" lang="en"/>
              <a:t>directed</a:t>
            </a:r>
            <a:r>
              <a:rPr lang="en"/>
              <a:t> ties) an inherent component of strength?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Can ties be strong but “dormant”?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Is “robustness” (e.g. resistance to change or decay) an inherent component of strength?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Are “behavioral” measures capable of capturing the strength concept? </a:t>
            </a:r>
            <a:endParaRPr/>
          </a:p>
        </p:txBody>
      </p:sp>
      <p:grpSp>
        <p:nvGrpSpPr>
          <p:cNvPr id="151" name="Google Shape;151;p25"/>
          <p:cNvGrpSpPr/>
          <p:nvPr/>
        </p:nvGrpSpPr>
        <p:grpSpPr>
          <a:xfrm>
            <a:off x="6381450" y="1139175"/>
            <a:ext cx="1769826" cy="3526100"/>
            <a:chOff x="6452675" y="1299625"/>
            <a:chExt cx="1769826" cy="3526100"/>
          </a:xfrm>
        </p:grpSpPr>
        <p:pic>
          <p:nvPicPr>
            <p:cNvPr descr="Fig-1-Alternative-measurement-models.png" id="152" name="Google Shape;152;p25"/>
            <p:cNvPicPr preferRelativeResize="0"/>
            <p:nvPr/>
          </p:nvPicPr>
          <p:blipFill rotWithShape="1">
            <a:blip r:embed="rId3">
              <a:alphaModFix/>
            </a:blip>
            <a:srcRect b="0" l="0" r="49690" t="0"/>
            <a:stretch/>
          </p:blipFill>
          <p:spPr>
            <a:xfrm>
              <a:off x="6452675" y="1299625"/>
              <a:ext cx="1769825" cy="17630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Fig-1-Alternative-measurement-models.png" id="153" name="Google Shape;153;p25"/>
            <p:cNvPicPr preferRelativeResize="0"/>
            <p:nvPr/>
          </p:nvPicPr>
          <p:blipFill rotWithShape="1">
            <a:blip r:embed="rId3">
              <a:alphaModFix/>
            </a:blip>
            <a:srcRect b="0" l="49690" r="0" t="0"/>
            <a:stretch/>
          </p:blipFill>
          <p:spPr>
            <a:xfrm>
              <a:off x="6452675" y="3062675"/>
              <a:ext cx="1769825" cy="17630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Diversity-bandwidth tradeoff</a:t>
            </a:r>
            <a:endParaRPr/>
          </a:p>
        </p:txBody>
      </p:sp>
      <p:sp>
        <p:nvSpPr>
          <p:cNvPr id="159" name="Google Shape;159;p26"/>
          <p:cNvSpPr txBox="1"/>
          <p:nvPr>
            <p:ph idx="1" type="body"/>
          </p:nvPr>
        </p:nvSpPr>
        <p:spPr>
          <a:xfrm>
            <a:off x="311700" y="1225225"/>
            <a:ext cx="4312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Original Granovetter argument conceives of the properties of ties (e.g. strength) in largely static terms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Yet information transmission/access are events that happen in time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original SWT argument: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Weak ties: Novel information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Strong ties: Old/redundant information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Screenshot 2017-10-03 at 08.23.36.png" id="160" name="Google Shape;160;p26"/>
          <p:cNvPicPr preferRelativeResize="0"/>
          <p:nvPr/>
        </p:nvPicPr>
        <p:blipFill rotWithShape="1">
          <a:blip r:embed="rId3">
            <a:alphaModFix/>
          </a:blip>
          <a:srcRect b="0" l="5449" r="3109" t="0"/>
          <a:stretch/>
        </p:blipFill>
        <p:spPr>
          <a:xfrm>
            <a:off x="4624200" y="1754113"/>
            <a:ext cx="4208099" cy="22962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Diversity-bandwidth tradeoff</a:t>
            </a:r>
            <a:endParaRPr/>
          </a:p>
        </p:txBody>
      </p:sp>
      <p:sp>
        <p:nvSpPr>
          <p:cNvPr id="166" name="Google Shape;166;p27"/>
          <p:cNvSpPr txBox="1"/>
          <p:nvPr>
            <p:ph idx="1" type="body"/>
          </p:nvPr>
        </p:nvSpPr>
        <p:spPr>
          <a:xfrm>
            <a:off x="311700" y="1225225"/>
            <a:ext cx="4312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When taking into account temporal flow: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“Weak” ties: Information transmission at slower rates (less frequency)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“Strong” ties: Information transmission at higher rates (more frequency)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seeking information via social networks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There is a tradeoff between novelty/diversity of information and tie “bandwidth”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Screenshot 2017-10-03 at 08.23.36.png" id="167" name="Google Shape;167;p27"/>
          <p:cNvPicPr preferRelativeResize="0"/>
          <p:nvPr/>
        </p:nvPicPr>
        <p:blipFill rotWithShape="1">
          <a:blip r:embed="rId3">
            <a:alphaModFix/>
          </a:blip>
          <a:srcRect b="0" l="5449" r="3109" t="0"/>
          <a:stretch/>
        </p:blipFill>
        <p:spPr>
          <a:xfrm>
            <a:off x="4624200" y="1754113"/>
            <a:ext cx="4208099" cy="22962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Diversity-bandwidth tradeoff</a:t>
            </a:r>
            <a:endParaRPr/>
          </a:p>
        </p:txBody>
      </p:sp>
      <p:sp>
        <p:nvSpPr>
          <p:cNvPr id="173" name="Google Shape;173;p28"/>
          <p:cNvSpPr txBox="1"/>
          <p:nvPr>
            <p:ph idx="1" type="body"/>
          </p:nvPr>
        </p:nvSpPr>
        <p:spPr>
          <a:xfrm>
            <a:off x="311700" y="1225225"/>
            <a:ext cx="4312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about information complexity?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Low </a:t>
            </a:r>
            <a:r>
              <a:rPr lang="en"/>
              <a:t>bandwidth</a:t>
            </a:r>
            <a:r>
              <a:rPr lang="en"/>
              <a:t> ties: Novel but “simple” information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E.g. job availability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But what about novel but complex information?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E.g. How to do network analysis in Python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that case higher bandwidth ties are better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Screenshot 2017-10-03 at 08.23.36.png" id="174" name="Google Shape;174;p28"/>
          <p:cNvPicPr preferRelativeResize="0"/>
          <p:nvPr/>
        </p:nvPicPr>
        <p:blipFill rotWithShape="1">
          <a:blip r:embed="rId3">
            <a:alphaModFix/>
          </a:blip>
          <a:srcRect b="0" l="5449" r="3109" t="0"/>
          <a:stretch/>
        </p:blipFill>
        <p:spPr>
          <a:xfrm>
            <a:off x="4624200" y="1754113"/>
            <a:ext cx="4208099" cy="22962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Diversity-bandwidth tradeoff</a:t>
            </a:r>
            <a:endParaRPr/>
          </a:p>
        </p:txBody>
      </p:sp>
      <p:sp>
        <p:nvSpPr>
          <p:cNvPr id="180" name="Google Shape;180;p29"/>
          <p:cNvSpPr txBox="1"/>
          <p:nvPr>
            <p:ph idx="1" type="body"/>
          </p:nvPr>
        </p:nvSpPr>
        <p:spPr>
          <a:xfrm>
            <a:off x="311700" y="1225225"/>
            <a:ext cx="4312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strength of high bandwidth ties: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More trust, intimacy, and cooperativeness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Better memory of who knows what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More effective at transferring complex, interdependent information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Creating new knowledge (e.g. bringing together rather than keeping apart)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Commonality of interests and experience (homophily) </a:t>
            </a:r>
            <a:endParaRPr/>
          </a:p>
        </p:txBody>
      </p:sp>
      <p:pic>
        <p:nvPicPr>
          <p:cNvPr descr="Screenshot 2017-10-03 at 08.23.36.png" id="181" name="Google Shape;181;p29"/>
          <p:cNvPicPr preferRelativeResize="0"/>
          <p:nvPr/>
        </p:nvPicPr>
        <p:blipFill rotWithShape="1">
          <a:blip r:embed="rId3">
            <a:alphaModFix/>
          </a:blip>
          <a:srcRect b="0" l="5449" r="3109" t="0"/>
          <a:stretch/>
        </p:blipFill>
        <p:spPr>
          <a:xfrm>
            <a:off x="4624200" y="1754113"/>
            <a:ext cx="4208099" cy="22962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Diversity-bandwidth tradeoff</a:t>
            </a:r>
            <a:endParaRPr/>
          </a:p>
        </p:txBody>
      </p:sp>
      <p:sp>
        <p:nvSpPr>
          <p:cNvPr id="187" name="Google Shape;187;p30"/>
          <p:cNvSpPr txBox="1"/>
          <p:nvPr>
            <p:ph idx="1" type="body"/>
          </p:nvPr>
        </p:nvSpPr>
        <p:spPr>
          <a:xfrm>
            <a:off x="311700" y="1225225"/>
            <a:ext cx="5005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In thinking about preferences between low and high bandwidth ties we must take into account properties of the information environment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Who knows what?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At what frequency is knowledge transmitted?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Low bandwidth works better when contacts are diverse in information </a:t>
            </a:r>
            <a:endParaRPr/>
          </a:p>
        </p:txBody>
      </p:sp>
      <p:pic>
        <p:nvPicPr>
          <p:cNvPr descr="Screenshot 2017-10-03 at 09.05.09.png" id="188" name="Google Shape;18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04275" y="1441963"/>
            <a:ext cx="3628025" cy="292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Diversity-bandwidth tradeoff</a:t>
            </a:r>
            <a:endParaRPr/>
          </a:p>
        </p:txBody>
      </p:sp>
      <p:sp>
        <p:nvSpPr>
          <p:cNvPr id="194" name="Google Shape;194;p31"/>
          <p:cNvSpPr txBox="1"/>
          <p:nvPr>
            <p:ph idx="1" type="body"/>
          </p:nvPr>
        </p:nvSpPr>
        <p:spPr>
          <a:xfrm>
            <a:off x="311700" y="1225225"/>
            <a:ext cx="5005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In thinking about preferences between low and high bandwidth ties we must take into account properties of the information environment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Who knows what?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At what frequency is knowledge transmitted?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Low bandwidth works better when contacts are diverse in information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However very low bandwidth ties lose their advantage even when connecting ego to informationally diverse contacts </a:t>
            </a:r>
            <a:endParaRPr/>
          </a:p>
        </p:txBody>
      </p:sp>
      <p:pic>
        <p:nvPicPr>
          <p:cNvPr descr="Screenshot 2017-10-03 at 09.07.44.png" id="195" name="Google Shape;19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7500" y="1457313"/>
            <a:ext cx="3521700" cy="28898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Diversity-bandwidth tradeoff</a:t>
            </a:r>
            <a:endParaRPr/>
          </a:p>
        </p:txBody>
      </p:sp>
      <p:sp>
        <p:nvSpPr>
          <p:cNvPr id="201" name="Google Shape;201;p32"/>
          <p:cNvSpPr txBox="1"/>
          <p:nvPr>
            <p:ph idx="1" type="body"/>
          </p:nvPr>
        </p:nvSpPr>
        <p:spPr>
          <a:xfrm>
            <a:off x="311700" y="1225225"/>
            <a:ext cx="5005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Advantage of low bandwidth ties is also compromised when: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There is even </a:t>
            </a:r>
            <a:r>
              <a:rPr b="1" lang="en"/>
              <a:t>minimal overlap</a:t>
            </a:r>
            <a:r>
              <a:rPr lang="en"/>
              <a:t> in information across contacts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information environment is </a:t>
            </a:r>
            <a:r>
              <a:rPr b="1" lang="en"/>
              <a:t>richer and more complex</a:t>
            </a:r>
            <a:endParaRPr b="1"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When who knows what </a:t>
            </a:r>
            <a:r>
              <a:rPr b="1" lang="en"/>
              <a:t>changes</a:t>
            </a:r>
            <a:r>
              <a:rPr lang="en"/>
              <a:t> </a:t>
            </a:r>
            <a:r>
              <a:rPr b="1" lang="en"/>
              <a:t>rapidly</a:t>
            </a:r>
            <a:r>
              <a:rPr lang="en"/>
              <a:t> over time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Low bandwidth ties are only </a:t>
            </a:r>
            <a:r>
              <a:rPr lang="en"/>
              <a:t>preferable</a:t>
            </a:r>
            <a:r>
              <a:rPr lang="en"/>
              <a:t> when: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Information is relatively </a:t>
            </a:r>
            <a:r>
              <a:rPr b="1" lang="en"/>
              <a:t>static</a:t>
            </a:r>
            <a:r>
              <a:rPr lang="en"/>
              <a:t> and there is high </a:t>
            </a:r>
            <a:r>
              <a:rPr b="1" lang="en"/>
              <a:t>diversity</a:t>
            </a:r>
            <a:r>
              <a:rPr lang="en"/>
              <a:t> in who knows what</a:t>
            </a:r>
            <a:endParaRPr/>
          </a:p>
        </p:txBody>
      </p:sp>
      <p:pic>
        <p:nvPicPr>
          <p:cNvPr descr="Screenshot 2017-10-03 at 09.13.36.png" id="202" name="Google Shape;202;p32"/>
          <p:cNvPicPr preferRelativeResize="0"/>
          <p:nvPr/>
        </p:nvPicPr>
        <p:blipFill rotWithShape="1">
          <a:blip r:embed="rId3">
            <a:alphaModFix/>
          </a:blip>
          <a:srcRect b="0" l="0" r="49354" t="0"/>
          <a:stretch/>
        </p:blipFill>
        <p:spPr>
          <a:xfrm>
            <a:off x="5201700" y="1225225"/>
            <a:ext cx="3630608" cy="3353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Diversity-bandwidth tradeoff</a:t>
            </a:r>
            <a:endParaRPr/>
          </a:p>
        </p:txBody>
      </p:sp>
      <p:sp>
        <p:nvSpPr>
          <p:cNvPr id="208" name="Google Shape;208;p33"/>
          <p:cNvSpPr txBox="1"/>
          <p:nvPr>
            <p:ph idx="1" type="body"/>
          </p:nvPr>
        </p:nvSpPr>
        <p:spPr>
          <a:xfrm>
            <a:off x="311700" y="1225225"/>
            <a:ext cx="5005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Advantage of low bandwidth ties is also compromised when: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There is even </a:t>
            </a:r>
            <a:r>
              <a:rPr b="1" lang="en"/>
              <a:t>minimal overlap</a:t>
            </a:r>
            <a:r>
              <a:rPr lang="en"/>
              <a:t> in information across contacts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information environment is </a:t>
            </a:r>
            <a:r>
              <a:rPr b="1" lang="en"/>
              <a:t>richer and more complex</a:t>
            </a:r>
            <a:endParaRPr b="1"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When who knows what </a:t>
            </a:r>
            <a:r>
              <a:rPr b="1" lang="en"/>
              <a:t>changes</a:t>
            </a:r>
            <a:r>
              <a:rPr lang="en"/>
              <a:t> </a:t>
            </a:r>
            <a:r>
              <a:rPr b="1" lang="en"/>
              <a:t>rapidly</a:t>
            </a:r>
            <a:r>
              <a:rPr lang="en"/>
              <a:t> over time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Low bandwidth ties are only preferable when: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Information is relatively </a:t>
            </a:r>
            <a:r>
              <a:rPr b="1" lang="en"/>
              <a:t>static</a:t>
            </a:r>
            <a:r>
              <a:rPr lang="en"/>
              <a:t> and there is high </a:t>
            </a:r>
            <a:r>
              <a:rPr b="1" lang="en"/>
              <a:t>diversity</a:t>
            </a:r>
            <a:r>
              <a:rPr lang="en"/>
              <a:t> in who knows what</a:t>
            </a:r>
            <a:endParaRPr/>
          </a:p>
        </p:txBody>
      </p:sp>
      <p:pic>
        <p:nvPicPr>
          <p:cNvPr descr="Screenshot 2017-10-03 at 09.13.36.png" id="209" name="Google Shape;209;p33"/>
          <p:cNvPicPr preferRelativeResize="0"/>
          <p:nvPr/>
        </p:nvPicPr>
        <p:blipFill rotWithShape="1">
          <a:blip r:embed="rId3">
            <a:alphaModFix/>
          </a:blip>
          <a:srcRect b="266" l="50838" r="0" t="-2588"/>
          <a:stretch/>
        </p:blipFill>
        <p:spPr>
          <a:xfrm>
            <a:off x="5307775" y="1186225"/>
            <a:ext cx="3524524" cy="3432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Diversity-bandwidth tradeoff</a:t>
            </a:r>
            <a:endParaRPr/>
          </a:p>
        </p:txBody>
      </p:sp>
      <p:sp>
        <p:nvSpPr>
          <p:cNvPr id="215" name="Google Shape;215;p34"/>
          <p:cNvSpPr txBox="1"/>
          <p:nvPr>
            <p:ph idx="1" type="body"/>
          </p:nvPr>
        </p:nvSpPr>
        <p:spPr>
          <a:xfrm>
            <a:off x="311700" y="1225225"/>
            <a:ext cx="5005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Advantage of low bandwidth ties is also compromised when: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There is even </a:t>
            </a:r>
            <a:r>
              <a:rPr b="1" lang="en"/>
              <a:t>minimal overlap</a:t>
            </a:r>
            <a:r>
              <a:rPr lang="en"/>
              <a:t> in information across contacts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information environment is </a:t>
            </a:r>
            <a:r>
              <a:rPr b="1" lang="en"/>
              <a:t>richer and more complex</a:t>
            </a:r>
            <a:endParaRPr b="1"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When who knows what </a:t>
            </a:r>
            <a:r>
              <a:rPr b="1" lang="en"/>
              <a:t>changes</a:t>
            </a:r>
            <a:r>
              <a:rPr lang="en"/>
              <a:t> </a:t>
            </a:r>
            <a:r>
              <a:rPr b="1" lang="en"/>
              <a:t>rapidly</a:t>
            </a:r>
            <a:r>
              <a:rPr lang="en"/>
              <a:t> over time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Low bandwidth ties are only preferable when: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Information is relatively </a:t>
            </a:r>
            <a:r>
              <a:rPr b="1" lang="en"/>
              <a:t>static</a:t>
            </a:r>
            <a:r>
              <a:rPr lang="en"/>
              <a:t> and there is high </a:t>
            </a:r>
            <a:r>
              <a:rPr b="1" lang="en"/>
              <a:t>diversity</a:t>
            </a:r>
            <a:r>
              <a:rPr lang="en"/>
              <a:t> in who knows what</a:t>
            </a:r>
            <a:endParaRPr/>
          </a:p>
        </p:txBody>
      </p:sp>
      <p:pic>
        <p:nvPicPr>
          <p:cNvPr descr="Screenshot 2017-10-03 at 09.16.42.png" id="216" name="Google Shape;216;p34"/>
          <p:cNvPicPr preferRelativeResize="0"/>
          <p:nvPr/>
        </p:nvPicPr>
        <p:blipFill rotWithShape="1">
          <a:blip r:embed="rId3">
            <a:alphaModFix/>
          </a:blip>
          <a:srcRect b="0" l="0" r="49776" t="0"/>
          <a:stretch/>
        </p:blipFill>
        <p:spPr>
          <a:xfrm>
            <a:off x="5317500" y="1267375"/>
            <a:ext cx="3459041" cy="3354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Diversity-bandwidth tradeoff</a:t>
            </a:r>
            <a:endParaRPr/>
          </a:p>
        </p:txBody>
      </p:sp>
      <p:sp>
        <p:nvSpPr>
          <p:cNvPr id="222" name="Google Shape;222;p35"/>
          <p:cNvSpPr txBox="1"/>
          <p:nvPr>
            <p:ph idx="1" type="body"/>
          </p:nvPr>
        </p:nvSpPr>
        <p:spPr>
          <a:xfrm>
            <a:off x="311700" y="1225225"/>
            <a:ext cx="5005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Advantage of low bandwidth ties is also compromised when: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There is even </a:t>
            </a:r>
            <a:r>
              <a:rPr b="1" lang="en"/>
              <a:t>minimal overlap</a:t>
            </a:r>
            <a:r>
              <a:rPr lang="en"/>
              <a:t> in information across contacts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information environment is </a:t>
            </a:r>
            <a:r>
              <a:rPr b="1" lang="en"/>
              <a:t>richer and more complex</a:t>
            </a:r>
            <a:endParaRPr b="1"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When who knows what </a:t>
            </a:r>
            <a:r>
              <a:rPr b="1" lang="en"/>
              <a:t>changes</a:t>
            </a:r>
            <a:r>
              <a:rPr lang="en"/>
              <a:t> </a:t>
            </a:r>
            <a:r>
              <a:rPr b="1" lang="en"/>
              <a:t>rapidly</a:t>
            </a:r>
            <a:r>
              <a:rPr lang="en"/>
              <a:t> over time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Low bandwidth ties are only preferable when: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Information is relatively </a:t>
            </a:r>
            <a:r>
              <a:rPr b="1" lang="en"/>
              <a:t>static</a:t>
            </a:r>
            <a:r>
              <a:rPr lang="en"/>
              <a:t> and there is high </a:t>
            </a:r>
            <a:r>
              <a:rPr b="1" lang="en"/>
              <a:t>diversity</a:t>
            </a:r>
            <a:r>
              <a:rPr lang="en"/>
              <a:t> in who knows what</a:t>
            </a:r>
            <a:endParaRPr/>
          </a:p>
        </p:txBody>
      </p:sp>
      <p:pic>
        <p:nvPicPr>
          <p:cNvPr descr="Screenshot 2017-10-03 at 09.16.42.png" id="223" name="Google Shape;223;p35"/>
          <p:cNvPicPr preferRelativeResize="0"/>
          <p:nvPr/>
        </p:nvPicPr>
        <p:blipFill rotWithShape="1">
          <a:blip r:embed="rId3">
            <a:alphaModFix/>
          </a:blip>
          <a:srcRect b="0" l="49907" r="0" t="0"/>
          <a:stretch/>
        </p:blipFill>
        <p:spPr>
          <a:xfrm>
            <a:off x="5260400" y="1225225"/>
            <a:ext cx="3450093" cy="3354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Diversity-bandwidth tradeoff</a:t>
            </a:r>
            <a:endParaRPr/>
          </a:p>
        </p:txBody>
      </p:sp>
      <p:sp>
        <p:nvSpPr>
          <p:cNvPr id="229" name="Google Shape;229;p3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Bandwidth tradeoff propositions (revision of SWT theory):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</a:t>
            </a:r>
            <a:r>
              <a:rPr lang="en"/>
              <a:t>hannel bandwidth is positively associated with receiving more diverse information and more total non redundant information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greater the information overlap among alters, the less valuable structural diversity will be in providing access to novel information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 The broader the topic space, the more valuable channel bandwidth will be in providing access to novel information.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higher the refresh rate, the more valuable channel bandwidth will be in providing access to novel information.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