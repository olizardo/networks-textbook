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Lst>
  <p:sldSz cy="5143500" cx="9144000"/>
  <p:notesSz cx="6858000" cy="9144000"/>
  <p:embeddedFontLst>
    <p:embeddedFont>
      <p:font typeface="Economica"/>
      <p:regular r:id="rId73"/>
      <p:bold r:id="rId74"/>
      <p:italic r:id="rId75"/>
      <p:boldItalic r:id="rId76"/>
    </p:embeddedFont>
    <p:embeddedFont>
      <p:font typeface="Comfortaa"/>
      <p:regular r:id="rId77"/>
      <p:bold r:id="rId78"/>
    </p:embeddedFont>
    <p:embeddedFont>
      <p:font typeface="Open Sans"/>
      <p:regular r:id="rId79"/>
      <p:bold r:id="rId80"/>
      <p:italic r:id="rId81"/>
      <p:boldItalic r:id="rId8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80" Type="http://schemas.openxmlformats.org/officeDocument/2006/relationships/font" Target="fonts/OpenSans-bold.fntdata"/><Relationship Id="rId82" Type="http://schemas.openxmlformats.org/officeDocument/2006/relationships/font" Target="fonts/OpenSans-boldItalic.fntdata"/><Relationship Id="rId81" Type="http://schemas.openxmlformats.org/officeDocument/2006/relationships/font" Target="fonts/OpenSans-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font" Target="fonts/Economica-regular.fntdata"/><Relationship Id="rId72" Type="http://schemas.openxmlformats.org/officeDocument/2006/relationships/slide" Target="slides/slide67.xml"/><Relationship Id="rId31" Type="http://schemas.openxmlformats.org/officeDocument/2006/relationships/slide" Target="slides/slide26.xml"/><Relationship Id="rId75" Type="http://schemas.openxmlformats.org/officeDocument/2006/relationships/font" Target="fonts/Economica-italic.fntdata"/><Relationship Id="rId30" Type="http://schemas.openxmlformats.org/officeDocument/2006/relationships/slide" Target="slides/slide25.xml"/><Relationship Id="rId74" Type="http://schemas.openxmlformats.org/officeDocument/2006/relationships/font" Target="fonts/Economica-bold.fntdata"/><Relationship Id="rId33" Type="http://schemas.openxmlformats.org/officeDocument/2006/relationships/slide" Target="slides/slide28.xml"/><Relationship Id="rId77" Type="http://schemas.openxmlformats.org/officeDocument/2006/relationships/font" Target="fonts/Comfortaa-regular.fntdata"/><Relationship Id="rId32" Type="http://schemas.openxmlformats.org/officeDocument/2006/relationships/slide" Target="slides/slide27.xml"/><Relationship Id="rId76" Type="http://schemas.openxmlformats.org/officeDocument/2006/relationships/font" Target="fonts/Economica-boldItalic.fntdata"/><Relationship Id="rId35" Type="http://schemas.openxmlformats.org/officeDocument/2006/relationships/slide" Target="slides/slide30.xml"/><Relationship Id="rId79" Type="http://schemas.openxmlformats.org/officeDocument/2006/relationships/font" Target="fonts/OpenSans-regular.fntdata"/><Relationship Id="rId34" Type="http://schemas.openxmlformats.org/officeDocument/2006/relationships/slide" Target="slides/slide29.xml"/><Relationship Id="rId78" Type="http://schemas.openxmlformats.org/officeDocument/2006/relationships/font" Target="fonts/Comfortaa-bold.fntdata"/><Relationship Id="rId71" Type="http://schemas.openxmlformats.org/officeDocument/2006/relationships/slide" Target="slides/slide66.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81394a575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81394a575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81394a5757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81394a5757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81394a5757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81394a5757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81394a5757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81394a5757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81394a5757_0_2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81394a5757_0_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81394a5757_0_10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81394a5757_0_10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81394a5757_0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81394a5757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81394a5757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81394a5757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81394a5757_0_2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81394a5757_0_2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81394a5757_0_2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81394a5757_0_2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81394a5757_0_3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81394a5757_0_3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81394a5757_0_4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81394a5757_0_4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81394a5757_0_4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81394a5757_0_4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81394a5757_0_5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81394a5757_0_5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81394a5757_0_6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0" name="Google Shape;410;g81394a5757_0_6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81394a5757_0_7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1" name="Google Shape;441;g81394a5757_0_7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81394a5757_0_6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2" name="Google Shape;472;g81394a5757_0_6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81394a5757_0_6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g81394a5757_0_6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g81394a5757_0_7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8" name="Google Shape;538;g81394a5757_0_7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g81394a5757_0_8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7" name="Google Shape;587;g81394a5757_0_8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g81394a5757_0_9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9" name="Google Shape;639;g81394a5757_0_9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81394a5757_0_9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1" name="Google Shape;691;g81394a5757_0_9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g81394a5757_0_10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3" name="Google Shape;743;g81394a5757_0_10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g4fdcf61a24_0_2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5" name="Google Shape;795;g4fdcf61a24_0_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g4fdcf61a24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1" name="Google Shape;801;g4fdcf61a24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 name="Shape 806"/>
        <p:cNvGrpSpPr/>
        <p:nvPr/>
      </p:nvGrpSpPr>
      <p:grpSpPr>
        <a:xfrm>
          <a:off x="0" y="0"/>
          <a:ext cx="0" cy="0"/>
          <a:chOff x="0" y="0"/>
          <a:chExt cx="0" cy="0"/>
        </a:xfrm>
      </p:grpSpPr>
      <p:sp>
        <p:nvSpPr>
          <p:cNvPr id="807" name="Google Shape;807;g81394a5757_0_1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8" name="Google Shape;808;g81394a5757_0_1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g81394a5757_0_1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5" name="Google Shape;815;g81394a5757_0_1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0" name="Shape 820"/>
        <p:cNvGrpSpPr/>
        <p:nvPr/>
      </p:nvGrpSpPr>
      <p:grpSpPr>
        <a:xfrm>
          <a:off x="0" y="0"/>
          <a:ext cx="0" cy="0"/>
          <a:chOff x="0" y="0"/>
          <a:chExt cx="0" cy="0"/>
        </a:xfrm>
      </p:grpSpPr>
      <p:sp>
        <p:nvSpPr>
          <p:cNvPr id="821" name="Google Shape;821;g4fdcf61a24_0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2" name="Google Shape;822;g4fdcf61a24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g51b5175ad7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0" name="Google Shape;840;g51b5175ad7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6" name="Shape 856"/>
        <p:cNvGrpSpPr/>
        <p:nvPr/>
      </p:nvGrpSpPr>
      <p:grpSpPr>
        <a:xfrm>
          <a:off x="0" y="0"/>
          <a:ext cx="0" cy="0"/>
          <a:chOff x="0" y="0"/>
          <a:chExt cx="0" cy="0"/>
        </a:xfrm>
      </p:grpSpPr>
      <p:sp>
        <p:nvSpPr>
          <p:cNvPr id="857" name="Google Shape;857;g51b5175ad7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8" name="Google Shape;858;g51b5175ad7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g81394a5757_0_1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5" name="Google Shape;865;g81394a5757_0_1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1" name="Shape 871"/>
        <p:cNvGrpSpPr/>
        <p:nvPr/>
      </p:nvGrpSpPr>
      <p:grpSpPr>
        <a:xfrm>
          <a:off x="0" y="0"/>
          <a:ext cx="0" cy="0"/>
          <a:chOff x="0" y="0"/>
          <a:chExt cx="0" cy="0"/>
        </a:xfrm>
      </p:grpSpPr>
      <p:sp>
        <p:nvSpPr>
          <p:cNvPr id="872" name="Google Shape;872;g4cf7775671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3" name="Google Shape;873;g4cf7775671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7" name="Shape 877"/>
        <p:cNvGrpSpPr/>
        <p:nvPr/>
      </p:nvGrpSpPr>
      <p:grpSpPr>
        <a:xfrm>
          <a:off x="0" y="0"/>
          <a:ext cx="0" cy="0"/>
          <a:chOff x="0" y="0"/>
          <a:chExt cx="0" cy="0"/>
        </a:xfrm>
      </p:grpSpPr>
      <p:sp>
        <p:nvSpPr>
          <p:cNvPr id="878" name="Google Shape;878;g51beee2f6f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9" name="Google Shape;879;g51beee2f6f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g4cf777567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5" name="Google Shape;885;g4cf777567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9" name="Shape 909"/>
        <p:cNvGrpSpPr/>
        <p:nvPr/>
      </p:nvGrpSpPr>
      <p:grpSpPr>
        <a:xfrm>
          <a:off x="0" y="0"/>
          <a:ext cx="0" cy="0"/>
          <a:chOff x="0" y="0"/>
          <a:chExt cx="0" cy="0"/>
        </a:xfrm>
      </p:grpSpPr>
      <p:sp>
        <p:nvSpPr>
          <p:cNvPr id="910" name="Google Shape;910;g81394a5757_0_12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1" name="Google Shape;911;g81394a5757_0_12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5" name="Shape 935"/>
        <p:cNvGrpSpPr/>
        <p:nvPr/>
      </p:nvGrpSpPr>
      <p:grpSpPr>
        <a:xfrm>
          <a:off x="0" y="0"/>
          <a:ext cx="0" cy="0"/>
          <a:chOff x="0" y="0"/>
          <a:chExt cx="0" cy="0"/>
        </a:xfrm>
      </p:grpSpPr>
      <p:sp>
        <p:nvSpPr>
          <p:cNvPr id="936" name="Google Shape;936;g4cf7775671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7" name="Google Shape;937;g4cf7775671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4" name="Shape 974"/>
        <p:cNvGrpSpPr/>
        <p:nvPr/>
      </p:nvGrpSpPr>
      <p:grpSpPr>
        <a:xfrm>
          <a:off x="0" y="0"/>
          <a:ext cx="0" cy="0"/>
          <a:chOff x="0" y="0"/>
          <a:chExt cx="0" cy="0"/>
        </a:xfrm>
      </p:grpSpPr>
      <p:sp>
        <p:nvSpPr>
          <p:cNvPr id="975" name="Google Shape;975;g81394a5757_0_12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6" name="Google Shape;976;g81394a5757_0_12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3" name="Shape 1013"/>
        <p:cNvGrpSpPr/>
        <p:nvPr/>
      </p:nvGrpSpPr>
      <p:grpSpPr>
        <a:xfrm>
          <a:off x="0" y="0"/>
          <a:ext cx="0" cy="0"/>
          <a:chOff x="0" y="0"/>
          <a:chExt cx="0" cy="0"/>
        </a:xfrm>
      </p:grpSpPr>
      <p:sp>
        <p:nvSpPr>
          <p:cNvPr id="1014" name="Google Shape;1014;g81394a5757_0_13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5" name="Google Shape;1015;g81394a5757_0_13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3" name="Shape 1053"/>
        <p:cNvGrpSpPr/>
        <p:nvPr/>
      </p:nvGrpSpPr>
      <p:grpSpPr>
        <a:xfrm>
          <a:off x="0" y="0"/>
          <a:ext cx="0" cy="0"/>
          <a:chOff x="0" y="0"/>
          <a:chExt cx="0" cy="0"/>
        </a:xfrm>
      </p:grpSpPr>
      <p:sp>
        <p:nvSpPr>
          <p:cNvPr id="1054" name="Google Shape;1054;g81394a5757_0_13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5" name="Google Shape;1055;g81394a5757_0_13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3" name="Shape 1093"/>
        <p:cNvGrpSpPr/>
        <p:nvPr/>
      </p:nvGrpSpPr>
      <p:grpSpPr>
        <a:xfrm>
          <a:off x="0" y="0"/>
          <a:ext cx="0" cy="0"/>
          <a:chOff x="0" y="0"/>
          <a:chExt cx="0" cy="0"/>
        </a:xfrm>
      </p:grpSpPr>
      <p:sp>
        <p:nvSpPr>
          <p:cNvPr id="1094" name="Google Shape;1094;g81394a5757_0_14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5" name="Google Shape;1095;g81394a5757_0_14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3" name="Shape 1133"/>
        <p:cNvGrpSpPr/>
        <p:nvPr/>
      </p:nvGrpSpPr>
      <p:grpSpPr>
        <a:xfrm>
          <a:off x="0" y="0"/>
          <a:ext cx="0" cy="0"/>
          <a:chOff x="0" y="0"/>
          <a:chExt cx="0" cy="0"/>
        </a:xfrm>
      </p:grpSpPr>
      <p:sp>
        <p:nvSpPr>
          <p:cNvPr id="1134" name="Google Shape;1134;g4cf7775671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5" name="Google Shape;1135;g4cf7775671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0" name="Shape 1140"/>
        <p:cNvGrpSpPr/>
        <p:nvPr/>
      </p:nvGrpSpPr>
      <p:grpSpPr>
        <a:xfrm>
          <a:off x="0" y="0"/>
          <a:ext cx="0" cy="0"/>
          <a:chOff x="0" y="0"/>
          <a:chExt cx="0" cy="0"/>
        </a:xfrm>
      </p:grpSpPr>
      <p:sp>
        <p:nvSpPr>
          <p:cNvPr id="1141" name="Google Shape;1141;g4cf7775671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2" name="Google Shape;1142;g4cf7775671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6" name="Shape 1146"/>
        <p:cNvGrpSpPr/>
        <p:nvPr/>
      </p:nvGrpSpPr>
      <p:grpSpPr>
        <a:xfrm>
          <a:off x="0" y="0"/>
          <a:ext cx="0" cy="0"/>
          <a:chOff x="0" y="0"/>
          <a:chExt cx="0" cy="0"/>
        </a:xfrm>
      </p:grpSpPr>
      <p:sp>
        <p:nvSpPr>
          <p:cNvPr id="1147" name="Google Shape;1147;g4cf7775671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8" name="Google Shape;1148;g4cf7775671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2" name="Shape 1172"/>
        <p:cNvGrpSpPr/>
        <p:nvPr/>
      </p:nvGrpSpPr>
      <p:grpSpPr>
        <a:xfrm>
          <a:off x="0" y="0"/>
          <a:ext cx="0" cy="0"/>
          <a:chOff x="0" y="0"/>
          <a:chExt cx="0" cy="0"/>
        </a:xfrm>
      </p:grpSpPr>
      <p:sp>
        <p:nvSpPr>
          <p:cNvPr id="1173" name="Google Shape;1173;g4cf7775671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4" name="Google Shape;1174;g4cf7775671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9" name="Shape 1179"/>
        <p:cNvGrpSpPr/>
        <p:nvPr/>
      </p:nvGrpSpPr>
      <p:grpSpPr>
        <a:xfrm>
          <a:off x="0" y="0"/>
          <a:ext cx="0" cy="0"/>
          <a:chOff x="0" y="0"/>
          <a:chExt cx="0" cy="0"/>
        </a:xfrm>
      </p:grpSpPr>
      <p:sp>
        <p:nvSpPr>
          <p:cNvPr id="1180" name="Google Shape;1180;g4cf7775671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1" name="Google Shape;1181;g4cf7775671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5" name="Shape 1185"/>
        <p:cNvGrpSpPr/>
        <p:nvPr/>
      </p:nvGrpSpPr>
      <p:grpSpPr>
        <a:xfrm>
          <a:off x="0" y="0"/>
          <a:ext cx="0" cy="0"/>
          <a:chOff x="0" y="0"/>
          <a:chExt cx="0" cy="0"/>
        </a:xfrm>
      </p:grpSpPr>
      <p:sp>
        <p:nvSpPr>
          <p:cNvPr id="1186" name="Google Shape;1186;g4fdcf61a24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7" name="Google Shape;1187;g4fdcf61a24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2" name="Shape 1192"/>
        <p:cNvGrpSpPr/>
        <p:nvPr/>
      </p:nvGrpSpPr>
      <p:grpSpPr>
        <a:xfrm>
          <a:off x="0" y="0"/>
          <a:ext cx="0" cy="0"/>
          <a:chOff x="0" y="0"/>
          <a:chExt cx="0" cy="0"/>
        </a:xfrm>
      </p:grpSpPr>
      <p:sp>
        <p:nvSpPr>
          <p:cNvPr id="1193" name="Google Shape;1193;g4fdcf61a24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4" name="Google Shape;1194;g4fdcf61a24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9" name="Shape 1199"/>
        <p:cNvGrpSpPr/>
        <p:nvPr/>
      </p:nvGrpSpPr>
      <p:grpSpPr>
        <a:xfrm>
          <a:off x="0" y="0"/>
          <a:ext cx="0" cy="0"/>
          <a:chOff x="0" y="0"/>
          <a:chExt cx="0" cy="0"/>
        </a:xfrm>
      </p:grpSpPr>
      <p:sp>
        <p:nvSpPr>
          <p:cNvPr id="1200" name="Google Shape;1200;g4cf7775671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1" name="Google Shape;1201;g4cf7775671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6" name="Shape 1206"/>
        <p:cNvGrpSpPr/>
        <p:nvPr/>
      </p:nvGrpSpPr>
      <p:grpSpPr>
        <a:xfrm>
          <a:off x="0" y="0"/>
          <a:ext cx="0" cy="0"/>
          <a:chOff x="0" y="0"/>
          <a:chExt cx="0" cy="0"/>
        </a:xfrm>
      </p:grpSpPr>
      <p:sp>
        <p:nvSpPr>
          <p:cNvPr id="1207" name="Google Shape;1207;g4fdcf61a24_0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8" name="Google Shape;1208;g4fdcf61a24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2" name="Shape 1212"/>
        <p:cNvGrpSpPr/>
        <p:nvPr/>
      </p:nvGrpSpPr>
      <p:grpSpPr>
        <a:xfrm>
          <a:off x="0" y="0"/>
          <a:ext cx="0" cy="0"/>
          <a:chOff x="0" y="0"/>
          <a:chExt cx="0" cy="0"/>
        </a:xfrm>
      </p:grpSpPr>
      <p:sp>
        <p:nvSpPr>
          <p:cNvPr id="1213" name="Google Shape;1213;g4fdcf61a24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4" name="Google Shape;1214;g4fdcf61a24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9" name="Shape 1219"/>
        <p:cNvGrpSpPr/>
        <p:nvPr/>
      </p:nvGrpSpPr>
      <p:grpSpPr>
        <a:xfrm>
          <a:off x="0" y="0"/>
          <a:ext cx="0" cy="0"/>
          <a:chOff x="0" y="0"/>
          <a:chExt cx="0" cy="0"/>
        </a:xfrm>
      </p:grpSpPr>
      <p:sp>
        <p:nvSpPr>
          <p:cNvPr id="1220" name="Google Shape;1220;g4fdcf61a24_0_1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1" name="Google Shape;1221;g4fdcf61a24_0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5" name="Shape 1225"/>
        <p:cNvGrpSpPr/>
        <p:nvPr/>
      </p:nvGrpSpPr>
      <p:grpSpPr>
        <a:xfrm>
          <a:off x="0" y="0"/>
          <a:ext cx="0" cy="0"/>
          <a:chOff x="0" y="0"/>
          <a:chExt cx="0" cy="0"/>
        </a:xfrm>
      </p:grpSpPr>
      <p:sp>
        <p:nvSpPr>
          <p:cNvPr id="1226" name="Google Shape;1226;g4fdcf61a24_0_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7" name="Google Shape;1227;g4fdcf61a24_0_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2" name="Shape 1232"/>
        <p:cNvGrpSpPr/>
        <p:nvPr/>
      </p:nvGrpSpPr>
      <p:grpSpPr>
        <a:xfrm>
          <a:off x="0" y="0"/>
          <a:ext cx="0" cy="0"/>
          <a:chOff x="0" y="0"/>
          <a:chExt cx="0" cy="0"/>
        </a:xfrm>
      </p:grpSpPr>
      <p:sp>
        <p:nvSpPr>
          <p:cNvPr id="1233" name="Google Shape;1233;g51beee2f6f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4" name="Google Shape;1234;g51beee2f6f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8" name="Shape 1238"/>
        <p:cNvGrpSpPr/>
        <p:nvPr/>
      </p:nvGrpSpPr>
      <p:grpSpPr>
        <a:xfrm>
          <a:off x="0" y="0"/>
          <a:ext cx="0" cy="0"/>
          <a:chOff x="0" y="0"/>
          <a:chExt cx="0" cy="0"/>
        </a:xfrm>
      </p:grpSpPr>
      <p:sp>
        <p:nvSpPr>
          <p:cNvPr id="1239" name="Google Shape;1239;g4cf7775671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0" name="Google Shape;1240;g4cf7775671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4" name="Shape 1254"/>
        <p:cNvGrpSpPr/>
        <p:nvPr/>
      </p:nvGrpSpPr>
      <p:grpSpPr>
        <a:xfrm>
          <a:off x="0" y="0"/>
          <a:ext cx="0" cy="0"/>
          <a:chOff x="0" y="0"/>
          <a:chExt cx="0" cy="0"/>
        </a:xfrm>
      </p:grpSpPr>
      <p:sp>
        <p:nvSpPr>
          <p:cNvPr id="1255" name="Google Shape;1255;g51b5175f54_2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6" name="Google Shape;1256;g51b5175f54_2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9" name="Shape 1269"/>
        <p:cNvGrpSpPr/>
        <p:nvPr/>
      </p:nvGrpSpPr>
      <p:grpSpPr>
        <a:xfrm>
          <a:off x="0" y="0"/>
          <a:ext cx="0" cy="0"/>
          <a:chOff x="0" y="0"/>
          <a:chExt cx="0" cy="0"/>
        </a:xfrm>
      </p:grpSpPr>
      <p:sp>
        <p:nvSpPr>
          <p:cNvPr id="1270" name="Google Shape;1270;g51b5175f54_2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1" name="Google Shape;1271;g51b5175f54_2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4" name="Shape 1284"/>
        <p:cNvGrpSpPr/>
        <p:nvPr/>
      </p:nvGrpSpPr>
      <p:grpSpPr>
        <a:xfrm>
          <a:off x="0" y="0"/>
          <a:ext cx="0" cy="0"/>
          <a:chOff x="0" y="0"/>
          <a:chExt cx="0" cy="0"/>
        </a:xfrm>
      </p:grpSpPr>
      <p:sp>
        <p:nvSpPr>
          <p:cNvPr id="1285" name="Google Shape;1285;g51b5175f54_2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6" name="Google Shape;1286;g51b5175f54_2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9" name="Shape 1299"/>
        <p:cNvGrpSpPr/>
        <p:nvPr/>
      </p:nvGrpSpPr>
      <p:grpSpPr>
        <a:xfrm>
          <a:off x="0" y="0"/>
          <a:ext cx="0" cy="0"/>
          <a:chOff x="0" y="0"/>
          <a:chExt cx="0" cy="0"/>
        </a:xfrm>
      </p:grpSpPr>
      <p:sp>
        <p:nvSpPr>
          <p:cNvPr id="1300" name="Google Shape;1300;g4cf7775671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1" name="Google Shape;1301;g4cf7775671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5" name="Shape 1305"/>
        <p:cNvGrpSpPr/>
        <p:nvPr/>
      </p:nvGrpSpPr>
      <p:grpSpPr>
        <a:xfrm>
          <a:off x="0" y="0"/>
          <a:ext cx="0" cy="0"/>
          <a:chOff x="0" y="0"/>
          <a:chExt cx="0" cy="0"/>
        </a:xfrm>
      </p:grpSpPr>
      <p:sp>
        <p:nvSpPr>
          <p:cNvPr id="1306" name="Google Shape;1306;g4cf7775671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7" name="Google Shape;1307;g4cf7775671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1" name="Shape 1311"/>
        <p:cNvGrpSpPr/>
        <p:nvPr/>
      </p:nvGrpSpPr>
      <p:grpSpPr>
        <a:xfrm>
          <a:off x="0" y="0"/>
          <a:ext cx="0" cy="0"/>
          <a:chOff x="0" y="0"/>
          <a:chExt cx="0" cy="0"/>
        </a:xfrm>
      </p:grpSpPr>
      <p:sp>
        <p:nvSpPr>
          <p:cNvPr id="1312" name="Google Shape;1312;g4fdcf61a24_0_1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3" name="Google Shape;1313;g4fdcf61a24_0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7" name="Shape 1317"/>
        <p:cNvGrpSpPr/>
        <p:nvPr/>
      </p:nvGrpSpPr>
      <p:grpSpPr>
        <a:xfrm>
          <a:off x="0" y="0"/>
          <a:ext cx="0" cy="0"/>
          <a:chOff x="0" y="0"/>
          <a:chExt cx="0" cy="0"/>
        </a:xfrm>
      </p:grpSpPr>
      <p:sp>
        <p:nvSpPr>
          <p:cNvPr id="1318" name="Google Shape;1318;g4cf7775671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9" name="Google Shape;1319;g4cf7775671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9" name="Shape 1329"/>
        <p:cNvGrpSpPr/>
        <p:nvPr/>
      </p:nvGrpSpPr>
      <p:grpSpPr>
        <a:xfrm>
          <a:off x="0" y="0"/>
          <a:ext cx="0" cy="0"/>
          <a:chOff x="0" y="0"/>
          <a:chExt cx="0" cy="0"/>
        </a:xfrm>
      </p:grpSpPr>
      <p:sp>
        <p:nvSpPr>
          <p:cNvPr id="1330" name="Google Shape;1330;g81394a5757_0_14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1" name="Google Shape;1331;g81394a5757_0_14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1" name="Shape 1341"/>
        <p:cNvGrpSpPr/>
        <p:nvPr/>
      </p:nvGrpSpPr>
      <p:grpSpPr>
        <a:xfrm>
          <a:off x="0" y="0"/>
          <a:ext cx="0" cy="0"/>
          <a:chOff x="0" y="0"/>
          <a:chExt cx="0" cy="0"/>
        </a:xfrm>
      </p:grpSpPr>
      <p:sp>
        <p:nvSpPr>
          <p:cNvPr id="1342" name="Google Shape;1342;g51b5175f5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3" name="Google Shape;1343;g51b5175f5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2" name="Shape 1362"/>
        <p:cNvGrpSpPr/>
        <p:nvPr/>
      </p:nvGrpSpPr>
      <p:grpSpPr>
        <a:xfrm>
          <a:off x="0" y="0"/>
          <a:ext cx="0" cy="0"/>
          <a:chOff x="0" y="0"/>
          <a:chExt cx="0" cy="0"/>
        </a:xfrm>
      </p:grpSpPr>
      <p:sp>
        <p:nvSpPr>
          <p:cNvPr id="1363" name="Google Shape;1363;g51b5175f54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4" name="Google Shape;1364;g51b5175f54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3" name="Shape 1383"/>
        <p:cNvGrpSpPr/>
        <p:nvPr/>
      </p:nvGrpSpPr>
      <p:grpSpPr>
        <a:xfrm>
          <a:off x="0" y="0"/>
          <a:ext cx="0" cy="0"/>
          <a:chOff x="0" y="0"/>
          <a:chExt cx="0" cy="0"/>
        </a:xfrm>
      </p:grpSpPr>
      <p:sp>
        <p:nvSpPr>
          <p:cNvPr id="1384" name="Google Shape;1384;g4cf7775671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5" name="Google Shape;1385;g4cf7775671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9" name="Shape 1389"/>
        <p:cNvGrpSpPr/>
        <p:nvPr/>
      </p:nvGrpSpPr>
      <p:grpSpPr>
        <a:xfrm>
          <a:off x="0" y="0"/>
          <a:ext cx="0" cy="0"/>
          <a:chOff x="0" y="0"/>
          <a:chExt cx="0" cy="0"/>
        </a:xfrm>
      </p:grpSpPr>
      <p:sp>
        <p:nvSpPr>
          <p:cNvPr id="1390" name="Google Shape;1390;g81394a5757_0_14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1" name="Google Shape;1391;g81394a5757_0_14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2744013" y="756700"/>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1" name="Google Shape;11;p2"/>
          <p:cNvSpPr/>
          <p:nvPr/>
        </p:nvSpPr>
        <p:spPr>
          <a:xfrm rot="10800000">
            <a:off x="5318350" y="32667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2" name="Google Shape;12;p2"/>
          <p:cNvSpPr txBox="1"/>
          <p:nvPr>
            <p:ph type="ctrTitle"/>
          </p:nvPr>
        </p:nvSpPr>
        <p:spPr>
          <a:xfrm>
            <a:off x="3044700" y="1444255"/>
            <a:ext cx="3054600" cy="15372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id="13" name="Google Shape;13;p2"/>
          <p:cNvSpPr txBox="1"/>
          <p:nvPr>
            <p:ph idx="1" type="subTitle"/>
          </p:nvPr>
        </p:nvSpPr>
        <p:spPr>
          <a:xfrm>
            <a:off x="3044700" y="3116580"/>
            <a:ext cx="3054600" cy="7014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p:nvPr/>
        </p:nvSpPr>
        <p:spPr>
          <a:xfrm flipH="1">
            <a:off x="7595938" y="4602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7" name="Google Shape;17;p3"/>
          <p:cNvSpPr/>
          <p:nvPr/>
        </p:nvSpPr>
        <p:spPr>
          <a:xfrm flipH="1" rot="10800000">
            <a:off x="466425" y="35583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8" name="Google Shape;18;p3"/>
          <p:cNvSpPr txBox="1"/>
          <p:nvPr>
            <p:ph type="title"/>
          </p:nvPr>
        </p:nvSpPr>
        <p:spPr>
          <a:xfrm>
            <a:off x="773700" y="1806450"/>
            <a:ext cx="7596600" cy="1530600"/>
          </a:xfrm>
          <a:prstGeom prst="rect">
            <a:avLst/>
          </a:prstGeom>
        </p:spPr>
        <p:txBody>
          <a:bodyPr anchorCtr="0" anchor="ctr" bIns="91425" lIns="91425" spcFirstLastPara="1" rIns="91425" wrap="square" tIns="91425">
            <a:no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id="19" name="Google Shape;19;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3" name="Google Shape;23;p4"/>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4" name="Google Shape;24;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sp>
        <p:nvSpPr>
          <p:cNvPr id="26" name="Google Shape;26;p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7" name="Google Shape;27;p5"/>
          <p:cNvSpPr txBox="1"/>
          <p:nvPr>
            <p:ph idx="1" type="body"/>
          </p:nvPr>
        </p:nvSpPr>
        <p:spPr>
          <a:xfrm>
            <a:off x="311700" y="1225225"/>
            <a:ext cx="3999900" cy="33540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8" name="Google Shape;28;p5"/>
          <p:cNvSpPr txBox="1"/>
          <p:nvPr>
            <p:ph idx="2" type="body"/>
          </p:nvPr>
        </p:nvSpPr>
        <p:spPr>
          <a:xfrm>
            <a:off x="4832400" y="1225225"/>
            <a:ext cx="3999900" cy="33540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9" name="Google Shape;29;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32" name="Google Shape;32;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 name="Shape 33"/>
        <p:cNvGrpSpPr/>
        <p:nvPr/>
      </p:nvGrpSpPr>
      <p:grpSpPr>
        <a:xfrm>
          <a:off x="0" y="0"/>
          <a:ext cx="0" cy="0"/>
          <a:chOff x="0" y="0"/>
          <a:chExt cx="0" cy="0"/>
        </a:xfrm>
      </p:grpSpPr>
      <p:sp>
        <p:nvSpPr>
          <p:cNvPr id="34" name="Google Shape;34;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5" name="Google Shape;35;p7"/>
          <p:cNvSpPr txBox="1"/>
          <p:nvPr>
            <p:ph idx="1" type="body"/>
          </p:nvPr>
        </p:nvSpPr>
        <p:spPr>
          <a:xfrm>
            <a:off x="311700" y="1399400"/>
            <a:ext cx="2808000" cy="2784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6" name="Google Shape;36;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7" name="Shape 37"/>
        <p:cNvGrpSpPr/>
        <p:nvPr/>
      </p:nvGrpSpPr>
      <p:grpSpPr>
        <a:xfrm>
          <a:off x="0" y="0"/>
          <a:ext cx="0" cy="0"/>
          <a:chOff x="0" y="0"/>
          <a:chExt cx="0" cy="0"/>
        </a:xfrm>
      </p:grpSpPr>
      <p:sp>
        <p:nvSpPr>
          <p:cNvPr id="38" name="Google Shape;38;p8"/>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8"/>
          <p:cNvSpPr txBox="1"/>
          <p:nvPr>
            <p:ph type="title"/>
          </p:nvPr>
        </p:nvSpPr>
        <p:spPr>
          <a:xfrm>
            <a:off x="490250" y="450150"/>
            <a:ext cx="5878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0" name="Google Shape;4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1" name="Shape 41"/>
        <p:cNvGrpSpPr/>
        <p:nvPr/>
      </p:nvGrpSpPr>
      <p:grpSpPr>
        <a:xfrm>
          <a:off x="0" y="0"/>
          <a:ext cx="0" cy="0"/>
          <a:chOff x="0" y="0"/>
          <a:chExt cx="0" cy="0"/>
        </a:xfrm>
      </p:grpSpPr>
      <p:sp>
        <p:nvSpPr>
          <p:cNvPr id="42" name="Google Shape;42;p9"/>
          <p:cNvSpPr/>
          <p:nvPr/>
        </p:nvSpPr>
        <p:spPr>
          <a:xfrm>
            <a:off x="4572000" y="-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 name="Google Shape;43;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4" name="Google Shape;44;p9"/>
          <p:cNvSpPr txBox="1"/>
          <p:nvPr>
            <p:ph type="title"/>
          </p:nvPr>
        </p:nvSpPr>
        <p:spPr>
          <a:xfrm>
            <a:off x="265500" y="929275"/>
            <a:ext cx="4045200" cy="17862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2"/>
              </a:buClr>
              <a:buSzPts val="4200"/>
              <a:buNone/>
              <a:defRPr>
                <a:solidFill>
                  <a:schemeClr val="lt2"/>
                </a:solidFill>
              </a:defRPr>
            </a:lvl1pPr>
            <a:lvl2pPr lvl="1" algn="ctr">
              <a:spcBef>
                <a:spcPts val="0"/>
              </a:spcBef>
              <a:spcAft>
                <a:spcPts val="0"/>
              </a:spcAft>
              <a:buClr>
                <a:schemeClr val="lt2"/>
              </a:buClr>
              <a:buSzPts val="4200"/>
              <a:buNone/>
              <a:defRPr>
                <a:solidFill>
                  <a:schemeClr val="lt2"/>
                </a:solidFill>
              </a:defRPr>
            </a:lvl2pPr>
            <a:lvl3pPr lvl="2" algn="ctr">
              <a:spcBef>
                <a:spcPts val="0"/>
              </a:spcBef>
              <a:spcAft>
                <a:spcPts val="0"/>
              </a:spcAft>
              <a:buClr>
                <a:schemeClr val="lt2"/>
              </a:buClr>
              <a:buSzPts val="4200"/>
              <a:buNone/>
              <a:defRPr>
                <a:solidFill>
                  <a:schemeClr val="lt2"/>
                </a:solidFill>
              </a:defRPr>
            </a:lvl3pPr>
            <a:lvl4pPr lvl="3" algn="ctr">
              <a:spcBef>
                <a:spcPts val="0"/>
              </a:spcBef>
              <a:spcAft>
                <a:spcPts val="0"/>
              </a:spcAft>
              <a:buClr>
                <a:schemeClr val="lt2"/>
              </a:buClr>
              <a:buSzPts val="4200"/>
              <a:buNone/>
              <a:defRPr>
                <a:solidFill>
                  <a:schemeClr val="lt2"/>
                </a:solidFill>
              </a:defRPr>
            </a:lvl4pPr>
            <a:lvl5pPr lvl="4" algn="ctr">
              <a:spcBef>
                <a:spcPts val="0"/>
              </a:spcBef>
              <a:spcAft>
                <a:spcPts val="0"/>
              </a:spcAft>
              <a:buClr>
                <a:schemeClr val="lt2"/>
              </a:buClr>
              <a:buSzPts val="4200"/>
              <a:buNone/>
              <a:defRPr>
                <a:solidFill>
                  <a:schemeClr val="lt2"/>
                </a:solidFill>
              </a:defRPr>
            </a:lvl5pPr>
            <a:lvl6pPr lvl="5" algn="ctr">
              <a:spcBef>
                <a:spcPts val="0"/>
              </a:spcBef>
              <a:spcAft>
                <a:spcPts val="0"/>
              </a:spcAft>
              <a:buClr>
                <a:schemeClr val="lt2"/>
              </a:buClr>
              <a:buSzPts val="4200"/>
              <a:buNone/>
              <a:defRPr>
                <a:solidFill>
                  <a:schemeClr val="lt2"/>
                </a:solidFill>
              </a:defRPr>
            </a:lvl6pPr>
            <a:lvl7pPr lvl="6" algn="ctr">
              <a:spcBef>
                <a:spcPts val="0"/>
              </a:spcBef>
              <a:spcAft>
                <a:spcPts val="0"/>
              </a:spcAft>
              <a:buClr>
                <a:schemeClr val="lt2"/>
              </a:buClr>
              <a:buSzPts val="4200"/>
              <a:buNone/>
              <a:defRPr>
                <a:solidFill>
                  <a:schemeClr val="lt2"/>
                </a:solidFill>
              </a:defRPr>
            </a:lvl7pPr>
            <a:lvl8pPr lvl="7" algn="ctr">
              <a:spcBef>
                <a:spcPts val="0"/>
              </a:spcBef>
              <a:spcAft>
                <a:spcPts val="0"/>
              </a:spcAft>
              <a:buClr>
                <a:schemeClr val="lt2"/>
              </a:buClr>
              <a:buSzPts val="4200"/>
              <a:buNone/>
              <a:defRPr>
                <a:solidFill>
                  <a:schemeClr val="lt2"/>
                </a:solidFill>
              </a:defRPr>
            </a:lvl8pPr>
            <a:lvl9pPr lvl="8" algn="ctr">
              <a:spcBef>
                <a:spcPts val="0"/>
              </a:spcBef>
              <a:spcAft>
                <a:spcPts val="0"/>
              </a:spcAft>
              <a:buClr>
                <a:schemeClr val="lt2"/>
              </a:buClr>
              <a:buSzPts val="4200"/>
              <a:buNone/>
              <a:defRPr>
                <a:solidFill>
                  <a:schemeClr val="lt2"/>
                </a:solidFill>
              </a:defRPr>
            </a:lvl9pPr>
          </a:lstStyle>
          <a:p/>
        </p:txBody>
      </p:sp>
      <p:sp>
        <p:nvSpPr>
          <p:cNvPr id="45" name="Google Shape;45;p9"/>
          <p:cNvSpPr txBox="1"/>
          <p:nvPr>
            <p:ph idx="1" type="subTitle"/>
          </p:nvPr>
        </p:nvSpPr>
        <p:spPr>
          <a:xfrm>
            <a:off x="265500" y="2769001"/>
            <a:ext cx="4045200" cy="1574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p:txBody>
      </p:sp>
      <p:sp>
        <p:nvSpPr>
          <p:cNvPr id="46" name="Google Shape;46;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1600"/>
              </a:spcBef>
              <a:spcAft>
                <a:spcPts val="0"/>
              </a:spcAft>
              <a:buClr>
                <a:schemeClr val="lt1"/>
              </a:buClr>
              <a:buSzPts val="1400"/>
              <a:buChar char="○"/>
              <a:defRPr>
                <a:solidFill>
                  <a:schemeClr val="lt1"/>
                </a:solidFill>
              </a:defRPr>
            </a:lvl2pPr>
            <a:lvl3pPr indent="-317500" lvl="2" marL="1371600">
              <a:spcBef>
                <a:spcPts val="1600"/>
              </a:spcBef>
              <a:spcAft>
                <a:spcPts val="0"/>
              </a:spcAft>
              <a:buClr>
                <a:schemeClr val="lt1"/>
              </a:buClr>
              <a:buSzPts val="1400"/>
              <a:buChar char="■"/>
              <a:defRPr>
                <a:solidFill>
                  <a:schemeClr val="lt1"/>
                </a:solidFill>
              </a:defRPr>
            </a:lvl3pPr>
            <a:lvl4pPr indent="-317500" lvl="3" marL="1828800">
              <a:spcBef>
                <a:spcPts val="1600"/>
              </a:spcBef>
              <a:spcAft>
                <a:spcPts val="0"/>
              </a:spcAft>
              <a:buClr>
                <a:schemeClr val="lt1"/>
              </a:buClr>
              <a:buSzPts val="1400"/>
              <a:buChar char="●"/>
              <a:defRPr>
                <a:solidFill>
                  <a:schemeClr val="lt1"/>
                </a:solidFill>
              </a:defRPr>
            </a:lvl4pPr>
            <a:lvl5pPr indent="-317500" lvl="4" marL="2286000">
              <a:spcBef>
                <a:spcPts val="1600"/>
              </a:spcBef>
              <a:spcAft>
                <a:spcPts val="0"/>
              </a:spcAft>
              <a:buClr>
                <a:schemeClr val="lt1"/>
              </a:buClr>
              <a:buSzPts val="1400"/>
              <a:buChar char="○"/>
              <a:defRPr>
                <a:solidFill>
                  <a:schemeClr val="lt1"/>
                </a:solidFill>
              </a:defRPr>
            </a:lvl5pPr>
            <a:lvl6pPr indent="-317500" lvl="5" marL="2743200">
              <a:spcBef>
                <a:spcPts val="1600"/>
              </a:spcBef>
              <a:spcAft>
                <a:spcPts val="0"/>
              </a:spcAft>
              <a:buClr>
                <a:schemeClr val="lt1"/>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
        <p:nvSpPr>
          <p:cNvPr id="47" name="Google Shape;47;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8" name="Shape 48"/>
        <p:cNvGrpSpPr/>
        <p:nvPr/>
      </p:nvGrpSpPr>
      <p:grpSpPr>
        <a:xfrm>
          <a:off x="0" y="0"/>
          <a:ext cx="0" cy="0"/>
          <a:chOff x="0" y="0"/>
          <a:chExt cx="0" cy="0"/>
        </a:xfrm>
      </p:grpSpPr>
      <p:sp>
        <p:nvSpPr>
          <p:cNvPr id="49" name="Google Shape;49;p10"/>
          <p:cNvSpPr txBox="1"/>
          <p:nvPr>
            <p:ph idx="1" type="body"/>
          </p:nvPr>
        </p:nvSpPr>
        <p:spPr>
          <a:xfrm>
            <a:off x="319500" y="4218925"/>
            <a:ext cx="5998800" cy="5988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2400"/>
              <a:buFont typeface="Economica"/>
              <a:buNone/>
              <a:defRPr sz="2400">
                <a:latin typeface="Economica"/>
                <a:ea typeface="Economica"/>
                <a:cs typeface="Economica"/>
                <a:sym typeface="Economica"/>
              </a:defRPr>
            </a:lvl1pPr>
          </a:lstStyle>
          <a:p/>
        </p:txBody>
      </p:sp>
      <p:sp>
        <p:nvSpPr>
          <p:cNvPr id="50" name="Google Shape;50;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1" name="Shape 51"/>
        <p:cNvGrpSpPr/>
        <p:nvPr/>
      </p:nvGrpSpPr>
      <p:grpSpPr>
        <a:xfrm>
          <a:off x="0" y="0"/>
          <a:ext cx="0" cy="0"/>
          <a:chOff x="0" y="0"/>
          <a:chExt cx="0" cy="0"/>
        </a:xfrm>
      </p:grpSpPr>
      <p:sp>
        <p:nvSpPr>
          <p:cNvPr id="52" name="Google Shape;52;p1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11"/>
          <p:cNvSpPr txBox="1"/>
          <p:nvPr>
            <p:ph hasCustomPrompt="1" type="title"/>
          </p:nvPr>
        </p:nvSpPr>
        <p:spPr>
          <a:xfrm>
            <a:off x="311700" y="957125"/>
            <a:ext cx="8520600" cy="21288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2"/>
              </a:buClr>
              <a:buSzPts val="16000"/>
              <a:buNone/>
              <a:defRPr sz="16000">
                <a:solidFill>
                  <a:schemeClr val="lt2"/>
                </a:solidFill>
              </a:defRPr>
            </a:lvl1pPr>
            <a:lvl2pPr lvl="1" algn="ctr">
              <a:spcBef>
                <a:spcPts val="0"/>
              </a:spcBef>
              <a:spcAft>
                <a:spcPts val="0"/>
              </a:spcAft>
              <a:buClr>
                <a:schemeClr val="lt2"/>
              </a:buClr>
              <a:buSzPts val="16000"/>
              <a:buNone/>
              <a:defRPr sz="16000">
                <a:solidFill>
                  <a:schemeClr val="lt2"/>
                </a:solidFill>
              </a:defRPr>
            </a:lvl2pPr>
            <a:lvl3pPr lvl="2" algn="ctr">
              <a:spcBef>
                <a:spcPts val="0"/>
              </a:spcBef>
              <a:spcAft>
                <a:spcPts val="0"/>
              </a:spcAft>
              <a:buClr>
                <a:schemeClr val="lt2"/>
              </a:buClr>
              <a:buSzPts val="16000"/>
              <a:buNone/>
              <a:defRPr sz="16000">
                <a:solidFill>
                  <a:schemeClr val="lt2"/>
                </a:solidFill>
              </a:defRPr>
            </a:lvl3pPr>
            <a:lvl4pPr lvl="3" algn="ctr">
              <a:spcBef>
                <a:spcPts val="0"/>
              </a:spcBef>
              <a:spcAft>
                <a:spcPts val="0"/>
              </a:spcAft>
              <a:buClr>
                <a:schemeClr val="lt2"/>
              </a:buClr>
              <a:buSzPts val="16000"/>
              <a:buNone/>
              <a:defRPr sz="16000">
                <a:solidFill>
                  <a:schemeClr val="lt2"/>
                </a:solidFill>
              </a:defRPr>
            </a:lvl4pPr>
            <a:lvl5pPr lvl="4" algn="ctr">
              <a:spcBef>
                <a:spcPts val="0"/>
              </a:spcBef>
              <a:spcAft>
                <a:spcPts val="0"/>
              </a:spcAft>
              <a:buClr>
                <a:schemeClr val="lt2"/>
              </a:buClr>
              <a:buSzPts val="16000"/>
              <a:buNone/>
              <a:defRPr sz="16000">
                <a:solidFill>
                  <a:schemeClr val="lt2"/>
                </a:solidFill>
              </a:defRPr>
            </a:lvl5pPr>
            <a:lvl6pPr lvl="5" algn="ctr">
              <a:spcBef>
                <a:spcPts val="0"/>
              </a:spcBef>
              <a:spcAft>
                <a:spcPts val="0"/>
              </a:spcAft>
              <a:buClr>
                <a:schemeClr val="lt2"/>
              </a:buClr>
              <a:buSzPts val="16000"/>
              <a:buNone/>
              <a:defRPr sz="16000">
                <a:solidFill>
                  <a:schemeClr val="lt2"/>
                </a:solidFill>
              </a:defRPr>
            </a:lvl6pPr>
            <a:lvl7pPr lvl="6" algn="ctr">
              <a:spcBef>
                <a:spcPts val="0"/>
              </a:spcBef>
              <a:spcAft>
                <a:spcPts val="0"/>
              </a:spcAft>
              <a:buClr>
                <a:schemeClr val="lt2"/>
              </a:buClr>
              <a:buSzPts val="16000"/>
              <a:buNone/>
              <a:defRPr sz="16000">
                <a:solidFill>
                  <a:schemeClr val="lt2"/>
                </a:solidFill>
              </a:defRPr>
            </a:lvl7pPr>
            <a:lvl8pPr lvl="7" algn="ctr">
              <a:spcBef>
                <a:spcPts val="0"/>
              </a:spcBef>
              <a:spcAft>
                <a:spcPts val="0"/>
              </a:spcAft>
              <a:buClr>
                <a:schemeClr val="lt2"/>
              </a:buClr>
              <a:buSzPts val="16000"/>
              <a:buNone/>
              <a:defRPr sz="16000">
                <a:solidFill>
                  <a:schemeClr val="lt2"/>
                </a:solidFill>
              </a:defRPr>
            </a:lvl8pPr>
            <a:lvl9pPr lvl="8" algn="ctr">
              <a:spcBef>
                <a:spcPts val="0"/>
              </a:spcBef>
              <a:spcAft>
                <a:spcPts val="0"/>
              </a:spcAft>
              <a:buClr>
                <a:schemeClr val="lt2"/>
              </a:buClr>
              <a:buSzPts val="16000"/>
              <a:buNone/>
              <a:defRPr sz="16000">
                <a:solidFill>
                  <a:schemeClr val="lt2"/>
                </a:solidFill>
              </a:defRPr>
            </a:lvl9pPr>
          </a:lstStyle>
          <a:p>
            <a:r>
              <a:t>xx%</a:t>
            </a:r>
          </a:p>
        </p:txBody>
      </p:sp>
      <p:sp>
        <p:nvSpPr>
          <p:cNvPr id="54" name="Google Shape;54;p11"/>
          <p:cNvSpPr txBox="1"/>
          <p:nvPr>
            <p:ph idx="1" type="body"/>
          </p:nvPr>
        </p:nvSpPr>
        <p:spPr>
          <a:xfrm>
            <a:off x="311700" y="3162000"/>
            <a:ext cx="8520600" cy="10716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55" name="Google Shape;55;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lux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1pPr>
            <a:lvl2pPr lvl="1">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2pPr>
            <a:lvl3pPr lvl="2">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3pPr>
            <a:lvl4pPr lvl="3">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4pPr>
            <a:lvl5pPr lvl="4">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5pPr>
            <a:lvl6pPr lvl="5">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6pPr>
            <a:lvl7pPr lvl="6">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7pPr>
            <a:lvl8pPr lvl="7">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8pPr>
            <a:lvl9pPr lvl="8">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9pPr>
          </a:lstStyle>
          <a:p/>
        </p:txBody>
      </p:sp>
      <p:sp>
        <p:nvSpPr>
          <p:cNvPr id="7" name="Google Shape;7;p1"/>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1"/>
              </a:buClr>
              <a:buSzPts val="1800"/>
              <a:buFont typeface="Open Sans"/>
              <a:buChar char="●"/>
              <a:defRPr sz="1800">
                <a:solidFill>
                  <a:schemeClr val="dk1"/>
                </a:solidFill>
                <a:latin typeface="Open Sans"/>
                <a:ea typeface="Open Sans"/>
                <a:cs typeface="Open Sans"/>
                <a:sym typeface="Open Sans"/>
              </a:defRPr>
            </a:lvl1pPr>
            <a:lvl2pPr indent="-317500" lvl="1" marL="9144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indent="-317500" lvl="2" marL="13716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indent="-317500" lvl="3" marL="18288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indent="-317500" lvl="4" marL="22860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indent="-317500" lvl="5" marL="27432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indent="-317500" lvl="6" marL="32004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indent="-317500" lvl="7" marL="36576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indent="-317500" lvl="8" marL="4114800">
              <a:lnSpc>
                <a:spcPct val="115000"/>
              </a:lnSpc>
              <a:spcBef>
                <a:spcPts val="1600"/>
              </a:spcBef>
              <a:spcAft>
                <a:spcPts val="1600"/>
              </a:spcAft>
              <a:buClr>
                <a:schemeClr val="dk1"/>
              </a:buClr>
              <a:buSzPts val="1400"/>
              <a:buFont typeface="Open Sans"/>
              <a:buChar char="■"/>
              <a:defRPr>
                <a:solidFill>
                  <a:schemeClr val="dk1"/>
                </a:solidFill>
                <a:latin typeface="Open Sans"/>
                <a:ea typeface="Open Sans"/>
                <a:cs typeface="Open Sans"/>
                <a:sym typeface="Open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1"/>
                </a:solidFill>
                <a:latin typeface="Economica"/>
                <a:ea typeface="Economica"/>
                <a:cs typeface="Economica"/>
                <a:sym typeface="Economica"/>
              </a:defRPr>
            </a:lvl1pPr>
            <a:lvl2pPr lvl="1" algn="r">
              <a:buNone/>
              <a:defRPr sz="1000">
                <a:solidFill>
                  <a:schemeClr val="dk1"/>
                </a:solidFill>
                <a:latin typeface="Economica"/>
                <a:ea typeface="Economica"/>
                <a:cs typeface="Economica"/>
                <a:sym typeface="Economica"/>
              </a:defRPr>
            </a:lvl2pPr>
            <a:lvl3pPr lvl="2" algn="r">
              <a:buNone/>
              <a:defRPr sz="1000">
                <a:solidFill>
                  <a:schemeClr val="dk1"/>
                </a:solidFill>
                <a:latin typeface="Economica"/>
                <a:ea typeface="Economica"/>
                <a:cs typeface="Economica"/>
                <a:sym typeface="Economica"/>
              </a:defRPr>
            </a:lvl3pPr>
            <a:lvl4pPr lvl="3" algn="r">
              <a:buNone/>
              <a:defRPr sz="1000">
                <a:solidFill>
                  <a:schemeClr val="dk1"/>
                </a:solidFill>
                <a:latin typeface="Economica"/>
                <a:ea typeface="Economica"/>
                <a:cs typeface="Economica"/>
                <a:sym typeface="Economica"/>
              </a:defRPr>
            </a:lvl4pPr>
            <a:lvl5pPr lvl="4" algn="r">
              <a:buNone/>
              <a:defRPr sz="1000">
                <a:solidFill>
                  <a:schemeClr val="dk1"/>
                </a:solidFill>
                <a:latin typeface="Economica"/>
                <a:ea typeface="Economica"/>
                <a:cs typeface="Economica"/>
                <a:sym typeface="Economica"/>
              </a:defRPr>
            </a:lvl5pPr>
            <a:lvl6pPr lvl="5" algn="r">
              <a:buNone/>
              <a:defRPr sz="1000">
                <a:solidFill>
                  <a:schemeClr val="dk1"/>
                </a:solidFill>
                <a:latin typeface="Economica"/>
                <a:ea typeface="Economica"/>
                <a:cs typeface="Economica"/>
                <a:sym typeface="Economica"/>
              </a:defRPr>
            </a:lvl6pPr>
            <a:lvl7pPr lvl="6" algn="r">
              <a:buNone/>
              <a:defRPr sz="1000">
                <a:solidFill>
                  <a:schemeClr val="dk1"/>
                </a:solidFill>
                <a:latin typeface="Economica"/>
                <a:ea typeface="Economica"/>
                <a:cs typeface="Economica"/>
                <a:sym typeface="Economica"/>
              </a:defRPr>
            </a:lvl7pPr>
            <a:lvl8pPr lvl="7" algn="r">
              <a:buNone/>
              <a:defRPr sz="1000">
                <a:solidFill>
                  <a:schemeClr val="dk1"/>
                </a:solidFill>
                <a:latin typeface="Economica"/>
                <a:ea typeface="Economica"/>
                <a:cs typeface="Economica"/>
                <a:sym typeface="Economica"/>
              </a:defRPr>
            </a:lvl8pPr>
            <a:lvl9pPr lvl="8" algn="r">
              <a:buNone/>
              <a:defRPr sz="1000">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6.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6.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6.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7.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7.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8.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13.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5.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10.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14.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9.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15.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11.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12.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3.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3"/>
          <p:cNvSpPr txBox="1"/>
          <p:nvPr>
            <p:ph type="ctrTitle"/>
          </p:nvPr>
        </p:nvSpPr>
        <p:spPr>
          <a:xfrm>
            <a:off x="3044700" y="978771"/>
            <a:ext cx="3054600" cy="2632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Dominance and valenced interactions in social networks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Valenced interactions</a:t>
            </a:r>
            <a:endParaRPr/>
          </a:p>
        </p:txBody>
      </p:sp>
      <p:sp>
        <p:nvSpPr>
          <p:cNvPr id="68" name="Google Shape;68;p14"/>
          <p:cNvSpPr txBox="1"/>
          <p:nvPr>
            <p:ph idx="1" type="body"/>
          </p:nvPr>
        </p:nvSpPr>
        <p:spPr>
          <a:xfrm>
            <a:off x="311700" y="1225225"/>
            <a:ext cx="42603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Most social network theories assume ties and network flows are usually positive or neutral:</a:t>
            </a:r>
            <a:endParaRPr/>
          </a:p>
          <a:p>
            <a:pPr indent="-317500" lvl="1" marL="914400" rtl="0" algn="l">
              <a:spcBef>
                <a:spcPts val="0"/>
              </a:spcBef>
              <a:spcAft>
                <a:spcPts val="0"/>
              </a:spcAft>
              <a:buSzPts val="1400"/>
              <a:buChar char="○"/>
            </a:pPr>
            <a:r>
              <a:rPr lang="en"/>
              <a:t>Ties</a:t>
            </a:r>
            <a:endParaRPr/>
          </a:p>
          <a:p>
            <a:pPr indent="-317500" lvl="2" marL="1371600" rtl="0" algn="l">
              <a:spcBef>
                <a:spcPts val="0"/>
              </a:spcBef>
              <a:spcAft>
                <a:spcPts val="0"/>
              </a:spcAft>
              <a:buSzPts val="1400"/>
              <a:buChar char="■"/>
            </a:pPr>
            <a:r>
              <a:rPr lang="en"/>
              <a:t>Friendship</a:t>
            </a:r>
            <a:endParaRPr/>
          </a:p>
          <a:p>
            <a:pPr indent="-317500" lvl="2" marL="1371600" rtl="0" algn="l">
              <a:spcBef>
                <a:spcPts val="0"/>
              </a:spcBef>
              <a:spcAft>
                <a:spcPts val="0"/>
              </a:spcAft>
              <a:buSzPts val="1400"/>
              <a:buChar char="■"/>
            </a:pPr>
            <a:r>
              <a:rPr lang="en"/>
              <a:t>Kinship</a:t>
            </a:r>
            <a:endParaRPr/>
          </a:p>
          <a:p>
            <a:pPr indent="-317500" lvl="2" marL="1371600" rtl="0" algn="l">
              <a:spcBef>
                <a:spcPts val="0"/>
              </a:spcBef>
              <a:spcAft>
                <a:spcPts val="0"/>
              </a:spcAft>
              <a:buSzPts val="1400"/>
              <a:buChar char="■"/>
            </a:pPr>
            <a:r>
              <a:rPr lang="en"/>
              <a:t>Co-membership</a:t>
            </a:r>
            <a:endParaRPr/>
          </a:p>
          <a:p>
            <a:pPr indent="-317500" lvl="1" marL="914400" rtl="0" algn="l">
              <a:spcBef>
                <a:spcPts val="0"/>
              </a:spcBef>
              <a:spcAft>
                <a:spcPts val="0"/>
              </a:spcAft>
              <a:buSzPts val="1400"/>
              <a:buChar char="○"/>
            </a:pPr>
            <a:r>
              <a:rPr lang="en"/>
              <a:t>Flows</a:t>
            </a:r>
            <a:endParaRPr/>
          </a:p>
          <a:p>
            <a:pPr indent="-317500" lvl="2" marL="1371600" rtl="0" algn="l">
              <a:spcBef>
                <a:spcPts val="0"/>
              </a:spcBef>
              <a:spcAft>
                <a:spcPts val="0"/>
              </a:spcAft>
              <a:buSzPts val="1400"/>
              <a:buChar char="■"/>
            </a:pPr>
            <a:r>
              <a:rPr lang="en"/>
              <a:t>Information</a:t>
            </a:r>
            <a:endParaRPr/>
          </a:p>
          <a:p>
            <a:pPr indent="-317500" lvl="2" marL="1371600" rtl="0" algn="l">
              <a:spcBef>
                <a:spcPts val="0"/>
              </a:spcBef>
              <a:spcAft>
                <a:spcPts val="0"/>
              </a:spcAft>
              <a:buSzPts val="1400"/>
              <a:buChar char="■"/>
            </a:pPr>
            <a:r>
              <a:rPr lang="en"/>
              <a:t>Support</a:t>
            </a:r>
            <a:endParaRPr/>
          </a:p>
          <a:p>
            <a:pPr indent="-317500" lvl="2" marL="1371600" rtl="0" algn="l">
              <a:spcBef>
                <a:spcPts val="0"/>
              </a:spcBef>
              <a:spcAft>
                <a:spcPts val="0"/>
              </a:spcAft>
              <a:buClr>
                <a:srgbClr val="FF0000"/>
              </a:buClr>
              <a:buSzPts val="1400"/>
              <a:buChar char="■"/>
            </a:pPr>
            <a:r>
              <a:rPr b="1" lang="en">
                <a:solidFill>
                  <a:srgbClr val="FF0000"/>
                </a:solidFill>
              </a:rPr>
              <a:t>Gossip</a:t>
            </a:r>
            <a:endParaRPr b="1">
              <a:solidFill>
                <a:srgbClr val="FF0000"/>
              </a:solidFill>
            </a:endParaRPr>
          </a:p>
          <a:p>
            <a:pPr indent="-317500" lvl="2" marL="1371600" rtl="0" algn="l">
              <a:spcBef>
                <a:spcPts val="0"/>
              </a:spcBef>
              <a:spcAft>
                <a:spcPts val="0"/>
              </a:spcAft>
              <a:buClr>
                <a:srgbClr val="FF0000"/>
              </a:buClr>
              <a:buSzPts val="1400"/>
              <a:buChar char="■"/>
            </a:pPr>
            <a:r>
              <a:rPr b="1" lang="en">
                <a:solidFill>
                  <a:srgbClr val="FF0000"/>
                </a:solidFill>
              </a:rPr>
              <a:t>Violence</a:t>
            </a:r>
            <a:endParaRPr b="1">
              <a:solidFill>
                <a:srgbClr val="FF0000"/>
              </a:solidFill>
            </a:endParaRPr>
          </a:p>
        </p:txBody>
      </p:sp>
      <p:pic>
        <p:nvPicPr>
          <p:cNvPr id="69" name="Google Shape;69;p14"/>
          <p:cNvPicPr preferRelativeResize="0"/>
          <p:nvPr/>
        </p:nvPicPr>
        <p:blipFill>
          <a:blip r:embed="rId3">
            <a:alphaModFix/>
          </a:blip>
          <a:stretch>
            <a:fillRect/>
          </a:stretch>
        </p:blipFill>
        <p:spPr>
          <a:xfrm>
            <a:off x="5270574" y="1007713"/>
            <a:ext cx="3226100" cy="37890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Valenced interactions</a:t>
            </a:r>
            <a:endParaRPr/>
          </a:p>
        </p:txBody>
      </p:sp>
      <p:sp>
        <p:nvSpPr>
          <p:cNvPr id="75" name="Google Shape;75;p15"/>
          <p:cNvSpPr txBox="1"/>
          <p:nvPr>
            <p:ph idx="1" type="body"/>
          </p:nvPr>
        </p:nvSpPr>
        <p:spPr>
          <a:xfrm>
            <a:off x="311700" y="1225225"/>
            <a:ext cx="44064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Most real-world social networks feature a mix of: </a:t>
            </a:r>
            <a:endParaRPr/>
          </a:p>
          <a:p>
            <a:pPr indent="-317500" lvl="1" marL="914400" rtl="0" algn="l">
              <a:spcBef>
                <a:spcPts val="0"/>
              </a:spcBef>
              <a:spcAft>
                <a:spcPts val="0"/>
              </a:spcAft>
              <a:buSzPts val="1400"/>
              <a:buChar char="○"/>
            </a:pPr>
            <a:r>
              <a:rPr i="1" lang="en"/>
              <a:t>Positive and negative ties:</a:t>
            </a:r>
            <a:endParaRPr i="1"/>
          </a:p>
          <a:p>
            <a:pPr indent="-317500" lvl="2" marL="1371600" rtl="0" algn="l">
              <a:spcBef>
                <a:spcPts val="0"/>
              </a:spcBef>
              <a:spcAft>
                <a:spcPts val="0"/>
              </a:spcAft>
              <a:buSzPts val="1400"/>
              <a:buChar char="■"/>
            </a:pPr>
            <a:r>
              <a:rPr lang="en"/>
              <a:t>Friends and enemies</a:t>
            </a:r>
            <a:endParaRPr/>
          </a:p>
          <a:p>
            <a:pPr indent="-317500" lvl="2" marL="1371600" rtl="0" algn="l">
              <a:spcBef>
                <a:spcPts val="0"/>
              </a:spcBef>
              <a:spcAft>
                <a:spcPts val="0"/>
              </a:spcAft>
              <a:buSzPts val="1400"/>
              <a:buChar char="■"/>
            </a:pPr>
            <a:r>
              <a:rPr lang="en"/>
              <a:t>Liking and disliking</a:t>
            </a:r>
            <a:endParaRPr/>
          </a:p>
          <a:p>
            <a:pPr indent="-317500" lvl="2" marL="1371600" rtl="0" algn="l">
              <a:spcBef>
                <a:spcPts val="0"/>
              </a:spcBef>
              <a:spcAft>
                <a:spcPts val="0"/>
              </a:spcAft>
              <a:buSzPts val="1400"/>
              <a:buChar char="■"/>
            </a:pPr>
            <a:r>
              <a:rPr lang="en"/>
              <a:t>Members of same group versus rival groups</a:t>
            </a:r>
            <a:endParaRPr/>
          </a:p>
          <a:p>
            <a:pPr indent="-317500" lvl="1" marL="914400" rtl="0" algn="l">
              <a:spcBef>
                <a:spcPts val="0"/>
              </a:spcBef>
              <a:spcAft>
                <a:spcPts val="0"/>
              </a:spcAft>
              <a:buSzPts val="1400"/>
              <a:buChar char="○"/>
            </a:pPr>
            <a:r>
              <a:rPr i="1" lang="en"/>
              <a:t>Positive and negative flows:</a:t>
            </a:r>
            <a:endParaRPr i="1"/>
          </a:p>
          <a:p>
            <a:pPr indent="-317500" lvl="2" marL="1371600" rtl="0" algn="l">
              <a:spcBef>
                <a:spcPts val="0"/>
              </a:spcBef>
              <a:spcAft>
                <a:spcPts val="0"/>
              </a:spcAft>
              <a:buSzPts val="1400"/>
              <a:buChar char="■"/>
            </a:pPr>
            <a:r>
              <a:rPr lang="en"/>
              <a:t>Gossip versus compliments</a:t>
            </a:r>
            <a:endParaRPr/>
          </a:p>
          <a:p>
            <a:pPr indent="-317500" lvl="2" marL="1371600" rtl="0" algn="l">
              <a:spcBef>
                <a:spcPts val="0"/>
              </a:spcBef>
              <a:spcAft>
                <a:spcPts val="0"/>
              </a:spcAft>
              <a:buSzPts val="1400"/>
              <a:buChar char="■"/>
            </a:pPr>
            <a:r>
              <a:rPr lang="en"/>
              <a:t>Helping versus violence</a:t>
            </a:r>
            <a:endParaRPr/>
          </a:p>
          <a:p>
            <a:pPr indent="-342900" lvl="0" marL="457200" rtl="0" algn="l">
              <a:spcBef>
                <a:spcPts val="0"/>
              </a:spcBef>
              <a:spcAft>
                <a:spcPts val="0"/>
              </a:spcAft>
              <a:buSzPts val="1800"/>
              <a:buChar char="●"/>
            </a:pPr>
            <a:r>
              <a:rPr lang="en"/>
              <a:t>These are called </a:t>
            </a:r>
            <a:r>
              <a:rPr b="1" lang="en"/>
              <a:t>valenced relationships</a:t>
            </a:r>
            <a:endParaRPr b="1"/>
          </a:p>
          <a:p>
            <a:pPr indent="0" lvl="0" marL="0" rtl="0" algn="l">
              <a:spcBef>
                <a:spcPts val="1600"/>
              </a:spcBef>
              <a:spcAft>
                <a:spcPts val="1600"/>
              </a:spcAft>
              <a:buNone/>
            </a:pPr>
            <a:r>
              <a:t/>
            </a:r>
            <a:endParaRPr/>
          </a:p>
        </p:txBody>
      </p:sp>
      <p:pic>
        <p:nvPicPr>
          <p:cNvPr id="76" name="Google Shape;76;p15"/>
          <p:cNvPicPr preferRelativeResize="0"/>
          <p:nvPr/>
        </p:nvPicPr>
        <p:blipFill>
          <a:blip r:embed="rId3">
            <a:alphaModFix/>
          </a:blip>
          <a:stretch>
            <a:fillRect/>
          </a:stretch>
        </p:blipFill>
        <p:spPr>
          <a:xfrm>
            <a:off x="5270574" y="1007713"/>
            <a:ext cx="3226100" cy="37890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Valenced interactions</a:t>
            </a:r>
            <a:endParaRPr/>
          </a:p>
        </p:txBody>
      </p:sp>
      <p:sp>
        <p:nvSpPr>
          <p:cNvPr id="82" name="Google Shape;82;p16"/>
          <p:cNvSpPr txBox="1"/>
          <p:nvPr>
            <p:ph idx="1" type="body"/>
          </p:nvPr>
        </p:nvSpPr>
        <p:spPr>
          <a:xfrm>
            <a:off x="311700" y="1225225"/>
            <a:ext cx="42603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Core network concepts change meaning when ties are valenced!</a:t>
            </a:r>
            <a:endParaRPr/>
          </a:p>
          <a:p>
            <a:pPr indent="-317500" lvl="1" marL="914400" rtl="0" algn="l">
              <a:spcBef>
                <a:spcPts val="0"/>
              </a:spcBef>
              <a:spcAft>
                <a:spcPts val="0"/>
              </a:spcAft>
              <a:buSzPts val="1400"/>
              <a:buChar char="○"/>
            </a:pPr>
            <a:r>
              <a:rPr lang="en"/>
              <a:t>In-degree centrality:</a:t>
            </a:r>
            <a:endParaRPr/>
          </a:p>
          <a:p>
            <a:pPr indent="-317500" lvl="2" marL="1371600" rtl="0" algn="l">
              <a:spcBef>
                <a:spcPts val="0"/>
              </a:spcBef>
              <a:spcAft>
                <a:spcPts val="0"/>
              </a:spcAft>
              <a:buSzPts val="1400"/>
              <a:buChar char="■"/>
            </a:pPr>
            <a:r>
              <a:rPr lang="en"/>
              <a:t>Friendship (good)</a:t>
            </a:r>
            <a:endParaRPr/>
          </a:p>
          <a:p>
            <a:pPr indent="-317500" lvl="2" marL="1371600" rtl="0" algn="l">
              <a:spcBef>
                <a:spcPts val="0"/>
              </a:spcBef>
              <a:spcAft>
                <a:spcPts val="0"/>
              </a:spcAft>
              <a:buSzPts val="1400"/>
              <a:buChar char="■"/>
            </a:pPr>
            <a:r>
              <a:rPr lang="en"/>
              <a:t>Disliking (bad!)</a:t>
            </a:r>
            <a:endParaRPr/>
          </a:p>
          <a:p>
            <a:pPr indent="-317500" lvl="2" marL="1371600" rtl="0" algn="l">
              <a:spcBef>
                <a:spcPts val="0"/>
              </a:spcBef>
              <a:spcAft>
                <a:spcPts val="0"/>
              </a:spcAft>
              <a:buSzPts val="1400"/>
              <a:buChar char="■"/>
            </a:pPr>
            <a:r>
              <a:rPr lang="en"/>
              <a:t>Support (good!)</a:t>
            </a:r>
            <a:endParaRPr/>
          </a:p>
          <a:p>
            <a:pPr indent="-317500" lvl="2" marL="1371600" rtl="0" algn="l">
              <a:spcBef>
                <a:spcPts val="0"/>
              </a:spcBef>
              <a:spcAft>
                <a:spcPts val="0"/>
              </a:spcAft>
              <a:buSzPts val="1400"/>
              <a:buChar char="■"/>
            </a:pPr>
            <a:r>
              <a:rPr lang="en"/>
              <a:t>Enemies (bad?)</a:t>
            </a:r>
            <a:endParaRPr/>
          </a:p>
          <a:p>
            <a:pPr indent="-317500" lvl="1" marL="914400" rtl="0" algn="l">
              <a:spcBef>
                <a:spcPts val="0"/>
              </a:spcBef>
              <a:spcAft>
                <a:spcPts val="0"/>
              </a:spcAft>
              <a:buSzPts val="1400"/>
              <a:buChar char="○"/>
            </a:pPr>
            <a:r>
              <a:rPr lang="en"/>
              <a:t>The same goes for out-degree:</a:t>
            </a:r>
            <a:endParaRPr/>
          </a:p>
          <a:p>
            <a:pPr indent="-317500" lvl="2" marL="1371600" rtl="0" algn="l">
              <a:spcBef>
                <a:spcPts val="0"/>
              </a:spcBef>
              <a:spcAft>
                <a:spcPts val="0"/>
              </a:spcAft>
              <a:buSzPts val="1400"/>
              <a:buChar char="■"/>
            </a:pPr>
            <a:r>
              <a:rPr lang="en"/>
              <a:t>A bully is a person who has lots of outgoing negative ties</a:t>
            </a:r>
            <a:endParaRPr/>
          </a:p>
          <a:p>
            <a:pPr indent="-317500" lvl="1" marL="914400" rtl="0" algn="l">
              <a:spcBef>
                <a:spcPts val="0"/>
              </a:spcBef>
              <a:spcAft>
                <a:spcPts val="0"/>
              </a:spcAft>
              <a:buSzPts val="1400"/>
              <a:buChar char="○"/>
            </a:pPr>
            <a:r>
              <a:rPr lang="en"/>
              <a:t>And other network metrics:</a:t>
            </a:r>
            <a:endParaRPr/>
          </a:p>
          <a:p>
            <a:pPr indent="-317500" lvl="2" marL="1371600" rtl="0" algn="l">
              <a:spcBef>
                <a:spcPts val="0"/>
              </a:spcBef>
              <a:spcAft>
                <a:spcPts val="0"/>
              </a:spcAft>
              <a:buSzPts val="1400"/>
              <a:buChar char="■"/>
            </a:pPr>
            <a:r>
              <a:rPr lang="en"/>
              <a:t>Eigenvector centrality</a:t>
            </a:r>
            <a:endParaRPr/>
          </a:p>
          <a:p>
            <a:pPr indent="0" lvl="0" marL="914400" rtl="0" algn="l">
              <a:spcBef>
                <a:spcPts val="1600"/>
              </a:spcBef>
              <a:spcAft>
                <a:spcPts val="0"/>
              </a:spcAft>
              <a:buNone/>
            </a:pPr>
            <a:r>
              <a:t/>
            </a:r>
            <a:endParaRPr/>
          </a:p>
          <a:p>
            <a:pPr indent="0" lvl="0" marL="0" rtl="0" algn="l">
              <a:spcBef>
                <a:spcPts val="1600"/>
              </a:spcBef>
              <a:spcAft>
                <a:spcPts val="1600"/>
              </a:spcAft>
              <a:buNone/>
            </a:pPr>
            <a:r>
              <a:t/>
            </a:r>
            <a:endParaRPr/>
          </a:p>
        </p:txBody>
      </p:sp>
      <p:pic>
        <p:nvPicPr>
          <p:cNvPr id="83" name="Google Shape;83;p16"/>
          <p:cNvPicPr preferRelativeResize="0"/>
          <p:nvPr/>
        </p:nvPicPr>
        <p:blipFill>
          <a:blip r:embed="rId3">
            <a:alphaModFix/>
          </a:blip>
          <a:stretch>
            <a:fillRect/>
          </a:stretch>
        </p:blipFill>
        <p:spPr>
          <a:xfrm>
            <a:off x="5270574" y="1007713"/>
            <a:ext cx="3226100" cy="37890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Valenced interactions</a:t>
            </a:r>
            <a:endParaRPr/>
          </a:p>
        </p:txBody>
      </p:sp>
      <p:sp>
        <p:nvSpPr>
          <p:cNvPr id="89" name="Google Shape;89;p17"/>
          <p:cNvSpPr txBox="1"/>
          <p:nvPr>
            <p:ph idx="1" type="body"/>
          </p:nvPr>
        </p:nvSpPr>
        <p:spPr>
          <a:xfrm>
            <a:off x="311700" y="1225225"/>
            <a:ext cx="42603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We have seen on network theory (</a:t>
            </a:r>
            <a:r>
              <a:rPr b="1" lang="en"/>
              <a:t>balance</a:t>
            </a:r>
            <a:r>
              <a:rPr lang="en"/>
              <a:t>) designed to explain valenced relationships</a:t>
            </a:r>
            <a:endParaRPr/>
          </a:p>
          <a:p>
            <a:pPr indent="-342900" lvl="0" marL="457200" rtl="0" algn="l">
              <a:spcBef>
                <a:spcPts val="0"/>
              </a:spcBef>
              <a:spcAft>
                <a:spcPts val="0"/>
              </a:spcAft>
              <a:buSzPts val="1800"/>
              <a:buChar char="●"/>
            </a:pPr>
            <a:r>
              <a:rPr lang="en"/>
              <a:t>But this is not the only approach!</a:t>
            </a:r>
            <a:endParaRPr/>
          </a:p>
          <a:p>
            <a:pPr indent="-317500" lvl="1" marL="914400" rtl="0" algn="l">
              <a:spcBef>
                <a:spcPts val="0"/>
              </a:spcBef>
              <a:spcAft>
                <a:spcPts val="0"/>
              </a:spcAft>
              <a:buSzPts val="1400"/>
              <a:buChar char="○"/>
            </a:pPr>
            <a:r>
              <a:rPr lang="en"/>
              <a:t>Status theory </a:t>
            </a:r>
            <a:endParaRPr/>
          </a:p>
          <a:p>
            <a:pPr indent="-317500" lvl="2" marL="1371600" rtl="0" algn="l">
              <a:spcBef>
                <a:spcPts val="0"/>
              </a:spcBef>
              <a:spcAft>
                <a:spcPts val="0"/>
              </a:spcAft>
              <a:buSzPts val="1400"/>
              <a:buChar char="■"/>
            </a:pPr>
            <a:r>
              <a:rPr lang="en"/>
              <a:t>(an extension of balance theory)</a:t>
            </a:r>
            <a:endParaRPr/>
          </a:p>
          <a:p>
            <a:pPr indent="0" lvl="0" marL="914400" rtl="0" algn="l">
              <a:spcBef>
                <a:spcPts val="1600"/>
              </a:spcBef>
              <a:spcAft>
                <a:spcPts val="0"/>
              </a:spcAft>
              <a:buNone/>
            </a:pPr>
            <a:r>
              <a:t/>
            </a:r>
            <a:endParaRPr/>
          </a:p>
          <a:p>
            <a:pPr indent="0" lvl="0" marL="0" rtl="0" algn="l">
              <a:spcBef>
                <a:spcPts val="1600"/>
              </a:spcBef>
              <a:spcAft>
                <a:spcPts val="1600"/>
              </a:spcAft>
              <a:buNone/>
            </a:pPr>
            <a:r>
              <a:t/>
            </a:r>
            <a:endParaRPr/>
          </a:p>
        </p:txBody>
      </p:sp>
      <p:pic>
        <p:nvPicPr>
          <p:cNvPr id="90" name="Google Shape;90;p17"/>
          <p:cNvPicPr preferRelativeResize="0"/>
          <p:nvPr/>
        </p:nvPicPr>
        <p:blipFill>
          <a:blip r:embed="rId3">
            <a:alphaModFix/>
          </a:blip>
          <a:stretch>
            <a:fillRect/>
          </a:stretch>
        </p:blipFill>
        <p:spPr>
          <a:xfrm>
            <a:off x="5270574" y="1007713"/>
            <a:ext cx="3226100" cy="37890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8"/>
          <p:cNvSpPr/>
          <p:nvPr/>
        </p:nvSpPr>
        <p:spPr>
          <a:xfrm>
            <a:off x="8027125" y="86350"/>
            <a:ext cx="981600" cy="1179600"/>
          </a:xfrm>
          <a:prstGeom prst="rect">
            <a:avLst/>
          </a:prstGeom>
          <a:noFill/>
          <a:ln cap="flat" cmpd="sng" w="19050">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Valenced interactions: Status theory</a:t>
            </a:r>
            <a:endParaRPr/>
          </a:p>
        </p:txBody>
      </p:sp>
      <p:sp>
        <p:nvSpPr>
          <p:cNvPr id="97" name="Google Shape;97;p18"/>
          <p:cNvSpPr txBox="1"/>
          <p:nvPr>
            <p:ph idx="1" type="body"/>
          </p:nvPr>
        </p:nvSpPr>
        <p:spPr>
          <a:xfrm>
            <a:off x="311700" y="1225225"/>
            <a:ext cx="4564800" cy="35598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
              <a:t>Status Theory</a:t>
            </a:r>
            <a:endParaRPr b="1"/>
          </a:p>
          <a:p>
            <a:pPr indent="-317500" lvl="1" marL="914400" rtl="0" algn="l">
              <a:spcBef>
                <a:spcPts val="0"/>
              </a:spcBef>
              <a:spcAft>
                <a:spcPts val="0"/>
              </a:spcAft>
              <a:buSzPts val="1400"/>
              <a:buChar char="○"/>
            </a:pPr>
            <a:r>
              <a:rPr lang="en"/>
              <a:t>Designed to explain distribution of positive and negative ties in </a:t>
            </a:r>
            <a:r>
              <a:rPr b="1" lang="en"/>
              <a:t>valenced</a:t>
            </a:r>
            <a:r>
              <a:rPr lang="en"/>
              <a:t> networks with </a:t>
            </a:r>
            <a:r>
              <a:rPr b="1" lang="en"/>
              <a:t>directed</a:t>
            </a:r>
            <a:r>
              <a:rPr lang="en"/>
              <a:t> ties</a:t>
            </a:r>
            <a:endParaRPr/>
          </a:p>
          <a:p>
            <a:pPr indent="-342900" lvl="0" marL="457200" rtl="0" algn="l">
              <a:spcBef>
                <a:spcPts val="0"/>
              </a:spcBef>
              <a:spcAft>
                <a:spcPts val="0"/>
              </a:spcAft>
              <a:buSzPts val="1800"/>
              <a:buChar char="●"/>
            </a:pPr>
            <a:r>
              <a:rPr lang="en"/>
              <a:t>First principle:</a:t>
            </a:r>
            <a:endParaRPr/>
          </a:p>
          <a:p>
            <a:pPr indent="-317500" lvl="1" marL="914400" rtl="0" algn="l">
              <a:spcBef>
                <a:spcPts val="0"/>
              </a:spcBef>
              <a:spcAft>
                <a:spcPts val="0"/>
              </a:spcAft>
              <a:buSzPts val="1400"/>
              <a:buChar char="○"/>
            </a:pPr>
            <a:r>
              <a:rPr lang="en"/>
              <a:t>Status in valenced networks is determined by sign of ties received</a:t>
            </a:r>
            <a:endParaRPr/>
          </a:p>
          <a:p>
            <a:pPr indent="-317500" lvl="2" marL="1371600" rtl="0" algn="l">
              <a:spcBef>
                <a:spcPts val="0"/>
              </a:spcBef>
              <a:spcAft>
                <a:spcPts val="0"/>
              </a:spcAft>
              <a:buClr>
                <a:srgbClr val="000000"/>
              </a:buClr>
              <a:buSzPts val="1400"/>
              <a:buChar char="■"/>
            </a:pPr>
            <a:r>
              <a:rPr lang="en">
                <a:solidFill>
                  <a:srgbClr val="000000"/>
                </a:solidFill>
              </a:rPr>
              <a:t>High status</a:t>
            </a:r>
            <a:endParaRPr>
              <a:solidFill>
                <a:srgbClr val="000000"/>
              </a:solidFill>
            </a:endParaRPr>
          </a:p>
          <a:p>
            <a:pPr indent="-317500" lvl="3" marL="1828800" rtl="0" algn="l">
              <a:spcBef>
                <a:spcPts val="0"/>
              </a:spcBef>
              <a:spcAft>
                <a:spcPts val="0"/>
              </a:spcAft>
              <a:buSzPts val="1400"/>
              <a:buChar char="●"/>
            </a:pPr>
            <a:r>
              <a:rPr i="1" lang="en"/>
              <a:t>Lots of incoming </a:t>
            </a:r>
            <a:r>
              <a:rPr b="1" i="1" lang="en">
                <a:solidFill>
                  <a:srgbClr val="6AA84F"/>
                </a:solidFill>
              </a:rPr>
              <a:t>positive</a:t>
            </a:r>
            <a:r>
              <a:rPr i="1" lang="en"/>
              <a:t> ties</a:t>
            </a:r>
            <a:endParaRPr i="1"/>
          </a:p>
          <a:p>
            <a:pPr indent="-317500" lvl="2" marL="1371600" rtl="0" algn="l">
              <a:spcBef>
                <a:spcPts val="0"/>
              </a:spcBef>
              <a:spcAft>
                <a:spcPts val="0"/>
              </a:spcAft>
              <a:buClr>
                <a:srgbClr val="000000"/>
              </a:buClr>
              <a:buSzPts val="1400"/>
              <a:buChar char="■"/>
            </a:pPr>
            <a:r>
              <a:rPr lang="en">
                <a:solidFill>
                  <a:srgbClr val="000000"/>
                </a:solidFill>
              </a:rPr>
              <a:t>Low status </a:t>
            </a:r>
            <a:endParaRPr>
              <a:solidFill>
                <a:srgbClr val="000000"/>
              </a:solidFill>
            </a:endParaRPr>
          </a:p>
          <a:p>
            <a:pPr indent="-317500" lvl="3" marL="1828800" rtl="0" algn="l">
              <a:spcBef>
                <a:spcPts val="0"/>
              </a:spcBef>
              <a:spcAft>
                <a:spcPts val="0"/>
              </a:spcAft>
              <a:buSzPts val="1400"/>
              <a:buChar char="●"/>
            </a:pPr>
            <a:r>
              <a:rPr i="1" lang="en"/>
              <a:t>Lots of incoming </a:t>
            </a:r>
            <a:r>
              <a:rPr b="1" i="1" lang="en">
                <a:solidFill>
                  <a:srgbClr val="FF0000"/>
                </a:solidFill>
              </a:rPr>
              <a:t>negative</a:t>
            </a:r>
            <a:r>
              <a:rPr i="1" lang="en"/>
              <a:t> ties</a:t>
            </a:r>
            <a:endParaRPr i="1"/>
          </a:p>
          <a:p>
            <a:pPr indent="-317500" lvl="2" marL="1371600" rtl="0" algn="l">
              <a:spcBef>
                <a:spcPts val="0"/>
              </a:spcBef>
              <a:spcAft>
                <a:spcPts val="0"/>
              </a:spcAft>
              <a:buSzPts val="1400"/>
              <a:buChar char="■"/>
            </a:pPr>
            <a:r>
              <a:rPr lang="en"/>
              <a:t>Directed </a:t>
            </a:r>
            <a:r>
              <a:rPr b="1" lang="en"/>
              <a:t>positive</a:t>
            </a:r>
            <a:r>
              <a:rPr lang="en"/>
              <a:t> tie from i →j:</a:t>
            </a:r>
            <a:endParaRPr/>
          </a:p>
          <a:p>
            <a:pPr indent="-317500" lvl="3" marL="1828800" rtl="0" algn="l">
              <a:spcBef>
                <a:spcPts val="0"/>
              </a:spcBef>
              <a:spcAft>
                <a:spcPts val="0"/>
              </a:spcAft>
              <a:buSzPts val="1400"/>
              <a:buChar char="●"/>
            </a:pPr>
            <a:r>
              <a:rPr lang="en"/>
              <a:t>I thinks of j as </a:t>
            </a:r>
            <a:r>
              <a:rPr b="1" lang="en"/>
              <a:t>higher</a:t>
            </a:r>
            <a:r>
              <a:rPr lang="en"/>
              <a:t> status</a:t>
            </a:r>
            <a:endParaRPr/>
          </a:p>
          <a:p>
            <a:pPr indent="0" lvl="0" marL="1828800" rtl="0" algn="l">
              <a:spcBef>
                <a:spcPts val="1600"/>
              </a:spcBef>
              <a:spcAft>
                <a:spcPts val="0"/>
              </a:spcAft>
              <a:buNone/>
            </a:pPr>
            <a:r>
              <a:rPr i="1" lang="en"/>
              <a:t> </a:t>
            </a:r>
            <a:endParaRPr i="1"/>
          </a:p>
          <a:p>
            <a:pPr indent="0" lvl="0" marL="914400" rtl="0" algn="l">
              <a:spcBef>
                <a:spcPts val="1600"/>
              </a:spcBef>
              <a:spcAft>
                <a:spcPts val="0"/>
              </a:spcAft>
              <a:buNone/>
            </a:pPr>
            <a:r>
              <a:t/>
            </a:r>
            <a:endParaRPr/>
          </a:p>
          <a:p>
            <a:pPr indent="0" lvl="0" marL="0" rtl="0" algn="l">
              <a:spcBef>
                <a:spcPts val="1600"/>
              </a:spcBef>
              <a:spcAft>
                <a:spcPts val="1600"/>
              </a:spcAft>
              <a:buNone/>
            </a:pPr>
            <a:r>
              <a:t/>
            </a:r>
            <a:endParaRPr/>
          </a:p>
        </p:txBody>
      </p:sp>
      <p:sp>
        <p:nvSpPr>
          <p:cNvPr id="98" name="Google Shape;98;p18"/>
          <p:cNvSpPr/>
          <p:nvPr/>
        </p:nvSpPr>
        <p:spPr>
          <a:xfrm>
            <a:off x="6598775" y="2235400"/>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8"/>
          <p:cNvSpPr/>
          <p:nvPr/>
        </p:nvSpPr>
        <p:spPr>
          <a:xfrm>
            <a:off x="6108150" y="1369000"/>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8"/>
          <p:cNvSpPr/>
          <p:nvPr/>
        </p:nvSpPr>
        <p:spPr>
          <a:xfrm>
            <a:off x="6598763" y="1369000"/>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8"/>
          <p:cNvSpPr/>
          <p:nvPr/>
        </p:nvSpPr>
        <p:spPr>
          <a:xfrm>
            <a:off x="7111100" y="1369000"/>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2" name="Google Shape;102;p18"/>
          <p:cNvCxnSpPr>
            <a:stCxn id="99" idx="4"/>
            <a:endCxn id="98" idx="1"/>
          </p:cNvCxnSpPr>
          <p:nvPr/>
        </p:nvCxnSpPr>
        <p:spPr>
          <a:xfrm>
            <a:off x="6291150" y="1725100"/>
            <a:ext cx="361200" cy="562500"/>
          </a:xfrm>
          <a:prstGeom prst="straightConnector1">
            <a:avLst/>
          </a:prstGeom>
          <a:noFill/>
          <a:ln cap="flat" cmpd="sng" w="19050">
            <a:solidFill>
              <a:srgbClr val="6AA84F"/>
            </a:solidFill>
            <a:prstDash val="solid"/>
            <a:round/>
            <a:headEnd len="med" w="med" type="none"/>
            <a:tailEnd len="med" w="med" type="triangle"/>
          </a:ln>
        </p:spPr>
      </p:cxnSp>
      <p:cxnSp>
        <p:nvCxnSpPr>
          <p:cNvPr id="103" name="Google Shape;103;p18"/>
          <p:cNvCxnSpPr>
            <a:stCxn id="100" idx="4"/>
            <a:endCxn id="98" idx="0"/>
          </p:cNvCxnSpPr>
          <p:nvPr/>
        </p:nvCxnSpPr>
        <p:spPr>
          <a:xfrm>
            <a:off x="6781763" y="1725100"/>
            <a:ext cx="0" cy="510300"/>
          </a:xfrm>
          <a:prstGeom prst="straightConnector1">
            <a:avLst/>
          </a:prstGeom>
          <a:noFill/>
          <a:ln cap="flat" cmpd="sng" w="19050">
            <a:solidFill>
              <a:srgbClr val="6AA84F"/>
            </a:solidFill>
            <a:prstDash val="solid"/>
            <a:round/>
            <a:headEnd len="med" w="med" type="none"/>
            <a:tailEnd len="med" w="med" type="triangle"/>
          </a:ln>
        </p:spPr>
      </p:cxnSp>
      <p:cxnSp>
        <p:nvCxnSpPr>
          <p:cNvPr id="104" name="Google Shape;104;p18"/>
          <p:cNvCxnSpPr>
            <a:stCxn id="101" idx="4"/>
            <a:endCxn id="98" idx="7"/>
          </p:cNvCxnSpPr>
          <p:nvPr/>
        </p:nvCxnSpPr>
        <p:spPr>
          <a:xfrm flipH="1">
            <a:off x="6911300" y="1725100"/>
            <a:ext cx="382800" cy="562500"/>
          </a:xfrm>
          <a:prstGeom prst="straightConnector1">
            <a:avLst/>
          </a:prstGeom>
          <a:noFill/>
          <a:ln cap="flat" cmpd="sng" w="19050">
            <a:solidFill>
              <a:srgbClr val="6AA84F"/>
            </a:solidFill>
            <a:prstDash val="solid"/>
            <a:round/>
            <a:headEnd len="med" w="med" type="none"/>
            <a:tailEnd len="med" w="med" type="triangle"/>
          </a:ln>
        </p:spPr>
      </p:cxnSp>
      <p:sp>
        <p:nvSpPr>
          <p:cNvPr id="105" name="Google Shape;105;p18"/>
          <p:cNvSpPr/>
          <p:nvPr/>
        </p:nvSpPr>
        <p:spPr>
          <a:xfrm>
            <a:off x="8192860" y="472152"/>
            <a:ext cx="191400" cy="1932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8"/>
          <p:cNvSpPr/>
          <p:nvPr/>
        </p:nvSpPr>
        <p:spPr>
          <a:xfrm>
            <a:off x="8192860" y="216793"/>
            <a:ext cx="191400" cy="19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7" name="Google Shape;107;p18"/>
          <p:cNvCxnSpPr/>
          <p:nvPr/>
        </p:nvCxnSpPr>
        <p:spPr>
          <a:xfrm flipH="1" rot="10800000">
            <a:off x="8124842" y="847730"/>
            <a:ext cx="327600" cy="5700"/>
          </a:xfrm>
          <a:prstGeom prst="straightConnector1">
            <a:avLst/>
          </a:prstGeom>
          <a:noFill/>
          <a:ln cap="flat" cmpd="sng" w="38100">
            <a:solidFill>
              <a:srgbClr val="FF0000"/>
            </a:solidFill>
            <a:prstDash val="solid"/>
            <a:round/>
            <a:headEnd len="med" w="med" type="none"/>
            <a:tailEnd len="med" w="med" type="triangle"/>
          </a:ln>
        </p:spPr>
      </p:cxnSp>
      <p:cxnSp>
        <p:nvCxnSpPr>
          <p:cNvPr id="108" name="Google Shape;108;p18"/>
          <p:cNvCxnSpPr/>
          <p:nvPr/>
        </p:nvCxnSpPr>
        <p:spPr>
          <a:xfrm flipH="1" rot="10800000">
            <a:off x="8124842" y="1076729"/>
            <a:ext cx="327600" cy="5700"/>
          </a:xfrm>
          <a:prstGeom prst="straightConnector1">
            <a:avLst/>
          </a:prstGeom>
          <a:noFill/>
          <a:ln cap="flat" cmpd="sng" w="38100">
            <a:solidFill>
              <a:srgbClr val="6AA84F"/>
            </a:solidFill>
            <a:prstDash val="solid"/>
            <a:round/>
            <a:headEnd len="med" w="med" type="none"/>
            <a:tailEnd len="med" w="med" type="triangle"/>
          </a:ln>
        </p:spPr>
      </p:cxnSp>
      <p:sp>
        <p:nvSpPr>
          <p:cNvPr id="109" name="Google Shape;109;p18"/>
          <p:cNvSpPr txBox="1"/>
          <p:nvPr/>
        </p:nvSpPr>
        <p:spPr>
          <a:xfrm>
            <a:off x="8384249" y="151200"/>
            <a:ext cx="676500" cy="1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sz="1100">
                <a:latin typeface="Comfortaa"/>
                <a:ea typeface="Comfortaa"/>
                <a:cs typeface="Comfortaa"/>
                <a:sym typeface="Comfortaa"/>
              </a:rPr>
              <a:t>Ego</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Other</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Neg.</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Pos.</a:t>
            </a:r>
            <a:endParaRPr b="1" sz="1100">
              <a:latin typeface="Comfortaa"/>
              <a:ea typeface="Comfortaa"/>
              <a:cs typeface="Comfortaa"/>
              <a:sym typeface="Comfortaa"/>
            </a:endParaRPr>
          </a:p>
        </p:txBody>
      </p:sp>
      <p:sp>
        <p:nvSpPr>
          <p:cNvPr id="110" name="Google Shape;110;p18"/>
          <p:cNvSpPr txBox="1"/>
          <p:nvPr/>
        </p:nvSpPr>
        <p:spPr>
          <a:xfrm>
            <a:off x="6198125" y="2670675"/>
            <a:ext cx="1167300" cy="24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High Status</a:t>
            </a:r>
            <a:endParaRPr>
              <a:latin typeface="Open Sans"/>
              <a:ea typeface="Open Sans"/>
              <a:cs typeface="Open Sans"/>
              <a:sym typeface="Open Sans"/>
            </a:endParaRPr>
          </a:p>
        </p:txBody>
      </p:sp>
      <p:sp>
        <p:nvSpPr>
          <p:cNvPr id="111" name="Google Shape;111;p18"/>
          <p:cNvSpPr/>
          <p:nvPr/>
        </p:nvSpPr>
        <p:spPr>
          <a:xfrm>
            <a:off x="6587925" y="4059200"/>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8"/>
          <p:cNvSpPr/>
          <p:nvPr/>
        </p:nvSpPr>
        <p:spPr>
          <a:xfrm>
            <a:off x="6097300" y="3192800"/>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8"/>
          <p:cNvSpPr/>
          <p:nvPr/>
        </p:nvSpPr>
        <p:spPr>
          <a:xfrm>
            <a:off x="6587913" y="3192800"/>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8"/>
          <p:cNvSpPr/>
          <p:nvPr/>
        </p:nvSpPr>
        <p:spPr>
          <a:xfrm>
            <a:off x="7100250" y="3192800"/>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5" name="Google Shape;115;p18"/>
          <p:cNvCxnSpPr>
            <a:stCxn id="112" idx="4"/>
            <a:endCxn id="111" idx="1"/>
          </p:cNvCxnSpPr>
          <p:nvPr/>
        </p:nvCxnSpPr>
        <p:spPr>
          <a:xfrm>
            <a:off x="6280300" y="3548900"/>
            <a:ext cx="361200" cy="562500"/>
          </a:xfrm>
          <a:prstGeom prst="straightConnector1">
            <a:avLst/>
          </a:prstGeom>
          <a:noFill/>
          <a:ln cap="flat" cmpd="sng" w="19050">
            <a:solidFill>
              <a:srgbClr val="FF0000"/>
            </a:solidFill>
            <a:prstDash val="solid"/>
            <a:round/>
            <a:headEnd len="med" w="med" type="none"/>
            <a:tailEnd len="med" w="med" type="triangle"/>
          </a:ln>
        </p:spPr>
      </p:cxnSp>
      <p:cxnSp>
        <p:nvCxnSpPr>
          <p:cNvPr id="116" name="Google Shape;116;p18"/>
          <p:cNvCxnSpPr>
            <a:stCxn id="113" idx="4"/>
            <a:endCxn id="111" idx="0"/>
          </p:cNvCxnSpPr>
          <p:nvPr/>
        </p:nvCxnSpPr>
        <p:spPr>
          <a:xfrm>
            <a:off x="6770913" y="3548900"/>
            <a:ext cx="0" cy="510300"/>
          </a:xfrm>
          <a:prstGeom prst="straightConnector1">
            <a:avLst/>
          </a:prstGeom>
          <a:noFill/>
          <a:ln cap="flat" cmpd="sng" w="19050">
            <a:solidFill>
              <a:srgbClr val="FF0000"/>
            </a:solidFill>
            <a:prstDash val="solid"/>
            <a:round/>
            <a:headEnd len="med" w="med" type="none"/>
            <a:tailEnd len="med" w="med" type="triangle"/>
          </a:ln>
        </p:spPr>
      </p:cxnSp>
      <p:cxnSp>
        <p:nvCxnSpPr>
          <p:cNvPr id="117" name="Google Shape;117;p18"/>
          <p:cNvCxnSpPr>
            <a:stCxn id="114" idx="4"/>
            <a:endCxn id="111" idx="7"/>
          </p:cNvCxnSpPr>
          <p:nvPr/>
        </p:nvCxnSpPr>
        <p:spPr>
          <a:xfrm flipH="1">
            <a:off x="6900450" y="3548900"/>
            <a:ext cx="382800" cy="562500"/>
          </a:xfrm>
          <a:prstGeom prst="straightConnector1">
            <a:avLst/>
          </a:prstGeom>
          <a:noFill/>
          <a:ln cap="flat" cmpd="sng" w="19050">
            <a:solidFill>
              <a:srgbClr val="FF0000"/>
            </a:solidFill>
            <a:prstDash val="solid"/>
            <a:round/>
            <a:headEnd len="med" w="med" type="none"/>
            <a:tailEnd len="med" w="med" type="triangle"/>
          </a:ln>
        </p:spPr>
      </p:cxnSp>
      <p:sp>
        <p:nvSpPr>
          <p:cNvPr id="118" name="Google Shape;118;p18"/>
          <p:cNvSpPr txBox="1"/>
          <p:nvPr/>
        </p:nvSpPr>
        <p:spPr>
          <a:xfrm>
            <a:off x="6187275" y="4494475"/>
            <a:ext cx="1167300" cy="24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Low Status</a:t>
            </a:r>
            <a:endParaRPr>
              <a:latin typeface="Open Sans"/>
              <a:ea typeface="Open Sans"/>
              <a:cs typeface="Open Sans"/>
              <a:sym typeface="Open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9"/>
          <p:cNvSpPr/>
          <p:nvPr/>
        </p:nvSpPr>
        <p:spPr>
          <a:xfrm>
            <a:off x="8027125" y="86350"/>
            <a:ext cx="981600" cy="1179600"/>
          </a:xfrm>
          <a:prstGeom prst="rect">
            <a:avLst/>
          </a:prstGeom>
          <a:noFill/>
          <a:ln cap="flat" cmpd="sng" w="19050">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Valenced interactions: Status theory</a:t>
            </a:r>
            <a:endParaRPr/>
          </a:p>
        </p:txBody>
      </p:sp>
      <p:sp>
        <p:nvSpPr>
          <p:cNvPr id="125" name="Google Shape;125;p19"/>
          <p:cNvSpPr txBox="1"/>
          <p:nvPr>
            <p:ph idx="1" type="body"/>
          </p:nvPr>
        </p:nvSpPr>
        <p:spPr>
          <a:xfrm>
            <a:off x="311700" y="1225225"/>
            <a:ext cx="4564800" cy="35598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
              <a:t>Status Theory</a:t>
            </a:r>
            <a:endParaRPr b="1"/>
          </a:p>
          <a:p>
            <a:pPr indent="-317500" lvl="1" marL="914400" rtl="0" algn="l">
              <a:spcBef>
                <a:spcPts val="0"/>
              </a:spcBef>
              <a:spcAft>
                <a:spcPts val="0"/>
              </a:spcAft>
              <a:buSzPts val="1400"/>
              <a:buChar char="○"/>
            </a:pPr>
            <a:r>
              <a:rPr lang="en"/>
              <a:t>Designed to explain distribution of positive and negative ties in </a:t>
            </a:r>
            <a:r>
              <a:rPr b="1" lang="en"/>
              <a:t>valenced</a:t>
            </a:r>
            <a:r>
              <a:rPr lang="en"/>
              <a:t> networks with </a:t>
            </a:r>
            <a:r>
              <a:rPr b="1" lang="en"/>
              <a:t>directed</a:t>
            </a:r>
            <a:r>
              <a:rPr lang="en"/>
              <a:t> ties</a:t>
            </a:r>
            <a:endParaRPr/>
          </a:p>
          <a:p>
            <a:pPr indent="-342900" lvl="0" marL="457200" rtl="0" algn="l">
              <a:spcBef>
                <a:spcPts val="0"/>
              </a:spcBef>
              <a:spcAft>
                <a:spcPts val="0"/>
              </a:spcAft>
              <a:buSzPts val="1800"/>
              <a:buChar char="●"/>
            </a:pPr>
            <a:r>
              <a:rPr lang="en"/>
              <a:t>First principle:</a:t>
            </a:r>
            <a:endParaRPr/>
          </a:p>
          <a:p>
            <a:pPr indent="-317500" lvl="1" marL="914400" rtl="0" algn="l">
              <a:spcBef>
                <a:spcPts val="0"/>
              </a:spcBef>
              <a:spcAft>
                <a:spcPts val="0"/>
              </a:spcAft>
              <a:buSzPts val="1400"/>
              <a:buChar char="○"/>
            </a:pPr>
            <a:r>
              <a:rPr lang="en"/>
              <a:t>Status in valenced networks is determined by sign of ties received</a:t>
            </a:r>
            <a:endParaRPr/>
          </a:p>
          <a:p>
            <a:pPr indent="-317500" lvl="2" marL="1371600" rtl="0" algn="l">
              <a:spcBef>
                <a:spcPts val="0"/>
              </a:spcBef>
              <a:spcAft>
                <a:spcPts val="0"/>
              </a:spcAft>
              <a:buClr>
                <a:srgbClr val="000000"/>
              </a:buClr>
              <a:buSzPts val="1400"/>
              <a:buChar char="■"/>
            </a:pPr>
            <a:r>
              <a:rPr lang="en">
                <a:solidFill>
                  <a:srgbClr val="000000"/>
                </a:solidFill>
              </a:rPr>
              <a:t>High status</a:t>
            </a:r>
            <a:endParaRPr>
              <a:solidFill>
                <a:srgbClr val="000000"/>
              </a:solidFill>
            </a:endParaRPr>
          </a:p>
          <a:p>
            <a:pPr indent="-317500" lvl="3" marL="1828800" rtl="0" algn="l">
              <a:spcBef>
                <a:spcPts val="0"/>
              </a:spcBef>
              <a:spcAft>
                <a:spcPts val="0"/>
              </a:spcAft>
              <a:buSzPts val="1400"/>
              <a:buChar char="●"/>
            </a:pPr>
            <a:r>
              <a:rPr i="1" lang="en"/>
              <a:t>Lots of incoming </a:t>
            </a:r>
            <a:r>
              <a:rPr b="1" i="1" lang="en">
                <a:solidFill>
                  <a:srgbClr val="6AA84F"/>
                </a:solidFill>
              </a:rPr>
              <a:t>positive</a:t>
            </a:r>
            <a:r>
              <a:rPr i="1" lang="en"/>
              <a:t> ties</a:t>
            </a:r>
            <a:endParaRPr i="1"/>
          </a:p>
          <a:p>
            <a:pPr indent="-317500" lvl="2" marL="1371600" rtl="0" algn="l">
              <a:spcBef>
                <a:spcPts val="0"/>
              </a:spcBef>
              <a:spcAft>
                <a:spcPts val="0"/>
              </a:spcAft>
              <a:buClr>
                <a:srgbClr val="000000"/>
              </a:buClr>
              <a:buSzPts val="1400"/>
              <a:buChar char="■"/>
            </a:pPr>
            <a:r>
              <a:rPr lang="en">
                <a:solidFill>
                  <a:srgbClr val="000000"/>
                </a:solidFill>
              </a:rPr>
              <a:t>Low status </a:t>
            </a:r>
            <a:endParaRPr>
              <a:solidFill>
                <a:srgbClr val="000000"/>
              </a:solidFill>
            </a:endParaRPr>
          </a:p>
          <a:p>
            <a:pPr indent="-317500" lvl="3" marL="1828800" rtl="0" algn="l">
              <a:spcBef>
                <a:spcPts val="0"/>
              </a:spcBef>
              <a:spcAft>
                <a:spcPts val="0"/>
              </a:spcAft>
              <a:buSzPts val="1400"/>
              <a:buChar char="●"/>
            </a:pPr>
            <a:r>
              <a:rPr i="1" lang="en"/>
              <a:t>Lots of incoming </a:t>
            </a:r>
            <a:r>
              <a:rPr b="1" i="1" lang="en">
                <a:solidFill>
                  <a:srgbClr val="FF0000"/>
                </a:solidFill>
              </a:rPr>
              <a:t>negative</a:t>
            </a:r>
            <a:r>
              <a:rPr i="1" lang="en"/>
              <a:t> ties</a:t>
            </a:r>
            <a:endParaRPr i="1"/>
          </a:p>
          <a:p>
            <a:pPr indent="-317500" lvl="2" marL="1371600" rtl="0" algn="l">
              <a:spcBef>
                <a:spcPts val="0"/>
              </a:spcBef>
              <a:spcAft>
                <a:spcPts val="0"/>
              </a:spcAft>
              <a:buSzPts val="1400"/>
              <a:buChar char="■"/>
            </a:pPr>
            <a:r>
              <a:rPr lang="en"/>
              <a:t>Directed </a:t>
            </a:r>
            <a:r>
              <a:rPr b="1" lang="en"/>
              <a:t>negative</a:t>
            </a:r>
            <a:r>
              <a:rPr lang="en"/>
              <a:t> tie from i →j:</a:t>
            </a:r>
            <a:endParaRPr/>
          </a:p>
          <a:p>
            <a:pPr indent="-317500" lvl="3" marL="1828800" rtl="0" algn="l">
              <a:spcBef>
                <a:spcPts val="0"/>
              </a:spcBef>
              <a:spcAft>
                <a:spcPts val="0"/>
              </a:spcAft>
              <a:buSzPts val="1400"/>
              <a:buChar char="●"/>
            </a:pPr>
            <a:r>
              <a:rPr lang="en"/>
              <a:t>I thinks of j as </a:t>
            </a:r>
            <a:r>
              <a:rPr b="1" lang="en"/>
              <a:t>lower</a:t>
            </a:r>
            <a:r>
              <a:rPr lang="en"/>
              <a:t> status</a:t>
            </a:r>
            <a:endParaRPr/>
          </a:p>
          <a:p>
            <a:pPr indent="0" lvl="0" marL="1828800" rtl="0" algn="l">
              <a:spcBef>
                <a:spcPts val="1600"/>
              </a:spcBef>
              <a:spcAft>
                <a:spcPts val="0"/>
              </a:spcAft>
              <a:buNone/>
            </a:pPr>
            <a:r>
              <a:rPr i="1" lang="en"/>
              <a:t> </a:t>
            </a:r>
            <a:endParaRPr i="1"/>
          </a:p>
          <a:p>
            <a:pPr indent="0" lvl="0" marL="914400" rtl="0" algn="l">
              <a:spcBef>
                <a:spcPts val="1600"/>
              </a:spcBef>
              <a:spcAft>
                <a:spcPts val="0"/>
              </a:spcAft>
              <a:buNone/>
            </a:pPr>
            <a:r>
              <a:t/>
            </a:r>
            <a:endParaRPr/>
          </a:p>
          <a:p>
            <a:pPr indent="0" lvl="0" marL="0" rtl="0" algn="l">
              <a:spcBef>
                <a:spcPts val="1600"/>
              </a:spcBef>
              <a:spcAft>
                <a:spcPts val="1600"/>
              </a:spcAft>
              <a:buNone/>
            </a:pPr>
            <a:r>
              <a:t/>
            </a:r>
            <a:endParaRPr/>
          </a:p>
        </p:txBody>
      </p:sp>
      <p:sp>
        <p:nvSpPr>
          <p:cNvPr id="126" name="Google Shape;126;p19"/>
          <p:cNvSpPr/>
          <p:nvPr/>
        </p:nvSpPr>
        <p:spPr>
          <a:xfrm>
            <a:off x="6598775" y="2235400"/>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9"/>
          <p:cNvSpPr/>
          <p:nvPr/>
        </p:nvSpPr>
        <p:spPr>
          <a:xfrm>
            <a:off x="6108150" y="1369000"/>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9"/>
          <p:cNvSpPr/>
          <p:nvPr/>
        </p:nvSpPr>
        <p:spPr>
          <a:xfrm>
            <a:off x="6598763" y="1369000"/>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9"/>
          <p:cNvSpPr/>
          <p:nvPr/>
        </p:nvSpPr>
        <p:spPr>
          <a:xfrm>
            <a:off x="7111100" y="1369000"/>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0" name="Google Shape;130;p19"/>
          <p:cNvCxnSpPr>
            <a:stCxn id="127" idx="4"/>
            <a:endCxn id="126" idx="1"/>
          </p:cNvCxnSpPr>
          <p:nvPr/>
        </p:nvCxnSpPr>
        <p:spPr>
          <a:xfrm>
            <a:off x="6291150" y="1725100"/>
            <a:ext cx="361200" cy="562500"/>
          </a:xfrm>
          <a:prstGeom prst="straightConnector1">
            <a:avLst/>
          </a:prstGeom>
          <a:noFill/>
          <a:ln cap="flat" cmpd="sng" w="19050">
            <a:solidFill>
              <a:srgbClr val="6AA84F"/>
            </a:solidFill>
            <a:prstDash val="solid"/>
            <a:round/>
            <a:headEnd len="med" w="med" type="none"/>
            <a:tailEnd len="med" w="med" type="triangle"/>
          </a:ln>
        </p:spPr>
      </p:cxnSp>
      <p:cxnSp>
        <p:nvCxnSpPr>
          <p:cNvPr id="131" name="Google Shape;131;p19"/>
          <p:cNvCxnSpPr>
            <a:stCxn id="128" idx="4"/>
            <a:endCxn id="126" idx="0"/>
          </p:cNvCxnSpPr>
          <p:nvPr/>
        </p:nvCxnSpPr>
        <p:spPr>
          <a:xfrm>
            <a:off x="6781763" y="1725100"/>
            <a:ext cx="0" cy="510300"/>
          </a:xfrm>
          <a:prstGeom prst="straightConnector1">
            <a:avLst/>
          </a:prstGeom>
          <a:noFill/>
          <a:ln cap="flat" cmpd="sng" w="19050">
            <a:solidFill>
              <a:srgbClr val="6AA84F"/>
            </a:solidFill>
            <a:prstDash val="solid"/>
            <a:round/>
            <a:headEnd len="med" w="med" type="none"/>
            <a:tailEnd len="med" w="med" type="triangle"/>
          </a:ln>
        </p:spPr>
      </p:cxnSp>
      <p:cxnSp>
        <p:nvCxnSpPr>
          <p:cNvPr id="132" name="Google Shape;132;p19"/>
          <p:cNvCxnSpPr>
            <a:stCxn id="129" idx="4"/>
            <a:endCxn id="126" idx="7"/>
          </p:cNvCxnSpPr>
          <p:nvPr/>
        </p:nvCxnSpPr>
        <p:spPr>
          <a:xfrm flipH="1">
            <a:off x="6911300" y="1725100"/>
            <a:ext cx="382800" cy="562500"/>
          </a:xfrm>
          <a:prstGeom prst="straightConnector1">
            <a:avLst/>
          </a:prstGeom>
          <a:noFill/>
          <a:ln cap="flat" cmpd="sng" w="19050">
            <a:solidFill>
              <a:srgbClr val="6AA84F"/>
            </a:solidFill>
            <a:prstDash val="solid"/>
            <a:round/>
            <a:headEnd len="med" w="med" type="none"/>
            <a:tailEnd len="med" w="med" type="triangle"/>
          </a:ln>
        </p:spPr>
      </p:cxnSp>
      <p:sp>
        <p:nvSpPr>
          <p:cNvPr id="133" name="Google Shape;133;p19"/>
          <p:cNvSpPr/>
          <p:nvPr/>
        </p:nvSpPr>
        <p:spPr>
          <a:xfrm>
            <a:off x="8192860" y="472152"/>
            <a:ext cx="191400" cy="1932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9"/>
          <p:cNvSpPr/>
          <p:nvPr/>
        </p:nvSpPr>
        <p:spPr>
          <a:xfrm>
            <a:off x="8192860" y="216793"/>
            <a:ext cx="191400" cy="19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5" name="Google Shape;135;p19"/>
          <p:cNvCxnSpPr/>
          <p:nvPr/>
        </p:nvCxnSpPr>
        <p:spPr>
          <a:xfrm flipH="1" rot="10800000">
            <a:off x="8124842" y="847730"/>
            <a:ext cx="327600" cy="5700"/>
          </a:xfrm>
          <a:prstGeom prst="straightConnector1">
            <a:avLst/>
          </a:prstGeom>
          <a:noFill/>
          <a:ln cap="flat" cmpd="sng" w="38100">
            <a:solidFill>
              <a:srgbClr val="FF0000"/>
            </a:solidFill>
            <a:prstDash val="solid"/>
            <a:round/>
            <a:headEnd len="med" w="med" type="none"/>
            <a:tailEnd len="med" w="med" type="triangle"/>
          </a:ln>
        </p:spPr>
      </p:cxnSp>
      <p:cxnSp>
        <p:nvCxnSpPr>
          <p:cNvPr id="136" name="Google Shape;136;p19"/>
          <p:cNvCxnSpPr/>
          <p:nvPr/>
        </p:nvCxnSpPr>
        <p:spPr>
          <a:xfrm flipH="1" rot="10800000">
            <a:off x="8124842" y="1076729"/>
            <a:ext cx="327600" cy="5700"/>
          </a:xfrm>
          <a:prstGeom prst="straightConnector1">
            <a:avLst/>
          </a:prstGeom>
          <a:noFill/>
          <a:ln cap="flat" cmpd="sng" w="38100">
            <a:solidFill>
              <a:srgbClr val="6AA84F"/>
            </a:solidFill>
            <a:prstDash val="solid"/>
            <a:round/>
            <a:headEnd len="med" w="med" type="none"/>
            <a:tailEnd len="med" w="med" type="triangle"/>
          </a:ln>
        </p:spPr>
      </p:cxnSp>
      <p:sp>
        <p:nvSpPr>
          <p:cNvPr id="137" name="Google Shape;137;p19"/>
          <p:cNvSpPr txBox="1"/>
          <p:nvPr/>
        </p:nvSpPr>
        <p:spPr>
          <a:xfrm>
            <a:off x="8384249" y="151200"/>
            <a:ext cx="676500" cy="1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sz="1100">
                <a:latin typeface="Comfortaa"/>
                <a:ea typeface="Comfortaa"/>
                <a:cs typeface="Comfortaa"/>
                <a:sym typeface="Comfortaa"/>
              </a:rPr>
              <a:t>Ego</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Other</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Neg.</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Pos.</a:t>
            </a:r>
            <a:endParaRPr b="1" sz="1100">
              <a:latin typeface="Comfortaa"/>
              <a:ea typeface="Comfortaa"/>
              <a:cs typeface="Comfortaa"/>
              <a:sym typeface="Comfortaa"/>
            </a:endParaRPr>
          </a:p>
        </p:txBody>
      </p:sp>
      <p:sp>
        <p:nvSpPr>
          <p:cNvPr id="138" name="Google Shape;138;p19"/>
          <p:cNvSpPr txBox="1"/>
          <p:nvPr/>
        </p:nvSpPr>
        <p:spPr>
          <a:xfrm>
            <a:off x="6198125" y="2670675"/>
            <a:ext cx="1167300" cy="24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High Status</a:t>
            </a:r>
            <a:endParaRPr>
              <a:latin typeface="Open Sans"/>
              <a:ea typeface="Open Sans"/>
              <a:cs typeface="Open Sans"/>
              <a:sym typeface="Open Sans"/>
            </a:endParaRPr>
          </a:p>
        </p:txBody>
      </p:sp>
      <p:sp>
        <p:nvSpPr>
          <p:cNvPr id="139" name="Google Shape;139;p19"/>
          <p:cNvSpPr/>
          <p:nvPr/>
        </p:nvSpPr>
        <p:spPr>
          <a:xfrm>
            <a:off x="6587925" y="4059200"/>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9"/>
          <p:cNvSpPr/>
          <p:nvPr/>
        </p:nvSpPr>
        <p:spPr>
          <a:xfrm>
            <a:off x="6097300" y="3192800"/>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9"/>
          <p:cNvSpPr/>
          <p:nvPr/>
        </p:nvSpPr>
        <p:spPr>
          <a:xfrm>
            <a:off x="6587913" y="3192800"/>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9"/>
          <p:cNvSpPr/>
          <p:nvPr/>
        </p:nvSpPr>
        <p:spPr>
          <a:xfrm>
            <a:off x="7100250" y="3192800"/>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3" name="Google Shape;143;p19"/>
          <p:cNvCxnSpPr>
            <a:stCxn id="140" idx="4"/>
            <a:endCxn id="139" idx="1"/>
          </p:cNvCxnSpPr>
          <p:nvPr/>
        </p:nvCxnSpPr>
        <p:spPr>
          <a:xfrm>
            <a:off x="6280300" y="3548900"/>
            <a:ext cx="361200" cy="562500"/>
          </a:xfrm>
          <a:prstGeom prst="straightConnector1">
            <a:avLst/>
          </a:prstGeom>
          <a:noFill/>
          <a:ln cap="flat" cmpd="sng" w="19050">
            <a:solidFill>
              <a:srgbClr val="FF0000"/>
            </a:solidFill>
            <a:prstDash val="solid"/>
            <a:round/>
            <a:headEnd len="med" w="med" type="none"/>
            <a:tailEnd len="med" w="med" type="triangle"/>
          </a:ln>
        </p:spPr>
      </p:cxnSp>
      <p:cxnSp>
        <p:nvCxnSpPr>
          <p:cNvPr id="144" name="Google Shape;144;p19"/>
          <p:cNvCxnSpPr>
            <a:stCxn id="141" idx="4"/>
            <a:endCxn id="139" idx="0"/>
          </p:cNvCxnSpPr>
          <p:nvPr/>
        </p:nvCxnSpPr>
        <p:spPr>
          <a:xfrm>
            <a:off x="6770913" y="3548900"/>
            <a:ext cx="0" cy="510300"/>
          </a:xfrm>
          <a:prstGeom prst="straightConnector1">
            <a:avLst/>
          </a:prstGeom>
          <a:noFill/>
          <a:ln cap="flat" cmpd="sng" w="19050">
            <a:solidFill>
              <a:srgbClr val="FF0000"/>
            </a:solidFill>
            <a:prstDash val="solid"/>
            <a:round/>
            <a:headEnd len="med" w="med" type="none"/>
            <a:tailEnd len="med" w="med" type="triangle"/>
          </a:ln>
        </p:spPr>
      </p:cxnSp>
      <p:cxnSp>
        <p:nvCxnSpPr>
          <p:cNvPr id="145" name="Google Shape;145;p19"/>
          <p:cNvCxnSpPr>
            <a:stCxn id="142" idx="4"/>
            <a:endCxn id="139" idx="7"/>
          </p:cNvCxnSpPr>
          <p:nvPr/>
        </p:nvCxnSpPr>
        <p:spPr>
          <a:xfrm flipH="1">
            <a:off x="6900450" y="3548900"/>
            <a:ext cx="382800" cy="562500"/>
          </a:xfrm>
          <a:prstGeom prst="straightConnector1">
            <a:avLst/>
          </a:prstGeom>
          <a:noFill/>
          <a:ln cap="flat" cmpd="sng" w="19050">
            <a:solidFill>
              <a:srgbClr val="FF0000"/>
            </a:solidFill>
            <a:prstDash val="solid"/>
            <a:round/>
            <a:headEnd len="med" w="med" type="none"/>
            <a:tailEnd len="med" w="med" type="triangle"/>
          </a:ln>
        </p:spPr>
      </p:cxnSp>
      <p:sp>
        <p:nvSpPr>
          <p:cNvPr id="146" name="Google Shape;146;p19"/>
          <p:cNvSpPr txBox="1"/>
          <p:nvPr/>
        </p:nvSpPr>
        <p:spPr>
          <a:xfrm>
            <a:off x="6187275" y="4494475"/>
            <a:ext cx="1167300" cy="24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Low Status</a:t>
            </a:r>
            <a:endParaRPr>
              <a:latin typeface="Open Sans"/>
              <a:ea typeface="Open Sans"/>
              <a:cs typeface="Open Sans"/>
              <a:sym typeface="Open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0"/>
          <p:cNvSpPr/>
          <p:nvPr/>
        </p:nvSpPr>
        <p:spPr>
          <a:xfrm>
            <a:off x="5776550" y="1332338"/>
            <a:ext cx="2739900" cy="15939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2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Valenced interactions: Status theory</a:t>
            </a:r>
            <a:endParaRPr/>
          </a:p>
        </p:txBody>
      </p:sp>
      <p:sp>
        <p:nvSpPr>
          <p:cNvPr id="153" name="Google Shape;153;p20"/>
          <p:cNvSpPr txBox="1"/>
          <p:nvPr>
            <p:ph idx="1" type="body"/>
          </p:nvPr>
        </p:nvSpPr>
        <p:spPr>
          <a:xfrm>
            <a:off x="311700" y="1225225"/>
            <a:ext cx="45351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
              <a:t>Status Theory</a:t>
            </a:r>
            <a:endParaRPr b="1"/>
          </a:p>
          <a:p>
            <a:pPr indent="-317500" lvl="1" marL="914400" rtl="0" algn="l">
              <a:spcBef>
                <a:spcPts val="0"/>
              </a:spcBef>
              <a:spcAft>
                <a:spcPts val="0"/>
              </a:spcAft>
              <a:buSzPts val="1400"/>
              <a:buChar char="○"/>
            </a:pPr>
            <a:r>
              <a:rPr lang="en"/>
              <a:t>Designed to explain distribution of positive and negative ties in </a:t>
            </a:r>
            <a:r>
              <a:rPr b="1" lang="en"/>
              <a:t>valenced</a:t>
            </a:r>
            <a:r>
              <a:rPr lang="en"/>
              <a:t> networks with </a:t>
            </a:r>
            <a:r>
              <a:rPr b="1" lang="en"/>
              <a:t>directed</a:t>
            </a:r>
            <a:r>
              <a:rPr lang="en"/>
              <a:t> ties</a:t>
            </a:r>
            <a:endParaRPr/>
          </a:p>
          <a:p>
            <a:pPr indent="-342900" lvl="0" marL="457200" rtl="0" algn="l">
              <a:spcBef>
                <a:spcPts val="0"/>
              </a:spcBef>
              <a:spcAft>
                <a:spcPts val="0"/>
              </a:spcAft>
              <a:buSzPts val="1800"/>
              <a:buChar char="●"/>
            </a:pPr>
            <a:r>
              <a:rPr lang="en"/>
              <a:t>Second principle:</a:t>
            </a:r>
            <a:endParaRPr/>
          </a:p>
          <a:p>
            <a:pPr indent="-317500" lvl="1" marL="914400" rtl="0" algn="l">
              <a:spcBef>
                <a:spcPts val="0"/>
              </a:spcBef>
              <a:spcAft>
                <a:spcPts val="0"/>
              </a:spcAft>
              <a:buSzPts val="1400"/>
              <a:buChar char="○"/>
            </a:pPr>
            <a:r>
              <a:rPr lang="en" sz="1400"/>
              <a:t>Status of nodes is also determined by the sign of their connections to (high and low status) others</a:t>
            </a:r>
            <a:r>
              <a:rPr i="1" lang="en"/>
              <a:t> </a:t>
            </a:r>
            <a:endParaRPr i="1"/>
          </a:p>
          <a:p>
            <a:pPr indent="-317500" lvl="2" marL="1371600" rtl="0" algn="l">
              <a:spcBef>
                <a:spcPts val="0"/>
              </a:spcBef>
              <a:spcAft>
                <a:spcPts val="0"/>
              </a:spcAft>
              <a:buClr>
                <a:srgbClr val="FF0000"/>
              </a:buClr>
              <a:buSzPts val="1400"/>
              <a:buChar char="■"/>
            </a:pPr>
            <a:r>
              <a:rPr lang="en">
                <a:solidFill>
                  <a:srgbClr val="FF0000"/>
                </a:solidFill>
              </a:rPr>
              <a:t>Positive ties to high status others increase status</a:t>
            </a:r>
            <a:endParaRPr>
              <a:solidFill>
                <a:srgbClr val="FF0000"/>
              </a:solidFill>
            </a:endParaRPr>
          </a:p>
          <a:p>
            <a:pPr indent="-317500" lvl="2" marL="1371600" rtl="0" algn="l">
              <a:spcBef>
                <a:spcPts val="0"/>
              </a:spcBef>
              <a:spcAft>
                <a:spcPts val="0"/>
              </a:spcAft>
              <a:buSzPts val="1400"/>
              <a:buChar char="■"/>
            </a:pPr>
            <a:r>
              <a:rPr lang="en"/>
              <a:t>Positive ties to low status others decrease status</a:t>
            </a:r>
            <a:endParaRPr/>
          </a:p>
          <a:p>
            <a:pPr indent="0" lvl="0" marL="914400" rtl="0" algn="l">
              <a:spcBef>
                <a:spcPts val="1600"/>
              </a:spcBef>
              <a:spcAft>
                <a:spcPts val="0"/>
              </a:spcAft>
              <a:buNone/>
            </a:pPr>
            <a:r>
              <a:t/>
            </a:r>
            <a:endParaRPr/>
          </a:p>
          <a:p>
            <a:pPr indent="0" lvl="0" marL="0" rtl="0" algn="l">
              <a:spcBef>
                <a:spcPts val="1600"/>
              </a:spcBef>
              <a:spcAft>
                <a:spcPts val="1600"/>
              </a:spcAft>
              <a:buNone/>
            </a:pPr>
            <a:r>
              <a:t/>
            </a:r>
            <a:endParaRPr/>
          </a:p>
        </p:txBody>
      </p:sp>
      <p:sp>
        <p:nvSpPr>
          <p:cNvPr id="154" name="Google Shape;154;p20"/>
          <p:cNvSpPr/>
          <p:nvPr/>
        </p:nvSpPr>
        <p:spPr>
          <a:xfrm>
            <a:off x="7360375" y="2245300"/>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20"/>
          <p:cNvSpPr/>
          <p:nvPr/>
        </p:nvSpPr>
        <p:spPr>
          <a:xfrm>
            <a:off x="6869750" y="1378900"/>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20"/>
          <p:cNvSpPr/>
          <p:nvPr/>
        </p:nvSpPr>
        <p:spPr>
          <a:xfrm>
            <a:off x="7360363" y="1378900"/>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57" name="Google Shape;157;p20"/>
          <p:cNvCxnSpPr>
            <a:stCxn id="155" idx="4"/>
            <a:endCxn id="154" idx="1"/>
          </p:cNvCxnSpPr>
          <p:nvPr/>
        </p:nvCxnSpPr>
        <p:spPr>
          <a:xfrm>
            <a:off x="7052750" y="1735000"/>
            <a:ext cx="361200" cy="562500"/>
          </a:xfrm>
          <a:prstGeom prst="straightConnector1">
            <a:avLst/>
          </a:prstGeom>
          <a:noFill/>
          <a:ln cap="flat" cmpd="sng" w="19050">
            <a:solidFill>
              <a:srgbClr val="6AA84F"/>
            </a:solidFill>
            <a:prstDash val="solid"/>
            <a:round/>
            <a:headEnd len="med" w="med" type="none"/>
            <a:tailEnd len="med" w="med" type="triangle"/>
          </a:ln>
        </p:spPr>
      </p:cxnSp>
      <p:cxnSp>
        <p:nvCxnSpPr>
          <p:cNvPr id="158" name="Google Shape;158;p20"/>
          <p:cNvCxnSpPr>
            <a:stCxn id="156" idx="4"/>
            <a:endCxn id="154" idx="0"/>
          </p:cNvCxnSpPr>
          <p:nvPr/>
        </p:nvCxnSpPr>
        <p:spPr>
          <a:xfrm>
            <a:off x="7543363" y="1735000"/>
            <a:ext cx="0" cy="510300"/>
          </a:xfrm>
          <a:prstGeom prst="straightConnector1">
            <a:avLst/>
          </a:prstGeom>
          <a:noFill/>
          <a:ln cap="flat" cmpd="sng" w="19050">
            <a:solidFill>
              <a:srgbClr val="6AA84F"/>
            </a:solidFill>
            <a:prstDash val="solid"/>
            <a:round/>
            <a:headEnd len="med" w="med" type="none"/>
            <a:tailEnd len="med" w="med" type="triangle"/>
          </a:ln>
        </p:spPr>
      </p:cxnSp>
      <p:cxnSp>
        <p:nvCxnSpPr>
          <p:cNvPr id="159" name="Google Shape;159;p20"/>
          <p:cNvCxnSpPr>
            <a:stCxn id="160" idx="4"/>
            <a:endCxn id="154" idx="7"/>
          </p:cNvCxnSpPr>
          <p:nvPr/>
        </p:nvCxnSpPr>
        <p:spPr>
          <a:xfrm flipH="1">
            <a:off x="7672776" y="1734950"/>
            <a:ext cx="382800" cy="562500"/>
          </a:xfrm>
          <a:prstGeom prst="straightConnector1">
            <a:avLst/>
          </a:prstGeom>
          <a:noFill/>
          <a:ln cap="flat" cmpd="sng" w="19050">
            <a:solidFill>
              <a:srgbClr val="6AA84F"/>
            </a:solidFill>
            <a:prstDash val="solid"/>
            <a:round/>
            <a:headEnd len="med" w="med" type="none"/>
            <a:tailEnd len="med" w="med" type="triangle"/>
          </a:ln>
        </p:spPr>
      </p:cxnSp>
      <p:sp>
        <p:nvSpPr>
          <p:cNvPr id="161" name="Google Shape;161;p20"/>
          <p:cNvSpPr txBox="1"/>
          <p:nvPr/>
        </p:nvSpPr>
        <p:spPr>
          <a:xfrm>
            <a:off x="6224950" y="2680575"/>
            <a:ext cx="1902000" cy="24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Status Boost</a:t>
            </a:r>
            <a:endParaRPr>
              <a:latin typeface="Open Sans"/>
              <a:ea typeface="Open Sans"/>
              <a:cs typeface="Open Sans"/>
              <a:sym typeface="Open Sans"/>
            </a:endParaRPr>
          </a:p>
        </p:txBody>
      </p:sp>
      <p:sp>
        <p:nvSpPr>
          <p:cNvPr id="162" name="Google Shape;162;p20"/>
          <p:cNvSpPr/>
          <p:nvPr/>
        </p:nvSpPr>
        <p:spPr>
          <a:xfrm>
            <a:off x="7349525" y="4069100"/>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20"/>
          <p:cNvSpPr/>
          <p:nvPr/>
        </p:nvSpPr>
        <p:spPr>
          <a:xfrm>
            <a:off x="6858900" y="3202700"/>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20"/>
          <p:cNvSpPr/>
          <p:nvPr/>
        </p:nvSpPr>
        <p:spPr>
          <a:xfrm>
            <a:off x="7349513" y="3202700"/>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20"/>
          <p:cNvSpPr/>
          <p:nvPr/>
        </p:nvSpPr>
        <p:spPr>
          <a:xfrm>
            <a:off x="7861850" y="3202700"/>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66" name="Google Shape;166;p20"/>
          <p:cNvCxnSpPr>
            <a:stCxn id="163" idx="4"/>
            <a:endCxn id="162" idx="1"/>
          </p:cNvCxnSpPr>
          <p:nvPr/>
        </p:nvCxnSpPr>
        <p:spPr>
          <a:xfrm>
            <a:off x="7041900" y="3558800"/>
            <a:ext cx="361200" cy="562500"/>
          </a:xfrm>
          <a:prstGeom prst="straightConnector1">
            <a:avLst/>
          </a:prstGeom>
          <a:noFill/>
          <a:ln cap="flat" cmpd="sng" w="19050">
            <a:solidFill>
              <a:srgbClr val="FF0000"/>
            </a:solidFill>
            <a:prstDash val="solid"/>
            <a:round/>
            <a:headEnd len="med" w="med" type="none"/>
            <a:tailEnd len="med" w="med" type="triangle"/>
          </a:ln>
        </p:spPr>
      </p:cxnSp>
      <p:cxnSp>
        <p:nvCxnSpPr>
          <p:cNvPr id="167" name="Google Shape;167;p20"/>
          <p:cNvCxnSpPr>
            <a:stCxn id="164" idx="4"/>
            <a:endCxn id="162" idx="0"/>
          </p:cNvCxnSpPr>
          <p:nvPr/>
        </p:nvCxnSpPr>
        <p:spPr>
          <a:xfrm>
            <a:off x="7532513" y="3558800"/>
            <a:ext cx="0" cy="510300"/>
          </a:xfrm>
          <a:prstGeom prst="straightConnector1">
            <a:avLst/>
          </a:prstGeom>
          <a:noFill/>
          <a:ln cap="flat" cmpd="sng" w="19050">
            <a:solidFill>
              <a:srgbClr val="FF0000"/>
            </a:solidFill>
            <a:prstDash val="solid"/>
            <a:round/>
            <a:headEnd len="med" w="med" type="none"/>
            <a:tailEnd len="med" w="med" type="triangle"/>
          </a:ln>
        </p:spPr>
      </p:cxnSp>
      <p:cxnSp>
        <p:nvCxnSpPr>
          <p:cNvPr id="168" name="Google Shape;168;p20"/>
          <p:cNvCxnSpPr>
            <a:stCxn id="165" idx="4"/>
            <a:endCxn id="162" idx="7"/>
          </p:cNvCxnSpPr>
          <p:nvPr/>
        </p:nvCxnSpPr>
        <p:spPr>
          <a:xfrm flipH="1">
            <a:off x="7662050" y="3558800"/>
            <a:ext cx="382800" cy="562500"/>
          </a:xfrm>
          <a:prstGeom prst="straightConnector1">
            <a:avLst/>
          </a:prstGeom>
          <a:noFill/>
          <a:ln cap="flat" cmpd="sng" w="19050">
            <a:solidFill>
              <a:srgbClr val="FF0000"/>
            </a:solidFill>
            <a:prstDash val="solid"/>
            <a:round/>
            <a:headEnd len="med" w="med" type="none"/>
            <a:tailEnd len="med" w="med" type="triangle"/>
          </a:ln>
        </p:spPr>
      </p:cxnSp>
      <p:sp>
        <p:nvSpPr>
          <p:cNvPr id="169" name="Google Shape;169;p20"/>
          <p:cNvSpPr txBox="1"/>
          <p:nvPr/>
        </p:nvSpPr>
        <p:spPr>
          <a:xfrm>
            <a:off x="6403350" y="4504375"/>
            <a:ext cx="1712700" cy="24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Status Loss</a:t>
            </a:r>
            <a:endParaRPr>
              <a:latin typeface="Open Sans"/>
              <a:ea typeface="Open Sans"/>
              <a:cs typeface="Open Sans"/>
              <a:sym typeface="Open Sans"/>
            </a:endParaRPr>
          </a:p>
        </p:txBody>
      </p:sp>
      <p:sp>
        <p:nvSpPr>
          <p:cNvPr id="170" name="Google Shape;170;p20"/>
          <p:cNvSpPr/>
          <p:nvPr/>
        </p:nvSpPr>
        <p:spPr>
          <a:xfrm>
            <a:off x="5955825" y="2255175"/>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71" name="Google Shape;171;p20"/>
          <p:cNvCxnSpPr>
            <a:stCxn id="154" idx="2"/>
            <a:endCxn id="170" idx="6"/>
          </p:cNvCxnSpPr>
          <p:nvPr/>
        </p:nvCxnSpPr>
        <p:spPr>
          <a:xfrm flipH="1">
            <a:off x="6321775" y="2423350"/>
            <a:ext cx="1038600" cy="9900"/>
          </a:xfrm>
          <a:prstGeom prst="straightConnector1">
            <a:avLst/>
          </a:prstGeom>
          <a:noFill/>
          <a:ln cap="flat" cmpd="sng" w="19050">
            <a:solidFill>
              <a:srgbClr val="6AA84F"/>
            </a:solidFill>
            <a:prstDash val="solid"/>
            <a:round/>
            <a:headEnd len="med" w="med" type="triangle"/>
            <a:tailEnd len="med" w="med" type="none"/>
          </a:ln>
        </p:spPr>
      </p:cxnSp>
      <p:sp>
        <p:nvSpPr>
          <p:cNvPr id="172" name="Google Shape;172;p20"/>
          <p:cNvSpPr/>
          <p:nvPr/>
        </p:nvSpPr>
        <p:spPr>
          <a:xfrm>
            <a:off x="5955825" y="4069100"/>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73" name="Google Shape;173;p20"/>
          <p:cNvCxnSpPr>
            <a:stCxn id="162" idx="2"/>
            <a:endCxn id="172" idx="6"/>
          </p:cNvCxnSpPr>
          <p:nvPr/>
        </p:nvCxnSpPr>
        <p:spPr>
          <a:xfrm rot="10800000">
            <a:off x="6321725" y="4247150"/>
            <a:ext cx="1027800" cy="0"/>
          </a:xfrm>
          <a:prstGeom prst="straightConnector1">
            <a:avLst/>
          </a:prstGeom>
          <a:noFill/>
          <a:ln cap="flat" cmpd="sng" w="19050">
            <a:solidFill>
              <a:srgbClr val="6AA84F"/>
            </a:solidFill>
            <a:prstDash val="solid"/>
            <a:round/>
            <a:headEnd len="med" w="med" type="triangle"/>
            <a:tailEnd len="med" w="med" type="none"/>
          </a:ln>
        </p:spPr>
      </p:cxnSp>
      <p:sp>
        <p:nvSpPr>
          <p:cNvPr id="174" name="Google Shape;174;p20"/>
          <p:cNvSpPr/>
          <p:nvPr/>
        </p:nvSpPr>
        <p:spPr>
          <a:xfrm>
            <a:off x="8027125" y="86350"/>
            <a:ext cx="981600" cy="1179600"/>
          </a:xfrm>
          <a:prstGeom prst="rect">
            <a:avLst/>
          </a:prstGeom>
          <a:noFill/>
          <a:ln cap="flat" cmpd="sng" w="19050">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20"/>
          <p:cNvSpPr/>
          <p:nvPr/>
        </p:nvSpPr>
        <p:spPr>
          <a:xfrm>
            <a:off x="8192860" y="472152"/>
            <a:ext cx="191400" cy="1932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20"/>
          <p:cNvSpPr/>
          <p:nvPr/>
        </p:nvSpPr>
        <p:spPr>
          <a:xfrm>
            <a:off x="8192860" y="216793"/>
            <a:ext cx="191400" cy="19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77" name="Google Shape;177;p20"/>
          <p:cNvCxnSpPr/>
          <p:nvPr/>
        </p:nvCxnSpPr>
        <p:spPr>
          <a:xfrm flipH="1" rot="10800000">
            <a:off x="8124842" y="847730"/>
            <a:ext cx="327600" cy="5700"/>
          </a:xfrm>
          <a:prstGeom prst="straightConnector1">
            <a:avLst/>
          </a:prstGeom>
          <a:noFill/>
          <a:ln cap="flat" cmpd="sng" w="38100">
            <a:solidFill>
              <a:srgbClr val="FF0000"/>
            </a:solidFill>
            <a:prstDash val="solid"/>
            <a:round/>
            <a:headEnd len="med" w="med" type="none"/>
            <a:tailEnd len="med" w="med" type="triangle"/>
          </a:ln>
        </p:spPr>
      </p:cxnSp>
      <p:cxnSp>
        <p:nvCxnSpPr>
          <p:cNvPr id="178" name="Google Shape;178;p20"/>
          <p:cNvCxnSpPr/>
          <p:nvPr/>
        </p:nvCxnSpPr>
        <p:spPr>
          <a:xfrm flipH="1" rot="10800000">
            <a:off x="8124842" y="1076729"/>
            <a:ext cx="327600" cy="5700"/>
          </a:xfrm>
          <a:prstGeom prst="straightConnector1">
            <a:avLst/>
          </a:prstGeom>
          <a:noFill/>
          <a:ln cap="flat" cmpd="sng" w="38100">
            <a:solidFill>
              <a:srgbClr val="6AA84F"/>
            </a:solidFill>
            <a:prstDash val="solid"/>
            <a:round/>
            <a:headEnd len="med" w="med" type="none"/>
            <a:tailEnd len="med" w="med" type="triangle"/>
          </a:ln>
        </p:spPr>
      </p:cxnSp>
      <p:sp>
        <p:nvSpPr>
          <p:cNvPr id="179" name="Google Shape;179;p20"/>
          <p:cNvSpPr txBox="1"/>
          <p:nvPr/>
        </p:nvSpPr>
        <p:spPr>
          <a:xfrm>
            <a:off x="8384249" y="151200"/>
            <a:ext cx="676500" cy="1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sz="1100">
                <a:latin typeface="Comfortaa"/>
                <a:ea typeface="Comfortaa"/>
                <a:cs typeface="Comfortaa"/>
                <a:sym typeface="Comfortaa"/>
              </a:rPr>
              <a:t>Ego</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Other</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Neg.</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Pos.</a:t>
            </a:r>
            <a:endParaRPr b="1" sz="1100">
              <a:latin typeface="Comfortaa"/>
              <a:ea typeface="Comfortaa"/>
              <a:cs typeface="Comfortaa"/>
              <a:sym typeface="Comfortaa"/>
            </a:endParaRPr>
          </a:p>
        </p:txBody>
      </p:sp>
      <p:sp>
        <p:nvSpPr>
          <p:cNvPr id="180" name="Google Shape;180;p20"/>
          <p:cNvSpPr/>
          <p:nvPr/>
        </p:nvSpPr>
        <p:spPr>
          <a:xfrm>
            <a:off x="7872700" y="1378900"/>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1"/>
          <p:cNvSpPr/>
          <p:nvPr/>
        </p:nvSpPr>
        <p:spPr>
          <a:xfrm>
            <a:off x="5682800" y="3173288"/>
            <a:ext cx="2739900" cy="15939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21"/>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Valenced interactions: Status theory</a:t>
            </a:r>
            <a:endParaRPr/>
          </a:p>
        </p:txBody>
      </p:sp>
      <p:sp>
        <p:nvSpPr>
          <p:cNvPr id="187" name="Google Shape;187;p21"/>
          <p:cNvSpPr txBox="1"/>
          <p:nvPr>
            <p:ph idx="1" type="body"/>
          </p:nvPr>
        </p:nvSpPr>
        <p:spPr>
          <a:xfrm>
            <a:off x="311700" y="1225225"/>
            <a:ext cx="45351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
              <a:t>Status Theory</a:t>
            </a:r>
            <a:endParaRPr b="1"/>
          </a:p>
          <a:p>
            <a:pPr indent="-317500" lvl="1" marL="914400" rtl="0" algn="l">
              <a:spcBef>
                <a:spcPts val="0"/>
              </a:spcBef>
              <a:spcAft>
                <a:spcPts val="0"/>
              </a:spcAft>
              <a:buSzPts val="1400"/>
              <a:buChar char="○"/>
            </a:pPr>
            <a:r>
              <a:rPr lang="en"/>
              <a:t>Designed to explain distribution of positive and negative ties in </a:t>
            </a:r>
            <a:r>
              <a:rPr b="1" lang="en"/>
              <a:t>valenced</a:t>
            </a:r>
            <a:r>
              <a:rPr lang="en"/>
              <a:t> networks with </a:t>
            </a:r>
            <a:r>
              <a:rPr b="1" lang="en"/>
              <a:t>directed</a:t>
            </a:r>
            <a:r>
              <a:rPr lang="en"/>
              <a:t> ties</a:t>
            </a:r>
            <a:endParaRPr/>
          </a:p>
          <a:p>
            <a:pPr indent="-342900" lvl="0" marL="457200" rtl="0" algn="l">
              <a:spcBef>
                <a:spcPts val="0"/>
              </a:spcBef>
              <a:spcAft>
                <a:spcPts val="0"/>
              </a:spcAft>
              <a:buSzPts val="1800"/>
              <a:buChar char="●"/>
            </a:pPr>
            <a:r>
              <a:rPr lang="en"/>
              <a:t>Second principle:</a:t>
            </a:r>
            <a:endParaRPr/>
          </a:p>
          <a:p>
            <a:pPr indent="-317500" lvl="1" marL="914400" rtl="0" algn="l">
              <a:spcBef>
                <a:spcPts val="0"/>
              </a:spcBef>
              <a:spcAft>
                <a:spcPts val="0"/>
              </a:spcAft>
              <a:buSzPts val="1400"/>
              <a:buChar char="○"/>
            </a:pPr>
            <a:r>
              <a:rPr lang="en" sz="1400"/>
              <a:t>Status of nodes is also determined by the sign of their connections to (high and low status) others</a:t>
            </a:r>
            <a:r>
              <a:rPr i="1" lang="en"/>
              <a:t> </a:t>
            </a:r>
            <a:endParaRPr i="1"/>
          </a:p>
          <a:p>
            <a:pPr indent="-317500" lvl="2" marL="1371600" rtl="0" algn="l">
              <a:spcBef>
                <a:spcPts val="0"/>
              </a:spcBef>
              <a:spcAft>
                <a:spcPts val="0"/>
              </a:spcAft>
              <a:buSzPts val="1400"/>
              <a:buChar char="■"/>
            </a:pPr>
            <a:r>
              <a:rPr lang="en"/>
              <a:t>Positive ties to high status others increase status</a:t>
            </a:r>
            <a:endParaRPr/>
          </a:p>
          <a:p>
            <a:pPr indent="-317500" lvl="2" marL="1371600" rtl="0" algn="l">
              <a:spcBef>
                <a:spcPts val="0"/>
              </a:spcBef>
              <a:spcAft>
                <a:spcPts val="0"/>
              </a:spcAft>
              <a:buClr>
                <a:srgbClr val="FF0000"/>
              </a:buClr>
              <a:buSzPts val="1400"/>
              <a:buChar char="■"/>
            </a:pPr>
            <a:r>
              <a:rPr lang="en">
                <a:solidFill>
                  <a:srgbClr val="FF0000"/>
                </a:solidFill>
              </a:rPr>
              <a:t>Positive ties to low status others decrease status</a:t>
            </a:r>
            <a:endParaRPr>
              <a:solidFill>
                <a:srgbClr val="FF0000"/>
              </a:solidFill>
            </a:endParaRPr>
          </a:p>
          <a:p>
            <a:pPr indent="0" lvl="0" marL="914400" rtl="0" algn="l">
              <a:spcBef>
                <a:spcPts val="1600"/>
              </a:spcBef>
              <a:spcAft>
                <a:spcPts val="0"/>
              </a:spcAft>
              <a:buNone/>
            </a:pPr>
            <a:r>
              <a:t/>
            </a:r>
            <a:endParaRPr/>
          </a:p>
          <a:p>
            <a:pPr indent="0" lvl="0" marL="0" rtl="0" algn="l">
              <a:spcBef>
                <a:spcPts val="1600"/>
              </a:spcBef>
              <a:spcAft>
                <a:spcPts val="1600"/>
              </a:spcAft>
              <a:buNone/>
            </a:pPr>
            <a:r>
              <a:t/>
            </a:r>
            <a:endParaRPr/>
          </a:p>
        </p:txBody>
      </p:sp>
      <p:sp>
        <p:nvSpPr>
          <p:cNvPr id="188" name="Google Shape;188;p21"/>
          <p:cNvSpPr/>
          <p:nvPr/>
        </p:nvSpPr>
        <p:spPr>
          <a:xfrm>
            <a:off x="7360375" y="2245300"/>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21"/>
          <p:cNvSpPr/>
          <p:nvPr/>
        </p:nvSpPr>
        <p:spPr>
          <a:xfrm>
            <a:off x="6869750" y="1378900"/>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21"/>
          <p:cNvSpPr/>
          <p:nvPr/>
        </p:nvSpPr>
        <p:spPr>
          <a:xfrm>
            <a:off x="7360363" y="1378900"/>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21"/>
          <p:cNvSpPr/>
          <p:nvPr/>
        </p:nvSpPr>
        <p:spPr>
          <a:xfrm>
            <a:off x="7872700" y="1378900"/>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92" name="Google Shape;192;p21"/>
          <p:cNvCxnSpPr>
            <a:stCxn id="189" idx="4"/>
            <a:endCxn id="188" idx="1"/>
          </p:cNvCxnSpPr>
          <p:nvPr/>
        </p:nvCxnSpPr>
        <p:spPr>
          <a:xfrm>
            <a:off x="7052750" y="1735000"/>
            <a:ext cx="361200" cy="562500"/>
          </a:xfrm>
          <a:prstGeom prst="straightConnector1">
            <a:avLst/>
          </a:prstGeom>
          <a:noFill/>
          <a:ln cap="flat" cmpd="sng" w="19050">
            <a:solidFill>
              <a:srgbClr val="6AA84F"/>
            </a:solidFill>
            <a:prstDash val="solid"/>
            <a:round/>
            <a:headEnd len="med" w="med" type="none"/>
            <a:tailEnd len="med" w="med" type="triangle"/>
          </a:ln>
        </p:spPr>
      </p:cxnSp>
      <p:cxnSp>
        <p:nvCxnSpPr>
          <p:cNvPr id="193" name="Google Shape;193;p21"/>
          <p:cNvCxnSpPr>
            <a:stCxn id="190" idx="4"/>
            <a:endCxn id="188" idx="0"/>
          </p:cNvCxnSpPr>
          <p:nvPr/>
        </p:nvCxnSpPr>
        <p:spPr>
          <a:xfrm>
            <a:off x="7543363" y="1735000"/>
            <a:ext cx="0" cy="510300"/>
          </a:xfrm>
          <a:prstGeom prst="straightConnector1">
            <a:avLst/>
          </a:prstGeom>
          <a:noFill/>
          <a:ln cap="flat" cmpd="sng" w="19050">
            <a:solidFill>
              <a:srgbClr val="6AA84F"/>
            </a:solidFill>
            <a:prstDash val="solid"/>
            <a:round/>
            <a:headEnd len="med" w="med" type="none"/>
            <a:tailEnd len="med" w="med" type="triangle"/>
          </a:ln>
        </p:spPr>
      </p:cxnSp>
      <p:cxnSp>
        <p:nvCxnSpPr>
          <p:cNvPr id="194" name="Google Shape;194;p21"/>
          <p:cNvCxnSpPr>
            <a:stCxn id="191" idx="4"/>
            <a:endCxn id="188" idx="7"/>
          </p:cNvCxnSpPr>
          <p:nvPr/>
        </p:nvCxnSpPr>
        <p:spPr>
          <a:xfrm flipH="1">
            <a:off x="7672900" y="1735000"/>
            <a:ext cx="382800" cy="562500"/>
          </a:xfrm>
          <a:prstGeom prst="straightConnector1">
            <a:avLst/>
          </a:prstGeom>
          <a:noFill/>
          <a:ln cap="flat" cmpd="sng" w="19050">
            <a:solidFill>
              <a:srgbClr val="6AA84F"/>
            </a:solidFill>
            <a:prstDash val="solid"/>
            <a:round/>
            <a:headEnd len="med" w="med" type="none"/>
            <a:tailEnd len="med" w="med" type="triangle"/>
          </a:ln>
        </p:spPr>
      </p:cxnSp>
      <p:sp>
        <p:nvSpPr>
          <p:cNvPr id="195" name="Google Shape;195;p21"/>
          <p:cNvSpPr txBox="1"/>
          <p:nvPr/>
        </p:nvSpPr>
        <p:spPr>
          <a:xfrm>
            <a:off x="6224950" y="2680575"/>
            <a:ext cx="1902000" cy="24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Status Boost</a:t>
            </a:r>
            <a:endParaRPr>
              <a:latin typeface="Open Sans"/>
              <a:ea typeface="Open Sans"/>
              <a:cs typeface="Open Sans"/>
              <a:sym typeface="Open Sans"/>
            </a:endParaRPr>
          </a:p>
        </p:txBody>
      </p:sp>
      <p:sp>
        <p:nvSpPr>
          <p:cNvPr id="196" name="Google Shape;196;p21"/>
          <p:cNvSpPr/>
          <p:nvPr/>
        </p:nvSpPr>
        <p:spPr>
          <a:xfrm>
            <a:off x="7349525" y="4069100"/>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21"/>
          <p:cNvSpPr/>
          <p:nvPr/>
        </p:nvSpPr>
        <p:spPr>
          <a:xfrm>
            <a:off x="6858900" y="3202700"/>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21"/>
          <p:cNvSpPr/>
          <p:nvPr/>
        </p:nvSpPr>
        <p:spPr>
          <a:xfrm>
            <a:off x="7349513" y="3202700"/>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21"/>
          <p:cNvSpPr/>
          <p:nvPr/>
        </p:nvSpPr>
        <p:spPr>
          <a:xfrm>
            <a:off x="7861850" y="3202700"/>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00" name="Google Shape;200;p21"/>
          <p:cNvCxnSpPr>
            <a:stCxn id="197" idx="4"/>
            <a:endCxn id="196" idx="1"/>
          </p:cNvCxnSpPr>
          <p:nvPr/>
        </p:nvCxnSpPr>
        <p:spPr>
          <a:xfrm>
            <a:off x="7041900" y="3558800"/>
            <a:ext cx="361200" cy="562500"/>
          </a:xfrm>
          <a:prstGeom prst="straightConnector1">
            <a:avLst/>
          </a:prstGeom>
          <a:noFill/>
          <a:ln cap="flat" cmpd="sng" w="19050">
            <a:solidFill>
              <a:srgbClr val="FF0000"/>
            </a:solidFill>
            <a:prstDash val="solid"/>
            <a:round/>
            <a:headEnd len="med" w="med" type="none"/>
            <a:tailEnd len="med" w="med" type="triangle"/>
          </a:ln>
        </p:spPr>
      </p:cxnSp>
      <p:cxnSp>
        <p:nvCxnSpPr>
          <p:cNvPr id="201" name="Google Shape;201;p21"/>
          <p:cNvCxnSpPr>
            <a:stCxn id="198" idx="4"/>
            <a:endCxn id="196" idx="0"/>
          </p:cNvCxnSpPr>
          <p:nvPr/>
        </p:nvCxnSpPr>
        <p:spPr>
          <a:xfrm>
            <a:off x="7532513" y="3558800"/>
            <a:ext cx="0" cy="510300"/>
          </a:xfrm>
          <a:prstGeom prst="straightConnector1">
            <a:avLst/>
          </a:prstGeom>
          <a:noFill/>
          <a:ln cap="flat" cmpd="sng" w="19050">
            <a:solidFill>
              <a:srgbClr val="FF0000"/>
            </a:solidFill>
            <a:prstDash val="solid"/>
            <a:round/>
            <a:headEnd len="med" w="med" type="none"/>
            <a:tailEnd len="med" w="med" type="triangle"/>
          </a:ln>
        </p:spPr>
      </p:cxnSp>
      <p:cxnSp>
        <p:nvCxnSpPr>
          <p:cNvPr id="202" name="Google Shape;202;p21"/>
          <p:cNvCxnSpPr>
            <a:stCxn id="199" idx="4"/>
            <a:endCxn id="196" idx="7"/>
          </p:cNvCxnSpPr>
          <p:nvPr/>
        </p:nvCxnSpPr>
        <p:spPr>
          <a:xfrm flipH="1">
            <a:off x="7662050" y="3558800"/>
            <a:ext cx="382800" cy="562500"/>
          </a:xfrm>
          <a:prstGeom prst="straightConnector1">
            <a:avLst/>
          </a:prstGeom>
          <a:noFill/>
          <a:ln cap="flat" cmpd="sng" w="19050">
            <a:solidFill>
              <a:srgbClr val="FF0000"/>
            </a:solidFill>
            <a:prstDash val="solid"/>
            <a:round/>
            <a:headEnd len="med" w="med" type="none"/>
            <a:tailEnd len="med" w="med" type="triangle"/>
          </a:ln>
        </p:spPr>
      </p:cxnSp>
      <p:sp>
        <p:nvSpPr>
          <p:cNvPr id="203" name="Google Shape;203;p21"/>
          <p:cNvSpPr txBox="1"/>
          <p:nvPr/>
        </p:nvSpPr>
        <p:spPr>
          <a:xfrm>
            <a:off x="6403350" y="4504375"/>
            <a:ext cx="1712700" cy="24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Status Loss</a:t>
            </a:r>
            <a:endParaRPr>
              <a:latin typeface="Open Sans"/>
              <a:ea typeface="Open Sans"/>
              <a:cs typeface="Open Sans"/>
              <a:sym typeface="Open Sans"/>
            </a:endParaRPr>
          </a:p>
        </p:txBody>
      </p:sp>
      <p:sp>
        <p:nvSpPr>
          <p:cNvPr id="204" name="Google Shape;204;p21"/>
          <p:cNvSpPr/>
          <p:nvPr/>
        </p:nvSpPr>
        <p:spPr>
          <a:xfrm>
            <a:off x="5955825" y="2255175"/>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05" name="Google Shape;205;p21"/>
          <p:cNvCxnSpPr>
            <a:stCxn id="188" idx="2"/>
            <a:endCxn id="204" idx="6"/>
          </p:cNvCxnSpPr>
          <p:nvPr/>
        </p:nvCxnSpPr>
        <p:spPr>
          <a:xfrm flipH="1">
            <a:off x="6321775" y="2423350"/>
            <a:ext cx="1038600" cy="9900"/>
          </a:xfrm>
          <a:prstGeom prst="straightConnector1">
            <a:avLst/>
          </a:prstGeom>
          <a:noFill/>
          <a:ln cap="flat" cmpd="sng" w="19050">
            <a:solidFill>
              <a:srgbClr val="6AA84F"/>
            </a:solidFill>
            <a:prstDash val="solid"/>
            <a:round/>
            <a:headEnd len="med" w="med" type="triangle"/>
            <a:tailEnd len="med" w="med" type="none"/>
          </a:ln>
        </p:spPr>
      </p:cxnSp>
      <p:sp>
        <p:nvSpPr>
          <p:cNvPr id="206" name="Google Shape;206;p21"/>
          <p:cNvSpPr/>
          <p:nvPr/>
        </p:nvSpPr>
        <p:spPr>
          <a:xfrm>
            <a:off x="5955825" y="4069100"/>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07" name="Google Shape;207;p21"/>
          <p:cNvCxnSpPr>
            <a:stCxn id="196" idx="2"/>
            <a:endCxn id="206" idx="6"/>
          </p:cNvCxnSpPr>
          <p:nvPr/>
        </p:nvCxnSpPr>
        <p:spPr>
          <a:xfrm rot="10800000">
            <a:off x="6321725" y="4247150"/>
            <a:ext cx="1027800" cy="0"/>
          </a:xfrm>
          <a:prstGeom prst="straightConnector1">
            <a:avLst/>
          </a:prstGeom>
          <a:noFill/>
          <a:ln cap="flat" cmpd="sng" w="19050">
            <a:solidFill>
              <a:srgbClr val="6AA84F"/>
            </a:solidFill>
            <a:prstDash val="solid"/>
            <a:round/>
            <a:headEnd len="med" w="med" type="triangle"/>
            <a:tailEnd len="med" w="med" type="none"/>
          </a:ln>
        </p:spPr>
      </p:cxnSp>
      <p:sp>
        <p:nvSpPr>
          <p:cNvPr id="208" name="Google Shape;208;p21"/>
          <p:cNvSpPr/>
          <p:nvPr/>
        </p:nvSpPr>
        <p:spPr>
          <a:xfrm>
            <a:off x="8027125" y="86350"/>
            <a:ext cx="981600" cy="1179600"/>
          </a:xfrm>
          <a:prstGeom prst="rect">
            <a:avLst/>
          </a:prstGeom>
          <a:noFill/>
          <a:ln cap="flat" cmpd="sng" w="19050">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21"/>
          <p:cNvSpPr/>
          <p:nvPr/>
        </p:nvSpPr>
        <p:spPr>
          <a:xfrm>
            <a:off x="8192860" y="472152"/>
            <a:ext cx="191400" cy="1932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21"/>
          <p:cNvSpPr/>
          <p:nvPr/>
        </p:nvSpPr>
        <p:spPr>
          <a:xfrm>
            <a:off x="8192860" y="216793"/>
            <a:ext cx="191400" cy="19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11" name="Google Shape;211;p21"/>
          <p:cNvCxnSpPr/>
          <p:nvPr/>
        </p:nvCxnSpPr>
        <p:spPr>
          <a:xfrm flipH="1" rot="10800000">
            <a:off x="8124842" y="847730"/>
            <a:ext cx="327600" cy="5700"/>
          </a:xfrm>
          <a:prstGeom prst="straightConnector1">
            <a:avLst/>
          </a:prstGeom>
          <a:noFill/>
          <a:ln cap="flat" cmpd="sng" w="38100">
            <a:solidFill>
              <a:srgbClr val="FF0000"/>
            </a:solidFill>
            <a:prstDash val="solid"/>
            <a:round/>
            <a:headEnd len="med" w="med" type="none"/>
            <a:tailEnd len="med" w="med" type="triangle"/>
          </a:ln>
        </p:spPr>
      </p:cxnSp>
      <p:cxnSp>
        <p:nvCxnSpPr>
          <p:cNvPr id="212" name="Google Shape;212;p21"/>
          <p:cNvCxnSpPr/>
          <p:nvPr/>
        </p:nvCxnSpPr>
        <p:spPr>
          <a:xfrm flipH="1" rot="10800000">
            <a:off x="8124842" y="1076729"/>
            <a:ext cx="327600" cy="5700"/>
          </a:xfrm>
          <a:prstGeom prst="straightConnector1">
            <a:avLst/>
          </a:prstGeom>
          <a:noFill/>
          <a:ln cap="flat" cmpd="sng" w="38100">
            <a:solidFill>
              <a:srgbClr val="6AA84F"/>
            </a:solidFill>
            <a:prstDash val="solid"/>
            <a:round/>
            <a:headEnd len="med" w="med" type="none"/>
            <a:tailEnd len="med" w="med" type="triangle"/>
          </a:ln>
        </p:spPr>
      </p:cxnSp>
      <p:sp>
        <p:nvSpPr>
          <p:cNvPr id="213" name="Google Shape;213;p21"/>
          <p:cNvSpPr txBox="1"/>
          <p:nvPr/>
        </p:nvSpPr>
        <p:spPr>
          <a:xfrm>
            <a:off x="8384249" y="151200"/>
            <a:ext cx="676500" cy="1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sz="1100">
                <a:latin typeface="Comfortaa"/>
                <a:ea typeface="Comfortaa"/>
                <a:cs typeface="Comfortaa"/>
                <a:sym typeface="Comfortaa"/>
              </a:rPr>
              <a:t>Ego</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Other</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Neg.</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Pos.</a:t>
            </a:r>
            <a:endParaRPr b="1" sz="1100">
              <a:latin typeface="Comfortaa"/>
              <a:ea typeface="Comfortaa"/>
              <a:cs typeface="Comfortaa"/>
              <a:sym typeface="Comforta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2"/>
          <p:cNvSpPr/>
          <p:nvPr/>
        </p:nvSpPr>
        <p:spPr>
          <a:xfrm>
            <a:off x="5776550" y="1332338"/>
            <a:ext cx="2739900" cy="15939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0000"/>
              </a:solidFill>
            </a:endParaRPr>
          </a:p>
        </p:txBody>
      </p:sp>
      <p:sp>
        <p:nvSpPr>
          <p:cNvPr id="219" name="Google Shape;219;p22"/>
          <p:cNvSpPr/>
          <p:nvPr/>
        </p:nvSpPr>
        <p:spPr>
          <a:xfrm>
            <a:off x="7872700" y="1378900"/>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22"/>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Valenced interactions: Status theory</a:t>
            </a:r>
            <a:endParaRPr/>
          </a:p>
        </p:txBody>
      </p:sp>
      <p:sp>
        <p:nvSpPr>
          <p:cNvPr id="221" name="Google Shape;221;p22"/>
          <p:cNvSpPr txBox="1"/>
          <p:nvPr>
            <p:ph idx="1" type="body"/>
          </p:nvPr>
        </p:nvSpPr>
        <p:spPr>
          <a:xfrm>
            <a:off x="311700" y="1225225"/>
            <a:ext cx="4605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
              <a:t>Status Theory</a:t>
            </a:r>
            <a:endParaRPr b="1"/>
          </a:p>
          <a:p>
            <a:pPr indent="-317500" lvl="1" marL="914400" rtl="0" algn="l">
              <a:spcBef>
                <a:spcPts val="0"/>
              </a:spcBef>
              <a:spcAft>
                <a:spcPts val="0"/>
              </a:spcAft>
              <a:buSzPts val="1400"/>
              <a:buChar char="○"/>
            </a:pPr>
            <a:r>
              <a:rPr lang="en"/>
              <a:t>Designed to explain distribution of positive and negative ties in </a:t>
            </a:r>
            <a:r>
              <a:rPr b="1" lang="en"/>
              <a:t>valenced</a:t>
            </a:r>
            <a:r>
              <a:rPr lang="en"/>
              <a:t> networks with </a:t>
            </a:r>
            <a:r>
              <a:rPr b="1" lang="en"/>
              <a:t>directed</a:t>
            </a:r>
            <a:r>
              <a:rPr lang="en"/>
              <a:t> ties</a:t>
            </a:r>
            <a:endParaRPr/>
          </a:p>
          <a:p>
            <a:pPr indent="-342900" lvl="0" marL="457200" rtl="0" algn="l">
              <a:spcBef>
                <a:spcPts val="0"/>
              </a:spcBef>
              <a:spcAft>
                <a:spcPts val="0"/>
              </a:spcAft>
              <a:buSzPts val="1800"/>
              <a:buChar char="●"/>
            </a:pPr>
            <a:r>
              <a:rPr lang="en"/>
              <a:t>Second principle:</a:t>
            </a:r>
            <a:endParaRPr/>
          </a:p>
          <a:p>
            <a:pPr indent="-317500" lvl="1" marL="914400" rtl="0" algn="l">
              <a:spcBef>
                <a:spcPts val="0"/>
              </a:spcBef>
              <a:spcAft>
                <a:spcPts val="0"/>
              </a:spcAft>
              <a:buSzPts val="1400"/>
              <a:buChar char="○"/>
            </a:pPr>
            <a:r>
              <a:rPr lang="en" sz="1400"/>
              <a:t>Status of nodes is also determined by the sign of their connections to (high and low status) others</a:t>
            </a:r>
            <a:r>
              <a:rPr i="1" lang="en"/>
              <a:t> </a:t>
            </a:r>
            <a:endParaRPr i="1"/>
          </a:p>
          <a:p>
            <a:pPr indent="-317500" lvl="2" marL="1371600" rtl="0" algn="l">
              <a:spcBef>
                <a:spcPts val="0"/>
              </a:spcBef>
              <a:spcAft>
                <a:spcPts val="0"/>
              </a:spcAft>
              <a:buClr>
                <a:srgbClr val="FF0000"/>
              </a:buClr>
              <a:buSzPts val="1400"/>
              <a:buChar char="■"/>
            </a:pPr>
            <a:r>
              <a:rPr lang="en">
                <a:solidFill>
                  <a:srgbClr val="FF0000"/>
                </a:solidFill>
              </a:rPr>
              <a:t>Negative ties to high status others decrease status</a:t>
            </a:r>
            <a:endParaRPr>
              <a:solidFill>
                <a:srgbClr val="FF0000"/>
              </a:solidFill>
            </a:endParaRPr>
          </a:p>
          <a:p>
            <a:pPr indent="-317500" lvl="2" marL="1371600" rtl="0" algn="l">
              <a:spcBef>
                <a:spcPts val="0"/>
              </a:spcBef>
              <a:spcAft>
                <a:spcPts val="0"/>
              </a:spcAft>
              <a:buSzPts val="1400"/>
              <a:buChar char="■"/>
            </a:pPr>
            <a:r>
              <a:rPr lang="en"/>
              <a:t>Negative ties to low status others increase status</a:t>
            </a:r>
            <a:endParaRPr/>
          </a:p>
          <a:p>
            <a:pPr indent="0" lvl="0" marL="914400" rtl="0" algn="l">
              <a:spcBef>
                <a:spcPts val="1600"/>
              </a:spcBef>
              <a:spcAft>
                <a:spcPts val="0"/>
              </a:spcAft>
              <a:buNone/>
            </a:pPr>
            <a:r>
              <a:t/>
            </a:r>
            <a:endParaRPr/>
          </a:p>
          <a:p>
            <a:pPr indent="0" lvl="0" marL="0" rtl="0" algn="l">
              <a:spcBef>
                <a:spcPts val="1600"/>
              </a:spcBef>
              <a:spcAft>
                <a:spcPts val="1600"/>
              </a:spcAft>
              <a:buNone/>
            </a:pPr>
            <a:r>
              <a:t/>
            </a:r>
            <a:endParaRPr/>
          </a:p>
        </p:txBody>
      </p:sp>
      <p:sp>
        <p:nvSpPr>
          <p:cNvPr id="222" name="Google Shape;222;p22"/>
          <p:cNvSpPr/>
          <p:nvPr/>
        </p:nvSpPr>
        <p:spPr>
          <a:xfrm>
            <a:off x="7360375" y="2245300"/>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22"/>
          <p:cNvSpPr/>
          <p:nvPr/>
        </p:nvSpPr>
        <p:spPr>
          <a:xfrm>
            <a:off x="6869750" y="1378900"/>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22"/>
          <p:cNvSpPr/>
          <p:nvPr/>
        </p:nvSpPr>
        <p:spPr>
          <a:xfrm>
            <a:off x="7360363" y="1378900"/>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25" name="Google Shape;225;p22"/>
          <p:cNvCxnSpPr>
            <a:stCxn id="223" idx="4"/>
            <a:endCxn id="222" idx="1"/>
          </p:cNvCxnSpPr>
          <p:nvPr/>
        </p:nvCxnSpPr>
        <p:spPr>
          <a:xfrm>
            <a:off x="7052750" y="1735000"/>
            <a:ext cx="361200" cy="562500"/>
          </a:xfrm>
          <a:prstGeom prst="straightConnector1">
            <a:avLst/>
          </a:prstGeom>
          <a:noFill/>
          <a:ln cap="flat" cmpd="sng" w="19050">
            <a:solidFill>
              <a:srgbClr val="6AA84F"/>
            </a:solidFill>
            <a:prstDash val="solid"/>
            <a:round/>
            <a:headEnd len="med" w="med" type="none"/>
            <a:tailEnd len="med" w="med" type="triangle"/>
          </a:ln>
        </p:spPr>
      </p:cxnSp>
      <p:cxnSp>
        <p:nvCxnSpPr>
          <p:cNvPr id="226" name="Google Shape;226;p22"/>
          <p:cNvCxnSpPr>
            <a:stCxn id="224" idx="4"/>
            <a:endCxn id="222" idx="0"/>
          </p:cNvCxnSpPr>
          <p:nvPr/>
        </p:nvCxnSpPr>
        <p:spPr>
          <a:xfrm>
            <a:off x="7543363" y="1735000"/>
            <a:ext cx="0" cy="510300"/>
          </a:xfrm>
          <a:prstGeom prst="straightConnector1">
            <a:avLst/>
          </a:prstGeom>
          <a:noFill/>
          <a:ln cap="flat" cmpd="sng" w="19050">
            <a:solidFill>
              <a:srgbClr val="6AA84F"/>
            </a:solidFill>
            <a:prstDash val="solid"/>
            <a:round/>
            <a:headEnd len="med" w="med" type="none"/>
            <a:tailEnd len="med" w="med" type="triangle"/>
          </a:ln>
        </p:spPr>
      </p:cxnSp>
      <p:cxnSp>
        <p:nvCxnSpPr>
          <p:cNvPr id="227" name="Google Shape;227;p22"/>
          <p:cNvCxnSpPr>
            <a:stCxn id="219" idx="4"/>
            <a:endCxn id="222" idx="7"/>
          </p:cNvCxnSpPr>
          <p:nvPr/>
        </p:nvCxnSpPr>
        <p:spPr>
          <a:xfrm flipH="1">
            <a:off x="7672900" y="1735000"/>
            <a:ext cx="382800" cy="562500"/>
          </a:xfrm>
          <a:prstGeom prst="straightConnector1">
            <a:avLst/>
          </a:prstGeom>
          <a:noFill/>
          <a:ln cap="flat" cmpd="sng" w="19050">
            <a:solidFill>
              <a:srgbClr val="6AA84F"/>
            </a:solidFill>
            <a:prstDash val="solid"/>
            <a:round/>
            <a:headEnd len="med" w="med" type="none"/>
            <a:tailEnd len="med" w="med" type="triangle"/>
          </a:ln>
        </p:spPr>
      </p:cxnSp>
      <p:sp>
        <p:nvSpPr>
          <p:cNvPr id="228" name="Google Shape;228;p22"/>
          <p:cNvSpPr txBox="1"/>
          <p:nvPr/>
        </p:nvSpPr>
        <p:spPr>
          <a:xfrm>
            <a:off x="6224950" y="2680575"/>
            <a:ext cx="1902000" cy="24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Status Loss</a:t>
            </a:r>
            <a:endParaRPr>
              <a:latin typeface="Open Sans"/>
              <a:ea typeface="Open Sans"/>
              <a:cs typeface="Open Sans"/>
              <a:sym typeface="Open Sans"/>
            </a:endParaRPr>
          </a:p>
        </p:txBody>
      </p:sp>
      <p:sp>
        <p:nvSpPr>
          <p:cNvPr id="229" name="Google Shape;229;p22"/>
          <p:cNvSpPr/>
          <p:nvPr/>
        </p:nvSpPr>
        <p:spPr>
          <a:xfrm>
            <a:off x="7349525" y="4069100"/>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22"/>
          <p:cNvSpPr/>
          <p:nvPr/>
        </p:nvSpPr>
        <p:spPr>
          <a:xfrm>
            <a:off x="6858900" y="3202700"/>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22"/>
          <p:cNvSpPr/>
          <p:nvPr/>
        </p:nvSpPr>
        <p:spPr>
          <a:xfrm>
            <a:off x="7349513" y="3202700"/>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22"/>
          <p:cNvSpPr/>
          <p:nvPr/>
        </p:nvSpPr>
        <p:spPr>
          <a:xfrm>
            <a:off x="7861850" y="3202700"/>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33" name="Google Shape;233;p22"/>
          <p:cNvCxnSpPr>
            <a:stCxn id="230" idx="4"/>
            <a:endCxn id="229" idx="1"/>
          </p:cNvCxnSpPr>
          <p:nvPr/>
        </p:nvCxnSpPr>
        <p:spPr>
          <a:xfrm>
            <a:off x="7041900" y="3558800"/>
            <a:ext cx="361200" cy="562500"/>
          </a:xfrm>
          <a:prstGeom prst="straightConnector1">
            <a:avLst/>
          </a:prstGeom>
          <a:noFill/>
          <a:ln cap="flat" cmpd="sng" w="19050">
            <a:solidFill>
              <a:srgbClr val="FF0000"/>
            </a:solidFill>
            <a:prstDash val="solid"/>
            <a:round/>
            <a:headEnd len="med" w="med" type="none"/>
            <a:tailEnd len="med" w="med" type="triangle"/>
          </a:ln>
        </p:spPr>
      </p:cxnSp>
      <p:cxnSp>
        <p:nvCxnSpPr>
          <p:cNvPr id="234" name="Google Shape;234;p22"/>
          <p:cNvCxnSpPr>
            <a:stCxn id="231" idx="4"/>
            <a:endCxn id="229" idx="0"/>
          </p:cNvCxnSpPr>
          <p:nvPr/>
        </p:nvCxnSpPr>
        <p:spPr>
          <a:xfrm>
            <a:off x="7532513" y="3558800"/>
            <a:ext cx="0" cy="510300"/>
          </a:xfrm>
          <a:prstGeom prst="straightConnector1">
            <a:avLst/>
          </a:prstGeom>
          <a:noFill/>
          <a:ln cap="flat" cmpd="sng" w="19050">
            <a:solidFill>
              <a:srgbClr val="FF0000"/>
            </a:solidFill>
            <a:prstDash val="solid"/>
            <a:round/>
            <a:headEnd len="med" w="med" type="none"/>
            <a:tailEnd len="med" w="med" type="triangle"/>
          </a:ln>
        </p:spPr>
      </p:cxnSp>
      <p:cxnSp>
        <p:nvCxnSpPr>
          <p:cNvPr id="235" name="Google Shape;235;p22"/>
          <p:cNvCxnSpPr>
            <a:stCxn id="232" idx="4"/>
            <a:endCxn id="229" idx="7"/>
          </p:cNvCxnSpPr>
          <p:nvPr/>
        </p:nvCxnSpPr>
        <p:spPr>
          <a:xfrm flipH="1">
            <a:off x="7662050" y="3558800"/>
            <a:ext cx="382800" cy="562500"/>
          </a:xfrm>
          <a:prstGeom prst="straightConnector1">
            <a:avLst/>
          </a:prstGeom>
          <a:noFill/>
          <a:ln cap="flat" cmpd="sng" w="19050">
            <a:solidFill>
              <a:srgbClr val="FF0000"/>
            </a:solidFill>
            <a:prstDash val="solid"/>
            <a:round/>
            <a:headEnd len="med" w="med" type="none"/>
            <a:tailEnd len="med" w="med" type="triangle"/>
          </a:ln>
        </p:spPr>
      </p:cxnSp>
      <p:sp>
        <p:nvSpPr>
          <p:cNvPr id="236" name="Google Shape;236;p22"/>
          <p:cNvSpPr txBox="1"/>
          <p:nvPr/>
        </p:nvSpPr>
        <p:spPr>
          <a:xfrm>
            <a:off x="6403350" y="4504375"/>
            <a:ext cx="1712700" cy="24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Status Boost</a:t>
            </a:r>
            <a:endParaRPr>
              <a:latin typeface="Open Sans"/>
              <a:ea typeface="Open Sans"/>
              <a:cs typeface="Open Sans"/>
              <a:sym typeface="Open Sans"/>
            </a:endParaRPr>
          </a:p>
        </p:txBody>
      </p:sp>
      <p:sp>
        <p:nvSpPr>
          <p:cNvPr id="237" name="Google Shape;237;p22"/>
          <p:cNvSpPr/>
          <p:nvPr/>
        </p:nvSpPr>
        <p:spPr>
          <a:xfrm>
            <a:off x="5955825" y="2255175"/>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38" name="Google Shape;238;p22"/>
          <p:cNvCxnSpPr>
            <a:stCxn id="222" idx="2"/>
            <a:endCxn id="237" idx="6"/>
          </p:cNvCxnSpPr>
          <p:nvPr/>
        </p:nvCxnSpPr>
        <p:spPr>
          <a:xfrm flipH="1">
            <a:off x="6321775" y="2423350"/>
            <a:ext cx="1038600" cy="9900"/>
          </a:xfrm>
          <a:prstGeom prst="straightConnector1">
            <a:avLst/>
          </a:prstGeom>
          <a:noFill/>
          <a:ln cap="flat" cmpd="sng" w="19050">
            <a:solidFill>
              <a:srgbClr val="FF0000"/>
            </a:solidFill>
            <a:prstDash val="solid"/>
            <a:round/>
            <a:headEnd len="med" w="med" type="triangle"/>
            <a:tailEnd len="med" w="med" type="none"/>
          </a:ln>
        </p:spPr>
      </p:cxnSp>
      <p:sp>
        <p:nvSpPr>
          <p:cNvPr id="239" name="Google Shape;239;p22"/>
          <p:cNvSpPr/>
          <p:nvPr/>
        </p:nvSpPr>
        <p:spPr>
          <a:xfrm>
            <a:off x="5955825" y="4069100"/>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40" name="Google Shape;240;p22"/>
          <p:cNvCxnSpPr>
            <a:stCxn id="229" idx="2"/>
            <a:endCxn id="239" idx="6"/>
          </p:cNvCxnSpPr>
          <p:nvPr/>
        </p:nvCxnSpPr>
        <p:spPr>
          <a:xfrm rot="10800000">
            <a:off x="6321725" y="4247150"/>
            <a:ext cx="1027800" cy="0"/>
          </a:xfrm>
          <a:prstGeom prst="straightConnector1">
            <a:avLst/>
          </a:prstGeom>
          <a:noFill/>
          <a:ln cap="flat" cmpd="sng" w="19050">
            <a:solidFill>
              <a:srgbClr val="FF0000"/>
            </a:solidFill>
            <a:prstDash val="solid"/>
            <a:round/>
            <a:headEnd len="med" w="med" type="triangle"/>
            <a:tailEnd len="med" w="med" type="none"/>
          </a:ln>
        </p:spPr>
      </p:cxnSp>
      <p:sp>
        <p:nvSpPr>
          <p:cNvPr id="241" name="Google Shape;241;p22"/>
          <p:cNvSpPr/>
          <p:nvPr/>
        </p:nvSpPr>
        <p:spPr>
          <a:xfrm>
            <a:off x="8027125" y="86350"/>
            <a:ext cx="981600" cy="1179600"/>
          </a:xfrm>
          <a:prstGeom prst="rect">
            <a:avLst/>
          </a:prstGeom>
          <a:noFill/>
          <a:ln cap="flat" cmpd="sng" w="19050">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22"/>
          <p:cNvSpPr/>
          <p:nvPr/>
        </p:nvSpPr>
        <p:spPr>
          <a:xfrm>
            <a:off x="8192860" y="472152"/>
            <a:ext cx="191400" cy="1932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22"/>
          <p:cNvSpPr/>
          <p:nvPr/>
        </p:nvSpPr>
        <p:spPr>
          <a:xfrm>
            <a:off x="8192860" y="216793"/>
            <a:ext cx="191400" cy="19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44" name="Google Shape;244;p22"/>
          <p:cNvCxnSpPr/>
          <p:nvPr/>
        </p:nvCxnSpPr>
        <p:spPr>
          <a:xfrm flipH="1" rot="10800000">
            <a:off x="8124842" y="847730"/>
            <a:ext cx="327600" cy="5700"/>
          </a:xfrm>
          <a:prstGeom prst="straightConnector1">
            <a:avLst/>
          </a:prstGeom>
          <a:noFill/>
          <a:ln cap="flat" cmpd="sng" w="38100">
            <a:solidFill>
              <a:srgbClr val="FF0000"/>
            </a:solidFill>
            <a:prstDash val="solid"/>
            <a:round/>
            <a:headEnd len="med" w="med" type="none"/>
            <a:tailEnd len="med" w="med" type="triangle"/>
          </a:ln>
        </p:spPr>
      </p:cxnSp>
      <p:cxnSp>
        <p:nvCxnSpPr>
          <p:cNvPr id="245" name="Google Shape;245;p22"/>
          <p:cNvCxnSpPr/>
          <p:nvPr/>
        </p:nvCxnSpPr>
        <p:spPr>
          <a:xfrm flipH="1" rot="10800000">
            <a:off x="8124842" y="1076729"/>
            <a:ext cx="327600" cy="5700"/>
          </a:xfrm>
          <a:prstGeom prst="straightConnector1">
            <a:avLst/>
          </a:prstGeom>
          <a:noFill/>
          <a:ln cap="flat" cmpd="sng" w="38100">
            <a:solidFill>
              <a:srgbClr val="6AA84F"/>
            </a:solidFill>
            <a:prstDash val="solid"/>
            <a:round/>
            <a:headEnd len="med" w="med" type="none"/>
            <a:tailEnd len="med" w="med" type="triangle"/>
          </a:ln>
        </p:spPr>
      </p:cxnSp>
      <p:sp>
        <p:nvSpPr>
          <p:cNvPr id="246" name="Google Shape;246;p22"/>
          <p:cNvSpPr txBox="1"/>
          <p:nvPr/>
        </p:nvSpPr>
        <p:spPr>
          <a:xfrm>
            <a:off x="8384249" y="151200"/>
            <a:ext cx="676500" cy="1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sz="1100">
                <a:latin typeface="Comfortaa"/>
                <a:ea typeface="Comfortaa"/>
                <a:cs typeface="Comfortaa"/>
                <a:sym typeface="Comfortaa"/>
              </a:rPr>
              <a:t>Ego</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Other</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Neg.</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Pos.</a:t>
            </a:r>
            <a:endParaRPr b="1" sz="1100">
              <a:latin typeface="Comfortaa"/>
              <a:ea typeface="Comfortaa"/>
              <a:cs typeface="Comfortaa"/>
              <a:sym typeface="Comforta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23"/>
          <p:cNvSpPr/>
          <p:nvPr/>
        </p:nvSpPr>
        <p:spPr>
          <a:xfrm>
            <a:off x="5682800" y="3173288"/>
            <a:ext cx="2739900" cy="15939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0000"/>
              </a:solidFill>
            </a:endParaRPr>
          </a:p>
        </p:txBody>
      </p:sp>
      <p:sp>
        <p:nvSpPr>
          <p:cNvPr id="252" name="Google Shape;252;p23"/>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Valenced interactions: Status theory</a:t>
            </a:r>
            <a:endParaRPr/>
          </a:p>
        </p:txBody>
      </p:sp>
      <p:sp>
        <p:nvSpPr>
          <p:cNvPr id="253" name="Google Shape;253;p23"/>
          <p:cNvSpPr txBox="1"/>
          <p:nvPr>
            <p:ph idx="1" type="body"/>
          </p:nvPr>
        </p:nvSpPr>
        <p:spPr>
          <a:xfrm>
            <a:off x="311700" y="1225225"/>
            <a:ext cx="4605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
              <a:t>Status Theory</a:t>
            </a:r>
            <a:endParaRPr b="1"/>
          </a:p>
          <a:p>
            <a:pPr indent="-317500" lvl="1" marL="914400" rtl="0" algn="l">
              <a:spcBef>
                <a:spcPts val="0"/>
              </a:spcBef>
              <a:spcAft>
                <a:spcPts val="0"/>
              </a:spcAft>
              <a:buSzPts val="1400"/>
              <a:buChar char="○"/>
            </a:pPr>
            <a:r>
              <a:rPr lang="en"/>
              <a:t>Designed to explain distribution of positive and negative ties in </a:t>
            </a:r>
            <a:r>
              <a:rPr b="1" lang="en"/>
              <a:t>valenced</a:t>
            </a:r>
            <a:r>
              <a:rPr lang="en"/>
              <a:t> networks with </a:t>
            </a:r>
            <a:r>
              <a:rPr b="1" lang="en"/>
              <a:t>directed</a:t>
            </a:r>
            <a:r>
              <a:rPr lang="en"/>
              <a:t> ties</a:t>
            </a:r>
            <a:endParaRPr/>
          </a:p>
          <a:p>
            <a:pPr indent="-342900" lvl="0" marL="457200" rtl="0" algn="l">
              <a:spcBef>
                <a:spcPts val="0"/>
              </a:spcBef>
              <a:spcAft>
                <a:spcPts val="0"/>
              </a:spcAft>
              <a:buSzPts val="1800"/>
              <a:buChar char="●"/>
            </a:pPr>
            <a:r>
              <a:rPr lang="en"/>
              <a:t>Second principle:</a:t>
            </a:r>
            <a:endParaRPr/>
          </a:p>
          <a:p>
            <a:pPr indent="-317500" lvl="1" marL="914400" rtl="0" algn="l">
              <a:spcBef>
                <a:spcPts val="0"/>
              </a:spcBef>
              <a:spcAft>
                <a:spcPts val="0"/>
              </a:spcAft>
              <a:buSzPts val="1400"/>
              <a:buChar char="○"/>
            </a:pPr>
            <a:r>
              <a:rPr lang="en" sz="1400"/>
              <a:t>Status of nodes is also determined by the sign of their connections to (high and low status) others</a:t>
            </a:r>
            <a:r>
              <a:rPr i="1" lang="en"/>
              <a:t> </a:t>
            </a:r>
            <a:endParaRPr i="1"/>
          </a:p>
          <a:p>
            <a:pPr indent="-317500" lvl="2" marL="1371600" rtl="0" algn="l">
              <a:spcBef>
                <a:spcPts val="0"/>
              </a:spcBef>
              <a:spcAft>
                <a:spcPts val="0"/>
              </a:spcAft>
              <a:buSzPts val="1400"/>
              <a:buChar char="■"/>
            </a:pPr>
            <a:r>
              <a:rPr lang="en"/>
              <a:t>Negative ties to high status others decrease status</a:t>
            </a:r>
            <a:endParaRPr/>
          </a:p>
          <a:p>
            <a:pPr indent="-317500" lvl="2" marL="1371600" rtl="0" algn="l">
              <a:spcBef>
                <a:spcPts val="0"/>
              </a:spcBef>
              <a:spcAft>
                <a:spcPts val="0"/>
              </a:spcAft>
              <a:buClr>
                <a:srgbClr val="FF0000"/>
              </a:buClr>
              <a:buSzPts val="1400"/>
              <a:buChar char="■"/>
            </a:pPr>
            <a:r>
              <a:rPr lang="en">
                <a:solidFill>
                  <a:srgbClr val="FF0000"/>
                </a:solidFill>
              </a:rPr>
              <a:t>Negative ties to low status others increase status</a:t>
            </a:r>
            <a:endParaRPr>
              <a:solidFill>
                <a:srgbClr val="FF0000"/>
              </a:solidFill>
            </a:endParaRPr>
          </a:p>
          <a:p>
            <a:pPr indent="0" lvl="0" marL="914400" rtl="0" algn="l">
              <a:spcBef>
                <a:spcPts val="1600"/>
              </a:spcBef>
              <a:spcAft>
                <a:spcPts val="0"/>
              </a:spcAft>
              <a:buNone/>
            </a:pPr>
            <a:r>
              <a:t/>
            </a:r>
            <a:endParaRPr/>
          </a:p>
          <a:p>
            <a:pPr indent="0" lvl="0" marL="0" rtl="0" algn="l">
              <a:spcBef>
                <a:spcPts val="1600"/>
              </a:spcBef>
              <a:spcAft>
                <a:spcPts val="1600"/>
              </a:spcAft>
              <a:buNone/>
            </a:pPr>
            <a:r>
              <a:t/>
            </a:r>
            <a:endParaRPr/>
          </a:p>
        </p:txBody>
      </p:sp>
      <p:sp>
        <p:nvSpPr>
          <p:cNvPr id="254" name="Google Shape;254;p23"/>
          <p:cNvSpPr/>
          <p:nvPr/>
        </p:nvSpPr>
        <p:spPr>
          <a:xfrm>
            <a:off x="7360375" y="2245300"/>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23"/>
          <p:cNvSpPr/>
          <p:nvPr/>
        </p:nvSpPr>
        <p:spPr>
          <a:xfrm>
            <a:off x="6869750" y="1378900"/>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23"/>
          <p:cNvSpPr/>
          <p:nvPr/>
        </p:nvSpPr>
        <p:spPr>
          <a:xfrm>
            <a:off x="7360363" y="1378900"/>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57" name="Google Shape;257;p23"/>
          <p:cNvCxnSpPr>
            <a:stCxn id="255" idx="4"/>
            <a:endCxn id="254" idx="1"/>
          </p:cNvCxnSpPr>
          <p:nvPr/>
        </p:nvCxnSpPr>
        <p:spPr>
          <a:xfrm>
            <a:off x="7052750" y="1735000"/>
            <a:ext cx="361200" cy="562500"/>
          </a:xfrm>
          <a:prstGeom prst="straightConnector1">
            <a:avLst/>
          </a:prstGeom>
          <a:noFill/>
          <a:ln cap="flat" cmpd="sng" w="19050">
            <a:solidFill>
              <a:srgbClr val="6AA84F"/>
            </a:solidFill>
            <a:prstDash val="solid"/>
            <a:round/>
            <a:headEnd len="med" w="med" type="none"/>
            <a:tailEnd len="med" w="med" type="triangle"/>
          </a:ln>
        </p:spPr>
      </p:cxnSp>
      <p:cxnSp>
        <p:nvCxnSpPr>
          <p:cNvPr id="258" name="Google Shape;258;p23"/>
          <p:cNvCxnSpPr>
            <a:stCxn id="256" idx="4"/>
            <a:endCxn id="254" idx="0"/>
          </p:cNvCxnSpPr>
          <p:nvPr/>
        </p:nvCxnSpPr>
        <p:spPr>
          <a:xfrm>
            <a:off x="7543363" y="1735000"/>
            <a:ext cx="0" cy="510300"/>
          </a:xfrm>
          <a:prstGeom prst="straightConnector1">
            <a:avLst/>
          </a:prstGeom>
          <a:noFill/>
          <a:ln cap="flat" cmpd="sng" w="19050">
            <a:solidFill>
              <a:srgbClr val="6AA84F"/>
            </a:solidFill>
            <a:prstDash val="solid"/>
            <a:round/>
            <a:headEnd len="med" w="med" type="none"/>
            <a:tailEnd len="med" w="med" type="triangle"/>
          </a:ln>
        </p:spPr>
      </p:cxnSp>
      <p:sp>
        <p:nvSpPr>
          <p:cNvPr id="259" name="Google Shape;259;p23"/>
          <p:cNvSpPr txBox="1"/>
          <p:nvPr/>
        </p:nvSpPr>
        <p:spPr>
          <a:xfrm>
            <a:off x="6224950" y="2680575"/>
            <a:ext cx="1902000" cy="24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Status Loss</a:t>
            </a:r>
            <a:endParaRPr>
              <a:latin typeface="Open Sans"/>
              <a:ea typeface="Open Sans"/>
              <a:cs typeface="Open Sans"/>
              <a:sym typeface="Open Sans"/>
            </a:endParaRPr>
          </a:p>
        </p:txBody>
      </p:sp>
      <p:sp>
        <p:nvSpPr>
          <p:cNvPr id="260" name="Google Shape;260;p23"/>
          <p:cNvSpPr/>
          <p:nvPr/>
        </p:nvSpPr>
        <p:spPr>
          <a:xfrm>
            <a:off x="7349525" y="4069100"/>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23"/>
          <p:cNvSpPr/>
          <p:nvPr/>
        </p:nvSpPr>
        <p:spPr>
          <a:xfrm>
            <a:off x="6858900" y="3202700"/>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23"/>
          <p:cNvSpPr/>
          <p:nvPr/>
        </p:nvSpPr>
        <p:spPr>
          <a:xfrm>
            <a:off x="7349513" y="3202700"/>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23"/>
          <p:cNvSpPr/>
          <p:nvPr/>
        </p:nvSpPr>
        <p:spPr>
          <a:xfrm>
            <a:off x="7861850" y="3202700"/>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64" name="Google Shape;264;p23"/>
          <p:cNvCxnSpPr>
            <a:stCxn id="261" idx="4"/>
            <a:endCxn id="260" idx="1"/>
          </p:cNvCxnSpPr>
          <p:nvPr/>
        </p:nvCxnSpPr>
        <p:spPr>
          <a:xfrm>
            <a:off x="7041900" y="3558800"/>
            <a:ext cx="361200" cy="562500"/>
          </a:xfrm>
          <a:prstGeom prst="straightConnector1">
            <a:avLst/>
          </a:prstGeom>
          <a:noFill/>
          <a:ln cap="flat" cmpd="sng" w="19050">
            <a:solidFill>
              <a:srgbClr val="FF0000"/>
            </a:solidFill>
            <a:prstDash val="solid"/>
            <a:round/>
            <a:headEnd len="med" w="med" type="none"/>
            <a:tailEnd len="med" w="med" type="triangle"/>
          </a:ln>
        </p:spPr>
      </p:cxnSp>
      <p:cxnSp>
        <p:nvCxnSpPr>
          <p:cNvPr id="265" name="Google Shape;265;p23"/>
          <p:cNvCxnSpPr>
            <a:stCxn id="262" idx="4"/>
            <a:endCxn id="260" idx="0"/>
          </p:cNvCxnSpPr>
          <p:nvPr/>
        </p:nvCxnSpPr>
        <p:spPr>
          <a:xfrm>
            <a:off x="7532513" y="3558800"/>
            <a:ext cx="0" cy="510300"/>
          </a:xfrm>
          <a:prstGeom prst="straightConnector1">
            <a:avLst/>
          </a:prstGeom>
          <a:noFill/>
          <a:ln cap="flat" cmpd="sng" w="19050">
            <a:solidFill>
              <a:srgbClr val="FF0000"/>
            </a:solidFill>
            <a:prstDash val="solid"/>
            <a:round/>
            <a:headEnd len="med" w="med" type="none"/>
            <a:tailEnd len="med" w="med" type="triangle"/>
          </a:ln>
        </p:spPr>
      </p:cxnSp>
      <p:cxnSp>
        <p:nvCxnSpPr>
          <p:cNvPr id="266" name="Google Shape;266;p23"/>
          <p:cNvCxnSpPr>
            <a:stCxn id="263" idx="4"/>
            <a:endCxn id="260" idx="7"/>
          </p:cNvCxnSpPr>
          <p:nvPr/>
        </p:nvCxnSpPr>
        <p:spPr>
          <a:xfrm flipH="1">
            <a:off x="7662050" y="3558800"/>
            <a:ext cx="382800" cy="562500"/>
          </a:xfrm>
          <a:prstGeom prst="straightConnector1">
            <a:avLst/>
          </a:prstGeom>
          <a:noFill/>
          <a:ln cap="flat" cmpd="sng" w="19050">
            <a:solidFill>
              <a:srgbClr val="FF0000"/>
            </a:solidFill>
            <a:prstDash val="solid"/>
            <a:round/>
            <a:headEnd len="med" w="med" type="none"/>
            <a:tailEnd len="med" w="med" type="triangle"/>
          </a:ln>
        </p:spPr>
      </p:cxnSp>
      <p:sp>
        <p:nvSpPr>
          <p:cNvPr id="267" name="Google Shape;267;p23"/>
          <p:cNvSpPr txBox="1"/>
          <p:nvPr/>
        </p:nvSpPr>
        <p:spPr>
          <a:xfrm>
            <a:off x="6403350" y="4504375"/>
            <a:ext cx="1712700" cy="24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Status Boost</a:t>
            </a:r>
            <a:endParaRPr>
              <a:latin typeface="Open Sans"/>
              <a:ea typeface="Open Sans"/>
              <a:cs typeface="Open Sans"/>
              <a:sym typeface="Open Sans"/>
            </a:endParaRPr>
          </a:p>
        </p:txBody>
      </p:sp>
      <p:sp>
        <p:nvSpPr>
          <p:cNvPr id="268" name="Google Shape;268;p23"/>
          <p:cNvSpPr/>
          <p:nvPr/>
        </p:nvSpPr>
        <p:spPr>
          <a:xfrm>
            <a:off x="5955825" y="2255175"/>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69" name="Google Shape;269;p23"/>
          <p:cNvCxnSpPr>
            <a:stCxn id="254" idx="2"/>
            <a:endCxn id="268" idx="6"/>
          </p:cNvCxnSpPr>
          <p:nvPr/>
        </p:nvCxnSpPr>
        <p:spPr>
          <a:xfrm flipH="1">
            <a:off x="6321775" y="2423350"/>
            <a:ext cx="1038600" cy="9900"/>
          </a:xfrm>
          <a:prstGeom prst="straightConnector1">
            <a:avLst/>
          </a:prstGeom>
          <a:noFill/>
          <a:ln cap="flat" cmpd="sng" w="19050">
            <a:solidFill>
              <a:srgbClr val="FF0000"/>
            </a:solidFill>
            <a:prstDash val="solid"/>
            <a:round/>
            <a:headEnd len="med" w="med" type="triangle"/>
            <a:tailEnd len="med" w="med" type="none"/>
          </a:ln>
        </p:spPr>
      </p:cxnSp>
      <p:sp>
        <p:nvSpPr>
          <p:cNvPr id="270" name="Google Shape;270;p23"/>
          <p:cNvSpPr/>
          <p:nvPr/>
        </p:nvSpPr>
        <p:spPr>
          <a:xfrm>
            <a:off x="5955825" y="4069100"/>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71" name="Google Shape;271;p23"/>
          <p:cNvCxnSpPr>
            <a:stCxn id="260" idx="2"/>
            <a:endCxn id="270" idx="6"/>
          </p:cNvCxnSpPr>
          <p:nvPr/>
        </p:nvCxnSpPr>
        <p:spPr>
          <a:xfrm rot="10800000">
            <a:off x="6321725" y="4247150"/>
            <a:ext cx="1027800" cy="0"/>
          </a:xfrm>
          <a:prstGeom prst="straightConnector1">
            <a:avLst/>
          </a:prstGeom>
          <a:noFill/>
          <a:ln cap="flat" cmpd="sng" w="19050">
            <a:solidFill>
              <a:srgbClr val="FF0000"/>
            </a:solidFill>
            <a:prstDash val="solid"/>
            <a:round/>
            <a:headEnd len="med" w="med" type="triangle"/>
            <a:tailEnd len="med" w="med" type="none"/>
          </a:ln>
        </p:spPr>
      </p:cxnSp>
      <p:sp>
        <p:nvSpPr>
          <p:cNvPr id="272" name="Google Shape;272;p23"/>
          <p:cNvSpPr/>
          <p:nvPr/>
        </p:nvSpPr>
        <p:spPr>
          <a:xfrm>
            <a:off x="8027125" y="86350"/>
            <a:ext cx="981600" cy="1179600"/>
          </a:xfrm>
          <a:prstGeom prst="rect">
            <a:avLst/>
          </a:prstGeom>
          <a:noFill/>
          <a:ln cap="flat" cmpd="sng" w="19050">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23"/>
          <p:cNvSpPr/>
          <p:nvPr/>
        </p:nvSpPr>
        <p:spPr>
          <a:xfrm>
            <a:off x="8192860" y="472152"/>
            <a:ext cx="191400" cy="1932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23"/>
          <p:cNvSpPr/>
          <p:nvPr/>
        </p:nvSpPr>
        <p:spPr>
          <a:xfrm>
            <a:off x="8192860" y="216793"/>
            <a:ext cx="191400" cy="19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75" name="Google Shape;275;p23"/>
          <p:cNvCxnSpPr/>
          <p:nvPr/>
        </p:nvCxnSpPr>
        <p:spPr>
          <a:xfrm flipH="1" rot="10800000">
            <a:off x="8124842" y="847730"/>
            <a:ext cx="327600" cy="5700"/>
          </a:xfrm>
          <a:prstGeom prst="straightConnector1">
            <a:avLst/>
          </a:prstGeom>
          <a:noFill/>
          <a:ln cap="flat" cmpd="sng" w="38100">
            <a:solidFill>
              <a:srgbClr val="FF0000"/>
            </a:solidFill>
            <a:prstDash val="solid"/>
            <a:round/>
            <a:headEnd len="med" w="med" type="none"/>
            <a:tailEnd len="med" w="med" type="triangle"/>
          </a:ln>
        </p:spPr>
      </p:cxnSp>
      <p:cxnSp>
        <p:nvCxnSpPr>
          <p:cNvPr id="276" name="Google Shape;276;p23"/>
          <p:cNvCxnSpPr/>
          <p:nvPr/>
        </p:nvCxnSpPr>
        <p:spPr>
          <a:xfrm flipH="1" rot="10800000">
            <a:off x="8124842" y="1076729"/>
            <a:ext cx="327600" cy="5700"/>
          </a:xfrm>
          <a:prstGeom prst="straightConnector1">
            <a:avLst/>
          </a:prstGeom>
          <a:noFill/>
          <a:ln cap="flat" cmpd="sng" w="38100">
            <a:solidFill>
              <a:srgbClr val="6AA84F"/>
            </a:solidFill>
            <a:prstDash val="solid"/>
            <a:round/>
            <a:headEnd len="med" w="med" type="none"/>
            <a:tailEnd len="med" w="med" type="triangle"/>
          </a:ln>
        </p:spPr>
      </p:cxnSp>
      <p:sp>
        <p:nvSpPr>
          <p:cNvPr id="277" name="Google Shape;277;p23"/>
          <p:cNvSpPr txBox="1"/>
          <p:nvPr/>
        </p:nvSpPr>
        <p:spPr>
          <a:xfrm>
            <a:off x="8384249" y="151200"/>
            <a:ext cx="676500" cy="1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sz="1100">
                <a:latin typeface="Comfortaa"/>
                <a:ea typeface="Comfortaa"/>
                <a:cs typeface="Comfortaa"/>
                <a:sym typeface="Comfortaa"/>
              </a:rPr>
              <a:t>Ego</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Other</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Neg.</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Pos.</a:t>
            </a:r>
            <a:endParaRPr b="1" sz="1100">
              <a:latin typeface="Comfortaa"/>
              <a:ea typeface="Comfortaa"/>
              <a:cs typeface="Comfortaa"/>
              <a:sym typeface="Comfortaa"/>
            </a:endParaRPr>
          </a:p>
        </p:txBody>
      </p:sp>
      <p:sp>
        <p:nvSpPr>
          <p:cNvPr id="278" name="Google Shape;278;p23"/>
          <p:cNvSpPr/>
          <p:nvPr/>
        </p:nvSpPr>
        <p:spPr>
          <a:xfrm>
            <a:off x="7872700" y="1378900"/>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79" name="Google Shape;279;p23"/>
          <p:cNvCxnSpPr>
            <a:stCxn id="278" idx="4"/>
          </p:cNvCxnSpPr>
          <p:nvPr/>
        </p:nvCxnSpPr>
        <p:spPr>
          <a:xfrm flipH="1">
            <a:off x="7672900" y="1735000"/>
            <a:ext cx="382800" cy="562500"/>
          </a:xfrm>
          <a:prstGeom prst="straightConnector1">
            <a:avLst/>
          </a:prstGeom>
          <a:noFill/>
          <a:ln cap="flat" cmpd="sng" w="19050">
            <a:solidFill>
              <a:srgbClr val="6AA84F"/>
            </a:solidFill>
            <a:prstDash val="solid"/>
            <a:round/>
            <a:headEnd len="med" w="med" type="none"/>
            <a:tailEnd len="med" w="med" type="triangl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2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Valenced interactions: Status theory</a:t>
            </a:r>
            <a:endParaRPr/>
          </a:p>
        </p:txBody>
      </p:sp>
      <p:sp>
        <p:nvSpPr>
          <p:cNvPr id="285" name="Google Shape;285;p24"/>
          <p:cNvSpPr txBox="1"/>
          <p:nvPr>
            <p:ph idx="1" type="body"/>
          </p:nvPr>
        </p:nvSpPr>
        <p:spPr>
          <a:xfrm>
            <a:off x="311700" y="1225225"/>
            <a:ext cx="8697000" cy="2067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
              <a:t>Status Theory</a:t>
            </a:r>
            <a:endParaRPr b="1"/>
          </a:p>
          <a:p>
            <a:pPr indent="-317500" lvl="1" marL="914400" rtl="0" algn="l">
              <a:spcBef>
                <a:spcPts val="0"/>
              </a:spcBef>
              <a:spcAft>
                <a:spcPts val="0"/>
              </a:spcAft>
              <a:buSzPts val="1400"/>
              <a:buChar char="○"/>
            </a:pPr>
            <a:r>
              <a:rPr lang="en"/>
              <a:t>Designed to explain distribution of positive and negative ties in </a:t>
            </a:r>
            <a:r>
              <a:rPr b="1" lang="en"/>
              <a:t>valenced</a:t>
            </a:r>
            <a:r>
              <a:rPr lang="en"/>
              <a:t> networks with </a:t>
            </a:r>
            <a:r>
              <a:rPr b="1" lang="en"/>
              <a:t>directed</a:t>
            </a:r>
            <a:r>
              <a:rPr lang="en"/>
              <a:t> ties</a:t>
            </a:r>
            <a:endParaRPr/>
          </a:p>
          <a:p>
            <a:pPr indent="-342900" lvl="0" marL="457200" rtl="0" algn="l">
              <a:spcBef>
                <a:spcPts val="0"/>
              </a:spcBef>
              <a:spcAft>
                <a:spcPts val="0"/>
              </a:spcAft>
              <a:buSzPts val="1800"/>
              <a:buChar char="●"/>
            </a:pPr>
            <a:r>
              <a:rPr lang="en"/>
              <a:t>Third principle:</a:t>
            </a:r>
            <a:endParaRPr/>
          </a:p>
          <a:p>
            <a:pPr indent="-317500" lvl="1" marL="914400" rtl="0" algn="l">
              <a:spcBef>
                <a:spcPts val="0"/>
              </a:spcBef>
              <a:spcAft>
                <a:spcPts val="0"/>
              </a:spcAft>
              <a:buSzPts val="1400"/>
              <a:buChar char="○"/>
            </a:pPr>
            <a:r>
              <a:rPr lang="en"/>
              <a:t>People aim to </a:t>
            </a:r>
            <a:r>
              <a:rPr b="1" lang="en"/>
              <a:t>avoid</a:t>
            </a:r>
            <a:r>
              <a:rPr lang="en"/>
              <a:t> status </a:t>
            </a:r>
            <a:r>
              <a:rPr b="1" lang="en"/>
              <a:t>loss</a:t>
            </a:r>
            <a:r>
              <a:rPr lang="en"/>
              <a:t> and </a:t>
            </a:r>
            <a:r>
              <a:rPr b="1" lang="en"/>
              <a:t>seek</a:t>
            </a:r>
            <a:r>
              <a:rPr lang="en"/>
              <a:t> status </a:t>
            </a:r>
            <a:r>
              <a:rPr b="1" lang="en"/>
              <a:t>boosts</a:t>
            </a:r>
            <a:r>
              <a:rPr lang="en"/>
              <a:t>:</a:t>
            </a:r>
            <a:endParaRPr/>
          </a:p>
          <a:p>
            <a:pPr indent="-317500" lvl="2" marL="1371600" rtl="0" algn="l">
              <a:spcBef>
                <a:spcPts val="0"/>
              </a:spcBef>
              <a:spcAft>
                <a:spcPts val="0"/>
              </a:spcAft>
              <a:buSzPts val="1400"/>
              <a:buChar char="■"/>
            </a:pPr>
            <a:r>
              <a:rPr i="1" lang="en"/>
              <a:t>High status individuals will </a:t>
            </a:r>
            <a:r>
              <a:rPr i="1" lang="en"/>
              <a:t>accumulate</a:t>
            </a:r>
            <a:r>
              <a:rPr i="1" lang="en"/>
              <a:t> positive ties</a:t>
            </a:r>
            <a:endParaRPr i="1"/>
          </a:p>
          <a:p>
            <a:pPr indent="-317500" lvl="3" marL="1828800" rtl="0" algn="l">
              <a:spcBef>
                <a:spcPts val="0"/>
              </a:spcBef>
              <a:spcAft>
                <a:spcPts val="0"/>
              </a:spcAft>
              <a:buSzPts val="1400"/>
              <a:buChar char="●"/>
            </a:pPr>
            <a:r>
              <a:rPr lang="en"/>
              <a:t>Rich get richer effect</a:t>
            </a:r>
            <a:endParaRPr/>
          </a:p>
          <a:p>
            <a:pPr indent="0" lvl="0" marL="914400" rtl="0" algn="l">
              <a:spcBef>
                <a:spcPts val="1600"/>
              </a:spcBef>
              <a:spcAft>
                <a:spcPts val="0"/>
              </a:spcAft>
              <a:buNone/>
            </a:pPr>
            <a:r>
              <a:t/>
            </a:r>
            <a:endParaRPr/>
          </a:p>
          <a:p>
            <a:pPr indent="0" lvl="0" marL="0" rtl="0" algn="l">
              <a:spcBef>
                <a:spcPts val="1600"/>
              </a:spcBef>
              <a:spcAft>
                <a:spcPts val="1600"/>
              </a:spcAft>
              <a:buNone/>
            </a:pPr>
            <a:r>
              <a:t/>
            </a:r>
            <a:endParaRPr/>
          </a:p>
        </p:txBody>
      </p:sp>
      <p:sp>
        <p:nvSpPr>
          <p:cNvPr id="286" name="Google Shape;286;p24"/>
          <p:cNvSpPr/>
          <p:nvPr/>
        </p:nvSpPr>
        <p:spPr>
          <a:xfrm>
            <a:off x="8027125" y="86350"/>
            <a:ext cx="981600" cy="1179600"/>
          </a:xfrm>
          <a:prstGeom prst="rect">
            <a:avLst/>
          </a:prstGeom>
          <a:noFill/>
          <a:ln cap="flat" cmpd="sng" w="19050">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24"/>
          <p:cNvSpPr/>
          <p:nvPr/>
        </p:nvSpPr>
        <p:spPr>
          <a:xfrm>
            <a:off x="8192860" y="472152"/>
            <a:ext cx="191400" cy="1932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24"/>
          <p:cNvSpPr/>
          <p:nvPr/>
        </p:nvSpPr>
        <p:spPr>
          <a:xfrm>
            <a:off x="8192860" y="216793"/>
            <a:ext cx="191400" cy="19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89" name="Google Shape;289;p24"/>
          <p:cNvCxnSpPr/>
          <p:nvPr/>
        </p:nvCxnSpPr>
        <p:spPr>
          <a:xfrm flipH="1" rot="10800000">
            <a:off x="8124842" y="847730"/>
            <a:ext cx="327600" cy="5700"/>
          </a:xfrm>
          <a:prstGeom prst="straightConnector1">
            <a:avLst/>
          </a:prstGeom>
          <a:noFill/>
          <a:ln cap="flat" cmpd="sng" w="38100">
            <a:solidFill>
              <a:srgbClr val="FF0000"/>
            </a:solidFill>
            <a:prstDash val="solid"/>
            <a:round/>
            <a:headEnd len="med" w="med" type="none"/>
            <a:tailEnd len="med" w="med" type="triangle"/>
          </a:ln>
        </p:spPr>
      </p:cxnSp>
      <p:cxnSp>
        <p:nvCxnSpPr>
          <p:cNvPr id="290" name="Google Shape;290;p24"/>
          <p:cNvCxnSpPr/>
          <p:nvPr/>
        </p:nvCxnSpPr>
        <p:spPr>
          <a:xfrm flipH="1" rot="10800000">
            <a:off x="8124842" y="1076729"/>
            <a:ext cx="327600" cy="5700"/>
          </a:xfrm>
          <a:prstGeom prst="straightConnector1">
            <a:avLst/>
          </a:prstGeom>
          <a:noFill/>
          <a:ln cap="flat" cmpd="sng" w="38100">
            <a:solidFill>
              <a:srgbClr val="6AA84F"/>
            </a:solidFill>
            <a:prstDash val="solid"/>
            <a:round/>
            <a:headEnd len="med" w="med" type="none"/>
            <a:tailEnd len="med" w="med" type="triangle"/>
          </a:ln>
        </p:spPr>
      </p:cxnSp>
      <p:sp>
        <p:nvSpPr>
          <p:cNvPr id="291" name="Google Shape;291;p24"/>
          <p:cNvSpPr txBox="1"/>
          <p:nvPr/>
        </p:nvSpPr>
        <p:spPr>
          <a:xfrm>
            <a:off x="8384249" y="151200"/>
            <a:ext cx="676500" cy="1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sz="1100">
                <a:latin typeface="Comfortaa"/>
                <a:ea typeface="Comfortaa"/>
                <a:cs typeface="Comfortaa"/>
                <a:sym typeface="Comfortaa"/>
              </a:rPr>
              <a:t>Ego</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Other</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Neg.</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Pos.</a:t>
            </a:r>
            <a:endParaRPr b="1" sz="1100">
              <a:latin typeface="Comfortaa"/>
              <a:ea typeface="Comfortaa"/>
              <a:cs typeface="Comfortaa"/>
              <a:sym typeface="Comfortaa"/>
            </a:endParaRPr>
          </a:p>
        </p:txBody>
      </p:sp>
      <p:sp>
        <p:nvSpPr>
          <p:cNvPr id="292" name="Google Shape;292;p24"/>
          <p:cNvSpPr/>
          <p:nvPr/>
        </p:nvSpPr>
        <p:spPr>
          <a:xfrm>
            <a:off x="1989375" y="4236613"/>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24"/>
          <p:cNvSpPr/>
          <p:nvPr/>
        </p:nvSpPr>
        <p:spPr>
          <a:xfrm>
            <a:off x="1498750" y="3370213"/>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24"/>
          <p:cNvSpPr/>
          <p:nvPr/>
        </p:nvSpPr>
        <p:spPr>
          <a:xfrm>
            <a:off x="1989363" y="3370213"/>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24"/>
          <p:cNvSpPr/>
          <p:nvPr/>
        </p:nvSpPr>
        <p:spPr>
          <a:xfrm>
            <a:off x="2501700" y="3370213"/>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96" name="Google Shape;296;p24"/>
          <p:cNvCxnSpPr>
            <a:stCxn id="293" idx="4"/>
            <a:endCxn id="292" idx="1"/>
          </p:cNvCxnSpPr>
          <p:nvPr/>
        </p:nvCxnSpPr>
        <p:spPr>
          <a:xfrm>
            <a:off x="1681750" y="3726313"/>
            <a:ext cx="361200" cy="562500"/>
          </a:xfrm>
          <a:prstGeom prst="straightConnector1">
            <a:avLst/>
          </a:prstGeom>
          <a:noFill/>
          <a:ln cap="flat" cmpd="sng" w="19050">
            <a:solidFill>
              <a:srgbClr val="6AA84F"/>
            </a:solidFill>
            <a:prstDash val="solid"/>
            <a:round/>
            <a:headEnd len="med" w="med" type="none"/>
            <a:tailEnd len="med" w="med" type="triangle"/>
          </a:ln>
        </p:spPr>
      </p:cxnSp>
      <p:cxnSp>
        <p:nvCxnSpPr>
          <p:cNvPr id="297" name="Google Shape;297;p24"/>
          <p:cNvCxnSpPr>
            <a:stCxn id="294" idx="4"/>
            <a:endCxn id="292" idx="0"/>
          </p:cNvCxnSpPr>
          <p:nvPr/>
        </p:nvCxnSpPr>
        <p:spPr>
          <a:xfrm>
            <a:off x="2172363" y="3726313"/>
            <a:ext cx="0" cy="510300"/>
          </a:xfrm>
          <a:prstGeom prst="straightConnector1">
            <a:avLst/>
          </a:prstGeom>
          <a:noFill/>
          <a:ln cap="flat" cmpd="sng" w="19050">
            <a:solidFill>
              <a:srgbClr val="6AA84F"/>
            </a:solidFill>
            <a:prstDash val="solid"/>
            <a:round/>
            <a:headEnd len="med" w="med" type="none"/>
            <a:tailEnd len="med" w="med" type="triangle"/>
          </a:ln>
        </p:spPr>
      </p:cxnSp>
      <p:cxnSp>
        <p:nvCxnSpPr>
          <p:cNvPr id="298" name="Google Shape;298;p24"/>
          <p:cNvCxnSpPr>
            <a:stCxn id="295" idx="4"/>
            <a:endCxn id="292" idx="7"/>
          </p:cNvCxnSpPr>
          <p:nvPr/>
        </p:nvCxnSpPr>
        <p:spPr>
          <a:xfrm flipH="1">
            <a:off x="2301900" y="3726313"/>
            <a:ext cx="382800" cy="562500"/>
          </a:xfrm>
          <a:prstGeom prst="straightConnector1">
            <a:avLst/>
          </a:prstGeom>
          <a:noFill/>
          <a:ln cap="flat" cmpd="sng" w="19050">
            <a:solidFill>
              <a:srgbClr val="6AA84F"/>
            </a:solidFill>
            <a:prstDash val="solid"/>
            <a:round/>
            <a:headEnd len="med" w="med" type="none"/>
            <a:tailEnd len="med" w="med" type="triangle"/>
          </a:ln>
        </p:spPr>
      </p:cxnSp>
      <p:sp>
        <p:nvSpPr>
          <p:cNvPr id="299" name="Google Shape;299;p24"/>
          <p:cNvSpPr txBox="1"/>
          <p:nvPr/>
        </p:nvSpPr>
        <p:spPr>
          <a:xfrm>
            <a:off x="1114000" y="4670725"/>
            <a:ext cx="1135500" cy="24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Time 1</a:t>
            </a:r>
            <a:endParaRPr>
              <a:latin typeface="Open Sans"/>
              <a:ea typeface="Open Sans"/>
              <a:cs typeface="Open Sans"/>
              <a:sym typeface="Open Sans"/>
            </a:endParaRPr>
          </a:p>
        </p:txBody>
      </p:sp>
      <p:sp>
        <p:nvSpPr>
          <p:cNvPr id="300" name="Google Shape;300;p24"/>
          <p:cNvSpPr/>
          <p:nvPr/>
        </p:nvSpPr>
        <p:spPr>
          <a:xfrm>
            <a:off x="584825" y="4246488"/>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24"/>
          <p:cNvSpPr/>
          <p:nvPr/>
        </p:nvSpPr>
        <p:spPr>
          <a:xfrm>
            <a:off x="7574113" y="4100438"/>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24"/>
          <p:cNvSpPr/>
          <p:nvPr/>
        </p:nvSpPr>
        <p:spPr>
          <a:xfrm>
            <a:off x="7083488" y="3234038"/>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24"/>
          <p:cNvSpPr/>
          <p:nvPr/>
        </p:nvSpPr>
        <p:spPr>
          <a:xfrm>
            <a:off x="7574100" y="3234038"/>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24"/>
          <p:cNvSpPr/>
          <p:nvPr/>
        </p:nvSpPr>
        <p:spPr>
          <a:xfrm>
            <a:off x="8086438" y="3234038"/>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05" name="Google Shape;305;p24"/>
          <p:cNvCxnSpPr>
            <a:stCxn id="302" idx="4"/>
            <a:endCxn id="301" idx="1"/>
          </p:cNvCxnSpPr>
          <p:nvPr/>
        </p:nvCxnSpPr>
        <p:spPr>
          <a:xfrm>
            <a:off x="7266488" y="3590138"/>
            <a:ext cx="361200" cy="562500"/>
          </a:xfrm>
          <a:prstGeom prst="straightConnector1">
            <a:avLst/>
          </a:prstGeom>
          <a:noFill/>
          <a:ln cap="flat" cmpd="sng" w="19050">
            <a:solidFill>
              <a:srgbClr val="6AA84F"/>
            </a:solidFill>
            <a:prstDash val="solid"/>
            <a:round/>
            <a:headEnd len="med" w="med" type="none"/>
            <a:tailEnd len="med" w="med" type="triangle"/>
          </a:ln>
        </p:spPr>
      </p:cxnSp>
      <p:cxnSp>
        <p:nvCxnSpPr>
          <p:cNvPr id="306" name="Google Shape;306;p24"/>
          <p:cNvCxnSpPr>
            <a:stCxn id="303" idx="4"/>
            <a:endCxn id="301" idx="0"/>
          </p:cNvCxnSpPr>
          <p:nvPr/>
        </p:nvCxnSpPr>
        <p:spPr>
          <a:xfrm>
            <a:off x="7757100" y="3590138"/>
            <a:ext cx="0" cy="510300"/>
          </a:xfrm>
          <a:prstGeom prst="straightConnector1">
            <a:avLst/>
          </a:prstGeom>
          <a:noFill/>
          <a:ln cap="flat" cmpd="sng" w="19050">
            <a:solidFill>
              <a:srgbClr val="6AA84F"/>
            </a:solidFill>
            <a:prstDash val="solid"/>
            <a:round/>
            <a:headEnd len="med" w="med" type="none"/>
            <a:tailEnd len="med" w="med" type="triangle"/>
          </a:ln>
        </p:spPr>
      </p:cxnSp>
      <p:cxnSp>
        <p:nvCxnSpPr>
          <p:cNvPr id="307" name="Google Shape;307;p24"/>
          <p:cNvCxnSpPr>
            <a:stCxn id="304" idx="4"/>
            <a:endCxn id="301" idx="7"/>
          </p:cNvCxnSpPr>
          <p:nvPr/>
        </p:nvCxnSpPr>
        <p:spPr>
          <a:xfrm flipH="1">
            <a:off x="7886638" y="3590138"/>
            <a:ext cx="382800" cy="562500"/>
          </a:xfrm>
          <a:prstGeom prst="straightConnector1">
            <a:avLst/>
          </a:prstGeom>
          <a:noFill/>
          <a:ln cap="flat" cmpd="sng" w="19050">
            <a:solidFill>
              <a:srgbClr val="6AA84F"/>
            </a:solidFill>
            <a:prstDash val="solid"/>
            <a:round/>
            <a:headEnd len="med" w="med" type="none"/>
            <a:tailEnd len="med" w="med" type="triangle"/>
          </a:ln>
        </p:spPr>
      </p:cxnSp>
      <p:sp>
        <p:nvSpPr>
          <p:cNvPr id="308" name="Google Shape;308;p24"/>
          <p:cNvSpPr txBox="1"/>
          <p:nvPr/>
        </p:nvSpPr>
        <p:spPr>
          <a:xfrm>
            <a:off x="6698745" y="4602600"/>
            <a:ext cx="1135500" cy="24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Time 2</a:t>
            </a:r>
            <a:endParaRPr>
              <a:latin typeface="Open Sans"/>
              <a:ea typeface="Open Sans"/>
              <a:cs typeface="Open Sans"/>
              <a:sym typeface="Open Sans"/>
            </a:endParaRPr>
          </a:p>
        </p:txBody>
      </p:sp>
      <p:sp>
        <p:nvSpPr>
          <p:cNvPr id="309" name="Google Shape;309;p24"/>
          <p:cNvSpPr/>
          <p:nvPr/>
        </p:nvSpPr>
        <p:spPr>
          <a:xfrm>
            <a:off x="6169563" y="4110313"/>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10" name="Google Shape;310;p24"/>
          <p:cNvCxnSpPr>
            <a:stCxn id="301" idx="2"/>
            <a:endCxn id="309" idx="6"/>
          </p:cNvCxnSpPr>
          <p:nvPr/>
        </p:nvCxnSpPr>
        <p:spPr>
          <a:xfrm flipH="1">
            <a:off x="6535513" y="4278488"/>
            <a:ext cx="1038600" cy="9900"/>
          </a:xfrm>
          <a:prstGeom prst="straightConnector1">
            <a:avLst/>
          </a:prstGeom>
          <a:noFill/>
          <a:ln cap="flat" cmpd="sng" w="19050">
            <a:solidFill>
              <a:srgbClr val="6AA84F"/>
            </a:solidFill>
            <a:prstDash val="solid"/>
            <a:round/>
            <a:headEnd len="med" w="med" type="triangle"/>
            <a:tailEnd len="med" w="med" type="none"/>
          </a:ln>
        </p:spPr>
      </p:cxnSp>
      <p:sp>
        <p:nvSpPr>
          <p:cNvPr id="311" name="Google Shape;311;p24"/>
          <p:cNvSpPr/>
          <p:nvPr/>
        </p:nvSpPr>
        <p:spPr>
          <a:xfrm>
            <a:off x="3818050" y="3706900"/>
            <a:ext cx="1355100" cy="708600"/>
          </a:xfrm>
          <a:prstGeom prst="striped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25"/>
          <p:cNvSpPr txBox="1"/>
          <p:nvPr>
            <p:ph idx="1" type="body"/>
          </p:nvPr>
        </p:nvSpPr>
        <p:spPr>
          <a:xfrm>
            <a:off x="311700" y="1225225"/>
            <a:ext cx="8697000" cy="1934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
              <a:t>Status Theory</a:t>
            </a:r>
            <a:endParaRPr b="1"/>
          </a:p>
          <a:p>
            <a:pPr indent="-317500" lvl="1" marL="914400" rtl="0" algn="l">
              <a:spcBef>
                <a:spcPts val="0"/>
              </a:spcBef>
              <a:spcAft>
                <a:spcPts val="0"/>
              </a:spcAft>
              <a:buSzPts val="1400"/>
              <a:buChar char="○"/>
            </a:pPr>
            <a:r>
              <a:rPr lang="en"/>
              <a:t>Designed to explain distribution of positive and negative ties in </a:t>
            </a:r>
            <a:r>
              <a:rPr b="1" lang="en"/>
              <a:t>valenced</a:t>
            </a:r>
            <a:r>
              <a:rPr lang="en"/>
              <a:t> networks with </a:t>
            </a:r>
            <a:r>
              <a:rPr b="1" lang="en"/>
              <a:t>directed</a:t>
            </a:r>
            <a:r>
              <a:rPr lang="en"/>
              <a:t> ties</a:t>
            </a:r>
            <a:endParaRPr/>
          </a:p>
          <a:p>
            <a:pPr indent="-342900" lvl="0" marL="457200" rtl="0" algn="l">
              <a:spcBef>
                <a:spcPts val="0"/>
              </a:spcBef>
              <a:spcAft>
                <a:spcPts val="0"/>
              </a:spcAft>
              <a:buSzPts val="1800"/>
              <a:buChar char="●"/>
            </a:pPr>
            <a:r>
              <a:rPr lang="en"/>
              <a:t>Third principle:</a:t>
            </a:r>
            <a:endParaRPr/>
          </a:p>
          <a:p>
            <a:pPr indent="-317500" lvl="1" marL="914400" rtl="0" algn="l">
              <a:spcBef>
                <a:spcPts val="0"/>
              </a:spcBef>
              <a:spcAft>
                <a:spcPts val="0"/>
              </a:spcAft>
              <a:buSzPts val="1400"/>
              <a:buChar char="○"/>
            </a:pPr>
            <a:r>
              <a:rPr lang="en"/>
              <a:t>People aim to </a:t>
            </a:r>
            <a:r>
              <a:rPr b="1" lang="en"/>
              <a:t>avoid</a:t>
            </a:r>
            <a:r>
              <a:rPr lang="en"/>
              <a:t> status </a:t>
            </a:r>
            <a:r>
              <a:rPr b="1" lang="en"/>
              <a:t>loss</a:t>
            </a:r>
            <a:r>
              <a:rPr lang="en"/>
              <a:t> and </a:t>
            </a:r>
            <a:r>
              <a:rPr b="1" lang="en"/>
              <a:t>seek</a:t>
            </a:r>
            <a:r>
              <a:rPr lang="en"/>
              <a:t> status </a:t>
            </a:r>
            <a:r>
              <a:rPr b="1" lang="en"/>
              <a:t>boosts</a:t>
            </a:r>
            <a:r>
              <a:rPr lang="en"/>
              <a:t>:</a:t>
            </a:r>
            <a:endParaRPr/>
          </a:p>
          <a:p>
            <a:pPr indent="-317500" lvl="2" marL="1371600" rtl="0" algn="l">
              <a:spcBef>
                <a:spcPts val="0"/>
              </a:spcBef>
              <a:spcAft>
                <a:spcPts val="0"/>
              </a:spcAft>
              <a:buSzPts val="1400"/>
              <a:buChar char="■"/>
            </a:pPr>
            <a:r>
              <a:rPr i="1" lang="en"/>
              <a:t>Low status individuals will accumulate negative ties</a:t>
            </a:r>
            <a:endParaRPr i="1"/>
          </a:p>
          <a:p>
            <a:pPr indent="-317500" lvl="3" marL="1828800" rtl="0" algn="l">
              <a:spcBef>
                <a:spcPts val="0"/>
              </a:spcBef>
              <a:spcAft>
                <a:spcPts val="0"/>
              </a:spcAft>
              <a:buSzPts val="1400"/>
              <a:buChar char="●"/>
            </a:pPr>
            <a:r>
              <a:rPr lang="en"/>
              <a:t>“Gang up” effect</a:t>
            </a:r>
            <a:endParaRPr/>
          </a:p>
          <a:p>
            <a:pPr indent="0" lvl="0" marL="914400" rtl="0" algn="l">
              <a:spcBef>
                <a:spcPts val="1600"/>
              </a:spcBef>
              <a:spcAft>
                <a:spcPts val="0"/>
              </a:spcAft>
              <a:buNone/>
            </a:pPr>
            <a:r>
              <a:t/>
            </a:r>
            <a:endParaRPr/>
          </a:p>
          <a:p>
            <a:pPr indent="0" lvl="0" marL="0" rtl="0" algn="l">
              <a:spcBef>
                <a:spcPts val="1600"/>
              </a:spcBef>
              <a:spcAft>
                <a:spcPts val="1600"/>
              </a:spcAft>
              <a:buNone/>
            </a:pPr>
            <a:r>
              <a:t/>
            </a:r>
            <a:endParaRPr/>
          </a:p>
        </p:txBody>
      </p:sp>
      <p:sp>
        <p:nvSpPr>
          <p:cNvPr id="317" name="Google Shape;317;p2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Valenced interactions: Status theory</a:t>
            </a:r>
            <a:endParaRPr/>
          </a:p>
        </p:txBody>
      </p:sp>
      <p:sp>
        <p:nvSpPr>
          <p:cNvPr id="318" name="Google Shape;318;p25"/>
          <p:cNvSpPr/>
          <p:nvPr/>
        </p:nvSpPr>
        <p:spPr>
          <a:xfrm>
            <a:off x="8027125" y="86350"/>
            <a:ext cx="981600" cy="1179600"/>
          </a:xfrm>
          <a:prstGeom prst="rect">
            <a:avLst/>
          </a:prstGeom>
          <a:noFill/>
          <a:ln cap="flat" cmpd="sng" w="19050">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25"/>
          <p:cNvSpPr/>
          <p:nvPr/>
        </p:nvSpPr>
        <p:spPr>
          <a:xfrm>
            <a:off x="8192860" y="472152"/>
            <a:ext cx="191400" cy="1932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25"/>
          <p:cNvSpPr/>
          <p:nvPr/>
        </p:nvSpPr>
        <p:spPr>
          <a:xfrm>
            <a:off x="8192860" y="216793"/>
            <a:ext cx="191400" cy="19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21" name="Google Shape;321;p25"/>
          <p:cNvCxnSpPr/>
          <p:nvPr/>
        </p:nvCxnSpPr>
        <p:spPr>
          <a:xfrm flipH="1" rot="10800000">
            <a:off x="8124842" y="847730"/>
            <a:ext cx="327600" cy="5700"/>
          </a:xfrm>
          <a:prstGeom prst="straightConnector1">
            <a:avLst/>
          </a:prstGeom>
          <a:noFill/>
          <a:ln cap="flat" cmpd="sng" w="38100">
            <a:solidFill>
              <a:srgbClr val="FF0000"/>
            </a:solidFill>
            <a:prstDash val="solid"/>
            <a:round/>
            <a:headEnd len="med" w="med" type="none"/>
            <a:tailEnd len="med" w="med" type="triangle"/>
          </a:ln>
        </p:spPr>
      </p:cxnSp>
      <p:cxnSp>
        <p:nvCxnSpPr>
          <p:cNvPr id="322" name="Google Shape;322;p25"/>
          <p:cNvCxnSpPr/>
          <p:nvPr/>
        </p:nvCxnSpPr>
        <p:spPr>
          <a:xfrm flipH="1" rot="10800000">
            <a:off x="8124842" y="1076729"/>
            <a:ext cx="327600" cy="5700"/>
          </a:xfrm>
          <a:prstGeom prst="straightConnector1">
            <a:avLst/>
          </a:prstGeom>
          <a:noFill/>
          <a:ln cap="flat" cmpd="sng" w="38100">
            <a:solidFill>
              <a:srgbClr val="6AA84F"/>
            </a:solidFill>
            <a:prstDash val="solid"/>
            <a:round/>
            <a:headEnd len="med" w="med" type="none"/>
            <a:tailEnd len="med" w="med" type="triangle"/>
          </a:ln>
        </p:spPr>
      </p:cxnSp>
      <p:sp>
        <p:nvSpPr>
          <p:cNvPr id="323" name="Google Shape;323;p25"/>
          <p:cNvSpPr txBox="1"/>
          <p:nvPr/>
        </p:nvSpPr>
        <p:spPr>
          <a:xfrm>
            <a:off x="8384249" y="151200"/>
            <a:ext cx="676500" cy="1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sz="1100">
                <a:latin typeface="Comfortaa"/>
                <a:ea typeface="Comfortaa"/>
                <a:cs typeface="Comfortaa"/>
                <a:sym typeface="Comfortaa"/>
              </a:rPr>
              <a:t>Ego</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Other</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Neg.</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Pos.</a:t>
            </a:r>
            <a:endParaRPr b="1" sz="1100">
              <a:latin typeface="Comfortaa"/>
              <a:ea typeface="Comfortaa"/>
              <a:cs typeface="Comfortaa"/>
              <a:sym typeface="Comfortaa"/>
            </a:endParaRPr>
          </a:p>
        </p:txBody>
      </p:sp>
      <p:sp>
        <p:nvSpPr>
          <p:cNvPr id="324" name="Google Shape;324;p25"/>
          <p:cNvSpPr/>
          <p:nvPr/>
        </p:nvSpPr>
        <p:spPr>
          <a:xfrm>
            <a:off x="1989375" y="4236613"/>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25"/>
          <p:cNvSpPr/>
          <p:nvPr/>
        </p:nvSpPr>
        <p:spPr>
          <a:xfrm>
            <a:off x="1498750" y="3370213"/>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25"/>
          <p:cNvSpPr/>
          <p:nvPr/>
        </p:nvSpPr>
        <p:spPr>
          <a:xfrm>
            <a:off x="1989363" y="3370213"/>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25"/>
          <p:cNvSpPr/>
          <p:nvPr/>
        </p:nvSpPr>
        <p:spPr>
          <a:xfrm>
            <a:off x="2501700" y="3370213"/>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28" name="Google Shape;328;p25"/>
          <p:cNvCxnSpPr>
            <a:stCxn id="325" idx="4"/>
            <a:endCxn id="324" idx="1"/>
          </p:cNvCxnSpPr>
          <p:nvPr/>
        </p:nvCxnSpPr>
        <p:spPr>
          <a:xfrm>
            <a:off x="1681750" y="3726313"/>
            <a:ext cx="361200" cy="562500"/>
          </a:xfrm>
          <a:prstGeom prst="straightConnector1">
            <a:avLst/>
          </a:prstGeom>
          <a:noFill/>
          <a:ln cap="flat" cmpd="sng" w="19050">
            <a:solidFill>
              <a:srgbClr val="FF0000"/>
            </a:solidFill>
            <a:prstDash val="solid"/>
            <a:round/>
            <a:headEnd len="med" w="med" type="none"/>
            <a:tailEnd len="med" w="med" type="triangle"/>
          </a:ln>
        </p:spPr>
      </p:cxnSp>
      <p:cxnSp>
        <p:nvCxnSpPr>
          <p:cNvPr id="329" name="Google Shape;329;p25"/>
          <p:cNvCxnSpPr>
            <a:stCxn id="326" idx="4"/>
            <a:endCxn id="324" idx="0"/>
          </p:cNvCxnSpPr>
          <p:nvPr/>
        </p:nvCxnSpPr>
        <p:spPr>
          <a:xfrm>
            <a:off x="2172363" y="3726313"/>
            <a:ext cx="0" cy="510300"/>
          </a:xfrm>
          <a:prstGeom prst="straightConnector1">
            <a:avLst/>
          </a:prstGeom>
          <a:noFill/>
          <a:ln cap="flat" cmpd="sng" w="19050">
            <a:solidFill>
              <a:srgbClr val="FF0000"/>
            </a:solidFill>
            <a:prstDash val="solid"/>
            <a:round/>
            <a:headEnd len="med" w="med" type="none"/>
            <a:tailEnd len="med" w="med" type="triangle"/>
          </a:ln>
        </p:spPr>
      </p:cxnSp>
      <p:cxnSp>
        <p:nvCxnSpPr>
          <p:cNvPr id="330" name="Google Shape;330;p25"/>
          <p:cNvCxnSpPr>
            <a:stCxn id="327" idx="4"/>
            <a:endCxn id="324" idx="7"/>
          </p:cNvCxnSpPr>
          <p:nvPr/>
        </p:nvCxnSpPr>
        <p:spPr>
          <a:xfrm flipH="1">
            <a:off x="2301900" y="3726313"/>
            <a:ext cx="382800" cy="562500"/>
          </a:xfrm>
          <a:prstGeom prst="straightConnector1">
            <a:avLst/>
          </a:prstGeom>
          <a:noFill/>
          <a:ln cap="flat" cmpd="sng" w="19050">
            <a:solidFill>
              <a:srgbClr val="FF0000"/>
            </a:solidFill>
            <a:prstDash val="solid"/>
            <a:round/>
            <a:headEnd len="med" w="med" type="none"/>
            <a:tailEnd len="med" w="med" type="triangle"/>
          </a:ln>
        </p:spPr>
      </p:cxnSp>
      <p:sp>
        <p:nvSpPr>
          <p:cNvPr id="331" name="Google Shape;331;p25"/>
          <p:cNvSpPr txBox="1"/>
          <p:nvPr/>
        </p:nvSpPr>
        <p:spPr>
          <a:xfrm>
            <a:off x="1114000" y="4670725"/>
            <a:ext cx="1135500" cy="24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Time 1</a:t>
            </a:r>
            <a:endParaRPr>
              <a:latin typeface="Open Sans"/>
              <a:ea typeface="Open Sans"/>
              <a:cs typeface="Open Sans"/>
              <a:sym typeface="Open Sans"/>
            </a:endParaRPr>
          </a:p>
        </p:txBody>
      </p:sp>
      <p:sp>
        <p:nvSpPr>
          <p:cNvPr id="332" name="Google Shape;332;p25"/>
          <p:cNvSpPr/>
          <p:nvPr/>
        </p:nvSpPr>
        <p:spPr>
          <a:xfrm>
            <a:off x="584825" y="4246488"/>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25"/>
          <p:cNvSpPr/>
          <p:nvPr/>
        </p:nvSpPr>
        <p:spPr>
          <a:xfrm>
            <a:off x="7574113" y="4100438"/>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25"/>
          <p:cNvSpPr/>
          <p:nvPr/>
        </p:nvSpPr>
        <p:spPr>
          <a:xfrm>
            <a:off x="7083488" y="3234038"/>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25"/>
          <p:cNvSpPr/>
          <p:nvPr/>
        </p:nvSpPr>
        <p:spPr>
          <a:xfrm>
            <a:off x="7574100" y="3234038"/>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25"/>
          <p:cNvSpPr/>
          <p:nvPr/>
        </p:nvSpPr>
        <p:spPr>
          <a:xfrm>
            <a:off x="8086438" y="3234038"/>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37" name="Google Shape;337;p25"/>
          <p:cNvCxnSpPr>
            <a:stCxn id="334" idx="4"/>
            <a:endCxn id="333" idx="1"/>
          </p:cNvCxnSpPr>
          <p:nvPr/>
        </p:nvCxnSpPr>
        <p:spPr>
          <a:xfrm>
            <a:off x="7266488" y="3590138"/>
            <a:ext cx="361200" cy="562500"/>
          </a:xfrm>
          <a:prstGeom prst="straightConnector1">
            <a:avLst/>
          </a:prstGeom>
          <a:noFill/>
          <a:ln cap="flat" cmpd="sng" w="19050">
            <a:solidFill>
              <a:srgbClr val="FF0000"/>
            </a:solidFill>
            <a:prstDash val="solid"/>
            <a:round/>
            <a:headEnd len="med" w="med" type="none"/>
            <a:tailEnd len="med" w="med" type="triangle"/>
          </a:ln>
        </p:spPr>
      </p:cxnSp>
      <p:cxnSp>
        <p:nvCxnSpPr>
          <p:cNvPr id="338" name="Google Shape;338;p25"/>
          <p:cNvCxnSpPr>
            <a:stCxn id="335" idx="4"/>
            <a:endCxn id="333" idx="0"/>
          </p:cNvCxnSpPr>
          <p:nvPr/>
        </p:nvCxnSpPr>
        <p:spPr>
          <a:xfrm>
            <a:off x="7757100" y="3590138"/>
            <a:ext cx="0" cy="510300"/>
          </a:xfrm>
          <a:prstGeom prst="straightConnector1">
            <a:avLst/>
          </a:prstGeom>
          <a:noFill/>
          <a:ln cap="flat" cmpd="sng" w="19050">
            <a:solidFill>
              <a:srgbClr val="FF0000"/>
            </a:solidFill>
            <a:prstDash val="solid"/>
            <a:round/>
            <a:headEnd len="med" w="med" type="none"/>
            <a:tailEnd len="med" w="med" type="triangle"/>
          </a:ln>
        </p:spPr>
      </p:cxnSp>
      <p:cxnSp>
        <p:nvCxnSpPr>
          <p:cNvPr id="339" name="Google Shape;339;p25"/>
          <p:cNvCxnSpPr>
            <a:stCxn id="336" idx="4"/>
            <a:endCxn id="333" idx="7"/>
          </p:cNvCxnSpPr>
          <p:nvPr/>
        </p:nvCxnSpPr>
        <p:spPr>
          <a:xfrm flipH="1">
            <a:off x="7886638" y="3590138"/>
            <a:ext cx="382800" cy="562500"/>
          </a:xfrm>
          <a:prstGeom prst="straightConnector1">
            <a:avLst/>
          </a:prstGeom>
          <a:noFill/>
          <a:ln cap="flat" cmpd="sng" w="19050">
            <a:solidFill>
              <a:srgbClr val="FF0000"/>
            </a:solidFill>
            <a:prstDash val="solid"/>
            <a:round/>
            <a:headEnd len="med" w="med" type="none"/>
            <a:tailEnd len="med" w="med" type="triangle"/>
          </a:ln>
        </p:spPr>
      </p:cxnSp>
      <p:sp>
        <p:nvSpPr>
          <p:cNvPr id="340" name="Google Shape;340;p25"/>
          <p:cNvSpPr txBox="1"/>
          <p:nvPr/>
        </p:nvSpPr>
        <p:spPr>
          <a:xfrm>
            <a:off x="6698745" y="4602600"/>
            <a:ext cx="1135500" cy="24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Time 2</a:t>
            </a:r>
            <a:endParaRPr>
              <a:latin typeface="Open Sans"/>
              <a:ea typeface="Open Sans"/>
              <a:cs typeface="Open Sans"/>
              <a:sym typeface="Open Sans"/>
            </a:endParaRPr>
          </a:p>
        </p:txBody>
      </p:sp>
      <p:sp>
        <p:nvSpPr>
          <p:cNvPr id="341" name="Google Shape;341;p25"/>
          <p:cNvSpPr/>
          <p:nvPr/>
        </p:nvSpPr>
        <p:spPr>
          <a:xfrm>
            <a:off x="6169563" y="4110313"/>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42" name="Google Shape;342;p25"/>
          <p:cNvCxnSpPr>
            <a:stCxn id="333" idx="2"/>
            <a:endCxn id="341" idx="6"/>
          </p:cNvCxnSpPr>
          <p:nvPr/>
        </p:nvCxnSpPr>
        <p:spPr>
          <a:xfrm flipH="1">
            <a:off x="6535513" y="4278488"/>
            <a:ext cx="1038600" cy="9900"/>
          </a:xfrm>
          <a:prstGeom prst="straightConnector1">
            <a:avLst/>
          </a:prstGeom>
          <a:noFill/>
          <a:ln cap="flat" cmpd="sng" w="19050">
            <a:solidFill>
              <a:srgbClr val="FF0000"/>
            </a:solidFill>
            <a:prstDash val="solid"/>
            <a:round/>
            <a:headEnd len="med" w="med" type="triangle"/>
            <a:tailEnd len="med" w="med" type="none"/>
          </a:ln>
        </p:spPr>
      </p:cxnSp>
      <p:sp>
        <p:nvSpPr>
          <p:cNvPr id="343" name="Google Shape;343;p25"/>
          <p:cNvSpPr/>
          <p:nvPr/>
        </p:nvSpPr>
        <p:spPr>
          <a:xfrm>
            <a:off x="3818050" y="3706900"/>
            <a:ext cx="1355100" cy="708600"/>
          </a:xfrm>
          <a:prstGeom prst="striped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2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Valenced interactions: Status theory</a:t>
            </a:r>
            <a:endParaRPr/>
          </a:p>
        </p:txBody>
      </p:sp>
      <p:sp>
        <p:nvSpPr>
          <p:cNvPr id="349" name="Google Shape;349;p26"/>
          <p:cNvSpPr txBox="1"/>
          <p:nvPr>
            <p:ph idx="1" type="body"/>
          </p:nvPr>
        </p:nvSpPr>
        <p:spPr>
          <a:xfrm>
            <a:off x="311700" y="1225225"/>
            <a:ext cx="8697000" cy="19155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
              <a:t>Status Theory</a:t>
            </a:r>
            <a:endParaRPr b="1"/>
          </a:p>
          <a:p>
            <a:pPr indent="-317500" lvl="1" marL="914400" rtl="0" algn="l">
              <a:spcBef>
                <a:spcPts val="0"/>
              </a:spcBef>
              <a:spcAft>
                <a:spcPts val="0"/>
              </a:spcAft>
              <a:buSzPts val="1400"/>
              <a:buChar char="○"/>
            </a:pPr>
            <a:r>
              <a:rPr lang="en"/>
              <a:t>Designed to explain distribution of positive and negative ties in </a:t>
            </a:r>
            <a:r>
              <a:rPr b="1" lang="en"/>
              <a:t>valenced</a:t>
            </a:r>
            <a:r>
              <a:rPr lang="en"/>
              <a:t> networks with </a:t>
            </a:r>
            <a:r>
              <a:rPr b="1" lang="en"/>
              <a:t>directed</a:t>
            </a:r>
            <a:r>
              <a:rPr lang="en"/>
              <a:t> ties</a:t>
            </a:r>
            <a:endParaRPr/>
          </a:p>
          <a:p>
            <a:pPr indent="-342900" lvl="0" marL="457200" rtl="0" algn="l">
              <a:spcBef>
                <a:spcPts val="0"/>
              </a:spcBef>
              <a:spcAft>
                <a:spcPts val="0"/>
              </a:spcAft>
              <a:buSzPts val="1800"/>
              <a:buChar char="●"/>
            </a:pPr>
            <a:r>
              <a:rPr lang="en"/>
              <a:t>Third principle:</a:t>
            </a:r>
            <a:endParaRPr/>
          </a:p>
          <a:p>
            <a:pPr indent="-317500" lvl="1" marL="914400" rtl="0" algn="l">
              <a:spcBef>
                <a:spcPts val="0"/>
              </a:spcBef>
              <a:spcAft>
                <a:spcPts val="0"/>
              </a:spcAft>
              <a:buSzPts val="1400"/>
              <a:buChar char="○"/>
            </a:pPr>
            <a:r>
              <a:rPr lang="en"/>
              <a:t>People aim to </a:t>
            </a:r>
            <a:r>
              <a:rPr b="1" lang="en"/>
              <a:t>avoid</a:t>
            </a:r>
            <a:r>
              <a:rPr lang="en"/>
              <a:t> status </a:t>
            </a:r>
            <a:r>
              <a:rPr b="1" lang="en"/>
              <a:t>loss</a:t>
            </a:r>
            <a:r>
              <a:rPr lang="en"/>
              <a:t> and </a:t>
            </a:r>
            <a:r>
              <a:rPr b="1" lang="en"/>
              <a:t>seek</a:t>
            </a:r>
            <a:r>
              <a:rPr lang="en"/>
              <a:t> status </a:t>
            </a:r>
            <a:r>
              <a:rPr b="1" lang="en"/>
              <a:t>boosts</a:t>
            </a:r>
            <a:r>
              <a:rPr lang="en"/>
              <a:t>:</a:t>
            </a:r>
            <a:endParaRPr/>
          </a:p>
          <a:p>
            <a:pPr indent="-317500" lvl="2" marL="1371600" rtl="0" algn="l">
              <a:spcBef>
                <a:spcPts val="0"/>
              </a:spcBef>
              <a:spcAft>
                <a:spcPts val="0"/>
              </a:spcAft>
              <a:buSzPts val="1400"/>
              <a:buChar char="■"/>
            </a:pPr>
            <a:r>
              <a:rPr i="1" lang="en"/>
              <a:t>High</a:t>
            </a:r>
            <a:r>
              <a:rPr i="1" lang="en"/>
              <a:t> status individuals will lose negative ties</a:t>
            </a:r>
            <a:endParaRPr i="1"/>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sp>
        <p:nvSpPr>
          <p:cNvPr id="350" name="Google Shape;350;p26"/>
          <p:cNvSpPr/>
          <p:nvPr/>
        </p:nvSpPr>
        <p:spPr>
          <a:xfrm>
            <a:off x="8027125" y="86350"/>
            <a:ext cx="981600" cy="1179600"/>
          </a:xfrm>
          <a:prstGeom prst="rect">
            <a:avLst/>
          </a:prstGeom>
          <a:noFill/>
          <a:ln cap="flat" cmpd="sng" w="19050">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26"/>
          <p:cNvSpPr/>
          <p:nvPr/>
        </p:nvSpPr>
        <p:spPr>
          <a:xfrm>
            <a:off x="8192860" y="472152"/>
            <a:ext cx="191400" cy="1932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26"/>
          <p:cNvSpPr/>
          <p:nvPr/>
        </p:nvSpPr>
        <p:spPr>
          <a:xfrm>
            <a:off x="8192860" y="216793"/>
            <a:ext cx="191400" cy="19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53" name="Google Shape;353;p26"/>
          <p:cNvCxnSpPr/>
          <p:nvPr/>
        </p:nvCxnSpPr>
        <p:spPr>
          <a:xfrm flipH="1" rot="10800000">
            <a:off x="8124842" y="847730"/>
            <a:ext cx="327600" cy="5700"/>
          </a:xfrm>
          <a:prstGeom prst="straightConnector1">
            <a:avLst/>
          </a:prstGeom>
          <a:noFill/>
          <a:ln cap="flat" cmpd="sng" w="38100">
            <a:solidFill>
              <a:srgbClr val="FF0000"/>
            </a:solidFill>
            <a:prstDash val="solid"/>
            <a:round/>
            <a:headEnd len="med" w="med" type="none"/>
            <a:tailEnd len="med" w="med" type="triangle"/>
          </a:ln>
        </p:spPr>
      </p:cxnSp>
      <p:cxnSp>
        <p:nvCxnSpPr>
          <p:cNvPr id="354" name="Google Shape;354;p26"/>
          <p:cNvCxnSpPr/>
          <p:nvPr/>
        </p:nvCxnSpPr>
        <p:spPr>
          <a:xfrm flipH="1" rot="10800000">
            <a:off x="8124842" y="1076729"/>
            <a:ext cx="327600" cy="5700"/>
          </a:xfrm>
          <a:prstGeom prst="straightConnector1">
            <a:avLst/>
          </a:prstGeom>
          <a:noFill/>
          <a:ln cap="flat" cmpd="sng" w="38100">
            <a:solidFill>
              <a:srgbClr val="6AA84F"/>
            </a:solidFill>
            <a:prstDash val="solid"/>
            <a:round/>
            <a:headEnd len="med" w="med" type="none"/>
            <a:tailEnd len="med" w="med" type="triangle"/>
          </a:ln>
        </p:spPr>
      </p:cxnSp>
      <p:sp>
        <p:nvSpPr>
          <p:cNvPr id="355" name="Google Shape;355;p26"/>
          <p:cNvSpPr txBox="1"/>
          <p:nvPr/>
        </p:nvSpPr>
        <p:spPr>
          <a:xfrm>
            <a:off x="8384249" y="151200"/>
            <a:ext cx="676500" cy="1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sz="1100">
                <a:latin typeface="Comfortaa"/>
                <a:ea typeface="Comfortaa"/>
                <a:cs typeface="Comfortaa"/>
                <a:sym typeface="Comfortaa"/>
              </a:rPr>
              <a:t>Ego</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Other</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Neg.</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Pos.</a:t>
            </a:r>
            <a:endParaRPr b="1" sz="1100">
              <a:latin typeface="Comfortaa"/>
              <a:ea typeface="Comfortaa"/>
              <a:cs typeface="Comfortaa"/>
              <a:sym typeface="Comfortaa"/>
            </a:endParaRPr>
          </a:p>
        </p:txBody>
      </p:sp>
      <p:sp>
        <p:nvSpPr>
          <p:cNvPr id="356" name="Google Shape;356;p26"/>
          <p:cNvSpPr/>
          <p:nvPr/>
        </p:nvSpPr>
        <p:spPr>
          <a:xfrm>
            <a:off x="1989375" y="4236613"/>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26"/>
          <p:cNvSpPr/>
          <p:nvPr/>
        </p:nvSpPr>
        <p:spPr>
          <a:xfrm>
            <a:off x="1498750" y="3370213"/>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26"/>
          <p:cNvSpPr/>
          <p:nvPr/>
        </p:nvSpPr>
        <p:spPr>
          <a:xfrm>
            <a:off x="1989363" y="3370213"/>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26"/>
          <p:cNvSpPr/>
          <p:nvPr/>
        </p:nvSpPr>
        <p:spPr>
          <a:xfrm>
            <a:off x="2501700" y="3370213"/>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60" name="Google Shape;360;p26"/>
          <p:cNvCxnSpPr>
            <a:stCxn id="357" idx="4"/>
            <a:endCxn id="356" idx="1"/>
          </p:cNvCxnSpPr>
          <p:nvPr/>
        </p:nvCxnSpPr>
        <p:spPr>
          <a:xfrm>
            <a:off x="1681750" y="3726313"/>
            <a:ext cx="361200" cy="562500"/>
          </a:xfrm>
          <a:prstGeom prst="straightConnector1">
            <a:avLst/>
          </a:prstGeom>
          <a:noFill/>
          <a:ln cap="flat" cmpd="sng" w="19050">
            <a:solidFill>
              <a:srgbClr val="6AA84F"/>
            </a:solidFill>
            <a:prstDash val="solid"/>
            <a:round/>
            <a:headEnd len="med" w="med" type="none"/>
            <a:tailEnd len="med" w="med" type="triangle"/>
          </a:ln>
        </p:spPr>
      </p:cxnSp>
      <p:cxnSp>
        <p:nvCxnSpPr>
          <p:cNvPr id="361" name="Google Shape;361;p26"/>
          <p:cNvCxnSpPr>
            <a:stCxn id="358" idx="4"/>
            <a:endCxn id="356" idx="0"/>
          </p:cNvCxnSpPr>
          <p:nvPr/>
        </p:nvCxnSpPr>
        <p:spPr>
          <a:xfrm>
            <a:off x="2172363" y="3726313"/>
            <a:ext cx="0" cy="510300"/>
          </a:xfrm>
          <a:prstGeom prst="straightConnector1">
            <a:avLst/>
          </a:prstGeom>
          <a:noFill/>
          <a:ln cap="flat" cmpd="sng" w="19050">
            <a:solidFill>
              <a:srgbClr val="6AA84F"/>
            </a:solidFill>
            <a:prstDash val="solid"/>
            <a:round/>
            <a:headEnd len="med" w="med" type="none"/>
            <a:tailEnd len="med" w="med" type="triangle"/>
          </a:ln>
        </p:spPr>
      </p:cxnSp>
      <p:cxnSp>
        <p:nvCxnSpPr>
          <p:cNvPr id="362" name="Google Shape;362;p26"/>
          <p:cNvCxnSpPr>
            <a:stCxn id="359" idx="4"/>
            <a:endCxn id="356" idx="7"/>
          </p:cNvCxnSpPr>
          <p:nvPr/>
        </p:nvCxnSpPr>
        <p:spPr>
          <a:xfrm flipH="1">
            <a:off x="2301900" y="3726313"/>
            <a:ext cx="382800" cy="562500"/>
          </a:xfrm>
          <a:prstGeom prst="straightConnector1">
            <a:avLst/>
          </a:prstGeom>
          <a:noFill/>
          <a:ln cap="flat" cmpd="sng" w="19050">
            <a:solidFill>
              <a:srgbClr val="6AA84F"/>
            </a:solidFill>
            <a:prstDash val="solid"/>
            <a:round/>
            <a:headEnd len="med" w="med" type="none"/>
            <a:tailEnd len="med" w="med" type="triangle"/>
          </a:ln>
        </p:spPr>
      </p:cxnSp>
      <p:sp>
        <p:nvSpPr>
          <p:cNvPr id="363" name="Google Shape;363;p26"/>
          <p:cNvSpPr txBox="1"/>
          <p:nvPr/>
        </p:nvSpPr>
        <p:spPr>
          <a:xfrm>
            <a:off x="1114000" y="4670725"/>
            <a:ext cx="1135500" cy="24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Time 1</a:t>
            </a:r>
            <a:endParaRPr>
              <a:latin typeface="Open Sans"/>
              <a:ea typeface="Open Sans"/>
              <a:cs typeface="Open Sans"/>
              <a:sym typeface="Open Sans"/>
            </a:endParaRPr>
          </a:p>
        </p:txBody>
      </p:sp>
      <p:sp>
        <p:nvSpPr>
          <p:cNvPr id="364" name="Google Shape;364;p26"/>
          <p:cNvSpPr/>
          <p:nvPr/>
        </p:nvSpPr>
        <p:spPr>
          <a:xfrm>
            <a:off x="584825" y="4246488"/>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26"/>
          <p:cNvSpPr/>
          <p:nvPr/>
        </p:nvSpPr>
        <p:spPr>
          <a:xfrm>
            <a:off x="7574113" y="4100438"/>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26"/>
          <p:cNvSpPr/>
          <p:nvPr/>
        </p:nvSpPr>
        <p:spPr>
          <a:xfrm>
            <a:off x="7083488" y="3234038"/>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26"/>
          <p:cNvSpPr/>
          <p:nvPr/>
        </p:nvSpPr>
        <p:spPr>
          <a:xfrm>
            <a:off x="7574100" y="3234038"/>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26"/>
          <p:cNvSpPr/>
          <p:nvPr/>
        </p:nvSpPr>
        <p:spPr>
          <a:xfrm>
            <a:off x="8086438" y="3234038"/>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69" name="Google Shape;369;p26"/>
          <p:cNvCxnSpPr>
            <a:stCxn id="366" idx="4"/>
            <a:endCxn id="365" idx="1"/>
          </p:cNvCxnSpPr>
          <p:nvPr/>
        </p:nvCxnSpPr>
        <p:spPr>
          <a:xfrm>
            <a:off x="7266488" y="3590138"/>
            <a:ext cx="361200" cy="562500"/>
          </a:xfrm>
          <a:prstGeom prst="straightConnector1">
            <a:avLst/>
          </a:prstGeom>
          <a:noFill/>
          <a:ln cap="flat" cmpd="sng" w="19050">
            <a:solidFill>
              <a:srgbClr val="6AA84F"/>
            </a:solidFill>
            <a:prstDash val="solid"/>
            <a:round/>
            <a:headEnd len="med" w="med" type="none"/>
            <a:tailEnd len="med" w="med" type="triangle"/>
          </a:ln>
        </p:spPr>
      </p:cxnSp>
      <p:cxnSp>
        <p:nvCxnSpPr>
          <p:cNvPr id="370" name="Google Shape;370;p26"/>
          <p:cNvCxnSpPr>
            <a:stCxn id="367" idx="4"/>
            <a:endCxn id="365" idx="0"/>
          </p:cNvCxnSpPr>
          <p:nvPr/>
        </p:nvCxnSpPr>
        <p:spPr>
          <a:xfrm>
            <a:off x="7757100" y="3590138"/>
            <a:ext cx="0" cy="510300"/>
          </a:xfrm>
          <a:prstGeom prst="straightConnector1">
            <a:avLst/>
          </a:prstGeom>
          <a:noFill/>
          <a:ln cap="flat" cmpd="sng" w="19050">
            <a:solidFill>
              <a:srgbClr val="6AA84F"/>
            </a:solidFill>
            <a:prstDash val="solid"/>
            <a:round/>
            <a:headEnd len="med" w="med" type="none"/>
            <a:tailEnd len="med" w="med" type="triangle"/>
          </a:ln>
        </p:spPr>
      </p:cxnSp>
      <p:cxnSp>
        <p:nvCxnSpPr>
          <p:cNvPr id="371" name="Google Shape;371;p26"/>
          <p:cNvCxnSpPr>
            <a:stCxn id="368" idx="4"/>
            <a:endCxn id="365" idx="7"/>
          </p:cNvCxnSpPr>
          <p:nvPr/>
        </p:nvCxnSpPr>
        <p:spPr>
          <a:xfrm flipH="1">
            <a:off x="7886638" y="3590138"/>
            <a:ext cx="382800" cy="562500"/>
          </a:xfrm>
          <a:prstGeom prst="straightConnector1">
            <a:avLst/>
          </a:prstGeom>
          <a:noFill/>
          <a:ln cap="flat" cmpd="sng" w="19050">
            <a:solidFill>
              <a:srgbClr val="6AA84F"/>
            </a:solidFill>
            <a:prstDash val="solid"/>
            <a:round/>
            <a:headEnd len="med" w="med" type="none"/>
            <a:tailEnd len="med" w="med" type="triangle"/>
          </a:ln>
        </p:spPr>
      </p:cxnSp>
      <p:sp>
        <p:nvSpPr>
          <p:cNvPr id="372" name="Google Shape;372;p26"/>
          <p:cNvSpPr txBox="1"/>
          <p:nvPr/>
        </p:nvSpPr>
        <p:spPr>
          <a:xfrm>
            <a:off x="6698745" y="4602600"/>
            <a:ext cx="1135500" cy="24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Time 2</a:t>
            </a:r>
            <a:endParaRPr>
              <a:latin typeface="Open Sans"/>
              <a:ea typeface="Open Sans"/>
              <a:cs typeface="Open Sans"/>
              <a:sym typeface="Open Sans"/>
            </a:endParaRPr>
          </a:p>
        </p:txBody>
      </p:sp>
      <p:sp>
        <p:nvSpPr>
          <p:cNvPr id="373" name="Google Shape;373;p26"/>
          <p:cNvSpPr/>
          <p:nvPr/>
        </p:nvSpPr>
        <p:spPr>
          <a:xfrm>
            <a:off x="6169563" y="4110313"/>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74" name="Google Shape;374;p26"/>
          <p:cNvCxnSpPr>
            <a:stCxn id="356" idx="2"/>
            <a:endCxn id="364" idx="6"/>
          </p:cNvCxnSpPr>
          <p:nvPr/>
        </p:nvCxnSpPr>
        <p:spPr>
          <a:xfrm flipH="1">
            <a:off x="950775" y="4414663"/>
            <a:ext cx="1038600" cy="9900"/>
          </a:xfrm>
          <a:prstGeom prst="straightConnector1">
            <a:avLst/>
          </a:prstGeom>
          <a:noFill/>
          <a:ln cap="flat" cmpd="sng" w="19050">
            <a:solidFill>
              <a:srgbClr val="FF0000"/>
            </a:solidFill>
            <a:prstDash val="solid"/>
            <a:round/>
            <a:headEnd len="med" w="med" type="triangle"/>
            <a:tailEnd len="med" w="med" type="none"/>
          </a:ln>
        </p:spPr>
      </p:cxnSp>
      <p:sp>
        <p:nvSpPr>
          <p:cNvPr id="375" name="Google Shape;375;p26"/>
          <p:cNvSpPr/>
          <p:nvPr/>
        </p:nvSpPr>
        <p:spPr>
          <a:xfrm>
            <a:off x="3818050" y="3706900"/>
            <a:ext cx="1355100" cy="708600"/>
          </a:xfrm>
          <a:prstGeom prst="striped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2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Valenced interactions: Status theory</a:t>
            </a:r>
            <a:endParaRPr/>
          </a:p>
        </p:txBody>
      </p:sp>
      <p:sp>
        <p:nvSpPr>
          <p:cNvPr id="381" name="Google Shape;381;p27"/>
          <p:cNvSpPr txBox="1"/>
          <p:nvPr>
            <p:ph idx="1" type="body"/>
          </p:nvPr>
        </p:nvSpPr>
        <p:spPr>
          <a:xfrm>
            <a:off x="311700" y="1225225"/>
            <a:ext cx="8697000" cy="21873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
              <a:t>Status Theory</a:t>
            </a:r>
            <a:endParaRPr b="1"/>
          </a:p>
          <a:p>
            <a:pPr indent="-317500" lvl="1" marL="914400" rtl="0" algn="l">
              <a:spcBef>
                <a:spcPts val="0"/>
              </a:spcBef>
              <a:spcAft>
                <a:spcPts val="0"/>
              </a:spcAft>
              <a:buSzPts val="1400"/>
              <a:buChar char="○"/>
            </a:pPr>
            <a:r>
              <a:rPr lang="en"/>
              <a:t>Designed to explain distribution of positive and negative ties in </a:t>
            </a:r>
            <a:r>
              <a:rPr b="1" lang="en"/>
              <a:t>valenced</a:t>
            </a:r>
            <a:r>
              <a:rPr lang="en"/>
              <a:t> networks with </a:t>
            </a:r>
            <a:r>
              <a:rPr b="1" lang="en"/>
              <a:t>directed</a:t>
            </a:r>
            <a:r>
              <a:rPr lang="en"/>
              <a:t> ties</a:t>
            </a:r>
            <a:endParaRPr/>
          </a:p>
          <a:p>
            <a:pPr indent="-342900" lvl="0" marL="457200" rtl="0" algn="l">
              <a:spcBef>
                <a:spcPts val="0"/>
              </a:spcBef>
              <a:spcAft>
                <a:spcPts val="0"/>
              </a:spcAft>
              <a:buSzPts val="1800"/>
              <a:buChar char="●"/>
            </a:pPr>
            <a:r>
              <a:rPr lang="en"/>
              <a:t>Third principle:</a:t>
            </a:r>
            <a:endParaRPr/>
          </a:p>
          <a:p>
            <a:pPr indent="-317500" lvl="1" marL="914400" rtl="0" algn="l">
              <a:spcBef>
                <a:spcPts val="0"/>
              </a:spcBef>
              <a:spcAft>
                <a:spcPts val="0"/>
              </a:spcAft>
              <a:buSzPts val="1400"/>
              <a:buChar char="○"/>
            </a:pPr>
            <a:r>
              <a:rPr lang="en"/>
              <a:t>People aim to </a:t>
            </a:r>
            <a:r>
              <a:rPr b="1" lang="en"/>
              <a:t>avoid</a:t>
            </a:r>
            <a:r>
              <a:rPr lang="en"/>
              <a:t> status </a:t>
            </a:r>
            <a:r>
              <a:rPr b="1" lang="en"/>
              <a:t>loss</a:t>
            </a:r>
            <a:r>
              <a:rPr lang="en"/>
              <a:t> and </a:t>
            </a:r>
            <a:r>
              <a:rPr b="1" lang="en"/>
              <a:t>seek</a:t>
            </a:r>
            <a:r>
              <a:rPr lang="en"/>
              <a:t> status </a:t>
            </a:r>
            <a:r>
              <a:rPr b="1" lang="en"/>
              <a:t>boosts</a:t>
            </a:r>
            <a:r>
              <a:rPr lang="en"/>
              <a:t>:</a:t>
            </a:r>
            <a:endParaRPr/>
          </a:p>
          <a:p>
            <a:pPr indent="-317500" lvl="2" marL="1371600" rtl="0" algn="l">
              <a:spcBef>
                <a:spcPts val="0"/>
              </a:spcBef>
              <a:spcAft>
                <a:spcPts val="0"/>
              </a:spcAft>
              <a:buSzPts val="1400"/>
              <a:buChar char="■"/>
            </a:pPr>
            <a:r>
              <a:rPr i="1" lang="en"/>
              <a:t>Low</a:t>
            </a:r>
            <a:r>
              <a:rPr i="1" lang="en"/>
              <a:t> status individuals will lose positive  ties</a:t>
            </a:r>
            <a:endParaRPr i="1"/>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sp>
        <p:nvSpPr>
          <p:cNvPr id="382" name="Google Shape;382;p27"/>
          <p:cNvSpPr/>
          <p:nvPr/>
        </p:nvSpPr>
        <p:spPr>
          <a:xfrm>
            <a:off x="8027125" y="86350"/>
            <a:ext cx="981600" cy="1179600"/>
          </a:xfrm>
          <a:prstGeom prst="rect">
            <a:avLst/>
          </a:prstGeom>
          <a:noFill/>
          <a:ln cap="flat" cmpd="sng" w="19050">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27"/>
          <p:cNvSpPr/>
          <p:nvPr/>
        </p:nvSpPr>
        <p:spPr>
          <a:xfrm>
            <a:off x="8192860" y="472152"/>
            <a:ext cx="191400" cy="1932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27"/>
          <p:cNvSpPr/>
          <p:nvPr/>
        </p:nvSpPr>
        <p:spPr>
          <a:xfrm>
            <a:off x="8192860" y="216793"/>
            <a:ext cx="191400" cy="19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5" name="Google Shape;385;p27"/>
          <p:cNvCxnSpPr/>
          <p:nvPr/>
        </p:nvCxnSpPr>
        <p:spPr>
          <a:xfrm flipH="1" rot="10800000">
            <a:off x="8124842" y="847730"/>
            <a:ext cx="327600" cy="5700"/>
          </a:xfrm>
          <a:prstGeom prst="straightConnector1">
            <a:avLst/>
          </a:prstGeom>
          <a:noFill/>
          <a:ln cap="flat" cmpd="sng" w="38100">
            <a:solidFill>
              <a:srgbClr val="FF0000"/>
            </a:solidFill>
            <a:prstDash val="solid"/>
            <a:round/>
            <a:headEnd len="med" w="med" type="none"/>
            <a:tailEnd len="med" w="med" type="triangle"/>
          </a:ln>
        </p:spPr>
      </p:cxnSp>
      <p:cxnSp>
        <p:nvCxnSpPr>
          <p:cNvPr id="386" name="Google Shape;386;p27"/>
          <p:cNvCxnSpPr/>
          <p:nvPr/>
        </p:nvCxnSpPr>
        <p:spPr>
          <a:xfrm flipH="1" rot="10800000">
            <a:off x="8124842" y="1076729"/>
            <a:ext cx="327600" cy="5700"/>
          </a:xfrm>
          <a:prstGeom prst="straightConnector1">
            <a:avLst/>
          </a:prstGeom>
          <a:noFill/>
          <a:ln cap="flat" cmpd="sng" w="38100">
            <a:solidFill>
              <a:srgbClr val="6AA84F"/>
            </a:solidFill>
            <a:prstDash val="solid"/>
            <a:round/>
            <a:headEnd len="med" w="med" type="none"/>
            <a:tailEnd len="med" w="med" type="triangle"/>
          </a:ln>
        </p:spPr>
      </p:cxnSp>
      <p:sp>
        <p:nvSpPr>
          <p:cNvPr id="387" name="Google Shape;387;p27"/>
          <p:cNvSpPr txBox="1"/>
          <p:nvPr/>
        </p:nvSpPr>
        <p:spPr>
          <a:xfrm>
            <a:off x="8384249" y="151200"/>
            <a:ext cx="676500" cy="1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sz="1100">
                <a:latin typeface="Comfortaa"/>
                <a:ea typeface="Comfortaa"/>
                <a:cs typeface="Comfortaa"/>
                <a:sym typeface="Comfortaa"/>
              </a:rPr>
              <a:t>Ego</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Other</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Neg.</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Pos.</a:t>
            </a:r>
            <a:endParaRPr b="1" sz="1100">
              <a:latin typeface="Comfortaa"/>
              <a:ea typeface="Comfortaa"/>
              <a:cs typeface="Comfortaa"/>
              <a:sym typeface="Comfortaa"/>
            </a:endParaRPr>
          </a:p>
        </p:txBody>
      </p:sp>
      <p:sp>
        <p:nvSpPr>
          <p:cNvPr id="388" name="Google Shape;388;p27"/>
          <p:cNvSpPr/>
          <p:nvPr/>
        </p:nvSpPr>
        <p:spPr>
          <a:xfrm>
            <a:off x="1989375" y="4236613"/>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27"/>
          <p:cNvSpPr/>
          <p:nvPr/>
        </p:nvSpPr>
        <p:spPr>
          <a:xfrm>
            <a:off x="1498750" y="3370213"/>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27"/>
          <p:cNvSpPr/>
          <p:nvPr/>
        </p:nvSpPr>
        <p:spPr>
          <a:xfrm>
            <a:off x="1989363" y="3370213"/>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27"/>
          <p:cNvSpPr/>
          <p:nvPr/>
        </p:nvSpPr>
        <p:spPr>
          <a:xfrm>
            <a:off x="2501700" y="3370213"/>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92" name="Google Shape;392;p27"/>
          <p:cNvCxnSpPr>
            <a:stCxn id="389" idx="4"/>
            <a:endCxn id="388" idx="1"/>
          </p:cNvCxnSpPr>
          <p:nvPr/>
        </p:nvCxnSpPr>
        <p:spPr>
          <a:xfrm>
            <a:off x="1681750" y="3726313"/>
            <a:ext cx="361200" cy="562500"/>
          </a:xfrm>
          <a:prstGeom prst="straightConnector1">
            <a:avLst/>
          </a:prstGeom>
          <a:noFill/>
          <a:ln cap="flat" cmpd="sng" w="19050">
            <a:solidFill>
              <a:srgbClr val="FF0000"/>
            </a:solidFill>
            <a:prstDash val="solid"/>
            <a:round/>
            <a:headEnd len="med" w="med" type="none"/>
            <a:tailEnd len="med" w="med" type="triangle"/>
          </a:ln>
        </p:spPr>
      </p:cxnSp>
      <p:cxnSp>
        <p:nvCxnSpPr>
          <p:cNvPr id="393" name="Google Shape;393;p27"/>
          <p:cNvCxnSpPr>
            <a:stCxn id="390" idx="4"/>
            <a:endCxn id="388" idx="0"/>
          </p:cNvCxnSpPr>
          <p:nvPr/>
        </p:nvCxnSpPr>
        <p:spPr>
          <a:xfrm>
            <a:off x="2172363" y="3726313"/>
            <a:ext cx="0" cy="510300"/>
          </a:xfrm>
          <a:prstGeom prst="straightConnector1">
            <a:avLst/>
          </a:prstGeom>
          <a:noFill/>
          <a:ln cap="flat" cmpd="sng" w="19050">
            <a:solidFill>
              <a:srgbClr val="FF0000"/>
            </a:solidFill>
            <a:prstDash val="solid"/>
            <a:round/>
            <a:headEnd len="med" w="med" type="none"/>
            <a:tailEnd len="med" w="med" type="triangle"/>
          </a:ln>
        </p:spPr>
      </p:cxnSp>
      <p:cxnSp>
        <p:nvCxnSpPr>
          <p:cNvPr id="394" name="Google Shape;394;p27"/>
          <p:cNvCxnSpPr>
            <a:stCxn id="391" idx="4"/>
            <a:endCxn id="388" idx="7"/>
          </p:cNvCxnSpPr>
          <p:nvPr/>
        </p:nvCxnSpPr>
        <p:spPr>
          <a:xfrm flipH="1">
            <a:off x="2301900" y="3726313"/>
            <a:ext cx="382800" cy="562500"/>
          </a:xfrm>
          <a:prstGeom prst="straightConnector1">
            <a:avLst/>
          </a:prstGeom>
          <a:noFill/>
          <a:ln cap="flat" cmpd="sng" w="19050">
            <a:solidFill>
              <a:srgbClr val="FF0000"/>
            </a:solidFill>
            <a:prstDash val="solid"/>
            <a:round/>
            <a:headEnd len="med" w="med" type="none"/>
            <a:tailEnd len="med" w="med" type="triangle"/>
          </a:ln>
        </p:spPr>
      </p:cxnSp>
      <p:sp>
        <p:nvSpPr>
          <p:cNvPr id="395" name="Google Shape;395;p27"/>
          <p:cNvSpPr txBox="1"/>
          <p:nvPr/>
        </p:nvSpPr>
        <p:spPr>
          <a:xfrm>
            <a:off x="1114000" y="4670725"/>
            <a:ext cx="1135500" cy="24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Time 1</a:t>
            </a:r>
            <a:endParaRPr>
              <a:latin typeface="Open Sans"/>
              <a:ea typeface="Open Sans"/>
              <a:cs typeface="Open Sans"/>
              <a:sym typeface="Open Sans"/>
            </a:endParaRPr>
          </a:p>
        </p:txBody>
      </p:sp>
      <p:sp>
        <p:nvSpPr>
          <p:cNvPr id="396" name="Google Shape;396;p27"/>
          <p:cNvSpPr/>
          <p:nvPr/>
        </p:nvSpPr>
        <p:spPr>
          <a:xfrm>
            <a:off x="584825" y="4246488"/>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27"/>
          <p:cNvSpPr/>
          <p:nvPr/>
        </p:nvSpPr>
        <p:spPr>
          <a:xfrm>
            <a:off x="7574113" y="4100438"/>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27"/>
          <p:cNvSpPr/>
          <p:nvPr/>
        </p:nvSpPr>
        <p:spPr>
          <a:xfrm>
            <a:off x="7083488" y="3234038"/>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27"/>
          <p:cNvSpPr/>
          <p:nvPr/>
        </p:nvSpPr>
        <p:spPr>
          <a:xfrm>
            <a:off x="7574100" y="3234038"/>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27"/>
          <p:cNvSpPr/>
          <p:nvPr/>
        </p:nvSpPr>
        <p:spPr>
          <a:xfrm>
            <a:off x="8086438" y="3234038"/>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1" name="Google Shape;401;p27"/>
          <p:cNvCxnSpPr>
            <a:stCxn id="398" idx="4"/>
            <a:endCxn id="397" idx="1"/>
          </p:cNvCxnSpPr>
          <p:nvPr/>
        </p:nvCxnSpPr>
        <p:spPr>
          <a:xfrm>
            <a:off x="7266488" y="3590138"/>
            <a:ext cx="361200" cy="562500"/>
          </a:xfrm>
          <a:prstGeom prst="straightConnector1">
            <a:avLst/>
          </a:prstGeom>
          <a:noFill/>
          <a:ln cap="flat" cmpd="sng" w="19050">
            <a:solidFill>
              <a:srgbClr val="FF0000"/>
            </a:solidFill>
            <a:prstDash val="solid"/>
            <a:round/>
            <a:headEnd len="med" w="med" type="none"/>
            <a:tailEnd len="med" w="med" type="triangle"/>
          </a:ln>
        </p:spPr>
      </p:cxnSp>
      <p:cxnSp>
        <p:nvCxnSpPr>
          <p:cNvPr id="402" name="Google Shape;402;p27"/>
          <p:cNvCxnSpPr>
            <a:stCxn id="399" idx="4"/>
            <a:endCxn id="397" idx="0"/>
          </p:cNvCxnSpPr>
          <p:nvPr/>
        </p:nvCxnSpPr>
        <p:spPr>
          <a:xfrm>
            <a:off x="7757100" y="3590138"/>
            <a:ext cx="0" cy="510300"/>
          </a:xfrm>
          <a:prstGeom prst="straightConnector1">
            <a:avLst/>
          </a:prstGeom>
          <a:noFill/>
          <a:ln cap="flat" cmpd="sng" w="19050">
            <a:solidFill>
              <a:srgbClr val="FF0000"/>
            </a:solidFill>
            <a:prstDash val="solid"/>
            <a:round/>
            <a:headEnd len="med" w="med" type="none"/>
            <a:tailEnd len="med" w="med" type="triangle"/>
          </a:ln>
        </p:spPr>
      </p:cxnSp>
      <p:cxnSp>
        <p:nvCxnSpPr>
          <p:cNvPr id="403" name="Google Shape;403;p27"/>
          <p:cNvCxnSpPr>
            <a:stCxn id="400" idx="4"/>
            <a:endCxn id="397" idx="7"/>
          </p:cNvCxnSpPr>
          <p:nvPr/>
        </p:nvCxnSpPr>
        <p:spPr>
          <a:xfrm flipH="1">
            <a:off x="7886638" y="3590138"/>
            <a:ext cx="382800" cy="562500"/>
          </a:xfrm>
          <a:prstGeom prst="straightConnector1">
            <a:avLst/>
          </a:prstGeom>
          <a:noFill/>
          <a:ln cap="flat" cmpd="sng" w="19050">
            <a:solidFill>
              <a:srgbClr val="FF0000"/>
            </a:solidFill>
            <a:prstDash val="solid"/>
            <a:round/>
            <a:headEnd len="med" w="med" type="none"/>
            <a:tailEnd len="med" w="med" type="triangle"/>
          </a:ln>
        </p:spPr>
      </p:cxnSp>
      <p:sp>
        <p:nvSpPr>
          <p:cNvPr id="404" name="Google Shape;404;p27"/>
          <p:cNvSpPr txBox="1"/>
          <p:nvPr/>
        </p:nvSpPr>
        <p:spPr>
          <a:xfrm>
            <a:off x="6698745" y="4602600"/>
            <a:ext cx="1135500" cy="24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Time 2</a:t>
            </a:r>
            <a:endParaRPr>
              <a:latin typeface="Open Sans"/>
              <a:ea typeface="Open Sans"/>
              <a:cs typeface="Open Sans"/>
              <a:sym typeface="Open Sans"/>
            </a:endParaRPr>
          </a:p>
        </p:txBody>
      </p:sp>
      <p:sp>
        <p:nvSpPr>
          <p:cNvPr id="405" name="Google Shape;405;p27"/>
          <p:cNvSpPr/>
          <p:nvPr/>
        </p:nvSpPr>
        <p:spPr>
          <a:xfrm>
            <a:off x="6169563" y="4110313"/>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6" name="Google Shape;406;p27"/>
          <p:cNvCxnSpPr>
            <a:stCxn id="388" idx="2"/>
            <a:endCxn id="396" idx="6"/>
          </p:cNvCxnSpPr>
          <p:nvPr/>
        </p:nvCxnSpPr>
        <p:spPr>
          <a:xfrm flipH="1">
            <a:off x="950775" y="4414663"/>
            <a:ext cx="1038600" cy="9900"/>
          </a:xfrm>
          <a:prstGeom prst="straightConnector1">
            <a:avLst/>
          </a:prstGeom>
          <a:noFill/>
          <a:ln cap="flat" cmpd="sng" w="19050">
            <a:solidFill>
              <a:srgbClr val="6AA84F"/>
            </a:solidFill>
            <a:prstDash val="solid"/>
            <a:round/>
            <a:headEnd len="med" w="med" type="triangle"/>
            <a:tailEnd len="med" w="med" type="none"/>
          </a:ln>
        </p:spPr>
      </p:cxnSp>
      <p:sp>
        <p:nvSpPr>
          <p:cNvPr id="407" name="Google Shape;407;p27"/>
          <p:cNvSpPr/>
          <p:nvPr/>
        </p:nvSpPr>
        <p:spPr>
          <a:xfrm>
            <a:off x="3818050" y="3706900"/>
            <a:ext cx="1355100" cy="708600"/>
          </a:xfrm>
          <a:prstGeom prst="striped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2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Valenced interactions: Karma theory</a:t>
            </a:r>
            <a:endParaRPr/>
          </a:p>
        </p:txBody>
      </p:sp>
      <p:sp>
        <p:nvSpPr>
          <p:cNvPr id="413" name="Google Shape;413;p28"/>
          <p:cNvSpPr txBox="1"/>
          <p:nvPr>
            <p:ph idx="1" type="body"/>
          </p:nvPr>
        </p:nvSpPr>
        <p:spPr>
          <a:xfrm>
            <a:off x="311700" y="1225225"/>
            <a:ext cx="8697000" cy="1610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
              <a:t>Karma</a:t>
            </a:r>
            <a:r>
              <a:rPr b="1" lang="en"/>
              <a:t> Theory: </a:t>
            </a:r>
            <a:r>
              <a:rPr lang="en"/>
              <a:t>You get what you spread out!</a:t>
            </a:r>
            <a:endParaRPr/>
          </a:p>
          <a:p>
            <a:pPr indent="-317500" lvl="1" marL="914400" rtl="0" algn="l">
              <a:spcBef>
                <a:spcPts val="0"/>
              </a:spcBef>
              <a:spcAft>
                <a:spcPts val="0"/>
              </a:spcAft>
              <a:buSzPts val="1400"/>
              <a:buChar char="○"/>
            </a:pPr>
            <a:r>
              <a:rPr lang="en"/>
              <a:t>Status theory is based on (negative and positive) </a:t>
            </a:r>
            <a:r>
              <a:rPr b="1" lang="en"/>
              <a:t>popularity</a:t>
            </a:r>
            <a:endParaRPr b="1"/>
          </a:p>
          <a:p>
            <a:pPr indent="-317500" lvl="2" marL="1371600" rtl="0" algn="l">
              <a:spcBef>
                <a:spcPts val="0"/>
              </a:spcBef>
              <a:spcAft>
                <a:spcPts val="0"/>
              </a:spcAft>
              <a:buSzPts val="1400"/>
              <a:buChar char="■"/>
            </a:pPr>
            <a:r>
              <a:rPr lang="en"/>
              <a:t>Graph theoretic </a:t>
            </a:r>
            <a:r>
              <a:rPr i="1" lang="en"/>
              <a:t>indegree</a:t>
            </a:r>
            <a:r>
              <a:rPr lang="en"/>
              <a:t> centrality</a:t>
            </a:r>
            <a:endParaRPr/>
          </a:p>
          <a:p>
            <a:pPr indent="-317500" lvl="1" marL="914400" rtl="0" algn="l">
              <a:spcBef>
                <a:spcPts val="0"/>
              </a:spcBef>
              <a:spcAft>
                <a:spcPts val="0"/>
              </a:spcAft>
              <a:buSzPts val="1400"/>
              <a:buChar char="○"/>
            </a:pPr>
            <a:r>
              <a:rPr lang="en"/>
              <a:t>Karma theory is based on (negative and positive) </a:t>
            </a:r>
            <a:r>
              <a:rPr b="1" lang="en"/>
              <a:t>activity</a:t>
            </a:r>
            <a:endParaRPr b="1"/>
          </a:p>
          <a:p>
            <a:pPr indent="-317500" lvl="2" marL="1371600" rtl="0" algn="l">
              <a:spcBef>
                <a:spcPts val="0"/>
              </a:spcBef>
              <a:spcAft>
                <a:spcPts val="0"/>
              </a:spcAft>
              <a:buSzPts val="1400"/>
              <a:buChar char="■"/>
            </a:pPr>
            <a:r>
              <a:rPr lang="en"/>
              <a:t>Graph theoretic </a:t>
            </a:r>
            <a:r>
              <a:rPr i="1" lang="en"/>
              <a:t>outdegree</a:t>
            </a:r>
            <a:r>
              <a:rPr lang="en"/>
              <a:t> centrality</a:t>
            </a:r>
            <a:r>
              <a:rPr lang="en"/>
              <a:t> </a:t>
            </a:r>
            <a:endParaRPr i="1"/>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sp>
        <p:nvSpPr>
          <p:cNvPr id="414" name="Google Shape;414;p28"/>
          <p:cNvSpPr/>
          <p:nvPr/>
        </p:nvSpPr>
        <p:spPr>
          <a:xfrm>
            <a:off x="8027125" y="86350"/>
            <a:ext cx="981600" cy="1179600"/>
          </a:xfrm>
          <a:prstGeom prst="rect">
            <a:avLst/>
          </a:prstGeom>
          <a:noFill/>
          <a:ln cap="flat" cmpd="sng" w="19050">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28"/>
          <p:cNvSpPr/>
          <p:nvPr/>
        </p:nvSpPr>
        <p:spPr>
          <a:xfrm>
            <a:off x="8192860" y="472152"/>
            <a:ext cx="191400" cy="1932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28"/>
          <p:cNvSpPr/>
          <p:nvPr/>
        </p:nvSpPr>
        <p:spPr>
          <a:xfrm>
            <a:off x="8192860" y="216793"/>
            <a:ext cx="191400" cy="19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7" name="Google Shape;417;p28"/>
          <p:cNvCxnSpPr/>
          <p:nvPr/>
        </p:nvCxnSpPr>
        <p:spPr>
          <a:xfrm flipH="1" rot="10800000">
            <a:off x="8124842" y="847730"/>
            <a:ext cx="327600" cy="5700"/>
          </a:xfrm>
          <a:prstGeom prst="straightConnector1">
            <a:avLst/>
          </a:prstGeom>
          <a:noFill/>
          <a:ln cap="flat" cmpd="sng" w="38100">
            <a:solidFill>
              <a:srgbClr val="FF0000"/>
            </a:solidFill>
            <a:prstDash val="solid"/>
            <a:round/>
            <a:headEnd len="med" w="med" type="none"/>
            <a:tailEnd len="med" w="med" type="triangle"/>
          </a:ln>
        </p:spPr>
      </p:cxnSp>
      <p:cxnSp>
        <p:nvCxnSpPr>
          <p:cNvPr id="418" name="Google Shape;418;p28"/>
          <p:cNvCxnSpPr/>
          <p:nvPr/>
        </p:nvCxnSpPr>
        <p:spPr>
          <a:xfrm flipH="1" rot="10800000">
            <a:off x="8124842" y="1076729"/>
            <a:ext cx="327600" cy="5700"/>
          </a:xfrm>
          <a:prstGeom prst="straightConnector1">
            <a:avLst/>
          </a:prstGeom>
          <a:noFill/>
          <a:ln cap="flat" cmpd="sng" w="38100">
            <a:solidFill>
              <a:srgbClr val="6AA84F"/>
            </a:solidFill>
            <a:prstDash val="solid"/>
            <a:round/>
            <a:headEnd len="med" w="med" type="none"/>
            <a:tailEnd len="med" w="med" type="triangle"/>
          </a:ln>
        </p:spPr>
      </p:cxnSp>
      <p:sp>
        <p:nvSpPr>
          <p:cNvPr id="419" name="Google Shape;419;p28"/>
          <p:cNvSpPr txBox="1"/>
          <p:nvPr/>
        </p:nvSpPr>
        <p:spPr>
          <a:xfrm>
            <a:off x="8384249" y="151200"/>
            <a:ext cx="676500" cy="1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sz="1100">
                <a:latin typeface="Comfortaa"/>
                <a:ea typeface="Comfortaa"/>
                <a:cs typeface="Comfortaa"/>
                <a:sym typeface="Comfortaa"/>
              </a:rPr>
              <a:t>Ego</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Other</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Neg.</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Pos.</a:t>
            </a:r>
            <a:endParaRPr b="1" sz="1100">
              <a:latin typeface="Comfortaa"/>
              <a:ea typeface="Comfortaa"/>
              <a:cs typeface="Comfortaa"/>
              <a:sym typeface="Comfortaa"/>
            </a:endParaRPr>
          </a:p>
        </p:txBody>
      </p:sp>
      <p:sp>
        <p:nvSpPr>
          <p:cNvPr id="420" name="Google Shape;420;p28"/>
          <p:cNvSpPr/>
          <p:nvPr/>
        </p:nvSpPr>
        <p:spPr>
          <a:xfrm>
            <a:off x="1989375" y="4236613"/>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28"/>
          <p:cNvSpPr/>
          <p:nvPr/>
        </p:nvSpPr>
        <p:spPr>
          <a:xfrm>
            <a:off x="1498750" y="3370213"/>
            <a:ext cx="366000" cy="356100"/>
          </a:xfrm>
          <a:prstGeom prst="ellipse">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28"/>
          <p:cNvSpPr/>
          <p:nvPr/>
        </p:nvSpPr>
        <p:spPr>
          <a:xfrm>
            <a:off x="1989363" y="3370213"/>
            <a:ext cx="366000" cy="356100"/>
          </a:xfrm>
          <a:prstGeom prst="ellipse">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28"/>
          <p:cNvSpPr/>
          <p:nvPr/>
        </p:nvSpPr>
        <p:spPr>
          <a:xfrm>
            <a:off x="2501700" y="3370213"/>
            <a:ext cx="366000" cy="356100"/>
          </a:xfrm>
          <a:prstGeom prst="ellipse">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24" name="Google Shape;424;p28"/>
          <p:cNvCxnSpPr>
            <a:stCxn id="421" idx="4"/>
            <a:endCxn id="420" idx="1"/>
          </p:cNvCxnSpPr>
          <p:nvPr/>
        </p:nvCxnSpPr>
        <p:spPr>
          <a:xfrm>
            <a:off x="1681750" y="3726313"/>
            <a:ext cx="361200" cy="562500"/>
          </a:xfrm>
          <a:prstGeom prst="straightConnector1">
            <a:avLst/>
          </a:prstGeom>
          <a:noFill/>
          <a:ln cap="flat" cmpd="sng" w="19050">
            <a:solidFill>
              <a:srgbClr val="FF0000"/>
            </a:solidFill>
            <a:prstDash val="solid"/>
            <a:round/>
            <a:headEnd len="med" w="med" type="triangle"/>
            <a:tailEnd len="med" w="med" type="none"/>
          </a:ln>
        </p:spPr>
      </p:cxnSp>
      <p:cxnSp>
        <p:nvCxnSpPr>
          <p:cNvPr id="425" name="Google Shape;425;p28"/>
          <p:cNvCxnSpPr>
            <a:stCxn id="422" idx="4"/>
            <a:endCxn id="420" idx="0"/>
          </p:cNvCxnSpPr>
          <p:nvPr/>
        </p:nvCxnSpPr>
        <p:spPr>
          <a:xfrm>
            <a:off x="2172363" y="3726313"/>
            <a:ext cx="0" cy="510300"/>
          </a:xfrm>
          <a:prstGeom prst="straightConnector1">
            <a:avLst/>
          </a:prstGeom>
          <a:noFill/>
          <a:ln cap="flat" cmpd="sng" w="19050">
            <a:solidFill>
              <a:srgbClr val="FF0000"/>
            </a:solidFill>
            <a:prstDash val="solid"/>
            <a:round/>
            <a:headEnd len="med" w="med" type="triangle"/>
            <a:tailEnd len="med" w="med" type="none"/>
          </a:ln>
        </p:spPr>
      </p:cxnSp>
      <p:cxnSp>
        <p:nvCxnSpPr>
          <p:cNvPr id="426" name="Google Shape;426;p28"/>
          <p:cNvCxnSpPr>
            <a:stCxn id="423" idx="4"/>
            <a:endCxn id="420" idx="7"/>
          </p:cNvCxnSpPr>
          <p:nvPr/>
        </p:nvCxnSpPr>
        <p:spPr>
          <a:xfrm flipH="1">
            <a:off x="2301900" y="3726313"/>
            <a:ext cx="382800" cy="562500"/>
          </a:xfrm>
          <a:prstGeom prst="straightConnector1">
            <a:avLst/>
          </a:prstGeom>
          <a:noFill/>
          <a:ln cap="flat" cmpd="sng" w="19050">
            <a:solidFill>
              <a:srgbClr val="FF0000"/>
            </a:solidFill>
            <a:prstDash val="solid"/>
            <a:round/>
            <a:headEnd len="med" w="med" type="triangle"/>
            <a:tailEnd len="med" w="med" type="none"/>
          </a:ln>
        </p:spPr>
      </p:cxnSp>
      <p:sp>
        <p:nvSpPr>
          <p:cNvPr id="427" name="Google Shape;427;p28"/>
          <p:cNvSpPr txBox="1"/>
          <p:nvPr/>
        </p:nvSpPr>
        <p:spPr>
          <a:xfrm>
            <a:off x="1114000" y="4670725"/>
            <a:ext cx="1135500" cy="24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Time 1</a:t>
            </a:r>
            <a:endParaRPr>
              <a:latin typeface="Open Sans"/>
              <a:ea typeface="Open Sans"/>
              <a:cs typeface="Open Sans"/>
              <a:sym typeface="Open Sans"/>
            </a:endParaRPr>
          </a:p>
        </p:txBody>
      </p:sp>
      <p:sp>
        <p:nvSpPr>
          <p:cNvPr id="428" name="Google Shape;428;p28"/>
          <p:cNvSpPr/>
          <p:nvPr/>
        </p:nvSpPr>
        <p:spPr>
          <a:xfrm>
            <a:off x="584825" y="4246488"/>
            <a:ext cx="366000" cy="356100"/>
          </a:xfrm>
          <a:prstGeom prst="ellipse">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28"/>
          <p:cNvSpPr/>
          <p:nvPr/>
        </p:nvSpPr>
        <p:spPr>
          <a:xfrm>
            <a:off x="7574113" y="4100438"/>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28"/>
          <p:cNvSpPr/>
          <p:nvPr/>
        </p:nvSpPr>
        <p:spPr>
          <a:xfrm>
            <a:off x="7083488" y="3234038"/>
            <a:ext cx="366000" cy="356100"/>
          </a:xfrm>
          <a:prstGeom prst="ellipse">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28"/>
          <p:cNvSpPr/>
          <p:nvPr/>
        </p:nvSpPr>
        <p:spPr>
          <a:xfrm>
            <a:off x="7574100" y="3234038"/>
            <a:ext cx="366000" cy="356100"/>
          </a:xfrm>
          <a:prstGeom prst="ellipse">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28"/>
          <p:cNvSpPr/>
          <p:nvPr/>
        </p:nvSpPr>
        <p:spPr>
          <a:xfrm>
            <a:off x="8086438" y="3234038"/>
            <a:ext cx="366000" cy="356100"/>
          </a:xfrm>
          <a:prstGeom prst="ellipse">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3" name="Google Shape;433;p28"/>
          <p:cNvCxnSpPr>
            <a:stCxn id="430" idx="4"/>
            <a:endCxn id="429" idx="1"/>
          </p:cNvCxnSpPr>
          <p:nvPr/>
        </p:nvCxnSpPr>
        <p:spPr>
          <a:xfrm>
            <a:off x="7266488" y="3590138"/>
            <a:ext cx="361200" cy="562500"/>
          </a:xfrm>
          <a:prstGeom prst="straightConnector1">
            <a:avLst/>
          </a:prstGeom>
          <a:noFill/>
          <a:ln cap="flat" cmpd="sng" w="19050">
            <a:solidFill>
              <a:srgbClr val="FF0000"/>
            </a:solidFill>
            <a:prstDash val="solid"/>
            <a:round/>
            <a:headEnd len="med" w="med" type="triangle"/>
            <a:tailEnd len="med" w="med" type="none"/>
          </a:ln>
        </p:spPr>
      </p:cxnSp>
      <p:cxnSp>
        <p:nvCxnSpPr>
          <p:cNvPr id="434" name="Google Shape;434;p28"/>
          <p:cNvCxnSpPr>
            <a:stCxn id="431" idx="4"/>
            <a:endCxn id="429" idx="0"/>
          </p:cNvCxnSpPr>
          <p:nvPr/>
        </p:nvCxnSpPr>
        <p:spPr>
          <a:xfrm>
            <a:off x="7757100" y="3590138"/>
            <a:ext cx="0" cy="510300"/>
          </a:xfrm>
          <a:prstGeom prst="straightConnector1">
            <a:avLst/>
          </a:prstGeom>
          <a:noFill/>
          <a:ln cap="flat" cmpd="sng" w="19050">
            <a:solidFill>
              <a:srgbClr val="FF0000"/>
            </a:solidFill>
            <a:prstDash val="solid"/>
            <a:round/>
            <a:headEnd len="med" w="med" type="triangle"/>
            <a:tailEnd len="med" w="med" type="none"/>
          </a:ln>
        </p:spPr>
      </p:cxnSp>
      <p:cxnSp>
        <p:nvCxnSpPr>
          <p:cNvPr id="435" name="Google Shape;435;p28"/>
          <p:cNvCxnSpPr>
            <a:stCxn id="432" idx="4"/>
            <a:endCxn id="429" idx="7"/>
          </p:cNvCxnSpPr>
          <p:nvPr/>
        </p:nvCxnSpPr>
        <p:spPr>
          <a:xfrm flipH="1">
            <a:off x="7886638" y="3590138"/>
            <a:ext cx="382800" cy="562500"/>
          </a:xfrm>
          <a:prstGeom prst="straightConnector1">
            <a:avLst/>
          </a:prstGeom>
          <a:noFill/>
          <a:ln cap="flat" cmpd="sng" w="19050">
            <a:solidFill>
              <a:srgbClr val="FF0000"/>
            </a:solidFill>
            <a:prstDash val="solid"/>
            <a:round/>
            <a:headEnd len="med" w="med" type="triangle"/>
            <a:tailEnd len="med" w="med" type="none"/>
          </a:ln>
        </p:spPr>
      </p:cxnSp>
      <p:sp>
        <p:nvSpPr>
          <p:cNvPr id="436" name="Google Shape;436;p28"/>
          <p:cNvSpPr txBox="1"/>
          <p:nvPr/>
        </p:nvSpPr>
        <p:spPr>
          <a:xfrm>
            <a:off x="6698745" y="4602600"/>
            <a:ext cx="1135500" cy="24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Time 2</a:t>
            </a:r>
            <a:endParaRPr>
              <a:latin typeface="Open Sans"/>
              <a:ea typeface="Open Sans"/>
              <a:cs typeface="Open Sans"/>
              <a:sym typeface="Open Sans"/>
            </a:endParaRPr>
          </a:p>
        </p:txBody>
      </p:sp>
      <p:sp>
        <p:nvSpPr>
          <p:cNvPr id="437" name="Google Shape;437;p28"/>
          <p:cNvSpPr/>
          <p:nvPr/>
        </p:nvSpPr>
        <p:spPr>
          <a:xfrm>
            <a:off x="6169563" y="4110313"/>
            <a:ext cx="366000" cy="356100"/>
          </a:xfrm>
          <a:prstGeom prst="ellipse">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28"/>
          <p:cNvSpPr/>
          <p:nvPr/>
        </p:nvSpPr>
        <p:spPr>
          <a:xfrm>
            <a:off x="3818050" y="3706900"/>
            <a:ext cx="1355100" cy="708600"/>
          </a:xfrm>
          <a:prstGeom prst="striped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2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Valenced interactions: Karma theory</a:t>
            </a:r>
            <a:endParaRPr/>
          </a:p>
        </p:txBody>
      </p:sp>
      <p:sp>
        <p:nvSpPr>
          <p:cNvPr id="444" name="Google Shape;444;p29"/>
          <p:cNvSpPr txBox="1"/>
          <p:nvPr>
            <p:ph idx="1" type="body"/>
          </p:nvPr>
        </p:nvSpPr>
        <p:spPr>
          <a:xfrm>
            <a:off x="311700" y="1225225"/>
            <a:ext cx="8697000" cy="16143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
              <a:t>Karma Theory: </a:t>
            </a:r>
            <a:r>
              <a:rPr lang="en"/>
              <a:t>You get what you spread out!</a:t>
            </a:r>
            <a:endParaRPr/>
          </a:p>
          <a:p>
            <a:pPr indent="-317500" lvl="1" marL="914400" rtl="0" algn="l">
              <a:spcBef>
                <a:spcPts val="0"/>
              </a:spcBef>
              <a:spcAft>
                <a:spcPts val="0"/>
              </a:spcAft>
              <a:buSzPts val="1400"/>
              <a:buChar char="○"/>
            </a:pPr>
            <a:r>
              <a:rPr lang="en"/>
              <a:t>Status theory is based on (negative and positive) </a:t>
            </a:r>
            <a:r>
              <a:rPr b="1" lang="en"/>
              <a:t>popularity</a:t>
            </a:r>
            <a:endParaRPr b="1"/>
          </a:p>
          <a:p>
            <a:pPr indent="-317500" lvl="2" marL="1371600" rtl="0" algn="l">
              <a:spcBef>
                <a:spcPts val="0"/>
              </a:spcBef>
              <a:spcAft>
                <a:spcPts val="0"/>
              </a:spcAft>
              <a:buSzPts val="1400"/>
              <a:buChar char="■"/>
            </a:pPr>
            <a:r>
              <a:rPr lang="en"/>
              <a:t>Graph theoretic </a:t>
            </a:r>
            <a:r>
              <a:rPr i="1" lang="en"/>
              <a:t>indegree</a:t>
            </a:r>
            <a:r>
              <a:rPr lang="en"/>
              <a:t> centrality</a:t>
            </a:r>
            <a:endParaRPr/>
          </a:p>
          <a:p>
            <a:pPr indent="-317500" lvl="1" marL="914400" rtl="0" algn="l">
              <a:spcBef>
                <a:spcPts val="0"/>
              </a:spcBef>
              <a:spcAft>
                <a:spcPts val="0"/>
              </a:spcAft>
              <a:buSzPts val="1400"/>
              <a:buChar char="○"/>
            </a:pPr>
            <a:r>
              <a:rPr lang="en"/>
              <a:t>Karma theory is based on (negative and positive) </a:t>
            </a:r>
            <a:r>
              <a:rPr b="1" lang="en"/>
              <a:t>activity</a:t>
            </a:r>
            <a:endParaRPr b="1"/>
          </a:p>
          <a:p>
            <a:pPr indent="-317500" lvl="2" marL="1371600" rtl="0" algn="l">
              <a:spcBef>
                <a:spcPts val="0"/>
              </a:spcBef>
              <a:spcAft>
                <a:spcPts val="0"/>
              </a:spcAft>
              <a:buSzPts val="1400"/>
              <a:buChar char="■"/>
            </a:pPr>
            <a:r>
              <a:rPr lang="en"/>
              <a:t>Predict valenced indegree (what you get) from valenced outdegree (what you spread)</a:t>
            </a:r>
            <a:endParaRPr i="1"/>
          </a:p>
          <a:p>
            <a:pPr indent="0" lvl="0" marL="91440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sp>
        <p:nvSpPr>
          <p:cNvPr id="445" name="Google Shape;445;p29"/>
          <p:cNvSpPr/>
          <p:nvPr/>
        </p:nvSpPr>
        <p:spPr>
          <a:xfrm>
            <a:off x="8027125" y="86350"/>
            <a:ext cx="981600" cy="1179600"/>
          </a:xfrm>
          <a:prstGeom prst="rect">
            <a:avLst/>
          </a:prstGeom>
          <a:noFill/>
          <a:ln cap="flat" cmpd="sng" w="19050">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29"/>
          <p:cNvSpPr/>
          <p:nvPr/>
        </p:nvSpPr>
        <p:spPr>
          <a:xfrm>
            <a:off x="8192860" y="472152"/>
            <a:ext cx="191400" cy="1932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29"/>
          <p:cNvSpPr/>
          <p:nvPr/>
        </p:nvSpPr>
        <p:spPr>
          <a:xfrm>
            <a:off x="8192860" y="216793"/>
            <a:ext cx="191400" cy="19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48" name="Google Shape;448;p29"/>
          <p:cNvCxnSpPr/>
          <p:nvPr/>
        </p:nvCxnSpPr>
        <p:spPr>
          <a:xfrm flipH="1" rot="10800000">
            <a:off x="8124842" y="847730"/>
            <a:ext cx="327600" cy="5700"/>
          </a:xfrm>
          <a:prstGeom prst="straightConnector1">
            <a:avLst/>
          </a:prstGeom>
          <a:noFill/>
          <a:ln cap="flat" cmpd="sng" w="38100">
            <a:solidFill>
              <a:srgbClr val="FF0000"/>
            </a:solidFill>
            <a:prstDash val="solid"/>
            <a:round/>
            <a:headEnd len="med" w="med" type="none"/>
            <a:tailEnd len="med" w="med" type="triangle"/>
          </a:ln>
        </p:spPr>
      </p:cxnSp>
      <p:cxnSp>
        <p:nvCxnSpPr>
          <p:cNvPr id="449" name="Google Shape;449;p29"/>
          <p:cNvCxnSpPr/>
          <p:nvPr/>
        </p:nvCxnSpPr>
        <p:spPr>
          <a:xfrm flipH="1" rot="10800000">
            <a:off x="8124842" y="1076729"/>
            <a:ext cx="327600" cy="5700"/>
          </a:xfrm>
          <a:prstGeom prst="straightConnector1">
            <a:avLst/>
          </a:prstGeom>
          <a:noFill/>
          <a:ln cap="flat" cmpd="sng" w="38100">
            <a:solidFill>
              <a:srgbClr val="6AA84F"/>
            </a:solidFill>
            <a:prstDash val="solid"/>
            <a:round/>
            <a:headEnd len="med" w="med" type="none"/>
            <a:tailEnd len="med" w="med" type="triangle"/>
          </a:ln>
        </p:spPr>
      </p:cxnSp>
      <p:sp>
        <p:nvSpPr>
          <p:cNvPr id="450" name="Google Shape;450;p29"/>
          <p:cNvSpPr txBox="1"/>
          <p:nvPr/>
        </p:nvSpPr>
        <p:spPr>
          <a:xfrm>
            <a:off x="8384249" y="151200"/>
            <a:ext cx="676500" cy="1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sz="1100">
                <a:latin typeface="Comfortaa"/>
                <a:ea typeface="Comfortaa"/>
                <a:cs typeface="Comfortaa"/>
                <a:sym typeface="Comfortaa"/>
              </a:rPr>
              <a:t>Ego</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Other</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Neg.</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Pos.</a:t>
            </a:r>
            <a:endParaRPr b="1" sz="1100">
              <a:latin typeface="Comfortaa"/>
              <a:ea typeface="Comfortaa"/>
              <a:cs typeface="Comfortaa"/>
              <a:sym typeface="Comfortaa"/>
            </a:endParaRPr>
          </a:p>
        </p:txBody>
      </p:sp>
      <p:sp>
        <p:nvSpPr>
          <p:cNvPr id="451" name="Google Shape;451;p29"/>
          <p:cNvSpPr/>
          <p:nvPr/>
        </p:nvSpPr>
        <p:spPr>
          <a:xfrm>
            <a:off x="1989375" y="4236613"/>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29"/>
          <p:cNvSpPr/>
          <p:nvPr/>
        </p:nvSpPr>
        <p:spPr>
          <a:xfrm>
            <a:off x="1498750" y="3370213"/>
            <a:ext cx="366000" cy="356100"/>
          </a:xfrm>
          <a:prstGeom prst="ellipse">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29"/>
          <p:cNvSpPr/>
          <p:nvPr/>
        </p:nvSpPr>
        <p:spPr>
          <a:xfrm>
            <a:off x="1989363" y="3370213"/>
            <a:ext cx="366000" cy="356100"/>
          </a:xfrm>
          <a:prstGeom prst="ellipse">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29"/>
          <p:cNvSpPr/>
          <p:nvPr/>
        </p:nvSpPr>
        <p:spPr>
          <a:xfrm>
            <a:off x="2501700" y="3370213"/>
            <a:ext cx="366000" cy="356100"/>
          </a:xfrm>
          <a:prstGeom prst="ellipse">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55" name="Google Shape;455;p29"/>
          <p:cNvCxnSpPr>
            <a:stCxn id="452" idx="4"/>
            <a:endCxn id="451" idx="1"/>
          </p:cNvCxnSpPr>
          <p:nvPr/>
        </p:nvCxnSpPr>
        <p:spPr>
          <a:xfrm>
            <a:off x="1681750" y="3726313"/>
            <a:ext cx="361200" cy="562500"/>
          </a:xfrm>
          <a:prstGeom prst="straightConnector1">
            <a:avLst/>
          </a:prstGeom>
          <a:noFill/>
          <a:ln cap="flat" cmpd="sng" w="19050">
            <a:solidFill>
              <a:srgbClr val="FF0000"/>
            </a:solidFill>
            <a:prstDash val="solid"/>
            <a:round/>
            <a:headEnd len="med" w="med" type="triangle"/>
            <a:tailEnd len="med" w="med" type="none"/>
          </a:ln>
        </p:spPr>
      </p:cxnSp>
      <p:cxnSp>
        <p:nvCxnSpPr>
          <p:cNvPr id="456" name="Google Shape;456;p29"/>
          <p:cNvCxnSpPr>
            <a:stCxn id="453" idx="4"/>
            <a:endCxn id="451" idx="0"/>
          </p:cNvCxnSpPr>
          <p:nvPr/>
        </p:nvCxnSpPr>
        <p:spPr>
          <a:xfrm>
            <a:off x="2172363" y="3726313"/>
            <a:ext cx="0" cy="510300"/>
          </a:xfrm>
          <a:prstGeom prst="straightConnector1">
            <a:avLst/>
          </a:prstGeom>
          <a:noFill/>
          <a:ln cap="flat" cmpd="sng" w="19050">
            <a:solidFill>
              <a:srgbClr val="FF0000"/>
            </a:solidFill>
            <a:prstDash val="solid"/>
            <a:round/>
            <a:headEnd len="med" w="med" type="triangle"/>
            <a:tailEnd len="med" w="med" type="none"/>
          </a:ln>
        </p:spPr>
      </p:cxnSp>
      <p:cxnSp>
        <p:nvCxnSpPr>
          <p:cNvPr id="457" name="Google Shape;457;p29"/>
          <p:cNvCxnSpPr>
            <a:stCxn id="454" idx="4"/>
            <a:endCxn id="451" idx="7"/>
          </p:cNvCxnSpPr>
          <p:nvPr/>
        </p:nvCxnSpPr>
        <p:spPr>
          <a:xfrm flipH="1">
            <a:off x="2301900" y="3726313"/>
            <a:ext cx="382800" cy="562500"/>
          </a:xfrm>
          <a:prstGeom prst="straightConnector1">
            <a:avLst/>
          </a:prstGeom>
          <a:noFill/>
          <a:ln cap="flat" cmpd="sng" w="19050">
            <a:solidFill>
              <a:srgbClr val="FF0000"/>
            </a:solidFill>
            <a:prstDash val="solid"/>
            <a:round/>
            <a:headEnd len="med" w="med" type="triangle"/>
            <a:tailEnd len="med" w="med" type="none"/>
          </a:ln>
        </p:spPr>
      </p:cxnSp>
      <p:sp>
        <p:nvSpPr>
          <p:cNvPr id="458" name="Google Shape;458;p29"/>
          <p:cNvSpPr txBox="1"/>
          <p:nvPr/>
        </p:nvSpPr>
        <p:spPr>
          <a:xfrm>
            <a:off x="1114000" y="4670725"/>
            <a:ext cx="1135500" cy="24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Time 1</a:t>
            </a:r>
            <a:endParaRPr>
              <a:latin typeface="Open Sans"/>
              <a:ea typeface="Open Sans"/>
              <a:cs typeface="Open Sans"/>
              <a:sym typeface="Open Sans"/>
            </a:endParaRPr>
          </a:p>
        </p:txBody>
      </p:sp>
      <p:sp>
        <p:nvSpPr>
          <p:cNvPr id="459" name="Google Shape;459;p29"/>
          <p:cNvSpPr/>
          <p:nvPr/>
        </p:nvSpPr>
        <p:spPr>
          <a:xfrm>
            <a:off x="584825" y="4246488"/>
            <a:ext cx="366000" cy="356100"/>
          </a:xfrm>
          <a:prstGeom prst="ellipse">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29"/>
          <p:cNvSpPr/>
          <p:nvPr/>
        </p:nvSpPr>
        <p:spPr>
          <a:xfrm>
            <a:off x="7574113" y="4100438"/>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29"/>
          <p:cNvSpPr/>
          <p:nvPr/>
        </p:nvSpPr>
        <p:spPr>
          <a:xfrm>
            <a:off x="7083488" y="3234038"/>
            <a:ext cx="366000" cy="356100"/>
          </a:xfrm>
          <a:prstGeom prst="ellipse">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29"/>
          <p:cNvSpPr/>
          <p:nvPr/>
        </p:nvSpPr>
        <p:spPr>
          <a:xfrm>
            <a:off x="7574100" y="3234038"/>
            <a:ext cx="366000" cy="356100"/>
          </a:xfrm>
          <a:prstGeom prst="ellipse">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29"/>
          <p:cNvSpPr/>
          <p:nvPr/>
        </p:nvSpPr>
        <p:spPr>
          <a:xfrm>
            <a:off x="8086438" y="3234038"/>
            <a:ext cx="366000" cy="356100"/>
          </a:xfrm>
          <a:prstGeom prst="ellipse">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64" name="Google Shape;464;p29"/>
          <p:cNvCxnSpPr>
            <a:stCxn id="461" idx="4"/>
            <a:endCxn id="460" idx="1"/>
          </p:cNvCxnSpPr>
          <p:nvPr/>
        </p:nvCxnSpPr>
        <p:spPr>
          <a:xfrm>
            <a:off x="7266488" y="3590138"/>
            <a:ext cx="361200" cy="562500"/>
          </a:xfrm>
          <a:prstGeom prst="straightConnector1">
            <a:avLst/>
          </a:prstGeom>
          <a:noFill/>
          <a:ln cap="flat" cmpd="sng" w="19050">
            <a:solidFill>
              <a:srgbClr val="FF0000"/>
            </a:solidFill>
            <a:prstDash val="solid"/>
            <a:round/>
            <a:headEnd len="med" w="med" type="triangle"/>
            <a:tailEnd len="med" w="med" type="none"/>
          </a:ln>
        </p:spPr>
      </p:cxnSp>
      <p:cxnSp>
        <p:nvCxnSpPr>
          <p:cNvPr id="465" name="Google Shape;465;p29"/>
          <p:cNvCxnSpPr>
            <a:stCxn id="462" idx="4"/>
            <a:endCxn id="460" idx="0"/>
          </p:cNvCxnSpPr>
          <p:nvPr/>
        </p:nvCxnSpPr>
        <p:spPr>
          <a:xfrm>
            <a:off x="7757100" y="3590138"/>
            <a:ext cx="0" cy="510300"/>
          </a:xfrm>
          <a:prstGeom prst="straightConnector1">
            <a:avLst/>
          </a:prstGeom>
          <a:noFill/>
          <a:ln cap="flat" cmpd="sng" w="19050">
            <a:solidFill>
              <a:srgbClr val="FF0000"/>
            </a:solidFill>
            <a:prstDash val="solid"/>
            <a:round/>
            <a:headEnd len="med" w="med" type="triangle"/>
            <a:tailEnd len="med" w="med" type="none"/>
          </a:ln>
        </p:spPr>
      </p:cxnSp>
      <p:cxnSp>
        <p:nvCxnSpPr>
          <p:cNvPr id="466" name="Google Shape;466;p29"/>
          <p:cNvCxnSpPr>
            <a:stCxn id="463" idx="4"/>
            <a:endCxn id="460" idx="7"/>
          </p:cNvCxnSpPr>
          <p:nvPr/>
        </p:nvCxnSpPr>
        <p:spPr>
          <a:xfrm flipH="1">
            <a:off x="7886638" y="3590138"/>
            <a:ext cx="382800" cy="562500"/>
          </a:xfrm>
          <a:prstGeom prst="straightConnector1">
            <a:avLst/>
          </a:prstGeom>
          <a:noFill/>
          <a:ln cap="flat" cmpd="sng" w="19050">
            <a:solidFill>
              <a:srgbClr val="FF0000"/>
            </a:solidFill>
            <a:prstDash val="solid"/>
            <a:round/>
            <a:headEnd len="med" w="med" type="triangle"/>
            <a:tailEnd len="med" w="med" type="none"/>
          </a:ln>
        </p:spPr>
      </p:cxnSp>
      <p:sp>
        <p:nvSpPr>
          <p:cNvPr id="467" name="Google Shape;467;p29"/>
          <p:cNvSpPr txBox="1"/>
          <p:nvPr/>
        </p:nvSpPr>
        <p:spPr>
          <a:xfrm>
            <a:off x="6698745" y="4602600"/>
            <a:ext cx="1135500" cy="24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Time 2</a:t>
            </a:r>
            <a:endParaRPr>
              <a:latin typeface="Open Sans"/>
              <a:ea typeface="Open Sans"/>
              <a:cs typeface="Open Sans"/>
              <a:sym typeface="Open Sans"/>
            </a:endParaRPr>
          </a:p>
        </p:txBody>
      </p:sp>
      <p:sp>
        <p:nvSpPr>
          <p:cNvPr id="468" name="Google Shape;468;p29"/>
          <p:cNvSpPr/>
          <p:nvPr/>
        </p:nvSpPr>
        <p:spPr>
          <a:xfrm>
            <a:off x="6169563" y="4110313"/>
            <a:ext cx="366000" cy="356100"/>
          </a:xfrm>
          <a:prstGeom prst="ellipse">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29"/>
          <p:cNvSpPr/>
          <p:nvPr/>
        </p:nvSpPr>
        <p:spPr>
          <a:xfrm>
            <a:off x="3818050" y="3706900"/>
            <a:ext cx="1355100" cy="708600"/>
          </a:xfrm>
          <a:prstGeom prst="striped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3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Valenced interactions: Karma theory</a:t>
            </a:r>
            <a:endParaRPr/>
          </a:p>
        </p:txBody>
      </p:sp>
      <p:sp>
        <p:nvSpPr>
          <p:cNvPr id="475" name="Google Shape;475;p30"/>
          <p:cNvSpPr txBox="1"/>
          <p:nvPr>
            <p:ph idx="1" type="body"/>
          </p:nvPr>
        </p:nvSpPr>
        <p:spPr>
          <a:xfrm>
            <a:off x="311700" y="1225225"/>
            <a:ext cx="8697000" cy="21873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
              <a:t>Karma Theory: </a:t>
            </a:r>
            <a:r>
              <a:rPr lang="en"/>
              <a:t>You get what you spread out!</a:t>
            </a:r>
            <a:endParaRPr/>
          </a:p>
          <a:p>
            <a:pPr indent="-317500" lvl="1" marL="914400" rtl="0" algn="l">
              <a:spcBef>
                <a:spcPts val="0"/>
              </a:spcBef>
              <a:spcAft>
                <a:spcPts val="0"/>
              </a:spcAft>
              <a:buSzPts val="1400"/>
              <a:buChar char="○"/>
            </a:pPr>
            <a:r>
              <a:rPr lang="en"/>
              <a:t>Status theory is based on (negative and positive) </a:t>
            </a:r>
            <a:r>
              <a:rPr b="1" lang="en"/>
              <a:t>popularity</a:t>
            </a:r>
            <a:endParaRPr b="1"/>
          </a:p>
          <a:p>
            <a:pPr indent="-317500" lvl="2" marL="1371600" rtl="0" algn="l">
              <a:spcBef>
                <a:spcPts val="0"/>
              </a:spcBef>
              <a:spcAft>
                <a:spcPts val="0"/>
              </a:spcAft>
              <a:buSzPts val="1400"/>
              <a:buChar char="■"/>
            </a:pPr>
            <a:r>
              <a:rPr lang="en"/>
              <a:t>Graph theoretic </a:t>
            </a:r>
            <a:r>
              <a:rPr i="1" lang="en"/>
              <a:t>indegree</a:t>
            </a:r>
            <a:r>
              <a:rPr lang="en"/>
              <a:t> centrality</a:t>
            </a:r>
            <a:endParaRPr/>
          </a:p>
          <a:p>
            <a:pPr indent="-317500" lvl="1" marL="914400" rtl="0" algn="l">
              <a:spcBef>
                <a:spcPts val="0"/>
              </a:spcBef>
              <a:spcAft>
                <a:spcPts val="0"/>
              </a:spcAft>
              <a:buSzPts val="1400"/>
              <a:buChar char="○"/>
            </a:pPr>
            <a:r>
              <a:rPr lang="en"/>
              <a:t>Karma theory is based on (negative and positive) </a:t>
            </a:r>
            <a:r>
              <a:rPr b="1" lang="en"/>
              <a:t>activity</a:t>
            </a:r>
            <a:endParaRPr b="1"/>
          </a:p>
          <a:p>
            <a:pPr indent="-317500" lvl="2" marL="1371600" rtl="0" algn="l">
              <a:spcBef>
                <a:spcPts val="0"/>
              </a:spcBef>
              <a:spcAft>
                <a:spcPts val="0"/>
              </a:spcAft>
              <a:buSzPts val="1400"/>
              <a:buChar char="■"/>
            </a:pPr>
            <a:r>
              <a:rPr lang="en"/>
              <a:t>Predict valenced indegree (what you get) from valenced outdegree (what you spread)</a:t>
            </a:r>
            <a:endParaRPr b="1"/>
          </a:p>
        </p:txBody>
      </p:sp>
      <p:sp>
        <p:nvSpPr>
          <p:cNvPr id="476" name="Google Shape;476;p30"/>
          <p:cNvSpPr/>
          <p:nvPr/>
        </p:nvSpPr>
        <p:spPr>
          <a:xfrm>
            <a:off x="8027125" y="86350"/>
            <a:ext cx="981600" cy="1179600"/>
          </a:xfrm>
          <a:prstGeom prst="rect">
            <a:avLst/>
          </a:prstGeom>
          <a:noFill/>
          <a:ln cap="flat" cmpd="sng" w="19050">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30"/>
          <p:cNvSpPr/>
          <p:nvPr/>
        </p:nvSpPr>
        <p:spPr>
          <a:xfrm>
            <a:off x="8192860" y="472152"/>
            <a:ext cx="191400" cy="1932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30"/>
          <p:cNvSpPr/>
          <p:nvPr/>
        </p:nvSpPr>
        <p:spPr>
          <a:xfrm>
            <a:off x="8192860" y="216793"/>
            <a:ext cx="191400" cy="19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79" name="Google Shape;479;p30"/>
          <p:cNvCxnSpPr/>
          <p:nvPr/>
        </p:nvCxnSpPr>
        <p:spPr>
          <a:xfrm flipH="1" rot="10800000">
            <a:off x="8124842" y="847730"/>
            <a:ext cx="327600" cy="5700"/>
          </a:xfrm>
          <a:prstGeom prst="straightConnector1">
            <a:avLst/>
          </a:prstGeom>
          <a:noFill/>
          <a:ln cap="flat" cmpd="sng" w="38100">
            <a:solidFill>
              <a:srgbClr val="FF0000"/>
            </a:solidFill>
            <a:prstDash val="solid"/>
            <a:round/>
            <a:headEnd len="med" w="med" type="none"/>
            <a:tailEnd len="med" w="med" type="triangle"/>
          </a:ln>
        </p:spPr>
      </p:cxnSp>
      <p:cxnSp>
        <p:nvCxnSpPr>
          <p:cNvPr id="480" name="Google Shape;480;p30"/>
          <p:cNvCxnSpPr/>
          <p:nvPr/>
        </p:nvCxnSpPr>
        <p:spPr>
          <a:xfrm flipH="1" rot="10800000">
            <a:off x="8124842" y="1076729"/>
            <a:ext cx="327600" cy="5700"/>
          </a:xfrm>
          <a:prstGeom prst="straightConnector1">
            <a:avLst/>
          </a:prstGeom>
          <a:noFill/>
          <a:ln cap="flat" cmpd="sng" w="38100">
            <a:solidFill>
              <a:srgbClr val="6AA84F"/>
            </a:solidFill>
            <a:prstDash val="solid"/>
            <a:round/>
            <a:headEnd len="med" w="med" type="none"/>
            <a:tailEnd len="med" w="med" type="triangle"/>
          </a:ln>
        </p:spPr>
      </p:cxnSp>
      <p:sp>
        <p:nvSpPr>
          <p:cNvPr id="481" name="Google Shape;481;p30"/>
          <p:cNvSpPr txBox="1"/>
          <p:nvPr/>
        </p:nvSpPr>
        <p:spPr>
          <a:xfrm>
            <a:off x="8384249" y="151200"/>
            <a:ext cx="676500" cy="1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sz="1100">
                <a:latin typeface="Comfortaa"/>
                <a:ea typeface="Comfortaa"/>
                <a:cs typeface="Comfortaa"/>
                <a:sym typeface="Comfortaa"/>
              </a:rPr>
              <a:t>Ego</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Other</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Neg.</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Pos.</a:t>
            </a:r>
            <a:endParaRPr b="1" sz="1100">
              <a:latin typeface="Comfortaa"/>
              <a:ea typeface="Comfortaa"/>
              <a:cs typeface="Comfortaa"/>
              <a:sym typeface="Comfortaa"/>
            </a:endParaRPr>
          </a:p>
        </p:txBody>
      </p:sp>
      <p:sp>
        <p:nvSpPr>
          <p:cNvPr id="482" name="Google Shape;482;p30"/>
          <p:cNvSpPr/>
          <p:nvPr/>
        </p:nvSpPr>
        <p:spPr>
          <a:xfrm>
            <a:off x="1989375" y="4236613"/>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30"/>
          <p:cNvSpPr/>
          <p:nvPr/>
        </p:nvSpPr>
        <p:spPr>
          <a:xfrm>
            <a:off x="1498750" y="3370213"/>
            <a:ext cx="366000" cy="356100"/>
          </a:xfrm>
          <a:prstGeom prst="ellipse">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30"/>
          <p:cNvSpPr/>
          <p:nvPr/>
        </p:nvSpPr>
        <p:spPr>
          <a:xfrm>
            <a:off x="1989363" y="3370213"/>
            <a:ext cx="366000" cy="356100"/>
          </a:xfrm>
          <a:prstGeom prst="ellipse">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30"/>
          <p:cNvSpPr/>
          <p:nvPr/>
        </p:nvSpPr>
        <p:spPr>
          <a:xfrm>
            <a:off x="2501700" y="3370213"/>
            <a:ext cx="366000" cy="356100"/>
          </a:xfrm>
          <a:prstGeom prst="ellipse">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86" name="Google Shape;486;p30"/>
          <p:cNvCxnSpPr>
            <a:stCxn id="483" idx="4"/>
            <a:endCxn id="482" idx="1"/>
          </p:cNvCxnSpPr>
          <p:nvPr/>
        </p:nvCxnSpPr>
        <p:spPr>
          <a:xfrm>
            <a:off x="1681750" y="3726313"/>
            <a:ext cx="361200" cy="562500"/>
          </a:xfrm>
          <a:prstGeom prst="straightConnector1">
            <a:avLst/>
          </a:prstGeom>
          <a:noFill/>
          <a:ln cap="flat" cmpd="sng" w="19050">
            <a:solidFill>
              <a:srgbClr val="FF0000"/>
            </a:solidFill>
            <a:prstDash val="solid"/>
            <a:round/>
            <a:headEnd len="med" w="med" type="triangle"/>
            <a:tailEnd len="med" w="med" type="none"/>
          </a:ln>
        </p:spPr>
      </p:cxnSp>
      <p:cxnSp>
        <p:nvCxnSpPr>
          <p:cNvPr id="487" name="Google Shape;487;p30"/>
          <p:cNvCxnSpPr>
            <a:stCxn id="484" idx="4"/>
            <a:endCxn id="482" idx="0"/>
          </p:cNvCxnSpPr>
          <p:nvPr/>
        </p:nvCxnSpPr>
        <p:spPr>
          <a:xfrm>
            <a:off x="2172363" y="3726313"/>
            <a:ext cx="0" cy="510300"/>
          </a:xfrm>
          <a:prstGeom prst="straightConnector1">
            <a:avLst/>
          </a:prstGeom>
          <a:noFill/>
          <a:ln cap="flat" cmpd="sng" w="19050">
            <a:solidFill>
              <a:srgbClr val="FF0000"/>
            </a:solidFill>
            <a:prstDash val="solid"/>
            <a:round/>
            <a:headEnd len="med" w="med" type="triangle"/>
            <a:tailEnd len="med" w="med" type="none"/>
          </a:ln>
        </p:spPr>
      </p:cxnSp>
      <p:cxnSp>
        <p:nvCxnSpPr>
          <p:cNvPr id="488" name="Google Shape;488;p30"/>
          <p:cNvCxnSpPr>
            <a:stCxn id="485" idx="4"/>
            <a:endCxn id="482" idx="7"/>
          </p:cNvCxnSpPr>
          <p:nvPr/>
        </p:nvCxnSpPr>
        <p:spPr>
          <a:xfrm flipH="1">
            <a:off x="2301900" y="3726313"/>
            <a:ext cx="382800" cy="562500"/>
          </a:xfrm>
          <a:prstGeom prst="straightConnector1">
            <a:avLst/>
          </a:prstGeom>
          <a:noFill/>
          <a:ln cap="flat" cmpd="sng" w="19050">
            <a:solidFill>
              <a:srgbClr val="FF0000"/>
            </a:solidFill>
            <a:prstDash val="solid"/>
            <a:round/>
            <a:headEnd len="med" w="med" type="triangle"/>
            <a:tailEnd len="med" w="med" type="none"/>
          </a:ln>
        </p:spPr>
      </p:cxnSp>
      <p:sp>
        <p:nvSpPr>
          <p:cNvPr id="489" name="Google Shape;489;p30"/>
          <p:cNvSpPr txBox="1"/>
          <p:nvPr/>
        </p:nvSpPr>
        <p:spPr>
          <a:xfrm>
            <a:off x="1114000" y="4670725"/>
            <a:ext cx="1135500" cy="24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Time 1</a:t>
            </a:r>
            <a:endParaRPr>
              <a:latin typeface="Open Sans"/>
              <a:ea typeface="Open Sans"/>
              <a:cs typeface="Open Sans"/>
              <a:sym typeface="Open Sans"/>
            </a:endParaRPr>
          </a:p>
        </p:txBody>
      </p:sp>
      <p:sp>
        <p:nvSpPr>
          <p:cNvPr id="490" name="Google Shape;490;p30"/>
          <p:cNvSpPr/>
          <p:nvPr/>
        </p:nvSpPr>
        <p:spPr>
          <a:xfrm>
            <a:off x="584825" y="4246488"/>
            <a:ext cx="366000" cy="356100"/>
          </a:xfrm>
          <a:prstGeom prst="ellipse">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30"/>
          <p:cNvSpPr/>
          <p:nvPr/>
        </p:nvSpPr>
        <p:spPr>
          <a:xfrm>
            <a:off x="7574113" y="4100438"/>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30"/>
          <p:cNvSpPr/>
          <p:nvPr/>
        </p:nvSpPr>
        <p:spPr>
          <a:xfrm>
            <a:off x="7083488" y="3234038"/>
            <a:ext cx="366000" cy="356100"/>
          </a:xfrm>
          <a:prstGeom prst="ellipse">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30"/>
          <p:cNvSpPr/>
          <p:nvPr/>
        </p:nvSpPr>
        <p:spPr>
          <a:xfrm>
            <a:off x="7574100" y="3234038"/>
            <a:ext cx="366000" cy="356100"/>
          </a:xfrm>
          <a:prstGeom prst="ellipse">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30"/>
          <p:cNvSpPr/>
          <p:nvPr/>
        </p:nvSpPr>
        <p:spPr>
          <a:xfrm>
            <a:off x="8086438" y="3234038"/>
            <a:ext cx="366000" cy="356100"/>
          </a:xfrm>
          <a:prstGeom prst="ellipse">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95" name="Google Shape;495;p30"/>
          <p:cNvCxnSpPr>
            <a:stCxn id="492" idx="4"/>
            <a:endCxn id="491" idx="1"/>
          </p:cNvCxnSpPr>
          <p:nvPr/>
        </p:nvCxnSpPr>
        <p:spPr>
          <a:xfrm>
            <a:off x="7266488" y="3590138"/>
            <a:ext cx="361200" cy="562500"/>
          </a:xfrm>
          <a:prstGeom prst="straightConnector1">
            <a:avLst/>
          </a:prstGeom>
          <a:noFill/>
          <a:ln cap="flat" cmpd="sng" w="19050">
            <a:solidFill>
              <a:srgbClr val="FF0000"/>
            </a:solidFill>
            <a:prstDash val="solid"/>
            <a:round/>
            <a:headEnd len="med" w="med" type="triangle"/>
            <a:tailEnd len="med" w="med" type="none"/>
          </a:ln>
        </p:spPr>
      </p:cxnSp>
      <p:cxnSp>
        <p:nvCxnSpPr>
          <p:cNvPr id="496" name="Google Shape;496;p30"/>
          <p:cNvCxnSpPr>
            <a:stCxn id="493" idx="4"/>
            <a:endCxn id="491" idx="0"/>
          </p:cNvCxnSpPr>
          <p:nvPr/>
        </p:nvCxnSpPr>
        <p:spPr>
          <a:xfrm>
            <a:off x="7757100" y="3590138"/>
            <a:ext cx="0" cy="510300"/>
          </a:xfrm>
          <a:prstGeom prst="straightConnector1">
            <a:avLst/>
          </a:prstGeom>
          <a:noFill/>
          <a:ln cap="flat" cmpd="sng" w="19050">
            <a:solidFill>
              <a:srgbClr val="FF0000"/>
            </a:solidFill>
            <a:prstDash val="solid"/>
            <a:round/>
            <a:headEnd len="med" w="med" type="triangle"/>
            <a:tailEnd len="med" w="med" type="none"/>
          </a:ln>
        </p:spPr>
      </p:cxnSp>
      <p:cxnSp>
        <p:nvCxnSpPr>
          <p:cNvPr id="497" name="Google Shape;497;p30"/>
          <p:cNvCxnSpPr>
            <a:stCxn id="494" idx="4"/>
            <a:endCxn id="491" idx="7"/>
          </p:cNvCxnSpPr>
          <p:nvPr/>
        </p:nvCxnSpPr>
        <p:spPr>
          <a:xfrm flipH="1">
            <a:off x="7886638" y="3590138"/>
            <a:ext cx="382800" cy="562500"/>
          </a:xfrm>
          <a:prstGeom prst="straightConnector1">
            <a:avLst/>
          </a:prstGeom>
          <a:noFill/>
          <a:ln cap="flat" cmpd="sng" w="19050">
            <a:solidFill>
              <a:srgbClr val="FF0000"/>
            </a:solidFill>
            <a:prstDash val="solid"/>
            <a:round/>
            <a:headEnd len="med" w="med" type="triangle"/>
            <a:tailEnd len="med" w="med" type="none"/>
          </a:ln>
        </p:spPr>
      </p:cxnSp>
      <p:sp>
        <p:nvSpPr>
          <p:cNvPr id="498" name="Google Shape;498;p30"/>
          <p:cNvSpPr txBox="1"/>
          <p:nvPr/>
        </p:nvSpPr>
        <p:spPr>
          <a:xfrm>
            <a:off x="6698745" y="4602600"/>
            <a:ext cx="1135500" cy="24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Time 2</a:t>
            </a:r>
            <a:endParaRPr>
              <a:latin typeface="Open Sans"/>
              <a:ea typeface="Open Sans"/>
              <a:cs typeface="Open Sans"/>
              <a:sym typeface="Open Sans"/>
            </a:endParaRPr>
          </a:p>
        </p:txBody>
      </p:sp>
      <p:sp>
        <p:nvSpPr>
          <p:cNvPr id="499" name="Google Shape;499;p30"/>
          <p:cNvSpPr/>
          <p:nvPr/>
        </p:nvSpPr>
        <p:spPr>
          <a:xfrm>
            <a:off x="6169563" y="4110313"/>
            <a:ext cx="366000" cy="356100"/>
          </a:xfrm>
          <a:prstGeom prst="ellipse">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30"/>
          <p:cNvSpPr/>
          <p:nvPr/>
        </p:nvSpPr>
        <p:spPr>
          <a:xfrm>
            <a:off x="3818050" y="3706900"/>
            <a:ext cx="1355100" cy="708600"/>
          </a:xfrm>
          <a:prstGeom prst="striped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01" name="Google Shape;501;p30"/>
          <p:cNvCxnSpPr>
            <a:stCxn id="491" idx="2"/>
            <a:endCxn id="499" idx="6"/>
          </p:cNvCxnSpPr>
          <p:nvPr/>
        </p:nvCxnSpPr>
        <p:spPr>
          <a:xfrm flipH="1">
            <a:off x="6535513" y="4278488"/>
            <a:ext cx="1038600" cy="9900"/>
          </a:xfrm>
          <a:prstGeom prst="straightConnector1">
            <a:avLst/>
          </a:prstGeom>
          <a:noFill/>
          <a:ln cap="flat" cmpd="sng" w="19050">
            <a:solidFill>
              <a:srgbClr val="FF0000"/>
            </a:solidFill>
            <a:prstDash val="solid"/>
            <a:round/>
            <a:headEnd len="med" w="med" type="triangle"/>
            <a:tailEnd len="med" w="med" type="none"/>
          </a:ln>
        </p:spPr>
      </p:cxnSp>
      <p:sp>
        <p:nvSpPr>
          <p:cNvPr id="502" name="Google Shape;502;p30"/>
          <p:cNvSpPr txBox="1"/>
          <p:nvPr/>
        </p:nvSpPr>
        <p:spPr>
          <a:xfrm>
            <a:off x="2937725" y="4510450"/>
            <a:ext cx="2908200" cy="35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rgbClr val="FF0000"/>
                </a:solidFill>
                <a:latin typeface="Open Sans"/>
                <a:ea typeface="Open Sans"/>
                <a:cs typeface="Open Sans"/>
                <a:sym typeface="Open Sans"/>
              </a:rPr>
              <a:t>Bullies get bullied!</a:t>
            </a:r>
            <a:endParaRPr b="1">
              <a:solidFill>
                <a:srgbClr val="FF0000"/>
              </a:solidFill>
              <a:latin typeface="Open Sans"/>
              <a:ea typeface="Open Sans"/>
              <a:cs typeface="Open Sans"/>
              <a:sym typeface="Open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31"/>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Valenced interactions: Karma theory</a:t>
            </a:r>
            <a:endParaRPr/>
          </a:p>
        </p:txBody>
      </p:sp>
      <p:sp>
        <p:nvSpPr>
          <p:cNvPr id="508" name="Google Shape;508;p31"/>
          <p:cNvSpPr txBox="1"/>
          <p:nvPr>
            <p:ph idx="1" type="body"/>
          </p:nvPr>
        </p:nvSpPr>
        <p:spPr>
          <a:xfrm>
            <a:off x="311700" y="1225225"/>
            <a:ext cx="8697000" cy="21873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
              <a:t>Karma Theory: </a:t>
            </a:r>
            <a:r>
              <a:rPr lang="en"/>
              <a:t>You get what you spread out!</a:t>
            </a:r>
            <a:endParaRPr/>
          </a:p>
          <a:p>
            <a:pPr indent="-317500" lvl="1" marL="914400" rtl="0" algn="l">
              <a:spcBef>
                <a:spcPts val="0"/>
              </a:spcBef>
              <a:spcAft>
                <a:spcPts val="0"/>
              </a:spcAft>
              <a:buSzPts val="1400"/>
              <a:buChar char="○"/>
            </a:pPr>
            <a:r>
              <a:rPr lang="en"/>
              <a:t>Status theory is based on (negative and positive) </a:t>
            </a:r>
            <a:r>
              <a:rPr b="1" lang="en"/>
              <a:t>popularity</a:t>
            </a:r>
            <a:endParaRPr b="1"/>
          </a:p>
          <a:p>
            <a:pPr indent="-317500" lvl="2" marL="1371600" rtl="0" algn="l">
              <a:spcBef>
                <a:spcPts val="0"/>
              </a:spcBef>
              <a:spcAft>
                <a:spcPts val="0"/>
              </a:spcAft>
              <a:buSzPts val="1400"/>
              <a:buChar char="■"/>
            </a:pPr>
            <a:r>
              <a:rPr lang="en"/>
              <a:t>Graph theoretic </a:t>
            </a:r>
            <a:r>
              <a:rPr i="1" lang="en"/>
              <a:t>indegree</a:t>
            </a:r>
            <a:r>
              <a:rPr lang="en"/>
              <a:t> centrality</a:t>
            </a:r>
            <a:endParaRPr/>
          </a:p>
          <a:p>
            <a:pPr indent="-317500" lvl="1" marL="914400" rtl="0" algn="l">
              <a:spcBef>
                <a:spcPts val="0"/>
              </a:spcBef>
              <a:spcAft>
                <a:spcPts val="0"/>
              </a:spcAft>
              <a:buSzPts val="1400"/>
              <a:buChar char="○"/>
            </a:pPr>
            <a:r>
              <a:rPr lang="en"/>
              <a:t>Karma theory is based on (negative and positive) </a:t>
            </a:r>
            <a:r>
              <a:rPr b="1" lang="en"/>
              <a:t>activity</a:t>
            </a:r>
            <a:endParaRPr b="1"/>
          </a:p>
          <a:p>
            <a:pPr indent="-317500" lvl="2" marL="1371600" rtl="0" algn="l">
              <a:spcBef>
                <a:spcPts val="0"/>
              </a:spcBef>
              <a:spcAft>
                <a:spcPts val="0"/>
              </a:spcAft>
              <a:buSzPts val="1400"/>
              <a:buChar char="■"/>
            </a:pPr>
            <a:r>
              <a:rPr lang="en"/>
              <a:t>Predict valenced indegree (what you get) from valenced outdegree (what you spread)</a:t>
            </a:r>
            <a:endParaRPr b="1"/>
          </a:p>
        </p:txBody>
      </p:sp>
      <p:sp>
        <p:nvSpPr>
          <p:cNvPr id="509" name="Google Shape;509;p31"/>
          <p:cNvSpPr/>
          <p:nvPr/>
        </p:nvSpPr>
        <p:spPr>
          <a:xfrm>
            <a:off x="8027125" y="86350"/>
            <a:ext cx="981600" cy="1179600"/>
          </a:xfrm>
          <a:prstGeom prst="rect">
            <a:avLst/>
          </a:prstGeom>
          <a:noFill/>
          <a:ln cap="flat" cmpd="sng" w="19050">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31"/>
          <p:cNvSpPr/>
          <p:nvPr/>
        </p:nvSpPr>
        <p:spPr>
          <a:xfrm>
            <a:off x="8192860" y="472152"/>
            <a:ext cx="191400" cy="1932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31"/>
          <p:cNvSpPr/>
          <p:nvPr/>
        </p:nvSpPr>
        <p:spPr>
          <a:xfrm>
            <a:off x="8192860" y="216793"/>
            <a:ext cx="191400" cy="19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12" name="Google Shape;512;p31"/>
          <p:cNvCxnSpPr/>
          <p:nvPr/>
        </p:nvCxnSpPr>
        <p:spPr>
          <a:xfrm flipH="1" rot="10800000">
            <a:off x="8124842" y="847730"/>
            <a:ext cx="327600" cy="5700"/>
          </a:xfrm>
          <a:prstGeom prst="straightConnector1">
            <a:avLst/>
          </a:prstGeom>
          <a:noFill/>
          <a:ln cap="flat" cmpd="sng" w="38100">
            <a:solidFill>
              <a:srgbClr val="FF0000"/>
            </a:solidFill>
            <a:prstDash val="solid"/>
            <a:round/>
            <a:headEnd len="med" w="med" type="none"/>
            <a:tailEnd len="med" w="med" type="triangle"/>
          </a:ln>
        </p:spPr>
      </p:cxnSp>
      <p:cxnSp>
        <p:nvCxnSpPr>
          <p:cNvPr id="513" name="Google Shape;513;p31"/>
          <p:cNvCxnSpPr/>
          <p:nvPr/>
        </p:nvCxnSpPr>
        <p:spPr>
          <a:xfrm flipH="1" rot="10800000">
            <a:off x="8124842" y="1076729"/>
            <a:ext cx="327600" cy="5700"/>
          </a:xfrm>
          <a:prstGeom prst="straightConnector1">
            <a:avLst/>
          </a:prstGeom>
          <a:noFill/>
          <a:ln cap="flat" cmpd="sng" w="38100">
            <a:solidFill>
              <a:srgbClr val="6AA84F"/>
            </a:solidFill>
            <a:prstDash val="solid"/>
            <a:round/>
            <a:headEnd len="med" w="med" type="none"/>
            <a:tailEnd len="med" w="med" type="triangle"/>
          </a:ln>
        </p:spPr>
      </p:cxnSp>
      <p:sp>
        <p:nvSpPr>
          <p:cNvPr id="514" name="Google Shape;514;p31"/>
          <p:cNvSpPr txBox="1"/>
          <p:nvPr/>
        </p:nvSpPr>
        <p:spPr>
          <a:xfrm>
            <a:off x="8384249" y="151200"/>
            <a:ext cx="676500" cy="1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sz="1100">
                <a:latin typeface="Comfortaa"/>
                <a:ea typeface="Comfortaa"/>
                <a:cs typeface="Comfortaa"/>
                <a:sym typeface="Comfortaa"/>
              </a:rPr>
              <a:t>Ego</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Other</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Neg.</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Pos.</a:t>
            </a:r>
            <a:endParaRPr b="1" sz="1100">
              <a:latin typeface="Comfortaa"/>
              <a:ea typeface="Comfortaa"/>
              <a:cs typeface="Comfortaa"/>
              <a:sym typeface="Comfortaa"/>
            </a:endParaRPr>
          </a:p>
        </p:txBody>
      </p:sp>
      <p:sp>
        <p:nvSpPr>
          <p:cNvPr id="515" name="Google Shape;515;p31"/>
          <p:cNvSpPr/>
          <p:nvPr/>
        </p:nvSpPr>
        <p:spPr>
          <a:xfrm>
            <a:off x="1989375" y="4236613"/>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31"/>
          <p:cNvSpPr/>
          <p:nvPr/>
        </p:nvSpPr>
        <p:spPr>
          <a:xfrm>
            <a:off x="1498750" y="3370213"/>
            <a:ext cx="366000" cy="356100"/>
          </a:xfrm>
          <a:prstGeom prst="ellipse">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31"/>
          <p:cNvSpPr/>
          <p:nvPr/>
        </p:nvSpPr>
        <p:spPr>
          <a:xfrm>
            <a:off x="1989363" y="3370213"/>
            <a:ext cx="366000" cy="356100"/>
          </a:xfrm>
          <a:prstGeom prst="ellipse">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31"/>
          <p:cNvSpPr/>
          <p:nvPr/>
        </p:nvSpPr>
        <p:spPr>
          <a:xfrm>
            <a:off x="2501700" y="3370213"/>
            <a:ext cx="366000" cy="356100"/>
          </a:xfrm>
          <a:prstGeom prst="ellipse">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19" name="Google Shape;519;p31"/>
          <p:cNvCxnSpPr>
            <a:stCxn id="516" idx="4"/>
            <a:endCxn id="515" idx="1"/>
          </p:cNvCxnSpPr>
          <p:nvPr/>
        </p:nvCxnSpPr>
        <p:spPr>
          <a:xfrm>
            <a:off x="1681750" y="3726313"/>
            <a:ext cx="361200" cy="562500"/>
          </a:xfrm>
          <a:prstGeom prst="straightConnector1">
            <a:avLst/>
          </a:prstGeom>
          <a:noFill/>
          <a:ln cap="flat" cmpd="sng" w="19050">
            <a:solidFill>
              <a:srgbClr val="6AA84F"/>
            </a:solidFill>
            <a:prstDash val="solid"/>
            <a:round/>
            <a:headEnd len="med" w="med" type="triangle"/>
            <a:tailEnd len="med" w="med" type="none"/>
          </a:ln>
        </p:spPr>
      </p:cxnSp>
      <p:cxnSp>
        <p:nvCxnSpPr>
          <p:cNvPr id="520" name="Google Shape;520;p31"/>
          <p:cNvCxnSpPr>
            <a:stCxn id="517" idx="4"/>
            <a:endCxn id="515" idx="0"/>
          </p:cNvCxnSpPr>
          <p:nvPr/>
        </p:nvCxnSpPr>
        <p:spPr>
          <a:xfrm>
            <a:off x="2172363" y="3726313"/>
            <a:ext cx="0" cy="510300"/>
          </a:xfrm>
          <a:prstGeom prst="straightConnector1">
            <a:avLst/>
          </a:prstGeom>
          <a:noFill/>
          <a:ln cap="flat" cmpd="sng" w="19050">
            <a:solidFill>
              <a:srgbClr val="6AA84F"/>
            </a:solidFill>
            <a:prstDash val="solid"/>
            <a:round/>
            <a:headEnd len="med" w="med" type="triangle"/>
            <a:tailEnd len="med" w="med" type="none"/>
          </a:ln>
        </p:spPr>
      </p:cxnSp>
      <p:cxnSp>
        <p:nvCxnSpPr>
          <p:cNvPr id="521" name="Google Shape;521;p31"/>
          <p:cNvCxnSpPr>
            <a:stCxn id="518" idx="4"/>
            <a:endCxn id="515" idx="7"/>
          </p:cNvCxnSpPr>
          <p:nvPr/>
        </p:nvCxnSpPr>
        <p:spPr>
          <a:xfrm flipH="1">
            <a:off x="2301900" y="3726313"/>
            <a:ext cx="382800" cy="562500"/>
          </a:xfrm>
          <a:prstGeom prst="straightConnector1">
            <a:avLst/>
          </a:prstGeom>
          <a:noFill/>
          <a:ln cap="flat" cmpd="sng" w="19050">
            <a:solidFill>
              <a:srgbClr val="6AA84F"/>
            </a:solidFill>
            <a:prstDash val="solid"/>
            <a:round/>
            <a:headEnd len="med" w="med" type="triangle"/>
            <a:tailEnd len="med" w="med" type="none"/>
          </a:ln>
        </p:spPr>
      </p:cxnSp>
      <p:sp>
        <p:nvSpPr>
          <p:cNvPr id="522" name="Google Shape;522;p31"/>
          <p:cNvSpPr txBox="1"/>
          <p:nvPr/>
        </p:nvSpPr>
        <p:spPr>
          <a:xfrm>
            <a:off x="1114000" y="4670725"/>
            <a:ext cx="1135500" cy="24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Time 1</a:t>
            </a:r>
            <a:endParaRPr>
              <a:latin typeface="Open Sans"/>
              <a:ea typeface="Open Sans"/>
              <a:cs typeface="Open Sans"/>
              <a:sym typeface="Open Sans"/>
            </a:endParaRPr>
          </a:p>
        </p:txBody>
      </p:sp>
      <p:sp>
        <p:nvSpPr>
          <p:cNvPr id="523" name="Google Shape;523;p31"/>
          <p:cNvSpPr/>
          <p:nvPr/>
        </p:nvSpPr>
        <p:spPr>
          <a:xfrm>
            <a:off x="584825" y="4246488"/>
            <a:ext cx="366000" cy="356100"/>
          </a:xfrm>
          <a:prstGeom prst="ellipse">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31"/>
          <p:cNvSpPr/>
          <p:nvPr/>
        </p:nvSpPr>
        <p:spPr>
          <a:xfrm>
            <a:off x="7574113" y="4100438"/>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31"/>
          <p:cNvSpPr/>
          <p:nvPr/>
        </p:nvSpPr>
        <p:spPr>
          <a:xfrm>
            <a:off x="7083488" y="3234038"/>
            <a:ext cx="366000" cy="356100"/>
          </a:xfrm>
          <a:prstGeom prst="ellipse">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31"/>
          <p:cNvSpPr/>
          <p:nvPr/>
        </p:nvSpPr>
        <p:spPr>
          <a:xfrm>
            <a:off x="7574100" y="3234038"/>
            <a:ext cx="366000" cy="356100"/>
          </a:xfrm>
          <a:prstGeom prst="ellipse">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31"/>
          <p:cNvSpPr/>
          <p:nvPr/>
        </p:nvSpPr>
        <p:spPr>
          <a:xfrm>
            <a:off x="8086438" y="3234038"/>
            <a:ext cx="366000" cy="356100"/>
          </a:xfrm>
          <a:prstGeom prst="ellipse">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28" name="Google Shape;528;p31"/>
          <p:cNvCxnSpPr>
            <a:stCxn id="525" idx="4"/>
            <a:endCxn id="524" idx="1"/>
          </p:cNvCxnSpPr>
          <p:nvPr/>
        </p:nvCxnSpPr>
        <p:spPr>
          <a:xfrm>
            <a:off x="7266488" y="3590138"/>
            <a:ext cx="361200" cy="562500"/>
          </a:xfrm>
          <a:prstGeom prst="straightConnector1">
            <a:avLst/>
          </a:prstGeom>
          <a:noFill/>
          <a:ln cap="flat" cmpd="sng" w="19050">
            <a:solidFill>
              <a:srgbClr val="6AA84F"/>
            </a:solidFill>
            <a:prstDash val="solid"/>
            <a:round/>
            <a:headEnd len="med" w="med" type="triangle"/>
            <a:tailEnd len="med" w="med" type="none"/>
          </a:ln>
        </p:spPr>
      </p:cxnSp>
      <p:cxnSp>
        <p:nvCxnSpPr>
          <p:cNvPr id="529" name="Google Shape;529;p31"/>
          <p:cNvCxnSpPr>
            <a:stCxn id="526" idx="4"/>
            <a:endCxn id="524" idx="0"/>
          </p:cNvCxnSpPr>
          <p:nvPr/>
        </p:nvCxnSpPr>
        <p:spPr>
          <a:xfrm>
            <a:off x="7757100" y="3590138"/>
            <a:ext cx="0" cy="510300"/>
          </a:xfrm>
          <a:prstGeom prst="straightConnector1">
            <a:avLst/>
          </a:prstGeom>
          <a:noFill/>
          <a:ln cap="flat" cmpd="sng" w="19050">
            <a:solidFill>
              <a:srgbClr val="6AA84F"/>
            </a:solidFill>
            <a:prstDash val="solid"/>
            <a:round/>
            <a:headEnd len="med" w="med" type="triangle"/>
            <a:tailEnd len="med" w="med" type="none"/>
          </a:ln>
        </p:spPr>
      </p:cxnSp>
      <p:cxnSp>
        <p:nvCxnSpPr>
          <p:cNvPr id="530" name="Google Shape;530;p31"/>
          <p:cNvCxnSpPr>
            <a:stCxn id="527" idx="4"/>
            <a:endCxn id="524" idx="7"/>
          </p:cNvCxnSpPr>
          <p:nvPr/>
        </p:nvCxnSpPr>
        <p:spPr>
          <a:xfrm flipH="1">
            <a:off x="7886638" y="3590138"/>
            <a:ext cx="382800" cy="562500"/>
          </a:xfrm>
          <a:prstGeom prst="straightConnector1">
            <a:avLst/>
          </a:prstGeom>
          <a:noFill/>
          <a:ln cap="flat" cmpd="sng" w="19050">
            <a:solidFill>
              <a:srgbClr val="6AA84F"/>
            </a:solidFill>
            <a:prstDash val="solid"/>
            <a:round/>
            <a:headEnd len="med" w="med" type="triangle"/>
            <a:tailEnd len="med" w="med" type="none"/>
          </a:ln>
        </p:spPr>
      </p:cxnSp>
      <p:sp>
        <p:nvSpPr>
          <p:cNvPr id="531" name="Google Shape;531;p31"/>
          <p:cNvSpPr txBox="1"/>
          <p:nvPr/>
        </p:nvSpPr>
        <p:spPr>
          <a:xfrm>
            <a:off x="6698745" y="4602600"/>
            <a:ext cx="1135500" cy="24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Time 2</a:t>
            </a:r>
            <a:endParaRPr>
              <a:latin typeface="Open Sans"/>
              <a:ea typeface="Open Sans"/>
              <a:cs typeface="Open Sans"/>
              <a:sym typeface="Open Sans"/>
            </a:endParaRPr>
          </a:p>
        </p:txBody>
      </p:sp>
      <p:sp>
        <p:nvSpPr>
          <p:cNvPr id="532" name="Google Shape;532;p31"/>
          <p:cNvSpPr/>
          <p:nvPr/>
        </p:nvSpPr>
        <p:spPr>
          <a:xfrm>
            <a:off x="6169563" y="4110313"/>
            <a:ext cx="366000" cy="356100"/>
          </a:xfrm>
          <a:prstGeom prst="ellipse">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31"/>
          <p:cNvSpPr/>
          <p:nvPr/>
        </p:nvSpPr>
        <p:spPr>
          <a:xfrm>
            <a:off x="3818050" y="3706900"/>
            <a:ext cx="1355100" cy="708600"/>
          </a:xfrm>
          <a:prstGeom prst="striped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34" name="Google Shape;534;p31"/>
          <p:cNvCxnSpPr>
            <a:stCxn id="524" idx="2"/>
            <a:endCxn id="532" idx="6"/>
          </p:cNvCxnSpPr>
          <p:nvPr/>
        </p:nvCxnSpPr>
        <p:spPr>
          <a:xfrm flipH="1">
            <a:off x="6535513" y="4278488"/>
            <a:ext cx="1038600" cy="9900"/>
          </a:xfrm>
          <a:prstGeom prst="straightConnector1">
            <a:avLst/>
          </a:prstGeom>
          <a:noFill/>
          <a:ln cap="flat" cmpd="sng" w="19050">
            <a:solidFill>
              <a:srgbClr val="6AA84F"/>
            </a:solidFill>
            <a:prstDash val="solid"/>
            <a:round/>
            <a:headEnd len="med" w="med" type="triangle"/>
            <a:tailEnd len="med" w="med" type="none"/>
          </a:ln>
        </p:spPr>
      </p:cxnSp>
      <p:sp>
        <p:nvSpPr>
          <p:cNvPr id="535" name="Google Shape;535;p31"/>
          <p:cNvSpPr txBox="1"/>
          <p:nvPr/>
        </p:nvSpPr>
        <p:spPr>
          <a:xfrm>
            <a:off x="2937725" y="4510450"/>
            <a:ext cx="2908200" cy="35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rgbClr val="6AA84F"/>
                </a:solidFill>
                <a:latin typeface="Open Sans"/>
                <a:ea typeface="Open Sans"/>
                <a:cs typeface="Open Sans"/>
                <a:sym typeface="Open Sans"/>
              </a:rPr>
              <a:t>Likers get liked!</a:t>
            </a:r>
            <a:endParaRPr b="1">
              <a:solidFill>
                <a:srgbClr val="6AA84F"/>
              </a:solidFill>
              <a:latin typeface="Open Sans"/>
              <a:ea typeface="Open Sans"/>
              <a:cs typeface="Open Sans"/>
              <a:sym typeface="Open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32"/>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Valenced interactions: Solidarity theory</a:t>
            </a:r>
            <a:endParaRPr/>
          </a:p>
        </p:txBody>
      </p:sp>
      <p:sp>
        <p:nvSpPr>
          <p:cNvPr id="541" name="Google Shape;541;p32"/>
          <p:cNvSpPr txBox="1"/>
          <p:nvPr>
            <p:ph idx="1" type="body"/>
          </p:nvPr>
        </p:nvSpPr>
        <p:spPr>
          <a:xfrm>
            <a:off x="311700" y="1225225"/>
            <a:ext cx="8697000" cy="17217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
              <a:t>Solidarity Theory</a:t>
            </a:r>
            <a:endParaRPr b="1"/>
          </a:p>
          <a:p>
            <a:pPr indent="-317500" lvl="1" marL="914400" rtl="0" algn="l">
              <a:spcBef>
                <a:spcPts val="0"/>
              </a:spcBef>
              <a:spcAft>
                <a:spcPts val="0"/>
              </a:spcAft>
              <a:buSzPts val="1400"/>
              <a:buChar char="○"/>
            </a:pPr>
            <a:r>
              <a:rPr lang="en"/>
              <a:t>People in the same</a:t>
            </a:r>
            <a:r>
              <a:rPr b="1" lang="en"/>
              <a:t> position in the </a:t>
            </a:r>
            <a:r>
              <a:rPr b="1" lang="en"/>
              <a:t>valenced</a:t>
            </a:r>
            <a:r>
              <a:rPr b="1" lang="en"/>
              <a:t> </a:t>
            </a:r>
            <a:r>
              <a:rPr b="1" lang="en"/>
              <a:t>interaction</a:t>
            </a:r>
            <a:r>
              <a:rPr b="1" lang="en"/>
              <a:t> network</a:t>
            </a:r>
            <a:r>
              <a:rPr lang="en"/>
              <a:t> are likely to link via positive ties</a:t>
            </a:r>
            <a:endParaRPr/>
          </a:p>
          <a:p>
            <a:pPr indent="-342900" lvl="0" marL="457200" rtl="0" algn="l">
              <a:spcBef>
                <a:spcPts val="0"/>
              </a:spcBef>
              <a:spcAft>
                <a:spcPts val="0"/>
              </a:spcAft>
              <a:buSzPts val="1800"/>
              <a:buChar char="●"/>
            </a:pPr>
            <a:r>
              <a:rPr lang="en"/>
              <a:t>Two types of solidarity:</a:t>
            </a:r>
            <a:endParaRPr/>
          </a:p>
          <a:p>
            <a:pPr indent="-317500" lvl="1" marL="914400" rtl="0" algn="l">
              <a:spcBef>
                <a:spcPts val="0"/>
              </a:spcBef>
              <a:spcAft>
                <a:spcPts val="0"/>
              </a:spcAft>
              <a:buSzPts val="1400"/>
              <a:buChar char="○"/>
            </a:pPr>
            <a:r>
              <a:rPr lang="en"/>
              <a:t>Status solidarity</a:t>
            </a:r>
            <a:endParaRPr/>
          </a:p>
          <a:p>
            <a:pPr indent="-317500" lvl="1" marL="914400" rtl="0" algn="l">
              <a:spcBef>
                <a:spcPts val="0"/>
              </a:spcBef>
              <a:spcAft>
                <a:spcPts val="0"/>
              </a:spcAft>
              <a:buSzPts val="1400"/>
              <a:buChar char="○"/>
            </a:pPr>
            <a:r>
              <a:rPr lang="en"/>
              <a:t>Karma solidarity</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sp>
        <p:nvSpPr>
          <p:cNvPr id="542" name="Google Shape;542;p32"/>
          <p:cNvSpPr/>
          <p:nvPr/>
        </p:nvSpPr>
        <p:spPr>
          <a:xfrm>
            <a:off x="8027125" y="86350"/>
            <a:ext cx="981600" cy="1179600"/>
          </a:xfrm>
          <a:prstGeom prst="rect">
            <a:avLst/>
          </a:prstGeom>
          <a:noFill/>
          <a:ln cap="flat" cmpd="sng" w="19050">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32"/>
          <p:cNvSpPr/>
          <p:nvPr/>
        </p:nvSpPr>
        <p:spPr>
          <a:xfrm>
            <a:off x="8192860" y="472152"/>
            <a:ext cx="191400" cy="1932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32"/>
          <p:cNvSpPr/>
          <p:nvPr/>
        </p:nvSpPr>
        <p:spPr>
          <a:xfrm>
            <a:off x="8192860" y="216793"/>
            <a:ext cx="191400" cy="19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45" name="Google Shape;545;p32"/>
          <p:cNvCxnSpPr/>
          <p:nvPr/>
        </p:nvCxnSpPr>
        <p:spPr>
          <a:xfrm flipH="1" rot="10800000">
            <a:off x="8124842" y="847730"/>
            <a:ext cx="327600" cy="5700"/>
          </a:xfrm>
          <a:prstGeom prst="straightConnector1">
            <a:avLst/>
          </a:prstGeom>
          <a:noFill/>
          <a:ln cap="flat" cmpd="sng" w="38100">
            <a:solidFill>
              <a:srgbClr val="FF0000"/>
            </a:solidFill>
            <a:prstDash val="solid"/>
            <a:round/>
            <a:headEnd len="med" w="med" type="none"/>
            <a:tailEnd len="med" w="med" type="triangle"/>
          </a:ln>
        </p:spPr>
      </p:cxnSp>
      <p:cxnSp>
        <p:nvCxnSpPr>
          <p:cNvPr id="546" name="Google Shape;546;p32"/>
          <p:cNvCxnSpPr/>
          <p:nvPr/>
        </p:nvCxnSpPr>
        <p:spPr>
          <a:xfrm flipH="1" rot="10800000">
            <a:off x="8124842" y="1076729"/>
            <a:ext cx="327600" cy="5700"/>
          </a:xfrm>
          <a:prstGeom prst="straightConnector1">
            <a:avLst/>
          </a:prstGeom>
          <a:noFill/>
          <a:ln cap="flat" cmpd="sng" w="38100">
            <a:solidFill>
              <a:srgbClr val="6AA84F"/>
            </a:solidFill>
            <a:prstDash val="solid"/>
            <a:round/>
            <a:headEnd len="med" w="med" type="none"/>
            <a:tailEnd len="med" w="med" type="triangle"/>
          </a:ln>
        </p:spPr>
      </p:cxnSp>
      <p:sp>
        <p:nvSpPr>
          <p:cNvPr id="547" name="Google Shape;547;p32"/>
          <p:cNvSpPr txBox="1"/>
          <p:nvPr/>
        </p:nvSpPr>
        <p:spPr>
          <a:xfrm>
            <a:off x="8384249" y="151200"/>
            <a:ext cx="676500" cy="1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sz="1100">
                <a:latin typeface="Comfortaa"/>
                <a:ea typeface="Comfortaa"/>
                <a:cs typeface="Comfortaa"/>
                <a:sym typeface="Comfortaa"/>
              </a:rPr>
              <a:t>Ego</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Other</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Neg.</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Pos.</a:t>
            </a:r>
            <a:endParaRPr b="1" sz="1100">
              <a:latin typeface="Comfortaa"/>
              <a:ea typeface="Comfortaa"/>
              <a:cs typeface="Comfortaa"/>
              <a:sym typeface="Comfortaa"/>
            </a:endParaRPr>
          </a:p>
        </p:txBody>
      </p:sp>
      <p:sp>
        <p:nvSpPr>
          <p:cNvPr id="548" name="Google Shape;548;p32"/>
          <p:cNvSpPr txBox="1"/>
          <p:nvPr/>
        </p:nvSpPr>
        <p:spPr>
          <a:xfrm>
            <a:off x="1114000" y="4670725"/>
            <a:ext cx="1135500" cy="24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Time 1</a:t>
            </a:r>
            <a:endParaRPr>
              <a:latin typeface="Open Sans"/>
              <a:ea typeface="Open Sans"/>
              <a:cs typeface="Open Sans"/>
              <a:sym typeface="Open Sans"/>
            </a:endParaRPr>
          </a:p>
        </p:txBody>
      </p:sp>
      <p:sp>
        <p:nvSpPr>
          <p:cNvPr id="549" name="Google Shape;549;p32"/>
          <p:cNvSpPr txBox="1"/>
          <p:nvPr/>
        </p:nvSpPr>
        <p:spPr>
          <a:xfrm>
            <a:off x="6698745" y="4602600"/>
            <a:ext cx="1135500" cy="24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Time 2</a:t>
            </a:r>
            <a:endParaRPr>
              <a:latin typeface="Open Sans"/>
              <a:ea typeface="Open Sans"/>
              <a:cs typeface="Open Sans"/>
              <a:sym typeface="Open Sans"/>
            </a:endParaRPr>
          </a:p>
        </p:txBody>
      </p:sp>
      <p:sp>
        <p:nvSpPr>
          <p:cNvPr id="550" name="Google Shape;550;p32"/>
          <p:cNvSpPr/>
          <p:nvPr/>
        </p:nvSpPr>
        <p:spPr>
          <a:xfrm>
            <a:off x="3818050" y="3706900"/>
            <a:ext cx="1355100" cy="708600"/>
          </a:xfrm>
          <a:prstGeom prst="striped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32"/>
          <p:cNvSpPr/>
          <p:nvPr/>
        </p:nvSpPr>
        <p:spPr>
          <a:xfrm>
            <a:off x="1034750" y="4204225"/>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32"/>
          <p:cNvSpPr/>
          <p:nvPr/>
        </p:nvSpPr>
        <p:spPr>
          <a:xfrm>
            <a:off x="544125" y="33378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32"/>
          <p:cNvSpPr/>
          <p:nvPr/>
        </p:nvSpPr>
        <p:spPr>
          <a:xfrm>
            <a:off x="1034738" y="33378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32"/>
          <p:cNvSpPr/>
          <p:nvPr/>
        </p:nvSpPr>
        <p:spPr>
          <a:xfrm>
            <a:off x="1547075" y="33378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55" name="Google Shape;555;p32"/>
          <p:cNvCxnSpPr>
            <a:stCxn id="552" idx="4"/>
            <a:endCxn id="551" idx="1"/>
          </p:cNvCxnSpPr>
          <p:nvPr/>
        </p:nvCxnSpPr>
        <p:spPr>
          <a:xfrm>
            <a:off x="727125" y="3693925"/>
            <a:ext cx="361200" cy="562500"/>
          </a:xfrm>
          <a:prstGeom prst="straightConnector1">
            <a:avLst/>
          </a:prstGeom>
          <a:noFill/>
          <a:ln cap="flat" cmpd="sng" w="19050">
            <a:solidFill>
              <a:srgbClr val="6AA84F"/>
            </a:solidFill>
            <a:prstDash val="solid"/>
            <a:round/>
            <a:headEnd len="med" w="med" type="none"/>
            <a:tailEnd len="med" w="med" type="triangle"/>
          </a:ln>
        </p:spPr>
      </p:cxnSp>
      <p:cxnSp>
        <p:nvCxnSpPr>
          <p:cNvPr id="556" name="Google Shape;556;p32"/>
          <p:cNvCxnSpPr>
            <a:stCxn id="553" idx="4"/>
            <a:endCxn id="551" idx="0"/>
          </p:cNvCxnSpPr>
          <p:nvPr/>
        </p:nvCxnSpPr>
        <p:spPr>
          <a:xfrm>
            <a:off x="1217738" y="3693925"/>
            <a:ext cx="0" cy="510300"/>
          </a:xfrm>
          <a:prstGeom prst="straightConnector1">
            <a:avLst/>
          </a:prstGeom>
          <a:noFill/>
          <a:ln cap="flat" cmpd="sng" w="19050">
            <a:solidFill>
              <a:srgbClr val="6AA84F"/>
            </a:solidFill>
            <a:prstDash val="solid"/>
            <a:round/>
            <a:headEnd len="med" w="med" type="none"/>
            <a:tailEnd len="med" w="med" type="triangle"/>
          </a:ln>
        </p:spPr>
      </p:cxnSp>
      <p:cxnSp>
        <p:nvCxnSpPr>
          <p:cNvPr id="557" name="Google Shape;557;p32"/>
          <p:cNvCxnSpPr>
            <a:stCxn id="554" idx="4"/>
            <a:endCxn id="551" idx="7"/>
          </p:cNvCxnSpPr>
          <p:nvPr/>
        </p:nvCxnSpPr>
        <p:spPr>
          <a:xfrm flipH="1">
            <a:off x="1347275" y="3693925"/>
            <a:ext cx="382800" cy="562500"/>
          </a:xfrm>
          <a:prstGeom prst="straightConnector1">
            <a:avLst/>
          </a:prstGeom>
          <a:noFill/>
          <a:ln cap="flat" cmpd="sng" w="19050">
            <a:solidFill>
              <a:srgbClr val="6AA84F"/>
            </a:solidFill>
            <a:prstDash val="solid"/>
            <a:round/>
            <a:headEnd len="med" w="med" type="none"/>
            <a:tailEnd len="med" w="med" type="triangle"/>
          </a:ln>
        </p:spPr>
      </p:cxnSp>
      <p:sp>
        <p:nvSpPr>
          <p:cNvPr id="558" name="Google Shape;558;p32"/>
          <p:cNvSpPr/>
          <p:nvPr/>
        </p:nvSpPr>
        <p:spPr>
          <a:xfrm>
            <a:off x="2059400" y="4204225"/>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32"/>
          <p:cNvSpPr/>
          <p:nvPr/>
        </p:nvSpPr>
        <p:spPr>
          <a:xfrm>
            <a:off x="2059400" y="33378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32"/>
          <p:cNvSpPr/>
          <p:nvPr/>
        </p:nvSpPr>
        <p:spPr>
          <a:xfrm>
            <a:off x="2571725" y="33378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61" name="Google Shape;561;p32"/>
          <p:cNvCxnSpPr>
            <a:stCxn id="554" idx="4"/>
            <a:endCxn id="558" idx="1"/>
          </p:cNvCxnSpPr>
          <p:nvPr/>
        </p:nvCxnSpPr>
        <p:spPr>
          <a:xfrm>
            <a:off x="1730075" y="3693925"/>
            <a:ext cx="382800" cy="562500"/>
          </a:xfrm>
          <a:prstGeom prst="straightConnector1">
            <a:avLst/>
          </a:prstGeom>
          <a:noFill/>
          <a:ln cap="flat" cmpd="sng" w="19050">
            <a:solidFill>
              <a:srgbClr val="6AA84F"/>
            </a:solidFill>
            <a:prstDash val="solid"/>
            <a:round/>
            <a:headEnd len="med" w="med" type="none"/>
            <a:tailEnd len="med" w="med" type="triangle"/>
          </a:ln>
        </p:spPr>
      </p:cxnSp>
      <p:cxnSp>
        <p:nvCxnSpPr>
          <p:cNvPr id="562" name="Google Shape;562;p32"/>
          <p:cNvCxnSpPr>
            <a:stCxn id="553" idx="4"/>
            <a:endCxn id="558" idx="1"/>
          </p:cNvCxnSpPr>
          <p:nvPr/>
        </p:nvCxnSpPr>
        <p:spPr>
          <a:xfrm>
            <a:off x="1217738" y="3693925"/>
            <a:ext cx="895200" cy="562500"/>
          </a:xfrm>
          <a:prstGeom prst="straightConnector1">
            <a:avLst/>
          </a:prstGeom>
          <a:noFill/>
          <a:ln cap="flat" cmpd="sng" w="19050">
            <a:solidFill>
              <a:srgbClr val="6AA84F"/>
            </a:solidFill>
            <a:prstDash val="solid"/>
            <a:round/>
            <a:headEnd len="med" w="med" type="none"/>
            <a:tailEnd len="med" w="med" type="triangle"/>
          </a:ln>
        </p:spPr>
      </p:cxnSp>
      <p:cxnSp>
        <p:nvCxnSpPr>
          <p:cNvPr id="563" name="Google Shape;563;p32"/>
          <p:cNvCxnSpPr>
            <a:stCxn id="559" idx="4"/>
            <a:endCxn id="551" idx="7"/>
          </p:cNvCxnSpPr>
          <p:nvPr/>
        </p:nvCxnSpPr>
        <p:spPr>
          <a:xfrm flipH="1">
            <a:off x="1347200" y="3693925"/>
            <a:ext cx="895200" cy="562500"/>
          </a:xfrm>
          <a:prstGeom prst="straightConnector1">
            <a:avLst/>
          </a:prstGeom>
          <a:noFill/>
          <a:ln cap="flat" cmpd="sng" w="19050">
            <a:solidFill>
              <a:srgbClr val="6AA84F"/>
            </a:solidFill>
            <a:prstDash val="solid"/>
            <a:round/>
            <a:headEnd len="med" w="med" type="none"/>
            <a:tailEnd len="med" w="med" type="triangle"/>
          </a:ln>
        </p:spPr>
      </p:cxnSp>
      <p:cxnSp>
        <p:nvCxnSpPr>
          <p:cNvPr id="564" name="Google Shape;564;p32"/>
          <p:cNvCxnSpPr>
            <a:stCxn id="560" idx="4"/>
            <a:endCxn id="558" idx="0"/>
          </p:cNvCxnSpPr>
          <p:nvPr/>
        </p:nvCxnSpPr>
        <p:spPr>
          <a:xfrm flipH="1">
            <a:off x="2242325" y="3693925"/>
            <a:ext cx="512400" cy="510300"/>
          </a:xfrm>
          <a:prstGeom prst="straightConnector1">
            <a:avLst/>
          </a:prstGeom>
          <a:noFill/>
          <a:ln cap="flat" cmpd="sng" w="19050">
            <a:solidFill>
              <a:srgbClr val="6AA84F"/>
            </a:solidFill>
            <a:prstDash val="solid"/>
            <a:round/>
            <a:headEnd len="med" w="med" type="none"/>
            <a:tailEnd len="med" w="med" type="triangle"/>
          </a:ln>
        </p:spPr>
      </p:cxnSp>
      <p:cxnSp>
        <p:nvCxnSpPr>
          <p:cNvPr id="565" name="Google Shape;565;p32"/>
          <p:cNvCxnSpPr>
            <a:stCxn id="559" idx="4"/>
            <a:endCxn id="558" idx="0"/>
          </p:cNvCxnSpPr>
          <p:nvPr/>
        </p:nvCxnSpPr>
        <p:spPr>
          <a:xfrm>
            <a:off x="2242400" y="3693925"/>
            <a:ext cx="0" cy="510300"/>
          </a:xfrm>
          <a:prstGeom prst="straightConnector1">
            <a:avLst/>
          </a:prstGeom>
          <a:noFill/>
          <a:ln cap="flat" cmpd="sng" w="19050">
            <a:solidFill>
              <a:srgbClr val="6AA84F"/>
            </a:solidFill>
            <a:prstDash val="solid"/>
            <a:round/>
            <a:headEnd len="med" w="med" type="none"/>
            <a:tailEnd len="med" w="med" type="triangle"/>
          </a:ln>
        </p:spPr>
      </p:cxnSp>
      <p:cxnSp>
        <p:nvCxnSpPr>
          <p:cNvPr id="566" name="Google Shape;566;p32"/>
          <p:cNvCxnSpPr>
            <a:stCxn id="552" idx="5"/>
            <a:endCxn id="558" idx="1"/>
          </p:cNvCxnSpPr>
          <p:nvPr/>
        </p:nvCxnSpPr>
        <p:spPr>
          <a:xfrm>
            <a:off x="856526" y="3641775"/>
            <a:ext cx="1256400" cy="614700"/>
          </a:xfrm>
          <a:prstGeom prst="straightConnector1">
            <a:avLst/>
          </a:prstGeom>
          <a:noFill/>
          <a:ln cap="flat" cmpd="sng" w="19050">
            <a:solidFill>
              <a:srgbClr val="6AA84F"/>
            </a:solidFill>
            <a:prstDash val="solid"/>
            <a:round/>
            <a:headEnd len="med" w="med" type="none"/>
            <a:tailEnd len="med" w="med" type="triangle"/>
          </a:ln>
        </p:spPr>
      </p:cxnSp>
      <p:cxnSp>
        <p:nvCxnSpPr>
          <p:cNvPr id="567" name="Google Shape;567;p32"/>
          <p:cNvCxnSpPr>
            <a:stCxn id="560" idx="3"/>
            <a:endCxn id="551" idx="7"/>
          </p:cNvCxnSpPr>
          <p:nvPr/>
        </p:nvCxnSpPr>
        <p:spPr>
          <a:xfrm flipH="1">
            <a:off x="1347024" y="3641775"/>
            <a:ext cx="1278300" cy="614700"/>
          </a:xfrm>
          <a:prstGeom prst="straightConnector1">
            <a:avLst/>
          </a:prstGeom>
          <a:noFill/>
          <a:ln cap="flat" cmpd="sng" w="19050">
            <a:solidFill>
              <a:srgbClr val="6AA84F"/>
            </a:solidFill>
            <a:prstDash val="solid"/>
            <a:round/>
            <a:headEnd len="med" w="med" type="none"/>
            <a:tailEnd len="med" w="med" type="triangle"/>
          </a:ln>
        </p:spPr>
      </p:cxnSp>
      <p:sp>
        <p:nvSpPr>
          <p:cNvPr id="568" name="Google Shape;568;p32"/>
          <p:cNvSpPr/>
          <p:nvPr/>
        </p:nvSpPr>
        <p:spPr>
          <a:xfrm>
            <a:off x="6727100" y="4230325"/>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32"/>
          <p:cNvSpPr/>
          <p:nvPr/>
        </p:nvSpPr>
        <p:spPr>
          <a:xfrm>
            <a:off x="6236475" y="33639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32"/>
          <p:cNvSpPr/>
          <p:nvPr/>
        </p:nvSpPr>
        <p:spPr>
          <a:xfrm>
            <a:off x="6727088" y="33639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32"/>
          <p:cNvSpPr/>
          <p:nvPr/>
        </p:nvSpPr>
        <p:spPr>
          <a:xfrm>
            <a:off x="7239425" y="33639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72" name="Google Shape;572;p32"/>
          <p:cNvCxnSpPr>
            <a:stCxn id="569" idx="4"/>
            <a:endCxn id="568" idx="1"/>
          </p:cNvCxnSpPr>
          <p:nvPr/>
        </p:nvCxnSpPr>
        <p:spPr>
          <a:xfrm>
            <a:off x="6419475" y="3720025"/>
            <a:ext cx="361200" cy="562500"/>
          </a:xfrm>
          <a:prstGeom prst="straightConnector1">
            <a:avLst/>
          </a:prstGeom>
          <a:noFill/>
          <a:ln cap="flat" cmpd="sng" w="19050">
            <a:solidFill>
              <a:srgbClr val="6AA84F"/>
            </a:solidFill>
            <a:prstDash val="solid"/>
            <a:round/>
            <a:headEnd len="med" w="med" type="none"/>
            <a:tailEnd len="med" w="med" type="triangle"/>
          </a:ln>
        </p:spPr>
      </p:cxnSp>
      <p:cxnSp>
        <p:nvCxnSpPr>
          <p:cNvPr id="573" name="Google Shape;573;p32"/>
          <p:cNvCxnSpPr>
            <a:stCxn id="570" idx="4"/>
            <a:endCxn id="568" idx="0"/>
          </p:cNvCxnSpPr>
          <p:nvPr/>
        </p:nvCxnSpPr>
        <p:spPr>
          <a:xfrm>
            <a:off x="6910088" y="3720025"/>
            <a:ext cx="0" cy="510300"/>
          </a:xfrm>
          <a:prstGeom prst="straightConnector1">
            <a:avLst/>
          </a:prstGeom>
          <a:noFill/>
          <a:ln cap="flat" cmpd="sng" w="19050">
            <a:solidFill>
              <a:srgbClr val="6AA84F"/>
            </a:solidFill>
            <a:prstDash val="solid"/>
            <a:round/>
            <a:headEnd len="med" w="med" type="none"/>
            <a:tailEnd len="med" w="med" type="triangle"/>
          </a:ln>
        </p:spPr>
      </p:cxnSp>
      <p:cxnSp>
        <p:nvCxnSpPr>
          <p:cNvPr id="574" name="Google Shape;574;p32"/>
          <p:cNvCxnSpPr>
            <a:stCxn id="571" idx="4"/>
            <a:endCxn id="568" idx="7"/>
          </p:cNvCxnSpPr>
          <p:nvPr/>
        </p:nvCxnSpPr>
        <p:spPr>
          <a:xfrm flipH="1">
            <a:off x="7039625" y="3720025"/>
            <a:ext cx="382800" cy="562500"/>
          </a:xfrm>
          <a:prstGeom prst="straightConnector1">
            <a:avLst/>
          </a:prstGeom>
          <a:noFill/>
          <a:ln cap="flat" cmpd="sng" w="19050">
            <a:solidFill>
              <a:srgbClr val="6AA84F"/>
            </a:solidFill>
            <a:prstDash val="solid"/>
            <a:round/>
            <a:headEnd len="med" w="med" type="none"/>
            <a:tailEnd len="med" w="med" type="triangle"/>
          </a:ln>
        </p:spPr>
      </p:cxnSp>
      <p:sp>
        <p:nvSpPr>
          <p:cNvPr id="575" name="Google Shape;575;p32"/>
          <p:cNvSpPr/>
          <p:nvPr/>
        </p:nvSpPr>
        <p:spPr>
          <a:xfrm>
            <a:off x="7751750" y="4230325"/>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32"/>
          <p:cNvSpPr/>
          <p:nvPr/>
        </p:nvSpPr>
        <p:spPr>
          <a:xfrm>
            <a:off x="7751750" y="33639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32"/>
          <p:cNvSpPr/>
          <p:nvPr/>
        </p:nvSpPr>
        <p:spPr>
          <a:xfrm>
            <a:off x="8264075" y="33639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78" name="Google Shape;578;p32"/>
          <p:cNvCxnSpPr>
            <a:stCxn id="571" idx="4"/>
            <a:endCxn id="575" idx="1"/>
          </p:cNvCxnSpPr>
          <p:nvPr/>
        </p:nvCxnSpPr>
        <p:spPr>
          <a:xfrm>
            <a:off x="7422425" y="3720025"/>
            <a:ext cx="382800" cy="562500"/>
          </a:xfrm>
          <a:prstGeom prst="straightConnector1">
            <a:avLst/>
          </a:prstGeom>
          <a:noFill/>
          <a:ln cap="flat" cmpd="sng" w="19050">
            <a:solidFill>
              <a:srgbClr val="6AA84F"/>
            </a:solidFill>
            <a:prstDash val="solid"/>
            <a:round/>
            <a:headEnd len="med" w="med" type="none"/>
            <a:tailEnd len="med" w="med" type="triangle"/>
          </a:ln>
        </p:spPr>
      </p:cxnSp>
      <p:cxnSp>
        <p:nvCxnSpPr>
          <p:cNvPr id="579" name="Google Shape;579;p32"/>
          <p:cNvCxnSpPr>
            <a:stCxn id="570" idx="4"/>
            <a:endCxn id="575" idx="1"/>
          </p:cNvCxnSpPr>
          <p:nvPr/>
        </p:nvCxnSpPr>
        <p:spPr>
          <a:xfrm>
            <a:off x="6910088" y="3720025"/>
            <a:ext cx="895200" cy="562500"/>
          </a:xfrm>
          <a:prstGeom prst="straightConnector1">
            <a:avLst/>
          </a:prstGeom>
          <a:noFill/>
          <a:ln cap="flat" cmpd="sng" w="19050">
            <a:solidFill>
              <a:srgbClr val="6AA84F"/>
            </a:solidFill>
            <a:prstDash val="solid"/>
            <a:round/>
            <a:headEnd len="med" w="med" type="none"/>
            <a:tailEnd len="med" w="med" type="triangle"/>
          </a:ln>
        </p:spPr>
      </p:cxnSp>
      <p:cxnSp>
        <p:nvCxnSpPr>
          <p:cNvPr id="580" name="Google Shape;580;p32"/>
          <p:cNvCxnSpPr>
            <a:stCxn id="576" idx="4"/>
            <a:endCxn id="568" idx="7"/>
          </p:cNvCxnSpPr>
          <p:nvPr/>
        </p:nvCxnSpPr>
        <p:spPr>
          <a:xfrm flipH="1">
            <a:off x="7039550" y="3720025"/>
            <a:ext cx="895200" cy="562500"/>
          </a:xfrm>
          <a:prstGeom prst="straightConnector1">
            <a:avLst/>
          </a:prstGeom>
          <a:noFill/>
          <a:ln cap="flat" cmpd="sng" w="19050">
            <a:solidFill>
              <a:srgbClr val="6AA84F"/>
            </a:solidFill>
            <a:prstDash val="solid"/>
            <a:round/>
            <a:headEnd len="med" w="med" type="none"/>
            <a:tailEnd len="med" w="med" type="triangle"/>
          </a:ln>
        </p:spPr>
      </p:cxnSp>
      <p:cxnSp>
        <p:nvCxnSpPr>
          <p:cNvPr id="581" name="Google Shape;581;p32"/>
          <p:cNvCxnSpPr>
            <a:stCxn id="577" idx="4"/>
            <a:endCxn id="575" idx="0"/>
          </p:cNvCxnSpPr>
          <p:nvPr/>
        </p:nvCxnSpPr>
        <p:spPr>
          <a:xfrm flipH="1">
            <a:off x="7934675" y="3720025"/>
            <a:ext cx="512400" cy="510300"/>
          </a:xfrm>
          <a:prstGeom prst="straightConnector1">
            <a:avLst/>
          </a:prstGeom>
          <a:noFill/>
          <a:ln cap="flat" cmpd="sng" w="19050">
            <a:solidFill>
              <a:srgbClr val="6AA84F"/>
            </a:solidFill>
            <a:prstDash val="solid"/>
            <a:round/>
            <a:headEnd len="med" w="med" type="none"/>
            <a:tailEnd len="med" w="med" type="triangle"/>
          </a:ln>
        </p:spPr>
      </p:cxnSp>
      <p:cxnSp>
        <p:nvCxnSpPr>
          <p:cNvPr id="582" name="Google Shape;582;p32"/>
          <p:cNvCxnSpPr>
            <a:stCxn id="576" idx="4"/>
            <a:endCxn id="575" idx="0"/>
          </p:cNvCxnSpPr>
          <p:nvPr/>
        </p:nvCxnSpPr>
        <p:spPr>
          <a:xfrm>
            <a:off x="7934750" y="3720025"/>
            <a:ext cx="0" cy="510300"/>
          </a:xfrm>
          <a:prstGeom prst="straightConnector1">
            <a:avLst/>
          </a:prstGeom>
          <a:noFill/>
          <a:ln cap="flat" cmpd="sng" w="19050">
            <a:solidFill>
              <a:srgbClr val="6AA84F"/>
            </a:solidFill>
            <a:prstDash val="solid"/>
            <a:round/>
            <a:headEnd len="med" w="med" type="none"/>
            <a:tailEnd len="med" w="med" type="triangle"/>
          </a:ln>
        </p:spPr>
      </p:cxnSp>
      <p:cxnSp>
        <p:nvCxnSpPr>
          <p:cNvPr id="583" name="Google Shape;583;p32"/>
          <p:cNvCxnSpPr>
            <a:stCxn id="569" idx="5"/>
            <a:endCxn id="575" idx="1"/>
          </p:cNvCxnSpPr>
          <p:nvPr/>
        </p:nvCxnSpPr>
        <p:spPr>
          <a:xfrm>
            <a:off x="6548876" y="3667875"/>
            <a:ext cx="1256400" cy="614700"/>
          </a:xfrm>
          <a:prstGeom prst="straightConnector1">
            <a:avLst/>
          </a:prstGeom>
          <a:noFill/>
          <a:ln cap="flat" cmpd="sng" w="19050">
            <a:solidFill>
              <a:srgbClr val="6AA84F"/>
            </a:solidFill>
            <a:prstDash val="solid"/>
            <a:round/>
            <a:headEnd len="med" w="med" type="none"/>
            <a:tailEnd len="med" w="med" type="triangle"/>
          </a:ln>
        </p:spPr>
      </p:cxnSp>
      <p:cxnSp>
        <p:nvCxnSpPr>
          <p:cNvPr id="584" name="Google Shape;584;p32"/>
          <p:cNvCxnSpPr>
            <a:stCxn id="577" idx="3"/>
            <a:endCxn id="568" idx="7"/>
          </p:cNvCxnSpPr>
          <p:nvPr/>
        </p:nvCxnSpPr>
        <p:spPr>
          <a:xfrm flipH="1">
            <a:off x="7039374" y="3667875"/>
            <a:ext cx="1278300" cy="614700"/>
          </a:xfrm>
          <a:prstGeom prst="straightConnector1">
            <a:avLst/>
          </a:prstGeom>
          <a:noFill/>
          <a:ln cap="flat" cmpd="sng" w="19050">
            <a:solidFill>
              <a:srgbClr val="6AA84F"/>
            </a:solidFill>
            <a:prstDash val="solid"/>
            <a:round/>
            <a:headEnd len="med" w="med" type="none"/>
            <a:tailEnd len="med" w="med" type="triangle"/>
          </a:ln>
        </p:spPr>
      </p:cxn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p33"/>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Valenced interactions: Solidarity theory</a:t>
            </a:r>
            <a:endParaRPr/>
          </a:p>
        </p:txBody>
      </p:sp>
      <p:sp>
        <p:nvSpPr>
          <p:cNvPr id="590" name="Google Shape;590;p33"/>
          <p:cNvSpPr txBox="1"/>
          <p:nvPr>
            <p:ph idx="1" type="body"/>
          </p:nvPr>
        </p:nvSpPr>
        <p:spPr>
          <a:xfrm>
            <a:off x="311700" y="1225225"/>
            <a:ext cx="8697000" cy="17217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
              <a:t>Solidarity Theory</a:t>
            </a:r>
            <a:endParaRPr b="1"/>
          </a:p>
          <a:p>
            <a:pPr indent="-317500" lvl="1" marL="914400" rtl="0" algn="l">
              <a:spcBef>
                <a:spcPts val="0"/>
              </a:spcBef>
              <a:spcAft>
                <a:spcPts val="0"/>
              </a:spcAft>
              <a:buSzPts val="1400"/>
              <a:buChar char="○"/>
            </a:pPr>
            <a:r>
              <a:rPr lang="en"/>
              <a:t>People in the same </a:t>
            </a:r>
            <a:r>
              <a:rPr b="1" lang="en"/>
              <a:t>position in the valenced interaction network</a:t>
            </a:r>
            <a:r>
              <a:rPr lang="en"/>
              <a:t> are likely to link via positive ties</a:t>
            </a:r>
            <a:endParaRPr/>
          </a:p>
          <a:p>
            <a:pPr indent="-342900" lvl="0" marL="457200" rtl="0" algn="l">
              <a:spcBef>
                <a:spcPts val="0"/>
              </a:spcBef>
              <a:spcAft>
                <a:spcPts val="0"/>
              </a:spcAft>
              <a:buSzPts val="1800"/>
              <a:buChar char="●"/>
            </a:pPr>
            <a:r>
              <a:rPr lang="en"/>
              <a:t>Two types of solidarity:</a:t>
            </a:r>
            <a:endParaRPr/>
          </a:p>
          <a:p>
            <a:pPr indent="-317500" lvl="1" marL="914400" rtl="0" algn="l">
              <a:spcBef>
                <a:spcPts val="0"/>
              </a:spcBef>
              <a:spcAft>
                <a:spcPts val="0"/>
              </a:spcAft>
              <a:buSzPts val="1400"/>
              <a:buChar char="○"/>
            </a:pPr>
            <a:r>
              <a:rPr b="1" lang="en"/>
              <a:t>Status solidarity</a:t>
            </a:r>
            <a:endParaRPr b="1"/>
          </a:p>
          <a:p>
            <a:pPr indent="-317500" lvl="1" marL="914400" rtl="0" algn="l">
              <a:spcBef>
                <a:spcPts val="0"/>
              </a:spcBef>
              <a:spcAft>
                <a:spcPts val="0"/>
              </a:spcAft>
              <a:buSzPts val="1400"/>
              <a:buChar char="○"/>
            </a:pPr>
            <a:r>
              <a:rPr lang="en"/>
              <a:t>Karma solidarity</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sp>
        <p:nvSpPr>
          <p:cNvPr id="591" name="Google Shape;591;p33"/>
          <p:cNvSpPr/>
          <p:nvPr/>
        </p:nvSpPr>
        <p:spPr>
          <a:xfrm>
            <a:off x="8027125" y="86350"/>
            <a:ext cx="981600" cy="1179600"/>
          </a:xfrm>
          <a:prstGeom prst="rect">
            <a:avLst/>
          </a:prstGeom>
          <a:noFill/>
          <a:ln cap="flat" cmpd="sng" w="19050">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33"/>
          <p:cNvSpPr/>
          <p:nvPr/>
        </p:nvSpPr>
        <p:spPr>
          <a:xfrm>
            <a:off x="8192860" y="472152"/>
            <a:ext cx="191400" cy="1932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33"/>
          <p:cNvSpPr/>
          <p:nvPr/>
        </p:nvSpPr>
        <p:spPr>
          <a:xfrm>
            <a:off x="8192860" y="216793"/>
            <a:ext cx="191400" cy="19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94" name="Google Shape;594;p33"/>
          <p:cNvCxnSpPr/>
          <p:nvPr/>
        </p:nvCxnSpPr>
        <p:spPr>
          <a:xfrm flipH="1" rot="10800000">
            <a:off x="8124842" y="847730"/>
            <a:ext cx="327600" cy="5700"/>
          </a:xfrm>
          <a:prstGeom prst="straightConnector1">
            <a:avLst/>
          </a:prstGeom>
          <a:noFill/>
          <a:ln cap="flat" cmpd="sng" w="38100">
            <a:solidFill>
              <a:srgbClr val="FF0000"/>
            </a:solidFill>
            <a:prstDash val="solid"/>
            <a:round/>
            <a:headEnd len="med" w="med" type="none"/>
            <a:tailEnd len="med" w="med" type="triangle"/>
          </a:ln>
        </p:spPr>
      </p:cxnSp>
      <p:cxnSp>
        <p:nvCxnSpPr>
          <p:cNvPr id="595" name="Google Shape;595;p33"/>
          <p:cNvCxnSpPr/>
          <p:nvPr/>
        </p:nvCxnSpPr>
        <p:spPr>
          <a:xfrm flipH="1" rot="10800000">
            <a:off x="8124842" y="1076729"/>
            <a:ext cx="327600" cy="5700"/>
          </a:xfrm>
          <a:prstGeom prst="straightConnector1">
            <a:avLst/>
          </a:prstGeom>
          <a:noFill/>
          <a:ln cap="flat" cmpd="sng" w="38100">
            <a:solidFill>
              <a:srgbClr val="6AA84F"/>
            </a:solidFill>
            <a:prstDash val="solid"/>
            <a:round/>
            <a:headEnd len="med" w="med" type="none"/>
            <a:tailEnd len="med" w="med" type="triangle"/>
          </a:ln>
        </p:spPr>
      </p:cxnSp>
      <p:sp>
        <p:nvSpPr>
          <p:cNvPr id="596" name="Google Shape;596;p33"/>
          <p:cNvSpPr txBox="1"/>
          <p:nvPr/>
        </p:nvSpPr>
        <p:spPr>
          <a:xfrm>
            <a:off x="8384249" y="151200"/>
            <a:ext cx="676500" cy="1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sz="1100">
                <a:latin typeface="Comfortaa"/>
                <a:ea typeface="Comfortaa"/>
                <a:cs typeface="Comfortaa"/>
                <a:sym typeface="Comfortaa"/>
              </a:rPr>
              <a:t>Ego</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Other</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Neg.</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Pos.</a:t>
            </a:r>
            <a:endParaRPr b="1" sz="1100">
              <a:latin typeface="Comfortaa"/>
              <a:ea typeface="Comfortaa"/>
              <a:cs typeface="Comfortaa"/>
              <a:sym typeface="Comfortaa"/>
            </a:endParaRPr>
          </a:p>
        </p:txBody>
      </p:sp>
      <p:sp>
        <p:nvSpPr>
          <p:cNvPr id="597" name="Google Shape;597;p33"/>
          <p:cNvSpPr txBox="1"/>
          <p:nvPr/>
        </p:nvSpPr>
        <p:spPr>
          <a:xfrm>
            <a:off x="1114000" y="4670725"/>
            <a:ext cx="1135500" cy="24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Time 1</a:t>
            </a:r>
            <a:endParaRPr>
              <a:latin typeface="Open Sans"/>
              <a:ea typeface="Open Sans"/>
              <a:cs typeface="Open Sans"/>
              <a:sym typeface="Open Sans"/>
            </a:endParaRPr>
          </a:p>
        </p:txBody>
      </p:sp>
      <p:sp>
        <p:nvSpPr>
          <p:cNvPr id="598" name="Google Shape;598;p33"/>
          <p:cNvSpPr txBox="1"/>
          <p:nvPr/>
        </p:nvSpPr>
        <p:spPr>
          <a:xfrm>
            <a:off x="6698745" y="4602600"/>
            <a:ext cx="1135500" cy="24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Time 2</a:t>
            </a:r>
            <a:endParaRPr>
              <a:latin typeface="Open Sans"/>
              <a:ea typeface="Open Sans"/>
              <a:cs typeface="Open Sans"/>
              <a:sym typeface="Open Sans"/>
            </a:endParaRPr>
          </a:p>
        </p:txBody>
      </p:sp>
      <p:sp>
        <p:nvSpPr>
          <p:cNvPr id="599" name="Google Shape;599;p33"/>
          <p:cNvSpPr/>
          <p:nvPr/>
        </p:nvSpPr>
        <p:spPr>
          <a:xfrm>
            <a:off x="3818050" y="3706900"/>
            <a:ext cx="1355100" cy="708600"/>
          </a:xfrm>
          <a:prstGeom prst="striped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33"/>
          <p:cNvSpPr/>
          <p:nvPr/>
        </p:nvSpPr>
        <p:spPr>
          <a:xfrm>
            <a:off x="1034750" y="4204225"/>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33"/>
          <p:cNvSpPr/>
          <p:nvPr/>
        </p:nvSpPr>
        <p:spPr>
          <a:xfrm>
            <a:off x="544125" y="33378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33"/>
          <p:cNvSpPr/>
          <p:nvPr/>
        </p:nvSpPr>
        <p:spPr>
          <a:xfrm>
            <a:off x="1034738" y="33378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33"/>
          <p:cNvSpPr/>
          <p:nvPr/>
        </p:nvSpPr>
        <p:spPr>
          <a:xfrm>
            <a:off x="1547075" y="33378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04" name="Google Shape;604;p33"/>
          <p:cNvCxnSpPr>
            <a:stCxn id="601" idx="4"/>
            <a:endCxn id="600" idx="1"/>
          </p:cNvCxnSpPr>
          <p:nvPr/>
        </p:nvCxnSpPr>
        <p:spPr>
          <a:xfrm>
            <a:off x="727125" y="3693925"/>
            <a:ext cx="361200" cy="562500"/>
          </a:xfrm>
          <a:prstGeom prst="straightConnector1">
            <a:avLst/>
          </a:prstGeom>
          <a:noFill/>
          <a:ln cap="flat" cmpd="sng" w="19050">
            <a:solidFill>
              <a:srgbClr val="6AA84F"/>
            </a:solidFill>
            <a:prstDash val="solid"/>
            <a:round/>
            <a:headEnd len="med" w="med" type="none"/>
            <a:tailEnd len="med" w="med" type="triangle"/>
          </a:ln>
        </p:spPr>
      </p:cxnSp>
      <p:cxnSp>
        <p:nvCxnSpPr>
          <p:cNvPr id="605" name="Google Shape;605;p33"/>
          <p:cNvCxnSpPr>
            <a:stCxn id="602" idx="4"/>
            <a:endCxn id="600" idx="0"/>
          </p:cNvCxnSpPr>
          <p:nvPr/>
        </p:nvCxnSpPr>
        <p:spPr>
          <a:xfrm>
            <a:off x="1217738" y="3693925"/>
            <a:ext cx="0" cy="510300"/>
          </a:xfrm>
          <a:prstGeom prst="straightConnector1">
            <a:avLst/>
          </a:prstGeom>
          <a:noFill/>
          <a:ln cap="flat" cmpd="sng" w="19050">
            <a:solidFill>
              <a:srgbClr val="6AA84F"/>
            </a:solidFill>
            <a:prstDash val="solid"/>
            <a:round/>
            <a:headEnd len="med" w="med" type="none"/>
            <a:tailEnd len="med" w="med" type="triangle"/>
          </a:ln>
        </p:spPr>
      </p:cxnSp>
      <p:cxnSp>
        <p:nvCxnSpPr>
          <p:cNvPr id="606" name="Google Shape;606;p33"/>
          <p:cNvCxnSpPr>
            <a:stCxn id="603" idx="4"/>
            <a:endCxn id="600" idx="7"/>
          </p:cNvCxnSpPr>
          <p:nvPr/>
        </p:nvCxnSpPr>
        <p:spPr>
          <a:xfrm flipH="1">
            <a:off x="1347275" y="3693925"/>
            <a:ext cx="382800" cy="562500"/>
          </a:xfrm>
          <a:prstGeom prst="straightConnector1">
            <a:avLst/>
          </a:prstGeom>
          <a:noFill/>
          <a:ln cap="flat" cmpd="sng" w="19050">
            <a:solidFill>
              <a:srgbClr val="6AA84F"/>
            </a:solidFill>
            <a:prstDash val="solid"/>
            <a:round/>
            <a:headEnd len="med" w="med" type="none"/>
            <a:tailEnd len="med" w="med" type="triangle"/>
          </a:ln>
        </p:spPr>
      </p:cxnSp>
      <p:sp>
        <p:nvSpPr>
          <p:cNvPr id="607" name="Google Shape;607;p33"/>
          <p:cNvSpPr/>
          <p:nvPr/>
        </p:nvSpPr>
        <p:spPr>
          <a:xfrm>
            <a:off x="2059400" y="4204225"/>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33"/>
          <p:cNvSpPr/>
          <p:nvPr/>
        </p:nvSpPr>
        <p:spPr>
          <a:xfrm>
            <a:off x="2059400" y="33378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33"/>
          <p:cNvSpPr/>
          <p:nvPr/>
        </p:nvSpPr>
        <p:spPr>
          <a:xfrm>
            <a:off x="2571725" y="33378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10" name="Google Shape;610;p33"/>
          <p:cNvCxnSpPr>
            <a:stCxn id="603" idx="4"/>
            <a:endCxn id="607" idx="1"/>
          </p:cNvCxnSpPr>
          <p:nvPr/>
        </p:nvCxnSpPr>
        <p:spPr>
          <a:xfrm>
            <a:off x="1730075" y="3693925"/>
            <a:ext cx="382800" cy="562500"/>
          </a:xfrm>
          <a:prstGeom prst="straightConnector1">
            <a:avLst/>
          </a:prstGeom>
          <a:noFill/>
          <a:ln cap="flat" cmpd="sng" w="19050">
            <a:solidFill>
              <a:srgbClr val="6AA84F"/>
            </a:solidFill>
            <a:prstDash val="solid"/>
            <a:round/>
            <a:headEnd len="med" w="med" type="none"/>
            <a:tailEnd len="med" w="med" type="triangle"/>
          </a:ln>
        </p:spPr>
      </p:cxnSp>
      <p:cxnSp>
        <p:nvCxnSpPr>
          <p:cNvPr id="611" name="Google Shape;611;p33"/>
          <p:cNvCxnSpPr>
            <a:stCxn id="602" idx="4"/>
            <a:endCxn id="607" idx="1"/>
          </p:cNvCxnSpPr>
          <p:nvPr/>
        </p:nvCxnSpPr>
        <p:spPr>
          <a:xfrm>
            <a:off x="1217738" y="3693925"/>
            <a:ext cx="895200" cy="562500"/>
          </a:xfrm>
          <a:prstGeom prst="straightConnector1">
            <a:avLst/>
          </a:prstGeom>
          <a:noFill/>
          <a:ln cap="flat" cmpd="sng" w="19050">
            <a:solidFill>
              <a:srgbClr val="6AA84F"/>
            </a:solidFill>
            <a:prstDash val="solid"/>
            <a:round/>
            <a:headEnd len="med" w="med" type="none"/>
            <a:tailEnd len="med" w="med" type="triangle"/>
          </a:ln>
        </p:spPr>
      </p:cxnSp>
      <p:cxnSp>
        <p:nvCxnSpPr>
          <p:cNvPr id="612" name="Google Shape;612;p33"/>
          <p:cNvCxnSpPr>
            <a:stCxn id="608" idx="4"/>
            <a:endCxn id="600" idx="7"/>
          </p:cNvCxnSpPr>
          <p:nvPr/>
        </p:nvCxnSpPr>
        <p:spPr>
          <a:xfrm flipH="1">
            <a:off x="1347200" y="3693925"/>
            <a:ext cx="895200" cy="562500"/>
          </a:xfrm>
          <a:prstGeom prst="straightConnector1">
            <a:avLst/>
          </a:prstGeom>
          <a:noFill/>
          <a:ln cap="flat" cmpd="sng" w="19050">
            <a:solidFill>
              <a:srgbClr val="6AA84F"/>
            </a:solidFill>
            <a:prstDash val="solid"/>
            <a:round/>
            <a:headEnd len="med" w="med" type="none"/>
            <a:tailEnd len="med" w="med" type="triangle"/>
          </a:ln>
        </p:spPr>
      </p:cxnSp>
      <p:cxnSp>
        <p:nvCxnSpPr>
          <p:cNvPr id="613" name="Google Shape;613;p33"/>
          <p:cNvCxnSpPr>
            <a:stCxn id="609" idx="4"/>
            <a:endCxn id="607" idx="0"/>
          </p:cNvCxnSpPr>
          <p:nvPr/>
        </p:nvCxnSpPr>
        <p:spPr>
          <a:xfrm flipH="1">
            <a:off x="2242325" y="3693925"/>
            <a:ext cx="512400" cy="510300"/>
          </a:xfrm>
          <a:prstGeom prst="straightConnector1">
            <a:avLst/>
          </a:prstGeom>
          <a:noFill/>
          <a:ln cap="flat" cmpd="sng" w="19050">
            <a:solidFill>
              <a:srgbClr val="6AA84F"/>
            </a:solidFill>
            <a:prstDash val="solid"/>
            <a:round/>
            <a:headEnd len="med" w="med" type="none"/>
            <a:tailEnd len="med" w="med" type="triangle"/>
          </a:ln>
        </p:spPr>
      </p:cxnSp>
      <p:cxnSp>
        <p:nvCxnSpPr>
          <p:cNvPr id="614" name="Google Shape;614;p33"/>
          <p:cNvCxnSpPr>
            <a:stCxn id="608" idx="4"/>
            <a:endCxn id="607" idx="0"/>
          </p:cNvCxnSpPr>
          <p:nvPr/>
        </p:nvCxnSpPr>
        <p:spPr>
          <a:xfrm>
            <a:off x="2242400" y="3693925"/>
            <a:ext cx="0" cy="510300"/>
          </a:xfrm>
          <a:prstGeom prst="straightConnector1">
            <a:avLst/>
          </a:prstGeom>
          <a:noFill/>
          <a:ln cap="flat" cmpd="sng" w="19050">
            <a:solidFill>
              <a:srgbClr val="6AA84F"/>
            </a:solidFill>
            <a:prstDash val="solid"/>
            <a:round/>
            <a:headEnd len="med" w="med" type="none"/>
            <a:tailEnd len="med" w="med" type="triangle"/>
          </a:ln>
        </p:spPr>
      </p:cxnSp>
      <p:cxnSp>
        <p:nvCxnSpPr>
          <p:cNvPr id="615" name="Google Shape;615;p33"/>
          <p:cNvCxnSpPr>
            <a:stCxn id="601" idx="5"/>
            <a:endCxn id="607" idx="1"/>
          </p:cNvCxnSpPr>
          <p:nvPr/>
        </p:nvCxnSpPr>
        <p:spPr>
          <a:xfrm>
            <a:off x="856526" y="3641775"/>
            <a:ext cx="1256400" cy="614700"/>
          </a:xfrm>
          <a:prstGeom prst="straightConnector1">
            <a:avLst/>
          </a:prstGeom>
          <a:noFill/>
          <a:ln cap="flat" cmpd="sng" w="19050">
            <a:solidFill>
              <a:srgbClr val="6AA84F"/>
            </a:solidFill>
            <a:prstDash val="solid"/>
            <a:round/>
            <a:headEnd len="med" w="med" type="none"/>
            <a:tailEnd len="med" w="med" type="triangle"/>
          </a:ln>
        </p:spPr>
      </p:cxnSp>
      <p:cxnSp>
        <p:nvCxnSpPr>
          <p:cNvPr id="616" name="Google Shape;616;p33"/>
          <p:cNvCxnSpPr>
            <a:stCxn id="609" idx="3"/>
            <a:endCxn id="600" idx="7"/>
          </p:cNvCxnSpPr>
          <p:nvPr/>
        </p:nvCxnSpPr>
        <p:spPr>
          <a:xfrm flipH="1">
            <a:off x="1347024" y="3641775"/>
            <a:ext cx="1278300" cy="614700"/>
          </a:xfrm>
          <a:prstGeom prst="straightConnector1">
            <a:avLst/>
          </a:prstGeom>
          <a:noFill/>
          <a:ln cap="flat" cmpd="sng" w="19050">
            <a:solidFill>
              <a:srgbClr val="6AA84F"/>
            </a:solidFill>
            <a:prstDash val="solid"/>
            <a:round/>
            <a:headEnd len="med" w="med" type="none"/>
            <a:tailEnd len="med" w="med" type="triangle"/>
          </a:ln>
        </p:spPr>
      </p:cxnSp>
      <p:sp>
        <p:nvSpPr>
          <p:cNvPr id="617" name="Google Shape;617;p33"/>
          <p:cNvSpPr/>
          <p:nvPr/>
        </p:nvSpPr>
        <p:spPr>
          <a:xfrm>
            <a:off x="6727100" y="4230325"/>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33"/>
          <p:cNvSpPr/>
          <p:nvPr/>
        </p:nvSpPr>
        <p:spPr>
          <a:xfrm>
            <a:off x="6236475" y="33639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33"/>
          <p:cNvSpPr/>
          <p:nvPr/>
        </p:nvSpPr>
        <p:spPr>
          <a:xfrm>
            <a:off x="6727088" y="33639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33"/>
          <p:cNvSpPr/>
          <p:nvPr/>
        </p:nvSpPr>
        <p:spPr>
          <a:xfrm>
            <a:off x="7239425" y="33639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21" name="Google Shape;621;p33"/>
          <p:cNvCxnSpPr>
            <a:stCxn id="618" idx="4"/>
            <a:endCxn id="617" idx="1"/>
          </p:cNvCxnSpPr>
          <p:nvPr/>
        </p:nvCxnSpPr>
        <p:spPr>
          <a:xfrm>
            <a:off x="6419475" y="3720025"/>
            <a:ext cx="361200" cy="562500"/>
          </a:xfrm>
          <a:prstGeom prst="straightConnector1">
            <a:avLst/>
          </a:prstGeom>
          <a:noFill/>
          <a:ln cap="flat" cmpd="sng" w="19050">
            <a:solidFill>
              <a:srgbClr val="6AA84F"/>
            </a:solidFill>
            <a:prstDash val="solid"/>
            <a:round/>
            <a:headEnd len="med" w="med" type="none"/>
            <a:tailEnd len="med" w="med" type="triangle"/>
          </a:ln>
        </p:spPr>
      </p:cxnSp>
      <p:cxnSp>
        <p:nvCxnSpPr>
          <p:cNvPr id="622" name="Google Shape;622;p33"/>
          <p:cNvCxnSpPr>
            <a:stCxn id="619" idx="4"/>
            <a:endCxn id="617" idx="0"/>
          </p:cNvCxnSpPr>
          <p:nvPr/>
        </p:nvCxnSpPr>
        <p:spPr>
          <a:xfrm>
            <a:off x="6910088" y="3720025"/>
            <a:ext cx="0" cy="510300"/>
          </a:xfrm>
          <a:prstGeom prst="straightConnector1">
            <a:avLst/>
          </a:prstGeom>
          <a:noFill/>
          <a:ln cap="flat" cmpd="sng" w="19050">
            <a:solidFill>
              <a:srgbClr val="6AA84F"/>
            </a:solidFill>
            <a:prstDash val="solid"/>
            <a:round/>
            <a:headEnd len="med" w="med" type="none"/>
            <a:tailEnd len="med" w="med" type="triangle"/>
          </a:ln>
        </p:spPr>
      </p:cxnSp>
      <p:cxnSp>
        <p:nvCxnSpPr>
          <p:cNvPr id="623" name="Google Shape;623;p33"/>
          <p:cNvCxnSpPr>
            <a:stCxn id="620" idx="4"/>
            <a:endCxn id="617" idx="7"/>
          </p:cNvCxnSpPr>
          <p:nvPr/>
        </p:nvCxnSpPr>
        <p:spPr>
          <a:xfrm flipH="1">
            <a:off x="7039625" y="3720025"/>
            <a:ext cx="382800" cy="562500"/>
          </a:xfrm>
          <a:prstGeom prst="straightConnector1">
            <a:avLst/>
          </a:prstGeom>
          <a:noFill/>
          <a:ln cap="flat" cmpd="sng" w="19050">
            <a:solidFill>
              <a:srgbClr val="6AA84F"/>
            </a:solidFill>
            <a:prstDash val="solid"/>
            <a:round/>
            <a:headEnd len="med" w="med" type="none"/>
            <a:tailEnd len="med" w="med" type="triangle"/>
          </a:ln>
        </p:spPr>
      </p:cxnSp>
      <p:sp>
        <p:nvSpPr>
          <p:cNvPr id="624" name="Google Shape;624;p33"/>
          <p:cNvSpPr/>
          <p:nvPr/>
        </p:nvSpPr>
        <p:spPr>
          <a:xfrm>
            <a:off x="7751750" y="4230325"/>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33"/>
          <p:cNvSpPr/>
          <p:nvPr/>
        </p:nvSpPr>
        <p:spPr>
          <a:xfrm>
            <a:off x="7751750" y="33639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33"/>
          <p:cNvSpPr/>
          <p:nvPr/>
        </p:nvSpPr>
        <p:spPr>
          <a:xfrm>
            <a:off x="8264075" y="33639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27" name="Google Shape;627;p33"/>
          <p:cNvCxnSpPr>
            <a:stCxn id="620" idx="4"/>
            <a:endCxn id="624" idx="1"/>
          </p:cNvCxnSpPr>
          <p:nvPr/>
        </p:nvCxnSpPr>
        <p:spPr>
          <a:xfrm>
            <a:off x="7422425" y="3720025"/>
            <a:ext cx="382800" cy="562500"/>
          </a:xfrm>
          <a:prstGeom prst="straightConnector1">
            <a:avLst/>
          </a:prstGeom>
          <a:noFill/>
          <a:ln cap="flat" cmpd="sng" w="19050">
            <a:solidFill>
              <a:srgbClr val="6AA84F"/>
            </a:solidFill>
            <a:prstDash val="solid"/>
            <a:round/>
            <a:headEnd len="med" w="med" type="none"/>
            <a:tailEnd len="med" w="med" type="triangle"/>
          </a:ln>
        </p:spPr>
      </p:cxnSp>
      <p:cxnSp>
        <p:nvCxnSpPr>
          <p:cNvPr id="628" name="Google Shape;628;p33"/>
          <p:cNvCxnSpPr>
            <a:stCxn id="619" idx="4"/>
            <a:endCxn id="624" idx="1"/>
          </p:cNvCxnSpPr>
          <p:nvPr/>
        </p:nvCxnSpPr>
        <p:spPr>
          <a:xfrm>
            <a:off x="6910088" y="3720025"/>
            <a:ext cx="895200" cy="562500"/>
          </a:xfrm>
          <a:prstGeom prst="straightConnector1">
            <a:avLst/>
          </a:prstGeom>
          <a:noFill/>
          <a:ln cap="flat" cmpd="sng" w="19050">
            <a:solidFill>
              <a:srgbClr val="6AA84F"/>
            </a:solidFill>
            <a:prstDash val="solid"/>
            <a:round/>
            <a:headEnd len="med" w="med" type="none"/>
            <a:tailEnd len="med" w="med" type="triangle"/>
          </a:ln>
        </p:spPr>
      </p:cxnSp>
      <p:cxnSp>
        <p:nvCxnSpPr>
          <p:cNvPr id="629" name="Google Shape;629;p33"/>
          <p:cNvCxnSpPr>
            <a:stCxn id="625" idx="4"/>
            <a:endCxn id="617" idx="7"/>
          </p:cNvCxnSpPr>
          <p:nvPr/>
        </p:nvCxnSpPr>
        <p:spPr>
          <a:xfrm flipH="1">
            <a:off x="7039550" y="3720025"/>
            <a:ext cx="895200" cy="562500"/>
          </a:xfrm>
          <a:prstGeom prst="straightConnector1">
            <a:avLst/>
          </a:prstGeom>
          <a:noFill/>
          <a:ln cap="flat" cmpd="sng" w="19050">
            <a:solidFill>
              <a:srgbClr val="6AA84F"/>
            </a:solidFill>
            <a:prstDash val="solid"/>
            <a:round/>
            <a:headEnd len="med" w="med" type="none"/>
            <a:tailEnd len="med" w="med" type="triangle"/>
          </a:ln>
        </p:spPr>
      </p:cxnSp>
      <p:cxnSp>
        <p:nvCxnSpPr>
          <p:cNvPr id="630" name="Google Shape;630;p33"/>
          <p:cNvCxnSpPr>
            <a:stCxn id="626" idx="4"/>
            <a:endCxn id="624" idx="0"/>
          </p:cNvCxnSpPr>
          <p:nvPr/>
        </p:nvCxnSpPr>
        <p:spPr>
          <a:xfrm flipH="1">
            <a:off x="7934675" y="3720025"/>
            <a:ext cx="512400" cy="510300"/>
          </a:xfrm>
          <a:prstGeom prst="straightConnector1">
            <a:avLst/>
          </a:prstGeom>
          <a:noFill/>
          <a:ln cap="flat" cmpd="sng" w="19050">
            <a:solidFill>
              <a:srgbClr val="6AA84F"/>
            </a:solidFill>
            <a:prstDash val="solid"/>
            <a:round/>
            <a:headEnd len="med" w="med" type="none"/>
            <a:tailEnd len="med" w="med" type="triangle"/>
          </a:ln>
        </p:spPr>
      </p:cxnSp>
      <p:cxnSp>
        <p:nvCxnSpPr>
          <p:cNvPr id="631" name="Google Shape;631;p33"/>
          <p:cNvCxnSpPr>
            <a:stCxn id="625" idx="4"/>
            <a:endCxn id="624" idx="0"/>
          </p:cNvCxnSpPr>
          <p:nvPr/>
        </p:nvCxnSpPr>
        <p:spPr>
          <a:xfrm>
            <a:off x="7934750" y="3720025"/>
            <a:ext cx="0" cy="510300"/>
          </a:xfrm>
          <a:prstGeom prst="straightConnector1">
            <a:avLst/>
          </a:prstGeom>
          <a:noFill/>
          <a:ln cap="flat" cmpd="sng" w="19050">
            <a:solidFill>
              <a:srgbClr val="6AA84F"/>
            </a:solidFill>
            <a:prstDash val="solid"/>
            <a:round/>
            <a:headEnd len="med" w="med" type="none"/>
            <a:tailEnd len="med" w="med" type="triangle"/>
          </a:ln>
        </p:spPr>
      </p:cxnSp>
      <p:cxnSp>
        <p:nvCxnSpPr>
          <p:cNvPr id="632" name="Google Shape;632;p33"/>
          <p:cNvCxnSpPr>
            <a:stCxn id="618" idx="5"/>
            <a:endCxn id="624" idx="1"/>
          </p:cNvCxnSpPr>
          <p:nvPr/>
        </p:nvCxnSpPr>
        <p:spPr>
          <a:xfrm>
            <a:off x="6548876" y="3667875"/>
            <a:ext cx="1256400" cy="614700"/>
          </a:xfrm>
          <a:prstGeom prst="straightConnector1">
            <a:avLst/>
          </a:prstGeom>
          <a:noFill/>
          <a:ln cap="flat" cmpd="sng" w="19050">
            <a:solidFill>
              <a:srgbClr val="6AA84F"/>
            </a:solidFill>
            <a:prstDash val="solid"/>
            <a:round/>
            <a:headEnd len="med" w="med" type="none"/>
            <a:tailEnd len="med" w="med" type="triangle"/>
          </a:ln>
        </p:spPr>
      </p:cxnSp>
      <p:cxnSp>
        <p:nvCxnSpPr>
          <p:cNvPr id="633" name="Google Shape;633;p33"/>
          <p:cNvCxnSpPr>
            <a:stCxn id="626" idx="3"/>
            <a:endCxn id="617" idx="7"/>
          </p:cNvCxnSpPr>
          <p:nvPr/>
        </p:nvCxnSpPr>
        <p:spPr>
          <a:xfrm flipH="1">
            <a:off x="7039374" y="3667875"/>
            <a:ext cx="1278300" cy="614700"/>
          </a:xfrm>
          <a:prstGeom prst="straightConnector1">
            <a:avLst/>
          </a:prstGeom>
          <a:noFill/>
          <a:ln cap="flat" cmpd="sng" w="19050">
            <a:solidFill>
              <a:srgbClr val="6AA84F"/>
            </a:solidFill>
            <a:prstDash val="solid"/>
            <a:round/>
            <a:headEnd len="med" w="med" type="none"/>
            <a:tailEnd len="med" w="med" type="triangle"/>
          </a:ln>
        </p:spPr>
      </p:cxnSp>
      <p:cxnSp>
        <p:nvCxnSpPr>
          <p:cNvPr id="634" name="Google Shape;634;p33"/>
          <p:cNvCxnSpPr>
            <a:stCxn id="617" idx="6"/>
            <a:endCxn id="624" idx="2"/>
          </p:cNvCxnSpPr>
          <p:nvPr/>
        </p:nvCxnSpPr>
        <p:spPr>
          <a:xfrm>
            <a:off x="7093100" y="4408375"/>
            <a:ext cx="658800" cy="0"/>
          </a:xfrm>
          <a:prstGeom prst="straightConnector1">
            <a:avLst/>
          </a:prstGeom>
          <a:noFill/>
          <a:ln cap="flat" cmpd="sng" w="19050">
            <a:solidFill>
              <a:srgbClr val="6AA84F"/>
            </a:solidFill>
            <a:prstDash val="solid"/>
            <a:round/>
            <a:headEnd len="med" w="med" type="none"/>
            <a:tailEnd len="med" w="med" type="triangle"/>
          </a:ln>
        </p:spPr>
      </p:cxnSp>
      <p:cxnSp>
        <p:nvCxnSpPr>
          <p:cNvPr id="635" name="Google Shape;635;p33"/>
          <p:cNvCxnSpPr>
            <a:stCxn id="624" idx="3"/>
            <a:endCxn id="617" idx="5"/>
          </p:cNvCxnSpPr>
          <p:nvPr/>
        </p:nvCxnSpPr>
        <p:spPr>
          <a:xfrm rot="10800000">
            <a:off x="7039449" y="4534275"/>
            <a:ext cx="765900" cy="0"/>
          </a:xfrm>
          <a:prstGeom prst="straightConnector1">
            <a:avLst/>
          </a:prstGeom>
          <a:noFill/>
          <a:ln cap="flat" cmpd="sng" w="19050">
            <a:solidFill>
              <a:srgbClr val="6AA84F"/>
            </a:solidFill>
            <a:prstDash val="solid"/>
            <a:round/>
            <a:headEnd len="med" w="med" type="none"/>
            <a:tailEnd len="med" w="med" type="triangle"/>
          </a:ln>
        </p:spPr>
      </p:cxnSp>
      <p:sp>
        <p:nvSpPr>
          <p:cNvPr id="636" name="Google Shape;636;p33"/>
          <p:cNvSpPr txBox="1"/>
          <p:nvPr/>
        </p:nvSpPr>
        <p:spPr>
          <a:xfrm>
            <a:off x="2937725" y="4510450"/>
            <a:ext cx="2908200" cy="35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rgbClr val="6AA84F"/>
                </a:solidFill>
                <a:latin typeface="Open Sans"/>
                <a:ea typeface="Open Sans"/>
                <a:cs typeface="Open Sans"/>
                <a:sym typeface="Open Sans"/>
              </a:rPr>
              <a:t>Popular “in-crowd” effect</a:t>
            </a:r>
            <a:endParaRPr b="1">
              <a:solidFill>
                <a:srgbClr val="6AA84F"/>
              </a:solidFill>
              <a:latin typeface="Open Sans"/>
              <a:ea typeface="Open Sans"/>
              <a:cs typeface="Open Sans"/>
              <a:sym typeface="Open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 name="Shape 640"/>
        <p:cNvGrpSpPr/>
        <p:nvPr/>
      </p:nvGrpSpPr>
      <p:grpSpPr>
        <a:xfrm>
          <a:off x="0" y="0"/>
          <a:ext cx="0" cy="0"/>
          <a:chOff x="0" y="0"/>
          <a:chExt cx="0" cy="0"/>
        </a:xfrm>
      </p:grpSpPr>
      <p:sp>
        <p:nvSpPr>
          <p:cNvPr id="641" name="Google Shape;641;p3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Valenced interactions: Solidarity theory</a:t>
            </a:r>
            <a:endParaRPr/>
          </a:p>
        </p:txBody>
      </p:sp>
      <p:sp>
        <p:nvSpPr>
          <p:cNvPr id="642" name="Google Shape;642;p34"/>
          <p:cNvSpPr txBox="1"/>
          <p:nvPr>
            <p:ph idx="1" type="body"/>
          </p:nvPr>
        </p:nvSpPr>
        <p:spPr>
          <a:xfrm>
            <a:off x="311700" y="1225225"/>
            <a:ext cx="8697000" cy="17217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
              <a:t>Solidarity Theory</a:t>
            </a:r>
            <a:endParaRPr b="1"/>
          </a:p>
          <a:p>
            <a:pPr indent="-317500" lvl="1" marL="914400" rtl="0" algn="l">
              <a:spcBef>
                <a:spcPts val="0"/>
              </a:spcBef>
              <a:spcAft>
                <a:spcPts val="0"/>
              </a:spcAft>
              <a:buSzPts val="1400"/>
              <a:buChar char="○"/>
            </a:pPr>
            <a:r>
              <a:rPr lang="en"/>
              <a:t>People in the same </a:t>
            </a:r>
            <a:r>
              <a:rPr b="1" lang="en"/>
              <a:t>position in the valenced interaction network </a:t>
            </a:r>
            <a:r>
              <a:rPr lang="en"/>
              <a:t>are likely to link via positive ties</a:t>
            </a:r>
            <a:endParaRPr/>
          </a:p>
          <a:p>
            <a:pPr indent="-342900" lvl="0" marL="457200" rtl="0" algn="l">
              <a:spcBef>
                <a:spcPts val="0"/>
              </a:spcBef>
              <a:spcAft>
                <a:spcPts val="0"/>
              </a:spcAft>
              <a:buSzPts val="1800"/>
              <a:buChar char="●"/>
            </a:pPr>
            <a:r>
              <a:rPr lang="en"/>
              <a:t>Two types of solidarity:</a:t>
            </a:r>
            <a:endParaRPr/>
          </a:p>
          <a:p>
            <a:pPr indent="-317500" lvl="1" marL="914400" rtl="0" algn="l">
              <a:spcBef>
                <a:spcPts val="0"/>
              </a:spcBef>
              <a:spcAft>
                <a:spcPts val="0"/>
              </a:spcAft>
              <a:buSzPts val="1400"/>
              <a:buChar char="○"/>
            </a:pPr>
            <a:r>
              <a:rPr b="1" lang="en"/>
              <a:t>Status solidarity</a:t>
            </a:r>
            <a:endParaRPr b="1"/>
          </a:p>
          <a:p>
            <a:pPr indent="-317500" lvl="1" marL="914400" rtl="0" algn="l">
              <a:spcBef>
                <a:spcPts val="0"/>
              </a:spcBef>
              <a:spcAft>
                <a:spcPts val="0"/>
              </a:spcAft>
              <a:buSzPts val="1400"/>
              <a:buChar char="○"/>
            </a:pPr>
            <a:r>
              <a:rPr lang="en"/>
              <a:t>Karma solidarity</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sp>
        <p:nvSpPr>
          <p:cNvPr id="643" name="Google Shape;643;p34"/>
          <p:cNvSpPr/>
          <p:nvPr/>
        </p:nvSpPr>
        <p:spPr>
          <a:xfrm>
            <a:off x="8027125" y="86350"/>
            <a:ext cx="981600" cy="1179600"/>
          </a:xfrm>
          <a:prstGeom prst="rect">
            <a:avLst/>
          </a:prstGeom>
          <a:noFill/>
          <a:ln cap="flat" cmpd="sng" w="19050">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34"/>
          <p:cNvSpPr/>
          <p:nvPr/>
        </p:nvSpPr>
        <p:spPr>
          <a:xfrm>
            <a:off x="8192860" y="472152"/>
            <a:ext cx="191400" cy="1932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34"/>
          <p:cNvSpPr/>
          <p:nvPr/>
        </p:nvSpPr>
        <p:spPr>
          <a:xfrm>
            <a:off x="8192860" y="216793"/>
            <a:ext cx="191400" cy="19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46" name="Google Shape;646;p34"/>
          <p:cNvCxnSpPr/>
          <p:nvPr/>
        </p:nvCxnSpPr>
        <p:spPr>
          <a:xfrm flipH="1" rot="10800000">
            <a:off x="8124842" y="847730"/>
            <a:ext cx="327600" cy="5700"/>
          </a:xfrm>
          <a:prstGeom prst="straightConnector1">
            <a:avLst/>
          </a:prstGeom>
          <a:noFill/>
          <a:ln cap="flat" cmpd="sng" w="38100">
            <a:solidFill>
              <a:srgbClr val="FF0000"/>
            </a:solidFill>
            <a:prstDash val="solid"/>
            <a:round/>
            <a:headEnd len="med" w="med" type="none"/>
            <a:tailEnd len="med" w="med" type="triangle"/>
          </a:ln>
        </p:spPr>
      </p:cxnSp>
      <p:cxnSp>
        <p:nvCxnSpPr>
          <p:cNvPr id="647" name="Google Shape;647;p34"/>
          <p:cNvCxnSpPr/>
          <p:nvPr/>
        </p:nvCxnSpPr>
        <p:spPr>
          <a:xfrm flipH="1" rot="10800000">
            <a:off x="8124842" y="1076729"/>
            <a:ext cx="327600" cy="5700"/>
          </a:xfrm>
          <a:prstGeom prst="straightConnector1">
            <a:avLst/>
          </a:prstGeom>
          <a:noFill/>
          <a:ln cap="flat" cmpd="sng" w="38100">
            <a:solidFill>
              <a:srgbClr val="6AA84F"/>
            </a:solidFill>
            <a:prstDash val="solid"/>
            <a:round/>
            <a:headEnd len="med" w="med" type="none"/>
            <a:tailEnd len="med" w="med" type="triangle"/>
          </a:ln>
        </p:spPr>
      </p:cxnSp>
      <p:sp>
        <p:nvSpPr>
          <p:cNvPr id="648" name="Google Shape;648;p34"/>
          <p:cNvSpPr txBox="1"/>
          <p:nvPr/>
        </p:nvSpPr>
        <p:spPr>
          <a:xfrm>
            <a:off x="8384249" y="151200"/>
            <a:ext cx="676500" cy="1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sz="1100">
                <a:latin typeface="Comfortaa"/>
                <a:ea typeface="Comfortaa"/>
                <a:cs typeface="Comfortaa"/>
                <a:sym typeface="Comfortaa"/>
              </a:rPr>
              <a:t>Ego</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Other</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Neg.</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Pos.</a:t>
            </a:r>
            <a:endParaRPr b="1" sz="1100">
              <a:latin typeface="Comfortaa"/>
              <a:ea typeface="Comfortaa"/>
              <a:cs typeface="Comfortaa"/>
              <a:sym typeface="Comfortaa"/>
            </a:endParaRPr>
          </a:p>
        </p:txBody>
      </p:sp>
      <p:sp>
        <p:nvSpPr>
          <p:cNvPr id="649" name="Google Shape;649;p34"/>
          <p:cNvSpPr txBox="1"/>
          <p:nvPr/>
        </p:nvSpPr>
        <p:spPr>
          <a:xfrm>
            <a:off x="1114000" y="4670725"/>
            <a:ext cx="1135500" cy="24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Time 1</a:t>
            </a:r>
            <a:endParaRPr>
              <a:latin typeface="Open Sans"/>
              <a:ea typeface="Open Sans"/>
              <a:cs typeface="Open Sans"/>
              <a:sym typeface="Open Sans"/>
            </a:endParaRPr>
          </a:p>
        </p:txBody>
      </p:sp>
      <p:sp>
        <p:nvSpPr>
          <p:cNvPr id="650" name="Google Shape;650;p34"/>
          <p:cNvSpPr txBox="1"/>
          <p:nvPr/>
        </p:nvSpPr>
        <p:spPr>
          <a:xfrm>
            <a:off x="6698745" y="4602600"/>
            <a:ext cx="1135500" cy="24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Time 2</a:t>
            </a:r>
            <a:endParaRPr>
              <a:latin typeface="Open Sans"/>
              <a:ea typeface="Open Sans"/>
              <a:cs typeface="Open Sans"/>
              <a:sym typeface="Open Sans"/>
            </a:endParaRPr>
          </a:p>
        </p:txBody>
      </p:sp>
      <p:sp>
        <p:nvSpPr>
          <p:cNvPr id="651" name="Google Shape;651;p34"/>
          <p:cNvSpPr/>
          <p:nvPr/>
        </p:nvSpPr>
        <p:spPr>
          <a:xfrm>
            <a:off x="3818050" y="3706900"/>
            <a:ext cx="1355100" cy="708600"/>
          </a:xfrm>
          <a:prstGeom prst="striped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34"/>
          <p:cNvSpPr/>
          <p:nvPr/>
        </p:nvSpPr>
        <p:spPr>
          <a:xfrm>
            <a:off x="1034750" y="4204225"/>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34"/>
          <p:cNvSpPr/>
          <p:nvPr/>
        </p:nvSpPr>
        <p:spPr>
          <a:xfrm>
            <a:off x="544125" y="33378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34"/>
          <p:cNvSpPr/>
          <p:nvPr/>
        </p:nvSpPr>
        <p:spPr>
          <a:xfrm>
            <a:off x="1034738" y="33378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34"/>
          <p:cNvSpPr/>
          <p:nvPr/>
        </p:nvSpPr>
        <p:spPr>
          <a:xfrm>
            <a:off x="1547075" y="33378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56" name="Google Shape;656;p34"/>
          <p:cNvCxnSpPr>
            <a:stCxn id="653" idx="4"/>
            <a:endCxn id="652" idx="1"/>
          </p:cNvCxnSpPr>
          <p:nvPr/>
        </p:nvCxnSpPr>
        <p:spPr>
          <a:xfrm>
            <a:off x="727125" y="3693925"/>
            <a:ext cx="361200" cy="562500"/>
          </a:xfrm>
          <a:prstGeom prst="straightConnector1">
            <a:avLst/>
          </a:prstGeom>
          <a:noFill/>
          <a:ln cap="flat" cmpd="sng" w="19050">
            <a:solidFill>
              <a:srgbClr val="FF0000"/>
            </a:solidFill>
            <a:prstDash val="solid"/>
            <a:round/>
            <a:headEnd len="med" w="med" type="none"/>
            <a:tailEnd len="med" w="med" type="triangle"/>
          </a:ln>
        </p:spPr>
      </p:cxnSp>
      <p:cxnSp>
        <p:nvCxnSpPr>
          <p:cNvPr id="657" name="Google Shape;657;p34"/>
          <p:cNvCxnSpPr>
            <a:stCxn id="654" idx="4"/>
            <a:endCxn id="652" idx="0"/>
          </p:cNvCxnSpPr>
          <p:nvPr/>
        </p:nvCxnSpPr>
        <p:spPr>
          <a:xfrm>
            <a:off x="1217738" y="3693925"/>
            <a:ext cx="0" cy="510300"/>
          </a:xfrm>
          <a:prstGeom prst="straightConnector1">
            <a:avLst/>
          </a:prstGeom>
          <a:noFill/>
          <a:ln cap="flat" cmpd="sng" w="19050">
            <a:solidFill>
              <a:srgbClr val="FF0000"/>
            </a:solidFill>
            <a:prstDash val="solid"/>
            <a:round/>
            <a:headEnd len="med" w="med" type="none"/>
            <a:tailEnd len="med" w="med" type="triangle"/>
          </a:ln>
        </p:spPr>
      </p:cxnSp>
      <p:cxnSp>
        <p:nvCxnSpPr>
          <p:cNvPr id="658" name="Google Shape;658;p34"/>
          <p:cNvCxnSpPr>
            <a:stCxn id="655" idx="4"/>
            <a:endCxn id="652" idx="7"/>
          </p:cNvCxnSpPr>
          <p:nvPr/>
        </p:nvCxnSpPr>
        <p:spPr>
          <a:xfrm flipH="1">
            <a:off x="1347275" y="3693925"/>
            <a:ext cx="382800" cy="562500"/>
          </a:xfrm>
          <a:prstGeom prst="straightConnector1">
            <a:avLst/>
          </a:prstGeom>
          <a:noFill/>
          <a:ln cap="flat" cmpd="sng" w="19050">
            <a:solidFill>
              <a:srgbClr val="FF0000"/>
            </a:solidFill>
            <a:prstDash val="solid"/>
            <a:round/>
            <a:headEnd len="med" w="med" type="none"/>
            <a:tailEnd len="med" w="med" type="triangle"/>
          </a:ln>
        </p:spPr>
      </p:cxnSp>
      <p:sp>
        <p:nvSpPr>
          <p:cNvPr id="659" name="Google Shape;659;p34"/>
          <p:cNvSpPr/>
          <p:nvPr/>
        </p:nvSpPr>
        <p:spPr>
          <a:xfrm>
            <a:off x="2059400" y="4204225"/>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34"/>
          <p:cNvSpPr/>
          <p:nvPr/>
        </p:nvSpPr>
        <p:spPr>
          <a:xfrm>
            <a:off x="2059400" y="33378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34"/>
          <p:cNvSpPr/>
          <p:nvPr/>
        </p:nvSpPr>
        <p:spPr>
          <a:xfrm>
            <a:off x="2571725" y="33378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62" name="Google Shape;662;p34"/>
          <p:cNvCxnSpPr>
            <a:stCxn id="655" idx="4"/>
            <a:endCxn id="659" idx="1"/>
          </p:cNvCxnSpPr>
          <p:nvPr/>
        </p:nvCxnSpPr>
        <p:spPr>
          <a:xfrm>
            <a:off x="1730075" y="3693925"/>
            <a:ext cx="382800" cy="562500"/>
          </a:xfrm>
          <a:prstGeom prst="straightConnector1">
            <a:avLst/>
          </a:prstGeom>
          <a:noFill/>
          <a:ln cap="flat" cmpd="sng" w="19050">
            <a:solidFill>
              <a:srgbClr val="FF0000"/>
            </a:solidFill>
            <a:prstDash val="solid"/>
            <a:round/>
            <a:headEnd len="med" w="med" type="none"/>
            <a:tailEnd len="med" w="med" type="triangle"/>
          </a:ln>
        </p:spPr>
      </p:cxnSp>
      <p:cxnSp>
        <p:nvCxnSpPr>
          <p:cNvPr id="663" name="Google Shape;663;p34"/>
          <p:cNvCxnSpPr>
            <a:stCxn id="654" idx="4"/>
            <a:endCxn id="659" idx="1"/>
          </p:cNvCxnSpPr>
          <p:nvPr/>
        </p:nvCxnSpPr>
        <p:spPr>
          <a:xfrm>
            <a:off x="1217738" y="3693925"/>
            <a:ext cx="895200" cy="562500"/>
          </a:xfrm>
          <a:prstGeom prst="straightConnector1">
            <a:avLst/>
          </a:prstGeom>
          <a:noFill/>
          <a:ln cap="flat" cmpd="sng" w="19050">
            <a:solidFill>
              <a:srgbClr val="FF0000"/>
            </a:solidFill>
            <a:prstDash val="solid"/>
            <a:round/>
            <a:headEnd len="med" w="med" type="none"/>
            <a:tailEnd len="med" w="med" type="triangle"/>
          </a:ln>
        </p:spPr>
      </p:cxnSp>
      <p:cxnSp>
        <p:nvCxnSpPr>
          <p:cNvPr id="664" name="Google Shape;664;p34"/>
          <p:cNvCxnSpPr>
            <a:stCxn id="660" idx="4"/>
            <a:endCxn id="652" idx="7"/>
          </p:cNvCxnSpPr>
          <p:nvPr/>
        </p:nvCxnSpPr>
        <p:spPr>
          <a:xfrm flipH="1">
            <a:off x="1347200" y="3693925"/>
            <a:ext cx="895200" cy="562500"/>
          </a:xfrm>
          <a:prstGeom prst="straightConnector1">
            <a:avLst/>
          </a:prstGeom>
          <a:noFill/>
          <a:ln cap="flat" cmpd="sng" w="19050">
            <a:solidFill>
              <a:srgbClr val="FF0000"/>
            </a:solidFill>
            <a:prstDash val="solid"/>
            <a:round/>
            <a:headEnd len="med" w="med" type="none"/>
            <a:tailEnd len="med" w="med" type="triangle"/>
          </a:ln>
        </p:spPr>
      </p:cxnSp>
      <p:cxnSp>
        <p:nvCxnSpPr>
          <p:cNvPr id="665" name="Google Shape;665;p34"/>
          <p:cNvCxnSpPr>
            <a:stCxn id="661" idx="4"/>
            <a:endCxn id="659" idx="0"/>
          </p:cNvCxnSpPr>
          <p:nvPr/>
        </p:nvCxnSpPr>
        <p:spPr>
          <a:xfrm flipH="1">
            <a:off x="2242325" y="3693925"/>
            <a:ext cx="512400" cy="510300"/>
          </a:xfrm>
          <a:prstGeom prst="straightConnector1">
            <a:avLst/>
          </a:prstGeom>
          <a:noFill/>
          <a:ln cap="flat" cmpd="sng" w="19050">
            <a:solidFill>
              <a:srgbClr val="FF0000"/>
            </a:solidFill>
            <a:prstDash val="solid"/>
            <a:round/>
            <a:headEnd len="med" w="med" type="none"/>
            <a:tailEnd len="med" w="med" type="triangle"/>
          </a:ln>
        </p:spPr>
      </p:cxnSp>
      <p:cxnSp>
        <p:nvCxnSpPr>
          <p:cNvPr id="666" name="Google Shape;666;p34"/>
          <p:cNvCxnSpPr>
            <a:stCxn id="660" idx="4"/>
            <a:endCxn id="659" idx="0"/>
          </p:cNvCxnSpPr>
          <p:nvPr/>
        </p:nvCxnSpPr>
        <p:spPr>
          <a:xfrm>
            <a:off x="2242400" y="3693925"/>
            <a:ext cx="0" cy="510300"/>
          </a:xfrm>
          <a:prstGeom prst="straightConnector1">
            <a:avLst/>
          </a:prstGeom>
          <a:noFill/>
          <a:ln cap="flat" cmpd="sng" w="19050">
            <a:solidFill>
              <a:srgbClr val="FF0000"/>
            </a:solidFill>
            <a:prstDash val="solid"/>
            <a:round/>
            <a:headEnd len="med" w="med" type="none"/>
            <a:tailEnd len="med" w="med" type="triangle"/>
          </a:ln>
        </p:spPr>
      </p:cxnSp>
      <p:cxnSp>
        <p:nvCxnSpPr>
          <p:cNvPr id="667" name="Google Shape;667;p34"/>
          <p:cNvCxnSpPr>
            <a:stCxn id="653" idx="5"/>
            <a:endCxn id="659" idx="1"/>
          </p:cNvCxnSpPr>
          <p:nvPr/>
        </p:nvCxnSpPr>
        <p:spPr>
          <a:xfrm>
            <a:off x="856526" y="3641775"/>
            <a:ext cx="1256400" cy="614700"/>
          </a:xfrm>
          <a:prstGeom prst="straightConnector1">
            <a:avLst/>
          </a:prstGeom>
          <a:noFill/>
          <a:ln cap="flat" cmpd="sng" w="19050">
            <a:solidFill>
              <a:srgbClr val="FF0000"/>
            </a:solidFill>
            <a:prstDash val="solid"/>
            <a:round/>
            <a:headEnd len="med" w="med" type="none"/>
            <a:tailEnd len="med" w="med" type="triangle"/>
          </a:ln>
        </p:spPr>
      </p:cxnSp>
      <p:cxnSp>
        <p:nvCxnSpPr>
          <p:cNvPr id="668" name="Google Shape;668;p34"/>
          <p:cNvCxnSpPr>
            <a:stCxn id="661" idx="3"/>
            <a:endCxn id="652" idx="7"/>
          </p:cNvCxnSpPr>
          <p:nvPr/>
        </p:nvCxnSpPr>
        <p:spPr>
          <a:xfrm flipH="1">
            <a:off x="1347024" y="3641775"/>
            <a:ext cx="1278300" cy="614700"/>
          </a:xfrm>
          <a:prstGeom prst="straightConnector1">
            <a:avLst/>
          </a:prstGeom>
          <a:noFill/>
          <a:ln cap="flat" cmpd="sng" w="19050">
            <a:solidFill>
              <a:srgbClr val="FF0000"/>
            </a:solidFill>
            <a:prstDash val="solid"/>
            <a:round/>
            <a:headEnd len="med" w="med" type="none"/>
            <a:tailEnd len="med" w="med" type="triangle"/>
          </a:ln>
        </p:spPr>
      </p:cxnSp>
      <p:sp>
        <p:nvSpPr>
          <p:cNvPr id="669" name="Google Shape;669;p34"/>
          <p:cNvSpPr/>
          <p:nvPr/>
        </p:nvSpPr>
        <p:spPr>
          <a:xfrm>
            <a:off x="6727100" y="4230325"/>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34"/>
          <p:cNvSpPr/>
          <p:nvPr/>
        </p:nvSpPr>
        <p:spPr>
          <a:xfrm>
            <a:off x="6236475" y="33639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34"/>
          <p:cNvSpPr/>
          <p:nvPr/>
        </p:nvSpPr>
        <p:spPr>
          <a:xfrm>
            <a:off x="6727088" y="33639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34"/>
          <p:cNvSpPr/>
          <p:nvPr/>
        </p:nvSpPr>
        <p:spPr>
          <a:xfrm>
            <a:off x="7239425" y="33639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73" name="Google Shape;673;p34"/>
          <p:cNvCxnSpPr>
            <a:stCxn id="670" idx="4"/>
            <a:endCxn id="669" idx="1"/>
          </p:cNvCxnSpPr>
          <p:nvPr/>
        </p:nvCxnSpPr>
        <p:spPr>
          <a:xfrm>
            <a:off x="6419475" y="3720025"/>
            <a:ext cx="361200" cy="562500"/>
          </a:xfrm>
          <a:prstGeom prst="straightConnector1">
            <a:avLst/>
          </a:prstGeom>
          <a:noFill/>
          <a:ln cap="flat" cmpd="sng" w="19050">
            <a:solidFill>
              <a:srgbClr val="FF0000"/>
            </a:solidFill>
            <a:prstDash val="solid"/>
            <a:round/>
            <a:headEnd len="med" w="med" type="none"/>
            <a:tailEnd len="med" w="med" type="triangle"/>
          </a:ln>
        </p:spPr>
      </p:cxnSp>
      <p:cxnSp>
        <p:nvCxnSpPr>
          <p:cNvPr id="674" name="Google Shape;674;p34"/>
          <p:cNvCxnSpPr>
            <a:stCxn id="671" idx="4"/>
            <a:endCxn id="669" idx="0"/>
          </p:cNvCxnSpPr>
          <p:nvPr/>
        </p:nvCxnSpPr>
        <p:spPr>
          <a:xfrm>
            <a:off x="6910088" y="3720025"/>
            <a:ext cx="0" cy="510300"/>
          </a:xfrm>
          <a:prstGeom prst="straightConnector1">
            <a:avLst/>
          </a:prstGeom>
          <a:noFill/>
          <a:ln cap="flat" cmpd="sng" w="19050">
            <a:solidFill>
              <a:srgbClr val="FF0000"/>
            </a:solidFill>
            <a:prstDash val="solid"/>
            <a:round/>
            <a:headEnd len="med" w="med" type="none"/>
            <a:tailEnd len="med" w="med" type="triangle"/>
          </a:ln>
        </p:spPr>
      </p:cxnSp>
      <p:cxnSp>
        <p:nvCxnSpPr>
          <p:cNvPr id="675" name="Google Shape;675;p34"/>
          <p:cNvCxnSpPr>
            <a:stCxn id="672" idx="4"/>
            <a:endCxn id="669" idx="7"/>
          </p:cNvCxnSpPr>
          <p:nvPr/>
        </p:nvCxnSpPr>
        <p:spPr>
          <a:xfrm flipH="1">
            <a:off x="7039625" y="3720025"/>
            <a:ext cx="382800" cy="562500"/>
          </a:xfrm>
          <a:prstGeom prst="straightConnector1">
            <a:avLst/>
          </a:prstGeom>
          <a:noFill/>
          <a:ln cap="flat" cmpd="sng" w="19050">
            <a:solidFill>
              <a:srgbClr val="FF0000"/>
            </a:solidFill>
            <a:prstDash val="solid"/>
            <a:round/>
            <a:headEnd len="med" w="med" type="none"/>
            <a:tailEnd len="med" w="med" type="triangle"/>
          </a:ln>
        </p:spPr>
      </p:cxnSp>
      <p:sp>
        <p:nvSpPr>
          <p:cNvPr id="676" name="Google Shape;676;p34"/>
          <p:cNvSpPr/>
          <p:nvPr/>
        </p:nvSpPr>
        <p:spPr>
          <a:xfrm>
            <a:off x="7751750" y="4230325"/>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34"/>
          <p:cNvSpPr/>
          <p:nvPr/>
        </p:nvSpPr>
        <p:spPr>
          <a:xfrm>
            <a:off x="7751750" y="33639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34"/>
          <p:cNvSpPr/>
          <p:nvPr/>
        </p:nvSpPr>
        <p:spPr>
          <a:xfrm>
            <a:off x="8264075" y="33639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79" name="Google Shape;679;p34"/>
          <p:cNvCxnSpPr>
            <a:stCxn id="672" idx="4"/>
            <a:endCxn id="676" idx="1"/>
          </p:cNvCxnSpPr>
          <p:nvPr/>
        </p:nvCxnSpPr>
        <p:spPr>
          <a:xfrm>
            <a:off x="7422425" y="3720025"/>
            <a:ext cx="382800" cy="562500"/>
          </a:xfrm>
          <a:prstGeom prst="straightConnector1">
            <a:avLst/>
          </a:prstGeom>
          <a:noFill/>
          <a:ln cap="flat" cmpd="sng" w="19050">
            <a:solidFill>
              <a:srgbClr val="FF0000"/>
            </a:solidFill>
            <a:prstDash val="solid"/>
            <a:round/>
            <a:headEnd len="med" w="med" type="none"/>
            <a:tailEnd len="med" w="med" type="triangle"/>
          </a:ln>
        </p:spPr>
      </p:cxnSp>
      <p:cxnSp>
        <p:nvCxnSpPr>
          <p:cNvPr id="680" name="Google Shape;680;p34"/>
          <p:cNvCxnSpPr>
            <a:stCxn id="671" idx="4"/>
            <a:endCxn id="676" idx="1"/>
          </p:cNvCxnSpPr>
          <p:nvPr/>
        </p:nvCxnSpPr>
        <p:spPr>
          <a:xfrm>
            <a:off x="6910088" y="3720025"/>
            <a:ext cx="895200" cy="562500"/>
          </a:xfrm>
          <a:prstGeom prst="straightConnector1">
            <a:avLst/>
          </a:prstGeom>
          <a:noFill/>
          <a:ln cap="flat" cmpd="sng" w="19050">
            <a:solidFill>
              <a:srgbClr val="FF0000"/>
            </a:solidFill>
            <a:prstDash val="solid"/>
            <a:round/>
            <a:headEnd len="med" w="med" type="none"/>
            <a:tailEnd len="med" w="med" type="triangle"/>
          </a:ln>
        </p:spPr>
      </p:cxnSp>
      <p:cxnSp>
        <p:nvCxnSpPr>
          <p:cNvPr id="681" name="Google Shape;681;p34"/>
          <p:cNvCxnSpPr>
            <a:stCxn id="677" idx="4"/>
            <a:endCxn id="669" idx="7"/>
          </p:cNvCxnSpPr>
          <p:nvPr/>
        </p:nvCxnSpPr>
        <p:spPr>
          <a:xfrm flipH="1">
            <a:off x="7039550" y="3720025"/>
            <a:ext cx="895200" cy="562500"/>
          </a:xfrm>
          <a:prstGeom prst="straightConnector1">
            <a:avLst/>
          </a:prstGeom>
          <a:noFill/>
          <a:ln cap="flat" cmpd="sng" w="19050">
            <a:solidFill>
              <a:srgbClr val="FF0000"/>
            </a:solidFill>
            <a:prstDash val="solid"/>
            <a:round/>
            <a:headEnd len="med" w="med" type="none"/>
            <a:tailEnd len="med" w="med" type="triangle"/>
          </a:ln>
        </p:spPr>
      </p:cxnSp>
      <p:cxnSp>
        <p:nvCxnSpPr>
          <p:cNvPr id="682" name="Google Shape;682;p34"/>
          <p:cNvCxnSpPr>
            <a:stCxn id="678" idx="4"/>
            <a:endCxn id="676" idx="0"/>
          </p:cNvCxnSpPr>
          <p:nvPr/>
        </p:nvCxnSpPr>
        <p:spPr>
          <a:xfrm flipH="1">
            <a:off x="7934675" y="3720025"/>
            <a:ext cx="512400" cy="510300"/>
          </a:xfrm>
          <a:prstGeom prst="straightConnector1">
            <a:avLst/>
          </a:prstGeom>
          <a:noFill/>
          <a:ln cap="flat" cmpd="sng" w="19050">
            <a:solidFill>
              <a:srgbClr val="FF0000"/>
            </a:solidFill>
            <a:prstDash val="solid"/>
            <a:round/>
            <a:headEnd len="med" w="med" type="none"/>
            <a:tailEnd len="med" w="med" type="triangle"/>
          </a:ln>
        </p:spPr>
      </p:cxnSp>
      <p:cxnSp>
        <p:nvCxnSpPr>
          <p:cNvPr id="683" name="Google Shape;683;p34"/>
          <p:cNvCxnSpPr>
            <a:stCxn id="677" idx="4"/>
            <a:endCxn id="676" idx="0"/>
          </p:cNvCxnSpPr>
          <p:nvPr/>
        </p:nvCxnSpPr>
        <p:spPr>
          <a:xfrm>
            <a:off x="7934750" y="3720025"/>
            <a:ext cx="0" cy="510300"/>
          </a:xfrm>
          <a:prstGeom prst="straightConnector1">
            <a:avLst/>
          </a:prstGeom>
          <a:noFill/>
          <a:ln cap="flat" cmpd="sng" w="19050">
            <a:solidFill>
              <a:srgbClr val="FF0000"/>
            </a:solidFill>
            <a:prstDash val="solid"/>
            <a:round/>
            <a:headEnd len="med" w="med" type="none"/>
            <a:tailEnd len="med" w="med" type="triangle"/>
          </a:ln>
        </p:spPr>
      </p:cxnSp>
      <p:cxnSp>
        <p:nvCxnSpPr>
          <p:cNvPr id="684" name="Google Shape;684;p34"/>
          <p:cNvCxnSpPr>
            <a:stCxn id="670" idx="5"/>
            <a:endCxn id="676" idx="1"/>
          </p:cNvCxnSpPr>
          <p:nvPr/>
        </p:nvCxnSpPr>
        <p:spPr>
          <a:xfrm>
            <a:off x="6548876" y="3667875"/>
            <a:ext cx="1256400" cy="614700"/>
          </a:xfrm>
          <a:prstGeom prst="straightConnector1">
            <a:avLst/>
          </a:prstGeom>
          <a:noFill/>
          <a:ln cap="flat" cmpd="sng" w="19050">
            <a:solidFill>
              <a:srgbClr val="FF0000"/>
            </a:solidFill>
            <a:prstDash val="solid"/>
            <a:round/>
            <a:headEnd len="med" w="med" type="none"/>
            <a:tailEnd len="med" w="med" type="triangle"/>
          </a:ln>
        </p:spPr>
      </p:cxnSp>
      <p:cxnSp>
        <p:nvCxnSpPr>
          <p:cNvPr id="685" name="Google Shape;685;p34"/>
          <p:cNvCxnSpPr>
            <a:stCxn id="678" idx="3"/>
            <a:endCxn id="669" idx="7"/>
          </p:cNvCxnSpPr>
          <p:nvPr/>
        </p:nvCxnSpPr>
        <p:spPr>
          <a:xfrm flipH="1">
            <a:off x="7039374" y="3667875"/>
            <a:ext cx="1278300" cy="614700"/>
          </a:xfrm>
          <a:prstGeom prst="straightConnector1">
            <a:avLst/>
          </a:prstGeom>
          <a:noFill/>
          <a:ln cap="flat" cmpd="sng" w="19050">
            <a:solidFill>
              <a:srgbClr val="FF0000"/>
            </a:solidFill>
            <a:prstDash val="solid"/>
            <a:round/>
            <a:headEnd len="med" w="med" type="none"/>
            <a:tailEnd len="med" w="med" type="triangle"/>
          </a:ln>
        </p:spPr>
      </p:cxnSp>
      <p:cxnSp>
        <p:nvCxnSpPr>
          <p:cNvPr id="686" name="Google Shape;686;p34"/>
          <p:cNvCxnSpPr>
            <a:stCxn id="669" idx="6"/>
            <a:endCxn id="676" idx="2"/>
          </p:cNvCxnSpPr>
          <p:nvPr/>
        </p:nvCxnSpPr>
        <p:spPr>
          <a:xfrm>
            <a:off x="7093100" y="4408375"/>
            <a:ext cx="658800" cy="0"/>
          </a:xfrm>
          <a:prstGeom prst="straightConnector1">
            <a:avLst/>
          </a:prstGeom>
          <a:noFill/>
          <a:ln cap="flat" cmpd="sng" w="19050">
            <a:solidFill>
              <a:srgbClr val="6AA84F"/>
            </a:solidFill>
            <a:prstDash val="solid"/>
            <a:round/>
            <a:headEnd len="med" w="med" type="none"/>
            <a:tailEnd len="med" w="med" type="triangle"/>
          </a:ln>
        </p:spPr>
      </p:cxnSp>
      <p:cxnSp>
        <p:nvCxnSpPr>
          <p:cNvPr id="687" name="Google Shape;687;p34"/>
          <p:cNvCxnSpPr>
            <a:stCxn id="676" idx="3"/>
            <a:endCxn id="669" idx="5"/>
          </p:cNvCxnSpPr>
          <p:nvPr/>
        </p:nvCxnSpPr>
        <p:spPr>
          <a:xfrm rot="10800000">
            <a:off x="7039449" y="4534275"/>
            <a:ext cx="765900" cy="0"/>
          </a:xfrm>
          <a:prstGeom prst="straightConnector1">
            <a:avLst/>
          </a:prstGeom>
          <a:noFill/>
          <a:ln cap="flat" cmpd="sng" w="19050">
            <a:solidFill>
              <a:srgbClr val="6AA84F"/>
            </a:solidFill>
            <a:prstDash val="solid"/>
            <a:round/>
            <a:headEnd len="med" w="med" type="none"/>
            <a:tailEnd len="med" w="med" type="triangle"/>
          </a:ln>
        </p:spPr>
      </p:cxnSp>
      <p:sp>
        <p:nvSpPr>
          <p:cNvPr id="688" name="Google Shape;688;p34"/>
          <p:cNvSpPr txBox="1"/>
          <p:nvPr/>
        </p:nvSpPr>
        <p:spPr>
          <a:xfrm>
            <a:off x="2754725" y="4510450"/>
            <a:ext cx="3248400" cy="35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rgbClr val="FF0000"/>
                </a:solidFill>
                <a:latin typeface="Open Sans"/>
                <a:ea typeface="Open Sans"/>
                <a:cs typeface="Open Sans"/>
                <a:sym typeface="Open Sans"/>
              </a:rPr>
              <a:t>The downtrodden stick </a:t>
            </a:r>
            <a:r>
              <a:rPr b="1" lang="en">
                <a:solidFill>
                  <a:srgbClr val="FF0000"/>
                </a:solidFill>
                <a:latin typeface="Open Sans"/>
                <a:ea typeface="Open Sans"/>
                <a:cs typeface="Open Sans"/>
                <a:sym typeface="Open Sans"/>
              </a:rPr>
              <a:t>together</a:t>
            </a:r>
            <a:r>
              <a:rPr b="1" lang="en">
                <a:solidFill>
                  <a:srgbClr val="FF0000"/>
                </a:solidFill>
                <a:latin typeface="Open Sans"/>
                <a:ea typeface="Open Sans"/>
                <a:cs typeface="Open Sans"/>
                <a:sym typeface="Open Sans"/>
              </a:rPr>
              <a:t>!</a:t>
            </a:r>
            <a:endParaRPr b="1">
              <a:solidFill>
                <a:srgbClr val="FF0000"/>
              </a:solidFill>
              <a:latin typeface="Open Sans"/>
              <a:ea typeface="Open Sans"/>
              <a:cs typeface="Open Sans"/>
              <a:sym typeface="Open San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p3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Valenced interactions: Solidarity theory</a:t>
            </a:r>
            <a:endParaRPr/>
          </a:p>
        </p:txBody>
      </p:sp>
      <p:sp>
        <p:nvSpPr>
          <p:cNvPr id="694" name="Google Shape;694;p35"/>
          <p:cNvSpPr txBox="1"/>
          <p:nvPr>
            <p:ph idx="1" type="body"/>
          </p:nvPr>
        </p:nvSpPr>
        <p:spPr>
          <a:xfrm>
            <a:off x="311700" y="1225225"/>
            <a:ext cx="8697000" cy="17217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
              <a:t>Solidarity Theory</a:t>
            </a:r>
            <a:endParaRPr b="1"/>
          </a:p>
          <a:p>
            <a:pPr indent="-317500" lvl="1" marL="914400" rtl="0" algn="l">
              <a:spcBef>
                <a:spcPts val="0"/>
              </a:spcBef>
              <a:spcAft>
                <a:spcPts val="0"/>
              </a:spcAft>
              <a:buSzPts val="1400"/>
              <a:buChar char="○"/>
            </a:pPr>
            <a:r>
              <a:rPr lang="en"/>
              <a:t>People in the same </a:t>
            </a:r>
            <a:r>
              <a:rPr b="1" lang="en"/>
              <a:t>position in the valenced interaction network</a:t>
            </a:r>
            <a:r>
              <a:rPr lang="en"/>
              <a:t> are likely to link via positive ties</a:t>
            </a:r>
            <a:endParaRPr/>
          </a:p>
          <a:p>
            <a:pPr indent="-342900" lvl="0" marL="457200" rtl="0" algn="l">
              <a:spcBef>
                <a:spcPts val="0"/>
              </a:spcBef>
              <a:spcAft>
                <a:spcPts val="0"/>
              </a:spcAft>
              <a:buSzPts val="1800"/>
              <a:buChar char="●"/>
            </a:pPr>
            <a:r>
              <a:rPr lang="en"/>
              <a:t>Two types of solidarity:</a:t>
            </a:r>
            <a:endParaRPr/>
          </a:p>
          <a:p>
            <a:pPr indent="-317500" lvl="1" marL="914400" rtl="0" algn="l">
              <a:spcBef>
                <a:spcPts val="0"/>
              </a:spcBef>
              <a:spcAft>
                <a:spcPts val="0"/>
              </a:spcAft>
              <a:buSzPts val="1400"/>
              <a:buChar char="○"/>
            </a:pPr>
            <a:r>
              <a:rPr lang="en"/>
              <a:t>Status solidarity</a:t>
            </a:r>
            <a:endParaRPr/>
          </a:p>
          <a:p>
            <a:pPr indent="-317500" lvl="1" marL="914400" rtl="0" algn="l">
              <a:spcBef>
                <a:spcPts val="0"/>
              </a:spcBef>
              <a:spcAft>
                <a:spcPts val="0"/>
              </a:spcAft>
              <a:buSzPts val="1400"/>
              <a:buChar char="○"/>
            </a:pPr>
            <a:r>
              <a:rPr b="1" lang="en"/>
              <a:t>Karma solidarity</a:t>
            </a:r>
            <a:endParaRPr b="1"/>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sp>
        <p:nvSpPr>
          <p:cNvPr id="695" name="Google Shape;695;p35"/>
          <p:cNvSpPr/>
          <p:nvPr/>
        </p:nvSpPr>
        <p:spPr>
          <a:xfrm>
            <a:off x="8027125" y="86350"/>
            <a:ext cx="981600" cy="1179600"/>
          </a:xfrm>
          <a:prstGeom prst="rect">
            <a:avLst/>
          </a:prstGeom>
          <a:noFill/>
          <a:ln cap="flat" cmpd="sng" w="19050">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35"/>
          <p:cNvSpPr/>
          <p:nvPr/>
        </p:nvSpPr>
        <p:spPr>
          <a:xfrm>
            <a:off x="8192860" y="472152"/>
            <a:ext cx="191400" cy="1932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35"/>
          <p:cNvSpPr/>
          <p:nvPr/>
        </p:nvSpPr>
        <p:spPr>
          <a:xfrm>
            <a:off x="8192860" y="216793"/>
            <a:ext cx="191400" cy="19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98" name="Google Shape;698;p35"/>
          <p:cNvCxnSpPr/>
          <p:nvPr/>
        </p:nvCxnSpPr>
        <p:spPr>
          <a:xfrm flipH="1" rot="10800000">
            <a:off x="8124842" y="847730"/>
            <a:ext cx="327600" cy="5700"/>
          </a:xfrm>
          <a:prstGeom prst="straightConnector1">
            <a:avLst/>
          </a:prstGeom>
          <a:noFill/>
          <a:ln cap="flat" cmpd="sng" w="38100">
            <a:solidFill>
              <a:srgbClr val="FF0000"/>
            </a:solidFill>
            <a:prstDash val="solid"/>
            <a:round/>
            <a:headEnd len="med" w="med" type="none"/>
            <a:tailEnd len="med" w="med" type="triangle"/>
          </a:ln>
        </p:spPr>
      </p:cxnSp>
      <p:cxnSp>
        <p:nvCxnSpPr>
          <p:cNvPr id="699" name="Google Shape;699;p35"/>
          <p:cNvCxnSpPr/>
          <p:nvPr/>
        </p:nvCxnSpPr>
        <p:spPr>
          <a:xfrm flipH="1" rot="10800000">
            <a:off x="8124842" y="1076729"/>
            <a:ext cx="327600" cy="5700"/>
          </a:xfrm>
          <a:prstGeom prst="straightConnector1">
            <a:avLst/>
          </a:prstGeom>
          <a:noFill/>
          <a:ln cap="flat" cmpd="sng" w="38100">
            <a:solidFill>
              <a:srgbClr val="6AA84F"/>
            </a:solidFill>
            <a:prstDash val="solid"/>
            <a:round/>
            <a:headEnd len="med" w="med" type="none"/>
            <a:tailEnd len="med" w="med" type="triangle"/>
          </a:ln>
        </p:spPr>
      </p:cxnSp>
      <p:sp>
        <p:nvSpPr>
          <p:cNvPr id="700" name="Google Shape;700;p35"/>
          <p:cNvSpPr txBox="1"/>
          <p:nvPr/>
        </p:nvSpPr>
        <p:spPr>
          <a:xfrm>
            <a:off x="8384249" y="151200"/>
            <a:ext cx="676500" cy="1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sz="1100">
                <a:latin typeface="Comfortaa"/>
                <a:ea typeface="Comfortaa"/>
                <a:cs typeface="Comfortaa"/>
                <a:sym typeface="Comfortaa"/>
              </a:rPr>
              <a:t>Ego</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Other</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Neg.</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Pos.</a:t>
            </a:r>
            <a:endParaRPr b="1" sz="1100">
              <a:latin typeface="Comfortaa"/>
              <a:ea typeface="Comfortaa"/>
              <a:cs typeface="Comfortaa"/>
              <a:sym typeface="Comfortaa"/>
            </a:endParaRPr>
          </a:p>
        </p:txBody>
      </p:sp>
      <p:sp>
        <p:nvSpPr>
          <p:cNvPr id="701" name="Google Shape;701;p35"/>
          <p:cNvSpPr txBox="1"/>
          <p:nvPr/>
        </p:nvSpPr>
        <p:spPr>
          <a:xfrm>
            <a:off x="1114000" y="4670725"/>
            <a:ext cx="1135500" cy="24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Time 1</a:t>
            </a:r>
            <a:endParaRPr>
              <a:latin typeface="Open Sans"/>
              <a:ea typeface="Open Sans"/>
              <a:cs typeface="Open Sans"/>
              <a:sym typeface="Open Sans"/>
            </a:endParaRPr>
          </a:p>
        </p:txBody>
      </p:sp>
      <p:sp>
        <p:nvSpPr>
          <p:cNvPr id="702" name="Google Shape;702;p35"/>
          <p:cNvSpPr txBox="1"/>
          <p:nvPr/>
        </p:nvSpPr>
        <p:spPr>
          <a:xfrm>
            <a:off x="6698745" y="4602600"/>
            <a:ext cx="1135500" cy="24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Time 2</a:t>
            </a:r>
            <a:endParaRPr>
              <a:latin typeface="Open Sans"/>
              <a:ea typeface="Open Sans"/>
              <a:cs typeface="Open Sans"/>
              <a:sym typeface="Open Sans"/>
            </a:endParaRPr>
          </a:p>
        </p:txBody>
      </p:sp>
      <p:sp>
        <p:nvSpPr>
          <p:cNvPr id="703" name="Google Shape;703;p35"/>
          <p:cNvSpPr/>
          <p:nvPr/>
        </p:nvSpPr>
        <p:spPr>
          <a:xfrm>
            <a:off x="3818050" y="3706900"/>
            <a:ext cx="1355100" cy="708600"/>
          </a:xfrm>
          <a:prstGeom prst="striped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35"/>
          <p:cNvSpPr/>
          <p:nvPr/>
        </p:nvSpPr>
        <p:spPr>
          <a:xfrm>
            <a:off x="1034750" y="4204225"/>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35"/>
          <p:cNvSpPr/>
          <p:nvPr/>
        </p:nvSpPr>
        <p:spPr>
          <a:xfrm>
            <a:off x="544125" y="33378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35"/>
          <p:cNvSpPr/>
          <p:nvPr/>
        </p:nvSpPr>
        <p:spPr>
          <a:xfrm>
            <a:off x="1034738" y="33378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35"/>
          <p:cNvSpPr/>
          <p:nvPr/>
        </p:nvSpPr>
        <p:spPr>
          <a:xfrm>
            <a:off x="1547075" y="33378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08" name="Google Shape;708;p35"/>
          <p:cNvCxnSpPr>
            <a:stCxn id="705" idx="4"/>
            <a:endCxn id="704" idx="1"/>
          </p:cNvCxnSpPr>
          <p:nvPr/>
        </p:nvCxnSpPr>
        <p:spPr>
          <a:xfrm>
            <a:off x="727125" y="3693925"/>
            <a:ext cx="361200" cy="562500"/>
          </a:xfrm>
          <a:prstGeom prst="straightConnector1">
            <a:avLst/>
          </a:prstGeom>
          <a:noFill/>
          <a:ln cap="flat" cmpd="sng" w="19050">
            <a:solidFill>
              <a:srgbClr val="FF0000"/>
            </a:solidFill>
            <a:prstDash val="solid"/>
            <a:round/>
            <a:headEnd len="med" w="med" type="triangle"/>
            <a:tailEnd len="med" w="med" type="none"/>
          </a:ln>
        </p:spPr>
      </p:cxnSp>
      <p:cxnSp>
        <p:nvCxnSpPr>
          <p:cNvPr id="709" name="Google Shape;709;p35"/>
          <p:cNvCxnSpPr>
            <a:stCxn id="706" idx="4"/>
            <a:endCxn id="704" idx="0"/>
          </p:cNvCxnSpPr>
          <p:nvPr/>
        </p:nvCxnSpPr>
        <p:spPr>
          <a:xfrm>
            <a:off x="1217738" y="3693925"/>
            <a:ext cx="0" cy="510300"/>
          </a:xfrm>
          <a:prstGeom prst="straightConnector1">
            <a:avLst/>
          </a:prstGeom>
          <a:noFill/>
          <a:ln cap="flat" cmpd="sng" w="19050">
            <a:solidFill>
              <a:srgbClr val="FF0000"/>
            </a:solidFill>
            <a:prstDash val="solid"/>
            <a:round/>
            <a:headEnd len="med" w="med" type="triangle"/>
            <a:tailEnd len="med" w="med" type="none"/>
          </a:ln>
        </p:spPr>
      </p:cxnSp>
      <p:cxnSp>
        <p:nvCxnSpPr>
          <p:cNvPr id="710" name="Google Shape;710;p35"/>
          <p:cNvCxnSpPr>
            <a:stCxn id="707" idx="4"/>
            <a:endCxn id="704" idx="7"/>
          </p:cNvCxnSpPr>
          <p:nvPr/>
        </p:nvCxnSpPr>
        <p:spPr>
          <a:xfrm flipH="1">
            <a:off x="1347275" y="3693925"/>
            <a:ext cx="382800" cy="562500"/>
          </a:xfrm>
          <a:prstGeom prst="straightConnector1">
            <a:avLst/>
          </a:prstGeom>
          <a:noFill/>
          <a:ln cap="flat" cmpd="sng" w="19050">
            <a:solidFill>
              <a:srgbClr val="FF0000"/>
            </a:solidFill>
            <a:prstDash val="solid"/>
            <a:round/>
            <a:headEnd len="med" w="med" type="triangle"/>
            <a:tailEnd len="med" w="med" type="none"/>
          </a:ln>
        </p:spPr>
      </p:cxnSp>
      <p:sp>
        <p:nvSpPr>
          <p:cNvPr id="711" name="Google Shape;711;p35"/>
          <p:cNvSpPr/>
          <p:nvPr/>
        </p:nvSpPr>
        <p:spPr>
          <a:xfrm>
            <a:off x="2059400" y="4204225"/>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35"/>
          <p:cNvSpPr/>
          <p:nvPr/>
        </p:nvSpPr>
        <p:spPr>
          <a:xfrm>
            <a:off x="2059400" y="33378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35"/>
          <p:cNvSpPr/>
          <p:nvPr/>
        </p:nvSpPr>
        <p:spPr>
          <a:xfrm>
            <a:off x="2571725" y="33378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14" name="Google Shape;714;p35"/>
          <p:cNvCxnSpPr>
            <a:stCxn id="707" idx="4"/>
            <a:endCxn id="711" idx="1"/>
          </p:cNvCxnSpPr>
          <p:nvPr/>
        </p:nvCxnSpPr>
        <p:spPr>
          <a:xfrm>
            <a:off x="1730075" y="3693925"/>
            <a:ext cx="382800" cy="562500"/>
          </a:xfrm>
          <a:prstGeom prst="straightConnector1">
            <a:avLst/>
          </a:prstGeom>
          <a:noFill/>
          <a:ln cap="flat" cmpd="sng" w="19050">
            <a:solidFill>
              <a:srgbClr val="FF0000"/>
            </a:solidFill>
            <a:prstDash val="solid"/>
            <a:round/>
            <a:headEnd len="med" w="med" type="triangle"/>
            <a:tailEnd len="med" w="med" type="none"/>
          </a:ln>
        </p:spPr>
      </p:cxnSp>
      <p:cxnSp>
        <p:nvCxnSpPr>
          <p:cNvPr id="715" name="Google Shape;715;p35"/>
          <p:cNvCxnSpPr>
            <a:stCxn id="706" idx="4"/>
            <a:endCxn id="711" idx="1"/>
          </p:cNvCxnSpPr>
          <p:nvPr/>
        </p:nvCxnSpPr>
        <p:spPr>
          <a:xfrm>
            <a:off x="1217738" y="3693925"/>
            <a:ext cx="895200" cy="562500"/>
          </a:xfrm>
          <a:prstGeom prst="straightConnector1">
            <a:avLst/>
          </a:prstGeom>
          <a:noFill/>
          <a:ln cap="flat" cmpd="sng" w="19050">
            <a:solidFill>
              <a:srgbClr val="FF0000"/>
            </a:solidFill>
            <a:prstDash val="solid"/>
            <a:round/>
            <a:headEnd len="med" w="med" type="triangle"/>
            <a:tailEnd len="med" w="med" type="none"/>
          </a:ln>
        </p:spPr>
      </p:cxnSp>
      <p:cxnSp>
        <p:nvCxnSpPr>
          <p:cNvPr id="716" name="Google Shape;716;p35"/>
          <p:cNvCxnSpPr>
            <a:stCxn id="712" idx="4"/>
            <a:endCxn id="704" idx="7"/>
          </p:cNvCxnSpPr>
          <p:nvPr/>
        </p:nvCxnSpPr>
        <p:spPr>
          <a:xfrm flipH="1">
            <a:off x="1347200" y="3693925"/>
            <a:ext cx="895200" cy="562500"/>
          </a:xfrm>
          <a:prstGeom prst="straightConnector1">
            <a:avLst/>
          </a:prstGeom>
          <a:noFill/>
          <a:ln cap="flat" cmpd="sng" w="19050">
            <a:solidFill>
              <a:srgbClr val="FF0000"/>
            </a:solidFill>
            <a:prstDash val="solid"/>
            <a:round/>
            <a:headEnd len="med" w="med" type="triangle"/>
            <a:tailEnd len="med" w="med" type="none"/>
          </a:ln>
        </p:spPr>
      </p:cxnSp>
      <p:cxnSp>
        <p:nvCxnSpPr>
          <p:cNvPr id="717" name="Google Shape;717;p35"/>
          <p:cNvCxnSpPr>
            <a:stCxn id="713" idx="4"/>
            <a:endCxn id="711" idx="0"/>
          </p:cNvCxnSpPr>
          <p:nvPr/>
        </p:nvCxnSpPr>
        <p:spPr>
          <a:xfrm flipH="1">
            <a:off x="2242325" y="3693925"/>
            <a:ext cx="512400" cy="510300"/>
          </a:xfrm>
          <a:prstGeom prst="straightConnector1">
            <a:avLst/>
          </a:prstGeom>
          <a:noFill/>
          <a:ln cap="flat" cmpd="sng" w="19050">
            <a:solidFill>
              <a:srgbClr val="FF0000"/>
            </a:solidFill>
            <a:prstDash val="solid"/>
            <a:round/>
            <a:headEnd len="med" w="med" type="triangle"/>
            <a:tailEnd len="med" w="med" type="none"/>
          </a:ln>
        </p:spPr>
      </p:cxnSp>
      <p:cxnSp>
        <p:nvCxnSpPr>
          <p:cNvPr id="718" name="Google Shape;718;p35"/>
          <p:cNvCxnSpPr>
            <a:stCxn id="712" idx="4"/>
            <a:endCxn id="711" idx="0"/>
          </p:cNvCxnSpPr>
          <p:nvPr/>
        </p:nvCxnSpPr>
        <p:spPr>
          <a:xfrm>
            <a:off x="2242400" y="3693925"/>
            <a:ext cx="0" cy="510300"/>
          </a:xfrm>
          <a:prstGeom prst="straightConnector1">
            <a:avLst/>
          </a:prstGeom>
          <a:noFill/>
          <a:ln cap="flat" cmpd="sng" w="19050">
            <a:solidFill>
              <a:srgbClr val="FF0000"/>
            </a:solidFill>
            <a:prstDash val="solid"/>
            <a:round/>
            <a:headEnd len="med" w="med" type="triangle"/>
            <a:tailEnd len="med" w="med" type="none"/>
          </a:ln>
        </p:spPr>
      </p:cxnSp>
      <p:cxnSp>
        <p:nvCxnSpPr>
          <p:cNvPr id="719" name="Google Shape;719;p35"/>
          <p:cNvCxnSpPr>
            <a:stCxn id="705" idx="5"/>
            <a:endCxn id="711" idx="1"/>
          </p:cNvCxnSpPr>
          <p:nvPr/>
        </p:nvCxnSpPr>
        <p:spPr>
          <a:xfrm>
            <a:off x="856526" y="3641775"/>
            <a:ext cx="1256400" cy="614700"/>
          </a:xfrm>
          <a:prstGeom prst="straightConnector1">
            <a:avLst/>
          </a:prstGeom>
          <a:noFill/>
          <a:ln cap="flat" cmpd="sng" w="19050">
            <a:solidFill>
              <a:srgbClr val="FF0000"/>
            </a:solidFill>
            <a:prstDash val="solid"/>
            <a:round/>
            <a:headEnd len="med" w="med" type="triangle"/>
            <a:tailEnd len="med" w="med" type="none"/>
          </a:ln>
        </p:spPr>
      </p:cxnSp>
      <p:cxnSp>
        <p:nvCxnSpPr>
          <p:cNvPr id="720" name="Google Shape;720;p35"/>
          <p:cNvCxnSpPr>
            <a:stCxn id="713" idx="3"/>
            <a:endCxn id="704" idx="7"/>
          </p:cNvCxnSpPr>
          <p:nvPr/>
        </p:nvCxnSpPr>
        <p:spPr>
          <a:xfrm flipH="1">
            <a:off x="1347024" y="3641775"/>
            <a:ext cx="1278300" cy="614700"/>
          </a:xfrm>
          <a:prstGeom prst="straightConnector1">
            <a:avLst/>
          </a:prstGeom>
          <a:noFill/>
          <a:ln cap="flat" cmpd="sng" w="19050">
            <a:solidFill>
              <a:srgbClr val="FF0000"/>
            </a:solidFill>
            <a:prstDash val="solid"/>
            <a:round/>
            <a:headEnd len="med" w="med" type="triangle"/>
            <a:tailEnd len="med" w="med" type="none"/>
          </a:ln>
        </p:spPr>
      </p:cxnSp>
      <p:sp>
        <p:nvSpPr>
          <p:cNvPr id="721" name="Google Shape;721;p35"/>
          <p:cNvSpPr/>
          <p:nvPr/>
        </p:nvSpPr>
        <p:spPr>
          <a:xfrm>
            <a:off x="6727100" y="4230325"/>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35"/>
          <p:cNvSpPr/>
          <p:nvPr/>
        </p:nvSpPr>
        <p:spPr>
          <a:xfrm>
            <a:off x="6236475" y="33639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35"/>
          <p:cNvSpPr/>
          <p:nvPr/>
        </p:nvSpPr>
        <p:spPr>
          <a:xfrm>
            <a:off x="6727088" y="33639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35"/>
          <p:cNvSpPr/>
          <p:nvPr/>
        </p:nvSpPr>
        <p:spPr>
          <a:xfrm>
            <a:off x="7239425" y="33639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25" name="Google Shape;725;p35"/>
          <p:cNvCxnSpPr>
            <a:stCxn id="722" idx="4"/>
            <a:endCxn id="721" idx="1"/>
          </p:cNvCxnSpPr>
          <p:nvPr/>
        </p:nvCxnSpPr>
        <p:spPr>
          <a:xfrm>
            <a:off x="6419475" y="3720025"/>
            <a:ext cx="361200" cy="562500"/>
          </a:xfrm>
          <a:prstGeom prst="straightConnector1">
            <a:avLst/>
          </a:prstGeom>
          <a:noFill/>
          <a:ln cap="flat" cmpd="sng" w="19050">
            <a:solidFill>
              <a:srgbClr val="FF0000"/>
            </a:solidFill>
            <a:prstDash val="solid"/>
            <a:round/>
            <a:headEnd len="med" w="med" type="triangle"/>
            <a:tailEnd len="med" w="med" type="none"/>
          </a:ln>
        </p:spPr>
      </p:cxnSp>
      <p:cxnSp>
        <p:nvCxnSpPr>
          <p:cNvPr id="726" name="Google Shape;726;p35"/>
          <p:cNvCxnSpPr>
            <a:stCxn id="723" idx="4"/>
            <a:endCxn id="721" idx="0"/>
          </p:cNvCxnSpPr>
          <p:nvPr/>
        </p:nvCxnSpPr>
        <p:spPr>
          <a:xfrm>
            <a:off x="6910088" y="3720025"/>
            <a:ext cx="0" cy="510300"/>
          </a:xfrm>
          <a:prstGeom prst="straightConnector1">
            <a:avLst/>
          </a:prstGeom>
          <a:noFill/>
          <a:ln cap="flat" cmpd="sng" w="19050">
            <a:solidFill>
              <a:srgbClr val="FF0000"/>
            </a:solidFill>
            <a:prstDash val="solid"/>
            <a:round/>
            <a:headEnd len="med" w="med" type="triangle"/>
            <a:tailEnd len="med" w="med" type="none"/>
          </a:ln>
        </p:spPr>
      </p:cxnSp>
      <p:cxnSp>
        <p:nvCxnSpPr>
          <p:cNvPr id="727" name="Google Shape;727;p35"/>
          <p:cNvCxnSpPr>
            <a:stCxn id="724" idx="4"/>
            <a:endCxn id="721" idx="7"/>
          </p:cNvCxnSpPr>
          <p:nvPr/>
        </p:nvCxnSpPr>
        <p:spPr>
          <a:xfrm flipH="1">
            <a:off x="7039625" y="3720025"/>
            <a:ext cx="382800" cy="562500"/>
          </a:xfrm>
          <a:prstGeom prst="straightConnector1">
            <a:avLst/>
          </a:prstGeom>
          <a:noFill/>
          <a:ln cap="flat" cmpd="sng" w="19050">
            <a:solidFill>
              <a:srgbClr val="FF0000"/>
            </a:solidFill>
            <a:prstDash val="solid"/>
            <a:round/>
            <a:headEnd len="med" w="med" type="triangle"/>
            <a:tailEnd len="med" w="med" type="none"/>
          </a:ln>
        </p:spPr>
      </p:cxnSp>
      <p:sp>
        <p:nvSpPr>
          <p:cNvPr id="728" name="Google Shape;728;p35"/>
          <p:cNvSpPr/>
          <p:nvPr/>
        </p:nvSpPr>
        <p:spPr>
          <a:xfrm>
            <a:off x="7751750" y="4230325"/>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35"/>
          <p:cNvSpPr/>
          <p:nvPr/>
        </p:nvSpPr>
        <p:spPr>
          <a:xfrm>
            <a:off x="7751750" y="33639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35"/>
          <p:cNvSpPr/>
          <p:nvPr/>
        </p:nvSpPr>
        <p:spPr>
          <a:xfrm>
            <a:off x="8264075" y="33639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31" name="Google Shape;731;p35"/>
          <p:cNvCxnSpPr>
            <a:stCxn id="724" idx="4"/>
            <a:endCxn id="728" idx="1"/>
          </p:cNvCxnSpPr>
          <p:nvPr/>
        </p:nvCxnSpPr>
        <p:spPr>
          <a:xfrm>
            <a:off x="7422425" y="3720025"/>
            <a:ext cx="382800" cy="562500"/>
          </a:xfrm>
          <a:prstGeom prst="straightConnector1">
            <a:avLst/>
          </a:prstGeom>
          <a:noFill/>
          <a:ln cap="flat" cmpd="sng" w="19050">
            <a:solidFill>
              <a:srgbClr val="FF0000"/>
            </a:solidFill>
            <a:prstDash val="solid"/>
            <a:round/>
            <a:headEnd len="med" w="med" type="triangle"/>
            <a:tailEnd len="med" w="med" type="none"/>
          </a:ln>
        </p:spPr>
      </p:cxnSp>
      <p:cxnSp>
        <p:nvCxnSpPr>
          <p:cNvPr id="732" name="Google Shape;732;p35"/>
          <p:cNvCxnSpPr>
            <a:stCxn id="723" idx="4"/>
            <a:endCxn id="728" idx="1"/>
          </p:cNvCxnSpPr>
          <p:nvPr/>
        </p:nvCxnSpPr>
        <p:spPr>
          <a:xfrm>
            <a:off x="6910088" y="3720025"/>
            <a:ext cx="895200" cy="562500"/>
          </a:xfrm>
          <a:prstGeom prst="straightConnector1">
            <a:avLst/>
          </a:prstGeom>
          <a:noFill/>
          <a:ln cap="flat" cmpd="sng" w="19050">
            <a:solidFill>
              <a:srgbClr val="FF0000"/>
            </a:solidFill>
            <a:prstDash val="solid"/>
            <a:round/>
            <a:headEnd len="med" w="med" type="triangle"/>
            <a:tailEnd len="med" w="med" type="none"/>
          </a:ln>
        </p:spPr>
      </p:cxnSp>
      <p:cxnSp>
        <p:nvCxnSpPr>
          <p:cNvPr id="733" name="Google Shape;733;p35"/>
          <p:cNvCxnSpPr>
            <a:stCxn id="729" idx="4"/>
            <a:endCxn id="721" idx="7"/>
          </p:cNvCxnSpPr>
          <p:nvPr/>
        </p:nvCxnSpPr>
        <p:spPr>
          <a:xfrm flipH="1">
            <a:off x="7039550" y="3720025"/>
            <a:ext cx="895200" cy="562500"/>
          </a:xfrm>
          <a:prstGeom prst="straightConnector1">
            <a:avLst/>
          </a:prstGeom>
          <a:noFill/>
          <a:ln cap="flat" cmpd="sng" w="19050">
            <a:solidFill>
              <a:srgbClr val="FF0000"/>
            </a:solidFill>
            <a:prstDash val="solid"/>
            <a:round/>
            <a:headEnd len="med" w="med" type="triangle"/>
            <a:tailEnd len="med" w="med" type="none"/>
          </a:ln>
        </p:spPr>
      </p:cxnSp>
      <p:cxnSp>
        <p:nvCxnSpPr>
          <p:cNvPr id="734" name="Google Shape;734;p35"/>
          <p:cNvCxnSpPr>
            <a:stCxn id="730" idx="4"/>
            <a:endCxn id="728" idx="0"/>
          </p:cNvCxnSpPr>
          <p:nvPr/>
        </p:nvCxnSpPr>
        <p:spPr>
          <a:xfrm flipH="1">
            <a:off x="7934675" y="3720025"/>
            <a:ext cx="512400" cy="510300"/>
          </a:xfrm>
          <a:prstGeom prst="straightConnector1">
            <a:avLst/>
          </a:prstGeom>
          <a:noFill/>
          <a:ln cap="flat" cmpd="sng" w="19050">
            <a:solidFill>
              <a:srgbClr val="FF0000"/>
            </a:solidFill>
            <a:prstDash val="solid"/>
            <a:round/>
            <a:headEnd len="med" w="med" type="triangle"/>
            <a:tailEnd len="med" w="med" type="none"/>
          </a:ln>
        </p:spPr>
      </p:cxnSp>
      <p:cxnSp>
        <p:nvCxnSpPr>
          <p:cNvPr id="735" name="Google Shape;735;p35"/>
          <p:cNvCxnSpPr>
            <a:stCxn id="729" idx="4"/>
            <a:endCxn id="728" idx="0"/>
          </p:cNvCxnSpPr>
          <p:nvPr/>
        </p:nvCxnSpPr>
        <p:spPr>
          <a:xfrm>
            <a:off x="7934750" y="3720025"/>
            <a:ext cx="0" cy="510300"/>
          </a:xfrm>
          <a:prstGeom prst="straightConnector1">
            <a:avLst/>
          </a:prstGeom>
          <a:noFill/>
          <a:ln cap="flat" cmpd="sng" w="19050">
            <a:solidFill>
              <a:srgbClr val="FF0000"/>
            </a:solidFill>
            <a:prstDash val="solid"/>
            <a:round/>
            <a:headEnd len="med" w="med" type="triangle"/>
            <a:tailEnd len="med" w="med" type="none"/>
          </a:ln>
        </p:spPr>
      </p:cxnSp>
      <p:cxnSp>
        <p:nvCxnSpPr>
          <p:cNvPr id="736" name="Google Shape;736;p35"/>
          <p:cNvCxnSpPr>
            <a:stCxn id="722" idx="5"/>
            <a:endCxn id="728" idx="1"/>
          </p:cNvCxnSpPr>
          <p:nvPr/>
        </p:nvCxnSpPr>
        <p:spPr>
          <a:xfrm>
            <a:off x="6548876" y="3667875"/>
            <a:ext cx="1256400" cy="614700"/>
          </a:xfrm>
          <a:prstGeom prst="straightConnector1">
            <a:avLst/>
          </a:prstGeom>
          <a:noFill/>
          <a:ln cap="flat" cmpd="sng" w="19050">
            <a:solidFill>
              <a:srgbClr val="FF0000"/>
            </a:solidFill>
            <a:prstDash val="solid"/>
            <a:round/>
            <a:headEnd len="med" w="med" type="triangle"/>
            <a:tailEnd len="med" w="med" type="none"/>
          </a:ln>
        </p:spPr>
      </p:cxnSp>
      <p:cxnSp>
        <p:nvCxnSpPr>
          <p:cNvPr id="737" name="Google Shape;737;p35"/>
          <p:cNvCxnSpPr>
            <a:stCxn id="730" idx="3"/>
            <a:endCxn id="721" idx="7"/>
          </p:cNvCxnSpPr>
          <p:nvPr/>
        </p:nvCxnSpPr>
        <p:spPr>
          <a:xfrm flipH="1">
            <a:off x="7039374" y="3667875"/>
            <a:ext cx="1278300" cy="614700"/>
          </a:xfrm>
          <a:prstGeom prst="straightConnector1">
            <a:avLst/>
          </a:prstGeom>
          <a:noFill/>
          <a:ln cap="flat" cmpd="sng" w="19050">
            <a:solidFill>
              <a:srgbClr val="FF0000"/>
            </a:solidFill>
            <a:prstDash val="solid"/>
            <a:round/>
            <a:headEnd len="med" w="med" type="triangle"/>
            <a:tailEnd len="med" w="med" type="none"/>
          </a:ln>
        </p:spPr>
      </p:cxnSp>
      <p:cxnSp>
        <p:nvCxnSpPr>
          <p:cNvPr id="738" name="Google Shape;738;p35"/>
          <p:cNvCxnSpPr>
            <a:stCxn id="721" idx="6"/>
            <a:endCxn id="728" idx="2"/>
          </p:cNvCxnSpPr>
          <p:nvPr/>
        </p:nvCxnSpPr>
        <p:spPr>
          <a:xfrm>
            <a:off x="7093100" y="4408375"/>
            <a:ext cx="658800" cy="0"/>
          </a:xfrm>
          <a:prstGeom prst="straightConnector1">
            <a:avLst/>
          </a:prstGeom>
          <a:noFill/>
          <a:ln cap="flat" cmpd="sng" w="19050">
            <a:solidFill>
              <a:srgbClr val="6AA84F"/>
            </a:solidFill>
            <a:prstDash val="solid"/>
            <a:round/>
            <a:headEnd len="med" w="med" type="none"/>
            <a:tailEnd len="med" w="med" type="triangle"/>
          </a:ln>
        </p:spPr>
      </p:cxnSp>
      <p:cxnSp>
        <p:nvCxnSpPr>
          <p:cNvPr id="739" name="Google Shape;739;p35"/>
          <p:cNvCxnSpPr>
            <a:stCxn id="728" idx="3"/>
            <a:endCxn id="721" idx="5"/>
          </p:cNvCxnSpPr>
          <p:nvPr/>
        </p:nvCxnSpPr>
        <p:spPr>
          <a:xfrm rot="10800000">
            <a:off x="7039449" y="4534275"/>
            <a:ext cx="765900" cy="0"/>
          </a:xfrm>
          <a:prstGeom prst="straightConnector1">
            <a:avLst/>
          </a:prstGeom>
          <a:noFill/>
          <a:ln cap="flat" cmpd="sng" w="19050">
            <a:solidFill>
              <a:srgbClr val="6AA84F"/>
            </a:solidFill>
            <a:prstDash val="solid"/>
            <a:round/>
            <a:headEnd len="med" w="med" type="none"/>
            <a:tailEnd len="med" w="med" type="triangle"/>
          </a:ln>
        </p:spPr>
      </p:cxnSp>
      <p:sp>
        <p:nvSpPr>
          <p:cNvPr id="740" name="Google Shape;740;p35"/>
          <p:cNvSpPr txBox="1"/>
          <p:nvPr/>
        </p:nvSpPr>
        <p:spPr>
          <a:xfrm>
            <a:off x="2937725" y="4510450"/>
            <a:ext cx="2908200" cy="35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rgbClr val="FF0000"/>
                </a:solidFill>
                <a:latin typeface="Open Sans"/>
                <a:ea typeface="Open Sans"/>
                <a:cs typeface="Open Sans"/>
                <a:sym typeface="Open Sans"/>
              </a:rPr>
              <a:t>Bullies stick together!</a:t>
            </a:r>
            <a:endParaRPr b="1">
              <a:solidFill>
                <a:srgbClr val="FF0000"/>
              </a:solidFill>
              <a:latin typeface="Open Sans"/>
              <a:ea typeface="Open Sans"/>
              <a:cs typeface="Open Sans"/>
              <a:sym typeface="Open San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4" name="Shape 744"/>
        <p:cNvGrpSpPr/>
        <p:nvPr/>
      </p:nvGrpSpPr>
      <p:grpSpPr>
        <a:xfrm>
          <a:off x="0" y="0"/>
          <a:ext cx="0" cy="0"/>
          <a:chOff x="0" y="0"/>
          <a:chExt cx="0" cy="0"/>
        </a:xfrm>
      </p:grpSpPr>
      <p:sp>
        <p:nvSpPr>
          <p:cNvPr id="745" name="Google Shape;745;p3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Valenced interactions: Solidarity theory</a:t>
            </a:r>
            <a:endParaRPr/>
          </a:p>
        </p:txBody>
      </p:sp>
      <p:sp>
        <p:nvSpPr>
          <p:cNvPr id="746" name="Google Shape;746;p36"/>
          <p:cNvSpPr txBox="1"/>
          <p:nvPr>
            <p:ph idx="1" type="body"/>
          </p:nvPr>
        </p:nvSpPr>
        <p:spPr>
          <a:xfrm>
            <a:off x="311700" y="1225225"/>
            <a:ext cx="8697000" cy="17217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
              <a:t>Solidarity Theory</a:t>
            </a:r>
            <a:endParaRPr b="1"/>
          </a:p>
          <a:p>
            <a:pPr indent="-317500" lvl="1" marL="914400" rtl="0" algn="l">
              <a:spcBef>
                <a:spcPts val="0"/>
              </a:spcBef>
              <a:spcAft>
                <a:spcPts val="0"/>
              </a:spcAft>
              <a:buSzPts val="1400"/>
              <a:buChar char="○"/>
            </a:pPr>
            <a:r>
              <a:rPr lang="en"/>
              <a:t>People in the same position in the valenced interaction network are likely to link via positive ties</a:t>
            </a:r>
            <a:endParaRPr/>
          </a:p>
          <a:p>
            <a:pPr indent="-342900" lvl="0" marL="457200" rtl="0" algn="l">
              <a:spcBef>
                <a:spcPts val="0"/>
              </a:spcBef>
              <a:spcAft>
                <a:spcPts val="0"/>
              </a:spcAft>
              <a:buSzPts val="1800"/>
              <a:buChar char="●"/>
            </a:pPr>
            <a:r>
              <a:rPr lang="en"/>
              <a:t>Two types of solidarity:</a:t>
            </a:r>
            <a:endParaRPr/>
          </a:p>
          <a:p>
            <a:pPr indent="-317500" lvl="1" marL="914400" rtl="0" algn="l">
              <a:spcBef>
                <a:spcPts val="0"/>
              </a:spcBef>
              <a:spcAft>
                <a:spcPts val="0"/>
              </a:spcAft>
              <a:buSzPts val="1400"/>
              <a:buChar char="○"/>
            </a:pPr>
            <a:r>
              <a:rPr lang="en"/>
              <a:t>Status solidarity</a:t>
            </a:r>
            <a:endParaRPr/>
          </a:p>
          <a:p>
            <a:pPr indent="-317500" lvl="1" marL="914400" rtl="0" algn="l">
              <a:spcBef>
                <a:spcPts val="0"/>
              </a:spcBef>
              <a:spcAft>
                <a:spcPts val="0"/>
              </a:spcAft>
              <a:buSzPts val="1400"/>
              <a:buChar char="○"/>
            </a:pPr>
            <a:r>
              <a:rPr b="1" lang="en"/>
              <a:t>Karma solidarity</a:t>
            </a:r>
            <a:endParaRPr b="1"/>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sp>
        <p:nvSpPr>
          <p:cNvPr id="747" name="Google Shape;747;p36"/>
          <p:cNvSpPr/>
          <p:nvPr/>
        </p:nvSpPr>
        <p:spPr>
          <a:xfrm>
            <a:off x="8027125" y="86350"/>
            <a:ext cx="981600" cy="1179600"/>
          </a:xfrm>
          <a:prstGeom prst="rect">
            <a:avLst/>
          </a:prstGeom>
          <a:noFill/>
          <a:ln cap="flat" cmpd="sng" w="19050">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36"/>
          <p:cNvSpPr/>
          <p:nvPr/>
        </p:nvSpPr>
        <p:spPr>
          <a:xfrm>
            <a:off x="8192860" y="472152"/>
            <a:ext cx="191400" cy="1932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36"/>
          <p:cNvSpPr/>
          <p:nvPr/>
        </p:nvSpPr>
        <p:spPr>
          <a:xfrm>
            <a:off x="8192860" y="216793"/>
            <a:ext cx="191400" cy="19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50" name="Google Shape;750;p36"/>
          <p:cNvCxnSpPr/>
          <p:nvPr/>
        </p:nvCxnSpPr>
        <p:spPr>
          <a:xfrm flipH="1" rot="10800000">
            <a:off x="8124842" y="847730"/>
            <a:ext cx="327600" cy="5700"/>
          </a:xfrm>
          <a:prstGeom prst="straightConnector1">
            <a:avLst/>
          </a:prstGeom>
          <a:noFill/>
          <a:ln cap="flat" cmpd="sng" w="38100">
            <a:solidFill>
              <a:srgbClr val="FF0000"/>
            </a:solidFill>
            <a:prstDash val="solid"/>
            <a:round/>
            <a:headEnd len="med" w="med" type="none"/>
            <a:tailEnd len="med" w="med" type="triangle"/>
          </a:ln>
        </p:spPr>
      </p:cxnSp>
      <p:cxnSp>
        <p:nvCxnSpPr>
          <p:cNvPr id="751" name="Google Shape;751;p36"/>
          <p:cNvCxnSpPr/>
          <p:nvPr/>
        </p:nvCxnSpPr>
        <p:spPr>
          <a:xfrm flipH="1" rot="10800000">
            <a:off x="8124842" y="1076729"/>
            <a:ext cx="327600" cy="5700"/>
          </a:xfrm>
          <a:prstGeom prst="straightConnector1">
            <a:avLst/>
          </a:prstGeom>
          <a:noFill/>
          <a:ln cap="flat" cmpd="sng" w="38100">
            <a:solidFill>
              <a:srgbClr val="6AA84F"/>
            </a:solidFill>
            <a:prstDash val="solid"/>
            <a:round/>
            <a:headEnd len="med" w="med" type="none"/>
            <a:tailEnd len="med" w="med" type="triangle"/>
          </a:ln>
        </p:spPr>
      </p:cxnSp>
      <p:sp>
        <p:nvSpPr>
          <p:cNvPr id="752" name="Google Shape;752;p36"/>
          <p:cNvSpPr txBox="1"/>
          <p:nvPr/>
        </p:nvSpPr>
        <p:spPr>
          <a:xfrm>
            <a:off x="8384249" y="151200"/>
            <a:ext cx="676500" cy="1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sz="1100">
                <a:latin typeface="Comfortaa"/>
                <a:ea typeface="Comfortaa"/>
                <a:cs typeface="Comfortaa"/>
                <a:sym typeface="Comfortaa"/>
              </a:rPr>
              <a:t>Ego</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Other</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Neg.</a:t>
            </a:r>
            <a:endParaRPr b="1" sz="1100">
              <a:latin typeface="Comfortaa"/>
              <a:ea typeface="Comfortaa"/>
              <a:cs typeface="Comfortaa"/>
              <a:sym typeface="Comfortaa"/>
            </a:endParaRPr>
          </a:p>
          <a:p>
            <a:pPr indent="0" lvl="0" marL="0" rtl="0" algn="l">
              <a:lnSpc>
                <a:spcPct val="150000"/>
              </a:lnSpc>
              <a:spcBef>
                <a:spcPts val="0"/>
              </a:spcBef>
              <a:spcAft>
                <a:spcPts val="0"/>
              </a:spcAft>
              <a:buNone/>
            </a:pPr>
            <a:r>
              <a:rPr b="1" lang="en" sz="1100">
                <a:latin typeface="Comfortaa"/>
                <a:ea typeface="Comfortaa"/>
                <a:cs typeface="Comfortaa"/>
                <a:sym typeface="Comfortaa"/>
              </a:rPr>
              <a:t>Pos.</a:t>
            </a:r>
            <a:endParaRPr b="1" sz="1100">
              <a:latin typeface="Comfortaa"/>
              <a:ea typeface="Comfortaa"/>
              <a:cs typeface="Comfortaa"/>
              <a:sym typeface="Comfortaa"/>
            </a:endParaRPr>
          </a:p>
        </p:txBody>
      </p:sp>
      <p:sp>
        <p:nvSpPr>
          <p:cNvPr id="753" name="Google Shape;753;p36"/>
          <p:cNvSpPr txBox="1"/>
          <p:nvPr/>
        </p:nvSpPr>
        <p:spPr>
          <a:xfrm>
            <a:off x="1114000" y="4670725"/>
            <a:ext cx="1135500" cy="24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Time 1</a:t>
            </a:r>
            <a:endParaRPr>
              <a:latin typeface="Open Sans"/>
              <a:ea typeface="Open Sans"/>
              <a:cs typeface="Open Sans"/>
              <a:sym typeface="Open Sans"/>
            </a:endParaRPr>
          </a:p>
        </p:txBody>
      </p:sp>
      <p:sp>
        <p:nvSpPr>
          <p:cNvPr id="754" name="Google Shape;754;p36"/>
          <p:cNvSpPr txBox="1"/>
          <p:nvPr/>
        </p:nvSpPr>
        <p:spPr>
          <a:xfrm>
            <a:off x="6698745" y="4602600"/>
            <a:ext cx="1135500" cy="24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Time 2</a:t>
            </a:r>
            <a:endParaRPr>
              <a:latin typeface="Open Sans"/>
              <a:ea typeface="Open Sans"/>
              <a:cs typeface="Open Sans"/>
              <a:sym typeface="Open Sans"/>
            </a:endParaRPr>
          </a:p>
        </p:txBody>
      </p:sp>
      <p:sp>
        <p:nvSpPr>
          <p:cNvPr id="755" name="Google Shape;755;p36"/>
          <p:cNvSpPr/>
          <p:nvPr/>
        </p:nvSpPr>
        <p:spPr>
          <a:xfrm>
            <a:off x="3818050" y="3706900"/>
            <a:ext cx="1355100" cy="708600"/>
          </a:xfrm>
          <a:prstGeom prst="striped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36"/>
          <p:cNvSpPr/>
          <p:nvPr/>
        </p:nvSpPr>
        <p:spPr>
          <a:xfrm>
            <a:off x="1034750" y="4204225"/>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36"/>
          <p:cNvSpPr/>
          <p:nvPr/>
        </p:nvSpPr>
        <p:spPr>
          <a:xfrm>
            <a:off x="544125" y="33378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36"/>
          <p:cNvSpPr/>
          <p:nvPr/>
        </p:nvSpPr>
        <p:spPr>
          <a:xfrm>
            <a:off x="1034738" y="33378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36"/>
          <p:cNvSpPr/>
          <p:nvPr/>
        </p:nvSpPr>
        <p:spPr>
          <a:xfrm>
            <a:off x="1547075" y="33378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60" name="Google Shape;760;p36"/>
          <p:cNvCxnSpPr>
            <a:stCxn id="757" idx="4"/>
            <a:endCxn id="756" idx="1"/>
          </p:cNvCxnSpPr>
          <p:nvPr/>
        </p:nvCxnSpPr>
        <p:spPr>
          <a:xfrm>
            <a:off x="727125" y="3693925"/>
            <a:ext cx="361200" cy="562500"/>
          </a:xfrm>
          <a:prstGeom prst="straightConnector1">
            <a:avLst/>
          </a:prstGeom>
          <a:noFill/>
          <a:ln cap="flat" cmpd="sng" w="19050">
            <a:solidFill>
              <a:srgbClr val="6AA84F"/>
            </a:solidFill>
            <a:prstDash val="solid"/>
            <a:round/>
            <a:headEnd len="med" w="med" type="triangle"/>
            <a:tailEnd len="med" w="med" type="none"/>
          </a:ln>
        </p:spPr>
      </p:cxnSp>
      <p:cxnSp>
        <p:nvCxnSpPr>
          <p:cNvPr id="761" name="Google Shape;761;p36"/>
          <p:cNvCxnSpPr>
            <a:stCxn id="758" idx="4"/>
            <a:endCxn id="756" idx="0"/>
          </p:cNvCxnSpPr>
          <p:nvPr/>
        </p:nvCxnSpPr>
        <p:spPr>
          <a:xfrm>
            <a:off x="1217738" y="3693925"/>
            <a:ext cx="0" cy="510300"/>
          </a:xfrm>
          <a:prstGeom prst="straightConnector1">
            <a:avLst/>
          </a:prstGeom>
          <a:noFill/>
          <a:ln cap="flat" cmpd="sng" w="19050">
            <a:solidFill>
              <a:srgbClr val="6AA84F"/>
            </a:solidFill>
            <a:prstDash val="solid"/>
            <a:round/>
            <a:headEnd len="med" w="med" type="triangle"/>
            <a:tailEnd len="med" w="med" type="none"/>
          </a:ln>
        </p:spPr>
      </p:cxnSp>
      <p:cxnSp>
        <p:nvCxnSpPr>
          <p:cNvPr id="762" name="Google Shape;762;p36"/>
          <p:cNvCxnSpPr>
            <a:stCxn id="759" idx="4"/>
            <a:endCxn id="756" idx="7"/>
          </p:cNvCxnSpPr>
          <p:nvPr/>
        </p:nvCxnSpPr>
        <p:spPr>
          <a:xfrm flipH="1">
            <a:off x="1347275" y="3693925"/>
            <a:ext cx="382800" cy="562500"/>
          </a:xfrm>
          <a:prstGeom prst="straightConnector1">
            <a:avLst/>
          </a:prstGeom>
          <a:noFill/>
          <a:ln cap="flat" cmpd="sng" w="19050">
            <a:solidFill>
              <a:srgbClr val="6AA84F"/>
            </a:solidFill>
            <a:prstDash val="solid"/>
            <a:round/>
            <a:headEnd len="med" w="med" type="triangle"/>
            <a:tailEnd len="med" w="med" type="none"/>
          </a:ln>
        </p:spPr>
      </p:cxnSp>
      <p:sp>
        <p:nvSpPr>
          <p:cNvPr id="763" name="Google Shape;763;p36"/>
          <p:cNvSpPr/>
          <p:nvPr/>
        </p:nvSpPr>
        <p:spPr>
          <a:xfrm>
            <a:off x="2059400" y="4204225"/>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36"/>
          <p:cNvSpPr/>
          <p:nvPr/>
        </p:nvSpPr>
        <p:spPr>
          <a:xfrm>
            <a:off x="2059400" y="33378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36"/>
          <p:cNvSpPr/>
          <p:nvPr/>
        </p:nvSpPr>
        <p:spPr>
          <a:xfrm>
            <a:off x="2571725" y="33378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66" name="Google Shape;766;p36"/>
          <p:cNvCxnSpPr>
            <a:stCxn id="759" idx="4"/>
            <a:endCxn id="763" idx="1"/>
          </p:cNvCxnSpPr>
          <p:nvPr/>
        </p:nvCxnSpPr>
        <p:spPr>
          <a:xfrm>
            <a:off x="1730075" y="3693925"/>
            <a:ext cx="382800" cy="562500"/>
          </a:xfrm>
          <a:prstGeom prst="straightConnector1">
            <a:avLst/>
          </a:prstGeom>
          <a:noFill/>
          <a:ln cap="flat" cmpd="sng" w="19050">
            <a:solidFill>
              <a:srgbClr val="6AA84F"/>
            </a:solidFill>
            <a:prstDash val="solid"/>
            <a:round/>
            <a:headEnd len="med" w="med" type="triangle"/>
            <a:tailEnd len="med" w="med" type="none"/>
          </a:ln>
        </p:spPr>
      </p:cxnSp>
      <p:cxnSp>
        <p:nvCxnSpPr>
          <p:cNvPr id="767" name="Google Shape;767;p36"/>
          <p:cNvCxnSpPr>
            <a:stCxn id="758" idx="4"/>
            <a:endCxn id="763" idx="1"/>
          </p:cNvCxnSpPr>
          <p:nvPr/>
        </p:nvCxnSpPr>
        <p:spPr>
          <a:xfrm>
            <a:off x="1217738" y="3693925"/>
            <a:ext cx="895200" cy="562500"/>
          </a:xfrm>
          <a:prstGeom prst="straightConnector1">
            <a:avLst/>
          </a:prstGeom>
          <a:noFill/>
          <a:ln cap="flat" cmpd="sng" w="19050">
            <a:solidFill>
              <a:srgbClr val="6AA84F"/>
            </a:solidFill>
            <a:prstDash val="solid"/>
            <a:round/>
            <a:headEnd len="med" w="med" type="triangle"/>
            <a:tailEnd len="med" w="med" type="none"/>
          </a:ln>
        </p:spPr>
      </p:cxnSp>
      <p:cxnSp>
        <p:nvCxnSpPr>
          <p:cNvPr id="768" name="Google Shape;768;p36"/>
          <p:cNvCxnSpPr>
            <a:stCxn id="764" idx="4"/>
            <a:endCxn id="756" idx="7"/>
          </p:cNvCxnSpPr>
          <p:nvPr/>
        </p:nvCxnSpPr>
        <p:spPr>
          <a:xfrm flipH="1">
            <a:off x="1347200" y="3693925"/>
            <a:ext cx="895200" cy="562500"/>
          </a:xfrm>
          <a:prstGeom prst="straightConnector1">
            <a:avLst/>
          </a:prstGeom>
          <a:noFill/>
          <a:ln cap="flat" cmpd="sng" w="19050">
            <a:solidFill>
              <a:srgbClr val="6AA84F"/>
            </a:solidFill>
            <a:prstDash val="solid"/>
            <a:round/>
            <a:headEnd len="med" w="med" type="triangle"/>
            <a:tailEnd len="med" w="med" type="none"/>
          </a:ln>
        </p:spPr>
      </p:cxnSp>
      <p:cxnSp>
        <p:nvCxnSpPr>
          <p:cNvPr id="769" name="Google Shape;769;p36"/>
          <p:cNvCxnSpPr>
            <a:stCxn id="765" idx="4"/>
            <a:endCxn id="763" idx="0"/>
          </p:cNvCxnSpPr>
          <p:nvPr/>
        </p:nvCxnSpPr>
        <p:spPr>
          <a:xfrm flipH="1">
            <a:off x="2242325" y="3693925"/>
            <a:ext cx="512400" cy="510300"/>
          </a:xfrm>
          <a:prstGeom prst="straightConnector1">
            <a:avLst/>
          </a:prstGeom>
          <a:noFill/>
          <a:ln cap="flat" cmpd="sng" w="19050">
            <a:solidFill>
              <a:srgbClr val="6AA84F"/>
            </a:solidFill>
            <a:prstDash val="solid"/>
            <a:round/>
            <a:headEnd len="med" w="med" type="triangle"/>
            <a:tailEnd len="med" w="med" type="none"/>
          </a:ln>
        </p:spPr>
      </p:cxnSp>
      <p:cxnSp>
        <p:nvCxnSpPr>
          <p:cNvPr id="770" name="Google Shape;770;p36"/>
          <p:cNvCxnSpPr>
            <a:stCxn id="764" idx="4"/>
            <a:endCxn id="763" idx="0"/>
          </p:cNvCxnSpPr>
          <p:nvPr/>
        </p:nvCxnSpPr>
        <p:spPr>
          <a:xfrm>
            <a:off x="2242400" y="3693925"/>
            <a:ext cx="0" cy="510300"/>
          </a:xfrm>
          <a:prstGeom prst="straightConnector1">
            <a:avLst/>
          </a:prstGeom>
          <a:noFill/>
          <a:ln cap="flat" cmpd="sng" w="19050">
            <a:solidFill>
              <a:srgbClr val="6AA84F"/>
            </a:solidFill>
            <a:prstDash val="solid"/>
            <a:round/>
            <a:headEnd len="med" w="med" type="triangle"/>
            <a:tailEnd len="med" w="med" type="none"/>
          </a:ln>
        </p:spPr>
      </p:cxnSp>
      <p:cxnSp>
        <p:nvCxnSpPr>
          <p:cNvPr id="771" name="Google Shape;771;p36"/>
          <p:cNvCxnSpPr>
            <a:stCxn id="757" idx="5"/>
            <a:endCxn id="763" idx="1"/>
          </p:cNvCxnSpPr>
          <p:nvPr/>
        </p:nvCxnSpPr>
        <p:spPr>
          <a:xfrm>
            <a:off x="856526" y="3641775"/>
            <a:ext cx="1256400" cy="614700"/>
          </a:xfrm>
          <a:prstGeom prst="straightConnector1">
            <a:avLst/>
          </a:prstGeom>
          <a:noFill/>
          <a:ln cap="flat" cmpd="sng" w="19050">
            <a:solidFill>
              <a:srgbClr val="6AA84F"/>
            </a:solidFill>
            <a:prstDash val="solid"/>
            <a:round/>
            <a:headEnd len="med" w="med" type="triangle"/>
            <a:tailEnd len="med" w="med" type="none"/>
          </a:ln>
        </p:spPr>
      </p:cxnSp>
      <p:cxnSp>
        <p:nvCxnSpPr>
          <p:cNvPr id="772" name="Google Shape;772;p36"/>
          <p:cNvCxnSpPr>
            <a:stCxn id="765" idx="3"/>
            <a:endCxn id="756" idx="7"/>
          </p:cNvCxnSpPr>
          <p:nvPr/>
        </p:nvCxnSpPr>
        <p:spPr>
          <a:xfrm flipH="1">
            <a:off x="1347024" y="3641775"/>
            <a:ext cx="1278300" cy="614700"/>
          </a:xfrm>
          <a:prstGeom prst="straightConnector1">
            <a:avLst/>
          </a:prstGeom>
          <a:noFill/>
          <a:ln cap="flat" cmpd="sng" w="19050">
            <a:solidFill>
              <a:srgbClr val="6AA84F"/>
            </a:solidFill>
            <a:prstDash val="solid"/>
            <a:round/>
            <a:headEnd len="med" w="med" type="triangle"/>
            <a:tailEnd len="med" w="med" type="none"/>
          </a:ln>
        </p:spPr>
      </p:cxnSp>
      <p:sp>
        <p:nvSpPr>
          <p:cNvPr id="773" name="Google Shape;773;p36"/>
          <p:cNvSpPr/>
          <p:nvPr/>
        </p:nvSpPr>
        <p:spPr>
          <a:xfrm>
            <a:off x="6727100" y="4230325"/>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36"/>
          <p:cNvSpPr/>
          <p:nvPr/>
        </p:nvSpPr>
        <p:spPr>
          <a:xfrm>
            <a:off x="6236475" y="33639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36"/>
          <p:cNvSpPr/>
          <p:nvPr/>
        </p:nvSpPr>
        <p:spPr>
          <a:xfrm>
            <a:off x="6727088" y="33639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36"/>
          <p:cNvSpPr/>
          <p:nvPr/>
        </p:nvSpPr>
        <p:spPr>
          <a:xfrm>
            <a:off x="7239425" y="33639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77" name="Google Shape;777;p36"/>
          <p:cNvCxnSpPr>
            <a:stCxn id="774" idx="4"/>
            <a:endCxn id="773" idx="1"/>
          </p:cNvCxnSpPr>
          <p:nvPr/>
        </p:nvCxnSpPr>
        <p:spPr>
          <a:xfrm>
            <a:off x="6419475" y="3720025"/>
            <a:ext cx="361200" cy="562500"/>
          </a:xfrm>
          <a:prstGeom prst="straightConnector1">
            <a:avLst/>
          </a:prstGeom>
          <a:noFill/>
          <a:ln cap="flat" cmpd="sng" w="19050">
            <a:solidFill>
              <a:srgbClr val="6AA84F"/>
            </a:solidFill>
            <a:prstDash val="solid"/>
            <a:round/>
            <a:headEnd len="med" w="med" type="triangle"/>
            <a:tailEnd len="med" w="med" type="none"/>
          </a:ln>
        </p:spPr>
      </p:cxnSp>
      <p:cxnSp>
        <p:nvCxnSpPr>
          <p:cNvPr id="778" name="Google Shape;778;p36"/>
          <p:cNvCxnSpPr>
            <a:stCxn id="775" idx="4"/>
            <a:endCxn id="773" idx="0"/>
          </p:cNvCxnSpPr>
          <p:nvPr/>
        </p:nvCxnSpPr>
        <p:spPr>
          <a:xfrm>
            <a:off x="6910088" y="3720025"/>
            <a:ext cx="0" cy="510300"/>
          </a:xfrm>
          <a:prstGeom prst="straightConnector1">
            <a:avLst/>
          </a:prstGeom>
          <a:noFill/>
          <a:ln cap="flat" cmpd="sng" w="19050">
            <a:solidFill>
              <a:srgbClr val="6AA84F"/>
            </a:solidFill>
            <a:prstDash val="solid"/>
            <a:round/>
            <a:headEnd len="med" w="med" type="triangle"/>
            <a:tailEnd len="med" w="med" type="none"/>
          </a:ln>
        </p:spPr>
      </p:cxnSp>
      <p:cxnSp>
        <p:nvCxnSpPr>
          <p:cNvPr id="779" name="Google Shape;779;p36"/>
          <p:cNvCxnSpPr>
            <a:stCxn id="776" idx="4"/>
            <a:endCxn id="773" idx="7"/>
          </p:cNvCxnSpPr>
          <p:nvPr/>
        </p:nvCxnSpPr>
        <p:spPr>
          <a:xfrm flipH="1">
            <a:off x="7039625" y="3720025"/>
            <a:ext cx="382800" cy="562500"/>
          </a:xfrm>
          <a:prstGeom prst="straightConnector1">
            <a:avLst/>
          </a:prstGeom>
          <a:noFill/>
          <a:ln cap="flat" cmpd="sng" w="19050">
            <a:solidFill>
              <a:srgbClr val="6AA84F"/>
            </a:solidFill>
            <a:prstDash val="solid"/>
            <a:round/>
            <a:headEnd len="med" w="med" type="triangle"/>
            <a:tailEnd len="med" w="med" type="none"/>
          </a:ln>
        </p:spPr>
      </p:cxnSp>
      <p:sp>
        <p:nvSpPr>
          <p:cNvPr id="780" name="Google Shape;780;p36"/>
          <p:cNvSpPr/>
          <p:nvPr/>
        </p:nvSpPr>
        <p:spPr>
          <a:xfrm>
            <a:off x="7751750" y="4230325"/>
            <a:ext cx="366000" cy="35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36"/>
          <p:cNvSpPr/>
          <p:nvPr/>
        </p:nvSpPr>
        <p:spPr>
          <a:xfrm>
            <a:off x="7751750" y="33639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36"/>
          <p:cNvSpPr/>
          <p:nvPr/>
        </p:nvSpPr>
        <p:spPr>
          <a:xfrm>
            <a:off x="8264075" y="3363925"/>
            <a:ext cx="366000" cy="356100"/>
          </a:xfrm>
          <a:prstGeom prst="ellipse">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83" name="Google Shape;783;p36"/>
          <p:cNvCxnSpPr>
            <a:stCxn id="776" idx="4"/>
            <a:endCxn id="780" idx="1"/>
          </p:cNvCxnSpPr>
          <p:nvPr/>
        </p:nvCxnSpPr>
        <p:spPr>
          <a:xfrm>
            <a:off x="7422425" y="3720025"/>
            <a:ext cx="382800" cy="562500"/>
          </a:xfrm>
          <a:prstGeom prst="straightConnector1">
            <a:avLst/>
          </a:prstGeom>
          <a:noFill/>
          <a:ln cap="flat" cmpd="sng" w="19050">
            <a:solidFill>
              <a:srgbClr val="6AA84F"/>
            </a:solidFill>
            <a:prstDash val="solid"/>
            <a:round/>
            <a:headEnd len="med" w="med" type="triangle"/>
            <a:tailEnd len="med" w="med" type="none"/>
          </a:ln>
        </p:spPr>
      </p:cxnSp>
      <p:cxnSp>
        <p:nvCxnSpPr>
          <p:cNvPr id="784" name="Google Shape;784;p36"/>
          <p:cNvCxnSpPr>
            <a:stCxn id="775" idx="4"/>
            <a:endCxn id="780" idx="1"/>
          </p:cNvCxnSpPr>
          <p:nvPr/>
        </p:nvCxnSpPr>
        <p:spPr>
          <a:xfrm>
            <a:off x="6910088" y="3720025"/>
            <a:ext cx="895200" cy="562500"/>
          </a:xfrm>
          <a:prstGeom prst="straightConnector1">
            <a:avLst/>
          </a:prstGeom>
          <a:noFill/>
          <a:ln cap="flat" cmpd="sng" w="19050">
            <a:solidFill>
              <a:srgbClr val="6AA84F"/>
            </a:solidFill>
            <a:prstDash val="solid"/>
            <a:round/>
            <a:headEnd len="med" w="med" type="triangle"/>
            <a:tailEnd len="med" w="med" type="none"/>
          </a:ln>
        </p:spPr>
      </p:cxnSp>
      <p:cxnSp>
        <p:nvCxnSpPr>
          <p:cNvPr id="785" name="Google Shape;785;p36"/>
          <p:cNvCxnSpPr>
            <a:stCxn id="781" idx="4"/>
            <a:endCxn id="773" idx="7"/>
          </p:cNvCxnSpPr>
          <p:nvPr/>
        </p:nvCxnSpPr>
        <p:spPr>
          <a:xfrm flipH="1">
            <a:off x="7039550" y="3720025"/>
            <a:ext cx="895200" cy="562500"/>
          </a:xfrm>
          <a:prstGeom prst="straightConnector1">
            <a:avLst/>
          </a:prstGeom>
          <a:noFill/>
          <a:ln cap="flat" cmpd="sng" w="19050">
            <a:solidFill>
              <a:srgbClr val="6AA84F"/>
            </a:solidFill>
            <a:prstDash val="solid"/>
            <a:round/>
            <a:headEnd len="med" w="med" type="triangle"/>
            <a:tailEnd len="med" w="med" type="none"/>
          </a:ln>
        </p:spPr>
      </p:cxnSp>
      <p:cxnSp>
        <p:nvCxnSpPr>
          <p:cNvPr id="786" name="Google Shape;786;p36"/>
          <p:cNvCxnSpPr>
            <a:stCxn id="782" idx="4"/>
            <a:endCxn id="780" idx="0"/>
          </p:cNvCxnSpPr>
          <p:nvPr/>
        </p:nvCxnSpPr>
        <p:spPr>
          <a:xfrm flipH="1">
            <a:off x="7934675" y="3720025"/>
            <a:ext cx="512400" cy="510300"/>
          </a:xfrm>
          <a:prstGeom prst="straightConnector1">
            <a:avLst/>
          </a:prstGeom>
          <a:noFill/>
          <a:ln cap="flat" cmpd="sng" w="19050">
            <a:solidFill>
              <a:srgbClr val="6AA84F"/>
            </a:solidFill>
            <a:prstDash val="solid"/>
            <a:round/>
            <a:headEnd len="med" w="med" type="triangle"/>
            <a:tailEnd len="med" w="med" type="none"/>
          </a:ln>
        </p:spPr>
      </p:cxnSp>
      <p:cxnSp>
        <p:nvCxnSpPr>
          <p:cNvPr id="787" name="Google Shape;787;p36"/>
          <p:cNvCxnSpPr>
            <a:stCxn id="781" idx="4"/>
            <a:endCxn id="780" idx="0"/>
          </p:cNvCxnSpPr>
          <p:nvPr/>
        </p:nvCxnSpPr>
        <p:spPr>
          <a:xfrm>
            <a:off x="7934750" y="3720025"/>
            <a:ext cx="0" cy="510300"/>
          </a:xfrm>
          <a:prstGeom prst="straightConnector1">
            <a:avLst/>
          </a:prstGeom>
          <a:noFill/>
          <a:ln cap="flat" cmpd="sng" w="19050">
            <a:solidFill>
              <a:srgbClr val="6AA84F"/>
            </a:solidFill>
            <a:prstDash val="solid"/>
            <a:round/>
            <a:headEnd len="med" w="med" type="triangle"/>
            <a:tailEnd len="med" w="med" type="none"/>
          </a:ln>
        </p:spPr>
      </p:cxnSp>
      <p:cxnSp>
        <p:nvCxnSpPr>
          <p:cNvPr id="788" name="Google Shape;788;p36"/>
          <p:cNvCxnSpPr>
            <a:stCxn id="774" idx="5"/>
            <a:endCxn id="780" idx="1"/>
          </p:cNvCxnSpPr>
          <p:nvPr/>
        </p:nvCxnSpPr>
        <p:spPr>
          <a:xfrm>
            <a:off x="6548876" y="3667875"/>
            <a:ext cx="1256400" cy="614700"/>
          </a:xfrm>
          <a:prstGeom prst="straightConnector1">
            <a:avLst/>
          </a:prstGeom>
          <a:noFill/>
          <a:ln cap="flat" cmpd="sng" w="19050">
            <a:solidFill>
              <a:srgbClr val="6AA84F"/>
            </a:solidFill>
            <a:prstDash val="solid"/>
            <a:round/>
            <a:headEnd len="med" w="med" type="triangle"/>
            <a:tailEnd len="med" w="med" type="none"/>
          </a:ln>
        </p:spPr>
      </p:cxnSp>
      <p:cxnSp>
        <p:nvCxnSpPr>
          <p:cNvPr id="789" name="Google Shape;789;p36"/>
          <p:cNvCxnSpPr>
            <a:stCxn id="782" idx="3"/>
            <a:endCxn id="773" idx="7"/>
          </p:cNvCxnSpPr>
          <p:nvPr/>
        </p:nvCxnSpPr>
        <p:spPr>
          <a:xfrm flipH="1">
            <a:off x="7039374" y="3667875"/>
            <a:ext cx="1278300" cy="614700"/>
          </a:xfrm>
          <a:prstGeom prst="straightConnector1">
            <a:avLst/>
          </a:prstGeom>
          <a:noFill/>
          <a:ln cap="flat" cmpd="sng" w="19050">
            <a:solidFill>
              <a:srgbClr val="6AA84F"/>
            </a:solidFill>
            <a:prstDash val="solid"/>
            <a:round/>
            <a:headEnd len="med" w="med" type="triangle"/>
            <a:tailEnd len="med" w="med" type="none"/>
          </a:ln>
        </p:spPr>
      </p:cxnSp>
      <p:cxnSp>
        <p:nvCxnSpPr>
          <p:cNvPr id="790" name="Google Shape;790;p36"/>
          <p:cNvCxnSpPr>
            <a:stCxn id="773" idx="6"/>
            <a:endCxn id="780" idx="2"/>
          </p:cNvCxnSpPr>
          <p:nvPr/>
        </p:nvCxnSpPr>
        <p:spPr>
          <a:xfrm>
            <a:off x="7093100" y="4408375"/>
            <a:ext cx="658800" cy="0"/>
          </a:xfrm>
          <a:prstGeom prst="straightConnector1">
            <a:avLst/>
          </a:prstGeom>
          <a:noFill/>
          <a:ln cap="flat" cmpd="sng" w="19050">
            <a:solidFill>
              <a:srgbClr val="6AA84F"/>
            </a:solidFill>
            <a:prstDash val="solid"/>
            <a:round/>
            <a:headEnd len="med" w="med" type="none"/>
            <a:tailEnd len="med" w="med" type="triangle"/>
          </a:ln>
        </p:spPr>
      </p:cxnSp>
      <p:cxnSp>
        <p:nvCxnSpPr>
          <p:cNvPr id="791" name="Google Shape;791;p36"/>
          <p:cNvCxnSpPr>
            <a:stCxn id="780" idx="3"/>
            <a:endCxn id="773" idx="5"/>
          </p:cNvCxnSpPr>
          <p:nvPr/>
        </p:nvCxnSpPr>
        <p:spPr>
          <a:xfrm rot="10800000">
            <a:off x="7039449" y="4534275"/>
            <a:ext cx="765900" cy="0"/>
          </a:xfrm>
          <a:prstGeom prst="straightConnector1">
            <a:avLst/>
          </a:prstGeom>
          <a:noFill/>
          <a:ln cap="flat" cmpd="sng" w="19050">
            <a:solidFill>
              <a:srgbClr val="6AA84F"/>
            </a:solidFill>
            <a:prstDash val="solid"/>
            <a:round/>
            <a:headEnd len="med" w="med" type="none"/>
            <a:tailEnd len="med" w="med" type="triangle"/>
          </a:ln>
        </p:spPr>
      </p:cxnSp>
      <p:sp>
        <p:nvSpPr>
          <p:cNvPr id="792" name="Google Shape;792;p36"/>
          <p:cNvSpPr txBox="1"/>
          <p:nvPr/>
        </p:nvSpPr>
        <p:spPr>
          <a:xfrm>
            <a:off x="2937725" y="4510450"/>
            <a:ext cx="2908200" cy="35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rgbClr val="6AA84F"/>
                </a:solidFill>
                <a:latin typeface="Open Sans"/>
                <a:ea typeface="Open Sans"/>
                <a:cs typeface="Open Sans"/>
                <a:sym typeface="Open Sans"/>
              </a:rPr>
              <a:t>Cool kids stick together!</a:t>
            </a:r>
            <a:endParaRPr b="1">
              <a:solidFill>
                <a:srgbClr val="6AA84F"/>
              </a:solidFill>
              <a:latin typeface="Open Sans"/>
              <a:ea typeface="Open Sans"/>
              <a:cs typeface="Open Sans"/>
              <a:sym typeface="Open San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96" name="Shape 796"/>
        <p:cNvGrpSpPr/>
        <p:nvPr/>
      </p:nvGrpSpPr>
      <p:grpSpPr>
        <a:xfrm>
          <a:off x="0" y="0"/>
          <a:ext cx="0" cy="0"/>
          <a:chOff x="0" y="0"/>
          <a:chExt cx="0" cy="0"/>
        </a:xfrm>
      </p:grpSpPr>
      <p:sp>
        <p:nvSpPr>
          <p:cNvPr id="797" name="Google Shape;797;p3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An Angle of What Sociology Is</a:t>
            </a:r>
            <a:endParaRPr/>
          </a:p>
        </p:txBody>
      </p:sp>
      <p:sp>
        <p:nvSpPr>
          <p:cNvPr id="798" name="Google Shape;798;p37"/>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a:latin typeface="Times New Roman"/>
                <a:ea typeface="Times New Roman"/>
                <a:cs typeface="Times New Roman"/>
                <a:sym typeface="Times New Roman"/>
              </a:rPr>
              <a:t>Some scholars are still of the opinion that sociology is not only without form and void, but that it must forever remain so, because nothing in the nature of things sanctions it; and the name is therefore merely a device to give new theorists a place. These critics know little about the deep currents of present popular thought. It is a very callow sociologist who imagines that he and his colaborers are inventing the subject-matter of a new science. </a:t>
            </a:r>
            <a:r>
              <a:rPr i="1" lang="en">
                <a:latin typeface="Times New Roman"/>
                <a:ea typeface="Times New Roman"/>
                <a:cs typeface="Times New Roman"/>
                <a:sym typeface="Times New Roman"/>
              </a:rPr>
              <a:t>They are trying to perfect means of answering obtrusive questions about society which the ordinary man is proposing every hour</a:t>
            </a:r>
            <a:r>
              <a:rPr lang="en">
                <a:latin typeface="Times New Roman"/>
                <a:ea typeface="Times New Roman"/>
                <a:cs typeface="Times New Roman"/>
                <a:sym typeface="Times New Roman"/>
              </a:rPr>
              <a:t> (AJS Editors 1895:6, italics added).</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2" name="Shape 802"/>
        <p:cNvGrpSpPr/>
        <p:nvPr/>
      </p:nvGrpSpPr>
      <p:grpSpPr>
        <a:xfrm>
          <a:off x="0" y="0"/>
          <a:ext cx="0" cy="0"/>
          <a:chOff x="0" y="0"/>
          <a:chExt cx="0" cy="0"/>
        </a:xfrm>
      </p:grpSpPr>
      <p:sp>
        <p:nvSpPr>
          <p:cNvPr id="803" name="Google Shape;803;p3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Dominance orders among animals </a:t>
            </a:r>
            <a:endParaRPr/>
          </a:p>
        </p:txBody>
      </p:sp>
      <p:sp>
        <p:nvSpPr>
          <p:cNvPr id="804" name="Google Shape;804;p38"/>
          <p:cNvSpPr txBox="1"/>
          <p:nvPr>
            <p:ph idx="1" type="body"/>
          </p:nvPr>
        </p:nvSpPr>
        <p:spPr>
          <a:xfrm>
            <a:off x="311700" y="1225225"/>
            <a:ext cx="43275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Dominance </a:t>
            </a:r>
            <a:r>
              <a:rPr lang="en"/>
              <a:t>hierarchies</a:t>
            </a:r>
            <a:r>
              <a:rPr lang="en"/>
              <a:t>:</a:t>
            </a:r>
            <a:endParaRPr/>
          </a:p>
          <a:p>
            <a:pPr indent="-317500" lvl="1" marL="914400" rtl="0" algn="l">
              <a:spcBef>
                <a:spcPts val="0"/>
              </a:spcBef>
              <a:spcAft>
                <a:spcPts val="0"/>
              </a:spcAft>
              <a:buSzPts val="1400"/>
              <a:buChar char="○"/>
            </a:pPr>
            <a:r>
              <a:rPr lang="en"/>
              <a:t>Observed across a number of species in the animal kingdom</a:t>
            </a:r>
            <a:endParaRPr/>
          </a:p>
          <a:p>
            <a:pPr indent="-317500" lvl="1" marL="914400" rtl="0" algn="l">
              <a:spcBef>
                <a:spcPts val="0"/>
              </a:spcBef>
              <a:spcAft>
                <a:spcPts val="0"/>
              </a:spcAft>
              <a:buSzPts val="1400"/>
              <a:buChar char="○"/>
            </a:pPr>
            <a:r>
              <a:rPr lang="en"/>
              <a:t>Including (most notably) among chickens</a:t>
            </a:r>
            <a:endParaRPr/>
          </a:p>
          <a:p>
            <a:pPr indent="-317500" lvl="1" marL="914400" rtl="0" algn="l">
              <a:spcBef>
                <a:spcPts val="0"/>
              </a:spcBef>
              <a:spcAft>
                <a:spcPts val="0"/>
              </a:spcAft>
              <a:buClr>
                <a:srgbClr val="FF0000"/>
              </a:buClr>
              <a:buSzPts val="1400"/>
              <a:buChar char="○"/>
            </a:pPr>
            <a:r>
              <a:rPr lang="en">
                <a:solidFill>
                  <a:srgbClr val="FF0000"/>
                </a:solidFill>
              </a:rPr>
              <a:t>You do not need a big brain to create a (complex) social network!</a:t>
            </a:r>
            <a:endParaRPr>
              <a:solidFill>
                <a:srgbClr val="FF0000"/>
              </a:solidFill>
            </a:endParaRPr>
          </a:p>
          <a:p>
            <a:pPr indent="-342900" lvl="0" marL="457200" rtl="0" algn="l">
              <a:spcBef>
                <a:spcPts val="0"/>
              </a:spcBef>
              <a:spcAft>
                <a:spcPts val="0"/>
              </a:spcAft>
              <a:buClr>
                <a:srgbClr val="434343"/>
              </a:buClr>
              <a:buSzPts val="1800"/>
              <a:buChar char="●"/>
            </a:pPr>
            <a:r>
              <a:rPr lang="en">
                <a:solidFill>
                  <a:srgbClr val="434343"/>
                </a:solidFill>
              </a:rPr>
              <a:t>“Pure” dominance order:</a:t>
            </a:r>
            <a:endParaRPr>
              <a:solidFill>
                <a:srgbClr val="434343"/>
              </a:solidFill>
            </a:endParaRPr>
          </a:p>
          <a:p>
            <a:pPr indent="-317500" lvl="1" marL="914400" rtl="0" algn="l">
              <a:spcBef>
                <a:spcPts val="0"/>
              </a:spcBef>
              <a:spcAft>
                <a:spcPts val="0"/>
              </a:spcAft>
              <a:buClr>
                <a:srgbClr val="434343"/>
              </a:buClr>
              <a:buSzPts val="1400"/>
              <a:buChar char="○"/>
            </a:pPr>
            <a:r>
              <a:rPr lang="en">
                <a:solidFill>
                  <a:srgbClr val="434343"/>
                </a:solidFill>
              </a:rPr>
              <a:t>Directed</a:t>
            </a:r>
            <a:endParaRPr>
              <a:solidFill>
                <a:srgbClr val="434343"/>
              </a:solidFill>
            </a:endParaRPr>
          </a:p>
          <a:p>
            <a:pPr indent="-317500" lvl="2" marL="1371600" rtl="0" algn="l">
              <a:spcBef>
                <a:spcPts val="0"/>
              </a:spcBef>
              <a:spcAft>
                <a:spcPts val="0"/>
              </a:spcAft>
              <a:buClr>
                <a:srgbClr val="434343"/>
              </a:buClr>
              <a:buSzPts val="1400"/>
              <a:buChar char="■"/>
            </a:pPr>
            <a:r>
              <a:rPr lang="en">
                <a:solidFill>
                  <a:srgbClr val="434343"/>
                </a:solidFill>
              </a:rPr>
              <a:t>A dominates B</a:t>
            </a:r>
            <a:endParaRPr>
              <a:solidFill>
                <a:srgbClr val="434343"/>
              </a:solidFill>
            </a:endParaRPr>
          </a:p>
          <a:p>
            <a:pPr indent="-317500" lvl="1" marL="914400" rtl="0" algn="l">
              <a:spcBef>
                <a:spcPts val="0"/>
              </a:spcBef>
              <a:spcAft>
                <a:spcPts val="0"/>
              </a:spcAft>
              <a:buClr>
                <a:srgbClr val="434343"/>
              </a:buClr>
              <a:buSzPts val="1400"/>
              <a:buChar char="○"/>
            </a:pPr>
            <a:r>
              <a:rPr lang="en">
                <a:solidFill>
                  <a:srgbClr val="434343"/>
                </a:solidFill>
              </a:rPr>
              <a:t>Anti-symmetric</a:t>
            </a:r>
            <a:endParaRPr>
              <a:solidFill>
                <a:srgbClr val="434343"/>
              </a:solidFill>
            </a:endParaRPr>
          </a:p>
          <a:p>
            <a:pPr indent="-317500" lvl="2" marL="1371600" rtl="0" algn="l">
              <a:spcBef>
                <a:spcPts val="0"/>
              </a:spcBef>
              <a:spcAft>
                <a:spcPts val="0"/>
              </a:spcAft>
              <a:buClr>
                <a:srgbClr val="434343"/>
              </a:buClr>
              <a:buSzPts val="1400"/>
              <a:buChar char="■"/>
            </a:pPr>
            <a:r>
              <a:rPr lang="en">
                <a:solidFill>
                  <a:srgbClr val="434343"/>
                </a:solidFill>
              </a:rPr>
              <a:t>If A dominates B then B </a:t>
            </a:r>
            <a:r>
              <a:rPr b="1" lang="en">
                <a:solidFill>
                  <a:srgbClr val="434343"/>
                </a:solidFill>
              </a:rPr>
              <a:t>cannot </a:t>
            </a:r>
            <a:r>
              <a:rPr lang="en">
                <a:solidFill>
                  <a:srgbClr val="434343"/>
                </a:solidFill>
              </a:rPr>
              <a:t>dominate A</a:t>
            </a:r>
            <a:endParaRPr>
              <a:solidFill>
                <a:srgbClr val="434343"/>
              </a:solidFill>
            </a:endParaRPr>
          </a:p>
        </p:txBody>
      </p:sp>
      <p:pic>
        <p:nvPicPr>
          <p:cNvPr id="805" name="Google Shape;805;p38"/>
          <p:cNvPicPr preferRelativeResize="0"/>
          <p:nvPr/>
        </p:nvPicPr>
        <p:blipFill>
          <a:blip r:embed="rId3">
            <a:alphaModFix/>
          </a:blip>
          <a:stretch>
            <a:fillRect/>
          </a:stretch>
        </p:blipFill>
        <p:spPr>
          <a:xfrm>
            <a:off x="4692675" y="1225225"/>
            <a:ext cx="4327500" cy="333730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9" name="Shape 809"/>
        <p:cNvGrpSpPr/>
        <p:nvPr/>
      </p:nvGrpSpPr>
      <p:grpSpPr>
        <a:xfrm>
          <a:off x="0" y="0"/>
          <a:ext cx="0" cy="0"/>
          <a:chOff x="0" y="0"/>
          <a:chExt cx="0" cy="0"/>
        </a:xfrm>
      </p:grpSpPr>
      <p:sp>
        <p:nvSpPr>
          <p:cNvPr id="810" name="Google Shape;810;p3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Dominance orders among animals </a:t>
            </a:r>
            <a:endParaRPr/>
          </a:p>
        </p:txBody>
      </p:sp>
      <p:sp>
        <p:nvSpPr>
          <p:cNvPr id="811" name="Google Shape;811;p39"/>
          <p:cNvSpPr txBox="1"/>
          <p:nvPr>
            <p:ph idx="1" type="body"/>
          </p:nvPr>
        </p:nvSpPr>
        <p:spPr>
          <a:xfrm>
            <a:off x="311700" y="1225225"/>
            <a:ext cx="43275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Dominance hierarchies:</a:t>
            </a:r>
            <a:endParaRPr/>
          </a:p>
          <a:p>
            <a:pPr indent="-317500" lvl="1" marL="914400" rtl="0" algn="l">
              <a:spcBef>
                <a:spcPts val="0"/>
              </a:spcBef>
              <a:spcAft>
                <a:spcPts val="0"/>
              </a:spcAft>
              <a:buSzPts val="1400"/>
              <a:buChar char="○"/>
            </a:pPr>
            <a:r>
              <a:rPr lang="en"/>
              <a:t>Observed across a number of species in the animal kingdom</a:t>
            </a:r>
            <a:endParaRPr/>
          </a:p>
          <a:p>
            <a:pPr indent="-317500" lvl="1" marL="914400" rtl="0" algn="l">
              <a:spcBef>
                <a:spcPts val="0"/>
              </a:spcBef>
              <a:spcAft>
                <a:spcPts val="0"/>
              </a:spcAft>
              <a:buSzPts val="1400"/>
              <a:buChar char="○"/>
            </a:pPr>
            <a:r>
              <a:rPr lang="en"/>
              <a:t>Including (most notably) among chickens</a:t>
            </a:r>
            <a:endParaRPr/>
          </a:p>
          <a:p>
            <a:pPr indent="-317500" lvl="1" marL="914400" rtl="0" algn="l">
              <a:spcBef>
                <a:spcPts val="0"/>
              </a:spcBef>
              <a:spcAft>
                <a:spcPts val="0"/>
              </a:spcAft>
              <a:buClr>
                <a:srgbClr val="FF0000"/>
              </a:buClr>
              <a:buSzPts val="1400"/>
              <a:buChar char="○"/>
            </a:pPr>
            <a:r>
              <a:rPr lang="en">
                <a:solidFill>
                  <a:srgbClr val="FF0000"/>
                </a:solidFill>
              </a:rPr>
              <a:t>You do not need a big brain to create a (complex) social network!</a:t>
            </a:r>
            <a:endParaRPr>
              <a:solidFill>
                <a:srgbClr val="FF0000"/>
              </a:solidFill>
            </a:endParaRPr>
          </a:p>
          <a:p>
            <a:pPr indent="-342900" lvl="0" marL="457200" rtl="0" algn="l">
              <a:spcBef>
                <a:spcPts val="0"/>
              </a:spcBef>
              <a:spcAft>
                <a:spcPts val="0"/>
              </a:spcAft>
              <a:buClr>
                <a:srgbClr val="434343"/>
              </a:buClr>
              <a:buSzPts val="1800"/>
              <a:buChar char="●"/>
            </a:pPr>
            <a:r>
              <a:rPr lang="en">
                <a:solidFill>
                  <a:srgbClr val="434343"/>
                </a:solidFill>
              </a:rPr>
              <a:t>“Pure” dominance order:</a:t>
            </a:r>
            <a:endParaRPr>
              <a:solidFill>
                <a:srgbClr val="434343"/>
              </a:solidFill>
            </a:endParaRPr>
          </a:p>
          <a:p>
            <a:pPr indent="-317500" lvl="1" marL="914400" rtl="0" algn="l">
              <a:spcBef>
                <a:spcPts val="0"/>
              </a:spcBef>
              <a:spcAft>
                <a:spcPts val="0"/>
              </a:spcAft>
              <a:buClr>
                <a:srgbClr val="434343"/>
              </a:buClr>
              <a:buSzPts val="1400"/>
              <a:buChar char="○"/>
            </a:pPr>
            <a:r>
              <a:rPr lang="en">
                <a:solidFill>
                  <a:srgbClr val="434343"/>
                </a:solidFill>
              </a:rPr>
              <a:t>Complete (all ties present)</a:t>
            </a:r>
            <a:endParaRPr>
              <a:solidFill>
                <a:srgbClr val="434343"/>
              </a:solidFill>
            </a:endParaRPr>
          </a:p>
          <a:p>
            <a:pPr indent="-317500" lvl="2" marL="1371600" rtl="0" algn="l">
              <a:spcBef>
                <a:spcPts val="0"/>
              </a:spcBef>
              <a:spcAft>
                <a:spcPts val="0"/>
              </a:spcAft>
              <a:buClr>
                <a:srgbClr val="434343"/>
              </a:buClr>
              <a:buSzPts val="1400"/>
              <a:buChar char="■"/>
            </a:pPr>
            <a:r>
              <a:rPr lang="en">
                <a:solidFill>
                  <a:srgbClr val="434343"/>
                </a:solidFill>
              </a:rPr>
              <a:t>Either A dominates B or B dominates A</a:t>
            </a:r>
            <a:endParaRPr>
              <a:solidFill>
                <a:srgbClr val="434343"/>
              </a:solidFill>
            </a:endParaRPr>
          </a:p>
          <a:p>
            <a:pPr indent="0" lvl="0" marL="914400" rtl="0" algn="l">
              <a:spcBef>
                <a:spcPts val="1600"/>
              </a:spcBef>
              <a:spcAft>
                <a:spcPts val="1600"/>
              </a:spcAft>
              <a:buNone/>
            </a:pPr>
            <a:r>
              <a:t/>
            </a:r>
            <a:endParaRPr>
              <a:solidFill>
                <a:srgbClr val="434343"/>
              </a:solidFill>
            </a:endParaRPr>
          </a:p>
        </p:txBody>
      </p:sp>
      <p:pic>
        <p:nvPicPr>
          <p:cNvPr id="812" name="Google Shape;812;p39"/>
          <p:cNvPicPr preferRelativeResize="0"/>
          <p:nvPr/>
        </p:nvPicPr>
        <p:blipFill>
          <a:blip r:embed="rId3">
            <a:alphaModFix/>
          </a:blip>
          <a:stretch>
            <a:fillRect/>
          </a:stretch>
        </p:blipFill>
        <p:spPr>
          <a:xfrm>
            <a:off x="4692675" y="1225225"/>
            <a:ext cx="4327500" cy="3337304"/>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sp>
        <p:nvSpPr>
          <p:cNvPr id="817" name="Google Shape;817;p4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Dominance orders among animals </a:t>
            </a:r>
            <a:endParaRPr/>
          </a:p>
        </p:txBody>
      </p:sp>
      <p:sp>
        <p:nvSpPr>
          <p:cNvPr id="818" name="Google Shape;818;p40"/>
          <p:cNvSpPr txBox="1"/>
          <p:nvPr>
            <p:ph idx="1" type="body"/>
          </p:nvPr>
        </p:nvSpPr>
        <p:spPr>
          <a:xfrm>
            <a:off x="311700" y="1225225"/>
            <a:ext cx="43275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Dominance hierarchies:</a:t>
            </a:r>
            <a:endParaRPr/>
          </a:p>
          <a:p>
            <a:pPr indent="-317500" lvl="1" marL="914400" rtl="0" algn="l">
              <a:spcBef>
                <a:spcPts val="0"/>
              </a:spcBef>
              <a:spcAft>
                <a:spcPts val="0"/>
              </a:spcAft>
              <a:buSzPts val="1400"/>
              <a:buChar char="○"/>
            </a:pPr>
            <a:r>
              <a:rPr lang="en"/>
              <a:t>Observed across a number of species in the animal kingdom</a:t>
            </a:r>
            <a:endParaRPr/>
          </a:p>
          <a:p>
            <a:pPr indent="-317500" lvl="1" marL="914400" rtl="0" algn="l">
              <a:spcBef>
                <a:spcPts val="0"/>
              </a:spcBef>
              <a:spcAft>
                <a:spcPts val="0"/>
              </a:spcAft>
              <a:buSzPts val="1400"/>
              <a:buChar char="○"/>
            </a:pPr>
            <a:r>
              <a:rPr lang="en"/>
              <a:t>Including (most notably) among chickens</a:t>
            </a:r>
            <a:endParaRPr/>
          </a:p>
          <a:p>
            <a:pPr indent="-317500" lvl="1" marL="914400" rtl="0" algn="l">
              <a:spcBef>
                <a:spcPts val="0"/>
              </a:spcBef>
              <a:spcAft>
                <a:spcPts val="0"/>
              </a:spcAft>
              <a:buClr>
                <a:srgbClr val="FF0000"/>
              </a:buClr>
              <a:buSzPts val="1400"/>
              <a:buChar char="○"/>
            </a:pPr>
            <a:r>
              <a:rPr lang="en">
                <a:solidFill>
                  <a:srgbClr val="FF0000"/>
                </a:solidFill>
              </a:rPr>
              <a:t>You do not need a big brain to create a (complex) social network!</a:t>
            </a:r>
            <a:endParaRPr>
              <a:solidFill>
                <a:srgbClr val="FF0000"/>
              </a:solidFill>
            </a:endParaRPr>
          </a:p>
          <a:p>
            <a:pPr indent="-342900" lvl="0" marL="457200" rtl="0" algn="l">
              <a:spcBef>
                <a:spcPts val="0"/>
              </a:spcBef>
              <a:spcAft>
                <a:spcPts val="0"/>
              </a:spcAft>
              <a:buClr>
                <a:srgbClr val="434343"/>
              </a:buClr>
              <a:buSzPts val="1800"/>
              <a:buChar char="●"/>
            </a:pPr>
            <a:r>
              <a:rPr lang="en">
                <a:solidFill>
                  <a:srgbClr val="434343"/>
                </a:solidFill>
              </a:rPr>
              <a:t>“Pure” dominance order:</a:t>
            </a:r>
            <a:endParaRPr>
              <a:solidFill>
                <a:srgbClr val="434343"/>
              </a:solidFill>
            </a:endParaRPr>
          </a:p>
          <a:p>
            <a:pPr indent="-317500" lvl="1" marL="914400" rtl="0" algn="l">
              <a:spcBef>
                <a:spcPts val="0"/>
              </a:spcBef>
              <a:spcAft>
                <a:spcPts val="0"/>
              </a:spcAft>
              <a:buClr>
                <a:srgbClr val="434343"/>
              </a:buClr>
              <a:buSzPts val="1400"/>
              <a:buChar char="○"/>
            </a:pPr>
            <a:r>
              <a:rPr lang="en">
                <a:solidFill>
                  <a:srgbClr val="434343"/>
                </a:solidFill>
              </a:rPr>
              <a:t>Transitive (all ties present)</a:t>
            </a:r>
            <a:endParaRPr>
              <a:solidFill>
                <a:srgbClr val="434343"/>
              </a:solidFill>
            </a:endParaRPr>
          </a:p>
          <a:p>
            <a:pPr indent="-317500" lvl="2" marL="1371600" rtl="0" algn="l">
              <a:spcBef>
                <a:spcPts val="0"/>
              </a:spcBef>
              <a:spcAft>
                <a:spcPts val="0"/>
              </a:spcAft>
              <a:buClr>
                <a:srgbClr val="434343"/>
              </a:buClr>
              <a:buSzPts val="1400"/>
              <a:buChar char="■"/>
            </a:pPr>
            <a:r>
              <a:rPr lang="en">
                <a:solidFill>
                  <a:srgbClr val="434343"/>
                </a:solidFill>
              </a:rPr>
              <a:t>If A dominates B, and B dominates C, then by necessity A dominates C</a:t>
            </a:r>
            <a:endParaRPr>
              <a:solidFill>
                <a:srgbClr val="434343"/>
              </a:solidFill>
            </a:endParaRPr>
          </a:p>
          <a:p>
            <a:pPr indent="0" lvl="0" marL="914400" rtl="0" algn="l">
              <a:spcBef>
                <a:spcPts val="1600"/>
              </a:spcBef>
              <a:spcAft>
                <a:spcPts val="1600"/>
              </a:spcAft>
              <a:buNone/>
            </a:pPr>
            <a:r>
              <a:t/>
            </a:r>
            <a:endParaRPr>
              <a:solidFill>
                <a:srgbClr val="434343"/>
              </a:solidFill>
            </a:endParaRPr>
          </a:p>
        </p:txBody>
      </p:sp>
      <p:pic>
        <p:nvPicPr>
          <p:cNvPr id="819" name="Google Shape;819;p40"/>
          <p:cNvPicPr preferRelativeResize="0"/>
          <p:nvPr/>
        </p:nvPicPr>
        <p:blipFill>
          <a:blip r:embed="rId3">
            <a:alphaModFix/>
          </a:blip>
          <a:stretch>
            <a:fillRect/>
          </a:stretch>
        </p:blipFill>
        <p:spPr>
          <a:xfrm>
            <a:off x="4692675" y="1225225"/>
            <a:ext cx="4327500" cy="3337304"/>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3" name="Shape 823"/>
        <p:cNvGrpSpPr/>
        <p:nvPr/>
      </p:nvGrpSpPr>
      <p:grpSpPr>
        <a:xfrm>
          <a:off x="0" y="0"/>
          <a:ext cx="0" cy="0"/>
          <a:chOff x="0" y="0"/>
          <a:chExt cx="0" cy="0"/>
        </a:xfrm>
      </p:grpSpPr>
      <p:sp>
        <p:nvSpPr>
          <p:cNvPr id="824" name="Google Shape;824;p41"/>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Algebraic Requirements for Dominance Order</a:t>
            </a:r>
            <a:endParaRPr/>
          </a:p>
        </p:txBody>
      </p:sp>
      <p:sp>
        <p:nvSpPr>
          <p:cNvPr id="825" name="Google Shape;825;p41"/>
          <p:cNvSpPr txBox="1"/>
          <p:nvPr/>
        </p:nvSpPr>
        <p:spPr>
          <a:xfrm>
            <a:off x="4572000" y="1343200"/>
            <a:ext cx="4214700" cy="1317000"/>
          </a:xfrm>
          <a:prstGeom prst="rect">
            <a:avLst/>
          </a:prstGeom>
          <a:noFill/>
          <a:ln>
            <a:noFill/>
          </a:ln>
        </p:spPr>
        <p:txBody>
          <a:bodyPr anchorCtr="0" anchor="t" bIns="91425" lIns="91425" spcFirstLastPara="1" rIns="91425" wrap="square" tIns="91425">
            <a:noAutofit/>
          </a:bodyPr>
          <a:lstStyle/>
          <a:p>
            <a:pPr indent="-342900" lvl="0" marL="457200" marR="0" rtl="0" algn="l">
              <a:lnSpc>
                <a:spcPct val="100000"/>
              </a:lnSpc>
              <a:spcBef>
                <a:spcPts val="0"/>
              </a:spcBef>
              <a:spcAft>
                <a:spcPts val="0"/>
              </a:spcAft>
              <a:buClr>
                <a:srgbClr val="000000"/>
              </a:buClr>
              <a:buSzPts val="1800"/>
              <a:buFont typeface="Economica"/>
              <a:buChar char="●"/>
            </a:pPr>
            <a:r>
              <a:rPr lang="en" sz="1800">
                <a:latin typeface="Economica"/>
                <a:ea typeface="Economica"/>
                <a:cs typeface="Economica"/>
                <a:sym typeface="Economica"/>
              </a:rPr>
              <a:t>A linear </a:t>
            </a:r>
            <a:r>
              <a:rPr lang="en" sz="1800">
                <a:latin typeface="Economica"/>
                <a:ea typeface="Economica"/>
                <a:cs typeface="Economica"/>
                <a:sym typeface="Economica"/>
              </a:rPr>
              <a:t>dominance</a:t>
            </a:r>
            <a:r>
              <a:rPr lang="en" sz="1800">
                <a:latin typeface="Economica"/>
                <a:ea typeface="Economica"/>
                <a:cs typeface="Economica"/>
                <a:sym typeface="Economica"/>
              </a:rPr>
              <a:t> order is </a:t>
            </a:r>
            <a:r>
              <a:rPr b="1" lang="en" sz="1800">
                <a:solidFill>
                  <a:srgbClr val="FF0000"/>
                </a:solidFill>
                <a:latin typeface="Economica"/>
                <a:ea typeface="Economica"/>
                <a:cs typeface="Economica"/>
                <a:sym typeface="Economica"/>
              </a:rPr>
              <a:t>transitive</a:t>
            </a:r>
            <a:endParaRPr sz="1800">
              <a:latin typeface="Economica"/>
              <a:ea typeface="Economica"/>
              <a:cs typeface="Economica"/>
              <a:sym typeface="Economica"/>
            </a:endParaRPr>
          </a:p>
          <a:p>
            <a:pPr indent="-342900" lvl="0" marL="457200" rtl="0" algn="l">
              <a:spcBef>
                <a:spcPts val="0"/>
              </a:spcBef>
              <a:spcAft>
                <a:spcPts val="0"/>
              </a:spcAft>
              <a:buClr>
                <a:srgbClr val="000000"/>
              </a:buClr>
              <a:buSzPts val="1800"/>
              <a:buFont typeface="Economica"/>
              <a:buChar char="●"/>
            </a:pPr>
            <a:r>
              <a:rPr lang="en" sz="1800">
                <a:solidFill>
                  <a:srgbClr val="000000"/>
                </a:solidFill>
                <a:latin typeface="Economica"/>
                <a:ea typeface="Economica"/>
                <a:cs typeface="Economica"/>
                <a:sym typeface="Economica"/>
              </a:rPr>
              <a:t>Transitivity is a relation between node triples</a:t>
            </a:r>
            <a:endParaRPr sz="1800">
              <a:latin typeface="Economica"/>
              <a:ea typeface="Economica"/>
              <a:cs typeface="Economica"/>
              <a:sym typeface="Economica"/>
            </a:endParaRPr>
          </a:p>
          <a:p>
            <a:pPr indent="-342900" lvl="1" marL="914400" marR="0" rtl="0" algn="l">
              <a:lnSpc>
                <a:spcPct val="100000"/>
              </a:lnSpc>
              <a:spcBef>
                <a:spcPts val="0"/>
              </a:spcBef>
              <a:spcAft>
                <a:spcPts val="0"/>
              </a:spcAft>
              <a:buClr>
                <a:srgbClr val="000000"/>
              </a:buClr>
              <a:buSzPts val="1800"/>
              <a:buFont typeface="Economica"/>
              <a:buChar char="○"/>
            </a:pPr>
            <a:r>
              <a:rPr lang="en" sz="1800">
                <a:latin typeface="Economica"/>
                <a:ea typeface="Economica"/>
                <a:cs typeface="Economica"/>
                <a:sym typeface="Economica"/>
              </a:rPr>
              <a:t>If a has dominates  b, and b dominates c</a:t>
            </a:r>
            <a:endParaRPr sz="1800">
              <a:latin typeface="Economica"/>
              <a:ea typeface="Economica"/>
              <a:cs typeface="Economica"/>
              <a:sym typeface="Economica"/>
            </a:endParaRPr>
          </a:p>
          <a:p>
            <a:pPr indent="-342900" lvl="1" marL="914400" rtl="0" algn="l">
              <a:spcBef>
                <a:spcPts val="0"/>
              </a:spcBef>
              <a:spcAft>
                <a:spcPts val="0"/>
              </a:spcAft>
              <a:buSzPts val="1800"/>
              <a:buFont typeface="Economica"/>
              <a:buChar char="○"/>
            </a:pPr>
            <a:r>
              <a:rPr lang="en" sz="1800">
                <a:latin typeface="Economica"/>
                <a:ea typeface="Economica"/>
                <a:cs typeface="Economica"/>
                <a:sym typeface="Economica"/>
              </a:rPr>
              <a:t>Then a </a:t>
            </a:r>
            <a:r>
              <a:rPr b="1" lang="en" sz="1800">
                <a:latin typeface="Economica"/>
                <a:ea typeface="Economica"/>
                <a:cs typeface="Economica"/>
                <a:sym typeface="Economica"/>
              </a:rPr>
              <a:t>necessarily </a:t>
            </a:r>
            <a:r>
              <a:rPr lang="en" sz="1800">
                <a:latin typeface="Economica"/>
                <a:ea typeface="Economica"/>
                <a:cs typeface="Economica"/>
                <a:sym typeface="Economica"/>
              </a:rPr>
              <a:t>dominates</a:t>
            </a:r>
            <a:r>
              <a:rPr lang="en" sz="1800">
                <a:latin typeface="Economica"/>
                <a:ea typeface="Economica"/>
                <a:cs typeface="Economica"/>
                <a:sym typeface="Economica"/>
              </a:rPr>
              <a:t> c</a:t>
            </a:r>
            <a:endParaRPr sz="1800">
              <a:latin typeface="Economica"/>
              <a:ea typeface="Economica"/>
              <a:cs typeface="Economica"/>
              <a:sym typeface="Economica"/>
            </a:endParaRPr>
          </a:p>
          <a:p>
            <a:pPr indent="0" lvl="0" marL="457200" rtl="0" algn="l">
              <a:spcBef>
                <a:spcPts val="0"/>
              </a:spcBef>
              <a:spcAft>
                <a:spcPts val="0"/>
              </a:spcAft>
              <a:buNone/>
            </a:pPr>
            <a:r>
              <a:t/>
            </a:r>
            <a:endParaRPr sz="1800">
              <a:latin typeface="Economica"/>
              <a:ea typeface="Economica"/>
              <a:cs typeface="Economica"/>
              <a:sym typeface="Economica"/>
            </a:endParaRPr>
          </a:p>
          <a:p>
            <a:pPr indent="0" lvl="0" marL="1371600" rtl="0" algn="l">
              <a:spcBef>
                <a:spcPts val="0"/>
              </a:spcBef>
              <a:spcAft>
                <a:spcPts val="0"/>
              </a:spcAft>
              <a:buNone/>
            </a:pPr>
            <a:r>
              <a:t/>
            </a:r>
            <a:endParaRPr sz="1800">
              <a:latin typeface="Economica"/>
              <a:ea typeface="Economica"/>
              <a:cs typeface="Economica"/>
              <a:sym typeface="Economica"/>
            </a:endParaRPr>
          </a:p>
        </p:txBody>
      </p:sp>
      <p:grpSp>
        <p:nvGrpSpPr>
          <p:cNvPr id="826" name="Google Shape;826;p41"/>
          <p:cNvGrpSpPr/>
          <p:nvPr/>
        </p:nvGrpSpPr>
        <p:grpSpPr>
          <a:xfrm>
            <a:off x="6672775" y="2881150"/>
            <a:ext cx="1647600" cy="1580100"/>
            <a:chOff x="6494400" y="3563400"/>
            <a:chExt cx="1647600" cy="1580100"/>
          </a:xfrm>
        </p:grpSpPr>
        <p:sp>
          <p:nvSpPr>
            <p:cNvPr id="827" name="Google Shape;827;p41"/>
            <p:cNvSpPr/>
            <p:nvPr/>
          </p:nvSpPr>
          <p:spPr>
            <a:xfrm>
              <a:off x="6494400" y="3563400"/>
              <a:ext cx="1647600" cy="1580100"/>
            </a:xfrm>
            <a:prstGeom prst="ellipse">
              <a:avLst/>
            </a:prstGeom>
            <a:noFill/>
            <a:ln cap="flat" cmpd="sng" w="2857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41"/>
            <p:cNvSpPr/>
            <p:nvPr/>
          </p:nvSpPr>
          <p:spPr>
            <a:xfrm>
              <a:off x="6673050" y="3952250"/>
              <a:ext cx="390600" cy="368700"/>
            </a:xfrm>
            <a:prstGeom prst="ellipse">
              <a:avLst/>
            </a:prstGeom>
            <a:solidFill>
              <a:srgbClr val="EFEFEF"/>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a:t>
              </a:r>
              <a:endParaRPr/>
            </a:p>
          </p:txBody>
        </p:sp>
        <p:sp>
          <p:nvSpPr>
            <p:cNvPr id="829" name="Google Shape;829;p41"/>
            <p:cNvSpPr/>
            <p:nvPr/>
          </p:nvSpPr>
          <p:spPr>
            <a:xfrm>
              <a:off x="7572750" y="3952250"/>
              <a:ext cx="390600" cy="368700"/>
            </a:xfrm>
            <a:prstGeom prst="ellipse">
              <a:avLst/>
            </a:prstGeom>
            <a:solidFill>
              <a:srgbClr val="EFEFEF"/>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b</a:t>
              </a:r>
              <a:endParaRPr/>
            </a:p>
          </p:txBody>
        </p:sp>
        <p:sp>
          <p:nvSpPr>
            <p:cNvPr id="830" name="Google Shape;830;p41"/>
            <p:cNvSpPr/>
            <p:nvPr/>
          </p:nvSpPr>
          <p:spPr>
            <a:xfrm>
              <a:off x="7122900" y="4638375"/>
              <a:ext cx="390600" cy="368700"/>
            </a:xfrm>
            <a:prstGeom prst="ellipse">
              <a:avLst/>
            </a:prstGeom>
            <a:solidFill>
              <a:srgbClr val="EFEFEF"/>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c</a:t>
              </a:r>
              <a:endParaRPr/>
            </a:p>
          </p:txBody>
        </p:sp>
        <p:cxnSp>
          <p:nvCxnSpPr>
            <p:cNvPr id="831" name="Google Shape;831;p41"/>
            <p:cNvCxnSpPr>
              <a:stCxn id="828" idx="6"/>
              <a:endCxn id="829" idx="2"/>
            </p:cNvCxnSpPr>
            <p:nvPr/>
          </p:nvCxnSpPr>
          <p:spPr>
            <a:xfrm>
              <a:off x="7063650" y="4136600"/>
              <a:ext cx="509100" cy="0"/>
            </a:xfrm>
            <a:prstGeom prst="straightConnector1">
              <a:avLst/>
            </a:prstGeom>
            <a:noFill/>
            <a:ln cap="flat" cmpd="sng" w="19050">
              <a:solidFill>
                <a:srgbClr val="FF0000"/>
              </a:solidFill>
              <a:prstDash val="solid"/>
              <a:round/>
              <a:headEnd len="med" w="med" type="none"/>
              <a:tailEnd len="med" w="med" type="stealth"/>
            </a:ln>
          </p:spPr>
        </p:cxnSp>
        <p:cxnSp>
          <p:nvCxnSpPr>
            <p:cNvPr id="832" name="Google Shape;832;p41"/>
            <p:cNvCxnSpPr>
              <a:stCxn id="829" idx="3"/>
              <a:endCxn id="830" idx="0"/>
            </p:cNvCxnSpPr>
            <p:nvPr/>
          </p:nvCxnSpPr>
          <p:spPr>
            <a:xfrm flipH="1">
              <a:off x="7318252" y="4266955"/>
              <a:ext cx="311700" cy="371400"/>
            </a:xfrm>
            <a:prstGeom prst="straightConnector1">
              <a:avLst/>
            </a:prstGeom>
            <a:noFill/>
            <a:ln cap="flat" cmpd="sng" w="19050">
              <a:solidFill>
                <a:srgbClr val="FF0000"/>
              </a:solidFill>
              <a:prstDash val="solid"/>
              <a:round/>
              <a:headEnd len="med" w="med" type="none"/>
              <a:tailEnd len="med" w="med" type="stealth"/>
            </a:ln>
          </p:spPr>
        </p:cxnSp>
        <p:cxnSp>
          <p:nvCxnSpPr>
            <p:cNvPr id="833" name="Google Shape;833;p41"/>
            <p:cNvCxnSpPr>
              <a:stCxn id="828" idx="4"/>
              <a:endCxn id="830" idx="0"/>
            </p:cNvCxnSpPr>
            <p:nvPr/>
          </p:nvCxnSpPr>
          <p:spPr>
            <a:xfrm>
              <a:off x="6868350" y="4320950"/>
              <a:ext cx="450000" cy="317400"/>
            </a:xfrm>
            <a:prstGeom prst="straightConnector1">
              <a:avLst/>
            </a:prstGeom>
            <a:noFill/>
            <a:ln cap="flat" cmpd="sng" w="19050">
              <a:solidFill>
                <a:srgbClr val="FF0000"/>
              </a:solidFill>
              <a:prstDash val="solid"/>
              <a:round/>
              <a:headEnd len="med" w="med" type="none"/>
              <a:tailEnd len="med" w="med" type="stealth"/>
            </a:ln>
          </p:spPr>
        </p:cxnSp>
      </p:grpSp>
      <p:sp>
        <p:nvSpPr>
          <p:cNvPr id="834" name="Google Shape;834;p41"/>
          <p:cNvSpPr txBox="1"/>
          <p:nvPr/>
        </p:nvSpPr>
        <p:spPr>
          <a:xfrm rot="-1409">
            <a:off x="5124250" y="4270791"/>
            <a:ext cx="1464000" cy="307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Economica"/>
                <a:ea typeface="Economica"/>
                <a:cs typeface="Economica"/>
                <a:sym typeface="Economica"/>
              </a:rPr>
              <a:t>This arc has to exist!</a:t>
            </a:r>
            <a:endParaRPr b="1">
              <a:latin typeface="Economica"/>
              <a:ea typeface="Economica"/>
              <a:cs typeface="Economica"/>
              <a:sym typeface="Economica"/>
            </a:endParaRPr>
          </a:p>
        </p:txBody>
      </p:sp>
      <p:cxnSp>
        <p:nvCxnSpPr>
          <p:cNvPr id="835" name="Google Shape;835;p41"/>
          <p:cNvCxnSpPr>
            <a:stCxn id="834" idx="3"/>
          </p:cNvCxnSpPr>
          <p:nvPr/>
        </p:nvCxnSpPr>
        <p:spPr>
          <a:xfrm flipH="1" rot="10800000">
            <a:off x="6588250" y="3875091"/>
            <a:ext cx="562200" cy="549300"/>
          </a:xfrm>
          <a:prstGeom prst="straightConnector1">
            <a:avLst/>
          </a:prstGeom>
          <a:noFill/>
          <a:ln cap="flat" cmpd="sng" w="19050">
            <a:solidFill>
              <a:schemeClr val="dk2"/>
            </a:solidFill>
            <a:prstDash val="solid"/>
            <a:round/>
            <a:headEnd len="med" w="med" type="none"/>
            <a:tailEnd len="med" w="med" type="triangle"/>
          </a:ln>
        </p:spPr>
      </p:cxnSp>
      <p:sp>
        <p:nvSpPr>
          <p:cNvPr id="836" name="Google Shape;836;p41"/>
          <p:cNvSpPr txBox="1"/>
          <p:nvPr/>
        </p:nvSpPr>
        <p:spPr>
          <a:xfrm>
            <a:off x="6672775" y="4579225"/>
            <a:ext cx="1647600" cy="308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Transitive Triad</a:t>
            </a:r>
            <a:endParaRPr sz="1800">
              <a:latin typeface="Economica"/>
              <a:ea typeface="Economica"/>
              <a:cs typeface="Economica"/>
              <a:sym typeface="Economica"/>
            </a:endParaRPr>
          </a:p>
        </p:txBody>
      </p:sp>
      <p:pic>
        <p:nvPicPr>
          <p:cNvPr id="837" name="Google Shape;837;p41"/>
          <p:cNvPicPr preferRelativeResize="0"/>
          <p:nvPr/>
        </p:nvPicPr>
        <p:blipFill>
          <a:blip r:embed="rId3">
            <a:alphaModFix/>
          </a:blip>
          <a:stretch>
            <a:fillRect/>
          </a:stretch>
        </p:blipFill>
        <p:spPr>
          <a:xfrm>
            <a:off x="152400" y="1299625"/>
            <a:ext cx="4267197" cy="3319163"/>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1" name="Shape 841"/>
        <p:cNvGrpSpPr/>
        <p:nvPr/>
      </p:nvGrpSpPr>
      <p:grpSpPr>
        <a:xfrm>
          <a:off x="0" y="0"/>
          <a:ext cx="0" cy="0"/>
          <a:chOff x="0" y="0"/>
          <a:chExt cx="0" cy="0"/>
        </a:xfrm>
      </p:grpSpPr>
      <p:sp>
        <p:nvSpPr>
          <p:cNvPr id="842" name="Google Shape;842;p42"/>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Algebraic Requirements for Dominance Order</a:t>
            </a:r>
            <a:endParaRPr/>
          </a:p>
        </p:txBody>
      </p:sp>
      <p:sp>
        <p:nvSpPr>
          <p:cNvPr id="843" name="Google Shape;843;p42"/>
          <p:cNvSpPr txBox="1"/>
          <p:nvPr/>
        </p:nvSpPr>
        <p:spPr>
          <a:xfrm>
            <a:off x="4572000" y="1343201"/>
            <a:ext cx="4214700" cy="1580100"/>
          </a:xfrm>
          <a:prstGeom prst="rect">
            <a:avLst/>
          </a:prstGeom>
          <a:noFill/>
          <a:ln>
            <a:noFill/>
          </a:ln>
        </p:spPr>
        <p:txBody>
          <a:bodyPr anchorCtr="0" anchor="t" bIns="91425" lIns="91425" spcFirstLastPara="1" rIns="91425" wrap="square" tIns="91425">
            <a:noAutofit/>
          </a:bodyPr>
          <a:lstStyle/>
          <a:p>
            <a:pPr indent="-342900" lvl="0" marL="457200" marR="0" rtl="0" algn="l">
              <a:lnSpc>
                <a:spcPct val="100000"/>
              </a:lnSpc>
              <a:spcBef>
                <a:spcPts val="0"/>
              </a:spcBef>
              <a:spcAft>
                <a:spcPts val="0"/>
              </a:spcAft>
              <a:buClr>
                <a:srgbClr val="000000"/>
              </a:buClr>
              <a:buSzPts val="1800"/>
              <a:buFont typeface="Economica"/>
              <a:buChar char="●"/>
            </a:pPr>
            <a:r>
              <a:rPr lang="en" sz="1800">
                <a:latin typeface="Economica"/>
                <a:ea typeface="Economica"/>
                <a:cs typeface="Economica"/>
                <a:sym typeface="Economica"/>
              </a:rPr>
              <a:t>A linear dominance order contains no </a:t>
            </a:r>
            <a:r>
              <a:rPr b="1" lang="en" sz="1800">
                <a:solidFill>
                  <a:srgbClr val="FF0000"/>
                </a:solidFill>
                <a:latin typeface="Economica"/>
                <a:ea typeface="Economica"/>
                <a:cs typeface="Economica"/>
                <a:sym typeface="Economica"/>
              </a:rPr>
              <a:t>cyclical</a:t>
            </a:r>
            <a:r>
              <a:rPr lang="en" sz="1800">
                <a:latin typeface="Economica"/>
                <a:ea typeface="Economica"/>
                <a:cs typeface="Economica"/>
                <a:sym typeface="Economica"/>
              </a:rPr>
              <a:t> triads</a:t>
            </a:r>
            <a:endParaRPr sz="1800">
              <a:latin typeface="Economica"/>
              <a:ea typeface="Economica"/>
              <a:cs typeface="Economica"/>
              <a:sym typeface="Economica"/>
            </a:endParaRPr>
          </a:p>
          <a:p>
            <a:pPr indent="-342900" lvl="1" marL="914400" marR="0" rtl="0" algn="l">
              <a:lnSpc>
                <a:spcPct val="100000"/>
              </a:lnSpc>
              <a:spcBef>
                <a:spcPts val="0"/>
              </a:spcBef>
              <a:spcAft>
                <a:spcPts val="0"/>
              </a:spcAft>
              <a:buSzPts val="1800"/>
              <a:buFont typeface="Economica"/>
              <a:buChar char="○"/>
            </a:pPr>
            <a:r>
              <a:rPr lang="en" sz="1800">
                <a:latin typeface="Economica"/>
                <a:ea typeface="Economica"/>
                <a:cs typeface="Economica"/>
                <a:sym typeface="Economica"/>
              </a:rPr>
              <a:t>Flashback: </a:t>
            </a:r>
            <a:r>
              <a:rPr b="1" lang="en" sz="1800">
                <a:latin typeface="Economica"/>
                <a:ea typeface="Economica"/>
                <a:cs typeface="Economica"/>
                <a:sym typeface="Economica"/>
              </a:rPr>
              <a:t>A cycle is a path that begins and ends with the same node</a:t>
            </a:r>
            <a:endParaRPr b="1" sz="1800">
              <a:latin typeface="Economica"/>
              <a:ea typeface="Economica"/>
              <a:cs typeface="Economica"/>
              <a:sym typeface="Economica"/>
            </a:endParaRPr>
          </a:p>
          <a:p>
            <a:pPr indent="0" lvl="0" marL="457200" rtl="0" algn="l">
              <a:spcBef>
                <a:spcPts val="0"/>
              </a:spcBef>
              <a:spcAft>
                <a:spcPts val="0"/>
              </a:spcAft>
              <a:buNone/>
            </a:pPr>
            <a:r>
              <a:t/>
            </a:r>
            <a:endParaRPr sz="1800">
              <a:latin typeface="Economica"/>
              <a:ea typeface="Economica"/>
              <a:cs typeface="Economica"/>
              <a:sym typeface="Economica"/>
            </a:endParaRPr>
          </a:p>
          <a:p>
            <a:pPr indent="0" lvl="0" marL="1371600" rtl="0" algn="l">
              <a:spcBef>
                <a:spcPts val="0"/>
              </a:spcBef>
              <a:spcAft>
                <a:spcPts val="0"/>
              </a:spcAft>
              <a:buNone/>
            </a:pPr>
            <a:r>
              <a:t/>
            </a:r>
            <a:endParaRPr sz="1800">
              <a:latin typeface="Economica"/>
              <a:ea typeface="Economica"/>
              <a:cs typeface="Economica"/>
              <a:sym typeface="Economica"/>
            </a:endParaRPr>
          </a:p>
        </p:txBody>
      </p:sp>
      <p:grpSp>
        <p:nvGrpSpPr>
          <p:cNvPr id="844" name="Google Shape;844;p42"/>
          <p:cNvGrpSpPr/>
          <p:nvPr/>
        </p:nvGrpSpPr>
        <p:grpSpPr>
          <a:xfrm>
            <a:off x="6672800" y="2812425"/>
            <a:ext cx="1647600" cy="1580100"/>
            <a:chOff x="6494400" y="3563400"/>
            <a:chExt cx="1647600" cy="1580100"/>
          </a:xfrm>
        </p:grpSpPr>
        <p:sp>
          <p:nvSpPr>
            <p:cNvPr id="845" name="Google Shape;845;p42"/>
            <p:cNvSpPr/>
            <p:nvPr/>
          </p:nvSpPr>
          <p:spPr>
            <a:xfrm>
              <a:off x="6494400" y="3563400"/>
              <a:ext cx="1647600" cy="1580100"/>
            </a:xfrm>
            <a:prstGeom prst="ellipse">
              <a:avLst/>
            </a:prstGeom>
            <a:noFill/>
            <a:ln cap="flat" cmpd="sng" w="2857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42"/>
            <p:cNvSpPr/>
            <p:nvPr/>
          </p:nvSpPr>
          <p:spPr>
            <a:xfrm>
              <a:off x="6673050" y="3952250"/>
              <a:ext cx="390600" cy="368700"/>
            </a:xfrm>
            <a:prstGeom prst="ellipse">
              <a:avLst/>
            </a:prstGeom>
            <a:solidFill>
              <a:srgbClr val="EFEFEF"/>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a:t>
              </a:r>
              <a:endParaRPr/>
            </a:p>
          </p:txBody>
        </p:sp>
        <p:sp>
          <p:nvSpPr>
            <p:cNvPr id="847" name="Google Shape;847;p42"/>
            <p:cNvSpPr/>
            <p:nvPr/>
          </p:nvSpPr>
          <p:spPr>
            <a:xfrm>
              <a:off x="7572750" y="3952250"/>
              <a:ext cx="390600" cy="368700"/>
            </a:xfrm>
            <a:prstGeom prst="ellipse">
              <a:avLst/>
            </a:prstGeom>
            <a:solidFill>
              <a:srgbClr val="EFEFEF"/>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b</a:t>
              </a:r>
              <a:endParaRPr/>
            </a:p>
          </p:txBody>
        </p:sp>
        <p:sp>
          <p:nvSpPr>
            <p:cNvPr id="848" name="Google Shape;848;p42"/>
            <p:cNvSpPr/>
            <p:nvPr/>
          </p:nvSpPr>
          <p:spPr>
            <a:xfrm>
              <a:off x="7122900" y="4638375"/>
              <a:ext cx="390600" cy="368700"/>
            </a:xfrm>
            <a:prstGeom prst="ellipse">
              <a:avLst/>
            </a:prstGeom>
            <a:solidFill>
              <a:srgbClr val="EFEFEF"/>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c</a:t>
              </a:r>
              <a:endParaRPr/>
            </a:p>
          </p:txBody>
        </p:sp>
        <p:cxnSp>
          <p:nvCxnSpPr>
            <p:cNvPr id="849" name="Google Shape;849;p42"/>
            <p:cNvCxnSpPr>
              <a:stCxn id="846" idx="6"/>
              <a:endCxn id="847" idx="2"/>
            </p:cNvCxnSpPr>
            <p:nvPr/>
          </p:nvCxnSpPr>
          <p:spPr>
            <a:xfrm>
              <a:off x="7063650" y="4136600"/>
              <a:ext cx="509100" cy="0"/>
            </a:xfrm>
            <a:prstGeom prst="straightConnector1">
              <a:avLst/>
            </a:prstGeom>
            <a:noFill/>
            <a:ln cap="flat" cmpd="sng" w="19050">
              <a:solidFill>
                <a:srgbClr val="FF0000"/>
              </a:solidFill>
              <a:prstDash val="solid"/>
              <a:round/>
              <a:headEnd len="med" w="med" type="none"/>
              <a:tailEnd len="med" w="med" type="stealth"/>
            </a:ln>
          </p:spPr>
        </p:cxnSp>
        <p:cxnSp>
          <p:nvCxnSpPr>
            <p:cNvPr id="850" name="Google Shape;850;p42"/>
            <p:cNvCxnSpPr>
              <a:stCxn id="847" idx="3"/>
              <a:endCxn id="848" idx="0"/>
            </p:cNvCxnSpPr>
            <p:nvPr/>
          </p:nvCxnSpPr>
          <p:spPr>
            <a:xfrm flipH="1">
              <a:off x="7318252" y="4266955"/>
              <a:ext cx="311700" cy="371400"/>
            </a:xfrm>
            <a:prstGeom prst="straightConnector1">
              <a:avLst/>
            </a:prstGeom>
            <a:noFill/>
            <a:ln cap="flat" cmpd="sng" w="19050">
              <a:solidFill>
                <a:srgbClr val="FF0000"/>
              </a:solidFill>
              <a:prstDash val="solid"/>
              <a:round/>
              <a:headEnd len="med" w="med" type="none"/>
              <a:tailEnd len="med" w="med" type="stealth"/>
            </a:ln>
          </p:spPr>
        </p:cxnSp>
        <p:cxnSp>
          <p:nvCxnSpPr>
            <p:cNvPr id="851" name="Google Shape;851;p42"/>
            <p:cNvCxnSpPr>
              <a:stCxn id="846" idx="4"/>
              <a:endCxn id="848" idx="0"/>
            </p:cNvCxnSpPr>
            <p:nvPr/>
          </p:nvCxnSpPr>
          <p:spPr>
            <a:xfrm>
              <a:off x="6868350" y="4320950"/>
              <a:ext cx="450000" cy="317400"/>
            </a:xfrm>
            <a:prstGeom prst="straightConnector1">
              <a:avLst/>
            </a:prstGeom>
            <a:noFill/>
            <a:ln cap="flat" cmpd="sng" w="19050">
              <a:solidFill>
                <a:srgbClr val="FF0000"/>
              </a:solidFill>
              <a:prstDash val="solid"/>
              <a:round/>
              <a:headEnd len="med" w="med" type="stealth"/>
              <a:tailEnd len="med" w="med" type="none"/>
            </a:ln>
          </p:spPr>
        </p:cxnSp>
      </p:grpSp>
      <p:sp>
        <p:nvSpPr>
          <p:cNvPr id="852" name="Google Shape;852;p42"/>
          <p:cNvSpPr txBox="1"/>
          <p:nvPr/>
        </p:nvSpPr>
        <p:spPr>
          <a:xfrm rot="-1409">
            <a:off x="5124275" y="4202066"/>
            <a:ext cx="1464000" cy="307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Economica"/>
                <a:ea typeface="Economica"/>
                <a:cs typeface="Economica"/>
                <a:sym typeface="Economica"/>
              </a:rPr>
              <a:t>This would be weird!</a:t>
            </a:r>
            <a:endParaRPr b="1">
              <a:latin typeface="Economica"/>
              <a:ea typeface="Economica"/>
              <a:cs typeface="Economica"/>
              <a:sym typeface="Economica"/>
            </a:endParaRPr>
          </a:p>
        </p:txBody>
      </p:sp>
      <p:cxnSp>
        <p:nvCxnSpPr>
          <p:cNvPr id="853" name="Google Shape;853;p42"/>
          <p:cNvCxnSpPr>
            <a:stCxn id="852" idx="3"/>
          </p:cNvCxnSpPr>
          <p:nvPr/>
        </p:nvCxnSpPr>
        <p:spPr>
          <a:xfrm flipH="1" rot="10800000">
            <a:off x="6588275" y="3806366"/>
            <a:ext cx="562200" cy="549300"/>
          </a:xfrm>
          <a:prstGeom prst="straightConnector1">
            <a:avLst/>
          </a:prstGeom>
          <a:noFill/>
          <a:ln cap="flat" cmpd="sng" w="19050">
            <a:solidFill>
              <a:schemeClr val="dk2"/>
            </a:solidFill>
            <a:prstDash val="solid"/>
            <a:round/>
            <a:headEnd len="med" w="med" type="none"/>
            <a:tailEnd len="med" w="med" type="triangle"/>
          </a:ln>
        </p:spPr>
      </p:cxnSp>
      <p:sp>
        <p:nvSpPr>
          <p:cNvPr id="854" name="Google Shape;854;p42"/>
          <p:cNvSpPr txBox="1"/>
          <p:nvPr/>
        </p:nvSpPr>
        <p:spPr>
          <a:xfrm>
            <a:off x="6672800" y="4510175"/>
            <a:ext cx="1647600" cy="308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Cyclical</a:t>
            </a:r>
            <a:r>
              <a:rPr lang="en" sz="1800">
                <a:latin typeface="Economica"/>
                <a:ea typeface="Economica"/>
                <a:cs typeface="Economica"/>
                <a:sym typeface="Economica"/>
              </a:rPr>
              <a:t> Triad</a:t>
            </a:r>
            <a:endParaRPr sz="1800">
              <a:latin typeface="Economica"/>
              <a:ea typeface="Economica"/>
              <a:cs typeface="Economica"/>
              <a:sym typeface="Economica"/>
            </a:endParaRPr>
          </a:p>
        </p:txBody>
      </p:sp>
      <p:pic>
        <p:nvPicPr>
          <p:cNvPr id="855" name="Google Shape;855;p42"/>
          <p:cNvPicPr preferRelativeResize="0"/>
          <p:nvPr/>
        </p:nvPicPr>
        <p:blipFill>
          <a:blip r:embed="rId3">
            <a:alphaModFix/>
          </a:blip>
          <a:stretch>
            <a:fillRect/>
          </a:stretch>
        </p:blipFill>
        <p:spPr>
          <a:xfrm>
            <a:off x="152400" y="1299625"/>
            <a:ext cx="4267197" cy="3319163"/>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9" name="Shape 859"/>
        <p:cNvGrpSpPr/>
        <p:nvPr/>
      </p:nvGrpSpPr>
      <p:grpSpPr>
        <a:xfrm>
          <a:off x="0" y="0"/>
          <a:ext cx="0" cy="0"/>
          <a:chOff x="0" y="0"/>
          <a:chExt cx="0" cy="0"/>
        </a:xfrm>
      </p:grpSpPr>
      <p:sp>
        <p:nvSpPr>
          <p:cNvPr id="860" name="Google Shape;860;p43"/>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emergence of dominance </a:t>
            </a:r>
            <a:r>
              <a:rPr lang="en"/>
              <a:t>hierarchies</a:t>
            </a:r>
            <a:endParaRPr/>
          </a:p>
        </p:txBody>
      </p:sp>
      <p:sp>
        <p:nvSpPr>
          <p:cNvPr id="861" name="Google Shape;861;p43"/>
          <p:cNvSpPr txBox="1"/>
          <p:nvPr>
            <p:ph idx="1" type="body"/>
          </p:nvPr>
        </p:nvSpPr>
        <p:spPr>
          <a:xfrm>
            <a:off x="311700" y="1225225"/>
            <a:ext cx="8520600" cy="14256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Dominance order can be represented as </a:t>
            </a:r>
            <a:r>
              <a:rPr b="1" lang="en"/>
              <a:t>dominance network</a:t>
            </a:r>
            <a:endParaRPr b="1"/>
          </a:p>
          <a:p>
            <a:pPr indent="-317500" lvl="1" marL="914400" rtl="0" algn="l">
              <a:spcBef>
                <a:spcPts val="0"/>
              </a:spcBef>
              <a:spcAft>
                <a:spcPts val="0"/>
              </a:spcAft>
              <a:buSzPts val="1400"/>
              <a:buChar char="○"/>
            </a:pPr>
            <a:r>
              <a:rPr b="1" lang="en"/>
              <a:t>Nodes</a:t>
            </a:r>
            <a:r>
              <a:rPr lang="en"/>
              <a:t> are animals (whether human or not)</a:t>
            </a:r>
            <a:endParaRPr/>
          </a:p>
          <a:p>
            <a:pPr indent="-317500" lvl="1" marL="914400" rtl="0" algn="l">
              <a:spcBef>
                <a:spcPts val="0"/>
              </a:spcBef>
              <a:spcAft>
                <a:spcPts val="0"/>
              </a:spcAft>
              <a:buSzPts val="1400"/>
              <a:buChar char="○"/>
            </a:pPr>
            <a:r>
              <a:rPr lang="en"/>
              <a:t>Directed, antisymmetric </a:t>
            </a:r>
            <a:r>
              <a:rPr b="1" lang="en"/>
              <a:t>links</a:t>
            </a:r>
            <a:r>
              <a:rPr lang="en"/>
              <a:t> indicate that animal i dominates animal j</a:t>
            </a:r>
            <a:endParaRPr/>
          </a:p>
          <a:p>
            <a:pPr indent="-342900" lvl="0" marL="457200" rtl="0" algn="l">
              <a:spcBef>
                <a:spcPts val="0"/>
              </a:spcBef>
              <a:spcAft>
                <a:spcPts val="0"/>
              </a:spcAft>
              <a:buSzPts val="1800"/>
              <a:buChar char="●"/>
            </a:pPr>
            <a:r>
              <a:rPr lang="en"/>
              <a:t>Types of </a:t>
            </a:r>
            <a:r>
              <a:rPr b="1" lang="en"/>
              <a:t>possible</a:t>
            </a:r>
            <a:r>
              <a:rPr lang="en"/>
              <a:t> </a:t>
            </a:r>
            <a:r>
              <a:rPr b="1" lang="en"/>
              <a:t>triads</a:t>
            </a:r>
            <a:r>
              <a:rPr lang="en"/>
              <a:t> in dominance networks:</a:t>
            </a:r>
            <a:endParaRPr/>
          </a:p>
        </p:txBody>
      </p:sp>
      <p:pic>
        <p:nvPicPr>
          <p:cNvPr id="862" name="Google Shape;862;p43"/>
          <p:cNvPicPr preferRelativeResize="0"/>
          <p:nvPr/>
        </p:nvPicPr>
        <p:blipFill rotWithShape="1">
          <a:blip r:embed="rId3">
            <a:alphaModFix/>
          </a:blip>
          <a:srcRect b="0" l="0" r="0" t="0"/>
          <a:stretch/>
        </p:blipFill>
        <p:spPr>
          <a:xfrm>
            <a:off x="311700" y="2809100"/>
            <a:ext cx="8520599" cy="1445131"/>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6" name="Shape 866"/>
        <p:cNvGrpSpPr/>
        <p:nvPr/>
      </p:nvGrpSpPr>
      <p:grpSpPr>
        <a:xfrm>
          <a:off x="0" y="0"/>
          <a:ext cx="0" cy="0"/>
          <a:chOff x="0" y="0"/>
          <a:chExt cx="0" cy="0"/>
        </a:xfrm>
      </p:grpSpPr>
      <p:sp>
        <p:nvSpPr>
          <p:cNvPr id="867" name="Google Shape;867;p4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emergence of dominance hierarchies</a:t>
            </a:r>
            <a:endParaRPr/>
          </a:p>
        </p:txBody>
      </p:sp>
      <p:sp>
        <p:nvSpPr>
          <p:cNvPr id="868" name="Google Shape;868;p44"/>
          <p:cNvSpPr txBox="1"/>
          <p:nvPr>
            <p:ph idx="1" type="body"/>
          </p:nvPr>
        </p:nvSpPr>
        <p:spPr>
          <a:xfrm>
            <a:off x="311700" y="1225225"/>
            <a:ext cx="8520600" cy="14256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Dominance order can be represented as </a:t>
            </a:r>
            <a:r>
              <a:rPr b="1" lang="en"/>
              <a:t>dominance network</a:t>
            </a:r>
            <a:endParaRPr b="1"/>
          </a:p>
          <a:p>
            <a:pPr indent="-317500" lvl="1" marL="914400" rtl="0" algn="l">
              <a:spcBef>
                <a:spcPts val="0"/>
              </a:spcBef>
              <a:spcAft>
                <a:spcPts val="0"/>
              </a:spcAft>
              <a:buSzPts val="1400"/>
              <a:buChar char="○"/>
            </a:pPr>
            <a:r>
              <a:rPr b="1" lang="en"/>
              <a:t>Nodes</a:t>
            </a:r>
            <a:r>
              <a:rPr lang="en"/>
              <a:t> are animals (whether human or not)</a:t>
            </a:r>
            <a:endParaRPr/>
          </a:p>
          <a:p>
            <a:pPr indent="-317500" lvl="1" marL="914400" rtl="0" algn="l">
              <a:spcBef>
                <a:spcPts val="0"/>
              </a:spcBef>
              <a:spcAft>
                <a:spcPts val="0"/>
              </a:spcAft>
              <a:buSzPts val="1400"/>
              <a:buChar char="○"/>
            </a:pPr>
            <a:r>
              <a:rPr lang="en"/>
              <a:t>Directed, antisymmetric </a:t>
            </a:r>
            <a:r>
              <a:rPr b="1" lang="en"/>
              <a:t>links</a:t>
            </a:r>
            <a:r>
              <a:rPr lang="en"/>
              <a:t> indicate that animal i dominates animal j</a:t>
            </a:r>
            <a:endParaRPr/>
          </a:p>
          <a:p>
            <a:pPr indent="-342900" lvl="0" marL="457200" rtl="0" algn="l">
              <a:spcBef>
                <a:spcPts val="0"/>
              </a:spcBef>
              <a:spcAft>
                <a:spcPts val="0"/>
              </a:spcAft>
              <a:buSzPts val="1800"/>
              <a:buChar char="●"/>
            </a:pPr>
            <a:r>
              <a:rPr lang="en"/>
              <a:t>Types of </a:t>
            </a:r>
            <a:r>
              <a:rPr b="1" lang="en"/>
              <a:t>expected</a:t>
            </a:r>
            <a:r>
              <a:rPr lang="en"/>
              <a:t> </a:t>
            </a:r>
            <a:r>
              <a:rPr b="1" lang="en"/>
              <a:t>triads</a:t>
            </a:r>
            <a:r>
              <a:rPr lang="en"/>
              <a:t> in dominance networks:</a:t>
            </a:r>
            <a:endParaRPr/>
          </a:p>
        </p:txBody>
      </p:sp>
      <p:pic>
        <p:nvPicPr>
          <p:cNvPr id="869" name="Google Shape;869;p44"/>
          <p:cNvPicPr preferRelativeResize="0"/>
          <p:nvPr/>
        </p:nvPicPr>
        <p:blipFill rotWithShape="1">
          <a:blip r:embed="rId3">
            <a:alphaModFix/>
          </a:blip>
          <a:srcRect b="0" l="0" r="0" t="0"/>
          <a:stretch/>
        </p:blipFill>
        <p:spPr>
          <a:xfrm>
            <a:off x="311700" y="2809100"/>
            <a:ext cx="8520599" cy="1445131"/>
          </a:xfrm>
          <a:prstGeom prst="rect">
            <a:avLst/>
          </a:prstGeom>
          <a:noFill/>
          <a:ln>
            <a:noFill/>
          </a:ln>
        </p:spPr>
      </p:pic>
      <p:sp>
        <p:nvSpPr>
          <p:cNvPr id="870" name="Google Shape;870;p44"/>
          <p:cNvSpPr/>
          <p:nvPr/>
        </p:nvSpPr>
        <p:spPr>
          <a:xfrm>
            <a:off x="7200900" y="2650825"/>
            <a:ext cx="1453200" cy="1137600"/>
          </a:xfrm>
          <a:prstGeom prst="mathMultiply">
            <a:avLst>
              <a:gd fmla="val 23520" name="adj1"/>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74" name="Shape 874"/>
        <p:cNvGrpSpPr/>
        <p:nvPr/>
      </p:nvGrpSpPr>
      <p:grpSpPr>
        <a:xfrm>
          <a:off x="0" y="0"/>
          <a:ext cx="0" cy="0"/>
          <a:chOff x="0" y="0"/>
          <a:chExt cx="0" cy="0"/>
        </a:xfrm>
      </p:grpSpPr>
      <p:sp>
        <p:nvSpPr>
          <p:cNvPr id="875" name="Google Shape;875;p4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Different Types of Animal Orders</a:t>
            </a:r>
            <a:endParaRPr/>
          </a:p>
        </p:txBody>
      </p:sp>
      <p:sp>
        <p:nvSpPr>
          <p:cNvPr id="876" name="Google Shape;876;p45"/>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sz="1400"/>
              <a:t>Macaques: Matrilineal Hierarchy</a:t>
            </a:r>
            <a:endParaRPr sz="1400"/>
          </a:p>
          <a:p>
            <a:pPr indent="-317500" lvl="0" marL="457200" rtl="0" algn="l">
              <a:spcBef>
                <a:spcPts val="0"/>
              </a:spcBef>
              <a:spcAft>
                <a:spcPts val="0"/>
              </a:spcAft>
              <a:buSzPts val="1400"/>
              <a:buChar char="●"/>
            </a:pPr>
            <a:r>
              <a:rPr lang="en" sz="1400"/>
              <a:t>Gorillas, Chimpanzees: Female order more fluid than male, male hierarchy</a:t>
            </a:r>
            <a:endParaRPr sz="1400"/>
          </a:p>
          <a:p>
            <a:pPr indent="-317500" lvl="0" marL="457200" rtl="0" algn="l">
              <a:spcBef>
                <a:spcPts val="0"/>
              </a:spcBef>
              <a:spcAft>
                <a:spcPts val="0"/>
              </a:spcAft>
              <a:buSzPts val="1400"/>
              <a:buChar char="●"/>
            </a:pPr>
            <a:r>
              <a:rPr lang="en" sz="1400"/>
              <a:t>Patas Monkeys: Female linear, one male</a:t>
            </a:r>
            <a:endParaRPr sz="1400"/>
          </a:p>
          <a:p>
            <a:pPr indent="-317500" lvl="0" marL="457200" rtl="0" algn="l">
              <a:spcBef>
                <a:spcPts val="0"/>
              </a:spcBef>
              <a:spcAft>
                <a:spcPts val="0"/>
              </a:spcAft>
              <a:buSzPts val="1400"/>
              <a:buChar char="●"/>
            </a:pPr>
            <a:r>
              <a:rPr lang="en" sz="1400"/>
              <a:t>Vervets, Sykes Monkeys: Each sex has internal rankings</a:t>
            </a:r>
            <a:endParaRPr sz="1400"/>
          </a:p>
          <a:p>
            <a:pPr indent="-317500" lvl="0" marL="457200" rtl="0" algn="l">
              <a:spcBef>
                <a:spcPts val="0"/>
              </a:spcBef>
              <a:spcAft>
                <a:spcPts val="0"/>
              </a:spcAft>
              <a:buSzPts val="1400"/>
              <a:buChar char="●"/>
            </a:pPr>
            <a:r>
              <a:rPr lang="en" sz="1400"/>
              <a:t>Wooly Spider Monkey: No dominance order</a:t>
            </a:r>
            <a:endParaRPr sz="1400"/>
          </a:p>
          <a:p>
            <a:pPr indent="-317500" lvl="0" marL="457200" rtl="0" algn="l">
              <a:spcBef>
                <a:spcPts val="0"/>
              </a:spcBef>
              <a:spcAft>
                <a:spcPts val="0"/>
              </a:spcAft>
              <a:buSzPts val="1400"/>
              <a:buChar char="●"/>
            </a:pPr>
            <a:r>
              <a:rPr lang="en" sz="1400"/>
              <a:t>Lemur: Monogamous couples</a:t>
            </a:r>
            <a:endParaRPr sz="1400"/>
          </a:p>
          <a:p>
            <a:pPr indent="-317500" lvl="0" marL="457200" rtl="0" algn="l">
              <a:spcBef>
                <a:spcPts val="0"/>
              </a:spcBef>
              <a:spcAft>
                <a:spcPts val="0"/>
              </a:spcAft>
              <a:buSzPts val="1400"/>
              <a:buChar char="●"/>
            </a:pPr>
            <a:r>
              <a:rPr lang="en" sz="1400"/>
              <a:t>Orangutan: Solitary</a:t>
            </a:r>
            <a:endParaRPr sz="1400"/>
          </a:p>
          <a:p>
            <a:pPr indent="-317500" lvl="0" marL="457200" rtl="0" algn="l">
              <a:spcBef>
                <a:spcPts val="0"/>
              </a:spcBef>
              <a:spcAft>
                <a:spcPts val="0"/>
              </a:spcAft>
              <a:buSzPts val="1400"/>
              <a:buChar char="●"/>
            </a:pPr>
            <a:r>
              <a:rPr lang="en" sz="1400"/>
              <a:t>Homo Sapien: We’re working on it</a:t>
            </a:r>
            <a:endParaRPr sz="14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80" name="Shape 880"/>
        <p:cNvGrpSpPr/>
        <p:nvPr/>
      </p:nvGrpSpPr>
      <p:grpSpPr>
        <a:xfrm>
          <a:off x="0" y="0"/>
          <a:ext cx="0" cy="0"/>
          <a:chOff x="0" y="0"/>
          <a:chExt cx="0" cy="0"/>
        </a:xfrm>
      </p:grpSpPr>
      <p:pic>
        <p:nvPicPr>
          <p:cNvPr id="881" name="Google Shape;881;p46"/>
          <p:cNvPicPr preferRelativeResize="0"/>
          <p:nvPr/>
        </p:nvPicPr>
        <p:blipFill>
          <a:blip r:embed="rId3">
            <a:alphaModFix/>
          </a:blip>
          <a:stretch>
            <a:fillRect/>
          </a:stretch>
        </p:blipFill>
        <p:spPr>
          <a:xfrm>
            <a:off x="483200" y="0"/>
            <a:ext cx="8194474" cy="4749275"/>
          </a:xfrm>
          <a:prstGeom prst="rect">
            <a:avLst/>
          </a:prstGeom>
          <a:noFill/>
          <a:ln>
            <a:noFill/>
          </a:ln>
        </p:spPr>
      </p:pic>
      <p:sp>
        <p:nvSpPr>
          <p:cNvPr id="882" name="Google Shape;882;p46"/>
          <p:cNvSpPr txBox="1"/>
          <p:nvPr/>
        </p:nvSpPr>
        <p:spPr>
          <a:xfrm>
            <a:off x="134175" y="4621025"/>
            <a:ext cx="3588300" cy="32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Hobson, Monster, DeDeo 2018</a:t>
            </a:r>
            <a:endParaRPr>
              <a:latin typeface="Open Sans"/>
              <a:ea typeface="Open Sans"/>
              <a:cs typeface="Open Sans"/>
              <a:sym typeface="Open Sans"/>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6" name="Shape 886"/>
        <p:cNvGrpSpPr/>
        <p:nvPr/>
      </p:nvGrpSpPr>
      <p:grpSpPr>
        <a:xfrm>
          <a:off x="0" y="0"/>
          <a:ext cx="0" cy="0"/>
          <a:chOff x="0" y="0"/>
          <a:chExt cx="0" cy="0"/>
        </a:xfrm>
      </p:grpSpPr>
      <p:sp>
        <p:nvSpPr>
          <p:cNvPr id="887" name="Google Shape;887;p4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emergence of dominance hierarchies</a:t>
            </a:r>
            <a:endParaRPr/>
          </a:p>
        </p:txBody>
      </p:sp>
      <p:sp>
        <p:nvSpPr>
          <p:cNvPr id="888" name="Google Shape;888;p47"/>
          <p:cNvSpPr txBox="1"/>
          <p:nvPr>
            <p:ph idx="1" type="body"/>
          </p:nvPr>
        </p:nvSpPr>
        <p:spPr>
          <a:xfrm>
            <a:off x="311700" y="1225225"/>
            <a:ext cx="43965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Chickens form perfectly linear hierarchies (breaks down at about 10)</a:t>
            </a:r>
            <a:endParaRPr/>
          </a:p>
          <a:p>
            <a:pPr indent="-342900" lvl="0" marL="457200" rtl="0" algn="l">
              <a:spcBef>
                <a:spcPts val="0"/>
              </a:spcBef>
              <a:spcAft>
                <a:spcPts val="0"/>
              </a:spcAft>
              <a:buSzPts val="1800"/>
              <a:buChar char="●"/>
            </a:pPr>
            <a:r>
              <a:rPr lang="en"/>
              <a:t>How are these social structures formed?</a:t>
            </a:r>
            <a:endParaRPr/>
          </a:p>
          <a:p>
            <a:pPr indent="-317500" lvl="1" marL="914400" rtl="0" algn="l">
              <a:spcBef>
                <a:spcPts val="0"/>
              </a:spcBef>
              <a:spcAft>
                <a:spcPts val="0"/>
              </a:spcAft>
              <a:buSzPts val="1400"/>
              <a:buChar char="○"/>
            </a:pPr>
            <a:r>
              <a:rPr lang="en"/>
              <a:t>An </a:t>
            </a:r>
            <a:r>
              <a:rPr b="1" lang="en"/>
              <a:t>attribute based-</a:t>
            </a:r>
            <a:r>
              <a:rPr lang="en"/>
              <a:t>model says position in the hierarchy is a function of individual characteristics (size, age, strength, etc.)</a:t>
            </a:r>
            <a:endParaRPr/>
          </a:p>
        </p:txBody>
      </p:sp>
      <p:sp>
        <p:nvSpPr>
          <p:cNvPr id="889" name="Google Shape;889;p47"/>
          <p:cNvSpPr/>
          <p:nvPr/>
        </p:nvSpPr>
        <p:spPr>
          <a:xfrm>
            <a:off x="5371050" y="3120000"/>
            <a:ext cx="356100" cy="36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47"/>
          <p:cNvSpPr/>
          <p:nvPr/>
        </p:nvSpPr>
        <p:spPr>
          <a:xfrm>
            <a:off x="5474000" y="3727400"/>
            <a:ext cx="356100" cy="36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47"/>
          <p:cNvSpPr/>
          <p:nvPr/>
        </p:nvSpPr>
        <p:spPr>
          <a:xfrm>
            <a:off x="5903350" y="2754000"/>
            <a:ext cx="356100" cy="36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47"/>
          <p:cNvSpPr/>
          <p:nvPr/>
        </p:nvSpPr>
        <p:spPr>
          <a:xfrm>
            <a:off x="5830100" y="3342550"/>
            <a:ext cx="356100" cy="36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47"/>
          <p:cNvSpPr/>
          <p:nvPr/>
        </p:nvSpPr>
        <p:spPr>
          <a:xfrm>
            <a:off x="5909388" y="3931100"/>
            <a:ext cx="356100" cy="36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47"/>
          <p:cNvSpPr/>
          <p:nvPr/>
        </p:nvSpPr>
        <p:spPr>
          <a:xfrm>
            <a:off x="6289150" y="3159550"/>
            <a:ext cx="356100" cy="36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47"/>
          <p:cNvSpPr txBox="1"/>
          <p:nvPr/>
        </p:nvSpPr>
        <p:spPr>
          <a:xfrm>
            <a:off x="4796525" y="1804513"/>
            <a:ext cx="2601300" cy="6582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1800">
                <a:latin typeface="Comfortaa"/>
                <a:ea typeface="Comfortaa"/>
                <a:cs typeface="Comfortaa"/>
                <a:sym typeface="Comfortaa"/>
              </a:rPr>
              <a:t>How do we go from:</a:t>
            </a:r>
            <a:endParaRPr sz="1800">
              <a:latin typeface="Comfortaa"/>
              <a:ea typeface="Comfortaa"/>
              <a:cs typeface="Comfortaa"/>
              <a:sym typeface="Comfortaa"/>
            </a:endParaRPr>
          </a:p>
        </p:txBody>
      </p:sp>
      <p:sp>
        <p:nvSpPr>
          <p:cNvPr id="896" name="Google Shape;896;p47"/>
          <p:cNvSpPr txBox="1"/>
          <p:nvPr/>
        </p:nvSpPr>
        <p:spPr>
          <a:xfrm>
            <a:off x="5644250" y="4599175"/>
            <a:ext cx="727800" cy="3660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1800">
                <a:latin typeface="Comfortaa"/>
                <a:ea typeface="Comfortaa"/>
                <a:cs typeface="Comfortaa"/>
                <a:sym typeface="Comfortaa"/>
              </a:rPr>
              <a:t>This</a:t>
            </a:r>
            <a:endParaRPr sz="1800">
              <a:latin typeface="Comfortaa"/>
              <a:ea typeface="Comfortaa"/>
              <a:cs typeface="Comfortaa"/>
              <a:sym typeface="Comfortaa"/>
            </a:endParaRPr>
          </a:p>
        </p:txBody>
      </p:sp>
      <p:sp>
        <p:nvSpPr>
          <p:cNvPr id="897" name="Google Shape;897;p47"/>
          <p:cNvSpPr txBox="1"/>
          <p:nvPr/>
        </p:nvSpPr>
        <p:spPr>
          <a:xfrm>
            <a:off x="7177300" y="4599175"/>
            <a:ext cx="1100100" cy="3660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1800">
                <a:latin typeface="Comfortaa"/>
                <a:ea typeface="Comfortaa"/>
                <a:cs typeface="Comfortaa"/>
                <a:sym typeface="Comfortaa"/>
              </a:rPr>
              <a:t>To this?</a:t>
            </a:r>
            <a:endParaRPr sz="1800">
              <a:latin typeface="Comfortaa"/>
              <a:ea typeface="Comfortaa"/>
              <a:cs typeface="Comfortaa"/>
              <a:sym typeface="Comfortaa"/>
            </a:endParaRPr>
          </a:p>
        </p:txBody>
      </p:sp>
      <p:sp>
        <p:nvSpPr>
          <p:cNvPr id="898" name="Google Shape;898;p47"/>
          <p:cNvSpPr/>
          <p:nvPr/>
        </p:nvSpPr>
        <p:spPr>
          <a:xfrm>
            <a:off x="7549300" y="2506613"/>
            <a:ext cx="356100" cy="36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47"/>
          <p:cNvSpPr/>
          <p:nvPr/>
        </p:nvSpPr>
        <p:spPr>
          <a:xfrm>
            <a:off x="7549300" y="1403713"/>
            <a:ext cx="356100" cy="36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47"/>
          <p:cNvSpPr/>
          <p:nvPr/>
        </p:nvSpPr>
        <p:spPr>
          <a:xfrm>
            <a:off x="7549300" y="1955163"/>
            <a:ext cx="356100" cy="36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47"/>
          <p:cNvSpPr/>
          <p:nvPr/>
        </p:nvSpPr>
        <p:spPr>
          <a:xfrm>
            <a:off x="7549300" y="3609513"/>
            <a:ext cx="356100" cy="36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47"/>
          <p:cNvSpPr/>
          <p:nvPr/>
        </p:nvSpPr>
        <p:spPr>
          <a:xfrm>
            <a:off x="7549300" y="4143488"/>
            <a:ext cx="356100" cy="36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47"/>
          <p:cNvSpPr/>
          <p:nvPr/>
        </p:nvSpPr>
        <p:spPr>
          <a:xfrm>
            <a:off x="7549300" y="3075538"/>
            <a:ext cx="356100" cy="36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04" name="Google Shape;904;p47"/>
          <p:cNvCxnSpPr>
            <a:stCxn id="899" idx="4"/>
            <a:endCxn id="900" idx="0"/>
          </p:cNvCxnSpPr>
          <p:nvPr/>
        </p:nvCxnSpPr>
        <p:spPr>
          <a:xfrm>
            <a:off x="7727350" y="1769713"/>
            <a:ext cx="0" cy="185400"/>
          </a:xfrm>
          <a:prstGeom prst="straightConnector1">
            <a:avLst/>
          </a:prstGeom>
          <a:noFill/>
          <a:ln cap="flat" cmpd="sng" w="19050">
            <a:solidFill>
              <a:srgbClr val="FF0000"/>
            </a:solidFill>
            <a:prstDash val="solid"/>
            <a:round/>
            <a:headEnd len="med" w="med" type="none"/>
            <a:tailEnd len="med" w="med" type="triangle"/>
          </a:ln>
        </p:spPr>
      </p:cxnSp>
      <p:cxnSp>
        <p:nvCxnSpPr>
          <p:cNvPr id="905" name="Google Shape;905;p47"/>
          <p:cNvCxnSpPr>
            <a:stCxn id="900" idx="4"/>
            <a:endCxn id="898" idx="0"/>
          </p:cNvCxnSpPr>
          <p:nvPr/>
        </p:nvCxnSpPr>
        <p:spPr>
          <a:xfrm>
            <a:off x="7727350" y="2321163"/>
            <a:ext cx="0" cy="185400"/>
          </a:xfrm>
          <a:prstGeom prst="straightConnector1">
            <a:avLst/>
          </a:prstGeom>
          <a:noFill/>
          <a:ln cap="flat" cmpd="sng" w="19050">
            <a:solidFill>
              <a:srgbClr val="FF0000"/>
            </a:solidFill>
            <a:prstDash val="solid"/>
            <a:round/>
            <a:headEnd len="med" w="med" type="none"/>
            <a:tailEnd len="med" w="med" type="triangle"/>
          </a:ln>
        </p:spPr>
      </p:cxnSp>
      <p:cxnSp>
        <p:nvCxnSpPr>
          <p:cNvPr id="906" name="Google Shape;906;p47"/>
          <p:cNvCxnSpPr>
            <a:stCxn id="898" idx="4"/>
            <a:endCxn id="903" idx="0"/>
          </p:cNvCxnSpPr>
          <p:nvPr/>
        </p:nvCxnSpPr>
        <p:spPr>
          <a:xfrm>
            <a:off x="7727350" y="2872613"/>
            <a:ext cx="0" cy="202800"/>
          </a:xfrm>
          <a:prstGeom prst="straightConnector1">
            <a:avLst/>
          </a:prstGeom>
          <a:noFill/>
          <a:ln cap="flat" cmpd="sng" w="19050">
            <a:solidFill>
              <a:srgbClr val="FF0000"/>
            </a:solidFill>
            <a:prstDash val="solid"/>
            <a:round/>
            <a:headEnd len="med" w="med" type="none"/>
            <a:tailEnd len="med" w="med" type="triangle"/>
          </a:ln>
        </p:spPr>
      </p:cxnSp>
      <p:cxnSp>
        <p:nvCxnSpPr>
          <p:cNvPr id="907" name="Google Shape;907;p47"/>
          <p:cNvCxnSpPr>
            <a:stCxn id="903" idx="4"/>
            <a:endCxn id="901" idx="0"/>
          </p:cNvCxnSpPr>
          <p:nvPr/>
        </p:nvCxnSpPr>
        <p:spPr>
          <a:xfrm>
            <a:off x="7727350" y="3441538"/>
            <a:ext cx="0" cy="168000"/>
          </a:xfrm>
          <a:prstGeom prst="straightConnector1">
            <a:avLst/>
          </a:prstGeom>
          <a:noFill/>
          <a:ln cap="flat" cmpd="sng" w="19050">
            <a:solidFill>
              <a:srgbClr val="FF0000"/>
            </a:solidFill>
            <a:prstDash val="solid"/>
            <a:round/>
            <a:headEnd len="med" w="med" type="none"/>
            <a:tailEnd len="med" w="med" type="triangle"/>
          </a:ln>
        </p:spPr>
      </p:cxnSp>
      <p:cxnSp>
        <p:nvCxnSpPr>
          <p:cNvPr id="908" name="Google Shape;908;p47"/>
          <p:cNvCxnSpPr>
            <a:stCxn id="901" idx="4"/>
            <a:endCxn id="902" idx="0"/>
          </p:cNvCxnSpPr>
          <p:nvPr/>
        </p:nvCxnSpPr>
        <p:spPr>
          <a:xfrm>
            <a:off x="7727350" y="3975513"/>
            <a:ext cx="0" cy="168000"/>
          </a:xfrm>
          <a:prstGeom prst="straightConnector1">
            <a:avLst/>
          </a:prstGeom>
          <a:noFill/>
          <a:ln cap="flat" cmpd="sng" w="19050">
            <a:solidFill>
              <a:srgbClr val="FF0000"/>
            </a:solidFill>
            <a:prstDash val="solid"/>
            <a:round/>
            <a:headEnd len="med" w="med" type="none"/>
            <a:tailEnd len="med" w="med" type="triangle"/>
          </a:ln>
        </p:spPr>
      </p:cxn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2" name="Shape 912"/>
        <p:cNvGrpSpPr/>
        <p:nvPr/>
      </p:nvGrpSpPr>
      <p:grpSpPr>
        <a:xfrm>
          <a:off x="0" y="0"/>
          <a:ext cx="0" cy="0"/>
          <a:chOff x="0" y="0"/>
          <a:chExt cx="0" cy="0"/>
        </a:xfrm>
      </p:grpSpPr>
      <p:sp>
        <p:nvSpPr>
          <p:cNvPr id="913" name="Google Shape;913;p4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emergence of dominance hierarchies</a:t>
            </a:r>
            <a:endParaRPr/>
          </a:p>
        </p:txBody>
      </p:sp>
      <p:sp>
        <p:nvSpPr>
          <p:cNvPr id="914" name="Google Shape;914;p48"/>
          <p:cNvSpPr txBox="1"/>
          <p:nvPr>
            <p:ph idx="1" type="body"/>
          </p:nvPr>
        </p:nvSpPr>
        <p:spPr>
          <a:xfrm>
            <a:off x="311700" y="1225225"/>
            <a:ext cx="43965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Chickens form perfectly linear hierarchies (breaks down at about 10)</a:t>
            </a:r>
            <a:endParaRPr/>
          </a:p>
          <a:p>
            <a:pPr indent="-342900" lvl="0" marL="457200" rtl="0" algn="l">
              <a:spcBef>
                <a:spcPts val="0"/>
              </a:spcBef>
              <a:spcAft>
                <a:spcPts val="0"/>
              </a:spcAft>
              <a:buSzPts val="1800"/>
              <a:buChar char="●"/>
            </a:pPr>
            <a:r>
              <a:rPr lang="en"/>
              <a:t>How are these social structures formed?</a:t>
            </a:r>
            <a:endParaRPr/>
          </a:p>
          <a:p>
            <a:pPr indent="-317500" lvl="1" marL="914400" rtl="0" algn="l">
              <a:spcBef>
                <a:spcPts val="0"/>
              </a:spcBef>
              <a:spcAft>
                <a:spcPts val="0"/>
              </a:spcAft>
              <a:buSzPts val="1400"/>
              <a:buChar char="○"/>
            </a:pPr>
            <a:r>
              <a:rPr lang="en"/>
              <a:t>A </a:t>
            </a:r>
            <a:r>
              <a:rPr b="1" lang="en"/>
              <a:t>interaction-based model</a:t>
            </a:r>
            <a:r>
              <a:rPr lang="en"/>
              <a:t> says the hierarchie emerges from local network processes partially independently from attributes</a:t>
            </a:r>
            <a:endParaRPr/>
          </a:p>
        </p:txBody>
      </p:sp>
      <p:sp>
        <p:nvSpPr>
          <p:cNvPr id="915" name="Google Shape;915;p48"/>
          <p:cNvSpPr/>
          <p:nvPr/>
        </p:nvSpPr>
        <p:spPr>
          <a:xfrm>
            <a:off x="5371050" y="3120000"/>
            <a:ext cx="356100" cy="36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48"/>
          <p:cNvSpPr/>
          <p:nvPr/>
        </p:nvSpPr>
        <p:spPr>
          <a:xfrm>
            <a:off x="5474000" y="3727400"/>
            <a:ext cx="356100" cy="36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48"/>
          <p:cNvSpPr/>
          <p:nvPr/>
        </p:nvSpPr>
        <p:spPr>
          <a:xfrm>
            <a:off x="5903350" y="2754000"/>
            <a:ext cx="356100" cy="36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48"/>
          <p:cNvSpPr/>
          <p:nvPr/>
        </p:nvSpPr>
        <p:spPr>
          <a:xfrm>
            <a:off x="5830100" y="3342550"/>
            <a:ext cx="356100" cy="36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48"/>
          <p:cNvSpPr/>
          <p:nvPr/>
        </p:nvSpPr>
        <p:spPr>
          <a:xfrm>
            <a:off x="5909388" y="3931100"/>
            <a:ext cx="356100" cy="36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48"/>
          <p:cNvSpPr/>
          <p:nvPr/>
        </p:nvSpPr>
        <p:spPr>
          <a:xfrm>
            <a:off x="6289150" y="3159550"/>
            <a:ext cx="356100" cy="36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48"/>
          <p:cNvSpPr/>
          <p:nvPr/>
        </p:nvSpPr>
        <p:spPr>
          <a:xfrm>
            <a:off x="7549300" y="2506613"/>
            <a:ext cx="356100" cy="36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48"/>
          <p:cNvSpPr/>
          <p:nvPr/>
        </p:nvSpPr>
        <p:spPr>
          <a:xfrm>
            <a:off x="7549300" y="1403713"/>
            <a:ext cx="356100" cy="36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48"/>
          <p:cNvSpPr/>
          <p:nvPr/>
        </p:nvSpPr>
        <p:spPr>
          <a:xfrm>
            <a:off x="7549300" y="1955163"/>
            <a:ext cx="356100" cy="36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48"/>
          <p:cNvSpPr/>
          <p:nvPr/>
        </p:nvSpPr>
        <p:spPr>
          <a:xfrm>
            <a:off x="7549300" y="3609513"/>
            <a:ext cx="356100" cy="36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48"/>
          <p:cNvSpPr/>
          <p:nvPr/>
        </p:nvSpPr>
        <p:spPr>
          <a:xfrm>
            <a:off x="7549300" y="4143488"/>
            <a:ext cx="356100" cy="36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48"/>
          <p:cNvSpPr/>
          <p:nvPr/>
        </p:nvSpPr>
        <p:spPr>
          <a:xfrm>
            <a:off x="7549300" y="3075538"/>
            <a:ext cx="356100" cy="36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27" name="Google Shape;927;p48"/>
          <p:cNvCxnSpPr>
            <a:stCxn id="922" idx="4"/>
            <a:endCxn id="923" idx="0"/>
          </p:cNvCxnSpPr>
          <p:nvPr/>
        </p:nvCxnSpPr>
        <p:spPr>
          <a:xfrm>
            <a:off x="7727350" y="1769713"/>
            <a:ext cx="0" cy="185400"/>
          </a:xfrm>
          <a:prstGeom prst="straightConnector1">
            <a:avLst/>
          </a:prstGeom>
          <a:noFill/>
          <a:ln cap="flat" cmpd="sng" w="19050">
            <a:solidFill>
              <a:srgbClr val="FF0000"/>
            </a:solidFill>
            <a:prstDash val="solid"/>
            <a:round/>
            <a:headEnd len="med" w="med" type="none"/>
            <a:tailEnd len="med" w="med" type="triangle"/>
          </a:ln>
        </p:spPr>
      </p:cxnSp>
      <p:cxnSp>
        <p:nvCxnSpPr>
          <p:cNvPr id="928" name="Google Shape;928;p48"/>
          <p:cNvCxnSpPr>
            <a:stCxn id="923" idx="4"/>
            <a:endCxn id="921" idx="0"/>
          </p:cNvCxnSpPr>
          <p:nvPr/>
        </p:nvCxnSpPr>
        <p:spPr>
          <a:xfrm>
            <a:off x="7727350" y="2321163"/>
            <a:ext cx="0" cy="185400"/>
          </a:xfrm>
          <a:prstGeom prst="straightConnector1">
            <a:avLst/>
          </a:prstGeom>
          <a:noFill/>
          <a:ln cap="flat" cmpd="sng" w="19050">
            <a:solidFill>
              <a:srgbClr val="FF0000"/>
            </a:solidFill>
            <a:prstDash val="solid"/>
            <a:round/>
            <a:headEnd len="med" w="med" type="none"/>
            <a:tailEnd len="med" w="med" type="triangle"/>
          </a:ln>
        </p:spPr>
      </p:cxnSp>
      <p:cxnSp>
        <p:nvCxnSpPr>
          <p:cNvPr id="929" name="Google Shape;929;p48"/>
          <p:cNvCxnSpPr>
            <a:stCxn id="921" idx="4"/>
            <a:endCxn id="926" idx="0"/>
          </p:cNvCxnSpPr>
          <p:nvPr/>
        </p:nvCxnSpPr>
        <p:spPr>
          <a:xfrm>
            <a:off x="7727350" y="2872613"/>
            <a:ext cx="0" cy="202800"/>
          </a:xfrm>
          <a:prstGeom prst="straightConnector1">
            <a:avLst/>
          </a:prstGeom>
          <a:noFill/>
          <a:ln cap="flat" cmpd="sng" w="19050">
            <a:solidFill>
              <a:srgbClr val="FF0000"/>
            </a:solidFill>
            <a:prstDash val="solid"/>
            <a:round/>
            <a:headEnd len="med" w="med" type="none"/>
            <a:tailEnd len="med" w="med" type="triangle"/>
          </a:ln>
        </p:spPr>
      </p:cxnSp>
      <p:cxnSp>
        <p:nvCxnSpPr>
          <p:cNvPr id="930" name="Google Shape;930;p48"/>
          <p:cNvCxnSpPr>
            <a:stCxn id="926" idx="4"/>
            <a:endCxn id="924" idx="0"/>
          </p:cNvCxnSpPr>
          <p:nvPr/>
        </p:nvCxnSpPr>
        <p:spPr>
          <a:xfrm>
            <a:off x="7727350" y="3441538"/>
            <a:ext cx="0" cy="168000"/>
          </a:xfrm>
          <a:prstGeom prst="straightConnector1">
            <a:avLst/>
          </a:prstGeom>
          <a:noFill/>
          <a:ln cap="flat" cmpd="sng" w="19050">
            <a:solidFill>
              <a:srgbClr val="FF0000"/>
            </a:solidFill>
            <a:prstDash val="solid"/>
            <a:round/>
            <a:headEnd len="med" w="med" type="none"/>
            <a:tailEnd len="med" w="med" type="triangle"/>
          </a:ln>
        </p:spPr>
      </p:cxnSp>
      <p:cxnSp>
        <p:nvCxnSpPr>
          <p:cNvPr id="931" name="Google Shape;931;p48"/>
          <p:cNvCxnSpPr>
            <a:stCxn id="924" idx="4"/>
            <a:endCxn id="925" idx="0"/>
          </p:cNvCxnSpPr>
          <p:nvPr/>
        </p:nvCxnSpPr>
        <p:spPr>
          <a:xfrm>
            <a:off x="7727350" y="3975513"/>
            <a:ext cx="0" cy="168000"/>
          </a:xfrm>
          <a:prstGeom prst="straightConnector1">
            <a:avLst/>
          </a:prstGeom>
          <a:noFill/>
          <a:ln cap="flat" cmpd="sng" w="19050">
            <a:solidFill>
              <a:srgbClr val="FF0000"/>
            </a:solidFill>
            <a:prstDash val="solid"/>
            <a:round/>
            <a:headEnd len="med" w="med" type="none"/>
            <a:tailEnd len="med" w="med" type="triangle"/>
          </a:ln>
        </p:spPr>
      </p:cxnSp>
      <p:sp>
        <p:nvSpPr>
          <p:cNvPr id="932" name="Google Shape;932;p48"/>
          <p:cNvSpPr txBox="1"/>
          <p:nvPr/>
        </p:nvSpPr>
        <p:spPr>
          <a:xfrm>
            <a:off x="4796525" y="1804513"/>
            <a:ext cx="2601300" cy="6582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1800">
                <a:latin typeface="Comfortaa"/>
                <a:ea typeface="Comfortaa"/>
                <a:cs typeface="Comfortaa"/>
                <a:sym typeface="Comfortaa"/>
              </a:rPr>
              <a:t>How do we go from:</a:t>
            </a:r>
            <a:endParaRPr sz="1800">
              <a:latin typeface="Comfortaa"/>
              <a:ea typeface="Comfortaa"/>
              <a:cs typeface="Comfortaa"/>
              <a:sym typeface="Comfortaa"/>
            </a:endParaRPr>
          </a:p>
        </p:txBody>
      </p:sp>
      <p:sp>
        <p:nvSpPr>
          <p:cNvPr id="933" name="Google Shape;933;p48"/>
          <p:cNvSpPr txBox="1"/>
          <p:nvPr/>
        </p:nvSpPr>
        <p:spPr>
          <a:xfrm>
            <a:off x="5644250" y="4599175"/>
            <a:ext cx="727800" cy="3660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1800">
                <a:latin typeface="Comfortaa"/>
                <a:ea typeface="Comfortaa"/>
                <a:cs typeface="Comfortaa"/>
                <a:sym typeface="Comfortaa"/>
              </a:rPr>
              <a:t>This</a:t>
            </a:r>
            <a:endParaRPr sz="1800">
              <a:latin typeface="Comfortaa"/>
              <a:ea typeface="Comfortaa"/>
              <a:cs typeface="Comfortaa"/>
              <a:sym typeface="Comfortaa"/>
            </a:endParaRPr>
          </a:p>
        </p:txBody>
      </p:sp>
      <p:sp>
        <p:nvSpPr>
          <p:cNvPr id="934" name="Google Shape;934;p48"/>
          <p:cNvSpPr txBox="1"/>
          <p:nvPr/>
        </p:nvSpPr>
        <p:spPr>
          <a:xfrm>
            <a:off x="7177300" y="4599175"/>
            <a:ext cx="1100100" cy="3660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1800">
                <a:latin typeface="Comfortaa"/>
                <a:ea typeface="Comfortaa"/>
                <a:cs typeface="Comfortaa"/>
                <a:sym typeface="Comfortaa"/>
              </a:rPr>
              <a:t>To this?</a:t>
            </a:r>
            <a:endParaRPr sz="1800">
              <a:latin typeface="Comfortaa"/>
              <a:ea typeface="Comfortaa"/>
              <a:cs typeface="Comfortaa"/>
              <a:sym typeface="Comfortaa"/>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8" name="Shape 938"/>
        <p:cNvGrpSpPr/>
        <p:nvPr/>
      </p:nvGrpSpPr>
      <p:grpSpPr>
        <a:xfrm>
          <a:off x="0" y="0"/>
          <a:ext cx="0" cy="0"/>
          <a:chOff x="0" y="0"/>
          <a:chExt cx="0" cy="0"/>
        </a:xfrm>
      </p:grpSpPr>
      <p:sp>
        <p:nvSpPr>
          <p:cNvPr id="939" name="Google Shape;939;p4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Agonistic Competition as Iterative and Social</a:t>
            </a:r>
            <a:endParaRPr/>
          </a:p>
        </p:txBody>
      </p:sp>
      <p:sp>
        <p:nvSpPr>
          <p:cNvPr id="940" name="Google Shape;940;p49"/>
          <p:cNvSpPr/>
          <p:nvPr/>
        </p:nvSpPr>
        <p:spPr>
          <a:xfrm>
            <a:off x="5628775" y="1863261"/>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49"/>
          <p:cNvSpPr/>
          <p:nvPr/>
        </p:nvSpPr>
        <p:spPr>
          <a:xfrm>
            <a:off x="5923928" y="1264244"/>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42" name="Google Shape;942;p49"/>
          <p:cNvCxnSpPr>
            <a:stCxn id="941" idx="4"/>
            <a:endCxn id="940" idx="0"/>
          </p:cNvCxnSpPr>
          <p:nvPr/>
        </p:nvCxnSpPr>
        <p:spPr>
          <a:xfrm flipH="1">
            <a:off x="5794778" y="1600244"/>
            <a:ext cx="295200" cy="263100"/>
          </a:xfrm>
          <a:prstGeom prst="straightConnector1">
            <a:avLst/>
          </a:prstGeom>
          <a:noFill/>
          <a:ln cap="flat" cmpd="sng" w="19050">
            <a:solidFill>
              <a:srgbClr val="FF0000"/>
            </a:solidFill>
            <a:prstDash val="solid"/>
            <a:round/>
            <a:headEnd len="med" w="med" type="none"/>
            <a:tailEnd len="med" w="med" type="triangle"/>
          </a:ln>
        </p:spPr>
      </p:cxnSp>
      <p:sp>
        <p:nvSpPr>
          <p:cNvPr id="943" name="Google Shape;943;p49"/>
          <p:cNvSpPr/>
          <p:nvPr/>
        </p:nvSpPr>
        <p:spPr>
          <a:xfrm>
            <a:off x="6936564" y="1583262"/>
            <a:ext cx="415200" cy="399600"/>
          </a:xfrm>
          <a:prstGeom prst="striped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49"/>
          <p:cNvSpPr/>
          <p:nvPr/>
        </p:nvSpPr>
        <p:spPr>
          <a:xfrm>
            <a:off x="7737067" y="1863273"/>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49"/>
          <p:cNvSpPr/>
          <p:nvPr/>
        </p:nvSpPr>
        <p:spPr>
          <a:xfrm>
            <a:off x="8327443" y="1863273"/>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49"/>
          <p:cNvSpPr/>
          <p:nvPr/>
        </p:nvSpPr>
        <p:spPr>
          <a:xfrm>
            <a:off x="8032220" y="1264256"/>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47" name="Google Shape;947;p49"/>
          <p:cNvCxnSpPr>
            <a:stCxn id="946" idx="4"/>
            <a:endCxn id="944" idx="0"/>
          </p:cNvCxnSpPr>
          <p:nvPr/>
        </p:nvCxnSpPr>
        <p:spPr>
          <a:xfrm flipH="1">
            <a:off x="7903070" y="1600256"/>
            <a:ext cx="295200" cy="263100"/>
          </a:xfrm>
          <a:prstGeom prst="straightConnector1">
            <a:avLst/>
          </a:prstGeom>
          <a:noFill/>
          <a:ln cap="flat" cmpd="sng" w="19050">
            <a:solidFill>
              <a:srgbClr val="FF0000"/>
            </a:solidFill>
            <a:prstDash val="solid"/>
            <a:round/>
            <a:headEnd len="med" w="med" type="none"/>
            <a:tailEnd len="med" w="med" type="triangle"/>
          </a:ln>
        </p:spPr>
      </p:cxnSp>
      <p:cxnSp>
        <p:nvCxnSpPr>
          <p:cNvPr id="948" name="Google Shape;948;p49"/>
          <p:cNvCxnSpPr>
            <a:stCxn id="946" idx="4"/>
            <a:endCxn id="945" idx="0"/>
          </p:cNvCxnSpPr>
          <p:nvPr/>
        </p:nvCxnSpPr>
        <p:spPr>
          <a:xfrm>
            <a:off x="8198270" y="1600256"/>
            <a:ext cx="295200" cy="263100"/>
          </a:xfrm>
          <a:prstGeom prst="straightConnector1">
            <a:avLst/>
          </a:prstGeom>
          <a:noFill/>
          <a:ln cap="flat" cmpd="sng" w="19050">
            <a:solidFill>
              <a:srgbClr val="FF0000"/>
            </a:solidFill>
            <a:prstDash val="solid"/>
            <a:round/>
            <a:headEnd len="med" w="med" type="none"/>
            <a:tailEnd len="med" w="med" type="triangle"/>
          </a:ln>
        </p:spPr>
      </p:cxnSp>
      <p:sp>
        <p:nvSpPr>
          <p:cNvPr id="949" name="Google Shape;949;p49"/>
          <p:cNvSpPr txBox="1"/>
          <p:nvPr/>
        </p:nvSpPr>
        <p:spPr>
          <a:xfrm>
            <a:off x="5447850" y="4598800"/>
            <a:ext cx="989100" cy="36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mfortaa"/>
                <a:ea typeface="Comfortaa"/>
                <a:cs typeface="Comfortaa"/>
                <a:sym typeface="Comfortaa"/>
              </a:rPr>
              <a:t>Time 1</a:t>
            </a:r>
            <a:endParaRPr>
              <a:latin typeface="Comfortaa"/>
              <a:ea typeface="Comfortaa"/>
              <a:cs typeface="Comfortaa"/>
              <a:sym typeface="Comfortaa"/>
            </a:endParaRPr>
          </a:p>
        </p:txBody>
      </p:sp>
      <p:sp>
        <p:nvSpPr>
          <p:cNvPr id="950" name="Google Shape;950;p49"/>
          <p:cNvSpPr txBox="1"/>
          <p:nvPr/>
        </p:nvSpPr>
        <p:spPr>
          <a:xfrm>
            <a:off x="7703725" y="4598850"/>
            <a:ext cx="989100" cy="36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mfortaa"/>
                <a:ea typeface="Comfortaa"/>
                <a:cs typeface="Comfortaa"/>
                <a:sym typeface="Comfortaa"/>
              </a:rPr>
              <a:t>Time 2</a:t>
            </a:r>
            <a:endParaRPr>
              <a:latin typeface="Comfortaa"/>
              <a:ea typeface="Comfortaa"/>
              <a:cs typeface="Comfortaa"/>
              <a:sym typeface="Comfortaa"/>
            </a:endParaRPr>
          </a:p>
        </p:txBody>
      </p:sp>
      <p:sp>
        <p:nvSpPr>
          <p:cNvPr id="951" name="Google Shape;951;p49"/>
          <p:cNvSpPr txBox="1"/>
          <p:nvPr>
            <p:ph idx="1" type="body"/>
          </p:nvPr>
        </p:nvSpPr>
        <p:spPr>
          <a:xfrm>
            <a:off x="311700" y="1225225"/>
            <a:ext cx="53142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Three possible mechanisms:</a:t>
            </a:r>
            <a:endParaRPr/>
          </a:p>
          <a:p>
            <a:pPr indent="-317500" lvl="1" marL="914400" rtl="0" algn="l">
              <a:spcBef>
                <a:spcPts val="0"/>
              </a:spcBef>
              <a:spcAft>
                <a:spcPts val="0"/>
              </a:spcAft>
              <a:buSzPts val="1400"/>
              <a:buChar char="○"/>
            </a:pPr>
            <a:r>
              <a:rPr b="1" lang="en"/>
              <a:t>Winner Effects</a:t>
            </a:r>
            <a:endParaRPr b="1"/>
          </a:p>
          <a:p>
            <a:pPr indent="-317500" lvl="2" marL="1371600" rtl="0" algn="l">
              <a:spcBef>
                <a:spcPts val="0"/>
              </a:spcBef>
              <a:spcAft>
                <a:spcPts val="0"/>
              </a:spcAft>
              <a:buSzPts val="1400"/>
              <a:buChar char="■"/>
            </a:pPr>
            <a:r>
              <a:rPr lang="en"/>
              <a:t>Confidence, testosterone boost, experience</a:t>
            </a:r>
            <a:endParaRPr/>
          </a:p>
          <a:p>
            <a:pPr indent="-317500" lvl="2" marL="1371600" rtl="0" algn="l">
              <a:spcBef>
                <a:spcPts val="0"/>
              </a:spcBef>
              <a:spcAft>
                <a:spcPts val="0"/>
              </a:spcAft>
              <a:buSzPts val="1400"/>
              <a:buChar char="■"/>
            </a:pPr>
            <a:r>
              <a:rPr lang="en"/>
              <a:t>Emergence of </a:t>
            </a:r>
            <a:r>
              <a:rPr b="1" lang="en"/>
              <a:t>double-dominant triads</a:t>
            </a:r>
            <a:endParaRPr b="1"/>
          </a:p>
          <a:p>
            <a:pPr indent="-317500" lvl="1" marL="914400" rtl="0" algn="l">
              <a:spcBef>
                <a:spcPts val="0"/>
              </a:spcBef>
              <a:spcAft>
                <a:spcPts val="0"/>
              </a:spcAft>
              <a:buSzPts val="1400"/>
              <a:buChar char="○"/>
            </a:pPr>
            <a:r>
              <a:rPr b="1" lang="en"/>
              <a:t>Loser Effects</a:t>
            </a:r>
            <a:endParaRPr b="1"/>
          </a:p>
          <a:p>
            <a:pPr indent="-317500" lvl="2" marL="1371600" rtl="0" algn="l">
              <a:spcBef>
                <a:spcPts val="0"/>
              </a:spcBef>
              <a:spcAft>
                <a:spcPts val="0"/>
              </a:spcAft>
              <a:buSzPts val="1400"/>
              <a:buChar char="■"/>
            </a:pPr>
            <a:r>
              <a:rPr lang="en"/>
              <a:t>Lowered confidence, injury</a:t>
            </a:r>
            <a:endParaRPr/>
          </a:p>
          <a:p>
            <a:pPr indent="-317500" lvl="2" marL="1371600" rtl="0" algn="l">
              <a:spcBef>
                <a:spcPts val="0"/>
              </a:spcBef>
              <a:spcAft>
                <a:spcPts val="0"/>
              </a:spcAft>
              <a:buSzPts val="1400"/>
              <a:buChar char="■"/>
            </a:pPr>
            <a:r>
              <a:rPr lang="en"/>
              <a:t>Emergence of</a:t>
            </a:r>
            <a:r>
              <a:rPr lang="en"/>
              <a:t> </a:t>
            </a:r>
            <a:r>
              <a:rPr b="1" lang="en"/>
              <a:t>double-loser triads</a:t>
            </a:r>
            <a:endParaRPr/>
          </a:p>
          <a:p>
            <a:pPr indent="-317500" lvl="1" marL="914400" rtl="0" algn="l">
              <a:spcBef>
                <a:spcPts val="0"/>
              </a:spcBef>
              <a:spcAft>
                <a:spcPts val="0"/>
              </a:spcAft>
              <a:buSzPts val="1400"/>
              <a:buChar char="○"/>
            </a:pPr>
            <a:r>
              <a:rPr b="1" lang="en"/>
              <a:t>Bystander Effects</a:t>
            </a:r>
            <a:endParaRPr b="1"/>
          </a:p>
          <a:p>
            <a:pPr indent="-317500" lvl="2" marL="1371600" rtl="0" algn="l">
              <a:spcBef>
                <a:spcPts val="0"/>
              </a:spcBef>
              <a:spcAft>
                <a:spcPts val="0"/>
              </a:spcAft>
              <a:buSzPts val="1400"/>
              <a:buChar char="■"/>
            </a:pPr>
            <a:r>
              <a:rPr lang="en"/>
              <a:t>Confidence vis-a-vis winner and loser changes</a:t>
            </a:r>
            <a:endParaRPr/>
          </a:p>
          <a:p>
            <a:pPr indent="-317500" lvl="2" marL="1371600" rtl="0" algn="l">
              <a:spcBef>
                <a:spcPts val="0"/>
              </a:spcBef>
              <a:spcAft>
                <a:spcPts val="0"/>
              </a:spcAft>
              <a:buSzPts val="1400"/>
              <a:buChar char="■"/>
            </a:pPr>
            <a:r>
              <a:rPr lang="en"/>
              <a:t>From </a:t>
            </a:r>
            <a:r>
              <a:rPr b="1" lang="en"/>
              <a:t>single-edge</a:t>
            </a:r>
            <a:r>
              <a:rPr lang="en"/>
              <a:t> to either:</a:t>
            </a:r>
            <a:endParaRPr/>
          </a:p>
          <a:p>
            <a:pPr indent="-317500" lvl="3" marL="1828800" rtl="0" algn="l">
              <a:spcBef>
                <a:spcPts val="0"/>
              </a:spcBef>
              <a:spcAft>
                <a:spcPts val="0"/>
              </a:spcAft>
              <a:buSzPts val="1400"/>
              <a:buChar char="●"/>
            </a:pPr>
            <a:r>
              <a:rPr b="1" lang="en"/>
              <a:t>Double-dominant triads</a:t>
            </a:r>
            <a:endParaRPr b="1"/>
          </a:p>
        </p:txBody>
      </p:sp>
      <p:sp>
        <p:nvSpPr>
          <p:cNvPr id="952" name="Google Shape;952;p49"/>
          <p:cNvSpPr txBox="1"/>
          <p:nvPr/>
        </p:nvSpPr>
        <p:spPr>
          <a:xfrm>
            <a:off x="6468095" y="1147225"/>
            <a:ext cx="1346100" cy="33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latin typeface="Comfortaa"/>
                <a:ea typeface="Comfortaa"/>
                <a:cs typeface="Comfortaa"/>
                <a:sym typeface="Comfortaa"/>
              </a:rPr>
              <a:t>Winner Effects</a:t>
            </a:r>
            <a:endParaRPr b="1" sz="1200">
              <a:latin typeface="Comfortaa"/>
              <a:ea typeface="Comfortaa"/>
              <a:cs typeface="Comfortaa"/>
              <a:sym typeface="Comfortaa"/>
            </a:endParaRPr>
          </a:p>
        </p:txBody>
      </p:sp>
      <p:sp>
        <p:nvSpPr>
          <p:cNvPr id="953" name="Google Shape;953;p49"/>
          <p:cNvSpPr/>
          <p:nvPr/>
        </p:nvSpPr>
        <p:spPr>
          <a:xfrm>
            <a:off x="5628788" y="2974750"/>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49"/>
          <p:cNvSpPr/>
          <p:nvPr/>
        </p:nvSpPr>
        <p:spPr>
          <a:xfrm>
            <a:off x="5923940" y="2375734"/>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55" name="Google Shape;955;p49"/>
          <p:cNvCxnSpPr>
            <a:stCxn id="954" idx="4"/>
            <a:endCxn id="953" idx="0"/>
          </p:cNvCxnSpPr>
          <p:nvPr/>
        </p:nvCxnSpPr>
        <p:spPr>
          <a:xfrm flipH="1">
            <a:off x="5794790" y="2711734"/>
            <a:ext cx="295200" cy="263100"/>
          </a:xfrm>
          <a:prstGeom prst="straightConnector1">
            <a:avLst/>
          </a:prstGeom>
          <a:noFill/>
          <a:ln cap="flat" cmpd="sng" w="19050">
            <a:solidFill>
              <a:srgbClr val="FF0000"/>
            </a:solidFill>
            <a:prstDash val="solid"/>
            <a:round/>
            <a:headEnd len="med" w="med" type="none"/>
            <a:tailEnd len="med" w="med" type="triangle"/>
          </a:ln>
        </p:spPr>
      </p:cxnSp>
      <p:sp>
        <p:nvSpPr>
          <p:cNvPr id="956" name="Google Shape;956;p49"/>
          <p:cNvSpPr/>
          <p:nvPr/>
        </p:nvSpPr>
        <p:spPr>
          <a:xfrm>
            <a:off x="6936576" y="2694751"/>
            <a:ext cx="415200" cy="399600"/>
          </a:xfrm>
          <a:prstGeom prst="striped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49"/>
          <p:cNvSpPr/>
          <p:nvPr/>
        </p:nvSpPr>
        <p:spPr>
          <a:xfrm>
            <a:off x="7737080" y="2974762"/>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49"/>
          <p:cNvSpPr/>
          <p:nvPr/>
        </p:nvSpPr>
        <p:spPr>
          <a:xfrm>
            <a:off x="8327455" y="2974762"/>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49"/>
          <p:cNvSpPr/>
          <p:nvPr/>
        </p:nvSpPr>
        <p:spPr>
          <a:xfrm>
            <a:off x="8032233" y="2375745"/>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60" name="Google Shape;960;p49"/>
          <p:cNvCxnSpPr>
            <a:stCxn id="959" idx="4"/>
            <a:endCxn id="957" idx="0"/>
          </p:cNvCxnSpPr>
          <p:nvPr/>
        </p:nvCxnSpPr>
        <p:spPr>
          <a:xfrm flipH="1">
            <a:off x="7903083" y="2711745"/>
            <a:ext cx="295200" cy="263100"/>
          </a:xfrm>
          <a:prstGeom prst="straightConnector1">
            <a:avLst/>
          </a:prstGeom>
          <a:noFill/>
          <a:ln cap="flat" cmpd="sng" w="19050">
            <a:solidFill>
              <a:srgbClr val="FF0000"/>
            </a:solidFill>
            <a:prstDash val="solid"/>
            <a:round/>
            <a:headEnd len="med" w="med" type="none"/>
            <a:tailEnd len="med" w="med" type="triangle"/>
          </a:ln>
        </p:spPr>
      </p:cxnSp>
      <p:cxnSp>
        <p:nvCxnSpPr>
          <p:cNvPr id="961" name="Google Shape;961;p49"/>
          <p:cNvCxnSpPr>
            <a:stCxn id="958" idx="2"/>
            <a:endCxn id="957" idx="6"/>
          </p:cNvCxnSpPr>
          <p:nvPr/>
        </p:nvCxnSpPr>
        <p:spPr>
          <a:xfrm rot="10800000">
            <a:off x="8069155" y="3142762"/>
            <a:ext cx="258300" cy="0"/>
          </a:xfrm>
          <a:prstGeom prst="straightConnector1">
            <a:avLst/>
          </a:prstGeom>
          <a:noFill/>
          <a:ln cap="flat" cmpd="sng" w="19050">
            <a:solidFill>
              <a:srgbClr val="FF0000"/>
            </a:solidFill>
            <a:prstDash val="solid"/>
            <a:round/>
            <a:headEnd len="med" w="med" type="none"/>
            <a:tailEnd len="med" w="med" type="triangle"/>
          </a:ln>
        </p:spPr>
      </p:cxnSp>
      <p:sp>
        <p:nvSpPr>
          <p:cNvPr id="962" name="Google Shape;962;p49"/>
          <p:cNvSpPr txBox="1"/>
          <p:nvPr/>
        </p:nvSpPr>
        <p:spPr>
          <a:xfrm>
            <a:off x="6468108" y="2258714"/>
            <a:ext cx="1346100" cy="33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latin typeface="Comfortaa"/>
                <a:ea typeface="Comfortaa"/>
                <a:cs typeface="Comfortaa"/>
                <a:sym typeface="Comfortaa"/>
              </a:rPr>
              <a:t>Loser</a:t>
            </a:r>
            <a:r>
              <a:rPr b="1" lang="en" sz="1200">
                <a:latin typeface="Comfortaa"/>
                <a:ea typeface="Comfortaa"/>
                <a:cs typeface="Comfortaa"/>
                <a:sym typeface="Comfortaa"/>
              </a:rPr>
              <a:t> Effects</a:t>
            </a:r>
            <a:endParaRPr b="1" sz="1200">
              <a:latin typeface="Comfortaa"/>
              <a:ea typeface="Comfortaa"/>
              <a:cs typeface="Comfortaa"/>
              <a:sym typeface="Comfortaa"/>
            </a:endParaRPr>
          </a:p>
        </p:txBody>
      </p:sp>
      <p:sp>
        <p:nvSpPr>
          <p:cNvPr id="963" name="Google Shape;963;p49"/>
          <p:cNvSpPr/>
          <p:nvPr/>
        </p:nvSpPr>
        <p:spPr>
          <a:xfrm>
            <a:off x="5625763" y="4086250"/>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49"/>
          <p:cNvSpPr/>
          <p:nvPr/>
        </p:nvSpPr>
        <p:spPr>
          <a:xfrm>
            <a:off x="6216138" y="4086250"/>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49"/>
          <p:cNvSpPr/>
          <p:nvPr/>
        </p:nvSpPr>
        <p:spPr>
          <a:xfrm>
            <a:off x="5920915" y="3487234"/>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66" name="Google Shape;966;p49"/>
          <p:cNvCxnSpPr>
            <a:stCxn id="965" idx="4"/>
            <a:endCxn id="963" idx="0"/>
          </p:cNvCxnSpPr>
          <p:nvPr/>
        </p:nvCxnSpPr>
        <p:spPr>
          <a:xfrm flipH="1">
            <a:off x="5791765" y="3823234"/>
            <a:ext cx="295200" cy="263100"/>
          </a:xfrm>
          <a:prstGeom prst="straightConnector1">
            <a:avLst/>
          </a:prstGeom>
          <a:noFill/>
          <a:ln cap="flat" cmpd="sng" w="19050">
            <a:solidFill>
              <a:srgbClr val="FF0000"/>
            </a:solidFill>
            <a:prstDash val="solid"/>
            <a:round/>
            <a:headEnd len="med" w="med" type="none"/>
            <a:tailEnd len="med" w="med" type="triangle"/>
          </a:ln>
        </p:spPr>
      </p:cxnSp>
      <p:sp>
        <p:nvSpPr>
          <p:cNvPr id="967" name="Google Shape;967;p49"/>
          <p:cNvSpPr/>
          <p:nvPr/>
        </p:nvSpPr>
        <p:spPr>
          <a:xfrm>
            <a:off x="6933551" y="3806251"/>
            <a:ext cx="415200" cy="399600"/>
          </a:xfrm>
          <a:prstGeom prst="striped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49"/>
          <p:cNvSpPr/>
          <p:nvPr/>
        </p:nvSpPr>
        <p:spPr>
          <a:xfrm>
            <a:off x="7734055" y="4086262"/>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49"/>
          <p:cNvSpPr/>
          <p:nvPr/>
        </p:nvSpPr>
        <p:spPr>
          <a:xfrm>
            <a:off x="8324430" y="4086262"/>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49"/>
          <p:cNvSpPr/>
          <p:nvPr/>
        </p:nvSpPr>
        <p:spPr>
          <a:xfrm>
            <a:off x="8029208" y="3487245"/>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71" name="Google Shape;971;p49"/>
          <p:cNvCxnSpPr>
            <a:stCxn id="970" idx="4"/>
            <a:endCxn id="968" idx="0"/>
          </p:cNvCxnSpPr>
          <p:nvPr/>
        </p:nvCxnSpPr>
        <p:spPr>
          <a:xfrm flipH="1">
            <a:off x="7900058" y="3823245"/>
            <a:ext cx="295200" cy="263100"/>
          </a:xfrm>
          <a:prstGeom prst="straightConnector1">
            <a:avLst/>
          </a:prstGeom>
          <a:noFill/>
          <a:ln cap="flat" cmpd="sng" w="19050">
            <a:solidFill>
              <a:srgbClr val="FF0000"/>
            </a:solidFill>
            <a:prstDash val="solid"/>
            <a:round/>
            <a:headEnd len="med" w="med" type="none"/>
            <a:tailEnd len="med" w="med" type="triangle"/>
          </a:ln>
        </p:spPr>
      </p:cxnSp>
      <p:cxnSp>
        <p:nvCxnSpPr>
          <p:cNvPr id="972" name="Google Shape;972;p49"/>
          <p:cNvCxnSpPr>
            <a:stCxn id="970" idx="4"/>
            <a:endCxn id="969" idx="0"/>
          </p:cNvCxnSpPr>
          <p:nvPr/>
        </p:nvCxnSpPr>
        <p:spPr>
          <a:xfrm>
            <a:off x="8195258" y="3823245"/>
            <a:ext cx="295200" cy="263100"/>
          </a:xfrm>
          <a:prstGeom prst="straightConnector1">
            <a:avLst/>
          </a:prstGeom>
          <a:noFill/>
          <a:ln cap="flat" cmpd="sng" w="19050">
            <a:solidFill>
              <a:srgbClr val="FF0000"/>
            </a:solidFill>
            <a:prstDash val="solid"/>
            <a:round/>
            <a:headEnd len="med" w="med" type="none"/>
            <a:tailEnd len="med" w="med" type="triangle"/>
          </a:ln>
        </p:spPr>
      </p:cxnSp>
      <p:sp>
        <p:nvSpPr>
          <p:cNvPr id="973" name="Google Shape;973;p49"/>
          <p:cNvSpPr txBox="1"/>
          <p:nvPr/>
        </p:nvSpPr>
        <p:spPr>
          <a:xfrm>
            <a:off x="6333350" y="3370225"/>
            <a:ext cx="1614900" cy="33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latin typeface="Comfortaa"/>
                <a:ea typeface="Comfortaa"/>
                <a:cs typeface="Comfortaa"/>
                <a:sym typeface="Comfortaa"/>
              </a:rPr>
              <a:t>Bystander</a:t>
            </a:r>
            <a:r>
              <a:rPr b="1" lang="en" sz="1200">
                <a:latin typeface="Comfortaa"/>
                <a:ea typeface="Comfortaa"/>
                <a:cs typeface="Comfortaa"/>
                <a:sym typeface="Comfortaa"/>
              </a:rPr>
              <a:t> Effects</a:t>
            </a:r>
            <a:endParaRPr b="1" sz="1200">
              <a:latin typeface="Comfortaa"/>
              <a:ea typeface="Comfortaa"/>
              <a:cs typeface="Comfortaa"/>
              <a:sym typeface="Comfortaa"/>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7" name="Shape 977"/>
        <p:cNvGrpSpPr/>
        <p:nvPr/>
      </p:nvGrpSpPr>
      <p:grpSpPr>
        <a:xfrm>
          <a:off x="0" y="0"/>
          <a:ext cx="0" cy="0"/>
          <a:chOff x="0" y="0"/>
          <a:chExt cx="0" cy="0"/>
        </a:xfrm>
      </p:grpSpPr>
      <p:sp>
        <p:nvSpPr>
          <p:cNvPr id="978" name="Google Shape;978;p5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Agonistic Competition as Iterative and Social</a:t>
            </a:r>
            <a:endParaRPr/>
          </a:p>
        </p:txBody>
      </p:sp>
      <p:sp>
        <p:nvSpPr>
          <p:cNvPr id="979" name="Google Shape;979;p50"/>
          <p:cNvSpPr/>
          <p:nvPr/>
        </p:nvSpPr>
        <p:spPr>
          <a:xfrm>
            <a:off x="5628775" y="1863261"/>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50"/>
          <p:cNvSpPr/>
          <p:nvPr/>
        </p:nvSpPr>
        <p:spPr>
          <a:xfrm>
            <a:off x="5923928" y="1264244"/>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81" name="Google Shape;981;p50"/>
          <p:cNvCxnSpPr>
            <a:stCxn id="980" idx="4"/>
            <a:endCxn id="979" idx="0"/>
          </p:cNvCxnSpPr>
          <p:nvPr/>
        </p:nvCxnSpPr>
        <p:spPr>
          <a:xfrm flipH="1">
            <a:off x="5794778" y="1600244"/>
            <a:ext cx="295200" cy="263100"/>
          </a:xfrm>
          <a:prstGeom prst="straightConnector1">
            <a:avLst/>
          </a:prstGeom>
          <a:noFill/>
          <a:ln cap="flat" cmpd="sng" w="19050">
            <a:solidFill>
              <a:srgbClr val="FF0000"/>
            </a:solidFill>
            <a:prstDash val="solid"/>
            <a:round/>
            <a:headEnd len="med" w="med" type="none"/>
            <a:tailEnd len="med" w="med" type="triangle"/>
          </a:ln>
        </p:spPr>
      </p:cxnSp>
      <p:sp>
        <p:nvSpPr>
          <p:cNvPr id="982" name="Google Shape;982;p50"/>
          <p:cNvSpPr/>
          <p:nvPr/>
        </p:nvSpPr>
        <p:spPr>
          <a:xfrm>
            <a:off x="6936564" y="1583262"/>
            <a:ext cx="415200" cy="399600"/>
          </a:xfrm>
          <a:prstGeom prst="striped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50"/>
          <p:cNvSpPr/>
          <p:nvPr/>
        </p:nvSpPr>
        <p:spPr>
          <a:xfrm>
            <a:off x="7737067" y="1863273"/>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50"/>
          <p:cNvSpPr/>
          <p:nvPr/>
        </p:nvSpPr>
        <p:spPr>
          <a:xfrm>
            <a:off x="8327443" y="1863273"/>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50"/>
          <p:cNvSpPr/>
          <p:nvPr/>
        </p:nvSpPr>
        <p:spPr>
          <a:xfrm>
            <a:off x="8032220" y="1264256"/>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86" name="Google Shape;986;p50"/>
          <p:cNvCxnSpPr>
            <a:stCxn id="985" idx="4"/>
            <a:endCxn id="983" idx="0"/>
          </p:cNvCxnSpPr>
          <p:nvPr/>
        </p:nvCxnSpPr>
        <p:spPr>
          <a:xfrm flipH="1">
            <a:off x="7903070" y="1600256"/>
            <a:ext cx="295200" cy="263100"/>
          </a:xfrm>
          <a:prstGeom prst="straightConnector1">
            <a:avLst/>
          </a:prstGeom>
          <a:noFill/>
          <a:ln cap="flat" cmpd="sng" w="19050">
            <a:solidFill>
              <a:srgbClr val="FF0000"/>
            </a:solidFill>
            <a:prstDash val="solid"/>
            <a:round/>
            <a:headEnd len="med" w="med" type="none"/>
            <a:tailEnd len="med" w="med" type="triangle"/>
          </a:ln>
        </p:spPr>
      </p:cxnSp>
      <p:cxnSp>
        <p:nvCxnSpPr>
          <p:cNvPr id="987" name="Google Shape;987;p50"/>
          <p:cNvCxnSpPr>
            <a:stCxn id="985" idx="4"/>
            <a:endCxn id="984" idx="0"/>
          </p:cNvCxnSpPr>
          <p:nvPr/>
        </p:nvCxnSpPr>
        <p:spPr>
          <a:xfrm>
            <a:off x="8198270" y="1600256"/>
            <a:ext cx="295200" cy="263100"/>
          </a:xfrm>
          <a:prstGeom prst="straightConnector1">
            <a:avLst/>
          </a:prstGeom>
          <a:noFill/>
          <a:ln cap="flat" cmpd="sng" w="19050">
            <a:solidFill>
              <a:srgbClr val="FF0000"/>
            </a:solidFill>
            <a:prstDash val="solid"/>
            <a:round/>
            <a:headEnd len="med" w="med" type="none"/>
            <a:tailEnd len="med" w="med" type="triangle"/>
          </a:ln>
        </p:spPr>
      </p:cxnSp>
      <p:sp>
        <p:nvSpPr>
          <p:cNvPr id="988" name="Google Shape;988;p50"/>
          <p:cNvSpPr txBox="1"/>
          <p:nvPr/>
        </p:nvSpPr>
        <p:spPr>
          <a:xfrm>
            <a:off x="5447850" y="4598800"/>
            <a:ext cx="989100" cy="36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mfortaa"/>
                <a:ea typeface="Comfortaa"/>
                <a:cs typeface="Comfortaa"/>
                <a:sym typeface="Comfortaa"/>
              </a:rPr>
              <a:t>Time 1</a:t>
            </a:r>
            <a:endParaRPr>
              <a:latin typeface="Comfortaa"/>
              <a:ea typeface="Comfortaa"/>
              <a:cs typeface="Comfortaa"/>
              <a:sym typeface="Comfortaa"/>
            </a:endParaRPr>
          </a:p>
        </p:txBody>
      </p:sp>
      <p:sp>
        <p:nvSpPr>
          <p:cNvPr id="989" name="Google Shape;989;p50"/>
          <p:cNvSpPr txBox="1"/>
          <p:nvPr/>
        </p:nvSpPr>
        <p:spPr>
          <a:xfrm>
            <a:off x="7703725" y="4598850"/>
            <a:ext cx="989100" cy="36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mfortaa"/>
                <a:ea typeface="Comfortaa"/>
                <a:cs typeface="Comfortaa"/>
                <a:sym typeface="Comfortaa"/>
              </a:rPr>
              <a:t>Time 2</a:t>
            </a:r>
            <a:endParaRPr>
              <a:latin typeface="Comfortaa"/>
              <a:ea typeface="Comfortaa"/>
              <a:cs typeface="Comfortaa"/>
              <a:sym typeface="Comfortaa"/>
            </a:endParaRPr>
          </a:p>
        </p:txBody>
      </p:sp>
      <p:sp>
        <p:nvSpPr>
          <p:cNvPr id="990" name="Google Shape;990;p50"/>
          <p:cNvSpPr txBox="1"/>
          <p:nvPr>
            <p:ph idx="1" type="body"/>
          </p:nvPr>
        </p:nvSpPr>
        <p:spPr>
          <a:xfrm>
            <a:off x="311700" y="1225225"/>
            <a:ext cx="53142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Three possible mechanisms:</a:t>
            </a:r>
            <a:endParaRPr/>
          </a:p>
          <a:p>
            <a:pPr indent="-317500" lvl="1" marL="914400" rtl="0" algn="l">
              <a:spcBef>
                <a:spcPts val="0"/>
              </a:spcBef>
              <a:spcAft>
                <a:spcPts val="0"/>
              </a:spcAft>
              <a:buSzPts val="1400"/>
              <a:buChar char="○"/>
            </a:pPr>
            <a:r>
              <a:rPr b="1" lang="en"/>
              <a:t>Winner Effects</a:t>
            </a:r>
            <a:endParaRPr b="1"/>
          </a:p>
          <a:p>
            <a:pPr indent="-317500" lvl="2" marL="1371600" rtl="0" algn="l">
              <a:spcBef>
                <a:spcPts val="0"/>
              </a:spcBef>
              <a:spcAft>
                <a:spcPts val="0"/>
              </a:spcAft>
              <a:buSzPts val="1400"/>
              <a:buChar char="■"/>
            </a:pPr>
            <a:r>
              <a:rPr lang="en"/>
              <a:t>Confidence, testosterone boost, experience</a:t>
            </a:r>
            <a:endParaRPr/>
          </a:p>
          <a:p>
            <a:pPr indent="-317500" lvl="2" marL="1371600" rtl="0" algn="l">
              <a:spcBef>
                <a:spcPts val="0"/>
              </a:spcBef>
              <a:spcAft>
                <a:spcPts val="0"/>
              </a:spcAft>
              <a:buSzPts val="1400"/>
              <a:buChar char="■"/>
            </a:pPr>
            <a:r>
              <a:rPr lang="en"/>
              <a:t>Emergence of </a:t>
            </a:r>
            <a:r>
              <a:rPr b="1" lang="en"/>
              <a:t>double-dominant triads</a:t>
            </a:r>
            <a:endParaRPr b="1"/>
          </a:p>
          <a:p>
            <a:pPr indent="-317500" lvl="1" marL="914400" rtl="0" algn="l">
              <a:spcBef>
                <a:spcPts val="0"/>
              </a:spcBef>
              <a:spcAft>
                <a:spcPts val="0"/>
              </a:spcAft>
              <a:buSzPts val="1400"/>
              <a:buChar char="○"/>
            </a:pPr>
            <a:r>
              <a:rPr b="1" lang="en"/>
              <a:t>Loser Effects</a:t>
            </a:r>
            <a:endParaRPr b="1"/>
          </a:p>
          <a:p>
            <a:pPr indent="-317500" lvl="2" marL="1371600" rtl="0" algn="l">
              <a:spcBef>
                <a:spcPts val="0"/>
              </a:spcBef>
              <a:spcAft>
                <a:spcPts val="0"/>
              </a:spcAft>
              <a:buSzPts val="1400"/>
              <a:buChar char="■"/>
            </a:pPr>
            <a:r>
              <a:rPr lang="en"/>
              <a:t>Lowered confidence, injury</a:t>
            </a:r>
            <a:endParaRPr/>
          </a:p>
          <a:p>
            <a:pPr indent="-317500" lvl="2" marL="1371600" rtl="0" algn="l">
              <a:spcBef>
                <a:spcPts val="0"/>
              </a:spcBef>
              <a:spcAft>
                <a:spcPts val="0"/>
              </a:spcAft>
              <a:buSzPts val="1400"/>
              <a:buChar char="■"/>
            </a:pPr>
            <a:r>
              <a:rPr lang="en"/>
              <a:t>Emergence of </a:t>
            </a:r>
            <a:r>
              <a:rPr b="1" lang="en"/>
              <a:t>double-loser triads</a:t>
            </a:r>
            <a:endParaRPr/>
          </a:p>
          <a:p>
            <a:pPr indent="-317500" lvl="1" marL="914400" rtl="0" algn="l">
              <a:spcBef>
                <a:spcPts val="0"/>
              </a:spcBef>
              <a:spcAft>
                <a:spcPts val="0"/>
              </a:spcAft>
              <a:buSzPts val="1400"/>
              <a:buChar char="○"/>
            </a:pPr>
            <a:r>
              <a:rPr b="1" lang="en"/>
              <a:t>Bystander Effects</a:t>
            </a:r>
            <a:endParaRPr b="1"/>
          </a:p>
          <a:p>
            <a:pPr indent="-317500" lvl="2" marL="1371600" rtl="0" algn="l">
              <a:spcBef>
                <a:spcPts val="0"/>
              </a:spcBef>
              <a:spcAft>
                <a:spcPts val="0"/>
              </a:spcAft>
              <a:buSzPts val="1400"/>
              <a:buChar char="■"/>
            </a:pPr>
            <a:r>
              <a:rPr lang="en"/>
              <a:t>Confidence vis-a-vis winner and loser changes</a:t>
            </a:r>
            <a:endParaRPr/>
          </a:p>
          <a:p>
            <a:pPr indent="-317500" lvl="2" marL="1371600" rtl="0" algn="l">
              <a:spcBef>
                <a:spcPts val="0"/>
              </a:spcBef>
              <a:spcAft>
                <a:spcPts val="0"/>
              </a:spcAft>
              <a:buSzPts val="1400"/>
              <a:buChar char="■"/>
            </a:pPr>
            <a:r>
              <a:rPr lang="en"/>
              <a:t>From </a:t>
            </a:r>
            <a:r>
              <a:rPr b="1" lang="en"/>
              <a:t>single-edge</a:t>
            </a:r>
            <a:r>
              <a:rPr lang="en"/>
              <a:t> to either:</a:t>
            </a:r>
            <a:endParaRPr/>
          </a:p>
          <a:p>
            <a:pPr indent="-317500" lvl="3" marL="1828800" rtl="0" algn="l">
              <a:spcBef>
                <a:spcPts val="0"/>
              </a:spcBef>
              <a:spcAft>
                <a:spcPts val="0"/>
              </a:spcAft>
              <a:buSzPts val="1400"/>
              <a:buChar char="●"/>
            </a:pPr>
            <a:r>
              <a:rPr b="1" lang="en"/>
              <a:t>Double-loser triads</a:t>
            </a:r>
            <a:endParaRPr b="1"/>
          </a:p>
        </p:txBody>
      </p:sp>
      <p:sp>
        <p:nvSpPr>
          <p:cNvPr id="991" name="Google Shape;991;p50"/>
          <p:cNvSpPr txBox="1"/>
          <p:nvPr/>
        </p:nvSpPr>
        <p:spPr>
          <a:xfrm>
            <a:off x="6468095" y="1147225"/>
            <a:ext cx="1346100" cy="33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latin typeface="Comfortaa"/>
                <a:ea typeface="Comfortaa"/>
                <a:cs typeface="Comfortaa"/>
                <a:sym typeface="Comfortaa"/>
              </a:rPr>
              <a:t>Winner Effects</a:t>
            </a:r>
            <a:endParaRPr b="1" sz="1200">
              <a:latin typeface="Comfortaa"/>
              <a:ea typeface="Comfortaa"/>
              <a:cs typeface="Comfortaa"/>
              <a:sym typeface="Comfortaa"/>
            </a:endParaRPr>
          </a:p>
        </p:txBody>
      </p:sp>
      <p:sp>
        <p:nvSpPr>
          <p:cNvPr id="992" name="Google Shape;992;p50"/>
          <p:cNvSpPr/>
          <p:nvPr/>
        </p:nvSpPr>
        <p:spPr>
          <a:xfrm>
            <a:off x="5628788" y="2974750"/>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50"/>
          <p:cNvSpPr/>
          <p:nvPr/>
        </p:nvSpPr>
        <p:spPr>
          <a:xfrm>
            <a:off x="5923940" y="2375734"/>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94" name="Google Shape;994;p50"/>
          <p:cNvCxnSpPr>
            <a:stCxn id="993" idx="4"/>
            <a:endCxn id="992" idx="0"/>
          </p:cNvCxnSpPr>
          <p:nvPr/>
        </p:nvCxnSpPr>
        <p:spPr>
          <a:xfrm flipH="1">
            <a:off x="5794790" y="2711734"/>
            <a:ext cx="295200" cy="263100"/>
          </a:xfrm>
          <a:prstGeom prst="straightConnector1">
            <a:avLst/>
          </a:prstGeom>
          <a:noFill/>
          <a:ln cap="flat" cmpd="sng" w="19050">
            <a:solidFill>
              <a:srgbClr val="FF0000"/>
            </a:solidFill>
            <a:prstDash val="solid"/>
            <a:round/>
            <a:headEnd len="med" w="med" type="none"/>
            <a:tailEnd len="med" w="med" type="triangle"/>
          </a:ln>
        </p:spPr>
      </p:cxnSp>
      <p:sp>
        <p:nvSpPr>
          <p:cNvPr id="995" name="Google Shape;995;p50"/>
          <p:cNvSpPr/>
          <p:nvPr/>
        </p:nvSpPr>
        <p:spPr>
          <a:xfrm>
            <a:off x="6936576" y="2694751"/>
            <a:ext cx="415200" cy="399600"/>
          </a:xfrm>
          <a:prstGeom prst="striped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50"/>
          <p:cNvSpPr/>
          <p:nvPr/>
        </p:nvSpPr>
        <p:spPr>
          <a:xfrm>
            <a:off x="7737080" y="2974762"/>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50"/>
          <p:cNvSpPr/>
          <p:nvPr/>
        </p:nvSpPr>
        <p:spPr>
          <a:xfrm>
            <a:off x="8327455" y="2974762"/>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50"/>
          <p:cNvSpPr/>
          <p:nvPr/>
        </p:nvSpPr>
        <p:spPr>
          <a:xfrm>
            <a:off x="8032233" y="2375745"/>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99" name="Google Shape;999;p50"/>
          <p:cNvCxnSpPr>
            <a:stCxn id="998" idx="4"/>
            <a:endCxn id="996" idx="0"/>
          </p:cNvCxnSpPr>
          <p:nvPr/>
        </p:nvCxnSpPr>
        <p:spPr>
          <a:xfrm flipH="1">
            <a:off x="7903083" y="2711745"/>
            <a:ext cx="295200" cy="263100"/>
          </a:xfrm>
          <a:prstGeom prst="straightConnector1">
            <a:avLst/>
          </a:prstGeom>
          <a:noFill/>
          <a:ln cap="flat" cmpd="sng" w="19050">
            <a:solidFill>
              <a:srgbClr val="FF0000"/>
            </a:solidFill>
            <a:prstDash val="solid"/>
            <a:round/>
            <a:headEnd len="med" w="med" type="none"/>
            <a:tailEnd len="med" w="med" type="triangle"/>
          </a:ln>
        </p:spPr>
      </p:cxnSp>
      <p:cxnSp>
        <p:nvCxnSpPr>
          <p:cNvPr id="1000" name="Google Shape;1000;p50"/>
          <p:cNvCxnSpPr>
            <a:stCxn id="997" idx="2"/>
            <a:endCxn id="996" idx="6"/>
          </p:cNvCxnSpPr>
          <p:nvPr/>
        </p:nvCxnSpPr>
        <p:spPr>
          <a:xfrm rot="10800000">
            <a:off x="8069155" y="3142762"/>
            <a:ext cx="258300" cy="0"/>
          </a:xfrm>
          <a:prstGeom prst="straightConnector1">
            <a:avLst/>
          </a:prstGeom>
          <a:noFill/>
          <a:ln cap="flat" cmpd="sng" w="19050">
            <a:solidFill>
              <a:srgbClr val="FF0000"/>
            </a:solidFill>
            <a:prstDash val="solid"/>
            <a:round/>
            <a:headEnd len="med" w="med" type="none"/>
            <a:tailEnd len="med" w="med" type="triangle"/>
          </a:ln>
        </p:spPr>
      </p:cxnSp>
      <p:sp>
        <p:nvSpPr>
          <p:cNvPr id="1001" name="Google Shape;1001;p50"/>
          <p:cNvSpPr txBox="1"/>
          <p:nvPr/>
        </p:nvSpPr>
        <p:spPr>
          <a:xfrm>
            <a:off x="6468108" y="2258714"/>
            <a:ext cx="1346100" cy="33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latin typeface="Comfortaa"/>
                <a:ea typeface="Comfortaa"/>
                <a:cs typeface="Comfortaa"/>
                <a:sym typeface="Comfortaa"/>
              </a:rPr>
              <a:t>Loser Effects</a:t>
            </a:r>
            <a:endParaRPr b="1" sz="1200">
              <a:latin typeface="Comfortaa"/>
              <a:ea typeface="Comfortaa"/>
              <a:cs typeface="Comfortaa"/>
              <a:sym typeface="Comfortaa"/>
            </a:endParaRPr>
          </a:p>
        </p:txBody>
      </p:sp>
      <p:sp>
        <p:nvSpPr>
          <p:cNvPr id="1002" name="Google Shape;1002;p50"/>
          <p:cNvSpPr/>
          <p:nvPr/>
        </p:nvSpPr>
        <p:spPr>
          <a:xfrm>
            <a:off x="5625763" y="4086250"/>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50"/>
          <p:cNvSpPr/>
          <p:nvPr/>
        </p:nvSpPr>
        <p:spPr>
          <a:xfrm>
            <a:off x="6216138" y="4086250"/>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50"/>
          <p:cNvSpPr/>
          <p:nvPr/>
        </p:nvSpPr>
        <p:spPr>
          <a:xfrm>
            <a:off x="5920915" y="3487234"/>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05" name="Google Shape;1005;p50"/>
          <p:cNvCxnSpPr>
            <a:stCxn id="1004" idx="4"/>
            <a:endCxn id="1002" idx="0"/>
          </p:cNvCxnSpPr>
          <p:nvPr/>
        </p:nvCxnSpPr>
        <p:spPr>
          <a:xfrm flipH="1">
            <a:off x="5791765" y="3823234"/>
            <a:ext cx="295200" cy="263100"/>
          </a:xfrm>
          <a:prstGeom prst="straightConnector1">
            <a:avLst/>
          </a:prstGeom>
          <a:noFill/>
          <a:ln cap="flat" cmpd="sng" w="19050">
            <a:solidFill>
              <a:srgbClr val="FF0000"/>
            </a:solidFill>
            <a:prstDash val="solid"/>
            <a:round/>
            <a:headEnd len="med" w="med" type="none"/>
            <a:tailEnd len="med" w="med" type="triangle"/>
          </a:ln>
        </p:spPr>
      </p:cxnSp>
      <p:sp>
        <p:nvSpPr>
          <p:cNvPr id="1006" name="Google Shape;1006;p50"/>
          <p:cNvSpPr/>
          <p:nvPr/>
        </p:nvSpPr>
        <p:spPr>
          <a:xfrm>
            <a:off x="6933551" y="3806251"/>
            <a:ext cx="415200" cy="399600"/>
          </a:xfrm>
          <a:prstGeom prst="striped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50"/>
          <p:cNvSpPr/>
          <p:nvPr/>
        </p:nvSpPr>
        <p:spPr>
          <a:xfrm>
            <a:off x="7734055" y="4086262"/>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50"/>
          <p:cNvSpPr/>
          <p:nvPr/>
        </p:nvSpPr>
        <p:spPr>
          <a:xfrm>
            <a:off x="8324430" y="4086262"/>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50"/>
          <p:cNvSpPr/>
          <p:nvPr/>
        </p:nvSpPr>
        <p:spPr>
          <a:xfrm>
            <a:off x="8029208" y="3487245"/>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10" name="Google Shape;1010;p50"/>
          <p:cNvCxnSpPr>
            <a:stCxn id="1009" idx="4"/>
            <a:endCxn id="1007" idx="0"/>
          </p:cNvCxnSpPr>
          <p:nvPr/>
        </p:nvCxnSpPr>
        <p:spPr>
          <a:xfrm flipH="1">
            <a:off x="7900058" y="3823245"/>
            <a:ext cx="295200" cy="263100"/>
          </a:xfrm>
          <a:prstGeom prst="straightConnector1">
            <a:avLst/>
          </a:prstGeom>
          <a:noFill/>
          <a:ln cap="flat" cmpd="sng" w="19050">
            <a:solidFill>
              <a:srgbClr val="FF0000"/>
            </a:solidFill>
            <a:prstDash val="solid"/>
            <a:round/>
            <a:headEnd len="med" w="med" type="none"/>
            <a:tailEnd len="med" w="med" type="triangle"/>
          </a:ln>
        </p:spPr>
      </p:cxnSp>
      <p:cxnSp>
        <p:nvCxnSpPr>
          <p:cNvPr id="1011" name="Google Shape;1011;p50"/>
          <p:cNvCxnSpPr>
            <a:stCxn id="1008" idx="2"/>
            <a:endCxn id="1007" idx="6"/>
          </p:cNvCxnSpPr>
          <p:nvPr/>
        </p:nvCxnSpPr>
        <p:spPr>
          <a:xfrm rot="10800000">
            <a:off x="8066130" y="4254262"/>
            <a:ext cx="258300" cy="0"/>
          </a:xfrm>
          <a:prstGeom prst="straightConnector1">
            <a:avLst/>
          </a:prstGeom>
          <a:noFill/>
          <a:ln cap="flat" cmpd="sng" w="19050">
            <a:solidFill>
              <a:srgbClr val="FF0000"/>
            </a:solidFill>
            <a:prstDash val="solid"/>
            <a:round/>
            <a:headEnd len="med" w="med" type="none"/>
            <a:tailEnd len="med" w="med" type="triangle"/>
          </a:ln>
        </p:spPr>
      </p:cxnSp>
      <p:sp>
        <p:nvSpPr>
          <p:cNvPr id="1012" name="Google Shape;1012;p50"/>
          <p:cNvSpPr txBox="1"/>
          <p:nvPr/>
        </p:nvSpPr>
        <p:spPr>
          <a:xfrm>
            <a:off x="6333350" y="3370225"/>
            <a:ext cx="1614900" cy="33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latin typeface="Comfortaa"/>
                <a:ea typeface="Comfortaa"/>
                <a:cs typeface="Comfortaa"/>
                <a:sym typeface="Comfortaa"/>
              </a:rPr>
              <a:t>Bystander Effects</a:t>
            </a:r>
            <a:endParaRPr b="1" sz="1200">
              <a:latin typeface="Comfortaa"/>
              <a:ea typeface="Comfortaa"/>
              <a:cs typeface="Comfortaa"/>
              <a:sym typeface="Comfortaa"/>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6" name="Shape 1016"/>
        <p:cNvGrpSpPr/>
        <p:nvPr/>
      </p:nvGrpSpPr>
      <p:grpSpPr>
        <a:xfrm>
          <a:off x="0" y="0"/>
          <a:ext cx="0" cy="0"/>
          <a:chOff x="0" y="0"/>
          <a:chExt cx="0" cy="0"/>
        </a:xfrm>
      </p:grpSpPr>
      <p:sp>
        <p:nvSpPr>
          <p:cNvPr id="1017" name="Google Shape;1017;p51"/>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Agonistic Competition as Iterative and Social</a:t>
            </a:r>
            <a:endParaRPr/>
          </a:p>
        </p:txBody>
      </p:sp>
      <p:sp>
        <p:nvSpPr>
          <p:cNvPr id="1018" name="Google Shape;1018;p51"/>
          <p:cNvSpPr/>
          <p:nvPr/>
        </p:nvSpPr>
        <p:spPr>
          <a:xfrm>
            <a:off x="5628775" y="1863261"/>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51"/>
          <p:cNvSpPr/>
          <p:nvPr/>
        </p:nvSpPr>
        <p:spPr>
          <a:xfrm>
            <a:off x="5923928" y="1264244"/>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20" name="Google Shape;1020;p51"/>
          <p:cNvCxnSpPr>
            <a:stCxn id="1019" idx="4"/>
            <a:endCxn id="1018" idx="0"/>
          </p:cNvCxnSpPr>
          <p:nvPr/>
        </p:nvCxnSpPr>
        <p:spPr>
          <a:xfrm flipH="1">
            <a:off x="5794778" y="1600244"/>
            <a:ext cx="295200" cy="263100"/>
          </a:xfrm>
          <a:prstGeom prst="straightConnector1">
            <a:avLst/>
          </a:prstGeom>
          <a:noFill/>
          <a:ln cap="flat" cmpd="sng" w="19050">
            <a:solidFill>
              <a:srgbClr val="FF0000"/>
            </a:solidFill>
            <a:prstDash val="solid"/>
            <a:round/>
            <a:headEnd len="med" w="med" type="none"/>
            <a:tailEnd len="med" w="med" type="triangle"/>
          </a:ln>
        </p:spPr>
      </p:cxnSp>
      <p:sp>
        <p:nvSpPr>
          <p:cNvPr id="1021" name="Google Shape;1021;p51"/>
          <p:cNvSpPr/>
          <p:nvPr/>
        </p:nvSpPr>
        <p:spPr>
          <a:xfrm>
            <a:off x="6936564" y="1583262"/>
            <a:ext cx="415200" cy="399600"/>
          </a:xfrm>
          <a:prstGeom prst="striped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51"/>
          <p:cNvSpPr/>
          <p:nvPr/>
        </p:nvSpPr>
        <p:spPr>
          <a:xfrm>
            <a:off x="7737067" y="1863273"/>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51"/>
          <p:cNvSpPr/>
          <p:nvPr/>
        </p:nvSpPr>
        <p:spPr>
          <a:xfrm>
            <a:off x="8327443" y="1863273"/>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51"/>
          <p:cNvSpPr/>
          <p:nvPr/>
        </p:nvSpPr>
        <p:spPr>
          <a:xfrm>
            <a:off x="8032220" y="1264256"/>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25" name="Google Shape;1025;p51"/>
          <p:cNvCxnSpPr>
            <a:stCxn id="1024" idx="4"/>
            <a:endCxn id="1022" idx="0"/>
          </p:cNvCxnSpPr>
          <p:nvPr/>
        </p:nvCxnSpPr>
        <p:spPr>
          <a:xfrm flipH="1">
            <a:off x="7903070" y="1600256"/>
            <a:ext cx="295200" cy="263100"/>
          </a:xfrm>
          <a:prstGeom prst="straightConnector1">
            <a:avLst/>
          </a:prstGeom>
          <a:noFill/>
          <a:ln cap="flat" cmpd="sng" w="19050">
            <a:solidFill>
              <a:srgbClr val="FF0000"/>
            </a:solidFill>
            <a:prstDash val="solid"/>
            <a:round/>
            <a:headEnd len="med" w="med" type="none"/>
            <a:tailEnd len="med" w="med" type="triangle"/>
          </a:ln>
        </p:spPr>
      </p:cxnSp>
      <p:cxnSp>
        <p:nvCxnSpPr>
          <p:cNvPr id="1026" name="Google Shape;1026;p51"/>
          <p:cNvCxnSpPr>
            <a:stCxn id="1024" idx="4"/>
            <a:endCxn id="1023" idx="0"/>
          </p:cNvCxnSpPr>
          <p:nvPr/>
        </p:nvCxnSpPr>
        <p:spPr>
          <a:xfrm>
            <a:off x="8198270" y="1600256"/>
            <a:ext cx="295200" cy="263100"/>
          </a:xfrm>
          <a:prstGeom prst="straightConnector1">
            <a:avLst/>
          </a:prstGeom>
          <a:noFill/>
          <a:ln cap="flat" cmpd="sng" w="19050">
            <a:solidFill>
              <a:srgbClr val="FF0000"/>
            </a:solidFill>
            <a:prstDash val="solid"/>
            <a:round/>
            <a:headEnd len="med" w="med" type="none"/>
            <a:tailEnd len="med" w="med" type="triangle"/>
          </a:ln>
        </p:spPr>
      </p:cxnSp>
      <p:sp>
        <p:nvSpPr>
          <p:cNvPr id="1027" name="Google Shape;1027;p51"/>
          <p:cNvSpPr txBox="1"/>
          <p:nvPr/>
        </p:nvSpPr>
        <p:spPr>
          <a:xfrm>
            <a:off x="5447850" y="4598800"/>
            <a:ext cx="989100" cy="36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mfortaa"/>
                <a:ea typeface="Comfortaa"/>
                <a:cs typeface="Comfortaa"/>
                <a:sym typeface="Comfortaa"/>
              </a:rPr>
              <a:t>Time 1</a:t>
            </a:r>
            <a:endParaRPr>
              <a:latin typeface="Comfortaa"/>
              <a:ea typeface="Comfortaa"/>
              <a:cs typeface="Comfortaa"/>
              <a:sym typeface="Comfortaa"/>
            </a:endParaRPr>
          </a:p>
        </p:txBody>
      </p:sp>
      <p:sp>
        <p:nvSpPr>
          <p:cNvPr id="1028" name="Google Shape;1028;p51"/>
          <p:cNvSpPr txBox="1"/>
          <p:nvPr/>
        </p:nvSpPr>
        <p:spPr>
          <a:xfrm>
            <a:off x="7703725" y="4598850"/>
            <a:ext cx="989100" cy="36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mfortaa"/>
                <a:ea typeface="Comfortaa"/>
                <a:cs typeface="Comfortaa"/>
                <a:sym typeface="Comfortaa"/>
              </a:rPr>
              <a:t>Time 2</a:t>
            </a:r>
            <a:endParaRPr>
              <a:latin typeface="Comfortaa"/>
              <a:ea typeface="Comfortaa"/>
              <a:cs typeface="Comfortaa"/>
              <a:sym typeface="Comfortaa"/>
            </a:endParaRPr>
          </a:p>
        </p:txBody>
      </p:sp>
      <p:sp>
        <p:nvSpPr>
          <p:cNvPr id="1029" name="Google Shape;1029;p51"/>
          <p:cNvSpPr txBox="1"/>
          <p:nvPr>
            <p:ph idx="1" type="body"/>
          </p:nvPr>
        </p:nvSpPr>
        <p:spPr>
          <a:xfrm>
            <a:off x="311700" y="1225225"/>
            <a:ext cx="53142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Three possible mechanisms:</a:t>
            </a:r>
            <a:endParaRPr/>
          </a:p>
          <a:p>
            <a:pPr indent="-317500" lvl="1" marL="914400" rtl="0" algn="l">
              <a:spcBef>
                <a:spcPts val="0"/>
              </a:spcBef>
              <a:spcAft>
                <a:spcPts val="0"/>
              </a:spcAft>
              <a:buSzPts val="1400"/>
              <a:buChar char="○"/>
            </a:pPr>
            <a:r>
              <a:rPr b="1" lang="en"/>
              <a:t>Winner Effects</a:t>
            </a:r>
            <a:endParaRPr b="1"/>
          </a:p>
          <a:p>
            <a:pPr indent="-317500" lvl="2" marL="1371600" rtl="0" algn="l">
              <a:spcBef>
                <a:spcPts val="0"/>
              </a:spcBef>
              <a:spcAft>
                <a:spcPts val="0"/>
              </a:spcAft>
              <a:buSzPts val="1400"/>
              <a:buChar char="■"/>
            </a:pPr>
            <a:r>
              <a:rPr lang="en"/>
              <a:t>Confidence, testosterone boost, experience</a:t>
            </a:r>
            <a:endParaRPr/>
          </a:p>
          <a:p>
            <a:pPr indent="-317500" lvl="2" marL="1371600" rtl="0" algn="l">
              <a:spcBef>
                <a:spcPts val="0"/>
              </a:spcBef>
              <a:spcAft>
                <a:spcPts val="0"/>
              </a:spcAft>
              <a:buSzPts val="1400"/>
              <a:buChar char="■"/>
            </a:pPr>
            <a:r>
              <a:rPr lang="en"/>
              <a:t>Emergence of </a:t>
            </a:r>
            <a:r>
              <a:rPr b="1" lang="en"/>
              <a:t>double-dominant triads</a:t>
            </a:r>
            <a:endParaRPr b="1"/>
          </a:p>
          <a:p>
            <a:pPr indent="-317500" lvl="1" marL="914400" rtl="0" algn="l">
              <a:spcBef>
                <a:spcPts val="0"/>
              </a:spcBef>
              <a:spcAft>
                <a:spcPts val="0"/>
              </a:spcAft>
              <a:buSzPts val="1400"/>
              <a:buChar char="○"/>
            </a:pPr>
            <a:r>
              <a:rPr b="1" lang="en"/>
              <a:t>Loser Effects</a:t>
            </a:r>
            <a:endParaRPr b="1"/>
          </a:p>
          <a:p>
            <a:pPr indent="-317500" lvl="2" marL="1371600" rtl="0" algn="l">
              <a:spcBef>
                <a:spcPts val="0"/>
              </a:spcBef>
              <a:spcAft>
                <a:spcPts val="0"/>
              </a:spcAft>
              <a:buSzPts val="1400"/>
              <a:buChar char="■"/>
            </a:pPr>
            <a:r>
              <a:rPr lang="en"/>
              <a:t>Lowered confidence, injury</a:t>
            </a:r>
            <a:endParaRPr/>
          </a:p>
          <a:p>
            <a:pPr indent="-317500" lvl="2" marL="1371600" rtl="0" algn="l">
              <a:spcBef>
                <a:spcPts val="0"/>
              </a:spcBef>
              <a:spcAft>
                <a:spcPts val="0"/>
              </a:spcAft>
              <a:buSzPts val="1400"/>
              <a:buChar char="■"/>
            </a:pPr>
            <a:r>
              <a:rPr lang="en"/>
              <a:t>Emergence of </a:t>
            </a:r>
            <a:r>
              <a:rPr b="1" lang="en"/>
              <a:t>double-loser triads</a:t>
            </a:r>
            <a:endParaRPr/>
          </a:p>
          <a:p>
            <a:pPr indent="-317500" lvl="1" marL="914400" rtl="0" algn="l">
              <a:spcBef>
                <a:spcPts val="0"/>
              </a:spcBef>
              <a:spcAft>
                <a:spcPts val="0"/>
              </a:spcAft>
              <a:buSzPts val="1400"/>
              <a:buChar char="○"/>
            </a:pPr>
            <a:r>
              <a:rPr b="1" lang="en"/>
              <a:t>Bystander Effects</a:t>
            </a:r>
            <a:endParaRPr b="1"/>
          </a:p>
          <a:p>
            <a:pPr indent="-317500" lvl="2" marL="1371600" rtl="0" algn="l">
              <a:spcBef>
                <a:spcPts val="0"/>
              </a:spcBef>
              <a:spcAft>
                <a:spcPts val="0"/>
              </a:spcAft>
              <a:buSzPts val="1400"/>
              <a:buChar char="■"/>
            </a:pPr>
            <a:r>
              <a:rPr lang="en"/>
              <a:t>Bystanders almost never dominate initial dominant</a:t>
            </a:r>
            <a:endParaRPr b="1"/>
          </a:p>
        </p:txBody>
      </p:sp>
      <p:sp>
        <p:nvSpPr>
          <p:cNvPr id="1030" name="Google Shape;1030;p51"/>
          <p:cNvSpPr txBox="1"/>
          <p:nvPr/>
        </p:nvSpPr>
        <p:spPr>
          <a:xfrm>
            <a:off x="6468095" y="1147225"/>
            <a:ext cx="1346100" cy="33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latin typeface="Comfortaa"/>
                <a:ea typeface="Comfortaa"/>
                <a:cs typeface="Comfortaa"/>
                <a:sym typeface="Comfortaa"/>
              </a:rPr>
              <a:t>Winner Effects</a:t>
            </a:r>
            <a:endParaRPr b="1" sz="1200">
              <a:latin typeface="Comfortaa"/>
              <a:ea typeface="Comfortaa"/>
              <a:cs typeface="Comfortaa"/>
              <a:sym typeface="Comfortaa"/>
            </a:endParaRPr>
          </a:p>
        </p:txBody>
      </p:sp>
      <p:sp>
        <p:nvSpPr>
          <p:cNvPr id="1031" name="Google Shape;1031;p51"/>
          <p:cNvSpPr/>
          <p:nvPr/>
        </p:nvSpPr>
        <p:spPr>
          <a:xfrm>
            <a:off x="5628788" y="2974750"/>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51"/>
          <p:cNvSpPr/>
          <p:nvPr/>
        </p:nvSpPr>
        <p:spPr>
          <a:xfrm>
            <a:off x="5923940" y="2375734"/>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33" name="Google Shape;1033;p51"/>
          <p:cNvCxnSpPr>
            <a:stCxn id="1032" idx="4"/>
            <a:endCxn id="1031" idx="0"/>
          </p:cNvCxnSpPr>
          <p:nvPr/>
        </p:nvCxnSpPr>
        <p:spPr>
          <a:xfrm flipH="1">
            <a:off x="5794790" y="2711734"/>
            <a:ext cx="295200" cy="263100"/>
          </a:xfrm>
          <a:prstGeom prst="straightConnector1">
            <a:avLst/>
          </a:prstGeom>
          <a:noFill/>
          <a:ln cap="flat" cmpd="sng" w="19050">
            <a:solidFill>
              <a:srgbClr val="FF0000"/>
            </a:solidFill>
            <a:prstDash val="solid"/>
            <a:round/>
            <a:headEnd len="med" w="med" type="none"/>
            <a:tailEnd len="med" w="med" type="triangle"/>
          </a:ln>
        </p:spPr>
      </p:cxnSp>
      <p:sp>
        <p:nvSpPr>
          <p:cNvPr id="1034" name="Google Shape;1034;p51"/>
          <p:cNvSpPr/>
          <p:nvPr/>
        </p:nvSpPr>
        <p:spPr>
          <a:xfrm>
            <a:off x="6936576" y="2694751"/>
            <a:ext cx="415200" cy="399600"/>
          </a:xfrm>
          <a:prstGeom prst="striped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51"/>
          <p:cNvSpPr/>
          <p:nvPr/>
        </p:nvSpPr>
        <p:spPr>
          <a:xfrm>
            <a:off x="7737080" y="2974762"/>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51"/>
          <p:cNvSpPr/>
          <p:nvPr/>
        </p:nvSpPr>
        <p:spPr>
          <a:xfrm>
            <a:off x="8327455" y="2974762"/>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7" name="Google Shape;1037;p51"/>
          <p:cNvSpPr/>
          <p:nvPr/>
        </p:nvSpPr>
        <p:spPr>
          <a:xfrm>
            <a:off x="8032233" y="2375745"/>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38" name="Google Shape;1038;p51"/>
          <p:cNvCxnSpPr>
            <a:stCxn id="1037" idx="4"/>
            <a:endCxn id="1035" idx="0"/>
          </p:cNvCxnSpPr>
          <p:nvPr/>
        </p:nvCxnSpPr>
        <p:spPr>
          <a:xfrm flipH="1">
            <a:off x="7903083" y="2711745"/>
            <a:ext cx="295200" cy="263100"/>
          </a:xfrm>
          <a:prstGeom prst="straightConnector1">
            <a:avLst/>
          </a:prstGeom>
          <a:noFill/>
          <a:ln cap="flat" cmpd="sng" w="19050">
            <a:solidFill>
              <a:srgbClr val="FF0000"/>
            </a:solidFill>
            <a:prstDash val="solid"/>
            <a:round/>
            <a:headEnd len="med" w="med" type="none"/>
            <a:tailEnd len="med" w="med" type="triangle"/>
          </a:ln>
        </p:spPr>
      </p:cxnSp>
      <p:cxnSp>
        <p:nvCxnSpPr>
          <p:cNvPr id="1039" name="Google Shape;1039;p51"/>
          <p:cNvCxnSpPr>
            <a:stCxn id="1036" idx="2"/>
            <a:endCxn id="1035" idx="6"/>
          </p:cNvCxnSpPr>
          <p:nvPr/>
        </p:nvCxnSpPr>
        <p:spPr>
          <a:xfrm rot="10800000">
            <a:off x="8069155" y="3142762"/>
            <a:ext cx="258300" cy="0"/>
          </a:xfrm>
          <a:prstGeom prst="straightConnector1">
            <a:avLst/>
          </a:prstGeom>
          <a:noFill/>
          <a:ln cap="flat" cmpd="sng" w="19050">
            <a:solidFill>
              <a:srgbClr val="FF0000"/>
            </a:solidFill>
            <a:prstDash val="solid"/>
            <a:round/>
            <a:headEnd len="med" w="med" type="none"/>
            <a:tailEnd len="med" w="med" type="triangle"/>
          </a:ln>
        </p:spPr>
      </p:cxnSp>
      <p:sp>
        <p:nvSpPr>
          <p:cNvPr id="1040" name="Google Shape;1040;p51"/>
          <p:cNvSpPr txBox="1"/>
          <p:nvPr/>
        </p:nvSpPr>
        <p:spPr>
          <a:xfrm>
            <a:off x="6468108" y="2258714"/>
            <a:ext cx="1346100" cy="33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latin typeface="Comfortaa"/>
                <a:ea typeface="Comfortaa"/>
                <a:cs typeface="Comfortaa"/>
                <a:sym typeface="Comfortaa"/>
              </a:rPr>
              <a:t>Loser Effects</a:t>
            </a:r>
            <a:endParaRPr b="1" sz="1200">
              <a:latin typeface="Comfortaa"/>
              <a:ea typeface="Comfortaa"/>
              <a:cs typeface="Comfortaa"/>
              <a:sym typeface="Comfortaa"/>
            </a:endParaRPr>
          </a:p>
        </p:txBody>
      </p:sp>
      <p:sp>
        <p:nvSpPr>
          <p:cNvPr id="1041" name="Google Shape;1041;p51"/>
          <p:cNvSpPr/>
          <p:nvPr/>
        </p:nvSpPr>
        <p:spPr>
          <a:xfrm>
            <a:off x="5625763" y="4086250"/>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51"/>
          <p:cNvSpPr/>
          <p:nvPr/>
        </p:nvSpPr>
        <p:spPr>
          <a:xfrm>
            <a:off x="6216138" y="4086250"/>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51"/>
          <p:cNvSpPr/>
          <p:nvPr/>
        </p:nvSpPr>
        <p:spPr>
          <a:xfrm>
            <a:off x="5920915" y="3487234"/>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44" name="Google Shape;1044;p51"/>
          <p:cNvCxnSpPr>
            <a:stCxn id="1043" idx="4"/>
            <a:endCxn id="1041" idx="0"/>
          </p:cNvCxnSpPr>
          <p:nvPr/>
        </p:nvCxnSpPr>
        <p:spPr>
          <a:xfrm flipH="1">
            <a:off x="5791765" y="3823234"/>
            <a:ext cx="295200" cy="263100"/>
          </a:xfrm>
          <a:prstGeom prst="straightConnector1">
            <a:avLst/>
          </a:prstGeom>
          <a:noFill/>
          <a:ln cap="flat" cmpd="sng" w="19050">
            <a:solidFill>
              <a:srgbClr val="FF0000"/>
            </a:solidFill>
            <a:prstDash val="solid"/>
            <a:round/>
            <a:headEnd len="med" w="med" type="none"/>
            <a:tailEnd len="med" w="med" type="triangle"/>
          </a:ln>
        </p:spPr>
      </p:cxnSp>
      <p:sp>
        <p:nvSpPr>
          <p:cNvPr id="1045" name="Google Shape;1045;p51"/>
          <p:cNvSpPr/>
          <p:nvPr/>
        </p:nvSpPr>
        <p:spPr>
          <a:xfrm>
            <a:off x="6933551" y="3806251"/>
            <a:ext cx="415200" cy="399600"/>
          </a:xfrm>
          <a:prstGeom prst="striped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51"/>
          <p:cNvSpPr/>
          <p:nvPr/>
        </p:nvSpPr>
        <p:spPr>
          <a:xfrm>
            <a:off x="7734055" y="4086262"/>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51"/>
          <p:cNvSpPr/>
          <p:nvPr/>
        </p:nvSpPr>
        <p:spPr>
          <a:xfrm>
            <a:off x="8324430" y="4086262"/>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8" name="Google Shape;1048;p51"/>
          <p:cNvSpPr/>
          <p:nvPr/>
        </p:nvSpPr>
        <p:spPr>
          <a:xfrm>
            <a:off x="8029208" y="3487245"/>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49" name="Google Shape;1049;p51"/>
          <p:cNvCxnSpPr>
            <a:stCxn id="1048" idx="4"/>
            <a:endCxn id="1046" idx="0"/>
          </p:cNvCxnSpPr>
          <p:nvPr/>
        </p:nvCxnSpPr>
        <p:spPr>
          <a:xfrm flipH="1">
            <a:off x="7900058" y="3823245"/>
            <a:ext cx="295200" cy="263100"/>
          </a:xfrm>
          <a:prstGeom prst="straightConnector1">
            <a:avLst/>
          </a:prstGeom>
          <a:noFill/>
          <a:ln cap="flat" cmpd="sng" w="19050">
            <a:solidFill>
              <a:srgbClr val="FF0000"/>
            </a:solidFill>
            <a:prstDash val="solid"/>
            <a:round/>
            <a:headEnd len="med" w="med" type="none"/>
            <a:tailEnd len="med" w="med" type="triangle"/>
          </a:ln>
        </p:spPr>
      </p:cxnSp>
      <p:cxnSp>
        <p:nvCxnSpPr>
          <p:cNvPr id="1050" name="Google Shape;1050;p51"/>
          <p:cNvCxnSpPr>
            <a:stCxn id="1047" idx="0"/>
            <a:endCxn id="1048" idx="4"/>
          </p:cNvCxnSpPr>
          <p:nvPr/>
        </p:nvCxnSpPr>
        <p:spPr>
          <a:xfrm rot="10800000">
            <a:off x="8195280" y="3823162"/>
            <a:ext cx="295200" cy="263100"/>
          </a:xfrm>
          <a:prstGeom prst="straightConnector1">
            <a:avLst/>
          </a:prstGeom>
          <a:noFill/>
          <a:ln cap="flat" cmpd="sng" w="19050">
            <a:solidFill>
              <a:srgbClr val="FF0000"/>
            </a:solidFill>
            <a:prstDash val="solid"/>
            <a:round/>
            <a:headEnd len="med" w="med" type="none"/>
            <a:tailEnd len="med" w="med" type="triangle"/>
          </a:ln>
        </p:spPr>
      </p:cxnSp>
      <p:sp>
        <p:nvSpPr>
          <p:cNvPr id="1051" name="Google Shape;1051;p51"/>
          <p:cNvSpPr txBox="1"/>
          <p:nvPr/>
        </p:nvSpPr>
        <p:spPr>
          <a:xfrm>
            <a:off x="6333350" y="3370225"/>
            <a:ext cx="1614900" cy="33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latin typeface="Comfortaa"/>
                <a:ea typeface="Comfortaa"/>
                <a:cs typeface="Comfortaa"/>
                <a:sym typeface="Comfortaa"/>
              </a:rPr>
              <a:t>Bystander Effects</a:t>
            </a:r>
            <a:endParaRPr b="1" sz="1200">
              <a:latin typeface="Comfortaa"/>
              <a:ea typeface="Comfortaa"/>
              <a:cs typeface="Comfortaa"/>
              <a:sym typeface="Comfortaa"/>
            </a:endParaRPr>
          </a:p>
        </p:txBody>
      </p:sp>
      <p:sp>
        <p:nvSpPr>
          <p:cNvPr id="1052" name="Google Shape;1052;p51"/>
          <p:cNvSpPr txBox="1"/>
          <p:nvPr/>
        </p:nvSpPr>
        <p:spPr>
          <a:xfrm>
            <a:off x="6666775" y="4322525"/>
            <a:ext cx="914400" cy="263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latin typeface="Open Sans"/>
                <a:ea typeface="Open Sans"/>
                <a:cs typeface="Open Sans"/>
                <a:sym typeface="Open Sans"/>
              </a:rPr>
              <a:t>Weird!</a:t>
            </a:r>
            <a:endParaRPr b="1">
              <a:solidFill>
                <a:srgbClr val="FF0000"/>
              </a:solidFill>
              <a:latin typeface="Open Sans"/>
              <a:ea typeface="Open Sans"/>
              <a:cs typeface="Open Sans"/>
              <a:sym typeface="Open Sans"/>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6" name="Shape 1056"/>
        <p:cNvGrpSpPr/>
        <p:nvPr/>
      </p:nvGrpSpPr>
      <p:grpSpPr>
        <a:xfrm>
          <a:off x="0" y="0"/>
          <a:ext cx="0" cy="0"/>
          <a:chOff x="0" y="0"/>
          <a:chExt cx="0" cy="0"/>
        </a:xfrm>
      </p:grpSpPr>
      <p:sp>
        <p:nvSpPr>
          <p:cNvPr id="1057" name="Google Shape;1057;p52"/>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Agonistic Competition as Iterative and Social</a:t>
            </a:r>
            <a:endParaRPr/>
          </a:p>
        </p:txBody>
      </p:sp>
      <p:sp>
        <p:nvSpPr>
          <p:cNvPr id="1058" name="Google Shape;1058;p52"/>
          <p:cNvSpPr/>
          <p:nvPr/>
        </p:nvSpPr>
        <p:spPr>
          <a:xfrm>
            <a:off x="5628775" y="1863261"/>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52"/>
          <p:cNvSpPr/>
          <p:nvPr/>
        </p:nvSpPr>
        <p:spPr>
          <a:xfrm>
            <a:off x="5923928" y="1264244"/>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60" name="Google Shape;1060;p52"/>
          <p:cNvCxnSpPr>
            <a:stCxn id="1059" idx="4"/>
            <a:endCxn id="1058" idx="0"/>
          </p:cNvCxnSpPr>
          <p:nvPr/>
        </p:nvCxnSpPr>
        <p:spPr>
          <a:xfrm flipH="1">
            <a:off x="5794778" y="1600244"/>
            <a:ext cx="295200" cy="263100"/>
          </a:xfrm>
          <a:prstGeom prst="straightConnector1">
            <a:avLst/>
          </a:prstGeom>
          <a:noFill/>
          <a:ln cap="flat" cmpd="sng" w="19050">
            <a:solidFill>
              <a:srgbClr val="FF0000"/>
            </a:solidFill>
            <a:prstDash val="solid"/>
            <a:round/>
            <a:headEnd len="med" w="med" type="none"/>
            <a:tailEnd len="med" w="med" type="triangle"/>
          </a:ln>
        </p:spPr>
      </p:cxnSp>
      <p:sp>
        <p:nvSpPr>
          <p:cNvPr id="1061" name="Google Shape;1061;p52"/>
          <p:cNvSpPr/>
          <p:nvPr/>
        </p:nvSpPr>
        <p:spPr>
          <a:xfrm>
            <a:off x="6936564" y="1583262"/>
            <a:ext cx="415200" cy="399600"/>
          </a:xfrm>
          <a:prstGeom prst="striped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52"/>
          <p:cNvSpPr/>
          <p:nvPr/>
        </p:nvSpPr>
        <p:spPr>
          <a:xfrm>
            <a:off x="7737067" y="1863273"/>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52"/>
          <p:cNvSpPr/>
          <p:nvPr/>
        </p:nvSpPr>
        <p:spPr>
          <a:xfrm>
            <a:off x="8327443" y="1863273"/>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p52"/>
          <p:cNvSpPr/>
          <p:nvPr/>
        </p:nvSpPr>
        <p:spPr>
          <a:xfrm>
            <a:off x="8032220" y="1264256"/>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65" name="Google Shape;1065;p52"/>
          <p:cNvCxnSpPr>
            <a:stCxn id="1064" idx="4"/>
            <a:endCxn id="1062" idx="0"/>
          </p:cNvCxnSpPr>
          <p:nvPr/>
        </p:nvCxnSpPr>
        <p:spPr>
          <a:xfrm flipH="1">
            <a:off x="7903070" y="1600256"/>
            <a:ext cx="295200" cy="263100"/>
          </a:xfrm>
          <a:prstGeom prst="straightConnector1">
            <a:avLst/>
          </a:prstGeom>
          <a:noFill/>
          <a:ln cap="flat" cmpd="sng" w="19050">
            <a:solidFill>
              <a:srgbClr val="FF0000"/>
            </a:solidFill>
            <a:prstDash val="solid"/>
            <a:round/>
            <a:headEnd len="med" w="med" type="none"/>
            <a:tailEnd len="med" w="med" type="triangle"/>
          </a:ln>
        </p:spPr>
      </p:cxnSp>
      <p:cxnSp>
        <p:nvCxnSpPr>
          <p:cNvPr id="1066" name="Google Shape;1066;p52"/>
          <p:cNvCxnSpPr>
            <a:stCxn id="1064" idx="4"/>
            <a:endCxn id="1063" idx="0"/>
          </p:cNvCxnSpPr>
          <p:nvPr/>
        </p:nvCxnSpPr>
        <p:spPr>
          <a:xfrm>
            <a:off x="8198270" y="1600256"/>
            <a:ext cx="295200" cy="263100"/>
          </a:xfrm>
          <a:prstGeom prst="straightConnector1">
            <a:avLst/>
          </a:prstGeom>
          <a:noFill/>
          <a:ln cap="flat" cmpd="sng" w="19050">
            <a:solidFill>
              <a:srgbClr val="FF0000"/>
            </a:solidFill>
            <a:prstDash val="solid"/>
            <a:round/>
            <a:headEnd len="med" w="med" type="none"/>
            <a:tailEnd len="med" w="med" type="triangle"/>
          </a:ln>
        </p:spPr>
      </p:cxnSp>
      <p:sp>
        <p:nvSpPr>
          <p:cNvPr id="1067" name="Google Shape;1067;p52"/>
          <p:cNvSpPr txBox="1"/>
          <p:nvPr/>
        </p:nvSpPr>
        <p:spPr>
          <a:xfrm>
            <a:off x="5447850" y="4598800"/>
            <a:ext cx="989100" cy="36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mfortaa"/>
                <a:ea typeface="Comfortaa"/>
                <a:cs typeface="Comfortaa"/>
                <a:sym typeface="Comfortaa"/>
              </a:rPr>
              <a:t>Time 1</a:t>
            </a:r>
            <a:endParaRPr>
              <a:latin typeface="Comfortaa"/>
              <a:ea typeface="Comfortaa"/>
              <a:cs typeface="Comfortaa"/>
              <a:sym typeface="Comfortaa"/>
            </a:endParaRPr>
          </a:p>
        </p:txBody>
      </p:sp>
      <p:sp>
        <p:nvSpPr>
          <p:cNvPr id="1068" name="Google Shape;1068;p52"/>
          <p:cNvSpPr txBox="1"/>
          <p:nvPr/>
        </p:nvSpPr>
        <p:spPr>
          <a:xfrm>
            <a:off x="7703725" y="4598850"/>
            <a:ext cx="989100" cy="36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mfortaa"/>
                <a:ea typeface="Comfortaa"/>
                <a:cs typeface="Comfortaa"/>
                <a:sym typeface="Comfortaa"/>
              </a:rPr>
              <a:t>Time 2</a:t>
            </a:r>
            <a:endParaRPr>
              <a:latin typeface="Comfortaa"/>
              <a:ea typeface="Comfortaa"/>
              <a:cs typeface="Comfortaa"/>
              <a:sym typeface="Comfortaa"/>
            </a:endParaRPr>
          </a:p>
        </p:txBody>
      </p:sp>
      <p:sp>
        <p:nvSpPr>
          <p:cNvPr id="1069" name="Google Shape;1069;p52"/>
          <p:cNvSpPr txBox="1"/>
          <p:nvPr>
            <p:ph idx="1" type="body"/>
          </p:nvPr>
        </p:nvSpPr>
        <p:spPr>
          <a:xfrm>
            <a:off x="311700" y="1225225"/>
            <a:ext cx="53142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Three possible mechanisms:</a:t>
            </a:r>
            <a:endParaRPr/>
          </a:p>
          <a:p>
            <a:pPr indent="-317500" lvl="1" marL="914400" rtl="0" algn="l">
              <a:spcBef>
                <a:spcPts val="0"/>
              </a:spcBef>
              <a:spcAft>
                <a:spcPts val="0"/>
              </a:spcAft>
              <a:buSzPts val="1400"/>
              <a:buChar char="○"/>
            </a:pPr>
            <a:r>
              <a:rPr b="1" lang="en"/>
              <a:t>Winner Effects</a:t>
            </a:r>
            <a:endParaRPr b="1"/>
          </a:p>
          <a:p>
            <a:pPr indent="-317500" lvl="2" marL="1371600" rtl="0" algn="l">
              <a:spcBef>
                <a:spcPts val="0"/>
              </a:spcBef>
              <a:spcAft>
                <a:spcPts val="0"/>
              </a:spcAft>
              <a:buSzPts val="1400"/>
              <a:buChar char="■"/>
            </a:pPr>
            <a:r>
              <a:rPr lang="en"/>
              <a:t>Confidence, testosterone boost, experience</a:t>
            </a:r>
            <a:endParaRPr/>
          </a:p>
          <a:p>
            <a:pPr indent="-317500" lvl="2" marL="1371600" rtl="0" algn="l">
              <a:spcBef>
                <a:spcPts val="0"/>
              </a:spcBef>
              <a:spcAft>
                <a:spcPts val="0"/>
              </a:spcAft>
              <a:buSzPts val="1400"/>
              <a:buChar char="■"/>
            </a:pPr>
            <a:r>
              <a:rPr lang="en"/>
              <a:t>Emergence of </a:t>
            </a:r>
            <a:r>
              <a:rPr b="1" lang="en"/>
              <a:t>double-dominant triads</a:t>
            </a:r>
            <a:endParaRPr b="1"/>
          </a:p>
          <a:p>
            <a:pPr indent="-317500" lvl="1" marL="914400" rtl="0" algn="l">
              <a:spcBef>
                <a:spcPts val="0"/>
              </a:spcBef>
              <a:spcAft>
                <a:spcPts val="0"/>
              </a:spcAft>
              <a:buSzPts val="1400"/>
              <a:buChar char="○"/>
            </a:pPr>
            <a:r>
              <a:rPr b="1" lang="en"/>
              <a:t>Loser Effects</a:t>
            </a:r>
            <a:endParaRPr b="1"/>
          </a:p>
          <a:p>
            <a:pPr indent="-317500" lvl="2" marL="1371600" rtl="0" algn="l">
              <a:spcBef>
                <a:spcPts val="0"/>
              </a:spcBef>
              <a:spcAft>
                <a:spcPts val="0"/>
              </a:spcAft>
              <a:buSzPts val="1400"/>
              <a:buChar char="■"/>
            </a:pPr>
            <a:r>
              <a:rPr lang="en"/>
              <a:t>Lowered confidence, injury</a:t>
            </a:r>
            <a:endParaRPr/>
          </a:p>
          <a:p>
            <a:pPr indent="-317500" lvl="2" marL="1371600" rtl="0" algn="l">
              <a:spcBef>
                <a:spcPts val="0"/>
              </a:spcBef>
              <a:spcAft>
                <a:spcPts val="0"/>
              </a:spcAft>
              <a:buSzPts val="1400"/>
              <a:buChar char="■"/>
            </a:pPr>
            <a:r>
              <a:rPr lang="en"/>
              <a:t>Emergence of </a:t>
            </a:r>
            <a:r>
              <a:rPr b="1" lang="en"/>
              <a:t>double-loser triads</a:t>
            </a:r>
            <a:endParaRPr/>
          </a:p>
          <a:p>
            <a:pPr indent="-317500" lvl="1" marL="914400" rtl="0" algn="l">
              <a:spcBef>
                <a:spcPts val="0"/>
              </a:spcBef>
              <a:spcAft>
                <a:spcPts val="0"/>
              </a:spcAft>
              <a:buSzPts val="1400"/>
              <a:buChar char="○"/>
            </a:pPr>
            <a:r>
              <a:rPr b="1" lang="en"/>
              <a:t>Bystander Effects</a:t>
            </a:r>
            <a:endParaRPr b="1"/>
          </a:p>
          <a:p>
            <a:pPr indent="-317500" lvl="2" marL="1371600" rtl="0" algn="l">
              <a:spcBef>
                <a:spcPts val="0"/>
              </a:spcBef>
              <a:spcAft>
                <a:spcPts val="0"/>
              </a:spcAft>
              <a:buSzPts val="1400"/>
              <a:buChar char="■"/>
            </a:pPr>
            <a:r>
              <a:rPr lang="en"/>
              <a:t>Bystanders almost never dominate initial dominant</a:t>
            </a:r>
            <a:endParaRPr/>
          </a:p>
          <a:p>
            <a:pPr indent="-317500" lvl="2" marL="1371600" rtl="0" algn="l">
              <a:spcBef>
                <a:spcPts val="0"/>
              </a:spcBef>
              <a:spcAft>
                <a:spcPts val="0"/>
              </a:spcAft>
              <a:buSzPts val="1400"/>
              <a:buChar char="■"/>
            </a:pPr>
            <a:r>
              <a:rPr lang="en"/>
              <a:t>Bystanders almost never get dominated by initial loser</a:t>
            </a:r>
            <a:endParaRPr/>
          </a:p>
        </p:txBody>
      </p:sp>
      <p:sp>
        <p:nvSpPr>
          <p:cNvPr id="1070" name="Google Shape;1070;p52"/>
          <p:cNvSpPr txBox="1"/>
          <p:nvPr/>
        </p:nvSpPr>
        <p:spPr>
          <a:xfrm>
            <a:off x="6468095" y="1147225"/>
            <a:ext cx="1346100" cy="33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latin typeface="Comfortaa"/>
                <a:ea typeface="Comfortaa"/>
                <a:cs typeface="Comfortaa"/>
                <a:sym typeface="Comfortaa"/>
              </a:rPr>
              <a:t>Winner Effects</a:t>
            </a:r>
            <a:endParaRPr b="1" sz="1200">
              <a:latin typeface="Comfortaa"/>
              <a:ea typeface="Comfortaa"/>
              <a:cs typeface="Comfortaa"/>
              <a:sym typeface="Comfortaa"/>
            </a:endParaRPr>
          </a:p>
        </p:txBody>
      </p:sp>
      <p:sp>
        <p:nvSpPr>
          <p:cNvPr id="1071" name="Google Shape;1071;p52"/>
          <p:cNvSpPr/>
          <p:nvPr/>
        </p:nvSpPr>
        <p:spPr>
          <a:xfrm>
            <a:off x="5628788" y="2974750"/>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52"/>
          <p:cNvSpPr/>
          <p:nvPr/>
        </p:nvSpPr>
        <p:spPr>
          <a:xfrm>
            <a:off x="5923940" y="2375734"/>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73" name="Google Shape;1073;p52"/>
          <p:cNvCxnSpPr>
            <a:stCxn id="1072" idx="4"/>
            <a:endCxn id="1071" idx="0"/>
          </p:cNvCxnSpPr>
          <p:nvPr/>
        </p:nvCxnSpPr>
        <p:spPr>
          <a:xfrm flipH="1">
            <a:off x="5794790" y="2711734"/>
            <a:ext cx="295200" cy="263100"/>
          </a:xfrm>
          <a:prstGeom prst="straightConnector1">
            <a:avLst/>
          </a:prstGeom>
          <a:noFill/>
          <a:ln cap="flat" cmpd="sng" w="19050">
            <a:solidFill>
              <a:srgbClr val="FF0000"/>
            </a:solidFill>
            <a:prstDash val="solid"/>
            <a:round/>
            <a:headEnd len="med" w="med" type="none"/>
            <a:tailEnd len="med" w="med" type="triangle"/>
          </a:ln>
        </p:spPr>
      </p:cxnSp>
      <p:sp>
        <p:nvSpPr>
          <p:cNvPr id="1074" name="Google Shape;1074;p52"/>
          <p:cNvSpPr/>
          <p:nvPr/>
        </p:nvSpPr>
        <p:spPr>
          <a:xfrm>
            <a:off x="6936576" y="2694751"/>
            <a:ext cx="415200" cy="399600"/>
          </a:xfrm>
          <a:prstGeom prst="striped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52"/>
          <p:cNvSpPr/>
          <p:nvPr/>
        </p:nvSpPr>
        <p:spPr>
          <a:xfrm>
            <a:off x="7737080" y="2974762"/>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52"/>
          <p:cNvSpPr/>
          <p:nvPr/>
        </p:nvSpPr>
        <p:spPr>
          <a:xfrm>
            <a:off x="8327455" y="2974762"/>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p52"/>
          <p:cNvSpPr/>
          <p:nvPr/>
        </p:nvSpPr>
        <p:spPr>
          <a:xfrm>
            <a:off x="8032233" y="2375745"/>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78" name="Google Shape;1078;p52"/>
          <p:cNvCxnSpPr>
            <a:stCxn id="1077" idx="4"/>
            <a:endCxn id="1075" idx="0"/>
          </p:cNvCxnSpPr>
          <p:nvPr/>
        </p:nvCxnSpPr>
        <p:spPr>
          <a:xfrm flipH="1">
            <a:off x="7903083" y="2711745"/>
            <a:ext cx="295200" cy="263100"/>
          </a:xfrm>
          <a:prstGeom prst="straightConnector1">
            <a:avLst/>
          </a:prstGeom>
          <a:noFill/>
          <a:ln cap="flat" cmpd="sng" w="19050">
            <a:solidFill>
              <a:srgbClr val="FF0000"/>
            </a:solidFill>
            <a:prstDash val="solid"/>
            <a:round/>
            <a:headEnd len="med" w="med" type="none"/>
            <a:tailEnd len="med" w="med" type="triangle"/>
          </a:ln>
        </p:spPr>
      </p:cxnSp>
      <p:cxnSp>
        <p:nvCxnSpPr>
          <p:cNvPr id="1079" name="Google Shape;1079;p52"/>
          <p:cNvCxnSpPr>
            <a:stCxn id="1076" idx="2"/>
            <a:endCxn id="1075" idx="6"/>
          </p:cNvCxnSpPr>
          <p:nvPr/>
        </p:nvCxnSpPr>
        <p:spPr>
          <a:xfrm rot="10800000">
            <a:off x="8069155" y="3142762"/>
            <a:ext cx="258300" cy="0"/>
          </a:xfrm>
          <a:prstGeom prst="straightConnector1">
            <a:avLst/>
          </a:prstGeom>
          <a:noFill/>
          <a:ln cap="flat" cmpd="sng" w="19050">
            <a:solidFill>
              <a:srgbClr val="FF0000"/>
            </a:solidFill>
            <a:prstDash val="solid"/>
            <a:round/>
            <a:headEnd len="med" w="med" type="none"/>
            <a:tailEnd len="med" w="med" type="triangle"/>
          </a:ln>
        </p:spPr>
      </p:cxnSp>
      <p:sp>
        <p:nvSpPr>
          <p:cNvPr id="1080" name="Google Shape;1080;p52"/>
          <p:cNvSpPr txBox="1"/>
          <p:nvPr/>
        </p:nvSpPr>
        <p:spPr>
          <a:xfrm>
            <a:off x="6468108" y="2258714"/>
            <a:ext cx="1346100" cy="33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latin typeface="Comfortaa"/>
                <a:ea typeface="Comfortaa"/>
                <a:cs typeface="Comfortaa"/>
                <a:sym typeface="Comfortaa"/>
              </a:rPr>
              <a:t>Loser Effects</a:t>
            </a:r>
            <a:endParaRPr b="1" sz="1200">
              <a:latin typeface="Comfortaa"/>
              <a:ea typeface="Comfortaa"/>
              <a:cs typeface="Comfortaa"/>
              <a:sym typeface="Comfortaa"/>
            </a:endParaRPr>
          </a:p>
        </p:txBody>
      </p:sp>
      <p:sp>
        <p:nvSpPr>
          <p:cNvPr id="1081" name="Google Shape;1081;p52"/>
          <p:cNvSpPr/>
          <p:nvPr/>
        </p:nvSpPr>
        <p:spPr>
          <a:xfrm>
            <a:off x="5625763" y="4086250"/>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52"/>
          <p:cNvSpPr/>
          <p:nvPr/>
        </p:nvSpPr>
        <p:spPr>
          <a:xfrm>
            <a:off x="6216138" y="4086250"/>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p52"/>
          <p:cNvSpPr/>
          <p:nvPr/>
        </p:nvSpPr>
        <p:spPr>
          <a:xfrm>
            <a:off x="5920915" y="3487234"/>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84" name="Google Shape;1084;p52"/>
          <p:cNvCxnSpPr>
            <a:stCxn id="1083" idx="4"/>
            <a:endCxn id="1081" idx="0"/>
          </p:cNvCxnSpPr>
          <p:nvPr/>
        </p:nvCxnSpPr>
        <p:spPr>
          <a:xfrm flipH="1">
            <a:off x="5791765" y="3823234"/>
            <a:ext cx="295200" cy="263100"/>
          </a:xfrm>
          <a:prstGeom prst="straightConnector1">
            <a:avLst/>
          </a:prstGeom>
          <a:noFill/>
          <a:ln cap="flat" cmpd="sng" w="19050">
            <a:solidFill>
              <a:srgbClr val="FF0000"/>
            </a:solidFill>
            <a:prstDash val="solid"/>
            <a:round/>
            <a:headEnd len="med" w="med" type="none"/>
            <a:tailEnd len="med" w="med" type="triangle"/>
          </a:ln>
        </p:spPr>
      </p:cxnSp>
      <p:sp>
        <p:nvSpPr>
          <p:cNvPr id="1085" name="Google Shape;1085;p52"/>
          <p:cNvSpPr/>
          <p:nvPr/>
        </p:nvSpPr>
        <p:spPr>
          <a:xfrm>
            <a:off x="6933551" y="3806251"/>
            <a:ext cx="415200" cy="399600"/>
          </a:xfrm>
          <a:prstGeom prst="striped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52"/>
          <p:cNvSpPr/>
          <p:nvPr/>
        </p:nvSpPr>
        <p:spPr>
          <a:xfrm>
            <a:off x="7734055" y="4086262"/>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52"/>
          <p:cNvSpPr/>
          <p:nvPr/>
        </p:nvSpPr>
        <p:spPr>
          <a:xfrm>
            <a:off x="8324430" y="4086262"/>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52"/>
          <p:cNvSpPr/>
          <p:nvPr/>
        </p:nvSpPr>
        <p:spPr>
          <a:xfrm>
            <a:off x="8029208" y="3487245"/>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89" name="Google Shape;1089;p52"/>
          <p:cNvCxnSpPr>
            <a:stCxn id="1088" idx="4"/>
            <a:endCxn id="1086" idx="0"/>
          </p:cNvCxnSpPr>
          <p:nvPr/>
        </p:nvCxnSpPr>
        <p:spPr>
          <a:xfrm flipH="1">
            <a:off x="7900058" y="3823245"/>
            <a:ext cx="295200" cy="263100"/>
          </a:xfrm>
          <a:prstGeom prst="straightConnector1">
            <a:avLst/>
          </a:prstGeom>
          <a:noFill/>
          <a:ln cap="flat" cmpd="sng" w="19050">
            <a:solidFill>
              <a:srgbClr val="FF0000"/>
            </a:solidFill>
            <a:prstDash val="solid"/>
            <a:round/>
            <a:headEnd len="med" w="med" type="none"/>
            <a:tailEnd len="med" w="med" type="triangle"/>
          </a:ln>
        </p:spPr>
      </p:cxnSp>
      <p:cxnSp>
        <p:nvCxnSpPr>
          <p:cNvPr id="1090" name="Google Shape;1090;p52"/>
          <p:cNvCxnSpPr>
            <a:stCxn id="1086" idx="6"/>
            <a:endCxn id="1087" idx="2"/>
          </p:cNvCxnSpPr>
          <p:nvPr/>
        </p:nvCxnSpPr>
        <p:spPr>
          <a:xfrm>
            <a:off x="8066155" y="4254262"/>
            <a:ext cx="258300" cy="0"/>
          </a:xfrm>
          <a:prstGeom prst="straightConnector1">
            <a:avLst/>
          </a:prstGeom>
          <a:noFill/>
          <a:ln cap="flat" cmpd="sng" w="19050">
            <a:solidFill>
              <a:srgbClr val="FF0000"/>
            </a:solidFill>
            <a:prstDash val="solid"/>
            <a:round/>
            <a:headEnd len="med" w="med" type="none"/>
            <a:tailEnd len="med" w="med" type="triangle"/>
          </a:ln>
        </p:spPr>
      </p:cxnSp>
      <p:sp>
        <p:nvSpPr>
          <p:cNvPr id="1091" name="Google Shape;1091;p52"/>
          <p:cNvSpPr txBox="1"/>
          <p:nvPr/>
        </p:nvSpPr>
        <p:spPr>
          <a:xfrm>
            <a:off x="6333350" y="3370225"/>
            <a:ext cx="1614900" cy="33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latin typeface="Comfortaa"/>
                <a:ea typeface="Comfortaa"/>
                <a:cs typeface="Comfortaa"/>
                <a:sym typeface="Comfortaa"/>
              </a:rPr>
              <a:t>Bystander Effects</a:t>
            </a:r>
            <a:endParaRPr b="1" sz="1200">
              <a:latin typeface="Comfortaa"/>
              <a:ea typeface="Comfortaa"/>
              <a:cs typeface="Comfortaa"/>
              <a:sym typeface="Comfortaa"/>
            </a:endParaRPr>
          </a:p>
        </p:txBody>
      </p:sp>
      <p:sp>
        <p:nvSpPr>
          <p:cNvPr id="1092" name="Google Shape;1092;p52"/>
          <p:cNvSpPr txBox="1"/>
          <p:nvPr/>
        </p:nvSpPr>
        <p:spPr>
          <a:xfrm>
            <a:off x="6666775" y="4322525"/>
            <a:ext cx="914400" cy="399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latin typeface="Open Sans"/>
                <a:ea typeface="Open Sans"/>
                <a:cs typeface="Open Sans"/>
                <a:sym typeface="Open Sans"/>
              </a:rPr>
              <a:t>Also</a:t>
            </a:r>
            <a:endParaRPr b="1">
              <a:solidFill>
                <a:srgbClr val="FF0000"/>
              </a:solidFill>
              <a:latin typeface="Open Sans"/>
              <a:ea typeface="Open Sans"/>
              <a:cs typeface="Open Sans"/>
              <a:sym typeface="Open Sans"/>
            </a:endParaRPr>
          </a:p>
          <a:p>
            <a:pPr indent="0" lvl="0" marL="0" rtl="0" algn="ctr">
              <a:spcBef>
                <a:spcPts val="0"/>
              </a:spcBef>
              <a:spcAft>
                <a:spcPts val="0"/>
              </a:spcAft>
              <a:buNone/>
            </a:pPr>
            <a:r>
              <a:rPr b="1" lang="en">
                <a:solidFill>
                  <a:srgbClr val="FF0000"/>
                </a:solidFill>
                <a:latin typeface="Open Sans"/>
                <a:ea typeface="Open Sans"/>
                <a:cs typeface="Open Sans"/>
                <a:sym typeface="Open Sans"/>
              </a:rPr>
              <a:t>Weird!</a:t>
            </a:r>
            <a:endParaRPr b="1">
              <a:solidFill>
                <a:srgbClr val="FF0000"/>
              </a:solidFill>
              <a:latin typeface="Open Sans"/>
              <a:ea typeface="Open Sans"/>
              <a:cs typeface="Open Sans"/>
              <a:sym typeface="Open Sans"/>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6" name="Shape 1096"/>
        <p:cNvGrpSpPr/>
        <p:nvPr/>
      </p:nvGrpSpPr>
      <p:grpSpPr>
        <a:xfrm>
          <a:off x="0" y="0"/>
          <a:ext cx="0" cy="0"/>
          <a:chOff x="0" y="0"/>
          <a:chExt cx="0" cy="0"/>
        </a:xfrm>
      </p:grpSpPr>
      <p:sp>
        <p:nvSpPr>
          <p:cNvPr id="1097" name="Google Shape;1097;p53"/>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Agonistic Competition as Iterative and Social</a:t>
            </a:r>
            <a:endParaRPr/>
          </a:p>
        </p:txBody>
      </p:sp>
      <p:sp>
        <p:nvSpPr>
          <p:cNvPr id="1098" name="Google Shape;1098;p53"/>
          <p:cNvSpPr/>
          <p:nvPr/>
        </p:nvSpPr>
        <p:spPr>
          <a:xfrm>
            <a:off x="5628775" y="1863261"/>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9" name="Google Shape;1099;p53"/>
          <p:cNvSpPr/>
          <p:nvPr/>
        </p:nvSpPr>
        <p:spPr>
          <a:xfrm>
            <a:off x="5923928" y="1264244"/>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00" name="Google Shape;1100;p53"/>
          <p:cNvCxnSpPr>
            <a:stCxn id="1099" idx="4"/>
            <a:endCxn id="1098" idx="0"/>
          </p:cNvCxnSpPr>
          <p:nvPr/>
        </p:nvCxnSpPr>
        <p:spPr>
          <a:xfrm flipH="1">
            <a:off x="5794778" y="1600244"/>
            <a:ext cx="295200" cy="263100"/>
          </a:xfrm>
          <a:prstGeom prst="straightConnector1">
            <a:avLst/>
          </a:prstGeom>
          <a:noFill/>
          <a:ln cap="flat" cmpd="sng" w="19050">
            <a:solidFill>
              <a:srgbClr val="FF0000"/>
            </a:solidFill>
            <a:prstDash val="solid"/>
            <a:round/>
            <a:headEnd len="med" w="med" type="none"/>
            <a:tailEnd len="med" w="med" type="triangle"/>
          </a:ln>
        </p:spPr>
      </p:cxnSp>
      <p:sp>
        <p:nvSpPr>
          <p:cNvPr id="1101" name="Google Shape;1101;p53"/>
          <p:cNvSpPr/>
          <p:nvPr/>
        </p:nvSpPr>
        <p:spPr>
          <a:xfrm>
            <a:off x="6936564" y="1583262"/>
            <a:ext cx="415200" cy="399600"/>
          </a:xfrm>
          <a:prstGeom prst="striped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53"/>
          <p:cNvSpPr/>
          <p:nvPr/>
        </p:nvSpPr>
        <p:spPr>
          <a:xfrm>
            <a:off x="7737067" y="1863273"/>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3" name="Google Shape;1103;p53"/>
          <p:cNvSpPr/>
          <p:nvPr/>
        </p:nvSpPr>
        <p:spPr>
          <a:xfrm>
            <a:off x="8327443" y="1863273"/>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53"/>
          <p:cNvSpPr/>
          <p:nvPr/>
        </p:nvSpPr>
        <p:spPr>
          <a:xfrm>
            <a:off x="8032220" y="1264256"/>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05" name="Google Shape;1105;p53"/>
          <p:cNvCxnSpPr>
            <a:stCxn id="1104" idx="4"/>
            <a:endCxn id="1102" idx="0"/>
          </p:cNvCxnSpPr>
          <p:nvPr/>
        </p:nvCxnSpPr>
        <p:spPr>
          <a:xfrm flipH="1">
            <a:off x="7903070" y="1600256"/>
            <a:ext cx="295200" cy="263100"/>
          </a:xfrm>
          <a:prstGeom prst="straightConnector1">
            <a:avLst/>
          </a:prstGeom>
          <a:noFill/>
          <a:ln cap="flat" cmpd="sng" w="19050">
            <a:solidFill>
              <a:srgbClr val="FF0000"/>
            </a:solidFill>
            <a:prstDash val="solid"/>
            <a:round/>
            <a:headEnd len="med" w="med" type="none"/>
            <a:tailEnd len="med" w="med" type="triangle"/>
          </a:ln>
        </p:spPr>
      </p:cxnSp>
      <p:cxnSp>
        <p:nvCxnSpPr>
          <p:cNvPr id="1106" name="Google Shape;1106;p53"/>
          <p:cNvCxnSpPr>
            <a:stCxn id="1104" idx="4"/>
            <a:endCxn id="1103" idx="0"/>
          </p:cNvCxnSpPr>
          <p:nvPr/>
        </p:nvCxnSpPr>
        <p:spPr>
          <a:xfrm>
            <a:off x="8198270" y="1600256"/>
            <a:ext cx="295200" cy="263100"/>
          </a:xfrm>
          <a:prstGeom prst="straightConnector1">
            <a:avLst/>
          </a:prstGeom>
          <a:noFill/>
          <a:ln cap="flat" cmpd="sng" w="19050">
            <a:solidFill>
              <a:srgbClr val="FF0000"/>
            </a:solidFill>
            <a:prstDash val="solid"/>
            <a:round/>
            <a:headEnd len="med" w="med" type="none"/>
            <a:tailEnd len="med" w="med" type="triangle"/>
          </a:ln>
        </p:spPr>
      </p:cxnSp>
      <p:sp>
        <p:nvSpPr>
          <p:cNvPr id="1107" name="Google Shape;1107;p53"/>
          <p:cNvSpPr txBox="1"/>
          <p:nvPr/>
        </p:nvSpPr>
        <p:spPr>
          <a:xfrm>
            <a:off x="5447850" y="4598800"/>
            <a:ext cx="989100" cy="36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mfortaa"/>
                <a:ea typeface="Comfortaa"/>
                <a:cs typeface="Comfortaa"/>
                <a:sym typeface="Comfortaa"/>
              </a:rPr>
              <a:t>Time 1</a:t>
            </a:r>
            <a:endParaRPr>
              <a:latin typeface="Comfortaa"/>
              <a:ea typeface="Comfortaa"/>
              <a:cs typeface="Comfortaa"/>
              <a:sym typeface="Comfortaa"/>
            </a:endParaRPr>
          </a:p>
        </p:txBody>
      </p:sp>
      <p:sp>
        <p:nvSpPr>
          <p:cNvPr id="1108" name="Google Shape;1108;p53"/>
          <p:cNvSpPr txBox="1"/>
          <p:nvPr/>
        </p:nvSpPr>
        <p:spPr>
          <a:xfrm>
            <a:off x="7703725" y="4598850"/>
            <a:ext cx="989100" cy="36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mfortaa"/>
                <a:ea typeface="Comfortaa"/>
                <a:cs typeface="Comfortaa"/>
                <a:sym typeface="Comfortaa"/>
              </a:rPr>
              <a:t>Time 2</a:t>
            </a:r>
            <a:endParaRPr>
              <a:latin typeface="Comfortaa"/>
              <a:ea typeface="Comfortaa"/>
              <a:cs typeface="Comfortaa"/>
              <a:sym typeface="Comfortaa"/>
            </a:endParaRPr>
          </a:p>
        </p:txBody>
      </p:sp>
      <p:sp>
        <p:nvSpPr>
          <p:cNvPr id="1109" name="Google Shape;1109;p53"/>
          <p:cNvSpPr txBox="1"/>
          <p:nvPr>
            <p:ph idx="1" type="body"/>
          </p:nvPr>
        </p:nvSpPr>
        <p:spPr>
          <a:xfrm>
            <a:off x="311700" y="1225225"/>
            <a:ext cx="53142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Three possible mechanisms:</a:t>
            </a:r>
            <a:endParaRPr/>
          </a:p>
          <a:p>
            <a:pPr indent="-317500" lvl="1" marL="914400" rtl="0" algn="l">
              <a:spcBef>
                <a:spcPts val="0"/>
              </a:spcBef>
              <a:spcAft>
                <a:spcPts val="0"/>
              </a:spcAft>
              <a:buSzPts val="1400"/>
              <a:buChar char="○"/>
            </a:pPr>
            <a:r>
              <a:rPr b="1" lang="en"/>
              <a:t>Winner Effects</a:t>
            </a:r>
            <a:endParaRPr b="1"/>
          </a:p>
          <a:p>
            <a:pPr indent="-317500" lvl="2" marL="1371600" rtl="0" algn="l">
              <a:spcBef>
                <a:spcPts val="0"/>
              </a:spcBef>
              <a:spcAft>
                <a:spcPts val="0"/>
              </a:spcAft>
              <a:buSzPts val="1400"/>
              <a:buChar char="■"/>
            </a:pPr>
            <a:r>
              <a:rPr lang="en"/>
              <a:t>Confidence, testosterone boost, experience</a:t>
            </a:r>
            <a:endParaRPr/>
          </a:p>
          <a:p>
            <a:pPr indent="-317500" lvl="2" marL="1371600" rtl="0" algn="l">
              <a:spcBef>
                <a:spcPts val="0"/>
              </a:spcBef>
              <a:spcAft>
                <a:spcPts val="0"/>
              </a:spcAft>
              <a:buSzPts val="1400"/>
              <a:buChar char="■"/>
            </a:pPr>
            <a:r>
              <a:rPr lang="en"/>
              <a:t>Emergence of </a:t>
            </a:r>
            <a:r>
              <a:rPr b="1" lang="en"/>
              <a:t>double-dominant triads</a:t>
            </a:r>
            <a:endParaRPr b="1"/>
          </a:p>
          <a:p>
            <a:pPr indent="-317500" lvl="1" marL="914400" rtl="0" algn="l">
              <a:spcBef>
                <a:spcPts val="0"/>
              </a:spcBef>
              <a:spcAft>
                <a:spcPts val="0"/>
              </a:spcAft>
              <a:buSzPts val="1400"/>
              <a:buChar char="○"/>
            </a:pPr>
            <a:r>
              <a:rPr b="1" lang="en"/>
              <a:t>Loser Effects</a:t>
            </a:r>
            <a:endParaRPr b="1"/>
          </a:p>
          <a:p>
            <a:pPr indent="-317500" lvl="2" marL="1371600" rtl="0" algn="l">
              <a:spcBef>
                <a:spcPts val="0"/>
              </a:spcBef>
              <a:spcAft>
                <a:spcPts val="0"/>
              </a:spcAft>
              <a:buSzPts val="1400"/>
              <a:buChar char="■"/>
            </a:pPr>
            <a:r>
              <a:rPr lang="en"/>
              <a:t>Lowered confidence, injury</a:t>
            </a:r>
            <a:endParaRPr/>
          </a:p>
          <a:p>
            <a:pPr indent="-317500" lvl="2" marL="1371600" rtl="0" algn="l">
              <a:spcBef>
                <a:spcPts val="0"/>
              </a:spcBef>
              <a:spcAft>
                <a:spcPts val="0"/>
              </a:spcAft>
              <a:buSzPts val="1400"/>
              <a:buChar char="■"/>
            </a:pPr>
            <a:r>
              <a:rPr lang="en"/>
              <a:t>Emergence of </a:t>
            </a:r>
            <a:r>
              <a:rPr b="1" lang="en"/>
              <a:t>double-loser triads</a:t>
            </a:r>
            <a:endParaRPr/>
          </a:p>
          <a:p>
            <a:pPr indent="-317500" lvl="1" marL="914400" rtl="0" algn="l">
              <a:spcBef>
                <a:spcPts val="0"/>
              </a:spcBef>
              <a:spcAft>
                <a:spcPts val="0"/>
              </a:spcAft>
              <a:buSzPts val="1400"/>
              <a:buChar char="○"/>
            </a:pPr>
            <a:r>
              <a:rPr b="1" lang="en"/>
              <a:t>Bystander Effects</a:t>
            </a:r>
            <a:endParaRPr b="1"/>
          </a:p>
          <a:p>
            <a:pPr indent="-317500" lvl="2" marL="1371600" rtl="0" algn="l">
              <a:spcBef>
                <a:spcPts val="0"/>
              </a:spcBef>
              <a:spcAft>
                <a:spcPts val="0"/>
              </a:spcAft>
              <a:buSzPts val="1400"/>
              <a:buChar char="■"/>
            </a:pPr>
            <a:r>
              <a:rPr lang="en"/>
              <a:t>Bystanders almost never dominate initial dominant</a:t>
            </a:r>
            <a:endParaRPr/>
          </a:p>
          <a:p>
            <a:pPr indent="-317500" lvl="2" marL="1371600" rtl="0" algn="l">
              <a:spcBef>
                <a:spcPts val="0"/>
              </a:spcBef>
              <a:spcAft>
                <a:spcPts val="0"/>
              </a:spcAft>
              <a:buSzPts val="1400"/>
              <a:buChar char="■"/>
            </a:pPr>
            <a:r>
              <a:rPr lang="en"/>
              <a:t>Bystanders almost never get dominated by initial loser</a:t>
            </a:r>
            <a:endParaRPr/>
          </a:p>
          <a:p>
            <a:pPr indent="-317500" lvl="2" marL="1371600" rtl="0" algn="l">
              <a:spcBef>
                <a:spcPts val="0"/>
              </a:spcBef>
              <a:spcAft>
                <a:spcPts val="0"/>
              </a:spcAft>
              <a:buSzPts val="1400"/>
              <a:buChar char="■"/>
            </a:pPr>
            <a:r>
              <a:rPr lang="en"/>
              <a:t>This guarantees </a:t>
            </a:r>
            <a:r>
              <a:rPr lang="en"/>
              <a:t>transitivity</a:t>
            </a:r>
            <a:r>
              <a:rPr lang="en"/>
              <a:t> and linearity!</a:t>
            </a:r>
            <a:endParaRPr/>
          </a:p>
        </p:txBody>
      </p:sp>
      <p:sp>
        <p:nvSpPr>
          <p:cNvPr id="1110" name="Google Shape;1110;p53"/>
          <p:cNvSpPr txBox="1"/>
          <p:nvPr/>
        </p:nvSpPr>
        <p:spPr>
          <a:xfrm>
            <a:off x="6468095" y="1147225"/>
            <a:ext cx="1346100" cy="33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latin typeface="Comfortaa"/>
                <a:ea typeface="Comfortaa"/>
                <a:cs typeface="Comfortaa"/>
                <a:sym typeface="Comfortaa"/>
              </a:rPr>
              <a:t>Winner Effects</a:t>
            </a:r>
            <a:endParaRPr b="1" sz="1200">
              <a:latin typeface="Comfortaa"/>
              <a:ea typeface="Comfortaa"/>
              <a:cs typeface="Comfortaa"/>
              <a:sym typeface="Comfortaa"/>
            </a:endParaRPr>
          </a:p>
        </p:txBody>
      </p:sp>
      <p:sp>
        <p:nvSpPr>
          <p:cNvPr id="1111" name="Google Shape;1111;p53"/>
          <p:cNvSpPr/>
          <p:nvPr/>
        </p:nvSpPr>
        <p:spPr>
          <a:xfrm>
            <a:off x="5628788" y="2974750"/>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53"/>
          <p:cNvSpPr/>
          <p:nvPr/>
        </p:nvSpPr>
        <p:spPr>
          <a:xfrm>
            <a:off x="5923940" y="2375734"/>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13" name="Google Shape;1113;p53"/>
          <p:cNvCxnSpPr>
            <a:stCxn id="1112" idx="4"/>
            <a:endCxn id="1111" idx="0"/>
          </p:cNvCxnSpPr>
          <p:nvPr/>
        </p:nvCxnSpPr>
        <p:spPr>
          <a:xfrm flipH="1">
            <a:off x="5794790" y="2711734"/>
            <a:ext cx="295200" cy="263100"/>
          </a:xfrm>
          <a:prstGeom prst="straightConnector1">
            <a:avLst/>
          </a:prstGeom>
          <a:noFill/>
          <a:ln cap="flat" cmpd="sng" w="19050">
            <a:solidFill>
              <a:srgbClr val="FF0000"/>
            </a:solidFill>
            <a:prstDash val="solid"/>
            <a:round/>
            <a:headEnd len="med" w="med" type="none"/>
            <a:tailEnd len="med" w="med" type="triangle"/>
          </a:ln>
        </p:spPr>
      </p:cxnSp>
      <p:sp>
        <p:nvSpPr>
          <p:cNvPr id="1114" name="Google Shape;1114;p53"/>
          <p:cNvSpPr/>
          <p:nvPr/>
        </p:nvSpPr>
        <p:spPr>
          <a:xfrm>
            <a:off x="6936576" y="2694751"/>
            <a:ext cx="415200" cy="399600"/>
          </a:xfrm>
          <a:prstGeom prst="striped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53"/>
          <p:cNvSpPr/>
          <p:nvPr/>
        </p:nvSpPr>
        <p:spPr>
          <a:xfrm>
            <a:off x="7737080" y="2974762"/>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53"/>
          <p:cNvSpPr/>
          <p:nvPr/>
        </p:nvSpPr>
        <p:spPr>
          <a:xfrm>
            <a:off x="8327455" y="2974762"/>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53"/>
          <p:cNvSpPr/>
          <p:nvPr/>
        </p:nvSpPr>
        <p:spPr>
          <a:xfrm>
            <a:off x="8032233" y="2375745"/>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18" name="Google Shape;1118;p53"/>
          <p:cNvCxnSpPr>
            <a:stCxn id="1117" idx="4"/>
            <a:endCxn id="1115" idx="0"/>
          </p:cNvCxnSpPr>
          <p:nvPr/>
        </p:nvCxnSpPr>
        <p:spPr>
          <a:xfrm flipH="1">
            <a:off x="7903083" y="2711745"/>
            <a:ext cx="295200" cy="263100"/>
          </a:xfrm>
          <a:prstGeom prst="straightConnector1">
            <a:avLst/>
          </a:prstGeom>
          <a:noFill/>
          <a:ln cap="flat" cmpd="sng" w="19050">
            <a:solidFill>
              <a:srgbClr val="FF0000"/>
            </a:solidFill>
            <a:prstDash val="solid"/>
            <a:round/>
            <a:headEnd len="med" w="med" type="none"/>
            <a:tailEnd len="med" w="med" type="triangle"/>
          </a:ln>
        </p:spPr>
      </p:cxnSp>
      <p:cxnSp>
        <p:nvCxnSpPr>
          <p:cNvPr id="1119" name="Google Shape;1119;p53"/>
          <p:cNvCxnSpPr>
            <a:stCxn id="1116" idx="2"/>
            <a:endCxn id="1115" idx="6"/>
          </p:cNvCxnSpPr>
          <p:nvPr/>
        </p:nvCxnSpPr>
        <p:spPr>
          <a:xfrm rot="10800000">
            <a:off x="8069155" y="3142762"/>
            <a:ext cx="258300" cy="0"/>
          </a:xfrm>
          <a:prstGeom prst="straightConnector1">
            <a:avLst/>
          </a:prstGeom>
          <a:noFill/>
          <a:ln cap="flat" cmpd="sng" w="19050">
            <a:solidFill>
              <a:srgbClr val="FF0000"/>
            </a:solidFill>
            <a:prstDash val="solid"/>
            <a:round/>
            <a:headEnd len="med" w="med" type="none"/>
            <a:tailEnd len="med" w="med" type="triangle"/>
          </a:ln>
        </p:spPr>
      </p:cxnSp>
      <p:sp>
        <p:nvSpPr>
          <p:cNvPr id="1120" name="Google Shape;1120;p53"/>
          <p:cNvSpPr txBox="1"/>
          <p:nvPr/>
        </p:nvSpPr>
        <p:spPr>
          <a:xfrm>
            <a:off x="6468108" y="2258714"/>
            <a:ext cx="1346100" cy="33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latin typeface="Comfortaa"/>
                <a:ea typeface="Comfortaa"/>
                <a:cs typeface="Comfortaa"/>
                <a:sym typeface="Comfortaa"/>
              </a:rPr>
              <a:t>Loser Effects</a:t>
            </a:r>
            <a:endParaRPr b="1" sz="1200">
              <a:latin typeface="Comfortaa"/>
              <a:ea typeface="Comfortaa"/>
              <a:cs typeface="Comfortaa"/>
              <a:sym typeface="Comfortaa"/>
            </a:endParaRPr>
          </a:p>
        </p:txBody>
      </p:sp>
      <p:sp>
        <p:nvSpPr>
          <p:cNvPr id="1121" name="Google Shape;1121;p53"/>
          <p:cNvSpPr/>
          <p:nvPr/>
        </p:nvSpPr>
        <p:spPr>
          <a:xfrm>
            <a:off x="5625763" y="4086250"/>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53"/>
          <p:cNvSpPr/>
          <p:nvPr/>
        </p:nvSpPr>
        <p:spPr>
          <a:xfrm>
            <a:off x="6216138" y="4086250"/>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53"/>
          <p:cNvSpPr/>
          <p:nvPr/>
        </p:nvSpPr>
        <p:spPr>
          <a:xfrm>
            <a:off x="5920915" y="3487234"/>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24" name="Google Shape;1124;p53"/>
          <p:cNvCxnSpPr>
            <a:stCxn id="1123" idx="4"/>
            <a:endCxn id="1121" idx="0"/>
          </p:cNvCxnSpPr>
          <p:nvPr/>
        </p:nvCxnSpPr>
        <p:spPr>
          <a:xfrm flipH="1">
            <a:off x="5791765" y="3823234"/>
            <a:ext cx="295200" cy="263100"/>
          </a:xfrm>
          <a:prstGeom prst="straightConnector1">
            <a:avLst/>
          </a:prstGeom>
          <a:noFill/>
          <a:ln cap="flat" cmpd="sng" w="19050">
            <a:solidFill>
              <a:srgbClr val="FF0000"/>
            </a:solidFill>
            <a:prstDash val="solid"/>
            <a:round/>
            <a:headEnd len="med" w="med" type="none"/>
            <a:tailEnd len="med" w="med" type="triangle"/>
          </a:ln>
        </p:spPr>
      </p:cxnSp>
      <p:sp>
        <p:nvSpPr>
          <p:cNvPr id="1125" name="Google Shape;1125;p53"/>
          <p:cNvSpPr/>
          <p:nvPr/>
        </p:nvSpPr>
        <p:spPr>
          <a:xfrm>
            <a:off x="6933551" y="3806251"/>
            <a:ext cx="415200" cy="399600"/>
          </a:xfrm>
          <a:prstGeom prst="striped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53"/>
          <p:cNvSpPr/>
          <p:nvPr/>
        </p:nvSpPr>
        <p:spPr>
          <a:xfrm>
            <a:off x="7734055" y="4086262"/>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7" name="Google Shape;1127;p53"/>
          <p:cNvSpPr/>
          <p:nvPr/>
        </p:nvSpPr>
        <p:spPr>
          <a:xfrm>
            <a:off x="8324430" y="4086262"/>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8" name="Google Shape;1128;p53"/>
          <p:cNvSpPr/>
          <p:nvPr/>
        </p:nvSpPr>
        <p:spPr>
          <a:xfrm>
            <a:off x="8029208" y="3487245"/>
            <a:ext cx="332100" cy="336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29" name="Google Shape;1129;p53"/>
          <p:cNvCxnSpPr>
            <a:stCxn id="1128" idx="4"/>
            <a:endCxn id="1126" idx="0"/>
          </p:cNvCxnSpPr>
          <p:nvPr/>
        </p:nvCxnSpPr>
        <p:spPr>
          <a:xfrm flipH="1">
            <a:off x="7900058" y="3823245"/>
            <a:ext cx="295200" cy="263100"/>
          </a:xfrm>
          <a:prstGeom prst="straightConnector1">
            <a:avLst/>
          </a:prstGeom>
          <a:noFill/>
          <a:ln cap="flat" cmpd="sng" w="19050">
            <a:solidFill>
              <a:srgbClr val="FF0000"/>
            </a:solidFill>
            <a:prstDash val="solid"/>
            <a:round/>
            <a:headEnd len="med" w="med" type="none"/>
            <a:tailEnd len="med" w="med" type="triangle"/>
          </a:ln>
        </p:spPr>
      </p:cxnSp>
      <p:cxnSp>
        <p:nvCxnSpPr>
          <p:cNvPr id="1130" name="Google Shape;1130;p53"/>
          <p:cNvCxnSpPr>
            <a:stCxn id="1126" idx="6"/>
            <a:endCxn id="1127" idx="2"/>
          </p:cNvCxnSpPr>
          <p:nvPr/>
        </p:nvCxnSpPr>
        <p:spPr>
          <a:xfrm>
            <a:off x="8066155" y="4254262"/>
            <a:ext cx="258300" cy="0"/>
          </a:xfrm>
          <a:prstGeom prst="straightConnector1">
            <a:avLst/>
          </a:prstGeom>
          <a:noFill/>
          <a:ln cap="flat" cmpd="sng" w="19050">
            <a:solidFill>
              <a:srgbClr val="FF0000"/>
            </a:solidFill>
            <a:prstDash val="solid"/>
            <a:round/>
            <a:headEnd len="med" w="med" type="none"/>
            <a:tailEnd len="med" w="med" type="triangle"/>
          </a:ln>
        </p:spPr>
      </p:cxnSp>
      <p:sp>
        <p:nvSpPr>
          <p:cNvPr id="1131" name="Google Shape;1131;p53"/>
          <p:cNvSpPr txBox="1"/>
          <p:nvPr/>
        </p:nvSpPr>
        <p:spPr>
          <a:xfrm>
            <a:off x="6333350" y="3370225"/>
            <a:ext cx="1614900" cy="33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latin typeface="Comfortaa"/>
                <a:ea typeface="Comfortaa"/>
                <a:cs typeface="Comfortaa"/>
                <a:sym typeface="Comfortaa"/>
              </a:rPr>
              <a:t>Bystander Effects</a:t>
            </a:r>
            <a:endParaRPr b="1" sz="1200">
              <a:latin typeface="Comfortaa"/>
              <a:ea typeface="Comfortaa"/>
              <a:cs typeface="Comfortaa"/>
              <a:sym typeface="Comfortaa"/>
            </a:endParaRPr>
          </a:p>
        </p:txBody>
      </p:sp>
      <p:sp>
        <p:nvSpPr>
          <p:cNvPr id="1132" name="Google Shape;1132;p53"/>
          <p:cNvSpPr txBox="1"/>
          <p:nvPr/>
        </p:nvSpPr>
        <p:spPr>
          <a:xfrm>
            <a:off x="6666775" y="4322525"/>
            <a:ext cx="914400" cy="399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0000"/>
                </a:solidFill>
                <a:latin typeface="Open Sans"/>
                <a:ea typeface="Open Sans"/>
                <a:cs typeface="Open Sans"/>
                <a:sym typeface="Open Sans"/>
              </a:rPr>
              <a:t>Also</a:t>
            </a:r>
            <a:endParaRPr b="1">
              <a:solidFill>
                <a:srgbClr val="FF0000"/>
              </a:solidFill>
              <a:latin typeface="Open Sans"/>
              <a:ea typeface="Open Sans"/>
              <a:cs typeface="Open Sans"/>
              <a:sym typeface="Open Sans"/>
            </a:endParaRPr>
          </a:p>
          <a:p>
            <a:pPr indent="0" lvl="0" marL="0" rtl="0" algn="ctr">
              <a:spcBef>
                <a:spcPts val="0"/>
              </a:spcBef>
              <a:spcAft>
                <a:spcPts val="0"/>
              </a:spcAft>
              <a:buNone/>
            </a:pPr>
            <a:r>
              <a:rPr b="1" lang="en">
                <a:solidFill>
                  <a:srgbClr val="FF0000"/>
                </a:solidFill>
                <a:latin typeface="Open Sans"/>
                <a:ea typeface="Open Sans"/>
                <a:cs typeface="Open Sans"/>
                <a:sym typeface="Open Sans"/>
              </a:rPr>
              <a:t>Weird!</a:t>
            </a:r>
            <a:endParaRPr b="1">
              <a:solidFill>
                <a:srgbClr val="FF0000"/>
              </a:solidFill>
              <a:latin typeface="Open Sans"/>
              <a:ea typeface="Open Sans"/>
              <a:cs typeface="Open Sans"/>
              <a:sym typeface="Open Sans"/>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36" name="Shape 1136"/>
        <p:cNvGrpSpPr/>
        <p:nvPr/>
      </p:nvGrpSpPr>
      <p:grpSpPr>
        <a:xfrm>
          <a:off x="0" y="0"/>
          <a:ext cx="0" cy="0"/>
          <a:chOff x="0" y="0"/>
          <a:chExt cx="0" cy="0"/>
        </a:xfrm>
      </p:grpSpPr>
      <p:sp>
        <p:nvSpPr>
          <p:cNvPr id="1137" name="Google Shape;1137;p5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Self-Confidence and Victory	</a:t>
            </a:r>
            <a:endParaRPr/>
          </a:p>
        </p:txBody>
      </p:sp>
      <p:sp>
        <p:nvSpPr>
          <p:cNvPr id="1138" name="Google Shape;1138;p54"/>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Self confidence is associated with winning social contests, but comes from many other attributes</a:t>
            </a:r>
            <a:endParaRPr/>
          </a:p>
          <a:p>
            <a:pPr indent="-342900" lvl="0" marL="457200" rtl="0" algn="l">
              <a:spcBef>
                <a:spcPts val="0"/>
              </a:spcBef>
              <a:spcAft>
                <a:spcPts val="0"/>
              </a:spcAft>
              <a:buSzPts val="1800"/>
              <a:buChar char="●"/>
            </a:pPr>
            <a:r>
              <a:rPr lang="en"/>
              <a:t>-Individual Characteristics</a:t>
            </a:r>
            <a:endParaRPr/>
          </a:p>
          <a:p>
            <a:pPr indent="-317500" lvl="1" marL="914400" rtl="0" algn="l">
              <a:spcBef>
                <a:spcPts val="0"/>
              </a:spcBef>
              <a:spcAft>
                <a:spcPts val="0"/>
              </a:spcAft>
              <a:buSzPts val="1400"/>
              <a:buChar char="○"/>
            </a:pPr>
            <a:r>
              <a:rPr lang="en"/>
              <a:t>Strength, age, intelligence, etc.</a:t>
            </a:r>
            <a:endParaRPr/>
          </a:p>
          <a:p>
            <a:pPr indent="-342900" lvl="0" marL="457200" rtl="0" algn="l">
              <a:spcBef>
                <a:spcPts val="0"/>
              </a:spcBef>
              <a:spcAft>
                <a:spcPts val="0"/>
              </a:spcAft>
              <a:buSzPts val="1800"/>
              <a:buChar char="●"/>
            </a:pPr>
            <a:r>
              <a:rPr lang="en"/>
              <a:t>-Social Characteristics</a:t>
            </a:r>
            <a:endParaRPr/>
          </a:p>
          <a:p>
            <a:pPr indent="-317500" lvl="1" marL="914400" rtl="0" algn="l">
              <a:spcBef>
                <a:spcPts val="0"/>
              </a:spcBef>
              <a:spcAft>
                <a:spcPts val="0"/>
              </a:spcAft>
              <a:buSzPts val="1400"/>
              <a:buChar char="○"/>
            </a:pPr>
            <a:r>
              <a:rPr lang="en"/>
              <a:t>Past wins, family descent</a:t>
            </a:r>
            <a:endParaRPr/>
          </a:p>
        </p:txBody>
      </p:sp>
      <p:sp>
        <p:nvSpPr>
          <p:cNvPr id="1139" name="Google Shape;1139;p54"/>
          <p:cNvSpPr txBox="1"/>
          <p:nvPr/>
        </p:nvSpPr>
        <p:spPr>
          <a:xfrm>
            <a:off x="724500" y="3537075"/>
            <a:ext cx="7695000" cy="670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i="1" lang="en">
                <a:solidFill>
                  <a:srgbClr val="A61C00"/>
                </a:solidFill>
                <a:latin typeface="Open Sans"/>
                <a:ea typeface="Open Sans"/>
                <a:cs typeface="Open Sans"/>
                <a:sym typeface="Open Sans"/>
              </a:rPr>
              <a:t>Contestation is mostly about ritual, and so self-confidence is a great way to win at ritual contestation. Contestation is often a game of chicken.</a:t>
            </a:r>
            <a:endParaRPr b="1" i="1">
              <a:solidFill>
                <a:srgbClr val="A61C00"/>
              </a:solidFill>
              <a:latin typeface="Open Sans"/>
              <a:ea typeface="Open Sans"/>
              <a:cs typeface="Open Sans"/>
              <a:sym typeface="Open Sans"/>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43" name="Shape 1143"/>
        <p:cNvGrpSpPr/>
        <p:nvPr/>
      </p:nvGrpSpPr>
      <p:grpSpPr>
        <a:xfrm>
          <a:off x="0" y="0"/>
          <a:ext cx="0" cy="0"/>
          <a:chOff x="0" y="0"/>
          <a:chExt cx="0" cy="0"/>
        </a:xfrm>
      </p:grpSpPr>
      <p:sp>
        <p:nvSpPr>
          <p:cNvPr id="1144" name="Google Shape;1144;p5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Understanding Structure</a:t>
            </a:r>
            <a:endParaRPr/>
          </a:p>
        </p:txBody>
      </p:sp>
      <p:sp>
        <p:nvSpPr>
          <p:cNvPr id="1145" name="Google Shape;1145;p55"/>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980000"/>
                </a:solidFill>
              </a:rPr>
              <a:t>We might, from the micro-foundations of agonistic encounters, build up to social structure (Chase 1982)</a:t>
            </a:r>
            <a:endParaRPr>
              <a:solidFill>
                <a:srgbClr val="980000"/>
              </a:solidFill>
            </a:endParaRPr>
          </a:p>
          <a:p>
            <a:pPr indent="0" lvl="0" marL="0" rtl="0" algn="ctr">
              <a:spcBef>
                <a:spcPts val="1600"/>
              </a:spcBef>
              <a:spcAft>
                <a:spcPts val="0"/>
              </a:spcAft>
              <a:buNone/>
            </a:pPr>
            <a:r>
              <a:t/>
            </a:r>
            <a:endParaRPr/>
          </a:p>
          <a:p>
            <a:pPr indent="0" lvl="0" marL="0" rtl="0" algn="l">
              <a:spcBef>
                <a:spcPts val="1600"/>
              </a:spcBef>
              <a:spcAft>
                <a:spcPts val="1600"/>
              </a:spcAft>
              <a:buNone/>
            </a:pPr>
            <a:r>
              <a:rPr lang="en"/>
              <a:t>Key point is that intransitive triads become transitive in such situations</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49" name="Shape 1149"/>
        <p:cNvGrpSpPr/>
        <p:nvPr/>
      </p:nvGrpSpPr>
      <p:grpSpPr>
        <a:xfrm>
          <a:off x="0" y="0"/>
          <a:ext cx="0" cy="0"/>
          <a:chOff x="0" y="0"/>
          <a:chExt cx="0" cy="0"/>
        </a:xfrm>
      </p:grpSpPr>
      <p:sp>
        <p:nvSpPr>
          <p:cNvPr id="1150" name="Google Shape;1150;p5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Intransitive to Transitive</a:t>
            </a:r>
            <a:endParaRPr/>
          </a:p>
        </p:txBody>
      </p:sp>
      <p:sp>
        <p:nvSpPr>
          <p:cNvPr id="1151" name="Google Shape;1151;p56"/>
          <p:cNvSpPr txBox="1"/>
          <p:nvPr>
            <p:ph idx="1" type="body"/>
          </p:nvPr>
        </p:nvSpPr>
        <p:spPr>
          <a:xfrm>
            <a:off x="250700" y="1225225"/>
            <a:ext cx="8520600" cy="335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Red is a really important node</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1600"/>
              </a:spcAft>
              <a:buNone/>
            </a:pPr>
            <a:r>
              <a:rPr lang="en"/>
              <a:t>https://www.youtube.com/watch?v=zTqmiJ4LW9c</a:t>
            </a:r>
            <a:endParaRPr/>
          </a:p>
        </p:txBody>
      </p:sp>
      <p:sp>
        <p:nvSpPr>
          <p:cNvPr id="1152" name="Google Shape;1152;p56"/>
          <p:cNvSpPr/>
          <p:nvPr/>
        </p:nvSpPr>
        <p:spPr>
          <a:xfrm>
            <a:off x="672925" y="1876475"/>
            <a:ext cx="569400" cy="508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56"/>
          <p:cNvSpPr/>
          <p:nvPr/>
        </p:nvSpPr>
        <p:spPr>
          <a:xfrm>
            <a:off x="540700" y="2882725"/>
            <a:ext cx="569400" cy="508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56"/>
          <p:cNvSpPr/>
          <p:nvPr/>
        </p:nvSpPr>
        <p:spPr>
          <a:xfrm>
            <a:off x="1821425" y="2770850"/>
            <a:ext cx="569400" cy="508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56"/>
          <p:cNvSpPr/>
          <p:nvPr/>
        </p:nvSpPr>
        <p:spPr>
          <a:xfrm>
            <a:off x="2522750" y="1876475"/>
            <a:ext cx="569400" cy="508200"/>
          </a:xfrm>
          <a:prstGeom prst="ellipse">
            <a:avLst/>
          </a:prstGeom>
          <a:solidFill>
            <a:srgbClr val="98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56"/>
          <p:cNvSpPr/>
          <p:nvPr/>
        </p:nvSpPr>
        <p:spPr>
          <a:xfrm>
            <a:off x="6995475" y="1713750"/>
            <a:ext cx="569400" cy="508200"/>
          </a:xfrm>
          <a:prstGeom prst="ellipse">
            <a:avLst/>
          </a:prstGeom>
          <a:solidFill>
            <a:srgbClr val="98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56"/>
          <p:cNvSpPr/>
          <p:nvPr/>
        </p:nvSpPr>
        <p:spPr>
          <a:xfrm>
            <a:off x="6344850" y="2770850"/>
            <a:ext cx="569400" cy="508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56"/>
          <p:cNvSpPr/>
          <p:nvPr/>
        </p:nvSpPr>
        <p:spPr>
          <a:xfrm>
            <a:off x="4830200" y="2933425"/>
            <a:ext cx="569400" cy="508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56"/>
          <p:cNvSpPr/>
          <p:nvPr/>
        </p:nvSpPr>
        <p:spPr>
          <a:xfrm>
            <a:off x="5084225" y="1947325"/>
            <a:ext cx="569400" cy="508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60" name="Google Shape;1160;p56"/>
          <p:cNvCxnSpPr>
            <a:stCxn id="1152" idx="5"/>
            <a:endCxn id="1154" idx="1"/>
          </p:cNvCxnSpPr>
          <p:nvPr/>
        </p:nvCxnSpPr>
        <p:spPr>
          <a:xfrm>
            <a:off x="1158938" y="2310251"/>
            <a:ext cx="745800" cy="534900"/>
          </a:xfrm>
          <a:prstGeom prst="straightConnector1">
            <a:avLst/>
          </a:prstGeom>
          <a:noFill/>
          <a:ln cap="flat" cmpd="sng" w="28575">
            <a:solidFill>
              <a:srgbClr val="000000"/>
            </a:solidFill>
            <a:prstDash val="solid"/>
            <a:round/>
            <a:headEnd len="med" w="med" type="none"/>
            <a:tailEnd len="med" w="med" type="triangle"/>
          </a:ln>
        </p:spPr>
      </p:cxnSp>
      <p:cxnSp>
        <p:nvCxnSpPr>
          <p:cNvPr id="1161" name="Google Shape;1161;p56"/>
          <p:cNvCxnSpPr>
            <a:endCxn id="1153" idx="6"/>
          </p:cNvCxnSpPr>
          <p:nvPr/>
        </p:nvCxnSpPr>
        <p:spPr>
          <a:xfrm flipH="1">
            <a:off x="1110100" y="3114025"/>
            <a:ext cx="711300" cy="22800"/>
          </a:xfrm>
          <a:prstGeom prst="straightConnector1">
            <a:avLst/>
          </a:prstGeom>
          <a:noFill/>
          <a:ln cap="flat" cmpd="sng" w="28575">
            <a:solidFill>
              <a:srgbClr val="000000"/>
            </a:solidFill>
            <a:prstDash val="solid"/>
            <a:round/>
            <a:headEnd len="med" w="med" type="none"/>
            <a:tailEnd len="med" w="med" type="triangle"/>
          </a:ln>
        </p:spPr>
      </p:cxnSp>
      <p:cxnSp>
        <p:nvCxnSpPr>
          <p:cNvPr id="1162" name="Google Shape;1162;p56"/>
          <p:cNvCxnSpPr>
            <a:stCxn id="1153" idx="0"/>
            <a:endCxn id="1152" idx="4"/>
          </p:cNvCxnSpPr>
          <p:nvPr/>
        </p:nvCxnSpPr>
        <p:spPr>
          <a:xfrm flipH="1" rot="10800000">
            <a:off x="825400" y="2384725"/>
            <a:ext cx="132300" cy="498000"/>
          </a:xfrm>
          <a:prstGeom prst="straightConnector1">
            <a:avLst/>
          </a:prstGeom>
          <a:noFill/>
          <a:ln cap="flat" cmpd="sng" w="28575">
            <a:solidFill>
              <a:srgbClr val="000000"/>
            </a:solidFill>
            <a:prstDash val="solid"/>
            <a:round/>
            <a:headEnd len="med" w="med" type="none"/>
            <a:tailEnd len="med" w="med" type="triangle"/>
          </a:ln>
        </p:spPr>
      </p:cxnSp>
      <p:cxnSp>
        <p:nvCxnSpPr>
          <p:cNvPr id="1163" name="Google Shape;1163;p56"/>
          <p:cNvCxnSpPr/>
          <p:nvPr/>
        </p:nvCxnSpPr>
        <p:spPr>
          <a:xfrm>
            <a:off x="1367276" y="1933976"/>
            <a:ext cx="982800" cy="23700"/>
          </a:xfrm>
          <a:prstGeom prst="straightConnector1">
            <a:avLst/>
          </a:prstGeom>
          <a:noFill/>
          <a:ln cap="flat" cmpd="sng" w="28575">
            <a:solidFill>
              <a:srgbClr val="000000"/>
            </a:solidFill>
            <a:prstDash val="solid"/>
            <a:round/>
            <a:headEnd len="med" w="med" type="none"/>
            <a:tailEnd len="med" w="med" type="triangle"/>
          </a:ln>
        </p:spPr>
      </p:cxnSp>
      <p:cxnSp>
        <p:nvCxnSpPr>
          <p:cNvPr id="1164" name="Google Shape;1164;p56"/>
          <p:cNvCxnSpPr/>
          <p:nvPr/>
        </p:nvCxnSpPr>
        <p:spPr>
          <a:xfrm rot="10800000">
            <a:off x="1404913" y="2221951"/>
            <a:ext cx="892200" cy="0"/>
          </a:xfrm>
          <a:prstGeom prst="straightConnector1">
            <a:avLst/>
          </a:prstGeom>
          <a:noFill/>
          <a:ln cap="flat" cmpd="sng" w="28575">
            <a:solidFill>
              <a:srgbClr val="000000"/>
            </a:solidFill>
            <a:prstDash val="solid"/>
            <a:round/>
            <a:headEnd len="med" w="med" type="none"/>
            <a:tailEnd len="med" w="med" type="triangle"/>
          </a:ln>
        </p:spPr>
      </p:cxnSp>
      <p:cxnSp>
        <p:nvCxnSpPr>
          <p:cNvPr id="1165" name="Google Shape;1165;p56"/>
          <p:cNvCxnSpPr/>
          <p:nvPr/>
        </p:nvCxnSpPr>
        <p:spPr>
          <a:xfrm flipH="1" rot="10800000">
            <a:off x="5163625" y="2455525"/>
            <a:ext cx="134400" cy="484800"/>
          </a:xfrm>
          <a:prstGeom prst="straightConnector1">
            <a:avLst/>
          </a:prstGeom>
          <a:noFill/>
          <a:ln cap="flat" cmpd="sng" w="28575">
            <a:solidFill>
              <a:srgbClr val="000000"/>
            </a:solidFill>
            <a:prstDash val="solid"/>
            <a:round/>
            <a:headEnd len="med" w="med" type="none"/>
            <a:tailEnd len="med" w="med" type="triangle"/>
          </a:ln>
        </p:spPr>
      </p:cxnSp>
      <p:cxnSp>
        <p:nvCxnSpPr>
          <p:cNvPr id="1166" name="Google Shape;1166;p56"/>
          <p:cNvCxnSpPr>
            <a:endCxn id="1159" idx="5"/>
          </p:cNvCxnSpPr>
          <p:nvPr/>
        </p:nvCxnSpPr>
        <p:spPr>
          <a:xfrm rot="10800000">
            <a:off x="5570238" y="2381101"/>
            <a:ext cx="915000" cy="407400"/>
          </a:xfrm>
          <a:prstGeom prst="straightConnector1">
            <a:avLst/>
          </a:prstGeom>
          <a:noFill/>
          <a:ln cap="flat" cmpd="sng" w="28575">
            <a:solidFill>
              <a:srgbClr val="000000"/>
            </a:solidFill>
            <a:prstDash val="solid"/>
            <a:round/>
            <a:headEnd len="med" w="med" type="none"/>
            <a:tailEnd len="med" w="med" type="triangle"/>
          </a:ln>
        </p:spPr>
      </p:cxnSp>
      <p:cxnSp>
        <p:nvCxnSpPr>
          <p:cNvPr id="1167" name="Google Shape;1167;p56"/>
          <p:cNvCxnSpPr>
            <a:stCxn id="1157" idx="7"/>
          </p:cNvCxnSpPr>
          <p:nvPr/>
        </p:nvCxnSpPr>
        <p:spPr>
          <a:xfrm flipH="1" rot="10800000">
            <a:off x="6830863" y="2313074"/>
            <a:ext cx="296700" cy="532200"/>
          </a:xfrm>
          <a:prstGeom prst="straightConnector1">
            <a:avLst/>
          </a:prstGeom>
          <a:noFill/>
          <a:ln cap="flat" cmpd="sng" w="28575">
            <a:solidFill>
              <a:srgbClr val="000000"/>
            </a:solidFill>
            <a:prstDash val="solid"/>
            <a:round/>
            <a:headEnd len="med" w="med" type="none"/>
            <a:tailEnd len="med" w="med" type="triangle"/>
          </a:ln>
        </p:spPr>
      </p:cxnSp>
      <p:cxnSp>
        <p:nvCxnSpPr>
          <p:cNvPr id="1168" name="Google Shape;1168;p56"/>
          <p:cNvCxnSpPr>
            <a:endCxn id="1158" idx="6"/>
          </p:cNvCxnSpPr>
          <p:nvPr/>
        </p:nvCxnSpPr>
        <p:spPr>
          <a:xfrm flipH="1">
            <a:off x="5399600" y="3114025"/>
            <a:ext cx="965400" cy="73500"/>
          </a:xfrm>
          <a:prstGeom prst="straightConnector1">
            <a:avLst/>
          </a:prstGeom>
          <a:noFill/>
          <a:ln cap="flat" cmpd="sng" w="28575">
            <a:solidFill>
              <a:srgbClr val="000000"/>
            </a:solidFill>
            <a:prstDash val="solid"/>
            <a:round/>
            <a:headEnd len="med" w="med" type="none"/>
            <a:tailEnd len="med" w="med" type="triangle"/>
          </a:ln>
        </p:spPr>
      </p:cxnSp>
      <p:cxnSp>
        <p:nvCxnSpPr>
          <p:cNvPr id="1169" name="Google Shape;1169;p56"/>
          <p:cNvCxnSpPr>
            <a:stCxn id="1156" idx="2"/>
            <a:endCxn id="1159" idx="6"/>
          </p:cNvCxnSpPr>
          <p:nvPr/>
        </p:nvCxnSpPr>
        <p:spPr>
          <a:xfrm flipH="1">
            <a:off x="5653575" y="1967850"/>
            <a:ext cx="1341900" cy="233700"/>
          </a:xfrm>
          <a:prstGeom prst="straightConnector1">
            <a:avLst/>
          </a:prstGeom>
          <a:noFill/>
          <a:ln cap="flat" cmpd="sng" w="28575">
            <a:solidFill>
              <a:srgbClr val="000000"/>
            </a:solidFill>
            <a:prstDash val="solid"/>
            <a:round/>
            <a:headEnd len="med" w="med" type="none"/>
            <a:tailEnd len="med" w="med" type="triangle"/>
          </a:ln>
        </p:spPr>
      </p:cxnSp>
      <p:cxnSp>
        <p:nvCxnSpPr>
          <p:cNvPr id="1170" name="Google Shape;1170;p56"/>
          <p:cNvCxnSpPr>
            <a:endCxn id="1156" idx="1"/>
          </p:cNvCxnSpPr>
          <p:nvPr/>
        </p:nvCxnSpPr>
        <p:spPr>
          <a:xfrm flipH="1" rot="10800000">
            <a:off x="5570162" y="1788174"/>
            <a:ext cx="1508700" cy="243600"/>
          </a:xfrm>
          <a:prstGeom prst="straightConnector1">
            <a:avLst/>
          </a:prstGeom>
          <a:noFill/>
          <a:ln cap="flat" cmpd="sng" w="28575">
            <a:solidFill>
              <a:srgbClr val="000000"/>
            </a:solidFill>
            <a:prstDash val="solid"/>
            <a:round/>
            <a:headEnd len="med" w="med" type="none"/>
            <a:tailEnd len="med" w="med" type="triangle"/>
          </a:ln>
        </p:spPr>
      </p:cxnSp>
      <p:cxnSp>
        <p:nvCxnSpPr>
          <p:cNvPr id="1171" name="Google Shape;1171;p56"/>
          <p:cNvCxnSpPr/>
          <p:nvPr/>
        </p:nvCxnSpPr>
        <p:spPr>
          <a:xfrm>
            <a:off x="3285325" y="2647300"/>
            <a:ext cx="1250400" cy="0"/>
          </a:xfrm>
          <a:prstGeom prst="straightConnector1">
            <a:avLst/>
          </a:prstGeom>
          <a:noFill/>
          <a:ln cap="flat" cmpd="sng" w="152400">
            <a:solidFill>
              <a:srgbClr val="000000"/>
            </a:solidFill>
            <a:prstDash val="solid"/>
            <a:round/>
            <a:headEnd len="med" w="med" type="none"/>
            <a:tailEnd len="med" w="med" type="triangle"/>
          </a:ln>
        </p:spPr>
      </p:cxn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75" name="Shape 1175"/>
        <p:cNvGrpSpPr/>
        <p:nvPr/>
      </p:nvGrpSpPr>
      <p:grpSpPr>
        <a:xfrm>
          <a:off x="0" y="0"/>
          <a:ext cx="0" cy="0"/>
          <a:chOff x="0" y="0"/>
          <a:chExt cx="0" cy="0"/>
        </a:xfrm>
      </p:grpSpPr>
      <p:sp>
        <p:nvSpPr>
          <p:cNvPr id="1176" name="Google Shape;1176;p5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Hierarchy as Exchange</a:t>
            </a:r>
            <a:endParaRPr/>
          </a:p>
        </p:txBody>
      </p:sp>
      <p:sp>
        <p:nvSpPr>
          <p:cNvPr id="1177" name="Google Shape;1177;p57"/>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Roger Gould’s Model of Relationship’s as Exchange</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rPr i="1" lang="en">
                <a:solidFill>
                  <a:srgbClr val="980000"/>
                </a:solidFill>
              </a:rPr>
              <a:t>u</a:t>
            </a:r>
            <a:r>
              <a:rPr lang="en">
                <a:solidFill>
                  <a:srgbClr val="980000"/>
                </a:solidFill>
              </a:rPr>
              <a:t> is utility, </a:t>
            </a:r>
            <a:r>
              <a:rPr i="1" lang="en">
                <a:solidFill>
                  <a:srgbClr val="980000"/>
                </a:solidFill>
              </a:rPr>
              <a:t>a</a:t>
            </a:r>
            <a:r>
              <a:rPr lang="en">
                <a:solidFill>
                  <a:srgbClr val="980000"/>
                </a:solidFill>
              </a:rPr>
              <a:t> is the tie strength/deference, </a:t>
            </a:r>
            <a:r>
              <a:rPr i="1" lang="en">
                <a:solidFill>
                  <a:srgbClr val="980000"/>
                </a:solidFill>
              </a:rPr>
              <a:t>q</a:t>
            </a:r>
            <a:r>
              <a:rPr lang="en">
                <a:solidFill>
                  <a:srgbClr val="980000"/>
                </a:solidFill>
              </a:rPr>
              <a:t> is quality, </a:t>
            </a:r>
            <a:r>
              <a:rPr i="1" lang="en">
                <a:solidFill>
                  <a:srgbClr val="980000"/>
                </a:solidFill>
              </a:rPr>
              <a:t>s</a:t>
            </a:r>
            <a:r>
              <a:rPr lang="en">
                <a:solidFill>
                  <a:srgbClr val="980000"/>
                </a:solidFill>
              </a:rPr>
              <a:t> is desire for reciprocity</a:t>
            </a:r>
            <a:endParaRPr>
              <a:solidFill>
                <a:srgbClr val="980000"/>
              </a:solidFill>
            </a:endParaRPr>
          </a:p>
          <a:p>
            <a:pPr indent="0" lvl="0" marL="0" rtl="0" algn="l">
              <a:spcBef>
                <a:spcPts val="1600"/>
              </a:spcBef>
              <a:spcAft>
                <a:spcPts val="1600"/>
              </a:spcAft>
              <a:buNone/>
            </a:pPr>
            <a:r>
              <a:rPr lang="en">
                <a:solidFill>
                  <a:srgbClr val="980000"/>
                </a:solidFill>
              </a:rPr>
              <a:t>In end, the model is driven by the quality of actors and deference</a:t>
            </a:r>
            <a:endParaRPr>
              <a:solidFill>
                <a:srgbClr val="980000"/>
              </a:solidFill>
            </a:endParaRPr>
          </a:p>
        </p:txBody>
      </p:sp>
      <p:pic>
        <p:nvPicPr>
          <p:cNvPr id="1178" name="Google Shape;1178;p57"/>
          <p:cNvPicPr preferRelativeResize="0"/>
          <p:nvPr/>
        </p:nvPicPr>
        <p:blipFill>
          <a:blip r:embed="rId3">
            <a:alphaModFix/>
          </a:blip>
          <a:stretch>
            <a:fillRect/>
          </a:stretch>
        </p:blipFill>
        <p:spPr>
          <a:xfrm>
            <a:off x="2067450" y="2262550"/>
            <a:ext cx="5009100" cy="101670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82" name="Shape 1182"/>
        <p:cNvGrpSpPr/>
        <p:nvPr/>
      </p:nvGrpSpPr>
      <p:grpSpPr>
        <a:xfrm>
          <a:off x="0" y="0"/>
          <a:ext cx="0" cy="0"/>
          <a:chOff x="0" y="0"/>
          <a:chExt cx="0" cy="0"/>
        </a:xfrm>
      </p:grpSpPr>
      <p:sp>
        <p:nvSpPr>
          <p:cNvPr id="1183" name="Google Shape;1183;p5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Find that Results Vary </a:t>
            </a:r>
            <a:endParaRPr/>
          </a:p>
        </p:txBody>
      </p:sp>
      <p:pic>
        <p:nvPicPr>
          <p:cNvPr id="1184" name="Google Shape;1184;p58"/>
          <p:cNvPicPr preferRelativeResize="0"/>
          <p:nvPr/>
        </p:nvPicPr>
        <p:blipFill>
          <a:blip r:embed="rId3">
            <a:alphaModFix/>
          </a:blip>
          <a:stretch>
            <a:fillRect/>
          </a:stretch>
        </p:blipFill>
        <p:spPr>
          <a:xfrm>
            <a:off x="1505113" y="1147225"/>
            <a:ext cx="6133770" cy="377065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88" name="Shape 1188"/>
        <p:cNvGrpSpPr/>
        <p:nvPr/>
      </p:nvGrpSpPr>
      <p:grpSpPr>
        <a:xfrm>
          <a:off x="0" y="0"/>
          <a:ext cx="0" cy="0"/>
          <a:chOff x="0" y="0"/>
          <a:chExt cx="0" cy="0"/>
        </a:xfrm>
      </p:grpSpPr>
      <p:sp>
        <p:nvSpPr>
          <p:cNvPr id="1189" name="Google Shape;1189;p5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You Always Hurt the One You Love</a:t>
            </a:r>
            <a:endParaRPr/>
          </a:p>
        </p:txBody>
      </p:sp>
      <p:sp>
        <p:nvSpPr>
          <p:cNvPr id="1190" name="Google Shape;1190;p59"/>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Obvious explanation:</a:t>
            </a:r>
            <a:r>
              <a:rPr lang="en"/>
              <a:t> Bully’s target the weak because they themselves are insecure, mean people</a:t>
            </a:r>
            <a:endParaRPr/>
          </a:p>
          <a:p>
            <a:pPr indent="0" lvl="0" marL="0" rtl="0" algn="l">
              <a:spcBef>
                <a:spcPts val="1600"/>
              </a:spcBef>
              <a:spcAft>
                <a:spcPts val="0"/>
              </a:spcAft>
              <a:buNone/>
            </a:pPr>
            <a:r>
              <a:rPr b="1" lang="en"/>
              <a:t>Sociology explanation:</a:t>
            </a:r>
            <a:r>
              <a:rPr lang="en"/>
              <a:t> Most bullying is done by your friends because they are insecure, mean people. But aren’t we all?</a:t>
            </a:r>
            <a:endParaRPr/>
          </a:p>
          <a:p>
            <a:pPr indent="0" lvl="0" marL="0" rtl="0" algn="l">
              <a:spcBef>
                <a:spcPts val="1600"/>
              </a:spcBef>
              <a:spcAft>
                <a:spcPts val="1600"/>
              </a:spcAft>
              <a:buNone/>
            </a:pPr>
            <a:r>
              <a:t/>
            </a:r>
            <a:endParaRPr/>
          </a:p>
        </p:txBody>
      </p:sp>
      <p:sp>
        <p:nvSpPr>
          <p:cNvPr id="1191" name="Google Shape;1191;p59"/>
          <p:cNvSpPr txBox="1"/>
          <p:nvPr/>
        </p:nvSpPr>
        <p:spPr>
          <a:xfrm>
            <a:off x="6304350" y="4671900"/>
            <a:ext cx="3476700" cy="47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Recap of </a:t>
            </a:r>
            <a:r>
              <a:rPr lang="en">
                <a:latin typeface="Open Sans"/>
                <a:ea typeface="Open Sans"/>
                <a:cs typeface="Open Sans"/>
                <a:sym typeface="Open Sans"/>
              </a:rPr>
              <a:t>Felmlee and Faris 2016</a:t>
            </a:r>
            <a:endParaRPr>
              <a:latin typeface="Open Sans"/>
              <a:ea typeface="Open Sans"/>
              <a:cs typeface="Open Sans"/>
              <a:sym typeface="Open Sans"/>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95" name="Shape 1195"/>
        <p:cNvGrpSpPr/>
        <p:nvPr/>
      </p:nvGrpSpPr>
      <p:grpSpPr>
        <a:xfrm>
          <a:off x="0" y="0"/>
          <a:ext cx="0" cy="0"/>
          <a:chOff x="0" y="0"/>
          <a:chExt cx="0" cy="0"/>
        </a:xfrm>
      </p:grpSpPr>
      <p:sp>
        <p:nvSpPr>
          <p:cNvPr id="1196" name="Google Shape;1196;p6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Because It Works (But It’s Still Mean)</a:t>
            </a:r>
            <a:endParaRPr/>
          </a:p>
        </p:txBody>
      </p:sp>
      <p:sp>
        <p:nvSpPr>
          <p:cNvPr id="1197" name="Google Shape;1197;p60"/>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Why Go After Friends and Dating Partners?</a:t>
            </a:r>
            <a:endParaRPr/>
          </a:p>
          <a:p>
            <a:pPr indent="0" lvl="0" marL="0" rtl="0" algn="ctr">
              <a:spcBef>
                <a:spcPts val="1600"/>
              </a:spcBef>
              <a:spcAft>
                <a:spcPts val="1600"/>
              </a:spcAft>
              <a:buNone/>
            </a:pPr>
            <a:r>
              <a:rPr lang="en">
                <a:solidFill>
                  <a:srgbClr val="980000"/>
                </a:solidFill>
              </a:rPr>
              <a:t>We can think of rumors as agonistic encounters where we are interested in changing the symmetry of relationships</a:t>
            </a:r>
            <a:endParaRPr>
              <a:solidFill>
                <a:srgbClr val="980000"/>
              </a:solidFill>
            </a:endParaRPr>
          </a:p>
        </p:txBody>
      </p:sp>
      <p:sp>
        <p:nvSpPr>
          <p:cNvPr id="1198" name="Google Shape;1198;p60"/>
          <p:cNvSpPr txBox="1"/>
          <p:nvPr/>
        </p:nvSpPr>
        <p:spPr>
          <a:xfrm>
            <a:off x="7046400" y="4671900"/>
            <a:ext cx="2734500" cy="47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Felmlee and Faris 2016</a:t>
            </a:r>
            <a:endParaRPr>
              <a:latin typeface="Open Sans"/>
              <a:ea typeface="Open Sans"/>
              <a:cs typeface="Open Sans"/>
              <a:sym typeface="Open Sans"/>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02" name="Shape 1202"/>
        <p:cNvGrpSpPr/>
        <p:nvPr/>
      </p:nvGrpSpPr>
      <p:grpSpPr>
        <a:xfrm>
          <a:off x="0" y="0"/>
          <a:ext cx="0" cy="0"/>
          <a:chOff x="0" y="0"/>
          <a:chExt cx="0" cy="0"/>
        </a:xfrm>
      </p:grpSpPr>
      <p:sp>
        <p:nvSpPr>
          <p:cNvPr id="1203" name="Google Shape;1203;p61"/>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overlaying of positive and negative ties</a:t>
            </a:r>
            <a:endParaRPr/>
          </a:p>
        </p:txBody>
      </p:sp>
      <p:sp>
        <p:nvSpPr>
          <p:cNvPr id="1204" name="Google Shape;1204;p61"/>
          <p:cNvSpPr txBox="1"/>
          <p:nvPr>
            <p:ph idx="1" type="body"/>
          </p:nvPr>
        </p:nvSpPr>
        <p:spPr>
          <a:xfrm>
            <a:off x="311700" y="1225225"/>
            <a:ext cx="53868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Commonalities between positive and negative ties in social networks</a:t>
            </a:r>
            <a:endParaRPr/>
          </a:p>
          <a:p>
            <a:pPr indent="-317500" lvl="1" marL="914400" rtl="0" algn="l">
              <a:spcBef>
                <a:spcPts val="0"/>
              </a:spcBef>
              <a:spcAft>
                <a:spcPts val="0"/>
              </a:spcAft>
              <a:buSzPts val="1400"/>
              <a:buChar char="○"/>
            </a:pPr>
            <a:r>
              <a:rPr lang="en"/>
              <a:t>Friends and Enemies are:</a:t>
            </a:r>
            <a:endParaRPr/>
          </a:p>
          <a:p>
            <a:pPr indent="-317500" lvl="2" marL="1371600" rtl="0" algn="l">
              <a:spcBef>
                <a:spcPts val="0"/>
              </a:spcBef>
              <a:spcAft>
                <a:spcPts val="0"/>
              </a:spcAft>
              <a:buSzPts val="1400"/>
              <a:buChar char="■"/>
            </a:pPr>
            <a:r>
              <a:rPr lang="en"/>
              <a:t>Socially close to us in some way</a:t>
            </a:r>
            <a:endParaRPr/>
          </a:p>
          <a:p>
            <a:pPr indent="-317500" lvl="2" marL="1371600" rtl="0" algn="l">
              <a:spcBef>
                <a:spcPts val="0"/>
              </a:spcBef>
              <a:spcAft>
                <a:spcPts val="0"/>
              </a:spcAft>
              <a:buSzPts val="1400"/>
              <a:buChar char="■"/>
            </a:pPr>
            <a:r>
              <a:rPr lang="en"/>
              <a:t>We compete with them for the attention of </a:t>
            </a:r>
            <a:r>
              <a:rPr lang="en"/>
              <a:t>others</a:t>
            </a:r>
            <a:r>
              <a:rPr lang="en"/>
              <a:t> who we are also competing with (clubs, workplaces, teams)</a:t>
            </a:r>
            <a:endParaRPr/>
          </a:p>
          <a:p>
            <a:pPr indent="-317500" lvl="2" marL="1371600" rtl="0" algn="l">
              <a:spcBef>
                <a:spcPts val="0"/>
              </a:spcBef>
              <a:spcAft>
                <a:spcPts val="0"/>
              </a:spcAft>
              <a:buSzPts val="1400"/>
              <a:buChar char="■"/>
            </a:pPr>
            <a:r>
              <a:rPr lang="en"/>
              <a:t>We also compete for socially close romantic partners, or remain socially close to them after a breakup</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sp>
        <p:nvSpPr>
          <p:cNvPr id="1205" name="Google Shape;1205;p61"/>
          <p:cNvSpPr txBox="1"/>
          <p:nvPr/>
        </p:nvSpPr>
        <p:spPr>
          <a:xfrm>
            <a:off x="7046400" y="4671900"/>
            <a:ext cx="2734500" cy="47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Felmlee and Faris 2016</a:t>
            </a:r>
            <a:endParaRPr>
              <a:latin typeface="Open Sans"/>
              <a:ea typeface="Open Sans"/>
              <a:cs typeface="Open Sans"/>
              <a:sym typeface="Open Sans"/>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09" name="Shape 1209"/>
        <p:cNvGrpSpPr/>
        <p:nvPr/>
      </p:nvGrpSpPr>
      <p:grpSpPr>
        <a:xfrm>
          <a:off x="0" y="0"/>
          <a:ext cx="0" cy="0"/>
          <a:chOff x="0" y="0"/>
          <a:chExt cx="0" cy="0"/>
        </a:xfrm>
      </p:grpSpPr>
      <p:pic>
        <p:nvPicPr>
          <p:cNvPr id="1210" name="Google Shape;1210;p62"/>
          <p:cNvPicPr preferRelativeResize="0"/>
          <p:nvPr/>
        </p:nvPicPr>
        <p:blipFill>
          <a:blip r:embed="rId3">
            <a:alphaModFix/>
          </a:blip>
          <a:stretch>
            <a:fillRect/>
          </a:stretch>
        </p:blipFill>
        <p:spPr>
          <a:xfrm>
            <a:off x="1175750" y="0"/>
            <a:ext cx="7029450" cy="4827325"/>
          </a:xfrm>
          <a:prstGeom prst="rect">
            <a:avLst/>
          </a:prstGeom>
          <a:noFill/>
          <a:ln>
            <a:noFill/>
          </a:ln>
        </p:spPr>
      </p:pic>
      <p:sp>
        <p:nvSpPr>
          <p:cNvPr id="1211" name="Google Shape;1211;p62"/>
          <p:cNvSpPr txBox="1"/>
          <p:nvPr/>
        </p:nvSpPr>
        <p:spPr>
          <a:xfrm>
            <a:off x="7046400" y="4671900"/>
            <a:ext cx="2734500" cy="47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Felmlee and Faris 2016</a:t>
            </a:r>
            <a:endParaRPr>
              <a:latin typeface="Open Sans"/>
              <a:ea typeface="Open Sans"/>
              <a:cs typeface="Open Sans"/>
              <a:sym typeface="Open Sans"/>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5" name="Shape 1215"/>
        <p:cNvGrpSpPr/>
        <p:nvPr/>
      </p:nvGrpSpPr>
      <p:grpSpPr>
        <a:xfrm>
          <a:off x="0" y="0"/>
          <a:ext cx="0" cy="0"/>
          <a:chOff x="0" y="0"/>
          <a:chExt cx="0" cy="0"/>
        </a:xfrm>
      </p:grpSpPr>
      <p:sp>
        <p:nvSpPr>
          <p:cNvPr id="1216" name="Google Shape;1216;p63"/>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Who are Targets of Rumors?</a:t>
            </a:r>
            <a:endParaRPr/>
          </a:p>
        </p:txBody>
      </p:sp>
      <p:sp>
        <p:nvSpPr>
          <p:cNvPr id="1217" name="Google Shape;1217;p63"/>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-Same Grade 8-11 (not 12)</a:t>
            </a:r>
            <a:endParaRPr/>
          </a:p>
          <a:p>
            <a:pPr indent="0" lvl="0" marL="0" rtl="0" algn="l">
              <a:spcBef>
                <a:spcPts val="1600"/>
              </a:spcBef>
              <a:spcAft>
                <a:spcPts val="0"/>
              </a:spcAft>
              <a:buNone/>
            </a:pPr>
            <a:r>
              <a:rPr lang="en"/>
              <a:t>-In Grades 9-11 (not 12)</a:t>
            </a:r>
            <a:endParaRPr/>
          </a:p>
          <a:p>
            <a:pPr indent="0" lvl="0" marL="0" rtl="0" algn="l">
              <a:spcBef>
                <a:spcPts val="1600"/>
              </a:spcBef>
              <a:spcAft>
                <a:spcPts val="0"/>
              </a:spcAft>
              <a:buNone/>
            </a:pPr>
            <a:r>
              <a:rPr lang="en"/>
              <a:t>-Female</a:t>
            </a:r>
            <a:endParaRPr/>
          </a:p>
          <a:p>
            <a:pPr indent="0" lvl="0" marL="0" rtl="0" algn="l">
              <a:spcBef>
                <a:spcPts val="1600"/>
              </a:spcBef>
              <a:spcAft>
                <a:spcPts val="0"/>
              </a:spcAft>
              <a:buNone/>
            </a:pPr>
            <a:r>
              <a:rPr lang="en"/>
              <a:t>-LGBTQ</a:t>
            </a:r>
            <a:endParaRPr/>
          </a:p>
          <a:p>
            <a:pPr indent="0" lvl="0" marL="0" rtl="0" algn="l">
              <a:spcBef>
                <a:spcPts val="1600"/>
              </a:spcBef>
              <a:spcAft>
                <a:spcPts val="0"/>
              </a:spcAft>
              <a:buNone/>
            </a:pPr>
            <a:r>
              <a:rPr lang="en"/>
              <a:t>-Friends</a:t>
            </a:r>
            <a:endParaRPr/>
          </a:p>
          <a:p>
            <a:pPr indent="0" lvl="0" marL="0" rtl="0" algn="l">
              <a:spcBef>
                <a:spcPts val="1600"/>
              </a:spcBef>
              <a:spcAft>
                <a:spcPts val="0"/>
              </a:spcAft>
              <a:buNone/>
            </a:pPr>
            <a:r>
              <a:rPr lang="en"/>
              <a:t>-Dating Partners</a:t>
            </a:r>
            <a:endParaRPr/>
          </a:p>
          <a:p>
            <a:pPr indent="0" lvl="0" marL="0" rtl="0" algn="l">
              <a:spcBef>
                <a:spcPts val="1600"/>
              </a:spcBef>
              <a:spcAft>
                <a:spcPts val="1600"/>
              </a:spcAft>
              <a:buNone/>
            </a:pPr>
            <a:r>
              <a:t/>
            </a:r>
            <a:endParaRPr/>
          </a:p>
        </p:txBody>
      </p:sp>
      <p:sp>
        <p:nvSpPr>
          <p:cNvPr id="1218" name="Google Shape;1218;p63"/>
          <p:cNvSpPr txBox="1"/>
          <p:nvPr/>
        </p:nvSpPr>
        <p:spPr>
          <a:xfrm>
            <a:off x="7046400" y="4671900"/>
            <a:ext cx="2734500" cy="47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Felmlee and Faris 2016</a:t>
            </a:r>
            <a:endParaRPr>
              <a:latin typeface="Open Sans"/>
              <a:ea typeface="Open Sans"/>
              <a:cs typeface="Open Sans"/>
              <a:sym typeface="Open Sans"/>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2" name="Shape 1222"/>
        <p:cNvGrpSpPr/>
        <p:nvPr/>
      </p:nvGrpSpPr>
      <p:grpSpPr>
        <a:xfrm>
          <a:off x="0" y="0"/>
          <a:ext cx="0" cy="0"/>
          <a:chOff x="0" y="0"/>
          <a:chExt cx="0" cy="0"/>
        </a:xfrm>
      </p:grpSpPr>
      <p:pic>
        <p:nvPicPr>
          <p:cNvPr id="1223" name="Google Shape;1223;p64"/>
          <p:cNvPicPr preferRelativeResize="0"/>
          <p:nvPr/>
        </p:nvPicPr>
        <p:blipFill>
          <a:blip r:embed="rId3">
            <a:alphaModFix/>
          </a:blip>
          <a:stretch>
            <a:fillRect/>
          </a:stretch>
        </p:blipFill>
        <p:spPr>
          <a:xfrm>
            <a:off x="669525" y="453450"/>
            <a:ext cx="6437874" cy="4469699"/>
          </a:xfrm>
          <a:prstGeom prst="rect">
            <a:avLst/>
          </a:prstGeom>
          <a:noFill/>
          <a:ln>
            <a:noFill/>
          </a:ln>
        </p:spPr>
      </p:pic>
      <p:sp>
        <p:nvSpPr>
          <p:cNvPr id="1224" name="Google Shape;1224;p64"/>
          <p:cNvSpPr txBox="1"/>
          <p:nvPr/>
        </p:nvSpPr>
        <p:spPr>
          <a:xfrm>
            <a:off x="93525" y="77250"/>
            <a:ext cx="8619900" cy="37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How can we make claims about these different social processes? Math beyond this class</a:t>
            </a:r>
            <a:endParaRPr>
              <a:latin typeface="Open Sans"/>
              <a:ea typeface="Open Sans"/>
              <a:cs typeface="Open Sans"/>
              <a:sym typeface="Open Sans"/>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8" name="Shape 1228"/>
        <p:cNvGrpSpPr/>
        <p:nvPr/>
      </p:nvGrpSpPr>
      <p:grpSpPr>
        <a:xfrm>
          <a:off x="0" y="0"/>
          <a:ext cx="0" cy="0"/>
          <a:chOff x="0" y="0"/>
          <a:chExt cx="0" cy="0"/>
        </a:xfrm>
      </p:grpSpPr>
      <p:sp>
        <p:nvSpPr>
          <p:cNvPr id="1229" name="Google Shape;1229;p65"/>
          <p:cNvSpPr txBox="1"/>
          <p:nvPr>
            <p:ph type="title"/>
          </p:nvPr>
        </p:nvSpPr>
        <p:spPr>
          <a:xfrm>
            <a:off x="311700" y="315925"/>
            <a:ext cx="8520600" cy="1446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Violence Never Solves Anything, </a:t>
            </a:r>
            <a:r>
              <a:rPr lang="en"/>
              <a:t>Except Agonistic Encounters</a:t>
            </a:r>
            <a:endParaRPr/>
          </a:p>
        </p:txBody>
      </p:sp>
      <p:sp>
        <p:nvSpPr>
          <p:cNvPr id="1230" name="Google Shape;1230;p65"/>
          <p:cNvSpPr txBox="1"/>
          <p:nvPr>
            <p:ph idx="1" type="body"/>
          </p:nvPr>
        </p:nvSpPr>
        <p:spPr>
          <a:xfrm>
            <a:off x="311700" y="1925600"/>
            <a:ext cx="8520600" cy="265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Obvious explanation:</a:t>
            </a:r>
            <a:r>
              <a:rPr lang="en"/>
              <a:t> Gangs fight over drug routes</a:t>
            </a:r>
            <a:endParaRPr/>
          </a:p>
          <a:p>
            <a:pPr indent="0" lvl="0" marL="0" rtl="0" algn="l">
              <a:spcBef>
                <a:spcPts val="1600"/>
              </a:spcBef>
              <a:spcAft>
                <a:spcPts val="1600"/>
              </a:spcAft>
              <a:buNone/>
            </a:pPr>
            <a:r>
              <a:rPr b="1" lang="en"/>
              <a:t>Sociology explanation:</a:t>
            </a:r>
            <a:r>
              <a:rPr lang="en"/>
              <a:t> Status competition between local </a:t>
            </a:r>
            <a:r>
              <a:rPr lang="en"/>
              <a:t>groups</a:t>
            </a:r>
            <a:endParaRPr/>
          </a:p>
        </p:txBody>
      </p:sp>
      <p:sp>
        <p:nvSpPr>
          <p:cNvPr id="1231" name="Google Shape;1231;p65"/>
          <p:cNvSpPr txBox="1"/>
          <p:nvPr/>
        </p:nvSpPr>
        <p:spPr>
          <a:xfrm>
            <a:off x="5775775" y="4671900"/>
            <a:ext cx="4452600" cy="47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Recap of </a:t>
            </a:r>
            <a:r>
              <a:rPr lang="en">
                <a:latin typeface="Open Sans"/>
                <a:ea typeface="Open Sans"/>
                <a:cs typeface="Open Sans"/>
                <a:sym typeface="Open Sans"/>
              </a:rPr>
              <a:t>Papachristos 2009</a:t>
            </a:r>
            <a:endParaRPr>
              <a:latin typeface="Open Sans"/>
              <a:ea typeface="Open Sans"/>
              <a:cs typeface="Open Sans"/>
              <a:sym typeface="Open Sans"/>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5" name="Shape 1235"/>
        <p:cNvGrpSpPr/>
        <p:nvPr/>
      </p:nvGrpSpPr>
      <p:grpSpPr>
        <a:xfrm>
          <a:off x="0" y="0"/>
          <a:ext cx="0" cy="0"/>
          <a:chOff x="0" y="0"/>
          <a:chExt cx="0" cy="0"/>
        </a:xfrm>
      </p:grpSpPr>
      <p:sp>
        <p:nvSpPr>
          <p:cNvPr id="1236" name="Google Shape;1236;p6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Why Fighting Occurs</a:t>
            </a:r>
            <a:endParaRPr/>
          </a:p>
        </p:txBody>
      </p:sp>
      <p:sp>
        <p:nvSpPr>
          <p:cNvPr id="1237" name="Google Shape;1237;p66"/>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rgbClr val="980000"/>
              </a:buClr>
              <a:buSzPts val="1800"/>
              <a:buChar char="●"/>
            </a:pPr>
            <a:r>
              <a:rPr lang="en">
                <a:solidFill>
                  <a:srgbClr val="980000"/>
                </a:solidFill>
              </a:rPr>
              <a:t>Gould- Ambiguity leads to violence as unclear hierarchy leads to competition</a:t>
            </a:r>
            <a:endParaRPr>
              <a:solidFill>
                <a:srgbClr val="980000"/>
              </a:solidFill>
            </a:endParaRPr>
          </a:p>
          <a:p>
            <a:pPr indent="-342900" lvl="0" marL="457200" rtl="0" algn="l">
              <a:spcBef>
                <a:spcPts val="0"/>
              </a:spcBef>
              <a:spcAft>
                <a:spcPts val="0"/>
              </a:spcAft>
              <a:buClr>
                <a:srgbClr val="980000"/>
              </a:buClr>
              <a:buSzPts val="1800"/>
              <a:buChar char="●"/>
            </a:pPr>
            <a:r>
              <a:rPr lang="en">
                <a:solidFill>
                  <a:srgbClr val="980000"/>
                </a:solidFill>
              </a:rPr>
              <a:t>Implication that equals are more likely to have competition escalate</a:t>
            </a:r>
            <a:endParaRPr>
              <a:solidFill>
                <a:srgbClr val="980000"/>
              </a:solidFill>
            </a:endParaRPr>
          </a:p>
          <a:p>
            <a:pPr indent="-317500" lvl="1" marL="914400" rtl="0" algn="l">
              <a:spcBef>
                <a:spcPts val="0"/>
              </a:spcBef>
              <a:spcAft>
                <a:spcPts val="0"/>
              </a:spcAft>
              <a:buClr>
                <a:srgbClr val="980000"/>
              </a:buClr>
              <a:buSzPts val="1400"/>
              <a:buChar char="○"/>
            </a:pPr>
            <a:r>
              <a:rPr lang="en"/>
              <a:t>Three types of competitive strategies to consider:</a:t>
            </a:r>
            <a:endParaRPr/>
          </a:p>
          <a:p>
            <a:pPr indent="-317500" lvl="2" marL="1371600" rtl="0" algn="l">
              <a:spcBef>
                <a:spcPts val="0"/>
              </a:spcBef>
              <a:spcAft>
                <a:spcPts val="0"/>
              </a:spcAft>
              <a:buSzPts val="1400"/>
              <a:buChar char="■"/>
            </a:pPr>
            <a:r>
              <a:rPr i="1" lang="en"/>
              <a:t>Downward Competition</a:t>
            </a:r>
            <a:r>
              <a:rPr lang="en"/>
              <a:t>: High status go after any lower status individual</a:t>
            </a:r>
            <a:endParaRPr/>
          </a:p>
          <a:p>
            <a:pPr indent="-317500" lvl="2" marL="1371600" rtl="0" algn="l">
              <a:spcBef>
                <a:spcPts val="0"/>
              </a:spcBef>
              <a:spcAft>
                <a:spcPts val="0"/>
              </a:spcAft>
              <a:buSzPts val="1400"/>
              <a:buChar char="■"/>
            </a:pPr>
            <a:r>
              <a:rPr i="1" lang="en"/>
              <a:t>Close Competitors</a:t>
            </a:r>
            <a:r>
              <a:rPr lang="en"/>
              <a:t>: Individuals fight those close in status to themselves</a:t>
            </a:r>
            <a:endParaRPr/>
          </a:p>
          <a:p>
            <a:pPr indent="-317500" lvl="2" marL="1371600" rtl="0" algn="l">
              <a:spcBef>
                <a:spcPts val="0"/>
              </a:spcBef>
              <a:spcAft>
                <a:spcPts val="0"/>
              </a:spcAft>
              <a:buSzPts val="1400"/>
              <a:buChar char="■"/>
            </a:pPr>
            <a:r>
              <a:rPr i="1" lang="en"/>
              <a:t>Bullying</a:t>
            </a:r>
            <a:r>
              <a:rPr lang="en"/>
              <a:t>: High individuals only fight those much lower than themselves</a:t>
            </a:r>
            <a:endParaRPr/>
          </a:p>
          <a:p>
            <a:pPr indent="0" lvl="0" marL="0" rtl="0" algn="l">
              <a:spcBef>
                <a:spcPts val="1600"/>
              </a:spcBef>
              <a:spcAft>
                <a:spcPts val="1600"/>
              </a:spcAft>
              <a:buNone/>
            </a:pPr>
            <a:r>
              <a:t/>
            </a:r>
            <a:endParaRPr sz="700"/>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1" name="Shape 1241"/>
        <p:cNvGrpSpPr/>
        <p:nvPr/>
      </p:nvGrpSpPr>
      <p:grpSpPr>
        <a:xfrm>
          <a:off x="0" y="0"/>
          <a:ext cx="0" cy="0"/>
          <a:chOff x="0" y="0"/>
          <a:chExt cx="0" cy="0"/>
        </a:xfrm>
      </p:grpSpPr>
      <p:pic>
        <p:nvPicPr>
          <p:cNvPr id="1242" name="Google Shape;1242;p67"/>
          <p:cNvPicPr preferRelativeResize="0"/>
          <p:nvPr/>
        </p:nvPicPr>
        <p:blipFill rotWithShape="1">
          <a:blip r:embed="rId3">
            <a:alphaModFix/>
          </a:blip>
          <a:srcRect b="14384" l="0" r="0" t="0"/>
          <a:stretch/>
        </p:blipFill>
        <p:spPr>
          <a:xfrm>
            <a:off x="1663850" y="174350"/>
            <a:ext cx="5327350" cy="4230376"/>
          </a:xfrm>
          <a:prstGeom prst="rect">
            <a:avLst/>
          </a:prstGeom>
          <a:noFill/>
          <a:ln>
            <a:noFill/>
          </a:ln>
        </p:spPr>
      </p:pic>
      <p:sp>
        <p:nvSpPr>
          <p:cNvPr id="1243" name="Google Shape;1243;p67"/>
          <p:cNvSpPr/>
          <p:nvPr/>
        </p:nvSpPr>
        <p:spPr>
          <a:xfrm>
            <a:off x="246050" y="483725"/>
            <a:ext cx="461700" cy="252600"/>
          </a:xfrm>
          <a:prstGeom prst="rect">
            <a:avLst/>
          </a:prstGeom>
          <a:solidFill>
            <a:srgbClr val="B7B7B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4" name="Google Shape;1244;p67"/>
          <p:cNvSpPr/>
          <p:nvPr/>
        </p:nvSpPr>
        <p:spPr>
          <a:xfrm>
            <a:off x="306500" y="824275"/>
            <a:ext cx="340800" cy="340800"/>
          </a:xfrm>
          <a:prstGeom prst="triangle">
            <a:avLst>
              <a:gd fmla="val 50000" name="adj"/>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67"/>
          <p:cNvSpPr/>
          <p:nvPr/>
        </p:nvSpPr>
        <p:spPr>
          <a:xfrm>
            <a:off x="246050" y="1297075"/>
            <a:ext cx="461700" cy="296700"/>
          </a:xfrm>
          <a:prstGeom prst="diamond">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p67"/>
          <p:cNvSpPr/>
          <p:nvPr/>
        </p:nvSpPr>
        <p:spPr>
          <a:xfrm>
            <a:off x="246050" y="1725775"/>
            <a:ext cx="461700" cy="2967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67"/>
          <p:cNvSpPr txBox="1"/>
          <p:nvPr/>
        </p:nvSpPr>
        <p:spPr>
          <a:xfrm>
            <a:off x="707750" y="461675"/>
            <a:ext cx="835200" cy="296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Black</a:t>
            </a:r>
            <a:endParaRPr>
              <a:latin typeface="Open Sans"/>
              <a:ea typeface="Open Sans"/>
              <a:cs typeface="Open Sans"/>
              <a:sym typeface="Open Sans"/>
            </a:endParaRPr>
          </a:p>
        </p:txBody>
      </p:sp>
      <p:sp>
        <p:nvSpPr>
          <p:cNvPr id="1248" name="Google Shape;1248;p67"/>
          <p:cNvSpPr txBox="1"/>
          <p:nvPr/>
        </p:nvSpPr>
        <p:spPr>
          <a:xfrm>
            <a:off x="707750" y="846325"/>
            <a:ext cx="956100" cy="296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Hispanic</a:t>
            </a:r>
            <a:endParaRPr>
              <a:latin typeface="Open Sans"/>
              <a:ea typeface="Open Sans"/>
              <a:cs typeface="Open Sans"/>
              <a:sym typeface="Open Sans"/>
            </a:endParaRPr>
          </a:p>
        </p:txBody>
      </p:sp>
      <p:sp>
        <p:nvSpPr>
          <p:cNvPr id="1249" name="Google Shape;1249;p67"/>
          <p:cNvSpPr txBox="1"/>
          <p:nvPr/>
        </p:nvSpPr>
        <p:spPr>
          <a:xfrm>
            <a:off x="707750" y="1286050"/>
            <a:ext cx="835200" cy="296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Asian</a:t>
            </a:r>
            <a:endParaRPr>
              <a:latin typeface="Open Sans"/>
              <a:ea typeface="Open Sans"/>
              <a:cs typeface="Open Sans"/>
              <a:sym typeface="Open Sans"/>
            </a:endParaRPr>
          </a:p>
        </p:txBody>
      </p:sp>
      <p:sp>
        <p:nvSpPr>
          <p:cNvPr id="1250" name="Google Shape;1250;p67"/>
          <p:cNvSpPr txBox="1"/>
          <p:nvPr/>
        </p:nvSpPr>
        <p:spPr>
          <a:xfrm>
            <a:off x="707750" y="1725775"/>
            <a:ext cx="835200" cy="296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White</a:t>
            </a:r>
            <a:endParaRPr>
              <a:latin typeface="Open Sans"/>
              <a:ea typeface="Open Sans"/>
              <a:cs typeface="Open Sans"/>
              <a:sym typeface="Open Sans"/>
            </a:endParaRPr>
          </a:p>
        </p:txBody>
      </p:sp>
      <p:sp>
        <p:nvSpPr>
          <p:cNvPr id="1251" name="Google Shape;1251;p67"/>
          <p:cNvSpPr txBox="1"/>
          <p:nvPr/>
        </p:nvSpPr>
        <p:spPr>
          <a:xfrm>
            <a:off x="6584425" y="494575"/>
            <a:ext cx="2432100" cy="16047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Font typeface="Open Sans"/>
              <a:buChar char="●"/>
            </a:pPr>
            <a:r>
              <a:rPr lang="en">
                <a:latin typeface="Open Sans"/>
                <a:ea typeface="Open Sans"/>
                <a:cs typeface="Open Sans"/>
                <a:sym typeface="Open Sans"/>
              </a:rPr>
              <a:t>Racial Homophily</a:t>
            </a:r>
            <a:endParaRPr>
              <a:latin typeface="Open Sans"/>
              <a:ea typeface="Open Sans"/>
              <a:cs typeface="Open Sans"/>
              <a:sym typeface="Open Sans"/>
            </a:endParaRPr>
          </a:p>
          <a:p>
            <a:pPr indent="-317500" lvl="0" marL="457200" rtl="0" algn="l">
              <a:spcBef>
                <a:spcPts val="0"/>
              </a:spcBef>
              <a:spcAft>
                <a:spcPts val="0"/>
              </a:spcAft>
              <a:buSzPts val="1400"/>
              <a:buFont typeface="Open Sans"/>
              <a:buChar char="●"/>
            </a:pPr>
            <a:r>
              <a:rPr lang="en">
                <a:latin typeface="Open Sans"/>
                <a:ea typeface="Open Sans"/>
                <a:cs typeface="Open Sans"/>
                <a:sym typeface="Open Sans"/>
              </a:rPr>
              <a:t>Number of Nodes: 48</a:t>
            </a:r>
            <a:endParaRPr>
              <a:latin typeface="Open Sans"/>
              <a:ea typeface="Open Sans"/>
              <a:cs typeface="Open Sans"/>
              <a:sym typeface="Open Sans"/>
            </a:endParaRPr>
          </a:p>
          <a:p>
            <a:pPr indent="-317500" lvl="0" marL="457200" rtl="0" algn="l">
              <a:spcBef>
                <a:spcPts val="0"/>
              </a:spcBef>
              <a:spcAft>
                <a:spcPts val="0"/>
              </a:spcAft>
              <a:buSzPts val="1400"/>
              <a:buFont typeface="Open Sans"/>
              <a:buChar char="●"/>
            </a:pPr>
            <a:r>
              <a:rPr lang="en">
                <a:latin typeface="Open Sans"/>
                <a:ea typeface="Open Sans"/>
                <a:cs typeface="Open Sans"/>
                <a:sym typeface="Open Sans"/>
              </a:rPr>
              <a:t>Density: 0.07</a:t>
            </a:r>
            <a:endParaRPr>
              <a:latin typeface="Open Sans"/>
              <a:ea typeface="Open Sans"/>
              <a:cs typeface="Open Sans"/>
              <a:sym typeface="Open Sans"/>
            </a:endParaRPr>
          </a:p>
          <a:p>
            <a:pPr indent="-317500" lvl="0" marL="457200" rtl="0" algn="l">
              <a:spcBef>
                <a:spcPts val="0"/>
              </a:spcBef>
              <a:spcAft>
                <a:spcPts val="0"/>
              </a:spcAft>
              <a:buSzPts val="1400"/>
              <a:buFont typeface="Open Sans"/>
              <a:buChar char="●"/>
            </a:pPr>
            <a:r>
              <a:rPr lang="en">
                <a:latin typeface="Open Sans"/>
                <a:ea typeface="Open Sans"/>
                <a:cs typeface="Open Sans"/>
                <a:sym typeface="Open Sans"/>
              </a:rPr>
              <a:t>Reciprocal dyads: 36</a:t>
            </a:r>
            <a:endParaRPr>
              <a:latin typeface="Open Sans"/>
              <a:ea typeface="Open Sans"/>
              <a:cs typeface="Open Sans"/>
              <a:sym typeface="Open Sans"/>
            </a:endParaRPr>
          </a:p>
          <a:p>
            <a:pPr indent="-317500" lvl="0" marL="457200" rtl="0" algn="l">
              <a:spcBef>
                <a:spcPts val="0"/>
              </a:spcBef>
              <a:spcAft>
                <a:spcPts val="0"/>
              </a:spcAft>
              <a:buSzPts val="1400"/>
              <a:buFont typeface="Open Sans"/>
              <a:buChar char="●"/>
            </a:pPr>
            <a:r>
              <a:rPr lang="en">
                <a:latin typeface="Open Sans"/>
                <a:ea typeface="Open Sans"/>
                <a:cs typeface="Open Sans"/>
                <a:sym typeface="Open Sans"/>
              </a:rPr>
              <a:t>Self-loops</a:t>
            </a:r>
            <a:endParaRPr>
              <a:latin typeface="Open Sans"/>
              <a:ea typeface="Open Sans"/>
              <a:cs typeface="Open Sans"/>
              <a:sym typeface="Open Sans"/>
            </a:endParaRPr>
          </a:p>
        </p:txBody>
      </p:sp>
      <p:sp>
        <p:nvSpPr>
          <p:cNvPr id="1252" name="Google Shape;1252;p67"/>
          <p:cNvSpPr txBox="1"/>
          <p:nvPr/>
        </p:nvSpPr>
        <p:spPr>
          <a:xfrm>
            <a:off x="1970700" y="4353875"/>
            <a:ext cx="5202600" cy="373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t>The social structure of gang homicide in Chicago, 1994</a:t>
            </a:r>
            <a:endParaRPr b="1"/>
          </a:p>
        </p:txBody>
      </p:sp>
      <p:sp>
        <p:nvSpPr>
          <p:cNvPr id="1253" name="Google Shape;1253;p67"/>
          <p:cNvSpPr txBox="1"/>
          <p:nvPr/>
        </p:nvSpPr>
        <p:spPr>
          <a:xfrm>
            <a:off x="7493675" y="4671900"/>
            <a:ext cx="2734500" cy="47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Papachristos 2009</a:t>
            </a:r>
            <a:endParaRPr>
              <a:latin typeface="Open Sans"/>
              <a:ea typeface="Open Sans"/>
              <a:cs typeface="Open Sans"/>
              <a:sym typeface="Open Sans"/>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7" name="Shape 1257"/>
        <p:cNvGrpSpPr/>
        <p:nvPr/>
      </p:nvGrpSpPr>
      <p:grpSpPr>
        <a:xfrm>
          <a:off x="0" y="0"/>
          <a:ext cx="0" cy="0"/>
          <a:chOff x="0" y="0"/>
          <a:chExt cx="0" cy="0"/>
        </a:xfrm>
      </p:grpSpPr>
      <p:sp>
        <p:nvSpPr>
          <p:cNvPr id="1258" name="Google Shape;1258;p68"/>
          <p:cNvSpPr/>
          <p:nvPr/>
        </p:nvSpPr>
        <p:spPr>
          <a:xfrm>
            <a:off x="246050" y="483725"/>
            <a:ext cx="461700" cy="252600"/>
          </a:xfrm>
          <a:prstGeom prst="rect">
            <a:avLst/>
          </a:prstGeom>
          <a:solidFill>
            <a:srgbClr val="B7B7B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68"/>
          <p:cNvSpPr/>
          <p:nvPr/>
        </p:nvSpPr>
        <p:spPr>
          <a:xfrm>
            <a:off x="306500" y="824275"/>
            <a:ext cx="340800" cy="340800"/>
          </a:xfrm>
          <a:prstGeom prst="triangle">
            <a:avLst>
              <a:gd fmla="val 50000" name="adj"/>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68"/>
          <p:cNvSpPr/>
          <p:nvPr/>
        </p:nvSpPr>
        <p:spPr>
          <a:xfrm>
            <a:off x="246050" y="1297075"/>
            <a:ext cx="461700" cy="296700"/>
          </a:xfrm>
          <a:prstGeom prst="diamond">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68"/>
          <p:cNvSpPr/>
          <p:nvPr/>
        </p:nvSpPr>
        <p:spPr>
          <a:xfrm>
            <a:off x="246050" y="1725775"/>
            <a:ext cx="461700" cy="2967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p68"/>
          <p:cNvSpPr txBox="1"/>
          <p:nvPr/>
        </p:nvSpPr>
        <p:spPr>
          <a:xfrm>
            <a:off x="707750" y="461675"/>
            <a:ext cx="835200" cy="296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Black</a:t>
            </a:r>
            <a:endParaRPr>
              <a:latin typeface="Open Sans"/>
              <a:ea typeface="Open Sans"/>
              <a:cs typeface="Open Sans"/>
              <a:sym typeface="Open Sans"/>
            </a:endParaRPr>
          </a:p>
        </p:txBody>
      </p:sp>
      <p:sp>
        <p:nvSpPr>
          <p:cNvPr id="1263" name="Google Shape;1263;p68"/>
          <p:cNvSpPr txBox="1"/>
          <p:nvPr/>
        </p:nvSpPr>
        <p:spPr>
          <a:xfrm>
            <a:off x="707750" y="846325"/>
            <a:ext cx="956100" cy="296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Hispanic</a:t>
            </a:r>
            <a:endParaRPr>
              <a:latin typeface="Open Sans"/>
              <a:ea typeface="Open Sans"/>
              <a:cs typeface="Open Sans"/>
              <a:sym typeface="Open Sans"/>
            </a:endParaRPr>
          </a:p>
        </p:txBody>
      </p:sp>
      <p:sp>
        <p:nvSpPr>
          <p:cNvPr id="1264" name="Google Shape;1264;p68"/>
          <p:cNvSpPr txBox="1"/>
          <p:nvPr/>
        </p:nvSpPr>
        <p:spPr>
          <a:xfrm>
            <a:off x="707750" y="1286050"/>
            <a:ext cx="835200" cy="296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Asian</a:t>
            </a:r>
            <a:endParaRPr>
              <a:latin typeface="Open Sans"/>
              <a:ea typeface="Open Sans"/>
              <a:cs typeface="Open Sans"/>
              <a:sym typeface="Open Sans"/>
            </a:endParaRPr>
          </a:p>
        </p:txBody>
      </p:sp>
      <p:sp>
        <p:nvSpPr>
          <p:cNvPr id="1265" name="Google Shape;1265;p68"/>
          <p:cNvSpPr txBox="1"/>
          <p:nvPr/>
        </p:nvSpPr>
        <p:spPr>
          <a:xfrm>
            <a:off x="707750" y="1725775"/>
            <a:ext cx="835200" cy="296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White</a:t>
            </a:r>
            <a:endParaRPr>
              <a:latin typeface="Open Sans"/>
              <a:ea typeface="Open Sans"/>
              <a:cs typeface="Open Sans"/>
              <a:sym typeface="Open Sans"/>
            </a:endParaRPr>
          </a:p>
        </p:txBody>
      </p:sp>
      <p:sp>
        <p:nvSpPr>
          <p:cNvPr id="1266" name="Google Shape;1266;p68"/>
          <p:cNvSpPr txBox="1"/>
          <p:nvPr/>
        </p:nvSpPr>
        <p:spPr>
          <a:xfrm>
            <a:off x="1970700" y="4353875"/>
            <a:ext cx="5202600" cy="373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t>The social structure of gang homicide in Chicago, 1998</a:t>
            </a:r>
            <a:endParaRPr b="1"/>
          </a:p>
        </p:txBody>
      </p:sp>
      <p:pic>
        <p:nvPicPr>
          <p:cNvPr id="1267" name="Google Shape;1267;p68"/>
          <p:cNvPicPr preferRelativeResize="0"/>
          <p:nvPr/>
        </p:nvPicPr>
        <p:blipFill>
          <a:blip r:embed="rId3">
            <a:alphaModFix/>
          </a:blip>
          <a:stretch>
            <a:fillRect/>
          </a:stretch>
        </p:blipFill>
        <p:spPr>
          <a:xfrm>
            <a:off x="1970700" y="174300"/>
            <a:ext cx="4615775" cy="3823691"/>
          </a:xfrm>
          <a:prstGeom prst="rect">
            <a:avLst/>
          </a:prstGeom>
          <a:noFill/>
          <a:ln>
            <a:noFill/>
          </a:ln>
        </p:spPr>
      </p:pic>
      <p:sp>
        <p:nvSpPr>
          <p:cNvPr id="1268" name="Google Shape;1268;p68"/>
          <p:cNvSpPr txBox="1"/>
          <p:nvPr/>
        </p:nvSpPr>
        <p:spPr>
          <a:xfrm>
            <a:off x="7493675" y="4671900"/>
            <a:ext cx="2734500" cy="47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Papachristos 2009</a:t>
            </a:r>
            <a:endParaRPr>
              <a:latin typeface="Open Sans"/>
              <a:ea typeface="Open Sans"/>
              <a:cs typeface="Open Sans"/>
              <a:sym typeface="Open Sans"/>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2" name="Shape 1272"/>
        <p:cNvGrpSpPr/>
        <p:nvPr/>
      </p:nvGrpSpPr>
      <p:grpSpPr>
        <a:xfrm>
          <a:off x="0" y="0"/>
          <a:ext cx="0" cy="0"/>
          <a:chOff x="0" y="0"/>
          <a:chExt cx="0" cy="0"/>
        </a:xfrm>
      </p:grpSpPr>
      <p:sp>
        <p:nvSpPr>
          <p:cNvPr id="1273" name="Google Shape;1273;p69"/>
          <p:cNvSpPr/>
          <p:nvPr/>
        </p:nvSpPr>
        <p:spPr>
          <a:xfrm>
            <a:off x="246050" y="483725"/>
            <a:ext cx="461700" cy="252600"/>
          </a:xfrm>
          <a:prstGeom prst="rect">
            <a:avLst/>
          </a:prstGeom>
          <a:solidFill>
            <a:srgbClr val="B7B7B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69"/>
          <p:cNvSpPr/>
          <p:nvPr/>
        </p:nvSpPr>
        <p:spPr>
          <a:xfrm>
            <a:off x="306500" y="824275"/>
            <a:ext cx="340800" cy="340800"/>
          </a:xfrm>
          <a:prstGeom prst="triangle">
            <a:avLst>
              <a:gd fmla="val 50000" name="adj"/>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69"/>
          <p:cNvSpPr/>
          <p:nvPr/>
        </p:nvSpPr>
        <p:spPr>
          <a:xfrm>
            <a:off x="246050" y="1297075"/>
            <a:ext cx="461700" cy="296700"/>
          </a:xfrm>
          <a:prstGeom prst="diamond">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69"/>
          <p:cNvSpPr/>
          <p:nvPr/>
        </p:nvSpPr>
        <p:spPr>
          <a:xfrm>
            <a:off x="246050" y="1725775"/>
            <a:ext cx="461700" cy="2967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69"/>
          <p:cNvSpPr txBox="1"/>
          <p:nvPr/>
        </p:nvSpPr>
        <p:spPr>
          <a:xfrm>
            <a:off x="707750" y="461675"/>
            <a:ext cx="835200" cy="296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Black</a:t>
            </a:r>
            <a:endParaRPr>
              <a:latin typeface="Open Sans"/>
              <a:ea typeface="Open Sans"/>
              <a:cs typeface="Open Sans"/>
              <a:sym typeface="Open Sans"/>
            </a:endParaRPr>
          </a:p>
        </p:txBody>
      </p:sp>
      <p:sp>
        <p:nvSpPr>
          <p:cNvPr id="1278" name="Google Shape;1278;p69"/>
          <p:cNvSpPr txBox="1"/>
          <p:nvPr/>
        </p:nvSpPr>
        <p:spPr>
          <a:xfrm>
            <a:off x="707750" y="846325"/>
            <a:ext cx="956100" cy="296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Hispanic</a:t>
            </a:r>
            <a:endParaRPr>
              <a:latin typeface="Open Sans"/>
              <a:ea typeface="Open Sans"/>
              <a:cs typeface="Open Sans"/>
              <a:sym typeface="Open Sans"/>
            </a:endParaRPr>
          </a:p>
        </p:txBody>
      </p:sp>
      <p:sp>
        <p:nvSpPr>
          <p:cNvPr id="1279" name="Google Shape;1279;p69"/>
          <p:cNvSpPr txBox="1"/>
          <p:nvPr/>
        </p:nvSpPr>
        <p:spPr>
          <a:xfrm>
            <a:off x="707750" y="1286050"/>
            <a:ext cx="835200" cy="296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Asian</a:t>
            </a:r>
            <a:endParaRPr>
              <a:latin typeface="Open Sans"/>
              <a:ea typeface="Open Sans"/>
              <a:cs typeface="Open Sans"/>
              <a:sym typeface="Open Sans"/>
            </a:endParaRPr>
          </a:p>
        </p:txBody>
      </p:sp>
      <p:sp>
        <p:nvSpPr>
          <p:cNvPr id="1280" name="Google Shape;1280;p69"/>
          <p:cNvSpPr txBox="1"/>
          <p:nvPr/>
        </p:nvSpPr>
        <p:spPr>
          <a:xfrm>
            <a:off x="707750" y="1725775"/>
            <a:ext cx="835200" cy="296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White</a:t>
            </a:r>
            <a:endParaRPr>
              <a:latin typeface="Open Sans"/>
              <a:ea typeface="Open Sans"/>
              <a:cs typeface="Open Sans"/>
              <a:sym typeface="Open Sans"/>
            </a:endParaRPr>
          </a:p>
        </p:txBody>
      </p:sp>
      <p:sp>
        <p:nvSpPr>
          <p:cNvPr id="1281" name="Google Shape;1281;p69"/>
          <p:cNvSpPr txBox="1"/>
          <p:nvPr/>
        </p:nvSpPr>
        <p:spPr>
          <a:xfrm>
            <a:off x="1970700" y="4353875"/>
            <a:ext cx="5202600" cy="373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t>The social structure of gang homicide in Chicago, 2002</a:t>
            </a:r>
            <a:endParaRPr b="1"/>
          </a:p>
        </p:txBody>
      </p:sp>
      <p:pic>
        <p:nvPicPr>
          <p:cNvPr id="1282" name="Google Shape;1282;p69"/>
          <p:cNvPicPr preferRelativeResize="0"/>
          <p:nvPr/>
        </p:nvPicPr>
        <p:blipFill>
          <a:blip r:embed="rId3">
            <a:alphaModFix/>
          </a:blip>
          <a:stretch>
            <a:fillRect/>
          </a:stretch>
        </p:blipFill>
        <p:spPr>
          <a:xfrm>
            <a:off x="1970700" y="327500"/>
            <a:ext cx="4615775" cy="3817165"/>
          </a:xfrm>
          <a:prstGeom prst="rect">
            <a:avLst/>
          </a:prstGeom>
          <a:noFill/>
          <a:ln>
            <a:noFill/>
          </a:ln>
        </p:spPr>
      </p:pic>
      <p:sp>
        <p:nvSpPr>
          <p:cNvPr id="1283" name="Google Shape;1283;p69"/>
          <p:cNvSpPr txBox="1"/>
          <p:nvPr/>
        </p:nvSpPr>
        <p:spPr>
          <a:xfrm>
            <a:off x="7493675" y="4671900"/>
            <a:ext cx="2734500" cy="47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Papachristos 2009</a:t>
            </a:r>
            <a:endParaRPr>
              <a:latin typeface="Open Sans"/>
              <a:ea typeface="Open Sans"/>
              <a:cs typeface="Open Sans"/>
              <a:sym typeface="Open Sans"/>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7" name="Shape 1287"/>
        <p:cNvGrpSpPr/>
        <p:nvPr/>
      </p:nvGrpSpPr>
      <p:grpSpPr>
        <a:xfrm>
          <a:off x="0" y="0"/>
          <a:ext cx="0" cy="0"/>
          <a:chOff x="0" y="0"/>
          <a:chExt cx="0" cy="0"/>
        </a:xfrm>
      </p:grpSpPr>
      <p:sp>
        <p:nvSpPr>
          <p:cNvPr id="1288" name="Google Shape;1288;p70"/>
          <p:cNvSpPr/>
          <p:nvPr/>
        </p:nvSpPr>
        <p:spPr>
          <a:xfrm>
            <a:off x="246050" y="483725"/>
            <a:ext cx="461700" cy="252600"/>
          </a:xfrm>
          <a:prstGeom prst="rect">
            <a:avLst/>
          </a:prstGeom>
          <a:solidFill>
            <a:srgbClr val="B7B7B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9" name="Google Shape;1289;p70"/>
          <p:cNvSpPr/>
          <p:nvPr/>
        </p:nvSpPr>
        <p:spPr>
          <a:xfrm>
            <a:off x="306500" y="824275"/>
            <a:ext cx="340800" cy="340800"/>
          </a:xfrm>
          <a:prstGeom prst="triangle">
            <a:avLst>
              <a:gd fmla="val 50000" name="adj"/>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0" name="Google Shape;1290;p70"/>
          <p:cNvSpPr/>
          <p:nvPr/>
        </p:nvSpPr>
        <p:spPr>
          <a:xfrm>
            <a:off x="246050" y="1297075"/>
            <a:ext cx="461700" cy="296700"/>
          </a:xfrm>
          <a:prstGeom prst="diamond">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p70"/>
          <p:cNvSpPr/>
          <p:nvPr/>
        </p:nvSpPr>
        <p:spPr>
          <a:xfrm>
            <a:off x="246050" y="1725775"/>
            <a:ext cx="461700" cy="296700"/>
          </a:xfrm>
          <a:prstGeom prst="ellipse">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2" name="Google Shape;1292;p70"/>
          <p:cNvSpPr txBox="1"/>
          <p:nvPr/>
        </p:nvSpPr>
        <p:spPr>
          <a:xfrm>
            <a:off x="707750" y="461675"/>
            <a:ext cx="835200" cy="296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Black</a:t>
            </a:r>
            <a:endParaRPr>
              <a:latin typeface="Open Sans"/>
              <a:ea typeface="Open Sans"/>
              <a:cs typeface="Open Sans"/>
              <a:sym typeface="Open Sans"/>
            </a:endParaRPr>
          </a:p>
        </p:txBody>
      </p:sp>
      <p:sp>
        <p:nvSpPr>
          <p:cNvPr id="1293" name="Google Shape;1293;p70"/>
          <p:cNvSpPr txBox="1"/>
          <p:nvPr/>
        </p:nvSpPr>
        <p:spPr>
          <a:xfrm>
            <a:off x="707750" y="846325"/>
            <a:ext cx="956100" cy="296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Hispanic</a:t>
            </a:r>
            <a:endParaRPr>
              <a:latin typeface="Open Sans"/>
              <a:ea typeface="Open Sans"/>
              <a:cs typeface="Open Sans"/>
              <a:sym typeface="Open Sans"/>
            </a:endParaRPr>
          </a:p>
        </p:txBody>
      </p:sp>
      <p:sp>
        <p:nvSpPr>
          <p:cNvPr id="1294" name="Google Shape;1294;p70"/>
          <p:cNvSpPr txBox="1"/>
          <p:nvPr/>
        </p:nvSpPr>
        <p:spPr>
          <a:xfrm>
            <a:off x="707750" y="1286050"/>
            <a:ext cx="835200" cy="296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Asian</a:t>
            </a:r>
            <a:endParaRPr>
              <a:latin typeface="Open Sans"/>
              <a:ea typeface="Open Sans"/>
              <a:cs typeface="Open Sans"/>
              <a:sym typeface="Open Sans"/>
            </a:endParaRPr>
          </a:p>
        </p:txBody>
      </p:sp>
      <p:sp>
        <p:nvSpPr>
          <p:cNvPr id="1295" name="Google Shape;1295;p70"/>
          <p:cNvSpPr txBox="1"/>
          <p:nvPr/>
        </p:nvSpPr>
        <p:spPr>
          <a:xfrm>
            <a:off x="707750" y="1725775"/>
            <a:ext cx="835200" cy="296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White</a:t>
            </a:r>
            <a:endParaRPr>
              <a:latin typeface="Open Sans"/>
              <a:ea typeface="Open Sans"/>
              <a:cs typeface="Open Sans"/>
              <a:sym typeface="Open Sans"/>
            </a:endParaRPr>
          </a:p>
        </p:txBody>
      </p:sp>
      <p:sp>
        <p:nvSpPr>
          <p:cNvPr id="1296" name="Google Shape;1296;p70"/>
          <p:cNvSpPr txBox="1"/>
          <p:nvPr/>
        </p:nvSpPr>
        <p:spPr>
          <a:xfrm>
            <a:off x="1970700" y="4353875"/>
            <a:ext cx="5202600" cy="373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t>The social structure of gang homicide in Chicago, 1994</a:t>
            </a:r>
            <a:endParaRPr b="1"/>
          </a:p>
        </p:txBody>
      </p:sp>
      <p:pic>
        <p:nvPicPr>
          <p:cNvPr id="1297" name="Google Shape;1297;p70"/>
          <p:cNvPicPr preferRelativeResize="0"/>
          <p:nvPr/>
        </p:nvPicPr>
        <p:blipFill>
          <a:blip r:embed="rId3">
            <a:alphaModFix/>
          </a:blip>
          <a:stretch>
            <a:fillRect/>
          </a:stretch>
        </p:blipFill>
        <p:spPr>
          <a:xfrm>
            <a:off x="2010275" y="171200"/>
            <a:ext cx="5668565" cy="4182675"/>
          </a:xfrm>
          <a:prstGeom prst="rect">
            <a:avLst/>
          </a:prstGeom>
          <a:noFill/>
          <a:ln>
            <a:noFill/>
          </a:ln>
        </p:spPr>
      </p:pic>
      <p:sp>
        <p:nvSpPr>
          <p:cNvPr id="1298" name="Google Shape;1298;p70"/>
          <p:cNvSpPr txBox="1"/>
          <p:nvPr/>
        </p:nvSpPr>
        <p:spPr>
          <a:xfrm>
            <a:off x="7493675" y="4671900"/>
            <a:ext cx="2734500" cy="47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Papachristos 2009</a:t>
            </a:r>
            <a:endParaRPr>
              <a:latin typeface="Open Sans"/>
              <a:ea typeface="Open Sans"/>
              <a:cs typeface="Open Sans"/>
              <a:sym typeface="Open Sans"/>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302" name="Shape 1302"/>
        <p:cNvGrpSpPr/>
        <p:nvPr/>
      </p:nvGrpSpPr>
      <p:grpSpPr>
        <a:xfrm>
          <a:off x="0" y="0"/>
          <a:ext cx="0" cy="0"/>
          <a:chOff x="0" y="0"/>
          <a:chExt cx="0" cy="0"/>
        </a:xfrm>
      </p:grpSpPr>
      <p:sp>
        <p:nvSpPr>
          <p:cNvPr id="1303" name="Google Shape;1303;p71"/>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Rare for Instrumental Violence in Gangs</a:t>
            </a:r>
            <a:endParaRPr/>
          </a:p>
        </p:txBody>
      </p:sp>
      <p:pic>
        <p:nvPicPr>
          <p:cNvPr id="1304" name="Google Shape;1304;p71"/>
          <p:cNvPicPr preferRelativeResize="0"/>
          <p:nvPr/>
        </p:nvPicPr>
        <p:blipFill rotWithShape="1">
          <a:blip r:embed="rId3">
            <a:alphaModFix/>
          </a:blip>
          <a:srcRect b="0" l="0" r="0" t="0"/>
          <a:stretch/>
        </p:blipFill>
        <p:spPr>
          <a:xfrm>
            <a:off x="947978" y="1280053"/>
            <a:ext cx="7343057" cy="3391850"/>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308" name="Shape 1308"/>
        <p:cNvGrpSpPr/>
        <p:nvPr/>
      </p:nvGrpSpPr>
      <p:grpSpPr>
        <a:xfrm>
          <a:off x="0" y="0"/>
          <a:ext cx="0" cy="0"/>
          <a:chOff x="0" y="0"/>
          <a:chExt cx="0" cy="0"/>
        </a:xfrm>
      </p:grpSpPr>
      <p:sp>
        <p:nvSpPr>
          <p:cNvPr id="1309" name="Google Shape;1309;p72"/>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Melo</a:t>
            </a:r>
            <a:endParaRPr/>
          </a:p>
        </p:txBody>
      </p:sp>
      <p:pic>
        <p:nvPicPr>
          <p:cNvPr id="1310" name="Google Shape;1310;p72"/>
          <p:cNvPicPr preferRelativeResize="0"/>
          <p:nvPr/>
        </p:nvPicPr>
        <p:blipFill>
          <a:blip r:embed="rId3">
            <a:alphaModFix/>
          </a:blip>
          <a:stretch>
            <a:fillRect/>
          </a:stretch>
        </p:blipFill>
        <p:spPr>
          <a:xfrm>
            <a:off x="483454" y="1704079"/>
            <a:ext cx="8177100" cy="2449350"/>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4" name="Shape 1314"/>
        <p:cNvGrpSpPr/>
        <p:nvPr/>
      </p:nvGrpSpPr>
      <p:grpSpPr>
        <a:xfrm>
          <a:off x="0" y="0"/>
          <a:ext cx="0" cy="0"/>
          <a:chOff x="0" y="0"/>
          <a:chExt cx="0" cy="0"/>
        </a:xfrm>
      </p:grpSpPr>
      <p:pic>
        <p:nvPicPr>
          <p:cNvPr id="1315" name="Google Shape;1315;p73"/>
          <p:cNvPicPr preferRelativeResize="0"/>
          <p:nvPr/>
        </p:nvPicPr>
        <p:blipFill>
          <a:blip r:embed="rId3">
            <a:alphaModFix/>
          </a:blip>
          <a:stretch>
            <a:fillRect/>
          </a:stretch>
        </p:blipFill>
        <p:spPr>
          <a:xfrm>
            <a:off x="2668525" y="155950"/>
            <a:ext cx="4225374" cy="4831599"/>
          </a:xfrm>
          <a:prstGeom prst="rect">
            <a:avLst/>
          </a:prstGeom>
          <a:noFill/>
          <a:ln>
            <a:noFill/>
          </a:ln>
        </p:spPr>
      </p:pic>
      <p:sp>
        <p:nvSpPr>
          <p:cNvPr id="1316" name="Google Shape;1316;p73"/>
          <p:cNvSpPr txBox="1"/>
          <p:nvPr/>
        </p:nvSpPr>
        <p:spPr>
          <a:xfrm>
            <a:off x="7493675" y="4671900"/>
            <a:ext cx="2734500" cy="47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Papachristos 2009</a:t>
            </a:r>
            <a:endParaRPr>
              <a:latin typeface="Open Sans"/>
              <a:ea typeface="Open Sans"/>
              <a:cs typeface="Open Sans"/>
              <a:sym typeface="Open Sans"/>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0" name="Shape 1320"/>
        <p:cNvGrpSpPr/>
        <p:nvPr/>
      </p:nvGrpSpPr>
      <p:grpSpPr>
        <a:xfrm>
          <a:off x="0" y="0"/>
          <a:ext cx="0" cy="0"/>
          <a:chOff x="0" y="0"/>
          <a:chExt cx="0" cy="0"/>
        </a:xfrm>
      </p:grpSpPr>
      <p:sp>
        <p:nvSpPr>
          <p:cNvPr id="1321" name="Google Shape;1321;p7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When does violence occur?</a:t>
            </a:r>
            <a:endParaRPr/>
          </a:p>
        </p:txBody>
      </p:sp>
      <p:sp>
        <p:nvSpPr>
          <p:cNvPr id="1322" name="Google Shape;1322;p74"/>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Average overlap between 2 gangs: 10%</a:t>
            </a:r>
            <a:endParaRPr/>
          </a:p>
          <a:p>
            <a:pPr indent="-342900" lvl="0" marL="457200" rtl="0" algn="l">
              <a:spcBef>
                <a:spcPts val="0"/>
              </a:spcBef>
              <a:spcAft>
                <a:spcPts val="0"/>
              </a:spcAft>
              <a:buSzPts val="1800"/>
              <a:buChar char="●"/>
            </a:pPr>
            <a:r>
              <a:rPr lang="en"/>
              <a:t>Overlap that results in murder: 25%+</a:t>
            </a:r>
            <a:endParaRPr/>
          </a:p>
          <a:p>
            <a:pPr indent="-342900" lvl="0" marL="457200" rtl="0" algn="l">
              <a:spcBef>
                <a:spcPts val="0"/>
              </a:spcBef>
              <a:spcAft>
                <a:spcPts val="0"/>
              </a:spcAft>
              <a:buSzPts val="1800"/>
              <a:buChar char="●"/>
            </a:pPr>
            <a:r>
              <a:rPr lang="en"/>
              <a:t>Every 1% increase doubles the probability of a murder increasing</a:t>
            </a:r>
            <a:endParaRPr/>
          </a:p>
        </p:txBody>
      </p:sp>
      <p:sp>
        <p:nvSpPr>
          <p:cNvPr id="1323" name="Google Shape;1323;p74"/>
          <p:cNvSpPr/>
          <p:nvPr/>
        </p:nvSpPr>
        <p:spPr>
          <a:xfrm>
            <a:off x="805050" y="2897975"/>
            <a:ext cx="1169100" cy="924900"/>
          </a:xfrm>
          <a:prstGeom prst="rect">
            <a:avLst/>
          </a:prstGeom>
          <a:solidFill>
            <a:srgbClr val="4A86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p74"/>
          <p:cNvSpPr/>
          <p:nvPr/>
        </p:nvSpPr>
        <p:spPr>
          <a:xfrm>
            <a:off x="1709875" y="3562825"/>
            <a:ext cx="1087500" cy="1016400"/>
          </a:xfrm>
          <a:prstGeom prst="rect">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74"/>
          <p:cNvSpPr/>
          <p:nvPr/>
        </p:nvSpPr>
        <p:spPr>
          <a:xfrm>
            <a:off x="5633375" y="3070000"/>
            <a:ext cx="1169100" cy="924900"/>
          </a:xfrm>
          <a:prstGeom prst="rect">
            <a:avLst/>
          </a:prstGeom>
          <a:solidFill>
            <a:srgbClr val="4A86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74"/>
          <p:cNvSpPr/>
          <p:nvPr/>
        </p:nvSpPr>
        <p:spPr>
          <a:xfrm>
            <a:off x="6192475" y="3482650"/>
            <a:ext cx="1087500" cy="1016400"/>
          </a:xfrm>
          <a:prstGeom prst="rect">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74"/>
          <p:cNvSpPr txBox="1"/>
          <p:nvPr/>
        </p:nvSpPr>
        <p:spPr>
          <a:xfrm>
            <a:off x="916875" y="4579225"/>
            <a:ext cx="1799100" cy="24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Not unusual, peace</a:t>
            </a:r>
            <a:endParaRPr>
              <a:latin typeface="Open Sans"/>
              <a:ea typeface="Open Sans"/>
              <a:cs typeface="Open Sans"/>
              <a:sym typeface="Open Sans"/>
            </a:endParaRPr>
          </a:p>
        </p:txBody>
      </p:sp>
      <p:sp>
        <p:nvSpPr>
          <p:cNvPr id="1328" name="Google Shape;1328;p74"/>
          <p:cNvSpPr txBox="1"/>
          <p:nvPr/>
        </p:nvSpPr>
        <p:spPr>
          <a:xfrm>
            <a:off x="5257225" y="4499050"/>
            <a:ext cx="2307600" cy="24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Very bad things happen</a:t>
            </a:r>
            <a:endParaRPr>
              <a:latin typeface="Open Sans"/>
              <a:ea typeface="Open Sans"/>
              <a:cs typeface="Open Sans"/>
              <a:sym typeface="Open Sans"/>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2" name="Shape 1332"/>
        <p:cNvGrpSpPr/>
        <p:nvPr/>
      </p:nvGrpSpPr>
      <p:grpSpPr>
        <a:xfrm>
          <a:off x="0" y="0"/>
          <a:ext cx="0" cy="0"/>
          <a:chOff x="0" y="0"/>
          <a:chExt cx="0" cy="0"/>
        </a:xfrm>
      </p:grpSpPr>
      <p:sp>
        <p:nvSpPr>
          <p:cNvPr id="1333" name="Google Shape;1333;p7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When does violence occur?</a:t>
            </a:r>
            <a:endParaRPr/>
          </a:p>
        </p:txBody>
      </p:sp>
      <p:sp>
        <p:nvSpPr>
          <p:cNvPr id="1334" name="Google Shape;1334;p75"/>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Papachristos argues we can think of murder as a network phenomenon</a:t>
            </a:r>
            <a:endParaRPr/>
          </a:p>
          <a:p>
            <a:pPr indent="-342900" lvl="0" marL="457200" rtl="0" algn="l">
              <a:spcBef>
                <a:spcPts val="1600"/>
              </a:spcBef>
              <a:spcAft>
                <a:spcPts val="0"/>
              </a:spcAft>
              <a:buSzPts val="1800"/>
              <a:buChar char="●"/>
            </a:pPr>
            <a:r>
              <a:rPr lang="en"/>
              <a:t>Crime is not some individual in isolation responding to a set of deprivations, but inherently a social phenomena </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sp>
        <p:nvSpPr>
          <p:cNvPr id="1335" name="Google Shape;1335;p75"/>
          <p:cNvSpPr/>
          <p:nvPr/>
        </p:nvSpPr>
        <p:spPr>
          <a:xfrm>
            <a:off x="805050" y="2897975"/>
            <a:ext cx="1169100" cy="924900"/>
          </a:xfrm>
          <a:prstGeom prst="rect">
            <a:avLst/>
          </a:prstGeom>
          <a:solidFill>
            <a:srgbClr val="4A86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75"/>
          <p:cNvSpPr/>
          <p:nvPr/>
        </p:nvSpPr>
        <p:spPr>
          <a:xfrm>
            <a:off x="1709875" y="3562825"/>
            <a:ext cx="1087500" cy="1016400"/>
          </a:xfrm>
          <a:prstGeom prst="rect">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75"/>
          <p:cNvSpPr/>
          <p:nvPr/>
        </p:nvSpPr>
        <p:spPr>
          <a:xfrm>
            <a:off x="5633375" y="3070000"/>
            <a:ext cx="1169100" cy="924900"/>
          </a:xfrm>
          <a:prstGeom prst="rect">
            <a:avLst/>
          </a:prstGeom>
          <a:solidFill>
            <a:srgbClr val="4A86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75"/>
          <p:cNvSpPr/>
          <p:nvPr/>
        </p:nvSpPr>
        <p:spPr>
          <a:xfrm>
            <a:off x="6192475" y="3482650"/>
            <a:ext cx="1087500" cy="1016400"/>
          </a:xfrm>
          <a:prstGeom prst="rect">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75"/>
          <p:cNvSpPr txBox="1"/>
          <p:nvPr/>
        </p:nvSpPr>
        <p:spPr>
          <a:xfrm>
            <a:off x="916875" y="4579225"/>
            <a:ext cx="1799100" cy="24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Not unusual, peace</a:t>
            </a:r>
            <a:endParaRPr>
              <a:latin typeface="Open Sans"/>
              <a:ea typeface="Open Sans"/>
              <a:cs typeface="Open Sans"/>
              <a:sym typeface="Open Sans"/>
            </a:endParaRPr>
          </a:p>
        </p:txBody>
      </p:sp>
      <p:sp>
        <p:nvSpPr>
          <p:cNvPr id="1340" name="Google Shape;1340;p75"/>
          <p:cNvSpPr txBox="1"/>
          <p:nvPr/>
        </p:nvSpPr>
        <p:spPr>
          <a:xfrm>
            <a:off x="5257225" y="4499050"/>
            <a:ext cx="2307600" cy="24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Very bad things happen</a:t>
            </a:r>
            <a:endParaRPr>
              <a:latin typeface="Open Sans"/>
              <a:ea typeface="Open Sans"/>
              <a:cs typeface="Open Sans"/>
              <a:sym typeface="Open Sans"/>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4" name="Shape 1344"/>
        <p:cNvGrpSpPr/>
        <p:nvPr/>
      </p:nvGrpSpPr>
      <p:grpSpPr>
        <a:xfrm>
          <a:off x="0" y="0"/>
          <a:ext cx="0" cy="0"/>
          <a:chOff x="0" y="0"/>
          <a:chExt cx="0" cy="0"/>
        </a:xfrm>
      </p:grpSpPr>
      <p:sp>
        <p:nvSpPr>
          <p:cNvPr id="1345" name="Google Shape;1345;p7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Two ways violence spreads</a:t>
            </a:r>
            <a:endParaRPr/>
          </a:p>
        </p:txBody>
      </p:sp>
      <p:sp>
        <p:nvSpPr>
          <p:cNvPr id="1346" name="Google Shape;1346;p76"/>
          <p:cNvSpPr txBox="1"/>
          <p:nvPr/>
        </p:nvSpPr>
        <p:spPr>
          <a:xfrm>
            <a:off x="1379975" y="4161025"/>
            <a:ext cx="1537200" cy="346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Time 1</a:t>
            </a:r>
            <a:endParaRPr sz="1800">
              <a:latin typeface="Economica"/>
              <a:ea typeface="Economica"/>
              <a:cs typeface="Economica"/>
              <a:sym typeface="Economica"/>
            </a:endParaRPr>
          </a:p>
        </p:txBody>
      </p:sp>
      <p:sp>
        <p:nvSpPr>
          <p:cNvPr id="1347" name="Google Shape;1347;p76"/>
          <p:cNvSpPr/>
          <p:nvPr/>
        </p:nvSpPr>
        <p:spPr>
          <a:xfrm>
            <a:off x="663325" y="1814650"/>
            <a:ext cx="786000" cy="705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a:latin typeface="Economica"/>
                <a:ea typeface="Economica"/>
                <a:cs typeface="Economica"/>
                <a:sym typeface="Economica"/>
              </a:rPr>
              <a:t>Gang 1</a:t>
            </a:r>
            <a:endParaRPr b="1">
              <a:latin typeface="Economica"/>
              <a:ea typeface="Economica"/>
              <a:cs typeface="Economica"/>
              <a:sym typeface="Economica"/>
            </a:endParaRPr>
          </a:p>
        </p:txBody>
      </p:sp>
      <p:sp>
        <p:nvSpPr>
          <p:cNvPr id="1348" name="Google Shape;1348;p76"/>
          <p:cNvSpPr/>
          <p:nvPr/>
        </p:nvSpPr>
        <p:spPr>
          <a:xfrm>
            <a:off x="2942475" y="1814650"/>
            <a:ext cx="786000" cy="705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a:latin typeface="Economica"/>
                <a:ea typeface="Economica"/>
                <a:cs typeface="Economica"/>
                <a:sym typeface="Economica"/>
              </a:rPr>
              <a:t>Gang 2</a:t>
            </a:r>
            <a:endParaRPr b="1">
              <a:latin typeface="Economica"/>
              <a:ea typeface="Economica"/>
              <a:cs typeface="Economica"/>
              <a:sym typeface="Economica"/>
            </a:endParaRPr>
          </a:p>
        </p:txBody>
      </p:sp>
      <p:sp>
        <p:nvSpPr>
          <p:cNvPr id="1349" name="Google Shape;1349;p76"/>
          <p:cNvSpPr/>
          <p:nvPr/>
        </p:nvSpPr>
        <p:spPr>
          <a:xfrm>
            <a:off x="663325" y="3192275"/>
            <a:ext cx="786000" cy="705000"/>
          </a:xfrm>
          <a:prstGeom prst="ellipse">
            <a:avLst/>
          </a:prstGeom>
          <a:solidFill>
            <a:srgbClr val="45818E"/>
          </a:solidFill>
          <a:ln cap="flat" cmpd="sng" w="9525">
            <a:solidFill>
              <a:schemeClr val="dk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a:solidFill>
                  <a:srgbClr val="FFFFFF"/>
                </a:solidFill>
                <a:latin typeface="Economica"/>
                <a:ea typeface="Economica"/>
                <a:cs typeface="Economica"/>
                <a:sym typeface="Economica"/>
              </a:rPr>
              <a:t>Gang 3</a:t>
            </a:r>
            <a:endParaRPr b="1">
              <a:solidFill>
                <a:srgbClr val="FFFFFF"/>
              </a:solidFill>
              <a:latin typeface="Economica"/>
              <a:ea typeface="Economica"/>
              <a:cs typeface="Economica"/>
              <a:sym typeface="Economica"/>
            </a:endParaRPr>
          </a:p>
        </p:txBody>
      </p:sp>
      <p:cxnSp>
        <p:nvCxnSpPr>
          <p:cNvPr id="1350" name="Google Shape;1350;p76"/>
          <p:cNvCxnSpPr>
            <a:stCxn id="1347" idx="7"/>
            <a:endCxn id="1348" idx="1"/>
          </p:cNvCxnSpPr>
          <p:nvPr/>
        </p:nvCxnSpPr>
        <p:spPr>
          <a:xfrm flipH="1" rot="-5400000">
            <a:off x="2195668" y="1056445"/>
            <a:ext cx="600" cy="1723500"/>
          </a:xfrm>
          <a:prstGeom prst="curvedConnector3">
            <a:avLst>
              <a:gd fmla="val -56894977" name="adj1"/>
            </a:avLst>
          </a:prstGeom>
          <a:noFill/>
          <a:ln cap="flat" cmpd="sng" w="19050">
            <a:solidFill>
              <a:srgbClr val="000000"/>
            </a:solidFill>
            <a:prstDash val="solid"/>
            <a:round/>
            <a:headEnd len="med" w="med" type="none"/>
            <a:tailEnd len="med" w="med" type="triangle"/>
          </a:ln>
        </p:spPr>
      </p:cxnSp>
      <p:sp>
        <p:nvSpPr>
          <p:cNvPr id="1351" name="Google Shape;1351;p76"/>
          <p:cNvSpPr txBox="1"/>
          <p:nvPr/>
        </p:nvSpPr>
        <p:spPr>
          <a:xfrm>
            <a:off x="1414625" y="1174750"/>
            <a:ext cx="1467900" cy="342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Murder</a:t>
            </a:r>
            <a:endParaRPr>
              <a:latin typeface="Open Sans"/>
              <a:ea typeface="Open Sans"/>
              <a:cs typeface="Open Sans"/>
              <a:sym typeface="Open Sans"/>
            </a:endParaRPr>
          </a:p>
        </p:txBody>
      </p:sp>
      <p:sp>
        <p:nvSpPr>
          <p:cNvPr id="1352" name="Google Shape;1352;p76"/>
          <p:cNvSpPr txBox="1"/>
          <p:nvPr/>
        </p:nvSpPr>
        <p:spPr>
          <a:xfrm>
            <a:off x="5938275" y="4161025"/>
            <a:ext cx="1537200" cy="346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Time 2</a:t>
            </a:r>
            <a:endParaRPr sz="1800">
              <a:latin typeface="Economica"/>
              <a:ea typeface="Economica"/>
              <a:cs typeface="Economica"/>
              <a:sym typeface="Economica"/>
            </a:endParaRPr>
          </a:p>
        </p:txBody>
      </p:sp>
      <p:sp>
        <p:nvSpPr>
          <p:cNvPr id="1353" name="Google Shape;1353;p76"/>
          <p:cNvSpPr/>
          <p:nvPr/>
        </p:nvSpPr>
        <p:spPr>
          <a:xfrm>
            <a:off x="5221625" y="1814650"/>
            <a:ext cx="786000" cy="705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a:latin typeface="Economica"/>
                <a:ea typeface="Economica"/>
                <a:cs typeface="Economica"/>
                <a:sym typeface="Economica"/>
              </a:rPr>
              <a:t>Gang 1</a:t>
            </a:r>
            <a:endParaRPr b="1">
              <a:latin typeface="Economica"/>
              <a:ea typeface="Economica"/>
              <a:cs typeface="Economica"/>
              <a:sym typeface="Economica"/>
            </a:endParaRPr>
          </a:p>
        </p:txBody>
      </p:sp>
      <p:sp>
        <p:nvSpPr>
          <p:cNvPr id="1354" name="Google Shape;1354;p76"/>
          <p:cNvSpPr/>
          <p:nvPr/>
        </p:nvSpPr>
        <p:spPr>
          <a:xfrm>
            <a:off x="7500775" y="1814650"/>
            <a:ext cx="786000" cy="705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a:latin typeface="Economica"/>
                <a:ea typeface="Economica"/>
                <a:cs typeface="Economica"/>
                <a:sym typeface="Economica"/>
              </a:rPr>
              <a:t>Gang 2</a:t>
            </a:r>
            <a:endParaRPr b="1">
              <a:latin typeface="Economica"/>
              <a:ea typeface="Economica"/>
              <a:cs typeface="Economica"/>
              <a:sym typeface="Economica"/>
            </a:endParaRPr>
          </a:p>
        </p:txBody>
      </p:sp>
      <p:sp>
        <p:nvSpPr>
          <p:cNvPr id="1355" name="Google Shape;1355;p76"/>
          <p:cNvSpPr/>
          <p:nvPr/>
        </p:nvSpPr>
        <p:spPr>
          <a:xfrm>
            <a:off x="5221625" y="3192275"/>
            <a:ext cx="786000" cy="705000"/>
          </a:xfrm>
          <a:prstGeom prst="ellipse">
            <a:avLst/>
          </a:prstGeom>
          <a:solidFill>
            <a:srgbClr val="45818E"/>
          </a:solidFill>
          <a:ln cap="flat" cmpd="sng" w="9525">
            <a:solidFill>
              <a:schemeClr val="dk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a:solidFill>
                  <a:srgbClr val="FFFFFF"/>
                </a:solidFill>
                <a:latin typeface="Economica"/>
                <a:ea typeface="Economica"/>
                <a:cs typeface="Economica"/>
                <a:sym typeface="Economica"/>
              </a:rPr>
              <a:t>Gang 3</a:t>
            </a:r>
            <a:endParaRPr b="1">
              <a:solidFill>
                <a:srgbClr val="FFFFFF"/>
              </a:solidFill>
              <a:latin typeface="Economica"/>
              <a:ea typeface="Economica"/>
              <a:cs typeface="Economica"/>
              <a:sym typeface="Economica"/>
            </a:endParaRPr>
          </a:p>
        </p:txBody>
      </p:sp>
      <p:cxnSp>
        <p:nvCxnSpPr>
          <p:cNvPr id="1356" name="Google Shape;1356;p76"/>
          <p:cNvCxnSpPr>
            <a:stCxn id="1353" idx="7"/>
            <a:endCxn id="1354" idx="1"/>
          </p:cNvCxnSpPr>
          <p:nvPr/>
        </p:nvCxnSpPr>
        <p:spPr>
          <a:xfrm flipH="1" rot="-5400000">
            <a:off x="6753968" y="1056445"/>
            <a:ext cx="600" cy="1723500"/>
          </a:xfrm>
          <a:prstGeom prst="curvedConnector3">
            <a:avLst>
              <a:gd fmla="val -56894977" name="adj1"/>
            </a:avLst>
          </a:prstGeom>
          <a:noFill/>
          <a:ln cap="flat" cmpd="sng" w="19050">
            <a:solidFill>
              <a:srgbClr val="000000"/>
            </a:solidFill>
            <a:prstDash val="solid"/>
            <a:round/>
            <a:headEnd len="med" w="med" type="none"/>
            <a:tailEnd len="med" w="med" type="triangle"/>
          </a:ln>
        </p:spPr>
      </p:cxnSp>
      <p:sp>
        <p:nvSpPr>
          <p:cNvPr id="1357" name="Google Shape;1357;p76"/>
          <p:cNvSpPr txBox="1"/>
          <p:nvPr/>
        </p:nvSpPr>
        <p:spPr>
          <a:xfrm>
            <a:off x="6020325" y="1190875"/>
            <a:ext cx="1467900" cy="342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Murder</a:t>
            </a:r>
            <a:endParaRPr>
              <a:latin typeface="Open Sans"/>
              <a:ea typeface="Open Sans"/>
              <a:cs typeface="Open Sans"/>
              <a:sym typeface="Open Sans"/>
            </a:endParaRPr>
          </a:p>
        </p:txBody>
      </p:sp>
      <p:cxnSp>
        <p:nvCxnSpPr>
          <p:cNvPr id="1358" name="Google Shape;1358;p76"/>
          <p:cNvCxnSpPr>
            <a:stCxn id="1354" idx="3"/>
            <a:endCxn id="1353" idx="5"/>
          </p:cNvCxnSpPr>
          <p:nvPr/>
        </p:nvCxnSpPr>
        <p:spPr>
          <a:xfrm rot="5400000">
            <a:off x="6753832" y="1554955"/>
            <a:ext cx="600" cy="1723500"/>
          </a:xfrm>
          <a:prstGeom prst="curvedConnector3">
            <a:avLst>
              <a:gd fmla="val 56894977" name="adj1"/>
            </a:avLst>
          </a:prstGeom>
          <a:noFill/>
          <a:ln cap="flat" cmpd="sng" w="19050">
            <a:solidFill>
              <a:srgbClr val="000000"/>
            </a:solidFill>
            <a:prstDash val="solid"/>
            <a:round/>
            <a:headEnd len="med" w="med" type="none"/>
            <a:tailEnd len="med" w="med" type="triangle"/>
          </a:ln>
        </p:spPr>
      </p:cxnSp>
      <p:sp>
        <p:nvSpPr>
          <p:cNvPr id="1359" name="Google Shape;1359;p76"/>
          <p:cNvSpPr txBox="1"/>
          <p:nvPr/>
        </p:nvSpPr>
        <p:spPr>
          <a:xfrm>
            <a:off x="5972925" y="2804025"/>
            <a:ext cx="1467900" cy="342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Payback</a:t>
            </a:r>
            <a:endParaRPr>
              <a:latin typeface="Open Sans"/>
              <a:ea typeface="Open Sans"/>
              <a:cs typeface="Open Sans"/>
              <a:sym typeface="Open Sans"/>
            </a:endParaRPr>
          </a:p>
        </p:txBody>
      </p:sp>
      <p:sp>
        <p:nvSpPr>
          <p:cNvPr id="1360" name="Google Shape;1360;p76"/>
          <p:cNvSpPr txBox="1"/>
          <p:nvPr/>
        </p:nvSpPr>
        <p:spPr>
          <a:xfrm>
            <a:off x="2882525" y="4507825"/>
            <a:ext cx="3055800" cy="34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latin typeface="Economica"/>
                <a:ea typeface="Economica"/>
                <a:cs typeface="Economica"/>
                <a:sym typeface="Economica"/>
              </a:rPr>
              <a:t>Direct Retaliation</a:t>
            </a:r>
            <a:endParaRPr sz="2400">
              <a:latin typeface="Economica"/>
              <a:ea typeface="Economica"/>
              <a:cs typeface="Economica"/>
              <a:sym typeface="Economica"/>
            </a:endParaRPr>
          </a:p>
        </p:txBody>
      </p:sp>
      <p:sp>
        <p:nvSpPr>
          <p:cNvPr id="1361" name="Google Shape;1361;p76"/>
          <p:cNvSpPr/>
          <p:nvPr/>
        </p:nvSpPr>
        <p:spPr>
          <a:xfrm>
            <a:off x="4017800" y="2779325"/>
            <a:ext cx="818700" cy="599700"/>
          </a:xfrm>
          <a:prstGeom prst="striped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5" name="Shape 1365"/>
        <p:cNvGrpSpPr/>
        <p:nvPr/>
      </p:nvGrpSpPr>
      <p:grpSpPr>
        <a:xfrm>
          <a:off x="0" y="0"/>
          <a:ext cx="0" cy="0"/>
          <a:chOff x="0" y="0"/>
          <a:chExt cx="0" cy="0"/>
        </a:xfrm>
      </p:grpSpPr>
      <p:sp>
        <p:nvSpPr>
          <p:cNvPr id="1366" name="Google Shape;1366;p7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Two ways violence spreads</a:t>
            </a:r>
            <a:endParaRPr/>
          </a:p>
        </p:txBody>
      </p:sp>
      <p:sp>
        <p:nvSpPr>
          <p:cNvPr id="1367" name="Google Shape;1367;p77"/>
          <p:cNvSpPr txBox="1"/>
          <p:nvPr/>
        </p:nvSpPr>
        <p:spPr>
          <a:xfrm>
            <a:off x="1379975" y="4161025"/>
            <a:ext cx="1537200" cy="346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Time 1</a:t>
            </a:r>
            <a:endParaRPr sz="1800">
              <a:latin typeface="Economica"/>
              <a:ea typeface="Economica"/>
              <a:cs typeface="Economica"/>
              <a:sym typeface="Economica"/>
            </a:endParaRPr>
          </a:p>
        </p:txBody>
      </p:sp>
      <p:sp>
        <p:nvSpPr>
          <p:cNvPr id="1368" name="Google Shape;1368;p77"/>
          <p:cNvSpPr/>
          <p:nvPr/>
        </p:nvSpPr>
        <p:spPr>
          <a:xfrm>
            <a:off x="663325" y="1814650"/>
            <a:ext cx="786000" cy="705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a:latin typeface="Economica"/>
                <a:ea typeface="Economica"/>
                <a:cs typeface="Economica"/>
                <a:sym typeface="Economica"/>
              </a:rPr>
              <a:t>Gang 1</a:t>
            </a:r>
            <a:endParaRPr b="1">
              <a:latin typeface="Economica"/>
              <a:ea typeface="Economica"/>
              <a:cs typeface="Economica"/>
              <a:sym typeface="Economica"/>
            </a:endParaRPr>
          </a:p>
        </p:txBody>
      </p:sp>
      <p:sp>
        <p:nvSpPr>
          <p:cNvPr id="1369" name="Google Shape;1369;p77"/>
          <p:cNvSpPr/>
          <p:nvPr/>
        </p:nvSpPr>
        <p:spPr>
          <a:xfrm>
            <a:off x="2942475" y="1814650"/>
            <a:ext cx="786000" cy="705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a:latin typeface="Economica"/>
                <a:ea typeface="Economica"/>
                <a:cs typeface="Economica"/>
                <a:sym typeface="Economica"/>
              </a:rPr>
              <a:t>Gang 2</a:t>
            </a:r>
            <a:endParaRPr b="1">
              <a:latin typeface="Economica"/>
              <a:ea typeface="Economica"/>
              <a:cs typeface="Economica"/>
              <a:sym typeface="Economica"/>
            </a:endParaRPr>
          </a:p>
        </p:txBody>
      </p:sp>
      <p:sp>
        <p:nvSpPr>
          <p:cNvPr id="1370" name="Google Shape;1370;p77"/>
          <p:cNvSpPr/>
          <p:nvPr/>
        </p:nvSpPr>
        <p:spPr>
          <a:xfrm>
            <a:off x="663325" y="3192275"/>
            <a:ext cx="786000" cy="705000"/>
          </a:xfrm>
          <a:prstGeom prst="ellipse">
            <a:avLst/>
          </a:prstGeom>
          <a:solidFill>
            <a:srgbClr val="45818E"/>
          </a:solidFill>
          <a:ln cap="flat" cmpd="sng" w="9525">
            <a:solidFill>
              <a:schemeClr val="dk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a:solidFill>
                  <a:srgbClr val="FFFFFF"/>
                </a:solidFill>
                <a:latin typeface="Economica"/>
                <a:ea typeface="Economica"/>
                <a:cs typeface="Economica"/>
                <a:sym typeface="Economica"/>
              </a:rPr>
              <a:t>Gang 3</a:t>
            </a:r>
            <a:endParaRPr b="1">
              <a:solidFill>
                <a:srgbClr val="FFFFFF"/>
              </a:solidFill>
              <a:latin typeface="Economica"/>
              <a:ea typeface="Economica"/>
              <a:cs typeface="Economica"/>
              <a:sym typeface="Economica"/>
            </a:endParaRPr>
          </a:p>
        </p:txBody>
      </p:sp>
      <p:cxnSp>
        <p:nvCxnSpPr>
          <p:cNvPr id="1371" name="Google Shape;1371;p77"/>
          <p:cNvCxnSpPr>
            <a:stCxn id="1368" idx="7"/>
            <a:endCxn id="1369" idx="1"/>
          </p:cNvCxnSpPr>
          <p:nvPr/>
        </p:nvCxnSpPr>
        <p:spPr>
          <a:xfrm flipH="1" rot="-5400000">
            <a:off x="2195668" y="1056445"/>
            <a:ext cx="600" cy="1723500"/>
          </a:xfrm>
          <a:prstGeom prst="curvedConnector3">
            <a:avLst>
              <a:gd fmla="val -56894977" name="adj1"/>
            </a:avLst>
          </a:prstGeom>
          <a:noFill/>
          <a:ln cap="flat" cmpd="sng" w="19050">
            <a:solidFill>
              <a:srgbClr val="000000"/>
            </a:solidFill>
            <a:prstDash val="solid"/>
            <a:round/>
            <a:headEnd len="med" w="med" type="none"/>
            <a:tailEnd len="med" w="med" type="triangle"/>
          </a:ln>
        </p:spPr>
      </p:cxnSp>
      <p:sp>
        <p:nvSpPr>
          <p:cNvPr id="1372" name="Google Shape;1372;p77"/>
          <p:cNvSpPr txBox="1"/>
          <p:nvPr/>
        </p:nvSpPr>
        <p:spPr>
          <a:xfrm>
            <a:off x="1414625" y="1174750"/>
            <a:ext cx="1467900" cy="342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Murder</a:t>
            </a:r>
            <a:endParaRPr>
              <a:latin typeface="Open Sans"/>
              <a:ea typeface="Open Sans"/>
              <a:cs typeface="Open Sans"/>
              <a:sym typeface="Open Sans"/>
            </a:endParaRPr>
          </a:p>
        </p:txBody>
      </p:sp>
      <p:sp>
        <p:nvSpPr>
          <p:cNvPr id="1373" name="Google Shape;1373;p77"/>
          <p:cNvSpPr txBox="1"/>
          <p:nvPr/>
        </p:nvSpPr>
        <p:spPr>
          <a:xfrm>
            <a:off x="5938275" y="4161025"/>
            <a:ext cx="1537200" cy="346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Time 2</a:t>
            </a:r>
            <a:endParaRPr sz="1800">
              <a:latin typeface="Economica"/>
              <a:ea typeface="Economica"/>
              <a:cs typeface="Economica"/>
              <a:sym typeface="Economica"/>
            </a:endParaRPr>
          </a:p>
        </p:txBody>
      </p:sp>
      <p:sp>
        <p:nvSpPr>
          <p:cNvPr id="1374" name="Google Shape;1374;p77"/>
          <p:cNvSpPr/>
          <p:nvPr/>
        </p:nvSpPr>
        <p:spPr>
          <a:xfrm>
            <a:off x="5221625" y="1814650"/>
            <a:ext cx="786000" cy="705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a:latin typeface="Economica"/>
                <a:ea typeface="Economica"/>
                <a:cs typeface="Economica"/>
                <a:sym typeface="Economica"/>
              </a:rPr>
              <a:t>Gang 1</a:t>
            </a:r>
            <a:endParaRPr b="1">
              <a:latin typeface="Economica"/>
              <a:ea typeface="Economica"/>
              <a:cs typeface="Economica"/>
              <a:sym typeface="Economica"/>
            </a:endParaRPr>
          </a:p>
        </p:txBody>
      </p:sp>
      <p:sp>
        <p:nvSpPr>
          <p:cNvPr id="1375" name="Google Shape;1375;p77"/>
          <p:cNvSpPr/>
          <p:nvPr/>
        </p:nvSpPr>
        <p:spPr>
          <a:xfrm>
            <a:off x="7500775" y="1814650"/>
            <a:ext cx="786000" cy="705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a:latin typeface="Economica"/>
                <a:ea typeface="Economica"/>
                <a:cs typeface="Economica"/>
                <a:sym typeface="Economica"/>
              </a:rPr>
              <a:t>Gang 2</a:t>
            </a:r>
            <a:endParaRPr b="1">
              <a:latin typeface="Economica"/>
              <a:ea typeface="Economica"/>
              <a:cs typeface="Economica"/>
              <a:sym typeface="Economica"/>
            </a:endParaRPr>
          </a:p>
        </p:txBody>
      </p:sp>
      <p:sp>
        <p:nvSpPr>
          <p:cNvPr id="1376" name="Google Shape;1376;p77"/>
          <p:cNvSpPr/>
          <p:nvPr/>
        </p:nvSpPr>
        <p:spPr>
          <a:xfrm>
            <a:off x="5221625" y="3192275"/>
            <a:ext cx="786000" cy="705000"/>
          </a:xfrm>
          <a:prstGeom prst="ellipse">
            <a:avLst/>
          </a:prstGeom>
          <a:solidFill>
            <a:srgbClr val="45818E"/>
          </a:solidFill>
          <a:ln cap="flat" cmpd="sng" w="9525">
            <a:solidFill>
              <a:schemeClr val="dk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a:solidFill>
                  <a:srgbClr val="FFFFFF"/>
                </a:solidFill>
                <a:latin typeface="Economica"/>
                <a:ea typeface="Economica"/>
                <a:cs typeface="Economica"/>
                <a:sym typeface="Economica"/>
              </a:rPr>
              <a:t>Gang 3</a:t>
            </a:r>
            <a:endParaRPr b="1">
              <a:solidFill>
                <a:srgbClr val="FFFFFF"/>
              </a:solidFill>
              <a:latin typeface="Economica"/>
              <a:ea typeface="Economica"/>
              <a:cs typeface="Economica"/>
              <a:sym typeface="Economica"/>
            </a:endParaRPr>
          </a:p>
        </p:txBody>
      </p:sp>
      <p:cxnSp>
        <p:nvCxnSpPr>
          <p:cNvPr id="1377" name="Google Shape;1377;p77"/>
          <p:cNvCxnSpPr>
            <a:stCxn id="1374" idx="7"/>
            <a:endCxn id="1375" idx="1"/>
          </p:cNvCxnSpPr>
          <p:nvPr/>
        </p:nvCxnSpPr>
        <p:spPr>
          <a:xfrm flipH="1" rot="-5400000">
            <a:off x="6753968" y="1056445"/>
            <a:ext cx="600" cy="1723500"/>
          </a:xfrm>
          <a:prstGeom prst="curvedConnector3">
            <a:avLst>
              <a:gd fmla="val -56894977" name="adj1"/>
            </a:avLst>
          </a:prstGeom>
          <a:noFill/>
          <a:ln cap="flat" cmpd="sng" w="19050">
            <a:solidFill>
              <a:srgbClr val="000000"/>
            </a:solidFill>
            <a:prstDash val="solid"/>
            <a:round/>
            <a:headEnd len="med" w="med" type="none"/>
            <a:tailEnd len="med" w="med" type="triangle"/>
          </a:ln>
        </p:spPr>
      </p:cxnSp>
      <p:sp>
        <p:nvSpPr>
          <p:cNvPr id="1378" name="Google Shape;1378;p77"/>
          <p:cNvSpPr txBox="1"/>
          <p:nvPr/>
        </p:nvSpPr>
        <p:spPr>
          <a:xfrm>
            <a:off x="6020325" y="1190875"/>
            <a:ext cx="1467900" cy="342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Murder</a:t>
            </a:r>
            <a:endParaRPr>
              <a:latin typeface="Open Sans"/>
              <a:ea typeface="Open Sans"/>
              <a:cs typeface="Open Sans"/>
              <a:sym typeface="Open Sans"/>
            </a:endParaRPr>
          </a:p>
        </p:txBody>
      </p:sp>
      <p:cxnSp>
        <p:nvCxnSpPr>
          <p:cNvPr id="1379" name="Google Shape;1379;p77"/>
          <p:cNvCxnSpPr>
            <a:stCxn id="1375" idx="4"/>
            <a:endCxn id="1376" idx="6"/>
          </p:cNvCxnSpPr>
          <p:nvPr/>
        </p:nvCxnSpPr>
        <p:spPr>
          <a:xfrm rot="5400000">
            <a:off x="6438175" y="2089150"/>
            <a:ext cx="1025100" cy="1886100"/>
          </a:xfrm>
          <a:prstGeom prst="curvedConnector2">
            <a:avLst/>
          </a:prstGeom>
          <a:noFill/>
          <a:ln cap="flat" cmpd="sng" w="19050">
            <a:solidFill>
              <a:srgbClr val="000000"/>
            </a:solidFill>
            <a:prstDash val="solid"/>
            <a:round/>
            <a:headEnd len="med" w="med" type="none"/>
            <a:tailEnd len="med" w="med" type="triangle"/>
          </a:ln>
        </p:spPr>
      </p:cxnSp>
      <p:sp>
        <p:nvSpPr>
          <p:cNvPr id="1380" name="Google Shape;1380;p77"/>
          <p:cNvSpPr txBox="1"/>
          <p:nvPr/>
        </p:nvSpPr>
        <p:spPr>
          <a:xfrm rot="-1831922">
            <a:off x="6689506" y="3254761"/>
            <a:ext cx="1468052" cy="341995"/>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Show of force</a:t>
            </a:r>
            <a:endParaRPr>
              <a:latin typeface="Open Sans"/>
              <a:ea typeface="Open Sans"/>
              <a:cs typeface="Open Sans"/>
              <a:sym typeface="Open Sans"/>
            </a:endParaRPr>
          </a:p>
        </p:txBody>
      </p:sp>
      <p:sp>
        <p:nvSpPr>
          <p:cNvPr id="1381" name="Google Shape;1381;p77"/>
          <p:cNvSpPr txBox="1"/>
          <p:nvPr/>
        </p:nvSpPr>
        <p:spPr>
          <a:xfrm>
            <a:off x="2882525" y="4507825"/>
            <a:ext cx="3055800" cy="34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latin typeface="Economica"/>
                <a:ea typeface="Economica"/>
                <a:cs typeface="Economica"/>
                <a:sym typeface="Economica"/>
              </a:rPr>
              <a:t>Generalized Violence</a:t>
            </a:r>
            <a:endParaRPr sz="2400">
              <a:latin typeface="Economica"/>
              <a:ea typeface="Economica"/>
              <a:cs typeface="Economica"/>
              <a:sym typeface="Economica"/>
            </a:endParaRPr>
          </a:p>
        </p:txBody>
      </p:sp>
      <p:sp>
        <p:nvSpPr>
          <p:cNvPr id="1382" name="Google Shape;1382;p77"/>
          <p:cNvSpPr/>
          <p:nvPr/>
        </p:nvSpPr>
        <p:spPr>
          <a:xfrm>
            <a:off x="4017800" y="2779325"/>
            <a:ext cx="818700" cy="599700"/>
          </a:xfrm>
          <a:prstGeom prst="striped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386" name="Shape 1386"/>
        <p:cNvGrpSpPr/>
        <p:nvPr/>
      </p:nvGrpSpPr>
      <p:grpSpPr>
        <a:xfrm>
          <a:off x="0" y="0"/>
          <a:ext cx="0" cy="0"/>
          <a:chOff x="0" y="0"/>
          <a:chExt cx="0" cy="0"/>
        </a:xfrm>
      </p:grpSpPr>
      <p:sp>
        <p:nvSpPr>
          <p:cNvPr id="1387" name="Google Shape;1387;p7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Negative Reciprocity-When More Likely?				</a:t>
            </a:r>
            <a:endParaRPr/>
          </a:p>
        </p:txBody>
      </p:sp>
      <p:sp>
        <p:nvSpPr>
          <p:cNvPr id="1388" name="Google Shape;1388;p78"/>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Gould</a:t>
            </a:r>
            <a:r>
              <a:rPr lang="en"/>
              <a:t>:</a:t>
            </a:r>
            <a:r>
              <a:rPr lang="en"/>
              <a:t> Negative reciprocity more likely amongst equals (like high school)</a:t>
            </a:r>
            <a:endParaRPr/>
          </a:p>
          <a:p>
            <a:pPr indent="0" lvl="0" marL="0" rtl="0" algn="l">
              <a:spcBef>
                <a:spcPts val="1600"/>
              </a:spcBef>
              <a:spcAft>
                <a:spcPts val="0"/>
              </a:spcAft>
              <a:buNone/>
            </a:pPr>
            <a:r>
              <a:rPr b="1" lang="en"/>
              <a:t>Papachristos:</a:t>
            </a:r>
            <a:r>
              <a:rPr lang="en"/>
              <a:t> Finds it actually more likely between unequally sized gangs</a:t>
            </a:r>
            <a:endParaRPr/>
          </a:p>
          <a:p>
            <a:pPr indent="0" lvl="0" marL="0" rtl="0" algn="l">
              <a:spcBef>
                <a:spcPts val="1600"/>
              </a:spcBef>
              <a:spcAft>
                <a:spcPts val="0"/>
              </a:spcAft>
              <a:buNone/>
            </a:pPr>
            <a:r>
              <a:rPr lang="en"/>
              <a:t>		-part of this finding driven by Latin Kings and Gangster Disciple size</a:t>
            </a:r>
            <a:endParaRPr/>
          </a:p>
          <a:p>
            <a:pPr indent="0" lvl="0" marL="0" rtl="0" algn="l">
              <a:spcBef>
                <a:spcPts val="1600"/>
              </a:spcBef>
              <a:spcAft>
                <a:spcPts val="0"/>
              </a:spcAft>
              <a:buNone/>
            </a:pPr>
            <a:r>
              <a:t/>
            </a:r>
            <a:endParaRPr/>
          </a:p>
          <a:p>
            <a:pPr indent="0" lvl="0" marL="0" rtl="0" algn="l">
              <a:spcBef>
                <a:spcPts val="1600"/>
              </a:spcBef>
              <a:spcAft>
                <a:spcPts val="1600"/>
              </a:spcAft>
              <a:buNone/>
            </a:pPr>
            <a:r>
              <a:rPr lang="en"/>
              <a:t>We don’t truly understand all the reasons and scope conditions as to why this is true... </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392" name="Shape 1392"/>
        <p:cNvGrpSpPr/>
        <p:nvPr/>
      </p:nvGrpSpPr>
      <p:grpSpPr>
        <a:xfrm>
          <a:off x="0" y="0"/>
          <a:ext cx="0" cy="0"/>
          <a:chOff x="0" y="0"/>
          <a:chExt cx="0" cy="0"/>
        </a:xfrm>
      </p:grpSpPr>
      <p:sp>
        <p:nvSpPr>
          <p:cNvPr id="1393" name="Google Shape;1393;p7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Negative Reciprocity-When More Likely?				</a:t>
            </a:r>
            <a:endParaRPr/>
          </a:p>
        </p:txBody>
      </p:sp>
      <p:sp>
        <p:nvSpPr>
          <p:cNvPr id="1394" name="Google Shape;1394;p79"/>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Gould</a:t>
            </a:r>
            <a:r>
              <a:rPr lang="en"/>
              <a:t>: Negative reciprocity more likely amongst equals (like high school)</a:t>
            </a:r>
            <a:endParaRPr/>
          </a:p>
          <a:p>
            <a:pPr indent="0" lvl="0" marL="0" rtl="0" algn="l">
              <a:spcBef>
                <a:spcPts val="1600"/>
              </a:spcBef>
              <a:spcAft>
                <a:spcPts val="0"/>
              </a:spcAft>
              <a:buNone/>
            </a:pPr>
            <a:r>
              <a:rPr b="1" lang="en"/>
              <a:t>Papachristos:</a:t>
            </a:r>
            <a:r>
              <a:rPr lang="en"/>
              <a:t> Finds it actually more likely between unequally sized gangs</a:t>
            </a:r>
            <a:endParaRPr/>
          </a:p>
          <a:p>
            <a:pPr indent="0" lvl="0" marL="0" rtl="0" algn="l">
              <a:spcBef>
                <a:spcPts val="1600"/>
              </a:spcBef>
              <a:spcAft>
                <a:spcPts val="0"/>
              </a:spcAft>
              <a:buNone/>
            </a:pPr>
            <a:r>
              <a:rPr lang="en"/>
              <a:t>		-part of this finding driven by Latin Kings and Gangster Disciple size</a:t>
            </a:r>
            <a:endParaRPr/>
          </a:p>
          <a:p>
            <a:pPr indent="0" lvl="0" marL="0" rtl="0" algn="l">
              <a:spcBef>
                <a:spcPts val="1600"/>
              </a:spcBef>
              <a:spcAft>
                <a:spcPts val="0"/>
              </a:spcAft>
              <a:buNone/>
            </a:pPr>
            <a:r>
              <a:t/>
            </a:r>
            <a:endParaRPr/>
          </a:p>
          <a:p>
            <a:pPr indent="0" lvl="0" marL="0" rtl="0" algn="l">
              <a:spcBef>
                <a:spcPts val="1600"/>
              </a:spcBef>
              <a:spcAft>
                <a:spcPts val="1600"/>
              </a:spcAft>
              <a:buNone/>
            </a:pPr>
            <a:r>
              <a:rPr lang="en"/>
              <a:t>We don’t truly understand all the reasons and scope conditions as to why this is true...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Luxe">
  <a:themeElements>
    <a:clrScheme name="Luxe">
      <a:dk1>
        <a:srgbClr val="000000"/>
      </a:dk1>
      <a:lt1>
        <a:srgbClr val="FFFFFF"/>
      </a:lt1>
      <a:dk2>
        <a:srgbClr val="B7B7B7"/>
      </a:dk2>
      <a:lt2>
        <a:srgbClr val="CCA677"/>
      </a:lt2>
      <a:accent1>
        <a:srgbClr val="5D4037"/>
      </a:accent1>
      <a:accent2>
        <a:srgbClr val="455A64"/>
      </a:accent2>
      <a:accent3>
        <a:srgbClr val="607D8B"/>
      </a:accent3>
      <a:accent4>
        <a:srgbClr val="78909C"/>
      </a:accent4>
      <a:accent5>
        <a:srgbClr val="57BB8A"/>
      </a:accent5>
      <a:accent6>
        <a:srgbClr val="DCE755"/>
      </a:accent6>
      <a:hlink>
        <a:srgbClr val="57BB8A"/>
      </a:hlink>
      <a:folHlink>
        <a:srgbClr val="57BB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