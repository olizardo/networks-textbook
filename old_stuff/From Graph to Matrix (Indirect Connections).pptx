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</p:sldIdLst>
  <p:sldSz cy="5143500" cx="9144000"/>
  <p:notesSz cx="6858000" cy="9144000"/>
  <p:embeddedFontLst>
    <p:embeddedFont>
      <p:font typeface="Economica"/>
      <p:regular r:id="rId74"/>
      <p:bold r:id="rId75"/>
      <p:italic r:id="rId76"/>
      <p:boldItalic r:id="rId77"/>
    </p:embeddedFont>
    <p:embeddedFont>
      <p:font typeface="Oxygen"/>
      <p:regular r:id="rId78"/>
      <p:bold r:id="rId79"/>
    </p:embeddedFont>
    <p:embeddedFont>
      <p:font typeface="Cantarell"/>
      <p:regular r:id="rId80"/>
      <p:bold r:id="rId81"/>
      <p:italic r:id="rId82"/>
      <p:boldItalic r:id="rId83"/>
    </p:embeddedFont>
    <p:embeddedFont>
      <p:font typeface="Open Sans"/>
      <p:regular r:id="rId84"/>
      <p:bold r:id="rId85"/>
      <p:italic r:id="rId86"/>
      <p:boldItalic r:id="rId8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3EF23A4-BB49-47C6-8F63-12E6B55B6C2E}">
  <a:tblStyle styleId="{33EF23A4-BB49-47C6-8F63-12E6B55B6C2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4" Type="http://schemas.openxmlformats.org/officeDocument/2006/relationships/font" Target="fonts/OpenSans-regular.fntdata"/><Relationship Id="rId83" Type="http://schemas.openxmlformats.org/officeDocument/2006/relationships/font" Target="fonts/Cantarell-boldItalic.fntdata"/><Relationship Id="rId42" Type="http://schemas.openxmlformats.org/officeDocument/2006/relationships/slide" Target="slides/slide36.xml"/><Relationship Id="rId86" Type="http://schemas.openxmlformats.org/officeDocument/2006/relationships/font" Target="fonts/OpenSans-italic.fntdata"/><Relationship Id="rId41" Type="http://schemas.openxmlformats.org/officeDocument/2006/relationships/slide" Target="slides/slide35.xml"/><Relationship Id="rId85" Type="http://schemas.openxmlformats.org/officeDocument/2006/relationships/font" Target="fonts/OpenSans-bold.fntdata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87" Type="http://schemas.openxmlformats.org/officeDocument/2006/relationships/font" Target="fonts/OpenSans-boldItalic.fntdata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font" Target="fonts/Cantarell-regular.fntdata"/><Relationship Id="rId82" Type="http://schemas.openxmlformats.org/officeDocument/2006/relationships/font" Target="fonts/Cantarell-italic.fntdata"/><Relationship Id="rId81" Type="http://schemas.openxmlformats.org/officeDocument/2006/relationships/font" Target="fonts/Cantarell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font" Target="fonts/Economica-bold.fntdata"/><Relationship Id="rId30" Type="http://schemas.openxmlformats.org/officeDocument/2006/relationships/slide" Target="slides/slide24.xml"/><Relationship Id="rId74" Type="http://schemas.openxmlformats.org/officeDocument/2006/relationships/font" Target="fonts/Economica-regular.fntdata"/><Relationship Id="rId33" Type="http://schemas.openxmlformats.org/officeDocument/2006/relationships/slide" Target="slides/slide27.xml"/><Relationship Id="rId77" Type="http://schemas.openxmlformats.org/officeDocument/2006/relationships/font" Target="fonts/Economica-boldItalic.fntdata"/><Relationship Id="rId32" Type="http://schemas.openxmlformats.org/officeDocument/2006/relationships/slide" Target="slides/slide26.xml"/><Relationship Id="rId76" Type="http://schemas.openxmlformats.org/officeDocument/2006/relationships/font" Target="fonts/Economica-italic.fntdata"/><Relationship Id="rId35" Type="http://schemas.openxmlformats.org/officeDocument/2006/relationships/slide" Target="slides/slide29.xml"/><Relationship Id="rId79" Type="http://schemas.openxmlformats.org/officeDocument/2006/relationships/font" Target="fonts/Oxygen-bold.fntdata"/><Relationship Id="rId34" Type="http://schemas.openxmlformats.org/officeDocument/2006/relationships/slide" Target="slides/slide28.xml"/><Relationship Id="rId78" Type="http://schemas.openxmlformats.org/officeDocument/2006/relationships/font" Target="fonts/Oxygen-regular.fntdata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b96b8f805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b96b8f805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b96b8f805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b96b8f805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b96b8f805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b96b8f805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b96b8f8059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b96b8f805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b96b8f8059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b96b8f8059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b96b8f8059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b96b8f8059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b96b8f8059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b96b8f8059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b96b8f8059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b96b8f8059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b96b8f8059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b96b8f8059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b96b8f8059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b96b8f8059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b96b8f8059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b96b8f8059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b96b8f8059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b96b8f8059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b96b8f8059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2b96b8f8059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b96b8f8059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2b96b8f8059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b96b8f8059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b96b8f8059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b96b8f8059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2b96b8f8059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2b96b8f8059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2b96b8f8059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b96b8f8059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2b96b8f8059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2b96b8f8059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2b96b8f8059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2b96b8f8059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2b96b8f8059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2b96b8f8059_0_4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2b96b8f8059_0_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2b96b8f8059_0_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2b96b8f8059_0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2b96b8f8059_0_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2b96b8f8059_0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2b96b8f8059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2b96b8f8059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b96b8f8059_0_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b96b8f8059_0_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2b96b8f8059_0_5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2b96b8f8059_0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2b96b8f8059_0_5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2b96b8f8059_0_5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2b96b8f8059_0_6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2b96b8f8059_0_6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2b96b8f8059_0_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2b96b8f8059_0_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2b96b8f8059_0_6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g2b96b8f8059_0_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2b96b8f8059_0_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2b96b8f8059_0_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2b96b8f8059_0_7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2b96b8f8059_0_7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2b96b8f8059_0_7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2b96b8f8059_0_7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2b96b8f8059_0_7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2b96b8f8059_0_7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2b96b8f8059_0_8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2b96b8f8059_0_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2b96b8f8059_0_8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2b96b8f8059_0_8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2b96b8f8059_0_8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2b96b8f8059_0_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2b96b8f8059_0_8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9" name="Google Shape;979;g2b96b8f8059_0_8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2b96b8f8059_0_9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8" name="Google Shape;1008;g2b96b8f8059_0_9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2b96b8f8059_0_9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2b96b8f8059_0_9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g2b96b8f8059_0_9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6" name="Google Shape;1066;g2b96b8f8059_0_9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g2b96b8f8059_0_10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5" name="Google Shape;1095;g2b96b8f8059_0_10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2b96b8f8059_0_10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4" name="Google Shape;1124;g2b96b8f8059_0_10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g2b96b8f8059_0_10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3" name="Google Shape;1153;g2b96b8f8059_0_10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g2b96b8f8059_0_10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2" name="Google Shape;1182;g2b96b8f8059_0_10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g2b96b8f8059_0_1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2" name="Google Shape;1212;g2b96b8f8059_0_1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g2b96b8f8059_0_1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2" name="Google Shape;1242;g2b96b8f8059_0_1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g2b96b8f8059_0_1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3" name="Google Shape;1273;g2b96b8f8059_0_1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g2b96b8f8059_0_1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2" name="Google Shape;1302;g2b96b8f8059_0_1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g2b96b8f8059_0_1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2" name="Google Shape;1332;g2b96b8f8059_0_1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g2b96b8f8059_0_1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7" name="Google Shape;1337;g2b96b8f8059_0_1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g2b96b8f8059_0_1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8" name="Google Shape;1358;g2b96b8f8059_0_1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g2b96b8f8059_0_1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9" name="Google Shape;1379;g2b96b8f8059_0_1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g2b96b8f8059_0_1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0" name="Google Shape;1400;g2b96b8f8059_0_1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g2b96b8f8059_0_1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1" name="Google Shape;1421;g2b96b8f8059_0_1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2b96b8f8059_0_1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2" name="Google Shape;1442;g2b96b8f8059_0_1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g2b96b8f8059_0_1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3" name="Google Shape;1463;g2b96b8f8059_0_1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g2b96b8f8059_0_1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5" name="Google Shape;1485;g2b96b8f8059_0_1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g2b96b8f8059_0_1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6" name="Google Shape;1506;g2b96b8f8059_0_1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g2b96b8f8059_0_1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2" name="Google Shape;1532;g2b96b8f8059_0_1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6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g2b96b8f8059_0_1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8" name="Google Shape;1558;g2b96b8f8059_0_1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g2b96b8f8059_0_1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1" name="Google Shape;1581;g2b96b8f8059_0_1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2" name="Shape 1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3" name="Google Shape;1603;g2b96b8f8059_0_1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4" name="Google Shape;1604;g2b96b8f8059_0_1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6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g2b96b8f8059_0_1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8" name="Google Shape;1628;g2b96b8f8059_0_1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9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Google Shape;1650;g2b96b8f8059_0_1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1" name="Google Shape;1651;g2b96b8f8059_0_1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g2b96b8f8059_0_15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4" name="Google Shape;1674;g2b96b8f8059_0_1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5" name="Shape 1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6" name="Google Shape;1696;g2b96b8f8059_0_15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7" name="Google Shape;1697;g2b96b8f8059_0_15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Matrices and Indirect Connections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graphicFrame>
        <p:nvGraphicFramePr>
          <p:cNvPr id="65" name="Google Shape;65;p15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reachability matrix</a:t>
            </a:r>
            <a:r>
              <a:rPr lang="en"/>
              <a:t> (D</a:t>
            </a:r>
            <a:r>
              <a:rPr baseline="30000" lang="en"/>
              <a:t>r</a:t>
            </a:r>
            <a:r>
              <a:rPr lang="en"/>
              <a:t>) of a directed graph has a one in each cell if the corresponding pair of nodes are connected via a path of some length</a:t>
            </a:r>
            <a:endParaRPr/>
          </a:p>
        </p:txBody>
      </p:sp>
      <p:sp>
        <p:nvSpPr>
          <p:cNvPr id="67" name="Google Shape;67;p15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Reachability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311700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1464685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2458495" y="230667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2458495" y="4188372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3452305" y="330224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4" name="Google Shape;74;p15"/>
          <p:cNvCxnSpPr>
            <a:stCxn id="70" idx="7"/>
            <a:endCxn id="71" idx="3"/>
          </p:cNvCxnSpPr>
          <p:nvPr/>
        </p:nvCxnSpPr>
        <p:spPr>
          <a:xfrm flipH="1" rot="10800000">
            <a:off x="1905886" y="2748356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75" name="Google Shape;75;p15"/>
          <p:cNvCxnSpPr>
            <a:stCxn id="73" idx="1"/>
            <a:endCxn id="71" idx="5"/>
          </p:cNvCxnSpPr>
          <p:nvPr/>
        </p:nvCxnSpPr>
        <p:spPr>
          <a:xfrm rot="10800000">
            <a:off x="2899803" y="2748331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6" name="Google Shape;76;p15"/>
          <p:cNvCxnSpPr>
            <a:stCxn id="73" idx="3"/>
            <a:endCxn id="72" idx="7"/>
          </p:cNvCxnSpPr>
          <p:nvPr/>
        </p:nvCxnSpPr>
        <p:spPr>
          <a:xfrm flipH="1">
            <a:off x="2899803" y="3743959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7" name="Google Shape;77;p15"/>
          <p:cNvCxnSpPr>
            <a:stCxn id="72" idx="1"/>
            <a:endCxn id="71" idx="3"/>
          </p:cNvCxnSpPr>
          <p:nvPr/>
        </p:nvCxnSpPr>
        <p:spPr>
          <a:xfrm rot="10800000">
            <a:off x="2534193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78" name="Google Shape;78;p15"/>
          <p:cNvCxnSpPr>
            <a:stCxn id="70" idx="1"/>
            <a:endCxn id="69" idx="7"/>
          </p:cNvCxnSpPr>
          <p:nvPr/>
        </p:nvCxnSpPr>
        <p:spPr>
          <a:xfrm rot="10800000">
            <a:off x="752883" y="3341156"/>
            <a:ext cx="787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79" name="Google Shape;79;p15"/>
          <p:cNvCxnSpPr/>
          <p:nvPr/>
        </p:nvCxnSpPr>
        <p:spPr>
          <a:xfrm rot="10800000">
            <a:off x="1723195" y="3782859"/>
            <a:ext cx="735300" cy="66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80" name="Google Shape;80;p15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graphicFrame>
        <p:nvGraphicFramePr>
          <p:cNvPr id="86" name="Google Shape;86;p16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fill it out we put a “1” in the </a:t>
            </a:r>
            <a:r>
              <a:rPr i="1" lang="en"/>
              <a:t>ij</a:t>
            </a:r>
            <a:r>
              <a:rPr baseline="30000" lang="en"/>
              <a:t>th</a:t>
            </a:r>
            <a:r>
              <a:rPr lang="en"/>
              <a:t> cell if node </a:t>
            </a:r>
            <a:r>
              <a:rPr i="1" lang="en"/>
              <a:t>i</a:t>
            </a:r>
            <a:r>
              <a:rPr lang="en"/>
              <a:t> can </a:t>
            </a:r>
            <a:r>
              <a:rPr b="1" lang="en"/>
              <a:t>reach</a:t>
            </a:r>
            <a:r>
              <a:rPr lang="en"/>
              <a:t> node </a:t>
            </a:r>
            <a:r>
              <a:rPr i="1" lang="en"/>
              <a:t>j</a:t>
            </a:r>
            <a:r>
              <a:rPr lang="en"/>
              <a:t> via a </a:t>
            </a:r>
            <a:r>
              <a:rPr b="1" lang="en"/>
              <a:t>directed path</a:t>
            </a:r>
            <a:r>
              <a:rPr lang="en"/>
              <a:t> of any length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a zero otherwise</a:t>
            </a:r>
            <a:endParaRPr/>
          </a:p>
        </p:txBody>
      </p:sp>
      <p:sp>
        <p:nvSpPr>
          <p:cNvPr id="88" name="Google Shape;88;p16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Reachability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311700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1464685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2458495" y="230667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2458495" y="4188372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3452305" y="330224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5" name="Google Shape;95;p16"/>
          <p:cNvCxnSpPr>
            <a:stCxn id="91" idx="7"/>
            <a:endCxn id="92" idx="3"/>
          </p:cNvCxnSpPr>
          <p:nvPr/>
        </p:nvCxnSpPr>
        <p:spPr>
          <a:xfrm flipH="1" rot="10800000">
            <a:off x="1905886" y="2748356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6" name="Google Shape;96;p16"/>
          <p:cNvCxnSpPr>
            <a:stCxn id="94" idx="1"/>
            <a:endCxn id="92" idx="5"/>
          </p:cNvCxnSpPr>
          <p:nvPr/>
        </p:nvCxnSpPr>
        <p:spPr>
          <a:xfrm rot="10800000">
            <a:off x="2899803" y="2748331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7" name="Google Shape;97;p16"/>
          <p:cNvCxnSpPr>
            <a:stCxn id="94" idx="3"/>
            <a:endCxn id="93" idx="7"/>
          </p:cNvCxnSpPr>
          <p:nvPr/>
        </p:nvCxnSpPr>
        <p:spPr>
          <a:xfrm flipH="1">
            <a:off x="2899803" y="3743959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8" name="Google Shape;98;p16"/>
          <p:cNvCxnSpPr>
            <a:stCxn id="93" idx="1"/>
            <a:endCxn id="92" idx="3"/>
          </p:cNvCxnSpPr>
          <p:nvPr/>
        </p:nvCxnSpPr>
        <p:spPr>
          <a:xfrm rot="10800000">
            <a:off x="2534193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9" name="Google Shape;99;p16"/>
          <p:cNvCxnSpPr>
            <a:stCxn id="91" idx="1"/>
            <a:endCxn id="90" idx="7"/>
          </p:cNvCxnSpPr>
          <p:nvPr/>
        </p:nvCxnSpPr>
        <p:spPr>
          <a:xfrm rot="10800000">
            <a:off x="752883" y="3341156"/>
            <a:ext cx="787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0" name="Google Shape;100;p16"/>
          <p:cNvCxnSpPr/>
          <p:nvPr/>
        </p:nvCxnSpPr>
        <p:spPr>
          <a:xfrm rot="10800000">
            <a:off x="1723195" y="3782859"/>
            <a:ext cx="735300" cy="66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01" name="Google Shape;101;p16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graphicFrame>
        <p:nvGraphicFramePr>
          <p:cNvPr id="107" name="Google Shape;107;p17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8" name="Google Shape;108;p17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fill it out we put a “1” in the </a:t>
            </a:r>
            <a:r>
              <a:rPr i="1" lang="en"/>
              <a:t>ij</a:t>
            </a:r>
            <a:r>
              <a:rPr baseline="30000" lang="en"/>
              <a:t>th</a:t>
            </a:r>
            <a:r>
              <a:rPr lang="en"/>
              <a:t> cell if node </a:t>
            </a:r>
            <a:r>
              <a:rPr i="1" lang="en"/>
              <a:t>i</a:t>
            </a:r>
            <a:r>
              <a:rPr lang="en"/>
              <a:t> can </a:t>
            </a:r>
            <a:r>
              <a:rPr b="1" lang="en"/>
              <a:t>reach</a:t>
            </a:r>
            <a:r>
              <a:rPr lang="en"/>
              <a:t> node </a:t>
            </a:r>
            <a:r>
              <a:rPr i="1" lang="en"/>
              <a:t>j</a:t>
            </a:r>
            <a:r>
              <a:rPr lang="en"/>
              <a:t> via a </a:t>
            </a:r>
            <a:r>
              <a:rPr b="1" lang="en"/>
              <a:t>directed path</a:t>
            </a:r>
            <a:r>
              <a:rPr lang="en"/>
              <a:t> of any length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direct link counts as a “path”! (of length 1)</a:t>
            </a:r>
            <a:endParaRPr/>
          </a:p>
        </p:txBody>
      </p:sp>
      <p:sp>
        <p:nvSpPr>
          <p:cNvPr id="109" name="Google Shape;109;p17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7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Reachability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311700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1464685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2458495" y="230667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2458495" y="4188372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3452305" y="330224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6" name="Google Shape;116;p17"/>
          <p:cNvCxnSpPr>
            <a:stCxn id="112" idx="7"/>
            <a:endCxn id="113" idx="3"/>
          </p:cNvCxnSpPr>
          <p:nvPr/>
        </p:nvCxnSpPr>
        <p:spPr>
          <a:xfrm flipH="1" rot="10800000">
            <a:off x="1905886" y="2748356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17" name="Google Shape;117;p17"/>
          <p:cNvCxnSpPr>
            <a:stCxn id="115" idx="1"/>
            <a:endCxn id="113" idx="5"/>
          </p:cNvCxnSpPr>
          <p:nvPr/>
        </p:nvCxnSpPr>
        <p:spPr>
          <a:xfrm rot="10800000">
            <a:off x="2899803" y="2748331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8" name="Google Shape;118;p17"/>
          <p:cNvCxnSpPr>
            <a:stCxn id="115" idx="3"/>
            <a:endCxn id="114" idx="7"/>
          </p:cNvCxnSpPr>
          <p:nvPr/>
        </p:nvCxnSpPr>
        <p:spPr>
          <a:xfrm flipH="1">
            <a:off x="2899803" y="3743959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9" name="Google Shape;119;p17"/>
          <p:cNvCxnSpPr>
            <a:stCxn id="114" idx="1"/>
            <a:endCxn id="113" idx="3"/>
          </p:cNvCxnSpPr>
          <p:nvPr/>
        </p:nvCxnSpPr>
        <p:spPr>
          <a:xfrm rot="10800000">
            <a:off x="2534193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0" name="Google Shape;120;p17"/>
          <p:cNvCxnSpPr>
            <a:stCxn id="112" idx="1"/>
            <a:endCxn id="111" idx="7"/>
          </p:cNvCxnSpPr>
          <p:nvPr/>
        </p:nvCxnSpPr>
        <p:spPr>
          <a:xfrm rot="10800000">
            <a:off x="752883" y="3341156"/>
            <a:ext cx="787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1" name="Google Shape;121;p17"/>
          <p:cNvCxnSpPr/>
          <p:nvPr/>
        </p:nvCxnSpPr>
        <p:spPr>
          <a:xfrm rot="10800000">
            <a:off x="1723195" y="3782859"/>
            <a:ext cx="735300" cy="66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22" name="Google Shape;122;p17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graphicFrame>
        <p:nvGraphicFramePr>
          <p:cNvPr id="128" name="Google Shape;128;p18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begin with the first row node and ask: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</a:t>
            </a:r>
            <a:r>
              <a:rPr b="1" lang="en"/>
              <a:t>A</a:t>
            </a:r>
            <a:r>
              <a:rPr lang="en"/>
              <a:t> reach </a:t>
            </a:r>
            <a:r>
              <a:rPr b="1" lang="en"/>
              <a:t>B</a:t>
            </a:r>
            <a:r>
              <a:rPr lang="en"/>
              <a:t>?</a:t>
            </a:r>
            <a:endParaRPr/>
          </a:p>
        </p:txBody>
      </p:sp>
      <p:sp>
        <p:nvSpPr>
          <p:cNvPr id="130" name="Google Shape;130;p18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8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Reachability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311700" y="3265370"/>
            <a:ext cx="516900" cy="5175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1464685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2458495" y="230667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2458495" y="4188372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3452305" y="3302245"/>
            <a:ext cx="516900" cy="5175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7" name="Google Shape;137;p18"/>
          <p:cNvCxnSpPr>
            <a:stCxn id="133" idx="7"/>
            <a:endCxn id="134" idx="3"/>
          </p:cNvCxnSpPr>
          <p:nvPr/>
        </p:nvCxnSpPr>
        <p:spPr>
          <a:xfrm flipH="1" rot="10800000">
            <a:off x="1905886" y="2748356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8" name="Google Shape;138;p18"/>
          <p:cNvCxnSpPr>
            <a:stCxn id="136" idx="1"/>
            <a:endCxn id="134" idx="5"/>
          </p:cNvCxnSpPr>
          <p:nvPr/>
        </p:nvCxnSpPr>
        <p:spPr>
          <a:xfrm rot="10800000">
            <a:off x="2899803" y="2748331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9" name="Google Shape;139;p18"/>
          <p:cNvCxnSpPr>
            <a:stCxn id="136" idx="3"/>
            <a:endCxn id="135" idx="7"/>
          </p:cNvCxnSpPr>
          <p:nvPr/>
        </p:nvCxnSpPr>
        <p:spPr>
          <a:xfrm flipH="1">
            <a:off x="2899803" y="3743959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0" name="Google Shape;140;p18"/>
          <p:cNvCxnSpPr>
            <a:stCxn id="135" idx="1"/>
            <a:endCxn id="134" idx="3"/>
          </p:cNvCxnSpPr>
          <p:nvPr/>
        </p:nvCxnSpPr>
        <p:spPr>
          <a:xfrm rot="10800000">
            <a:off x="2534193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41" name="Google Shape;141;p18"/>
          <p:cNvCxnSpPr>
            <a:stCxn id="133" idx="1"/>
            <a:endCxn id="132" idx="7"/>
          </p:cNvCxnSpPr>
          <p:nvPr/>
        </p:nvCxnSpPr>
        <p:spPr>
          <a:xfrm rot="10800000">
            <a:off x="752883" y="3341156"/>
            <a:ext cx="787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42" name="Google Shape;142;p18"/>
          <p:cNvCxnSpPr/>
          <p:nvPr/>
        </p:nvCxnSpPr>
        <p:spPr>
          <a:xfrm rot="10800000">
            <a:off x="1723195" y="3782859"/>
            <a:ext cx="735300" cy="66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43" name="Google Shape;143;p18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graphicFrame>
        <p:nvGraphicFramePr>
          <p:cNvPr id="149" name="Google Shape;149;p19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0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0" name="Google Shape;150;p19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begin with the first row node and ask: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</a:t>
            </a:r>
            <a:r>
              <a:rPr b="1" lang="en"/>
              <a:t>A</a:t>
            </a:r>
            <a:r>
              <a:rPr lang="en"/>
              <a:t> reach </a:t>
            </a:r>
            <a:r>
              <a:rPr b="1" lang="en"/>
              <a:t>B</a:t>
            </a:r>
            <a:r>
              <a:rPr lang="en"/>
              <a:t>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No! (d</a:t>
            </a:r>
            <a:r>
              <a:rPr baseline="30000" lang="en"/>
              <a:t>r</a:t>
            </a:r>
            <a:r>
              <a:rPr baseline="-25000" lang="en"/>
              <a:t>1,2</a:t>
            </a:r>
            <a:r>
              <a:rPr lang="en"/>
              <a:t> = 0) because no directed path exists</a:t>
            </a:r>
            <a:endParaRPr/>
          </a:p>
        </p:txBody>
      </p:sp>
      <p:sp>
        <p:nvSpPr>
          <p:cNvPr id="151" name="Google Shape;151;p19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9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Reachability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311700" y="3265370"/>
            <a:ext cx="516900" cy="5175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1464685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2458495" y="230667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2458495" y="4188372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3452305" y="3302245"/>
            <a:ext cx="516900" cy="5175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58" name="Google Shape;158;p19"/>
          <p:cNvCxnSpPr>
            <a:stCxn id="154" idx="7"/>
            <a:endCxn id="155" idx="3"/>
          </p:cNvCxnSpPr>
          <p:nvPr/>
        </p:nvCxnSpPr>
        <p:spPr>
          <a:xfrm flipH="1" rot="10800000">
            <a:off x="1905886" y="2748356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59" name="Google Shape;159;p19"/>
          <p:cNvCxnSpPr>
            <a:stCxn id="157" idx="1"/>
            <a:endCxn id="155" idx="5"/>
          </p:cNvCxnSpPr>
          <p:nvPr/>
        </p:nvCxnSpPr>
        <p:spPr>
          <a:xfrm rot="10800000">
            <a:off x="2899803" y="2748331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0" name="Google Shape;160;p19"/>
          <p:cNvCxnSpPr>
            <a:stCxn id="157" idx="3"/>
            <a:endCxn id="156" idx="7"/>
          </p:cNvCxnSpPr>
          <p:nvPr/>
        </p:nvCxnSpPr>
        <p:spPr>
          <a:xfrm flipH="1">
            <a:off x="2899803" y="3743959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1" name="Google Shape;161;p19"/>
          <p:cNvCxnSpPr>
            <a:stCxn id="156" idx="1"/>
            <a:endCxn id="155" idx="3"/>
          </p:cNvCxnSpPr>
          <p:nvPr/>
        </p:nvCxnSpPr>
        <p:spPr>
          <a:xfrm rot="10800000">
            <a:off x="2534193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2" name="Google Shape;162;p19"/>
          <p:cNvCxnSpPr>
            <a:stCxn id="154" idx="1"/>
            <a:endCxn id="153" idx="7"/>
          </p:cNvCxnSpPr>
          <p:nvPr/>
        </p:nvCxnSpPr>
        <p:spPr>
          <a:xfrm rot="10800000">
            <a:off x="752883" y="3341156"/>
            <a:ext cx="787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3" name="Google Shape;163;p19"/>
          <p:cNvCxnSpPr/>
          <p:nvPr/>
        </p:nvCxnSpPr>
        <p:spPr>
          <a:xfrm rot="10800000">
            <a:off x="1723195" y="3782859"/>
            <a:ext cx="735300" cy="66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64" name="Google Shape;164;p19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graphicFrame>
        <p:nvGraphicFramePr>
          <p:cNvPr id="170" name="Google Shape;170;p20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0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1" name="Google Shape;171;p20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begin with the first row node and ask: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</a:t>
            </a:r>
            <a:r>
              <a:rPr b="1" lang="en"/>
              <a:t>A</a:t>
            </a:r>
            <a:r>
              <a:rPr lang="en"/>
              <a:t> reach </a:t>
            </a:r>
            <a:r>
              <a:rPr b="1" lang="en"/>
              <a:t>C</a:t>
            </a:r>
            <a:r>
              <a:rPr lang="en"/>
              <a:t>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Yes! (d</a:t>
            </a:r>
            <a:r>
              <a:rPr baseline="30000" lang="en"/>
              <a:t>r</a:t>
            </a:r>
            <a:r>
              <a:rPr baseline="-25000" lang="en"/>
              <a:t>1,3</a:t>
            </a:r>
            <a:r>
              <a:rPr lang="en"/>
              <a:t> = 1) because they are adjacent</a:t>
            </a:r>
            <a:endParaRPr/>
          </a:p>
        </p:txBody>
      </p:sp>
      <p:sp>
        <p:nvSpPr>
          <p:cNvPr id="172" name="Google Shape;172;p20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Reachability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311700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1464685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2458495" y="2306675"/>
            <a:ext cx="516900" cy="5175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2458495" y="4188372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3452305" y="3302245"/>
            <a:ext cx="516900" cy="5175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79" name="Google Shape;179;p20"/>
          <p:cNvCxnSpPr>
            <a:stCxn id="175" idx="7"/>
            <a:endCxn id="176" idx="3"/>
          </p:cNvCxnSpPr>
          <p:nvPr/>
        </p:nvCxnSpPr>
        <p:spPr>
          <a:xfrm flipH="1" rot="10800000">
            <a:off x="1905886" y="2748356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80" name="Google Shape;180;p20"/>
          <p:cNvCxnSpPr>
            <a:stCxn id="178" idx="1"/>
            <a:endCxn id="176" idx="5"/>
          </p:cNvCxnSpPr>
          <p:nvPr/>
        </p:nvCxnSpPr>
        <p:spPr>
          <a:xfrm rot="10800000">
            <a:off x="2899803" y="2748331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1" name="Google Shape;181;p20"/>
          <p:cNvCxnSpPr>
            <a:stCxn id="178" idx="3"/>
            <a:endCxn id="177" idx="7"/>
          </p:cNvCxnSpPr>
          <p:nvPr/>
        </p:nvCxnSpPr>
        <p:spPr>
          <a:xfrm flipH="1">
            <a:off x="2899803" y="3743959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2" name="Google Shape;182;p20"/>
          <p:cNvCxnSpPr>
            <a:stCxn id="177" idx="1"/>
            <a:endCxn id="176" idx="3"/>
          </p:cNvCxnSpPr>
          <p:nvPr/>
        </p:nvCxnSpPr>
        <p:spPr>
          <a:xfrm rot="10800000">
            <a:off x="2534193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83" name="Google Shape;183;p20"/>
          <p:cNvCxnSpPr>
            <a:stCxn id="175" idx="1"/>
            <a:endCxn id="174" idx="7"/>
          </p:cNvCxnSpPr>
          <p:nvPr/>
        </p:nvCxnSpPr>
        <p:spPr>
          <a:xfrm rot="10800000">
            <a:off x="752883" y="3341156"/>
            <a:ext cx="787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84" name="Google Shape;184;p20"/>
          <p:cNvCxnSpPr/>
          <p:nvPr/>
        </p:nvCxnSpPr>
        <p:spPr>
          <a:xfrm rot="10800000">
            <a:off x="1723195" y="3782859"/>
            <a:ext cx="735300" cy="66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85" name="Google Shape;185;p20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graphicFrame>
        <p:nvGraphicFramePr>
          <p:cNvPr id="191" name="Google Shape;191;p21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0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2" name="Google Shape;192;p21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begin with the first row node and ask: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</a:t>
            </a:r>
            <a:r>
              <a:rPr b="1" lang="en"/>
              <a:t>A</a:t>
            </a:r>
            <a:r>
              <a:rPr lang="en"/>
              <a:t> reach </a:t>
            </a:r>
            <a:r>
              <a:rPr b="1" lang="en"/>
              <a:t>D</a:t>
            </a:r>
            <a:r>
              <a:rPr lang="en"/>
              <a:t>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Yes! (d</a:t>
            </a:r>
            <a:r>
              <a:rPr baseline="30000" lang="en"/>
              <a:t>r</a:t>
            </a:r>
            <a:r>
              <a:rPr baseline="-25000" lang="en"/>
              <a:t>1,4</a:t>
            </a:r>
            <a:r>
              <a:rPr lang="en"/>
              <a:t> = 1) because they are adjacent</a:t>
            </a:r>
            <a:endParaRPr/>
          </a:p>
        </p:txBody>
      </p:sp>
      <p:sp>
        <p:nvSpPr>
          <p:cNvPr id="193" name="Google Shape;193;p21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Reachability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311700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1464685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2458495" y="230667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2458495" y="4188372"/>
            <a:ext cx="516900" cy="5175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3452305" y="3302245"/>
            <a:ext cx="516900" cy="5175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00" name="Google Shape;200;p21"/>
          <p:cNvCxnSpPr>
            <a:stCxn id="196" idx="7"/>
            <a:endCxn id="197" idx="3"/>
          </p:cNvCxnSpPr>
          <p:nvPr/>
        </p:nvCxnSpPr>
        <p:spPr>
          <a:xfrm flipH="1" rot="10800000">
            <a:off x="1905886" y="2748356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01" name="Google Shape;201;p21"/>
          <p:cNvCxnSpPr>
            <a:stCxn id="199" idx="1"/>
            <a:endCxn id="197" idx="5"/>
          </p:cNvCxnSpPr>
          <p:nvPr/>
        </p:nvCxnSpPr>
        <p:spPr>
          <a:xfrm rot="10800000">
            <a:off x="2899803" y="2748331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2" name="Google Shape;202;p21"/>
          <p:cNvCxnSpPr>
            <a:stCxn id="199" idx="3"/>
            <a:endCxn id="198" idx="7"/>
          </p:cNvCxnSpPr>
          <p:nvPr/>
        </p:nvCxnSpPr>
        <p:spPr>
          <a:xfrm flipH="1">
            <a:off x="2899803" y="3743959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3" name="Google Shape;203;p21"/>
          <p:cNvCxnSpPr>
            <a:stCxn id="198" idx="1"/>
            <a:endCxn id="197" idx="3"/>
          </p:cNvCxnSpPr>
          <p:nvPr/>
        </p:nvCxnSpPr>
        <p:spPr>
          <a:xfrm rot="10800000">
            <a:off x="2534193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04" name="Google Shape;204;p21"/>
          <p:cNvCxnSpPr>
            <a:stCxn id="196" idx="1"/>
            <a:endCxn id="195" idx="7"/>
          </p:cNvCxnSpPr>
          <p:nvPr/>
        </p:nvCxnSpPr>
        <p:spPr>
          <a:xfrm rot="10800000">
            <a:off x="752883" y="3341156"/>
            <a:ext cx="787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05" name="Google Shape;205;p21"/>
          <p:cNvCxnSpPr/>
          <p:nvPr/>
        </p:nvCxnSpPr>
        <p:spPr>
          <a:xfrm rot="10800000">
            <a:off x="1723195" y="3782859"/>
            <a:ext cx="735300" cy="66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06" name="Google Shape;206;p21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graphicFrame>
        <p:nvGraphicFramePr>
          <p:cNvPr id="212" name="Google Shape;212;p22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0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13" name="Google Shape;213;p22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begin with the first row node and ask: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</a:t>
            </a:r>
            <a:r>
              <a:rPr b="1" lang="en"/>
              <a:t>A</a:t>
            </a:r>
            <a:r>
              <a:rPr lang="en"/>
              <a:t> reach </a:t>
            </a:r>
            <a:r>
              <a:rPr b="1" lang="en"/>
              <a:t>e</a:t>
            </a:r>
            <a:r>
              <a:rPr lang="en"/>
              <a:t>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Yes! (d</a:t>
            </a:r>
            <a:r>
              <a:rPr baseline="30000" lang="en"/>
              <a:t>r</a:t>
            </a:r>
            <a:r>
              <a:rPr baseline="-25000" lang="en"/>
              <a:t>1,5</a:t>
            </a:r>
            <a:r>
              <a:rPr lang="en"/>
              <a:t> = 1) because directed path {AC, CE} exists</a:t>
            </a:r>
            <a:endParaRPr/>
          </a:p>
        </p:txBody>
      </p:sp>
      <p:sp>
        <p:nvSpPr>
          <p:cNvPr id="214" name="Google Shape;214;p22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Reachability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311700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1464685" y="3265370"/>
            <a:ext cx="516900" cy="5175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2458495" y="230667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2458495" y="4188372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3452305" y="3302245"/>
            <a:ext cx="516900" cy="5175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21" name="Google Shape;221;p22"/>
          <p:cNvCxnSpPr>
            <a:stCxn id="217" idx="7"/>
            <a:endCxn id="218" idx="3"/>
          </p:cNvCxnSpPr>
          <p:nvPr/>
        </p:nvCxnSpPr>
        <p:spPr>
          <a:xfrm flipH="1" rot="10800000">
            <a:off x="1905886" y="2748356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22" name="Google Shape;222;p22"/>
          <p:cNvCxnSpPr>
            <a:stCxn id="220" idx="1"/>
            <a:endCxn id="218" idx="5"/>
          </p:cNvCxnSpPr>
          <p:nvPr/>
        </p:nvCxnSpPr>
        <p:spPr>
          <a:xfrm rot="10800000">
            <a:off x="2899803" y="2748331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3" name="Google Shape;223;p22"/>
          <p:cNvCxnSpPr>
            <a:stCxn id="220" idx="3"/>
            <a:endCxn id="219" idx="7"/>
          </p:cNvCxnSpPr>
          <p:nvPr/>
        </p:nvCxnSpPr>
        <p:spPr>
          <a:xfrm flipH="1">
            <a:off x="2899803" y="3743959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4" name="Google Shape;224;p22"/>
          <p:cNvCxnSpPr>
            <a:stCxn id="219" idx="1"/>
            <a:endCxn id="218" idx="3"/>
          </p:cNvCxnSpPr>
          <p:nvPr/>
        </p:nvCxnSpPr>
        <p:spPr>
          <a:xfrm rot="10800000">
            <a:off x="2534193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25" name="Google Shape;225;p22"/>
          <p:cNvCxnSpPr>
            <a:stCxn id="217" idx="1"/>
            <a:endCxn id="216" idx="7"/>
          </p:cNvCxnSpPr>
          <p:nvPr/>
        </p:nvCxnSpPr>
        <p:spPr>
          <a:xfrm rot="10800000">
            <a:off x="752883" y="3341156"/>
            <a:ext cx="787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26" name="Google Shape;226;p22"/>
          <p:cNvCxnSpPr/>
          <p:nvPr/>
        </p:nvCxnSpPr>
        <p:spPr>
          <a:xfrm rot="10800000">
            <a:off x="1723195" y="3782859"/>
            <a:ext cx="735300" cy="66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27" name="Google Shape;227;p22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graphicFrame>
        <p:nvGraphicFramePr>
          <p:cNvPr id="233" name="Google Shape;233;p23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34" name="Google Shape;234;p23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And so on for each of the other nodes that A could potentially reach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do the same for each row object</a:t>
            </a:r>
            <a:endParaRPr/>
          </a:p>
        </p:txBody>
      </p:sp>
      <p:sp>
        <p:nvSpPr>
          <p:cNvPr id="235" name="Google Shape;235;p23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Reachability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311700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1464685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2458495" y="230667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2458495" y="4188372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3452305" y="330224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42" name="Google Shape;242;p23"/>
          <p:cNvCxnSpPr>
            <a:stCxn id="238" idx="7"/>
            <a:endCxn id="239" idx="3"/>
          </p:cNvCxnSpPr>
          <p:nvPr/>
        </p:nvCxnSpPr>
        <p:spPr>
          <a:xfrm flipH="1" rot="10800000">
            <a:off x="1905886" y="2748356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43" name="Google Shape;243;p23"/>
          <p:cNvCxnSpPr>
            <a:stCxn id="241" idx="1"/>
            <a:endCxn id="239" idx="5"/>
          </p:cNvCxnSpPr>
          <p:nvPr/>
        </p:nvCxnSpPr>
        <p:spPr>
          <a:xfrm rot="10800000">
            <a:off x="2899803" y="2748331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4" name="Google Shape;244;p23"/>
          <p:cNvCxnSpPr>
            <a:stCxn id="241" idx="3"/>
            <a:endCxn id="240" idx="7"/>
          </p:cNvCxnSpPr>
          <p:nvPr/>
        </p:nvCxnSpPr>
        <p:spPr>
          <a:xfrm flipH="1">
            <a:off x="2899803" y="3743959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5" name="Google Shape;245;p23"/>
          <p:cNvCxnSpPr>
            <a:stCxn id="240" idx="1"/>
            <a:endCxn id="239" idx="3"/>
          </p:cNvCxnSpPr>
          <p:nvPr/>
        </p:nvCxnSpPr>
        <p:spPr>
          <a:xfrm rot="10800000">
            <a:off x="2534193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46" name="Google Shape;246;p23"/>
          <p:cNvCxnSpPr>
            <a:stCxn id="238" idx="1"/>
            <a:endCxn id="237" idx="7"/>
          </p:cNvCxnSpPr>
          <p:nvPr/>
        </p:nvCxnSpPr>
        <p:spPr>
          <a:xfrm rot="10800000">
            <a:off x="752883" y="3341156"/>
            <a:ext cx="787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47" name="Google Shape;247;p23"/>
          <p:cNvCxnSpPr/>
          <p:nvPr/>
        </p:nvCxnSpPr>
        <p:spPr>
          <a:xfrm rot="10800000">
            <a:off x="1723195" y="3782859"/>
            <a:ext cx="735300" cy="66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48" name="Google Shape;248;p23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graphicFrame>
        <p:nvGraphicFramePr>
          <p:cNvPr id="254" name="Google Shape;254;p24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55" name="Google Shape;255;p24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And so on for each of the other nodes that A could potentially reach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do the same for each row object</a:t>
            </a:r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Reachability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57" name="Google Shape;257;p24"/>
          <p:cNvSpPr/>
          <p:nvPr/>
        </p:nvSpPr>
        <p:spPr>
          <a:xfrm>
            <a:off x="311700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8" name="Google Shape;258;p24"/>
          <p:cNvSpPr/>
          <p:nvPr/>
        </p:nvSpPr>
        <p:spPr>
          <a:xfrm>
            <a:off x="1464685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9" name="Google Shape;259;p24"/>
          <p:cNvSpPr/>
          <p:nvPr/>
        </p:nvSpPr>
        <p:spPr>
          <a:xfrm>
            <a:off x="2458495" y="230667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0" name="Google Shape;260;p24"/>
          <p:cNvSpPr/>
          <p:nvPr/>
        </p:nvSpPr>
        <p:spPr>
          <a:xfrm>
            <a:off x="2458495" y="4188372"/>
            <a:ext cx="516900" cy="5175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1" name="Google Shape;261;p24"/>
          <p:cNvSpPr/>
          <p:nvPr/>
        </p:nvSpPr>
        <p:spPr>
          <a:xfrm>
            <a:off x="3452305" y="330224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62" name="Google Shape;262;p24"/>
          <p:cNvCxnSpPr>
            <a:stCxn id="258" idx="7"/>
            <a:endCxn id="259" idx="3"/>
          </p:cNvCxnSpPr>
          <p:nvPr/>
        </p:nvCxnSpPr>
        <p:spPr>
          <a:xfrm flipH="1" rot="10800000">
            <a:off x="1905886" y="2748356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63" name="Google Shape;263;p24"/>
          <p:cNvCxnSpPr>
            <a:stCxn id="261" idx="1"/>
            <a:endCxn id="259" idx="5"/>
          </p:cNvCxnSpPr>
          <p:nvPr/>
        </p:nvCxnSpPr>
        <p:spPr>
          <a:xfrm rot="10800000">
            <a:off x="2899803" y="2748331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4" name="Google Shape;264;p24"/>
          <p:cNvCxnSpPr>
            <a:stCxn id="261" idx="3"/>
            <a:endCxn id="260" idx="7"/>
          </p:cNvCxnSpPr>
          <p:nvPr/>
        </p:nvCxnSpPr>
        <p:spPr>
          <a:xfrm flipH="1">
            <a:off x="2899803" y="3743959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5" name="Google Shape;265;p24"/>
          <p:cNvCxnSpPr>
            <a:stCxn id="260" idx="1"/>
            <a:endCxn id="259" idx="3"/>
          </p:cNvCxnSpPr>
          <p:nvPr/>
        </p:nvCxnSpPr>
        <p:spPr>
          <a:xfrm rot="10800000">
            <a:off x="2534193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66" name="Google Shape;266;p24"/>
          <p:cNvCxnSpPr>
            <a:stCxn id="258" idx="1"/>
            <a:endCxn id="257" idx="7"/>
          </p:cNvCxnSpPr>
          <p:nvPr/>
        </p:nvCxnSpPr>
        <p:spPr>
          <a:xfrm rot="10800000">
            <a:off x="752883" y="3341156"/>
            <a:ext cx="787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67" name="Google Shape;267;p24"/>
          <p:cNvCxnSpPr/>
          <p:nvPr/>
        </p:nvCxnSpPr>
        <p:spPr>
          <a:xfrm rot="10800000">
            <a:off x="1723195" y="3782859"/>
            <a:ext cx="735300" cy="66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68" name="Google Shape;268;p24"/>
          <p:cNvSpPr/>
          <p:nvPr/>
        </p:nvSpPr>
        <p:spPr>
          <a:xfrm>
            <a:off x="3082200" y="1960925"/>
            <a:ext cx="3117600" cy="11055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Receiver nodes have all zeros in their corresponding row of the reachability matrix!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69" name="Google Shape;269;p24"/>
          <p:cNvSpPr/>
          <p:nvPr/>
        </p:nvSpPr>
        <p:spPr>
          <a:xfrm>
            <a:off x="6164250" y="4034350"/>
            <a:ext cx="25764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70" name="Google Shape;270;p24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graphicFrame>
        <p:nvGraphicFramePr>
          <p:cNvPr id="276" name="Google Shape;276;p25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77" name="Google Shape;277;p25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And so on for each of the other nodes that A could potentially reach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do the same for each row object</a:t>
            </a:r>
            <a:endParaRPr/>
          </a:p>
        </p:txBody>
      </p:sp>
      <p:sp>
        <p:nvSpPr>
          <p:cNvPr id="278" name="Google Shape;278;p25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Reachability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79" name="Google Shape;279;p25"/>
          <p:cNvSpPr/>
          <p:nvPr/>
        </p:nvSpPr>
        <p:spPr>
          <a:xfrm>
            <a:off x="311700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0" name="Google Shape;280;p25"/>
          <p:cNvSpPr/>
          <p:nvPr/>
        </p:nvSpPr>
        <p:spPr>
          <a:xfrm>
            <a:off x="1464685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1" name="Google Shape;281;p25"/>
          <p:cNvSpPr/>
          <p:nvPr/>
        </p:nvSpPr>
        <p:spPr>
          <a:xfrm>
            <a:off x="2458495" y="230667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2" name="Google Shape;282;p25"/>
          <p:cNvSpPr/>
          <p:nvPr/>
        </p:nvSpPr>
        <p:spPr>
          <a:xfrm>
            <a:off x="2458495" y="4188372"/>
            <a:ext cx="516900" cy="5175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3" name="Google Shape;283;p25"/>
          <p:cNvSpPr/>
          <p:nvPr/>
        </p:nvSpPr>
        <p:spPr>
          <a:xfrm>
            <a:off x="3452305" y="330224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84" name="Google Shape;284;p25"/>
          <p:cNvCxnSpPr>
            <a:stCxn id="280" idx="7"/>
            <a:endCxn id="281" idx="3"/>
          </p:cNvCxnSpPr>
          <p:nvPr/>
        </p:nvCxnSpPr>
        <p:spPr>
          <a:xfrm flipH="1" rot="10800000">
            <a:off x="1905886" y="2748356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85" name="Google Shape;285;p25"/>
          <p:cNvCxnSpPr>
            <a:stCxn id="283" idx="1"/>
            <a:endCxn id="281" idx="5"/>
          </p:cNvCxnSpPr>
          <p:nvPr/>
        </p:nvCxnSpPr>
        <p:spPr>
          <a:xfrm rot="10800000">
            <a:off x="2899803" y="2748331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6" name="Google Shape;286;p25"/>
          <p:cNvCxnSpPr>
            <a:stCxn id="283" idx="3"/>
            <a:endCxn id="282" idx="7"/>
          </p:cNvCxnSpPr>
          <p:nvPr/>
        </p:nvCxnSpPr>
        <p:spPr>
          <a:xfrm flipH="1">
            <a:off x="2899803" y="3743959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7" name="Google Shape;287;p25"/>
          <p:cNvCxnSpPr>
            <a:stCxn id="282" idx="1"/>
            <a:endCxn id="281" idx="3"/>
          </p:cNvCxnSpPr>
          <p:nvPr/>
        </p:nvCxnSpPr>
        <p:spPr>
          <a:xfrm rot="10800000">
            <a:off x="2534193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88" name="Google Shape;288;p25"/>
          <p:cNvCxnSpPr>
            <a:stCxn id="280" idx="1"/>
            <a:endCxn id="279" idx="7"/>
          </p:cNvCxnSpPr>
          <p:nvPr/>
        </p:nvCxnSpPr>
        <p:spPr>
          <a:xfrm rot="10800000">
            <a:off x="752883" y="3341156"/>
            <a:ext cx="787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89" name="Google Shape;289;p25"/>
          <p:cNvCxnSpPr/>
          <p:nvPr/>
        </p:nvCxnSpPr>
        <p:spPr>
          <a:xfrm rot="10800000">
            <a:off x="1723195" y="3782859"/>
            <a:ext cx="735300" cy="66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90" name="Google Shape;290;p25"/>
          <p:cNvSpPr/>
          <p:nvPr/>
        </p:nvSpPr>
        <p:spPr>
          <a:xfrm>
            <a:off x="3082200" y="1960925"/>
            <a:ext cx="3117600" cy="11055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Receiver nodes have all zeros in their corresponding row of the reachability matrix!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91" name="Google Shape;291;p25"/>
          <p:cNvSpPr/>
          <p:nvPr/>
        </p:nvSpPr>
        <p:spPr>
          <a:xfrm>
            <a:off x="6164250" y="4034350"/>
            <a:ext cx="25764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92" name="Google Shape;292;p25"/>
          <p:cNvSpPr/>
          <p:nvPr/>
        </p:nvSpPr>
        <p:spPr>
          <a:xfrm>
            <a:off x="3212700" y="3880125"/>
            <a:ext cx="2856600" cy="8862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Receiver nodes can’t reach anyone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93" name="Google Shape;293;p25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graphicFrame>
        <p:nvGraphicFramePr>
          <p:cNvPr id="299" name="Google Shape;299;p26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00" name="Google Shape;300;p26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And so on for each of the other nodes that A could potentially reach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do the same for each row object</a:t>
            </a:r>
            <a:endParaRPr/>
          </a:p>
        </p:txBody>
      </p:sp>
      <p:sp>
        <p:nvSpPr>
          <p:cNvPr id="301" name="Google Shape;301;p26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Reachability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02" name="Google Shape;302;p26"/>
          <p:cNvSpPr/>
          <p:nvPr/>
        </p:nvSpPr>
        <p:spPr>
          <a:xfrm>
            <a:off x="311700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3" name="Google Shape;303;p26"/>
          <p:cNvSpPr/>
          <p:nvPr/>
        </p:nvSpPr>
        <p:spPr>
          <a:xfrm>
            <a:off x="1464685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4" name="Google Shape;304;p26"/>
          <p:cNvSpPr/>
          <p:nvPr/>
        </p:nvSpPr>
        <p:spPr>
          <a:xfrm>
            <a:off x="2458495" y="230667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5" name="Google Shape;305;p26"/>
          <p:cNvSpPr/>
          <p:nvPr/>
        </p:nvSpPr>
        <p:spPr>
          <a:xfrm>
            <a:off x="2458495" y="4188372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6" name="Google Shape;306;p26"/>
          <p:cNvSpPr/>
          <p:nvPr/>
        </p:nvSpPr>
        <p:spPr>
          <a:xfrm>
            <a:off x="3452305" y="3302245"/>
            <a:ext cx="516900" cy="5175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07" name="Google Shape;307;p26"/>
          <p:cNvCxnSpPr>
            <a:stCxn id="303" idx="7"/>
            <a:endCxn id="304" idx="3"/>
          </p:cNvCxnSpPr>
          <p:nvPr/>
        </p:nvCxnSpPr>
        <p:spPr>
          <a:xfrm flipH="1" rot="10800000">
            <a:off x="1905886" y="2748356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08" name="Google Shape;308;p26"/>
          <p:cNvCxnSpPr>
            <a:stCxn id="306" idx="1"/>
            <a:endCxn id="304" idx="5"/>
          </p:cNvCxnSpPr>
          <p:nvPr/>
        </p:nvCxnSpPr>
        <p:spPr>
          <a:xfrm rot="10800000">
            <a:off x="2899803" y="2748331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09" name="Google Shape;309;p26"/>
          <p:cNvCxnSpPr>
            <a:stCxn id="306" idx="3"/>
            <a:endCxn id="305" idx="7"/>
          </p:cNvCxnSpPr>
          <p:nvPr/>
        </p:nvCxnSpPr>
        <p:spPr>
          <a:xfrm flipH="1">
            <a:off x="2899803" y="3743959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10" name="Google Shape;310;p26"/>
          <p:cNvCxnSpPr>
            <a:stCxn id="305" idx="1"/>
            <a:endCxn id="304" idx="3"/>
          </p:cNvCxnSpPr>
          <p:nvPr/>
        </p:nvCxnSpPr>
        <p:spPr>
          <a:xfrm rot="10800000">
            <a:off x="2534193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11" name="Google Shape;311;p26"/>
          <p:cNvCxnSpPr>
            <a:stCxn id="303" idx="1"/>
            <a:endCxn id="302" idx="7"/>
          </p:cNvCxnSpPr>
          <p:nvPr/>
        </p:nvCxnSpPr>
        <p:spPr>
          <a:xfrm rot="10800000">
            <a:off x="752883" y="3341156"/>
            <a:ext cx="787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12" name="Google Shape;312;p26"/>
          <p:cNvCxnSpPr/>
          <p:nvPr/>
        </p:nvCxnSpPr>
        <p:spPr>
          <a:xfrm rot="10800000">
            <a:off x="1723195" y="3782859"/>
            <a:ext cx="735300" cy="66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313" name="Google Shape;313;p26"/>
          <p:cNvSpPr/>
          <p:nvPr/>
        </p:nvSpPr>
        <p:spPr>
          <a:xfrm>
            <a:off x="3111300" y="1882275"/>
            <a:ext cx="2963400" cy="12945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Transmitter nodes have all zeros in their corresponding column of the reachability matrix!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14" name="Google Shape;314;p26"/>
          <p:cNvSpPr/>
          <p:nvPr/>
        </p:nvSpPr>
        <p:spPr>
          <a:xfrm rot="5400000">
            <a:off x="5538250" y="3520950"/>
            <a:ext cx="25764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315" name="Google Shape;315;p26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graphicFrame>
        <p:nvGraphicFramePr>
          <p:cNvPr id="321" name="Google Shape;321;p27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22" name="Google Shape;322;p27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And so on for each of the other nodes that A could potentially reach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do the same for each row object</a:t>
            </a:r>
            <a:endParaRPr/>
          </a:p>
        </p:txBody>
      </p:sp>
      <p:sp>
        <p:nvSpPr>
          <p:cNvPr id="323" name="Google Shape;323;p27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Reachability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24" name="Google Shape;324;p27"/>
          <p:cNvSpPr/>
          <p:nvPr/>
        </p:nvSpPr>
        <p:spPr>
          <a:xfrm>
            <a:off x="311700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25" name="Google Shape;325;p27"/>
          <p:cNvSpPr/>
          <p:nvPr/>
        </p:nvSpPr>
        <p:spPr>
          <a:xfrm>
            <a:off x="1464685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26" name="Google Shape;326;p27"/>
          <p:cNvSpPr/>
          <p:nvPr/>
        </p:nvSpPr>
        <p:spPr>
          <a:xfrm>
            <a:off x="2458495" y="230667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27" name="Google Shape;327;p27"/>
          <p:cNvSpPr/>
          <p:nvPr/>
        </p:nvSpPr>
        <p:spPr>
          <a:xfrm>
            <a:off x="2458495" y="4188372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28" name="Google Shape;328;p27"/>
          <p:cNvSpPr/>
          <p:nvPr/>
        </p:nvSpPr>
        <p:spPr>
          <a:xfrm>
            <a:off x="3452305" y="3302245"/>
            <a:ext cx="516900" cy="5175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29" name="Google Shape;329;p27"/>
          <p:cNvCxnSpPr>
            <a:stCxn id="325" idx="7"/>
            <a:endCxn id="326" idx="3"/>
          </p:cNvCxnSpPr>
          <p:nvPr/>
        </p:nvCxnSpPr>
        <p:spPr>
          <a:xfrm flipH="1" rot="10800000">
            <a:off x="1905886" y="2748356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30" name="Google Shape;330;p27"/>
          <p:cNvCxnSpPr>
            <a:stCxn id="328" idx="1"/>
            <a:endCxn id="326" idx="5"/>
          </p:cNvCxnSpPr>
          <p:nvPr/>
        </p:nvCxnSpPr>
        <p:spPr>
          <a:xfrm rot="10800000">
            <a:off x="2899803" y="2748331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31" name="Google Shape;331;p27"/>
          <p:cNvCxnSpPr>
            <a:stCxn id="328" idx="3"/>
            <a:endCxn id="327" idx="7"/>
          </p:cNvCxnSpPr>
          <p:nvPr/>
        </p:nvCxnSpPr>
        <p:spPr>
          <a:xfrm flipH="1">
            <a:off x="2899803" y="3743959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32" name="Google Shape;332;p27"/>
          <p:cNvCxnSpPr>
            <a:stCxn id="327" idx="1"/>
            <a:endCxn id="326" idx="3"/>
          </p:cNvCxnSpPr>
          <p:nvPr/>
        </p:nvCxnSpPr>
        <p:spPr>
          <a:xfrm rot="10800000">
            <a:off x="2534193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33" name="Google Shape;333;p27"/>
          <p:cNvCxnSpPr>
            <a:stCxn id="325" idx="1"/>
            <a:endCxn id="324" idx="7"/>
          </p:cNvCxnSpPr>
          <p:nvPr/>
        </p:nvCxnSpPr>
        <p:spPr>
          <a:xfrm rot="10800000">
            <a:off x="752883" y="3341156"/>
            <a:ext cx="787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34" name="Google Shape;334;p27"/>
          <p:cNvCxnSpPr/>
          <p:nvPr/>
        </p:nvCxnSpPr>
        <p:spPr>
          <a:xfrm rot="10800000">
            <a:off x="1723195" y="3782859"/>
            <a:ext cx="735300" cy="66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335" name="Google Shape;335;p27"/>
          <p:cNvSpPr/>
          <p:nvPr/>
        </p:nvSpPr>
        <p:spPr>
          <a:xfrm rot="5400000">
            <a:off x="5538250" y="3520950"/>
            <a:ext cx="25764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336" name="Google Shape;336;p27"/>
          <p:cNvSpPr/>
          <p:nvPr/>
        </p:nvSpPr>
        <p:spPr>
          <a:xfrm>
            <a:off x="3212700" y="3880125"/>
            <a:ext cx="2856600" cy="8862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Transmitter nodes can’t be reached by anyone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37" name="Google Shape;337;p27"/>
          <p:cNvSpPr/>
          <p:nvPr/>
        </p:nvSpPr>
        <p:spPr>
          <a:xfrm>
            <a:off x="3111300" y="1882275"/>
            <a:ext cx="2963400" cy="12945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Transmitter nodes have all zeros in their corresponding column of the reachability matrix!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38" name="Google Shape;338;p27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344" name="Google Shape;344;p28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45" name="Google Shape;345;p28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46" name="Google Shape;346;p28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47" name="Google Shape;347;p28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48" name="Google Shape;348;p28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49" name="Google Shape;349;p28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50" name="Google Shape;350;p28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51" name="Google Shape;351;p28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52" name="Google Shape;352;p28"/>
          <p:cNvCxnSpPr>
            <a:stCxn id="344" idx="7"/>
            <a:endCxn id="347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53" name="Google Shape;353;p28"/>
          <p:cNvCxnSpPr>
            <a:stCxn id="349" idx="6"/>
            <a:endCxn id="350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4" name="Google Shape;354;p28"/>
          <p:cNvCxnSpPr>
            <a:stCxn id="346" idx="6"/>
            <a:endCxn id="351" idx="2"/>
          </p:cNvCxnSpPr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5" name="Google Shape;355;p28"/>
          <p:cNvCxnSpPr>
            <a:stCxn id="349" idx="4"/>
            <a:endCxn id="346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6" name="Google Shape;356;p28"/>
          <p:cNvCxnSpPr>
            <a:stCxn id="345" idx="4"/>
            <a:endCxn id="348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57" name="Google Shape;357;p28"/>
          <p:cNvCxnSpPr>
            <a:stCxn id="344" idx="5"/>
            <a:endCxn id="348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8" name="Google Shape;358;p28"/>
          <p:cNvCxnSpPr>
            <a:stCxn id="344" idx="6"/>
            <a:endCxn id="345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9" name="Google Shape;359;p28"/>
          <p:cNvCxnSpPr>
            <a:stCxn id="346" idx="2"/>
            <a:endCxn id="348" idx="6"/>
          </p:cNvCxnSpPr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0" name="Google Shape;360;p28"/>
          <p:cNvCxnSpPr>
            <a:stCxn id="351" idx="1"/>
            <a:endCxn id="349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1" name="Google Shape;361;p28"/>
          <p:cNvCxnSpPr>
            <a:stCxn id="350" idx="1"/>
            <a:endCxn id="347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2" name="Google Shape;362;p28"/>
          <p:cNvCxnSpPr>
            <a:stCxn id="347" idx="5"/>
            <a:endCxn id="349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3" name="Google Shape;363;p28"/>
          <p:cNvCxnSpPr>
            <a:stCxn id="345" idx="0"/>
            <a:endCxn id="347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4" name="Google Shape;364;p28"/>
          <p:cNvCxnSpPr>
            <a:stCxn id="349" idx="3"/>
            <a:endCxn id="348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5" name="Google Shape;365;p28"/>
          <p:cNvCxnSpPr>
            <a:stCxn id="345" idx="6"/>
            <a:endCxn id="349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6" name="Google Shape;366;p28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367" name="Google Shape;367;p28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373" name="Google Shape;373;p29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74" name="Google Shape;374;p29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75" name="Google Shape;375;p29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76" name="Google Shape;376;p29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77" name="Google Shape;377;p29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78" name="Google Shape;378;p29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79" name="Google Shape;379;p29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80" name="Google Shape;380;p29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81" name="Google Shape;381;p29"/>
          <p:cNvCxnSpPr>
            <a:stCxn id="373" idx="7"/>
            <a:endCxn id="376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82" name="Google Shape;382;p29"/>
          <p:cNvCxnSpPr>
            <a:stCxn id="378" idx="6"/>
            <a:endCxn id="379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3" name="Google Shape;383;p29"/>
          <p:cNvCxnSpPr>
            <a:stCxn id="375" idx="6"/>
            <a:endCxn id="380" idx="2"/>
          </p:cNvCxnSpPr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4" name="Google Shape;384;p29"/>
          <p:cNvCxnSpPr>
            <a:stCxn id="378" idx="4"/>
            <a:endCxn id="375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5" name="Google Shape;385;p29"/>
          <p:cNvCxnSpPr>
            <a:stCxn id="374" idx="4"/>
            <a:endCxn id="377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86" name="Google Shape;386;p29"/>
          <p:cNvCxnSpPr>
            <a:stCxn id="373" idx="5"/>
            <a:endCxn id="377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7" name="Google Shape;387;p29"/>
          <p:cNvCxnSpPr>
            <a:stCxn id="373" idx="6"/>
            <a:endCxn id="374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8" name="Google Shape;388;p29"/>
          <p:cNvCxnSpPr>
            <a:stCxn id="375" idx="2"/>
            <a:endCxn id="377" idx="6"/>
          </p:cNvCxnSpPr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9" name="Google Shape;389;p29"/>
          <p:cNvCxnSpPr>
            <a:stCxn id="380" idx="1"/>
            <a:endCxn id="378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0" name="Google Shape;390;p29"/>
          <p:cNvCxnSpPr>
            <a:stCxn id="379" idx="1"/>
            <a:endCxn id="376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1" name="Google Shape;391;p29"/>
          <p:cNvCxnSpPr>
            <a:stCxn id="376" idx="5"/>
            <a:endCxn id="378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2" name="Google Shape;392;p29"/>
          <p:cNvCxnSpPr>
            <a:stCxn id="374" idx="0"/>
            <a:endCxn id="376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3" name="Google Shape;393;p29"/>
          <p:cNvCxnSpPr>
            <a:stCxn id="378" idx="3"/>
            <a:endCxn id="377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4" name="Google Shape;394;p29"/>
          <p:cNvCxnSpPr>
            <a:stCxn id="374" idx="6"/>
            <a:endCxn id="378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5" name="Google Shape;395;p29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396" name="Google Shape;396;p29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402" name="Google Shape;402;p30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403" name="Google Shape;403;p30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404" name="Google Shape;404;p30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05" name="Google Shape;405;p30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06" name="Google Shape;406;p30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07" name="Google Shape;407;p30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08" name="Google Shape;408;p30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09" name="Google Shape;409;p30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10" name="Google Shape;410;p30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11" name="Google Shape;411;p30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12" name="Google Shape;412;p30"/>
          <p:cNvCxnSpPr>
            <a:stCxn id="404" idx="7"/>
            <a:endCxn id="407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13" name="Google Shape;413;p30"/>
          <p:cNvCxnSpPr>
            <a:stCxn id="409" idx="6"/>
            <a:endCxn id="410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4" name="Google Shape;414;p30"/>
          <p:cNvCxnSpPr>
            <a:stCxn id="409" idx="4"/>
            <a:endCxn id="406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5" name="Google Shape;415;p30"/>
          <p:cNvCxnSpPr>
            <a:stCxn id="405" idx="4"/>
            <a:endCxn id="408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16" name="Google Shape;416;p30"/>
          <p:cNvCxnSpPr>
            <a:stCxn id="404" idx="5"/>
            <a:endCxn id="408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7" name="Google Shape;417;p30"/>
          <p:cNvCxnSpPr>
            <a:stCxn id="404" idx="6"/>
            <a:endCxn id="405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8" name="Google Shape;418;p30"/>
          <p:cNvCxnSpPr>
            <a:stCxn id="411" idx="1"/>
            <a:endCxn id="409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9" name="Google Shape;419;p30"/>
          <p:cNvCxnSpPr>
            <a:stCxn id="410" idx="1"/>
            <a:endCxn id="407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0" name="Google Shape;420;p30"/>
          <p:cNvCxnSpPr>
            <a:stCxn id="407" idx="5"/>
            <a:endCxn id="409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1" name="Google Shape;421;p30"/>
          <p:cNvCxnSpPr>
            <a:stCxn id="405" idx="0"/>
            <a:endCxn id="407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2" name="Google Shape;422;p30"/>
          <p:cNvCxnSpPr>
            <a:stCxn id="409" idx="3"/>
            <a:endCxn id="408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3" name="Google Shape;423;p30"/>
          <p:cNvCxnSpPr>
            <a:stCxn id="405" idx="6"/>
            <a:endCxn id="409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4" name="Google Shape;424;p30"/>
          <p:cNvCxnSpPr/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5" name="Google Shape;425;p30"/>
          <p:cNvCxnSpPr/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431" name="Google Shape;431;p31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432" name="Google Shape;432;p31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433" name="Google Shape;433;p31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34" name="Google Shape;434;p31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35" name="Google Shape;435;p31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36" name="Google Shape;436;p31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37" name="Google Shape;437;p31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38" name="Google Shape;438;p31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39" name="Google Shape;439;p31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40" name="Google Shape;440;p31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41" name="Google Shape;441;p31"/>
          <p:cNvCxnSpPr>
            <a:stCxn id="433" idx="7"/>
            <a:endCxn id="436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42" name="Google Shape;442;p31"/>
          <p:cNvCxnSpPr>
            <a:stCxn id="438" idx="6"/>
            <a:endCxn id="439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3" name="Google Shape;443;p31"/>
          <p:cNvCxnSpPr>
            <a:stCxn id="438" idx="4"/>
            <a:endCxn id="435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4" name="Google Shape;444;p31"/>
          <p:cNvCxnSpPr>
            <a:stCxn id="434" idx="4"/>
            <a:endCxn id="437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45" name="Google Shape;445;p31"/>
          <p:cNvCxnSpPr>
            <a:stCxn id="433" idx="5"/>
            <a:endCxn id="437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6" name="Google Shape;446;p31"/>
          <p:cNvCxnSpPr>
            <a:stCxn id="433" idx="6"/>
            <a:endCxn id="434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7" name="Google Shape;447;p31"/>
          <p:cNvCxnSpPr>
            <a:stCxn id="440" idx="1"/>
            <a:endCxn id="438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8" name="Google Shape;448;p31"/>
          <p:cNvCxnSpPr>
            <a:stCxn id="439" idx="1"/>
            <a:endCxn id="436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9" name="Google Shape;449;p31"/>
          <p:cNvCxnSpPr>
            <a:stCxn id="436" idx="5"/>
            <a:endCxn id="438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0" name="Google Shape;450;p31"/>
          <p:cNvCxnSpPr>
            <a:stCxn id="434" idx="0"/>
            <a:endCxn id="436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1" name="Google Shape;451;p31"/>
          <p:cNvCxnSpPr>
            <a:stCxn id="438" idx="3"/>
            <a:endCxn id="437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2" name="Google Shape;452;p31"/>
          <p:cNvCxnSpPr>
            <a:stCxn id="434" idx="6"/>
            <a:endCxn id="438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3" name="Google Shape;453;p31"/>
          <p:cNvCxnSpPr/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4" name="Google Shape;454;p31"/>
          <p:cNvCxnSpPr/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460" name="Google Shape;460;p32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461" name="Google Shape;461;p32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462" name="Google Shape;462;p32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63" name="Google Shape;463;p32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64" name="Google Shape;464;p32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65" name="Google Shape;465;p32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66" name="Google Shape;466;p32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67" name="Google Shape;467;p32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68" name="Google Shape;468;p32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69" name="Google Shape;469;p32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70" name="Google Shape;470;p32"/>
          <p:cNvCxnSpPr>
            <a:stCxn id="462" idx="7"/>
            <a:endCxn id="465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71" name="Google Shape;471;p32"/>
          <p:cNvCxnSpPr>
            <a:stCxn id="467" idx="6"/>
            <a:endCxn id="468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2" name="Google Shape;472;p32"/>
          <p:cNvCxnSpPr>
            <a:stCxn id="467" idx="4"/>
            <a:endCxn id="464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3" name="Google Shape;473;p32"/>
          <p:cNvCxnSpPr>
            <a:stCxn id="463" idx="4"/>
            <a:endCxn id="466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74" name="Google Shape;474;p32"/>
          <p:cNvCxnSpPr>
            <a:stCxn id="462" idx="5"/>
            <a:endCxn id="466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5" name="Google Shape;475;p32"/>
          <p:cNvCxnSpPr>
            <a:stCxn id="462" idx="6"/>
            <a:endCxn id="463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6" name="Google Shape;476;p32"/>
          <p:cNvCxnSpPr>
            <a:stCxn id="469" idx="1"/>
            <a:endCxn id="467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7" name="Google Shape;477;p32"/>
          <p:cNvCxnSpPr>
            <a:stCxn id="468" idx="1"/>
            <a:endCxn id="465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8" name="Google Shape;478;p32"/>
          <p:cNvCxnSpPr>
            <a:stCxn id="465" idx="5"/>
            <a:endCxn id="467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9" name="Google Shape;479;p32"/>
          <p:cNvCxnSpPr>
            <a:stCxn id="463" idx="0"/>
            <a:endCxn id="465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0" name="Google Shape;480;p32"/>
          <p:cNvCxnSpPr>
            <a:stCxn id="467" idx="3"/>
            <a:endCxn id="466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1" name="Google Shape;481;p32"/>
          <p:cNvCxnSpPr>
            <a:stCxn id="463" idx="6"/>
            <a:endCxn id="467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2" name="Google Shape;482;p32"/>
          <p:cNvCxnSpPr/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3" name="Google Shape;483;p32"/>
          <p:cNvCxnSpPr/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489" name="Google Shape;489;p33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490" name="Google Shape;490;p33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491" name="Google Shape;491;p33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92" name="Google Shape;492;p33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93" name="Google Shape;493;p33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94" name="Google Shape;494;p33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95" name="Google Shape;495;p33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96" name="Google Shape;496;p33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97" name="Google Shape;497;p33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98" name="Google Shape;498;p33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99" name="Google Shape;499;p33"/>
          <p:cNvCxnSpPr>
            <a:stCxn id="491" idx="7"/>
            <a:endCxn id="494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00" name="Google Shape;500;p33"/>
          <p:cNvCxnSpPr>
            <a:stCxn id="496" idx="6"/>
            <a:endCxn id="497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1" name="Google Shape;501;p33"/>
          <p:cNvCxnSpPr>
            <a:stCxn id="496" idx="4"/>
            <a:endCxn id="493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2" name="Google Shape;502;p33"/>
          <p:cNvCxnSpPr>
            <a:stCxn id="492" idx="4"/>
            <a:endCxn id="495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03" name="Google Shape;503;p33"/>
          <p:cNvCxnSpPr>
            <a:stCxn id="491" idx="5"/>
            <a:endCxn id="495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4" name="Google Shape;504;p33"/>
          <p:cNvCxnSpPr>
            <a:stCxn id="491" idx="6"/>
            <a:endCxn id="492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5" name="Google Shape;505;p33"/>
          <p:cNvCxnSpPr>
            <a:stCxn id="498" idx="1"/>
            <a:endCxn id="496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6" name="Google Shape;506;p33"/>
          <p:cNvCxnSpPr>
            <a:stCxn id="497" idx="1"/>
            <a:endCxn id="494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7" name="Google Shape;507;p33"/>
          <p:cNvCxnSpPr>
            <a:stCxn id="494" idx="5"/>
            <a:endCxn id="496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8" name="Google Shape;508;p33"/>
          <p:cNvCxnSpPr>
            <a:stCxn id="492" idx="0"/>
            <a:endCxn id="494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9" name="Google Shape;509;p33"/>
          <p:cNvCxnSpPr>
            <a:stCxn id="496" idx="3"/>
            <a:endCxn id="495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0" name="Google Shape;510;p33"/>
          <p:cNvCxnSpPr>
            <a:stCxn id="492" idx="6"/>
            <a:endCxn id="496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1" name="Google Shape;511;p33"/>
          <p:cNvCxnSpPr/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2" name="Google Shape;512;p33"/>
          <p:cNvCxnSpPr/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518" name="Google Shape;518;p34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519" name="Google Shape;519;p34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520" name="Google Shape;520;p34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21" name="Google Shape;521;p34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22" name="Google Shape;522;p34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23" name="Google Shape;523;p34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24" name="Google Shape;524;p34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25" name="Google Shape;525;p34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26" name="Google Shape;526;p34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27" name="Google Shape;527;p34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28" name="Google Shape;528;p34"/>
          <p:cNvCxnSpPr>
            <a:stCxn id="520" idx="7"/>
            <a:endCxn id="523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29" name="Google Shape;529;p34"/>
          <p:cNvCxnSpPr>
            <a:stCxn id="525" idx="6"/>
            <a:endCxn id="526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0" name="Google Shape;530;p34"/>
          <p:cNvCxnSpPr>
            <a:stCxn id="525" idx="4"/>
            <a:endCxn id="522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1" name="Google Shape;531;p34"/>
          <p:cNvCxnSpPr>
            <a:stCxn id="521" idx="4"/>
            <a:endCxn id="524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32" name="Google Shape;532;p34"/>
          <p:cNvCxnSpPr>
            <a:stCxn id="520" idx="5"/>
            <a:endCxn id="524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3" name="Google Shape;533;p34"/>
          <p:cNvCxnSpPr>
            <a:stCxn id="520" idx="6"/>
            <a:endCxn id="521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4" name="Google Shape;534;p34"/>
          <p:cNvCxnSpPr>
            <a:stCxn id="527" idx="1"/>
            <a:endCxn id="525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5" name="Google Shape;535;p34"/>
          <p:cNvCxnSpPr>
            <a:stCxn id="526" idx="1"/>
            <a:endCxn id="523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6" name="Google Shape;536;p34"/>
          <p:cNvCxnSpPr>
            <a:stCxn id="523" idx="5"/>
            <a:endCxn id="525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7" name="Google Shape;537;p34"/>
          <p:cNvCxnSpPr>
            <a:stCxn id="521" idx="0"/>
            <a:endCxn id="523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8" name="Google Shape;538;p34"/>
          <p:cNvCxnSpPr>
            <a:stCxn id="525" idx="3"/>
            <a:endCxn id="524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9" name="Google Shape;539;p34"/>
          <p:cNvCxnSpPr>
            <a:stCxn id="521" idx="6"/>
            <a:endCxn id="525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0" name="Google Shape;540;p34"/>
          <p:cNvCxnSpPr/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1" name="Google Shape;541;p34"/>
          <p:cNvCxnSpPr/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547" name="Google Shape;547;p35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548" name="Google Shape;548;p35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549" name="Google Shape;549;p35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50" name="Google Shape;550;p35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51" name="Google Shape;551;p35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52" name="Google Shape;552;p35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53" name="Google Shape;553;p35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54" name="Google Shape;554;p35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55" name="Google Shape;555;p35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56" name="Google Shape;556;p35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57" name="Google Shape;557;p35"/>
          <p:cNvCxnSpPr>
            <a:stCxn id="549" idx="7"/>
            <a:endCxn id="552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58" name="Google Shape;558;p35"/>
          <p:cNvCxnSpPr>
            <a:stCxn id="554" idx="6"/>
            <a:endCxn id="555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9" name="Google Shape;559;p35"/>
          <p:cNvCxnSpPr>
            <a:stCxn id="554" idx="4"/>
            <a:endCxn id="551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0" name="Google Shape;560;p35"/>
          <p:cNvCxnSpPr>
            <a:stCxn id="550" idx="4"/>
            <a:endCxn id="553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61" name="Google Shape;561;p35"/>
          <p:cNvCxnSpPr>
            <a:stCxn id="549" idx="5"/>
            <a:endCxn id="553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2" name="Google Shape;562;p35"/>
          <p:cNvCxnSpPr>
            <a:stCxn id="549" idx="6"/>
            <a:endCxn id="550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3" name="Google Shape;563;p35"/>
          <p:cNvCxnSpPr>
            <a:stCxn id="556" idx="1"/>
            <a:endCxn id="554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4" name="Google Shape;564;p35"/>
          <p:cNvCxnSpPr>
            <a:stCxn id="555" idx="1"/>
            <a:endCxn id="552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5" name="Google Shape;565;p35"/>
          <p:cNvCxnSpPr>
            <a:stCxn id="552" idx="5"/>
            <a:endCxn id="554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6" name="Google Shape;566;p35"/>
          <p:cNvCxnSpPr>
            <a:stCxn id="550" idx="0"/>
            <a:endCxn id="552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7" name="Google Shape;567;p35"/>
          <p:cNvCxnSpPr>
            <a:stCxn id="554" idx="3"/>
            <a:endCxn id="553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8" name="Google Shape;568;p35"/>
          <p:cNvCxnSpPr>
            <a:stCxn id="550" idx="6"/>
            <a:endCxn id="554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9" name="Google Shape;569;p35"/>
          <p:cNvCxnSpPr/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0" name="Google Shape;570;p35"/>
          <p:cNvCxnSpPr/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576" name="Google Shape;576;p36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577" name="Google Shape;577;p36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578" name="Google Shape;578;p36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79" name="Google Shape;579;p36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80" name="Google Shape;580;p36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81" name="Google Shape;581;p36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82" name="Google Shape;582;p36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83" name="Google Shape;583;p36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84" name="Google Shape;584;p36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85" name="Google Shape;585;p36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86" name="Google Shape;586;p36"/>
          <p:cNvCxnSpPr>
            <a:stCxn id="578" idx="7"/>
            <a:endCxn id="581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87" name="Google Shape;587;p36"/>
          <p:cNvCxnSpPr>
            <a:stCxn id="583" idx="6"/>
            <a:endCxn id="584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8" name="Google Shape;588;p36"/>
          <p:cNvCxnSpPr>
            <a:stCxn id="583" idx="4"/>
            <a:endCxn id="580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9" name="Google Shape;589;p36"/>
          <p:cNvCxnSpPr>
            <a:stCxn id="579" idx="4"/>
            <a:endCxn id="582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90" name="Google Shape;590;p36"/>
          <p:cNvCxnSpPr>
            <a:stCxn id="578" idx="5"/>
            <a:endCxn id="582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1" name="Google Shape;591;p36"/>
          <p:cNvCxnSpPr>
            <a:stCxn id="578" idx="6"/>
            <a:endCxn id="579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2" name="Google Shape;592;p36"/>
          <p:cNvCxnSpPr>
            <a:stCxn id="585" idx="1"/>
            <a:endCxn id="583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3" name="Google Shape;593;p36"/>
          <p:cNvCxnSpPr>
            <a:stCxn id="584" idx="1"/>
            <a:endCxn id="581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4" name="Google Shape;594;p36"/>
          <p:cNvCxnSpPr>
            <a:stCxn id="581" idx="5"/>
            <a:endCxn id="583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5" name="Google Shape;595;p36"/>
          <p:cNvCxnSpPr>
            <a:stCxn id="579" idx="0"/>
            <a:endCxn id="581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6" name="Google Shape;596;p36"/>
          <p:cNvCxnSpPr>
            <a:stCxn id="583" idx="3"/>
            <a:endCxn id="582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7" name="Google Shape;597;p36"/>
          <p:cNvCxnSpPr>
            <a:stCxn id="579" idx="6"/>
            <a:endCxn id="583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8" name="Google Shape;598;p36"/>
          <p:cNvCxnSpPr/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9" name="Google Shape;599;p36"/>
          <p:cNvCxnSpPr/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605" name="Google Shape;605;p37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606" name="Google Shape;606;p37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607" name="Google Shape;607;p37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08" name="Google Shape;608;p37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09" name="Google Shape;609;p37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10" name="Google Shape;610;p37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11" name="Google Shape;611;p37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12" name="Google Shape;612;p37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13" name="Google Shape;613;p37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14" name="Google Shape;614;p37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15" name="Google Shape;615;p37"/>
          <p:cNvCxnSpPr>
            <a:stCxn id="607" idx="7"/>
            <a:endCxn id="610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616" name="Google Shape;616;p37"/>
          <p:cNvCxnSpPr>
            <a:stCxn id="612" idx="6"/>
            <a:endCxn id="613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7" name="Google Shape;617;p37"/>
          <p:cNvCxnSpPr>
            <a:stCxn id="612" idx="4"/>
            <a:endCxn id="609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8" name="Google Shape;618;p37"/>
          <p:cNvCxnSpPr>
            <a:stCxn id="608" idx="4"/>
            <a:endCxn id="611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619" name="Google Shape;619;p37"/>
          <p:cNvCxnSpPr>
            <a:stCxn id="607" idx="5"/>
            <a:endCxn id="611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0" name="Google Shape;620;p37"/>
          <p:cNvCxnSpPr>
            <a:stCxn id="607" idx="6"/>
            <a:endCxn id="608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1" name="Google Shape;621;p37"/>
          <p:cNvCxnSpPr>
            <a:stCxn id="614" idx="1"/>
            <a:endCxn id="612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2" name="Google Shape;622;p37"/>
          <p:cNvCxnSpPr>
            <a:stCxn id="613" idx="1"/>
            <a:endCxn id="610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3" name="Google Shape;623;p37"/>
          <p:cNvCxnSpPr>
            <a:stCxn id="610" idx="5"/>
            <a:endCxn id="612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4" name="Google Shape;624;p37"/>
          <p:cNvCxnSpPr>
            <a:stCxn id="608" idx="0"/>
            <a:endCxn id="610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5" name="Google Shape;625;p37"/>
          <p:cNvCxnSpPr>
            <a:stCxn id="612" idx="3"/>
            <a:endCxn id="611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6" name="Google Shape;626;p37"/>
          <p:cNvCxnSpPr>
            <a:stCxn id="608" idx="6"/>
            <a:endCxn id="612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7" name="Google Shape;627;p37"/>
          <p:cNvCxnSpPr/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8" name="Google Shape;628;p37"/>
          <p:cNvCxnSpPr/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634" name="Google Shape;634;p38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635" name="Google Shape;635;p38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636" name="Google Shape;636;p38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37" name="Google Shape;637;p38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38" name="Google Shape;638;p38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39" name="Google Shape;639;p38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40" name="Google Shape;640;p38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41" name="Google Shape;641;p38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42" name="Google Shape;642;p38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43" name="Google Shape;643;p38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44" name="Google Shape;644;p38"/>
          <p:cNvCxnSpPr>
            <a:stCxn id="636" idx="7"/>
            <a:endCxn id="639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645" name="Google Shape;645;p38"/>
          <p:cNvCxnSpPr>
            <a:stCxn id="641" idx="6"/>
            <a:endCxn id="642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6" name="Google Shape;646;p38"/>
          <p:cNvCxnSpPr>
            <a:stCxn id="641" idx="4"/>
            <a:endCxn id="638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7" name="Google Shape;647;p38"/>
          <p:cNvCxnSpPr>
            <a:stCxn id="637" idx="4"/>
            <a:endCxn id="640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648" name="Google Shape;648;p38"/>
          <p:cNvCxnSpPr>
            <a:stCxn id="636" idx="5"/>
            <a:endCxn id="640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9" name="Google Shape;649;p38"/>
          <p:cNvCxnSpPr>
            <a:stCxn id="636" idx="6"/>
            <a:endCxn id="637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0" name="Google Shape;650;p38"/>
          <p:cNvCxnSpPr>
            <a:stCxn id="643" idx="1"/>
            <a:endCxn id="641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1" name="Google Shape;651;p38"/>
          <p:cNvCxnSpPr>
            <a:stCxn id="642" idx="1"/>
            <a:endCxn id="639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2" name="Google Shape;652;p38"/>
          <p:cNvCxnSpPr>
            <a:stCxn id="639" idx="5"/>
            <a:endCxn id="641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3" name="Google Shape;653;p38"/>
          <p:cNvCxnSpPr>
            <a:stCxn id="637" idx="0"/>
            <a:endCxn id="639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4" name="Google Shape;654;p38"/>
          <p:cNvCxnSpPr>
            <a:stCxn id="641" idx="3"/>
            <a:endCxn id="640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5" name="Google Shape;655;p38"/>
          <p:cNvCxnSpPr>
            <a:stCxn id="637" idx="6"/>
            <a:endCxn id="641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6" name="Google Shape;656;p38"/>
          <p:cNvCxnSpPr/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7" name="Google Shape;657;p38"/>
          <p:cNvCxnSpPr/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663" name="Google Shape;663;p39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664" name="Google Shape;664;p39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665" name="Google Shape;665;p39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66" name="Google Shape;666;p39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67" name="Google Shape;667;p39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68" name="Google Shape;668;p39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69" name="Google Shape;669;p39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70" name="Google Shape;670;p39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71" name="Google Shape;671;p39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72" name="Google Shape;672;p39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73" name="Google Shape;673;p39"/>
          <p:cNvCxnSpPr>
            <a:stCxn id="665" idx="7"/>
            <a:endCxn id="668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674" name="Google Shape;674;p39"/>
          <p:cNvCxnSpPr>
            <a:stCxn id="670" idx="6"/>
            <a:endCxn id="671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5" name="Google Shape;675;p39"/>
          <p:cNvCxnSpPr>
            <a:stCxn id="670" idx="4"/>
            <a:endCxn id="667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6" name="Google Shape;676;p39"/>
          <p:cNvCxnSpPr>
            <a:stCxn id="666" idx="4"/>
            <a:endCxn id="669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677" name="Google Shape;677;p39"/>
          <p:cNvCxnSpPr>
            <a:stCxn id="665" idx="5"/>
            <a:endCxn id="669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8" name="Google Shape;678;p39"/>
          <p:cNvCxnSpPr>
            <a:stCxn id="665" idx="6"/>
            <a:endCxn id="666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9" name="Google Shape;679;p39"/>
          <p:cNvCxnSpPr>
            <a:stCxn id="672" idx="1"/>
            <a:endCxn id="670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0" name="Google Shape;680;p39"/>
          <p:cNvCxnSpPr>
            <a:stCxn id="671" idx="1"/>
            <a:endCxn id="668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1" name="Google Shape;681;p39"/>
          <p:cNvCxnSpPr>
            <a:stCxn id="668" idx="5"/>
            <a:endCxn id="670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2" name="Google Shape;682;p39"/>
          <p:cNvCxnSpPr>
            <a:stCxn id="666" idx="0"/>
            <a:endCxn id="668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3" name="Google Shape;683;p39"/>
          <p:cNvCxnSpPr>
            <a:stCxn id="670" idx="3"/>
            <a:endCxn id="669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4" name="Google Shape;684;p39"/>
          <p:cNvCxnSpPr>
            <a:stCxn id="666" idx="6"/>
            <a:endCxn id="670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5" name="Google Shape;685;p39"/>
          <p:cNvCxnSpPr/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6" name="Google Shape;686;p39"/>
          <p:cNvCxnSpPr/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692" name="Google Shape;692;p40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693" name="Google Shape;693;p40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694" name="Google Shape;694;p40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95" name="Google Shape;695;p40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96" name="Google Shape;696;p40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97" name="Google Shape;697;p40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98" name="Google Shape;698;p40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99" name="Google Shape;699;p40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00" name="Google Shape;700;p40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01" name="Google Shape;701;p40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02" name="Google Shape;702;p40"/>
          <p:cNvCxnSpPr>
            <a:stCxn id="694" idx="7"/>
            <a:endCxn id="697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03" name="Google Shape;703;p40"/>
          <p:cNvCxnSpPr>
            <a:stCxn id="699" idx="6"/>
            <a:endCxn id="700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4" name="Google Shape;704;p40"/>
          <p:cNvCxnSpPr>
            <a:stCxn id="699" idx="4"/>
            <a:endCxn id="696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5" name="Google Shape;705;p40"/>
          <p:cNvCxnSpPr>
            <a:stCxn id="695" idx="4"/>
            <a:endCxn id="698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06" name="Google Shape;706;p40"/>
          <p:cNvCxnSpPr>
            <a:stCxn id="694" idx="5"/>
            <a:endCxn id="698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7" name="Google Shape;707;p40"/>
          <p:cNvCxnSpPr>
            <a:stCxn id="694" idx="6"/>
            <a:endCxn id="695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8" name="Google Shape;708;p40"/>
          <p:cNvCxnSpPr>
            <a:stCxn id="701" idx="1"/>
            <a:endCxn id="699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9" name="Google Shape;709;p40"/>
          <p:cNvCxnSpPr>
            <a:stCxn id="700" idx="1"/>
            <a:endCxn id="697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0" name="Google Shape;710;p40"/>
          <p:cNvCxnSpPr>
            <a:stCxn id="697" idx="5"/>
            <a:endCxn id="699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1" name="Google Shape;711;p40"/>
          <p:cNvCxnSpPr>
            <a:stCxn id="695" idx="0"/>
            <a:endCxn id="697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2" name="Google Shape;712;p40"/>
          <p:cNvCxnSpPr>
            <a:stCxn id="699" idx="3"/>
            <a:endCxn id="698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3" name="Google Shape;713;p40"/>
          <p:cNvCxnSpPr>
            <a:stCxn id="695" idx="6"/>
            <a:endCxn id="699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4" name="Google Shape;714;p40"/>
          <p:cNvCxnSpPr/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5" name="Google Shape;715;p40"/>
          <p:cNvCxnSpPr/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721" name="Google Shape;721;p41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722" name="Google Shape;722;p41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723" name="Google Shape;723;p41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24" name="Google Shape;724;p41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25" name="Google Shape;725;p41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26" name="Google Shape;726;p41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27" name="Google Shape;727;p41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28" name="Google Shape;728;p41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29" name="Google Shape;729;p41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30" name="Google Shape;730;p41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31" name="Google Shape;731;p41"/>
          <p:cNvCxnSpPr>
            <a:stCxn id="723" idx="7"/>
            <a:endCxn id="726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32" name="Google Shape;732;p41"/>
          <p:cNvCxnSpPr>
            <a:stCxn id="728" idx="6"/>
            <a:endCxn id="729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3" name="Google Shape;733;p41"/>
          <p:cNvCxnSpPr>
            <a:stCxn id="728" idx="4"/>
            <a:endCxn id="725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4" name="Google Shape;734;p41"/>
          <p:cNvCxnSpPr>
            <a:stCxn id="724" idx="4"/>
            <a:endCxn id="727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35" name="Google Shape;735;p41"/>
          <p:cNvCxnSpPr>
            <a:stCxn id="723" idx="5"/>
            <a:endCxn id="727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6" name="Google Shape;736;p41"/>
          <p:cNvCxnSpPr>
            <a:stCxn id="723" idx="6"/>
            <a:endCxn id="724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7" name="Google Shape;737;p41"/>
          <p:cNvCxnSpPr>
            <a:stCxn id="730" idx="1"/>
            <a:endCxn id="728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8" name="Google Shape;738;p41"/>
          <p:cNvCxnSpPr>
            <a:stCxn id="729" idx="1"/>
            <a:endCxn id="726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9" name="Google Shape;739;p41"/>
          <p:cNvCxnSpPr>
            <a:stCxn id="726" idx="5"/>
            <a:endCxn id="728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0" name="Google Shape;740;p41"/>
          <p:cNvCxnSpPr>
            <a:stCxn id="724" idx="0"/>
            <a:endCxn id="726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1" name="Google Shape;741;p41"/>
          <p:cNvCxnSpPr>
            <a:stCxn id="728" idx="3"/>
            <a:endCxn id="727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2" name="Google Shape;742;p41"/>
          <p:cNvCxnSpPr>
            <a:stCxn id="724" idx="6"/>
            <a:endCxn id="728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3" name="Google Shape;743;p41"/>
          <p:cNvCxnSpPr/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4" name="Google Shape;744;p41"/>
          <p:cNvCxnSpPr/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750" name="Google Shape;750;p42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751" name="Google Shape;751;p42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752" name="Google Shape;752;p42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53" name="Google Shape;753;p42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54" name="Google Shape;754;p42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55" name="Google Shape;755;p42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56" name="Google Shape;756;p42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57" name="Google Shape;757;p42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58" name="Google Shape;758;p42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59" name="Google Shape;759;p42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60" name="Google Shape;760;p42"/>
          <p:cNvCxnSpPr>
            <a:stCxn id="752" idx="7"/>
            <a:endCxn id="755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61" name="Google Shape;761;p42"/>
          <p:cNvCxnSpPr>
            <a:stCxn id="757" idx="6"/>
            <a:endCxn id="758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2" name="Google Shape;762;p42"/>
          <p:cNvCxnSpPr>
            <a:stCxn id="757" idx="4"/>
            <a:endCxn id="754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3" name="Google Shape;763;p42"/>
          <p:cNvCxnSpPr>
            <a:stCxn id="753" idx="4"/>
            <a:endCxn id="756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64" name="Google Shape;764;p42"/>
          <p:cNvCxnSpPr>
            <a:stCxn id="752" idx="5"/>
            <a:endCxn id="756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5" name="Google Shape;765;p42"/>
          <p:cNvCxnSpPr>
            <a:stCxn id="752" idx="6"/>
            <a:endCxn id="753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6" name="Google Shape;766;p42"/>
          <p:cNvCxnSpPr>
            <a:stCxn id="759" idx="1"/>
            <a:endCxn id="757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7" name="Google Shape;767;p42"/>
          <p:cNvCxnSpPr>
            <a:stCxn id="758" idx="1"/>
            <a:endCxn id="755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8" name="Google Shape;768;p42"/>
          <p:cNvCxnSpPr>
            <a:stCxn id="755" idx="5"/>
            <a:endCxn id="757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9" name="Google Shape;769;p42"/>
          <p:cNvCxnSpPr>
            <a:stCxn id="753" idx="0"/>
            <a:endCxn id="755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0" name="Google Shape;770;p42"/>
          <p:cNvCxnSpPr>
            <a:stCxn id="757" idx="3"/>
            <a:endCxn id="756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1" name="Google Shape;771;p42"/>
          <p:cNvCxnSpPr>
            <a:stCxn id="753" idx="6"/>
            <a:endCxn id="757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2" name="Google Shape;772;p42"/>
          <p:cNvCxnSpPr/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3" name="Google Shape;773;p42"/>
          <p:cNvCxnSpPr/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779" name="Google Shape;779;p43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780" name="Google Shape;780;p43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781" name="Google Shape;781;p43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82" name="Google Shape;782;p43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83" name="Google Shape;783;p43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84" name="Google Shape;784;p43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85" name="Google Shape;785;p43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86" name="Google Shape;786;p43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87" name="Google Shape;787;p43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88" name="Google Shape;788;p43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89" name="Google Shape;789;p43"/>
          <p:cNvCxnSpPr>
            <a:stCxn id="781" idx="7"/>
            <a:endCxn id="784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90" name="Google Shape;790;p43"/>
          <p:cNvCxnSpPr>
            <a:stCxn id="786" idx="6"/>
            <a:endCxn id="787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1" name="Google Shape;791;p43"/>
          <p:cNvCxnSpPr>
            <a:stCxn id="786" idx="4"/>
            <a:endCxn id="783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2" name="Google Shape;792;p43"/>
          <p:cNvCxnSpPr>
            <a:stCxn id="782" idx="4"/>
            <a:endCxn id="785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93" name="Google Shape;793;p43"/>
          <p:cNvCxnSpPr>
            <a:stCxn id="781" idx="5"/>
            <a:endCxn id="785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4" name="Google Shape;794;p43"/>
          <p:cNvCxnSpPr>
            <a:stCxn id="781" idx="6"/>
            <a:endCxn id="782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5" name="Google Shape;795;p43"/>
          <p:cNvCxnSpPr>
            <a:stCxn id="788" idx="1"/>
            <a:endCxn id="786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6" name="Google Shape;796;p43"/>
          <p:cNvCxnSpPr>
            <a:stCxn id="787" idx="1"/>
            <a:endCxn id="784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7" name="Google Shape;797;p43"/>
          <p:cNvCxnSpPr>
            <a:stCxn id="784" idx="5"/>
            <a:endCxn id="786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8" name="Google Shape;798;p43"/>
          <p:cNvCxnSpPr>
            <a:stCxn id="782" idx="0"/>
            <a:endCxn id="784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9" name="Google Shape;799;p43"/>
          <p:cNvCxnSpPr>
            <a:stCxn id="786" idx="3"/>
            <a:endCxn id="785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0" name="Google Shape;800;p43"/>
          <p:cNvCxnSpPr>
            <a:stCxn id="782" idx="6"/>
            <a:endCxn id="786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1" name="Google Shape;801;p43"/>
          <p:cNvCxnSpPr/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2" name="Google Shape;802;p43"/>
          <p:cNvCxnSpPr/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808" name="Google Shape;808;p44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809" name="Google Shape;809;p44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810" name="Google Shape;810;p44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11" name="Google Shape;811;p44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12" name="Google Shape;812;p44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13" name="Google Shape;813;p44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14" name="Google Shape;814;p44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15" name="Google Shape;815;p44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16" name="Google Shape;816;p44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17" name="Google Shape;817;p44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18" name="Google Shape;818;p44"/>
          <p:cNvCxnSpPr>
            <a:stCxn id="810" idx="7"/>
            <a:endCxn id="813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819" name="Google Shape;819;p44"/>
          <p:cNvCxnSpPr>
            <a:stCxn id="815" idx="6"/>
            <a:endCxn id="816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0" name="Google Shape;820;p44"/>
          <p:cNvCxnSpPr>
            <a:stCxn id="815" idx="4"/>
            <a:endCxn id="812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1" name="Google Shape;821;p44"/>
          <p:cNvCxnSpPr>
            <a:stCxn id="811" idx="4"/>
            <a:endCxn id="814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822" name="Google Shape;822;p44"/>
          <p:cNvCxnSpPr>
            <a:stCxn id="810" idx="5"/>
            <a:endCxn id="814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3" name="Google Shape;823;p44"/>
          <p:cNvCxnSpPr>
            <a:stCxn id="810" idx="6"/>
            <a:endCxn id="811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4" name="Google Shape;824;p44"/>
          <p:cNvCxnSpPr>
            <a:stCxn id="817" idx="1"/>
            <a:endCxn id="815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5" name="Google Shape;825;p44"/>
          <p:cNvCxnSpPr>
            <a:stCxn id="816" idx="1"/>
            <a:endCxn id="813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6" name="Google Shape;826;p44"/>
          <p:cNvCxnSpPr>
            <a:stCxn id="813" idx="5"/>
            <a:endCxn id="815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7" name="Google Shape;827;p44"/>
          <p:cNvCxnSpPr>
            <a:stCxn id="811" idx="0"/>
            <a:endCxn id="813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8" name="Google Shape;828;p44"/>
          <p:cNvCxnSpPr>
            <a:stCxn id="815" idx="3"/>
            <a:endCxn id="814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9" name="Google Shape;829;p44"/>
          <p:cNvCxnSpPr>
            <a:stCxn id="811" idx="6"/>
            <a:endCxn id="815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0" name="Google Shape;830;p44"/>
          <p:cNvCxnSpPr/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1" name="Google Shape;831;p44"/>
          <p:cNvCxnSpPr/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837" name="Google Shape;837;p45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838" name="Google Shape;838;p45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839" name="Google Shape;839;p45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40" name="Google Shape;840;p45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41" name="Google Shape;841;p45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42" name="Google Shape;842;p45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43" name="Google Shape;843;p45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44" name="Google Shape;844;p45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45" name="Google Shape;845;p45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46" name="Google Shape;846;p45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47" name="Google Shape;847;p45"/>
          <p:cNvCxnSpPr>
            <a:stCxn id="839" idx="7"/>
            <a:endCxn id="842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848" name="Google Shape;848;p45"/>
          <p:cNvCxnSpPr>
            <a:stCxn id="844" idx="6"/>
            <a:endCxn id="845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9" name="Google Shape;849;p45"/>
          <p:cNvCxnSpPr>
            <a:stCxn id="844" idx="4"/>
            <a:endCxn id="841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0" name="Google Shape;850;p45"/>
          <p:cNvCxnSpPr>
            <a:stCxn id="840" idx="4"/>
            <a:endCxn id="843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851" name="Google Shape;851;p45"/>
          <p:cNvCxnSpPr>
            <a:stCxn id="839" idx="5"/>
            <a:endCxn id="843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2" name="Google Shape;852;p45"/>
          <p:cNvCxnSpPr>
            <a:stCxn id="839" idx="6"/>
            <a:endCxn id="840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3" name="Google Shape;853;p45"/>
          <p:cNvCxnSpPr>
            <a:stCxn id="846" idx="1"/>
            <a:endCxn id="844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4" name="Google Shape;854;p45"/>
          <p:cNvCxnSpPr>
            <a:stCxn id="845" idx="1"/>
            <a:endCxn id="842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5" name="Google Shape;855;p45"/>
          <p:cNvCxnSpPr>
            <a:stCxn id="842" idx="5"/>
            <a:endCxn id="844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6" name="Google Shape;856;p45"/>
          <p:cNvCxnSpPr>
            <a:stCxn id="840" idx="0"/>
            <a:endCxn id="842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7" name="Google Shape;857;p45"/>
          <p:cNvCxnSpPr>
            <a:stCxn id="844" idx="3"/>
            <a:endCxn id="843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8" name="Google Shape;858;p45"/>
          <p:cNvCxnSpPr>
            <a:stCxn id="840" idx="6"/>
            <a:endCxn id="844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9" name="Google Shape;859;p45"/>
          <p:cNvCxnSpPr/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0" name="Google Shape;860;p45"/>
          <p:cNvCxnSpPr/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866" name="Google Shape;866;p46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867" name="Google Shape;867;p46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868" name="Google Shape;868;p46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69" name="Google Shape;869;p46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70" name="Google Shape;870;p46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71" name="Google Shape;871;p46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72" name="Google Shape;872;p46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73" name="Google Shape;873;p46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74" name="Google Shape;874;p46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75" name="Google Shape;875;p46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76" name="Google Shape;876;p46"/>
          <p:cNvCxnSpPr>
            <a:stCxn id="868" idx="7"/>
            <a:endCxn id="871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877" name="Google Shape;877;p46"/>
          <p:cNvCxnSpPr>
            <a:stCxn id="873" idx="6"/>
            <a:endCxn id="874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8" name="Google Shape;878;p46"/>
          <p:cNvCxnSpPr>
            <a:stCxn id="873" idx="4"/>
            <a:endCxn id="870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9" name="Google Shape;879;p46"/>
          <p:cNvCxnSpPr>
            <a:stCxn id="869" idx="4"/>
            <a:endCxn id="872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880" name="Google Shape;880;p46"/>
          <p:cNvCxnSpPr>
            <a:stCxn id="868" idx="5"/>
            <a:endCxn id="872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1" name="Google Shape;881;p46"/>
          <p:cNvCxnSpPr>
            <a:stCxn id="868" idx="6"/>
            <a:endCxn id="869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2" name="Google Shape;882;p46"/>
          <p:cNvCxnSpPr>
            <a:stCxn id="875" idx="1"/>
            <a:endCxn id="873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3" name="Google Shape;883;p46"/>
          <p:cNvCxnSpPr>
            <a:stCxn id="874" idx="1"/>
            <a:endCxn id="871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4" name="Google Shape;884;p46"/>
          <p:cNvCxnSpPr>
            <a:stCxn id="871" idx="5"/>
            <a:endCxn id="873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5" name="Google Shape;885;p46"/>
          <p:cNvCxnSpPr>
            <a:stCxn id="869" idx="0"/>
            <a:endCxn id="871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6" name="Google Shape;886;p46"/>
          <p:cNvCxnSpPr>
            <a:stCxn id="873" idx="3"/>
            <a:endCxn id="872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7" name="Google Shape;887;p46"/>
          <p:cNvCxnSpPr>
            <a:stCxn id="869" idx="6"/>
            <a:endCxn id="873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8" name="Google Shape;888;p46"/>
          <p:cNvCxnSpPr/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9" name="Google Shape;889;p46"/>
          <p:cNvCxnSpPr/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895" name="Google Shape;895;p47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896" name="Google Shape;896;p47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897" name="Google Shape;897;p47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98" name="Google Shape;898;p47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99" name="Google Shape;899;p47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00" name="Google Shape;900;p47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01" name="Google Shape;901;p47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02" name="Google Shape;902;p47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03" name="Google Shape;903;p47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04" name="Google Shape;904;p47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05" name="Google Shape;905;p47"/>
          <p:cNvCxnSpPr>
            <a:stCxn id="897" idx="7"/>
            <a:endCxn id="900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06" name="Google Shape;906;p47"/>
          <p:cNvCxnSpPr>
            <a:stCxn id="902" idx="6"/>
            <a:endCxn id="903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7" name="Google Shape;907;p47"/>
          <p:cNvCxnSpPr>
            <a:stCxn id="902" idx="4"/>
            <a:endCxn id="899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8" name="Google Shape;908;p47"/>
          <p:cNvCxnSpPr>
            <a:stCxn id="898" idx="4"/>
            <a:endCxn id="901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09" name="Google Shape;909;p47"/>
          <p:cNvCxnSpPr>
            <a:stCxn id="897" idx="5"/>
            <a:endCxn id="901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0" name="Google Shape;910;p47"/>
          <p:cNvCxnSpPr>
            <a:stCxn id="897" idx="6"/>
            <a:endCxn id="898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1" name="Google Shape;911;p47"/>
          <p:cNvCxnSpPr>
            <a:stCxn id="904" idx="1"/>
            <a:endCxn id="902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2" name="Google Shape;912;p47"/>
          <p:cNvCxnSpPr>
            <a:stCxn id="903" idx="1"/>
            <a:endCxn id="900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3" name="Google Shape;913;p47"/>
          <p:cNvCxnSpPr>
            <a:stCxn id="900" idx="5"/>
            <a:endCxn id="902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4" name="Google Shape;914;p47"/>
          <p:cNvCxnSpPr>
            <a:stCxn id="898" idx="0"/>
            <a:endCxn id="900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5" name="Google Shape;915;p47"/>
          <p:cNvCxnSpPr>
            <a:stCxn id="902" idx="3"/>
            <a:endCxn id="901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6" name="Google Shape;916;p47"/>
          <p:cNvCxnSpPr>
            <a:stCxn id="898" idx="6"/>
            <a:endCxn id="902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7" name="Google Shape;917;p47"/>
          <p:cNvCxnSpPr/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8" name="Google Shape;918;p47"/>
          <p:cNvCxnSpPr/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924" name="Google Shape;924;p48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925" name="Google Shape;925;p48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926" name="Google Shape;926;p48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27" name="Google Shape;927;p48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28" name="Google Shape;928;p48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29" name="Google Shape;929;p48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30" name="Google Shape;930;p48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31" name="Google Shape;931;p48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32" name="Google Shape;932;p48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33" name="Google Shape;933;p48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34" name="Google Shape;934;p48"/>
          <p:cNvCxnSpPr>
            <a:stCxn id="926" idx="7"/>
            <a:endCxn id="929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35" name="Google Shape;935;p48"/>
          <p:cNvCxnSpPr>
            <a:stCxn id="931" idx="6"/>
            <a:endCxn id="932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6" name="Google Shape;936;p48"/>
          <p:cNvCxnSpPr>
            <a:stCxn id="931" idx="4"/>
            <a:endCxn id="928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7" name="Google Shape;937;p48"/>
          <p:cNvCxnSpPr>
            <a:stCxn id="927" idx="4"/>
            <a:endCxn id="930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38" name="Google Shape;938;p48"/>
          <p:cNvCxnSpPr>
            <a:stCxn id="926" idx="5"/>
            <a:endCxn id="930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9" name="Google Shape;939;p48"/>
          <p:cNvCxnSpPr>
            <a:stCxn id="926" idx="6"/>
            <a:endCxn id="927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0" name="Google Shape;940;p48"/>
          <p:cNvCxnSpPr>
            <a:stCxn id="933" idx="1"/>
            <a:endCxn id="931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1" name="Google Shape;941;p48"/>
          <p:cNvCxnSpPr>
            <a:stCxn id="932" idx="1"/>
            <a:endCxn id="929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2" name="Google Shape;942;p48"/>
          <p:cNvCxnSpPr>
            <a:stCxn id="929" idx="5"/>
            <a:endCxn id="931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3" name="Google Shape;943;p48"/>
          <p:cNvCxnSpPr>
            <a:stCxn id="927" idx="0"/>
            <a:endCxn id="929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4" name="Google Shape;944;p48"/>
          <p:cNvCxnSpPr>
            <a:stCxn id="931" idx="3"/>
            <a:endCxn id="930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5" name="Google Shape;945;p48"/>
          <p:cNvCxnSpPr>
            <a:stCxn id="927" idx="6"/>
            <a:endCxn id="931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6" name="Google Shape;946;p48"/>
          <p:cNvCxnSpPr/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7" name="Google Shape;947;p48"/>
          <p:cNvCxnSpPr/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953" name="Google Shape;953;p49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954" name="Google Shape;954;p49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955" name="Google Shape;955;p49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56" name="Google Shape;956;p49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57" name="Google Shape;957;p49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58" name="Google Shape;958;p49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59" name="Google Shape;959;p49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60" name="Google Shape;960;p49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61" name="Google Shape;961;p49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62" name="Google Shape;962;p49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63" name="Google Shape;963;p49"/>
          <p:cNvCxnSpPr>
            <a:stCxn id="955" idx="7"/>
            <a:endCxn id="958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64" name="Google Shape;964;p49"/>
          <p:cNvCxnSpPr>
            <a:stCxn id="960" idx="6"/>
            <a:endCxn id="961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5" name="Google Shape;965;p49"/>
          <p:cNvCxnSpPr>
            <a:stCxn id="960" idx="4"/>
            <a:endCxn id="957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6" name="Google Shape;966;p49"/>
          <p:cNvCxnSpPr>
            <a:stCxn id="956" idx="4"/>
            <a:endCxn id="959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67" name="Google Shape;967;p49"/>
          <p:cNvCxnSpPr>
            <a:stCxn id="955" idx="5"/>
            <a:endCxn id="959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8" name="Google Shape;968;p49"/>
          <p:cNvCxnSpPr>
            <a:stCxn id="955" idx="6"/>
            <a:endCxn id="956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9" name="Google Shape;969;p49"/>
          <p:cNvCxnSpPr>
            <a:stCxn id="962" idx="1"/>
            <a:endCxn id="960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0" name="Google Shape;970;p49"/>
          <p:cNvCxnSpPr>
            <a:stCxn id="961" idx="1"/>
            <a:endCxn id="958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1" name="Google Shape;971;p49"/>
          <p:cNvCxnSpPr>
            <a:stCxn id="958" idx="5"/>
            <a:endCxn id="960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2" name="Google Shape;972;p49"/>
          <p:cNvCxnSpPr>
            <a:stCxn id="956" idx="0"/>
            <a:endCxn id="958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3" name="Google Shape;973;p49"/>
          <p:cNvCxnSpPr>
            <a:stCxn id="960" idx="3"/>
            <a:endCxn id="959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4" name="Google Shape;974;p49"/>
          <p:cNvCxnSpPr>
            <a:stCxn id="956" idx="6"/>
            <a:endCxn id="960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5" name="Google Shape;975;p49"/>
          <p:cNvCxnSpPr/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6" name="Google Shape;976;p49"/>
          <p:cNvCxnSpPr/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982" name="Google Shape;982;p50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983" name="Google Shape;983;p50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984" name="Google Shape;984;p50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85" name="Google Shape;985;p50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86" name="Google Shape;986;p50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87" name="Google Shape;987;p50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88" name="Google Shape;988;p50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89" name="Google Shape;989;p50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90" name="Google Shape;990;p50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91" name="Google Shape;991;p50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92" name="Google Shape;992;p50"/>
          <p:cNvCxnSpPr>
            <a:stCxn id="984" idx="7"/>
            <a:endCxn id="987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93" name="Google Shape;993;p50"/>
          <p:cNvCxnSpPr>
            <a:stCxn id="989" idx="6"/>
            <a:endCxn id="990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4" name="Google Shape;994;p50"/>
          <p:cNvCxnSpPr>
            <a:stCxn id="989" idx="4"/>
            <a:endCxn id="986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5" name="Google Shape;995;p50"/>
          <p:cNvCxnSpPr>
            <a:stCxn id="985" idx="4"/>
            <a:endCxn id="988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96" name="Google Shape;996;p50"/>
          <p:cNvCxnSpPr>
            <a:stCxn id="984" idx="5"/>
            <a:endCxn id="988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7" name="Google Shape;997;p50"/>
          <p:cNvCxnSpPr>
            <a:stCxn id="984" idx="6"/>
            <a:endCxn id="985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8" name="Google Shape;998;p50"/>
          <p:cNvCxnSpPr>
            <a:stCxn id="991" idx="1"/>
            <a:endCxn id="989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9" name="Google Shape;999;p50"/>
          <p:cNvCxnSpPr>
            <a:stCxn id="990" idx="1"/>
            <a:endCxn id="987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0" name="Google Shape;1000;p50"/>
          <p:cNvCxnSpPr>
            <a:stCxn id="987" idx="5"/>
            <a:endCxn id="989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1" name="Google Shape;1001;p50"/>
          <p:cNvCxnSpPr>
            <a:stCxn id="985" idx="0"/>
            <a:endCxn id="987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2" name="Google Shape;1002;p50"/>
          <p:cNvCxnSpPr>
            <a:stCxn id="989" idx="3"/>
            <a:endCxn id="988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3" name="Google Shape;1003;p50"/>
          <p:cNvCxnSpPr>
            <a:stCxn id="985" idx="6"/>
            <a:endCxn id="989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4" name="Google Shape;1004;p50"/>
          <p:cNvCxnSpPr/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5" name="Google Shape;1005;p50"/>
          <p:cNvCxnSpPr/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1011" name="Google Shape;1011;p51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1012" name="Google Shape;1012;p51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013" name="Google Shape;1013;p51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14" name="Google Shape;1014;p51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15" name="Google Shape;1015;p51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16" name="Google Shape;1016;p51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17" name="Google Shape;1017;p51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18" name="Google Shape;1018;p51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19" name="Google Shape;1019;p51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20" name="Google Shape;1020;p51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21" name="Google Shape;1021;p51"/>
          <p:cNvCxnSpPr>
            <a:stCxn id="1013" idx="7"/>
            <a:endCxn id="1016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022" name="Google Shape;1022;p51"/>
          <p:cNvCxnSpPr>
            <a:stCxn id="1018" idx="6"/>
            <a:endCxn id="1019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3" name="Google Shape;1023;p51"/>
          <p:cNvCxnSpPr>
            <a:stCxn id="1018" idx="4"/>
            <a:endCxn id="1015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4" name="Google Shape;1024;p51"/>
          <p:cNvCxnSpPr>
            <a:stCxn id="1014" idx="4"/>
            <a:endCxn id="1017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025" name="Google Shape;1025;p51"/>
          <p:cNvCxnSpPr>
            <a:stCxn id="1013" idx="5"/>
            <a:endCxn id="1017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6" name="Google Shape;1026;p51"/>
          <p:cNvCxnSpPr>
            <a:stCxn id="1013" idx="6"/>
            <a:endCxn id="1014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7" name="Google Shape;1027;p51"/>
          <p:cNvCxnSpPr>
            <a:stCxn id="1020" idx="1"/>
            <a:endCxn id="1018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8" name="Google Shape;1028;p51"/>
          <p:cNvCxnSpPr>
            <a:stCxn id="1019" idx="1"/>
            <a:endCxn id="1016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9" name="Google Shape;1029;p51"/>
          <p:cNvCxnSpPr>
            <a:stCxn id="1016" idx="5"/>
            <a:endCxn id="1018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0" name="Google Shape;1030;p51"/>
          <p:cNvCxnSpPr>
            <a:stCxn id="1014" idx="0"/>
            <a:endCxn id="1016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1" name="Google Shape;1031;p51"/>
          <p:cNvCxnSpPr>
            <a:stCxn id="1018" idx="3"/>
            <a:endCxn id="1017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2" name="Google Shape;1032;p51"/>
          <p:cNvCxnSpPr>
            <a:stCxn id="1014" idx="6"/>
            <a:endCxn id="1018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3" name="Google Shape;1033;p51"/>
          <p:cNvCxnSpPr/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4" name="Google Shape;1034;p51"/>
          <p:cNvCxnSpPr/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1040" name="Google Shape;1040;p52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1041" name="Google Shape;1041;p52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042" name="Google Shape;1042;p52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43" name="Google Shape;1043;p52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44" name="Google Shape;1044;p52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45" name="Google Shape;1045;p52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46" name="Google Shape;1046;p52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47" name="Google Shape;1047;p52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48" name="Google Shape;1048;p52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49" name="Google Shape;1049;p52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50" name="Google Shape;1050;p52"/>
          <p:cNvCxnSpPr>
            <a:stCxn id="1042" idx="7"/>
            <a:endCxn id="1045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051" name="Google Shape;1051;p52"/>
          <p:cNvCxnSpPr>
            <a:stCxn id="1047" idx="6"/>
            <a:endCxn id="1048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2" name="Google Shape;1052;p52"/>
          <p:cNvCxnSpPr>
            <a:stCxn id="1047" idx="4"/>
            <a:endCxn id="1044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3" name="Google Shape;1053;p52"/>
          <p:cNvCxnSpPr>
            <a:stCxn id="1043" idx="4"/>
            <a:endCxn id="1046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054" name="Google Shape;1054;p52"/>
          <p:cNvCxnSpPr>
            <a:stCxn id="1042" idx="5"/>
            <a:endCxn id="1046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5" name="Google Shape;1055;p52"/>
          <p:cNvCxnSpPr>
            <a:stCxn id="1042" idx="6"/>
            <a:endCxn id="1043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6" name="Google Shape;1056;p52"/>
          <p:cNvCxnSpPr>
            <a:stCxn id="1049" idx="1"/>
            <a:endCxn id="1047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7" name="Google Shape;1057;p52"/>
          <p:cNvCxnSpPr>
            <a:stCxn id="1048" idx="1"/>
            <a:endCxn id="1045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8" name="Google Shape;1058;p52"/>
          <p:cNvCxnSpPr>
            <a:stCxn id="1045" idx="5"/>
            <a:endCxn id="1047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9" name="Google Shape;1059;p52"/>
          <p:cNvCxnSpPr>
            <a:stCxn id="1043" idx="0"/>
            <a:endCxn id="1045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0" name="Google Shape;1060;p52"/>
          <p:cNvCxnSpPr>
            <a:stCxn id="1047" idx="3"/>
            <a:endCxn id="1046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1" name="Google Shape;1061;p52"/>
          <p:cNvCxnSpPr>
            <a:stCxn id="1043" idx="6"/>
            <a:endCxn id="1047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2" name="Google Shape;1062;p52"/>
          <p:cNvCxnSpPr/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3" name="Google Shape;1063;p52"/>
          <p:cNvCxnSpPr/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1069" name="Google Shape;1069;p53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1070" name="Google Shape;1070;p53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071" name="Google Shape;1071;p53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72" name="Google Shape;1072;p53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73" name="Google Shape;1073;p53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74" name="Google Shape;1074;p53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75" name="Google Shape;1075;p53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76" name="Google Shape;1076;p53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77" name="Google Shape;1077;p53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78" name="Google Shape;1078;p53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79" name="Google Shape;1079;p53"/>
          <p:cNvCxnSpPr>
            <a:stCxn id="1071" idx="7"/>
            <a:endCxn id="1074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080" name="Google Shape;1080;p53"/>
          <p:cNvCxnSpPr>
            <a:stCxn id="1076" idx="6"/>
            <a:endCxn id="1077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1" name="Google Shape;1081;p53"/>
          <p:cNvCxnSpPr>
            <a:stCxn id="1076" idx="4"/>
            <a:endCxn id="1073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2" name="Google Shape;1082;p53"/>
          <p:cNvCxnSpPr>
            <a:stCxn id="1072" idx="4"/>
            <a:endCxn id="1075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083" name="Google Shape;1083;p53"/>
          <p:cNvCxnSpPr>
            <a:stCxn id="1071" idx="5"/>
            <a:endCxn id="1075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4" name="Google Shape;1084;p53"/>
          <p:cNvCxnSpPr>
            <a:stCxn id="1071" idx="6"/>
            <a:endCxn id="1072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5" name="Google Shape;1085;p53"/>
          <p:cNvCxnSpPr>
            <a:stCxn id="1078" idx="1"/>
            <a:endCxn id="1076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6" name="Google Shape;1086;p53"/>
          <p:cNvCxnSpPr>
            <a:stCxn id="1077" idx="1"/>
            <a:endCxn id="1074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7" name="Google Shape;1087;p53"/>
          <p:cNvCxnSpPr>
            <a:stCxn id="1074" idx="5"/>
            <a:endCxn id="1076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8" name="Google Shape;1088;p53"/>
          <p:cNvCxnSpPr>
            <a:stCxn id="1072" idx="0"/>
            <a:endCxn id="1074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9" name="Google Shape;1089;p53"/>
          <p:cNvCxnSpPr>
            <a:stCxn id="1076" idx="3"/>
            <a:endCxn id="1075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0" name="Google Shape;1090;p53"/>
          <p:cNvCxnSpPr>
            <a:stCxn id="1072" idx="6"/>
            <a:endCxn id="1076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1" name="Google Shape;1091;p53"/>
          <p:cNvCxnSpPr/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2" name="Google Shape;1092;p53"/>
          <p:cNvCxnSpPr/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1098" name="Google Shape;1098;p54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1099" name="Google Shape;1099;p54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100" name="Google Shape;1100;p54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01" name="Google Shape;1101;p54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02" name="Google Shape;1102;p54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03" name="Google Shape;1103;p54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04" name="Google Shape;1104;p54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05" name="Google Shape;1105;p54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06" name="Google Shape;1106;p54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07" name="Google Shape;1107;p54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08" name="Google Shape;1108;p54"/>
          <p:cNvCxnSpPr>
            <a:stCxn id="1100" idx="7"/>
            <a:endCxn id="1103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09" name="Google Shape;1109;p54"/>
          <p:cNvCxnSpPr>
            <a:stCxn id="1105" idx="6"/>
            <a:endCxn id="1106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0" name="Google Shape;1110;p54"/>
          <p:cNvCxnSpPr>
            <a:stCxn id="1105" idx="4"/>
            <a:endCxn id="1102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1" name="Google Shape;1111;p54"/>
          <p:cNvCxnSpPr>
            <a:stCxn id="1101" idx="4"/>
            <a:endCxn id="1104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12" name="Google Shape;1112;p54"/>
          <p:cNvCxnSpPr>
            <a:stCxn id="1100" idx="5"/>
            <a:endCxn id="1104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3" name="Google Shape;1113;p54"/>
          <p:cNvCxnSpPr>
            <a:stCxn id="1100" idx="6"/>
            <a:endCxn id="1101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4" name="Google Shape;1114;p54"/>
          <p:cNvCxnSpPr>
            <a:stCxn id="1107" idx="1"/>
            <a:endCxn id="1105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5" name="Google Shape;1115;p54"/>
          <p:cNvCxnSpPr>
            <a:stCxn id="1106" idx="1"/>
            <a:endCxn id="1103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6" name="Google Shape;1116;p54"/>
          <p:cNvCxnSpPr>
            <a:stCxn id="1103" idx="5"/>
            <a:endCxn id="1105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7" name="Google Shape;1117;p54"/>
          <p:cNvCxnSpPr>
            <a:stCxn id="1101" idx="0"/>
            <a:endCxn id="1103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8" name="Google Shape;1118;p54"/>
          <p:cNvCxnSpPr>
            <a:stCxn id="1105" idx="3"/>
            <a:endCxn id="1104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9" name="Google Shape;1119;p54"/>
          <p:cNvCxnSpPr>
            <a:stCxn id="1101" idx="6"/>
            <a:endCxn id="1105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0" name="Google Shape;1120;p54"/>
          <p:cNvCxnSpPr/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1" name="Google Shape;1121;p54"/>
          <p:cNvCxnSpPr/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1127" name="Google Shape;1127;p55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1128" name="Google Shape;1128;p55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129" name="Google Shape;1129;p55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30" name="Google Shape;1130;p55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31" name="Google Shape;1131;p55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32" name="Google Shape;1132;p55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33" name="Google Shape;1133;p55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34" name="Google Shape;1134;p55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35" name="Google Shape;1135;p55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36" name="Google Shape;1136;p55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37" name="Google Shape;1137;p55"/>
          <p:cNvCxnSpPr>
            <a:stCxn id="1129" idx="7"/>
            <a:endCxn id="1132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38" name="Google Shape;1138;p55"/>
          <p:cNvCxnSpPr>
            <a:stCxn id="1134" idx="6"/>
            <a:endCxn id="1135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9" name="Google Shape;1139;p55"/>
          <p:cNvCxnSpPr>
            <a:stCxn id="1134" idx="4"/>
            <a:endCxn id="1131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0" name="Google Shape;1140;p55"/>
          <p:cNvCxnSpPr>
            <a:stCxn id="1130" idx="4"/>
            <a:endCxn id="1133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41" name="Google Shape;1141;p55"/>
          <p:cNvCxnSpPr>
            <a:stCxn id="1129" idx="5"/>
            <a:endCxn id="1133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2" name="Google Shape;1142;p55"/>
          <p:cNvCxnSpPr>
            <a:stCxn id="1129" idx="6"/>
            <a:endCxn id="1130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3" name="Google Shape;1143;p55"/>
          <p:cNvCxnSpPr>
            <a:stCxn id="1136" idx="1"/>
            <a:endCxn id="1134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4" name="Google Shape;1144;p55"/>
          <p:cNvCxnSpPr>
            <a:stCxn id="1135" idx="1"/>
            <a:endCxn id="1132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5" name="Google Shape;1145;p55"/>
          <p:cNvCxnSpPr>
            <a:stCxn id="1132" idx="5"/>
            <a:endCxn id="1134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6" name="Google Shape;1146;p55"/>
          <p:cNvCxnSpPr>
            <a:stCxn id="1130" idx="0"/>
            <a:endCxn id="1132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7" name="Google Shape;1147;p55"/>
          <p:cNvCxnSpPr>
            <a:stCxn id="1134" idx="3"/>
            <a:endCxn id="1133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8" name="Google Shape;1148;p55"/>
          <p:cNvCxnSpPr>
            <a:stCxn id="1130" idx="6"/>
            <a:endCxn id="1134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9" name="Google Shape;1149;p55"/>
          <p:cNvCxnSpPr/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0" name="Google Shape;1150;p55"/>
          <p:cNvCxnSpPr/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1156" name="Google Shape;1156;p56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1157" name="Google Shape;1157;p56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158" name="Google Shape;1158;p56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59" name="Google Shape;1159;p56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60" name="Google Shape;1160;p56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61" name="Google Shape;1161;p56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62" name="Google Shape;1162;p56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63" name="Google Shape;1163;p56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64" name="Google Shape;1164;p56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65" name="Google Shape;1165;p56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66" name="Google Shape;1166;p56"/>
          <p:cNvCxnSpPr>
            <a:stCxn id="1158" idx="7"/>
            <a:endCxn id="1161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67" name="Google Shape;1167;p56"/>
          <p:cNvCxnSpPr>
            <a:stCxn id="1163" idx="6"/>
            <a:endCxn id="1164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8" name="Google Shape;1168;p56"/>
          <p:cNvCxnSpPr>
            <a:stCxn id="1163" idx="4"/>
            <a:endCxn id="1160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9" name="Google Shape;1169;p56"/>
          <p:cNvCxnSpPr>
            <a:stCxn id="1159" idx="4"/>
            <a:endCxn id="1162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70" name="Google Shape;1170;p56"/>
          <p:cNvCxnSpPr>
            <a:stCxn id="1158" idx="5"/>
            <a:endCxn id="1162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1" name="Google Shape;1171;p56"/>
          <p:cNvCxnSpPr>
            <a:stCxn id="1158" idx="6"/>
            <a:endCxn id="1159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2" name="Google Shape;1172;p56"/>
          <p:cNvCxnSpPr>
            <a:stCxn id="1165" idx="1"/>
            <a:endCxn id="1163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3" name="Google Shape;1173;p56"/>
          <p:cNvCxnSpPr>
            <a:stCxn id="1164" idx="1"/>
            <a:endCxn id="1161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4" name="Google Shape;1174;p56"/>
          <p:cNvCxnSpPr>
            <a:stCxn id="1161" idx="5"/>
            <a:endCxn id="1163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5" name="Google Shape;1175;p56"/>
          <p:cNvCxnSpPr>
            <a:stCxn id="1159" idx="0"/>
            <a:endCxn id="1161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6" name="Google Shape;1176;p56"/>
          <p:cNvCxnSpPr>
            <a:stCxn id="1163" idx="3"/>
            <a:endCxn id="1162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7" name="Google Shape;1177;p56"/>
          <p:cNvCxnSpPr>
            <a:stCxn id="1159" idx="6"/>
            <a:endCxn id="1163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8" name="Google Shape;1178;p56"/>
          <p:cNvCxnSpPr/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9" name="Google Shape;1179;p56"/>
          <p:cNvCxnSpPr/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1185" name="Google Shape;1185;p57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1186" name="Google Shape;1186;p57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187" name="Google Shape;1187;p57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88" name="Google Shape;1188;p57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89" name="Google Shape;1189;p57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90" name="Google Shape;1190;p57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91" name="Google Shape;1191;p57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92" name="Google Shape;1192;p57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93" name="Google Shape;1193;p57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94" name="Google Shape;1194;p57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95" name="Google Shape;1195;p57"/>
          <p:cNvCxnSpPr>
            <a:stCxn id="1187" idx="7"/>
            <a:endCxn id="1190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96" name="Google Shape;1196;p57"/>
          <p:cNvCxnSpPr>
            <a:stCxn id="1192" idx="6"/>
            <a:endCxn id="1193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7" name="Google Shape;1197;p57"/>
          <p:cNvCxnSpPr>
            <a:stCxn id="1192" idx="4"/>
            <a:endCxn id="1189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8" name="Google Shape;1198;p57"/>
          <p:cNvCxnSpPr>
            <a:stCxn id="1188" idx="4"/>
            <a:endCxn id="1191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99" name="Google Shape;1199;p57"/>
          <p:cNvCxnSpPr>
            <a:stCxn id="1187" idx="5"/>
            <a:endCxn id="1191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0" name="Google Shape;1200;p57"/>
          <p:cNvCxnSpPr>
            <a:stCxn id="1187" idx="6"/>
            <a:endCxn id="1188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1" name="Google Shape;1201;p57"/>
          <p:cNvCxnSpPr>
            <a:stCxn id="1194" idx="1"/>
            <a:endCxn id="1192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2" name="Google Shape;1202;p57"/>
          <p:cNvCxnSpPr>
            <a:stCxn id="1193" idx="1"/>
            <a:endCxn id="1190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3" name="Google Shape;1203;p57"/>
          <p:cNvCxnSpPr>
            <a:stCxn id="1190" idx="5"/>
            <a:endCxn id="1192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4" name="Google Shape;1204;p57"/>
          <p:cNvCxnSpPr>
            <a:stCxn id="1188" idx="0"/>
            <a:endCxn id="1190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5" name="Google Shape;1205;p57"/>
          <p:cNvCxnSpPr>
            <a:stCxn id="1192" idx="3"/>
            <a:endCxn id="1191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6" name="Google Shape;1206;p57"/>
          <p:cNvCxnSpPr>
            <a:stCxn id="1188" idx="6"/>
            <a:endCxn id="1192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7" name="Google Shape;1207;p57"/>
          <p:cNvCxnSpPr/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8" name="Google Shape;1208;p57"/>
          <p:cNvCxnSpPr/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09" name="Google Shape;1209;p57"/>
          <p:cNvSpPr/>
          <p:nvPr/>
        </p:nvSpPr>
        <p:spPr>
          <a:xfrm>
            <a:off x="2193275" y="1041350"/>
            <a:ext cx="3117600" cy="11055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In a strongly connected graph, the reachability matrix is the </a:t>
            </a:r>
            <a:r>
              <a:rPr b="1" lang="en">
                <a:solidFill>
                  <a:srgbClr val="0000FF"/>
                </a:solidFill>
              </a:rPr>
              <a:t>all-ones</a:t>
            </a:r>
            <a:r>
              <a:rPr b="1" lang="en">
                <a:solidFill>
                  <a:srgbClr val="FF0000"/>
                </a:solidFill>
              </a:rPr>
              <a:t> matrix!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1215" name="Google Shape;1215;p58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Unilaterally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1216" name="Google Shape;1216;p58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217" name="Google Shape;1217;p58"/>
          <p:cNvSpPr/>
          <p:nvPr/>
        </p:nvSpPr>
        <p:spPr>
          <a:xfrm>
            <a:off x="91440" y="2833032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18" name="Google Shape;1218;p58"/>
          <p:cNvSpPr/>
          <p:nvPr/>
        </p:nvSpPr>
        <p:spPr>
          <a:xfrm>
            <a:off x="1546851" y="2833032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19" name="Google Shape;1219;p58"/>
          <p:cNvSpPr/>
          <p:nvPr/>
        </p:nvSpPr>
        <p:spPr>
          <a:xfrm>
            <a:off x="2789575" y="412072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20" name="Google Shape;1220;p58"/>
          <p:cNvSpPr/>
          <p:nvPr/>
        </p:nvSpPr>
        <p:spPr>
          <a:xfrm>
            <a:off x="1546824" y="154533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21" name="Google Shape;1221;p58"/>
          <p:cNvSpPr/>
          <p:nvPr/>
        </p:nvSpPr>
        <p:spPr>
          <a:xfrm>
            <a:off x="1546776" y="412072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22" name="Google Shape;1222;p58"/>
          <p:cNvSpPr/>
          <p:nvPr/>
        </p:nvSpPr>
        <p:spPr>
          <a:xfrm>
            <a:off x="2789624" y="2833032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23" name="Google Shape;1223;p58"/>
          <p:cNvSpPr/>
          <p:nvPr/>
        </p:nvSpPr>
        <p:spPr>
          <a:xfrm>
            <a:off x="4244944" y="2833032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24" name="Google Shape;1224;p58"/>
          <p:cNvSpPr/>
          <p:nvPr/>
        </p:nvSpPr>
        <p:spPr>
          <a:xfrm>
            <a:off x="4244896" y="412072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25" name="Google Shape;1225;p58"/>
          <p:cNvCxnSpPr>
            <a:stCxn id="1217" idx="7"/>
            <a:endCxn id="1220" idx="2"/>
          </p:cNvCxnSpPr>
          <p:nvPr/>
        </p:nvCxnSpPr>
        <p:spPr>
          <a:xfrm flipH="1" rot="10800000">
            <a:off x="448652" y="1748275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6" name="Google Shape;1226;p58"/>
          <p:cNvCxnSpPr>
            <a:stCxn id="1222" idx="6"/>
            <a:endCxn id="1223" idx="2"/>
          </p:cNvCxnSpPr>
          <p:nvPr/>
        </p:nvCxnSpPr>
        <p:spPr>
          <a:xfrm>
            <a:off x="3208124" y="3035982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7" name="Google Shape;1227;p58"/>
          <p:cNvCxnSpPr>
            <a:stCxn id="1219" idx="6"/>
            <a:endCxn id="1224" idx="2"/>
          </p:cNvCxnSpPr>
          <p:nvPr/>
        </p:nvCxnSpPr>
        <p:spPr>
          <a:xfrm>
            <a:off x="3208075" y="4323671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8" name="Google Shape;1228;p58"/>
          <p:cNvCxnSpPr>
            <a:stCxn id="1222" idx="4"/>
            <a:endCxn id="1219" idx="0"/>
          </p:cNvCxnSpPr>
          <p:nvPr/>
        </p:nvCxnSpPr>
        <p:spPr>
          <a:xfrm>
            <a:off x="2998874" y="3238932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9" name="Google Shape;1229;p58"/>
          <p:cNvCxnSpPr>
            <a:stCxn id="1218" idx="4"/>
            <a:endCxn id="1221" idx="0"/>
          </p:cNvCxnSpPr>
          <p:nvPr/>
        </p:nvCxnSpPr>
        <p:spPr>
          <a:xfrm>
            <a:off x="1756101" y="3238932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30" name="Google Shape;1230;p58"/>
          <p:cNvCxnSpPr>
            <a:stCxn id="1217" idx="5"/>
            <a:endCxn id="1221" idx="2"/>
          </p:cNvCxnSpPr>
          <p:nvPr/>
        </p:nvCxnSpPr>
        <p:spPr>
          <a:xfrm>
            <a:off x="448652" y="3179489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1" name="Google Shape;1231;p58"/>
          <p:cNvCxnSpPr>
            <a:stCxn id="1217" idx="6"/>
            <a:endCxn id="1218" idx="2"/>
          </p:cNvCxnSpPr>
          <p:nvPr/>
        </p:nvCxnSpPr>
        <p:spPr>
          <a:xfrm>
            <a:off x="509940" y="3035982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2" name="Google Shape;1232;p58"/>
          <p:cNvCxnSpPr>
            <a:stCxn id="1219" idx="2"/>
            <a:endCxn id="1221" idx="6"/>
          </p:cNvCxnSpPr>
          <p:nvPr/>
        </p:nvCxnSpPr>
        <p:spPr>
          <a:xfrm rot="10800000">
            <a:off x="1965175" y="4323671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3" name="Google Shape;1233;p58"/>
          <p:cNvCxnSpPr>
            <a:stCxn id="1224" idx="1"/>
            <a:endCxn id="1222" idx="5"/>
          </p:cNvCxnSpPr>
          <p:nvPr/>
        </p:nvCxnSpPr>
        <p:spPr>
          <a:xfrm rot="10800000">
            <a:off x="3146984" y="3179363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4" name="Google Shape;1234;p58"/>
          <p:cNvCxnSpPr>
            <a:stCxn id="1223" idx="1"/>
            <a:endCxn id="1220" idx="6"/>
          </p:cNvCxnSpPr>
          <p:nvPr/>
        </p:nvCxnSpPr>
        <p:spPr>
          <a:xfrm rot="10800000">
            <a:off x="1965332" y="1748275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5" name="Google Shape;1235;p58"/>
          <p:cNvCxnSpPr>
            <a:stCxn id="1220" idx="5"/>
            <a:endCxn id="1222" idx="1"/>
          </p:cNvCxnSpPr>
          <p:nvPr/>
        </p:nvCxnSpPr>
        <p:spPr>
          <a:xfrm>
            <a:off x="1904036" y="189179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6" name="Google Shape;1236;p58"/>
          <p:cNvCxnSpPr>
            <a:stCxn id="1218" idx="0"/>
            <a:endCxn id="1220" idx="4"/>
          </p:cNvCxnSpPr>
          <p:nvPr/>
        </p:nvCxnSpPr>
        <p:spPr>
          <a:xfrm rot="10800000">
            <a:off x="1756101" y="1951332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7" name="Google Shape;1237;p58"/>
          <p:cNvCxnSpPr>
            <a:stCxn id="1222" idx="3"/>
            <a:endCxn id="1221" idx="7"/>
          </p:cNvCxnSpPr>
          <p:nvPr/>
        </p:nvCxnSpPr>
        <p:spPr>
          <a:xfrm flipH="1">
            <a:off x="1904111" y="3179489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8" name="Google Shape;1238;p58"/>
          <p:cNvCxnSpPr>
            <a:stCxn id="1218" idx="6"/>
            <a:endCxn id="1222" idx="2"/>
          </p:cNvCxnSpPr>
          <p:nvPr/>
        </p:nvCxnSpPr>
        <p:spPr>
          <a:xfrm>
            <a:off x="1965351" y="3035982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39" name="Google Shape;1239;p58"/>
          <p:cNvSpPr/>
          <p:nvPr/>
        </p:nvSpPr>
        <p:spPr>
          <a:xfrm>
            <a:off x="2193275" y="1041350"/>
            <a:ext cx="3117600" cy="11055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Unilaterally connected graphs have zeroes in their reachability matrix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1245" name="Google Shape;1245;p59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Unilaterally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1246" name="Google Shape;1246;p59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247" name="Google Shape;1247;p59"/>
          <p:cNvSpPr/>
          <p:nvPr/>
        </p:nvSpPr>
        <p:spPr>
          <a:xfrm>
            <a:off x="91440" y="2833032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48" name="Google Shape;1248;p59"/>
          <p:cNvSpPr/>
          <p:nvPr/>
        </p:nvSpPr>
        <p:spPr>
          <a:xfrm>
            <a:off x="1546851" y="2833032"/>
            <a:ext cx="418500" cy="4059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49" name="Google Shape;1249;p59"/>
          <p:cNvSpPr/>
          <p:nvPr/>
        </p:nvSpPr>
        <p:spPr>
          <a:xfrm>
            <a:off x="2789575" y="4120721"/>
            <a:ext cx="418500" cy="4059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50" name="Google Shape;1250;p59"/>
          <p:cNvSpPr/>
          <p:nvPr/>
        </p:nvSpPr>
        <p:spPr>
          <a:xfrm>
            <a:off x="1546824" y="1545336"/>
            <a:ext cx="418500" cy="4059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51" name="Google Shape;1251;p59"/>
          <p:cNvSpPr/>
          <p:nvPr/>
        </p:nvSpPr>
        <p:spPr>
          <a:xfrm>
            <a:off x="1546776" y="4120721"/>
            <a:ext cx="418500" cy="4059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52" name="Google Shape;1252;p59"/>
          <p:cNvSpPr/>
          <p:nvPr/>
        </p:nvSpPr>
        <p:spPr>
          <a:xfrm>
            <a:off x="2789624" y="2833032"/>
            <a:ext cx="418500" cy="4059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53" name="Google Shape;1253;p59"/>
          <p:cNvSpPr/>
          <p:nvPr/>
        </p:nvSpPr>
        <p:spPr>
          <a:xfrm>
            <a:off x="4244944" y="2833032"/>
            <a:ext cx="418500" cy="4059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54" name="Google Shape;1254;p59"/>
          <p:cNvSpPr/>
          <p:nvPr/>
        </p:nvSpPr>
        <p:spPr>
          <a:xfrm>
            <a:off x="4244896" y="4120721"/>
            <a:ext cx="418500" cy="4059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55" name="Google Shape;1255;p59"/>
          <p:cNvCxnSpPr>
            <a:stCxn id="1247" idx="7"/>
            <a:endCxn id="1250" idx="2"/>
          </p:cNvCxnSpPr>
          <p:nvPr/>
        </p:nvCxnSpPr>
        <p:spPr>
          <a:xfrm flipH="1" rot="10800000">
            <a:off x="448652" y="1748275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6" name="Google Shape;1256;p59"/>
          <p:cNvCxnSpPr>
            <a:stCxn id="1252" idx="6"/>
            <a:endCxn id="1253" idx="2"/>
          </p:cNvCxnSpPr>
          <p:nvPr/>
        </p:nvCxnSpPr>
        <p:spPr>
          <a:xfrm>
            <a:off x="3208124" y="3035982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7" name="Google Shape;1257;p59"/>
          <p:cNvCxnSpPr>
            <a:stCxn id="1249" idx="6"/>
            <a:endCxn id="1254" idx="2"/>
          </p:cNvCxnSpPr>
          <p:nvPr/>
        </p:nvCxnSpPr>
        <p:spPr>
          <a:xfrm>
            <a:off x="3208075" y="4323671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8" name="Google Shape;1258;p59"/>
          <p:cNvCxnSpPr>
            <a:stCxn id="1252" idx="4"/>
            <a:endCxn id="1249" idx="0"/>
          </p:cNvCxnSpPr>
          <p:nvPr/>
        </p:nvCxnSpPr>
        <p:spPr>
          <a:xfrm>
            <a:off x="2998874" y="3238932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9" name="Google Shape;1259;p59"/>
          <p:cNvCxnSpPr>
            <a:stCxn id="1248" idx="4"/>
            <a:endCxn id="1251" idx="0"/>
          </p:cNvCxnSpPr>
          <p:nvPr/>
        </p:nvCxnSpPr>
        <p:spPr>
          <a:xfrm>
            <a:off x="1756101" y="3238932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60" name="Google Shape;1260;p59"/>
          <p:cNvCxnSpPr>
            <a:stCxn id="1247" idx="5"/>
            <a:endCxn id="1251" idx="2"/>
          </p:cNvCxnSpPr>
          <p:nvPr/>
        </p:nvCxnSpPr>
        <p:spPr>
          <a:xfrm>
            <a:off x="448652" y="3179489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1" name="Google Shape;1261;p59"/>
          <p:cNvCxnSpPr>
            <a:stCxn id="1247" idx="6"/>
            <a:endCxn id="1248" idx="2"/>
          </p:cNvCxnSpPr>
          <p:nvPr/>
        </p:nvCxnSpPr>
        <p:spPr>
          <a:xfrm>
            <a:off x="509940" y="3035982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2" name="Google Shape;1262;p59"/>
          <p:cNvCxnSpPr>
            <a:stCxn id="1249" idx="2"/>
            <a:endCxn id="1251" idx="6"/>
          </p:cNvCxnSpPr>
          <p:nvPr/>
        </p:nvCxnSpPr>
        <p:spPr>
          <a:xfrm rot="10800000">
            <a:off x="1965175" y="4323671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3" name="Google Shape;1263;p59"/>
          <p:cNvCxnSpPr>
            <a:stCxn id="1254" idx="1"/>
            <a:endCxn id="1252" idx="5"/>
          </p:cNvCxnSpPr>
          <p:nvPr/>
        </p:nvCxnSpPr>
        <p:spPr>
          <a:xfrm rot="10800000">
            <a:off x="3146984" y="3179363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4" name="Google Shape;1264;p59"/>
          <p:cNvCxnSpPr>
            <a:stCxn id="1253" idx="1"/>
            <a:endCxn id="1250" idx="6"/>
          </p:cNvCxnSpPr>
          <p:nvPr/>
        </p:nvCxnSpPr>
        <p:spPr>
          <a:xfrm rot="10800000">
            <a:off x="1965332" y="1748275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5" name="Google Shape;1265;p59"/>
          <p:cNvCxnSpPr>
            <a:stCxn id="1250" idx="5"/>
            <a:endCxn id="1252" idx="1"/>
          </p:cNvCxnSpPr>
          <p:nvPr/>
        </p:nvCxnSpPr>
        <p:spPr>
          <a:xfrm>
            <a:off x="1904036" y="189179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6" name="Google Shape;1266;p59"/>
          <p:cNvCxnSpPr>
            <a:stCxn id="1248" idx="0"/>
            <a:endCxn id="1250" idx="4"/>
          </p:cNvCxnSpPr>
          <p:nvPr/>
        </p:nvCxnSpPr>
        <p:spPr>
          <a:xfrm rot="10800000">
            <a:off x="1756101" y="1951332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7" name="Google Shape;1267;p59"/>
          <p:cNvCxnSpPr>
            <a:stCxn id="1252" idx="3"/>
            <a:endCxn id="1251" idx="7"/>
          </p:cNvCxnSpPr>
          <p:nvPr/>
        </p:nvCxnSpPr>
        <p:spPr>
          <a:xfrm flipH="1">
            <a:off x="1904111" y="3179489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8" name="Google Shape;1268;p59"/>
          <p:cNvCxnSpPr>
            <a:stCxn id="1248" idx="6"/>
            <a:endCxn id="1252" idx="2"/>
          </p:cNvCxnSpPr>
          <p:nvPr/>
        </p:nvCxnSpPr>
        <p:spPr>
          <a:xfrm>
            <a:off x="1965351" y="3035982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9" name="Google Shape;1269;p59"/>
          <p:cNvSpPr/>
          <p:nvPr/>
        </p:nvSpPr>
        <p:spPr>
          <a:xfrm>
            <a:off x="2193275" y="1041350"/>
            <a:ext cx="3117600" cy="11055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But node 2 can still unilaterally reach all the other does in the graph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270" name="Google Shape;1270;p59"/>
          <p:cNvSpPr/>
          <p:nvPr/>
        </p:nvSpPr>
        <p:spPr>
          <a:xfrm>
            <a:off x="5336625" y="2086825"/>
            <a:ext cx="36999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1276" name="Google Shape;1276;p60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Weakly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1277" name="Google Shape;1277;p60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278" name="Google Shape;1278;p60"/>
          <p:cNvSpPr/>
          <p:nvPr/>
        </p:nvSpPr>
        <p:spPr>
          <a:xfrm>
            <a:off x="91440" y="2833032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79" name="Google Shape;1279;p60"/>
          <p:cNvSpPr/>
          <p:nvPr/>
        </p:nvSpPr>
        <p:spPr>
          <a:xfrm>
            <a:off x="1546851" y="2833032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80" name="Google Shape;1280;p60"/>
          <p:cNvSpPr/>
          <p:nvPr/>
        </p:nvSpPr>
        <p:spPr>
          <a:xfrm>
            <a:off x="2789575" y="412072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81" name="Google Shape;1281;p60"/>
          <p:cNvSpPr/>
          <p:nvPr/>
        </p:nvSpPr>
        <p:spPr>
          <a:xfrm>
            <a:off x="1546824" y="154533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82" name="Google Shape;1282;p60"/>
          <p:cNvSpPr/>
          <p:nvPr/>
        </p:nvSpPr>
        <p:spPr>
          <a:xfrm>
            <a:off x="1546776" y="412072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83" name="Google Shape;1283;p60"/>
          <p:cNvSpPr/>
          <p:nvPr/>
        </p:nvSpPr>
        <p:spPr>
          <a:xfrm>
            <a:off x="2789624" y="2833032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84" name="Google Shape;1284;p60"/>
          <p:cNvSpPr/>
          <p:nvPr/>
        </p:nvSpPr>
        <p:spPr>
          <a:xfrm>
            <a:off x="4244944" y="2833032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85" name="Google Shape;1285;p60"/>
          <p:cNvSpPr/>
          <p:nvPr/>
        </p:nvSpPr>
        <p:spPr>
          <a:xfrm>
            <a:off x="4244896" y="412072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86" name="Google Shape;1286;p60"/>
          <p:cNvCxnSpPr>
            <a:stCxn id="1278" idx="7"/>
            <a:endCxn id="1281" idx="2"/>
          </p:cNvCxnSpPr>
          <p:nvPr/>
        </p:nvCxnSpPr>
        <p:spPr>
          <a:xfrm flipH="1" rot="10800000">
            <a:off x="448652" y="1748275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7" name="Google Shape;1287;p60"/>
          <p:cNvCxnSpPr>
            <a:stCxn id="1283" idx="6"/>
            <a:endCxn id="1284" idx="2"/>
          </p:cNvCxnSpPr>
          <p:nvPr/>
        </p:nvCxnSpPr>
        <p:spPr>
          <a:xfrm>
            <a:off x="3208124" y="3035982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88" name="Google Shape;1288;p60"/>
          <p:cNvCxnSpPr>
            <a:stCxn id="1280" idx="6"/>
            <a:endCxn id="1285" idx="2"/>
          </p:cNvCxnSpPr>
          <p:nvPr/>
        </p:nvCxnSpPr>
        <p:spPr>
          <a:xfrm>
            <a:off x="3208075" y="4323671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9" name="Google Shape;1289;p60"/>
          <p:cNvCxnSpPr>
            <a:stCxn id="1283" idx="4"/>
            <a:endCxn id="1280" idx="0"/>
          </p:cNvCxnSpPr>
          <p:nvPr/>
        </p:nvCxnSpPr>
        <p:spPr>
          <a:xfrm>
            <a:off x="2998874" y="3238932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0" name="Google Shape;1290;p60"/>
          <p:cNvCxnSpPr>
            <a:stCxn id="1279" idx="4"/>
            <a:endCxn id="1282" idx="0"/>
          </p:cNvCxnSpPr>
          <p:nvPr/>
        </p:nvCxnSpPr>
        <p:spPr>
          <a:xfrm>
            <a:off x="1756101" y="3238932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91" name="Google Shape;1291;p60"/>
          <p:cNvCxnSpPr>
            <a:stCxn id="1278" idx="5"/>
            <a:endCxn id="1282" idx="2"/>
          </p:cNvCxnSpPr>
          <p:nvPr/>
        </p:nvCxnSpPr>
        <p:spPr>
          <a:xfrm>
            <a:off x="448652" y="3179489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2" name="Google Shape;1292;p60"/>
          <p:cNvCxnSpPr>
            <a:stCxn id="1278" idx="6"/>
            <a:endCxn id="1279" idx="2"/>
          </p:cNvCxnSpPr>
          <p:nvPr/>
        </p:nvCxnSpPr>
        <p:spPr>
          <a:xfrm>
            <a:off x="509940" y="3035982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3" name="Google Shape;1293;p60"/>
          <p:cNvCxnSpPr>
            <a:stCxn id="1280" idx="2"/>
            <a:endCxn id="1282" idx="6"/>
          </p:cNvCxnSpPr>
          <p:nvPr/>
        </p:nvCxnSpPr>
        <p:spPr>
          <a:xfrm rot="10800000">
            <a:off x="1965175" y="4323671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4" name="Google Shape;1294;p60"/>
          <p:cNvCxnSpPr>
            <a:stCxn id="1285" idx="1"/>
            <a:endCxn id="1283" idx="5"/>
          </p:cNvCxnSpPr>
          <p:nvPr/>
        </p:nvCxnSpPr>
        <p:spPr>
          <a:xfrm rot="10800000">
            <a:off x="3146984" y="3179363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5" name="Google Shape;1295;p60"/>
          <p:cNvCxnSpPr>
            <a:stCxn id="1284" idx="1"/>
            <a:endCxn id="1281" idx="6"/>
          </p:cNvCxnSpPr>
          <p:nvPr/>
        </p:nvCxnSpPr>
        <p:spPr>
          <a:xfrm rot="10800000">
            <a:off x="1965332" y="1748275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6" name="Google Shape;1296;p60"/>
          <p:cNvCxnSpPr>
            <a:stCxn id="1281" idx="5"/>
            <a:endCxn id="1283" idx="1"/>
          </p:cNvCxnSpPr>
          <p:nvPr/>
        </p:nvCxnSpPr>
        <p:spPr>
          <a:xfrm>
            <a:off x="1904036" y="189179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7" name="Google Shape;1297;p60"/>
          <p:cNvCxnSpPr>
            <a:stCxn id="1279" idx="0"/>
            <a:endCxn id="1281" idx="4"/>
          </p:cNvCxnSpPr>
          <p:nvPr/>
        </p:nvCxnSpPr>
        <p:spPr>
          <a:xfrm rot="10800000">
            <a:off x="1756101" y="1951332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8" name="Google Shape;1298;p60"/>
          <p:cNvCxnSpPr>
            <a:stCxn id="1283" idx="3"/>
            <a:endCxn id="1282" idx="7"/>
          </p:cNvCxnSpPr>
          <p:nvPr/>
        </p:nvCxnSpPr>
        <p:spPr>
          <a:xfrm flipH="1">
            <a:off x="1904111" y="3179489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9" name="Google Shape;1299;p60"/>
          <p:cNvCxnSpPr>
            <a:stCxn id="1279" idx="6"/>
            <a:endCxn id="1283" idx="2"/>
          </p:cNvCxnSpPr>
          <p:nvPr/>
        </p:nvCxnSpPr>
        <p:spPr>
          <a:xfrm>
            <a:off x="1965351" y="3035982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1305" name="Google Shape;1305;p61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Weakly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1306" name="Google Shape;1306;p61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307" name="Google Shape;1307;p61"/>
          <p:cNvSpPr/>
          <p:nvPr/>
        </p:nvSpPr>
        <p:spPr>
          <a:xfrm>
            <a:off x="91440" y="2833032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08" name="Google Shape;1308;p61"/>
          <p:cNvSpPr/>
          <p:nvPr/>
        </p:nvSpPr>
        <p:spPr>
          <a:xfrm>
            <a:off x="1546851" y="2833032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09" name="Google Shape;1309;p61"/>
          <p:cNvSpPr/>
          <p:nvPr/>
        </p:nvSpPr>
        <p:spPr>
          <a:xfrm>
            <a:off x="2789575" y="412072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10" name="Google Shape;1310;p61"/>
          <p:cNvSpPr/>
          <p:nvPr/>
        </p:nvSpPr>
        <p:spPr>
          <a:xfrm>
            <a:off x="1546824" y="154533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11" name="Google Shape;1311;p61"/>
          <p:cNvSpPr/>
          <p:nvPr/>
        </p:nvSpPr>
        <p:spPr>
          <a:xfrm>
            <a:off x="1546776" y="412072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12" name="Google Shape;1312;p61"/>
          <p:cNvSpPr/>
          <p:nvPr/>
        </p:nvSpPr>
        <p:spPr>
          <a:xfrm>
            <a:off x="2789624" y="2833032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13" name="Google Shape;1313;p61"/>
          <p:cNvSpPr/>
          <p:nvPr/>
        </p:nvSpPr>
        <p:spPr>
          <a:xfrm>
            <a:off x="4244944" y="2833032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14" name="Google Shape;1314;p61"/>
          <p:cNvSpPr/>
          <p:nvPr/>
        </p:nvSpPr>
        <p:spPr>
          <a:xfrm>
            <a:off x="4244896" y="412072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15" name="Google Shape;1315;p61"/>
          <p:cNvCxnSpPr>
            <a:stCxn id="1307" idx="7"/>
            <a:endCxn id="1310" idx="2"/>
          </p:cNvCxnSpPr>
          <p:nvPr/>
        </p:nvCxnSpPr>
        <p:spPr>
          <a:xfrm flipH="1" rot="10800000">
            <a:off x="448652" y="1748275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6" name="Google Shape;1316;p61"/>
          <p:cNvCxnSpPr>
            <a:stCxn id="1312" idx="6"/>
            <a:endCxn id="1313" idx="2"/>
          </p:cNvCxnSpPr>
          <p:nvPr/>
        </p:nvCxnSpPr>
        <p:spPr>
          <a:xfrm>
            <a:off x="3208124" y="3035982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17" name="Google Shape;1317;p61"/>
          <p:cNvCxnSpPr>
            <a:stCxn id="1309" idx="6"/>
            <a:endCxn id="1314" idx="2"/>
          </p:cNvCxnSpPr>
          <p:nvPr/>
        </p:nvCxnSpPr>
        <p:spPr>
          <a:xfrm>
            <a:off x="3208075" y="4323671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8" name="Google Shape;1318;p61"/>
          <p:cNvCxnSpPr>
            <a:stCxn id="1312" idx="4"/>
            <a:endCxn id="1309" idx="0"/>
          </p:cNvCxnSpPr>
          <p:nvPr/>
        </p:nvCxnSpPr>
        <p:spPr>
          <a:xfrm>
            <a:off x="2998874" y="3238932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9" name="Google Shape;1319;p61"/>
          <p:cNvCxnSpPr>
            <a:stCxn id="1308" idx="4"/>
            <a:endCxn id="1311" idx="0"/>
          </p:cNvCxnSpPr>
          <p:nvPr/>
        </p:nvCxnSpPr>
        <p:spPr>
          <a:xfrm>
            <a:off x="1756101" y="3238932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20" name="Google Shape;1320;p61"/>
          <p:cNvCxnSpPr>
            <a:stCxn id="1307" idx="5"/>
            <a:endCxn id="1311" idx="2"/>
          </p:cNvCxnSpPr>
          <p:nvPr/>
        </p:nvCxnSpPr>
        <p:spPr>
          <a:xfrm>
            <a:off x="448652" y="3179489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1" name="Google Shape;1321;p61"/>
          <p:cNvCxnSpPr>
            <a:stCxn id="1307" idx="6"/>
            <a:endCxn id="1308" idx="2"/>
          </p:cNvCxnSpPr>
          <p:nvPr/>
        </p:nvCxnSpPr>
        <p:spPr>
          <a:xfrm>
            <a:off x="509940" y="3035982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2" name="Google Shape;1322;p61"/>
          <p:cNvCxnSpPr>
            <a:stCxn id="1309" idx="2"/>
            <a:endCxn id="1311" idx="6"/>
          </p:cNvCxnSpPr>
          <p:nvPr/>
        </p:nvCxnSpPr>
        <p:spPr>
          <a:xfrm rot="10800000">
            <a:off x="1965175" y="4323671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3" name="Google Shape;1323;p61"/>
          <p:cNvCxnSpPr>
            <a:stCxn id="1314" idx="1"/>
            <a:endCxn id="1312" idx="5"/>
          </p:cNvCxnSpPr>
          <p:nvPr/>
        </p:nvCxnSpPr>
        <p:spPr>
          <a:xfrm rot="10800000">
            <a:off x="3146984" y="3179363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4" name="Google Shape;1324;p61"/>
          <p:cNvCxnSpPr>
            <a:stCxn id="1313" idx="1"/>
            <a:endCxn id="1310" idx="6"/>
          </p:cNvCxnSpPr>
          <p:nvPr/>
        </p:nvCxnSpPr>
        <p:spPr>
          <a:xfrm rot="10800000">
            <a:off x="1965332" y="1748275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5" name="Google Shape;1325;p61"/>
          <p:cNvCxnSpPr>
            <a:stCxn id="1310" idx="5"/>
            <a:endCxn id="1312" idx="1"/>
          </p:cNvCxnSpPr>
          <p:nvPr/>
        </p:nvCxnSpPr>
        <p:spPr>
          <a:xfrm>
            <a:off x="1904036" y="189179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6" name="Google Shape;1326;p61"/>
          <p:cNvCxnSpPr>
            <a:stCxn id="1308" idx="0"/>
            <a:endCxn id="1310" idx="4"/>
          </p:cNvCxnSpPr>
          <p:nvPr/>
        </p:nvCxnSpPr>
        <p:spPr>
          <a:xfrm rot="10800000">
            <a:off x="1756101" y="1951332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7" name="Google Shape;1327;p61"/>
          <p:cNvCxnSpPr>
            <a:stCxn id="1312" idx="3"/>
            <a:endCxn id="1311" idx="7"/>
          </p:cNvCxnSpPr>
          <p:nvPr/>
        </p:nvCxnSpPr>
        <p:spPr>
          <a:xfrm flipH="1">
            <a:off x="1904111" y="3179489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8" name="Google Shape;1328;p61"/>
          <p:cNvCxnSpPr>
            <a:stCxn id="1308" idx="6"/>
            <a:endCxn id="1312" idx="2"/>
          </p:cNvCxnSpPr>
          <p:nvPr/>
        </p:nvCxnSpPr>
        <p:spPr>
          <a:xfrm>
            <a:off x="1965351" y="3035982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29" name="Google Shape;1329;p61"/>
          <p:cNvSpPr/>
          <p:nvPr/>
        </p:nvSpPr>
        <p:spPr>
          <a:xfrm>
            <a:off x="2136175" y="980050"/>
            <a:ext cx="3302400" cy="11442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In a weakly connected graph there is at least one pair of nodes that is mutually unreachable via strict paths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p6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Geodesic Distance Matrix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(Geodesic) Distance Matrix</a:t>
            </a:r>
            <a:endParaRPr/>
          </a:p>
        </p:txBody>
      </p:sp>
      <p:graphicFrame>
        <p:nvGraphicFramePr>
          <p:cNvPr id="1340" name="Google Shape;1340;p63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41" name="Google Shape;1341;p63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geodesic distance matrix</a:t>
            </a:r>
            <a:r>
              <a:rPr lang="en"/>
              <a:t> (D</a:t>
            </a:r>
            <a:r>
              <a:rPr baseline="30000" lang="en"/>
              <a:t>g</a:t>
            </a:r>
            <a:r>
              <a:rPr lang="en"/>
              <a:t>) of a directed a graph records the </a:t>
            </a:r>
            <a:r>
              <a:rPr b="1" lang="en"/>
              <a:t>length of the shortest path</a:t>
            </a:r>
            <a:r>
              <a:rPr lang="en"/>
              <a:t> connecting each pair of nodes </a:t>
            </a:r>
            <a:endParaRPr/>
          </a:p>
        </p:txBody>
      </p:sp>
      <p:sp>
        <p:nvSpPr>
          <p:cNvPr id="1342" name="Google Shape;1342;p63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p63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Distance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44" name="Google Shape;1344;p63"/>
          <p:cNvSpPr/>
          <p:nvPr/>
        </p:nvSpPr>
        <p:spPr>
          <a:xfrm>
            <a:off x="310896" y="3262983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45" name="Google Shape;1345;p63"/>
          <p:cNvSpPr/>
          <p:nvPr/>
        </p:nvSpPr>
        <p:spPr>
          <a:xfrm>
            <a:off x="1463881" y="3262983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46" name="Google Shape;1346;p63"/>
          <p:cNvCxnSpPr>
            <a:stCxn id="1344" idx="6"/>
            <a:endCxn id="1345" idx="2"/>
          </p:cNvCxnSpPr>
          <p:nvPr/>
        </p:nvCxnSpPr>
        <p:spPr>
          <a:xfrm>
            <a:off x="827796" y="3521733"/>
            <a:ext cx="6360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7" name="Google Shape;1347;p63"/>
          <p:cNvSpPr/>
          <p:nvPr/>
        </p:nvSpPr>
        <p:spPr>
          <a:xfrm>
            <a:off x="2457691" y="2304288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48" name="Google Shape;1348;p63"/>
          <p:cNvSpPr/>
          <p:nvPr/>
        </p:nvSpPr>
        <p:spPr>
          <a:xfrm>
            <a:off x="2457691" y="4185985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49" name="Google Shape;1349;p63"/>
          <p:cNvSpPr/>
          <p:nvPr/>
        </p:nvSpPr>
        <p:spPr>
          <a:xfrm>
            <a:off x="3451501" y="3299858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50" name="Google Shape;1350;p63"/>
          <p:cNvCxnSpPr>
            <a:stCxn id="1345" idx="7"/>
            <a:endCxn id="1347" idx="3"/>
          </p:cNvCxnSpPr>
          <p:nvPr/>
        </p:nvCxnSpPr>
        <p:spPr>
          <a:xfrm flipH="1" rot="10800000">
            <a:off x="1905082" y="2745969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1" name="Google Shape;1351;p63"/>
          <p:cNvCxnSpPr>
            <a:stCxn id="1349" idx="1"/>
            <a:endCxn id="1347" idx="5"/>
          </p:cNvCxnSpPr>
          <p:nvPr/>
        </p:nvCxnSpPr>
        <p:spPr>
          <a:xfrm rot="10800000">
            <a:off x="2898999" y="2745944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2" name="Google Shape;1352;p63"/>
          <p:cNvCxnSpPr>
            <a:stCxn id="1349" idx="3"/>
            <a:endCxn id="1348" idx="7"/>
          </p:cNvCxnSpPr>
          <p:nvPr/>
        </p:nvCxnSpPr>
        <p:spPr>
          <a:xfrm flipH="1">
            <a:off x="2898999" y="3741572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3" name="Google Shape;1353;p63"/>
          <p:cNvCxnSpPr>
            <a:stCxn id="1348" idx="1"/>
            <a:endCxn id="1345" idx="5"/>
          </p:cNvCxnSpPr>
          <p:nvPr/>
        </p:nvCxnSpPr>
        <p:spPr>
          <a:xfrm rot="10800000">
            <a:off x="1905189" y="3704671"/>
            <a:ext cx="628200" cy="557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4" name="Google Shape;1354;p63"/>
          <p:cNvCxnSpPr>
            <a:stCxn id="1348" idx="0"/>
            <a:endCxn id="1347" idx="4"/>
          </p:cNvCxnSpPr>
          <p:nvPr/>
        </p:nvCxnSpPr>
        <p:spPr>
          <a:xfrm rot="10800000">
            <a:off x="2716141" y="2821885"/>
            <a:ext cx="0" cy="1364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5" name="Google Shape;1355;p63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 Undirected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(Geodesic) Distance Matrix</a:t>
            </a:r>
            <a:endParaRPr/>
          </a:p>
        </p:txBody>
      </p:sp>
      <p:graphicFrame>
        <p:nvGraphicFramePr>
          <p:cNvPr id="1361" name="Google Shape;1361;p64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62" name="Google Shape;1362;p64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geodesic distance matrix</a:t>
            </a:r>
            <a:r>
              <a:rPr lang="en"/>
              <a:t> (D</a:t>
            </a:r>
            <a:r>
              <a:rPr baseline="30000" lang="en"/>
              <a:t>g</a:t>
            </a:r>
            <a:r>
              <a:rPr lang="en"/>
              <a:t>) of a directed a graph records the </a:t>
            </a:r>
            <a:r>
              <a:rPr b="1" lang="en"/>
              <a:t>length of the shortest path</a:t>
            </a:r>
            <a:r>
              <a:rPr lang="en"/>
              <a:t> connecting each pair of nodes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shortest path between two nodes is also called a </a:t>
            </a:r>
            <a:r>
              <a:rPr b="1" lang="en"/>
              <a:t>geodesic</a:t>
            </a:r>
            <a:endParaRPr b="1"/>
          </a:p>
        </p:txBody>
      </p:sp>
      <p:sp>
        <p:nvSpPr>
          <p:cNvPr id="1363" name="Google Shape;1363;p64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p64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Distance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65" name="Google Shape;1365;p64"/>
          <p:cNvSpPr/>
          <p:nvPr/>
        </p:nvSpPr>
        <p:spPr>
          <a:xfrm>
            <a:off x="310896" y="3262983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66" name="Google Shape;1366;p64"/>
          <p:cNvSpPr/>
          <p:nvPr/>
        </p:nvSpPr>
        <p:spPr>
          <a:xfrm>
            <a:off x="1463881" y="3262983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67" name="Google Shape;1367;p64"/>
          <p:cNvCxnSpPr>
            <a:stCxn id="1365" idx="6"/>
            <a:endCxn id="1366" idx="2"/>
          </p:cNvCxnSpPr>
          <p:nvPr/>
        </p:nvCxnSpPr>
        <p:spPr>
          <a:xfrm>
            <a:off x="827796" y="3521733"/>
            <a:ext cx="6360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8" name="Google Shape;1368;p64"/>
          <p:cNvSpPr/>
          <p:nvPr/>
        </p:nvSpPr>
        <p:spPr>
          <a:xfrm>
            <a:off x="2457691" y="2304288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69" name="Google Shape;1369;p64"/>
          <p:cNvSpPr/>
          <p:nvPr/>
        </p:nvSpPr>
        <p:spPr>
          <a:xfrm>
            <a:off x="2457691" y="4185985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70" name="Google Shape;1370;p64"/>
          <p:cNvSpPr/>
          <p:nvPr/>
        </p:nvSpPr>
        <p:spPr>
          <a:xfrm>
            <a:off x="3451501" y="3299858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71" name="Google Shape;1371;p64"/>
          <p:cNvCxnSpPr>
            <a:stCxn id="1366" idx="7"/>
            <a:endCxn id="1368" idx="3"/>
          </p:cNvCxnSpPr>
          <p:nvPr/>
        </p:nvCxnSpPr>
        <p:spPr>
          <a:xfrm flipH="1" rot="10800000">
            <a:off x="1905082" y="2745969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2" name="Google Shape;1372;p64"/>
          <p:cNvCxnSpPr>
            <a:stCxn id="1370" idx="1"/>
            <a:endCxn id="1368" idx="5"/>
          </p:cNvCxnSpPr>
          <p:nvPr/>
        </p:nvCxnSpPr>
        <p:spPr>
          <a:xfrm rot="10800000">
            <a:off x="2898999" y="2745944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3" name="Google Shape;1373;p64"/>
          <p:cNvCxnSpPr>
            <a:stCxn id="1370" idx="3"/>
            <a:endCxn id="1369" idx="7"/>
          </p:cNvCxnSpPr>
          <p:nvPr/>
        </p:nvCxnSpPr>
        <p:spPr>
          <a:xfrm flipH="1">
            <a:off x="2898999" y="3741572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4" name="Google Shape;1374;p64"/>
          <p:cNvCxnSpPr>
            <a:stCxn id="1369" idx="1"/>
            <a:endCxn id="1366" idx="5"/>
          </p:cNvCxnSpPr>
          <p:nvPr/>
        </p:nvCxnSpPr>
        <p:spPr>
          <a:xfrm rot="10800000">
            <a:off x="1905189" y="3704671"/>
            <a:ext cx="628200" cy="557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5" name="Google Shape;1375;p64"/>
          <p:cNvCxnSpPr>
            <a:stCxn id="1369" idx="0"/>
            <a:endCxn id="1368" idx="4"/>
          </p:cNvCxnSpPr>
          <p:nvPr/>
        </p:nvCxnSpPr>
        <p:spPr>
          <a:xfrm rot="10800000">
            <a:off x="2716141" y="2821885"/>
            <a:ext cx="0" cy="1364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6" name="Google Shape;1376;p64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 Undirected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(Geodesic) Distance Matrix</a:t>
            </a:r>
            <a:endParaRPr/>
          </a:p>
        </p:txBody>
      </p:sp>
      <p:graphicFrame>
        <p:nvGraphicFramePr>
          <p:cNvPr id="1382" name="Google Shape;1382;p65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83" name="Google Shape;1383;p65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geodesic distance matrix</a:t>
            </a:r>
            <a:r>
              <a:rPr lang="en"/>
              <a:t> (D</a:t>
            </a:r>
            <a:r>
              <a:rPr baseline="30000" lang="en"/>
              <a:t>g</a:t>
            </a:r>
            <a:r>
              <a:rPr lang="en"/>
              <a:t>) of a directed a graph records the </a:t>
            </a:r>
            <a:r>
              <a:rPr b="1" lang="en"/>
              <a:t>length of the shortest path</a:t>
            </a:r>
            <a:r>
              <a:rPr lang="en"/>
              <a:t> connecting each pair of nodes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Adjacent nodes get a geodesic distance of 1.0! </a:t>
            </a:r>
            <a:endParaRPr/>
          </a:p>
        </p:txBody>
      </p:sp>
      <p:sp>
        <p:nvSpPr>
          <p:cNvPr id="1384" name="Google Shape;1384;p65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5" name="Google Shape;1385;p65"/>
          <p:cNvSpPr/>
          <p:nvPr/>
        </p:nvSpPr>
        <p:spPr>
          <a:xfrm>
            <a:off x="310896" y="3262983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86" name="Google Shape;1386;p65"/>
          <p:cNvSpPr/>
          <p:nvPr/>
        </p:nvSpPr>
        <p:spPr>
          <a:xfrm>
            <a:off x="1463881" y="3262983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87" name="Google Shape;1387;p65"/>
          <p:cNvCxnSpPr>
            <a:stCxn id="1385" idx="6"/>
            <a:endCxn id="1386" idx="2"/>
          </p:cNvCxnSpPr>
          <p:nvPr/>
        </p:nvCxnSpPr>
        <p:spPr>
          <a:xfrm>
            <a:off x="827796" y="3521733"/>
            <a:ext cx="6360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8" name="Google Shape;1388;p65"/>
          <p:cNvSpPr/>
          <p:nvPr/>
        </p:nvSpPr>
        <p:spPr>
          <a:xfrm>
            <a:off x="2457691" y="2304288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89" name="Google Shape;1389;p65"/>
          <p:cNvSpPr/>
          <p:nvPr/>
        </p:nvSpPr>
        <p:spPr>
          <a:xfrm>
            <a:off x="2457691" y="4185985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90" name="Google Shape;1390;p65"/>
          <p:cNvSpPr/>
          <p:nvPr/>
        </p:nvSpPr>
        <p:spPr>
          <a:xfrm>
            <a:off x="3451501" y="3299858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91" name="Google Shape;1391;p65"/>
          <p:cNvCxnSpPr>
            <a:stCxn id="1386" idx="7"/>
            <a:endCxn id="1388" idx="3"/>
          </p:cNvCxnSpPr>
          <p:nvPr/>
        </p:nvCxnSpPr>
        <p:spPr>
          <a:xfrm flipH="1" rot="10800000">
            <a:off x="1905082" y="2745969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2" name="Google Shape;1392;p65"/>
          <p:cNvCxnSpPr>
            <a:stCxn id="1390" idx="1"/>
            <a:endCxn id="1388" idx="5"/>
          </p:cNvCxnSpPr>
          <p:nvPr/>
        </p:nvCxnSpPr>
        <p:spPr>
          <a:xfrm rot="10800000">
            <a:off x="2898999" y="2745944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3" name="Google Shape;1393;p65"/>
          <p:cNvCxnSpPr>
            <a:stCxn id="1390" idx="3"/>
            <a:endCxn id="1389" idx="7"/>
          </p:cNvCxnSpPr>
          <p:nvPr/>
        </p:nvCxnSpPr>
        <p:spPr>
          <a:xfrm flipH="1">
            <a:off x="2898999" y="3741572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4" name="Google Shape;1394;p65"/>
          <p:cNvCxnSpPr>
            <a:stCxn id="1389" idx="1"/>
            <a:endCxn id="1386" idx="5"/>
          </p:cNvCxnSpPr>
          <p:nvPr/>
        </p:nvCxnSpPr>
        <p:spPr>
          <a:xfrm rot="10800000">
            <a:off x="1905189" y="3704671"/>
            <a:ext cx="628200" cy="557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5" name="Google Shape;1395;p65"/>
          <p:cNvCxnSpPr>
            <a:stCxn id="1389" idx="0"/>
            <a:endCxn id="1388" idx="4"/>
          </p:cNvCxnSpPr>
          <p:nvPr/>
        </p:nvCxnSpPr>
        <p:spPr>
          <a:xfrm rot="10800000">
            <a:off x="2716141" y="2821885"/>
            <a:ext cx="0" cy="1364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6" name="Google Shape;1396;p65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Distance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97" name="Google Shape;1397;p65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 Undirected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(Geodesic) Distance Matrix</a:t>
            </a:r>
            <a:endParaRPr/>
          </a:p>
        </p:txBody>
      </p:sp>
      <p:graphicFrame>
        <p:nvGraphicFramePr>
          <p:cNvPr id="1403" name="Google Shape;1403;p66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04" name="Google Shape;1404;p66"/>
          <p:cNvSpPr txBox="1"/>
          <p:nvPr>
            <p:ph idx="1" type="body"/>
          </p:nvPr>
        </p:nvSpPr>
        <p:spPr>
          <a:xfrm>
            <a:off x="311700" y="1225750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geodesic distance matrix</a:t>
            </a:r>
            <a:r>
              <a:rPr lang="en"/>
              <a:t> (D</a:t>
            </a:r>
            <a:r>
              <a:rPr baseline="30000" lang="en"/>
              <a:t>g</a:t>
            </a:r>
            <a:r>
              <a:rPr lang="en"/>
              <a:t>) of a directed a graph records the </a:t>
            </a:r>
            <a:r>
              <a:rPr b="1" lang="en"/>
              <a:t>length of the shortest path</a:t>
            </a:r>
            <a:r>
              <a:rPr lang="en"/>
              <a:t> connecting each pair of nodes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Non-adjacent nodes get the length of the shortest path connecting them! </a:t>
            </a:r>
            <a:endParaRPr/>
          </a:p>
        </p:txBody>
      </p:sp>
      <p:sp>
        <p:nvSpPr>
          <p:cNvPr id="1405" name="Google Shape;1405;p66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66"/>
          <p:cNvSpPr/>
          <p:nvPr/>
        </p:nvSpPr>
        <p:spPr>
          <a:xfrm>
            <a:off x="310896" y="3262983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07" name="Google Shape;1407;p66"/>
          <p:cNvSpPr/>
          <p:nvPr/>
        </p:nvSpPr>
        <p:spPr>
          <a:xfrm>
            <a:off x="1463881" y="3262983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08" name="Google Shape;1408;p66"/>
          <p:cNvCxnSpPr>
            <a:stCxn id="1406" idx="6"/>
            <a:endCxn id="1407" idx="2"/>
          </p:cNvCxnSpPr>
          <p:nvPr/>
        </p:nvCxnSpPr>
        <p:spPr>
          <a:xfrm>
            <a:off x="827796" y="3521733"/>
            <a:ext cx="6360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9" name="Google Shape;1409;p66"/>
          <p:cNvSpPr/>
          <p:nvPr/>
        </p:nvSpPr>
        <p:spPr>
          <a:xfrm>
            <a:off x="2457691" y="2304288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10" name="Google Shape;1410;p66"/>
          <p:cNvSpPr/>
          <p:nvPr/>
        </p:nvSpPr>
        <p:spPr>
          <a:xfrm>
            <a:off x="2457691" y="4185985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11" name="Google Shape;1411;p66"/>
          <p:cNvSpPr/>
          <p:nvPr/>
        </p:nvSpPr>
        <p:spPr>
          <a:xfrm>
            <a:off x="3451501" y="3299858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12" name="Google Shape;1412;p66"/>
          <p:cNvCxnSpPr>
            <a:stCxn id="1407" idx="7"/>
            <a:endCxn id="1409" idx="3"/>
          </p:cNvCxnSpPr>
          <p:nvPr/>
        </p:nvCxnSpPr>
        <p:spPr>
          <a:xfrm flipH="1" rot="10800000">
            <a:off x="1905082" y="2745969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3" name="Google Shape;1413;p66"/>
          <p:cNvCxnSpPr>
            <a:stCxn id="1411" idx="1"/>
            <a:endCxn id="1409" idx="5"/>
          </p:cNvCxnSpPr>
          <p:nvPr/>
        </p:nvCxnSpPr>
        <p:spPr>
          <a:xfrm rot="10800000">
            <a:off x="2898999" y="2745944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4" name="Google Shape;1414;p66"/>
          <p:cNvCxnSpPr>
            <a:stCxn id="1411" idx="3"/>
            <a:endCxn id="1410" idx="7"/>
          </p:cNvCxnSpPr>
          <p:nvPr/>
        </p:nvCxnSpPr>
        <p:spPr>
          <a:xfrm flipH="1">
            <a:off x="2898999" y="3741572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5" name="Google Shape;1415;p66"/>
          <p:cNvCxnSpPr>
            <a:stCxn id="1410" idx="1"/>
            <a:endCxn id="1407" idx="5"/>
          </p:cNvCxnSpPr>
          <p:nvPr/>
        </p:nvCxnSpPr>
        <p:spPr>
          <a:xfrm rot="10800000">
            <a:off x="1905189" y="3704671"/>
            <a:ext cx="628200" cy="557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6" name="Google Shape;1416;p66"/>
          <p:cNvCxnSpPr>
            <a:stCxn id="1410" idx="0"/>
            <a:endCxn id="1409" idx="4"/>
          </p:cNvCxnSpPr>
          <p:nvPr/>
        </p:nvCxnSpPr>
        <p:spPr>
          <a:xfrm rot="10800000">
            <a:off x="2716141" y="2821885"/>
            <a:ext cx="0" cy="1364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7" name="Google Shape;1417;p66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Distance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18" name="Google Shape;1418;p66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 Undirected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(Geodesic) Distance Matrix</a:t>
            </a:r>
            <a:endParaRPr/>
          </a:p>
        </p:txBody>
      </p:sp>
      <p:graphicFrame>
        <p:nvGraphicFramePr>
          <p:cNvPr id="1424" name="Google Shape;1424;p67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25" name="Google Shape;1425;p67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geodesic distance matrix</a:t>
            </a:r>
            <a:r>
              <a:rPr lang="en"/>
              <a:t> (D</a:t>
            </a:r>
            <a:r>
              <a:rPr baseline="30000" lang="en"/>
              <a:t>g</a:t>
            </a:r>
            <a:r>
              <a:rPr lang="en"/>
              <a:t>) of a directed a graph records the </a:t>
            </a:r>
            <a:r>
              <a:rPr b="1" lang="en"/>
              <a:t>length of the shortest path</a:t>
            </a:r>
            <a:r>
              <a:rPr lang="en"/>
              <a:t> connecting each pair of nodes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Non-adjacent nodes get the length of the shortest path connecting them! 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26" name="Google Shape;1426;p67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7" name="Google Shape;1427;p67"/>
          <p:cNvSpPr/>
          <p:nvPr/>
        </p:nvSpPr>
        <p:spPr>
          <a:xfrm>
            <a:off x="310896" y="3262983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28" name="Google Shape;1428;p67"/>
          <p:cNvSpPr/>
          <p:nvPr/>
        </p:nvSpPr>
        <p:spPr>
          <a:xfrm>
            <a:off x="1463881" y="3262983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29" name="Google Shape;1429;p67"/>
          <p:cNvCxnSpPr>
            <a:stCxn id="1427" idx="6"/>
            <a:endCxn id="1428" idx="2"/>
          </p:cNvCxnSpPr>
          <p:nvPr/>
        </p:nvCxnSpPr>
        <p:spPr>
          <a:xfrm>
            <a:off x="827796" y="3521733"/>
            <a:ext cx="6360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0" name="Google Shape;1430;p67"/>
          <p:cNvSpPr/>
          <p:nvPr/>
        </p:nvSpPr>
        <p:spPr>
          <a:xfrm>
            <a:off x="2457691" y="2304288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31" name="Google Shape;1431;p67"/>
          <p:cNvSpPr/>
          <p:nvPr/>
        </p:nvSpPr>
        <p:spPr>
          <a:xfrm>
            <a:off x="2457691" y="4185985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32" name="Google Shape;1432;p67"/>
          <p:cNvSpPr/>
          <p:nvPr/>
        </p:nvSpPr>
        <p:spPr>
          <a:xfrm>
            <a:off x="3451501" y="3299858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33" name="Google Shape;1433;p67"/>
          <p:cNvCxnSpPr>
            <a:stCxn id="1428" idx="7"/>
            <a:endCxn id="1430" idx="3"/>
          </p:cNvCxnSpPr>
          <p:nvPr/>
        </p:nvCxnSpPr>
        <p:spPr>
          <a:xfrm flipH="1" rot="10800000">
            <a:off x="1905082" y="2745969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4" name="Google Shape;1434;p67"/>
          <p:cNvCxnSpPr>
            <a:stCxn id="1432" idx="1"/>
            <a:endCxn id="1430" idx="5"/>
          </p:cNvCxnSpPr>
          <p:nvPr/>
        </p:nvCxnSpPr>
        <p:spPr>
          <a:xfrm rot="10800000">
            <a:off x="2898999" y="2745944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5" name="Google Shape;1435;p67"/>
          <p:cNvCxnSpPr>
            <a:stCxn id="1432" idx="3"/>
            <a:endCxn id="1431" idx="7"/>
          </p:cNvCxnSpPr>
          <p:nvPr/>
        </p:nvCxnSpPr>
        <p:spPr>
          <a:xfrm flipH="1">
            <a:off x="2898999" y="3741572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6" name="Google Shape;1436;p67"/>
          <p:cNvCxnSpPr>
            <a:stCxn id="1431" idx="1"/>
            <a:endCxn id="1428" idx="5"/>
          </p:cNvCxnSpPr>
          <p:nvPr/>
        </p:nvCxnSpPr>
        <p:spPr>
          <a:xfrm rot="10800000">
            <a:off x="1905189" y="3704671"/>
            <a:ext cx="628200" cy="557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7" name="Google Shape;1437;p67"/>
          <p:cNvCxnSpPr>
            <a:stCxn id="1431" idx="0"/>
            <a:endCxn id="1430" idx="4"/>
          </p:cNvCxnSpPr>
          <p:nvPr/>
        </p:nvCxnSpPr>
        <p:spPr>
          <a:xfrm rot="10800000">
            <a:off x="2716141" y="2821885"/>
            <a:ext cx="0" cy="1364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8" name="Google Shape;1438;p67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Distance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39" name="Google Shape;1439;p67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 Undirected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(Geodesic) Distance Matrix</a:t>
            </a:r>
            <a:endParaRPr/>
          </a:p>
        </p:txBody>
      </p:sp>
      <p:graphicFrame>
        <p:nvGraphicFramePr>
          <p:cNvPr id="1445" name="Google Shape;1445;p68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445050"/>
                <a:gridCol w="3828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46" name="Google Shape;1446;p68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geodesic distance matrix</a:t>
            </a:r>
            <a:r>
              <a:rPr lang="en"/>
              <a:t> (D</a:t>
            </a:r>
            <a:r>
              <a:rPr baseline="30000" lang="en"/>
              <a:t>g</a:t>
            </a:r>
            <a:r>
              <a:rPr lang="en"/>
              <a:t>) of a directed a graph records the </a:t>
            </a:r>
            <a:r>
              <a:rPr b="1" lang="en"/>
              <a:t>length of the shortest path</a:t>
            </a:r>
            <a:r>
              <a:rPr lang="en"/>
              <a:t> connecting each pair of nodes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so on for each pair!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47" name="Google Shape;1447;p68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8" name="Google Shape;1448;p68"/>
          <p:cNvSpPr/>
          <p:nvPr/>
        </p:nvSpPr>
        <p:spPr>
          <a:xfrm>
            <a:off x="310896" y="3262983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49" name="Google Shape;1449;p68"/>
          <p:cNvSpPr/>
          <p:nvPr/>
        </p:nvSpPr>
        <p:spPr>
          <a:xfrm>
            <a:off x="1463881" y="3262983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50" name="Google Shape;1450;p68"/>
          <p:cNvCxnSpPr>
            <a:stCxn id="1448" idx="6"/>
            <a:endCxn id="1449" idx="2"/>
          </p:cNvCxnSpPr>
          <p:nvPr/>
        </p:nvCxnSpPr>
        <p:spPr>
          <a:xfrm>
            <a:off x="827796" y="3521733"/>
            <a:ext cx="636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1" name="Google Shape;1451;p68"/>
          <p:cNvSpPr/>
          <p:nvPr/>
        </p:nvSpPr>
        <p:spPr>
          <a:xfrm>
            <a:off x="2457691" y="2304288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52" name="Google Shape;1452;p68"/>
          <p:cNvSpPr/>
          <p:nvPr/>
        </p:nvSpPr>
        <p:spPr>
          <a:xfrm>
            <a:off x="2457691" y="4185985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53" name="Google Shape;1453;p68"/>
          <p:cNvSpPr/>
          <p:nvPr/>
        </p:nvSpPr>
        <p:spPr>
          <a:xfrm>
            <a:off x="3451501" y="3299858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54" name="Google Shape;1454;p68"/>
          <p:cNvCxnSpPr>
            <a:stCxn id="1449" idx="7"/>
            <a:endCxn id="1451" idx="3"/>
          </p:cNvCxnSpPr>
          <p:nvPr/>
        </p:nvCxnSpPr>
        <p:spPr>
          <a:xfrm flipH="1" rot="10800000">
            <a:off x="1905082" y="2745969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5" name="Google Shape;1455;p68"/>
          <p:cNvCxnSpPr>
            <a:stCxn id="1453" idx="1"/>
            <a:endCxn id="1451" idx="5"/>
          </p:cNvCxnSpPr>
          <p:nvPr/>
        </p:nvCxnSpPr>
        <p:spPr>
          <a:xfrm rot="10800000">
            <a:off x="2898999" y="2745944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6" name="Google Shape;1456;p68"/>
          <p:cNvCxnSpPr>
            <a:stCxn id="1453" idx="3"/>
            <a:endCxn id="1452" idx="7"/>
          </p:cNvCxnSpPr>
          <p:nvPr/>
        </p:nvCxnSpPr>
        <p:spPr>
          <a:xfrm flipH="1">
            <a:off x="2898999" y="3741572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7" name="Google Shape;1457;p68"/>
          <p:cNvCxnSpPr>
            <a:stCxn id="1452" idx="1"/>
            <a:endCxn id="1449" idx="5"/>
          </p:cNvCxnSpPr>
          <p:nvPr/>
        </p:nvCxnSpPr>
        <p:spPr>
          <a:xfrm rot="10800000">
            <a:off x="1905189" y="3704671"/>
            <a:ext cx="628200" cy="557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8" name="Google Shape;1458;p68"/>
          <p:cNvCxnSpPr>
            <a:stCxn id="1452" idx="0"/>
            <a:endCxn id="1451" idx="4"/>
          </p:cNvCxnSpPr>
          <p:nvPr/>
        </p:nvCxnSpPr>
        <p:spPr>
          <a:xfrm rot="10800000">
            <a:off x="2716141" y="2821885"/>
            <a:ext cx="0" cy="1364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9" name="Google Shape;1459;p68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Distance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60" name="Google Shape;1460;p68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 Undirected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(Geodesic) Distance Matrix</a:t>
            </a:r>
            <a:endParaRPr/>
          </a:p>
        </p:txBody>
      </p:sp>
      <p:graphicFrame>
        <p:nvGraphicFramePr>
          <p:cNvPr id="1466" name="Google Shape;1466;p69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445050"/>
                <a:gridCol w="3828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67" name="Google Shape;1467;p69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geodesic distance matrix</a:t>
            </a:r>
            <a:r>
              <a:rPr lang="en"/>
              <a:t> (D</a:t>
            </a:r>
            <a:r>
              <a:rPr baseline="30000" lang="en"/>
              <a:t>g</a:t>
            </a:r>
            <a:r>
              <a:rPr lang="en"/>
              <a:t>) of a directed a graph records the </a:t>
            </a:r>
            <a:r>
              <a:rPr b="1" lang="en"/>
              <a:t>length of the shortest path</a:t>
            </a:r>
            <a:r>
              <a:rPr lang="en"/>
              <a:t> connecting each pair of nodes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an undirected graph the geodesic distance matrix is </a:t>
            </a:r>
            <a:r>
              <a:rPr b="1" lang="en"/>
              <a:t>symmetric</a:t>
            </a:r>
            <a:r>
              <a:rPr lang="en"/>
              <a:t>!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68" name="Google Shape;1468;p69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9" name="Google Shape;1469;p69"/>
          <p:cNvSpPr/>
          <p:nvPr/>
        </p:nvSpPr>
        <p:spPr>
          <a:xfrm>
            <a:off x="310896" y="3262983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70" name="Google Shape;1470;p69"/>
          <p:cNvSpPr/>
          <p:nvPr/>
        </p:nvSpPr>
        <p:spPr>
          <a:xfrm>
            <a:off x="1463881" y="3262983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71" name="Google Shape;1471;p69"/>
          <p:cNvCxnSpPr>
            <a:stCxn id="1469" idx="6"/>
            <a:endCxn id="1470" idx="2"/>
          </p:cNvCxnSpPr>
          <p:nvPr/>
        </p:nvCxnSpPr>
        <p:spPr>
          <a:xfrm>
            <a:off x="827796" y="3521733"/>
            <a:ext cx="636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2" name="Google Shape;1472;p69"/>
          <p:cNvSpPr/>
          <p:nvPr/>
        </p:nvSpPr>
        <p:spPr>
          <a:xfrm>
            <a:off x="2457691" y="2304288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73" name="Google Shape;1473;p69"/>
          <p:cNvSpPr/>
          <p:nvPr/>
        </p:nvSpPr>
        <p:spPr>
          <a:xfrm>
            <a:off x="2457691" y="4185985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74" name="Google Shape;1474;p69"/>
          <p:cNvSpPr/>
          <p:nvPr/>
        </p:nvSpPr>
        <p:spPr>
          <a:xfrm>
            <a:off x="3451501" y="3299858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75" name="Google Shape;1475;p69"/>
          <p:cNvCxnSpPr>
            <a:stCxn id="1470" idx="7"/>
            <a:endCxn id="1472" idx="3"/>
          </p:cNvCxnSpPr>
          <p:nvPr/>
        </p:nvCxnSpPr>
        <p:spPr>
          <a:xfrm flipH="1" rot="10800000">
            <a:off x="1905082" y="2745969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6" name="Google Shape;1476;p69"/>
          <p:cNvCxnSpPr>
            <a:stCxn id="1474" idx="1"/>
            <a:endCxn id="1472" idx="5"/>
          </p:cNvCxnSpPr>
          <p:nvPr/>
        </p:nvCxnSpPr>
        <p:spPr>
          <a:xfrm rot="10800000">
            <a:off x="2898999" y="2745944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7" name="Google Shape;1477;p69"/>
          <p:cNvCxnSpPr>
            <a:stCxn id="1474" idx="3"/>
            <a:endCxn id="1473" idx="7"/>
          </p:cNvCxnSpPr>
          <p:nvPr/>
        </p:nvCxnSpPr>
        <p:spPr>
          <a:xfrm flipH="1">
            <a:off x="2898999" y="3741572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8" name="Google Shape;1478;p69"/>
          <p:cNvCxnSpPr>
            <a:stCxn id="1473" idx="1"/>
            <a:endCxn id="1470" idx="5"/>
          </p:cNvCxnSpPr>
          <p:nvPr/>
        </p:nvCxnSpPr>
        <p:spPr>
          <a:xfrm rot="10800000">
            <a:off x="1905189" y="3704671"/>
            <a:ext cx="628200" cy="557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9" name="Google Shape;1479;p69"/>
          <p:cNvCxnSpPr>
            <a:stCxn id="1473" idx="0"/>
            <a:endCxn id="1472" idx="4"/>
          </p:cNvCxnSpPr>
          <p:nvPr/>
        </p:nvCxnSpPr>
        <p:spPr>
          <a:xfrm rot="10800000">
            <a:off x="2716141" y="2821885"/>
            <a:ext cx="0" cy="1364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0" name="Google Shape;1480;p69"/>
          <p:cNvCxnSpPr/>
          <p:nvPr/>
        </p:nvCxnSpPr>
        <p:spPr>
          <a:xfrm>
            <a:off x="6239775" y="2516600"/>
            <a:ext cx="2461500" cy="2330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1" name="Google Shape;1481;p69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Distance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82" name="Google Shape;1482;p69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 Undirected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(Geodesic) Distance Matrix</a:t>
            </a:r>
            <a:endParaRPr/>
          </a:p>
        </p:txBody>
      </p:sp>
      <p:graphicFrame>
        <p:nvGraphicFramePr>
          <p:cNvPr id="1488" name="Google Shape;1488;p70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445050"/>
                <a:gridCol w="3828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89" name="Google Shape;1489;p70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eccentricity </a:t>
            </a:r>
            <a:r>
              <a:rPr lang="en"/>
              <a:t>of a node is the </a:t>
            </a:r>
            <a:r>
              <a:rPr b="1" lang="en"/>
              <a:t>maximum distance</a:t>
            </a:r>
            <a:r>
              <a:rPr lang="en"/>
              <a:t> between that node an the other nodes in the graph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90" name="Google Shape;1490;p70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1" name="Google Shape;1491;p70"/>
          <p:cNvSpPr/>
          <p:nvPr/>
        </p:nvSpPr>
        <p:spPr>
          <a:xfrm>
            <a:off x="310896" y="3262983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92" name="Google Shape;1492;p70"/>
          <p:cNvSpPr/>
          <p:nvPr/>
        </p:nvSpPr>
        <p:spPr>
          <a:xfrm>
            <a:off x="1463881" y="3262983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93" name="Google Shape;1493;p70"/>
          <p:cNvCxnSpPr>
            <a:stCxn id="1491" idx="6"/>
            <a:endCxn id="1492" idx="2"/>
          </p:cNvCxnSpPr>
          <p:nvPr/>
        </p:nvCxnSpPr>
        <p:spPr>
          <a:xfrm>
            <a:off x="827796" y="3521733"/>
            <a:ext cx="636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4" name="Google Shape;1494;p70"/>
          <p:cNvSpPr/>
          <p:nvPr/>
        </p:nvSpPr>
        <p:spPr>
          <a:xfrm>
            <a:off x="2457691" y="2304288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95" name="Google Shape;1495;p70"/>
          <p:cNvSpPr/>
          <p:nvPr/>
        </p:nvSpPr>
        <p:spPr>
          <a:xfrm>
            <a:off x="2457691" y="4185985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96" name="Google Shape;1496;p70"/>
          <p:cNvSpPr/>
          <p:nvPr/>
        </p:nvSpPr>
        <p:spPr>
          <a:xfrm>
            <a:off x="3451501" y="3299858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97" name="Google Shape;1497;p70"/>
          <p:cNvCxnSpPr>
            <a:stCxn id="1492" idx="7"/>
            <a:endCxn id="1494" idx="3"/>
          </p:cNvCxnSpPr>
          <p:nvPr/>
        </p:nvCxnSpPr>
        <p:spPr>
          <a:xfrm flipH="1" rot="10800000">
            <a:off x="1905082" y="2745969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8" name="Google Shape;1498;p70"/>
          <p:cNvCxnSpPr>
            <a:stCxn id="1496" idx="1"/>
            <a:endCxn id="1494" idx="5"/>
          </p:cNvCxnSpPr>
          <p:nvPr/>
        </p:nvCxnSpPr>
        <p:spPr>
          <a:xfrm rot="10800000">
            <a:off x="2898999" y="2745944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9" name="Google Shape;1499;p70"/>
          <p:cNvCxnSpPr>
            <a:stCxn id="1496" idx="3"/>
            <a:endCxn id="1495" idx="7"/>
          </p:cNvCxnSpPr>
          <p:nvPr/>
        </p:nvCxnSpPr>
        <p:spPr>
          <a:xfrm flipH="1">
            <a:off x="2898999" y="3741572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0" name="Google Shape;1500;p70"/>
          <p:cNvCxnSpPr>
            <a:stCxn id="1495" idx="1"/>
            <a:endCxn id="1492" idx="5"/>
          </p:cNvCxnSpPr>
          <p:nvPr/>
        </p:nvCxnSpPr>
        <p:spPr>
          <a:xfrm rot="10800000">
            <a:off x="1905189" y="3704671"/>
            <a:ext cx="628200" cy="557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1" name="Google Shape;1501;p70"/>
          <p:cNvCxnSpPr>
            <a:stCxn id="1495" idx="0"/>
            <a:endCxn id="1494" idx="4"/>
          </p:cNvCxnSpPr>
          <p:nvPr/>
        </p:nvCxnSpPr>
        <p:spPr>
          <a:xfrm rot="10800000">
            <a:off x="2716141" y="2821885"/>
            <a:ext cx="0" cy="1364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2" name="Google Shape;1502;p70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Distance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03" name="Google Shape;1503;p70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 Undirected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(Geodesic) Distance Matrix</a:t>
            </a:r>
            <a:endParaRPr/>
          </a:p>
        </p:txBody>
      </p:sp>
      <p:graphicFrame>
        <p:nvGraphicFramePr>
          <p:cNvPr id="1509" name="Google Shape;1509;p71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445050"/>
                <a:gridCol w="3828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10" name="Google Shape;1510;p71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eccentricity </a:t>
            </a:r>
            <a:r>
              <a:rPr lang="en"/>
              <a:t>of a node is the </a:t>
            </a:r>
            <a:r>
              <a:rPr b="1" lang="en"/>
              <a:t>maximum distance</a:t>
            </a:r>
            <a:r>
              <a:rPr lang="en"/>
              <a:t> between that node an the other nodes in the graph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11" name="Google Shape;1511;p71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Google Shape;1512;p71"/>
          <p:cNvSpPr/>
          <p:nvPr/>
        </p:nvSpPr>
        <p:spPr>
          <a:xfrm>
            <a:off x="310896" y="3262983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13" name="Google Shape;1513;p71"/>
          <p:cNvSpPr/>
          <p:nvPr/>
        </p:nvSpPr>
        <p:spPr>
          <a:xfrm>
            <a:off x="1463881" y="3262983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514" name="Google Shape;1514;p71"/>
          <p:cNvCxnSpPr>
            <a:stCxn id="1512" idx="6"/>
            <a:endCxn id="1513" idx="2"/>
          </p:cNvCxnSpPr>
          <p:nvPr/>
        </p:nvCxnSpPr>
        <p:spPr>
          <a:xfrm>
            <a:off x="827796" y="3521733"/>
            <a:ext cx="636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5" name="Google Shape;1515;p71"/>
          <p:cNvSpPr/>
          <p:nvPr/>
        </p:nvSpPr>
        <p:spPr>
          <a:xfrm>
            <a:off x="2457691" y="2304288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16" name="Google Shape;1516;p71"/>
          <p:cNvSpPr/>
          <p:nvPr/>
        </p:nvSpPr>
        <p:spPr>
          <a:xfrm>
            <a:off x="2457691" y="4185985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17" name="Google Shape;1517;p71"/>
          <p:cNvSpPr/>
          <p:nvPr/>
        </p:nvSpPr>
        <p:spPr>
          <a:xfrm>
            <a:off x="3451501" y="3299858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518" name="Google Shape;1518;p71"/>
          <p:cNvCxnSpPr>
            <a:stCxn id="1513" idx="7"/>
            <a:endCxn id="1515" idx="3"/>
          </p:cNvCxnSpPr>
          <p:nvPr/>
        </p:nvCxnSpPr>
        <p:spPr>
          <a:xfrm flipH="1" rot="10800000">
            <a:off x="1905082" y="2745969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9" name="Google Shape;1519;p71"/>
          <p:cNvCxnSpPr>
            <a:stCxn id="1517" idx="1"/>
            <a:endCxn id="1515" idx="5"/>
          </p:cNvCxnSpPr>
          <p:nvPr/>
        </p:nvCxnSpPr>
        <p:spPr>
          <a:xfrm rot="10800000">
            <a:off x="2898999" y="2745944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0" name="Google Shape;1520;p71"/>
          <p:cNvCxnSpPr>
            <a:stCxn id="1517" idx="3"/>
            <a:endCxn id="1516" idx="7"/>
          </p:cNvCxnSpPr>
          <p:nvPr/>
        </p:nvCxnSpPr>
        <p:spPr>
          <a:xfrm flipH="1">
            <a:off x="2898999" y="3741572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1" name="Google Shape;1521;p71"/>
          <p:cNvCxnSpPr>
            <a:stCxn id="1516" idx="1"/>
            <a:endCxn id="1513" idx="5"/>
          </p:cNvCxnSpPr>
          <p:nvPr/>
        </p:nvCxnSpPr>
        <p:spPr>
          <a:xfrm rot="10800000">
            <a:off x="1905189" y="3704671"/>
            <a:ext cx="628200" cy="557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2" name="Google Shape;1522;p71"/>
          <p:cNvCxnSpPr>
            <a:stCxn id="1516" idx="0"/>
            <a:endCxn id="1515" idx="4"/>
          </p:cNvCxnSpPr>
          <p:nvPr/>
        </p:nvCxnSpPr>
        <p:spPr>
          <a:xfrm rot="10800000">
            <a:off x="2716141" y="2821885"/>
            <a:ext cx="0" cy="1364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3" name="Google Shape;1523;p71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Distance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24" name="Google Shape;1524;p71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 Undirected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25" name="Google Shape;1525;p71"/>
          <p:cNvSpPr txBox="1"/>
          <p:nvPr/>
        </p:nvSpPr>
        <p:spPr>
          <a:xfrm>
            <a:off x="2562850" y="2025850"/>
            <a:ext cx="3066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6" name="Google Shape;1526;p71"/>
          <p:cNvSpPr txBox="1"/>
          <p:nvPr/>
        </p:nvSpPr>
        <p:spPr>
          <a:xfrm>
            <a:off x="3556650" y="2991825"/>
            <a:ext cx="3066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7" name="Google Shape;1527;p71"/>
          <p:cNvSpPr txBox="1"/>
          <p:nvPr/>
        </p:nvSpPr>
        <p:spPr>
          <a:xfrm>
            <a:off x="1537200" y="2943650"/>
            <a:ext cx="3066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8" name="Google Shape;1528;p71"/>
          <p:cNvSpPr txBox="1"/>
          <p:nvPr/>
        </p:nvSpPr>
        <p:spPr>
          <a:xfrm>
            <a:off x="416050" y="2991825"/>
            <a:ext cx="3066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9" name="Google Shape;1529;p71"/>
          <p:cNvSpPr txBox="1"/>
          <p:nvPr/>
        </p:nvSpPr>
        <p:spPr>
          <a:xfrm>
            <a:off x="3059800" y="4327575"/>
            <a:ext cx="3066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3" name="Shape 1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Google Shape;1534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(Geodesic) Distance Matrix</a:t>
            </a:r>
            <a:endParaRPr/>
          </a:p>
        </p:txBody>
      </p:sp>
      <p:graphicFrame>
        <p:nvGraphicFramePr>
          <p:cNvPr id="1535" name="Google Shape;1535;p72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445050"/>
                <a:gridCol w="3828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36" name="Google Shape;1536;p72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diameter </a:t>
            </a:r>
            <a:r>
              <a:rPr lang="en"/>
              <a:t>of a graph (d) is the maximum geodesic distance for all nodes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 = 3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p72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8" name="Google Shape;1538;p72"/>
          <p:cNvSpPr/>
          <p:nvPr/>
        </p:nvSpPr>
        <p:spPr>
          <a:xfrm>
            <a:off x="310896" y="3262983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39" name="Google Shape;1539;p72"/>
          <p:cNvSpPr/>
          <p:nvPr/>
        </p:nvSpPr>
        <p:spPr>
          <a:xfrm>
            <a:off x="1463881" y="3262983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540" name="Google Shape;1540;p72"/>
          <p:cNvCxnSpPr>
            <a:stCxn id="1538" idx="6"/>
            <a:endCxn id="1539" idx="2"/>
          </p:cNvCxnSpPr>
          <p:nvPr/>
        </p:nvCxnSpPr>
        <p:spPr>
          <a:xfrm>
            <a:off x="827796" y="3521733"/>
            <a:ext cx="636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1" name="Google Shape;1541;p72"/>
          <p:cNvSpPr/>
          <p:nvPr/>
        </p:nvSpPr>
        <p:spPr>
          <a:xfrm>
            <a:off x="2457691" y="2304288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42" name="Google Shape;1542;p72"/>
          <p:cNvSpPr/>
          <p:nvPr/>
        </p:nvSpPr>
        <p:spPr>
          <a:xfrm>
            <a:off x="2457691" y="4185985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43" name="Google Shape;1543;p72"/>
          <p:cNvSpPr/>
          <p:nvPr/>
        </p:nvSpPr>
        <p:spPr>
          <a:xfrm>
            <a:off x="3451501" y="3299858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544" name="Google Shape;1544;p72"/>
          <p:cNvCxnSpPr>
            <a:stCxn id="1539" idx="7"/>
            <a:endCxn id="1541" idx="3"/>
          </p:cNvCxnSpPr>
          <p:nvPr/>
        </p:nvCxnSpPr>
        <p:spPr>
          <a:xfrm flipH="1" rot="10800000">
            <a:off x="1905082" y="2745969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5" name="Google Shape;1545;p72"/>
          <p:cNvCxnSpPr>
            <a:stCxn id="1543" idx="1"/>
            <a:endCxn id="1541" idx="5"/>
          </p:cNvCxnSpPr>
          <p:nvPr/>
        </p:nvCxnSpPr>
        <p:spPr>
          <a:xfrm rot="10800000">
            <a:off x="2898999" y="2745944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6" name="Google Shape;1546;p72"/>
          <p:cNvCxnSpPr>
            <a:stCxn id="1543" idx="3"/>
            <a:endCxn id="1542" idx="7"/>
          </p:cNvCxnSpPr>
          <p:nvPr/>
        </p:nvCxnSpPr>
        <p:spPr>
          <a:xfrm flipH="1">
            <a:off x="2898999" y="3741572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7" name="Google Shape;1547;p72"/>
          <p:cNvCxnSpPr>
            <a:stCxn id="1542" idx="1"/>
            <a:endCxn id="1539" idx="5"/>
          </p:cNvCxnSpPr>
          <p:nvPr/>
        </p:nvCxnSpPr>
        <p:spPr>
          <a:xfrm rot="10800000">
            <a:off x="1905189" y="3704671"/>
            <a:ext cx="628200" cy="557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8" name="Google Shape;1548;p72"/>
          <p:cNvCxnSpPr>
            <a:stCxn id="1542" idx="0"/>
            <a:endCxn id="1541" idx="4"/>
          </p:cNvCxnSpPr>
          <p:nvPr/>
        </p:nvCxnSpPr>
        <p:spPr>
          <a:xfrm rot="10800000">
            <a:off x="2716141" y="2821885"/>
            <a:ext cx="0" cy="1364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9" name="Google Shape;1549;p72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Distance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50" name="Google Shape;1550;p72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 Undirected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51" name="Google Shape;1551;p72"/>
          <p:cNvSpPr txBox="1"/>
          <p:nvPr/>
        </p:nvSpPr>
        <p:spPr>
          <a:xfrm>
            <a:off x="2562850" y="2025850"/>
            <a:ext cx="3066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52" name="Google Shape;1552;p72"/>
          <p:cNvSpPr txBox="1"/>
          <p:nvPr/>
        </p:nvSpPr>
        <p:spPr>
          <a:xfrm>
            <a:off x="3556650" y="2991825"/>
            <a:ext cx="3066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53" name="Google Shape;1553;p72"/>
          <p:cNvSpPr txBox="1"/>
          <p:nvPr/>
        </p:nvSpPr>
        <p:spPr>
          <a:xfrm>
            <a:off x="1537200" y="2943650"/>
            <a:ext cx="3066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54" name="Google Shape;1554;p72"/>
          <p:cNvSpPr txBox="1"/>
          <p:nvPr/>
        </p:nvSpPr>
        <p:spPr>
          <a:xfrm>
            <a:off x="416050" y="2991825"/>
            <a:ext cx="3066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55" name="Google Shape;1555;p72"/>
          <p:cNvSpPr txBox="1"/>
          <p:nvPr/>
        </p:nvSpPr>
        <p:spPr>
          <a:xfrm>
            <a:off x="3059800" y="4327575"/>
            <a:ext cx="3066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9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(Geodesic) Distance Matrix</a:t>
            </a:r>
            <a:endParaRPr/>
          </a:p>
        </p:txBody>
      </p:sp>
      <p:graphicFrame>
        <p:nvGraphicFramePr>
          <p:cNvPr id="1561" name="Google Shape;1561;p73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62" name="Google Shape;1562;p73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geodesic distance matrix</a:t>
            </a:r>
            <a:r>
              <a:rPr lang="en"/>
              <a:t> (D</a:t>
            </a:r>
            <a:r>
              <a:rPr baseline="30000" lang="en"/>
              <a:t>g</a:t>
            </a:r>
            <a:r>
              <a:rPr lang="en"/>
              <a:t>) of a directed a graph records the </a:t>
            </a:r>
            <a:r>
              <a:rPr b="1" lang="en"/>
              <a:t>length of the shortest path</a:t>
            </a:r>
            <a:r>
              <a:rPr lang="en"/>
              <a:t> connecting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deal for directed graphs! </a:t>
            </a:r>
            <a:endParaRPr/>
          </a:p>
        </p:txBody>
      </p:sp>
      <p:sp>
        <p:nvSpPr>
          <p:cNvPr id="1563" name="Google Shape;1563;p73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4" name="Google Shape;1564;p73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Distance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65" name="Google Shape;1565;p73"/>
          <p:cNvSpPr/>
          <p:nvPr/>
        </p:nvSpPr>
        <p:spPr>
          <a:xfrm>
            <a:off x="311700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66" name="Google Shape;1566;p73"/>
          <p:cNvSpPr/>
          <p:nvPr/>
        </p:nvSpPr>
        <p:spPr>
          <a:xfrm>
            <a:off x="1464685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67" name="Google Shape;1567;p73"/>
          <p:cNvSpPr/>
          <p:nvPr/>
        </p:nvSpPr>
        <p:spPr>
          <a:xfrm>
            <a:off x="2458495" y="230667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68" name="Google Shape;1568;p73"/>
          <p:cNvSpPr/>
          <p:nvPr/>
        </p:nvSpPr>
        <p:spPr>
          <a:xfrm>
            <a:off x="2458495" y="4188372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69" name="Google Shape;1569;p73"/>
          <p:cNvSpPr/>
          <p:nvPr/>
        </p:nvSpPr>
        <p:spPr>
          <a:xfrm>
            <a:off x="3452305" y="330224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570" name="Google Shape;1570;p73"/>
          <p:cNvCxnSpPr>
            <a:stCxn id="1566" idx="7"/>
            <a:endCxn id="1567" idx="3"/>
          </p:cNvCxnSpPr>
          <p:nvPr/>
        </p:nvCxnSpPr>
        <p:spPr>
          <a:xfrm flipH="1" rot="10800000">
            <a:off x="1905886" y="2748356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571" name="Google Shape;1571;p73"/>
          <p:cNvCxnSpPr>
            <a:stCxn id="1569" idx="1"/>
            <a:endCxn id="1567" idx="5"/>
          </p:cNvCxnSpPr>
          <p:nvPr/>
        </p:nvCxnSpPr>
        <p:spPr>
          <a:xfrm rot="10800000">
            <a:off x="2899803" y="2748331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72" name="Google Shape;1572;p73"/>
          <p:cNvCxnSpPr>
            <a:stCxn id="1569" idx="3"/>
            <a:endCxn id="1568" idx="7"/>
          </p:cNvCxnSpPr>
          <p:nvPr/>
        </p:nvCxnSpPr>
        <p:spPr>
          <a:xfrm flipH="1">
            <a:off x="2899803" y="3743959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73" name="Google Shape;1573;p73"/>
          <p:cNvCxnSpPr>
            <a:stCxn id="1568" idx="1"/>
            <a:endCxn id="1567" idx="3"/>
          </p:cNvCxnSpPr>
          <p:nvPr/>
        </p:nvCxnSpPr>
        <p:spPr>
          <a:xfrm rot="10800000">
            <a:off x="2534193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574" name="Google Shape;1574;p73"/>
          <p:cNvCxnSpPr>
            <a:stCxn id="1566" idx="1"/>
            <a:endCxn id="1565" idx="7"/>
          </p:cNvCxnSpPr>
          <p:nvPr/>
        </p:nvCxnSpPr>
        <p:spPr>
          <a:xfrm rot="10800000">
            <a:off x="752883" y="3341156"/>
            <a:ext cx="787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575" name="Google Shape;1575;p73"/>
          <p:cNvCxnSpPr/>
          <p:nvPr/>
        </p:nvCxnSpPr>
        <p:spPr>
          <a:xfrm rot="10800000">
            <a:off x="1723195" y="3782859"/>
            <a:ext cx="735300" cy="66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576" name="Google Shape;1576;p73"/>
          <p:cNvCxnSpPr>
            <a:stCxn id="1565" idx="5"/>
            <a:endCxn id="1566" idx="3"/>
          </p:cNvCxnSpPr>
          <p:nvPr/>
        </p:nvCxnSpPr>
        <p:spPr>
          <a:xfrm>
            <a:off x="752902" y="3707084"/>
            <a:ext cx="787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577" name="Google Shape;1577;p73"/>
          <p:cNvCxnSpPr>
            <a:stCxn id="1568" idx="7"/>
            <a:endCxn id="1567" idx="5"/>
          </p:cNvCxnSpPr>
          <p:nvPr/>
        </p:nvCxnSpPr>
        <p:spPr>
          <a:xfrm rot="10800000">
            <a:off x="2899696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78" name="Google Shape;1578;p73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(Geodesic) Distance Matrix</a:t>
            </a:r>
            <a:endParaRPr/>
          </a:p>
        </p:txBody>
      </p:sp>
      <p:graphicFrame>
        <p:nvGraphicFramePr>
          <p:cNvPr id="1584" name="Google Shape;1584;p74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85" name="Google Shape;1585;p74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geodesic distance matrix</a:t>
            </a:r>
            <a:r>
              <a:rPr lang="en"/>
              <a:t> (D</a:t>
            </a:r>
            <a:r>
              <a:rPr baseline="30000" lang="en"/>
              <a:t>g</a:t>
            </a:r>
            <a:r>
              <a:rPr lang="en"/>
              <a:t>) of a directed a graph records the </a:t>
            </a:r>
            <a:r>
              <a:rPr b="1" lang="en"/>
              <a:t>length of the shortest path</a:t>
            </a:r>
            <a:r>
              <a:rPr lang="en"/>
              <a:t> connecting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deal for directed graphs! </a:t>
            </a:r>
            <a:endParaRPr/>
          </a:p>
        </p:txBody>
      </p:sp>
      <p:sp>
        <p:nvSpPr>
          <p:cNvPr id="1586" name="Google Shape;1586;p74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7" name="Google Shape;1587;p74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Distance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88" name="Google Shape;1588;p74"/>
          <p:cNvSpPr/>
          <p:nvPr/>
        </p:nvSpPr>
        <p:spPr>
          <a:xfrm>
            <a:off x="311700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89" name="Google Shape;1589;p74"/>
          <p:cNvSpPr/>
          <p:nvPr/>
        </p:nvSpPr>
        <p:spPr>
          <a:xfrm>
            <a:off x="1464685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90" name="Google Shape;1590;p74"/>
          <p:cNvSpPr/>
          <p:nvPr/>
        </p:nvSpPr>
        <p:spPr>
          <a:xfrm>
            <a:off x="2458495" y="230667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91" name="Google Shape;1591;p74"/>
          <p:cNvSpPr/>
          <p:nvPr/>
        </p:nvSpPr>
        <p:spPr>
          <a:xfrm>
            <a:off x="2458495" y="4188372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92" name="Google Shape;1592;p74"/>
          <p:cNvSpPr/>
          <p:nvPr/>
        </p:nvSpPr>
        <p:spPr>
          <a:xfrm>
            <a:off x="3452305" y="330224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593" name="Google Shape;1593;p74"/>
          <p:cNvCxnSpPr>
            <a:stCxn id="1589" idx="7"/>
            <a:endCxn id="1590" idx="3"/>
          </p:cNvCxnSpPr>
          <p:nvPr/>
        </p:nvCxnSpPr>
        <p:spPr>
          <a:xfrm flipH="1" rot="10800000">
            <a:off x="1905886" y="2748356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594" name="Google Shape;1594;p74"/>
          <p:cNvCxnSpPr>
            <a:stCxn id="1592" idx="1"/>
            <a:endCxn id="1590" idx="5"/>
          </p:cNvCxnSpPr>
          <p:nvPr/>
        </p:nvCxnSpPr>
        <p:spPr>
          <a:xfrm rot="10800000">
            <a:off x="2899803" y="2748331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95" name="Google Shape;1595;p74"/>
          <p:cNvCxnSpPr>
            <a:stCxn id="1592" idx="3"/>
            <a:endCxn id="1591" idx="7"/>
          </p:cNvCxnSpPr>
          <p:nvPr/>
        </p:nvCxnSpPr>
        <p:spPr>
          <a:xfrm flipH="1">
            <a:off x="2899803" y="3743959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96" name="Google Shape;1596;p74"/>
          <p:cNvCxnSpPr>
            <a:stCxn id="1591" idx="1"/>
            <a:endCxn id="1590" idx="3"/>
          </p:cNvCxnSpPr>
          <p:nvPr/>
        </p:nvCxnSpPr>
        <p:spPr>
          <a:xfrm rot="10800000">
            <a:off x="2534193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597" name="Google Shape;1597;p74"/>
          <p:cNvCxnSpPr>
            <a:stCxn id="1589" idx="1"/>
            <a:endCxn id="1588" idx="7"/>
          </p:cNvCxnSpPr>
          <p:nvPr/>
        </p:nvCxnSpPr>
        <p:spPr>
          <a:xfrm rot="10800000">
            <a:off x="752883" y="3341156"/>
            <a:ext cx="7875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598" name="Google Shape;1598;p74"/>
          <p:cNvCxnSpPr/>
          <p:nvPr/>
        </p:nvCxnSpPr>
        <p:spPr>
          <a:xfrm rot="10800000">
            <a:off x="1723195" y="3782859"/>
            <a:ext cx="735300" cy="664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599" name="Google Shape;1599;p74"/>
          <p:cNvCxnSpPr>
            <a:stCxn id="1588" idx="5"/>
            <a:endCxn id="1589" idx="3"/>
          </p:cNvCxnSpPr>
          <p:nvPr/>
        </p:nvCxnSpPr>
        <p:spPr>
          <a:xfrm>
            <a:off x="752902" y="3707084"/>
            <a:ext cx="787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00" name="Google Shape;1600;p74"/>
          <p:cNvCxnSpPr>
            <a:stCxn id="1591" idx="7"/>
            <a:endCxn id="1590" idx="5"/>
          </p:cNvCxnSpPr>
          <p:nvPr/>
        </p:nvCxnSpPr>
        <p:spPr>
          <a:xfrm rot="10800000">
            <a:off x="2899696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01" name="Google Shape;1601;p74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5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(Geodesic) Distance Matrix</a:t>
            </a:r>
            <a:endParaRPr/>
          </a:p>
        </p:txBody>
      </p:sp>
      <p:graphicFrame>
        <p:nvGraphicFramePr>
          <p:cNvPr id="1607" name="Google Shape;1607;p75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?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08" name="Google Shape;1608;p75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geodesic distance matrix</a:t>
            </a:r>
            <a:r>
              <a:rPr lang="en"/>
              <a:t> (D</a:t>
            </a:r>
            <a:r>
              <a:rPr baseline="30000" lang="en"/>
              <a:t>g</a:t>
            </a:r>
            <a:r>
              <a:rPr lang="en"/>
              <a:t>) of a directed a graph records the </a:t>
            </a:r>
            <a:r>
              <a:rPr b="1" lang="en"/>
              <a:t>length of the shortest path</a:t>
            </a:r>
            <a:r>
              <a:rPr lang="en"/>
              <a:t> connecting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what happens if the path in the other direction doesn’t exist?</a:t>
            </a:r>
            <a:endParaRPr/>
          </a:p>
        </p:txBody>
      </p:sp>
      <p:sp>
        <p:nvSpPr>
          <p:cNvPr id="1609" name="Google Shape;1609;p75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0" name="Google Shape;1610;p75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Distance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611" name="Google Shape;1611;p75"/>
          <p:cNvSpPr/>
          <p:nvPr/>
        </p:nvSpPr>
        <p:spPr>
          <a:xfrm>
            <a:off x="311700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12" name="Google Shape;1612;p75"/>
          <p:cNvSpPr/>
          <p:nvPr/>
        </p:nvSpPr>
        <p:spPr>
          <a:xfrm>
            <a:off x="1464685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13" name="Google Shape;1613;p75"/>
          <p:cNvSpPr/>
          <p:nvPr/>
        </p:nvSpPr>
        <p:spPr>
          <a:xfrm>
            <a:off x="2458495" y="230667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14" name="Google Shape;1614;p75"/>
          <p:cNvSpPr/>
          <p:nvPr/>
        </p:nvSpPr>
        <p:spPr>
          <a:xfrm>
            <a:off x="2458495" y="4188372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15" name="Google Shape;1615;p75"/>
          <p:cNvSpPr/>
          <p:nvPr/>
        </p:nvSpPr>
        <p:spPr>
          <a:xfrm>
            <a:off x="3452305" y="330224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616" name="Google Shape;1616;p75"/>
          <p:cNvCxnSpPr>
            <a:stCxn id="1612" idx="7"/>
            <a:endCxn id="1613" idx="3"/>
          </p:cNvCxnSpPr>
          <p:nvPr/>
        </p:nvCxnSpPr>
        <p:spPr>
          <a:xfrm flipH="1" rot="10800000">
            <a:off x="1905886" y="2748356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17" name="Google Shape;1617;p75"/>
          <p:cNvCxnSpPr>
            <a:stCxn id="1615" idx="1"/>
            <a:endCxn id="1613" idx="5"/>
          </p:cNvCxnSpPr>
          <p:nvPr/>
        </p:nvCxnSpPr>
        <p:spPr>
          <a:xfrm rot="10800000">
            <a:off x="2899803" y="2748331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18" name="Google Shape;1618;p75"/>
          <p:cNvCxnSpPr>
            <a:stCxn id="1615" idx="3"/>
            <a:endCxn id="1614" idx="7"/>
          </p:cNvCxnSpPr>
          <p:nvPr/>
        </p:nvCxnSpPr>
        <p:spPr>
          <a:xfrm flipH="1">
            <a:off x="2899803" y="3743959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19" name="Google Shape;1619;p75"/>
          <p:cNvCxnSpPr>
            <a:stCxn id="1614" idx="1"/>
            <a:endCxn id="1613" idx="3"/>
          </p:cNvCxnSpPr>
          <p:nvPr/>
        </p:nvCxnSpPr>
        <p:spPr>
          <a:xfrm rot="10800000">
            <a:off x="2534193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20" name="Google Shape;1620;p75"/>
          <p:cNvCxnSpPr>
            <a:stCxn id="1612" idx="1"/>
            <a:endCxn id="1611" idx="7"/>
          </p:cNvCxnSpPr>
          <p:nvPr/>
        </p:nvCxnSpPr>
        <p:spPr>
          <a:xfrm rot="10800000">
            <a:off x="752883" y="3341156"/>
            <a:ext cx="787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21" name="Google Shape;1621;p75"/>
          <p:cNvCxnSpPr/>
          <p:nvPr/>
        </p:nvCxnSpPr>
        <p:spPr>
          <a:xfrm rot="10800000">
            <a:off x="1723195" y="3782859"/>
            <a:ext cx="735300" cy="66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622" name="Google Shape;1622;p75"/>
          <p:cNvSpPr txBox="1"/>
          <p:nvPr/>
        </p:nvSpPr>
        <p:spPr>
          <a:xfrm>
            <a:off x="2617638" y="3419688"/>
            <a:ext cx="2895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?</a:t>
            </a:r>
            <a:endParaRPr b="1" sz="18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623" name="Google Shape;1623;p75"/>
          <p:cNvCxnSpPr/>
          <p:nvPr/>
        </p:nvCxnSpPr>
        <p:spPr>
          <a:xfrm>
            <a:off x="752902" y="3707084"/>
            <a:ext cx="787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24" name="Google Shape;1624;p75"/>
          <p:cNvCxnSpPr/>
          <p:nvPr/>
        </p:nvCxnSpPr>
        <p:spPr>
          <a:xfrm rot="10800000">
            <a:off x="2899696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25" name="Google Shape;1625;p75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9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(Geodesic) Distance Matrix</a:t>
            </a:r>
            <a:endParaRPr/>
          </a:p>
        </p:txBody>
      </p:sp>
      <p:graphicFrame>
        <p:nvGraphicFramePr>
          <p:cNvPr id="1631" name="Google Shape;1631;p76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Inf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32" name="Google Shape;1632;p76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geodesic distance matrix</a:t>
            </a:r>
            <a:r>
              <a:rPr lang="en"/>
              <a:t> (D</a:t>
            </a:r>
            <a:r>
              <a:rPr baseline="30000" lang="en"/>
              <a:t>g</a:t>
            </a:r>
            <a:r>
              <a:rPr lang="en"/>
              <a:t>) of a directed a graph records the </a:t>
            </a:r>
            <a:r>
              <a:rPr b="1" lang="en"/>
              <a:t>length of the shortest path</a:t>
            </a:r>
            <a:r>
              <a:rPr lang="en"/>
              <a:t> connecting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 node cannot reach another node in a directed graph they are at </a:t>
            </a:r>
            <a:r>
              <a:rPr b="1" lang="en"/>
              <a:t>infinite </a:t>
            </a:r>
            <a:r>
              <a:rPr lang="en"/>
              <a:t>distance!</a:t>
            </a:r>
            <a:endParaRPr/>
          </a:p>
        </p:txBody>
      </p:sp>
      <p:sp>
        <p:nvSpPr>
          <p:cNvPr id="1633" name="Google Shape;1633;p76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4" name="Google Shape;1634;p76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Distance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635" name="Google Shape;1635;p76"/>
          <p:cNvSpPr/>
          <p:nvPr/>
        </p:nvSpPr>
        <p:spPr>
          <a:xfrm>
            <a:off x="311700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36" name="Google Shape;1636;p76"/>
          <p:cNvSpPr/>
          <p:nvPr/>
        </p:nvSpPr>
        <p:spPr>
          <a:xfrm>
            <a:off x="1464685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37" name="Google Shape;1637;p76"/>
          <p:cNvSpPr/>
          <p:nvPr/>
        </p:nvSpPr>
        <p:spPr>
          <a:xfrm>
            <a:off x="2458495" y="230667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38" name="Google Shape;1638;p76"/>
          <p:cNvSpPr/>
          <p:nvPr/>
        </p:nvSpPr>
        <p:spPr>
          <a:xfrm>
            <a:off x="2458495" y="4188372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39" name="Google Shape;1639;p76"/>
          <p:cNvSpPr/>
          <p:nvPr/>
        </p:nvSpPr>
        <p:spPr>
          <a:xfrm>
            <a:off x="3452305" y="330224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640" name="Google Shape;1640;p76"/>
          <p:cNvCxnSpPr>
            <a:stCxn id="1636" idx="7"/>
            <a:endCxn id="1637" idx="3"/>
          </p:cNvCxnSpPr>
          <p:nvPr/>
        </p:nvCxnSpPr>
        <p:spPr>
          <a:xfrm flipH="1" rot="10800000">
            <a:off x="1905886" y="2748356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41" name="Google Shape;1641;p76"/>
          <p:cNvCxnSpPr>
            <a:stCxn id="1639" idx="1"/>
            <a:endCxn id="1637" idx="5"/>
          </p:cNvCxnSpPr>
          <p:nvPr/>
        </p:nvCxnSpPr>
        <p:spPr>
          <a:xfrm rot="10800000">
            <a:off x="2899803" y="2748331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42" name="Google Shape;1642;p76"/>
          <p:cNvCxnSpPr>
            <a:stCxn id="1639" idx="3"/>
            <a:endCxn id="1638" idx="7"/>
          </p:cNvCxnSpPr>
          <p:nvPr/>
        </p:nvCxnSpPr>
        <p:spPr>
          <a:xfrm flipH="1">
            <a:off x="2899803" y="3743959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43" name="Google Shape;1643;p76"/>
          <p:cNvCxnSpPr>
            <a:stCxn id="1638" idx="1"/>
            <a:endCxn id="1637" idx="3"/>
          </p:cNvCxnSpPr>
          <p:nvPr/>
        </p:nvCxnSpPr>
        <p:spPr>
          <a:xfrm rot="10800000">
            <a:off x="2534193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44" name="Google Shape;1644;p76"/>
          <p:cNvCxnSpPr>
            <a:stCxn id="1636" idx="1"/>
            <a:endCxn id="1635" idx="7"/>
          </p:cNvCxnSpPr>
          <p:nvPr/>
        </p:nvCxnSpPr>
        <p:spPr>
          <a:xfrm rot="10800000">
            <a:off x="752883" y="3341156"/>
            <a:ext cx="787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45" name="Google Shape;1645;p76"/>
          <p:cNvCxnSpPr/>
          <p:nvPr/>
        </p:nvCxnSpPr>
        <p:spPr>
          <a:xfrm rot="10800000">
            <a:off x="1723195" y="3782859"/>
            <a:ext cx="735300" cy="66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46" name="Google Shape;1646;p76"/>
          <p:cNvCxnSpPr/>
          <p:nvPr/>
        </p:nvCxnSpPr>
        <p:spPr>
          <a:xfrm>
            <a:off x="752902" y="3707084"/>
            <a:ext cx="787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47" name="Google Shape;1647;p76"/>
          <p:cNvCxnSpPr/>
          <p:nvPr/>
        </p:nvCxnSpPr>
        <p:spPr>
          <a:xfrm rot="10800000">
            <a:off x="2899696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48" name="Google Shape;1648;p76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2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(Geodesic) Distance Matrix</a:t>
            </a:r>
            <a:endParaRPr/>
          </a:p>
        </p:txBody>
      </p:sp>
      <p:sp>
        <p:nvSpPr>
          <p:cNvPr id="1654" name="Google Shape;1654;p77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geodesic distance matrix</a:t>
            </a:r>
            <a:r>
              <a:rPr lang="en"/>
              <a:t> (D</a:t>
            </a:r>
            <a:r>
              <a:rPr baseline="30000" lang="en"/>
              <a:t>g</a:t>
            </a:r>
            <a:r>
              <a:rPr lang="en"/>
              <a:t>) of a directed a graph records the </a:t>
            </a:r>
            <a:r>
              <a:rPr b="1" lang="en"/>
              <a:t>length of the shortest path</a:t>
            </a:r>
            <a:r>
              <a:rPr lang="en"/>
              <a:t> connecting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lengths of the shortest past of mutually connected nodes can be different!</a:t>
            </a:r>
            <a:endParaRPr/>
          </a:p>
        </p:txBody>
      </p:sp>
      <p:sp>
        <p:nvSpPr>
          <p:cNvPr id="1655" name="Google Shape;1655;p77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6" name="Google Shape;1656;p77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Distance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657" name="Google Shape;1657;p77"/>
          <p:cNvSpPr/>
          <p:nvPr/>
        </p:nvSpPr>
        <p:spPr>
          <a:xfrm>
            <a:off x="311700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58" name="Google Shape;1658;p77"/>
          <p:cNvSpPr/>
          <p:nvPr/>
        </p:nvSpPr>
        <p:spPr>
          <a:xfrm>
            <a:off x="1464685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59" name="Google Shape;1659;p77"/>
          <p:cNvSpPr/>
          <p:nvPr/>
        </p:nvSpPr>
        <p:spPr>
          <a:xfrm>
            <a:off x="2458495" y="230667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60" name="Google Shape;1660;p77"/>
          <p:cNvSpPr/>
          <p:nvPr/>
        </p:nvSpPr>
        <p:spPr>
          <a:xfrm>
            <a:off x="2458495" y="4188372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61" name="Google Shape;1661;p77"/>
          <p:cNvSpPr/>
          <p:nvPr/>
        </p:nvSpPr>
        <p:spPr>
          <a:xfrm>
            <a:off x="3452305" y="330224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662" name="Google Shape;1662;p77"/>
          <p:cNvCxnSpPr>
            <a:stCxn id="1658" idx="7"/>
            <a:endCxn id="1659" idx="3"/>
          </p:cNvCxnSpPr>
          <p:nvPr/>
        </p:nvCxnSpPr>
        <p:spPr>
          <a:xfrm flipH="1" rot="10800000">
            <a:off x="1905886" y="2748356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63" name="Google Shape;1663;p77"/>
          <p:cNvCxnSpPr>
            <a:stCxn id="1661" idx="1"/>
            <a:endCxn id="1659" idx="5"/>
          </p:cNvCxnSpPr>
          <p:nvPr/>
        </p:nvCxnSpPr>
        <p:spPr>
          <a:xfrm rot="10800000">
            <a:off x="2899803" y="2748331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64" name="Google Shape;1664;p77"/>
          <p:cNvCxnSpPr>
            <a:stCxn id="1661" idx="3"/>
            <a:endCxn id="1660" idx="7"/>
          </p:cNvCxnSpPr>
          <p:nvPr/>
        </p:nvCxnSpPr>
        <p:spPr>
          <a:xfrm flipH="1">
            <a:off x="2899803" y="3743959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65" name="Google Shape;1665;p77"/>
          <p:cNvCxnSpPr>
            <a:stCxn id="1660" idx="1"/>
            <a:endCxn id="1659" idx="3"/>
          </p:cNvCxnSpPr>
          <p:nvPr/>
        </p:nvCxnSpPr>
        <p:spPr>
          <a:xfrm rot="10800000">
            <a:off x="2534193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66" name="Google Shape;1666;p77"/>
          <p:cNvCxnSpPr>
            <a:stCxn id="1658" idx="1"/>
            <a:endCxn id="1657" idx="7"/>
          </p:cNvCxnSpPr>
          <p:nvPr/>
        </p:nvCxnSpPr>
        <p:spPr>
          <a:xfrm rot="10800000">
            <a:off x="752883" y="3341156"/>
            <a:ext cx="7875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67" name="Google Shape;1667;p77"/>
          <p:cNvCxnSpPr/>
          <p:nvPr/>
        </p:nvCxnSpPr>
        <p:spPr>
          <a:xfrm rot="10800000">
            <a:off x="1723195" y="3782859"/>
            <a:ext cx="735300" cy="664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graphicFrame>
        <p:nvGraphicFramePr>
          <p:cNvPr id="1668" name="Google Shape;1668;p77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Inf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669" name="Google Shape;1669;p77"/>
          <p:cNvCxnSpPr/>
          <p:nvPr/>
        </p:nvCxnSpPr>
        <p:spPr>
          <a:xfrm>
            <a:off x="752902" y="3707084"/>
            <a:ext cx="787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70" name="Google Shape;1670;p77"/>
          <p:cNvCxnSpPr/>
          <p:nvPr/>
        </p:nvCxnSpPr>
        <p:spPr>
          <a:xfrm rot="10800000">
            <a:off x="2899696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71" name="Google Shape;1671;p77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Google Shape;1676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(Geodesic) Distance Matrix</a:t>
            </a:r>
            <a:endParaRPr/>
          </a:p>
        </p:txBody>
      </p:sp>
      <p:sp>
        <p:nvSpPr>
          <p:cNvPr id="1677" name="Google Shape;1677;p78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geodesic distance matrix</a:t>
            </a:r>
            <a:r>
              <a:rPr lang="en"/>
              <a:t> (D</a:t>
            </a:r>
            <a:r>
              <a:rPr baseline="30000" lang="en"/>
              <a:t>g</a:t>
            </a:r>
            <a:r>
              <a:rPr lang="en"/>
              <a:t>) of a directed a graph records the </a:t>
            </a:r>
            <a:r>
              <a:rPr b="1" lang="en"/>
              <a:t>length of the shortest path</a:t>
            </a:r>
            <a:r>
              <a:rPr lang="en"/>
              <a:t> connecting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lengths of the shortest past of mutually connected nodes can be different!</a:t>
            </a:r>
            <a:endParaRPr/>
          </a:p>
        </p:txBody>
      </p:sp>
      <p:sp>
        <p:nvSpPr>
          <p:cNvPr id="1678" name="Google Shape;1678;p78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9" name="Google Shape;1679;p78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Distance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680" name="Google Shape;1680;p78"/>
          <p:cNvSpPr/>
          <p:nvPr/>
        </p:nvSpPr>
        <p:spPr>
          <a:xfrm>
            <a:off x="311700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81" name="Google Shape;1681;p78"/>
          <p:cNvSpPr/>
          <p:nvPr/>
        </p:nvSpPr>
        <p:spPr>
          <a:xfrm>
            <a:off x="1464685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82" name="Google Shape;1682;p78"/>
          <p:cNvSpPr/>
          <p:nvPr/>
        </p:nvSpPr>
        <p:spPr>
          <a:xfrm>
            <a:off x="2458495" y="230667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83" name="Google Shape;1683;p78"/>
          <p:cNvSpPr/>
          <p:nvPr/>
        </p:nvSpPr>
        <p:spPr>
          <a:xfrm>
            <a:off x="2458495" y="4188372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84" name="Google Shape;1684;p78"/>
          <p:cNvSpPr/>
          <p:nvPr/>
        </p:nvSpPr>
        <p:spPr>
          <a:xfrm>
            <a:off x="3452305" y="330224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685" name="Google Shape;1685;p78"/>
          <p:cNvCxnSpPr>
            <a:stCxn id="1681" idx="7"/>
            <a:endCxn id="1682" idx="3"/>
          </p:cNvCxnSpPr>
          <p:nvPr/>
        </p:nvCxnSpPr>
        <p:spPr>
          <a:xfrm flipH="1" rot="10800000">
            <a:off x="1905886" y="2748356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86" name="Google Shape;1686;p78"/>
          <p:cNvCxnSpPr>
            <a:stCxn id="1684" idx="1"/>
            <a:endCxn id="1682" idx="5"/>
          </p:cNvCxnSpPr>
          <p:nvPr/>
        </p:nvCxnSpPr>
        <p:spPr>
          <a:xfrm rot="10800000">
            <a:off x="2899803" y="2748331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87" name="Google Shape;1687;p78"/>
          <p:cNvCxnSpPr>
            <a:stCxn id="1684" idx="3"/>
            <a:endCxn id="1683" idx="7"/>
          </p:cNvCxnSpPr>
          <p:nvPr/>
        </p:nvCxnSpPr>
        <p:spPr>
          <a:xfrm flipH="1">
            <a:off x="2899803" y="3743959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88" name="Google Shape;1688;p78"/>
          <p:cNvCxnSpPr>
            <a:stCxn id="1683" idx="1"/>
            <a:endCxn id="1682" idx="3"/>
          </p:cNvCxnSpPr>
          <p:nvPr/>
        </p:nvCxnSpPr>
        <p:spPr>
          <a:xfrm rot="10800000">
            <a:off x="2534193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89" name="Google Shape;1689;p78"/>
          <p:cNvCxnSpPr>
            <a:stCxn id="1681" idx="1"/>
            <a:endCxn id="1680" idx="7"/>
          </p:cNvCxnSpPr>
          <p:nvPr/>
        </p:nvCxnSpPr>
        <p:spPr>
          <a:xfrm rot="10800000">
            <a:off x="752883" y="3341156"/>
            <a:ext cx="787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90" name="Google Shape;1690;p78"/>
          <p:cNvCxnSpPr/>
          <p:nvPr/>
        </p:nvCxnSpPr>
        <p:spPr>
          <a:xfrm rot="10800000">
            <a:off x="1723195" y="3782859"/>
            <a:ext cx="735300" cy="66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graphicFrame>
        <p:nvGraphicFramePr>
          <p:cNvPr id="1691" name="Google Shape;1691;p78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Inf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692" name="Google Shape;1692;p78"/>
          <p:cNvCxnSpPr/>
          <p:nvPr/>
        </p:nvCxnSpPr>
        <p:spPr>
          <a:xfrm>
            <a:off x="752902" y="3707084"/>
            <a:ext cx="7875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93" name="Google Shape;1693;p78"/>
          <p:cNvCxnSpPr/>
          <p:nvPr/>
        </p:nvCxnSpPr>
        <p:spPr>
          <a:xfrm rot="10800000">
            <a:off x="2899696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94" name="Google Shape;1694;p78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8" name="Shape 1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" name="Google Shape;1699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(Geodesic) Distance Matrix</a:t>
            </a:r>
            <a:endParaRPr/>
          </a:p>
        </p:txBody>
      </p:sp>
      <p:sp>
        <p:nvSpPr>
          <p:cNvPr id="1700" name="Google Shape;1700;p79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geodesic distance matrix</a:t>
            </a:r>
            <a:r>
              <a:rPr lang="en"/>
              <a:t> (D</a:t>
            </a:r>
            <a:r>
              <a:rPr baseline="30000" lang="en"/>
              <a:t>g</a:t>
            </a:r>
            <a:r>
              <a:rPr lang="en"/>
              <a:t>) of a directed a graph records the </a:t>
            </a:r>
            <a:r>
              <a:rPr b="1" lang="en"/>
              <a:t>length of the shortest path</a:t>
            </a:r>
            <a:r>
              <a:rPr lang="en"/>
              <a:t> connecting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so on for each pair!</a:t>
            </a:r>
            <a:endParaRPr/>
          </a:p>
        </p:txBody>
      </p:sp>
      <p:sp>
        <p:nvSpPr>
          <p:cNvPr id="1701" name="Google Shape;1701;p79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2" name="Google Shape;1702;p79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Distance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703" name="Google Shape;1703;p79"/>
          <p:cNvSpPr/>
          <p:nvPr/>
        </p:nvSpPr>
        <p:spPr>
          <a:xfrm>
            <a:off x="311700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04" name="Google Shape;1704;p79"/>
          <p:cNvSpPr/>
          <p:nvPr/>
        </p:nvSpPr>
        <p:spPr>
          <a:xfrm>
            <a:off x="1464685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05" name="Google Shape;1705;p79"/>
          <p:cNvSpPr/>
          <p:nvPr/>
        </p:nvSpPr>
        <p:spPr>
          <a:xfrm>
            <a:off x="2458495" y="230667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06" name="Google Shape;1706;p79"/>
          <p:cNvSpPr/>
          <p:nvPr/>
        </p:nvSpPr>
        <p:spPr>
          <a:xfrm>
            <a:off x="2458495" y="4188372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07" name="Google Shape;1707;p79"/>
          <p:cNvSpPr/>
          <p:nvPr/>
        </p:nvSpPr>
        <p:spPr>
          <a:xfrm>
            <a:off x="3452305" y="330224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708" name="Google Shape;1708;p79"/>
          <p:cNvCxnSpPr>
            <a:stCxn id="1704" idx="7"/>
            <a:endCxn id="1705" idx="3"/>
          </p:cNvCxnSpPr>
          <p:nvPr/>
        </p:nvCxnSpPr>
        <p:spPr>
          <a:xfrm flipH="1" rot="10800000">
            <a:off x="1905886" y="2748356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709" name="Google Shape;1709;p79"/>
          <p:cNvCxnSpPr>
            <a:stCxn id="1707" idx="1"/>
            <a:endCxn id="1705" idx="5"/>
          </p:cNvCxnSpPr>
          <p:nvPr/>
        </p:nvCxnSpPr>
        <p:spPr>
          <a:xfrm rot="10800000">
            <a:off x="2899803" y="2748331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10" name="Google Shape;1710;p79"/>
          <p:cNvCxnSpPr>
            <a:stCxn id="1707" idx="3"/>
            <a:endCxn id="1706" idx="7"/>
          </p:cNvCxnSpPr>
          <p:nvPr/>
        </p:nvCxnSpPr>
        <p:spPr>
          <a:xfrm flipH="1">
            <a:off x="2899803" y="3743959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11" name="Google Shape;1711;p79"/>
          <p:cNvCxnSpPr>
            <a:stCxn id="1706" idx="1"/>
            <a:endCxn id="1705" idx="3"/>
          </p:cNvCxnSpPr>
          <p:nvPr/>
        </p:nvCxnSpPr>
        <p:spPr>
          <a:xfrm rot="10800000">
            <a:off x="2534193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712" name="Google Shape;1712;p79"/>
          <p:cNvCxnSpPr>
            <a:stCxn id="1704" idx="1"/>
            <a:endCxn id="1703" idx="7"/>
          </p:cNvCxnSpPr>
          <p:nvPr/>
        </p:nvCxnSpPr>
        <p:spPr>
          <a:xfrm rot="10800000">
            <a:off x="752883" y="3341156"/>
            <a:ext cx="787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713" name="Google Shape;1713;p79"/>
          <p:cNvCxnSpPr/>
          <p:nvPr/>
        </p:nvCxnSpPr>
        <p:spPr>
          <a:xfrm rot="10800000">
            <a:off x="1723195" y="3782859"/>
            <a:ext cx="735300" cy="66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graphicFrame>
        <p:nvGraphicFramePr>
          <p:cNvPr id="1714" name="Google Shape;1714;p79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{33EF23A4-BB49-47C6-8F63-12E6B55B6C2E}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Inf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715" name="Google Shape;1715;p79"/>
          <p:cNvCxnSpPr/>
          <p:nvPr/>
        </p:nvCxnSpPr>
        <p:spPr>
          <a:xfrm>
            <a:off x="752902" y="3707084"/>
            <a:ext cx="787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716" name="Google Shape;1716;p79"/>
          <p:cNvCxnSpPr/>
          <p:nvPr/>
        </p:nvCxnSpPr>
        <p:spPr>
          <a:xfrm rot="10800000">
            <a:off x="2899696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717" name="Google Shape;1717;p79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