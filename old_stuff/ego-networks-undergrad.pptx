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715000" cx="9144000"/>
  <p:notesSz cx="6858000" cy="9144000"/>
  <p:embeddedFontLst>
    <p:embeddedFont>
      <p:font typeface="Economica"/>
      <p:regular r:id="rId38"/>
      <p:bold r:id="rId39"/>
      <p:italic r:id="rId40"/>
      <p:boldItalic r:id="rId41"/>
    </p:embeddedFont>
    <p:embeddedFont>
      <p:font typeface="EB Garamond"/>
      <p:regular r:id="rId42"/>
      <p:bold r:id="rId43"/>
      <p:italic r:id="rId44"/>
      <p:boldItalic r:id="rId45"/>
    </p:embeddedFont>
    <p:embeddedFont>
      <p:font typeface="Junge"/>
      <p:regular r:id="rId46"/>
    </p:embeddedFont>
    <p:embeddedFont>
      <p:font typeface="Open Sans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15885-BB41-4CA2-B958-D61A952227E4}">
  <a:tblStyle styleId="{55215885-BB41-4CA2-B958-D61A952227E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Economica-italic.fntdata"/><Relationship Id="rId42" Type="http://schemas.openxmlformats.org/officeDocument/2006/relationships/font" Target="fonts/EBGaramond-regular.fntdata"/><Relationship Id="rId41" Type="http://schemas.openxmlformats.org/officeDocument/2006/relationships/font" Target="fonts/Economica-boldItalic.fntdata"/><Relationship Id="rId44" Type="http://schemas.openxmlformats.org/officeDocument/2006/relationships/font" Target="fonts/EBGaramond-italic.fntdata"/><Relationship Id="rId43" Type="http://schemas.openxmlformats.org/officeDocument/2006/relationships/font" Target="fonts/EBGaramond-bold.fntdata"/><Relationship Id="rId46" Type="http://schemas.openxmlformats.org/officeDocument/2006/relationships/font" Target="fonts/Junge-regular.fntdata"/><Relationship Id="rId45" Type="http://schemas.openxmlformats.org/officeDocument/2006/relationships/font" Target="fonts/EBGaramond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OpenSans-bold.fntdata"/><Relationship Id="rId47" Type="http://schemas.openxmlformats.org/officeDocument/2006/relationships/font" Target="fonts/OpenSans-regular.fntdata"/><Relationship Id="rId49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font" Target="fonts/Economica-bold.fntdata"/><Relationship Id="rId38" Type="http://schemas.openxmlformats.org/officeDocument/2006/relationships/font" Target="fonts/Economica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rnd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88900" lvl="0" marL="0" marR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b="0" i="0" sz="1200" u="none" cap="none" strike="noStrike">
              <a:latin typeface="Calibri"/>
              <a:ea typeface="Calibri"/>
              <a:cs typeface="Calibri"/>
              <a:sym typeface="Calibri"/>
            </a:endParaRPr>
          </a:p>
          <a:p>
            <a:pPr indent="-88900" lvl="1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4" name="Google Shape;6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Who is likely to have more diverse networks</a:t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Why diversity important</a:t>
            </a:r>
            <a:endParaRPr/>
          </a:p>
        </p:txBody>
      </p:sp>
      <p:sp>
        <p:nvSpPr>
          <p:cNvPr id="65" name="Google Shape;65;p1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Font typeface="Calibri"/>
              <a:buNone/>
            </a:pPr>
            <a:r>
              <a:rPr b="0" i="0" lang="en-US" sz="1200" u="none" cap="none" strike="noStrike"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b589456_0_1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3" name="Google Shape;73;g2b58945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Who is likely to have more diverse networks</a:t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Why diversity important</a:t>
            </a:r>
            <a:endParaRPr/>
          </a:p>
        </p:txBody>
      </p:sp>
      <p:sp>
        <p:nvSpPr>
          <p:cNvPr id="74" name="Google Shape;74;g2b589456_0_1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Font typeface="Calibri"/>
              <a:buNone/>
            </a:pPr>
            <a:r>
              <a:rPr b="0" i="0" lang="en-US" sz="1200" u="none" cap="none" strike="noStrike"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b589456_0_18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rnd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81" name="Google Shape;81;g2b5894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Who is likely to have more diverse networks</a:t>
            </a:r>
            <a:endParaRPr b="0" i="0" sz="1800" u="none" cap="none" strike="noStrike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r>
              <a:rPr b="0" i="0" lang="en-US" sz="1800" u="none" cap="none" strike="noStrike"/>
              <a:t>Why diversity important</a:t>
            </a:r>
            <a:endParaRPr/>
          </a:p>
        </p:txBody>
      </p:sp>
      <p:sp>
        <p:nvSpPr>
          <p:cNvPr id="82" name="Google Shape;82;g2b589456_0_18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Font typeface="Calibri"/>
              <a:buNone/>
            </a:pPr>
            <a:r>
              <a:rPr b="0" i="0" lang="en-US" sz="1200" u="none" cap="none" strike="noStrike">
                <a:latin typeface="Calibri"/>
                <a:ea typeface="Calibri"/>
                <a:cs typeface="Calibri"/>
                <a:sym typeface="Calibri"/>
              </a:rPr>
              <a:t>*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427809e_1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427809e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427809e_11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427809e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427809e_13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427809e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427809e_217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427809e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427809e_22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427809e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427809e_239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427809e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427809e_248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427809e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427809e_23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427809e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d5c1bfe9_0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d5c1bfe9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5c1bfe9_07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d5c1bfe9_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d5c1bfe9_01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d5c1bfe9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47279ae2b_0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47279ae2b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47279ae2b_06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47279ae2b_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47279ae2b_01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47279ae2b_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d5c1bfe9_02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d5c1bfe9_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d5c1bfe9_03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d5c1bfe9_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d5c1bfe9_04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d5c1bfe9_0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b589456_0_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b58945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b589456_0_8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b58945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500c7c1c_1_6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500c7c1c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500c7c1c_1_1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500c7c1c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500c7c1c_1_18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500c7c1c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500c7c1c_1_3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500c7c1c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500c8062_0_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500c80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500c8062_0_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500c806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978ac792_02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978ac792_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978ac792_03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978ac792_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978ac792_05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978ac792_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9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2744013" y="840778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" name="Google Shape;15;p2"/>
          <p:cNvSpPr/>
          <p:nvPr/>
        </p:nvSpPr>
        <p:spPr>
          <a:xfrm rot="10800000">
            <a:off x="5318350" y="3629707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" name="Google Shape;16;p2"/>
          <p:cNvSpPr txBox="1"/>
          <p:nvPr>
            <p:ph type="ctrTitle"/>
          </p:nvPr>
        </p:nvSpPr>
        <p:spPr>
          <a:xfrm>
            <a:off x="3044700" y="1604728"/>
            <a:ext cx="3054600" cy="17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044700" y="3462867"/>
            <a:ext cx="30546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 flipH="1">
            <a:off x="7595938" y="511361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1" name="Google Shape;21;p3"/>
          <p:cNvSpPr/>
          <p:nvPr/>
        </p:nvSpPr>
        <p:spPr>
          <a:xfrm flipH="1" rot="10800000">
            <a:off x="466425" y="3953707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2" name="Google Shape;22;p3"/>
          <p:cNvSpPr txBox="1"/>
          <p:nvPr>
            <p:ph type="title"/>
          </p:nvPr>
        </p:nvSpPr>
        <p:spPr>
          <a:xfrm>
            <a:off x="773700" y="2007167"/>
            <a:ext cx="7596600" cy="170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311700" y="1361361"/>
            <a:ext cx="3999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832400" y="1361361"/>
            <a:ext cx="3999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554889"/>
            <a:ext cx="2808000" cy="30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00167"/>
            <a:ext cx="5878800" cy="45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-28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995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2528"/>
            <a:ext cx="4045200" cy="19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3076667"/>
            <a:ext cx="4045200" cy="17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804667"/>
            <a:ext cx="3837000" cy="41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9500" y="4687694"/>
            <a:ext cx="59988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063472"/>
            <a:ext cx="8520600" cy="236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3513333"/>
            <a:ext cx="8520600" cy="11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gif"/><Relationship Id="rId4" Type="http://schemas.openxmlformats.org/officeDocument/2006/relationships/image" Target="../media/image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gif"/><Relationship Id="rId4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Relationship Id="rId4" Type="http://schemas.openxmlformats.org/officeDocument/2006/relationships/image" Target="../media/image5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jpg"/><Relationship Id="rId4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idx="1" type="body"/>
          </p:nvPr>
        </p:nvSpPr>
        <p:spPr>
          <a:xfrm>
            <a:off x="457200" y="1384646"/>
            <a:ext cx="4395600" cy="4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A focal ego (j) with k neighbors (alters, contacts)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Properties of personal networks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Size (ego-network degree, "range")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Diversity (e.g. Std. Dev. of Age, education, etc.)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Composition (Prop. Kin)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Homophily  (Prop. Same Gender)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Clustering  (Density)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9163" y="1655146"/>
            <a:ext cx="3230563" cy="279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 txBox="1"/>
          <p:nvPr/>
        </p:nvSpPr>
        <p:spPr>
          <a:xfrm>
            <a:off x="6491575" y="4449146"/>
            <a:ext cx="7701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EB Garamond"/>
                <a:ea typeface="EB Garamond"/>
                <a:cs typeface="EB Garamond"/>
                <a:sym typeface="EB Garamond"/>
              </a:rPr>
              <a:t>k = 7</a:t>
            </a:r>
            <a:endParaRPr sz="24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Ego (personal) networks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Ego (personal) networks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311700" y="1361361"/>
            <a:ext cx="39999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Correlates of Diversity (personal network level)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Structural</a:t>
            </a:r>
            <a:endParaRPr/>
          </a:p>
          <a:p>
            <a:pPr indent="-304800" lvl="2" marL="1371600" rtl="0" algn="l">
              <a:spcBef>
                <a:spcPts val="160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Size</a:t>
            </a:r>
            <a:endParaRPr/>
          </a:p>
          <a:p>
            <a:pPr indent="-304800" lvl="2" marL="1371600" rtl="0" algn="l">
              <a:spcBef>
                <a:spcPts val="160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N. of weak ties (e.g. acquaintances)</a:t>
            </a:r>
            <a:endParaRPr/>
          </a:p>
          <a:p>
            <a:pPr indent="-304800" lvl="2" marL="1371600" rtl="0" algn="l">
              <a:spcBef>
                <a:spcPts val="160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Redundancy/density</a:t>
            </a:r>
            <a:endParaRPr/>
          </a:p>
          <a:p>
            <a:pPr indent="-304800" lvl="2" marL="1371600" rtl="0" algn="l">
              <a:spcBef>
                <a:spcPts val="1600"/>
              </a:spcBef>
              <a:spcAft>
                <a:spcPts val="1600"/>
              </a:spcAft>
              <a:buSzPts val="1200"/>
              <a:buChar char="■"/>
            </a:pPr>
            <a:r>
              <a:rPr lang="en-US"/>
              <a:t>Proportion Kin</a:t>
            </a:r>
            <a:endParaRPr/>
          </a:p>
        </p:txBody>
      </p:sp>
      <p:pic>
        <p:nvPicPr>
          <p:cNvPr id="78" name="Google Shape;7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9163" y="1655146"/>
            <a:ext cx="3230563" cy="279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Ego (personal) networks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457200" y="1622771"/>
            <a:ext cx="4498500" cy="38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Correlates of Diversity (Node level)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Node Level:</a:t>
            </a:r>
            <a:endParaRPr/>
          </a:p>
          <a:p>
            <a:pPr indent="-304800" lvl="2" marL="1371600" rtl="0" algn="l">
              <a:spcBef>
                <a:spcPts val="160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Age (Life course stage)</a:t>
            </a:r>
            <a:endParaRPr/>
          </a:p>
          <a:p>
            <a:pPr indent="-304800" lvl="2" marL="1371600" rtl="0" algn="l">
              <a:spcBef>
                <a:spcPts val="160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Family status</a:t>
            </a:r>
            <a:endParaRPr/>
          </a:p>
          <a:p>
            <a:pPr indent="-304800" lvl="2" marL="1371600" rtl="0" algn="l">
              <a:spcBef>
                <a:spcPts val="160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Gender</a:t>
            </a:r>
            <a:endParaRPr/>
          </a:p>
          <a:p>
            <a:pPr indent="-304800" lvl="2" marL="1371600" rtl="0" algn="l">
              <a:spcBef>
                <a:spcPts val="160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Race</a:t>
            </a:r>
            <a:endParaRPr/>
          </a:p>
          <a:p>
            <a:pPr indent="-304800" lvl="2" marL="1371600" rtl="0" algn="l">
              <a:spcBef>
                <a:spcPts val="160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Occupation</a:t>
            </a:r>
            <a:endParaRPr/>
          </a:p>
          <a:p>
            <a:pPr indent="-304800" lvl="2" marL="1371600" rtl="0" algn="l">
              <a:spcBef>
                <a:spcPts val="160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Education</a:t>
            </a:r>
            <a:endParaRPr/>
          </a:p>
          <a:p>
            <a:pPr indent="-304800" lvl="2" marL="1371600" rtl="0" algn="l">
              <a:spcBef>
                <a:spcPts val="1600"/>
              </a:spcBef>
              <a:spcAft>
                <a:spcPts val="1600"/>
              </a:spcAft>
              <a:buSzPts val="1200"/>
              <a:buChar char="■"/>
            </a:pPr>
            <a:r>
              <a:rPr lang="en-US"/>
              <a:t>[...]</a:t>
            </a:r>
            <a:endParaRPr/>
          </a:p>
        </p:txBody>
      </p:sp>
      <p:pic>
        <p:nvPicPr>
          <p:cNvPr id="86" name="Google Shape;8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9163" y="1655146"/>
            <a:ext cx="3230563" cy="279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Homophily, chicken, eggs, circles, Foci, relations</a:t>
            </a:r>
            <a:endParaRPr/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311700" y="1361361"/>
            <a:ext cx="3999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What comes first? Choice or context of choice?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Choices embedded in contexts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Social “circles”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Social “Foci”</a:t>
            </a:r>
            <a:endParaRPr/>
          </a:p>
        </p:txBody>
      </p:sp>
      <p:pic>
        <p:nvPicPr>
          <p:cNvPr id="93" name="Google Shape;93;p16"/>
          <p:cNvPicPr preferRelativeResize="0"/>
          <p:nvPr/>
        </p:nvPicPr>
        <p:blipFill rotWithShape="1">
          <a:blip r:embed="rId3">
            <a:alphaModFix/>
          </a:blip>
          <a:srcRect b="8042" l="25470" r="25922" t="70152"/>
          <a:stretch/>
        </p:blipFill>
        <p:spPr>
          <a:xfrm>
            <a:off x="4633150" y="2243104"/>
            <a:ext cx="4030200" cy="2609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Homophily, chicken, eggs, circles, Foci, relations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311700" y="1361361"/>
            <a:ext cx="3999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What comes first? Choice or context of choice?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What do circles do?</a:t>
            </a:r>
            <a:endParaRPr/>
          </a:p>
          <a:p>
            <a:pPr indent="-304800" lvl="2" marL="1371600" rtl="0" algn="l">
              <a:spcBef>
                <a:spcPts val="160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Provide common “contexts” for interaction</a:t>
            </a:r>
            <a:endParaRPr/>
          </a:p>
          <a:p>
            <a:pPr indent="-304800" lvl="2" marL="1371600" rtl="0" algn="l">
              <a:spcBef>
                <a:spcPts val="1600"/>
              </a:spcBef>
              <a:spcAft>
                <a:spcPts val="1600"/>
              </a:spcAft>
              <a:buSzPts val="1200"/>
              <a:buChar char="■"/>
            </a:pPr>
            <a:r>
              <a:rPr lang="en-US"/>
              <a:t>Bring together people with common interests</a:t>
            </a:r>
            <a:endParaRPr/>
          </a:p>
        </p:txBody>
      </p:sp>
      <p:pic>
        <p:nvPicPr>
          <p:cNvPr id="100" name="Google Shape;100;p17"/>
          <p:cNvPicPr preferRelativeResize="0"/>
          <p:nvPr/>
        </p:nvPicPr>
        <p:blipFill rotWithShape="1">
          <a:blip r:embed="rId3">
            <a:alphaModFix/>
          </a:blip>
          <a:srcRect b="78822" l="19131" r="24569" t="10521"/>
          <a:stretch/>
        </p:blipFill>
        <p:spPr>
          <a:xfrm>
            <a:off x="4430950" y="1610042"/>
            <a:ext cx="4199400" cy="96427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/>
        </p:nvSpPr>
        <p:spPr>
          <a:xfrm>
            <a:off x="4751175" y="2522375"/>
            <a:ext cx="33726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(a) From </a:t>
            </a:r>
            <a:r>
              <a:rPr b="1" lang="en-US" sz="1800">
                <a:latin typeface="Junge"/>
                <a:ea typeface="Junge"/>
                <a:cs typeface="Junge"/>
                <a:sym typeface="Junge"/>
              </a:rPr>
              <a:t>circle</a:t>
            </a:r>
            <a:r>
              <a:rPr lang="en-US" sz="1800">
                <a:latin typeface="Junge"/>
                <a:ea typeface="Junge"/>
                <a:cs typeface="Junge"/>
                <a:sym typeface="Junge"/>
              </a:rPr>
              <a:t> to relation</a:t>
            </a:r>
            <a:endParaRPr sz="1800"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102" name="Google Shape;102;p17"/>
          <p:cNvPicPr preferRelativeResize="0"/>
          <p:nvPr/>
        </p:nvPicPr>
        <p:blipFill rotWithShape="1">
          <a:blip r:embed="rId3">
            <a:alphaModFix/>
          </a:blip>
          <a:srcRect b="11530" l="26337" r="24518" t="79547"/>
          <a:stretch/>
        </p:blipFill>
        <p:spPr>
          <a:xfrm>
            <a:off x="4522650" y="2863375"/>
            <a:ext cx="4164150" cy="91720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/>
        </p:nvSpPr>
        <p:spPr>
          <a:xfrm>
            <a:off x="4751175" y="3780583"/>
            <a:ext cx="41994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(b) From </a:t>
            </a:r>
            <a:r>
              <a:rPr b="1" lang="en-US" sz="1800">
                <a:latin typeface="Junge"/>
                <a:ea typeface="Junge"/>
                <a:cs typeface="Junge"/>
                <a:sym typeface="Junge"/>
              </a:rPr>
              <a:t>common</a:t>
            </a:r>
            <a:r>
              <a:rPr lang="en-US" sz="1800">
                <a:latin typeface="Junge"/>
                <a:ea typeface="Junge"/>
                <a:cs typeface="Junge"/>
                <a:sym typeface="Junge"/>
              </a:rPr>
              <a:t> </a:t>
            </a:r>
            <a:r>
              <a:rPr b="1" lang="en-US" sz="1800">
                <a:latin typeface="Junge"/>
                <a:ea typeface="Junge"/>
                <a:cs typeface="Junge"/>
                <a:sym typeface="Junge"/>
              </a:rPr>
              <a:t>activity</a:t>
            </a:r>
            <a:r>
              <a:rPr lang="en-US" sz="1800">
                <a:latin typeface="Junge"/>
                <a:ea typeface="Junge"/>
                <a:cs typeface="Junge"/>
                <a:sym typeface="Junge"/>
              </a:rPr>
              <a:t> to relation</a:t>
            </a:r>
            <a:endParaRPr sz="1800"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 rotWithShape="1">
          <a:blip r:embed="rId4">
            <a:alphaModFix/>
          </a:blip>
          <a:srcRect b="82105" l="29153" r="29336" t="9537"/>
          <a:stretch/>
        </p:blipFill>
        <p:spPr>
          <a:xfrm>
            <a:off x="4600225" y="4121583"/>
            <a:ext cx="4164150" cy="101712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/>
          <p:nvPr/>
        </p:nvSpPr>
        <p:spPr>
          <a:xfrm>
            <a:off x="4751175" y="5038792"/>
            <a:ext cx="41994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(c) From </a:t>
            </a:r>
            <a:r>
              <a:rPr b="1" lang="en-US" sz="1800">
                <a:latin typeface="Junge"/>
                <a:ea typeface="Junge"/>
                <a:cs typeface="Junge"/>
                <a:sym typeface="Junge"/>
              </a:rPr>
              <a:t>common</a:t>
            </a:r>
            <a:r>
              <a:rPr lang="en-US" sz="1800">
                <a:latin typeface="Junge"/>
                <a:ea typeface="Junge"/>
                <a:cs typeface="Junge"/>
                <a:sym typeface="Junge"/>
              </a:rPr>
              <a:t> </a:t>
            </a:r>
            <a:r>
              <a:rPr b="1" lang="en-US" sz="1800">
                <a:latin typeface="Junge"/>
                <a:ea typeface="Junge"/>
                <a:cs typeface="Junge"/>
                <a:sym typeface="Junge"/>
              </a:rPr>
              <a:t>relation</a:t>
            </a:r>
            <a:r>
              <a:rPr lang="en-US" sz="1800">
                <a:latin typeface="Junge"/>
                <a:ea typeface="Junge"/>
                <a:cs typeface="Junge"/>
                <a:sym typeface="Junge"/>
              </a:rPr>
              <a:t> to relation</a:t>
            </a:r>
            <a:endParaRPr sz="1800"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Psychological sources of ego network structure</a:t>
            </a:r>
            <a:endParaRPr/>
          </a:p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457200" y="1622771"/>
            <a:ext cx="4707600" cy="38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Ego network structure is constrained by psychological and cognitive characteristics of persons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How many people </a:t>
            </a:r>
            <a:r>
              <a:rPr i="1" lang="en-US"/>
              <a:t>can </a:t>
            </a:r>
            <a:r>
              <a:rPr lang="en-US"/>
              <a:t> you (actively) know?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/>
              <a:t>	</a:t>
            </a:r>
            <a:endParaRPr/>
          </a:p>
        </p:txBody>
      </p:sp>
      <p:sp>
        <p:nvSpPr>
          <p:cNvPr id="112" name="Google Shape;112;p18"/>
          <p:cNvSpPr txBox="1"/>
          <p:nvPr/>
        </p:nvSpPr>
        <p:spPr>
          <a:xfrm>
            <a:off x="5489100" y="4271271"/>
            <a:ext cx="31977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Ego network “layers” arranged hierarchically by size</a:t>
            </a:r>
            <a:endParaRPr sz="1800"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Psychological sources of ego network structure</a:t>
            </a:r>
            <a:endParaRPr/>
          </a:p>
        </p:txBody>
      </p:sp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457200" y="1622771"/>
            <a:ext cx="5116800" cy="38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Primates (including humans) optimized for group living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Social brain Hypothesis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Brain size ~ group size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Groups provide benefits...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But also costs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Forming intimate groups solves that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/>
              <a:t>	</a:t>
            </a:r>
            <a:endParaRPr/>
          </a:p>
        </p:txBody>
      </p:sp>
      <p:pic>
        <p:nvPicPr>
          <p:cNvPr id="119" name="Google Shape;119;p19"/>
          <p:cNvPicPr preferRelativeResize="0"/>
          <p:nvPr/>
        </p:nvPicPr>
        <p:blipFill rotWithShape="1">
          <a:blip r:embed="rId3">
            <a:alphaModFix/>
          </a:blip>
          <a:srcRect b="68813" l="29361" r="35476" t="7158"/>
          <a:stretch/>
        </p:blipFill>
        <p:spPr>
          <a:xfrm>
            <a:off x="5314225" y="1506458"/>
            <a:ext cx="3372575" cy="276481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/>
        </p:nvSpPr>
        <p:spPr>
          <a:xfrm>
            <a:off x="5489100" y="4271271"/>
            <a:ext cx="31977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Ego network “layers” arranged hierarchically by size</a:t>
            </a:r>
            <a:endParaRPr sz="1800"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Psychological sources of ego network structure</a:t>
            </a:r>
            <a:endParaRPr/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457200" y="1622771"/>
            <a:ext cx="5116800" cy="38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Different relationships entails different “maintenance costs”</a:t>
            </a:r>
            <a:endParaRPr/>
          </a:p>
          <a:p>
            <a:pPr indent="-304800" lvl="1" marL="914400" rtl="0" algn="l">
              <a:spcBef>
                <a:spcPts val="160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Costs determine the number of persons in each layer</a:t>
            </a:r>
            <a:endParaRPr/>
          </a:p>
          <a:p>
            <a:pPr indent="-304800" lvl="2" marL="1371600" rtl="0" algn="l">
              <a:spcBef>
                <a:spcPts val="160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Support clique (~ 4 - 5)</a:t>
            </a:r>
            <a:endParaRPr/>
          </a:p>
          <a:p>
            <a:pPr indent="-304800" lvl="2" marL="1371600" rtl="0" algn="l">
              <a:spcBef>
                <a:spcPts val="160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Sympathy group (~12 - 15)</a:t>
            </a:r>
            <a:endParaRPr/>
          </a:p>
          <a:p>
            <a:pPr indent="-304800" lvl="2" marL="1371600" rtl="0" algn="l">
              <a:spcBef>
                <a:spcPts val="160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Affinity group (~ 45 - 50)</a:t>
            </a:r>
            <a:endParaRPr/>
          </a:p>
          <a:p>
            <a:pPr indent="-304800" lvl="2" marL="1371600" rtl="0" algn="l">
              <a:spcBef>
                <a:spcPts val="160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Active Network (~120 - 150)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/>
              <a:t>	</a:t>
            </a:r>
            <a:endParaRPr/>
          </a:p>
        </p:txBody>
      </p:sp>
      <p:pic>
        <p:nvPicPr>
          <p:cNvPr id="127" name="Google Shape;127;p20"/>
          <p:cNvPicPr preferRelativeResize="0"/>
          <p:nvPr/>
        </p:nvPicPr>
        <p:blipFill rotWithShape="1">
          <a:blip r:embed="rId3">
            <a:alphaModFix/>
          </a:blip>
          <a:srcRect b="68813" l="29361" r="35476" t="7158"/>
          <a:stretch/>
        </p:blipFill>
        <p:spPr>
          <a:xfrm>
            <a:off x="5358775" y="1622783"/>
            <a:ext cx="3372575" cy="27648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8" name="Google Shape;128;p20"/>
          <p:cNvCxnSpPr/>
          <p:nvPr/>
        </p:nvCxnSpPr>
        <p:spPr>
          <a:xfrm flipH="1" rot="10800000">
            <a:off x="3636825" y="2904800"/>
            <a:ext cx="3108300" cy="19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9" name="Google Shape;129;p20"/>
          <p:cNvCxnSpPr/>
          <p:nvPr/>
        </p:nvCxnSpPr>
        <p:spPr>
          <a:xfrm flipH="1" rot="10800000">
            <a:off x="3918850" y="3280700"/>
            <a:ext cx="2868600" cy="44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0" name="Google Shape;130;p20"/>
          <p:cNvCxnSpPr/>
          <p:nvPr/>
        </p:nvCxnSpPr>
        <p:spPr>
          <a:xfrm flipH="1" rot="10800000">
            <a:off x="3755575" y="3681200"/>
            <a:ext cx="3132000" cy="15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1" name="Google Shape;131;p20"/>
          <p:cNvCxnSpPr/>
          <p:nvPr/>
        </p:nvCxnSpPr>
        <p:spPr>
          <a:xfrm flipH="1" rot="10800000">
            <a:off x="3972688" y="4082297"/>
            <a:ext cx="2766600" cy="56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Psychological sources of ego network structure</a:t>
            </a:r>
            <a:endParaRPr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457200" y="1622771"/>
            <a:ext cx="5116800" cy="38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Different relationships entails different “maintenance costs”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Each Layer has different functions (e.g. support, sociability, intimacy, etc.)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Support clique (~ 4 - 5)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Sympathy group (~12 - 15)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Affinity group (~ 45 - 50)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Active Network (~120 - 150)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/>
              <a:t>	</a:t>
            </a:r>
            <a:endParaRPr/>
          </a:p>
        </p:txBody>
      </p:sp>
      <p:graphicFrame>
        <p:nvGraphicFramePr>
          <p:cNvPr id="138" name="Google Shape;138;p21"/>
          <p:cNvGraphicFramePr/>
          <p:nvPr/>
        </p:nvGraphicFramePr>
        <p:xfrm>
          <a:off x="5574000" y="16227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{55215885-BB41-4CA2-B958-D61A952227E4}</a:tableStyleId>
              </a:tblPr>
              <a:tblGrid>
                <a:gridCol w="1253150"/>
                <a:gridCol w="1662575"/>
              </a:tblGrid>
              <a:tr h="27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Degree (1)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</a:tr>
              <a:tr h="275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Shannon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12.00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</a:tr>
              <a:tr h="275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Matt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18.00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</a:tr>
              <a:tr h="275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Megan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14.00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</a:tr>
              <a:tr h="275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Rebecca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7.00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</a:tr>
              <a:tr h="275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Amanda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16.00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</a:tr>
              <a:tr h="275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Amy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12.00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</a:tr>
              <a:tr h="275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Won Lee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13.00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</a:tr>
              <a:tr h="275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Coley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13.00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</a:tr>
              <a:tr h="275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Molly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9.00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</a:tr>
              <a:tr h="275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Ha Young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8.00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</a:tr>
              <a:tr h="24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</a:tr>
              <a:tr h="275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Average</a:t>
                      </a:r>
                      <a:endParaRPr b="1"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12.20</a:t>
                      </a:r>
                      <a:endParaRPr b="1"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Psychological sources of ego network structure</a:t>
            </a:r>
            <a:endParaRPr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457200" y="1622771"/>
            <a:ext cx="5116800" cy="38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Different relationships entails different “maintenance costs”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Each Layer has different functions (e.g. support, sociability, intimacy, etc.)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Support clique (~ 4 - 5)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Sympathy group (~12 - 15)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Affinity group (~ 45 - 50)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Active Network (~120 - 150)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/>
              <a:t>	</a:t>
            </a:r>
            <a:endParaRPr/>
          </a:p>
        </p:txBody>
      </p:sp>
      <p:graphicFrame>
        <p:nvGraphicFramePr>
          <p:cNvPr id="145" name="Google Shape;145;p22"/>
          <p:cNvGraphicFramePr/>
          <p:nvPr/>
        </p:nvGraphicFramePr>
        <p:xfrm>
          <a:off x="5574000" y="16227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{55215885-BB41-4CA2-B958-D61A952227E4}</a:tableStyleId>
              </a:tblPr>
              <a:tblGrid>
                <a:gridCol w="1253150"/>
                <a:gridCol w="1662575"/>
              </a:tblGrid>
              <a:tr h="275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Degree (1)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</a:tr>
              <a:tr h="275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Shannon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12.00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</a:tr>
              <a:tr h="275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Matt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18.00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</a:tr>
              <a:tr h="275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Megan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14.00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</a:tr>
              <a:tr h="275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Rebecca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7.00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</a:tr>
              <a:tr h="275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Amanda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16.00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</a:tr>
              <a:tr h="275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Amy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12.00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</a:tr>
              <a:tr h="275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Won Lee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13.00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</a:tr>
              <a:tr h="275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Coley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13.00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</a:tr>
              <a:tr h="275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Molly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9.00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</a:tr>
              <a:tr h="275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Ha Young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8.00</a:t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</a:tr>
              <a:tr h="24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</a:tr>
              <a:tr h="275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Average</a:t>
                      </a:r>
                      <a:endParaRPr b="1"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Junge"/>
                          <a:ea typeface="Junge"/>
                          <a:cs typeface="Junge"/>
                          <a:sym typeface="Junge"/>
                        </a:rPr>
                        <a:t>12.20</a:t>
                      </a:r>
                      <a:endParaRPr b="1" sz="1500">
                        <a:latin typeface="Junge"/>
                        <a:ea typeface="Junge"/>
                        <a:cs typeface="Junge"/>
                        <a:sym typeface="Junge"/>
                      </a:endParaRPr>
                    </a:p>
                  </a:txBody>
                  <a:tcPr marT="15875" marB="15875" marR="28575" marL="28575" anchor="b"/>
                </a:tc>
              </a:tr>
            </a:tbl>
          </a:graphicData>
        </a:graphic>
      </p:graphicFrame>
      <p:sp>
        <p:nvSpPr>
          <p:cNvPr id="146" name="Google Shape;146;p22"/>
          <p:cNvSpPr/>
          <p:nvPr/>
        </p:nvSpPr>
        <p:spPr>
          <a:xfrm>
            <a:off x="7620000" y="5007271"/>
            <a:ext cx="1066800" cy="4656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2"/>
          <p:cNvSpPr/>
          <p:nvPr/>
        </p:nvSpPr>
        <p:spPr>
          <a:xfrm>
            <a:off x="4007575" y="4186313"/>
            <a:ext cx="1453500" cy="3789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Psychological sources of ego network structure</a:t>
            </a:r>
            <a:endParaRPr/>
          </a:p>
        </p:txBody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457200" y="1622771"/>
            <a:ext cx="5116800" cy="38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3000"/>
              <a:buFont typeface="Junge"/>
              <a:buChar char="●"/>
            </a:pPr>
            <a:r>
              <a:rPr lang="en-US"/>
              <a:t>As we move “farther up” across layers…</a:t>
            </a:r>
            <a:endParaRPr/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Transitivity declines</a:t>
            </a:r>
            <a:endParaRPr/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Emotional closeness declines</a:t>
            </a:r>
            <a:endParaRPr/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Frequency of interaction declines</a:t>
            </a:r>
            <a:endParaRPr/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Social support declines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/>
              <a:t>	</a:t>
            </a:r>
            <a:endParaRPr/>
          </a:p>
        </p:txBody>
      </p:sp>
      <p:pic>
        <p:nvPicPr>
          <p:cNvPr id="154" name="Google Shape;154;p23"/>
          <p:cNvPicPr preferRelativeResize="0"/>
          <p:nvPr/>
        </p:nvPicPr>
        <p:blipFill rotWithShape="1">
          <a:blip r:embed="rId3">
            <a:alphaModFix/>
          </a:blip>
          <a:srcRect b="68813" l="29361" r="35476" t="7158"/>
          <a:stretch/>
        </p:blipFill>
        <p:spPr>
          <a:xfrm>
            <a:off x="5314225" y="1506458"/>
            <a:ext cx="3372575" cy="276481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3"/>
          <p:cNvSpPr txBox="1"/>
          <p:nvPr/>
        </p:nvSpPr>
        <p:spPr>
          <a:xfrm>
            <a:off x="5489100" y="4271271"/>
            <a:ext cx="31977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Ego network “layers” arranged hierarchically by size</a:t>
            </a:r>
            <a:endParaRPr sz="1800"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Are your networks “biased”? </a:t>
            </a:r>
            <a:endParaRPr/>
          </a:p>
        </p:txBody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457200" y="1622775"/>
            <a:ext cx="4507200" cy="39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How would you know?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And by how much?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Gender bias?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Racial/Ethnic bias?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Religious bias?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Education bias?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Age bias?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[...]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The Blau Effect: In the absence of bias networks should reflect population distributions</a:t>
            </a:r>
            <a:endParaRPr/>
          </a:p>
        </p:txBody>
      </p:sp>
      <p:pic>
        <p:nvPicPr>
          <p:cNvPr descr="PeterBlau.jpg" id="162" name="Google Shape;16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5450" y="1622771"/>
            <a:ext cx="2031541" cy="2783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Are your networks “biased”? </a:t>
            </a:r>
            <a:endParaRPr/>
          </a:p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457200" y="1622775"/>
            <a:ext cx="4420800" cy="39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The Blau Effect: In the absence of bias networks should reflect population distributions</a:t>
            </a:r>
            <a:endParaRPr/>
          </a:p>
        </p:txBody>
      </p:sp>
      <p:pic>
        <p:nvPicPr>
          <p:cNvPr descr="p11b.gif" id="169" name="Google Shape;16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800" y="1191483"/>
            <a:ext cx="2825750" cy="2087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rkan-fig17_001.jpg" id="170" name="Google Shape;17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7900" y="1692490"/>
            <a:ext cx="2515750" cy="2330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Are your networks “biased”? </a:t>
            </a:r>
            <a:endParaRPr/>
          </a:p>
        </p:txBody>
      </p:sp>
      <p:sp>
        <p:nvSpPr>
          <p:cNvPr id="176" name="Google Shape;176;p26"/>
          <p:cNvSpPr txBox="1"/>
          <p:nvPr>
            <p:ph idx="1" type="body"/>
          </p:nvPr>
        </p:nvSpPr>
        <p:spPr>
          <a:xfrm>
            <a:off x="457200" y="1622771"/>
            <a:ext cx="7566000" cy="39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Ego Network Bias:</a:t>
            </a:r>
            <a:endParaRPr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/>
              <a:t>B = (Observed Percentage) - (Expected Percentage)</a:t>
            </a:r>
            <a:endParaRPr/>
          </a:p>
        </p:txBody>
      </p:sp>
      <p:pic>
        <p:nvPicPr>
          <p:cNvPr descr="p11b.gif" id="177" name="Google Shape;17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813708"/>
            <a:ext cx="2825750" cy="2087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rkan-fig17_001.jpg" id="178" name="Google Shape;17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7900" y="1692490"/>
            <a:ext cx="2515750" cy="2330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Are your networks “biased”? </a:t>
            </a:r>
            <a:endParaRPr/>
          </a:p>
        </p:txBody>
      </p:sp>
      <p:sp>
        <p:nvSpPr>
          <p:cNvPr id="184" name="Google Shape;184;p27"/>
          <p:cNvSpPr txBox="1"/>
          <p:nvPr>
            <p:ph idx="1" type="body"/>
          </p:nvPr>
        </p:nvSpPr>
        <p:spPr>
          <a:xfrm>
            <a:off x="457200" y="1622771"/>
            <a:ext cx="5654100" cy="39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Some “structural” reasons for why your networks look the way they do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Group size paradox: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Minorities will have more diverse networks than majorities even if everybody prefers to be with similar people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Why?</a:t>
            </a:r>
            <a:endParaRPr/>
          </a:p>
        </p:txBody>
      </p:sp>
      <p:pic>
        <p:nvPicPr>
          <p:cNvPr descr="PeterBlau.jpg" id="185" name="Google Shape;18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8950" y="2214771"/>
            <a:ext cx="2031541" cy="2783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Are your networks “biased”? </a:t>
            </a:r>
            <a:endParaRPr/>
          </a:p>
        </p:txBody>
      </p:sp>
      <p:sp>
        <p:nvSpPr>
          <p:cNvPr id="191" name="Google Shape;191;p28"/>
          <p:cNvSpPr txBox="1"/>
          <p:nvPr>
            <p:ph idx="1" type="body"/>
          </p:nvPr>
        </p:nvSpPr>
        <p:spPr>
          <a:xfrm>
            <a:off x="457200" y="1622771"/>
            <a:ext cx="5654100" cy="39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Some “structural” reasons for why your networks look the way they do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Multiform Heterogeneity/Homogeneity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Your networks can get more/less diverse even if you prefer less/more diversity when you select on an attribute that is correlated with another.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US"/>
              <a:t>Why?</a:t>
            </a:r>
            <a:endParaRPr/>
          </a:p>
        </p:txBody>
      </p:sp>
      <p:pic>
        <p:nvPicPr>
          <p:cNvPr descr="PeterBlau.jpg" id="192" name="Google Shape;19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8950" y="2214771"/>
            <a:ext cx="2031541" cy="2783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Are your networks “biased”? </a:t>
            </a:r>
            <a:endParaRPr/>
          </a:p>
        </p:txBody>
      </p:sp>
      <p:sp>
        <p:nvSpPr>
          <p:cNvPr id="198" name="Google Shape;198;p29"/>
          <p:cNvSpPr txBox="1"/>
          <p:nvPr>
            <p:ph idx="1" type="body"/>
          </p:nvPr>
        </p:nvSpPr>
        <p:spPr>
          <a:xfrm>
            <a:off x="457200" y="1622771"/>
            <a:ext cx="6318900" cy="39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For instance, the Racial Diversity of Catholic Networks will be “skewed” in predictable ways:</a:t>
            </a:r>
            <a:endParaRPr sz="2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PeterBlau.jpg" id="199" name="Google Shape;19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8950" y="2214771"/>
            <a:ext cx="2031541" cy="27832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0040817_1.gif" id="200" name="Google Shape;20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5713" y="2876479"/>
            <a:ext cx="3884895" cy="2648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Are your networks “biased”? </a:t>
            </a:r>
            <a:endParaRPr/>
          </a:p>
        </p:txBody>
      </p:sp>
      <p:sp>
        <p:nvSpPr>
          <p:cNvPr id="206" name="Google Shape;206;p30"/>
          <p:cNvSpPr txBox="1"/>
          <p:nvPr>
            <p:ph idx="1" type="body"/>
          </p:nvPr>
        </p:nvSpPr>
        <p:spPr>
          <a:xfrm>
            <a:off x="457200" y="1622771"/>
            <a:ext cx="7566000" cy="39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2" marL="1371600" rtl="0" algn="l">
              <a:spcBef>
                <a:spcPts val="160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Ego Network Bias:</a:t>
            </a:r>
            <a:endParaRPr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/>
              <a:t>B = (1 - Exp. %) - (1 - Obs. %)</a:t>
            </a:r>
            <a:endParaRPr/>
          </a:p>
        </p:txBody>
      </p:sp>
      <p:pic>
        <p:nvPicPr>
          <p:cNvPr descr="American Sociological Review-2014-Smith-432-56_Page_09.png" id="207" name="Google Shape;207;p30"/>
          <p:cNvPicPr preferRelativeResize="0"/>
          <p:nvPr/>
        </p:nvPicPr>
        <p:blipFill rotWithShape="1">
          <a:blip r:embed="rId3">
            <a:alphaModFix/>
          </a:blip>
          <a:srcRect b="60476" l="0" r="0" t="8368"/>
          <a:stretch/>
        </p:blipFill>
        <p:spPr>
          <a:xfrm>
            <a:off x="457200" y="1622771"/>
            <a:ext cx="8229600" cy="3125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Are your networks “biased”? </a:t>
            </a:r>
            <a:endParaRPr/>
          </a:p>
        </p:txBody>
      </p:sp>
      <p:sp>
        <p:nvSpPr>
          <p:cNvPr id="213" name="Google Shape;213;p31"/>
          <p:cNvSpPr txBox="1"/>
          <p:nvPr>
            <p:ph idx="1" type="body"/>
          </p:nvPr>
        </p:nvSpPr>
        <p:spPr>
          <a:xfrm>
            <a:off x="457200" y="1622771"/>
            <a:ext cx="7566000" cy="39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2" marL="1371600" rtl="0" algn="l">
              <a:spcBef>
                <a:spcPts val="160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Ego Network Bias:</a:t>
            </a:r>
            <a:endParaRPr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/>
              <a:t>B = Obs(|Ego - Alter|) - Exp(|Ego - Alter|)</a:t>
            </a:r>
            <a:endParaRPr/>
          </a:p>
        </p:txBody>
      </p:sp>
      <p:pic>
        <p:nvPicPr>
          <p:cNvPr descr="American Sociological Review-2014-Smith-432-56_Page_09.png" id="214" name="Google Shape;214;p31"/>
          <p:cNvPicPr preferRelativeResize="0"/>
          <p:nvPr/>
        </p:nvPicPr>
        <p:blipFill rotWithShape="1">
          <a:blip r:embed="rId3">
            <a:alphaModFix/>
          </a:blip>
          <a:srcRect b="43693" l="0" r="0" t="39441"/>
          <a:stretch/>
        </p:blipFill>
        <p:spPr>
          <a:xfrm>
            <a:off x="358125" y="2036604"/>
            <a:ext cx="8427750" cy="1732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Are your networks “biased”? </a:t>
            </a:r>
            <a:endParaRPr/>
          </a:p>
        </p:txBody>
      </p:sp>
      <p:sp>
        <p:nvSpPr>
          <p:cNvPr id="220" name="Google Shape;220;p32"/>
          <p:cNvSpPr txBox="1"/>
          <p:nvPr>
            <p:ph idx="1" type="body"/>
          </p:nvPr>
        </p:nvSpPr>
        <p:spPr>
          <a:xfrm>
            <a:off x="457200" y="1622771"/>
            <a:ext cx="7566000" cy="39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2" marL="1371600" rtl="0" algn="l">
              <a:spcBef>
                <a:spcPts val="160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Ego Network Bias:</a:t>
            </a:r>
            <a:endParaRPr/>
          </a:p>
          <a:p>
            <a:pPr indent="-304800" lvl="3" marL="18288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/>
              <a:t>B = Obs(|Ego - Alter|) - Exp(|Ego - Alter|)</a:t>
            </a:r>
            <a:endParaRPr/>
          </a:p>
        </p:txBody>
      </p:sp>
      <p:pic>
        <p:nvPicPr>
          <p:cNvPr descr="popdis2.gif" id="221" name="Google Shape;22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6137" y="1718269"/>
            <a:ext cx="3906771" cy="3014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Eliciting Personal Networks</a:t>
            </a:r>
            <a:endParaRPr/>
          </a:p>
        </p:txBody>
      </p:sp>
      <p:sp>
        <p:nvSpPr>
          <p:cNvPr id="227" name="Google Shape;227;p33"/>
          <p:cNvSpPr txBox="1"/>
          <p:nvPr>
            <p:ph idx="1" type="body"/>
          </p:nvPr>
        </p:nvSpPr>
        <p:spPr>
          <a:xfrm>
            <a:off x="457200" y="1768188"/>
            <a:ext cx="4707600" cy="371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Junge"/>
              <a:buChar char="●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Kinds of relations in ego-networks</a:t>
            </a:r>
            <a:r>
              <a:rPr lang="en-US"/>
              <a:t>*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b="1" lang="en-US" sz="2000">
                <a:latin typeface="Junge"/>
                <a:ea typeface="Junge"/>
                <a:cs typeface="Junge"/>
                <a:sym typeface="Junge"/>
              </a:rPr>
              <a:t>Cultural Label for Relation 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(Mother, Daughter, Neighbor, Co-worker, Acquaintance)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b="1" lang="en-US" sz="2000">
                <a:latin typeface="Junge"/>
                <a:ea typeface="Junge"/>
                <a:cs typeface="Junge"/>
                <a:sym typeface="Junge"/>
              </a:rPr>
              <a:t>Subjective Closeness 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(Close, distant, emotional, exciting)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Type of content </a:t>
            </a:r>
            <a:r>
              <a:rPr b="1" lang="en-US" sz="2000">
                <a:latin typeface="Junge"/>
                <a:ea typeface="Junge"/>
                <a:cs typeface="Junge"/>
                <a:sym typeface="Junge"/>
              </a:rPr>
              <a:t>exchanged 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(Material, Emotional, Advice, information, sexual favors)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2" marL="1371600" rtl="0" algn="l">
              <a:spcBef>
                <a:spcPts val="1600"/>
              </a:spcBef>
              <a:spcAft>
                <a:spcPts val="1600"/>
              </a:spcAft>
              <a:buSzPts val="2000"/>
              <a:buChar char="■"/>
            </a:pPr>
            <a:r>
              <a:rPr i="0" lang="en-US"/>
              <a:t>*Fischer (1982: 35)</a:t>
            </a:r>
            <a:endParaRPr i="0"/>
          </a:p>
        </p:txBody>
      </p:sp>
      <p:pic>
        <p:nvPicPr>
          <p:cNvPr descr="KijMbEyiq.jpeg" id="228" name="Google Shape;22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9700" y="1650208"/>
            <a:ext cx="3080916" cy="20539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amily-clip-art-jcxKx4KcE.png" id="229" name="Google Shape;22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4975" y="3598333"/>
            <a:ext cx="2638771" cy="1759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generators</a:t>
            </a:r>
            <a:endParaRPr/>
          </a:p>
        </p:txBody>
      </p:sp>
      <p:sp>
        <p:nvSpPr>
          <p:cNvPr id="235" name="Google Shape;235;p34"/>
          <p:cNvSpPr txBox="1"/>
          <p:nvPr>
            <p:ph idx="1" type="body"/>
          </p:nvPr>
        </p:nvSpPr>
        <p:spPr>
          <a:xfrm>
            <a:off x="457200" y="1622771"/>
            <a:ext cx="4494600" cy="38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Junge"/>
              <a:buChar char="●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Primary methodological tool in survey based research.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●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Almost infinite variety: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"Important matters" (GSS 1985, 2004)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Go to for personal/professional advice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"Have over for dinner" (Laumann 1966)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Ask for favor/borrow money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"Feel close to"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1600"/>
              </a:spcAft>
              <a:buSzPts val="20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etc., etc., etc. </a:t>
            </a:r>
            <a:endParaRPr sz="2000"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236" name="Google Shape;23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1733" y="1422363"/>
            <a:ext cx="3112548" cy="4050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A Typology of Personal Relations</a:t>
            </a:r>
            <a:r>
              <a:rPr baseline="30000" lang="en-US" sz="3600"/>
              <a:t>1</a:t>
            </a:r>
            <a:endParaRPr baseline="30000" sz="3600"/>
          </a:p>
        </p:txBody>
      </p:sp>
      <p:sp>
        <p:nvSpPr>
          <p:cNvPr id="242" name="Google Shape;242;p35"/>
          <p:cNvSpPr txBox="1"/>
          <p:nvPr>
            <p:ph idx="1" type="body"/>
          </p:nvPr>
        </p:nvSpPr>
        <p:spPr>
          <a:xfrm>
            <a:off x="457200" y="1622771"/>
            <a:ext cx="4526400" cy="38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Junge"/>
              <a:buChar char="●"/>
            </a:pPr>
            <a:r>
              <a:rPr b="1" lang="en-US" sz="2200">
                <a:latin typeface="Junge"/>
                <a:ea typeface="Junge"/>
                <a:cs typeface="Junge"/>
                <a:sym typeface="Junge"/>
              </a:rPr>
              <a:t>Role-Relation Approach</a:t>
            </a:r>
            <a:endParaRPr b="1" sz="2200">
              <a:latin typeface="Junge"/>
              <a:ea typeface="Junge"/>
              <a:cs typeface="Junge"/>
              <a:sym typeface="Junge"/>
            </a:endParaRPr>
          </a:p>
          <a:p>
            <a:pPr indent="-368300" lvl="1" marL="914400" rtl="0" algn="l">
              <a:spcBef>
                <a:spcPts val="1600"/>
              </a:spcBef>
              <a:spcAft>
                <a:spcPts val="0"/>
              </a:spcAft>
              <a:buSzPts val="2200"/>
              <a:buFont typeface="Junge"/>
              <a:buChar char="○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Neighbors, Friends, Kin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Font typeface="Junge"/>
              <a:buChar char="●"/>
            </a:pPr>
            <a:r>
              <a:rPr b="1" lang="en-US" sz="2200">
                <a:latin typeface="Junge"/>
                <a:ea typeface="Junge"/>
                <a:cs typeface="Junge"/>
                <a:sym typeface="Junge"/>
              </a:rPr>
              <a:t>Interaction Approach</a:t>
            </a:r>
            <a:endParaRPr b="1" sz="2200">
              <a:latin typeface="Junge"/>
              <a:ea typeface="Junge"/>
              <a:cs typeface="Junge"/>
              <a:sym typeface="Junge"/>
            </a:endParaRPr>
          </a:p>
          <a:p>
            <a:pPr indent="-368300" lvl="1" marL="914400" rtl="0" algn="l">
              <a:spcBef>
                <a:spcPts val="1600"/>
              </a:spcBef>
              <a:spcAft>
                <a:spcPts val="0"/>
              </a:spcAft>
              <a:buSzPts val="2200"/>
              <a:buFont typeface="Junge"/>
              <a:buChar char="○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Frequency/Duration of Contact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Font typeface="Junge"/>
              <a:buChar char="●"/>
            </a:pPr>
            <a:r>
              <a:rPr b="1" lang="en-US" sz="2200">
                <a:latin typeface="Junge"/>
                <a:ea typeface="Junge"/>
                <a:cs typeface="Junge"/>
                <a:sym typeface="Junge"/>
              </a:rPr>
              <a:t>Affective Approach</a:t>
            </a:r>
            <a:endParaRPr b="1" sz="2200">
              <a:latin typeface="Junge"/>
              <a:ea typeface="Junge"/>
              <a:cs typeface="Junge"/>
              <a:sym typeface="Junge"/>
            </a:endParaRPr>
          </a:p>
          <a:p>
            <a:pPr indent="-368300" lvl="1" marL="914400" rtl="0" algn="l">
              <a:spcBef>
                <a:spcPts val="1600"/>
              </a:spcBef>
              <a:spcAft>
                <a:spcPts val="0"/>
              </a:spcAft>
              <a:buSzPts val="2200"/>
              <a:buFont typeface="Junge"/>
              <a:buChar char="○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Significant/Close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Font typeface="Junge"/>
              <a:buChar char="●"/>
            </a:pPr>
            <a:r>
              <a:rPr b="1" lang="en-US" sz="2200">
                <a:latin typeface="Junge"/>
                <a:ea typeface="Junge"/>
                <a:cs typeface="Junge"/>
                <a:sym typeface="Junge"/>
              </a:rPr>
              <a:t>Exchange Approach</a:t>
            </a:r>
            <a:endParaRPr b="1" sz="2200">
              <a:latin typeface="Junge"/>
              <a:ea typeface="Junge"/>
              <a:cs typeface="Junge"/>
              <a:sym typeface="Junge"/>
            </a:endParaRPr>
          </a:p>
          <a:p>
            <a:pPr indent="-368300" lvl="1" marL="914400" rtl="0" algn="l">
              <a:spcBef>
                <a:spcPts val="1600"/>
              </a:spcBef>
              <a:spcAft>
                <a:spcPts val="0"/>
              </a:spcAft>
              <a:buSzPts val="2200"/>
              <a:buFont typeface="Junge"/>
              <a:buChar char="○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Information, favors, resources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22222"/>
              </a:solidFill>
              <a:highlight>
                <a:srgbClr val="FFFFFF"/>
              </a:highlight>
              <a:latin typeface="Junge"/>
              <a:ea typeface="Junge"/>
              <a:cs typeface="Junge"/>
              <a:sym typeface="Junge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22222"/>
              </a:solidFill>
              <a:highlight>
                <a:srgbClr val="FFFFFF"/>
              </a:highlight>
              <a:latin typeface="Junge"/>
              <a:ea typeface="Junge"/>
              <a:cs typeface="Junge"/>
              <a:sym typeface="Junge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000">
                <a:solidFill>
                  <a:srgbClr val="222222"/>
                </a:solidFill>
                <a:highlight>
                  <a:srgbClr val="FFFFFF"/>
                </a:highlight>
                <a:latin typeface="Junge"/>
                <a:ea typeface="Junge"/>
                <a:cs typeface="Junge"/>
                <a:sym typeface="Junge"/>
              </a:rPr>
              <a:t>[1] Marin, A., &amp; Hampton, K. N. (2007). Simplifying the Personal Network Name Generator Alternatives to Traditional Multiple and Single Name Generators.</a:t>
            </a:r>
            <a:r>
              <a:rPr i="1" lang="en-US" sz="1000">
                <a:solidFill>
                  <a:srgbClr val="222222"/>
                </a:solidFill>
                <a:highlight>
                  <a:srgbClr val="FFFFFF"/>
                </a:highlight>
                <a:latin typeface="Junge"/>
                <a:ea typeface="Junge"/>
                <a:cs typeface="Junge"/>
                <a:sym typeface="Junge"/>
              </a:rPr>
              <a:t>Field Methods</a:t>
            </a:r>
            <a:r>
              <a:rPr lang="en-US" sz="1000">
                <a:solidFill>
                  <a:srgbClr val="222222"/>
                </a:solidFill>
                <a:highlight>
                  <a:srgbClr val="FFFFFF"/>
                </a:highlight>
                <a:latin typeface="Junge"/>
                <a:ea typeface="Junge"/>
                <a:cs typeface="Junge"/>
                <a:sym typeface="Junge"/>
              </a:rPr>
              <a:t>, </a:t>
            </a:r>
            <a:r>
              <a:rPr i="1" lang="en-US" sz="1000">
                <a:solidFill>
                  <a:srgbClr val="222222"/>
                </a:solidFill>
                <a:highlight>
                  <a:srgbClr val="FFFFFF"/>
                </a:highlight>
                <a:latin typeface="Junge"/>
                <a:ea typeface="Junge"/>
                <a:cs typeface="Junge"/>
                <a:sym typeface="Junge"/>
              </a:rPr>
              <a:t>19</a:t>
            </a:r>
            <a:r>
              <a:rPr lang="en-US" sz="1000">
                <a:solidFill>
                  <a:srgbClr val="222222"/>
                </a:solidFill>
                <a:highlight>
                  <a:srgbClr val="FFFFFF"/>
                </a:highlight>
                <a:latin typeface="Junge"/>
                <a:ea typeface="Junge"/>
                <a:cs typeface="Junge"/>
                <a:sym typeface="Junge"/>
              </a:rPr>
              <a:t>(2), 163-193.</a:t>
            </a:r>
            <a:endParaRPr sz="2000"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243" name="Google Shape;24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1733" y="1422363"/>
            <a:ext cx="3112548" cy="4050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Methodological Issues</a:t>
            </a:r>
            <a:endParaRPr baseline="30000" sz="3600"/>
          </a:p>
        </p:txBody>
      </p:sp>
      <p:sp>
        <p:nvSpPr>
          <p:cNvPr id="249" name="Google Shape;249;p36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Junge"/>
              <a:buChar char="●"/>
            </a:pPr>
            <a:r>
              <a:rPr b="1" lang="en-US" sz="2200">
                <a:latin typeface="Junge"/>
                <a:ea typeface="Junge"/>
                <a:cs typeface="Junge"/>
                <a:sym typeface="Junge"/>
              </a:rPr>
              <a:t>Role-Relation Approach</a:t>
            </a:r>
            <a:endParaRPr b="1" sz="2200">
              <a:latin typeface="Junge"/>
              <a:ea typeface="Junge"/>
              <a:cs typeface="Junge"/>
              <a:sym typeface="Junge"/>
            </a:endParaRPr>
          </a:p>
          <a:p>
            <a:pPr indent="-368300" lvl="1" marL="914400" rtl="0" algn="l">
              <a:spcBef>
                <a:spcPts val="1600"/>
              </a:spcBef>
              <a:spcAft>
                <a:spcPts val="0"/>
              </a:spcAft>
              <a:buSzPts val="2200"/>
              <a:buFont typeface="Junge"/>
              <a:buChar char="○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Problem: low reliability, cultural specificity issues, cross-respondent heterogeneity in label interpretation (what is a "friend"?)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Font typeface="Junge"/>
              <a:buChar char="●"/>
            </a:pPr>
            <a:r>
              <a:rPr b="1" lang="en-US" sz="2200">
                <a:latin typeface="Junge"/>
                <a:ea typeface="Junge"/>
                <a:cs typeface="Junge"/>
                <a:sym typeface="Junge"/>
              </a:rPr>
              <a:t>Interaction Approach</a:t>
            </a:r>
            <a:endParaRPr b="1" sz="2200">
              <a:latin typeface="Junge"/>
              <a:ea typeface="Junge"/>
              <a:cs typeface="Junge"/>
              <a:sym typeface="Junge"/>
            </a:endParaRPr>
          </a:p>
          <a:p>
            <a:pPr indent="-368300" lvl="1" marL="914400" rtl="0" algn="l">
              <a:spcBef>
                <a:spcPts val="1600"/>
              </a:spcBef>
              <a:spcAft>
                <a:spcPts val="0"/>
              </a:spcAft>
              <a:buSzPts val="2200"/>
              <a:buFont typeface="Junge"/>
              <a:buChar char="○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Frequency </a:t>
            </a:r>
            <a:r>
              <a:rPr b="1" lang="en-US" sz="2200">
                <a:latin typeface="Junge"/>
                <a:ea typeface="Junge"/>
                <a:cs typeface="Junge"/>
                <a:sym typeface="Junge"/>
              </a:rPr>
              <a:t>does not equal</a:t>
            </a:r>
            <a:r>
              <a:rPr lang="en-US" sz="2200">
                <a:latin typeface="Junge"/>
                <a:ea typeface="Junge"/>
                <a:cs typeface="Junge"/>
                <a:sym typeface="Junge"/>
              </a:rPr>
              <a:t> importance/closeness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Font typeface="Junge"/>
              <a:buChar char="●"/>
            </a:pPr>
            <a:r>
              <a:rPr b="1" lang="en-US" sz="2200">
                <a:latin typeface="Junge"/>
                <a:ea typeface="Junge"/>
                <a:cs typeface="Junge"/>
                <a:sym typeface="Junge"/>
              </a:rPr>
              <a:t>Affective Approach</a:t>
            </a:r>
            <a:endParaRPr b="1" sz="2200">
              <a:latin typeface="Junge"/>
              <a:ea typeface="Junge"/>
              <a:cs typeface="Junge"/>
              <a:sym typeface="Junge"/>
            </a:endParaRPr>
          </a:p>
          <a:p>
            <a:pPr indent="-368300" lvl="1" marL="914400" rtl="0" algn="l">
              <a:spcBef>
                <a:spcPts val="1600"/>
              </a:spcBef>
              <a:spcAft>
                <a:spcPts val="0"/>
              </a:spcAft>
              <a:buSzPts val="2200"/>
              <a:buFont typeface="Junge"/>
              <a:buChar char="○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Same reliability issues as role-relation items but useful for eliciting strong or subjectively significant  ties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Font typeface="Junge"/>
              <a:buChar char="●"/>
            </a:pPr>
            <a:r>
              <a:rPr b="1" lang="en-US" sz="2200">
                <a:latin typeface="Junge"/>
                <a:ea typeface="Junge"/>
                <a:cs typeface="Junge"/>
                <a:sym typeface="Junge"/>
              </a:rPr>
              <a:t>Exchange Approach</a:t>
            </a:r>
            <a:endParaRPr b="1" sz="2200">
              <a:latin typeface="Junge"/>
              <a:ea typeface="Junge"/>
              <a:cs typeface="Junge"/>
              <a:sym typeface="Junge"/>
            </a:endParaRPr>
          </a:p>
          <a:p>
            <a:pPr indent="-368300" lvl="1" marL="914400" rtl="0" algn="l">
              <a:spcBef>
                <a:spcPts val="1600"/>
              </a:spcBef>
              <a:spcAft>
                <a:spcPts val="0"/>
              </a:spcAft>
              <a:buSzPts val="2200"/>
              <a:buFont typeface="Junge"/>
              <a:buChar char="○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Less reliability problems, useful for social capital studies, but not appropriate for all purposes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200"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interpreters</a:t>
            </a:r>
            <a:endParaRPr/>
          </a:p>
        </p:txBody>
      </p:sp>
      <p:sp>
        <p:nvSpPr>
          <p:cNvPr id="255" name="Google Shape;255;p37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Junge"/>
              <a:buChar char="●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Follow up questions designed to elicit information on named alters.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Socio-demographic characteristics of alter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2" marL="13716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■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Gender, Age, Race, Years of Education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Role-relations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Subjective feelings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2" marL="13716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■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Loving, exciting, significant (Zablocki)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Exchanges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Relationship "context" (focus, see Feld 1982)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2" marL="13716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■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Meet at church, work, voluntary association, etc.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b="1" lang="en-US" sz="2000">
                <a:latin typeface="Junge"/>
                <a:ea typeface="Junge"/>
                <a:cs typeface="Junge"/>
                <a:sym typeface="Junge"/>
              </a:rPr>
              <a:t>Alter's relationship with the rest of ego's neighbors</a:t>
            </a:r>
            <a:endParaRPr b="1" sz="2000">
              <a:latin typeface="Junge"/>
              <a:ea typeface="Junge"/>
              <a:cs typeface="Junge"/>
              <a:sym typeface="Junge"/>
            </a:endParaRPr>
          </a:p>
          <a:p>
            <a:pPr indent="-355600" lvl="2" marL="13716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■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Does alter </a:t>
            </a:r>
            <a:r>
              <a:rPr i="1" lang="en-US" sz="2000">
                <a:latin typeface="Junge"/>
                <a:ea typeface="Junge"/>
                <a:cs typeface="Junge"/>
                <a:sym typeface="Junge"/>
              </a:rPr>
              <a:t>k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 know alter </a:t>
            </a:r>
            <a:r>
              <a:rPr i="1" lang="en-US" sz="2000">
                <a:latin typeface="Junge"/>
                <a:ea typeface="Junge"/>
                <a:cs typeface="Junge"/>
                <a:sym typeface="Junge"/>
              </a:rPr>
              <a:t>i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?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2" marL="13716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■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Are they </a:t>
            </a:r>
            <a:r>
              <a:rPr i="1" lang="en-US" sz="2000">
                <a:latin typeface="Junge"/>
                <a:ea typeface="Junge"/>
                <a:cs typeface="Junge"/>
                <a:sym typeface="Junge"/>
              </a:rPr>
              <a:t>close 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or just </a:t>
            </a:r>
            <a:r>
              <a:rPr i="1" lang="en-US" sz="2000">
                <a:latin typeface="Junge"/>
                <a:ea typeface="Junge"/>
                <a:cs typeface="Junge"/>
                <a:sym typeface="Junge"/>
              </a:rPr>
              <a:t>acquaintances</a:t>
            </a:r>
            <a:r>
              <a:rPr lang="en-US" sz="2000">
                <a:latin typeface="Junge"/>
                <a:ea typeface="Junge"/>
                <a:cs typeface="Junge"/>
                <a:sym typeface="Junge"/>
              </a:rPr>
              <a:t>?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Position Generators</a:t>
            </a:r>
            <a:endParaRPr/>
          </a:p>
        </p:txBody>
      </p:sp>
      <p:sp>
        <p:nvSpPr>
          <p:cNvPr id="261" name="Google Shape;261;p38"/>
          <p:cNvSpPr txBox="1"/>
          <p:nvPr>
            <p:ph idx="1" type="body"/>
          </p:nvPr>
        </p:nvSpPr>
        <p:spPr>
          <a:xfrm>
            <a:off x="457200" y="1497354"/>
            <a:ext cx="5328900" cy="4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480"/>
              </a:spcBef>
              <a:spcAft>
                <a:spcPts val="0"/>
              </a:spcAft>
              <a:buSzPts val="2000"/>
              <a:buFont typeface="Junge"/>
              <a:buChar char="●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Simple, easily understood item.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●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"Do you know/are close to anybody who is a/an"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i="1" lang="en-US" sz="2000">
                <a:latin typeface="Junge"/>
                <a:ea typeface="Junge"/>
                <a:cs typeface="Junge"/>
                <a:sym typeface="Junge"/>
              </a:rPr>
              <a:t>Doctor, Lawyer, Teacher, Truck Driver, etc.</a:t>
            </a:r>
            <a:endParaRPr i="1" sz="2000">
              <a:latin typeface="Junge"/>
              <a:ea typeface="Junge"/>
              <a:cs typeface="Junge"/>
              <a:sym typeface="Junge"/>
            </a:endParaRPr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●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A rather under-utilized method.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●"/>
            </a:pPr>
            <a:r>
              <a:rPr lang="en-US" sz="2000">
                <a:latin typeface="Junge"/>
                <a:ea typeface="Junge"/>
                <a:cs typeface="Junge"/>
                <a:sym typeface="Junge"/>
              </a:rPr>
              <a:t>We can then calculate features of the respondent's "position ego-network" using exogenous information on the occupational label</a:t>
            </a:r>
            <a:endParaRPr sz="20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1600">
                <a:latin typeface="Junge"/>
                <a:ea typeface="Junge"/>
                <a:cs typeface="Junge"/>
                <a:sym typeface="Junge"/>
              </a:rPr>
              <a:t>Average occupational prestige, SEI score, etc.</a:t>
            </a:r>
            <a:endParaRPr sz="16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1600">
                <a:latin typeface="Junge"/>
                <a:ea typeface="Junge"/>
                <a:cs typeface="Junge"/>
                <a:sym typeface="Junge"/>
              </a:rPr>
              <a:t>Standard deviation (social diversity of contacts)</a:t>
            </a:r>
            <a:endParaRPr sz="16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1600"/>
              </a:spcAft>
              <a:buSzPts val="2000"/>
              <a:buFont typeface="Junge"/>
              <a:buChar char="○"/>
            </a:pPr>
            <a:r>
              <a:rPr lang="en-US" sz="1600">
                <a:latin typeface="Junge"/>
                <a:ea typeface="Junge"/>
                <a:cs typeface="Junge"/>
                <a:sym typeface="Junge"/>
              </a:rPr>
              <a:t>"Gendered versions" (how many men/women do you know who are a/an" (Erickson 2004)</a:t>
            </a:r>
            <a:endParaRPr sz="1600">
              <a:latin typeface="Junge"/>
              <a:ea typeface="Junge"/>
              <a:cs typeface="Junge"/>
              <a:sym typeface="Junge"/>
            </a:endParaRPr>
          </a:p>
        </p:txBody>
      </p:sp>
      <p:pic>
        <p:nvPicPr>
          <p:cNvPr id="262" name="Google Shape;26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9000" y="2161256"/>
            <a:ext cx="2587516" cy="2037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Position Generators</a:t>
            </a:r>
            <a:endParaRPr/>
          </a:p>
        </p:txBody>
      </p:sp>
      <p:sp>
        <p:nvSpPr>
          <p:cNvPr id="268" name="Google Shape;268;p39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Junge"/>
              <a:buChar char="●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Advantages: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High criterion and face validity (e.g. Lin 1999)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Quick and dirty (not lengthy)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Occupational labels are easily understood by informants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Easily standardized (occupational census codes)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Captures lots of information with minimal strain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Ideal for studies of social capital and access to resources (Lin and Dumin 1986)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Good measure of an individual's relational position in the occupational structure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Resource Generators</a:t>
            </a:r>
            <a:endParaRPr/>
          </a:p>
        </p:txBody>
      </p:sp>
      <p:sp>
        <p:nvSpPr>
          <p:cNvPr id="274" name="Google Shape;274;p40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Junge"/>
              <a:buChar char="●"/>
            </a:pPr>
            <a:r>
              <a:rPr lang="en-US" sz="2400">
                <a:latin typeface="Junge"/>
                <a:ea typeface="Junge"/>
                <a:cs typeface="Junge"/>
                <a:sym typeface="Junge"/>
              </a:rPr>
              <a:t>"Resource Generators" (Van Der Gaag and Snijders 2005, </a:t>
            </a:r>
            <a:r>
              <a:rPr i="1" lang="en-US" sz="2400">
                <a:latin typeface="Junge"/>
                <a:ea typeface="Junge"/>
                <a:cs typeface="Junge"/>
                <a:sym typeface="Junge"/>
              </a:rPr>
              <a:t>Social Networks</a:t>
            </a:r>
            <a:r>
              <a:rPr lang="en-US" sz="2400">
                <a:latin typeface="Junge"/>
                <a:ea typeface="Junge"/>
                <a:cs typeface="Junge"/>
                <a:sym typeface="Junge"/>
              </a:rPr>
              <a:t>) combine the pragmatic virtues of the position generator with the specificity and breadth of coverage of the name generator.</a:t>
            </a:r>
            <a:endParaRPr sz="2400">
              <a:latin typeface="Junge"/>
              <a:ea typeface="Junge"/>
              <a:cs typeface="Junge"/>
              <a:sym typeface="Junge"/>
            </a:endParaRPr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●"/>
            </a:pPr>
            <a:r>
              <a:rPr lang="en-US" sz="2400">
                <a:latin typeface="Junge"/>
                <a:ea typeface="Junge"/>
                <a:cs typeface="Junge"/>
                <a:sym typeface="Junge"/>
              </a:rPr>
              <a:t>"Do you know anyone who..."</a:t>
            </a:r>
            <a:endParaRPr sz="24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Can repair a car, bike, etc. </a:t>
            </a:r>
            <a:endParaRPr sz="18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Is handy repairing household equipment </a:t>
            </a:r>
            <a:endParaRPr sz="18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Can speak and write a foreign language </a:t>
            </a:r>
            <a:endParaRPr sz="18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Can work with a personal computer </a:t>
            </a:r>
            <a:endParaRPr sz="18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Has good contacts with a newspaper, radio or TV station</a:t>
            </a:r>
            <a:endParaRPr sz="18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Has knowledge about financial matters (taxes, subsidies)</a:t>
            </a:r>
            <a:endParaRPr sz="18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Font typeface="Junge"/>
              <a:buChar char="○"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Can help when moving house (packing, lifting)</a:t>
            </a:r>
            <a:endParaRPr sz="1800">
              <a:latin typeface="Junge"/>
              <a:ea typeface="Junge"/>
              <a:cs typeface="Junge"/>
              <a:sym typeface="Junge"/>
            </a:endParaRPr>
          </a:p>
          <a:p>
            <a:pPr indent="-355600" lvl="1" marL="914400" rtl="0" algn="l">
              <a:spcBef>
                <a:spcPts val="1600"/>
              </a:spcBef>
              <a:spcAft>
                <a:spcPts val="1600"/>
              </a:spcAft>
              <a:buSzPts val="2000"/>
              <a:buFont typeface="Junge"/>
              <a:buChar char="○"/>
            </a:pPr>
            <a:r>
              <a:rPr lang="en-US" sz="1800">
                <a:latin typeface="Junge"/>
                <a:ea typeface="Junge"/>
                <a:cs typeface="Junge"/>
                <a:sym typeface="Junge"/>
              </a:rPr>
              <a:t>[...] </a:t>
            </a:r>
            <a:r>
              <a:rPr i="1" lang="en-US" sz="1800">
                <a:latin typeface="Junge"/>
                <a:ea typeface="Junge"/>
                <a:cs typeface="Junge"/>
                <a:sym typeface="Junge"/>
              </a:rPr>
              <a:t>And whatever else you can imagine</a:t>
            </a:r>
            <a:endParaRPr i="1" sz="1800"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Sociological Findings - Marsden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80" name="Google Shape;280;p41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Font typeface="Junge"/>
              <a:buChar char="●"/>
            </a:pPr>
            <a:r>
              <a:rPr lang="en-US" sz="3200">
                <a:latin typeface="Junge"/>
                <a:ea typeface="Junge"/>
                <a:cs typeface="Junge"/>
                <a:sym typeface="Junge"/>
              </a:rPr>
              <a:t>Core networks tend to be dense (have high clustering)</a:t>
            </a:r>
            <a:endParaRPr sz="1800">
              <a:latin typeface="Junge"/>
              <a:ea typeface="Junge"/>
              <a:cs typeface="Junge"/>
              <a:sym typeface="Junge"/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Font typeface="Junge"/>
              <a:buChar char="●"/>
            </a:pPr>
            <a:r>
              <a:rPr lang="en-US" sz="3200">
                <a:latin typeface="Junge"/>
                <a:ea typeface="Junge"/>
                <a:cs typeface="Junge"/>
                <a:sym typeface="Junge"/>
              </a:rPr>
              <a:t>Core networks are more homogenous on age, education, race, sex</a:t>
            </a:r>
            <a:endParaRPr sz="1800">
              <a:latin typeface="Junge"/>
              <a:ea typeface="Junge"/>
              <a:cs typeface="Junge"/>
              <a:sym typeface="Junge"/>
            </a:endParaRPr>
          </a:p>
          <a:p>
            <a:pPr indent="-317500" lvl="1" marL="914400" rtl="0" algn="l">
              <a:spcBef>
                <a:spcPts val="1600"/>
              </a:spcBef>
              <a:spcAft>
                <a:spcPts val="0"/>
              </a:spcAft>
              <a:buSzPts val="1400"/>
              <a:buFont typeface="Junge"/>
              <a:buChar char="○"/>
            </a:pPr>
            <a:r>
              <a:rPr lang="en-US" sz="2800">
                <a:latin typeface="Junge"/>
                <a:ea typeface="Junge"/>
                <a:cs typeface="Junge"/>
                <a:sym typeface="Junge"/>
              </a:rPr>
              <a:t>There is age and education heterogeneity</a:t>
            </a:r>
            <a:endParaRPr sz="2800">
              <a:latin typeface="Junge"/>
              <a:ea typeface="Junge"/>
              <a:cs typeface="Junge"/>
              <a:sym typeface="Junge"/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Font typeface="Junge"/>
              <a:buChar char="●"/>
            </a:pPr>
            <a:r>
              <a:rPr lang="en-US" sz="3200">
                <a:solidFill>
                  <a:srgbClr val="000000"/>
                </a:solidFill>
                <a:latin typeface="Junge"/>
                <a:ea typeface="Junge"/>
                <a:cs typeface="Junge"/>
                <a:sym typeface="Junge"/>
              </a:rPr>
              <a:t>Age, Education, Sex, Race and Place Correlates of network size, density and heterogeneity (Tables 3 &amp; 4)</a:t>
            </a:r>
            <a:endParaRPr sz="1800">
              <a:latin typeface="Junge"/>
              <a:ea typeface="Junge"/>
              <a:cs typeface="Junge"/>
              <a:sym typeface="Junge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Dimensions of Discussion Groups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86" name="Google Shape;286;p42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Font typeface="Junge"/>
              <a:buChar char="●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A more diverse network is one in which ties with alters vary in their content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Font typeface="Junge"/>
              <a:buChar char="●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Form and Content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17500" lvl="1" marL="914400" rtl="0" algn="l">
              <a:spcBef>
                <a:spcPts val="1600"/>
              </a:spcBef>
              <a:spcAft>
                <a:spcPts val="0"/>
              </a:spcAft>
              <a:buSzPts val="1400"/>
              <a:buFont typeface="Junge"/>
              <a:buChar char="○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Three dimensions:  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17500" lvl="2" marL="1371600" rtl="0" algn="l">
              <a:spcBef>
                <a:spcPts val="1600"/>
              </a:spcBef>
              <a:spcAft>
                <a:spcPts val="0"/>
              </a:spcAft>
              <a:buSzPts val="1400"/>
              <a:buFont typeface="Junge"/>
              <a:buChar char="■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Frequency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17500" lvl="2" marL="1371600" rtl="0" algn="l">
              <a:spcBef>
                <a:spcPts val="1600"/>
              </a:spcBef>
              <a:spcAft>
                <a:spcPts val="0"/>
              </a:spcAft>
              <a:buSzPts val="1400"/>
              <a:buFont typeface="Junge"/>
              <a:buChar char="■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Closeness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-317500" lvl="2" marL="1371600" rtl="0" algn="l">
              <a:spcBef>
                <a:spcPts val="1600"/>
              </a:spcBef>
              <a:spcAft>
                <a:spcPts val="0"/>
              </a:spcAft>
              <a:buSzPts val="1400"/>
              <a:buFont typeface="Junge"/>
              <a:buChar char="■"/>
            </a:pPr>
            <a:r>
              <a:rPr lang="en-US">
                <a:latin typeface="Junge"/>
                <a:ea typeface="Junge"/>
                <a:cs typeface="Junge"/>
                <a:sym typeface="Junge"/>
              </a:rPr>
              <a:t>Kin Status</a:t>
            </a:r>
            <a:endParaRPr>
              <a:latin typeface="Junge"/>
              <a:ea typeface="Junge"/>
              <a:cs typeface="Junge"/>
              <a:sym typeface="Junge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FFFF"/>
                </a:solidFill>
              </a:rPr>
              <a:t>Dimensions of Discussion Groups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92" name="Google Shape;292;p43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600"/>
              <a:buFont typeface="Junge"/>
              <a:buChar char="●"/>
            </a:pPr>
            <a:r>
              <a:rPr lang="en-US" sz="2600">
                <a:latin typeface="Junge"/>
                <a:ea typeface="Junge"/>
                <a:cs typeface="Junge"/>
                <a:sym typeface="Junge"/>
              </a:rPr>
              <a:t>Core discussion networks connect people to alters that a person sees more often, are close to,  and are kin</a:t>
            </a:r>
            <a:endParaRPr sz="2600">
              <a:latin typeface="Junge"/>
              <a:ea typeface="Junge"/>
              <a:cs typeface="Junge"/>
              <a:sym typeface="Junge"/>
            </a:endParaRPr>
          </a:p>
          <a:p>
            <a:pPr indent="-393700" lvl="0" marL="45720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Junge"/>
              <a:buChar char="●"/>
            </a:pPr>
            <a:r>
              <a:rPr lang="en-US" sz="2600">
                <a:latin typeface="Junge"/>
                <a:ea typeface="Junge"/>
                <a:cs typeface="Junge"/>
                <a:sym typeface="Junge"/>
              </a:rPr>
              <a:t>Distinction between different types of alters increases with status and declines with age</a:t>
            </a:r>
            <a:endParaRPr sz="2600">
              <a:latin typeface="Junge"/>
              <a:ea typeface="Junge"/>
              <a:cs typeface="Junge"/>
              <a:sym typeface="Junge"/>
            </a:endParaRPr>
          </a:p>
          <a:p>
            <a:pPr indent="-368300" lvl="1" marL="91440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ts val="2200"/>
              <a:buFont typeface="Junge"/>
              <a:buChar char="○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High status people have more kin, but they also have nonkin they see frequency (co-workers) AND close people beyond family and co-workers. 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68300" lvl="1" marL="91440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ts val="2200"/>
              <a:buFont typeface="Junge"/>
              <a:buChar char="○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Younger people have kin, but also non-kin that they see frequently and close people who are not kin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-368300" lvl="1" marL="914400" rtl="0" algn="l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SzPts val="2200"/>
              <a:buFont typeface="Junge"/>
              <a:buChar char="○"/>
            </a:pPr>
            <a:r>
              <a:rPr lang="en-US" sz="2200">
                <a:latin typeface="Junge"/>
                <a:ea typeface="Junge"/>
                <a:cs typeface="Junge"/>
                <a:sym typeface="Junge"/>
              </a:rPr>
              <a:t>middle aged people keep kin (but now children), less daily contact with others</a:t>
            </a:r>
            <a:endParaRPr sz="2200">
              <a:latin typeface="Junge"/>
              <a:ea typeface="Junge"/>
              <a:cs typeface="Junge"/>
              <a:sym typeface="Junge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latin typeface="Junge"/>
              <a:ea typeface="Junge"/>
              <a:cs typeface="Junge"/>
              <a:sym typeface="Jung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638" y="127854"/>
            <a:ext cx="7422270" cy="5459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