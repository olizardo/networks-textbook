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Quattrocento"/>
      <p:regular r:id="rId12"/>
      <p:bold r:id="rId13"/>
    </p:embeddedFont>
    <p:embeddedFont>
      <p:font typeface="Oxygen"/>
      <p:regular r:id="rId14"/>
      <p:bold r:id="rId15"/>
    </p:embeddedFont>
    <p:embeddedFont>
      <p:font typeface="Quattrocento Sans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7.xml"/><Relationship Id="rId22" Type="http://schemas.openxmlformats.org/officeDocument/2006/relationships/font" Target="fonts/OpenSans-italic.fntdata"/><Relationship Id="rId10" Type="http://schemas.openxmlformats.org/officeDocument/2006/relationships/slide" Target="slides/slide6.xml"/><Relationship Id="rId21" Type="http://schemas.openxmlformats.org/officeDocument/2006/relationships/font" Target="fonts/OpenSans-bold.fntdata"/><Relationship Id="rId13" Type="http://schemas.openxmlformats.org/officeDocument/2006/relationships/font" Target="fonts/Quattrocento-bold.fntdata"/><Relationship Id="rId12" Type="http://schemas.openxmlformats.org/officeDocument/2006/relationships/font" Target="fonts/Quattrocento-regular.fntdata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xygen-bold.fntdata"/><Relationship Id="rId14" Type="http://schemas.openxmlformats.org/officeDocument/2006/relationships/font" Target="fonts/Oxygen-regular.fntdata"/><Relationship Id="rId17" Type="http://schemas.openxmlformats.org/officeDocument/2006/relationships/font" Target="fonts/QuattrocentoSans-bold.fntdata"/><Relationship Id="rId16" Type="http://schemas.openxmlformats.org/officeDocument/2006/relationships/font" Target="fonts/QuattrocentoSans-regular.fntdata"/><Relationship Id="rId5" Type="http://schemas.openxmlformats.org/officeDocument/2006/relationships/slide" Target="slides/slide1.xml"/><Relationship Id="rId19" Type="http://schemas.openxmlformats.org/officeDocument/2006/relationships/font" Target="fonts/QuattrocentoSans-boldItalic.fntdata"/><Relationship Id="rId6" Type="http://schemas.openxmlformats.org/officeDocument/2006/relationships/slide" Target="slides/slide2.xml"/><Relationship Id="rId18" Type="http://schemas.openxmlformats.org/officeDocument/2006/relationships/font" Target="fonts/Quattrocento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5f118cee9_0_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25f118cee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5f118cee9_0_8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5f118cee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f118cee9_0_8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f118cee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f118cee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f118cee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5f118cee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5f118cee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5f118cee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5f118cee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457200" y="563760"/>
            <a:ext cx="8229600" cy="30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57200" y="3716392"/>
            <a:ext cx="8229600" cy="12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3" name="Google Shape;13;p2"/>
          <p:cNvCxnSpPr/>
          <p:nvPr/>
        </p:nvCxnSpPr>
        <p:spPr>
          <a:xfrm>
            <a:off x="457200" y="41148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2"/>
          <p:cNvCxnSpPr/>
          <p:nvPr/>
        </p:nvCxnSpPr>
        <p:spPr>
          <a:xfrm>
            <a:off x="457200" y="3633383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None/>
              <a:defRPr b="0">
                <a:solidFill>
                  <a:srgbClr val="DA000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Quattrocento Sans"/>
              <a:buChar char="○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Font typeface="Oxygen"/>
              <a:buChar char="■"/>
              <a:defRPr sz="1800">
                <a:latin typeface="Oxygen"/>
                <a:ea typeface="Oxygen"/>
                <a:cs typeface="Oxygen"/>
                <a:sym typeface="Oxygen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Font typeface="Quattrocento Sans"/>
              <a:buChar char="●"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cxnSp>
        <p:nvCxnSpPr>
          <p:cNvPr id="19" name="Google Shape;19;p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cxnSp>
        <p:nvCxnSpPr>
          <p:cNvPr id="25" name="Google Shape;25;p4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cxnSp>
        <p:nvCxnSpPr>
          <p:cNvPr id="33" name="Google Shape;33;p6"/>
          <p:cNvCxnSpPr/>
          <p:nvPr/>
        </p:nvCxnSpPr>
        <p:spPr>
          <a:xfrm>
            <a:off x="457200" y="4317761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7"/>
          <p:cNvCxnSpPr/>
          <p:nvPr/>
        </p:nvCxnSpPr>
        <p:spPr>
          <a:xfrm>
            <a:off x="457200" y="113139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wiss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 sz="36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ygen"/>
              <a:buChar char="●"/>
              <a:defRPr sz="30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○"/>
              <a:defRPr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xygen"/>
              <a:buChar char="■"/>
              <a:defRPr sz="20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"/>
              <a:buChar char="●"/>
              <a:defRPr sz="1800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502326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chemeClr val="dk1"/>
                </a:solidFill>
              </a:defRPr>
            </a:lvl1pPr>
            <a:lvl2pPr lvl="1" rtl="0" algn="r">
              <a:buNone/>
              <a:defRPr sz="1300">
                <a:solidFill>
                  <a:schemeClr val="dk1"/>
                </a:solidFill>
              </a:defRPr>
            </a:lvl2pPr>
            <a:lvl3pPr lvl="2" rtl="0" algn="r">
              <a:buNone/>
              <a:defRPr sz="1300">
                <a:solidFill>
                  <a:schemeClr val="dk1"/>
                </a:solidFill>
              </a:defRPr>
            </a:lvl3pPr>
            <a:lvl4pPr lvl="3" rtl="0" algn="r">
              <a:buNone/>
              <a:defRPr sz="1300">
                <a:solidFill>
                  <a:schemeClr val="dk1"/>
                </a:solidFill>
              </a:defRPr>
            </a:lvl4pPr>
            <a:lvl5pPr lvl="4" rtl="0" algn="r">
              <a:buNone/>
              <a:defRPr sz="1300">
                <a:solidFill>
                  <a:schemeClr val="dk1"/>
                </a:solidFill>
              </a:defRPr>
            </a:lvl5pPr>
            <a:lvl6pPr lvl="5" rtl="0" algn="r">
              <a:buNone/>
              <a:defRPr sz="1300">
                <a:solidFill>
                  <a:schemeClr val="dk1"/>
                </a:solidFill>
              </a:defRPr>
            </a:lvl6pPr>
            <a:lvl7pPr lvl="6" rtl="0" algn="r">
              <a:buNone/>
              <a:defRPr sz="1300">
                <a:solidFill>
                  <a:schemeClr val="dk1"/>
                </a:solidFill>
              </a:defRPr>
            </a:lvl7pPr>
            <a:lvl8pPr lvl="7" rtl="0" algn="r">
              <a:buNone/>
              <a:defRPr sz="1300">
                <a:solidFill>
                  <a:schemeClr val="dk1"/>
                </a:solidFill>
              </a:defRPr>
            </a:lvl8pPr>
            <a:lvl9pPr lvl="8" rtl="0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a/nd.edu/document/d/1KJWjqsnKy95DuKOmY-kMnUvoxeeOi7NJr5ZuTUJXDaY/edit?usp=sharing" TargetMode="External"/><Relationship Id="rId4" Type="http://schemas.openxmlformats.org/officeDocument/2006/relationships/hyperlink" Target="https://docs.google.com/spreadsheets/d/1pSh_3dLjlxSIOqzaG7fis4wi1ZDKdtM71XaiJis0FmM/edit?usp=shar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ctrTitle"/>
          </p:nvPr>
        </p:nvSpPr>
        <p:spPr>
          <a:xfrm>
            <a:off x="457200" y="563760"/>
            <a:ext cx="8229600" cy="30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NetSense &amp; NetHealth</a:t>
            </a:r>
            <a:endParaRPr/>
          </a:p>
        </p:txBody>
      </p:sp>
      <p:sp>
        <p:nvSpPr>
          <p:cNvPr id="43" name="Google Shape;43;p8"/>
          <p:cNvSpPr txBox="1"/>
          <p:nvPr>
            <p:ph idx="1" type="subTitle"/>
          </p:nvPr>
        </p:nvSpPr>
        <p:spPr>
          <a:xfrm>
            <a:off x="457200" y="3716392"/>
            <a:ext cx="8229600" cy="12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NetSense Study</a:t>
            </a:r>
            <a:endParaRPr/>
          </a:p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4215150" y="1047750"/>
            <a:ext cx="4471800" cy="3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2-year + data collection effort funded by NSF using CDRs obtained from smartphones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162 Notre Dame students, full data for 70 weeks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6 million communication events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55,000 alters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25,000 mutual dyads, 13,000 with other ND students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~650 mutual dyads in which both persons are in NetSense study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 ties with other ND students prior to arrival, so students begin with no ND friends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Watch as people form ties within and between status groups</a:t>
            </a:r>
            <a:endParaRPr sz="1600"/>
          </a:p>
        </p:txBody>
      </p:sp>
      <p:pic>
        <p:nvPicPr>
          <p:cNvPr descr="netsurveyNetworkHatND.jpg" id="50" name="Google Shape;50;p9"/>
          <p:cNvPicPr preferRelativeResize="0"/>
          <p:nvPr/>
        </p:nvPicPr>
        <p:blipFill rotWithShape="1">
          <a:blip r:embed="rId3">
            <a:alphaModFix/>
          </a:blip>
          <a:srcRect b="0" l="0" r="0" t="4003"/>
          <a:stretch/>
        </p:blipFill>
        <p:spPr>
          <a:xfrm>
            <a:off x="620400" y="1179125"/>
            <a:ext cx="3055027" cy="293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/>
          <p:nvPr/>
        </p:nvSpPr>
        <p:spPr>
          <a:xfrm>
            <a:off x="447800" y="4196300"/>
            <a:ext cx="35298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Oxygen"/>
                <a:ea typeface="Oxygen"/>
                <a:cs typeface="Oxygen"/>
                <a:sym typeface="Oxygen"/>
              </a:rPr>
              <a:t>Striegel, Aaron et al. 2013. “Lessons Learned from the Netsense Smartphone Study.” Pp. 51–56 in Proceedings of the 5th ACM workshop on HotPlanet. ACM.</a:t>
            </a:r>
            <a:endParaRPr sz="10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268800" y="179150"/>
            <a:ext cx="86064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Interaction Events and Social Networks</a:t>
            </a:r>
            <a:endParaRPr sz="3400"/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What is a social network?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Sets of vertices and edges:  G(N,M)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When does an edge between two vertices exist?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Social interaction event:  e</a:t>
            </a:r>
            <a:r>
              <a:rPr baseline="-25000" lang="en"/>
              <a:t>ij</a:t>
            </a:r>
            <a:r>
              <a:rPr lang="en"/>
              <a:t>(t</a:t>
            </a:r>
            <a:r>
              <a:rPr baseline="-25000" lang="en"/>
              <a:t>k</a:t>
            </a:r>
            <a:r>
              <a:rPr lang="en"/>
              <a:t>) = 1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communicative interaction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Social Network Dynamics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Temporal pattern of the interactions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○"/>
            </a:pPr>
            <a:r>
              <a:rPr lang="en">
                <a:solidFill>
                  <a:srgbClr val="FF0000"/>
                </a:solidFill>
              </a:rPr>
              <a:t>Beginning and end to a sequence of interactions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Dating Social Ties: Effective and Active</a:t>
            </a:r>
            <a:endParaRPr sz="3200"/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457200" y="1200150"/>
            <a:ext cx="354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Begin date</a:t>
            </a:r>
            <a:r>
              <a:rPr lang="en" sz="1800"/>
              <a:t>:  time of first interaction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) = 1 | e</a:t>
            </a:r>
            <a:r>
              <a:rPr baseline="-25000" lang="en" sz="1800"/>
              <a:t>ij</a:t>
            </a:r>
            <a:r>
              <a:rPr lang="en" sz="1800"/>
              <a:t>(t&lt;t</a:t>
            </a:r>
            <a:r>
              <a:rPr baseline="-25000" lang="en" sz="1800"/>
              <a:t>k</a:t>
            </a:r>
            <a:r>
              <a:rPr lang="en" sz="1800"/>
              <a:t>) = 0  for all time points t &lt; t</a:t>
            </a:r>
            <a:r>
              <a:rPr baseline="-25000" lang="en" sz="1800"/>
              <a:t>k</a:t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End date</a:t>
            </a:r>
            <a:r>
              <a:rPr lang="en" sz="1800"/>
              <a:t>:  time of last interaction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) = 1 and e</a:t>
            </a:r>
            <a:r>
              <a:rPr baseline="-25000" lang="en" sz="1800"/>
              <a:t>ij</a:t>
            </a:r>
            <a:r>
              <a:rPr lang="en" sz="1800"/>
              <a:t>(t&gt;t</a:t>
            </a:r>
            <a:r>
              <a:rPr baseline="-25000" lang="en" sz="1800"/>
              <a:t>k</a:t>
            </a:r>
            <a:r>
              <a:rPr lang="en" sz="1800"/>
              <a:t>) = 0  for all time points t &gt; t</a:t>
            </a:r>
            <a:r>
              <a:rPr baseline="-25000" lang="en" sz="1800"/>
              <a:t>k</a:t>
            </a:r>
            <a:endParaRPr baseline="-25000"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 sz="1800">
                <a:solidFill>
                  <a:srgbClr val="0000FF"/>
                </a:solidFill>
              </a:rPr>
              <a:t>Left and right censoring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072975" y="1200150"/>
            <a:ext cx="46137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Active Tie</a:t>
            </a:r>
            <a:r>
              <a:rPr lang="en" sz="1800"/>
              <a:t>:  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,t</a:t>
            </a:r>
            <a:r>
              <a:rPr baseline="-25000" lang="en" sz="1800"/>
              <a:t>k+∆t</a:t>
            </a:r>
            <a:r>
              <a:rPr lang="en" sz="1800"/>
              <a:t>) = 1</a:t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Effective Tie</a:t>
            </a:r>
            <a:r>
              <a:rPr lang="en" sz="1800"/>
              <a:t>: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,t</a:t>
            </a:r>
            <a:r>
              <a:rPr baseline="-25000" lang="en" sz="1800"/>
              <a:t>k+∆t</a:t>
            </a:r>
            <a:r>
              <a:rPr lang="en" sz="1800"/>
              <a:t>) = 1 if</a:t>
            </a:r>
            <a:endParaRPr sz="1800"/>
          </a:p>
          <a:p>
            <a:pPr indent="-342900" lvl="2" marL="1371600" rtl="0" algn="l">
              <a:spcBef>
                <a:spcPts val="480"/>
              </a:spcBef>
              <a:spcAft>
                <a:spcPts val="0"/>
              </a:spcAft>
              <a:buSzPts val="1800"/>
              <a:buAutoNum type="romanLcPeriod"/>
            </a:pPr>
            <a:r>
              <a:rPr lang="en"/>
              <a:t>e</a:t>
            </a:r>
            <a:r>
              <a:rPr baseline="-25000" lang="en" sz="1800"/>
              <a:t>ij</a:t>
            </a:r>
            <a:r>
              <a:rPr lang="en" sz="1800"/>
              <a:t>(t) =  1  at some point in time t prior to t</a:t>
            </a:r>
            <a:r>
              <a:rPr baseline="-25000" lang="en" sz="1800"/>
              <a:t>k</a:t>
            </a:r>
            <a:endParaRPr baseline="-25000"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/>
              <a:t>e</a:t>
            </a:r>
            <a:r>
              <a:rPr baseline="-25000" lang="en" sz="1800"/>
              <a:t>ij</a:t>
            </a:r>
            <a:r>
              <a:rPr lang="en" sz="1800"/>
              <a:t>(t) = 1  at some point in time t after t</a:t>
            </a:r>
            <a:r>
              <a:rPr baseline="-25000" lang="en" sz="1800"/>
              <a:t>k</a:t>
            </a:r>
            <a:endParaRPr baseline="-25000"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</a:rPr>
              <a:t>Effective tie implies there could be interaction between i and j at any time between t</a:t>
            </a:r>
            <a:r>
              <a:rPr baseline="-25000" lang="en" sz="1800">
                <a:solidFill>
                  <a:srgbClr val="CC0000"/>
                </a:solidFill>
              </a:rPr>
              <a:t>k</a:t>
            </a:r>
            <a:r>
              <a:rPr lang="en" sz="1800">
                <a:solidFill>
                  <a:srgbClr val="CC0000"/>
                </a:solidFill>
              </a:rPr>
              <a:t> and t</a:t>
            </a:r>
            <a:r>
              <a:rPr baseline="-25000" lang="en" sz="1800">
                <a:solidFill>
                  <a:srgbClr val="CC0000"/>
                </a:solidFill>
              </a:rPr>
              <a:t>k+∆t</a:t>
            </a:r>
            <a:endParaRPr sz="18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NetSense Data</a:t>
            </a:r>
            <a:endParaRPr/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412475" y="1209100"/>
            <a:ext cx="8436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Behavioral Event Data:  Time-stamped communication event with to and from phone numbers    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Anonymized (</a:t>
            </a:r>
            <a:r>
              <a:rPr lang="en" u="sng">
                <a:solidFill>
                  <a:schemeClr val="hlink"/>
                </a:solidFill>
                <a:hlinkClick r:id="rId3"/>
              </a:rPr>
              <a:t>Codebook</a:t>
            </a:r>
            <a:r>
              <a:rPr lang="en"/>
              <a:t>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Arc weekly data:  73k arcs (directed edges); w</a:t>
            </a:r>
            <a:r>
              <a:rPr lang="en" sz="2400">
                <a:latin typeface="Oxygen"/>
                <a:ea typeface="Oxygen"/>
                <a:cs typeface="Oxygen"/>
                <a:sym typeface="Oxygen"/>
              </a:rPr>
              <a:t>ithin study, 1276 arcs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Oxygen"/>
              <a:buChar char="○"/>
            </a:pPr>
            <a:r>
              <a:rPr lang="en" u="sng">
                <a:solidFill>
                  <a:schemeClr val="hlink"/>
                </a:solidFill>
                <a:latin typeface="Oxygen"/>
                <a:ea typeface="Oxygen"/>
                <a:cs typeface="Oxygen"/>
                <a:sym typeface="Oxygen"/>
                <a:hlinkClick r:id="rId4"/>
              </a:rPr>
              <a:t>Codebook</a:t>
            </a:r>
            <a:endParaRPr>
              <a:latin typeface="Oxygen"/>
              <a:ea typeface="Oxygen"/>
              <a:cs typeface="Oxygen"/>
              <a:sym typeface="Oxyge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Oxygen"/>
              <a:buChar char="●"/>
            </a:pPr>
            <a:r>
              <a:rPr lang="en" sz="2400"/>
              <a:t>Basic (demographic) Survey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Network Survey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Courses and Grades Data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Suppl. material: coded clubs, activities, dorms; calendars 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NetHealth Study</a:t>
            </a:r>
            <a:endParaRPr/>
          </a:p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000"/>
              <a:t>2-year NIH funded longitudinal study of ～700 first-year students who entered the University of Notre Dame in the Fall of 2015.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Objective:  Determinants of Network  clustering;  selection vs. influence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1800"/>
              <a:t>High resolution temporal data on both network and behavior</a:t>
            </a:r>
            <a:r>
              <a:rPr lang="en" sz="2000"/>
              <a:t>. 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3 Tiers of Students</a:t>
            </a:r>
            <a:endParaRPr sz="2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xygen"/>
              <a:buChar char="○"/>
            </a:pPr>
            <a:r>
              <a:rPr lang="en" sz="1400">
                <a:latin typeface="Oxygen"/>
                <a:ea typeface="Oxygen"/>
                <a:cs typeface="Oxygen"/>
                <a:sym typeface="Oxygen"/>
              </a:rPr>
              <a:t>Tier 1 -  400 students recruited in Summer 2015</a:t>
            </a:r>
            <a:endParaRPr sz="1400">
              <a:latin typeface="Oxygen"/>
              <a:ea typeface="Oxygen"/>
              <a:cs typeface="Oxygen"/>
              <a:sym typeface="Oxyge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xygen"/>
              <a:buChar char="○"/>
            </a:pPr>
            <a:r>
              <a:rPr lang="en" sz="1400">
                <a:latin typeface="Oxygen"/>
                <a:ea typeface="Oxygen"/>
                <a:cs typeface="Oxygen"/>
                <a:sym typeface="Oxygen"/>
              </a:rPr>
              <a:t>Tier 2 - 100 students referred by Tier 1 students, Fall 2015</a:t>
            </a:r>
            <a:endParaRPr sz="1400">
              <a:latin typeface="Oxygen"/>
              <a:ea typeface="Oxygen"/>
              <a:cs typeface="Oxygen"/>
              <a:sym typeface="Oxyge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Oxygen"/>
              <a:buChar char="○"/>
            </a:pPr>
            <a:r>
              <a:rPr lang="en" sz="1400">
                <a:latin typeface="Oxygen"/>
                <a:ea typeface="Oxygen"/>
                <a:cs typeface="Oxygen"/>
                <a:sym typeface="Oxygen"/>
              </a:rPr>
              <a:t>Tier 3 - 300 students recruited Winter 2015 (second semester)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NetHealth Data </a:t>
            </a:r>
            <a:endParaRPr/>
          </a:p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Event data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Arc data (100 weeks) (16k+): within study only (NetHealthWeeklyArcs_100th.dta)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Oxygen"/>
                <a:ea typeface="Oxygen"/>
                <a:cs typeface="Oxygen"/>
                <a:sym typeface="Oxygen"/>
              </a:rPr>
              <a:t>Node level data  (kapp_daily_longDH.dta)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Basic Survey Data (Basic_Survey_Merged_W1-5(6-29-17).dta)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Network Survey Data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Fitbit Data  (8/15-8/17)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Oxygen"/>
              <a:buChar char="○"/>
            </a:pPr>
            <a:r>
              <a:rPr lang="en">
                <a:latin typeface="Oxygen"/>
                <a:ea typeface="Oxygen"/>
                <a:cs typeface="Oxygen"/>
                <a:sym typeface="Oxygen"/>
              </a:rPr>
              <a:t>Activity (dailyfitbit.dta)</a:t>
            </a:r>
            <a:endParaRPr>
              <a:latin typeface="Oxygen"/>
              <a:ea typeface="Oxygen"/>
              <a:cs typeface="Oxygen"/>
              <a:sym typeface="Oxygen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Oxygen"/>
              <a:buChar char="○"/>
            </a:pPr>
            <a:r>
              <a:rPr lang="en">
                <a:latin typeface="Oxygen"/>
                <a:ea typeface="Oxygen"/>
                <a:cs typeface="Oxygen"/>
                <a:sym typeface="Oxygen"/>
              </a:rPr>
              <a:t>Sleep  (dailysleep.dta)</a:t>
            </a:r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