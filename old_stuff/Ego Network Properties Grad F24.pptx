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Economica"/>
      <p:regular r:id="rId55"/>
      <p:bold r:id="rId56"/>
      <p:italic r:id="rId57"/>
      <p:boldItalic r:id="rId58"/>
    </p:embeddedFont>
    <p:embeddedFont>
      <p:font typeface="Roboto"/>
      <p:regular r:id="rId59"/>
      <p:bold r:id="rId60"/>
      <p:italic r:id="rId61"/>
      <p:boldItalic r:id="rId62"/>
    </p:embeddedFont>
    <p:embeddedFont>
      <p:font typeface="Open Sans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6.xml"/><Relationship Id="rId64" Type="http://schemas.openxmlformats.org/officeDocument/2006/relationships/font" Target="fonts/OpenSans-bold.fntdata"/><Relationship Id="rId63" Type="http://schemas.openxmlformats.org/officeDocument/2006/relationships/font" Target="fonts/OpenSans-regular.fntdata"/><Relationship Id="rId22" Type="http://schemas.openxmlformats.org/officeDocument/2006/relationships/slide" Target="slides/slide18.xml"/><Relationship Id="rId66" Type="http://schemas.openxmlformats.org/officeDocument/2006/relationships/font" Target="fonts/OpenSans-boldItalic.fntdata"/><Relationship Id="rId21" Type="http://schemas.openxmlformats.org/officeDocument/2006/relationships/slide" Target="slides/slide17.xml"/><Relationship Id="rId65" Type="http://schemas.openxmlformats.org/officeDocument/2006/relationships/font" Target="fonts/OpenSans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Roboto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Economica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Economica-italic.fntdata"/><Relationship Id="rId12" Type="http://schemas.openxmlformats.org/officeDocument/2006/relationships/slide" Target="slides/slide8.xml"/><Relationship Id="rId56" Type="http://schemas.openxmlformats.org/officeDocument/2006/relationships/font" Target="fonts/Economica-bold.fntdata"/><Relationship Id="rId15" Type="http://schemas.openxmlformats.org/officeDocument/2006/relationships/slide" Target="slides/slide11.xml"/><Relationship Id="rId59" Type="http://schemas.openxmlformats.org/officeDocument/2006/relationships/font" Target="fonts/Roboto-regular.fntdata"/><Relationship Id="rId14" Type="http://schemas.openxmlformats.org/officeDocument/2006/relationships/slide" Target="slides/slide10.xml"/><Relationship Id="rId58" Type="http://schemas.openxmlformats.org/officeDocument/2006/relationships/font" Target="fonts/Economica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8b0b2a8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8b0b2a8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8b0b2a87d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8b0b2a8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8b0b2a87d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8b0b2a8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8b0b2a87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8b0b2a87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8b0b2a87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8b0b2a87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8b0b2a87d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8b0b2a87d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8b0b2a87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8b0b2a87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36f22d3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36f22d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8b0b2a87d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8b0b2a87d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8b0b2a87d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8b0b2a87d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5d0a6e7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5d0a6e7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affe7c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8affe7c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8affe7c5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8affe7c5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weight is function of net size and activity level.   Could also just compute total sum of weights to get activity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8b0b2a87d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8b0b2a87d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36f22d3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36f22d3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36f22d3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36f22d3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93fa32e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593fa32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(10-4)/14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5-2 / 7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8b0b2a87d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8b0b2a87d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8b0b2a87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8b0b2a87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f8affe7c5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f8affe7c5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8affe7c5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f8affe7c5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8affe7c52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8affe7c52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f8affe7c52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f8affe7c52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8affe7c52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f8affe7c52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36f22d3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36f22d3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8affe7c5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8affe7c5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8affe7c52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8affe7c52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visibility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066f4a52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066f4a52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61d367a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061d367a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061d367a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061d367a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61d367af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061d367a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da3d001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da3d001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a3d001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a3d001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066f4a52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066f4a52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f8affe7c52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f8affe7c52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066f4a522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066f4a522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066f4a522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066f4a522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066f4a522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066f4a522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061d367af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061d367af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061d367af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061d367af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066f4a52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066f4a52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066f4a52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066f4a52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066f4a52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066f4a52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066f4a52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066f4a52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066f4a522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066f4a522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066f4a522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066f4a522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066f4a522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066f4a522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066f4a52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066f4a52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f8affe7c52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f8affe7c52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jpg"/><Relationship Id="rId4" Type="http://schemas.openxmlformats.org/officeDocument/2006/relationships/hyperlink" Target="https://en.wikipedia.org/wiki/Peter_Blau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jpg"/><Relationship Id="rId4" Type="http://schemas.openxmlformats.org/officeDocument/2006/relationships/hyperlink" Target="https://en.wikipedia.org/wiki/Peter_Blau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2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jpg"/><Relationship Id="rId4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(Personal) Network Properties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547950" y="1257300"/>
            <a:ext cx="4231500" cy="3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Degree, In-Degree,Out-Degree,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organization (Dunbar)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Coefficient (Density)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Effective Size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Efficiency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864075" y="1328550"/>
            <a:ext cx="3672000" cy="29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Composition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Tie Strength (Average, St. Deviation, multiplexity)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Composition &amp; Diversity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Homophily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37675" y="1211825"/>
            <a:ext cx="4627200" cy="16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951" y="457600"/>
            <a:ext cx="4795274" cy="15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25" y="1211832"/>
            <a:ext cx="3260700" cy="95179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6254425" y="2536750"/>
            <a:ext cx="5262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3473" y="2669959"/>
            <a:ext cx="1537062" cy="7286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369625" y="2536750"/>
            <a:ext cx="40914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Economica"/>
                <a:ea typeface="Economica"/>
                <a:cs typeface="Economica"/>
                <a:sym typeface="Economica"/>
              </a:rPr>
              <a:t>Vertex Activity</a:t>
            </a:r>
            <a:endParaRPr sz="36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24200" y="3976925"/>
            <a:ext cx="3260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and Out Degree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81175" y="1147225"/>
            <a:ext cx="4330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Out-Degree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out-degree people can “influence” more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In-Degree:  Popularity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In-degree people are contacted by lots of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affected (more reachable) by lots of others</a:t>
            </a:r>
            <a:endParaRPr/>
          </a:p>
        </p:txBody>
      </p:sp>
      <p:grpSp>
        <p:nvGrpSpPr>
          <p:cNvPr id="86" name="Google Shape;86;p16"/>
          <p:cNvGrpSpPr/>
          <p:nvPr/>
        </p:nvGrpSpPr>
        <p:grpSpPr>
          <a:xfrm>
            <a:off x="381164" y="3456635"/>
            <a:ext cx="2134448" cy="1458152"/>
            <a:chOff x="354446" y="3402925"/>
            <a:chExt cx="2379275" cy="1606425"/>
          </a:xfrm>
        </p:grpSpPr>
        <p:pic>
          <p:nvPicPr>
            <p:cNvPr id="87" name="Google Shape;87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4446" y="4226775"/>
              <a:ext cx="2379275" cy="7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1175" y="3402925"/>
              <a:ext cx="2325825" cy="823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5173" y="1147225"/>
            <a:ext cx="4137228" cy="230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6"/>
          <p:cNvGrpSpPr/>
          <p:nvPr/>
        </p:nvGrpSpPr>
        <p:grpSpPr>
          <a:xfrm>
            <a:off x="3449750" y="3082375"/>
            <a:ext cx="4943872" cy="1832398"/>
            <a:chOff x="3449750" y="3082375"/>
            <a:chExt cx="4943872" cy="1832398"/>
          </a:xfrm>
        </p:grpSpPr>
        <p:pic>
          <p:nvPicPr>
            <p:cNvPr id="91" name="Google Shape;91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915373" y="3505098"/>
              <a:ext cx="4478250" cy="1409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6"/>
            <p:cNvSpPr txBox="1"/>
            <p:nvPr/>
          </p:nvSpPr>
          <p:spPr>
            <a:xfrm>
              <a:off x="3449750" y="4046000"/>
              <a:ext cx="2160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</a:t>
              </a: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5901825" y="3082375"/>
              <a:ext cx="2919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j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225225"/>
            <a:ext cx="555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Anthropologist Robin Dunbar: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Ego-networks are organized by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“Closer” more intimate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“Farther” less intimate 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Closer layers are smaller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Farther layers are larger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relationships entails different “maintenance costs”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Costs determine the number of persons in each layer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Support clique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Sympathy group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Affinity group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Active Network </a:t>
            </a:r>
            <a:endParaRPr b="1"/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863800" y="1482336"/>
            <a:ext cx="2968350" cy="28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ego networks organized?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225225"/>
            <a:ext cx="5552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Anthropologist Robin Dunbar: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Support clique (~ 4 - 5)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Your most intimate “best” friends and kin you can rely on them for crises and emergencies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Sympathy group (~12 - 15)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Good friends that can provide some services and that you contact often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Affinity group (~ 45 - 50)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More casual, “hang out” friends and extended relatives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Network (~120 - 150)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Total number people you contact or see at least once a year, acquaintances </a:t>
            </a:r>
            <a:endParaRPr i="1"/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863800" y="1482336"/>
            <a:ext cx="2968350" cy="283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>
            <a:off x="5160075" y="2225250"/>
            <a:ext cx="1946400" cy="687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3611225" y="3003825"/>
            <a:ext cx="3371100" cy="149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8"/>
          <p:cNvCxnSpPr/>
          <p:nvPr/>
        </p:nvCxnSpPr>
        <p:spPr>
          <a:xfrm flipH="1" rot="10800000">
            <a:off x="2567600" y="3517275"/>
            <a:ext cx="4348500" cy="17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8"/>
          <p:cNvCxnSpPr/>
          <p:nvPr/>
        </p:nvCxnSpPr>
        <p:spPr>
          <a:xfrm flipH="1" rot="10800000">
            <a:off x="4008775" y="3873450"/>
            <a:ext cx="2799600" cy="6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 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225225"/>
            <a:ext cx="4101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big is a person’s network, really?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clustering, friends can be friends of your other friends, so redundant.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one big clique, a person may really just have 1 information source.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Triadic closure &amp; transitivity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450" y="1833250"/>
            <a:ext cx="4425600" cy="1833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Coefficient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225225"/>
            <a:ext cx="5140800" cy="3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Size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</a:t>
            </a:r>
            <a:r>
              <a:rPr lang="en"/>
              <a:t> = 7, </a:t>
            </a:r>
            <a:r>
              <a:rPr b="1" lang="en"/>
              <a:t>E</a:t>
            </a:r>
            <a:r>
              <a:rPr lang="en"/>
              <a:t> =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Avg. Alter  Degree </a:t>
            </a:r>
            <a:r>
              <a:rPr lang="en"/>
              <a:t>= </a:t>
            </a:r>
            <a:r>
              <a:rPr lang="en">
                <a:solidFill>
                  <a:schemeClr val="accent1"/>
                </a:solidFill>
              </a:rPr>
              <a:t>2E/N = 2*6/7 =  1.7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Clustering Coefficient (CC):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of ego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CC = </a:t>
            </a:r>
            <a:r>
              <a:rPr lang="en">
                <a:solidFill>
                  <a:schemeClr val="accent1"/>
                </a:solidFill>
              </a:rPr>
              <a:t>2E/(N(N-1)) = (2*6)/(7*6) = .286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Redundancy</a:t>
            </a:r>
            <a:r>
              <a:rPr lang="en"/>
              <a:t>:   CC(N-1) 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</a:pPr>
            <a:r>
              <a:rPr lang="en">
                <a:solidFill>
                  <a:schemeClr val="accent1"/>
                </a:solidFill>
              </a:rPr>
              <a:t>.286(6) = 1.7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Effective Size (ES):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</a:pPr>
            <a:r>
              <a:rPr lang="en">
                <a:solidFill>
                  <a:schemeClr val="accent1"/>
                </a:solidFill>
              </a:rPr>
              <a:t>N - (2E/N) =  N - CC(N-1) = N - Av. Alter Degree</a:t>
            </a:r>
            <a:endParaRPr>
              <a:solidFill>
                <a:schemeClr val="accent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</a:pPr>
            <a:r>
              <a:rPr lang="en">
                <a:solidFill>
                  <a:schemeClr val="accent1"/>
                </a:solidFill>
              </a:rPr>
              <a:t>7-(2*6/7) = 7 - .286*6 = 7- 1.7 = 5.285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Efficiency:</a:t>
            </a:r>
            <a:r>
              <a:rPr lang="en"/>
              <a:t>   </a:t>
            </a:r>
            <a:r>
              <a:rPr lang="en">
                <a:solidFill>
                  <a:schemeClr val="accent1"/>
                </a:solidFill>
              </a:rPr>
              <a:t>ES/N  = 5.285/7 = .755</a:t>
            </a:r>
            <a:endParaRPr b="1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303" y="1316323"/>
            <a:ext cx="3667400" cy="31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Composition	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Heterogeneity</a:t>
            </a:r>
            <a:r>
              <a:rPr lang="en"/>
              <a:t> vs. homogeneity </a:t>
            </a:r>
            <a:r>
              <a:rPr lang="en"/>
              <a:t>among alters </a:t>
            </a:r>
            <a:r>
              <a:rPr lang="en"/>
              <a:t>on some nodal trait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Vertex Traits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Categorical: Race, Sex, Age, Education, Class, Occupation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Continuous:  Attitudes, Tastes, Social </a:t>
            </a:r>
            <a:r>
              <a:rPr lang="en"/>
              <a:t>Psychological</a:t>
            </a:r>
            <a:r>
              <a:rPr lang="en"/>
              <a:t> Scales, Mental Health, Network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Blau - Dimensions of Association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Network (Tie) Traits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strength, alter network size, tie traits (e.g. kin, co-workers, acquaintances, friends)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Socio-Demographic Diversity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Age (Life course stage)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Gender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Race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Occupation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Education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97425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Diversity:  Categorical Variables 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47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of number of categories represented in an ego network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Proportion in various categories (e.g. proportion White, Female)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Diversity </a:t>
            </a:r>
            <a:r>
              <a:rPr lang="en"/>
              <a:t>on categorical alter traits (sex, race, religion): Index of </a:t>
            </a:r>
            <a:r>
              <a:rPr i="1" lang="en"/>
              <a:t>qualitative</a:t>
            </a:r>
            <a:r>
              <a:rPr lang="en"/>
              <a:t> variation (IQV):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IQV = H / (1 - 1/r) where r is the number of different </a:t>
            </a:r>
            <a:r>
              <a:rPr b="1" lang="en"/>
              <a:t>types</a:t>
            </a:r>
            <a:r>
              <a:rPr lang="en"/>
              <a:t> of categories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 let’s say your network is 25% black and 50% white 10% Asian and 15% hispanic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Then IQV for race/ethnic ties is:</a:t>
            </a:r>
            <a:br>
              <a:rPr lang="en"/>
            </a:br>
            <a:r>
              <a:rPr lang="en"/>
              <a:t>(1 - 0.25</a:t>
            </a:r>
            <a:r>
              <a:rPr baseline="30000" lang="en"/>
              <a:t>2</a:t>
            </a:r>
            <a:r>
              <a:rPr lang="en"/>
              <a:t> - 0.50</a:t>
            </a:r>
            <a:r>
              <a:rPr baseline="30000" lang="en"/>
              <a:t>2</a:t>
            </a:r>
            <a:r>
              <a:rPr lang="en"/>
              <a:t>- 0.10</a:t>
            </a:r>
            <a:r>
              <a:rPr baseline="30000" lang="en"/>
              <a:t>2</a:t>
            </a:r>
            <a:r>
              <a:rPr lang="en"/>
              <a:t>- 0.15</a:t>
            </a:r>
            <a:r>
              <a:rPr baseline="30000" lang="en"/>
              <a:t>2</a:t>
            </a:r>
            <a:r>
              <a:rPr lang="en"/>
              <a:t>) ÷ (1 - 1/</a:t>
            </a:r>
            <a:r>
              <a:rPr b="1" lang="en"/>
              <a:t>4</a:t>
            </a:r>
            <a:r>
              <a:rPr lang="en"/>
              <a:t>) = </a:t>
            </a:r>
            <a:r>
              <a:rPr lang="en">
                <a:solidFill>
                  <a:srgbClr val="FF0000"/>
                </a:solidFill>
              </a:rPr>
              <a:t>0.87       </a:t>
            </a:r>
            <a:r>
              <a:rPr b="1" lang="en"/>
              <a:t>Very diverse!</a:t>
            </a:r>
            <a:endParaRPr>
              <a:solidFill>
                <a:srgbClr val="FF0000"/>
              </a:solidFill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But if was 0% black and 80% white 15% Asian and 5% hispanic</a:t>
            </a:r>
            <a:br>
              <a:rPr lang="en"/>
            </a:br>
            <a:r>
              <a:rPr lang="en"/>
              <a:t>(1 - 0</a:t>
            </a:r>
            <a:r>
              <a:rPr baseline="30000" lang="en"/>
              <a:t>2</a:t>
            </a:r>
            <a:r>
              <a:rPr lang="en"/>
              <a:t> - 0.80</a:t>
            </a:r>
            <a:r>
              <a:rPr baseline="30000" lang="en"/>
              <a:t>2</a:t>
            </a:r>
            <a:r>
              <a:rPr lang="en"/>
              <a:t>- 0.15</a:t>
            </a:r>
            <a:r>
              <a:rPr baseline="30000" lang="en"/>
              <a:t>2</a:t>
            </a:r>
            <a:r>
              <a:rPr lang="en"/>
              <a:t>- 0.05</a:t>
            </a:r>
            <a:r>
              <a:rPr baseline="30000" lang="en"/>
              <a:t>2</a:t>
            </a:r>
            <a:r>
              <a:rPr lang="en"/>
              <a:t>) ÷ (1 - 1/</a:t>
            </a:r>
            <a:r>
              <a:rPr b="1" lang="en"/>
              <a:t>4</a:t>
            </a:r>
            <a:r>
              <a:rPr lang="en"/>
              <a:t>) = </a:t>
            </a:r>
            <a:r>
              <a:rPr lang="en">
                <a:solidFill>
                  <a:srgbClr val="FF0000"/>
                </a:solidFill>
              </a:rPr>
              <a:t>0.45        </a:t>
            </a:r>
            <a:r>
              <a:rPr b="1" lang="en"/>
              <a:t>No so much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on tie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kin/family, friends, acquaintances, co-workers, neighbors.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Diversity Measures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Shannon Entropy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-1 * (Sum(pi * log(pi))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 =  count of alters in category 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Varies from 0 (homogeneity) to 1 (heterogeneity)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Diversity: Continuous Measure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Mean:   central tendency in the ego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Deviations (or other measures of dispersion):  </a:t>
            </a:r>
            <a:r>
              <a:rPr b="1" lang="en"/>
              <a:t>diversity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st.  dev.  ~ 0 →  homogeneity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compute diversity for both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traits of contacts: age, behaviors (drinking, smoking), educational attainment (in years)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traits:  multiplexity, tie strength (e.g.  closeness), number of types of support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 Distribution &amp; Social Signatures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225225"/>
            <a:ext cx="4183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Definition of “social signature”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The relative distribution of edge weights across an egocentric network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Especially, ranked proportion of interaction frequency within a given window of time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Like degree distribution for egonets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Calculation procedure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Define time window and bins for weighting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Compute weights for each ego-alter edge, as well as the total weight across edges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Rank edges by weight (</a:t>
            </a:r>
            <a:r>
              <a:rPr b="1"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descending order</a:t>
            </a: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Compute the proportion of total weight for each edge as a function of its rank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For now we will use instead the means and st.  deviation of the edge weight distribution.   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700" y="1465200"/>
            <a:ext cx="4385701" cy="21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4643650" y="3544625"/>
            <a:ext cx="4385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Saramäki, et al. 2014. “Persistence of Social Signatures in Human Communication.” </a:t>
            </a: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PNAS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111(3): 942-947. Fig. 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Composition &amp; Homophily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Composition measures</a:t>
            </a:r>
            <a:r>
              <a:rPr lang="en"/>
              <a:t>:  IQV (or entropy)  for quantitative variables; mean and st. dev. of alters on some trait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measures for </a:t>
            </a:r>
            <a:r>
              <a:rPr b="1" lang="en"/>
              <a:t>Continuous Variables</a:t>
            </a:r>
            <a:r>
              <a:rPr lang="en"/>
              <a:t>:  Similarity/Difference Scores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each alter to the ego on that trait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=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the absolute value of the differences across all ties in ego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Alternative:  Compute mean of </a:t>
            </a:r>
            <a:r>
              <a:rPr lang="en"/>
              <a:t>trait among alters;  Compute difference score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measures for </a:t>
            </a:r>
            <a:r>
              <a:rPr b="1" lang="en"/>
              <a:t>Categorical Variables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Proportion same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Mixing Matrices (on vs. off-diagonal)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 Score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Composition Measures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compute composition/diversity measures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traits (gender, race, attitudes, status)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traits derived from network position (degree)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traits (kin, co-workers, friends)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traits derived from network interaction (tie </a:t>
            </a:r>
            <a:r>
              <a:rPr lang="en"/>
              <a:t>strength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tie traits can not compute homophily measures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 Reciprocity is differential directed tie strength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nodal traits can compute both composition and homophily measures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Measuring Homophily: EI Scores for Categorical Variables</a:t>
            </a:r>
            <a:endParaRPr sz="3700"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 = (E - I)/(E+I)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 = number of ties that are different from ego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= number of ties that are similar to ego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E+I = total ties.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Varies from -1 to +1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-1 indicates homophily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+1 indicates heterophily -  ties </a:t>
            </a:r>
            <a:r>
              <a:rPr lang="en"/>
              <a:t>only to people not like ego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 indicates no association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Mixing Matrix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4427975" cy="27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350" y="253050"/>
            <a:ext cx="2359773" cy="20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375" y="2703299"/>
            <a:ext cx="2261750" cy="20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866388" y="41501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EI = (E - I)/(E+I)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 Ego Network Properties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Size (Degree)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Clustering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Coefficient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Redundancy, Effective Size, Efficiency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Diversity/Composition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ie strength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strength is defined as a </a:t>
            </a:r>
            <a:r>
              <a:rPr b="1" lang="en"/>
              <a:t>combination</a:t>
            </a:r>
            <a:r>
              <a:rPr lang="en"/>
              <a:t> of multiple tie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spent together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Emotional intensity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Intimacy and confiding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of interaction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Which ones are the best indicators of tie strength empirically?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/>
              <a:t>“The strength of a tie is a (probably linear) combination of the amount of time, the emotional intensity, the intimacy (mutual confiding) and the reciprocal services which characterize the tie”</a:t>
            </a:r>
            <a:r>
              <a:rPr lang="en"/>
              <a:t> (Granovetter 1973:  1361)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tie strength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deviation of average tie strength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Some propositions (Marsden 1987)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1225225"/>
            <a:ext cx="4847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larger the ego network: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diverse, less homophilous, more open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 ego networks: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more clustered , less diverse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diversity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homophily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higher average tie strength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clustering, less diversity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proportion kin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homophily, less diversity, more clustering  </a:t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951" y="1451024"/>
            <a:ext cx="3190300" cy="2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649" y="690750"/>
            <a:ext cx="4799601" cy="349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Trait Clustering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Homophily/Assortativity -  nodal trait clustering at level of dyads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are connected by an edge are likely to be more similar than non-connected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Network:  Low (negative) EI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Segmentation (segregation) - nodal trait clustering at the whole network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Few ties between clusters (segments), most ties within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Macro traits associated with social inequalities (race, gender, class, occupation, religion, education, age, income) → micro patterns of social interaction (ties within and between categorical groups)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also look at variation in behaviors (e.g., health) and tastes (e.g., musical genres)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network traits of nodes nodes (degree, clustering)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Nodal Trait Clustering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Whole network -- dyadic assortativity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Dyads in which the two nodes are similar are more likely than chance (given distribution of trait among all nodes in the network)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randomly placed ties between nodes, would we see assortativity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example, if 50-50 distribution, 50% of ties will be assortative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80-20 distribution, 68 % assortative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compare observed assortativity to predicted under a model that maintains nodel trait distribution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random placement will lead to change in degree </a:t>
            </a:r>
            <a:r>
              <a:rPr lang="en"/>
              <a:t>distribution</a:t>
            </a:r>
            <a:r>
              <a:rPr lang="en"/>
              <a:t> and degree assortativity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placement without change in degree distribution, degree correlation, and vertex trait distribution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Loneliness</a:t>
            </a:r>
            <a:r>
              <a:rPr lang="en"/>
              <a:t> Example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225225"/>
            <a:ext cx="4701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 dimensions of </a:t>
            </a:r>
            <a:r>
              <a:rPr lang="en" sz="1600"/>
              <a:t>loneliness</a:t>
            </a:r>
            <a:r>
              <a:rPr lang="en" sz="1600"/>
              <a:t>:  familial, social, romantic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Ties in Fall 2015, Spring 2016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Compute correlation between  </a:t>
            </a:r>
            <a:r>
              <a:rPr lang="en" sz="1600"/>
              <a:t>loneliness</a:t>
            </a:r>
            <a:r>
              <a:rPr lang="en" sz="1600"/>
              <a:t> of i and average </a:t>
            </a:r>
            <a:r>
              <a:rPr lang="en" sz="1600"/>
              <a:t>loneliness</a:t>
            </a:r>
            <a:r>
              <a:rPr lang="en" sz="1600"/>
              <a:t> of i’s alter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Rewire networks 1000 times preserving degree distribution and correlation</a:t>
            </a:r>
            <a:r>
              <a:rPr lang="en" sz="1600"/>
              <a:t>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Compute loneliness correlation and average correlation across 1000 networks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Compare correlations</a:t>
            </a:r>
            <a:endParaRPr sz="1600"/>
          </a:p>
        </p:txBody>
      </p:sp>
      <p:pic>
        <p:nvPicPr>
          <p:cNvPr id="233" name="Google Shape;2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500" y="690025"/>
            <a:ext cx="2391071" cy="3691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Homophily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311700" y="1147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Measures indicate clustering on a nodal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are (more) similar are more likely to have edges between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Network:  Low (negative) EI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reasons for this network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Induced 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Choice Homophily -- Bias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of Homophily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Personal preferences influencing choice of alters (</a:t>
            </a:r>
            <a:r>
              <a:rPr b="1" lang="en"/>
              <a:t>choice</a:t>
            </a:r>
            <a:r>
              <a:rPr lang="en"/>
              <a:t> homophily - Lazerfeld &amp; Merton)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likely to associate with people who are similar to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population from which alters are drawn (</a:t>
            </a:r>
            <a:r>
              <a:rPr b="1" lang="en"/>
              <a:t>induced</a:t>
            </a:r>
            <a:r>
              <a:rPr lang="en"/>
              <a:t> homophily - Blau)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Composition of social foci in which ego interacts with others (Feld)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 (degree) of ego’s network (Marsden)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1147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Birds of a feather flock together -- but 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Comfort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Proximity because of physical segregation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Prejudice and discrimination (animous, unconscious, statistical)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Identities and salience -- seek out those who are similar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assumes preferences operate at the time of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also operate during tie evolution (maintenance) and tie decay (dissolution)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Assumes similarities and differences are visible (can be easily known)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 of multiform heterogeneity (Blau)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dimensions of stratification are correlated (e.g, religion and race), homophily on a nodal trait could indicate (1) preference for people with that trait or (2) preference for people with another trait that is highly coupled with that trait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Preference for those who are different -- heterophily ?????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225225"/>
            <a:ext cx="6576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composition</a:t>
            </a:r>
            <a:r>
              <a:rPr lang="en"/>
              <a:t> of your ego network is likely </a:t>
            </a:r>
            <a:r>
              <a:rPr b="1" lang="en"/>
              <a:t>biased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How</a:t>
            </a:r>
            <a:r>
              <a:rPr lang="en"/>
              <a:t> are your ego networks biased?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over-represented </a:t>
            </a:r>
            <a:r>
              <a:rPr lang="en"/>
              <a:t>in your ego-network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kinds of people are </a:t>
            </a:r>
            <a:r>
              <a:rPr b="1" lang="en"/>
              <a:t>under-represented</a:t>
            </a:r>
            <a:r>
              <a:rPr lang="en"/>
              <a:t> in your ego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0000FF"/>
                </a:solidFill>
              </a:rPr>
              <a:t>over-represented</a:t>
            </a:r>
            <a:r>
              <a:rPr lang="en"/>
              <a:t> are more likely to be </a:t>
            </a:r>
            <a:r>
              <a:rPr b="1" lang="en">
                <a:solidFill>
                  <a:srgbClr val="0000FF"/>
                </a:solidFill>
              </a:rPr>
              <a:t>similar</a:t>
            </a:r>
            <a:r>
              <a:rPr lang="en"/>
              <a:t> to you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people who are </a:t>
            </a:r>
            <a:r>
              <a:rPr b="1" lang="en">
                <a:solidFill>
                  <a:srgbClr val="FF0000"/>
                </a:solidFill>
              </a:rPr>
              <a:t>under-represented</a:t>
            </a:r>
            <a:r>
              <a:rPr lang="en"/>
              <a:t> are more likely to be </a:t>
            </a:r>
            <a:r>
              <a:rPr b="1" lang="en">
                <a:solidFill>
                  <a:srgbClr val="FF0000"/>
                </a:solidFill>
              </a:rPr>
              <a:t>dissimilar</a:t>
            </a:r>
            <a:r>
              <a:rPr lang="en"/>
              <a:t> to you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last two things are the basis of </a:t>
            </a:r>
            <a:r>
              <a:rPr b="1" lang="en"/>
              <a:t>homophily*</a:t>
            </a:r>
            <a:endParaRPr b="1"/>
          </a:p>
        </p:txBody>
      </p:sp>
      <p:pic>
        <p:nvPicPr>
          <p:cNvPr id="258" name="Google Shape;2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1"/>
          <p:cNvSpPr txBox="1"/>
          <p:nvPr/>
        </p:nvSpPr>
        <p:spPr>
          <a:xfrm>
            <a:off x="311700" y="4431325"/>
            <a:ext cx="6576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*</a:t>
            </a:r>
            <a:r>
              <a:rPr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McPherson, M., Smith-Lovin, L., &amp; Cook, J. M. (2001). Birds of a feather: Homophily in social networks. </a:t>
            </a:r>
            <a:r>
              <a:rPr i="1"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Annual Review of Sociology</a:t>
            </a:r>
            <a:r>
              <a:rPr lang="en" sz="105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, 27(1), 415-444.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225225"/>
            <a:ext cx="657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i="1" lang="en"/>
              <a:t>what</a:t>
            </a:r>
            <a:r>
              <a:rPr lang="en"/>
              <a:t> </a:t>
            </a:r>
            <a:r>
              <a:rPr i="1" lang="en"/>
              <a:t>ways</a:t>
            </a:r>
            <a:r>
              <a:rPr lang="en"/>
              <a:t> are your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pretty much any social distinction we can think of*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Race/Ethnicity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Occupation/Income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what Peter Blau called “</a:t>
            </a:r>
            <a:r>
              <a:rPr b="1" lang="en"/>
              <a:t>dimensions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association</a:t>
            </a:r>
            <a:r>
              <a:rPr lang="en"/>
              <a:t>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of these are “</a:t>
            </a:r>
            <a:r>
              <a:rPr b="1" lang="en"/>
              <a:t>categorical</a:t>
            </a:r>
            <a:r>
              <a:rPr lang="en"/>
              <a:t>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race , gender or occupation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are “</a:t>
            </a:r>
            <a:r>
              <a:rPr b="1" lang="en"/>
              <a:t>continuous</a:t>
            </a:r>
            <a:r>
              <a:rPr lang="en"/>
              <a:t>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age, education or income</a:t>
            </a:r>
            <a:endParaRPr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154912" y="1880513"/>
            <a:ext cx="3410675" cy="19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225225"/>
            <a:ext cx="5461200" cy="32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Why</a:t>
            </a:r>
            <a:r>
              <a:rPr lang="en"/>
              <a:t> are your ego networks biased toward homophily?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obvious</a:t>
            </a:r>
            <a:r>
              <a:rPr lang="en"/>
              <a:t> source of bias is what has been called* </a:t>
            </a:r>
            <a:r>
              <a:rPr b="1" lang="en"/>
              <a:t>choice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like to hang out with people who are similar to you (regardless)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</a:t>
            </a:r>
            <a:r>
              <a:rPr b="1" lang="en"/>
              <a:t>non-obvious</a:t>
            </a:r>
            <a:r>
              <a:rPr lang="en"/>
              <a:t> source of bias is what has been called* </a:t>
            </a:r>
            <a:r>
              <a:rPr b="1" lang="en"/>
              <a:t>induced homophily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The social context (nation, state, organization) where you reside determines the people who are available for you to hang out with</a:t>
            </a:r>
            <a:endParaRPr i="1"/>
          </a:p>
          <a:p>
            <a:pPr indent="0" lvl="0" marL="18288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eterBlau.jpg" id="273" name="Google Shape;2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3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sp>
        <p:nvSpPr>
          <p:cNvPr id="275" name="Google Shape;275;p43"/>
          <p:cNvSpPr txBox="1"/>
          <p:nvPr/>
        </p:nvSpPr>
        <p:spPr>
          <a:xfrm>
            <a:off x="311700" y="4431325"/>
            <a:ext cx="607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*McPherson, J. M., &amp; Smith-Lovin, L. (1987). Homophily in voluntary organizations: Status distance and the composition of face-to-face groups.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American Sociological Review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, 370-379.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281" name="Google Shape;28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282" name="Google Shape;2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284" name="Google Shape;28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44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295" name="Google Shape;295;p44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6" name="Google Shape;296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1" name="Google Shape;301;p44"/>
            <p:cNvCxnSpPr>
              <a:stCxn id="296" idx="1"/>
              <a:endCxn id="297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44"/>
            <p:cNvCxnSpPr>
              <a:stCxn id="296" idx="0"/>
              <a:endCxn id="299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44"/>
            <p:cNvCxnSpPr>
              <a:stCxn id="296" idx="0"/>
              <a:endCxn id="298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44"/>
            <p:cNvCxnSpPr>
              <a:stCxn id="300" idx="2"/>
              <a:endCxn id="296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5" name="Google Shape;305;p44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306" name="Google Shape;306;p44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7" name="Google Shape;307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0" name="Google Shape;310;p44"/>
            <p:cNvCxnSpPr>
              <a:stCxn id="307" idx="1"/>
              <a:endCxn id="308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44"/>
            <p:cNvCxnSpPr>
              <a:stCxn id="307" idx="0"/>
              <a:endCxn id="312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44"/>
            <p:cNvCxnSpPr>
              <a:stCxn id="307" idx="0"/>
              <a:endCxn id="314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44"/>
            <p:cNvCxnSpPr>
              <a:stCxn id="309" idx="2"/>
              <a:endCxn id="307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12" name="Google Shape;312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" name="Google Shape;316;p44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317" name="Google Shape;317;p44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318" name="Google Shape;318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325" name="Google Shape;325;p44"/>
          <p:cNvCxnSpPr>
            <a:stCxn id="324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44"/>
          <p:cNvCxnSpPr>
            <a:stCxn id="324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332" name="Google Shape;332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333" name="Google Shape;33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335" name="Google Shape;33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5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45"/>
          <p:cNvCxnSpPr>
            <a:stCxn id="357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5"/>
          <p:cNvCxnSpPr>
            <a:stCxn id="357" idx="0"/>
            <a:endCxn id="354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5"/>
          <p:cNvCxnSpPr>
            <a:stCxn id="357" idx="0"/>
            <a:endCxn id="353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5"/>
          <p:cNvCxnSpPr>
            <a:stCxn id="355" idx="2"/>
            <a:endCxn id="357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7" name="Google Shape;35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45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362" name="Google Shape;362;p45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3" name="Google Shape;363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4" name="Google Shape;364;p45"/>
            <p:cNvCxnSpPr>
              <a:stCxn id="365" idx="1"/>
              <a:endCxn id="366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45"/>
            <p:cNvCxnSpPr>
              <a:stCxn id="365" idx="0"/>
              <a:endCxn id="368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45"/>
            <p:cNvCxnSpPr>
              <a:stCxn id="365" idx="0"/>
              <a:endCxn id="370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45"/>
            <p:cNvCxnSpPr>
              <a:stCxn id="363" idx="2"/>
              <a:endCxn id="365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2" name="Google Shape;372;p45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370" name="Google Shape;37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375" name="Google Shape;375;p45"/>
          <p:cNvCxnSpPr>
            <a:stCxn id="374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45"/>
          <p:cNvCxnSpPr>
            <a:stCxn id="374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77" name="Google Shape;37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383" name="Google Shape;38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384" name="Google Shape;3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386" name="Google Shape;38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p46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397" name="Google Shape;397;p46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8" name="Google Shape;398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26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431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938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7935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3" name="Google Shape;403;p46"/>
            <p:cNvCxnSpPr>
              <a:stCxn id="398" idx="1"/>
              <a:endCxn id="399" idx="2"/>
            </p:cNvCxnSpPr>
            <p:nvPr/>
          </p:nvCxnSpPr>
          <p:spPr>
            <a:xfrm rot="10800000">
              <a:off x="44396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46"/>
            <p:cNvCxnSpPr>
              <a:stCxn id="398" idx="0"/>
              <a:endCxn id="401" idx="2"/>
            </p:cNvCxnSpPr>
            <p:nvPr/>
          </p:nvCxnSpPr>
          <p:spPr>
            <a:xfrm rot="10800000">
              <a:off x="865330" y="3908625"/>
              <a:ext cx="232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46"/>
            <p:cNvCxnSpPr>
              <a:stCxn id="398" idx="0"/>
              <a:endCxn id="400" idx="2"/>
            </p:cNvCxnSpPr>
            <p:nvPr/>
          </p:nvCxnSpPr>
          <p:spPr>
            <a:xfrm flipH="1" rot="10800000">
              <a:off x="1098130" y="3908625"/>
              <a:ext cx="2034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46"/>
            <p:cNvCxnSpPr>
              <a:stCxn id="402" idx="2"/>
              <a:endCxn id="398" idx="3"/>
            </p:cNvCxnSpPr>
            <p:nvPr/>
          </p:nvCxnSpPr>
          <p:spPr>
            <a:xfrm flipH="1">
              <a:off x="124177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" name="Google Shape;407;p46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408" name="Google Shape;408;p46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2" name="Google Shape;412;p46"/>
            <p:cNvCxnSpPr>
              <a:stCxn id="409" idx="1"/>
              <a:endCxn id="410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46"/>
            <p:cNvCxnSpPr>
              <a:stCxn id="409" idx="0"/>
              <a:endCxn id="414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46"/>
            <p:cNvCxnSpPr>
              <a:stCxn id="409" idx="0"/>
              <a:endCxn id="416" idx="2"/>
            </p:cNvCxnSpPr>
            <p:nvPr/>
          </p:nvCxnSpPr>
          <p:spPr>
            <a:xfrm flipH="1" rot="10800000">
              <a:off x="3407580" y="3908625"/>
              <a:ext cx="1848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46"/>
            <p:cNvCxnSpPr>
              <a:stCxn id="411" idx="2"/>
              <a:endCxn id="409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14" name="Google Shape;414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48724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8" name="Google Shape;418;p46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419" name="Google Shape;419;p46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420" name="Google Shape;42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6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427" name="Google Shape;427;p46"/>
          <p:cNvCxnSpPr>
            <a:stCxn id="426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46"/>
          <p:cNvCxnSpPr>
            <a:stCxn id="426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434" name="Google Shape;43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PeterBlau.jpg" id="435" name="Google Shape;43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100" y="1225225"/>
            <a:ext cx="2226350" cy="30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Peter Blau (1918 - 2002)</a:t>
            </a:r>
            <a:endParaRPr/>
          </a:p>
        </p:txBody>
      </p:sp>
      <p:pic>
        <p:nvPicPr>
          <p:cNvPr id="437" name="Google Shape;43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7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</a:t>
            </a:r>
            <a:endParaRPr/>
          </a:p>
        </p:txBody>
      </p:sp>
      <p:sp>
        <p:nvSpPr>
          <p:cNvPr id="454" name="Google Shape;454;p47"/>
          <p:cNvSpPr/>
          <p:nvPr/>
        </p:nvSpPr>
        <p:spPr>
          <a:xfrm>
            <a:off x="238075" y="2824400"/>
            <a:ext cx="2060700" cy="18993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34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238" y="32067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965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47"/>
          <p:cNvCxnSpPr>
            <a:stCxn id="459" idx="1"/>
          </p:cNvCxnSpPr>
          <p:nvPr/>
        </p:nvCxnSpPr>
        <p:spPr>
          <a:xfrm rot="10800000">
            <a:off x="614200" y="3781025"/>
            <a:ext cx="4959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47"/>
          <p:cNvCxnSpPr>
            <a:stCxn id="459" idx="0"/>
            <a:endCxn id="456" idx="2"/>
          </p:cNvCxnSpPr>
          <p:nvPr/>
        </p:nvCxnSpPr>
        <p:spPr>
          <a:xfrm rot="10800000">
            <a:off x="1035625" y="3780987"/>
            <a:ext cx="2328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47"/>
          <p:cNvCxnSpPr>
            <a:stCxn id="459" idx="0"/>
            <a:endCxn id="455" idx="2"/>
          </p:cNvCxnSpPr>
          <p:nvPr/>
        </p:nvCxnSpPr>
        <p:spPr>
          <a:xfrm flipH="1" rot="10800000">
            <a:off x="1268425" y="3780987"/>
            <a:ext cx="203400" cy="23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7"/>
          <p:cNvCxnSpPr>
            <a:stCxn id="457" idx="2"/>
            <a:endCxn id="459" idx="3"/>
          </p:cNvCxnSpPr>
          <p:nvPr/>
        </p:nvCxnSpPr>
        <p:spPr>
          <a:xfrm flipH="1">
            <a:off x="1426775" y="3781000"/>
            <a:ext cx="4812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" name="Google Shape;45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100" y="4014087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47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464" name="Google Shape;464;p47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5" name="Google Shape;465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6" name="Google Shape;466;p47"/>
            <p:cNvCxnSpPr>
              <a:stCxn id="467" idx="1"/>
              <a:endCxn id="468" idx="2"/>
            </p:cNvCxnSpPr>
            <p:nvPr/>
          </p:nvCxnSpPr>
          <p:spPr>
            <a:xfrm rot="10800000">
              <a:off x="2776300" y="3908725"/>
              <a:ext cx="4878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47"/>
            <p:cNvCxnSpPr>
              <a:stCxn id="467" idx="0"/>
              <a:endCxn id="470" idx="2"/>
            </p:cNvCxnSpPr>
            <p:nvPr/>
          </p:nvCxnSpPr>
          <p:spPr>
            <a:xfrm rot="10800000">
              <a:off x="3193888" y="3908725"/>
              <a:ext cx="2649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47"/>
            <p:cNvCxnSpPr>
              <a:stCxn id="467" idx="0"/>
              <a:endCxn id="472" idx="2"/>
            </p:cNvCxnSpPr>
            <p:nvPr/>
          </p:nvCxnSpPr>
          <p:spPr>
            <a:xfrm flipH="1" rot="10800000">
              <a:off x="3407475" y="3908725"/>
              <a:ext cx="204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47"/>
            <p:cNvCxnSpPr>
              <a:stCxn id="465" idx="2"/>
              <a:endCxn id="467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4" name="Google Shape;474;p47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Biased</a:t>
            </a:r>
            <a:endParaRPr/>
          </a:p>
        </p:txBody>
      </p:sp>
      <p:pic>
        <p:nvPicPr>
          <p:cNvPr id="472" name="Google Shape;47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675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08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0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61" y="3206725"/>
            <a:ext cx="287138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7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477" name="Google Shape;477;p47"/>
          <p:cNvCxnSpPr>
            <a:stCxn id="476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7"/>
          <p:cNvCxnSpPr>
            <a:stCxn id="476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9" name="Google Shape;47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775" y="4014074"/>
            <a:ext cx="316650" cy="5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Group size effects</a:t>
            </a:r>
            <a:endParaRPr/>
          </a:p>
        </p:txBody>
      </p:sp>
      <p:sp>
        <p:nvSpPr>
          <p:cNvPr id="485" name="Google Shape;485;p48"/>
          <p:cNvSpPr txBox="1"/>
          <p:nvPr>
            <p:ph idx="1" type="body"/>
          </p:nvPr>
        </p:nvSpPr>
        <p:spPr>
          <a:xfrm>
            <a:off x="311700" y="1225225"/>
            <a:ext cx="54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a categorical dimension divides the population into two or more groups: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Rule 1</a:t>
            </a:r>
            <a:r>
              <a:rPr lang="en"/>
              <a:t>: Members of </a:t>
            </a:r>
            <a:r>
              <a:rPr b="1" lang="en"/>
              <a:t>numerically smaller groups</a:t>
            </a:r>
            <a:r>
              <a:rPr lang="en"/>
              <a:t> will be more likely to have relations with </a:t>
            </a:r>
            <a:r>
              <a:rPr b="1" lang="en"/>
              <a:t>outgroup members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Rule 2</a:t>
            </a:r>
            <a:r>
              <a:rPr lang="en"/>
              <a:t>: Members of </a:t>
            </a:r>
            <a:r>
              <a:rPr b="1" lang="en"/>
              <a:t>numerically larger groups</a:t>
            </a:r>
            <a:r>
              <a:rPr lang="en"/>
              <a:t> will be more likely to have relations with </a:t>
            </a:r>
            <a:r>
              <a:rPr b="1" lang="en"/>
              <a:t>ingroup members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called </a:t>
            </a:r>
            <a:r>
              <a:rPr b="1" lang="en"/>
              <a:t>group size effects 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T_15.06.12.Interracial.png" id="486" name="Google Shape;486;p48"/>
          <p:cNvPicPr preferRelativeResize="0"/>
          <p:nvPr/>
        </p:nvPicPr>
        <p:blipFill rotWithShape="1">
          <a:blip r:embed="rId3">
            <a:alphaModFix/>
          </a:blip>
          <a:srcRect b="38169" l="-3713" r="0" t="2764"/>
          <a:stretch/>
        </p:blipFill>
        <p:spPr>
          <a:xfrm>
            <a:off x="5955300" y="1147225"/>
            <a:ext cx="2877000" cy="20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025" y="3174299"/>
            <a:ext cx="3183550" cy="17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Foci</a:t>
            </a:r>
            <a:endParaRPr/>
          </a:p>
        </p:txBody>
      </p:sp>
      <p:sp>
        <p:nvSpPr>
          <p:cNvPr id="493" name="Google Shape;493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insight:  People do not form ties at random, but rather they form ties through settings where they meet and interact with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foci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“ a social, psychological, legal, or physical entity around which joint activities are organized (e.g., workplaces, voluntary organizations, hangouts, families, etc.” (Feld 1981: 1016)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formation via affiliations (e.g., clubs, religious organizations, classes)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in constraint (time and energy required) and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can belong to 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cross-cutting or overlapping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foci → composition of ego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Segregated foci → 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Integrated foci → reduce homophily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311700" y="1225225"/>
            <a:ext cx="556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around several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Levels of “constraint”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Time and energy that they require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may emerge from pre-existing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form clubs, participate in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generally belong to multiple intersecting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“Cross-cutting” circles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at the ego-network level may be the result of constraining overlapping foci</a:t>
            </a:r>
            <a:endParaRPr/>
          </a:p>
        </p:txBody>
      </p:sp>
      <p:pic>
        <p:nvPicPr>
          <p:cNvPr id="500" name="Google Shape;5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506" name="Google Shape;506;p51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observation: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“foci” may themselves be a primary driver of which relations show up in people’s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“focus”?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07" name="Google Shape;507;p51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5878500" y="1379163"/>
            <a:ext cx="3069726" cy="23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organizations of social ties</a:t>
            </a:r>
            <a:endParaRPr/>
          </a:p>
        </p:txBody>
      </p:sp>
      <p:sp>
        <p:nvSpPr>
          <p:cNvPr id="513" name="Google Shape;513;p52"/>
          <p:cNvSpPr txBox="1"/>
          <p:nvPr>
            <p:ph idx="1" type="body"/>
          </p:nvPr>
        </p:nvSpPr>
        <p:spPr>
          <a:xfrm>
            <a:off x="311700" y="1225225"/>
            <a:ext cx="55668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suggests two new mechanisms for where ties come from: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14" name="Google Shape;51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647" y="1624963"/>
            <a:ext cx="2953650" cy="255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52"/>
          <p:cNvGrpSpPr/>
          <p:nvPr/>
        </p:nvGrpSpPr>
        <p:grpSpPr>
          <a:xfrm>
            <a:off x="1027590" y="2056524"/>
            <a:ext cx="4135005" cy="2753453"/>
            <a:chOff x="457300" y="1874050"/>
            <a:chExt cx="4519625" cy="3013850"/>
          </a:xfrm>
        </p:grpSpPr>
        <p:pic>
          <p:nvPicPr>
            <p:cNvPr id="516" name="Google Shape;516;p52"/>
            <p:cNvPicPr preferRelativeResize="0"/>
            <p:nvPr/>
          </p:nvPicPr>
          <p:blipFill rotWithShape="1">
            <a:blip r:embed="rId4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52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518" name="Google Shape;518;p52"/>
            <p:cNvPicPr preferRelativeResize="0"/>
            <p:nvPr/>
          </p:nvPicPr>
          <p:blipFill rotWithShape="1">
            <a:blip r:embed="rId4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52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525" name="Google Shape;525;p53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grpSp>
        <p:nvGrpSpPr>
          <p:cNvPr id="526" name="Google Shape;526;p53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527" name="Google Shape;527;p53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528" name="Google Shape;528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974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2711" y="145077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p53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532" name="Google Shape;532;p53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533" name="Google Shape;533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3174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911" y="1515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" name="Google Shape;536;p53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537" name="Google Shape;537;p53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538" name="Google Shape;538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1811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549" y="15937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" name="Google Shape;541;p53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542" name="Google Shape;542;p53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543" name="Google Shape;543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4" name="Google Shape;54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711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199" y="3419637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7" name="Google Shape;547;p53"/>
          <p:cNvCxnSpPr>
            <a:stCxn id="542" idx="0"/>
            <a:endCxn id="527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53"/>
          <p:cNvCxnSpPr>
            <a:stCxn id="542" idx="0"/>
            <a:endCxn id="532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53"/>
          <p:cNvCxnSpPr>
            <a:stCxn id="542" idx="0"/>
            <a:endCxn id="537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53"/>
          <p:cNvCxnSpPr>
            <a:stCxn id="542" idx="1"/>
            <a:endCxn id="544" idx="3"/>
          </p:cNvCxnSpPr>
          <p:nvPr/>
        </p:nvCxnSpPr>
        <p:spPr>
          <a:xfrm flipH="1">
            <a:off x="21208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53"/>
          <p:cNvCxnSpPr>
            <a:stCxn id="542" idx="2"/>
            <a:endCxn id="545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53"/>
          <p:cNvCxnSpPr>
            <a:stCxn id="542" idx="3"/>
            <a:endCxn id="546" idx="1"/>
          </p:cNvCxnSpPr>
          <p:nvPr/>
        </p:nvCxnSpPr>
        <p:spPr>
          <a:xfrm>
            <a:off x="3532375" y="3582388"/>
            <a:ext cx="7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53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pic>
        <p:nvPicPr>
          <p:cNvPr id="554" name="Google Shape;55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grpSp>
        <p:nvGrpSpPr>
          <p:cNvPr id="560" name="Google Shape;560;p54"/>
          <p:cNvGrpSpPr/>
          <p:nvPr/>
        </p:nvGrpSpPr>
        <p:grpSpPr>
          <a:xfrm>
            <a:off x="497488" y="1147225"/>
            <a:ext cx="1689600" cy="1507500"/>
            <a:chOff x="124738" y="1082275"/>
            <a:chExt cx="1689600" cy="1507500"/>
          </a:xfrm>
        </p:grpSpPr>
        <p:sp>
          <p:nvSpPr>
            <p:cNvPr id="561" name="Google Shape;561;p54"/>
            <p:cNvSpPr/>
            <p:nvPr/>
          </p:nvSpPr>
          <p:spPr>
            <a:xfrm>
              <a:off x="124738" y="1082275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Church</a:t>
              </a:r>
              <a:endParaRPr/>
            </a:p>
          </p:txBody>
        </p:sp>
        <p:pic>
          <p:nvPicPr>
            <p:cNvPr id="562" name="Google Shape;562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2336" y="145466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3" name="Google Shape;563;p54"/>
          <p:cNvGrpSpPr/>
          <p:nvPr/>
        </p:nvGrpSpPr>
        <p:grpSpPr>
          <a:xfrm>
            <a:off x="2371225" y="1147213"/>
            <a:ext cx="1689600" cy="1507500"/>
            <a:chOff x="1981925" y="1127113"/>
            <a:chExt cx="1689600" cy="1507500"/>
          </a:xfrm>
        </p:grpSpPr>
        <p:sp>
          <p:nvSpPr>
            <p:cNvPr id="564" name="Google Shape;564;p54"/>
            <p:cNvSpPr/>
            <p:nvPr/>
          </p:nvSpPr>
          <p:spPr>
            <a:xfrm>
              <a:off x="1981925" y="1127113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Family</a:t>
              </a:r>
              <a:endParaRPr/>
            </a:p>
          </p:txBody>
        </p:sp>
        <p:pic>
          <p:nvPicPr>
            <p:cNvPr id="565" name="Google Shape;565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536" y="1519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6" name="Google Shape;566;p54"/>
          <p:cNvGrpSpPr/>
          <p:nvPr/>
        </p:nvGrpSpPr>
        <p:grpSpPr>
          <a:xfrm>
            <a:off x="4377663" y="1077075"/>
            <a:ext cx="1689600" cy="1507500"/>
            <a:chOff x="4020563" y="1127100"/>
            <a:chExt cx="1689600" cy="1507500"/>
          </a:xfrm>
        </p:grpSpPr>
        <p:sp>
          <p:nvSpPr>
            <p:cNvPr id="567" name="Google Shape;567;p54"/>
            <p:cNvSpPr/>
            <p:nvPr/>
          </p:nvSpPr>
          <p:spPr>
            <a:xfrm>
              <a:off x="4020563" y="1127100"/>
              <a:ext cx="1689600" cy="1507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School</a:t>
              </a:r>
              <a:endParaRPr/>
            </a:p>
          </p:txBody>
        </p:sp>
        <p:pic>
          <p:nvPicPr>
            <p:cNvPr id="568" name="Google Shape;568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8174" y="1597612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9" name="Google Shape;569;p54"/>
          <p:cNvGrpSpPr/>
          <p:nvPr/>
        </p:nvGrpSpPr>
        <p:grpSpPr>
          <a:xfrm>
            <a:off x="2899675" y="3125038"/>
            <a:ext cx="632700" cy="914700"/>
            <a:chOff x="2899675" y="3125038"/>
            <a:chExt cx="632700" cy="914700"/>
          </a:xfrm>
        </p:grpSpPr>
        <p:sp>
          <p:nvSpPr>
            <p:cNvPr id="570" name="Google Shape;570;p54"/>
            <p:cNvSpPr/>
            <p:nvPr/>
          </p:nvSpPr>
          <p:spPr>
            <a:xfrm>
              <a:off x="2899675" y="3125038"/>
              <a:ext cx="632700" cy="9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You</a:t>
              </a:r>
              <a:endParaRPr/>
            </a:p>
          </p:txBody>
        </p:sp>
        <p:pic>
          <p:nvPicPr>
            <p:cNvPr id="571" name="Google Shape;571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461" y="3199537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2" name="Google Shape;57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461" y="4353312"/>
            <a:ext cx="287138" cy="574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3" name="Google Shape;573;p54"/>
          <p:cNvCxnSpPr>
            <a:stCxn id="570" idx="0"/>
            <a:endCxn id="561" idx="5"/>
          </p:cNvCxnSpPr>
          <p:nvPr/>
        </p:nvCxnSpPr>
        <p:spPr>
          <a:xfrm rot="10800000">
            <a:off x="1939525" y="2433838"/>
            <a:ext cx="12765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54"/>
          <p:cNvCxnSpPr>
            <a:stCxn id="570" idx="0"/>
            <a:endCxn id="564" idx="4"/>
          </p:cNvCxnSpPr>
          <p:nvPr/>
        </p:nvCxnSpPr>
        <p:spPr>
          <a:xfrm rot="10800000">
            <a:off x="3216025" y="2654638"/>
            <a:ext cx="0" cy="4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54"/>
          <p:cNvCxnSpPr>
            <a:stCxn id="570" idx="0"/>
            <a:endCxn id="567" idx="3"/>
          </p:cNvCxnSpPr>
          <p:nvPr/>
        </p:nvCxnSpPr>
        <p:spPr>
          <a:xfrm flipH="1" rot="10800000">
            <a:off x="3216025" y="2363938"/>
            <a:ext cx="1409100" cy="7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54"/>
          <p:cNvCxnSpPr>
            <a:stCxn id="570" idx="1"/>
            <a:endCxn id="577" idx="3"/>
          </p:cNvCxnSpPr>
          <p:nvPr/>
        </p:nvCxnSpPr>
        <p:spPr>
          <a:xfrm flipH="1">
            <a:off x="21235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54"/>
          <p:cNvCxnSpPr>
            <a:stCxn id="570" idx="2"/>
            <a:endCxn id="572" idx="0"/>
          </p:cNvCxnSpPr>
          <p:nvPr/>
        </p:nvCxnSpPr>
        <p:spPr>
          <a:xfrm>
            <a:off x="3216025" y="4039738"/>
            <a:ext cx="0" cy="3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54"/>
          <p:cNvCxnSpPr>
            <a:stCxn id="570" idx="3"/>
            <a:endCxn id="580" idx="1"/>
          </p:cNvCxnSpPr>
          <p:nvPr/>
        </p:nvCxnSpPr>
        <p:spPr>
          <a:xfrm>
            <a:off x="3532375" y="3582388"/>
            <a:ext cx="7761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7" name="Google Shape;57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6925" y="343883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475" y="34388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9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075" y="15040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95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700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138" y="1543699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900" y="1543712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4"/>
          <p:cNvSpPr txBox="1"/>
          <p:nvPr/>
        </p:nvSpPr>
        <p:spPr>
          <a:xfrm>
            <a:off x="562000" y="456165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Unbiased!</a:t>
            </a:r>
            <a:endParaRPr/>
          </a:p>
        </p:txBody>
      </p:sp>
      <p:sp>
        <p:nvSpPr>
          <p:cNvPr id="588" name="Google Shape;588;p54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589" name="Google Shape;58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595" name="Google Shape;595;p55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Feld </a:t>
            </a:r>
            <a:endParaRPr/>
          </a:p>
        </p:txBody>
      </p:sp>
      <p:pic>
        <p:nvPicPr>
          <p:cNvPr id="596" name="Google Shape;59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75" y="1172025"/>
            <a:ext cx="2474025" cy="31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5"/>
          <p:cNvSpPr txBox="1"/>
          <p:nvPr>
            <p:ph idx="1" type="body"/>
          </p:nvPr>
        </p:nvSpPr>
        <p:spPr>
          <a:xfrm>
            <a:off x="311700" y="1225225"/>
            <a:ext cx="604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typical settings </a:t>
            </a:r>
            <a:r>
              <a:rPr lang="en"/>
              <a:t>within which you interact as reference for bias: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Feld Rule</a:t>
            </a:r>
            <a:r>
              <a:rPr lang="en"/>
              <a:t>: If the settings within which you interact are biased towards a particular categorical or </a:t>
            </a:r>
            <a:r>
              <a:rPr lang="en"/>
              <a:t>continuous</a:t>
            </a:r>
            <a:r>
              <a:rPr lang="en"/>
              <a:t> dimension of association your ego-network will reflect that bias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Feld referred to these settings as </a:t>
            </a:r>
            <a:r>
              <a:rPr b="1" lang="en"/>
              <a:t>social foci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Therefore, this is the called the </a:t>
            </a:r>
            <a:r>
              <a:rPr b="1" lang="en"/>
              <a:t>focus effect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Foci</a:t>
            </a:r>
            <a:r>
              <a:rPr b="1" i="1" lang="en"/>
              <a:t> </a:t>
            </a:r>
            <a:r>
              <a:rPr i="1" lang="en"/>
              <a:t>make homophily happen via segregation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Conversely,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Desegregated foci reduce homophily </a:t>
            </a:r>
            <a:endParaRPr i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6"/>
          <p:cNvSpPr/>
          <p:nvPr/>
        </p:nvSpPr>
        <p:spPr>
          <a:xfrm>
            <a:off x="311700" y="1147225"/>
            <a:ext cx="5769600" cy="174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</a:t>
            </a:r>
            <a:endParaRPr/>
          </a:p>
        </p:txBody>
      </p:sp>
      <p:sp>
        <p:nvSpPr>
          <p:cNvPr id="603" name="Google Shape;603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id="604" name="Google Shape;60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6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1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33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88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175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05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436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811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700" y="2001312"/>
            <a:ext cx="316650" cy="574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4" name="Google Shape;614;p56"/>
          <p:cNvGrpSpPr/>
          <p:nvPr/>
        </p:nvGrpSpPr>
        <p:grpSpPr>
          <a:xfrm>
            <a:off x="238075" y="2824400"/>
            <a:ext cx="2060700" cy="1899300"/>
            <a:chOff x="67775" y="2952125"/>
            <a:chExt cx="2060700" cy="1899300"/>
          </a:xfrm>
        </p:grpSpPr>
        <p:sp>
          <p:nvSpPr>
            <p:cNvPr id="615" name="Google Shape;615;p56"/>
            <p:cNvSpPr/>
            <p:nvPr/>
          </p:nvSpPr>
          <p:spPr>
            <a:xfrm>
              <a:off x="6777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16" name="Google Shape;616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456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7" name="Google Shape;617;p56"/>
            <p:cNvCxnSpPr>
              <a:stCxn id="616" idx="0"/>
              <a:endCxn id="618" idx="2"/>
            </p:cNvCxnSpPr>
            <p:nvPr/>
          </p:nvCxnSpPr>
          <p:spPr>
            <a:xfrm rot="10800000">
              <a:off x="813430" y="3837525"/>
              <a:ext cx="2847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56"/>
            <p:cNvCxnSpPr>
              <a:stCxn id="616" idx="0"/>
              <a:endCxn id="620" idx="2"/>
            </p:cNvCxnSpPr>
            <p:nvPr/>
          </p:nvCxnSpPr>
          <p:spPr>
            <a:xfrm flipH="1" rot="10800000">
              <a:off x="1098130" y="3837525"/>
              <a:ext cx="228900" cy="31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1" name="Google Shape;621;p56"/>
          <p:cNvGrpSpPr/>
          <p:nvPr/>
        </p:nvGrpSpPr>
        <p:grpSpPr>
          <a:xfrm>
            <a:off x="4020750" y="2824400"/>
            <a:ext cx="2060700" cy="1899300"/>
            <a:chOff x="2377225" y="2952125"/>
            <a:chExt cx="2060700" cy="1899300"/>
          </a:xfrm>
        </p:grpSpPr>
        <p:sp>
          <p:nvSpPr>
            <p:cNvPr id="622" name="Google Shape;622;p56"/>
            <p:cNvSpPr/>
            <p:nvPr/>
          </p:nvSpPr>
          <p:spPr>
            <a:xfrm>
              <a:off x="2377225" y="2952125"/>
              <a:ext cx="2060700" cy="1899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3" name="Google Shape;623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64011" y="4148925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9711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800" y="3334449"/>
              <a:ext cx="316650" cy="5742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6" name="Google Shape;626;p56"/>
            <p:cNvCxnSpPr>
              <a:stCxn id="623" idx="1"/>
              <a:endCxn id="624" idx="2"/>
            </p:cNvCxnSpPr>
            <p:nvPr/>
          </p:nvCxnSpPr>
          <p:spPr>
            <a:xfrm rot="10800000">
              <a:off x="2753411" y="3908663"/>
              <a:ext cx="5106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56"/>
            <p:cNvCxnSpPr>
              <a:stCxn id="623" idx="0"/>
              <a:endCxn id="628" idx="2"/>
            </p:cNvCxnSpPr>
            <p:nvPr/>
          </p:nvCxnSpPr>
          <p:spPr>
            <a:xfrm rot="10800000">
              <a:off x="3152280" y="3908625"/>
              <a:ext cx="2553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9" name="Google Shape;629;p56"/>
            <p:cNvCxnSpPr>
              <a:stCxn id="623" idx="0"/>
              <a:endCxn id="630" idx="2"/>
            </p:cNvCxnSpPr>
            <p:nvPr/>
          </p:nvCxnSpPr>
          <p:spPr>
            <a:xfrm flipH="1" rot="10800000">
              <a:off x="3407580" y="3908625"/>
              <a:ext cx="183000" cy="24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56"/>
            <p:cNvCxnSpPr>
              <a:stCxn id="625" idx="2"/>
              <a:endCxn id="623" idx="3"/>
            </p:cNvCxnSpPr>
            <p:nvPr/>
          </p:nvCxnSpPr>
          <p:spPr>
            <a:xfrm flipH="1">
              <a:off x="3551225" y="3908725"/>
              <a:ext cx="495900" cy="52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628" name="Google Shape;628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08649" y="3334450"/>
              <a:ext cx="287138" cy="574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2" name="Google Shape;632;p56"/>
          <p:cNvSpPr txBox="1"/>
          <p:nvPr/>
        </p:nvSpPr>
        <p:spPr>
          <a:xfrm>
            <a:off x="595125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</a:t>
            </a:r>
            <a:r>
              <a:rPr lang="en"/>
              <a:t>iased</a:t>
            </a:r>
            <a:endParaRPr/>
          </a:p>
        </p:txBody>
      </p:sp>
      <p:sp>
        <p:nvSpPr>
          <p:cNvPr id="633" name="Google Shape;633;p56"/>
          <p:cNvSpPr txBox="1"/>
          <p:nvPr/>
        </p:nvSpPr>
        <p:spPr>
          <a:xfrm>
            <a:off x="4336950" y="4677600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</a:t>
            </a:r>
            <a:r>
              <a:rPr lang="en"/>
              <a:t>Biased</a:t>
            </a:r>
            <a:endParaRPr/>
          </a:p>
        </p:txBody>
      </p:sp>
      <p:pic>
        <p:nvPicPr>
          <p:cNvPr id="634" name="Google Shape;63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074" y="2001312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363" y="133317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811" y="199742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2001324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13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038" y="1333187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6"/>
          <p:cNvSpPr txBox="1"/>
          <p:nvPr/>
        </p:nvSpPr>
        <p:spPr>
          <a:xfrm>
            <a:off x="2243950" y="3206725"/>
            <a:ext cx="1839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ego network</a:t>
            </a:r>
            <a:endParaRPr/>
          </a:p>
        </p:txBody>
      </p:sp>
      <p:cxnSp>
        <p:nvCxnSpPr>
          <p:cNvPr id="641" name="Google Shape;641;p56"/>
          <p:cNvCxnSpPr>
            <a:stCxn id="640" idx="2"/>
          </p:cNvCxnSpPr>
          <p:nvPr/>
        </p:nvCxnSpPr>
        <p:spPr>
          <a:xfrm flipH="1">
            <a:off x="2302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56"/>
          <p:cNvCxnSpPr>
            <a:stCxn id="640" idx="2"/>
          </p:cNvCxnSpPr>
          <p:nvPr/>
        </p:nvCxnSpPr>
        <p:spPr>
          <a:xfrm>
            <a:off x="3163900" y="3504325"/>
            <a:ext cx="861000" cy="34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8" name="Google Shape;61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161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686" y="3135475"/>
            <a:ext cx="287138" cy="5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38" y="3206724"/>
            <a:ext cx="316650" cy="5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56"/>
          <p:cNvSpPr txBox="1"/>
          <p:nvPr/>
        </p:nvSpPr>
        <p:spPr>
          <a:xfrm>
            <a:off x="15923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</a:t>
            </a:r>
            <a:endParaRPr/>
          </a:p>
        </p:txBody>
      </p:sp>
      <p:sp>
        <p:nvSpPr>
          <p:cNvPr id="644" name="Google Shape;644;p56"/>
          <p:cNvSpPr txBox="1"/>
          <p:nvPr/>
        </p:nvSpPr>
        <p:spPr>
          <a:xfrm>
            <a:off x="3157950" y="4044875"/>
            <a:ext cx="1428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</a:t>
            </a:r>
            <a:endParaRPr/>
          </a:p>
        </p:txBody>
      </p:sp>
      <p:pic>
        <p:nvPicPr>
          <p:cNvPr id="645" name="Google Shape;645;p56"/>
          <p:cNvPicPr preferRelativeResize="0"/>
          <p:nvPr/>
        </p:nvPicPr>
        <p:blipFill rotWithShape="1">
          <a:blip r:embed="rId5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6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Marsden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52" name="Google Shape;652;p57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pic>
        <p:nvPicPr>
          <p:cNvPr id="653" name="Google Shape;653;p57"/>
          <p:cNvPicPr preferRelativeResize="0"/>
          <p:nvPr/>
        </p:nvPicPr>
        <p:blipFill rotWithShape="1">
          <a:blip r:embed="rId3">
            <a:alphaModFix/>
          </a:blip>
          <a:srcRect b="0" l="44537" r="0" t="0"/>
          <a:stretch/>
        </p:blipFill>
        <p:spPr>
          <a:xfrm>
            <a:off x="6342675" y="1222950"/>
            <a:ext cx="2489625" cy="29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7"/>
          <p:cNvSpPr txBox="1"/>
          <p:nvPr/>
        </p:nvSpPr>
        <p:spPr>
          <a:xfrm>
            <a:off x="6384100" y="4353300"/>
            <a:ext cx="2226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Marsden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60" name="Google Shape;660;p58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guess why?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sp>
        <p:nvSpPr>
          <p:cNvPr id="666" name="Google Shape;666;p59"/>
          <p:cNvSpPr txBox="1"/>
          <p:nvPr>
            <p:ph idx="1" type="body"/>
          </p:nvPr>
        </p:nvSpPr>
        <p:spPr>
          <a:xfrm>
            <a:off x="311700" y="1225225"/>
            <a:ext cx="5643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Overall, larger ego networks should be more diverse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Regardless of preferences for choice 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some point you run out of ingroup alters!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But this effect should depend group size effects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minorities should get more “bang from their buck” (in terms of diversity) from network 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you tell why?</a:t>
            </a:r>
            <a:endParaRPr/>
          </a:p>
        </p:txBody>
      </p:sp>
      <p:sp>
        <p:nvSpPr>
          <p:cNvPr id="667" name="Google Shape;667;p59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668" name="Google Shape;668;p59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669" name="Google Shape;669;p59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9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9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9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9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9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9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6" name="Google Shape;676;p59"/>
          <p:cNvCxnSpPr>
            <a:stCxn id="668" idx="6"/>
            <a:endCxn id="672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9"/>
          <p:cNvCxnSpPr>
            <a:stCxn id="668" idx="6"/>
            <a:endCxn id="675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9"/>
          <p:cNvCxnSpPr>
            <a:stCxn id="667" idx="6"/>
            <a:endCxn id="669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9"/>
          <p:cNvCxnSpPr>
            <a:stCxn id="667" idx="6"/>
            <a:endCxn id="670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9"/>
          <p:cNvCxnSpPr>
            <a:stCxn id="667" idx="6"/>
            <a:endCxn id="671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9"/>
          <p:cNvCxnSpPr>
            <a:stCxn id="667" idx="6"/>
            <a:endCxn id="672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9"/>
          <p:cNvCxnSpPr>
            <a:stCxn id="667" idx="6"/>
            <a:endCxn id="675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9"/>
          <p:cNvCxnSpPr>
            <a:stCxn id="668" idx="6"/>
            <a:endCxn id="674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9"/>
          <p:cNvCxnSpPr>
            <a:stCxn id="668" idx="6"/>
            <a:endCxn id="670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your ego networks look they way they do?</a:t>
            </a:r>
            <a:endParaRPr/>
          </a:p>
        </p:txBody>
      </p:sp>
      <p:pic>
        <p:nvPicPr>
          <p:cNvPr descr="Screenshot 2017-10-12 at 08.42.45.png" id="690" name="Google Shape;690;p60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949025" y="1103825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696" name="Google Shape;696;p61"/>
          <p:cNvSpPr txBox="1"/>
          <p:nvPr>
            <p:ph idx="1" type="body"/>
          </p:nvPr>
        </p:nvSpPr>
        <p:spPr>
          <a:xfrm>
            <a:off x="311700" y="1225225"/>
            <a:ext cx="460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there are systematic correlations between religion and race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Choosing contacts based on race leads to biases in the representation of people of certain religions at the micro-structural level (And vice-versa)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Accordingly: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Can’t conclude that people prefer same (race/religion) contacts from micro-level observations of homogeneity!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20040817_1.gif" id="697" name="Google Shape;6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73" y="1587425"/>
            <a:ext cx="3856725" cy="2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Blau’s rules: Multiform heterogeneity effects</a:t>
            </a:r>
            <a:endParaRPr/>
          </a:p>
        </p:txBody>
      </p:sp>
      <p:sp>
        <p:nvSpPr>
          <p:cNvPr id="703" name="Google Shape;703;p62"/>
          <p:cNvSpPr txBox="1"/>
          <p:nvPr>
            <p:ph idx="1" type="body"/>
          </p:nvPr>
        </p:nvSpPr>
        <p:spPr>
          <a:xfrm>
            <a:off x="311700" y="1225225"/>
            <a:ext cx="5269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applies to any </a:t>
            </a:r>
            <a:r>
              <a:rPr b="1" lang="en"/>
              <a:t>correlation</a:t>
            </a:r>
            <a:r>
              <a:rPr lang="en"/>
              <a:t> between dimensions of association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race associational preference may lead to higher/lower representation of people different social classes at the micro-structural level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negative correlations it goes the other way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diversity at the micro-level that we would expect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Age and education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US_Race_Household_Income.png" id="704" name="Google Shape;70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50" y="1649027"/>
            <a:ext cx="3250749" cy="25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710" name="Google Shape;710;p6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can be observed at both the ego and dyad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network:  composition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Dyad:  Similarity between vertices connected by an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 Processes --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Preference/Choice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Induced:  random formation within skewed population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Foci:  formation through affiliations with skewed population distributions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Size: The more choices a person makes (ie. the larger their network) the more the composition of their network will represent the population distribution.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triadic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Triadic closure → increases homophily.  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Formation or decay?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