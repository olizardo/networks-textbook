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Economica"/>
      <p:regular r:id="rId73"/>
      <p:bold r:id="rId74"/>
      <p:italic r:id="rId75"/>
      <p:boldItalic r:id="rId76"/>
    </p:embeddedFont>
    <p:embeddedFont>
      <p:font typeface="Oxygen"/>
      <p:regular r:id="rId77"/>
      <p:bold r:id="rId78"/>
    </p:embeddedFont>
    <p:embeddedFont>
      <p:font typeface="Cantarell"/>
      <p:regular r:id="rId79"/>
      <p:bold r:id="rId80"/>
      <p:italic r:id="rId81"/>
      <p:boldItalic r:id="rId82"/>
    </p:embeddedFont>
    <p:embeddedFont>
      <p:font typeface="Open Sans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F7D8CA-F2D5-40DA-BD4D-01FE5F162C8E}">
  <a:tblStyle styleId="{42F7D8CA-F2D5-40DA-BD4D-01FE5F162C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OpenSans-bold.fntdata"/><Relationship Id="rId83" Type="http://schemas.openxmlformats.org/officeDocument/2006/relationships/font" Target="fonts/OpenSans-regular.fntdata"/><Relationship Id="rId42" Type="http://schemas.openxmlformats.org/officeDocument/2006/relationships/slide" Target="slides/slide35.xml"/><Relationship Id="rId86" Type="http://schemas.openxmlformats.org/officeDocument/2006/relationships/font" Target="fonts/OpenSans-boldItalic.fntdata"/><Relationship Id="rId41" Type="http://schemas.openxmlformats.org/officeDocument/2006/relationships/slide" Target="slides/slide34.xml"/><Relationship Id="rId85" Type="http://schemas.openxmlformats.org/officeDocument/2006/relationships/font" Target="fonts/OpenSans-italic.fntdata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Cantarell-bold.fntdata"/><Relationship Id="rId82" Type="http://schemas.openxmlformats.org/officeDocument/2006/relationships/font" Target="fonts/Cantarell-boldItalic.fntdata"/><Relationship Id="rId81" Type="http://schemas.openxmlformats.org/officeDocument/2006/relationships/font" Target="fonts/Cantarell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Economica-regular.fntdata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font" Target="fonts/Economica-italic.fntdata"/><Relationship Id="rId30" Type="http://schemas.openxmlformats.org/officeDocument/2006/relationships/slide" Target="slides/slide23.xml"/><Relationship Id="rId74" Type="http://schemas.openxmlformats.org/officeDocument/2006/relationships/font" Target="fonts/Economica-bold.fntdata"/><Relationship Id="rId33" Type="http://schemas.openxmlformats.org/officeDocument/2006/relationships/slide" Target="slides/slide26.xml"/><Relationship Id="rId77" Type="http://schemas.openxmlformats.org/officeDocument/2006/relationships/font" Target="fonts/Oxygen-regular.fntdata"/><Relationship Id="rId32" Type="http://schemas.openxmlformats.org/officeDocument/2006/relationships/slide" Target="slides/slide25.xml"/><Relationship Id="rId76" Type="http://schemas.openxmlformats.org/officeDocument/2006/relationships/font" Target="fonts/Economica-boldItalic.fntdata"/><Relationship Id="rId35" Type="http://schemas.openxmlformats.org/officeDocument/2006/relationships/slide" Target="slides/slide28.xml"/><Relationship Id="rId79" Type="http://schemas.openxmlformats.org/officeDocument/2006/relationships/font" Target="fonts/Cantarell-regular.fntdata"/><Relationship Id="rId34" Type="http://schemas.openxmlformats.org/officeDocument/2006/relationships/slide" Target="slides/slide27.xml"/><Relationship Id="rId78" Type="http://schemas.openxmlformats.org/officeDocument/2006/relationships/font" Target="fonts/Oxygen-bold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2eb563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2eb563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2eb563de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2eb563de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2eb563de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12eb563de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2eb563de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2eb563de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2eb563de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2eb563de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2eb563de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2eb563de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2eb563de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2eb563de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12eb563de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12eb563de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2eb563de7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12eb563de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2eb563de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2eb563de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2eb563de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2eb563de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2eb563de7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2eb563de7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12eb563de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12eb563de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2eb563de7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12eb563de7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2eb563de7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2eb563de7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2eb563de7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12eb563de7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12eb563de7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12eb563de7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12eb563de7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12eb563de7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12eb563de7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12eb563de7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12eb563de7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12eb563de7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12eb563de7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12eb563de7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12eb563de7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12eb563de7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12eb563de7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12eb563de7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12eb563de7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12eb563de7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112eb563de7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112eb563de7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12eb563de7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12eb563de7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12eb563de7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12eb563de7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12eb563de7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12eb563de7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12eb563de7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112eb563de7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12eb563de7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12eb563de7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112eb563de7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112eb563de7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12eb563de7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12eb563de7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12eb563de7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12eb563de7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2eb563de7_0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2eb563de7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2eb563de7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2eb563de7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12eb563de7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112eb563de7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12eb563de7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112eb563de7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12eb563de7_0_1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112eb563de7_0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12eb563de7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12eb563de7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111e15d090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111e15d090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11e15d0906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11e15d0906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12eb563de7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12eb563de7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11e15d0906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11e15d0906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112eb563de7_0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112eb563de7_0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112eb563de7_0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112eb563de7_0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12eb563de7_0_1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12eb563de7_0_1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11e15d0906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11e15d0906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111e15d0906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111e15d0906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11e15d0906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11e15d0906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11e15d0906_3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11e15d0906_3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11e15d0906_3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11e15d0906_3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111e15d0906_3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111e15d0906_3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111e15d0906_3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111e15d0906_3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10995325457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10995325457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11031cf7d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11031cf7d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0995325457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10995325457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10995325457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1099532545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0995325457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0995325457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10995325457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10995325457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10995325457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10995325457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10995325457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10995325457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10995325457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10995325457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10995325457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10995325457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10995325457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1099532545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0995325457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10995325457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311700" y="1225225"/>
            <a:ext cx="5377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" name="Google Shape;118;p26"/>
          <p:cNvCxnSpPr>
            <a:stCxn id="112" idx="7"/>
            <a:endCxn id="11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6"/>
          <p:cNvCxnSpPr>
            <a:stCxn id="115" idx="3"/>
            <a:endCxn id="11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6"/>
          <p:cNvCxnSpPr>
            <a:stCxn id="117" idx="3"/>
            <a:endCxn id="11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6"/>
          <p:cNvCxnSpPr>
            <a:stCxn id="113" idx="4"/>
            <a:endCxn id="11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6"/>
          <p:cNvCxnSpPr>
            <a:stCxn id="112" idx="5"/>
            <a:endCxn id="11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6"/>
          <p:cNvCxnSpPr>
            <a:stCxn id="112" idx="6"/>
            <a:endCxn id="11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6"/>
          <p:cNvCxnSpPr>
            <a:stCxn id="114" idx="2"/>
            <a:endCxn id="11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6"/>
          <p:cNvCxnSpPr>
            <a:stCxn id="115" idx="5"/>
            <a:endCxn id="11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6"/>
          <p:cNvCxnSpPr>
            <a:stCxn id="113" idx="7"/>
            <a:endCxn id="11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6"/>
          <p:cNvCxnSpPr>
            <a:stCxn id="117" idx="3"/>
            <a:endCxn id="11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6"/>
          <p:cNvCxnSpPr>
            <a:stCxn id="113" idx="6"/>
            <a:endCxn id="11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6"/>
          <p:cNvCxnSpPr>
            <a:stCxn id="117" idx="5"/>
            <a:endCxn id="11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0" name="Google Shape;130;p26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" name="Google Shape;137;p27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38" name="Google Shape;138;p2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" name="Google Shape;142;p2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" name="Google Shape;144;p27"/>
          <p:cNvCxnSpPr>
            <a:stCxn id="138" idx="7"/>
            <a:endCxn id="14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7"/>
          <p:cNvCxnSpPr>
            <a:stCxn id="141" idx="3"/>
            <a:endCxn id="13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7"/>
          <p:cNvCxnSpPr>
            <a:stCxn id="143" idx="3"/>
            <a:endCxn id="14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7"/>
          <p:cNvCxnSpPr>
            <a:stCxn id="139" idx="4"/>
            <a:endCxn id="14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7"/>
          <p:cNvCxnSpPr>
            <a:stCxn id="138" idx="5"/>
            <a:endCxn id="14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7"/>
          <p:cNvCxnSpPr>
            <a:stCxn id="138" idx="6"/>
            <a:endCxn id="13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7"/>
          <p:cNvCxnSpPr>
            <a:stCxn id="140" idx="2"/>
            <a:endCxn id="14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7"/>
          <p:cNvCxnSpPr>
            <a:stCxn id="141" idx="5"/>
            <a:endCxn id="14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7"/>
          <p:cNvCxnSpPr>
            <a:stCxn id="139" idx="7"/>
            <a:endCxn id="14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7"/>
          <p:cNvCxnSpPr>
            <a:stCxn id="143" idx="3"/>
            <a:endCxn id="14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7"/>
          <p:cNvCxnSpPr>
            <a:stCxn id="139" idx="6"/>
            <a:endCxn id="14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7"/>
          <p:cNvCxnSpPr>
            <a:stCxn id="143" idx="5"/>
            <a:endCxn id="14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2" name="Google Shape;162;p28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163" name="Google Shape;163;p2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" name="Google Shape;169;p28"/>
          <p:cNvCxnSpPr>
            <a:stCxn id="163" idx="7"/>
            <a:endCxn id="16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8"/>
          <p:cNvCxnSpPr>
            <a:stCxn id="166" idx="3"/>
            <a:endCxn id="16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8"/>
          <p:cNvCxnSpPr>
            <a:stCxn id="168" idx="3"/>
            <a:endCxn id="16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8"/>
          <p:cNvCxnSpPr>
            <a:stCxn id="164" idx="4"/>
            <a:endCxn id="16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8"/>
          <p:cNvCxnSpPr>
            <a:stCxn id="163" idx="5"/>
            <a:endCxn id="16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8"/>
          <p:cNvCxnSpPr>
            <a:stCxn id="163" idx="6"/>
            <a:endCxn id="16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8"/>
          <p:cNvCxnSpPr>
            <a:stCxn id="165" idx="2"/>
            <a:endCxn id="16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8"/>
          <p:cNvCxnSpPr>
            <a:stCxn id="166" idx="5"/>
            <a:endCxn id="16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8"/>
          <p:cNvCxnSpPr>
            <a:stCxn id="164" idx="7"/>
            <a:endCxn id="16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8"/>
          <p:cNvCxnSpPr>
            <a:stCxn id="168" idx="3"/>
            <a:endCxn id="16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8"/>
          <p:cNvCxnSpPr>
            <a:stCxn id="164" idx="6"/>
            <a:endCxn id="16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8"/>
          <p:cNvCxnSpPr>
            <a:stCxn id="168" idx="5"/>
            <a:endCxn id="16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B sends a tie to nodes {A,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23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24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" name="Google Shape;193;p29"/>
          <p:cNvCxnSpPr>
            <a:stCxn id="187" idx="7"/>
            <a:endCxn id="19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9"/>
          <p:cNvCxnSpPr>
            <a:stCxn id="190" idx="3"/>
            <a:endCxn id="18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9"/>
          <p:cNvCxnSpPr>
            <a:stCxn id="192" idx="3"/>
            <a:endCxn id="18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9"/>
          <p:cNvCxnSpPr>
            <a:stCxn id="188" idx="4"/>
            <a:endCxn id="19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9"/>
          <p:cNvCxnSpPr>
            <a:stCxn id="187" idx="5"/>
            <a:endCxn id="19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9"/>
          <p:cNvCxnSpPr>
            <a:stCxn id="187" idx="6"/>
            <a:endCxn id="18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9"/>
          <p:cNvCxnSpPr>
            <a:stCxn id="189" idx="2"/>
            <a:endCxn id="19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9"/>
          <p:cNvCxnSpPr>
            <a:stCxn id="190" idx="5"/>
            <a:endCxn id="19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9"/>
          <p:cNvCxnSpPr>
            <a:stCxn id="188" idx="7"/>
            <a:endCxn id="19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9"/>
          <p:cNvCxnSpPr>
            <a:stCxn id="192" idx="3"/>
            <a:endCxn id="19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9"/>
          <p:cNvCxnSpPr>
            <a:stCxn id="188" idx="6"/>
            <a:endCxn id="19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9"/>
          <p:cNvCxnSpPr>
            <a:stCxn id="192" idx="5"/>
            <a:endCxn id="18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05" name="Google Shape;205;p29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B sends a tie to nodes {A,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23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a</a:t>
            </a:r>
            <a:r>
              <a:rPr baseline="-25000" lang="en">
                <a:solidFill>
                  <a:srgbClr val="FF0000"/>
                </a:solidFill>
              </a:rPr>
              <a:t>24</a:t>
            </a:r>
            <a:r>
              <a:rPr lang="en">
                <a:solidFill>
                  <a:srgbClr val="FF0000"/>
                </a:solidFill>
              </a:rPr>
              <a:t> = 1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sends show up in the row!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" name="Google Shape;218;p30"/>
          <p:cNvCxnSpPr>
            <a:stCxn id="212" idx="7"/>
            <a:endCxn id="21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0"/>
          <p:cNvCxnSpPr>
            <a:stCxn id="215" idx="3"/>
            <a:endCxn id="21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0"/>
          <p:cNvCxnSpPr>
            <a:stCxn id="217" idx="3"/>
            <a:endCxn id="21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0"/>
          <p:cNvCxnSpPr>
            <a:stCxn id="213" idx="4"/>
            <a:endCxn id="21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0"/>
          <p:cNvCxnSpPr>
            <a:stCxn id="212" idx="5"/>
            <a:endCxn id="21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0"/>
          <p:cNvCxnSpPr>
            <a:stCxn id="212" idx="6"/>
            <a:endCxn id="21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0"/>
          <p:cNvCxnSpPr>
            <a:stCxn id="214" idx="2"/>
            <a:endCxn id="21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30"/>
          <p:cNvCxnSpPr>
            <a:stCxn id="215" idx="5"/>
            <a:endCxn id="21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30"/>
          <p:cNvCxnSpPr>
            <a:stCxn id="213" idx="7"/>
            <a:endCxn id="21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0"/>
          <p:cNvCxnSpPr>
            <a:stCxn id="217" idx="3"/>
            <a:endCxn id="21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30"/>
          <p:cNvCxnSpPr>
            <a:stCxn id="213" idx="6"/>
            <a:endCxn id="21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0"/>
          <p:cNvCxnSpPr>
            <a:stCxn id="217" idx="5"/>
            <a:endCxn id="21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230" name="Google Shape;230;p30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236" name="Google Shape;236;p31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31"/>
          <p:cNvCxnSpPr>
            <a:stCxn id="237" idx="7"/>
            <a:endCxn id="24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31"/>
          <p:cNvCxnSpPr>
            <a:stCxn id="240" idx="3"/>
            <a:endCxn id="23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1"/>
          <p:cNvCxnSpPr>
            <a:stCxn id="242" idx="3"/>
            <a:endCxn id="23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1"/>
          <p:cNvCxnSpPr>
            <a:stCxn id="238" idx="4"/>
            <a:endCxn id="24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1"/>
          <p:cNvCxnSpPr>
            <a:stCxn id="237" idx="5"/>
            <a:endCxn id="24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1"/>
          <p:cNvCxnSpPr>
            <a:stCxn id="237" idx="6"/>
            <a:endCxn id="23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1"/>
          <p:cNvCxnSpPr>
            <a:stCxn id="239" idx="2"/>
            <a:endCxn id="24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1"/>
          <p:cNvCxnSpPr>
            <a:stCxn id="240" idx="5"/>
            <a:endCxn id="24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1"/>
          <p:cNvCxnSpPr>
            <a:stCxn id="238" idx="7"/>
            <a:endCxn id="24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1"/>
          <p:cNvCxnSpPr>
            <a:stCxn id="242" idx="3"/>
            <a:endCxn id="24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1"/>
          <p:cNvCxnSpPr>
            <a:stCxn id="238" idx="6"/>
            <a:endCxn id="24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1"/>
          <p:cNvCxnSpPr>
            <a:stCxn id="242" idx="5"/>
            <a:endCxn id="23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55" name="Google Shape;255;p31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/>
          <p:nvPr/>
        </p:nvSpPr>
        <p:spPr>
          <a:xfrm rot="10800000">
            <a:off x="6673450" y="2400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3" name="Google Shape;263;p32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264" name="Google Shape;264;p3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0" name="Google Shape;270;p32"/>
          <p:cNvCxnSpPr>
            <a:stCxn id="264" idx="7"/>
            <a:endCxn id="26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2"/>
          <p:cNvCxnSpPr>
            <a:stCxn id="267" idx="3"/>
            <a:endCxn id="26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2"/>
          <p:cNvCxnSpPr>
            <a:stCxn id="269" idx="3"/>
            <a:endCxn id="26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2"/>
          <p:cNvCxnSpPr>
            <a:stCxn id="265" idx="4"/>
            <a:endCxn id="26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2"/>
          <p:cNvCxnSpPr>
            <a:stCxn id="264" idx="5"/>
            <a:endCxn id="26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2"/>
          <p:cNvCxnSpPr>
            <a:stCxn id="264" idx="6"/>
            <a:endCxn id="26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2"/>
          <p:cNvCxnSpPr>
            <a:stCxn id="266" idx="2"/>
            <a:endCxn id="26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2"/>
          <p:cNvCxnSpPr>
            <a:stCxn id="267" idx="5"/>
            <a:endCxn id="26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32"/>
          <p:cNvCxnSpPr>
            <a:stCxn id="265" idx="7"/>
            <a:endCxn id="26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2"/>
          <p:cNvCxnSpPr>
            <a:stCxn id="269" idx="3"/>
            <a:endCxn id="26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32"/>
          <p:cNvCxnSpPr>
            <a:stCxn id="265" idx="6"/>
            <a:endCxn id="26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32"/>
          <p:cNvCxnSpPr>
            <a:stCxn id="269" idx="5"/>
            <a:endCxn id="26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sends zero ties!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8" name="Google Shape;288;p33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289" name="Google Shape;289;p33"/>
          <p:cNvSpPr/>
          <p:nvPr/>
        </p:nvSpPr>
        <p:spPr>
          <a:xfrm rot="5400000">
            <a:off x="7146250" y="2414800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6" name="Google Shape;296;p33"/>
          <p:cNvCxnSpPr>
            <a:stCxn id="290" idx="7"/>
            <a:endCxn id="29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3"/>
          <p:cNvCxnSpPr>
            <a:stCxn id="293" idx="3"/>
            <a:endCxn id="29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3"/>
          <p:cNvCxnSpPr>
            <a:stCxn id="295" idx="3"/>
            <a:endCxn id="29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3"/>
          <p:cNvCxnSpPr>
            <a:stCxn id="291" idx="4"/>
            <a:endCxn id="29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3"/>
          <p:cNvCxnSpPr>
            <a:stCxn id="290" idx="5"/>
            <a:endCxn id="29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3"/>
          <p:cNvCxnSpPr>
            <a:stCxn id="290" idx="6"/>
            <a:endCxn id="29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3"/>
          <p:cNvCxnSpPr>
            <a:stCxn id="292" idx="2"/>
            <a:endCxn id="29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33"/>
          <p:cNvCxnSpPr>
            <a:stCxn id="293" idx="5"/>
            <a:endCxn id="29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3"/>
          <p:cNvCxnSpPr>
            <a:stCxn id="291" idx="7"/>
            <a:endCxn id="29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3"/>
          <p:cNvCxnSpPr>
            <a:stCxn id="295" idx="3"/>
            <a:endCxn id="29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33"/>
          <p:cNvCxnSpPr>
            <a:stCxn id="291" idx="6"/>
            <a:endCxn id="29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33"/>
          <p:cNvCxnSpPr>
            <a:stCxn id="295" idx="5"/>
            <a:endCxn id="29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313" name="Google Shape;313;p34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4"/>
                </a:solidFill>
              </a:rPr>
              <a:t>source node</a:t>
            </a:r>
            <a:endParaRPr b="1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5"/>
                </a:solidFill>
              </a:rPr>
              <a:t>destination node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adjacency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4"/>
                </a:solidFill>
              </a:rPr>
              <a:t>source</a:t>
            </a:r>
            <a:r>
              <a:rPr lang="en"/>
              <a:t> node is the </a:t>
            </a:r>
            <a:r>
              <a:rPr b="1" lang="en">
                <a:solidFill>
                  <a:schemeClr val="accent4"/>
                </a:solidFill>
              </a:rPr>
              <a:t>row</a:t>
            </a:r>
            <a:r>
              <a:rPr b="1" lang="en"/>
              <a:t> </a:t>
            </a:r>
            <a:r>
              <a:rPr lang="en"/>
              <a:t>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>
                <a:solidFill>
                  <a:schemeClr val="accent5"/>
                </a:solidFill>
              </a:rPr>
              <a:t>destination</a:t>
            </a:r>
            <a:r>
              <a:rPr lang="en"/>
              <a:t> node is the </a:t>
            </a:r>
            <a:r>
              <a:rPr b="1" lang="en">
                <a:solidFill>
                  <a:schemeClr val="accent5"/>
                </a:solidFill>
              </a:rPr>
              <a:t>column</a:t>
            </a:r>
            <a:r>
              <a:rPr lang="en"/>
              <a:t>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if node </a:t>
            </a:r>
            <a:r>
              <a:rPr i="1" lang="en"/>
              <a:t>i</a:t>
            </a:r>
            <a:r>
              <a:rPr lang="en"/>
              <a:t> sends a tie to node </a:t>
            </a:r>
            <a:r>
              <a:rPr i="1" lang="en"/>
              <a:t>j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we fill out the whole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ties a node </a:t>
            </a:r>
            <a:r>
              <a:rPr b="1" lang="en"/>
              <a:t>receives</a:t>
            </a:r>
            <a:r>
              <a:rPr lang="en"/>
              <a:t> show up in their </a:t>
            </a:r>
            <a:r>
              <a:rPr b="1" lang="en"/>
              <a:t>column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receives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sends zero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receives four ties!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4" name="Google Shape;314;p34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315" name="Google Shape;315;p34"/>
          <p:cNvSpPr/>
          <p:nvPr/>
        </p:nvSpPr>
        <p:spPr>
          <a:xfrm rot="10800000">
            <a:off x="7589520" y="2400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2" name="Google Shape;322;p34"/>
          <p:cNvCxnSpPr>
            <a:stCxn id="316" idx="7"/>
            <a:endCxn id="31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4"/>
          <p:cNvCxnSpPr>
            <a:stCxn id="319" idx="3"/>
            <a:endCxn id="31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4"/>
          <p:cNvCxnSpPr>
            <a:stCxn id="321" idx="3"/>
            <a:endCxn id="31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4"/>
          <p:cNvCxnSpPr>
            <a:stCxn id="317" idx="4"/>
            <a:endCxn id="32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4"/>
          <p:cNvCxnSpPr>
            <a:stCxn id="316" idx="5"/>
            <a:endCxn id="32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34"/>
          <p:cNvCxnSpPr>
            <a:stCxn id="316" idx="6"/>
            <a:endCxn id="31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4"/>
          <p:cNvCxnSpPr>
            <a:stCxn id="318" idx="2"/>
            <a:endCxn id="32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4"/>
          <p:cNvCxnSpPr>
            <a:stCxn id="319" idx="5"/>
            <a:endCxn id="32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4"/>
          <p:cNvCxnSpPr>
            <a:stCxn id="317" idx="7"/>
            <a:endCxn id="31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4"/>
          <p:cNvCxnSpPr>
            <a:stCxn id="321" idx="3"/>
            <a:endCxn id="32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4"/>
          <p:cNvCxnSpPr>
            <a:stCxn id="317" idx="6"/>
            <a:endCxn id="32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4"/>
          <p:cNvCxnSpPr>
            <a:stCxn id="321" idx="5"/>
            <a:endCxn id="31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Reciprocal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Nonreciprocal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Disconnected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0" name="Google Shape;340;p35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341" name="Google Shape;341;p3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7" name="Google Shape;347;p35"/>
          <p:cNvCxnSpPr>
            <a:stCxn id="341" idx="7"/>
            <a:endCxn id="34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5"/>
          <p:cNvCxnSpPr>
            <a:stCxn id="344" idx="3"/>
            <a:endCxn id="34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5"/>
          <p:cNvCxnSpPr>
            <a:stCxn id="346" idx="3"/>
            <a:endCxn id="34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35"/>
          <p:cNvCxnSpPr>
            <a:stCxn id="342" idx="4"/>
            <a:endCxn id="34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35"/>
          <p:cNvCxnSpPr>
            <a:stCxn id="341" idx="5"/>
            <a:endCxn id="34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5"/>
          <p:cNvCxnSpPr>
            <a:stCxn id="341" idx="6"/>
            <a:endCxn id="34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5"/>
          <p:cNvCxnSpPr>
            <a:stCxn id="343" idx="2"/>
            <a:endCxn id="34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5"/>
          <p:cNvCxnSpPr>
            <a:stCxn id="344" idx="5"/>
            <a:endCxn id="34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5"/>
          <p:cNvCxnSpPr>
            <a:stCxn id="342" idx="7"/>
            <a:endCxn id="34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5"/>
          <p:cNvCxnSpPr>
            <a:stCxn id="346" idx="3"/>
            <a:endCxn id="34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35"/>
          <p:cNvCxnSpPr>
            <a:stCxn id="342" idx="6"/>
            <a:endCxn id="34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35"/>
          <p:cNvCxnSpPr>
            <a:stCxn id="346" idx="5"/>
            <a:endCxn id="34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</a:t>
            </a:r>
            <a:r>
              <a:rPr b="1" lang="en"/>
              <a:t>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</a:t>
            </a:r>
            <a:r>
              <a:rPr b="1" lang="en"/>
              <a:t>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</a:t>
            </a:r>
            <a:r>
              <a:rPr b="1" lang="en"/>
              <a:t>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5" name="Google Shape;365;p36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366" name="Google Shape;366;p3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2" name="Google Shape;372;p36"/>
          <p:cNvCxnSpPr>
            <a:stCxn id="366" idx="7"/>
            <a:endCxn id="36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6"/>
          <p:cNvCxnSpPr>
            <a:stCxn id="369" idx="3"/>
            <a:endCxn id="36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6"/>
          <p:cNvCxnSpPr>
            <a:stCxn id="371" idx="3"/>
            <a:endCxn id="36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6"/>
          <p:cNvCxnSpPr>
            <a:stCxn id="367" idx="4"/>
            <a:endCxn id="37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36"/>
          <p:cNvCxnSpPr>
            <a:stCxn id="366" idx="5"/>
            <a:endCxn id="37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36"/>
          <p:cNvCxnSpPr>
            <a:stCxn id="366" idx="6"/>
            <a:endCxn id="36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6"/>
          <p:cNvCxnSpPr>
            <a:stCxn id="368" idx="2"/>
            <a:endCxn id="37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6"/>
          <p:cNvCxnSpPr>
            <a:stCxn id="369" idx="5"/>
            <a:endCxn id="37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6"/>
          <p:cNvCxnSpPr>
            <a:stCxn id="367" idx="7"/>
            <a:endCxn id="36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36"/>
          <p:cNvCxnSpPr>
            <a:stCxn id="371" idx="3"/>
            <a:endCxn id="37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36"/>
          <p:cNvCxnSpPr>
            <a:stCxn id="367" idx="6"/>
            <a:endCxn id="37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36"/>
          <p:cNvCxnSpPr>
            <a:stCxn id="371" idx="5"/>
            <a:endCxn id="36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0" name="Google Shape;390;p37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391" name="Google Shape;391;p3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7" name="Google Shape;397;p37"/>
          <p:cNvCxnSpPr>
            <a:stCxn id="391" idx="7"/>
            <a:endCxn id="39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37"/>
          <p:cNvCxnSpPr>
            <a:stCxn id="394" idx="3"/>
            <a:endCxn id="39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37"/>
          <p:cNvCxnSpPr>
            <a:stCxn id="396" idx="3"/>
            <a:endCxn id="39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37"/>
          <p:cNvCxnSpPr>
            <a:stCxn id="392" idx="4"/>
            <a:endCxn id="39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7"/>
          <p:cNvCxnSpPr>
            <a:stCxn id="391" idx="5"/>
            <a:endCxn id="39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37"/>
          <p:cNvCxnSpPr>
            <a:stCxn id="391" idx="6"/>
            <a:endCxn id="39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7"/>
          <p:cNvCxnSpPr>
            <a:stCxn id="393" idx="2"/>
            <a:endCxn id="39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37"/>
          <p:cNvCxnSpPr>
            <a:stCxn id="394" idx="5"/>
            <a:endCxn id="39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7"/>
          <p:cNvCxnSpPr>
            <a:stCxn id="392" idx="7"/>
            <a:endCxn id="39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7"/>
          <p:cNvCxnSpPr>
            <a:stCxn id="396" idx="3"/>
            <a:endCxn id="39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7"/>
          <p:cNvCxnSpPr>
            <a:stCxn id="392" idx="6"/>
            <a:endCxn id="39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7"/>
          <p:cNvCxnSpPr>
            <a:stCxn id="396" idx="5"/>
            <a:endCxn id="39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414" name="Google Shape;414;p38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15" name="Google Shape;415;p38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416" name="Google Shape;416;p38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8" name="Google Shape;418;p38"/>
          <p:cNvCxnSpPr>
            <a:stCxn id="416" idx="7"/>
            <a:endCxn id="417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9" name="Google Shape;419;p38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1" name="Google Shape;421;p38"/>
          <p:cNvCxnSpPr>
            <a:stCxn id="419" idx="1"/>
            <a:endCxn id="420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2" name="Google Shape;422;p38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7" name="Google Shape;427;p38"/>
          <p:cNvCxnSpPr>
            <a:stCxn id="416" idx="5"/>
            <a:endCxn id="417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28" name="Google Shape;428;p3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4" name="Google Shape;434;p38"/>
          <p:cNvCxnSpPr>
            <a:stCxn id="428" idx="7"/>
            <a:endCxn id="43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38"/>
          <p:cNvCxnSpPr>
            <a:stCxn id="431" idx="3"/>
            <a:endCxn id="42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38"/>
          <p:cNvCxnSpPr>
            <a:stCxn id="433" idx="3"/>
            <a:endCxn id="43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38"/>
          <p:cNvCxnSpPr>
            <a:stCxn id="429" idx="4"/>
            <a:endCxn id="43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38"/>
          <p:cNvCxnSpPr>
            <a:stCxn id="428" idx="5"/>
            <a:endCxn id="43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38"/>
          <p:cNvCxnSpPr>
            <a:stCxn id="428" idx="6"/>
            <a:endCxn id="42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38"/>
          <p:cNvCxnSpPr>
            <a:stCxn id="430" idx="2"/>
            <a:endCxn id="43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38"/>
          <p:cNvCxnSpPr>
            <a:stCxn id="431" idx="5"/>
            <a:endCxn id="43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38"/>
          <p:cNvCxnSpPr>
            <a:stCxn id="429" idx="7"/>
            <a:endCxn id="43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38"/>
          <p:cNvCxnSpPr>
            <a:stCxn id="433" idx="3"/>
            <a:endCxn id="43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38"/>
          <p:cNvCxnSpPr>
            <a:stCxn id="429" idx="6"/>
            <a:endCxn id="43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8"/>
          <p:cNvCxnSpPr>
            <a:stCxn id="433" idx="5"/>
            <a:endCxn id="43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451" name="Google Shape;451;p39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8" name="Google Shape;458;p39"/>
          <p:cNvCxnSpPr>
            <a:stCxn id="452" idx="7"/>
            <a:endCxn id="45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9"/>
          <p:cNvCxnSpPr>
            <a:stCxn id="455" idx="3"/>
            <a:endCxn id="45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39"/>
          <p:cNvCxnSpPr>
            <a:stCxn id="457" idx="3"/>
            <a:endCxn id="45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39"/>
          <p:cNvCxnSpPr>
            <a:stCxn id="453" idx="4"/>
            <a:endCxn id="45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39"/>
          <p:cNvCxnSpPr>
            <a:stCxn id="452" idx="5"/>
            <a:endCxn id="45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39"/>
          <p:cNvCxnSpPr>
            <a:stCxn id="452" idx="6"/>
            <a:endCxn id="45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39"/>
          <p:cNvCxnSpPr>
            <a:stCxn id="454" idx="2"/>
            <a:endCxn id="45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39"/>
          <p:cNvCxnSpPr>
            <a:stCxn id="455" idx="5"/>
            <a:endCxn id="45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39"/>
          <p:cNvCxnSpPr>
            <a:stCxn id="453" idx="7"/>
            <a:endCxn id="45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39"/>
          <p:cNvCxnSpPr>
            <a:stCxn id="457" idx="3"/>
            <a:endCxn id="45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39"/>
          <p:cNvCxnSpPr>
            <a:stCxn id="453" idx="6"/>
            <a:endCxn id="45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39"/>
          <p:cNvCxnSpPr>
            <a:stCxn id="457" idx="5"/>
            <a:endCxn id="45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470" name="Google Shape;470;p39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471" name="Google Shape;471;p39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" name="Google Shape;473;p39"/>
          <p:cNvCxnSpPr>
            <a:stCxn id="471" idx="7"/>
            <a:endCxn id="472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4" name="Google Shape;474;p39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6" name="Google Shape;476;p39"/>
          <p:cNvCxnSpPr>
            <a:stCxn id="474" idx="1"/>
            <a:endCxn id="475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7" name="Google Shape;477;p39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8" name="Google Shape;478;p39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1" name="Google Shape;481;p39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82" name="Google Shape;482;p39"/>
          <p:cNvCxnSpPr>
            <a:stCxn id="471" idx="5"/>
            <a:endCxn id="472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488" name="Google Shape;488;p40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" name="Google Shape;493;p4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5" name="Google Shape;495;p40"/>
          <p:cNvCxnSpPr>
            <a:stCxn id="489" idx="7"/>
            <a:endCxn id="49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40"/>
          <p:cNvCxnSpPr>
            <a:stCxn id="492" idx="3"/>
            <a:endCxn id="49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40"/>
          <p:cNvCxnSpPr>
            <a:stCxn id="494" idx="3"/>
            <a:endCxn id="49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40"/>
          <p:cNvCxnSpPr>
            <a:stCxn id="490" idx="4"/>
            <a:endCxn id="49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0"/>
          <p:cNvCxnSpPr>
            <a:stCxn id="489" idx="5"/>
            <a:endCxn id="49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" name="Google Shape;500;p40"/>
          <p:cNvCxnSpPr>
            <a:stCxn id="489" idx="6"/>
            <a:endCxn id="49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40"/>
          <p:cNvCxnSpPr>
            <a:stCxn id="491" idx="2"/>
            <a:endCxn id="49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0"/>
          <p:cNvCxnSpPr>
            <a:stCxn id="492" idx="5"/>
            <a:endCxn id="49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0"/>
          <p:cNvCxnSpPr>
            <a:stCxn id="490" idx="7"/>
            <a:endCxn id="49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40"/>
          <p:cNvCxnSpPr>
            <a:stCxn id="494" idx="3"/>
            <a:endCxn id="49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40"/>
          <p:cNvCxnSpPr>
            <a:stCxn id="490" idx="6"/>
            <a:endCxn id="49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0"/>
          <p:cNvCxnSpPr>
            <a:stCxn id="494" idx="5"/>
            <a:endCxn id="49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507" name="Google Shape;507;p40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40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9" name="Google Shape;509;p40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0" name="Google Shape;510;p40"/>
          <p:cNvCxnSpPr>
            <a:stCxn id="508" idx="7"/>
            <a:endCxn id="509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1" name="Google Shape;511;p40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3" name="Google Shape;513;p40"/>
          <p:cNvCxnSpPr>
            <a:stCxn id="511" idx="1"/>
            <a:endCxn id="512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4" name="Google Shape;514;p40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0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9" name="Google Shape;519;p40"/>
          <p:cNvCxnSpPr>
            <a:stCxn id="508" idx="5"/>
            <a:endCxn id="509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525" name="Google Shape;525;p41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(a</a:t>
            </a:r>
            <a:r>
              <a:rPr baseline="-25000" lang="en">
                <a:solidFill>
                  <a:srgbClr val="FF0000"/>
                </a:solidFill>
              </a:rPr>
              <a:t>15</a:t>
            </a:r>
            <a:r>
              <a:rPr lang="en">
                <a:solidFill>
                  <a:srgbClr val="FF0000"/>
                </a:solidFill>
              </a:rPr>
              <a:t> = 1 AND a</a:t>
            </a:r>
            <a:r>
              <a:rPr baseline="-25000" lang="en">
                <a:solidFill>
                  <a:srgbClr val="FF0000"/>
                </a:solidFill>
              </a:rPr>
              <a:t>51</a:t>
            </a:r>
            <a:r>
              <a:rPr lang="en">
                <a:solidFill>
                  <a:srgbClr val="FF0000"/>
                </a:solidFill>
              </a:rPr>
              <a:t>= 0) </a:t>
            </a:r>
            <a:r>
              <a:rPr lang="en"/>
              <a:t>OR (a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2" name="Google Shape;532;p41"/>
          <p:cNvCxnSpPr>
            <a:stCxn id="526" idx="7"/>
            <a:endCxn id="52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41"/>
          <p:cNvCxnSpPr>
            <a:stCxn id="529" idx="3"/>
            <a:endCxn id="52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41"/>
          <p:cNvCxnSpPr>
            <a:stCxn id="531" idx="3"/>
            <a:endCxn id="52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41"/>
          <p:cNvCxnSpPr>
            <a:stCxn id="527" idx="4"/>
            <a:endCxn id="53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41"/>
          <p:cNvCxnSpPr>
            <a:stCxn id="526" idx="5"/>
            <a:endCxn id="53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41"/>
          <p:cNvCxnSpPr>
            <a:stCxn id="526" idx="6"/>
            <a:endCxn id="52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41"/>
          <p:cNvCxnSpPr>
            <a:stCxn id="528" idx="2"/>
            <a:endCxn id="53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41"/>
          <p:cNvCxnSpPr>
            <a:stCxn id="529" idx="5"/>
            <a:endCxn id="53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41"/>
          <p:cNvCxnSpPr>
            <a:stCxn id="527" idx="7"/>
            <a:endCxn id="52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41"/>
          <p:cNvCxnSpPr>
            <a:stCxn id="531" idx="3"/>
            <a:endCxn id="53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41"/>
          <p:cNvCxnSpPr>
            <a:stCxn id="527" idx="6"/>
            <a:endCxn id="53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41"/>
          <p:cNvCxnSpPr>
            <a:stCxn id="531" idx="5"/>
            <a:endCxn id="52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544" name="Google Shape;544;p41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5" name="Google Shape;545;p41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7" name="Google Shape;547;p41"/>
          <p:cNvCxnSpPr>
            <a:stCxn id="545" idx="7"/>
            <a:endCxn id="546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8" name="Google Shape;548;p41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9" name="Google Shape;549;p41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0" name="Google Shape;550;p41"/>
          <p:cNvCxnSpPr>
            <a:stCxn id="548" idx="1"/>
            <a:endCxn id="549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1" name="Google Shape;551;p41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2" name="Google Shape;552;p41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56" name="Google Shape;556;p41"/>
          <p:cNvCxnSpPr>
            <a:stCxn id="545" idx="5"/>
            <a:endCxn id="546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562" name="Google Shape;562;p42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</a:t>
            </a:r>
            <a:r>
              <a:rPr lang="en">
                <a:solidFill>
                  <a:srgbClr val="FF0000"/>
                </a:solidFill>
              </a:rPr>
              <a:t>(a</a:t>
            </a:r>
            <a:r>
              <a:rPr baseline="-25000" lang="en">
                <a:solidFill>
                  <a:srgbClr val="FF0000"/>
                </a:solidFill>
              </a:rPr>
              <a:t>12</a:t>
            </a:r>
            <a:r>
              <a:rPr lang="en">
                <a:solidFill>
                  <a:srgbClr val="FF0000"/>
                </a:solidFill>
              </a:rPr>
              <a:t> = 0 AND a</a:t>
            </a:r>
            <a:r>
              <a:rPr baseline="-25000" lang="en">
                <a:solidFill>
                  <a:srgbClr val="FF0000"/>
                </a:solidFill>
              </a:rPr>
              <a:t>21</a:t>
            </a:r>
            <a:r>
              <a:rPr lang="en">
                <a:solidFill>
                  <a:srgbClr val="FF0000"/>
                </a:solidFill>
              </a:rPr>
              <a:t> = 1)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5" name="Google Shape;565;p4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6" name="Google Shape;566;p4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7" name="Google Shape;567;p4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8" name="Google Shape;568;p4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9" name="Google Shape;569;p42"/>
          <p:cNvCxnSpPr>
            <a:stCxn id="563" idx="7"/>
            <a:endCxn id="56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42"/>
          <p:cNvCxnSpPr>
            <a:stCxn id="566" idx="3"/>
            <a:endCxn id="56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42"/>
          <p:cNvCxnSpPr>
            <a:stCxn id="568" idx="3"/>
            <a:endCxn id="56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42"/>
          <p:cNvCxnSpPr>
            <a:stCxn id="564" idx="4"/>
            <a:endCxn id="56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42"/>
          <p:cNvCxnSpPr>
            <a:stCxn id="563" idx="5"/>
            <a:endCxn id="56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42"/>
          <p:cNvCxnSpPr>
            <a:stCxn id="563" idx="6"/>
            <a:endCxn id="56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42"/>
          <p:cNvCxnSpPr>
            <a:stCxn id="565" idx="2"/>
            <a:endCxn id="56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42"/>
          <p:cNvCxnSpPr>
            <a:stCxn id="566" idx="5"/>
            <a:endCxn id="56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42"/>
          <p:cNvCxnSpPr>
            <a:stCxn id="564" idx="7"/>
            <a:endCxn id="56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42"/>
          <p:cNvCxnSpPr>
            <a:stCxn id="568" idx="3"/>
            <a:endCxn id="56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42"/>
          <p:cNvCxnSpPr>
            <a:stCxn id="564" idx="6"/>
            <a:endCxn id="56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42"/>
          <p:cNvCxnSpPr>
            <a:stCxn id="568" idx="5"/>
            <a:endCxn id="56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581" name="Google Shape;581;p42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2" name="Google Shape;582;p42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3" name="Google Shape;583;p42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4" name="Google Shape;584;p42"/>
          <p:cNvCxnSpPr>
            <a:stCxn id="582" idx="7"/>
            <a:endCxn id="583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5" name="Google Shape;585;p42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7" name="Google Shape;587;p42"/>
          <p:cNvCxnSpPr>
            <a:stCxn id="585" idx="1"/>
            <a:endCxn id="586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8" name="Google Shape;588;p42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9" name="Google Shape;589;p42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3" name="Google Shape;593;p42"/>
          <p:cNvCxnSpPr>
            <a:stCxn id="582" idx="5"/>
            <a:endCxn id="583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599" name="Google Shape;599;p43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12</a:t>
            </a:r>
            <a:r>
              <a:rPr lang="en"/>
              <a:t> = 0 AND a</a:t>
            </a:r>
            <a:r>
              <a:rPr baseline="-25000" lang="en"/>
              <a:t>21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0 AND a</a:t>
            </a:r>
            <a:r>
              <a:rPr baseline="-25000" lang="en"/>
              <a:t>ji</a:t>
            </a:r>
            <a:r>
              <a:rPr lang="en"/>
              <a:t> = 0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2" name="Google Shape;602;p4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6" name="Google Shape;606;p43"/>
          <p:cNvCxnSpPr>
            <a:stCxn id="600" idx="7"/>
            <a:endCxn id="60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43"/>
          <p:cNvCxnSpPr>
            <a:stCxn id="603" idx="3"/>
            <a:endCxn id="60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43"/>
          <p:cNvCxnSpPr>
            <a:stCxn id="605" idx="3"/>
            <a:endCxn id="60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43"/>
          <p:cNvCxnSpPr>
            <a:stCxn id="601" idx="4"/>
            <a:endCxn id="60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43"/>
          <p:cNvCxnSpPr>
            <a:stCxn id="600" idx="5"/>
            <a:endCxn id="60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43"/>
          <p:cNvCxnSpPr>
            <a:stCxn id="600" idx="6"/>
            <a:endCxn id="60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43"/>
          <p:cNvCxnSpPr>
            <a:stCxn id="602" idx="2"/>
            <a:endCxn id="60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43"/>
          <p:cNvCxnSpPr>
            <a:stCxn id="603" idx="5"/>
            <a:endCxn id="60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43"/>
          <p:cNvCxnSpPr>
            <a:stCxn id="601" idx="7"/>
            <a:endCxn id="60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43"/>
          <p:cNvCxnSpPr>
            <a:stCxn id="605" idx="3"/>
            <a:endCxn id="60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43"/>
          <p:cNvCxnSpPr>
            <a:stCxn id="601" idx="6"/>
            <a:endCxn id="60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43"/>
          <p:cNvCxnSpPr>
            <a:stCxn id="605" idx="5"/>
            <a:endCxn id="60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618" name="Google Shape;618;p43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43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0" name="Google Shape;620;p43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1" name="Google Shape;621;p43"/>
          <p:cNvCxnSpPr>
            <a:stCxn id="619" idx="7"/>
            <a:endCxn id="620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2" name="Google Shape;622;p43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3" name="Google Shape;623;p43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4" name="Google Shape;624;p43"/>
          <p:cNvCxnSpPr>
            <a:stCxn id="622" idx="1"/>
            <a:endCxn id="623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5" name="Google Shape;625;p43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26" name="Google Shape;626;p43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27" name="Google Shape;627;p43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43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9" name="Google Shape;629;p43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30" name="Google Shape;630;p43"/>
          <p:cNvCxnSpPr>
            <a:stCxn id="619" idx="5"/>
            <a:endCxn id="620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 and Matrices</a:t>
            </a:r>
            <a:endParaRPr/>
          </a:p>
        </p:txBody>
      </p:sp>
      <p:sp>
        <p:nvSpPr>
          <p:cNvPr id="636" name="Google Shape;636;p44"/>
          <p:cNvSpPr txBox="1"/>
          <p:nvPr>
            <p:ph idx="1" type="body"/>
          </p:nvPr>
        </p:nvSpPr>
        <p:spPr>
          <a:xfrm>
            <a:off x="311700" y="1225225"/>
            <a:ext cx="5377200" cy="3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r>
              <a:rPr lang="en"/>
              <a:t> 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Asymmetric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</a:t>
            </a:r>
            <a:r>
              <a:rPr baseline="-25000" lang="en"/>
              <a:t>ij</a:t>
            </a:r>
            <a:r>
              <a:rPr lang="en"/>
              <a:t> = 1 AND a</a:t>
            </a:r>
            <a:r>
              <a:rPr baseline="-25000" lang="en"/>
              <a:t>ji</a:t>
            </a:r>
            <a:r>
              <a:rPr lang="en"/>
              <a:t> = 0) OR (a</a:t>
            </a:r>
            <a:r>
              <a:rPr baseline="-25000" lang="en"/>
              <a:t>12</a:t>
            </a:r>
            <a:r>
              <a:rPr lang="en"/>
              <a:t> = 0 AND a</a:t>
            </a:r>
            <a:r>
              <a:rPr baseline="-25000" lang="en"/>
              <a:t>21</a:t>
            </a:r>
            <a:r>
              <a:rPr lang="en"/>
              <a:t>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Null dyads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14</a:t>
            </a:r>
            <a:r>
              <a:rPr lang="en"/>
              <a:t> </a:t>
            </a:r>
            <a:r>
              <a:rPr lang="en"/>
              <a:t>= 0 AND a</a:t>
            </a:r>
            <a:r>
              <a:rPr baseline="-25000" lang="en"/>
              <a:t>41</a:t>
            </a:r>
            <a:r>
              <a:rPr lang="en"/>
              <a:t> = 0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8" name="Google Shape;638;p4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9" name="Google Shape;639;p4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0" name="Google Shape;640;p4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1" name="Google Shape;641;p4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2" name="Google Shape;642;p4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3" name="Google Shape;643;p44"/>
          <p:cNvCxnSpPr>
            <a:stCxn id="637" idx="7"/>
            <a:endCxn id="64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44"/>
          <p:cNvCxnSpPr>
            <a:stCxn id="640" idx="3"/>
            <a:endCxn id="63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44"/>
          <p:cNvCxnSpPr>
            <a:stCxn id="642" idx="3"/>
            <a:endCxn id="63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6" name="Google Shape;646;p44"/>
          <p:cNvCxnSpPr>
            <a:stCxn id="638" idx="4"/>
            <a:endCxn id="64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44"/>
          <p:cNvCxnSpPr>
            <a:stCxn id="637" idx="5"/>
            <a:endCxn id="64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8" name="Google Shape;648;p44"/>
          <p:cNvCxnSpPr>
            <a:stCxn id="637" idx="6"/>
            <a:endCxn id="63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44"/>
          <p:cNvCxnSpPr>
            <a:stCxn id="639" idx="2"/>
            <a:endCxn id="64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44"/>
          <p:cNvCxnSpPr>
            <a:stCxn id="640" idx="5"/>
            <a:endCxn id="64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44"/>
          <p:cNvCxnSpPr>
            <a:stCxn id="638" idx="7"/>
            <a:endCxn id="64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44"/>
          <p:cNvCxnSpPr>
            <a:stCxn id="642" idx="3"/>
            <a:endCxn id="64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44"/>
          <p:cNvCxnSpPr>
            <a:stCxn id="638" idx="6"/>
            <a:endCxn id="64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4" name="Google Shape;654;p44"/>
          <p:cNvCxnSpPr>
            <a:stCxn id="642" idx="5"/>
            <a:endCxn id="63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655" name="Google Shape;655;p44"/>
          <p:cNvGraphicFramePr/>
          <p:nvPr/>
        </p:nvGraphicFramePr>
        <p:xfrm>
          <a:off x="5798575" y="247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6" name="Google Shape;656;p44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8" name="Google Shape;658;p44"/>
          <p:cNvCxnSpPr>
            <a:stCxn id="656" idx="7"/>
            <a:endCxn id="657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9" name="Google Shape;659;p44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0" name="Google Shape;660;p44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1" name="Google Shape;661;p44"/>
          <p:cNvCxnSpPr>
            <a:stCxn id="659" idx="1"/>
            <a:endCxn id="660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2" name="Google Shape;662;p44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3" name="Google Shape;663;p44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4" name="Google Shape;664;p44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5" name="Google Shape;665;p44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6" name="Google Shape;666;p44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67" name="Google Shape;667;p44"/>
          <p:cNvCxnSpPr>
            <a:stCxn id="656" idx="5"/>
            <a:endCxn id="657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673" name="Google Shape;673;p45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of a matrix </a:t>
            </a:r>
            <a:r>
              <a:rPr b="1" lang="en"/>
              <a:t>A</a:t>
            </a:r>
            <a:r>
              <a:rPr lang="en"/>
              <a:t> is the same matrix with the rows and columns flipped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74" name="Google Shape;674;p45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5" name="Google Shape;675;p45"/>
          <p:cNvSpPr txBox="1"/>
          <p:nvPr/>
        </p:nvSpPr>
        <p:spPr>
          <a:xfrm>
            <a:off x="166500" y="3482775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2" name="Google Shape;682;p45"/>
          <p:cNvCxnSpPr>
            <a:stCxn id="676" idx="7"/>
            <a:endCxn id="67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45"/>
          <p:cNvCxnSpPr>
            <a:stCxn id="679" idx="3"/>
            <a:endCxn id="67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45"/>
          <p:cNvCxnSpPr>
            <a:stCxn id="681" idx="3"/>
            <a:endCxn id="67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45"/>
          <p:cNvCxnSpPr>
            <a:stCxn id="677" idx="4"/>
            <a:endCxn id="68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45"/>
          <p:cNvCxnSpPr>
            <a:stCxn id="676" idx="5"/>
            <a:endCxn id="68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45"/>
          <p:cNvCxnSpPr>
            <a:stCxn id="676" idx="6"/>
            <a:endCxn id="67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45"/>
          <p:cNvCxnSpPr>
            <a:stCxn id="678" idx="2"/>
            <a:endCxn id="68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45"/>
          <p:cNvCxnSpPr>
            <a:stCxn id="679" idx="5"/>
            <a:endCxn id="68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45"/>
          <p:cNvCxnSpPr>
            <a:stCxn id="677" idx="7"/>
            <a:endCxn id="67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45"/>
          <p:cNvCxnSpPr>
            <a:stCxn id="681" idx="3"/>
            <a:endCxn id="68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p45"/>
          <p:cNvCxnSpPr>
            <a:stCxn id="677" idx="6"/>
            <a:endCxn id="68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3" name="Google Shape;693;p45"/>
          <p:cNvCxnSpPr>
            <a:stCxn id="681" idx="5"/>
            <a:endCxn id="67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699" name="Google Shape;699;p46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of a matrix </a:t>
            </a:r>
            <a:r>
              <a:rPr b="1" lang="en"/>
              <a:t>A</a:t>
            </a:r>
            <a:r>
              <a:rPr lang="en"/>
              <a:t> is the same matrix with the rows and columns flipped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0" name="Google Shape;700;p46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1" name="Google Shape;701;p46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02" name="Google Shape;702;p46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3" name="Google Shape;703;p46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5" name="Google Shape;705;p4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6" name="Google Shape;706;p4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7" name="Google Shape;707;p4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8" name="Google Shape;708;p4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0" name="Google Shape;710;p46"/>
          <p:cNvCxnSpPr>
            <a:stCxn id="704" idx="7"/>
            <a:endCxn id="70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6"/>
          <p:cNvCxnSpPr>
            <a:stCxn id="707" idx="3"/>
            <a:endCxn id="70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2" name="Google Shape;712;p46"/>
          <p:cNvCxnSpPr>
            <a:stCxn id="709" idx="3"/>
            <a:endCxn id="70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46"/>
          <p:cNvCxnSpPr>
            <a:stCxn id="705" idx="4"/>
            <a:endCxn id="70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46"/>
          <p:cNvCxnSpPr>
            <a:stCxn id="704" idx="5"/>
            <a:endCxn id="70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46"/>
          <p:cNvCxnSpPr>
            <a:stCxn id="704" idx="6"/>
            <a:endCxn id="70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6" name="Google Shape;716;p46"/>
          <p:cNvCxnSpPr>
            <a:stCxn id="706" idx="2"/>
            <a:endCxn id="70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46"/>
          <p:cNvCxnSpPr>
            <a:stCxn id="707" idx="5"/>
            <a:endCxn id="70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46"/>
          <p:cNvCxnSpPr>
            <a:stCxn id="705" idx="7"/>
            <a:endCxn id="70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46"/>
          <p:cNvCxnSpPr>
            <a:stCxn id="709" idx="3"/>
            <a:endCxn id="70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46"/>
          <p:cNvCxnSpPr>
            <a:stCxn id="705" idx="6"/>
            <a:endCxn id="70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6"/>
          <p:cNvCxnSpPr>
            <a:stCxn id="709" idx="5"/>
            <a:endCxn id="70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27" name="Google Shape;727;p47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rows of the original matrix are the columns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8" name="Google Shape;728;p47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29" name="Google Shape;729;p47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30" name="Google Shape;730;p47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31" name="Google Shape;731;p47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47"/>
          <p:cNvSpPr/>
          <p:nvPr/>
        </p:nvSpPr>
        <p:spPr>
          <a:xfrm rot="10800000">
            <a:off x="5945270" y="2383950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7"/>
          <p:cNvSpPr/>
          <p:nvPr/>
        </p:nvSpPr>
        <p:spPr>
          <a:xfrm rot="5400000">
            <a:off x="2006188" y="1665475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5" name="Google Shape;735;p4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6" name="Google Shape;736;p4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8" name="Google Shape;738;p4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0" name="Google Shape;740;p47"/>
          <p:cNvCxnSpPr>
            <a:stCxn id="734" idx="7"/>
            <a:endCxn id="73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47"/>
          <p:cNvCxnSpPr>
            <a:stCxn id="737" idx="3"/>
            <a:endCxn id="73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7"/>
          <p:cNvCxnSpPr>
            <a:stCxn id="739" idx="3"/>
            <a:endCxn id="73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47"/>
          <p:cNvCxnSpPr>
            <a:stCxn id="735" idx="4"/>
            <a:endCxn id="73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47"/>
          <p:cNvCxnSpPr>
            <a:stCxn id="734" idx="5"/>
            <a:endCxn id="73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47"/>
          <p:cNvCxnSpPr>
            <a:stCxn id="734" idx="6"/>
            <a:endCxn id="73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47"/>
          <p:cNvCxnSpPr>
            <a:stCxn id="736" idx="2"/>
            <a:endCxn id="73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47"/>
          <p:cNvCxnSpPr>
            <a:stCxn id="737" idx="5"/>
            <a:endCxn id="73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47"/>
          <p:cNvCxnSpPr>
            <a:stCxn id="735" idx="7"/>
            <a:endCxn id="73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7"/>
          <p:cNvCxnSpPr>
            <a:stCxn id="739" idx="3"/>
            <a:endCxn id="73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47"/>
          <p:cNvCxnSpPr>
            <a:stCxn id="735" idx="6"/>
            <a:endCxn id="73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47"/>
          <p:cNvCxnSpPr>
            <a:stCxn id="739" idx="5"/>
            <a:endCxn id="73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57" name="Google Shape;757;p48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rows of the original matrix are the columns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58" name="Google Shape;758;p48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9" name="Google Shape;759;p48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60" name="Google Shape;760;p48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61" name="Google Shape;761;p48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48"/>
          <p:cNvSpPr/>
          <p:nvPr/>
        </p:nvSpPr>
        <p:spPr>
          <a:xfrm rot="10800000">
            <a:off x="6847170" y="2425575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8"/>
          <p:cNvSpPr/>
          <p:nvPr/>
        </p:nvSpPr>
        <p:spPr>
          <a:xfrm rot="5400000">
            <a:off x="2006175" y="2387000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5" name="Google Shape;765;p4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7" name="Google Shape;767;p4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8" name="Google Shape;768;p4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9" name="Google Shape;769;p4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0" name="Google Shape;770;p48"/>
          <p:cNvCxnSpPr>
            <a:stCxn id="764" idx="7"/>
            <a:endCxn id="76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8"/>
          <p:cNvCxnSpPr>
            <a:stCxn id="767" idx="3"/>
            <a:endCxn id="76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48"/>
          <p:cNvCxnSpPr>
            <a:stCxn id="769" idx="3"/>
            <a:endCxn id="76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3" name="Google Shape;773;p48"/>
          <p:cNvCxnSpPr>
            <a:stCxn id="765" idx="4"/>
            <a:endCxn id="76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4" name="Google Shape;774;p48"/>
          <p:cNvCxnSpPr>
            <a:stCxn id="764" idx="5"/>
            <a:endCxn id="76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48"/>
          <p:cNvCxnSpPr>
            <a:stCxn id="764" idx="6"/>
            <a:endCxn id="76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48"/>
          <p:cNvCxnSpPr>
            <a:stCxn id="766" idx="2"/>
            <a:endCxn id="76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7" name="Google Shape;777;p48"/>
          <p:cNvCxnSpPr>
            <a:stCxn id="767" idx="5"/>
            <a:endCxn id="76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48"/>
          <p:cNvCxnSpPr>
            <a:stCxn id="765" idx="7"/>
            <a:endCxn id="76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48"/>
          <p:cNvCxnSpPr>
            <a:stCxn id="769" idx="3"/>
            <a:endCxn id="76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48"/>
          <p:cNvCxnSpPr>
            <a:stCxn id="765" idx="6"/>
            <a:endCxn id="76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48"/>
          <p:cNvCxnSpPr>
            <a:stCxn id="769" idx="5"/>
            <a:endCxn id="76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787" name="Google Shape;787;p49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columns  of the original matrix are the rows of the transpose!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written </a:t>
            </a:r>
            <a:r>
              <a:rPr b="1" lang="en"/>
              <a:t>A’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8" name="Google Shape;788;p49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89" name="Google Shape;789;p49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90" name="Google Shape;790;p49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91" name="Google Shape;791;p49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2" name="Google Shape;792;p49"/>
          <p:cNvSpPr/>
          <p:nvPr/>
        </p:nvSpPr>
        <p:spPr>
          <a:xfrm rot="10800000">
            <a:off x="2448620" y="2379363"/>
            <a:ext cx="534900" cy="260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9"/>
          <p:cNvSpPr/>
          <p:nvPr/>
        </p:nvSpPr>
        <p:spPr>
          <a:xfrm rot="5400000">
            <a:off x="6411688" y="2380125"/>
            <a:ext cx="492000" cy="332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4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5" name="Google Shape;795;p4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0" name="Google Shape;800;p49"/>
          <p:cNvCxnSpPr>
            <a:stCxn id="794" idx="7"/>
            <a:endCxn id="79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49"/>
          <p:cNvCxnSpPr>
            <a:stCxn id="797" idx="3"/>
            <a:endCxn id="79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49"/>
          <p:cNvCxnSpPr>
            <a:stCxn id="799" idx="3"/>
            <a:endCxn id="79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3" name="Google Shape;803;p49"/>
          <p:cNvCxnSpPr>
            <a:stCxn id="795" idx="4"/>
            <a:endCxn id="79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49"/>
          <p:cNvCxnSpPr>
            <a:stCxn id="794" idx="5"/>
            <a:endCxn id="79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49"/>
          <p:cNvCxnSpPr>
            <a:stCxn id="794" idx="6"/>
            <a:endCxn id="79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6" name="Google Shape;806;p49"/>
          <p:cNvCxnSpPr>
            <a:stCxn id="796" idx="2"/>
            <a:endCxn id="79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7" name="Google Shape;807;p49"/>
          <p:cNvCxnSpPr>
            <a:stCxn id="797" idx="5"/>
            <a:endCxn id="79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8" name="Google Shape;808;p49"/>
          <p:cNvCxnSpPr>
            <a:stCxn id="795" idx="7"/>
            <a:endCxn id="79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9" name="Google Shape;809;p49"/>
          <p:cNvCxnSpPr>
            <a:stCxn id="799" idx="3"/>
            <a:endCxn id="79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49"/>
          <p:cNvCxnSpPr>
            <a:stCxn id="795" idx="6"/>
            <a:endCxn id="79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49"/>
          <p:cNvCxnSpPr>
            <a:stCxn id="799" idx="5"/>
            <a:endCxn id="79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817" name="Google Shape;817;p50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b="1" lang="en"/>
              <a:t>A</a:t>
            </a:r>
            <a:r>
              <a:rPr lang="en"/>
              <a:t> is a matrix and </a:t>
            </a:r>
            <a:r>
              <a:rPr b="1" lang="en"/>
              <a:t>A’</a:t>
            </a:r>
            <a:r>
              <a:rPr lang="en"/>
              <a:t> is its transpose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a’</a:t>
            </a:r>
            <a:r>
              <a:rPr baseline="-25000" lang="en"/>
              <a:t>ji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8" name="Google Shape;818;p50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19" name="Google Shape;819;p50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20" name="Google Shape;820;p50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21" name="Google Shape;821;p50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2" name="Google Shape;822;p5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3" name="Google Shape;823;p5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4" name="Google Shape;824;p5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5" name="Google Shape;825;p5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6" name="Google Shape;826;p5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7" name="Google Shape;827;p5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8" name="Google Shape;828;p50"/>
          <p:cNvCxnSpPr>
            <a:stCxn id="822" idx="7"/>
            <a:endCxn id="82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50"/>
          <p:cNvCxnSpPr>
            <a:stCxn id="825" idx="3"/>
            <a:endCxn id="82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50"/>
          <p:cNvCxnSpPr>
            <a:stCxn id="827" idx="3"/>
            <a:endCxn id="82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0"/>
          <p:cNvCxnSpPr>
            <a:stCxn id="823" idx="4"/>
            <a:endCxn id="82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50"/>
          <p:cNvCxnSpPr>
            <a:stCxn id="822" idx="5"/>
            <a:endCxn id="82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50"/>
          <p:cNvCxnSpPr>
            <a:stCxn id="822" idx="6"/>
            <a:endCxn id="82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4" name="Google Shape;834;p50"/>
          <p:cNvCxnSpPr>
            <a:stCxn id="824" idx="2"/>
            <a:endCxn id="82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50"/>
          <p:cNvCxnSpPr>
            <a:stCxn id="825" idx="5"/>
            <a:endCxn id="82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50"/>
          <p:cNvCxnSpPr>
            <a:stCxn id="823" idx="7"/>
            <a:endCxn id="82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7" name="Google Shape;837;p50"/>
          <p:cNvCxnSpPr>
            <a:stCxn id="827" idx="3"/>
            <a:endCxn id="82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" name="Google Shape;838;p50"/>
          <p:cNvCxnSpPr>
            <a:stCxn id="823" idx="6"/>
            <a:endCxn id="82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50"/>
          <p:cNvCxnSpPr>
            <a:stCxn id="827" idx="5"/>
            <a:endCxn id="82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Matrix Transpose</a:t>
            </a:r>
            <a:endParaRPr/>
          </a:p>
        </p:txBody>
      </p:sp>
      <p:sp>
        <p:nvSpPr>
          <p:cNvPr id="845" name="Google Shape;845;p51"/>
          <p:cNvSpPr txBox="1"/>
          <p:nvPr>
            <p:ph idx="1" type="body"/>
          </p:nvPr>
        </p:nvSpPr>
        <p:spPr>
          <a:xfrm>
            <a:off x="311700" y="1225225"/>
            <a:ext cx="537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b="1" lang="en"/>
              <a:t>A</a:t>
            </a:r>
            <a:r>
              <a:rPr lang="en"/>
              <a:t> is a matrix and </a:t>
            </a:r>
            <a:r>
              <a:rPr b="1" lang="en"/>
              <a:t>A’</a:t>
            </a:r>
            <a:r>
              <a:rPr lang="en"/>
              <a:t> is its transpose then: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15</a:t>
            </a:r>
            <a:r>
              <a:rPr lang="en"/>
              <a:t> = a’</a:t>
            </a:r>
            <a:r>
              <a:rPr baseline="-25000" lang="en"/>
              <a:t>51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7" name="Google Shape;847;p5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8" name="Google Shape;848;p5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9" name="Google Shape;849;p5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0" name="Google Shape;850;p5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1" name="Google Shape;851;p5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2" name="Google Shape;852;p51"/>
          <p:cNvCxnSpPr>
            <a:stCxn id="846" idx="7"/>
            <a:endCxn id="84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1"/>
          <p:cNvCxnSpPr>
            <a:stCxn id="849" idx="3"/>
            <a:endCxn id="84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51"/>
          <p:cNvCxnSpPr>
            <a:stCxn id="851" idx="3"/>
            <a:endCxn id="84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1"/>
          <p:cNvCxnSpPr>
            <a:stCxn id="847" idx="4"/>
            <a:endCxn id="85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51"/>
          <p:cNvCxnSpPr>
            <a:stCxn id="846" idx="5"/>
            <a:endCxn id="85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51"/>
          <p:cNvCxnSpPr>
            <a:stCxn id="846" idx="6"/>
            <a:endCxn id="84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51"/>
          <p:cNvCxnSpPr>
            <a:stCxn id="848" idx="2"/>
            <a:endCxn id="85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9" name="Google Shape;859;p51"/>
          <p:cNvCxnSpPr>
            <a:stCxn id="849" idx="5"/>
            <a:endCxn id="85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0" name="Google Shape;860;p51"/>
          <p:cNvCxnSpPr>
            <a:stCxn id="847" idx="7"/>
            <a:endCxn id="84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1" name="Google Shape;861;p51"/>
          <p:cNvCxnSpPr>
            <a:stCxn id="851" idx="3"/>
            <a:endCxn id="85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51"/>
          <p:cNvCxnSpPr>
            <a:stCxn id="847" idx="6"/>
            <a:endCxn id="85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51"/>
          <p:cNvCxnSpPr>
            <a:stCxn id="851" idx="5"/>
            <a:endCxn id="84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864" name="Google Shape;864;p51"/>
          <p:cNvGraphicFramePr/>
          <p:nvPr/>
        </p:nvGraphicFramePr>
        <p:xfrm>
          <a:off x="6576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5" name="Google Shape;865;p51"/>
          <p:cNvSpPr txBox="1"/>
          <p:nvPr/>
        </p:nvSpPr>
        <p:spPr>
          <a:xfrm>
            <a:off x="166500" y="34442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66" name="Google Shape;866;p51"/>
          <p:cNvGraphicFramePr/>
          <p:nvPr/>
        </p:nvGraphicFramePr>
        <p:xfrm>
          <a:off x="5063175" y="2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7" name="Google Shape;867;p51"/>
          <p:cNvSpPr txBox="1"/>
          <p:nvPr/>
        </p:nvSpPr>
        <p:spPr>
          <a:xfrm>
            <a:off x="4502625" y="3444225"/>
            <a:ext cx="45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sp>
        <p:nvSpPr>
          <p:cNvPr id="873" name="Google Shape;873;p52"/>
          <p:cNvSpPr txBox="1"/>
          <p:nvPr>
            <p:ph idx="1" type="body"/>
          </p:nvPr>
        </p:nvSpPr>
        <p:spPr>
          <a:xfrm>
            <a:off x="311700" y="1225225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Element-wise matrix multiplication</a:t>
            </a:r>
            <a:r>
              <a:rPr lang="en"/>
              <a:t>, also known as the </a:t>
            </a:r>
            <a:r>
              <a:rPr b="1" lang="en"/>
              <a:t>Hadamard product</a:t>
            </a:r>
            <a:r>
              <a:rPr lang="en"/>
              <a:t> (￮)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defined for matrices with the </a:t>
            </a:r>
            <a:r>
              <a:rPr b="1" lang="en">
                <a:solidFill>
                  <a:srgbClr val="FF0000"/>
                </a:solidFill>
              </a:rPr>
              <a:t>same</a:t>
            </a:r>
            <a:r>
              <a:rPr lang="en"/>
              <a:t> row and column dimensions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\circ B = (a_{ij} \times b_{ij})" id="874" name="Google Shape;874;p5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63" y="2425025"/>
            <a:ext cx="3114024" cy="47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5" name="Google Shape;875;p52"/>
          <p:cNvGraphicFramePr/>
          <p:nvPr/>
        </p:nvGraphicFramePr>
        <p:xfrm>
          <a:off x="1730250" y="3355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76" name="Google Shape;876;p52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7" name="Google Shape;877;p52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78" name="Google Shape;878;p52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79" name="Google Shape;879;p52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2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1" name="Google Shape;881;p52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2" name="Google Shape;882;p52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888" name="Google Shape;888;p53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9" name="Google Shape;889;p53"/>
          <p:cNvGraphicFramePr/>
          <p:nvPr/>
        </p:nvGraphicFramePr>
        <p:xfrm>
          <a:off x="321336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0" name="Google Shape;890;p53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91" name="Google Shape;891;p53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3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4" name="Google Shape;894;p5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5" name="Google Shape;895;p5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6" name="Google Shape;896;p5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7" name="Google Shape;897;p5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8" name="Google Shape;898;p5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9" name="Google Shape;899;p53"/>
          <p:cNvCxnSpPr>
            <a:stCxn id="893" idx="7"/>
            <a:endCxn id="896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53"/>
          <p:cNvCxnSpPr>
            <a:stCxn id="896" idx="3"/>
            <a:endCxn id="894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53"/>
          <p:cNvCxnSpPr>
            <a:stCxn id="898" idx="3"/>
            <a:endCxn id="895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53"/>
          <p:cNvCxnSpPr>
            <a:stCxn id="894" idx="4"/>
            <a:endCxn id="897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53"/>
          <p:cNvCxnSpPr>
            <a:stCxn id="893" idx="5"/>
            <a:endCxn id="897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53"/>
          <p:cNvCxnSpPr>
            <a:stCxn id="893" idx="6"/>
            <a:endCxn id="894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53"/>
          <p:cNvCxnSpPr>
            <a:stCxn id="895" idx="2"/>
            <a:endCxn id="897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53"/>
          <p:cNvCxnSpPr>
            <a:stCxn id="896" idx="5"/>
            <a:endCxn id="898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53"/>
          <p:cNvCxnSpPr>
            <a:stCxn id="894" idx="7"/>
            <a:endCxn id="896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53"/>
          <p:cNvCxnSpPr>
            <a:stCxn id="898" idx="3"/>
            <a:endCxn id="897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53"/>
          <p:cNvCxnSpPr>
            <a:stCxn id="894" idx="6"/>
            <a:endCxn id="898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53"/>
          <p:cNvCxnSpPr>
            <a:stCxn id="898" idx="5"/>
            <a:endCxn id="895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A\circ A'=(a_{ij}\times a'_{ij})" id="911" name="Google Shape;9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425" y="4587213"/>
            <a:ext cx="2743200" cy="40341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53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obtain the Hadamard product of an asymmetric </a:t>
            </a:r>
            <a:r>
              <a:rPr lang="en"/>
              <a:t>adjacency</a:t>
            </a:r>
            <a:r>
              <a:rPr lang="en"/>
              <a:t> matrix and its transpose?</a:t>
            </a:r>
            <a:endParaRPr/>
          </a:p>
        </p:txBody>
      </p:sp>
      <p:sp>
        <p:nvSpPr>
          <p:cNvPr id="913" name="Google Shape;913;p53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4" name="Google Shape;914;p53"/>
          <p:cNvSpPr txBox="1"/>
          <p:nvPr/>
        </p:nvSpPr>
        <p:spPr>
          <a:xfrm>
            <a:off x="4239525" y="2160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5" name="Google Shape;915;p53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Element-Wise Matrix Multiplication</a:t>
            </a:r>
            <a:endParaRPr/>
          </a:p>
        </p:txBody>
      </p:sp>
      <p:graphicFrame>
        <p:nvGraphicFramePr>
          <p:cNvPr id="921" name="Google Shape;921;p54"/>
          <p:cNvGraphicFramePr/>
          <p:nvPr/>
        </p:nvGraphicFramePr>
        <p:xfrm>
          <a:off x="292788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" name="Google Shape;922;p54"/>
          <p:cNvGraphicFramePr/>
          <p:nvPr/>
        </p:nvGraphicFramePr>
        <p:xfrm>
          <a:off x="321336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" name="Google Shape;923;p54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4" name="Google Shape;924;p54"/>
          <p:cNvSpPr/>
          <p:nvPr/>
        </p:nvSpPr>
        <p:spPr>
          <a:xfrm>
            <a:off x="2875525" y="361017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4"/>
          <p:cNvSpPr/>
          <p:nvPr/>
        </p:nvSpPr>
        <p:spPr>
          <a:xfrm>
            <a:off x="5849438" y="3610175"/>
            <a:ext cx="365700" cy="2316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7" name="Google Shape;927;p5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0" name="Google Shape;930;p5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2" name="Google Shape;932;p54"/>
          <p:cNvCxnSpPr>
            <a:stCxn id="926" idx="7"/>
            <a:endCxn id="92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54"/>
          <p:cNvCxnSpPr>
            <a:stCxn id="929" idx="3"/>
            <a:endCxn id="92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54"/>
          <p:cNvCxnSpPr>
            <a:stCxn id="931" idx="3"/>
            <a:endCxn id="92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54"/>
          <p:cNvCxnSpPr>
            <a:stCxn id="927" idx="4"/>
            <a:endCxn id="93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54"/>
          <p:cNvCxnSpPr>
            <a:stCxn id="926" idx="5"/>
            <a:endCxn id="93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54"/>
          <p:cNvCxnSpPr>
            <a:stCxn id="926" idx="6"/>
            <a:endCxn id="92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54"/>
          <p:cNvCxnSpPr>
            <a:stCxn id="928" idx="2"/>
            <a:endCxn id="93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54"/>
          <p:cNvCxnSpPr>
            <a:stCxn id="929" idx="5"/>
            <a:endCxn id="93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54"/>
          <p:cNvCxnSpPr>
            <a:stCxn id="927" idx="7"/>
            <a:endCxn id="92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54"/>
          <p:cNvCxnSpPr>
            <a:stCxn id="931" idx="3"/>
            <a:endCxn id="93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54"/>
          <p:cNvCxnSpPr>
            <a:stCxn id="927" idx="6"/>
            <a:endCxn id="93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54"/>
          <p:cNvCxnSpPr>
            <a:stCxn id="931" idx="5"/>
            <a:endCxn id="92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A\circ A'=(a_{ij}\times a'_{ij})" id="944" name="Google Shape;9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425" y="4587213"/>
            <a:ext cx="2743200" cy="40341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54"/>
          <p:cNvSpPr txBox="1"/>
          <p:nvPr>
            <p:ph idx="1" type="body"/>
          </p:nvPr>
        </p:nvSpPr>
        <p:spPr>
          <a:xfrm>
            <a:off x="311700" y="1225225"/>
            <a:ext cx="5556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non-zero entries in the resulting matrix are mutual dyads in the graph!</a:t>
            </a:r>
            <a:endParaRPr/>
          </a:p>
        </p:txBody>
      </p:sp>
      <p:sp>
        <p:nvSpPr>
          <p:cNvPr id="946" name="Google Shape;946;p54"/>
          <p:cNvSpPr txBox="1"/>
          <p:nvPr/>
        </p:nvSpPr>
        <p:spPr>
          <a:xfrm>
            <a:off x="1335750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7" name="Google Shape;947;p54"/>
          <p:cNvSpPr txBox="1"/>
          <p:nvPr/>
        </p:nvSpPr>
        <p:spPr>
          <a:xfrm>
            <a:off x="4239525" y="2160925"/>
            <a:ext cx="4530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A’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8" name="Google Shape;948;p54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954" name="Google Shape;954;p55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55" name="Google Shape;955;p55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8" name="Google Shape;958;p5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9" name="Google Shape;959;p5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0" name="Google Shape;960;p5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1" name="Google Shape;961;p5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2" name="Google Shape;962;p55"/>
          <p:cNvCxnSpPr>
            <a:stCxn id="956" idx="7"/>
            <a:endCxn id="959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55"/>
          <p:cNvCxnSpPr>
            <a:stCxn id="959" idx="3"/>
            <a:endCxn id="957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4" name="Google Shape;964;p55"/>
          <p:cNvCxnSpPr>
            <a:stCxn id="961" idx="3"/>
            <a:endCxn id="958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55"/>
          <p:cNvCxnSpPr>
            <a:stCxn id="957" idx="4"/>
            <a:endCxn id="960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55"/>
          <p:cNvCxnSpPr>
            <a:stCxn id="956" idx="5"/>
            <a:endCxn id="960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55"/>
          <p:cNvCxnSpPr>
            <a:stCxn id="956" idx="6"/>
            <a:endCxn id="957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8" name="Google Shape;968;p55"/>
          <p:cNvCxnSpPr>
            <a:stCxn id="958" idx="2"/>
            <a:endCxn id="960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55"/>
          <p:cNvCxnSpPr>
            <a:stCxn id="959" idx="5"/>
            <a:endCxn id="961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55"/>
          <p:cNvCxnSpPr>
            <a:stCxn id="957" idx="7"/>
            <a:endCxn id="959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55"/>
          <p:cNvCxnSpPr>
            <a:stCxn id="961" idx="3"/>
            <a:endCxn id="960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55"/>
          <p:cNvCxnSpPr>
            <a:stCxn id="957" idx="6"/>
            <a:endCxn id="961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55"/>
          <p:cNvCxnSpPr>
            <a:stCxn id="961" idx="5"/>
            <a:endCxn id="958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74" name="Google Shape;974;p55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980" name="Google Shape;980;p56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81" name="Google Shape;981;p56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about A?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5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3" name="Google Shape;983;p5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4" name="Google Shape;984;p5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5" name="Google Shape;985;p5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6" name="Google Shape;986;p5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7" name="Google Shape;987;p5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8" name="Google Shape;988;p56"/>
          <p:cNvCxnSpPr>
            <a:stCxn id="982" idx="7"/>
            <a:endCxn id="98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56"/>
          <p:cNvCxnSpPr>
            <a:stCxn id="985" idx="3"/>
            <a:endCxn id="98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56"/>
          <p:cNvCxnSpPr>
            <a:stCxn id="987" idx="3"/>
            <a:endCxn id="98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1" name="Google Shape;991;p56"/>
          <p:cNvCxnSpPr>
            <a:stCxn id="983" idx="4"/>
            <a:endCxn id="98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56"/>
          <p:cNvCxnSpPr>
            <a:stCxn id="982" idx="5"/>
            <a:endCxn id="98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56"/>
          <p:cNvCxnSpPr>
            <a:stCxn id="982" idx="6"/>
            <a:endCxn id="98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56"/>
          <p:cNvCxnSpPr>
            <a:stCxn id="984" idx="2"/>
            <a:endCxn id="98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5" name="Google Shape;995;p56"/>
          <p:cNvCxnSpPr>
            <a:stCxn id="985" idx="5"/>
            <a:endCxn id="98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56"/>
          <p:cNvCxnSpPr>
            <a:stCxn id="983" idx="7"/>
            <a:endCxn id="98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56"/>
          <p:cNvCxnSpPr>
            <a:stCxn id="987" idx="3"/>
            <a:endCxn id="98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8" name="Google Shape;998;p56"/>
          <p:cNvCxnSpPr>
            <a:stCxn id="983" idx="6"/>
            <a:endCxn id="98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56"/>
          <p:cNvCxnSpPr>
            <a:stCxn id="987" idx="5"/>
            <a:endCxn id="98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0" name="Google Shape;1000;p56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01" name="Google Shape;1001;p56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2" name="Google Shape;1002;p56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008" name="Google Shape;1008;p57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9" name="Google Shape;1009;p57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about 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count the ones in the </a:t>
            </a:r>
            <a:r>
              <a:rPr lang="en"/>
              <a:t>adjacency</a:t>
            </a:r>
            <a:r>
              <a:rPr lang="en"/>
              <a:t> matrix except for the mutual dyads!</a:t>
            </a:r>
            <a:endParaRPr/>
          </a:p>
        </p:txBody>
      </p:sp>
      <p:sp>
        <p:nvSpPr>
          <p:cNvPr id="1010" name="Google Shape;1010;p5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1" name="Google Shape;1011;p5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2" name="Google Shape;1012;p5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3" name="Google Shape;1013;p5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4" name="Google Shape;1014;p5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5" name="Google Shape;1015;p5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6" name="Google Shape;1016;p57"/>
          <p:cNvCxnSpPr>
            <a:stCxn id="1010" idx="7"/>
            <a:endCxn id="101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7" name="Google Shape;1017;p57"/>
          <p:cNvCxnSpPr>
            <a:stCxn id="1013" idx="3"/>
            <a:endCxn id="101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57"/>
          <p:cNvCxnSpPr>
            <a:stCxn id="1015" idx="3"/>
            <a:endCxn id="101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57"/>
          <p:cNvCxnSpPr>
            <a:stCxn id="1011" idx="4"/>
            <a:endCxn id="101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57"/>
          <p:cNvCxnSpPr>
            <a:stCxn id="1010" idx="5"/>
            <a:endCxn id="101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57"/>
          <p:cNvCxnSpPr>
            <a:stCxn id="1010" idx="6"/>
            <a:endCxn id="101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57"/>
          <p:cNvCxnSpPr>
            <a:stCxn id="1012" idx="2"/>
            <a:endCxn id="101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57"/>
          <p:cNvCxnSpPr>
            <a:stCxn id="1013" idx="5"/>
            <a:endCxn id="101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57"/>
          <p:cNvCxnSpPr>
            <a:stCxn id="1011" idx="7"/>
            <a:endCxn id="101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57"/>
          <p:cNvCxnSpPr>
            <a:stCxn id="1015" idx="3"/>
            <a:endCxn id="101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57"/>
          <p:cNvCxnSpPr>
            <a:stCxn id="1011" idx="6"/>
            <a:endCxn id="101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57"/>
          <p:cNvCxnSpPr>
            <a:stCxn id="1015" idx="5"/>
            <a:endCxn id="101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8" name="Google Shape;1028;p57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29" name="Google Shape;1029;p57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0" name="Google Shape;1030;p57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036" name="Google Shape;1036;p58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7" name="Google Shape;1037;p58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about 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= 8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39" name="Google Shape;1039;p5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0" name="Google Shape;1040;p5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1" name="Google Shape;1041;p5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2" name="Google Shape;1042;p5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3" name="Google Shape;1043;p5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4" name="Google Shape;1044;p58"/>
          <p:cNvCxnSpPr>
            <a:stCxn id="1038" idx="7"/>
            <a:endCxn id="104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5" name="Google Shape;1045;p58"/>
          <p:cNvCxnSpPr>
            <a:stCxn id="1041" idx="3"/>
            <a:endCxn id="103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6" name="Google Shape;1046;p58"/>
          <p:cNvCxnSpPr>
            <a:stCxn id="1043" idx="3"/>
            <a:endCxn id="104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7" name="Google Shape;1047;p58"/>
          <p:cNvCxnSpPr>
            <a:stCxn id="1039" idx="4"/>
            <a:endCxn id="104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58"/>
          <p:cNvCxnSpPr>
            <a:stCxn id="1038" idx="5"/>
            <a:endCxn id="104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58"/>
          <p:cNvCxnSpPr>
            <a:stCxn id="1038" idx="6"/>
            <a:endCxn id="103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58"/>
          <p:cNvCxnSpPr>
            <a:stCxn id="1040" idx="2"/>
            <a:endCxn id="104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58"/>
          <p:cNvCxnSpPr>
            <a:stCxn id="1041" idx="5"/>
            <a:endCxn id="104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58"/>
          <p:cNvCxnSpPr>
            <a:stCxn id="1039" idx="7"/>
            <a:endCxn id="104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3" name="Google Shape;1053;p58"/>
          <p:cNvCxnSpPr>
            <a:stCxn id="1043" idx="3"/>
            <a:endCxn id="104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58"/>
          <p:cNvCxnSpPr>
            <a:stCxn id="1039" idx="6"/>
            <a:endCxn id="104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58"/>
          <p:cNvCxnSpPr>
            <a:stCxn id="1043" idx="5"/>
            <a:endCxn id="104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6" name="Google Shape;1056;p58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57" name="Google Shape;1057;p58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58" name="Google Shape;1058;p58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sp>
        <p:nvSpPr>
          <p:cNvPr id="1064" name="Google Shape;1064;p59"/>
          <p:cNvSpPr txBox="1"/>
          <p:nvPr>
            <p:ph idx="1" type="body"/>
          </p:nvPr>
        </p:nvSpPr>
        <p:spPr>
          <a:xfrm>
            <a:off x="311700" y="1225225"/>
            <a:ext cx="3572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2, A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about 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That’s the number of zeros minus the number of asymmetric dyads divided by two!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5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6" name="Google Shape;1066;p5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7" name="Google Shape;1067;p5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8" name="Google Shape;1068;p5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9" name="Google Shape;1069;p5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0" name="Google Shape;1070;p5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1" name="Google Shape;1071;p59"/>
          <p:cNvCxnSpPr>
            <a:stCxn id="1065" idx="7"/>
            <a:endCxn id="106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2" name="Google Shape;1072;p59"/>
          <p:cNvCxnSpPr>
            <a:stCxn id="1068" idx="3"/>
            <a:endCxn id="106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9"/>
          <p:cNvCxnSpPr>
            <a:stCxn id="1070" idx="3"/>
            <a:endCxn id="106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4" name="Google Shape;1074;p59"/>
          <p:cNvCxnSpPr>
            <a:stCxn id="1066" idx="4"/>
            <a:endCxn id="106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5" name="Google Shape;1075;p59"/>
          <p:cNvCxnSpPr>
            <a:stCxn id="1065" idx="5"/>
            <a:endCxn id="106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59"/>
          <p:cNvCxnSpPr>
            <a:stCxn id="1065" idx="6"/>
            <a:endCxn id="106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59"/>
          <p:cNvCxnSpPr>
            <a:stCxn id="1067" idx="2"/>
            <a:endCxn id="106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59"/>
          <p:cNvCxnSpPr>
            <a:stCxn id="1068" idx="5"/>
            <a:endCxn id="107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59"/>
          <p:cNvCxnSpPr>
            <a:stCxn id="1066" idx="7"/>
            <a:endCxn id="106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59"/>
          <p:cNvCxnSpPr>
            <a:stCxn id="1070" idx="3"/>
            <a:endCxn id="106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59"/>
          <p:cNvCxnSpPr>
            <a:stCxn id="1066" idx="6"/>
            <a:endCxn id="107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2" name="Google Shape;1082;p59"/>
          <p:cNvCxnSpPr>
            <a:stCxn id="1070" idx="5"/>
            <a:endCxn id="106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083" name="Google Shape;1083;p59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4" name="Google Shape;1084;p59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85" name="Google Shape;1085;p59"/>
          <p:cNvGraphicFramePr/>
          <p:nvPr/>
        </p:nvGraphicFramePr>
        <p:xfrm>
          <a:off x="6359913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6" name="Google Shape;1086;p59"/>
          <p:cNvSpPr txBox="1"/>
          <p:nvPr/>
        </p:nvSpPr>
        <p:spPr>
          <a:xfrm>
            <a:off x="7402875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092" name="Google Shape;1092;p60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93" name="Google Shape;1093;p60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2, A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about 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(18 - 8)/2 = 10/2 =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5" name="Google Shape;1095;p6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6" name="Google Shape;1096;p6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7" name="Google Shape;1097;p6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8" name="Google Shape;1098;p6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99" name="Google Shape;1099;p6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0" name="Google Shape;1100;p60"/>
          <p:cNvCxnSpPr>
            <a:stCxn id="1094" idx="7"/>
            <a:endCxn id="109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0"/>
          <p:cNvCxnSpPr>
            <a:stCxn id="1097" idx="3"/>
            <a:endCxn id="109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60"/>
          <p:cNvCxnSpPr>
            <a:stCxn id="1099" idx="3"/>
            <a:endCxn id="109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0"/>
          <p:cNvCxnSpPr>
            <a:stCxn id="1095" idx="4"/>
            <a:endCxn id="109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0"/>
          <p:cNvCxnSpPr>
            <a:stCxn id="1094" idx="5"/>
            <a:endCxn id="109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60"/>
          <p:cNvCxnSpPr>
            <a:stCxn id="1094" idx="6"/>
            <a:endCxn id="109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60"/>
          <p:cNvCxnSpPr>
            <a:stCxn id="1096" idx="2"/>
            <a:endCxn id="109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60"/>
          <p:cNvCxnSpPr>
            <a:stCxn id="1097" idx="5"/>
            <a:endCxn id="109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0"/>
          <p:cNvCxnSpPr>
            <a:stCxn id="1095" idx="7"/>
            <a:endCxn id="109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60"/>
          <p:cNvCxnSpPr>
            <a:stCxn id="1099" idx="3"/>
            <a:endCxn id="109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60"/>
          <p:cNvCxnSpPr>
            <a:stCxn id="1095" idx="6"/>
            <a:endCxn id="109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60"/>
          <p:cNvCxnSpPr>
            <a:stCxn id="1099" idx="5"/>
            <a:endCxn id="109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2" name="Google Shape;1112;p60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13" name="Google Shape;1113;p60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14" name="Google Shape;1114;p60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120" name="Google Shape;1120;p61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21" name="Google Shape;1121;p61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 = 2, A = 8, N = 5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is the graph dyad census!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3" name="Google Shape;1123;p6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4" name="Google Shape;1124;p6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5" name="Google Shape;1125;p6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6" name="Google Shape;1126;p6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7" name="Google Shape;1127;p6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8" name="Google Shape;1128;p61"/>
          <p:cNvCxnSpPr>
            <a:stCxn id="1122" idx="7"/>
            <a:endCxn id="112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61"/>
          <p:cNvCxnSpPr>
            <a:stCxn id="1125" idx="3"/>
            <a:endCxn id="112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61"/>
          <p:cNvCxnSpPr>
            <a:stCxn id="1127" idx="3"/>
            <a:endCxn id="112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61"/>
          <p:cNvCxnSpPr>
            <a:stCxn id="1123" idx="4"/>
            <a:endCxn id="112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61"/>
          <p:cNvCxnSpPr>
            <a:stCxn id="1122" idx="5"/>
            <a:endCxn id="112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61"/>
          <p:cNvCxnSpPr>
            <a:stCxn id="1122" idx="6"/>
            <a:endCxn id="112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61"/>
          <p:cNvCxnSpPr>
            <a:stCxn id="1124" idx="2"/>
            <a:endCxn id="112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5" name="Google Shape;1135;p61"/>
          <p:cNvCxnSpPr>
            <a:stCxn id="1125" idx="5"/>
            <a:endCxn id="112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6" name="Google Shape;1136;p61"/>
          <p:cNvCxnSpPr>
            <a:stCxn id="1123" idx="7"/>
            <a:endCxn id="112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7" name="Google Shape;1137;p61"/>
          <p:cNvCxnSpPr>
            <a:stCxn id="1127" idx="3"/>
            <a:endCxn id="112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61"/>
          <p:cNvCxnSpPr>
            <a:stCxn id="1123" idx="6"/>
            <a:endCxn id="112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61"/>
          <p:cNvCxnSpPr>
            <a:stCxn id="1127" idx="5"/>
            <a:endCxn id="112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40" name="Google Shape;1140;p61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41" name="Google Shape;1141;p61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42" name="Google Shape;1142;p61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Dyad Census</a:t>
            </a:r>
            <a:endParaRPr/>
          </a:p>
        </p:txBody>
      </p:sp>
      <p:graphicFrame>
        <p:nvGraphicFramePr>
          <p:cNvPr id="1148" name="Google Shape;1148;p62"/>
          <p:cNvGraphicFramePr/>
          <p:nvPr/>
        </p:nvGraphicFramePr>
        <p:xfrm>
          <a:off x="6383713" y="263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49" name="Google Shape;1149;p62"/>
          <p:cNvSpPr txBox="1"/>
          <p:nvPr>
            <p:ph idx="1" type="body"/>
          </p:nvPr>
        </p:nvSpPr>
        <p:spPr>
          <a:xfrm>
            <a:off x="311700" y="1225225"/>
            <a:ext cx="36654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 </a:t>
            </a:r>
            <a:r>
              <a:rPr b="1" lang="en"/>
              <a:t>dyad census</a:t>
            </a:r>
            <a:r>
              <a:rPr lang="en"/>
              <a:t> is a count of each type of dyad: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 we know: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 = 2, A = 8, N = 5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+ A + N = n(n-1)/2!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1" name="Google Shape;1151;p6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2" name="Google Shape;1152;p6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3" name="Google Shape;1153;p6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4" name="Google Shape;1154;p6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5" name="Google Shape;1155;p6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56" name="Google Shape;1156;p62"/>
          <p:cNvCxnSpPr>
            <a:stCxn id="1150" idx="7"/>
            <a:endCxn id="115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62"/>
          <p:cNvCxnSpPr>
            <a:stCxn id="1153" idx="3"/>
            <a:endCxn id="115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2"/>
          <p:cNvCxnSpPr>
            <a:stCxn id="1155" idx="3"/>
            <a:endCxn id="115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62"/>
          <p:cNvCxnSpPr>
            <a:stCxn id="1151" idx="4"/>
            <a:endCxn id="115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62"/>
          <p:cNvCxnSpPr>
            <a:stCxn id="1150" idx="5"/>
            <a:endCxn id="115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1" name="Google Shape;1161;p62"/>
          <p:cNvCxnSpPr>
            <a:stCxn id="1150" idx="6"/>
            <a:endCxn id="115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62"/>
          <p:cNvCxnSpPr>
            <a:stCxn id="1152" idx="2"/>
            <a:endCxn id="115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3" name="Google Shape;1163;p62"/>
          <p:cNvCxnSpPr>
            <a:stCxn id="1153" idx="5"/>
            <a:endCxn id="115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4" name="Google Shape;1164;p62"/>
          <p:cNvCxnSpPr>
            <a:stCxn id="1151" idx="7"/>
            <a:endCxn id="115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5" name="Google Shape;1165;p62"/>
          <p:cNvCxnSpPr>
            <a:stCxn id="1155" idx="3"/>
            <a:endCxn id="115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62"/>
          <p:cNvCxnSpPr>
            <a:stCxn id="1151" idx="6"/>
            <a:endCxn id="115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62"/>
          <p:cNvCxnSpPr>
            <a:stCxn id="1155" idx="5"/>
            <a:endCxn id="115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68" name="Google Shape;1168;p62"/>
          <p:cNvSpPr txBox="1"/>
          <p:nvPr/>
        </p:nvSpPr>
        <p:spPr>
          <a:xfrm>
            <a:off x="7426675" y="2160913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69" name="Google Shape;1169;p62"/>
          <p:cNvGraphicFramePr/>
          <p:nvPr/>
        </p:nvGraphicFramePr>
        <p:xfrm>
          <a:off x="3791588" y="26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352500"/>
                <a:gridCol w="352500"/>
                <a:gridCol w="352500"/>
                <a:gridCol w="352500"/>
                <a:gridCol w="352500"/>
                <a:gridCol w="352500"/>
                <a:gridCol w="352500"/>
              </a:tblGrid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</a:tr>
              <a:tr h="27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5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3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70" name="Google Shape;1170;p62"/>
          <p:cNvSpPr txBox="1"/>
          <p:nvPr/>
        </p:nvSpPr>
        <p:spPr>
          <a:xfrm>
            <a:off x="4834550" y="2194538"/>
            <a:ext cx="3816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176" name="Google Shape;1176;p63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</a:t>
            </a:r>
            <a:r>
              <a:rPr lang="en"/>
              <a:t>in</a:t>
            </a:r>
            <a:r>
              <a:rPr lang="en"/>
              <a:t>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</a:t>
            </a:r>
            <a:r>
              <a:rPr lang="en"/>
              <a:t>which</a:t>
            </a:r>
            <a:r>
              <a:rPr lang="en"/>
              <a:t>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</a:t>
            </a:r>
            <a:r>
              <a:rPr b="1" lang="en"/>
              <a:t>(R)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177" name="Google Shape;1177;p6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8" name="Google Shape;1178;p6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9" name="Google Shape;1179;p6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0" name="Google Shape;1180;p6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1" name="Google Shape;1181;p6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2" name="Google Shape;1182;p6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3" name="Google Shape;1183;p63"/>
          <p:cNvCxnSpPr>
            <a:stCxn id="1177" idx="7"/>
            <a:endCxn id="118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4" name="Google Shape;1184;p63"/>
          <p:cNvCxnSpPr>
            <a:stCxn id="1180" idx="3"/>
            <a:endCxn id="117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5" name="Google Shape;1185;p63"/>
          <p:cNvCxnSpPr>
            <a:stCxn id="1182" idx="3"/>
            <a:endCxn id="117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6" name="Google Shape;1186;p63"/>
          <p:cNvCxnSpPr>
            <a:stCxn id="1178" idx="4"/>
            <a:endCxn id="118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63"/>
          <p:cNvCxnSpPr>
            <a:stCxn id="1177" idx="5"/>
            <a:endCxn id="118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63"/>
          <p:cNvCxnSpPr>
            <a:stCxn id="1177" idx="6"/>
            <a:endCxn id="117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9" name="Google Shape;1189;p63"/>
          <p:cNvCxnSpPr>
            <a:stCxn id="1179" idx="2"/>
            <a:endCxn id="118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0" name="Google Shape;1190;p63"/>
          <p:cNvCxnSpPr>
            <a:stCxn id="1180" idx="5"/>
            <a:endCxn id="118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1" name="Google Shape;1191;p63"/>
          <p:cNvCxnSpPr>
            <a:stCxn id="1178" idx="7"/>
            <a:endCxn id="118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63"/>
          <p:cNvCxnSpPr>
            <a:stCxn id="1182" idx="3"/>
            <a:endCxn id="118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3" name="Google Shape;1193;p63"/>
          <p:cNvCxnSpPr>
            <a:stCxn id="1178" idx="6"/>
            <a:endCxn id="118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63"/>
          <p:cNvCxnSpPr>
            <a:stCxn id="1182" idx="5"/>
            <a:endCxn id="117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200" name="Google Shape;1200;p64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</a:t>
            </a:r>
            <a:r>
              <a:rPr b="1" lang="en"/>
              <a:t>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201" name="Google Shape;1201;p6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2" name="Google Shape;1202;p6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3" name="Google Shape;1203;p6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4" name="Google Shape;1204;p6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5" name="Google Shape;1205;p6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6" name="Google Shape;1206;p6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07" name="Google Shape;1207;p64"/>
          <p:cNvCxnSpPr>
            <a:stCxn id="1201" idx="7"/>
            <a:endCxn id="120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64"/>
          <p:cNvCxnSpPr>
            <a:stCxn id="1204" idx="3"/>
            <a:endCxn id="120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64"/>
          <p:cNvCxnSpPr>
            <a:stCxn id="1206" idx="3"/>
            <a:endCxn id="120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64"/>
          <p:cNvCxnSpPr>
            <a:stCxn id="1202" idx="4"/>
            <a:endCxn id="120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64"/>
          <p:cNvCxnSpPr>
            <a:stCxn id="1201" idx="5"/>
            <a:endCxn id="120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64"/>
          <p:cNvCxnSpPr>
            <a:stCxn id="1201" idx="6"/>
            <a:endCxn id="120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3" name="Google Shape;1213;p64"/>
          <p:cNvCxnSpPr>
            <a:stCxn id="1203" idx="2"/>
            <a:endCxn id="120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64"/>
          <p:cNvCxnSpPr>
            <a:stCxn id="1204" idx="5"/>
            <a:endCxn id="120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64"/>
          <p:cNvCxnSpPr>
            <a:stCxn id="1202" idx="7"/>
            <a:endCxn id="120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64"/>
          <p:cNvCxnSpPr>
            <a:stCxn id="1206" idx="3"/>
            <a:endCxn id="120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7" name="Google Shape;1217;p64"/>
          <p:cNvCxnSpPr>
            <a:stCxn id="1202" idx="6"/>
            <a:endCxn id="120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64"/>
          <p:cNvCxnSpPr>
            <a:stCxn id="1206" idx="5"/>
            <a:endCxn id="120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224" name="Google Shape;1224;p65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2, A = 8, N = 5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225" name="Google Shape;1225;p6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6" name="Google Shape;1226;p6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7" name="Google Shape;1227;p6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8" name="Google Shape;1228;p6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9" name="Google Shape;1229;p6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30" name="Google Shape;1230;p6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1" name="Google Shape;1231;p65"/>
          <p:cNvCxnSpPr>
            <a:stCxn id="1225" idx="7"/>
            <a:endCxn id="122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65"/>
          <p:cNvCxnSpPr>
            <a:stCxn id="1228" idx="3"/>
            <a:endCxn id="122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65"/>
          <p:cNvCxnSpPr>
            <a:stCxn id="1230" idx="3"/>
            <a:endCxn id="122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65"/>
          <p:cNvCxnSpPr>
            <a:stCxn id="1226" idx="4"/>
            <a:endCxn id="122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65"/>
          <p:cNvCxnSpPr>
            <a:stCxn id="1225" idx="5"/>
            <a:endCxn id="122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65"/>
          <p:cNvCxnSpPr>
            <a:stCxn id="1225" idx="6"/>
            <a:endCxn id="122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7" name="Google Shape;1237;p65"/>
          <p:cNvCxnSpPr>
            <a:stCxn id="1227" idx="2"/>
            <a:endCxn id="122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65"/>
          <p:cNvCxnSpPr>
            <a:stCxn id="1228" idx="5"/>
            <a:endCxn id="123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9" name="Google Shape;1239;p65"/>
          <p:cNvCxnSpPr>
            <a:stCxn id="1226" idx="7"/>
            <a:endCxn id="122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0" name="Google Shape;1240;p65"/>
          <p:cNvCxnSpPr>
            <a:stCxn id="1230" idx="3"/>
            <a:endCxn id="122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1" name="Google Shape;1241;p65"/>
          <p:cNvCxnSpPr>
            <a:stCxn id="1226" idx="6"/>
            <a:endCxn id="123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65"/>
          <p:cNvCxnSpPr>
            <a:stCxn id="1230" idx="5"/>
            <a:endCxn id="122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Reciprocity</a:t>
            </a:r>
            <a:endParaRPr/>
          </a:p>
        </p:txBody>
      </p:sp>
      <p:sp>
        <p:nvSpPr>
          <p:cNvPr id="1248" name="Google Shape;1248;p66"/>
          <p:cNvSpPr txBox="1"/>
          <p:nvPr>
            <p:ph idx="1" type="body"/>
          </p:nvPr>
        </p:nvSpPr>
        <p:spPr>
          <a:xfrm>
            <a:off x="311700" y="1225225"/>
            <a:ext cx="51978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knowing how much </a:t>
            </a:r>
            <a:r>
              <a:rPr b="1" lang="en"/>
              <a:t>reciprocity</a:t>
            </a:r>
            <a:r>
              <a:rPr lang="en"/>
              <a:t> is going in the whole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a directed graph approximates the ideal of complete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reciprocity (R)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</a:t>
            </a:r>
            <a:r>
              <a:rPr b="1" lang="en"/>
              <a:t>mutual dyads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total number of </a:t>
            </a:r>
            <a:r>
              <a:rPr b="1" lang="en"/>
              <a:t>connected dyads</a:t>
            </a:r>
            <a:r>
              <a:rPr lang="en"/>
              <a:t> (M + 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2, A = 8, N = 5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249" name="Google Shape;1249;p6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0" name="Google Shape;1250;p6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1" name="Google Shape;1251;p6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2" name="Google Shape;1252;p6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3" name="Google Shape;1253;p6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4" name="Google Shape;1254;p6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5" name="Google Shape;1255;p66"/>
          <p:cNvCxnSpPr>
            <a:stCxn id="1249" idx="7"/>
            <a:endCxn id="125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66"/>
          <p:cNvCxnSpPr>
            <a:stCxn id="1252" idx="3"/>
            <a:endCxn id="125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66"/>
          <p:cNvCxnSpPr>
            <a:stCxn id="1254" idx="3"/>
            <a:endCxn id="125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66"/>
          <p:cNvCxnSpPr>
            <a:stCxn id="1250" idx="4"/>
            <a:endCxn id="125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66"/>
          <p:cNvCxnSpPr>
            <a:stCxn id="1249" idx="5"/>
            <a:endCxn id="125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0" name="Google Shape;1260;p66"/>
          <p:cNvCxnSpPr>
            <a:stCxn id="1249" idx="6"/>
            <a:endCxn id="125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66"/>
          <p:cNvCxnSpPr>
            <a:stCxn id="1251" idx="2"/>
            <a:endCxn id="125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66"/>
          <p:cNvCxnSpPr>
            <a:stCxn id="1252" idx="5"/>
            <a:endCxn id="125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3" name="Google Shape;1263;p66"/>
          <p:cNvCxnSpPr>
            <a:stCxn id="1250" idx="7"/>
            <a:endCxn id="125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66"/>
          <p:cNvCxnSpPr>
            <a:stCxn id="1254" idx="3"/>
            <a:endCxn id="125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66"/>
          <p:cNvCxnSpPr>
            <a:stCxn id="1250" idx="6"/>
            <a:endCxn id="125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66"/>
          <p:cNvCxnSpPr>
            <a:stCxn id="1254" idx="5"/>
            <a:endCxn id="125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67" name="Google Shape;1267;p66"/>
          <p:cNvSpPr txBox="1"/>
          <p:nvPr/>
        </p:nvSpPr>
        <p:spPr>
          <a:xfrm>
            <a:off x="6001175" y="2671050"/>
            <a:ext cx="26085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 = 2 / (2 + 8)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 = 2 / 10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 = 0.20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1273" name="Google Shape;1273;p67"/>
          <p:cNvSpPr txBox="1"/>
          <p:nvPr>
            <p:ph idx="1" type="body"/>
          </p:nvPr>
        </p:nvSpPr>
        <p:spPr>
          <a:xfrm>
            <a:off x="311700" y="1225225"/>
            <a:ext cx="53427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</a:t>
            </a:r>
            <a:r>
              <a:rPr lang="en"/>
              <a:t>approaches</a:t>
            </a:r>
            <a:r>
              <a:rPr lang="en"/>
              <a:t>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274" name="Google Shape;1274;p6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5" name="Google Shape;1275;p6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6" name="Google Shape;1276;p6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7" name="Google Shape;1277;p6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8" name="Google Shape;1278;p6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9" name="Google Shape;1279;p6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0" name="Google Shape;1280;p67"/>
          <p:cNvCxnSpPr>
            <a:stCxn id="1274" idx="7"/>
            <a:endCxn id="127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1" name="Google Shape;1281;p67"/>
          <p:cNvCxnSpPr>
            <a:stCxn id="1277" idx="3"/>
            <a:endCxn id="127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67"/>
          <p:cNvCxnSpPr>
            <a:stCxn id="1279" idx="3"/>
            <a:endCxn id="127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67"/>
          <p:cNvCxnSpPr>
            <a:stCxn id="1275" idx="4"/>
            <a:endCxn id="127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4" name="Google Shape;1284;p67"/>
          <p:cNvCxnSpPr>
            <a:stCxn id="1274" idx="5"/>
            <a:endCxn id="127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5" name="Google Shape;1285;p67"/>
          <p:cNvCxnSpPr>
            <a:stCxn id="1274" idx="6"/>
            <a:endCxn id="127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6" name="Google Shape;1286;p67"/>
          <p:cNvCxnSpPr>
            <a:stCxn id="1276" idx="2"/>
            <a:endCxn id="127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7" name="Google Shape;1287;p67"/>
          <p:cNvCxnSpPr>
            <a:stCxn id="1277" idx="5"/>
            <a:endCxn id="127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8" name="Google Shape;1288;p67"/>
          <p:cNvCxnSpPr>
            <a:stCxn id="1275" idx="7"/>
            <a:endCxn id="127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67"/>
          <p:cNvCxnSpPr>
            <a:stCxn id="1279" idx="3"/>
            <a:endCxn id="127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67"/>
          <p:cNvCxnSpPr>
            <a:stCxn id="1275" idx="6"/>
            <a:endCxn id="127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67"/>
          <p:cNvCxnSpPr>
            <a:stCxn id="1279" idx="5"/>
            <a:endCxn id="127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1297" name="Google Shape;1297;p68"/>
          <p:cNvSpPr txBox="1"/>
          <p:nvPr>
            <p:ph idx="1" type="body"/>
          </p:nvPr>
        </p:nvSpPr>
        <p:spPr>
          <a:xfrm>
            <a:off x="311700" y="1225225"/>
            <a:ext cx="53427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298" name="Google Shape;1298;p6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99" name="Google Shape;1299;p6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0" name="Google Shape;1300;p6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1" name="Google Shape;1301;p6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2" name="Google Shape;1302;p6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3" name="Google Shape;1303;p6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4" name="Google Shape;1304;p68"/>
          <p:cNvCxnSpPr>
            <a:stCxn id="1298" idx="7"/>
            <a:endCxn id="1301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68"/>
          <p:cNvCxnSpPr>
            <a:stCxn id="1301" idx="3"/>
            <a:endCxn id="1299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6" name="Google Shape;1306;p68"/>
          <p:cNvCxnSpPr>
            <a:stCxn id="1303" idx="3"/>
            <a:endCxn id="1300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7" name="Google Shape;1307;p68"/>
          <p:cNvCxnSpPr>
            <a:stCxn id="1299" idx="4"/>
            <a:endCxn id="1302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68"/>
          <p:cNvCxnSpPr>
            <a:stCxn id="1298" idx="5"/>
            <a:endCxn id="1302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9" name="Google Shape;1309;p68"/>
          <p:cNvCxnSpPr>
            <a:stCxn id="1298" idx="6"/>
            <a:endCxn id="1299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0" name="Google Shape;1310;p68"/>
          <p:cNvCxnSpPr>
            <a:stCxn id="1300" idx="2"/>
            <a:endCxn id="1302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68"/>
          <p:cNvCxnSpPr>
            <a:stCxn id="1301" idx="5"/>
            <a:endCxn id="1303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68"/>
          <p:cNvCxnSpPr>
            <a:stCxn id="1299" idx="7"/>
            <a:endCxn id="1301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3" name="Google Shape;1313;p68"/>
          <p:cNvCxnSpPr>
            <a:stCxn id="1303" idx="3"/>
            <a:endCxn id="1302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68"/>
          <p:cNvCxnSpPr>
            <a:stCxn id="1299" idx="6"/>
            <a:endCxn id="1303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68"/>
          <p:cNvCxnSpPr>
            <a:stCxn id="1303" idx="5"/>
            <a:endCxn id="1300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1321" name="Google Shape;1321;p69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322" name="Google Shape;1322;p69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3" name="Google Shape;1323;p69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4" name="Google Shape;1324;p69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5" name="Google Shape;1325;p69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6" name="Google Shape;1326;p69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7" name="Google Shape;1327;p69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8" name="Google Shape;1328;p69"/>
          <p:cNvCxnSpPr>
            <a:stCxn id="1322" idx="7"/>
            <a:endCxn id="132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69"/>
          <p:cNvCxnSpPr>
            <a:stCxn id="1325" idx="3"/>
            <a:endCxn id="132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69"/>
          <p:cNvCxnSpPr>
            <a:stCxn id="1327" idx="3"/>
            <a:endCxn id="132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69"/>
          <p:cNvCxnSpPr>
            <a:stCxn id="1323" idx="4"/>
            <a:endCxn id="132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69"/>
          <p:cNvCxnSpPr>
            <a:stCxn id="1322" idx="5"/>
            <a:endCxn id="132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3" name="Google Shape;1333;p69"/>
          <p:cNvCxnSpPr>
            <a:stCxn id="1322" idx="6"/>
            <a:endCxn id="132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69"/>
          <p:cNvCxnSpPr>
            <a:stCxn id="1324" idx="2"/>
            <a:endCxn id="132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69"/>
          <p:cNvCxnSpPr>
            <a:stCxn id="1325" idx="5"/>
            <a:endCxn id="132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6" name="Google Shape;1336;p69"/>
          <p:cNvCxnSpPr>
            <a:stCxn id="1323" idx="7"/>
            <a:endCxn id="132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7" name="Google Shape;1337;p69"/>
          <p:cNvCxnSpPr>
            <a:stCxn id="1327" idx="3"/>
            <a:endCxn id="132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8" name="Google Shape;1338;p69"/>
          <p:cNvCxnSpPr>
            <a:stCxn id="1323" idx="6"/>
            <a:endCxn id="132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9" name="Google Shape;1339;p69"/>
          <p:cNvCxnSpPr>
            <a:stCxn id="1327" idx="5"/>
            <a:endCxn id="132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40" name="Google Shape;1340;p69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1346" name="Google Shape;1346;p70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all the cells and divide by the total number of cells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347" name="Google Shape;1347;p70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8" name="Google Shape;1348;p70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9" name="Google Shape;1349;p70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50" name="Google Shape;1350;p70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51" name="Google Shape;1351;p70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52" name="Google Shape;1352;p70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53" name="Google Shape;1353;p70"/>
          <p:cNvCxnSpPr>
            <a:stCxn id="1347" idx="7"/>
            <a:endCxn id="135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4" name="Google Shape;1354;p70"/>
          <p:cNvCxnSpPr>
            <a:stCxn id="1350" idx="3"/>
            <a:endCxn id="134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70"/>
          <p:cNvCxnSpPr>
            <a:stCxn id="1352" idx="3"/>
            <a:endCxn id="134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70"/>
          <p:cNvCxnSpPr>
            <a:stCxn id="1348" idx="4"/>
            <a:endCxn id="135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70"/>
          <p:cNvCxnSpPr>
            <a:stCxn id="1347" idx="5"/>
            <a:endCxn id="135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70"/>
          <p:cNvCxnSpPr>
            <a:stCxn id="1347" idx="6"/>
            <a:endCxn id="134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9" name="Google Shape;1359;p70"/>
          <p:cNvCxnSpPr>
            <a:stCxn id="1349" idx="2"/>
            <a:endCxn id="135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0" name="Google Shape;1360;p70"/>
          <p:cNvCxnSpPr>
            <a:stCxn id="1350" idx="5"/>
            <a:endCxn id="135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70"/>
          <p:cNvCxnSpPr>
            <a:stCxn id="1348" idx="7"/>
            <a:endCxn id="135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2" name="Google Shape;1362;p70"/>
          <p:cNvCxnSpPr>
            <a:stCxn id="1352" idx="3"/>
            <a:endCxn id="135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70"/>
          <p:cNvCxnSpPr>
            <a:stCxn id="1348" idx="6"/>
            <a:endCxn id="135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4" name="Google Shape;1364;p70"/>
          <p:cNvCxnSpPr>
            <a:stCxn id="1352" idx="5"/>
            <a:endCxn id="134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65" name="Google Shape;1365;p70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1371" name="Google Shape;1371;p71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Numerator: </a:t>
            </a:r>
            <a:r>
              <a:rPr lang="en"/>
              <a:t>Sum of all cells: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number of cells minus </a:t>
            </a:r>
            <a:r>
              <a:rPr i="1" lang="en"/>
              <a:t>n</a:t>
            </a:r>
            <a:r>
              <a:rPr lang="en"/>
              <a:t>: (6 X 6) - 6 = 30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372" name="Google Shape;1372;p71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3" name="Google Shape;1373;p71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4" name="Google Shape;1374;p71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5" name="Google Shape;1375;p71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6" name="Google Shape;1376;p71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7" name="Google Shape;1377;p71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8" name="Google Shape;1378;p71"/>
          <p:cNvCxnSpPr>
            <a:stCxn id="1372" idx="7"/>
            <a:endCxn id="1375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9" name="Google Shape;1379;p71"/>
          <p:cNvCxnSpPr>
            <a:stCxn id="1375" idx="3"/>
            <a:endCxn id="1373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71"/>
          <p:cNvCxnSpPr>
            <a:stCxn id="1377" idx="3"/>
            <a:endCxn id="1374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1" name="Google Shape;1381;p71"/>
          <p:cNvCxnSpPr>
            <a:stCxn id="1373" idx="4"/>
            <a:endCxn id="1376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71"/>
          <p:cNvCxnSpPr>
            <a:stCxn id="1372" idx="5"/>
            <a:endCxn id="1376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71"/>
          <p:cNvCxnSpPr>
            <a:stCxn id="1372" idx="6"/>
            <a:endCxn id="1373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71"/>
          <p:cNvCxnSpPr>
            <a:stCxn id="1374" idx="2"/>
            <a:endCxn id="1376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5" name="Google Shape;1385;p71"/>
          <p:cNvCxnSpPr>
            <a:stCxn id="1375" idx="5"/>
            <a:endCxn id="1377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6" name="Google Shape;1386;p71"/>
          <p:cNvCxnSpPr>
            <a:stCxn id="1373" idx="7"/>
            <a:endCxn id="1375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71"/>
          <p:cNvCxnSpPr>
            <a:stCxn id="1377" idx="3"/>
            <a:endCxn id="1376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8" name="Google Shape;1388;p71"/>
          <p:cNvCxnSpPr>
            <a:stCxn id="1373" idx="6"/>
            <a:endCxn id="1377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9" name="Google Shape;1389;p71"/>
          <p:cNvCxnSpPr>
            <a:stCxn id="1377" idx="5"/>
            <a:endCxn id="1374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390" name="Google Shape;1390;p71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396" name="Google Shape;1396;p72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lang="en"/>
              <a:t>antisymmetric</a:t>
            </a:r>
            <a:r>
              <a:rPr lang="en"/>
              <a:t>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397" name="Google Shape;1397;p7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98" name="Google Shape;1398;p7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99" name="Google Shape;1399;p7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0" name="Google Shape;1400;p7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1" name="Google Shape;1401;p7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2" name="Google Shape;1402;p7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3" name="Google Shape;1403;p72"/>
          <p:cNvCxnSpPr>
            <a:stCxn id="1397" idx="7"/>
            <a:endCxn id="1400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4" name="Google Shape;1404;p72"/>
          <p:cNvCxnSpPr>
            <a:stCxn id="1400" idx="3"/>
            <a:endCxn id="1398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72"/>
          <p:cNvCxnSpPr>
            <a:stCxn id="1402" idx="3"/>
            <a:endCxn id="1399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6" name="Google Shape;1406;p72"/>
          <p:cNvCxnSpPr>
            <a:stCxn id="1398" idx="4"/>
            <a:endCxn id="1401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7" name="Google Shape;1407;p72"/>
          <p:cNvCxnSpPr>
            <a:stCxn id="1397" idx="5"/>
            <a:endCxn id="1401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72"/>
          <p:cNvCxnSpPr>
            <a:stCxn id="1397" idx="6"/>
            <a:endCxn id="1398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72"/>
          <p:cNvCxnSpPr>
            <a:stCxn id="1399" idx="2"/>
            <a:endCxn id="1401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72"/>
          <p:cNvCxnSpPr>
            <a:stCxn id="1400" idx="5"/>
            <a:endCxn id="1402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72"/>
          <p:cNvCxnSpPr>
            <a:stCxn id="1398" idx="7"/>
            <a:endCxn id="1400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2" name="Google Shape;1412;p72"/>
          <p:cNvCxnSpPr>
            <a:stCxn id="1402" idx="3"/>
            <a:endCxn id="1401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72"/>
          <p:cNvCxnSpPr>
            <a:stCxn id="1398" idx="6"/>
            <a:endCxn id="1402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4" name="Google Shape;1414;p72"/>
          <p:cNvCxnSpPr>
            <a:stCxn id="1402" idx="5"/>
            <a:endCxn id="1399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420" name="Google Shape;1420;p73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lang="en"/>
              <a:t>antisymmetric</a:t>
            </a:r>
            <a:r>
              <a:rPr lang="en"/>
              <a:t>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anti-</a:t>
            </a:r>
            <a:r>
              <a:rPr b="1" lang="en"/>
              <a:t>reciprocity</a:t>
            </a:r>
            <a:r>
              <a:rPr lang="en"/>
              <a:t> of the graph’s </a:t>
            </a:r>
            <a:r>
              <a:rPr b="1" lang="en"/>
              <a:t>reachability matrix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421" name="Google Shape;1421;p7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2" name="Google Shape;1422;p7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3" name="Google Shape;1423;p7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4" name="Google Shape;1424;p7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5" name="Google Shape;1425;p7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6" name="Google Shape;1426;p7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7" name="Google Shape;1427;p73"/>
          <p:cNvCxnSpPr>
            <a:stCxn id="1421" idx="7"/>
            <a:endCxn id="1424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8" name="Google Shape;1428;p73"/>
          <p:cNvCxnSpPr>
            <a:stCxn id="1424" idx="3"/>
            <a:endCxn id="1422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73"/>
          <p:cNvCxnSpPr>
            <a:stCxn id="1426" idx="3"/>
            <a:endCxn id="1423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0" name="Google Shape;1430;p73"/>
          <p:cNvCxnSpPr>
            <a:stCxn id="1422" idx="4"/>
            <a:endCxn id="1425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1" name="Google Shape;1431;p73"/>
          <p:cNvCxnSpPr>
            <a:stCxn id="1421" idx="5"/>
            <a:endCxn id="1425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2" name="Google Shape;1432;p73"/>
          <p:cNvCxnSpPr>
            <a:stCxn id="1421" idx="6"/>
            <a:endCxn id="1422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73"/>
          <p:cNvCxnSpPr>
            <a:stCxn id="1423" idx="2"/>
            <a:endCxn id="1425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4" name="Google Shape;1434;p73"/>
          <p:cNvCxnSpPr>
            <a:stCxn id="1424" idx="5"/>
            <a:endCxn id="1426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5" name="Google Shape;1435;p73"/>
          <p:cNvCxnSpPr>
            <a:stCxn id="1422" idx="7"/>
            <a:endCxn id="1424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6" name="Google Shape;1436;p73"/>
          <p:cNvCxnSpPr>
            <a:stCxn id="1426" idx="3"/>
            <a:endCxn id="1425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7" name="Google Shape;1437;p73"/>
          <p:cNvCxnSpPr>
            <a:stCxn id="1422" idx="6"/>
            <a:endCxn id="1426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8" name="Google Shape;1438;p73"/>
          <p:cNvCxnSpPr>
            <a:stCxn id="1426" idx="5"/>
            <a:endCxn id="1423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444" name="Google Shape;1444;p74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</a:t>
            </a:r>
            <a:r>
              <a:rPr lang="en"/>
              <a:t>antisymmetric</a:t>
            </a:r>
            <a:r>
              <a:rPr lang="en"/>
              <a:t>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compute hierarchy as the ratio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</a:t>
            </a:r>
            <a:r>
              <a:rPr b="1" lang="en"/>
              <a:t>asymmetrically reachable</a:t>
            </a:r>
            <a:r>
              <a:rPr lang="en"/>
              <a:t> dyads (A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total number of connected dyads 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Mutual (M</a:t>
            </a:r>
            <a:r>
              <a:rPr baseline="-25000" lang="en"/>
              <a:t>r</a:t>
            </a:r>
            <a:r>
              <a:rPr lang="en"/>
              <a:t>) and Asymmetric (A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445" name="Google Shape;1445;p7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6" name="Google Shape;1446;p7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7" name="Google Shape;1447;p7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8" name="Google Shape;1448;p7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9" name="Google Shape;1449;p7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50" name="Google Shape;1450;p7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1" name="Google Shape;1451;p74"/>
          <p:cNvCxnSpPr>
            <a:stCxn id="1445" idx="7"/>
            <a:endCxn id="144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2" name="Google Shape;1452;p74"/>
          <p:cNvCxnSpPr>
            <a:stCxn id="1448" idx="3"/>
            <a:endCxn id="144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3" name="Google Shape;1453;p74"/>
          <p:cNvCxnSpPr>
            <a:stCxn id="1450" idx="3"/>
            <a:endCxn id="144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4" name="Google Shape;1454;p74"/>
          <p:cNvCxnSpPr>
            <a:stCxn id="1446" idx="4"/>
            <a:endCxn id="144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5" name="Google Shape;1455;p74"/>
          <p:cNvCxnSpPr>
            <a:stCxn id="1445" idx="5"/>
            <a:endCxn id="144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74"/>
          <p:cNvCxnSpPr>
            <a:stCxn id="1445" idx="6"/>
            <a:endCxn id="144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7" name="Google Shape;1457;p74"/>
          <p:cNvCxnSpPr>
            <a:stCxn id="1447" idx="2"/>
            <a:endCxn id="144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74"/>
          <p:cNvCxnSpPr>
            <a:stCxn id="1448" idx="5"/>
            <a:endCxn id="145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74"/>
          <p:cNvCxnSpPr>
            <a:stCxn id="1446" idx="7"/>
            <a:endCxn id="144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74"/>
          <p:cNvCxnSpPr>
            <a:stCxn id="1450" idx="3"/>
            <a:endCxn id="144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74"/>
          <p:cNvCxnSpPr>
            <a:stCxn id="1446" idx="6"/>
            <a:endCxn id="145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2" name="Google Shape;1462;p74"/>
          <p:cNvCxnSpPr>
            <a:stCxn id="1450" idx="5"/>
            <a:endCxn id="144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463" name="Google Shape;1463;p74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469" name="Google Shape;1469;p75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antisymmetric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compute hierarchy as the ratio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</a:t>
            </a:r>
            <a:r>
              <a:rPr b="1" lang="en"/>
              <a:t>asymmetrically reachable</a:t>
            </a:r>
            <a:r>
              <a:rPr lang="en"/>
              <a:t> dyads (A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total number of connected dyads 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Mutual (M</a:t>
            </a:r>
            <a:r>
              <a:rPr baseline="-25000" lang="en"/>
              <a:t>r</a:t>
            </a:r>
            <a:r>
              <a:rPr lang="en"/>
              <a:t>) and Asymmetric (A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470" name="Google Shape;1470;p7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1" name="Google Shape;1471;p7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2" name="Google Shape;1472;p7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3" name="Google Shape;1473;p7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4" name="Google Shape;1474;p7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5" name="Google Shape;1475;p7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6" name="Google Shape;1476;p75"/>
          <p:cNvCxnSpPr>
            <a:stCxn id="1470" idx="7"/>
            <a:endCxn id="147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7" name="Google Shape;1477;p75"/>
          <p:cNvCxnSpPr>
            <a:stCxn id="1473" idx="3"/>
            <a:endCxn id="147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8" name="Google Shape;1478;p75"/>
          <p:cNvCxnSpPr>
            <a:stCxn id="1475" idx="3"/>
            <a:endCxn id="147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9" name="Google Shape;1479;p75"/>
          <p:cNvCxnSpPr>
            <a:stCxn id="1471" idx="4"/>
            <a:endCxn id="147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0" name="Google Shape;1480;p75"/>
          <p:cNvCxnSpPr>
            <a:stCxn id="1470" idx="5"/>
            <a:endCxn id="147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1" name="Google Shape;1481;p75"/>
          <p:cNvCxnSpPr>
            <a:stCxn id="1470" idx="6"/>
            <a:endCxn id="147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2" name="Google Shape;1482;p75"/>
          <p:cNvCxnSpPr>
            <a:stCxn id="1472" idx="2"/>
            <a:endCxn id="147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3" name="Google Shape;1483;p75"/>
          <p:cNvCxnSpPr>
            <a:stCxn id="1473" idx="5"/>
            <a:endCxn id="147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4" name="Google Shape;1484;p75"/>
          <p:cNvCxnSpPr>
            <a:stCxn id="1471" idx="7"/>
            <a:endCxn id="147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5" name="Google Shape;1485;p75"/>
          <p:cNvCxnSpPr>
            <a:stCxn id="1475" idx="3"/>
            <a:endCxn id="147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6" name="Google Shape;1486;p75"/>
          <p:cNvCxnSpPr>
            <a:stCxn id="1471" idx="6"/>
            <a:endCxn id="147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7" name="Google Shape;1487;p75"/>
          <p:cNvCxnSpPr>
            <a:stCxn id="1475" idx="5"/>
            <a:endCxn id="147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488" name="Google Shape;1488;p75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494" name="Google Shape;1494;p76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antisymmetric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Mutually Reachable Dyads: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M</a:t>
            </a:r>
            <a:r>
              <a:rPr b="1" baseline="-25000" lang="en">
                <a:solidFill>
                  <a:srgbClr val="0000FF"/>
                </a:solidFill>
              </a:rPr>
              <a:t>r</a:t>
            </a:r>
            <a:r>
              <a:rPr b="1" lang="en">
                <a:solidFill>
                  <a:srgbClr val="0000FF"/>
                </a:solidFill>
              </a:rPr>
              <a:t> = 2</a:t>
            </a:r>
            <a:endParaRPr b="1"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495" name="Google Shape;1495;p76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6" name="Google Shape;1496;p76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7" name="Google Shape;1497;p76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8" name="Google Shape;1498;p76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99" name="Google Shape;1499;p76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0" name="Google Shape;1500;p76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1" name="Google Shape;1501;p76"/>
          <p:cNvCxnSpPr>
            <a:stCxn id="1495" idx="7"/>
            <a:endCxn id="149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2" name="Google Shape;1502;p76"/>
          <p:cNvCxnSpPr>
            <a:stCxn id="1498" idx="3"/>
            <a:endCxn id="149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76"/>
          <p:cNvCxnSpPr>
            <a:stCxn id="1500" idx="3"/>
            <a:endCxn id="149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76"/>
          <p:cNvCxnSpPr>
            <a:stCxn id="1496" idx="4"/>
            <a:endCxn id="149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5" name="Google Shape;1505;p76"/>
          <p:cNvCxnSpPr>
            <a:stCxn id="1495" idx="5"/>
            <a:endCxn id="149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76"/>
          <p:cNvCxnSpPr>
            <a:stCxn id="1495" idx="6"/>
            <a:endCxn id="149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7" name="Google Shape;1507;p76"/>
          <p:cNvCxnSpPr>
            <a:stCxn id="1497" idx="2"/>
            <a:endCxn id="149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8" name="Google Shape;1508;p76"/>
          <p:cNvCxnSpPr>
            <a:stCxn id="1498" idx="5"/>
            <a:endCxn id="150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9" name="Google Shape;1509;p76"/>
          <p:cNvCxnSpPr>
            <a:stCxn id="1496" idx="7"/>
            <a:endCxn id="149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0" name="Google Shape;1510;p76"/>
          <p:cNvCxnSpPr>
            <a:stCxn id="1500" idx="3"/>
            <a:endCxn id="149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1" name="Google Shape;1511;p76"/>
          <p:cNvCxnSpPr>
            <a:stCxn id="1496" idx="6"/>
            <a:endCxn id="150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2" name="Google Shape;1512;p76"/>
          <p:cNvCxnSpPr>
            <a:stCxn id="1500" idx="5"/>
            <a:endCxn id="149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513" name="Google Shape;1513;p76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519" name="Google Shape;1519;p77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antisymmetric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Mutually Reachable Dyads: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</a:t>
            </a:r>
            <a:r>
              <a:rPr baseline="-25000" lang="en"/>
              <a:t>r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Asymmetrically Reachable Dyads: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■"/>
            </a:pPr>
            <a:r>
              <a:rPr b="1" lang="en">
                <a:solidFill>
                  <a:srgbClr val="6AA84F"/>
                </a:solidFill>
              </a:rPr>
              <a:t>A</a:t>
            </a:r>
            <a:r>
              <a:rPr b="1" baseline="-25000" lang="en">
                <a:solidFill>
                  <a:srgbClr val="6AA84F"/>
                </a:solidFill>
              </a:rPr>
              <a:t>r</a:t>
            </a:r>
            <a:r>
              <a:rPr b="1" lang="en">
                <a:solidFill>
                  <a:srgbClr val="6AA84F"/>
                </a:solidFill>
              </a:rPr>
              <a:t> = 13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520" name="Google Shape;1520;p77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1" name="Google Shape;1521;p77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2" name="Google Shape;1522;p77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3" name="Google Shape;1523;p77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4" name="Google Shape;1524;p77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5" name="Google Shape;1525;p77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6" name="Google Shape;1526;p77"/>
          <p:cNvCxnSpPr>
            <a:stCxn id="1520" idx="7"/>
            <a:endCxn id="1523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7" name="Google Shape;1527;p77"/>
          <p:cNvCxnSpPr>
            <a:stCxn id="1523" idx="3"/>
            <a:endCxn id="1521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8" name="Google Shape;1528;p77"/>
          <p:cNvCxnSpPr>
            <a:stCxn id="1525" idx="3"/>
            <a:endCxn id="1522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9" name="Google Shape;1529;p77"/>
          <p:cNvCxnSpPr>
            <a:stCxn id="1521" idx="4"/>
            <a:endCxn id="1524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77"/>
          <p:cNvCxnSpPr>
            <a:stCxn id="1520" idx="5"/>
            <a:endCxn id="1524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1" name="Google Shape;1531;p77"/>
          <p:cNvCxnSpPr>
            <a:stCxn id="1520" idx="6"/>
            <a:endCxn id="1521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2" name="Google Shape;1532;p77"/>
          <p:cNvCxnSpPr>
            <a:stCxn id="1522" idx="2"/>
            <a:endCxn id="1524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3" name="Google Shape;1533;p77"/>
          <p:cNvCxnSpPr>
            <a:stCxn id="1523" idx="5"/>
            <a:endCxn id="1525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4" name="Google Shape;1534;p77"/>
          <p:cNvCxnSpPr>
            <a:stCxn id="1521" idx="7"/>
            <a:endCxn id="1523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5" name="Google Shape;1535;p77"/>
          <p:cNvCxnSpPr>
            <a:stCxn id="1525" idx="3"/>
            <a:endCxn id="1524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6" name="Google Shape;1536;p77"/>
          <p:cNvCxnSpPr>
            <a:stCxn id="1521" idx="6"/>
            <a:endCxn id="1525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7" name="Google Shape;1537;p77"/>
          <p:cNvCxnSpPr>
            <a:stCxn id="1525" idx="5"/>
            <a:endCxn id="1522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538" name="Google Shape;1538;p77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Hierarchy</a:t>
            </a:r>
            <a:endParaRPr/>
          </a:p>
        </p:txBody>
      </p:sp>
      <p:sp>
        <p:nvSpPr>
          <p:cNvPr id="1544" name="Google Shape;1544;p78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a network approaches the ideal of a </a:t>
            </a:r>
            <a:r>
              <a:rPr b="1" lang="en"/>
              <a:t>command and control </a:t>
            </a: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the ideal of an antisymmetric tree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hierarchy (H)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Mutually Reachable Dyads: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</a:t>
            </a:r>
            <a:r>
              <a:rPr baseline="-25000" lang="en"/>
              <a:t>r</a:t>
            </a:r>
            <a:r>
              <a:rPr lang="en"/>
              <a:t>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Asymmetrically Reachable Dyads: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r</a:t>
            </a:r>
            <a:r>
              <a:rPr lang="en"/>
              <a:t> = 13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= 13/(2 + 13) = 13/15 = 0.86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Pretty hierarchical!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545" name="Google Shape;1545;p78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6" name="Google Shape;1546;p78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7" name="Google Shape;1547;p78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8" name="Google Shape;1548;p78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9" name="Google Shape;1549;p78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0" name="Google Shape;1550;p78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1" name="Google Shape;1551;p78"/>
          <p:cNvCxnSpPr>
            <a:stCxn id="1545" idx="7"/>
            <a:endCxn id="1548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2" name="Google Shape;1552;p78"/>
          <p:cNvCxnSpPr>
            <a:stCxn id="1548" idx="3"/>
            <a:endCxn id="1546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3" name="Google Shape;1553;p78"/>
          <p:cNvCxnSpPr>
            <a:stCxn id="1550" idx="3"/>
            <a:endCxn id="1547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4" name="Google Shape;1554;p78"/>
          <p:cNvCxnSpPr>
            <a:stCxn id="1546" idx="4"/>
            <a:endCxn id="1549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5" name="Google Shape;1555;p78"/>
          <p:cNvCxnSpPr>
            <a:stCxn id="1545" idx="5"/>
            <a:endCxn id="1549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6" name="Google Shape;1556;p78"/>
          <p:cNvCxnSpPr>
            <a:stCxn id="1545" idx="6"/>
            <a:endCxn id="1546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7" name="Google Shape;1557;p78"/>
          <p:cNvCxnSpPr>
            <a:stCxn id="1547" idx="2"/>
            <a:endCxn id="1549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78"/>
          <p:cNvCxnSpPr>
            <a:stCxn id="1548" idx="5"/>
            <a:endCxn id="1550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78"/>
          <p:cNvCxnSpPr>
            <a:stCxn id="1546" idx="7"/>
            <a:endCxn id="1548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0" name="Google Shape;1560;p78"/>
          <p:cNvCxnSpPr>
            <a:stCxn id="1550" idx="3"/>
            <a:endCxn id="1549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78"/>
          <p:cNvCxnSpPr>
            <a:stCxn id="1546" idx="6"/>
            <a:endCxn id="1550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2" name="Google Shape;1562;p78"/>
          <p:cNvCxnSpPr>
            <a:stCxn id="1550" idx="5"/>
            <a:endCxn id="1547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563" name="Google Shape;1563;p78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569" name="Google Shape;1569;p79"/>
          <p:cNvSpPr/>
          <p:nvPr/>
        </p:nvSpPr>
        <p:spPr>
          <a:xfrm>
            <a:off x="572150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70" name="Google Shape;1570;p79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571" name="Google Shape;1571;p79"/>
          <p:cNvSpPr/>
          <p:nvPr/>
        </p:nvSpPr>
        <p:spPr>
          <a:xfrm>
            <a:off x="1573317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72" name="Google Shape;1572;p79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73" name="Google Shape;1573;p79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1574" name="Google Shape;1574;p7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75" name="Google Shape;1575;p79"/>
          <p:cNvCxnSpPr>
            <a:stCxn id="1570" idx="4"/>
            <a:endCxn id="1571" idx="0"/>
          </p:cNvCxnSpPr>
          <p:nvPr/>
        </p:nvCxnSpPr>
        <p:spPr>
          <a:xfrm>
            <a:off x="1811667" y="2957525"/>
            <a:ext cx="0" cy="50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79"/>
          <p:cNvCxnSpPr>
            <a:stCxn id="1570" idx="5"/>
            <a:endCxn id="1572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7" name="Google Shape;1577;p79"/>
          <p:cNvCxnSpPr>
            <a:stCxn id="1571" idx="2"/>
            <a:endCxn id="1569" idx="6"/>
          </p:cNvCxnSpPr>
          <p:nvPr/>
        </p:nvCxnSpPr>
        <p:spPr>
          <a:xfrm rot="10800000">
            <a:off x="1048917" y="3683570"/>
            <a:ext cx="5244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8" name="Google Shape;1578;p7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reachability matrix</a:t>
            </a:r>
            <a:r>
              <a:rPr lang="en"/>
              <a:t> of a graph has a one in each cell if the corresponding pair of nodes are connected via a path of some length</a:t>
            </a:r>
            <a:endParaRPr/>
          </a:p>
        </p:txBody>
      </p:sp>
      <p:sp>
        <p:nvSpPr>
          <p:cNvPr id="1579" name="Google Shape;1579;p79"/>
          <p:cNvSpPr/>
          <p:nvPr/>
        </p:nvSpPr>
        <p:spPr>
          <a:xfrm>
            <a:off x="3807200" y="31207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7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586" name="Google Shape;1586;p80"/>
          <p:cNvSpPr/>
          <p:nvPr/>
        </p:nvSpPr>
        <p:spPr>
          <a:xfrm>
            <a:off x="572150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87" name="Google Shape;1587;p80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588" name="Google Shape;1588;p80"/>
          <p:cNvSpPr/>
          <p:nvPr/>
        </p:nvSpPr>
        <p:spPr>
          <a:xfrm>
            <a:off x="1573317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89" name="Google Shape;1589;p80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590" name="Google Shape;1590;p80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1591" name="Google Shape;1591;p8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92" name="Google Shape;1592;p80"/>
          <p:cNvCxnSpPr>
            <a:stCxn id="1587" idx="4"/>
            <a:endCxn id="1588" idx="0"/>
          </p:cNvCxnSpPr>
          <p:nvPr/>
        </p:nvCxnSpPr>
        <p:spPr>
          <a:xfrm>
            <a:off x="1811667" y="2957525"/>
            <a:ext cx="0" cy="50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80"/>
          <p:cNvCxnSpPr>
            <a:stCxn id="1587" idx="5"/>
            <a:endCxn id="1589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80"/>
          <p:cNvCxnSpPr>
            <a:stCxn id="1588" idx="2"/>
            <a:endCxn id="1586" idx="6"/>
          </p:cNvCxnSpPr>
          <p:nvPr/>
        </p:nvCxnSpPr>
        <p:spPr>
          <a:xfrm rot="10800000">
            <a:off x="1048917" y="3683570"/>
            <a:ext cx="5244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5" name="Google Shape;1595;p8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reachability matrix</a:t>
            </a:r>
            <a:r>
              <a:rPr lang="en"/>
              <a:t> of a graph has a one in each cell if the corresponding pair of nodes are connected via a path of some length</a:t>
            </a:r>
            <a:endParaRPr/>
          </a:p>
        </p:txBody>
      </p:sp>
      <p:sp>
        <p:nvSpPr>
          <p:cNvPr id="1596" name="Google Shape;1596;p80"/>
          <p:cNvSpPr/>
          <p:nvPr/>
        </p:nvSpPr>
        <p:spPr>
          <a:xfrm>
            <a:off x="3807200" y="31207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8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603" name="Google Shape;1603;p81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Connectedness</a:t>
            </a:r>
            <a:r>
              <a:rPr lang="en"/>
              <a:t> (C) is the pairwise connectivity of nodes in 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Defined as one minus the number of pairs that </a:t>
            </a:r>
            <a:r>
              <a:rPr b="1" lang="en"/>
              <a:t>cannot</a:t>
            </a:r>
            <a:r>
              <a:rPr lang="en"/>
              <a:t> reach one another (V) divided by the total number of possible pairs: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81"/>
          <p:cNvSpPr/>
          <p:nvPr/>
        </p:nvSpPr>
        <p:spPr>
          <a:xfrm>
            <a:off x="572150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05" name="Google Shape;1605;p81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06" name="Google Shape;1606;p81"/>
          <p:cNvSpPr/>
          <p:nvPr/>
        </p:nvSpPr>
        <p:spPr>
          <a:xfrm>
            <a:off x="1573317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07" name="Google Shape;1607;p81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08" name="Google Shape;1608;p81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1609" name="Google Shape;1609;p8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10" name="Google Shape;1610;p81"/>
          <p:cNvCxnSpPr>
            <a:stCxn id="1605" idx="4"/>
            <a:endCxn id="1606" idx="0"/>
          </p:cNvCxnSpPr>
          <p:nvPr/>
        </p:nvCxnSpPr>
        <p:spPr>
          <a:xfrm>
            <a:off x="1811667" y="2957525"/>
            <a:ext cx="0" cy="50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81"/>
          <p:cNvCxnSpPr>
            <a:stCxn id="1605" idx="5"/>
            <a:endCxn id="1607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81"/>
          <p:cNvCxnSpPr>
            <a:stCxn id="1606" idx="2"/>
            <a:endCxn id="1604" idx="6"/>
          </p:cNvCxnSpPr>
          <p:nvPr/>
        </p:nvCxnSpPr>
        <p:spPr>
          <a:xfrm rot="10800000">
            <a:off x="1048917" y="3683570"/>
            <a:ext cx="5244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 =1 - \left[\frac{V}{(N(N-1))/2}\right]" id="1613" name="Google Shape;1613;p8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450" y="2511427"/>
            <a:ext cx="288009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8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620" name="Google Shape;1620;p82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Connectedness</a:t>
            </a:r>
            <a:r>
              <a:rPr lang="en"/>
              <a:t> (C) is the pairwise connectivity of nodes in 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Defined as one minus the number of pairs that </a:t>
            </a:r>
            <a:r>
              <a:rPr b="1" lang="en"/>
              <a:t>cannot</a:t>
            </a:r>
            <a:r>
              <a:rPr lang="en"/>
              <a:t> reach one another (V) divided by the total number of possible pairs: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82"/>
          <p:cNvSpPr/>
          <p:nvPr/>
        </p:nvSpPr>
        <p:spPr>
          <a:xfrm>
            <a:off x="572150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22" name="Google Shape;1622;p82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23" name="Google Shape;1623;p82"/>
          <p:cNvSpPr/>
          <p:nvPr/>
        </p:nvSpPr>
        <p:spPr>
          <a:xfrm>
            <a:off x="1573317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24" name="Google Shape;1624;p82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25" name="Google Shape;1625;p82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1626" name="Google Shape;1626;p8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27" name="Google Shape;1627;p82"/>
          <p:cNvCxnSpPr>
            <a:stCxn id="1622" idx="4"/>
            <a:endCxn id="1623" idx="0"/>
          </p:cNvCxnSpPr>
          <p:nvPr/>
        </p:nvCxnSpPr>
        <p:spPr>
          <a:xfrm>
            <a:off x="1811667" y="2957525"/>
            <a:ext cx="0" cy="50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82"/>
          <p:cNvCxnSpPr>
            <a:stCxn id="1622" idx="5"/>
            <a:endCxn id="1624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82"/>
          <p:cNvCxnSpPr>
            <a:stCxn id="1623" idx="2"/>
            <a:endCxn id="1621" idx="6"/>
          </p:cNvCxnSpPr>
          <p:nvPr/>
        </p:nvCxnSpPr>
        <p:spPr>
          <a:xfrm rot="10800000">
            <a:off x="1048917" y="3683570"/>
            <a:ext cx="5244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 =1 - \left[\frac{V}{(N(N-1))/2}\right]" id="1630" name="Google Shape;1630;p8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450" y="2511427"/>
            <a:ext cx="2880090" cy="6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 =1 - \left[\frac{4}{(5(5-1))/2}\right]= 1 -\frac{4}{10}=0.6" id="1631" name="Google Shape;1631;p8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4622" y="4222125"/>
            <a:ext cx="3833146" cy="5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8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638" name="Google Shape;1638;p83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Hierarchy</a:t>
            </a:r>
            <a:r>
              <a:rPr lang="en"/>
              <a:t> (H) measures </a:t>
            </a:r>
            <a:r>
              <a:rPr b="1" lang="en"/>
              <a:t>anti-symmetry</a:t>
            </a:r>
            <a:r>
              <a:rPr lang="en"/>
              <a:t> in a network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83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40" name="Google Shape;1640;p83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41" name="Google Shape;1641;p83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42" name="Google Shape;1642;p83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43" name="Google Shape;1643;p83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graphicFrame>
        <p:nvGraphicFramePr>
          <p:cNvPr id="1644" name="Google Shape;1644;p8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45" name="Google Shape;1645;p83"/>
          <p:cNvCxnSpPr>
            <a:stCxn id="1640" idx="4"/>
            <a:endCxn id="1641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6" name="Google Shape;1646;p83"/>
          <p:cNvCxnSpPr>
            <a:stCxn id="1640" idx="5"/>
            <a:endCxn id="1642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7" name="Google Shape;1647;p83"/>
          <p:cNvCxnSpPr>
            <a:stCxn id="1641" idx="3"/>
            <a:endCxn id="1639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8" name="Google Shape;1648;p83"/>
          <p:cNvCxnSpPr>
            <a:stCxn id="1641" idx="4"/>
            <a:endCxn id="1643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9" name="Google Shape;1649;p83"/>
          <p:cNvCxnSpPr>
            <a:stCxn id="1642" idx="4"/>
            <a:endCxn id="1643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0" name="Google Shape;1650;p83"/>
          <p:cNvSpPr txBox="1"/>
          <p:nvPr/>
        </p:nvSpPr>
        <p:spPr>
          <a:xfrm>
            <a:off x="2812825" y="2067750"/>
            <a:ext cx="30549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Hierarchy implies that only entries in the upper triangle of the reachability matrix have ones in them!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1" name="Google Shape;1651;p8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657" name="Google Shape;1657;p84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Hierarchy</a:t>
            </a:r>
            <a:r>
              <a:rPr lang="en"/>
              <a:t> (H) measures </a:t>
            </a:r>
            <a:r>
              <a:rPr b="1" lang="en"/>
              <a:t>anti-symmetry</a:t>
            </a:r>
            <a:r>
              <a:rPr lang="en"/>
              <a:t> in a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84"/>
          <p:cNvSpPr txBox="1"/>
          <p:nvPr/>
        </p:nvSpPr>
        <p:spPr>
          <a:xfrm>
            <a:off x="3219825" y="3291175"/>
            <a:ext cx="22857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Hierarchy violations appear as entries on the lower diagonal!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implies that these nodes are now mutually reachable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9" name="Google Shape;1659;p84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60" name="Google Shape;1660;p84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61" name="Google Shape;1661;p84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62" name="Google Shape;1662;p84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63" name="Google Shape;1663;p84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664" name="Google Shape;1664;p84"/>
          <p:cNvCxnSpPr>
            <a:stCxn id="1660" idx="4"/>
            <a:endCxn id="1661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5" name="Google Shape;1665;p84"/>
          <p:cNvCxnSpPr>
            <a:stCxn id="1660" idx="5"/>
            <a:endCxn id="1662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6" name="Google Shape;1666;p84"/>
          <p:cNvCxnSpPr>
            <a:stCxn id="1661" idx="3"/>
            <a:endCxn id="1659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7" name="Google Shape;1667;p84"/>
          <p:cNvCxnSpPr>
            <a:stCxn id="1661" idx="4"/>
            <a:endCxn id="1663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8" name="Google Shape;1668;p84"/>
          <p:cNvCxnSpPr>
            <a:stCxn id="1662" idx="4"/>
            <a:endCxn id="1663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9" name="Google Shape;1669;p84"/>
          <p:cNvCxnSpPr>
            <a:stCxn id="1659" idx="7"/>
            <a:endCxn id="1660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0" name="Google Shape;1670;p84"/>
          <p:cNvCxnSpPr>
            <a:stCxn id="1661" idx="6"/>
            <a:endCxn id="1660" idx="6"/>
          </p:cNvCxnSpPr>
          <p:nvPr/>
        </p:nvCxnSpPr>
        <p:spPr>
          <a:xfrm flipH="1" rot="10800000">
            <a:off x="2050017" y="273459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671" name="Google Shape;1671;p8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2" name="Google Shape;1672;p8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3" name="Google Shape;1673;p84"/>
          <p:cNvCxnSpPr>
            <a:stCxn id="1658" idx="3"/>
          </p:cNvCxnSpPr>
          <p:nvPr/>
        </p:nvCxnSpPr>
        <p:spPr>
          <a:xfrm>
            <a:off x="5505525" y="4053475"/>
            <a:ext cx="805500" cy="36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679" name="Google Shape;1679;p85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Hierarchy</a:t>
            </a:r>
            <a:r>
              <a:rPr lang="en"/>
              <a:t> (H) measures </a:t>
            </a:r>
            <a:r>
              <a:rPr b="1" lang="en"/>
              <a:t>anti-symmetry</a:t>
            </a:r>
            <a:r>
              <a:rPr lang="en"/>
              <a:t> in 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measure hierarchy as one minus the total number of </a:t>
            </a:r>
            <a:r>
              <a:rPr b="1" lang="en"/>
              <a:t>anti-symmetry violating entries (V)</a:t>
            </a:r>
            <a:r>
              <a:rPr lang="en"/>
              <a:t> in the lower diagonal divided by the possible number of pairs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85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81" name="Google Shape;1681;p85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82" name="Google Shape;1682;p85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83" name="Google Shape;1683;p85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684" name="Google Shape;1684;p85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685" name="Google Shape;1685;p85"/>
          <p:cNvCxnSpPr>
            <a:stCxn id="1681" idx="4"/>
            <a:endCxn id="1682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6" name="Google Shape;1686;p85"/>
          <p:cNvCxnSpPr>
            <a:stCxn id="1681" idx="5"/>
            <a:endCxn id="1683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7" name="Google Shape;1687;p85"/>
          <p:cNvCxnSpPr>
            <a:stCxn id="1682" idx="3"/>
            <a:endCxn id="1680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8" name="Google Shape;1688;p85"/>
          <p:cNvCxnSpPr>
            <a:stCxn id="1682" idx="4"/>
            <a:endCxn id="1684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9" name="Google Shape;1689;p85"/>
          <p:cNvCxnSpPr>
            <a:stCxn id="1683" idx="4"/>
            <a:endCxn id="1684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0" name="Google Shape;1690;p85"/>
          <p:cNvCxnSpPr>
            <a:stCxn id="1680" idx="7"/>
            <a:endCxn id="1681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H = 1 - \left(\frac{V}{(N(N-1))/2}\right)" id="1691" name="Google Shape;1691;p8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902" y="2427225"/>
            <a:ext cx="2743200" cy="5802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85"/>
          <p:cNvSpPr txBox="1"/>
          <p:nvPr/>
        </p:nvSpPr>
        <p:spPr>
          <a:xfrm>
            <a:off x="3219825" y="3291175"/>
            <a:ext cx="22857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Hierarchy violations appear as entries on the lower diagonal!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implies that these nodes are now mutually reachable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93" name="Google Shape;1693;p85"/>
          <p:cNvCxnSpPr>
            <a:stCxn id="1692" idx="3"/>
          </p:cNvCxnSpPr>
          <p:nvPr/>
        </p:nvCxnSpPr>
        <p:spPr>
          <a:xfrm>
            <a:off x="5505525" y="4053475"/>
            <a:ext cx="805500" cy="36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94" name="Google Shape;1694;p8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95" name="Google Shape;1695;p8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6" name="Google Shape;1696;p85"/>
          <p:cNvCxnSpPr>
            <a:stCxn id="1682" idx="6"/>
            <a:endCxn id="1681" idx="6"/>
          </p:cNvCxnSpPr>
          <p:nvPr/>
        </p:nvCxnSpPr>
        <p:spPr>
          <a:xfrm flipH="1" rot="10800000">
            <a:off x="2050017" y="273459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702" name="Google Shape;1702;p86"/>
          <p:cNvSpPr txBox="1"/>
          <p:nvPr>
            <p:ph idx="1" type="body"/>
          </p:nvPr>
        </p:nvSpPr>
        <p:spPr>
          <a:xfrm>
            <a:off x="311700" y="1225225"/>
            <a:ext cx="85206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Hierarchy</a:t>
            </a:r>
            <a:r>
              <a:rPr lang="en"/>
              <a:t> (H) measures </a:t>
            </a:r>
            <a:r>
              <a:rPr b="1" lang="en"/>
              <a:t>anti-symmetry</a:t>
            </a:r>
            <a:r>
              <a:rPr lang="en"/>
              <a:t> in 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measure hierarchy as one minus the total number of </a:t>
            </a:r>
            <a:r>
              <a:rPr b="1" lang="en"/>
              <a:t>anti-symmetry violating entries (V)</a:t>
            </a:r>
            <a:r>
              <a:rPr lang="en"/>
              <a:t> in the lower diagonal divided by the possible number of 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86"/>
          <p:cNvSpPr txBox="1"/>
          <p:nvPr/>
        </p:nvSpPr>
        <p:spPr>
          <a:xfrm>
            <a:off x="3219825" y="3291175"/>
            <a:ext cx="22857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Hierarchy violations appear as entries on the lower diagonal!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implies that these nodes are now mutually reachable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H = 1-\frac{5}{10}= 0.5" id="1704" name="Google Shape;1704;p8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500" y="2419416"/>
            <a:ext cx="277091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86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06" name="Google Shape;1706;p86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07" name="Google Shape;1707;p86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08" name="Google Shape;1708;p86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09" name="Google Shape;1709;p86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710" name="Google Shape;1710;p86"/>
          <p:cNvCxnSpPr>
            <a:stCxn id="1706" idx="4"/>
            <a:endCxn id="1707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1" name="Google Shape;1711;p86"/>
          <p:cNvCxnSpPr>
            <a:stCxn id="1706" idx="5"/>
            <a:endCxn id="1708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2" name="Google Shape;1712;p86"/>
          <p:cNvCxnSpPr>
            <a:stCxn id="1707" idx="3"/>
            <a:endCxn id="1705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3" name="Google Shape;1713;p86"/>
          <p:cNvCxnSpPr>
            <a:stCxn id="1707" idx="4"/>
            <a:endCxn id="1709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4" name="Google Shape;1714;p86"/>
          <p:cNvCxnSpPr>
            <a:stCxn id="1708" idx="4"/>
            <a:endCxn id="1709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5" name="Google Shape;1715;p86"/>
          <p:cNvCxnSpPr>
            <a:stCxn id="1705" idx="7"/>
            <a:endCxn id="1706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6" name="Google Shape;1716;p86"/>
          <p:cNvCxnSpPr>
            <a:stCxn id="1707" idx="6"/>
            <a:endCxn id="1706" idx="6"/>
          </p:cNvCxnSpPr>
          <p:nvPr/>
        </p:nvCxnSpPr>
        <p:spPr>
          <a:xfrm flipH="1" rot="10800000">
            <a:off x="2050017" y="273459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717" name="Google Shape;1717;p8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8" name="Google Shape;1718;p8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19" name="Google Shape;1719;p86"/>
          <p:cNvCxnSpPr>
            <a:stCxn id="1703" idx="3"/>
          </p:cNvCxnSpPr>
          <p:nvPr/>
        </p:nvCxnSpPr>
        <p:spPr>
          <a:xfrm>
            <a:off x="5505525" y="4053475"/>
            <a:ext cx="805500" cy="36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Path-based network properties</a:t>
            </a:r>
            <a:endParaRPr/>
          </a:p>
        </p:txBody>
      </p:sp>
      <p:sp>
        <p:nvSpPr>
          <p:cNvPr id="1725" name="Google Shape;1725;p87"/>
          <p:cNvSpPr txBox="1"/>
          <p:nvPr>
            <p:ph idx="1" type="body"/>
          </p:nvPr>
        </p:nvSpPr>
        <p:spPr>
          <a:xfrm>
            <a:off x="311700" y="1225225"/>
            <a:ext cx="8520600" cy="1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Hierarchy</a:t>
            </a:r>
            <a:r>
              <a:rPr lang="en"/>
              <a:t> (H) measures </a:t>
            </a:r>
            <a:r>
              <a:rPr b="1" lang="en"/>
              <a:t>anti-symmetry</a:t>
            </a:r>
            <a:r>
              <a:rPr lang="en"/>
              <a:t> in 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measure hierarchy as one minus the total number of </a:t>
            </a:r>
            <a:r>
              <a:rPr b="1" lang="en"/>
              <a:t>anti-symmetry violating entries (V)</a:t>
            </a:r>
            <a:r>
              <a:rPr lang="en"/>
              <a:t> in the lower diagonal divided by the possible number of 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87"/>
          <p:cNvSpPr txBox="1"/>
          <p:nvPr/>
        </p:nvSpPr>
        <p:spPr>
          <a:xfrm>
            <a:off x="3227150" y="3179575"/>
            <a:ext cx="25692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more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violations the 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less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hierarchy!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7" name="Google Shape;1727;p87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28" name="Google Shape;1728;p87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29" name="Google Shape;1729;p87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30" name="Google Shape;1730;p87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31" name="Google Shape;1731;p87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732" name="Google Shape;1732;p87"/>
          <p:cNvCxnSpPr>
            <a:stCxn id="1728" idx="4"/>
            <a:endCxn id="1729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3" name="Google Shape;1733;p87"/>
          <p:cNvCxnSpPr>
            <a:stCxn id="1728" idx="5"/>
            <a:endCxn id="1730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4" name="Google Shape;1734;p87"/>
          <p:cNvCxnSpPr>
            <a:stCxn id="1729" idx="3"/>
            <a:endCxn id="1727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5" name="Google Shape;1735;p87"/>
          <p:cNvCxnSpPr>
            <a:stCxn id="1729" idx="4"/>
            <a:endCxn id="1731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6" name="Google Shape;1736;p87"/>
          <p:cNvCxnSpPr>
            <a:stCxn id="1730" idx="4"/>
            <a:endCxn id="1731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7" name="Google Shape;1737;p87"/>
          <p:cNvCxnSpPr>
            <a:stCxn id="1727" idx="7"/>
            <a:endCxn id="1728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8" name="Google Shape;1738;p87"/>
          <p:cNvCxnSpPr>
            <a:stCxn id="1729" idx="6"/>
            <a:endCxn id="1728" idx="6"/>
          </p:cNvCxnSpPr>
          <p:nvPr/>
        </p:nvCxnSpPr>
        <p:spPr>
          <a:xfrm flipH="1" rot="10800000">
            <a:off x="2050017" y="273459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739" name="Google Shape;1739;p8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0" name="Google Shape;1740;p8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41" name="Google Shape;1741;p87"/>
          <p:cNvCxnSpPr>
            <a:stCxn id="1730" idx="0"/>
            <a:endCxn id="1728" idx="0"/>
          </p:cNvCxnSpPr>
          <p:nvPr/>
        </p:nvCxnSpPr>
        <p:spPr>
          <a:xfrm flipH="1" rot="5400000">
            <a:off x="1837683" y="2485370"/>
            <a:ext cx="949200" cy="1001100"/>
          </a:xfrm>
          <a:prstGeom prst="curvedConnector3">
            <a:avLst>
              <a:gd fmla="val 12507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H = 1-\frac{7}{10}= 0.3" id="1742" name="Google Shape;1742;p8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500" y="2419416"/>
            <a:ext cx="277091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Dyad-based network properties</a:t>
            </a:r>
            <a:endParaRPr/>
          </a:p>
        </p:txBody>
      </p:sp>
      <p:sp>
        <p:nvSpPr>
          <p:cNvPr id="1748" name="Google Shape;1748;p88"/>
          <p:cNvSpPr txBox="1"/>
          <p:nvPr/>
        </p:nvSpPr>
        <p:spPr>
          <a:xfrm>
            <a:off x="3142900" y="2688125"/>
            <a:ext cx="2569200" cy="19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Mutual ties appear as symmetrical entries in the adjacency matrix!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In a matrix the entries 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ji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are symmetrical</a:t>
            </a:r>
            <a:endParaRPr b="1" i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49" name="Google Shape;1749;p88"/>
          <p:cNvCxnSpPr>
            <a:stCxn id="1748" idx="3"/>
          </p:cNvCxnSpPr>
          <p:nvPr/>
        </p:nvCxnSpPr>
        <p:spPr>
          <a:xfrm>
            <a:off x="5712100" y="3659525"/>
            <a:ext cx="972000" cy="21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50" name="Google Shape;1750;p8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1" name="Google Shape;1751;p88"/>
          <p:cNvSpPr txBox="1"/>
          <p:nvPr/>
        </p:nvSpPr>
        <p:spPr>
          <a:xfrm>
            <a:off x="6199800" y="1964925"/>
            <a:ext cx="24735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52" name="Google Shape;1752;p88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53" name="Google Shape;1753;p88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54" name="Google Shape;1754;p88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55" name="Google Shape;1755;p88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56" name="Google Shape;1756;p88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757" name="Google Shape;1757;p88"/>
          <p:cNvCxnSpPr>
            <a:stCxn id="1753" idx="4"/>
            <a:endCxn id="1754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8" name="Google Shape;1758;p88"/>
          <p:cNvCxnSpPr>
            <a:stCxn id="1753" idx="5"/>
            <a:endCxn id="1755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9" name="Google Shape;1759;p88"/>
          <p:cNvCxnSpPr>
            <a:stCxn id="1754" idx="3"/>
            <a:endCxn id="1752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0" name="Google Shape;1760;p88"/>
          <p:cNvCxnSpPr>
            <a:stCxn id="1754" idx="4"/>
            <a:endCxn id="1756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1" name="Google Shape;1761;p88"/>
          <p:cNvCxnSpPr>
            <a:stCxn id="1755" idx="4"/>
            <a:endCxn id="1756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2" name="Google Shape;1762;p88"/>
          <p:cNvCxnSpPr>
            <a:stCxn id="1752" idx="7"/>
            <a:endCxn id="1753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3" name="Google Shape;1763;p88"/>
          <p:cNvCxnSpPr>
            <a:stCxn id="1756" idx="6"/>
            <a:endCxn id="1755" idx="4"/>
          </p:cNvCxnSpPr>
          <p:nvPr/>
        </p:nvCxnSpPr>
        <p:spPr>
          <a:xfrm flipH="1" rot="10800000">
            <a:off x="2050017" y="3906525"/>
            <a:ext cx="762900" cy="6588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4" name="Google Shape;1764;p88"/>
          <p:cNvCxnSpPr>
            <a:stCxn id="1756" idx="6"/>
            <a:endCxn id="1754" idx="6"/>
          </p:cNvCxnSpPr>
          <p:nvPr/>
        </p:nvCxnSpPr>
        <p:spPr>
          <a:xfrm flipH="1" rot="10800000">
            <a:off x="2050017" y="365002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5" name="Google Shape;1765;p88"/>
          <p:cNvCxnSpPr>
            <a:stCxn id="1755" idx="0"/>
            <a:endCxn id="1753" idx="6"/>
          </p:cNvCxnSpPr>
          <p:nvPr/>
        </p:nvCxnSpPr>
        <p:spPr>
          <a:xfrm flipH="1" rot="5400000">
            <a:off x="2068383" y="2716070"/>
            <a:ext cx="726000" cy="762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6" name="Google Shape;1766;p88"/>
          <p:cNvSpPr txBox="1"/>
          <p:nvPr>
            <p:ph idx="1" type="body"/>
          </p:nvPr>
        </p:nvSpPr>
        <p:spPr>
          <a:xfrm>
            <a:off x="311700" y="1225225"/>
            <a:ext cx="85206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Reciprocity</a:t>
            </a:r>
            <a:r>
              <a:rPr lang="en"/>
              <a:t> (R) measures whether relations go both ways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 (R) is given by counting the number of </a:t>
            </a:r>
            <a:r>
              <a:rPr b="1" lang="en"/>
              <a:t>mutual links</a:t>
            </a:r>
            <a:r>
              <a:rPr lang="en"/>
              <a:t> (V) in the </a:t>
            </a:r>
            <a:r>
              <a:rPr b="1" lang="en"/>
              <a:t>adjacency matrix </a:t>
            </a:r>
            <a:r>
              <a:rPr lang="en"/>
              <a:t>and dividing by the total number of </a:t>
            </a:r>
            <a:r>
              <a:rPr b="1" lang="en"/>
              <a:t>existing ties</a:t>
            </a:r>
            <a:r>
              <a:rPr lang="en"/>
              <a:t> (E)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Dyad-based network properties</a:t>
            </a:r>
            <a:endParaRPr/>
          </a:p>
        </p:txBody>
      </p:sp>
      <p:sp>
        <p:nvSpPr>
          <p:cNvPr id="1772" name="Google Shape;1772;p89"/>
          <p:cNvSpPr txBox="1"/>
          <p:nvPr>
            <p:ph idx="1" type="body"/>
          </p:nvPr>
        </p:nvSpPr>
        <p:spPr>
          <a:xfrm>
            <a:off x="311700" y="1225225"/>
            <a:ext cx="85206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Reciprocity</a:t>
            </a:r>
            <a:r>
              <a:rPr lang="en"/>
              <a:t> (R) measures whether relations go both ways in the network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 (R) is given by counting the number of </a:t>
            </a:r>
            <a:r>
              <a:rPr b="1" lang="en"/>
              <a:t>reciprocal links</a:t>
            </a:r>
            <a:r>
              <a:rPr lang="en"/>
              <a:t> (V) in the </a:t>
            </a:r>
            <a:r>
              <a:rPr b="1" lang="en"/>
              <a:t>adjacency matrix </a:t>
            </a:r>
            <a:r>
              <a:rPr lang="en"/>
              <a:t>and dividing by the total number of </a:t>
            </a:r>
            <a:r>
              <a:rPr b="1" lang="en"/>
              <a:t>existing ties</a:t>
            </a:r>
            <a:r>
              <a:rPr lang="en"/>
              <a:t> (E)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89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74" name="Google Shape;1774;p89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75" name="Google Shape;1775;p89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76" name="Google Shape;1776;p89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77" name="Google Shape;1777;p89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778" name="Google Shape;1778;p89"/>
          <p:cNvCxnSpPr>
            <a:stCxn id="1774" idx="4"/>
            <a:endCxn id="1775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9" name="Google Shape;1779;p89"/>
          <p:cNvCxnSpPr>
            <a:stCxn id="1774" idx="5"/>
            <a:endCxn id="1776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0" name="Google Shape;1780;p89"/>
          <p:cNvCxnSpPr>
            <a:stCxn id="1775" idx="3"/>
            <a:endCxn id="1773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1" name="Google Shape;1781;p89"/>
          <p:cNvCxnSpPr>
            <a:stCxn id="1775" idx="4"/>
            <a:endCxn id="1777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2" name="Google Shape;1782;p89"/>
          <p:cNvCxnSpPr>
            <a:stCxn id="1776" idx="4"/>
            <a:endCxn id="1777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3" name="Google Shape;1783;p89"/>
          <p:cNvCxnSpPr>
            <a:stCxn id="1773" idx="7"/>
            <a:endCxn id="1774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4" name="Google Shape;1784;p89"/>
          <p:cNvCxnSpPr>
            <a:stCxn id="1777" idx="6"/>
            <a:endCxn id="1776" idx="4"/>
          </p:cNvCxnSpPr>
          <p:nvPr/>
        </p:nvCxnSpPr>
        <p:spPr>
          <a:xfrm flipH="1" rot="10800000">
            <a:off x="2050017" y="3906525"/>
            <a:ext cx="762900" cy="6588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5" name="Google Shape;1785;p89"/>
          <p:cNvCxnSpPr>
            <a:stCxn id="1777" idx="6"/>
            <a:endCxn id="1775" idx="6"/>
          </p:cNvCxnSpPr>
          <p:nvPr/>
        </p:nvCxnSpPr>
        <p:spPr>
          <a:xfrm flipH="1" rot="10800000">
            <a:off x="2050017" y="365002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6" name="Google Shape;1786;p89"/>
          <p:cNvCxnSpPr>
            <a:stCxn id="1776" idx="0"/>
            <a:endCxn id="1774" idx="6"/>
          </p:cNvCxnSpPr>
          <p:nvPr/>
        </p:nvCxnSpPr>
        <p:spPr>
          <a:xfrm flipH="1" rot="5400000">
            <a:off x="2068383" y="2716070"/>
            <a:ext cx="726000" cy="762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787" name="Google Shape;1787;p8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8" name="Google Shape;1788;p89"/>
          <p:cNvSpPr txBox="1"/>
          <p:nvPr/>
        </p:nvSpPr>
        <p:spPr>
          <a:xfrm>
            <a:off x="6199800" y="2056526"/>
            <a:ext cx="2473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R = \frac{V}{E}" id="1789" name="Google Shape;1789;p8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401" y="2281825"/>
            <a:ext cx="1441196" cy="7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p89"/>
          <p:cNvSpPr txBox="1"/>
          <p:nvPr/>
        </p:nvSpPr>
        <p:spPr>
          <a:xfrm>
            <a:off x="3142900" y="3799625"/>
            <a:ext cx="256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Looks like we have six reciprocal links out of a total of 10 links</a:t>
            </a:r>
            <a:endParaRPr b="1" i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Dyad-based network properties</a:t>
            </a:r>
            <a:endParaRPr/>
          </a:p>
        </p:txBody>
      </p:sp>
      <p:sp>
        <p:nvSpPr>
          <p:cNvPr id="1796" name="Google Shape;1796;p90"/>
          <p:cNvSpPr txBox="1"/>
          <p:nvPr>
            <p:ph idx="1" type="body"/>
          </p:nvPr>
        </p:nvSpPr>
        <p:spPr>
          <a:xfrm>
            <a:off x="311700" y="1225225"/>
            <a:ext cx="8520600" cy="17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Reciprocity</a:t>
            </a:r>
            <a:r>
              <a:rPr lang="en"/>
              <a:t> (R) measures whether relations go both ways in the network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 (R) is given by counting the number of </a:t>
            </a:r>
            <a:r>
              <a:rPr b="1" lang="en"/>
              <a:t>reciprocal links</a:t>
            </a:r>
            <a:r>
              <a:rPr lang="en"/>
              <a:t> (V) in the </a:t>
            </a:r>
            <a:r>
              <a:rPr b="1" lang="en"/>
              <a:t>adjacency matrix </a:t>
            </a:r>
            <a:r>
              <a:rPr lang="en"/>
              <a:t>and dividing by the total number of </a:t>
            </a:r>
            <a:r>
              <a:rPr b="1" lang="en"/>
              <a:t>existing ties</a:t>
            </a:r>
            <a:r>
              <a:rPr lang="en"/>
              <a:t> (E)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90"/>
          <p:cNvSpPr/>
          <p:nvPr/>
        </p:nvSpPr>
        <p:spPr>
          <a:xfrm>
            <a:off x="572225" y="434227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E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798" name="Google Shape;1798;p90"/>
          <p:cNvSpPr/>
          <p:nvPr/>
        </p:nvSpPr>
        <p:spPr>
          <a:xfrm>
            <a:off x="1573317" y="251142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99" name="Google Shape;1799;p90"/>
          <p:cNvSpPr/>
          <p:nvPr/>
        </p:nvSpPr>
        <p:spPr>
          <a:xfrm>
            <a:off x="1573317" y="342684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800" name="Google Shape;1800;p90"/>
          <p:cNvSpPr/>
          <p:nvPr/>
        </p:nvSpPr>
        <p:spPr>
          <a:xfrm>
            <a:off x="2574483" y="3460520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801" name="Google Shape;1801;p90"/>
          <p:cNvSpPr/>
          <p:nvPr/>
        </p:nvSpPr>
        <p:spPr>
          <a:xfrm>
            <a:off x="1573317" y="4342275"/>
            <a:ext cx="476700" cy="44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D</a:t>
            </a:r>
            <a:endParaRPr b="1" sz="1800">
              <a:solidFill>
                <a:srgbClr val="FFFFFF"/>
              </a:solidFill>
            </a:endParaRPr>
          </a:p>
        </p:txBody>
      </p:sp>
      <p:cxnSp>
        <p:nvCxnSpPr>
          <p:cNvPr id="1802" name="Google Shape;1802;p90"/>
          <p:cNvCxnSpPr>
            <a:stCxn id="1798" idx="4"/>
            <a:endCxn id="1799" idx="0"/>
          </p:cNvCxnSpPr>
          <p:nvPr/>
        </p:nvCxnSpPr>
        <p:spPr>
          <a:xfrm>
            <a:off x="1811667" y="295752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3" name="Google Shape;1803;p90"/>
          <p:cNvCxnSpPr>
            <a:stCxn id="1798" idx="5"/>
            <a:endCxn id="1800" idx="1"/>
          </p:cNvCxnSpPr>
          <p:nvPr/>
        </p:nvCxnSpPr>
        <p:spPr>
          <a:xfrm>
            <a:off x="1980205" y="2892195"/>
            <a:ext cx="664200" cy="63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4" name="Google Shape;1804;p90"/>
          <p:cNvCxnSpPr>
            <a:stCxn id="1799" idx="3"/>
            <a:endCxn id="1797" idx="7"/>
          </p:cNvCxnSpPr>
          <p:nvPr/>
        </p:nvCxnSpPr>
        <p:spPr>
          <a:xfrm flipH="1">
            <a:off x="979228" y="3807616"/>
            <a:ext cx="663900" cy="6000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5" name="Google Shape;1805;p90"/>
          <p:cNvCxnSpPr>
            <a:stCxn id="1799" idx="4"/>
            <a:endCxn id="1801" idx="0"/>
          </p:cNvCxnSpPr>
          <p:nvPr/>
        </p:nvCxnSpPr>
        <p:spPr>
          <a:xfrm>
            <a:off x="1811667" y="3872945"/>
            <a:ext cx="0" cy="46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6" name="Google Shape;1806;p90"/>
          <p:cNvCxnSpPr>
            <a:stCxn id="1800" idx="4"/>
            <a:endCxn id="1801" idx="7"/>
          </p:cNvCxnSpPr>
          <p:nvPr/>
        </p:nvCxnSpPr>
        <p:spPr>
          <a:xfrm flipH="1">
            <a:off x="1980333" y="3906620"/>
            <a:ext cx="832500" cy="50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7" name="Google Shape;1807;p90"/>
          <p:cNvCxnSpPr>
            <a:stCxn id="1797" idx="7"/>
            <a:endCxn id="1798" idx="3"/>
          </p:cNvCxnSpPr>
          <p:nvPr/>
        </p:nvCxnSpPr>
        <p:spPr>
          <a:xfrm flipH="1" rot="10800000">
            <a:off x="979114" y="2892300"/>
            <a:ext cx="663900" cy="15153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8" name="Google Shape;1808;p90"/>
          <p:cNvCxnSpPr>
            <a:stCxn id="1801" idx="6"/>
            <a:endCxn id="1800" idx="4"/>
          </p:cNvCxnSpPr>
          <p:nvPr/>
        </p:nvCxnSpPr>
        <p:spPr>
          <a:xfrm flipH="1" rot="10800000">
            <a:off x="2050017" y="3906525"/>
            <a:ext cx="762900" cy="6588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9" name="Google Shape;1809;p90"/>
          <p:cNvCxnSpPr>
            <a:stCxn id="1801" idx="6"/>
            <a:endCxn id="1799" idx="6"/>
          </p:cNvCxnSpPr>
          <p:nvPr/>
        </p:nvCxnSpPr>
        <p:spPr>
          <a:xfrm flipH="1" rot="10800000">
            <a:off x="2050017" y="3650025"/>
            <a:ext cx="600" cy="9153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0" name="Google Shape;1810;p90"/>
          <p:cNvCxnSpPr>
            <a:stCxn id="1800" idx="0"/>
            <a:endCxn id="1798" idx="6"/>
          </p:cNvCxnSpPr>
          <p:nvPr/>
        </p:nvCxnSpPr>
        <p:spPr>
          <a:xfrm flipH="1" rot="5400000">
            <a:off x="2068383" y="2716070"/>
            <a:ext cx="726000" cy="762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811" name="Google Shape;1811;p9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{42F7D8CA-F2D5-40DA-BD4D-01FE5F162C8E}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R = \frac{V}{E}" id="1812" name="Google Shape;1812;p9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401" y="2281825"/>
            <a:ext cx="1441196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 = \frac{6}{10}=0.6" id="1813" name="Google Shape;1813;p9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8507" y="3158445"/>
            <a:ext cx="1951922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90"/>
          <p:cNvSpPr txBox="1"/>
          <p:nvPr/>
        </p:nvSpPr>
        <p:spPr>
          <a:xfrm>
            <a:off x="6199800" y="2056526"/>
            <a:ext cx="2473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15" name="Google Shape;1815;p90"/>
          <p:cNvSpPr txBox="1"/>
          <p:nvPr/>
        </p:nvSpPr>
        <p:spPr>
          <a:xfrm>
            <a:off x="3142900" y="3799625"/>
            <a:ext cx="256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Looks like we have six reciprocal links out of a total of 10 links</a:t>
            </a:r>
            <a:endParaRPr b="1" i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