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Economica"/>
      <p:regular r:id="rId23"/>
      <p:bold r:id="rId24"/>
      <p:italic r:id="rId25"/>
      <p:boldItalic r:id="rId26"/>
    </p:embeddedFont>
    <p:embeddedFont>
      <p:font typeface="Junge"/>
      <p:regular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BFC1DA-92D7-4021-A672-BF55D7A951A9}">
  <a:tblStyle styleId="{15BFC1DA-92D7-4021-A672-BF55D7A951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Economica-bold.fntdata"/><Relationship Id="rId23" Type="http://schemas.openxmlformats.org/officeDocument/2006/relationships/font" Target="fonts/Economic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Economica-boldItalic.fntdata"/><Relationship Id="rId25" Type="http://schemas.openxmlformats.org/officeDocument/2006/relationships/font" Target="fonts/Economica-italic.fntdata"/><Relationship Id="rId28" Type="http://schemas.openxmlformats.org/officeDocument/2006/relationships/font" Target="fonts/OpenSans-regular.fntdata"/><Relationship Id="rId27" Type="http://schemas.openxmlformats.org/officeDocument/2006/relationships/font" Target="fonts/Jung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23e37d9c_0_7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23e37d9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23bbc6bb_0_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23bbc6b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23bbc6bb_0_1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23bbc6b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23bbc6bb_0_2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23bbc6b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23bbc6bb_0_2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23bbc6b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23bbc6bb_0_3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23bbc6b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23bbc6bb_0_13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23bbc6b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23bbc6bb_0_13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623bbc6b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826b246d76_0_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826b246d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23bbc6bb_0_14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623bbc6b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23bbc6bb_0_15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623bbc6b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23bbc6bb_0_16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23bbc6b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23e37d9c_0_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23e37d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23e37d9c_0_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623e37d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23e37d9c_0_1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623e37d9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623e37d9c_0_1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623e37d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modelingcommons.org/browse/one_model/4784#model_tabs_browse_nl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ctrTitle"/>
          </p:nvPr>
        </p:nvSpPr>
        <p:spPr>
          <a:xfrm>
            <a:off x="3044700" y="1030634"/>
            <a:ext cx="3054600" cy="229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How Things Spread in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229000" y="1225165"/>
            <a:ext cx="4127400" cy="33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friend jumped off a bridge would you?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question: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</a:t>
            </a:r>
            <a:r>
              <a:rPr b="1" lang="en"/>
              <a:t>many</a:t>
            </a:r>
            <a:r>
              <a:rPr lang="en"/>
              <a:t> of your friends would have to jump before you did?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your q?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actor (i) has a “threshold” for adoption q(i)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 &gt; q(i) &lt;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(i) adopts when the proportion of people who have adopted (p) </a:t>
            </a:r>
            <a:br>
              <a:rPr lang="en"/>
            </a:br>
            <a:r>
              <a:rPr lang="en"/>
              <a:t>equals q(i)</a:t>
            </a:r>
            <a:endParaRPr/>
          </a:p>
        </p:txBody>
      </p:sp>
      <p:pic>
        <p:nvPicPr>
          <p:cNvPr descr="s-shapedcurve.jpg" id="114" name="Google Shape;114;p26"/>
          <p:cNvPicPr preferRelativeResize="0"/>
          <p:nvPr/>
        </p:nvPicPr>
        <p:blipFill rotWithShape="1">
          <a:blip r:embed="rId3">
            <a:alphaModFix/>
          </a:blip>
          <a:srcRect b="4591" l="3166" r="3157" t="3599"/>
          <a:stretch/>
        </p:blipFill>
        <p:spPr>
          <a:xfrm>
            <a:off x="4299600" y="1373569"/>
            <a:ext cx="4481601" cy="3057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Granovetter and Soong’s threshold model</a:t>
            </a:r>
            <a:endParaRPr/>
          </a:p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Persons with </a:t>
            </a:r>
            <a:r>
              <a:rPr b="1" lang="en" sz="1600"/>
              <a:t>low</a:t>
            </a:r>
            <a:r>
              <a:rPr lang="en" sz="1600"/>
              <a:t> thresholds are </a:t>
            </a:r>
            <a:r>
              <a:rPr b="1" lang="en" sz="1600"/>
              <a:t>high</a:t>
            </a:r>
            <a:r>
              <a:rPr lang="en" sz="1600"/>
              <a:t> </a:t>
            </a:r>
            <a:r>
              <a:rPr b="1" lang="en" sz="1600"/>
              <a:t>risk</a:t>
            </a:r>
            <a:r>
              <a:rPr lang="en" sz="1600"/>
              <a:t> </a:t>
            </a:r>
            <a:r>
              <a:rPr b="1" lang="en" sz="1600"/>
              <a:t>early</a:t>
            </a:r>
            <a:r>
              <a:rPr lang="en" sz="1600"/>
              <a:t> adopters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Persons with </a:t>
            </a:r>
            <a:r>
              <a:rPr b="1" lang="en" sz="1600"/>
              <a:t>high</a:t>
            </a:r>
            <a:r>
              <a:rPr lang="en" sz="1600"/>
              <a:t> thresholds are </a:t>
            </a:r>
            <a:r>
              <a:rPr b="1" lang="en" sz="1600"/>
              <a:t>risk</a:t>
            </a:r>
            <a:r>
              <a:rPr lang="en" sz="1600"/>
              <a:t> </a:t>
            </a:r>
            <a:r>
              <a:rPr b="1" lang="en" sz="1600"/>
              <a:t>averse</a:t>
            </a:r>
            <a:r>
              <a:rPr lang="en" sz="1600"/>
              <a:t> </a:t>
            </a:r>
            <a:r>
              <a:rPr b="1" lang="en" sz="1600"/>
              <a:t>late</a:t>
            </a:r>
            <a:r>
              <a:rPr lang="en" sz="1600"/>
              <a:t> adopters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People have different q values: Some high, Some Low, Most in the Middle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This explains the S-shaped pattern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Slow uptake when adoption is concentrated among a few low q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Faster as the majority of middle q people join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Slow again as the last few high q people finally adopt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Variance in thresholds across people explains the typical S-shaped pattern of cumulative adoptions with initial slow uptake, rapid spread and slow saturation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Shape of the threshold distribution</a:t>
            </a:r>
            <a:r>
              <a:rPr lang="en" sz="1600"/>
              <a:t> determines the time to (or whether) the cascade becomes global (everybody adopts)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Uniform, bell-shaped, skewed,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Rogers Classification of Adopters </a:t>
            </a:r>
            <a:endParaRPr/>
          </a:p>
        </p:txBody>
      </p:sp>
      <p:pic>
        <p:nvPicPr>
          <p:cNvPr id="126" name="Google Shape;1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3879" y="1147258"/>
            <a:ext cx="4550600" cy="317388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319500" y="4218930"/>
            <a:ext cx="85206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Rogers, E.M.(1962) The Diffusion of Innovations, Free Press, New York.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threshold models are appropriate for adoptions of behaviors that are public and observable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always the 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threshold models make informational demands on individuals that are not always realistic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Ego must have a good sense of the  proportion of the population that has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relaxes the assumption that persons have global information on all adoptions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only know what their direct contacts are doing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adopt when some </a:t>
            </a:r>
            <a:r>
              <a:rPr b="1" lang="en"/>
              <a:t>proportion of their contacts </a:t>
            </a:r>
            <a:r>
              <a:rPr lang="en"/>
              <a:t>adopt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appropriate for the adoption of practices, behaviors and ideas that entails some sort of risk or uncertainty (complex contagion)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311700" y="1225212"/>
            <a:ext cx="8520600" cy="12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person (i) has some exposure e(i)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e(i) = proportion of i’s friends who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proportion of neighbors who adopt equals q(i), ego adopts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grpSp>
        <p:nvGrpSpPr>
          <p:cNvPr id="140" name="Google Shape;140;p30"/>
          <p:cNvGrpSpPr/>
          <p:nvPr/>
        </p:nvGrpSpPr>
        <p:grpSpPr>
          <a:xfrm>
            <a:off x="1270495" y="2410632"/>
            <a:ext cx="6145825" cy="2455897"/>
            <a:chOff x="1220059" y="2522616"/>
            <a:chExt cx="6733675" cy="2890651"/>
          </a:xfrm>
        </p:grpSpPr>
        <p:grpSp>
          <p:nvGrpSpPr>
            <p:cNvPr id="141" name="Google Shape;141;p30"/>
            <p:cNvGrpSpPr/>
            <p:nvPr/>
          </p:nvGrpSpPr>
          <p:grpSpPr>
            <a:xfrm>
              <a:off x="1220059" y="2882081"/>
              <a:ext cx="2653290" cy="2531090"/>
              <a:chOff x="705384" y="2978581"/>
              <a:chExt cx="2653290" cy="2531090"/>
            </a:xfrm>
          </p:grpSpPr>
          <p:grpSp>
            <p:nvGrpSpPr>
              <p:cNvPr id="142" name="Google Shape;142;p30"/>
              <p:cNvGrpSpPr/>
              <p:nvPr/>
            </p:nvGrpSpPr>
            <p:grpSpPr>
              <a:xfrm>
                <a:off x="705385" y="2978581"/>
                <a:ext cx="1003676" cy="917550"/>
                <a:chOff x="664100" y="3690700"/>
                <a:chExt cx="1488250" cy="1395725"/>
              </a:xfrm>
            </p:grpSpPr>
            <p:sp>
              <p:nvSpPr>
                <p:cNvPr id="143" name="Google Shape;143;p30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" name="Google Shape;144;p30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5" name="Google Shape;145;p30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" name="Google Shape;146;p30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" name="Google Shape;147;p30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48" name="Google Shape;148;p30"/>
                <p:cNvCxnSpPr>
                  <a:stCxn id="143" idx="7"/>
                  <a:endCxn id="144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30"/>
                <p:cNvCxnSpPr>
                  <a:stCxn id="143" idx="5"/>
                  <a:endCxn id="145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30"/>
                <p:cNvCxnSpPr>
                  <a:stCxn id="143" idx="1"/>
                  <a:endCxn id="146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30"/>
                <p:cNvCxnSpPr>
                  <a:stCxn id="143" idx="3"/>
                  <a:endCxn id="147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2" name="Google Shape;152;p30"/>
              <p:cNvGrpSpPr/>
              <p:nvPr/>
            </p:nvGrpSpPr>
            <p:grpSpPr>
              <a:xfrm>
                <a:off x="2354847" y="2978581"/>
                <a:ext cx="1003676" cy="917550"/>
                <a:chOff x="664100" y="3690700"/>
                <a:chExt cx="1488250" cy="1395725"/>
              </a:xfrm>
            </p:grpSpPr>
            <p:sp>
              <p:nvSpPr>
                <p:cNvPr id="153" name="Google Shape;153;p30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" name="Google Shape;154;p30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" name="Google Shape;155;p30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30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" name="Google Shape;157;p30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58" name="Google Shape;158;p30"/>
                <p:cNvCxnSpPr>
                  <a:stCxn id="153" idx="7"/>
                  <a:endCxn id="154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30"/>
                <p:cNvCxnSpPr>
                  <a:stCxn id="153" idx="5"/>
                  <a:endCxn id="155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30"/>
                <p:cNvCxnSpPr>
                  <a:stCxn id="153" idx="1"/>
                  <a:endCxn id="156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30"/>
                <p:cNvCxnSpPr>
                  <a:stCxn id="153" idx="3"/>
                  <a:endCxn id="157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2" name="Google Shape;162;p30"/>
              <p:cNvGrpSpPr/>
              <p:nvPr/>
            </p:nvGrpSpPr>
            <p:grpSpPr>
              <a:xfrm>
                <a:off x="705384" y="4307705"/>
                <a:ext cx="1003676" cy="917550"/>
                <a:chOff x="664100" y="3690700"/>
                <a:chExt cx="1488250" cy="1395725"/>
              </a:xfrm>
            </p:grpSpPr>
            <p:sp>
              <p:nvSpPr>
                <p:cNvPr id="163" name="Google Shape;163;p30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" name="Google Shape;164;p30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" name="Google Shape;165;p30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" name="Google Shape;166;p30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" name="Google Shape;167;p30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68" name="Google Shape;168;p30"/>
                <p:cNvCxnSpPr>
                  <a:stCxn id="163" idx="7"/>
                  <a:endCxn id="164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30"/>
                <p:cNvCxnSpPr>
                  <a:stCxn id="163" idx="5"/>
                  <a:endCxn id="165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30"/>
                <p:cNvCxnSpPr>
                  <a:stCxn id="163" idx="1"/>
                  <a:endCxn id="166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30"/>
                <p:cNvCxnSpPr>
                  <a:stCxn id="163" idx="3"/>
                  <a:endCxn id="167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72" name="Google Shape;172;p30"/>
              <p:cNvGrpSpPr/>
              <p:nvPr/>
            </p:nvGrpSpPr>
            <p:grpSpPr>
              <a:xfrm>
                <a:off x="2354847" y="4307705"/>
                <a:ext cx="1003676" cy="917550"/>
                <a:chOff x="664100" y="3690700"/>
                <a:chExt cx="1488250" cy="1395725"/>
              </a:xfrm>
            </p:grpSpPr>
            <p:sp>
              <p:nvSpPr>
                <p:cNvPr id="173" name="Google Shape;173;p30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" name="Google Shape;174;p30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" name="Google Shape;175;p30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" name="Google Shape;176;p30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" name="Google Shape;177;p30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78" name="Google Shape;178;p30"/>
                <p:cNvCxnSpPr>
                  <a:stCxn id="173" idx="7"/>
                  <a:endCxn id="174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30"/>
                <p:cNvCxnSpPr>
                  <a:stCxn id="173" idx="5"/>
                  <a:endCxn id="175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30"/>
                <p:cNvCxnSpPr>
                  <a:stCxn id="173" idx="1"/>
                  <a:endCxn id="176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30"/>
                <p:cNvCxnSpPr>
                  <a:stCxn id="173" idx="3"/>
                  <a:endCxn id="177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82" name="Google Shape;182;p30"/>
              <p:cNvSpPr txBox="1"/>
              <p:nvPr/>
            </p:nvSpPr>
            <p:spPr>
              <a:xfrm>
                <a:off x="848600" y="3856088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1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183" name="Google Shape;183;p30"/>
              <p:cNvSpPr txBox="1"/>
              <p:nvPr/>
            </p:nvSpPr>
            <p:spPr>
              <a:xfrm>
                <a:off x="2411490" y="3856081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2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184" name="Google Shape;184;p30"/>
              <p:cNvSpPr txBox="1"/>
              <p:nvPr/>
            </p:nvSpPr>
            <p:spPr>
              <a:xfrm>
                <a:off x="827263" y="5225271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3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185" name="Google Shape;185;p30"/>
              <p:cNvSpPr txBox="1"/>
              <p:nvPr/>
            </p:nvSpPr>
            <p:spPr>
              <a:xfrm>
                <a:off x="2422374" y="5225258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4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</p:grpSp>
        <p:sp>
          <p:nvSpPr>
            <p:cNvPr id="186" name="Google Shape;186;p30"/>
            <p:cNvSpPr txBox="1"/>
            <p:nvPr/>
          </p:nvSpPr>
          <p:spPr>
            <a:xfrm>
              <a:off x="1363264" y="2522616"/>
              <a:ext cx="2044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Junge"/>
                  <a:ea typeface="Junge"/>
                  <a:cs typeface="Junge"/>
                  <a:sym typeface="Junge"/>
                </a:rPr>
                <a:t>Person 1: q = 0.25</a:t>
              </a:r>
              <a:endParaRPr b="1">
                <a:latin typeface="Junge"/>
                <a:ea typeface="Junge"/>
                <a:cs typeface="Junge"/>
                <a:sym typeface="Junge"/>
              </a:endParaRPr>
            </a:p>
          </p:txBody>
        </p:sp>
        <p:grpSp>
          <p:nvGrpSpPr>
            <p:cNvPr id="187" name="Google Shape;187;p30"/>
            <p:cNvGrpSpPr/>
            <p:nvPr/>
          </p:nvGrpSpPr>
          <p:grpSpPr>
            <a:xfrm>
              <a:off x="5300632" y="2882213"/>
              <a:ext cx="2653102" cy="2531055"/>
              <a:chOff x="5911807" y="2978713"/>
              <a:chExt cx="2653102" cy="2531055"/>
            </a:xfrm>
          </p:grpSpPr>
          <p:grpSp>
            <p:nvGrpSpPr>
              <p:cNvPr id="188" name="Google Shape;188;p30"/>
              <p:cNvGrpSpPr/>
              <p:nvPr/>
            </p:nvGrpSpPr>
            <p:grpSpPr>
              <a:xfrm>
                <a:off x="5911808" y="2978713"/>
                <a:ext cx="984329" cy="917689"/>
                <a:chOff x="664100" y="3690700"/>
                <a:chExt cx="1488250" cy="1395725"/>
              </a:xfrm>
            </p:grpSpPr>
            <p:sp>
              <p:nvSpPr>
                <p:cNvPr id="189" name="Google Shape;189;p30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30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30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" name="Google Shape;192;p30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" name="Google Shape;193;p30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94" name="Google Shape;194;p30"/>
                <p:cNvCxnSpPr>
                  <a:stCxn id="189" idx="7"/>
                  <a:endCxn id="190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5" name="Google Shape;195;p30"/>
                <p:cNvCxnSpPr>
                  <a:stCxn id="189" idx="5"/>
                  <a:endCxn id="191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6" name="Google Shape;196;p30"/>
                <p:cNvCxnSpPr>
                  <a:stCxn id="189" idx="1"/>
                  <a:endCxn id="192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7" name="Google Shape;197;p30"/>
                <p:cNvCxnSpPr>
                  <a:stCxn id="189" idx="3"/>
                  <a:endCxn id="193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8" name="Google Shape;198;p30"/>
              <p:cNvGrpSpPr/>
              <p:nvPr/>
            </p:nvGrpSpPr>
            <p:grpSpPr>
              <a:xfrm>
                <a:off x="7529300" y="2978713"/>
                <a:ext cx="984329" cy="917689"/>
                <a:chOff x="664100" y="3690700"/>
                <a:chExt cx="1488250" cy="1395725"/>
              </a:xfrm>
            </p:grpSpPr>
            <p:sp>
              <p:nvSpPr>
                <p:cNvPr id="199" name="Google Shape;199;p30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" name="Google Shape;200;p30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30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" name="Google Shape;202;p30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" name="Google Shape;203;p30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04" name="Google Shape;204;p30"/>
                <p:cNvCxnSpPr>
                  <a:stCxn id="199" idx="7"/>
                  <a:endCxn id="200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5" name="Google Shape;205;p30"/>
                <p:cNvCxnSpPr>
                  <a:stCxn id="199" idx="5"/>
                  <a:endCxn id="201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6" name="Google Shape;206;p30"/>
                <p:cNvCxnSpPr>
                  <a:stCxn id="199" idx="1"/>
                  <a:endCxn id="202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7" name="Google Shape;207;p30"/>
                <p:cNvCxnSpPr>
                  <a:stCxn id="199" idx="3"/>
                  <a:endCxn id="203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08" name="Google Shape;208;p30"/>
              <p:cNvGrpSpPr/>
              <p:nvPr/>
            </p:nvGrpSpPr>
            <p:grpSpPr>
              <a:xfrm>
                <a:off x="5911807" y="4307925"/>
                <a:ext cx="984329" cy="917689"/>
                <a:chOff x="664100" y="3690700"/>
                <a:chExt cx="1488250" cy="1395725"/>
              </a:xfrm>
            </p:grpSpPr>
            <p:sp>
              <p:nvSpPr>
                <p:cNvPr id="209" name="Google Shape;209;p30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" name="Google Shape;210;p30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" name="Google Shape;211;p30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" name="Google Shape;212;p30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" name="Google Shape;213;p30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14" name="Google Shape;214;p30"/>
                <p:cNvCxnSpPr>
                  <a:stCxn id="209" idx="7"/>
                  <a:endCxn id="210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5" name="Google Shape;215;p30"/>
                <p:cNvCxnSpPr>
                  <a:stCxn id="209" idx="5"/>
                  <a:endCxn id="211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6" name="Google Shape;216;p30"/>
                <p:cNvCxnSpPr>
                  <a:stCxn id="209" idx="1"/>
                  <a:endCxn id="212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7" name="Google Shape;217;p30"/>
                <p:cNvCxnSpPr>
                  <a:stCxn id="209" idx="3"/>
                  <a:endCxn id="213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18" name="Google Shape;218;p30"/>
              <p:cNvGrpSpPr/>
              <p:nvPr/>
            </p:nvGrpSpPr>
            <p:grpSpPr>
              <a:xfrm>
                <a:off x="7529299" y="4307925"/>
                <a:ext cx="984329" cy="917689"/>
                <a:chOff x="664100" y="3690700"/>
                <a:chExt cx="1488250" cy="1395725"/>
              </a:xfrm>
            </p:grpSpPr>
            <p:sp>
              <p:nvSpPr>
                <p:cNvPr id="219" name="Google Shape;219;p30"/>
                <p:cNvSpPr/>
                <p:nvPr/>
              </p:nvSpPr>
              <p:spPr>
                <a:xfrm>
                  <a:off x="1193875" y="419345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" name="Google Shape;220;p30"/>
                <p:cNvSpPr/>
                <p:nvPr/>
              </p:nvSpPr>
              <p:spPr>
                <a:xfrm>
                  <a:off x="174255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" name="Google Shape;221;p30"/>
                <p:cNvSpPr/>
                <p:nvPr/>
              </p:nvSpPr>
              <p:spPr>
                <a:xfrm>
                  <a:off x="1742550" y="4717425"/>
                  <a:ext cx="409800" cy="369000"/>
                </a:xfrm>
                <a:prstGeom prst="ellipse">
                  <a:avLst/>
                </a:prstGeom>
                <a:solidFill>
                  <a:schemeClr val="lt2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" name="Google Shape;222;p30"/>
                <p:cNvSpPr/>
                <p:nvPr/>
              </p:nvSpPr>
              <p:spPr>
                <a:xfrm>
                  <a:off x="664100" y="3690700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" name="Google Shape;223;p30"/>
                <p:cNvSpPr/>
                <p:nvPr/>
              </p:nvSpPr>
              <p:spPr>
                <a:xfrm>
                  <a:off x="664100" y="4717425"/>
                  <a:ext cx="409800" cy="369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90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24" name="Google Shape;224;p30"/>
                <p:cNvCxnSpPr>
                  <a:stCxn id="219" idx="7"/>
                  <a:endCxn id="220" idx="3"/>
                </p:cNvCxnSpPr>
                <p:nvPr/>
              </p:nvCxnSpPr>
              <p:spPr>
                <a:xfrm flipH="1" rot="10800000">
                  <a:off x="1543661" y="4005689"/>
                  <a:ext cx="2589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5" name="Google Shape;225;p30"/>
                <p:cNvCxnSpPr>
                  <a:stCxn id="219" idx="5"/>
                  <a:endCxn id="221" idx="1"/>
                </p:cNvCxnSpPr>
                <p:nvPr/>
              </p:nvCxnSpPr>
              <p:spPr>
                <a:xfrm>
                  <a:off x="1543661" y="4508411"/>
                  <a:ext cx="2589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6" name="Google Shape;226;p30"/>
                <p:cNvCxnSpPr>
                  <a:stCxn id="219" idx="1"/>
                  <a:endCxn id="222" idx="5"/>
                </p:cNvCxnSpPr>
                <p:nvPr/>
              </p:nvCxnSpPr>
              <p:spPr>
                <a:xfrm rot="10800000">
                  <a:off x="1013889" y="4005689"/>
                  <a:ext cx="240000" cy="241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7" name="Google Shape;227;p30"/>
                <p:cNvCxnSpPr>
                  <a:stCxn id="219" idx="3"/>
                  <a:endCxn id="223" idx="7"/>
                </p:cNvCxnSpPr>
                <p:nvPr/>
              </p:nvCxnSpPr>
              <p:spPr>
                <a:xfrm flipH="1">
                  <a:off x="1013889" y="4508411"/>
                  <a:ext cx="240000" cy="2631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28" name="Google Shape;228;p30"/>
              <p:cNvSpPr txBox="1"/>
              <p:nvPr/>
            </p:nvSpPr>
            <p:spPr>
              <a:xfrm>
                <a:off x="6033625" y="3891258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1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29" name="Google Shape;229;p30"/>
              <p:cNvSpPr txBox="1"/>
              <p:nvPr/>
            </p:nvSpPr>
            <p:spPr>
              <a:xfrm>
                <a:off x="7577307" y="3856544"/>
                <a:ext cx="9363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2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30" name="Google Shape;230;p30"/>
              <p:cNvSpPr txBox="1"/>
              <p:nvPr/>
            </p:nvSpPr>
            <p:spPr>
              <a:xfrm>
                <a:off x="6033638" y="5225354"/>
                <a:ext cx="8061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3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  <p:sp>
            <p:nvSpPr>
              <p:cNvPr id="231" name="Google Shape;231;p30"/>
              <p:cNvSpPr txBox="1"/>
              <p:nvPr/>
            </p:nvSpPr>
            <p:spPr>
              <a:xfrm>
                <a:off x="7577309" y="5225367"/>
                <a:ext cx="9876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latin typeface="Junge"/>
                    <a:ea typeface="Junge"/>
                    <a:cs typeface="Junge"/>
                    <a:sym typeface="Junge"/>
                  </a:rPr>
                  <a:t>Time 4</a:t>
                </a:r>
                <a:endParaRPr b="1">
                  <a:latin typeface="Junge"/>
                  <a:ea typeface="Junge"/>
                  <a:cs typeface="Junge"/>
                  <a:sym typeface="Junge"/>
                </a:endParaRPr>
              </a:p>
            </p:txBody>
          </p:sp>
        </p:grpSp>
        <p:sp>
          <p:nvSpPr>
            <p:cNvPr id="232" name="Google Shape;232;p30"/>
            <p:cNvSpPr txBox="1"/>
            <p:nvPr/>
          </p:nvSpPr>
          <p:spPr>
            <a:xfrm>
              <a:off x="5443687" y="2522616"/>
              <a:ext cx="2044200" cy="2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Junge"/>
                  <a:ea typeface="Junge"/>
                  <a:cs typeface="Junge"/>
                  <a:sym typeface="Junge"/>
                </a:rPr>
                <a:t>Person 2: q = 0.75</a:t>
              </a:r>
              <a:endParaRPr b="1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before, everybody has a threshold q(i)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proportion of neighbors who have adopted equals q(i), the person adopts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then redefine adopter categories (e.g. innovators) as either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Relative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Whole network/population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Relative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Ego-network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instance you can be an innovator in the grand scheme of things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 relative laggard compared to your friends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all of your friends are innovators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be a laggard in the grand scheme of things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be an innovator among your friends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you are surrounded by even bigger laggards!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11700" y="1225208"/>
            <a:ext cx="8520600" cy="13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Revisiting the Roger’s classification using Valente’s model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5" name="Google Shape;245;p32"/>
          <p:cNvGraphicFramePr/>
          <p:nvPr/>
        </p:nvGraphicFramePr>
        <p:xfrm>
          <a:off x="3606275" y="3086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{15BFC1DA-92D7-4021-A672-BF55D7A951A9}</a:tableStyleId>
              </a:tblPr>
              <a:tblGrid>
                <a:gridCol w="2327250"/>
                <a:gridCol w="2327250"/>
              </a:tblGrid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</a:tbl>
          </a:graphicData>
        </a:graphic>
      </p:graphicFrame>
      <p:sp>
        <p:nvSpPr>
          <p:cNvPr id="246" name="Google Shape;246;p32"/>
          <p:cNvSpPr txBox="1"/>
          <p:nvPr/>
        </p:nvSpPr>
        <p:spPr>
          <a:xfrm>
            <a:off x="2856575" y="3088440"/>
            <a:ext cx="7497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840825" y="3088439"/>
            <a:ext cx="20685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3606275" y="2686185"/>
            <a:ext cx="4654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3795575" y="2489614"/>
            <a:ext cx="4465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311700" y="1225208"/>
            <a:ext cx="8520600" cy="13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Revisiting the Roger’s classification using Valente’s model: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Who's an “opinion leader”?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Early adopters who convince those with higher network thresholds (but similar system threshold) to adopt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6" name="Google Shape;256;p33"/>
          <p:cNvGraphicFramePr/>
          <p:nvPr/>
        </p:nvGraphicFramePr>
        <p:xfrm>
          <a:off x="3606275" y="3086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{15BFC1DA-92D7-4021-A672-BF55D7A951A9}</a:tableStyleId>
              </a:tblPr>
              <a:tblGrid>
                <a:gridCol w="2327250"/>
                <a:gridCol w="2327250"/>
              </a:tblGrid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b="1"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</a:tbl>
          </a:graphicData>
        </a:graphic>
      </p:graphicFrame>
      <p:sp>
        <p:nvSpPr>
          <p:cNvPr id="257" name="Google Shape;257;p33"/>
          <p:cNvSpPr txBox="1"/>
          <p:nvPr/>
        </p:nvSpPr>
        <p:spPr>
          <a:xfrm>
            <a:off x="2856575" y="3088440"/>
            <a:ext cx="7497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33"/>
          <p:cNvSpPr txBox="1"/>
          <p:nvPr/>
        </p:nvSpPr>
        <p:spPr>
          <a:xfrm>
            <a:off x="840825" y="3088439"/>
            <a:ext cx="20685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33"/>
          <p:cNvSpPr txBox="1"/>
          <p:nvPr/>
        </p:nvSpPr>
        <p:spPr>
          <a:xfrm>
            <a:off x="3606275" y="2686185"/>
            <a:ext cx="4654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3795575" y="2489614"/>
            <a:ext cx="4465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266" name="Google Shape;266;p34"/>
          <p:cNvSpPr txBox="1"/>
          <p:nvPr>
            <p:ph idx="1" type="body"/>
          </p:nvPr>
        </p:nvSpPr>
        <p:spPr>
          <a:xfrm>
            <a:off x="311700" y="1225222"/>
            <a:ext cx="8520600" cy="11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seems to reflect a Local/Cosmopolitan split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67" name="Google Shape;267;p34"/>
          <p:cNvGraphicFramePr/>
          <p:nvPr/>
        </p:nvGraphicFramePr>
        <p:xfrm>
          <a:off x="3606275" y="3086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{15BFC1DA-92D7-4021-A672-BF55D7A951A9}</a:tableStyleId>
              </a:tblPr>
              <a:tblGrid>
                <a:gridCol w="2327250"/>
                <a:gridCol w="2327250"/>
              </a:tblGrid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</a:tbl>
          </a:graphicData>
        </a:graphic>
      </p:graphicFrame>
      <p:sp>
        <p:nvSpPr>
          <p:cNvPr id="268" name="Google Shape;268;p34"/>
          <p:cNvSpPr txBox="1"/>
          <p:nvPr/>
        </p:nvSpPr>
        <p:spPr>
          <a:xfrm>
            <a:off x="2856575" y="3088440"/>
            <a:ext cx="7497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840825" y="3088439"/>
            <a:ext cx="20685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3606275" y="2686185"/>
            <a:ext cx="4654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3795575" y="2489614"/>
            <a:ext cx="4465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Valente’s Network Threshold Model</a:t>
            </a:r>
            <a:endParaRPr/>
          </a:p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311700" y="1225221"/>
            <a:ext cx="8520600" cy="12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threshold model makes sense of a lot of classic findings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early adopters adopt from media or weak ties, late adopters adopt from their friends/strong ties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Cosmopolitan innovators tend to be early adopters relative to the system and have very low threshold relative to their network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8" name="Google Shape;278;p35"/>
          <p:cNvGraphicFramePr/>
          <p:nvPr/>
        </p:nvGraphicFramePr>
        <p:xfrm>
          <a:off x="3606275" y="3086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{15BFC1DA-92D7-4021-A672-BF55D7A951A9}</a:tableStyleId>
              </a:tblPr>
              <a:tblGrid>
                <a:gridCol w="2327250"/>
                <a:gridCol w="2327250"/>
              </a:tblGrid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True innovators (influentials)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Isolates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  <a:tr h="68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Connected Bandwagon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Resistant rearguard</a:t>
                      </a:r>
                      <a:endParaRPr i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/>
                </a:tc>
              </a:tr>
            </a:tbl>
          </a:graphicData>
        </a:graphic>
      </p:graphicFrame>
      <p:sp>
        <p:nvSpPr>
          <p:cNvPr id="279" name="Google Shape;279;p35"/>
          <p:cNvSpPr txBox="1"/>
          <p:nvPr/>
        </p:nvSpPr>
        <p:spPr>
          <a:xfrm>
            <a:off x="2856575" y="3088440"/>
            <a:ext cx="7497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35"/>
          <p:cNvSpPr txBox="1"/>
          <p:nvPr/>
        </p:nvSpPr>
        <p:spPr>
          <a:xfrm>
            <a:off x="840825" y="3088439"/>
            <a:ext cx="2068500" cy="13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Personal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3606275" y="2686185"/>
            <a:ext cx="46545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Low				       High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35"/>
          <p:cNvSpPr txBox="1"/>
          <p:nvPr/>
        </p:nvSpPr>
        <p:spPr>
          <a:xfrm>
            <a:off x="3795575" y="2489614"/>
            <a:ext cx="44652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Whole Network Threshold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findings of research on innovation diffusion</a:t>
            </a:r>
            <a:endParaRPr/>
          </a:p>
        </p:txBody>
      </p:sp>
      <p:sp>
        <p:nvSpPr>
          <p:cNvPr id="288" name="Google Shape;288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Early adopters (innovators, opinion leaders) are well-connected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Central, well-integrated, prominent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Well connected persons more likely to adopt innovations with low cost/benefit ratios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Peripheral persons less likely to adopt risky innovations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Cost/benefit ratio is high; uncertainty in payoff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Risk-taking linked to reputation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isolates more likely to be “laggards”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Being a bridge is associated with early adoption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Betweenness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294" name="Google Shape;294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in the propensity to adopt an innovation can be modeled as a threshold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thresholds may not be fixed for individuals regardless of what is being diffused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Thresholds may depend on the characteristics of what is being diffused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 threshold -&gt; Low risk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High threshold -&gt; High risk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(e.g. gossip) that carry little risk may in their turn elicit a very low threshold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limiting case, the person adopts as soon as one of their neighbors adopts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difference between </a:t>
            </a:r>
            <a:r>
              <a:rPr b="1" lang="en"/>
              <a:t>simplex </a:t>
            </a:r>
            <a:r>
              <a:rPr lang="en"/>
              <a:t>and </a:t>
            </a:r>
            <a:r>
              <a:rPr b="1" lang="en"/>
              <a:t>complex </a:t>
            </a:r>
            <a:r>
              <a:rPr lang="en"/>
              <a:t>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basic idea is that certain innovations can only diffuse via complex contagion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simplex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Information, gossip, disease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complex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risk social movement participation, religious conversion, migration,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06" name="Google Shape;306;p3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social mechanisms that require that innovations diffuse via complex contagion: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Strategic complementarity: </a:t>
            </a:r>
            <a:r>
              <a:rPr lang="en"/>
              <a:t>(adoption cost declines as a function of existing adopters)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Legitimacy:</a:t>
            </a:r>
            <a:r>
              <a:rPr lang="en"/>
              <a:t> Resistance to challenge, collective acceptance, and taken-for-grantedness increases the number of adopters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Credibility:</a:t>
            </a:r>
            <a:r>
              <a:rPr lang="en"/>
              <a:t> Innovations are viewed as more trustworthy and less risky when high status members of the community also adopt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Emotional contagion: </a:t>
            </a:r>
            <a:r>
              <a:rPr lang="en"/>
              <a:t>Cumulative interaction with a large number of adopters leads persons to adopt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312" name="Google Shape;312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Weakness of long ties argument (Centola and Macy 2007):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 (weak) ties help to spread things in networks faster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only for things that spread via simplex contagions!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not up to task when it comes to complex contagion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addition to length, complex contagions require bridges to be wide </a:t>
            </a:r>
            <a:r>
              <a:rPr lang="en"/>
              <a:t>with</a:t>
            </a:r>
            <a:r>
              <a:rPr lang="en"/>
              <a:t> high bandwidth (Aral and Van Alstyne 2011)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Complex contagions require multiple redundant contacts;  a single bridge (even if high bandwidth) won’t do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