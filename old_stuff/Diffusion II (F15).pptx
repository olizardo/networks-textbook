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9144000"/>
  <p:notesSz cx="6858000" cy="9144000"/>
  <p:embeddedFontLst>
    <p:embeddedFont>
      <p:font typeface="Josefin Slab"/>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FC8D45-62BA-438D-A1D1-D63F97C68FF8}">
  <a:tblStyle styleId="{50FC8D45-62BA-438D-A1D1-D63F97C68FF8}"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JosefinSlab-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JosefinSlab-italic.fntdata"/><Relationship Id="rId10" Type="http://schemas.openxmlformats.org/officeDocument/2006/relationships/slide" Target="slides/slide5.xml"/><Relationship Id="rId32" Type="http://schemas.openxmlformats.org/officeDocument/2006/relationships/font" Target="fonts/JosefinSlab-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JosefinSlab-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g19b53bab3_0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 name="Google Shape;33;g19b53bab3_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
        <p:nvSpPr>
          <p:cNvPr id="40" name="Google Shape;4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g19b53bab3_0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 name="Google Shape;46;g19b53bab3_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19b53bab3_0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19b53bab3_0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19b53bab3_0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19b53bab3_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9b53bab3_0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9b53bab3_0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9b53bab3_0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9b53bab3_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9b53bab3_0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9b53bab3_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9b53bab3_0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9b53bab3_0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9b53bab3_0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9b53bab3_0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9b53bab3_0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9b53bab3_0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9b53bab3_0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9b53bab3_0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9b53bab3_0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9b53bab3_0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9b53bab3_0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9b53bab3_0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d26b750a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d26b750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d26b750a1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d26b750a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d26b750a1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d26b750a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9b53bab3_01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9b53bab3_0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9b53bab3_01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9b53bab3_0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9b53bab3_01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9b53bab3_0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9b53bab3_01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9b53bab3_0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9b53bab3_0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9b53bab3_0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bdb117ef_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bdb117ef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d26b750a1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d26b750a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d26b750a1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d26b750a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57200" y="751680"/>
            <a:ext cx="8229600" cy="4012500"/>
          </a:xfrm>
          <a:prstGeom prst="rect">
            <a:avLst/>
          </a:prstGeom>
          <a:noFill/>
          <a:ln>
            <a:noFill/>
          </a:ln>
        </p:spPr>
        <p:txBody>
          <a:bodyPr anchorCtr="0" anchor="t" bIns="91425" lIns="91425" spcFirstLastPara="1" rIns="91425" wrap="square" tIns="91425">
            <a:noAutofit/>
          </a:bodyPr>
          <a:lstStyle>
            <a:lvl1pPr lvl="0"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1pPr>
            <a:lvl2pPr lvl="1"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2pPr>
            <a:lvl3pPr lvl="2"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3pPr>
            <a:lvl4pPr lvl="3"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4pPr>
            <a:lvl5pPr lvl="4"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5pPr>
            <a:lvl6pPr lvl="5"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6pPr>
            <a:lvl7pPr lvl="6"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7pPr>
            <a:lvl8pPr lvl="7"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8pPr>
            <a:lvl9pPr lvl="8" rtl="0" algn="l">
              <a:spcBef>
                <a:spcPts val="0"/>
              </a:spcBef>
              <a:spcAft>
                <a:spcPts val="0"/>
              </a:spcAft>
              <a:buClr>
                <a:schemeClr val="accent1"/>
              </a:buClr>
              <a:buSzPts val="7200"/>
              <a:buFont typeface="Arial"/>
              <a:buNone/>
              <a:defRPr b="1" i="0" sz="7200" u="none" cap="none" strike="noStrike">
                <a:solidFill>
                  <a:schemeClr val="accent1"/>
                </a:solidFill>
                <a:latin typeface="Arial"/>
                <a:ea typeface="Arial"/>
                <a:cs typeface="Arial"/>
                <a:sym typeface="Arial"/>
              </a:defRPr>
            </a:lvl9pPr>
          </a:lstStyle>
          <a:p/>
        </p:txBody>
      </p:sp>
      <p:sp>
        <p:nvSpPr>
          <p:cNvPr id="11" name="Google Shape;11;p2"/>
          <p:cNvSpPr txBox="1"/>
          <p:nvPr>
            <p:ph idx="1" type="subTitle"/>
          </p:nvPr>
        </p:nvSpPr>
        <p:spPr>
          <a:xfrm>
            <a:off x="457200" y="4955190"/>
            <a:ext cx="8229600" cy="1643400"/>
          </a:xfrm>
          <a:prstGeom prst="rect">
            <a:avLst/>
          </a:prstGeom>
          <a:noFill/>
          <a:ln>
            <a:noFill/>
          </a:ln>
        </p:spPr>
        <p:txBody>
          <a:bodyPr anchorCtr="0" anchor="t" bIns="91425" lIns="91425" spcFirstLastPara="1" rIns="91425" wrap="square" tIns="91425">
            <a:noAutofit/>
          </a:bodyPr>
          <a:lstStyle>
            <a:lvl1pPr lvl="0"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1pPr>
            <a:lvl2pPr lvl="1"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2pPr>
            <a:lvl3pPr lvl="2"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3pPr>
            <a:lvl4pPr lvl="3"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4pPr>
            <a:lvl5pPr lvl="4"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5pPr>
            <a:lvl6pPr lvl="5"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6pPr>
            <a:lvl7pPr lvl="6"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7pPr>
            <a:lvl8pPr lvl="7"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8pPr>
            <a:lvl9pPr lvl="8" rtl="0" algn="l">
              <a:spcBef>
                <a:spcPts val="0"/>
              </a:spcBef>
              <a:spcAft>
                <a:spcPts val="0"/>
              </a:spcAft>
              <a:buClr>
                <a:schemeClr val="dk2"/>
              </a:buClr>
              <a:buSzPts val="4800"/>
              <a:buFont typeface="Arial"/>
              <a:buNone/>
              <a:defRPr b="0" i="0" sz="4800" u="none" cap="none" strike="noStrike">
                <a:solidFill>
                  <a:schemeClr val="dk2"/>
                </a:solidFill>
                <a:latin typeface="Arial"/>
                <a:ea typeface="Arial"/>
                <a:cs typeface="Arial"/>
                <a:sym typeface="Arial"/>
              </a:defRPr>
            </a:lvl9pPr>
          </a:lstStyle>
          <a:p/>
        </p:txBody>
      </p:sp>
      <p:cxnSp>
        <p:nvCxnSpPr>
          <p:cNvPr id="12" name="Google Shape;12;p2"/>
          <p:cNvCxnSpPr/>
          <p:nvPr/>
        </p:nvCxnSpPr>
        <p:spPr>
          <a:xfrm>
            <a:off x="457200" y="548640"/>
            <a:ext cx="8229600" cy="0"/>
          </a:xfrm>
          <a:prstGeom prst="straightConnector1">
            <a:avLst/>
          </a:prstGeom>
          <a:noFill/>
          <a:ln cap="flat" cmpd="sng" w="57150">
            <a:solidFill>
              <a:schemeClr val="accent1"/>
            </a:solidFill>
            <a:prstDash val="solid"/>
            <a:round/>
            <a:headEnd len="sm" w="sm" type="none"/>
            <a:tailEnd len="sm" w="sm" type="none"/>
          </a:ln>
        </p:spPr>
      </p:cxnSp>
      <p:cxnSp>
        <p:nvCxnSpPr>
          <p:cNvPr id="13" name="Google Shape;13;p2"/>
          <p:cNvCxnSpPr/>
          <p:nvPr/>
        </p:nvCxnSpPr>
        <p:spPr>
          <a:xfrm>
            <a:off x="457200" y="4844510"/>
            <a:ext cx="8229600" cy="0"/>
          </a:xfrm>
          <a:prstGeom prst="straightConnector1">
            <a:avLst/>
          </a:prstGeom>
          <a:noFill/>
          <a:ln cap="flat" cmpd="sng" w="571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3600"/>
              <a:buNone/>
              <a:defRPr>
                <a:solidFill>
                  <a:srgbClr val="DA0002"/>
                </a:solidFill>
              </a:defRPr>
            </a:lvl1pPr>
            <a:lvl2pPr lvl="1" rtl="0">
              <a:spcBef>
                <a:spcPts val="0"/>
              </a:spcBef>
              <a:spcAft>
                <a:spcPts val="0"/>
              </a:spcAft>
              <a:buSzPts val="3600"/>
              <a:buNone/>
              <a:defRPr>
                <a:solidFill>
                  <a:srgbClr val="DA0002"/>
                </a:solidFill>
              </a:defRPr>
            </a:lvl2pPr>
            <a:lvl3pPr lvl="2" rtl="0">
              <a:spcBef>
                <a:spcPts val="0"/>
              </a:spcBef>
              <a:spcAft>
                <a:spcPts val="0"/>
              </a:spcAft>
              <a:buSzPts val="3600"/>
              <a:buNone/>
              <a:defRPr>
                <a:solidFill>
                  <a:srgbClr val="DA0002"/>
                </a:solidFill>
              </a:defRPr>
            </a:lvl3pPr>
            <a:lvl4pPr lvl="3" rtl="0">
              <a:spcBef>
                <a:spcPts val="0"/>
              </a:spcBef>
              <a:spcAft>
                <a:spcPts val="0"/>
              </a:spcAft>
              <a:buSzPts val="3600"/>
              <a:buNone/>
              <a:defRPr>
                <a:solidFill>
                  <a:srgbClr val="DA0002"/>
                </a:solidFill>
              </a:defRPr>
            </a:lvl4pPr>
            <a:lvl5pPr lvl="4" rtl="0">
              <a:spcBef>
                <a:spcPts val="0"/>
              </a:spcBef>
              <a:spcAft>
                <a:spcPts val="0"/>
              </a:spcAft>
              <a:buSzPts val="3600"/>
              <a:buNone/>
              <a:defRPr>
                <a:solidFill>
                  <a:srgbClr val="DA0002"/>
                </a:solidFill>
              </a:defRPr>
            </a:lvl5pPr>
            <a:lvl6pPr lvl="5" rtl="0">
              <a:spcBef>
                <a:spcPts val="0"/>
              </a:spcBef>
              <a:spcAft>
                <a:spcPts val="0"/>
              </a:spcAft>
              <a:buSzPts val="3600"/>
              <a:buNone/>
              <a:defRPr>
                <a:solidFill>
                  <a:srgbClr val="DA0002"/>
                </a:solidFill>
              </a:defRPr>
            </a:lvl6pPr>
            <a:lvl7pPr lvl="6" rtl="0">
              <a:spcBef>
                <a:spcPts val="0"/>
              </a:spcBef>
              <a:spcAft>
                <a:spcPts val="0"/>
              </a:spcAft>
              <a:buSzPts val="3600"/>
              <a:buNone/>
              <a:defRPr>
                <a:solidFill>
                  <a:srgbClr val="DA0002"/>
                </a:solidFill>
              </a:defRPr>
            </a:lvl7pPr>
            <a:lvl8pPr lvl="7" rtl="0">
              <a:spcBef>
                <a:spcPts val="0"/>
              </a:spcBef>
              <a:spcAft>
                <a:spcPts val="0"/>
              </a:spcAft>
              <a:buSzPts val="3600"/>
              <a:buNone/>
              <a:defRPr>
                <a:solidFill>
                  <a:srgbClr val="DA0002"/>
                </a:solidFill>
              </a:defRPr>
            </a:lvl8pPr>
            <a:lvl9pPr lvl="8" rtl="0">
              <a:spcBef>
                <a:spcPts val="0"/>
              </a:spcBef>
              <a:spcAft>
                <a:spcPts val="0"/>
              </a:spcAft>
              <a:buSzPts val="3600"/>
              <a:buNone/>
              <a:defRPr>
                <a:solidFill>
                  <a:srgbClr val="DA0002"/>
                </a:solidFill>
              </a:defRPr>
            </a:lvl9pPr>
          </a:lstStyle>
          <a:p/>
        </p:txBody>
      </p:sp>
      <p:sp>
        <p:nvSpPr>
          <p:cNvPr id="16" name="Google Shape;16;p3"/>
          <p:cNvSpPr txBox="1"/>
          <p:nvPr>
            <p:ph idx="1" type="body"/>
          </p:nvPr>
        </p:nvSpPr>
        <p:spPr>
          <a:xfrm>
            <a:off x="457200" y="1600200"/>
            <a:ext cx="82296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cxnSp>
        <p:nvCxnSpPr>
          <p:cNvPr id="17" name="Google Shape;17;p3"/>
          <p:cNvCxnSpPr/>
          <p:nvPr/>
        </p:nvCxnSpPr>
        <p:spPr>
          <a:xfrm>
            <a:off x="457200" y="1524000"/>
            <a:ext cx="8229600" cy="0"/>
          </a:xfrm>
          <a:prstGeom prst="straightConnector1">
            <a:avLst/>
          </a:prstGeom>
          <a:noFill/>
          <a:ln cap="flat" cmpd="sng" w="50800">
            <a:solidFill>
              <a:srgbClr val="DA0002"/>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4"/>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3600"/>
              <a:buNone/>
              <a:defRPr>
                <a:solidFill>
                  <a:srgbClr val="DA0002"/>
                </a:solidFill>
              </a:defRPr>
            </a:lvl1pPr>
            <a:lvl2pPr lvl="1" rtl="0">
              <a:spcBef>
                <a:spcPts val="0"/>
              </a:spcBef>
              <a:spcAft>
                <a:spcPts val="0"/>
              </a:spcAft>
              <a:buSzPts val="3600"/>
              <a:buNone/>
              <a:defRPr>
                <a:solidFill>
                  <a:srgbClr val="DA0002"/>
                </a:solidFill>
              </a:defRPr>
            </a:lvl2pPr>
            <a:lvl3pPr lvl="2" rtl="0">
              <a:spcBef>
                <a:spcPts val="0"/>
              </a:spcBef>
              <a:spcAft>
                <a:spcPts val="0"/>
              </a:spcAft>
              <a:buSzPts val="3600"/>
              <a:buNone/>
              <a:defRPr>
                <a:solidFill>
                  <a:srgbClr val="DA0002"/>
                </a:solidFill>
              </a:defRPr>
            </a:lvl3pPr>
            <a:lvl4pPr lvl="3" rtl="0">
              <a:spcBef>
                <a:spcPts val="0"/>
              </a:spcBef>
              <a:spcAft>
                <a:spcPts val="0"/>
              </a:spcAft>
              <a:buSzPts val="3600"/>
              <a:buNone/>
              <a:defRPr>
                <a:solidFill>
                  <a:srgbClr val="DA0002"/>
                </a:solidFill>
              </a:defRPr>
            </a:lvl4pPr>
            <a:lvl5pPr lvl="4" rtl="0">
              <a:spcBef>
                <a:spcPts val="0"/>
              </a:spcBef>
              <a:spcAft>
                <a:spcPts val="0"/>
              </a:spcAft>
              <a:buSzPts val="3600"/>
              <a:buNone/>
              <a:defRPr>
                <a:solidFill>
                  <a:srgbClr val="DA0002"/>
                </a:solidFill>
              </a:defRPr>
            </a:lvl5pPr>
            <a:lvl6pPr lvl="5" rtl="0">
              <a:spcBef>
                <a:spcPts val="0"/>
              </a:spcBef>
              <a:spcAft>
                <a:spcPts val="0"/>
              </a:spcAft>
              <a:buSzPts val="3600"/>
              <a:buNone/>
              <a:defRPr>
                <a:solidFill>
                  <a:srgbClr val="DA0002"/>
                </a:solidFill>
              </a:defRPr>
            </a:lvl6pPr>
            <a:lvl7pPr lvl="6" rtl="0">
              <a:spcBef>
                <a:spcPts val="0"/>
              </a:spcBef>
              <a:spcAft>
                <a:spcPts val="0"/>
              </a:spcAft>
              <a:buSzPts val="3600"/>
              <a:buNone/>
              <a:defRPr>
                <a:solidFill>
                  <a:srgbClr val="DA0002"/>
                </a:solidFill>
              </a:defRPr>
            </a:lvl7pPr>
            <a:lvl8pPr lvl="7" rtl="0">
              <a:spcBef>
                <a:spcPts val="0"/>
              </a:spcBef>
              <a:spcAft>
                <a:spcPts val="0"/>
              </a:spcAft>
              <a:buSzPts val="3600"/>
              <a:buNone/>
              <a:defRPr>
                <a:solidFill>
                  <a:srgbClr val="DA0002"/>
                </a:solidFill>
              </a:defRPr>
            </a:lvl8pPr>
            <a:lvl9pPr lvl="8" rtl="0">
              <a:spcBef>
                <a:spcPts val="0"/>
              </a:spcBef>
              <a:spcAft>
                <a:spcPts val="0"/>
              </a:spcAft>
              <a:buSzPts val="3600"/>
              <a:buNone/>
              <a:defRPr>
                <a:solidFill>
                  <a:srgbClr val="DA0002"/>
                </a:solidFill>
              </a:defRPr>
            </a:lvl9pPr>
          </a:lstStyle>
          <a:p/>
        </p:txBody>
      </p:sp>
      <p:sp>
        <p:nvSpPr>
          <p:cNvPr id="20" name="Google Shape;20;p4"/>
          <p:cNvSpPr txBox="1"/>
          <p:nvPr>
            <p:ph idx="1" type="body"/>
          </p:nvPr>
        </p:nvSpPr>
        <p:spPr>
          <a:xfrm>
            <a:off x="457200" y="1600200"/>
            <a:ext cx="39945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21" name="Google Shape;21;p4"/>
          <p:cNvSpPr txBox="1"/>
          <p:nvPr>
            <p:ph idx="2" type="body"/>
          </p:nvPr>
        </p:nvSpPr>
        <p:spPr>
          <a:xfrm>
            <a:off x="4692274" y="1600200"/>
            <a:ext cx="3994500" cy="4967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cxnSp>
        <p:nvCxnSpPr>
          <p:cNvPr id="22" name="Google Shape;22;p4"/>
          <p:cNvCxnSpPr/>
          <p:nvPr/>
        </p:nvCxnSpPr>
        <p:spPr>
          <a:xfrm>
            <a:off x="457200" y="1524000"/>
            <a:ext cx="8229600" cy="0"/>
          </a:xfrm>
          <a:prstGeom prst="straightConnector1">
            <a:avLst/>
          </a:prstGeom>
          <a:noFill/>
          <a:ln cap="flat" cmpd="sng" w="50800">
            <a:solidFill>
              <a:srgbClr val="DA0002"/>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5"/>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3600"/>
              <a:buNone/>
              <a:defRPr>
                <a:solidFill>
                  <a:schemeClr val="accent1"/>
                </a:solidFill>
              </a:defRPr>
            </a:lvl1pPr>
            <a:lvl2pPr lvl="1" rtl="0">
              <a:spcBef>
                <a:spcPts val="0"/>
              </a:spcBef>
              <a:spcAft>
                <a:spcPts val="0"/>
              </a:spcAft>
              <a:buSzPts val="3600"/>
              <a:buNone/>
              <a:defRPr>
                <a:solidFill>
                  <a:schemeClr val="accent1"/>
                </a:solidFill>
              </a:defRPr>
            </a:lvl2pPr>
            <a:lvl3pPr lvl="2" rtl="0">
              <a:spcBef>
                <a:spcPts val="0"/>
              </a:spcBef>
              <a:spcAft>
                <a:spcPts val="0"/>
              </a:spcAft>
              <a:buSzPts val="3600"/>
              <a:buNone/>
              <a:defRPr>
                <a:solidFill>
                  <a:schemeClr val="accent1"/>
                </a:solidFill>
              </a:defRPr>
            </a:lvl3pPr>
            <a:lvl4pPr lvl="3" rtl="0">
              <a:spcBef>
                <a:spcPts val="0"/>
              </a:spcBef>
              <a:spcAft>
                <a:spcPts val="0"/>
              </a:spcAft>
              <a:buSzPts val="3600"/>
              <a:buNone/>
              <a:defRPr>
                <a:solidFill>
                  <a:schemeClr val="accent1"/>
                </a:solidFill>
              </a:defRPr>
            </a:lvl4pPr>
            <a:lvl5pPr lvl="4" rtl="0">
              <a:spcBef>
                <a:spcPts val="0"/>
              </a:spcBef>
              <a:spcAft>
                <a:spcPts val="0"/>
              </a:spcAft>
              <a:buSzPts val="3600"/>
              <a:buNone/>
              <a:defRPr>
                <a:solidFill>
                  <a:schemeClr val="accent1"/>
                </a:solidFill>
              </a:defRPr>
            </a:lvl5pPr>
            <a:lvl6pPr lvl="5" rtl="0">
              <a:spcBef>
                <a:spcPts val="0"/>
              </a:spcBef>
              <a:spcAft>
                <a:spcPts val="0"/>
              </a:spcAft>
              <a:buSzPts val="3600"/>
              <a:buNone/>
              <a:defRPr>
                <a:solidFill>
                  <a:schemeClr val="accent1"/>
                </a:solidFill>
              </a:defRPr>
            </a:lvl6pPr>
            <a:lvl7pPr lvl="6" rtl="0">
              <a:spcBef>
                <a:spcPts val="0"/>
              </a:spcBef>
              <a:spcAft>
                <a:spcPts val="0"/>
              </a:spcAft>
              <a:buSzPts val="3600"/>
              <a:buNone/>
              <a:defRPr>
                <a:solidFill>
                  <a:schemeClr val="accent1"/>
                </a:solidFill>
              </a:defRPr>
            </a:lvl7pPr>
            <a:lvl8pPr lvl="7" rtl="0">
              <a:spcBef>
                <a:spcPts val="0"/>
              </a:spcBef>
              <a:spcAft>
                <a:spcPts val="0"/>
              </a:spcAft>
              <a:buSzPts val="3600"/>
              <a:buNone/>
              <a:defRPr>
                <a:solidFill>
                  <a:schemeClr val="accent1"/>
                </a:solidFill>
              </a:defRPr>
            </a:lvl8pPr>
            <a:lvl9pPr lvl="8" rtl="0">
              <a:spcBef>
                <a:spcPts val="0"/>
              </a:spcBef>
              <a:spcAft>
                <a:spcPts val="0"/>
              </a:spcAft>
              <a:buSzPts val="3600"/>
              <a:buNone/>
              <a:defRPr>
                <a:solidFill>
                  <a:schemeClr val="accent1"/>
                </a:solidFill>
              </a:defRPr>
            </a:lvl9pPr>
          </a:lstStyle>
          <a:p/>
        </p:txBody>
      </p:sp>
      <p:cxnSp>
        <p:nvCxnSpPr>
          <p:cNvPr id="25" name="Google Shape;25;p5"/>
          <p:cNvCxnSpPr/>
          <p:nvPr/>
        </p:nvCxnSpPr>
        <p:spPr>
          <a:xfrm>
            <a:off x="457200" y="1524000"/>
            <a:ext cx="8229600" cy="0"/>
          </a:xfrm>
          <a:prstGeom prst="straightConnector1">
            <a:avLst/>
          </a:prstGeom>
          <a:noFill/>
          <a:ln cap="flat" cmpd="sng" w="50800">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 name="Shape 26"/>
        <p:cNvGrpSpPr/>
        <p:nvPr/>
      </p:nvGrpSpPr>
      <p:grpSpPr>
        <a:xfrm>
          <a:off x="0" y="0"/>
          <a:ext cx="0" cy="0"/>
          <a:chOff x="0" y="0"/>
          <a:chExt cx="0" cy="0"/>
        </a:xfrm>
      </p:grpSpPr>
      <p:sp>
        <p:nvSpPr>
          <p:cNvPr id="27" name="Google Shape;27;p6"/>
          <p:cNvSpPr txBox="1"/>
          <p:nvPr>
            <p:ph idx="1" type="body"/>
          </p:nvPr>
        </p:nvSpPr>
        <p:spPr>
          <a:xfrm>
            <a:off x="457200" y="5875079"/>
            <a:ext cx="8229600" cy="692700"/>
          </a:xfrm>
          <a:prstGeom prst="rect">
            <a:avLst/>
          </a:prstGeom>
          <a:noFill/>
          <a:ln>
            <a:noFill/>
          </a:ln>
        </p:spPr>
        <p:txBody>
          <a:bodyPr anchorCtr="0" anchor="t" bIns="91425" lIns="91425" spcFirstLastPara="1" rIns="91425" wrap="square" tIns="91425">
            <a:noAutofit/>
          </a:bodyPr>
          <a:lstStyle>
            <a:lvl1pPr indent="-342900" lvl="0" marL="457200" rtl="0" algn="ctr">
              <a:lnSpc>
                <a:spcPct val="100000"/>
              </a:lnSpc>
              <a:spcBef>
                <a:spcPts val="0"/>
              </a:spcBef>
              <a:spcAft>
                <a:spcPts val="0"/>
              </a:spcAft>
              <a:buClr>
                <a:schemeClr val="dk1"/>
              </a:buClr>
              <a:buSzPts val="1800"/>
              <a:buFont typeface="Arial"/>
              <a:buChar char="●"/>
              <a:defRPr sz="1800">
                <a:solidFill>
                  <a:schemeClr val="dk1"/>
                </a:solidFill>
              </a:defRPr>
            </a:lvl1pPr>
            <a:lvl2pPr indent="-342900" lvl="1" marL="914400" rtl="0" algn="ctr">
              <a:lnSpc>
                <a:spcPct val="100000"/>
              </a:lnSpc>
              <a:spcBef>
                <a:spcPts val="0"/>
              </a:spcBef>
              <a:spcAft>
                <a:spcPts val="0"/>
              </a:spcAft>
              <a:buClr>
                <a:schemeClr val="dk1"/>
              </a:buClr>
              <a:buSzPts val="1800"/>
              <a:buFont typeface="Arial"/>
              <a:buChar char="○"/>
              <a:defRPr sz="1800">
                <a:solidFill>
                  <a:schemeClr val="dk1"/>
                </a:solidFill>
              </a:defRPr>
            </a:lvl2pPr>
            <a:lvl3pPr indent="-342900" lvl="2" marL="1371600" rtl="0" algn="ctr">
              <a:lnSpc>
                <a:spcPct val="100000"/>
              </a:lnSpc>
              <a:spcBef>
                <a:spcPts val="0"/>
              </a:spcBef>
              <a:spcAft>
                <a:spcPts val="0"/>
              </a:spcAft>
              <a:buClr>
                <a:schemeClr val="dk1"/>
              </a:buClr>
              <a:buSzPts val="1800"/>
              <a:buFont typeface="Arial"/>
              <a:buChar char="■"/>
              <a:defRPr sz="1800">
                <a:solidFill>
                  <a:schemeClr val="dk1"/>
                </a:solidFill>
              </a:defRPr>
            </a:lvl3pPr>
            <a:lvl4pPr indent="-342900" lvl="3" marL="1828800" rtl="0" algn="ctr">
              <a:lnSpc>
                <a:spcPct val="100000"/>
              </a:lnSpc>
              <a:spcBef>
                <a:spcPts val="0"/>
              </a:spcBef>
              <a:spcAft>
                <a:spcPts val="0"/>
              </a:spcAft>
              <a:buClr>
                <a:schemeClr val="dk1"/>
              </a:buClr>
              <a:buSzPts val="1800"/>
              <a:buFont typeface="Arial"/>
              <a:buChar char="●"/>
              <a:defRPr sz="1800">
                <a:solidFill>
                  <a:schemeClr val="dk1"/>
                </a:solidFill>
              </a:defRPr>
            </a:lvl4pPr>
            <a:lvl5pPr indent="-342900" lvl="4" marL="2286000" rtl="0" algn="ctr">
              <a:lnSpc>
                <a:spcPct val="100000"/>
              </a:lnSpc>
              <a:spcBef>
                <a:spcPts val="0"/>
              </a:spcBef>
              <a:spcAft>
                <a:spcPts val="0"/>
              </a:spcAft>
              <a:buClr>
                <a:schemeClr val="dk1"/>
              </a:buClr>
              <a:buSzPts val="1800"/>
              <a:buFont typeface="Arial"/>
              <a:buChar char="○"/>
              <a:defRPr sz="1800">
                <a:solidFill>
                  <a:schemeClr val="dk1"/>
                </a:solidFill>
              </a:defRPr>
            </a:lvl5pPr>
            <a:lvl6pPr indent="-342900" lvl="5" marL="2743200" rtl="0" algn="ctr">
              <a:lnSpc>
                <a:spcPct val="100000"/>
              </a:lnSpc>
              <a:spcBef>
                <a:spcPts val="0"/>
              </a:spcBef>
              <a:spcAft>
                <a:spcPts val="0"/>
              </a:spcAft>
              <a:buClr>
                <a:schemeClr val="dk1"/>
              </a:buClr>
              <a:buSzPts val="1800"/>
              <a:buFont typeface="Arial"/>
              <a:buChar char="■"/>
              <a:defRPr sz="1800">
                <a:solidFill>
                  <a:schemeClr val="dk1"/>
                </a:solidFill>
              </a:defRPr>
            </a:lvl6pPr>
            <a:lvl7pPr indent="-342900" lvl="6" marL="3200400" rtl="0" algn="ctr">
              <a:lnSpc>
                <a:spcPct val="100000"/>
              </a:lnSpc>
              <a:spcBef>
                <a:spcPts val="0"/>
              </a:spcBef>
              <a:spcAft>
                <a:spcPts val="0"/>
              </a:spcAft>
              <a:buClr>
                <a:schemeClr val="dk1"/>
              </a:buClr>
              <a:buSzPts val="1800"/>
              <a:buFont typeface="Arial"/>
              <a:buChar char="●"/>
              <a:defRPr sz="1800">
                <a:solidFill>
                  <a:schemeClr val="dk1"/>
                </a:solidFill>
              </a:defRPr>
            </a:lvl7pPr>
            <a:lvl8pPr indent="-342900" lvl="7" marL="3657600" rtl="0" algn="ctr">
              <a:lnSpc>
                <a:spcPct val="100000"/>
              </a:lnSpc>
              <a:spcBef>
                <a:spcPts val="0"/>
              </a:spcBef>
              <a:spcAft>
                <a:spcPts val="0"/>
              </a:spcAft>
              <a:buClr>
                <a:schemeClr val="dk1"/>
              </a:buClr>
              <a:buSzPts val="1800"/>
              <a:buFont typeface="Arial"/>
              <a:buChar char="○"/>
              <a:defRPr sz="1800">
                <a:solidFill>
                  <a:schemeClr val="dk1"/>
                </a:solidFill>
              </a:defRPr>
            </a:lvl8pPr>
            <a:lvl9pPr indent="-342900" lvl="8" marL="4114800" rtl="0" algn="ctr">
              <a:lnSpc>
                <a:spcPct val="100000"/>
              </a:lnSpc>
              <a:spcBef>
                <a:spcPts val="0"/>
              </a:spcBef>
              <a:spcAft>
                <a:spcPts val="0"/>
              </a:spcAft>
              <a:buClr>
                <a:schemeClr val="dk1"/>
              </a:buClr>
              <a:buSzPts val="1800"/>
              <a:buFont typeface="Arial"/>
              <a:buChar char="■"/>
              <a:defRPr sz="1800">
                <a:solidFill>
                  <a:schemeClr val="dk1"/>
                </a:solidFill>
              </a:defRPr>
            </a:lvl9pPr>
          </a:lstStyle>
          <a:p/>
        </p:txBody>
      </p:sp>
      <p:cxnSp>
        <p:nvCxnSpPr>
          <p:cNvPr id="28" name="Google Shape;28;p6"/>
          <p:cNvCxnSpPr/>
          <p:nvPr/>
        </p:nvCxnSpPr>
        <p:spPr>
          <a:xfrm>
            <a:off x="457200" y="5757014"/>
            <a:ext cx="8229600" cy="0"/>
          </a:xfrm>
          <a:prstGeom prst="straightConnector1">
            <a:avLst/>
          </a:prstGeom>
          <a:noFill/>
          <a:ln cap="flat" cmpd="sng" w="50800">
            <a:solidFill>
              <a:schemeClr val="lt2"/>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 name="Shape 29"/>
        <p:cNvGrpSpPr/>
        <p:nvPr/>
      </p:nvGrpSpPr>
      <p:grpSpPr>
        <a:xfrm>
          <a:off x="0" y="0"/>
          <a:ext cx="0" cy="0"/>
          <a:chOff x="0" y="0"/>
          <a:chExt cx="0" cy="0"/>
        </a:xfrm>
      </p:grpSpPr>
      <p:cxnSp>
        <p:nvCxnSpPr>
          <p:cNvPr id="30" name="Google Shape;30;p7"/>
          <p:cNvCxnSpPr/>
          <p:nvPr/>
        </p:nvCxnSpPr>
        <p:spPr>
          <a:xfrm>
            <a:off x="457200" y="150852"/>
            <a:ext cx="8229600" cy="0"/>
          </a:xfrm>
          <a:prstGeom prst="straightConnector1">
            <a:avLst/>
          </a:prstGeom>
          <a:noFill/>
          <a:ln cap="flat" cmpd="sng" w="50800">
            <a:solidFill>
              <a:schemeClr val="lt2"/>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1pPr>
            <a:lvl2pPr lvl="1"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2pPr>
            <a:lvl3pPr lvl="2"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3pPr>
            <a:lvl4pPr lvl="3"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4pPr>
            <a:lvl5pPr lvl="4"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5pPr>
            <a:lvl6pPr lvl="5"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6pPr>
            <a:lvl7pPr lvl="6"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7pPr>
            <a:lvl8pPr lvl="7"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8pPr>
            <a:lvl9pPr lvl="8" rtl="0" algn="l">
              <a:spcBef>
                <a:spcPts val="0"/>
              </a:spcBef>
              <a:spcAft>
                <a:spcPts val="0"/>
              </a:spcAft>
              <a:buClr>
                <a:schemeClr val="accent1"/>
              </a:buClr>
              <a:buSzPts val="3600"/>
              <a:buFont typeface="Arial"/>
              <a:buNone/>
              <a:defRPr b="1" i="0" sz="3600" u="none" cap="none" strike="noStrike">
                <a:solidFill>
                  <a:schemeClr val="accent1"/>
                </a:solidFill>
                <a:latin typeface="Arial"/>
                <a:ea typeface="Arial"/>
                <a:cs typeface="Arial"/>
                <a:sym typeface="Arial"/>
              </a:defRPr>
            </a:lvl9pPr>
          </a:lstStyle>
          <a:p/>
        </p:txBody>
      </p:sp>
      <p:sp>
        <p:nvSpPr>
          <p:cNvPr id="7" name="Google Shape;7;p1"/>
          <p:cNvSpPr txBox="1"/>
          <p:nvPr>
            <p:ph idx="1" type="body"/>
          </p:nvPr>
        </p:nvSpPr>
        <p:spPr>
          <a:xfrm>
            <a:off x="457200" y="1600200"/>
            <a:ext cx="8229600" cy="4967700"/>
          </a:xfrm>
          <a:prstGeom prst="rect">
            <a:avLst/>
          </a:prstGeom>
          <a:noFill/>
          <a:ln>
            <a:noFill/>
          </a:ln>
        </p:spPr>
        <p:txBody>
          <a:bodyPr anchorCtr="0" anchor="t" bIns="91425" lIns="91425" spcFirstLastPara="1" rIns="91425" wrap="square" tIns="91425">
            <a:noAutofit/>
          </a:bodyPr>
          <a:lstStyle>
            <a:lvl1pPr indent="-419100" lvl="0" marL="457200" rtl="0" algn="l">
              <a:spcBef>
                <a:spcPts val="600"/>
              </a:spcBef>
              <a:spcAft>
                <a:spcPts val="0"/>
              </a:spcAft>
              <a:buClr>
                <a:schemeClr val="dk1"/>
              </a:buClr>
              <a:buSzPts val="3000"/>
              <a:buFont typeface="Arial"/>
              <a:buChar char="●"/>
              <a:defRPr b="0" i="0" sz="3000" u="none" cap="none" strike="noStrike">
                <a:solidFill>
                  <a:schemeClr val="dk1"/>
                </a:solidFill>
                <a:latin typeface="Arial"/>
                <a:ea typeface="Arial"/>
                <a:cs typeface="Arial"/>
                <a:sym typeface="Arial"/>
              </a:defRPr>
            </a:lvl1pPr>
            <a:lvl2pPr indent="-381000" lvl="1" marL="9144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42900" lvl="3" marL="1828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cxnSp>
        <p:nvCxnSpPr>
          <p:cNvPr id="8" name="Google Shape;8;p1"/>
          <p:cNvCxnSpPr/>
          <p:nvPr/>
        </p:nvCxnSpPr>
        <p:spPr>
          <a:xfrm>
            <a:off x="457200" y="6697680"/>
            <a:ext cx="8229600" cy="0"/>
          </a:xfrm>
          <a:prstGeom prst="straightConnector1">
            <a:avLst/>
          </a:prstGeom>
          <a:noFill/>
          <a:ln cap="flat" cmpd="sng" w="50800">
            <a:solidFill>
              <a:schemeClr val="lt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8"/>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network models of diffusion</a:t>
            </a:r>
            <a:endParaRPr/>
          </a:p>
        </p:txBody>
      </p:sp>
      <p:pic>
        <p:nvPicPr>
          <p:cNvPr id="36" name="Google Shape;36;p8"/>
          <p:cNvPicPr preferRelativeResize="0"/>
          <p:nvPr/>
        </p:nvPicPr>
        <p:blipFill>
          <a:blip r:embed="rId3">
            <a:alphaModFix/>
          </a:blip>
          <a:stretch>
            <a:fillRect/>
          </a:stretch>
        </p:blipFill>
        <p:spPr>
          <a:xfrm>
            <a:off x="2518591" y="1677238"/>
            <a:ext cx="4275334" cy="4238857"/>
          </a:xfrm>
          <a:prstGeom prst="rect">
            <a:avLst/>
          </a:prstGeom>
          <a:noFill/>
          <a:ln>
            <a:noFill/>
          </a:ln>
        </p:spPr>
      </p:pic>
      <p:sp>
        <p:nvSpPr>
          <p:cNvPr id="37" name="Google Shape;37;p8"/>
          <p:cNvSpPr txBox="1"/>
          <p:nvPr/>
        </p:nvSpPr>
        <p:spPr>
          <a:xfrm>
            <a:off x="1127553" y="5857700"/>
            <a:ext cx="6984600" cy="6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highlight>
                  <a:srgbClr val="FFFFFF"/>
                </a:highlight>
                <a:latin typeface="Josefin Slab"/>
                <a:ea typeface="Josefin Slab"/>
                <a:cs typeface="Josefin Slab"/>
                <a:sym typeface="Josefin Slab"/>
              </a:rPr>
              <a:t>Ryan, B. and N.C. Gross (1943) The Diffusion of Hybrid Seed Corn in Two Iowa Communities, </a:t>
            </a:r>
            <a:r>
              <a:rPr i="1" lang="en" sz="1800">
                <a:highlight>
                  <a:srgbClr val="FFFFFF"/>
                </a:highlight>
                <a:latin typeface="Josefin Slab"/>
                <a:ea typeface="Josefin Slab"/>
                <a:cs typeface="Josefin Slab"/>
                <a:sym typeface="Josefin Slab"/>
              </a:rPr>
              <a:t>Rural Sociolog</a:t>
            </a:r>
            <a:r>
              <a:rPr lang="en" sz="1800">
                <a:highlight>
                  <a:srgbClr val="FFFFFF"/>
                </a:highlight>
                <a:latin typeface="Josefin Slab"/>
                <a:ea typeface="Josefin Slab"/>
                <a:cs typeface="Josefin Slab"/>
                <a:sym typeface="Josefin Slab"/>
              </a:rPr>
              <a:t>y, 8: 15-24.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9"/>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Models of diffusion</a:t>
            </a:r>
            <a:endParaRPr/>
          </a:p>
        </p:txBody>
      </p:sp>
      <p:sp>
        <p:nvSpPr>
          <p:cNvPr id="43" name="Google Shape;43;p9"/>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SzPts val="2400"/>
              <a:buFont typeface="Josefin Slab"/>
              <a:buChar char="●"/>
            </a:pPr>
            <a:r>
              <a:rPr lang="en" sz="2400">
                <a:latin typeface="Josefin Slab"/>
                <a:ea typeface="Josefin Slab"/>
                <a:cs typeface="Josefin Slab"/>
                <a:sym typeface="Josefin Slab"/>
              </a:rPr>
              <a:t>Growth model  </a:t>
            </a:r>
            <a:endParaRPr sz="2400">
              <a:latin typeface="Josefin Slab"/>
              <a:ea typeface="Josefin Slab"/>
              <a:cs typeface="Josefin Slab"/>
              <a:sym typeface="Josefin Slab"/>
            </a:endParaRPr>
          </a:p>
          <a:p>
            <a:pPr indent="-342900" lvl="1" marL="914400" rtl="0" algn="l">
              <a:spcBef>
                <a:spcPts val="0"/>
              </a:spcBef>
              <a:spcAft>
                <a:spcPts val="0"/>
              </a:spcAft>
              <a:buSzPts val="1800"/>
              <a:buFont typeface="Josefin Slab"/>
              <a:buChar char="○"/>
            </a:pPr>
            <a:r>
              <a:rPr lang="en" sz="1800">
                <a:latin typeface="Josefin Slab"/>
                <a:ea typeface="Josefin Slab"/>
                <a:cs typeface="Josefin Slab"/>
                <a:sym typeface="Josefin Slab"/>
              </a:rPr>
              <a:t>fast diffusion, not S shaped, no network</a:t>
            </a:r>
            <a:endParaRPr sz="1800">
              <a:latin typeface="Josefin Slab"/>
              <a:ea typeface="Josefin Slab"/>
              <a:cs typeface="Josefin Slab"/>
              <a:sym typeface="Josefin Slab"/>
            </a:endParaRPr>
          </a:p>
          <a:p>
            <a:pPr indent="-381000" lvl="0" marL="457200" rtl="0" algn="l">
              <a:spcBef>
                <a:spcPts val="0"/>
              </a:spcBef>
              <a:spcAft>
                <a:spcPts val="0"/>
              </a:spcAft>
              <a:buSzPts val="2400"/>
              <a:buFont typeface="Josefin Slab"/>
              <a:buChar char="●"/>
            </a:pPr>
            <a:r>
              <a:rPr lang="en" sz="2400">
                <a:latin typeface="Josefin Slab"/>
                <a:ea typeface="Josefin Slab"/>
                <a:cs typeface="Josefin Slab"/>
                <a:sym typeface="Josefin Slab"/>
              </a:rPr>
              <a:t>Global Threshold Models (Granovetter 1978; Macy 1991)</a:t>
            </a:r>
            <a:endParaRPr sz="2400">
              <a:latin typeface="Josefin Slab"/>
              <a:ea typeface="Josefin Slab"/>
              <a:cs typeface="Josefin Slab"/>
              <a:sym typeface="Josefin Slab"/>
            </a:endParaRPr>
          </a:p>
          <a:p>
            <a:pPr indent="-342900" lvl="1" marL="914400" rtl="0" algn="l">
              <a:spcBef>
                <a:spcPts val="0"/>
              </a:spcBef>
              <a:spcAft>
                <a:spcPts val="0"/>
              </a:spcAft>
              <a:buSzPts val="1800"/>
              <a:buFont typeface="Josefin Slab"/>
              <a:buChar char="○"/>
            </a:pPr>
            <a:r>
              <a:rPr lang="en" sz="1800">
                <a:latin typeface="Josefin Slab"/>
                <a:ea typeface="Josefin Slab"/>
                <a:cs typeface="Josefin Slab"/>
                <a:sym typeface="Josefin Slab"/>
              </a:rPr>
              <a:t>No network, non-adjacent diffusion, S shaped</a:t>
            </a:r>
            <a:endParaRPr sz="1800">
              <a:latin typeface="Josefin Slab"/>
              <a:ea typeface="Josefin Slab"/>
              <a:cs typeface="Josefin Slab"/>
              <a:sym typeface="Josefin Slab"/>
            </a:endParaRPr>
          </a:p>
          <a:p>
            <a:pPr indent="-381000" lvl="0" marL="457200" rtl="0" algn="l">
              <a:spcBef>
                <a:spcPts val="0"/>
              </a:spcBef>
              <a:spcAft>
                <a:spcPts val="0"/>
              </a:spcAft>
              <a:buSzPts val="2400"/>
              <a:buFont typeface="Josefin Slab"/>
              <a:buChar char="●"/>
            </a:pPr>
            <a:r>
              <a:rPr lang="en" sz="2400">
                <a:latin typeface="Josefin Slab"/>
                <a:ea typeface="Josefin Slab"/>
                <a:cs typeface="Josefin Slab"/>
                <a:sym typeface="Josefin Slab"/>
              </a:rPr>
              <a:t>Contagion/Cohesion (Coleman et al 1966; Rogers 1962)</a:t>
            </a:r>
            <a:endParaRPr sz="2400">
              <a:latin typeface="Josefin Slab"/>
              <a:ea typeface="Josefin Slab"/>
              <a:cs typeface="Josefin Slab"/>
              <a:sym typeface="Josefin Slab"/>
            </a:endParaRPr>
          </a:p>
          <a:p>
            <a:pPr indent="-342900" lvl="1" marL="914400" rtl="0" algn="l">
              <a:spcBef>
                <a:spcPts val="0"/>
              </a:spcBef>
              <a:spcAft>
                <a:spcPts val="0"/>
              </a:spcAft>
              <a:buSzPts val="1800"/>
              <a:buFont typeface="Josefin Slab"/>
              <a:buChar char="○"/>
            </a:pPr>
            <a:r>
              <a:rPr lang="en" sz="1800">
                <a:latin typeface="Josefin Slab"/>
                <a:ea typeface="Josefin Slab"/>
                <a:cs typeface="Josefin Slab"/>
                <a:sym typeface="Josefin Slab"/>
              </a:rPr>
              <a:t>Simple contagion, S shaped, network</a:t>
            </a:r>
            <a:endParaRPr sz="1800">
              <a:latin typeface="Josefin Slab"/>
              <a:ea typeface="Josefin Slab"/>
              <a:cs typeface="Josefin Slab"/>
              <a:sym typeface="Josefin Slab"/>
            </a:endParaRPr>
          </a:p>
          <a:p>
            <a:pPr indent="-342900" lvl="1" marL="914400" rtl="0" algn="l">
              <a:spcBef>
                <a:spcPts val="0"/>
              </a:spcBef>
              <a:spcAft>
                <a:spcPts val="0"/>
              </a:spcAft>
              <a:buSzPts val="1800"/>
              <a:buFont typeface="Josefin Slab"/>
              <a:buChar char="○"/>
            </a:pPr>
            <a:r>
              <a:rPr lang="en" sz="1800">
                <a:latin typeface="Josefin Slab"/>
                <a:ea typeface="Josefin Slab"/>
                <a:cs typeface="Josefin Slab"/>
                <a:sym typeface="Josefin Slab"/>
              </a:rPr>
              <a:t>Christakis and Fowler</a:t>
            </a:r>
            <a:endParaRPr sz="1800">
              <a:latin typeface="Josefin Slab"/>
              <a:ea typeface="Josefin Slab"/>
              <a:cs typeface="Josefin Slab"/>
              <a:sym typeface="Josefin Slab"/>
            </a:endParaRPr>
          </a:p>
          <a:p>
            <a:pPr indent="-381000" lvl="0" marL="457200" rtl="0" algn="l">
              <a:spcBef>
                <a:spcPts val="0"/>
              </a:spcBef>
              <a:spcAft>
                <a:spcPts val="0"/>
              </a:spcAft>
              <a:buSzPts val="2400"/>
              <a:buFont typeface="Josefin Slab"/>
              <a:buChar char="●"/>
            </a:pPr>
            <a:r>
              <a:rPr lang="en" sz="2400">
                <a:latin typeface="Josefin Slab"/>
                <a:ea typeface="Josefin Slab"/>
                <a:cs typeface="Josefin Slab"/>
                <a:sym typeface="Josefin Slab"/>
              </a:rPr>
              <a:t>Structural Equivalence (Burt 1987)</a:t>
            </a:r>
            <a:endParaRPr sz="2400">
              <a:latin typeface="Josefin Slab"/>
              <a:ea typeface="Josefin Slab"/>
              <a:cs typeface="Josefin Slab"/>
              <a:sym typeface="Josefin Slab"/>
            </a:endParaRPr>
          </a:p>
          <a:p>
            <a:pPr indent="-342900" lvl="1" marL="914400" rtl="0" algn="l">
              <a:spcBef>
                <a:spcPts val="0"/>
              </a:spcBef>
              <a:spcAft>
                <a:spcPts val="0"/>
              </a:spcAft>
              <a:buSzPts val="1800"/>
              <a:buFont typeface="Josefin Slab"/>
              <a:buChar char="○"/>
            </a:pPr>
            <a:r>
              <a:rPr lang="en" sz="1800">
                <a:latin typeface="Josefin Slab"/>
                <a:ea typeface="Josefin Slab"/>
                <a:cs typeface="Josefin Slab"/>
                <a:sym typeface="Josefin Slab"/>
              </a:rPr>
              <a:t>S shaped, non-adjacent diffusion, similarity = f(network position)</a:t>
            </a:r>
            <a:endParaRPr sz="1800">
              <a:latin typeface="Josefin Slab"/>
              <a:ea typeface="Josefin Slab"/>
              <a:cs typeface="Josefin Slab"/>
              <a:sym typeface="Josefin Slab"/>
            </a:endParaRPr>
          </a:p>
          <a:p>
            <a:pPr indent="-381000" lvl="0" marL="457200" rtl="0" algn="l">
              <a:spcBef>
                <a:spcPts val="0"/>
              </a:spcBef>
              <a:spcAft>
                <a:spcPts val="0"/>
              </a:spcAft>
              <a:buSzPts val="2400"/>
              <a:buFont typeface="Josefin Slab"/>
              <a:buChar char="●"/>
            </a:pPr>
            <a:r>
              <a:rPr lang="en" sz="2400">
                <a:latin typeface="Josefin Slab"/>
                <a:ea typeface="Josefin Slab"/>
                <a:cs typeface="Josefin Slab"/>
                <a:sym typeface="Josefin Slab"/>
              </a:rPr>
              <a:t>Network Threshold Models (Valente 1996)</a:t>
            </a:r>
            <a:endParaRPr sz="2400">
              <a:latin typeface="Josefin Slab"/>
              <a:ea typeface="Josefin Slab"/>
              <a:cs typeface="Josefin Slab"/>
              <a:sym typeface="Josefin Slab"/>
            </a:endParaRPr>
          </a:p>
          <a:p>
            <a:pPr indent="-381000" lvl="0" marL="457200" rtl="0" algn="l">
              <a:spcBef>
                <a:spcPts val="0"/>
              </a:spcBef>
              <a:spcAft>
                <a:spcPts val="0"/>
              </a:spcAft>
              <a:buSzPts val="2400"/>
              <a:buFont typeface="Josefin Slab"/>
              <a:buChar char="●"/>
            </a:pPr>
            <a:r>
              <a:rPr lang="en" sz="2400">
                <a:latin typeface="Josefin Slab"/>
                <a:ea typeface="Josefin Slab"/>
                <a:cs typeface="Josefin Slab"/>
                <a:sym typeface="Josefin Slab"/>
              </a:rPr>
              <a:t>Weak ties and Small World (Granovetter 1982, Watts &amp; Stogatz 1998)</a:t>
            </a:r>
            <a:endParaRPr sz="2400">
              <a:latin typeface="Josefin Slab"/>
              <a:ea typeface="Josefin Slab"/>
              <a:cs typeface="Josefin Slab"/>
              <a:sym typeface="Josefin Slab"/>
            </a:endParaRPr>
          </a:p>
          <a:p>
            <a:pPr indent="-342900" lvl="1" marL="914400" rtl="0" algn="l">
              <a:spcBef>
                <a:spcPts val="0"/>
              </a:spcBef>
              <a:spcAft>
                <a:spcPts val="0"/>
              </a:spcAft>
              <a:buSzPts val="1800"/>
              <a:buFont typeface="Josefin Slab"/>
              <a:buChar char="○"/>
            </a:pPr>
            <a:r>
              <a:rPr lang="en" sz="1800">
                <a:latin typeface="Josefin Slab"/>
                <a:ea typeface="Josefin Slab"/>
                <a:cs typeface="Josefin Slab"/>
                <a:sym typeface="Josefin Slab"/>
              </a:rPr>
              <a:t>network has clustering with short cuts</a:t>
            </a:r>
            <a:endParaRPr sz="2400">
              <a:latin typeface="Josefin Slab"/>
              <a:ea typeface="Josefin Slab"/>
              <a:cs typeface="Josefin Slab"/>
              <a:sym typeface="Josefin Slab"/>
            </a:endParaRPr>
          </a:p>
          <a:p>
            <a:pPr indent="-381000" lvl="0" marL="457200" rtl="0" algn="l">
              <a:spcBef>
                <a:spcPts val="0"/>
              </a:spcBef>
              <a:spcAft>
                <a:spcPts val="0"/>
              </a:spcAft>
              <a:buSzPts val="2400"/>
              <a:buFont typeface="Josefin Slab"/>
              <a:buChar char="●"/>
            </a:pPr>
            <a:r>
              <a:rPr lang="en" sz="2400">
                <a:latin typeface="Josefin Slab"/>
                <a:ea typeface="Josefin Slab"/>
                <a:cs typeface="Josefin Slab"/>
                <a:sym typeface="Josefin Slab"/>
              </a:rPr>
              <a:t>Complex Contagion Models (Centola &amp; Macy 2007)</a:t>
            </a:r>
            <a:endParaRPr sz="2400">
              <a:latin typeface="Josefin Slab"/>
              <a:ea typeface="Josefin Slab"/>
              <a:cs typeface="Josefin Slab"/>
              <a:sym typeface="Josefin Slab"/>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10"/>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Global threshold models</a:t>
            </a:r>
            <a:endParaRPr/>
          </a:p>
        </p:txBody>
      </p:sp>
      <p:sp>
        <p:nvSpPr>
          <p:cNvPr id="49" name="Google Shape;49;p10"/>
          <p:cNvSpPr txBox="1"/>
          <p:nvPr>
            <p:ph idx="1" type="body"/>
          </p:nvPr>
        </p:nvSpPr>
        <p:spPr>
          <a:xfrm>
            <a:off x="457200" y="1585625"/>
            <a:ext cx="82296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In the (global) threshold model of diffusion (Granovetter 1978) </a:t>
            </a:r>
            <a:r>
              <a:rPr i="1" lang="en">
                <a:latin typeface="Josefin Slab"/>
                <a:ea typeface="Josefin Slab"/>
                <a:cs typeface="Josefin Slab"/>
                <a:sym typeface="Josefin Slab"/>
              </a:rPr>
              <a:t>q</a:t>
            </a:r>
            <a:r>
              <a:rPr lang="en">
                <a:latin typeface="Josefin Slab"/>
                <a:ea typeface="Josefin Slab"/>
                <a:cs typeface="Josefin Slab"/>
                <a:sym typeface="Josefin Slab"/>
              </a:rPr>
              <a:t> (the probability of adoption/participation)is a function of</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the proportion of persons in the system that have already adopted/participated</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personal qualities such that q(i) has a distribution</a:t>
            </a:r>
            <a:endParaRPr>
              <a:latin typeface="Josefin Slab"/>
              <a:ea typeface="Josefin Slab"/>
              <a:cs typeface="Josefin Slab"/>
              <a:sym typeface="Josefin Slab"/>
            </a:endParaRPr>
          </a:p>
        </p:txBody>
      </p:sp>
      <p:pic>
        <p:nvPicPr>
          <p:cNvPr id="50" name="Google Shape;50;p10"/>
          <p:cNvPicPr preferRelativeResize="0"/>
          <p:nvPr/>
        </p:nvPicPr>
        <p:blipFill>
          <a:blip r:embed="rId3">
            <a:alphaModFix/>
          </a:blip>
          <a:stretch>
            <a:fillRect/>
          </a:stretch>
        </p:blipFill>
        <p:spPr>
          <a:xfrm>
            <a:off x="2260527" y="4570682"/>
            <a:ext cx="4622946" cy="205546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1"/>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Global threshold models</a:t>
            </a:r>
            <a:endParaRPr/>
          </a:p>
        </p:txBody>
      </p:sp>
      <p:sp>
        <p:nvSpPr>
          <p:cNvPr id="56" name="Google Shape;56;p11"/>
          <p:cNvSpPr txBox="1"/>
          <p:nvPr>
            <p:ph idx="1" type="body"/>
          </p:nvPr>
        </p:nvSpPr>
        <p:spPr>
          <a:xfrm>
            <a:off x="457200" y="1585625"/>
            <a:ext cx="8229600" cy="4967700"/>
          </a:xfrm>
          <a:prstGeom prst="rect">
            <a:avLst/>
          </a:prstGeom>
        </p:spPr>
        <p:txBody>
          <a:bodyPr anchorCtr="0" anchor="t" bIns="91425" lIns="91425" spcFirstLastPara="1" rIns="91425" wrap="square" tIns="91425">
            <a:noAutofit/>
          </a:bodyPr>
          <a:lstStyle/>
          <a:p>
            <a:pPr indent="-419100" lvl="0" marL="457200" marR="0" rtl="0" algn="l">
              <a:lnSpc>
                <a:spcPct val="100000"/>
              </a:lnSpc>
              <a:spcBef>
                <a:spcPts val="600"/>
              </a:spcBef>
              <a:spcAft>
                <a:spcPts val="0"/>
              </a:spcAft>
              <a:buClr>
                <a:schemeClr val="dk1"/>
              </a:buClr>
              <a:buSzPts val="3000"/>
              <a:buFont typeface="Josefin Slab"/>
              <a:buChar char="●"/>
            </a:pPr>
            <a:r>
              <a:rPr lang="en">
                <a:latin typeface="Josefin Slab"/>
                <a:ea typeface="Josefin Slab"/>
                <a:cs typeface="Josefin Slab"/>
                <a:sym typeface="Josefin Slab"/>
              </a:rPr>
              <a:t>Persons with </a:t>
            </a:r>
            <a:r>
              <a:rPr b="1" lang="en">
                <a:latin typeface="Josefin Slab"/>
                <a:ea typeface="Josefin Slab"/>
                <a:cs typeface="Josefin Slab"/>
                <a:sym typeface="Josefin Slab"/>
              </a:rPr>
              <a:t>low</a:t>
            </a:r>
            <a:r>
              <a:rPr lang="en">
                <a:latin typeface="Josefin Slab"/>
                <a:ea typeface="Josefin Slab"/>
                <a:cs typeface="Josefin Slab"/>
                <a:sym typeface="Josefin Slab"/>
              </a:rPr>
              <a:t> thresholds are </a:t>
            </a:r>
            <a:r>
              <a:rPr b="1" lang="en">
                <a:latin typeface="Josefin Slab"/>
                <a:ea typeface="Josefin Slab"/>
                <a:cs typeface="Josefin Slab"/>
                <a:sym typeface="Josefin Slab"/>
              </a:rPr>
              <a:t>high</a:t>
            </a:r>
            <a:r>
              <a:rPr lang="en">
                <a:latin typeface="Josefin Slab"/>
                <a:ea typeface="Josefin Slab"/>
                <a:cs typeface="Josefin Slab"/>
                <a:sym typeface="Josefin Slab"/>
              </a:rPr>
              <a:t> </a:t>
            </a:r>
            <a:r>
              <a:rPr b="1" lang="en">
                <a:latin typeface="Josefin Slab"/>
                <a:ea typeface="Josefin Slab"/>
                <a:cs typeface="Josefin Slab"/>
                <a:sym typeface="Josefin Slab"/>
              </a:rPr>
              <a:t>risk</a:t>
            </a:r>
            <a:r>
              <a:rPr lang="en">
                <a:latin typeface="Josefin Slab"/>
                <a:ea typeface="Josefin Slab"/>
                <a:cs typeface="Josefin Slab"/>
                <a:sym typeface="Josefin Slab"/>
              </a:rPr>
              <a:t> </a:t>
            </a:r>
            <a:r>
              <a:rPr i="1" lang="en">
                <a:latin typeface="Josefin Slab"/>
                <a:ea typeface="Josefin Slab"/>
                <a:cs typeface="Josefin Slab"/>
                <a:sym typeface="Josefin Slab"/>
              </a:rPr>
              <a:t>early adopters</a:t>
            </a:r>
            <a:endParaRPr>
              <a:latin typeface="Josefin Slab"/>
              <a:ea typeface="Josefin Slab"/>
              <a:cs typeface="Josefin Slab"/>
              <a:sym typeface="Josefin Slab"/>
            </a:endParaRPr>
          </a:p>
          <a:p>
            <a:pPr indent="-419100" lvl="0" marL="457200" marR="0" rtl="0" algn="l">
              <a:lnSpc>
                <a:spcPct val="100000"/>
              </a:lnSpc>
              <a:spcBef>
                <a:spcPts val="0"/>
              </a:spcBef>
              <a:spcAft>
                <a:spcPts val="0"/>
              </a:spcAft>
              <a:buClr>
                <a:schemeClr val="dk1"/>
              </a:buClr>
              <a:buSzPts val="3000"/>
              <a:buFont typeface="Josefin Slab"/>
              <a:buChar char="●"/>
            </a:pPr>
            <a:r>
              <a:rPr lang="en">
                <a:latin typeface="Josefin Slab"/>
                <a:ea typeface="Josefin Slab"/>
                <a:cs typeface="Josefin Slab"/>
                <a:sym typeface="Josefin Slab"/>
              </a:rPr>
              <a:t>Persons with </a:t>
            </a:r>
            <a:r>
              <a:rPr b="1" lang="en">
                <a:latin typeface="Josefin Slab"/>
                <a:ea typeface="Josefin Slab"/>
                <a:cs typeface="Josefin Slab"/>
                <a:sym typeface="Josefin Slab"/>
              </a:rPr>
              <a:t>high</a:t>
            </a:r>
            <a:r>
              <a:rPr lang="en">
                <a:latin typeface="Josefin Slab"/>
                <a:ea typeface="Josefin Slab"/>
                <a:cs typeface="Josefin Slab"/>
                <a:sym typeface="Josefin Slab"/>
              </a:rPr>
              <a:t> thresholds are </a:t>
            </a:r>
            <a:r>
              <a:rPr b="1" lang="en">
                <a:latin typeface="Josefin Slab"/>
                <a:ea typeface="Josefin Slab"/>
                <a:cs typeface="Josefin Slab"/>
                <a:sym typeface="Josefin Slab"/>
              </a:rPr>
              <a:t>risk</a:t>
            </a:r>
            <a:r>
              <a:rPr lang="en">
                <a:latin typeface="Josefin Slab"/>
                <a:ea typeface="Josefin Slab"/>
                <a:cs typeface="Josefin Slab"/>
                <a:sym typeface="Josefin Slab"/>
              </a:rPr>
              <a:t> </a:t>
            </a:r>
            <a:r>
              <a:rPr b="1" lang="en">
                <a:latin typeface="Josefin Slab"/>
                <a:ea typeface="Josefin Slab"/>
                <a:cs typeface="Josefin Slab"/>
                <a:sym typeface="Josefin Slab"/>
              </a:rPr>
              <a:t>averse</a:t>
            </a:r>
            <a:r>
              <a:rPr lang="en">
                <a:latin typeface="Josefin Slab"/>
                <a:ea typeface="Josefin Slab"/>
                <a:cs typeface="Josefin Slab"/>
                <a:sym typeface="Josefin Slab"/>
              </a:rPr>
              <a:t> </a:t>
            </a:r>
            <a:r>
              <a:rPr i="1" lang="en">
                <a:latin typeface="Josefin Slab"/>
                <a:ea typeface="Josefin Slab"/>
                <a:cs typeface="Josefin Slab"/>
                <a:sym typeface="Josefin Slab"/>
              </a:rPr>
              <a:t>late adopters</a:t>
            </a:r>
            <a:endParaRPr i="1">
              <a:latin typeface="Josefin Slab"/>
              <a:ea typeface="Josefin Slab"/>
              <a:cs typeface="Josefin Slab"/>
              <a:sym typeface="Josefin Slab"/>
            </a:endParaRPr>
          </a:p>
          <a:p>
            <a:pPr indent="-419100" lvl="0" marL="457200" rtl="0" algn="l">
              <a:spcBef>
                <a:spcPts val="0"/>
              </a:spcBef>
              <a:spcAft>
                <a:spcPts val="0"/>
              </a:spcAft>
              <a:buSzPts val="3000"/>
              <a:buFont typeface="Josefin Slab"/>
              <a:buChar char="●"/>
            </a:pPr>
            <a:r>
              <a:rPr lang="en">
                <a:latin typeface="Josefin Slab"/>
                <a:ea typeface="Josefin Slab"/>
                <a:cs typeface="Josefin Slab"/>
                <a:sym typeface="Josefin Slab"/>
              </a:rPr>
              <a:t>Variance in thresholds explains the typical S-shaped pattern of cumulative adoptions with initial slow uptake, rapid spread and slow saturation.</a:t>
            </a:r>
            <a:endParaRPr i="1">
              <a:latin typeface="Josefin Slab"/>
              <a:ea typeface="Josefin Slab"/>
              <a:cs typeface="Josefin Slab"/>
              <a:sym typeface="Josefin Slab"/>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2"/>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Global threshold models</a:t>
            </a:r>
            <a:endParaRPr/>
          </a:p>
        </p:txBody>
      </p:sp>
      <p:pic>
        <p:nvPicPr>
          <p:cNvPr id="62" name="Google Shape;62;p12"/>
          <p:cNvPicPr preferRelativeResize="0"/>
          <p:nvPr/>
        </p:nvPicPr>
        <p:blipFill>
          <a:blip r:embed="rId3">
            <a:alphaModFix/>
          </a:blip>
          <a:stretch>
            <a:fillRect/>
          </a:stretch>
        </p:blipFill>
        <p:spPr>
          <a:xfrm>
            <a:off x="1538266" y="1663477"/>
            <a:ext cx="6067468" cy="4231841"/>
          </a:xfrm>
          <a:prstGeom prst="rect">
            <a:avLst/>
          </a:prstGeom>
          <a:noFill/>
          <a:ln>
            <a:noFill/>
          </a:ln>
        </p:spPr>
      </p:pic>
      <p:sp>
        <p:nvSpPr>
          <p:cNvPr id="63" name="Google Shape;63;p12"/>
          <p:cNvSpPr txBox="1"/>
          <p:nvPr/>
        </p:nvSpPr>
        <p:spPr>
          <a:xfrm>
            <a:off x="784799" y="5895318"/>
            <a:ext cx="76692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highlight>
                  <a:srgbClr val="FFFFFF"/>
                </a:highlight>
                <a:latin typeface="Josefin Slab"/>
                <a:ea typeface="Josefin Slab"/>
                <a:cs typeface="Josefin Slab"/>
                <a:sym typeface="Josefin Slab"/>
              </a:rPr>
              <a:t>Rogers, E.M.(1962) </a:t>
            </a:r>
            <a:r>
              <a:rPr i="1" lang="en" sz="1800">
                <a:highlight>
                  <a:srgbClr val="FFFFFF"/>
                </a:highlight>
                <a:latin typeface="Josefin Slab"/>
                <a:ea typeface="Josefin Slab"/>
                <a:cs typeface="Josefin Slab"/>
                <a:sym typeface="Josefin Slab"/>
              </a:rPr>
              <a:t>The Diffusion of Innovations</a:t>
            </a:r>
            <a:r>
              <a:rPr lang="en" sz="1800">
                <a:highlight>
                  <a:srgbClr val="FFFFFF"/>
                </a:highlight>
                <a:latin typeface="Josefin Slab"/>
                <a:ea typeface="Josefin Slab"/>
                <a:cs typeface="Josefin Slab"/>
                <a:sym typeface="Josefin Slab"/>
              </a:rPr>
              <a:t>, Free Press, New York.</a:t>
            </a:r>
            <a:endParaRPr sz="1800">
              <a:highlight>
                <a:srgbClr val="FFFFFF"/>
              </a:highlight>
              <a:latin typeface="Josefin Slab"/>
              <a:ea typeface="Josefin Slab"/>
              <a:cs typeface="Josefin Slab"/>
              <a:sym typeface="Josefin Slab"/>
            </a:endParaRPr>
          </a:p>
          <a:p>
            <a:pPr indent="0" lvl="0" marL="0" rtl="0" algn="l">
              <a:spcBef>
                <a:spcPts val="0"/>
              </a:spcBef>
              <a:spcAft>
                <a:spcPts val="0"/>
              </a:spcAft>
              <a:buNone/>
            </a:pPr>
            <a:r>
              <a:t/>
            </a:r>
            <a:endParaRPr sz="1800">
              <a:highlight>
                <a:srgbClr val="FFFFFF"/>
              </a:highlight>
              <a:latin typeface="Josefin Slab"/>
              <a:ea typeface="Josefin Slab"/>
              <a:cs typeface="Josefin Slab"/>
              <a:sym typeface="Josefin Slab"/>
            </a:endParaRPr>
          </a:p>
          <a:p>
            <a:pPr indent="0" lvl="0" marL="0" rtl="0" algn="l">
              <a:spcBef>
                <a:spcPts val="0"/>
              </a:spcBef>
              <a:spcAft>
                <a:spcPts val="0"/>
              </a:spcAft>
              <a:buNone/>
            </a:pPr>
            <a:r>
              <a:t/>
            </a:r>
            <a:endParaRPr sz="1800">
              <a:latin typeface="Josefin Slab"/>
              <a:ea typeface="Josefin Slab"/>
              <a:cs typeface="Josefin Slab"/>
              <a:sym typeface="Josefin Slab"/>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Global threshold models</a:t>
            </a:r>
            <a:endParaRPr/>
          </a:p>
        </p:txBody>
      </p:sp>
      <p:sp>
        <p:nvSpPr>
          <p:cNvPr id="69" name="Google Shape;69;p13"/>
          <p:cNvSpPr txBox="1"/>
          <p:nvPr>
            <p:ph idx="1" type="body"/>
          </p:nvPr>
        </p:nvSpPr>
        <p:spPr>
          <a:xfrm>
            <a:off x="457200" y="1600200"/>
            <a:ext cx="8195100" cy="4967700"/>
          </a:xfrm>
          <a:prstGeom prst="rect">
            <a:avLst/>
          </a:prstGeom>
        </p:spPr>
        <p:txBody>
          <a:bodyPr anchorCtr="0" anchor="t" bIns="91425" lIns="91425" spcFirstLastPara="1" rIns="91425" wrap="square" tIns="91425">
            <a:noAutofit/>
          </a:bodyPr>
          <a:lstStyle/>
          <a:p>
            <a:pPr indent="-406400" lvl="0" marL="457200" rtl="0" algn="l">
              <a:spcBef>
                <a:spcPts val="600"/>
              </a:spcBef>
              <a:spcAft>
                <a:spcPts val="0"/>
              </a:spcAft>
              <a:buSzPts val="2800"/>
              <a:buChar char="●"/>
            </a:pPr>
            <a:r>
              <a:rPr b="1" lang="en" sz="2800">
                <a:latin typeface="Josefin Slab"/>
                <a:ea typeface="Josefin Slab"/>
                <a:cs typeface="Josefin Slab"/>
                <a:sym typeface="Josefin Slab"/>
              </a:rPr>
              <a:t>The Innovators and Early adopters</a:t>
            </a:r>
            <a:r>
              <a:rPr lang="en" sz="2800">
                <a:latin typeface="Josefin Slab"/>
                <a:ea typeface="Josefin Slab"/>
                <a:cs typeface="Josefin Slab"/>
                <a:sym typeface="Josefin Slab"/>
              </a:rPr>
              <a:t> are individuals whose time-of-adoption is greater than one standard deviation earlier than the average time-of-adoption. </a:t>
            </a:r>
            <a:endParaRPr sz="2800">
              <a:latin typeface="Josefin Slab"/>
              <a:ea typeface="Josefin Slab"/>
              <a:cs typeface="Josefin Slab"/>
              <a:sym typeface="Josefin Slab"/>
            </a:endParaRPr>
          </a:p>
          <a:p>
            <a:pPr indent="-406400" lvl="0" marL="457200" rtl="0" algn="l">
              <a:spcBef>
                <a:spcPts val="0"/>
              </a:spcBef>
              <a:spcAft>
                <a:spcPts val="0"/>
              </a:spcAft>
              <a:buSzPts val="2800"/>
              <a:buChar char="●"/>
            </a:pPr>
            <a:r>
              <a:rPr b="1" lang="en" sz="2800">
                <a:latin typeface="Josefin Slab"/>
                <a:ea typeface="Josefin Slab"/>
                <a:cs typeface="Josefin Slab"/>
                <a:sym typeface="Josefin Slab"/>
              </a:rPr>
              <a:t>The early and late majorities </a:t>
            </a:r>
            <a:r>
              <a:rPr lang="en" sz="2800">
                <a:latin typeface="Josefin Slab"/>
                <a:ea typeface="Josefin Slab"/>
                <a:cs typeface="Josefin Slab"/>
                <a:sym typeface="Josefin Slab"/>
              </a:rPr>
              <a:t>are individuals whose time-of-adoption is bounded by one  standard deviation earlier and later than the average.</a:t>
            </a:r>
            <a:endParaRPr sz="2800">
              <a:latin typeface="Josefin Slab"/>
              <a:ea typeface="Josefin Slab"/>
              <a:cs typeface="Josefin Slab"/>
              <a:sym typeface="Josefin Slab"/>
            </a:endParaRPr>
          </a:p>
          <a:p>
            <a:pPr indent="-406400" lvl="0" marL="457200" rtl="0" algn="l">
              <a:spcBef>
                <a:spcPts val="0"/>
              </a:spcBef>
              <a:spcAft>
                <a:spcPts val="0"/>
              </a:spcAft>
              <a:buSzPts val="2800"/>
              <a:buChar char="●"/>
            </a:pPr>
            <a:r>
              <a:rPr b="1" lang="en" sz="2800">
                <a:latin typeface="Josefin Slab"/>
                <a:ea typeface="Josefin Slab"/>
                <a:cs typeface="Josefin Slab"/>
                <a:sym typeface="Josefin Slab"/>
              </a:rPr>
              <a:t>Laggards</a:t>
            </a:r>
            <a:r>
              <a:rPr lang="en" sz="2800">
                <a:latin typeface="Josefin Slab"/>
                <a:ea typeface="Josefin Slab"/>
                <a:cs typeface="Josefin Slab"/>
                <a:sym typeface="Josefin Slab"/>
              </a:rPr>
              <a:t> are those individuals who adopted later than one standard deviation from the mean</a:t>
            </a:r>
            <a:endParaRPr sz="2800">
              <a:latin typeface="Josefin Slab"/>
              <a:ea typeface="Josefin Slab"/>
              <a:cs typeface="Josefin Slab"/>
              <a:sym typeface="Josefin Slab"/>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sp>
        <p:nvSpPr>
          <p:cNvPr id="75" name="Google Shape;75;p14"/>
          <p:cNvSpPr txBox="1"/>
          <p:nvPr>
            <p:ph idx="1" type="body"/>
          </p:nvPr>
        </p:nvSpPr>
        <p:spPr>
          <a:xfrm>
            <a:off x="457200" y="1585625"/>
            <a:ext cx="45822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The network threshold model relaxes the assumption that persons have global information on all adoptions in the system</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Global threshold models are appropriate for adoptions of behaviors that are public and observable</a:t>
            </a:r>
            <a:endParaRPr>
              <a:latin typeface="Josefin Slab"/>
              <a:ea typeface="Josefin Slab"/>
              <a:cs typeface="Josefin Slab"/>
              <a:sym typeface="Josefin Slab"/>
            </a:endParaRPr>
          </a:p>
        </p:txBody>
      </p:sp>
      <p:pic>
        <p:nvPicPr>
          <p:cNvPr id="76" name="Google Shape;76;p14"/>
          <p:cNvPicPr preferRelativeResize="0"/>
          <p:nvPr/>
        </p:nvPicPr>
        <p:blipFill>
          <a:blip r:embed="rId3">
            <a:alphaModFix/>
          </a:blip>
          <a:stretch>
            <a:fillRect/>
          </a:stretch>
        </p:blipFill>
        <p:spPr>
          <a:xfrm>
            <a:off x="5039400" y="2321638"/>
            <a:ext cx="3333750" cy="3495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pic>
        <p:nvPicPr>
          <p:cNvPr id="82" name="Google Shape;82;p15"/>
          <p:cNvPicPr preferRelativeResize="0"/>
          <p:nvPr/>
        </p:nvPicPr>
        <p:blipFill>
          <a:blip r:embed="rId3">
            <a:alphaModFix/>
          </a:blip>
          <a:stretch>
            <a:fillRect/>
          </a:stretch>
        </p:blipFill>
        <p:spPr>
          <a:xfrm>
            <a:off x="5039400" y="2321638"/>
            <a:ext cx="3333750" cy="3495675"/>
          </a:xfrm>
          <a:prstGeom prst="rect">
            <a:avLst/>
          </a:prstGeom>
          <a:noFill/>
          <a:ln>
            <a:noFill/>
          </a:ln>
        </p:spPr>
      </p:pic>
      <p:sp>
        <p:nvSpPr>
          <p:cNvPr id="83" name="Google Shape;83;p15"/>
          <p:cNvSpPr txBox="1"/>
          <p:nvPr>
            <p:ph idx="1" type="body"/>
          </p:nvPr>
        </p:nvSpPr>
        <p:spPr>
          <a:xfrm>
            <a:off x="457200" y="1600200"/>
            <a:ext cx="43803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However, may be inappropriate for the adoption of innovations that are not directly observable</a:t>
            </a:r>
            <a:endParaRPr>
              <a:latin typeface="Josefin Slab"/>
              <a:ea typeface="Josefin Slab"/>
              <a:cs typeface="Josefin Slab"/>
              <a:sym typeface="Josefin Slab"/>
            </a:endParaRPr>
          </a:p>
          <a:p>
            <a:pPr indent="-419100" lvl="0" marL="457200" rtl="0" algn="l">
              <a:spcBef>
                <a:spcPts val="0"/>
              </a:spcBef>
              <a:spcAft>
                <a:spcPts val="0"/>
              </a:spcAft>
              <a:buSzPts val="3000"/>
              <a:buFont typeface="Josefin Slab"/>
              <a:buChar char="●"/>
            </a:pPr>
            <a:r>
              <a:rPr lang="en">
                <a:latin typeface="Josefin Slab"/>
                <a:ea typeface="Josefin Slab"/>
                <a:cs typeface="Josefin Slab"/>
                <a:sym typeface="Josefin Slab"/>
              </a:rPr>
              <a:t>Individuals may monitor only a subset of actors in the system, namely those that they are connected to</a:t>
            </a:r>
            <a:endParaRPr>
              <a:latin typeface="Josefin Slab"/>
              <a:ea typeface="Josefin Slab"/>
              <a:cs typeface="Josefin Slab"/>
              <a:sym typeface="Josefin Slab"/>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pic>
        <p:nvPicPr>
          <p:cNvPr id="89" name="Google Shape;89;p16"/>
          <p:cNvPicPr preferRelativeResize="0"/>
          <p:nvPr/>
        </p:nvPicPr>
        <p:blipFill>
          <a:blip r:embed="rId3">
            <a:alphaModFix/>
          </a:blip>
          <a:stretch>
            <a:fillRect/>
          </a:stretch>
        </p:blipFill>
        <p:spPr>
          <a:xfrm>
            <a:off x="5039400" y="2321638"/>
            <a:ext cx="3333750" cy="3495675"/>
          </a:xfrm>
          <a:prstGeom prst="rect">
            <a:avLst/>
          </a:prstGeom>
          <a:noFill/>
          <a:ln>
            <a:noFill/>
          </a:ln>
        </p:spPr>
      </p:pic>
      <p:sp>
        <p:nvSpPr>
          <p:cNvPr id="90" name="Google Shape;90;p16"/>
          <p:cNvSpPr txBox="1"/>
          <p:nvPr>
            <p:ph idx="1" type="body"/>
          </p:nvPr>
        </p:nvSpPr>
        <p:spPr>
          <a:xfrm>
            <a:off x="457200" y="1600200"/>
            <a:ext cx="43803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Particularly appropriate when adoption behavior entails uncertainty and risk</a:t>
            </a:r>
            <a:endParaRPr>
              <a:latin typeface="Josefin Slab"/>
              <a:ea typeface="Josefin Slab"/>
              <a:cs typeface="Josefin Slab"/>
              <a:sym typeface="Josefin Slab"/>
            </a:endParaRPr>
          </a:p>
          <a:p>
            <a:pPr indent="-419100" lvl="0" marL="457200" rtl="0" algn="l">
              <a:spcBef>
                <a:spcPts val="0"/>
              </a:spcBef>
              <a:spcAft>
                <a:spcPts val="0"/>
              </a:spcAft>
              <a:buSzPts val="3000"/>
              <a:buFont typeface="Josefin Slab"/>
              <a:buChar char="●"/>
            </a:pPr>
            <a:r>
              <a:rPr lang="en">
                <a:latin typeface="Josefin Slab"/>
                <a:ea typeface="Josefin Slab"/>
                <a:cs typeface="Josefin Slab"/>
                <a:sym typeface="Josefin Slab"/>
              </a:rPr>
              <a:t>An individual's </a:t>
            </a:r>
            <a:r>
              <a:rPr b="1" lang="en">
                <a:latin typeface="Josefin Slab"/>
                <a:ea typeface="Josefin Slab"/>
                <a:cs typeface="Josefin Slab"/>
                <a:sym typeface="Josefin Slab"/>
              </a:rPr>
              <a:t>exposure</a:t>
            </a:r>
            <a:r>
              <a:rPr lang="en">
                <a:latin typeface="Josefin Slab"/>
                <a:ea typeface="Josefin Slab"/>
                <a:cs typeface="Josefin Slab"/>
                <a:sym typeface="Josefin Slab"/>
              </a:rPr>
              <a:t> is given by the proportion of her neighbors that have already adopted</a:t>
            </a:r>
            <a:endParaRPr>
              <a:latin typeface="Josefin Slab"/>
              <a:ea typeface="Josefin Slab"/>
              <a:cs typeface="Josefin Slab"/>
              <a:sym typeface="Josefin Slab"/>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pic>
        <p:nvPicPr>
          <p:cNvPr id="96" name="Google Shape;96;p17"/>
          <p:cNvPicPr preferRelativeResize="0"/>
          <p:nvPr/>
        </p:nvPicPr>
        <p:blipFill>
          <a:blip r:embed="rId3">
            <a:alphaModFix/>
          </a:blip>
          <a:stretch>
            <a:fillRect/>
          </a:stretch>
        </p:blipFill>
        <p:spPr>
          <a:xfrm>
            <a:off x="5039400" y="2321638"/>
            <a:ext cx="3333750" cy="3495675"/>
          </a:xfrm>
          <a:prstGeom prst="rect">
            <a:avLst/>
          </a:prstGeom>
          <a:noFill/>
          <a:ln>
            <a:noFill/>
          </a:ln>
        </p:spPr>
      </p:pic>
      <p:sp>
        <p:nvSpPr>
          <p:cNvPr id="97" name="Google Shape;97;p17"/>
          <p:cNvSpPr txBox="1"/>
          <p:nvPr>
            <p:ph idx="1" type="body"/>
          </p:nvPr>
        </p:nvSpPr>
        <p:spPr>
          <a:xfrm>
            <a:off x="457200" y="1600200"/>
            <a:ext cx="43803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Each individual is endowed with a given threshold q(i)</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When the proportion of neighbors who have adopted equals q(i), the person adopts</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We can then redefine adopter categories (e.g. innovators) as either</a:t>
            </a:r>
            <a:endParaRPr>
              <a:latin typeface="Josefin Slab"/>
              <a:ea typeface="Josefin Slab"/>
              <a:cs typeface="Josefin Slab"/>
              <a:sym typeface="Josefin Slab"/>
            </a:endParaRPr>
          </a:p>
          <a:p>
            <a:pPr indent="-381000" lvl="2" marL="1371600" rtl="0" algn="l">
              <a:spcBef>
                <a:spcPts val="0"/>
              </a:spcBef>
              <a:spcAft>
                <a:spcPts val="0"/>
              </a:spcAft>
              <a:buSzPts val="2400"/>
              <a:buFont typeface="Josefin Slab"/>
              <a:buChar char="■"/>
            </a:pPr>
            <a:r>
              <a:rPr lang="en">
                <a:latin typeface="Josefin Slab"/>
                <a:ea typeface="Josefin Slab"/>
                <a:cs typeface="Josefin Slab"/>
                <a:sym typeface="Josefin Slab"/>
              </a:rPr>
              <a:t>System relative</a:t>
            </a:r>
            <a:endParaRPr>
              <a:latin typeface="Josefin Slab"/>
              <a:ea typeface="Josefin Slab"/>
              <a:cs typeface="Josefin Slab"/>
              <a:sym typeface="Josefin Slab"/>
            </a:endParaRPr>
          </a:p>
          <a:p>
            <a:pPr indent="-381000" lvl="2" marL="1371600" rtl="0" algn="l">
              <a:spcBef>
                <a:spcPts val="0"/>
              </a:spcBef>
              <a:spcAft>
                <a:spcPts val="0"/>
              </a:spcAft>
              <a:buSzPts val="2400"/>
              <a:buFont typeface="Josefin Slab"/>
              <a:buChar char="■"/>
            </a:pPr>
            <a:r>
              <a:rPr lang="en">
                <a:latin typeface="Josefin Slab"/>
                <a:ea typeface="Josefin Slab"/>
                <a:cs typeface="Josefin Slab"/>
                <a:sym typeface="Josefin Slab"/>
              </a:rPr>
              <a:t>Network relative</a:t>
            </a:r>
            <a:endParaRPr>
              <a:latin typeface="Josefin Slab"/>
              <a:ea typeface="Josefin Slab"/>
              <a:cs typeface="Josefin Slab"/>
              <a:sym typeface="Josefin Slab"/>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pic>
        <p:nvPicPr>
          <p:cNvPr id="103" name="Google Shape;103;p18"/>
          <p:cNvPicPr preferRelativeResize="0"/>
          <p:nvPr/>
        </p:nvPicPr>
        <p:blipFill>
          <a:blip r:embed="rId3">
            <a:alphaModFix/>
          </a:blip>
          <a:stretch>
            <a:fillRect/>
          </a:stretch>
        </p:blipFill>
        <p:spPr>
          <a:xfrm>
            <a:off x="5039400" y="2321638"/>
            <a:ext cx="3333750" cy="3495675"/>
          </a:xfrm>
          <a:prstGeom prst="rect">
            <a:avLst/>
          </a:prstGeom>
          <a:noFill/>
          <a:ln>
            <a:noFill/>
          </a:ln>
        </p:spPr>
      </p:pic>
      <p:sp>
        <p:nvSpPr>
          <p:cNvPr id="104" name="Google Shape;104;p18"/>
          <p:cNvSpPr txBox="1"/>
          <p:nvPr>
            <p:ph idx="1" type="body"/>
          </p:nvPr>
        </p:nvSpPr>
        <p:spPr>
          <a:xfrm>
            <a:off x="457200" y="1600200"/>
            <a:ext cx="4380300" cy="49677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SzPts val="2400"/>
              <a:buFont typeface="Josefin Slab"/>
              <a:buChar char="●"/>
            </a:pPr>
            <a:r>
              <a:rPr lang="en" sz="2400">
                <a:latin typeface="Josefin Slab"/>
                <a:ea typeface="Josefin Slab"/>
                <a:cs typeface="Josefin Slab"/>
                <a:sym typeface="Josefin Slab"/>
              </a:rPr>
              <a:t>Early adopters (or laggards) relative to their network may not be early adopters relative to the system</a:t>
            </a:r>
            <a:endParaRPr sz="2400">
              <a:latin typeface="Josefin Slab"/>
              <a:ea typeface="Josefin Slab"/>
              <a:cs typeface="Josefin Slab"/>
              <a:sym typeface="Josefin Slab"/>
            </a:endParaRPr>
          </a:p>
          <a:p>
            <a:pPr indent="-342900" lvl="1" marL="914400" rtl="0" algn="l">
              <a:spcBef>
                <a:spcPts val="0"/>
              </a:spcBef>
              <a:spcAft>
                <a:spcPts val="0"/>
              </a:spcAft>
              <a:buSzPts val="1800"/>
              <a:buFont typeface="Josefin Slab"/>
              <a:buChar char="○"/>
            </a:pPr>
            <a:r>
              <a:rPr lang="en" sz="1800">
                <a:latin typeface="Josefin Slab"/>
                <a:ea typeface="Josefin Slab"/>
                <a:cs typeface="Josefin Slab"/>
                <a:sym typeface="Josefin Slab"/>
              </a:rPr>
              <a:t>For instance, if a </a:t>
            </a:r>
            <a:r>
              <a:rPr b="1" lang="en" sz="1800">
                <a:latin typeface="Josefin Slab"/>
                <a:ea typeface="Josefin Slab"/>
                <a:cs typeface="Josefin Slab"/>
                <a:sym typeface="Josefin Slab"/>
              </a:rPr>
              <a:t>high </a:t>
            </a:r>
            <a:r>
              <a:rPr b="1" i="1" lang="en" sz="1800">
                <a:latin typeface="Josefin Slab"/>
                <a:ea typeface="Josefin Slab"/>
                <a:cs typeface="Josefin Slab"/>
                <a:sym typeface="Josefin Slab"/>
              </a:rPr>
              <a:t>q</a:t>
            </a:r>
            <a:r>
              <a:rPr lang="en" sz="1800">
                <a:latin typeface="Josefin Slab"/>
                <a:ea typeface="Josefin Slab"/>
                <a:cs typeface="Josefin Slab"/>
                <a:sym typeface="Josefin Slab"/>
              </a:rPr>
              <a:t> individual's network is composed entirely of innovators, he will be a </a:t>
            </a:r>
            <a:r>
              <a:rPr b="1" lang="en" sz="1800">
                <a:latin typeface="Josefin Slab"/>
                <a:ea typeface="Josefin Slab"/>
                <a:cs typeface="Josefin Slab"/>
                <a:sym typeface="Josefin Slab"/>
              </a:rPr>
              <a:t>laggard</a:t>
            </a:r>
            <a:r>
              <a:rPr lang="en" sz="1800">
                <a:latin typeface="Josefin Slab"/>
                <a:ea typeface="Josefin Slab"/>
                <a:cs typeface="Josefin Slab"/>
                <a:sym typeface="Josefin Slab"/>
              </a:rPr>
              <a:t> relative to his peers but an </a:t>
            </a:r>
            <a:r>
              <a:rPr b="1" lang="en" sz="1800">
                <a:latin typeface="Josefin Slab"/>
                <a:ea typeface="Josefin Slab"/>
                <a:cs typeface="Josefin Slab"/>
                <a:sym typeface="Josefin Slab"/>
              </a:rPr>
              <a:t>innovator</a:t>
            </a:r>
            <a:r>
              <a:rPr lang="en" sz="1800">
                <a:latin typeface="Josefin Slab"/>
                <a:ea typeface="Josefin Slab"/>
                <a:cs typeface="Josefin Slab"/>
                <a:sym typeface="Josefin Slab"/>
              </a:rPr>
              <a:t> relative to the system</a:t>
            </a:r>
            <a:endParaRPr sz="1800">
              <a:latin typeface="Josefin Slab"/>
              <a:ea typeface="Josefin Slab"/>
              <a:cs typeface="Josefin Slab"/>
              <a:sym typeface="Josefin Slab"/>
            </a:endParaRPr>
          </a:p>
          <a:p>
            <a:pPr indent="-342900" lvl="1" marL="914400" rtl="0" algn="l">
              <a:spcBef>
                <a:spcPts val="0"/>
              </a:spcBef>
              <a:spcAft>
                <a:spcPts val="0"/>
              </a:spcAft>
              <a:buSzPts val="1800"/>
              <a:buFont typeface="Josefin Slab"/>
              <a:buChar char="○"/>
            </a:pPr>
            <a:r>
              <a:rPr lang="en" sz="1800">
                <a:latin typeface="Josefin Slab"/>
                <a:ea typeface="Josefin Slab"/>
                <a:cs typeface="Josefin Slab"/>
                <a:sym typeface="Josefin Slab"/>
              </a:rPr>
              <a:t>In the same way a low-q individual who belongs to an isolated clique will be a </a:t>
            </a:r>
            <a:r>
              <a:rPr b="1" lang="en" sz="1800">
                <a:latin typeface="Josefin Slab"/>
                <a:ea typeface="Josefin Slab"/>
                <a:cs typeface="Josefin Slab"/>
                <a:sym typeface="Josefin Slab"/>
              </a:rPr>
              <a:t>laggard</a:t>
            </a:r>
            <a:r>
              <a:rPr lang="en" sz="1800">
                <a:latin typeface="Josefin Slab"/>
                <a:ea typeface="Josefin Slab"/>
                <a:cs typeface="Josefin Slab"/>
                <a:sym typeface="Josefin Slab"/>
              </a:rPr>
              <a:t> relative to the system but an </a:t>
            </a:r>
            <a:r>
              <a:rPr b="1" lang="en" sz="1800">
                <a:latin typeface="Josefin Slab"/>
                <a:ea typeface="Josefin Slab"/>
                <a:cs typeface="Josefin Slab"/>
                <a:sym typeface="Josefin Slab"/>
              </a:rPr>
              <a:t>early adopter</a:t>
            </a:r>
            <a:r>
              <a:rPr lang="en" sz="1800">
                <a:latin typeface="Josefin Slab"/>
                <a:ea typeface="Josefin Slab"/>
                <a:cs typeface="Josefin Slab"/>
                <a:sym typeface="Josefin Slab"/>
              </a:rPr>
              <a:t> relative to his peers</a:t>
            </a:r>
            <a:endParaRPr sz="1800">
              <a:latin typeface="Josefin Slab"/>
              <a:ea typeface="Josefin Slab"/>
              <a:cs typeface="Josefin Slab"/>
              <a:sym typeface="Josefin Slab"/>
            </a:endParaRPr>
          </a:p>
          <a:p>
            <a:pPr indent="0" lvl="0" marL="0" rtl="0" algn="l">
              <a:spcBef>
                <a:spcPts val="600"/>
              </a:spcBef>
              <a:spcAft>
                <a:spcPts val="0"/>
              </a:spcAft>
              <a:buNone/>
            </a:pPr>
            <a:r>
              <a:t/>
            </a:r>
            <a:endParaRPr sz="1800">
              <a:latin typeface="Josefin Slab"/>
              <a:ea typeface="Josefin Slab"/>
              <a:cs typeface="Josefin Slab"/>
              <a:sym typeface="Josefin Slab"/>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sp>
        <p:nvSpPr>
          <p:cNvPr id="110" name="Google Shape;110;p19"/>
          <p:cNvSpPr txBox="1"/>
          <p:nvPr>
            <p:ph idx="1" type="body"/>
          </p:nvPr>
        </p:nvSpPr>
        <p:spPr>
          <a:xfrm>
            <a:off x="457200" y="1600200"/>
            <a:ext cx="81879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A key finding in classic diffusion research is that early adopters are more likely to have external (media, weak ties) sources of influence, while late adopters are more subject to network effects (Rogers 1962)</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This seems to reflect a </a:t>
            </a:r>
            <a:r>
              <a:rPr i="1" lang="en">
                <a:latin typeface="Josefin Slab"/>
                <a:ea typeface="Josefin Slab"/>
                <a:cs typeface="Josefin Slab"/>
                <a:sym typeface="Josefin Slab"/>
              </a:rPr>
              <a:t>local/Cosmopolitan </a:t>
            </a:r>
            <a:r>
              <a:rPr lang="en">
                <a:latin typeface="Josefin Slab"/>
                <a:ea typeface="Josefin Slab"/>
                <a:cs typeface="Josefin Slab"/>
                <a:sym typeface="Josefin Slab"/>
              </a:rPr>
              <a:t>split</a:t>
            </a:r>
            <a:endParaRPr>
              <a:latin typeface="Josefin Slab"/>
              <a:ea typeface="Josefin Slab"/>
              <a:cs typeface="Josefin Slab"/>
              <a:sym typeface="Josefin Slab"/>
            </a:endParaRPr>
          </a:p>
          <a:p>
            <a:pPr indent="-419100" lvl="0" marL="457200" rtl="0" algn="l">
              <a:spcBef>
                <a:spcPts val="0"/>
              </a:spcBef>
              <a:spcAft>
                <a:spcPts val="0"/>
              </a:spcAft>
              <a:buSzPts val="3000"/>
              <a:buFont typeface="Josefin Slab"/>
              <a:buChar char="●"/>
            </a:pPr>
            <a:r>
              <a:rPr lang="en">
                <a:latin typeface="Josefin Slab"/>
                <a:ea typeface="Josefin Slab"/>
                <a:cs typeface="Josefin Slab"/>
                <a:sym typeface="Josefin Slab"/>
              </a:rPr>
              <a:t>Considering both system-level and personal network threshold clarify this relationship</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Cosmopolitan innovators tend to be early adopters relative to the system and have very low threshold relative to their network</a:t>
            </a:r>
            <a:endParaRPr>
              <a:latin typeface="Josefin Slab"/>
              <a:ea typeface="Josefin Slab"/>
              <a:cs typeface="Josefin Slab"/>
              <a:sym typeface="Josefin Slab"/>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sp>
        <p:nvSpPr>
          <p:cNvPr id="116" name="Google Shape;116;p20"/>
          <p:cNvSpPr txBox="1"/>
          <p:nvPr>
            <p:ph idx="1" type="body"/>
          </p:nvPr>
        </p:nvSpPr>
        <p:spPr>
          <a:xfrm>
            <a:off x="457200" y="1600200"/>
            <a:ext cx="81879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The network threshold model allows to come up with a more nuanced classification of early and late adopters</a:t>
            </a:r>
            <a:endParaRPr>
              <a:latin typeface="Josefin Slab"/>
              <a:ea typeface="Josefin Slab"/>
              <a:cs typeface="Josefin Slab"/>
              <a:sym typeface="Josefin Slab"/>
            </a:endParaRPr>
          </a:p>
        </p:txBody>
      </p:sp>
      <p:graphicFrame>
        <p:nvGraphicFramePr>
          <p:cNvPr id="117" name="Google Shape;117;p20"/>
          <p:cNvGraphicFramePr/>
          <p:nvPr/>
        </p:nvGraphicFramePr>
        <p:xfrm>
          <a:off x="3180250" y="4141250"/>
          <a:ext cx="3000000" cy="3000000"/>
        </p:xfrm>
        <a:graphic>
          <a:graphicData uri="http://schemas.openxmlformats.org/drawingml/2006/table">
            <a:tbl>
              <a:tblPr>
                <a:noFill/>
                <a:tableStyleId>{50FC8D45-62BA-438D-A1D1-D63F97C68FF8}</a:tableStyleId>
              </a:tblPr>
              <a:tblGrid>
                <a:gridCol w="2327250"/>
                <a:gridCol w="2327250"/>
              </a:tblGrid>
              <a:tr h="1141800">
                <a:tc>
                  <a:txBody>
                    <a:bodyPr/>
                    <a:lstStyle/>
                    <a:p>
                      <a:pPr indent="0" lvl="0" marL="0" rtl="0" algn="ctr">
                        <a:spcBef>
                          <a:spcPts val="0"/>
                        </a:spcBef>
                        <a:spcAft>
                          <a:spcPts val="0"/>
                        </a:spcAft>
                        <a:buNone/>
                      </a:pPr>
                      <a:r>
                        <a:rPr i="1" lang="en" sz="2400">
                          <a:latin typeface="Josefin Slab"/>
                          <a:ea typeface="Josefin Slab"/>
                          <a:cs typeface="Josefin Slab"/>
                          <a:sym typeface="Josefin Slab"/>
                        </a:rPr>
                        <a:t>True innovators (influentials)</a:t>
                      </a:r>
                      <a:endParaRPr i="1" sz="2400">
                        <a:latin typeface="Josefin Slab"/>
                        <a:ea typeface="Josefin Slab"/>
                        <a:cs typeface="Josefin Slab"/>
                        <a:sym typeface="Josefin Slab"/>
                      </a:endParaRPr>
                    </a:p>
                  </a:txBody>
                  <a:tcPr marT="91425" marB="91425" marR="91425" marL="91425" anchor="ctr"/>
                </a:tc>
                <a:tc>
                  <a:txBody>
                    <a:bodyPr/>
                    <a:lstStyle/>
                    <a:p>
                      <a:pPr indent="0" lvl="0" marL="0" rtl="0" algn="ctr">
                        <a:spcBef>
                          <a:spcPts val="0"/>
                        </a:spcBef>
                        <a:spcAft>
                          <a:spcPts val="0"/>
                        </a:spcAft>
                        <a:buNone/>
                      </a:pPr>
                      <a:r>
                        <a:rPr i="1" lang="en" sz="2400">
                          <a:latin typeface="Josefin Slab"/>
                          <a:ea typeface="Josefin Slab"/>
                          <a:cs typeface="Josefin Slab"/>
                          <a:sym typeface="Josefin Slab"/>
                        </a:rPr>
                        <a:t>Isolates</a:t>
                      </a:r>
                      <a:endParaRPr i="1" sz="2400">
                        <a:latin typeface="Josefin Slab"/>
                        <a:ea typeface="Josefin Slab"/>
                        <a:cs typeface="Josefin Slab"/>
                        <a:sym typeface="Josefin Slab"/>
                      </a:endParaRPr>
                    </a:p>
                  </a:txBody>
                  <a:tcPr marT="91425" marB="91425" marR="91425" marL="91425" anchor="ctr"/>
                </a:tc>
              </a:tr>
              <a:tr h="1141800">
                <a:tc>
                  <a:txBody>
                    <a:bodyPr/>
                    <a:lstStyle/>
                    <a:p>
                      <a:pPr indent="0" lvl="0" marL="0" rtl="0" algn="ctr">
                        <a:spcBef>
                          <a:spcPts val="0"/>
                        </a:spcBef>
                        <a:spcAft>
                          <a:spcPts val="0"/>
                        </a:spcAft>
                        <a:buNone/>
                      </a:pPr>
                      <a:r>
                        <a:rPr i="1" lang="en" sz="2400">
                          <a:latin typeface="Josefin Slab"/>
                          <a:ea typeface="Josefin Slab"/>
                          <a:cs typeface="Josefin Slab"/>
                          <a:sym typeface="Josefin Slab"/>
                        </a:rPr>
                        <a:t>Connected Bandwagon</a:t>
                      </a:r>
                      <a:endParaRPr i="1" sz="2400">
                        <a:latin typeface="Josefin Slab"/>
                        <a:ea typeface="Josefin Slab"/>
                        <a:cs typeface="Josefin Slab"/>
                        <a:sym typeface="Josefin Slab"/>
                      </a:endParaRPr>
                    </a:p>
                  </a:txBody>
                  <a:tcPr marT="91425" marB="91425" marR="91425" marL="91425" anchor="ctr"/>
                </a:tc>
                <a:tc>
                  <a:txBody>
                    <a:bodyPr/>
                    <a:lstStyle/>
                    <a:p>
                      <a:pPr indent="0" lvl="0" marL="0" rtl="0" algn="ctr">
                        <a:spcBef>
                          <a:spcPts val="0"/>
                        </a:spcBef>
                        <a:spcAft>
                          <a:spcPts val="0"/>
                        </a:spcAft>
                        <a:buNone/>
                      </a:pPr>
                      <a:r>
                        <a:rPr i="1" lang="en" sz="2400">
                          <a:latin typeface="Josefin Slab"/>
                          <a:ea typeface="Josefin Slab"/>
                          <a:cs typeface="Josefin Slab"/>
                          <a:sym typeface="Josefin Slab"/>
                        </a:rPr>
                        <a:t>Resistant rearguard</a:t>
                      </a:r>
                      <a:endParaRPr i="1" sz="2400">
                        <a:latin typeface="Josefin Slab"/>
                        <a:ea typeface="Josefin Slab"/>
                        <a:cs typeface="Josefin Slab"/>
                        <a:sym typeface="Josefin Slab"/>
                      </a:endParaRPr>
                    </a:p>
                  </a:txBody>
                  <a:tcPr marT="91425" marB="91425" marR="91425" marL="91425" anchor="ctr"/>
                </a:tc>
              </a:tr>
            </a:tbl>
          </a:graphicData>
        </a:graphic>
      </p:graphicFrame>
      <p:sp>
        <p:nvSpPr>
          <p:cNvPr id="118" name="Google Shape;118;p20"/>
          <p:cNvSpPr txBox="1"/>
          <p:nvPr/>
        </p:nvSpPr>
        <p:spPr>
          <a:xfrm>
            <a:off x="2430550" y="4143650"/>
            <a:ext cx="939000" cy="22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latin typeface="Josefin Slab"/>
              <a:ea typeface="Josefin Slab"/>
              <a:cs typeface="Josefin Slab"/>
              <a:sym typeface="Josefin Slab"/>
            </a:endParaRPr>
          </a:p>
          <a:p>
            <a:pPr indent="0" lvl="0" marL="0" rtl="0" algn="l">
              <a:spcBef>
                <a:spcPts val="0"/>
              </a:spcBef>
              <a:spcAft>
                <a:spcPts val="0"/>
              </a:spcAft>
              <a:buNone/>
            </a:pPr>
            <a:r>
              <a:rPr lang="en" sz="2400">
                <a:latin typeface="Josefin Slab"/>
                <a:ea typeface="Josefin Slab"/>
                <a:cs typeface="Josefin Slab"/>
                <a:sym typeface="Josefin Slab"/>
              </a:rPr>
              <a:t>Low</a:t>
            </a:r>
            <a:endParaRPr sz="2400">
              <a:latin typeface="Josefin Slab"/>
              <a:ea typeface="Josefin Slab"/>
              <a:cs typeface="Josefin Slab"/>
              <a:sym typeface="Josefin Slab"/>
            </a:endParaRPr>
          </a:p>
          <a:p>
            <a:pPr indent="0" lvl="0" marL="0" rtl="0" algn="l">
              <a:spcBef>
                <a:spcPts val="0"/>
              </a:spcBef>
              <a:spcAft>
                <a:spcPts val="0"/>
              </a:spcAft>
              <a:buNone/>
            </a:pPr>
            <a:r>
              <a:t/>
            </a:r>
            <a:endParaRPr sz="2400">
              <a:latin typeface="Josefin Slab"/>
              <a:ea typeface="Josefin Slab"/>
              <a:cs typeface="Josefin Slab"/>
              <a:sym typeface="Josefin Slab"/>
            </a:endParaRPr>
          </a:p>
          <a:p>
            <a:pPr indent="0" lvl="0" marL="0" rtl="0" algn="l">
              <a:spcBef>
                <a:spcPts val="0"/>
              </a:spcBef>
              <a:spcAft>
                <a:spcPts val="0"/>
              </a:spcAft>
              <a:buNone/>
            </a:pPr>
            <a:r>
              <a:t/>
            </a:r>
            <a:endParaRPr sz="2400">
              <a:latin typeface="Josefin Slab"/>
              <a:ea typeface="Josefin Slab"/>
              <a:cs typeface="Josefin Slab"/>
              <a:sym typeface="Josefin Slab"/>
            </a:endParaRPr>
          </a:p>
          <a:p>
            <a:pPr indent="0" lvl="0" marL="0" rtl="0" algn="l">
              <a:spcBef>
                <a:spcPts val="0"/>
              </a:spcBef>
              <a:spcAft>
                <a:spcPts val="0"/>
              </a:spcAft>
              <a:buNone/>
            </a:pPr>
            <a:r>
              <a:rPr lang="en" sz="2400">
                <a:latin typeface="Josefin Slab"/>
                <a:ea typeface="Josefin Slab"/>
                <a:cs typeface="Josefin Slab"/>
                <a:sym typeface="Josefin Slab"/>
              </a:rPr>
              <a:t>High</a:t>
            </a:r>
            <a:endParaRPr sz="2400">
              <a:latin typeface="Josefin Slab"/>
              <a:ea typeface="Josefin Slab"/>
              <a:cs typeface="Josefin Slab"/>
              <a:sym typeface="Josefin Slab"/>
            </a:endParaRPr>
          </a:p>
        </p:txBody>
      </p:sp>
      <p:sp>
        <p:nvSpPr>
          <p:cNvPr id="119" name="Google Shape;119;p20"/>
          <p:cNvSpPr txBox="1"/>
          <p:nvPr/>
        </p:nvSpPr>
        <p:spPr>
          <a:xfrm>
            <a:off x="945955" y="4303850"/>
            <a:ext cx="1579800" cy="195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Josefin Slab"/>
                <a:ea typeface="Josefin Slab"/>
                <a:cs typeface="Josefin Slab"/>
                <a:sym typeface="Josefin Slab"/>
              </a:rPr>
              <a:t>Network Threshold</a:t>
            </a:r>
            <a:endParaRPr b="1" sz="2400">
              <a:latin typeface="Josefin Slab"/>
              <a:ea typeface="Josefin Slab"/>
              <a:cs typeface="Josefin Slab"/>
              <a:sym typeface="Josefin Slab"/>
            </a:endParaRPr>
          </a:p>
        </p:txBody>
      </p:sp>
      <p:sp>
        <p:nvSpPr>
          <p:cNvPr id="120" name="Google Shape;120;p20"/>
          <p:cNvSpPr txBox="1"/>
          <p:nvPr/>
        </p:nvSpPr>
        <p:spPr>
          <a:xfrm>
            <a:off x="3849700" y="3607314"/>
            <a:ext cx="3712800" cy="53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Josefin Slab"/>
                <a:ea typeface="Josefin Slab"/>
                <a:cs typeface="Josefin Slab"/>
                <a:sym typeface="Josefin Slab"/>
              </a:rPr>
              <a:t>Low				High</a:t>
            </a:r>
            <a:endParaRPr sz="2400">
              <a:latin typeface="Josefin Slab"/>
              <a:ea typeface="Josefin Slab"/>
              <a:cs typeface="Josefin Slab"/>
              <a:sym typeface="Josefin Slab"/>
            </a:endParaRPr>
          </a:p>
        </p:txBody>
      </p:sp>
      <p:sp>
        <p:nvSpPr>
          <p:cNvPr id="121" name="Google Shape;121;p20"/>
          <p:cNvSpPr txBox="1"/>
          <p:nvPr/>
        </p:nvSpPr>
        <p:spPr>
          <a:xfrm>
            <a:off x="4160650" y="3345214"/>
            <a:ext cx="2693700" cy="37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Josefin Slab"/>
                <a:ea typeface="Josefin Slab"/>
                <a:cs typeface="Josefin Slab"/>
                <a:sym typeface="Josefin Slab"/>
              </a:rPr>
              <a:t>System Threshold</a:t>
            </a:r>
            <a:endParaRPr b="1" sz="2400">
              <a:latin typeface="Josefin Slab"/>
              <a:ea typeface="Josefin Slab"/>
              <a:cs typeface="Josefin Slab"/>
              <a:sym typeface="Josefin Slab"/>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sp>
        <p:nvSpPr>
          <p:cNvPr id="127" name="Google Shape;127;p21"/>
          <p:cNvSpPr txBox="1"/>
          <p:nvPr>
            <p:ph idx="1" type="body"/>
          </p:nvPr>
        </p:nvSpPr>
        <p:spPr>
          <a:xfrm>
            <a:off x="457200" y="1600200"/>
            <a:ext cx="81879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Opinion leaders are relative to their system-level adopter category:</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Early adopters who convince those with high network thresholds (but similar system threshold) to adopt</a:t>
            </a:r>
            <a:endParaRPr>
              <a:latin typeface="Josefin Slab"/>
              <a:ea typeface="Josefin Slab"/>
              <a:cs typeface="Josefin Slab"/>
              <a:sym typeface="Josefin Slab"/>
            </a:endParaRPr>
          </a:p>
        </p:txBody>
      </p:sp>
      <p:graphicFrame>
        <p:nvGraphicFramePr>
          <p:cNvPr id="128" name="Google Shape;128;p21"/>
          <p:cNvGraphicFramePr/>
          <p:nvPr/>
        </p:nvGraphicFramePr>
        <p:xfrm>
          <a:off x="3180250" y="4141250"/>
          <a:ext cx="3000000" cy="3000000"/>
        </p:xfrm>
        <a:graphic>
          <a:graphicData uri="http://schemas.openxmlformats.org/drawingml/2006/table">
            <a:tbl>
              <a:tblPr>
                <a:noFill/>
                <a:tableStyleId>{50FC8D45-62BA-438D-A1D1-D63F97C68FF8}</a:tableStyleId>
              </a:tblPr>
              <a:tblGrid>
                <a:gridCol w="2327250"/>
                <a:gridCol w="2327250"/>
              </a:tblGrid>
              <a:tr h="1141800">
                <a:tc>
                  <a:txBody>
                    <a:bodyPr/>
                    <a:lstStyle/>
                    <a:p>
                      <a:pPr indent="0" lvl="0" marL="0" rtl="0" algn="ctr">
                        <a:spcBef>
                          <a:spcPts val="0"/>
                        </a:spcBef>
                        <a:spcAft>
                          <a:spcPts val="0"/>
                        </a:spcAft>
                        <a:buNone/>
                      </a:pPr>
                      <a:r>
                        <a:rPr i="1" lang="en" sz="2400">
                          <a:latin typeface="Josefin Slab"/>
                          <a:ea typeface="Josefin Slab"/>
                          <a:cs typeface="Josefin Slab"/>
                          <a:sym typeface="Josefin Slab"/>
                        </a:rPr>
                        <a:t>True innovators (influentials)</a:t>
                      </a:r>
                      <a:endParaRPr i="1" sz="2400">
                        <a:latin typeface="Josefin Slab"/>
                        <a:ea typeface="Josefin Slab"/>
                        <a:cs typeface="Josefin Slab"/>
                        <a:sym typeface="Josefin Slab"/>
                      </a:endParaRPr>
                    </a:p>
                  </a:txBody>
                  <a:tcPr marT="91425" marB="91425" marR="91425" marL="91425" anchor="ctr"/>
                </a:tc>
                <a:tc>
                  <a:txBody>
                    <a:bodyPr/>
                    <a:lstStyle/>
                    <a:p>
                      <a:pPr indent="0" lvl="0" marL="0" rtl="0" algn="ctr">
                        <a:spcBef>
                          <a:spcPts val="0"/>
                        </a:spcBef>
                        <a:spcAft>
                          <a:spcPts val="0"/>
                        </a:spcAft>
                        <a:buNone/>
                      </a:pPr>
                      <a:r>
                        <a:rPr i="1" lang="en" sz="2400">
                          <a:latin typeface="Josefin Slab"/>
                          <a:ea typeface="Josefin Slab"/>
                          <a:cs typeface="Josefin Slab"/>
                          <a:sym typeface="Josefin Slab"/>
                        </a:rPr>
                        <a:t>Isolates</a:t>
                      </a:r>
                      <a:endParaRPr i="1" sz="2400">
                        <a:latin typeface="Josefin Slab"/>
                        <a:ea typeface="Josefin Slab"/>
                        <a:cs typeface="Josefin Slab"/>
                        <a:sym typeface="Josefin Slab"/>
                      </a:endParaRPr>
                    </a:p>
                  </a:txBody>
                  <a:tcPr marT="91425" marB="91425" marR="91425" marL="91425" anchor="ctr"/>
                </a:tc>
              </a:tr>
              <a:tr h="1141800">
                <a:tc>
                  <a:txBody>
                    <a:bodyPr/>
                    <a:lstStyle/>
                    <a:p>
                      <a:pPr indent="0" lvl="0" marL="0" rtl="0" algn="ctr">
                        <a:spcBef>
                          <a:spcPts val="0"/>
                        </a:spcBef>
                        <a:spcAft>
                          <a:spcPts val="0"/>
                        </a:spcAft>
                        <a:buNone/>
                      </a:pPr>
                      <a:r>
                        <a:rPr i="1" lang="en" sz="2400">
                          <a:latin typeface="Josefin Slab"/>
                          <a:ea typeface="Josefin Slab"/>
                          <a:cs typeface="Josefin Slab"/>
                          <a:sym typeface="Josefin Slab"/>
                        </a:rPr>
                        <a:t>Connected Bandwagon</a:t>
                      </a:r>
                      <a:endParaRPr i="1" sz="2400">
                        <a:latin typeface="Josefin Slab"/>
                        <a:ea typeface="Josefin Slab"/>
                        <a:cs typeface="Josefin Slab"/>
                        <a:sym typeface="Josefin Slab"/>
                      </a:endParaRPr>
                    </a:p>
                  </a:txBody>
                  <a:tcPr marT="91425" marB="91425" marR="91425" marL="91425" anchor="ctr"/>
                </a:tc>
                <a:tc>
                  <a:txBody>
                    <a:bodyPr/>
                    <a:lstStyle/>
                    <a:p>
                      <a:pPr indent="0" lvl="0" marL="0" rtl="0" algn="ctr">
                        <a:spcBef>
                          <a:spcPts val="0"/>
                        </a:spcBef>
                        <a:spcAft>
                          <a:spcPts val="0"/>
                        </a:spcAft>
                        <a:buNone/>
                      </a:pPr>
                      <a:r>
                        <a:rPr i="1" lang="en" sz="2400">
                          <a:latin typeface="Josefin Slab"/>
                          <a:ea typeface="Josefin Slab"/>
                          <a:cs typeface="Josefin Slab"/>
                          <a:sym typeface="Josefin Slab"/>
                        </a:rPr>
                        <a:t>Resistant rearguard</a:t>
                      </a:r>
                      <a:endParaRPr i="1" sz="2400">
                        <a:latin typeface="Josefin Slab"/>
                        <a:ea typeface="Josefin Slab"/>
                        <a:cs typeface="Josefin Slab"/>
                        <a:sym typeface="Josefin Slab"/>
                      </a:endParaRPr>
                    </a:p>
                  </a:txBody>
                  <a:tcPr marT="91425" marB="91425" marR="91425" marL="91425" anchor="ctr"/>
                </a:tc>
              </a:tr>
            </a:tbl>
          </a:graphicData>
        </a:graphic>
      </p:graphicFrame>
      <p:sp>
        <p:nvSpPr>
          <p:cNvPr id="129" name="Google Shape;129;p21"/>
          <p:cNvSpPr txBox="1"/>
          <p:nvPr/>
        </p:nvSpPr>
        <p:spPr>
          <a:xfrm>
            <a:off x="2430550" y="4143650"/>
            <a:ext cx="939000" cy="22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latin typeface="Josefin Slab"/>
              <a:ea typeface="Josefin Slab"/>
              <a:cs typeface="Josefin Slab"/>
              <a:sym typeface="Josefin Slab"/>
            </a:endParaRPr>
          </a:p>
          <a:p>
            <a:pPr indent="0" lvl="0" marL="0" rtl="0" algn="l">
              <a:spcBef>
                <a:spcPts val="0"/>
              </a:spcBef>
              <a:spcAft>
                <a:spcPts val="0"/>
              </a:spcAft>
              <a:buNone/>
            </a:pPr>
            <a:r>
              <a:rPr lang="en" sz="2400">
                <a:latin typeface="Josefin Slab"/>
                <a:ea typeface="Josefin Slab"/>
                <a:cs typeface="Josefin Slab"/>
                <a:sym typeface="Josefin Slab"/>
              </a:rPr>
              <a:t>Low</a:t>
            </a:r>
            <a:endParaRPr sz="2400">
              <a:latin typeface="Josefin Slab"/>
              <a:ea typeface="Josefin Slab"/>
              <a:cs typeface="Josefin Slab"/>
              <a:sym typeface="Josefin Slab"/>
            </a:endParaRPr>
          </a:p>
          <a:p>
            <a:pPr indent="0" lvl="0" marL="0" rtl="0" algn="l">
              <a:spcBef>
                <a:spcPts val="0"/>
              </a:spcBef>
              <a:spcAft>
                <a:spcPts val="0"/>
              </a:spcAft>
              <a:buNone/>
            </a:pPr>
            <a:r>
              <a:t/>
            </a:r>
            <a:endParaRPr sz="2400">
              <a:latin typeface="Josefin Slab"/>
              <a:ea typeface="Josefin Slab"/>
              <a:cs typeface="Josefin Slab"/>
              <a:sym typeface="Josefin Slab"/>
            </a:endParaRPr>
          </a:p>
          <a:p>
            <a:pPr indent="0" lvl="0" marL="0" rtl="0" algn="l">
              <a:spcBef>
                <a:spcPts val="0"/>
              </a:spcBef>
              <a:spcAft>
                <a:spcPts val="0"/>
              </a:spcAft>
              <a:buNone/>
            </a:pPr>
            <a:r>
              <a:t/>
            </a:r>
            <a:endParaRPr sz="2400">
              <a:latin typeface="Josefin Slab"/>
              <a:ea typeface="Josefin Slab"/>
              <a:cs typeface="Josefin Slab"/>
              <a:sym typeface="Josefin Slab"/>
            </a:endParaRPr>
          </a:p>
          <a:p>
            <a:pPr indent="0" lvl="0" marL="0" rtl="0" algn="l">
              <a:spcBef>
                <a:spcPts val="0"/>
              </a:spcBef>
              <a:spcAft>
                <a:spcPts val="0"/>
              </a:spcAft>
              <a:buNone/>
            </a:pPr>
            <a:r>
              <a:rPr lang="en" sz="2400">
                <a:latin typeface="Josefin Slab"/>
                <a:ea typeface="Josefin Slab"/>
                <a:cs typeface="Josefin Slab"/>
                <a:sym typeface="Josefin Slab"/>
              </a:rPr>
              <a:t>High</a:t>
            </a:r>
            <a:endParaRPr sz="2400">
              <a:latin typeface="Josefin Slab"/>
              <a:ea typeface="Josefin Slab"/>
              <a:cs typeface="Josefin Slab"/>
              <a:sym typeface="Josefin Slab"/>
            </a:endParaRPr>
          </a:p>
        </p:txBody>
      </p:sp>
      <p:sp>
        <p:nvSpPr>
          <p:cNvPr id="130" name="Google Shape;130;p21"/>
          <p:cNvSpPr txBox="1"/>
          <p:nvPr/>
        </p:nvSpPr>
        <p:spPr>
          <a:xfrm>
            <a:off x="945955" y="4303850"/>
            <a:ext cx="1579800" cy="195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Josefin Slab"/>
                <a:ea typeface="Josefin Slab"/>
                <a:cs typeface="Josefin Slab"/>
                <a:sym typeface="Josefin Slab"/>
              </a:rPr>
              <a:t>Network Threshold</a:t>
            </a:r>
            <a:endParaRPr b="1" sz="2400">
              <a:latin typeface="Josefin Slab"/>
              <a:ea typeface="Josefin Slab"/>
              <a:cs typeface="Josefin Slab"/>
              <a:sym typeface="Josefin Slab"/>
            </a:endParaRPr>
          </a:p>
        </p:txBody>
      </p:sp>
      <p:sp>
        <p:nvSpPr>
          <p:cNvPr id="131" name="Google Shape;131;p21"/>
          <p:cNvSpPr txBox="1"/>
          <p:nvPr/>
        </p:nvSpPr>
        <p:spPr>
          <a:xfrm>
            <a:off x="3849700" y="3607314"/>
            <a:ext cx="3712800" cy="53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Josefin Slab"/>
                <a:ea typeface="Josefin Slab"/>
                <a:cs typeface="Josefin Slab"/>
                <a:sym typeface="Josefin Slab"/>
              </a:rPr>
              <a:t>Low				High</a:t>
            </a:r>
            <a:endParaRPr sz="2400">
              <a:latin typeface="Josefin Slab"/>
              <a:ea typeface="Josefin Slab"/>
              <a:cs typeface="Josefin Slab"/>
              <a:sym typeface="Josefin Slab"/>
            </a:endParaRPr>
          </a:p>
        </p:txBody>
      </p:sp>
      <p:sp>
        <p:nvSpPr>
          <p:cNvPr id="132" name="Google Shape;132;p21"/>
          <p:cNvSpPr txBox="1"/>
          <p:nvPr/>
        </p:nvSpPr>
        <p:spPr>
          <a:xfrm>
            <a:off x="4160650" y="3345214"/>
            <a:ext cx="2693700" cy="37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Josefin Slab"/>
                <a:ea typeface="Josefin Slab"/>
                <a:cs typeface="Josefin Slab"/>
                <a:sym typeface="Josefin Slab"/>
              </a:rPr>
              <a:t>System Threshold</a:t>
            </a:r>
            <a:endParaRPr b="1" sz="2400">
              <a:latin typeface="Josefin Slab"/>
              <a:ea typeface="Josefin Slab"/>
              <a:cs typeface="Josefin Slab"/>
              <a:sym typeface="Josefin Slab"/>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 </a:t>
            </a:r>
            <a:endParaRPr/>
          </a:p>
        </p:txBody>
      </p:sp>
      <p:sp>
        <p:nvSpPr>
          <p:cNvPr id="138" name="Google Shape;138;p22"/>
          <p:cNvSpPr txBox="1"/>
          <p:nvPr>
            <p:ph idx="1" type="body"/>
          </p:nvPr>
        </p:nvSpPr>
        <p:spPr>
          <a:xfrm>
            <a:off x="495225" y="1592300"/>
            <a:ext cx="82296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
                <a:latin typeface="Josefin Slab"/>
                <a:ea typeface="Josefin Slab"/>
                <a:cs typeface="Josefin Slab"/>
                <a:sym typeface="Josefin Slab"/>
              </a:rPr>
              <a:t>Cross-sectional Model</a:t>
            </a:r>
            <a:br>
              <a:rPr lang="en">
                <a:latin typeface="Josefin Slab"/>
                <a:ea typeface="Josefin Slab"/>
                <a:cs typeface="Josefin Slab"/>
                <a:sym typeface="Josefin Slab"/>
              </a:rPr>
            </a:br>
            <a:br>
              <a:rPr lang="en">
                <a:latin typeface="Josefin Slab"/>
                <a:ea typeface="Josefin Slab"/>
                <a:cs typeface="Josefin Slab"/>
                <a:sym typeface="Josefin Slab"/>
              </a:rPr>
            </a:br>
            <a:endParaRPr>
              <a:latin typeface="Josefin Slab"/>
              <a:ea typeface="Josefin Slab"/>
              <a:cs typeface="Josefin Slab"/>
              <a:sym typeface="Josefin Slab"/>
            </a:endParaRPr>
          </a:p>
          <a:p>
            <a:pPr indent="-419100" lvl="0" marL="457200" rtl="0" algn="l">
              <a:spcBef>
                <a:spcPts val="0"/>
              </a:spcBef>
              <a:spcAft>
                <a:spcPts val="0"/>
              </a:spcAft>
              <a:buSzPts val="3000"/>
              <a:buFont typeface="Josefin Slab"/>
              <a:buChar char="●"/>
            </a:pPr>
            <a:r>
              <a:rPr lang="en">
                <a:latin typeface="Josefin Slab"/>
                <a:ea typeface="Josefin Slab"/>
                <a:cs typeface="Josefin Slab"/>
                <a:sym typeface="Josefin Slab"/>
              </a:rPr>
              <a:t>Lagged panel data model</a:t>
            </a:r>
            <a:br>
              <a:rPr lang="en">
                <a:latin typeface="Josefin Slab"/>
                <a:ea typeface="Josefin Slab"/>
                <a:cs typeface="Josefin Slab"/>
                <a:sym typeface="Josefin Slab"/>
              </a:rPr>
            </a:br>
            <a:br>
              <a:rPr lang="en">
                <a:latin typeface="Josefin Slab"/>
                <a:ea typeface="Josefin Slab"/>
                <a:cs typeface="Josefin Slab"/>
                <a:sym typeface="Josefin Slab"/>
              </a:rPr>
            </a:br>
            <a:endParaRPr>
              <a:latin typeface="Josefin Slab"/>
              <a:ea typeface="Josefin Slab"/>
              <a:cs typeface="Josefin Slab"/>
              <a:sym typeface="Josefin Slab"/>
            </a:endParaRPr>
          </a:p>
          <a:p>
            <a:pPr indent="-419100" lvl="0" marL="457200" rtl="0" algn="l">
              <a:spcBef>
                <a:spcPts val="0"/>
              </a:spcBef>
              <a:spcAft>
                <a:spcPts val="0"/>
              </a:spcAft>
              <a:buSzPts val="3000"/>
              <a:buFont typeface="Josefin Slab"/>
              <a:buChar char="●"/>
            </a:pPr>
            <a:r>
              <a:rPr lang="en">
                <a:latin typeface="Josefin Slab"/>
                <a:ea typeface="Josefin Slab"/>
                <a:cs typeface="Josefin Slab"/>
                <a:sym typeface="Josefin Slab"/>
              </a:rPr>
              <a:t>Event History (Hazard Rate Model)</a:t>
            </a:r>
            <a:br>
              <a:rPr lang="en">
                <a:latin typeface="Josefin Slab"/>
                <a:ea typeface="Josefin Slab"/>
                <a:cs typeface="Josefin Slab"/>
                <a:sym typeface="Josefin Slab"/>
              </a:rPr>
            </a:br>
            <a:br>
              <a:rPr lang="en">
                <a:latin typeface="Josefin Slab"/>
                <a:ea typeface="Josefin Slab"/>
                <a:cs typeface="Josefin Slab"/>
                <a:sym typeface="Josefin Slab"/>
              </a:rPr>
            </a:b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Can control for (1) focal node network properties like in and out degree and (2) non-adjacent “networked” traits</a:t>
            </a:r>
            <a:endParaRPr>
              <a:latin typeface="Josefin Slab"/>
              <a:ea typeface="Josefin Slab"/>
              <a:cs typeface="Josefin Slab"/>
              <a:sym typeface="Josefin Slab"/>
            </a:endParaRPr>
          </a:p>
        </p:txBody>
      </p:sp>
      <p:pic>
        <p:nvPicPr>
          <p:cNvPr id="139" name="Google Shape;139;p22"/>
          <p:cNvPicPr preferRelativeResize="0"/>
          <p:nvPr/>
        </p:nvPicPr>
        <p:blipFill>
          <a:blip r:embed="rId3">
            <a:alphaModFix/>
          </a:blip>
          <a:stretch>
            <a:fillRect/>
          </a:stretch>
        </p:blipFill>
        <p:spPr>
          <a:xfrm>
            <a:off x="1784725" y="2283838"/>
            <a:ext cx="4610100" cy="714375"/>
          </a:xfrm>
          <a:prstGeom prst="rect">
            <a:avLst/>
          </a:prstGeom>
          <a:noFill/>
          <a:ln>
            <a:noFill/>
          </a:ln>
        </p:spPr>
      </p:pic>
      <p:pic>
        <p:nvPicPr>
          <p:cNvPr id="140" name="Google Shape;140;p22"/>
          <p:cNvPicPr preferRelativeResize="0"/>
          <p:nvPr/>
        </p:nvPicPr>
        <p:blipFill>
          <a:blip r:embed="rId4">
            <a:alphaModFix/>
          </a:blip>
          <a:stretch>
            <a:fillRect/>
          </a:stretch>
        </p:blipFill>
        <p:spPr>
          <a:xfrm>
            <a:off x="974275" y="3657050"/>
            <a:ext cx="6400800" cy="838200"/>
          </a:xfrm>
          <a:prstGeom prst="rect">
            <a:avLst/>
          </a:prstGeom>
          <a:noFill/>
          <a:ln>
            <a:noFill/>
          </a:ln>
        </p:spPr>
      </p:pic>
      <p:pic>
        <p:nvPicPr>
          <p:cNvPr id="141" name="Google Shape;141;p22"/>
          <p:cNvPicPr preferRelativeResize="0"/>
          <p:nvPr/>
        </p:nvPicPr>
        <p:blipFill>
          <a:blip r:embed="rId5">
            <a:alphaModFix/>
          </a:blip>
          <a:stretch>
            <a:fillRect/>
          </a:stretch>
        </p:blipFill>
        <p:spPr>
          <a:xfrm>
            <a:off x="1196688" y="4979525"/>
            <a:ext cx="6257925" cy="857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Contagion/Influence:  </a:t>
            </a:r>
            <a:br>
              <a:rPr lang="en"/>
            </a:br>
            <a:r>
              <a:rPr lang="en"/>
              <a:t>Christakis &amp; Fowler</a:t>
            </a:r>
            <a:endParaRPr/>
          </a:p>
        </p:txBody>
      </p:sp>
      <p:sp>
        <p:nvSpPr>
          <p:cNvPr id="147" name="Google Shape;147;p23"/>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Behavioral (trait) clustering in networks - 3 explanations</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Choice homophily</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Confounding contextual effects</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Influence (adjacent contagion)</a:t>
            </a:r>
            <a:endParaRPr>
              <a:latin typeface="Josefin Slab"/>
              <a:ea typeface="Josefin Slab"/>
              <a:cs typeface="Josefin Slab"/>
              <a:sym typeface="Josefin Slab"/>
            </a:endParaRPr>
          </a:p>
          <a:p>
            <a:pPr indent="-419100" lvl="0" marL="457200" rtl="0" algn="l">
              <a:spcBef>
                <a:spcPts val="0"/>
              </a:spcBef>
              <a:spcAft>
                <a:spcPts val="0"/>
              </a:spcAft>
              <a:buSzPts val="3000"/>
              <a:buFont typeface="Josefin Slab"/>
              <a:buChar char="●"/>
            </a:pPr>
            <a:r>
              <a:rPr lang="en">
                <a:latin typeface="Josefin Slab"/>
                <a:ea typeface="Josefin Slab"/>
                <a:cs typeface="Josefin Slab"/>
                <a:sym typeface="Josefin Slab"/>
              </a:rPr>
              <a:t>Lagged panel data model</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Ego obesity (t+1) = f(ego attributes, ego obesity(t), alter’s obesity (t and t+1)</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alter obesity (t) controls for homophily</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influence if alter obesity (t) → ego obesity (t)</a:t>
            </a:r>
            <a:endParaRPr>
              <a:latin typeface="Josefin Slab"/>
              <a:ea typeface="Josefin Slab"/>
              <a:cs typeface="Josefin Slab"/>
              <a:sym typeface="Josefin Slab"/>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Contagion/Influence:  </a:t>
            </a:r>
            <a:br>
              <a:rPr lang="en"/>
            </a:br>
            <a:r>
              <a:rPr lang="en"/>
              <a:t>Christakis &amp; Fowler</a:t>
            </a:r>
            <a:endParaRPr/>
          </a:p>
        </p:txBody>
      </p:sp>
      <p:sp>
        <p:nvSpPr>
          <p:cNvPr id="153" name="Google Shape;153;p24"/>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Results</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Risk of obesity 45% higher if connected to an obese ego (1-hop)</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20% higher is 2-hops from obese person, 10% for 3-hops</a:t>
            </a:r>
            <a:endParaRPr>
              <a:latin typeface="Josefin Slab"/>
              <a:ea typeface="Josefin Slab"/>
              <a:cs typeface="Josefin Slab"/>
              <a:sym typeface="Josefin Slab"/>
            </a:endParaRPr>
          </a:p>
          <a:p>
            <a:pPr indent="-419100" lvl="0" marL="457200" rtl="0" algn="l">
              <a:spcBef>
                <a:spcPts val="0"/>
              </a:spcBef>
              <a:spcAft>
                <a:spcPts val="0"/>
              </a:spcAft>
              <a:buSzPts val="3000"/>
              <a:buFont typeface="Josefin Slab"/>
              <a:buChar char="●"/>
            </a:pPr>
            <a:r>
              <a:rPr lang="en">
                <a:latin typeface="Josefin Slab"/>
                <a:ea typeface="Josefin Slab"/>
                <a:cs typeface="Josefin Slab"/>
                <a:sym typeface="Josefin Slab"/>
              </a:rPr>
              <a:t>Eliminating Confounding Factors</a:t>
            </a:r>
            <a:endParaRPr>
              <a:latin typeface="Josefin Slab"/>
              <a:ea typeface="Josefin Slab"/>
              <a:cs typeface="Josefin Slab"/>
              <a:sym typeface="Josefin Slab"/>
            </a:endParaRPr>
          </a:p>
          <a:p>
            <a:pPr indent="-381000" lvl="0" marL="914400" rtl="0" algn="l">
              <a:spcBef>
                <a:spcPts val="0"/>
              </a:spcBef>
              <a:spcAft>
                <a:spcPts val="0"/>
              </a:spcAft>
              <a:buSzPts val="2400"/>
              <a:buFont typeface="Josefin Slab"/>
              <a:buChar char="●"/>
            </a:pPr>
            <a:r>
              <a:rPr lang="en" sz="2400">
                <a:latin typeface="Josefin Slab"/>
                <a:ea typeface="Josefin Slab"/>
                <a:cs typeface="Josefin Slab"/>
                <a:sym typeface="Josefin Slab"/>
              </a:rPr>
              <a:t>Direction of friendship: mutuals 171%, ego stated (57%), alter stated (0%)</a:t>
            </a:r>
            <a:endParaRPr sz="2400">
              <a:latin typeface="Josefin Slab"/>
              <a:ea typeface="Josefin Slab"/>
              <a:cs typeface="Josefin Slab"/>
              <a:sym typeface="Josefin Slab"/>
            </a:endParaRPr>
          </a:p>
          <a:p>
            <a:pPr indent="-381000" lvl="0" marL="914400" rtl="0" algn="l">
              <a:spcBef>
                <a:spcPts val="0"/>
              </a:spcBef>
              <a:spcAft>
                <a:spcPts val="0"/>
              </a:spcAft>
              <a:buSzPts val="2400"/>
              <a:buFont typeface="Josefin Slab"/>
              <a:buChar char="●"/>
            </a:pPr>
            <a:r>
              <a:rPr lang="en" sz="2400">
                <a:latin typeface="Josefin Slab"/>
                <a:ea typeface="Josefin Slab"/>
                <a:cs typeface="Josefin Slab"/>
                <a:sym typeface="Josefin Slab"/>
              </a:rPr>
              <a:t>Increasing social distance decreases effect of alter on ego, increasing geographical distance does not</a:t>
            </a:r>
            <a:endParaRPr sz="2400">
              <a:latin typeface="Josefin Slab"/>
              <a:ea typeface="Josefin Slab"/>
              <a:cs typeface="Josefin Slab"/>
              <a:sym typeface="Josefin Slab"/>
            </a:endParaRPr>
          </a:p>
          <a:p>
            <a:pPr indent="-381000" lvl="0" marL="914400" rtl="0" algn="l">
              <a:spcBef>
                <a:spcPts val="0"/>
              </a:spcBef>
              <a:spcAft>
                <a:spcPts val="0"/>
              </a:spcAft>
              <a:buSzPts val="2400"/>
              <a:buFont typeface="Josefin Slab"/>
              <a:buChar char="●"/>
            </a:pPr>
            <a:r>
              <a:rPr lang="en" sz="2400">
                <a:latin typeface="Josefin Slab"/>
                <a:ea typeface="Josefin Slab"/>
                <a:cs typeface="Josefin Slab"/>
                <a:sym typeface="Josefin Slab"/>
              </a:rPr>
              <a:t>No neighbor effects</a:t>
            </a:r>
            <a:endParaRPr sz="2400">
              <a:latin typeface="Josefin Slab"/>
              <a:ea typeface="Josefin Slab"/>
              <a:cs typeface="Josefin Slab"/>
              <a:sym typeface="Josefin Slab"/>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Complex contagion</a:t>
            </a:r>
            <a:endParaRPr/>
          </a:p>
        </p:txBody>
      </p:sp>
      <p:sp>
        <p:nvSpPr>
          <p:cNvPr id="159" name="Google Shape;159;p25"/>
          <p:cNvSpPr txBox="1"/>
          <p:nvPr>
            <p:ph idx="1" type="body"/>
          </p:nvPr>
        </p:nvSpPr>
        <p:spPr>
          <a:xfrm>
            <a:off x="457200" y="1600200"/>
            <a:ext cx="82389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
                <a:latin typeface="Josefin Slab"/>
                <a:ea typeface="Josefin Slab"/>
                <a:cs typeface="Josefin Slab"/>
                <a:sym typeface="Josefin Slab"/>
              </a:rPr>
              <a:t>We have seen that heterogeneity in the propensity to adopt an innovation can be modeled as a threshold process</a:t>
            </a:r>
            <a:endParaRPr>
              <a:latin typeface="Josefin Slab"/>
              <a:ea typeface="Josefin Slab"/>
              <a:cs typeface="Josefin Slab"/>
              <a:sym typeface="Josefin Slab"/>
            </a:endParaRPr>
          </a:p>
          <a:p>
            <a:pPr indent="-419100" lvl="0" marL="457200" rtl="0" algn="l">
              <a:spcBef>
                <a:spcPts val="0"/>
              </a:spcBef>
              <a:spcAft>
                <a:spcPts val="0"/>
              </a:spcAft>
              <a:buSzPts val="3000"/>
              <a:buChar char="●"/>
            </a:pPr>
            <a:r>
              <a:rPr lang="en">
                <a:latin typeface="Josefin Slab"/>
                <a:ea typeface="Josefin Slab"/>
                <a:cs typeface="Josefin Slab"/>
                <a:sym typeface="Josefin Slab"/>
              </a:rPr>
              <a:t>However, thresholds may not be fixed for individuals regardless of what is being diffused</a:t>
            </a:r>
            <a:endParaRPr>
              <a:latin typeface="Josefin Slab"/>
              <a:ea typeface="Josefin Slab"/>
              <a:cs typeface="Josefin Slab"/>
              <a:sym typeface="Josefin Slab"/>
            </a:endParaRPr>
          </a:p>
          <a:p>
            <a:pPr indent="-419100" lvl="0" marL="457200" rtl="0" algn="l">
              <a:spcBef>
                <a:spcPts val="0"/>
              </a:spcBef>
              <a:spcAft>
                <a:spcPts val="0"/>
              </a:spcAft>
              <a:buSzPts val="3000"/>
              <a:buChar char="●"/>
            </a:pPr>
            <a:r>
              <a:rPr lang="en">
                <a:latin typeface="Josefin Slab"/>
                <a:ea typeface="Josefin Slab"/>
                <a:cs typeface="Josefin Slab"/>
                <a:sym typeface="Josefin Slab"/>
              </a:rPr>
              <a:t>Instead, persons may modulate their thresholds depending on characteristics of the innovation that is being transmitted through the network</a:t>
            </a:r>
            <a:endParaRPr>
              <a:latin typeface="Josefin Slab"/>
              <a:ea typeface="Josefin Slab"/>
              <a:cs typeface="Josefin Slab"/>
              <a:sym typeface="Josefin Slab"/>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Complex contagion</a:t>
            </a:r>
            <a:endParaRPr/>
          </a:p>
        </p:txBody>
      </p:sp>
      <p:sp>
        <p:nvSpPr>
          <p:cNvPr id="165" name="Google Shape;165;p26"/>
          <p:cNvSpPr txBox="1"/>
          <p:nvPr>
            <p:ph idx="1" type="body"/>
          </p:nvPr>
        </p:nvSpPr>
        <p:spPr>
          <a:xfrm>
            <a:off x="457200" y="1600200"/>
            <a:ext cx="8238900" cy="4967700"/>
          </a:xfrm>
          <a:prstGeom prst="rect">
            <a:avLst/>
          </a:prstGeom>
        </p:spPr>
        <p:txBody>
          <a:bodyPr anchorCtr="0" anchor="t" bIns="91425" lIns="91425" spcFirstLastPara="1" rIns="91425" wrap="square" tIns="91425">
            <a:noAutofit/>
          </a:bodyPr>
          <a:lstStyle/>
          <a:p>
            <a:pPr indent="-406400" lvl="0" marL="457200" rtl="0" algn="l">
              <a:spcBef>
                <a:spcPts val="600"/>
              </a:spcBef>
              <a:spcAft>
                <a:spcPts val="0"/>
              </a:spcAft>
              <a:buSzPts val="2800"/>
              <a:buChar char="●"/>
            </a:pPr>
            <a:r>
              <a:rPr lang="en" sz="2800">
                <a:latin typeface="Josefin Slab"/>
                <a:ea typeface="Josefin Slab"/>
                <a:cs typeface="Josefin Slab"/>
                <a:sym typeface="Josefin Slab"/>
              </a:rPr>
              <a:t>Innovations that entail risk, ostracism, potential loss of resources, may elicit higher thresholds </a:t>
            </a:r>
            <a:r>
              <a:rPr i="1" lang="en" sz="2800">
                <a:latin typeface="Josefin Slab"/>
                <a:ea typeface="Josefin Slab"/>
                <a:cs typeface="Josefin Slab"/>
                <a:sym typeface="Josefin Slab"/>
              </a:rPr>
              <a:t>from all </a:t>
            </a:r>
            <a:r>
              <a:rPr lang="en" sz="2800">
                <a:latin typeface="Josefin Slab"/>
                <a:ea typeface="Josefin Slab"/>
                <a:cs typeface="Josefin Slab"/>
                <a:sym typeface="Josefin Slab"/>
              </a:rPr>
              <a:t>actors in the network</a:t>
            </a:r>
            <a:endParaRPr sz="2800">
              <a:latin typeface="Josefin Slab"/>
              <a:ea typeface="Josefin Slab"/>
              <a:cs typeface="Josefin Slab"/>
              <a:sym typeface="Josefin Slab"/>
            </a:endParaRPr>
          </a:p>
          <a:p>
            <a:pPr indent="-381000" lvl="1" marL="914400" rtl="0" algn="l">
              <a:spcBef>
                <a:spcPts val="0"/>
              </a:spcBef>
              <a:spcAft>
                <a:spcPts val="0"/>
              </a:spcAft>
              <a:buSzPts val="2400"/>
              <a:buChar char="○"/>
            </a:pPr>
            <a:r>
              <a:rPr lang="en">
                <a:latin typeface="Josefin Slab"/>
                <a:ea typeface="Josefin Slab"/>
                <a:cs typeface="Josefin Slab"/>
                <a:sym typeface="Josefin Slab"/>
              </a:rPr>
              <a:t>Persons require exposure to multiple sources to adopt</a:t>
            </a:r>
            <a:endParaRPr>
              <a:latin typeface="Josefin Slab"/>
              <a:ea typeface="Josefin Slab"/>
              <a:cs typeface="Josefin Slab"/>
              <a:sym typeface="Josefin Slab"/>
            </a:endParaRPr>
          </a:p>
          <a:p>
            <a:pPr indent="-406400" lvl="0" marL="457200" rtl="0" algn="l">
              <a:spcBef>
                <a:spcPts val="0"/>
              </a:spcBef>
              <a:spcAft>
                <a:spcPts val="0"/>
              </a:spcAft>
              <a:buSzPts val="2800"/>
              <a:buChar char="●"/>
            </a:pPr>
            <a:r>
              <a:rPr lang="en" sz="2800">
                <a:latin typeface="Josefin Slab"/>
                <a:ea typeface="Josefin Slab"/>
                <a:cs typeface="Josefin Slab"/>
                <a:sym typeface="Josefin Slab"/>
              </a:rPr>
              <a:t>Innovations (e.g. gossip) that carry little risk may in their turn elicit a very low threshold</a:t>
            </a:r>
            <a:endParaRPr sz="2800">
              <a:latin typeface="Josefin Slab"/>
              <a:ea typeface="Josefin Slab"/>
              <a:cs typeface="Josefin Slab"/>
              <a:sym typeface="Josefin Slab"/>
            </a:endParaRPr>
          </a:p>
          <a:p>
            <a:pPr indent="-381000" lvl="1" marL="914400" rtl="0" algn="l">
              <a:spcBef>
                <a:spcPts val="0"/>
              </a:spcBef>
              <a:spcAft>
                <a:spcPts val="0"/>
              </a:spcAft>
              <a:buSzPts val="2400"/>
              <a:buChar char="○"/>
            </a:pPr>
            <a:r>
              <a:rPr lang="en">
                <a:latin typeface="Josefin Slab"/>
                <a:ea typeface="Josefin Slab"/>
                <a:cs typeface="Josefin Slab"/>
                <a:sym typeface="Josefin Slab"/>
              </a:rPr>
              <a:t>In the limiting case, the person adopts as soon as one of their neighbors adopts</a:t>
            </a:r>
            <a:endParaRPr>
              <a:latin typeface="Josefin Slab"/>
              <a:ea typeface="Josefin Slab"/>
              <a:cs typeface="Josefin Slab"/>
              <a:sym typeface="Josefin Slab"/>
            </a:endParaRPr>
          </a:p>
          <a:p>
            <a:pPr indent="-406400" lvl="0" marL="457200" rtl="0" algn="l">
              <a:spcBef>
                <a:spcPts val="0"/>
              </a:spcBef>
              <a:spcAft>
                <a:spcPts val="0"/>
              </a:spcAft>
              <a:buSzPts val="2800"/>
              <a:buChar char="●"/>
            </a:pPr>
            <a:r>
              <a:rPr lang="en" sz="2800">
                <a:latin typeface="Josefin Slab"/>
                <a:ea typeface="Josefin Slab"/>
                <a:cs typeface="Josefin Slab"/>
                <a:sym typeface="Josefin Slab"/>
              </a:rPr>
              <a:t>This is the difference between </a:t>
            </a:r>
            <a:r>
              <a:rPr b="1" lang="en" sz="2800">
                <a:latin typeface="Josefin Slab"/>
                <a:ea typeface="Josefin Slab"/>
                <a:cs typeface="Josefin Slab"/>
                <a:sym typeface="Josefin Slab"/>
              </a:rPr>
              <a:t>simple</a:t>
            </a:r>
            <a:r>
              <a:rPr lang="en" sz="2800">
                <a:latin typeface="Josefin Slab"/>
                <a:ea typeface="Josefin Slab"/>
                <a:cs typeface="Josefin Slab"/>
                <a:sym typeface="Josefin Slab"/>
              </a:rPr>
              <a:t> and </a:t>
            </a:r>
            <a:r>
              <a:rPr b="1" lang="en" sz="2800">
                <a:latin typeface="Josefin Slab"/>
                <a:ea typeface="Josefin Slab"/>
                <a:cs typeface="Josefin Slab"/>
                <a:sym typeface="Josefin Slab"/>
              </a:rPr>
              <a:t>complex</a:t>
            </a:r>
            <a:r>
              <a:rPr lang="en" sz="2800">
                <a:latin typeface="Josefin Slab"/>
                <a:ea typeface="Josefin Slab"/>
                <a:cs typeface="Josefin Slab"/>
                <a:sym typeface="Josefin Slab"/>
              </a:rPr>
              <a:t> contagion</a:t>
            </a:r>
            <a:endParaRPr sz="2800">
              <a:latin typeface="Josefin Slab"/>
              <a:ea typeface="Josefin Slab"/>
              <a:cs typeface="Josefin Slab"/>
              <a:sym typeface="Josefin Slab"/>
            </a:endParaRPr>
          </a:p>
          <a:p>
            <a:pPr indent="-381000" lvl="1" marL="914400" rtl="0" algn="l">
              <a:spcBef>
                <a:spcPts val="0"/>
              </a:spcBef>
              <a:spcAft>
                <a:spcPts val="0"/>
              </a:spcAft>
              <a:buSzPts val="2400"/>
              <a:buChar char="○"/>
            </a:pPr>
            <a:r>
              <a:rPr lang="en">
                <a:latin typeface="Josefin Slab"/>
                <a:ea typeface="Josefin Slab"/>
                <a:cs typeface="Josefin Slab"/>
                <a:sym typeface="Josefin Slab"/>
              </a:rPr>
              <a:t>The basic idea is that certain innovations can </a:t>
            </a:r>
            <a:r>
              <a:rPr b="1" lang="en">
                <a:latin typeface="Josefin Slab"/>
                <a:ea typeface="Josefin Slab"/>
                <a:cs typeface="Josefin Slab"/>
                <a:sym typeface="Josefin Slab"/>
              </a:rPr>
              <a:t>only</a:t>
            </a:r>
            <a:r>
              <a:rPr lang="en">
                <a:latin typeface="Josefin Slab"/>
                <a:ea typeface="Josefin Slab"/>
                <a:cs typeface="Josefin Slab"/>
                <a:sym typeface="Josefin Slab"/>
              </a:rPr>
              <a:t> diffuse via complex contagion</a:t>
            </a:r>
            <a:endParaRPr>
              <a:latin typeface="Josefin Slab"/>
              <a:ea typeface="Josefin Slab"/>
              <a:cs typeface="Josefin Slab"/>
              <a:sym typeface="Josefin Slab"/>
            </a:endParaRPr>
          </a:p>
          <a:p>
            <a:pPr indent="0" lvl="0" marL="0" marR="0" rtl="0" algn="l">
              <a:lnSpc>
                <a:spcPct val="100000"/>
              </a:lnSpc>
              <a:spcBef>
                <a:spcPts val="600"/>
              </a:spcBef>
              <a:spcAft>
                <a:spcPts val="0"/>
              </a:spcAft>
              <a:buNone/>
            </a:pPr>
            <a:r>
              <a:t/>
            </a:r>
            <a:endParaRPr>
              <a:latin typeface="Josefin Slab"/>
              <a:ea typeface="Josefin Slab"/>
              <a:cs typeface="Josefin Slab"/>
              <a:sym typeface="Josefin Slab"/>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Complex contagion</a:t>
            </a:r>
            <a:endParaRPr/>
          </a:p>
        </p:txBody>
      </p:sp>
      <p:sp>
        <p:nvSpPr>
          <p:cNvPr id="171" name="Google Shape;171;p27"/>
          <p:cNvSpPr txBox="1"/>
          <p:nvPr>
            <p:ph idx="1" type="body"/>
          </p:nvPr>
        </p:nvSpPr>
        <p:spPr>
          <a:xfrm>
            <a:off x="457200" y="1600200"/>
            <a:ext cx="45045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
                <a:latin typeface="Josefin Slab"/>
                <a:ea typeface="Josefin Slab"/>
                <a:cs typeface="Josefin Slab"/>
                <a:sym typeface="Josefin Slab"/>
              </a:rPr>
              <a:t>Examples of simple contagion: </a:t>
            </a:r>
            <a:endParaRPr>
              <a:latin typeface="Josefin Slab"/>
              <a:ea typeface="Josefin Slab"/>
              <a:cs typeface="Josefin Slab"/>
              <a:sym typeface="Josefin Slab"/>
            </a:endParaRPr>
          </a:p>
          <a:p>
            <a:pPr indent="-381000" lvl="1" marL="914400" rtl="0" algn="l">
              <a:spcBef>
                <a:spcPts val="0"/>
              </a:spcBef>
              <a:spcAft>
                <a:spcPts val="0"/>
              </a:spcAft>
              <a:buSzPts val="2400"/>
              <a:buChar char="○"/>
            </a:pPr>
            <a:r>
              <a:rPr lang="en">
                <a:latin typeface="Josefin Slab"/>
                <a:ea typeface="Josefin Slab"/>
                <a:cs typeface="Josefin Slab"/>
                <a:sym typeface="Josefin Slab"/>
              </a:rPr>
              <a:t>Information, disease</a:t>
            </a:r>
            <a:endParaRPr>
              <a:latin typeface="Josefin Slab"/>
              <a:ea typeface="Josefin Slab"/>
              <a:cs typeface="Josefin Slab"/>
              <a:sym typeface="Josefin Slab"/>
            </a:endParaRPr>
          </a:p>
          <a:p>
            <a:pPr indent="-419100" lvl="0" marL="457200" rtl="0" algn="l">
              <a:spcBef>
                <a:spcPts val="0"/>
              </a:spcBef>
              <a:spcAft>
                <a:spcPts val="0"/>
              </a:spcAft>
              <a:buSzPts val="3000"/>
              <a:buChar char="●"/>
            </a:pPr>
            <a:r>
              <a:rPr lang="en">
                <a:latin typeface="Josefin Slab"/>
                <a:ea typeface="Josefin Slab"/>
                <a:cs typeface="Josefin Slab"/>
                <a:sym typeface="Josefin Slab"/>
              </a:rPr>
              <a:t>Examples of complex contagion: </a:t>
            </a:r>
            <a:endParaRPr>
              <a:latin typeface="Josefin Slab"/>
              <a:ea typeface="Josefin Slab"/>
              <a:cs typeface="Josefin Slab"/>
              <a:sym typeface="Josefin Slab"/>
            </a:endParaRPr>
          </a:p>
          <a:p>
            <a:pPr indent="-381000" lvl="1" marL="914400" rtl="0" algn="l">
              <a:spcBef>
                <a:spcPts val="0"/>
              </a:spcBef>
              <a:spcAft>
                <a:spcPts val="0"/>
              </a:spcAft>
              <a:buSzPts val="2400"/>
              <a:buChar char="○"/>
            </a:pPr>
            <a:r>
              <a:rPr lang="en">
                <a:latin typeface="Josefin Slab"/>
                <a:ea typeface="Josefin Slab"/>
                <a:cs typeface="Josefin Slab"/>
                <a:sym typeface="Josefin Slab"/>
              </a:rPr>
              <a:t>High risk social movement participation, religious conversion, migration, etc.</a:t>
            </a:r>
            <a:endParaRPr>
              <a:latin typeface="Josefin Slab"/>
              <a:ea typeface="Josefin Slab"/>
              <a:cs typeface="Josefin Slab"/>
              <a:sym typeface="Josefin Slab"/>
            </a:endParaRPr>
          </a:p>
        </p:txBody>
      </p:sp>
      <p:pic>
        <p:nvPicPr>
          <p:cNvPr id="172" name="Google Shape;172;p27"/>
          <p:cNvPicPr preferRelativeResize="0"/>
          <p:nvPr/>
        </p:nvPicPr>
        <p:blipFill>
          <a:blip r:embed="rId3">
            <a:alphaModFix/>
          </a:blip>
          <a:stretch>
            <a:fillRect/>
          </a:stretch>
        </p:blipFill>
        <p:spPr>
          <a:xfrm>
            <a:off x="5641425" y="1546884"/>
            <a:ext cx="3045375" cy="507433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Complexcontagion</a:t>
            </a:r>
            <a:endParaRPr/>
          </a:p>
        </p:txBody>
      </p:sp>
      <p:sp>
        <p:nvSpPr>
          <p:cNvPr id="178" name="Google Shape;178;p28"/>
          <p:cNvSpPr txBox="1"/>
          <p:nvPr>
            <p:ph idx="1" type="body"/>
          </p:nvPr>
        </p:nvSpPr>
        <p:spPr>
          <a:xfrm>
            <a:off x="457200" y="1600200"/>
            <a:ext cx="52758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
                <a:latin typeface="Josefin Slab"/>
                <a:ea typeface="Josefin Slab"/>
                <a:cs typeface="Josefin Slab"/>
                <a:sym typeface="Josefin Slab"/>
              </a:rPr>
              <a:t>Four social mechanisms that require that innovations diffuse via complex contagion:</a:t>
            </a:r>
            <a:endParaRPr>
              <a:latin typeface="Josefin Slab"/>
              <a:ea typeface="Josefin Slab"/>
              <a:cs typeface="Josefin Slab"/>
              <a:sym typeface="Josefin Slab"/>
            </a:endParaRPr>
          </a:p>
          <a:p>
            <a:pPr indent="-381000" lvl="1" marL="914400" rtl="0" algn="l">
              <a:spcBef>
                <a:spcPts val="0"/>
              </a:spcBef>
              <a:spcAft>
                <a:spcPts val="0"/>
              </a:spcAft>
              <a:buSzPts val="2400"/>
              <a:buChar char="○"/>
            </a:pPr>
            <a:r>
              <a:rPr b="1" lang="en">
                <a:latin typeface="Josefin Slab"/>
                <a:ea typeface="Josefin Slab"/>
                <a:cs typeface="Josefin Slab"/>
                <a:sym typeface="Josefin Slab"/>
              </a:rPr>
              <a:t>Strategic</a:t>
            </a:r>
            <a:r>
              <a:rPr lang="en">
                <a:latin typeface="Josefin Slab"/>
                <a:ea typeface="Josefin Slab"/>
                <a:cs typeface="Josefin Slab"/>
                <a:sym typeface="Josefin Slab"/>
              </a:rPr>
              <a:t> </a:t>
            </a:r>
            <a:r>
              <a:rPr b="1" lang="en">
                <a:latin typeface="Josefin Slab"/>
                <a:ea typeface="Josefin Slab"/>
                <a:cs typeface="Josefin Slab"/>
                <a:sym typeface="Josefin Slab"/>
              </a:rPr>
              <a:t>complementarity</a:t>
            </a:r>
            <a:r>
              <a:rPr lang="en">
                <a:latin typeface="Josefin Slab"/>
                <a:ea typeface="Josefin Slab"/>
                <a:cs typeface="Josefin Slab"/>
                <a:sym typeface="Josefin Slab"/>
              </a:rPr>
              <a:t>: adoption cost declines as a function of existing adopters</a:t>
            </a:r>
            <a:endParaRPr>
              <a:latin typeface="Josefin Slab"/>
              <a:ea typeface="Josefin Slab"/>
              <a:cs typeface="Josefin Slab"/>
              <a:sym typeface="Josefin Slab"/>
            </a:endParaRPr>
          </a:p>
          <a:p>
            <a:pPr indent="-381000" lvl="1" marL="914400" rtl="0" algn="l">
              <a:spcBef>
                <a:spcPts val="0"/>
              </a:spcBef>
              <a:spcAft>
                <a:spcPts val="0"/>
              </a:spcAft>
              <a:buSzPts val="2400"/>
              <a:buChar char="○"/>
            </a:pPr>
            <a:r>
              <a:rPr b="1" lang="en">
                <a:latin typeface="Josefin Slab"/>
                <a:ea typeface="Josefin Slab"/>
                <a:cs typeface="Josefin Slab"/>
                <a:sym typeface="Josefin Slab"/>
              </a:rPr>
              <a:t>Legitimacy</a:t>
            </a:r>
            <a:r>
              <a:rPr lang="en">
                <a:latin typeface="Josefin Slab"/>
                <a:ea typeface="Josefin Slab"/>
                <a:cs typeface="Josefin Slab"/>
                <a:sym typeface="Josefin Slab"/>
              </a:rPr>
              <a:t>: Resistance to challenge, collective acceptance, and taken-for-grantedness increases with the number of adopters</a:t>
            </a:r>
            <a:endParaRPr>
              <a:latin typeface="Josefin Slab"/>
              <a:ea typeface="Josefin Slab"/>
              <a:cs typeface="Josefin Slab"/>
              <a:sym typeface="Josefin Slab"/>
            </a:endParaRPr>
          </a:p>
        </p:txBody>
      </p:sp>
      <p:pic>
        <p:nvPicPr>
          <p:cNvPr id="179" name="Google Shape;179;p28"/>
          <p:cNvPicPr preferRelativeResize="0"/>
          <p:nvPr/>
        </p:nvPicPr>
        <p:blipFill>
          <a:blip r:embed="rId3">
            <a:alphaModFix/>
          </a:blip>
          <a:stretch>
            <a:fillRect/>
          </a:stretch>
        </p:blipFill>
        <p:spPr>
          <a:xfrm>
            <a:off x="5641425" y="1546884"/>
            <a:ext cx="3045375" cy="507433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Complex contagion</a:t>
            </a:r>
            <a:endParaRPr/>
          </a:p>
        </p:txBody>
      </p:sp>
      <p:sp>
        <p:nvSpPr>
          <p:cNvPr id="185" name="Google Shape;185;p29"/>
          <p:cNvSpPr txBox="1"/>
          <p:nvPr>
            <p:ph idx="1" type="body"/>
          </p:nvPr>
        </p:nvSpPr>
        <p:spPr>
          <a:xfrm>
            <a:off x="457200" y="1600200"/>
            <a:ext cx="52758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
                <a:latin typeface="Josefin Slab"/>
                <a:ea typeface="Josefin Slab"/>
                <a:cs typeface="Josefin Slab"/>
                <a:sym typeface="Josefin Slab"/>
              </a:rPr>
              <a:t>Four social mechanisms that require that innovations diffuse via complex contagion:</a:t>
            </a:r>
            <a:endParaRPr>
              <a:latin typeface="Josefin Slab"/>
              <a:ea typeface="Josefin Slab"/>
              <a:cs typeface="Josefin Slab"/>
              <a:sym typeface="Josefin Slab"/>
            </a:endParaRPr>
          </a:p>
          <a:p>
            <a:pPr indent="-381000" lvl="1" marL="914400" rtl="0" algn="l">
              <a:spcBef>
                <a:spcPts val="0"/>
              </a:spcBef>
              <a:spcAft>
                <a:spcPts val="0"/>
              </a:spcAft>
              <a:buSzPts val="2400"/>
              <a:buChar char="○"/>
            </a:pPr>
            <a:r>
              <a:rPr b="1" lang="en">
                <a:latin typeface="Josefin Slab"/>
                <a:ea typeface="Josefin Slab"/>
                <a:cs typeface="Josefin Slab"/>
                <a:sym typeface="Josefin Slab"/>
              </a:rPr>
              <a:t>Credibility: </a:t>
            </a:r>
            <a:r>
              <a:rPr lang="en">
                <a:latin typeface="Josefin Slab"/>
                <a:ea typeface="Josefin Slab"/>
                <a:cs typeface="Josefin Slab"/>
                <a:sym typeface="Josefin Slab"/>
              </a:rPr>
              <a:t>Adoption of innovation more likely when confirmed by many others</a:t>
            </a:r>
            <a:endParaRPr>
              <a:latin typeface="Josefin Slab"/>
              <a:ea typeface="Josefin Slab"/>
              <a:cs typeface="Josefin Slab"/>
              <a:sym typeface="Josefin Slab"/>
            </a:endParaRPr>
          </a:p>
          <a:p>
            <a:pPr indent="-381000" lvl="1" marL="914400" rtl="0" algn="l">
              <a:spcBef>
                <a:spcPts val="0"/>
              </a:spcBef>
              <a:spcAft>
                <a:spcPts val="0"/>
              </a:spcAft>
              <a:buSzPts val="2400"/>
              <a:buChar char="○"/>
            </a:pPr>
            <a:r>
              <a:rPr b="1" lang="en">
                <a:latin typeface="Josefin Slab"/>
                <a:ea typeface="Josefin Slab"/>
                <a:cs typeface="Josefin Slab"/>
                <a:sym typeface="Josefin Slab"/>
              </a:rPr>
              <a:t>Emotional contagion</a:t>
            </a:r>
            <a:r>
              <a:rPr lang="en">
                <a:latin typeface="Josefin Slab"/>
                <a:ea typeface="Josefin Slab"/>
                <a:cs typeface="Josefin Slab"/>
                <a:sym typeface="Josefin Slab"/>
              </a:rPr>
              <a:t>: Cumulative interaction with a large number of adopters leads persons to adopt</a:t>
            </a:r>
            <a:endParaRPr>
              <a:latin typeface="Josefin Slab"/>
              <a:ea typeface="Josefin Slab"/>
              <a:cs typeface="Josefin Slab"/>
              <a:sym typeface="Josefin Slab"/>
            </a:endParaRPr>
          </a:p>
        </p:txBody>
      </p:sp>
      <p:pic>
        <p:nvPicPr>
          <p:cNvPr id="186" name="Google Shape;186;p29"/>
          <p:cNvPicPr preferRelativeResize="0"/>
          <p:nvPr/>
        </p:nvPicPr>
        <p:blipFill>
          <a:blip r:embed="rId3">
            <a:alphaModFix/>
          </a:blip>
          <a:stretch>
            <a:fillRect/>
          </a:stretch>
        </p:blipFill>
        <p:spPr>
          <a:xfrm>
            <a:off x="5641425" y="1546884"/>
            <a:ext cx="3045375" cy="507433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0"/>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Simple Contagion</a:t>
            </a:r>
            <a:endParaRPr/>
          </a:p>
        </p:txBody>
      </p:sp>
      <p:sp>
        <p:nvSpPr>
          <p:cNvPr id="192" name="Google Shape;192;p30"/>
          <p:cNvSpPr txBox="1"/>
          <p:nvPr>
            <p:ph idx="1" type="body"/>
          </p:nvPr>
        </p:nvSpPr>
        <p:spPr>
          <a:xfrm>
            <a:off x="457200" y="1600200"/>
            <a:ext cx="7555800" cy="24111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
                <a:latin typeface="Josefin Slab"/>
                <a:ea typeface="Josefin Slab"/>
                <a:cs typeface="Josefin Slab"/>
                <a:sym typeface="Josefin Slab"/>
              </a:rPr>
              <a:t>Watts &amp; Strogatz - random rewiring creates long (weak) ties</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small world with clustering</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works for simple contagion</a:t>
            </a:r>
            <a:endParaRPr>
              <a:latin typeface="Josefin Slab"/>
              <a:ea typeface="Josefin Slab"/>
              <a:cs typeface="Josefin Slab"/>
              <a:sym typeface="Josefin Slab"/>
            </a:endParaRPr>
          </a:p>
        </p:txBody>
      </p:sp>
      <p:pic>
        <p:nvPicPr>
          <p:cNvPr id="193" name="Google Shape;193;p30"/>
          <p:cNvPicPr preferRelativeResize="0"/>
          <p:nvPr/>
        </p:nvPicPr>
        <p:blipFill>
          <a:blip r:embed="rId3">
            <a:alphaModFix/>
          </a:blip>
          <a:stretch>
            <a:fillRect/>
          </a:stretch>
        </p:blipFill>
        <p:spPr>
          <a:xfrm>
            <a:off x="1724500" y="3632863"/>
            <a:ext cx="5238750" cy="27527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Complex Contagion</a:t>
            </a:r>
            <a:endParaRPr/>
          </a:p>
        </p:txBody>
      </p:sp>
      <p:sp>
        <p:nvSpPr>
          <p:cNvPr id="199" name="Google Shape;199;p31"/>
          <p:cNvSpPr txBox="1"/>
          <p:nvPr>
            <p:ph idx="1" type="body"/>
          </p:nvPr>
        </p:nvSpPr>
        <p:spPr>
          <a:xfrm>
            <a:off x="457200" y="1600200"/>
            <a:ext cx="44868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
                <a:latin typeface="Josefin Slab"/>
                <a:ea typeface="Josefin Slab"/>
                <a:cs typeface="Josefin Slab"/>
                <a:sym typeface="Josefin Slab"/>
              </a:rPr>
              <a:t>Weakness of long ties </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Network threshold model (adoption requires more than 1 time exposure (multiple alters)) because weak ties need confirmation</a:t>
            </a:r>
            <a:endParaRPr>
              <a:latin typeface="Josefin Slab"/>
              <a:ea typeface="Josefin Slab"/>
              <a:cs typeface="Josefin Slab"/>
              <a:sym typeface="Josefin Slab"/>
            </a:endParaRPr>
          </a:p>
          <a:p>
            <a:pPr indent="-381000" lvl="1" marL="914400" rtl="0" algn="l">
              <a:spcBef>
                <a:spcPts val="0"/>
              </a:spcBef>
              <a:spcAft>
                <a:spcPts val="0"/>
              </a:spcAft>
              <a:buSzPts val="2400"/>
              <a:buChar char="○"/>
            </a:pPr>
            <a:r>
              <a:rPr lang="en">
                <a:latin typeface="Josefin Slab"/>
                <a:ea typeface="Josefin Slab"/>
                <a:cs typeface="Josefin Slab"/>
                <a:sym typeface="Josefin Slab"/>
              </a:rPr>
              <a:t>Bridges (long ties) must be wide</a:t>
            </a:r>
            <a:endParaRPr>
              <a:latin typeface="Josefin Slab"/>
              <a:ea typeface="Josefin Slab"/>
              <a:cs typeface="Josefin Slab"/>
              <a:sym typeface="Josefin Slab"/>
            </a:endParaRPr>
          </a:p>
          <a:p>
            <a:pPr indent="0" lvl="0" marL="0" rtl="0" algn="l">
              <a:spcBef>
                <a:spcPts val="600"/>
              </a:spcBef>
              <a:spcAft>
                <a:spcPts val="0"/>
              </a:spcAft>
              <a:buNone/>
            </a:pPr>
            <a:r>
              <a:t/>
            </a:r>
            <a:endParaRPr/>
          </a:p>
        </p:txBody>
      </p:sp>
      <p:pic>
        <p:nvPicPr>
          <p:cNvPr id="200" name="Google Shape;200;p31"/>
          <p:cNvPicPr preferRelativeResize="0"/>
          <p:nvPr/>
        </p:nvPicPr>
        <p:blipFill>
          <a:blip r:embed="rId3">
            <a:alphaModFix/>
          </a:blip>
          <a:stretch>
            <a:fillRect/>
          </a:stretch>
        </p:blipFill>
        <p:spPr>
          <a:xfrm>
            <a:off x="4943975" y="2062625"/>
            <a:ext cx="4614750" cy="3597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457200" y="274638"/>
            <a:ext cx="82296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Complex Contagion</a:t>
            </a:r>
            <a:endParaRPr/>
          </a:p>
        </p:txBody>
      </p:sp>
      <p:sp>
        <p:nvSpPr>
          <p:cNvPr id="206" name="Google Shape;206;p32"/>
          <p:cNvSpPr txBox="1"/>
          <p:nvPr>
            <p:ph idx="1" type="body"/>
          </p:nvPr>
        </p:nvSpPr>
        <p:spPr>
          <a:xfrm>
            <a:off x="457200" y="1600200"/>
            <a:ext cx="8229600" cy="49677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Font typeface="Josefin Slab"/>
              <a:buChar char="●"/>
            </a:pPr>
            <a:r>
              <a:rPr lang="en">
                <a:latin typeface="Josefin Slab"/>
                <a:ea typeface="Josefin Slab"/>
                <a:cs typeface="Josefin Slab"/>
                <a:sym typeface="Josefin Slab"/>
              </a:rPr>
              <a:t>Problem</a:t>
            </a:r>
            <a:endParaRPr>
              <a:latin typeface="Josefin Slab"/>
              <a:ea typeface="Josefin Slab"/>
              <a:cs typeface="Josefin Slab"/>
              <a:sym typeface="Josefin Slab"/>
            </a:endParaRPr>
          </a:p>
          <a:p>
            <a:pPr indent="-381000" lvl="1" marL="914400" rtl="0" algn="l">
              <a:spcBef>
                <a:spcPts val="0"/>
              </a:spcBef>
              <a:spcAft>
                <a:spcPts val="0"/>
              </a:spcAft>
              <a:buSzPts val="2400"/>
              <a:buChar char="○"/>
            </a:pPr>
            <a:r>
              <a:rPr lang="en">
                <a:latin typeface="Josefin Slab"/>
                <a:ea typeface="Josefin Slab"/>
                <a:cs typeface="Josefin Slab"/>
                <a:sym typeface="Josefin Slab"/>
              </a:rPr>
              <a:t>Long ties non-transitive</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Rewiring breaks bridges</a:t>
            </a:r>
            <a:endParaRPr>
              <a:latin typeface="Josefin Slab"/>
              <a:ea typeface="Josefin Slab"/>
              <a:cs typeface="Josefin Slab"/>
              <a:sym typeface="Josefin Slab"/>
            </a:endParaRPr>
          </a:p>
          <a:p>
            <a:pPr indent="-381000" lvl="1" marL="914400" rtl="0" algn="l">
              <a:spcBef>
                <a:spcPts val="0"/>
              </a:spcBef>
              <a:spcAft>
                <a:spcPts val="0"/>
              </a:spcAft>
              <a:buSzPts val="2400"/>
              <a:buFont typeface="Josefin Slab"/>
              <a:buChar char="○"/>
            </a:pPr>
            <a:r>
              <a:rPr lang="en">
                <a:latin typeface="Josefin Slab"/>
                <a:ea typeface="Josefin Slab"/>
                <a:cs typeface="Josefin Slab"/>
                <a:sym typeface="Josefin Slab"/>
              </a:rPr>
              <a:t>Simulations show if threshold &gt; 2 alters, no diffusion</a:t>
            </a:r>
            <a:endParaRPr>
              <a:latin typeface="Josefin Slab"/>
              <a:ea typeface="Josefin Slab"/>
              <a:cs typeface="Josefin Slab"/>
              <a:sym typeface="Josefin Slab"/>
            </a:endParaRPr>
          </a:p>
          <a:p>
            <a:pPr indent="-381000" lvl="2" marL="1371600" rtl="0" algn="l">
              <a:spcBef>
                <a:spcPts val="0"/>
              </a:spcBef>
              <a:spcAft>
                <a:spcPts val="0"/>
              </a:spcAft>
              <a:buSzPts val="2400"/>
              <a:buFont typeface="Josefin Slab"/>
              <a:buChar char="■"/>
            </a:pPr>
            <a:r>
              <a:rPr lang="en">
                <a:latin typeface="Josefin Slab"/>
                <a:ea typeface="Josefin Slab"/>
                <a:cs typeface="Josefin Slab"/>
                <a:sym typeface="Josefin Slab"/>
              </a:rPr>
              <a:t>Need wider bridges, but random rewiring unlikely to create them</a:t>
            </a:r>
            <a:endParaRPr>
              <a:latin typeface="Josefin Slab"/>
              <a:ea typeface="Josefin Slab"/>
              <a:cs typeface="Josefin Slab"/>
              <a:sym typeface="Josefin Slab"/>
            </a:endParaRPr>
          </a:p>
          <a:p>
            <a:pPr indent="-381000" lvl="2" marL="1371600" rtl="0" algn="l">
              <a:spcBef>
                <a:spcPts val="0"/>
              </a:spcBef>
              <a:spcAft>
                <a:spcPts val="0"/>
              </a:spcAft>
              <a:buSzPts val="2400"/>
              <a:buFont typeface="Josefin Slab"/>
              <a:buChar char="■"/>
            </a:pPr>
            <a:r>
              <a:rPr lang="en">
                <a:latin typeface="Josefin Slab"/>
                <a:ea typeface="Josefin Slab"/>
                <a:cs typeface="Josefin Slab"/>
                <a:sym typeface="Josefin Slab"/>
              </a:rPr>
              <a:t>Break existing bridges</a:t>
            </a:r>
            <a:endParaRPr>
              <a:latin typeface="Josefin Slab"/>
              <a:ea typeface="Josefin Slab"/>
              <a:cs typeface="Josefin Slab"/>
              <a:sym typeface="Josefin Slab"/>
            </a:endParaRPr>
          </a:p>
          <a:p>
            <a:pPr indent="0" lvl="0" marL="0" rtl="0" algn="l">
              <a:spcBef>
                <a:spcPts val="6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Custom 218">
      <a:dk1>
        <a:srgbClr val="000000"/>
      </a:dk1>
      <a:lt1>
        <a:srgbClr val="FFFFFF"/>
      </a:lt1>
      <a:dk2>
        <a:srgbClr val="5B595A"/>
      </a:dk2>
      <a:lt2>
        <a:srgbClr val="CFD4D4"/>
      </a:lt2>
      <a:accent1>
        <a:srgbClr val="CC0202"/>
      </a:accent1>
      <a:accent2>
        <a:srgbClr val="228AFF"/>
      </a:accent2>
      <a:accent3>
        <a:srgbClr val="FBC82F"/>
      </a:accent3>
      <a:accent4>
        <a:srgbClr val="253E91"/>
      </a:accent4>
      <a:accent5>
        <a:srgbClr val="F68D0C"/>
      </a:accent5>
      <a:accent6>
        <a:srgbClr val="257E12"/>
      </a:accent6>
      <a:hlink>
        <a:srgbClr val="144C72"/>
      </a:hlink>
      <a:folHlink>
        <a:srgbClr val="8C9D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