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a93f685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a93f685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1997 Social Networks Special Issue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Wellman:  Community Lost, Saved, Liberated; strong ties; life-course effects; not densisty or degree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Morgan:  Core and Periphery ties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Bidert  Life course  3 types of trajectories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Martin:  Ego and dyad effect, e.g. homopholy, embeddedness.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93f685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93f685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compatibility,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a93f6851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a93f685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93f6851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a93f685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measures of both direction of event and intensity of flow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a93f6851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a93f6851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a93f6851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a93f685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a93f6851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a93f685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a93f6851_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a93f685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3f6851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3f685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a93f6851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a93f6851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a93f6851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a93f685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logged means Rij = 0 when pij = pji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if mi+ = mj+  reduces to 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a93f6851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a93f685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bc1f5a32f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bc1f5a32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a93f6851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a93f6851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a93f6851_2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a93f6851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a93f6851_2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a93f6851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a93f6851_2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a93f6851_2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a93f6851_2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a93f6851_2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a93f6851_2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a93f6851_2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a93f6851_2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a93f6851_2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a93f6851_2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a93f6851_2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a93f6851_2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a93f6851_2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a93f6851_2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a93f6851_2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a93f6851_2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a93f6851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Vertices to Edges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Focus so far on Vertices (Nodes)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>
                <a:solidFill>
                  <a:srgbClr val="000000"/>
                </a:solidFill>
              </a:rPr>
              <a:t>Actors/Agents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>
                <a:solidFill>
                  <a:srgbClr val="000000"/>
                </a:solidFill>
              </a:rPr>
              <a:t>Classical "variable" sociology:  Property Agent --&gt; Behavior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>
                <a:solidFill>
                  <a:srgbClr val="000000"/>
                </a:solidFill>
              </a:rPr>
              <a:t>Structural (Network) Property:  Centrality, CC, Degree (Network Size), Network Composition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>
                <a:solidFill>
                  <a:srgbClr val="000000"/>
                </a:solidFill>
              </a:rPr>
              <a:t>Ego Networks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G = (V, E) with N vertices and M Edges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about the edges (dyads)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Critical for dynamic analysis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tie formation and persistence (or decay)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flows and weighted edges based on interaction events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generative processes - network evolution model (rules) 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417638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Binary arc data (presence/absence)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Dyadic Census - 3 states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Null Dyad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Asymmetric Dyad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Mutual Dyad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Tie formation (link prediction) &amp; persistence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Longitudinal Data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Formation or Persistence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Next time:  (choice) homophily --&gt; tie formation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Prior work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Mutuals persist, asymmetric --&gt; null than mutual (Hallinan1978)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1997 Social Networks Special Issue (ego networks)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Burt:  Tie Decay</a:t>
            </a:r>
            <a:endParaRPr/>
          </a:p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314069" y="1554449"/>
            <a:ext cx="3913500" cy="26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2400"/>
              <a:t>formation vs. persistence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/>
              <a:t>liability of newness: </a:t>
            </a:r>
            <a:r>
              <a:rPr lang="en" sz="1800"/>
              <a:t>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longer in a state less likely to leave the state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" name="Google Shape;4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88" y="4388096"/>
            <a:ext cx="3922606" cy="196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2988" y="1762642"/>
            <a:ext cx="4063763" cy="4586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Burt:  Tie Decay	- Predictors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Node Age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Tie Age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Strength (subjective measure)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Colleague availability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Homophily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minimal rank homophily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Gender:  M-M lower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Age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Embeddedness (number of third parties connecting A &amp; B)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lowers decay, increases persistence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explains homophily effects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disruptive embedding (cascading tie decay)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Ties and Interaction Events</a:t>
            </a:r>
            <a:endParaRPr/>
          </a:p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What is a social tie?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solidFill>
                  <a:srgbClr val="000000"/>
                </a:solidFill>
              </a:rPr>
              <a:t>Dyadic social interactions </a:t>
            </a:r>
            <a:endParaRPr>
              <a:solidFill>
                <a:srgbClr val="000000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000000"/>
                </a:solidFill>
              </a:rPr>
              <a:t>playing tennis, having sex, talking with, collaborating together on, exchanging with, giving to, receiving from) </a:t>
            </a:r>
            <a:endParaRPr>
              <a:solidFill>
                <a:srgbClr val="000000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Events:  instances of interaction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event traits:  initiating, waiting times, sequencing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Communicative interactions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000000"/>
                </a:solidFill>
              </a:rPr>
              <a:t>Initiating, who provides information, time talking, length of messages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Aggregating events by time period 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Tie:  at least one event in a given time period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Ties and Interaction Events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Tie:  Link through which events occur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Through ties events (interactions) "flow"</a:t>
            </a:r>
            <a:endParaRPr sz="24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Directed flow:  initiated of event, sender and receiver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Strong ties:  Large flows (number of events), bandwidth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Reciprocal ties:  Balanced flows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000000"/>
                </a:solidFill>
              </a:rPr>
              <a:t>Balanced counts aggregated from information on the occurrence and traits of interactional events within a time window</a:t>
            </a:r>
            <a:endParaRPr>
              <a:solidFill>
                <a:srgbClr val="000000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000000"/>
                </a:solidFill>
              </a:rPr>
              <a:t>A temporal event sequence  A-&gt;B-&gt;A-&gt;B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Weighted Edge Graphs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57200" y="1600200"/>
            <a:ext cx="8229600" cy="25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Arc</a:t>
            </a:r>
            <a:r>
              <a:rPr lang="en" sz="2200">
                <a:solidFill>
                  <a:srgbClr val="000000"/>
                </a:solidFill>
              </a:rPr>
              <a:t> </a:t>
            </a:r>
            <a:r>
              <a:rPr b="1" lang="en" sz="2200">
                <a:solidFill>
                  <a:srgbClr val="000000"/>
                </a:solidFill>
              </a:rPr>
              <a:t>(x</a:t>
            </a:r>
            <a:r>
              <a:rPr b="1" baseline="-25000" lang="en" sz="2200">
                <a:solidFill>
                  <a:srgbClr val="000000"/>
                </a:solidFill>
              </a:rPr>
              <a:t>ij</a:t>
            </a:r>
            <a:r>
              <a:rPr b="1" lang="en" sz="2200">
                <a:solidFill>
                  <a:srgbClr val="000000"/>
                </a:solidFill>
              </a:rPr>
              <a:t> = 1)</a:t>
            </a:r>
            <a:r>
              <a:rPr lang="en" sz="2200">
                <a:solidFill>
                  <a:srgbClr val="000000"/>
                </a:solidFill>
              </a:rPr>
              <a:t>:  if  there was an interaction between i and j within a given time period and i initiated that interaction (e.g., a call from i to j)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Outflow Parameter (m</a:t>
            </a:r>
            <a:r>
              <a:rPr b="1" baseline="-25000" lang="en" sz="2200">
                <a:solidFill>
                  <a:srgbClr val="000000"/>
                </a:solidFill>
              </a:rPr>
              <a:t>ij</a:t>
            </a:r>
            <a:r>
              <a:rPr lang="en" sz="2200">
                <a:solidFill>
                  <a:srgbClr val="000000"/>
                </a:solidFill>
              </a:rPr>
              <a:t>):  Count of the number of interactions between i and j that were initiated by i  in a given time period (e.g., number of calls made by i to j)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452" y="4123500"/>
            <a:ext cx="2491325" cy="253526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4594275" y="4206950"/>
            <a:ext cx="3615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x</a:t>
            </a:r>
            <a:r>
              <a:rPr baseline="-25000" lang="en" sz="2100"/>
              <a:t>12</a:t>
            </a:r>
            <a:r>
              <a:rPr lang="en" sz="2100"/>
              <a:t> = x</a:t>
            </a:r>
            <a:r>
              <a:rPr baseline="-25000" lang="en" sz="2100"/>
              <a:t>13</a:t>
            </a:r>
            <a:r>
              <a:rPr lang="en" sz="2100"/>
              <a:t> = x</a:t>
            </a:r>
            <a:r>
              <a:rPr baseline="-25000" lang="en" sz="2100"/>
              <a:t>14</a:t>
            </a:r>
            <a:r>
              <a:rPr lang="en" sz="2100"/>
              <a:t> = 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12</a:t>
            </a:r>
            <a:r>
              <a:rPr lang="en" sz="2100"/>
              <a:t> = 5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13</a:t>
            </a:r>
            <a:r>
              <a:rPr lang="en" sz="2100"/>
              <a:t> = 3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14</a:t>
            </a:r>
            <a:r>
              <a:rPr lang="en" sz="2100"/>
              <a:t> = 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Level Properties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57200" y="1600200"/>
            <a:ext cx="4798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 sz="2400"/>
              <a:t>Out-degree (d</a:t>
            </a:r>
            <a:r>
              <a:rPr b="1" baseline="-25000" lang="en" sz="2400"/>
              <a:t>i</a:t>
            </a:r>
            <a:r>
              <a:rPr b="1" lang="en" sz="2400"/>
              <a:t>)</a:t>
            </a:r>
            <a:r>
              <a:rPr lang="en" sz="2400"/>
              <a:t>: </a:t>
            </a:r>
            <a:r>
              <a:rPr lang="en" sz="2400">
                <a:solidFill>
                  <a:srgbClr val="000000"/>
                </a:solidFill>
              </a:rPr>
              <a:t>count of number of </a:t>
            </a:r>
            <a:r>
              <a:rPr i="1" lang="en" sz="2400">
                <a:solidFill>
                  <a:srgbClr val="000000"/>
                </a:solidFill>
              </a:rPr>
              <a:t>j</a:t>
            </a:r>
            <a:r>
              <a:rPr lang="en" sz="2400">
                <a:solidFill>
                  <a:srgbClr val="000000"/>
                </a:solidFill>
              </a:rPr>
              <a:t> nodes that </a:t>
            </a:r>
            <a:r>
              <a:rPr i="1" lang="en" sz="2400"/>
              <a:t>i</a:t>
            </a:r>
            <a:r>
              <a:rPr lang="en" sz="2400">
                <a:solidFill>
                  <a:srgbClr val="000000"/>
                </a:solidFill>
              </a:rPr>
              <a:t> has initiated interaction with in a given time period (e.g., number of people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 called)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</a:t>
            </a:r>
            <a:r>
              <a:rPr b="1" lang="en" sz="2400"/>
              <a:t>ertex Strength (m</a:t>
            </a:r>
            <a:r>
              <a:rPr b="1" baseline="-25000" lang="en" sz="2400"/>
              <a:t>i+</a:t>
            </a:r>
            <a:r>
              <a:rPr b="1" lang="en" sz="2400"/>
              <a:t>): </a:t>
            </a:r>
            <a:r>
              <a:rPr lang="en" sz="2400">
                <a:solidFill>
                  <a:srgbClr val="000000"/>
                </a:solidFill>
              </a:rPr>
              <a:t>activity level of a node, i.e.  Count of the number of interactions initiated by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 with all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’s </a:t>
            </a:r>
            <a:r>
              <a:rPr i="1" lang="en" sz="2400">
                <a:solidFill>
                  <a:srgbClr val="000000"/>
                </a:solidFill>
              </a:rPr>
              <a:t>j</a:t>
            </a:r>
            <a:r>
              <a:rPr lang="en" sz="2400">
                <a:solidFill>
                  <a:srgbClr val="000000"/>
                </a:solidFill>
              </a:rPr>
              <a:t> neighbors in a given time period (e.g., total number of calls made by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)</a:t>
            </a:r>
            <a:endParaRPr baseline="-25000" sz="2400"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0593" y="1718125"/>
            <a:ext cx="1962853" cy="222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7411" y="4476812"/>
            <a:ext cx="2049417" cy="97159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5998120" y="5600802"/>
            <a:ext cx="27078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</a:t>
            </a:r>
            <a:r>
              <a:rPr baseline="-25000" lang="en" sz="2400"/>
              <a:t>1+</a:t>
            </a:r>
            <a:r>
              <a:rPr lang="en" sz="2400"/>
              <a:t> = 5+3+1 = 9</a:t>
            </a:r>
            <a:endParaRPr sz="2400"/>
          </a:p>
        </p:txBody>
      </p:sp>
      <p:sp>
        <p:nvSpPr>
          <p:cNvPr id="86" name="Google Shape;86;p15"/>
          <p:cNvSpPr txBox="1"/>
          <p:nvPr/>
        </p:nvSpPr>
        <p:spPr>
          <a:xfrm>
            <a:off x="5821207" y="4062958"/>
            <a:ext cx="21234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</a:t>
            </a:r>
            <a:r>
              <a:rPr baseline="-25000" lang="en" sz="2400"/>
              <a:t>1</a:t>
            </a:r>
            <a:r>
              <a:rPr lang="en" sz="2400"/>
              <a:t> = 3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 Flows &amp; Vertex Strength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68206" y="2818300"/>
            <a:ext cx="5170500" cy="1287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/>
              <a:t>conditional transition probability</a:t>
            </a:r>
            <a:r>
              <a:rPr lang="en" sz="2400"/>
              <a:t>:  probability, given that an event has been initiated by i, that it is with j. </a:t>
            </a:r>
            <a:endParaRPr sz="2400"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554" y="1905271"/>
            <a:ext cx="2094692" cy="6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6850" y="1875113"/>
            <a:ext cx="1521210" cy="71929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801547" y="5053965"/>
            <a:ext cx="30813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</a:t>
            </a:r>
            <a:r>
              <a:rPr baseline="-25000" lang="en" sz="2400"/>
              <a:t>12</a:t>
            </a:r>
            <a:r>
              <a:rPr lang="en" sz="2400"/>
              <a:t> = (m</a:t>
            </a:r>
            <a:r>
              <a:rPr baseline="-25000" lang="en" sz="2400"/>
              <a:t>1+</a:t>
            </a:r>
            <a:r>
              <a:rPr lang="en" sz="2400"/>
              <a:t>) (p</a:t>
            </a:r>
            <a:r>
              <a:rPr baseline="-25000" lang="en" sz="2400"/>
              <a:t>12</a:t>
            </a:r>
            <a:r>
              <a:rPr lang="en" sz="2400"/>
              <a:t>)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5 = 9*(5/9)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6" name="Google Shape;96;p16"/>
          <p:cNvSpPr txBox="1"/>
          <p:nvPr/>
        </p:nvSpPr>
        <p:spPr>
          <a:xfrm>
            <a:off x="5194300" y="4635465"/>
            <a:ext cx="3419100" cy="1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12</a:t>
            </a:r>
            <a:r>
              <a:rPr lang="en" sz="2400"/>
              <a:t> = 5/9 = .556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13</a:t>
            </a:r>
            <a:r>
              <a:rPr lang="en" sz="2400"/>
              <a:t> = 3/9 = .333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14</a:t>
            </a:r>
            <a:r>
              <a:rPr lang="en" sz="2400"/>
              <a:t> = 1/9 = .111</a:t>
            </a:r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0323" y="2153400"/>
            <a:ext cx="1962853" cy="222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(Arc) Strength</a:t>
            </a:r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Arc Flow</a:t>
            </a:r>
            <a:r>
              <a:rPr lang="en"/>
              <a:t>:  m</a:t>
            </a:r>
            <a:r>
              <a:rPr baseline="-25000" lang="en"/>
              <a:t>ij</a:t>
            </a:r>
            <a:r>
              <a:rPr lang="en"/>
              <a:t> = (m</a:t>
            </a:r>
            <a:r>
              <a:rPr baseline="-25000" lang="en"/>
              <a:t>i+</a:t>
            </a:r>
            <a:r>
              <a:rPr lang="en"/>
              <a:t>) (p</a:t>
            </a:r>
            <a:r>
              <a:rPr baseline="-25000" lang="en"/>
              <a:t>ij</a:t>
            </a:r>
            <a:r>
              <a:rPr lang="en"/>
              <a:t>)</a:t>
            </a:r>
            <a:endParaRPr baseline="-25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Transition Probability</a:t>
            </a:r>
            <a:r>
              <a:rPr lang="en"/>
              <a:t>:	  p</a:t>
            </a:r>
            <a:r>
              <a:rPr baseline="-25000" lang="en"/>
              <a:t>ij</a:t>
            </a:r>
            <a:endParaRPr baseline="-25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Relative Strength</a:t>
            </a:r>
            <a:r>
              <a:rPr lang="en"/>
              <a:t>:		m</a:t>
            </a:r>
            <a:r>
              <a:rPr baseline="-25000" lang="en"/>
              <a:t>ij</a:t>
            </a:r>
            <a:r>
              <a:rPr lang="en"/>
              <a:t>/max(m</a:t>
            </a:r>
            <a:r>
              <a:rPr baseline="-25000" lang="en"/>
              <a:t>ik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Vertex Strength</a:t>
            </a:r>
            <a:r>
              <a:rPr lang="en"/>
              <a:t>:    m</a:t>
            </a:r>
            <a:r>
              <a:rPr baseline="-25000" lang="en"/>
              <a:t>i+</a:t>
            </a:r>
            <a:endParaRPr baseline="-25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Dyadic Edge Strength</a:t>
            </a:r>
            <a:r>
              <a:rPr lang="en"/>
              <a:t> </a:t>
            </a:r>
            <a:br>
              <a:rPr lang="en"/>
            </a:br>
            <a:r>
              <a:rPr lang="en"/>
              <a:t>(bandwidth)  </a:t>
            </a:r>
            <a:endParaRPr/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050" y="4807388"/>
            <a:ext cx="2766616" cy="846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Simple Model	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Norm of Reciprocity:  Agents more likely to dissolve a tie if non-reciprocal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baseline="-25000" lang="en"/>
              <a:t>ij</a:t>
            </a:r>
            <a:r>
              <a:rPr lang="en"/>
              <a:t>(1) = |m</a:t>
            </a:r>
            <a:r>
              <a:rPr baseline="-25000" lang="en"/>
              <a:t>ij</a:t>
            </a:r>
            <a:r>
              <a:rPr lang="en"/>
              <a:t> - m</a:t>
            </a:r>
            <a:r>
              <a:rPr baseline="-25000" lang="en"/>
              <a:t>ji</a:t>
            </a:r>
            <a:r>
              <a:rPr lang="en"/>
              <a:t>|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baseline="-25000" lang="en"/>
              <a:t>ij</a:t>
            </a:r>
            <a:r>
              <a:rPr lang="en"/>
              <a:t>(2) = ln(m</a:t>
            </a:r>
            <a:r>
              <a:rPr baseline="-25000" lang="en"/>
              <a:t>ij</a:t>
            </a:r>
            <a:r>
              <a:rPr lang="en"/>
              <a:t>) -  ln(m</a:t>
            </a:r>
            <a:r>
              <a:rPr baseline="-25000" lang="en"/>
              <a:t>ji</a:t>
            </a:r>
            <a:r>
              <a:rPr lang="en"/>
              <a:t>) = ln(m</a:t>
            </a:r>
            <a:r>
              <a:rPr baseline="-25000" lang="en"/>
              <a:t>ij</a:t>
            </a:r>
            <a:r>
              <a:rPr lang="en"/>
              <a:t>/m</a:t>
            </a:r>
            <a:r>
              <a:rPr baseline="-25000" lang="en"/>
              <a:t>ji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Behavioral Model</a:t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457200" y="1600200"/>
            <a:ext cx="8229600" cy="49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sz="2400"/>
              <a:t>Why would j initiate interaction (call) with </a:t>
            </a:r>
            <a:r>
              <a:rPr i="1" lang="en" sz="2400"/>
              <a:t>i</a:t>
            </a:r>
            <a:r>
              <a:rPr lang="en" sz="2400"/>
              <a:t> more (less) than </a:t>
            </a:r>
            <a:r>
              <a:rPr i="1" lang="en" sz="2400"/>
              <a:t>i</a:t>
            </a:r>
            <a:r>
              <a:rPr lang="en" sz="2400"/>
              <a:t> initiates interaction?</a:t>
            </a:r>
            <a:endParaRPr sz="24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2400"/>
              <a:t>Local knowledge: 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i="1" lang="en" sz="1800"/>
              <a:t>i</a:t>
            </a:r>
            <a:r>
              <a:rPr lang="en" sz="1800"/>
              <a:t> knows: m</a:t>
            </a:r>
            <a:r>
              <a:rPr baseline="-25000" lang="en" sz="1800"/>
              <a:t>ij</a:t>
            </a:r>
            <a:r>
              <a:rPr lang="en" sz="1800"/>
              <a:t>, m</a:t>
            </a:r>
            <a:r>
              <a:rPr baseline="-25000" lang="en" sz="1800"/>
              <a:t>ji</a:t>
            </a:r>
            <a:r>
              <a:rPr lang="en" sz="1800"/>
              <a:t>, d</a:t>
            </a:r>
            <a:r>
              <a:rPr baseline="-25000" lang="en" sz="1800"/>
              <a:t>i</a:t>
            </a:r>
            <a:r>
              <a:rPr lang="en" sz="1800"/>
              <a:t>, m</a:t>
            </a:r>
            <a:r>
              <a:rPr baseline="-25000" lang="en" sz="1800"/>
              <a:t>i+</a:t>
            </a:r>
            <a:endParaRPr baseline="-25000"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i="1" lang="en" sz="1800"/>
              <a:t>i</a:t>
            </a:r>
            <a:r>
              <a:rPr lang="en" sz="1800"/>
              <a:t> does not know: d</a:t>
            </a:r>
            <a:r>
              <a:rPr baseline="-25000" lang="en" sz="1800"/>
              <a:t>j</a:t>
            </a:r>
            <a:r>
              <a:rPr lang="en" sz="1800"/>
              <a:t>, m</a:t>
            </a:r>
            <a:r>
              <a:rPr baseline="-25000" lang="en" sz="1800"/>
              <a:t>j+</a:t>
            </a:r>
            <a:endParaRPr baseline="-25000"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assumes m</a:t>
            </a:r>
            <a:r>
              <a:rPr baseline="-25000" lang="en" sz="1800"/>
              <a:t>j+</a:t>
            </a:r>
            <a:r>
              <a:rPr lang="en" sz="1800"/>
              <a:t> = m</a:t>
            </a:r>
            <a:r>
              <a:rPr baseline="-25000" lang="en" sz="1800"/>
              <a:t>i+</a:t>
            </a:r>
            <a:r>
              <a:rPr lang="en" sz="1800"/>
              <a:t>, d</a:t>
            </a:r>
            <a:r>
              <a:rPr baseline="-25000" lang="en" sz="1800"/>
              <a:t>j</a:t>
            </a:r>
            <a:r>
              <a:rPr lang="en" sz="1800"/>
              <a:t>= d</a:t>
            </a:r>
            <a:r>
              <a:rPr baseline="-25000" lang="en" sz="1800"/>
              <a:t>i</a:t>
            </a:r>
            <a:endParaRPr baseline="-25000" sz="18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2400"/>
              <a:t>Weight  m</a:t>
            </a:r>
            <a:r>
              <a:rPr baseline="-25000" lang="en" sz="2400"/>
              <a:t>ij</a:t>
            </a:r>
            <a:r>
              <a:rPr lang="en" sz="2400"/>
              <a:t> by m</a:t>
            </a:r>
            <a:r>
              <a:rPr baseline="-25000" lang="en" sz="2400"/>
              <a:t>j+</a:t>
            </a:r>
            <a:r>
              <a:rPr lang="en" sz="2400"/>
              <a:t>/m</a:t>
            </a:r>
            <a:r>
              <a:rPr baseline="-25000" lang="en" sz="2400"/>
              <a:t>i+</a:t>
            </a:r>
            <a:endParaRPr baseline="-25000" sz="24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Rij(3) 	=  |m</a:t>
            </a:r>
            <a:r>
              <a:rPr baseline="-25000" lang="en" sz="2400"/>
              <a:t>ij</a:t>
            </a:r>
            <a:r>
              <a:rPr lang="en" sz="2400"/>
              <a:t>(m</a:t>
            </a:r>
            <a:r>
              <a:rPr baseline="-25000" lang="en" sz="2400"/>
              <a:t>j+</a:t>
            </a:r>
            <a:r>
              <a:rPr lang="en" sz="2400"/>
              <a:t>/m</a:t>
            </a:r>
            <a:r>
              <a:rPr baseline="-25000" lang="en" sz="2400"/>
              <a:t>i+</a:t>
            </a:r>
            <a:r>
              <a:rPr lang="en" sz="2400"/>
              <a:t>) - m</a:t>
            </a:r>
            <a:r>
              <a:rPr baseline="-25000" lang="en" sz="2400"/>
              <a:t>ji</a:t>
            </a:r>
            <a:r>
              <a:rPr lang="en" sz="2400"/>
              <a:t>|</a:t>
            </a:r>
            <a:endParaRPr sz="24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Rij(4) 	= |ln[m</a:t>
            </a:r>
            <a:r>
              <a:rPr baseline="-25000" lang="en" sz="2400"/>
              <a:t>ij</a:t>
            </a:r>
            <a:r>
              <a:rPr lang="en" sz="2400"/>
              <a:t>(m</a:t>
            </a:r>
            <a:r>
              <a:rPr baseline="-25000" lang="en" sz="2400"/>
              <a:t>j+</a:t>
            </a:r>
            <a:r>
              <a:rPr lang="en" sz="2400"/>
              <a:t>/m</a:t>
            </a:r>
            <a:r>
              <a:rPr baseline="-25000" lang="en" sz="2400"/>
              <a:t>i+</a:t>
            </a:r>
            <a:r>
              <a:rPr lang="en" sz="2400"/>
              <a:t>)] - ln[m</a:t>
            </a:r>
            <a:r>
              <a:rPr baseline="-25000" lang="en" sz="2400"/>
              <a:t>ji</a:t>
            </a:r>
            <a:r>
              <a:rPr lang="en" sz="2400"/>
              <a:t>]|</a:t>
            </a:r>
            <a:endParaRPr sz="2400"/>
          </a:p>
          <a:p>
            <a:pPr indent="45720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= |ln[(m</a:t>
            </a:r>
            <a:r>
              <a:rPr baseline="-25000" lang="en" sz="2400"/>
              <a:t>ij</a:t>
            </a:r>
            <a:r>
              <a:rPr lang="en" sz="2400"/>
              <a:t>/m</a:t>
            </a:r>
            <a:r>
              <a:rPr baseline="-25000" lang="en" sz="2400"/>
              <a:t>i+</a:t>
            </a:r>
            <a:r>
              <a:rPr lang="en" sz="2400"/>
              <a:t>)/(m</a:t>
            </a:r>
            <a:r>
              <a:rPr baseline="-25000" lang="en" sz="2400"/>
              <a:t>ji</a:t>
            </a:r>
            <a:r>
              <a:rPr lang="en" sz="2400"/>
              <a:t>/m</a:t>
            </a:r>
            <a:r>
              <a:rPr baseline="-25000" lang="en" sz="2400"/>
              <a:t>j+</a:t>
            </a:r>
            <a:r>
              <a:rPr lang="en" sz="2400"/>
              <a:t>)]|</a:t>
            </a:r>
            <a:endParaRPr sz="2400"/>
          </a:p>
          <a:p>
            <a:pPr indent="457200" lvl="0" marL="13716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= |ln (p</a:t>
            </a:r>
            <a:r>
              <a:rPr baseline="-25000" lang="en" sz="2400"/>
              <a:t>ij</a:t>
            </a:r>
            <a:r>
              <a:rPr lang="en" sz="2400"/>
              <a:t>/p</a:t>
            </a:r>
            <a:r>
              <a:rPr baseline="-25000" lang="en" sz="2400"/>
              <a:t>ji</a:t>
            </a:r>
            <a:r>
              <a:rPr lang="en" sz="2400"/>
              <a:t>)|= |ln(p</a:t>
            </a:r>
            <a:r>
              <a:rPr baseline="-25000" lang="en" sz="2400"/>
              <a:t>ij</a:t>
            </a:r>
            <a:r>
              <a:rPr lang="en" sz="2400"/>
              <a:t>) - ln(p</a:t>
            </a:r>
            <a:r>
              <a:rPr baseline="-25000" lang="en" sz="2400"/>
              <a:t>ji</a:t>
            </a:r>
            <a:r>
              <a:rPr lang="en" sz="2400"/>
              <a:t>)|</a:t>
            </a:r>
            <a:endParaRPr sz="24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t/>
            </a:r>
            <a:endParaRPr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Information Gain</a:t>
            </a:r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2356238"/>
            <a:ext cx="773430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Directional Reciprocity</a:t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725" y="1729475"/>
            <a:ext cx="312420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9625" y="2548625"/>
            <a:ext cx="24384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1650" y="3391475"/>
            <a:ext cx="6200175" cy="31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Decay Revisited</a:t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457200" y="1600200"/>
            <a:ext cx="6978000" cy="6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Cell phone data</a:t>
            </a:r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250" y="2565717"/>
            <a:ext cx="7353124" cy="3408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Predictors of Tie Decay</a:t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225" y="2317464"/>
            <a:ext cx="8770324" cy="344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Logic</a:t>
            </a:r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60943"/>
            <a:ext cx="9143999" cy="399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Results</a:t>
            </a:r>
            <a:endParaRPr/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825" y="1742567"/>
            <a:ext cx="5495537" cy="4928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Decision-Tree Results</a:t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229" y="1664922"/>
            <a:ext cx="3718995" cy="50152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4382610" y="1606771"/>
            <a:ext cx="4304100" cy="49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Path 1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directed tie strength &gt; 3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recent activation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Path 2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somewhat weak tie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reciprocated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recent activation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Strong ties persist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Weaker ties can persist if they become reciprocate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They then can also strengthen with time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Net of this, embeddedness not important.  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(Non-)Reciprocity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57200" y="1600200"/>
            <a:ext cx="8229600" cy="8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Out-Degree Mismatch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547" y="2726488"/>
            <a:ext cx="7040905" cy="2965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(Non-)Reciprocity</a:t>
            </a:r>
            <a:endParaRPr/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650" y="4688335"/>
            <a:ext cx="4324194" cy="198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/>
        </p:nvSpPr>
        <p:spPr>
          <a:xfrm>
            <a:off x="524275" y="1743045"/>
            <a:ext cx="53898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Unequal dispersion:  p</a:t>
            </a:r>
            <a:r>
              <a:rPr baseline="-25000" lang="en" sz="2400">
                <a:solidFill>
                  <a:schemeClr val="dk1"/>
                </a:solidFill>
              </a:rPr>
              <a:t>ij</a:t>
            </a:r>
            <a:r>
              <a:rPr lang="en" sz="2400">
                <a:solidFill>
                  <a:schemeClr val="dk1"/>
                </a:solidFill>
              </a:rPr>
              <a:t> ≠ p</a:t>
            </a:r>
            <a:r>
              <a:rPr baseline="-25000" lang="en" sz="2400">
                <a:solidFill>
                  <a:schemeClr val="dk1"/>
                </a:solidFill>
              </a:rPr>
              <a:t>ik</a:t>
            </a:r>
            <a:endParaRPr baseline="-25000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688" y="2318350"/>
            <a:ext cx="538162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8"/>
          <p:cNvSpPr txBox="1"/>
          <p:nvPr/>
        </p:nvSpPr>
        <p:spPr>
          <a:xfrm>
            <a:off x="6240875" y="2607775"/>
            <a:ext cx="2563200" cy="21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equidispersion, vertex strength drops out and reciprocity a function of degree differences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degree differences --&gt; non-reciprocity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unequal dispersion --&gt; non-reciprocity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8"/>
          <p:cNvSpPr txBox="1"/>
          <p:nvPr/>
        </p:nvSpPr>
        <p:spPr>
          <a:xfrm>
            <a:off x="6144150" y="5277475"/>
            <a:ext cx="19926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same degree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red vertice overdisperses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 Distribution	</a:t>
            </a:r>
            <a:endParaRPr/>
          </a:p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5067256" y="2849213"/>
            <a:ext cx="3669600" cy="24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27% of mutual dyads are reciprocal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58% partially reciprocal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14% non-reciprocal</a:t>
            </a:r>
            <a:endParaRPr sz="2400"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80" y="2382196"/>
            <a:ext cx="3899596" cy="3018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Variants of Reciprocity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1347577" y="4285366"/>
            <a:ext cx="7438500" cy="18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AutoNum type="arabicPeriod"/>
            </a:pPr>
            <a:r>
              <a:rPr lang="en" sz="2200"/>
              <a:t>Observed Network:  Assortative &amp; non-equidispersed</a:t>
            </a:r>
            <a:endParaRPr sz="22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2200"/>
              <a:t>Equi-dispersed Model: Assortative &amp; equidispersed</a:t>
            </a:r>
            <a:endParaRPr sz="22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2200"/>
              <a:t>Rewired:  Non-assortative and non-equidispersed</a:t>
            </a:r>
            <a:endParaRPr sz="22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2200"/>
              <a:t>Rewi</a:t>
            </a:r>
            <a:r>
              <a:rPr lang="en" sz="2400"/>
              <a:t>red with Equi-dispersion</a:t>
            </a:r>
            <a:endParaRPr sz="2400"/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891" y="1907855"/>
            <a:ext cx="5473271" cy="1802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63" y="2039863"/>
            <a:ext cx="5153025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4956979" y="1489942"/>
            <a:ext cx="3729900" cy="25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Social Networks exhibit non-reciprocity because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not fully degree assortative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Unequal dispersion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Predictiveness</a:t>
            </a:r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525" y="1807463"/>
            <a:ext cx="5314950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