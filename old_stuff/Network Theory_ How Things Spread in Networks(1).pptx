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715000" cx="9144000"/>
  <p:notesSz cx="6858000" cy="9144000"/>
  <p:embeddedFontLst>
    <p:embeddedFont>
      <p:font typeface="Josefin Slab"/>
      <p:regular r:id="rId43"/>
      <p:bold r:id="rId44"/>
      <p:italic r:id="rId45"/>
      <p:boldItalic r:id="rId46"/>
    </p:embeddedFont>
    <p:embeddedFont>
      <p:font typeface="Economica"/>
      <p:regular r:id="rId47"/>
      <p:bold r:id="rId48"/>
      <p:italic r:id="rId49"/>
      <p:boldItalic r:id="rId50"/>
    </p:embeddedFont>
    <p:embeddedFont>
      <p:font typeface="Junge"/>
      <p:regular r:id="rId51"/>
    </p:embeddedFont>
    <p:embeddedFont>
      <p:font typeface="Open Sans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CE595F-CD4E-4ED2-B7D5-72E5A2485458}">
  <a:tblStyle styleId="{B9CE595F-CD4E-4ED2-B7D5-72E5A24854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JosefinSlab-bold.fntdata"/><Relationship Id="rId43" Type="http://schemas.openxmlformats.org/officeDocument/2006/relationships/font" Target="fonts/JosefinSlab-regular.fntdata"/><Relationship Id="rId46" Type="http://schemas.openxmlformats.org/officeDocument/2006/relationships/font" Target="fonts/JosefinSlab-boldItalic.fntdata"/><Relationship Id="rId45" Type="http://schemas.openxmlformats.org/officeDocument/2006/relationships/font" Target="fonts/JosefinSlab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Economica-bold.fntdata"/><Relationship Id="rId47" Type="http://schemas.openxmlformats.org/officeDocument/2006/relationships/font" Target="fonts/Economica-regular.fntdata"/><Relationship Id="rId49" Type="http://schemas.openxmlformats.org/officeDocument/2006/relationships/font" Target="fonts/Economic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Junge-regular.fntdata"/><Relationship Id="rId50" Type="http://schemas.openxmlformats.org/officeDocument/2006/relationships/font" Target="fonts/Economica-boldItalic.fntdata"/><Relationship Id="rId53" Type="http://schemas.openxmlformats.org/officeDocument/2006/relationships/font" Target="fonts/OpenSans-bold.fntdata"/><Relationship Id="rId52" Type="http://schemas.openxmlformats.org/officeDocument/2006/relationships/font" Target="fonts/OpenSans-regular.fntdata"/><Relationship Id="rId11" Type="http://schemas.openxmlformats.org/officeDocument/2006/relationships/slide" Target="slides/slide6.xml"/><Relationship Id="rId55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54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aaec11e1a_0_5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aaec11e1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4ff51a95e9_0_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4ff51a95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0f6df2b_04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0f6df2b_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0f6df2b_05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0f6df2b_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0f6df2b_06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0f6df2b_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0f6df2b_010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0f6df2b_0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aaec11e1a_0_6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aaec11e1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aaec11e1a_0_75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aaec11e1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0f6df2b_07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0f6df2b_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ab26b6347_0_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ab26b63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48b49d0ad_01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48b49d0ad_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ab26b6347_2_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ab26b634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0f6df2b_0242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0f6df2b_0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aaec11e1a_0_9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aaec11e1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aaec11e1a_0_10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aaec11e1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48b49d0ad_024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48b49d0ad_0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0f6df2b_010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e0f6df2b_0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ab26b6347_0_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ab26b634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ab26b6347_0_1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ab26b634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ab26b6347_0_1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ab26b634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ab26b6347_0_2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ab26b634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ab26b6347_0_12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ab26b6347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ab26b6347_0_12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ab26b6347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ab26b6347_0_35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ab26b634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0f6df2b_011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0f6df2b_0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0f6df2b_012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e0f6df2b_0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e0f6df2b_012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e0f6df2b_0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48b49d0ad_035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48b49d0ad_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e0f6df2b_0152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e0f6df2b_0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e0f6df2b_014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e0f6df2b_0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aaec11e1a_0_13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aaec11e1a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48b49d0ad_0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48b49d0ad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48b90f72c_0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48b90f72c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48b90f72c_01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48b90f72c_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48b90f72c_07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48b90f72c_0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aaec11e1a_0_9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aaec11e1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e0f6df2b_05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e0f6df2b_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840778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629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604728"/>
            <a:ext cx="3054600" cy="17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462867"/>
            <a:ext cx="3054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511361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953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2007167"/>
            <a:ext cx="7596600" cy="170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554889"/>
            <a:ext cx="2808000" cy="30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00167"/>
            <a:ext cx="5878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8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995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32528"/>
            <a:ext cx="4045200" cy="19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076667"/>
            <a:ext cx="4045200" cy="17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804667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687694"/>
            <a:ext cx="59988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063472"/>
            <a:ext cx="8520600" cy="236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513333"/>
            <a:ext cx="8520600" cy="11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theatlantic.com/technology/archive/2012/04/the-100-year-march-of-technology-in-1-graph/255573/" TargetMode="External"/><Relationship Id="rId4" Type="http://schemas.openxmlformats.org/officeDocument/2006/relationships/image" Target="../media/image4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nature.com/articles/srep00197.pdf" TargetMode="External"/><Relationship Id="rId4" Type="http://schemas.openxmlformats.org/officeDocument/2006/relationships/image" Target="../media/image7.jpg"/><Relationship Id="rId5" Type="http://schemas.openxmlformats.org/officeDocument/2006/relationships/hyperlink" Target="https://www.nature.com/articles/srep00197.pdf" TargetMode="External"/><Relationship Id="rId6" Type="http://schemas.openxmlformats.org/officeDocument/2006/relationships/hyperlink" Target="https://www.nature.com/articles/srep00197.pdf" TargetMode="External"/><Relationship Id="rId7" Type="http://schemas.openxmlformats.org/officeDocument/2006/relationships/hyperlink" Target="https://www.nature.com/articles/srep00197.pdf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modelingcommons.org/browse/one_model/4784#model_tabs_browse_nlw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hyperlink" Target="http://timkastelle.org/blog/2012/02/two-problems-caused-by-the-innovation-diffusion-curve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145149"/>
            <a:ext cx="3054600" cy="255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Theory: How Things Spread in Networks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457200" y="4856187"/>
            <a:ext cx="8229600" cy="61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Thompson, D. (2012) The 100-Year March of Technology in 1 Graph.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http://www.theatlantic.com/technology/archive/2012/04/the-100-year-march-of-technology-in-1-graph/255573/</a:t>
            </a:r>
            <a:r>
              <a:rPr lang="en"/>
              <a:t> (last accessed October 9th 2014)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descr="history-of-products.gif"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800" y="521977"/>
            <a:ext cx="8616376" cy="362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diffusion?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Spread</a:t>
            </a:r>
            <a:r>
              <a:rPr lang="en"/>
              <a:t> of objects, ideas, information, concepts, fashions, tastes, practices etc. in a social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Elements of diffusion: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Actors</a:t>
            </a:r>
            <a:endParaRPr i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Usually people but also groups, organizations, etc.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Flow</a:t>
            </a:r>
            <a:r>
              <a:rPr lang="en"/>
              <a:t>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From </a:t>
            </a:r>
            <a:r>
              <a:rPr b="1" lang="en"/>
              <a:t>source</a:t>
            </a:r>
            <a:r>
              <a:rPr lang="en"/>
              <a:t> to </a:t>
            </a:r>
            <a:r>
              <a:rPr b="1" lang="en"/>
              <a:t>adopter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Mechanism</a:t>
            </a:r>
            <a:r>
              <a:rPr lang="en"/>
              <a:t>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Imitation, influence, transfer, etc.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i="1" lang="en">
                <a:solidFill>
                  <a:srgbClr val="000000"/>
                </a:solidFill>
              </a:rPr>
              <a:t>Outcome</a:t>
            </a:r>
            <a:endParaRPr i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Adoption, conversion, infection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Question: Why do things diffuse?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361350"/>
            <a:ext cx="5789400" cy="37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Factors Accounting for Why Things Spread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Characteristics of the object being diffused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Familiar/unfamiliar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High risk (consequential) v. low risk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Cost/benefit ratio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Characteristics of the source and adopter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Individual versus collective actor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High status v. Low status actor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Similar v. dissimilar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Environmental Context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Proximity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Social Foci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Network Structure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41-keJ%2BHgjL._SX320_BO1,204,203,200_.jpg"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1100" y="1221399"/>
            <a:ext cx="2495234" cy="38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models of diffusion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361350"/>
            <a:ext cx="6029700" cy="37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via cohesion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(Coleman et al 1966)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via opinion leaders (two-step)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(Katz and Lazarsfeld 1966; Rogers 1962)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via positional equivalence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(Burt 1987)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via long (weak) ties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(Granovetter 1973)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Global and Network Threshold Models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(Granovetter and Soong 1983; Valente 1995)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Complex Contagion Models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(Centora and Macy 2007)</a:t>
            </a:r>
            <a:endParaRPr/>
          </a:p>
        </p:txBody>
      </p:sp>
      <p:pic>
        <p:nvPicPr>
          <p:cNvPr descr="51ab1b9uzLL._SY344_BO1,204,203,200_.jpg"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1375" y="1318037"/>
            <a:ext cx="2490915" cy="381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things spread? The S curve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361350"/>
            <a:ext cx="3987900" cy="37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 S-shaped pattern of cumulative adoptions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Initial slow uptake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Rapid spread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Final slow saturation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-shapedcurve.jpg" id="95" name="Google Shape;95;p18"/>
          <p:cNvPicPr preferRelativeResize="0"/>
          <p:nvPr/>
        </p:nvPicPr>
        <p:blipFill rotWithShape="1">
          <a:blip r:embed="rId3">
            <a:alphaModFix/>
          </a:blip>
          <a:srcRect b="4591" l="3166" r="3157" t="3599"/>
          <a:stretch/>
        </p:blipFill>
        <p:spPr>
          <a:xfrm>
            <a:off x="4299600" y="1526188"/>
            <a:ext cx="4481601" cy="339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things spread? The S curve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361350"/>
            <a:ext cx="3846300" cy="34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 S-shaped pattern of cumulative adoptions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Initial slow uptake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Rapid spread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Final slow saturation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5025" y="1296387"/>
            <a:ext cx="3594070" cy="356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/>
        </p:nvSpPr>
        <p:spPr>
          <a:xfrm>
            <a:off x="311700" y="4859750"/>
            <a:ext cx="85206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Ryan, B. and N.C. Gross (1943) The Diffusion of Hybrid Seed Corn in Two Iowa Communities, </a:t>
            </a:r>
            <a:r>
              <a:rPr i="1" lang="en"/>
              <a:t>Rural Sociology</a:t>
            </a:r>
            <a:r>
              <a:rPr lang="en"/>
              <a:t>, 8: 15-24.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things spread? The S curve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361350"/>
            <a:ext cx="3846300" cy="3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 S-shaped pattern of cumulative adoptions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Initial slow uptake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Rapid spread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Final slow saturation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rep00197-f1.jpg" id="110" name="Google Shape;110;p2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0900" y="1576938"/>
            <a:ext cx="4674300" cy="32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/>
        </p:nvSpPr>
        <p:spPr>
          <a:xfrm>
            <a:off x="311700" y="4812175"/>
            <a:ext cx="84699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González-Bailón, S., Borge-Holthoefer, J., Rivero, A., &amp; Moreno, Y. (2011). The dynamics of protest recruitment through an online network. </a:t>
            </a:r>
            <a:r>
              <a:rPr i="1" lang="en" u="sng">
                <a:solidFill>
                  <a:schemeClr val="hlink"/>
                </a:solidFill>
                <a:hlinkClick r:id="rId6"/>
              </a:rPr>
              <a:t>Scientific Reports</a:t>
            </a:r>
            <a:r>
              <a:rPr lang="en" u="sng">
                <a:solidFill>
                  <a:schemeClr val="hlink"/>
                </a:solidFill>
                <a:hlinkClick r:id="rId7"/>
              </a:rPr>
              <a:t>, 1, 197.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Granovetter and Soong’s threshold model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361350"/>
            <a:ext cx="4127400" cy="37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friend jumped off a bridge would you?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Better question: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</a:t>
            </a:r>
            <a:r>
              <a:rPr b="1" lang="en"/>
              <a:t>many</a:t>
            </a:r>
            <a:r>
              <a:rPr lang="en"/>
              <a:t> of your friends would have to jump before you did?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your q?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actor (i) has a “threshold” for adoption q(i)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0 &gt; q(i) &lt;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(i) adopts when the proportion of people who have adopted (p) is equal to q(i)</a:t>
            </a:r>
            <a:endParaRPr/>
          </a:p>
        </p:txBody>
      </p:sp>
      <p:pic>
        <p:nvPicPr>
          <p:cNvPr descr="s-shapedcurve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4591" l="3166" r="3157" t="3599"/>
          <a:stretch/>
        </p:blipFill>
        <p:spPr>
          <a:xfrm>
            <a:off x="4299600" y="1526188"/>
            <a:ext cx="4481601" cy="339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Granovetter and Soong’s threshold model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361350"/>
            <a:ext cx="4127400" cy="37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friend jumped off a bridge would you?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Better question: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</a:t>
            </a:r>
            <a:r>
              <a:rPr b="1" lang="en"/>
              <a:t>many</a:t>
            </a:r>
            <a:r>
              <a:rPr lang="en"/>
              <a:t> of your friends would have to jump before you did?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your q?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actor (i) has a “threshold” for adoption q(i)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0 &gt; q(i) &lt;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(i) adopts when the proportion of people who have adopted (p) = q(i)</a:t>
            </a:r>
            <a:endParaRPr/>
          </a:p>
        </p:txBody>
      </p:sp>
      <p:pic>
        <p:nvPicPr>
          <p:cNvPr descr="s-shapedcurve.jpg" id="125" name="Google Shape;125;p22"/>
          <p:cNvPicPr preferRelativeResize="0"/>
          <p:nvPr/>
        </p:nvPicPr>
        <p:blipFill rotWithShape="1">
          <a:blip r:embed="rId3">
            <a:alphaModFix/>
          </a:blip>
          <a:srcRect b="4591" l="3166" r="3157" t="3599"/>
          <a:stretch/>
        </p:blipFill>
        <p:spPr>
          <a:xfrm>
            <a:off x="4299600" y="1526188"/>
            <a:ext cx="4481601" cy="339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Granovetter and Soong’s threshold model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Persons with </a:t>
            </a:r>
            <a:r>
              <a:rPr b="1" lang="en"/>
              <a:t>low</a:t>
            </a:r>
            <a:r>
              <a:rPr lang="en"/>
              <a:t> thresholds are </a:t>
            </a:r>
            <a:r>
              <a:rPr b="1" lang="en"/>
              <a:t>high</a:t>
            </a:r>
            <a:r>
              <a:rPr lang="en"/>
              <a:t> </a:t>
            </a:r>
            <a:r>
              <a:rPr b="1" lang="en"/>
              <a:t>risk</a:t>
            </a:r>
            <a:r>
              <a:rPr lang="en"/>
              <a:t> </a:t>
            </a:r>
            <a:r>
              <a:rPr b="1" lang="en"/>
              <a:t>early</a:t>
            </a:r>
            <a:r>
              <a:rPr lang="en"/>
              <a:t> adopters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Persons with </a:t>
            </a:r>
            <a:r>
              <a:rPr b="1" lang="en"/>
              <a:t>high</a:t>
            </a:r>
            <a:r>
              <a:rPr lang="en"/>
              <a:t> thresholds are </a:t>
            </a:r>
            <a:r>
              <a:rPr b="1" lang="en"/>
              <a:t>risk</a:t>
            </a:r>
            <a:r>
              <a:rPr lang="en"/>
              <a:t> </a:t>
            </a:r>
            <a:r>
              <a:rPr b="1" lang="en"/>
              <a:t>averse</a:t>
            </a:r>
            <a:r>
              <a:rPr lang="en"/>
              <a:t> </a:t>
            </a:r>
            <a:r>
              <a:rPr b="1" lang="en"/>
              <a:t>late</a:t>
            </a:r>
            <a:r>
              <a:rPr lang="en"/>
              <a:t> adopters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have different q values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high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Low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Most in the Middle (a bell curve)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explains the S-shaped pattern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Slow uptake when adoption is concentrated among a few low q people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Faster as the majority of middle q people join in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Slow again as the last few high q people finally adopt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Variance in thresholds across people explains the typical S-shaped pattern of cumulative adoptions with initial slow uptake, rapid spread and slow saturation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Granovetter and Soong’s threshold model</a:t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Persons with </a:t>
            </a:r>
            <a:r>
              <a:rPr b="1" lang="en"/>
              <a:t>low</a:t>
            </a:r>
            <a:r>
              <a:rPr lang="en"/>
              <a:t> thresholds are </a:t>
            </a:r>
            <a:r>
              <a:rPr b="1" lang="en"/>
              <a:t>high</a:t>
            </a:r>
            <a:r>
              <a:rPr lang="en"/>
              <a:t> </a:t>
            </a:r>
            <a:r>
              <a:rPr b="1" lang="en"/>
              <a:t>risk</a:t>
            </a:r>
            <a:r>
              <a:rPr lang="en"/>
              <a:t> </a:t>
            </a:r>
            <a:r>
              <a:rPr b="1" lang="en"/>
              <a:t>early</a:t>
            </a:r>
            <a:r>
              <a:rPr lang="en"/>
              <a:t> adopters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Persons with </a:t>
            </a:r>
            <a:r>
              <a:rPr b="1" lang="en"/>
              <a:t>high</a:t>
            </a:r>
            <a:r>
              <a:rPr lang="en"/>
              <a:t> thresholds are </a:t>
            </a:r>
            <a:r>
              <a:rPr b="1" lang="en"/>
              <a:t>risk</a:t>
            </a:r>
            <a:r>
              <a:rPr lang="en"/>
              <a:t> </a:t>
            </a:r>
            <a:r>
              <a:rPr b="1" lang="en"/>
              <a:t>averse</a:t>
            </a:r>
            <a:r>
              <a:rPr lang="en"/>
              <a:t> </a:t>
            </a:r>
            <a:r>
              <a:rPr b="1" lang="en"/>
              <a:t>late</a:t>
            </a:r>
            <a:r>
              <a:rPr lang="en"/>
              <a:t> adopters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have different q values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high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Low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Most in the Middle (a bell curve)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explains the S-shaped pattern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Slow uptake when adoption is concentrated among a few low q people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Faster as the majority of middle q people join in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Slow again as the last few high q people finally adopt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Shape of the threshold distribution</a:t>
            </a:r>
            <a:r>
              <a:rPr lang="en"/>
              <a:t> determines the time to (or whether) the cascade becomes global (everybody adopts)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Uniform, bell-shaped, skewed, etc.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idx="4294967295"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Rogers Classification of Adopters </a:t>
            </a:r>
            <a:endParaRPr/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3879" y="1274731"/>
            <a:ext cx="5056223" cy="352653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319500" y="4687700"/>
            <a:ext cx="85206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Rogers, E.M.(1962) The Diffusion of Innovations, Free Press, New York.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idx="4294967295"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Rogers Classification of Adopters </a:t>
            </a:r>
            <a:endParaRPr/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3879" y="1274731"/>
            <a:ext cx="5056223" cy="352653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19500" y="4687700"/>
            <a:ext cx="85206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Rogers, E.M.(1962) The Diffusion of Innovations, Free Press, New York.</a:t>
            </a:r>
            <a:endParaRPr/>
          </a:p>
        </p:txBody>
      </p:sp>
      <p:sp>
        <p:nvSpPr>
          <p:cNvPr id="152" name="Google Shape;152;p26"/>
          <p:cNvSpPr txBox="1"/>
          <p:nvPr/>
        </p:nvSpPr>
        <p:spPr>
          <a:xfrm>
            <a:off x="1475425" y="2515946"/>
            <a:ext cx="14619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Tipping point</a:t>
            </a:r>
            <a:endParaRPr b="1"/>
          </a:p>
        </p:txBody>
      </p:sp>
      <p:cxnSp>
        <p:nvCxnSpPr>
          <p:cNvPr id="153" name="Google Shape;153;p26"/>
          <p:cNvCxnSpPr>
            <a:stCxn id="152" idx="2"/>
          </p:cNvCxnSpPr>
          <p:nvPr/>
        </p:nvCxnSpPr>
        <p:spPr>
          <a:xfrm>
            <a:off x="2206375" y="2914346"/>
            <a:ext cx="1099800" cy="1035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idx="4294967295"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Rogers Classification of Adopters </a:t>
            </a:r>
            <a:endParaRPr/>
          </a:p>
        </p:txBody>
      </p:sp>
      <p:pic>
        <p:nvPicPr>
          <p:cNvPr id="159" name="Google Shape;15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3879" y="1274731"/>
            <a:ext cx="5056223" cy="352653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319500" y="4687700"/>
            <a:ext cx="85206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Rogers, E.M.(1962) The Diffusion of Innovations, Free Press, New York.</a:t>
            </a:r>
            <a:endParaRPr/>
          </a:p>
        </p:txBody>
      </p:sp>
      <p:cxnSp>
        <p:nvCxnSpPr>
          <p:cNvPr id="161" name="Google Shape;161;p27"/>
          <p:cNvCxnSpPr>
            <a:stCxn id="162" idx="2"/>
          </p:cNvCxnSpPr>
          <p:nvPr/>
        </p:nvCxnSpPr>
        <p:spPr>
          <a:xfrm>
            <a:off x="2255175" y="3139599"/>
            <a:ext cx="818700" cy="1001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" name="Google Shape;162;p27"/>
          <p:cNvSpPr txBox="1"/>
          <p:nvPr/>
        </p:nvSpPr>
        <p:spPr>
          <a:xfrm>
            <a:off x="958425" y="2355099"/>
            <a:ext cx="25935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Failed Innovations die before reaching the tipping point</a:t>
            </a:r>
            <a:endParaRPr b="1"/>
          </a:p>
        </p:txBody>
      </p:sp>
      <p:sp>
        <p:nvSpPr>
          <p:cNvPr id="163" name="Google Shape;163;p27"/>
          <p:cNvSpPr/>
          <p:nvPr/>
        </p:nvSpPr>
        <p:spPr>
          <a:xfrm>
            <a:off x="2255175" y="3931650"/>
            <a:ext cx="1296817" cy="269352"/>
          </a:xfrm>
          <a:custGeom>
            <a:rect b="b" l="l" r="r" t="t"/>
            <a:pathLst>
              <a:path extrusionOk="0" h="12181" w="71039">
                <a:moveTo>
                  <a:pt x="0" y="10541"/>
                </a:moveTo>
                <a:cubicBezTo>
                  <a:pt x="3188" y="10177"/>
                  <a:pt x="10565" y="10086"/>
                  <a:pt x="19126" y="8356"/>
                </a:cubicBezTo>
                <a:cubicBezTo>
                  <a:pt x="27687" y="6626"/>
                  <a:pt x="42715" y="-478"/>
                  <a:pt x="51367" y="159"/>
                </a:cubicBezTo>
                <a:cubicBezTo>
                  <a:pt x="60019" y="797"/>
                  <a:pt x="67760" y="10177"/>
                  <a:pt x="71039" y="12181"/>
                </a:cubicBezTo>
              </a:path>
            </a:pathLst>
          </a:cu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idx="4294967295"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Rogers Classification of Adopters </a:t>
            </a:r>
            <a:endParaRPr/>
          </a:p>
        </p:txBody>
      </p:sp>
      <p:grpSp>
        <p:nvGrpSpPr>
          <p:cNvPr id="169" name="Google Shape;169;p28"/>
          <p:cNvGrpSpPr/>
          <p:nvPr/>
        </p:nvGrpSpPr>
        <p:grpSpPr>
          <a:xfrm>
            <a:off x="470125" y="1627192"/>
            <a:ext cx="6500650" cy="2460625"/>
            <a:chOff x="470125" y="1627192"/>
            <a:chExt cx="6500650" cy="2460625"/>
          </a:xfrm>
        </p:grpSpPr>
        <p:pic>
          <p:nvPicPr>
            <p:cNvPr descr="techadoptioncycle.png" id="170" name="Google Shape;170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0125" y="1627192"/>
              <a:ext cx="6318250" cy="2460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28"/>
            <p:cNvSpPr txBox="1"/>
            <p:nvPr/>
          </p:nvSpPr>
          <p:spPr>
            <a:xfrm>
              <a:off x="5126375" y="2562558"/>
              <a:ext cx="1844400" cy="952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Area under the curve represents number of adopters</a:t>
              </a:r>
              <a:endParaRPr b="1"/>
            </a:p>
          </p:txBody>
        </p:sp>
      </p:grp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319500" y="4087825"/>
            <a:ext cx="8462100" cy="12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Kastelle, T (2012) Two Problems Caused by the Innovation Diffusion Curve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http://timkastelle.org/blog/2012/02/two-problems-caused-by-the-innovation-diffusion-curve/</a:t>
            </a:r>
            <a:r>
              <a:rPr lang="en"/>
              <a:t> (last accessed October 9th 2014)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Rogers Classification </a:t>
            </a:r>
            <a:endParaRPr/>
          </a:p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Innovators and Early adopters 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Individuals whose time-of-adoption is greater than one standard deviation earlier than the average time-of-adoption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Early and late majorities 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Individuals whose time-of-adoption is bounded by one  standard deviation earlier and later than the average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Laggards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Individuals who adopted later than one standard deviation from the average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Burt’s positional equivalence model</a:t>
            </a:r>
            <a:endParaRPr/>
          </a:p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Reanalysis of Coleman et. al. (1957, 1966) study of diffusion of a new drug, tetracycline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Coleman claimed that diffusion patterns indicative of contagion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Burt hypothesized that structural equivalence could explain diffusion pattern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Study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4 Illinois cities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130 (of 152, 85%) general practitioners, internists, pediatricians (and 4 specialists)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pharmacy records used to code when physician first prescribed tetracycline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network data from 2 name generators (advice and discuss) in physician surveys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Cohesion (influence) vs. Equivalence (similarity)</a:t>
            </a:r>
            <a:endParaRPr/>
          </a:p>
        </p:txBody>
      </p:sp>
      <p:sp>
        <p:nvSpPr>
          <p:cNvPr id="190" name="Google Shape;190;p31"/>
          <p:cNvSpPr txBox="1"/>
          <p:nvPr>
            <p:ph idx="1" type="body"/>
          </p:nvPr>
        </p:nvSpPr>
        <p:spPr>
          <a:xfrm>
            <a:off x="311700" y="1361350"/>
            <a:ext cx="5446200" cy="3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Equivalence (similar relations with same people) and Cohesion (via strong tie between ego and alter) predict diffusion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Cohesion but not Equivalence predicts restricted contagion (because of conflicting affiliations)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Equivalence predicts contagion via competition for status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Mechanisms: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Physical proximity: can "see" alters behaviors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Cohesion:  communication, social proximity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Competition, relative standing: structural equivalence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 similar physicians keeping up with each other</a:t>
            </a:r>
            <a:endParaRPr/>
          </a:p>
        </p:txBody>
      </p:sp>
      <p:pic>
        <p:nvPicPr>
          <p:cNvPr id="191" name="Google Shape;19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4775" y="1318038"/>
            <a:ext cx="2927522" cy="385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or Contagion?</a:t>
            </a:r>
            <a:endParaRPr/>
          </a:p>
        </p:txBody>
      </p:sp>
      <p:sp>
        <p:nvSpPr>
          <p:cNvPr id="197" name="Google Shape;197;p32"/>
          <p:cNvSpPr txBox="1"/>
          <p:nvPr>
            <p:ph idx="1" type="body"/>
          </p:nvPr>
        </p:nvSpPr>
        <p:spPr>
          <a:xfrm>
            <a:off x="3515525" y="1361350"/>
            <a:ext cx="5316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 = probability of adopting independently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 = proportion who have not adopted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Equal probability (k) of adopting in each time period and for each person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a function of exposure (p)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Contagion: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Equal probability of adopting (k) but also adoption a function of number of others who have adopted.</a:t>
            </a:r>
            <a:endParaRPr/>
          </a:p>
        </p:txBody>
      </p:sp>
      <p:pic>
        <p:nvPicPr>
          <p:cNvPr id="198" name="Google Shape;19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7" y="1274721"/>
            <a:ext cx="3203817" cy="3943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Cumulative Adoption Results</a:t>
            </a:r>
            <a:endParaRPr/>
          </a:p>
        </p:txBody>
      </p:sp>
      <p:sp>
        <p:nvSpPr>
          <p:cNvPr id="204" name="Google Shape;204;p33"/>
          <p:cNvSpPr txBox="1"/>
          <p:nvPr>
            <p:ph idx="1" type="body"/>
          </p:nvPr>
        </p:nvSpPr>
        <p:spPr>
          <a:xfrm>
            <a:off x="3694425" y="1361350"/>
            <a:ext cx="51378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by Cohesion: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Adoption pattern when ego adopts after alter adopts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by Structural Equivalence: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Adoption pattern when ego adopts after peers adopt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both cases rate of adoption early on is higher than expected by contagion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Contagion is not the only process at 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 early adoption rate indicative of diffusion without contagion</a:t>
            </a:r>
            <a:endParaRPr/>
          </a:p>
        </p:txBody>
      </p:sp>
      <p:pic>
        <p:nvPicPr>
          <p:cNvPr id="205" name="Google Shape;20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9" y="1274717"/>
            <a:ext cx="3382724" cy="3925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</a:t>
            </a:r>
            <a:endParaRPr/>
          </a:p>
        </p:txBody>
      </p:sp>
      <p:sp>
        <p:nvSpPr>
          <p:cNvPr id="211" name="Google Shape;211;p34"/>
          <p:cNvSpPr txBox="1"/>
          <p:nvPr>
            <p:ph idx="1" type="body"/>
          </p:nvPr>
        </p:nvSpPr>
        <p:spPr>
          <a:xfrm>
            <a:off x="457200" y="1333500"/>
            <a:ext cx="3917400" cy="4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Cohesion: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between ego and alter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Equivalence: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Euclidean distance between ego and alter (d</a:t>
            </a:r>
            <a:r>
              <a:rPr baseline="-25000" lang="en"/>
              <a:t>ij</a:t>
            </a:r>
            <a:r>
              <a:rPr lang="en"/>
              <a:t>), i.e. how similar their patterns of ties are to others in the network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34"/>
          <p:cNvPicPr preferRelativeResize="0"/>
          <p:nvPr/>
        </p:nvPicPr>
        <p:blipFill rotWithShape="1">
          <a:blip r:embed="rId3">
            <a:alphaModFix/>
          </a:blip>
          <a:srcRect b="0" l="14693" r="10305" t="12709"/>
          <a:stretch/>
        </p:blipFill>
        <p:spPr>
          <a:xfrm>
            <a:off x="4374525" y="1560311"/>
            <a:ext cx="4414749" cy="33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</a:t>
            </a:r>
            <a:endParaRPr/>
          </a:p>
        </p:txBody>
      </p:sp>
      <p:sp>
        <p:nvSpPr>
          <p:cNvPr id="218" name="Google Shape;218;p35"/>
          <p:cNvSpPr txBox="1"/>
          <p:nvPr>
            <p:ph idx="1" type="body"/>
          </p:nvPr>
        </p:nvSpPr>
        <p:spPr>
          <a:xfrm>
            <a:off x="457200" y="1333500"/>
            <a:ext cx="3917400" cy="4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Results from regressions: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evidence of contagion from advisors and discussion partners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 evidence of diffusion between month in which peers adopted (structurally equivalent doctors) and ego adopting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Personal factors determined adoption, i.e. predisposition to adopt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Contagion independent of personal preference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35"/>
          <p:cNvPicPr preferRelativeResize="0"/>
          <p:nvPr/>
        </p:nvPicPr>
        <p:blipFill rotWithShape="1">
          <a:blip r:embed="rId3">
            <a:alphaModFix/>
          </a:blip>
          <a:srcRect b="0" l="14693" r="10305" t="12709"/>
          <a:stretch/>
        </p:blipFill>
        <p:spPr>
          <a:xfrm>
            <a:off x="4374525" y="1560311"/>
            <a:ext cx="4414749" cy="33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Implications</a:t>
            </a:r>
            <a:endParaRPr/>
          </a:p>
        </p:txBody>
      </p:sp>
      <p:sp>
        <p:nvSpPr>
          <p:cNvPr id="225" name="Google Shape;225;p36"/>
          <p:cNvSpPr txBox="1"/>
          <p:nvPr>
            <p:ph idx="1" type="body"/>
          </p:nvPr>
        </p:nvSpPr>
        <p:spPr>
          <a:xfrm>
            <a:off x="311700" y="1361350"/>
            <a:ext cx="41058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not via contagion (adjacency) but equivalence</a:t>
            </a:r>
            <a:endParaRPr/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Why?  Relative standing competition.  Do not want to be a late adopter.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Heterogeneity in predisposition to adopt leads to critical mass needed to get diffusion by equivalence to take off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36"/>
          <p:cNvPicPr preferRelativeResize="0"/>
          <p:nvPr/>
        </p:nvPicPr>
        <p:blipFill rotWithShape="1">
          <a:blip r:embed="rId3">
            <a:alphaModFix/>
          </a:blip>
          <a:srcRect b="0" l="14693" r="10305" t="12709"/>
          <a:stretch/>
        </p:blipFill>
        <p:spPr>
          <a:xfrm>
            <a:off x="4374525" y="1560311"/>
            <a:ext cx="4414749" cy="33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232" name="Google Shape;232;p37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Global threshold models are appropriate for adoptions of behaviors that are public and observable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always the case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Global threshold models make informational </a:t>
            </a:r>
            <a:r>
              <a:rPr lang="en"/>
              <a:t>demands</a:t>
            </a:r>
            <a:r>
              <a:rPr lang="en"/>
              <a:t> of individuals that are not always realistic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Ego must know the actual proportion of population who has adopted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network threshold model relaxes the assumption that persons have global information on all adoptions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only know what their direct contacts are doing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Individuals adopt when some </a:t>
            </a:r>
            <a:r>
              <a:rPr b="1" lang="en"/>
              <a:t>proportion of their contacts </a:t>
            </a:r>
            <a:r>
              <a:rPr lang="en"/>
              <a:t>adopt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More appropriate for the adoption of practices, behaviors and ideas that entails some sort of risk or uncertainty (complex contagion)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"/>
          <p:cNvSpPr txBox="1"/>
          <p:nvPr>
            <p:ph idx="1" type="body"/>
          </p:nvPr>
        </p:nvSpPr>
        <p:spPr>
          <a:xfrm>
            <a:off x="311700" y="1361347"/>
            <a:ext cx="8520600" cy="13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person (i) has some exposure e(i)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e(i) = proportion of i’s friends who adopted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proportion of neighbors who adopt equals q(i), ego adopts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grpSp>
        <p:nvGrpSpPr>
          <p:cNvPr id="239" name="Google Shape;239;p38"/>
          <p:cNvGrpSpPr/>
          <p:nvPr/>
        </p:nvGrpSpPr>
        <p:grpSpPr>
          <a:xfrm>
            <a:off x="1499095" y="2678480"/>
            <a:ext cx="6145825" cy="2728774"/>
            <a:chOff x="1220059" y="2522616"/>
            <a:chExt cx="6733675" cy="2890651"/>
          </a:xfrm>
        </p:grpSpPr>
        <p:grpSp>
          <p:nvGrpSpPr>
            <p:cNvPr id="240" name="Google Shape;240;p38"/>
            <p:cNvGrpSpPr/>
            <p:nvPr/>
          </p:nvGrpSpPr>
          <p:grpSpPr>
            <a:xfrm>
              <a:off x="1220059" y="2882081"/>
              <a:ext cx="2653290" cy="2531090"/>
              <a:chOff x="705384" y="2978581"/>
              <a:chExt cx="2653290" cy="2531090"/>
            </a:xfrm>
          </p:grpSpPr>
          <p:grpSp>
            <p:nvGrpSpPr>
              <p:cNvPr id="241" name="Google Shape;241;p38"/>
              <p:cNvGrpSpPr/>
              <p:nvPr/>
            </p:nvGrpSpPr>
            <p:grpSpPr>
              <a:xfrm>
                <a:off x="705385" y="2978581"/>
                <a:ext cx="1003676" cy="917550"/>
                <a:chOff x="664100" y="3690700"/>
                <a:chExt cx="1488250" cy="1395725"/>
              </a:xfrm>
            </p:grpSpPr>
            <p:sp>
              <p:nvSpPr>
                <p:cNvPr id="242" name="Google Shape;242;p38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" name="Google Shape;243;p38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" name="Google Shape;244;p38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" name="Google Shape;245;p38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" name="Google Shape;246;p38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47" name="Google Shape;247;p38"/>
                <p:cNvCxnSpPr>
                  <a:stCxn id="242" idx="7"/>
                  <a:endCxn id="243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8" name="Google Shape;248;p38"/>
                <p:cNvCxnSpPr>
                  <a:stCxn id="242" idx="5"/>
                  <a:endCxn id="244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9" name="Google Shape;249;p38"/>
                <p:cNvCxnSpPr>
                  <a:stCxn id="242" idx="1"/>
                  <a:endCxn id="245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0" name="Google Shape;250;p38"/>
                <p:cNvCxnSpPr>
                  <a:stCxn id="242" idx="3"/>
                  <a:endCxn id="246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51" name="Google Shape;251;p38"/>
              <p:cNvGrpSpPr/>
              <p:nvPr/>
            </p:nvGrpSpPr>
            <p:grpSpPr>
              <a:xfrm>
                <a:off x="2354847" y="2978581"/>
                <a:ext cx="1003676" cy="917550"/>
                <a:chOff x="664100" y="3690700"/>
                <a:chExt cx="1488250" cy="1395725"/>
              </a:xfrm>
            </p:grpSpPr>
            <p:sp>
              <p:nvSpPr>
                <p:cNvPr id="252" name="Google Shape;252;p38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3" name="Google Shape;253;p38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4" name="Google Shape;254;p38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5" name="Google Shape;255;p38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6" name="Google Shape;256;p38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57" name="Google Shape;257;p38"/>
                <p:cNvCxnSpPr>
                  <a:stCxn id="252" idx="7"/>
                  <a:endCxn id="253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8" name="Google Shape;258;p38"/>
                <p:cNvCxnSpPr>
                  <a:stCxn id="252" idx="5"/>
                  <a:endCxn id="254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9" name="Google Shape;259;p38"/>
                <p:cNvCxnSpPr>
                  <a:stCxn id="252" idx="1"/>
                  <a:endCxn id="255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" name="Google Shape;260;p38"/>
                <p:cNvCxnSpPr>
                  <a:stCxn id="252" idx="3"/>
                  <a:endCxn id="256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61" name="Google Shape;261;p38"/>
              <p:cNvGrpSpPr/>
              <p:nvPr/>
            </p:nvGrpSpPr>
            <p:grpSpPr>
              <a:xfrm>
                <a:off x="705384" y="4307705"/>
                <a:ext cx="1003676" cy="917550"/>
                <a:chOff x="664100" y="3690700"/>
                <a:chExt cx="1488250" cy="1395725"/>
              </a:xfrm>
            </p:grpSpPr>
            <p:sp>
              <p:nvSpPr>
                <p:cNvPr id="262" name="Google Shape;262;p38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" name="Google Shape;263;p38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" name="Google Shape;264;p38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5" name="Google Shape;265;p38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" name="Google Shape;266;p38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67" name="Google Shape;267;p38"/>
                <p:cNvCxnSpPr>
                  <a:stCxn id="262" idx="7"/>
                  <a:endCxn id="263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8" name="Google Shape;268;p38"/>
                <p:cNvCxnSpPr>
                  <a:stCxn id="262" idx="5"/>
                  <a:endCxn id="264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9" name="Google Shape;269;p38"/>
                <p:cNvCxnSpPr>
                  <a:stCxn id="262" idx="1"/>
                  <a:endCxn id="265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0" name="Google Shape;270;p38"/>
                <p:cNvCxnSpPr>
                  <a:stCxn id="262" idx="3"/>
                  <a:endCxn id="266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71" name="Google Shape;271;p38"/>
              <p:cNvGrpSpPr/>
              <p:nvPr/>
            </p:nvGrpSpPr>
            <p:grpSpPr>
              <a:xfrm>
                <a:off x="2354847" y="4307705"/>
                <a:ext cx="1003676" cy="917550"/>
                <a:chOff x="664100" y="3690700"/>
                <a:chExt cx="1488250" cy="1395725"/>
              </a:xfrm>
            </p:grpSpPr>
            <p:sp>
              <p:nvSpPr>
                <p:cNvPr id="272" name="Google Shape;272;p38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" name="Google Shape;273;p38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" name="Google Shape;274;p38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5" name="Google Shape;275;p38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6" name="Google Shape;276;p38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77" name="Google Shape;277;p38"/>
                <p:cNvCxnSpPr>
                  <a:stCxn id="272" idx="7"/>
                  <a:endCxn id="273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8" name="Google Shape;278;p38"/>
                <p:cNvCxnSpPr>
                  <a:stCxn id="272" idx="5"/>
                  <a:endCxn id="274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9" name="Google Shape;279;p38"/>
                <p:cNvCxnSpPr>
                  <a:stCxn id="272" idx="1"/>
                  <a:endCxn id="275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0" name="Google Shape;280;p38"/>
                <p:cNvCxnSpPr>
                  <a:stCxn id="272" idx="3"/>
                  <a:endCxn id="276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81" name="Google Shape;281;p38"/>
              <p:cNvSpPr txBox="1"/>
              <p:nvPr/>
            </p:nvSpPr>
            <p:spPr>
              <a:xfrm>
                <a:off x="848600" y="3856088"/>
                <a:ext cx="8061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Junge"/>
                    <a:ea typeface="Junge"/>
                    <a:cs typeface="Junge"/>
                    <a:sym typeface="Junge"/>
                  </a:rPr>
                  <a:t>Time 1</a:t>
                </a:r>
                <a:endParaRPr b="1"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  <p:sp>
            <p:nvSpPr>
              <p:cNvPr id="282" name="Google Shape;282;p38"/>
              <p:cNvSpPr txBox="1"/>
              <p:nvPr/>
            </p:nvSpPr>
            <p:spPr>
              <a:xfrm>
                <a:off x="2411490" y="3856081"/>
                <a:ext cx="9363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Junge"/>
                    <a:ea typeface="Junge"/>
                    <a:cs typeface="Junge"/>
                    <a:sym typeface="Junge"/>
                  </a:rPr>
                  <a:t>Time 2</a:t>
                </a:r>
                <a:endParaRPr b="1"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  <p:sp>
            <p:nvSpPr>
              <p:cNvPr id="283" name="Google Shape;283;p38"/>
              <p:cNvSpPr txBox="1"/>
              <p:nvPr/>
            </p:nvSpPr>
            <p:spPr>
              <a:xfrm>
                <a:off x="827263" y="5225271"/>
                <a:ext cx="8061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Junge"/>
                    <a:ea typeface="Junge"/>
                    <a:cs typeface="Junge"/>
                    <a:sym typeface="Junge"/>
                  </a:rPr>
                  <a:t>Time 3</a:t>
                </a:r>
                <a:endParaRPr b="1"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  <p:sp>
            <p:nvSpPr>
              <p:cNvPr id="284" name="Google Shape;284;p38"/>
              <p:cNvSpPr txBox="1"/>
              <p:nvPr/>
            </p:nvSpPr>
            <p:spPr>
              <a:xfrm>
                <a:off x="2422374" y="5225258"/>
                <a:ext cx="9363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Junge"/>
                    <a:ea typeface="Junge"/>
                    <a:cs typeface="Junge"/>
                    <a:sym typeface="Junge"/>
                  </a:rPr>
                  <a:t>Time 4</a:t>
                </a:r>
                <a:endParaRPr b="1"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</p:grpSp>
        <p:sp>
          <p:nvSpPr>
            <p:cNvPr id="285" name="Google Shape;285;p38"/>
            <p:cNvSpPr txBox="1"/>
            <p:nvPr/>
          </p:nvSpPr>
          <p:spPr>
            <a:xfrm>
              <a:off x="1363264" y="2522616"/>
              <a:ext cx="20442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Junge"/>
                  <a:ea typeface="Junge"/>
                  <a:cs typeface="Junge"/>
                  <a:sym typeface="Junge"/>
                </a:rPr>
                <a:t>Person 1: q = 0.25</a:t>
              </a:r>
              <a:endParaRPr b="1">
                <a:latin typeface="Junge"/>
                <a:ea typeface="Junge"/>
                <a:cs typeface="Junge"/>
                <a:sym typeface="Junge"/>
              </a:endParaRPr>
            </a:p>
          </p:txBody>
        </p:sp>
        <p:grpSp>
          <p:nvGrpSpPr>
            <p:cNvPr id="286" name="Google Shape;286;p38"/>
            <p:cNvGrpSpPr/>
            <p:nvPr/>
          </p:nvGrpSpPr>
          <p:grpSpPr>
            <a:xfrm>
              <a:off x="5300632" y="2882213"/>
              <a:ext cx="2653102" cy="2531055"/>
              <a:chOff x="5911807" y="2978713"/>
              <a:chExt cx="2653102" cy="2531055"/>
            </a:xfrm>
          </p:grpSpPr>
          <p:grpSp>
            <p:nvGrpSpPr>
              <p:cNvPr id="287" name="Google Shape;287;p38"/>
              <p:cNvGrpSpPr/>
              <p:nvPr/>
            </p:nvGrpSpPr>
            <p:grpSpPr>
              <a:xfrm>
                <a:off x="5911808" y="2978713"/>
                <a:ext cx="984329" cy="917689"/>
                <a:chOff x="664100" y="3690700"/>
                <a:chExt cx="1488250" cy="1395725"/>
              </a:xfrm>
            </p:grpSpPr>
            <p:sp>
              <p:nvSpPr>
                <p:cNvPr id="288" name="Google Shape;288;p38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" name="Google Shape;289;p38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" name="Google Shape;290;p38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" name="Google Shape;291;p38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" name="Google Shape;292;p38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93" name="Google Shape;293;p38"/>
                <p:cNvCxnSpPr>
                  <a:stCxn id="288" idx="7"/>
                  <a:endCxn id="289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4" name="Google Shape;294;p38"/>
                <p:cNvCxnSpPr>
                  <a:stCxn id="288" idx="5"/>
                  <a:endCxn id="290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5" name="Google Shape;295;p38"/>
                <p:cNvCxnSpPr>
                  <a:stCxn id="288" idx="1"/>
                  <a:endCxn id="291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6" name="Google Shape;296;p38"/>
                <p:cNvCxnSpPr>
                  <a:stCxn id="288" idx="3"/>
                  <a:endCxn id="292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97" name="Google Shape;297;p38"/>
              <p:cNvGrpSpPr/>
              <p:nvPr/>
            </p:nvGrpSpPr>
            <p:grpSpPr>
              <a:xfrm>
                <a:off x="7529300" y="2978713"/>
                <a:ext cx="984329" cy="917689"/>
                <a:chOff x="664100" y="3690700"/>
                <a:chExt cx="1488250" cy="1395725"/>
              </a:xfrm>
            </p:grpSpPr>
            <p:sp>
              <p:nvSpPr>
                <p:cNvPr id="298" name="Google Shape;298;p38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" name="Google Shape;299;p38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0" name="Google Shape;300;p38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1" name="Google Shape;301;p38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2" name="Google Shape;302;p38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03" name="Google Shape;303;p38"/>
                <p:cNvCxnSpPr>
                  <a:stCxn id="298" idx="7"/>
                  <a:endCxn id="299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4" name="Google Shape;304;p38"/>
                <p:cNvCxnSpPr>
                  <a:stCxn id="298" idx="5"/>
                  <a:endCxn id="300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" name="Google Shape;305;p38"/>
                <p:cNvCxnSpPr>
                  <a:stCxn id="298" idx="1"/>
                  <a:endCxn id="301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" name="Google Shape;306;p38"/>
                <p:cNvCxnSpPr>
                  <a:stCxn id="298" idx="3"/>
                  <a:endCxn id="302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07" name="Google Shape;307;p38"/>
              <p:cNvGrpSpPr/>
              <p:nvPr/>
            </p:nvGrpSpPr>
            <p:grpSpPr>
              <a:xfrm>
                <a:off x="5911807" y="4307925"/>
                <a:ext cx="984329" cy="917689"/>
                <a:chOff x="664100" y="3690700"/>
                <a:chExt cx="1488250" cy="1395725"/>
              </a:xfrm>
            </p:grpSpPr>
            <p:sp>
              <p:nvSpPr>
                <p:cNvPr id="308" name="Google Shape;308;p38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" name="Google Shape;309;p38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" name="Google Shape;310;p38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" name="Google Shape;311;p38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" name="Google Shape;312;p38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13" name="Google Shape;313;p38"/>
                <p:cNvCxnSpPr>
                  <a:stCxn id="308" idx="7"/>
                  <a:endCxn id="309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4" name="Google Shape;314;p38"/>
                <p:cNvCxnSpPr>
                  <a:stCxn id="308" idx="5"/>
                  <a:endCxn id="310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" name="Google Shape;315;p38"/>
                <p:cNvCxnSpPr>
                  <a:stCxn id="308" idx="1"/>
                  <a:endCxn id="311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6" name="Google Shape;316;p38"/>
                <p:cNvCxnSpPr>
                  <a:stCxn id="308" idx="3"/>
                  <a:endCxn id="312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17" name="Google Shape;317;p38"/>
              <p:cNvGrpSpPr/>
              <p:nvPr/>
            </p:nvGrpSpPr>
            <p:grpSpPr>
              <a:xfrm>
                <a:off x="7529299" y="4307925"/>
                <a:ext cx="984329" cy="917689"/>
                <a:chOff x="664100" y="3690700"/>
                <a:chExt cx="1488250" cy="1395725"/>
              </a:xfrm>
            </p:grpSpPr>
            <p:sp>
              <p:nvSpPr>
                <p:cNvPr id="318" name="Google Shape;318;p38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" name="Google Shape;319;p38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" name="Google Shape;320;p38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" name="Google Shape;321;p38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" name="Google Shape;322;p38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23" name="Google Shape;323;p38"/>
                <p:cNvCxnSpPr>
                  <a:stCxn id="318" idx="7"/>
                  <a:endCxn id="319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4" name="Google Shape;324;p38"/>
                <p:cNvCxnSpPr>
                  <a:stCxn id="318" idx="5"/>
                  <a:endCxn id="320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5" name="Google Shape;325;p38"/>
                <p:cNvCxnSpPr>
                  <a:stCxn id="318" idx="1"/>
                  <a:endCxn id="321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" name="Google Shape;326;p38"/>
                <p:cNvCxnSpPr>
                  <a:stCxn id="318" idx="3"/>
                  <a:endCxn id="322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27" name="Google Shape;327;p38"/>
              <p:cNvSpPr txBox="1"/>
              <p:nvPr/>
            </p:nvSpPr>
            <p:spPr>
              <a:xfrm>
                <a:off x="6033625" y="3891258"/>
                <a:ext cx="8061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Junge"/>
                    <a:ea typeface="Junge"/>
                    <a:cs typeface="Junge"/>
                    <a:sym typeface="Junge"/>
                  </a:rPr>
                  <a:t>Time 1</a:t>
                </a:r>
                <a:endParaRPr b="1"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  <p:sp>
            <p:nvSpPr>
              <p:cNvPr id="328" name="Google Shape;328;p38"/>
              <p:cNvSpPr txBox="1"/>
              <p:nvPr/>
            </p:nvSpPr>
            <p:spPr>
              <a:xfrm>
                <a:off x="7577307" y="3856544"/>
                <a:ext cx="9363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Junge"/>
                    <a:ea typeface="Junge"/>
                    <a:cs typeface="Junge"/>
                    <a:sym typeface="Junge"/>
                  </a:rPr>
                  <a:t>Time 2</a:t>
                </a:r>
                <a:endParaRPr b="1"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  <p:sp>
            <p:nvSpPr>
              <p:cNvPr id="329" name="Google Shape;329;p38"/>
              <p:cNvSpPr txBox="1"/>
              <p:nvPr/>
            </p:nvSpPr>
            <p:spPr>
              <a:xfrm>
                <a:off x="6033638" y="5225354"/>
                <a:ext cx="8061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Junge"/>
                    <a:ea typeface="Junge"/>
                    <a:cs typeface="Junge"/>
                    <a:sym typeface="Junge"/>
                  </a:rPr>
                  <a:t>Time 3</a:t>
                </a:r>
                <a:endParaRPr b="1"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  <p:sp>
            <p:nvSpPr>
              <p:cNvPr id="330" name="Google Shape;330;p38"/>
              <p:cNvSpPr txBox="1"/>
              <p:nvPr/>
            </p:nvSpPr>
            <p:spPr>
              <a:xfrm>
                <a:off x="7577309" y="5225367"/>
                <a:ext cx="9876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Junge"/>
                    <a:ea typeface="Junge"/>
                    <a:cs typeface="Junge"/>
                    <a:sym typeface="Junge"/>
                  </a:rPr>
                  <a:t>Time 4</a:t>
                </a:r>
                <a:endParaRPr b="1"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</p:grpSp>
        <p:sp>
          <p:nvSpPr>
            <p:cNvPr id="331" name="Google Shape;331;p38"/>
            <p:cNvSpPr txBox="1"/>
            <p:nvPr/>
          </p:nvSpPr>
          <p:spPr>
            <a:xfrm>
              <a:off x="5443687" y="2522616"/>
              <a:ext cx="20442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Junge"/>
                  <a:ea typeface="Junge"/>
                  <a:cs typeface="Junge"/>
                  <a:sym typeface="Junge"/>
                </a:rPr>
                <a:t>Person 2: q = 0.75</a:t>
              </a:r>
              <a:endParaRPr b="1">
                <a:latin typeface="Junge"/>
                <a:ea typeface="Junge"/>
                <a:cs typeface="Junge"/>
                <a:sym typeface="Junge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337" name="Google Shape;337;p39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Just like before, everybody has a threshold q(i)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the proportion of neighbors who have adopted equals q(i), the person adopts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then redefine adopter categories (e.g. innovators) as either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System Relative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Whole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Relative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Ego-network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instance you can be an innovator in the grand scheme of things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be a relative laggard compared to your friends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all of your friends are innovators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be a laggard in the grand scheme of things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be an innovator among your friends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Because you are surrounded by even bigger laggards!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 txBox="1"/>
          <p:nvPr>
            <p:ph idx="1" type="body"/>
          </p:nvPr>
        </p:nvSpPr>
        <p:spPr>
          <a:xfrm>
            <a:off x="319500" y="4415450"/>
            <a:ext cx="8462100" cy="93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González-Bailón, S., Borge-Holthoefer, J., Rivero, A., &amp; Moreno, Y. (2011). The dynamics of protest recruitment through an online network. Nature Scientific reports, 1, 97.</a:t>
            </a:r>
            <a:endParaRPr/>
          </a:p>
        </p:txBody>
      </p:sp>
      <p:pic>
        <p:nvPicPr>
          <p:cNvPr descr="srep00197-f2.jpg" id="343" name="Google Shape;343;p40"/>
          <p:cNvPicPr preferRelativeResize="0"/>
          <p:nvPr/>
        </p:nvPicPr>
        <p:blipFill rotWithShape="1">
          <a:blip r:embed="rId3">
            <a:alphaModFix/>
          </a:blip>
          <a:srcRect b="51193" l="0" r="0" t="3544"/>
          <a:stretch/>
        </p:blipFill>
        <p:spPr>
          <a:xfrm>
            <a:off x="1102374" y="314201"/>
            <a:ext cx="6896351" cy="410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349" name="Google Shape;349;p41"/>
          <p:cNvSpPr txBox="1"/>
          <p:nvPr>
            <p:ph idx="1" type="body"/>
          </p:nvPr>
        </p:nvSpPr>
        <p:spPr>
          <a:xfrm>
            <a:off x="311700" y="1361343"/>
            <a:ext cx="8520600" cy="14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Revisiting the Roger’s classification using Valente’s model: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Who's an “opinion leader”?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Early adopters who convince those with high network thresholds (but similar system threshold) to adopt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50" name="Google Shape;350;p41"/>
          <p:cNvGraphicFramePr/>
          <p:nvPr/>
        </p:nvGraphicFramePr>
        <p:xfrm>
          <a:off x="3606275" y="34295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{B9CE595F-CD4E-4ED2-B7D5-72E5A2485458}</a:tableStyleId>
              </a:tblPr>
              <a:tblGrid>
                <a:gridCol w="2327250"/>
                <a:gridCol w="2327250"/>
              </a:tblGrid>
              <a:tr h="76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True innovators (influentials)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Isolates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</a:tr>
              <a:tr h="76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Connected Bandwagon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Resistant rearguard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</a:tr>
            </a:tbl>
          </a:graphicData>
        </a:graphic>
      </p:graphicFrame>
      <p:sp>
        <p:nvSpPr>
          <p:cNvPr id="351" name="Google Shape;351;p41"/>
          <p:cNvSpPr txBox="1"/>
          <p:nvPr/>
        </p:nvSpPr>
        <p:spPr>
          <a:xfrm>
            <a:off x="2856575" y="3431600"/>
            <a:ext cx="7497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2" name="Google Shape;352;p41"/>
          <p:cNvSpPr txBox="1"/>
          <p:nvPr/>
        </p:nvSpPr>
        <p:spPr>
          <a:xfrm>
            <a:off x="840825" y="3431599"/>
            <a:ext cx="20685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Personal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3" name="Google Shape;353;p41"/>
          <p:cNvSpPr txBox="1"/>
          <p:nvPr/>
        </p:nvSpPr>
        <p:spPr>
          <a:xfrm>
            <a:off x="3606275" y="2984650"/>
            <a:ext cx="4654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				       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4" name="Google Shape;354;p41"/>
          <p:cNvSpPr txBox="1"/>
          <p:nvPr/>
        </p:nvSpPr>
        <p:spPr>
          <a:xfrm>
            <a:off x="3795575" y="2766238"/>
            <a:ext cx="446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Whole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360" name="Google Shape;360;p42"/>
          <p:cNvSpPr txBox="1"/>
          <p:nvPr>
            <p:ph idx="1" type="body"/>
          </p:nvPr>
        </p:nvSpPr>
        <p:spPr>
          <a:xfrm>
            <a:off x="311700" y="1361357"/>
            <a:ext cx="8520600" cy="12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network threshold model makes sense of a lot of classic findings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instance, early adopters adopt from media or weak ties, late adopters adopt from their friends/strong 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seems to reflect a Local/Cosmopolitan split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61" name="Google Shape;361;p42"/>
          <p:cNvGraphicFramePr/>
          <p:nvPr/>
        </p:nvGraphicFramePr>
        <p:xfrm>
          <a:off x="3606275" y="34295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{B9CE595F-CD4E-4ED2-B7D5-72E5A2485458}</a:tableStyleId>
              </a:tblPr>
              <a:tblGrid>
                <a:gridCol w="2327250"/>
                <a:gridCol w="2327250"/>
              </a:tblGrid>
              <a:tr h="76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True innovators (influentials)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Isolates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</a:tr>
              <a:tr h="76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Connected Bandwagon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Resistant rearguard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</a:tr>
            </a:tbl>
          </a:graphicData>
        </a:graphic>
      </p:graphicFrame>
      <p:sp>
        <p:nvSpPr>
          <p:cNvPr id="362" name="Google Shape;362;p42"/>
          <p:cNvSpPr txBox="1"/>
          <p:nvPr/>
        </p:nvSpPr>
        <p:spPr>
          <a:xfrm>
            <a:off x="2856575" y="3431600"/>
            <a:ext cx="7497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3" name="Google Shape;363;p42"/>
          <p:cNvSpPr txBox="1"/>
          <p:nvPr/>
        </p:nvSpPr>
        <p:spPr>
          <a:xfrm>
            <a:off x="840825" y="3431599"/>
            <a:ext cx="20685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Personal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4" name="Google Shape;364;p42"/>
          <p:cNvSpPr txBox="1"/>
          <p:nvPr/>
        </p:nvSpPr>
        <p:spPr>
          <a:xfrm>
            <a:off x="3606275" y="2984650"/>
            <a:ext cx="4654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				       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5" name="Google Shape;365;p42"/>
          <p:cNvSpPr txBox="1"/>
          <p:nvPr/>
        </p:nvSpPr>
        <p:spPr>
          <a:xfrm>
            <a:off x="3795575" y="2766238"/>
            <a:ext cx="446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Whole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371" name="Google Shape;371;p43"/>
          <p:cNvSpPr txBox="1"/>
          <p:nvPr>
            <p:ph idx="1" type="body"/>
          </p:nvPr>
        </p:nvSpPr>
        <p:spPr>
          <a:xfrm>
            <a:off x="311700" y="1361357"/>
            <a:ext cx="8520600" cy="14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network threshold model makes sense of a lot of classic findings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instance, early adopters adopt from media or weak ties, late adopters adopt from their friends/strong ties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Cosmopolitan innovators tend to be early adopters relative to the system and have very low threshold relative to their network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72" name="Google Shape;372;p43"/>
          <p:cNvGraphicFramePr/>
          <p:nvPr/>
        </p:nvGraphicFramePr>
        <p:xfrm>
          <a:off x="3606275" y="34295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{B9CE595F-CD4E-4ED2-B7D5-72E5A2485458}</a:tableStyleId>
              </a:tblPr>
              <a:tblGrid>
                <a:gridCol w="2327250"/>
                <a:gridCol w="2327250"/>
              </a:tblGrid>
              <a:tr h="76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True innovators (influentials)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Isolates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</a:tr>
              <a:tr h="76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Connected Bandwagon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Resistant rearguard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</a:tr>
            </a:tbl>
          </a:graphicData>
        </a:graphic>
      </p:graphicFrame>
      <p:sp>
        <p:nvSpPr>
          <p:cNvPr id="373" name="Google Shape;373;p43"/>
          <p:cNvSpPr txBox="1"/>
          <p:nvPr/>
        </p:nvSpPr>
        <p:spPr>
          <a:xfrm>
            <a:off x="2856575" y="3431600"/>
            <a:ext cx="7497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4" name="Google Shape;374;p43"/>
          <p:cNvSpPr txBox="1"/>
          <p:nvPr/>
        </p:nvSpPr>
        <p:spPr>
          <a:xfrm>
            <a:off x="840825" y="3431599"/>
            <a:ext cx="20685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Personal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5" name="Google Shape;375;p43"/>
          <p:cNvSpPr txBox="1"/>
          <p:nvPr/>
        </p:nvSpPr>
        <p:spPr>
          <a:xfrm>
            <a:off x="3606275" y="2984650"/>
            <a:ext cx="4654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				       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6" name="Google Shape;376;p43"/>
          <p:cNvSpPr txBox="1"/>
          <p:nvPr/>
        </p:nvSpPr>
        <p:spPr>
          <a:xfrm>
            <a:off x="3795575" y="2766238"/>
            <a:ext cx="446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Whole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findings of research on innovation diffusion</a:t>
            </a:r>
            <a:endParaRPr/>
          </a:p>
        </p:txBody>
      </p:sp>
      <p:sp>
        <p:nvSpPr>
          <p:cNvPr id="382" name="Google Shape;382;p4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Early adopters (innovators, opinion leaders) are well-connected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Central, well-integrated, prominent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Well connected persons more likely to adopt innovations with low cost/benefit ratios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Peripheral persons more likely to adopt risky innovations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Cost/benefit ratio is high; uncertainty in payoff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Risk-taking linked to reputation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Social isolates more likely to be “laggards”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Being a bridge is associated with early adoption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Betweenness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holes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388" name="Google Shape;388;p45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Heterogeneity in the propensity to adopt an innovation can be modeled as a threshold process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thresholds may not be fixed for individuals regardless of what is being diffused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Thresholds may depend on the characteristics of what is being diffused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Low threshold -&gt; Low risk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High threshold -&gt; High risk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Innovations that entail risk, ostracism, potential loss of resources, may elicit higher thresholds from all actors in the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Persons require exposure to multiple sources to adopt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Innovations (e.g. gossip) that carry little risk may in their turn elicit a very low threshold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the limiting case, the person adopts as soon as one of their neighbors adopts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394" name="Google Shape;394;p46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Innovations that entail risk, ostracism, potential loss of resources, may elicit higher thresholds from all actors in the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Persons require exposure to multiple sources to adopt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the difference between </a:t>
            </a:r>
            <a:r>
              <a:rPr b="1" lang="en"/>
              <a:t>simplex </a:t>
            </a:r>
            <a:r>
              <a:rPr lang="en"/>
              <a:t>and </a:t>
            </a:r>
            <a:r>
              <a:rPr b="1" lang="en"/>
              <a:t>complex </a:t>
            </a:r>
            <a:r>
              <a:rPr lang="en"/>
              <a:t>contagion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basic idea is that certain innovations can only diffuse via complex contagion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Candidates for</a:t>
            </a:r>
            <a:r>
              <a:rPr lang="en"/>
              <a:t> simplex contagion: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Information, gossip, disease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Candidates for complex contagion: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 risk social movement participation, religious conversion, migration, etc.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400" name="Google Shape;400;p47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social mechanisms that require that innovations diffuse via complex contagion: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Strategic complementarity: </a:t>
            </a:r>
            <a:r>
              <a:rPr lang="en"/>
              <a:t>(adoption cost declines as a function of existing adopters)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Legitimacy:</a:t>
            </a:r>
            <a:r>
              <a:rPr lang="en"/>
              <a:t> Resistance to challenge, collective acceptance, and taken-for-grantedness increases in the number of adopters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Credibility:</a:t>
            </a:r>
            <a:r>
              <a:rPr lang="en"/>
              <a:t> Innovations appears are more trustworthy and less risky when high status members of the community also adopt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Emotional contagion: </a:t>
            </a:r>
            <a:r>
              <a:rPr lang="en"/>
              <a:t>Cumulative interaction with a large number of adopters leads persons to adopt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406" name="Google Shape;406;p48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Weakness of long ties argument (Centola and Macy 2007):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Long (weak) help to spread things in networks faster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only for things that spread via simplex contagions!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not up to task when it comes to complex contagion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Why?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addition to length, complex contagions require bridges to be wide or high bandwidth (Aral and Van Alstyne 2011)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Complex contagions require multiple redundant contacts a single bridge (even if high bandwidth) won’t do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Question: Why do things diffuse?</a:t>
            </a:r>
            <a:endParaRPr/>
          </a:p>
        </p:txBody>
      </p:sp>
      <p:sp>
        <p:nvSpPr>
          <p:cNvPr id="412" name="Google Shape;412;p49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Overall something diffuses faster if: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familiar rather than unfamiliar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relatively inconsequential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Benefits outweigh costs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source is high status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Source and target share social attributes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Source and target are geographically proximate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Source and target share overlapping social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network structure is conducive to diffusion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Centralization v. De-Centralization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Connectivity v. Segmentation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Density v. Sparseness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Strong ties v. Weak 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Bridging v. Redundant Ties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