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Economica"/>
      <p:regular r:id="rId39"/>
      <p:bold r:id="rId40"/>
      <p:italic r:id="rId41"/>
      <p:boldItalic r:id="rId42"/>
    </p:embeddedFont>
    <p:embeddedFont>
      <p:font typeface="Roboto"/>
      <p:regular r:id="rId43"/>
      <p:bold r:id="rId44"/>
      <p:italic r:id="rId45"/>
      <p:boldItalic r:id="rId46"/>
    </p:embeddedFont>
    <p:embeddedFont>
      <p:font typeface="Open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0DBD9F-09E9-47AC-B105-5BC7EBEE40C3}">
  <a:tblStyle styleId="{C60DBD9F-09E9-47AC-B105-5BC7EBEE40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conomica-bold.fntdata"/><Relationship Id="rId42" Type="http://schemas.openxmlformats.org/officeDocument/2006/relationships/font" Target="fonts/Economica-boldItalic.fntdata"/><Relationship Id="rId41" Type="http://schemas.openxmlformats.org/officeDocument/2006/relationships/font" Target="fonts/Economica-italic.fntdata"/><Relationship Id="rId44" Type="http://schemas.openxmlformats.org/officeDocument/2006/relationships/font" Target="fonts/Roboto-bold.fntdata"/><Relationship Id="rId43" Type="http://schemas.openxmlformats.org/officeDocument/2006/relationships/font" Target="fonts/Roboto-regular.fntdata"/><Relationship Id="rId46" Type="http://schemas.openxmlformats.org/officeDocument/2006/relationships/font" Target="fonts/Roboto-boldItalic.fntdata"/><Relationship Id="rId45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OpenSans-bold.fntdata"/><Relationship Id="rId47" Type="http://schemas.openxmlformats.org/officeDocument/2006/relationships/font" Target="fonts/OpenSans-regular.fntdata"/><Relationship Id="rId49" Type="http://schemas.openxmlformats.org/officeDocument/2006/relationships/font" Target="fonts/OpenSa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font" Target="fonts/Economica-regular.fntdata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4fa0cb749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4fa0cb749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7d28d7bd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7d28d7bd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d28d7bdf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d28d7bdf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4f10715b8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4f10715b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4f10715b8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4f10715b8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4f10715b8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4f10715b8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4f10715b8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4f10715b8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4f10715b8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4f10715b8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f10715b8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4f10715b8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4da042c2e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4da042c2e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4da042c2e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4da042c2e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4da042c2eb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4da042c2eb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4da042c2eb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4da042c2eb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4da98764d1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4da98764d1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4da042c2eb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4da042c2eb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4da042c2eb_1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4da042c2eb_1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4f10715b88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4f10715b88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4f10715b88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4f10715b88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4da042c2eb_1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4da042c2eb_1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4da042c2eb_1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4da042c2eb_1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4da042c2eb_1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4da042c2eb_1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4da042c2eb_1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4da042c2eb_1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4da042c2eb_1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4da042c2eb_1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4da042c2eb_1_6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4da042c2eb_1_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4da042c2eb_1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4da042c2eb_1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4da042c2eb_1_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4da042c2eb_1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4da042c2eb_1_1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4da042c2eb_1_1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4da98764d1_1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4da98764d1_1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4da042c2eb_1_1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4da042c2eb_1_1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4da042c2eb_1_10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4da042c2eb_1_10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4da042c2eb_1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4da042c2eb_1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4da042c2eb_1_1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4da042c2eb_1_1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4" name="Google Shape;64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5" name="Google Shape;65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0" name="Google Shape;70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Google Shape;96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103" name="Google Shape;10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5.jpg"/><Relationship Id="rId5" Type="http://schemas.openxmlformats.org/officeDocument/2006/relationships/image" Target="../media/image1.png"/><Relationship Id="rId6" Type="http://schemas.openxmlformats.org/officeDocument/2006/relationships/image" Target="../media/image7.jpg"/><Relationship Id="rId7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sciencedirect.com/science/article/pii/S0378873318300194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5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Types and Tie Properties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26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122" name="Google Shape;122;p26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" name="Google Shape;123;p26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6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25" name="Google Shape;125;p26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" name="Google Shape;126;p26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127" name="Google Shape;127;p26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8" name="Google Shape;128;p26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6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0" name="Google Shape;130;p26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1" name="Google Shape;131;p26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132" name="Google Shape;132;p26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3" name="Google Shape;133;p26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6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5" name="Google Shape;135;p26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6" name="Google Shape;136;p26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137" name="Google Shape;137;p26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8" name="Google Shape;138;p26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6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0" name="Google Shape;140;p26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1" name="Google Shape;141;p26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142" name="Google Shape;142;p26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3" name="Google Shape;143;p26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6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5" name="Google Shape;145;p26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6" name="Google Shape;146;p26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147" name="Google Shape;147;p26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8" name="Google Shape;148;p26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9" name="Google Shape;149;p26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0" name="Google Shape;150;p26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1" name="Google Shape;151;p26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2" name="Google Shape;152;p26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3" name="Google Shape;153;p26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4" name="Google Shape;154;p26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5" name="Google Shape;155;p26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6" name="Google Shape;156;p26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7" name="Google Shape;157;p26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8" name="Google Shape;158;p26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9" name="Google Shape;159;p26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60" name="Google Shape;160;p26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61" name="Google Shape;161;p26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62" name="Google Shape;162;p26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63" name="Google Shape;163;p26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sp>
        <p:nvSpPr>
          <p:cNvPr id="164" name="Google Shape;164;p26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5" name="Google Shape;165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27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171" name="Google Shape;171;p27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2" name="Google Shape;172;p27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7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74" name="Google Shape;174;p27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5" name="Google Shape;175;p27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176" name="Google Shape;176;p27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7" name="Google Shape;177;p27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7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79" name="Google Shape;179;p27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0" name="Google Shape;180;p27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181" name="Google Shape;181;p27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2" name="Google Shape;182;p27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7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84" name="Google Shape;184;p27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5" name="Google Shape;185;p27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186" name="Google Shape;186;p27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7" name="Google Shape;187;p27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7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89" name="Google Shape;189;p27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0" name="Google Shape;190;p27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191" name="Google Shape;191;p27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2" name="Google Shape;192;p27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3" name="Google Shape;193;p27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4" name="Google Shape;194;p27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5" name="Google Shape;195;p27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6" name="Google Shape;196;p27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7" name="Google Shape;197;p27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8" name="Google Shape;198;p27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9" name="Google Shape;199;p27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0" name="Google Shape;200;p27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1" name="Google Shape;201;p27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2" name="Google Shape;202;p27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3" name="Google Shape;203;p27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4" name="Google Shape;204;p27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5" name="Google Shape;205;p27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6" name="Google Shape;206;p27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7" name="Google Shape;207;p27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grpSp>
        <p:nvGrpSpPr>
          <p:cNvPr id="208" name="Google Shape;208;p27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209" name="Google Shape;209;p27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0" name="Google Shape;210;p27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7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12" name="Google Shape;212;p27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13" name="Google Shape;213;p27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4" name="Google Shape;214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  <p:sp>
        <p:nvSpPr>
          <p:cNvPr id="215" name="Google Shape;215;p27"/>
          <p:cNvSpPr/>
          <p:nvPr/>
        </p:nvSpPr>
        <p:spPr>
          <a:xfrm>
            <a:off x="1073075" y="1713500"/>
            <a:ext cx="4485000" cy="1014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Types and properties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Dyads: Sociological classification (Borgatti et al.)</a:t>
            </a:r>
            <a:endParaRPr/>
          </a:p>
        </p:txBody>
      </p:sp>
      <p:sp>
        <p:nvSpPr>
          <p:cNvPr id="221" name="Google Shape;221;p28"/>
          <p:cNvSpPr txBox="1"/>
          <p:nvPr>
            <p:ph idx="1" type="body"/>
          </p:nvPr>
        </p:nvSpPr>
        <p:spPr>
          <a:xfrm>
            <a:off x="339075" y="1141100"/>
            <a:ext cx="5093100" cy="11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 of two vertices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Edge defined by a </a:t>
            </a:r>
            <a:r>
              <a:rPr b="1" lang="en"/>
              <a:t>type </a:t>
            </a:r>
            <a:r>
              <a:rPr lang="en"/>
              <a:t>of relationship or </a:t>
            </a:r>
            <a:r>
              <a:rPr b="1" lang="en"/>
              <a:t>social tie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shot 2017-08-22 at 09.35.16.png" id="222" name="Google Shape;22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00" y="2258000"/>
            <a:ext cx="7320080" cy="224561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8"/>
          <p:cNvSpPr txBox="1"/>
          <p:nvPr/>
        </p:nvSpPr>
        <p:spPr>
          <a:xfrm>
            <a:off x="339075" y="4661450"/>
            <a:ext cx="8053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Borgatti, S. P., Mehra, A., Brass, D. J., &amp; Labianca, G. (2009). Network analysis in the social sciences. </a:t>
            </a:r>
            <a:r>
              <a:rPr i="1" lang="en">
                <a:latin typeface="Economica"/>
                <a:ea typeface="Economica"/>
                <a:cs typeface="Economica"/>
                <a:sym typeface="Economica"/>
              </a:rPr>
              <a:t>Science</a:t>
            </a:r>
            <a:r>
              <a:rPr lang="en">
                <a:latin typeface="Economica"/>
                <a:ea typeface="Economica"/>
                <a:cs typeface="Economica"/>
                <a:sym typeface="Economica"/>
              </a:rPr>
              <a:t>, 323(5916), 892-895.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Dyads: Sociological classification (Kitts)</a:t>
            </a:r>
            <a:endParaRPr/>
          </a:p>
        </p:txBody>
      </p:sp>
      <p:sp>
        <p:nvSpPr>
          <p:cNvPr id="229" name="Google Shape;229;p29"/>
          <p:cNvSpPr txBox="1"/>
          <p:nvPr>
            <p:ph idx="1" type="body"/>
          </p:nvPr>
        </p:nvSpPr>
        <p:spPr>
          <a:xfrm>
            <a:off x="311700" y="1225225"/>
            <a:ext cx="85206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Role relations 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Friends, kin, business partners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Interpersonal sentiments and cognitions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Liking, trusting, acquaintanceship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Behavioral Social Interactions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Calling, texting, citing, supporting, resource exchange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Opportunity structure for exchange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holes, brokerage, intermediation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“Non-ties” matter here</a:t>
            </a:r>
            <a:endParaRPr/>
          </a:p>
        </p:txBody>
      </p:sp>
      <p:sp>
        <p:nvSpPr>
          <p:cNvPr id="230" name="Google Shape;230;p29"/>
          <p:cNvSpPr txBox="1"/>
          <p:nvPr/>
        </p:nvSpPr>
        <p:spPr>
          <a:xfrm>
            <a:off x="392300" y="4016425"/>
            <a:ext cx="79332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Kitts, J. A. (2014). Beyond networks in structural theories of exchange: Promises from computational social science. In </a:t>
            </a:r>
            <a:r>
              <a:rPr i="1" lang="en">
                <a:latin typeface="Economica"/>
                <a:ea typeface="Economica"/>
                <a:cs typeface="Economica"/>
                <a:sym typeface="Economica"/>
              </a:rPr>
              <a:t>Advances in Group Processes</a:t>
            </a:r>
            <a:r>
              <a:rPr lang="en">
                <a:latin typeface="Economica"/>
                <a:ea typeface="Economica"/>
                <a:cs typeface="Economica"/>
                <a:sym typeface="Economica"/>
              </a:rPr>
              <a:t> (pp. 263-298). Emerald Group Publishing Limited.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 types: Combined Classification</a:t>
            </a:r>
            <a:endParaRPr/>
          </a:p>
        </p:txBody>
      </p:sp>
      <p:sp>
        <p:nvSpPr>
          <p:cNvPr id="236" name="Google Shape;236;p30"/>
          <p:cNvSpPr/>
          <p:nvPr/>
        </p:nvSpPr>
        <p:spPr>
          <a:xfrm>
            <a:off x="803176" y="4010800"/>
            <a:ext cx="1448700" cy="436800"/>
          </a:xfrm>
          <a:prstGeom prst="ellipse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lin ang="5400012" scaled="0"/>
          </a:gradFill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Propinquity</a:t>
            </a:r>
            <a:endParaRPr sz="1200"/>
          </a:p>
        </p:txBody>
      </p:sp>
      <p:sp>
        <p:nvSpPr>
          <p:cNvPr id="237" name="Google Shape;237;p30"/>
          <p:cNvSpPr/>
          <p:nvPr/>
        </p:nvSpPr>
        <p:spPr>
          <a:xfrm>
            <a:off x="2895398" y="3927525"/>
            <a:ext cx="1676700" cy="4368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lin ang="5400012" scaled="0"/>
          </a:gradFill>
          <a:ln cap="flat" cmpd="sng" w="2857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Role Relations</a:t>
            </a:r>
            <a:endParaRPr sz="1200"/>
          </a:p>
        </p:txBody>
      </p:sp>
      <p:sp>
        <p:nvSpPr>
          <p:cNvPr id="238" name="Google Shape;238;p30"/>
          <p:cNvSpPr/>
          <p:nvPr/>
        </p:nvSpPr>
        <p:spPr>
          <a:xfrm>
            <a:off x="4689479" y="3927488"/>
            <a:ext cx="1676700" cy="4368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lin ang="5400012" scaled="0"/>
          </a:gradFill>
          <a:ln cap="flat" cmpd="sng" w="2857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Sentiments</a:t>
            </a:r>
            <a:endParaRPr sz="1200"/>
          </a:p>
        </p:txBody>
      </p:sp>
      <p:sp>
        <p:nvSpPr>
          <p:cNvPr id="239" name="Google Shape;239;p30"/>
          <p:cNvSpPr/>
          <p:nvPr/>
        </p:nvSpPr>
        <p:spPr>
          <a:xfrm>
            <a:off x="5629361" y="4447588"/>
            <a:ext cx="1676700" cy="436800"/>
          </a:xfrm>
          <a:prstGeom prst="ellipse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Communication</a:t>
            </a:r>
            <a:endParaRPr sz="1200"/>
          </a:p>
        </p:txBody>
      </p:sp>
      <p:sp>
        <p:nvSpPr>
          <p:cNvPr id="240" name="Google Shape;240;p30"/>
          <p:cNvSpPr/>
          <p:nvPr/>
        </p:nvSpPr>
        <p:spPr>
          <a:xfrm>
            <a:off x="7467305" y="4447588"/>
            <a:ext cx="1676700" cy="436800"/>
          </a:xfrm>
          <a:prstGeom prst="ellipse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Exchanges</a:t>
            </a:r>
            <a:endParaRPr sz="1200"/>
          </a:p>
        </p:txBody>
      </p:sp>
      <p:sp>
        <p:nvSpPr>
          <p:cNvPr id="241" name="Google Shape;241;p30"/>
          <p:cNvSpPr/>
          <p:nvPr/>
        </p:nvSpPr>
        <p:spPr>
          <a:xfrm>
            <a:off x="3526813" y="2996846"/>
            <a:ext cx="22059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lin ang="5400012" scaled="0"/>
          </a:gradFill>
          <a:ln cap="flat" cmpd="sng" w="2857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Relationships</a:t>
            </a:r>
            <a:endParaRPr i="1"/>
          </a:p>
        </p:txBody>
      </p:sp>
      <p:sp>
        <p:nvSpPr>
          <p:cNvPr id="242" name="Google Shape;242;p30"/>
          <p:cNvSpPr/>
          <p:nvPr/>
        </p:nvSpPr>
        <p:spPr>
          <a:xfrm>
            <a:off x="6296875" y="2181175"/>
            <a:ext cx="22059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Events</a:t>
            </a:r>
            <a:endParaRPr/>
          </a:p>
        </p:txBody>
      </p:sp>
      <p:cxnSp>
        <p:nvCxnSpPr>
          <p:cNvPr id="243" name="Google Shape;243;p30"/>
          <p:cNvCxnSpPr>
            <a:stCxn id="244" idx="2"/>
            <a:endCxn id="245" idx="0"/>
          </p:cNvCxnSpPr>
          <p:nvPr/>
        </p:nvCxnSpPr>
        <p:spPr>
          <a:xfrm rot="5400000">
            <a:off x="3779275" y="697075"/>
            <a:ext cx="696000" cy="2271900"/>
          </a:xfrm>
          <a:prstGeom prst="bentConnector3">
            <a:avLst>
              <a:gd fmla="val 5001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30"/>
          <p:cNvSpPr/>
          <p:nvPr/>
        </p:nvSpPr>
        <p:spPr>
          <a:xfrm>
            <a:off x="4160275" y="1147225"/>
            <a:ext cx="2205900" cy="337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lin ang="5400012" scaled="0"/>
          </a:gradFill>
          <a:ln cap="flat" cmpd="sng" w="285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Dyad Types</a:t>
            </a:r>
            <a:endParaRPr b="1" sz="1800"/>
          </a:p>
        </p:txBody>
      </p:sp>
      <p:sp>
        <p:nvSpPr>
          <p:cNvPr id="246" name="Google Shape;246;p30"/>
          <p:cNvSpPr/>
          <p:nvPr/>
        </p:nvSpPr>
        <p:spPr>
          <a:xfrm>
            <a:off x="0" y="4447606"/>
            <a:ext cx="1448700" cy="436800"/>
          </a:xfrm>
          <a:prstGeom prst="ellipse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lin ang="5400012" scaled="0"/>
          </a:gradFill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Memberships</a:t>
            </a:r>
            <a:endParaRPr sz="1200"/>
          </a:p>
        </p:txBody>
      </p:sp>
      <p:sp>
        <p:nvSpPr>
          <p:cNvPr id="247" name="Google Shape;247;p30"/>
          <p:cNvSpPr/>
          <p:nvPr/>
        </p:nvSpPr>
        <p:spPr>
          <a:xfrm>
            <a:off x="1687533" y="4447606"/>
            <a:ext cx="1448700" cy="436800"/>
          </a:xfrm>
          <a:prstGeom prst="ellipse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lin ang="5400012" scaled="0"/>
          </a:gradFill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Demographics</a:t>
            </a:r>
            <a:endParaRPr sz="1200"/>
          </a:p>
        </p:txBody>
      </p:sp>
      <p:sp>
        <p:nvSpPr>
          <p:cNvPr id="248" name="Google Shape;248;p30"/>
          <p:cNvSpPr/>
          <p:nvPr/>
        </p:nvSpPr>
        <p:spPr>
          <a:xfrm>
            <a:off x="419925" y="2996847"/>
            <a:ext cx="22059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lin ang="5400012" scaled="0"/>
          </a:gradFill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Similarities</a:t>
            </a:r>
            <a:endParaRPr i="1"/>
          </a:p>
        </p:txBody>
      </p:sp>
      <p:cxnSp>
        <p:nvCxnSpPr>
          <p:cNvPr id="249" name="Google Shape;249;p30"/>
          <p:cNvCxnSpPr>
            <a:stCxn id="248" idx="2"/>
            <a:endCxn id="246" idx="0"/>
          </p:cNvCxnSpPr>
          <p:nvPr/>
        </p:nvCxnSpPr>
        <p:spPr>
          <a:xfrm rot="5400000">
            <a:off x="616575" y="3541347"/>
            <a:ext cx="1014000" cy="7986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30"/>
          <p:cNvCxnSpPr>
            <a:stCxn id="248" idx="2"/>
            <a:endCxn id="247" idx="0"/>
          </p:cNvCxnSpPr>
          <p:nvPr/>
        </p:nvCxnSpPr>
        <p:spPr>
          <a:xfrm flipH="1" rot="-5400000">
            <a:off x="1460325" y="3496197"/>
            <a:ext cx="1014000" cy="8889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30"/>
          <p:cNvCxnSpPr>
            <a:stCxn id="248" idx="2"/>
            <a:endCxn id="236" idx="0"/>
          </p:cNvCxnSpPr>
          <p:nvPr/>
        </p:nvCxnSpPr>
        <p:spPr>
          <a:xfrm>
            <a:off x="1522875" y="3433647"/>
            <a:ext cx="4800" cy="57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p30"/>
          <p:cNvSpPr/>
          <p:nvPr/>
        </p:nvSpPr>
        <p:spPr>
          <a:xfrm>
            <a:off x="1888500" y="2181163"/>
            <a:ext cx="22059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28575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States</a:t>
            </a:r>
            <a:endParaRPr b="1"/>
          </a:p>
        </p:txBody>
      </p:sp>
      <p:cxnSp>
        <p:nvCxnSpPr>
          <p:cNvPr id="252" name="Google Shape;252;p30"/>
          <p:cNvCxnSpPr>
            <a:stCxn id="244" idx="2"/>
            <a:endCxn id="242" idx="0"/>
          </p:cNvCxnSpPr>
          <p:nvPr/>
        </p:nvCxnSpPr>
        <p:spPr>
          <a:xfrm flipH="1" rot="-5400000">
            <a:off x="5983375" y="764875"/>
            <a:ext cx="696300" cy="2136600"/>
          </a:xfrm>
          <a:prstGeom prst="bentConnector3">
            <a:avLst>
              <a:gd fmla="val 4998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30"/>
          <p:cNvCxnSpPr>
            <a:stCxn id="242" idx="2"/>
            <a:endCxn id="239" idx="0"/>
          </p:cNvCxnSpPr>
          <p:nvPr/>
        </p:nvCxnSpPr>
        <p:spPr>
          <a:xfrm rot="5400000">
            <a:off x="6018925" y="3066775"/>
            <a:ext cx="1829700" cy="9321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30"/>
          <p:cNvCxnSpPr>
            <a:stCxn id="242" idx="2"/>
            <a:endCxn id="240" idx="0"/>
          </p:cNvCxnSpPr>
          <p:nvPr/>
        </p:nvCxnSpPr>
        <p:spPr>
          <a:xfrm flipH="1" rot="-5400000">
            <a:off x="6937825" y="3079975"/>
            <a:ext cx="1829700" cy="9057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30"/>
          <p:cNvCxnSpPr>
            <a:stCxn id="245" idx="2"/>
            <a:endCxn id="248" idx="0"/>
          </p:cNvCxnSpPr>
          <p:nvPr/>
        </p:nvCxnSpPr>
        <p:spPr>
          <a:xfrm rot="5400000">
            <a:off x="2067750" y="2073163"/>
            <a:ext cx="378900" cy="14685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30"/>
          <p:cNvCxnSpPr>
            <a:stCxn id="241" idx="0"/>
            <a:endCxn id="245" idx="2"/>
          </p:cNvCxnSpPr>
          <p:nvPr/>
        </p:nvCxnSpPr>
        <p:spPr>
          <a:xfrm flipH="1" rot="5400000">
            <a:off x="3621163" y="1988246"/>
            <a:ext cx="378900" cy="16383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30"/>
          <p:cNvCxnSpPr>
            <a:stCxn id="237" idx="0"/>
            <a:endCxn id="241" idx="2"/>
          </p:cNvCxnSpPr>
          <p:nvPr/>
        </p:nvCxnSpPr>
        <p:spPr>
          <a:xfrm rot="-5400000">
            <a:off x="3934898" y="3232575"/>
            <a:ext cx="493800" cy="896100"/>
          </a:xfrm>
          <a:prstGeom prst="bentConnector3">
            <a:avLst>
              <a:gd fmla="val 5000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30"/>
          <p:cNvSpPr/>
          <p:nvPr/>
        </p:nvSpPr>
        <p:spPr>
          <a:xfrm>
            <a:off x="3791404" y="4447588"/>
            <a:ext cx="1676700" cy="4368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lin ang="5400012" scaled="0"/>
          </a:gradFill>
          <a:ln cap="flat" cmpd="sng" w="2857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Cognitions</a:t>
            </a:r>
            <a:endParaRPr sz="1200"/>
          </a:p>
        </p:txBody>
      </p:sp>
      <p:sp>
        <p:nvSpPr>
          <p:cNvPr id="259" name="Google Shape;259;p30"/>
          <p:cNvSpPr/>
          <p:nvPr/>
        </p:nvSpPr>
        <p:spPr>
          <a:xfrm>
            <a:off x="6561773" y="3905388"/>
            <a:ext cx="1676700" cy="436800"/>
          </a:xfrm>
          <a:prstGeom prst="ellipse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Interactions</a:t>
            </a:r>
            <a:endParaRPr sz="1200"/>
          </a:p>
        </p:txBody>
      </p:sp>
      <p:cxnSp>
        <p:nvCxnSpPr>
          <p:cNvPr id="260" name="Google Shape;260;p30"/>
          <p:cNvCxnSpPr>
            <a:stCxn id="238" idx="0"/>
            <a:endCxn id="241" idx="2"/>
          </p:cNvCxnSpPr>
          <p:nvPr/>
        </p:nvCxnSpPr>
        <p:spPr>
          <a:xfrm flipH="1" rot="5400000">
            <a:off x="4831829" y="3231488"/>
            <a:ext cx="493800" cy="898200"/>
          </a:xfrm>
          <a:prstGeom prst="bentConnector3">
            <a:avLst>
              <a:gd fmla="val 50004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30"/>
          <p:cNvCxnSpPr>
            <a:stCxn id="258" idx="0"/>
            <a:endCxn id="241" idx="2"/>
          </p:cNvCxnSpPr>
          <p:nvPr/>
        </p:nvCxnSpPr>
        <p:spPr>
          <a:xfrm rot="-5400000">
            <a:off x="4123054" y="3940288"/>
            <a:ext cx="1014000" cy="600"/>
          </a:xfrm>
          <a:prstGeom prst="bentConnector3">
            <a:avLst>
              <a:gd fmla="val 49997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30"/>
          <p:cNvCxnSpPr>
            <a:stCxn id="242" idx="2"/>
            <a:endCxn id="259" idx="0"/>
          </p:cNvCxnSpPr>
          <p:nvPr/>
        </p:nvCxnSpPr>
        <p:spPr>
          <a:xfrm flipH="1" rot="-5400000">
            <a:off x="6756475" y="3261325"/>
            <a:ext cx="1287300" cy="600"/>
          </a:xfrm>
          <a:prstGeom prst="bentConnector3">
            <a:avLst>
              <a:gd fmla="val 50004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 types: Graph theory classification</a:t>
            </a:r>
            <a:endParaRPr/>
          </a:p>
        </p:txBody>
      </p:sp>
      <p:sp>
        <p:nvSpPr>
          <p:cNvPr id="268" name="Google Shape;268;p31"/>
          <p:cNvSpPr txBox="1"/>
          <p:nvPr>
            <p:ph idx="1" type="body"/>
          </p:nvPr>
        </p:nvSpPr>
        <p:spPr>
          <a:xfrm>
            <a:off x="483325" y="1147225"/>
            <a:ext cx="3513600" cy="3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Symmetric 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exists, if a is linked to b, then b is </a:t>
            </a:r>
            <a:r>
              <a:rPr b="1" lang="en"/>
              <a:t>necessarily </a:t>
            </a:r>
            <a:r>
              <a:rPr lang="en"/>
              <a:t>linked to a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Asymmetric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exists then if a is linked to b, then it is </a:t>
            </a:r>
            <a:r>
              <a:rPr b="1" lang="en"/>
              <a:t>not </a:t>
            </a:r>
            <a:r>
              <a:rPr lang="en"/>
              <a:t>a </a:t>
            </a:r>
            <a:r>
              <a:rPr b="1" lang="en"/>
              <a:t>necessity </a:t>
            </a:r>
            <a:r>
              <a:rPr lang="en"/>
              <a:t>that b is linked to a (but can happen)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Antisymmetric 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exists then is a is linked to b, then b </a:t>
            </a:r>
            <a:r>
              <a:rPr b="1" lang="en"/>
              <a:t>cannot by</a:t>
            </a:r>
            <a:r>
              <a:rPr lang="en"/>
              <a:t> </a:t>
            </a:r>
            <a:r>
              <a:rPr b="1" lang="en"/>
              <a:t>necessity </a:t>
            </a:r>
            <a:r>
              <a:rPr lang="en"/>
              <a:t>be linked to a</a:t>
            </a:r>
            <a:endParaRPr/>
          </a:p>
        </p:txBody>
      </p:sp>
      <p:pic>
        <p:nvPicPr>
          <p:cNvPr id="269" name="Google Shape;269;p31"/>
          <p:cNvPicPr preferRelativeResize="0"/>
          <p:nvPr/>
        </p:nvPicPr>
        <p:blipFill rotWithShape="1">
          <a:blip r:embed="rId3">
            <a:alphaModFix/>
          </a:blip>
          <a:srcRect b="8497" l="4080" r="1899" t="55649"/>
          <a:stretch/>
        </p:blipFill>
        <p:spPr>
          <a:xfrm>
            <a:off x="3849688" y="3291350"/>
            <a:ext cx="5067624" cy="14493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0" name="Google Shape;270;p31"/>
          <p:cNvGrpSpPr/>
          <p:nvPr/>
        </p:nvGrpSpPr>
        <p:grpSpPr>
          <a:xfrm>
            <a:off x="4565425" y="1722300"/>
            <a:ext cx="3636158" cy="1210913"/>
            <a:chOff x="4565425" y="1722300"/>
            <a:chExt cx="3636158" cy="1210913"/>
          </a:xfrm>
        </p:grpSpPr>
        <p:grpSp>
          <p:nvGrpSpPr>
            <p:cNvPr id="271" name="Google Shape;271;p31"/>
            <p:cNvGrpSpPr/>
            <p:nvPr/>
          </p:nvGrpSpPr>
          <p:grpSpPr>
            <a:xfrm>
              <a:off x="4565425" y="1722300"/>
              <a:ext cx="3636158" cy="1210874"/>
              <a:chOff x="5273425" y="2408575"/>
              <a:chExt cx="3636158" cy="1210874"/>
            </a:xfrm>
          </p:grpSpPr>
          <p:pic>
            <p:nvPicPr>
              <p:cNvPr id="272" name="Google Shape;272;p31"/>
              <p:cNvPicPr preferRelativeResize="0"/>
              <p:nvPr/>
            </p:nvPicPr>
            <p:blipFill rotWithShape="1">
              <a:blip r:embed="rId3">
                <a:alphaModFix/>
              </a:blip>
              <a:srcRect b="65756" l="0" r="32537" t="13680"/>
              <a:stretch/>
            </p:blipFill>
            <p:spPr>
              <a:xfrm>
                <a:off x="5273425" y="2408575"/>
                <a:ext cx="3636158" cy="8312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3" name="Google Shape;273;p31"/>
              <p:cNvPicPr preferRelativeResize="0"/>
              <p:nvPr/>
            </p:nvPicPr>
            <p:blipFill rotWithShape="1">
              <a:blip r:embed="rId3">
                <a:alphaModFix/>
              </a:blip>
              <a:srcRect b="49977" l="0" r="32537" t="41591"/>
              <a:stretch/>
            </p:blipFill>
            <p:spPr>
              <a:xfrm>
                <a:off x="5273425" y="3278599"/>
                <a:ext cx="3636149" cy="340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74" name="Google Shape;274;p31"/>
            <p:cNvSpPr txBox="1"/>
            <p:nvPr/>
          </p:nvSpPr>
          <p:spPr>
            <a:xfrm>
              <a:off x="7198525" y="1905000"/>
              <a:ext cx="425700" cy="224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275" name="Google Shape;275;p31"/>
            <p:cNvCxnSpPr>
              <a:stCxn id="274" idx="1"/>
              <a:endCxn id="274" idx="3"/>
            </p:cNvCxnSpPr>
            <p:nvPr/>
          </p:nvCxnSpPr>
          <p:spPr>
            <a:xfrm>
              <a:off x="7198525" y="2017050"/>
              <a:ext cx="4257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6" name="Google Shape;276;p31"/>
            <p:cNvSpPr txBox="1"/>
            <p:nvPr/>
          </p:nvSpPr>
          <p:spPr>
            <a:xfrm>
              <a:off x="7198525" y="2526713"/>
              <a:ext cx="425700" cy="406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277" name="Google Shape;277;p31"/>
            <p:cNvCxnSpPr>
              <a:stCxn id="276" idx="1"/>
              <a:endCxn id="276" idx="3"/>
            </p:cNvCxnSpPr>
            <p:nvPr/>
          </p:nvCxnSpPr>
          <p:spPr>
            <a:xfrm>
              <a:off x="7198525" y="2729963"/>
              <a:ext cx="4257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dash"/>
              <a:round/>
              <a:headEnd len="med" w="med" type="stealth"/>
              <a:tailEnd len="med" w="med" type="none"/>
            </a:ln>
          </p:spPr>
        </p:cxnSp>
        <p:cxnSp>
          <p:nvCxnSpPr>
            <p:cNvPr id="278" name="Google Shape;278;p31"/>
            <p:cNvCxnSpPr/>
            <p:nvPr/>
          </p:nvCxnSpPr>
          <p:spPr>
            <a:xfrm>
              <a:off x="7198525" y="2848738"/>
              <a:ext cx="4257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79" name="Google Shape;279;p31"/>
            <p:cNvSpPr txBox="1"/>
            <p:nvPr/>
          </p:nvSpPr>
          <p:spPr>
            <a:xfrm>
              <a:off x="7198525" y="2261463"/>
              <a:ext cx="425700" cy="224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280" name="Google Shape;280;p31"/>
            <p:cNvCxnSpPr/>
            <p:nvPr/>
          </p:nvCxnSpPr>
          <p:spPr>
            <a:xfrm>
              <a:off x="7198525" y="2406138"/>
              <a:ext cx="4257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Linking sociological and graph theoretic types</a:t>
            </a:r>
            <a:endParaRPr/>
          </a:p>
        </p:txBody>
      </p:sp>
      <p:sp>
        <p:nvSpPr>
          <p:cNvPr id="286" name="Google Shape;286;p3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the complication?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types of dyads have different graph theoretic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Similarities (propinquity, memberships) are by necessity symmetric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</a:t>
            </a:r>
            <a:r>
              <a:rPr b="1" lang="en"/>
              <a:t>role</a:t>
            </a:r>
            <a:r>
              <a:rPr lang="en"/>
              <a:t> </a:t>
            </a:r>
            <a:r>
              <a:rPr b="1" lang="en"/>
              <a:t>relations</a:t>
            </a:r>
            <a:r>
              <a:rPr lang="en"/>
              <a:t> are by necessity  </a:t>
            </a:r>
            <a:r>
              <a:rPr b="1" lang="en"/>
              <a:t>symmetric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Being somebody’s friend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Being somebody’s brother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</a:t>
            </a:r>
            <a:r>
              <a:rPr b="1" lang="en"/>
              <a:t>role relations</a:t>
            </a:r>
            <a:r>
              <a:rPr lang="en"/>
              <a:t> are by necessity  </a:t>
            </a:r>
            <a:r>
              <a:rPr b="1" lang="en"/>
              <a:t>anti-symmetric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Being somebody’s boss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Being somebody’s parent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</a:t>
            </a:r>
            <a:r>
              <a:rPr b="1" lang="en"/>
              <a:t>relationships</a:t>
            </a:r>
            <a:r>
              <a:rPr lang="en"/>
              <a:t> (e.g., cognitive, affective) are necessarily </a:t>
            </a:r>
            <a:r>
              <a:rPr b="1" lang="en"/>
              <a:t>asymmetric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text without being texted back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Interaction and exchanges are necessarily </a:t>
            </a:r>
            <a:r>
              <a:rPr b="1" lang="en"/>
              <a:t>asymmetric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give advice without receiving it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Linking sociological and graph theoretic types</a:t>
            </a:r>
            <a:endParaRPr/>
          </a:p>
        </p:txBody>
      </p:sp>
      <p:grpSp>
        <p:nvGrpSpPr>
          <p:cNvPr id="292" name="Google Shape;292;p33"/>
          <p:cNvGrpSpPr/>
          <p:nvPr/>
        </p:nvGrpSpPr>
        <p:grpSpPr>
          <a:xfrm>
            <a:off x="5256250" y="1946888"/>
            <a:ext cx="3636158" cy="1210913"/>
            <a:chOff x="4565425" y="1722300"/>
            <a:chExt cx="3636158" cy="1210913"/>
          </a:xfrm>
        </p:grpSpPr>
        <p:grpSp>
          <p:nvGrpSpPr>
            <p:cNvPr id="293" name="Google Shape;293;p33"/>
            <p:cNvGrpSpPr/>
            <p:nvPr/>
          </p:nvGrpSpPr>
          <p:grpSpPr>
            <a:xfrm>
              <a:off x="4565425" y="1722300"/>
              <a:ext cx="3636158" cy="1210874"/>
              <a:chOff x="5273425" y="2408575"/>
              <a:chExt cx="3636158" cy="1210874"/>
            </a:xfrm>
          </p:grpSpPr>
          <p:pic>
            <p:nvPicPr>
              <p:cNvPr id="294" name="Google Shape;294;p33"/>
              <p:cNvPicPr preferRelativeResize="0"/>
              <p:nvPr/>
            </p:nvPicPr>
            <p:blipFill rotWithShape="1">
              <a:blip r:embed="rId3">
                <a:alphaModFix/>
              </a:blip>
              <a:srcRect b="65756" l="0" r="32537" t="13680"/>
              <a:stretch/>
            </p:blipFill>
            <p:spPr>
              <a:xfrm>
                <a:off x="5273425" y="2408575"/>
                <a:ext cx="3636158" cy="8312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5" name="Google Shape;295;p33"/>
              <p:cNvPicPr preferRelativeResize="0"/>
              <p:nvPr/>
            </p:nvPicPr>
            <p:blipFill rotWithShape="1">
              <a:blip r:embed="rId3">
                <a:alphaModFix/>
              </a:blip>
              <a:srcRect b="49977" l="0" r="32537" t="41591"/>
              <a:stretch/>
            </p:blipFill>
            <p:spPr>
              <a:xfrm>
                <a:off x="5273425" y="3278599"/>
                <a:ext cx="3636149" cy="340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96" name="Google Shape;296;p33"/>
            <p:cNvSpPr txBox="1"/>
            <p:nvPr/>
          </p:nvSpPr>
          <p:spPr>
            <a:xfrm>
              <a:off x="7198525" y="1905000"/>
              <a:ext cx="425700" cy="224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297" name="Google Shape;297;p33"/>
            <p:cNvCxnSpPr>
              <a:stCxn id="296" idx="1"/>
              <a:endCxn id="296" idx="3"/>
            </p:cNvCxnSpPr>
            <p:nvPr/>
          </p:nvCxnSpPr>
          <p:spPr>
            <a:xfrm>
              <a:off x="7198525" y="2017050"/>
              <a:ext cx="4257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8" name="Google Shape;298;p33"/>
            <p:cNvSpPr txBox="1"/>
            <p:nvPr/>
          </p:nvSpPr>
          <p:spPr>
            <a:xfrm>
              <a:off x="7198525" y="2526713"/>
              <a:ext cx="425700" cy="406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299" name="Google Shape;299;p33"/>
            <p:cNvCxnSpPr>
              <a:stCxn id="298" idx="1"/>
              <a:endCxn id="298" idx="3"/>
            </p:cNvCxnSpPr>
            <p:nvPr/>
          </p:nvCxnSpPr>
          <p:spPr>
            <a:xfrm>
              <a:off x="7198525" y="2729963"/>
              <a:ext cx="4257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dash"/>
              <a:round/>
              <a:headEnd len="med" w="med" type="stealth"/>
              <a:tailEnd len="med" w="med" type="none"/>
            </a:ln>
          </p:spPr>
        </p:cxnSp>
        <p:cxnSp>
          <p:nvCxnSpPr>
            <p:cNvPr id="300" name="Google Shape;300;p33"/>
            <p:cNvCxnSpPr/>
            <p:nvPr/>
          </p:nvCxnSpPr>
          <p:spPr>
            <a:xfrm>
              <a:off x="7198525" y="2848738"/>
              <a:ext cx="4257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01" name="Google Shape;301;p33"/>
            <p:cNvSpPr txBox="1"/>
            <p:nvPr/>
          </p:nvSpPr>
          <p:spPr>
            <a:xfrm>
              <a:off x="7198525" y="2261463"/>
              <a:ext cx="425700" cy="224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302" name="Google Shape;302;p33"/>
            <p:cNvCxnSpPr/>
            <p:nvPr/>
          </p:nvCxnSpPr>
          <p:spPr>
            <a:xfrm>
              <a:off x="7198525" y="2406138"/>
              <a:ext cx="4257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sp>
        <p:nvSpPr>
          <p:cNvPr id="303" name="Google Shape;303;p33"/>
          <p:cNvSpPr/>
          <p:nvPr/>
        </p:nvSpPr>
        <p:spPr>
          <a:xfrm>
            <a:off x="2172250" y="1166738"/>
            <a:ext cx="1534800" cy="412800"/>
          </a:xfrm>
          <a:prstGeom prst="ellips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Propinquity</a:t>
            </a:r>
            <a:endParaRPr sz="1200"/>
          </a:p>
        </p:txBody>
      </p:sp>
      <p:sp>
        <p:nvSpPr>
          <p:cNvPr id="304" name="Google Shape;304;p33"/>
          <p:cNvSpPr/>
          <p:nvPr/>
        </p:nvSpPr>
        <p:spPr>
          <a:xfrm>
            <a:off x="2172250" y="2405304"/>
            <a:ext cx="1534800" cy="4128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lin ang="5400012" scaled="0"/>
          </a:gradFill>
          <a:ln cap="flat" cmpd="sng" w="2857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Role Relations</a:t>
            </a:r>
            <a:endParaRPr sz="1200"/>
          </a:p>
        </p:txBody>
      </p:sp>
      <p:sp>
        <p:nvSpPr>
          <p:cNvPr id="305" name="Google Shape;305;p33"/>
          <p:cNvSpPr/>
          <p:nvPr/>
        </p:nvSpPr>
        <p:spPr>
          <a:xfrm>
            <a:off x="2172251" y="3231008"/>
            <a:ext cx="1534800" cy="4128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lin ang="5400012" scaled="0"/>
          </a:gradFill>
          <a:ln cap="flat" cmpd="sng" w="2857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Sentiments</a:t>
            </a:r>
            <a:endParaRPr sz="1200"/>
          </a:p>
        </p:txBody>
      </p:sp>
      <p:sp>
        <p:nvSpPr>
          <p:cNvPr id="306" name="Google Shape;306;p33"/>
          <p:cNvSpPr/>
          <p:nvPr/>
        </p:nvSpPr>
        <p:spPr>
          <a:xfrm>
            <a:off x="2172252" y="4056711"/>
            <a:ext cx="1534800" cy="412800"/>
          </a:xfrm>
          <a:prstGeom prst="ellipse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Communication</a:t>
            </a:r>
            <a:endParaRPr sz="1200"/>
          </a:p>
        </p:txBody>
      </p:sp>
      <p:sp>
        <p:nvSpPr>
          <p:cNvPr id="307" name="Google Shape;307;p33"/>
          <p:cNvSpPr/>
          <p:nvPr/>
        </p:nvSpPr>
        <p:spPr>
          <a:xfrm>
            <a:off x="2172251" y="4469562"/>
            <a:ext cx="1534800" cy="412800"/>
          </a:xfrm>
          <a:prstGeom prst="ellipse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Exchanges</a:t>
            </a:r>
            <a:endParaRPr sz="1200"/>
          </a:p>
        </p:txBody>
      </p:sp>
      <p:sp>
        <p:nvSpPr>
          <p:cNvPr id="308" name="Google Shape;308;p33"/>
          <p:cNvSpPr/>
          <p:nvPr/>
        </p:nvSpPr>
        <p:spPr>
          <a:xfrm>
            <a:off x="2172250" y="1992453"/>
            <a:ext cx="1534800" cy="412800"/>
          </a:xfrm>
          <a:prstGeom prst="ellips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Memberships</a:t>
            </a:r>
            <a:endParaRPr sz="1200"/>
          </a:p>
        </p:txBody>
      </p:sp>
      <p:sp>
        <p:nvSpPr>
          <p:cNvPr id="309" name="Google Shape;309;p33"/>
          <p:cNvSpPr/>
          <p:nvPr/>
        </p:nvSpPr>
        <p:spPr>
          <a:xfrm>
            <a:off x="2172250" y="1579601"/>
            <a:ext cx="1534800" cy="412800"/>
          </a:xfrm>
          <a:prstGeom prst="ellips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Demographics</a:t>
            </a:r>
            <a:endParaRPr sz="1200"/>
          </a:p>
        </p:txBody>
      </p:sp>
      <p:sp>
        <p:nvSpPr>
          <p:cNvPr id="310" name="Google Shape;310;p33"/>
          <p:cNvSpPr/>
          <p:nvPr/>
        </p:nvSpPr>
        <p:spPr>
          <a:xfrm>
            <a:off x="2172251" y="2818156"/>
            <a:ext cx="1534800" cy="4128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lin ang="5400012" scaled="0"/>
          </a:gradFill>
          <a:ln cap="flat" cmpd="sng" w="2857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Cognitions</a:t>
            </a:r>
            <a:endParaRPr sz="1200"/>
          </a:p>
        </p:txBody>
      </p:sp>
      <p:sp>
        <p:nvSpPr>
          <p:cNvPr id="311" name="Google Shape;311;p33"/>
          <p:cNvSpPr/>
          <p:nvPr/>
        </p:nvSpPr>
        <p:spPr>
          <a:xfrm>
            <a:off x="2172250" y="3643859"/>
            <a:ext cx="1534800" cy="412800"/>
          </a:xfrm>
          <a:prstGeom prst="ellipse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Interactions</a:t>
            </a:r>
            <a:endParaRPr sz="1200"/>
          </a:p>
        </p:txBody>
      </p:sp>
      <p:sp>
        <p:nvSpPr>
          <p:cNvPr id="312" name="Google Shape;312;p33"/>
          <p:cNvSpPr/>
          <p:nvPr/>
        </p:nvSpPr>
        <p:spPr>
          <a:xfrm>
            <a:off x="5665450" y="2031300"/>
            <a:ext cx="358200" cy="335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3"/>
          <p:cNvSpPr/>
          <p:nvPr/>
        </p:nvSpPr>
        <p:spPr>
          <a:xfrm>
            <a:off x="5665450" y="2444150"/>
            <a:ext cx="358200" cy="335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3"/>
          <p:cNvSpPr/>
          <p:nvPr/>
        </p:nvSpPr>
        <p:spPr>
          <a:xfrm>
            <a:off x="5665450" y="2857000"/>
            <a:ext cx="358200" cy="335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5" name="Google Shape;315;p33"/>
          <p:cNvCxnSpPr>
            <a:stCxn id="303" idx="6"/>
            <a:endCxn id="312" idx="2"/>
          </p:cNvCxnSpPr>
          <p:nvPr/>
        </p:nvCxnSpPr>
        <p:spPr>
          <a:xfrm>
            <a:off x="3707050" y="1373138"/>
            <a:ext cx="1958400" cy="825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33"/>
          <p:cNvCxnSpPr>
            <a:stCxn id="309" idx="6"/>
            <a:endCxn id="312" idx="2"/>
          </p:cNvCxnSpPr>
          <p:nvPr/>
        </p:nvCxnSpPr>
        <p:spPr>
          <a:xfrm>
            <a:off x="3707050" y="1786001"/>
            <a:ext cx="1958400" cy="4128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33"/>
          <p:cNvCxnSpPr>
            <a:stCxn id="308" idx="6"/>
            <a:endCxn id="312" idx="2"/>
          </p:cNvCxnSpPr>
          <p:nvPr/>
        </p:nvCxnSpPr>
        <p:spPr>
          <a:xfrm>
            <a:off x="3707050" y="2198853"/>
            <a:ext cx="19584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33"/>
          <p:cNvCxnSpPr>
            <a:stCxn id="304" idx="6"/>
            <a:endCxn id="312" idx="2"/>
          </p:cNvCxnSpPr>
          <p:nvPr/>
        </p:nvCxnSpPr>
        <p:spPr>
          <a:xfrm flipH="1" rot="10800000">
            <a:off x="3707050" y="2198904"/>
            <a:ext cx="1958400" cy="412800"/>
          </a:xfrm>
          <a:prstGeom prst="straightConnector1">
            <a:avLst/>
          </a:prstGeom>
          <a:noFill/>
          <a:ln cap="flat" cmpd="sng" w="28575">
            <a:solidFill>
              <a:srgbClr val="8E7CC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33"/>
          <p:cNvCxnSpPr>
            <a:stCxn id="304" idx="6"/>
            <a:endCxn id="313" idx="2"/>
          </p:cNvCxnSpPr>
          <p:nvPr/>
        </p:nvCxnSpPr>
        <p:spPr>
          <a:xfrm>
            <a:off x="3707050" y="2611704"/>
            <a:ext cx="1958400" cy="0"/>
          </a:xfrm>
          <a:prstGeom prst="straightConnector1">
            <a:avLst/>
          </a:prstGeom>
          <a:noFill/>
          <a:ln cap="flat" cmpd="sng" w="28575">
            <a:solidFill>
              <a:srgbClr val="8E7CC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33"/>
          <p:cNvCxnSpPr>
            <a:stCxn id="310" idx="6"/>
            <a:endCxn id="314" idx="2"/>
          </p:cNvCxnSpPr>
          <p:nvPr/>
        </p:nvCxnSpPr>
        <p:spPr>
          <a:xfrm>
            <a:off x="3707051" y="3024556"/>
            <a:ext cx="1958400" cy="0"/>
          </a:xfrm>
          <a:prstGeom prst="straightConnector1">
            <a:avLst/>
          </a:prstGeom>
          <a:noFill/>
          <a:ln cap="flat" cmpd="sng" w="28575">
            <a:solidFill>
              <a:srgbClr val="8E7CC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33"/>
          <p:cNvCxnSpPr>
            <a:stCxn id="305" idx="6"/>
            <a:endCxn id="314" idx="2"/>
          </p:cNvCxnSpPr>
          <p:nvPr/>
        </p:nvCxnSpPr>
        <p:spPr>
          <a:xfrm flipH="1" rot="10800000">
            <a:off x="3707051" y="3024608"/>
            <a:ext cx="1958400" cy="412800"/>
          </a:xfrm>
          <a:prstGeom prst="straightConnector1">
            <a:avLst/>
          </a:prstGeom>
          <a:noFill/>
          <a:ln cap="flat" cmpd="sng" w="28575">
            <a:solidFill>
              <a:srgbClr val="8E7CC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33"/>
          <p:cNvCxnSpPr>
            <a:stCxn id="311" idx="6"/>
            <a:endCxn id="314" idx="2"/>
          </p:cNvCxnSpPr>
          <p:nvPr/>
        </p:nvCxnSpPr>
        <p:spPr>
          <a:xfrm flipH="1" rot="10800000">
            <a:off x="3707050" y="3024659"/>
            <a:ext cx="1958400" cy="8256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33"/>
          <p:cNvCxnSpPr>
            <a:stCxn id="306" idx="6"/>
            <a:endCxn id="314" idx="2"/>
          </p:cNvCxnSpPr>
          <p:nvPr/>
        </p:nvCxnSpPr>
        <p:spPr>
          <a:xfrm flipH="1" rot="10800000">
            <a:off x="3707052" y="3024411"/>
            <a:ext cx="1958400" cy="12387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33"/>
          <p:cNvCxnSpPr>
            <a:stCxn id="307" idx="6"/>
            <a:endCxn id="314" idx="2"/>
          </p:cNvCxnSpPr>
          <p:nvPr/>
        </p:nvCxnSpPr>
        <p:spPr>
          <a:xfrm flipH="1" rot="10800000">
            <a:off x="3707051" y="3024462"/>
            <a:ext cx="1958400" cy="16515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" name="Google Shape;325;p33"/>
          <p:cNvSpPr/>
          <p:nvPr/>
        </p:nvSpPr>
        <p:spPr>
          <a:xfrm>
            <a:off x="251610" y="2674048"/>
            <a:ext cx="16077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lin ang="5400012" scaled="0"/>
          </a:gradFill>
          <a:ln cap="flat" cmpd="sng" w="2857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Relationships</a:t>
            </a:r>
            <a:endParaRPr i="1"/>
          </a:p>
        </p:txBody>
      </p:sp>
      <p:sp>
        <p:nvSpPr>
          <p:cNvPr id="326" name="Google Shape;326;p33"/>
          <p:cNvSpPr/>
          <p:nvPr/>
        </p:nvSpPr>
        <p:spPr>
          <a:xfrm>
            <a:off x="251600" y="1567600"/>
            <a:ext cx="16077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Similarities</a:t>
            </a:r>
            <a:endParaRPr i="1"/>
          </a:p>
        </p:txBody>
      </p:sp>
      <p:sp>
        <p:nvSpPr>
          <p:cNvPr id="327" name="Google Shape;327;p33"/>
          <p:cNvSpPr/>
          <p:nvPr/>
        </p:nvSpPr>
        <p:spPr>
          <a:xfrm>
            <a:off x="251610" y="4044698"/>
            <a:ext cx="16077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Events</a:t>
            </a:r>
            <a:endParaRPr i="1"/>
          </a:p>
        </p:txBody>
      </p:sp>
      <p:sp>
        <p:nvSpPr>
          <p:cNvPr id="328" name="Google Shape;328;p33"/>
          <p:cNvSpPr/>
          <p:nvPr/>
        </p:nvSpPr>
        <p:spPr>
          <a:xfrm>
            <a:off x="1859300" y="3643850"/>
            <a:ext cx="358200" cy="1238700"/>
          </a:xfrm>
          <a:prstGeom prst="leftBrace">
            <a:avLst>
              <a:gd fmla="val 21768" name="adj1"/>
              <a:gd fmla="val 50000" name="adj2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3"/>
          <p:cNvSpPr/>
          <p:nvPr/>
        </p:nvSpPr>
        <p:spPr>
          <a:xfrm>
            <a:off x="1859300" y="2385900"/>
            <a:ext cx="358200" cy="12108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3"/>
          <p:cNvSpPr/>
          <p:nvPr/>
        </p:nvSpPr>
        <p:spPr>
          <a:xfrm>
            <a:off x="1859300" y="1147224"/>
            <a:ext cx="358200" cy="11259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4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Dyads</a:t>
            </a:r>
            <a:endParaRPr/>
          </a:p>
        </p:txBody>
      </p:sp>
      <p:sp>
        <p:nvSpPr>
          <p:cNvPr id="336" name="Google Shape;336;p34"/>
          <p:cNvSpPr/>
          <p:nvPr/>
        </p:nvSpPr>
        <p:spPr>
          <a:xfrm>
            <a:off x="3802950" y="187200"/>
            <a:ext cx="1770300" cy="806400"/>
          </a:xfrm>
          <a:prstGeom prst="roundRect">
            <a:avLst>
              <a:gd fmla="val 50000" name="adj"/>
            </a:avLst>
          </a:prstGeom>
          <a:solidFill>
            <a:srgbClr val="094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Types of </a:t>
            </a:r>
            <a:endParaRPr sz="24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Social Ties</a:t>
            </a:r>
            <a:endParaRPr sz="24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37" name="Google Shape;337;p34"/>
          <p:cNvSpPr/>
          <p:nvPr/>
        </p:nvSpPr>
        <p:spPr>
          <a:xfrm>
            <a:off x="902847" y="2269926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Symmetric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38" name="Google Shape;338;p34"/>
          <p:cNvSpPr/>
          <p:nvPr/>
        </p:nvSpPr>
        <p:spPr>
          <a:xfrm>
            <a:off x="2819668" y="3250253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Reciprocal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39" name="Google Shape;339;p34"/>
          <p:cNvSpPr/>
          <p:nvPr/>
        </p:nvSpPr>
        <p:spPr>
          <a:xfrm>
            <a:off x="5063950" y="3250253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Non-Reciprocal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40" name="Google Shape;340;p34"/>
          <p:cNvCxnSpPr>
            <a:stCxn id="337" idx="0"/>
            <a:endCxn id="336" idx="2"/>
          </p:cNvCxnSpPr>
          <p:nvPr/>
        </p:nvCxnSpPr>
        <p:spPr>
          <a:xfrm rot="-5400000">
            <a:off x="2541897" y="123726"/>
            <a:ext cx="1276200" cy="3016200"/>
          </a:xfrm>
          <a:prstGeom prst="bentConnector3">
            <a:avLst>
              <a:gd fmla="val 50005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34"/>
          <p:cNvCxnSpPr>
            <a:stCxn id="342" idx="2"/>
            <a:endCxn id="338" idx="0"/>
          </p:cNvCxnSpPr>
          <p:nvPr/>
        </p:nvCxnSpPr>
        <p:spPr>
          <a:xfrm rot="5400000">
            <a:off x="3869390" y="2431626"/>
            <a:ext cx="537900" cy="1099500"/>
          </a:xfrm>
          <a:prstGeom prst="bentConnector3">
            <a:avLst>
              <a:gd fmla="val 49993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34"/>
          <p:cNvCxnSpPr>
            <a:stCxn id="339" idx="0"/>
            <a:endCxn id="342" idx="2"/>
          </p:cNvCxnSpPr>
          <p:nvPr/>
        </p:nvCxnSpPr>
        <p:spPr>
          <a:xfrm flipH="1" rot="5400000">
            <a:off x="4991650" y="2408903"/>
            <a:ext cx="537900" cy="1144800"/>
          </a:xfrm>
          <a:prstGeom prst="bentConnector3">
            <a:avLst>
              <a:gd fmla="val 49993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34"/>
          <p:cNvSpPr/>
          <p:nvPr/>
        </p:nvSpPr>
        <p:spPr>
          <a:xfrm>
            <a:off x="7024115" y="2269926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Antisymmetric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42" name="Google Shape;342;p34"/>
          <p:cNvSpPr/>
          <p:nvPr/>
        </p:nvSpPr>
        <p:spPr>
          <a:xfrm>
            <a:off x="3919040" y="2269926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Asymmetric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45" name="Google Shape;345;p34"/>
          <p:cNvCxnSpPr>
            <a:stCxn id="342" idx="0"/>
            <a:endCxn id="336" idx="2"/>
          </p:cNvCxnSpPr>
          <p:nvPr/>
        </p:nvCxnSpPr>
        <p:spPr>
          <a:xfrm rot="-5400000">
            <a:off x="4050290" y="1631526"/>
            <a:ext cx="1276200" cy="600"/>
          </a:xfrm>
          <a:prstGeom prst="bentConnector3">
            <a:avLst>
              <a:gd fmla="val 50005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" name="Google Shape;346;p34"/>
          <p:cNvCxnSpPr>
            <a:stCxn id="336" idx="2"/>
            <a:endCxn id="344" idx="0"/>
          </p:cNvCxnSpPr>
          <p:nvPr/>
        </p:nvCxnSpPr>
        <p:spPr>
          <a:xfrm flipH="1" rot="-5400000">
            <a:off x="5602500" y="79200"/>
            <a:ext cx="1276200" cy="3105000"/>
          </a:xfrm>
          <a:prstGeom prst="bentConnector3">
            <a:avLst>
              <a:gd fmla="val 50005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47" name="Google Shape;3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675" y="2829025"/>
            <a:ext cx="1046440" cy="1046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125" y="3692825"/>
            <a:ext cx="1392450" cy="1380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4575" y="3918139"/>
            <a:ext cx="1144801" cy="93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78113" y="2829026"/>
            <a:ext cx="2030121" cy="104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96960" y="3827442"/>
            <a:ext cx="1392451" cy="1111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5"/>
          <p:cNvSpPr txBox="1"/>
          <p:nvPr>
            <p:ph idx="1" type="body"/>
          </p:nvPr>
        </p:nvSpPr>
        <p:spPr>
          <a:xfrm>
            <a:off x="319500" y="4218925"/>
            <a:ext cx="65277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Dyads: </a:t>
            </a:r>
            <a:r>
              <a:rPr lang="en"/>
              <a:t>Linking sociological and graph theoretic types</a:t>
            </a:r>
            <a:endParaRPr/>
          </a:p>
        </p:txBody>
      </p:sp>
      <p:sp>
        <p:nvSpPr>
          <p:cNvPr id="357" name="Google Shape;357;p35"/>
          <p:cNvSpPr/>
          <p:nvPr/>
        </p:nvSpPr>
        <p:spPr>
          <a:xfrm>
            <a:off x="755413" y="202398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8" name="Google Shape;358;p35"/>
          <p:cNvCxnSpPr/>
          <p:nvPr/>
        </p:nvCxnSpPr>
        <p:spPr>
          <a:xfrm>
            <a:off x="4870375" y="84827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35"/>
          <p:cNvCxnSpPr/>
          <p:nvPr/>
        </p:nvCxnSpPr>
        <p:spPr>
          <a:xfrm>
            <a:off x="4870375" y="123132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60" name="Google Shape;360;p35"/>
          <p:cNvSpPr/>
          <p:nvPr/>
        </p:nvSpPr>
        <p:spPr>
          <a:xfrm>
            <a:off x="755413" y="31774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5"/>
          <p:cNvSpPr/>
          <p:nvPr/>
        </p:nvSpPr>
        <p:spPr>
          <a:xfrm>
            <a:off x="755413" y="8705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2" name="Google Shape;362;p35"/>
          <p:cNvCxnSpPr>
            <a:stCxn id="361" idx="4"/>
            <a:endCxn id="357" idx="0"/>
          </p:cNvCxnSpPr>
          <p:nvPr/>
        </p:nvCxnSpPr>
        <p:spPr>
          <a:xfrm>
            <a:off x="1065913" y="1475650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3" name="Google Shape;363;p35"/>
          <p:cNvCxnSpPr>
            <a:stCxn id="357" idx="4"/>
            <a:endCxn id="360" idx="0"/>
          </p:cNvCxnSpPr>
          <p:nvPr/>
        </p:nvCxnSpPr>
        <p:spPr>
          <a:xfrm>
            <a:off x="1065913" y="262908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4" name="Google Shape;364;p35"/>
          <p:cNvCxnSpPr>
            <a:stCxn id="361" idx="6"/>
            <a:endCxn id="365" idx="2"/>
          </p:cNvCxnSpPr>
          <p:nvPr/>
        </p:nvCxnSpPr>
        <p:spPr>
          <a:xfrm>
            <a:off x="1376413" y="1173100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35"/>
          <p:cNvSpPr/>
          <p:nvPr/>
        </p:nvSpPr>
        <p:spPr>
          <a:xfrm>
            <a:off x="2033563" y="8705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5"/>
          <p:cNvSpPr/>
          <p:nvPr/>
        </p:nvSpPr>
        <p:spPr>
          <a:xfrm>
            <a:off x="2033563" y="202400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7" name="Google Shape;367;p35"/>
          <p:cNvCxnSpPr>
            <a:stCxn id="357" idx="6"/>
            <a:endCxn id="366" idx="2"/>
          </p:cNvCxnSpPr>
          <p:nvPr/>
        </p:nvCxnSpPr>
        <p:spPr>
          <a:xfrm>
            <a:off x="1376413" y="2326538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35"/>
          <p:cNvCxnSpPr>
            <a:stCxn id="365" idx="4"/>
            <a:endCxn id="366" idx="0"/>
          </p:cNvCxnSpPr>
          <p:nvPr/>
        </p:nvCxnSpPr>
        <p:spPr>
          <a:xfrm>
            <a:off x="2344063" y="1475650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9" name="Google Shape;369;p35"/>
          <p:cNvCxnSpPr>
            <a:stCxn id="360" idx="6"/>
            <a:endCxn id="370" idx="2"/>
          </p:cNvCxnSpPr>
          <p:nvPr/>
        </p:nvCxnSpPr>
        <p:spPr>
          <a:xfrm flipH="1" rot="10800000">
            <a:off x="1376413" y="347127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35"/>
          <p:cNvSpPr/>
          <p:nvPr/>
        </p:nvSpPr>
        <p:spPr>
          <a:xfrm>
            <a:off x="2033563" y="31686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1" name="Google Shape;371;p35"/>
          <p:cNvCxnSpPr>
            <a:stCxn id="366" idx="4"/>
            <a:endCxn id="370" idx="0"/>
          </p:cNvCxnSpPr>
          <p:nvPr/>
        </p:nvCxnSpPr>
        <p:spPr>
          <a:xfrm>
            <a:off x="2344063" y="262910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72" name="Google Shape;372;p35"/>
          <p:cNvSpPr txBox="1"/>
          <p:nvPr/>
        </p:nvSpPr>
        <p:spPr>
          <a:xfrm>
            <a:off x="3151050" y="331620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Third Generation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3" name="Google Shape;373;p35"/>
          <p:cNvSpPr txBox="1"/>
          <p:nvPr/>
        </p:nvSpPr>
        <p:spPr>
          <a:xfrm>
            <a:off x="3151065" y="2142250"/>
            <a:ext cx="1719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Second Generation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4" name="Google Shape;374;p35"/>
          <p:cNvSpPr txBox="1"/>
          <p:nvPr/>
        </p:nvSpPr>
        <p:spPr>
          <a:xfrm>
            <a:off x="3151050" y="96830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1st Generation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75" name="Google Shape;375;p35"/>
          <p:cNvCxnSpPr>
            <a:stCxn id="361" idx="2"/>
            <a:endCxn id="360" idx="2"/>
          </p:cNvCxnSpPr>
          <p:nvPr/>
        </p:nvCxnSpPr>
        <p:spPr>
          <a:xfrm>
            <a:off x="755413" y="1173100"/>
            <a:ext cx="600" cy="2307000"/>
          </a:xfrm>
          <a:prstGeom prst="bentConnector3">
            <a:avLst>
              <a:gd fmla="val -39687500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6" name="Google Shape;376;p35"/>
          <p:cNvCxnSpPr>
            <a:stCxn id="357" idx="4"/>
            <a:endCxn id="370" idx="0"/>
          </p:cNvCxnSpPr>
          <p:nvPr/>
        </p:nvCxnSpPr>
        <p:spPr>
          <a:xfrm>
            <a:off x="1065913" y="262908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7" name="Google Shape;377;p35"/>
          <p:cNvCxnSpPr>
            <a:stCxn id="365" idx="4"/>
            <a:endCxn id="357" idx="0"/>
          </p:cNvCxnSpPr>
          <p:nvPr/>
        </p:nvCxnSpPr>
        <p:spPr>
          <a:xfrm flipH="1">
            <a:off x="1066063" y="147565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8" name="Google Shape;378;p35"/>
          <p:cNvCxnSpPr>
            <a:stCxn id="365" idx="6"/>
            <a:endCxn id="370" idx="6"/>
          </p:cNvCxnSpPr>
          <p:nvPr/>
        </p:nvCxnSpPr>
        <p:spPr>
          <a:xfrm>
            <a:off x="2654563" y="1173100"/>
            <a:ext cx="600" cy="2298000"/>
          </a:xfrm>
          <a:prstGeom prst="bentConnector3">
            <a:avLst>
              <a:gd fmla="val 39687500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79" name="Google Shape;379;p35"/>
          <p:cNvSpPr txBox="1"/>
          <p:nvPr/>
        </p:nvSpPr>
        <p:spPr>
          <a:xfrm>
            <a:off x="5957275" y="1046975"/>
            <a:ext cx="29757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Antis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ymmetric kin (parent of, uncle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80" name="Google Shape;380;p35"/>
          <p:cNvSpPr txBox="1"/>
          <p:nvPr/>
        </p:nvSpPr>
        <p:spPr>
          <a:xfrm>
            <a:off x="4870375" y="2057400"/>
            <a:ext cx="3931800" cy="21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In Families: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Same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generation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ties are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symmetric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■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Sibling/Cousin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Cross-Generation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ties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antisymmetric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■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Parent/Uncle/Parent’s parent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81" name="Google Shape;381;p35"/>
          <p:cNvSpPr txBox="1"/>
          <p:nvPr/>
        </p:nvSpPr>
        <p:spPr>
          <a:xfrm>
            <a:off x="5957275" y="663925"/>
            <a:ext cx="26862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ymmetric kin (being a sibling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82" name="Google Shape;382;p35"/>
          <p:cNvCxnSpPr>
            <a:stCxn id="361" idx="4"/>
            <a:endCxn id="366" idx="0"/>
          </p:cNvCxnSpPr>
          <p:nvPr/>
        </p:nvCxnSpPr>
        <p:spPr>
          <a:xfrm>
            <a:off x="1065913" y="1475650"/>
            <a:ext cx="12783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3" name="Google Shape;383;p35"/>
          <p:cNvCxnSpPr>
            <a:stCxn id="366" idx="4"/>
            <a:endCxn id="360" idx="0"/>
          </p:cNvCxnSpPr>
          <p:nvPr/>
        </p:nvCxnSpPr>
        <p:spPr>
          <a:xfrm flipH="1">
            <a:off x="1066063" y="262910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6"/>
          <p:cNvSpPr txBox="1"/>
          <p:nvPr/>
        </p:nvSpPr>
        <p:spPr>
          <a:xfrm>
            <a:off x="3151050" y="331620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Workers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89" name="Google Shape;389;p36"/>
          <p:cNvSpPr txBox="1"/>
          <p:nvPr/>
        </p:nvSpPr>
        <p:spPr>
          <a:xfrm>
            <a:off x="3151065" y="2142250"/>
            <a:ext cx="1719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Managers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90" name="Google Shape;390;p36"/>
          <p:cNvSpPr txBox="1"/>
          <p:nvPr/>
        </p:nvSpPr>
        <p:spPr>
          <a:xfrm>
            <a:off x="3151050" y="96830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Executives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91" name="Google Shape;391;p36"/>
          <p:cNvSpPr txBox="1"/>
          <p:nvPr/>
        </p:nvSpPr>
        <p:spPr>
          <a:xfrm>
            <a:off x="4587450" y="2057400"/>
            <a:ext cx="4214700" cy="21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In Hierarchies or Organizations: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Same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authority level 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ties are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symmetric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Cross-Authority level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ties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antisymmetric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92" name="Google Shape;392;p36"/>
          <p:cNvCxnSpPr/>
          <p:nvPr/>
        </p:nvCxnSpPr>
        <p:spPr>
          <a:xfrm>
            <a:off x="4870375" y="84827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36"/>
          <p:cNvCxnSpPr/>
          <p:nvPr/>
        </p:nvCxnSpPr>
        <p:spPr>
          <a:xfrm>
            <a:off x="4870375" y="123132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4" name="Google Shape;394;p36"/>
          <p:cNvSpPr txBox="1"/>
          <p:nvPr/>
        </p:nvSpPr>
        <p:spPr>
          <a:xfrm>
            <a:off x="5957275" y="1046975"/>
            <a:ext cx="31095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Antisymmetric work (boss, supervisor)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95" name="Google Shape;395;p36"/>
          <p:cNvSpPr txBox="1"/>
          <p:nvPr/>
        </p:nvSpPr>
        <p:spPr>
          <a:xfrm>
            <a:off x="5957275" y="663925"/>
            <a:ext cx="30537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Symmetric work (coworker, officemate)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96" name="Google Shape;396;p36"/>
          <p:cNvSpPr/>
          <p:nvPr/>
        </p:nvSpPr>
        <p:spPr>
          <a:xfrm>
            <a:off x="755413" y="202398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6"/>
          <p:cNvSpPr/>
          <p:nvPr/>
        </p:nvSpPr>
        <p:spPr>
          <a:xfrm>
            <a:off x="755413" y="31774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6"/>
          <p:cNvSpPr/>
          <p:nvPr/>
        </p:nvSpPr>
        <p:spPr>
          <a:xfrm>
            <a:off x="755413" y="8705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9" name="Google Shape;399;p36"/>
          <p:cNvCxnSpPr>
            <a:stCxn id="398" idx="4"/>
            <a:endCxn id="396" idx="0"/>
          </p:cNvCxnSpPr>
          <p:nvPr/>
        </p:nvCxnSpPr>
        <p:spPr>
          <a:xfrm>
            <a:off x="1065913" y="1475650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0" name="Google Shape;400;p36"/>
          <p:cNvCxnSpPr>
            <a:stCxn id="396" idx="4"/>
            <a:endCxn id="397" idx="0"/>
          </p:cNvCxnSpPr>
          <p:nvPr/>
        </p:nvCxnSpPr>
        <p:spPr>
          <a:xfrm>
            <a:off x="1065913" y="262908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1" name="Google Shape;401;p36"/>
          <p:cNvCxnSpPr>
            <a:stCxn id="398" idx="6"/>
            <a:endCxn id="402" idx="2"/>
          </p:cNvCxnSpPr>
          <p:nvPr/>
        </p:nvCxnSpPr>
        <p:spPr>
          <a:xfrm>
            <a:off x="1376413" y="1173100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36"/>
          <p:cNvSpPr/>
          <p:nvPr/>
        </p:nvSpPr>
        <p:spPr>
          <a:xfrm>
            <a:off x="2033563" y="8705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6"/>
          <p:cNvSpPr/>
          <p:nvPr/>
        </p:nvSpPr>
        <p:spPr>
          <a:xfrm>
            <a:off x="2033563" y="202400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4" name="Google Shape;404;p36"/>
          <p:cNvCxnSpPr>
            <a:stCxn id="396" idx="6"/>
            <a:endCxn id="403" idx="2"/>
          </p:cNvCxnSpPr>
          <p:nvPr/>
        </p:nvCxnSpPr>
        <p:spPr>
          <a:xfrm>
            <a:off x="1376413" y="2326538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36"/>
          <p:cNvCxnSpPr>
            <a:stCxn id="402" idx="4"/>
            <a:endCxn id="403" idx="0"/>
          </p:cNvCxnSpPr>
          <p:nvPr/>
        </p:nvCxnSpPr>
        <p:spPr>
          <a:xfrm>
            <a:off x="2344063" y="1475650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6" name="Google Shape;406;p36"/>
          <p:cNvCxnSpPr>
            <a:stCxn id="397" idx="6"/>
            <a:endCxn id="407" idx="2"/>
          </p:cNvCxnSpPr>
          <p:nvPr/>
        </p:nvCxnSpPr>
        <p:spPr>
          <a:xfrm flipH="1" rot="10800000">
            <a:off x="1376413" y="347127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" name="Google Shape;407;p36"/>
          <p:cNvSpPr/>
          <p:nvPr/>
        </p:nvSpPr>
        <p:spPr>
          <a:xfrm>
            <a:off x="2033563" y="31686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8" name="Google Shape;408;p36"/>
          <p:cNvCxnSpPr>
            <a:stCxn id="403" idx="4"/>
            <a:endCxn id="407" idx="0"/>
          </p:cNvCxnSpPr>
          <p:nvPr/>
        </p:nvCxnSpPr>
        <p:spPr>
          <a:xfrm>
            <a:off x="2344063" y="262910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9" name="Google Shape;409;p36"/>
          <p:cNvCxnSpPr>
            <a:stCxn id="398" idx="2"/>
            <a:endCxn id="397" idx="2"/>
          </p:cNvCxnSpPr>
          <p:nvPr/>
        </p:nvCxnSpPr>
        <p:spPr>
          <a:xfrm>
            <a:off x="755413" y="1173100"/>
            <a:ext cx="600" cy="2307000"/>
          </a:xfrm>
          <a:prstGeom prst="bentConnector3">
            <a:avLst>
              <a:gd fmla="val -39687500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0" name="Google Shape;410;p36"/>
          <p:cNvCxnSpPr>
            <a:stCxn id="396" idx="4"/>
            <a:endCxn id="407" idx="0"/>
          </p:cNvCxnSpPr>
          <p:nvPr/>
        </p:nvCxnSpPr>
        <p:spPr>
          <a:xfrm>
            <a:off x="1065913" y="262908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1" name="Google Shape;411;p36"/>
          <p:cNvCxnSpPr>
            <a:stCxn id="402" idx="4"/>
            <a:endCxn id="396" idx="0"/>
          </p:cNvCxnSpPr>
          <p:nvPr/>
        </p:nvCxnSpPr>
        <p:spPr>
          <a:xfrm flipH="1">
            <a:off x="1066063" y="147565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2" name="Google Shape;412;p36"/>
          <p:cNvCxnSpPr>
            <a:stCxn id="402" idx="6"/>
            <a:endCxn id="407" idx="6"/>
          </p:cNvCxnSpPr>
          <p:nvPr/>
        </p:nvCxnSpPr>
        <p:spPr>
          <a:xfrm>
            <a:off x="2654563" y="1173100"/>
            <a:ext cx="600" cy="2298000"/>
          </a:xfrm>
          <a:prstGeom prst="bentConnector3">
            <a:avLst>
              <a:gd fmla="val 39687500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3" name="Google Shape;413;p36"/>
          <p:cNvCxnSpPr>
            <a:stCxn id="398" idx="4"/>
            <a:endCxn id="403" idx="0"/>
          </p:cNvCxnSpPr>
          <p:nvPr/>
        </p:nvCxnSpPr>
        <p:spPr>
          <a:xfrm>
            <a:off x="1065913" y="1475650"/>
            <a:ext cx="12783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4" name="Google Shape;414;p36"/>
          <p:cNvCxnSpPr>
            <a:stCxn id="403" idx="4"/>
            <a:endCxn id="397" idx="0"/>
          </p:cNvCxnSpPr>
          <p:nvPr/>
        </p:nvCxnSpPr>
        <p:spPr>
          <a:xfrm flipH="1">
            <a:off x="1066063" y="262910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15" name="Google Shape;415;p36"/>
          <p:cNvSpPr txBox="1"/>
          <p:nvPr>
            <p:ph idx="1" type="body"/>
          </p:nvPr>
        </p:nvSpPr>
        <p:spPr>
          <a:xfrm>
            <a:off x="319500" y="4218925"/>
            <a:ext cx="65277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Linking sociological and graph theoretic types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7"/>
          <p:cNvSpPr/>
          <p:nvPr/>
        </p:nvSpPr>
        <p:spPr>
          <a:xfrm>
            <a:off x="755413" y="202398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421" name="Google Shape;421;p37"/>
          <p:cNvSpPr/>
          <p:nvPr/>
        </p:nvSpPr>
        <p:spPr>
          <a:xfrm>
            <a:off x="755413" y="31774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sp>
        <p:nvSpPr>
          <p:cNvPr id="422" name="Google Shape;422;p37"/>
          <p:cNvSpPr/>
          <p:nvPr/>
        </p:nvSpPr>
        <p:spPr>
          <a:xfrm>
            <a:off x="755413" y="8705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423" name="Google Shape;423;p37"/>
          <p:cNvCxnSpPr>
            <a:stCxn id="422" idx="4"/>
            <a:endCxn id="420" idx="0"/>
          </p:cNvCxnSpPr>
          <p:nvPr/>
        </p:nvCxnSpPr>
        <p:spPr>
          <a:xfrm>
            <a:off x="1065913" y="1475650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4" name="Google Shape;424;p37"/>
          <p:cNvCxnSpPr>
            <a:stCxn id="420" idx="4"/>
            <a:endCxn id="421" idx="0"/>
          </p:cNvCxnSpPr>
          <p:nvPr/>
        </p:nvCxnSpPr>
        <p:spPr>
          <a:xfrm>
            <a:off x="1065913" y="262908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5" name="Google Shape;425;p37"/>
          <p:cNvCxnSpPr>
            <a:stCxn id="422" idx="6"/>
            <a:endCxn id="426" idx="2"/>
          </p:cNvCxnSpPr>
          <p:nvPr/>
        </p:nvCxnSpPr>
        <p:spPr>
          <a:xfrm>
            <a:off x="1376413" y="1173100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" name="Google Shape;426;p37"/>
          <p:cNvSpPr/>
          <p:nvPr/>
        </p:nvSpPr>
        <p:spPr>
          <a:xfrm>
            <a:off x="2033563" y="8705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7"/>
          <p:cNvSpPr/>
          <p:nvPr/>
        </p:nvSpPr>
        <p:spPr>
          <a:xfrm>
            <a:off x="2033563" y="202400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8" name="Google Shape;428;p37"/>
          <p:cNvCxnSpPr>
            <a:stCxn id="420" idx="6"/>
            <a:endCxn id="427" idx="2"/>
          </p:cNvCxnSpPr>
          <p:nvPr/>
        </p:nvCxnSpPr>
        <p:spPr>
          <a:xfrm>
            <a:off x="1376413" y="2326538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37"/>
          <p:cNvCxnSpPr>
            <a:stCxn id="426" idx="4"/>
            <a:endCxn id="427" idx="0"/>
          </p:cNvCxnSpPr>
          <p:nvPr/>
        </p:nvCxnSpPr>
        <p:spPr>
          <a:xfrm>
            <a:off x="2344063" y="1475650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0" name="Google Shape;430;p37"/>
          <p:cNvCxnSpPr>
            <a:stCxn id="421" idx="6"/>
            <a:endCxn id="431" idx="2"/>
          </p:cNvCxnSpPr>
          <p:nvPr/>
        </p:nvCxnSpPr>
        <p:spPr>
          <a:xfrm flipH="1" rot="10800000">
            <a:off x="1376413" y="347127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" name="Google Shape;431;p37"/>
          <p:cNvSpPr/>
          <p:nvPr/>
        </p:nvSpPr>
        <p:spPr>
          <a:xfrm>
            <a:off x="2033563" y="31686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2" name="Google Shape;432;p37"/>
          <p:cNvCxnSpPr>
            <a:stCxn id="427" idx="4"/>
            <a:endCxn id="431" idx="0"/>
          </p:cNvCxnSpPr>
          <p:nvPr/>
        </p:nvCxnSpPr>
        <p:spPr>
          <a:xfrm>
            <a:off x="2344063" y="262910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33" name="Google Shape;433;p37"/>
          <p:cNvSpPr txBox="1"/>
          <p:nvPr/>
        </p:nvSpPr>
        <p:spPr>
          <a:xfrm>
            <a:off x="3151050" y="331620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Workers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34" name="Google Shape;434;p37"/>
          <p:cNvSpPr txBox="1"/>
          <p:nvPr/>
        </p:nvSpPr>
        <p:spPr>
          <a:xfrm>
            <a:off x="3151065" y="2142250"/>
            <a:ext cx="1719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Managers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35" name="Google Shape;435;p37"/>
          <p:cNvSpPr txBox="1"/>
          <p:nvPr/>
        </p:nvSpPr>
        <p:spPr>
          <a:xfrm>
            <a:off x="3151050" y="96830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Executives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36" name="Google Shape;436;p37"/>
          <p:cNvCxnSpPr>
            <a:stCxn id="422" idx="2"/>
            <a:endCxn id="421" idx="2"/>
          </p:cNvCxnSpPr>
          <p:nvPr/>
        </p:nvCxnSpPr>
        <p:spPr>
          <a:xfrm>
            <a:off x="755413" y="1173100"/>
            <a:ext cx="600" cy="2307000"/>
          </a:xfrm>
          <a:prstGeom prst="bentConnector3">
            <a:avLst>
              <a:gd fmla="val -396875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7" name="Google Shape;437;p37"/>
          <p:cNvCxnSpPr>
            <a:stCxn id="420" idx="4"/>
            <a:endCxn id="431" idx="0"/>
          </p:cNvCxnSpPr>
          <p:nvPr/>
        </p:nvCxnSpPr>
        <p:spPr>
          <a:xfrm>
            <a:off x="1065913" y="262908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8" name="Google Shape;438;p37"/>
          <p:cNvCxnSpPr>
            <a:stCxn id="426" idx="4"/>
            <a:endCxn id="420" idx="0"/>
          </p:cNvCxnSpPr>
          <p:nvPr/>
        </p:nvCxnSpPr>
        <p:spPr>
          <a:xfrm flipH="1">
            <a:off x="1066063" y="147565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9" name="Google Shape;439;p37"/>
          <p:cNvCxnSpPr>
            <a:stCxn id="426" idx="6"/>
            <a:endCxn id="431" idx="6"/>
          </p:cNvCxnSpPr>
          <p:nvPr/>
        </p:nvCxnSpPr>
        <p:spPr>
          <a:xfrm>
            <a:off x="2654563" y="1173100"/>
            <a:ext cx="600" cy="2298000"/>
          </a:xfrm>
          <a:prstGeom prst="bentConnector3">
            <a:avLst>
              <a:gd fmla="val 39687500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40" name="Google Shape;440;p37"/>
          <p:cNvSpPr txBox="1"/>
          <p:nvPr/>
        </p:nvSpPr>
        <p:spPr>
          <a:xfrm>
            <a:off x="4587450" y="1778251"/>
            <a:ext cx="4214700" cy="15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Pure hierarchy implies </a:t>
            </a: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transitivity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conomica"/>
              <a:buChar char="●"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Transitivity is a relation between node triples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Economica"/>
              <a:buChar char="○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If a has authority over b, and b has authority over c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Then a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necessarily 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has authority over c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41" name="Google Shape;441;p37"/>
          <p:cNvCxnSpPr>
            <a:stCxn id="422" idx="4"/>
            <a:endCxn id="427" idx="0"/>
          </p:cNvCxnSpPr>
          <p:nvPr/>
        </p:nvCxnSpPr>
        <p:spPr>
          <a:xfrm>
            <a:off x="1065913" y="1475650"/>
            <a:ext cx="12783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2" name="Google Shape;442;p37"/>
          <p:cNvCxnSpPr>
            <a:stCxn id="427" idx="4"/>
            <a:endCxn id="421" idx="0"/>
          </p:cNvCxnSpPr>
          <p:nvPr/>
        </p:nvCxnSpPr>
        <p:spPr>
          <a:xfrm flipH="1">
            <a:off x="1066063" y="262910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3" name="Google Shape;443;p37"/>
          <p:cNvCxnSpPr/>
          <p:nvPr/>
        </p:nvCxnSpPr>
        <p:spPr>
          <a:xfrm>
            <a:off x="4870375" y="84827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37"/>
          <p:cNvCxnSpPr/>
          <p:nvPr/>
        </p:nvCxnSpPr>
        <p:spPr>
          <a:xfrm>
            <a:off x="4870375" y="123132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45" name="Google Shape;445;p37"/>
          <p:cNvSpPr txBox="1"/>
          <p:nvPr/>
        </p:nvSpPr>
        <p:spPr>
          <a:xfrm>
            <a:off x="5957275" y="1046975"/>
            <a:ext cx="31095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Antisymmetric work (boss, supervisor)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46" name="Google Shape;446;p37"/>
          <p:cNvSpPr txBox="1"/>
          <p:nvPr/>
        </p:nvSpPr>
        <p:spPr>
          <a:xfrm>
            <a:off x="5957275" y="663925"/>
            <a:ext cx="30537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Symmetric work (coworker, officemate)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47" name="Google Shape;447;p37"/>
          <p:cNvSpPr txBox="1"/>
          <p:nvPr/>
        </p:nvSpPr>
        <p:spPr>
          <a:xfrm rot="-5401317">
            <a:off x="-857441" y="2168210"/>
            <a:ext cx="234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This edge (ac) has to exist!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grpSp>
        <p:nvGrpSpPr>
          <p:cNvPr id="448" name="Google Shape;448;p37"/>
          <p:cNvGrpSpPr/>
          <p:nvPr/>
        </p:nvGrpSpPr>
        <p:grpSpPr>
          <a:xfrm>
            <a:off x="6688225" y="3316200"/>
            <a:ext cx="1647600" cy="1580100"/>
            <a:chOff x="6494400" y="3563400"/>
            <a:chExt cx="1647600" cy="1580100"/>
          </a:xfrm>
        </p:grpSpPr>
        <p:sp>
          <p:nvSpPr>
            <p:cNvPr id="449" name="Google Shape;449;p37"/>
            <p:cNvSpPr/>
            <p:nvPr/>
          </p:nvSpPr>
          <p:spPr>
            <a:xfrm>
              <a:off x="6494400" y="3563400"/>
              <a:ext cx="1647600" cy="15801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7"/>
            <p:cNvSpPr/>
            <p:nvPr/>
          </p:nvSpPr>
          <p:spPr>
            <a:xfrm>
              <a:off x="6673050" y="3952250"/>
              <a:ext cx="390600" cy="368700"/>
            </a:xfrm>
            <a:prstGeom prst="ellipse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</a:t>
              </a:r>
              <a:endParaRPr/>
            </a:p>
          </p:txBody>
        </p:sp>
        <p:sp>
          <p:nvSpPr>
            <p:cNvPr id="451" name="Google Shape;451;p37"/>
            <p:cNvSpPr/>
            <p:nvPr/>
          </p:nvSpPr>
          <p:spPr>
            <a:xfrm>
              <a:off x="7572750" y="3952250"/>
              <a:ext cx="390600" cy="368700"/>
            </a:xfrm>
            <a:prstGeom prst="ellipse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</a:t>
              </a:r>
              <a:endParaRPr/>
            </a:p>
          </p:txBody>
        </p:sp>
        <p:sp>
          <p:nvSpPr>
            <p:cNvPr id="452" name="Google Shape;452;p37"/>
            <p:cNvSpPr/>
            <p:nvPr/>
          </p:nvSpPr>
          <p:spPr>
            <a:xfrm>
              <a:off x="7122900" y="4638375"/>
              <a:ext cx="390600" cy="368700"/>
            </a:xfrm>
            <a:prstGeom prst="ellipse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</a:t>
              </a:r>
              <a:endParaRPr/>
            </a:p>
          </p:txBody>
        </p:sp>
        <p:cxnSp>
          <p:nvCxnSpPr>
            <p:cNvPr id="453" name="Google Shape;453;p37"/>
            <p:cNvCxnSpPr>
              <a:stCxn id="450" idx="6"/>
              <a:endCxn id="451" idx="2"/>
            </p:cNvCxnSpPr>
            <p:nvPr/>
          </p:nvCxnSpPr>
          <p:spPr>
            <a:xfrm>
              <a:off x="7063650" y="4136600"/>
              <a:ext cx="509100" cy="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454" name="Google Shape;454;p37"/>
            <p:cNvCxnSpPr>
              <a:stCxn id="451" idx="3"/>
              <a:endCxn id="452" idx="0"/>
            </p:cNvCxnSpPr>
            <p:nvPr/>
          </p:nvCxnSpPr>
          <p:spPr>
            <a:xfrm flipH="1">
              <a:off x="7318252" y="4266955"/>
              <a:ext cx="311700" cy="3714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455" name="Google Shape;455;p37"/>
            <p:cNvCxnSpPr>
              <a:stCxn id="450" idx="4"/>
              <a:endCxn id="452" idx="0"/>
            </p:cNvCxnSpPr>
            <p:nvPr/>
          </p:nvCxnSpPr>
          <p:spPr>
            <a:xfrm>
              <a:off x="6868350" y="4320950"/>
              <a:ext cx="450000" cy="3174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sp>
        <p:nvSpPr>
          <p:cNvPr id="456" name="Google Shape;456;p37"/>
          <p:cNvSpPr txBox="1"/>
          <p:nvPr>
            <p:ph idx="1" type="body"/>
          </p:nvPr>
        </p:nvSpPr>
        <p:spPr>
          <a:xfrm>
            <a:off x="319500" y="4218925"/>
            <a:ext cx="65277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Linking sociological and graph theoretic types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8"/>
          <p:cNvSpPr/>
          <p:nvPr/>
        </p:nvSpPr>
        <p:spPr>
          <a:xfrm>
            <a:off x="755413" y="202398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462" name="Google Shape;462;p38"/>
          <p:cNvSpPr/>
          <p:nvPr/>
        </p:nvSpPr>
        <p:spPr>
          <a:xfrm>
            <a:off x="755413" y="31774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sp>
        <p:nvSpPr>
          <p:cNvPr id="463" name="Google Shape;463;p38"/>
          <p:cNvSpPr/>
          <p:nvPr/>
        </p:nvSpPr>
        <p:spPr>
          <a:xfrm>
            <a:off x="755413" y="8705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464" name="Google Shape;464;p38"/>
          <p:cNvCxnSpPr>
            <a:stCxn id="463" idx="4"/>
            <a:endCxn id="461" idx="0"/>
          </p:cNvCxnSpPr>
          <p:nvPr/>
        </p:nvCxnSpPr>
        <p:spPr>
          <a:xfrm>
            <a:off x="1065913" y="1475650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5" name="Google Shape;465;p38"/>
          <p:cNvCxnSpPr>
            <a:stCxn id="461" idx="4"/>
            <a:endCxn id="462" idx="0"/>
          </p:cNvCxnSpPr>
          <p:nvPr/>
        </p:nvCxnSpPr>
        <p:spPr>
          <a:xfrm>
            <a:off x="1065913" y="262908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6" name="Google Shape;466;p38"/>
          <p:cNvCxnSpPr>
            <a:stCxn id="463" idx="6"/>
            <a:endCxn id="467" idx="2"/>
          </p:cNvCxnSpPr>
          <p:nvPr/>
        </p:nvCxnSpPr>
        <p:spPr>
          <a:xfrm>
            <a:off x="1376413" y="1173100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7" name="Google Shape;467;p38"/>
          <p:cNvSpPr/>
          <p:nvPr/>
        </p:nvSpPr>
        <p:spPr>
          <a:xfrm>
            <a:off x="2033563" y="8705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8"/>
          <p:cNvSpPr/>
          <p:nvPr/>
        </p:nvSpPr>
        <p:spPr>
          <a:xfrm>
            <a:off x="2033563" y="202400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9" name="Google Shape;469;p38"/>
          <p:cNvCxnSpPr>
            <a:stCxn id="461" idx="6"/>
            <a:endCxn id="468" idx="2"/>
          </p:cNvCxnSpPr>
          <p:nvPr/>
        </p:nvCxnSpPr>
        <p:spPr>
          <a:xfrm>
            <a:off x="1376413" y="2326538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" name="Google Shape;470;p38"/>
          <p:cNvCxnSpPr>
            <a:stCxn id="467" idx="4"/>
            <a:endCxn id="468" idx="0"/>
          </p:cNvCxnSpPr>
          <p:nvPr/>
        </p:nvCxnSpPr>
        <p:spPr>
          <a:xfrm>
            <a:off x="2344063" y="1475650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1" name="Google Shape;471;p38"/>
          <p:cNvCxnSpPr>
            <a:stCxn id="462" idx="6"/>
            <a:endCxn id="472" idx="2"/>
          </p:cNvCxnSpPr>
          <p:nvPr/>
        </p:nvCxnSpPr>
        <p:spPr>
          <a:xfrm flipH="1" rot="10800000">
            <a:off x="1376413" y="347127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2" name="Google Shape;472;p38"/>
          <p:cNvSpPr/>
          <p:nvPr/>
        </p:nvSpPr>
        <p:spPr>
          <a:xfrm>
            <a:off x="2033563" y="31686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3" name="Google Shape;473;p38"/>
          <p:cNvCxnSpPr>
            <a:stCxn id="468" idx="4"/>
            <a:endCxn id="472" idx="0"/>
          </p:cNvCxnSpPr>
          <p:nvPr/>
        </p:nvCxnSpPr>
        <p:spPr>
          <a:xfrm>
            <a:off x="2344063" y="262910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4" name="Google Shape;474;p38"/>
          <p:cNvCxnSpPr>
            <a:stCxn id="463" idx="2"/>
            <a:endCxn id="462" idx="2"/>
          </p:cNvCxnSpPr>
          <p:nvPr/>
        </p:nvCxnSpPr>
        <p:spPr>
          <a:xfrm>
            <a:off x="755413" y="1173100"/>
            <a:ext cx="600" cy="2307000"/>
          </a:xfrm>
          <a:prstGeom prst="bentConnector3">
            <a:avLst>
              <a:gd fmla="val -396875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5" name="Google Shape;475;p38"/>
          <p:cNvCxnSpPr>
            <a:stCxn id="461" idx="4"/>
            <a:endCxn id="472" idx="0"/>
          </p:cNvCxnSpPr>
          <p:nvPr/>
        </p:nvCxnSpPr>
        <p:spPr>
          <a:xfrm>
            <a:off x="1065913" y="262908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6" name="Google Shape;476;p38"/>
          <p:cNvCxnSpPr>
            <a:stCxn id="467" idx="4"/>
            <a:endCxn id="461" idx="0"/>
          </p:cNvCxnSpPr>
          <p:nvPr/>
        </p:nvCxnSpPr>
        <p:spPr>
          <a:xfrm flipH="1">
            <a:off x="1066063" y="147565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7" name="Google Shape;477;p38"/>
          <p:cNvCxnSpPr>
            <a:stCxn id="467" idx="6"/>
            <a:endCxn id="472" idx="6"/>
          </p:cNvCxnSpPr>
          <p:nvPr/>
        </p:nvCxnSpPr>
        <p:spPr>
          <a:xfrm>
            <a:off x="2654563" y="1173100"/>
            <a:ext cx="600" cy="2298000"/>
          </a:xfrm>
          <a:prstGeom prst="bentConnector3">
            <a:avLst>
              <a:gd fmla="val 39687500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78" name="Google Shape;478;p38"/>
          <p:cNvSpPr txBox="1"/>
          <p:nvPr/>
        </p:nvSpPr>
        <p:spPr>
          <a:xfrm>
            <a:off x="4587450" y="2057400"/>
            <a:ext cx="4214700" cy="21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●"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Transitivity 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also applies to family ties: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If a is related to b and b is related to c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conomica"/>
              <a:buChar char="○"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Then a is </a:t>
            </a:r>
            <a:r>
              <a:rPr b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necessarily </a:t>
            </a: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related to</a:t>
            </a:r>
            <a:r>
              <a:rPr b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c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79" name="Google Shape;479;p38"/>
          <p:cNvCxnSpPr>
            <a:stCxn id="463" idx="4"/>
            <a:endCxn id="468" idx="0"/>
          </p:cNvCxnSpPr>
          <p:nvPr/>
        </p:nvCxnSpPr>
        <p:spPr>
          <a:xfrm>
            <a:off x="1065913" y="1475650"/>
            <a:ext cx="12783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0" name="Google Shape;480;p38"/>
          <p:cNvCxnSpPr>
            <a:stCxn id="468" idx="4"/>
            <a:endCxn id="462" idx="0"/>
          </p:cNvCxnSpPr>
          <p:nvPr/>
        </p:nvCxnSpPr>
        <p:spPr>
          <a:xfrm flipH="1">
            <a:off x="1066063" y="262910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81" name="Google Shape;481;p38"/>
          <p:cNvSpPr txBox="1"/>
          <p:nvPr/>
        </p:nvSpPr>
        <p:spPr>
          <a:xfrm>
            <a:off x="3151050" y="331620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Third Generation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82" name="Google Shape;482;p38"/>
          <p:cNvSpPr txBox="1"/>
          <p:nvPr/>
        </p:nvSpPr>
        <p:spPr>
          <a:xfrm>
            <a:off x="3151065" y="2142250"/>
            <a:ext cx="1719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Second Generation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83" name="Google Shape;483;p38"/>
          <p:cNvSpPr txBox="1"/>
          <p:nvPr/>
        </p:nvSpPr>
        <p:spPr>
          <a:xfrm>
            <a:off x="3151050" y="96830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1st Generation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84" name="Google Shape;484;p38"/>
          <p:cNvCxnSpPr/>
          <p:nvPr/>
        </p:nvCxnSpPr>
        <p:spPr>
          <a:xfrm>
            <a:off x="4870375" y="84827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38"/>
          <p:cNvCxnSpPr/>
          <p:nvPr/>
        </p:nvCxnSpPr>
        <p:spPr>
          <a:xfrm>
            <a:off x="4870375" y="123132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86" name="Google Shape;486;p38"/>
          <p:cNvSpPr txBox="1"/>
          <p:nvPr/>
        </p:nvSpPr>
        <p:spPr>
          <a:xfrm>
            <a:off x="5957275" y="1046975"/>
            <a:ext cx="29757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Antisymmetric kin (parent of, uncle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87" name="Google Shape;487;p38"/>
          <p:cNvSpPr txBox="1"/>
          <p:nvPr/>
        </p:nvSpPr>
        <p:spPr>
          <a:xfrm>
            <a:off x="5957275" y="663925"/>
            <a:ext cx="26862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Symmetric kin (being a sibling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88" name="Google Shape;488;p38"/>
          <p:cNvSpPr txBox="1"/>
          <p:nvPr>
            <p:ph idx="1" type="body"/>
          </p:nvPr>
        </p:nvSpPr>
        <p:spPr>
          <a:xfrm>
            <a:off x="319500" y="4218925"/>
            <a:ext cx="65277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Dyads: link between social </a:t>
            </a:r>
            <a:r>
              <a:rPr lang="en"/>
              <a:t>meaning </a:t>
            </a:r>
            <a:r>
              <a:rPr lang="en"/>
              <a:t>and graph theoretic properties</a:t>
            </a:r>
            <a:endParaRPr/>
          </a:p>
        </p:txBody>
      </p:sp>
      <p:grpSp>
        <p:nvGrpSpPr>
          <p:cNvPr id="489" name="Google Shape;489;p38"/>
          <p:cNvGrpSpPr/>
          <p:nvPr/>
        </p:nvGrpSpPr>
        <p:grpSpPr>
          <a:xfrm>
            <a:off x="6688225" y="3316200"/>
            <a:ext cx="1647600" cy="1580100"/>
            <a:chOff x="6494400" y="3563400"/>
            <a:chExt cx="1647600" cy="1580100"/>
          </a:xfrm>
        </p:grpSpPr>
        <p:sp>
          <p:nvSpPr>
            <p:cNvPr id="490" name="Google Shape;490;p38"/>
            <p:cNvSpPr/>
            <p:nvPr/>
          </p:nvSpPr>
          <p:spPr>
            <a:xfrm>
              <a:off x="6494400" y="3563400"/>
              <a:ext cx="1647600" cy="15801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8"/>
            <p:cNvSpPr/>
            <p:nvPr/>
          </p:nvSpPr>
          <p:spPr>
            <a:xfrm>
              <a:off x="6673050" y="3952250"/>
              <a:ext cx="390600" cy="368700"/>
            </a:xfrm>
            <a:prstGeom prst="ellipse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</a:t>
              </a:r>
              <a:endParaRPr/>
            </a:p>
          </p:txBody>
        </p:sp>
        <p:sp>
          <p:nvSpPr>
            <p:cNvPr id="492" name="Google Shape;492;p38"/>
            <p:cNvSpPr/>
            <p:nvPr/>
          </p:nvSpPr>
          <p:spPr>
            <a:xfrm>
              <a:off x="7572750" y="3952250"/>
              <a:ext cx="390600" cy="368700"/>
            </a:xfrm>
            <a:prstGeom prst="ellipse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</a:t>
              </a:r>
              <a:endParaRPr/>
            </a:p>
          </p:txBody>
        </p:sp>
        <p:sp>
          <p:nvSpPr>
            <p:cNvPr id="493" name="Google Shape;493;p38"/>
            <p:cNvSpPr/>
            <p:nvPr/>
          </p:nvSpPr>
          <p:spPr>
            <a:xfrm>
              <a:off x="7122900" y="4638375"/>
              <a:ext cx="390600" cy="368700"/>
            </a:xfrm>
            <a:prstGeom prst="ellipse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</a:t>
              </a:r>
              <a:endParaRPr/>
            </a:p>
          </p:txBody>
        </p:sp>
        <p:cxnSp>
          <p:nvCxnSpPr>
            <p:cNvPr id="494" name="Google Shape;494;p38"/>
            <p:cNvCxnSpPr>
              <a:stCxn id="491" idx="6"/>
              <a:endCxn id="492" idx="2"/>
            </p:cNvCxnSpPr>
            <p:nvPr/>
          </p:nvCxnSpPr>
          <p:spPr>
            <a:xfrm>
              <a:off x="7063650" y="4136600"/>
              <a:ext cx="509100" cy="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495" name="Google Shape;495;p38"/>
            <p:cNvCxnSpPr>
              <a:stCxn id="492" idx="3"/>
              <a:endCxn id="493" idx="0"/>
            </p:cNvCxnSpPr>
            <p:nvPr/>
          </p:nvCxnSpPr>
          <p:spPr>
            <a:xfrm flipH="1">
              <a:off x="7318252" y="4266955"/>
              <a:ext cx="311700" cy="3714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496" name="Google Shape;496;p38"/>
            <p:cNvCxnSpPr>
              <a:stCxn id="491" idx="4"/>
              <a:endCxn id="493" idx="0"/>
            </p:cNvCxnSpPr>
            <p:nvPr/>
          </p:nvCxnSpPr>
          <p:spPr>
            <a:xfrm>
              <a:off x="6868350" y="4320950"/>
              <a:ext cx="450000" cy="3174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9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Dyad properties: Multiplexity</a:t>
            </a:r>
            <a:endParaRPr/>
          </a:p>
        </p:txBody>
      </p:sp>
      <p:sp>
        <p:nvSpPr>
          <p:cNvPr id="502" name="Google Shape;502;p39"/>
          <p:cNvSpPr/>
          <p:nvPr/>
        </p:nvSpPr>
        <p:spPr>
          <a:xfrm>
            <a:off x="755413" y="202398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3" name="Google Shape;503;p39"/>
          <p:cNvSpPr/>
          <p:nvPr/>
        </p:nvSpPr>
        <p:spPr>
          <a:xfrm>
            <a:off x="755413" y="31774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4" name="Google Shape;504;p39"/>
          <p:cNvSpPr/>
          <p:nvPr/>
        </p:nvSpPr>
        <p:spPr>
          <a:xfrm>
            <a:off x="755413" y="8705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505" name="Google Shape;505;p39"/>
          <p:cNvCxnSpPr>
            <a:stCxn id="504" idx="4"/>
            <a:endCxn id="502" idx="0"/>
          </p:cNvCxnSpPr>
          <p:nvPr/>
        </p:nvCxnSpPr>
        <p:spPr>
          <a:xfrm>
            <a:off x="1065913" y="1475650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6" name="Google Shape;506;p39"/>
          <p:cNvCxnSpPr>
            <a:stCxn id="502" idx="4"/>
            <a:endCxn id="503" idx="0"/>
          </p:cNvCxnSpPr>
          <p:nvPr/>
        </p:nvCxnSpPr>
        <p:spPr>
          <a:xfrm>
            <a:off x="1065913" y="262908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7" name="Google Shape;507;p39"/>
          <p:cNvCxnSpPr>
            <a:stCxn id="504" idx="6"/>
            <a:endCxn id="508" idx="2"/>
          </p:cNvCxnSpPr>
          <p:nvPr/>
        </p:nvCxnSpPr>
        <p:spPr>
          <a:xfrm>
            <a:off x="1376413" y="1173100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8" name="Google Shape;508;p39"/>
          <p:cNvSpPr/>
          <p:nvPr/>
        </p:nvSpPr>
        <p:spPr>
          <a:xfrm>
            <a:off x="2033563" y="8705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9"/>
          <p:cNvSpPr/>
          <p:nvPr/>
        </p:nvSpPr>
        <p:spPr>
          <a:xfrm>
            <a:off x="2033563" y="202400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0" name="Google Shape;510;p39"/>
          <p:cNvCxnSpPr>
            <a:stCxn id="502" idx="6"/>
            <a:endCxn id="509" idx="2"/>
          </p:cNvCxnSpPr>
          <p:nvPr/>
        </p:nvCxnSpPr>
        <p:spPr>
          <a:xfrm>
            <a:off x="1376413" y="2326538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39"/>
          <p:cNvCxnSpPr>
            <a:stCxn id="508" idx="4"/>
            <a:endCxn id="509" idx="0"/>
          </p:cNvCxnSpPr>
          <p:nvPr/>
        </p:nvCxnSpPr>
        <p:spPr>
          <a:xfrm>
            <a:off x="2344063" y="1475650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2" name="Google Shape;512;p39"/>
          <p:cNvCxnSpPr>
            <a:stCxn id="503" idx="6"/>
            <a:endCxn id="513" idx="2"/>
          </p:cNvCxnSpPr>
          <p:nvPr/>
        </p:nvCxnSpPr>
        <p:spPr>
          <a:xfrm flipH="1" rot="10800000">
            <a:off x="1376413" y="347127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3" name="Google Shape;513;p39"/>
          <p:cNvSpPr/>
          <p:nvPr/>
        </p:nvSpPr>
        <p:spPr>
          <a:xfrm>
            <a:off x="2033563" y="31686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4" name="Google Shape;514;p39"/>
          <p:cNvCxnSpPr>
            <a:stCxn id="509" idx="4"/>
            <a:endCxn id="513" idx="0"/>
          </p:cNvCxnSpPr>
          <p:nvPr/>
        </p:nvCxnSpPr>
        <p:spPr>
          <a:xfrm>
            <a:off x="2344063" y="262910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15" name="Google Shape;515;p39"/>
          <p:cNvSpPr txBox="1"/>
          <p:nvPr/>
        </p:nvSpPr>
        <p:spPr>
          <a:xfrm>
            <a:off x="3151050" y="331620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Workers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16" name="Google Shape;516;p39"/>
          <p:cNvSpPr txBox="1"/>
          <p:nvPr/>
        </p:nvSpPr>
        <p:spPr>
          <a:xfrm>
            <a:off x="3151065" y="2142250"/>
            <a:ext cx="1719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Managers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17" name="Google Shape;517;p39"/>
          <p:cNvSpPr txBox="1"/>
          <p:nvPr/>
        </p:nvSpPr>
        <p:spPr>
          <a:xfrm>
            <a:off x="3151050" y="96830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Executives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18" name="Google Shape;518;p39"/>
          <p:cNvCxnSpPr>
            <a:stCxn id="504" idx="2"/>
            <a:endCxn id="503" idx="2"/>
          </p:cNvCxnSpPr>
          <p:nvPr/>
        </p:nvCxnSpPr>
        <p:spPr>
          <a:xfrm>
            <a:off x="755413" y="1173100"/>
            <a:ext cx="600" cy="2307000"/>
          </a:xfrm>
          <a:prstGeom prst="bentConnector3">
            <a:avLst>
              <a:gd fmla="val -39687500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9" name="Google Shape;519;p39"/>
          <p:cNvCxnSpPr>
            <a:stCxn id="502" idx="4"/>
            <a:endCxn id="513" idx="0"/>
          </p:cNvCxnSpPr>
          <p:nvPr/>
        </p:nvCxnSpPr>
        <p:spPr>
          <a:xfrm>
            <a:off x="1065913" y="262908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0" name="Google Shape;520;p39"/>
          <p:cNvCxnSpPr>
            <a:stCxn id="508" idx="4"/>
            <a:endCxn id="502" idx="0"/>
          </p:cNvCxnSpPr>
          <p:nvPr/>
        </p:nvCxnSpPr>
        <p:spPr>
          <a:xfrm flipH="1">
            <a:off x="1066063" y="147565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1" name="Google Shape;521;p39"/>
          <p:cNvCxnSpPr>
            <a:stCxn id="508" idx="6"/>
            <a:endCxn id="513" idx="6"/>
          </p:cNvCxnSpPr>
          <p:nvPr/>
        </p:nvCxnSpPr>
        <p:spPr>
          <a:xfrm>
            <a:off x="2654563" y="1173100"/>
            <a:ext cx="600" cy="2298000"/>
          </a:xfrm>
          <a:prstGeom prst="bentConnector3">
            <a:avLst>
              <a:gd fmla="val 39687500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2" name="Google Shape;522;p39"/>
          <p:cNvCxnSpPr>
            <a:stCxn id="503" idx="5"/>
            <a:endCxn id="513" idx="3"/>
          </p:cNvCxnSpPr>
          <p:nvPr/>
        </p:nvCxnSpPr>
        <p:spPr>
          <a:xfrm rot="-5400000">
            <a:off x="1700669" y="3270010"/>
            <a:ext cx="8700" cy="839100"/>
          </a:xfrm>
          <a:prstGeom prst="curvedConnector3">
            <a:avLst>
              <a:gd fmla="val -375563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3" name="Google Shape;523;p39"/>
          <p:cNvCxnSpPr>
            <a:stCxn id="513" idx="1"/>
            <a:endCxn id="503" idx="7"/>
          </p:cNvCxnSpPr>
          <p:nvPr/>
        </p:nvCxnSpPr>
        <p:spPr>
          <a:xfrm rot="5400000">
            <a:off x="1700606" y="2842090"/>
            <a:ext cx="8700" cy="839100"/>
          </a:xfrm>
          <a:prstGeom prst="curvedConnector3">
            <a:avLst>
              <a:gd fmla="val -375563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4" name="Google Shape;524;p39"/>
          <p:cNvCxnSpPr>
            <a:stCxn id="513" idx="6"/>
            <a:endCxn id="508" idx="6"/>
          </p:cNvCxnSpPr>
          <p:nvPr/>
        </p:nvCxnSpPr>
        <p:spPr>
          <a:xfrm flipH="1" rot="10800000">
            <a:off x="2654563" y="1173225"/>
            <a:ext cx="600" cy="2298000"/>
          </a:xfrm>
          <a:prstGeom prst="curvedConnector3">
            <a:avLst>
              <a:gd fmla="val 73527083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5" name="Google Shape;525;p39"/>
          <p:cNvCxnSpPr>
            <a:stCxn id="502" idx="7"/>
            <a:endCxn id="509" idx="0"/>
          </p:cNvCxnSpPr>
          <p:nvPr/>
        </p:nvCxnSpPr>
        <p:spPr>
          <a:xfrm rot="-5400000">
            <a:off x="1770569" y="1539002"/>
            <a:ext cx="88500" cy="1058700"/>
          </a:xfrm>
          <a:prstGeom prst="curvedConnector3">
            <a:avLst>
              <a:gd fmla="val 369198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6" name="Google Shape;526;p39"/>
          <p:cNvCxnSpPr>
            <a:stCxn id="504" idx="2"/>
            <a:endCxn id="502" idx="2"/>
          </p:cNvCxnSpPr>
          <p:nvPr/>
        </p:nvCxnSpPr>
        <p:spPr>
          <a:xfrm>
            <a:off x="755413" y="1173100"/>
            <a:ext cx="600" cy="1153500"/>
          </a:xfrm>
          <a:prstGeom prst="curvedConnector3">
            <a:avLst>
              <a:gd fmla="val -3968750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7" name="Google Shape;527;p39"/>
          <p:cNvCxnSpPr>
            <a:stCxn id="508" idx="1"/>
            <a:endCxn id="504" idx="7"/>
          </p:cNvCxnSpPr>
          <p:nvPr/>
        </p:nvCxnSpPr>
        <p:spPr>
          <a:xfrm rot="5400000">
            <a:off x="1704656" y="539915"/>
            <a:ext cx="600" cy="839100"/>
          </a:xfrm>
          <a:prstGeom prst="curvedConnector3">
            <a:avLst>
              <a:gd fmla="val -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28" name="Google Shape;528;p39"/>
          <p:cNvSpPr txBox="1"/>
          <p:nvPr/>
        </p:nvSpPr>
        <p:spPr>
          <a:xfrm>
            <a:off x="4170850" y="2057400"/>
            <a:ext cx="4631400" cy="25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People are usually linked by different types of ties at the same time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This is called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multiplexity 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Example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: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People joined via a either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symmetric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or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antisymmetric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role relations (e.g., supervisor)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Can also be linked via an asymmetric 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sentiment 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relation (liking, disliking)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29" name="Google Shape;529;p39"/>
          <p:cNvCxnSpPr/>
          <p:nvPr/>
        </p:nvCxnSpPr>
        <p:spPr>
          <a:xfrm>
            <a:off x="4870375" y="1644363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30" name="Google Shape;530;p39"/>
          <p:cNvSpPr txBox="1"/>
          <p:nvPr/>
        </p:nvSpPr>
        <p:spPr>
          <a:xfrm>
            <a:off x="5957275" y="1460025"/>
            <a:ext cx="278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Asymmetric work (like, dislike)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31" name="Google Shape;531;p39"/>
          <p:cNvCxnSpPr/>
          <p:nvPr/>
        </p:nvCxnSpPr>
        <p:spPr>
          <a:xfrm>
            <a:off x="4870375" y="84827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39"/>
          <p:cNvCxnSpPr/>
          <p:nvPr/>
        </p:nvCxnSpPr>
        <p:spPr>
          <a:xfrm>
            <a:off x="4870375" y="123132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33" name="Google Shape;533;p39"/>
          <p:cNvSpPr txBox="1"/>
          <p:nvPr/>
        </p:nvSpPr>
        <p:spPr>
          <a:xfrm>
            <a:off x="5957275" y="1046975"/>
            <a:ext cx="31095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Antisymmetric work (boss, supervisor)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34" name="Google Shape;534;p39"/>
          <p:cNvSpPr txBox="1"/>
          <p:nvPr/>
        </p:nvSpPr>
        <p:spPr>
          <a:xfrm>
            <a:off x="5957275" y="663925"/>
            <a:ext cx="30537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Symmetric work (coworker, officemate)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Dyad properties: Multiplexity</a:t>
            </a:r>
            <a:endParaRPr b="1"/>
          </a:p>
        </p:txBody>
      </p:sp>
      <p:sp>
        <p:nvSpPr>
          <p:cNvPr id="540" name="Google Shape;540;p40"/>
          <p:cNvSpPr/>
          <p:nvPr/>
        </p:nvSpPr>
        <p:spPr>
          <a:xfrm>
            <a:off x="755413" y="202398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Mom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41" name="Google Shape;541;p40"/>
          <p:cNvSpPr/>
          <p:nvPr/>
        </p:nvSpPr>
        <p:spPr>
          <a:xfrm>
            <a:off x="755413" y="31774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You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42" name="Google Shape;542;p40"/>
          <p:cNvSpPr/>
          <p:nvPr/>
        </p:nvSpPr>
        <p:spPr>
          <a:xfrm>
            <a:off x="755413" y="8705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Gma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43" name="Google Shape;543;p40"/>
          <p:cNvCxnSpPr>
            <a:stCxn id="542" idx="4"/>
            <a:endCxn id="540" idx="0"/>
          </p:cNvCxnSpPr>
          <p:nvPr/>
        </p:nvCxnSpPr>
        <p:spPr>
          <a:xfrm>
            <a:off x="1065913" y="1475650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4" name="Google Shape;544;p40"/>
          <p:cNvCxnSpPr>
            <a:stCxn id="540" idx="4"/>
            <a:endCxn id="541" idx="0"/>
          </p:cNvCxnSpPr>
          <p:nvPr/>
        </p:nvCxnSpPr>
        <p:spPr>
          <a:xfrm>
            <a:off x="1065913" y="262908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45" name="Google Shape;545;p40"/>
          <p:cNvSpPr/>
          <p:nvPr/>
        </p:nvSpPr>
        <p:spPr>
          <a:xfrm>
            <a:off x="2033563" y="202400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Unc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46" name="Google Shape;546;p40"/>
          <p:cNvCxnSpPr>
            <a:stCxn id="540" idx="6"/>
            <a:endCxn id="545" idx="2"/>
          </p:cNvCxnSpPr>
          <p:nvPr/>
        </p:nvCxnSpPr>
        <p:spPr>
          <a:xfrm>
            <a:off x="1376413" y="2326538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40"/>
          <p:cNvCxnSpPr>
            <a:stCxn id="541" idx="6"/>
            <a:endCxn id="548" idx="2"/>
          </p:cNvCxnSpPr>
          <p:nvPr/>
        </p:nvCxnSpPr>
        <p:spPr>
          <a:xfrm flipH="1" rot="10800000">
            <a:off x="1376413" y="347127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8" name="Google Shape;548;p40"/>
          <p:cNvSpPr/>
          <p:nvPr/>
        </p:nvSpPr>
        <p:spPr>
          <a:xfrm>
            <a:off x="2033563" y="31686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Sis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49" name="Google Shape;549;p40"/>
          <p:cNvCxnSpPr>
            <a:stCxn id="545" idx="4"/>
            <a:endCxn id="548" idx="0"/>
          </p:cNvCxnSpPr>
          <p:nvPr/>
        </p:nvCxnSpPr>
        <p:spPr>
          <a:xfrm>
            <a:off x="2344063" y="262910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0" name="Google Shape;550;p40"/>
          <p:cNvCxnSpPr>
            <a:stCxn id="542" idx="2"/>
            <a:endCxn id="541" idx="2"/>
          </p:cNvCxnSpPr>
          <p:nvPr/>
        </p:nvCxnSpPr>
        <p:spPr>
          <a:xfrm>
            <a:off x="755413" y="1173100"/>
            <a:ext cx="600" cy="2307000"/>
          </a:xfrm>
          <a:prstGeom prst="bentConnector3">
            <a:avLst>
              <a:gd fmla="val -39687500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1" name="Google Shape;551;p40"/>
          <p:cNvCxnSpPr>
            <a:stCxn id="540" idx="4"/>
            <a:endCxn id="548" idx="0"/>
          </p:cNvCxnSpPr>
          <p:nvPr/>
        </p:nvCxnSpPr>
        <p:spPr>
          <a:xfrm>
            <a:off x="1065913" y="262908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2" name="Google Shape;552;p40"/>
          <p:cNvCxnSpPr/>
          <p:nvPr/>
        </p:nvCxnSpPr>
        <p:spPr>
          <a:xfrm>
            <a:off x="4870375" y="1644363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53" name="Google Shape;553;p40"/>
          <p:cNvSpPr txBox="1"/>
          <p:nvPr/>
        </p:nvSpPr>
        <p:spPr>
          <a:xfrm>
            <a:off x="5957275" y="1460025"/>
            <a:ext cx="278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Asymmetric kin (like, dislike)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54" name="Google Shape;554;p40"/>
          <p:cNvCxnSpPr>
            <a:stCxn id="540" idx="2"/>
            <a:endCxn id="542" idx="3"/>
          </p:cNvCxnSpPr>
          <p:nvPr/>
        </p:nvCxnSpPr>
        <p:spPr>
          <a:xfrm flipH="1" rot="10800000">
            <a:off x="755413" y="1386938"/>
            <a:ext cx="90900" cy="939600"/>
          </a:xfrm>
          <a:prstGeom prst="curvedConnector4">
            <a:avLst>
              <a:gd fmla="val -261964" name="adj1"/>
              <a:gd fmla="val 61379" name="adj2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55" name="Google Shape;555;p40"/>
          <p:cNvSpPr txBox="1"/>
          <p:nvPr/>
        </p:nvSpPr>
        <p:spPr>
          <a:xfrm>
            <a:off x="4587450" y="2057400"/>
            <a:ext cx="4214700" cy="2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People are usually linked by different types of ties at the same time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This is called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multiplexity 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Example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: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People joined via a either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symmetric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or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antisymmetric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role relations (e.g., kin ties)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Can be linked via an asymmetric 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social support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relation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56" name="Google Shape;556;p40"/>
          <p:cNvSpPr txBox="1"/>
          <p:nvPr/>
        </p:nvSpPr>
        <p:spPr>
          <a:xfrm>
            <a:off x="3151050" y="331620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Third Generation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57" name="Google Shape;557;p40"/>
          <p:cNvSpPr txBox="1"/>
          <p:nvPr/>
        </p:nvSpPr>
        <p:spPr>
          <a:xfrm>
            <a:off x="3151065" y="2142250"/>
            <a:ext cx="1719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Second Generation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58" name="Google Shape;558;p40"/>
          <p:cNvSpPr txBox="1"/>
          <p:nvPr/>
        </p:nvSpPr>
        <p:spPr>
          <a:xfrm>
            <a:off x="3151050" y="96830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1st Generation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59" name="Google Shape;559;p40"/>
          <p:cNvCxnSpPr>
            <a:stCxn id="540" idx="2"/>
            <a:endCxn id="541" idx="1"/>
          </p:cNvCxnSpPr>
          <p:nvPr/>
        </p:nvCxnSpPr>
        <p:spPr>
          <a:xfrm>
            <a:off x="755413" y="2326538"/>
            <a:ext cx="90900" cy="939600"/>
          </a:xfrm>
          <a:prstGeom prst="curvedConnector4">
            <a:avLst>
              <a:gd fmla="val -261964" name="adj1"/>
              <a:gd fmla="val 61379" name="adj2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0" name="Google Shape;560;p40"/>
          <p:cNvCxnSpPr>
            <a:stCxn id="542" idx="4"/>
            <a:endCxn id="545" idx="0"/>
          </p:cNvCxnSpPr>
          <p:nvPr/>
        </p:nvCxnSpPr>
        <p:spPr>
          <a:xfrm>
            <a:off x="1065913" y="1475650"/>
            <a:ext cx="12783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1" name="Google Shape;561;p40"/>
          <p:cNvCxnSpPr>
            <a:stCxn id="542" idx="6"/>
            <a:endCxn id="548" idx="6"/>
          </p:cNvCxnSpPr>
          <p:nvPr/>
        </p:nvCxnSpPr>
        <p:spPr>
          <a:xfrm>
            <a:off x="1376413" y="1173100"/>
            <a:ext cx="1278300" cy="2298000"/>
          </a:xfrm>
          <a:prstGeom prst="bentConnector3">
            <a:avLst>
              <a:gd fmla="val 118617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2" name="Google Shape;562;p40"/>
          <p:cNvCxnSpPr>
            <a:stCxn id="542" idx="6"/>
            <a:endCxn id="545" idx="0"/>
          </p:cNvCxnSpPr>
          <p:nvPr/>
        </p:nvCxnSpPr>
        <p:spPr>
          <a:xfrm>
            <a:off x="1376413" y="1173100"/>
            <a:ext cx="967800" cy="850800"/>
          </a:xfrm>
          <a:prstGeom prst="curvedConnector2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3" name="Google Shape;563;p40"/>
          <p:cNvCxnSpPr/>
          <p:nvPr/>
        </p:nvCxnSpPr>
        <p:spPr>
          <a:xfrm>
            <a:off x="4870375" y="84827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40"/>
          <p:cNvCxnSpPr/>
          <p:nvPr/>
        </p:nvCxnSpPr>
        <p:spPr>
          <a:xfrm>
            <a:off x="4870375" y="123132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65" name="Google Shape;565;p40"/>
          <p:cNvSpPr txBox="1"/>
          <p:nvPr/>
        </p:nvSpPr>
        <p:spPr>
          <a:xfrm>
            <a:off x="5957275" y="1046975"/>
            <a:ext cx="29757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Antisymmetric kin (parent of, uncle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66" name="Google Shape;566;p40"/>
          <p:cNvSpPr txBox="1"/>
          <p:nvPr/>
        </p:nvSpPr>
        <p:spPr>
          <a:xfrm>
            <a:off x="5957275" y="663925"/>
            <a:ext cx="26862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Symmetric kin (being a sibling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67" name="Google Shape;567;p40"/>
          <p:cNvCxnSpPr>
            <a:stCxn id="545" idx="4"/>
            <a:endCxn id="541" idx="0"/>
          </p:cNvCxnSpPr>
          <p:nvPr/>
        </p:nvCxnSpPr>
        <p:spPr>
          <a:xfrm flipH="1">
            <a:off x="1066063" y="262910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8" name="Google Shape;568;p40"/>
          <p:cNvCxnSpPr>
            <a:stCxn id="541" idx="5"/>
            <a:endCxn id="548" idx="3"/>
          </p:cNvCxnSpPr>
          <p:nvPr/>
        </p:nvCxnSpPr>
        <p:spPr>
          <a:xfrm rot="-5400000">
            <a:off x="1700669" y="3270010"/>
            <a:ext cx="8700" cy="839100"/>
          </a:xfrm>
          <a:prstGeom prst="curvedConnector3">
            <a:avLst>
              <a:gd fmla="val -375563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9" name="Google Shape;569;p40"/>
          <p:cNvCxnSpPr>
            <a:stCxn id="548" idx="1"/>
            <a:endCxn id="541" idx="7"/>
          </p:cNvCxnSpPr>
          <p:nvPr/>
        </p:nvCxnSpPr>
        <p:spPr>
          <a:xfrm rot="5400000">
            <a:off x="1700606" y="2842090"/>
            <a:ext cx="8700" cy="839100"/>
          </a:xfrm>
          <a:prstGeom prst="curvedConnector3">
            <a:avLst>
              <a:gd fmla="val -375563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70" name="Google Shape;570;p40"/>
          <p:cNvCxnSpPr>
            <a:stCxn id="540" idx="7"/>
            <a:endCxn id="545" idx="1"/>
          </p:cNvCxnSpPr>
          <p:nvPr/>
        </p:nvCxnSpPr>
        <p:spPr>
          <a:xfrm flipH="1" rot="-5400000">
            <a:off x="1704719" y="1693352"/>
            <a:ext cx="600" cy="839100"/>
          </a:xfrm>
          <a:prstGeom prst="curvedConnector3">
            <a:avLst>
              <a:gd fmla="val -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Google Shape;575;p41"/>
          <p:cNvPicPr preferRelativeResize="0"/>
          <p:nvPr/>
        </p:nvPicPr>
        <p:blipFill rotWithShape="1">
          <a:blip r:embed="rId3">
            <a:alphaModFix/>
          </a:blip>
          <a:srcRect b="0" l="20166" r="0" t="0"/>
          <a:stretch/>
        </p:blipFill>
        <p:spPr>
          <a:xfrm>
            <a:off x="1043575" y="2745775"/>
            <a:ext cx="7056852" cy="216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41"/>
          <p:cNvSpPr txBox="1"/>
          <p:nvPr/>
        </p:nvSpPr>
        <p:spPr>
          <a:xfrm>
            <a:off x="311700" y="1313950"/>
            <a:ext cx="4824600" cy="15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The range of tie is given by the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second shortest path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connecting the nodes in a dyad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Range is a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non-local property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Depends on other links beyond the dyad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77" name="Google Shape;577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 properties: Range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properties: Bandwidth</a:t>
            </a:r>
            <a:endParaRPr/>
          </a:p>
        </p:txBody>
      </p:sp>
      <p:sp>
        <p:nvSpPr>
          <p:cNvPr id="583" name="Google Shape;583;p4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https://www.sciencedirect.com/science/article/pii/S0378873318300194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3"/>
          <p:cNvSpPr txBox="1"/>
          <p:nvPr>
            <p:ph idx="1" type="body"/>
          </p:nvPr>
        </p:nvSpPr>
        <p:spPr>
          <a:xfrm>
            <a:off x="311700" y="4230575"/>
            <a:ext cx="66270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Dyads: Different types of ties concatenate in different ways</a:t>
            </a:r>
            <a:endParaRPr/>
          </a:p>
        </p:txBody>
      </p:sp>
      <p:sp>
        <p:nvSpPr>
          <p:cNvPr id="589" name="Google Shape;589;p43"/>
          <p:cNvSpPr/>
          <p:nvPr/>
        </p:nvSpPr>
        <p:spPr>
          <a:xfrm>
            <a:off x="755413" y="20240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90" name="Google Shape;590;p43"/>
          <p:cNvSpPr/>
          <p:nvPr/>
        </p:nvSpPr>
        <p:spPr>
          <a:xfrm>
            <a:off x="755413" y="3177463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You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91" name="Google Shape;591;p43"/>
          <p:cNvCxnSpPr>
            <a:stCxn id="589" idx="4"/>
            <a:endCxn id="590" idx="0"/>
          </p:cNvCxnSpPr>
          <p:nvPr/>
        </p:nvCxnSpPr>
        <p:spPr>
          <a:xfrm>
            <a:off x="1065913" y="2629125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92" name="Google Shape;592;p43"/>
          <p:cNvSpPr/>
          <p:nvPr/>
        </p:nvSpPr>
        <p:spPr>
          <a:xfrm>
            <a:off x="2033563" y="202403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93" name="Google Shape;593;p43"/>
          <p:cNvCxnSpPr>
            <a:stCxn id="589" idx="6"/>
            <a:endCxn id="592" idx="2"/>
          </p:cNvCxnSpPr>
          <p:nvPr/>
        </p:nvCxnSpPr>
        <p:spPr>
          <a:xfrm>
            <a:off x="1376413" y="2326575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43"/>
          <p:cNvCxnSpPr>
            <a:stCxn id="590" idx="6"/>
            <a:endCxn id="595" idx="2"/>
          </p:cNvCxnSpPr>
          <p:nvPr/>
        </p:nvCxnSpPr>
        <p:spPr>
          <a:xfrm flipH="1" rot="10800000">
            <a:off x="1376413" y="3471313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5" name="Google Shape;595;p43"/>
          <p:cNvSpPr/>
          <p:nvPr/>
        </p:nvSpPr>
        <p:spPr>
          <a:xfrm>
            <a:off x="2033563" y="3168713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Sis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96" name="Google Shape;596;p43"/>
          <p:cNvCxnSpPr>
            <a:stCxn id="592" idx="4"/>
            <a:endCxn id="595" idx="0"/>
          </p:cNvCxnSpPr>
          <p:nvPr/>
        </p:nvCxnSpPr>
        <p:spPr>
          <a:xfrm>
            <a:off x="2344063" y="2629138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7" name="Google Shape;597;p43"/>
          <p:cNvCxnSpPr>
            <a:stCxn id="589" idx="4"/>
            <a:endCxn id="595" idx="0"/>
          </p:cNvCxnSpPr>
          <p:nvPr/>
        </p:nvCxnSpPr>
        <p:spPr>
          <a:xfrm>
            <a:off x="1065913" y="2629125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8" name="Google Shape;598;p43"/>
          <p:cNvCxnSpPr>
            <a:stCxn id="589" idx="7"/>
            <a:endCxn id="592" idx="1"/>
          </p:cNvCxnSpPr>
          <p:nvPr/>
        </p:nvCxnSpPr>
        <p:spPr>
          <a:xfrm flipH="1" rot="-5400000">
            <a:off x="1704719" y="1693390"/>
            <a:ext cx="600" cy="839100"/>
          </a:xfrm>
          <a:prstGeom prst="curvedConnector3">
            <a:avLst>
              <a:gd fmla="val -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99" name="Google Shape;599;p43"/>
          <p:cNvSpPr/>
          <p:nvPr/>
        </p:nvSpPr>
        <p:spPr>
          <a:xfrm>
            <a:off x="3622225" y="202403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00" name="Google Shape;600;p43"/>
          <p:cNvSpPr/>
          <p:nvPr/>
        </p:nvSpPr>
        <p:spPr>
          <a:xfrm>
            <a:off x="3622225" y="31774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Riley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01" name="Google Shape;601;p43"/>
          <p:cNvCxnSpPr>
            <a:stCxn id="599" idx="4"/>
            <a:endCxn id="600" idx="0"/>
          </p:cNvCxnSpPr>
          <p:nvPr/>
        </p:nvCxnSpPr>
        <p:spPr>
          <a:xfrm>
            <a:off x="3932725" y="262913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02" name="Google Shape;602;p43"/>
          <p:cNvSpPr/>
          <p:nvPr/>
        </p:nvSpPr>
        <p:spPr>
          <a:xfrm>
            <a:off x="4900375" y="20240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03" name="Google Shape;603;p43"/>
          <p:cNvCxnSpPr>
            <a:stCxn id="599" idx="6"/>
            <a:endCxn id="602" idx="2"/>
          </p:cNvCxnSpPr>
          <p:nvPr/>
        </p:nvCxnSpPr>
        <p:spPr>
          <a:xfrm>
            <a:off x="4243225" y="2326588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43"/>
          <p:cNvCxnSpPr>
            <a:stCxn id="600" idx="6"/>
            <a:endCxn id="605" idx="2"/>
          </p:cNvCxnSpPr>
          <p:nvPr/>
        </p:nvCxnSpPr>
        <p:spPr>
          <a:xfrm flipH="1" rot="10800000">
            <a:off x="4243225" y="347132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" name="Google Shape;605;p43"/>
          <p:cNvSpPr/>
          <p:nvPr/>
        </p:nvSpPr>
        <p:spPr>
          <a:xfrm>
            <a:off x="4900375" y="31687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Bro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06" name="Google Shape;606;p43"/>
          <p:cNvCxnSpPr>
            <a:stCxn id="602" idx="4"/>
            <a:endCxn id="605" idx="0"/>
          </p:cNvCxnSpPr>
          <p:nvPr/>
        </p:nvCxnSpPr>
        <p:spPr>
          <a:xfrm>
            <a:off x="5210875" y="262915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07" name="Google Shape;607;p43"/>
          <p:cNvCxnSpPr>
            <a:stCxn id="599" idx="4"/>
            <a:endCxn id="605" idx="0"/>
          </p:cNvCxnSpPr>
          <p:nvPr/>
        </p:nvCxnSpPr>
        <p:spPr>
          <a:xfrm>
            <a:off x="3932725" y="262913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08" name="Google Shape;608;p43"/>
          <p:cNvCxnSpPr>
            <a:stCxn id="590" idx="0"/>
            <a:endCxn id="600" idx="0"/>
          </p:cNvCxnSpPr>
          <p:nvPr/>
        </p:nvCxnSpPr>
        <p:spPr>
          <a:xfrm flipH="1" rot="-5400000">
            <a:off x="2499013" y="1744363"/>
            <a:ext cx="600" cy="2866800"/>
          </a:xfrm>
          <a:prstGeom prst="curvedConnector3">
            <a:avLst>
              <a:gd fmla="val -3968750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09" name="Google Shape;609;p43"/>
          <p:cNvCxnSpPr>
            <a:stCxn id="599" idx="7"/>
            <a:endCxn id="602" idx="1"/>
          </p:cNvCxnSpPr>
          <p:nvPr/>
        </p:nvCxnSpPr>
        <p:spPr>
          <a:xfrm flipH="1" rot="-5400000">
            <a:off x="4571532" y="1693402"/>
            <a:ext cx="600" cy="839100"/>
          </a:xfrm>
          <a:prstGeom prst="curvedConnector3">
            <a:avLst>
              <a:gd fmla="val -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0" name="Google Shape;610;p43"/>
          <p:cNvCxnSpPr>
            <a:stCxn id="592" idx="3"/>
            <a:endCxn id="589" idx="5"/>
          </p:cNvCxnSpPr>
          <p:nvPr/>
        </p:nvCxnSpPr>
        <p:spPr>
          <a:xfrm rot="5400000">
            <a:off x="1704656" y="2121273"/>
            <a:ext cx="600" cy="839100"/>
          </a:xfrm>
          <a:prstGeom prst="curvedConnector3">
            <a:avLst>
              <a:gd fmla="val 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11" name="Google Shape;611;p43"/>
          <p:cNvSpPr txBox="1"/>
          <p:nvPr/>
        </p:nvSpPr>
        <p:spPr>
          <a:xfrm>
            <a:off x="986875" y="1203875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Family 1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12" name="Google Shape;612;p43"/>
          <p:cNvSpPr txBox="1"/>
          <p:nvPr/>
        </p:nvSpPr>
        <p:spPr>
          <a:xfrm>
            <a:off x="3856063" y="120385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Family 2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13" name="Google Shape;613;p43"/>
          <p:cNvCxnSpPr/>
          <p:nvPr/>
        </p:nvCxnSpPr>
        <p:spPr>
          <a:xfrm>
            <a:off x="3134550" y="727800"/>
            <a:ext cx="0" cy="3687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43"/>
          <p:cNvCxnSpPr>
            <a:stCxn id="602" idx="3"/>
            <a:endCxn id="599" idx="5"/>
          </p:cNvCxnSpPr>
          <p:nvPr/>
        </p:nvCxnSpPr>
        <p:spPr>
          <a:xfrm rot="5400000">
            <a:off x="4571468" y="2121285"/>
            <a:ext cx="600" cy="839100"/>
          </a:xfrm>
          <a:prstGeom prst="curvedConnector3">
            <a:avLst>
              <a:gd fmla="val 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15" name="Google Shape;615;p43"/>
          <p:cNvSpPr txBox="1"/>
          <p:nvPr/>
        </p:nvSpPr>
        <p:spPr>
          <a:xfrm>
            <a:off x="5740950" y="2387350"/>
            <a:ext cx="32166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You and Riley are in love: Yay!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16" name="Google Shape;616;p43"/>
          <p:cNvCxnSpPr/>
          <p:nvPr/>
        </p:nvCxnSpPr>
        <p:spPr>
          <a:xfrm>
            <a:off x="5210875" y="1627675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17" name="Google Shape;617;p43"/>
          <p:cNvSpPr txBox="1"/>
          <p:nvPr/>
        </p:nvSpPr>
        <p:spPr>
          <a:xfrm>
            <a:off x="5957275" y="1443338"/>
            <a:ext cx="278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Asymmetric non-kin (romantic)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18" name="Google Shape;618;p43"/>
          <p:cNvCxnSpPr/>
          <p:nvPr/>
        </p:nvCxnSpPr>
        <p:spPr>
          <a:xfrm>
            <a:off x="5210875" y="848275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43"/>
          <p:cNvCxnSpPr/>
          <p:nvPr/>
        </p:nvCxnSpPr>
        <p:spPr>
          <a:xfrm>
            <a:off x="5210875" y="1231325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20" name="Google Shape;620;p43"/>
          <p:cNvSpPr txBox="1"/>
          <p:nvPr/>
        </p:nvSpPr>
        <p:spPr>
          <a:xfrm>
            <a:off x="5957275" y="1046975"/>
            <a:ext cx="29757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Antisymmetric kin (parent of, uncle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21" name="Google Shape;621;p43"/>
          <p:cNvSpPr txBox="1"/>
          <p:nvPr/>
        </p:nvSpPr>
        <p:spPr>
          <a:xfrm>
            <a:off x="5957275" y="663925"/>
            <a:ext cx="26862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Symmetric kin (being a sibling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22" name="Google Shape;622;p43"/>
          <p:cNvCxnSpPr>
            <a:stCxn id="592" idx="4"/>
            <a:endCxn id="590" idx="0"/>
          </p:cNvCxnSpPr>
          <p:nvPr/>
        </p:nvCxnSpPr>
        <p:spPr>
          <a:xfrm flipH="1">
            <a:off x="1066063" y="2629138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3" name="Google Shape;623;p43"/>
          <p:cNvCxnSpPr>
            <a:stCxn id="602" idx="4"/>
            <a:endCxn id="600" idx="0"/>
          </p:cNvCxnSpPr>
          <p:nvPr/>
        </p:nvCxnSpPr>
        <p:spPr>
          <a:xfrm flipH="1">
            <a:off x="3932875" y="262915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4" name="Google Shape;624;p43"/>
          <p:cNvCxnSpPr>
            <a:stCxn id="600" idx="4"/>
            <a:endCxn id="590" idx="4"/>
          </p:cNvCxnSpPr>
          <p:nvPr/>
        </p:nvCxnSpPr>
        <p:spPr>
          <a:xfrm rot="5400000">
            <a:off x="2499025" y="2349475"/>
            <a:ext cx="600" cy="2866800"/>
          </a:xfrm>
          <a:prstGeom prst="curvedConnector3">
            <a:avLst>
              <a:gd fmla="val 3968750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4"/>
          <p:cNvSpPr txBox="1"/>
          <p:nvPr>
            <p:ph idx="1" type="body"/>
          </p:nvPr>
        </p:nvSpPr>
        <p:spPr>
          <a:xfrm>
            <a:off x="311700" y="4230575"/>
            <a:ext cx="66270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Dyads: Different types of ties concatenate in different ways</a:t>
            </a:r>
            <a:endParaRPr/>
          </a:p>
        </p:txBody>
      </p:sp>
      <p:sp>
        <p:nvSpPr>
          <p:cNvPr id="630" name="Google Shape;630;p44"/>
          <p:cNvSpPr/>
          <p:nvPr/>
        </p:nvSpPr>
        <p:spPr>
          <a:xfrm>
            <a:off x="755413" y="20240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31" name="Google Shape;631;p44"/>
          <p:cNvSpPr/>
          <p:nvPr/>
        </p:nvSpPr>
        <p:spPr>
          <a:xfrm>
            <a:off x="755413" y="3177463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You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32" name="Google Shape;632;p44"/>
          <p:cNvCxnSpPr>
            <a:stCxn id="630" idx="4"/>
            <a:endCxn id="631" idx="0"/>
          </p:cNvCxnSpPr>
          <p:nvPr/>
        </p:nvCxnSpPr>
        <p:spPr>
          <a:xfrm>
            <a:off x="1065913" y="2629125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33" name="Google Shape;633;p44"/>
          <p:cNvSpPr/>
          <p:nvPr/>
        </p:nvSpPr>
        <p:spPr>
          <a:xfrm>
            <a:off x="2033563" y="202403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34" name="Google Shape;634;p44"/>
          <p:cNvCxnSpPr>
            <a:stCxn id="630" idx="6"/>
            <a:endCxn id="633" idx="2"/>
          </p:cNvCxnSpPr>
          <p:nvPr/>
        </p:nvCxnSpPr>
        <p:spPr>
          <a:xfrm>
            <a:off x="1376413" y="2326575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44"/>
          <p:cNvCxnSpPr>
            <a:stCxn id="631" idx="6"/>
            <a:endCxn id="636" idx="2"/>
          </p:cNvCxnSpPr>
          <p:nvPr/>
        </p:nvCxnSpPr>
        <p:spPr>
          <a:xfrm flipH="1" rot="10800000">
            <a:off x="1376413" y="3471313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6" name="Google Shape;636;p44"/>
          <p:cNvSpPr/>
          <p:nvPr/>
        </p:nvSpPr>
        <p:spPr>
          <a:xfrm>
            <a:off x="2033563" y="3168713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Sis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37" name="Google Shape;637;p44"/>
          <p:cNvCxnSpPr>
            <a:stCxn id="633" idx="4"/>
            <a:endCxn id="636" idx="0"/>
          </p:cNvCxnSpPr>
          <p:nvPr/>
        </p:nvCxnSpPr>
        <p:spPr>
          <a:xfrm>
            <a:off x="2344063" y="2629138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38" name="Google Shape;638;p44"/>
          <p:cNvCxnSpPr>
            <a:stCxn id="630" idx="4"/>
            <a:endCxn id="636" idx="0"/>
          </p:cNvCxnSpPr>
          <p:nvPr/>
        </p:nvCxnSpPr>
        <p:spPr>
          <a:xfrm>
            <a:off x="1065913" y="2629125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39" name="Google Shape;639;p44"/>
          <p:cNvCxnSpPr>
            <a:stCxn id="630" idx="7"/>
            <a:endCxn id="633" idx="1"/>
          </p:cNvCxnSpPr>
          <p:nvPr/>
        </p:nvCxnSpPr>
        <p:spPr>
          <a:xfrm flipH="1" rot="-5400000">
            <a:off x="1704719" y="1693390"/>
            <a:ext cx="600" cy="839100"/>
          </a:xfrm>
          <a:prstGeom prst="curvedConnector3">
            <a:avLst>
              <a:gd fmla="val -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40" name="Google Shape;640;p44"/>
          <p:cNvSpPr/>
          <p:nvPr/>
        </p:nvSpPr>
        <p:spPr>
          <a:xfrm>
            <a:off x="3622225" y="202403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41" name="Google Shape;641;p44"/>
          <p:cNvSpPr/>
          <p:nvPr/>
        </p:nvSpPr>
        <p:spPr>
          <a:xfrm>
            <a:off x="3622225" y="31774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Riley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42" name="Google Shape;642;p44"/>
          <p:cNvCxnSpPr>
            <a:stCxn id="640" idx="4"/>
            <a:endCxn id="641" idx="0"/>
          </p:cNvCxnSpPr>
          <p:nvPr/>
        </p:nvCxnSpPr>
        <p:spPr>
          <a:xfrm>
            <a:off x="3932725" y="262913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43" name="Google Shape;643;p44"/>
          <p:cNvSpPr/>
          <p:nvPr/>
        </p:nvSpPr>
        <p:spPr>
          <a:xfrm>
            <a:off x="4900375" y="20240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44" name="Google Shape;644;p44"/>
          <p:cNvCxnSpPr>
            <a:stCxn id="640" idx="6"/>
            <a:endCxn id="643" idx="2"/>
          </p:cNvCxnSpPr>
          <p:nvPr/>
        </p:nvCxnSpPr>
        <p:spPr>
          <a:xfrm>
            <a:off x="4243225" y="2326588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44"/>
          <p:cNvCxnSpPr>
            <a:stCxn id="641" idx="6"/>
            <a:endCxn id="646" idx="2"/>
          </p:cNvCxnSpPr>
          <p:nvPr/>
        </p:nvCxnSpPr>
        <p:spPr>
          <a:xfrm flipH="1" rot="10800000">
            <a:off x="4243225" y="347132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6" name="Google Shape;646;p44"/>
          <p:cNvSpPr/>
          <p:nvPr/>
        </p:nvSpPr>
        <p:spPr>
          <a:xfrm>
            <a:off x="4900375" y="31687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Bro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47" name="Google Shape;647;p44"/>
          <p:cNvCxnSpPr>
            <a:stCxn id="643" idx="4"/>
            <a:endCxn id="646" idx="0"/>
          </p:cNvCxnSpPr>
          <p:nvPr/>
        </p:nvCxnSpPr>
        <p:spPr>
          <a:xfrm>
            <a:off x="5210875" y="262915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8" name="Google Shape;648;p44"/>
          <p:cNvCxnSpPr>
            <a:stCxn id="640" idx="4"/>
            <a:endCxn id="646" idx="0"/>
          </p:cNvCxnSpPr>
          <p:nvPr/>
        </p:nvCxnSpPr>
        <p:spPr>
          <a:xfrm>
            <a:off x="3932725" y="262913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9" name="Google Shape;649;p44"/>
          <p:cNvCxnSpPr>
            <a:stCxn id="631" idx="0"/>
            <a:endCxn id="641" idx="0"/>
          </p:cNvCxnSpPr>
          <p:nvPr/>
        </p:nvCxnSpPr>
        <p:spPr>
          <a:xfrm flipH="1" rot="-5400000">
            <a:off x="2499013" y="1744363"/>
            <a:ext cx="600" cy="2866800"/>
          </a:xfrm>
          <a:prstGeom prst="curvedConnector3">
            <a:avLst>
              <a:gd fmla="val -3968750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0" name="Google Shape;650;p44"/>
          <p:cNvCxnSpPr>
            <a:stCxn id="640" idx="7"/>
            <a:endCxn id="643" idx="1"/>
          </p:cNvCxnSpPr>
          <p:nvPr/>
        </p:nvCxnSpPr>
        <p:spPr>
          <a:xfrm flipH="1" rot="-5400000">
            <a:off x="4571532" y="1693402"/>
            <a:ext cx="600" cy="839100"/>
          </a:xfrm>
          <a:prstGeom prst="curvedConnector3">
            <a:avLst>
              <a:gd fmla="val -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1" name="Google Shape;651;p44"/>
          <p:cNvCxnSpPr>
            <a:stCxn id="633" idx="3"/>
            <a:endCxn id="630" idx="5"/>
          </p:cNvCxnSpPr>
          <p:nvPr/>
        </p:nvCxnSpPr>
        <p:spPr>
          <a:xfrm rot="5400000">
            <a:off x="1704656" y="2121273"/>
            <a:ext cx="600" cy="839100"/>
          </a:xfrm>
          <a:prstGeom prst="curvedConnector3">
            <a:avLst>
              <a:gd fmla="val 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2" name="Google Shape;652;p44"/>
          <p:cNvCxnSpPr>
            <a:stCxn id="641" idx="4"/>
            <a:endCxn id="631" idx="4"/>
          </p:cNvCxnSpPr>
          <p:nvPr/>
        </p:nvCxnSpPr>
        <p:spPr>
          <a:xfrm rot="5400000">
            <a:off x="2499025" y="2349475"/>
            <a:ext cx="600" cy="2866800"/>
          </a:xfrm>
          <a:prstGeom prst="curvedConnector3">
            <a:avLst>
              <a:gd fmla="val 3968750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53" name="Google Shape;653;p44"/>
          <p:cNvSpPr txBox="1"/>
          <p:nvPr/>
        </p:nvSpPr>
        <p:spPr>
          <a:xfrm>
            <a:off x="986875" y="1203875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Family 1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54" name="Google Shape;654;p44"/>
          <p:cNvSpPr txBox="1"/>
          <p:nvPr/>
        </p:nvSpPr>
        <p:spPr>
          <a:xfrm>
            <a:off x="3856063" y="120385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Family 2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55" name="Google Shape;655;p44"/>
          <p:cNvCxnSpPr/>
          <p:nvPr/>
        </p:nvCxnSpPr>
        <p:spPr>
          <a:xfrm>
            <a:off x="3134550" y="727800"/>
            <a:ext cx="0" cy="3687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56" name="Google Shape;656;p44"/>
          <p:cNvCxnSpPr>
            <a:stCxn id="643" idx="3"/>
            <a:endCxn id="640" idx="5"/>
          </p:cNvCxnSpPr>
          <p:nvPr/>
        </p:nvCxnSpPr>
        <p:spPr>
          <a:xfrm rot="5400000">
            <a:off x="4571468" y="2121285"/>
            <a:ext cx="600" cy="839100"/>
          </a:xfrm>
          <a:prstGeom prst="curvedConnector3">
            <a:avLst>
              <a:gd fmla="val 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57" name="Google Shape;657;p44"/>
          <p:cNvSpPr txBox="1"/>
          <p:nvPr/>
        </p:nvSpPr>
        <p:spPr>
          <a:xfrm>
            <a:off x="5740950" y="2387350"/>
            <a:ext cx="3216600" cy="16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You and Riley are in love: Yay!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You and Riley got married: Awesome!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58" name="Google Shape;658;p44"/>
          <p:cNvCxnSpPr>
            <a:stCxn id="631" idx="4"/>
            <a:endCxn id="641" idx="4"/>
          </p:cNvCxnSpPr>
          <p:nvPr/>
        </p:nvCxnSpPr>
        <p:spPr>
          <a:xfrm flipH="1" rot="-5400000">
            <a:off x="2499013" y="2349463"/>
            <a:ext cx="600" cy="2866800"/>
          </a:xfrm>
          <a:prstGeom prst="bentConnector3">
            <a:avLst>
              <a:gd fmla="val 94193750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44"/>
          <p:cNvCxnSpPr>
            <a:stCxn id="633" idx="4"/>
            <a:endCxn id="631" idx="0"/>
          </p:cNvCxnSpPr>
          <p:nvPr/>
        </p:nvCxnSpPr>
        <p:spPr>
          <a:xfrm flipH="1">
            <a:off x="1066063" y="2629138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0" name="Google Shape;660;p44"/>
          <p:cNvCxnSpPr>
            <a:stCxn id="643" idx="4"/>
            <a:endCxn id="641" idx="0"/>
          </p:cNvCxnSpPr>
          <p:nvPr/>
        </p:nvCxnSpPr>
        <p:spPr>
          <a:xfrm flipH="1">
            <a:off x="3932875" y="262915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1" name="Google Shape;661;p44"/>
          <p:cNvCxnSpPr/>
          <p:nvPr/>
        </p:nvCxnSpPr>
        <p:spPr>
          <a:xfrm>
            <a:off x="5210875" y="1627675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62" name="Google Shape;662;p44"/>
          <p:cNvSpPr txBox="1"/>
          <p:nvPr/>
        </p:nvSpPr>
        <p:spPr>
          <a:xfrm>
            <a:off x="5957275" y="1443338"/>
            <a:ext cx="278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Asymmetric non-kin (romantic)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63" name="Google Shape;663;p44"/>
          <p:cNvCxnSpPr/>
          <p:nvPr/>
        </p:nvCxnSpPr>
        <p:spPr>
          <a:xfrm>
            <a:off x="5210875" y="848275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4" name="Google Shape;664;p44"/>
          <p:cNvCxnSpPr/>
          <p:nvPr/>
        </p:nvCxnSpPr>
        <p:spPr>
          <a:xfrm>
            <a:off x="5210875" y="1231325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65" name="Google Shape;665;p44"/>
          <p:cNvSpPr txBox="1"/>
          <p:nvPr/>
        </p:nvSpPr>
        <p:spPr>
          <a:xfrm>
            <a:off x="5957275" y="1046975"/>
            <a:ext cx="29757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Antisymmetric kin (parent of, uncle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66" name="Google Shape;666;p44"/>
          <p:cNvSpPr txBox="1"/>
          <p:nvPr/>
        </p:nvSpPr>
        <p:spPr>
          <a:xfrm>
            <a:off x="5957275" y="663925"/>
            <a:ext cx="26862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Symmetric kin (being a sibling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5"/>
          <p:cNvSpPr txBox="1"/>
          <p:nvPr>
            <p:ph idx="1" type="body"/>
          </p:nvPr>
        </p:nvSpPr>
        <p:spPr>
          <a:xfrm>
            <a:off x="311700" y="4230575"/>
            <a:ext cx="66270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Dyads: Different types of ties concatenate in different ways</a:t>
            </a:r>
            <a:endParaRPr/>
          </a:p>
        </p:txBody>
      </p:sp>
      <p:sp>
        <p:nvSpPr>
          <p:cNvPr id="672" name="Google Shape;672;p45"/>
          <p:cNvSpPr/>
          <p:nvPr/>
        </p:nvSpPr>
        <p:spPr>
          <a:xfrm>
            <a:off x="755413" y="20240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73" name="Google Shape;673;p45"/>
          <p:cNvSpPr/>
          <p:nvPr/>
        </p:nvSpPr>
        <p:spPr>
          <a:xfrm>
            <a:off x="755413" y="3177463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You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74" name="Google Shape;674;p45"/>
          <p:cNvCxnSpPr>
            <a:stCxn id="672" idx="4"/>
            <a:endCxn id="673" idx="0"/>
          </p:cNvCxnSpPr>
          <p:nvPr/>
        </p:nvCxnSpPr>
        <p:spPr>
          <a:xfrm>
            <a:off x="1065913" y="2629125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75" name="Google Shape;675;p45"/>
          <p:cNvSpPr/>
          <p:nvPr/>
        </p:nvSpPr>
        <p:spPr>
          <a:xfrm>
            <a:off x="2033563" y="202403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76" name="Google Shape;676;p45"/>
          <p:cNvCxnSpPr>
            <a:stCxn id="672" idx="6"/>
            <a:endCxn id="675" idx="2"/>
          </p:cNvCxnSpPr>
          <p:nvPr/>
        </p:nvCxnSpPr>
        <p:spPr>
          <a:xfrm>
            <a:off x="1376413" y="2326575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45"/>
          <p:cNvCxnSpPr>
            <a:stCxn id="673" idx="6"/>
            <a:endCxn id="678" idx="2"/>
          </p:cNvCxnSpPr>
          <p:nvPr/>
        </p:nvCxnSpPr>
        <p:spPr>
          <a:xfrm flipH="1" rot="10800000">
            <a:off x="1376413" y="3471313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8" name="Google Shape;678;p45"/>
          <p:cNvSpPr/>
          <p:nvPr/>
        </p:nvSpPr>
        <p:spPr>
          <a:xfrm>
            <a:off x="2033563" y="3168713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Sis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79" name="Google Shape;679;p45"/>
          <p:cNvCxnSpPr>
            <a:stCxn id="675" idx="4"/>
            <a:endCxn id="678" idx="0"/>
          </p:cNvCxnSpPr>
          <p:nvPr/>
        </p:nvCxnSpPr>
        <p:spPr>
          <a:xfrm>
            <a:off x="2344063" y="2629138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0" name="Google Shape;680;p45"/>
          <p:cNvCxnSpPr>
            <a:stCxn id="672" idx="4"/>
            <a:endCxn id="678" idx="0"/>
          </p:cNvCxnSpPr>
          <p:nvPr/>
        </p:nvCxnSpPr>
        <p:spPr>
          <a:xfrm>
            <a:off x="1065913" y="2629125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81" name="Google Shape;681;p45"/>
          <p:cNvSpPr/>
          <p:nvPr/>
        </p:nvSpPr>
        <p:spPr>
          <a:xfrm>
            <a:off x="3622225" y="202403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82" name="Google Shape;682;p45"/>
          <p:cNvSpPr/>
          <p:nvPr/>
        </p:nvSpPr>
        <p:spPr>
          <a:xfrm>
            <a:off x="3622225" y="31774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Riley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83" name="Google Shape;683;p45"/>
          <p:cNvCxnSpPr>
            <a:stCxn id="681" idx="4"/>
            <a:endCxn id="682" idx="0"/>
          </p:cNvCxnSpPr>
          <p:nvPr/>
        </p:nvCxnSpPr>
        <p:spPr>
          <a:xfrm>
            <a:off x="3932725" y="262913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84" name="Google Shape;684;p45"/>
          <p:cNvSpPr/>
          <p:nvPr/>
        </p:nvSpPr>
        <p:spPr>
          <a:xfrm>
            <a:off x="4900375" y="20240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85" name="Google Shape;685;p45"/>
          <p:cNvCxnSpPr>
            <a:stCxn id="681" idx="6"/>
            <a:endCxn id="684" idx="2"/>
          </p:cNvCxnSpPr>
          <p:nvPr/>
        </p:nvCxnSpPr>
        <p:spPr>
          <a:xfrm>
            <a:off x="4243225" y="2326588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45"/>
          <p:cNvCxnSpPr>
            <a:stCxn id="682" idx="6"/>
            <a:endCxn id="687" idx="2"/>
          </p:cNvCxnSpPr>
          <p:nvPr/>
        </p:nvCxnSpPr>
        <p:spPr>
          <a:xfrm flipH="1" rot="10800000">
            <a:off x="4243225" y="347132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7" name="Google Shape;687;p45"/>
          <p:cNvSpPr/>
          <p:nvPr/>
        </p:nvSpPr>
        <p:spPr>
          <a:xfrm>
            <a:off x="4900375" y="31687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Bro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88" name="Google Shape;688;p45"/>
          <p:cNvCxnSpPr>
            <a:stCxn id="684" idx="4"/>
            <a:endCxn id="687" idx="0"/>
          </p:cNvCxnSpPr>
          <p:nvPr/>
        </p:nvCxnSpPr>
        <p:spPr>
          <a:xfrm>
            <a:off x="5210875" y="262915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9" name="Google Shape;689;p45"/>
          <p:cNvCxnSpPr>
            <a:stCxn id="681" idx="4"/>
            <a:endCxn id="687" idx="0"/>
          </p:cNvCxnSpPr>
          <p:nvPr/>
        </p:nvCxnSpPr>
        <p:spPr>
          <a:xfrm>
            <a:off x="3932725" y="262913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90" name="Google Shape;690;p45"/>
          <p:cNvSpPr txBox="1"/>
          <p:nvPr/>
        </p:nvSpPr>
        <p:spPr>
          <a:xfrm>
            <a:off x="986875" y="1203875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Family 1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91" name="Google Shape;691;p45"/>
          <p:cNvSpPr txBox="1"/>
          <p:nvPr/>
        </p:nvSpPr>
        <p:spPr>
          <a:xfrm>
            <a:off x="3856063" y="120385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Family 2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92" name="Google Shape;692;p45"/>
          <p:cNvCxnSpPr/>
          <p:nvPr/>
        </p:nvCxnSpPr>
        <p:spPr>
          <a:xfrm>
            <a:off x="3134550" y="727800"/>
            <a:ext cx="0" cy="3687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93" name="Google Shape;693;p45"/>
          <p:cNvSpPr txBox="1"/>
          <p:nvPr/>
        </p:nvSpPr>
        <p:spPr>
          <a:xfrm>
            <a:off x="5740950" y="2387350"/>
            <a:ext cx="3216600" cy="16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Whoops! Things are getting complicated: “In law” ties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Both symmetric (sibling in law) and anti-symmetric (son in law)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94" name="Google Shape;694;p45"/>
          <p:cNvCxnSpPr>
            <a:stCxn id="673" idx="4"/>
            <a:endCxn id="682" idx="4"/>
          </p:cNvCxnSpPr>
          <p:nvPr/>
        </p:nvCxnSpPr>
        <p:spPr>
          <a:xfrm flipH="1" rot="-5400000">
            <a:off x="2499013" y="2349463"/>
            <a:ext cx="600" cy="2866800"/>
          </a:xfrm>
          <a:prstGeom prst="bentConnector3">
            <a:avLst>
              <a:gd fmla="val 94193750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" name="Google Shape;695;p45"/>
          <p:cNvCxnSpPr>
            <a:stCxn id="672" idx="4"/>
            <a:endCxn id="682" idx="0"/>
          </p:cNvCxnSpPr>
          <p:nvPr/>
        </p:nvCxnSpPr>
        <p:spPr>
          <a:xfrm>
            <a:off x="1065913" y="2629125"/>
            <a:ext cx="28668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6" name="Google Shape;696;p45"/>
          <p:cNvCxnSpPr>
            <a:stCxn id="681" idx="4"/>
            <a:endCxn id="673" idx="0"/>
          </p:cNvCxnSpPr>
          <p:nvPr/>
        </p:nvCxnSpPr>
        <p:spPr>
          <a:xfrm flipH="1">
            <a:off x="1065925" y="2629138"/>
            <a:ext cx="28668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7" name="Google Shape;697;p45"/>
          <p:cNvCxnSpPr>
            <a:stCxn id="675" idx="4"/>
            <a:endCxn id="682" idx="0"/>
          </p:cNvCxnSpPr>
          <p:nvPr/>
        </p:nvCxnSpPr>
        <p:spPr>
          <a:xfrm>
            <a:off x="2344063" y="2629138"/>
            <a:ext cx="15888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8" name="Google Shape;698;p45"/>
          <p:cNvCxnSpPr>
            <a:stCxn id="684" idx="4"/>
            <a:endCxn id="678" idx="0"/>
          </p:cNvCxnSpPr>
          <p:nvPr/>
        </p:nvCxnSpPr>
        <p:spPr>
          <a:xfrm flipH="1">
            <a:off x="2344075" y="2629150"/>
            <a:ext cx="28668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9" name="Google Shape;699;p45"/>
          <p:cNvCxnSpPr>
            <a:stCxn id="673" idx="4"/>
            <a:endCxn id="687" idx="4"/>
          </p:cNvCxnSpPr>
          <p:nvPr/>
        </p:nvCxnSpPr>
        <p:spPr>
          <a:xfrm rot="-5400000">
            <a:off x="3134113" y="1705663"/>
            <a:ext cx="8700" cy="4145100"/>
          </a:xfrm>
          <a:prstGeom prst="bentConnector3">
            <a:avLst>
              <a:gd fmla="val -1310776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0" name="Google Shape;700;p45"/>
          <p:cNvCxnSpPr>
            <a:stCxn id="678" idx="4"/>
            <a:endCxn id="687" idx="4"/>
          </p:cNvCxnSpPr>
          <p:nvPr/>
        </p:nvCxnSpPr>
        <p:spPr>
          <a:xfrm flipH="1" rot="-5400000">
            <a:off x="3777163" y="2340713"/>
            <a:ext cx="600" cy="2866800"/>
          </a:xfrm>
          <a:prstGeom prst="bentConnector3">
            <a:avLst>
              <a:gd fmla="val 72418750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45"/>
          <p:cNvCxnSpPr>
            <a:stCxn id="678" idx="4"/>
            <a:endCxn id="682" idx="4"/>
          </p:cNvCxnSpPr>
          <p:nvPr/>
        </p:nvCxnSpPr>
        <p:spPr>
          <a:xfrm flipH="1" rot="-5400000">
            <a:off x="3134113" y="2983763"/>
            <a:ext cx="8700" cy="1588800"/>
          </a:xfrm>
          <a:prstGeom prst="bentConnector3">
            <a:avLst>
              <a:gd fmla="val 2837787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45"/>
          <p:cNvCxnSpPr>
            <a:stCxn id="675" idx="4"/>
            <a:endCxn id="673" idx="0"/>
          </p:cNvCxnSpPr>
          <p:nvPr/>
        </p:nvCxnSpPr>
        <p:spPr>
          <a:xfrm flipH="1">
            <a:off x="1066063" y="2629138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3" name="Google Shape;703;p45"/>
          <p:cNvCxnSpPr>
            <a:stCxn id="684" idx="4"/>
            <a:endCxn id="682" idx="0"/>
          </p:cNvCxnSpPr>
          <p:nvPr/>
        </p:nvCxnSpPr>
        <p:spPr>
          <a:xfrm flipH="1">
            <a:off x="3932875" y="262915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4" name="Google Shape;704;p45"/>
          <p:cNvCxnSpPr>
            <a:stCxn id="672" idx="7"/>
            <a:endCxn id="675" idx="1"/>
          </p:cNvCxnSpPr>
          <p:nvPr/>
        </p:nvCxnSpPr>
        <p:spPr>
          <a:xfrm flipH="1" rot="-5400000">
            <a:off x="1704719" y="1693390"/>
            <a:ext cx="600" cy="839100"/>
          </a:xfrm>
          <a:prstGeom prst="curvedConnector3">
            <a:avLst>
              <a:gd fmla="val -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5" name="Google Shape;705;p45"/>
          <p:cNvCxnSpPr>
            <a:stCxn id="681" idx="7"/>
            <a:endCxn id="684" idx="1"/>
          </p:cNvCxnSpPr>
          <p:nvPr/>
        </p:nvCxnSpPr>
        <p:spPr>
          <a:xfrm flipH="1" rot="-5400000">
            <a:off x="4571532" y="1693402"/>
            <a:ext cx="600" cy="839100"/>
          </a:xfrm>
          <a:prstGeom prst="curvedConnector3">
            <a:avLst>
              <a:gd fmla="val -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6" name="Google Shape;706;p45"/>
          <p:cNvCxnSpPr>
            <a:stCxn id="675" idx="3"/>
            <a:endCxn id="672" idx="5"/>
          </p:cNvCxnSpPr>
          <p:nvPr/>
        </p:nvCxnSpPr>
        <p:spPr>
          <a:xfrm rot="5400000">
            <a:off x="1704656" y="2121273"/>
            <a:ext cx="600" cy="839100"/>
          </a:xfrm>
          <a:prstGeom prst="curvedConnector3">
            <a:avLst>
              <a:gd fmla="val 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7" name="Google Shape;707;p45"/>
          <p:cNvCxnSpPr>
            <a:stCxn id="684" idx="3"/>
            <a:endCxn id="681" idx="5"/>
          </p:cNvCxnSpPr>
          <p:nvPr/>
        </p:nvCxnSpPr>
        <p:spPr>
          <a:xfrm rot="5400000">
            <a:off x="4571468" y="2121285"/>
            <a:ext cx="600" cy="839100"/>
          </a:xfrm>
          <a:prstGeom prst="curvedConnector3">
            <a:avLst>
              <a:gd fmla="val 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8" name="Google Shape;708;p45"/>
          <p:cNvCxnSpPr>
            <a:stCxn id="673" idx="0"/>
            <a:endCxn id="682" idx="0"/>
          </p:cNvCxnSpPr>
          <p:nvPr/>
        </p:nvCxnSpPr>
        <p:spPr>
          <a:xfrm flipH="1" rot="-5400000">
            <a:off x="2499013" y="1744363"/>
            <a:ext cx="600" cy="2866800"/>
          </a:xfrm>
          <a:prstGeom prst="curvedConnector3">
            <a:avLst>
              <a:gd fmla="val -3968750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9" name="Google Shape;709;p45"/>
          <p:cNvCxnSpPr>
            <a:stCxn id="682" idx="4"/>
            <a:endCxn id="673" idx="4"/>
          </p:cNvCxnSpPr>
          <p:nvPr/>
        </p:nvCxnSpPr>
        <p:spPr>
          <a:xfrm rot="5400000">
            <a:off x="2499025" y="2349475"/>
            <a:ext cx="600" cy="2866800"/>
          </a:xfrm>
          <a:prstGeom prst="curvedConnector3">
            <a:avLst>
              <a:gd fmla="val 3968750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10" name="Google Shape;710;p45"/>
          <p:cNvCxnSpPr>
            <a:stCxn id="675" idx="4"/>
            <a:endCxn id="687" idx="0"/>
          </p:cNvCxnSpPr>
          <p:nvPr/>
        </p:nvCxnSpPr>
        <p:spPr>
          <a:xfrm>
            <a:off x="2344063" y="2629138"/>
            <a:ext cx="28668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11" name="Google Shape;711;p45"/>
          <p:cNvCxnSpPr>
            <a:stCxn id="672" idx="4"/>
            <a:endCxn id="687" idx="0"/>
          </p:cNvCxnSpPr>
          <p:nvPr/>
        </p:nvCxnSpPr>
        <p:spPr>
          <a:xfrm>
            <a:off x="1065913" y="2629125"/>
            <a:ext cx="41451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12" name="Google Shape;712;p45"/>
          <p:cNvCxnSpPr>
            <a:stCxn id="681" idx="4"/>
            <a:endCxn id="678" idx="0"/>
          </p:cNvCxnSpPr>
          <p:nvPr/>
        </p:nvCxnSpPr>
        <p:spPr>
          <a:xfrm flipH="1">
            <a:off x="2343925" y="2629138"/>
            <a:ext cx="15888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13" name="Google Shape;713;p45"/>
          <p:cNvCxnSpPr>
            <a:stCxn id="684" idx="4"/>
            <a:endCxn id="673" idx="0"/>
          </p:cNvCxnSpPr>
          <p:nvPr/>
        </p:nvCxnSpPr>
        <p:spPr>
          <a:xfrm flipH="1">
            <a:off x="1065775" y="2629150"/>
            <a:ext cx="41451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14" name="Google Shape;714;p45"/>
          <p:cNvCxnSpPr>
            <a:stCxn id="678" idx="4"/>
            <a:endCxn id="682" idx="4"/>
          </p:cNvCxnSpPr>
          <p:nvPr/>
        </p:nvCxnSpPr>
        <p:spPr>
          <a:xfrm flipH="1" rot="-5400000">
            <a:off x="3134113" y="2983763"/>
            <a:ext cx="8700" cy="1588800"/>
          </a:xfrm>
          <a:prstGeom prst="bentConnector3">
            <a:avLst>
              <a:gd fmla="val 2837787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5" name="Google Shape;715;p45"/>
          <p:cNvCxnSpPr/>
          <p:nvPr/>
        </p:nvCxnSpPr>
        <p:spPr>
          <a:xfrm>
            <a:off x="5210875" y="1627675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16" name="Google Shape;716;p45"/>
          <p:cNvSpPr txBox="1"/>
          <p:nvPr/>
        </p:nvSpPr>
        <p:spPr>
          <a:xfrm>
            <a:off x="5957275" y="1443338"/>
            <a:ext cx="278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Asymmetric non-kin (romantic)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17" name="Google Shape;717;p45"/>
          <p:cNvCxnSpPr/>
          <p:nvPr/>
        </p:nvCxnSpPr>
        <p:spPr>
          <a:xfrm>
            <a:off x="5210875" y="848275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45"/>
          <p:cNvCxnSpPr/>
          <p:nvPr/>
        </p:nvCxnSpPr>
        <p:spPr>
          <a:xfrm>
            <a:off x="5210875" y="1231325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19" name="Google Shape;719;p45"/>
          <p:cNvSpPr txBox="1"/>
          <p:nvPr/>
        </p:nvSpPr>
        <p:spPr>
          <a:xfrm>
            <a:off x="5957275" y="1046975"/>
            <a:ext cx="29757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Antisymmetric kin (parent of, uncle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20" name="Google Shape;720;p45"/>
          <p:cNvSpPr txBox="1"/>
          <p:nvPr/>
        </p:nvSpPr>
        <p:spPr>
          <a:xfrm>
            <a:off x="5957275" y="663925"/>
            <a:ext cx="26862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Symmetric kin (being a sibling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46"/>
          <p:cNvSpPr txBox="1"/>
          <p:nvPr>
            <p:ph idx="1" type="body"/>
          </p:nvPr>
        </p:nvSpPr>
        <p:spPr>
          <a:xfrm>
            <a:off x="311700" y="4230575"/>
            <a:ext cx="66270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Dyads: Different types of ties concatenate in different ways</a:t>
            </a:r>
            <a:endParaRPr/>
          </a:p>
        </p:txBody>
      </p:sp>
      <p:sp>
        <p:nvSpPr>
          <p:cNvPr id="726" name="Google Shape;726;p46"/>
          <p:cNvSpPr txBox="1"/>
          <p:nvPr/>
        </p:nvSpPr>
        <p:spPr>
          <a:xfrm>
            <a:off x="5740950" y="2387350"/>
            <a:ext cx="3216600" cy="16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You and Riley had a baby. Great!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27" name="Google Shape;727;p46"/>
          <p:cNvSpPr/>
          <p:nvPr/>
        </p:nvSpPr>
        <p:spPr>
          <a:xfrm>
            <a:off x="2267388" y="3625463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Baby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28" name="Google Shape;728;p46"/>
          <p:cNvCxnSpPr>
            <a:stCxn id="729" idx="4"/>
            <a:endCxn id="727" idx="2"/>
          </p:cNvCxnSpPr>
          <p:nvPr/>
        </p:nvCxnSpPr>
        <p:spPr>
          <a:xfrm>
            <a:off x="509263" y="3214763"/>
            <a:ext cx="1758000" cy="713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30" name="Google Shape;730;p46"/>
          <p:cNvCxnSpPr>
            <a:stCxn id="731" idx="4"/>
            <a:endCxn id="727" idx="6"/>
          </p:cNvCxnSpPr>
          <p:nvPr/>
        </p:nvCxnSpPr>
        <p:spPr>
          <a:xfrm flipH="1">
            <a:off x="2888388" y="3060413"/>
            <a:ext cx="483900" cy="8676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32" name="Google Shape;732;p46"/>
          <p:cNvSpPr/>
          <p:nvPr/>
        </p:nvSpPr>
        <p:spPr>
          <a:xfrm>
            <a:off x="198763" y="14562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29" name="Google Shape;729;p46"/>
          <p:cNvSpPr/>
          <p:nvPr/>
        </p:nvSpPr>
        <p:spPr>
          <a:xfrm>
            <a:off x="198763" y="2609663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You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33" name="Google Shape;733;p46"/>
          <p:cNvCxnSpPr>
            <a:stCxn id="732" idx="4"/>
            <a:endCxn id="729" idx="0"/>
          </p:cNvCxnSpPr>
          <p:nvPr/>
        </p:nvCxnSpPr>
        <p:spPr>
          <a:xfrm>
            <a:off x="509263" y="2061325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34" name="Google Shape;734;p46"/>
          <p:cNvSpPr/>
          <p:nvPr/>
        </p:nvSpPr>
        <p:spPr>
          <a:xfrm>
            <a:off x="1476913" y="145623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35" name="Google Shape;735;p46"/>
          <p:cNvCxnSpPr>
            <a:stCxn id="732" idx="6"/>
            <a:endCxn id="734" idx="2"/>
          </p:cNvCxnSpPr>
          <p:nvPr/>
        </p:nvCxnSpPr>
        <p:spPr>
          <a:xfrm>
            <a:off x="819763" y="1758775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6" name="Google Shape;736;p46"/>
          <p:cNvCxnSpPr>
            <a:stCxn id="729" idx="6"/>
            <a:endCxn id="737" idx="2"/>
          </p:cNvCxnSpPr>
          <p:nvPr/>
        </p:nvCxnSpPr>
        <p:spPr>
          <a:xfrm flipH="1" rot="10800000">
            <a:off x="819763" y="2903513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7" name="Google Shape;737;p46"/>
          <p:cNvSpPr/>
          <p:nvPr/>
        </p:nvSpPr>
        <p:spPr>
          <a:xfrm>
            <a:off x="1476913" y="2600913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Sis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38" name="Google Shape;738;p46"/>
          <p:cNvCxnSpPr>
            <a:stCxn id="734" idx="4"/>
            <a:endCxn id="737" idx="0"/>
          </p:cNvCxnSpPr>
          <p:nvPr/>
        </p:nvCxnSpPr>
        <p:spPr>
          <a:xfrm>
            <a:off x="1787413" y="2061338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39" name="Google Shape;739;p46"/>
          <p:cNvCxnSpPr>
            <a:stCxn id="732" idx="4"/>
            <a:endCxn id="737" idx="0"/>
          </p:cNvCxnSpPr>
          <p:nvPr/>
        </p:nvCxnSpPr>
        <p:spPr>
          <a:xfrm>
            <a:off x="509263" y="2061325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40" name="Google Shape;740;p46"/>
          <p:cNvSpPr/>
          <p:nvPr/>
        </p:nvSpPr>
        <p:spPr>
          <a:xfrm>
            <a:off x="3065575" y="145623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41" name="Google Shape;741;p46"/>
          <p:cNvSpPr/>
          <p:nvPr/>
        </p:nvSpPr>
        <p:spPr>
          <a:xfrm>
            <a:off x="3065575" y="26096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Riley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42" name="Google Shape;742;p46"/>
          <p:cNvCxnSpPr>
            <a:stCxn id="740" idx="4"/>
            <a:endCxn id="741" idx="0"/>
          </p:cNvCxnSpPr>
          <p:nvPr/>
        </p:nvCxnSpPr>
        <p:spPr>
          <a:xfrm>
            <a:off x="3376075" y="206133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43" name="Google Shape;743;p46"/>
          <p:cNvSpPr/>
          <p:nvPr/>
        </p:nvSpPr>
        <p:spPr>
          <a:xfrm>
            <a:off x="4343725" y="14562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44" name="Google Shape;744;p46"/>
          <p:cNvCxnSpPr>
            <a:stCxn id="740" idx="6"/>
            <a:endCxn id="743" idx="2"/>
          </p:cNvCxnSpPr>
          <p:nvPr/>
        </p:nvCxnSpPr>
        <p:spPr>
          <a:xfrm>
            <a:off x="3686575" y="1758788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5" name="Google Shape;745;p46"/>
          <p:cNvCxnSpPr>
            <a:stCxn id="741" idx="6"/>
            <a:endCxn id="746" idx="2"/>
          </p:cNvCxnSpPr>
          <p:nvPr/>
        </p:nvCxnSpPr>
        <p:spPr>
          <a:xfrm flipH="1" rot="10800000">
            <a:off x="3686575" y="290352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6" name="Google Shape;746;p46"/>
          <p:cNvSpPr/>
          <p:nvPr/>
        </p:nvSpPr>
        <p:spPr>
          <a:xfrm>
            <a:off x="4343725" y="26009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Bro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47" name="Google Shape;747;p46"/>
          <p:cNvCxnSpPr>
            <a:stCxn id="743" idx="4"/>
            <a:endCxn id="746" idx="0"/>
          </p:cNvCxnSpPr>
          <p:nvPr/>
        </p:nvCxnSpPr>
        <p:spPr>
          <a:xfrm>
            <a:off x="4654225" y="206135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48" name="Google Shape;748;p46"/>
          <p:cNvCxnSpPr>
            <a:stCxn id="740" idx="4"/>
            <a:endCxn id="746" idx="0"/>
          </p:cNvCxnSpPr>
          <p:nvPr/>
        </p:nvCxnSpPr>
        <p:spPr>
          <a:xfrm>
            <a:off x="3376075" y="206133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49" name="Google Shape;749;p46"/>
          <p:cNvSpPr txBox="1"/>
          <p:nvPr/>
        </p:nvSpPr>
        <p:spPr>
          <a:xfrm>
            <a:off x="430225" y="636075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Family 1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50" name="Google Shape;750;p46"/>
          <p:cNvSpPr txBox="1"/>
          <p:nvPr/>
        </p:nvSpPr>
        <p:spPr>
          <a:xfrm>
            <a:off x="3299413" y="63605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Family 2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51" name="Google Shape;751;p46"/>
          <p:cNvCxnSpPr/>
          <p:nvPr/>
        </p:nvCxnSpPr>
        <p:spPr>
          <a:xfrm>
            <a:off x="2577900" y="160000"/>
            <a:ext cx="0" cy="3687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52" name="Google Shape;752;p46"/>
          <p:cNvCxnSpPr>
            <a:stCxn id="729" idx="4"/>
            <a:endCxn id="741" idx="4"/>
          </p:cNvCxnSpPr>
          <p:nvPr/>
        </p:nvCxnSpPr>
        <p:spPr>
          <a:xfrm flipH="1" rot="-5400000">
            <a:off x="1942363" y="1781663"/>
            <a:ext cx="600" cy="2866800"/>
          </a:xfrm>
          <a:prstGeom prst="bentConnector3">
            <a:avLst>
              <a:gd fmla="val 39689583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" name="Google Shape;753;p46"/>
          <p:cNvCxnSpPr>
            <a:stCxn id="732" idx="4"/>
            <a:endCxn id="741" idx="0"/>
          </p:cNvCxnSpPr>
          <p:nvPr/>
        </p:nvCxnSpPr>
        <p:spPr>
          <a:xfrm>
            <a:off x="509263" y="2061325"/>
            <a:ext cx="28668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4" name="Google Shape;754;p46"/>
          <p:cNvCxnSpPr>
            <a:stCxn id="740" idx="4"/>
            <a:endCxn id="729" idx="0"/>
          </p:cNvCxnSpPr>
          <p:nvPr/>
        </p:nvCxnSpPr>
        <p:spPr>
          <a:xfrm flipH="1">
            <a:off x="509275" y="2061338"/>
            <a:ext cx="28668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5" name="Google Shape;755;p46"/>
          <p:cNvCxnSpPr>
            <a:stCxn id="734" idx="4"/>
            <a:endCxn id="741" idx="0"/>
          </p:cNvCxnSpPr>
          <p:nvPr/>
        </p:nvCxnSpPr>
        <p:spPr>
          <a:xfrm>
            <a:off x="1787413" y="2061338"/>
            <a:ext cx="15888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6" name="Google Shape;756;p46"/>
          <p:cNvCxnSpPr>
            <a:stCxn id="743" idx="4"/>
            <a:endCxn id="737" idx="0"/>
          </p:cNvCxnSpPr>
          <p:nvPr/>
        </p:nvCxnSpPr>
        <p:spPr>
          <a:xfrm flipH="1">
            <a:off x="1787425" y="2061350"/>
            <a:ext cx="28668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7" name="Google Shape;757;p46"/>
          <p:cNvCxnSpPr>
            <a:stCxn id="729" idx="4"/>
            <a:endCxn id="746" idx="4"/>
          </p:cNvCxnSpPr>
          <p:nvPr/>
        </p:nvCxnSpPr>
        <p:spPr>
          <a:xfrm rot="-5400000">
            <a:off x="2577463" y="1137863"/>
            <a:ext cx="8700" cy="4145100"/>
          </a:xfrm>
          <a:prstGeom prst="bentConnector3">
            <a:avLst>
              <a:gd fmla="val -2737069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46"/>
          <p:cNvCxnSpPr>
            <a:stCxn id="737" idx="4"/>
            <a:endCxn id="746" idx="4"/>
          </p:cNvCxnSpPr>
          <p:nvPr/>
        </p:nvCxnSpPr>
        <p:spPr>
          <a:xfrm flipH="1" rot="-5400000">
            <a:off x="3220513" y="1772913"/>
            <a:ext cx="600" cy="2866800"/>
          </a:xfrm>
          <a:prstGeom prst="bentConnector3">
            <a:avLst>
              <a:gd fmla="val 39689583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46"/>
          <p:cNvCxnSpPr>
            <a:stCxn id="737" idx="4"/>
            <a:endCxn id="741" idx="4"/>
          </p:cNvCxnSpPr>
          <p:nvPr/>
        </p:nvCxnSpPr>
        <p:spPr>
          <a:xfrm flipH="1" rot="-5400000">
            <a:off x="2577463" y="2415963"/>
            <a:ext cx="8700" cy="1588800"/>
          </a:xfrm>
          <a:prstGeom prst="bentConnector3">
            <a:avLst>
              <a:gd fmla="val 2837787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46"/>
          <p:cNvCxnSpPr>
            <a:stCxn id="734" idx="4"/>
            <a:endCxn id="729" idx="0"/>
          </p:cNvCxnSpPr>
          <p:nvPr/>
        </p:nvCxnSpPr>
        <p:spPr>
          <a:xfrm flipH="1">
            <a:off x="509413" y="2061338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1" name="Google Shape;761;p46"/>
          <p:cNvCxnSpPr>
            <a:stCxn id="743" idx="4"/>
            <a:endCxn id="741" idx="0"/>
          </p:cNvCxnSpPr>
          <p:nvPr/>
        </p:nvCxnSpPr>
        <p:spPr>
          <a:xfrm flipH="1">
            <a:off x="3376225" y="206135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2" name="Google Shape;762;p46"/>
          <p:cNvCxnSpPr>
            <a:stCxn id="732" idx="7"/>
            <a:endCxn id="734" idx="1"/>
          </p:cNvCxnSpPr>
          <p:nvPr/>
        </p:nvCxnSpPr>
        <p:spPr>
          <a:xfrm flipH="1" rot="-5400000">
            <a:off x="1148069" y="1125590"/>
            <a:ext cx="600" cy="839100"/>
          </a:xfrm>
          <a:prstGeom prst="curvedConnector3">
            <a:avLst>
              <a:gd fmla="val -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3" name="Google Shape;763;p46"/>
          <p:cNvCxnSpPr>
            <a:stCxn id="740" idx="7"/>
            <a:endCxn id="743" idx="1"/>
          </p:cNvCxnSpPr>
          <p:nvPr/>
        </p:nvCxnSpPr>
        <p:spPr>
          <a:xfrm flipH="1" rot="-5400000">
            <a:off x="4014882" y="1125602"/>
            <a:ext cx="600" cy="839100"/>
          </a:xfrm>
          <a:prstGeom prst="curvedConnector3">
            <a:avLst>
              <a:gd fmla="val -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4" name="Google Shape;764;p46"/>
          <p:cNvCxnSpPr>
            <a:stCxn id="734" idx="3"/>
            <a:endCxn id="732" idx="5"/>
          </p:cNvCxnSpPr>
          <p:nvPr/>
        </p:nvCxnSpPr>
        <p:spPr>
          <a:xfrm rot="5400000">
            <a:off x="1148006" y="1553473"/>
            <a:ext cx="600" cy="839100"/>
          </a:xfrm>
          <a:prstGeom prst="curvedConnector3">
            <a:avLst>
              <a:gd fmla="val 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5" name="Google Shape;765;p46"/>
          <p:cNvCxnSpPr>
            <a:stCxn id="743" idx="3"/>
            <a:endCxn id="740" idx="5"/>
          </p:cNvCxnSpPr>
          <p:nvPr/>
        </p:nvCxnSpPr>
        <p:spPr>
          <a:xfrm rot="5400000">
            <a:off x="4014818" y="1553485"/>
            <a:ext cx="600" cy="839100"/>
          </a:xfrm>
          <a:prstGeom prst="curvedConnector3">
            <a:avLst>
              <a:gd fmla="val 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6" name="Google Shape;766;p46"/>
          <p:cNvCxnSpPr>
            <a:stCxn id="729" idx="0"/>
            <a:endCxn id="741" idx="0"/>
          </p:cNvCxnSpPr>
          <p:nvPr/>
        </p:nvCxnSpPr>
        <p:spPr>
          <a:xfrm flipH="1" rot="-5400000">
            <a:off x="1942363" y="1176563"/>
            <a:ext cx="600" cy="2866800"/>
          </a:xfrm>
          <a:prstGeom prst="curvedConnector3">
            <a:avLst>
              <a:gd fmla="val -3968750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7" name="Google Shape;767;p46"/>
          <p:cNvCxnSpPr>
            <a:stCxn id="741" idx="4"/>
            <a:endCxn id="729" idx="4"/>
          </p:cNvCxnSpPr>
          <p:nvPr/>
        </p:nvCxnSpPr>
        <p:spPr>
          <a:xfrm rot="5400000">
            <a:off x="1942375" y="1781675"/>
            <a:ext cx="600" cy="2866800"/>
          </a:xfrm>
          <a:prstGeom prst="curvedConnector3">
            <a:avLst>
              <a:gd fmla="val 3968750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8" name="Google Shape;768;p46"/>
          <p:cNvCxnSpPr>
            <a:stCxn id="734" idx="4"/>
            <a:endCxn id="746" idx="0"/>
          </p:cNvCxnSpPr>
          <p:nvPr/>
        </p:nvCxnSpPr>
        <p:spPr>
          <a:xfrm>
            <a:off x="1787413" y="2061338"/>
            <a:ext cx="28668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9" name="Google Shape;769;p46"/>
          <p:cNvCxnSpPr>
            <a:stCxn id="732" idx="4"/>
            <a:endCxn id="746" idx="0"/>
          </p:cNvCxnSpPr>
          <p:nvPr/>
        </p:nvCxnSpPr>
        <p:spPr>
          <a:xfrm>
            <a:off x="509263" y="2061325"/>
            <a:ext cx="41451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0" name="Google Shape;770;p46"/>
          <p:cNvCxnSpPr>
            <a:stCxn id="740" idx="4"/>
            <a:endCxn id="737" idx="0"/>
          </p:cNvCxnSpPr>
          <p:nvPr/>
        </p:nvCxnSpPr>
        <p:spPr>
          <a:xfrm flipH="1">
            <a:off x="1787275" y="2061338"/>
            <a:ext cx="15888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1" name="Google Shape;771;p46"/>
          <p:cNvCxnSpPr>
            <a:stCxn id="743" idx="4"/>
            <a:endCxn id="729" idx="0"/>
          </p:cNvCxnSpPr>
          <p:nvPr/>
        </p:nvCxnSpPr>
        <p:spPr>
          <a:xfrm flipH="1">
            <a:off x="509125" y="2061350"/>
            <a:ext cx="41451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2" name="Google Shape;772;p46"/>
          <p:cNvCxnSpPr>
            <a:stCxn id="737" idx="4"/>
            <a:endCxn id="741" idx="4"/>
          </p:cNvCxnSpPr>
          <p:nvPr/>
        </p:nvCxnSpPr>
        <p:spPr>
          <a:xfrm flipH="1" rot="-5400000">
            <a:off x="2577463" y="2415963"/>
            <a:ext cx="8700" cy="1588800"/>
          </a:xfrm>
          <a:prstGeom prst="bentConnector3">
            <a:avLst>
              <a:gd fmla="val 2837787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3" name="Google Shape;773;p46"/>
          <p:cNvCxnSpPr/>
          <p:nvPr/>
        </p:nvCxnSpPr>
        <p:spPr>
          <a:xfrm>
            <a:off x="5210875" y="1627675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74" name="Google Shape;774;p46"/>
          <p:cNvSpPr txBox="1"/>
          <p:nvPr/>
        </p:nvSpPr>
        <p:spPr>
          <a:xfrm>
            <a:off x="5957275" y="1443338"/>
            <a:ext cx="278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Asymmetric non-kin (romantic)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75" name="Google Shape;775;p46"/>
          <p:cNvCxnSpPr/>
          <p:nvPr/>
        </p:nvCxnSpPr>
        <p:spPr>
          <a:xfrm>
            <a:off x="5210875" y="848275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46"/>
          <p:cNvCxnSpPr/>
          <p:nvPr/>
        </p:nvCxnSpPr>
        <p:spPr>
          <a:xfrm>
            <a:off x="5210875" y="1231325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77" name="Google Shape;777;p46"/>
          <p:cNvSpPr txBox="1"/>
          <p:nvPr/>
        </p:nvSpPr>
        <p:spPr>
          <a:xfrm>
            <a:off x="5957275" y="1046975"/>
            <a:ext cx="29757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Antisymmetric kin (parent of, uncle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78" name="Google Shape;778;p46"/>
          <p:cNvSpPr txBox="1"/>
          <p:nvPr/>
        </p:nvSpPr>
        <p:spPr>
          <a:xfrm>
            <a:off x="5957275" y="663925"/>
            <a:ext cx="26862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Symmetric kin (being a sibling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7"/>
          <p:cNvSpPr txBox="1"/>
          <p:nvPr>
            <p:ph idx="1" type="body"/>
          </p:nvPr>
        </p:nvSpPr>
        <p:spPr>
          <a:xfrm>
            <a:off x="311700" y="4230575"/>
            <a:ext cx="66270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Dyads: Different types of ties concatenate in different ways</a:t>
            </a:r>
            <a:endParaRPr/>
          </a:p>
        </p:txBody>
      </p:sp>
      <p:sp>
        <p:nvSpPr>
          <p:cNvPr id="784" name="Google Shape;784;p47"/>
          <p:cNvSpPr txBox="1"/>
          <p:nvPr/>
        </p:nvSpPr>
        <p:spPr>
          <a:xfrm>
            <a:off x="5740950" y="2387350"/>
            <a:ext cx="32166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Argh. More complication!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Baby has an anti-symmetric kin tie to everyone (grandson/daughter, niece/nephew, etc.)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85" name="Google Shape;785;p47"/>
          <p:cNvCxnSpPr/>
          <p:nvPr/>
        </p:nvCxnSpPr>
        <p:spPr>
          <a:xfrm>
            <a:off x="5210875" y="1627675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6" name="Google Shape;786;p47"/>
          <p:cNvSpPr txBox="1"/>
          <p:nvPr/>
        </p:nvSpPr>
        <p:spPr>
          <a:xfrm>
            <a:off x="5957275" y="1443338"/>
            <a:ext cx="278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Asymmetric non-kin (romantic)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87" name="Google Shape;787;p47"/>
          <p:cNvCxnSpPr/>
          <p:nvPr/>
        </p:nvCxnSpPr>
        <p:spPr>
          <a:xfrm>
            <a:off x="5210875" y="848275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" name="Google Shape;788;p47"/>
          <p:cNvCxnSpPr/>
          <p:nvPr/>
        </p:nvCxnSpPr>
        <p:spPr>
          <a:xfrm>
            <a:off x="5210875" y="1231325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9" name="Google Shape;789;p47"/>
          <p:cNvSpPr txBox="1"/>
          <p:nvPr/>
        </p:nvSpPr>
        <p:spPr>
          <a:xfrm>
            <a:off x="5957275" y="1046975"/>
            <a:ext cx="29757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Antisymmetric kin (parent of, uncle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90" name="Google Shape;790;p47"/>
          <p:cNvSpPr txBox="1"/>
          <p:nvPr/>
        </p:nvSpPr>
        <p:spPr>
          <a:xfrm>
            <a:off x="5957275" y="663925"/>
            <a:ext cx="26862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Symmetric kin (being a sibling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91" name="Google Shape;791;p47"/>
          <p:cNvSpPr/>
          <p:nvPr/>
        </p:nvSpPr>
        <p:spPr>
          <a:xfrm>
            <a:off x="2267388" y="3625463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Baby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92" name="Google Shape;792;p47"/>
          <p:cNvCxnSpPr>
            <a:stCxn id="793" idx="4"/>
            <a:endCxn id="791" idx="2"/>
          </p:cNvCxnSpPr>
          <p:nvPr/>
        </p:nvCxnSpPr>
        <p:spPr>
          <a:xfrm>
            <a:off x="509263" y="3214763"/>
            <a:ext cx="1758000" cy="713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94" name="Google Shape;794;p47"/>
          <p:cNvCxnSpPr>
            <a:endCxn id="791" idx="6"/>
          </p:cNvCxnSpPr>
          <p:nvPr/>
        </p:nvCxnSpPr>
        <p:spPr>
          <a:xfrm flipH="1">
            <a:off x="2888388" y="3060413"/>
            <a:ext cx="483900" cy="8676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95" name="Google Shape;795;p47"/>
          <p:cNvSpPr/>
          <p:nvPr/>
        </p:nvSpPr>
        <p:spPr>
          <a:xfrm>
            <a:off x="198763" y="14562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93" name="Google Shape;793;p47"/>
          <p:cNvSpPr/>
          <p:nvPr/>
        </p:nvSpPr>
        <p:spPr>
          <a:xfrm>
            <a:off x="198763" y="2609663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You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96" name="Google Shape;796;p47"/>
          <p:cNvCxnSpPr>
            <a:stCxn id="795" idx="4"/>
            <a:endCxn id="793" idx="0"/>
          </p:cNvCxnSpPr>
          <p:nvPr/>
        </p:nvCxnSpPr>
        <p:spPr>
          <a:xfrm>
            <a:off x="509263" y="2061325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97" name="Google Shape;797;p47"/>
          <p:cNvSpPr/>
          <p:nvPr/>
        </p:nvSpPr>
        <p:spPr>
          <a:xfrm>
            <a:off x="1476913" y="145623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98" name="Google Shape;798;p47"/>
          <p:cNvCxnSpPr>
            <a:stCxn id="795" idx="6"/>
            <a:endCxn id="797" idx="2"/>
          </p:cNvCxnSpPr>
          <p:nvPr/>
        </p:nvCxnSpPr>
        <p:spPr>
          <a:xfrm>
            <a:off x="819763" y="1758775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9" name="Google Shape;799;p47"/>
          <p:cNvCxnSpPr>
            <a:stCxn id="793" idx="6"/>
            <a:endCxn id="800" idx="2"/>
          </p:cNvCxnSpPr>
          <p:nvPr/>
        </p:nvCxnSpPr>
        <p:spPr>
          <a:xfrm flipH="1" rot="10800000">
            <a:off x="819763" y="2903513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0" name="Google Shape;800;p47"/>
          <p:cNvSpPr/>
          <p:nvPr/>
        </p:nvSpPr>
        <p:spPr>
          <a:xfrm>
            <a:off x="1476913" y="2600913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Sis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01" name="Google Shape;801;p47"/>
          <p:cNvCxnSpPr>
            <a:stCxn id="797" idx="4"/>
            <a:endCxn id="800" idx="0"/>
          </p:cNvCxnSpPr>
          <p:nvPr/>
        </p:nvCxnSpPr>
        <p:spPr>
          <a:xfrm>
            <a:off x="1787413" y="2061338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2" name="Google Shape;802;p47"/>
          <p:cNvCxnSpPr>
            <a:stCxn id="795" idx="4"/>
            <a:endCxn id="800" idx="0"/>
          </p:cNvCxnSpPr>
          <p:nvPr/>
        </p:nvCxnSpPr>
        <p:spPr>
          <a:xfrm>
            <a:off x="509263" y="2061325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03" name="Google Shape;803;p47"/>
          <p:cNvSpPr/>
          <p:nvPr/>
        </p:nvSpPr>
        <p:spPr>
          <a:xfrm>
            <a:off x="3065575" y="145623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04" name="Google Shape;804;p47"/>
          <p:cNvSpPr/>
          <p:nvPr/>
        </p:nvSpPr>
        <p:spPr>
          <a:xfrm>
            <a:off x="3065575" y="26096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Riley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05" name="Google Shape;805;p47"/>
          <p:cNvCxnSpPr>
            <a:stCxn id="803" idx="4"/>
            <a:endCxn id="804" idx="0"/>
          </p:cNvCxnSpPr>
          <p:nvPr/>
        </p:nvCxnSpPr>
        <p:spPr>
          <a:xfrm>
            <a:off x="3376075" y="206133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06" name="Google Shape;806;p47"/>
          <p:cNvSpPr/>
          <p:nvPr/>
        </p:nvSpPr>
        <p:spPr>
          <a:xfrm>
            <a:off x="4343725" y="14562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07" name="Google Shape;807;p47"/>
          <p:cNvCxnSpPr>
            <a:stCxn id="803" idx="6"/>
            <a:endCxn id="806" idx="2"/>
          </p:cNvCxnSpPr>
          <p:nvPr/>
        </p:nvCxnSpPr>
        <p:spPr>
          <a:xfrm>
            <a:off x="3686575" y="1758788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47"/>
          <p:cNvCxnSpPr>
            <a:stCxn id="804" idx="6"/>
            <a:endCxn id="809" idx="2"/>
          </p:cNvCxnSpPr>
          <p:nvPr/>
        </p:nvCxnSpPr>
        <p:spPr>
          <a:xfrm flipH="1" rot="10800000">
            <a:off x="3686575" y="290352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9" name="Google Shape;809;p47"/>
          <p:cNvSpPr/>
          <p:nvPr/>
        </p:nvSpPr>
        <p:spPr>
          <a:xfrm>
            <a:off x="4343725" y="26009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Bro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10" name="Google Shape;810;p47"/>
          <p:cNvCxnSpPr>
            <a:stCxn id="806" idx="4"/>
            <a:endCxn id="809" idx="0"/>
          </p:cNvCxnSpPr>
          <p:nvPr/>
        </p:nvCxnSpPr>
        <p:spPr>
          <a:xfrm>
            <a:off x="4654225" y="206135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1" name="Google Shape;811;p47"/>
          <p:cNvCxnSpPr>
            <a:stCxn id="803" idx="4"/>
            <a:endCxn id="809" idx="0"/>
          </p:cNvCxnSpPr>
          <p:nvPr/>
        </p:nvCxnSpPr>
        <p:spPr>
          <a:xfrm>
            <a:off x="3376075" y="206133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12" name="Google Shape;812;p47"/>
          <p:cNvSpPr txBox="1"/>
          <p:nvPr/>
        </p:nvSpPr>
        <p:spPr>
          <a:xfrm>
            <a:off x="430225" y="636075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Family 1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13" name="Google Shape;813;p47"/>
          <p:cNvSpPr txBox="1"/>
          <p:nvPr/>
        </p:nvSpPr>
        <p:spPr>
          <a:xfrm>
            <a:off x="3299413" y="63605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Family 2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14" name="Google Shape;814;p47"/>
          <p:cNvCxnSpPr/>
          <p:nvPr/>
        </p:nvCxnSpPr>
        <p:spPr>
          <a:xfrm>
            <a:off x="2577900" y="160000"/>
            <a:ext cx="0" cy="3687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15" name="Google Shape;815;p47"/>
          <p:cNvCxnSpPr>
            <a:stCxn id="793" idx="4"/>
            <a:endCxn id="804" idx="4"/>
          </p:cNvCxnSpPr>
          <p:nvPr/>
        </p:nvCxnSpPr>
        <p:spPr>
          <a:xfrm flipH="1" rot="-5400000">
            <a:off x="1942363" y="1781663"/>
            <a:ext cx="600" cy="2866800"/>
          </a:xfrm>
          <a:prstGeom prst="bentConnector3">
            <a:avLst>
              <a:gd fmla="val 39689583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6" name="Google Shape;816;p47"/>
          <p:cNvCxnSpPr>
            <a:stCxn id="795" idx="4"/>
            <a:endCxn id="804" idx="0"/>
          </p:cNvCxnSpPr>
          <p:nvPr/>
        </p:nvCxnSpPr>
        <p:spPr>
          <a:xfrm>
            <a:off x="509263" y="2061325"/>
            <a:ext cx="28668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7" name="Google Shape;817;p47"/>
          <p:cNvCxnSpPr>
            <a:stCxn id="803" idx="4"/>
            <a:endCxn id="793" idx="0"/>
          </p:cNvCxnSpPr>
          <p:nvPr/>
        </p:nvCxnSpPr>
        <p:spPr>
          <a:xfrm flipH="1">
            <a:off x="509275" y="2061338"/>
            <a:ext cx="28668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47"/>
          <p:cNvCxnSpPr>
            <a:stCxn id="797" idx="4"/>
            <a:endCxn id="804" idx="0"/>
          </p:cNvCxnSpPr>
          <p:nvPr/>
        </p:nvCxnSpPr>
        <p:spPr>
          <a:xfrm>
            <a:off x="1787413" y="2061338"/>
            <a:ext cx="15888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9" name="Google Shape;819;p47"/>
          <p:cNvCxnSpPr>
            <a:stCxn id="806" idx="4"/>
            <a:endCxn id="800" idx="0"/>
          </p:cNvCxnSpPr>
          <p:nvPr/>
        </p:nvCxnSpPr>
        <p:spPr>
          <a:xfrm flipH="1">
            <a:off x="1787425" y="2061350"/>
            <a:ext cx="28668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0" name="Google Shape;820;p47"/>
          <p:cNvCxnSpPr>
            <a:stCxn id="793" idx="4"/>
            <a:endCxn id="809" idx="4"/>
          </p:cNvCxnSpPr>
          <p:nvPr/>
        </p:nvCxnSpPr>
        <p:spPr>
          <a:xfrm rot="-5400000">
            <a:off x="2577463" y="1137863"/>
            <a:ext cx="8700" cy="4145100"/>
          </a:xfrm>
          <a:prstGeom prst="bentConnector3">
            <a:avLst>
              <a:gd fmla="val -2737069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1" name="Google Shape;821;p47"/>
          <p:cNvCxnSpPr>
            <a:stCxn id="800" idx="4"/>
            <a:endCxn id="809" idx="4"/>
          </p:cNvCxnSpPr>
          <p:nvPr/>
        </p:nvCxnSpPr>
        <p:spPr>
          <a:xfrm flipH="1" rot="-5400000">
            <a:off x="3220513" y="1772913"/>
            <a:ext cx="600" cy="2866800"/>
          </a:xfrm>
          <a:prstGeom prst="bentConnector3">
            <a:avLst>
              <a:gd fmla="val 39689583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2" name="Google Shape;822;p47"/>
          <p:cNvCxnSpPr>
            <a:stCxn id="800" idx="4"/>
            <a:endCxn id="804" idx="4"/>
          </p:cNvCxnSpPr>
          <p:nvPr/>
        </p:nvCxnSpPr>
        <p:spPr>
          <a:xfrm flipH="1" rot="-5400000">
            <a:off x="2577463" y="2415963"/>
            <a:ext cx="8700" cy="1588800"/>
          </a:xfrm>
          <a:prstGeom prst="bentConnector3">
            <a:avLst>
              <a:gd fmla="val 2837787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47"/>
          <p:cNvCxnSpPr>
            <a:stCxn id="797" idx="4"/>
            <a:endCxn id="793" idx="0"/>
          </p:cNvCxnSpPr>
          <p:nvPr/>
        </p:nvCxnSpPr>
        <p:spPr>
          <a:xfrm flipH="1">
            <a:off x="509413" y="2061338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4" name="Google Shape;824;p47"/>
          <p:cNvCxnSpPr>
            <a:stCxn id="806" idx="4"/>
            <a:endCxn id="804" idx="0"/>
          </p:cNvCxnSpPr>
          <p:nvPr/>
        </p:nvCxnSpPr>
        <p:spPr>
          <a:xfrm flipH="1">
            <a:off x="3376225" y="206135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5" name="Google Shape;825;p47"/>
          <p:cNvCxnSpPr>
            <a:stCxn id="795" idx="7"/>
            <a:endCxn id="797" idx="1"/>
          </p:cNvCxnSpPr>
          <p:nvPr/>
        </p:nvCxnSpPr>
        <p:spPr>
          <a:xfrm flipH="1" rot="-5400000">
            <a:off x="1148069" y="1125590"/>
            <a:ext cx="600" cy="839100"/>
          </a:xfrm>
          <a:prstGeom prst="curvedConnector3">
            <a:avLst>
              <a:gd fmla="val -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6" name="Google Shape;826;p47"/>
          <p:cNvCxnSpPr>
            <a:stCxn id="803" idx="7"/>
            <a:endCxn id="806" idx="1"/>
          </p:cNvCxnSpPr>
          <p:nvPr/>
        </p:nvCxnSpPr>
        <p:spPr>
          <a:xfrm flipH="1" rot="-5400000">
            <a:off x="4014882" y="1125602"/>
            <a:ext cx="600" cy="839100"/>
          </a:xfrm>
          <a:prstGeom prst="curvedConnector3">
            <a:avLst>
              <a:gd fmla="val -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7" name="Google Shape;827;p47"/>
          <p:cNvCxnSpPr>
            <a:stCxn id="797" idx="3"/>
            <a:endCxn id="795" idx="5"/>
          </p:cNvCxnSpPr>
          <p:nvPr/>
        </p:nvCxnSpPr>
        <p:spPr>
          <a:xfrm rot="5400000">
            <a:off x="1148006" y="1553473"/>
            <a:ext cx="600" cy="839100"/>
          </a:xfrm>
          <a:prstGeom prst="curvedConnector3">
            <a:avLst>
              <a:gd fmla="val 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8" name="Google Shape;828;p47"/>
          <p:cNvCxnSpPr>
            <a:stCxn id="806" idx="3"/>
            <a:endCxn id="803" idx="5"/>
          </p:cNvCxnSpPr>
          <p:nvPr/>
        </p:nvCxnSpPr>
        <p:spPr>
          <a:xfrm rot="5400000">
            <a:off x="4014818" y="1553485"/>
            <a:ext cx="600" cy="839100"/>
          </a:xfrm>
          <a:prstGeom prst="curvedConnector3">
            <a:avLst>
              <a:gd fmla="val 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9" name="Google Shape;829;p47"/>
          <p:cNvCxnSpPr>
            <a:stCxn id="793" idx="0"/>
            <a:endCxn id="804" idx="0"/>
          </p:cNvCxnSpPr>
          <p:nvPr/>
        </p:nvCxnSpPr>
        <p:spPr>
          <a:xfrm flipH="1" rot="-5400000">
            <a:off x="1942363" y="1176563"/>
            <a:ext cx="600" cy="2866800"/>
          </a:xfrm>
          <a:prstGeom prst="curvedConnector3">
            <a:avLst>
              <a:gd fmla="val -3968750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30" name="Google Shape;830;p47"/>
          <p:cNvCxnSpPr>
            <a:stCxn id="804" idx="4"/>
            <a:endCxn id="793" idx="4"/>
          </p:cNvCxnSpPr>
          <p:nvPr/>
        </p:nvCxnSpPr>
        <p:spPr>
          <a:xfrm rot="5400000">
            <a:off x="1942375" y="1781675"/>
            <a:ext cx="600" cy="2866800"/>
          </a:xfrm>
          <a:prstGeom prst="curvedConnector3">
            <a:avLst>
              <a:gd fmla="val 3968750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31" name="Google Shape;831;p47"/>
          <p:cNvCxnSpPr>
            <a:stCxn id="797" idx="4"/>
            <a:endCxn id="809" idx="0"/>
          </p:cNvCxnSpPr>
          <p:nvPr/>
        </p:nvCxnSpPr>
        <p:spPr>
          <a:xfrm>
            <a:off x="1787413" y="2061338"/>
            <a:ext cx="28668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32" name="Google Shape;832;p47"/>
          <p:cNvCxnSpPr>
            <a:stCxn id="795" idx="4"/>
            <a:endCxn id="809" idx="0"/>
          </p:cNvCxnSpPr>
          <p:nvPr/>
        </p:nvCxnSpPr>
        <p:spPr>
          <a:xfrm>
            <a:off x="509263" y="2061325"/>
            <a:ext cx="41451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33" name="Google Shape;833;p47"/>
          <p:cNvCxnSpPr>
            <a:stCxn id="803" idx="4"/>
            <a:endCxn id="800" idx="0"/>
          </p:cNvCxnSpPr>
          <p:nvPr/>
        </p:nvCxnSpPr>
        <p:spPr>
          <a:xfrm flipH="1">
            <a:off x="1787275" y="2061338"/>
            <a:ext cx="15888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34" name="Google Shape;834;p47"/>
          <p:cNvCxnSpPr>
            <a:stCxn id="806" idx="4"/>
            <a:endCxn id="793" idx="0"/>
          </p:cNvCxnSpPr>
          <p:nvPr/>
        </p:nvCxnSpPr>
        <p:spPr>
          <a:xfrm flipH="1">
            <a:off x="509125" y="2061350"/>
            <a:ext cx="41451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35" name="Google Shape;835;p47"/>
          <p:cNvCxnSpPr>
            <a:stCxn id="800" idx="4"/>
            <a:endCxn id="804" idx="4"/>
          </p:cNvCxnSpPr>
          <p:nvPr/>
        </p:nvCxnSpPr>
        <p:spPr>
          <a:xfrm flipH="1" rot="-5400000">
            <a:off x="2577463" y="2415963"/>
            <a:ext cx="8700" cy="1588800"/>
          </a:xfrm>
          <a:prstGeom prst="bentConnector3">
            <a:avLst>
              <a:gd fmla="val 2837787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6" name="Google Shape;836;p47"/>
          <p:cNvCxnSpPr>
            <a:stCxn id="795" idx="2"/>
            <a:endCxn id="791" idx="2"/>
          </p:cNvCxnSpPr>
          <p:nvPr/>
        </p:nvCxnSpPr>
        <p:spPr>
          <a:xfrm>
            <a:off x="198763" y="1758775"/>
            <a:ext cx="2068500" cy="2169300"/>
          </a:xfrm>
          <a:prstGeom prst="bentConnector3">
            <a:avLst>
              <a:gd fmla="val -6708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37" name="Google Shape;837;p47"/>
          <p:cNvCxnSpPr>
            <a:stCxn id="806" idx="6"/>
            <a:endCxn id="791" idx="6"/>
          </p:cNvCxnSpPr>
          <p:nvPr/>
        </p:nvCxnSpPr>
        <p:spPr>
          <a:xfrm flipH="1">
            <a:off x="2888425" y="1758800"/>
            <a:ext cx="2076300" cy="2169300"/>
          </a:xfrm>
          <a:prstGeom prst="bentConnector3">
            <a:avLst>
              <a:gd fmla="val -11469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38" name="Google Shape;838;p47"/>
          <p:cNvCxnSpPr>
            <a:stCxn id="809" idx="4"/>
            <a:endCxn id="791" idx="6"/>
          </p:cNvCxnSpPr>
          <p:nvPr/>
        </p:nvCxnSpPr>
        <p:spPr>
          <a:xfrm flipH="1">
            <a:off x="2888425" y="3206025"/>
            <a:ext cx="1765800" cy="7221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39" name="Google Shape;839;p47"/>
          <p:cNvCxnSpPr>
            <a:stCxn id="803" idx="4"/>
            <a:endCxn id="791" idx="0"/>
          </p:cNvCxnSpPr>
          <p:nvPr/>
        </p:nvCxnSpPr>
        <p:spPr>
          <a:xfrm flipH="1">
            <a:off x="2577775" y="2061338"/>
            <a:ext cx="798300" cy="1564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40" name="Google Shape;840;p47"/>
          <p:cNvCxnSpPr>
            <a:stCxn id="797" idx="4"/>
            <a:endCxn id="791" idx="0"/>
          </p:cNvCxnSpPr>
          <p:nvPr/>
        </p:nvCxnSpPr>
        <p:spPr>
          <a:xfrm>
            <a:off x="1787413" y="2061338"/>
            <a:ext cx="790500" cy="1564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41" name="Google Shape;841;p47"/>
          <p:cNvCxnSpPr>
            <a:stCxn id="800" idx="4"/>
            <a:endCxn id="791" idx="2"/>
          </p:cNvCxnSpPr>
          <p:nvPr/>
        </p:nvCxnSpPr>
        <p:spPr>
          <a:xfrm>
            <a:off x="1787413" y="3206013"/>
            <a:ext cx="480000" cy="7221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 properties: Strength</a:t>
            </a:r>
            <a:endParaRPr/>
          </a:p>
        </p:txBody>
      </p:sp>
      <p:sp>
        <p:nvSpPr>
          <p:cNvPr id="847" name="Google Shape;847;p48"/>
          <p:cNvSpPr txBox="1"/>
          <p:nvPr/>
        </p:nvSpPr>
        <p:spPr>
          <a:xfrm>
            <a:off x="593100" y="3648950"/>
            <a:ext cx="79578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i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“The strength of a tie is a...combination of the amount of time, the emotional intensity, the intimacy (mutual confiding) and the reciprocal services which characterize the tie”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(Granovetter 1973:  1361).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48"/>
          <p:cNvSpPr/>
          <p:nvPr/>
        </p:nvSpPr>
        <p:spPr>
          <a:xfrm>
            <a:off x="3659261" y="1181868"/>
            <a:ext cx="1825500" cy="525300"/>
          </a:xfrm>
          <a:prstGeom prst="rect">
            <a:avLst/>
          </a:prstGeom>
          <a:solidFill>
            <a:srgbClr val="085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Tie Strength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49" name="Google Shape;849;p48"/>
          <p:cNvSpPr/>
          <p:nvPr/>
        </p:nvSpPr>
        <p:spPr>
          <a:xfrm>
            <a:off x="89574" y="2135434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Duration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50" name="Google Shape;850;p48"/>
          <p:cNvSpPr/>
          <p:nvPr/>
        </p:nvSpPr>
        <p:spPr>
          <a:xfrm>
            <a:off x="1908667" y="2135446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Time Spent Together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51" name="Google Shape;851;p48"/>
          <p:cNvSpPr/>
          <p:nvPr/>
        </p:nvSpPr>
        <p:spPr>
          <a:xfrm>
            <a:off x="6668684" y="3089003"/>
            <a:ext cx="1825500" cy="5253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Communication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52" name="Google Shape;852;p48"/>
          <p:cNvSpPr/>
          <p:nvPr/>
        </p:nvSpPr>
        <p:spPr>
          <a:xfrm>
            <a:off x="4662398" y="3089003"/>
            <a:ext cx="1825500" cy="5253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Exchanges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53" name="Google Shape;853;p48"/>
          <p:cNvSpPr/>
          <p:nvPr/>
        </p:nvSpPr>
        <p:spPr>
          <a:xfrm>
            <a:off x="2656100" y="3089003"/>
            <a:ext cx="1825500" cy="5253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Sentiment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54" name="Google Shape;854;p48"/>
          <p:cNvSpPr/>
          <p:nvPr/>
        </p:nvSpPr>
        <p:spPr>
          <a:xfrm>
            <a:off x="649814" y="3089003"/>
            <a:ext cx="1825500" cy="5253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Similarities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55" name="Google Shape;855;p48"/>
          <p:cNvCxnSpPr>
            <a:stCxn id="848" idx="2"/>
            <a:endCxn id="850" idx="0"/>
          </p:cNvCxnSpPr>
          <p:nvPr/>
        </p:nvCxnSpPr>
        <p:spPr>
          <a:xfrm rot="5400000">
            <a:off x="3453461" y="1017018"/>
            <a:ext cx="428400" cy="1808700"/>
          </a:xfrm>
          <a:prstGeom prst="bentConnector3">
            <a:avLst>
              <a:gd fmla="val 49986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6" name="Google Shape;856;p48"/>
          <p:cNvCxnSpPr>
            <a:stCxn id="849" idx="0"/>
            <a:endCxn id="848" idx="2"/>
          </p:cNvCxnSpPr>
          <p:nvPr/>
        </p:nvCxnSpPr>
        <p:spPr>
          <a:xfrm rot="-5400000">
            <a:off x="2543874" y="107284"/>
            <a:ext cx="428400" cy="3627900"/>
          </a:xfrm>
          <a:prstGeom prst="bentConnector3">
            <a:avLst>
              <a:gd fmla="val 49984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7" name="Google Shape;857;p48"/>
          <p:cNvCxnSpPr>
            <a:stCxn id="854" idx="0"/>
            <a:endCxn id="849" idx="2"/>
          </p:cNvCxnSpPr>
          <p:nvPr/>
        </p:nvCxnSpPr>
        <p:spPr>
          <a:xfrm flipH="1" rot="5400000">
            <a:off x="1039214" y="2565653"/>
            <a:ext cx="428400" cy="618300"/>
          </a:xfrm>
          <a:prstGeom prst="bentConnector3">
            <a:avLst>
              <a:gd fmla="val 49985" name="adj1"/>
            </a:avLst>
          </a:prstGeom>
          <a:noFill/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8" name="Google Shape;858;p48"/>
          <p:cNvSpPr/>
          <p:nvPr/>
        </p:nvSpPr>
        <p:spPr>
          <a:xfrm>
            <a:off x="3724593" y="2135446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Emotional Intensity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59" name="Google Shape;859;p48"/>
          <p:cNvSpPr/>
          <p:nvPr/>
        </p:nvSpPr>
        <p:spPr>
          <a:xfrm>
            <a:off x="5587868" y="2135434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Intimacy/Confiding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60" name="Google Shape;860;p48"/>
          <p:cNvSpPr/>
          <p:nvPr/>
        </p:nvSpPr>
        <p:spPr>
          <a:xfrm>
            <a:off x="7359635" y="2135438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Interaction Freq.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61" name="Google Shape;861;p48"/>
          <p:cNvCxnSpPr>
            <a:stCxn id="858" idx="0"/>
            <a:endCxn id="848" idx="2"/>
          </p:cNvCxnSpPr>
          <p:nvPr/>
        </p:nvCxnSpPr>
        <p:spPr>
          <a:xfrm flipH="1" rot="5400000">
            <a:off x="4361343" y="1917646"/>
            <a:ext cx="428400" cy="7200"/>
          </a:xfrm>
          <a:prstGeom prst="bentConnector3">
            <a:avLst>
              <a:gd fmla="val 49986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2" name="Google Shape;862;p48"/>
          <p:cNvCxnSpPr>
            <a:stCxn id="859" idx="0"/>
            <a:endCxn id="848" idx="2"/>
          </p:cNvCxnSpPr>
          <p:nvPr/>
        </p:nvCxnSpPr>
        <p:spPr>
          <a:xfrm flipH="1" rot="5400000">
            <a:off x="5292968" y="985984"/>
            <a:ext cx="428400" cy="1870500"/>
          </a:xfrm>
          <a:prstGeom prst="bentConnector3">
            <a:avLst>
              <a:gd fmla="val 49984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3" name="Google Shape;863;p48"/>
          <p:cNvCxnSpPr>
            <a:stCxn id="848" idx="2"/>
            <a:endCxn id="860" idx="0"/>
          </p:cNvCxnSpPr>
          <p:nvPr/>
        </p:nvCxnSpPr>
        <p:spPr>
          <a:xfrm flipH="1" rot="-5400000">
            <a:off x="6178961" y="100218"/>
            <a:ext cx="428400" cy="3642300"/>
          </a:xfrm>
          <a:prstGeom prst="bentConnector3">
            <a:avLst>
              <a:gd fmla="val 49985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4" name="Google Shape;864;p48"/>
          <p:cNvCxnSpPr>
            <a:stCxn id="854" idx="0"/>
            <a:endCxn id="850" idx="2"/>
          </p:cNvCxnSpPr>
          <p:nvPr/>
        </p:nvCxnSpPr>
        <p:spPr>
          <a:xfrm rot="-5400000">
            <a:off x="1948664" y="2274503"/>
            <a:ext cx="428400" cy="1200600"/>
          </a:xfrm>
          <a:prstGeom prst="bentConnector3">
            <a:avLst>
              <a:gd fmla="val 49983" name="adj1"/>
            </a:avLst>
          </a:prstGeom>
          <a:noFill/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5" name="Google Shape;865;p48"/>
          <p:cNvCxnSpPr>
            <a:stCxn id="853" idx="0"/>
            <a:endCxn id="858" idx="2"/>
          </p:cNvCxnSpPr>
          <p:nvPr/>
        </p:nvCxnSpPr>
        <p:spPr>
          <a:xfrm rot="-5400000">
            <a:off x="3859850" y="2369603"/>
            <a:ext cx="428400" cy="1010400"/>
          </a:xfrm>
          <a:prstGeom prst="bentConnector3">
            <a:avLst>
              <a:gd fmla="val 49983" name="adj1"/>
            </a:avLst>
          </a:prstGeom>
          <a:noFill/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6" name="Google Shape;866;p48"/>
          <p:cNvCxnSpPr>
            <a:stCxn id="852" idx="0"/>
            <a:endCxn id="859" idx="2"/>
          </p:cNvCxnSpPr>
          <p:nvPr/>
        </p:nvCxnSpPr>
        <p:spPr>
          <a:xfrm rot="-5400000">
            <a:off x="5794598" y="2441153"/>
            <a:ext cx="428400" cy="867300"/>
          </a:xfrm>
          <a:prstGeom prst="bentConnector3">
            <a:avLst>
              <a:gd fmla="val 49985" name="adj1"/>
            </a:avLst>
          </a:prstGeom>
          <a:noFill/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7" name="Google Shape;867;p48"/>
          <p:cNvCxnSpPr>
            <a:stCxn id="851" idx="0"/>
            <a:endCxn id="860" idx="2"/>
          </p:cNvCxnSpPr>
          <p:nvPr/>
        </p:nvCxnSpPr>
        <p:spPr>
          <a:xfrm rot="-5400000">
            <a:off x="7683584" y="2558453"/>
            <a:ext cx="428400" cy="632700"/>
          </a:xfrm>
          <a:prstGeom prst="bentConnector3">
            <a:avLst>
              <a:gd fmla="val 49984" name="adj1"/>
            </a:avLst>
          </a:prstGeom>
          <a:noFill/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measure tie strength?</a:t>
            </a:r>
            <a:endParaRPr/>
          </a:p>
        </p:txBody>
      </p:sp>
      <p:sp>
        <p:nvSpPr>
          <p:cNvPr id="873" name="Google Shape;873;p4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approach: Use role relations as a proxy for strength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Family</a:t>
            </a:r>
            <a:r>
              <a:rPr lang="en"/>
              <a:t> and </a:t>
            </a:r>
            <a:r>
              <a:rPr b="1" lang="en"/>
              <a:t>Friends</a:t>
            </a:r>
            <a:r>
              <a:rPr lang="en"/>
              <a:t> are </a:t>
            </a:r>
            <a:r>
              <a:rPr b="1" lang="en"/>
              <a:t>strong</a:t>
            </a:r>
            <a:r>
              <a:rPr lang="en"/>
              <a:t> ties, </a:t>
            </a:r>
            <a:r>
              <a:rPr b="1" lang="en"/>
              <a:t>acquaintances</a:t>
            </a:r>
            <a:r>
              <a:rPr lang="en"/>
              <a:t>, </a:t>
            </a:r>
            <a:r>
              <a:rPr b="1" lang="en"/>
              <a:t>co-workers</a:t>
            </a:r>
            <a:r>
              <a:rPr lang="en"/>
              <a:t>, and </a:t>
            </a:r>
            <a:r>
              <a:rPr b="1" lang="en"/>
              <a:t>neighbors</a:t>
            </a:r>
            <a:r>
              <a:rPr lang="en"/>
              <a:t> are </a:t>
            </a:r>
            <a:r>
              <a:rPr b="1" lang="en"/>
              <a:t>weak</a:t>
            </a:r>
            <a:r>
              <a:rPr lang="en"/>
              <a:t>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What’s the problem with this?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Another approach: Use interaction frequencies as a proxy for strength: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People you see or interact with </a:t>
            </a:r>
            <a:r>
              <a:rPr b="1" lang="en">
                <a:solidFill>
                  <a:srgbClr val="000000"/>
                </a:solidFill>
              </a:rPr>
              <a:t>frequently</a:t>
            </a:r>
            <a:r>
              <a:rPr lang="en">
                <a:solidFill>
                  <a:srgbClr val="000000"/>
                </a:solidFill>
              </a:rPr>
              <a:t> are </a:t>
            </a:r>
            <a:r>
              <a:rPr b="1" lang="en">
                <a:solidFill>
                  <a:srgbClr val="000000"/>
                </a:solidFill>
              </a:rPr>
              <a:t>strong</a:t>
            </a:r>
            <a:r>
              <a:rPr lang="en">
                <a:solidFill>
                  <a:srgbClr val="000000"/>
                </a:solidFill>
              </a:rPr>
              <a:t> ties, people who you do </a:t>
            </a:r>
            <a:r>
              <a:rPr b="1" lang="en">
                <a:solidFill>
                  <a:srgbClr val="000000"/>
                </a:solidFill>
              </a:rPr>
              <a:t>not</a:t>
            </a:r>
            <a:r>
              <a:rPr lang="en">
                <a:solidFill>
                  <a:srgbClr val="000000"/>
                </a:solidFill>
              </a:rPr>
              <a:t> see or interact with frequently are </a:t>
            </a:r>
            <a:r>
              <a:rPr b="1" lang="en">
                <a:solidFill>
                  <a:srgbClr val="000000"/>
                </a:solidFill>
              </a:rPr>
              <a:t>weak</a:t>
            </a:r>
            <a:r>
              <a:rPr lang="en">
                <a:solidFill>
                  <a:srgbClr val="000000"/>
                </a:solidFill>
              </a:rPr>
              <a:t> ties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What’s the problem with this?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Yet another approach: Use the number of different types of ties linking people as a proxy for strength: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Multiplex ties are strong and “uniplex” ties are weak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What’s the problem with this?</a:t>
            </a:r>
            <a:endParaRPr>
              <a:solidFill>
                <a:srgbClr val="FF0000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measure tie strength?</a:t>
            </a:r>
            <a:endParaRPr/>
          </a:p>
        </p:txBody>
      </p:sp>
      <p:sp>
        <p:nvSpPr>
          <p:cNvPr id="879" name="Google Shape;879;p50"/>
          <p:cNvSpPr txBox="1"/>
          <p:nvPr>
            <p:ph idx="1" type="body"/>
          </p:nvPr>
        </p:nvSpPr>
        <p:spPr>
          <a:xfrm>
            <a:off x="311700" y="1225225"/>
            <a:ext cx="507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Best approach: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Marsden and Campbell’s (1984) Indicator/Predictor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Combines different criteria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Distinguishes between tie properties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Predict Strength (Predictors)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Caused by Strength (Indicators)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50"/>
          <p:cNvSpPr/>
          <p:nvPr/>
        </p:nvSpPr>
        <p:spPr>
          <a:xfrm>
            <a:off x="6143000" y="2758175"/>
            <a:ext cx="2100000" cy="6531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Economica"/>
                <a:ea typeface="Economica"/>
                <a:cs typeface="Economica"/>
                <a:sym typeface="Economica"/>
              </a:rPr>
              <a:t>Tie Strength</a:t>
            </a:r>
            <a:endParaRPr sz="20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81" name="Google Shape;881;p50"/>
          <p:cNvSpPr/>
          <p:nvPr/>
        </p:nvSpPr>
        <p:spPr>
          <a:xfrm>
            <a:off x="5558250" y="4062075"/>
            <a:ext cx="919200" cy="320100"/>
          </a:xfrm>
          <a:prstGeom prst="rect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Sentiment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82" name="Google Shape;882;p50"/>
          <p:cNvSpPr/>
          <p:nvPr/>
        </p:nvSpPr>
        <p:spPr>
          <a:xfrm>
            <a:off x="6724427" y="4062082"/>
            <a:ext cx="919200" cy="320100"/>
          </a:xfrm>
          <a:prstGeom prst="rect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Interaction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83" name="Google Shape;883;p50"/>
          <p:cNvSpPr/>
          <p:nvPr/>
        </p:nvSpPr>
        <p:spPr>
          <a:xfrm>
            <a:off x="7783227" y="4062082"/>
            <a:ext cx="919200" cy="320100"/>
          </a:xfrm>
          <a:prstGeom prst="rect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Exchange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84" name="Google Shape;884;p50"/>
          <p:cNvCxnSpPr>
            <a:stCxn id="880" idx="4"/>
            <a:endCxn id="881" idx="0"/>
          </p:cNvCxnSpPr>
          <p:nvPr/>
        </p:nvCxnSpPr>
        <p:spPr>
          <a:xfrm flipH="1">
            <a:off x="6017900" y="3411275"/>
            <a:ext cx="1175100" cy="650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5" name="Google Shape;885;p50"/>
          <p:cNvCxnSpPr>
            <a:stCxn id="880" idx="4"/>
            <a:endCxn id="882" idx="0"/>
          </p:cNvCxnSpPr>
          <p:nvPr/>
        </p:nvCxnSpPr>
        <p:spPr>
          <a:xfrm flipH="1">
            <a:off x="7184000" y="3411275"/>
            <a:ext cx="9000" cy="650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6" name="Google Shape;886;p50"/>
          <p:cNvCxnSpPr>
            <a:stCxn id="880" idx="4"/>
            <a:endCxn id="883" idx="0"/>
          </p:cNvCxnSpPr>
          <p:nvPr/>
        </p:nvCxnSpPr>
        <p:spPr>
          <a:xfrm>
            <a:off x="7193000" y="3411275"/>
            <a:ext cx="1049700" cy="650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7" name="Google Shape;887;p50"/>
          <p:cNvSpPr/>
          <p:nvPr/>
        </p:nvSpPr>
        <p:spPr>
          <a:xfrm>
            <a:off x="7383350" y="1539475"/>
            <a:ext cx="1518000" cy="567900"/>
          </a:xfrm>
          <a:prstGeom prst="rect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Similarities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88" name="Google Shape;888;p50"/>
          <p:cNvSpPr/>
          <p:nvPr/>
        </p:nvSpPr>
        <p:spPr>
          <a:xfrm>
            <a:off x="5528438" y="1539475"/>
            <a:ext cx="1518000" cy="567900"/>
          </a:xfrm>
          <a:prstGeom prst="rect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Role Relations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89" name="Google Shape;889;p50"/>
          <p:cNvCxnSpPr>
            <a:stCxn id="888" idx="2"/>
            <a:endCxn id="880" idx="0"/>
          </p:cNvCxnSpPr>
          <p:nvPr/>
        </p:nvCxnSpPr>
        <p:spPr>
          <a:xfrm>
            <a:off x="6287438" y="2107375"/>
            <a:ext cx="905700" cy="650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0" name="Google Shape;890;p50"/>
          <p:cNvCxnSpPr>
            <a:stCxn id="887" idx="2"/>
            <a:endCxn id="880" idx="0"/>
          </p:cNvCxnSpPr>
          <p:nvPr/>
        </p:nvCxnSpPr>
        <p:spPr>
          <a:xfrm flipH="1">
            <a:off x="7193150" y="2107375"/>
            <a:ext cx="949200" cy="650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1" name="Google Shape;891;p50"/>
          <p:cNvSpPr txBox="1"/>
          <p:nvPr/>
        </p:nvSpPr>
        <p:spPr>
          <a:xfrm>
            <a:off x="6546525" y="4511450"/>
            <a:ext cx="127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Indicators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92" name="Google Shape;892;p50"/>
          <p:cNvSpPr txBox="1"/>
          <p:nvPr/>
        </p:nvSpPr>
        <p:spPr>
          <a:xfrm>
            <a:off x="6546525" y="1078650"/>
            <a:ext cx="127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Predictors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measure tie strength?</a:t>
            </a:r>
            <a:endParaRPr/>
          </a:p>
        </p:txBody>
      </p:sp>
      <p:sp>
        <p:nvSpPr>
          <p:cNvPr id="898" name="Google Shape;898;p51"/>
          <p:cNvSpPr txBox="1"/>
          <p:nvPr>
            <p:ph idx="1" type="body"/>
          </p:nvPr>
        </p:nvSpPr>
        <p:spPr>
          <a:xfrm>
            <a:off x="311700" y="1225225"/>
            <a:ext cx="4763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Best approach: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Marsden and Campbell’s (1984) Indicator/Predictor Model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 sz="1800"/>
              <a:t>Indicators: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Closeness/Intimacy (Sentiments)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Frequency (Interaction)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Duration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Exchange/Support (Exchange)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Predictors: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Role relations (Friend, Co-worker)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Common memberships and Social Position (Similarities)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51"/>
          <p:cNvSpPr/>
          <p:nvPr/>
        </p:nvSpPr>
        <p:spPr>
          <a:xfrm>
            <a:off x="6143000" y="2758175"/>
            <a:ext cx="2100000" cy="6531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Economica"/>
                <a:ea typeface="Economica"/>
                <a:cs typeface="Economica"/>
                <a:sym typeface="Economica"/>
              </a:rPr>
              <a:t>Tie Strength</a:t>
            </a:r>
            <a:endParaRPr sz="20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00" name="Google Shape;900;p51"/>
          <p:cNvSpPr/>
          <p:nvPr/>
        </p:nvSpPr>
        <p:spPr>
          <a:xfrm>
            <a:off x="5558250" y="4062075"/>
            <a:ext cx="919200" cy="320100"/>
          </a:xfrm>
          <a:prstGeom prst="rect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Sentiment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01" name="Google Shape;901;p51"/>
          <p:cNvSpPr/>
          <p:nvPr/>
        </p:nvSpPr>
        <p:spPr>
          <a:xfrm>
            <a:off x="6724427" y="4062082"/>
            <a:ext cx="919200" cy="320100"/>
          </a:xfrm>
          <a:prstGeom prst="rect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Interaction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02" name="Google Shape;902;p51"/>
          <p:cNvSpPr/>
          <p:nvPr/>
        </p:nvSpPr>
        <p:spPr>
          <a:xfrm>
            <a:off x="7783227" y="4062082"/>
            <a:ext cx="919200" cy="320100"/>
          </a:xfrm>
          <a:prstGeom prst="rect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Exchange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03" name="Google Shape;903;p51"/>
          <p:cNvCxnSpPr>
            <a:stCxn id="899" idx="4"/>
            <a:endCxn id="900" idx="0"/>
          </p:cNvCxnSpPr>
          <p:nvPr/>
        </p:nvCxnSpPr>
        <p:spPr>
          <a:xfrm flipH="1">
            <a:off x="6017900" y="3411275"/>
            <a:ext cx="1175100" cy="650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4" name="Google Shape;904;p51"/>
          <p:cNvCxnSpPr>
            <a:stCxn id="899" idx="4"/>
            <a:endCxn id="901" idx="0"/>
          </p:cNvCxnSpPr>
          <p:nvPr/>
        </p:nvCxnSpPr>
        <p:spPr>
          <a:xfrm flipH="1">
            <a:off x="7184000" y="3411275"/>
            <a:ext cx="9000" cy="650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5" name="Google Shape;905;p51"/>
          <p:cNvCxnSpPr>
            <a:stCxn id="899" idx="4"/>
            <a:endCxn id="902" idx="0"/>
          </p:cNvCxnSpPr>
          <p:nvPr/>
        </p:nvCxnSpPr>
        <p:spPr>
          <a:xfrm>
            <a:off x="7193000" y="3411275"/>
            <a:ext cx="1049700" cy="650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6" name="Google Shape;906;p51"/>
          <p:cNvSpPr/>
          <p:nvPr/>
        </p:nvSpPr>
        <p:spPr>
          <a:xfrm>
            <a:off x="7383350" y="1539475"/>
            <a:ext cx="1518000" cy="567900"/>
          </a:xfrm>
          <a:prstGeom prst="rect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Similarities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07" name="Google Shape;907;p51"/>
          <p:cNvSpPr/>
          <p:nvPr/>
        </p:nvSpPr>
        <p:spPr>
          <a:xfrm>
            <a:off x="5528438" y="1539475"/>
            <a:ext cx="1518000" cy="567900"/>
          </a:xfrm>
          <a:prstGeom prst="rect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Role Relations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08" name="Google Shape;908;p51"/>
          <p:cNvCxnSpPr>
            <a:stCxn id="907" idx="2"/>
            <a:endCxn id="899" idx="0"/>
          </p:cNvCxnSpPr>
          <p:nvPr/>
        </p:nvCxnSpPr>
        <p:spPr>
          <a:xfrm>
            <a:off x="6287438" y="2107375"/>
            <a:ext cx="905700" cy="650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9" name="Google Shape;909;p51"/>
          <p:cNvCxnSpPr>
            <a:stCxn id="906" idx="2"/>
            <a:endCxn id="899" idx="0"/>
          </p:cNvCxnSpPr>
          <p:nvPr/>
        </p:nvCxnSpPr>
        <p:spPr>
          <a:xfrm flipH="1">
            <a:off x="7193150" y="2107375"/>
            <a:ext cx="949200" cy="650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0" name="Google Shape;910;p51"/>
          <p:cNvSpPr txBox="1"/>
          <p:nvPr/>
        </p:nvSpPr>
        <p:spPr>
          <a:xfrm>
            <a:off x="6546525" y="4511450"/>
            <a:ext cx="127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Indicators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11" name="Google Shape;911;p51"/>
          <p:cNvSpPr txBox="1"/>
          <p:nvPr/>
        </p:nvSpPr>
        <p:spPr>
          <a:xfrm>
            <a:off x="6546525" y="1078650"/>
            <a:ext cx="127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Predictors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measure tie strength?</a:t>
            </a:r>
            <a:endParaRPr/>
          </a:p>
        </p:txBody>
      </p:sp>
      <p:sp>
        <p:nvSpPr>
          <p:cNvPr id="917" name="Google Shape;917;p52"/>
          <p:cNvSpPr txBox="1"/>
          <p:nvPr>
            <p:ph idx="1" type="body"/>
          </p:nvPr>
        </p:nvSpPr>
        <p:spPr>
          <a:xfrm>
            <a:off x="311700" y="1225225"/>
            <a:ext cx="4763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Best approach: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Marsden and Campbell’s (1984) Indicator/Predictor Model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Predictors tell us that a strong tie is </a:t>
            </a:r>
            <a:r>
              <a:rPr b="1" lang="en"/>
              <a:t>more</a:t>
            </a:r>
            <a:r>
              <a:rPr lang="en"/>
              <a:t> or </a:t>
            </a:r>
            <a:r>
              <a:rPr b="1" lang="en"/>
              <a:t>less</a:t>
            </a:r>
            <a:r>
              <a:rPr lang="en"/>
              <a:t> likely to </a:t>
            </a:r>
            <a:r>
              <a:rPr b="1" lang="en"/>
              <a:t>form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people who are similar are more likely to form strong ties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Indicators tell us that an </a:t>
            </a:r>
            <a:r>
              <a:rPr b="1" lang="en"/>
              <a:t>existing</a:t>
            </a:r>
            <a:r>
              <a:rPr lang="en"/>
              <a:t> tie is </a:t>
            </a:r>
            <a:r>
              <a:rPr b="1" lang="en"/>
              <a:t>more</a:t>
            </a:r>
            <a:r>
              <a:rPr lang="en"/>
              <a:t> or </a:t>
            </a:r>
            <a:r>
              <a:rPr b="1" lang="en"/>
              <a:t>less</a:t>
            </a:r>
            <a:r>
              <a:rPr lang="en"/>
              <a:t> </a:t>
            </a:r>
            <a:r>
              <a:rPr b="1" lang="en"/>
              <a:t>strong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indicators the stronger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Closeness + Interaction + Support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52"/>
          <p:cNvSpPr/>
          <p:nvPr/>
        </p:nvSpPr>
        <p:spPr>
          <a:xfrm>
            <a:off x="6143000" y="2758175"/>
            <a:ext cx="2100000" cy="6531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Economica"/>
                <a:ea typeface="Economica"/>
                <a:cs typeface="Economica"/>
                <a:sym typeface="Economica"/>
              </a:rPr>
              <a:t>Tie Strength</a:t>
            </a:r>
            <a:endParaRPr sz="20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19" name="Google Shape;919;p52"/>
          <p:cNvSpPr/>
          <p:nvPr/>
        </p:nvSpPr>
        <p:spPr>
          <a:xfrm>
            <a:off x="5558250" y="4062075"/>
            <a:ext cx="919200" cy="320100"/>
          </a:xfrm>
          <a:prstGeom prst="rect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Sentiment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20" name="Google Shape;920;p52"/>
          <p:cNvSpPr/>
          <p:nvPr/>
        </p:nvSpPr>
        <p:spPr>
          <a:xfrm>
            <a:off x="6724427" y="4062082"/>
            <a:ext cx="919200" cy="320100"/>
          </a:xfrm>
          <a:prstGeom prst="rect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Interaction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21" name="Google Shape;921;p52"/>
          <p:cNvSpPr/>
          <p:nvPr/>
        </p:nvSpPr>
        <p:spPr>
          <a:xfrm>
            <a:off x="7783227" y="4062082"/>
            <a:ext cx="919200" cy="320100"/>
          </a:xfrm>
          <a:prstGeom prst="rect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Exchange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22" name="Google Shape;922;p52"/>
          <p:cNvCxnSpPr>
            <a:stCxn id="918" idx="4"/>
            <a:endCxn id="919" idx="0"/>
          </p:cNvCxnSpPr>
          <p:nvPr/>
        </p:nvCxnSpPr>
        <p:spPr>
          <a:xfrm flipH="1">
            <a:off x="6017900" y="3411275"/>
            <a:ext cx="1175100" cy="650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3" name="Google Shape;923;p52"/>
          <p:cNvCxnSpPr>
            <a:stCxn id="918" idx="4"/>
            <a:endCxn id="920" idx="0"/>
          </p:cNvCxnSpPr>
          <p:nvPr/>
        </p:nvCxnSpPr>
        <p:spPr>
          <a:xfrm flipH="1">
            <a:off x="7184000" y="3411275"/>
            <a:ext cx="9000" cy="650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4" name="Google Shape;924;p52"/>
          <p:cNvCxnSpPr>
            <a:stCxn id="918" idx="4"/>
            <a:endCxn id="921" idx="0"/>
          </p:cNvCxnSpPr>
          <p:nvPr/>
        </p:nvCxnSpPr>
        <p:spPr>
          <a:xfrm>
            <a:off x="7193000" y="3411275"/>
            <a:ext cx="1049700" cy="650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5" name="Google Shape;925;p52"/>
          <p:cNvSpPr/>
          <p:nvPr/>
        </p:nvSpPr>
        <p:spPr>
          <a:xfrm>
            <a:off x="7383350" y="1539475"/>
            <a:ext cx="1518000" cy="567900"/>
          </a:xfrm>
          <a:prstGeom prst="rect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Similarities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26" name="Google Shape;926;p52"/>
          <p:cNvSpPr/>
          <p:nvPr/>
        </p:nvSpPr>
        <p:spPr>
          <a:xfrm>
            <a:off x="5528438" y="1539475"/>
            <a:ext cx="1518000" cy="567900"/>
          </a:xfrm>
          <a:prstGeom prst="rect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conomica"/>
                <a:ea typeface="Economica"/>
                <a:cs typeface="Economica"/>
                <a:sym typeface="Economica"/>
              </a:rPr>
              <a:t>Role Relations</a:t>
            </a:r>
            <a:endParaRPr sz="16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27" name="Google Shape;927;p52"/>
          <p:cNvCxnSpPr>
            <a:stCxn id="926" idx="2"/>
            <a:endCxn id="918" idx="0"/>
          </p:cNvCxnSpPr>
          <p:nvPr/>
        </p:nvCxnSpPr>
        <p:spPr>
          <a:xfrm>
            <a:off x="6287438" y="2107375"/>
            <a:ext cx="905700" cy="650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8" name="Google Shape;928;p52"/>
          <p:cNvCxnSpPr>
            <a:stCxn id="925" idx="2"/>
            <a:endCxn id="918" idx="0"/>
          </p:cNvCxnSpPr>
          <p:nvPr/>
        </p:nvCxnSpPr>
        <p:spPr>
          <a:xfrm flipH="1">
            <a:off x="7193150" y="2107375"/>
            <a:ext cx="949200" cy="650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9" name="Google Shape;929;p52"/>
          <p:cNvSpPr txBox="1"/>
          <p:nvPr/>
        </p:nvSpPr>
        <p:spPr>
          <a:xfrm>
            <a:off x="6546525" y="4511450"/>
            <a:ext cx="127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Indicators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30" name="Google Shape;930;p52"/>
          <p:cNvSpPr txBox="1"/>
          <p:nvPr/>
        </p:nvSpPr>
        <p:spPr>
          <a:xfrm>
            <a:off x="6546525" y="1078650"/>
            <a:ext cx="127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Predictors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936" name="Google Shape;936;p53"/>
          <p:cNvSpPr txBox="1"/>
          <p:nvPr>
            <p:ph idx="1" type="body"/>
          </p:nvPr>
        </p:nvSpPr>
        <p:spPr>
          <a:xfrm>
            <a:off x="311700" y="1225225"/>
            <a:ext cx="496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it is useful to associate numerical values with the edges (uv) of a graph: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edge weight (w</a:t>
            </a:r>
            <a:r>
              <a:rPr baseline="-25000" lang="en"/>
              <a:t>uv</a:t>
            </a:r>
            <a:r>
              <a:rPr lang="en"/>
              <a:t>)</a:t>
            </a:r>
            <a:endParaRPr baseline="-250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strength of the relationship j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amount of something (e.g. information, support) that flows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Graphs that featured edge weights are called weighted (valued)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Binary graphs can be thought of as a constrained case of weighted graphs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7" name="Google Shape;93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201" y="1753574"/>
            <a:ext cx="3551100" cy="2297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943" name="Google Shape;943;p54"/>
          <p:cNvSpPr txBox="1"/>
          <p:nvPr>
            <p:ph idx="1" type="body"/>
          </p:nvPr>
        </p:nvSpPr>
        <p:spPr>
          <a:xfrm>
            <a:off x="311700" y="1225225"/>
            <a:ext cx="496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it is useful to associate numerical values with the edges (uv) of a graph: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edge weight (w</a:t>
            </a:r>
            <a:r>
              <a:rPr baseline="-25000" lang="en"/>
              <a:t>uv</a:t>
            </a:r>
            <a:r>
              <a:rPr lang="en"/>
              <a:t>)</a:t>
            </a:r>
            <a:endParaRPr baseline="-250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strength of the relationship j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amount of something (e.g. information, support) that flows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people “binarize” weighted graphs using a cutoff to simplify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</a:t>
            </a:r>
            <a:r>
              <a:rPr i="1" lang="en"/>
              <a:t>if</a:t>
            </a:r>
            <a:r>
              <a:rPr lang="en"/>
              <a:t> w</a:t>
            </a:r>
            <a:r>
              <a:rPr baseline="-25000" lang="en"/>
              <a:t>ij </a:t>
            </a:r>
            <a:r>
              <a:rPr lang="en"/>
              <a:t>&gt; ϴ, </a:t>
            </a:r>
            <a:r>
              <a:rPr i="1" lang="en"/>
              <a:t>else</a:t>
            </a:r>
            <a:r>
              <a:rPr lang="en"/>
              <a:t> a</a:t>
            </a:r>
            <a:r>
              <a:rPr baseline="-25000" lang="en"/>
              <a:t>ij</a:t>
            </a:r>
            <a:r>
              <a:rPr lang="en"/>
              <a:t> =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Weighted graphs can be directed or undirected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4" name="Google Shape;94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201" y="1753574"/>
            <a:ext cx="3551100" cy="2297313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54"/>
          <p:cNvSpPr txBox="1"/>
          <p:nvPr/>
        </p:nvSpPr>
        <p:spPr>
          <a:xfrm>
            <a:off x="5720875" y="42867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Weighted 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graphs: Matrix Representation</a:t>
            </a:r>
            <a:endParaRPr/>
          </a:p>
        </p:txBody>
      </p:sp>
      <p:pic>
        <p:nvPicPr>
          <p:cNvPr id="951" name="Google Shape;95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26" y="1637124"/>
            <a:ext cx="3551100" cy="2297313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55"/>
          <p:cNvSpPr txBox="1"/>
          <p:nvPr/>
        </p:nvSpPr>
        <p:spPr>
          <a:xfrm>
            <a:off x="1127575" y="39344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Weighted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953" name="Google Shape;953;p55"/>
          <p:cNvGraphicFramePr/>
          <p:nvPr/>
        </p:nvGraphicFramePr>
        <p:xfrm>
          <a:off x="5028888" y="1231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{C60DBD9F-09E9-47AC-B105-5BC7EBEE40C3}</a:tableStyleId>
              </a:tblPr>
              <a:tblGrid>
                <a:gridCol w="507300"/>
                <a:gridCol w="507300"/>
                <a:gridCol w="507300"/>
                <a:gridCol w="507300"/>
                <a:gridCol w="507300"/>
                <a:gridCol w="507275"/>
                <a:gridCol w="507275"/>
              </a:tblGrid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graphs: Matrix Representation</a:t>
            </a:r>
            <a:endParaRPr/>
          </a:p>
        </p:txBody>
      </p:sp>
      <p:pic>
        <p:nvPicPr>
          <p:cNvPr id="959" name="Google Shape;95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26" y="1637124"/>
            <a:ext cx="3551100" cy="2297313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56"/>
          <p:cNvSpPr txBox="1"/>
          <p:nvPr/>
        </p:nvSpPr>
        <p:spPr>
          <a:xfrm>
            <a:off x="1127575" y="39344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Weighted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961" name="Google Shape;961;p56"/>
          <p:cNvGraphicFramePr/>
          <p:nvPr/>
        </p:nvGraphicFramePr>
        <p:xfrm>
          <a:off x="5028888" y="1231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{C60DBD9F-09E9-47AC-B105-5BC7EBEE40C3}</a:tableStyleId>
              </a:tblPr>
              <a:tblGrid>
                <a:gridCol w="507300"/>
                <a:gridCol w="507300"/>
                <a:gridCol w="507300"/>
                <a:gridCol w="507300"/>
                <a:gridCol w="507300"/>
                <a:gridCol w="507275"/>
                <a:gridCol w="507275"/>
              </a:tblGrid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0.9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0.6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1.0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0.55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0.45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1.0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