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00392bbbc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00392bbbc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00392bbbc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00392bbbc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00392bbbc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00392bbbc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00392bbbc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00392bbbc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00392bbbc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00392bbbc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00392bbbc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00392bbbc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00392bbbc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00392bbbc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00392bbbc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e00392bbbc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00392bbbc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00392bbbc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00392bbbc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e00392bbbc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00392bbb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00392bbb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00392bbb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e00392bbb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00392bbbc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e00392bbbc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Bandwidth-Tradeoff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85206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Granovetter argument conceives of the properties of ties (e.g., strength) in static terms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Yet information transmission/access are events that happen in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original Strength of Weak Ties argument: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ties: Novel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ties: Old/redundant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7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7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7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" name="Google Shape;122;p27"/>
          <p:cNvCxnSpPr>
            <a:stCxn id="117" idx="7"/>
            <a:endCxn id="118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7"/>
          <p:cNvCxnSpPr>
            <a:stCxn id="117" idx="5"/>
            <a:endCxn id="121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7"/>
          <p:cNvCxnSpPr>
            <a:stCxn id="121" idx="7"/>
            <a:endCxn id="120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7"/>
          <p:cNvCxnSpPr>
            <a:stCxn id="120" idx="0"/>
            <a:endCxn id="119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27"/>
          <p:cNvCxnSpPr>
            <a:stCxn id="119" idx="0"/>
            <a:endCxn id="118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27"/>
          <p:cNvCxnSpPr>
            <a:stCxn id="121" idx="0"/>
            <a:endCxn id="118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7"/>
          <p:cNvCxnSpPr>
            <a:stCxn id="121" idx="0"/>
            <a:endCxn id="119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7"/>
          <p:cNvCxnSpPr>
            <a:stCxn id="120" idx="1"/>
            <a:endCxn id="118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7"/>
          <p:cNvCxnSpPr>
            <a:stCxn id="117" idx="6"/>
            <a:endCxn id="119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7"/>
          <p:cNvCxnSpPr>
            <a:stCxn id="117" idx="6"/>
            <a:endCxn id="120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7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7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7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7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27"/>
          <p:cNvCxnSpPr>
            <a:stCxn id="132" idx="7"/>
            <a:endCxn id="133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7"/>
          <p:cNvCxnSpPr>
            <a:stCxn id="132" idx="5"/>
            <a:endCxn id="136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7"/>
          <p:cNvCxnSpPr>
            <a:stCxn id="135" idx="0"/>
            <a:endCxn id="134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7"/>
          <p:cNvCxnSpPr>
            <a:stCxn id="132" idx="6"/>
            <a:endCxn id="134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7"/>
          <p:cNvCxnSpPr>
            <a:stCxn id="132" idx="6"/>
            <a:endCxn id="135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7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3" name="Google Shape;143;p27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4" name="Google Shape;144;p27"/>
          <p:cNvCxnSpPr>
            <a:stCxn id="136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5" name="Google Shape;145;p27"/>
          <p:cNvCxnSpPr>
            <a:stCxn id="136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6" name="Google Shape;146;p27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7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7"/>
          <p:cNvCxnSpPr>
            <a:stCxn id="146" idx="7"/>
            <a:endCxn id="147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7"/>
          <p:cNvCxnSpPr>
            <a:stCxn id="146" idx="5"/>
            <a:endCxn id="150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7"/>
          <p:cNvCxnSpPr>
            <a:stCxn id="146" idx="6"/>
            <a:endCxn id="148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7"/>
          <p:cNvCxnSpPr>
            <a:stCxn id="146" idx="6"/>
            <a:endCxn id="149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7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6" name="Google Shape;156;p27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" name="Google Shape;157;p27"/>
          <p:cNvCxnSpPr>
            <a:stCxn id="150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8" name="Google Shape;158;p27"/>
          <p:cNvCxnSpPr>
            <a:stCxn id="150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/>
          <p:nvPr/>
        </p:nvSpPr>
        <p:spPr>
          <a:xfrm>
            <a:off x="899338" y="2004988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1893162" y="1175092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2456406" y="1782946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2456406" y="2397935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1893162" y="2834473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28"/>
          <p:cNvCxnSpPr>
            <a:stCxn id="163" idx="7"/>
            <a:endCxn id="164" idx="3"/>
          </p:cNvCxnSpPr>
          <p:nvPr/>
        </p:nvCxnSpPr>
        <p:spPr>
          <a:xfrm flipH="1" rot="10800000">
            <a:off x="1223517" y="1482308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8"/>
          <p:cNvCxnSpPr>
            <a:stCxn id="163" idx="5"/>
            <a:endCxn id="167" idx="1"/>
          </p:cNvCxnSpPr>
          <p:nvPr/>
        </p:nvCxnSpPr>
        <p:spPr>
          <a:xfrm>
            <a:off x="1223517" y="2312267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8"/>
          <p:cNvCxnSpPr>
            <a:stCxn id="167" idx="7"/>
            <a:endCxn id="166" idx="3"/>
          </p:cNvCxnSpPr>
          <p:nvPr/>
        </p:nvCxnSpPr>
        <p:spPr>
          <a:xfrm flipH="1" rot="10800000">
            <a:off x="2217341" y="2705093"/>
            <a:ext cx="294600" cy="182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8"/>
          <p:cNvCxnSpPr>
            <a:stCxn id="166" idx="0"/>
            <a:endCxn id="165" idx="4"/>
          </p:cNvCxnSpPr>
          <p:nvPr/>
        </p:nvCxnSpPr>
        <p:spPr>
          <a:xfrm rot="10800000">
            <a:off x="2646306" y="2142935"/>
            <a:ext cx="0" cy="25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8"/>
          <p:cNvCxnSpPr>
            <a:stCxn id="165" idx="0"/>
            <a:endCxn id="164" idx="5"/>
          </p:cNvCxnSpPr>
          <p:nvPr/>
        </p:nvCxnSpPr>
        <p:spPr>
          <a:xfrm rot="10800000">
            <a:off x="2217306" y="1482346"/>
            <a:ext cx="429000" cy="30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8"/>
          <p:cNvCxnSpPr>
            <a:stCxn id="167" idx="0"/>
            <a:endCxn id="164" idx="4"/>
          </p:cNvCxnSpPr>
          <p:nvPr/>
        </p:nvCxnSpPr>
        <p:spPr>
          <a:xfrm rot="10800000">
            <a:off x="2083062" y="1535173"/>
            <a:ext cx="0" cy="1299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8"/>
          <p:cNvCxnSpPr>
            <a:stCxn id="167" idx="0"/>
            <a:endCxn id="165" idx="3"/>
          </p:cNvCxnSpPr>
          <p:nvPr/>
        </p:nvCxnSpPr>
        <p:spPr>
          <a:xfrm flipH="1" rot="10800000">
            <a:off x="2083062" y="2090173"/>
            <a:ext cx="429000" cy="744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8"/>
          <p:cNvCxnSpPr>
            <a:stCxn id="166" idx="1"/>
            <a:endCxn id="164" idx="4"/>
          </p:cNvCxnSpPr>
          <p:nvPr/>
        </p:nvCxnSpPr>
        <p:spPr>
          <a:xfrm rot="10800000">
            <a:off x="2083026" y="1535056"/>
            <a:ext cx="429000" cy="915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8"/>
          <p:cNvCxnSpPr>
            <a:stCxn id="163" idx="6"/>
            <a:endCxn id="165" idx="2"/>
          </p:cNvCxnSpPr>
          <p:nvPr/>
        </p:nvCxnSpPr>
        <p:spPr>
          <a:xfrm flipH="1" rot="10800000">
            <a:off x="1279138" y="1962988"/>
            <a:ext cx="1177200" cy="222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8"/>
          <p:cNvCxnSpPr>
            <a:stCxn id="163" idx="6"/>
            <a:endCxn id="166" idx="2"/>
          </p:cNvCxnSpPr>
          <p:nvPr/>
        </p:nvCxnSpPr>
        <p:spPr>
          <a:xfrm>
            <a:off x="1279138" y="2184988"/>
            <a:ext cx="1177200" cy="393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8"/>
          <p:cNvSpPr/>
          <p:nvPr/>
        </p:nvSpPr>
        <p:spPr>
          <a:xfrm>
            <a:off x="3589267" y="2069992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4583091" y="1240096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5146335" y="184795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5146335" y="246293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4583091" y="289947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" name="Google Shape;183;p28"/>
          <p:cNvCxnSpPr>
            <a:stCxn id="178" idx="7"/>
            <a:endCxn id="179" idx="3"/>
          </p:cNvCxnSpPr>
          <p:nvPr/>
        </p:nvCxnSpPr>
        <p:spPr>
          <a:xfrm flipH="1" rot="10800000">
            <a:off x="3913446" y="1547313"/>
            <a:ext cx="725400" cy="575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8"/>
          <p:cNvCxnSpPr>
            <a:stCxn id="178" idx="5"/>
            <a:endCxn id="182" idx="1"/>
          </p:cNvCxnSpPr>
          <p:nvPr/>
        </p:nvCxnSpPr>
        <p:spPr>
          <a:xfrm>
            <a:off x="3913446" y="2377271"/>
            <a:ext cx="725400" cy="5748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8"/>
          <p:cNvCxnSpPr>
            <a:stCxn id="181" idx="0"/>
            <a:endCxn id="180" idx="4"/>
          </p:cNvCxnSpPr>
          <p:nvPr/>
        </p:nvCxnSpPr>
        <p:spPr>
          <a:xfrm rot="10800000">
            <a:off x="5336235" y="2207939"/>
            <a:ext cx="0" cy="2550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8"/>
          <p:cNvCxnSpPr>
            <a:stCxn id="178" idx="6"/>
            <a:endCxn id="180" idx="2"/>
          </p:cNvCxnSpPr>
          <p:nvPr/>
        </p:nvCxnSpPr>
        <p:spPr>
          <a:xfrm flipH="1" rot="10800000">
            <a:off x="3969067" y="2027992"/>
            <a:ext cx="1177200" cy="222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8"/>
          <p:cNvCxnSpPr>
            <a:stCxn id="178" idx="6"/>
            <a:endCxn id="181" idx="2"/>
          </p:cNvCxnSpPr>
          <p:nvPr/>
        </p:nvCxnSpPr>
        <p:spPr>
          <a:xfrm>
            <a:off x="3969067" y="2249992"/>
            <a:ext cx="1177200" cy="393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8"/>
          <p:cNvCxnSpPr/>
          <p:nvPr/>
        </p:nvCxnSpPr>
        <p:spPr>
          <a:xfrm flipH="1" rot="10800000">
            <a:off x="4772940" y="777127"/>
            <a:ext cx="111900" cy="458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9" name="Google Shape;189;p28"/>
          <p:cNvCxnSpPr/>
          <p:nvPr/>
        </p:nvCxnSpPr>
        <p:spPr>
          <a:xfrm flipH="1" rot="10800000">
            <a:off x="4907194" y="1033634"/>
            <a:ext cx="452400" cy="259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0" name="Google Shape;190;p28"/>
          <p:cNvCxnSpPr>
            <a:stCxn id="182" idx="6"/>
          </p:cNvCxnSpPr>
          <p:nvPr/>
        </p:nvCxnSpPr>
        <p:spPr>
          <a:xfrm>
            <a:off x="4962891" y="3079477"/>
            <a:ext cx="452100" cy="106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1" name="Google Shape;191;p28"/>
          <p:cNvCxnSpPr>
            <a:stCxn id="182" idx="5"/>
          </p:cNvCxnSpPr>
          <p:nvPr/>
        </p:nvCxnSpPr>
        <p:spPr>
          <a:xfrm>
            <a:off x="4907270" y="3206756"/>
            <a:ext cx="197100" cy="385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92" name="Google Shape;192;p28"/>
          <p:cNvSpPr/>
          <p:nvPr/>
        </p:nvSpPr>
        <p:spPr>
          <a:xfrm>
            <a:off x="6278951" y="2155449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7272775" y="1325553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7836019" y="193340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8"/>
          <p:cNvSpPr/>
          <p:nvPr/>
        </p:nvSpPr>
        <p:spPr>
          <a:xfrm>
            <a:off x="7836019" y="254839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7272775" y="2984934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" name="Google Shape;197;p28"/>
          <p:cNvCxnSpPr>
            <a:stCxn id="192" idx="7"/>
            <a:endCxn id="193" idx="3"/>
          </p:cNvCxnSpPr>
          <p:nvPr/>
        </p:nvCxnSpPr>
        <p:spPr>
          <a:xfrm flipH="1" rot="10800000">
            <a:off x="6603131" y="1632770"/>
            <a:ext cx="725400" cy="575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8"/>
          <p:cNvCxnSpPr>
            <a:stCxn id="192" idx="5"/>
            <a:endCxn id="196" idx="1"/>
          </p:cNvCxnSpPr>
          <p:nvPr/>
        </p:nvCxnSpPr>
        <p:spPr>
          <a:xfrm>
            <a:off x="6603131" y="2462729"/>
            <a:ext cx="725400" cy="5748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8"/>
          <p:cNvCxnSpPr>
            <a:stCxn id="192" idx="6"/>
            <a:endCxn id="194" idx="2"/>
          </p:cNvCxnSpPr>
          <p:nvPr/>
        </p:nvCxnSpPr>
        <p:spPr>
          <a:xfrm flipH="1" rot="10800000">
            <a:off x="6658751" y="2113449"/>
            <a:ext cx="1177200" cy="222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8"/>
          <p:cNvCxnSpPr>
            <a:stCxn id="192" idx="6"/>
            <a:endCxn id="195" idx="2"/>
          </p:cNvCxnSpPr>
          <p:nvPr/>
        </p:nvCxnSpPr>
        <p:spPr>
          <a:xfrm>
            <a:off x="6658751" y="2335449"/>
            <a:ext cx="1177200" cy="393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8"/>
          <p:cNvCxnSpPr/>
          <p:nvPr/>
        </p:nvCxnSpPr>
        <p:spPr>
          <a:xfrm flipH="1" rot="10800000">
            <a:off x="7462624" y="862584"/>
            <a:ext cx="111900" cy="458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2" name="Google Shape;202;p28"/>
          <p:cNvCxnSpPr/>
          <p:nvPr/>
        </p:nvCxnSpPr>
        <p:spPr>
          <a:xfrm flipH="1" rot="10800000">
            <a:off x="7596878" y="1119092"/>
            <a:ext cx="452400" cy="259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3" name="Google Shape;203;p28"/>
          <p:cNvCxnSpPr>
            <a:stCxn id="196" idx="6"/>
          </p:cNvCxnSpPr>
          <p:nvPr/>
        </p:nvCxnSpPr>
        <p:spPr>
          <a:xfrm>
            <a:off x="7652575" y="3164934"/>
            <a:ext cx="452100" cy="106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4" name="Google Shape;204;p28"/>
          <p:cNvCxnSpPr>
            <a:stCxn id="196" idx="5"/>
          </p:cNvCxnSpPr>
          <p:nvPr/>
        </p:nvCxnSpPr>
        <p:spPr>
          <a:xfrm>
            <a:off x="7596955" y="3292214"/>
            <a:ext cx="197100" cy="385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5" name="Google Shape;205;p28"/>
          <p:cNvCxnSpPr/>
          <p:nvPr/>
        </p:nvCxnSpPr>
        <p:spPr>
          <a:xfrm>
            <a:off x="249150" y="4392713"/>
            <a:ext cx="8645700" cy="7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206" name="Google Shape;206;p28"/>
          <p:cNvSpPr/>
          <p:nvPr/>
        </p:nvSpPr>
        <p:spPr>
          <a:xfrm>
            <a:off x="532000" y="4466825"/>
            <a:ext cx="343500" cy="3510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8"/>
          <p:cNvCxnSpPr>
            <a:stCxn id="206" idx="6"/>
            <a:endCxn id="208" idx="2"/>
          </p:cNvCxnSpPr>
          <p:nvPr/>
        </p:nvCxnSpPr>
        <p:spPr>
          <a:xfrm>
            <a:off x="875500" y="4642325"/>
            <a:ext cx="6591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8"/>
          <p:cNvSpPr/>
          <p:nvPr/>
        </p:nvSpPr>
        <p:spPr>
          <a:xfrm>
            <a:off x="1534675" y="4466825"/>
            <a:ext cx="343500" cy="35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791025" y="484425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7220475" y="4466825"/>
            <a:ext cx="343500" cy="3510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28"/>
          <p:cNvCxnSpPr>
            <a:stCxn id="210" idx="6"/>
            <a:endCxn id="212" idx="2"/>
          </p:cNvCxnSpPr>
          <p:nvPr/>
        </p:nvCxnSpPr>
        <p:spPr>
          <a:xfrm>
            <a:off x="7563975" y="4642325"/>
            <a:ext cx="659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2" name="Google Shape;212;p28"/>
          <p:cNvSpPr/>
          <p:nvPr/>
        </p:nvSpPr>
        <p:spPr>
          <a:xfrm>
            <a:off x="8223150" y="4466825"/>
            <a:ext cx="343500" cy="35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7479500" y="484425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4" name="Google Shape;214;p28"/>
          <p:cNvCxnSpPr/>
          <p:nvPr/>
        </p:nvCxnSpPr>
        <p:spPr>
          <a:xfrm>
            <a:off x="362625" y="581625"/>
            <a:ext cx="8622000" cy="14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215" name="Google Shape;215;p28"/>
          <p:cNvSpPr txBox="1"/>
          <p:nvPr/>
        </p:nvSpPr>
        <p:spPr>
          <a:xfrm>
            <a:off x="2648675" y="4418775"/>
            <a:ext cx="3801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Channel Bandwidth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791013" y="298025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7479488" y="30510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2561900" y="197125"/>
            <a:ext cx="3801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Network Clustering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957525" y="3640225"/>
            <a:ext cx="2195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Clustered Network of Strong, High-Bandwidth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6393050" y="3693263"/>
            <a:ext cx="2195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Unclustered Network of Weak, Low-Bandwidth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When taking into account temporal flow: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“Weak” ties: Information transmission at slower rates (less frequency)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“Strong” ties: Information transmission at higher rates (more frequency)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seeking information via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 tradeoff between novelty/diversity of information and tie “bandwidth”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9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9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29"/>
          <p:cNvCxnSpPr>
            <a:stCxn id="227" idx="7"/>
            <a:endCxn id="228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9"/>
          <p:cNvCxnSpPr>
            <a:stCxn id="227" idx="5"/>
            <a:endCxn id="231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9"/>
          <p:cNvCxnSpPr>
            <a:stCxn id="231" idx="7"/>
            <a:endCxn id="230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9"/>
          <p:cNvCxnSpPr>
            <a:stCxn id="230" idx="0"/>
            <a:endCxn id="229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9"/>
          <p:cNvCxnSpPr>
            <a:stCxn id="229" idx="0"/>
            <a:endCxn id="228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9"/>
          <p:cNvCxnSpPr>
            <a:stCxn id="231" idx="0"/>
            <a:endCxn id="228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9"/>
          <p:cNvCxnSpPr>
            <a:stCxn id="231" idx="0"/>
            <a:endCxn id="229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9"/>
          <p:cNvCxnSpPr>
            <a:stCxn id="230" idx="1"/>
            <a:endCxn id="228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9"/>
          <p:cNvCxnSpPr>
            <a:stCxn id="227" idx="6"/>
            <a:endCxn id="229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9"/>
          <p:cNvCxnSpPr>
            <a:stCxn id="227" idx="6"/>
            <a:endCxn id="230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9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9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9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9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9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29"/>
          <p:cNvCxnSpPr>
            <a:stCxn id="242" idx="7"/>
            <a:endCxn id="243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9"/>
          <p:cNvCxnSpPr>
            <a:stCxn id="242" idx="5"/>
            <a:endCxn id="246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9"/>
          <p:cNvCxnSpPr>
            <a:stCxn id="245" idx="0"/>
            <a:endCxn id="244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9"/>
          <p:cNvCxnSpPr>
            <a:stCxn id="242" idx="6"/>
            <a:endCxn id="244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9"/>
          <p:cNvCxnSpPr>
            <a:stCxn id="242" idx="6"/>
            <a:endCxn id="245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9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3" name="Google Shape;253;p29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4" name="Google Shape;254;p29"/>
          <p:cNvCxnSpPr>
            <a:stCxn id="246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5" name="Google Shape;255;p29"/>
          <p:cNvCxnSpPr>
            <a:stCxn id="246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56" name="Google Shape;256;p29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9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9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9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9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29"/>
          <p:cNvCxnSpPr>
            <a:stCxn id="256" idx="7"/>
            <a:endCxn id="257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9"/>
          <p:cNvCxnSpPr>
            <a:stCxn id="256" idx="5"/>
            <a:endCxn id="260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9"/>
          <p:cNvCxnSpPr>
            <a:stCxn id="256" idx="6"/>
            <a:endCxn id="258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9"/>
          <p:cNvCxnSpPr>
            <a:stCxn id="256" idx="6"/>
            <a:endCxn id="259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9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66" name="Google Shape;266;p29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67" name="Google Shape;267;p29"/>
          <p:cNvCxnSpPr>
            <a:stCxn id="260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68" name="Google Shape;268;p29"/>
          <p:cNvCxnSpPr>
            <a:stCxn id="260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74" name="Google Shape;274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about information complexity?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 bandwidth ties: Novel but “simple” information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Who’s hiring? What’s the best messaging app?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what about novel but complex information?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to do network analysis in R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 that case higher bandwidth ties are better!</a:t>
            </a:r>
            <a:endParaRPr b="1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0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0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30"/>
          <p:cNvCxnSpPr>
            <a:stCxn id="275" idx="7"/>
            <a:endCxn id="276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0"/>
          <p:cNvCxnSpPr>
            <a:stCxn id="275" idx="5"/>
            <a:endCxn id="279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0"/>
          <p:cNvCxnSpPr>
            <a:stCxn id="279" idx="7"/>
            <a:endCxn id="278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0"/>
          <p:cNvCxnSpPr>
            <a:stCxn id="278" idx="0"/>
            <a:endCxn id="277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0"/>
          <p:cNvCxnSpPr>
            <a:stCxn id="277" idx="0"/>
            <a:endCxn id="276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0"/>
          <p:cNvCxnSpPr>
            <a:stCxn id="279" idx="0"/>
            <a:endCxn id="276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0"/>
          <p:cNvCxnSpPr>
            <a:stCxn id="279" idx="0"/>
            <a:endCxn id="277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0"/>
          <p:cNvCxnSpPr>
            <a:stCxn id="278" idx="1"/>
            <a:endCxn id="276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0"/>
          <p:cNvCxnSpPr>
            <a:stCxn id="275" idx="6"/>
            <a:endCxn id="277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0"/>
          <p:cNvCxnSpPr>
            <a:stCxn id="275" idx="6"/>
            <a:endCxn id="278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0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0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" name="Google Shape;295;p30"/>
          <p:cNvCxnSpPr>
            <a:stCxn id="290" idx="7"/>
            <a:endCxn id="291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0"/>
          <p:cNvCxnSpPr>
            <a:stCxn id="290" idx="5"/>
            <a:endCxn id="294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0"/>
          <p:cNvCxnSpPr>
            <a:stCxn id="293" idx="0"/>
            <a:endCxn id="292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0"/>
          <p:cNvCxnSpPr>
            <a:stCxn id="290" idx="6"/>
            <a:endCxn id="292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0"/>
          <p:cNvCxnSpPr>
            <a:stCxn id="290" idx="6"/>
            <a:endCxn id="293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0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01" name="Google Shape;301;p30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02" name="Google Shape;302;p30"/>
          <p:cNvCxnSpPr>
            <a:stCxn id="294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03" name="Google Shape;303;p30"/>
          <p:cNvCxnSpPr>
            <a:stCxn id="294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04" name="Google Shape;304;p30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30"/>
          <p:cNvCxnSpPr>
            <a:stCxn id="304" idx="7"/>
            <a:endCxn id="305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0"/>
          <p:cNvCxnSpPr>
            <a:stCxn id="304" idx="5"/>
            <a:endCxn id="308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0"/>
          <p:cNvCxnSpPr>
            <a:stCxn id="304" idx="6"/>
            <a:endCxn id="306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0"/>
          <p:cNvCxnSpPr>
            <a:stCxn id="304" idx="6"/>
            <a:endCxn id="307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0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4" name="Google Shape;314;p30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5" name="Google Shape;315;p30"/>
          <p:cNvCxnSpPr>
            <a:stCxn id="308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6" name="Google Shape;316;p30"/>
          <p:cNvCxnSpPr>
            <a:stCxn id="308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311700" y="1225225"/>
            <a:ext cx="8520600" cy="16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strength of high bandwidth ties: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trust, intimacy, and cooperativeness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memory of who knows what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effective at transferring complex, interdependent information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new knowledge (e.g., bringing together rather than keeping apart)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Commonality of interests and experience (homophily) </a:t>
            </a:r>
            <a:endParaRPr/>
          </a:p>
        </p:txBody>
      </p:sp>
      <p:sp>
        <p:nvSpPr>
          <p:cNvPr id="323" name="Google Shape;323;p31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1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" name="Google Shape;328;p31"/>
          <p:cNvCxnSpPr>
            <a:stCxn id="323" idx="7"/>
            <a:endCxn id="324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1"/>
          <p:cNvCxnSpPr>
            <a:stCxn id="323" idx="5"/>
            <a:endCxn id="327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1"/>
          <p:cNvCxnSpPr>
            <a:stCxn id="327" idx="7"/>
            <a:endCxn id="326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1"/>
          <p:cNvCxnSpPr>
            <a:stCxn id="326" idx="0"/>
            <a:endCxn id="325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1"/>
          <p:cNvCxnSpPr>
            <a:stCxn id="325" idx="0"/>
            <a:endCxn id="324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1"/>
          <p:cNvCxnSpPr>
            <a:stCxn id="327" idx="0"/>
            <a:endCxn id="324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1"/>
          <p:cNvCxnSpPr>
            <a:stCxn id="327" idx="0"/>
            <a:endCxn id="325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1"/>
          <p:cNvCxnSpPr>
            <a:stCxn id="326" idx="1"/>
            <a:endCxn id="324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31"/>
          <p:cNvCxnSpPr>
            <a:stCxn id="323" idx="6"/>
            <a:endCxn id="325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1"/>
          <p:cNvCxnSpPr>
            <a:stCxn id="323" idx="6"/>
            <a:endCxn id="326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1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1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1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" name="Google Shape;343;p31"/>
          <p:cNvCxnSpPr>
            <a:stCxn id="338" idx="7"/>
            <a:endCxn id="339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1"/>
          <p:cNvCxnSpPr>
            <a:stCxn id="338" idx="5"/>
            <a:endCxn id="342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1"/>
          <p:cNvCxnSpPr>
            <a:stCxn id="341" idx="0"/>
            <a:endCxn id="340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1"/>
          <p:cNvCxnSpPr>
            <a:stCxn id="338" idx="6"/>
            <a:endCxn id="340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1"/>
          <p:cNvCxnSpPr>
            <a:stCxn id="338" idx="6"/>
            <a:endCxn id="341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1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9" name="Google Shape;349;p31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50" name="Google Shape;350;p31"/>
          <p:cNvCxnSpPr>
            <a:stCxn id="342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51" name="Google Shape;351;p31"/>
          <p:cNvCxnSpPr>
            <a:stCxn id="342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52" name="Google Shape;352;p31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1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1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" name="Google Shape;357;p31"/>
          <p:cNvCxnSpPr>
            <a:stCxn id="352" idx="7"/>
            <a:endCxn id="353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1"/>
          <p:cNvCxnSpPr>
            <a:stCxn id="352" idx="5"/>
            <a:endCxn id="356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1"/>
          <p:cNvCxnSpPr>
            <a:stCxn id="352" idx="6"/>
            <a:endCxn id="354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1"/>
          <p:cNvCxnSpPr>
            <a:stCxn id="352" idx="6"/>
            <a:endCxn id="355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1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2" name="Google Shape;362;p31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3" name="Google Shape;363;p31"/>
          <p:cNvCxnSpPr>
            <a:stCxn id="356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4" name="Google Shape;364;p31"/>
          <p:cNvCxnSpPr>
            <a:stCxn id="356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370" name="Google Shape;370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thinking about preferences between low and high bandwidth ties we must take into account properties of the information environment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knows what?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what frequency is knowledge transmitted?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works better when contacts are diverse in information </a:t>
            </a:r>
            <a:endParaRPr/>
          </a:p>
        </p:txBody>
      </p:sp>
      <p:sp>
        <p:nvSpPr>
          <p:cNvPr id="371" name="Google Shape;371;p32"/>
          <p:cNvSpPr/>
          <p:nvPr/>
        </p:nvSpPr>
        <p:spPr>
          <a:xfrm>
            <a:off x="1011888" y="3759155"/>
            <a:ext cx="322200" cy="305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"/>
          <p:cNvSpPr/>
          <p:nvPr/>
        </p:nvSpPr>
        <p:spPr>
          <a:xfrm>
            <a:off x="1855421" y="3055866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1855421" y="4462095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4" name="Google Shape;374;p32"/>
          <p:cNvCxnSpPr>
            <a:stCxn id="371" idx="7"/>
            <a:endCxn id="372" idx="3"/>
          </p:cNvCxnSpPr>
          <p:nvPr/>
        </p:nvCxnSpPr>
        <p:spPr>
          <a:xfrm flipH="1" rot="10800000">
            <a:off x="1286902" y="3316336"/>
            <a:ext cx="615600" cy="4875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2"/>
          <p:cNvCxnSpPr>
            <a:stCxn id="371" idx="5"/>
            <a:endCxn id="373" idx="1"/>
          </p:cNvCxnSpPr>
          <p:nvPr/>
        </p:nvCxnSpPr>
        <p:spPr>
          <a:xfrm>
            <a:off x="1286902" y="4019574"/>
            <a:ext cx="615600" cy="4872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6" name="Google Shape;376;p32"/>
          <p:cNvSpPr/>
          <p:nvPr/>
        </p:nvSpPr>
        <p:spPr>
          <a:xfrm>
            <a:off x="2248627" y="2997400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2248627" y="4403623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5, 6, 7, 8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5588567" y="3759335"/>
            <a:ext cx="322200" cy="305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/>
          <p:nvPr/>
        </p:nvSpPr>
        <p:spPr>
          <a:xfrm>
            <a:off x="6432100" y="3056046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/>
          <p:nvPr/>
        </p:nvSpPr>
        <p:spPr>
          <a:xfrm>
            <a:off x="6432100" y="4462275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1" name="Google Shape;381;p32"/>
          <p:cNvCxnSpPr>
            <a:stCxn id="378" idx="7"/>
            <a:endCxn id="379" idx="3"/>
          </p:cNvCxnSpPr>
          <p:nvPr/>
        </p:nvCxnSpPr>
        <p:spPr>
          <a:xfrm flipH="1" rot="10800000">
            <a:off x="5863582" y="3316516"/>
            <a:ext cx="615600" cy="48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2"/>
          <p:cNvCxnSpPr>
            <a:stCxn id="378" idx="5"/>
            <a:endCxn id="380" idx="1"/>
          </p:cNvCxnSpPr>
          <p:nvPr/>
        </p:nvCxnSpPr>
        <p:spPr>
          <a:xfrm>
            <a:off x="5863582" y="4019754"/>
            <a:ext cx="615600" cy="487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32"/>
          <p:cNvSpPr/>
          <p:nvPr/>
        </p:nvSpPr>
        <p:spPr>
          <a:xfrm>
            <a:off x="6825307" y="2997580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6825307" y="4403804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cxnSp>
        <p:nvCxnSpPr>
          <p:cNvPr id="385" name="Google Shape;385;p32"/>
          <p:cNvCxnSpPr>
            <a:stCxn id="380" idx="0"/>
            <a:endCxn id="379" idx="4"/>
          </p:cNvCxnSpPr>
          <p:nvPr/>
        </p:nvCxnSpPr>
        <p:spPr>
          <a:xfrm rot="10800000">
            <a:off x="6593200" y="3361275"/>
            <a:ext cx="0" cy="11010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391" name="Google Shape;391;p33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3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4" name="Google Shape;394;p33"/>
          <p:cNvCxnSpPr>
            <a:stCxn id="391" idx="7"/>
            <a:endCxn id="392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3"/>
          <p:cNvCxnSpPr>
            <a:stCxn id="391" idx="5"/>
            <a:endCxn id="393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6" name="Google Shape;396;p33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397" name="Google Shape;397;p33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5, 6, 7, 8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1" name="Google Shape;401;p33"/>
          <p:cNvCxnSpPr>
            <a:stCxn id="398" idx="7"/>
            <a:endCxn id="399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3"/>
          <p:cNvCxnSpPr>
            <a:stCxn id="398" idx="5"/>
            <a:endCxn id="400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33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405" name="Google Shape;405;p33"/>
          <p:cNvCxnSpPr>
            <a:stCxn id="400" idx="0"/>
            <a:endCxn id="399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33"/>
          <p:cNvSpPr txBox="1"/>
          <p:nvPr/>
        </p:nvSpPr>
        <p:spPr>
          <a:xfrm>
            <a:off x="4179725" y="2093825"/>
            <a:ext cx="10599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better!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33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have diverse pools of information (different people you know different things)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low bandwidth ties are better</a:t>
            </a:r>
            <a:endParaRPr/>
          </a:p>
        </p:txBody>
      </p:sp>
      <p:cxnSp>
        <p:nvCxnSpPr>
          <p:cNvPr id="408" name="Google Shape;408;p33"/>
          <p:cNvCxnSpPr>
            <a:stCxn id="406" idx="1"/>
          </p:cNvCxnSpPr>
          <p:nvPr/>
        </p:nvCxnSpPr>
        <p:spPr>
          <a:xfrm rot="10800000">
            <a:off x="3419225" y="2375525"/>
            <a:ext cx="760500" cy="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14" name="Google Shape;414;p34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4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p34"/>
          <p:cNvCxnSpPr>
            <a:stCxn id="414" idx="7"/>
            <a:endCxn id="415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4"/>
          <p:cNvCxnSpPr>
            <a:stCxn id="414" idx="5"/>
            <a:endCxn id="416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9" name="Google Shape;419;p34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5, 6, 7, 8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4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4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4" name="Google Shape;424;p34"/>
          <p:cNvCxnSpPr>
            <a:stCxn id="421" idx="7"/>
            <a:endCxn id="422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4"/>
          <p:cNvCxnSpPr>
            <a:stCxn id="421" idx="5"/>
            <a:endCxn id="423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4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428" name="Google Shape;428;p34"/>
          <p:cNvCxnSpPr>
            <a:stCxn id="423" idx="0"/>
            <a:endCxn id="422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34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do not have diverse pools of information (the people you know all know the same thing because they talk to one another)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Strong, high-bandwidth ties just give you the same information</a:t>
            </a:r>
            <a:endParaRPr/>
          </a:p>
        </p:txBody>
      </p:sp>
      <p:sp>
        <p:nvSpPr>
          <p:cNvPr id="430" name="Google Shape;430;p34"/>
          <p:cNvSpPr txBox="1"/>
          <p:nvPr/>
        </p:nvSpPr>
        <p:spPr>
          <a:xfrm>
            <a:off x="3655950" y="2093600"/>
            <a:ext cx="1273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redundant!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31" name="Google Shape;431;p34"/>
          <p:cNvCxnSpPr>
            <a:stCxn id="430" idx="3"/>
          </p:cNvCxnSpPr>
          <p:nvPr/>
        </p:nvCxnSpPr>
        <p:spPr>
          <a:xfrm>
            <a:off x="4929450" y="2381300"/>
            <a:ext cx="672900" cy="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37" name="Google Shape;437;p35"/>
          <p:cNvSpPr txBox="1"/>
          <p:nvPr>
            <p:ph idx="1" type="body"/>
          </p:nvPr>
        </p:nvSpPr>
        <p:spPr>
          <a:xfrm>
            <a:off x="311700" y="1225225"/>
            <a:ext cx="8520600" cy="15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thinking about preferences between low and high bandwidth ties we have to consider properties of the information environment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knows what?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what </a:t>
            </a:r>
            <a:r>
              <a:rPr b="1" lang="en"/>
              <a:t>frequency </a:t>
            </a:r>
            <a:r>
              <a:rPr lang="en"/>
              <a:t>is knowledge transmitted?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5"/>
          <p:cNvSpPr/>
          <p:nvPr/>
        </p:nvSpPr>
        <p:spPr>
          <a:xfrm>
            <a:off x="160988" y="33860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5"/>
          <p:cNvSpPr/>
          <p:nvPr/>
        </p:nvSpPr>
        <p:spPr>
          <a:xfrm>
            <a:off x="794696" y="28586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5"/>
          <p:cNvSpPr/>
          <p:nvPr/>
        </p:nvSpPr>
        <p:spPr>
          <a:xfrm>
            <a:off x="794696" y="39132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1" name="Google Shape;441;p35"/>
          <p:cNvCxnSpPr>
            <a:stCxn id="438" idx="7"/>
            <a:endCxn id="439" idx="3"/>
          </p:cNvCxnSpPr>
          <p:nvPr/>
        </p:nvCxnSpPr>
        <p:spPr>
          <a:xfrm flipH="1" rot="10800000">
            <a:off x="367633" y="30538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5"/>
          <p:cNvCxnSpPr>
            <a:stCxn id="438" idx="5"/>
            <a:endCxn id="440" idx="1"/>
          </p:cNvCxnSpPr>
          <p:nvPr/>
        </p:nvCxnSpPr>
        <p:spPr>
          <a:xfrm>
            <a:off x="367633" y="35811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3" name="Google Shape;443;p35"/>
          <p:cNvSpPr/>
          <p:nvPr/>
        </p:nvSpPr>
        <p:spPr>
          <a:xfrm>
            <a:off x="1090094" y="28147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1090094" y="38694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5, 6, 7, 8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3465788" y="33861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5"/>
          <p:cNvSpPr/>
          <p:nvPr/>
        </p:nvSpPr>
        <p:spPr>
          <a:xfrm>
            <a:off x="4099496" y="28587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5"/>
          <p:cNvSpPr/>
          <p:nvPr/>
        </p:nvSpPr>
        <p:spPr>
          <a:xfrm>
            <a:off x="4099496" y="39133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35"/>
          <p:cNvCxnSpPr>
            <a:stCxn id="445" idx="7"/>
            <a:endCxn id="446" idx="3"/>
          </p:cNvCxnSpPr>
          <p:nvPr/>
        </p:nvCxnSpPr>
        <p:spPr>
          <a:xfrm flipH="1" rot="10800000">
            <a:off x="3672433" y="30539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5"/>
          <p:cNvCxnSpPr>
            <a:stCxn id="445" idx="5"/>
            <a:endCxn id="447" idx="1"/>
          </p:cNvCxnSpPr>
          <p:nvPr/>
        </p:nvCxnSpPr>
        <p:spPr>
          <a:xfrm>
            <a:off x="3672433" y="35812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0" name="Google Shape;450;p35"/>
          <p:cNvSpPr/>
          <p:nvPr/>
        </p:nvSpPr>
        <p:spPr>
          <a:xfrm>
            <a:off x="4394894" y="28148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4394894" y="38695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6770638" y="3386052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>
            <a:off x="7404346" y="2858587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5"/>
          <p:cNvSpPr/>
          <p:nvPr/>
        </p:nvSpPr>
        <p:spPr>
          <a:xfrm>
            <a:off x="7404346" y="3913256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5" name="Google Shape;455;p35"/>
          <p:cNvCxnSpPr>
            <a:stCxn id="452" idx="7"/>
            <a:endCxn id="453" idx="3"/>
          </p:cNvCxnSpPr>
          <p:nvPr/>
        </p:nvCxnSpPr>
        <p:spPr>
          <a:xfrm flipH="1" rot="10800000">
            <a:off x="6977283" y="3053830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5"/>
          <p:cNvCxnSpPr>
            <a:stCxn id="452" idx="5"/>
            <a:endCxn id="454" idx="1"/>
          </p:cNvCxnSpPr>
          <p:nvPr/>
        </p:nvCxnSpPr>
        <p:spPr>
          <a:xfrm>
            <a:off x="6977283" y="3581174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7" name="Google Shape;457;p35"/>
          <p:cNvSpPr/>
          <p:nvPr/>
        </p:nvSpPr>
        <p:spPr>
          <a:xfrm>
            <a:off x="7699744" y="2814738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7699744" y="3869402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64" name="Google Shape;464;p36"/>
          <p:cNvSpPr txBox="1"/>
          <p:nvPr>
            <p:ph idx="1" type="body"/>
          </p:nvPr>
        </p:nvSpPr>
        <p:spPr>
          <a:xfrm>
            <a:off x="311675" y="1225225"/>
            <a:ext cx="85206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works better when contacts are diverse in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 bandwidth ties lose their advantage even when connecting ego to contacts with more </a:t>
            </a:r>
            <a:r>
              <a:rPr b="1" lang="en"/>
              <a:t>homogeneous </a:t>
            </a:r>
            <a:r>
              <a:rPr lang="en"/>
              <a:t>information, even if there is partial overlap of information across contacts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6"/>
          <p:cNvSpPr/>
          <p:nvPr/>
        </p:nvSpPr>
        <p:spPr>
          <a:xfrm>
            <a:off x="160988" y="33860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6"/>
          <p:cNvSpPr/>
          <p:nvPr/>
        </p:nvSpPr>
        <p:spPr>
          <a:xfrm>
            <a:off x="794696" y="28586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6"/>
          <p:cNvSpPr/>
          <p:nvPr/>
        </p:nvSpPr>
        <p:spPr>
          <a:xfrm>
            <a:off x="794696" y="39132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8" name="Google Shape;468;p36"/>
          <p:cNvCxnSpPr>
            <a:stCxn id="465" idx="7"/>
            <a:endCxn id="466" idx="3"/>
          </p:cNvCxnSpPr>
          <p:nvPr/>
        </p:nvCxnSpPr>
        <p:spPr>
          <a:xfrm flipH="1" rot="10800000">
            <a:off x="367633" y="30538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36"/>
          <p:cNvCxnSpPr>
            <a:stCxn id="465" idx="5"/>
            <a:endCxn id="467" idx="1"/>
          </p:cNvCxnSpPr>
          <p:nvPr/>
        </p:nvCxnSpPr>
        <p:spPr>
          <a:xfrm>
            <a:off x="367633" y="35811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0" name="Google Shape;470;p36"/>
          <p:cNvSpPr/>
          <p:nvPr/>
        </p:nvSpPr>
        <p:spPr>
          <a:xfrm>
            <a:off x="1090094" y="28147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1090094" y="38694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5, 6, 7, 8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2" name="Google Shape;472;p36"/>
          <p:cNvSpPr/>
          <p:nvPr/>
        </p:nvSpPr>
        <p:spPr>
          <a:xfrm>
            <a:off x="3465788" y="33861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6"/>
          <p:cNvSpPr/>
          <p:nvPr/>
        </p:nvSpPr>
        <p:spPr>
          <a:xfrm>
            <a:off x="4099496" y="28587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6"/>
          <p:cNvSpPr/>
          <p:nvPr/>
        </p:nvSpPr>
        <p:spPr>
          <a:xfrm>
            <a:off x="4099496" y="39133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5" name="Google Shape;475;p36"/>
          <p:cNvCxnSpPr>
            <a:stCxn id="472" idx="7"/>
            <a:endCxn id="473" idx="3"/>
          </p:cNvCxnSpPr>
          <p:nvPr/>
        </p:nvCxnSpPr>
        <p:spPr>
          <a:xfrm flipH="1" rot="10800000">
            <a:off x="3672433" y="30539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6"/>
          <p:cNvCxnSpPr>
            <a:stCxn id="472" idx="5"/>
            <a:endCxn id="474" idx="1"/>
          </p:cNvCxnSpPr>
          <p:nvPr/>
        </p:nvCxnSpPr>
        <p:spPr>
          <a:xfrm>
            <a:off x="3672433" y="35812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7" name="Google Shape;477;p36"/>
          <p:cNvSpPr/>
          <p:nvPr/>
        </p:nvSpPr>
        <p:spPr>
          <a:xfrm>
            <a:off x="4394894" y="28148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8" name="Google Shape;478;p36"/>
          <p:cNvSpPr/>
          <p:nvPr/>
        </p:nvSpPr>
        <p:spPr>
          <a:xfrm>
            <a:off x="4394894" y="38695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6770638" y="3386052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6"/>
          <p:cNvSpPr/>
          <p:nvPr/>
        </p:nvSpPr>
        <p:spPr>
          <a:xfrm>
            <a:off x="7404346" y="2858587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6"/>
          <p:cNvSpPr/>
          <p:nvPr/>
        </p:nvSpPr>
        <p:spPr>
          <a:xfrm>
            <a:off x="7404346" y="3913256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2" name="Google Shape;482;p36"/>
          <p:cNvCxnSpPr>
            <a:stCxn id="479" idx="7"/>
            <a:endCxn id="480" idx="3"/>
          </p:cNvCxnSpPr>
          <p:nvPr/>
        </p:nvCxnSpPr>
        <p:spPr>
          <a:xfrm flipH="1" rot="10800000">
            <a:off x="6977283" y="3053830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6"/>
          <p:cNvCxnSpPr>
            <a:stCxn id="479" idx="5"/>
            <a:endCxn id="481" idx="1"/>
          </p:cNvCxnSpPr>
          <p:nvPr/>
        </p:nvCxnSpPr>
        <p:spPr>
          <a:xfrm>
            <a:off x="6977283" y="3581174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84" name="Google Shape;484;p36"/>
          <p:cNvSpPr/>
          <p:nvPr/>
        </p:nvSpPr>
        <p:spPr>
          <a:xfrm>
            <a:off x="7699744" y="2814738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85" name="Google Shape;485;p36"/>
          <p:cNvSpPr/>
          <p:nvPr/>
        </p:nvSpPr>
        <p:spPr>
          <a:xfrm>
            <a:off x="7699744" y="3869402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86" name="Google Shape;486;p36"/>
          <p:cNvSpPr txBox="1"/>
          <p:nvPr/>
        </p:nvSpPr>
        <p:spPr>
          <a:xfrm>
            <a:off x="536725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are good here!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p36"/>
          <p:cNvSpPr txBox="1"/>
          <p:nvPr/>
        </p:nvSpPr>
        <p:spPr>
          <a:xfrm>
            <a:off x="3707900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not as good...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p36"/>
          <p:cNvSpPr txBox="1"/>
          <p:nvPr/>
        </p:nvSpPr>
        <p:spPr>
          <a:xfrm>
            <a:off x="7398400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are worse here!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p36"/>
          <p:cNvSpPr txBox="1"/>
          <p:nvPr/>
        </p:nvSpPr>
        <p:spPr>
          <a:xfrm>
            <a:off x="437500" y="2390350"/>
            <a:ext cx="210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0" name="Google Shape;490;p36"/>
          <p:cNvSpPr txBox="1"/>
          <p:nvPr/>
        </p:nvSpPr>
        <p:spPr>
          <a:xfrm>
            <a:off x="3376775" y="2390400"/>
            <a:ext cx="239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Some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1" name="Google Shape;491;p36"/>
          <p:cNvSpPr txBox="1"/>
          <p:nvPr/>
        </p:nvSpPr>
        <p:spPr>
          <a:xfrm>
            <a:off x="6770650" y="2412250"/>
            <a:ext cx="239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Total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97" name="Google Shape;497;p37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7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7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0" name="Google Shape;500;p37"/>
          <p:cNvCxnSpPr>
            <a:stCxn id="497" idx="7"/>
            <a:endCxn id="498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7"/>
          <p:cNvCxnSpPr>
            <a:stCxn id="497" idx="5"/>
            <a:endCxn id="499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02" name="Google Shape;502;p37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503" name="Google Shape;503;p37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504" name="Google Shape;504;p37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7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7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7" name="Google Shape;507;p37"/>
          <p:cNvCxnSpPr>
            <a:stCxn id="504" idx="7"/>
            <a:endCxn id="505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7"/>
          <p:cNvCxnSpPr>
            <a:stCxn id="504" idx="5"/>
            <a:endCxn id="506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37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510" name="Google Shape;510;p37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511" name="Google Shape;511;p37"/>
          <p:cNvCxnSpPr>
            <a:stCxn id="506" idx="0"/>
            <a:endCxn id="505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37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do not have diverse pools of information (the people you know all know the same thing because they talk to one another)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Strong, high-bandwidth ties give faster access to more complex information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518" name="Google Shape;518;p38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8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8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1" name="Google Shape;521;p38"/>
          <p:cNvCxnSpPr>
            <a:stCxn id="518" idx="7"/>
            <a:endCxn id="519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8"/>
          <p:cNvCxnSpPr>
            <a:stCxn id="518" idx="5"/>
            <a:endCxn id="520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3" name="Google Shape;523;p38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524" name="Google Shape;524;p38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525" name="Google Shape;525;p38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8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8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8" name="Google Shape;528;p38"/>
          <p:cNvCxnSpPr>
            <a:stCxn id="525" idx="7"/>
            <a:endCxn id="526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8"/>
          <p:cNvCxnSpPr>
            <a:stCxn id="525" idx="5"/>
            <a:endCxn id="527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38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531" name="Google Shape;531;p38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532" name="Google Shape;532;p38"/>
          <p:cNvCxnSpPr>
            <a:stCxn id="527" idx="0"/>
            <a:endCxn id="526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38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do not have diverse pools of information (the people you know all know the same thing because they talk to one another)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Strong, high-bandwidth ties give faster access to more complex information</a:t>
            </a:r>
            <a:endParaRPr/>
          </a:p>
        </p:txBody>
      </p:sp>
      <p:sp>
        <p:nvSpPr>
          <p:cNvPr id="534" name="Google Shape;534;p38"/>
          <p:cNvSpPr txBox="1"/>
          <p:nvPr/>
        </p:nvSpPr>
        <p:spPr>
          <a:xfrm>
            <a:off x="3655950" y="2093600"/>
            <a:ext cx="1273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better!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35" name="Google Shape;535;p38"/>
          <p:cNvCxnSpPr>
            <a:stCxn id="534" idx="3"/>
          </p:cNvCxnSpPr>
          <p:nvPr/>
        </p:nvCxnSpPr>
        <p:spPr>
          <a:xfrm>
            <a:off x="4929450" y="2381300"/>
            <a:ext cx="672900" cy="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