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5143500" cx="9144000"/>
  <p:notesSz cx="6858000" cy="9144000"/>
  <p:embeddedFontLst>
    <p:embeddedFont>
      <p:font typeface="Economica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Economica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Economica-italic.fntdata"/><Relationship Id="rId10" Type="http://schemas.openxmlformats.org/officeDocument/2006/relationships/slide" Target="slides/slide6.xml"/><Relationship Id="rId32" Type="http://schemas.openxmlformats.org/officeDocument/2006/relationships/font" Target="fonts/Economica-bold.fntdata"/><Relationship Id="rId13" Type="http://schemas.openxmlformats.org/officeDocument/2006/relationships/slide" Target="slides/slide9.xml"/><Relationship Id="rId35" Type="http://schemas.openxmlformats.org/officeDocument/2006/relationships/font" Target="fonts/OpenSans-regular.fntdata"/><Relationship Id="rId12" Type="http://schemas.openxmlformats.org/officeDocument/2006/relationships/slide" Target="slides/slide8.xml"/><Relationship Id="rId34" Type="http://schemas.openxmlformats.org/officeDocument/2006/relationships/font" Target="fonts/Economica-bold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italic.fntdata"/><Relationship Id="rId14" Type="http://schemas.openxmlformats.org/officeDocument/2006/relationships/slide" Target="slides/slide10.xml"/><Relationship Id="rId36" Type="http://schemas.openxmlformats.org/officeDocument/2006/relationships/font" Target="fonts/OpenSans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8a6f20f8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8a6f20f8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8a6f20f8d_0_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8a6f20f8d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a6f20f8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a6f20f8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8a6f20f8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8a6f20f8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8a6f20f8d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8a6f20f8d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8a6f20f8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8a6f20f8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a6f20f8d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a6f20f8d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8a6f20f8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8a6f20f8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8a6f20f8d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8a6f20f8d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8a6f20f8d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8a6f20f8d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8a6f20f8d_0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8a6f20f8d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8a6f20f8d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8a6f20f8d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a6f20f8d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8a6f20f8d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8a6f20f8d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8a6f20f8d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8a6f20f8d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8a6f20f8d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8a6f20f8d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8a6f20f8d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8a6f20f8d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8a6f20f8d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8a6f20f8d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8a6f20f8d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8a6f20f8d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8a6f20f8d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8a6f20f8d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8a6f20f8d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8a6f20f8d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8a6f20f8d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8a6f20f8d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8a6f20f8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8a6f20f8d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8a6f20f8d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8a6f20f8d_0_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8a6f20f8d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8a6f20f8d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8a6f20f8d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35876"/>
            <a:ext cx="3054600" cy="297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Research: Effects of Contexts and Opportunity Structures on Ego Networks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416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 “core” networks are socially segregated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by race, ethnicity, political affiliation, religion, etc.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are larger “acquaintance” networks equally segregated?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“core” networks serve to “bond” and larger acquaintance networks serve to “bridge”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Putnam (2000)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0757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rgbClr val="C27BA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rgbClr val="674EA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77;p14"/>
          <p:cNvCxnSpPr>
            <a:stCxn id="69" idx="6"/>
            <a:endCxn id="70" idx="2"/>
          </p:cNvCxnSpPr>
          <p:nvPr/>
        </p:nvCxnSpPr>
        <p:spPr>
          <a:xfrm flipH="1" rot="10800000">
            <a:off x="5672150" y="1306700"/>
            <a:ext cx="2319300" cy="152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>
            <a:stCxn id="69" idx="6"/>
            <a:endCxn id="71" idx="2"/>
          </p:cNvCxnSpPr>
          <p:nvPr/>
        </p:nvCxnSpPr>
        <p:spPr>
          <a:xfrm flipH="1" rot="10800000">
            <a:off x="5672150" y="1816400"/>
            <a:ext cx="2319300" cy="101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4"/>
          <p:cNvCxnSpPr>
            <a:stCxn id="69" idx="6"/>
            <a:endCxn id="72" idx="2"/>
          </p:cNvCxnSpPr>
          <p:nvPr/>
        </p:nvCxnSpPr>
        <p:spPr>
          <a:xfrm flipH="1" rot="10800000">
            <a:off x="5672150" y="2326100"/>
            <a:ext cx="2319300" cy="50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4"/>
          <p:cNvCxnSpPr>
            <a:stCxn id="69" idx="6"/>
            <a:endCxn id="73" idx="2"/>
          </p:cNvCxnSpPr>
          <p:nvPr/>
        </p:nvCxnSpPr>
        <p:spPr>
          <a:xfrm>
            <a:off x="5672150" y="2835800"/>
            <a:ext cx="231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1" name="Google Shape;81;p14"/>
          <p:cNvCxnSpPr>
            <a:stCxn id="69" idx="6"/>
            <a:endCxn id="74" idx="2"/>
          </p:cNvCxnSpPr>
          <p:nvPr/>
        </p:nvCxnSpPr>
        <p:spPr>
          <a:xfrm>
            <a:off x="5672150" y="2835800"/>
            <a:ext cx="2319300" cy="50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" name="Google Shape;82;p14"/>
          <p:cNvCxnSpPr>
            <a:stCxn id="69" idx="6"/>
            <a:endCxn id="75" idx="2"/>
          </p:cNvCxnSpPr>
          <p:nvPr/>
        </p:nvCxnSpPr>
        <p:spPr>
          <a:xfrm>
            <a:off x="5672150" y="2835800"/>
            <a:ext cx="2319300" cy="10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" name="Google Shape;83;p14"/>
          <p:cNvCxnSpPr>
            <a:stCxn id="69" idx="6"/>
            <a:endCxn id="76" idx="2"/>
          </p:cNvCxnSpPr>
          <p:nvPr/>
        </p:nvCxnSpPr>
        <p:spPr>
          <a:xfrm>
            <a:off x="5672150" y="2835800"/>
            <a:ext cx="2319300" cy="152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225225"/>
            <a:ext cx="4167300" cy="3354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Smaller “core” networks are socially segregated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by race, ethnicity, political affiliation, religion, etc.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are larger “acquaintance” networks equally segregated?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However, recent work (DiPrete et al 2011) seems to suggest that “larger” </a:t>
            </a:r>
            <a:r>
              <a:rPr lang="en"/>
              <a:t>acquaintanceship</a:t>
            </a:r>
            <a:r>
              <a:rPr lang="en"/>
              <a:t> networks are also segregated!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Why?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50757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" name="Google Shape;98;p15"/>
          <p:cNvCxnSpPr>
            <a:stCxn id="90" idx="6"/>
            <a:endCxn id="91" idx="2"/>
          </p:cNvCxnSpPr>
          <p:nvPr/>
        </p:nvCxnSpPr>
        <p:spPr>
          <a:xfrm flipH="1" rot="10800000">
            <a:off x="5672150" y="1306700"/>
            <a:ext cx="2319300" cy="152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5"/>
          <p:cNvCxnSpPr>
            <a:stCxn id="90" idx="6"/>
            <a:endCxn id="92" idx="2"/>
          </p:cNvCxnSpPr>
          <p:nvPr/>
        </p:nvCxnSpPr>
        <p:spPr>
          <a:xfrm flipH="1" rot="10800000">
            <a:off x="5672150" y="1816400"/>
            <a:ext cx="2319300" cy="1019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5"/>
          <p:cNvCxnSpPr>
            <a:stCxn id="90" idx="6"/>
            <a:endCxn id="93" idx="2"/>
          </p:cNvCxnSpPr>
          <p:nvPr/>
        </p:nvCxnSpPr>
        <p:spPr>
          <a:xfrm flipH="1" rot="10800000">
            <a:off x="5672150" y="2326100"/>
            <a:ext cx="2319300" cy="509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5"/>
          <p:cNvCxnSpPr>
            <a:stCxn id="90" idx="6"/>
            <a:endCxn id="94" idx="2"/>
          </p:cNvCxnSpPr>
          <p:nvPr/>
        </p:nvCxnSpPr>
        <p:spPr>
          <a:xfrm>
            <a:off x="5672150" y="2835800"/>
            <a:ext cx="231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5"/>
          <p:cNvCxnSpPr>
            <a:stCxn id="90" idx="6"/>
            <a:endCxn id="95" idx="2"/>
          </p:cNvCxnSpPr>
          <p:nvPr/>
        </p:nvCxnSpPr>
        <p:spPr>
          <a:xfrm>
            <a:off x="5672150" y="2835800"/>
            <a:ext cx="2319300" cy="50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5"/>
          <p:cNvCxnSpPr>
            <a:stCxn id="90" idx="6"/>
            <a:endCxn id="96" idx="2"/>
          </p:cNvCxnSpPr>
          <p:nvPr/>
        </p:nvCxnSpPr>
        <p:spPr>
          <a:xfrm>
            <a:off x="5672150" y="2835800"/>
            <a:ext cx="2319300" cy="101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5"/>
          <p:cNvCxnSpPr>
            <a:stCxn id="90" idx="6"/>
            <a:endCxn id="97" idx="2"/>
          </p:cNvCxnSpPr>
          <p:nvPr/>
        </p:nvCxnSpPr>
        <p:spPr>
          <a:xfrm>
            <a:off x="5672150" y="2835800"/>
            <a:ext cx="2319300" cy="152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4476300" y="2610763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on...</a:t>
            </a:r>
            <a:endParaRPr/>
          </a:p>
        </p:txBody>
      </p:sp>
      <p:cxnSp>
        <p:nvCxnSpPr>
          <p:cNvPr id="110" name="Google Shape;110;p16"/>
          <p:cNvCxnSpPr>
            <a:stCxn id="109" idx="3"/>
            <a:endCxn id="111" idx="1"/>
          </p:cNvCxnSpPr>
          <p:nvPr/>
        </p:nvCxnSpPr>
        <p:spPr>
          <a:xfrm flipH="1" rot="10800000">
            <a:off x="5994900" y="1516813"/>
            <a:ext cx="1110600" cy="1385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6"/>
          <p:cNvSpPr/>
          <p:nvPr/>
        </p:nvSpPr>
        <p:spPr>
          <a:xfrm>
            <a:off x="7105558" y="1225225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7105558" y="2610805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</a:t>
            </a:r>
            <a:endParaRPr/>
          </a:p>
        </p:txBody>
      </p:sp>
      <p:cxnSp>
        <p:nvCxnSpPr>
          <p:cNvPr id="113" name="Google Shape;113;p16"/>
          <p:cNvCxnSpPr>
            <a:stCxn id="109" idx="3"/>
            <a:endCxn id="112" idx="1"/>
          </p:cNvCxnSpPr>
          <p:nvPr/>
        </p:nvCxnSpPr>
        <p:spPr>
          <a:xfrm>
            <a:off x="5994900" y="2902213"/>
            <a:ext cx="11106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6"/>
          <p:cNvCxnSpPr>
            <a:stCxn id="109" idx="3"/>
            <a:endCxn id="115" idx="1"/>
          </p:cNvCxnSpPr>
          <p:nvPr/>
        </p:nvCxnSpPr>
        <p:spPr>
          <a:xfrm>
            <a:off x="5994900" y="2902213"/>
            <a:ext cx="1110600" cy="1385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p16"/>
          <p:cNvSpPr/>
          <p:nvPr/>
        </p:nvSpPr>
        <p:spPr>
          <a:xfrm>
            <a:off x="7105558" y="3996383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Decay</a:t>
            </a:r>
            <a:endParaRPr/>
          </a:p>
        </p:txBody>
      </p:sp>
      <p:sp>
        <p:nvSpPr>
          <p:cNvPr id="116" name="Google Shape;116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311700" y="1225225"/>
            <a:ext cx="416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ego-networks remain segregated?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Contextual and socio-psychological constraints work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on last discussion need to dissociate constraints at different dyadic stages: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Maintenance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4476300" y="2610763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on...</a:t>
            </a:r>
            <a:endParaRPr/>
          </a:p>
        </p:txBody>
      </p:sp>
      <p:cxnSp>
        <p:nvCxnSpPr>
          <p:cNvPr id="123" name="Google Shape;123;p17"/>
          <p:cNvCxnSpPr>
            <a:stCxn id="122" idx="3"/>
            <a:endCxn id="124" idx="1"/>
          </p:cNvCxnSpPr>
          <p:nvPr/>
        </p:nvCxnSpPr>
        <p:spPr>
          <a:xfrm flipH="1" rot="10800000">
            <a:off x="5994900" y="1516813"/>
            <a:ext cx="1110600" cy="1385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17"/>
          <p:cNvSpPr/>
          <p:nvPr/>
        </p:nvSpPr>
        <p:spPr>
          <a:xfrm>
            <a:off x="7105558" y="1225225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Formation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7105558" y="2610805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Maintenance</a:t>
            </a:r>
            <a:endParaRPr/>
          </a:p>
        </p:txBody>
      </p:sp>
      <p:cxnSp>
        <p:nvCxnSpPr>
          <p:cNvPr id="126" name="Google Shape;126;p17"/>
          <p:cNvCxnSpPr>
            <a:stCxn id="122" idx="3"/>
            <a:endCxn id="125" idx="1"/>
          </p:cNvCxnSpPr>
          <p:nvPr/>
        </p:nvCxnSpPr>
        <p:spPr>
          <a:xfrm>
            <a:off x="5994900" y="2902213"/>
            <a:ext cx="11106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7"/>
          <p:cNvCxnSpPr>
            <a:stCxn id="122" idx="3"/>
            <a:endCxn id="128" idx="1"/>
          </p:cNvCxnSpPr>
          <p:nvPr/>
        </p:nvCxnSpPr>
        <p:spPr>
          <a:xfrm>
            <a:off x="5994900" y="2902213"/>
            <a:ext cx="1110600" cy="1385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7"/>
          <p:cNvSpPr/>
          <p:nvPr/>
        </p:nvSpPr>
        <p:spPr>
          <a:xfrm>
            <a:off x="7105558" y="3996383"/>
            <a:ext cx="1518600" cy="582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Decay</a:t>
            </a:r>
            <a:endParaRPr/>
          </a:p>
        </p:txBody>
      </p:sp>
      <p:sp>
        <p:nvSpPr>
          <p:cNvPr id="129" name="Google Shape;12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11700" y="1225225"/>
            <a:ext cx="4164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do ego-networks remain segregated?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Contextual and socio-psychological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three different type of answers: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constrains relations to </a:t>
            </a:r>
            <a:r>
              <a:rPr b="1" lang="en"/>
              <a:t>form</a:t>
            </a:r>
            <a:r>
              <a:rPr lang="en"/>
              <a:t> with similar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constrains people to </a:t>
            </a:r>
            <a:r>
              <a:rPr b="1" lang="en"/>
              <a:t>maintain </a:t>
            </a:r>
            <a:r>
              <a:rPr lang="en"/>
              <a:t>relations to similar others?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constrains relations with similar other from being </a:t>
            </a:r>
            <a:r>
              <a:rPr b="1" lang="en"/>
              <a:t>dissolved?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Lazarsfeld/Merton</a:t>
            </a:r>
            <a:r>
              <a:rPr lang="en"/>
              <a:t>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Preferences for similar (dissimilar) others leads to segregated (non-segregated)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Blau’s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Numerical </a:t>
            </a:r>
            <a:r>
              <a:rPr lang="en"/>
              <a:t>preponderance (scarcity)</a:t>
            </a:r>
            <a:r>
              <a:rPr lang="en"/>
              <a:t> of similar others leads to segregated (non-segregated) networks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Feld’s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Segregated (non-segregated) foci lead to segregated (non-segregated)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</a:t>
            </a:r>
            <a:r>
              <a:rPr lang="en"/>
              <a:t>preferences</a:t>
            </a:r>
            <a:r>
              <a:rPr lang="en"/>
              <a:t> and group size differences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Mehra’s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in an extreme minority enhances preferences for similar others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Partially overriding Blau’s rule and independently of foci segregation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142" name="Google Shape;14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143" name="Google Shape;143;p19"/>
          <p:cNvCxnSpPr>
            <a:stCxn id="141" idx="3"/>
            <a:endCxn id="144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9"/>
          <p:cNvCxnSpPr>
            <a:stCxn id="141" idx="3"/>
            <a:endCxn id="146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19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147" name="Google Shape;147;p19"/>
          <p:cNvCxnSpPr>
            <a:stCxn id="146" idx="3"/>
            <a:endCxn id="148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9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" name="Google Shape;150;p19"/>
          <p:cNvCxnSpPr>
            <a:stCxn id="146" idx="3"/>
            <a:endCxn id="149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19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19"/>
          <p:cNvCxnSpPr>
            <a:stCxn id="144" idx="3"/>
            <a:endCxn id="151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9"/>
          <p:cNvCxnSpPr>
            <a:stCxn id="148" idx="3"/>
            <a:endCxn id="151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4" name="Google Shape;154;p19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19"/>
          <p:cNvCxnSpPr>
            <a:stCxn id="146" idx="3"/>
            <a:endCxn id="154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" name="Google Shape;156;p19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157" name="Google Shape;157;p19"/>
          <p:cNvCxnSpPr>
            <a:stCxn id="144" idx="2"/>
            <a:endCxn id="156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164" name="Google Shape;164;p20"/>
          <p:cNvCxnSpPr>
            <a:stCxn id="162" idx="3"/>
            <a:endCxn id="165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0"/>
          <p:cNvCxnSpPr>
            <a:stCxn id="162" idx="3"/>
            <a:endCxn id="167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0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168" name="Google Shape;168;p20"/>
          <p:cNvCxnSpPr>
            <a:stCxn id="167" idx="3"/>
            <a:endCxn id="169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0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20"/>
          <p:cNvCxnSpPr>
            <a:stCxn id="167" idx="3"/>
            <a:endCxn id="170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0"/>
          <p:cNvCxnSpPr>
            <a:stCxn id="165" idx="3"/>
            <a:endCxn id="172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>
            <a:stCxn id="169" idx="3"/>
            <a:endCxn id="172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5" name="Google Shape;175;p20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20"/>
          <p:cNvCxnSpPr>
            <a:stCxn id="167" idx="3"/>
            <a:endCxn id="175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0"/>
          <p:cNvSpPr/>
          <p:nvPr/>
        </p:nvSpPr>
        <p:spPr>
          <a:xfrm>
            <a:off x="6845100" y="13696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7919075" y="13696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7384250" y="23051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20"/>
          <p:cNvCxnSpPr>
            <a:stCxn id="177" idx="4"/>
            <a:endCxn id="179" idx="0"/>
          </p:cNvCxnSpPr>
          <p:nvPr/>
        </p:nvCxnSpPr>
        <p:spPr>
          <a:xfrm>
            <a:off x="7143300" y="1775500"/>
            <a:ext cx="5391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>
            <a:stCxn id="178" idx="4"/>
            <a:endCxn id="179" idx="0"/>
          </p:cNvCxnSpPr>
          <p:nvPr/>
        </p:nvCxnSpPr>
        <p:spPr>
          <a:xfrm flipH="1">
            <a:off x="7682375" y="1775500"/>
            <a:ext cx="5349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/>
          <p:nvPr/>
        </p:nvSpPr>
        <p:spPr>
          <a:xfrm>
            <a:off x="6847263" y="3537663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7921238" y="3537663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386413" y="4473188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" name="Google Shape;185;p20"/>
          <p:cNvCxnSpPr>
            <a:stCxn id="182" idx="4"/>
            <a:endCxn id="184" idx="0"/>
          </p:cNvCxnSpPr>
          <p:nvPr/>
        </p:nvCxnSpPr>
        <p:spPr>
          <a:xfrm>
            <a:off x="7145463" y="3943563"/>
            <a:ext cx="5391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>
            <a:stCxn id="183" idx="4"/>
            <a:endCxn id="184" idx="0"/>
          </p:cNvCxnSpPr>
          <p:nvPr/>
        </p:nvCxnSpPr>
        <p:spPr>
          <a:xfrm flipH="1">
            <a:off x="7684538" y="3943563"/>
            <a:ext cx="5349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>
            <a:stCxn id="183" idx="2"/>
            <a:endCxn id="182" idx="6"/>
          </p:cNvCxnSpPr>
          <p:nvPr/>
        </p:nvCxnSpPr>
        <p:spPr>
          <a:xfrm rot="10800000">
            <a:off x="7443638" y="3740613"/>
            <a:ext cx="477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/>
          <p:nvPr/>
        </p:nvSpPr>
        <p:spPr>
          <a:xfrm>
            <a:off x="7434875" y="2869525"/>
            <a:ext cx="567300" cy="529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190" name="Google Shape;190;p20"/>
          <p:cNvCxnSpPr>
            <a:stCxn id="165" idx="2"/>
            <a:endCxn id="189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196" name="Google Shape;19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197" name="Google Shape;197;p21"/>
          <p:cNvCxnSpPr>
            <a:stCxn id="195" idx="3"/>
            <a:endCxn id="198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1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199" name="Google Shape;199;p21"/>
          <p:cNvCxnSpPr>
            <a:stCxn id="198" idx="3"/>
            <a:endCxn id="200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1"/>
          <p:cNvSpPr/>
          <p:nvPr/>
        </p:nvSpPr>
        <p:spPr>
          <a:xfrm>
            <a:off x="4512650" y="3436931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pic>
        <p:nvPicPr>
          <p:cNvPr descr="Screenshot 2017-10-12 at 08.19.44.png"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375" y="1147225"/>
            <a:ext cx="6455925" cy="215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5281850" y="2478962"/>
            <a:ext cx="17334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207" name="Google Shape;20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208" name="Google Shape;208;p22"/>
          <p:cNvCxnSpPr>
            <a:stCxn id="206" idx="0"/>
            <a:endCxn id="209" idx="1"/>
          </p:cNvCxnSpPr>
          <p:nvPr/>
        </p:nvCxnSpPr>
        <p:spPr>
          <a:xfrm flipH="1" rot="10800000">
            <a:off x="6148550" y="1809062"/>
            <a:ext cx="1029900" cy="669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2"/>
          <p:cNvCxnSpPr>
            <a:stCxn id="206" idx="2"/>
            <a:endCxn id="211" idx="0"/>
          </p:cNvCxnSpPr>
          <p:nvPr/>
        </p:nvCxnSpPr>
        <p:spPr>
          <a:xfrm>
            <a:off x="6148550" y="3128762"/>
            <a:ext cx="0" cy="1006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2"/>
          <p:cNvSpPr/>
          <p:nvPr/>
        </p:nvSpPr>
        <p:spPr>
          <a:xfrm>
            <a:off x="7178500" y="14843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389250" y="4135594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212" name="Google Shape;212;p22"/>
          <p:cNvCxnSpPr>
            <a:stCxn id="211" idx="3"/>
            <a:endCxn id="213" idx="1"/>
          </p:cNvCxnSpPr>
          <p:nvPr/>
        </p:nvCxnSpPr>
        <p:spPr>
          <a:xfrm>
            <a:off x="6907850" y="4460494"/>
            <a:ext cx="2706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3" name="Google Shape;213;p22"/>
          <p:cNvSpPr/>
          <p:nvPr/>
        </p:nvSpPr>
        <p:spPr>
          <a:xfrm>
            <a:off x="7178500" y="413560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178500" y="290355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" name="Google Shape;215;p22"/>
          <p:cNvCxnSpPr>
            <a:stCxn id="209" idx="2"/>
            <a:endCxn id="214" idx="0"/>
          </p:cNvCxnSpPr>
          <p:nvPr/>
        </p:nvCxnSpPr>
        <p:spPr>
          <a:xfrm>
            <a:off x="7937800" y="2134100"/>
            <a:ext cx="0" cy="769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2"/>
          <p:cNvCxnSpPr>
            <a:stCxn id="213" idx="3"/>
            <a:endCxn id="214" idx="3"/>
          </p:cNvCxnSpPr>
          <p:nvPr/>
        </p:nvCxnSpPr>
        <p:spPr>
          <a:xfrm flipH="1" rot="10800000">
            <a:off x="8697100" y="3228406"/>
            <a:ext cx="600" cy="12321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pic>
        <p:nvPicPr>
          <p:cNvPr descr="Screenshot 2017-10-12 at 09.01.07.png" id="217" name="Google Shape;2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06125"/>
            <a:ext cx="4814567" cy="27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223" name="Google Shape;22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224" name="Google Shape;224;p23"/>
          <p:cNvCxnSpPr>
            <a:stCxn id="222" idx="3"/>
            <a:endCxn id="225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3"/>
          <p:cNvCxnSpPr>
            <a:stCxn id="222" idx="3"/>
            <a:endCxn id="227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3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228" name="Google Shape;228;p23"/>
          <p:cNvCxnSpPr>
            <a:stCxn id="227" idx="3"/>
            <a:endCxn id="229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3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1" name="Google Shape;231;p23"/>
          <p:cNvCxnSpPr>
            <a:stCxn id="227" idx="3"/>
            <a:endCxn id="230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3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23"/>
          <p:cNvCxnSpPr>
            <a:stCxn id="225" idx="3"/>
            <a:endCxn id="232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3"/>
          <p:cNvCxnSpPr>
            <a:stCxn id="229" idx="3"/>
            <a:endCxn id="232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35" name="Google Shape;235;p23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23"/>
          <p:cNvCxnSpPr>
            <a:stCxn id="227" idx="3"/>
            <a:endCxn id="235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23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238" name="Google Shape;238;p23"/>
          <p:cNvCxnSpPr>
            <a:stCxn id="225" idx="2"/>
            <a:endCxn id="237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244" name="Google Shape;244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245" name="Google Shape;245;p24"/>
          <p:cNvCxnSpPr>
            <a:stCxn id="243" idx="3"/>
            <a:endCxn id="246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4"/>
          <p:cNvCxnSpPr>
            <a:stCxn id="243" idx="3"/>
            <a:endCxn id="248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4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248" name="Google Shape;248;p24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249" name="Google Shape;249;p24"/>
          <p:cNvCxnSpPr>
            <a:stCxn id="248" idx="3"/>
            <a:endCxn id="250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24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24"/>
          <p:cNvCxnSpPr>
            <a:stCxn id="248" idx="3"/>
            <a:endCxn id="251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4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24"/>
          <p:cNvCxnSpPr>
            <a:stCxn id="246" idx="3"/>
            <a:endCxn id="253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4"/>
          <p:cNvCxnSpPr>
            <a:stCxn id="250" idx="3"/>
            <a:endCxn id="253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56" name="Google Shape;256;p24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24"/>
          <p:cNvCxnSpPr>
            <a:stCxn id="248" idx="3"/>
            <a:endCxn id="256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24"/>
          <p:cNvSpPr/>
          <p:nvPr/>
        </p:nvSpPr>
        <p:spPr>
          <a:xfrm>
            <a:off x="6845100" y="13696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7919075" y="13696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7384250" y="23051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1" name="Google Shape;261;p24"/>
          <p:cNvCxnSpPr>
            <a:stCxn id="258" idx="4"/>
            <a:endCxn id="260" idx="0"/>
          </p:cNvCxnSpPr>
          <p:nvPr/>
        </p:nvCxnSpPr>
        <p:spPr>
          <a:xfrm>
            <a:off x="7143300" y="1775500"/>
            <a:ext cx="5391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4"/>
          <p:cNvCxnSpPr>
            <a:stCxn id="259" idx="4"/>
            <a:endCxn id="260" idx="0"/>
          </p:cNvCxnSpPr>
          <p:nvPr/>
        </p:nvCxnSpPr>
        <p:spPr>
          <a:xfrm flipH="1">
            <a:off x="7682375" y="1775500"/>
            <a:ext cx="5349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4"/>
          <p:cNvSpPr/>
          <p:nvPr/>
        </p:nvSpPr>
        <p:spPr>
          <a:xfrm>
            <a:off x="6847263" y="3537663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7921238" y="3537663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7386413" y="4473188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" name="Google Shape;266;p24"/>
          <p:cNvCxnSpPr>
            <a:stCxn id="263" idx="4"/>
            <a:endCxn id="265" idx="0"/>
          </p:cNvCxnSpPr>
          <p:nvPr/>
        </p:nvCxnSpPr>
        <p:spPr>
          <a:xfrm>
            <a:off x="7145463" y="3943563"/>
            <a:ext cx="5391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4"/>
          <p:cNvCxnSpPr>
            <a:stCxn id="264" idx="4"/>
            <a:endCxn id="265" idx="0"/>
          </p:cNvCxnSpPr>
          <p:nvPr/>
        </p:nvCxnSpPr>
        <p:spPr>
          <a:xfrm flipH="1">
            <a:off x="7684538" y="3943563"/>
            <a:ext cx="534900" cy="52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24"/>
          <p:cNvCxnSpPr>
            <a:stCxn id="264" idx="2"/>
            <a:endCxn id="263" idx="6"/>
          </p:cNvCxnSpPr>
          <p:nvPr/>
        </p:nvCxnSpPr>
        <p:spPr>
          <a:xfrm rot="10800000">
            <a:off x="7443638" y="3740613"/>
            <a:ext cx="477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" name="Google Shape;269;p24"/>
          <p:cNvSpPr/>
          <p:nvPr/>
        </p:nvSpPr>
        <p:spPr>
          <a:xfrm>
            <a:off x="7434875" y="2869525"/>
            <a:ext cx="567300" cy="5295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271" name="Google Shape;271;p24"/>
          <p:cNvCxnSpPr>
            <a:stCxn id="246" idx="2"/>
            <a:endCxn id="270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pic>
        <p:nvPicPr>
          <p:cNvPr descr="Screenshot 2017-10-12 at 09.04.58.png" id="277" name="Google Shape;27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5"/>
            <a:ext cx="7171776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/>
          <p:nvPr/>
        </p:nvSpPr>
        <p:spPr>
          <a:xfrm>
            <a:off x="259625" y="2189425"/>
            <a:ext cx="7305000" cy="449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1037763" y="3175102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cxnSp>
        <p:nvCxnSpPr>
          <p:cNvPr id="280" name="Google Shape;280;p25"/>
          <p:cNvCxnSpPr>
            <a:stCxn id="279" idx="3"/>
            <a:endCxn id="281" idx="1"/>
          </p:cNvCxnSpPr>
          <p:nvPr/>
        </p:nvCxnSpPr>
        <p:spPr>
          <a:xfrm>
            <a:off x="2556363" y="3500002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" name="Google Shape;281;p25"/>
          <p:cNvSpPr/>
          <p:nvPr/>
        </p:nvSpPr>
        <p:spPr>
          <a:xfrm>
            <a:off x="3152813" y="4151044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238813" y="4151053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Triadic Closure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(Balance)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25"/>
          <p:cNvCxnSpPr>
            <a:stCxn id="281" idx="3"/>
            <a:endCxn id="282" idx="1"/>
          </p:cNvCxnSpPr>
          <p:nvPr/>
        </p:nvCxnSpPr>
        <p:spPr>
          <a:xfrm>
            <a:off x="4671413" y="4475944"/>
            <a:ext cx="5673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1037763" y="3175102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cxnSp>
        <p:nvCxnSpPr>
          <p:cNvPr id="290" name="Google Shape;290;p26"/>
          <p:cNvCxnSpPr>
            <a:stCxn id="289" idx="3"/>
            <a:endCxn id="291" idx="1"/>
          </p:cNvCxnSpPr>
          <p:nvPr/>
        </p:nvCxnSpPr>
        <p:spPr>
          <a:xfrm>
            <a:off x="2556363" y="3500002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26"/>
          <p:cNvSpPr/>
          <p:nvPr/>
        </p:nvSpPr>
        <p:spPr>
          <a:xfrm>
            <a:off x="3152813" y="4151044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238813" y="4151053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6"/>
          <p:cNvCxnSpPr>
            <a:stCxn id="291" idx="3"/>
            <a:endCxn id="292" idx="1"/>
          </p:cNvCxnSpPr>
          <p:nvPr/>
        </p:nvCxnSpPr>
        <p:spPr>
          <a:xfrm>
            <a:off x="4671413" y="4475944"/>
            <a:ext cx="567300" cy="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Screenshot 2017-10-12 at 09.04.58.png" id="294" name="Google Shape;2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5"/>
            <a:ext cx="7171776" cy="18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/>
          <p:nvPr/>
        </p:nvSpPr>
        <p:spPr>
          <a:xfrm>
            <a:off x="250900" y="2603600"/>
            <a:ext cx="7305000" cy="449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301" name="Google Shape;301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302" name="Google Shape;302;p27"/>
          <p:cNvCxnSpPr>
            <a:stCxn id="300" idx="3"/>
            <a:endCxn id="303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7"/>
          <p:cNvCxnSpPr>
            <a:stCxn id="300" idx="3"/>
            <a:endCxn id="305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27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306" name="Google Shape;306;p27"/>
          <p:cNvCxnSpPr>
            <a:stCxn id="305" idx="3"/>
            <a:endCxn id="307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27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308" name="Google Shape;308;p27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9" name="Google Shape;309;p27"/>
          <p:cNvCxnSpPr>
            <a:stCxn id="305" idx="3"/>
            <a:endCxn id="308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0" name="Google Shape;310;p27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27"/>
          <p:cNvCxnSpPr>
            <a:stCxn id="303" idx="3"/>
            <a:endCxn id="310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27"/>
          <p:cNvCxnSpPr>
            <a:stCxn id="307" idx="3"/>
            <a:endCxn id="310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13" name="Google Shape;313;p27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4" name="Google Shape;314;p27"/>
          <p:cNvCxnSpPr>
            <a:stCxn id="305" idx="3"/>
            <a:endCxn id="313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27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317" name="Google Shape;317;p27"/>
          <p:cNvCxnSpPr>
            <a:stCxn id="303" idx="2"/>
            <a:endCxn id="316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27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19" name="Google Shape;319;p27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7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7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7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7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6" name="Google Shape;326;p27"/>
          <p:cNvCxnSpPr>
            <a:stCxn id="318" idx="6"/>
            <a:endCxn id="322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27"/>
          <p:cNvCxnSpPr>
            <a:stCxn id="318" idx="6"/>
            <a:endCxn id="325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7"/>
          <p:cNvCxnSpPr>
            <a:stCxn id="315" idx="6"/>
            <a:endCxn id="319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7"/>
          <p:cNvCxnSpPr>
            <a:stCxn id="315" idx="6"/>
            <a:endCxn id="320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7"/>
          <p:cNvCxnSpPr>
            <a:stCxn id="315" idx="6"/>
            <a:endCxn id="321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7"/>
          <p:cNvCxnSpPr>
            <a:stCxn id="315" idx="6"/>
            <a:endCxn id="322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27"/>
          <p:cNvCxnSpPr>
            <a:stCxn id="315" idx="6"/>
            <a:endCxn id="323" idx="2"/>
          </p:cNvCxnSpPr>
          <p:nvPr/>
        </p:nvCxnSpPr>
        <p:spPr>
          <a:xfrm>
            <a:off x="7309600" y="2366650"/>
            <a:ext cx="681900" cy="97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27"/>
          <p:cNvCxnSpPr>
            <a:stCxn id="315" idx="6"/>
            <a:endCxn id="324" idx="2"/>
          </p:cNvCxnSpPr>
          <p:nvPr/>
        </p:nvCxnSpPr>
        <p:spPr>
          <a:xfrm>
            <a:off x="7309600" y="2366650"/>
            <a:ext cx="681900" cy="14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7"/>
          <p:cNvCxnSpPr>
            <a:stCxn id="315" idx="6"/>
            <a:endCxn id="325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7"/>
          <p:cNvCxnSpPr>
            <a:stCxn id="318" idx="6"/>
            <a:endCxn id="324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Formation</a:t>
            </a:r>
            <a:endParaRPr/>
          </a:p>
        </p:txBody>
      </p:sp>
      <p:sp>
        <p:nvSpPr>
          <p:cNvPr id="341" name="Google Shape;341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342" name="Google Shape;342;p28"/>
          <p:cNvCxnSpPr>
            <a:stCxn id="340" idx="3"/>
            <a:endCxn id="343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28"/>
          <p:cNvCxnSpPr>
            <a:stCxn id="340" idx="3"/>
            <a:endCxn id="345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3" name="Google Shape;343;p28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345" name="Google Shape;345;p28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346" name="Google Shape;346;p28"/>
          <p:cNvCxnSpPr>
            <a:stCxn id="345" idx="3"/>
            <a:endCxn id="347" idx="1"/>
          </p:cNvCxnSpPr>
          <p:nvPr/>
        </p:nvCxnSpPr>
        <p:spPr>
          <a:xfrm flipH="1" rot="10800000">
            <a:off x="3945350" y="2868719"/>
            <a:ext cx="567300" cy="893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8"/>
          <p:cNvSpPr/>
          <p:nvPr/>
        </p:nvSpPr>
        <p:spPr>
          <a:xfrm>
            <a:off x="4512750" y="2543756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Numerical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(Group Size)</a:t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4512750" y="4330103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(Balance)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9" name="Google Shape;349;p28"/>
          <p:cNvCxnSpPr>
            <a:stCxn id="345" idx="3"/>
            <a:endCxn id="348" idx="1"/>
          </p:cNvCxnSpPr>
          <p:nvPr/>
        </p:nvCxnSpPr>
        <p:spPr>
          <a:xfrm>
            <a:off x="3945350" y="3761819"/>
            <a:ext cx="567300" cy="893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28"/>
          <p:cNvSpPr/>
          <p:nvPr/>
        </p:nvSpPr>
        <p:spPr>
          <a:xfrm>
            <a:off x="4512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Preference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(Choice Homophily)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1" name="Google Shape;351;p28"/>
          <p:cNvCxnSpPr>
            <a:stCxn id="343" idx="3"/>
            <a:endCxn id="350" idx="1"/>
          </p:cNvCxnSpPr>
          <p:nvPr/>
        </p:nvCxnSpPr>
        <p:spPr>
          <a:xfrm>
            <a:off x="3945350" y="1694500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2" name="Google Shape;352;p28"/>
          <p:cNvCxnSpPr>
            <a:stCxn id="347" idx="3"/>
            <a:endCxn id="350" idx="3"/>
          </p:cNvCxnSpPr>
          <p:nvPr/>
        </p:nvCxnSpPr>
        <p:spPr>
          <a:xfrm flipH="1" rot="10800000">
            <a:off x="6031350" y="1694456"/>
            <a:ext cx="600" cy="1174200"/>
          </a:xfrm>
          <a:prstGeom prst="bentConnector3">
            <a:avLst>
              <a:gd fmla="val 61504167" name="adj1"/>
            </a:avLst>
          </a:prstGeom>
          <a:noFill/>
          <a:ln cap="flat" cmpd="sng" w="19050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53" name="Google Shape;353;p28"/>
          <p:cNvSpPr/>
          <p:nvPr/>
        </p:nvSpPr>
        <p:spPr>
          <a:xfrm>
            <a:off x="4512750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4" name="Google Shape;354;p28"/>
          <p:cNvCxnSpPr>
            <a:stCxn id="345" idx="3"/>
            <a:endCxn id="353" idx="1"/>
          </p:cNvCxnSpPr>
          <p:nvPr/>
        </p:nvCxnSpPr>
        <p:spPr>
          <a:xfrm>
            <a:off x="3945350" y="3761819"/>
            <a:ext cx="567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28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2412225" y="2543750"/>
            <a:ext cx="1518600" cy="6498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357" name="Google Shape;357;p28"/>
          <p:cNvCxnSpPr>
            <a:stCxn id="343" idx="2"/>
            <a:endCxn id="356" idx="0"/>
          </p:cNvCxnSpPr>
          <p:nvPr/>
        </p:nvCxnSpPr>
        <p:spPr>
          <a:xfrm flipH="1">
            <a:off x="3171650" y="2019400"/>
            <a:ext cx="14400" cy="5244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8" name="Google Shape;358;p28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59" name="Google Shape;359;p28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8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8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8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28"/>
          <p:cNvCxnSpPr>
            <a:stCxn id="358" idx="6"/>
            <a:endCxn id="362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8"/>
          <p:cNvCxnSpPr>
            <a:stCxn id="358" idx="6"/>
            <a:endCxn id="365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8"/>
          <p:cNvCxnSpPr>
            <a:stCxn id="355" idx="6"/>
            <a:endCxn id="359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28"/>
          <p:cNvCxnSpPr>
            <a:stCxn id="355" idx="6"/>
            <a:endCxn id="360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28"/>
          <p:cNvCxnSpPr>
            <a:stCxn id="355" idx="6"/>
            <a:endCxn id="361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8"/>
          <p:cNvCxnSpPr>
            <a:stCxn id="355" idx="6"/>
            <a:endCxn id="362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28"/>
          <p:cNvCxnSpPr>
            <a:stCxn id="355" idx="6"/>
            <a:endCxn id="363" idx="2"/>
          </p:cNvCxnSpPr>
          <p:nvPr/>
        </p:nvCxnSpPr>
        <p:spPr>
          <a:xfrm>
            <a:off x="7309600" y="2366650"/>
            <a:ext cx="681900" cy="97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28"/>
          <p:cNvCxnSpPr>
            <a:stCxn id="355" idx="6"/>
            <a:endCxn id="364" idx="2"/>
          </p:cNvCxnSpPr>
          <p:nvPr/>
        </p:nvCxnSpPr>
        <p:spPr>
          <a:xfrm>
            <a:off x="7309600" y="2366650"/>
            <a:ext cx="681900" cy="14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28"/>
          <p:cNvCxnSpPr>
            <a:stCxn id="355" idx="6"/>
            <a:endCxn id="365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28"/>
          <p:cNvCxnSpPr>
            <a:stCxn id="358" idx="6"/>
            <a:endCxn id="364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28"/>
          <p:cNvCxnSpPr>
            <a:stCxn id="347" idx="0"/>
            <a:endCxn id="356" idx="3"/>
          </p:cNvCxnSpPr>
          <p:nvPr/>
        </p:nvCxnSpPr>
        <p:spPr>
          <a:xfrm rot="5400000">
            <a:off x="4438950" y="2035556"/>
            <a:ext cx="324900" cy="1341300"/>
          </a:xfrm>
          <a:prstGeom prst="bentConnector4">
            <a:avLst>
              <a:gd fmla="val -73292" name="adj1"/>
              <a:gd fmla="val 78302" name="adj2"/>
            </a:avLst>
          </a:prstGeom>
          <a:noFill/>
          <a:ln cap="flat" cmpd="sng" w="28575">
            <a:solidFill>
              <a:srgbClr val="666666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377" name="Google Shape;377;p28"/>
          <p:cNvCxnSpPr>
            <a:stCxn id="358" idx="6"/>
            <a:endCxn id="360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383" name="Google Shape;383;p29"/>
          <p:cNvSpPr/>
          <p:nvPr/>
        </p:nvSpPr>
        <p:spPr>
          <a:xfrm>
            <a:off x="6713200" y="21637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384" name="Google Shape;384;p29"/>
          <p:cNvSpPr/>
          <p:nvPr/>
        </p:nvSpPr>
        <p:spPr>
          <a:xfrm>
            <a:off x="6713200" y="3436925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385" name="Google Shape;385;p29"/>
          <p:cNvSpPr/>
          <p:nvPr/>
        </p:nvSpPr>
        <p:spPr>
          <a:xfrm>
            <a:off x="7991450" y="11038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9"/>
          <p:cNvSpPr/>
          <p:nvPr/>
        </p:nvSpPr>
        <p:spPr>
          <a:xfrm>
            <a:off x="7991450" y="1613500"/>
            <a:ext cx="596400" cy="405900"/>
          </a:xfrm>
          <a:prstGeom prst="ellipse">
            <a:avLst/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9"/>
          <p:cNvSpPr/>
          <p:nvPr/>
        </p:nvSpPr>
        <p:spPr>
          <a:xfrm>
            <a:off x="7991450" y="21231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"/>
          <p:cNvSpPr/>
          <p:nvPr/>
        </p:nvSpPr>
        <p:spPr>
          <a:xfrm>
            <a:off x="7991450" y="263285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9"/>
          <p:cNvSpPr/>
          <p:nvPr/>
        </p:nvSpPr>
        <p:spPr>
          <a:xfrm>
            <a:off x="7991450" y="314252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7991450" y="3652200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9"/>
          <p:cNvSpPr/>
          <p:nvPr/>
        </p:nvSpPr>
        <p:spPr>
          <a:xfrm>
            <a:off x="7991450" y="4161875"/>
            <a:ext cx="596400" cy="405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2" name="Google Shape;392;p29"/>
          <p:cNvCxnSpPr>
            <a:stCxn id="384" idx="6"/>
            <a:endCxn id="388" idx="2"/>
          </p:cNvCxnSpPr>
          <p:nvPr/>
        </p:nvCxnSpPr>
        <p:spPr>
          <a:xfrm flipH="1" rot="10800000">
            <a:off x="7309600" y="2835875"/>
            <a:ext cx="681900" cy="804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29"/>
          <p:cNvCxnSpPr>
            <a:stCxn id="384" idx="6"/>
            <a:endCxn id="391" idx="2"/>
          </p:cNvCxnSpPr>
          <p:nvPr/>
        </p:nvCxnSpPr>
        <p:spPr>
          <a:xfrm>
            <a:off x="7309600" y="3639875"/>
            <a:ext cx="681900" cy="725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29"/>
          <p:cNvCxnSpPr>
            <a:stCxn id="383" idx="6"/>
            <a:endCxn id="385" idx="2"/>
          </p:cNvCxnSpPr>
          <p:nvPr/>
        </p:nvCxnSpPr>
        <p:spPr>
          <a:xfrm flipH="1" rot="10800000">
            <a:off x="7309600" y="1306750"/>
            <a:ext cx="681900" cy="1059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9"/>
          <p:cNvCxnSpPr>
            <a:stCxn id="383" idx="6"/>
            <a:endCxn id="386" idx="2"/>
          </p:cNvCxnSpPr>
          <p:nvPr/>
        </p:nvCxnSpPr>
        <p:spPr>
          <a:xfrm flipH="1" rot="10800000">
            <a:off x="7309600" y="1816450"/>
            <a:ext cx="681900" cy="550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29"/>
          <p:cNvCxnSpPr>
            <a:stCxn id="383" idx="6"/>
            <a:endCxn id="387" idx="2"/>
          </p:cNvCxnSpPr>
          <p:nvPr/>
        </p:nvCxnSpPr>
        <p:spPr>
          <a:xfrm flipH="1" rot="10800000">
            <a:off x="7309600" y="2326150"/>
            <a:ext cx="681900" cy="4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29"/>
          <p:cNvCxnSpPr>
            <a:stCxn id="383" idx="6"/>
            <a:endCxn id="388" idx="2"/>
          </p:cNvCxnSpPr>
          <p:nvPr/>
        </p:nvCxnSpPr>
        <p:spPr>
          <a:xfrm>
            <a:off x="7309600" y="2366650"/>
            <a:ext cx="681900" cy="46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9"/>
          <p:cNvCxnSpPr>
            <a:stCxn id="383" idx="6"/>
            <a:endCxn id="389" idx="2"/>
          </p:cNvCxnSpPr>
          <p:nvPr/>
        </p:nvCxnSpPr>
        <p:spPr>
          <a:xfrm>
            <a:off x="7309600" y="2366650"/>
            <a:ext cx="681900" cy="97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9"/>
          <p:cNvCxnSpPr>
            <a:stCxn id="383" idx="6"/>
            <a:endCxn id="390" idx="2"/>
          </p:cNvCxnSpPr>
          <p:nvPr/>
        </p:nvCxnSpPr>
        <p:spPr>
          <a:xfrm>
            <a:off x="7309600" y="2366650"/>
            <a:ext cx="681900" cy="148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29"/>
          <p:cNvCxnSpPr>
            <a:stCxn id="383" idx="6"/>
            <a:endCxn id="391" idx="2"/>
          </p:cNvCxnSpPr>
          <p:nvPr/>
        </p:nvCxnSpPr>
        <p:spPr>
          <a:xfrm>
            <a:off x="7309600" y="2366650"/>
            <a:ext cx="681900" cy="1998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29"/>
          <p:cNvCxnSpPr>
            <a:stCxn id="384" idx="6"/>
            <a:endCxn id="390" idx="2"/>
          </p:cNvCxnSpPr>
          <p:nvPr/>
        </p:nvCxnSpPr>
        <p:spPr>
          <a:xfrm>
            <a:off x="7309600" y="3639875"/>
            <a:ext cx="681900" cy="215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29"/>
          <p:cNvCxnSpPr>
            <a:stCxn id="384" idx="6"/>
            <a:endCxn id="386" idx="2"/>
          </p:cNvCxnSpPr>
          <p:nvPr/>
        </p:nvCxnSpPr>
        <p:spPr>
          <a:xfrm flipH="1" rot="10800000">
            <a:off x="7309600" y="1816475"/>
            <a:ext cx="681900" cy="182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Screenshot 2017-10-12 at 08.42.45.png" id="403" name="Google Shape;403;p29"/>
          <p:cNvPicPr preferRelativeResize="0"/>
          <p:nvPr/>
        </p:nvPicPr>
        <p:blipFill rotWithShape="1">
          <a:blip r:embed="rId3">
            <a:alphaModFix/>
          </a:blip>
          <a:srcRect b="5666" l="22272" r="24023" t="25407"/>
          <a:stretch/>
        </p:blipFill>
        <p:spPr>
          <a:xfrm>
            <a:off x="949025" y="1103825"/>
            <a:ext cx="5082326" cy="36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09" name="Google Shape;409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Blau’s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Numerical preponderance (scarcity) of similar others leads to segregated (non-segregated) networks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Marsden’s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Larger networks are less segregated than smaller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Hofstra et al’s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Larger networks are less segregated for minority members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preferences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Combines Blau’s and Marden’s rule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15" name="Google Shape;415;p3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 on tie-maintenance are analytically distinct from formation constraints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Explains why particular ties are more likely to remain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 on tie formation presumes that we form ties with people with like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link between “role relations” (e.g. friends), exchange, frequency of interaction and sentiments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Assumption: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 tie no longer delivers on these dimensions it is dissolved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Makes the existence of ties with “inconsistent” values on these dimension hard to explain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negative sentiment ties that still provide support and exchange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21" name="Google Shape;421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 on tie-maintenance are analytically distinct from formation constraints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Explains why particular ties are more likely to remain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Constraints on tie formation presumes that we form ties with people with like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There is a link between “role relations” (e.g. friends), exchange, frequency of interaction and sentiments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Studying stable ties with inconsistent dimensions (e.g. “difficult” ties) can help us learn about relationship maintenance mechanisms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3"/>
          <p:cNvSpPr/>
          <p:nvPr/>
        </p:nvSpPr>
        <p:spPr>
          <a:xfrm>
            <a:off x="857088" y="2646342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maintenance</a:t>
            </a:r>
            <a:endParaRPr/>
          </a:p>
        </p:txBody>
      </p:sp>
      <p:sp>
        <p:nvSpPr>
          <p:cNvPr id="427" name="Google Shape;42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cxnSp>
        <p:nvCxnSpPr>
          <p:cNvPr id="428" name="Google Shape;428;p33"/>
          <p:cNvCxnSpPr>
            <a:stCxn id="426" idx="3"/>
            <a:endCxn id="429" idx="1"/>
          </p:cNvCxnSpPr>
          <p:nvPr/>
        </p:nvCxnSpPr>
        <p:spPr>
          <a:xfrm flipH="1" rot="10800000">
            <a:off x="2487288" y="2282292"/>
            <a:ext cx="694800" cy="640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33"/>
          <p:cNvCxnSpPr>
            <a:stCxn id="426" idx="3"/>
            <a:endCxn id="431" idx="1"/>
          </p:cNvCxnSpPr>
          <p:nvPr/>
        </p:nvCxnSpPr>
        <p:spPr>
          <a:xfrm>
            <a:off x="2487288" y="2922492"/>
            <a:ext cx="752700" cy="954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33"/>
          <p:cNvSpPr/>
          <p:nvPr/>
        </p:nvSpPr>
        <p:spPr>
          <a:xfrm>
            <a:off x="6418585" y="1982275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(Dependence)</a:t>
            </a:r>
            <a:endParaRPr/>
          </a:p>
        </p:txBody>
      </p:sp>
      <p:sp>
        <p:nvSpPr>
          <p:cNvPr id="431" name="Google Shape;431;p33"/>
          <p:cNvSpPr/>
          <p:nvPr/>
        </p:nvSpPr>
        <p:spPr>
          <a:xfrm>
            <a:off x="3239991" y="3600513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cxnSp>
        <p:nvCxnSpPr>
          <p:cNvPr id="433" name="Google Shape;433;p33"/>
          <p:cNvCxnSpPr>
            <a:stCxn id="429" idx="3"/>
            <a:endCxn id="432" idx="1"/>
          </p:cNvCxnSpPr>
          <p:nvPr/>
        </p:nvCxnSpPr>
        <p:spPr>
          <a:xfrm flipH="1" rot="10800000">
            <a:off x="4812316" y="2258367"/>
            <a:ext cx="1606200" cy="24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33"/>
          <p:cNvSpPr/>
          <p:nvPr/>
        </p:nvSpPr>
        <p:spPr>
          <a:xfrm>
            <a:off x="6418585" y="3310426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5" name="Google Shape;435;p33"/>
          <p:cNvCxnSpPr>
            <a:stCxn id="431" idx="3"/>
            <a:endCxn id="434" idx="1"/>
          </p:cNvCxnSpPr>
          <p:nvPr/>
        </p:nvCxnSpPr>
        <p:spPr>
          <a:xfrm flipH="1" rot="10800000">
            <a:off x="4870191" y="3586563"/>
            <a:ext cx="1548300" cy="290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33"/>
          <p:cNvSpPr/>
          <p:nvPr/>
        </p:nvSpPr>
        <p:spPr>
          <a:xfrm>
            <a:off x="6418585" y="2646339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Embeddedness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33"/>
          <p:cNvCxnSpPr>
            <a:stCxn id="431" idx="3"/>
            <a:endCxn id="438" idx="1"/>
          </p:cNvCxnSpPr>
          <p:nvPr/>
        </p:nvCxnSpPr>
        <p:spPr>
          <a:xfrm>
            <a:off x="4870191" y="3876663"/>
            <a:ext cx="1548300" cy="374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33"/>
          <p:cNvSpPr/>
          <p:nvPr/>
        </p:nvSpPr>
        <p:spPr>
          <a:xfrm>
            <a:off x="3182116" y="2006217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Interactional</a:t>
            </a:r>
            <a:endParaRPr/>
          </a:p>
        </p:txBody>
      </p:sp>
      <p:sp>
        <p:nvSpPr>
          <p:cNvPr id="438" name="Google Shape;438;p33"/>
          <p:cNvSpPr/>
          <p:nvPr/>
        </p:nvSpPr>
        <p:spPr>
          <a:xfrm>
            <a:off x="6418585" y="3974504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Role-Based</a:t>
            </a:r>
            <a:endParaRPr/>
          </a:p>
        </p:txBody>
      </p:sp>
      <p:cxnSp>
        <p:nvCxnSpPr>
          <p:cNvPr id="439" name="Google Shape;439;p33"/>
          <p:cNvCxnSpPr>
            <a:stCxn id="431" idx="3"/>
            <a:endCxn id="436" idx="1"/>
          </p:cNvCxnSpPr>
          <p:nvPr/>
        </p:nvCxnSpPr>
        <p:spPr>
          <a:xfrm flipH="1" rot="10800000">
            <a:off x="4870191" y="2922363"/>
            <a:ext cx="1548300" cy="9543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0" name="Google Shape;440;p33"/>
          <p:cNvSpPr/>
          <p:nvPr/>
        </p:nvSpPr>
        <p:spPr>
          <a:xfrm>
            <a:off x="6418585" y="1293950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(Reciprocity)</a:t>
            </a:r>
            <a:endParaRPr/>
          </a:p>
        </p:txBody>
      </p:sp>
      <p:cxnSp>
        <p:nvCxnSpPr>
          <p:cNvPr id="441" name="Google Shape;441;p33"/>
          <p:cNvCxnSpPr>
            <a:stCxn id="429" idx="3"/>
            <a:endCxn id="440" idx="1"/>
          </p:cNvCxnSpPr>
          <p:nvPr/>
        </p:nvCxnSpPr>
        <p:spPr>
          <a:xfrm flipH="1" rot="10800000">
            <a:off x="4812316" y="1570167"/>
            <a:ext cx="1606200" cy="712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33"/>
          <p:cNvCxnSpPr>
            <a:stCxn id="440" idx="3"/>
            <a:endCxn id="432" idx="3"/>
          </p:cNvCxnSpPr>
          <p:nvPr/>
        </p:nvCxnSpPr>
        <p:spPr>
          <a:xfrm>
            <a:off x="8048785" y="1570100"/>
            <a:ext cx="600" cy="688200"/>
          </a:xfrm>
          <a:prstGeom prst="bentConnector3">
            <a:avLst>
              <a:gd fmla="val 396875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pic>
        <p:nvPicPr>
          <p:cNvPr descr="Screenshot 2017-10-12 at 09.50.30.png" id="448" name="Google Shape;4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9075"/>
            <a:ext cx="3488790" cy="3691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/>
          <p:nvPr/>
        </p:nvSpPr>
        <p:spPr>
          <a:xfrm>
            <a:off x="4424713" y="2433855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maintenance</a:t>
            </a:r>
            <a:endParaRPr/>
          </a:p>
        </p:txBody>
      </p:sp>
      <p:cxnSp>
        <p:nvCxnSpPr>
          <p:cNvPr id="450" name="Google Shape;450;p34"/>
          <p:cNvCxnSpPr>
            <a:stCxn id="449" idx="2"/>
            <a:endCxn id="451" idx="0"/>
          </p:cNvCxnSpPr>
          <p:nvPr/>
        </p:nvCxnSpPr>
        <p:spPr>
          <a:xfrm>
            <a:off x="5239813" y="2986155"/>
            <a:ext cx="0" cy="592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34"/>
          <p:cNvSpPr/>
          <p:nvPr/>
        </p:nvSpPr>
        <p:spPr>
          <a:xfrm>
            <a:off x="4424716" y="3578401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6476360" y="3240164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3" name="Google Shape;453;p34"/>
          <p:cNvCxnSpPr>
            <a:stCxn id="451" idx="3"/>
            <a:endCxn id="452" idx="1"/>
          </p:cNvCxnSpPr>
          <p:nvPr/>
        </p:nvCxnSpPr>
        <p:spPr>
          <a:xfrm flipH="1" rot="10800000">
            <a:off x="6054916" y="3516451"/>
            <a:ext cx="421500" cy="338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4"/>
          <p:cNvCxnSpPr>
            <a:stCxn id="451" idx="3"/>
            <a:endCxn id="455" idx="1"/>
          </p:cNvCxnSpPr>
          <p:nvPr/>
        </p:nvCxnSpPr>
        <p:spPr>
          <a:xfrm>
            <a:off x="6054916" y="3854551"/>
            <a:ext cx="421500" cy="3258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34"/>
          <p:cNvSpPr/>
          <p:nvPr/>
        </p:nvSpPr>
        <p:spPr>
          <a:xfrm>
            <a:off x="6476360" y="3904242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Role-Based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>
            <a:off x="4424713" y="2433855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maintenance</a:t>
            </a:r>
            <a:endParaRPr/>
          </a:p>
        </p:txBody>
      </p:sp>
      <p:cxnSp>
        <p:nvCxnSpPr>
          <p:cNvPr id="462" name="Google Shape;462;p35"/>
          <p:cNvCxnSpPr>
            <a:stCxn id="461" idx="2"/>
            <a:endCxn id="463" idx="0"/>
          </p:cNvCxnSpPr>
          <p:nvPr/>
        </p:nvCxnSpPr>
        <p:spPr>
          <a:xfrm>
            <a:off x="5239813" y="2986155"/>
            <a:ext cx="0" cy="592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3" name="Google Shape;463;p35"/>
          <p:cNvSpPr/>
          <p:nvPr/>
        </p:nvSpPr>
        <p:spPr>
          <a:xfrm>
            <a:off x="4424716" y="3578401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464" name="Google Shape;464;p35"/>
          <p:cNvSpPr/>
          <p:nvPr/>
        </p:nvSpPr>
        <p:spPr>
          <a:xfrm>
            <a:off x="6476360" y="3240164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5" name="Google Shape;465;p35"/>
          <p:cNvCxnSpPr>
            <a:stCxn id="463" idx="3"/>
            <a:endCxn id="464" idx="1"/>
          </p:cNvCxnSpPr>
          <p:nvPr/>
        </p:nvCxnSpPr>
        <p:spPr>
          <a:xfrm flipH="1" rot="10800000">
            <a:off x="6054916" y="3516451"/>
            <a:ext cx="421500" cy="3381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6" name="Google Shape;466;p35"/>
          <p:cNvCxnSpPr>
            <a:stCxn id="463" idx="3"/>
            <a:endCxn id="467" idx="1"/>
          </p:cNvCxnSpPr>
          <p:nvPr/>
        </p:nvCxnSpPr>
        <p:spPr>
          <a:xfrm>
            <a:off x="6054916" y="3854551"/>
            <a:ext cx="421500" cy="3258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7" name="Google Shape;467;p35"/>
          <p:cNvSpPr/>
          <p:nvPr/>
        </p:nvSpPr>
        <p:spPr>
          <a:xfrm>
            <a:off x="6476360" y="3904242"/>
            <a:ext cx="1630200" cy="552300"/>
          </a:xfrm>
          <a:prstGeom prst="rect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Role-Based</a:t>
            </a:r>
            <a:endParaRPr/>
          </a:p>
        </p:txBody>
      </p:sp>
      <p:pic>
        <p:nvPicPr>
          <p:cNvPr descr="Screenshot 2017-10-12 at 10.03.10.png" id="468" name="Google Shape;4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5"/>
            <a:ext cx="3290773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74" name="Google Shape;474;p3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Brashear’s rule: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embedded in constraining foci will be maintained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sentiments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Offer and Fischer’s rule: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Ties to others in constraining role relations will be maintained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Independently of sentiments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Dependence and reciprocity do not seem to play a role in the maintenance of difficult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may be restricted to ties in which sentiments and other dimensions are consistent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80" name="Google Shape;480;p37"/>
          <p:cNvSpPr/>
          <p:nvPr/>
        </p:nvSpPr>
        <p:spPr>
          <a:xfrm>
            <a:off x="712775" y="2506850"/>
            <a:ext cx="1774500" cy="83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maintenance for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“Inconsistent” Ties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481" name="Google Shape;481;p37"/>
          <p:cNvCxnSpPr>
            <a:stCxn id="480" idx="3"/>
            <a:endCxn id="482" idx="1"/>
          </p:cNvCxnSpPr>
          <p:nvPr/>
        </p:nvCxnSpPr>
        <p:spPr>
          <a:xfrm>
            <a:off x="2487275" y="2922500"/>
            <a:ext cx="8106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2" name="Google Shape;482;p37"/>
          <p:cNvSpPr/>
          <p:nvPr/>
        </p:nvSpPr>
        <p:spPr>
          <a:xfrm>
            <a:off x="3297791" y="2646338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483" name="Google Shape;483;p37"/>
          <p:cNvSpPr/>
          <p:nvPr/>
        </p:nvSpPr>
        <p:spPr>
          <a:xfrm>
            <a:off x="6091085" y="2646351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37"/>
          <p:cNvCxnSpPr>
            <a:stCxn id="482" idx="3"/>
            <a:endCxn id="483" idx="1"/>
          </p:cNvCxnSpPr>
          <p:nvPr/>
        </p:nvCxnSpPr>
        <p:spPr>
          <a:xfrm>
            <a:off x="4927991" y="2922488"/>
            <a:ext cx="11631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5" name="Google Shape;485;p37"/>
          <p:cNvSpPr/>
          <p:nvPr/>
        </p:nvSpPr>
        <p:spPr>
          <a:xfrm>
            <a:off x="6091085" y="1758702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(Embeddedness)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6" name="Google Shape;486;p37"/>
          <p:cNvCxnSpPr>
            <a:stCxn id="482" idx="3"/>
            <a:endCxn id="487" idx="1"/>
          </p:cNvCxnSpPr>
          <p:nvPr/>
        </p:nvCxnSpPr>
        <p:spPr>
          <a:xfrm>
            <a:off x="4927991" y="2922488"/>
            <a:ext cx="1163100" cy="81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7" name="Google Shape;487;p37"/>
          <p:cNvSpPr/>
          <p:nvPr/>
        </p:nvSpPr>
        <p:spPr>
          <a:xfrm>
            <a:off x="6091085" y="3464004"/>
            <a:ext cx="1630200" cy="552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Role-Based</a:t>
            </a:r>
            <a:endParaRPr/>
          </a:p>
        </p:txBody>
      </p:sp>
      <p:cxnSp>
        <p:nvCxnSpPr>
          <p:cNvPr id="488" name="Google Shape;488;p37"/>
          <p:cNvCxnSpPr>
            <a:stCxn id="482" idx="3"/>
            <a:endCxn id="485" idx="1"/>
          </p:cNvCxnSpPr>
          <p:nvPr/>
        </p:nvCxnSpPr>
        <p:spPr>
          <a:xfrm flipH="1" rot="10800000">
            <a:off x="4927991" y="2034788"/>
            <a:ext cx="1163100" cy="887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Segregation and constraints in networks</a:t>
            </a:r>
            <a:endParaRPr/>
          </a:p>
        </p:txBody>
      </p:sp>
      <p:sp>
        <p:nvSpPr>
          <p:cNvPr id="494" name="Google Shape;494;p38"/>
          <p:cNvSpPr/>
          <p:nvPr/>
        </p:nvSpPr>
        <p:spPr>
          <a:xfrm>
            <a:off x="311700" y="2460977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 on </a:t>
            </a:r>
            <a:r>
              <a:rPr lang="en">
                <a:solidFill>
                  <a:schemeClr val="dk1"/>
                </a:solidFill>
              </a:rPr>
              <a:t>Decay</a:t>
            </a:r>
            <a:endParaRPr/>
          </a:p>
        </p:txBody>
      </p:sp>
      <p:cxnSp>
        <p:nvCxnSpPr>
          <p:cNvPr id="495" name="Google Shape;495;p38"/>
          <p:cNvCxnSpPr>
            <a:stCxn id="494" idx="3"/>
            <a:endCxn id="496" idx="1"/>
          </p:cNvCxnSpPr>
          <p:nvPr/>
        </p:nvCxnSpPr>
        <p:spPr>
          <a:xfrm flipH="1" rot="10800000">
            <a:off x="1830300" y="1694477"/>
            <a:ext cx="596400" cy="1091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7" name="Google Shape;497;p38"/>
          <p:cNvCxnSpPr>
            <a:stCxn id="494" idx="3"/>
            <a:endCxn id="498" idx="1"/>
          </p:cNvCxnSpPr>
          <p:nvPr/>
        </p:nvCxnSpPr>
        <p:spPr>
          <a:xfrm>
            <a:off x="1830300" y="2785877"/>
            <a:ext cx="596400" cy="97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38"/>
          <p:cNvSpPr/>
          <p:nvPr/>
        </p:nvSpPr>
        <p:spPr>
          <a:xfrm>
            <a:off x="2426750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</a:t>
            </a:r>
            <a:endParaRPr/>
          </a:p>
        </p:txBody>
      </p:sp>
      <p:sp>
        <p:nvSpPr>
          <p:cNvPr id="498" name="Google Shape;498;p38"/>
          <p:cNvSpPr/>
          <p:nvPr/>
        </p:nvSpPr>
        <p:spPr>
          <a:xfrm>
            <a:off x="2426750" y="3436919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Structural</a:t>
            </a:r>
            <a:endParaRPr/>
          </a:p>
        </p:txBody>
      </p:sp>
      <p:sp>
        <p:nvSpPr>
          <p:cNvPr id="499" name="Google Shape;499;p38"/>
          <p:cNvSpPr/>
          <p:nvPr/>
        </p:nvSpPr>
        <p:spPr>
          <a:xfrm>
            <a:off x="4387525" y="432047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Triadic Closure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</a:t>
            </a:r>
            <a:r>
              <a:rPr lang="en"/>
              <a:t>Simmelian</a:t>
            </a:r>
            <a:r>
              <a:rPr lang="en"/>
              <a:t> Ties)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0" name="Google Shape;500;p38"/>
          <p:cNvCxnSpPr>
            <a:stCxn id="498" idx="3"/>
            <a:endCxn id="499" idx="1"/>
          </p:cNvCxnSpPr>
          <p:nvPr/>
        </p:nvCxnSpPr>
        <p:spPr>
          <a:xfrm>
            <a:off x="3945350" y="3761819"/>
            <a:ext cx="442200" cy="8835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1" name="Google Shape;501;p38"/>
          <p:cNvSpPr/>
          <p:nvPr/>
        </p:nvSpPr>
        <p:spPr>
          <a:xfrm>
            <a:off x="4387525" y="3436928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Foci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" name="Google Shape;502;p38"/>
          <p:cNvCxnSpPr>
            <a:stCxn id="498" idx="3"/>
            <a:endCxn id="501" idx="1"/>
          </p:cNvCxnSpPr>
          <p:nvPr/>
        </p:nvCxnSpPr>
        <p:spPr>
          <a:xfrm>
            <a:off x="3945350" y="3761819"/>
            <a:ext cx="442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38"/>
          <p:cNvSpPr/>
          <p:nvPr/>
        </p:nvSpPr>
        <p:spPr>
          <a:xfrm>
            <a:off x="6929625" y="13696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Ego-Network Size</a:t>
            </a:r>
            <a:endParaRPr/>
          </a:p>
        </p:txBody>
      </p:sp>
      <p:cxnSp>
        <p:nvCxnSpPr>
          <p:cNvPr id="504" name="Google Shape;504;p38"/>
          <p:cNvCxnSpPr>
            <a:stCxn id="496" idx="3"/>
            <a:endCxn id="503" idx="1"/>
          </p:cNvCxnSpPr>
          <p:nvPr/>
        </p:nvCxnSpPr>
        <p:spPr>
          <a:xfrm>
            <a:off x="3945350" y="1694500"/>
            <a:ext cx="29844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5" name="Google Shape;505;p38"/>
          <p:cNvSpPr/>
          <p:nvPr/>
        </p:nvSpPr>
        <p:spPr>
          <a:xfrm>
            <a:off x="2412075" y="2460975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Interactional</a:t>
            </a:r>
            <a:endParaRPr/>
          </a:p>
        </p:txBody>
      </p:sp>
      <p:cxnSp>
        <p:nvCxnSpPr>
          <p:cNvPr id="506" name="Google Shape;506;p38"/>
          <p:cNvCxnSpPr>
            <a:stCxn id="505" idx="3"/>
            <a:endCxn id="507" idx="1"/>
          </p:cNvCxnSpPr>
          <p:nvPr/>
        </p:nvCxnSpPr>
        <p:spPr>
          <a:xfrm>
            <a:off x="3930675" y="2785875"/>
            <a:ext cx="29991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7" name="Google Shape;507;p38"/>
          <p:cNvSpPr/>
          <p:nvPr/>
        </p:nvSpPr>
        <p:spPr>
          <a:xfrm>
            <a:off x="6929625" y="2460975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Similarity</a:t>
            </a:r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6974350" y="3348000"/>
            <a:ext cx="1518600" cy="649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Reciprocity</a:t>
            </a:r>
            <a:endParaRPr/>
          </a:p>
        </p:txBody>
      </p:sp>
      <p:cxnSp>
        <p:nvCxnSpPr>
          <p:cNvPr id="509" name="Google Shape;509;p38"/>
          <p:cNvCxnSpPr>
            <a:stCxn id="505" idx="3"/>
            <a:endCxn id="508" idx="1"/>
          </p:cNvCxnSpPr>
          <p:nvPr/>
        </p:nvCxnSpPr>
        <p:spPr>
          <a:xfrm>
            <a:off x="3930675" y="2785875"/>
            <a:ext cx="3043800" cy="887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0" name="Google Shape;510;p38"/>
          <p:cNvCxnSpPr>
            <a:stCxn id="494" idx="3"/>
            <a:endCxn id="505" idx="1"/>
          </p:cNvCxnSpPr>
          <p:nvPr/>
        </p:nvCxnSpPr>
        <p:spPr>
          <a:xfrm>
            <a:off x="1830300" y="2785877"/>
            <a:ext cx="5817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