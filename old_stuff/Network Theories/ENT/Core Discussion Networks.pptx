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6858000" cy="9144000"/>
  <p:embeddedFontLst>
    <p:embeddedFont>
      <p:font typeface="Economica"/>
      <p:regular r:id="rId14"/>
      <p:bold r:id="rId15"/>
      <p:italic r:id="rId16"/>
      <p:boldItalic r:id="rId17"/>
    </p:embeddedFont>
    <p:embeddedFont>
      <p:font typeface="Open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OpenSans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Economica-bold.fntdata"/><Relationship Id="rId14" Type="http://schemas.openxmlformats.org/officeDocument/2006/relationships/font" Target="fonts/Economica-regular.fntdata"/><Relationship Id="rId17" Type="http://schemas.openxmlformats.org/officeDocument/2006/relationships/font" Target="fonts/Economica-boldItalic.fntdata"/><Relationship Id="rId16" Type="http://schemas.openxmlformats.org/officeDocument/2006/relationships/font" Target="fonts/Economica-italic.fntdata"/><Relationship Id="rId5" Type="http://schemas.openxmlformats.org/officeDocument/2006/relationships/slide" Target="slides/slide1.xml"/><Relationship Id="rId19" Type="http://schemas.openxmlformats.org/officeDocument/2006/relationships/font" Target="fonts/OpenSans-bold.fntdata"/><Relationship Id="rId6" Type="http://schemas.openxmlformats.org/officeDocument/2006/relationships/slide" Target="slides/slide2.xml"/><Relationship Id="rId18" Type="http://schemas.openxmlformats.org/officeDocument/2006/relationships/font" Target="fonts/OpenSans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626820a3d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626820a3d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626820a3d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626820a3d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26820a3d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626820a3d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26820a3d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26820a3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626820a3d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626820a3d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626820a3d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626820a3d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626820a3d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626820a3d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26820a3d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26820a3d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Discussion Networks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discussion networks: What are they?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great deal of what we know about ego-networks at the population level comes from </a:t>
            </a:r>
            <a:r>
              <a:rPr i="1" lang="en"/>
              <a:t>core discussion networks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These are ego-networks elicited by a particular name generator: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“Named all persons with whom you have discussed matters important to you”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 implemented in General Social Survey 1985 as first probability sample of ego-networks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Replicated by McPherson and Smith-Lovin in GSS 2004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discussion networks: What are they?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225225"/>
            <a:ext cx="5296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larger the ego network: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more diverse, less homophilous, more open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Smaller ego networks: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Tend to be more clustered , less diverse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more diversity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Less homophily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higher average tie strength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more clustering, less diversity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more proportion kin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more homophily, less diversity, more clustering </a:t>
            </a:r>
            <a:endParaRPr/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8951" y="1451024"/>
            <a:ext cx="3190300" cy="275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discussion networks: What are they?</a:t>
            </a:r>
            <a:endParaRPr/>
          </a:p>
        </p:txBody>
      </p:sp>
      <p:sp>
        <p:nvSpPr>
          <p:cNvPr id="82" name="Google Shape;82;p16"/>
          <p:cNvSpPr txBox="1"/>
          <p:nvPr/>
        </p:nvSpPr>
        <p:spPr>
          <a:xfrm>
            <a:off x="5009400" y="1185800"/>
            <a:ext cx="36300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Distribution of total network size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GSS 1985</a:t>
            </a:r>
            <a:endParaRPr/>
          </a:p>
        </p:txBody>
      </p:sp>
      <p:pic>
        <p:nvPicPr>
          <p:cNvPr id="83" name="Google Shape;8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5900" y="1567319"/>
            <a:ext cx="4196400" cy="28017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11700" y="1225225"/>
            <a:ext cx="4209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Core discussion networks: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Tend to have wide </a:t>
            </a:r>
            <a:r>
              <a:rPr b="1" lang="en"/>
              <a:t>variation</a:t>
            </a:r>
            <a:r>
              <a:rPr lang="en"/>
              <a:t> in </a:t>
            </a:r>
            <a:r>
              <a:rPr b="1" lang="en"/>
              <a:t>size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Some people have lots of contacts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Some are “isolated”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Size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Increases with education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Declines with age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Blacks report smaller networks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 gender differences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discussion networks: What are they?</a:t>
            </a:r>
            <a:endParaRPr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11700" y="1225225"/>
            <a:ext cx="4209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Core discussion networks: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Tend to be dominated by </a:t>
            </a:r>
            <a:r>
              <a:rPr b="1" lang="en"/>
              <a:t>kin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Proportion kin: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Declines with education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Women report more kin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Blacks report fewer kin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Larger for the really young and the really old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1000" y="1463275"/>
            <a:ext cx="4311300" cy="28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 txBox="1"/>
          <p:nvPr/>
        </p:nvSpPr>
        <p:spPr>
          <a:xfrm>
            <a:off x="5729575" y="1225225"/>
            <a:ext cx="23160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Times New Roman"/>
              <a:buNone/>
            </a:pPr>
            <a:r>
              <a:rPr lang="en"/>
              <a:t>Proportion Kin, GSS 1985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discussion networks: What are they?</a:t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11700" y="1225225"/>
            <a:ext cx="4209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Core discussion networks: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Tend to be relatively </a:t>
            </a:r>
            <a:r>
              <a:rPr b="1" lang="en"/>
              <a:t>clustered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Clustering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Increases as we age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Declines with education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Declines with population size of place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 txBox="1"/>
          <p:nvPr/>
        </p:nvSpPr>
        <p:spPr>
          <a:xfrm>
            <a:off x="5277575" y="1225225"/>
            <a:ext cx="32757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Times New Roman"/>
              <a:buNone/>
            </a:pPr>
            <a:r>
              <a:rPr lang="en"/>
              <a:t>Core discussion network clustering</a:t>
            </a:r>
            <a:r>
              <a:rPr lang="en"/>
              <a:t> GSS 1985</a:t>
            </a:r>
            <a:endParaRPr/>
          </a:p>
        </p:txBody>
      </p:sp>
      <p:pic>
        <p:nvPicPr>
          <p:cNvPr id="100" name="Google Shape;10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1000" y="1597975"/>
            <a:ext cx="4311300" cy="287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discussion networks: What are they?</a:t>
            </a:r>
            <a:endParaRPr/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11700" y="1225225"/>
            <a:ext cx="4209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Core discussion networks: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Tend to be relatively </a:t>
            </a:r>
            <a:r>
              <a:rPr b="1" lang="en"/>
              <a:t>homogeneous</a:t>
            </a:r>
            <a:r>
              <a:rPr lang="en"/>
              <a:t> with respect to important social attributes (Homophily)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Age, race, gender, education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Homogeneity: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Increases with age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Declines with education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Non-whites have less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Blau’s size paradox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Declines with size of place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Interacts with kin status in complex ways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5277575" y="1225225"/>
            <a:ext cx="32757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Times New Roman"/>
              <a:buNone/>
            </a:pPr>
            <a:r>
              <a:rPr lang="en"/>
              <a:t>Core discussion network clustering</a:t>
            </a:r>
            <a:r>
              <a:rPr lang="en"/>
              <a:t> GSS 1985</a:t>
            </a:r>
            <a:endParaRPr/>
          </a:p>
        </p:txBody>
      </p:sp>
      <p:pic>
        <p:nvPicPr>
          <p:cNvPr id="108" name="Google Shape;10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1000" y="1597975"/>
            <a:ext cx="4311300" cy="287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important matters? (Brashears 2016)</a:t>
            </a:r>
            <a:endParaRPr/>
          </a:p>
        </p:txBody>
      </p:sp>
      <p:pic>
        <p:nvPicPr>
          <p:cNvPr descr="Screenshot 2017-09-14 at 09.51.17.png" id="114" name="Google Shape;114;p20"/>
          <p:cNvPicPr preferRelativeResize="0"/>
          <p:nvPr/>
        </p:nvPicPr>
        <p:blipFill rotWithShape="1">
          <a:blip r:embed="rId3">
            <a:alphaModFix/>
          </a:blip>
          <a:srcRect b="11219" l="0" r="24908" t="20577"/>
          <a:stretch/>
        </p:blipFill>
        <p:spPr>
          <a:xfrm>
            <a:off x="1070713" y="1147237"/>
            <a:ext cx="7002576" cy="357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important matters? </a:t>
            </a:r>
            <a:endParaRPr/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311700" y="1225225"/>
            <a:ext cx="4274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Are important matters important?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“Big Four” (Brashears 2014):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Finances, Family, Health and Medical Care, and 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mainly rely on friends and non-spousal kin followed by spouses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tend to link topics to role types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Small gender differences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</a:t>
            </a:r>
            <a:r>
              <a:rPr i="1" lang="en"/>
              <a:t>get important forms of support</a:t>
            </a:r>
            <a:r>
              <a:rPr lang="en"/>
              <a:t> from confidants (Brashears 2014):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Confirms the use of this name generator as exchange/resource</a:t>
            </a:r>
            <a:endParaRPr i="1"/>
          </a:p>
        </p:txBody>
      </p:sp>
      <p:pic>
        <p:nvPicPr>
          <p:cNvPr id="121" name="Google Shape;121;p21"/>
          <p:cNvPicPr preferRelativeResize="0"/>
          <p:nvPr/>
        </p:nvPicPr>
        <p:blipFill rotWithShape="1">
          <a:blip r:embed="rId3">
            <a:alphaModFix/>
          </a:blip>
          <a:srcRect b="32000" l="18751" r="37498" t="29599"/>
          <a:stretch/>
        </p:blipFill>
        <p:spPr>
          <a:xfrm>
            <a:off x="4586400" y="1483075"/>
            <a:ext cx="4139400" cy="283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1"/>
          <p:cNvSpPr txBox="1"/>
          <p:nvPr/>
        </p:nvSpPr>
        <p:spPr>
          <a:xfrm>
            <a:off x="5248825" y="4280675"/>
            <a:ext cx="3084300" cy="3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Times New Roman"/>
              <a:buNone/>
            </a:pPr>
            <a:r>
              <a:rPr lang="en"/>
              <a:t>Bearman and Parigi (2004)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