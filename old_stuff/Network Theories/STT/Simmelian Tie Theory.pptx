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48697cd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48697cd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48697cd7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48697cd7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48697cd7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48697cd7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748697cd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748697cd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48697cd7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748697cd7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748697cd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748697cd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748697cd7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748697cd7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748697cd7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748697cd7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748697cd7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748697cd7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748697cd7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748697cd7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748697cd7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748697cd7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748697cd7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748697cd7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Simmelian Tie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two types of connected dyads in networks: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27"/>
          <p:cNvCxnSpPr>
            <a:stCxn id="117" idx="7"/>
            <a:endCxn id="119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27"/>
          <p:cNvCxnSpPr>
            <a:stCxn id="117" idx="5"/>
            <a:endCxn id="121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2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27"/>
          <p:cNvCxnSpPr>
            <a:stCxn id="121" idx="0"/>
            <a:endCxn id="119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27"/>
          <p:cNvCxnSpPr>
            <a:stCxn id="117" idx="4"/>
            <a:endCxn id="123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two types of connected dyads in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 u="sng">
                <a:solidFill>
                  <a:srgbClr val="FF0000"/>
                </a:solidFill>
              </a:rPr>
              <a:t>Simmelian ties*</a:t>
            </a:r>
            <a:endParaRPr u="sng"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Connected dyads embedded in triads</a:t>
            </a:r>
            <a:endParaRPr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8"/>
          <p:cNvCxnSpPr>
            <a:stCxn id="131" idx="7"/>
            <a:endCxn id="133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8"/>
          <p:cNvCxnSpPr>
            <a:stCxn id="131" idx="5"/>
            <a:endCxn id="135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8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8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28"/>
          <p:cNvCxnSpPr>
            <a:stCxn id="135" idx="0"/>
            <a:endCxn id="133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8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28"/>
          <p:cNvCxnSpPr>
            <a:stCxn id="131" idx="4"/>
            <a:endCxn id="137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8"/>
          <p:cNvSpPr txBox="1"/>
          <p:nvPr/>
        </p:nvSpPr>
        <p:spPr>
          <a:xfrm>
            <a:off x="425775" y="4216425"/>
            <a:ext cx="51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*Named after the German sociologist Georg Simmel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45" name="Google Shape;145;p29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two types of connected dyads in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 u="sng">
                <a:solidFill>
                  <a:srgbClr val="FF0000"/>
                </a:solidFill>
              </a:rPr>
              <a:t>Simmelian ties*</a:t>
            </a:r>
            <a:endParaRPr u="sng"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Connected dyads embedded in triads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●"/>
            </a:pPr>
            <a:r>
              <a:rPr lang="en">
                <a:solidFill>
                  <a:srgbClr val="0000FF"/>
                </a:solidFill>
              </a:rPr>
              <a:t>Stand alone connected dyads</a:t>
            </a:r>
            <a:endParaRPr u="sng">
              <a:solidFill>
                <a:srgbClr val="FF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9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29"/>
          <p:cNvCxnSpPr>
            <a:stCxn id="146" idx="7"/>
            <a:endCxn id="148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9"/>
          <p:cNvCxnSpPr>
            <a:stCxn id="146" idx="5"/>
            <a:endCxn id="150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9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9"/>
          <p:cNvCxnSpPr>
            <a:stCxn id="150" idx="0"/>
            <a:endCxn id="148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9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9"/>
          <p:cNvCxnSpPr>
            <a:stCxn id="146" idx="4"/>
            <a:endCxn id="152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9"/>
          <p:cNvSpPr txBox="1"/>
          <p:nvPr/>
        </p:nvSpPr>
        <p:spPr>
          <a:xfrm>
            <a:off x="425775" y="4216425"/>
            <a:ext cx="51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*Named after the German sociologist Georg Simmel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are two types of connected dyads in networks: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lang="en" u="sng">
                <a:solidFill>
                  <a:srgbClr val="FF0000"/>
                </a:solidFill>
              </a:rPr>
              <a:t>Simmelian ties*</a:t>
            </a:r>
            <a:endParaRPr u="sng"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Connected dyads embedded in triads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■"/>
            </a:pPr>
            <a:r>
              <a:rPr lang="en" u="sng">
                <a:solidFill>
                  <a:srgbClr val="0000FF"/>
                </a:solidFill>
              </a:rPr>
              <a:t>“Regular” (non-Simmelian) ties</a:t>
            </a:r>
            <a:endParaRPr u="sng">
              <a:solidFill>
                <a:srgbClr val="0000FF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●"/>
            </a:pPr>
            <a:r>
              <a:rPr lang="en">
                <a:solidFill>
                  <a:srgbClr val="0000FF"/>
                </a:solidFill>
              </a:rPr>
              <a:t>Stand alone connected dyads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Contrast between a two-person and a three-person “group”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0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30"/>
          <p:cNvCxnSpPr>
            <a:stCxn id="161" idx="7"/>
            <a:endCxn id="163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30"/>
          <p:cNvCxnSpPr>
            <a:stCxn id="161" idx="5"/>
            <a:endCxn id="165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30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" name="Google Shape;166;p30"/>
          <p:cNvCxnSpPr>
            <a:stCxn id="165" idx="0"/>
            <a:endCxn id="163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30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30"/>
          <p:cNvCxnSpPr>
            <a:stCxn id="161" idx="4"/>
            <a:endCxn id="167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30"/>
          <p:cNvSpPr txBox="1"/>
          <p:nvPr/>
        </p:nvSpPr>
        <p:spPr>
          <a:xfrm>
            <a:off x="425775" y="4216425"/>
            <a:ext cx="51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*Named after the German sociologist Georg Simmel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30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two-person group (standalone dyad):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</a:pPr>
            <a:r>
              <a:rPr lang="en">
                <a:solidFill>
                  <a:srgbClr val="FFFFFF"/>
                </a:solidFill>
              </a:rPr>
              <a:t>Have more individuality</a:t>
            </a:r>
            <a:endParaRPr>
              <a:solidFill>
                <a:srgbClr val="FFFF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</a:pPr>
            <a:r>
              <a:rPr lang="en">
                <a:solidFill>
                  <a:srgbClr val="FFFFFF"/>
                </a:solidFill>
              </a:rPr>
              <a:t>More potential for unresolved differences</a:t>
            </a:r>
            <a:endParaRPr/>
          </a:p>
        </p:txBody>
      </p:sp>
      <p:sp>
        <p:nvSpPr>
          <p:cNvPr id="179" name="Google Shape;179;p31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31"/>
          <p:cNvCxnSpPr>
            <a:stCxn id="179" idx="7"/>
            <a:endCxn id="181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1"/>
          <p:cNvCxnSpPr>
            <a:stCxn id="179" idx="5"/>
            <a:endCxn id="183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31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31"/>
          <p:cNvCxnSpPr>
            <a:stCxn id="183" idx="0"/>
            <a:endCxn id="181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1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31"/>
          <p:cNvCxnSpPr>
            <a:stCxn id="179" idx="4"/>
            <a:endCxn id="185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two-person group (standalone dyad):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People have more individuality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potential for unresolved differences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Ties are more “Breakable”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</a:pPr>
            <a:r>
              <a:rPr lang="en">
                <a:solidFill>
                  <a:srgbClr val="FFFFFF"/>
                </a:solidFill>
              </a:rPr>
              <a:t>Have more individuality</a:t>
            </a:r>
            <a:endParaRPr>
              <a:solidFill>
                <a:srgbClr val="FFFF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</a:pPr>
            <a:r>
              <a:rPr lang="en">
                <a:solidFill>
                  <a:srgbClr val="FFFFFF"/>
                </a:solidFill>
              </a:rPr>
              <a:t>More potential for unresolved differences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" name="Google Shape;195;p32"/>
          <p:cNvCxnSpPr>
            <a:stCxn id="194" idx="7"/>
            <a:endCxn id="196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2"/>
          <p:cNvCxnSpPr>
            <a:stCxn id="194" idx="5"/>
            <a:endCxn id="198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2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32"/>
          <p:cNvCxnSpPr>
            <a:stCxn id="198" idx="0"/>
            <a:endCxn id="196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2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32"/>
          <p:cNvCxnSpPr>
            <a:stCxn id="194" idx="4"/>
            <a:endCxn id="200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2"/>
          <p:cNvSpPr/>
          <p:nvPr/>
        </p:nvSpPr>
        <p:spPr>
          <a:xfrm>
            <a:off x="6298538" y="2829638"/>
            <a:ext cx="453222" cy="446364"/>
          </a:xfrm>
          <a:prstGeom prst="irregularSeal1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225225"/>
            <a:ext cx="536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two-person group (standalone dyad):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People have more individuality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More potential for unresolved differences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Ties are more “Breakable”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three-person group (Simmelian dyads):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33"/>
          <p:cNvCxnSpPr>
            <a:stCxn id="211" idx="7"/>
            <a:endCxn id="213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3"/>
          <p:cNvCxnSpPr>
            <a:stCxn id="211" idx="5"/>
            <a:endCxn id="215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33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33"/>
          <p:cNvCxnSpPr>
            <a:stCxn id="215" idx="0"/>
            <a:endCxn id="213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3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33"/>
          <p:cNvCxnSpPr>
            <a:stCxn id="211" idx="4"/>
            <a:endCxn id="217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4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>
            <a:off x="311700" y="1225225"/>
            <a:ext cx="536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two-person group (standalone dyad):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People have more individuality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More potential for unresolved differences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Ties are more “Breakable”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three-person group (Simmelian dyads):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more pressure to conform to the views of others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Any individual member can be “outvoted” by the other two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227" name="Google Shape;227;p34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34"/>
          <p:cNvCxnSpPr>
            <a:stCxn id="227" idx="7"/>
            <a:endCxn id="229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4"/>
          <p:cNvCxnSpPr>
            <a:stCxn id="227" idx="5"/>
            <a:endCxn id="231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4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34"/>
          <p:cNvCxnSpPr>
            <a:stCxn id="231" idx="0"/>
            <a:endCxn id="229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4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" name="Google Shape;234;p34"/>
          <p:cNvCxnSpPr>
            <a:stCxn id="227" idx="4"/>
            <a:endCxn id="233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5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11700" y="1225225"/>
            <a:ext cx="536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two-person group (standalone dyad):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People have more individuality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More potential for unresolved differences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Ties are more “Breakable”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three-person group (Simmelian dyads):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more pressure to conform to the views of others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Any individual member can be “outvoted” by the other two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more potential for conflict resolution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A fight between two members can be mediated by the third</a:t>
            </a:r>
            <a:endParaRPr i="1"/>
          </a:p>
        </p:txBody>
      </p:sp>
      <p:sp>
        <p:nvSpPr>
          <p:cNvPr id="243" name="Google Shape;243;p35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35"/>
          <p:cNvCxnSpPr>
            <a:stCxn id="243" idx="7"/>
            <a:endCxn id="245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5"/>
          <p:cNvCxnSpPr>
            <a:stCxn id="243" idx="5"/>
            <a:endCxn id="247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5" name="Google Shape;245;p35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5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35"/>
          <p:cNvCxnSpPr>
            <a:stCxn id="247" idx="0"/>
            <a:endCxn id="245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" name="Google Shape;249;p35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0" name="Google Shape;250;p35"/>
          <p:cNvCxnSpPr>
            <a:stCxn id="243" idx="4"/>
            <a:endCxn id="249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35"/>
          <p:cNvSpPr/>
          <p:nvPr/>
        </p:nvSpPr>
        <p:spPr>
          <a:xfrm>
            <a:off x="7296463" y="1530138"/>
            <a:ext cx="453222" cy="446364"/>
          </a:xfrm>
          <a:prstGeom prst="irregularSeal1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6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59" name="Google Shape;259;p36"/>
          <p:cNvSpPr txBox="1"/>
          <p:nvPr>
            <p:ph idx="1" type="body"/>
          </p:nvPr>
        </p:nvSpPr>
        <p:spPr>
          <a:xfrm>
            <a:off x="311700" y="1225225"/>
            <a:ext cx="536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Simmelian ties are stronger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Simmelian ties last longer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Simmelian ties are harder to break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three-person group (Simmelian dyads):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more pressure to conform to the views of others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Any individual member can be “outvoted” by the other two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more potential for conflict resolution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A fight between two members can be mediated by the third</a:t>
            </a:r>
            <a:endParaRPr i="1"/>
          </a:p>
        </p:txBody>
      </p:sp>
      <p:sp>
        <p:nvSpPr>
          <p:cNvPr id="260" name="Google Shape;260;p36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6"/>
          <p:cNvCxnSpPr>
            <a:stCxn id="260" idx="7"/>
            <a:endCxn id="262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6"/>
          <p:cNvCxnSpPr>
            <a:stCxn id="260" idx="5"/>
            <a:endCxn id="264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2" name="Google Shape;262;p36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36"/>
          <p:cNvCxnSpPr>
            <a:stCxn id="264" idx="0"/>
            <a:endCxn id="262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6" name="Google Shape;266;p36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" name="Google Shape;267;p36"/>
          <p:cNvCxnSpPr>
            <a:stCxn id="260" idx="4"/>
            <a:endCxn id="266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6"/>
          <p:cNvSpPr/>
          <p:nvPr/>
        </p:nvSpPr>
        <p:spPr>
          <a:xfrm>
            <a:off x="7296463" y="1530138"/>
            <a:ext cx="453222" cy="446364"/>
          </a:xfrm>
          <a:prstGeom prst="irregularSeal1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 triads so special?</a:t>
            </a:r>
            <a:endParaRPr/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311700" y="1225225"/>
            <a:ext cx="5816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Explains why conflict is more difficult to settle in standalone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Explains why sometimes </a:t>
            </a:r>
            <a:r>
              <a:rPr b="1" lang="en"/>
              <a:t>only </a:t>
            </a:r>
            <a:r>
              <a:rPr lang="en"/>
              <a:t>conflict resolution recourse is to turn the standalone dyad into a “temporary” Simmelian dyad: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Arbitration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Mediation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shows that third parties are useful in alleviating dyadic conflicts </a:t>
            </a:r>
            <a:endParaRPr/>
          </a:p>
        </p:txBody>
      </p:sp>
      <p:sp>
        <p:nvSpPr>
          <p:cNvPr id="275" name="Google Shape;275;p37"/>
          <p:cNvSpPr/>
          <p:nvPr/>
        </p:nvSpPr>
        <p:spPr>
          <a:xfrm>
            <a:off x="5713475" y="1016350"/>
            <a:ext cx="3344400" cy="2314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 rot="5400000">
            <a:off x="4928546" y="2371525"/>
            <a:ext cx="3193200" cy="1222200"/>
          </a:xfrm>
          <a:prstGeom prst="flowChartAlternateProcess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>
            <a:off x="6284401" y="1981110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37"/>
          <p:cNvCxnSpPr>
            <a:stCxn id="277" idx="7"/>
            <a:endCxn id="279" idx="2"/>
          </p:cNvCxnSpPr>
          <p:nvPr/>
        </p:nvCxnSpPr>
        <p:spPr>
          <a:xfrm flipH="1" rot="10800000">
            <a:off x="6695387" y="1457520"/>
            <a:ext cx="1655400" cy="59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7"/>
          <p:cNvCxnSpPr>
            <a:stCxn id="277" idx="5"/>
            <a:endCxn id="281" idx="2"/>
          </p:cNvCxnSpPr>
          <p:nvPr/>
        </p:nvCxnSpPr>
        <p:spPr>
          <a:xfrm>
            <a:off x="6695387" y="2377500"/>
            <a:ext cx="1655400" cy="532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9" name="Google Shape;279;p37"/>
          <p:cNvSpPr/>
          <p:nvPr/>
        </p:nvSpPr>
        <p:spPr>
          <a:xfrm>
            <a:off x="8350791" y="1225225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/>
          <p:nvPr/>
        </p:nvSpPr>
        <p:spPr>
          <a:xfrm>
            <a:off x="8350791" y="2677853"/>
            <a:ext cx="481500" cy="4644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37"/>
          <p:cNvCxnSpPr>
            <a:stCxn id="281" idx="0"/>
            <a:endCxn id="279" idx="4"/>
          </p:cNvCxnSpPr>
          <p:nvPr/>
        </p:nvCxnSpPr>
        <p:spPr>
          <a:xfrm rot="10800000">
            <a:off x="8591541" y="1689653"/>
            <a:ext cx="0" cy="98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3" name="Google Shape;283;p37"/>
          <p:cNvSpPr/>
          <p:nvPr/>
        </p:nvSpPr>
        <p:spPr>
          <a:xfrm>
            <a:off x="6284391" y="3660153"/>
            <a:ext cx="481500" cy="464400"/>
          </a:xfrm>
          <a:prstGeom prst="ellipse">
            <a:avLst/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4" name="Google Shape;284;p37"/>
          <p:cNvCxnSpPr>
            <a:stCxn id="277" idx="4"/>
            <a:endCxn id="283" idx="0"/>
          </p:cNvCxnSpPr>
          <p:nvPr/>
        </p:nvCxnSpPr>
        <p:spPr>
          <a:xfrm>
            <a:off x="6525151" y="2445510"/>
            <a:ext cx="0" cy="1214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7"/>
          <p:cNvSpPr/>
          <p:nvPr/>
        </p:nvSpPr>
        <p:spPr>
          <a:xfrm>
            <a:off x="7296463" y="1530138"/>
            <a:ext cx="453222" cy="446364"/>
          </a:xfrm>
          <a:prstGeom prst="irregularSeal1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