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715000" cx="9144000"/>
  <p:notesSz cx="6858000" cy="9144000"/>
  <p:embeddedFontLst>
    <p:embeddedFont>
      <p:font typeface="Economica"/>
      <p:regular r:id="rId51"/>
      <p:bold r:id="rId52"/>
      <p:italic r:id="rId53"/>
      <p:boldItalic r:id="rId54"/>
    </p:embeddedFont>
    <p:embeddedFont>
      <p:font typeface="Cantarell"/>
      <p:regular r:id="rId55"/>
      <p:bold r:id="rId56"/>
      <p:italic r:id="rId57"/>
      <p:boldItalic r:id="rId58"/>
    </p:embeddedFont>
    <p:embeddedFont>
      <p:font typeface="Open Sans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7338BD-C1C6-4590-90F2-E5507355CE4A}">
  <a:tblStyle styleId="{EE7338BD-C1C6-4590-90F2-E5507355CE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4636296-0EBC-4A98-B690-CA9FBB4A5FE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OpenSans-boldItalic.fntdata"/><Relationship Id="rId61" Type="http://schemas.openxmlformats.org/officeDocument/2006/relationships/font" Target="fonts/OpenSans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OpenSans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Economica-regular.fntdata"/><Relationship Id="rId50" Type="http://schemas.openxmlformats.org/officeDocument/2006/relationships/slide" Target="slides/slide44.xml"/><Relationship Id="rId53" Type="http://schemas.openxmlformats.org/officeDocument/2006/relationships/font" Target="fonts/Economica-italic.fntdata"/><Relationship Id="rId52" Type="http://schemas.openxmlformats.org/officeDocument/2006/relationships/font" Target="fonts/Economica-bold.fntdata"/><Relationship Id="rId11" Type="http://schemas.openxmlformats.org/officeDocument/2006/relationships/slide" Target="slides/slide5.xml"/><Relationship Id="rId55" Type="http://schemas.openxmlformats.org/officeDocument/2006/relationships/font" Target="fonts/Cantarell-regular.fntdata"/><Relationship Id="rId10" Type="http://schemas.openxmlformats.org/officeDocument/2006/relationships/slide" Target="slides/slide4.xml"/><Relationship Id="rId54" Type="http://schemas.openxmlformats.org/officeDocument/2006/relationships/font" Target="fonts/Economica-boldItalic.fntdata"/><Relationship Id="rId13" Type="http://schemas.openxmlformats.org/officeDocument/2006/relationships/slide" Target="slides/slide7.xml"/><Relationship Id="rId57" Type="http://schemas.openxmlformats.org/officeDocument/2006/relationships/font" Target="fonts/Cantarell-italic.fntdata"/><Relationship Id="rId12" Type="http://schemas.openxmlformats.org/officeDocument/2006/relationships/slide" Target="slides/slide6.xml"/><Relationship Id="rId56" Type="http://schemas.openxmlformats.org/officeDocument/2006/relationships/font" Target="fonts/Cantarell-bold.fntdata"/><Relationship Id="rId15" Type="http://schemas.openxmlformats.org/officeDocument/2006/relationships/slide" Target="slides/slide9.xml"/><Relationship Id="rId59" Type="http://schemas.openxmlformats.org/officeDocument/2006/relationships/font" Target="fonts/OpenSans-regular.fntdata"/><Relationship Id="rId14" Type="http://schemas.openxmlformats.org/officeDocument/2006/relationships/slide" Target="slides/slide8.xml"/><Relationship Id="rId58" Type="http://schemas.openxmlformats.org/officeDocument/2006/relationships/font" Target="fonts/Cantarell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b412efb10_0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b412efb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b412efb10_0_60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b412efb1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b412efb10_0_66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b412efb1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c19fef6_21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ac19fef6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b412efb10_0_285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b412efb10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ac19fef6_22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ac19fef6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b412efb1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2b412efb10_0_7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b412efb1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2b412efb10_0_8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b412efb1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2b412efb10_0_8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b412efb1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2b412efb10_0_9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b412efb1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2b412efb10_0_9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412efb10_0_29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b412efb10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b412efb10_0_302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b412efb10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412efb10_0_38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b412efb10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b412efb10_0_37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b412efb10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b412efb10_0_392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2b412efb10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b412efb10_0_45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b412efb10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b412efb10_0_46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b412efb10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412efb10_0_471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b412efb10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b412efb10_0_47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b412efb10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b412efb10_0_48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b412efb10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b412efb10_0_497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b412efb10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b412efb10_0_39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b412efb10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b412efb10_0_51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b412efb10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ac19fef6_211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ac19fef6_2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b412efb10_0_51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b412efb10_0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b412efb10_0_52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b412efb10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b412efb10_0_52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b412efb10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b412efb10_0_53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b412efb10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b412efb10_0_53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b412efb10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b412efb10_0_54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b412efb10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b412efb10_0_54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b412efb10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b412efb10_0_55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b412efb10_0_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b412efb10_0_55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b412efb10_0_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b412efb10_0_56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b412efb10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b412efb10_0_56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b412efb10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b412efb10_0_57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b412efb10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b412efb10_0_57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b412efb10_0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b412efb10_0_585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b412efb10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b412efb10_0_589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b412efb10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b412efb10_0_593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b412efb10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b412efb10_0_598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b412efb10_0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b412efb10_0_656:notes"/>
          <p:cNvSpPr/>
          <p:nvPr>
            <p:ph idx="2" type="sldImg"/>
          </p:nvPr>
        </p:nvSpPr>
        <p:spPr>
          <a:xfrm>
            <a:off x="6861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b412efb10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5" name="Google Shape;65;p14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15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400"/>
              <a:buChar char="○"/>
              <a:defRPr b="1">
                <a:solidFill>
                  <a:srgbClr val="980000"/>
                </a:solidFill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00"/>
              <a:buChar char="■"/>
              <a:defRPr i="1" sz="1200">
                <a:solidFill>
                  <a:srgbClr val="134F5C"/>
                </a:solidFill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u="sng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21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103" name="Google Shape;103;p2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3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ctrTitle"/>
          </p:nvPr>
        </p:nvSpPr>
        <p:spPr>
          <a:xfrm>
            <a:off x="3044700" y="1232397"/>
            <a:ext cx="3054600" cy="325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Theory: Culture Conversion Theory and Cultural Matching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pipes, flows and influence model</a:t>
            </a:r>
            <a:endParaRPr/>
          </a:p>
        </p:txBody>
      </p:sp>
      <p:sp>
        <p:nvSpPr>
          <p:cNvPr id="121" name="Google Shape;121;p26"/>
          <p:cNvSpPr txBox="1"/>
          <p:nvPr>
            <p:ph idx="1" type="body"/>
          </p:nvPr>
        </p:nvSpPr>
        <p:spPr>
          <a:xfrm>
            <a:off x="311700" y="1361350"/>
            <a:ext cx="48018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Static model of network 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“Network position” causes social behaviors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ties are relatively stable “pipes” through which things – objects, information or </a:t>
            </a:r>
            <a:r>
              <a:rPr lang="en"/>
              <a:t>cultural influence</a:t>
            </a:r>
            <a:r>
              <a:rPr lang="en"/>
              <a:t> – flow (Borgatti 2005)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 ties operate as </a:t>
            </a:r>
            <a:r>
              <a:rPr b="1" lang="en"/>
              <a:t>causes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Mechanisms producing similarity: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Lateral influence</a:t>
            </a:r>
            <a:r>
              <a:rPr lang="en"/>
              <a:t> via role-modeling of socio-</a:t>
            </a:r>
            <a:r>
              <a:rPr lang="en"/>
              <a:t>demographically</a:t>
            </a:r>
            <a:r>
              <a:rPr lang="en"/>
              <a:t> proximate alters (Christakis and Fowler 2011)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Hierarchical influence</a:t>
            </a:r>
            <a:r>
              <a:rPr lang="en"/>
              <a:t> via the adoption of the behaviors of high status individuals (Friedkin 2006)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500" y="1788401"/>
            <a:ext cx="3718800" cy="2872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pipes, flows and influence model</a:t>
            </a:r>
            <a:endParaRPr/>
          </a:p>
        </p:txBody>
      </p:sp>
      <p:sp>
        <p:nvSpPr>
          <p:cNvPr id="128" name="Google Shape;128;p27"/>
          <p:cNvSpPr txBox="1"/>
          <p:nvPr>
            <p:ph idx="1" type="body"/>
          </p:nvPr>
        </p:nvSpPr>
        <p:spPr>
          <a:xfrm>
            <a:off x="311700" y="1361350"/>
            <a:ext cx="48018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Recent research and theory on the dynamics of dyadic relationships reveals a different picture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Rather than being relatively static pipes: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 ties are formed, dissolved and re-negotiated in relatively narrow time-windows (Burt, 2000; Burt, 2002; Raeder et al 2011)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Neither flow nor positional processes can be conceptualized independently from these fine-grained temporal dynamics (Moody 2002)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500" y="1788401"/>
            <a:ext cx="3718800" cy="2872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flows to dynamic evolution and self-selection</a:t>
            </a:r>
            <a:endParaRPr/>
          </a:p>
        </p:txBody>
      </p:sp>
      <p:sp>
        <p:nvSpPr>
          <p:cNvPr id="135" name="Google Shape;135;p28"/>
          <p:cNvSpPr txBox="1"/>
          <p:nvPr>
            <p:ph idx="1" type="body"/>
          </p:nvPr>
        </p:nvSpPr>
        <p:spPr>
          <a:xfrm>
            <a:off x="311700" y="1361350"/>
            <a:ext cx="48018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social relations are constantly evolving they: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Cannot always be causes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 at a faster rate than the majority of the </a:t>
            </a:r>
            <a:r>
              <a:rPr lang="en"/>
              <a:t>cultural outcomes</a:t>
            </a:r>
            <a:r>
              <a:rPr lang="en"/>
              <a:t> that they are putatively causing (Lizardo 2006; Lizardo and Vaisey 2010.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possibility: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Persons (within environmental and structural constraints) that are doing things to network relations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enacting them, neglecting them, choosing to keep them or dissolving them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500" y="1584537"/>
            <a:ext cx="3718799" cy="3280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flows to dynamic evolution and self-selection</a:t>
            </a:r>
            <a:endParaRPr/>
          </a:p>
        </p:txBody>
      </p:sp>
      <p:sp>
        <p:nvSpPr>
          <p:cNvPr id="142" name="Google Shape;142;p29"/>
          <p:cNvSpPr txBox="1"/>
          <p:nvPr>
            <p:ph idx="1" type="body"/>
          </p:nvPr>
        </p:nvSpPr>
        <p:spPr>
          <a:xfrm>
            <a:off x="311700" y="1361350"/>
            <a:ext cx="48018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emphasis has brought back a concern with classical questions regarding: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origins and short-term fate of personal relationships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factors that account for their persistence through time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 ties may result in the strengthening or weakening of </a:t>
            </a:r>
            <a:r>
              <a:rPr lang="en"/>
              <a:t>cultural propensities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emergence of certain </a:t>
            </a:r>
            <a:r>
              <a:rPr lang="en"/>
              <a:t>cultural propensities</a:t>
            </a:r>
            <a:r>
              <a:rPr lang="en"/>
              <a:t> may be responsible for the strengthening and weakening of network ties</a:t>
            </a:r>
            <a:endParaRPr/>
          </a:p>
        </p:txBody>
      </p:sp>
      <p:pic>
        <p:nvPicPr>
          <p:cNvPr id="143" name="Google Shape;14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500" y="1584537"/>
            <a:ext cx="3718799" cy="3280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Evidence of </a:t>
            </a:r>
            <a:r>
              <a:rPr lang="en"/>
              <a:t>cultural effects</a:t>
            </a:r>
            <a:r>
              <a:rPr lang="en"/>
              <a:t> on networks</a:t>
            </a:r>
            <a:endParaRPr/>
          </a:p>
        </p:txBody>
      </p:sp>
      <p:sp>
        <p:nvSpPr>
          <p:cNvPr id="149" name="Google Shape;149;p30"/>
          <p:cNvSpPr txBox="1"/>
          <p:nvPr>
            <p:ph idx="1" type="body"/>
          </p:nvPr>
        </p:nvSpPr>
        <p:spPr>
          <a:xfrm>
            <a:off x="311700" y="1361350"/>
            <a:ext cx="47373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Individuals who report being in </a:t>
            </a:r>
            <a:r>
              <a:rPr b="1" lang="en"/>
              <a:t>poor health: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</a:t>
            </a:r>
            <a:r>
              <a:rPr lang="en"/>
              <a:t>end to have </a:t>
            </a:r>
            <a:r>
              <a:rPr b="1" lang="en"/>
              <a:t>smaller networks</a:t>
            </a:r>
            <a:r>
              <a:rPr lang="en"/>
              <a:t> </a:t>
            </a:r>
            <a:r>
              <a:rPr lang="en"/>
              <a:t>in comparison to their healthy peers (Haas et al 2010, Cornwell 2009)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Tend to be more peripheral in the overall </a:t>
            </a:r>
            <a:r>
              <a:rPr lang="en"/>
              <a:t>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Depressed</a:t>
            </a:r>
            <a:r>
              <a:rPr lang="en"/>
              <a:t> individuals: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Occupy more peripheral positions because they withdraw from social contact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Have high “homophily” because they befriend similarly other peripheral persons who are also more likely to be depressed persons (Schaefer et al 2011)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500" y="1584537"/>
            <a:ext cx="3718799" cy="3280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Evidence of </a:t>
            </a:r>
            <a:r>
              <a:rPr lang="en"/>
              <a:t>cultural effects</a:t>
            </a:r>
            <a:r>
              <a:rPr lang="en"/>
              <a:t> on networks</a:t>
            </a:r>
            <a:endParaRPr/>
          </a:p>
        </p:txBody>
      </p:sp>
      <p:sp>
        <p:nvSpPr>
          <p:cNvPr id="156" name="Google Shape;156;p31"/>
          <p:cNvSpPr txBox="1"/>
          <p:nvPr>
            <p:ph idx="1" type="body"/>
          </p:nvPr>
        </p:nvSpPr>
        <p:spPr>
          <a:xfrm>
            <a:off x="311700" y="1361350"/>
            <a:ext cx="4758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High self monitors</a:t>
            </a:r>
            <a:r>
              <a:rPr lang="en"/>
              <a:t> (persons who consciously strategize as to how they present themselves to others):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more likely to occupy </a:t>
            </a:r>
            <a:r>
              <a:rPr b="1" lang="en"/>
              <a:t>central</a:t>
            </a:r>
            <a:r>
              <a:rPr lang="en"/>
              <a:t> positions in networks (Mehra, Kilduff and Brass 2001)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Tend to attract more </a:t>
            </a:r>
            <a:r>
              <a:rPr b="1" lang="en"/>
              <a:t>new</a:t>
            </a:r>
            <a:r>
              <a:rPr lang="en"/>
              <a:t> </a:t>
            </a:r>
            <a:r>
              <a:rPr b="1" lang="en"/>
              <a:t>friends</a:t>
            </a:r>
            <a:r>
              <a:rPr lang="en"/>
              <a:t>, bridge structural holes, and "churn" through more ties (Sasovova et al 2010)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who have </a:t>
            </a:r>
            <a:r>
              <a:rPr b="1" lang="en"/>
              <a:t>implicit self-understandings</a:t>
            </a:r>
            <a:r>
              <a:rPr lang="en"/>
              <a:t> as collaborative: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 more likely to form ties </a:t>
            </a:r>
            <a:r>
              <a:rPr b="1" lang="en"/>
              <a:t>across organizational divisions</a:t>
            </a:r>
            <a:r>
              <a:rPr lang="en"/>
              <a:t> (Srivastava and Banaji 2011)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3500" y="1584537"/>
            <a:ext cx="3718799" cy="3280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/>
              <a:t>The culture conversion model</a:t>
            </a:r>
            <a:endParaRPr/>
          </a:p>
        </p:txBody>
      </p:sp>
      <p:sp>
        <p:nvSpPr>
          <p:cNvPr id="163" name="Google Shape;163;p32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Established phenomenon in the study of culture and social networks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Erickson (1996: 247) notes that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</a:t>
            </a:r>
            <a:r>
              <a:rPr lang="en"/>
              <a:t>The more diverse the set of…contacts one has, the more variety of culture one will encounter and hence maintain or learn…Thus network variety is one important source of cultural variety</a:t>
            </a:r>
            <a:r>
              <a:rPr lang="en"/>
              <a:t>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DiMaggio (1987:  444) adds that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“wide-ranging networks require broad repertoires of taste.”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Lizardo (2006) argues and shows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only do diverse networks lead to cultural diversity, culture consumption diversity leads to heterogeneous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observation: Network size (degree) should be correlated with culture consumption diversity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287" y="424656"/>
            <a:ext cx="8582100" cy="48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427403"/>
            <a:ext cx="8572500" cy="48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427403"/>
            <a:ext cx="8572500" cy="48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427403"/>
            <a:ext cx="8572500" cy="486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conduits to culture conversion</a:t>
            </a:r>
            <a:endParaRPr/>
          </a:p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>
            <a:off x="311700" y="1361356"/>
            <a:ext cx="8520600" cy="161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The logic of the conversion model can be extended to the case of redundancy (e.g. Burt 1992) in ego-networks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The more actors spread their attention across a wide variety of cultural pursuits (the larger the number of “weak” preferences), the less likely are their contacts to be connected to one another (Lizardo 2011)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788" y="2973556"/>
            <a:ext cx="5706425" cy="2436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conduits to culture conversion</a:t>
            </a:r>
            <a:endParaRPr/>
          </a:p>
        </p:txBody>
      </p:sp>
      <p:sp>
        <p:nvSpPr>
          <p:cNvPr id="196" name="Google Shape;196;p38"/>
          <p:cNvSpPr txBox="1"/>
          <p:nvPr>
            <p:ph idx="1" type="body"/>
          </p:nvPr>
        </p:nvSpPr>
        <p:spPr>
          <a:xfrm>
            <a:off x="311700" y="1361350"/>
            <a:ext cx="42540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A similar logic can be used to link the culture conversion imagery to Granovetter’s (1973) classic proposition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Lizardo (2013) finds that persons who report engaging in a wide variety of cultural activities are more likely to have found out about their last job via a social contact, especially a weak tie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850" y="1361350"/>
            <a:ext cx="3554629" cy="381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conduits to culture conversion</a:t>
            </a:r>
            <a:endParaRPr/>
          </a:p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311700" y="1361350"/>
            <a:ext cx="42540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A similar logic can be used to link the culture conversion imagery to Granovetter’s (1973) classic proposition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b="1" lang="en">
                <a:solidFill>
                  <a:srgbClr val="FF0000"/>
                </a:solidFill>
              </a:rPr>
              <a:t>Different types of culture help with different types of weak tie activation:</a:t>
            </a:r>
            <a:endParaRPr b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Popular culture is correlated with indirect weak tie activation</a:t>
            </a:r>
            <a:endParaRPr b="1"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Elite culture is correlated with direct weak tie activation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5700" y="1769550"/>
            <a:ext cx="4114201" cy="2910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conduits to culture conversion</a:t>
            </a:r>
            <a:endParaRPr/>
          </a:p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311700" y="1361350"/>
            <a:ext cx="48663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Joseph and Carley (2015) test four postulates from the culture conversion model using linked Twitter and Foursquare data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strong (weak) cultural preferences one has, the more (less) closed one’s ego network is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more total cultural preferences one has, the more total social ties one has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strong cultural preferences one has, the more strong ties one has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more weak cultural preferences one has, the more weak ties one has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40"/>
          <p:cNvPicPr preferRelativeResize="0"/>
          <p:nvPr/>
        </p:nvPicPr>
        <p:blipFill rotWithShape="1">
          <a:blip r:embed="rId3">
            <a:alphaModFix/>
          </a:blip>
          <a:srcRect b="0" l="0" r="64873" t="22726"/>
          <a:stretch/>
        </p:blipFill>
        <p:spPr>
          <a:xfrm>
            <a:off x="5360625" y="1361350"/>
            <a:ext cx="3212000" cy="16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0"/>
          <p:cNvPicPr preferRelativeResize="0"/>
          <p:nvPr/>
        </p:nvPicPr>
        <p:blipFill rotWithShape="1">
          <a:blip r:embed="rId3">
            <a:alphaModFix/>
          </a:blip>
          <a:srcRect b="0" l="67760" r="1108" t="0"/>
          <a:stretch/>
        </p:blipFill>
        <p:spPr>
          <a:xfrm>
            <a:off x="5360624" y="3058000"/>
            <a:ext cx="2846750" cy="20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conduits to culture conversion</a:t>
            </a:r>
            <a:endParaRPr/>
          </a:p>
        </p:txBody>
      </p:sp>
      <p:sp>
        <p:nvSpPr>
          <p:cNvPr id="218" name="Google Shape;218;p41"/>
          <p:cNvSpPr txBox="1"/>
          <p:nvPr>
            <p:ph idx="1" type="body"/>
          </p:nvPr>
        </p:nvSpPr>
        <p:spPr>
          <a:xfrm>
            <a:off x="311700" y="1361350"/>
            <a:ext cx="48663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Joseph and Carley (2015) test four postulates from the culture conversion model using linked Twitter and Foursquare data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strong (weak) cultural preferences one has, the more (less) closed one’s ego network is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more total cultural preferences one has, the more total social ties one has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more strong cultural preferences one has, the more strong ties one has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The more weak cultural preferences one has, the more weak ties one has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41"/>
          <p:cNvPicPr preferRelativeResize="0"/>
          <p:nvPr/>
        </p:nvPicPr>
        <p:blipFill rotWithShape="1">
          <a:blip r:embed="rId3">
            <a:alphaModFix/>
          </a:blip>
          <a:srcRect b="0" l="0" r="64873" t="22726"/>
          <a:stretch/>
        </p:blipFill>
        <p:spPr>
          <a:xfrm>
            <a:off x="5360625" y="1361350"/>
            <a:ext cx="3212000" cy="16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1"/>
          <p:cNvPicPr preferRelativeResize="0"/>
          <p:nvPr/>
        </p:nvPicPr>
        <p:blipFill rotWithShape="1">
          <a:blip r:embed="rId3">
            <a:alphaModFix/>
          </a:blip>
          <a:srcRect b="0" l="67760" r="1108" t="0"/>
          <a:stretch/>
        </p:blipFill>
        <p:spPr>
          <a:xfrm>
            <a:off x="5360624" y="3058000"/>
            <a:ext cx="2846750" cy="20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conduits to culture conversion</a:t>
            </a:r>
            <a:endParaRPr/>
          </a:p>
        </p:txBody>
      </p:sp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311700" y="1361350"/>
            <a:ext cx="45225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Lewis and Kaufman (</a:t>
            </a:r>
            <a:r>
              <a:rPr lang="en"/>
              <a:t>forthcoming</a:t>
            </a:r>
            <a:r>
              <a:rPr lang="en"/>
              <a:t>) distinguish between different types of culture conversion processes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Dyadic conversion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Cultural forms that help ego form and sustain connections with particular others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Generalized conversion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Cultural forms that help ego connects with other people in general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matching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Overall similarity in the cultural profile of two people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4200" y="1977040"/>
            <a:ext cx="4005000" cy="2495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conduits to culture conversion</a:t>
            </a:r>
            <a:endParaRPr/>
          </a:p>
        </p:txBody>
      </p:sp>
      <p:sp>
        <p:nvSpPr>
          <p:cNvPr id="233" name="Google Shape;233;p4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types of culture have generalized conversion capacity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types of culture have </a:t>
            </a:r>
            <a:r>
              <a:rPr b="1" lang="en"/>
              <a:t>negative</a:t>
            </a:r>
            <a:r>
              <a:rPr lang="en"/>
              <a:t> generalized conversion potential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make people less central!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Dyadic conversion is empirically distinct from cultural matching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seem to be attuned to </a:t>
            </a:r>
            <a:r>
              <a:rPr b="1" lang="en"/>
              <a:t>overall</a:t>
            </a:r>
            <a:r>
              <a:rPr lang="en"/>
              <a:t> cultural similarity within dyads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Conversion effects independent of social foci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for some elite tastes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tastes matter at different stages of relationship formation 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Locally rare or unusual tastes mattern more for dyadic conversion at the beginning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Overall</a:t>
            </a:r>
            <a:r>
              <a:rPr lang="en"/>
              <a:t> profile similarity also matters more at the beginning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Generalized conversion is aided by tastes that are </a:t>
            </a:r>
            <a:r>
              <a:rPr b="1" lang="en"/>
              <a:t>locally</a:t>
            </a:r>
            <a:r>
              <a:rPr lang="en"/>
              <a:t> popular but hindered by </a:t>
            </a:r>
            <a:r>
              <a:rPr b="1" lang="en"/>
              <a:t>globally</a:t>
            </a:r>
            <a:r>
              <a:rPr lang="en"/>
              <a:t> popular tastes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conduits to culture conversion</a:t>
            </a:r>
            <a:endParaRPr/>
          </a:p>
        </p:txBody>
      </p:sp>
      <p:sp>
        <p:nvSpPr>
          <p:cNvPr id="239" name="Google Shape;239;p4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types of culture have generalized conversion capacity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types of culture have </a:t>
            </a:r>
            <a:r>
              <a:rPr b="1" lang="en"/>
              <a:t>negative</a:t>
            </a:r>
            <a:r>
              <a:rPr lang="en"/>
              <a:t> generalized conversion potential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make people less central!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Dyadic conversion is empirically distinction from cultural matching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seem to be attuned to </a:t>
            </a:r>
            <a:r>
              <a:rPr b="1" lang="en"/>
              <a:t>overall</a:t>
            </a:r>
            <a:r>
              <a:rPr lang="en"/>
              <a:t> cultural similarity within dyads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Conversion effects independent of social foci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for some elite tastes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tastes matter at different stages of relationship formation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Later on, having a </a:t>
            </a:r>
            <a:r>
              <a:rPr b="1" lang="en"/>
              <a:t>diverse range of tastes</a:t>
            </a:r>
            <a:r>
              <a:rPr lang="en"/>
              <a:t> (music, books) helps in generalized conversion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Diverse taste in movies however functions as negative generalized cultural capital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However, sharing globally popular tastes leads to negative dyadic conversion (aversion)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conduits to culture conversion</a:t>
            </a:r>
            <a:endParaRPr/>
          </a:p>
        </p:txBody>
      </p:sp>
      <p:sp>
        <p:nvSpPr>
          <p:cNvPr id="245" name="Google Shape;245;p4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Some types of culture have generalized conversion capacity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types of culture have </a:t>
            </a:r>
            <a:r>
              <a:rPr b="1" lang="en"/>
              <a:t>negative</a:t>
            </a:r>
            <a:r>
              <a:rPr lang="en"/>
              <a:t> generalized conversion potential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They make people less central!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Dyadic conversion is empirically distinction from cultural matching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People seem to be attuned to </a:t>
            </a:r>
            <a:r>
              <a:rPr b="1" lang="en"/>
              <a:t>overall</a:t>
            </a:r>
            <a:r>
              <a:rPr lang="en"/>
              <a:t> cultural similarity within dyads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Conversion effects independent of social foci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Except for some elite tastes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tastes matter at different stages of relationship formation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</a:t>
            </a:r>
            <a:r>
              <a:rPr lang="en"/>
              <a:t>t the latest stage: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Dyadic conversion still in effect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Locally common culture provides generalized conversion value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Consistent with a qualified version of the conversion model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culture conversion theory</a:t>
            </a:r>
            <a:endParaRPr/>
          </a:p>
        </p:txBody>
      </p:sp>
      <p:sp>
        <p:nvSpPr>
          <p:cNvPr id="251" name="Google Shape;251;p46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Propositions: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P1. </a:t>
            </a:r>
            <a:r>
              <a:rPr i="1" lang="en"/>
              <a:t>People who share tastes and nontastes across multiple domains and people who share tastes that are locally uncommon are more likely to connect at the initial network formation stage. 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P2.</a:t>
            </a:r>
            <a:r>
              <a:rPr b="1" i="1" lang="en"/>
              <a:t> </a:t>
            </a:r>
            <a:r>
              <a:rPr i="1" lang="en"/>
              <a:t>Tastes that are relatively common in a particular environment constitute a broad cultural resource that facilitates generalized culture conversion.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P3. </a:t>
            </a:r>
            <a:r>
              <a:rPr i="1" lang="en"/>
              <a:t>People who express tastes that are locally valued will be most attractive as potential friends and people who express tastes that are locally disvalued will be avoided.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P4.</a:t>
            </a:r>
            <a:r>
              <a:rPr lang="en"/>
              <a:t> </a:t>
            </a:r>
            <a:r>
              <a:rPr i="1" lang="en"/>
              <a:t>People who share tastes that are locally disvalued are unattractive to one another as potential friends.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P5. </a:t>
            </a:r>
            <a:r>
              <a:rPr i="1" lang="en"/>
              <a:t>Mundane similarities (i.e. sharing any tastes) become more salient as networks evolve.</a:t>
            </a:r>
            <a:endParaRPr i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P6.</a:t>
            </a:r>
            <a:r>
              <a:rPr lang="en"/>
              <a:t> </a:t>
            </a:r>
            <a:r>
              <a:rPr i="1" lang="en"/>
              <a:t>People who self-select into shared foci on the basis of their tastes become friends rapidly or not at all; after that the impact of tastes on ties is largely direct.</a:t>
            </a:r>
            <a:endParaRPr i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Generalized culture conversion theory</a:t>
            </a:r>
            <a:endParaRPr/>
          </a:p>
        </p:txBody>
      </p:sp>
      <p:pic>
        <p:nvPicPr>
          <p:cNvPr id="257" name="Google Shape;25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3150" y="1274728"/>
            <a:ext cx="6637695" cy="4135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generation work: Mechanisms in context</a:t>
            </a:r>
            <a:endParaRPr/>
          </a:p>
        </p:txBody>
      </p:sp>
      <p:sp>
        <p:nvSpPr>
          <p:cNvPr id="263" name="Google Shape;263;p48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matching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well-studied (and theorized) class of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Goes all the way back to Lazarsfeld and Merton (1954) proposal for “value homophily” as an input into relationship formation 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Selection into (e.g. econometric) logic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mismatching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Involved in relationship dissolution processes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Selective “unfriending” as a dynamic outcome (Noel and Nyhan 2011)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Selectionist (e.g. Darwinian logic)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Homophily via preference and self-selection</a:t>
            </a:r>
            <a:endParaRPr/>
          </a:p>
        </p:txBody>
      </p:sp>
      <p:sp>
        <p:nvSpPr>
          <p:cNvPr id="269" name="Google Shape;269;p49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may already display substantial </a:t>
            </a:r>
            <a:r>
              <a:rPr lang="en"/>
              <a:t>cultural similarity</a:t>
            </a:r>
            <a:r>
              <a:rPr lang="en"/>
              <a:t> prior to the formation of the relevant relationships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“choice homophily” model postulates that </a:t>
            </a:r>
            <a:r>
              <a:rPr lang="en"/>
              <a:t>cultural and</a:t>
            </a:r>
            <a:r>
              <a:rPr lang="en"/>
              <a:t> other personal attributes serve as a self-selection mechanism in tie formation.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According to this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 comes after the fact of </a:t>
            </a:r>
            <a:r>
              <a:rPr lang="en"/>
              <a:t>cultural matching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first develop durable (e.g. habitual) </a:t>
            </a:r>
            <a:r>
              <a:rPr lang="en"/>
              <a:t>cultural dispositions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Later select friends based on their similarity on the relevant </a:t>
            </a:r>
            <a:r>
              <a:rPr lang="en"/>
              <a:t>cultural attributes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Assumption is that individual </a:t>
            </a:r>
            <a:r>
              <a:rPr lang="en"/>
              <a:t>cultural predispositions</a:t>
            </a:r>
            <a:r>
              <a:rPr lang="en"/>
              <a:t> are durable and exhibit “slower” dynamics than more volatile social relations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(Bidart and Lavenu 2005; Vaisey and Lizardo 2006)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omophily via dyadic evolution processes</a:t>
            </a:r>
            <a:endParaRPr/>
          </a:p>
        </p:txBody>
      </p:sp>
      <p:sp>
        <p:nvSpPr>
          <p:cNvPr id="275" name="Google Shape;275;p50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High probabilities of tie dissolution after formation are the result of strong selective pressures that operate early in the relationship building process.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learn whether or not they are similar to someone they have met, and/or they experience imbalance in the relationship (non-reciprocity), leading them to stop interacting with the other person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Recent work shows that homophily can come from: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</a:t>
            </a:r>
            <a:r>
              <a:rPr b="1" lang="en"/>
              <a:t> selective dissolution</a:t>
            </a:r>
            <a:r>
              <a:rPr lang="en"/>
              <a:t> of social ties characterized by cultural mismatch (presuming initial random mixing) than the active choice of similar partners to form a relationship (Noel and Nyhan 2011)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According to this endogenous evolutionary model, persons do not (initially) “choose” their partners based on cultural commonality, possibly because they lack relevant information on the </a:t>
            </a:r>
            <a:r>
              <a:rPr lang="en"/>
              <a:t>cultural propensities</a:t>
            </a:r>
            <a:r>
              <a:rPr lang="en"/>
              <a:t> of acquaintances prior to interacting with them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Homophily via dyadic evolution processes</a:t>
            </a:r>
            <a:endParaRPr/>
          </a:p>
        </p:txBody>
      </p:sp>
      <p:sp>
        <p:nvSpPr>
          <p:cNvPr id="281" name="Google Shape;281;p5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High probabilities of tie dissolution after formation are the result of strong selective pressures that operate early in the relationship building process.  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Persons learn whether or not they are similar to someone they have met, and/or they experience imbalance in the relationship (non-reciprocity), leading them to stop interacting with the other person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Recent work shows that homophily can come from: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</a:t>
            </a:r>
            <a:r>
              <a:rPr b="1" lang="en"/>
              <a:t> selective dissolution</a:t>
            </a:r>
            <a:r>
              <a:rPr lang="en"/>
              <a:t> of social ties characterized by cultural mismatch (presuming initial random mixing) than the active choice of similar partners to form a relationship (Noel and Nyhan 2011) 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Cultural matching emerges in a population as:</a:t>
            </a:r>
            <a:endParaRPr sz="18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Mismatched ties are selectively removed (due to their higher mortality hazard)</a:t>
            </a:r>
            <a:endParaRPr i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Matched ties are selectively retained (due to their slower decay propensities).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Connection between cultural tastes and networks</a:t>
            </a:r>
            <a:endParaRPr/>
          </a:p>
        </p:txBody>
      </p:sp>
      <p:sp>
        <p:nvSpPr>
          <p:cNvPr id="287" name="Google Shape;287;p52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Empirical implications of the model for dynamic ego-networks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matching matters for relationship persistence in dynamic ego-networks subject to tie decay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More matching = more persistence</a:t>
            </a:r>
            <a:endParaRPr/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00"/>
              <a:buFont typeface="Open Sans"/>
              <a:buChar char="■"/>
            </a:pPr>
            <a:r>
              <a:rPr lang="en"/>
              <a:t>Net of standard relational factors (e.g. closeness, duration, foci)</a:t>
            </a:r>
            <a:endParaRPr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00"/>
              <a:buFont typeface="Open Sans"/>
              <a:buChar char="○"/>
            </a:pPr>
            <a:r>
              <a:rPr lang="en"/>
              <a:t>Cultural matching matters more for the persistence elective (non-kin) ties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Kin ties persist via alternative mechanisms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200"/>
              <a:buChar char="○"/>
            </a:pPr>
            <a:r>
              <a:rPr lang="en"/>
              <a:t>Cultural matching matters more in periods in which persons are “reconfiguring” their networks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Life-course transitions (Suitor et al. 1997)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the cultural matching model</a:t>
            </a:r>
            <a:endParaRPr/>
          </a:p>
        </p:txBody>
      </p:sp>
      <p:sp>
        <p:nvSpPr>
          <p:cNvPr id="293" name="Google Shape;293;p5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NetSense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Survey data:  Prior to arrival on campus students completed two surveys 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And then subsequently at the beginning and end of the spring semester of their Freshman year 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Demographic/Attitudes/Tastes/Behaviors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network survey data:  Asked about their top 20 contacts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Standard name-generator (based on interaction frequency)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Standard name-interpreter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b="1" lang="en"/>
              <a:t>“Cultural matching” name-interpreter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Longitudinal network data collected during a key life course-transition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Suitable for testing the implications of the cultural matching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mmer2011Net(W1)_Page_01.png" id="298" name="Google Shape;298;p54"/>
          <p:cNvPicPr preferRelativeResize="0"/>
          <p:nvPr/>
        </p:nvPicPr>
        <p:blipFill rotWithShape="1">
          <a:blip r:embed="rId3">
            <a:alphaModFix/>
          </a:blip>
          <a:srcRect b="10061" l="4232" r="4760" t="39358"/>
          <a:stretch/>
        </p:blipFill>
        <p:spPr>
          <a:xfrm>
            <a:off x="1774062" y="435306"/>
            <a:ext cx="5595876" cy="403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54"/>
          <p:cNvSpPr txBox="1"/>
          <p:nvPr>
            <p:ph idx="1" type="body"/>
          </p:nvPr>
        </p:nvSpPr>
        <p:spPr>
          <a:xfrm>
            <a:off x="408200" y="4921556"/>
            <a:ext cx="8520600" cy="5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Name Generator data collected on up to 20 contacts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mmer2011Net(W1)_Page_12.png" id="304" name="Google Shape;304;p55"/>
          <p:cNvPicPr preferRelativeResize="0"/>
          <p:nvPr/>
        </p:nvPicPr>
        <p:blipFill rotWithShape="1">
          <a:blip r:embed="rId3">
            <a:alphaModFix/>
          </a:blip>
          <a:srcRect b="65265" l="0" r="0" t="0"/>
          <a:stretch/>
        </p:blipFill>
        <p:spPr>
          <a:xfrm>
            <a:off x="1070525" y="702639"/>
            <a:ext cx="7002948" cy="3498947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5"/>
          <p:cNvSpPr txBox="1"/>
          <p:nvPr>
            <p:ph idx="1" type="body"/>
          </p:nvPr>
        </p:nvSpPr>
        <p:spPr>
          <a:xfrm>
            <a:off x="319500" y="4301083"/>
            <a:ext cx="7689300" cy="10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Name interpreter data collected on five activities: (1) Listening to Music, (2) Watching movies, (3) Reading Books, (4) Following Sports, (5) Playing Games, (6) Engaging in outdoor Activities. 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mmer2011Net(W1)_Page_12.png" id="310" name="Google Shape;310;p56"/>
          <p:cNvPicPr preferRelativeResize="0"/>
          <p:nvPr/>
        </p:nvPicPr>
        <p:blipFill rotWithShape="1">
          <a:blip r:embed="rId3">
            <a:alphaModFix/>
          </a:blip>
          <a:srcRect b="65265" l="0" r="0" t="0"/>
          <a:stretch/>
        </p:blipFill>
        <p:spPr>
          <a:xfrm>
            <a:off x="1070525" y="702639"/>
            <a:ext cx="7002948" cy="3498947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6"/>
          <p:cNvSpPr txBox="1"/>
          <p:nvPr>
            <p:ph idx="1" type="body"/>
          </p:nvPr>
        </p:nvSpPr>
        <p:spPr>
          <a:xfrm>
            <a:off x="319500" y="4301083"/>
            <a:ext cx="7689300" cy="10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Persons filled out a survey about their enjoyment of the </a:t>
            </a:r>
            <a:r>
              <a:rPr i="1" lang="en" sz="1800">
                <a:latin typeface="Open Sans"/>
                <a:ea typeface="Open Sans"/>
                <a:cs typeface="Open Sans"/>
                <a:sym typeface="Open Sans"/>
              </a:rPr>
              <a:t>same 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activities on a </a:t>
            </a:r>
            <a:r>
              <a:rPr i="1" lang="en" sz="1800">
                <a:latin typeface="Open Sans"/>
                <a:ea typeface="Open Sans"/>
                <a:cs typeface="Open Sans"/>
                <a:sym typeface="Open Sans"/>
              </a:rPr>
              <a:t>subsequent </a:t>
            </a: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survey taken around the same time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317" name="Google Shape;317;p5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cultural matching predict relationship persistence?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Persistence metric</a:t>
            </a:r>
            <a:r>
              <a:rPr lang="en"/>
              <a:t>: 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Whether a given contact is reported as a frequent interactant in a subsequent survey after being nominated in an earlier survey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Cultural matching metric</a:t>
            </a:r>
            <a:r>
              <a:rPr lang="en"/>
              <a:t>: 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Count of the number of activities in which ego reports the same level of involvement as their contacts (as perceived by ego)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periods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August of 2011 to January of 2012 and January of 2012 to May of 2012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August of 2011: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Network mainly composed of off-campus/hometown relations (arriving Freshmen)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Spring of 2012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Frequent Interaction Network includes a significant proportion of on-campus relations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On campus ties on Spring of 2012: </a:t>
            </a:r>
            <a:r>
              <a:rPr b="1" lang="en"/>
              <a:t>49%</a:t>
            </a:r>
            <a:endParaRPr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relations at two time points</a:t>
            </a:r>
            <a:endParaRPr/>
          </a:p>
        </p:txBody>
      </p:sp>
      <p:pic>
        <p:nvPicPr>
          <p:cNvPr descr="notre-desc-by-wave.png" id="323" name="Google Shape;32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525" y="1274694"/>
            <a:ext cx="7382949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relations at two time points</a:t>
            </a:r>
            <a:endParaRPr/>
          </a:p>
        </p:txBody>
      </p:sp>
      <p:pic>
        <p:nvPicPr>
          <p:cNvPr descr="rel-desc-by-wave.png" id="329" name="Google Shape;32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475" y="1274694"/>
            <a:ext cx="7421049" cy="371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335" name="Google Shape;335;p60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 effects logistic regression predicting whether a relation observed at </a:t>
            </a:r>
            <a:r>
              <a:rPr i="1" lang="en"/>
              <a:t>t </a:t>
            </a:r>
            <a:r>
              <a:rPr lang="en"/>
              <a:t>is also observed at </a:t>
            </a:r>
            <a:r>
              <a:rPr i="1" lang="en"/>
              <a:t>t </a:t>
            </a:r>
            <a:r>
              <a:rPr lang="en"/>
              <a:t>+ 1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Relations nested within egos (Van Duijn et al. 1999)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for inclusion of ego-level and relation-level predictors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Ego-Level: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Mean tie duration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Mean relationship closeness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Network size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Gender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Race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341" name="Google Shape;341;p6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Method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Random effects logistic regression predicting whether a relation observed at </a:t>
            </a:r>
            <a:r>
              <a:rPr i="1" lang="en"/>
              <a:t>t </a:t>
            </a:r>
            <a:r>
              <a:rPr lang="en"/>
              <a:t>is also observed at </a:t>
            </a:r>
            <a:r>
              <a:rPr i="1" lang="en"/>
              <a:t>t </a:t>
            </a:r>
            <a:r>
              <a:rPr lang="en"/>
              <a:t>+ 1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Relations nested within egos (Van Duijn et al. 1999)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for inclusion of ego-level and relation-level predictors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Tie-Level: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Alter Gender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Same Gender Tie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Duration (Years)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Subjective Closeness (Ordinal Scale)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On-Campus (Yes/No)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Kin/Non-Kin</a:t>
            </a:r>
            <a:endParaRPr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"/>
              <a:t>Cultural matching</a:t>
            </a:r>
            <a:endParaRPr b="1"/>
          </a:p>
          <a:p>
            <a:pPr indent="-292100" lvl="3" marL="18288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N. of Unknown Tastes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 persistence over time</a:t>
            </a:r>
            <a:endParaRPr/>
          </a:p>
        </p:txBody>
      </p:sp>
      <p:pic>
        <p:nvPicPr>
          <p:cNvPr descr="persist-desc-by-wave.png" id="347" name="Google Shape;34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66208"/>
            <a:ext cx="4051451" cy="2971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ist-desc-by-wave-rel.png" id="348" name="Google Shape;348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3150" y="1466194"/>
            <a:ext cx="4469150" cy="3277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Cultural matching by tie strength and rel. type</a:t>
            </a:r>
            <a:endParaRPr/>
          </a:p>
        </p:txBody>
      </p:sp>
      <p:pic>
        <p:nvPicPr>
          <p:cNvPr descr="match-desc-by-close.png" id="354" name="Google Shape;354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38056"/>
            <a:ext cx="4269626" cy="268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tch-desc-by-rel.png" id="355" name="Google Shape;355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1325" y="1838067"/>
            <a:ext cx="4096376" cy="2573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0" name="Google Shape;360;p64"/>
          <p:cNvGraphicFramePr/>
          <p:nvPr/>
        </p:nvGraphicFramePr>
        <p:xfrm>
          <a:off x="340938" y="4039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{EE7338BD-C1C6-4590-90F2-E5507355CE4A}</a:tableStyleId>
              </a:tblPr>
              <a:tblGrid>
                <a:gridCol w="3968975"/>
                <a:gridCol w="2246575"/>
                <a:gridCol w="2246575"/>
              </a:tblGrid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Additive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Interaction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Person Level Effects</a:t>
                      </a:r>
                      <a:endParaRPr i="1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Avg. Network Closeness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-0.448</a:t>
                      </a:r>
                      <a:r>
                        <a:rPr baseline="30000"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</a:t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-0.463</a:t>
                      </a:r>
                      <a:r>
                        <a:rPr baseline="30000"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</a:t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(0.183)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(0.184)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Avg. Tie Duration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-0.0952</a:t>
                      </a:r>
                      <a:r>
                        <a:rPr baseline="30000"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</a:t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-0.104</a:t>
                      </a:r>
                      <a:r>
                        <a:rPr baseline="30000"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***</a:t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(0.0300)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(0.0303)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Network Size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-0.0736</a:t>
                      </a:r>
                      <a:r>
                        <a:rPr baseline="30000"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***</a:t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-0.0762</a:t>
                      </a:r>
                      <a:r>
                        <a:rPr baseline="30000"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***</a:t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(0.0146)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(0.0148)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Race (Black)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-0.930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-0.924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(0.494)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(0.501)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Race (Hispanic)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-0.235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-0.227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(0.390)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(0.395)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Race (Asian)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-1.174</a:t>
                      </a:r>
                      <a:r>
                        <a:rPr baseline="30000"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</a:t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-1.198</a:t>
                      </a:r>
                      <a:r>
                        <a:rPr baseline="30000"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</a:t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(0.388)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(0.393)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Gender (Female)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0.343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0.357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(0.248)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(0.251)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Female Alter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-0.0216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-0.0224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(0.0998)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(0.1000)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Female X Female Alter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0.122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0.131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(0.147)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(0.147)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N (Persons)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202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202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N (Ties)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5587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5587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5" name="Google Shape;365;p65"/>
          <p:cNvGraphicFramePr/>
          <p:nvPr/>
        </p:nvGraphicFramePr>
        <p:xfrm>
          <a:off x="262625" y="3462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{D4636296-0EBC-4A98-B690-CA9FBB4A5FE4}</a:tableStyleId>
              </a:tblPr>
              <a:tblGrid>
                <a:gridCol w="3367025"/>
                <a:gridCol w="2625850"/>
                <a:gridCol w="2625850"/>
              </a:tblGrid>
              <a:tr h="1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N. of Cultural Matches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0.0959</a:t>
                      </a:r>
                      <a:r>
                        <a:rPr b="1" baseline="30000" lang="en">
                          <a:solidFill>
                            <a:srgbClr val="FF0000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***</a:t>
                      </a:r>
                      <a:endParaRPr b="1" baseline="30000">
                        <a:solidFill>
                          <a:srgbClr val="FF0000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0.0362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(0.0283)</a:t>
                      </a:r>
                      <a:endParaRPr b="1">
                        <a:solidFill>
                          <a:srgbClr val="FF0000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(0.0444)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N. of Unknown Tastes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761D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-0.0793</a:t>
                      </a:r>
                      <a:r>
                        <a:rPr baseline="30000" lang="en">
                          <a:solidFill>
                            <a:srgbClr val="38761D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</a:t>
                      </a:r>
                      <a:endParaRPr baseline="30000">
                        <a:solidFill>
                          <a:srgbClr val="38761D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-0.0741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8761D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(0.0393)</a:t>
                      </a:r>
                      <a:endParaRPr>
                        <a:solidFill>
                          <a:srgbClr val="38761D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(0.0399)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Kin Tie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0.432</a:t>
                      </a:r>
                      <a:r>
                        <a:rPr baseline="30000"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</a:t>
                      </a:r>
                      <a:endParaRPr baseline="30000"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0.499</a:t>
                      </a:r>
                      <a:r>
                        <a:rPr baseline="30000"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</a:t>
                      </a:r>
                      <a:endParaRPr baseline="30000"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(0.161)</a:t>
                      </a:r>
                      <a:endParaRPr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(0.254)</a:t>
                      </a:r>
                      <a:endParaRPr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Subjective Closeness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1.106</a:t>
                      </a:r>
                      <a:r>
                        <a:rPr baseline="30000"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***</a:t>
                      </a:r>
                      <a:endParaRPr baseline="30000"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1.106</a:t>
                      </a:r>
                      <a:r>
                        <a:rPr baseline="30000"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***</a:t>
                      </a:r>
                      <a:endParaRPr baseline="30000"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(0.0663)</a:t>
                      </a:r>
                      <a:endParaRPr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(0.0666)</a:t>
                      </a:r>
                      <a:endParaRPr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Tie Age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0.0439</a:t>
                      </a:r>
                      <a:r>
                        <a:rPr baseline="30000"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***</a:t>
                      </a:r>
                      <a:endParaRPr baseline="30000"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0.0470</a:t>
                      </a:r>
                      <a:r>
                        <a:rPr baseline="30000"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***</a:t>
                      </a:r>
                      <a:endParaRPr baseline="30000"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(0.0115)</a:t>
                      </a:r>
                      <a:endParaRPr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(0.0116)</a:t>
                      </a:r>
                      <a:endParaRPr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On Campus Tie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1.078</a:t>
                      </a:r>
                      <a:r>
                        <a:rPr baseline="30000"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***</a:t>
                      </a:r>
                      <a:endParaRPr baseline="30000"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0.949</a:t>
                      </a:r>
                      <a:r>
                        <a:rPr baseline="30000"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***</a:t>
                      </a:r>
                      <a:endParaRPr baseline="30000"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(0.111)</a:t>
                      </a:r>
                      <a:endParaRPr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FF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(0.114)</a:t>
                      </a:r>
                      <a:endParaRPr>
                        <a:solidFill>
                          <a:srgbClr val="0000FF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Wave (Winter ‘12)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-0.231</a:t>
                      </a:r>
                      <a:r>
                        <a:rPr baseline="30000"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</a:t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-0.324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(0.103)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(0.172)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Kin Tie X N. Cult. Matches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0.0902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(0.0820)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Wave X N. Cult. Matches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0.133</a:t>
                      </a:r>
                      <a:r>
                        <a:rPr b="1" baseline="30000" lang="en">
                          <a:solidFill>
                            <a:srgbClr val="FF0000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</a:t>
                      </a:r>
                      <a:endParaRPr b="1" baseline="30000">
                        <a:solidFill>
                          <a:srgbClr val="FF0000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30000"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(0.0551)</a:t>
                      </a:r>
                      <a:endParaRPr b="1">
                        <a:solidFill>
                          <a:srgbClr val="FF0000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Kin Tie X Wave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-0.142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(0.310)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Kin Tie X Wave X N. of Cult. Matches</a:t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-0.259</a:t>
                      </a:r>
                      <a:r>
                        <a:rPr b="1" baseline="30000" lang="en">
                          <a:solidFill>
                            <a:srgbClr val="FF0000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*</a:t>
                      </a:r>
                      <a:endParaRPr b="1" baseline="30000">
                        <a:solidFill>
                          <a:srgbClr val="FF0000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7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>
                          <a:solidFill>
                            <a:srgbClr val="FF0000"/>
                          </a:solidFill>
                          <a:latin typeface="Cantarell"/>
                          <a:ea typeface="Cantarell"/>
                          <a:cs typeface="Cantarell"/>
                          <a:sym typeface="Cantarell"/>
                        </a:rPr>
                        <a:t>(0.113)</a:t>
                      </a:r>
                      <a:endParaRPr b="1">
                        <a:solidFill>
                          <a:srgbClr val="FF0000"/>
                        </a:solidFill>
                        <a:latin typeface="Cantarell"/>
                        <a:ea typeface="Cantarell"/>
                        <a:cs typeface="Cantarell"/>
                        <a:sym typeface="Cantarell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dplot-kin-v-nonkin-sepmods.png" id="370" name="Google Shape;37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975" y="169333"/>
            <a:ext cx="4536281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66"/>
          <p:cNvSpPr txBox="1"/>
          <p:nvPr>
            <p:ph idx="1" type="body"/>
          </p:nvPr>
        </p:nvSpPr>
        <p:spPr>
          <a:xfrm>
            <a:off x="311700" y="1361361"/>
            <a:ext cx="37683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matching predicts persistence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During initial transition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Both Kin and non-kin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After network reconfiguration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Non-kin ties only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7"/>
          <p:cNvSpPr txBox="1"/>
          <p:nvPr>
            <p:ph idx="1" type="body"/>
          </p:nvPr>
        </p:nvSpPr>
        <p:spPr>
          <a:xfrm>
            <a:off x="311700" y="1361361"/>
            <a:ext cx="37683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matching predicts persistence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During initial transition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Both Kin and non-kin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After network reconfiguration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Non-kin ties only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matching effect can be observed a year later</a:t>
            </a:r>
            <a:endParaRPr/>
          </a:p>
        </p:txBody>
      </p:sp>
      <p:pic>
        <p:nvPicPr>
          <p:cNvPr descr="predplot-kin-v-nonkin-followup.png" id="377" name="Google Shape;37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400" y="169333"/>
            <a:ext cx="453628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383" name="Google Shape;383;p68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Cultural matching matters for tie persistence!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test as models control for relationship type, relationship closeness, and tie duration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Cultural matching matters for </a:t>
            </a:r>
            <a:r>
              <a:rPr i="1" lang="en"/>
              <a:t>some </a:t>
            </a:r>
            <a:r>
              <a:rPr lang="en"/>
              <a:t>relations but not others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Useful for constructing “elective” (non-kin)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Particularly important as network gets reconfigured around new friendships while old ties need to be maintained at a distance 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Cultural matching matters for the maintenance of “networked communities” (Wellman 1999)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