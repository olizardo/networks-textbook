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2" r:id="rId5"/>
    <p:sldMasterId id="2147483683" r:id="rId6"/>
    <p:sldMasterId id="2147483684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</p:sldIdLst>
  <p:sldSz cy="5143500" cx="9144000"/>
  <p:notesSz cx="6858000" cy="9144000"/>
  <p:embeddedFontLst>
    <p:embeddedFont>
      <p:font typeface="Josefin Slab"/>
      <p:regular r:id="rId32"/>
      <p:bold r:id="rId33"/>
      <p:italic r:id="rId34"/>
      <p:boldItalic r:id="rId35"/>
    </p:embeddedFont>
    <p:embeddedFont>
      <p:font typeface="Economica"/>
      <p:regular r:id="rId36"/>
      <p:bold r:id="rId37"/>
      <p:italic r:id="rId38"/>
      <p:boldItalic r:id="rId39"/>
    </p:embeddedFont>
    <p:embeddedFont>
      <p:font typeface="Oxygen"/>
      <p:regular r:id="rId40"/>
      <p:bold r:id="rId41"/>
    </p:embeddedFont>
    <p:embeddedFont>
      <p:font typeface="Open Sans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29077CD-5227-4AE7-B2D4-CBEF7C76DEE2}">
  <a:tblStyle styleId="{B29077CD-5227-4AE7-B2D4-CBEF7C76DEE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B9A0DBEB-9BBF-4481-8CFC-536C8F86202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xygen-regular.fntdata"/><Relationship Id="rId20" Type="http://schemas.openxmlformats.org/officeDocument/2006/relationships/slide" Target="slides/slide12.xml"/><Relationship Id="rId42" Type="http://schemas.openxmlformats.org/officeDocument/2006/relationships/font" Target="fonts/OpenSans-regular.fntdata"/><Relationship Id="rId41" Type="http://schemas.openxmlformats.org/officeDocument/2006/relationships/font" Target="fonts/Oxygen-bold.fntdata"/><Relationship Id="rId22" Type="http://schemas.openxmlformats.org/officeDocument/2006/relationships/slide" Target="slides/slide14.xml"/><Relationship Id="rId44" Type="http://schemas.openxmlformats.org/officeDocument/2006/relationships/font" Target="fonts/OpenSans-italic.fntdata"/><Relationship Id="rId21" Type="http://schemas.openxmlformats.org/officeDocument/2006/relationships/slide" Target="slides/slide13.xml"/><Relationship Id="rId43" Type="http://schemas.openxmlformats.org/officeDocument/2006/relationships/font" Target="fonts/OpenSans-bold.fntdata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45" Type="http://schemas.openxmlformats.org/officeDocument/2006/relationships/font" Target="fonts/OpenSans-boldItalic.fntdata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11" Type="http://schemas.openxmlformats.org/officeDocument/2006/relationships/slide" Target="slides/slide3.xml"/><Relationship Id="rId33" Type="http://schemas.openxmlformats.org/officeDocument/2006/relationships/font" Target="fonts/JosefinSlab-bold.fntdata"/><Relationship Id="rId10" Type="http://schemas.openxmlformats.org/officeDocument/2006/relationships/slide" Target="slides/slide2.xml"/><Relationship Id="rId32" Type="http://schemas.openxmlformats.org/officeDocument/2006/relationships/font" Target="fonts/JosefinSlab-regular.fntdata"/><Relationship Id="rId13" Type="http://schemas.openxmlformats.org/officeDocument/2006/relationships/slide" Target="slides/slide5.xml"/><Relationship Id="rId35" Type="http://schemas.openxmlformats.org/officeDocument/2006/relationships/font" Target="fonts/JosefinSlab-boldItalic.fntdata"/><Relationship Id="rId12" Type="http://schemas.openxmlformats.org/officeDocument/2006/relationships/slide" Target="slides/slide4.xml"/><Relationship Id="rId34" Type="http://schemas.openxmlformats.org/officeDocument/2006/relationships/font" Target="fonts/JosefinSlab-italic.fntdata"/><Relationship Id="rId15" Type="http://schemas.openxmlformats.org/officeDocument/2006/relationships/slide" Target="slides/slide7.xml"/><Relationship Id="rId37" Type="http://schemas.openxmlformats.org/officeDocument/2006/relationships/font" Target="fonts/Economica-bold.fntdata"/><Relationship Id="rId14" Type="http://schemas.openxmlformats.org/officeDocument/2006/relationships/slide" Target="slides/slide6.xml"/><Relationship Id="rId36" Type="http://schemas.openxmlformats.org/officeDocument/2006/relationships/font" Target="fonts/Economica-regular.fntdata"/><Relationship Id="rId17" Type="http://schemas.openxmlformats.org/officeDocument/2006/relationships/slide" Target="slides/slide9.xml"/><Relationship Id="rId39" Type="http://schemas.openxmlformats.org/officeDocument/2006/relationships/font" Target="fonts/Economica-boldItalic.fntdata"/><Relationship Id="rId16" Type="http://schemas.openxmlformats.org/officeDocument/2006/relationships/slide" Target="slides/slide8.xml"/><Relationship Id="rId38" Type="http://schemas.openxmlformats.org/officeDocument/2006/relationships/font" Target="fonts/Economica-italic.fntdata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11af52082e_0_9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11af52082e_0_9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11af52082e_0_10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11af52082e_0_10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11af52082e_0_10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111af52082e_0_10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11af52082e_0_10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11af52082e_0_10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11af52082e_0_10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111af52082e_0_10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11af52082e_0_10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111af52082e_0_10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11af52082e_0_10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111af52082e_0_1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11af52082e_0_10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111af52082e_0_1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11af52082e_0_10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111af52082e_0_10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11af52082e_0_1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111af52082e_0_1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111af52082e_0_1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111af52082e_0_1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111af52082e_0_1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111af52082e_0_1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111af52082e_0_1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111af52082e_0_1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111af52082e_0_1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111af52082e_0_1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111af52082e_0_1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111af52082e_0_1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11af52082e_0_1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111af52082e_0_1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111af52082e_0_1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111af52082e_0_1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111af52082e_0_1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111af52082e_0_1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111af52082e_0_1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111af52082e_0_1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111af52082e_0_1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111af52082e_0_1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11af52082e_0_1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111af52082e_0_1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111af52082e_0_1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111af52082e_0_1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111af52082e_0_1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111af52082e_0_1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6" name="Google Shape;56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2" name="Google Shape;62;p1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0" name="Google Shape;90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" name="Google Shape;99;p2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09" name="Google Shape;109;p26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0" name="Google Shape;110;p26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11" name="Google Shape;111;p26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12" name="Google Shape;11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7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5" name="Google Shape;115;p27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6" name="Google Shape;116;p27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17" name="Google Shape;11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2" name="Google Shape;122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25" name="Google Shape;125;p29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6" name="Google Shape;126;p29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7" name="Google Shape;12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0" name="Google Shape;13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3" name="Google Shape;133;p31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4" name="Google Shape;13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2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2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8" name="Google Shape;138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3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1" name="Google Shape;141;p33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" name="Google Shape;142;p33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3" name="Google Shape;143;p33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4" name="Google Shape;144;p33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" name="Google Shape;145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4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148" name="Google Shape;14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5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35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2" name="Google Shape;152;p35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3" name="Google Shape;153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8" name="Google Shape;158;p37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05" name="Google Shape;105;p2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06" name="Google Shape;10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hyperlink" Target="https://matrix.reshish.com/multiplication.php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7.gif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7.gif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7.gif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8"/>
          <p:cNvSpPr/>
          <p:nvPr/>
        </p:nvSpPr>
        <p:spPr>
          <a:xfrm rot="-5344590">
            <a:off x="5603011" y="3327153"/>
            <a:ext cx="1507696" cy="1282662"/>
          </a:xfrm>
          <a:prstGeom prst="leftBrace">
            <a:avLst>
              <a:gd fmla="val 8333" name="adj1"/>
              <a:gd fmla="val 54471" name="adj2"/>
            </a:avLst>
          </a:prstGeom>
          <a:noFill/>
          <a:ln cap="flat" cmpd="sng" w="19050">
            <a:solidFill>
              <a:srgbClr val="25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38"/>
          <p:cNvSpPr/>
          <p:nvPr/>
        </p:nvSpPr>
        <p:spPr>
          <a:xfrm rot="-5344590">
            <a:off x="1138486" y="3327153"/>
            <a:ext cx="1507696" cy="1282662"/>
          </a:xfrm>
          <a:prstGeom prst="leftBrace">
            <a:avLst>
              <a:gd fmla="val 8333" name="adj1"/>
              <a:gd fmla="val 54471" name="adj2"/>
            </a:avLst>
          </a:prstGeom>
          <a:noFill/>
          <a:ln cap="flat" cmpd="sng" w="19050">
            <a:solidFill>
              <a:srgbClr val="25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38"/>
          <p:cNvSpPr txBox="1"/>
          <p:nvPr/>
        </p:nvSpPr>
        <p:spPr>
          <a:xfrm>
            <a:off x="813184" y="2728816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Josefin Slab"/>
                <a:ea typeface="Josefin Slab"/>
                <a:cs typeface="Josefin Slab"/>
                <a:sym typeface="Josefin Slab"/>
              </a:rPr>
              <a:t>A</a:t>
            </a:r>
            <a:r>
              <a:rPr b="1" baseline="-25000" lang="en" sz="2200">
                <a:solidFill>
                  <a:srgbClr val="257E12"/>
                </a:solidFill>
                <a:latin typeface="Josefin Slab"/>
                <a:ea typeface="Josefin Slab"/>
                <a:cs typeface="Josefin Slab"/>
                <a:sym typeface="Josefin Slab"/>
              </a:rPr>
              <a:t>3</a:t>
            </a:r>
            <a:r>
              <a:rPr b="1" baseline="-25000" lang="en" sz="2200">
                <a:latin typeface="Josefin Slab"/>
                <a:ea typeface="Josefin Slab"/>
                <a:cs typeface="Josefin Slab"/>
                <a:sym typeface="Josefin Slab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Josefin Slab"/>
                <a:ea typeface="Josefin Slab"/>
                <a:cs typeface="Josefin Slab"/>
                <a:sym typeface="Josefin Slab"/>
              </a:rPr>
              <a:t>2</a:t>
            </a:r>
            <a:r>
              <a:rPr b="1" lang="en" sz="2200">
                <a:latin typeface="Josefin Slab"/>
                <a:ea typeface="Josefin Slab"/>
                <a:cs typeface="Josefin Slab"/>
                <a:sym typeface="Josefin Slab"/>
              </a:rPr>
              <a:t> x   A</a:t>
            </a:r>
            <a:r>
              <a:rPr b="1" baseline="30000" lang="en" sz="2200">
                <a:latin typeface="Josefin Slab"/>
                <a:ea typeface="Josefin Slab"/>
                <a:cs typeface="Josefin Slab"/>
                <a:sym typeface="Josefin Slab"/>
              </a:rPr>
              <a:t>T</a:t>
            </a:r>
            <a:r>
              <a:rPr b="1" baseline="-25000" lang="en" sz="2200">
                <a:solidFill>
                  <a:srgbClr val="FF0000"/>
                </a:solidFill>
                <a:latin typeface="Josefin Slab"/>
                <a:ea typeface="Josefin Slab"/>
                <a:cs typeface="Josefin Slab"/>
                <a:sym typeface="Josefin Slab"/>
              </a:rPr>
              <a:t>2</a:t>
            </a:r>
            <a:r>
              <a:rPr b="1" baseline="-25000" lang="en" sz="2200">
                <a:latin typeface="Josefin Slab"/>
                <a:ea typeface="Josefin Slab"/>
                <a:cs typeface="Josefin Slab"/>
                <a:sym typeface="Josefin Slab"/>
              </a:rPr>
              <a:t> x </a:t>
            </a:r>
            <a:r>
              <a:rPr b="1" baseline="-25000" lang="en" sz="2200">
                <a:solidFill>
                  <a:srgbClr val="257E12"/>
                </a:solidFill>
                <a:latin typeface="Josefin Slab"/>
                <a:ea typeface="Josefin Slab"/>
                <a:cs typeface="Josefin Slab"/>
                <a:sym typeface="Josefin Slab"/>
              </a:rPr>
              <a:t>3</a:t>
            </a:r>
            <a:r>
              <a:rPr b="1" lang="en" sz="2200">
                <a:latin typeface="Josefin Slab"/>
                <a:ea typeface="Josefin Slab"/>
                <a:cs typeface="Josefin Slab"/>
                <a:sym typeface="Josefin Slab"/>
              </a:rPr>
              <a:t>  = C</a:t>
            </a:r>
            <a:r>
              <a:rPr b="1" baseline="-25000" lang="en" sz="2200">
                <a:solidFill>
                  <a:srgbClr val="257E12"/>
                </a:solidFill>
                <a:latin typeface="Josefin Slab"/>
                <a:ea typeface="Josefin Slab"/>
                <a:cs typeface="Josefin Slab"/>
                <a:sym typeface="Josefin Slab"/>
              </a:rPr>
              <a:t>3 </a:t>
            </a:r>
            <a:r>
              <a:rPr b="1" baseline="-25000" lang="en" sz="2200">
                <a:latin typeface="Josefin Slab"/>
                <a:ea typeface="Josefin Slab"/>
                <a:cs typeface="Josefin Slab"/>
                <a:sym typeface="Josefin Slab"/>
              </a:rPr>
              <a:t>x </a:t>
            </a:r>
            <a:r>
              <a:rPr b="1" baseline="-25000" lang="en" sz="2200">
                <a:solidFill>
                  <a:srgbClr val="257E12"/>
                </a:solidFill>
                <a:latin typeface="Josefin Slab"/>
                <a:ea typeface="Josefin Slab"/>
                <a:cs typeface="Josefin Slab"/>
                <a:sym typeface="Josefin Slab"/>
              </a:rPr>
              <a:t>3</a:t>
            </a:r>
            <a:endParaRPr b="1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66" name="Google Shape;166;p38"/>
          <p:cNvSpPr txBox="1"/>
          <p:nvPr/>
        </p:nvSpPr>
        <p:spPr>
          <a:xfrm>
            <a:off x="1258213" y="3527466"/>
            <a:ext cx="13152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Josefin Slab"/>
                <a:ea typeface="Josefin Slab"/>
                <a:cs typeface="Josefin Slab"/>
                <a:sym typeface="Josefin Slab"/>
              </a:rPr>
              <a:t>Inner dims. match</a:t>
            </a:r>
            <a:endParaRPr b="1" sz="1200">
              <a:solidFill>
                <a:srgbClr val="FF0000"/>
              </a:solidFill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67" name="Google Shape;167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168" name="Google Shape;168;p38"/>
          <p:cNvSpPr txBox="1"/>
          <p:nvPr>
            <p:ph idx="1" type="body"/>
          </p:nvPr>
        </p:nvSpPr>
        <p:spPr>
          <a:xfrm>
            <a:off x="311700" y="1225225"/>
            <a:ext cx="8331600" cy="15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In the case of an affiliation matrix:</a:t>
            </a:r>
            <a:endParaRPr/>
          </a:p>
          <a:p>
            <a:pPr indent="-3429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○"/>
            </a:pPr>
            <a:r>
              <a:rPr b="1" lang="en" sz="1800">
                <a:solidFill>
                  <a:srgbClr val="FF0000"/>
                </a:solidFill>
              </a:rPr>
              <a:t>A</a:t>
            </a:r>
            <a:r>
              <a:rPr b="1" baseline="-25000" lang="en" sz="1800">
                <a:solidFill>
                  <a:srgbClr val="FF0000"/>
                </a:solidFill>
              </a:rPr>
              <a:t>(person x group)</a:t>
            </a:r>
            <a:r>
              <a:rPr b="1" lang="en" sz="1800">
                <a:solidFill>
                  <a:srgbClr val="FF0000"/>
                </a:solidFill>
              </a:rPr>
              <a:t> X A</a:t>
            </a:r>
            <a:r>
              <a:rPr b="1" baseline="30000" lang="en" sz="1800">
                <a:solidFill>
                  <a:srgbClr val="FF0000"/>
                </a:solidFill>
              </a:rPr>
              <a:t>T</a:t>
            </a:r>
            <a:r>
              <a:rPr b="1" baseline="-25000" lang="en" sz="1800">
                <a:solidFill>
                  <a:srgbClr val="FF0000"/>
                </a:solidFill>
              </a:rPr>
              <a:t>(group x person)</a:t>
            </a:r>
            <a:r>
              <a:rPr b="1" lang="en" sz="1800">
                <a:solidFill>
                  <a:srgbClr val="FF0000"/>
                </a:solidFill>
              </a:rPr>
              <a:t> = C</a:t>
            </a:r>
            <a:r>
              <a:rPr b="1" baseline="-25000" lang="en" sz="1800">
                <a:solidFill>
                  <a:srgbClr val="FF0000"/>
                </a:solidFill>
              </a:rPr>
              <a:t>(person x person)</a:t>
            </a:r>
            <a:endParaRPr b="1" baseline="-25000" sz="1800">
              <a:solidFill>
                <a:srgbClr val="FF0000"/>
              </a:solidFill>
            </a:endParaRPr>
          </a:p>
          <a:p>
            <a:pPr indent="-3429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○"/>
            </a:pPr>
            <a:r>
              <a:rPr b="1" lang="en" sz="1800">
                <a:solidFill>
                  <a:srgbClr val="FF0000"/>
                </a:solidFill>
              </a:rPr>
              <a:t>A</a:t>
            </a:r>
            <a:r>
              <a:rPr b="1" baseline="30000" lang="en" sz="1800">
                <a:solidFill>
                  <a:srgbClr val="FF0000"/>
                </a:solidFill>
              </a:rPr>
              <a:t>T</a:t>
            </a:r>
            <a:r>
              <a:rPr b="1" baseline="-25000" lang="en" sz="1800">
                <a:solidFill>
                  <a:srgbClr val="FF0000"/>
                </a:solidFill>
              </a:rPr>
              <a:t>(group x person)</a:t>
            </a:r>
            <a:r>
              <a:rPr b="1" lang="en" sz="1800">
                <a:solidFill>
                  <a:srgbClr val="FF0000"/>
                </a:solidFill>
              </a:rPr>
              <a:t> X A</a:t>
            </a:r>
            <a:r>
              <a:rPr b="1" baseline="-25000" lang="en" sz="1800">
                <a:solidFill>
                  <a:srgbClr val="FF0000"/>
                </a:solidFill>
              </a:rPr>
              <a:t>(person x group)</a:t>
            </a:r>
            <a:r>
              <a:rPr b="1" lang="en" sz="1800">
                <a:solidFill>
                  <a:srgbClr val="FF0000"/>
                </a:solidFill>
              </a:rPr>
              <a:t> = C</a:t>
            </a:r>
            <a:r>
              <a:rPr b="1" baseline="-25000" lang="en" sz="1800">
                <a:solidFill>
                  <a:srgbClr val="FF0000"/>
                </a:solidFill>
              </a:rPr>
              <a:t>(group  x group)</a:t>
            </a:r>
            <a:endParaRPr b="1" baseline="-25000"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baseline="30000">
              <a:solidFill>
                <a:srgbClr val="FF0000"/>
              </a:solidFill>
            </a:endParaRPr>
          </a:p>
        </p:txBody>
      </p:sp>
      <p:sp>
        <p:nvSpPr>
          <p:cNvPr id="169" name="Google Shape;169;p38"/>
          <p:cNvSpPr/>
          <p:nvPr/>
        </p:nvSpPr>
        <p:spPr>
          <a:xfrm rot="-5345394">
            <a:off x="1706166" y="3022592"/>
            <a:ext cx="377748" cy="760899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38"/>
          <p:cNvSpPr txBox="1"/>
          <p:nvPr/>
        </p:nvSpPr>
        <p:spPr>
          <a:xfrm>
            <a:off x="1359540" y="4606800"/>
            <a:ext cx="11274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8761D"/>
                </a:solidFill>
                <a:latin typeface="Josefin Slab"/>
                <a:ea typeface="Josefin Slab"/>
                <a:cs typeface="Josefin Slab"/>
                <a:sym typeface="Josefin Slab"/>
              </a:rPr>
              <a:t>Outer dims.</a:t>
            </a:r>
            <a:endParaRPr b="1" sz="1200">
              <a:solidFill>
                <a:srgbClr val="38761D"/>
              </a:solidFill>
              <a:latin typeface="Josefin Slab"/>
              <a:ea typeface="Josefin Slab"/>
              <a:cs typeface="Josefin Slab"/>
              <a:sym typeface="Josefin Slab"/>
            </a:endParaRPr>
          </a:p>
        </p:txBody>
      </p:sp>
      <p:cxnSp>
        <p:nvCxnSpPr>
          <p:cNvPr id="171" name="Google Shape;171;p38"/>
          <p:cNvCxnSpPr>
            <a:stCxn id="170" idx="3"/>
          </p:cNvCxnSpPr>
          <p:nvPr/>
        </p:nvCxnSpPr>
        <p:spPr>
          <a:xfrm flipH="1" rot="10800000">
            <a:off x="2486940" y="3281100"/>
            <a:ext cx="887700" cy="1476000"/>
          </a:xfrm>
          <a:prstGeom prst="straightConnector1">
            <a:avLst/>
          </a:prstGeom>
          <a:noFill/>
          <a:ln cap="flat" cmpd="sng" w="19050">
            <a:solidFill>
              <a:srgbClr val="5B595A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2" name="Google Shape;172;p38"/>
          <p:cNvSpPr/>
          <p:nvPr/>
        </p:nvSpPr>
        <p:spPr>
          <a:xfrm rot="-5345394">
            <a:off x="6170691" y="3022592"/>
            <a:ext cx="377748" cy="760899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73" name="Google Shape;173;p38"/>
          <p:cNvSpPr txBox="1"/>
          <p:nvPr/>
        </p:nvSpPr>
        <p:spPr>
          <a:xfrm>
            <a:off x="5722738" y="3527466"/>
            <a:ext cx="13152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Josefin Slab"/>
                <a:ea typeface="Josefin Slab"/>
                <a:cs typeface="Josefin Slab"/>
                <a:sym typeface="Josefin Slab"/>
              </a:rPr>
              <a:t>Inner dims. match</a:t>
            </a:r>
            <a:endParaRPr b="1" sz="12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74" name="Google Shape;174;p38"/>
          <p:cNvSpPr txBox="1"/>
          <p:nvPr/>
        </p:nvSpPr>
        <p:spPr>
          <a:xfrm>
            <a:off x="5824065" y="4606800"/>
            <a:ext cx="11274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57E12"/>
                </a:solidFill>
                <a:latin typeface="Josefin Slab"/>
                <a:ea typeface="Josefin Slab"/>
                <a:cs typeface="Josefin Slab"/>
                <a:sym typeface="Josefin Slab"/>
              </a:rPr>
              <a:t>Outer dims.</a:t>
            </a:r>
            <a:endParaRPr b="1" sz="1200">
              <a:solidFill>
                <a:srgbClr val="257E12"/>
              </a:solidFill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75" name="Google Shape;175;p38"/>
          <p:cNvSpPr txBox="1"/>
          <p:nvPr/>
        </p:nvSpPr>
        <p:spPr>
          <a:xfrm>
            <a:off x="5277709" y="2728816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Josefin Slab"/>
                <a:ea typeface="Josefin Slab"/>
                <a:cs typeface="Josefin Slab"/>
                <a:sym typeface="Josefin Slab"/>
              </a:rPr>
              <a:t>A</a:t>
            </a:r>
            <a:r>
              <a:rPr b="1" baseline="30000" lang="en" sz="22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rPr>
              <a:t>T</a:t>
            </a:r>
            <a:r>
              <a:rPr b="1" baseline="-25000" lang="en" sz="2200">
                <a:solidFill>
                  <a:srgbClr val="257E12"/>
                </a:solidFill>
                <a:latin typeface="Josefin Slab"/>
                <a:ea typeface="Josefin Slab"/>
                <a:cs typeface="Josefin Slab"/>
                <a:sym typeface="Josefin Slab"/>
              </a:rPr>
              <a:t>2</a:t>
            </a:r>
            <a:r>
              <a:rPr b="1" baseline="-25000" lang="en" sz="2200">
                <a:latin typeface="Josefin Slab"/>
                <a:ea typeface="Josefin Slab"/>
                <a:cs typeface="Josefin Slab"/>
                <a:sym typeface="Josefin Slab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Josefin Slab"/>
                <a:ea typeface="Josefin Slab"/>
                <a:cs typeface="Josefin Slab"/>
                <a:sym typeface="Josefin Slab"/>
              </a:rPr>
              <a:t>3</a:t>
            </a:r>
            <a:r>
              <a:rPr b="1" lang="en" sz="2200">
                <a:latin typeface="Josefin Slab"/>
                <a:ea typeface="Josefin Slab"/>
                <a:cs typeface="Josefin Slab"/>
                <a:sym typeface="Josefin Slab"/>
              </a:rPr>
              <a:t> x   A</a:t>
            </a:r>
            <a:r>
              <a:rPr b="1" baseline="-25000" lang="en" sz="2200">
                <a:solidFill>
                  <a:srgbClr val="FF0000"/>
                </a:solidFill>
                <a:latin typeface="Josefin Slab"/>
                <a:ea typeface="Josefin Slab"/>
                <a:cs typeface="Josefin Slab"/>
                <a:sym typeface="Josefin Slab"/>
              </a:rPr>
              <a:t>3 </a:t>
            </a:r>
            <a:r>
              <a:rPr b="1" baseline="-25000" lang="en" sz="2200">
                <a:latin typeface="Josefin Slab"/>
                <a:ea typeface="Josefin Slab"/>
                <a:cs typeface="Josefin Slab"/>
                <a:sym typeface="Josefin Slab"/>
              </a:rPr>
              <a:t>x </a:t>
            </a:r>
            <a:r>
              <a:rPr b="1" baseline="-25000" lang="en" sz="2200">
                <a:solidFill>
                  <a:srgbClr val="257E12"/>
                </a:solidFill>
                <a:latin typeface="Josefin Slab"/>
                <a:ea typeface="Josefin Slab"/>
                <a:cs typeface="Josefin Slab"/>
                <a:sym typeface="Josefin Slab"/>
              </a:rPr>
              <a:t>2</a:t>
            </a:r>
            <a:r>
              <a:rPr b="1" lang="en" sz="2200">
                <a:latin typeface="Josefin Slab"/>
                <a:ea typeface="Josefin Slab"/>
                <a:cs typeface="Josefin Slab"/>
                <a:sym typeface="Josefin Slab"/>
              </a:rPr>
              <a:t>  = C</a:t>
            </a:r>
            <a:r>
              <a:rPr b="1" baseline="-25000" lang="en" sz="2200">
                <a:solidFill>
                  <a:srgbClr val="257E12"/>
                </a:solidFill>
                <a:latin typeface="Josefin Slab"/>
                <a:ea typeface="Josefin Slab"/>
                <a:cs typeface="Josefin Slab"/>
                <a:sym typeface="Josefin Slab"/>
              </a:rPr>
              <a:t>2 </a:t>
            </a:r>
            <a:r>
              <a:rPr b="1" baseline="-25000" lang="en" sz="2200">
                <a:latin typeface="Josefin Slab"/>
                <a:ea typeface="Josefin Slab"/>
                <a:cs typeface="Josefin Slab"/>
                <a:sym typeface="Josefin Slab"/>
              </a:rPr>
              <a:t>x </a:t>
            </a:r>
            <a:r>
              <a:rPr b="1" baseline="-25000" lang="en" sz="2200">
                <a:solidFill>
                  <a:srgbClr val="257E12"/>
                </a:solidFill>
                <a:latin typeface="Josefin Slab"/>
                <a:ea typeface="Josefin Slab"/>
                <a:cs typeface="Josefin Slab"/>
                <a:sym typeface="Josefin Slab"/>
              </a:rPr>
              <a:t>2</a:t>
            </a:r>
            <a:endParaRPr b="1">
              <a:latin typeface="Josefin Slab"/>
              <a:ea typeface="Josefin Slab"/>
              <a:cs typeface="Josefin Slab"/>
              <a:sym typeface="Josefin Slab"/>
            </a:endParaRPr>
          </a:p>
        </p:txBody>
      </p:sp>
      <p:cxnSp>
        <p:nvCxnSpPr>
          <p:cNvPr id="176" name="Google Shape;176;p38"/>
          <p:cNvCxnSpPr>
            <a:stCxn id="174" idx="3"/>
          </p:cNvCxnSpPr>
          <p:nvPr/>
        </p:nvCxnSpPr>
        <p:spPr>
          <a:xfrm flipH="1" rot="10800000">
            <a:off x="6951465" y="3281100"/>
            <a:ext cx="887700" cy="1476000"/>
          </a:xfrm>
          <a:prstGeom prst="straightConnector1">
            <a:avLst/>
          </a:prstGeom>
          <a:noFill/>
          <a:ln cap="flat" cmpd="sng" w="19050">
            <a:solidFill>
              <a:srgbClr val="5B595A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pic>
        <p:nvPicPr>
          <p:cNvPr id="182" name="Google Shape;18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2225" y="1147225"/>
            <a:ext cx="4200079" cy="369147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39"/>
          <p:cNvSpPr txBox="1"/>
          <p:nvPr>
            <p:ph idx="1" type="body"/>
          </p:nvPr>
        </p:nvSpPr>
        <p:spPr>
          <a:xfrm>
            <a:off x="311700" y="1225225"/>
            <a:ext cx="4200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Properties of matrix multiplication: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 commutative!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 X B ≠ B X A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 X B </a:t>
            </a:r>
            <a:r>
              <a:rPr lang="en"/>
              <a:t>can be defined but the reverse is no the case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Associative: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(A X B) X C = A X (B X C)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Distributive over addition: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 X (B + C) = (A X B) + (A X C)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pic>
        <p:nvPicPr>
          <p:cNvPr id="189" name="Google Shape;18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2225" y="1147225"/>
            <a:ext cx="4200079" cy="3691476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40"/>
          <p:cNvSpPr txBox="1"/>
          <p:nvPr>
            <p:ph idx="1" type="body"/>
          </p:nvPr>
        </p:nvSpPr>
        <p:spPr>
          <a:xfrm>
            <a:off x="311700" y="1225225"/>
            <a:ext cx="4557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Properties of matrix multiplication: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Square matrices of the same dimension can always be multiplied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/>
              <a:t>square matrix</a:t>
            </a:r>
            <a:r>
              <a:rPr lang="en"/>
              <a:t> is one in which the row and column dimensions are of the same size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Network </a:t>
            </a:r>
            <a:r>
              <a:rPr b="1" lang="en"/>
              <a:t>adjacency matrices</a:t>
            </a:r>
            <a:r>
              <a:rPr lang="en"/>
              <a:t> are square matrices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can take matrix powers by self-multiplication: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</a:t>
            </a:r>
            <a:r>
              <a:rPr b="1" baseline="30000" lang="en"/>
              <a:t>2</a:t>
            </a:r>
            <a:r>
              <a:rPr b="1" lang="en"/>
              <a:t> = A X A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</a:t>
            </a:r>
            <a:r>
              <a:rPr b="1" baseline="30000" lang="en"/>
              <a:t>3</a:t>
            </a:r>
            <a:r>
              <a:rPr b="1" lang="en"/>
              <a:t> = A X A X A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</a:t>
            </a:r>
            <a:r>
              <a:rPr b="1" baseline="30000" lang="en"/>
              <a:t>k</a:t>
            </a:r>
            <a:r>
              <a:rPr b="1" lang="en"/>
              <a:t> = A X A X A ....(k times) </a:t>
            </a:r>
            <a:endParaRPr b="1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" name="Google Shape;195;p41"/>
          <p:cNvGrpSpPr/>
          <p:nvPr/>
        </p:nvGrpSpPr>
        <p:grpSpPr>
          <a:xfrm>
            <a:off x="1136562" y="86261"/>
            <a:ext cx="3490675" cy="1666802"/>
            <a:chOff x="5341625" y="1130086"/>
            <a:chExt cx="3490675" cy="1666802"/>
          </a:xfrm>
        </p:grpSpPr>
        <p:pic>
          <p:nvPicPr>
            <p:cNvPr id="196" name="Google Shape;196;p41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2709"/>
            <a:stretch/>
          </p:blipFill>
          <p:spPr>
            <a:xfrm>
              <a:off x="5341625" y="1130086"/>
              <a:ext cx="3490675" cy="137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7" name="Google Shape;197;p41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198" name="Google Shape;198;p41"/>
          <p:cNvGraphicFramePr/>
          <p:nvPr/>
        </p:nvGraphicFramePr>
        <p:xfrm>
          <a:off x="82513" y="175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{B29077CD-5227-4AE7-B2D4-CBEF7C76DEE2}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199" name="Google Shape;199;p41"/>
          <p:cNvGraphicFramePr/>
          <p:nvPr/>
        </p:nvGraphicFramePr>
        <p:xfrm>
          <a:off x="3290713" y="175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{B29077CD-5227-4AE7-B2D4-CBEF7C76DEE2}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00" name="Google Shape;200;p41"/>
          <p:cNvSpPr txBox="1"/>
          <p:nvPr/>
        </p:nvSpPr>
        <p:spPr>
          <a:xfrm>
            <a:off x="2599888" y="2624125"/>
            <a:ext cx="564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xygen"/>
                <a:ea typeface="Oxygen"/>
                <a:cs typeface="Oxygen"/>
                <a:sym typeface="Oxygen"/>
              </a:rPr>
              <a:t>X</a:t>
            </a:r>
            <a:endParaRPr sz="48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1" name="Google Shape;201;p41"/>
          <p:cNvSpPr txBox="1"/>
          <p:nvPr/>
        </p:nvSpPr>
        <p:spPr>
          <a:xfrm>
            <a:off x="5808088" y="2624125"/>
            <a:ext cx="564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xygen"/>
                <a:ea typeface="Oxygen"/>
                <a:cs typeface="Oxygen"/>
                <a:sym typeface="Oxygen"/>
              </a:rPr>
              <a:t>=</a:t>
            </a:r>
            <a:endParaRPr sz="4800">
              <a:latin typeface="Oxygen"/>
              <a:ea typeface="Oxygen"/>
              <a:cs typeface="Oxygen"/>
              <a:sym typeface="Oxygen"/>
            </a:endParaRPr>
          </a:p>
        </p:txBody>
      </p:sp>
      <p:pic>
        <p:nvPicPr>
          <p:cNvPr id="202" name="Google Shape;20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10527" y="1609505"/>
            <a:ext cx="2091450" cy="2641532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41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happens if we take the second power of a network adjacency matrix?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208;p42"/>
          <p:cNvGrpSpPr/>
          <p:nvPr/>
        </p:nvGrpSpPr>
        <p:grpSpPr>
          <a:xfrm>
            <a:off x="1136562" y="86261"/>
            <a:ext cx="3490675" cy="1666802"/>
            <a:chOff x="5341625" y="1130086"/>
            <a:chExt cx="3490675" cy="1666802"/>
          </a:xfrm>
        </p:grpSpPr>
        <p:pic>
          <p:nvPicPr>
            <p:cNvPr id="209" name="Google Shape;209;p42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2709"/>
            <a:stretch/>
          </p:blipFill>
          <p:spPr>
            <a:xfrm>
              <a:off x="5341625" y="1130086"/>
              <a:ext cx="3490675" cy="137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0" name="Google Shape;210;p42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211" name="Google Shape;211;p42"/>
          <p:cNvGraphicFramePr/>
          <p:nvPr/>
        </p:nvGraphicFramePr>
        <p:xfrm>
          <a:off x="82513" y="175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{B29077CD-5227-4AE7-B2D4-CBEF7C76DEE2}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212" name="Google Shape;212;p42"/>
          <p:cNvGraphicFramePr/>
          <p:nvPr/>
        </p:nvGraphicFramePr>
        <p:xfrm>
          <a:off x="3290713" y="175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{B29077CD-5227-4AE7-B2D4-CBEF7C76DEE2}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13" name="Google Shape;213;p42"/>
          <p:cNvSpPr txBox="1"/>
          <p:nvPr/>
        </p:nvSpPr>
        <p:spPr>
          <a:xfrm>
            <a:off x="2599888" y="2624125"/>
            <a:ext cx="564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xygen"/>
                <a:ea typeface="Oxygen"/>
                <a:cs typeface="Oxygen"/>
                <a:sym typeface="Oxygen"/>
              </a:rPr>
              <a:t>X</a:t>
            </a:r>
            <a:endParaRPr sz="48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4" name="Google Shape;214;p42"/>
          <p:cNvSpPr txBox="1"/>
          <p:nvPr/>
        </p:nvSpPr>
        <p:spPr>
          <a:xfrm>
            <a:off x="5808088" y="2624125"/>
            <a:ext cx="564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xygen"/>
                <a:ea typeface="Oxygen"/>
                <a:cs typeface="Oxygen"/>
                <a:sym typeface="Oxygen"/>
              </a:rPr>
              <a:t>=</a:t>
            </a:r>
            <a:endParaRPr sz="48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5" name="Google Shape;215;p42"/>
          <p:cNvSpPr txBox="1"/>
          <p:nvPr>
            <p:ph idx="1" type="body"/>
          </p:nvPr>
        </p:nvSpPr>
        <p:spPr>
          <a:xfrm>
            <a:off x="4716425" y="253250"/>
            <a:ext cx="4371900" cy="103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happens if we take the second power of a network adjacency matrix?</a:t>
            </a:r>
            <a:endParaRPr/>
          </a:p>
        </p:txBody>
      </p:sp>
      <p:graphicFrame>
        <p:nvGraphicFramePr>
          <p:cNvPr id="216" name="Google Shape;216;p42"/>
          <p:cNvGraphicFramePr/>
          <p:nvPr/>
        </p:nvGraphicFramePr>
        <p:xfrm>
          <a:off x="6498913" y="17454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{B29077CD-5227-4AE7-B2D4-CBEF7C76DEE2}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17" name="Google Shape;217;p42"/>
          <p:cNvSpPr txBox="1"/>
          <p:nvPr/>
        </p:nvSpPr>
        <p:spPr>
          <a:xfrm>
            <a:off x="1136574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8" name="Google Shape;218;p42"/>
          <p:cNvSpPr txBox="1"/>
          <p:nvPr/>
        </p:nvSpPr>
        <p:spPr>
          <a:xfrm>
            <a:off x="4102949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9" name="Google Shape;219;p42"/>
          <p:cNvSpPr txBox="1"/>
          <p:nvPr/>
        </p:nvSpPr>
        <p:spPr>
          <a:xfrm>
            <a:off x="7295774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30000" lang="en" sz="2400">
                <a:latin typeface="Oxygen"/>
                <a:ea typeface="Oxygen"/>
                <a:cs typeface="Oxygen"/>
                <a:sym typeface="Oxygen"/>
              </a:rPr>
              <a:t>2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Google Shape;224;p43"/>
          <p:cNvGrpSpPr/>
          <p:nvPr/>
        </p:nvGrpSpPr>
        <p:grpSpPr>
          <a:xfrm>
            <a:off x="1136562" y="86261"/>
            <a:ext cx="3490675" cy="1666802"/>
            <a:chOff x="5341625" y="1130086"/>
            <a:chExt cx="3490675" cy="1666802"/>
          </a:xfrm>
        </p:grpSpPr>
        <p:pic>
          <p:nvPicPr>
            <p:cNvPr id="225" name="Google Shape;225;p43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2709"/>
            <a:stretch/>
          </p:blipFill>
          <p:spPr>
            <a:xfrm>
              <a:off x="5341625" y="1130086"/>
              <a:ext cx="3490675" cy="137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6" name="Google Shape;226;p43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227" name="Google Shape;227;p43"/>
          <p:cNvGraphicFramePr/>
          <p:nvPr/>
        </p:nvGraphicFramePr>
        <p:xfrm>
          <a:off x="82513" y="175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{B29077CD-5227-4AE7-B2D4-CBEF7C76DEE2}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0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0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0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0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D2E9"/>
                    </a:solidFill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228" name="Google Shape;228;p43"/>
          <p:cNvGraphicFramePr/>
          <p:nvPr/>
        </p:nvGraphicFramePr>
        <p:xfrm>
          <a:off x="3290713" y="175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{B29077CD-5227-4AE7-B2D4-CBEF7C76DEE2}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0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0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29" name="Google Shape;229;p43"/>
          <p:cNvSpPr txBox="1"/>
          <p:nvPr/>
        </p:nvSpPr>
        <p:spPr>
          <a:xfrm>
            <a:off x="2599888" y="2830075"/>
            <a:ext cx="564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xygen"/>
                <a:ea typeface="Oxygen"/>
                <a:cs typeface="Oxygen"/>
                <a:sym typeface="Oxygen"/>
              </a:rPr>
              <a:t>X</a:t>
            </a:r>
            <a:endParaRPr sz="48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0" name="Google Shape;230;p43"/>
          <p:cNvSpPr txBox="1"/>
          <p:nvPr/>
        </p:nvSpPr>
        <p:spPr>
          <a:xfrm>
            <a:off x="5808088" y="2830075"/>
            <a:ext cx="564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xygen"/>
                <a:ea typeface="Oxygen"/>
                <a:cs typeface="Oxygen"/>
                <a:sym typeface="Oxygen"/>
              </a:rPr>
              <a:t>=</a:t>
            </a:r>
            <a:endParaRPr sz="48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1" name="Google Shape;231;p43"/>
          <p:cNvSpPr txBox="1"/>
          <p:nvPr>
            <p:ph idx="1" type="body"/>
          </p:nvPr>
        </p:nvSpPr>
        <p:spPr>
          <a:xfrm>
            <a:off x="4716425" y="253250"/>
            <a:ext cx="4371900" cy="103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happens if we take the second power of a network adjacency matrix?</a:t>
            </a:r>
            <a:endParaRPr/>
          </a:p>
        </p:txBody>
      </p:sp>
      <p:graphicFrame>
        <p:nvGraphicFramePr>
          <p:cNvPr id="232" name="Google Shape;232;p43"/>
          <p:cNvGraphicFramePr/>
          <p:nvPr/>
        </p:nvGraphicFramePr>
        <p:xfrm>
          <a:off x="6498913" y="17454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{B29077CD-5227-4AE7-B2D4-CBEF7C76DEE2}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257E12"/>
                          </a:solidFill>
                        </a:rPr>
                        <a:t>1</a:t>
                      </a:r>
                      <a:endParaRPr b="1">
                        <a:solidFill>
                          <a:srgbClr val="257E12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33" name="Google Shape;233;p43"/>
          <p:cNvSpPr txBox="1"/>
          <p:nvPr/>
        </p:nvSpPr>
        <p:spPr>
          <a:xfrm>
            <a:off x="1136574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4" name="Google Shape;234;p43"/>
          <p:cNvSpPr txBox="1"/>
          <p:nvPr/>
        </p:nvSpPr>
        <p:spPr>
          <a:xfrm>
            <a:off x="4102949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5" name="Google Shape;235;p43"/>
          <p:cNvSpPr txBox="1"/>
          <p:nvPr/>
        </p:nvSpPr>
        <p:spPr>
          <a:xfrm>
            <a:off x="7295774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30000" lang="en" sz="2400">
                <a:latin typeface="Oxygen"/>
                <a:ea typeface="Oxygen"/>
                <a:cs typeface="Oxygen"/>
                <a:sym typeface="Oxygen"/>
              </a:rPr>
              <a:t>2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6" name="Google Shape;236;p43"/>
          <p:cNvSpPr txBox="1"/>
          <p:nvPr/>
        </p:nvSpPr>
        <p:spPr>
          <a:xfrm>
            <a:off x="4294000" y="1358250"/>
            <a:ext cx="47943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30000" lang="en" sz="1500"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1500">
                <a:latin typeface="Open Sans"/>
                <a:ea typeface="Open Sans"/>
                <a:cs typeface="Open Sans"/>
                <a:sym typeface="Open Sans"/>
              </a:rPr>
              <a:t>13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 = (</a:t>
            </a:r>
            <a:r>
              <a:rPr b="1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0 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* </a:t>
            </a:r>
            <a:r>
              <a:rPr b="1" lang="en" sz="15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) + (</a:t>
            </a:r>
            <a:r>
              <a:rPr b="1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1 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*</a:t>
            </a:r>
            <a:r>
              <a:rPr b="1" lang="en" sz="15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 1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) + (</a:t>
            </a:r>
            <a:r>
              <a:rPr b="1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0 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*</a:t>
            </a:r>
            <a:r>
              <a:rPr b="1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15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) + (</a:t>
            </a:r>
            <a:r>
              <a:rPr b="1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0 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* </a:t>
            </a:r>
            <a:r>
              <a:rPr b="1" lang="en" sz="15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) + (</a:t>
            </a:r>
            <a:r>
              <a:rPr b="1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0 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*</a:t>
            </a:r>
            <a:r>
              <a:rPr b="1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15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) = </a:t>
            </a:r>
            <a:r>
              <a:rPr b="1" lang="en" sz="1500">
                <a:solidFill>
                  <a:srgbClr val="38761D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1500">
              <a:solidFill>
                <a:srgbClr val="38761D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7" name="Google Shape;237;p43"/>
          <p:cNvSpPr txBox="1"/>
          <p:nvPr/>
        </p:nvSpPr>
        <p:spPr>
          <a:xfrm>
            <a:off x="1250850" y="4719775"/>
            <a:ext cx="66423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To figure out which number goes in cell (</a:t>
            </a:r>
            <a:r>
              <a:rPr b="1" lang="en" sz="16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1,3</a:t>
            </a: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) of the target matrix we use the numbers from </a:t>
            </a:r>
            <a:endParaRPr b="1" sz="16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row</a:t>
            </a: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 </a:t>
            </a:r>
            <a:r>
              <a:rPr b="1" lang="en" sz="16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1</a:t>
            </a: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 of </a:t>
            </a:r>
            <a:r>
              <a:rPr b="1" lang="en" sz="16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first</a:t>
            </a: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 matrix and </a:t>
            </a:r>
            <a:r>
              <a:rPr b="1" lang="en" sz="16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column</a:t>
            </a: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 </a:t>
            </a:r>
            <a:r>
              <a:rPr b="1" lang="en" sz="16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3</a:t>
            </a: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 of the </a:t>
            </a:r>
            <a:r>
              <a:rPr b="1" lang="en" sz="16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second</a:t>
            </a: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 matrix and do same for each of the 25 (i,j) cells</a:t>
            </a:r>
            <a:endParaRPr b="1" sz="16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" name="Google Shape;242;p44"/>
          <p:cNvGrpSpPr/>
          <p:nvPr/>
        </p:nvGrpSpPr>
        <p:grpSpPr>
          <a:xfrm>
            <a:off x="1136562" y="86261"/>
            <a:ext cx="3490675" cy="1666802"/>
            <a:chOff x="5341625" y="1130086"/>
            <a:chExt cx="3490675" cy="1666802"/>
          </a:xfrm>
        </p:grpSpPr>
        <p:pic>
          <p:nvPicPr>
            <p:cNvPr id="243" name="Google Shape;243;p44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2709"/>
            <a:stretch/>
          </p:blipFill>
          <p:spPr>
            <a:xfrm>
              <a:off x="5341625" y="1130086"/>
              <a:ext cx="3490675" cy="137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44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245" name="Google Shape;245;p44"/>
          <p:cNvGraphicFramePr/>
          <p:nvPr/>
        </p:nvGraphicFramePr>
        <p:xfrm>
          <a:off x="82513" y="175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{B29077CD-5227-4AE7-B2D4-CBEF7C76DEE2}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246" name="Google Shape;246;p44"/>
          <p:cNvGraphicFramePr/>
          <p:nvPr/>
        </p:nvGraphicFramePr>
        <p:xfrm>
          <a:off x="3290713" y="175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{B29077CD-5227-4AE7-B2D4-CBEF7C76DEE2}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47" name="Google Shape;247;p44"/>
          <p:cNvSpPr txBox="1"/>
          <p:nvPr/>
        </p:nvSpPr>
        <p:spPr>
          <a:xfrm>
            <a:off x="2599888" y="2830075"/>
            <a:ext cx="564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xygen"/>
                <a:ea typeface="Oxygen"/>
                <a:cs typeface="Oxygen"/>
                <a:sym typeface="Oxygen"/>
              </a:rPr>
              <a:t>X</a:t>
            </a:r>
            <a:endParaRPr sz="48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8" name="Google Shape;248;p44"/>
          <p:cNvSpPr txBox="1"/>
          <p:nvPr/>
        </p:nvSpPr>
        <p:spPr>
          <a:xfrm>
            <a:off x="5808088" y="2830075"/>
            <a:ext cx="564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xygen"/>
                <a:ea typeface="Oxygen"/>
                <a:cs typeface="Oxygen"/>
                <a:sym typeface="Oxygen"/>
              </a:rPr>
              <a:t>=</a:t>
            </a:r>
            <a:endParaRPr sz="48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9" name="Google Shape;249;p44"/>
          <p:cNvSpPr txBox="1"/>
          <p:nvPr>
            <p:ph idx="1" type="body"/>
          </p:nvPr>
        </p:nvSpPr>
        <p:spPr>
          <a:xfrm>
            <a:off x="4716425" y="253250"/>
            <a:ext cx="4371900" cy="149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There is a one in the ij of the squared matrix if and j are connected via a walk of length 2!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The diagonal is the number of walks of length 2 that begin and end at that vertex which equals degree!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250" name="Google Shape;250;p44"/>
          <p:cNvGraphicFramePr/>
          <p:nvPr/>
        </p:nvGraphicFramePr>
        <p:xfrm>
          <a:off x="6498913" y="17454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{B29077CD-5227-4AE7-B2D4-CBEF7C76DEE2}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2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3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2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2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51" name="Google Shape;251;p44"/>
          <p:cNvSpPr txBox="1"/>
          <p:nvPr/>
        </p:nvSpPr>
        <p:spPr>
          <a:xfrm>
            <a:off x="1136574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2" name="Google Shape;252;p44"/>
          <p:cNvSpPr txBox="1"/>
          <p:nvPr/>
        </p:nvSpPr>
        <p:spPr>
          <a:xfrm>
            <a:off x="4102949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3" name="Google Shape;253;p44"/>
          <p:cNvSpPr txBox="1"/>
          <p:nvPr/>
        </p:nvSpPr>
        <p:spPr>
          <a:xfrm>
            <a:off x="7295774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30000" lang="en" sz="2400">
                <a:latin typeface="Oxygen"/>
                <a:ea typeface="Oxygen"/>
                <a:cs typeface="Oxygen"/>
                <a:sym typeface="Oxygen"/>
              </a:rPr>
              <a:t>2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4" name="Google Shape;254;p44"/>
          <p:cNvSpPr txBox="1"/>
          <p:nvPr/>
        </p:nvSpPr>
        <p:spPr>
          <a:xfrm>
            <a:off x="1250850" y="4719775"/>
            <a:ext cx="66423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Here’s the result (check </a:t>
            </a:r>
            <a:r>
              <a:rPr b="1" lang="en" sz="1600" u="sng">
                <a:solidFill>
                  <a:schemeClr val="hlink"/>
                </a:solidFill>
                <a:latin typeface="Economica"/>
                <a:ea typeface="Economica"/>
                <a:cs typeface="Economica"/>
                <a:sym typeface="Economica"/>
                <a:hlinkClick r:id="rId4"/>
              </a:rPr>
              <a:t>here</a:t>
            </a: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)</a:t>
            </a:r>
            <a:endParaRPr b="1" sz="16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oogle Shape;259;p45"/>
          <p:cNvGrpSpPr/>
          <p:nvPr/>
        </p:nvGrpSpPr>
        <p:grpSpPr>
          <a:xfrm>
            <a:off x="1136562" y="86261"/>
            <a:ext cx="3490675" cy="1666802"/>
            <a:chOff x="5341625" y="1130086"/>
            <a:chExt cx="3490675" cy="1666802"/>
          </a:xfrm>
        </p:grpSpPr>
        <p:pic>
          <p:nvPicPr>
            <p:cNvPr id="260" name="Google Shape;260;p45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2709"/>
            <a:stretch/>
          </p:blipFill>
          <p:spPr>
            <a:xfrm>
              <a:off x="5341625" y="1130086"/>
              <a:ext cx="3490675" cy="137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45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262" name="Google Shape;262;p45"/>
          <p:cNvGraphicFramePr/>
          <p:nvPr/>
        </p:nvGraphicFramePr>
        <p:xfrm>
          <a:off x="82513" y="175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{B29077CD-5227-4AE7-B2D4-CBEF7C76DEE2}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63" name="Google Shape;263;p45"/>
          <p:cNvSpPr txBox="1"/>
          <p:nvPr/>
        </p:nvSpPr>
        <p:spPr>
          <a:xfrm>
            <a:off x="2599888" y="2830075"/>
            <a:ext cx="564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xygen"/>
                <a:ea typeface="Oxygen"/>
                <a:cs typeface="Oxygen"/>
                <a:sym typeface="Oxygen"/>
              </a:rPr>
              <a:t>X</a:t>
            </a:r>
            <a:endParaRPr sz="48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4" name="Google Shape;264;p45"/>
          <p:cNvSpPr txBox="1"/>
          <p:nvPr/>
        </p:nvSpPr>
        <p:spPr>
          <a:xfrm>
            <a:off x="5808088" y="2830075"/>
            <a:ext cx="564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xygen"/>
                <a:ea typeface="Oxygen"/>
                <a:cs typeface="Oxygen"/>
                <a:sym typeface="Oxygen"/>
              </a:rPr>
              <a:t>=</a:t>
            </a:r>
            <a:endParaRPr sz="48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5" name="Google Shape;265;p45"/>
          <p:cNvSpPr txBox="1"/>
          <p:nvPr>
            <p:ph idx="1" type="body"/>
          </p:nvPr>
        </p:nvSpPr>
        <p:spPr>
          <a:xfrm>
            <a:off x="4716425" y="253250"/>
            <a:ext cx="4371900" cy="103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happens if we take the third power of the adjacency matrix?</a:t>
            </a:r>
            <a:endParaRPr/>
          </a:p>
        </p:txBody>
      </p:sp>
      <p:sp>
        <p:nvSpPr>
          <p:cNvPr id="266" name="Google Shape;266;p45"/>
          <p:cNvSpPr txBox="1"/>
          <p:nvPr/>
        </p:nvSpPr>
        <p:spPr>
          <a:xfrm>
            <a:off x="1136574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graphicFrame>
        <p:nvGraphicFramePr>
          <p:cNvPr id="267" name="Google Shape;267;p45"/>
          <p:cNvGraphicFramePr/>
          <p:nvPr/>
        </p:nvGraphicFramePr>
        <p:xfrm>
          <a:off x="3290713" y="175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{B29077CD-5227-4AE7-B2D4-CBEF7C76DEE2}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2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3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2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2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68" name="Google Shape;268;p45"/>
          <p:cNvSpPr txBox="1"/>
          <p:nvPr/>
        </p:nvSpPr>
        <p:spPr>
          <a:xfrm>
            <a:off x="4087574" y="4115100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30000" lang="en" sz="2400">
                <a:latin typeface="Oxygen"/>
                <a:ea typeface="Oxygen"/>
                <a:cs typeface="Oxygen"/>
                <a:sym typeface="Oxygen"/>
              </a:rPr>
              <a:t>2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pic>
        <p:nvPicPr>
          <p:cNvPr id="269" name="Google Shape;269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10527" y="1609505"/>
            <a:ext cx="2091450" cy="26415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4" name="Google Shape;274;p46"/>
          <p:cNvGrpSpPr/>
          <p:nvPr/>
        </p:nvGrpSpPr>
        <p:grpSpPr>
          <a:xfrm>
            <a:off x="1136562" y="86261"/>
            <a:ext cx="3490675" cy="1666802"/>
            <a:chOff x="5341625" y="1130086"/>
            <a:chExt cx="3490675" cy="1666802"/>
          </a:xfrm>
        </p:grpSpPr>
        <p:pic>
          <p:nvPicPr>
            <p:cNvPr id="275" name="Google Shape;275;p46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2709"/>
            <a:stretch/>
          </p:blipFill>
          <p:spPr>
            <a:xfrm>
              <a:off x="5341625" y="1130086"/>
              <a:ext cx="3490675" cy="137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6" name="Google Shape;276;p46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277" name="Google Shape;277;p46"/>
          <p:cNvGraphicFramePr/>
          <p:nvPr/>
        </p:nvGraphicFramePr>
        <p:xfrm>
          <a:off x="82513" y="175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{B29077CD-5227-4AE7-B2D4-CBEF7C76DEE2}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78" name="Google Shape;278;p46"/>
          <p:cNvSpPr txBox="1"/>
          <p:nvPr/>
        </p:nvSpPr>
        <p:spPr>
          <a:xfrm>
            <a:off x="2599888" y="2830075"/>
            <a:ext cx="564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xygen"/>
                <a:ea typeface="Oxygen"/>
                <a:cs typeface="Oxygen"/>
                <a:sym typeface="Oxygen"/>
              </a:rPr>
              <a:t>X</a:t>
            </a:r>
            <a:endParaRPr sz="48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9" name="Google Shape;279;p46"/>
          <p:cNvSpPr txBox="1"/>
          <p:nvPr/>
        </p:nvSpPr>
        <p:spPr>
          <a:xfrm>
            <a:off x="5808088" y="2830075"/>
            <a:ext cx="564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xygen"/>
                <a:ea typeface="Oxygen"/>
                <a:cs typeface="Oxygen"/>
                <a:sym typeface="Oxygen"/>
              </a:rPr>
              <a:t>=</a:t>
            </a:r>
            <a:endParaRPr sz="48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0" name="Google Shape;280;p46"/>
          <p:cNvSpPr txBox="1"/>
          <p:nvPr>
            <p:ph idx="1" type="body"/>
          </p:nvPr>
        </p:nvSpPr>
        <p:spPr>
          <a:xfrm>
            <a:off x="4716425" y="253250"/>
            <a:ext cx="4371900" cy="137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we have all walks of length 3 between every node!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keep on going until we reach N (the graph order)</a:t>
            </a:r>
            <a:endParaRPr/>
          </a:p>
        </p:txBody>
      </p:sp>
      <p:sp>
        <p:nvSpPr>
          <p:cNvPr id="281" name="Google Shape;281;p46"/>
          <p:cNvSpPr txBox="1"/>
          <p:nvPr/>
        </p:nvSpPr>
        <p:spPr>
          <a:xfrm>
            <a:off x="1136574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graphicFrame>
        <p:nvGraphicFramePr>
          <p:cNvPr id="282" name="Google Shape;282;p46"/>
          <p:cNvGraphicFramePr/>
          <p:nvPr/>
        </p:nvGraphicFramePr>
        <p:xfrm>
          <a:off x="3290713" y="175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{B29077CD-5227-4AE7-B2D4-CBEF7C76DEE2}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83" name="Google Shape;283;p46"/>
          <p:cNvSpPr txBox="1"/>
          <p:nvPr/>
        </p:nvSpPr>
        <p:spPr>
          <a:xfrm>
            <a:off x="4087574" y="4115100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30000" lang="en" sz="2400">
                <a:latin typeface="Oxygen"/>
                <a:ea typeface="Oxygen"/>
                <a:cs typeface="Oxygen"/>
                <a:sym typeface="Oxygen"/>
              </a:rPr>
              <a:t>2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graphicFrame>
        <p:nvGraphicFramePr>
          <p:cNvPr id="284" name="Google Shape;284;p46"/>
          <p:cNvGraphicFramePr/>
          <p:nvPr/>
        </p:nvGraphicFramePr>
        <p:xfrm>
          <a:off x="6498913" y="17454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{B29077CD-5227-4AE7-B2D4-CBEF7C76DEE2}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85" name="Google Shape;285;p46"/>
          <p:cNvSpPr txBox="1"/>
          <p:nvPr/>
        </p:nvSpPr>
        <p:spPr>
          <a:xfrm>
            <a:off x="7295774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30000" lang="en" sz="2400">
                <a:latin typeface="Oxygen"/>
                <a:ea typeface="Oxygen"/>
                <a:cs typeface="Oxygen"/>
                <a:sym typeface="Oxygen"/>
              </a:rPr>
              <a:t>3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0" name="Google Shape;290;p47"/>
          <p:cNvGrpSpPr/>
          <p:nvPr/>
        </p:nvGrpSpPr>
        <p:grpSpPr>
          <a:xfrm>
            <a:off x="169900" y="3"/>
            <a:ext cx="3490675" cy="1219559"/>
            <a:chOff x="5341638" y="1577328"/>
            <a:chExt cx="3490675" cy="1219559"/>
          </a:xfrm>
        </p:grpSpPr>
        <p:pic>
          <p:nvPicPr>
            <p:cNvPr id="291" name="Google Shape;291;p47"/>
            <p:cNvPicPr preferRelativeResize="0"/>
            <p:nvPr/>
          </p:nvPicPr>
          <p:blipFill rotWithShape="1">
            <a:blip r:embed="rId3">
              <a:alphaModFix/>
            </a:blip>
            <a:srcRect b="53298" l="1982" r="51491" t="30517"/>
            <a:stretch/>
          </p:blipFill>
          <p:spPr>
            <a:xfrm>
              <a:off x="5341637" y="1577328"/>
              <a:ext cx="3490675" cy="927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2" name="Google Shape;292;p47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sp>
        <p:nvSpPr>
          <p:cNvPr id="293" name="Google Shape;293;p47"/>
          <p:cNvSpPr txBox="1"/>
          <p:nvPr>
            <p:ph idx="1" type="body"/>
          </p:nvPr>
        </p:nvSpPr>
        <p:spPr>
          <a:xfrm>
            <a:off x="829600" y="4184050"/>
            <a:ext cx="8231100" cy="87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Taking the k powers of an adjacency matrix </a:t>
            </a:r>
            <a:r>
              <a:rPr b="1" lang="en" sz="1800"/>
              <a:t>A</a:t>
            </a:r>
            <a:r>
              <a:rPr lang="en" sz="1800"/>
              <a:t> gives us a valued matrix </a:t>
            </a:r>
            <a:r>
              <a:rPr b="1" lang="en" sz="1800"/>
              <a:t>W</a:t>
            </a:r>
            <a:r>
              <a:rPr lang="en" sz="1800"/>
              <a:t>, where the </a:t>
            </a:r>
            <a:r>
              <a:rPr b="1" lang="en" sz="1800"/>
              <a:t>w</a:t>
            </a:r>
            <a:r>
              <a:rPr b="1" baseline="-25000" lang="en" sz="1800"/>
              <a:t>ij</a:t>
            </a:r>
            <a:r>
              <a:rPr lang="en" sz="1800"/>
              <a:t> is a measure of the multiple ways i can reach j via a walk of length k in the original matrix </a:t>
            </a:r>
            <a:endParaRPr sz="1800"/>
          </a:p>
        </p:txBody>
      </p:sp>
      <p:graphicFrame>
        <p:nvGraphicFramePr>
          <p:cNvPr id="294" name="Google Shape;294;p47"/>
          <p:cNvGraphicFramePr/>
          <p:nvPr/>
        </p:nvGraphicFramePr>
        <p:xfrm>
          <a:off x="719950" y="13418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{B29077CD-5227-4AE7-B2D4-CBEF7C76DEE2}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95" name="Google Shape;295;p47"/>
          <p:cNvSpPr txBox="1"/>
          <p:nvPr/>
        </p:nvSpPr>
        <p:spPr>
          <a:xfrm>
            <a:off x="1516812" y="370382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W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k = 4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grpSp>
        <p:nvGrpSpPr>
          <p:cNvPr id="296" name="Google Shape;296;p47"/>
          <p:cNvGrpSpPr/>
          <p:nvPr/>
        </p:nvGrpSpPr>
        <p:grpSpPr>
          <a:xfrm>
            <a:off x="5307100" y="3"/>
            <a:ext cx="3490675" cy="1219559"/>
            <a:chOff x="5341638" y="1577328"/>
            <a:chExt cx="3490675" cy="1219559"/>
          </a:xfrm>
        </p:grpSpPr>
        <p:pic>
          <p:nvPicPr>
            <p:cNvPr id="297" name="Google Shape;297;p47"/>
            <p:cNvPicPr preferRelativeResize="0"/>
            <p:nvPr/>
          </p:nvPicPr>
          <p:blipFill rotWithShape="1">
            <a:blip r:embed="rId3">
              <a:alphaModFix/>
            </a:blip>
            <a:srcRect b="53298" l="1982" r="51491" t="30517"/>
            <a:stretch/>
          </p:blipFill>
          <p:spPr>
            <a:xfrm>
              <a:off x="5341637" y="1577328"/>
              <a:ext cx="3490675" cy="927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8" name="Google Shape;298;p47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299" name="Google Shape;299;p47"/>
          <p:cNvGraphicFramePr/>
          <p:nvPr/>
        </p:nvGraphicFramePr>
        <p:xfrm>
          <a:off x="5857150" y="13418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{B29077CD-5227-4AE7-B2D4-CBEF7C76DEE2}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00" name="Google Shape;300;p47"/>
          <p:cNvSpPr txBox="1"/>
          <p:nvPr/>
        </p:nvSpPr>
        <p:spPr>
          <a:xfrm>
            <a:off x="6654012" y="370382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W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k =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306" name="Google Shape;306;p48"/>
          <p:cNvSpPr txBox="1"/>
          <p:nvPr>
            <p:ph idx="1" type="body"/>
          </p:nvPr>
        </p:nvSpPr>
        <p:spPr>
          <a:xfrm>
            <a:off x="311325" y="1225225"/>
            <a:ext cx="8520600" cy="11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Element-wise matrix multiplication</a:t>
            </a:r>
            <a:r>
              <a:rPr lang="en"/>
              <a:t>, also known as the </a:t>
            </a:r>
            <a:r>
              <a:rPr b="1" lang="en"/>
              <a:t>Hadamard product</a:t>
            </a:r>
            <a:r>
              <a:rPr lang="en"/>
              <a:t> (￮)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Only defined for matrices with the </a:t>
            </a:r>
            <a:r>
              <a:rPr b="1" lang="en">
                <a:solidFill>
                  <a:srgbClr val="FF0000"/>
                </a:solidFill>
              </a:rPr>
              <a:t>same</a:t>
            </a:r>
            <a:r>
              <a:rPr lang="en"/>
              <a:t> row and column dimensions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07" name="Google Shape;307;p48"/>
          <p:cNvGraphicFramePr/>
          <p:nvPr/>
        </p:nvGraphicFramePr>
        <p:xfrm>
          <a:off x="1730250" y="33557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{B29077CD-5227-4AE7-B2D4-CBEF7C76DEE2}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08" name="Google Shape;308;p48"/>
          <p:cNvSpPr/>
          <p:nvPr/>
        </p:nvSpPr>
        <p:spPr>
          <a:xfrm>
            <a:off x="3210375" y="3832025"/>
            <a:ext cx="222600" cy="2004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09" name="Google Shape;309;p48"/>
          <p:cNvGraphicFramePr/>
          <p:nvPr/>
        </p:nvGraphicFramePr>
        <p:xfrm>
          <a:off x="3574050" y="33066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{B29077CD-5227-4AE7-B2D4-CBEF7C76DEE2}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10" name="Google Shape;310;p48"/>
          <p:cNvGraphicFramePr/>
          <p:nvPr/>
        </p:nvGraphicFramePr>
        <p:xfrm>
          <a:off x="6074700" y="33066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{B29077CD-5227-4AE7-B2D4-CBEF7C76DEE2}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11" name="Google Shape;311;p48"/>
          <p:cNvSpPr/>
          <p:nvPr/>
        </p:nvSpPr>
        <p:spPr>
          <a:xfrm>
            <a:off x="5182200" y="3700375"/>
            <a:ext cx="623400" cy="389700"/>
          </a:xfrm>
          <a:prstGeom prst="mathEqual">
            <a:avLst>
              <a:gd fmla="val 23520" name="adj1"/>
              <a:gd fmla="val 1176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48"/>
          <p:cNvSpPr txBox="1"/>
          <p:nvPr/>
        </p:nvSpPr>
        <p:spPr>
          <a:xfrm>
            <a:off x="2199375" y="4597975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3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3" name="Google Shape;313;p48"/>
          <p:cNvSpPr txBox="1"/>
          <p:nvPr/>
        </p:nvSpPr>
        <p:spPr>
          <a:xfrm>
            <a:off x="4043175" y="4561825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 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3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4" name="Google Shape;314;p48"/>
          <p:cNvSpPr txBox="1"/>
          <p:nvPr/>
        </p:nvSpPr>
        <p:spPr>
          <a:xfrm>
            <a:off x="6543825" y="453770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3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A \circ B = (a_{ij} \times b_{ij})" id="315" name="Google Shape;315;p48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0688" y="2404225"/>
            <a:ext cx="3114024" cy="47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321" name="Google Shape;321;p49"/>
          <p:cNvSpPr txBox="1"/>
          <p:nvPr>
            <p:ph idx="1" type="body"/>
          </p:nvPr>
        </p:nvSpPr>
        <p:spPr>
          <a:xfrm>
            <a:off x="311325" y="1225225"/>
            <a:ext cx="8520600" cy="11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Matrix multiplication proper</a:t>
            </a:r>
            <a:r>
              <a:rPr lang="en"/>
              <a:t> (✕)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Only defined for </a:t>
            </a:r>
            <a:r>
              <a:rPr b="1" lang="en">
                <a:solidFill>
                  <a:srgbClr val="FF0000"/>
                </a:solidFill>
              </a:rPr>
              <a:t>conformable</a:t>
            </a:r>
            <a:r>
              <a:rPr lang="en"/>
              <a:t> matrices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matrices (e.g., </a:t>
            </a:r>
            <a:r>
              <a:rPr b="1" lang="en"/>
              <a:t>A</a:t>
            </a:r>
            <a:r>
              <a:rPr lang="en"/>
              <a:t> and </a:t>
            </a:r>
            <a:r>
              <a:rPr b="1" lang="en"/>
              <a:t>B</a:t>
            </a:r>
            <a:r>
              <a:rPr lang="en"/>
              <a:t>) are conformable if the </a:t>
            </a:r>
            <a:r>
              <a:rPr b="1" lang="en"/>
              <a:t>number of columns </a:t>
            </a:r>
            <a:r>
              <a:rPr lang="en"/>
              <a:t>of the </a:t>
            </a:r>
            <a:r>
              <a:rPr b="1" lang="en"/>
              <a:t>first</a:t>
            </a:r>
            <a:r>
              <a:rPr lang="en"/>
              <a:t> is the </a:t>
            </a:r>
            <a:r>
              <a:rPr b="1" lang="en"/>
              <a:t>same</a:t>
            </a:r>
            <a:r>
              <a:rPr lang="en"/>
              <a:t> as the </a:t>
            </a:r>
            <a:r>
              <a:rPr b="1" lang="en"/>
              <a:t>number of rows</a:t>
            </a:r>
            <a:r>
              <a:rPr lang="en"/>
              <a:t> of the </a:t>
            </a:r>
            <a:r>
              <a:rPr b="1" lang="en"/>
              <a:t>second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49"/>
          <p:cNvSpPr txBox="1"/>
          <p:nvPr/>
        </p:nvSpPr>
        <p:spPr>
          <a:xfrm>
            <a:off x="3105959" y="2529816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3" name="Google Shape;323;p49"/>
          <p:cNvSpPr txBox="1"/>
          <p:nvPr/>
        </p:nvSpPr>
        <p:spPr>
          <a:xfrm>
            <a:off x="1211450" y="3293825"/>
            <a:ext cx="20277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Number of Columns of the A matrix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4" name="Google Shape;324;p49"/>
          <p:cNvSpPr txBox="1"/>
          <p:nvPr/>
        </p:nvSpPr>
        <p:spPr>
          <a:xfrm>
            <a:off x="6091900" y="3293825"/>
            <a:ext cx="18399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Number of Rows of the B matrix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5" name="Google Shape;325;p49"/>
          <p:cNvSpPr/>
          <p:nvPr/>
        </p:nvSpPr>
        <p:spPr>
          <a:xfrm>
            <a:off x="4168950" y="2838800"/>
            <a:ext cx="168300" cy="197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49"/>
          <p:cNvSpPr/>
          <p:nvPr/>
        </p:nvSpPr>
        <p:spPr>
          <a:xfrm>
            <a:off x="4993950" y="2838800"/>
            <a:ext cx="168300" cy="197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7" name="Google Shape;327;p49"/>
          <p:cNvCxnSpPr>
            <a:endCxn id="325" idx="4"/>
          </p:cNvCxnSpPr>
          <p:nvPr/>
        </p:nvCxnSpPr>
        <p:spPr>
          <a:xfrm flipH="1" rot="10800000">
            <a:off x="3239100" y="3036500"/>
            <a:ext cx="1014000" cy="712200"/>
          </a:xfrm>
          <a:prstGeom prst="bentConnector2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28" name="Google Shape;328;p49"/>
          <p:cNvCxnSpPr>
            <a:stCxn id="324" idx="1"/>
            <a:endCxn id="326" idx="4"/>
          </p:cNvCxnSpPr>
          <p:nvPr/>
        </p:nvCxnSpPr>
        <p:spPr>
          <a:xfrm rot="10800000">
            <a:off x="5078200" y="3036575"/>
            <a:ext cx="1013700" cy="712200"/>
          </a:xfrm>
          <a:prstGeom prst="bentConnector2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0"/>
          <p:cNvSpPr/>
          <p:nvPr/>
        </p:nvSpPr>
        <p:spPr>
          <a:xfrm rot="-5345203">
            <a:off x="813914" y="1668062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335" name="Google Shape;335;p50"/>
          <p:cNvSpPr/>
          <p:nvPr/>
        </p:nvSpPr>
        <p:spPr>
          <a:xfrm rot="-5346771">
            <a:off x="1531104" y="1312366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50"/>
          <p:cNvSpPr txBox="1"/>
          <p:nvPr/>
        </p:nvSpPr>
        <p:spPr>
          <a:xfrm>
            <a:off x="743525" y="3224225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37" name="Google Shape;337;p50"/>
          <p:cNvSpPr txBox="1"/>
          <p:nvPr/>
        </p:nvSpPr>
        <p:spPr>
          <a:xfrm>
            <a:off x="137659" y="1013691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8" name="Google Shape;338;p50"/>
          <p:cNvSpPr txBox="1"/>
          <p:nvPr/>
        </p:nvSpPr>
        <p:spPr>
          <a:xfrm>
            <a:off x="981675" y="1903875"/>
            <a:ext cx="1425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339" name="Google Shape;339;p50"/>
          <p:cNvGraphicFramePr/>
          <p:nvPr/>
        </p:nvGraphicFramePr>
        <p:xfrm>
          <a:off x="88975" y="31016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{B29077CD-5227-4AE7-B2D4-CBEF7C76DEE2}</a:tableStyleId>
              </a:tblPr>
              <a:tblGrid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40" name="Google Shape;340;p50"/>
          <p:cNvGraphicFramePr/>
          <p:nvPr/>
        </p:nvGraphicFramePr>
        <p:xfrm>
          <a:off x="2302200" y="37409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{B29077CD-5227-4AE7-B2D4-CBEF7C76DEE2}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41" name="Google Shape;341;p50"/>
          <p:cNvSpPr txBox="1"/>
          <p:nvPr/>
        </p:nvSpPr>
        <p:spPr>
          <a:xfrm>
            <a:off x="174425" y="4684613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2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2" name="Google Shape;342;p50"/>
          <p:cNvSpPr txBox="1"/>
          <p:nvPr/>
        </p:nvSpPr>
        <p:spPr>
          <a:xfrm>
            <a:off x="2610825" y="460620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343" name="Google Shape;343;p50"/>
          <p:cNvGraphicFramePr/>
          <p:nvPr/>
        </p:nvGraphicFramePr>
        <p:xfrm>
          <a:off x="4961775" y="2970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{B29077CD-5227-4AE7-B2D4-CBEF7C76DEE2}</a:tableStyleId>
              </a:tblPr>
              <a:tblGrid>
                <a:gridCol w="446350"/>
                <a:gridCol w="446350"/>
                <a:gridCol w="446350"/>
              </a:tblGrid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8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44" name="Google Shape;344;p50"/>
          <p:cNvGraphicFramePr/>
          <p:nvPr/>
        </p:nvGraphicFramePr>
        <p:xfrm>
          <a:off x="7669850" y="30278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{B29077CD-5227-4AE7-B2D4-CBEF7C76DEE2}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45" name="Google Shape;345;p50"/>
          <p:cNvSpPr txBox="1"/>
          <p:nvPr/>
        </p:nvSpPr>
        <p:spPr>
          <a:xfrm>
            <a:off x="5493550" y="45534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6" name="Google Shape;346;p50"/>
          <p:cNvSpPr txBox="1"/>
          <p:nvPr/>
        </p:nvSpPr>
        <p:spPr>
          <a:xfrm>
            <a:off x="7978475" y="38931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7" name="Google Shape;347;p50"/>
          <p:cNvSpPr/>
          <p:nvPr/>
        </p:nvSpPr>
        <p:spPr>
          <a:xfrm rot="-5345203">
            <a:off x="6169814" y="1718549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50"/>
          <p:cNvSpPr/>
          <p:nvPr/>
        </p:nvSpPr>
        <p:spPr>
          <a:xfrm rot="-5346771">
            <a:off x="6887004" y="1362853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50"/>
          <p:cNvSpPr txBox="1"/>
          <p:nvPr/>
        </p:nvSpPr>
        <p:spPr>
          <a:xfrm>
            <a:off x="6099425" y="3274713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50" name="Google Shape;350;p50"/>
          <p:cNvSpPr txBox="1"/>
          <p:nvPr/>
        </p:nvSpPr>
        <p:spPr>
          <a:xfrm>
            <a:off x="5493559" y="1064179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1" name="Google Shape;351;p50"/>
          <p:cNvSpPr txBox="1"/>
          <p:nvPr/>
        </p:nvSpPr>
        <p:spPr>
          <a:xfrm>
            <a:off x="6337575" y="1954363"/>
            <a:ext cx="1425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1"/>
          <p:cNvSpPr/>
          <p:nvPr/>
        </p:nvSpPr>
        <p:spPr>
          <a:xfrm rot="-5345203">
            <a:off x="813914" y="1668062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358" name="Google Shape;358;p51"/>
          <p:cNvSpPr/>
          <p:nvPr/>
        </p:nvSpPr>
        <p:spPr>
          <a:xfrm rot="-5346771">
            <a:off x="1531104" y="1312366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51"/>
          <p:cNvSpPr txBox="1"/>
          <p:nvPr/>
        </p:nvSpPr>
        <p:spPr>
          <a:xfrm>
            <a:off x="743525" y="3224225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60" name="Google Shape;360;p51"/>
          <p:cNvSpPr txBox="1"/>
          <p:nvPr/>
        </p:nvSpPr>
        <p:spPr>
          <a:xfrm>
            <a:off x="137659" y="1013691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1" name="Google Shape;361;p51"/>
          <p:cNvSpPr txBox="1"/>
          <p:nvPr/>
        </p:nvSpPr>
        <p:spPr>
          <a:xfrm>
            <a:off x="981675" y="1903875"/>
            <a:ext cx="1425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362" name="Google Shape;362;p51"/>
          <p:cNvGraphicFramePr/>
          <p:nvPr/>
        </p:nvGraphicFramePr>
        <p:xfrm>
          <a:off x="88975" y="31016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{B29077CD-5227-4AE7-B2D4-CBEF7C76DEE2}</a:tableStyleId>
              </a:tblPr>
              <a:tblGrid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63" name="Google Shape;363;p51"/>
          <p:cNvGraphicFramePr/>
          <p:nvPr/>
        </p:nvGraphicFramePr>
        <p:xfrm>
          <a:off x="2302200" y="37409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{B29077CD-5227-4AE7-B2D4-CBEF7C76DEE2}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64" name="Google Shape;364;p51"/>
          <p:cNvSpPr txBox="1"/>
          <p:nvPr/>
        </p:nvSpPr>
        <p:spPr>
          <a:xfrm>
            <a:off x="174425" y="4684613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2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5" name="Google Shape;365;p51"/>
          <p:cNvSpPr txBox="1"/>
          <p:nvPr/>
        </p:nvSpPr>
        <p:spPr>
          <a:xfrm>
            <a:off x="2610825" y="460620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366" name="Google Shape;366;p51"/>
          <p:cNvGraphicFramePr/>
          <p:nvPr/>
        </p:nvGraphicFramePr>
        <p:xfrm>
          <a:off x="4961775" y="2970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{B29077CD-5227-4AE7-B2D4-CBEF7C76DEE2}</a:tableStyleId>
              </a:tblPr>
              <a:tblGrid>
                <a:gridCol w="446350"/>
                <a:gridCol w="446350"/>
                <a:gridCol w="446350"/>
              </a:tblGrid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8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67" name="Google Shape;367;p51"/>
          <p:cNvGraphicFramePr/>
          <p:nvPr/>
        </p:nvGraphicFramePr>
        <p:xfrm>
          <a:off x="7669850" y="30278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{B29077CD-5227-4AE7-B2D4-CBEF7C76DEE2}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68" name="Google Shape;368;p51"/>
          <p:cNvSpPr txBox="1"/>
          <p:nvPr/>
        </p:nvSpPr>
        <p:spPr>
          <a:xfrm>
            <a:off x="5493550" y="45534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9" name="Google Shape;369;p51"/>
          <p:cNvSpPr txBox="1"/>
          <p:nvPr/>
        </p:nvSpPr>
        <p:spPr>
          <a:xfrm>
            <a:off x="7978475" y="38931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0" name="Google Shape;370;p51"/>
          <p:cNvSpPr/>
          <p:nvPr/>
        </p:nvSpPr>
        <p:spPr>
          <a:xfrm rot="-5345203">
            <a:off x="6169814" y="1718549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51"/>
          <p:cNvSpPr/>
          <p:nvPr/>
        </p:nvSpPr>
        <p:spPr>
          <a:xfrm rot="-5346771">
            <a:off x="6887004" y="1362853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51"/>
          <p:cNvSpPr txBox="1"/>
          <p:nvPr/>
        </p:nvSpPr>
        <p:spPr>
          <a:xfrm>
            <a:off x="6099425" y="3274713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73" name="Google Shape;373;p51"/>
          <p:cNvSpPr txBox="1"/>
          <p:nvPr/>
        </p:nvSpPr>
        <p:spPr>
          <a:xfrm>
            <a:off x="5493559" y="1064179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4" name="Google Shape;374;p51"/>
          <p:cNvSpPr txBox="1"/>
          <p:nvPr/>
        </p:nvSpPr>
        <p:spPr>
          <a:xfrm>
            <a:off x="6337575" y="1954369"/>
            <a:ext cx="14250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75" name="Google Shape;375;p51"/>
          <p:cNvSpPr txBox="1"/>
          <p:nvPr/>
        </p:nvSpPr>
        <p:spPr>
          <a:xfrm>
            <a:off x="3059350" y="1201975"/>
            <a:ext cx="1100700" cy="13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match! Matrices are conformable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376" name="Google Shape;376;p51"/>
          <p:cNvCxnSpPr>
            <a:stCxn id="375" idx="1"/>
            <a:endCxn id="361" idx="0"/>
          </p:cNvCxnSpPr>
          <p:nvPr/>
        </p:nvCxnSpPr>
        <p:spPr>
          <a:xfrm flipH="1">
            <a:off x="1694050" y="1897975"/>
            <a:ext cx="1365300" cy="6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7" name="Google Shape;377;p51"/>
          <p:cNvSpPr txBox="1"/>
          <p:nvPr/>
        </p:nvSpPr>
        <p:spPr>
          <a:xfrm>
            <a:off x="4698475" y="1202575"/>
            <a:ext cx="11007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don’t match! Matrices are not conformable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378" name="Google Shape;378;p51"/>
          <p:cNvCxnSpPr>
            <a:stCxn id="377" idx="3"/>
            <a:endCxn id="374" idx="0"/>
          </p:cNvCxnSpPr>
          <p:nvPr/>
        </p:nvCxnSpPr>
        <p:spPr>
          <a:xfrm flipH="1" rot="10800000">
            <a:off x="5799175" y="1954375"/>
            <a:ext cx="1251000" cy="5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2"/>
          <p:cNvSpPr/>
          <p:nvPr/>
        </p:nvSpPr>
        <p:spPr>
          <a:xfrm rot="-5345203">
            <a:off x="813914" y="1668062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385" name="Google Shape;385;p52"/>
          <p:cNvSpPr/>
          <p:nvPr/>
        </p:nvSpPr>
        <p:spPr>
          <a:xfrm rot="-5346771">
            <a:off x="1531104" y="1312366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52"/>
          <p:cNvSpPr txBox="1"/>
          <p:nvPr/>
        </p:nvSpPr>
        <p:spPr>
          <a:xfrm>
            <a:off x="743525" y="3224225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87" name="Google Shape;387;p52"/>
          <p:cNvSpPr txBox="1"/>
          <p:nvPr/>
        </p:nvSpPr>
        <p:spPr>
          <a:xfrm>
            <a:off x="137659" y="1013691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8" name="Google Shape;388;p52"/>
          <p:cNvSpPr txBox="1"/>
          <p:nvPr/>
        </p:nvSpPr>
        <p:spPr>
          <a:xfrm>
            <a:off x="981675" y="1903875"/>
            <a:ext cx="1425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389" name="Google Shape;389;p52"/>
          <p:cNvGraphicFramePr/>
          <p:nvPr/>
        </p:nvGraphicFramePr>
        <p:xfrm>
          <a:off x="88975" y="31016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{B29077CD-5227-4AE7-B2D4-CBEF7C76DEE2}</a:tableStyleId>
              </a:tblPr>
              <a:tblGrid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90" name="Google Shape;390;p52"/>
          <p:cNvGraphicFramePr/>
          <p:nvPr/>
        </p:nvGraphicFramePr>
        <p:xfrm>
          <a:off x="2302200" y="37409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{B29077CD-5227-4AE7-B2D4-CBEF7C76DEE2}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91" name="Google Shape;391;p52"/>
          <p:cNvSpPr txBox="1"/>
          <p:nvPr/>
        </p:nvSpPr>
        <p:spPr>
          <a:xfrm>
            <a:off x="174425" y="4684613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2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2" name="Google Shape;392;p52"/>
          <p:cNvSpPr txBox="1"/>
          <p:nvPr/>
        </p:nvSpPr>
        <p:spPr>
          <a:xfrm>
            <a:off x="2610825" y="460620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393" name="Google Shape;393;p52"/>
          <p:cNvGraphicFramePr/>
          <p:nvPr/>
        </p:nvGraphicFramePr>
        <p:xfrm>
          <a:off x="4961775" y="2970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{B29077CD-5227-4AE7-B2D4-CBEF7C76DEE2}</a:tableStyleId>
              </a:tblPr>
              <a:tblGrid>
                <a:gridCol w="446350"/>
                <a:gridCol w="446350"/>
                <a:gridCol w="446350"/>
              </a:tblGrid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8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94" name="Google Shape;394;p52"/>
          <p:cNvGraphicFramePr/>
          <p:nvPr/>
        </p:nvGraphicFramePr>
        <p:xfrm>
          <a:off x="7669850" y="30278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{B29077CD-5227-4AE7-B2D4-CBEF7C76DEE2}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95" name="Google Shape;395;p52"/>
          <p:cNvSpPr txBox="1"/>
          <p:nvPr/>
        </p:nvSpPr>
        <p:spPr>
          <a:xfrm>
            <a:off x="5493550" y="45534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6" name="Google Shape;396;p52"/>
          <p:cNvSpPr txBox="1"/>
          <p:nvPr/>
        </p:nvSpPr>
        <p:spPr>
          <a:xfrm>
            <a:off x="7978475" y="38931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7" name="Google Shape;397;p52"/>
          <p:cNvSpPr/>
          <p:nvPr/>
        </p:nvSpPr>
        <p:spPr>
          <a:xfrm rot="-5345203">
            <a:off x="6169814" y="1718549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52"/>
          <p:cNvSpPr/>
          <p:nvPr/>
        </p:nvSpPr>
        <p:spPr>
          <a:xfrm rot="-5346771">
            <a:off x="6887004" y="1362853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52"/>
          <p:cNvSpPr txBox="1"/>
          <p:nvPr/>
        </p:nvSpPr>
        <p:spPr>
          <a:xfrm>
            <a:off x="6099425" y="3274713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00" name="Google Shape;400;p52"/>
          <p:cNvSpPr txBox="1"/>
          <p:nvPr/>
        </p:nvSpPr>
        <p:spPr>
          <a:xfrm>
            <a:off x="5493559" y="1064179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1" name="Google Shape;401;p52"/>
          <p:cNvSpPr txBox="1"/>
          <p:nvPr/>
        </p:nvSpPr>
        <p:spPr>
          <a:xfrm>
            <a:off x="6337575" y="1954369"/>
            <a:ext cx="14250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02" name="Google Shape;402;p52"/>
          <p:cNvSpPr txBox="1"/>
          <p:nvPr/>
        </p:nvSpPr>
        <p:spPr>
          <a:xfrm>
            <a:off x="3059350" y="1201975"/>
            <a:ext cx="1100700" cy="13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match! Matrices are conformable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403" name="Google Shape;403;p52"/>
          <p:cNvCxnSpPr>
            <a:stCxn id="402" idx="1"/>
            <a:endCxn id="388" idx="0"/>
          </p:cNvCxnSpPr>
          <p:nvPr/>
        </p:nvCxnSpPr>
        <p:spPr>
          <a:xfrm flipH="1">
            <a:off x="1694050" y="1897975"/>
            <a:ext cx="1365300" cy="6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4" name="Google Shape;404;p52"/>
          <p:cNvSpPr txBox="1"/>
          <p:nvPr/>
        </p:nvSpPr>
        <p:spPr>
          <a:xfrm>
            <a:off x="4698475" y="1202575"/>
            <a:ext cx="11007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don’t match! Matrices are not conformable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405" name="Google Shape;405;p52"/>
          <p:cNvCxnSpPr>
            <a:stCxn id="404" idx="3"/>
            <a:endCxn id="401" idx="0"/>
          </p:cNvCxnSpPr>
          <p:nvPr/>
        </p:nvCxnSpPr>
        <p:spPr>
          <a:xfrm flipH="1" rot="10800000">
            <a:off x="5799175" y="1954375"/>
            <a:ext cx="1251000" cy="5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06" name="Google Shape;406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4383" y="2523231"/>
            <a:ext cx="1339049" cy="1162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9175" y="881800"/>
            <a:ext cx="2567551" cy="2934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3"/>
          <p:cNvSpPr/>
          <p:nvPr/>
        </p:nvSpPr>
        <p:spPr>
          <a:xfrm rot="-5345203">
            <a:off x="813914" y="1668062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5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414" name="Google Shape;414;p53"/>
          <p:cNvSpPr/>
          <p:nvPr/>
        </p:nvSpPr>
        <p:spPr>
          <a:xfrm rot="-5346771">
            <a:off x="1531104" y="1312366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53"/>
          <p:cNvSpPr txBox="1"/>
          <p:nvPr/>
        </p:nvSpPr>
        <p:spPr>
          <a:xfrm>
            <a:off x="743525" y="3224225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16" name="Google Shape;416;p53"/>
          <p:cNvSpPr txBox="1"/>
          <p:nvPr/>
        </p:nvSpPr>
        <p:spPr>
          <a:xfrm>
            <a:off x="137659" y="1013691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7" name="Google Shape;417;p53"/>
          <p:cNvSpPr txBox="1"/>
          <p:nvPr/>
        </p:nvSpPr>
        <p:spPr>
          <a:xfrm>
            <a:off x="981675" y="1903875"/>
            <a:ext cx="1425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18" name="Google Shape;418;p53"/>
          <p:cNvSpPr/>
          <p:nvPr/>
        </p:nvSpPr>
        <p:spPr>
          <a:xfrm rot="-5345203">
            <a:off x="6169814" y="1718549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53"/>
          <p:cNvSpPr/>
          <p:nvPr/>
        </p:nvSpPr>
        <p:spPr>
          <a:xfrm rot="-5346771">
            <a:off x="6887004" y="1362853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53"/>
          <p:cNvSpPr txBox="1"/>
          <p:nvPr/>
        </p:nvSpPr>
        <p:spPr>
          <a:xfrm>
            <a:off x="6099425" y="3274713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21" name="Google Shape;421;p53"/>
          <p:cNvSpPr txBox="1"/>
          <p:nvPr/>
        </p:nvSpPr>
        <p:spPr>
          <a:xfrm>
            <a:off x="5493559" y="1064179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2" name="Google Shape;422;p53"/>
          <p:cNvSpPr txBox="1"/>
          <p:nvPr/>
        </p:nvSpPr>
        <p:spPr>
          <a:xfrm>
            <a:off x="6337575" y="1954369"/>
            <a:ext cx="14250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23" name="Google Shape;423;p53"/>
          <p:cNvSpPr txBox="1"/>
          <p:nvPr/>
        </p:nvSpPr>
        <p:spPr>
          <a:xfrm>
            <a:off x="3059350" y="1201975"/>
            <a:ext cx="1100700" cy="13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match! Matrices are conformable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424" name="Google Shape;424;p53"/>
          <p:cNvCxnSpPr>
            <a:stCxn id="423" idx="1"/>
            <a:endCxn id="417" idx="0"/>
          </p:cNvCxnSpPr>
          <p:nvPr/>
        </p:nvCxnSpPr>
        <p:spPr>
          <a:xfrm flipH="1">
            <a:off x="1694050" y="1897975"/>
            <a:ext cx="1365300" cy="6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5" name="Google Shape;425;p53"/>
          <p:cNvSpPr txBox="1"/>
          <p:nvPr/>
        </p:nvSpPr>
        <p:spPr>
          <a:xfrm>
            <a:off x="4698475" y="1202575"/>
            <a:ext cx="11007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don’t match! Matrices are not conformable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426" name="Google Shape;426;p53"/>
          <p:cNvCxnSpPr>
            <a:stCxn id="425" idx="3"/>
            <a:endCxn id="422" idx="0"/>
          </p:cNvCxnSpPr>
          <p:nvPr/>
        </p:nvCxnSpPr>
        <p:spPr>
          <a:xfrm flipH="1" rot="10800000">
            <a:off x="5799175" y="1954375"/>
            <a:ext cx="1251000" cy="5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7" name="Google Shape;427;p53"/>
          <p:cNvSpPr txBox="1"/>
          <p:nvPr>
            <p:ph idx="1" type="body"/>
          </p:nvPr>
        </p:nvSpPr>
        <p:spPr>
          <a:xfrm>
            <a:off x="311700" y="3581675"/>
            <a:ext cx="85206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general you can multiply any A</a:t>
            </a:r>
            <a:r>
              <a:rPr baseline="-25000" lang="en"/>
              <a:t>m x n</a:t>
            </a:r>
            <a:r>
              <a:rPr lang="en"/>
              <a:t> matrix </a:t>
            </a:r>
            <a:r>
              <a:rPr b="1" lang="en" sz="2200"/>
              <a:t>✕ </a:t>
            </a:r>
            <a:r>
              <a:rPr lang="en"/>
              <a:t>any B </a:t>
            </a:r>
            <a:r>
              <a:rPr baseline="-25000" lang="en"/>
              <a:t>q x p</a:t>
            </a:r>
            <a:r>
              <a:rPr lang="en"/>
              <a:t> matrix: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 long as n =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doesn’t matter what the values of the outer dimensions is</a:t>
            </a:r>
            <a:endParaRPr/>
          </a:p>
        </p:txBody>
      </p:sp>
      <p:pic>
        <p:nvPicPr>
          <p:cNvPr id="428" name="Google Shape;42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9175" y="881800"/>
            <a:ext cx="2567551" cy="29343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54383" y="2523231"/>
            <a:ext cx="1339049" cy="1162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4"/>
          <p:cNvSpPr/>
          <p:nvPr/>
        </p:nvSpPr>
        <p:spPr>
          <a:xfrm rot="-5334278">
            <a:off x="5284792" y="1812913"/>
            <a:ext cx="1459467" cy="1392720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5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436" name="Google Shape;436;p54"/>
          <p:cNvSpPr/>
          <p:nvPr/>
        </p:nvSpPr>
        <p:spPr>
          <a:xfrm rot="-5345394">
            <a:off x="1204691" y="1585129"/>
            <a:ext cx="377748" cy="760899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54"/>
          <p:cNvSpPr txBox="1"/>
          <p:nvPr/>
        </p:nvSpPr>
        <p:spPr>
          <a:xfrm>
            <a:off x="311709" y="1248129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= C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baseline="-25000" lang="en" sz="2200">
                <a:solidFill>
                  <a:srgbClr val="257E1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8" name="Google Shape;438;p54"/>
          <p:cNvSpPr txBox="1"/>
          <p:nvPr/>
        </p:nvSpPr>
        <p:spPr>
          <a:xfrm>
            <a:off x="4924209" y="1248116"/>
            <a:ext cx="39081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✕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lang="en" sz="2200">
                <a:latin typeface="Open Sans"/>
                <a:ea typeface="Open Sans"/>
                <a:cs typeface="Open Sans"/>
                <a:sym typeface="Open Sans"/>
              </a:rPr>
              <a:t>  = Not defined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9" name="Google Shape;439;p54"/>
          <p:cNvSpPr/>
          <p:nvPr/>
        </p:nvSpPr>
        <p:spPr>
          <a:xfrm rot="-5344964">
            <a:off x="5853696" y="1599388"/>
            <a:ext cx="449758" cy="732389"/>
          </a:xfrm>
          <a:prstGeom prst="leftBrace">
            <a:avLst>
              <a:gd fmla="val 8333" name="adj1"/>
              <a:gd fmla="val 51810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54"/>
          <p:cNvSpPr txBox="1"/>
          <p:nvPr/>
        </p:nvSpPr>
        <p:spPr>
          <a:xfrm>
            <a:off x="5482925" y="2156100"/>
            <a:ext cx="1242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41" name="Google Shape;441;p54"/>
          <p:cNvSpPr txBox="1"/>
          <p:nvPr/>
        </p:nvSpPr>
        <p:spPr>
          <a:xfrm>
            <a:off x="731175" y="2156113"/>
            <a:ext cx="1324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 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42" name="Google Shape;442;p54"/>
          <p:cNvSpPr txBox="1"/>
          <p:nvPr/>
        </p:nvSpPr>
        <p:spPr>
          <a:xfrm>
            <a:off x="5068925" y="3226200"/>
            <a:ext cx="18912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43" name="Google Shape;443;p54"/>
          <p:cNvSpPr/>
          <p:nvPr/>
        </p:nvSpPr>
        <p:spPr>
          <a:xfrm rot="-5334278">
            <a:off x="663842" y="1812925"/>
            <a:ext cx="1459467" cy="1392720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54"/>
          <p:cNvSpPr txBox="1"/>
          <p:nvPr/>
        </p:nvSpPr>
        <p:spPr>
          <a:xfrm>
            <a:off x="447975" y="3226213"/>
            <a:ext cx="18912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45" name="Google Shape;445;p54"/>
          <p:cNvSpPr txBox="1"/>
          <p:nvPr>
            <p:ph idx="1" type="body"/>
          </p:nvPr>
        </p:nvSpPr>
        <p:spPr>
          <a:xfrm>
            <a:off x="311700" y="3581675"/>
            <a:ext cx="85206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The outer dimensions determine the dimensions of the resulting matrix such that </a:t>
            </a:r>
            <a:r>
              <a:rPr b="1" lang="en"/>
              <a:t>A</a:t>
            </a:r>
            <a:r>
              <a:rPr b="1" baseline="-25000" lang="en"/>
              <a:t>m x n</a:t>
            </a:r>
            <a:r>
              <a:rPr b="1" lang="en"/>
              <a:t> ✕  B </a:t>
            </a:r>
            <a:r>
              <a:rPr b="1" baseline="-25000" lang="en"/>
              <a:t>q x p</a:t>
            </a:r>
            <a:r>
              <a:rPr b="1" lang="en"/>
              <a:t> = C </a:t>
            </a:r>
            <a:r>
              <a:rPr b="1" baseline="-25000" lang="en"/>
              <a:t>m x p</a:t>
            </a:r>
            <a:endParaRPr b="1" baseline="-25000"/>
          </a:p>
        </p:txBody>
      </p:sp>
      <p:sp>
        <p:nvSpPr>
          <p:cNvPr id="446" name="Google Shape;446;p54"/>
          <p:cNvSpPr txBox="1"/>
          <p:nvPr/>
        </p:nvSpPr>
        <p:spPr>
          <a:xfrm>
            <a:off x="2286600" y="2393400"/>
            <a:ext cx="1983600" cy="11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Product matrix C is 3 X 4 same as the outer dimensions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447" name="Google Shape;447;p54"/>
          <p:cNvCxnSpPr>
            <a:stCxn id="446" idx="0"/>
          </p:cNvCxnSpPr>
          <p:nvPr/>
        </p:nvCxnSpPr>
        <p:spPr>
          <a:xfrm rot="10800000">
            <a:off x="2910000" y="1770300"/>
            <a:ext cx="368400" cy="623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pic>
        <p:nvPicPr>
          <p:cNvPr id="453" name="Google Shape;453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2225" y="1147225"/>
            <a:ext cx="4200079" cy="3691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54" name="Google Shape;454;p55"/>
          <p:cNvGraphicFramePr/>
          <p:nvPr/>
        </p:nvGraphicFramePr>
        <p:xfrm>
          <a:off x="31170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{B9A0DBEB-9BBF-4481-8CFC-536C8F862029}</a:tableStyleId>
              </a:tblPr>
              <a:tblGrid>
                <a:gridCol w="444500"/>
                <a:gridCol w="444500"/>
              </a:tblGrid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55" name="Google Shape;455;p55"/>
          <p:cNvSpPr txBox="1"/>
          <p:nvPr/>
        </p:nvSpPr>
        <p:spPr>
          <a:xfrm>
            <a:off x="1213765" y="1365775"/>
            <a:ext cx="445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X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graphicFrame>
        <p:nvGraphicFramePr>
          <p:cNvPr id="456" name="Google Shape;456;p55"/>
          <p:cNvGraphicFramePr/>
          <p:nvPr/>
        </p:nvGraphicFramePr>
        <p:xfrm>
          <a:off x="318019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{B9A0DBEB-9BBF-4481-8CFC-536C8F862029}</a:tableStyleId>
              </a:tblPr>
              <a:tblGrid>
                <a:gridCol w="1484250"/>
                <a:gridCol w="1303925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 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c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57" name="Google Shape;457;p55"/>
          <p:cNvSpPr txBox="1"/>
          <p:nvPr/>
        </p:nvSpPr>
        <p:spPr>
          <a:xfrm>
            <a:off x="2665240" y="1349875"/>
            <a:ext cx="445200" cy="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=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458" name="Google Shape;458;p55"/>
          <p:cNvSpPr txBox="1"/>
          <p:nvPr/>
        </p:nvSpPr>
        <p:spPr>
          <a:xfrm>
            <a:off x="383300" y="2096475"/>
            <a:ext cx="745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9" name="Google Shape;459;p55"/>
          <p:cNvSpPr txBox="1"/>
          <p:nvPr/>
        </p:nvSpPr>
        <p:spPr>
          <a:xfrm>
            <a:off x="4129827" y="2096463"/>
            <a:ext cx="8889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460" name="Google Shape;460;p55"/>
          <p:cNvGraphicFramePr/>
          <p:nvPr/>
        </p:nvGraphicFramePr>
        <p:xfrm>
          <a:off x="174595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{B9A0DBEB-9BBF-4481-8CFC-536C8F862029}</a:tableStyleId>
              </a:tblPr>
              <a:tblGrid>
                <a:gridCol w="444500"/>
                <a:gridCol w="444500"/>
              </a:tblGrid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61" name="Google Shape;461;p55"/>
          <p:cNvSpPr txBox="1"/>
          <p:nvPr/>
        </p:nvSpPr>
        <p:spPr>
          <a:xfrm>
            <a:off x="1817550" y="2096475"/>
            <a:ext cx="745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2" name="Google Shape;462;p55"/>
          <p:cNvSpPr txBox="1"/>
          <p:nvPr/>
        </p:nvSpPr>
        <p:spPr>
          <a:xfrm>
            <a:off x="360575" y="2616275"/>
            <a:ext cx="122400" cy="13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55"/>
          <p:cNvSpPr txBox="1"/>
          <p:nvPr/>
        </p:nvSpPr>
        <p:spPr>
          <a:xfrm>
            <a:off x="460775" y="2905750"/>
            <a:ext cx="3941100" cy="18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●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How does it work?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●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For A X B: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○"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The ij cell of the resulting matrix is given by the sum of the product of the corresponding cells of row i in A and column j of B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pic>
        <p:nvPicPr>
          <p:cNvPr id="469" name="Google Shape;469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2225" y="1147225"/>
            <a:ext cx="4200079" cy="3691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70" name="Google Shape;470;p56"/>
          <p:cNvGraphicFramePr/>
          <p:nvPr/>
        </p:nvGraphicFramePr>
        <p:xfrm>
          <a:off x="31170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{B9A0DBEB-9BBF-4481-8CFC-536C8F862029}</a:tableStyleId>
              </a:tblPr>
              <a:tblGrid>
                <a:gridCol w="444500"/>
                <a:gridCol w="444500"/>
              </a:tblGrid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71" name="Google Shape;471;p56"/>
          <p:cNvSpPr txBox="1"/>
          <p:nvPr/>
        </p:nvSpPr>
        <p:spPr>
          <a:xfrm>
            <a:off x="1213765" y="1365775"/>
            <a:ext cx="445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X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graphicFrame>
        <p:nvGraphicFramePr>
          <p:cNvPr id="472" name="Google Shape;472;p56"/>
          <p:cNvGraphicFramePr/>
          <p:nvPr/>
        </p:nvGraphicFramePr>
        <p:xfrm>
          <a:off x="318019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{B9A0DBEB-9BBF-4481-8CFC-536C8F862029}</a:tableStyleId>
              </a:tblPr>
              <a:tblGrid>
                <a:gridCol w="1484250"/>
                <a:gridCol w="1303925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 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c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73" name="Google Shape;473;p56"/>
          <p:cNvSpPr txBox="1"/>
          <p:nvPr/>
        </p:nvSpPr>
        <p:spPr>
          <a:xfrm>
            <a:off x="2665240" y="1349875"/>
            <a:ext cx="445200" cy="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=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474" name="Google Shape;474;p56"/>
          <p:cNvSpPr txBox="1"/>
          <p:nvPr/>
        </p:nvSpPr>
        <p:spPr>
          <a:xfrm>
            <a:off x="383300" y="2096475"/>
            <a:ext cx="745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5" name="Google Shape;475;p56"/>
          <p:cNvSpPr txBox="1"/>
          <p:nvPr/>
        </p:nvSpPr>
        <p:spPr>
          <a:xfrm>
            <a:off x="4129827" y="2096463"/>
            <a:ext cx="8889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476" name="Google Shape;476;p56"/>
          <p:cNvGraphicFramePr/>
          <p:nvPr/>
        </p:nvGraphicFramePr>
        <p:xfrm>
          <a:off x="174595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{B9A0DBEB-9BBF-4481-8CFC-536C8F862029}</a:tableStyleId>
              </a:tblPr>
              <a:tblGrid>
                <a:gridCol w="444500"/>
                <a:gridCol w="444500"/>
              </a:tblGrid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77" name="Google Shape;477;p56"/>
          <p:cNvSpPr txBox="1"/>
          <p:nvPr/>
        </p:nvSpPr>
        <p:spPr>
          <a:xfrm>
            <a:off x="1817550" y="2096475"/>
            <a:ext cx="745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8" name="Google Shape;478;p56"/>
          <p:cNvSpPr txBox="1"/>
          <p:nvPr/>
        </p:nvSpPr>
        <p:spPr>
          <a:xfrm>
            <a:off x="360575" y="2616275"/>
            <a:ext cx="122400" cy="13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matrix-multiply-order.gif" id="479" name="Google Shape;479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0" y="3137888"/>
            <a:ext cx="3648075" cy="149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pic>
        <p:nvPicPr>
          <p:cNvPr id="485" name="Google Shape;485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2225" y="1147225"/>
            <a:ext cx="4200079" cy="3691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86" name="Google Shape;486;p57"/>
          <p:cNvGraphicFramePr/>
          <p:nvPr/>
        </p:nvGraphicFramePr>
        <p:xfrm>
          <a:off x="31170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{B9A0DBEB-9BBF-4481-8CFC-536C8F862029}</a:tableStyleId>
              </a:tblPr>
              <a:tblGrid>
                <a:gridCol w="444500"/>
                <a:gridCol w="444500"/>
              </a:tblGrid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87" name="Google Shape;487;p57"/>
          <p:cNvSpPr txBox="1"/>
          <p:nvPr/>
        </p:nvSpPr>
        <p:spPr>
          <a:xfrm>
            <a:off x="1213765" y="1365775"/>
            <a:ext cx="445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X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graphicFrame>
        <p:nvGraphicFramePr>
          <p:cNvPr id="488" name="Google Shape;488;p57"/>
          <p:cNvGraphicFramePr/>
          <p:nvPr/>
        </p:nvGraphicFramePr>
        <p:xfrm>
          <a:off x="318019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{B9A0DBEB-9BBF-4481-8CFC-536C8F862029}</a:tableStyleId>
              </a:tblPr>
              <a:tblGrid>
                <a:gridCol w="1484250"/>
                <a:gridCol w="1303925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 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c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89" name="Google Shape;489;p57"/>
          <p:cNvSpPr txBox="1"/>
          <p:nvPr/>
        </p:nvSpPr>
        <p:spPr>
          <a:xfrm>
            <a:off x="2665240" y="1349875"/>
            <a:ext cx="445200" cy="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=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490" name="Google Shape;490;p57"/>
          <p:cNvSpPr txBox="1"/>
          <p:nvPr/>
        </p:nvSpPr>
        <p:spPr>
          <a:xfrm>
            <a:off x="383300" y="2096475"/>
            <a:ext cx="745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1" name="Google Shape;491;p57"/>
          <p:cNvSpPr txBox="1"/>
          <p:nvPr/>
        </p:nvSpPr>
        <p:spPr>
          <a:xfrm>
            <a:off x="4129827" y="2096463"/>
            <a:ext cx="8889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492" name="Google Shape;492;p57"/>
          <p:cNvGraphicFramePr/>
          <p:nvPr/>
        </p:nvGraphicFramePr>
        <p:xfrm>
          <a:off x="174595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{B9A0DBEB-9BBF-4481-8CFC-536C8F862029}</a:tableStyleId>
              </a:tblPr>
              <a:tblGrid>
                <a:gridCol w="444500"/>
                <a:gridCol w="444500"/>
              </a:tblGrid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93" name="Google Shape;493;p57"/>
          <p:cNvSpPr txBox="1"/>
          <p:nvPr/>
        </p:nvSpPr>
        <p:spPr>
          <a:xfrm>
            <a:off x="1817550" y="2096475"/>
            <a:ext cx="745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4" name="Google Shape;494;p57"/>
          <p:cNvSpPr txBox="1"/>
          <p:nvPr/>
        </p:nvSpPr>
        <p:spPr>
          <a:xfrm>
            <a:off x="360575" y="2616275"/>
            <a:ext cx="122400" cy="13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matrix-multiply-order.gif" id="495" name="Google Shape;495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0" y="3137888"/>
            <a:ext cx="3648075" cy="1495425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57"/>
          <p:cNvSpPr/>
          <p:nvPr/>
        </p:nvSpPr>
        <p:spPr>
          <a:xfrm>
            <a:off x="3244050" y="3083875"/>
            <a:ext cx="445200" cy="4230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57"/>
          <p:cNvSpPr txBox="1"/>
          <p:nvPr/>
        </p:nvSpPr>
        <p:spPr>
          <a:xfrm>
            <a:off x="322175" y="2605150"/>
            <a:ext cx="2688000" cy="3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b="1" baseline="-25000"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  <a:r>
              <a:rPr b="1"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= (1 * 2) + (2 * 1) = 4</a:t>
            </a:r>
            <a:endParaRPr b="1" sz="18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98" name="Google Shape;498;p57"/>
          <p:cNvCxnSpPr>
            <a:stCxn id="497" idx="3"/>
            <a:endCxn id="496" idx="1"/>
          </p:cNvCxnSpPr>
          <p:nvPr/>
        </p:nvCxnSpPr>
        <p:spPr>
          <a:xfrm>
            <a:off x="3010175" y="2804200"/>
            <a:ext cx="299100" cy="341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9" name="Google Shape;499;p57"/>
          <p:cNvSpPr txBox="1"/>
          <p:nvPr/>
        </p:nvSpPr>
        <p:spPr>
          <a:xfrm>
            <a:off x="756200" y="4633325"/>
            <a:ext cx="4059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0" name="Google Shape;500;p57"/>
          <p:cNvSpPr txBox="1"/>
          <p:nvPr/>
        </p:nvSpPr>
        <p:spPr>
          <a:xfrm>
            <a:off x="1987500" y="4633325"/>
            <a:ext cx="4059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1" name="Google Shape;501;p57"/>
          <p:cNvSpPr txBox="1"/>
          <p:nvPr/>
        </p:nvSpPr>
        <p:spPr>
          <a:xfrm>
            <a:off x="3409075" y="4633325"/>
            <a:ext cx="4059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5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pic>
        <p:nvPicPr>
          <p:cNvPr id="507" name="Google Shape;507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2225" y="1147225"/>
            <a:ext cx="4200079" cy="3691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08" name="Google Shape;508;p58"/>
          <p:cNvGraphicFramePr/>
          <p:nvPr/>
        </p:nvGraphicFramePr>
        <p:xfrm>
          <a:off x="31170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{B9A0DBEB-9BBF-4481-8CFC-536C8F862029}</a:tableStyleId>
              </a:tblPr>
              <a:tblGrid>
                <a:gridCol w="444500"/>
                <a:gridCol w="444500"/>
              </a:tblGrid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09" name="Google Shape;509;p58"/>
          <p:cNvSpPr txBox="1"/>
          <p:nvPr/>
        </p:nvSpPr>
        <p:spPr>
          <a:xfrm>
            <a:off x="1213765" y="1365775"/>
            <a:ext cx="445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X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graphicFrame>
        <p:nvGraphicFramePr>
          <p:cNvPr id="510" name="Google Shape;510;p58"/>
          <p:cNvGraphicFramePr/>
          <p:nvPr/>
        </p:nvGraphicFramePr>
        <p:xfrm>
          <a:off x="318019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{B9A0DBEB-9BBF-4481-8CFC-536C8F862029}</a:tableStyleId>
              </a:tblPr>
              <a:tblGrid>
                <a:gridCol w="1484250"/>
                <a:gridCol w="1303925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 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c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11" name="Google Shape;511;p58"/>
          <p:cNvSpPr txBox="1"/>
          <p:nvPr/>
        </p:nvSpPr>
        <p:spPr>
          <a:xfrm>
            <a:off x="2665240" y="1349875"/>
            <a:ext cx="445200" cy="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=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512" name="Google Shape;512;p58"/>
          <p:cNvSpPr txBox="1"/>
          <p:nvPr/>
        </p:nvSpPr>
        <p:spPr>
          <a:xfrm>
            <a:off x="383300" y="2096475"/>
            <a:ext cx="745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3" name="Google Shape;513;p58"/>
          <p:cNvSpPr txBox="1"/>
          <p:nvPr/>
        </p:nvSpPr>
        <p:spPr>
          <a:xfrm>
            <a:off x="4129827" y="2096463"/>
            <a:ext cx="8889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514" name="Google Shape;514;p58"/>
          <p:cNvGraphicFramePr/>
          <p:nvPr/>
        </p:nvGraphicFramePr>
        <p:xfrm>
          <a:off x="174595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{B9A0DBEB-9BBF-4481-8CFC-536C8F862029}</a:tableStyleId>
              </a:tblPr>
              <a:tblGrid>
                <a:gridCol w="444500"/>
                <a:gridCol w="444500"/>
              </a:tblGrid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15" name="Google Shape;515;p58"/>
          <p:cNvSpPr txBox="1"/>
          <p:nvPr/>
        </p:nvSpPr>
        <p:spPr>
          <a:xfrm>
            <a:off x="1817550" y="2096475"/>
            <a:ext cx="745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6" name="Google Shape;516;p58"/>
          <p:cNvSpPr txBox="1"/>
          <p:nvPr/>
        </p:nvSpPr>
        <p:spPr>
          <a:xfrm>
            <a:off x="360575" y="2616275"/>
            <a:ext cx="122400" cy="13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matrix-multiply-order.gif" id="517" name="Google Shape;517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0" y="3137888"/>
            <a:ext cx="3648075" cy="1495425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58"/>
          <p:cNvSpPr/>
          <p:nvPr/>
        </p:nvSpPr>
        <p:spPr>
          <a:xfrm>
            <a:off x="3244050" y="3429000"/>
            <a:ext cx="445200" cy="4230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58"/>
          <p:cNvSpPr txBox="1"/>
          <p:nvPr/>
        </p:nvSpPr>
        <p:spPr>
          <a:xfrm>
            <a:off x="82250" y="2598288"/>
            <a:ext cx="2861100" cy="3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b="1" baseline="-25000"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21</a:t>
            </a:r>
            <a:r>
              <a:rPr b="1"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= (3 * 2) + (4 * 1) = 10</a:t>
            </a:r>
            <a:endParaRPr b="1" sz="18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20" name="Google Shape;520;p58"/>
          <p:cNvCxnSpPr>
            <a:stCxn id="519" idx="3"/>
            <a:endCxn id="518" idx="1"/>
          </p:cNvCxnSpPr>
          <p:nvPr/>
        </p:nvCxnSpPr>
        <p:spPr>
          <a:xfrm>
            <a:off x="2943350" y="2797338"/>
            <a:ext cx="366000" cy="693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1" name="Google Shape;521;p58"/>
          <p:cNvSpPr txBox="1"/>
          <p:nvPr/>
        </p:nvSpPr>
        <p:spPr>
          <a:xfrm>
            <a:off x="756200" y="4633325"/>
            <a:ext cx="4059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2" name="Google Shape;522;p58"/>
          <p:cNvSpPr txBox="1"/>
          <p:nvPr/>
        </p:nvSpPr>
        <p:spPr>
          <a:xfrm>
            <a:off x="1987500" y="4633325"/>
            <a:ext cx="4059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3" name="Google Shape;523;p58"/>
          <p:cNvSpPr txBox="1"/>
          <p:nvPr/>
        </p:nvSpPr>
        <p:spPr>
          <a:xfrm>
            <a:off x="3409075" y="4633325"/>
            <a:ext cx="4059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pic>
        <p:nvPicPr>
          <p:cNvPr id="529" name="Google Shape;529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2225" y="1147225"/>
            <a:ext cx="4200079" cy="3691476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59"/>
          <p:cNvSpPr txBox="1"/>
          <p:nvPr>
            <p:ph idx="1" type="body"/>
          </p:nvPr>
        </p:nvSpPr>
        <p:spPr>
          <a:xfrm>
            <a:off x="311700" y="1225225"/>
            <a:ext cx="4200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Properties of matrix multiplication: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 commutative!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 X B ≠ B X A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 X B </a:t>
            </a:r>
            <a:r>
              <a:rPr lang="en"/>
              <a:t>can be defined but the reverse is no the case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Associative: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(A X B) X C = A X (B X C)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Distributive over addition: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 X (B + C) = (A X B) + (A X C)</a:t>
            </a:r>
            <a:endParaRPr b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6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pic>
        <p:nvPicPr>
          <p:cNvPr id="536" name="Google Shape;536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2225" y="1147225"/>
            <a:ext cx="4200079" cy="3691476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60"/>
          <p:cNvSpPr txBox="1"/>
          <p:nvPr>
            <p:ph idx="1" type="body"/>
          </p:nvPr>
        </p:nvSpPr>
        <p:spPr>
          <a:xfrm>
            <a:off x="311700" y="1225225"/>
            <a:ext cx="4557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Properties of matrix multiplication: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Square matrices of the same dimension can always be multiplied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/>
              <a:t>square matrix</a:t>
            </a:r>
            <a:r>
              <a:rPr lang="en"/>
              <a:t> is one in which the row and column dimensions are of the same size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Network </a:t>
            </a:r>
            <a:r>
              <a:rPr b="1" lang="en"/>
              <a:t>adjacency matrices</a:t>
            </a:r>
            <a:r>
              <a:rPr lang="en"/>
              <a:t> are square matrices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can take matrix </a:t>
            </a:r>
            <a:r>
              <a:rPr b="1" lang="en"/>
              <a:t>powers</a:t>
            </a:r>
            <a:r>
              <a:rPr lang="en"/>
              <a:t> by self-multiplication: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</a:t>
            </a:r>
            <a:r>
              <a:rPr b="1" baseline="30000" lang="en"/>
              <a:t>2</a:t>
            </a:r>
            <a:r>
              <a:rPr b="1" lang="en"/>
              <a:t> = A X A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</a:t>
            </a:r>
            <a:r>
              <a:rPr b="1" baseline="30000" lang="en"/>
              <a:t>3</a:t>
            </a:r>
            <a:r>
              <a:rPr b="1" lang="en"/>
              <a:t> = A X A X A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</a:t>
            </a:r>
            <a:r>
              <a:rPr b="1" baseline="30000" lang="en"/>
              <a:t>k</a:t>
            </a:r>
            <a:r>
              <a:rPr b="1" lang="en"/>
              <a:t> = A X A X A ....(k times) </a:t>
            </a:r>
            <a:endParaRPr b="1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