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9144000"/>
  <p:notesSz cx="6858000" cy="9144000"/>
  <p:embeddedFontLst>
    <p:embeddedFont>
      <p:font typeface="Cabin"/>
      <p:regular r:id="rId19"/>
      <p:bold r:id="rId20"/>
      <p:italic r:id="rId21"/>
      <p:boldItalic r:id="rId22"/>
    </p:embeddedFont>
    <p:embeddedFont>
      <p:font typeface="Domine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-bold.fntdata"/><Relationship Id="rId11" Type="http://schemas.openxmlformats.org/officeDocument/2006/relationships/slide" Target="slides/slide7.xml"/><Relationship Id="rId22" Type="http://schemas.openxmlformats.org/officeDocument/2006/relationships/font" Target="fonts/Cabin-boldItalic.fntdata"/><Relationship Id="rId10" Type="http://schemas.openxmlformats.org/officeDocument/2006/relationships/slide" Target="slides/slide6.xml"/><Relationship Id="rId21" Type="http://schemas.openxmlformats.org/officeDocument/2006/relationships/font" Target="fonts/Cabin-italic.fntdata"/><Relationship Id="rId13" Type="http://schemas.openxmlformats.org/officeDocument/2006/relationships/slide" Target="slides/slide9.xml"/><Relationship Id="rId24" Type="http://schemas.openxmlformats.org/officeDocument/2006/relationships/font" Target="fonts/Domine-bold.fntdata"/><Relationship Id="rId12" Type="http://schemas.openxmlformats.org/officeDocument/2006/relationships/slide" Target="slides/slide8.xml"/><Relationship Id="rId23" Type="http://schemas.openxmlformats.org/officeDocument/2006/relationships/font" Target="fonts/Domin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abin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ce274a8_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ce274a8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Flows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Communication/Information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energy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resources, exchanges, goods &amp; services, trade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evaluations, like and dislike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influence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people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authority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kinship</a:t>
            </a:r>
            <a:endParaRPr b="0" i="0" sz="1800" u="none" cap="none" strike="noStrike"/>
          </a:p>
        </p:txBody>
      </p:sp>
      <p:sp>
        <p:nvSpPr>
          <p:cNvPr id="120" name="Google Shape;120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Path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Evolutionary Model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Generative Model:  simple rules governing processes which generate observed patterns (emerge);  grow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Demographic models  (states and flows)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Distributions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/>
              <a:t>	e.g. normal, gassian, gen process random variation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75" name="Google Shape;175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</p:txBody>
      </p:sp>
      <p:sp>
        <p:nvSpPr>
          <p:cNvPr id="182" name="Google Shape;182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 b="0" i="0" sz="1200" u="none" cap="none" strike="noStrik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ce274a8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ce274a8_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omine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Domine"/>
              <a:buNone/>
              <a:defRPr/>
            </a:lvl1pPr>
            <a:lvl2pPr indent="0" lvl="1" marL="457200" marR="0" rtl="0" algn="ctr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None/>
              <a:defRPr/>
            </a:lvl2pPr>
            <a:lvl3pPr indent="0" lvl="2" marL="914400" marR="0" rtl="0" algn="ctr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None/>
              <a:defRPr/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None/>
              <a:defRPr/>
            </a:lvl4pPr>
            <a:lvl5pPr indent="0" lvl="4" marL="1828800" marR="0" rtl="0" algn="ctr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None/>
              <a:defRPr/>
            </a:lvl5pPr>
            <a:lvl6pPr indent="0" lvl="5" marL="2286000" marR="0" rtl="0" algn="ctr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None/>
              <a:defRPr/>
            </a:lvl6pPr>
            <a:lvl7pPr indent="0" lvl="6" marL="2743200" marR="0" rtl="0" algn="ctr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Cabin"/>
              <a:buNone/>
              <a:defRPr/>
            </a:lvl7pPr>
            <a:lvl8pPr indent="0" lvl="7" marL="3200400" marR="0" rtl="0" algn="ctr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None/>
              <a:defRPr/>
            </a:lvl8pPr>
            <a:lvl9pPr indent="0" lvl="8" marL="3657600" marR="0" rtl="0" algn="ctr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Cabin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33" name="Google Shape;33;p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Cabin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Cabin"/>
              <a:buChar char="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bin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bin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bi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bin"/>
              <a:buNone/>
              <a:defRPr/>
            </a:lvl4pPr>
            <a:lvl5pPr indent="-228600" lvl="4" marL="2286000" rtl="0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bin"/>
              <a:buNone/>
              <a:defRPr/>
            </a:lvl5pPr>
            <a:lvl6pPr indent="-317500" lvl="5" marL="27432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6pPr>
            <a:lvl7pPr indent="-317500" lvl="6" marL="32004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7pPr>
            <a:lvl8pPr indent="-317500" lvl="7" marL="36576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8pPr>
            <a:lvl9pPr indent="-317500" lvl="8" marL="41148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47" name="Google Shape;47;p5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Cabin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Cabin"/>
              <a:buChar char=""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Cabin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Cabin"/>
              <a:buChar char="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bin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bi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bin"/>
              <a:buNone/>
              <a:defRPr/>
            </a:lvl4pPr>
            <a:lvl5pPr indent="-228600" lvl="4" marL="2286000" rtl="0">
              <a:spcBef>
                <a:spcPts val="300"/>
              </a:spcBef>
              <a:spcAft>
                <a:spcPts val="0"/>
              </a:spcAft>
              <a:buSzPts val="1400"/>
              <a:buFont typeface="Cabin"/>
              <a:buNone/>
              <a:defRPr/>
            </a:lvl5pPr>
            <a:lvl6pPr indent="-317500" lvl="5" marL="27432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6pPr>
            <a:lvl7pPr indent="-317500" lvl="6" marL="32004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7pPr>
            <a:lvl8pPr indent="-317500" lvl="7" marL="36576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8pPr>
            <a:lvl9pPr indent="-317500" lvl="8" marL="41148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None/>
              <a:defRPr/>
            </a:lvl1pPr>
            <a:lvl2pPr indent="-228600" lvl="1" marL="914400" rtl="0">
              <a:spcBef>
                <a:spcPts val="500"/>
              </a:spcBef>
              <a:spcAft>
                <a:spcPts val="0"/>
              </a:spcAft>
              <a:buSzPts val="1400"/>
              <a:buFont typeface="Cabin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bi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bin"/>
              <a:buNone/>
              <a:defRPr/>
            </a:lvl4pPr>
            <a:lvl5pPr indent="-228600" lvl="4" marL="2286000" rtl="0">
              <a:spcBef>
                <a:spcPts val="300"/>
              </a:spcBef>
              <a:spcAft>
                <a:spcPts val="0"/>
              </a:spcAft>
              <a:buSzPts val="1400"/>
              <a:buFont typeface="Cabin"/>
              <a:buNone/>
              <a:defRPr/>
            </a:lvl5pPr>
            <a:lvl6pPr indent="-317500" lvl="5" marL="27432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6pPr>
            <a:lvl7pPr indent="-317500" lvl="6" marL="32004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7pPr>
            <a:lvl8pPr indent="-317500" lvl="7" marL="36576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8pPr>
            <a:lvl9pPr indent="-317500" lvl="8" marL="41148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56" name="Google Shape;56;p6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Cabin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Cabin"/>
              <a:buChar char="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Cabin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Cabin"/>
              <a:buChar char="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cxnSp>
        <p:nvCxnSpPr>
          <p:cNvPr id="68" name="Google Shape;68;p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bin"/>
              <a:buNone/>
              <a:defRPr/>
            </a:lvl1pPr>
            <a:lvl2pPr indent="-228600" lvl="1" marL="914400" rtl="0">
              <a:spcBef>
                <a:spcPts val="1000"/>
              </a:spcBef>
              <a:spcAft>
                <a:spcPts val="0"/>
              </a:spcAft>
              <a:buSzPts val="1400"/>
              <a:buFont typeface="Cabin"/>
              <a:buNone/>
              <a:defRPr/>
            </a:lvl2pPr>
            <a:lvl3pPr indent="-228600" lvl="2" marL="1371600" rtl="0">
              <a:spcBef>
                <a:spcPts val="500"/>
              </a:spcBef>
              <a:spcAft>
                <a:spcPts val="0"/>
              </a:spcAft>
              <a:buSzPts val="1400"/>
              <a:buFont typeface="Cabin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bin"/>
              <a:buNone/>
              <a:defRPr/>
            </a:lvl4pPr>
            <a:lvl5pPr indent="-228600" lvl="4" marL="2286000" rtl="0">
              <a:spcBef>
                <a:spcPts val="300"/>
              </a:spcBef>
              <a:spcAft>
                <a:spcPts val="0"/>
              </a:spcAft>
              <a:buSzPts val="1400"/>
              <a:buFont typeface="Cabin"/>
              <a:buNone/>
              <a:defRPr/>
            </a:lvl5pPr>
            <a:lvl6pPr indent="-317500" lvl="5" marL="27432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6pPr>
            <a:lvl7pPr indent="-317500" lvl="6" marL="32004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7pPr>
            <a:lvl8pPr indent="-317500" lvl="7" marL="36576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8pPr>
            <a:lvl9pPr indent="-317500" lvl="8" marL="41148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cxnSp>
        <p:nvCxnSpPr>
          <p:cNvPr id="76" name="Google Shape;76;p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9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Cabin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Cabin"/>
              <a:buChar char="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0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rgbClr val="BBBBBB"/>
          </a:solidFill>
          <a:ln>
            <a:noFill/>
          </a:ln>
        </p:spPr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spcBef>
                <a:spcPts val="600"/>
              </a:spcBef>
              <a:spcAft>
                <a:spcPts val="0"/>
              </a:spcAft>
              <a:buSzPts val="1400"/>
              <a:buFont typeface="Cabin"/>
              <a:buNone/>
              <a:defRPr/>
            </a:lvl1pPr>
            <a:lvl2pPr indent="-317500" lvl="1" marL="914400" rtl="0">
              <a:spcBef>
                <a:spcPts val="500"/>
              </a:spcBef>
              <a:spcAft>
                <a:spcPts val="0"/>
              </a:spcAft>
              <a:buSzPts val="1400"/>
              <a:buChar char=""/>
              <a:defRPr/>
            </a:lvl2pPr>
            <a:lvl3pPr indent="-317500" lvl="2" marL="1371600" rtl="0">
              <a:spcBef>
                <a:spcPts val="500"/>
              </a:spcBef>
              <a:spcAft>
                <a:spcPts val="0"/>
              </a:spcAft>
              <a:buSzPts val="1400"/>
              <a:buChar char="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◻"/>
              <a:defRPr/>
            </a:lvl4pPr>
            <a:lvl5pPr indent="-317500" lvl="4" marL="2286000" rtl="0">
              <a:spcBef>
                <a:spcPts val="300"/>
              </a:spcBef>
              <a:spcAft>
                <a:spcPts val="0"/>
              </a:spcAft>
              <a:buSzPts val="1400"/>
              <a:buChar char="◻"/>
              <a:defRPr/>
            </a:lvl5pPr>
            <a:lvl6pPr indent="-317500" lvl="5" marL="27432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6pPr>
            <a:lvl7pPr indent="-317500" lvl="6" marL="32004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7pPr>
            <a:lvl8pPr indent="-317500" lvl="7" marL="36576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8pPr>
            <a:lvl9pPr indent="-317500" lvl="8" marL="4114800" rtl="0">
              <a:spcBef>
                <a:spcPts val="300"/>
              </a:spcBef>
              <a:spcAft>
                <a:spcPts val="0"/>
              </a:spcAft>
              <a:buSzPts val="1400"/>
              <a:buChar char=""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1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Cabin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Cabin"/>
              <a:buChar char=""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"/>
              <a:defRPr/>
            </a:lvl1pPr>
            <a:lvl2pPr indent="-3175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"/>
              <a:defRPr/>
            </a:lvl2pPr>
            <a:lvl3pPr indent="-317500" lvl="2" marL="137160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◻"/>
              <a:defRPr/>
            </a:lvl4pPr>
            <a:lvl5pPr indent="-317500" lvl="4" marL="228600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◻"/>
              <a:defRPr/>
            </a:lvl5pPr>
            <a:lvl6pPr indent="-317500" lvl="5" marL="274320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"/>
              <a:defRPr/>
            </a:lvl6pPr>
            <a:lvl7pPr indent="-317500" lvl="6" marL="320040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Cabin"/>
              <a:buChar char=""/>
              <a:defRPr/>
            </a:lvl7pPr>
            <a:lvl8pPr indent="-317500" lvl="7" marL="365760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8pPr>
            <a:lvl9pPr indent="-317500" lvl="8" marL="411480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Cabin"/>
              <a:buChar char="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cxnSp>
        <p:nvCxnSpPr>
          <p:cNvPr id="102" name="Google Shape;102;p1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1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104" name="Google Shape;104;p12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omine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"/>
              <a:defRPr/>
            </a:lvl1pPr>
            <a:lvl2pPr indent="-317500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"/>
              <a:defRPr/>
            </a:lvl2pPr>
            <a:lvl3pPr indent="-317500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◻"/>
              <a:defRPr/>
            </a:lvl4pPr>
            <a:lvl5pPr indent="-3175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◻"/>
              <a:defRPr/>
            </a:lvl5pPr>
            <a:lvl6pPr indent="-3175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CA2B4"/>
              </a:buClr>
              <a:buSzPts val="1400"/>
              <a:buFont typeface="Cabin"/>
              <a:buChar char=""/>
              <a:defRPr/>
            </a:lvl6pPr>
            <a:lvl7pPr indent="-317500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D8F"/>
              </a:buClr>
              <a:buSzPts val="1400"/>
              <a:buFont typeface="Cabin"/>
              <a:buChar char=""/>
              <a:defRPr/>
            </a:lvl7pPr>
            <a:lvl8pPr indent="-317500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Cabin"/>
              <a:buChar char=""/>
              <a:defRPr/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1400"/>
              <a:buFont typeface="Cabin"/>
              <a:buChar char=""/>
              <a:defRPr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buNone/>
              <a:defRPr/>
            </a:lvl1pPr>
            <a:lvl2pPr indent="0" lvl="1" marL="0" marR="0" rtl="0" algn="l">
              <a:buNone/>
              <a:defRPr/>
            </a:lvl2pPr>
            <a:lvl3pPr indent="0" lvl="2" marL="0" marR="0" rtl="0" algn="l">
              <a:buNone/>
              <a:defRPr/>
            </a:lvl3pPr>
            <a:lvl4pPr indent="0" lvl="3" marL="0" marR="0" rtl="0" algn="l">
              <a:buNone/>
              <a:defRPr/>
            </a:lvl4pPr>
            <a:lvl5pPr indent="0" lvl="4" marL="0" marR="0" rtl="0" algn="l">
              <a:buNone/>
              <a:defRPr/>
            </a:lvl5pPr>
            <a:lvl6pPr indent="0" lvl="5" marL="0" marR="0" rtl="0" algn="l">
              <a:buNone/>
              <a:defRPr/>
            </a:lvl6pPr>
            <a:lvl7pPr indent="0" lvl="6" marL="0" marR="0" rtl="0" algn="l">
              <a:buNone/>
              <a:defRPr/>
            </a:lvl7pPr>
            <a:lvl8pPr indent="0" lvl="7" marL="0" marR="0" rtl="0" algn="l">
              <a:buNone/>
              <a:defRPr/>
            </a:lvl8pPr>
            <a:lvl9pPr indent="0" lvl="8" marL="0" marR="0" rtl="0" algn="l">
              <a:buNone/>
              <a:defRPr/>
            </a:lvl9pPr>
          </a:lstStyle>
          <a:p>
            <a:pPr indent="-88900" lvl="0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1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insna.org/" TargetMode="External"/><Relationship Id="rId4" Type="http://schemas.openxmlformats.org/officeDocument/2006/relationships/hyperlink" Target="http://netsci2011.net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icensa.nd.ed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Social Network</a:t>
            </a:r>
            <a:r>
              <a:rPr lang="en-US" sz="3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s  -- An Introduction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10" name="Google Shape;110;p1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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Social Networks are in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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Facebook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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Networking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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Exponential growth in research, papers, articles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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Social Networks have always existed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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kinship networks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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friendship networks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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trading networks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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alliances among countries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937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bin"/>
              <a:buChar char=""/>
            </a:pPr>
            <a:r>
              <a:rPr lang="en-US" sz="26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But people did not “think” in network terms</a:t>
            </a:r>
            <a:endParaRPr sz="26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Behavior</a:t>
            </a:r>
            <a:endParaRPr/>
          </a:p>
        </p:txBody>
      </p:sp>
      <p:sp>
        <p:nvSpPr>
          <p:cNvPr id="116" name="Google Shape;116;p14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Seeing Networks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23" name="Google Shape;123;p15"/>
          <p:cNvSpPr txBox="1"/>
          <p:nvPr>
            <p:ph idx="1" type="body"/>
          </p:nvPr>
        </p:nvSpPr>
        <p:spPr>
          <a:xfrm>
            <a:off x="685800" y="12954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Networks as connectors</a:t>
            </a:r>
            <a:endParaRPr/>
          </a:p>
          <a:p>
            <a:pPr indent="-274320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Other connectors:  social relationships, groups, organizations</a:t>
            </a:r>
            <a:endParaRPr/>
          </a:p>
          <a:p>
            <a:pPr indent="-274320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Connect the Dots Metaphor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Dots:  Nodes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Cabin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People, organizations, places, ideas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Lines:  Ties (edges)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Cabin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Interaction, friendship, exchange, authority, lineage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Flows 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Cabin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Information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Cabin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resources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Cabin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evaluations  (like, dislike)</a:t>
            </a:r>
            <a:endParaRPr/>
          </a:p>
          <a:p>
            <a:pPr indent="-238760" lvl="2" marL="82296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Cabin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people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Why Study Networks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Determinants of human behavior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Standard theories:  Categories (taxonomies) 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Network Theory:  network effects, social influence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Non-independence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Intermediation &amp; indirect ties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What Do Networks Do?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Diffusion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Exchange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Support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Inclusion/Exclusion (Access)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The Network Field:  Four Sources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Mathematics – Graph Theory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Anthropology (kinship networks)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Social Networks (</a:t>
            </a:r>
            <a:r>
              <a:rPr b="0" i="0" lang="en-US" sz="2600" u="sng" cap="none" strike="noStrik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INSNA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 Science (</a:t>
            </a:r>
            <a:r>
              <a:rPr b="0" i="0" lang="en-US" sz="2600" u="sng" cap="none" strike="noStrik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NetSci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Current State of Research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Exponential Growth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Interdisciplinary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Game changing  </a:t>
            </a:r>
            <a:endParaRPr/>
          </a:p>
          <a:p>
            <a:pPr indent="-238760" lvl="2" marL="822960" marR="0" rtl="0" algn="l">
              <a:spcBef>
                <a:spcPts val="500"/>
              </a:spcBef>
              <a:spcAft>
                <a:spcPts val="0"/>
              </a:spcAft>
              <a:buClr>
                <a:srgbClr val="BBBBBB"/>
              </a:buClr>
              <a:buSzPts val="1520"/>
              <a:buFont typeface="Cabin"/>
              <a:buChar char=""/>
            </a:pPr>
            <a:r>
              <a:rPr b="0" i="0" lang="en-US" sz="20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complex, dynamic, distributed systems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Social Media (Facebook, Twitter)</a:t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Levels of Analysis 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Node (Vertices)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Dyad (Ties, Edges)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Triad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Clusters (communities)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Whole Network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Node (Vertices)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Degree (network size, neighbors, popularity, in &amp; out degree)</a:t>
            </a:r>
            <a:endParaRPr/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Centrality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Gregariousness (activity level)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Composition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Redundancy, Clustering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Dyad (Ties, Edges)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Strength (Weight)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Frequency, duration, closeness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Reciprocity  (Mutuality, Symmetry)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Social Distance, Homophily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Hierarchy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Persistence/Decay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Formation</a:t>
            </a:r>
            <a:endParaRPr b="0" i="0" sz="26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Triads and Clusters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Triads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Transitivity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Closure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Embeddedness</a:t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Triadic Census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Clusters (Communities)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Cliques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Bridges (cross cutting ties)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Whole Network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Cabin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Size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Cabin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Density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Cabin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Degree distribution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Cabin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 topologies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82"/>
              <a:buFont typeface="Cabin"/>
              <a:buChar char=""/>
            </a:pPr>
            <a:r>
              <a:rPr b="0" i="0" lang="en-US" sz="19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core/periphery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Cabin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Clustering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Cabin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Connectivity 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82"/>
              <a:buFont typeface="Cabin"/>
              <a:buChar char=""/>
            </a:pPr>
            <a:r>
              <a:rPr b="0" i="0" lang="en-US" sz="19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giant component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82"/>
              <a:buFont typeface="Cabin"/>
              <a:buChar char=""/>
            </a:pPr>
            <a:r>
              <a:rPr b="0" i="0" lang="en-US" sz="19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resilience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Cabin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Geodesic distance/size/diameter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82"/>
              <a:buFont typeface="Cabin"/>
              <a:buChar char=""/>
            </a:pPr>
            <a:r>
              <a:rPr b="0" i="0" lang="en-US" sz="19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Small World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Cabin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Mixing Patterns (assortativity)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82"/>
              <a:buFont typeface="Cabin"/>
              <a:buChar char=""/>
            </a:pPr>
            <a:r>
              <a:rPr b="0" i="0" lang="en-US" sz="19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degree assortativity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Cabin"/>
              <a:buChar char=""/>
            </a:pPr>
            <a:r>
              <a:rPr b="0" i="0" lang="en-US" sz="22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Stability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Research Issues</a:t>
            </a:r>
            <a:endParaRPr b="1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Strength of weak ties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Structural Holes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Cross-cutting ties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Bridging and bonding social capital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Intermediation &amp; Brokerage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Scale-free networks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not normally distributed but power laws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Hubs and star configuration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Core/Periphery structures</a:t>
            </a:r>
            <a:endParaRPr/>
          </a:p>
          <a:p>
            <a:pPr indent="-281940" lvl="1" marL="54864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motifs</a:t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Weights and Reciprocity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Research Issues (continued)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85" name="Google Shape;185;p2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Cabin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Emergence, self-organization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Cabin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local →  global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Cabin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Agent based models</a:t>
            </a:r>
            <a:endParaRPr b="0" i="0" sz="215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Cabin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Network Evolution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Cabin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Tie Formation vs. Persistence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Cabin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Assembling Networks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Cabin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Generative Models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Cabin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Diffusion, influence, contagion</a:t>
            </a:r>
            <a:endParaRPr/>
          </a:p>
          <a:p>
            <a:pPr indent="-28194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34"/>
              <a:buFont typeface="Cabin"/>
              <a:buChar char=""/>
            </a:pPr>
            <a:r>
              <a:rPr b="0" i="0" lang="en-US" sz="215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Network effects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Cabin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What is different about social networks?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Cabin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What is a “good” network?  What properties can networks maximize?</a:t>
            </a:r>
            <a:endParaRPr/>
          </a:p>
          <a:p>
            <a:pPr indent="-274320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Cabin"/>
              <a:buChar char=""/>
            </a:pPr>
            <a:r>
              <a:rPr b="0" i="0" lang="en-US" sz="24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Connections among networks (social, technical, information, semantic)</a:t>
            </a:r>
            <a:endParaRPr/>
          </a:p>
          <a:p>
            <a:pPr indent="-158255" lvl="0" marL="27432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8"/>
              <a:buFont typeface="Cabin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Domine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Social Network</a:t>
            </a:r>
            <a:r>
              <a:rPr lang="en-US" sz="3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s  -- An Introduction</a:t>
            </a:r>
            <a:endParaRPr b="0" i="0" sz="3200" u="none" cap="none" strike="noStrike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Char char=""/>
            </a:pPr>
            <a:r>
              <a:rPr b="0" i="0" lang="en-US" sz="2600" u="none" cap="none" strike="noStrik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My Interests in Networks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Job mobility, vacancy chains, event history analysis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Granovetter &amp; Burt:  Finding jobs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Web Group:  Barabasi and others, </a:t>
            </a:r>
            <a:endParaRPr/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sng" cap="none" strike="noStrik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iCeNSA</a:t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281940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Char char=""/>
            </a:pPr>
            <a:r>
              <a:rPr b="0" i="0" lang="en-US" sz="2300" u="none" cap="none" strike="noStrik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Research Projects</a:t>
            </a:r>
            <a:endParaRPr/>
          </a:p>
          <a:p>
            <a:pPr indent="-170942" lvl="1" marL="54864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Cabin"/>
              <a:buNone/>
            </a:pPr>
            <a:r>
              <a:t/>
            </a:r>
            <a:endParaRPr b="0" i="0" sz="2300" u="none" cap="none" strike="noStrik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148844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Cabin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