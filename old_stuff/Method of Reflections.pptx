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373204-AA46-43D7-88E9-3046488C6F8A}">
  <a:tblStyle styleId="{9D373204-AA46-43D7-88E9-3046488C6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733d822a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733d822a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33d822a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33d822a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599275" y="18749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E1</a:t>
            </a:r>
            <a:endParaRPr sz="800"/>
          </a:p>
        </p:txBody>
      </p:sp>
      <p:sp>
        <p:nvSpPr>
          <p:cNvPr id="55" name="Google Shape;55;p13"/>
          <p:cNvSpPr txBox="1"/>
          <p:nvPr/>
        </p:nvSpPr>
        <p:spPr>
          <a:xfrm>
            <a:off x="4623888" y="18749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E2</a:t>
            </a:r>
            <a:endParaRPr sz="800"/>
          </a:p>
        </p:txBody>
      </p:sp>
      <p:sp>
        <p:nvSpPr>
          <p:cNvPr id="56" name="Google Shape;56;p13"/>
          <p:cNvSpPr txBox="1"/>
          <p:nvPr/>
        </p:nvSpPr>
        <p:spPr>
          <a:xfrm>
            <a:off x="5620450" y="18749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E3</a:t>
            </a:r>
            <a:endParaRPr sz="1000"/>
          </a:p>
        </p:txBody>
      </p:sp>
      <p:sp>
        <p:nvSpPr>
          <p:cNvPr id="57" name="Google Shape;57;p13"/>
          <p:cNvSpPr txBox="1"/>
          <p:nvPr/>
        </p:nvSpPr>
        <p:spPr>
          <a:xfrm>
            <a:off x="6617000" y="18749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E4</a:t>
            </a:r>
            <a:endParaRPr sz="1000"/>
          </a:p>
        </p:txBody>
      </p:sp>
      <p:sp>
        <p:nvSpPr>
          <p:cNvPr id="58" name="Google Shape;58;p13"/>
          <p:cNvSpPr txBox="1"/>
          <p:nvPr/>
        </p:nvSpPr>
        <p:spPr>
          <a:xfrm>
            <a:off x="4145825" y="30530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P1</a:t>
            </a:r>
            <a:endParaRPr sz="800"/>
          </a:p>
        </p:txBody>
      </p:sp>
      <p:sp>
        <p:nvSpPr>
          <p:cNvPr id="59" name="Google Shape;59;p13"/>
          <p:cNvSpPr txBox="1"/>
          <p:nvPr/>
        </p:nvSpPr>
        <p:spPr>
          <a:xfrm>
            <a:off x="5129275" y="30530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P2</a:t>
            </a:r>
            <a:endParaRPr sz="1000"/>
          </a:p>
        </p:txBody>
      </p:sp>
      <p:sp>
        <p:nvSpPr>
          <p:cNvPr id="60" name="Google Shape;60;p13"/>
          <p:cNvSpPr txBox="1"/>
          <p:nvPr/>
        </p:nvSpPr>
        <p:spPr>
          <a:xfrm>
            <a:off x="6015000" y="30530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P3</a:t>
            </a:r>
            <a:endParaRPr sz="1000"/>
          </a:p>
        </p:txBody>
      </p:sp>
      <p:cxnSp>
        <p:nvCxnSpPr>
          <p:cNvPr id="61" name="Google Shape;61;p13"/>
          <p:cNvCxnSpPr>
            <a:stCxn id="58" idx="0"/>
            <a:endCxn id="55" idx="2"/>
          </p:cNvCxnSpPr>
          <p:nvPr/>
        </p:nvCxnSpPr>
        <p:spPr>
          <a:xfrm flipH="1" rot="10800000">
            <a:off x="4303025" y="2189375"/>
            <a:ext cx="4782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3"/>
          <p:cNvCxnSpPr>
            <a:stCxn id="59" idx="0"/>
            <a:endCxn id="54" idx="2"/>
          </p:cNvCxnSpPr>
          <p:nvPr/>
        </p:nvCxnSpPr>
        <p:spPr>
          <a:xfrm rot="10800000">
            <a:off x="3756475" y="2189375"/>
            <a:ext cx="15300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3"/>
          <p:cNvCxnSpPr>
            <a:stCxn id="59" idx="0"/>
            <a:endCxn id="55" idx="2"/>
          </p:cNvCxnSpPr>
          <p:nvPr/>
        </p:nvCxnSpPr>
        <p:spPr>
          <a:xfrm rot="10800000">
            <a:off x="4780975" y="2189375"/>
            <a:ext cx="5055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>
            <a:stCxn id="59" idx="0"/>
            <a:endCxn id="56" idx="2"/>
          </p:cNvCxnSpPr>
          <p:nvPr/>
        </p:nvCxnSpPr>
        <p:spPr>
          <a:xfrm flipH="1" rot="10800000">
            <a:off x="5286475" y="2189375"/>
            <a:ext cx="4911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3"/>
          <p:cNvCxnSpPr>
            <a:stCxn id="59" idx="0"/>
            <a:endCxn id="57" idx="2"/>
          </p:cNvCxnSpPr>
          <p:nvPr/>
        </p:nvCxnSpPr>
        <p:spPr>
          <a:xfrm flipH="1" rot="10800000">
            <a:off x="5286475" y="2189375"/>
            <a:ext cx="14877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3"/>
          <p:cNvCxnSpPr>
            <a:stCxn id="60" idx="0"/>
            <a:endCxn id="56" idx="2"/>
          </p:cNvCxnSpPr>
          <p:nvPr/>
        </p:nvCxnSpPr>
        <p:spPr>
          <a:xfrm rot="10800000">
            <a:off x="5777700" y="2189375"/>
            <a:ext cx="3945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>
            <a:stCxn id="60" idx="0"/>
            <a:endCxn id="57" idx="2"/>
          </p:cNvCxnSpPr>
          <p:nvPr/>
        </p:nvCxnSpPr>
        <p:spPr>
          <a:xfrm flipH="1" rot="10800000">
            <a:off x="6172200" y="2189375"/>
            <a:ext cx="6021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68" name="Google Shape;68;p13"/>
          <p:cNvGraphicFramePr/>
          <p:nvPr/>
        </p:nvGraphicFramePr>
        <p:xfrm>
          <a:off x="787925" y="40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{9D373204-AA46-43D7-88E9-3046488C6F8A}</a:tableStyleId>
              </a:tblPr>
              <a:tblGrid>
                <a:gridCol w="2792775"/>
                <a:gridCol w="764650"/>
                <a:gridCol w="1035650"/>
                <a:gridCol w="966475"/>
                <a:gridCol w="973925"/>
              </a:tblGrid>
              <a:tr h="2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Size/Ubiquity of Event (# people attend)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Av. Diversity of People Attending the Event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4/1=4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7/2=3.5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9/3=3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9/3=3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Av Size/Ubiquity of similar events (2-path)</a:t>
                      </a:r>
                      <a:br>
                        <a:rPr lang="en" sz="800"/>
                      </a:br>
                      <a:r>
                        <a:rPr lang="en" sz="800"/>
                        <a:t>Are the other events that people that go to this event also go to more or less larger than this event?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8/3=2.7</a:t>
                      </a:r>
                      <a:br>
                        <a:rPr lang="en" sz="800"/>
                      </a:br>
                      <a:r>
                        <a:rPr lang="en" sz="800"/>
                        <a:t>(E2,E3,E4)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7/3=2.5</a:t>
                      </a:r>
                      <a:br>
                        <a:rPr lang="en" sz="800"/>
                      </a:br>
                      <a:r>
                        <a:rPr lang="en" sz="800"/>
                        <a:t>(E1,E3,E4)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6/3=3</a:t>
                      </a:r>
                      <a:br>
                        <a:rPr lang="en" sz="800"/>
                      </a:br>
                      <a:r>
                        <a:rPr lang="en" sz="800"/>
                        <a:t>(E1,E2,E4)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6/3=3</a:t>
                      </a:r>
                      <a:br>
                        <a:rPr lang="en" sz="800"/>
                      </a:br>
                      <a:r>
                        <a:rPr lang="en" sz="800"/>
                        <a:t>(E1,E2,E3)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69" name="Google Shape;69;p13"/>
          <p:cNvCxnSpPr>
            <a:stCxn id="58" idx="0"/>
            <a:endCxn id="56" idx="2"/>
          </p:cNvCxnSpPr>
          <p:nvPr/>
        </p:nvCxnSpPr>
        <p:spPr>
          <a:xfrm flipH="1" rot="10800000">
            <a:off x="4303025" y="2189375"/>
            <a:ext cx="14745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3"/>
          <p:cNvCxnSpPr>
            <a:stCxn id="58" idx="0"/>
            <a:endCxn id="57" idx="2"/>
          </p:cNvCxnSpPr>
          <p:nvPr/>
        </p:nvCxnSpPr>
        <p:spPr>
          <a:xfrm flipH="1" rot="10800000">
            <a:off x="4303025" y="2189375"/>
            <a:ext cx="24711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71" name="Google Shape;71;p13"/>
          <p:cNvGraphicFramePr/>
          <p:nvPr/>
        </p:nvGraphicFramePr>
        <p:xfrm>
          <a:off x="745675" y="366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{9D373204-AA46-43D7-88E9-3046488C6F8A}</a:tableStyleId>
              </a:tblPr>
              <a:tblGrid>
                <a:gridCol w="3005300"/>
                <a:gridCol w="1084875"/>
                <a:gridCol w="942275"/>
                <a:gridCol w="950200"/>
              </a:tblGrid>
              <a:tr h="2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Diversity of People (# events attend)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Av. Size/Ubiquity of Events that this person goes to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8/3=2.7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9/4=2.25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6/2=3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Av. Diversity of similar people (2-path</a:t>
                      </a:r>
                      <a:br>
                        <a:rPr lang="en" sz="800"/>
                      </a:br>
                      <a:r>
                        <a:rPr lang="en" sz="800"/>
                        <a:t>Are the other people who go to the same events more or less diverse than this person?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6/2=3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5/2=2.5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7/2=3.5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3599275" y="16463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E1</a:t>
            </a:r>
            <a:endParaRPr sz="800"/>
          </a:p>
        </p:txBody>
      </p:sp>
      <p:sp>
        <p:nvSpPr>
          <p:cNvPr id="77" name="Google Shape;77;p14"/>
          <p:cNvSpPr txBox="1"/>
          <p:nvPr/>
        </p:nvSpPr>
        <p:spPr>
          <a:xfrm>
            <a:off x="4623888" y="16463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E2</a:t>
            </a:r>
            <a:endParaRPr sz="800"/>
          </a:p>
        </p:txBody>
      </p:sp>
      <p:sp>
        <p:nvSpPr>
          <p:cNvPr id="78" name="Google Shape;78;p14"/>
          <p:cNvSpPr txBox="1"/>
          <p:nvPr/>
        </p:nvSpPr>
        <p:spPr>
          <a:xfrm>
            <a:off x="5620450" y="16463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E3</a:t>
            </a:r>
            <a:endParaRPr sz="1000"/>
          </a:p>
        </p:txBody>
      </p:sp>
      <p:sp>
        <p:nvSpPr>
          <p:cNvPr id="79" name="Google Shape;79;p14"/>
          <p:cNvSpPr txBox="1"/>
          <p:nvPr/>
        </p:nvSpPr>
        <p:spPr>
          <a:xfrm>
            <a:off x="6617000" y="16463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E4</a:t>
            </a:r>
            <a:endParaRPr sz="1000"/>
          </a:p>
        </p:txBody>
      </p:sp>
      <p:sp>
        <p:nvSpPr>
          <p:cNvPr id="80" name="Google Shape;80;p14"/>
          <p:cNvSpPr txBox="1"/>
          <p:nvPr/>
        </p:nvSpPr>
        <p:spPr>
          <a:xfrm>
            <a:off x="4145825" y="28244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P1</a:t>
            </a:r>
            <a:endParaRPr sz="800"/>
          </a:p>
        </p:txBody>
      </p:sp>
      <p:sp>
        <p:nvSpPr>
          <p:cNvPr id="81" name="Google Shape;81;p14"/>
          <p:cNvSpPr txBox="1"/>
          <p:nvPr/>
        </p:nvSpPr>
        <p:spPr>
          <a:xfrm>
            <a:off x="5129275" y="28244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P2</a:t>
            </a:r>
            <a:endParaRPr sz="1000"/>
          </a:p>
        </p:txBody>
      </p:sp>
      <p:sp>
        <p:nvSpPr>
          <p:cNvPr id="82" name="Google Shape;82;p14"/>
          <p:cNvSpPr txBox="1"/>
          <p:nvPr/>
        </p:nvSpPr>
        <p:spPr>
          <a:xfrm>
            <a:off x="6015000" y="28244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P3</a:t>
            </a:r>
            <a:endParaRPr sz="1000"/>
          </a:p>
        </p:txBody>
      </p:sp>
      <p:cxnSp>
        <p:nvCxnSpPr>
          <p:cNvPr id="83" name="Google Shape;83;p14"/>
          <p:cNvCxnSpPr>
            <a:stCxn id="80" idx="0"/>
            <a:endCxn id="77" idx="2"/>
          </p:cNvCxnSpPr>
          <p:nvPr/>
        </p:nvCxnSpPr>
        <p:spPr>
          <a:xfrm flipH="1" rot="10800000">
            <a:off x="4303025" y="1960775"/>
            <a:ext cx="4782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4"/>
          <p:cNvCxnSpPr>
            <a:stCxn id="81" idx="0"/>
            <a:endCxn id="76" idx="2"/>
          </p:cNvCxnSpPr>
          <p:nvPr/>
        </p:nvCxnSpPr>
        <p:spPr>
          <a:xfrm rot="10800000">
            <a:off x="3756475" y="1960775"/>
            <a:ext cx="15300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4"/>
          <p:cNvCxnSpPr>
            <a:stCxn id="81" idx="0"/>
            <a:endCxn id="77" idx="2"/>
          </p:cNvCxnSpPr>
          <p:nvPr/>
        </p:nvCxnSpPr>
        <p:spPr>
          <a:xfrm rot="10800000">
            <a:off x="4780975" y="1960775"/>
            <a:ext cx="5055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4"/>
          <p:cNvCxnSpPr>
            <a:stCxn id="81" idx="0"/>
            <a:endCxn id="78" idx="2"/>
          </p:cNvCxnSpPr>
          <p:nvPr/>
        </p:nvCxnSpPr>
        <p:spPr>
          <a:xfrm flipH="1" rot="10800000">
            <a:off x="5286475" y="1960775"/>
            <a:ext cx="4911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4"/>
          <p:cNvCxnSpPr>
            <a:stCxn id="81" idx="0"/>
            <a:endCxn id="79" idx="2"/>
          </p:cNvCxnSpPr>
          <p:nvPr/>
        </p:nvCxnSpPr>
        <p:spPr>
          <a:xfrm flipH="1" rot="10800000">
            <a:off x="5286475" y="1960775"/>
            <a:ext cx="14877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4"/>
          <p:cNvCxnSpPr>
            <a:stCxn id="82" idx="0"/>
            <a:endCxn id="78" idx="2"/>
          </p:cNvCxnSpPr>
          <p:nvPr/>
        </p:nvCxnSpPr>
        <p:spPr>
          <a:xfrm rot="10800000">
            <a:off x="5777700" y="1960775"/>
            <a:ext cx="3945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4"/>
          <p:cNvCxnSpPr>
            <a:stCxn id="82" idx="0"/>
            <a:endCxn id="79" idx="2"/>
          </p:cNvCxnSpPr>
          <p:nvPr/>
        </p:nvCxnSpPr>
        <p:spPr>
          <a:xfrm flipH="1" rot="10800000">
            <a:off x="6172200" y="1960775"/>
            <a:ext cx="6021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0" name="Google Shape;90;p14"/>
          <p:cNvGraphicFramePr/>
          <p:nvPr/>
        </p:nvGraphicFramePr>
        <p:xfrm>
          <a:off x="787925" y="1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{9D373204-AA46-43D7-88E9-3046488C6F8A}</a:tableStyleId>
              </a:tblPr>
              <a:tblGrid>
                <a:gridCol w="2792775"/>
                <a:gridCol w="764650"/>
                <a:gridCol w="1035650"/>
                <a:gridCol w="966475"/>
                <a:gridCol w="973925"/>
              </a:tblGrid>
              <a:tr h="2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Size/Ubiquity of Products (# countries export to)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Av. Diversity of Countries that export  the Product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4/1=4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7/2=3.5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9/3=3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9/3=3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Av Size/Ubiquity of similar products (2-path)</a:t>
                      </a:r>
                      <a:br>
                        <a:rPr lang="en" sz="800"/>
                      </a:br>
                      <a:r>
                        <a:rPr lang="en" sz="800"/>
                        <a:t>Are the other products that countries that export this product also export, exported by more or fewer countries?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8/3=2.7</a:t>
                      </a:r>
                      <a:br>
                        <a:rPr lang="en" sz="800"/>
                      </a:br>
                      <a:r>
                        <a:rPr lang="en" sz="800"/>
                        <a:t>(E2,E3,E4)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7/3=2.5</a:t>
                      </a:r>
                      <a:br>
                        <a:rPr lang="en" sz="800"/>
                      </a:br>
                      <a:r>
                        <a:rPr lang="en" sz="800"/>
                        <a:t>(E1,E3,E4)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6/3=3</a:t>
                      </a:r>
                      <a:br>
                        <a:rPr lang="en" sz="800"/>
                      </a:br>
                      <a:r>
                        <a:rPr lang="en" sz="800"/>
                        <a:t>(E1,E2,E4)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6/3=3</a:t>
                      </a:r>
                      <a:br>
                        <a:rPr lang="en" sz="800"/>
                      </a:br>
                      <a:r>
                        <a:rPr lang="en" sz="800"/>
                        <a:t>(E1,E2,E3)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91" name="Google Shape;91;p14"/>
          <p:cNvCxnSpPr>
            <a:stCxn id="80" idx="0"/>
            <a:endCxn id="78" idx="2"/>
          </p:cNvCxnSpPr>
          <p:nvPr/>
        </p:nvCxnSpPr>
        <p:spPr>
          <a:xfrm flipH="1" rot="10800000">
            <a:off x="4303025" y="1960775"/>
            <a:ext cx="14745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4"/>
          <p:cNvCxnSpPr>
            <a:stCxn id="80" idx="0"/>
            <a:endCxn id="79" idx="2"/>
          </p:cNvCxnSpPr>
          <p:nvPr/>
        </p:nvCxnSpPr>
        <p:spPr>
          <a:xfrm flipH="1" rot="10800000">
            <a:off x="4303025" y="1960775"/>
            <a:ext cx="24711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3" name="Google Shape;93;p14"/>
          <p:cNvGraphicFramePr/>
          <p:nvPr/>
        </p:nvGraphicFramePr>
        <p:xfrm>
          <a:off x="745675" y="343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{9D373204-AA46-43D7-88E9-3046488C6F8A}</a:tableStyleId>
              </a:tblPr>
              <a:tblGrid>
                <a:gridCol w="3005300"/>
                <a:gridCol w="1084875"/>
                <a:gridCol w="942275"/>
                <a:gridCol w="950200"/>
              </a:tblGrid>
              <a:tr h="2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Diversity of Countries (# products exported)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Av. Size/Ubiquity of Products that this country exports</a:t>
                      </a:r>
                      <a:br>
                        <a:rPr lang="en" sz="800"/>
                      </a:br>
                      <a:r>
                        <a:rPr lang="en" sz="800"/>
                        <a:t>(Average number of countries exported  to by the set of products that this country exports)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8/3=2.7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9/4=2.25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6/2=3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Av. Diversity of similar countries (2-path)</a:t>
                      </a:r>
                      <a:br>
                        <a:rPr lang="en" sz="800"/>
                      </a:br>
                      <a:r>
                        <a:rPr lang="en" sz="800"/>
                        <a:t>Are the other countries  who export the same products more or less diverse than this country?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6/2=3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5/2=2.5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7/2=3.5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4" name="Google Shape;94;p14"/>
          <p:cNvSpPr txBox="1"/>
          <p:nvPr/>
        </p:nvSpPr>
        <p:spPr>
          <a:xfrm>
            <a:off x="1175525" y="1646375"/>
            <a:ext cx="1190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Products</a:t>
            </a:r>
            <a:endParaRPr sz="1000"/>
          </a:p>
        </p:txBody>
      </p:sp>
      <p:sp>
        <p:nvSpPr>
          <p:cNvPr id="95" name="Google Shape;95;p14"/>
          <p:cNvSpPr txBox="1"/>
          <p:nvPr/>
        </p:nvSpPr>
        <p:spPr>
          <a:xfrm>
            <a:off x="1167250" y="2742125"/>
            <a:ext cx="1190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Countries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3599275" y="17225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E1</a:t>
            </a:r>
            <a:endParaRPr sz="800"/>
          </a:p>
        </p:txBody>
      </p:sp>
      <p:sp>
        <p:nvSpPr>
          <p:cNvPr id="101" name="Google Shape;101;p15"/>
          <p:cNvSpPr txBox="1"/>
          <p:nvPr/>
        </p:nvSpPr>
        <p:spPr>
          <a:xfrm>
            <a:off x="4623888" y="17225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E2</a:t>
            </a:r>
            <a:endParaRPr sz="800"/>
          </a:p>
        </p:txBody>
      </p:sp>
      <p:sp>
        <p:nvSpPr>
          <p:cNvPr id="102" name="Google Shape;102;p15"/>
          <p:cNvSpPr txBox="1"/>
          <p:nvPr/>
        </p:nvSpPr>
        <p:spPr>
          <a:xfrm>
            <a:off x="5620450" y="17225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E3</a:t>
            </a:r>
            <a:endParaRPr sz="1000"/>
          </a:p>
        </p:txBody>
      </p:sp>
      <p:sp>
        <p:nvSpPr>
          <p:cNvPr id="103" name="Google Shape;103;p15"/>
          <p:cNvSpPr txBox="1"/>
          <p:nvPr/>
        </p:nvSpPr>
        <p:spPr>
          <a:xfrm>
            <a:off x="6617000" y="17225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E4</a:t>
            </a:r>
            <a:endParaRPr sz="1000"/>
          </a:p>
        </p:txBody>
      </p:sp>
      <p:sp>
        <p:nvSpPr>
          <p:cNvPr id="104" name="Google Shape;104;p15"/>
          <p:cNvSpPr txBox="1"/>
          <p:nvPr/>
        </p:nvSpPr>
        <p:spPr>
          <a:xfrm>
            <a:off x="4145825" y="29006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P1</a:t>
            </a:r>
            <a:endParaRPr sz="800"/>
          </a:p>
        </p:txBody>
      </p:sp>
      <p:sp>
        <p:nvSpPr>
          <p:cNvPr id="105" name="Google Shape;105;p15"/>
          <p:cNvSpPr txBox="1"/>
          <p:nvPr/>
        </p:nvSpPr>
        <p:spPr>
          <a:xfrm>
            <a:off x="5129275" y="29006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P2</a:t>
            </a:r>
            <a:endParaRPr sz="1000"/>
          </a:p>
        </p:txBody>
      </p:sp>
      <p:sp>
        <p:nvSpPr>
          <p:cNvPr id="106" name="Google Shape;106;p15"/>
          <p:cNvSpPr txBox="1"/>
          <p:nvPr/>
        </p:nvSpPr>
        <p:spPr>
          <a:xfrm>
            <a:off x="6015000" y="2900675"/>
            <a:ext cx="3144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P3</a:t>
            </a:r>
            <a:endParaRPr sz="1000"/>
          </a:p>
        </p:txBody>
      </p:sp>
      <p:cxnSp>
        <p:nvCxnSpPr>
          <p:cNvPr id="107" name="Google Shape;107;p15"/>
          <p:cNvCxnSpPr>
            <a:stCxn id="104" idx="0"/>
            <a:endCxn id="101" idx="2"/>
          </p:cNvCxnSpPr>
          <p:nvPr/>
        </p:nvCxnSpPr>
        <p:spPr>
          <a:xfrm flipH="1" rot="10800000">
            <a:off x="4303025" y="2036975"/>
            <a:ext cx="4782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5"/>
          <p:cNvCxnSpPr>
            <a:stCxn id="105" idx="0"/>
            <a:endCxn id="100" idx="2"/>
          </p:cNvCxnSpPr>
          <p:nvPr/>
        </p:nvCxnSpPr>
        <p:spPr>
          <a:xfrm rot="10800000">
            <a:off x="3756475" y="2036975"/>
            <a:ext cx="15300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5"/>
          <p:cNvCxnSpPr>
            <a:stCxn id="105" idx="0"/>
            <a:endCxn id="101" idx="2"/>
          </p:cNvCxnSpPr>
          <p:nvPr/>
        </p:nvCxnSpPr>
        <p:spPr>
          <a:xfrm rot="10800000">
            <a:off x="4780975" y="2036975"/>
            <a:ext cx="5055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5"/>
          <p:cNvCxnSpPr>
            <a:stCxn id="105" idx="0"/>
            <a:endCxn id="102" idx="2"/>
          </p:cNvCxnSpPr>
          <p:nvPr/>
        </p:nvCxnSpPr>
        <p:spPr>
          <a:xfrm flipH="1" rot="10800000">
            <a:off x="5286475" y="2036975"/>
            <a:ext cx="4911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5"/>
          <p:cNvCxnSpPr>
            <a:stCxn id="105" idx="0"/>
            <a:endCxn id="103" idx="2"/>
          </p:cNvCxnSpPr>
          <p:nvPr/>
        </p:nvCxnSpPr>
        <p:spPr>
          <a:xfrm flipH="1" rot="10800000">
            <a:off x="5286475" y="2036975"/>
            <a:ext cx="14877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5"/>
          <p:cNvCxnSpPr>
            <a:stCxn id="106" idx="0"/>
            <a:endCxn id="102" idx="2"/>
          </p:cNvCxnSpPr>
          <p:nvPr/>
        </p:nvCxnSpPr>
        <p:spPr>
          <a:xfrm rot="10800000">
            <a:off x="5777700" y="2036975"/>
            <a:ext cx="3945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5"/>
          <p:cNvCxnSpPr>
            <a:stCxn id="106" idx="0"/>
            <a:endCxn id="103" idx="2"/>
          </p:cNvCxnSpPr>
          <p:nvPr/>
        </p:nvCxnSpPr>
        <p:spPr>
          <a:xfrm flipH="1" rot="10800000">
            <a:off x="6172200" y="2036975"/>
            <a:ext cx="6021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4" name="Google Shape;114;p15"/>
          <p:cNvGraphicFramePr/>
          <p:nvPr/>
        </p:nvGraphicFramePr>
        <p:xfrm>
          <a:off x="787925" y="2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{9D373204-AA46-43D7-88E9-3046488C6F8A}</a:tableStyleId>
              </a:tblPr>
              <a:tblGrid>
                <a:gridCol w="2792775"/>
                <a:gridCol w="764650"/>
                <a:gridCol w="1035650"/>
                <a:gridCol w="966475"/>
                <a:gridCol w="973925"/>
              </a:tblGrid>
              <a:tr h="2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Size/Ubiquity  (# countries receive students from)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Av. Diversity of Sending Countries that send students to Country 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4/1=4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7/2=3.5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9/3=3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9/3=3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Av Size/Ubiquity of similar receiving countries (2-path)</a:t>
                      </a:r>
                      <a:br>
                        <a:rPr lang="en" sz="800"/>
                      </a:br>
                      <a:r>
                        <a:rPr lang="en" sz="800"/>
                        <a:t>Are the other receiving countries that receive students from the same sending country that E receives students from, do those countries receive students from fewer or more sending countries?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8/3=2.7</a:t>
                      </a:r>
                      <a:br>
                        <a:rPr lang="en" sz="800"/>
                      </a:br>
                      <a:r>
                        <a:rPr lang="en" sz="800"/>
                        <a:t>(E2,E3,E4)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7/3=2.5</a:t>
                      </a:r>
                      <a:br>
                        <a:rPr lang="en" sz="800"/>
                      </a:br>
                      <a:r>
                        <a:rPr lang="en" sz="800"/>
                        <a:t>(E1,E3,E4)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6/3=3</a:t>
                      </a:r>
                      <a:br>
                        <a:rPr lang="en" sz="800"/>
                      </a:br>
                      <a:r>
                        <a:rPr lang="en" sz="800"/>
                        <a:t>(E1,E2,E4)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6/3=3</a:t>
                      </a:r>
                      <a:br>
                        <a:rPr lang="en" sz="800"/>
                      </a:br>
                      <a:r>
                        <a:rPr lang="en" sz="800"/>
                        <a:t>(E1,E2,E3)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15" name="Google Shape;115;p15"/>
          <p:cNvCxnSpPr>
            <a:stCxn id="104" idx="0"/>
            <a:endCxn id="102" idx="2"/>
          </p:cNvCxnSpPr>
          <p:nvPr/>
        </p:nvCxnSpPr>
        <p:spPr>
          <a:xfrm flipH="1" rot="10800000">
            <a:off x="4303025" y="2036975"/>
            <a:ext cx="14745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5"/>
          <p:cNvCxnSpPr>
            <a:stCxn id="104" idx="0"/>
            <a:endCxn id="103" idx="2"/>
          </p:cNvCxnSpPr>
          <p:nvPr/>
        </p:nvCxnSpPr>
        <p:spPr>
          <a:xfrm flipH="1" rot="10800000">
            <a:off x="4303025" y="2036975"/>
            <a:ext cx="2471100" cy="86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7" name="Google Shape;117;p15"/>
          <p:cNvGraphicFramePr/>
          <p:nvPr/>
        </p:nvGraphicFramePr>
        <p:xfrm>
          <a:off x="745675" y="335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{9D373204-AA46-43D7-88E9-3046488C6F8A}</a:tableStyleId>
              </a:tblPr>
              <a:tblGrid>
                <a:gridCol w="3005300"/>
                <a:gridCol w="1084875"/>
                <a:gridCol w="942275"/>
                <a:gridCol w="950200"/>
              </a:tblGrid>
              <a:tr h="2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Diversity of Sending Countries (# of countries send students to)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Av. Size/Ubiquity of Receiving Countries that this country sends student to</a:t>
                      </a:r>
                      <a:br>
                        <a:rPr lang="en" sz="800"/>
                      </a:br>
                      <a:r>
                        <a:rPr lang="en" sz="800"/>
                        <a:t>(Average number of countries that students come from among the countries that Country P sends students to) 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8/3=2.7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9/4=2.25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6/2=3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Av. Diversity of similar sending countries (2-path)</a:t>
                      </a:r>
                      <a:br>
                        <a:rPr lang="en" sz="800"/>
                      </a:br>
                      <a:r>
                        <a:rPr lang="en" sz="800"/>
                        <a:t>Are the other countries  who send students to  the same receiving countries  more or less diverse than this country?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6/2=3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5/2=2.5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7/2=3.5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8" name="Google Shape;118;p15"/>
          <p:cNvSpPr txBox="1"/>
          <p:nvPr/>
        </p:nvSpPr>
        <p:spPr>
          <a:xfrm>
            <a:off x="1175525" y="1722575"/>
            <a:ext cx="13926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Receiving Countries</a:t>
            </a:r>
            <a:endParaRPr sz="1000"/>
          </a:p>
        </p:txBody>
      </p:sp>
      <p:sp>
        <p:nvSpPr>
          <p:cNvPr id="119" name="Google Shape;119;p15"/>
          <p:cNvSpPr txBox="1"/>
          <p:nvPr/>
        </p:nvSpPr>
        <p:spPr>
          <a:xfrm>
            <a:off x="1243450" y="2818325"/>
            <a:ext cx="1324800" cy="3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Sending Countries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