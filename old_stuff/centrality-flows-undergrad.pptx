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  <p:sldMasterId id="214748366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6858000" cx="9144000"/>
  <p:notesSz cx="6858000" cy="9144000"/>
  <p:embeddedFontLst>
    <p:embeddedFont>
      <p:font typeface="Josefin Slab"/>
      <p:regular r:id="rId18"/>
      <p:bold r:id="rId19"/>
      <p:italic r:id="rId20"/>
      <p:boldItalic r:id="rId21"/>
    </p:embeddedFont>
    <p:embeddedFont>
      <p:font typeface="Junge"/>
      <p:regular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9C76631-DCC3-4D79-926C-64000DF7B360}">
  <a:tblStyle styleId="{89C76631-DCC3-4D79-926C-64000DF7B3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JosefinSlab-italic.fntdata"/><Relationship Id="rId11" Type="http://schemas.openxmlformats.org/officeDocument/2006/relationships/slide" Target="slides/slide5.xml"/><Relationship Id="rId22" Type="http://schemas.openxmlformats.org/officeDocument/2006/relationships/font" Target="fonts/Junge-regular.fntdata"/><Relationship Id="rId10" Type="http://schemas.openxmlformats.org/officeDocument/2006/relationships/slide" Target="slides/slide4.xml"/><Relationship Id="rId21" Type="http://schemas.openxmlformats.org/officeDocument/2006/relationships/font" Target="fonts/JosefinSlab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font" Target="fonts/JosefinSlab-bold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JosefinSlab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480302a69_09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480302a69_0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480302a69_015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480302a69_0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480302a69_010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480302a69_0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480302a69_01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480302a69_0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480302a69_0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480302a69_0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480302a69_0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480302a69_0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480302a69_03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480302a69_0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480302a69_0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480302a69_0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480302a69_05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480302a69_0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480302a69_05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480302a69_0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480302a69_06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480302a69_0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457200" y="751680"/>
            <a:ext cx="8229600" cy="401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57200" y="4955190"/>
            <a:ext cx="8229600" cy="164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12" name="Google Shape;12;p2"/>
          <p:cNvCxnSpPr/>
          <p:nvPr/>
        </p:nvCxnSpPr>
        <p:spPr>
          <a:xfrm>
            <a:off x="457200" y="548640"/>
            <a:ext cx="8229600" cy="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" name="Google Shape;13;p2"/>
          <p:cNvCxnSpPr/>
          <p:nvPr/>
        </p:nvCxnSpPr>
        <p:spPr>
          <a:xfrm>
            <a:off x="457200" y="4844510"/>
            <a:ext cx="8229600" cy="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cxnSp>
        <p:nvCxnSpPr>
          <p:cNvPr id="17" name="Google Shape;17;p3"/>
          <p:cNvCxnSpPr/>
          <p:nvPr/>
        </p:nvCxnSpPr>
        <p:spPr>
          <a:xfrm>
            <a:off x="457200" y="1524000"/>
            <a:ext cx="8229600" cy="0"/>
          </a:xfrm>
          <a:prstGeom prst="straightConnector1">
            <a:avLst/>
          </a:prstGeom>
          <a:noFill/>
          <a:ln cap="flat" cmpd="sng" w="50800">
            <a:solidFill>
              <a:srgbClr val="DA000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457200" y="1600200"/>
            <a:ext cx="39945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2" type="body"/>
          </p:nvPr>
        </p:nvSpPr>
        <p:spPr>
          <a:xfrm>
            <a:off x="4692274" y="1600200"/>
            <a:ext cx="39945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cxnSp>
        <p:nvCxnSpPr>
          <p:cNvPr id="22" name="Google Shape;22;p4"/>
          <p:cNvCxnSpPr/>
          <p:nvPr/>
        </p:nvCxnSpPr>
        <p:spPr>
          <a:xfrm>
            <a:off x="457200" y="1524000"/>
            <a:ext cx="8229600" cy="0"/>
          </a:xfrm>
          <a:prstGeom prst="straightConnector1">
            <a:avLst/>
          </a:prstGeom>
          <a:noFill/>
          <a:ln cap="flat" cmpd="sng" w="50800">
            <a:solidFill>
              <a:srgbClr val="DA000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cxnSp>
        <p:nvCxnSpPr>
          <p:cNvPr id="25" name="Google Shape;25;p5"/>
          <p:cNvCxnSpPr/>
          <p:nvPr/>
        </p:nvCxnSpPr>
        <p:spPr>
          <a:xfrm>
            <a:off x="457200" y="1524000"/>
            <a:ext cx="8229600" cy="0"/>
          </a:xfrm>
          <a:prstGeom prst="straightConnector1">
            <a:avLst/>
          </a:prstGeom>
          <a:noFill/>
          <a:ln cap="flat" cmpd="sng" w="508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idx="1" type="body"/>
          </p:nvPr>
        </p:nvSpPr>
        <p:spPr>
          <a:xfrm>
            <a:off x="457200" y="5875079"/>
            <a:ext cx="8229600" cy="69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457200" y="5757014"/>
            <a:ext cx="8229600" cy="0"/>
          </a:xfrm>
          <a:prstGeom prst="straightConnector1">
            <a:avLst/>
          </a:prstGeom>
          <a:noFill/>
          <a:ln cap="flat" cmpd="sng" w="508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Google Shape;30;p7"/>
          <p:cNvCxnSpPr/>
          <p:nvPr/>
        </p:nvCxnSpPr>
        <p:spPr>
          <a:xfrm>
            <a:off x="457200" y="150852"/>
            <a:ext cx="8229600" cy="0"/>
          </a:xfrm>
          <a:prstGeom prst="straightConnector1">
            <a:avLst/>
          </a:prstGeom>
          <a:noFill/>
          <a:ln cap="flat" cmpd="sng" w="508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 txBox="1"/>
          <p:nvPr>
            <p:ph type="ctrTitle"/>
          </p:nvPr>
        </p:nvSpPr>
        <p:spPr>
          <a:xfrm>
            <a:off x="457200" y="751680"/>
            <a:ext cx="8229600" cy="40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7" name="Google Shape;37;p9"/>
          <p:cNvSpPr txBox="1"/>
          <p:nvPr>
            <p:ph idx="1" type="subTitle"/>
          </p:nvPr>
        </p:nvSpPr>
        <p:spPr>
          <a:xfrm>
            <a:off x="457200" y="4955190"/>
            <a:ext cx="8229600" cy="16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38" name="Google Shape;38;p9"/>
          <p:cNvCxnSpPr/>
          <p:nvPr/>
        </p:nvCxnSpPr>
        <p:spPr>
          <a:xfrm>
            <a:off x="457200" y="548640"/>
            <a:ext cx="8229600" cy="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" name="Google Shape;39;p9"/>
          <p:cNvCxnSpPr/>
          <p:nvPr/>
        </p:nvCxnSpPr>
        <p:spPr>
          <a:xfrm>
            <a:off x="457200" y="4844510"/>
            <a:ext cx="8229600" cy="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9pPr>
          </a:lstStyle>
          <a:p/>
        </p:txBody>
      </p:sp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cxnSp>
        <p:nvCxnSpPr>
          <p:cNvPr id="43" name="Google Shape;43;p10"/>
          <p:cNvCxnSpPr/>
          <p:nvPr/>
        </p:nvCxnSpPr>
        <p:spPr>
          <a:xfrm>
            <a:off x="457200" y="1524000"/>
            <a:ext cx="8229600" cy="0"/>
          </a:xfrm>
          <a:prstGeom prst="straightConnector1">
            <a:avLst/>
          </a:prstGeom>
          <a:noFill/>
          <a:ln cap="flat" cmpd="sng" w="50800">
            <a:solidFill>
              <a:srgbClr val="DA000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9pPr>
          </a:lstStyle>
          <a:p/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457200" y="1600200"/>
            <a:ext cx="39945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47" name="Google Shape;47;p11"/>
          <p:cNvSpPr txBox="1"/>
          <p:nvPr>
            <p:ph idx="2" type="body"/>
          </p:nvPr>
        </p:nvSpPr>
        <p:spPr>
          <a:xfrm>
            <a:off x="4692274" y="1600200"/>
            <a:ext cx="39945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cxnSp>
        <p:nvCxnSpPr>
          <p:cNvPr id="48" name="Google Shape;48;p11"/>
          <p:cNvCxnSpPr/>
          <p:nvPr/>
        </p:nvCxnSpPr>
        <p:spPr>
          <a:xfrm>
            <a:off x="457200" y="1524000"/>
            <a:ext cx="8229600" cy="0"/>
          </a:xfrm>
          <a:prstGeom prst="straightConnector1">
            <a:avLst/>
          </a:prstGeom>
          <a:noFill/>
          <a:ln cap="flat" cmpd="sng" w="50800">
            <a:solidFill>
              <a:srgbClr val="DA000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cxnSp>
        <p:nvCxnSpPr>
          <p:cNvPr id="51" name="Google Shape;51;p12"/>
          <p:cNvCxnSpPr/>
          <p:nvPr/>
        </p:nvCxnSpPr>
        <p:spPr>
          <a:xfrm>
            <a:off x="457200" y="1524000"/>
            <a:ext cx="8229600" cy="0"/>
          </a:xfrm>
          <a:prstGeom prst="straightConnector1">
            <a:avLst/>
          </a:prstGeom>
          <a:noFill/>
          <a:ln cap="flat" cmpd="sng" w="508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3"/>
          <p:cNvSpPr txBox="1"/>
          <p:nvPr>
            <p:ph idx="1" type="body"/>
          </p:nvPr>
        </p:nvSpPr>
        <p:spPr>
          <a:xfrm>
            <a:off x="457200" y="5875079"/>
            <a:ext cx="82296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sz="1800">
                <a:solidFill>
                  <a:schemeClr val="dk1"/>
                </a:solidFill>
              </a:defRPr>
            </a:lvl1pPr>
            <a:lvl2pPr indent="-342900" lvl="1" marL="914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sz="1800">
                <a:solidFill>
                  <a:schemeClr val="dk1"/>
                </a:solidFill>
              </a:defRPr>
            </a:lvl2pPr>
            <a:lvl3pPr indent="-342900" lvl="2" marL="1371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sz="1800">
                <a:solidFill>
                  <a:schemeClr val="dk1"/>
                </a:solidFill>
              </a:defRPr>
            </a:lvl3pPr>
            <a:lvl4pPr indent="-342900" lvl="3" marL="1828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sz="1800">
                <a:solidFill>
                  <a:schemeClr val="dk1"/>
                </a:solidFill>
              </a:defRPr>
            </a:lvl4pPr>
            <a:lvl5pPr indent="-342900" lvl="4" marL="22860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sz="1800">
                <a:solidFill>
                  <a:schemeClr val="dk1"/>
                </a:solidFill>
              </a:defRPr>
            </a:lvl5pPr>
            <a:lvl6pPr indent="-342900" lvl="5" marL="2743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sz="1800">
                <a:solidFill>
                  <a:schemeClr val="dk1"/>
                </a:solidFill>
              </a:defRPr>
            </a:lvl6pPr>
            <a:lvl7pPr indent="-342900" lvl="6" marL="3200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sz="1800">
                <a:solidFill>
                  <a:schemeClr val="dk1"/>
                </a:solidFill>
              </a:defRPr>
            </a:lvl7pPr>
            <a:lvl8pPr indent="-342900" lvl="7" marL="3657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sz="1800">
                <a:solidFill>
                  <a:schemeClr val="dk1"/>
                </a:solidFill>
              </a:defRPr>
            </a:lvl8pPr>
            <a:lvl9pPr indent="-342900" lvl="8" marL="4114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sz="1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54" name="Google Shape;54;p13"/>
          <p:cNvCxnSpPr/>
          <p:nvPr/>
        </p:nvCxnSpPr>
        <p:spPr>
          <a:xfrm>
            <a:off x="457200" y="5757014"/>
            <a:ext cx="8229600" cy="0"/>
          </a:xfrm>
          <a:prstGeom prst="straightConnector1">
            <a:avLst/>
          </a:prstGeom>
          <a:noFill/>
          <a:ln cap="flat" cmpd="sng" w="508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4"/>
          <p:cNvCxnSpPr/>
          <p:nvPr/>
        </p:nvCxnSpPr>
        <p:spPr>
          <a:xfrm>
            <a:off x="457200" y="150852"/>
            <a:ext cx="8229600" cy="0"/>
          </a:xfrm>
          <a:prstGeom prst="straightConnector1">
            <a:avLst/>
          </a:prstGeom>
          <a:noFill/>
          <a:ln cap="flat" cmpd="sng" w="508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" type="obj">
  <p:cSld name="OBJEC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59" name="Google Shape;59;p15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Char char="●"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0" name="Google Shape;60;p15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1" name="Google Shape;61;p15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2" name="Google Shape;62;p1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8.xml"/><Relationship Id="rId3" Type="http://schemas.openxmlformats.org/officeDocument/2006/relationships/slideLayout" Target="../slideLayouts/slideLayout9.xml"/><Relationship Id="rId4" Type="http://schemas.openxmlformats.org/officeDocument/2006/relationships/slideLayout" Target="../slideLayouts/slideLayout10.xml"/><Relationship Id="rId5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3.xml"/><Relationship Id="rId8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wiss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b="1" sz="3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b="1" sz="36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b="1" sz="36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b="1" sz="36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b="1" sz="36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b="1" sz="36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b="1" sz="36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b="1" sz="36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b="1" sz="36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  <a:defRPr sz="3000">
                <a:solidFill>
                  <a:schemeClr val="dk1"/>
                </a:solidFill>
              </a:defRPr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  <a:defRPr sz="2400">
                <a:solidFill>
                  <a:schemeClr val="dk1"/>
                </a:solidFill>
              </a:defRPr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■"/>
              <a:defRPr sz="2400">
                <a:solidFill>
                  <a:schemeClr val="dk1"/>
                </a:solidFill>
              </a:defRPr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>
                <a:solidFill>
                  <a:schemeClr val="dk1"/>
                </a:solidFill>
              </a:defRPr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>
                <a:solidFill>
                  <a:schemeClr val="dk1"/>
                </a:solidFill>
              </a:defRPr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>
                <a:solidFill>
                  <a:schemeClr val="dk1"/>
                </a:solidFill>
              </a:defRPr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8" name="Google Shape;8;p1"/>
          <p:cNvCxnSpPr/>
          <p:nvPr/>
        </p:nvCxnSpPr>
        <p:spPr>
          <a:xfrm>
            <a:off x="457200" y="6697680"/>
            <a:ext cx="8229600" cy="0"/>
          </a:xfrm>
          <a:prstGeom prst="straightConnector1">
            <a:avLst/>
          </a:prstGeom>
          <a:noFill/>
          <a:ln cap="flat" cmpd="sng" w="508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" name="Google Shape;33;p8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●"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○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34" name="Google Shape;34;p8"/>
          <p:cNvCxnSpPr/>
          <p:nvPr/>
        </p:nvCxnSpPr>
        <p:spPr>
          <a:xfrm>
            <a:off x="457200" y="6697680"/>
            <a:ext cx="8229600" cy="0"/>
          </a:xfrm>
          <a:prstGeom prst="straightConnector1">
            <a:avLst/>
          </a:prstGeom>
          <a:noFill/>
          <a:ln cap="flat" cmpd="sng" w="508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gif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gif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gif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Theory: Walks, Trails, Paths</a:t>
            </a:r>
            <a:endParaRPr/>
          </a:p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457200" y="1600200"/>
            <a:ext cx="4452000" cy="49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600"/>
              </a:spcBef>
              <a:spcAft>
                <a:spcPts val="0"/>
              </a:spcAft>
              <a:buSzPts val="2400"/>
              <a:buChar char="●"/>
            </a:pPr>
            <a:r>
              <a:rPr lang="en" sz="2400">
                <a:latin typeface="Josefin Slab"/>
                <a:ea typeface="Josefin Slab"/>
                <a:cs typeface="Josefin Slab"/>
                <a:sym typeface="Josefin Slab"/>
              </a:rPr>
              <a:t>A </a:t>
            </a:r>
            <a:r>
              <a:rPr b="1" lang="en" sz="2400">
                <a:latin typeface="Josefin Slab"/>
                <a:ea typeface="Josefin Slab"/>
                <a:cs typeface="Josefin Slab"/>
                <a:sym typeface="Josefin Slab"/>
              </a:rPr>
              <a:t>walk </a:t>
            </a:r>
            <a:r>
              <a:rPr lang="en" sz="2400">
                <a:latin typeface="Josefin Slab"/>
                <a:ea typeface="Josefin Slab"/>
                <a:cs typeface="Josefin Slab"/>
                <a:sym typeface="Josefin Slab"/>
              </a:rPr>
              <a:t>is a connected sequence of edges that begins at some origin node U</a:t>
            </a:r>
            <a:r>
              <a:rPr baseline="-25000" lang="en" sz="2400">
                <a:latin typeface="Josefin Slab"/>
                <a:ea typeface="Josefin Slab"/>
                <a:cs typeface="Josefin Slab"/>
                <a:sym typeface="Josefin Slab"/>
              </a:rPr>
              <a:t>o</a:t>
            </a:r>
            <a:r>
              <a:rPr lang="en" sz="2400">
                <a:latin typeface="Josefin Slab"/>
                <a:ea typeface="Josefin Slab"/>
                <a:cs typeface="Josefin Slab"/>
                <a:sym typeface="Josefin Slab"/>
              </a:rPr>
              <a:t> and ends and some destinaton node U</a:t>
            </a:r>
            <a:r>
              <a:rPr baseline="-25000" lang="en" sz="2400">
                <a:latin typeface="Josefin Slab"/>
                <a:ea typeface="Josefin Slab"/>
                <a:cs typeface="Josefin Slab"/>
                <a:sym typeface="Josefin Slab"/>
              </a:rPr>
              <a:t>d</a:t>
            </a:r>
            <a:endParaRPr baseline="-25000" sz="24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>
                <a:latin typeface="Josefin Slab"/>
                <a:ea typeface="Josefin Slab"/>
                <a:cs typeface="Josefin Slab"/>
                <a:sym typeface="Josefin Slab"/>
              </a:rPr>
              <a:t>The </a:t>
            </a:r>
            <a:r>
              <a:rPr b="1" lang="en" sz="2400">
                <a:latin typeface="Josefin Slab"/>
                <a:ea typeface="Josefin Slab"/>
                <a:cs typeface="Josefin Slab"/>
                <a:sym typeface="Josefin Slab"/>
              </a:rPr>
              <a:t>length </a:t>
            </a:r>
            <a:r>
              <a:rPr lang="en" sz="2400">
                <a:latin typeface="Josefin Slab"/>
                <a:ea typeface="Josefin Slab"/>
                <a:cs typeface="Josefin Slab"/>
                <a:sym typeface="Josefin Slab"/>
              </a:rPr>
              <a:t>of the walk is the number of edges contained in the sequence</a:t>
            </a:r>
            <a:endParaRPr sz="24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>
                <a:latin typeface="Josefin Slab"/>
                <a:ea typeface="Josefin Slab"/>
                <a:cs typeface="Josefin Slab"/>
                <a:sym typeface="Josefin Slab"/>
              </a:rPr>
              <a:t>The starting vertex is the </a:t>
            </a:r>
            <a:r>
              <a:rPr b="1" lang="en" sz="2400">
                <a:latin typeface="Josefin Slab"/>
                <a:ea typeface="Josefin Slab"/>
                <a:cs typeface="Josefin Slab"/>
                <a:sym typeface="Josefin Slab"/>
              </a:rPr>
              <a:t>origin </a:t>
            </a:r>
            <a:r>
              <a:rPr lang="en" sz="2400">
                <a:latin typeface="Josefin Slab"/>
                <a:ea typeface="Josefin Slab"/>
                <a:cs typeface="Josefin Slab"/>
                <a:sym typeface="Josefin Slab"/>
              </a:rPr>
              <a:t>vertex and the end vertex is the </a:t>
            </a:r>
            <a:r>
              <a:rPr b="1" lang="en" sz="2400">
                <a:latin typeface="Josefin Slab"/>
                <a:ea typeface="Josefin Slab"/>
                <a:cs typeface="Josefin Slab"/>
                <a:sym typeface="Josefin Slab"/>
              </a:rPr>
              <a:t>destination </a:t>
            </a:r>
            <a:r>
              <a:rPr lang="en" sz="2400">
                <a:latin typeface="Josefin Slab"/>
                <a:ea typeface="Josefin Slab"/>
                <a:cs typeface="Josefin Slab"/>
                <a:sym typeface="Josefin Slab"/>
              </a:rPr>
              <a:t>vertex.</a:t>
            </a:r>
            <a:endParaRPr baseline="-25000" sz="24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descr="nice-walking-paths.jpg" id="69" name="Google Shape;6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76863" y="1716850"/>
            <a:ext cx="3209925" cy="428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Theory: Walks, Trails, Paths</a:t>
            </a:r>
            <a:endParaRPr/>
          </a:p>
        </p:txBody>
      </p:sp>
      <p:pic>
        <p:nvPicPr>
          <p:cNvPr descr="g15.gif" id="75" name="Google Shape;7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59725" y="1984825"/>
            <a:ext cx="6424550" cy="2888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Theory: Walks, Trails, Paths</a:t>
            </a:r>
            <a:endParaRPr/>
          </a:p>
        </p:txBody>
      </p:sp>
      <p:sp>
        <p:nvSpPr>
          <p:cNvPr id="81" name="Google Shape;81;p18"/>
          <p:cNvSpPr txBox="1"/>
          <p:nvPr>
            <p:ph idx="1" type="body"/>
          </p:nvPr>
        </p:nvSpPr>
        <p:spPr>
          <a:xfrm>
            <a:off x="457200" y="1600200"/>
            <a:ext cx="8229600" cy="49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600"/>
              </a:spcBef>
              <a:spcAft>
                <a:spcPts val="0"/>
              </a:spcAft>
              <a:buSzPts val="2600"/>
              <a:buChar char="●"/>
            </a:pPr>
            <a:r>
              <a:rPr lang="en" sz="2600">
                <a:latin typeface="Josefin Slab"/>
                <a:ea typeface="Josefin Slab"/>
                <a:cs typeface="Josefin Slab"/>
                <a:sym typeface="Josefin Slab"/>
              </a:rPr>
              <a:t>A walk is called a </a:t>
            </a:r>
            <a:r>
              <a:rPr b="1" lang="en" sz="2600">
                <a:latin typeface="Josefin Slab"/>
                <a:ea typeface="Josefin Slab"/>
                <a:cs typeface="Josefin Slab"/>
                <a:sym typeface="Josefin Slab"/>
              </a:rPr>
              <a:t>trail </a:t>
            </a:r>
            <a:r>
              <a:rPr lang="en" sz="2600">
                <a:latin typeface="Josefin Slab"/>
                <a:ea typeface="Josefin Slab"/>
                <a:cs typeface="Josefin Slab"/>
                <a:sym typeface="Josefin Slab"/>
              </a:rPr>
              <a:t>if all edges appear only once in the sequence (no edge is traversed more than once)</a:t>
            </a:r>
            <a:endParaRPr sz="26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" sz="2600">
                <a:latin typeface="Josefin Slab"/>
                <a:ea typeface="Josefin Slab"/>
                <a:cs typeface="Josefin Slab"/>
                <a:sym typeface="Josefin Slab"/>
              </a:rPr>
              <a:t>A walk is called a </a:t>
            </a:r>
            <a:r>
              <a:rPr b="1" lang="en" sz="2600">
                <a:latin typeface="Josefin Slab"/>
                <a:ea typeface="Josefin Slab"/>
                <a:cs typeface="Josefin Slab"/>
                <a:sym typeface="Josefin Slab"/>
              </a:rPr>
              <a:t>path </a:t>
            </a:r>
            <a:r>
              <a:rPr lang="en" sz="2600">
                <a:latin typeface="Josefin Slab"/>
                <a:ea typeface="Josefin Slab"/>
                <a:cs typeface="Josefin Slab"/>
                <a:sym typeface="Josefin Slab"/>
              </a:rPr>
              <a:t>if all edges </a:t>
            </a:r>
            <a:r>
              <a:rPr i="1" lang="en" sz="2600">
                <a:latin typeface="Josefin Slab"/>
                <a:ea typeface="Josefin Slab"/>
                <a:cs typeface="Josefin Slab"/>
                <a:sym typeface="Josefin Slab"/>
              </a:rPr>
              <a:t>and </a:t>
            </a:r>
            <a:r>
              <a:rPr lang="en" sz="2600">
                <a:latin typeface="Josefin Slab"/>
                <a:ea typeface="Josefin Slab"/>
                <a:cs typeface="Josefin Slab"/>
                <a:sym typeface="Josefin Slab"/>
              </a:rPr>
              <a:t>all vertices appear only once in the sequence</a:t>
            </a:r>
            <a:endParaRPr sz="26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93700" lvl="1" marL="914400" rtl="0" algn="l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All paths are trails and all trails are walks, but not every walk is a trail and not every trail is a path.</a:t>
            </a:r>
            <a:endParaRPr sz="22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93700" lvl="1" marL="914400" rtl="0" algn="l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A </a:t>
            </a:r>
            <a:r>
              <a:rPr b="1" lang="en" sz="2200">
                <a:latin typeface="Josefin Slab"/>
                <a:ea typeface="Josefin Slab"/>
                <a:cs typeface="Josefin Slab"/>
                <a:sym typeface="Josefin Slab"/>
              </a:rPr>
              <a:t>cycle </a:t>
            </a: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is a path in which the origin and destination vertices are the same</a:t>
            </a:r>
            <a:endParaRPr sz="22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.</a:t>
            </a:r>
            <a:endParaRPr sz="2200"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descr="g15.gif" id="82" name="Google Shape;8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08275" y="4705650"/>
            <a:ext cx="4214750" cy="189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Theory: Shortest paths</a:t>
            </a:r>
            <a:endParaRPr/>
          </a:p>
        </p:txBody>
      </p:sp>
      <p:sp>
        <p:nvSpPr>
          <p:cNvPr id="88" name="Google Shape;88;p19"/>
          <p:cNvSpPr txBox="1"/>
          <p:nvPr>
            <p:ph idx="1" type="body"/>
          </p:nvPr>
        </p:nvSpPr>
        <p:spPr>
          <a:xfrm>
            <a:off x="457200" y="1600200"/>
            <a:ext cx="8181000" cy="49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spcBef>
                <a:spcPts val="600"/>
              </a:spcBef>
              <a:spcAft>
                <a:spcPts val="0"/>
              </a:spcAft>
              <a:buSzPts val="2800"/>
              <a:buChar char="●"/>
            </a:pPr>
            <a:r>
              <a:rPr lang="en" sz="2800">
                <a:latin typeface="Josefin Slab"/>
                <a:ea typeface="Josefin Slab"/>
                <a:cs typeface="Josefin Slab"/>
                <a:sym typeface="Josefin Slab"/>
              </a:rPr>
              <a:t>Two paths are </a:t>
            </a:r>
            <a:r>
              <a:rPr i="1" lang="en" sz="2800">
                <a:latin typeface="Josefin Slab"/>
                <a:ea typeface="Josefin Slab"/>
                <a:cs typeface="Josefin Slab"/>
                <a:sym typeface="Josefin Slab"/>
              </a:rPr>
              <a:t>vertex-disjoint </a:t>
            </a:r>
            <a:r>
              <a:rPr lang="en" sz="2800">
                <a:latin typeface="Josefin Slab"/>
                <a:ea typeface="Josefin Slab"/>
                <a:cs typeface="Josefin Slab"/>
                <a:sym typeface="Josefin Slab"/>
              </a:rPr>
              <a:t>if they share no vertices</a:t>
            </a:r>
            <a:endParaRPr sz="28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" sz="2800">
                <a:latin typeface="Josefin Slab"/>
                <a:ea typeface="Josefin Slab"/>
                <a:cs typeface="Josefin Slab"/>
                <a:sym typeface="Josefin Slab"/>
              </a:rPr>
              <a:t>Two paths are </a:t>
            </a:r>
            <a:r>
              <a:rPr i="1" lang="en" sz="2800">
                <a:latin typeface="Josefin Slab"/>
                <a:ea typeface="Josefin Slab"/>
                <a:cs typeface="Josefin Slab"/>
                <a:sym typeface="Josefin Slab"/>
              </a:rPr>
              <a:t>edge-disjoint</a:t>
            </a:r>
            <a:r>
              <a:rPr lang="en" sz="2800">
                <a:latin typeface="Josefin Slab"/>
                <a:ea typeface="Josefin Slab"/>
                <a:cs typeface="Josefin Slab"/>
                <a:sym typeface="Josefin Slab"/>
              </a:rPr>
              <a:t> if they share no edges</a:t>
            </a:r>
            <a:endParaRPr sz="28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" sz="2800">
                <a:latin typeface="Josefin Slab"/>
                <a:ea typeface="Josefin Slab"/>
                <a:cs typeface="Josefin Slab"/>
                <a:sym typeface="Josefin Slab"/>
              </a:rPr>
              <a:t>A </a:t>
            </a:r>
            <a:r>
              <a:rPr i="1" lang="en" sz="2800">
                <a:latin typeface="Josefin Slab"/>
                <a:ea typeface="Josefin Slab"/>
                <a:cs typeface="Josefin Slab"/>
                <a:sym typeface="Josefin Slab"/>
              </a:rPr>
              <a:t>geodesic (graph-theoretic distance) </a:t>
            </a:r>
            <a:r>
              <a:rPr lang="en" sz="2800">
                <a:latin typeface="Josefin Slab"/>
                <a:ea typeface="Josefin Slab"/>
                <a:cs typeface="Josefin Slab"/>
                <a:sym typeface="Josefin Slab"/>
              </a:rPr>
              <a:t>is the </a:t>
            </a:r>
            <a:r>
              <a:rPr i="1" lang="en" sz="2800">
                <a:latin typeface="Josefin Slab"/>
                <a:ea typeface="Josefin Slab"/>
                <a:cs typeface="Josefin Slab"/>
                <a:sym typeface="Josefin Slab"/>
              </a:rPr>
              <a:t>shortest-path </a:t>
            </a:r>
            <a:r>
              <a:rPr lang="en" sz="2800">
                <a:latin typeface="Josefin Slab"/>
                <a:ea typeface="Josefin Slab"/>
                <a:cs typeface="Josefin Slab"/>
                <a:sym typeface="Josefin Slab"/>
              </a:rPr>
              <a:t>between two distinct vertices</a:t>
            </a:r>
            <a:endParaRPr sz="28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4572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descr="g15.gif" id="89" name="Google Shape;8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08275" y="4705650"/>
            <a:ext cx="4214750" cy="189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classification of flow processes: Used goods </a:t>
            </a:r>
            <a:endParaRPr/>
          </a:p>
        </p:txBody>
      </p:sp>
      <p:sp>
        <p:nvSpPr>
          <p:cNvPr id="95" name="Google Shape;95;p20"/>
          <p:cNvSpPr txBox="1"/>
          <p:nvPr>
            <p:ph idx="1" type="body"/>
          </p:nvPr>
        </p:nvSpPr>
        <p:spPr>
          <a:xfrm>
            <a:off x="538850" y="1600200"/>
            <a:ext cx="55932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Font typeface="Junge"/>
              <a:buChar char="●"/>
            </a:pPr>
            <a:r>
              <a:rPr lang="en">
                <a:latin typeface="Junge"/>
                <a:ea typeface="Junge"/>
                <a:cs typeface="Junge"/>
                <a:sym typeface="Junge"/>
              </a:rPr>
              <a:t>Discrete, indivisible objects whose use value declines to zero after one use</a:t>
            </a:r>
            <a:endParaRPr>
              <a:latin typeface="Junge"/>
              <a:ea typeface="Junge"/>
              <a:cs typeface="Junge"/>
              <a:sym typeface="Junge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unge"/>
              <a:buChar char="○"/>
            </a:pPr>
            <a:r>
              <a:rPr lang="en">
                <a:latin typeface="Junge"/>
                <a:ea typeface="Junge"/>
                <a:cs typeface="Junge"/>
                <a:sym typeface="Junge"/>
              </a:rPr>
              <a:t>Flows from vertex to vertex (spreads by transfer)</a:t>
            </a:r>
            <a:endParaRPr>
              <a:latin typeface="Junge"/>
              <a:ea typeface="Junge"/>
              <a:cs typeface="Junge"/>
              <a:sym typeface="Junge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unge"/>
              <a:buChar char="○"/>
            </a:pPr>
            <a:r>
              <a:rPr lang="en">
                <a:latin typeface="Junge"/>
                <a:ea typeface="Junge"/>
                <a:cs typeface="Junge"/>
                <a:sym typeface="Junge"/>
              </a:rPr>
              <a:t>Can only be under the control of one vertex at a time</a:t>
            </a:r>
            <a:endParaRPr>
              <a:latin typeface="Junge"/>
              <a:ea typeface="Junge"/>
              <a:cs typeface="Junge"/>
              <a:sym typeface="Junge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unge"/>
              <a:buChar char="○"/>
            </a:pPr>
            <a:r>
              <a:rPr lang="en">
                <a:latin typeface="Junge"/>
                <a:ea typeface="Junge"/>
                <a:cs typeface="Junge"/>
                <a:sym typeface="Junge"/>
              </a:rPr>
              <a:t>The same vertex may send the object multiple times but not via a previously used edge</a:t>
            </a:r>
            <a:endParaRPr>
              <a:latin typeface="Junge"/>
              <a:ea typeface="Junge"/>
              <a:cs typeface="Junge"/>
              <a:sym typeface="Junge"/>
            </a:endParaRPr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Font typeface="Junge"/>
              <a:buChar char="■"/>
            </a:pPr>
            <a:r>
              <a:rPr lang="en" sz="2000">
                <a:latin typeface="Junge"/>
                <a:ea typeface="Junge"/>
                <a:cs typeface="Junge"/>
                <a:sym typeface="Junge"/>
              </a:rPr>
              <a:t>Object can only flow via "trails" (edge-disjoint paths) in the network</a:t>
            </a:r>
            <a:endParaRPr sz="2000">
              <a:latin typeface="Junge"/>
              <a:ea typeface="Junge"/>
              <a:cs typeface="Junge"/>
              <a:sym typeface="Junge"/>
            </a:endParaRPr>
          </a:p>
        </p:txBody>
      </p:sp>
      <p:pic>
        <p:nvPicPr>
          <p:cNvPr id="96" name="Google Shape;9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20500" y="2702511"/>
            <a:ext cx="2907269" cy="27630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classification of flow processes: Money</a:t>
            </a:r>
            <a:endParaRPr/>
          </a:p>
        </p:txBody>
      </p:sp>
      <p:sp>
        <p:nvSpPr>
          <p:cNvPr id="102" name="Google Shape;102;p21"/>
          <p:cNvSpPr txBox="1"/>
          <p:nvPr>
            <p:ph idx="1" type="body"/>
          </p:nvPr>
        </p:nvSpPr>
        <p:spPr>
          <a:xfrm>
            <a:off x="538850" y="1600200"/>
            <a:ext cx="57210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Font typeface="Junge"/>
              <a:buChar char="●"/>
            </a:pPr>
            <a:r>
              <a:rPr lang="en">
                <a:latin typeface="Junge"/>
                <a:ea typeface="Junge"/>
                <a:cs typeface="Junge"/>
                <a:sym typeface="Junge"/>
              </a:rPr>
              <a:t>Discrete, indivisible objects whose use value remains constant after multiple uses</a:t>
            </a:r>
            <a:endParaRPr>
              <a:latin typeface="Junge"/>
              <a:ea typeface="Junge"/>
              <a:cs typeface="Junge"/>
              <a:sym typeface="Junge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unge"/>
              <a:buChar char="○"/>
            </a:pPr>
            <a:r>
              <a:rPr lang="en">
                <a:latin typeface="Junge"/>
                <a:ea typeface="Junge"/>
                <a:cs typeface="Junge"/>
                <a:sym typeface="Junge"/>
              </a:rPr>
              <a:t>Flows from vertex to vertex (spreads by transfer)</a:t>
            </a:r>
            <a:endParaRPr>
              <a:latin typeface="Junge"/>
              <a:ea typeface="Junge"/>
              <a:cs typeface="Junge"/>
              <a:sym typeface="Junge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unge"/>
              <a:buChar char="○"/>
            </a:pPr>
            <a:r>
              <a:rPr lang="en">
                <a:latin typeface="Junge"/>
                <a:ea typeface="Junge"/>
                <a:cs typeface="Junge"/>
                <a:sym typeface="Junge"/>
              </a:rPr>
              <a:t>Can only be under the control</a:t>
            </a:r>
            <a:endParaRPr>
              <a:latin typeface="Junge"/>
              <a:ea typeface="Junge"/>
              <a:cs typeface="Junge"/>
              <a:sym typeface="Junge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unge"/>
              <a:buChar char="○"/>
            </a:pPr>
            <a:r>
              <a:rPr lang="en">
                <a:latin typeface="Junge"/>
                <a:ea typeface="Junge"/>
                <a:cs typeface="Junge"/>
                <a:sym typeface="Junge"/>
              </a:rPr>
              <a:t>The same vertex may send the object multiple times via a previously used edge</a:t>
            </a:r>
            <a:endParaRPr>
              <a:latin typeface="Junge"/>
              <a:ea typeface="Junge"/>
              <a:cs typeface="Junge"/>
              <a:sym typeface="Junge"/>
            </a:endParaRPr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Font typeface="Junge"/>
              <a:buChar char="■"/>
            </a:pPr>
            <a:r>
              <a:rPr lang="en" sz="2000">
                <a:latin typeface="Junge"/>
                <a:ea typeface="Junge"/>
                <a:cs typeface="Junge"/>
                <a:sym typeface="Junge"/>
              </a:rPr>
              <a:t>Object flows unrestrictedly via "walks" in the network</a:t>
            </a:r>
            <a:endParaRPr sz="2000">
              <a:latin typeface="Junge"/>
              <a:ea typeface="Junge"/>
              <a:cs typeface="Junge"/>
              <a:sym typeface="Junge"/>
            </a:endParaRPr>
          </a:p>
        </p:txBody>
      </p:sp>
      <p:pic>
        <p:nvPicPr>
          <p:cNvPr id="103" name="Google Shape;10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85150" y="2716791"/>
            <a:ext cx="2982067" cy="27345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classification of flow processes: Gossip</a:t>
            </a:r>
            <a:endParaRPr/>
          </a:p>
        </p:txBody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538850" y="1600200"/>
            <a:ext cx="5942400" cy="537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Font typeface="Junge"/>
              <a:buChar char="●"/>
            </a:pPr>
            <a:r>
              <a:rPr lang="en">
                <a:latin typeface="Junge"/>
                <a:ea typeface="Junge"/>
                <a:cs typeface="Junge"/>
                <a:sym typeface="Junge"/>
              </a:rPr>
              <a:t>Discrete piece of information</a:t>
            </a:r>
            <a:endParaRPr>
              <a:latin typeface="Junge"/>
              <a:ea typeface="Junge"/>
              <a:cs typeface="Junge"/>
              <a:sym typeface="Junge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unge"/>
              <a:buChar char="○"/>
            </a:pPr>
            <a:r>
              <a:rPr lang="en">
                <a:latin typeface="Junge"/>
                <a:ea typeface="Junge"/>
                <a:cs typeface="Junge"/>
                <a:sym typeface="Junge"/>
              </a:rPr>
              <a:t>Flows from vertex to vertex (spreads by transfer)  but remains under the sender control thereafter (replication)</a:t>
            </a:r>
            <a:endParaRPr>
              <a:latin typeface="Junge"/>
              <a:ea typeface="Junge"/>
              <a:cs typeface="Junge"/>
              <a:sym typeface="Junge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unge"/>
              <a:buChar char="○"/>
            </a:pPr>
            <a:r>
              <a:rPr lang="en">
                <a:latin typeface="Junge"/>
                <a:ea typeface="Junge"/>
                <a:cs typeface="Junge"/>
                <a:sym typeface="Junge"/>
              </a:rPr>
              <a:t>Can exist in multiple places at once</a:t>
            </a:r>
            <a:endParaRPr>
              <a:latin typeface="Junge"/>
              <a:ea typeface="Junge"/>
              <a:cs typeface="Junge"/>
              <a:sym typeface="Junge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unge"/>
              <a:buChar char="○"/>
            </a:pPr>
            <a:r>
              <a:rPr lang="en">
                <a:latin typeface="Junge"/>
                <a:ea typeface="Junge"/>
                <a:cs typeface="Junge"/>
                <a:sym typeface="Junge"/>
              </a:rPr>
              <a:t>The same vertex may send information multiple times but not via a previously used edge</a:t>
            </a:r>
            <a:endParaRPr>
              <a:latin typeface="Junge"/>
              <a:ea typeface="Junge"/>
              <a:cs typeface="Junge"/>
              <a:sym typeface="Junge"/>
            </a:endParaRPr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Font typeface="Junge"/>
              <a:buChar char="■"/>
            </a:pPr>
            <a:r>
              <a:rPr lang="en" sz="2000">
                <a:latin typeface="Junge"/>
                <a:ea typeface="Junge"/>
                <a:cs typeface="Junge"/>
                <a:sym typeface="Junge"/>
              </a:rPr>
              <a:t>Object flows via "trails" in the network</a:t>
            </a:r>
            <a:endParaRPr sz="2000">
              <a:latin typeface="Junge"/>
              <a:ea typeface="Junge"/>
              <a:cs typeface="Junge"/>
              <a:sym typeface="Junge"/>
            </a:endParaRPr>
          </a:p>
        </p:txBody>
      </p:sp>
      <p:pic>
        <p:nvPicPr>
          <p:cNvPr id="110" name="Google Shape;11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70540" y="2179577"/>
            <a:ext cx="3173460" cy="31323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classification of flow processes: Email</a:t>
            </a:r>
            <a:endParaRPr/>
          </a:p>
        </p:txBody>
      </p:sp>
      <p:sp>
        <p:nvSpPr>
          <p:cNvPr id="116" name="Google Shape;116;p23"/>
          <p:cNvSpPr txBox="1"/>
          <p:nvPr>
            <p:ph idx="1" type="body"/>
          </p:nvPr>
        </p:nvSpPr>
        <p:spPr>
          <a:xfrm>
            <a:off x="538850" y="1600200"/>
            <a:ext cx="6124800" cy="537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Font typeface="Junge"/>
              <a:buChar char="●"/>
            </a:pPr>
            <a:r>
              <a:rPr lang="en">
                <a:latin typeface="Junge"/>
                <a:ea typeface="Junge"/>
                <a:cs typeface="Junge"/>
                <a:sym typeface="Junge"/>
              </a:rPr>
              <a:t>Discrete piece of information</a:t>
            </a:r>
            <a:endParaRPr>
              <a:latin typeface="Junge"/>
              <a:ea typeface="Junge"/>
              <a:cs typeface="Junge"/>
              <a:sym typeface="Junge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unge"/>
              <a:buChar char="○"/>
            </a:pPr>
            <a:r>
              <a:rPr lang="en">
                <a:latin typeface="Junge"/>
                <a:ea typeface="Junge"/>
                <a:cs typeface="Junge"/>
                <a:sym typeface="Junge"/>
              </a:rPr>
              <a:t>Flows from vertex to vertex (spreads by transfer)  but remains under the sender control thereafter (replication)</a:t>
            </a:r>
            <a:endParaRPr>
              <a:latin typeface="Junge"/>
              <a:ea typeface="Junge"/>
              <a:cs typeface="Junge"/>
              <a:sym typeface="Junge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unge"/>
              <a:buChar char="○"/>
            </a:pPr>
            <a:r>
              <a:rPr lang="en">
                <a:latin typeface="Junge"/>
                <a:ea typeface="Junge"/>
                <a:cs typeface="Junge"/>
                <a:sym typeface="Junge"/>
              </a:rPr>
              <a:t>Can exist in multiple places at once</a:t>
            </a:r>
            <a:endParaRPr>
              <a:latin typeface="Junge"/>
              <a:ea typeface="Junge"/>
              <a:cs typeface="Junge"/>
              <a:sym typeface="Junge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unge"/>
              <a:buChar char="○"/>
            </a:pPr>
            <a:r>
              <a:rPr i="1" lang="en">
                <a:latin typeface="Junge"/>
                <a:ea typeface="Junge"/>
                <a:cs typeface="Junge"/>
                <a:sym typeface="Junge"/>
              </a:rPr>
              <a:t>Can be sent via multiple edges at once</a:t>
            </a:r>
            <a:endParaRPr i="1">
              <a:latin typeface="Junge"/>
              <a:ea typeface="Junge"/>
              <a:cs typeface="Junge"/>
              <a:sym typeface="Junge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unge"/>
              <a:buChar char="○"/>
            </a:pPr>
            <a:r>
              <a:rPr lang="en">
                <a:latin typeface="Junge"/>
                <a:ea typeface="Junge"/>
                <a:cs typeface="Junge"/>
                <a:sym typeface="Junge"/>
              </a:rPr>
              <a:t>The same vertex may send information multiple times but not via a previously used edge</a:t>
            </a:r>
            <a:endParaRPr>
              <a:latin typeface="Junge"/>
              <a:ea typeface="Junge"/>
              <a:cs typeface="Junge"/>
              <a:sym typeface="Junge"/>
            </a:endParaRPr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Font typeface="Junge"/>
              <a:buChar char="■"/>
            </a:pPr>
            <a:r>
              <a:rPr lang="en" sz="2000">
                <a:latin typeface="Junge"/>
                <a:ea typeface="Junge"/>
                <a:cs typeface="Junge"/>
                <a:sym typeface="Junge"/>
              </a:rPr>
              <a:t>Object flows via "trails" in the network</a:t>
            </a:r>
            <a:endParaRPr sz="2000">
              <a:latin typeface="Junge"/>
              <a:ea typeface="Junge"/>
              <a:cs typeface="Junge"/>
              <a:sym typeface="Junge"/>
            </a:endParaRPr>
          </a:p>
        </p:txBody>
      </p:sp>
      <p:pic>
        <p:nvPicPr>
          <p:cNvPr id="117" name="Google Shape;11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82050" y="3060811"/>
            <a:ext cx="2249472" cy="24493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classification of flow processes: Infection</a:t>
            </a:r>
            <a:endParaRPr/>
          </a:p>
        </p:txBody>
      </p:sp>
      <p:sp>
        <p:nvSpPr>
          <p:cNvPr id="123" name="Google Shape;123;p24"/>
          <p:cNvSpPr txBox="1"/>
          <p:nvPr>
            <p:ph idx="1" type="body"/>
          </p:nvPr>
        </p:nvSpPr>
        <p:spPr>
          <a:xfrm>
            <a:off x="538850" y="1600200"/>
            <a:ext cx="8281800" cy="537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Font typeface="Junge"/>
              <a:buChar char="●"/>
            </a:pPr>
            <a:r>
              <a:rPr lang="en">
                <a:latin typeface="Junge"/>
                <a:ea typeface="Junge"/>
                <a:cs typeface="Junge"/>
                <a:sym typeface="Junge"/>
              </a:rPr>
              <a:t>Virus or infection (with immunity)</a:t>
            </a:r>
            <a:endParaRPr>
              <a:latin typeface="Junge"/>
              <a:ea typeface="Junge"/>
              <a:cs typeface="Junge"/>
              <a:sym typeface="Junge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unge"/>
              <a:buChar char="○"/>
            </a:pPr>
            <a:r>
              <a:rPr lang="en" sz="2200">
                <a:latin typeface="Junge"/>
                <a:ea typeface="Junge"/>
                <a:cs typeface="Junge"/>
                <a:sym typeface="Junge"/>
              </a:rPr>
              <a:t>This flow process is just like information (transfer, replication)</a:t>
            </a:r>
            <a:endParaRPr sz="2200">
              <a:latin typeface="Junge"/>
              <a:ea typeface="Junge"/>
              <a:cs typeface="Junge"/>
              <a:sym typeface="Junge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unge"/>
              <a:buChar char="○"/>
            </a:pPr>
            <a:r>
              <a:rPr lang="en" sz="2200">
                <a:latin typeface="Junge"/>
                <a:ea typeface="Junge"/>
                <a:cs typeface="Junge"/>
                <a:sym typeface="Junge"/>
              </a:rPr>
              <a:t>Except that persons cannot "receive" (become affected by) the same infection twice (due to immunity)</a:t>
            </a:r>
            <a:endParaRPr sz="2200">
              <a:latin typeface="Junge"/>
              <a:ea typeface="Junge"/>
              <a:cs typeface="Junge"/>
              <a:sym typeface="Junge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unge"/>
              <a:buChar char="○"/>
            </a:pPr>
            <a:r>
              <a:rPr lang="en" sz="2200">
                <a:latin typeface="Junge"/>
                <a:ea typeface="Junge"/>
                <a:cs typeface="Junge"/>
                <a:sym typeface="Junge"/>
              </a:rPr>
              <a:t>This means that (effectively) senders only use the same edge once</a:t>
            </a:r>
            <a:endParaRPr sz="2200">
              <a:latin typeface="Junge"/>
              <a:ea typeface="Junge"/>
              <a:cs typeface="Junge"/>
              <a:sym typeface="Junge"/>
            </a:endParaRPr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Font typeface="Junge"/>
              <a:buChar char="■"/>
            </a:pPr>
            <a:r>
              <a:rPr lang="en" sz="1800">
                <a:latin typeface="Junge"/>
                <a:ea typeface="Junge"/>
                <a:cs typeface="Junge"/>
                <a:sym typeface="Junge"/>
              </a:rPr>
              <a:t>Infections spread via trails</a:t>
            </a:r>
            <a:endParaRPr sz="1800">
              <a:latin typeface="Junge"/>
              <a:ea typeface="Junge"/>
              <a:cs typeface="Junge"/>
              <a:sym typeface="Junge"/>
            </a:endParaRPr>
          </a:p>
        </p:txBody>
      </p:sp>
      <p:pic>
        <p:nvPicPr>
          <p:cNvPr id="124" name="Google Shape;12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30762" y="4664414"/>
            <a:ext cx="4122489" cy="1885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classification of flow processes: Packages</a:t>
            </a:r>
            <a:endParaRPr/>
          </a:p>
        </p:txBody>
      </p:sp>
      <p:sp>
        <p:nvSpPr>
          <p:cNvPr id="130" name="Google Shape;130;p25"/>
          <p:cNvSpPr txBox="1"/>
          <p:nvPr>
            <p:ph idx="1" type="body"/>
          </p:nvPr>
        </p:nvSpPr>
        <p:spPr>
          <a:xfrm>
            <a:off x="538850" y="1600200"/>
            <a:ext cx="5235000" cy="537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Font typeface="Junge"/>
              <a:buChar char="●"/>
            </a:pPr>
            <a:r>
              <a:rPr lang="en">
                <a:latin typeface="Junge"/>
                <a:ea typeface="Junge"/>
                <a:cs typeface="Junge"/>
                <a:sym typeface="Junge"/>
              </a:rPr>
              <a:t>Packages have:</a:t>
            </a:r>
            <a:endParaRPr>
              <a:latin typeface="Junge"/>
              <a:ea typeface="Junge"/>
              <a:cs typeface="Junge"/>
              <a:sym typeface="Junge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unge"/>
              <a:buChar char="○"/>
            </a:pPr>
            <a:r>
              <a:rPr lang="en">
                <a:latin typeface="Junge"/>
                <a:ea typeface="Junge"/>
                <a:cs typeface="Junge"/>
                <a:sym typeface="Junge"/>
              </a:rPr>
              <a:t>Fixed destination (single-path) </a:t>
            </a:r>
            <a:endParaRPr>
              <a:latin typeface="Junge"/>
              <a:ea typeface="Junge"/>
              <a:cs typeface="Junge"/>
              <a:sym typeface="Junge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unge"/>
              <a:buChar char="○"/>
            </a:pPr>
            <a:r>
              <a:rPr lang="en">
                <a:latin typeface="Junge"/>
                <a:ea typeface="Junge"/>
                <a:cs typeface="Junge"/>
                <a:sym typeface="Junge"/>
              </a:rPr>
              <a:t>Strategic selection (shortest path)</a:t>
            </a:r>
            <a:endParaRPr>
              <a:latin typeface="Junge"/>
              <a:ea typeface="Junge"/>
              <a:cs typeface="Junge"/>
              <a:sym typeface="Junge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unge"/>
              <a:buChar char="○"/>
            </a:pPr>
            <a:r>
              <a:rPr lang="en">
                <a:latin typeface="Junge"/>
                <a:ea typeface="Junge"/>
                <a:cs typeface="Junge"/>
                <a:sym typeface="Junge"/>
              </a:rPr>
              <a:t>Senders only send a package once</a:t>
            </a:r>
            <a:endParaRPr>
              <a:latin typeface="Junge"/>
              <a:ea typeface="Junge"/>
              <a:cs typeface="Junge"/>
              <a:sym typeface="Junge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unge"/>
              <a:buChar char="○"/>
            </a:pPr>
            <a:r>
              <a:rPr lang="en">
                <a:latin typeface="Junge"/>
                <a:ea typeface="Junge"/>
                <a:cs typeface="Junge"/>
                <a:sym typeface="Junge"/>
              </a:rPr>
              <a:t>Receivers only receive it once</a:t>
            </a:r>
            <a:endParaRPr>
              <a:latin typeface="Junge"/>
              <a:ea typeface="Junge"/>
              <a:cs typeface="Junge"/>
              <a:sym typeface="Junge"/>
            </a:endParaRPr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Font typeface="Junge"/>
              <a:buChar char="■"/>
            </a:pPr>
            <a:r>
              <a:rPr lang="en" sz="2000">
                <a:latin typeface="Junge"/>
                <a:ea typeface="Junge"/>
                <a:cs typeface="Junge"/>
                <a:sym typeface="Junge"/>
              </a:rPr>
              <a:t>Packages travel via geodesics (shortest paths) in the network</a:t>
            </a:r>
            <a:endParaRPr sz="2000">
              <a:latin typeface="Junge"/>
              <a:ea typeface="Junge"/>
              <a:cs typeface="Junge"/>
              <a:sym typeface="Junge"/>
            </a:endParaRPr>
          </a:p>
        </p:txBody>
      </p:sp>
      <p:pic>
        <p:nvPicPr>
          <p:cNvPr id="131" name="Google Shape;13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29300" y="1910575"/>
            <a:ext cx="2857500" cy="438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6" name="Google Shape;136;p26"/>
          <p:cNvGraphicFramePr/>
          <p:nvPr/>
        </p:nvGraphicFramePr>
        <p:xfrm>
          <a:off x="534650" y="2354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{89C76631-DCC3-4D79-926C-64000DF7B360}</a:tableStyleId>
              </a:tblPr>
              <a:tblGrid>
                <a:gridCol w="2018675"/>
                <a:gridCol w="2018675"/>
                <a:gridCol w="2328175"/>
                <a:gridCol w="1709175"/>
              </a:tblGrid>
              <a:tr h="397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600">
                        <a:latin typeface="Junge"/>
                        <a:ea typeface="Junge"/>
                        <a:cs typeface="Junge"/>
                        <a:sym typeface="Jung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Junge"/>
                          <a:ea typeface="Junge"/>
                          <a:cs typeface="Junge"/>
                          <a:sym typeface="Junge"/>
                        </a:rPr>
                        <a:t>Parallel Duplication</a:t>
                      </a:r>
                      <a:endParaRPr b="1" sz="1600">
                        <a:latin typeface="Junge"/>
                        <a:ea typeface="Junge"/>
                        <a:cs typeface="Junge"/>
                        <a:sym typeface="Junge"/>
                      </a:endParaRPr>
                    </a:p>
                  </a:txBody>
                  <a:tcPr marT="91425" marB="91425" marR="91425" marL="914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Junge"/>
                          <a:ea typeface="Junge"/>
                          <a:cs typeface="Junge"/>
                          <a:sym typeface="Junge"/>
                        </a:rPr>
                        <a:t>Serial Duplication</a:t>
                      </a:r>
                      <a:endParaRPr b="1" sz="1600">
                        <a:latin typeface="Junge"/>
                        <a:ea typeface="Junge"/>
                        <a:cs typeface="Junge"/>
                        <a:sym typeface="Junge"/>
                      </a:endParaRPr>
                    </a:p>
                  </a:txBody>
                  <a:tcPr marT="91425" marB="91425" marR="91425" marL="9142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600">
                        <a:latin typeface="Junge"/>
                        <a:ea typeface="Junge"/>
                        <a:cs typeface="Junge"/>
                        <a:sym typeface="Junge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Junge"/>
                          <a:ea typeface="Junge"/>
                          <a:cs typeface="Junge"/>
                          <a:sym typeface="Junge"/>
                        </a:rPr>
                        <a:t>Transfer</a:t>
                      </a:r>
                      <a:endParaRPr b="1" sz="1600">
                        <a:latin typeface="Junge"/>
                        <a:ea typeface="Junge"/>
                        <a:cs typeface="Junge"/>
                        <a:sym typeface="Junge"/>
                      </a:endParaRPr>
                    </a:p>
                  </a:txBody>
                  <a:tcPr marT="91425" marB="91425" marR="91425" marL="91425" anchor="b"/>
                </a:tc>
              </a:tr>
              <a:tr h="436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600">
                          <a:latin typeface="Junge"/>
                          <a:ea typeface="Junge"/>
                          <a:cs typeface="Junge"/>
                          <a:sym typeface="Junge"/>
                        </a:rPr>
                        <a:t>Geodesics (SPs)</a:t>
                      </a:r>
                      <a:endParaRPr i="1" sz="1600">
                        <a:latin typeface="Junge"/>
                        <a:ea typeface="Junge"/>
                        <a:cs typeface="Junge"/>
                        <a:sym typeface="Jung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Junge"/>
                          <a:ea typeface="Junge"/>
                          <a:cs typeface="Junge"/>
                          <a:sym typeface="Junge"/>
                        </a:rPr>
                        <a:t>--</a:t>
                      </a:r>
                      <a:endParaRPr sz="1600">
                        <a:latin typeface="Junge"/>
                        <a:ea typeface="Junge"/>
                        <a:cs typeface="Junge"/>
                        <a:sym typeface="Jung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Junge"/>
                          <a:ea typeface="Junge"/>
                          <a:cs typeface="Junge"/>
                          <a:sym typeface="Junge"/>
                        </a:rPr>
                        <a:t>--</a:t>
                      </a:r>
                      <a:endParaRPr sz="1600">
                        <a:latin typeface="Junge"/>
                        <a:ea typeface="Junge"/>
                        <a:cs typeface="Junge"/>
                        <a:sym typeface="Jung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Junge"/>
                          <a:ea typeface="Junge"/>
                          <a:cs typeface="Junge"/>
                          <a:sym typeface="Junge"/>
                        </a:rPr>
                        <a:t>Package</a:t>
                      </a:r>
                      <a:endParaRPr sz="1600">
                        <a:latin typeface="Junge"/>
                        <a:ea typeface="Junge"/>
                        <a:cs typeface="Junge"/>
                        <a:sym typeface="Junge"/>
                      </a:endParaRPr>
                    </a:p>
                  </a:txBody>
                  <a:tcPr marT="91425" marB="91425" marR="91425" marL="91425"/>
                </a:tc>
              </a:tr>
              <a:tr h="436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600">
                          <a:latin typeface="Junge"/>
                          <a:ea typeface="Junge"/>
                          <a:cs typeface="Junge"/>
                          <a:sym typeface="Junge"/>
                        </a:rPr>
                        <a:t>Paths</a:t>
                      </a:r>
                      <a:endParaRPr i="1" sz="1600">
                        <a:latin typeface="Junge"/>
                        <a:ea typeface="Junge"/>
                        <a:cs typeface="Junge"/>
                        <a:sym typeface="Jung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Junge"/>
                          <a:ea typeface="Junge"/>
                          <a:cs typeface="Junge"/>
                          <a:sym typeface="Junge"/>
                        </a:rPr>
                        <a:t>--</a:t>
                      </a:r>
                      <a:endParaRPr sz="1600">
                        <a:latin typeface="Junge"/>
                        <a:ea typeface="Junge"/>
                        <a:cs typeface="Junge"/>
                        <a:sym typeface="Jung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Junge"/>
                          <a:ea typeface="Junge"/>
                          <a:cs typeface="Junge"/>
                          <a:sym typeface="Junge"/>
                        </a:rPr>
                        <a:t>Virus/Infection</a:t>
                      </a:r>
                      <a:endParaRPr sz="1600">
                        <a:latin typeface="Junge"/>
                        <a:ea typeface="Junge"/>
                        <a:cs typeface="Junge"/>
                        <a:sym typeface="Jung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Junge"/>
                          <a:ea typeface="Junge"/>
                          <a:cs typeface="Junge"/>
                          <a:sym typeface="Junge"/>
                        </a:rPr>
                        <a:t>Mooching</a:t>
                      </a:r>
                      <a:endParaRPr sz="1600">
                        <a:latin typeface="Junge"/>
                        <a:ea typeface="Junge"/>
                        <a:cs typeface="Junge"/>
                        <a:sym typeface="Junge"/>
                      </a:endParaRPr>
                    </a:p>
                  </a:txBody>
                  <a:tcPr marT="91425" marB="91425" marR="91425" marL="91425"/>
                </a:tc>
              </a:tr>
              <a:tr h="436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600">
                          <a:latin typeface="Junge"/>
                          <a:ea typeface="Junge"/>
                          <a:cs typeface="Junge"/>
                          <a:sym typeface="Junge"/>
                        </a:rPr>
                        <a:t>Trails</a:t>
                      </a:r>
                      <a:endParaRPr i="1" sz="1600">
                        <a:latin typeface="Junge"/>
                        <a:ea typeface="Junge"/>
                        <a:cs typeface="Junge"/>
                        <a:sym typeface="Jung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Junge"/>
                          <a:ea typeface="Junge"/>
                          <a:cs typeface="Junge"/>
                          <a:sym typeface="Junge"/>
                        </a:rPr>
                        <a:t>Email</a:t>
                      </a:r>
                      <a:endParaRPr sz="1600">
                        <a:latin typeface="Junge"/>
                        <a:ea typeface="Junge"/>
                        <a:cs typeface="Junge"/>
                        <a:sym typeface="Jung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Junge"/>
                          <a:ea typeface="Junge"/>
                          <a:cs typeface="Junge"/>
                          <a:sym typeface="Junge"/>
                        </a:rPr>
                        <a:t>Gossip/Information</a:t>
                      </a:r>
                      <a:endParaRPr sz="1600">
                        <a:latin typeface="Junge"/>
                        <a:ea typeface="Junge"/>
                        <a:cs typeface="Junge"/>
                        <a:sym typeface="Jung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Junge"/>
                          <a:ea typeface="Junge"/>
                          <a:cs typeface="Junge"/>
                          <a:sym typeface="Junge"/>
                        </a:rPr>
                        <a:t>Used Goods</a:t>
                      </a:r>
                      <a:endParaRPr sz="1600">
                        <a:latin typeface="Junge"/>
                        <a:ea typeface="Junge"/>
                        <a:cs typeface="Junge"/>
                        <a:sym typeface="Junge"/>
                      </a:endParaRPr>
                    </a:p>
                  </a:txBody>
                  <a:tcPr marT="91425" marB="91425" marR="91425" marL="91425"/>
                </a:tc>
              </a:tr>
              <a:tr h="436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600">
                          <a:latin typeface="Junge"/>
                          <a:ea typeface="Junge"/>
                          <a:cs typeface="Junge"/>
                          <a:sym typeface="Junge"/>
                        </a:rPr>
                        <a:t>Walks</a:t>
                      </a:r>
                      <a:endParaRPr i="1" sz="1600">
                        <a:latin typeface="Junge"/>
                        <a:ea typeface="Junge"/>
                        <a:cs typeface="Junge"/>
                        <a:sym typeface="Jung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Junge"/>
                          <a:ea typeface="Junge"/>
                          <a:cs typeface="Junge"/>
                          <a:sym typeface="Junge"/>
                        </a:rPr>
                        <a:t>Influence</a:t>
                      </a:r>
                      <a:endParaRPr sz="1600">
                        <a:latin typeface="Junge"/>
                        <a:ea typeface="Junge"/>
                        <a:cs typeface="Junge"/>
                        <a:sym typeface="Jung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Junge"/>
                          <a:ea typeface="Junge"/>
                          <a:cs typeface="Junge"/>
                          <a:sym typeface="Junge"/>
                        </a:rPr>
                        <a:t>Emotional Support</a:t>
                      </a:r>
                      <a:endParaRPr sz="1600">
                        <a:latin typeface="Junge"/>
                        <a:ea typeface="Junge"/>
                        <a:cs typeface="Junge"/>
                        <a:sym typeface="Jung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Junge"/>
                          <a:ea typeface="Junge"/>
                          <a:cs typeface="Junge"/>
                          <a:sym typeface="Junge"/>
                        </a:rPr>
                        <a:t>Money</a:t>
                      </a:r>
                      <a:endParaRPr sz="1600">
                        <a:latin typeface="Junge"/>
                        <a:ea typeface="Junge"/>
                        <a:cs typeface="Junge"/>
                        <a:sym typeface="Junge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37" name="Google Shape;137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Typology of Flow Processes (Borgatti 2005: 59)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wiss">
  <a:themeElements>
    <a:clrScheme name="Custom 218">
      <a:dk1>
        <a:srgbClr val="000000"/>
      </a:dk1>
      <a:lt1>
        <a:srgbClr val="FFFFFF"/>
      </a:lt1>
      <a:dk2>
        <a:srgbClr val="5B595A"/>
      </a:dk2>
      <a:lt2>
        <a:srgbClr val="CFD4D4"/>
      </a:lt2>
      <a:accent1>
        <a:srgbClr val="CC0202"/>
      </a:accent1>
      <a:accent2>
        <a:srgbClr val="228AFF"/>
      </a:accent2>
      <a:accent3>
        <a:srgbClr val="FBC82F"/>
      </a:accent3>
      <a:accent4>
        <a:srgbClr val="253E91"/>
      </a:accent4>
      <a:accent5>
        <a:srgbClr val="F68D0C"/>
      </a:accent5>
      <a:accent6>
        <a:srgbClr val="257E12"/>
      </a:accent6>
      <a:hlink>
        <a:srgbClr val="144C72"/>
      </a:hlink>
      <a:folHlink>
        <a:srgbClr val="8C9D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Custom">
  <a:themeElements>
    <a:clrScheme name="Custom 218">
      <a:dk1>
        <a:srgbClr val="000000"/>
      </a:dk1>
      <a:lt1>
        <a:srgbClr val="FFFFFF"/>
      </a:lt1>
      <a:dk2>
        <a:srgbClr val="5B595A"/>
      </a:dk2>
      <a:lt2>
        <a:srgbClr val="CFD4D4"/>
      </a:lt2>
      <a:accent1>
        <a:srgbClr val="CC0202"/>
      </a:accent1>
      <a:accent2>
        <a:srgbClr val="228AFF"/>
      </a:accent2>
      <a:accent3>
        <a:srgbClr val="FBC82F"/>
      </a:accent3>
      <a:accent4>
        <a:srgbClr val="253E91"/>
      </a:accent4>
      <a:accent5>
        <a:srgbClr val="F68D0C"/>
      </a:accent5>
      <a:accent6>
        <a:srgbClr val="257E12"/>
      </a:accent6>
      <a:hlink>
        <a:srgbClr val="144C72"/>
      </a:hlink>
      <a:folHlink>
        <a:srgbClr val="8C9D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