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D96B0B-CAB2-41A5-9F7C-D4099B489A97}">
  <a:tblStyle styleId="{6FD96B0B-CAB2-41A5-9F7C-D4099B489A9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n"/>
          <p:cNvSpPr/>
          <p:nvPr/>
        </p:nvSpPr>
        <p:spPr>
          <a:xfrm>
            <a:off x="0" y="-6470650"/>
            <a:ext cx="1588" cy="143319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n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:notes"/>
          <p:cNvSpPr/>
          <p:nvPr/>
        </p:nvSpPr>
        <p:spPr>
          <a:xfrm>
            <a:off x="2143125" y="695325"/>
            <a:ext cx="2571750" cy="3429000"/>
          </a:xfrm>
          <a:prstGeom prst="roundRect">
            <a:avLst>
              <a:gd fmla="val 6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:notes"/>
          <p:cNvSpPr txBox="1"/>
          <p:nvPr>
            <p:ph idx="1" type="body"/>
          </p:nvPr>
        </p:nvSpPr>
        <p:spPr>
          <a:xfrm>
            <a:off x="685800" y="4343400"/>
            <a:ext cx="54816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8" name="Google Shape;118;p19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:notes"/>
          <p:cNvSpPr txBox="1"/>
          <p:nvPr>
            <p:ph idx="1" type="body"/>
          </p:nvPr>
        </p:nvSpPr>
        <p:spPr>
          <a:xfrm>
            <a:off x="685800" y="4343400"/>
            <a:ext cx="5481638" cy="411321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:notes"/>
          <p:cNvSpPr/>
          <p:nvPr>
            <p:ph idx="2" type="sldImg"/>
          </p:nvPr>
        </p:nvSpPr>
        <p:spPr>
          <a:xfrm>
            <a:off x="0" y="303213"/>
            <a:ext cx="1588" cy="15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198.81.200.2/science?_ob=MathURL&amp;_method=retrieve&amp;_udi=B6VD1-4FPDR53-1&amp;_mathId=mml2&amp;_user=489835&amp;_cdi=5969&amp;_rdoc=1&amp;_ArticleListID=894442171&amp;_acct=C000022718&amp;_version=1&amp;_userid=489835&amp;md5=e685237b7e452d5ca81cbbb3aa16a44d" TargetMode="External"/><Relationship Id="rId4" Type="http://schemas.openxmlformats.org/officeDocument/2006/relationships/hyperlink" Target="http://198.81.200.2/science?_ob=MathURL&amp;_method=retrieve&amp;_udi=B6VD1-4FPDR53-1&amp;_mathId=mml2&amp;_user=489835&amp;_cdi=5969&amp;_rdoc=1&amp;_ArticleListID=894442171&amp;_acct=C000022718&amp;_version=1&amp;_userid=489835&amp;md5=e685237b7e452d5ca81cbbb3aa16a44d" TargetMode="External"/><Relationship Id="rId5" Type="http://schemas.openxmlformats.org/officeDocument/2006/relationships/hyperlink" Target="http://198.81.200.2/science?_ob=ArticleURL&amp;_udi=B6VD1-4FPDR53-1&amp;_user=489835&amp;_coverDate=07%2F31%2F2005&amp;_alid=894442171&amp;_rdoc=1&amp;_fmt=full&amp;_orig=search&amp;_cdi=5969&amp;_docanchor=&amp;view=c&amp;_ct=2&amp;_acct=C000022718&amp;_version=1&amp;_urlVersion=0&amp;_userid=489835&amp;md5=ec0037210c3d941a2cd04d6f521c8e6c#bbib21" TargetMode="External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228600"/>
            <a:ext cx="4621508" cy="64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350" y="5935663"/>
            <a:ext cx="1509713" cy="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28600" y="6400800"/>
            <a:ext cx="1600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Published by AAAS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938" y="1447800"/>
            <a:ext cx="658812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79388" y="5518150"/>
            <a:ext cx="8783637" cy="158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D. J.  Watts et al.,  Science  296, 1302 -1305 (2002)   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350" y="5935663"/>
            <a:ext cx="1509713" cy="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228600" y="6400800"/>
            <a:ext cx="1600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Published by AAAS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8563" y="992188"/>
            <a:ext cx="4206875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79388" y="5973763"/>
            <a:ext cx="8783637" cy="15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D. J.  Watts et al.,  Science  296, 1302 -1305 (2002)   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350" y="5935663"/>
            <a:ext cx="1509713" cy="77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228600" y="6400800"/>
            <a:ext cx="16002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Published by AAAS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938" y="1655763"/>
            <a:ext cx="6588125" cy="35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179388" y="5310188"/>
            <a:ext cx="8783637" cy="1587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D. J.  Watts et al.,  Science  296, 1302 -1305 (2002)   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79388" y="179388"/>
            <a:ext cx="8783637" cy="417935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between 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 number Comparison between 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 number of completed chains of length 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completed chains of length </a:t>
            </a:r>
            <a:r>
              <a:rPr b="0" i="1" lang="en-GB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1524000"/>
            <a:ext cx="5257800" cy="33099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1447800" y="5257800"/>
            <a:ext cx="6553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2. Example illustrating a search path using information about the target’s position in the organizational hierarchy to direct a message. Numbers in the square give the </a:t>
            </a:r>
            <a:r>
              <a:rPr b="0" i="1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GB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-distance from the target.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066800"/>
            <a:ext cx="5513567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2286000" y="5029200"/>
            <a:ext cx="4572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3. HP Labs’ email communication (light grey lines) mapped onto the organizational hierarchy (black lines). Note that communication tends to “cling” to the formal organizational chart.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1600200" y="5257800"/>
            <a:ext cx="65532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4. Probability of linking as a function of the separation in the organizational hierarchy. The exponential parameter </a:t>
            </a:r>
            <a:r>
              <a:rPr b="0" i="1" lang="en-GB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α</a:t>
            </a:r>
            <a:r>
              <a:rPr b="0" i="0" lang="en-GB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=0.94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 in the searchable range of the Watts model </a:t>
            </a:r>
            <a:r>
              <a:rPr b="0" i="0" lang="en-GB" sz="1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Watts et al., 2002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D.J. Watts, P.S. Dodds and M.E.J. Newman, Identity and search in social networks, </a:t>
            </a:r>
            <a:r>
              <a:rPr b="0" i="1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Science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296</a:t>
            </a: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(2002), pp. 1302–1305.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8800" y="1219200"/>
            <a:ext cx="4907797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1600200" y="5257800"/>
            <a:ext cx="65532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6. Email communications within HP Labs mapped onto approximate physical location based on the nearest post number and building given for each employee. Each box represents a different floor in a building. The lines are shaded according to the physical distance between the correspondents: dark for nearby individuals, light for far away contacts.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990600"/>
            <a:ext cx="4267200" cy="4083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1600200" y="5257800"/>
            <a:ext cx="65532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7. Probability of two individuals corresponding by email as a function of the distance between their cubicles. The inset shows how many people in total sit at a given distance from one another.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457200"/>
            <a:ext cx="5715000" cy="4620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2"/>
          <p:cNvGraphicFramePr/>
          <p:nvPr/>
        </p:nvGraphicFramePr>
        <p:xfrm>
          <a:off x="1524000" y="237744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{6FD96B0B-CAB2-41A5-9F7C-D4099B489A97}</a:tableStyleId>
              </a:tblPr>
              <a:tblGrid>
                <a:gridCol w="2032000"/>
                <a:gridCol w="2032000"/>
                <a:gridCol w="20320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Strategy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Median number of steps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Mean number of steps</a:t>
                      </a:r>
                      <a:endParaRPr/>
                    </a:p>
                  </a:txBody>
                  <a:tcPr marT="57150" marB="57150" marR="57150" marL="571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 degree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43.2</a:t>
                      </a:r>
                      <a:endParaRPr/>
                    </a:p>
                  </a:txBody>
                  <a:tcPr marT="57150" marB="57150" marR="57150" marL="571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Organizational hierarchy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5.0</a:t>
                      </a:r>
                      <a:endParaRPr/>
                    </a:p>
                  </a:txBody>
                  <a:tcPr marT="57150" marB="57150" marR="57150" marL="571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Geography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57150" marB="57150" marR="57150" marL="5715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11.7</a:t>
                      </a:r>
                      <a:endParaRPr/>
                    </a:p>
                  </a:txBody>
                  <a:tcPr marT="57150" marB="57150" marR="57150" marL="57150" anchor="ctr"/>
                </a:tc>
              </a:tr>
            </a:tbl>
          </a:graphicData>
        </a:graphic>
      </p:graphicFrame>
      <p:sp>
        <p:nvSpPr>
          <p:cNvPr id="151" name="Google Shape;151;p22"/>
          <p:cNvSpPr/>
          <p:nvPr/>
        </p:nvSpPr>
        <p:spPr>
          <a:xfrm>
            <a:off x="1600200" y="1524000"/>
            <a:ext cx="6019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1.  Search times using various strategies .  The actual average shortest path is 3.1.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