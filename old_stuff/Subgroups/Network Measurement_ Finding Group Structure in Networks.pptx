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5143500" cx="9144000"/>
  <p:notesSz cx="6858000" cy="9144000"/>
  <p:embeddedFontLst>
    <p:embeddedFont>
      <p:font typeface="Economica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italic.fntdata"/><Relationship Id="rId20" Type="http://schemas.openxmlformats.org/officeDocument/2006/relationships/slide" Target="slides/slide16.xml"/><Relationship Id="rId42" Type="http://schemas.openxmlformats.org/officeDocument/2006/relationships/font" Target="fonts/OpenSans-regular.fntdata"/><Relationship Id="rId41" Type="http://schemas.openxmlformats.org/officeDocument/2006/relationships/font" Target="fonts/Economica-boldItalic.fntdata"/><Relationship Id="rId22" Type="http://schemas.openxmlformats.org/officeDocument/2006/relationships/slide" Target="slides/slide18.xml"/><Relationship Id="rId44" Type="http://schemas.openxmlformats.org/officeDocument/2006/relationships/font" Target="fonts/OpenSans-italic.fntdata"/><Relationship Id="rId21" Type="http://schemas.openxmlformats.org/officeDocument/2006/relationships/slide" Target="slides/slide17.xml"/><Relationship Id="rId43" Type="http://schemas.openxmlformats.org/officeDocument/2006/relationships/font" Target="fonts/OpenSans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Economica-bold.fntdata"/><Relationship Id="rId16" Type="http://schemas.openxmlformats.org/officeDocument/2006/relationships/slide" Target="slides/slide12.xml"/><Relationship Id="rId38" Type="http://schemas.openxmlformats.org/officeDocument/2006/relationships/font" Target="fonts/Economica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fcc3e6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9fcc3e6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a9fcc3e6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a9fcc3e6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9fcc3e68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a9fcc3e68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9fcc3e6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9fcc3e6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a9fcc3e6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a9fcc3e6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9fcc3e6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a9fcc3e6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9fcc3e6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a9fcc3e6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9fcc3e6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9fcc3e6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a9fcc3e6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a9fcc3e6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9fcc3e68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a9fcc3e68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a9fcc3e6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a9fcc3e6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9fcc3e6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9fcc3e6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a9fcc3e68_0_2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a9fcc3e6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a9fcc3e6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a9fcc3e6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a9fcc3e6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a9fcc3e6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a9fcc3e6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a9fcc3e6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a9fcc3e6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a9fcc3e6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a9fcc3e6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a9fcc3e6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a9fcc3e6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a9fcc3e6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a9fcc3e6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a9fcc3e6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9fcc3e6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a9fcc3e6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a9fcc3e6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a9fcc3e6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a9fcc3e68_0_4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a9fcc3e68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a9fcc3e68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a9fcc3e68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a9fcc3e68_0_7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a9fcc3e68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a9fcc3e68_0_4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a9fcc3e68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a9fcc3e68_0_5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a9fcc3e68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a9fcc3e68_0_7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a9fcc3e68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a9fcc3e68_0_7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a9fcc3e68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a9fcc3e68_0_8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a9fcc3e68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a9fcc3e68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a9fcc3e68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a9fcc3e68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a9fcc3e68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01200" y="902551"/>
            <a:ext cx="3054600" cy="319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Measurement: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Group Structure in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discovering group structure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move to level of group structure rather than staying “local”?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 initial motivation for “role and position” analysis in sociology: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Key idea is to get a sense of the “big picture” network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Discover patterns that are not visible from a local perspective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Simplify large scale network data into more manageable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are groups important?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traditional social science theory they are the “backbone” of society (Durkheim, Tonnies)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may reveal important underlying functional units not necessarily recognized by participants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“Invisible colleges” in science and scientific collaboration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 Internal coalitions among political actors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Latent groups in the corporate/capitalist class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“groups” or “communities”? </a:t>
            </a:r>
            <a:endParaRPr/>
          </a:p>
        </p:txBody>
      </p:sp>
      <p:grpSp>
        <p:nvGrpSpPr>
          <p:cNvPr id="74" name="Google Shape;74;p15"/>
          <p:cNvGrpSpPr/>
          <p:nvPr/>
        </p:nvGrpSpPr>
        <p:grpSpPr>
          <a:xfrm>
            <a:off x="700525" y="1147219"/>
            <a:ext cx="7742925" cy="3782281"/>
            <a:chOff x="700525" y="1147219"/>
            <a:chExt cx="7742925" cy="3782281"/>
          </a:xfrm>
        </p:grpSpPr>
        <p:sp>
          <p:nvSpPr>
            <p:cNvPr id="75" name="Google Shape;75;p15"/>
            <p:cNvSpPr txBox="1"/>
            <p:nvPr/>
          </p:nvSpPr>
          <p:spPr>
            <a:xfrm>
              <a:off x="3723313" y="4520600"/>
              <a:ext cx="15936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Measurement</a:t>
              </a:r>
              <a:endParaRPr/>
            </a:p>
          </p:txBody>
        </p:sp>
        <p:grpSp>
          <p:nvGrpSpPr>
            <p:cNvPr id="76" name="Google Shape;76;p15"/>
            <p:cNvGrpSpPr/>
            <p:nvPr/>
          </p:nvGrpSpPr>
          <p:grpSpPr>
            <a:xfrm>
              <a:off x="700525" y="1147219"/>
              <a:ext cx="7742925" cy="3014839"/>
              <a:chOff x="700538" y="1274694"/>
              <a:chExt cx="7742925" cy="3014839"/>
            </a:xfrm>
          </p:grpSpPr>
          <p:sp>
            <p:nvSpPr>
              <p:cNvPr id="77" name="Google Shape;77;p15"/>
              <p:cNvSpPr/>
              <p:nvPr/>
            </p:nvSpPr>
            <p:spPr>
              <a:xfrm>
                <a:off x="6564263" y="3293833"/>
                <a:ext cx="1879200" cy="995100"/>
              </a:xfrm>
              <a:prstGeom prst="rect">
                <a:avLst/>
              </a:prstGeom>
              <a:solidFill>
                <a:srgbClr val="CCA67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>
                    <a:solidFill>
                      <a:srgbClr val="FFFFFF"/>
                    </a:solidFill>
                  </a:rPr>
                  <a:t>Social Systems</a:t>
                </a:r>
                <a:endParaRPr>
                  <a:solidFill>
                    <a:srgbClr val="FFFFFF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>
                    <a:solidFill>
                      <a:srgbClr val="FFFFFF"/>
                    </a:solidFill>
                  </a:rPr>
                  <a:t>“The Network”</a:t>
                </a:r>
                <a:endParaRPr>
                  <a:solidFill>
                    <a:srgbClr val="FFFFFF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700538" y="3293833"/>
                <a:ext cx="1879200" cy="995100"/>
              </a:xfrm>
              <a:prstGeom prst="rect">
                <a:avLst/>
              </a:prstGeom>
              <a:solidFill>
                <a:srgbClr val="CCA67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>
                    <a:solidFill>
                      <a:srgbClr val="FFFFFF"/>
                    </a:solidFill>
                  </a:rPr>
                  <a:t>Matrix Algebra</a:t>
                </a:r>
                <a:endParaRPr>
                  <a:solidFill>
                    <a:srgbClr val="FFFFFF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>
                    <a:solidFill>
                      <a:srgbClr val="FFFFFF"/>
                    </a:solidFill>
                  </a:rPr>
                  <a:t>“The Matrix”</a:t>
                </a:r>
                <a:endParaRPr>
                  <a:solidFill>
                    <a:srgbClr val="FFFFFF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9" name="Google Shape;79;p15"/>
              <p:cNvCxnSpPr>
                <a:stCxn id="78" idx="3"/>
                <a:endCxn id="80" idx="2"/>
              </p:cNvCxnSpPr>
              <p:nvPr/>
            </p:nvCxnSpPr>
            <p:spPr>
              <a:xfrm flipH="1" rot="10800000">
                <a:off x="2579738" y="2269783"/>
                <a:ext cx="1896000" cy="152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81" name="Google Shape;81;p15"/>
              <p:cNvCxnSpPr>
                <a:stCxn id="80" idx="2"/>
                <a:endCxn id="77" idx="1"/>
              </p:cNvCxnSpPr>
              <p:nvPr/>
            </p:nvCxnSpPr>
            <p:spPr>
              <a:xfrm>
                <a:off x="4475838" y="2269794"/>
                <a:ext cx="2088300" cy="152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82" name="Google Shape;82;p15"/>
              <p:cNvCxnSpPr>
                <a:stCxn id="78" idx="2"/>
                <a:endCxn id="77" idx="2"/>
              </p:cNvCxnSpPr>
              <p:nvPr/>
            </p:nvCxnSpPr>
            <p:spPr>
              <a:xfrm flipH="1" rot="-5400000">
                <a:off x="4571738" y="1357333"/>
                <a:ext cx="600" cy="5863800"/>
              </a:xfrm>
              <a:prstGeom prst="bentConnector3">
                <a:avLst>
                  <a:gd fmla="val 63973611" name="adj1"/>
                </a:avLst>
              </a:prstGeom>
              <a:noFill/>
              <a:ln cap="flat" cmpd="sng" w="38100">
                <a:solidFill>
                  <a:srgbClr val="B7B7B7"/>
                </a:solidFill>
                <a:prstDash val="dot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3" name="Google Shape;83;p15"/>
              <p:cNvSpPr txBox="1"/>
              <p:nvPr/>
            </p:nvSpPr>
            <p:spPr>
              <a:xfrm>
                <a:off x="5415450" y="2653050"/>
                <a:ext cx="1593600" cy="40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Analogy</a:t>
                </a:r>
                <a:endParaRPr/>
              </a:p>
            </p:txBody>
          </p:sp>
          <p:sp>
            <p:nvSpPr>
              <p:cNvPr id="84" name="Google Shape;84;p15"/>
              <p:cNvSpPr txBox="1"/>
              <p:nvPr/>
            </p:nvSpPr>
            <p:spPr>
              <a:xfrm>
                <a:off x="1942650" y="2653050"/>
                <a:ext cx="1593600" cy="40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Linkage</a:t>
                </a: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3536238" y="1274694"/>
                <a:ext cx="1879200" cy="995100"/>
              </a:xfrm>
              <a:prstGeom prst="rect">
                <a:avLst/>
              </a:prstGeom>
              <a:solidFill>
                <a:srgbClr val="CCA67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FFFFFF"/>
                    </a:solidFill>
                  </a:rPr>
                  <a:t>Graph Theory</a:t>
                </a:r>
                <a:endParaRPr>
                  <a:solidFill>
                    <a:srgbClr val="FFFFFF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FFFFFF"/>
                    </a:solidFill>
                  </a:rPr>
                  <a:t>“The Graph”</a:t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graph theoretic concepts: Subgraphs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Subgraphs may induced by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 a group of vertices and the selecting the subset of edges that link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 a group of edges and the selecting of the vertices that are the destination (origin) of each edge.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concepts of </a:t>
            </a:r>
            <a:r>
              <a:rPr b="1" lang="en"/>
              <a:t>groups</a:t>
            </a:r>
            <a:r>
              <a:rPr lang="en"/>
              <a:t>, </a:t>
            </a:r>
            <a:r>
              <a:rPr b="1" lang="en"/>
              <a:t>cliques</a:t>
            </a:r>
            <a:r>
              <a:rPr lang="en"/>
              <a:t>, or </a:t>
            </a:r>
            <a:r>
              <a:rPr b="1" lang="en"/>
              <a:t>communities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“groups” or “communities”? 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“Group,” “community,” and “cohesion” are fuzzy social science concepts, with many overlapping but sometimes contradictory verbal definitions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always graph theory to the rescue!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theoretic concept of group/community 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 relative dense subgraph featuring more links among the subset of vertices that belong to the subgraph than links to vertices in the rest of the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concept: Cohesion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components: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Ideational (identification)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Relational (connectivity)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Graph theory is useful for specifying relational solidarity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“groups” or “communities”? 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“Group,” “community,” and “cohesion” are fuzzy social science concepts, with many overlapping but sometimes contradictory verbal definitions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always graph theory to the rescue!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theoretic concept of group/community 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 relative dense subgraph featuring more links among the subset of vertices that belong to the subgraph than links to vertices in the rest of the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“Network Science” people jump straight to the graph theoretic concept but that’s different from the social science concept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Various graph theoretic and matrix-algebraic ways of “finding” or “discovering” such groups in real networks (e.g. “Community detection”)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Groups and communities may display </a:t>
            </a:r>
            <a:r>
              <a:rPr lang="en"/>
              <a:t>substantively</a:t>
            </a:r>
            <a:r>
              <a:rPr lang="en"/>
              <a:t> interesting variation in structure and organization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graph theoretic concepts: Subgraphs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Subgraphs may induced by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 a group of vertices and the selecting the subset of edges that link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 a group of edges and the selecting of the vertices that are the destination (origin) of each edge.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concepts of </a:t>
            </a:r>
            <a:r>
              <a:rPr b="1" lang="en"/>
              <a:t>groups</a:t>
            </a:r>
            <a:r>
              <a:rPr lang="en"/>
              <a:t>, </a:t>
            </a:r>
            <a:r>
              <a:rPr b="1" lang="en"/>
              <a:t>cliques</a:t>
            </a:r>
            <a:r>
              <a:rPr lang="en"/>
              <a:t>, or </a:t>
            </a:r>
            <a:r>
              <a:rPr b="1" lang="en"/>
              <a:t>communities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122" name="Google Shape;122;p21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5014200" y="1184600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6841925" y="1038175"/>
            <a:ext cx="1754700" cy="3728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142" name="Google Shape;142;p23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3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easy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few links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hard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lot of link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edges whose removal is required to disconnect a graph can represent the social network concept of </a:t>
            </a:r>
            <a:r>
              <a:rPr b="1" lang="en"/>
              <a:t>social integration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cutset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153" name="Google Shape;153;p24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4"/>
          <p:cNvSpPr/>
          <p:nvPr/>
        </p:nvSpPr>
        <p:spPr>
          <a:xfrm>
            <a:off x="6867075" y="10782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6752550" y="28319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5122950" y="1939838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graphs are easy to disconnect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few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hard to disconnect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lot of link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higher</a:t>
            </a:r>
            <a:r>
              <a:rPr lang="en"/>
              <a:t> the cutset the more </a:t>
            </a:r>
            <a:r>
              <a:rPr b="1" lang="en"/>
              <a:t>integrated</a:t>
            </a:r>
            <a:r>
              <a:rPr lang="en"/>
              <a:t> the social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lower</a:t>
            </a:r>
            <a:r>
              <a:rPr lang="en"/>
              <a:t> the cutset the more potentially </a:t>
            </a:r>
            <a:r>
              <a:rPr b="1" lang="en"/>
              <a:t>fragmented</a:t>
            </a:r>
            <a:r>
              <a:rPr lang="en"/>
              <a:t> the social structure is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167" name="Google Shape;167;p25"/>
          <p:cNvPicPr preferRelativeResize="0"/>
          <p:nvPr/>
        </p:nvPicPr>
        <p:blipFill rotWithShape="1">
          <a:blip r:embed="rId3">
            <a:alphaModFix/>
          </a:blip>
          <a:srcRect b="8239" l="29288" r="29009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6867075" y="10782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6752550" y="28319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5122950" y="1939838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Representation: Line graphs</a:t>
            </a:r>
            <a:endParaRPr/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457200" y="1200150"/>
            <a:ext cx="3736200" cy="37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any given graph G = (V, E) with N vertices and M Edges represented by adjacency matrix A of dimensions N x N: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We may obtain the corresponding </a:t>
            </a:r>
            <a:r>
              <a:rPr b="1" lang="en"/>
              <a:t>line graph</a:t>
            </a:r>
            <a:r>
              <a:rPr lang="en"/>
              <a:t> (or edge graph, edge adjacency matrix) by: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Creating a graph L(G) represented by adjacency matrix B, of dimensions M x M with: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</a:t>
            </a:r>
            <a:r>
              <a:rPr baseline="-25000" lang="en"/>
              <a:t>ij</a:t>
            </a:r>
            <a:r>
              <a:rPr lang="en"/>
              <a:t> = 1 if e</a:t>
            </a:r>
            <a:r>
              <a:rPr baseline="-25000" lang="en"/>
              <a:t>i</a:t>
            </a:r>
            <a:r>
              <a:rPr lang="en"/>
              <a:t> and e</a:t>
            </a:r>
            <a:r>
              <a:rPr baseline="-25000" lang="en"/>
              <a:t>j</a:t>
            </a:r>
            <a:r>
              <a:rPr lang="en"/>
              <a:t> share a common vertex v</a:t>
            </a:r>
            <a:r>
              <a:rPr baseline="-25000" lang="en"/>
              <a:t>k</a:t>
            </a:r>
            <a:endParaRPr baseline="-25000"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</a:t>
            </a:r>
            <a:r>
              <a:rPr baseline="-25000" lang="en"/>
              <a:t>ij</a:t>
            </a:r>
            <a:r>
              <a:rPr lang="en"/>
              <a:t> = 0 if e</a:t>
            </a:r>
            <a:r>
              <a:rPr baseline="-25000" lang="en"/>
              <a:t>i</a:t>
            </a:r>
            <a:r>
              <a:rPr lang="en"/>
              <a:t> and e</a:t>
            </a:r>
            <a:r>
              <a:rPr baseline="-25000" lang="en"/>
              <a:t>j</a:t>
            </a:r>
            <a:r>
              <a:rPr lang="en"/>
              <a:t> do not share a common vertex</a:t>
            </a:r>
            <a:endParaRPr/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500" y="1669525"/>
            <a:ext cx="4345800" cy="2794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discovering group structure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Hierarchical </a:t>
            </a:r>
            <a:r>
              <a:rPr lang="en"/>
              <a:t>Clustering-based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Develop</a:t>
            </a:r>
            <a:r>
              <a:rPr lang="en" sz="1400"/>
              <a:t> indices of node-similarity and use clustering procedures on node x node distance matrix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theoretic (edge-based) </a:t>
            </a:r>
            <a:r>
              <a:rPr lang="en"/>
              <a:t>partitioning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advantage of certain principles of graph connectivity (e.g. walks, paths, graph theoretic distance, cutsets, and cutpoints) to find optimal subgroups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Graph decomposition (e.g. “optimization”)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a criterion for optimal group structure (e.g. modularity) and </a:t>
            </a:r>
            <a:r>
              <a:rPr lang="en"/>
              <a:t>calculate</a:t>
            </a:r>
            <a:r>
              <a:rPr lang="en"/>
              <a:t> extent to which observed graph approximates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 in comparison to random graph of same size and order) </a:t>
            </a:r>
            <a:endParaRPr/>
          </a:p>
          <a:p>
            <a: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Note: Some of these are graph-theoretic, some are matrix algebraic</a:t>
            </a:r>
            <a:endParaRPr/>
          </a:p>
          <a:p>
            <a: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All involve “clustering” in some sense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discovering group structure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Regardless of their basis (e.g. graph theoretic, algebraic, or other), algorithms designed to split a graph into “groups” will find “groups”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algorithms produce different graph partitions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do you know you have </a:t>
            </a:r>
            <a:r>
              <a:rPr lang="en"/>
              <a:t>succeeded</a:t>
            </a:r>
            <a:r>
              <a:rPr lang="en"/>
              <a:t> in finding the “real” groups?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Short answer: You never know!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Long answer: Compare against independent benchmark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Your own intuition (not very good)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Other people’s intuition (a bit better)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intuitions of the people who actually belong in the network (even better)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Some sort of network independent criterion of groupiness (probably best but hard to find)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</a:t>
            </a:r>
            <a:r>
              <a:rPr b="1" lang="en"/>
              <a:t>criterion validity</a:t>
            </a:r>
            <a:r>
              <a:rPr lang="en"/>
              <a:t>: Does your partition predict important outcomes?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discovering group structure</a:t>
            </a:r>
            <a:endParaRPr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Clustering-based approaches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Clustering as much of an art as a science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Steps:</a:t>
            </a:r>
            <a:endParaRPr/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■"/>
            </a:pPr>
            <a:r>
              <a:rPr lang="en"/>
              <a:t>Develop a criterion of similarity between nodes such that more strongly connected vertices receive higher values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instance cosine similarity: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3" marL="18288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 n</a:t>
            </a:r>
            <a:r>
              <a:rPr baseline="-25000" lang="en"/>
              <a:t>ij</a:t>
            </a:r>
            <a:r>
              <a:rPr lang="en"/>
              <a:t> is number of common neighbors between i and j and k is degree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Hierarchical</a:t>
            </a:r>
            <a:r>
              <a:rPr lang="en"/>
              <a:t> clustering on that distance matrix will produce a </a:t>
            </a:r>
            <a:r>
              <a:rPr lang="en"/>
              <a:t>partitioning</a:t>
            </a:r>
            <a:r>
              <a:rPr lang="en"/>
              <a:t> of the vertices into classes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175" y="3119700"/>
            <a:ext cx="1442100" cy="60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discovering group structure</a:t>
            </a:r>
            <a:endParaRPr/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Clustering-based approaches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Clustering as much of an art as a science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Steps:</a:t>
            </a:r>
            <a:endParaRPr/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■"/>
            </a:pPr>
            <a:r>
              <a:rPr lang="en"/>
              <a:t>Develop a criterion of similarity between nodes such that more strongly connected vertices receive higher values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Could </a:t>
            </a:r>
            <a:r>
              <a:rPr lang="en"/>
              <a:t>substitute</a:t>
            </a:r>
            <a:r>
              <a:rPr lang="en"/>
              <a:t> others such as Euclidean distance: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3" marL="18288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 a</a:t>
            </a:r>
            <a:r>
              <a:rPr baseline="-25000" lang="en"/>
              <a:t>ix</a:t>
            </a:r>
            <a:r>
              <a:rPr lang="en"/>
              <a:t> = 1 if i is connected to 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Hierarchical</a:t>
            </a:r>
            <a:r>
              <a:rPr lang="en"/>
              <a:t> clustering on that distance matrix will produce a partioning of the vertices into classes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950" y="3099000"/>
            <a:ext cx="3640500" cy="6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discovering group structure</a:t>
            </a:r>
            <a:endParaRPr/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Clustering-based approaches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Clustering as much of an art as a science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Steps:</a:t>
            </a:r>
            <a:endParaRPr/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■"/>
            </a:pPr>
            <a:r>
              <a:rPr lang="en"/>
              <a:t>Develop a criterion of similarity between nodes such that more strongly connected vertices receive higher values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 a lot of other options:</a:t>
            </a:r>
            <a:endParaRPr/>
          </a:p>
          <a:p>
            <a: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Correlation distance (as in CONCOR)</a:t>
            </a:r>
            <a:endParaRPr/>
          </a:p>
          <a:p>
            <a: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shared contexts or groups (in a one-mode projection)</a:t>
            </a:r>
            <a:endParaRPr/>
          </a:p>
          <a:p>
            <a: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Graph-theoretic distance (e.g. shortest paths)</a:t>
            </a:r>
            <a:endParaRPr/>
          </a:p>
          <a:p>
            <a: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attributes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Hierarchical</a:t>
            </a:r>
            <a:r>
              <a:rPr lang="en"/>
              <a:t> clustering on that distance matrix will produce a </a:t>
            </a:r>
            <a:r>
              <a:rPr lang="en"/>
              <a:t>partitioning</a:t>
            </a:r>
            <a:r>
              <a:rPr lang="en"/>
              <a:t> of the vertices into classes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discovering group structure</a:t>
            </a:r>
            <a:endParaRPr/>
          </a:p>
        </p:txBody>
      </p:sp>
      <p:pic>
        <p:nvPicPr>
          <p:cNvPr descr="Screenshot 2017-11-07 at 08.29.05.png"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7225"/>
            <a:ext cx="8839200" cy="3397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discovering group structure</a:t>
            </a:r>
            <a:endParaRPr/>
          </a:p>
        </p:txBody>
      </p:sp>
      <p:sp>
        <p:nvSpPr>
          <p:cNvPr id="225" name="Google Shape;225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Hierarchical clustering approaches have many appealing properties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simple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recover fundamental intuitions about our understanding of groups such as the fact that they are </a:t>
            </a:r>
            <a:r>
              <a:rPr lang="en"/>
              <a:t>hierarchical</a:t>
            </a:r>
            <a:r>
              <a:rPr lang="en"/>
              <a:t> and nested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Sensitive to initial similarity measure chosen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Sensitive to clustering criterion used (e.g. single-linkage, complete-linkage, average, etc.)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When in doubt go with average?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approaches don’t know what to do with weakly connected nodes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discovering group structure</a:t>
            </a:r>
            <a:endParaRPr/>
          </a:p>
        </p:txBody>
      </p:sp>
      <p:sp>
        <p:nvSpPr>
          <p:cNvPr id="231" name="Google Shape;231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theoretic approaches differ from clustering approaches in focusing on properties of </a:t>
            </a:r>
            <a:r>
              <a:rPr b="1" lang="en"/>
              <a:t>edges</a:t>
            </a:r>
            <a:r>
              <a:rPr lang="en"/>
              <a:t> to find a partitioning in the graph: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edges that are most likely to connect the whole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those edges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 to see if the network features more connected components than before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the same thing within each connected component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 to see if the graph is partitioned into even more components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Stop when you have reached a number of fully connected cliques (N &gt;= 2)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theoretic approaches can be thought of as following a form of divisive clustering of the graph based on edges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Approaches to discovering group structure</a:t>
            </a:r>
            <a:endParaRPr/>
          </a:p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theoretic approaches differ from clustering approaches in focusing on properties of </a:t>
            </a:r>
            <a:r>
              <a:rPr b="1" lang="en"/>
              <a:t>edges</a:t>
            </a:r>
            <a:r>
              <a:rPr lang="en"/>
              <a:t> to find a partitioning in the graph: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For instance the Graph-Theoretic algorithm proposed by </a:t>
            </a:r>
            <a:r>
              <a:rPr b="1" lang="en"/>
              <a:t>Girvan and Newman (2002)</a:t>
            </a:r>
            <a:r>
              <a:rPr lang="en"/>
              <a:t> goes like this: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Calculate </a:t>
            </a:r>
            <a:r>
              <a:rPr b="1" lang="en"/>
              <a:t>betweenness</a:t>
            </a:r>
            <a:r>
              <a:rPr lang="en"/>
              <a:t> scores (e.g. shortest paths, random walk, etc.) for all edges in the network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Find the edge with the highest score and remove it from the network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If two or more edges tie for highest score, choose one of them at random and remove that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Recalculate betweenness for all remaining edges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Repeat from step ii.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Groups</a:t>
            </a:r>
            <a:r>
              <a:rPr lang="en"/>
              <a:t> and Cohesion</a:t>
            </a:r>
            <a:endParaRPr/>
          </a:p>
        </p:txBody>
      </p:sp>
      <p:sp>
        <p:nvSpPr>
          <p:cNvPr id="243" name="Google Shape;243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Social Science Concept of Cohesion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Cohesion implies nested 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Operational definition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group is more cohesive to the extent to that it depends on  a majority of members to retain it character as a 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Less cohesive groups depend on a few individuals (at the limit one) to remain connected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cohesion is simultaneously a property of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Walks, Trails, Paths</a:t>
            </a:r>
            <a:endParaRPr/>
          </a:p>
        </p:txBody>
      </p:sp>
      <p:sp>
        <p:nvSpPr>
          <p:cNvPr id="249" name="Google Shape;249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an alternating sequence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....u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in the sequence (excluding the origin and destination vertices) is adjacent to the vertex the precedes it and the vertex that follows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Graph-theoretic paths can be used to represent the social network concept of “n-degrees of separation” between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particular, we may be interested in the length of the </a:t>
            </a:r>
            <a:r>
              <a:rPr b="1" lang="en"/>
              <a:t>shortest path </a:t>
            </a:r>
            <a:r>
              <a:rPr lang="en"/>
              <a:t>(L &gt; 1) linking two people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Walks, Trails, Paths</a:t>
            </a:r>
            <a:endParaRPr/>
          </a:p>
        </p:txBody>
      </p:sp>
      <p:sp>
        <p:nvSpPr>
          <p:cNvPr id="255" name="Google Shape;255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called a </a:t>
            </a:r>
            <a:r>
              <a:rPr b="1" lang="en"/>
              <a:t>trail</a:t>
            </a:r>
            <a:r>
              <a:rPr lang="en"/>
              <a:t> if all </a:t>
            </a:r>
            <a:r>
              <a:rPr b="1" lang="en"/>
              <a:t>edges</a:t>
            </a:r>
            <a:r>
              <a:rPr lang="en"/>
              <a:t> appear only </a:t>
            </a:r>
            <a:r>
              <a:rPr b="1" lang="en"/>
              <a:t>once</a:t>
            </a:r>
            <a:r>
              <a:rPr lang="en"/>
              <a:t> in the sequence (no edge is traversed more than once)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</a:t>
            </a:r>
            <a:r>
              <a:rPr b="1" lang="en"/>
              <a:t>edges</a:t>
            </a:r>
            <a:r>
              <a:rPr lang="en"/>
              <a:t> and all </a:t>
            </a:r>
            <a:r>
              <a:rPr b="1" lang="en"/>
              <a:t>vertices</a:t>
            </a:r>
            <a:r>
              <a:rPr lang="en"/>
              <a:t> appear only </a:t>
            </a:r>
            <a:r>
              <a:rPr b="1" lang="en"/>
              <a:t>once</a:t>
            </a:r>
            <a:r>
              <a:rPr lang="en"/>
              <a:t>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</a:t>
            </a:r>
            <a:r>
              <a:rPr b="1" lang="en"/>
              <a:t>paths</a:t>
            </a:r>
            <a:r>
              <a:rPr lang="en"/>
              <a:t> are </a:t>
            </a:r>
            <a:r>
              <a:rPr b="1" lang="en"/>
              <a:t>trails</a:t>
            </a:r>
            <a:r>
              <a:rPr lang="en"/>
              <a:t> and all </a:t>
            </a:r>
            <a:r>
              <a:rPr b="1" lang="en"/>
              <a:t>trails</a:t>
            </a:r>
            <a:r>
              <a:rPr lang="en"/>
              <a:t> are </a:t>
            </a:r>
            <a:r>
              <a:rPr b="1" lang="en"/>
              <a:t>walks</a:t>
            </a:r>
            <a:r>
              <a:rPr lang="en"/>
              <a:t>, but not every </a:t>
            </a:r>
            <a:r>
              <a:rPr b="1" lang="en"/>
              <a:t>walk</a:t>
            </a:r>
            <a:r>
              <a:rPr lang="en"/>
              <a:t> is a </a:t>
            </a:r>
            <a:r>
              <a:rPr b="1" lang="en"/>
              <a:t>trail</a:t>
            </a:r>
            <a:r>
              <a:rPr lang="en"/>
              <a:t> and not every </a:t>
            </a:r>
            <a:r>
              <a:rPr b="1" lang="en"/>
              <a:t>trail</a:t>
            </a:r>
            <a:r>
              <a:rPr lang="en"/>
              <a:t> is a </a:t>
            </a:r>
            <a:r>
              <a:rPr b="1" lang="en"/>
              <a:t>path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paths are </a:t>
            </a:r>
            <a:r>
              <a:rPr b="1" lang="en"/>
              <a:t>vertex-disjoint</a:t>
            </a:r>
            <a:r>
              <a:rPr lang="en"/>
              <a:t> if they share no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paths are </a:t>
            </a:r>
            <a:r>
              <a:rPr b="1" lang="en"/>
              <a:t>edge-disjoint</a:t>
            </a:r>
            <a:r>
              <a:rPr lang="en"/>
              <a:t> if they share no edges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geodesic</a:t>
            </a:r>
            <a:r>
              <a:rPr lang="en"/>
              <a:t> (graph-theoretic distance) is the shortest-path between two distinct vertices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May be represented as a pairwise matrix D, with D</a:t>
            </a:r>
            <a:r>
              <a:rPr baseline="-25000" lang="en"/>
              <a:t>ij </a:t>
            </a:r>
            <a:r>
              <a:rPr lang="en"/>
              <a:t>= geodesic distance between i and j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Groups and Cohesion</a:t>
            </a:r>
            <a:endParaRPr/>
          </a:p>
        </p:txBody>
      </p:sp>
      <p:sp>
        <p:nvSpPr>
          <p:cNvPr id="261" name="Google Shape;261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Definition 1: A collectivity is structurally cohesive to the extent that the social relations of its members hold it together.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Describes how a collection of actors is held together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Group-level property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Continuous concept (some groups are more or less cohesive)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Depends on relational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Independent of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Minimal graph theoretic requirements: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Unconnected individuals are not cohesive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Cohesive individuals must be connected by some path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most cohesive groups connect individuals via multiple paths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cohesive the group, the more redundant paths between people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Groups and Cohesion</a:t>
            </a:r>
            <a:endParaRPr/>
          </a:p>
        </p:txBody>
      </p:sp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Definition 1: A collectivity is structurally cohesive to the extent that the social relations of its members hold it together.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Describes how a collection of actors is held together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Group-level property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Continuous concept (some groups are more or less cohesive)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Depends on relational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Independent of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Definition 2: A group is structurally cohesive to the extent that multiple independent relational paths among all pairs of members hold it together.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 group is cohesive to the extent that is connectivity is robust to the removal of any single individual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K-connectivity</a:t>
            </a:r>
            <a:endParaRPr/>
          </a:p>
        </p:txBody>
      </p:sp>
      <p:sp>
        <p:nvSpPr>
          <p:cNvPr id="273" name="Google Shape;273;p41"/>
          <p:cNvSpPr txBox="1"/>
          <p:nvPr>
            <p:ph idx="1" type="body"/>
          </p:nvPr>
        </p:nvSpPr>
        <p:spPr>
          <a:xfrm>
            <a:off x="311700" y="1225225"/>
            <a:ext cx="386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with a minimal cutset of size k, is said to be </a:t>
            </a:r>
            <a:r>
              <a:rPr b="1" lang="en"/>
              <a:t>k-connected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k-connectivity</a:t>
            </a:r>
            <a:r>
              <a:rPr lang="en"/>
              <a:t> of any two vertices {u, v} in graph G, is the number of vertices that must be removed to disconnect u and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Thus, if it takes removing </a:t>
            </a:r>
            <a:r>
              <a:rPr b="1" lang="en"/>
              <a:t>three</a:t>
            </a:r>
            <a:r>
              <a:rPr lang="en"/>
              <a:t> vertices to disconnect two vertices, u and v are said to be </a:t>
            </a:r>
            <a:r>
              <a:rPr b="1" lang="en"/>
              <a:t>three-connected</a:t>
            </a:r>
            <a:r>
              <a:rPr lang="en"/>
              <a:t>.</a:t>
            </a:r>
            <a:endParaRPr/>
          </a:p>
        </p:txBody>
      </p:sp>
      <p:pic>
        <p:nvPicPr>
          <p:cNvPr id="274" name="Google Shape;274;p41"/>
          <p:cNvPicPr preferRelativeResize="0"/>
          <p:nvPr/>
        </p:nvPicPr>
        <p:blipFill rotWithShape="1">
          <a:blip r:embed="rId3">
            <a:alphaModFix/>
          </a:blip>
          <a:srcRect b="0" l="0" r="0" t="8676"/>
          <a:stretch/>
        </p:blipFill>
        <p:spPr>
          <a:xfrm>
            <a:off x="4174200" y="1617801"/>
            <a:ext cx="4658101" cy="2568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Edge-connectivity</a:t>
            </a:r>
            <a:endParaRPr/>
          </a:p>
        </p:txBody>
      </p:sp>
      <p:sp>
        <p:nvSpPr>
          <p:cNvPr id="280" name="Google Shape;280;p42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bridge is an edge uv in graph G whose removal would disconnect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/>
              <a:t>edge cut</a:t>
            </a:r>
            <a:r>
              <a:rPr lang="en"/>
              <a:t> is the set of edges E' whose removal would disconnect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edge cut</a:t>
            </a:r>
            <a:r>
              <a:rPr lang="en"/>
              <a:t> for a </a:t>
            </a:r>
            <a:r>
              <a:rPr b="1" lang="en"/>
              <a:t>pair</a:t>
            </a:r>
            <a:r>
              <a:rPr lang="en"/>
              <a:t> of vertices u, v is defined in the same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lang="en"/>
              <a:t>minimal</a:t>
            </a:r>
            <a:r>
              <a:rPr lang="en"/>
              <a:t> </a:t>
            </a:r>
            <a:r>
              <a:rPr lang="en"/>
              <a:t>edge cut</a:t>
            </a:r>
            <a:r>
              <a:rPr lang="en"/>
              <a:t> is the smallest number of edges m whose removal would disconnect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edge connectivity of a graph is the size of the minimal </a:t>
            </a:r>
            <a:r>
              <a:rPr lang="en"/>
              <a:t>edge cut</a:t>
            </a:r>
            <a:endParaRPr/>
          </a:p>
        </p:txBody>
      </p:sp>
      <p:pic>
        <p:nvPicPr>
          <p:cNvPr id="281" name="Google Shape;28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7496" y="1943940"/>
            <a:ext cx="3304800" cy="1916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287" name="Google Shape;287;p43"/>
          <p:cNvSpPr txBox="1"/>
          <p:nvPr>
            <p:ph idx="1" type="body"/>
          </p:nvPr>
        </p:nvSpPr>
        <p:spPr>
          <a:xfrm>
            <a:off x="311700" y="1225225"/>
            <a:ext cx="85206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are the bases of Moody and Whites </a:t>
            </a:r>
            <a:r>
              <a:rPr b="1" lang="en"/>
              <a:t>Cohesive Blocking</a:t>
            </a:r>
            <a:r>
              <a:rPr lang="en"/>
              <a:t> approach for the identification of nested cohesive subgroups: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 the k-connectivity of the input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the k-cutset (vertices)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the same on the resulting subgraphs until no more subdivisions can be obtained 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3"/>
          <p:cNvPicPr preferRelativeResize="0"/>
          <p:nvPr/>
        </p:nvPicPr>
        <p:blipFill rotWithShape="1">
          <a:blip r:embed="rId3">
            <a:alphaModFix/>
          </a:blip>
          <a:srcRect b="14581" l="4173" r="16487" t="14361"/>
          <a:stretch/>
        </p:blipFill>
        <p:spPr>
          <a:xfrm>
            <a:off x="4759650" y="2924062"/>
            <a:ext cx="4072651" cy="17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3"/>
          <p:cNvPicPr preferRelativeResize="0"/>
          <p:nvPr/>
        </p:nvPicPr>
        <p:blipFill rotWithShape="1">
          <a:blip r:embed="rId4">
            <a:alphaModFix/>
          </a:blip>
          <a:srcRect b="8822" l="15423" r="5080" t="11127"/>
          <a:stretch/>
        </p:blipFill>
        <p:spPr>
          <a:xfrm>
            <a:off x="311700" y="2820923"/>
            <a:ext cx="2417050" cy="20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3"/>
          <p:cNvSpPr/>
          <p:nvPr/>
        </p:nvSpPr>
        <p:spPr>
          <a:xfrm>
            <a:off x="3425800" y="3595675"/>
            <a:ext cx="940500" cy="42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(Literally) The Cutting Edge: Edge Clustering</a:t>
            </a:r>
            <a:endParaRPr/>
          </a:p>
        </p:txBody>
      </p:sp>
      <p:sp>
        <p:nvSpPr>
          <p:cNvPr id="296" name="Google Shape;296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disadvantage of most group detection approaches: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Produce strict </a:t>
            </a:r>
            <a:r>
              <a:rPr lang="en"/>
              <a:t>partitioning</a:t>
            </a:r>
            <a:r>
              <a:rPr lang="en"/>
              <a:t> of vertices into </a:t>
            </a:r>
            <a:r>
              <a:rPr b="1" lang="en"/>
              <a:t>mutually exclusive </a:t>
            </a:r>
            <a:r>
              <a:rPr lang="en"/>
              <a:t>groups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Consistent with </a:t>
            </a:r>
            <a:r>
              <a:rPr b="1" lang="en"/>
              <a:t>some</a:t>
            </a:r>
            <a:r>
              <a:rPr lang="en"/>
              <a:t> sociological understandings of groups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“Community” (Tonnies)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also clashes with fundamental sociological idea that people in modern societies belong to multiple </a:t>
            </a:r>
            <a:r>
              <a:rPr b="1" lang="en"/>
              <a:t>cross-cutting</a:t>
            </a:r>
            <a:r>
              <a:rPr lang="en"/>
              <a:t>, </a:t>
            </a:r>
            <a:r>
              <a:rPr b="1" lang="en"/>
              <a:t>overlapping</a:t>
            </a:r>
            <a:r>
              <a:rPr lang="en"/>
              <a:t> </a:t>
            </a:r>
            <a:r>
              <a:rPr lang="en"/>
              <a:t>groups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“Society” (Durkheim, Tonnies, Simmel, Blau)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approach that allows for multiple group memberships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Ahn et al (2010) provide a (clustering + optimization) based solution: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 edges not nodes!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Because nodes are represented multiple times across edges a </a:t>
            </a:r>
            <a:r>
              <a:rPr b="1" lang="en"/>
              <a:t>strict hierarchical clustering of edges results in a multiple </a:t>
            </a:r>
            <a:r>
              <a:rPr b="1" lang="en"/>
              <a:t>assignment</a:t>
            </a:r>
            <a:r>
              <a:rPr b="1" lang="en"/>
              <a:t> of nodes 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(Literally) The Cutting Edge: Edge Clustering</a:t>
            </a:r>
            <a:endParaRPr/>
          </a:p>
        </p:txBody>
      </p:sp>
      <p:sp>
        <p:nvSpPr>
          <p:cNvPr id="302" name="Google Shape;302;p45"/>
          <p:cNvSpPr txBox="1"/>
          <p:nvPr>
            <p:ph idx="1" type="body"/>
          </p:nvPr>
        </p:nvSpPr>
        <p:spPr>
          <a:xfrm>
            <a:off x="311700" y="1225225"/>
            <a:ext cx="538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Come up with an M x M (edge x edge) matrix based on an edge-similarity criterion: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 for a pair of edges that share a vertex </a:t>
            </a:r>
            <a:r>
              <a:rPr lang="en"/>
              <a:t>e</a:t>
            </a:r>
            <a:r>
              <a:rPr baseline="-25000" lang="en"/>
              <a:t>ik</a:t>
            </a:r>
            <a:r>
              <a:rPr lang="en"/>
              <a:t> and e</a:t>
            </a:r>
            <a:r>
              <a:rPr baseline="-25000" lang="en"/>
              <a:t>jk</a:t>
            </a:r>
            <a:r>
              <a:rPr lang="en"/>
              <a:t> similarity S may be defined as: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n</a:t>
            </a:r>
            <a:r>
              <a:rPr baseline="-25000" lang="en"/>
              <a:t>+</a:t>
            </a:r>
            <a:r>
              <a:rPr lang="en"/>
              <a:t>(i, j) is the set of neighbors of i and j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the Jaccard similarity coefficient of the i, j vertices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Apply single linkage hierarchical clustering to the result edge-similarity matrix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274" y="2686025"/>
            <a:ext cx="2974326" cy="56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2.large.jpg" id="304" name="Google Shape;304;p45"/>
          <p:cNvPicPr preferRelativeResize="0"/>
          <p:nvPr/>
        </p:nvPicPr>
        <p:blipFill rotWithShape="1">
          <a:blip r:embed="rId4">
            <a:alphaModFix/>
          </a:blip>
          <a:srcRect b="23623" l="17011" r="17208" t="0"/>
          <a:stretch/>
        </p:blipFill>
        <p:spPr>
          <a:xfrm>
            <a:off x="5919875" y="1262250"/>
            <a:ext cx="2780077" cy="340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