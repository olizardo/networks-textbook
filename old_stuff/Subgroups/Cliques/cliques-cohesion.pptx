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858000" cy="9144000"/>
  <p:embeddedFontLst>
    <p:embeddedFont>
      <p:font typeface="Josefin Slab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JosefinSlab-regular.fntdata"/><Relationship Id="rId25" Type="http://schemas.openxmlformats.org/officeDocument/2006/relationships/slide" Target="slides/slide21.xml"/><Relationship Id="rId28" Type="http://schemas.openxmlformats.org/officeDocument/2006/relationships/font" Target="fonts/JosefinSlab-italic.fntdata"/><Relationship Id="rId27" Type="http://schemas.openxmlformats.org/officeDocument/2006/relationships/font" Target="fonts/JosefinSlab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osefinSlab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97bb26c_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97bb26c_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997bb28f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1997bb28f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997bb28f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997bb28f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997bb28f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997bb28f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9988d3de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9988d3de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9988d3de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9988d3de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9988d3de_1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9988d3de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9988d3de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9988d3de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9988d3de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9988d3de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9988d3de_1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9988d3de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988d3de_1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9988d3de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9988d3de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9988d3de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9988d3de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9988d3de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988d3de_1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9988d3de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9988d3de_1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9988d3de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9988d3de_1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9988d3de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988d3de_1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988d3de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9988d3de_1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9988d3de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9988d3de_1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9988d3de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9988d3de_1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9988d3de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5341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Theoretical concept: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Social Solidarity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However, concept riddled with (operational) ambiguity.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Network science to the rescue!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>
                <a:latin typeface="Josefin Slab"/>
                <a:ea typeface="Josefin Slab"/>
                <a:cs typeface="Josefin Slab"/>
                <a:sym typeface="Josefin Slab"/>
              </a:rPr>
              <a:t>Two components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:</a:t>
            </a:r>
            <a:endParaRPr sz="3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Ideational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(identification)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Relational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(connectivity)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>
                <a:latin typeface="Josefin Slab"/>
                <a:ea typeface="Josefin Slab"/>
                <a:cs typeface="Josefin Slab"/>
                <a:sym typeface="Josefin Slab"/>
              </a:rPr>
              <a:t>Network theory is useful for specifying relational solidarity (</a:t>
            </a:r>
            <a:r>
              <a:rPr b="1" lang="en" sz="3000">
                <a:latin typeface="Josefin Slab"/>
                <a:ea typeface="Josefin Slab"/>
                <a:cs typeface="Josefin Slab"/>
                <a:sym typeface="Josefin Slab"/>
              </a:rPr>
              <a:t>structural cohesion</a:t>
            </a:r>
            <a:r>
              <a:rPr lang="en" sz="3000">
                <a:latin typeface="Josefin Slab"/>
                <a:ea typeface="Josefin Slab"/>
                <a:cs typeface="Josefin Slab"/>
                <a:sym typeface="Josefin Slab"/>
              </a:rPr>
              <a:t>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881" y="2366605"/>
            <a:ext cx="3124919" cy="3434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Key theoretical insight: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Cohesion implies nested 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Operational definition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group is more cohesive to the extent to that it depends on  a majority of members to retain it character as a group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Less cohesive groups depend on a few individuals (at the limit one) to remain connected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 cohesion is simultaneously a property of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Persons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457200" y="1600200"/>
            <a:ext cx="54849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Definition 1: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A collectivity is structurally cohesive to the extent that the social relations of its members hold it together.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Describes how a collection of actors is held together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Group-level property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Continuous concept (some groups are more or less cohesive)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Depends on relational data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Independent of size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2366605"/>
            <a:ext cx="3124919" cy="3434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57200" y="1600200"/>
            <a:ext cx="5302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Minimal requirements: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Unconnected individuals are not cohesive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Cohesive individuals must be connected by some path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most cohesive groups connect individuals via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multiple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paths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more cohesive the group, the more redundant paths we can trace between any two individuals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2366605"/>
            <a:ext cx="3124919" cy="3434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457200" y="1600200"/>
            <a:ext cx="5317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Definition 2: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A group is structurally cohesive to the extent that multiple independent relational paths among all pairs of members hold it together. 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group is cohesive to the extent that is connectivity is robust to the removal of any single individual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2366605"/>
            <a:ext cx="3124919" cy="3434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1600200"/>
            <a:ext cx="65652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walk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an alternating sequence of vertices and edges {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e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12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e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23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, 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3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....u</a:t>
            </a:r>
            <a:r>
              <a:rPr baseline="-25000" i="1" lang="en" sz="2200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} starting with an origin vertex u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ending with 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destination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vertex u</a:t>
            </a:r>
            <a:r>
              <a:rPr baseline="-25000" lang="en" sz="2200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such that each vertex in the sequence (excluding the origin and destination vertices) is adjacent to the vertex the precedes it and he vertex that follows it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length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of the walk is the number of edges contained in the sequence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The starting vertex is 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origin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vertex and the end vertex is the </a:t>
            </a:r>
            <a:r>
              <a:rPr i="1" lang="en" sz="1800">
                <a:latin typeface="Josefin Slab"/>
                <a:ea typeface="Josefin Slab"/>
                <a:cs typeface="Josefin Slab"/>
                <a:sym typeface="Josefin Slab"/>
              </a:rPr>
              <a:t>destination 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vertex.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Taking the powers of the adjacency matrix </a:t>
            </a: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baseline="30000" lang="en" sz="1800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 generates successive matrices where ij</a:t>
            </a:r>
            <a:r>
              <a:rPr baseline="30000" lang="en" sz="1800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 entry is the number of paths of length k between i and j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1" name="Google Shape;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57200" y="1600200"/>
            <a:ext cx="6822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trail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appear only once in the sequence (no edge is traversed more than once)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path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and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all vertices appear only once in the sequence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All paths are trails and all trails are walks, but not every walk is a trail and not every trail is a path.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cycle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a path in which the origin and destination vertices are the same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weighted graphs, the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path-weight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 is the sum of the weights corresponding to all of the edges contained in a path.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Shortest paths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57200" y="1600200"/>
            <a:ext cx="6672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vertex-disjoint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if they share no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edge-disjoint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 if they share no edges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geodesic (graph-theoretic distance)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is the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shortest-path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between two distinct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May be represented as a pairwise matrix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with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ij = geodesic distance between i and j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600" y="4498763"/>
            <a:ext cx="19050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Connectivity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457200" y="1600200"/>
            <a:ext cx="39801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60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graph is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connected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if there exists a (finite) path between each vertex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Otherwise the graph is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disconnected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●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maximal connected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subgraph is called a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component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Josefin Slab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In a graph, the connected subgraph that contains the largest proportion of vertices is called the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giant component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300" y="2417446"/>
            <a:ext cx="4648234" cy="3486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Cutpoints and Cutsets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cutpoint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a vertex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v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that would disconnect the graph upon removal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block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is subgraph G' that contains no cutpoints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cutset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a set of vertices {v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v,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,...v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} that would disconnect the graph upon removal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minimal cutset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is the smallest number of vertices 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whose removal would disconnect the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Cliques and Cohesion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79" y="1760400"/>
            <a:ext cx="7826042" cy="4726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K-connectivity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graph with a minimal cutset of size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, is said to be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-connected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k-connectivity of any two vertices {u, v} in graph G, is the number of vertices that must be removed to disconnect u and v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Thus, if it takes removing three nodes to disconnect two vertices, u and v are said to be three-connected.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Edge-connectivity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57200" y="1600200"/>
            <a:ext cx="8521800" cy="31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bridge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is an edge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uv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in graph G whose removal would disconnect the graph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edgecut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 is the set of edges E' whose removal would disconnect the graph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edgecut for a pair of vertices u, v is defined in the same way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miminal edgecut 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is the smallest number of edges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m 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whose removal would disconnect the graph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Josefin Slab"/>
              <a:buChar char="○"/>
            </a:pP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i="1" lang="en" sz="2000">
                <a:latin typeface="Josefin Slab"/>
                <a:ea typeface="Josefin Slab"/>
                <a:cs typeface="Josefin Slab"/>
                <a:sym typeface="Josefin Slab"/>
              </a:rPr>
              <a:t>edge connectivity</a:t>
            </a:r>
            <a:r>
              <a:rPr lang="en" sz="2000">
                <a:latin typeface="Josefin Slab"/>
                <a:ea typeface="Josefin Slab"/>
                <a:cs typeface="Josefin Slab"/>
                <a:sym typeface="Josefin Slab"/>
              </a:rPr>
              <a:t> of a graph is the size of the minimal edgecut</a:t>
            </a:r>
            <a:endParaRPr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Menger's Theorem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57200" y="1600200"/>
            <a:ext cx="84528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Menger's theorem states that for any pair of vertices u, v in a graph 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edgecut that disconnects u and v is equal to the number of edge-disjoint paths that connect u and v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And, for any subgraph of a graph 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k-connectivity of a subgraph is identical to the minimal number of edge-independent paths connecting any two vertices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637" y="4742290"/>
            <a:ext cx="3145927" cy="1824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57200" y="1600200"/>
            <a:ext cx="5317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Definition 3a: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 A group's structural cohesion is equal to the minimum number of actors who, if removed from the group, would disconnect the group.</a:t>
            </a:r>
            <a:endParaRPr i="1"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Definition 3b: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A group's structural cohesion is equal to the minimum number of independent paths linking each pair of actors in the group</a:t>
            </a:r>
            <a:endParaRPr i="1"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6781" y="2366605"/>
            <a:ext cx="3124919" cy="3434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57200" y="1600200"/>
            <a:ext cx="3701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Cohesive blocking: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Identify the k-connectivity of the input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Remove the k-cutset (vertices)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Do the same on the resulting subgraphs until no more subdivisions can be obtained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12" y="2030777"/>
            <a:ext cx="4834513" cy="410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457200" y="1600200"/>
            <a:ext cx="3701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Cohesive blocking identifies two types of subgroups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Exclusive (non-overlapping) subgroups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Nested subgroups (Core-periphery)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12" y="2030777"/>
            <a:ext cx="4834513" cy="410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383" y="1660502"/>
            <a:ext cx="5841234" cy="4960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26" y="2804500"/>
            <a:ext cx="6894575" cy="33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3226" y="1285447"/>
            <a:ext cx="3740701" cy="3176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457200" y="1600200"/>
            <a:ext cx="37014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Vertices may belong to multiple cohesive subgroups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Such vertices are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positionally equivalent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with respect to the subgroups that they connect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9712" y="2030777"/>
            <a:ext cx="4834513" cy="4106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Cliques and Cohesion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614" y="1603345"/>
            <a:ext cx="5848773" cy="5001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